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Microsoft_Equation2.bin" ContentType="application/vnd.openxmlformats-officedocument.oleObject"/>
  <Override PartName="/ppt/embeddings/Microsoft_Equation4.bin" ContentType="application/vnd.openxmlformats-officedocument.oleObject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Microsoft_Equation5.bin" ContentType="application/vnd.openxmlformats-officedocument.oleObject"/>
  <Default Extension="pict" ContentType="image/pict"/>
  <Override PartName="/ppt/notesSlides/notesSlide6.xml" ContentType="application/vnd.openxmlformats-officedocument.presentationml.notesSlide+xml"/>
  <Override PartName="/ppt/embeddings/Microsoft_Equation7.bin" ContentType="application/vnd.openxmlformats-officedocument.oleObject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slides/slide6.xml" ContentType="application/vnd.openxmlformats-officedocument.presentationml.slide+xml"/>
  <Override PartName="/ppt/slides/slide16.xml" ContentType="application/vnd.openxmlformats-officedocument.presentationml.slide+xml"/>
  <Default Extension="gif" ContentType="image/gif"/>
  <Default Extension="pdf" ContentType="application/pdf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19"/>
  </p:notesMasterIdLst>
  <p:handoutMasterIdLst>
    <p:handoutMasterId r:id="rId20"/>
  </p:handoutMasterIdLst>
  <p:sldIdLst>
    <p:sldId id="256" r:id="rId2"/>
    <p:sldId id="262" r:id="rId3"/>
    <p:sldId id="295" r:id="rId4"/>
    <p:sldId id="273" r:id="rId5"/>
    <p:sldId id="289" r:id="rId6"/>
    <p:sldId id="291" r:id="rId7"/>
    <p:sldId id="286" r:id="rId8"/>
    <p:sldId id="272" r:id="rId9"/>
    <p:sldId id="282" r:id="rId10"/>
    <p:sldId id="293" r:id="rId11"/>
    <p:sldId id="278" r:id="rId12"/>
    <p:sldId id="279" r:id="rId13"/>
    <p:sldId id="292" r:id="rId14"/>
    <p:sldId id="296" r:id="rId15"/>
    <p:sldId id="287" r:id="rId16"/>
    <p:sldId id="274" r:id="rId17"/>
    <p:sldId id="271" r:id="rId18"/>
  </p:sldIdLst>
  <p:sldSz cx="9144000" cy="6858000" type="screen4x3"/>
  <p:notesSz cx="6858000" cy="9144000"/>
  <p:defaultTextStyle>
    <a:defPPr>
      <a:defRPr lang="en-GB"/>
    </a:defPPr>
    <a:lvl1pPr marL="0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69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38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08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876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45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14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784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751" algn="l" defTabSz="4569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showPr showNarration="1" useTimings="0">
    <p:present/>
    <p:sldAll/>
    <p:penClr>
      <a:schemeClr val="tx1"/>
    </p:penClr>
  </p:showPr>
  <p:clrMru>
    <a:srgbClr val="3926A3"/>
    <a:srgbClr val="FFFFFF"/>
    <a:srgbClr val="059605"/>
    <a:srgbClr val="E8E8E8"/>
    <a:srgbClr val="00D600"/>
    <a:srgbClr val="DE87C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 horzBarState="maximized">
    <p:restoredLeft sz="14664" autoAdjust="0"/>
    <p:restoredTop sz="72953" autoAdjust="0"/>
  </p:normalViewPr>
  <p:slideViewPr>
    <p:cSldViewPr snapToObjects="1">
      <p:cViewPr varScale="1">
        <p:scale>
          <a:sx n="122" d="100"/>
          <a:sy n="122" d="100"/>
        </p:scale>
        <p:origin x="-39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 snapToObjects="1">
      <p:cViewPr varScale="1">
        <p:scale>
          <a:sx n="88" d="100"/>
          <a:sy n="88" d="100"/>
        </p:scale>
        <p:origin x="-2904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14" Type="http://schemas.openxmlformats.org/officeDocument/2006/relationships/slide" Target="slides/slide13.xml"/><Relationship Id="rId23" Type="http://schemas.openxmlformats.org/officeDocument/2006/relationships/viewProps" Target="viewProps.xml"/><Relationship Id="rId4" Type="http://schemas.openxmlformats.org/officeDocument/2006/relationships/slide" Target="slides/slide3.xml"/><Relationship Id="rId11" Type="http://schemas.openxmlformats.org/officeDocument/2006/relationships/slide" Target="slides/slide10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1" Type="http://schemas.openxmlformats.org/officeDocument/2006/relationships/printerSettings" Target="printerSettings/printerSettings1.bin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ict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Relationship Id="rId3" Type="http://schemas.openxmlformats.org/officeDocument/2006/relationships/image" Target="../media/image20.pict"/><Relationship Id="rId5" Type="http://schemas.openxmlformats.org/officeDocument/2006/relationships/image" Target="../media/image22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1463-0D8A-5D40-9F8F-3C860C515E81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E9457-D3D8-E64E-B214-33628AD46D5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C525F-8A26-2245-B965-E3D914AAD332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45E5-BFD1-5C46-A64F-EFAA4B964E8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69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38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08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876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845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14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84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751" algn="l" defTabSz="4569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3CE64-D7A5-854D-84DA-C51C15216165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sz="16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3CE64-D7A5-854D-84DA-C51C15216165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Results form semi-analytics</a:t>
            </a:r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Results form semi-analytics</a:t>
            </a:r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245E5-BFD1-5C46-A64F-EFAA4B964E82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9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9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8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8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7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7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69" indent="0">
              <a:buNone/>
              <a:defRPr sz="2000" b="1"/>
            </a:lvl2pPr>
            <a:lvl3pPr marL="913938" indent="0">
              <a:buNone/>
              <a:defRPr sz="1800" b="1"/>
            </a:lvl3pPr>
            <a:lvl4pPr marL="1370908" indent="0">
              <a:buNone/>
              <a:defRPr sz="1600" b="1"/>
            </a:lvl4pPr>
            <a:lvl5pPr marL="1827876" indent="0">
              <a:buNone/>
              <a:defRPr sz="1600" b="1"/>
            </a:lvl5pPr>
            <a:lvl6pPr marL="2284845" indent="0">
              <a:buNone/>
              <a:defRPr sz="1600" b="1"/>
            </a:lvl6pPr>
            <a:lvl7pPr marL="2741814" indent="0">
              <a:buNone/>
              <a:defRPr sz="1600" b="1"/>
            </a:lvl7pPr>
            <a:lvl8pPr marL="3198784" indent="0">
              <a:buNone/>
              <a:defRPr sz="1600" b="1"/>
            </a:lvl8pPr>
            <a:lvl9pPr marL="3655751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69" indent="0">
              <a:buNone/>
              <a:defRPr sz="2000" b="1"/>
            </a:lvl2pPr>
            <a:lvl3pPr marL="913938" indent="0">
              <a:buNone/>
              <a:defRPr sz="1800" b="1"/>
            </a:lvl3pPr>
            <a:lvl4pPr marL="1370908" indent="0">
              <a:buNone/>
              <a:defRPr sz="1600" b="1"/>
            </a:lvl4pPr>
            <a:lvl5pPr marL="1827876" indent="0">
              <a:buNone/>
              <a:defRPr sz="1600" b="1"/>
            </a:lvl5pPr>
            <a:lvl6pPr marL="2284845" indent="0">
              <a:buNone/>
              <a:defRPr sz="1600" b="1"/>
            </a:lvl6pPr>
            <a:lvl7pPr marL="2741814" indent="0">
              <a:buNone/>
              <a:defRPr sz="1600" b="1"/>
            </a:lvl7pPr>
            <a:lvl8pPr marL="3198784" indent="0">
              <a:buNone/>
              <a:defRPr sz="1600" b="1"/>
            </a:lvl8pPr>
            <a:lvl9pPr marL="3655751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969" indent="0">
              <a:buNone/>
              <a:defRPr sz="1200"/>
            </a:lvl2pPr>
            <a:lvl3pPr marL="913938" indent="0">
              <a:buNone/>
              <a:defRPr sz="1000"/>
            </a:lvl3pPr>
            <a:lvl4pPr marL="1370908" indent="0">
              <a:buNone/>
              <a:defRPr sz="900"/>
            </a:lvl4pPr>
            <a:lvl5pPr marL="1827876" indent="0">
              <a:buNone/>
              <a:defRPr sz="900"/>
            </a:lvl5pPr>
            <a:lvl6pPr marL="2284845" indent="0">
              <a:buNone/>
              <a:defRPr sz="900"/>
            </a:lvl6pPr>
            <a:lvl7pPr marL="2741814" indent="0">
              <a:buNone/>
              <a:defRPr sz="900"/>
            </a:lvl7pPr>
            <a:lvl8pPr marL="3198784" indent="0">
              <a:buNone/>
              <a:defRPr sz="900"/>
            </a:lvl8pPr>
            <a:lvl9pPr marL="3655751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969" indent="0">
              <a:buNone/>
              <a:defRPr sz="2800"/>
            </a:lvl2pPr>
            <a:lvl3pPr marL="913938" indent="0">
              <a:buNone/>
              <a:defRPr sz="2400"/>
            </a:lvl3pPr>
            <a:lvl4pPr marL="1370908" indent="0">
              <a:buNone/>
              <a:defRPr sz="2000"/>
            </a:lvl4pPr>
            <a:lvl5pPr marL="1827876" indent="0">
              <a:buNone/>
              <a:defRPr sz="2000"/>
            </a:lvl5pPr>
            <a:lvl6pPr marL="2284845" indent="0">
              <a:buNone/>
              <a:defRPr sz="2000"/>
            </a:lvl6pPr>
            <a:lvl7pPr marL="2741814" indent="0">
              <a:buNone/>
              <a:defRPr sz="2000"/>
            </a:lvl7pPr>
            <a:lvl8pPr marL="3198784" indent="0">
              <a:buNone/>
              <a:defRPr sz="2000"/>
            </a:lvl8pPr>
            <a:lvl9pPr marL="3655751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969" indent="0">
              <a:buNone/>
              <a:defRPr sz="1200"/>
            </a:lvl2pPr>
            <a:lvl3pPr marL="913938" indent="0">
              <a:buNone/>
              <a:defRPr sz="1000"/>
            </a:lvl3pPr>
            <a:lvl4pPr marL="1370908" indent="0">
              <a:buNone/>
              <a:defRPr sz="900"/>
            </a:lvl4pPr>
            <a:lvl5pPr marL="1827876" indent="0">
              <a:buNone/>
              <a:defRPr sz="900"/>
            </a:lvl5pPr>
            <a:lvl6pPr marL="2284845" indent="0">
              <a:buNone/>
              <a:defRPr sz="900"/>
            </a:lvl6pPr>
            <a:lvl7pPr marL="2741814" indent="0">
              <a:buNone/>
              <a:defRPr sz="900"/>
            </a:lvl7pPr>
            <a:lvl8pPr marL="3198784" indent="0">
              <a:buNone/>
              <a:defRPr sz="900"/>
            </a:lvl8pPr>
            <a:lvl9pPr marL="3655751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395" tIns="45696" rIns="91395" bIns="45696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395" tIns="45696" rIns="91395" bIns="4569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48C93-EA0F-9D47-8281-0F0087E5346E}" type="datetimeFigureOut">
              <a:rPr lang="en-GB" smtClean="0"/>
              <a:pPr/>
              <a:t>9/21/09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395" tIns="45696" rIns="91395" bIns="4569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395" tIns="45696" rIns="91395" bIns="4569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9296C-5D77-2E40-8E43-CFDB0F9F4E0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ctr" defTabSz="45696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27" indent="-342727" algn="l" defTabSz="45696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574" indent="-285606" algn="l" defTabSz="45696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21" indent="-228480" algn="l" defTabSz="45696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392" indent="-228480" algn="l" defTabSz="45696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357" indent="-228480" algn="l" defTabSz="45696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29" indent="-228480" algn="l" defTabSz="45696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298" indent="-228480" algn="l" defTabSz="45696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68" indent="-228480" algn="l" defTabSz="45696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34" indent="-228480" algn="l" defTabSz="45696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69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38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08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76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45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14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784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51" algn="l" defTabSz="456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Relationship Id="rId5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5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d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d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d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df"/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.jpeg"/><Relationship Id="rId4" Type="http://schemas.openxmlformats.org/officeDocument/2006/relationships/image" Target="../media/image16.jpe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5" Type="http://schemas.openxmlformats.org/officeDocument/2006/relationships/oleObject" Target="../embeddings/Microsoft_Equation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5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6" Type="http://schemas.openxmlformats.org/officeDocument/2006/relationships/oleObject" Target="../embeddings/Microsoft_Equation4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d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df"/><Relationship Id="rId3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df"/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df"/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df"/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d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4.pdf"/><Relationship Id="rId5" Type="http://schemas.openxmlformats.org/officeDocument/2006/relationships/oleObject" Target="../embeddings/Microsoft_Equation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df"/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jpeg"/><Relationship Id="rId5" Type="http://schemas.openxmlformats.org/officeDocument/2006/relationships/image" Target="../media/image41.jpeg"/><Relationship Id="rId7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3" Type="http://schemas.openxmlformats.org/officeDocument/2006/relationships/image" Target="../media/image39.jpeg"/><Relationship Id="rId6" Type="http://schemas.openxmlformats.org/officeDocument/2006/relationships/image" Target="../media/image42.pd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mca_log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192" y="5562600"/>
            <a:ext cx="1863008" cy="1198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444631"/>
            <a:ext cx="7772400" cy="14700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200400"/>
            <a:ext cx="6400800" cy="17526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ounded Rectangle 3"/>
          <p:cNvSpPr/>
          <p:nvPr/>
        </p:nvSpPr>
        <p:spPr>
          <a:xfrm>
            <a:off x="526101" y="457202"/>
            <a:ext cx="8084499" cy="518159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3267" tIns="46633" rIns="93267" bIns="46633" rtlCol="0" anchor="ctr"/>
          <a:lstStyle/>
          <a:p>
            <a:pPr algn="ctr"/>
            <a:endParaRPr lang="en-GB" sz="3300" dirty="0">
              <a:noFill/>
              <a:latin typeface="Garamond"/>
              <a:cs typeface="Garamond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7021" y="1152096"/>
            <a:ext cx="7508020" cy="1717072"/>
          </a:xfrm>
          <a:prstGeom prst="rect">
            <a:avLst/>
          </a:prstGeom>
        </p:spPr>
        <p:txBody>
          <a:bodyPr vert="horz" lIns="93267" tIns="46633" rIns="93267" bIns="46633" rtlCol="0" anchor="ctr">
            <a:normAutofit/>
          </a:bodyPr>
          <a:lstStyle/>
          <a:p>
            <a:pPr defTabSz="466337">
              <a:spcBef>
                <a:spcPct val="0"/>
              </a:spcBef>
              <a:defRPr/>
            </a:pPr>
            <a:r>
              <a:rPr lang="en-GB" sz="4500" dirty="0" smtClean="0">
                <a:latin typeface="Garamond"/>
                <a:ea typeface="+mj-ea"/>
                <a:cs typeface="Garamond"/>
              </a:rPr>
              <a:t>Grand unification of AGN activity across the universe</a:t>
            </a:r>
            <a:endParaRPr lang="en-GB" sz="4500" dirty="0">
              <a:latin typeface="Garamond"/>
              <a:ea typeface="+mj-ea"/>
              <a:cs typeface="Garamond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3400" y="3124200"/>
            <a:ext cx="7652009" cy="2209800"/>
          </a:xfrm>
          <a:prstGeom prst="rect">
            <a:avLst/>
          </a:prstGeom>
        </p:spPr>
        <p:txBody>
          <a:bodyPr vert="horz" lIns="93267" tIns="46633" rIns="93267" bIns="46633" rtlCol="0">
            <a:normAutofit fontScale="77500" lnSpcReduction="20000"/>
          </a:bodyPr>
          <a:lstStyle/>
          <a:p>
            <a:pPr algn="r" defTabSz="466337">
              <a:spcBef>
                <a:spcPct val="20000"/>
              </a:spcBef>
              <a:defRPr/>
            </a:pPr>
            <a:r>
              <a:rPr lang="en-GB" sz="33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Nikos Fanidakis</a:t>
            </a:r>
          </a:p>
          <a:p>
            <a:pPr algn="r" defTabSz="466337">
              <a:spcBef>
                <a:spcPct val="20000"/>
              </a:spcBef>
              <a:defRPr/>
            </a:pPr>
            <a:r>
              <a:rPr lang="en-GB" sz="29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and</a:t>
            </a:r>
          </a:p>
          <a:p>
            <a:pPr algn="r" defTabSz="466337">
              <a:spcBef>
                <a:spcPct val="20000"/>
              </a:spcBef>
              <a:defRPr/>
            </a:pPr>
            <a:r>
              <a:rPr lang="en-GB" sz="29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C.M. Baugh, R.G. Bower, S. Cole,                                                    C. Done, C. S. </a:t>
            </a:r>
            <a:r>
              <a:rPr lang="en-GB" sz="2900" dirty="0" err="1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Frenk</a:t>
            </a:r>
            <a:endParaRPr lang="en-GB" sz="2900" dirty="0" smtClean="0">
              <a:solidFill>
                <a:schemeClr val="tx1">
                  <a:tint val="75000"/>
                </a:schemeClr>
              </a:solidFill>
              <a:latin typeface="Garamond"/>
              <a:cs typeface="Garamond"/>
            </a:endParaRPr>
          </a:p>
          <a:p>
            <a:pPr algn="r" defTabSz="466337">
              <a:spcBef>
                <a:spcPct val="20000"/>
              </a:spcBef>
              <a:defRPr/>
            </a:pPr>
            <a:r>
              <a:rPr lang="en-GB" sz="29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9</a:t>
            </a:r>
            <a:r>
              <a:rPr lang="en-GB" sz="2900" baseline="300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th</a:t>
            </a:r>
            <a:r>
              <a:rPr lang="en-GB" sz="2900" dirty="0" smtClean="0">
                <a:solidFill>
                  <a:schemeClr val="tx1">
                    <a:tint val="75000"/>
                  </a:schemeClr>
                </a:solidFill>
                <a:latin typeface="Garamond"/>
                <a:cs typeface="Garamond"/>
              </a:rPr>
              <a:t> Hellenic Astronomical Conference, Athens, Greece      September 20-24, 2009</a:t>
            </a:r>
            <a:endParaRPr lang="en-GB" sz="3100" dirty="0">
              <a:solidFill>
                <a:schemeClr val="tx1">
                  <a:tint val="75000"/>
                </a:schemeClr>
              </a:solidFill>
              <a:latin typeface="Garamond"/>
              <a:cs typeface="Garamond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10445" y="2869167"/>
            <a:ext cx="6911042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DU_Logo_Small_2co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13" y="5993247"/>
            <a:ext cx="1657993" cy="712359"/>
          </a:xfrm>
          <a:prstGeom prst="rect">
            <a:avLst/>
          </a:prstGeom>
        </p:spPr>
      </p:pic>
      <p:pic>
        <p:nvPicPr>
          <p:cNvPr id="9" name="Picture 8" descr="Head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6342322"/>
            <a:ext cx="4739158" cy="3632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28600" y="1676400"/>
            <a:ext cx="8534399" cy="426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77651" tIns="38826" rIns="77651" bIns="38826" rtlCol="0" anchor="ctr"/>
          <a:lstStyle/>
          <a:p>
            <a:pPr algn="ctr"/>
            <a:endParaRPr lang="en-GB" sz="2700" dirty="0">
              <a:noFill/>
              <a:latin typeface="Garamond"/>
              <a:cs typeface="Garamon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Garamond"/>
                <a:cs typeface="Garamond"/>
              </a:rPr>
              <a:t>Outline</a:t>
            </a:r>
            <a:endParaRPr lang="en-GB" dirty="0">
              <a:latin typeface="Garamond"/>
              <a:cs typeface="Garamond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62002" y="2209800"/>
            <a:ext cx="6781798" cy="3048000"/>
          </a:xfrm>
          <a:prstGeom prst="rect">
            <a:avLst/>
          </a:prstGeom>
          <a:ln>
            <a:noFill/>
          </a:ln>
        </p:spPr>
        <p:txBody>
          <a:bodyPr vert="horz" lIns="77651" tIns="38826" rIns="77651" bIns="38826" rtlCol="0">
            <a:noAutofit/>
          </a:bodyPr>
          <a:lstStyle/>
          <a:p>
            <a:pPr marL="291194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Hierarchical evolution of galaxies</a:t>
            </a:r>
          </a:p>
          <a:p>
            <a:pPr marL="291194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Essential ingredients and modelling of AGN</a:t>
            </a:r>
          </a:p>
          <a:p>
            <a:pPr marL="291194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Results:</a:t>
            </a:r>
          </a:p>
          <a:p>
            <a:pPr marL="748163" lvl="1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Luminosity functions</a:t>
            </a:r>
          </a:p>
          <a:p>
            <a:pPr marL="748163" lvl="1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The optical – radio plane of AGN</a:t>
            </a:r>
          </a:p>
          <a:p>
            <a:pPr marL="291194" indent="-291194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Conclusions  </a:t>
            </a:r>
          </a:p>
          <a:p>
            <a:pPr marL="291194" indent="-291194">
              <a:spcBef>
                <a:spcPct val="20000"/>
              </a:spcBef>
              <a:buFont typeface="Arial"/>
              <a:buChar char="•"/>
              <a:defRPr/>
            </a:pPr>
            <a:endParaRPr lang="en-GB" sz="2800" dirty="0" smtClean="0">
              <a:latin typeface="Garamond"/>
              <a:cs typeface="Garamond"/>
            </a:endParaRPr>
          </a:p>
          <a:p>
            <a:pPr marL="291194" indent="-291194">
              <a:spcBef>
                <a:spcPct val="20000"/>
              </a:spcBef>
            </a:pPr>
            <a:endParaRPr lang="en-GB" sz="2800" dirty="0" smtClean="0">
              <a:latin typeface="Garamond"/>
              <a:cs typeface="Garamo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800" dirty="0" smtClean="0">
                <a:latin typeface="Garamond"/>
                <a:cs typeface="Garamond"/>
              </a:rPr>
              <a:t>The idea of hierarchical galaxy formation</a:t>
            </a:r>
            <a:endParaRPr lang="en-GB" sz="3800" dirty="0">
              <a:latin typeface="Garamond"/>
              <a:cs typeface="Garamond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-685800" y="762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grpSp>
        <p:nvGrpSpPr>
          <p:cNvPr id="34" name="Group 33"/>
          <p:cNvGrpSpPr>
            <a:grpSpLocks noChangeAspect="1"/>
          </p:cNvGrpSpPr>
          <p:nvPr/>
        </p:nvGrpSpPr>
        <p:grpSpPr>
          <a:xfrm>
            <a:off x="685800" y="1600200"/>
            <a:ext cx="3433544" cy="4840800"/>
            <a:chOff x="5486400" y="1600200"/>
            <a:chExt cx="3459079" cy="4876800"/>
          </a:xfrm>
        </p:grpSpPr>
        <p:grpSp>
          <p:nvGrpSpPr>
            <p:cNvPr id="3" name="Group 26"/>
            <p:cNvGrpSpPr>
              <a:grpSpLocks noChangeAspect="1"/>
            </p:cNvGrpSpPr>
            <p:nvPr/>
          </p:nvGrpSpPr>
          <p:grpSpPr>
            <a:xfrm>
              <a:off x="5486400" y="1600200"/>
              <a:ext cx="3459079" cy="4308108"/>
              <a:chOff x="1686596" y="1722162"/>
              <a:chExt cx="2819400" cy="3642000"/>
            </a:xfrm>
          </p:grpSpPr>
          <p:grpSp>
            <p:nvGrpSpPr>
              <p:cNvPr id="4" name="Group 36"/>
              <p:cNvGrpSpPr/>
              <p:nvPr/>
            </p:nvGrpSpPr>
            <p:grpSpPr>
              <a:xfrm>
                <a:off x="1686596" y="1722162"/>
                <a:ext cx="2819400" cy="3642000"/>
                <a:chOff x="5115596" y="1676400"/>
                <a:chExt cx="2819400" cy="3641999"/>
              </a:xfrm>
            </p:grpSpPr>
            <p:sp>
              <p:nvSpPr>
                <p:cNvPr id="42" name="Rounded Rectangle 41"/>
                <p:cNvSpPr/>
                <p:nvPr/>
              </p:nvSpPr>
              <p:spPr>
                <a:xfrm>
                  <a:off x="5115596" y="1676400"/>
                  <a:ext cx="2819400" cy="533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 smtClean="0">
                      <a:solidFill>
                        <a:srgbClr val="000000"/>
                      </a:solidFill>
                      <a:latin typeface="Garamond"/>
                      <a:cs typeface="Garamond"/>
                    </a:rPr>
                    <a:t>Hierarchical cosmology</a:t>
                  </a:r>
                  <a:endParaRPr lang="en-GB" sz="2400" dirty="0">
                    <a:solidFill>
                      <a:srgbClr val="000000"/>
                    </a:solidFill>
                    <a:latin typeface="Garamond"/>
                    <a:cs typeface="Garamond"/>
                  </a:endParaRPr>
                </a:p>
              </p:txBody>
            </p:sp>
            <p:sp>
              <p:nvSpPr>
                <p:cNvPr id="43" name="Down Arrow 42"/>
                <p:cNvSpPr/>
                <p:nvPr/>
              </p:nvSpPr>
              <p:spPr>
                <a:xfrm>
                  <a:off x="6324600" y="3249239"/>
                  <a:ext cx="307870" cy="591199"/>
                </a:xfrm>
                <a:prstGeom prst="downArrow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aramond"/>
                    <a:cs typeface="Garamond"/>
                  </a:endParaRPr>
                </a:p>
              </p:txBody>
            </p:sp>
            <p:sp>
              <p:nvSpPr>
                <p:cNvPr id="44" name="Down Arrow 43"/>
                <p:cNvSpPr/>
                <p:nvPr/>
              </p:nvSpPr>
              <p:spPr>
                <a:xfrm>
                  <a:off x="6324600" y="4556399"/>
                  <a:ext cx="304800" cy="762000"/>
                </a:xfrm>
                <a:prstGeom prst="downArrow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aramond"/>
                    <a:cs typeface="Garamond"/>
                  </a:endParaRPr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>
              <a:xfrm>
                <a:off x="2873409" y="4624720"/>
                <a:ext cx="345222" cy="575518"/>
              </a:xfrm>
              <a:prstGeom prst="rect">
                <a:avLst/>
              </a:prstGeom>
              <a:noFill/>
            </p:spPr>
            <p:txBody>
              <a:bodyPr vert="vert" wrap="none" lIns="77671" tIns="38836" rIns="77671" bIns="38836" rtlCol="0">
                <a:spAutoFit/>
              </a:bodyPr>
              <a:lstStyle/>
              <a:p>
                <a:r>
                  <a:rPr lang="en-GB" sz="1300" dirty="0" smtClean="0">
                    <a:latin typeface="Garamond"/>
                    <a:cs typeface="Garamond"/>
                  </a:rPr>
                  <a:t>mergers</a:t>
                </a:r>
                <a:endParaRPr lang="en-GB" sz="1300" dirty="0">
                  <a:latin typeface="Garamond"/>
                  <a:cs typeface="Garamond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73409" y="3301200"/>
                <a:ext cx="345222" cy="495917"/>
              </a:xfrm>
              <a:prstGeom prst="rect">
                <a:avLst/>
              </a:prstGeom>
              <a:noFill/>
            </p:spPr>
            <p:txBody>
              <a:bodyPr vert="vert" wrap="none" lIns="77671" tIns="38836" rIns="77671" bIns="38836" rtlCol="0">
                <a:spAutoFit/>
              </a:bodyPr>
              <a:lstStyle/>
              <a:p>
                <a:r>
                  <a:rPr lang="en-GB" sz="1300" dirty="0" smtClean="0">
                    <a:latin typeface="Garamond"/>
                    <a:cs typeface="Garamond"/>
                  </a:rPr>
                  <a:t>gravity</a:t>
                </a:r>
                <a:endParaRPr lang="en-GB" sz="1300" dirty="0">
                  <a:latin typeface="Garamond"/>
                  <a:cs typeface="Garamond"/>
                </a:endParaRP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2000070" y="4036104"/>
                <a:ext cx="2080078" cy="38988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700" dirty="0" smtClean="0">
                    <a:solidFill>
                      <a:srgbClr val="0000FF"/>
                    </a:solidFill>
                    <a:latin typeface="Garamond"/>
                    <a:cs typeface="Garamond"/>
                  </a:rPr>
                  <a:t>Small structures</a:t>
                </a:r>
                <a:endParaRPr lang="en-GB" sz="1700" dirty="0">
                  <a:solidFill>
                    <a:srgbClr val="0000FF"/>
                  </a:solidFill>
                  <a:latin typeface="Garamond"/>
                  <a:cs typeface="Garamond"/>
                </a:endParaRP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2057400" y="2667000"/>
                <a:ext cx="1905000" cy="53340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700" dirty="0" smtClean="0">
                    <a:solidFill>
                      <a:srgbClr val="0000FF"/>
                    </a:solidFill>
                    <a:latin typeface="Garamond"/>
                    <a:cs typeface="Garamond"/>
                  </a:rPr>
                  <a:t>Initial quantum fluctuations</a:t>
                </a:r>
                <a:endParaRPr lang="en-GB" sz="1700" dirty="0">
                  <a:solidFill>
                    <a:srgbClr val="0000FF"/>
                  </a:solidFill>
                  <a:latin typeface="Garamond"/>
                  <a:cs typeface="Garamond"/>
                </a:endParaRPr>
              </a:p>
            </p:txBody>
          </p:sp>
        </p:grpSp>
        <p:sp>
          <p:nvSpPr>
            <p:cNvPr id="53" name="Rounded Rectangle 52"/>
            <p:cNvSpPr/>
            <p:nvPr/>
          </p:nvSpPr>
          <p:spPr>
            <a:xfrm>
              <a:off x="5893674" y="6015811"/>
              <a:ext cx="2552016" cy="46118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 smtClean="0">
                  <a:solidFill>
                    <a:srgbClr val="0000FF"/>
                  </a:solidFill>
                  <a:latin typeface="Garamond"/>
                  <a:cs typeface="Garamond"/>
                </a:rPr>
                <a:t>Big structures</a:t>
              </a:r>
              <a:endParaRPr lang="en-GB" sz="2400" dirty="0">
                <a:solidFill>
                  <a:srgbClr val="0000FF"/>
                </a:solidFill>
                <a:latin typeface="Garamond"/>
                <a:cs typeface="Garamond"/>
              </a:endParaRPr>
            </a:p>
          </p:txBody>
        </p:sp>
      </p:grpSp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4495800" y="1407600"/>
            <a:ext cx="4191000" cy="5069400"/>
            <a:chOff x="374370" y="1342798"/>
            <a:chExt cx="4373306" cy="5289916"/>
          </a:xfrm>
        </p:grpSpPr>
        <p:sp>
          <p:nvSpPr>
            <p:cNvPr id="47" name="Rounded Rectangle 46"/>
            <p:cNvSpPr/>
            <p:nvPr/>
          </p:nvSpPr>
          <p:spPr>
            <a:xfrm>
              <a:off x="374370" y="1342798"/>
              <a:ext cx="4373306" cy="528991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dirty="0">
                <a:solidFill>
                  <a:srgbClr val="000000"/>
                </a:solidFill>
                <a:latin typeface="Garamond"/>
                <a:cs typeface="Garamond"/>
              </a:endParaRPr>
            </a:p>
          </p:txBody>
        </p:sp>
        <p:grpSp>
          <p:nvGrpSpPr>
            <p:cNvPr id="32" name="Group 31"/>
            <p:cNvGrpSpPr>
              <a:grpSpLocks noChangeAspect="1"/>
            </p:cNvGrpSpPr>
            <p:nvPr/>
          </p:nvGrpSpPr>
          <p:grpSpPr>
            <a:xfrm>
              <a:off x="838200" y="1672202"/>
              <a:ext cx="3601857" cy="4616397"/>
              <a:chOff x="838200" y="1676400"/>
              <a:chExt cx="3657600" cy="4687842"/>
            </a:xfrm>
          </p:grpSpPr>
          <p:pic>
            <p:nvPicPr>
              <p:cNvPr id="46" name="Picture 45" descr="ilc_5yr_gal_moll_1024.png"/>
              <p:cNvPicPr>
                <a:picLocks noChangeAspect="1"/>
              </p:cNvPicPr>
              <p:nvPr/>
            </p:nvPicPr>
            <p:blipFill>
              <a:blip r:embed="rId3"/>
              <a:srcRect l="25834" t="20000" r="34167" b="33333"/>
              <a:stretch>
                <a:fillRect/>
              </a:stretch>
            </p:blipFill>
            <p:spPr>
              <a:xfrm>
                <a:off x="838200" y="1676400"/>
                <a:ext cx="3657600" cy="2133600"/>
              </a:xfrm>
              <a:prstGeom prst="rect">
                <a:avLst/>
              </a:prstGeom>
            </p:spPr>
          </p:pic>
          <p:pic>
            <p:nvPicPr>
              <p:cNvPr id="27" name="Picture 26" descr="galaxycluster.jp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9837" y="4474837"/>
                <a:ext cx="1889406" cy="1889405"/>
              </a:xfrm>
              <a:prstGeom prst="rect">
                <a:avLst/>
              </a:prstGeom>
            </p:spPr>
          </p:pic>
          <p:pic>
            <p:nvPicPr>
              <p:cNvPr id="30" name="Picture 29" descr="simulation image_collision_500.jpg"/>
              <p:cNvPicPr>
                <a:picLocks noChangeAspect="1"/>
              </p:cNvPicPr>
              <p:nvPr/>
            </p:nvPicPr>
            <p:blipFill>
              <a:blip r:embed="rId5"/>
              <a:srcRect r="7824" b="927"/>
              <a:stretch>
                <a:fillRect/>
              </a:stretch>
            </p:blipFill>
            <p:spPr>
              <a:xfrm>
                <a:off x="859162" y="4474837"/>
                <a:ext cx="1866130" cy="1889405"/>
              </a:xfrm>
              <a:prstGeom prst="rect">
                <a:avLst/>
              </a:prstGeom>
            </p:spPr>
          </p:pic>
          <p:sp>
            <p:nvSpPr>
              <p:cNvPr id="31" name="Down Arrow 30"/>
              <p:cNvSpPr/>
              <p:nvPr/>
            </p:nvSpPr>
            <p:spPr>
              <a:xfrm>
                <a:off x="2514600" y="3892247"/>
                <a:ext cx="304800" cy="527353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Garamond"/>
                <a:cs typeface="Garamond"/>
              </a:rPr>
              <a:t>AGN on the optical-radio plane</a:t>
            </a:r>
            <a:endParaRPr lang="en-GB" dirty="0">
              <a:latin typeface="Garamond"/>
              <a:cs typeface="Garamond"/>
            </a:endParaRPr>
          </a:p>
        </p:txBody>
      </p:sp>
      <p:pic>
        <p:nvPicPr>
          <p:cNvPr id="4" name="Content Placeholder 3" descr="rl_dich.pdf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1570033"/>
            <a:ext cx="4830767" cy="4830767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953000" y="2286000"/>
            <a:ext cx="3886201" cy="3352800"/>
          </a:xfrm>
          <a:prstGeom prst="rect">
            <a:avLst/>
          </a:prstGeom>
        </p:spPr>
        <p:txBody>
          <a:bodyPr vert="horz" lIns="91395" tIns="45696" rIns="91395" bIns="45696" rtlCol="0">
            <a:noAutofit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dirty="0" smtClean="0">
                <a:latin typeface="Garamond"/>
                <a:cs typeface="Garamond"/>
              </a:rPr>
              <a:t>AGN can be divided into two classes</a:t>
            </a:r>
            <a:r>
              <a:rPr lang="en-GB" sz="1600" dirty="0" smtClean="0">
                <a:latin typeface="Garamond"/>
                <a:cs typeface="Garamond"/>
              </a:rPr>
              <a:t>:</a:t>
            </a:r>
          </a:p>
          <a:p>
            <a:pPr marL="742574" lvl="1" indent="-285606">
              <a:spcBef>
                <a:spcPct val="20000"/>
              </a:spcBef>
              <a:buFont typeface="Arial"/>
              <a:buChar char="–"/>
              <a:defRPr/>
            </a:pP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Radio-loud objects </a:t>
            </a:r>
            <a:r>
              <a:rPr lang="en-GB" sz="1600" dirty="0" smtClean="0">
                <a:latin typeface="Garamond"/>
                <a:cs typeface="Garamond"/>
              </a:rPr>
              <a:t>(strong jets).</a:t>
            </a:r>
          </a:p>
          <a:p>
            <a:pPr marL="742574" lvl="1" indent="-285606">
              <a:spcBef>
                <a:spcPct val="20000"/>
              </a:spcBef>
              <a:buFont typeface="Arial"/>
              <a:buChar char="–"/>
              <a:defRPr/>
            </a:pP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Radio-quiet objects </a:t>
            </a:r>
            <a:r>
              <a:rPr lang="en-GB" sz="1600" dirty="0" smtClean="0">
                <a:latin typeface="Garamond"/>
                <a:cs typeface="Garamond"/>
              </a:rPr>
              <a:t>(no jets).</a:t>
            </a:r>
          </a:p>
          <a:p>
            <a:pPr marL="742574" lvl="1" indent="-285606">
              <a:spcBef>
                <a:spcPct val="20000"/>
              </a:spcBef>
              <a:defRPr/>
            </a:pPr>
            <a:endParaRPr lang="en-GB" sz="200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dirty="0" smtClean="0">
                <a:latin typeface="Garamond"/>
                <a:cs typeface="Garamond"/>
              </a:rPr>
              <a:t>AGN form two distinct sequences on the L</a:t>
            </a:r>
            <a:r>
              <a:rPr lang="el-GR" baseline="-25000" dirty="0" smtClean="0">
                <a:latin typeface="Garamond"/>
                <a:cs typeface="Garamond"/>
              </a:rPr>
              <a:t>Β</a:t>
            </a:r>
            <a:r>
              <a:rPr lang="en-GB" dirty="0" smtClean="0">
                <a:latin typeface="Garamond"/>
                <a:cs typeface="Garamond"/>
              </a:rPr>
              <a:t> –</a:t>
            </a:r>
            <a:r>
              <a:rPr lang="en-GB" dirty="0" err="1" smtClean="0">
                <a:latin typeface="Garamond"/>
                <a:cs typeface="Garamond"/>
              </a:rPr>
              <a:t>L</a:t>
            </a:r>
            <a:r>
              <a:rPr lang="en-GB" baseline="-25000" dirty="0" err="1" smtClean="0">
                <a:latin typeface="Garamond"/>
                <a:cs typeface="Garamond"/>
              </a:rPr>
              <a:t>Radio</a:t>
            </a:r>
            <a:r>
              <a:rPr lang="en-GB" dirty="0" smtClean="0">
                <a:latin typeface="Garamond"/>
                <a:cs typeface="Garamond"/>
              </a:rPr>
              <a:t> plane:</a:t>
            </a:r>
          </a:p>
          <a:p>
            <a:pPr marL="742574" lvl="1" indent="-285606">
              <a:spcBef>
                <a:spcPct val="20000"/>
              </a:spcBef>
              <a:buFont typeface="Arial"/>
              <a:buChar char="–"/>
              <a:defRPr/>
            </a:pPr>
            <a:r>
              <a:rPr lang="en-GB" sz="1600" dirty="0" smtClean="0">
                <a:latin typeface="Garamond"/>
                <a:cs typeface="Garamond"/>
              </a:rPr>
              <a:t>Upper sequence: 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giant ellipticals</a:t>
            </a:r>
            <a:r>
              <a:rPr lang="en-GB" sz="1600" dirty="0" smtClean="0">
                <a:latin typeface="Garamond"/>
                <a:cs typeface="Garamond"/>
              </a:rPr>
              <a:t> with 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M</a:t>
            </a:r>
            <a:r>
              <a:rPr lang="en-GB" sz="1600" baseline="-25000" dirty="0" smtClean="0">
                <a:solidFill>
                  <a:srgbClr val="FF0000"/>
                </a:solidFill>
                <a:latin typeface="Garamond"/>
                <a:cs typeface="Garamond"/>
              </a:rPr>
              <a:t>SMBH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&gt;10</a:t>
            </a:r>
            <a:r>
              <a:rPr lang="en-GB" sz="1600" baseline="30000" dirty="0" smtClean="0">
                <a:solidFill>
                  <a:srgbClr val="FF0000"/>
                </a:solidFill>
                <a:latin typeface="Garamond"/>
                <a:cs typeface="Garamond"/>
              </a:rPr>
              <a:t>8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M</a:t>
            </a:r>
            <a:r>
              <a:rPr lang="en-GB" sz="1600" baseline="-25000" dirty="0" smtClean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</a:t>
            </a:r>
            <a:endParaRPr lang="en-GB" sz="1600" dirty="0" smtClean="0">
              <a:solidFill>
                <a:srgbClr val="FF0000"/>
              </a:solidFill>
              <a:latin typeface="Garamond"/>
              <a:cs typeface="Garamond"/>
            </a:endParaRPr>
          </a:p>
          <a:p>
            <a:pPr marL="742574" lvl="1" indent="-285606">
              <a:spcBef>
                <a:spcPct val="20000"/>
              </a:spcBef>
              <a:buFont typeface="Arial"/>
              <a:buChar char="–"/>
              <a:defRPr/>
            </a:pPr>
            <a:r>
              <a:rPr lang="en-GB" sz="1600" dirty="0" smtClean="0">
                <a:latin typeface="Garamond"/>
                <a:cs typeface="Garamond"/>
              </a:rPr>
              <a:t>Lower sequence: 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ellipticals and spirals </a:t>
            </a:r>
            <a:r>
              <a:rPr lang="en-GB" sz="1600" dirty="0" smtClean="0">
                <a:latin typeface="Garamond"/>
                <a:cs typeface="Garamond"/>
              </a:rPr>
              <a:t>with 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M</a:t>
            </a:r>
            <a:r>
              <a:rPr lang="en-GB" sz="1600" baseline="-25000" dirty="0" smtClean="0">
                <a:solidFill>
                  <a:srgbClr val="FF0000"/>
                </a:solidFill>
                <a:latin typeface="Garamond"/>
                <a:cs typeface="Garamond"/>
              </a:rPr>
              <a:t>SMBH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&lt;10</a:t>
            </a:r>
            <a:r>
              <a:rPr lang="en-GB" sz="1600" baseline="30000" dirty="0" smtClean="0">
                <a:solidFill>
                  <a:srgbClr val="FF0000"/>
                </a:solidFill>
                <a:latin typeface="Garamond"/>
                <a:cs typeface="Garamond"/>
              </a:rPr>
              <a:t>8</a:t>
            </a:r>
            <a:r>
              <a:rPr lang="en-GB" sz="1600" dirty="0" smtClean="0">
                <a:solidFill>
                  <a:srgbClr val="FF0000"/>
                </a:solidFill>
                <a:latin typeface="Garamond"/>
                <a:cs typeface="Garamond"/>
              </a:rPr>
              <a:t>M</a:t>
            </a:r>
            <a:r>
              <a:rPr lang="en-GB" sz="1600" baseline="-25000" dirty="0" smtClean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</a:t>
            </a:r>
          </a:p>
          <a:p>
            <a:pPr marL="742574" lvl="1" indent="-285606">
              <a:spcBef>
                <a:spcPct val="20000"/>
              </a:spcBef>
              <a:defRPr/>
            </a:pPr>
            <a:r>
              <a:rPr lang="en-GB" sz="100" dirty="0" smtClean="0">
                <a:solidFill>
                  <a:srgbClr val="FF0000"/>
                </a:solidFill>
                <a:latin typeface="Garamond"/>
                <a:cs typeface="Garamond"/>
              </a:rPr>
              <a:t>  </a:t>
            </a:r>
            <a:endParaRPr lang="en-GB" sz="800" baseline="-25000" dirty="0" smtClean="0">
              <a:solidFill>
                <a:srgbClr val="FF0000"/>
              </a:solidFill>
              <a:latin typeface="Wingdings"/>
              <a:ea typeface="Wingdings"/>
              <a:cs typeface="Wingdings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</a:pPr>
            <a:r>
              <a:rPr lang="en-GB" dirty="0" smtClean="0">
                <a:solidFill>
                  <a:srgbClr val="FF0000"/>
                </a:solidFill>
                <a:latin typeface="Garamond"/>
                <a:cs typeface="Garamond"/>
              </a:rPr>
              <a:t>Spin paradigm</a:t>
            </a:r>
            <a:r>
              <a:rPr lang="en-GB" dirty="0" smtClean="0">
                <a:solidFill>
                  <a:srgbClr val="000000"/>
                </a:solidFill>
                <a:latin typeface="Garamond"/>
                <a:cs typeface="Garamond"/>
              </a:rPr>
              <a:t>: the </a:t>
            </a:r>
            <a:r>
              <a:rPr lang="en-GB" dirty="0" smtClean="0">
                <a:solidFill>
                  <a:srgbClr val="FF0000"/>
                </a:solidFill>
                <a:latin typeface="Garamond"/>
                <a:cs typeface="Garamond"/>
              </a:rPr>
              <a:t>BH spin </a:t>
            </a:r>
            <a:r>
              <a:rPr lang="en-GB" dirty="0" smtClean="0">
                <a:solidFill>
                  <a:srgbClr val="000000"/>
                </a:solidFill>
                <a:latin typeface="Garamond"/>
                <a:cs typeface="Garamond"/>
              </a:rPr>
              <a:t>is believed to determine the </a:t>
            </a:r>
            <a:r>
              <a:rPr lang="en-GB" dirty="0" smtClean="0">
                <a:solidFill>
                  <a:srgbClr val="FF0000"/>
                </a:solidFill>
                <a:latin typeface="Garamond"/>
                <a:cs typeface="Garamond"/>
              </a:rPr>
              <a:t>radio loudness </a:t>
            </a:r>
            <a:r>
              <a:rPr lang="en-GB" dirty="0" smtClean="0">
                <a:solidFill>
                  <a:srgbClr val="000000"/>
                </a:solidFill>
                <a:latin typeface="Garamond"/>
                <a:cs typeface="Garamond"/>
              </a:rPr>
              <a:t>of an AGN</a:t>
            </a:r>
            <a:r>
              <a:rPr lang="en-GB" sz="1600" dirty="0" smtClean="0">
                <a:solidFill>
                  <a:srgbClr val="000000"/>
                </a:solidFill>
                <a:latin typeface="Garamond"/>
                <a:cs typeface="Garamo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9538" y="5407256"/>
            <a:ext cx="1790439" cy="307744"/>
          </a:xfrm>
          <a:prstGeom prst="rect">
            <a:avLst/>
          </a:prstGeom>
          <a:noFill/>
        </p:spPr>
        <p:txBody>
          <a:bodyPr wrap="none" lIns="91410" tIns="45704" rIns="91410" bIns="45704" rtlCol="0">
            <a:spAutoFit/>
          </a:bodyPr>
          <a:lstStyle/>
          <a:p>
            <a:r>
              <a:rPr lang="en-GB" sz="1400" dirty="0" smtClean="0">
                <a:latin typeface="Garamond"/>
                <a:cs typeface="Garamond"/>
              </a:rPr>
              <a:t>Data: </a:t>
            </a:r>
            <a:r>
              <a:rPr lang="en-GB" sz="1400" dirty="0" err="1" smtClean="0">
                <a:latin typeface="Garamond"/>
                <a:cs typeface="Garamond"/>
              </a:rPr>
              <a:t>Sikora</a:t>
            </a:r>
            <a:r>
              <a:rPr lang="en-GB" sz="1400" dirty="0" smtClean="0">
                <a:latin typeface="Garamond"/>
                <a:cs typeface="Garamond"/>
              </a:rPr>
              <a:t> et al. 2007</a:t>
            </a:r>
            <a:endParaRPr lang="en-GB" sz="1400" dirty="0">
              <a:latin typeface="Garamond"/>
              <a:cs typeface="Garamond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516563" y="1676401"/>
            <a:ext cx="2865437" cy="685799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marR="0" lvl="0" indent="-342727" algn="l" defTabSz="45696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n-ea"/>
                <a:cs typeface="Garamond"/>
              </a:rPr>
              <a:t>Observational facts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n-ea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13" name="Content Placeholder 3" descr="magorrian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>
                <a:lum contrast="-92000"/>
              </a:blip>
              <a:stretch>
                <a:fillRect/>
              </a:stretch>
            </p:blipFill>
          </mc:Choice>
          <mc:Fallback>
            <p:blipFill>
              <a:blip r:embed="rId4">
                <a:lum contrast="-92000"/>
              </a:blip>
              <a:stretch>
                <a:fillRect/>
              </a:stretch>
            </p:blipFill>
          </mc:Fallback>
        </mc:AlternateContent>
        <p:spPr>
          <a:xfrm>
            <a:off x="4078037" y="1600200"/>
            <a:ext cx="5065963" cy="506596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58763" y="2438400"/>
            <a:ext cx="3627437" cy="3962400"/>
          </a:xfrm>
          <a:prstGeom prst="rect">
            <a:avLst/>
          </a:prstGeom>
        </p:spPr>
        <p:txBody>
          <a:bodyPr vert="horz" lIns="91395" tIns="45696" rIns="91395" bIns="45696" rtlCol="0">
            <a:normAutofit fontScale="92500" lnSpcReduction="2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SMBH growth in accordance with the </a:t>
            </a:r>
            <a:r>
              <a:rPr lang="en-GB" sz="2800" dirty="0" err="1" smtClean="0">
                <a:latin typeface="Garamond"/>
                <a:cs typeface="Garamond"/>
              </a:rPr>
              <a:t>M</a:t>
            </a:r>
            <a:r>
              <a:rPr lang="en-GB" sz="2800" baseline="-25000" dirty="0" err="1" smtClean="0">
                <a:latin typeface="Garamond"/>
                <a:cs typeface="Garamond"/>
              </a:rPr>
              <a:t>bh</a:t>
            </a:r>
            <a:r>
              <a:rPr lang="en-GB" sz="2800" dirty="0" err="1" smtClean="0">
                <a:latin typeface="Garamond"/>
                <a:cs typeface="Garamond"/>
              </a:rPr>
              <a:t>-M</a:t>
            </a:r>
            <a:r>
              <a:rPr lang="en-GB" sz="2800" baseline="-25000" dirty="0" err="1" smtClean="0">
                <a:latin typeface="Garamond"/>
                <a:cs typeface="Garamond"/>
              </a:rPr>
              <a:t>bulge</a:t>
            </a:r>
            <a:r>
              <a:rPr lang="en-GB" sz="2800" dirty="0" smtClean="0">
                <a:latin typeface="Garamond"/>
                <a:cs typeface="Garamond"/>
              </a:rPr>
              <a:t> relation.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Channels of SMBH growth: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059605"/>
                </a:solidFill>
                <a:latin typeface="Garamond"/>
                <a:cs typeface="Garamond"/>
              </a:rPr>
              <a:t>Quasar mode (cold gas accretion)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FF0000"/>
                </a:solidFill>
                <a:latin typeface="Garamond"/>
                <a:cs typeface="Garamond"/>
              </a:rPr>
              <a:t>Radio mode (hot gas accretion)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3926A3"/>
                </a:solidFill>
                <a:latin typeface="Garamond"/>
                <a:cs typeface="Garamond"/>
              </a:rPr>
              <a:t>BH binary mergers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Quasar mode dominates BH growth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Essential ingredients </a:t>
            </a:r>
            <a:endParaRPr lang="en-GB" sz="3600" dirty="0">
              <a:latin typeface="Garamond"/>
              <a:cs typeface="Garamond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600201"/>
            <a:ext cx="3932237" cy="11430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marR="0" lvl="0" indent="-342727" algn="l" defTabSz="45696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n-ea"/>
                <a:cs typeface="Garamond"/>
              </a:rPr>
              <a:t>I. SMBH </a:t>
            </a:r>
            <a:r>
              <a:rPr lang="en-GB" sz="3600" dirty="0" smtClean="0">
                <a:latin typeface="Garamond"/>
                <a:cs typeface="Garamond"/>
              </a:rPr>
              <a:t>mass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n-ea"/>
              <a:cs typeface="Garamon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0" y="5562600"/>
            <a:ext cx="838200" cy="457200"/>
          </a:xfrm>
          <a:prstGeom prst="round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 smtClean="0">
                <a:solidFill>
                  <a:schemeClr val="tx1"/>
                </a:solidFill>
                <a:latin typeface="Garamond"/>
                <a:cs typeface="Garamond"/>
              </a:rPr>
              <a:t>z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lang="en-GB" sz="1600" dirty="0" smtClean="0">
                <a:solidFill>
                  <a:schemeClr val="tx1"/>
                </a:solidFill>
                <a:latin typeface="Garamond"/>
                <a:cs typeface="Garamond"/>
              </a:rPr>
              <a:t>= 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0</a:t>
            </a:r>
            <a:endParaRPr lang="en-GB" sz="24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5" name="Content Placeholder 4" descr="bh_growth.pdf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078037" y="1639637"/>
            <a:ext cx="5065963" cy="5065963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58763" y="2438400"/>
            <a:ext cx="3703637" cy="3962400"/>
          </a:xfrm>
          <a:prstGeom prst="rect">
            <a:avLst/>
          </a:prstGeom>
        </p:spPr>
        <p:txBody>
          <a:bodyPr vert="horz" lIns="91395" tIns="45696" rIns="91395" bIns="45696" rtlCol="0">
            <a:normAutofit fontScale="92500" lnSpcReduction="2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SMBH growth in accordance with the </a:t>
            </a:r>
            <a:r>
              <a:rPr lang="en-GB" sz="2800" dirty="0" err="1" smtClean="0">
                <a:latin typeface="Garamond"/>
                <a:cs typeface="Garamond"/>
              </a:rPr>
              <a:t>M</a:t>
            </a:r>
            <a:r>
              <a:rPr lang="en-GB" sz="2800" baseline="-25000" dirty="0" err="1" smtClean="0">
                <a:latin typeface="Garamond"/>
                <a:cs typeface="Garamond"/>
              </a:rPr>
              <a:t>bh</a:t>
            </a:r>
            <a:r>
              <a:rPr lang="en-GB" sz="2800" dirty="0" err="1" smtClean="0">
                <a:latin typeface="Garamond"/>
                <a:cs typeface="Garamond"/>
              </a:rPr>
              <a:t>-M</a:t>
            </a:r>
            <a:r>
              <a:rPr lang="en-GB" sz="2800" baseline="-25000" dirty="0" err="1" smtClean="0">
                <a:latin typeface="Garamond"/>
                <a:cs typeface="Garamond"/>
              </a:rPr>
              <a:t>bulge</a:t>
            </a:r>
            <a:r>
              <a:rPr lang="en-GB" sz="2800" dirty="0" smtClean="0">
                <a:latin typeface="Garamond"/>
                <a:cs typeface="Garamond"/>
              </a:rPr>
              <a:t> relation.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Channels of SMBH growth: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059605"/>
                </a:solidFill>
                <a:latin typeface="Garamond"/>
                <a:cs typeface="Garamond"/>
              </a:rPr>
              <a:t>Quasar mode (cold gas accretion)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FF0000"/>
                </a:solidFill>
                <a:latin typeface="Garamond"/>
                <a:cs typeface="Garamond"/>
              </a:rPr>
              <a:t>Radio mode (hot gas accretion)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000" dirty="0" smtClean="0">
                <a:solidFill>
                  <a:srgbClr val="3926A3"/>
                </a:solidFill>
                <a:latin typeface="Garamond"/>
                <a:cs typeface="Garamond"/>
              </a:rPr>
              <a:t>BH binary mergers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Quasar mode dominates BH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37338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059605"/>
                </a:solidFill>
                <a:latin typeface="Garamond"/>
                <a:cs typeface="Garamond"/>
              </a:rPr>
              <a:t>Quasar mode</a:t>
            </a:r>
          </a:p>
          <a:p>
            <a:r>
              <a:rPr lang="en-GB" sz="2000" dirty="0" smtClean="0">
                <a:solidFill>
                  <a:srgbClr val="FF0000"/>
                </a:solidFill>
                <a:latin typeface="Garamond"/>
                <a:cs typeface="Garamond"/>
              </a:rPr>
              <a:t>Radio mode</a:t>
            </a:r>
          </a:p>
          <a:p>
            <a:r>
              <a:rPr lang="en-GB" sz="2000" dirty="0" smtClean="0">
                <a:solidFill>
                  <a:srgbClr val="3926A3"/>
                </a:solidFill>
                <a:latin typeface="Garamond"/>
                <a:cs typeface="Garamond"/>
              </a:rPr>
              <a:t>BH mergers</a:t>
            </a:r>
            <a:endParaRPr lang="en-GB" sz="2000" dirty="0">
              <a:solidFill>
                <a:srgbClr val="3926A3"/>
              </a:solidFill>
              <a:latin typeface="Garamond"/>
              <a:cs typeface="Garamon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00600" y="5638800"/>
            <a:ext cx="838200" cy="457200"/>
          </a:xfrm>
          <a:prstGeom prst="round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 smtClean="0">
                <a:solidFill>
                  <a:schemeClr val="tx1"/>
                </a:solidFill>
                <a:latin typeface="Garamond"/>
                <a:cs typeface="Garamond"/>
              </a:rPr>
              <a:t>z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lang="en-GB" sz="1600" dirty="0" smtClean="0">
                <a:solidFill>
                  <a:schemeClr val="tx1"/>
                </a:solidFill>
                <a:latin typeface="Garamond"/>
                <a:cs typeface="Garamond"/>
              </a:rPr>
              <a:t>= 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0</a:t>
            </a:r>
            <a:endParaRPr lang="en-GB" sz="24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Essential ingredients </a:t>
            </a:r>
            <a:endParaRPr lang="en-GB" sz="3600" dirty="0">
              <a:latin typeface="Garamond"/>
              <a:cs typeface="Garamond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600201"/>
            <a:ext cx="3932237" cy="11430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marR="0" lvl="0" indent="-342727" algn="l" defTabSz="45696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n-ea"/>
                <a:cs typeface="Garamond"/>
              </a:rPr>
              <a:t>I. SMBH </a:t>
            </a:r>
            <a:r>
              <a:rPr lang="en-GB" sz="3600" dirty="0" smtClean="0">
                <a:latin typeface="Garamond"/>
                <a:cs typeface="Garamond"/>
              </a:rPr>
              <a:t>mass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n-ea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4" name="Picture 3" descr="mbh_spin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086015" y="1600200"/>
            <a:ext cx="5057985" cy="505798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Essential ingredients </a:t>
            </a:r>
            <a:endParaRPr lang="en-GB" sz="3600" dirty="0">
              <a:latin typeface="Garamond"/>
              <a:cs typeface="Garamond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600201"/>
            <a:ext cx="3932237" cy="11430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marR="0" lvl="0" indent="-342727" algn="l" defTabSz="45696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n-ea"/>
                <a:cs typeface="Garamond"/>
              </a:rPr>
              <a:t>II. SMBH </a:t>
            </a:r>
            <a:r>
              <a:rPr lang="en-GB" sz="3600" dirty="0" smtClean="0">
                <a:latin typeface="Garamond"/>
                <a:cs typeface="Garamond"/>
              </a:rPr>
              <a:t>spin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n-ea"/>
              <a:cs typeface="Garamond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58763" y="2438400"/>
            <a:ext cx="3772037" cy="39624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800" dirty="0" smtClean="0">
                <a:latin typeface="Garamond"/>
                <a:cs typeface="Garamond"/>
              </a:rPr>
              <a:t>BH spin evolves during: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Accretion of gas</a:t>
            </a:r>
          </a:p>
          <a:p>
            <a:pPr marL="799695" lvl="1" indent="-342727">
              <a:spcBef>
                <a:spcPct val="20000"/>
              </a:spcBef>
              <a:buFont typeface="Wingdings" charset="2"/>
              <a:buChar char="§"/>
              <a:defRPr/>
            </a:pP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BH binary mergers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Accretion dominates below ~10</a:t>
            </a:r>
            <a:r>
              <a:rPr lang="en-GB" sz="2400" baseline="30000" dirty="0" smtClean="0">
                <a:latin typeface="Garamond"/>
                <a:cs typeface="Garamond"/>
              </a:rPr>
              <a:t>8</a:t>
            </a:r>
            <a:r>
              <a:rPr lang="en-GB" sz="2400" dirty="0" smtClean="0">
                <a:latin typeface="Garamond"/>
                <a:cs typeface="Garamond"/>
              </a:rPr>
              <a:t>M</a:t>
            </a:r>
            <a:r>
              <a:rPr lang="en-GB" baseline="-25000" dirty="0" smtClean="0">
                <a:latin typeface="Wingdings"/>
                <a:ea typeface="Wingdings"/>
                <a:cs typeface="Wingdings"/>
              </a:rPr>
              <a:t></a:t>
            </a:r>
            <a:r>
              <a:rPr lang="en-GB" sz="2400" dirty="0" smtClean="0">
                <a:latin typeface="Garamond"/>
                <a:cs typeface="Garamond"/>
              </a:rPr>
              <a:t> -- </a:t>
            </a: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low spins</a:t>
            </a:r>
            <a:r>
              <a:rPr lang="en-GB" sz="2400" dirty="0" smtClean="0">
                <a:latin typeface="Garamond"/>
                <a:cs typeface="Garamond"/>
              </a:rPr>
              <a:t>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Mergers dominate above ~10</a:t>
            </a:r>
            <a:r>
              <a:rPr lang="en-GB" sz="2400" baseline="30000" dirty="0" smtClean="0">
                <a:latin typeface="Garamond"/>
                <a:cs typeface="Garamond"/>
              </a:rPr>
              <a:t>8</a:t>
            </a:r>
            <a:r>
              <a:rPr lang="en-GB" sz="2400" dirty="0" smtClean="0">
                <a:latin typeface="Garamond"/>
                <a:cs typeface="Garamond"/>
              </a:rPr>
              <a:t>M</a:t>
            </a:r>
            <a:r>
              <a:rPr lang="en-GB" baseline="-25000" dirty="0" smtClean="0">
                <a:latin typeface="Wingdings"/>
                <a:ea typeface="Wingdings"/>
                <a:cs typeface="Wingdings"/>
              </a:rPr>
              <a:t></a:t>
            </a:r>
            <a:r>
              <a:rPr lang="en-GB" sz="2400" dirty="0" smtClean="0">
                <a:latin typeface="Garamond"/>
                <a:cs typeface="Garamond"/>
              </a:rPr>
              <a:t> -- </a:t>
            </a: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high spins</a:t>
            </a:r>
            <a:r>
              <a:rPr lang="en-GB" sz="2400" dirty="0" smtClean="0">
                <a:latin typeface="Garamond"/>
                <a:cs typeface="Garamond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5638800"/>
            <a:ext cx="838200" cy="457200"/>
          </a:xfrm>
          <a:prstGeom prst="round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 smtClean="0">
                <a:solidFill>
                  <a:schemeClr val="tx1"/>
                </a:solidFill>
                <a:latin typeface="Garamond"/>
                <a:cs typeface="Garamond"/>
              </a:rPr>
              <a:t>z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lang="en-GB" sz="1600" dirty="0" smtClean="0">
                <a:solidFill>
                  <a:schemeClr val="tx1"/>
                </a:solidFill>
                <a:latin typeface="Garamond"/>
                <a:cs typeface="Garamond"/>
              </a:rPr>
              <a:t>= </a:t>
            </a:r>
            <a:r>
              <a:rPr lang="en-GB" sz="2400" dirty="0" smtClean="0">
                <a:solidFill>
                  <a:schemeClr val="tx1"/>
                </a:solidFill>
                <a:latin typeface="Garamond"/>
                <a:cs typeface="Garamond"/>
              </a:rPr>
              <a:t>0</a:t>
            </a:r>
            <a:endParaRPr lang="en-GB" sz="24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8" name="Content Placeholder 3" descr="307_77_F4.jpeg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5365" y="1569977"/>
            <a:ext cx="4423835" cy="4526027"/>
          </a:xfrm>
          <a:prstGeom prst="rect">
            <a:avLst/>
          </a:prstGeom>
        </p:spPr>
      </p:pic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6045200" y="5181600"/>
          <a:ext cx="2184400" cy="324416"/>
        </p:xfrm>
        <a:graphic>
          <a:graphicData uri="http://schemas.openxmlformats.org/presentationml/2006/ole">
            <p:oleObj spid="_x0000_s141314" name="Equation" r:id="rId5" imgW="1536700" imgH="22860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 rot="16200000">
            <a:off x="-1060065" y="4412865"/>
            <a:ext cx="2474073" cy="353943"/>
          </a:xfrm>
          <a:prstGeom prst="rect">
            <a:avLst/>
          </a:prstGeom>
          <a:noFill/>
        </p:spPr>
        <p:txBody>
          <a:bodyPr wrap="none" lIns="91410" tIns="45704" rIns="91410" bIns="45704" rtlCol="0">
            <a:spAutoFit/>
          </a:bodyPr>
          <a:lstStyle/>
          <a:p>
            <a:r>
              <a:rPr lang="en-GB" sz="1700" dirty="0" smtClean="0">
                <a:latin typeface="Garamond"/>
                <a:cs typeface="Garamond"/>
              </a:rPr>
              <a:t>Image source: Narayan+05</a:t>
            </a:r>
            <a:endParaRPr lang="en-GB" sz="1700" dirty="0">
              <a:latin typeface="Garamond"/>
              <a:cs typeface="Garamond"/>
            </a:endParaRPr>
          </a:p>
        </p:txBody>
      </p:sp>
      <p:pic>
        <p:nvPicPr>
          <p:cNvPr id="16" name="Picture 15" descr="574px-M87_je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8259" y="4584000"/>
            <a:ext cx="1928541" cy="151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84591" y="5726671"/>
            <a:ext cx="593409" cy="369300"/>
          </a:xfrm>
          <a:prstGeom prst="rect">
            <a:avLst/>
          </a:prstGeom>
          <a:noFill/>
        </p:spPr>
        <p:txBody>
          <a:bodyPr wrap="none" lIns="91410" tIns="45704" rIns="91410" bIns="45704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Garamond"/>
                <a:cs typeface="Garamond"/>
              </a:rPr>
              <a:t>M87</a:t>
            </a:r>
            <a:endParaRPr lang="en-GB" dirty="0">
              <a:solidFill>
                <a:schemeClr val="bg1"/>
              </a:solidFill>
              <a:latin typeface="Garamond"/>
              <a:cs typeface="Garamond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287963" y="1905000"/>
            <a:ext cx="3627437" cy="44196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000" dirty="0" smtClean="0">
                <a:latin typeface="Garamond"/>
                <a:cs typeface="Garamond"/>
              </a:rPr>
              <a:t>Jet formation:</a:t>
            </a:r>
          </a:p>
          <a:p>
            <a:pPr marL="799695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dirty="0" smtClean="0">
                <a:latin typeface="Garamond"/>
                <a:cs typeface="Garamond"/>
              </a:rPr>
              <a:t>Twisted magnetic lines collimate outflows of plasma.</a:t>
            </a:r>
          </a:p>
          <a:p>
            <a:pPr marL="799695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dirty="0" smtClean="0">
                <a:latin typeface="Garamond"/>
                <a:cs typeface="Garamond"/>
              </a:rPr>
              <a:t>The jet removes energy from the disk/BH.</a:t>
            </a:r>
          </a:p>
          <a:p>
            <a:pPr marL="799695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dirty="0" smtClean="0">
                <a:latin typeface="Garamond"/>
                <a:cs typeface="Garamond"/>
              </a:rPr>
              <a:t>The plasma trapped in the lines accelerates and produces large-scale flows.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000" dirty="0" smtClean="0">
                <a:latin typeface="Garamond"/>
                <a:cs typeface="Garamond"/>
              </a:rPr>
              <a:t>The jet power increases proportionally to the BH spin: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1217" y="5559656"/>
            <a:ext cx="1974183" cy="307744"/>
          </a:xfrm>
          <a:prstGeom prst="rect">
            <a:avLst/>
          </a:prstGeom>
          <a:noFill/>
        </p:spPr>
        <p:txBody>
          <a:bodyPr wrap="none" lIns="91410" tIns="45704" rIns="91410" bIns="45704" rtlCol="0">
            <a:spAutoFit/>
          </a:bodyPr>
          <a:lstStyle/>
          <a:p>
            <a:r>
              <a:rPr lang="en-GB" sz="1400" dirty="0" err="1" smtClean="0">
                <a:solidFill>
                  <a:srgbClr val="FF0000"/>
                </a:solidFill>
                <a:latin typeface="Garamond"/>
                <a:cs typeface="Garamond"/>
              </a:rPr>
              <a:t>Blandford</a:t>
            </a:r>
            <a:r>
              <a:rPr lang="en-GB" sz="1400" dirty="0" smtClean="0">
                <a:solidFill>
                  <a:srgbClr val="FF0000"/>
                </a:solidFill>
                <a:latin typeface="Garamond"/>
                <a:cs typeface="Garamond"/>
              </a:rPr>
              <a:t> &amp; </a:t>
            </a:r>
            <a:r>
              <a:rPr lang="en-GB" sz="1400" dirty="0" err="1" smtClean="0">
                <a:solidFill>
                  <a:srgbClr val="FF0000"/>
                </a:solidFill>
                <a:latin typeface="Garamond"/>
                <a:cs typeface="Garamond"/>
              </a:rPr>
              <a:t>Znajek</a:t>
            </a:r>
            <a:r>
              <a:rPr lang="en-GB" sz="1400" dirty="0" smtClean="0">
                <a:solidFill>
                  <a:srgbClr val="FF0000"/>
                </a:solidFill>
                <a:latin typeface="Garamond"/>
                <a:cs typeface="Garamond"/>
              </a:rPr>
              <a:t> 1977</a:t>
            </a:r>
            <a:endParaRPr lang="en-GB" sz="1400" dirty="0">
              <a:solidFill>
                <a:srgbClr val="FF0000"/>
              </a:solidFill>
              <a:latin typeface="Garamond"/>
              <a:cs typeface="Garamond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Modelling AGN: Radio jets</a:t>
            </a:r>
            <a:endParaRPr lang="en-GB" sz="3600" dirty="0"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grpSp>
        <p:nvGrpSpPr>
          <p:cNvPr id="2" name="Group 59"/>
          <p:cNvGrpSpPr/>
          <p:nvPr/>
        </p:nvGrpSpPr>
        <p:grpSpPr>
          <a:xfrm>
            <a:off x="76200" y="3170242"/>
            <a:ext cx="4863582" cy="2773358"/>
            <a:chOff x="13218" y="2590800"/>
            <a:chExt cx="4863582" cy="2773358"/>
          </a:xfrm>
        </p:grpSpPr>
        <p:grpSp>
          <p:nvGrpSpPr>
            <p:cNvPr id="3" name="Group 58"/>
            <p:cNvGrpSpPr/>
            <p:nvPr/>
          </p:nvGrpSpPr>
          <p:grpSpPr>
            <a:xfrm>
              <a:off x="13218" y="2590800"/>
              <a:ext cx="4863582" cy="2773358"/>
              <a:chOff x="13218" y="2590800"/>
              <a:chExt cx="4863582" cy="2773358"/>
            </a:xfrm>
          </p:grpSpPr>
          <p:sp>
            <p:nvSpPr>
              <p:cNvPr id="54" name="Oval 53"/>
              <p:cNvSpPr/>
              <p:nvPr/>
            </p:nvSpPr>
            <p:spPr>
              <a:xfrm rot="10800000">
                <a:off x="184553" y="4479525"/>
                <a:ext cx="1945677" cy="313182"/>
              </a:xfrm>
              <a:prstGeom prst="ellipse">
                <a:avLst/>
              </a:prstGeom>
              <a:gradFill flip="none" rotWithShape="1">
                <a:gsLst>
                  <a:gs pos="57000">
                    <a:srgbClr val="FF0000"/>
                  </a:gs>
                  <a:gs pos="84000">
                    <a:srgbClr val="FFFFFF"/>
                  </a:gs>
                  <a:gs pos="27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aramond"/>
                  <a:cs typeface="Garamond"/>
                </a:endParaRP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931123" y="4479525"/>
                <a:ext cx="1945677" cy="313182"/>
              </a:xfrm>
              <a:prstGeom prst="ellipse">
                <a:avLst/>
              </a:prstGeom>
              <a:gradFill flip="none" rotWithShape="1">
                <a:gsLst>
                  <a:gs pos="57000">
                    <a:srgbClr val="FF0000"/>
                  </a:gs>
                  <a:gs pos="84000">
                    <a:srgbClr val="FFFFFF"/>
                  </a:gs>
                  <a:gs pos="24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aramond"/>
                  <a:cs typeface="Garamond"/>
                </a:endParaRPr>
              </a:p>
            </p:txBody>
          </p:sp>
          <p:grpSp>
            <p:nvGrpSpPr>
              <p:cNvPr id="4" name="Group 43"/>
              <p:cNvGrpSpPr/>
              <p:nvPr/>
            </p:nvGrpSpPr>
            <p:grpSpPr>
              <a:xfrm>
                <a:off x="13218" y="2590800"/>
                <a:ext cx="4863581" cy="2362200"/>
                <a:chOff x="13218" y="2938046"/>
                <a:chExt cx="4863581" cy="2362200"/>
              </a:xfrm>
            </p:grpSpPr>
            <p:grpSp>
              <p:nvGrpSpPr>
                <p:cNvPr id="5" name="Group 35"/>
                <p:cNvGrpSpPr/>
                <p:nvPr/>
              </p:nvGrpSpPr>
              <p:grpSpPr>
                <a:xfrm>
                  <a:off x="13218" y="2969342"/>
                  <a:ext cx="4863581" cy="2330904"/>
                  <a:chOff x="582612" y="3581400"/>
                  <a:chExt cx="5092181" cy="2408601"/>
                </a:xfrm>
              </p:grpSpPr>
              <p:grpSp>
                <p:nvGrpSpPr>
                  <p:cNvPr id="6" name="Group 16"/>
                  <p:cNvGrpSpPr>
                    <a:grpSpLocks noChangeAspect="1"/>
                  </p:cNvGrpSpPr>
                  <p:nvPr/>
                </p:nvGrpSpPr>
                <p:grpSpPr>
                  <a:xfrm>
                    <a:off x="762000" y="3581400"/>
                    <a:ext cx="4912793" cy="662397"/>
                    <a:chOff x="304800" y="3733800"/>
                    <a:chExt cx="6781800" cy="914397"/>
                  </a:xfrm>
                </p:grpSpPr>
                <p:grpSp>
                  <p:nvGrpSpPr>
                    <p:cNvPr id="9" name="Group 16"/>
                    <p:cNvGrpSpPr/>
                    <p:nvPr/>
                  </p:nvGrpSpPr>
                  <p:grpSpPr>
                    <a:xfrm>
                      <a:off x="304800" y="3815124"/>
                      <a:ext cx="6781801" cy="833072"/>
                      <a:chOff x="304800" y="3352804"/>
                      <a:chExt cx="8264912" cy="996928"/>
                    </a:xfrm>
                  </p:grpSpPr>
                  <p:sp>
                    <p:nvSpPr>
                      <p:cNvPr id="10" name="Rectangle 9"/>
                      <p:cNvSpPr/>
                      <p:nvPr/>
                    </p:nvSpPr>
                    <p:spPr>
                      <a:xfrm flipH="1">
                        <a:off x="2133601" y="3810838"/>
                        <a:ext cx="4724400" cy="532562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1000">
                            <a:srgbClr val="FFFF00">
                              <a:alpha val="80000"/>
                            </a:srgbClr>
                          </a:gs>
                          <a:gs pos="63000">
                            <a:srgbClr val="FFFFFF">
                              <a:alpha val="88000"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>
                          <a:latin typeface="Garamond"/>
                          <a:cs typeface="Garamond"/>
                        </a:endParaRPr>
                      </a:p>
                    </p:txBody>
                  </p:sp>
                  <p:grpSp>
                    <p:nvGrpSpPr>
                      <p:cNvPr id="11" name="Group 10"/>
                      <p:cNvGrpSpPr/>
                      <p:nvPr/>
                    </p:nvGrpSpPr>
                    <p:grpSpPr>
                      <a:xfrm>
                        <a:off x="304800" y="3352804"/>
                        <a:ext cx="8264912" cy="996928"/>
                        <a:chOff x="76200" y="3352804"/>
                        <a:chExt cx="8264912" cy="996928"/>
                      </a:xfrm>
                    </p:grpSpPr>
                    <p:sp>
                      <p:nvSpPr>
                        <p:cNvPr id="12" name="Oval 11"/>
                        <p:cNvSpPr/>
                        <p:nvPr/>
                      </p:nvSpPr>
                      <p:spPr>
                        <a:xfrm>
                          <a:off x="4914000" y="3815124"/>
                          <a:ext cx="3427112" cy="534608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57000">
                              <a:srgbClr val="FF0000"/>
                            </a:gs>
                            <a:gs pos="84000">
                              <a:srgbClr val="FFFFFF"/>
                            </a:gs>
                            <a:gs pos="16000">
                              <a:srgbClr val="FFFF00"/>
                            </a:gs>
                          </a:gsLst>
                          <a:lin ang="0" scaled="1"/>
                          <a:tileRect/>
                        </a:gradFill>
                        <a:ln>
                          <a:noFill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>
                            <a:latin typeface="Garamond"/>
                            <a:cs typeface="Garamond"/>
                          </a:endParaRPr>
                        </a:p>
                      </p:txBody>
                    </p:sp>
                    <p:sp>
                      <p:nvSpPr>
                        <p:cNvPr id="13" name="Oval 12"/>
                        <p:cNvSpPr/>
                        <p:nvPr/>
                      </p:nvSpPr>
                      <p:spPr>
                        <a:xfrm rot="10800000">
                          <a:off x="76200" y="3815124"/>
                          <a:ext cx="3427112" cy="534608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57000">
                              <a:srgbClr val="FF0000"/>
                            </a:gs>
                            <a:gs pos="84000">
                              <a:srgbClr val="FFFFFF"/>
                            </a:gs>
                            <a:gs pos="16000">
                              <a:srgbClr val="FFFF00"/>
                            </a:gs>
                          </a:gsLst>
                          <a:lin ang="0" scaled="1"/>
                          <a:tileRect/>
                        </a:gradFill>
                        <a:ln>
                          <a:noFill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>
                            <a:latin typeface="Garamond"/>
                            <a:cs typeface="Garamond"/>
                          </a:endParaRPr>
                        </a:p>
                      </p:txBody>
                    </p:sp>
                    <p:grpSp>
                      <p:nvGrpSpPr>
                        <p:cNvPr id="14" name="Group 15"/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3962400" y="3352804"/>
                          <a:ext cx="553849" cy="968993"/>
                          <a:chOff x="3505200" y="663522"/>
                          <a:chExt cx="1221088" cy="2079678"/>
                        </a:xfrm>
                        <a:solidFill>
                          <a:schemeClr val="tx1"/>
                        </a:solidFill>
                      </p:grpSpPr>
                      <p:sp>
                        <p:nvSpPr>
                          <p:cNvPr id="15" name="Oval 14"/>
                          <p:cNvSpPr/>
                          <p:nvPr/>
                        </p:nvSpPr>
                        <p:spPr>
                          <a:xfrm>
                            <a:off x="3505200" y="1600200"/>
                            <a:ext cx="1221088" cy="1143000"/>
                          </a:xfrm>
                          <a:prstGeom prst="ellipse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>
                              <a:latin typeface="Garamond"/>
                              <a:cs typeface="Garamond"/>
                            </a:endParaRPr>
                          </a:p>
                        </p:txBody>
                      </p:sp>
                      <p:cxnSp>
                        <p:nvCxnSpPr>
                          <p:cNvPr id="16" name="Straight Arrow Connector 15"/>
                          <p:cNvCxnSpPr>
                            <a:stCxn id="15" idx="0"/>
                          </p:cNvCxnSpPr>
                          <p:nvPr/>
                        </p:nvCxnSpPr>
                        <p:spPr>
                          <a:xfrm rot="5400000" flipH="1" flipV="1">
                            <a:off x="3647405" y="1131862"/>
                            <a:ext cx="936684" cy="3"/>
                          </a:xfrm>
                          <a:prstGeom prst="straightConnector1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  <a:tailEnd type="arrow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  <p:grpSp>
                  <p:nvGrpSpPr>
                    <p:cNvPr id="17" name="Group 19"/>
                    <p:cNvGrpSpPr/>
                    <p:nvPr/>
                  </p:nvGrpSpPr>
                  <p:grpSpPr>
                    <a:xfrm>
                      <a:off x="3533773" y="3733800"/>
                      <a:ext cx="504827" cy="381000"/>
                      <a:chOff x="3533773" y="3657600"/>
                      <a:chExt cx="504827" cy="522225"/>
                    </a:xfrm>
                  </p:grpSpPr>
                  <p:sp>
                    <p:nvSpPr>
                      <p:cNvPr id="7" name="Curved Right Arrow 6"/>
                      <p:cNvSpPr/>
                      <p:nvPr/>
                    </p:nvSpPr>
                    <p:spPr>
                      <a:xfrm rot="21125840">
                        <a:off x="3533773" y="3733800"/>
                        <a:ext cx="440160" cy="446025"/>
                      </a:xfrm>
                      <a:prstGeom prst="curvedRightArrow">
                        <a:avLst>
                          <a:gd name="adj1" fmla="val 0"/>
                          <a:gd name="adj2" fmla="val 58685"/>
                          <a:gd name="adj3" fmla="val 30762"/>
                        </a:avLst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>
                          <a:solidFill>
                            <a:schemeClr val="tx1"/>
                          </a:solidFill>
                          <a:latin typeface="Garamond"/>
                          <a:cs typeface="Garamond"/>
                        </a:endParaRPr>
                      </a:p>
                    </p:txBody>
                  </p:sp>
                  <p:sp>
                    <p:nvSpPr>
                      <p:cNvPr id="8" name="Rectangle 7"/>
                      <p:cNvSpPr/>
                      <p:nvPr/>
                    </p:nvSpPr>
                    <p:spPr>
                      <a:xfrm>
                        <a:off x="3756960" y="3657600"/>
                        <a:ext cx="281640" cy="152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bg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>
                          <a:latin typeface="Garamond"/>
                          <a:cs typeface="Garamond"/>
                        </a:endParaRPr>
                      </a:p>
                    </p:txBody>
                  </p:sp>
                </p:grpSp>
              </p:grpSp>
              <p:cxnSp>
                <p:nvCxnSpPr>
                  <p:cNvPr id="34" name="Straight Arrow Connector 33"/>
                  <p:cNvCxnSpPr/>
                  <p:nvPr/>
                </p:nvCxnSpPr>
                <p:spPr>
                  <a:xfrm rot="5400000" flipH="1" flipV="1">
                    <a:off x="-204572" y="4870198"/>
                    <a:ext cx="2239605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  <a:effectLst>
                    <a:outerShdw blurRad="40000" dist="20000" dir="5400000" rotWithShape="0">
                      <a:schemeClr val="tx1">
                        <a:alpha val="38000"/>
                      </a:scheme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aphicFrame>
                <p:nvGraphicFramePr>
                  <p:cNvPr id="25602" name="Object 2"/>
                  <p:cNvGraphicFramePr>
                    <a:graphicFrameLocks noChangeAspect="1"/>
                  </p:cNvGraphicFramePr>
                  <p:nvPr/>
                </p:nvGraphicFramePr>
                <p:xfrm>
                  <a:off x="582612" y="3810364"/>
                  <a:ext cx="255588" cy="211137"/>
                </p:xfrm>
                <a:graphic>
                  <a:graphicData uri="http://schemas.openxmlformats.org/presentationml/2006/ole">
                    <p:oleObj spid="_x0000_s155650" name="Equation" r:id="rId4" imgW="152400" imgH="127000" progId="Equation.3">
                      <p:embed/>
                    </p:oleObj>
                  </a:graphicData>
                </a:graphic>
              </p:graphicFrame>
            </p:grpSp>
            <p:sp>
              <p:nvSpPr>
                <p:cNvPr id="37" name="TextBox 36"/>
                <p:cNvSpPr txBox="1"/>
                <p:nvPr/>
              </p:nvSpPr>
              <p:spPr>
                <a:xfrm>
                  <a:off x="685800" y="2938046"/>
                  <a:ext cx="94218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 smtClean="0">
                      <a:latin typeface="Garamond"/>
                      <a:cs typeface="Garamond"/>
                    </a:rPr>
                    <a:t>Thin disk</a:t>
                  </a:r>
                  <a:endParaRPr lang="en-GB" sz="1600" dirty="0">
                    <a:latin typeface="Garamond"/>
                    <a:cs typeface="Garamond"/>
                  </a:endParaRPr>
                </a:p>
              </p:txBody>
            </p:sp>
          </p:grpSp>
          <p:sp>
            <p:nvSpPr>
              <p:cNvPr id="52" name="Oval 51"/>
              <p:cNvSpPr/>
              <p:nvPr/>
            </p:nvSpPr>
            <p:spPr>
              <a:xfrm>
                <a:off x="1533600" y="3810000"/>
                <a:ext cx="1983086" cy="15541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/>
                  </a:gs>
                  <a:gs pos="100000">
                    <a:srgbClr val="FFFFFF"/>
                  </a:gs>
                  <a:gs pos="76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smtClean="0"/>
              </a:p>
              <a:p>
                <a:pPr algn="ctr"/>
                <a:endParaRPr lang="en-GB" dirty="0" smtClean="0"/>
              </a:p>
              <a:p>
                <a:pPr algn="ctr"/>
                <a:endParaRPr lang="en-GB" dirty="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2390869" y="4464355"/>
                <a:ext cx="314437" cy="31198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aramond"/>
                  <a:cs typeface="Garamond"/>
                </a:endParaRPr>
              </a:p>
            </p:txBody>
          </p:sp>
          <p:cxnSp>
            <p:nvCxnSpPr>
              <p:cNvPr id="56" name="Straight Arrow Connector 55"/>
              <p:cNvCxnSpPr>
                <a:stCxn id="55" idx="0"/>
              </p:cNvCxnSpPr>
              <p:nvPr/>
            </p:nvCxnSpPr>
            <p:spPr>
              <a:xfrm rot="5400000" flipH="1" flipV="1">
                <a:off x="2420253" y="4336521"/>
                <a:ext cx="255671" cy="1"/>
              </a:xfrm>
              <a:prstGeom prst="straightConnector1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Curved Right Arrow 56"/>
              <p:cNvSpPr/>
              <p:nvPr/>
            </p:nvSpPr>
            <p:spPr>
              <a:xfrm rot="21125840">
                <a:off x="2418641" y="4190648"/>
                <a:ext cx="304542" cy="228124"/>
              </a:xfrm>
              <a:prstGeom prst="curvedRightArrow">
                <a:avLst>
                  <a:gd name="adj1" fmla="val 0"/>
                  <a:gd name="adj2" fmla="val 58685"/>
                  <a:gd name="adj3" fmla="val 30762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latin typeface="Garamond"/>
                  <a:cs typeface="Garamond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762000" y="4157246"/>
                <a:ext cx="725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 smtClean="0">
                    <a:latin typeface="Garamond"/>
                    <a:cs typeface="Garamond"/>
                  </a:rPr>
                  <a:t>ADAF</a:t>
                </a:r>
                <a:endParaRPr lang="en-GB" sz="1600" dirty="0">
                  <a:latin typeface="Garamond"/>
                  <a:cs typeface="Garamond"/>
                </a:endParaRPr>
              </a:p>
            </p:txBody>
          </p:sp>
        </p:grpSp>
        <p:graphicFrame>
          <p:nvGraphicFramePr>
            <p:cNvPr id="25619" name="Object 19"/>
            <p:cNvGraphicFramePr>
              <a:graphicFrameLocks noChangeAspect="1"/>
            </p:cNvGraphicFramePr>
            <p:nvPr/>
          </p:nvGraphicFramePr>
          <p:xfrm>
            <a:off x="3811590" y="4187821"/>
            <a:ext cx="590550" cy="179387"/>
          </p:xfrm>
          <a:graphic>
            <a:graphicData uri="http://schemas.openxmlformats.org/presentationml/2006/ole">
              <p:oleObj spid="_x0000_s155653" name="Equation" r:id="rId5" imgW="419100" imgH="127000" progId="Equation.3">
                <p:embed/>
              </p:oleObj>
            </a:graphicData>
          </a:graphic>
        </p:graphicFrame>
        <p:graphicFrame>
          <p:nvGraphicFramePr>
            <p:cNvPr id="25620" name="Object 20"/>
            <p:cNvGraphicFramePr>
              <a:graphicFrameLocks noChangeAspect="1"/>
            </p:cNvGraphicFramePr>
            <p:nvPr/>
          </p:nvGraphicFramePr>
          <p:xfrm>
            <a:off x="3756025" y="2667000"/>
            <a:ext cx="698500" cy="179388"/>
          </p:xfrm>
          <a:graphic>
            <a:graphicData uri="http://schemas.openxmlformats.org/presentationml/2006/ole">
              <p:oleObj spid="_x0000_s155654" name="Equation" r:id="rId6" imgW="495300" imgH="127000" progId="Equation.3">
                <p:embed/>
              </p:oleObj>
            </a:graphicData>
          </a:graphic>
        </p:graphicFrame>
      </p:grp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Modelling AGN: Accretion disks</a:t>
            </a:r>
            <a:endParaRPr lang="en-GB" sz="3600" dirty="0">
              <a:latin typeface="Garamond"/>
              <a:cs typeface="Garamond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5092182" y="3050944"/>
            <a:ext cx="3756427" cy="1292456"/>
            <a:chOff x="205973" y="4572000"/>
            <a:chExt cx="3756427" cy="1292456"/>
          </a:xfrm>
        </p:grpSpPr>
        <p:sp>
          <p:nvSpPr>
            <p:cNvPr id="40" name="Rounded Rectangle 39"/>
            <p:cNvSpPr/>
            <p:nvPr/>
          </p:nvSpPr>
          <p:spPr>
            <a:xfrm>
              <a:off x="205973" y="4572000"/>
              <a:ext cx="3756427" cy="129245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6099" tIns="38049" rIns="76099" bIns="38049" rtlCol="0" anchor="t"/>
            <a:lstStyle/>
            <a:p>
              <a:pPr algn="ctr"/>
              <a:endParaRPr lang="en-GB" dirty="0">
                <a:solidFill>
                  <a:schemeClr val="tx1"/>
                </a:solidFill>
                <a:latin typeface="Garamond"/>
                <a:cs typeface="Garamond"/>
              </a:endParaRPr>
            </a:p>
          </p:txBody>
        </p:sp>
        <p:graphicFrame>
          <p:nvGraphicFramePr>
            <p:cNvPr id="25614" name="Object 14"/>
            <p:cNvGraphicFramePr>
              <a:graphicFrameLocks noChangeAspect="1"/>
            </p:cNvGraphicFramePr>
            <p:nvPr/>
          </p:nvGraphicFramePr>
          <p:xfrm>
            <a:off x="304800" y="4724400"/>
            <a:ext cx="3257367" cy="970475"/>
          </p:xfrm>
          <a:graphic>
            <a:graphicData uri="http://schemas.openxmlformats.org/presentationml/2006/ole">
              <p:oleObj spid="_x0000_s155651" name="Equation" r:id="rId7" imgW="2197100" imgH="711200" progId="Equation.3">
                <p:embed/>
              </p:oleObj>
            </a:graphicData>
          </a:graphic>
        </p:graphicFrame>
      </p:grpSp>
      <p:sp>
        <p:nvSpPr>
          <p:cNvPr id="48" name="TextBox 47"/>
          <p:cNvSpPr txBox="1"/>
          <p:nvPr/>
        </p:nvSpPr>
        <p:spPr>
          <a:xfrm>
            <a:off x="7534690" y="4066433"/>
            <a:ext cx="1077979" cy="276967"/>
          </a:xfrm>
          <a:prstGeom prst="rect">
            <a:avLst/>
          </a:prstGeom>
          <a:noFill/>
          <a:ln>
            <a:noFill/>
          </a:ln>
        </p:spPr>
        <p:txBody>
          <a:bodyPr wrap="square" lIns="91410" tIns="45704" rIns="91410" bIns="45704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  <a:latin typeface="Garamond"/>
                <a:cs typeface="Garamond"/>
              </a:rPr>
              <a:t>Meier 2002</a:t>
            </a:r>
          </a:p>
          <a:p>
            <a:endParaRPr lang="en-GB" sz="1200" dirty="0">
              <a:solidFill>
                <a:srgbClr val="FF0000"/>
              </a:solidFill>
              <a:latin typeface="Garamond"/>
              <a:cs typeface="Garamond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604758" y="1496704"/>
            <a:ext cx="39484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>
                <a:solidFill>
                  <a:srgbClr val="059605"/>
                </a:solidFill>
                <a:latin typeface="Garamond"/>
                <a:cs typeface="Garamond"/>
              </a:rPr>
              <a:t>Disk geometry depends on </a:t>
            </a:r>
          </a:p>
          <a:p>
            <a:r>
              <a:rPr lang="en-GB" sz="2800" dirty="0" smtClean="0">
                <a:solidFill>
                  <a:srgbClr val="059605"/>
                </a:solidFill>
                <a:latin typeface="Garamond"/>
                <a:cs typeface="Garamond"/>
              </a:rPr>
              <a:t>       the accretion rate! </a:t>
            </a:r>
            <a:endParaRPr lang="en-GB" sz="2800" dirty="0">
              <a:solidFill>
                <a:srgbClr val="059605"/>
              </a:solidFill>
              <a:latin typeface="Garamond"/>
              <a:cs typeface="Garamond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5029200" y="4551721"/>
            <a:ext cx="3962400" cy="1315679"/>
            <a:chOff x="499993" y="5127567"/>
            <a:chExt cx="4098474" cy="1315679"/>
          </a:xfrm>
        </p:grpSpPr>
        <p:sp>
          <p:nvSpPr>
            <p:cNvPr id="43" name="Rounded Rectangle 42"/>
            <p:cNvSpPr/>
            <p:nvPr/>
          </p:nvSpPr>
          <p:spPr>
            <a:xfrm>
              <a:off x="565138" y="5127567"/>
              <a:ext cx="3952402" cy="131567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6099" tIns="38049" rIns="76099" bIns="38049" rtlCol="0" anchor="t"/>
            <a:lstStyle/>
            <a:p>
              <a:pPr algn="ctr"/>
              <a:endParaRPr lang="en-GB" dirty="0">
                <a:solidFill>
                  <a:schemeClr val="tx1"/>
                </a:solidFill>
                <a:latin typeface="Garamond"/>
                <a:cs typeface="Garamond"/>
              </a:endParaRPr>
            </a:p>
          </p:txBody>
        </p:sp>
        <p:graphicFrame>
          <p:nvGraphicFramePr>
            <p:cNvPr id="25615" name="Object 15"/>
            <p:cNvGraphicFramePr>
              <a:graphicFrameLocks noChangeAspect="1"/>
            </p:cNvGraphicFramePr>
            <p:nvPr/>
          </p:nvGraphicFramePr>
          <p:xfrm>
            <a:off x="499993" y="5236334"/>
            <a:ext cx="2979132" cy="1006425"/>
          </p:xfrm>
          <a:graphic>
            <a:graphicData uri="http://schemas.openxmlformats.org/presentationml/2006/ole">
              <p:oleObj spid="_x0000_s155652" name="Equation" r:id="rId8" imgW="2184400" imgH="698500" progId="Equation.3">
                <p:embed/>
              </p:oleObj>
            </a:graphicData>
          </a:graphic>
        </p:graphicFrame>
        <p:sp>
          <p:nvSpPr>
            <p:cNvPr id="45" name="TextBox 44"/>
            <p:cNvSpPr txBox="1"/>
            <p:nvPr/>
          </p:nvSpPr>
          <p:spPr>
            <a:xfrm>
              <a:off x="3520488" y="5937679"/>
              <a:ext cx="1077979" cy="276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10" tIns="45704" rIns="91410" bIns="45704" rtlCol="0">
              <a:spAutoFit/>
            </a:bodyPr>
            <a:lstStyle/>
            <a:p>
              <a:r>
                <a:rPr lang="en-GB" sz="1200" dirty="0" smtClean="0">
                  <a:solidFill>
                    <a:srgbClr val="FF0000"/>
                  </a:solidFill>
                  <a:latin typeface="Garamond"/>
                  <a:cs typeface="Garamond"/>
                </a:rPr>
                <a:t>Meier 2002</a:t>
              </a:r>
            </a:p>
            <a:p>
              <a:endParaRPr lang="en-GB" sz="1200" dirty="0">
                <a:solidFill>
                  <a:srgbClr val="FF0000"/>
                </a:solidFill>
                <a:latin typeface="Garamond"/>
                <a:cs typeface="Garamond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100948" y="5556679"/>
              <a:ext cx="1447799" cy="276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10" tIns="45704" rIns="91410" bIns="45704" rtlCol="0">
              <a:spAutoFit/>
            </a:bodyPr>
            <a:lstStyle/>
            <a:p>
              <a:r>
                <a:rPr lang="en-GB" sz="1200" dirty="0" err="1" smtClean="0">
                  <a:solidFill>
                    <a:srgbClr val="FF0000"/>
                  </a:solidFill>
                  <a:latin typeface="Garamond"/>
                  <a:cs typeface="Garamond"/>
                </a:rPr>
                <a:t>Mahadevan</a:t>
              </a:r>
              <a:r>
                <a:rPr lang="en-GB" sz="1200" dirty="0" smtClean="0">
                  <a:solidFill>
                    <a:srgbClr val="FF0000"/>
                  </a:solidFill>
                  <a:latin typeface="Garamond"/>
                  <a:cs typeface="Garamond"/>
                </a:rPr>
                <a:t> 1997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04800" y="1905000"/>
            <a:ext cx="4173015" cy="472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66185" y="1905000"/>
            <a:ext cx="4173015" cy="472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Garamond"/>
                <a:cs typeface="Garamond"/>
              </a:rPr>
              <a:t>Results I: luminosity functions</a:t>
            </a:r>
            <a:endParaRPr lang="en-GB" dirty="0">
              <a:latin typeface="Garamond"/>
              <a:cs typeface="Garamond"/>
            </a:endParaRPr>
          </a:p>
        </p:txBody>
      </p:sp>
      <p:pic>
        <p:nvPicPr>
          <p:cNvPr id="11" name="Picture 10" descr="qlf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rcRect t="8148"/>
              <a:stretch>
                <a:fillRect/>
              </a:stretch>
            </p:blipFill>
          </mc:Choice>
          <mc:Fallback>
            <p:blipFill>
              <a:blip r:embed="rId3"/>
              <a:srcRect t="8148"/>
              <a:stretch>
                <a:fillRect/>
              </a:stretch>
            </p:blipFill>
          </mc:Fallback>
        </mc:AlternateContent>
        <p:spPr>
          <a:xfrm>
            <a:off x="304800" y="2569124"/>
            <a:ext cx="4409985" cy="4050661"/>
          </a:xfrm>
          <a:prstGeom prst="rect">
            <a:avLst/>
          </a:prstGeom>
        </p:spPr>
      </p:pic>
      <p:pic>
        <p:nvPicPr>
          <p:cNvPr id="8" name="Picture 7" descr="rlf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4706415" y="2191815"/>
            <a:ext cx="4373985" cy="43739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200" y="20574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Garamond"/>
                <a:cs typeface="Garamond"/>
              </a:rPr>
              <a:t>Quasar luminosity function</a:t>
            </a:r>
            <a:endParaRPr lang="en-GB" dirty="0">
              <a:latin typeface="Garamond"/>
              <a:cs typeface="Garamon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62600" y="20574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Garamond"/>
                <a:cs typeface="Garamond"/>
              </a:rPr>
              <a:t>Radio luminosity function</a:t>
            </a:r>
            <a:endParaRPr lang="en-GB" dirty="0"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9600" y="228600"/>
            <a:ext cx="8229600" cy="1143000"/>
          </a:xfrm>
          <a:prstGeom prst="rect">
            <a:avLst/>
          </a:prstGeom>
        </p:spPr>
        <p:txBody>
          <a:bodyPr vert="horz" lIns="91395" tIns="45696" rIns="91395" bIns="45696" rtlCol="0" anchor="ctr">
            <a:normAutofit/>
          </a:bodyPr>
          <a:lstStyle/>
          <a:p>
            <a:pPr marL="0" marR="0" lvl="0" indent="0" algn="ctr" defTabSz="45696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j-ea"/>
                <a:cs typeface="Garamond"/>
              </a:rPr>
              <a:t>Results III: AGN radio loudness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j-ea"/>
              <a:cs typeface="Garamon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3400" y="3733800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44928" y="2057399"/>
            <a:ext cx="3693672" cy="3733801"/>
          </a:xfrm>
          <a:prstGeom prst="rect">
            <a:avLst/>
          </a:prstGeom>
        </p:spPr>
        <p:txBody>
          <a:bodyPr vert="horz" lIns="91395" tIns="45696" rIns="91395" bIns="45696" rtlCol="0">
            <a:normAutofit fontScale="92500" lnSpcReduction="1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AGN form two distinct populations:</a:t>
            </a: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ADAFs</a:t>
            </a:r>
            <a:endParaRPr lang="en-GB" sz="2300" dirty="0" smtClean="0">
              <a:solidFill>
                <a:srgbClr val="3926A3"/>
              </a:solidFill>
              <a:latin typeface="Garamond"/>
              <a:cs typeface="Garamond"/>
            </a:endParaRP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thin disks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 in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Seyferts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 </a:t>
            </a:r>
            <a:r>
              <a:rPr lang="en-GB" sz="2300" dirty="0" smtClean="0">
                <a:latin typeface="Garamond"/>
                <a:cs typeface="Garamond"/>
              </a:rPr>
              <a:t>accrete in the 0.01-1 regime. Those in 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radio galaxies </a:t>
            </a:r>
            <a:r>
              <a:rPr lang="en-GB" sz="2300" dirty="0" smtClean="0">
                <a:latin typeface="Garamond"/>
                <a:cs typeface="Garamond"/>
              </a:rPr>
              <a:t>below 0.01.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Radio-loud objects host </a:t>
            </a:r>
            <a:r>
              <a:rPr lang="en-GB" sz="2300" dirty="0" smtClean="0">
                <a:solidFill>
                  <a:srgbClr val="FF0000"/>
                </a:solidFill>
                <a:latin typeface="Garamond"/>
                <a:cs typeface="Garamond"/>
              </a:rPr>
              <a:t>rapidly rotating </a:t>
            </a: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1000" y="5029200"/>
            <a:ext cx="3505200" cy="68580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sz="1500" dirty="0" smtClean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18" name="Picture 17" descr="bz_cha_pp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014015" y="1499415"/>
            <a:ext cx="5129985" cy="5129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9600" y="228600"/>
            <a:ext cx="8229600" cy="1143000"/>
          </a:xfrm>
          <a:prstGeom prst="rect">
            <a:avLst/>
          </a:prstGeom>
        </p:spPr>
        <p:txBody>
          <a:bodyPr vert="horz" lIns="91395" tIns="45696" rIns="91395" bIns="45696" rtlCol="0" anchor="ctr">
            <a:normAutofit/>
          </a:bodyPr>
          <a:lstStyle/>
          <a:p>
            <a:pPr marL="0" marR="0" lvl="0" indent="0" algn="ctr" defTabSz="45696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j-ea"/>
                <a:cs typeface="Garamond"/>
              </a:rPr>
              <a:t>Results III: AGN radio loudness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j-ea"/>
              <a:cs typeface="Garamond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44928" y="2057399"/>
            <a:ext cx="3693672" cy="3733801"/>
          </a:xfrm>
          <a:prstGeom prst="rect">
            <a:avLst/>
          </a:prstGeom>
        </p:spPr>
        <p:txBody>
          <a:bodyPr vert="horz" lIns="91395" tIns="45696" rIns="91395" bIns="45696" rtlCol="0">
            <a:normAutofit fontScale="92500" lnSpcReduction="1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AGN form two distinct populations:</a:t>
            </a: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ADAFs</a:t>
            </a:r>
            <a:endParaRPr lang="en-GB" sz="2300" dirty="0" smtClean="0">
              <a:solidFill>
                <a:srgbClr val="3926A3"/>
              </a:solidFill>
              <a:latin typeface="Garamond"/>
              <a:cs typeface="Garamond"/>
            </a:endParaRP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thin disks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 in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Seyferts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 </a:t>
            </a:r>
            <a:r>
              <a:rPr lang="en-GB" sz="2300" dirty="0" smtClean="0">
                <a:latin typeface="Garamond"/>
                <a:cs typeface="Garamond"/>
              </a:rPr>
              <a:t>accrete in the 0.01-1 regime. Those in 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radio galaxies </a:t>
            </a:r>
            <a:r>
              <a:rPr lang="en-GB" sz="2300" dirty="0" smtClean="0">
                <a:latin typeface="Garamond"/>
                <a:cs typeface="Garamond"/>
              </a:rPr>
              <a:t>below 0.01.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Radio-loud objects host 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rapidly rotating </a:t>
            </a: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</p:txBody>
      </p:sp>
      <p:pic>
        <p:nvPicPr>
          <p:cNvPr id="14" name="Picture 13" descr="bz_cha_pp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014015" y="1499415"/>
            <a:ext cx="5129985" cy="5129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9600" y="228600"/>
            <a:ext cx="8229600" cy="1143000"/>
          </a:xfrm>
          <a:prstGeom prst="rect">
            <a:avLst/>
          </a:prstGeom>
        </p:spPr>
        <p:txBody>
          <a:bodyPr vert="horz" lIns="91395" tIns="45696" rIns="91395" bIns="45696" rtlCol="0" anchor="ctr">
            <a:normAutofit/>
          </a:bodyPr>
          <a:lstStyle/>
          <a:p>
            <a:pPr marL="0" marR="0" lvl="0" indent="0" algn="ctr" defTabSz="45696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j-ea"/>
                <a:cs typeface="Garamond"/>
              </a:rPr>
              <a:t>Results III: AGN radio loudness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j-ea"/>
              <a:cs typeface="Garamond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44928" y="2057399"/>
            <a:ext cx="3693672" cy="3733801"/>
          </a:xfrm>
          <a:prstGeom prst="rect">
            <a:avLst/>
          </a:prstGeom>
        </p:spPr>
        <p:txBody>
          <a:bodyPr vert="horz" lIns="91395" tIns="45696" rIns="91395" bIns="45696" rtlCol="0">
            <a:normAutofit fontScale="92500" lnSpcReduction="1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AGN form two distinct populations:</a:t>
            </a: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ADAFs</a:t>
            </a:r>
            <a:endParaRPr lang="en-GB" sz="2300" dirty="0" smtClean="0">
              <a:solidFill>
                <a:srgbClr val="3926A3"/>
              </a:solidFill>
              <a:latin typeface="Garamond"/>
              <a:cs typeface="Garamond"/>
            </a:endParaRP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Those powered by thin disks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 in </a:t>
            </a:r>
            <a:r>
              <a:rPr lang="en-GB" sz="2300" dirty="0" err="1" smtClean="0">
                <a:solidFill>
                  <a:srgbClr val="3926A3"/>
                </a:solidFill>
                <a:latin typeface="Garamond"/>
                <a:cs typeface="Garamond"/>
              </a:rPr>
              <a:t>Seyferts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 </a:t>
            </a:r>
            <a:r>
              <a:rPr lang="en-GB" sz="2300" dirty="0" smtClean="0">
                <a:latin typeface="Garamond"/>
                <a:cs typeface="Garamond"/>
              </a:rPr>
              <a:t>accrete in the 0.01-1 regime. Those in 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radio galaxies </a:t>
            </a:r>
            <a:r>
              <a:rPr lang="en-GB" sz="2300" dirty="0" smtClean="0">
                <a:latin typeface="Garamond"/>
                <a:cs typeface="Garamond"/>
              </a:rPr>
              <a:t>below 0.01.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300" dirty="0" smtClean="0">
                <a:latin typeface="Garamond"/>
                <a:cs typeface="Garamond"/>
              </a:rPr>
              <a:t>Radio-loud objects host </a:t>
            </a:r>
            <a:r>
              <a:rPr lang="en-GB" sz="2300" dirty="0" smtClean="0">
                <a:solidFill>
                  <a:srgbClr val="3926A3"/>
                </a:solidFill>
                <a:latin typeface="Garamond"/>
                <a:cs typeface="Garamond"/>
              </a:rPr>
              <a:t>rapidly rotating </a:t>
            </a:r>
            <a:r>
              <a:rPr lang="en-GB" sz="2300" dirty="0" err="1" smtClean="0">
                <a:latin typeface="Garamond"/>
                <a:cs typeface="Garamond"/>
              </a:rPr>
              <a:t>BHs</a:t>
            </a:r>
            <a:r>
              <a:rPr lang="en-GB" sz="2300" dirty="0" smtClean="0">
                <a:latin typeface="Garamond"/>
                <a:cs typeface="Garamond"/>
              </a:rPr>
              <a:t>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300" dirty="0" smtClean="0">
              <a:latin typeface="Garamond"/>
              <a:cs typeface="Garamond"/>
            </a:endParaRPr>
          </a:p>
        </p:txBody>
      </p:sp>
      <p:pic>
        <p:nvPicPr>
          <p:cNvPr id="14" name="Picture 13" descr="bz_cha_pp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rcRect l="4965" t="8953" r="4003" b="19426"/>
              <a:stretch>
                <a:fillRect/>
              </a:stretch>
            </p:blipFill>
          </mc:Choice>
          <mc:Fallback>
            <p:blipFill>
              <a:blip r:embed="rId3"/>
              <a:srcRect l="4965" t="8953" r="4003" b="19426"/>
              <a:stretch>
                <a:fillRect/>
              </a:stretch>
            </p:blipFill>
          </mc:Fallback>
        </mc:AlternateContent>
        <p:spPr>
          <a:xfrm>
            <a:off x="3995314" y="1524000"/>
            <a:ext cx="4792069" cy="487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Garamond"/>
                <a:cs typeface="Garamond"/>
              </a:rPr>
              <a:t>Conclusions</a:t>
            </a:r>
            <a:endParaRPr lang="en-GB" dirty="0">
              <a:latin typeface="Garamond"/>
              <a:cs typeface="Garamon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1570038"/>
            <a:ext cx="3886200" cy="4754562"/>
          </a:xfrm>
        </p:spPr>
        <p:txBody>
          <a:bodyPr>
            <a:normAutofit fontScale="85000" lnSpcReduction="10000"/>
          </a:bodyPr>
          <a:lstStyle/>
          <a:p>
            <a:r>
              <a:rPr lang="en-GB" sz="2400" dirty="0" smtClean="0">
                <a:latin typeface="Garamond"/>
                <a:cs typeface="Garamond"/>
              </a:rPr>
              <a:t>We have developed a model</a:t>
            </a:r>
            <a:r>
              <a:rPr lang="en-GB" sz="2400" dirty="0" smtClean="0">
                <a:latin typeface="Courier"/>
                <a:cs typeface="Courier"/>
              </a:rPr>
              <a:t> </a:t>
            </a:r>
            <a:r>
              <a:rPr lang="en-GB" sz="2400" dirty="0" smtClean="0">
                <a:latin typeface="Garamond"/>
                <a:cs typeface="Garamond"/>
              </a:rPr>
              <a:t>for understanding the AGN activity in hierarchical cosmological models.</a:t>
            </a:r>
          </a:p>
          <a:p>
            <a:r>
              <a:rPr lang="en-GB" sz="2400" dirty="0" smtClean="0">
                <a:latin typeface="Garamond"/>
                <a:cs typeface="Garamond"/>
              </a:rPr>
              <a:t>We find that in the present universe </a:t>
            </a:r>
            <a:r>
              <a:rPr lang="en-GB" sz="2400" dirty="0" err="1" smtClean="0">
                <a:latin typeface="Garamond"/>
                <a:cs typeface="Garamond"/>
              </a:rPr>
              <a:t>SMBHs</a:t>
            </a:r>
            <a:r>
              <a:rPr lang="en-GB" sz="2400" dirty="0" smtClean="0">
                <a:latin typeface="Garamond"/>
                <a:cs typeface="Garamond"/>
              </a:rPr>
              <a:t> have a </a:t>
            </a:r>
            <a:r>
              <a:rPr lang="en-GB" sz="2400" dirty="0" smtClean="0">
                <a:solidFill>
                  <a:srgbClr val="FF0000"/>
                </a:solidFill>
                <a:latin typeface="Garamond"/>
                <a:cs typeface="Garamond"/>
              </a:rPr>
              <a:t>bimodal distribution </a:t>
            </a:r>
            <a:r>
              <a:rPr lang="en-GB" sz="2400" dirty="0" smtClean="0">
                <a:latin typeface="Garamond"/>
                <a:cs typeface="Garamond"/>
              </a:rPr>
              <a:t>of spins.</a:t>
            </a:r>
          </a:p>
          <a:p>
            <a:r>
              <a:rPr lang="en-GB" sz="2400" dirty="0" smtClean="0">
                <a:latin typeface="Garamond"/>
                <a:cs typeface="Garamond"/>
              </a:rPr>
              <a:t>Giant ellipticals are found to host </a:t>
            </a:r>
            <a:r>
              <a:rPr lang="en-GB" sz="2400" dirty="0" smtClean="0">
                <a:solidFill>
                  <a:srgbClr val="FF0000"/>
                </a:solidFill>
                <a:latin typeface="Garamond"/>
                <a:cs typeface="Garamond"/>
              </a:rPr>
              <a:t>massive </a:t>
            </a:r>
            <a:r>
              <a:rPr lang="en-GB" sz="2400" dirty="0" err="1" smtClean="0">
                <a:latin typeface="Garamond"/>
                <a:cs typeface="Garamond"/>
              </a:rPr>
              <a:t>SMBHs</a:t>
            </a:r>
            <a:r>
              <a:rPr lang="en-GB" sz="2400" dirty="0" smtClean="0">
                <a:latin typeface="Garamond"/>
                <a:cs typeface="Garamond"/>
              </a:rPr>
              <a:t> (M</a:t>
            </a:r>
            <a:r>
              <a:rPr lang="en-GB" sz="2400" baseline="-25000" dirty="0" smtClean="0">
                <a:latin typeface="Garamond"/>
                <a:cs typeface="Garamond"/>
              </a:rPr>
              <a:t>BH</a:t>
            </a:r>
            <a:r>
              <a:rPr lang="en-GB" sz="2400" dirty="0" smtClean="0">
                <a:latin typeface="Garamond"/>
                <a:cs typeface="Garamond"/>
              </a:rPr>
              <a:t>&gt;10</a:t>
            </a:r>
            <a:r>
              <a:rPr lang="en-GB" sz="2400" baseline="30000" dirty="0" smtClean="0">
                <a:latin typeface="Garamond"/>
                <a:cs typeface="Garamond"/>
              </a:rPr>
              <a:t>8</a:t>
            </a:r>
            <a:r>
              <a:rPr lang="en-GB" sz="2400" dirty="0" smtClean="0">
                <a:latin typeface="Garamond"/>
                <a:cs typeface="Garamond"/>
              </a:rPr>
              <a:t>M</a:t>
            </a:r>
            <a:r>
              <a:rPr lang="en-GB" sz="2400" baseline="-25000" dirty="0" smtClean="0">
                <a:latin typeface="Garamond"/>
                <a:cs typeface="Garamond"/>
              </a:rPr>
              <a:t>sun</a:t>
            </a:r>
            <a:r>
              <a:rPr lang="en-GB" sz="2400" dirty="0" smtClean="0">
                <a:latin typeface="Garamond"/>
                <a:cs typeface="Garamond"/>
              </a:rPr>
              <a:t>) that </a:t>
            </a:r>
            <a:r>
              <a:rPr lang="en-GB" sz="2400" dirty="0" smtClean="0">
                <a:solidFill>
                  <a:srgbClr val="FF0000"/>
                </a:solidFill>
                <a:latin typeface="Garamond"/>
                <a:cs typeface="Garamond"/>
              </a:rPr>
              <a:t>rotate rapidly</a:t>
            </a:r>
            <a:r>
              <a:rPr lang="en-GB" sz="2400" dirty="0" smtClean="0">
                <a:latin typeface="Garamond"/>
                <a:cs typeface="Garamond"/>
              </a:rPr>
              <a:t>, which confirms the spin paradigm. </a:t>
            </a:r>
          </a:p>
          <a:p>
            <a:r>
              <a:rPr lang="en-GB" sz="2400" dirty="0" smtClean="0">
                <a:latin typeface="Garamond"/>
                <a:cs typeface="Garamond"/>
              </a:rPr>
              <a:t>In our model the radio properties of an AGN seem to be determined by the </a:t>
            </a:r>
            <a:r>
              <a:rPr lang="en-GB" sz="2400" dirty="0" smtClean="0">
                <a:solidFill>
                  <a:srgbClr val="FF0000"/>
                </a:solidFill>
                <a:latin typeface="Garamond"/>
                <a:cs typeface="Garamond"/>
              </a:rPr>
              <a:t>spin </a:t>
            </a:r>
            <a:r>
              <a:rPr lang="en-GB" sz="2400" dirty="0" smtClean="0">
                <a:latin typeface="Garamond"/>
                <a:cs typeface="Garamond"/>
              </a:rPr>
              <a:t>and </a:t>
            </a:r>
            <a:r>
              <a:rPr lang="en-GB" sz="2400" dirty="0" smtClean="0">
                <a:solidFill>
                  <a:srgbClr val="FF0000"/>
                </a:solidFill>
                <a:latin typeface="Garamond"/>
                <a:cs typeface="Garamond"/>
              </a:rPr>
              <a:t>accretion rate </a:t>
            </a:r>
            <a:r>
              <a:rPr lang="en-GB" sz="2400" dirty="0" smtClean="0">
                <a:latin typeface="Garamond"/>
                <a:cs typeface="Garamond"/>
              </a:rPr>
              <a:t>characterising the central SMBH.</a:t>
            </a:r>
          </a:p>
        </p:txBody>
      </p:sp>
      <p:pic>
        <p:nvPicPr>
          <p:cNvPr id="5" name="Picture 4" descr="bz_cha_pp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6200" y="1417638"/>
            <a:ext cx="5129985" cy="5129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pic>
        <p:nvPicPr>
          <p:cNvPr id="4" name="Content Placeholder 3" descr="mdo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114800" y="1639637"/>
            <a:ext cx="5065963" cy="5065963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932237" cy="114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600" dirty="0" smtClean="0">
                <a:latin typeface="Garamond"/>
                <a:cs typeface="Garamond"/>
              </a:rPr>
              <a:t>III. Accretion rates</a:t>
            </a:r>
            <a:endParaRPr lang="en-GB" sz="3600" dirty="0">
              <a:latin typeface="Garamond"/>
              <a:cs typeface="Garamon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Garamond"/>
                <a:cs typeface="Garamond"/>
              </a:rPr>
              <a:t>Essential ingredients </a:t>
            </a:r>
            <a:endParaRPr lang="en-GB" sz="3600" dirty="0">
              <a:latin typeface="Garamond"/>
              <a:cs typeface="Garamond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58763" y="2286000"/>
            <a:ext cx="3772037" cy="3962400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400" dirty="0" smtClean="0">
              <a:latin typeface="Garamond"/>
              <a:cs typeface="Garamond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8763" y="2286000"/>
            <a:ext cx="3627437" cy="3962400"/>
          </a:xfrm>
          <a:prstGeom prst="rect">
            <a:avLst/>
          </a:prstGeom>
        </p:spPr>
        <p:txBody>
          <a:bodyPr vert="horz" lIns="91395" tIns="45696" rIns="91395" bIns="45696" rtlCol="0">
            <a:normAutofit fontScale="85000" lnSpcReduction="20000"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1081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3200" dirty="0" err="1" smtClean="0">
                <a:latin typeface="Garamond"/>
                <a:cs typeface="Garamond"/>
              </a:rPr>
              <a:t>BHs</a:t>
            </a:r>
            <a:r>
              <a:rPr lang="en-GB" sz="3200" dirty="0" smtClean="0">
                <a:latin typeface="Garamond"/>
                <a:cs typeface="Garamond"/>
              </a:rPr>
              <a:t> accrete more </a:t>
            </a:r>
            <a:r>
              <a:rPr lang="en-GB" sz="3200" dirty="0" smtClean="0">
                <a:solidFill>
                  <a:srgbClr val="3926A3"/>
                </a:solidFill>
                <a:latin typeface="Garamond"/>
                <a:cs typeface="Garamond"/>
              </a:rPr>
              <a:t>efficiently </a:t>
            </a:r>
            <a:r>
              <a:rPr lang="en-GB" sz="3200" dirty="0" smtClean="0">
                <a:latin typeface="Garamond"/>
                <a:cs typeface="Garamond"/>
              </a:rPr>
              <a:t>at high </a:t>
            </a:r>
            <a:r>
              <a:rPr lang="en-GB" sz="3200" dirty="0" err="1" smtClean="0">
                <a:latin typeface="Garamond"/>
                <a:cs typeface="Garamond"/>
              </a:rPr>
              <a:t>redshifts</a:t>
            </a:r>
            <a:r>
              <a:rPr lang="en-GB" sz="3200" dirty="0" smtClean="0">
                <a:latin typeface="Garamond"/>
                <a:cs typeface="Garamond"/>
              </a:rPr>
              <a:t>.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3200" dirty="0" err="1" smtClean="0">
                <a:latin typeface="Garamond"/>
                <a:cs typeface="Garamond"/>
              </a:rPr>
              <a:t>BHs</a:t>
            </a:r>
            <a:r>
              <a:rPr lang="en-GB" sz="3200" dirty="0" smtClean="0">
                <a:latin typeface="Garamond"/>
                <a:cs typeface="Garamond"/>
              </a:rPr>
              <a:t> in the </a:t>
            </a:r>
            <a:r>
              <a:rPr lang="en-GB" sz="3200" dirty="0" smtClean="0">
                <a:solidFill>
                  <a:srgbClr val="3926A3"/>
                </a:solidFill>
                <a:latin typeface="Garamond"/>
                <a:cs typeface="Garamond"/>
              </a:rPr>
              <a:t>radio mode </a:t>
            </a:r>
            <a:r>
              <a:rPr lang="en-GB" sz="3200" dirty="0" smtClean="0">
                <a:latin typeface="Garamond"/>
                <a:cs typeface="Garamond"/>
              </a:rPr>
              <a:t>accrete at: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4706" dirty="0" smtClean="0">
              <a:latin typeface="Garamond"/>
              <a:cs typeface="Garamond"/>
            </a:endParaRP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3200" dirty="0" smtClean="0">
                <a:latin typeface="Garamond"/>
                <a:cs typeface="Garamond"/>
              </a:rPr>
              <a:t>Accretion rates peak at 0.01 in the </a:t>
            </a:r>
            <a:r>
              <a:rPr lang="en-GB" sz="3200" dirty="0" smtClean="0">
                <a:solidFill>
                  <a:srgbClr val="3926A3"/>
                </a:solidFill>
                <a:latin typeface="Garamond"/>
                <a:cs typeface="Garamond"/>
              </a:rPr>
              <a:t>quasar mode </a:t>
            </a:r>
            <a:r>
              <a:rPr lang="en-GB" sz="3200" dirty="0" smtClean="0">
                <a:latin typeface="Garamond"/>
                <a:cs typeface="Garamond"/>
              </a:rPr>
              <a:t>at </a:t>
            </a:r>
            <a:r>
              <a:rPr lang="en-GB" sz="3200" dirty="0" err="1" smtClean="0">
                <a:latin typeface="Garamond"/>
                <a:cs typeface="Garamond"/>
              </a:rPr>
              <a:t>z</a:t>
            </a:r>
            <a:r>
              <a:rPr lang="en-GB" sz="2353" dirty="0" smtClean="0">
                <a:latin typeface="Garamond"/>
                <a:cs typeface="Garamond"/>
              </a:rPr>
              <a:t>=</a:t>
            </a:r>
            <a:r>
              <a:rPr lang="en-GB" sz="3200" dirty="0" smtClean="0">
                <a:latin typeface="Garamond"/>
                <a:cs typeface="Garamond"/>
              </a:rPr>
              <a:t>0.  </a:t>
            </a:r>
            <a:endParaRPr lang="en-GB" sz="2800" dirty="0" smtClean="0">
              <a:latin typeface="Garamond"/>
              <a:cs typeface="Garamond"/>
            </a:endParaRP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685800" y="4398993"/>
          <a:ext cx="2427391" cy="401607"/>
        </p:xfrm>
        <a:graphic>
          <a:graphicData uri="http://schemas.openxmlformats.org/presentationml/2006/ole">
            <p:oleObj spid="_x0000_s161794" name="Equation" r:id="rId5" imgW="12319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0" y="228600"/>
            <a:ext cx="8229600" cy="1143000"/>
          </a:xfrm>
          <a:prstGeom prst="rect">
            <a:avLst/>
          </a:prstGeom>
        </p:spPr>
        <p:txBody>
          <a:bodyPr vert="horz" lIns="91395" tIns="45696" rIns="91395" bIns="45696" rtlCol="0" anchor="ctr">
            <a:normAutofit/>
          </a:bodyPr>
          <a:lstStyle/>
          <a:p>
            <a:pPr marL="0" marR="0" lvl="0" indent="0" algn="ctr" defTabSz="45696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j-ea"/>
                <a:cs typeface="Garamond"/>
              </a:rPr>
              <a:t>The optical-radio</a:t>
            </a:r>
            <a:r>
              <a:rPr kumimoji="0" lang="en-GB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/>
                <a:ea typeface="+mj-ea"/>
                <a:cs typeface="Garamond"/>
              </a:rPr>
              <a:t> plane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/>
              <a:ea typeface="+mj-ea"/>
              <a:cs typeface="Garamond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81000" y="1981199"/>
            <a:ext cx="3779837" cy="3733801"/>
          </a:xfrm>
          <a:prstGeom prst="rect">
            <a:avLst/>
          </a:prstGeom>
        </p:spPr>
        <p:txBody>
          <a:bodyPr vert="horz" lIns="91395" tIns="45696" rIns="91395" bIns="45696" rtlCol="0">
            <a:normAutofit/>
          </a:bodyPr>
          <a:lstStyle/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The position of the objects on the </a:t>
            </a: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optical-radio </a:t>
            </a:r>
            <a:r>
              <a:rPr lang="en-GB" sz="2400" dirty="0" smtClean="0">
                <a:solidFill>
                  <a:srgbClr val="000000"/>
                </a:solidFill>
                <a:latin typeface="Garamond"/>
                <a:cs typeface="Garamond"/>
              </a:rPr>
              <a:t>plane </a:t>
            </a:r>
            <a:r>
              <a:rPr lang="en-GB" sz="2400" dirty="0" smtClean="0">
                <a:latin typeface="Garamond"/>
                <a:cs typeface="Garamond"/>
              </a:rPr>
              <a:t>depends on:</a:t>
            </a:r>
            <a:endParaRPr lang="en-GB" sz="2400" dirty="0" smtClean="0">
              <a:solidFill>
                <a:srgbClr val="3926A3"/>
              </a:solidFill>
              <a:latin typeface="Garamond"/>
              <a:cs typeface="Garamond"/>
            </a:endParaRP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the accretion rate</a:t>
            </a: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the BH spin</a:t>
            </a:r>
          </a:p>
          <a:p>
            <a:pPr marL="799696" lvl="1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the BH mass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r>
              <a:rPr lang="en-GB" sz="2400" dirty="0" smtClean="0">
                <a:latin typeface="Garamond"/>
                <a:cs typeface="Garamond"/>
              </a:rPr>
              <a:t>The </a:t>
            </a: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jet strength </a:t>
            </a:r>
            <a:r>
              <a:rPr lang="en-GB" sz="2400" dirty="0" smtClean="0">
                <a:latin typeface="Garamond"/>
                <a:cs typeface="Garamond"/>
              </a:rPr>
              <a:t>is strongly affected by the </a:t>
            </a:r>
            <a:r>
              <a:rPr lang="en-GB" sz="2400" dirty="0" smtClean="0">
                <a:solidFill>
                  <a:srgbClr val="3926A3"/>
                </a:solidFill>
                <a:latin typeface="Garamond"/>
                <a:cs typeface="Garamond"/>
              </a:rPr>
              <a:t>accretion regime </a:t>
            </a:r>
            <a:r>
              <a:rPr lang="en-GB" sz="2400" dirty="0" smtClean="0">
                <a:latin typeface="Garamond"/>
                <a:cs typeface="Garamond"/>
              </a:rPr>
              <a:t>(ADAF/thin-disk)</a:t>
            </a:r>
          </a:p>
          <a:p>
            <a:pPr marL="342727" indent="-342727">
              <a:spcBef>
                <a:spcPct val="20000"/>
              </a:spcBef>
              <a:buFont typeface="Arial"/>
              <a:buChar char="•"/>
              <a:defRPr/>
            </a:pPr>
            <a:endParaRPr lang="en-GB" sz="2400" dirty="0" smtClean="0">
              <a:latin typeface="Garamond"/>
              <a:cs typeface="Garamond"/>
            </a:endParaRPr>
          </a:p>
        </p:txBody>
      </p:sp>
      <p:pic>
        <p:nvPicPr>
          <p:cNvPr id="6" name="Picture 5" descr="jet_model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rcRect l="1339" t="10671" r="7190" b="17107"/>
              <a:stretch>
                <a:fillRect/>
              </a:stretch>
            </p:blipFill>
          </mc:Choice>
          <mc:Fallback>
            <p:blipFill>
              <a:blip r:embed="rId3"/>
              <a:srcRect l="1339" t="10671" r="7190" b="17107"/>
              <a:stretch>
                <a:fillRect/>
              </a:stretch>
            </p:blipFill>
          </mc:Fallback>
        </mc:AlternateContent>
        <p:spPr>
          <a:xfrm>
            <a:off x="4296599" y="1767602"/>
            <a:ext cx="4459847" cy="4556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378526" y="411162"/>
            <a:ext cx="8384474" cy="96043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099" tIns="38049" rIns="76099" bIns="38049" rtlCol="0" anchor="t"/>
          <a:lstStyle/>
          <a:p>
            <a:pPr algn="ctr"/>
            <a:endParaRPr lang="en-GB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Garamond"/>
                <a:cs typeface="Garamond"/>
              </a:rPr>
              <a:t>Hierarchical evolution of galaxies</a:t>
            </a:r>
            <a:endParaRPr lang="en-GB" dirty="0">
              <a:latin typeface="Garamond"/>
              <a:cs typeface="Garamond"/>
            </a:endParaRPr>
          </a:p>
        </p:txBody>
      </p:sp>
      <p:pic>
        <p:nvPicPr>
          <p:cNvPr id="5" name="Picture 4" descr="galaxymer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1904625" cy="1889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574px-M87_jet.jpg"/>
          <p:cNvPicPr>
            <a:picLocks noChangeAspect="1"/>
          </p:cNvPicPr>
          <p:nvPr/>
        </p:nvPicPr>
        <p:blipFill>
          <a:blip r:embed="rId3"/>
          <a:srcRect b="3568"/>
          <a:stretch>
            <a:fillRect/>
          </a:stretch>
        </p:blipFill>
        <p:spPr>
          <a:xfrm>
            <a:off x="7037302" y="4768380"/>
            <a:ext cx="1878098" cy="1889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heic0804a.jpg"/>
          <p:cNvPicPr>
            <a:picLocks noChangeAspect="1"/>
          </p:cNvPicPr>
          <p:nvPr/>
        </p:nvPicPr>
        <p:blipFill>
          <a:blip r:embed="rId4"/>
          <a:srcRect b="6818"/>
          <a:stretch>
            <a:fillRect/>
          </a:stretch>
        </p:blipFill>
        <p:spPr>
          <a:xfrm>
            <a:off x="7043729" y="1600200"/>
            <a:ext cx="1871671" cy="1895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ragtag2-785369.jpg"/>
          <p:cNvPicPr>
            <a:picLocks noChangeAspect="1"/>
          </p:cNvPicPr>
          <p:nvPr/>
        </p:nvPicPr>
        <p:blipFill>
          <a:blip r:embed="rId5"/>
          <a:srcRect r="9646"/>
          <a:stretch>
            <a:fillRect/>
          </a:stretch>
        </p:blipFill>
        <p:spPr>
          <a:xfrm>
            <a:off x="228600" y="4763053"/>
            <a:ext cx="1904625" cy="1895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2243259" y="2286000"/>
            <a:ext cx="4843341" cy="3188780"/>
          </a:xfrm>
          <a:prstGeom prst="rect">
            <a:avLst/>
          </a:prstGeom>
        </p:spPr>
      </p:pic>
      <p:pic>
        <p:nvPicPr>
          <p:cNvPr id="13" name="Picture 12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rcRect l="62241" t="66910" r="9440" b="13973"/>
              <a:stretch>
                <a:fillRect/>
              </a:stretch>
            </p:blipFill>
          </mc:Choice>
          <mc:Fallback>
            <p:blipFill>
              <a:blip r:embed="rId7"/>
              <a:srcRect l="62241" t="66910" r="9440" b="13973"/>
              <a:stretch>
                <a:fillRect/>
              </a:stretch>
            </p:blipFill>
          </mc:Fallback>
        </mc:AlternateContent>
        <p:spPr>
          <a:xfrm>
            <a:off x="5257800" y="4419600"/>
            <a:ext cx="1371600" cy="609600"/>
          </a:xfrm>
          <a:prstGeom prst="rect">
            <a:avLst/>
          </a:prstGeom>
        </p:spPr>
      </p:pic>
      <p:sp>
        <p:nvSpPr>
          <p:cNvPr id="14" name="Bent Arrow 13"/>
          <p:cNvSpPr/>
          <p:nvPr/>
        </p:nvSpPr>
        <p:spPr>
          <a:xfrm>
            <a:off x="5867400" y="2286000"/>
            <a:ext cx="762000" cy="228600"/>
          </a:xfrm>
          <a:prstGeom prst="ben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Bent Arrow 14"/>
          <p:cNvSpPr/>
          <p:nvPr/>
        </p:nvSpPr>
        <p:spPr>
          <a:xfrm rot="10800000" flipH="1">
            <a:off x="5867400" y="5029198"/>
            <a:ext cx="762000" cy="228599"/>
          </a:xfrm>
          <a:prstGeom prst="ben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Bent Arrow 15"/>
          <p:cNvSpPr/>
          <p:nvPr/>
        </p:nvSpPr>
        <p:spPr>
          <a:xfrm flipH="1">
            <a:off x="2362200" y="2286000"/>
            <a:ext cx="762000" cy="228599"/>
          </a:xfrm>
          <a:prstGeom prst="ben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Bent Arrow 16"/>
          <p:cNvSpPr/>
          <p:nvPr/>
        </p:nvSpPr>
        <p:spPr>
          <a:xfrm rot="10800000">
            <a:off x="2362200" y="5029199"/>
            <a:ext cx="762000" cy="228600"/>
          </a:xfrm>
          <a:prstGeom prst="ben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6951" y="5437257"/>
            <a:ext cx="1614365" cy="253883"/>
          </a:xfrm>
          <a:prstGeom prst="rect">
            <a:avLst/>
          </a:prstGeom>
          <a:noFill/>
        </p:spPr>
        <p:txBody>
          <a:bodyPr wrap="none" lIns="91410" tIns="45704" rIns="91410" bIns="45704" rtlCol="0">
            <a:spAutoFit/>
          </a:bodyPr>
          <a:lstStyle/>
          <a:p>
            <a:r>
              <a:rPr lang="en-GB" sz="1050" dirty="0" smtClean="0">
                <a:latin typeface="Garamond"/>
                <a:cs typeface="Garamond"/>
              </a:rPr>
              <a:t>Image source: Hopkins+06</a:t>
            </a:r>
            <a:endParaRPr lang="en-GB" sz="1050" dirty="0"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38787</TotalTime>
  <Words>752</Words>
  <Application>Microsoft Macintosh PowerPoint</Application>
  <PresentationFormat>On-screen Show (4:3)</PresentationFormat>
  <Paragraphs>130</Paragraphs>
  <Slides>17</Slides>
  <Notes>9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Equation</vt:lpstr>
      <vt:lpstr>Slide 1</vt:lpstr>
      <vt:lpstr>Outline</vt:lpstr>
      <vt:lpstr>The idea of hierarchical galaxy formation</vt:lpstr>
      <vt:lpstr>AGN on the optical-radio plane</vt:lpstr>
      <vt:lpstr>Essential ingredients </vt:lpstr>
      <vt:lpstr>Essential ingredients </vt:lpstr>
      <vt:lpstr>Essential ingredients </vt:lpstr>
      <vt:lpstr>Modelling AGN: Radio jets</vt:lpstr>
      <vt:lpstr>Modelling AGN: Accretion disks</vt:lpstr>
      <vt:lpstr>Results I: luminosity functions</vt:lpstr>
      <vt:lpstr>Slide 11</vt:lpstr>
      <vt:lpstr>Slide 12</vt:lpstr>
      <vt:lpstr>Slide 13</vt:lpstr>
      <vt:lpstr>Conclusions</vt:lpstr>
      <vt:lpstr>Essential ingredients </vt:lpstr>
      <vt:lpstr>Slide 16</vt:lpstr>
      <vt:lpstr>Hierarchical evolution of galaxies</vt:lpstr>
    </vt:vector>
  </TitlesOfParts>
  <Company>Durham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Nikos  Fanidakis</dc:creator>
  <cp:lastModifiedBy>Nikos  Fanidakis</cp:lastModifiedBy>
  <cp:revision>1103</cp:revision>
  <cp:lastPrinted>2009-03-05T20:13:45Z</cp:lastPrinted>
  <dcterms:created xsi:type="dcterms:W3CDTF">2009-09-21T08:18:40Z</dcterms:created>
  <dcterms:modified xsi:type="dcterms:W3CDTF">2009-09-21T08:19:22Z</dcterms:modified>
</cp:coreProperties>
</file>