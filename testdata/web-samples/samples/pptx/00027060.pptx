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Default Extension="xlsx" ContentType="application/vnd.openxmlformats-officedocument.spreadsheetml.sheet"/>
  <Override PartName="/ppt/charts/chart3.xml" ContentType="application/vnd.openxmlformats-officedocument.drawingml.chart+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87" r:id="rId3"/>
    <p:sldId id="270" r:id="rId4"/>
    <p:sldId id="259" r:id="rId5"/>
    <p:sldId id="269" r:id="rId6"/>
    <p:sldId id="261" r:id="rId7"/>
    <p:sldId id="271" r:id="rId8"/>
    <p:sldId id="276" r:id="rId9"/>
    <p:sldId id="265" r:id="rId10"/>
    <p:sldId id="282" r:id="rId11"/>
    <p:sldId id="274" r:id="rId12"/>
    <p:sldId id="279" r:id="rId13"/>
    <p:sldId id="280" r:id="rId14"/>
    <p:sldId id="278" r:id="rId15"/>
    <p:sldId id="281" r:id="rId16"/>
    <p:sldId id="267" r:id="rId17"/>
    <p:sldId id="284" r:id="rId18"/>
    <p:sldId id="285" r:id="rId19"/>
    <p:sldId id="263" r:id="rId20"/>
    <p:sldId id="286" r:id="rId21"/>
    <p:sldId id="260" r:id="rId2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109"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9"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9"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9"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9" charset="-128"/>
        <a:cs typeface="+mn-cs"/>
      </a:defRPr>
    </a:lvl5pPr>
    <a:lvl6pPr marL="2286000" algn="l" defTabSz="914400" rtl="0" eaLnBrk="1" latinLnBrk="0" hangingPunct="1">
      <a:defRPr kern="1200">
        <a:solidFill>
          <a:schemeClr val="tx1"/>
        </a:solidFill>
        <a:latin typeface="Arial" charset="0"/>
        <a:ea typeface="ＭＳ Ｐゴシック" pitchFamily="-109" charset="-128"/>
        <a:cs typeface="+mn-cs"/>
      </a:defRPr>
    </a:lvl6pPr>
    <a:lvl7pPr marL="2743200" algn="l" defTabSz="914400" rtl="0" eaLnBrk="1" latinLnBrk="0" hangingPunct="1">
      <a:defRPr kern="1200">
        <a:solidFill>
          <a:schemeClr val="tx1"/>
        </a:solidFill>
        <a:latin typeface="Arial" charset="0"/>
        <a:ea typeface="ＭＳ Ｐゴシック" pitchFamily="-109" charset="-128"/>
        <a:cs typeface="+mn-cs"/>
      </a:defRPr>
    </a:lvl7pPr>
    <a:lvl8pPr marL="3200400" algn="l" defTabSz="914400" rtl="0" eaLnBrk="1" latinLnBrk="0" hangingPunct="1">
      <a:defRPr kern="1200">
        <a:solidFill>
          <a:schemeClr val="tx1"/>
        </a:solidFill>
        <a:latin typeface="Arial" charset="0"/>
        <a:ea typeface="ＭＳ Ｐゴシック" pitchFamily="-109" charset="-128"/>
        <a:cs typeface="+mn-cs"/>
      </a:defRPr>
    </a:lvl8pPr>
    <a:lvl9pPr marL="3657600" algn="l" defTabSz="914400" rtl="0" eaLnBrk="1" latinLnBrk="0" hangingPunct="1">
      <a:defRPr kern="1200">
        <a:solidFill>
          <a:schemeClr val="tx1"/>
        </a:solidFill>
        <a:latin typeface="Arial" charset="0"/>
        <a:ea typeface="ＭＳ Ｐゴシック" pitchFamily="-109"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87"/>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63" autoAdjust="0"/>
  </p:normalViewPr>
  <p:slideViewPr>
    <p:cSldViewPr snapToObjects="1">
      <p:cViewPr>
        <p:scale>
          <a:sx n="70" d="100"/>
          <a:sy n="70" d="100"/>
        </p:scale>
        <p:origin x="-606" y="-1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wesome\Desktop\graphs.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27"/>
  <c:chart>
    <c:autoTitleDeleted val="1"/>
    <c:plotArea>
      <c:layout>
        <c:manualLayout>
          <c:layoutTarget val="inner"/>
          <c:xMode val="edge"/>
          <c:yMode val="edge"/>
          <c:x val="0.11709025955088949"/>
          <c:y val="0.10232651040231658"/>
          <c:w val="0.85976159230096261"/>
          <c:h val="0.76581765820939218"/>
        </c:manualLayout>
      </c:layout>
      <c:barChart>
        <c:barDir val="col"/>
        <c:grouping val="clustered"/>
        <c:ser>
          <c:idx val="0"/>
          <c:order val="0"/>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w="9525" cap="flat" cmpd="sng" algn="ctr">
              <a:solidFill>
                <a:schemeClr val="accent2">
                  <a:shade val="95000"/>
                  <a:satMod val="105000"/>
                </a:schemeClr>
              </a:solidFill>
              <a:prstDash val="solid"/>
            </a:ln>
            <a:effectLst>
              <a:outerShdw blurRad="40000" dist="23000" dir="5400000" rotWithShape="0">
                <a:srgbClr val="000000">
                  <a:alpha val="35000"/>
                </a:srgbClr>
              </a:outerShdw>
            </a:effectLst>
          </c:spPr>
          <c:cat>
            <c:strRef>
              <c:f>Sheet1!$B$48:$B$49</c:f>
              <c:strCache>
                <c:ptCount val="2"/>
                <c:pt idx="0">
                  <c:v>No</c:v>
                </c:pt>
                <c:pt idx="1">
                  <c:v>Yes</c:v>
                </c:pt>
              </c:strCache>
            </c:strRef>
          </c:cat>
          <c:val>
            <c:numRef>
              <c:f>Sheet1!$C$48:$C$49</c:f>
              <c:numCache>
                <c:formatCode>###0</c:formatCode>
                <c:ptCount val="2"/>
                <c:pt idx="0">
                  <c:v>40</c:v>
                </c:pt>
                <c:pt idx="1">
                  <c:v>161</c:v>
                </c:pt>
              </c:numCache>
            </c:numRef>
          </c:val>
        </c:ser>
        <c:axId val="72282112"/>
        <c:axId val="72283648"/>
      </c:barChart>
      <c:catAx>
        <c:axId val="72282112"/>
        <c:scaling>
          <c:orientation val="minMax"/>
        </c:scaling>
        <c:axPos val="b"/>
        <c:tickLblPos val="nextTo"/>
        <c:crossAx val="72283648"/>
        <c:crosses val="autoZero"/>
        <c:auto val="1"/>
        <c:lblAlgn val="ctr"/>
        <c:lblOffset val="100"/>
      </c:catAx>
      <c:valAx>
        <c:axId val="72283648"/>
        <c:scaling>
          <c:orientation val="minMax"/>
        </c:scaling>
        <c:axPos val="l"/>
        <c:numFmt formatCode="###0" sourceLinked="1"/>
        <c:tickLblPos val="nextTo"/>
        <c:crossAx val="72282112"/>
        <c:crosses val="autoZero"/>
        <c:crossBetween val="between"/>
      </c:valAx>
    </c:plotArea>
    <c:plotVisOnly val="1"/>
  </c:chart>
  <c:txPr>
    <a:bodyPr/>
    <a:lstStyle/>
    <a:p>
      <a:pPr>
        <a:defRPr sz="1800">
          <a:solidFill>
            <a:schemeClr val="tx2"/>
          </a:solidFill>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style val="26"/>
  <c:chart>
    <c:plotArea>
      <c:layout>
        <c:manualLayout>
          <c:layoutTarget val="inner"/>
          <c:xMode val="edge"/>
          <c:yMode val="edge"/>
          <c:x val="0.13165390784485267"/>
          <c:y val="4.5878634005624898E-2"/>
          <c:w val="0.72158051424127545"/>
          <c:h val="0.76052831187528491"/>
        </c:manualLayout>
      </c:layout>
      <c:barChart>
        <c:barDir val="col"/>
        <c:grouping val="clustered"/>
        <c:ser>
          <c:idx val="0"/>
          <c:order val="0"/>
          <c:tx>
            <c:strRef>
              <c:f>Sheet1!$B$1</c:f>
              <c:strCache>
                <c:ptCount val="1"/>
                <c:pt idx="0">
                  <c:v>Risky</c:v>
                </c:pt>
              </c:strCache>
            </c:strRef>
          </c:tx>
          <c:cat>
            <c:strRef>
              <c:f>Sheet1!$A$2:$A$3</c:f>
              <c:strCache>
                <c:ptCount val="2"/>
                <c:pt idx="0">
                  <c:v>No</c:v>
                </c:pt>
                <c:pt idx="1">
                  <c:v>Yes</c:v>
                </c:pt>
              </c:strCache>
            </c:strRef>
          </c:cat>
          <c:val>
            <c:numRef>
              <c:f>Sheet1!$B$2:$B$3</c:f>
              <c:numCache>
                <c:formatCode>General</c:formatCode>
                <c:ptCount val="2"/>
                <c:pt idx="0">
                  <c:v>55</c:v>
                </c:pt>
                <c:pt idx="1">
                  <c:v>85.7</c:v>
                </c:pt>
              </c:numCache>
            </c:numRef>
          </c:val>
        </c:ser>
        <c:ser>
          <c:idx val="1"/>
          <c:order val="1"/>
          <c:tx>
            <c:strRef>
              <c:f>Sheet1!$C$1</c:f>
              <c:strCache>
                <c:ptCount val="1"/>
                <c:pt idx="0">
                  <c:v>Not risky</c:v>
                </c:pt>
              </c:strCache>
            </c:strRef>
          </c:tx>
          <c:cat>
            <c:strRef>
              <c:f>Sheet1!$A$2:$A$3</c:f>
              <c:strCache>
                <c:ptCount val="2"/>
                <c:pt idx="0">
                  <c:v>No</c:v>
                </c:pt>
                <c:pt idx="1">
                  <c:v>Yes</c:v>
                </c:pt>
              </c:strCache>
            </c:strRef>
          </c:cat>
          <c:val>
            <c:numRef>
              <c:f>Sheet1!$C$2:$C$3</c:f>
              <c:numCache>
                <c:formatCode>General</c:formatCode>
                <c:ptCount val="2"/>
                <c:pt idx="0">
                  <c:v>45</c:v>
                </c:pt>
                <c:pt idx="1">
                  <c:v>14.3</c:v>
                </c:pt>
              </c:numCache>
            </c:numRef>
          </c:val>
        </c:ser>
        <c:axId val="76421376"/>
        <c:axId val="76431744"/>
      </c:barChart>
      <c:catAx>
        <c:axId val="76421376"/>
        <c:scaling>
          <c:orientation val="minMax"/>
        </c:scaling>
        <c:axPos val="b"/>
        <c:title>
          <c:tx>
            <c:rich>
              <a:bodyPr/>
              <a:lstStyle/>
              <a:p>
                <a:pPr>
                  <a:defRPr/>
                </a:pPr>
                <a:r>
                  <a:rPr lang="en-AU" sz="1200" dirty="0" smtClean="0"/>
                  <a:t>Self reported drink driving (6</a:t>
                </a:r>
                <a:r>
                  <a:rPr lang="en-AU" sz="1200" baseline="0" dirty="0" smtClean="0"/>
                  <a:t> months)</a:t>
                </a:r>
                <a:endParaRPr lang="en-AU" sz="1200" dirty="0"/>
              </a:p>
            </c:rich>
          </c:tx>
          <c:layout/>
        </c:title>
        <c:tickLblPos val="nextTo"/>
        <c:crossAx val="76431744"/>
        <c:crosses val="autoZero"/>
        <c:auto val="1"/>
        <c:lblAlgn val="ctr"/>
        <c:lblOffset val="100"/>
      </c:catAx>
      <c:valAx>
        <c:axId val="76431744"/>
        <c:scaling>
          <c:orientation val="minMax"/>
        </c:scaling>
        <c:axPos val="l"/>
        <c:title>
          <c:tx>
            <c:rich>
              <a:bodyPr rot="0" vert="horz"/>
              <a:lstStyle/>
              <a:p>
                <a:pPr>
                  <a:defRPr/>
                </a:pPr>
                <a:r>
                  <a:rPr lang="en-AU" sz="1200" b="0" dirty="0" smtClean="0"/>
                  <a:t>%</a:t>
                </a:r>
                <a:endParaRPr lang="en-AU" sz="1200" b="0" dirty="0"/>
              </a:p>
            </c:rich>
          </c:tx>
          <c:layout>
            <c:manualLayout>
              <c:xMode val="edge"/>
              <c:yMode val="edge"/>
              <c:x val="4.4753086419753098E-2"/>
              <c:y val="2.586189944548819E-3"/>
            </c:manualLayout>
          </c:layout>
        </c:title>
        <c:numFmt formatCode="General" sourceLinked="1"/>
        <c:tickLblPos val="nextTo"/>
        <c:crossAx val="76421376"/>
        <c:crosses val="autoZero"/>
        <c:crossBetween val="between"/>
      </c:valAx>
    </c:plotArea>
    <c:legend>
      <c:legendPos val="r"/>
      <c:layout/>
    </c:legend>
    <c:plotVisOnly val="1"/>
  </c:chart>
  <c:txPr>
    <a:bodyPr/>
    <a:lstStyle/>
    <a:p>
      <a:pPr>
        <a:defRPr sz="1800">
          <a:solidFill>
            <a:schemeClr val="tx2"/>
          </a:solidFill>
        </a:defRPr>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26"/>
  <c:chart>
    <c:plotArea>
      <c:layout/>
      <c:barChart>
        <c:barDir val="col"/>
        <c:grouping val="clustered"/>
        <c:ser>
          <c:idx val="0"/>
          <c:order val="0"/>
          <c:tx>
            <c:strRef>
              <c:f>Sheet1!$B$1</c:f>
              <c:strCache>
                <c:ptCount val="1"/>
                <c:pt idx="0">
                  <c:v>17-25</c:v>
                </c:pt>
              </c:strCache>
            </c:strRef>
          </c:tx>
          <c:cat>
            <c:strRef>
              <c:f>Sheet1!$A$2:$A$3</c:f>
              <c:strCache>
                <c:ptCount val="2"/>
                <c:pt idx="0">
                  <c:v>No</c:v>
                </c:pt>
                <c:pt idx="1">
                  <c:v>Yes</c:v>
                </c:pt>
              </c:strCache>
            </c:strRef>
          </c:cat>
          <c:val>
            <c:numRef>
              <c:f>Sheet1!$B$2:$B$3</c:f>
              <c:numCache>
                <c:formatCode>General</c:formatCode>
                <c:ptCount val="2"/>
                <c:pt idx="0">
                  <c:v>42.5</c:v>
                </c:pt>
                <c:pt idx="1">
                  <c:v>50.3</c:v>
                </c:pt>
              </c:numCache>
            </c:numRef>
          </c:val>
        </c:ser>
        <c:ser>
          <c:idx val="1"/>
          <c:order val="1"/>
          <c:tx>
            <c:strRef>
              <c:f>Sheet1!$C$1</c:f>
              <c:strCache>
                <c:ptCount val="1"/>
                <c:pt idx="0">
                  <c:v>26-39</c:v>
                </c:pt>
              </c:strCache>
            </c:strRef>
          </c:tx>
          <c:cat>
            <c:strRef>
              <c:f>Sheet1!$A$2:$A$3</c:f>
              <c:strCache>
                <c:ptCount val="2"/>
                <c:pt idx="0">
                  <c:v>No</c:v>
                </c:pt>
                <c:pt idx="1">
                  <c:v>Yes</c:v>
                </c:pt>
              </c:strCache>
            </c:strRef>
          </c:cat>
          <c:val>
            <c:numRef>
              <c:f>Sheet1!$C$2:$C$3</c:f>
              <c:numCache>
                <c:formatCode>General</c:formatCode>
                <c:ptCount val="2"/>
                <c:pt idx="0">
                  <c:v>32.5</c:v>
                </c:pt>
                <c:pt idx="1">
                  <c:v>39.800000000000004</c:v>
                </c:pt>
              </c:numCache>
            </c:numRef>
          </c:val>
        </c:ser>
        <c:ser>
          <c:idx val="2"/>
          <c:order val="2"/>
          <c:tx>
            <c:strRef>
              <c:f>Sheet1!$D$1</c:f>
              <c:strCache>
                <c:ptCount val="1"/>
                <c:pt idx="0">
                  <c:v>40+</c:v>
                </c:pt>
              </c:strCache>
            </c:strRef>
          </c:tx>
          <c:spPr>
            <a:gradFill rotWithShape="1">
              <a:gsLst>
                <a:gs pos="0">
                  <a:schemeClr val="accent4">
                    <a:tint val="100000"/>
                    <a:shade val="100000"/>
                    <a:satMod val="130000"/>
                  </a:schemeClr>
                </a:gs>
                <a:gs pos="100000">
                  <a:schemeClr val="accent4">
                    <a:tint val="50000"/>
                    <a:shade val="100000"/>
                    <a:satMod val="350000"/>
                  </a:schemeClr>
                </a:gs>
              </a:gsLst>
              <a:lin ang="16200000" scaled="0"/>
            </a:gradFill>
            <a:ln w="9525" cap="flat" cmpd="sng" algn="ctr">
              <a:solidFill>
                <a:schemeClr val="accent4">
                  <a:shade val="95000"/>
                  <a:satMod val="105000"/>
                </a:schemeClr>
              </a:solidFill>
              <a:prstDash val="solid"/>
            </a:ln>
            <a:effectLst>
              <a:outerShdw blurRad="40000" dist="23000" dir="5400000" rotWithShape="0">
                <a:srgbClr val="000000">
                  <a:alpha val="35000"/>
                </a:srgbClr>
              </a:outerShdw>
            </a:effectLst>
          </c:spPr>
          <c:cat>
            <c:strRef>
              <c:f>Sheet1!$A$2:$A$3</c:f>
              <c:strCache>
                <c:ptCount val="2"/>
                <c:pt idx="0">
                  <c:v>No</c:v>
                </c:pt>
                <c:pt idx="1">
                  <c:v>Yes</c:v>
                </c:pt>
              </c:strCache>
            </c:strRef>
          </c:cat>
          <c:val>
            <c:numRef>
              <c:f>Sheet1!$D$2:$D$3</c:f>
              <c:numCache>
                <c:formatCode>General</c:formatCode>
                <c:ptCount val="2"/>
                <c:pt idx="0">
                  <c:v>25</c:v>
                </c:pt>
                <c:pt idx="1">
                  <c:v>9.9</c:v>
                </c:pt>
              </c:numCache>
            </c:numRef>
          </c:val>
        </c:ser>
        <c:axId val="93538176"/>
        <c:axId val="93544448"/>
      </c:barChart>
      <c:catAx>
        <c:axId val="93538176"/>
        <c:scaling>
          <c:orientation val="minMax"/>
        </c:scaling>
        <c:axPos val="b"/>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800" b="1" i="0" u="none" strike="noStrike" kern="1200" baseline="0">
                    <a:solidFill>
                      <a:srgbClr val="1F497D"/>
                    </a:solidFill>
                    <a:latin typeface="+mn-lt"/>
                    <a:ea typeface="+mn-ea"/>
                    <a:cs typeface="+mn-cs"/>
                  </a:defRPr>
                </a:pPr>
                <a:r>
                  <a:rPr lang="en-AU" sz="1200" b="1" i="0" baseline="0" dirty="0" smtClean="0"/>
                  <a:t>Self reported drink driving (6 months)</a:t>
                </a:r>
              </a:p>
            </c:rich>
          </c:tx>
          <c:layout/>
        </c:title>
        <c:tickLblPos val="nextTo"/>
        <c:crossAx val="93544448"/>
        <c:crosses val="autoZero"/>
        <c:auto val="1"/>
        <c:lblAlgn val="ctr"/>
        <c:lblOffset val="100"/>
      </c:catAx>
      <c:valAx>
        <c:axId val="93544448"/>
        <c:scaling>
          <c:orientation val="minMax"/>
        </c:scaling>
        <c:axPos val="l"/>
        <c:title>
          <c:tx>
            <c:rich>
              <a:bodyPr rot="0" vert="horz"/>
              <a:lstStyle/>
              <a:p>
                <a:pPr>
                  <a:defRPr/>
                </a:pPr>
                <a:r>
                  <a:rPr lang="en-AU" sz="1200" dirty="0" smtClean="0"/>
                  <a:t>%</a:t>
                </a:r>
                <a:endParaRPr lang="en-AU" sz="1200" dirty="0"/>
              </a:p>
            </c:rich>
          </c:tx>
          <c:layout>
            <c:manualLayout>
              <c:xMode val="edge"/>
              <c:yMode val="edge"/>
              <c:x val="1.8518518518518524E-2"/>
              <c:y val="2.4317476744728406E-3"/>
            </c:manualLayout>
          </c:layout>
        </c:title>
        <c:numFmt formatCode="General" sourceLinked="1"/>
        <c:tickLblPos val="nextTo"/>
        <c:crossAx val="93538176"/>
        <c:crosses val="autoZero"/>
        <c:crossBetween val="between"/>
      </c:valAx>
    </c:plotArea>
    <c:legend>
      <c:legendPos val="r"/>
      <c:layout/>
    </c:legend>
    <c:plotVisOnly val="1"/>
  </c:chart>
  <c:txPr>
    <a:bodyPr/>
    <a:lstStyle/>
    <a:p>
      <a:pPr>
        <a:defRPr sz="1800">
          <a:solidFill>
            <a:schemeClr val="tx2"/>
          </a:solidFill>
        </a:defRPr>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674528-AD9B-4A86-B596-DEF961121418}" type="datetimeFigureOut">
              <a:rPr lang="en-AU" smtClean="0"/>
              <a:pPr/>
              <a:t>25/08/2010</a:t>
            </a:fld>
            <a:endParaRPr lang="en-AU"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4F51EC-33F8-4245-8A36-2C8FD3596042}" type="slidenum">
              <a:rPr lang="en-AU" smtClean="0"/>
              <a:pPr/>
              <a:t>‹#›</a:t>
            </a:fld>
            <a:endParaRPr lang="en-AU"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3</a:t>
            </a:fld>
            <a:endParaRPr lang="en-A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solidFill>
                  <a:schemeClr val="tx2"/>
                </a:solidFill>
              </a:rPr>
              <a:t>According to the AIHW (2008), 8.1% drank daily, 41.3% drank weekly, and a further 33.5% drank less than weekly. </a:t>
            </a:r>
          </a:p>
          <a:p>
            <a:endParaRPr lang="en-AU" sz="1200" dirty="0" smtClean="0">
              <a:solidFill>
                <a:schemeClr val="tx2"/>
              </a:solidFill>
            </a:endParaRPr>
          </a:p>
          <a:p>
            <a:r>
              <a:rPr lang="en-AU" sz="1200" dirty="0" smtClean="0">
                <a:solidFill>
                  <a:schemeClr val="tx2"/>
                </a:solidFill>
              </a:rPr>
              <a:t>Three comparable surveys undertaken between 1995 and 2005 indicate that the proportion of females who drank at risky/high risk level increased from 6.25% to 11.7%, while for males the increase in risky/high risk drinking rose from 10.3% to 15.2% (Australian Bureau of Statistics, 2004-05).  </a:t>
            </a:r>
          </a:p>
          <a:p>
            <a:endParaRPr lang="en-AU" dirty="0" smtClean="0"/>
          </a:p>
          <a:p>
            <a:endParaRPr lang="en-AU" dirty="0" smtClean="0"/>
          </a:p>
          <a:p>
            <a:r>
              <a:rPr lang="en-AU" dirty="0" smtClean="0"/>
              <a:t>The</a:t>
            </a:r>
            <a:r>
              <a:rPr lang="en-AU" baseline="0" dirty="0" smtClean="0"/>
              <a:t> introduction of RBT in the 1980s across Australia produced a substantial drop in road trauma due to drink driving, but since this time, there has been a plateau. </a:t>
            </a:r>
            <a:endParaRPr lang="en-AU" dirty="0" smtClean="0"/>
          </a:p>
          <a:p>
            <a:endParaRPr lang="en-AU" dirty="0" smtClean="0"/>
          </a:p>
        </p:txBody>
      </p:sp>
      <p:sp>
        <p:nvSpPr>
          <p:cNvPr id="4" name="Slide Number Placeholder 3"/>
          <p:cNvSpPr>
            <a:spLocks noGrp="1"/>
          </p:cNvSpPr>
          <p:nvPr>
            <p:ph type="sldNum" sz="quarter" idx="10"/>
          </p:nvPr>
        </p:nvSpPr>
        <p:spPr/>
        <p:txBody>
          <a:bodyPr/>
          <a:lstStyle/>
          <a:p>
            <a:fld id="{9E4F51EC-33F8-4245-8A36-2C8FD3596042}" type="slidenum">
              <a:rPr lang="en-AU" smtClean="0"/>
              <a:pPr/>
              <a:t>4</a:t>
            </a:fld>
            <a:endParaRPr lang="en-AU"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24% of the people in the same study were at 0.15 or over (fatalities), meaning</a:t>
            </a:r>
            <a:r>
              <a:rPr lang="en-AU" baseline="0" dirty="0" smtClean="0"/>
              <a:t> that they were at least 3 times over the general legal alcohol limit.</a:t>
            </a:r>
          </a:p>
          <a:p>
            <a:endParaRPr lang="en-AU" baseline="0" dirty="0" smtClean="0"/>
          </a:p>
          <a:p>
            <a:r>
              <a:rPr lang="en-AU" baseline="0" dirty="0" smtClean="0"/>
              <a:t>Drink driving the single highest contributing factor in fatalities on the road.</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5</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EXPLAIN AUDIT, RELIABILITY IN SAMPLE, AND RISKY DRINKING</a:t>
            </a:r>
          </a:p>
          <a:p>
            <a:endParaRPr lang="en-AU" dirty="0" smtClean="0"/>
          </a:p>
          <a:p>
            <a:r>
              <a:rPr lang="en-AU" dirty="0" smtClean="0"/>
              <a:t>GHQ</a:t>
            </a:r>
            <a:r>
              <a:rPr lang="en-AU" dirty="0" smtClean="0"/>
              <a:t>, HAPA also used</a:t>
            </a:r>
            <a:r>
              <a:rPr lang="en-AU" baseline="0" dirty="0" smtClean="0"/>
              <a:t> but not in the current analysis. </a:t>
            </a:r>
          </a:p>
          <a:p>
            <a:endParaRPr lang="en-AU" baseline="0" dirty="0" smtClean="0"/>
          </a:p>
          <a:p>
            <a:r>
              <a:rPr lang="en-AU" baseline="0" dirty="0" smtClean="0"/>
              <a:t>Discuss response rates.</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9</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Age SD 9.93... 37% studying</a:t>
            </a:r>
          </a:p>
          <a:p>
            <a:endParaRPr lang="en-AU" dirty="0" smtClean="0"/>
          </a:p>
          <a:p>
            <a:r>
              <a:rPr lang="en-AU" dirty="0" smtClean="0"/>
              <a:t>17% had a bachelor or postgraduate degree. This is a very educated sample.</a:t>
            </a:r>
          </a:p>
          <a:p>
            <a:endParaRPr lang="en-AU" dirty="0" smtClean="0"/>
          </a:p>
          <a:p>
            <a:r>
              <a:rPr lang="en-AU" baseline="0" dirty="0" smtClean="0"/>
              <a:t>Only those variables that had a significant bivariate relationship with past drink driving were included in further analyses. </a:t>
            </a:r>
            <a:endParaRPr lang="en-AU" dirty="0" smtClean="0"/>
          </a:p>
          <a:p>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10</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Similar distribution</a:t>
            </a:r>
            <a:r>
              <a:rPr lang="en-AU" baseline="0" dirty="0" smtClean="0"/>
              <a:t> of gender in those who self reported drink driving and those who didn’t.</a:t>
            </a:r>
          </a:p>
          <a:p>
            <a:endParaRPr lang="en-AU" baseline="0" dirty="0" smtClean="0"/>
          </a:p>
          <a:p>
            <a:r>
              <a:rPr lang="en-AU" baseline="0" dirty="0" smtClean="0"/>
              <a:t>Looking at age for those who reported DD and those who didn’t, the older population were less likely to self report DD, particularly in the 40+ group.</a:t>
            </a:r>
          </a:p>
          <a:p>
            <a:endParaRPr lang="en-AU" baseline="0" dirty="0" smtClean="0"/>
          </a:p>
          <a:p>
            <a:r>
              <a:rPr lang="en-AU" baseline="0" dirty="0" smtClean="0"/>
              <a:t>Education, of those who reported DD there are more in the Cert/Diploma group and less in the postgraduate group, although this was not significant.</a:t>
            </a:r>
          </a:p>
          <a:p>
            <a:endParaRPr lang="en-AU" baseline="0" dirty="0" smtClean="0"/>
          </a:p>
          <a:p>
            <a:r>
              <a:rPr lang="en-AU" baseline="0" dirty="0" smtClean="0"/>
              <a:t>Marital status: majority of those who self reported DD were single. Div/sep/wid were slightly less likely to have self reported DD in the last 6 months.</a:t>
            </a:r>
          </a:p>
          <a:p>
            <a:endParaRPr lang="en-AU" baseline="0" dirty="0" smtClean="0"/>
          </a:p>
          <a:p>
            <a:r>
              <a:rPr lang="en-AU" baseline="0" dirty="0" smtClean="0"/>
              <a:t>Employment: those who reported DD slightly more likely to be unemployed. </a:t>
            </a:r>
          </a:p>
          <a:p>
            <a:endParaRPr lang="en-AU" baseline="0" dirty="0" smtClean="0"/>
          </a:p>
          <a:p>
            <a:r>
              <a:rPr lang="en-AU" baseline="0" dirty="0" smtClean="0"/>
              <a:t>Small numbers… significant if otherwise?</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12</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Driving</a:t>
            </a:r>
            <a:r>
              <a:rPr lang="en-AU" baseline="0" dirty="0" smtClean="0"/>
              <a:t> history: larger proportion of those who had 10 or more years experience said that they did not DD in the last 6 months. Those with less than 10 years driving experience were more likely to report DD.</a:t>
            </a:r>
          </a:p>
          <a:p>
            <a:endParaRPr lang="en-AU" baseline="0" dirty="0" smtClean="0"/>
          </a:p>
          <a:p>
            <a:r>
              <a:rPr lang="en-AU" baseline="0" dirty="0" smtClean="0"/>
              <a:t>BAC: Those offenders with relatively small BAC were less likely to report that they had DD in the last 6 months. Looking at the high range percentages, you can see that these offenders were more likely to report DD, particularly those over the high alcohol limit of 0.15.</a:t>
            </a:r>
          </a:p>
          <a:p>
            <a:endParaRPr lang="en-AU" baseline="0" dirty="0" smtClean="0"/>
          </a:p>
          <a:p>
            <a:r>
              <a:rPr lang="en-AU" baseline="0" dirty="0" smtClean="0"/>
              <a:t>Method of apprehension: majority of sample apprehended by RBT. Method of driving slightly higher percentage of offenders who self reported DD. As an aside, in subsequent analyses, the method of driving was indicative of higher risk when compared with other risky attitudes and behaiours.</a:t>
            </a:r>
          </a:p>
          <a:p>
            <a:endParaRPr lang="en-AU" baseline="0" dirty="0" smtClean="0"/>
          </a:p>
          <a:p>
            <a:r>
              <a:rPr lang="en-AU" baseline="0" dirty="0" smtClean="0"/>
              <a:t>Alcohol use: Determined by alcohol use disorders identification test (AUDIT). Cut off used: 8 (conservative) but stated in guidelines. Looking at self reported DD, the percentage of those who did was much higher in risky drinkers than non-risky.</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13</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Of those who reported</a:t>
            </a:r>
            <a:r>
              <a:rPr lang="en-AU" baseline="0" dirty="0" smtClean="0"/>
              <a:t> drink driving in the 6 months prior to the offence, there was a substantially higher percentage of risky drivers.</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14</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In</a:t>
            </a:r>
            <a:r>
              <a:rPr lang="en-AU" baseline="0" dirty="0" smtClean="0"/>
              <a:t> those offenders who reported drink driving in the 6 months following the offence, the pattern shows more younger offenders than older ones.</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15</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Regression to explore</a:t>
            </a:r>
            <a:r>
              <a:rPr lang="en-AU" baseline="0" dirty="0" smtClean="0"/>
              <a:t> the relationships between variables. Only those variables that had a significant bivariate relationship with past drink driving were included in further analyses.</a:t>
            </a:r>
            <a:endParaRPr lang="en-AU" dirty="0"/>
          </a:p>
        </p:txBody>
      </p:sp>
      <p:sp>
        <p:nvSpPr>
          <p:cNvPr id="4" name="Slide Number Placeholder 3"/>
          <p:cNvSpPr>
            <a:spLocks noGrp="1"/>
          </p:cNvSpPr>
          <p:nvPr>
            <p:ph type="sldNum" sz="quarter" idx="10"/>
          </p:nvPr>
        </p:nvSpPr>
        <p:spPr/>
        <p:txBody>
          <a:bodyPr/>
          <a:lstStyle/>
          <a:p>
            <a:fld id="{9E4F51EC-33F8-4245-8A36-2C8FD3596042}" type="slidenum">
              <a:rPr lang="en-AU" smtClean="0"/>
              <a:pPr/>
              <a:t>16</a:t>
            </a:fld>
            <a:endParaRPr lang="en-A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1D0B378A-CD8D-428F-958E-7234F41C412F}" type="datetime1">
              <a:rPr lang="en-US"/>
              <a:pPr/>
              <a:t>8/25/2010</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CB1AD245-3F2B-4F82-B72F-8632BAE9B151}" type="slidenum">
              <a:rPr lang="en-US"/>
              <a:pPr/>
              <a:t>‹#›</a:t>
            </a:fld>
            <a:endParaRPr lang="en-US" dirty="0"/>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fld id="{F7A7AAFC-E23E-42E8-920E-DB76112BA6AA}" type="datetime1">
              <a:rPr lang="en-US"/>
              <a:pPr/>
              <a:t>8/25/2010</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5107A3B7-50CA-4740-AF8E-D576A1FAC3E8}" type="slidenum">
              <a:rPr lang="en-US"/>
              <a:pPr/>
              <a:t>‹#›</a:t>
            </a:fld>
            <a:endParaRPr lang="en-US" dirty="0"/>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fld id="{30574FDA-C980-4F21-9A03-CEFB11020C3B}" type="datetime1">
              <a:rPr lang="en-US"/>
              <a:pPr/>
              <a:t>8/25/2010</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15D58601-9A2B-4D9C-9B41-ACD7C9F879BA}" type="slidenum">
              <a:rPr lang="en-US"/>
              <a:pPr/>
              <a:t>‹#›</a:t>
            </a:fld>
            <a:endParaRPr lang="en-US" dirty="0"/>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fld id="{21466629-CD3A-4E9E-A526-BE9BDDC50411}" type="datetime1">
              <a:rPr lang="en-US"/>
              <a:pPr/>
              <a:t>8/25/2010</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7761A58C-6330-49C0-BB1B-FE98E08A0988}" type="slidenum">
              <a:rPr lang="en-US"/>
              <a:pPr/>
              <a:t>‹#›</a:t>
            </a:fld>
            <a:endParaRPr lang="en-US" dirty="0"/>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fld id="{12DC5CAC-DDF0-4F97-B732-0C336B0DC8DB}" type="datetime1">
              <a:rPr lang="en-US"/>
              <a:pPr/>
              <a:t>8/25/2010</a:t>
            </a:fld>
            <a:endParaRPr lang="en-US" dirty="0"/>
          </a:p>
        </p:txBody>
      </p:sp>
      <p:sp>
        <p:nvSpPr>
          <p:cNvPr id="8" name="Footer Placeholder 4"/>
          <p:cNvSpPr>
            <a:spLocks noGrp="1"/>
          </p:cNvSpPr>
          <p:nvPr>
            <p:ph type="ftr" sz="quarter" idx="11"/>
          </p:nvPr>
        </p:nvSpPr>
        <p:spPr/>
        <p:txBody>
          <a:bodyPr/>
          <a:lstStyle>
            <a:lvl1pPr>
              <a:defRPr/>
            </a:lvl1pPr>
          </a:lstStyle>
          <a:p>
            <a:endParaRPr lang="en-US" dirty="0"/>
          </a:p>
        </p:txBody>
      </p:sp>
      <p:sp>
        <p:nvSpPr>
          <p:cNvPr id="9" name="Slide Number Placeholder 5"/>
          <p:cNvSpPr>
            <a:spLocks noGrp="1"/>
          </p:cNvSpPr>
          <p:nvPr>
            <p:ph type="sldNum" sz="quarter" idx="12"/>
          </p:nvPr>
        </p:nvSpPr>
        <p:spPr/>
        <p:txBody>
          <a:bodyPr/>
          <a:lstStyle>
            <a:lvl1pPr>
              <a:defRPr/>
            </a:lvl1pPr>
          </a:lstStyle>
          <a:p>
            <a:fld id="{893AA9A8-3F10-4A4D-8B7B-62A1F12D1D00}" type="slidenum">
              <a:rPr lang="en-US"/>
              <a:pPr/>
              <a:t>‹#›</a:t>
            </a:fld>
            <a:endParaRPr lang="en-US" dirty="0"/>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fld id="{493D3BCB-A878-424C-9EE4-EE4D41FB8743}" type="datetime1">
              <a:rPr lang="en-US"/>
              <a:pPr/>
              <a:t>8/25/2010</a:t>
            </a:fld>
            <a:endParaRPr lang="en-US" dirty="0"/>
          </a:p>
        </p:txBody>
      </p:sp>
      <p:sp>
        <p:nvSpPr>
          <p:cNvPr id="4" name="Footer Placeholder 4"/>
          <p:cNvSpPr>
            <a:spLocks noGrp="1"/>
          </p:cNvSpPr>
          <p:nvPr>
            <p:ph type="ftr" sz="quarter" idx="11"/>
          </p:nvPr>
        </p:nvSpPr>
        <p:spPr/>
        <p:txBody>
          <a:bodyPr/>
          <a:lstStyle>
            <a:lvl1pPr>
              <a:defRPr/>
            </a:lvl1pPr>
          </a:lstStyle>
          <a:p>
            <a:endParaRPr lang="en-US" dirty="0"/>
          </a:p>
        </p:txBody>
      </p:sp>
      <p:sp>
        <p:nvSpPr>
          <p:cNvPr id="5" name="Slide Number Placeholder 5"/>
          <p:cNvSpPr>
            <a:spLocks noGrp="1"/>
          </p:cNvSpPr>
          <p:nvPr>
            <p:ph type="sldNum" sz="quarter" idx="12"/>
          </p:nvPr>
        </p:nvSpPr>
        <p:spPr/>
        <p:txBody>
          <a:bodyPr/>
          <a:lstStyle>
            <a:lvl1pPr>
              <a:defRPr/>
            </a:lvl1pPr>
          </a:lstStyle>
          <a:p>
            <a:fld id="{4E1EC446-1679-45A1-81A8-5596A010EC1C}" type="slidenum">
              <a:rPr lang="en-US"/>
              <a:pPr/>
              <a:t>‹#›</a:t>
            </a:fld>
            <a:endParaRPr lang="en-US" dirty="0"/>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C8C2F244-E6CC-4B8A-8D33-D74112498DDA}" type="datetime1">
              <a:rPr lang="en-US"/>
              <a:pPr/>
              <a:t>8/25/2010</a:t>
            </a:fld>
            <a:endParaRPr lang="en-US" dirty="0"/>
          </a:p>
        </p:txBody>
      </p:sp>
      <p:sp>
        <p:nvSpPr>
          <p:cNvPr id="3" name="Footer Placeholder 4"/>
          <p:cNvSpPr>
            <a:spLocks noGrp="1"/>
          </p:cNvSpPr>
          <p:nvPr>
            <p:ph type="ftr" sz="quarter" idx="11"/>
          </p:nvPr>
        </p:nvSpPr>
        <p:spPr/>
        <p:txBody>
          <a:bodyPr/>
          <a:lstStyle>
            <a:lvl1pPr>
              <a:defRPr/>
            </a:lvl1pPr>
          </a:lstStyle>
          <a:p>
            <a:endParaRPr lang="en-US" dirty="0"/>
          </a:p>
        </p:txBody>
      </p:sp>
      <p:sp>
        <p:nvSpPr>
          <p:cNvPr id="4" name="Slide Number Placeholder 5"/>
          <p:cNvSpPr>
            <a:spLocks noGrp="1"/>
          </p:cNvSpPr>
          <p:nvPr>
            <p:ph type="sldNum" sz="quarter" idx="12"/>
          </p:nvPr>
        </p:nvSpPr>
        <p:spPr/>
        <p:txBody>
          <a:bodyPr/>
          <a:lstStyle>
            <a:lvl1pPr>
              <a:defRPr/>
            </a:lvl1pPr>
          </a:lstStyle>
          <a:p>
            <a:fld id="{6CC5B328-CA54-4A0F-AB83-5D6899F0A57B}" type="slidenum">
              <a:rPr lang="en-US"/>
              <a:pPr/>
              <a:t>‹#›</a:t>
            </a:fld>
            <a:endParaRPr lang="en-US" dirty="0"/>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fld id="{43F00FAD-2B39-40F1-977C-03BB24853337}" type="datetime1">
              <a:rPr lang="en-US"/>
              <a:pPr/>
              <a:t>8/25/2010</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88AC592B-02E3-4EBC-AB70-D3D4D639E915}" type="slidenum">
              <a:rPr lang="en-US"/>
              <a:pPr/>
              <a:t>‹#›</a:t>
            </a:fld>
            <a:endParaRPr lang="en-US" dirty="0"/>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fld id="{92DFB4B8-0231-4DFD-8DBE-D71D4FBAF40E}" type="datetime1">
              <a:rPr lang="en-US"/>
              <a:pPr/>
              <a:t>8/25/2010</a:t>
            </a:fld>
            <a:endParaRPr lang="en-US" dirty="0"/>
          </a:p>
        </p:txBody>
      </p:sp>
      <p:sp>
        <p:nvSpPr>
          <p:cNvPr id="6" name="Footer Placeholder 4"/>
          <p:cNvSpPr>
            <a:spLocks noGrp="1"/>
          </p:cNvSpPr>
          <p:nvPr>
            <p:ph type="ftr" sz="quarter" idx="11"/>
          </p:nvPr>
        </p:nvSpPr>
        <p:spPr/>
        <p:txBody>
          <a:bodyPr/>
          <a:lstStyle>
            <a:lvl1pPr>
              <a:defRPr/>
            </a:lvl1pPr>
          </a:lstStyle>
          <a:p>
            <a:endParaRPr lang="en-US" dirty="0"/>
          </a:p>
        </p:txBody>
      </p:sp>
      <p:sp>
        <p:nvSpPr>
          <p:cNvPr id="7" name="Slide Number Placeholder 5"/>
          <p:cNvSpPr>
            <a:spLocks noGrp="1"/>
          </p:cNvSpPr>
          <p:nvPr>
            <p:ph type="sldNum" sz="quarter" idx="12"/>
          </p:nvPr>
        </p:nvSpPr>
        <p:spPr/>
        <p:txBody>
          <a:bodyPr/>
          <a:lstStyle>
            <a:lvl1pPr>
              <a:defRPr/>
            </a:lvl1pPr>
          </a:lstStyle>
          <a:p>
            <a:fld id="{A53FAF9C-7BD8-4716-B368-7CCC8CF86F4F}" type="slidenum">
              <a:rPr lang="en-US"/>
              <a:pPr/>
              <a:t>‹#›</a:t>
            </a:fld>
            <a:endParaRPr lang="en-US" dirty="0"/>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fld id="{CC98820F-0639-4877-861D-D684A20606D2}" type="datetime1">
              <a:rPr lang="en-US"/>
              <a:pPr/>
              <a:t>8/25/2010</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3F3DFCF5-D8E7-4E08-A394-CB348B232F9E}" type="slidenum">
              <a:rPr lang="en-US"/>
              <a:pPr/>
              <a:t>‹#›</a:t>
            </a:fld>
            <a:endParaRPr lang="en-US" dirty="0"/>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fld id="{B747AB68-C141-4E6B-A3FC-A02DC4858772}" type="datetime1">
              <a:rPr lang="en-US"/>
              <a:pPr/>
              <a:t>8/25/2010</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521F5A5C-4B1C-4459-BB46-972C2BE1FB90}" type="slidenum">
              <a:rPr lang="en-US"/>
              <a:pPr/>
              <a:t>‹#›</a:t>
            </a:fld>
            <a:endParaRPr lang="en-US" dirty="0"/>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98B0"/>
                </a:solidFill>
              </a:defRPr>
            </a:lvl1pPr>
          </a:lstStyle>
          <a:p>
            <a:fld id="{F037264C-3504-4DA5-B2C5-F6D7EAA938DE}" type="datetime1">
              <a:rPr lang="en-US"/>
              <a:pPr/>
              <a:t>8/25/2010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98B0"/>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98B0"/>
                </a:solidFill>
              </a:defRPr>
            </a:lvl1pPr>
          </a:lstStyle>
          <a:p>
            <a:fld id="{998CDCFC-EA1F-4D27-BE69-76E42F59D1CF}"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dirty="0">
                <a:solidFill>
                  <a:schemeClr val="bg1"/>
                </a:solidFill>
              </a:rPr>
              <a:t>CRICOS No. 00213J</a:t>
            </a:r>
          </a:p>
        </p:txBody>
      </p:sp>
      <p:sp>
        <p:nvSpPr>
          <p:cNvPr id="6" name="Title 1"/>
          <p:cNvSpPr txBox="1">
            <a:spLocks/>
          </p:cNvSpPr>
          <p:nvPr/>
        </p:nvSpPr>
        <p:spPr bwMode="auto">
          <a:xfrm>
            <a:off x="714375" y="2743200"/>
            <a:ext cx="8286750" cy="1981200"/>
          </a:xfrm>
          <a:prstGeom prst="rect">
            <a:avLst/>
          </a:prstGeom>
          <a:noFill/>
          <a:ln w="9525">
            <a:noFill/>
            <a:miter lim="800000"/>
            <a:headEnd/>
            <a:tailEnd/>
          </a:ln>
        </p:spPr>
        <p:txBody>
          <a:bodyPr vert="horz" wrap="square" lIns="0" tIns="45720" rIns="0" bIns="45720" numCol="1" anchor="ctr" anchorCtr="0" compatLnSpc="1">
            <a:prstTxWarp prst="textNoShape">
              <a:avLst/>
            </a:prstTxWarp>
          </a:bodyPr>
          <a:lstStyle/>
          <a:p>
            <a:pPr marL="0" marR="0" lvl="0" indent="0" algn="r" defTabSz="457200" rtl="0" eaLnBrk="1" fontAlgn="base" latinLnBrk="0" hangingPunct="1">
              <a:lnSpc>
                <a:spcPct val="100000"/>
              </a:lnSpc>
              <a:spcBef>
                <a:spcPct val="0"/>
              </a:spcBef>
              <a:spcAft>
                <a:spcPct val="0"/>
              </a:spcAft>
              <a:buClrTx/>
              <a:buSzTx/>
              <a:buFontTx/>
              <a:buNone/>
              <a:tabLst/>
              <a:defRPr/>
            </a:pPr>
            <a:r>
              <a:rPr lang="en-AU" sz="4000" dirty="0" smtClean="0">
                <a:solidFill>
                  <a:schemeClr val="tx2"/>
                </a:solidFill>
                <a:latin typeface="Cambria" pitchFamily="18" charset="0"/>
                <a:ea typeface="ＭＳ Ｐゴシック"/>
                <a:cs typeface="ＭＳ Ｐゴシック"/>
              </a:rPr>
              <a:t>Who are the real “first offenders”?</a:t>
            </a:r>
            <a:endParaRPr lang="en-US" sz="4000" dirty="0" smtClean="0">
              <a:solidFill>
                <a:schemeClr val="tx2"/>
              </a:solidFill>
              <a:latin typeface="Cambria" pitchFamily="18" charset="0"/>
              <a:ea typeface="ＭＳ Ｐゴシック"/>
              <a:cs typeface="ＭＳ Ｐゴシック"/>
            </a:endParaRPr>
          </a:p>
        </p:txBody>
      </p:sp>
      <p:sp>
        <p:nvSpPr>
          <p:cNvPr id="8" name="Subtitle 2"/>
          <p:cNvSpPr>
            <a:spLocks noGrp="1"/>
          </p:cNvSpPr>
          <p:nvPr>
            <p:ph type="subTitle" idx="1"/>
          </p:nvPr>
        </p:nvSpPr>
        <p:spPr>
          <a:xfrm>
            <a:off x="857250" y="4267200"/>
            <a:ext cx="8143875" cy="1295400"/>
          </a:xfrm>
        </p:spPr>
        <p:txBody>
          <a:bodyPr lIns="0" rIns="0" anchor="ctr"/>
          <a:lstStyle/>
          <a:p>
            <a:pPr algn="r" eaLnBrk="1" hangingPunct="1">
              <a:defRPr/>
            </a:pPr>
            <a:r>
              <a:rPr lang="en-US" sz="2000" dirty="0" err="1" smtClean="0">
                <a:solidFill>
                  <a:schemeClr val="tx2"/>
                </a:solidFill>
                <a:latin typeface="Cambria" pitchFamily="18" charset="0"/>
                <a:cs typeface="Arial" charset="0"/>
              </a:rPr>
              <a:t>Hollie</a:t>
            </a:r>
            <a:r>
              <a:rPr lang="en-US" sz="2000" dirty="0" smtClean="0">
                <a:solidFill>
                  <a:schemeClr val="tx2"/>
                </a:solidFill>
                <a:latin typeface="Cambria" pitchFamily="18" charset="0"/>
                <a:cs typeface="Arial" charset="0"/>
              </a:rPr>
              <a:t> Wilson, PhD Scholar</a:t>
            </a:r>
          </a:p>
          <a:p>
            <a:pPr algn="r" eaLnBrk="1" hangingPunct="1">
              <a:defRPr/>
            </a:pPr>
            <a:r>
              <a:rPr lang="en-AU" sz="1400" dirty="0" smtClean="0">
                <a:latin typeface="Cambria" pitchFamily="18" charset="0"/>
              </a:rPr>
              <a:t>International Council on Alcohol, Drugs and Traffic Safety</a:t>
            </a:r>
          </a:p>
          <a:p>
            <a:pPr algn="r" eaLnBrk="1" hangingPunct="1">
              <a:defRPr/>
            </a:pPr>
            <a:r>
              <a:rPr lang="en-AU" sz="1400" dirty="0" smtClean="0">
                <a:latin typeface="Cambria" pitchFamily="18" charset="0"/>
              </a:rPr>
              <a:t> Oslo, Norway 22</a:t>
            </a:r>
            <a:r>
              <a:rPr lang="en-AU" sz="1400" baseline="30000" dirty="0" smtClean="0">
                <a:latin typeface="Cambria" pitchFamily="18" charset="0"/>
              </a:rPr>
              <a:t>nd</a:t>
            </a:r>
            <a:r>
              <a:rPr lang="en-AU" sz="1400" dirty="0" smtClean="0">
                <a:latin typeface="Cambria" pitchFamily="18" charset="0"/>
              </a:rPr>
              <a:t>-26</a:t>
            </a:r>
            <a:r>
              <a:rPr lang="en-AU" sz="1400" baseline="30000" dirty="0" smtClean="0">
                <a:latin typeface="Cambria" pitchFamily="18" charset="0"/>
              </a:rPr>
              <a:t>th</a:t>
            </a:r>
            <a:r>
              <a:rPr lang="en-AU" sz="1400" dirty="0" smtClean="0">
                <a:latin typeface="Cambria" pitchFamily="18" charset="0"/>
              </a:rPr>
              <a:t> August 2010</a:t>
            </a:r>
            <a:endParaRPr lang="en-US" sz="1800" dirty="0" smtClean="0">
              <a:solidFill>
                <a:schemeClr val="tx1"/>
              </a:solidFill>
              <a:cs typeface="Arial" charset="0"/>
            </a:endParaRP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smtClean="0">
                <a:solidFill>
                  <a:schemeClr val="tx2"/>
                </a:solidFill>
              </a:rPr>
              <a:t>Acknowledgements</a:t>
            </a:r>
            <a:endParaRPr lang="en-US" dirty="0" smtClean="0">
              <a:solidFill>
                <a:schemeClr val="tx2"/>
              </a:solidFill>
            </a:endParaRPr>
          </a:p>
        </p:txBody>
      </p:sp>
      <p:sp>
        <p:nvSpPr>
          <p:cNvPr id="3" name="Content Placeholder 2"/>
          <p:cNvSpPr>
            <a:spLocks noGrp="1"/>
          </p:cNvSpPr>
          <p:nvPr>
            <p:ph idx="1"/>
          </p:nvPr>
        </p:nvSpPr>
        <p:spPr/>
        <p:txBody>
          <a:bodyPr/>
          <a:lstStyle/>
          <a:p>
            <a:r>
              <a:rPr lang="en-AU" sz="2800" dirty="0" smtClean="0">
                <a:solidFill>
                  <a:schemeClr val="tx2"/>
                </a:solidFill>
              </a:rPr>
              <a:t>Supervisory team</a:t>
            </a:r>
          </a:p>
          <a:p>
            <a:pPr lvl="1"/>
            <a:r>
              <a:rPr lang="en-US" sz="2400" dirty="0" smtClean="0">
                <a:solidFill>
                  <a:schemeClr val="tx2"/>
                </a:solidFill>
                <a:cs typeface="Arial" charset="0"/>
              </a:rPr>
              <a:t>Em Prof. Mary Sheehan</a:t>
            </a:r>
          </a:p>
          <a:p>
            <a:pPr lvl="1"/>
            <a:r>
              <a:rPr lang="en-US" sz="2400" dirty="0" smtClean="0">
                <a:solidFill>
                  <a:schemeClr val="tx2"/>
                </a:solidFill>
                <a:cs typeface="Arial" charset="0"/>
              </a:rPr>
              <a:t>Dr. Gavan Palk</a:t>
            </a:r>
          </a:p>
          <a:p>
            <a:endParaRPr lang="en-AU" sz="2800" dirty="0" smtClean="0">
              <a:solidFill>
                <a:schemeClr val="tx2"/>
              </a:solidFill>
            </a:endParaRPr>
          </a:p>
          <a:p>
            <a:r>
              <a:rPr lang="en-AU" sz="2800" dirty="0" smtClean="0">
                <a:solidFill>
                  <a:schemeClr val="tx2"/>
                </a:solidFill>
              </a:rPr>
              <a:t>Funding</a:t>
            </a:r>
          </a:p>
          <a:p>
            <a:pPr lvl="1"/>
            <a:r>
              <a:rPr lang="nb-NO" sz="2400" dirty="0" smtClean="0">
                <a:solidFill>
                  <a:schemeClr val="tx2"/>
                </a:solidFill>
                <a:ea typeface="ＭＳ Ｐゴシック" pitchFamily="-109" charset="-128"/>
                <a:cs typeface="Arial" charset="0"/>
              </a:rPr>
              <a:t>Australian Transport Safety Bureau (ATSB)</a:t>
            </a:r>
          </a:p>
          <a:p>
            <a:pPr lvl="1"/>
            <a:r>
              <a:rPr lang="nb-NO" sz="2400" dirty="0" smtClean="0">
                <a:solidFill>
                  <a:schemeClr val="tx2"/>
                </a:solidFill>
                <a:cs typeface="Arial" charset="0"/>
              </a:rPr>
              <a:t>Centre for Accident Research &amp; Road Safety – Queensland (CARRS-Q)</a:t>
            </a:r>
          </a:p>
          <a:p>
            <a:endParaRPr lang="en-AU" sz="2800" dirty="0" smtClean="0">
              <a:solidFill>
                <a:schemeClr val="tx2"/>
              </a:solidFill>
            </a:endParaRPr>
          </a:p>
          <a:p>
            <a:pPr lvl="1"/>
            <a:endParaRPr lang="en-US" sz="2400" dirty="0" smtClean="0">
              <a:solidFill>
                <a:schemeClr val="tx2"/>
              </a:solidFill>
              <a:latin typeface="Cambria" pitchFamily="18" charset="0"/>
              <a:cs typeface="Arial" charset="0"/>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Overview of presentation</a:t>
            </a:r>
            <a:endParaRPr lang="en-AU" dirty="0">
              <a:solidFill>
                <a:schemeClr val="tx2"/>
              </a:solidFill>
            </a:endParaRPr>
          </a:p>
        </p:txBody>
      </p:sp>
      <p:sp>
        <p:nvSpPr>
          <p:cNvPr id="3" name="Content Placeholder 2"/>
          <p:cNvSpPr>
            <a:spLocks noGrp="1"/>
          </p:cNvSpPr>
          <p:nvPr>
            <p:ph idx="1"/>
          </p:nvPr>
        </p:nvSpPr>
        <p:spPr>
          <a:xfrm>
            <a:off x="714348" y="1571612"/>
            <a:ext cx="7572428" cy="4554551"/>
          </a:xfrm>
        </p:spPr>
        <p:txBody>
          <a:bodyPr/>
          <a:lstStyle/>
          <a:p>
            <a:r>
              <a:rPr lang="en-AU" sz="2400" dirty="0" smtClean="0">
                <a:solidFill>
                  <a:schemeClr val="tx2"/>
                </a:solidFill>
              </a:rPr>
              <a:t>Drink driving: Australian &amp; Queensland contexts</a:t>
            </a:r>
          </a:p>
          <a:p>
            <a:r>
              <a:rPr lang="en-AU" sz="2400" dirty="0" smtClean="0">
                <a:solidFill>
                  <a:schemeClr val="tx2"/>
                </a:solidFill>
              </a:rPr>
              <a:t>Offender characteristics </a:t>
            </a:r>
            <a:endParaRPr lang="en-AU" sz="2400" dirty="0" smtClean="0">
              <a:solidFill>
                <a:schemeClr val="tx2"/>
              </a:solidFill>
            </a:endParaRPr>
          </a:p>
          <a:p>
            <a:r>
              <a:rPr lang="en-AU" sz="2400" dirty="0" smtClean="0">
                <a:solidFill>
                  <a:schemeClr val="tx2"/>
                </a:solidFill>
              </a:rPr>
              <a:t>First offender characteristics</a:t>
            </a:r>
          </a:p>
          <a:p>
            <a:r>
              <a:rPr lang="en-AU" sz="2400" dirty="0" smtClean="0">
                <a:solidFill>
                  <a:schemeClr val="tx2"/>
                </a:solidFill>
              </a:rPr>
              <a:t>Research aims</a:t>
            </a:r>
          </a:p>
          <a:p>
            <a:r>
              <a:rPr lang="en-AU" sz="2400" dirty="0" smtClean="0">
                <a:solidFill>
                  <a:schemeClr val="tx2"/>
                </a:solidFill>
              </a:rPr>
              <a:t>Methodology</a:t>
            </a:r>
          </a:p>
          <a:p>
            <a:r>
              <a:rPr lang="en-AU" sz="2400" dirty="0" smtClean="0">
                <a:solidFill>
                  <a:schemeClr val="tx2"/>
                </a:solidFill>
              </a:rPr>
              <a:t>Sample characteristics</a:t>
            </a:r>
          </a:p>
          <a:p>
            <a:r>
              <a:rPr lang="en-AU" sz="2400" dirty="0" smtClean="0">
                <a:solidFill>
                  <a:schemeClr val="tx2"/>
                </a:solidFill>
              </a:rPr>
              <a:t>Results</a:t>
            </a:r>
          </a:p>
          <a:p>
            <a:r>
              <a:rPr lang="en-AU" sz="2400" dirty="0" smtClean="0">
                <a:solidFill>
                  <a:schemeClr val="tx2"/>
                </a:solidFill>
              </a:rPr>
              <a:t>Limitations</a:t>
            </a:r>
          </a:p>
          <a:p>
            <a:r>
              <a:rPr lang="en-AU" sz="2400" dirty="0" smtClean="0">
                <a:solidFill>
                  <a:schemeClr val="tx2"/>
                </a:solidFill>
              </a:rPr>
              <a:t>Policy &amp; countermeasure implications</a:t>
            </a:r>
          </a:p>
          <a:p>
            <a:endParaRPr lang="en-AU"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z="4000" dirty="0" smtClean="0">
                <a:solidFill>
                  <a:schemeClr val="tx2"/>
                </a:solidFill>
              </a:rPr>
              <a:t>Drink Driving: Australian Context</a:t>
            </a:r>
          </a:p>
        </p:txBody>
      </p:sp>
      <p:sp>
        <p:nvSpPr>
          <p:cNvPr id="14339" name="Content Placeholder 2"/>
          <p:cNvSpPr>
            <a:spLocks noGrp="1"/>
          </p:cNvSpPr>
          <p:nvPr>
            <p:ph idx="1"/>
          </p:nvPr>
        </p:nvSpPr>
        <p:spPr/>
        <p:txBody>
          <a:bodyPr/>
          <a:lstStyle/>
          <a:p>
            <a:pPr>
              <a:buNone/>
            </a:pPr>
            <a:r>
              <a:rPr lang="en-AU" sz="2400" dirty="0" smtClean="0">
                <a:solidFill>
                  <a:schemeClr val="tx2"/>
                </a:solidFill>
              </a:rPr>
              <a:t>Australian Institute of Health and Welfare </a:t>
            </a:r>
            <a:r>
              <a:rPr lang="en-AU" sz="2400" dirty="0" smtClean="0">
                <a:solidFill>
                  <a:schemeClr val="tx2"/>
                </a:solidFill>
              </a:rPr>
              <a:t>(2008) found: </a:t>
            </a:r>
          </a:p>
          <a:p>
            <a:r>
              <a:rPr lang="en-AU" sz="2400" dirty="0" smtClean="0">
                <a:solidFill>
                  <a:schemeClr val="tx2"/>
                </a:solidFill>
              </a:rPr>
              <a:t>One in eight people (12.1%) admit to driving a motor vehicle while under the influence of alcohol, with males (16.2%) more than twice as likely as females (8.0%) to admit to engaging in drink driving </a:t>
            </a:r>
          </a:p>
          <a:p>
            <a:endParaRPr lang="en-AU" sz="2400" dirty="0" smtClean="0">
              <a:solidFill>
                <a:schemeClr val="tx2"/>
              </a:solidFill>
            </a:endParaRPr>
          </a:p>
          <a:p>
            <a:pPr>
              <a:buNone/>
            </a:pPr>
            <a:r>
              <a:rPr lang="en-US" sz="2400" dirty="0" smtClean="0">
                <a:solidFill>
                  <a:schemeClr val="tx2"/>
                </a:solidFill>
                <a:ea typeface="ＭＳ Ｐゴシック" pitchFamily="34" charset="-128"/>
              </a:rPr>
              <a:t>According to the </a:t>
            </a:r>
            <a:r>
              <a:rPr lang="en-US" sz="2400" dirty="0" smtClean="0">
                <a:solidFill>
                  <a:schemeClr val="tx2"/>
                </a:solidFill>
                <a:ea typeface="ＭＳ Ｐゴシック" pitchFamily="34" charset="-128"/>
              </a:rPr>
              <a:t>Australian Bureau of Statistics </a:t>
            </a:r>
            <a:r>
              <a:rPr lang="en-US" sz="2400" dirty="0" smtClean="0">
                <a:solidFill>
                  <a:schemeClr val="tx2"/>
                </a:solidFill>
                <a:ea typeface="ＭＳ Ｐゴシック" pitchFamily="34" charset="-128"/>
              </a:rPr>
              <a:t>(2009):</a:t>
            </a:r>
          </a:p>
          <a:p>
            <a:r>
              <a:rPr lang="en-US" sz="2400" dirty="0" smtClean="0">
                <a:solidFill>
                  <a:schemeClr val="tx2"/>
                </a:solidFill>
                <a:ea typeface="ＭＳ Ｐゴシック" pitchFamily="34" charset="-128"/>
              </a:rPr>
              <a:t>In 2007/2008, there were 63,731 drink driving cases heard by a </a:t>
            </a:r>
            <a:r>
              <a:rPr lang="en-US" sz="2400" dirty="0" smtClean="0">
                <a:solidFill>
                  <a:schemeClr val="tx2"/>
                </a:solidFill>
                <a:ea typeface="ＭＳ Ｐゴシック" pitchFamily="34" charset="-128"/>
              </a:rPr>
              <a:t>magistrate.</a:t>
            </a:r>
            <a:endParaRPr lang="en-US" sz="2400" dirty="0" smtClean="0">
              <a:solidFill>
                <a:schemeClr val="tx2"/>
              </a:solidFill>
              <a:ea typeface="ＭＳ Ｐゴシック" pitchFamily="34" charset="-128"/>
            </a:endParaRPr>
          </a:p>
          <a:p>
            <a:pPr eaLnBrk="1" hangingPunct="1"/>
            <a:endParaRPr lang="en-US" dirty="0" smtClean="0"/>
          </a:p>
        </p:txBody>
      </p:sp>
      <p:sp>
        <p:nvSpPr>
          <p:cNvPr id="4"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dirty="0">
                <a:solidFill>
                  <a:schemeClr val="bg1"/>
                </a:solidFill>
              </a:rPr>
              <a:t>CRICOS No. 00213J</a:t>
            </a:r>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solidFill>
                  <a:schemeClr val="tx2"/>
                </a:solidFill>
              </a:rPr>
              <a:t>Drink Driving: Queensland Context</a:t>
            </a:r>
            <a:endParaRPr lang="en-AU" sz="4000" dirty="0">
              <a:solidFill>
                <a:schemeClr val="tx2"/>
              </a:solidFill>
            </a:endParaRPr>
          </a:p>
        </p:txBody>
      </p:sp>
      <p:sp>
        <p:nvSpPr>
          <p:cNvPr id="3" name="Content Placeholder 2"/>
          <p:cNvSpPr>
            <a:spLocks noGrp="1"/>
          </p:cNvSpPr>
          <p:nvPr>
            <p:ph idx="1"/>
          </p:nvPr>
        </p:nvSpPr>
        <p:spPr>
          <a:xfrm>
            <a:off x="457200" y="1600200"/>
            <a:ext cx="8229600" cy="4525963"/>
          </a:xfrm>
        </p:spPr>
        <p:txBody>
          <a:bodyPr/>
          <a:lstStyle/>
          <a:p>
            <a:endParaRPr lang="en-AU" sz="2400" dirty="0" smtClean="0">
              <a:solidFill>
                <a:schemeClr val="tx2"/>
              </a:solidFill>
              <a:ea typeface="ＭＳ Ｐゴシック" pitchFamily="34" charset="-128"/>
            </a:endParaRPr>
          </a:p>
          <a:p>
            <a:r>
              <a:rPr lang="en-AU" sz="2400" dirty="0" smtClean="0">
                <a:solidFill>
                  <a:schemeClr val="tx2"/>
                </a:solidFill>
                <a:ea typeface="ＭＳ Ｐゴシック" pitchFamily="34" charset="-128"/>
              </a:rPr>
              <a:t>A </a:t>
            </a:r>
            <a:r>
              <a:rPr lang="en-AU" sz="2400" dirty="0" smtClean="0">
                <a:solidFill>
                  <a:schemeClr val="tx2"/>
                </a:solidFill>
                <a:ea typeface="ＭＳ Ｐゴシック" pitchFamily="34" charset="-128"/>
              </a:rPr>
              <a:t>blood alcohol concentration (BAC) above 0.05% was noted in 33% of all driver and rider fatalities tested in Queensland in 2003. </a:t>
            </a:r>
          </a:p>
          <a:p>
            <a:endParaRPr lang="en-AU" sz="2400" b="1" i="1" dirty="0" smtClean="0">
              <a:solidFill>
                <a:schemeClr val="tx2"/>
              </a:solidFill>
              <a:ea typeface="ＭＳ Ｐゴシック" pitchFamily="34" charset="-128"/>
            </a:endParaRPr>
          </a:p>
          <a:p>
            <a:endParaRPr lang="en-AU" sz="2400" b="1" i="1" dirty="0" smtClean="0">
              <a:solidFill>
                <a:schemeClr val="tx2"/>
              </a:solidFill>
              <a:ea typeface="ＭＳ Ｐゴシック" pitchFamily="34" charset="-128"/>
            </a:endParaRPr>
          </a:p>
          <a:p>
            <a:pPr>
              <a:buNone/>
            </a:pPr>
            <a:endParaRPr lang="en-AU" sz="2400" b="1" i="1" dirty="0" smtClean="0">
              <a:solidFill>
                <a:schemeClr val="tx2"/>
              </a:solidFill>
              <a:ea typeface="ＭＳ Ｐゴシック" pitchFamily="34" charset="-128"/>
            </a:endParaRPr>
          </a:p>
          <a:p>
            <a:endParaRPr lang="en-AU" sz="2400" b="1" i="1" dirty="0" smtClean="0">
              <a:solidFill>
                <a:schemeClr val="tx2"/>
              </a:solidFill>
              <a:ea typeface="ＭＳ Ｐゴシック" pitchFamily="34" charset="-128"/>
            </a:endParaRPr>
          </a:p>
          <a:p>
            <a:pPr algn="ctr">
              <a:buNone/>
            </a:pPr>
            <a:r>
              <a:rPr lang="en-AU" sz="2500" i="1" dirty="0" smtClean="0">
                <a:solidFill>
                  <a:schemeClr val="tx2"/>
                </a:solidFill>
              </a:rPr>
              <a:t>So, what are the characteristics of drink driving offenders? </a:t>
            </a:r>
          </a:p>
          <a:p>
            <a:endParaRPr lang="en-AU" dirty="0"/>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712968" cy="1143000"/>
          </a:xfrm>
        </p:spPr>
        <p:txBody>
          <a:bodyPr/>
          <a:lstStyle/>
          <a:p>
            <a:r>
              <a:rPr lang="en-AU" sz="4000" dirty="0" smtClean="0">
                <a:solidFill>
                  <a:schemeClr val="tx2"/>
                </a:solidFill>
              </a:rPr>
              <a:t>All </a:t>
            </a:r>
            <a:r>
              <a:rPr lang="en-AU" sz="4000" dirty="0" smtClean="0">
                <a:solidFill>
                  <a:schemeClr val="tx2"/>
                </a:solidFill>
              </a:rPr>
              <a:t>Offender </a:t>
            </a:r>
            <a:r>
              <a:rPr lang="en-AU" sz="4000" dirty="0" smtClean="0">
                <a:solidFill>
                  <a:schemeClr val="tx2"/>
                </a:solidFill>
              </a:rPr>
              <a:t>Characteristics</a:t>
            </a:r>
            <a:endParaRPr lang="en-AU" sz="4000" dirty="0">
              <a:solidFill>
                <a:schemeClr val="tx2"/>
              </a:solidFill>
            </a:endParaRPr>
          </a:p>
        </p:txBody>
      </p:sp>
      <p:sp>
        <p:nvSpPr>
          <p:cNvPr id="3" name="Content Placeholder 2"/>
          <p:cNvSpPr>
            <a:spLocks noGrp="1"/>
          </p:cNvSpPr>
          <p:nvPr>
            <p:ph idx="1"/>
          </p:nvPr>
        </p:nvSpPr>
        <p:spPr>
          <a:xfrm>
            <a:off x="457200" y="1571612"/>
            <a:ext cx="8229600" cy="4554551"/>
          </a:xfrm>
        </p:spPr>
        <p:txBody>
          <a:bodyPr/>
          <a:lstStyle/>
          <a:p>
            <a:pPr>
              <a:lnSpc>
                <a:spcPct val="90000"/>
              </a:lnSpc>
              <a:buNone/>
            </a:pPr>
            <a:r>
              <a:rPr lang="en-AU" sz="2800" dirty="0" smtClean="0">
                <a:solidFill>
                  <a:schemeClr val="tx2"/>
                </a:solidFill>
              </a:rPr>
              <a:t>Leal et al., (2006) found tha</a:t>
            </a:r>
            <a:r>
              <a:rPr lang="en-AU" sz="2800" dirty="0" smtClean="0">
                <a:solidFill>
                  <a:schemeClr val="tx2"/>
                </a:solidFill>
              </a:rPr>
              <a:t>t offenders were</a:t>
            </a:r>
            <a:r>
              <a:rPr lang="en-AU" sz="2800" dirty="0" smtClean="0">
                <a:solidFill>
                  <a:schemeClr val="tx2"/>
                </a:solidFill>
              </a:rPr>
              <a:t>:</a:t>
            </a:r>
          </a:p>
          <a:p>
            <a:pPr>
              <a:lnSpc>
                <a:spcPct val="90000"/>
              </a:lnSpc>
              <a:buNone/>
            </a:pPr>
            <a:endParaRPr lang="en-AU" sz="600" dirty="0" smtClean="0">
              <a:solidFill>
                <a:schemeClr val="tx2"/>
              </a:solidFill>
            </a:endParaRPr>
          </a:p>
          <a:p>
            <a:pPr>
              <a:lnSpc>
                <a:spcPct val="90000"/>
              </a:lnSpc>
              <a:buFont typeface="Arial" pitchFamily="34" charset="0"/>
              <a:buChar char="•"/>
            </a:pPr>
            <a:r>
              <a:rPr lang="en-AU" sz="2800" dirty="0" smtClean="0">
                <a:solidFill>
                  <a:schemeClr val="tx2"/>
                </a:solidFill>
              </a:rPr>
              <a:t>Male</a:t>
            </a:r>
            <a:r>
              <a:rPr lang="en-AU" sz="2800" dirty="0" smtClean="0">
                <a:solidFill>
                  <a:schemeClr val="tx2"/>
                </a:solidFill>
              </a:rPr>
              <a:t>, under 35</a:t>
            </a:r>
          </a:p>
          <a:p>
            <a:pPr>
              <a:lnSpc>
                <a:spcPct val="90000"/>
              </a:lnSpc>
              <a:buFont typeface="Arial" pitchFamily="34" charset="0"/>
              <a:buChar char="•"/>
            </a:pPr>
            <a:r>
              <a:rPr lang="en-AU" sz="2800" dirty="0" smtClean="0">
                <a:solidFill>
                  <a:schemeClr val="tx2"/>
                </a:solidFill>
              </a:rPr>
              <a:t>Holder of provisional or open licence (but, novice </a:t>
            </a:r>
            <a:r>
              <a:rPr lang="en-AU" sz="2800" dirty="0" smtClean="0">
                <a:solidFill>
                  <a:schemeClr val="tx2"/>
                </a:solidFill>
              </a:rPr>
              <a:t>drivers who have a no alcohol restriction </a:t>
            </a:r>
            <a:r>
              <a:rPr lang="en-AU" sz="2800" dirty="0" smtClean="0">
                <a:solidFill>
                  <a:schemeClr val="tx2"/>
                </a:solidFill>
              </a:rPr>
              <a:t>are over-represented)</a:t>
            </a:r>
          </a:p>
          <a:p>
            <a:pPr>
              <a:lnSpc>
                <a:spcPct val="90000"/>
              </a:lnSpc>
              <a:buFont typeface="Arial" pitchFamily="34" charset="0"/>
              <a:buChar char="•"/>
            </a:pPr>
            <a:r>
              <a:rPr lang="en-AU" sz="2800" dirty="0" smtClean="0">
                <a:solidFill>
                  <a:schemeClr val="tx2"/>
                </a:solidFill>
              </a:rPr>
              <a:t>Self report drink driving at least once in the last 6 months</a:t>
            </a:r>
          </a:p>
          <a:p>
            <a:pPr>
              <a:lnSpc>
                <a:spcPct val="90000"/>
              </a:lnSpc>
              <a:buFont typeface="Arial" pitchFamily="34" charset="0"/>
              <a:buChar char="•"/>
            </a:pPr>
            <a:r>
              <a:rPr lang="en-AU" sz="2800" dirty="0" smtClean="0">
                <a:solidFill>
                  <a:schemeClr val="tx2"/>
                </a:solidFill>
              </a:rPr>
              <a:t>Average BAC of 0.1</a:t>
            </a:r>
          </a:p>
          <a:p>
            <a:endParaRPr lang="en-AU" sz="1800" i="1" dirty="0" smtClean="0">
              <a:solidFill>
                <a:schemeClr val="tx2"/>
              </a:solidFill>
            </a:endParaRPr>
          </a:p>
          <a:p>
            <a:pPr algn="ctr">
              <a:buNone/>
            </a:pPr>
            <a:r>
              <a:rPr lang="en-AU" sz="2500" i="1" dirty="0" smtClean="0">
                <a:solidFill>
                  <a:schemeClr val="tx2"/>
                </a:solidFill>
              </a:rPr>
              <a:t>But what are the characteristics of ‘first offenders’?</a:t>
            </a:r>
            <a:endParaRPr lang="en-AU" sz="2500" i="1" dirty="0">
              <a:solidFill>
                <a:schemeClr val="tx2"/>
              </a:solidFill>
            </a:endParaRPr>
          </a:p>
        </p:txBody>
      </p:sp>
    </p:spTree>
  </p:cSld>
  <p:clrMapOvr>
    <a:overrideClrMapping bg1="lt1" tx1="dk1" bg2="lt2" tx2="dk2" accent1="accent1" accent2="accent2" accent3="accent3" accent4="accent4" accent5="accent5" accent6="accent6" hlink="hlink" folHlink="folHlink"/>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First offender characteristics</a:t>
            </a:r>
            <a:endParaRPr lang="en-AU" dirty="0">
              <a:solidFill>
                <a:schemeClr val="tx2"/>
              </a:solidFill>
            </a:endParaRPr>
          </a:p>
        </p:txBody>
      </p:sp>
      <p:sp>
        <p:nvSpPr>
          <p:cNvPr id="3" name="Content Placeholder 2"/>
          <p:cNvSpPr>
            <a:spLocks noGrp="1"/>
          </p:cNvSpPr>
          <p:nvPr>
            <p:ph idx="1"/>
          </p:nvPr>
        </p:nvSpPr>
        <p:spPr>
          <a:xfrm>
            <a:off x="457200" y="1714488"/>
            <a:ext cx="8229600" cy="4229113"/>
          </a:xfrm>
        </p:spPr>
        <p:txBody>
          <a:bodyPr/>
          <a:lstStyle/>
          <a:p>
            <a:pPr marL="0" indent="-457200" eaLnBrk="1" hangingPunct="1">
              <a:buFontTx/>
              <a:buChar char="•"/>
            </a:pPr>
            <a:r>
              <a:rPr lang="en-AU" sz="2800" dirty="0" smtClean="0">
                <a:solidFill>
                  <a:schemeClr val="tx2"/>
                </a:solidFill>
              </a:rPr>
              <a:t>Not a lot is known about this 	group </a:t>
            </a:r>
            <a:r>
              <a:rPr lang="en-AU" sz="2800" dirty="0" smtClean="0">
                <a:solidFill>
                  <a:schemeClr val="tx2"/>
                </a:solidFill>
              </a:rPr>
              <a:t>in	Australia</a:t>
            </a:r>
            <a:endParaRPr lang="en-AU" sz="2800" dirty="0" smtClean="0">
              <a:solidFill>
                <a:schemeClr val="tx2"/>
              </a:solidFill>
            </a:endParaRPr>
          </a:p>
          <a:p>
            <a:pPr marL="0" indent="-457200" eaLnBrk="1" hangingPunct="1">
              <a:buFontTx/>
              <a:buChar char="•"/>
            </a:pPr>
            <a:r>
              <a:rPr lang="en-AU" sz="2800" dirty="0" smtClean="0">
                <a:solidFill>
                  <a:schemeClr val="tx2"/>
                </a:solidFill>
              </a:rPr>
              <a:t>Largest group of drink driving </a:t>
            </a:r>
            <a:r>
              <a:rPr lang="en-AU" sz="2800" dirty="0" smtClean="0">
                <a:solidFill>
                  <a:schemeClr val="tx2"/>
                </a:solidFill>
              </a:rPr>
              <a:t>offenders 	(approx. </a:t>
            </a:r>
            <a:r>
              <a:rPr lang="en-AU" sz="2800" dirty="0" smtClean="0">
                <a:solidFill>
                  <a:schemeClr val="tx2"/>
                </a:solidFill>
              </a:rPr>
              <a:t>75%) </a:t>
            </a:r>
            <a:endParaRPr lang="en-AU" sz="2800" dirty="0" smtClean="0">
              <a:solidFill>
                <a:schemeClr val="tx2"/>
              </a:solidFill>
            </a:endParaRPr>
          </a:p>
          <a:p>
            <a:pPr marL="0" indent="-457200" eaLnBrk="1" hangingPunct="1">
              <a:buFontTx/>
              <a:buChar char="•"/>
            </a:pPr>
            <a:r>
              <a:rPr lang="en-AU" sz="2800" dirty="0" smtClean="0">
                <a:solidFill>
                  <a:schemeClr val="tx2"/>
                </a:solidFill>
              </a:rPr>
              <a:t>15</a:t>
            </a:r>
            <a:r>
              <a:rPr lang="en-AU" sz="2800" dirty="0" smtClean="0">
                <a:solidFill>
                  <a:schemeClr val="tx2"/>
                </a:solidFill>
              </a:rPr>
              <a:t>% go on to become repeat offenders in a </a:t>
            </a:r>
            <a:r>
              <a:rPr lang="en-AU" sz="2800" dirty="0" smtClean="0">
                <a:solidFill>
                  <a:schemeClr val="tx2"/>
                </a:solidFill>
              </a:rPr>
              <a:t>3 	year period</a:t>
            </a:r>
            <a:endParaRPr lang="en-AU" sz="2800" dirty="0" smtClean="0">
              <a:solidFill>
                <a:schemeClr val="tx2"/>
              </a:solidFill>
            </a:endParaRPr>
          </a:p>
          <a:p>
            <a:pPr marL="0" indent="-457200" eaLnBrk="1" hangingPunct="1">
              <a:buFontTx/>
              <a:buChar char="•"/>
            </a:pPr>
            <a:r>
              <a:rPr lang="en-AU" sz="2800" dirty="0" smtClean="0">
                <a:solidFill>
                  <a:schemeClr val="tx2"/>
                </a:solidFill>
              </a:rPr>
              <a:t>May be heterogeneous group</a:t>
            </a:r>
          </a:p>
          <a:p>
            <a:pPr marL="0" indent="-457200" eaLnBrk="1" hangingPunct="1">
              <a:buFontTx/>
              <a:buChar char="•"/>
            </a:pPr>
            <a:endParaRPr lang="en-AU" sz="2500" dirty="0" smtClean="0">
              <a:solidFill>
                <a:schemeClr val="tx2"/>
              </a:solidFill>
              <a:ea typeface="ＭＳ Ｐゴシック" pitchFamily="34" charset="-128"/>
            </a:endParaRPr>
          </a:p>
          <a:p>
            <a:pPr marL="0" indent="-457200" algn="ctr" eaLnBrk="1" hangingPunct="1">
              <a:buNone/>
            </a:pPr>
            <a:r>
              <a:rPr lang="en-AU" sz="2500" dirty="0" smtClean="0">
                <a:solidFill>
                  <a:schemeClr val="tx2"/>
                </a:solidFill>
                <a:ea typeface="ＭＳ Ｐゴシック" pitchFamily="34" charset="-128"/>
              </a:rPr>
              <a:t> </a:t>
            </a:r>
            <a:r>
              <a:rPr lang="en-AU" sz="2500" i="1" dirty="0" smtClean="0">
                <a:solidFill>
                  <a:schemeClr val="tx2"/>
                </a:solidFill>
              </a:rPr>
              <a:t>How many of these offenders are simply ‘first time caught?’</a:t>
            </a:r>
          </a:p>
          <a:p>
            <a:pPr marL="0" indent="0" eaLnBrk="1" hangingPunct="1">
              <a:buFontTx/>
              <a:buChar char="•"/>
            </a:pPr>
            <a:endParaRPr lang="en-AU" sz="2400" dirty="0" smtClean="0">
              <a:ea typeface="ＭＳ Ｐゴシック" pitchFamily="34" charset="-128"/>
            </a:endParaRPr>
          </a:p>
          <a:p>
            <a:pPr marL="0" indent="0" algn="ctr" eaLnBrk="1" hangingPunct="1">
              <a:buFontTx/>
              <a:buNone/>
            </a:pPr>
            <a:r>
              <a:rPr lang="en-AU" sz="2400" i="1" dirty="0" smtClean="0">
                <a:ea typeface="ＭＳ Ｐゴシック" pitchFamily="34" charset="-128"/>
              </a:rPr>
              <a:t> </a:t>
            </a:r>
          </a:p>
          <a:p>
            <a:endParaRPr lang="en-AU" dirty="0"/>
          </a:p>
        </p:txBody>
      </p:sp>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Research aims</a:t>
            </a:r>
            <a:endParaRPr lang="en-AU" dirty="0">
              <a:solidFill>
                <a:schemeClr val="tx2"/>
              </a:solidFill>
            </a:endParaRPr>
          </a:p>
        </p:txBody>
      </p:sp>
      <p:sp>
        <p:nvSpPr>
          <p:cNvPr id="3" name="Content Placeholder 2"/>
          <p:cNvSpPr>
            <a:spLocks noGrp="1"/>
          </p:cNvSpPr>
          <p:nvPr>
            <p:ph idx="1"/>
          </p:nvPr>
        </p:nvSpPr>
        <p:spPr/>
        <p:txBody>
          <a:bodyPr/>
          <a:lstStyle/>
          <a:p>
            <a:pPr>
              <a:buSzPct val="99000"/>
              <a:buFont typeface="Arial" pitchFamily="34" charset="0"/>
              <a:buChar char="•"/>
            </a:pPr>
            <a:r>
              <a:rPr lang="en-AU" sz="2400" dirty="0" smtClean="0">
                <a:solidFill>
                  <a:schemeClr val="tx2"/>
                </a:solidFill>
              </a:rPr>
              <a:t>Overall objective:- Determine the characteristics of first time drink driving offenders in Queensland.</a:t>
            </a:r>
          </a:p>
          <a:p>
            <a:pPr>
              <a:buSzPct val="99000"/>
              <a:buFont typeface="Arial" pitchFamily="34" charset="0"/>
              <a:buChar char="•"/>
            </a:pPr>
            <a:endParaRPr lang="en-AU" sz="2400" dirty="0" smtClean="0">
              <a:solidFill>
                <a:schemeClr val="tx2"/>
              </a:solidFill>
            </a:endParaRPr>
          </a:p>
          <a:p>
            <a:pPr>
              <a:buSzPct val="99000"/>
              <a:buFont typeface="Arial" pitchFamily="34" charset="0"/>
              <a:buChar char="•"/>
            </a:pPr>
            <a:r>
              <a:rPr lang="en-AU" sz="2400" dirty="0" smtClean="0">
                <a:solidFill>
                  <a:schemeClr val="tx2"/>
                </a:solidFill>
              </a:rPr>
              <a:t>Study aims:-</a:t>
            </a:r>
          </a:p>
          <a:p>
            <a:pPr lvl="1">
              <a:buSzPct val="99000"/>
              <a:buFont typeface="Wingdings" pitchFamily="2" charset="2"/>
              <a:buChar char="§"/>
            </a:pPr>
            <a:r>
              <a:rPr lang="en-AU" sz="2400" dirty="0" smtClean="0">
                <a:solidFill>
                  <a:schemeClr val="tx2"/>
                </a:solidFill>
              </a:rPr>
              <a:t>Determine by self report whether ‘first offenders’ are simply ‘first time caught’.</a:t>
            </a:r>
          </a:p>
          <a:p>
            <a:pPr lvl="1">
              <a:buSzPct val="99000"/>
              <a:buFont typeface="Wingdings" pitchFamily="2" charset="2"/>
              <a:buChar char="§"/>
            </a:pPr>
            <a:r>
              <a:rPr lang="en-AU" sz="2400" dirty="0" smtClean="0">
                <a:solidFill>
                  <a:schemeClr val="tx2"/>
                </a:solidFill>
              </a:rPr>
              <a:t>Identify key variables to determine what factors are significantly associated with past drink driving in the first offender group. </a:t>
            </a:r>
          </a:p>
          <a:p>
            <a:pPr lvl="1">
              <a:buSzPct val="99000"/>
              <a:buFont typeface="Wingdings" pitchFamily="2" charset="2"/>
              <a:buChar char="§"/>
            </a:pPr>
            <a:r>
              <a:rPr lang="en-AU" sz="2400" dirty="0" smtClean="0">
                <a:solidFill>
                  <a:schemeClr val="tx2"/>
                </a:solidFill>
              </a:rPr>
              <a:t>Identify, if any, significant predictors of past drink driving.</a:t>
            </a:r>
          </a:p>
          <a:p>
            <a:endParaRPr lang="en-AU" dirty="0" smtClean="0"/>
          </a:p>
          <a:p>
            <a:endParaRPr lang="en-AU" dirty="0"/>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Study methodology</a:t>
            </a:r>
            <a:endParaRPr lang="en-AU" dirty="0">
              <a:solidFill>
                <a:schemeClr val="tx2"/>
              </a:solidFill>
            </a:endParaRPr>
          </a:p>
        </p:txBody>
      </p:sp>
      <p:sp>
        <p:nvSpPr>
          <p:cNvPr id="3" name="Content Placeholder 2"/>
          <p:cNvSpPr>
            <a:spLocks noGrp="1"/>
          </p:cNvSpPr>
          <p:nvPr>
            <p:ph sz="half" idx="2"/>
          </p:nvPr>
        </p:nvSpPr>
        <p:spPr>
          <a:xfrm>
            <a:off x="457200" y="1417638"/>
            <a:ext cx="4040188" cy="4708525"/>
          </a:xfrm>
        </p:spPr>
        <p:txBody>
          <a:bodyPr/>
          <a:lstStyle/>
          <a:p>
            <a:pPr eaLnBrk="1" hangingPunct="1">
              <a:buFontTx/>
              <a:buChar char="•"/>
            </a:pPr>
            <a:r>
              <a:rPr lang="en-AU" dirty="0" smtClean="0">
                <a:solidFill>
                  <a:schemeClr val="tx2"/>
                </a:solidFill>
                <a:ea typeface="ＭＳ Ｐゴシック" pitchFamily="34" charset="-128"/>
                <a:cs typeface="ＭＳ Ｐゴシック" pitchFamily="-109" charset="-128"/>
              </a:rPr>
              <a:t>Offenders </a:t>
            </a:r>
            <a:r>
              <a:rPr lang="en-AU" dirty="0" smtClean="0">
                <a:solidFill>
                  <a:schemeClr val="tx2"/>
                </a:solidFill>
                <a:ea typeface="ＭＳ Ｐゴシック" pitchFamily="34" charset="-128"/>
                <a:cs typeface="ＭＳ Ｐゴシック" pitchFamily="-109" charset="-128"/>
              </a:rPr>
              <a:t>interviewed </a:t>
            </a:r>
            <a:r>
              <a:rPr lang="en-AU" dirty="0" smtClean="0">
                <a:solidFill>
                  <a:schemeClr val="tx2"/>
                </a:solidFill>
                <a:ea typeface="ＭＳ Ｐゴシック" pitchFamily="34" charset="-128"/>
                <a:cs typeface="ＭＳ Ｐゴシック" pitchFamily="-109" charset="-128"/>
              </a:rPr>
              <a:t>in court directly </a:t>
            </a:r>
            <a:r>
              <a:rPr lang="en-AU" dirty="0" smtClean="0">
                <a:solidFill>
                  <a:schemeClr val="tx2"/>
                </a:solidFill>
                <a:ea typeface="ＭＳ Ｐゴシック" pitchFamily="34" charset="-128"/>
                <a:cs typeface="ＭＳ Ｐゴシック" pitchFamily="-109" charset="-128"/>
              </a:rPr>
              <a:t>following index </a:t>
            </a:r>
            <a:r>
              <a:rPr lang="en-AU" dirty="0" smtClean="0">
                <a:solidFill>
                  <a:schemeClr val="tx2"/>
                </a:solidFill>
                <a:ea typeface="ＭＳ Ｐゴシック" pitchFamily="34" charset="-128"/>
              </a:rPr>
              <a:t>offence – </a:t>
            </a:r>
            <a:endParaRPr lang="en-AU" dirty="0" smtClean="0">
              <a:solidFill>
                <a:schemeClr val="tx2"/>
              </a:solidFill>
              <a:ea typeface="ＭＳ Ｐゴシック" pitchFamily="34" charset="-128"/>
              <a:cs typeface="ＭＳ Ｐゴシック" pitchFamily="-109" charset="-128"/>
            </a:endParaRPr>
          </a:p>
          <a:p>
            <a:pPr lvl="2" eaLnBrk="1" hangingPunct="1">
              <a:buFontTx/>
              <a:buChar char="•"/>
            </a:pPr>
            <a:r>
              <a:rPr lang="en-AU" dirty="0" smtClean="0">
                <a:solidFill>
                  <a:schemeClr val="tx2"/>
                </a:solidFill>
                <a:ea typeface="ＭＳ Ｐゴシック" pitchFamily="34" charset="-128"/>
                <a:cs typeface="ＭＳ Ｐゴシック" pitchFamily="-109" charset="-128"/>
              </a:rPr>
              <a:t>Brisbane (Metropolitan - </a:t>
            </a:r>
            <a:r>
              <a:rPr lang="en-AU" dirty="0" smtClean="0">
                <a:solidFill>
                  <a:schemeClr val="tx2"/>
                </a:solidFill>
                <a:ea typeface="ＭＳ Ｐゴシック" pitchFamily="34" charset="-128"/>
                <a:cs typeface="ＭＳ Ｐゴシック" pitchFamily="-109" charset="-128"/>
              </a:rPr>
              <a:t>168 </a:t>
            </a:r>
            <a:r>
              <a:rPr lang="en-AU" dirty="0" smtClean="0">
                <a:solidFill>
                  <a:schemeClr val="tx2"/>
                </a:solidFill>
                <a:ea typeface="ＭＳ Ｐゴシック" pitchFamily="34" charset="-128"/>
                <a:cs typeface="ＭＳ Ｐゴシック" pitchFamily="-109" charset="-128"/>
              </a:rPr>
              <a:t>offenders)</a:t>
            </a:r>
          </a:p>
          <a:p>
            <a:pPr lvl="2" eaLnBrk="1" hangingPunct="1">
              <a:buFontTx/>
              <a:buChar char="•"/>
            </a:pPr>
            <a:r>
              <a:rPr lang="en-AU" dirty="0" smtClean="0">
                <a:solidFill>
                  <a:schemeClr val="tx2"/>
                </a:solidFill>
                <a:ea typeface="ＭＳ Ｐゴシック" pitchFamily="34" charset="-128"/>
                <a:cs typeface="ＭＳ Ｐゴシック" pitchFamily="-109" charset="-128"/>
              </a:rPr>
              <a:t>Maroochydore (Regional - </a:t>
            </a:r>
            <a:r>
              <a:rPr lang="en-AU" dirty="0" smtClean="0">
                <a:solidFill>
                  <a:schemeClr val="tx2"/>
                </a:solidFill>
                <a:ea typeface="ＭＳ Ｐゴシック" pitchFamily="34" charset="-128"/>
                <a:cs typeface="ＭＳ Ｐゴシック" pitchFamily="-109" charset="-128"/>
              </a:rPr>
              <a:t>33 </a:t>
            </a:r>
            <a:r>
              <a:rPr lang="en-AU" dirty="0" smtClean="0">
                <a:solidFill>
                  <a:schemeClr val="tx2"/>
                </a:solidFill>
                <a:ea typeface="ＭＳ Ｐゴシック" pitchFamily="34" charset="-128"/>
                <a:cs typeface="ＭＳ Ｐゴシック" pitchFamily="-109" charset="-128"/>
              </a:rPr>
              <a:t>offenders)</a:t>
            </a:r>
          </a:p>
          <a:p>
            <a:pPr eaLnBrk="1" hangingPunct="1">
              <a:buFontTx/>
              <a:buChar char="•"/>
            </a:pPr>
            <a:r>
              <a:rPr lang="en-AU" dirty="0" smtClean="0">
                <a:solidFill>
                  <a:schemeClr val="tx2"/>
                </a:solidFill>
                <a:ea typeface="ＭＳ Ｐゴシック" pitchFamily="34" charset="-128"/>
                <a:cs typeface="ＭＳ Ｐゴシック" pitchFamily="-109" charset="-128"/>
              </a:rPr>
              <a:t>Interview </a:t>
            </a:r>
            <a:r>
              <a:rPr lang="en-AU" dirty="0" smtClean="0">
                <a:solidFill>
                  <a:schemeClr val="tx2"/>
                </a:solidFill>
                <a:ea typeface="ＭＳ Ｐゴシック" pitchFamily="34" charset="-128"/>
                <a:cs typeface="ＭＳ Ｐゴシック" pitchFamily="-109" charset="-128"/>
              </a:rPr>
              <a:t>schedule – </a:t>
            </a:r>
          </a:p>
          <a:p>
            <a:pPr lvl="2" eaLnBrk="1" hangingPunct="1"/>
            <a:r>
              <a:rPr lang="en-AU" dirty="0" smtClean="0">
                <a:solidFill>
                  <a:schemeClr val="tx2"/>
                </a:solidFill>
                <a:ea typeface="ＭＳ Ｐゴシック" pitchFamily="34" charset="-128"/>
                <a:cs typeface="ＭＳ Ｐゴシック" pitchFamily="-109" charset="-128"/>
              </a:rPr>
              <a:t>Demographic characteristics</a:t>
            </a:r>
          </a:p>
          <a:p>
            <a:pPr lvl="2" eaLnBrk="1" hangingPunct="1"/>
            <a:r>
              <a:rPr lang="en-AU" dirty="0" smtClean="0">
                <a:solidFill>
                  <a:schemeClr val="tx2"/>
                </a:solidFill>
                <a:ea typeface="ＭＳ Ｐゴシック" pitchFamily="34" charset="-128"/>
                <a:cs typeface="ＭＳ Ｐゴシック" pitchFamily="-109" charset="-128"/>
              </a:rPr>
              <a:t>Offence information</a:t>
            </a:r>
          </a:p>
          <a:p>
            <a:pPr lvl="2" eaLnBrk="1" hangingPunct="1"/>
            <a:r>
              <a:rPr lang="en-AU" dirty="0" smtClean="0">
                <a:solidFill>
                  <a:schemeClr val="tx2"/>
                </a:solidFill>
                <a:ea typeface="ＭＳ Ｐゴシック" pitchFamily="34" charset="-128"/>
                <a:cs typeface="ＭＳ Ｐゴシック" pitchFamily="-109" charset="-128"/>
              </a:rPr>
              <a:t>Drink driving history</a:t>
            </a:r>
          </a:p>
          <a:p>
            <a:pPr lvl="2" eaLnBrk="1" hangingPunct="1"/>
            <a:r>
              <a:rPr lang="en-AU" dirty="0" smtClean="0">
                <a:solidFill>
                  <a:schemeClr val="tx2"/>
                </a:solidFill>
                <a:ea typeface="ＭＳ Ｐゴシック" pitchFamily="34" charset="-128"/>
                <a:cs typeface="ＭＳ Ｐゴシック" pitchFamily="-109" charset="-128"/>
              </a:rPr>
              <a:t>Alcohol use (AUDIT)</a:t>
            </a:r>
          </a:p>
          <a:p>
            <a:endParaRPr lang="en-AU" dirty="0" smtClean="0"/>
          </a:p>
          <a:p>
            <a:endParaRPr lang="en-AU" dirty="0"/>
          </a:p>
        </p:txBody>
      </p:sp>
      <p:sp>
        <p:nvSpPr>
          <p:cNvPr id="4" name="TextBox 3"/>
          <p:cNvSpPr txBox="1"/>
          <p:nvPr/>
        </p:nvSpPr>
        <p:spPr>
          <a:xfrm>
            <a:off x="7668344" y="1417638"/>
            <a:ext cx="1018456" cy="369332"/>
          </a:xfrm>
          <a:prstGeom prst="rect">
            <a:avLst/>
          </a:prstGeom>
          <a:noFill/>
        </p:spPr>
        <p:txBody>
          <a:bodyPr wrap="square" rtlCol="0">
            <a:spAutoFit/>
          </a:bodyPr>
          <a:lstStyle/>
          <a:p>
            <a:endParaRPr lang="en-AU" dirty="0"/>
          </a:p>
        </p:txBody>
      </p:sp>
      <p:pic>
        <p:nvPicPr>
          <p:cNvPr id="20482" name="Picture 2" descr="http://www.micktravels.com/australia/images/queensland_map.jpg"/>
          <p:cNvPicPr>
            <a:picLocks noGrp="1" noChangeAspect="1" noChangeArrowheads="1"/>
          </p:cNvPicPr>
          <p:nvPr>
            <p:ph sz="quarter" idx="4"/>
          </p:nvPr>
        </p:nvPicPr>
        <p:blipFill>
          <a:blip r:embed="rId3"/>
          <a:srcRect/>
          <a:stretch>
            <a:fillRect/>
          </a:stretch>
        </p:blipFill>
        <p:spPr bwMode="auto">
          <a:xfrm>
            <a:off x="4497389" y="1417638"/>
            <a:ext cx="4375020" cy="4998631"/>
          </a:xfrm>
          <a:prstGeom prst="rect">
            <a:avLst/>
          </a:prstGeom>
          <a:noFill/>
        </p:spPr>
      </p:pic>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AU" dirty="0" smtClean="0">
                <a:solidFill>
                  <a:schemeClr val="tx2"/>
                </a:solidFill>
              </a:rPr>
              <a:t>Sample characteristics</a:t>
            </a:r>
            <a:endParaRPr lang="en-AU" dirty="0">
              <a:solidFill>
                <a:schemeClr val="tx2"/>
              </a:solidFill>
            </a:endParaRPr>
          </a:p>
        </p:txBody>
      </p:sp>
      <p:sp>
        <p:nvSpPr>
          <p:cNvPr id="3" name="Content Placeholder 2"/>
          <p:cNvSpPr>
            <a:spLocks noGrp="1"/>
          </p:cNvSpPr>
          <p:nvPr>
            <p:ph idx="1"/>
          </p:nvPr>
        </p:nvSpPr>
        <p:spPr>
          <a:xfrm>
            <a:off x="285720" y="1268760"/>
            <a:ext cx="8572560" cy="4803445"/>
          </a:xfrm>
        </p:spPr>
        <p:txBody>
          <a:bodyPr/>
          <a:lstStyle/>
          <a:p>
            <a:r>
              <a:rPr lang="en-AU" sz="2500" dirty="0" smtClean="0">
                <a:solidFill>
                  <a:schemeClr val="tx2"/>
                </a:solidFill>
              </a:rPr>
              <a:t>Offenders </a:t>
            </a:r>
            <a:r>
              <a:rPr lang="en-AU" sz="2500" dirty="0" smtClean="0">
                <a:solidFill>
                  <a:schemeClr val="tx2"/>
                </a:solidFill>
              </a:rPr>
              <a:t>in the </a:t>
            </a:r>
            <a:r>
              <a:rPr lang="en-AU" sz="2500" dirty="0" smtClean="0">
                <a:solidFill>
                  <a:schemeClr val="tx2"/>
                </a:solidFill>
              </a:rPr>
              <a:t>sample:</a:t>
            </a:r>
            <a:endParaRPr lang="en-AU" sz="2500" dirty="0" smtClean="0">
              <a:solidFill>
                <a:schemeClr val="tx2"/>
              </a:solidFill>
            </a:endParaRPr>
          </a:p>
          <a:p>
            <a:pPr lvl="1"/>
            <a:r>
              <a:rPr lang="en-AU" sz="2400" dirty="0" smtClean="0">
                <a:solidFill>
                  <a:schemeClr val="tx2"/>
                </a:solidFill>
              </a:rPr>
              <a:t>Male (74%)</a:t>
            </a:r>
          </a:p>
          <a:p>
            <a:pPr lvl="1"/>
            <a:r>
              <a:rPr lang="en-AU" sz="2400" dirty="0" smtClean="0">
                <a:solidFill>
                  <a:schemeClr val="tx2"/>
                </a:solidFill>
              </a:rPr>
              <a:t>Average age of 29 (</a:t>
            </a:r>
            <a:r>
              <a:rPr lang="en-AU" sz="2400" i="1" dirty="0" smtClean="0">
                <a:solidFill>
                  <a:schemeClr val="tx2"/>
                </a:solidFill>
              </a:rPr>
              <a:t>SD</a:t>
            </a:r>
            <a:r>
              <a:rPr lang="en-AU" sz="2400" dirty="0" smtClean="0">
                <a:solidFill>
                  <a:schemeClr val="tx2"/>
                </a:solidFill>
              </a:rPr>
              <a:t>=9.93</a:t>
            </a:r>
            <a:r>
              <a:rPr lang="en-AU" sz="2400" dirty="0" smtClean="0">
                <a:solidFill>
                  <a:schemeClr val="tx2"/>
                </a:solidFill>
              </a:rPr>
              <a:t>) </a:t>
            </a:r>
            <a:endParaRPr lang="en-AU" sz="2400" dirty="0" smtClean="0">
              <a:solidFill>
                <a:schemeClr val="tx2"/>
              </a:solidFill>
            </a:endParaRPr>
          </a:p>
          <a:p>
            <a:pPr lvl="1"/>
            <a:r>
              <a:rPr lang="en-AU" sz="2400" dirty="0" smtClean="0">
                <a:solidFill>
                  <a:schemeClr val="tx2"/>
                </a:solidFill>
              </a:rPr>
              <a:t>Single </a:t>
            </a:r>
            <a:r>
              <a:rPr lang="en-AU" sz="2400" dirty="0" smtClean="0">
                <a:solidFill>
                  <a:schemeClr val="tx2"/>
                </a:solidFill>
              </a:rPr>
              <a:t>(71</a:t>
            </a:r>
            <a:r>
              <a:rPr lang="en-AU" sz="2400" dirty="0" smtClean="0">
                <a:solidFill>
                  <a:schemeClr val="tx2"/>
                </a:solidFill>
              </a:rPr>
              <a:t>%)</a:t>
            </a:r>
            <a:endParaRPr lang="en-AU" sz="2400" dirty="0" smtClean="0">
              <a:solidFill>
                <a:schemeClr val="tx2"/>
              </a:solidFill>
            </a:endParaRPr>
          </a:p>
          <a:p>
            <a:pPr lvl="1"/>
            <a:r>
              <a:rPr lang="en-AU" sz="2400" dirty="0" smtClean="0">
                <a:solidFill>
                  <a:schemeClr val="tx2"/>
                </a:solidFill>
              </a:rPr>
              <a:t>Education </a:t>
            </a:r>
            <a:r>
              <a:rPr lang="en-AU" sz="2400" dirty="0" smtClean="0">
                <a:solidFill>
                  <a:schemeClr val="tx2"/>
                </a:solidFill>
              </a:rPr>
              <a:t>(80% at least </a:t>
            </a:r>
            <a:r>
              <a:rPr lang="en-AU" sz="2400" dirty="0" smtClean="0">
                <a:solidFill>
                  <a:schemeClr val="tx2"/>
                </a:solidFill>
              </a:rPr>
              <a:t>seconda</a:t>
            </a:r>
            <a:r>
              <a:rPr lang="en-AU" sz="2400" dirty="0" smtClean="0">
                <a:solidFill>
                  <a:schemeClr val="tx2"/>
                </a:solidFill>
              </a:rPr>
              <a:t>ry </a:t>
            </a:r>
            <a:r>
              <a:rPr lang="en-AU" sz="2400" dirty="0" smtClean="0">
                <a:solidFill>
                  <a:schemeClr val="tx2"/>
                </a:solidFill>
              </a:rPr>
              <a:t>school)</a:t>
            </a:r>
          </a:p>
          <a:p>
            <a:pPr lvl="1"/>
            <a:r>
              <a:rPr lang="en-AU" sz="2400" dirty="0" smtClean="0">
                <a:solidFill>
                  <a:schemeClr val="tx2"/>
                </a:solidFill>
              </a:rPr>
              <a:t>Employed </a:t>
            </a:r>
            <a:r>
              <a:rPr lang="en-AU" sz="2400" dirty="0" smtClean="0">
                <a:solidFill>
                  <a:schemeClr val="tx2"/>
                </a:solidFill>
              </a:rPr>
              <a:t>(76%)</a:t>
            </a:r>
          </a:p>
          <a:p>
            <a:pPr lvl="1"/>
            <a:r>
              <a:rPr lang="en-AU" sz="2400" dirty="0" smtClean="0">
                <a:solidFill>
                  <a:schemeClr val="tx2"/>
                </a:solidFill>
              </a:rPr>
              <a:t>Experienced drivers (50% over 10 years)</a:t>
            </a:r>
          </a:p>
          <a:p>
            <a:pPr lvl="1"/>
            <a:r>
              <a:rPr lang="en-AU" sz="2400" dirty="0" smtClean="0">
                <a:solidFill>
                  <a:schemeClr val="tx2"/>
                </a:solidFill>
              </a:rPr>
              <a:t>Apprehended by random breath testing (RBT) (70%)</a:t>
            </a:r>
          </a:p>
          <a:p>
            <a:pPr lvl="1"/>
            <a:r>
              <a:rPr lang="en-AU" sz="2400" dirty="0" smtClean="0">
                <a:solidFill>
                  <a:schemeClr val="tx2"/>
                </a:solidFill>
              </a:rPr>
              <a:t>Risky drinkers (80%)</a:t>
            </a:r>
          </a:p>
          <a:p>
            <a:pPr lvl="1"/>
            <a:endParaRPr lang="en-AU" sz="500" dirty="0" smtClean="0">
              <a:solidFill>
                <a:schemeClr val="tx2"/>
              </a:solidFill>
            </a:endParaRPr>
          </a:p>
          <a:p>
            <a:pPr lvl="1"/>
            <a:endParaRPr lang="en-AU" sz="500" dirty="0" smtClean="0">
              <a:solidFill>
                <a:schemeClr val="tx2"/>
              </a:solidFill>
            </a:endParaRPr>
          </a:p>
          <a:p>
            <a:pPr lvl="1" algn="ctr">
              <a:buNone/>
            </a:pPr>
            <a:r>
              <a:rPr lang="en-AU" sz="2500" i="1" dirty="0" smtClean="0">
                <a:solidFill>
                  <a:schemeClr val="tx2"/>
                </a:solidFill>
                <a:cs typeface="ＭＳ Ｐゴシック" pitchFamily="-109" charset="-128"/>
              </a:rPr>
              <a:t>And as predicted... ‘first time caught’</a:t>
            </a:r>
          </a:p>
          <a:p>
            <a:pPr lvl="1"/>
            <a:endParaRPr lang="en-AU" dirty="0" smtClean="0"/>
          </a:p>
          <a:p>
            <a:pPr lvl="1"/>
            <a:endParaRPr lang="en-AU" dirty="0" smtClean="0"/>
          </a:p>
        </p:txBody>
      </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3600" dirty="0" smtClean="0">
                <a:solidFill>
                  <a:schemeClr val="tx2"/>
                </a:solidFill>
              </a:rPr>
              <a:t>Self reported drink driving in the six months prior to offence</a:t>
            </a:r>
            <a:endParaRPr lang="en-AU" sz="3600" dirty="0">
              <a:solidFill>
                <a:schemeClr val="tx2"/>
              </a:solidFill>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graphicEl>
                                              <a:chart seriesIdx="-3" categoryIdx="-3" bldStep="gridLegend"/>
                                            </p:graphicEl>
                                          </p:spTgt>
                                        </p:tgtEl>
                                        <p:attrNameLst>
                                          <p:attrName>style.visibility</p:attrName>
                                        </p:attrNameLst>
                                      </p:cBhvr>
                                      <p:to>
                                        <p:strVal val="visible"/>
                                      </p:to>
                                    </p:set>
                                    <p:animEffect transition="in" filter="fade">
                                      <p:cBhvr>
                                        <p:cTn id="7" dur="3000"/>
                                        <p:tgtEl>
                                          <p:spTgt spid="4">
                                            <p:graphicEl>
                                              <a:chart seriesIdx="-3" categoryIdx="-3" bldStep="gridLegend"/>
                                            </p:graphicEl>
                                          </p:spTgt>
                                        </p:tgtEl>
                                      </p:cBhvr>
                                    </p:animEffect>
                                  </p:childTnLst>
                                </p:cTn>
                              </p:par>
                            </p:childTnLst>
                          </p:cTn>
                        </p:par>
                        <p:par>
                          <p:cTn id="8" fill="hold">
                            <p:stCondLst>
                              <p:cond delay="3000"/>
                            </p:stCondLst>
                            <p:childTnLst>
                              <p:par>
                                <p:cTn id="9" presetID="10" presetClass="entr" presetSubtype="0" fill="hold" grpId="0" nodeType="afterEffect">
                                  <p:stCondLst>
                                    <p:cond delay="0"/>
                                  </p:stCondLst>
                                  <p:childTnLst>
                                    <p:set>
                                      <p:cBhvr>
                                        <p:cTn id="10" dur="1" fill="hold">
                                          <p:stCondLst>
                                            <p:cond delay="0"/>
                                          </p:stCondLst>
                                        </p:cTn>
                                        <p:tgtEl>
                                          <p:spTgt spid="4">
                                            <p:graphicEl>
                                              <a:chart seriesIdx="-4" categoryIdx="0" bldStep="category"/>
                                            </p:graphicEl>
                                          </p:spTgt>
                                        </p:tgtEl>
                                        <p:attrNameLst>
                                          <p:attrName>style.visibility</p:attrName>
                                        </p:attrNameLst>
                                      </p:cBhvr>
                                      <p:to>
                                        <p:strVal val="visible"/>
                                      </p:to>
                                    </p:set>
                                    <p:animEffect transition="in" filter="fade">
                                      <p:cBhvr>
                                        <p:cTn id="11" dur="3000"/>
                                        <p:tgtEl>
                                          <p:spTgt spid="4">
                                            <p:graphicEl>
                                              <a:chart seriesIdx="-4" categoryIdx="0" bldStep="category"/>
                                            </p:graphicEl>
                                          </p:spTgt>
                                        </p:tgtEl>
                                      </p:cBhvr>
                                    </p:animEffect>
                                  </p:childTnLst>
                                </p:cTn>
                              </p:par>
                            </p:childTnLst>
                          </p:cTn>
                        </p:par>
                        <p:par>
                          <p:cTn id="12" fill="hold">
                            <p:stCondLst>
                              <p:cond delay="6000"/>
                            </p:stCondLst>
                            <p:childTnLst>
                              <p:par>
                                <p:cTn id="13" presetID="10" presetClass="entr" presetSubtype="0" fill="hold" grpId="0" nodeType="afterEffect">
                                  <p:stCondLst>
                                    <p:cond delay="0"/>
                                  </p:stCondLst>
                                  <p:childTnLst>
                                    <p:set>
                                      <p:cBhvr>
                                        <p:cTn id="14" dur="1" fill="hold">
                                          <p:stCondLst>
                                            <p:cond delay="0"/>
                                          </p:stCondLst>
                                        </p:cTn>
                                        <p:tgtEl>
                                          <p:spTgt spid="4">
                                            <p:graphicEl>
                                              <a:chart seriesIdx="-4" categoryIdx="1" bldStep="category"/>
                                            </p:graphicEl>
                                          </p:spTgt>
                                        </p:tgtEl>
                                        <p:attrNameLst>
                                          <p:attrName>style.visibility</p:attrName>
                                        </p:attrNameLst>
                                      </p:cBhvr>
                                      <p:to>
                                        <p:strVal val="visible"/>
                                      </p:to>
                                    </p:set>
                                    <p:animEffect transition="in" filter="fade">
                                      <p:cBhvr>
                                        <p:cTn id="15" dur="3000"/>
                                        <p:tgtEl>
                                          <p:spTgt spid="4">
                                            <p:graphicEl>
                                              <a:chart seriesIdx="-4" categoryIdx="1"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Chart bld="category"/>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23528" y="188641"/>
          <a:ext cx="8568952" cy="5983982"/>
        </p:xfrm>
        <a:graphic>
          <a:graphicData uri="http://schemas.openxmlformats.org/drawingml/2006/table">
            <a:tbl>
              <a:tblPr firstRow="1" bandRow="1">
                <a:tableStyleId>{5C22544A-7EE6-4342-B048-85BDC9FD1C3A}</a:tableStyleId>
              </a:tblPr>
              <a:tblGrid>
                <a:gridCol w="3260514"/>
                <a:gridCol w="2559907"/>
                <a:gridCol w="2748531"/>
              </a:tblGrid>
              <a:tr h="576063">
                <a:tc gridSpan="3">
                  <a:txBody>
                    <a:bodyPr/>
                    <a:lstStyle/>
                    <a:p>
                      <a:pPr algn="ctr">
                        <a:lnSpc>
                          <a:spcPct val="115000"/>
                        </a:lnSpc>
                        <a:spcAft>
                          <a:spcPts val="0"/>
                        </a:spcAft>
                      </a:pPr>
                      <a:r>
                        <a:rPr lang="en-AU" sz="2000" dirty="0" smtClean="0">
                          <a:latin typeface="Calibri"/>
                          <a:ea typeface="Calibri"/>
                          <a:cs typeface="Times New Roman"/>
                        </a:rPr>
                        <a:t>Demographic characteristics</a:t>
                      </a:r>
                      <a:r>
                        <a:rPr lang="en-AU" sz="2000" baseline="0" dirty="0" smtClean="0">
                          <a:latin typeface="Calibri"/>
                          <a:ea typeface="Calibri"/>
                          <a:cs typeface="Times New Roman"/>
                        </a:rPr>
                        <a:t> and s</a:t>
                      </a:r>
                      <a:r>
                        <a:rPr lang="en-AU" sz="2000" dirty="0" smtClean="0">
                          <a:latin typeface="Calibri"/>
                          <a:ea typeface="Calibri"/>
                          <a:cs typeface="Times New Roman"/>
                        </a:rPr>
                        <a:t>elf</a:t>
                      </a:r>
                      <a:r>
                        <a:rPr lang="en-AU" sz="2000" baseline="0" dirty="0" smtClean="0">
                          <a:latin typeface="Calibri"/>
                          <a:ea typeface="Calibri"/>
                          <a:cs typeface="Times New Roman"/>
                        </a:rPr>
                        <a:t> reported past drink driving in the 6 months prior to offence </a:t>
                      </a:r>
                      <a:endParaRPr lang="en-AU" sz="2000" dirty="0">
                        <a:latin typeface="Calibri"/>
                        <a:ea typeface="Calibri"/>
                        <a:cs typeface="Times New Roman"/>
                      </a:endParaRPr>
                    </a:p>
                  </a:txBody>
                  <a:tcPr marL="68580" marR="68580" marT="0" marB="0"/>
                </a:tc>
                <a:tc hMerge="1">
                  <a:txBody>
                    <a:bodyPr/>
                    <a:lstStyle/>
                    <a:p>
                      <a:pPr algn="ctr">
                        <a:lnSpc>
                          <a:spcPct val="115000"/>
                        </a:lnSpc>
                        <a:spcAft>
                          <a:spcPts val="0"/>
                        </a:spcAft>
                      </a:pPr>
                      <a:endParaRPr lang="en-AU" sz="1600" dirty="0">
                        <a:latin typeface="Calibri"/>
                        <a:ea typeface="Calibri"/>
                        <a:cs typeface="Times New Roman"/>
                      </a:endParaRPr>
                    </a:p>
                  </a:txBody>
                  <a:tcPr marL="68580" marR="68580" marT="0" marB="0"/>
                </a:tc>
                <a:tc hMerge="1">
                  <a:txBody>
                    <a:bodyPr/>
                    <a:lstStyle/>
                    <a:p>
                      <a:pPr>
                        <a:lnSpc>
                          <a:spcPct val="115000"/>
                        </a:lnSpc>
                        <a:spcAft>
                          <a:spcPts val="0"/>
                        </a:spcAft>
                      </a:pPr>
                      <a:endParaRPr lang="en-AU" sz="1100" dirty="0">
                        <a:latin typeface="Calibri"/>
                        <a:ea typeface="Calibri"/>
                        <a:cs typeface="Times New Roman"/>
                      </a:endParaRPr>
                    </a:p>
                  </a:txBody>
                  <a:tcPr marL="68580" marR="68580" marT="0" marB="0"/>
                </a:tc>
              </a:tr>
              <a:tr h="288032">
                <a:tc>
                  <a:txBody>
                    <a:bodyPr/>
                    <a:lstStyle/>
                    <a:p>
                      <a:pPr lvl="1">
                        <a:lnSpc>
                          <a:spcPct val="100000"/>
                        </a:lnSpc>
                        <a:spcAft>
                          <a:spcPts val="0"/>
                        </a:spcAft>
                      </a:pPr>
                      <a:endParaRPr lang="en-AU" sz="1500" dirty="0">
                        <a:latin typeface="Calibri"/>
                        <a:ea typeface="Calibri"/>
                        <a:cs typeface="Times New Roman"/>
                      </a:endParaRPr>
                    </a:p>
                  </a:txBody>
                  <a:tcPr marL="68580" marR="68580" marT="0" marB="0"/>
                </a:tc>
                <a:tc>
                  <a:txBody>
                    <a:bodyPr/>
                    <a:lstStyle/>
                    <a:p>
                      <a:pPr lvl="1" algn="ctr">
                        <a:lnSpc>
                          <a:spcPct val="100000"/>
                        </a:lnSpc>
                        <a:spcAft>
                          <a:spcPts val="0"/>
                        </a:spcAft>
                      </a:pPr>
                      <a:r>
                        <a:rPr lang="en-AU" sz="1500" dirty="0" smtClean="0">
                          <a:latin typeface="Calibri"/>
                          <a:ea typeface="Calibri"/>
                          <a:cs typeface="Times New Roman"/>
                        </a:rPr>
                        <a:t>No</a:t>
                      </a:r>
                    </a:p>
                  </a:txBody>
                  <a:tcPr marL="68580" marR="68580" marT="0" marB="0"/>
                </a:tc>
                <a:tc>
                  <a:txBody>
                    <a:bodyPr/>
                    <a:lstStyle/>
                    <a:p>
                      <a:pPr lvl="1" algn="ctr">
                        <a:lnSpc>
                          <a:spcPct val="100000"/>
                        </a:lnSpc>
                        <a:spcAft>
                          <a:spcPts val="0"/>
                        </a:spcAft>
                      </a:pPr>
                      <a:r>
                        <a:rPr lang="en-AU" sz="1500" dirty="0">
                          <a:latin typeface="Calibri"/>
                          <a:ea typeface="Calibri"/>
                          <a:cs typeface="Times New Roman"/>
                        </a:rPr>
                        <a:t>Yes</a:t>
                      </a:r>
                    </a:p>
                  </a:txBody>
                  <a:tcPr marL="68580" marR="68580" marT="0" marB="0"/>
                </a:tc>
              </a:tr>
              <a:tr h="752414">
                <a:tc>
                  <a:txBody>
                    <a:bodyPr/>
                    <a:lstStyle/>
                    <a:p>
                      <a:pPr>
                        <a:lnSpc>
                          <a:spcPct val="115000"/>
                        </a:lnSpc>
                        <a:spcAft>
                          <a:spcPts val="0"/>
                        </a:spcAft>
                      </a:pPr>
                      <a:r>
                        <a:rPr lang="en-AU" sz="1500" dirty="0">
                          <a:latin typeface="Calibri"/>
                          <a:ea typeface="Calibri"/>
                          <a:cs typeface="Times New Roman"/>
                        </a:rPr>
                        <a:t>Gender</a:t>
                      </a:r>
                    </a:p>
                    <a:p>
                      <a:pPr>
                        <a:lnSpc>
                          <a:spcPct val="115000"/>
                        </a:lnSpc>
                        <a:spcAft>
                          <a:spcPts val="0"/>
                        </a:spcAft>
                      </a:pPr>
                      <a:r>
                        <a:rPr lang="en-AU" sz="1500" dirty="0">
                          <a:latin typeface="Calibri"/>
                          <a:ea typeface="Calibri"/>
                          <a:cs typeface="Times New Roman"/>
                        </a:rPr>
                        <a:t>        Male</a:t>
                      </a:r>
                    </a:p>
                    <a:p>
                      <a:pPr>
                        <a:lnSpc>
                          <a:spcPct val="115000"/>
                        </a:lnSpc>
                        <a:spcAft>
                          <a:spcPts val="0"/>
                        </a:spcAft>
                      </a:pPr>
                      <a:r>
                        <a:rPr lang="en-AU" sz="1500" dirty="0">
                          <a:latin typeface="Calibri"/>
                          <a:ea typeface="Calibri"/>
                          <a:cs typeface="Times New Roman"/>
                        </a:rPr>
                        <a:t>        Female</a:t>
                      </a: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28 </a:t>
                      </a:r>
                      <a:r>
                        <a:rPr lang="en-AU" sz="1500" dirty="0" smtClean="0">
                          <a:latin typeface="Calibri"/>
                          <a:ea typeface="Calibri"/>
                          <a:cs typeface="Times New Roman"/>
                        </a:rPr>
                        <a:t>(70.0%)</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12 </a:t>
                      </a:r>
                      <a:r>
                        <a:rPr lang="en-AU" sz="1500" dirty="0" smtClean="0">
                          <a:latin typeface="Calibri"/>
                          <a:ea typeface="Calibri"/>
                          <a:cs typeface="Times New Roman"/>
                        </a:rPr>
                        <a:t>(30.0%)</a:t>
                      </a:r>
                      <a:endParaRPr lang="en-AU" sz="15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120 </a:t>
                      </a:r>
                      <a:r>
                        <a:rPr lang="en-AU" sz="1500" dirty="0" smtClean="0">
                          <a:latin typeface="Calibri"/>
                          <a:ea typeface="Calibri"/>
                          <a:cs typeface="Times New Roman"/>
                        </a:rPr>
                        <a:t>(74.5%)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41 </a:t>
                      </a:r>
                      <a:r>
                        <a:rPr lang="en-AU" sz="1500" dirty="0" smtClean="0">
                          <a:latin typeface="Calibri"/>
                          <a:ea typeface="Calibri"/>
                          <a:cs typeface="Times New Roman"/>
                        </a:rPr>
                        <a:t>(</a:t>
                      </a:r>
                      <a:r>
                        <a:rPr lang="en-AU" sz="1500" dirty="0" smtClean="0">
                          <a:latin typeface="Calibri"/>
                          <a:ea typeface="Calibri"/>
                          <a:cs typeface="Times New Roman"/>
                        </a:rPr>
                        <a:t>25.5%)</a:t>
                      </a:r>
                      <a:endParaRPr lang="en-AU" sz="1500" dirty="0">
                        <a:latin typeface="Calibri"/>
                        <a:ea typeface="Calibri"/>
                        <a:cs typeface="Times New Roman"/>
                      </a:endParaRPr>
                    </a:p>
                  </a:txBody>
                  <a:tcPr marL="68580" marR="68580" marT="0" marB="0"/>
                </a:tc>
              </a:tr>
              <a:tr h="1003219">
                <a:tc>
                  <a:txBody>
                    <a:bodyPr/>
                    <a:lstStyle/>
                    <a:p>
                      <a:pPr>
                        <a:lnSpc>
                          <a:spcPct val="115000"/>
                        </a:lnSpc>
                        <a:spcAft>
                          <a:spcPts val="0"/>
                        </a:spcAft>
                      </a:pPr>
                      <a:r>
                        <a:rPr lang="en-AU" sz="1500" dirty="0">
                          <a:latin typeface="Calibri"/>
                          <a:ea typeface="Calibri"/>
                          <a:cs typeface="Times New Roman"/>
                        </a:rPr>
                        <a:t>Age </a:t>
                      </a:r>
                      <a:r>
                        <a:rPr lang="en-AU" sz="1500" dirty="0" smtClean="0">
                          <a:latin typeface="Calibri"/>
                          <a:ea typeface="Calibri"/>
                          <a:cs typeface="Times New Roman"/>
                        </a:rPr>
                        <a:t>groups*</a:t>
                      </a:r>
                      <a:endParaRPr lang="en-AU" sz="1500" dirty="0">
                        <a:latin typeface="Calibri"/>
                        <a:ea typeface="Calibri"/>
                        <a:cs typeface="Times New Roman"/>
                      </a:endParaRPr>
                    </a:p>
                    <a:p>
                      <a:pPr>
                        <a:lnSpc>
                          <a:spcPct val="115000"/>
                        </a:lnSpc>
                        <a:spcAft>
                          <a:spcPts val="0"/>
                        </a:spcAft>
                      </a:pPr>
                      <a:r>
                        <a:rPr lang="en-AU" sz="1500" dirty="0">
                          <a:latin typeface="Calibri"/>
                          <a:ea typeface="Calibri"/>
                          <a:cs typeface="Times New Roman"/>
                        </a:rPr>
                        <a:t>        17-25</a:t>
                      </a:r>
                    </a:p>
                    <a:p>
                      <a:pPr>
                        <a:lnSpc>
                          <a:spcPct val="115000"/>
                        </a:lnSpc>
                        <a:spcAft>
                          <a:spcPts val="0"/>
                        </a:spcAft>
                      </a:pPr>
                      <a:r>
                        <a:rPr lang="en-AU" sz="1500" dirty="0">
                          <a:latin typeface="Calibri"/>
                          <a:ea typeface="Calibri"/>
                          <a:cs typeface="Times New Roman"/>
                        </a:rPr>
                        <a:t>        26-39</a:t>
                      </a:r>
                    </a:p>
                    <a:p>
                      <a:pPr>
                        <a:lnSpc>
                          <a:spcPct val="115000"/>
                        </a:lnSpc>
                        <a:spcAft>
                          <a:spcPts val="0"/>
                        </a:spcAft>
                      </a:pPr>
                      <a:r>
                        <a:rPr lang="en-AU" sz="1500" dirty="0">
                          <a:latin typeface="Calibri"/>
                          <a:ea typeface="Calibri"/>
                          <a:cs typeface="Times New Roman"/>
                        </a:rPr>
                        <a:t>        40+        </a:t>
                      </a: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17 </a:t>
                      </a:r>
                      <a:r>
                        <a:rPr lang="en-AU" sz="1500" dirty="0" smtClean="0">
                          <a:latin typeface="Calibri"/>
                          <a:ea typeface="Calibri"/>
                          <a:cs typeface="Times New Roman"/>
                        </a:rPr>
                        <a:t>(42.5%)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13 </a:t>
                      </a:r>
                      <a:r>
                        <a:rPr lang="en-AU" sz="1500" dirty="0" smtClean="0">
                          <a:latin typeface="Calibri"/>
                          <a:ea typeface="Calibri"/>
                          <a:cs typeface="Times New Roman"/>
                        </a:rPr>
                        <a:t>(32.5%)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10 </a:t>
                      </a:r>
                      <a:r>
                        <a:rPr lang="en-AU" sz="1500" dirty="0" smtClean="0">
                          <a:latin typeface="Calibri"/>
                          <a:ea typeface="Calibri"/>
                          <a:cs typeface="Times New Roman"/>
                        </a:rPr>
                        <a:t>(25.0%)</a:t>
                      </a:r>
                      <a:endParaRPr lang="en-AU" sz="15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500" b="1" i="1" dirty="0">
                        <a:latin typeface="Calibri"/>
                        <a:ea typeface="Calibri"/>
                        <a:cs typeface="Times New Roman"/>
                      </a:endParaRPr>
                    </a:p>
                    <a:p>
                      <a:pPr algn="ctr">
                        <a:lnSpc>
                          <a:spcPct val="115000"/>
                        </a:lnSpc>
                        <a:spcAft>
                          <a:spcPts val="0"/>
                        </a:spcAft>
                      </a:pPr>
                      <a:r>
                        <a:rPr lang="en-AU" sz="1500" b="0" i="0" dirty="0" smtClean="0">
                          <a:latin typeface="Calibri"/>
                          <a:ea typeface="Calibri"/>
                          <a:cs typeface="Times New Roman"/>
                        </a:rPr>
                        <a:t>81 (50.3%)</a:t>
                      </a:r>
                      <a:endParaRPr lang="en-AU" sz="1500" b="0" i="0" dirty="0">
                        <a:latin typeface="Calibri"/>
                        <a:ea typeface="Calibri"/>
                        <a:cs typeface="Times New Roman"/>
                      </a:endParaRPr>
                    </a:p>
                    <a:p>
                      <a:pPr algn="ctr">
                        <a:lnSpc>
                          <a:spcPct val="115000"/>
                        </a:lnSpc>
                        <a:spcAft>
                          <a:spcPts val="0"/>
                        </a:spcAft>
                      </a:pPr>
                      <a:r>
                        <a:rPr lang="en-AU" sz="1500" dirty="0" smtClean="0">
                          <a:latin typeface="Calibri"/>
                          <a:ea typeface="Calibri"/>
                          <a:cs typeface="Times New Roman"/>
                        </a:rPr>
                        <a:t>64 (39.8%)</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16 </a:t>
                      </a:r>
                      <a:r>
                        <a:rPr lang="en-AU" sz="1500" dirty="0" smtClean="0">
                          <a:latin typeface="Calibri"/>
                          <a:ea typeface="Calibri"/>
                          <a:cs typeface="Times New Roman"/>
                        </a:rPr>
                        <a:t>(9.9%)</a:t>
                      </a:r>
                      <a:endParaRPr lang="en-AU" sz="1500" dirty="0">
                        <a:latin typeface="Calibri"/>
                        <a:ea typeface="Calibri"/>
                        <a:cs typeface="Times New Roman"/>
                      </a:endParaRPr>
                    </a:p>
                  </a:txBody>
                  <a:tcPr marL="68580" marR="68580" marT="0" marB="0"/>
                </a:tc>
              </a:tr>
              <a:tr h="1254023">
                <a:tc>
                  <a:txBody>
                    <a:bodyPr/>
                    <a:lstStyle/>
                    <a:p>
                      <a:pPr>
                        <a:lnSpc>
                          <a:spcPct val="115000"/>
                        </a:lnSpc>
                        <a:spcAft>
                          <a:spcPts val="0"/>
                        </a:spcAft>
                      </a:pPr>
                      <a:r>
                        <a:rPr lang="en-AU" sz="1500" dirty="0">
                          <a:latin typeface="Calibri"/>
                          <a:ea typeface="Calibri"/>
                          <a:cs typeface="Times New Roman"/>
                        </a:rPr>
                        <a:t>Level of education</a:t>
                      </a:r>
                    </a:p>
                    <a:p>
                      <a:pPr>
                        <a:lnSpc>
                          <a:spcPct val="115000"/>
                        </a:lnSpc>
                        <a:spcAft>
                          <a:spcPts val="0"/>
                        </a:spcAft>
                      </a:pPr>
                      <a:r>
                        <a:rPr lang="en-AU" sz="1500" dirty="0">
                          <a:latin typeface="Calibri"/>
                          <a:ea typeface="Calibri"/>
                          <a:cs typeface="Times New Roman"/>
                        </a:rPr>
                        <a:t>        Year 10</a:t>
                      </a:r>
                    </a:p>
                    <a:p>
                      <a:pPr>
                        <a:lnSpc>
                          <a:spcPct val="115000"/>
                        </a:lnSpc>
                        <a:spcAft>
                          <a:spcPts val="0"/>
                        </a:spcAft>
                      </a:pPr>
                      <a:r>
                        <a:rPr lang="en-AU" sz="1500" dirty="0">
                          <a:latin typeface="Calibri"/>
                          <a:ea typeface="Calibri"/>
                          <a:cs typeface="Times New Roman"/>
                        </a:rPr>
                        <a:t>        Year 12</a:t>
                      </a:r>
                    </a:p>
                    <a:p>
                      <a:pPr>
                        <a:lnSpc>
                          <a:spcPct val="115000"/>
                        </a:lnSpc>
                        <a:spcAft>
                          <a:spcPts val="0"/>
                        </a:spcAft>
                      </a:pPr>
                      <a:r>
                        <a:rPr lang="en-AU" sz="1500" dirty="0">
                          <a:latin typeface="Calibri"/>
                          <a:ea typeface="Calibri"/>
                          <a:cs typeface="Times New Roman"/>
                        </a:rPr>
                        <a:t>        Cert/Diploma</a:t>
                      </a:r>
                    </a:p>
                    <a:p>
                      <a:pPr>
                        <a:lnSpc>
                          <a:spcPct val="115000"/>
                        </a:lnSpc>
                        <a:spcAft>
                          <a:spcPts val="0"/>
                        </a:spcAft>
                      </a:pPr>
                      <a:r>
                        <a:rPr lang="en-AU" sz="1500" dirty="0">
                          <a:latin typeface="Calibri"/>
                          <a:ea typeface="Calibri"/>
                          <a:cs typeface="Times New Roman"/>
                        </a:rPr>
                        <a:t>        Bachelor/Postgraduate</a:t>
                      </a: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8 </a:t>
                      </a:r>
                      <a:r>
                        <a:rPr lang="en-AU" sz="1500" dirty="0" smtClean="0">
                          <a:latin typeface="Calibri"/>
                          <a:ea typeface="Calibri"/>
                          <a:cs typeface="Times New Roman"/>
                        </a:rPr>
                        <a:t>(20.0%)</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17 </a:t>
                      </a:r>
                      <a:r>
                        <a:rPr lang="en-AU" sz="1500" dirty="0" smtClean="0">
                          <a:latin typeface="Calibri"/>
                          <a:ea typeface="Calibri"/>
                          <a:cs typeface="Times New Roman"/>
                        </a:rPr>
                        <a:t>(42.5%)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5 </a:t>
                      </a:r>
                      <a:r>
                        <a:rPr lang="en-AU" sz="1500" dirty="0" smtClean="0">
                          <a:latin typeface="Calibri"/>
                          <a:ea typeface="Calibri"/>
                          <a:cs typeface="Times New Roman"/>
                        </a:rPr>
                        <a:t>(12.5%)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10 </a:t>
                      </a:r>
                      <a:r>
                        <a:rPr lang="en-AU" sz="1500" dirty="0" smtClean="0">
                          <a:latin typeface="Calibri"/>
                          <a:ea typeface="Calibri"/>
                          <a:cs typeface="Times New Roman"/>
                        </a:rPr>
                        <a:t>(25.0%)</a:t>
                      </a:r>
                      <a:endParaRPr lang="en-AU" sz="15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33 </a:t>
                      </a:r>
                      <a:r>
                        <a:rPr lang="en-AU" sz="1500" dirty="0" smtClean="0">
                          <a:latin typeface="Calibri"/>
                          <a:ea typeface="Calibri"/>
                          <a:cs typeface="Times New Roman"/>
                        </a:rPr>
                        <a:t>(20.5%)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61 </a:t>
                      </a:r>
                      <a:r>
                        <a:rPr lang="en-AU" sz="1500" dirty="0" smtClean="0">
                          <a:latin typeface="Calibri"/>
                          <a:ea typeface="Calibri"/>
                          <a:cs typeface="Times New Roman"/>
                        </a:rPr>
                        <a:t>(37.9%)</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43 </a:t>
                      </a:r>
                      <a:r>
                        <a:rPr lang="en-AU" sz="1500" dirty="0" smtClean="0">
                          <a:latin typeface="Calibri"/>
                          <a:ea typeface="Calibri"/>
                          <a:cs typeface="Times New Roman"/>
                        </a:rPr>
                        <a:t>(26.7%)</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24 </a:t>
                      </a:r>
                      <a:r>
                        <a:rPr lang="en-AU" sz="1500" dirty="0" smtClean="0">
                          <a:latin typeface="Calibri"/>
                          <a:ea typeface="Calibri"/>
                          <a:cs typeface="Times New Roman"/>
                        </a:rPr>
                        <a:t>(14.9%)</a:t>
                      </a:r>
                      <a:endParaRPr lang="en-AU" sz="1500" dirty="0">
                        <a:latin typeface="Calibri"/>
                        <a:ea typeface="Calibri"/>
                        <a:cs typeface="Times New Roman"/>
                      </a:endParaRPr>
                    </a:p>
                  </a:txBody>
                  <a:tcPr marL="68580" marR="68580" marT="0" marB="0"/>
                </a:tc>
              </a:tr>
              <a:tr h="1003219">
                <a:tc>
                  <a:txBody>
                    <a:bodyPr/>
                    <a:lstStyle/>
                    <a:p>
                      <a:pPr>
                        <a:lnSpc>
                          <a:spcPct val="115000"/>
                        </a:lnSpc>
                        <a:spcAft>
                          <a:spcPts val="0"/>
                        </a:spcAft>
                      </a:pPr>
                      <a:r>
                        <a:rPr lang="en-AU" sz="1500" dirty="0">
                          <a:latin typeface="Calibri"/>
                          <a:ea typeface="Calibri"/>
                          <a:cs typeface="Times New Roman"/>
                        </a:rPr>
                        <a:t>Marital Status</a:t>
                      </a:r>
                    </a:p>
                    <a:p>
                      <a:pPr>
                        <a:lnSpc>
                          <a:spcPct val="115000"/>
                        </a:lnSpc>
                        <a:spcAft>
                          <a:spcPts val="0"/>
                        </a:spcAft>
                      </a:pPr>
                      <a:r>
                        <a:rPr lang="en-AU" sz="1500" dirty="0">
                          <a:latin typeface="Calibri"/>
                          <a:ea typeface="Calibri"/>
                          <a:cs typeface="Times New Roman"/>
                        </a:rPr>
                        <a:t>         Single</a:t>
                      </a:r>
                    </a:p>
                    <a:p>
                      <a:pPr>
                        <a:lnSpc>
                          <a:spcPct val="115000"/>
                        </a:lnSpc>
                        <a:spcAft>
                          <a:spcPts val="0"/>
                        </a:spcAft>
                      </a:pPr>
                      <a:r>
                        <a:rPr lang="en-AU" sz="1500" dirty="0">
                          <a:latin typeface="Calibri"/>
                          <a:ea typeface="Calibri"/>
                          <a:cs typeface="Times New Roman"/>
                        </a:rPr>
                        <a:t>         Married/de facto</a:t>
                      </a:r>
                    </a:p>
                    <a:p>
                      <a:pPr>
                        <a:lnSpc>
                          <a:spcPct val="115000"/>
                        </a:lnSpc>
                        <a:spcAft>
                          <a:spcPts val="0"/>
                        </a:spcAft>
                      </a:pPr>
                      <a:r>
                        <a:rPr lang="en-AU" sz="1500" dirty="0">
                          <a:latin typeface="Calibri"/>
                          <a:ea typeface="Calibri"/>
                          <a:cs typeface="Times New Roman"/>
                        </a:rPr>
                        <a:t>         Other (div, sep, wid)</a:t>
                      </a: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25 </a:t>
                      </a:r>
                      <a:r>
                        <a:rPr lang="en-AU" sz="1500" dirty="0" smtClean="0">
                          <a:latin typeface="Calibri"/>
                          <a:ea typeface="Calibri"/>
                          <a:cs typeface="Times New Roman"/>
                        </a:rPr>
                        <a:t>(62.5%)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10 </a:t>
                      </a:r>
                      <a:r>
                        <a:rPr lang="en-AU" sz="1500" dirty="0" smtClean="0">
                          <a:latin typeface="Calibri"/>
                          <a:ea typeface="Calibri"/>
                          <a:cs typeface="Times New Roman"/>
                        </a:rPr>
                        <a:t>(25.0%)</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5 </a:t>
                      </a:r>
                      <a:r>
                        <a:rPr lang="en-AU" sz="1500" dirty="0" smtClean="0">
                          <a:latin typeface="Calibri"/>
                          <a:ea typeface="Calibri"/>
                          <a:cs typeface="Times New Roman"/>
                        </a:rPr>
                        <a:t>(12.5%)</a:t>
                      </a:r>
                      <a:endParaRPr lang="en-AU" sz="15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118 </a:t>
                      </a:r>
                      <a:r>
                        <a:rPr lang="en-AU" sz="1500" dirty="0" smtClean="0">
                          <a:latin typeface="Calibri"/>
                          <a:ea typeface="Calibri"/>
                          <a:cs typeface="Times New Roman"/>
                        </a:rPr>
                        <a:t>(73.3%)</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33 </a:t>
                      </a:r>
                      <a:r>
                        <a:rPr lang="en-AU" sz="1500" dirty="0" smtClean="0">
                          <a:latin typeface="Calibri"/>
                          <a:ea typeface="Calibri"/>
                          <a:cs typeface="Times New Roman"/>
                        </a:rPr>
                        <a:t>(20.5%)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10 </a:t>
                      </a:r>
                      <a:r>
                        <a:rPr lang="en-AU" sz="1500" dirty="0" smtClean="0">
                          <a:latin typeface="Calibri"/>
                          <a:ea typeface="Calibri"/>
                          <a:cs typeface="Times New Roman"/>
                        </a:rPr>
                        <a:t>(6.2%)</a:t>
                      </a:r>
                      <a:endParaRPr lang="en-AU" sz="1500" dirty="0">
                        <a:latin typeface="Calibri"/>
                        <a:ea typeface="Calibri"/>
                        <a:cs typeface="Times New Roman"/>
                      </a:endParaRPr>
                    </a:p>
                  </a:txBody>
                  <a:tcPr marL="68580" marR="68580" marT="0" marB="0"/>
                </a:tc>
              </a:tr>
              <a:tr h="752414">
                <a:tc>
                  <a:txBody>
                    <a:bodyPr/>
                    <a:lstStyle/>
                    <a:p>
                      <a:pPr>
                        <a:lnSpc>
                          <a:spcPct val="115000"/>
                        </a:lnSpc>
                        <a:spcAft>
                          <a:spcPts val="0"/>
                        </a:spcAft>
                      </a:pPr>
                      <a:r>
                        <a:rPr lang="en-AU" sz="1500" dirty="0">
                          <a:latin typeface="Calibri"/>
                          <a:ea typeface="Calibri"/>
                          <a:cs typeface="Times New Roman"/>
                        </a:rPr>
                        <a:t>Employed</a:t>
                      </a:r>
                    </a:p>
                    <a:p>
                      <a:pPr>
                        <a:lnSpc>
                          <a:spcPct val="115000"/>
                        </a:lnSpc>
                        <a:spcAft>
                          <a:spcPts val="0"/>
                        </a:spcAft>
                      </a:pPr>
                      <a:r>
                        <a:rPr lang="en-AU" sz="1500" dirty="0">
                          <a:latin typeface="Calibri"/>
                          <a:ea typeface="Calibri"/>
                          <a:cs typeface="Times New Roman"/>
                        </a:rPr>
                        <a:t>        No</a:t>
                      </a:r>
                    </a:p>
                    <a:p>
                      <a:pPr>
                        <a:lnSpc>
                          <a:spcPct val="115000"/>
                        </a:lnSpc>
                        <a:spcAft>
                          <a:spcPts val="0"/>
                        </a:spcAft>
                      </a:pPr>
                      <a:r>
                        <a:rPr lang="en-AU" sz="1500" dirty="0">
                          <a:latin typeface="Calibri"/>
                          <a:ea typeface="Calibri"/>
                          <a:cs typeface="Times New Roman"/>
                        </a:rPr>
                        <a:t>        Yes</a:t>
                      </a: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7 </a:t>
                      </a:r>
                      <a:r>
                        <a:rPr lang="en-AU" sz="1500" dirty="0" smtClean="0">
                          <a:latin typeface="Calibri"/>
                          <a:ea typeface="Calibri"/>
                          <a:cs typeface="Times New Roman"/>
                        </a:rPr>
                        <a:t>(17.5%)</a:t>
                      </a:r>
                      <a:endParaRPr lang="en-AU" sz="1500" dirty="0">
                        <a:latin typeface="Calibri"/>
                        <a:ea typeface="Calibri"/>
                        <a:cs typeface="Times New Roman"/>
                      </a:endParaRPr>
                    </a:p>
                    <a:p>
                      <a:pPr algn="ctr">
                        <a:lnSpc>
                          <a:spcPct val="115000"/>
                        </a:lnSpc>
                        <a:spcAft>
                          <a:spcPts val="0"/>
                        </a:spcAft>
                      </a:pPr>
                      <a:r>
                        <a:rPr lang="en-AU" sz="1500" dirty="0">
                          <a:latin typeface="Calibri"/>
                          <a:ea typeface="Calibri"/>
                          <a:cs typeface="Times New Roman"/>
                        </a:rPr>
                        <a:t>33 </a:t>
                      </a:r>
                      <a:r>
                        <a:rPr lang="en-AU" sz="1500" dirty="0" smtClean="0">
                          <a:latin typeface="Calibri"/>
                          <a:ea typeface="Calibri"/>
                          <a:cs typeface="Times New Roman"/>
                        </a:rPr>
                        <a:t>(82.5%)</a:t>
                      </a:r>
                      <a:endParaRPr lang="en-AU" sz="15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500" dirty="0">
                        <a:latin typeface="Calibri"/>
                        <a:ea typeface="Calibri"/>
                        <a:cs typeface="Times New Roman"/>
                      </a:endParaRPr>
                    </a:p>
                    <a:p>
                      <a:pPr algn="ctr">
                        <a:lnSpc>
                          <a:spcPct val="115000"/>
                        </a:lnSpc>
                        <a:spcAft>
                          <a:spcPts val="0"/>
                        </a:spcAft>
                      </a:pPr>
                      <a:r>
                        <a:rPr lang="en-AU" sz="1500" dirty="0" smtClean="0">
                          <a:latin typeface="Calibri"/>
                          <a:ea typeface="Calibri"/>
                          <a:cs typeface="Times New Roman"/>
                        </a:rPr>
                        <a:t>41 (25.5%)</a:t>
                      </a:r>
                      <a:endParaRPr lang="en-AU" sz="1500" dirty="0">
                        <a:latin typeface="Calibri"/>
                        <a:ea typeface="Calibri"/>
                        <a:cs typeface="Times New Roman"/>
                      </a:endParaRPr>
                    </a:p>
                    <a:p>
                      <a:pPr algn="ctr">
                        <a:lnSpc>
                          <a:spcPct val="115000"/>
                        </a:lnSpc>
                        <a:spcAft>
                          <a:spcPts val="0"/>
                        </a:spcAft>
                      </a:pPr>
                      <a:r>
                        <a:rPr lang="en-AU" sz="1500" dirty="0" smtClean="0">
                          <a:latin typeface="Calibri"/>
                          <a:ea typeface="Calibri"/>
                          <a:cs typeface="Times New Roman"/>
                        </a:rPr>
                        <a:t>120 </a:t>
                      </a:r>
                      <a:r>
                        <a:rPr lang="en-AU" sz="1500" dirty="0">
                          <a:latin typeface="Calibri"/>
                          <a:ea typeface="Calibri"/>
                          <a:cs typeface="Times New Roman"/>
                        </a:rPr>
                        <a:t>(</a:t>
                      </a:r>
                      <a:r>
                        <a:rPr lang="en-AU" sz="1500" dirty="0" smtClean="0">
                          <a:latin typeface="Calibri"/>
                          <a:ea typeface="Calibri"/>
                          <a:cs typeface="Times New Roman"/>
                        </a:rPr>
                        <a:t>74.5%)</a:t>
                      </a:r>
                      <a:endParaRPr lang="en-AU" sz="1500" dirty="0">
                        <a:latin typeface="Calibri"/>
                        <a:ea typeface="Calibri"/>
                        <a:cs typeface="Times New Roman"/>
                      </a:endParaRPr>
                    </a:p>
                  </a:txBody>
                  <a:tcPr marL="68580" marR="68580" marT="0" marB="0"/>
                </a:tc>
              </a:tr>
            </a:tbl>
          </a:graphicData>
        </a:graphic>
      </p:graphicFrame>
      <p:sp>
        <p:nvSpPr>
          <p:cNvPr id="5" name="TextBox 4"/>
          <p:cNvSpPr txBox="1"/>
          <p:nvPr/>
        </p:nvSpPr>
        <p:spPr>
          <a:xfrm>
            <a:off x="539552" y="6074899"/>
            <a:ext cx="3240360" cy="307777"/>
          </a:xfrm>
          <a:prstGeom prst="rect">
            <a:avLst/>
          </a:prstGeom>
          <a:noFill/>
        </p:spPr>
        <p:txBody>
          <a:bodyPr wrap="square" rtlCol="0">
            <a:spAutoFit/>
          </a:bodyPr>
          <a:lstStyle/>
          <a:p>
            <a:r>
              <a:rPr lang="en-AU" sz="1400" dirty="0" smtClean="0">
                <a:latin typeface="Calibri" pitchFamily="34" charset="0"/>
                <a:cs typeface="Calibri" pitchFamily="34" charset="0"/>
              </a:rPr>
              <a:t>*p &lt;.05</a:t>
            </a:r>
            <a:endParaRPr lang="en-AU" sz="1400" dirty="0">
              <a:latin typeface="Calibri" pitchFamily="34" charset="0"/>
              <a:cs typeface="Calibri" pitchFamily="34" charset="0"/>
            </a:endParaRPr>
          </a:p>
        </p:txBody>
      </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51520" y="260648"/>
          <a:ext cx="8640960" cy="5866261"/>
        </p:xfrm>
        <a:graphic>
          <a:graphicData uri="http://schemas.openxmlformats.org/drawingml/2006/table">
            <a:tbl>
              <a:tblPr firstRow="1" bandRow="1">
                <a:tableStyleId>{5C22544A-7EE6-4342-B048-85BDC9FD1C3A}</a:tableStyleId>
              </a:tblPr>
              <a:tblGrid>
                <a:gridCol w="2880320"/>
                <a:gridCol w="2880320"/>
                <a:gridCol w="2880320"/>
              </a:tblGrid>
              <a:tr h="709780">
                <a:tc gridSpan="3">
                  <a:txBody>
                    <a:bodyPr/>
                    <a:lstStyle/>
                    <a:p>
                      <a:pPr algn="ctr"/>
                      <a:r>
                        <a:rPr lang="en-AU" dirty="0" smtClean="0"/>
                        <a:t>Driving history, BAC, apprehension and alcohol use </a:t>
                      </a:r>
                      <a:r>
                        <a:rPr lang="en-AU" baseline="0" dirty="0" smtClean="0"/>
                        <a:t>and self reported drink driving in the 6 months prior to the offence</a:t>
                      </a:r>
                      <a:endParaRPr lang="en-AU" dirty="0"/>
                    </a:p>
                  </a:txBody>
                  <a:tcPr/>
                </a:tc>
                <a:tc hMerge="1">
                  <a:txBody>
                    <a:bodyPr/>
                    <a:lstStyle/>
                    <a:p>
                      <a:endParaRPr lang="en-AU" dirty="0"/>
                    </a:p>
                  </a:txBody>
                  <a:tcPr/>
                </a:tc>
                <a:tc hMerge="1">
                  <a:txBody>
                    <a:bodyPr/>
                    <a:lstStyle/>
                    <a:p>
                      <a:endParaRPr lang="en-AU" dirty="0"/>
                    </a:p>
                  </a:txBody>
                  <a:tcPr/>
                </a:tc>
              </a:tr>
              <a:tr h="492212">
                <a:tc>
                  <a:txBody>
                    <a:bodyPr/>
                    <a:lstStyle/>
                    <a:p>
                      <a:pPr algn="l">
                        <a:lnSpc>
                          <a:spcPct val="115000"/>
                        </a:lnSpc>
                        <a:spcAft>
                          <a:spcPts val="0"/>
                        </a:spcAft>
                      </a:pPr>
                      <a:endParaRPr lang="en-AU" sz="1100" dirty="0">
                        <a:latin typeface="Calibri"/>
                        <a:ea typeface="Calibri"/>
                        <a:cs typeface="Times New Roman"/>
                      </a:endParaRPr>
                    </a:p>
                  </a:txBody>
                  <a:tcPr marL="68580" marR="68580" marT="0" marB="0"/>
                </a:tc>
                <a:tc>
                  <a:txBody>
                    <a:bodyPr/>
                    <a:lstStyle/>
                    <a:p>
                      <a:pPr algn="ctr">
                        <a:lnSpc>
                          <a:spcPct val="115000"/>
                        </a:lnSpc>
                        <a:spcAft>
                          <a:spcPts val="0"/>
                        </a:spcAft>
                      </a:pPr>
                      <a:r>
                        <a:rPr lang="en-AU" sz="1600" dirty="0">
                          <a:latin typeface="Calibri"/>
                          <a:ea typeface="Calibri"/>
                          <a:cs typeface="Times New Roman"/>
                        </a:rPr>
                        <a:t>No</a:t>
                      </a:r>
                    </a:p>
                  </a:txBody>
                  <a:tcPr marL="68580" marR="68580" marT="0" marB="0"/>
                </a:tc>
                <a:tc>
                  <a:txBody>
                    <a:bodyPr/>
                    <a:lstStyle/>
                    <a:p>
                      <a:pPr algn="ctr">
                        <a:lnSpc>
                          <a:spcPct val="115000"/>
                        </a:lnSpc>
                        <a:spcAft>
                          <a:spcPts val="0"/>
                        </a:spcAft>
                      </a:pPr>
                      <a:r>
                        <a:rPr lang="en-AU" sz="1600" dirty="0">
                          <a:latin typeface="Calibri"/>
                          <a:ea typeface="Calibri"/>
                          <a:cs typeface="Times New Roman"/>
                        </a:rPr>
                        <a:t>Yes</a:t>
                      </a:r>
                    </a:p>
                  </a:txBody>
                  <a:tcPr marL="68580" marR="68580" marT="0" marB="0"/>
                </a:tc>
              </a:tr>
              <a:tr h="1243805">
                <a:tc>
                  <a:txBody>
                    <a:bodyPr/>
                    <a:lstStyle/>
                    <a:p>
                      <a:pPr algn="l">
                        <a:lnSpc>
                          <a:spcPct val="115000"/>
                        </a:lnSpc>
                        <a:spcAft>
                          <a:spcPts val="0"/>
                        </a:spcAft>
                      </a:pPr>
                      <a:r>
                        <a:rPr lang="en-AU" sz="1600" dirty="0">
                          <a:latin typeface="Calibri"/>
                          <a:ea typeface="Calibri"/>
                          <a:cs typeface="Times New Roman"/>
                        </a:rPr>
                        <a:t>Driving history</a:t>
                      </a:r>
                    </a:p>
                    <a:p>
                      <a:pPr algn="l">
                        <a:lnSpc>
                          <a:spcPct val="115000"/>
                        </a:lnSpc>
                        <a:spcAft>
                          <a:spcPts val="0"/>
                        </a:spcAft>
                      </a:pPr>
                      <a:r>
                        <a:rPr lang="en-AU" sz="1600" dirty="0">
                          <a:latin typeface="Calibri"/>
                          <a:ea typeface="Calibri"/>
                          <a:cs typeface="Times New Roman"/>
                        </a:rPr>
                        <a:t>        Up to 5 years</a:t>
                      </a:r>
                    </a:p>
                    <a:p>
                      <a:pPr algn="l">
                        <a:lnSpc>
                          <a:spcPct val="115000"/>
                        </a:lnSpc>
                        <a:spcAft>
                          <a:spcPts val="0"/>
                        </a:spcAft>
                      </a:pPr>
                      <a:r>
                        <a:rPr lang="en-AU" sz="1600" dirty="0">
                          <a:latin typeface="Calibri"/>
                          <a:ea typeface="Calibri"/>
                          <a:cs typeface="Times New Roman"/>
                        </a:rPr>
                        <a:t>        5-10 years</a:t>
                      </a:r>
                    </a:p>
                    <a:p>
                      <a:pPr algn="l">
                        <a:lnSpc>
                          <a:spcPct val="115000"/>
                        </a:lnSpc>
                        <a:spcAft>
                          <a:spcPts val="0"/>
                        </a:spcAft>
                      </a:pPr>
                      <a:r>
                        <a:rPr lang="en-AU" sz="1600" dirty="0">
                          <a:latin typeface="Calibri"/>
                          <a:ea typeface="Calibri"/>
                          <a:cs typeface="Times New Roman"/>
                        </a:rPr>
                        <a:t>        10+ years</a:t>
                      </a: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smtClean="0">
                          <a:latin typeface="Calibri"/>
                          <a:ea typeface="Calibri"/>
                          <a:cs typeface="Times New Roman"/>
                        </a:rPr>
                        <a:t>7 (17.5%)</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8 </a:t>
                      </a:r>
                      <a:r>
                        <a:rPr lang="en-AU" sz="1600" dirty="0" smtClean="0">
                          <a:latin typeface="Calibri"/>
                          <a:ea typeface="Calibri"/>
                          <a:cs typeface="Times New Roman"/>
                        </a:rPr>
                        <a:t>(20.0</a:t>
                      </a:r>
                      <a:r>
                        <a:rPr lang="en-AU" sz="1600" dirty="0">
                          <a:latin typeface="Calibri"/>
                          <a:ea typeface="Calibri"/>
                          <a:cs typeface="Times New Roman"/>
                        </a:rPr>
                        <a:t>%)</a:t>
                      </a:r>
                    </a:p>
                    <a:p>
                      <a:pPr algn="ctr">
                        <a:lnSpc>
                          <a:spcPct val="115000"/>
                        </a:lnSpc>
                        <a:spcAft>
                          <a:spcPts val="0"/>
                        </a:spcAft>
                      </a:pPr>
                      <a:r>
                        <a:rPr lang="en-AU" sz="1600" dirty="0">
                          <a:latin typeface="Calibri"/>
                          <a:ea typeface="Calibri"/>
                          <a:cs typeface="Times New Roman"/>
                        </a:rPr>
                        <a:t>25 </a:t>
                      </a:r>
                      <a:r>
                        <a:rPr lang="en-AU" sz="1600" dirty="0" smtClean="0">
                          <a:latin typeface="Calibri"/>
                          <a:ea typeface="Calibri"/>
                          <a:cs typeface="Times New Roman"/>
                        </a:rPr>
                        <a:t>(62.5%)</a:t>
                      </a:r>
                      <a:endParaRPr lang="en-AU" sz="16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smtClean="0">
                          <a:latin typeface="Calibri"/>
                          <a:ea typeface="Calibri"/>
                          <a:cs typeface="Times New Roman"/>
                        </a:rPr>
                        <a:t>40 (24.8%)</a:t>
                      </a:r>
                      <a:endParaRPr lang="en-AU" sz="1600" dirty="0">
                        <a:latin typeface="Calibri"/>
                        <a:ea typeface="Calibri"/>
                        <a:cs typeface="Times New Roman"/>
                      </a:endParaRPr>
                    </a:p>
                    <a:p>
                      <a:pPr algn="ctr">
                        <a:lnSpc>
                          <a:spcPct val="115000"/>
                        </a:lnSpc>
                        <a:spcAft>
                          <a:spcPts val="0"/>
                        </a:spcAft>
                      </a:pPr>
                      <a:r>
                        <a:rPr lang="en-AU" sz="1600" dirty="0" smtClean="0">
                          <a:latin typeface="Calibri"/>
                          <a:ea typeface="Calibri"/>
                          <a:cs typeface="Times New Roman"/>
                        </a:rPr>
                        <a:t>46 (28.6%)</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75 </a:t>
                      </a:r>
                      <a:r>
                        <a:rPr lang="en-AU" sz="1600" dirty="0" smtClean="0">
                          <a:latin typeface="Calibri"/>
                          <a:ea typeface="Calibri"/>
                          <a:cs typeface="Times New Roman"/>
                        </a:rPr>
                        <a:t>(46.6%)</a:t>
                      </a:r>
                      <a:endParaRPr lang="en-AU" sz="1600" dirty="0">
                        <a:latin typeface="Calibri"/>
                        <a:ea typeface="Calibri"/>
                        <a:cs typeface="Times New Roman"/>
                      </a:endParaRPr>
                    </a:p>
                  </a:txBody>
                  <a:tcPr marL="68580" marR="68580" marT="0" marB="0"/>
                </a:tc>
              </a:tr>
              <a:tr h="1554756">
                <a:tc>
                  <a:txBody>
                    <a:bodyPr/>
                    <a:lstStyle/>
                    <a:p>
                      <a:pPr algn="l">
                        <a:lnSpc>
                          <a:spcPct val="115000"/>
                        </a:lnSpc>
                        <a:spcAft>
                          <a:spcPts val="0"/>
                        </a:spcAft>
                      </a:pPr>
                      <a:r>
                        <a:rPr lang="en-AU" sz="1600" dirty="0">
                          <a:latin typeface="Calibri"/>
                          <a:ea typeface="Calibri"/>
                          <a:cs typeface="Times New Roman"/>
                        </a:rPr>
                        <a:t>BAC when apprehended</a:t>
                      </a:r>
                    </a:p>
                    <a:p>
                      <a:pPr algn="l">
                        <a:lnSpc>
                          <a:spcPct val="115000"/>
                        </a:lnSpc>
                        <a:spcAft>
                          <a:spcPts val="0"/>
                        </a:spcAft>
                      </a:pPr>
                      <a:r>
                        <a:rPr lang="en-AU" sz="1600" dirty="0">
                          <a:latin typeface="Calibri"/>
                          <a:ea typeface="Calibri"/>
                          <a:cs typeface="Times New Roman"/>
                        </a:rPr>
                        <a:t>        0.01-0.05</a:t>
                      </a:r>
                    </a:p>
                    <a:p>
                      <a:pPr algn="l">
                        <a:lnSpc>
                          <a:spcPct val="115000"/>
                        </a:lnSpc>
                        <a:spcAft>
                          <a:spcPts val="0"/>
                        </a:spcAft>
                      </a:pPr>
                      <a:r>
                        <a:rPr lang="en-AU" sz="1600" dirty="0">
                          <a:latin typeface="Calibri"/>
                          <a:ea typeface="Calibri"/>
                          <a:cs typeface="Times New Roman"/>
                        </a:rPr>
                        <a:t>        0.051-0.10</a:t>
                      </a:r>
                    </a:p>
                    <a:p>
                      <a:pPr algn="l">
                        <a:lnSpc>
                          <a:spcPct val="115000"/>
                        </a:lnSpc>
                        <a:spcAft>
                          <a:spcPts val="0"/>
                        </a:spcAft>
                      </a:pPr>
                      <a:r>
                        <a:rPr lang="en-AU" sz="1600" dirty="0">
                          <a:latin typeface="Calibri"/>
                          <a:ea typeface="Calibri"/>
                          <a:cs typeface="Times New Roman"/>
                        </a:rPr>
                        <a:t>        </a:t>
                      </a:r>
                      <a:r>
                        <a:rPr lang="en-AU" sz="1600" dirty="0" smtClean="0">
                          <a:latin typeface="Calibri"/>
                          <a:ea typeface="Calibri"/>
                          <a:cs typeface="Times New Roman"/>
                        </a:rPr>
                        <a:t>0.101-0.15</a:t>
                      </a:r>
                      <a:endParaRPr lang="en-AU" sz="1600" dirty="0">
                        <a:latin typeface="Calibri"/>
                        <a:ea typeface="Calibri"/>
                        <a:cs typeface="Times New Roman"/>
                      </a:endParaRPr>
                    </a:p>
                    <a:p>
                      <a:pPr algn="l">
                        <a:lnSpc>
                          <a:spcPct val="115000"/>
                        </a:lnSpc>
                        <a:spcAft>
                          <a:spcPts val="0"/>
                        </a:spcAft>
                      </a:pPr>
                      <a:r>
                        <a:rPr lang="en-AU" sz="1600" dirty="0">
                          <a:latin typeface="Calibri"/>
                          <a:ea typeface="Calibri"/>
                          <a:cs typeface="Times New Roman"/>
                        </a:rPr>
                        <a:t>        0.151 +</a:t>
                      </a: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3 </a:t>
                      </a:r>
                      <a:r>
                        <a:rPr lang="en-AU" sz="1600" dirty="0" smtClean="0">
                          <a:latin typeface="Calibri"/>
                          <a:ea typeface="Calibri"/>
                          <a:cs typeface="Times New Roman"/>
                        </a:rPr>
                        <a:t>(7.5%)</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25 </a:t>
                      </a:r>
                      <a:r>
                        <a:rPr lang="en-AU" sz="1600" dirty="0" smtClean="0">
                          <a:latin typeface="Calibri"/>
                          <a:ea typeface="Calibri"/>
                          <a:cs typeface="Times New Roman"/>
                        </a:rPr>
                        <a:t>(62.5%)</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10 </a:t>
                      </a:r>
                      <a:r>
                        <a:rPr lang="en-AU" sz="1600" dirty="0" smtClean="0">
                          <a:latin typeface="Calibri"/>
                          <a:ea typeface="Calibri"/>
                          <a:cs typeface="Times New Roman"/>
                        </a:rPr>
                        <a:t>(25.0%)</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2 </a:t>
                      </a:r>
                      <a:r>
                        <a:rPr lang="en-AU" sz="1600" dirty="0" smtClean="0">
                          <a:latin typeface="Calibri"/>
                          <a:ea typeface="Calibri"/>
                          <a:cs typeface="Times New Roman"/>
                        </a:rPr>
                        <a:t>(5.0%)</a:t>
                      </a:r>
                      <a:endParaRPr lang="en-AU" sz="16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7 </a:t>
                      </a:r>
                      <a:r>
                        <a:rPr lang="en-AU" sz="1600" dirty="0" smtClean="0">
                          <a:latin typeface="Calibri"/>
                          <a:ea typeface="Calibri"/>
                          <a:cs typeface="Times New Roman"/>
                        </a:rPr>
                        <a:t>(4.3%)</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82 </a:t>
                      </a:r>
                      <a:r>
                        <a:rPr lang="en-AU" sz="1600" dirty="0" smtClean="0">
                          <a:latin typeface="Calibri"/>
                          <a:ea typeface="Calibri"/>
                          <a:cs typeface="Times New Roman"/>
                        </a:rPr>
                        <a:t>(50.9%)</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43 </a:t>
                      </a:r>
                      <a:r>
                        <a:rPr lang="en-AU" sz="1600" dirty="0" smtClean="0">
                          <a:latin typeface="Calibri"/>
                          <a:ea typeface="Calibri"/>
                          <a:cs typeface="Times New Roman"/>
                        </a:rPr>
                        <a:t>(26.7%)</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29 </a:t>
                      </a:r>
                      <a:r>
                        <a:rPr lang="en-AU" sz="1600" dirty="0" smtClean="0">
                          <a:latin typeface="Calibri"/>
                          <a:ea typeface="Calibri"/>
                          <a:cs typeface="Times New Roman"/>
                        </a:rPr>
                        <a:t>(18.0%)</a:t>
                      </a:r>
                      <a:endParaRPr lang="en-AU" sz="1600" dirty="0">
                        <a:latin typeface="Calibri"/>
                        <a:ea typeface="Calibri"/>
                        <a:cs typeface="Times New Roman"/>
                      </a:endParaRPr>
                    </a:p>
                  </a:txBody>
                  <a:tcPr marL="68580" marR="68580" marT="0" marB="0"/>
                </a:tc>
              </a:tr>
              <a:tr h="932854">
                <a:tc>
                  <a:txBody>
                    <a:bodyPr/>
                    <a:lstStyle/>
                    <a:p>
                      <a:pPr algn="l">
                        <a:lnSpc>
                          <a:spcPct val="115000"/>
                        </a:lnSpc>
                        <a:spcAft>
                          <a:spcPts val="0"/>
                        </a:spcAft>
                      </a:pPr>
                      <a:r>
                        <a:rPr lang="en-AU" sz="1600" dirty="0">
                          <a:latin typeface="Calibri"/>
                          <a:ea typeface="Calibri"/>
                          <a:cs typeface="Times New Roman"/>
                        </a:rPr>
                        <a:t>Method of apprehension</a:t>
                      </a:r>
                    </a:p>
                    <a:p>
                      <a:pPr algn="l">
                        <a:lnSpc>
                          <a:spcPct val="115000"/>
                        </a:lnSpc>
                        <a:spcAft>
                          <a:spcPts val="0"/>
                        </a:spcAft>
                      </a:pPr>
                      <a:r>
                        <a:rPr lang="en-AU" sz="1600" dirty="0">
                          <a:latin typeface="Calibri"/>
                          <a:ea typeface="Calibri"/>
                          <a:cs typeface="Times New Roman"/>
                        </a:rPr>
                        <a:t>        RBT</a:t>
                      </a:r>
                    </a:p>
                    <a:p>
                      <a:pPr algn="l">
                        <a:lnSpc>
                          <a:spcPct val="115000"/>
                        </a:lnSpc>
                        <a:spcAft>
                          <a:spcPts val="0"/>
                        </a:spcAft>
                      </a:pPr>
                      <a:r>
                        <a:rPr lang="en-AU" sz="1600" dirty="0">
                          <a:latin typeface="Calibri"/>
                          <a:ea typeface="Calibri"/>
                          <a:cs typeface="Times New Roman"/>
                        </a:rPr>
                        <a:t>        Method of driving</a:t>
                      </a: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30 </a:t>
                      </a:r>
                      <a:r>
                        <a:rPr lang="en-AU" sz="1600" dirty="0" smtClean="0">
                          <a:latin typeface="Calibri"/>
                          <a:ea typeface="Calibri"/>
                          <a:cs typeface="Times New Roman"/>
                        </a:rPr>
                        <a:t>(75.0%)</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10 </a:t>
                      </a:r>
                      <a:r>
                        <a:rPr lang="en-AU" sz="1600" dirty="0" smtClean="0">
                          <a:latin typeface="Calibri"/>
                          <a:ea typeface="Calibri"/>
                          <a:cs typeface="Times New Roman"/>
                        </a:rPr>
                        <a:t>(25.0%)</a:t>
                      </a:r>
                      <a:endParaRPr lang="en-AU" sz="16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111 </a:t>
                      </a:r>
                      <a:r>
                        <a:rPr lang="en-AU" sz="1600" dirty="0" smtClean="0">
                          <a:latin typeface="Calibri"/>
                          <a:ea typeface="Calibri"/>
                          <a:cs typeface="Times New Roman"/>
                        </a:rPr>
                        <a:t>(68.9%)</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50 </a:t>
                      </a:r>
                      <a:r>
                        <a:rPr lang="en-AU" sz="1600" dirty="0" smtClean="0">
                          <a:latin typeface="Calibri"/>
                          <a:ea typeface="Calibri"/>
                          <a:cs typeface="Times New Roman"/>
                        </a:rPr>
                        <a:t>(31.1%)</a:t>
                      </a:r>
                      <a:endParaRPr lang="en-AU" sz="1600" dirty="0">
                        <a:latin typeface="Calibri"/>
                        <a:ea typeface="Calibri"/>
                        <a:cs typeface="Times New Roman"/>
                      </a:endParaRPr>
                    </a:p>
                  </a:txBody>
                  <a:tcPr marL="68580" marR="68580" marT="0" marB="0"/>
                </a:tc>
              </a:tr>
              <a:tr h="932854">
                <a:tc>
                  <a:txBody>
                    <a:bodyPr/>
                    <a:lstStyle/>
                    <a:p>
                      <a:pPr algn="l">
                        <a:lnSpc>
                          <a:spcPct val="115000"/>
                        </a:lnSpc>
                        <a:spcAft>
                          <a:spcPts val="0"/>
                        </a:spcAft>
                      </a:pPr>
                      <a:r>
                        <a:rPr lang="en-AU" sz="1600" dirty="0">
                          <a:latin typeface="Calibri"/>
                          <a:ea typeface="Calibri"/>
                          <a:cs typeface="Times New Roman"/>
                        </a:rPr>
                        <a:t>Alcohol </a:t>
                      </a:r>
                      <a:r>
                        <a:rPr lang="en-AU" sz="1600" dirty="0" smtClean="0">
                          <a:latin typeface="Calibri"/>
                          <a:ea typeface="Calibri"/>
                          <a:cs typeface="Times New Roman"/>
                        </a:rPr>
                        <a:t>use*</a:t>
                      </a:r>
                      <a:endParaRPr lang="en-AU" sz="1600" dirty="0">
                        <a:latin typeface="Calibri"/>
                        <a:ea typeface="Calibri"/>
                        <a:cs typeface="Times New Roman"/>
                      </a:endParaRPr>
                    </a:p>
                    <a:p>
                      <a:pPr algn="l">
                        <a:lnSpc>
                          <a:spcPct val="115000"/>
                        </a:lnSpc>
                        <a:spcAft>
                          <a:spcPts val="0"/>
                        </a:spcAft>
                      </a:pPr>
                      <a:r>
                        <a:rPr lang="en-AU" sz="1600" dirty="0">
                          <a:latin typeface="Calibri"/>
                          <a:ea typeface="Calibri"/>
                          <a:cs typeface="Times New Roman"/>
                        </a:rPr>
                        <a:t>        Non-risky</a:t>
                      </a:r>
                    </a:p>
                    <a:p>
                      <a:pPr algn="l">
                        <a:lnSpc>
                          <a:spcPct val="115000"/>
                        </a:lnSpc>
                        <a:spcAft>
                          <a:spcPts val="0"/>
                        </a:spcAft>
                      </a:pPr>
                      <a:r>
                        <a:rPr lang="en-AU" sz="1600" dirty="0">
                          <a:latin typeface="Calibri"/>
                          <a:ea typeface="Calibri"/>
                          <a:cs typeface="Times New Roman"/>
                        </a:rPr>
                        <a:t>        Risky</a:t>
                      </a: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18 </a:t>
                      </a:r>
                      <a:r>
                        <a:rPr lang="en-AU" sz="1600" dirty="0" smtClean="0">
                          <a:latin typeface="Calibri"/>
                          <a:ea typeface="Calibri"/>
                          <a:cs typeface="Times New Roman"/>
                        </a:rPr>
                        <a:t>(45.0%)</a:t>
                      </a: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22 </a:t>
                      </a:r>
                      <a:r>
                        <a:rPr lang="en-AU" sz="1600" dirty="0" smtClean="0">
                          <a:latin typeface="Calibri"/>
                          <a:ea typeface="Calibri"/>
                          <a:cs typeface="Times New Roman"/>
                        </a:rPr>
                        <a:t>(55.0%)</a:t>
                      </a:r>
                      <a:endParaRPr lang="en-AU" sz="1600" dirty="0">
                        <a:latin typeface="Calibri"/>
                        <a:ea typeface="Calibri"/>
                        <a:cs typeface="Times New Roman"/>
                      </a:endParaRPr>
                    </a:p>
                  </a:txBody>
                  <a:tcPr marL="68580" marR="68580" marT="0" marB="0"/>
                </a:tc>
                <a:tc>
                  <a:txBody>
                    <a:bodyPr/>
                    <a:lstStyle/>
                    <a:p>
                      <a:pPr algn="ctr">
                        <a:lnSpc>
                          <a:spcPct val="115000"/>
                        </a:lnSpc>
                        <a:spcAft>
                          <a:spcPts val="0"/>
                        </a:spcAft>
                      </a:pPr>
                      <a:endParaRPr lang="en-AU" sz="1600" dirty="0">
                        <a:latin typeface="Calibri"/>
                        <a:ea typeface="Calibri"/>
                        <a:cs typeface="Times New Roman"/>
                      </a:endParaRPr>
                    </a:p>
                    <a:p>
                      <a:pPr algn="ctr">
                        <a:lnSpc>
                          <a:spcPct val="115000"/>
                        </a:lnSpc>
                        <a:spcAft>
                          <a:spcPts val="0"/>
                        </a:spcAft>
                      </a:pPr>
                      <a:r>
                        <a:rPr lang="en-AU" sz="1600" dirty="0">
                          <a:latin typeface="Calibri"/>
                          <a:ea typeface="Calibri"/>
                          <a:cs typeface="Times New Roman"/>
                        </a:rPr>
                        <a:t>23 </a:t>
                      </a:r>
                      <a:r>
                        <a:rPr lang="en-AU" sz="1600" dirty="0" smtClean="0">
                          <a:latin typeface="Calibri"/>
                          <a:ea typeface="Calibri"/>
                          <a:cs typeface="Times New Roman"/>
                        </a:rPr>
                        <a:t>(14.3%)</a:t>
                      </a:r>
                      <a:endParaRPr lang="en-AU" sz="1600" dirty="0">
                        <a:latin typeface="Calibri"/>
                        <a:ea typeface="Calibri"/>
                        <a:cs typeface="Times New Roman"/>
                      </a:endParaRPr>
                    </a:p>
                    <a:p>
                      <a:pPr algn="ctr">
                        <a:lnSpc>
                          <a:spcPct val="115000"/>
                        </a:lnSpc>
                        <a:spcAft>
                          <a:spcPts val="0"/>
                        </a:spcAft>
                      </a:pPr>
                      <a:r>
                        <a:rPr lang="en-AU" sz="1600" b="0" i="0" dirty="0">
                          <a:latin typeface="Calibri"/>
                          <a:ea typeface="Calibri"/>
                          <a:cs typeface="Times New Roman"/>
                        </a:rPr>
                        <a:t>138 </a:t>
                      </a:r>
                      <a:r>
                        <a:rPr lang="en-AU" sz="1600" b="0" i="0" dirty="0" smtClean="0">
                          <a:latin typeface="Calibri"/>
                          <a:ea typeface="Calibri"/>
                          <a:cs typeface="Times New Roman"/>
                        </a:rPr>
                        <a:t>(85.7%)</a:t>
                      </a:r>
                      <a:endParaRPr lang="en-AU" sz="1600" b="0" i="0" dirty="0">
                        <a:latin typeface="Calibri"/>
                        <a:ea typeface="Calibri"/>
                        <a:cs typeface="Times New Roman"/>
                      </a:endParaRPr>
                    </a:p>
                  </a:txBody>
                  <a:tcPr marL="68580" marR="68580" marT="0" marB="0"/>
                </a:tc>
              </a:tr>
            </a:tbl>
          </a:graphicData>
        </a:graphic>
      </p:graphicFrame>
      <p:sp>
        <p:nvSpPr>
          <p:cNvPr id="6" name="TextBox 5"/>
          <p:cNvSpPr txBox="1"/>
          <p:nvPr/>
        </p:nvSpPr>
        <p:spPr>
          <a:xfrm>
            <a:off x="539552" y="6126909"/>
            <a:ext cx="3240360" cy="307777"/>
          </a:xfrm>
          <a:prstGeom prst="rect">
            <a:avLst/>
          </a:prstGeom>
          <a:noFill/>
        </p:spPr>
        <p:txBody>
          <a:bodyPr wrap="square" rtlCol="0">
            <a:spAutoFit/>
          </a:bodyPr>
          <a:lstStyle/>
          <a:p>
            <a:r>
              <a:rPr lang="en-AU" sz="1400" dirty="0" smtClean="0">
                <a:latin typeface="Calibri" pitchFamily="34" charset="0"/>
                <a:cs typeface="Calibri" pitchFamily="34" charset="0"/>
              </a:rPr>
              <a:t>*p &lt;.</a:t>
            </a:r>
            <a:r>
              <a:rPr lang="en-AU" sz="1400" dirty="0" smtClean="0">
                <a:latin typeface="Calibri" pitchFamily="34" charset="0"/>
                <a:cs typeface="Calibri" pitchFamily="34" charset="0"/>
              </a:rPr>
              <a:t>001</a:t>
            </a:r>
            <a:endParaRPr lang="en-AU" sz="1400" dirty="0">
              <a:latin typeface="Calibri" pitchFamily="34" charset="0"/>
              <a:cs typeface="Calibri" pitchFamily="34" charset="0"/>
            </a:endParaRPr>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400" dirty="0" smtClean="0">
                <a:solidFill>
                  <a:schemeClr val="tx2"/>
                </a:solidFill>
              </a:rPr>
              <a:t>Percentage of past reported drink driving according to risky drinking</a:t>
            </a:r>
            <a:endParaRPr lang="en-AU" sz="2400" dirty="0">
              <a:solidFill>
                <a:schemeClr val="tx2"/>
              </a:solidFill>
            </a:endParaRPr>
          </a:p>
        </p:txBody>
      </p:sp>
      <p:graphicFrame>
        <p:nvGraphicFramePr>
          <p:cNvPr id="4" name="Content Placeholder 3"/>
          <p:cNvGraphicFramePr>
            <a:graphicFrameLocks noGrp="1"/>
          </p:cNvGraphicFramePr>
          <p:nvPr>
            <p:ph idx="1"/>
          </p:nvPr>
        </p:nvGraphicFramePr>
        <p:xfrm>
          <a:off x="457200" y="1628800"/>
          <a:ext cx="8229600" cy="452596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400" dirty="0" smtClean="0">
                <a:solidFill>
                  <a:schemeClr val="tx2"/>
                </a:solidFill>
              </a:rPr>
              <a:t>Percentage of self reported drink driving according to age groups</a:t>
            </a:r>
            <a:endParaRPr lang="en-AU" sz="2400" dirty="0">
              <a:solidFill>
                <a:schemeClr val="tx2"/>
              </a:solidFill>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Logistic Regression</a:t>
            </a:r>
            <a:endParaRPr lang="en-AU" dirty="0">
              <a:solidFill>
                <a:schemeClr val="tx2"/>
              </a:solidFill>
            </a:endParaRPr>
          </a:p>
        </p:txBody>
      </p:sp>
      <p:sp>
        <p:nvSpPr>
          <p:cNvPr id="3" name="Content Placeholder 2"/>
          <p:cNvSpPr>
            <a:spLocks noGrp="1"/>
          </p:cNvSpPr>
          <p:nvPr>
            <p:ph idx="1"/>
          </p:nvPr>
        </p:nvSpPr>
        <p:spPr/>
        <p:txBody>
          <a:bodyPr/>
          <a:lstStyle/>
          <a:p>
            <a:endParaRPr lang="en-AU" dirty="0" smtClean="0">
              <a:solidFill>
                <a:schemeClr val="tx2"/>
              </a:solidFill>
            </a:endParaRPr>
          </a:p>
          <a:p>
            <a:r>
              <a:rPr lang="en-AU" dirty="0" smtClean="0">
                <a:solidFill>
                  <a:schemeClr val="tx2"/>
                </a:solidFill>
              </a:rPr>
              <a:t>Risky drinkers were 4.6 times more likely to report drink driving in the 6 months prior to the offence than non risky drinkers*.</a:t>
            </a:r>
          </a:p>
          <a:p>
            <a:pPr>
              <a:buNone/>
            </a:pPr>
            <a:endParaRPr lang="en-AU" dirty="0" smtClean="0">
              <a:solidFill>
                <a:schemeClr val="tx2"/>
              </a:solidFill>
            </a:endParaRPr>
          </a:p>
          <a:p>
            <a:r>
              <a:rPr lang="en-AU" dirty="0" smtClean="0">
                <a:solidFill>
                  <a:schemeClr val="tx2"/>
                </a:solidFill>
              </a:rPr>
              <a:t>Other offender characteristics were not significant.</a:t>
            </a:r>
          </a:p>
          <a:p>
            <a:pPr>
              <a:buNone/>
            </a:pPr>
            <a:endParaRPr lang="en-AU" dirty="0" smtClean="0"/>
          </a:p>
        </p:txBody>
      </p:sp>
      <p:sp>
        <p:nvSpPr>
          <p:cNvPr id="5" name="TextBox 4"/>
          <p:cNvSpPr txBox="1"/>
          <p:nvPr/>
        </p:nvSpPr>
        <p:spPr>
          <a:xfrm>
            <a:off x="941696" y="6086901"/>
            <a:ext cx="5646528" cy="369332"/>
          </a:xfrm>
          <a:prstGeom prst="rect">
            <a:avLst/>
          </a:prstGeom>
          <a:noFill/>
        </p:spPr>
        <p:txBody>
          <a:bodyPr wrap="square" rtlCol="0">
            <a:spAutoFit/>
          </a:bodyPr>
          <a:lstStyle/>
          <a:p>
            <a:r>
              <a:rPr lang="en-AU" dirty="0" smtClean="0">
                <a:solidFill>
                  <a:schemeClr val="tx2"/>
                </a:solidFill>
                <a:latin typeface="Calibri" pitchFamily="34" charset="0"/>
                <a:cs typeface="Calibri" pitchFamily="34" charset="0"/>
              </a:rPr>
              <a:t>*(CI 95%)</a:t>
            </a:r>
            <a:endParaRPr lang="en-AU" dirty="0">
              <a:solidFill>
                <a:schemeClr val="tx2"/>
              </a:solidFill>
              <a:latin typeface="Calibri" pitchFamily="34" charset="0"/>
              <a:cs typeface="Calibri" pitchFamily="34" charset="0"/>
            </a:endParaRPr>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Summary of findings</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Risky drinking and age were significantly associated with past reported drink driving in bivariate analyses.</a:t>
            </a:r>
          </a:p>
          <a:p>
            <a:endParaRPr lang="en-AU" dirty="0" smtClean="0">
              <a:solidFill>
                <a:schemeClr val="tx2"/>
              </a:solidFill>
            </a:endParaRPr>
          </a:p>
          <a:p>
            <a:r>
              <a:rPr lang="en-AU" dirty="0" smtClean="0">
                <a:solidFill>
                  <a:schemeClr val="tx2"/>
                </a:solidFill>
              </a:rPr>
              <a:t>Risky drinkers </a:t>
            </a:r>
            <a:r>
              <a:rPr lang="en-AU" dirty="0" smtClean="0">
                <a:solidFill>
                  <a:schemeClr val="tx2"/>
                </a:solidFill>
              </a:rPr>
              <a:t>were almost 5 times as likely to engage in drink driving in the six months prior to the offence.</a:t>
            </a:r>
            <a:endParaRPr lang="en-AU" dirty="0">
              <a:solidFill>
                <a:schemeClr val="tx2"/>
              </a:solidFill>
            </a:endParaRPr>
          </a:p>
        </p:txBody>
      </p:sp>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solidFill>
                  <a:schemeClr val="tx2"/>
                </a:solidFill>
              </a:rPr>
              <a:t>Limitations</a:t>
            </a:r>
            <a:endParaRPr lang="en-AU" sz="4000" dirty="0">
              <a:solidFill>
                <a:schemeClr val="tx2"/>
              </a:solidFill>
            </a:endParaRPr>
          </a:p>
        </p:txBody>
      </p:sp>
      <p:sp>
        <p:nvSpPr>
          <p:cNvPr id="3" name="Content Placeholder 2"/>
          <p:cNvSpPr>
            <a:spLocks noGrp="1"/>
          </p:cNvSpPr>
          <p:nvPr>
            <p:ph idx="1"/>
          </p:nvPr>
        </p:nvSpPr>
        <p:spPr>
          <a:xfrm>
            <a:off x="457200" y="1417638"/>
            <a:ext cx="8229600" cy="4708525"/>
          </a:xfrm>
        </p:spPr>
        <p:txBody>
          <a:bodyPr/>
          <a:lstStyle/>
          <a:p>
            <a:pPr marL="342900" lvl="1" indent="-342900">
              <a:buFont typeface="Arial" pitchFamily="34" charset="0"/>
              <a:buChar char="•"/>
            </a:pPr>
            <a:r>
              <a:rPr lang="en-AU" sz="3200" dirty="0" smtClean="0">
                <a:solidFill>
                  <a:schemeClr val="tx2"/>
                </a:solidFill>
                <a:cs typeface="ＭＳ Ｐゴシック" pitchFamily="-109" charset="-128"/>
              </a:rPr>
              <a:t>Preliminary results of a very small part of initial research – more research to follow!</a:t>
            </a:r>
          </a:p>
          <a:p>
            <a:pPr>
              <a:buFont typeface="Arial" pitchFamily="34" charset="0"/>
              <a:buChar char="•"/>
            </a:pPr>
            <a:r>
              <a:rPr lang="en-AU" dirty="0" smtClean="0">
                <a:solidFill>
                  <a:schemeClr val="tx2"/>
                </a:solidFill>
              </a:rPr>
              <a:t>Self report measures</a:t>
            </a:r>
          </a:p>
          <a:p>
            <a:pPr>
              <a:buFont typeface="Arial" pitchFamily="34" charset="0"/>
              <a:buChar char="•"/>
            </a:pPr>
            <a:r>
              <a:rPr lang="en-AU" dirty="0" smtClean="0">
                <a:solidFill>
                  <a:schemeClr val="tx2"/>
                </a:solidFill>
              </a:rPr>
              <a:t>Sample characteristics</a:t>
            </a:r>
          </a:p>
          <a:p>
            <a:pPr lvl="1">
              <a:buFont typeface="Arial" pitchFamily="34" charset="0"/>
              <a:buChar char="–"/>
            </a:pPr>
            <a:r>
              <a:rPr lang="en-AU" sz="2400" dirty="0" smtClean="0">
                <a:solidFill>
                  <a:schemeClr val="tx2"/>
                </a:solidFill>
              </a:rPr>
              <a:t>  Educated</a:t>
            </a:r>
            <a:endParaRPr lang="en-AU" sz="2400" dirty="0" smtClean="0">
              <a:solidFill>
                <a:schemeClr val="tx2"/>
              </a:solidFill>
            </a:endParaRPr>
          </a:p>
          <a:p>
            <a:pPr>
              <a:buFont typeface="Arial" pitchFamily="34" charset="0"/>
              <a:buChar char="•"/>
            </a:pPr>
            <a:r>
              <a:rPr lang="en-AU" dirty="0" smtClean="0">
                <a:solidFill>
                  <a:schemeClr val="tx2"/>
                </a:solidFill>
              </a:rPr>
              <a:t>Number </a:t>
            </a:r>
            <a:r>
              <a:rPr lang="en-AU" dirty="0" smtClean="0">
                <a:solidFill>
                  <a:schemeClr val="tx2"/>
                </a:solidFill>
              </a:rPr>
              <a:t>of offenders</a:t>
            </a:r>
          </a:p>
          <a:p>
            <a:pPr>
              <a:buFont typeface="Arial" pitchFamily="34" charset="0"/>
              <a:buChar char="•"/>
            </a:pPr>
            <a:r>
              <a:rPr lang="en-AU" dirty="0" smtClean="0">
                <a:solidFill>
                  <a:schemeClr val="tx2"/>
                </a:solidFill>
              </a:rPr>
              <a:t>Time frame </a:t>
            </a:r>
          </a:p>
          <a:p>
            <a:pPr marL="971550" lvl="1" indent="-514350">
              <a:buFont typeface="Arial" pitchFamily="34" charset="0"/>
              <a:buChar char="–"/>
            </a:pPr>
            <a:r>
              <a:rPr lang="en-AU" sz="2400" dirty="0" smtClean="0">
                <a:solidFill>
                  <a:schemeClr val="tx2"/>
                </a:solidFill>
              </a:rPr>
              <a:t>5 year recidivist </a:t>
            </a:r>
            <a:r>
              <a:rPr lang="en-AU" sz="2400" dirty="0" smtClean="0">
                <a:solidFill>
                  <a:schemeClr val="tx2"/>
                </a:solidFill>
              </a:rPr>
              <a:t>classification</a:t>
            </a:r>
          </a:p>
          <a:p>
            <a:endParaRPr lang="en-AU" dirty="0"/>
          </a:p>
        </p:txBody>
      </p:sp>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solidFill>
                  <a:schemeClr val="tx2"/>
                </a:solidFill>
              </a:rPr>
              <a:t>Research Directions</a:t>
            </a:r>
            <a:endParaRPr lang="en-AU" sz="4000" dirty="0">
              <a:solidFill>
                <a:schemeClr val="tx2"/>
              </a:solidFill>
            </a:endParaRPr>
          </a:p>
        </p:txBody>
      </p:sp>
      <p:sp>
        <p:nvSpPr>
          <p:cNvPr id="3" name="Content Placeholder 2"/>
          <p:cNvSpPr>
            <a:spLocks noGrp="1"/>
          </p:cNvSpPr>
          <p:nvPr>
            <p:ph idx="1"/>
          </p:nvPr>
        </p:nvSpPr>
        <p:spPr>
          <a:xfrm>
            <a:off x="457200" y="1417638"/>
            <a:ext cx="8229600" cy="4708525"/>
          </a:xfrm>
        </p:spPr>
        <p:txBody>
          <a:bodyPr/>
          <a:lstStyle/>
          <a:p>
            <a:pPr>
              <a:buFont typeface="Arial" pitchFamily="34" charset="0"/>
              <a:buChar char="•"/>
            </a:pPr>
            <a:endParaRPr lang="en-AU" sz="2800" dirty="0" smtClean="0">
              <a:solidFill>
                <a:schemeClr val="tx2"/>
              </a:solidFill>
            </a:endParaRPr>
          </a:p>
          <a:p>
            <a:pPr>
              <a:buFont typeface="Arial" pitchFamily="34" charset="0"/>
              <a:buChar char="•"/>
            </a:pPr>
            <a:r>
              <a:rPr lang="en-AU" dirty="0" smtClean="0">
                <a:solidFill>
                  <a:schemeClr val="tx2"/>
                </a:solidFill>
              </a:rPr>
              <a:t>Follow-up </a:t>
            </a:r>
            <a:r>
              <a:rPr lang="en-AU" dirty="0" smtClean="0">
                <a:solidFill>
                  <a:schemeClr val="tx2"/>
                </a:solidFill>
              </a:rPr>
              <a:t>offenders (</a:t>
            </a:r>
            <a:r>
              <a:rPr lang="en-AU" dirty="0" smtClean="0">
                <a:solidFill>
                  <a:schemeClr val="tx2"/>
                </a:solidFill>
              </a:rPr>
              <a:t>phone/web based</a:t>
            </a:r>
            <a:r>
              <a:rPr lang="en-AU" dirty="0" smtClean="0">
                <a:solidFill>
                  <a:schemeClr val="tx2"/>
                </a:solidFill>
              </a:rPr>
              <a:t>)</a:t>
            </a:r>
          </a:p>
          <a:p>
            <a:pPr>
              <a:buFont typeface="Arial" pitchFamily="34" charset="0"/>
              <a:buChar char="•"/>
            </a:pPr>
            <a:r>
              <a:rPr lang="en-AU" dirty="0" smtClean="0">
                <a:solidFill>
                  <a:schemeClr val="tx2"/>
                </a:solidFill>
              </a:rPr>
              <a:t>Queensland Transport crash/offence data </a:t>
            </a:r>
            <a:r>
              <a:rPr lang="en-AU" dirty="0" smtClean="0">
                <a:solidFill>
                  <a:schemeClr val="tx2"/>
                </a:solidFill>
              </a:rPr>
              <a:t>for study participants</a:t>
            </a:r>
            <a:endParaRPr lang="en-AU" dirty="0" smtClean="0">
              <a:solidFill>
                <a:schemeClr val="tx2"/>
              </a:solidFill>
            </a:endParaRPr>
          </a:p>
          <a:p>
            <a:pPr>
              <a:buFont typeface="Arial" pitchFamily="34" charset="0"/>
              <a:buChar char="•"/>
            </a:pPr>
            <a:r>
              <a:rPr lang="en-AU" dirty="0" smtClean="0">
                <a:solidFill>
                  <a:schemeClr val="tx2"/>
                </a:solidFill>
              </a:rPr>
              <a:t>Design an intervention </a:t>
            </a:r>
            <a:r>
              <a:rPr lang="en-AU" dirty="0" smtClean="0">
                <a:solidFill>
                  <a:schemeClr val="tx2"/>
                </a:solidFill>
              </a:rPr>
              <a:t>program (computer based) specifically for first offenders</a:t>
            </a:r>
          </a:p>
          <a:p>
            <a:pPr>
              <a:buNone/>
            </a:pPr>
            <a:endParaRPr lang="en-AU" dirty="0"/>
          </a:p>
        </p:txBody>
      </p:sp>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4000" dirty="0" smtClean="0">
                <a:solidFill>
                  <a:schemeClr val="tx2"/>
                </a:solidFill>
              </a:rPr>
              <a:t>Policy &amp; Countermeasure Implications</a:t>
            </a:r>
            <a:endParaRPr lang="en-AU" sz="4000" dirty="0">
              <a:solidFill>
                <a:schemeClr val="tx2"/>
              </a:solidFill>
            </a:endParaRPr>
          </a:p>
        </p:txBody>
      </p:sp>
      <p:sp>
        <p:nvSpPr>
          <p:cNvPr id="3" name="Content Placeholder 2"/>
          <p:cNvSpPr>
            <a:spLocks noGrp="1"/>
          </p:cNvSpPr>
          <p:nvPr>
            <p:ph idx="1"/>
          </p:nvPr>
        </p:nvSpPr>
        <p:spPr>
          <a:xfrm>
            <a:off x="457200" y="1772816"/>
            <a:ext cx="8229600" cy="4353347"/>
          </a:xfrm>
        </p:spPr>
        <p:txBody>
          <a:bodyPr/>
          <a:lstStyle/>
          <a:p>
            <a:r>
              <a:rPr lang="en-AU" dirty="0" smtClean="0">
                <a:solidFill>
                  <a:schemeClr val="tx2"/>
                </a:solidFill>
              </a:rPr>
              <a:t>Education and rehabilitation programs relating to drink driving</a:t>
            </a:r>
          </a:p>
          <a:p>
            <a:pPr lvl="1"/>
            <a:r>
              <a:rPr lang="en-AU" dirty="0" smtClean="0">
                <a:solidFill>
                  <a:schemeClr val="tx2"/>
                </a:solidFill>
              </a:rPr>
              <a:t>Targeting risky drinkers</a:t>
            </a:r>
          </a:p>
          <a:p>
            <a:pPr lvl="1"/>
            <a:r>
              <a:rPr lang="en-AU" dirty="0" smtClean="0">
                <a:solidFill>
                  <a:schemeClr val="tx2"/>
                </a:solidFill>
              </a:rPr>
              <a:t>Brief intervention</a:t>
            </a:r>
          </a:p>
          <a:p>
            <a:endParaRPr lang="en-AU" dirty="0" smtClean="0">
              <a:solidFill>
                <a:schemeClr val="tx2"/>
              </a:solidFill>
            </a:endParaRPr>
          </a:p>
          <a:p>
            <a:pPr marL="342900" lvl="1" indent="-342900">
              <a:buFont typeface="Arial" charset="0"/>
              <a:buChar char="•"/>
            </a:pPr>
            <a:r>
              <a:rPr lang="en-AU" sz="3200" dirty="0" smtClean="0">
                <a:solidFill>
                  <a:schemeClr val="tx2"/>
                </a:solidFill>
                <a:cs typeface="ＭＳ Ｐゴシック" pitchFamily="-109" charset="-128"/>
              </a:rPr>
              <a:t>Legislative reform </a:t>
            </a:r>
            <a:r>
              <a:rPr lang="en-AU" sz="3200" dirty="0" smtClean="0">
                <a:solidFill>
                  <a:schemeClr val="tx2"/>
                </a:solidFill>
                <a:cs typeface="ＭＳ Ｐゴシック" pitchFamily="-109" charset="-128"/>
              </a:rPr>
              <a:t>which allows for all offenders to take part in targeted rehabilitation</a:t>
            </a:r>
          </a:p>
          <a:p>
            <a:endParaRPr lang="en-AU" dirty="0" smtClean="0">
              <a:solidFill>
                <a:schemeClr val="tx2"/>
              </a:solidFill>
            </a:endParaRPr>
          </a:p>
          <a:p>
            <a:pPr lvl="1"/>
            <a:endParaRPr lang="en-AU" dirty="0" smtClean="0">
              <a:solidFill>
                <a:schemeClr val="tx2"/>
              </a:solidFill>
            </a:endParaRPr>
          </a:p>
        </p:txBody>
      </p:sp>
    </p:spTree>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1071546"/>
            <a:ext cx="7972452" cy="2571768"/>
          </a:xfrm>
        </p:spPr>
        <p:txBody>
          <a:bodyPr/>
          <a:lstStyle/>
          <a:p>
            <a:pPr algn="ctr">
              <a:buNone/>
            </a:pPr>
            <a:endParaRPr lang="en-AU" dirty="0" smtClean="0"/>
          </a:p>
          <a:p>
            <a:pPr algn="ctr">
              <a:buNone/>
            </a:pPr>
            <a:endParaRPr lang="en-AU" dirty="0" smtClean="0"/>
          </a:p>
          <a:p>
            <a:pPr>
              <a:buNone/>
            </a:pPr>
            <a:endParaRPr lang="en-AU" dirty="0" smtClean="0">
              <a:solidFill>
                <a:schemeClr val="tx2"/>
              </a:solidFill>
            </a:endParaRPr>
          </a:p>
          <a:p>
            <a:pPr>
              <a:buNone/>
            </a:pPr>
            <a:endParaRPr lang="en-AU" dirty="0" smtClean="0">
              <a:solidFill>
                <a:schemeClr val="tx2"/>
              </a:solidFill>
            </a:endParaRPr>
          </a:p>
          <a:p>
            <a:pPr>
              <a:buNone/>
            </a:pPr>
            <a:endParaRPr lang="en-AU" dirty="0" smtClean="0">
              <a:solidFill>
                <a:schemeClr val="tx2"/>
              </a:solidFill>
            </a:endParaRPr>
          </a:p>
          <a:p>
            <a:pPr>
              <a:buNone/>
            </a:pPr>
            <a:endParaRPr lang="en-AU" dirty="0" smtClean="0">
              <a:solidFill>
                <a:schemeClr val="tx2"/>
              </a:solidFill>
            </a:endParaRPr>
          </a:p>
          <a:p>
            <a:pPr algn="ctr">
              <a:buNone/>
            </a:pPr>
            <a:r>
              <a:rPr lang="en-AU" sz="2400" b="1" i="1" dirty="0" smtClean="0">
                <a:solidFill>
                  <a:schemeClr val="tx2"/>
                </a:solidFill>
              </a:rPr>
              <a:t>Mark </a:t>
            </a:r>
            <a:r>
              <a:rPr lang="en-AU" sz="2400" b="1" i="1" dirty="0" smtClean="0">
                <a:solidFill>
                  <a:schemeClr val="tx2"/>
                </a:solidFill>
              </a:rPr>
              <a:t>your </a:t>
            </a:r>
            <a:r>
              <a:rPr lang="en-AU" sz="2400" b="1" i="1" dirty="0" smtClean="0">
                <a:solidFill>
                  <a:schemeClr val="tx2"/>
                </a:solidFill>
              </a:rPr>
              <a:t>Diaries!</a:t>
            </a:r>
          </a:p>
          <a:p>
            <a:pPr algn="ctr">
              <a:buNone/>
            </a:pPr>
            <a:r>
              <a:rPr lang="en-AU" sz="2400" i="1" dirty="0" smtClean="0">
                <a:solidFill>
                  <a:schemeClr val="tx2"/>
                </a:solidFill>
              </a:rPr>
              <a:t>International Council on Alcohol, Drugs and Traffic Safety Conference (T2013)</a:t>
            </a:r>
          </a:p>
          <a:p>
            <a:pPr algn="ctr">
              <a:buNone/>
            </a:pPr>
            <a:r>
              <a:rPr lang="en-AU" sz="2400" i="1" dirty="0" smtClean="0">
                <a:solidFill>
                  <a:schemeClr val="tx2"/>
                </a:solidFill>
              </a:rPr>
              <a:t>August 2013, Brisbane Convention and Exhibition Centre</a:t>
            </a:r>
            <a:endParaRPr lang="en-AU" sz="2400" i="1" dirty="0">
              <a:solidFill>
                <a:schemeClr val="tx2"/>
              </a:solidFill>
            </a:endParaRPr>
          </a:p>
        </p:txBody>
      </p:sp>
      <p:pic>
        <p:nvPicPr>
          <p:cNvPr id="4" name="Picture 2" descr="http://www.micktravels.com/australia/images/queensland_map.jpg"/>
          <p:cNvPicPr>
            <a:picLocks noChangeAspect="1" noChangeArrowheads="1"/>
          </p:cNvPicPr>
          <p:nvPr/>
        </p:nvPicPr>
        <p:blipFill>
          <a:blip r:embed="rId2"/>
          <a:srcRect/>
          <a:stretch>
            <a:fillRect/>
          </a:stretch>
        </p:blipFill>
        <p:spPr bwMode="auto">
          <a:xfrm>
            <a:off x="5260213" y="0"/>
            <a:ext cx="3883787" cy="4500570"/>
          </a:xfrm>
          <a:prstGeom prst="rect">
            <a:avLst/>
          </a:prstGeom>
          <a:noFill/>
        </p:spPr>
      </p:pic>
      <p:sp>
        <p:nvSpPr>
          <p:cNvPr id="5" name="TextBox 4"/>
          <p:cNvSpPr txBox="1"/>
          <p:nvPr/>
        </p:nvSpPr>
        <p:spPr>
          <a:xfrm>
            <a:off x="285719" y="681320"/>
            <a:ext cx="5357851" cy="2677656"/>
          </a:xfrm>
          <a:prstGeom prst="rect">
            <a:avLst/>
          </a:prstGeom>
          <a:noFill/>
        </p:spPr>
        <p:txBody>
          <a:bodyPr wrap="square" rtlCol="0">
            <a:spAutoFit/>
          </a:bodyPr>
          <a:lstStyle/>
          <a:p>
            <a:endParaRPr lang="nb-NO" sz="2400" dirty="0" smtClean="0">
              <a:solidFill>
                <a:schemeClr val="tx2"/>
              </a:solidFill>
            </a:endParaRPr>
          </a:p>
          <a:p>
            <a:endParaRPr lang="nb-NO" sz="2400" dirty="0" smtClean="0">
              <a:solidFill>
                <a:schemeClr val="tx2"/>
              </a:solidFill>
            </a:endParaRPr>
          </a:p>
          <a:p>
            <a:endParaRPr lang="nb-NO" sz="2400" dirty="0" smtClean="0">
              <a:solidFill>
                <a:schemeClr val="tx2"/>
              </a:solidFill>
            </a:endParaRPr>
          </a:p>
          <a:p>
            <a:pPr algn="ctr"/>
            <a:endParaRPr lang="nb-NO" sz="3200" dirty="0" smtClean="0">
              <a:solidFill>
                <a:schemeClr val="tx2"/>
              </a:solidFill>
            </a:endParaRPr>
          </a:p>
          <a:p>
            <a:pPr algn="ctr"/>
            <a:r>
              <a:rPr lang="nb-NO" sz="3200" dirty="0" smtClean="0">
                <a:solidFill>
                  <a:schemeClr val="tx2"/>
                </a:solidFill>
              </a:rPr>
              <a:t>Questions?</a:t>
            </a:r>
            <a:endParaRPr lang="nb-NO" sz="3200" dirty="0" smtClean="0">
              <a:solidFill>
                <a:schemeClr val="tx2"/>
              </a:solidFill>
            </a:endParaRPr>
          </a:p>
          <a:p>
            <a:pPr algn="ctr"/>
            <a:r>
              <a:rPr lang="nb-NO" sz="2400" i="1" dirty="0" smtClean="0">
                <a:solidFill>
                  <a:schemeClr val="tx2"/>
                </a:solidFill>
              </a:rPr>
              <a:t>hollie.wilson@qut.edu.au</a:t>
            </a:r>
            <a:r>
              <a:rPr lang="nb-NO" sz="3200" dirty="0" smtClean="0">
                <a:solidFill>
                  <a:schemeClr val="tx2"/>
                </a:solidFill>
              </a:rPr>
              <a:t> </a:t>
            </a:r>
            <a:endParaRPr lang="en-US" sz="3200" dirty="0">
              <a:solidFill>
                <a:schemeClr val="tx2"/>
              </a:solidFill>
            </a:endParaRPr>
          </a:p>
        </p:txBody>
      </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19149</TotalTime>
  <Words>1681</Words>
  <Application>Microsoft Office PowerPoint</Application>
  <PresentationFormat>On-screen Show (4:3)</PresentationFormat>
  <Paragraphs>296</Paragraphs>
  <Slides>21</Slides>
  <Notes>10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Acknowledgements</vt:lpstr>
      <vt:lpstr>Overview of presentation</vt:lpstr>
      <vt:lpstr>Drink Driving: Australian Context</vt:lpstr>
      <vt:lpstr>Drink Driving: Queensland Context</vt:lpstr>
      <vt:lpstr>All Offender Characteristics</vt:lpstr>
      <vt:lpstr>First offender characteristics</vt:lpstr>
      <vt:lpstr>Research aims</vt:lpstr>
      <vt:lpstr>Study methodology</vt:lpstr>
      <vt:lpstr>Sample characteristics</vt:lpstr>
      <vt:lpstr>Self reported drink driving in the six months prior to offence</vt:lpstr>
      <vt:lpstr>Slide 12</vt:lpstr>
      <vt:lpstr>Slide 13</vt:lpstr>
      <vt:lpstr>Percentage of past reported drink driving according to risky drinking</vt:lpstr>
      <vt:lpstr>Percentage of self reported drink driving according to age groups</vt:lpstr>
      <vt:lpstr>Logistic Regression</vt:lpstr>
      <vt:lpstr>Summary of findings</vt:lpstr>
      <vt:lpstr>Limitations</vt:lpstr>
      <vt:lpstr>Research Directions</vt:lpstr>
      <vt:lpstr>Policy &amp; Countermeasure Implications</vt:lpstr>
      <vt:lpstr>Slide 21</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pc-utleie.no</cp:lastModifiedBy>
  <cp:revision>433</cp:revision>
  <dcterms:created xsi:type="dcterms:W3CDTF">2009-02-16T00:16:40Z</dcterms:created>
  <dcterms:modified xsi:type="dcterms:W3CDTF">2010-08-25T15:08:30Z</dcterms:modified>
</cp:coreProperties>
</file>