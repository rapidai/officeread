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438912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E8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10704" y="15558"/>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BA1DF3-6E8C-47FA-8642-490CD45A914E}" type="datetimeFigureOut">
              <a:rPr lang="en-US" smtClean="0"/>
              <a:pPr/>
              <a:t>7/12/2012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2E91B5-43E4-4C25-BA00-4CF15CC73DF1}" type="slidenum">
              <a:rPr lang="en-US" smtClean="0"/>
              <a:pPr/>
              <a:t>‹#›</a:t>
            </a:fld>
            <a:endParaRPr lang="en-US"/>
          </a:p>
        </p:txBody>
      </p:sp>
    </p:spTree>
    <p:extLst>
      <p:ext uri="{BB962C8B-B14F-4D97-AF65-F5344CB8AC3E}">
        <p14:creationId xmlns:p14="http://schemas.microsoft.com/office/powerpoint/2010/main" val="734002667"/>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52E91B5-43E4-4C25-BA00-4CF15CC73DF1}" type="slidenum">
              <a:rPr lang="en-US" smtClean="0"/>
              <a:pPr/>
              <a:t>1</a:t>
            </a:fld>
            <a:endParaRPr lang="en-US"/>
          </a:p>
        </p:txBody>
      </p:sp>
    </p:spTree>
    <p:extLst>
      <p:ext uri="{BB962C8B-B14F-4D97-AF65-F5344CB8AC3E}">
        <p14:creationId xmlns:p14="http://schemas.microsoft.com/office/powerpoint/2010/main" val="4014136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smtClean="0"/>
              <a:t>Click to edit Master title style</a:t>
            </a:r>
            <a:endParaRPr lang="en-US"/>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59CF832-BFA6-47D9-835D-B40553B4568E}" type="datetimeFigureOut">
              <a:rPr lang="en-US" smtClean="0"/>
              <a:pPr/>
              <a:t>7/12/2012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1519518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9CF832-BFA6-47D9-835D-B40553B4568E}" type="datetimeFigureOut">
              <a:rPr lang="en-US" smtClean="0"/>
              <a:pPr/>
              <a:t>7/12/2012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635876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smtClean="0"/>
              <a:t>Click to edit Master title style</a:t>
            </a:r>
            <a:endParaRPr lang="en-US"/>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59CF832-BFA6-47D9-835D-B40553B4568E}" type="datetimeFigureOut">
              <a:rPr lang="en-US" smtClean="0"/>
              <a:pPr/>
              <a:t>7/12/2012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725191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1945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2311360" y="7680963"/>
            <a:ext cx="19385280" cy="2172462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59CF832-BFA6-47D9-835D-B40553B4568E}" type="datetimeFigureOut">
              <a:rPr lang="en-US" smtClean="0"/>
              <a:pPr/>
              <a:t>7/12/2012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682109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smtClean="0"/>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59CF832-BFA6-47D9-835D-B40553B4568E}" type="datetimeFigureOut">
              <a:rPr lang="en-US" smtClean="0"/>
              <a:pPr/>
              <a:t>7/12/2012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948198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59CF832-BFA6-47D9-835D-B40553B4568E}" type="datetimeFigureOut">
              <a:rPr lang="en-US" smtClean="0"/>
              <a:pPr/>
              <a:t>7/12/2012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1621405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9CF832-BFA6-47D9-835D-B40553B4568E}" type="datetimeFigureOut">
              <a:rPr lang="en-US" smtClean="0"/>
              <a:pPr/>
              <a:t>7/12/2012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3585771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smtClean="0"/>
              <a:t>Click to edit Master title style</a:t>
            </a:r>
            <a:endParaRPr lang="en-US"/>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9CF832-BFA6-47D9-835D-B40553B4568E}" type="datetimeFigureOut">
              <a:rPr lang="en-US" smtClean="0"/>
              <a:pPr/>
              <a:t>7/12/2012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3247547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smtClean="0"/>
              <a:t>Click to edit Master title style</a:t>
            </a:r>
            <a:endParaRPr lang="en-US"/>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9CF832-BFA6-47D9-835D-B40553B4568E}" type="datetimeFigureOut">
              <a:rPr lang="en-US" smtClean="0"/>
              <a:pPr/>
              <a:t>7/12/2012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1039167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9CF832-BFA6-47D9-835D-B40553B4568E}" type="datetimeFigureOut">
              <a:rPr lang="en-US" smtClean="0"/>
              <a:pPr/>
              <a:t>7/12/2012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3094710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0" y="1318265"/>
            <a:ext cx="9875520" cy="2808732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194560" y="1318265"/>
            <a:ext cx="28895040" cy="280873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9CF832-BFA6-47D9-835D-B40553B4568E}" type="datetimeFigureOut">
              <a:rPr lang="en-US" smtClean="0"/>
              <a:pPr/>
              <a:t>7/12/2012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2EA101-D3AA-461F-A55D-4480F71C91B3}" type="slidenum">
              <a:rPr lang="en-US" smtClean="0"/>
              <a:pPr/>
              <a:t>‹#›</a:t>
            </a:fld>
            <a:endParaRPr lang="en-US"/>
          </a:p>
        </p:txBody>
      </p:sp>
    </p:spTree>
    <p:extLst>
      <p:ext uri="{BB962C8B-B14F-4D97-AF65-F5344CB8AC3E}">
        <p14:creationId xmlns:p14="http://schemas.microsoft.com/office/powerpoint/2010/main" val="1308034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t="-16000" b="-1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A59CF832-BFA6-47D9-835D-B40553B4568E}" type="datetimeFigureOut">
              <a:rPr lang="en-US" smtClean="0"/>
              <a:pPr/>
              <a:t>7/12/2012</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A02EA101-D3AA-461F-A55D-4480F71C91B3}" type="slidenum">
              <a:rPr lang="en-US" smtClean="0"/>
              <a:pPr/>
              <a:t>‹#›</a:t>
            </a:fld>
            <a:endParaRPr lang="en-US"/>
          </a:p>
        </p:txBody>
      </p:sp>
    </p:spTree>
    <p:extLst>
      <p:ext uri="{BB962C8B-B14F-4D97-AF65-F5344CB8AC3E}">
        <p14:creationId xmlns:p14="http://schemas.microsoft.com/office/powerpoint/2010/main" val="3190500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38912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438912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6160" indent="-1371600" algn="l" defTabSz="4389120"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400" indent="-1097280" algn="l" defTabSz="4389120"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9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52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notesSlide" Target="../notesSlides/notesSlide1.xml"/><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5" Type="http://schemas.openxmlformats.org/officeDocument/2006/relationships/image" Target="../media/image12.png"/><Relationship Id="rId10" Type="http://schemas.openxmlformats.org/officeDocument/2006/relationships/image" Target="../media/image7.png"/><Relationship Id="rId19" Type="http://schemas.openxmlformats.org/officeDocument/2006/relationships/image" Target="../media/image16.gif"/><Relationship Id="rId4" Type="http://schemas.openxmlformats.org/officeDocument/2006/relationships/hyperlink" Target="http://www.maayanlab.net/S2N" TargetMode="External"/><Relationship Id="rId9" Type="http://schemas.openxmlformats.org/officeDocument/2006/relationships/image" Target="../media/image6.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tile tx="0" ty="0" sx="100000" sy="100000" flip="none" algn="tl"/>
        </a:blipFill>
        <a:effectLst/>
      </p:bgPr>
    </p:bg>
    <p:spTree>
      <p:nvGrpSpPr>
        <p:cNvPr id="1" name=""/>
        <p:cNvGrpSpPr/>
        <p:nvPr/>
      </p:nvGrpSpPr>
      <p:grpSpPr>
        <a:xfrm>
          <a:off x="0" y="0"/>
          <a:ext cx="0" cy="0"/>
          <a:chOff x="0" y="0"/>
          <a:chExt cx="0" cy="0"/>
        </a:xfrm>
      </p:grpSpPr>
      <p:sp>
        <p:nvSpPr>
          <p:cNvPr id="31" name="Rounded Rectangle 30"/>
          <p:cNvSpPr/>
          <p:nvPr/>
        </p:nvSpPr>
        <p:spPr>
          <a:xfrm>
            <a:off x="29184600" y="17983200"/>
            <a:ext cx="13944600" cy="13335000"/>
          </a:xfrm>
          <a:prstGeom prst="roundRect">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spcCol="0" rtlCol="0" anchor="ctr"/>
          <a:lstStyle/>
          <a:p>
            <a:pPr algn="ctr"/>
            <a:endParaRPr lang="en-US" sz="8000" b="1" i="1" dirty="0" smtClean="0">
              <a:solidFill>
                <a:schemeClr val="bg2">
                  <a:lumMod val="25000"/>
                </a:schemeClr>
              </a:solidFill>
            </a:endParaRPr>
          </a:p>
          <a:p>
            <a:pPr algn="ctr"/>
            <a:r>
              <a:rPr lang="en-US" sz="4800" b="1" i="1" dirty="0" smtClean="0">
                <a:solidFill>
                  <a:schemeClr val="bg2">
                    <a:lumMod val="25000"/>
                  </a:schemeClr>
                </a:solidFill>
              </a:rPr>
              <a:t>Conclusions</a:t>
            </a:r>
          </a:p>
          <a:p>
            <a:pPr algn="ctr"/>
            <a:endParaRPr lang="en-US" sz="3200" b="1" i="1" dirty="0" smtClean="0">
              <a:solidFill>
                <a:schemeClr val="bg2">
                  <a:lumMod val="25000"/>
                </a:schemeClr>
              </a:solidFill>
            </a:endParaRPr>
          </a:p>
          <a:p>
            <a:pPr algn="ctr"/>
            <a:endParaRPr lang="en-US" sz="3200" b="1" i="1" dirty="0" smtClean="0">
              <a:solidFill>
                <a:schemeClr val="bg2">
                  <a:lumMod val="25000"/>
                </a:schemeClr>
              </a:solidFill>
            </a:endParaRPr>
          </a:p>
          <a:p>
            <a:r>
              <a:rPr lang="en-US" sz="3200" dirty="0" smtClean="0">
                <a:solidFill>
                  <a:schemeClr val="tx1">
                    <a:lumMod val="75000"/>
                    <a:lumOff val="25000"/>
                  </a:schemeClr>
                </a:solidFill>
              </a:rPr>
              <a:t>As </a:t>
            </a:r>
            <a:r>
              <a:rPr lang="en-US" sz="3200" dirty="0">
                <a:solidFill>
                  <a:schemeClr val="tx1">
                    <a:lumMod val="75000"/>
                    <a:lumOff val="25000"/>
                  </a:schemeClr>
                </a:solidFill>
              </a:rPr>
              <a:t>empirical data about sets of related entities accrues, there are more constraints on possible network realizations that can fit the data; in the language of statistical mechanics, the size of the microstate ensemble shrinks, until the underlying network resolves. The network inference method </a:t>
            </a:r>
            <a:r>
              <a:rPr lang="en-US" sz="3200" dirty="0" smtClean="0">
                <a:solidFill>
                  <a:schemeClr val="tx1">
                    <a:lumMod val="75000"/>
                    <a:lumOff val="25000"/>
                  </a:schemeClr>
                </a:solidFill>
              </a:rPr>
              <a:t>we developed</a:t>
            </a:r>
            <a:r>
              <a:rPr lang="en-US" sz="3200" dirty="0" smtClean="0">
                <a:solidFill>
                  <a:schemeClr val="tx1">
                    <a:lumMod val="75000"/>
                    <a:lumOff val="25000"/>
                  </a:schemeClr>
                </a:solidFill>
              </a:rPr>
              <a:t> </a:t>
            </a:r>
            <a:r>
              <a:rPr lang="en-US" sz="3200" dirty="0">
                <a:solidFill>
                  <a:schemeClr val="tx1">
                    <a:lumMod val="75000"/>
                    <a:lumOff val="25000"/>
                  </a:schemeClr>
                </a:solidFill>
              </a:rPr>
              <a:t>can be applied to resolve different types of networks in current systems biology and systems pharmacology as well as in other fields of research. </a:t>
            </a:r>
            <a:endParaRPr lang="en-US" sz="3200" dirty="0" smtClean="0">
              <a:solidFill>
                <a:schemeClr val="tx1">
                  <a:lumMod val="75000"/>
                  <a:lumOff val="25000"/>
                </a:schemeClr>
              </a:solidFill>
            </a:endParaRPr>
          </a:p>
          <a:p>
            <a:endParaRPr lang="en-US" sz="3200" dirty="0"/>
          </a:p>
          <a:p>
            <a:endParaRPr lang="en-US" sz="3200" dirty="0" smtClean="0"/>
          </a:p>
          <a:p>
            <a:r>
              <a:rPr lang="en-US" sz="4800" b="1" i="1" dirty="0" smtClean="0">
                <a:solidFill>
                  <a:schemeClr val="bg2">
                    <a:lumMod val="25000"/>
                  </a:schemeClr>
                </a:solidFill>
              </a:rPr>
              <a:t>Web-site and </a:t>
            </a:r>
            <a:r>
              <a:rPr lang="en-US" sz="4800" b="1" i="1" dirty="0" smtClean="0">
                <a:solidFill>
                  <a:schemeClr val="bg2">
                    <a:lumMod val="25000"/>
                  </a:schemeClr>
                </a:solidFill>
              </a:rPr>
              <a:t>citation</a:t>
            </a:r>
            <a:endParaRPr lang="en-US" sz="4800" b="1" i="1" dirty="0" smtClean="0">
              <a:solidFill>
                <a:schemeClr val="bg2">
                  <a:lumMod val="25000"/>
                </a:schemeClr>
              </a:solidFill>
            </a:endParaRPr>
          </a:p>
          <a:p>
            <a:pPr algn="ctr"/>
            <a:endParaRPr lang="en-US" sz="5400" b="1" i="1" dirty="0" smtClean="0">
              <a:solidFill>
                <a:schemeClr val="bg2">
                  <a:lumMod val="25000"/>
                </a:schemeClr>
              </a:solidFill>
            </a:endParaRPr>
          </a:p>
          <a:p>
            <a:pPr algn="ctr"/>
            <a:r>
              <a:rPr lang="en-US" sz="5400" dirty="0" smtClean="0">
                <a:hlinkClick r:id="rId4"/>
              </a:rPr>
              <a:t>http://www.maayanlab.net/S2N</a:t>
            </a:r>
            <a:endParaRPr lang="en-US" sz="5400" dirty="0" smtClean="0"/>
          </a:p>
          <a:p>
            <a:endParaRPr lang="en-US" sz="4000" b="1" i="1" dirty="0" smtClean="0">
              <a:solidFill>
                <a:schemeClr val="bg2">
                  <a:lumMod val="25000"/>
                </a:schemeClr>
              </a:solidFill>
            </a:endParaRPr>
          </a:p>
          <a:p>
            <a:r>
              <a:rPr lang="en-US" sz="4400" dirty="0" smtClean="0">
                <a:solidFill>
                  <a:schemeClr val="tx1">
                    <a:lumMod val="75000"/>
                    <a:lumOff val="25000"/>
                  </a:schemeClr>
                </a:solidFill>
              </a:rPr>
              <a:t>Neil R. Clark, Ruth Dannenfelser, Christopher M. Tan, Michael E. Komosinski, and Avi </a:t>
            </a:r>
            <a:r>
              <a:rPr lang="en-US" sz="4400" dirty="0" err="1" smtClean="0">
                <a:solidFill>
                  <a:schemeClr val="tx1">
                    <a:lumMod val="75000"/>
                    <a:lumOff val="25000"/>
                  </a:schemeClr>
                </a:solidFill>
              </a:rPr>
              <a:t>Ma'ayan</a:t>
            </a:r>
            <a:r>
              <a:rPr lang="en-US" sz="4400" dirty="0" smtClean="0">
                <a:solidFill>
                  <a:schemeClr val="tx1">
                    <a:lumMod val="75000"/>
                    <a:lumOff val="25000"/>
                  </a:schemeClr>
                </a:solidFill>
              </a:rPr>
              <a:t>. </a:t>
            </a:r>
            <a:r>
              <a:rPr lang="en-US" sz="4400" b="1" dirty="0" smtClean="0">
                <a:solidFill>
                  <a:schemeClr val="tx1">
                    <a:lumMod val="75000"/>
                    <a:lumOff val="25000"/>
                  </a:schemeClr>
                </a:solidFill>
              </a:rPr>
              <a:t>Sets2Networks: network inference from repeated observations of sets. </a:t>
            </a:r>
            <a:r>
              <a:rPr lang="en-US" sz="4400" i="1" dirty="0" smtClean="0">
                <a:solidFill>
                  <a:schemeClr val="tx1">
                    <a:lumMod val="75000"/>
                    <a:lumOff val="25000"/>
                  </a:schemeClr>
                </a:solidFill>
              </a:rPr>
              <a:t>BMC Systems Biology</a:t>
            </a:r>
            <a:r>
              <a:rPr lang="en-US" sz="4400" dirty="0" smtClean="0">
                <a:solidFill>
                  <a:schemeClr val="tx1">
                    <a:lumMod val="75000"/>
                    <a:lumOff val="25000"/>
                  </a:schemeClr>
                </a:solidFill>
              </a:rPr>
              <a:t>. In press</a:t>
            </a:r>
          </a:p>
          <a:p>
            <a:endParaRPr lang="en-US" sz="4800" b="1" i="1" dirty="0">
              <a:solidFill>
                <a:schemeClr val="bg2">
                  <a:lumMod val="25000"/>
                </a:schemeClr>
              </a:solidFill>
            </a:endParaRPr>
          </a:p>
          <a:p>
            <a:pPr algn="ctr"/>
            <a:endParaRPr lang="en-US" sz="4800" b="1" i="1" dirty="0" smtClean="0">
              <a:solidFill>
                <a:schemeClr val="bg2">
                  <a:lumMod val="25000"/>
                </a:schemeClr>
              </a:solidFill>
            </a:endParaRPr>
          </a:p>
        </p:txBody>
      </p:sp>
      <p:sp>
        <p:nvSpPr>
          <p:cNvPr id="4" name="Rounded Rectangle 3"/>
          <p:cNvSpPr/>
          <p:nvPr/>
        </p:nvSpPr>
        <p:spPr>
          <a:xfrm>
            <a:off x="4343400" y="1167885"/>
            <a:ext cx="33573718" cy="4754880"/>
          </a:xfrm>
          <a:prstGeom prst="roundRect">
            <a:avLst/>
          </a:prstGeom>
          <a:solidFill>
            <a:schemeClr val="bg2">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spcCol="0" rtlCol="0" anchor="ctr"/>
          <a:lstStyle/>
          <a:p>
            <a:pPr algn="ctr"/>
            <a:r>
              <a:rPr lang="en-US" sz="11200" b="1" i="1" dirty="0" smtClean="0">
                <a:solidFill>
                  <a:schemeClr val="bg2">
                    <a:lumMod val="25000"/>
                  </a:schemeClr>
                </a:solidFill>
              </a:rPr>
              <a:t>Network </a:t>
            </a:r>
            <a:r>
              <a:rPr lang="en-US" sz="11200" b="1" i="1" dirty="0">
                <a:solidFill>
                  <a:schemeClr val="bg2">
                    <a:lumMod val="25000"/>
                  </a:schemeClr>
                </a:solidFill>
              </a:rPr>
              <a:t>inference from repeated observations of sets</a:t>
            </a:r>
          </a:p>
          <a:p>
            <a:pPr algn="ctr"/>
            <a:r>
              <a:rPr lang="en-US" sz="6000" b="1" dirty="0">
                <a:solidFill>
                  <a:schemeClr val="tx1">
                    <a:lumMod val="75000"/>
                    <a:lumOff val="25000"/>
                  </a:schemeClr>
                </a:solidFill>
              </a:rPr>
              <a:t>Neil R. Clark, Ruth Dannenfelser, Christopher M. Tan, Michael E. Komosinski, and Avi </a:t>
            </a:r>
            <a:r>
              <a:rPr lang="en-US" sz="6000" b="1" dirty="0" err="1">
                <a:solidFill>
                  <a:schemeClr val="tx1">
                    <a:lumMod val="75000"/>
                    <a:lumOff val="25000"/>
                  </a:schemeClr>
                </a:solidFill>
              </a:rPr>
              <a:t>Ma'ayan</a:t>
            </a:r>
            <a:endParaRPr lang="en-US" sz="6000" b="1" dirty="0">
              <a:solidFill>
                <a:schemeClr val="tx1">
                  <a:lumMod val="75000"/>
                  <a:lumOff val="25000"/>
                </a:schemeClr>
              </a:solidFill>
            </a:endParaRPr>
          </a:p>
          <a:p>
            <a:pPr algn="ctr"/>
            <a:r>
              <a:rPr lang="en-US" sz="5300" dirty="0">
                <a:solidFill>
                  <a:schemeClr val="tx1"/>
                </a:solidFill>
              </a:rPr>
              <a:t>Department of Pharmacology and Systems Therapeutics, Systems Biology Center of New York (SBCNY), Mount Sinai School of Medicine, One </a:t>
            </a:r>
            <a:r>
              <a:rPr lang="en-US" sz="5300" dirty="0" err="1">
                <a:solidFill>
                  <a:schemeClr val="tx1"/>
                </a:solidFill>
              </a:rPr>
              <a:t>Gustave</a:t>
            </a:r>
            <a:r>
              <a:rPr lang="en-US" sz="5300" dirty="0">
                <a:solidFill>
                  <a:schemeClr val="tx1"/>
                </a:solidFill>
              </a:rPr>
              <a:t> L. Levy Place, Box 1215, New York, NY, 10029, USA      </a:t>
            </a:r>
          </a:p>
        </p:txBody>
      </p:sp>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155174" y="1886178"/>
            <a:ext cx="5521914" cy="3318292"/>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81200" y="23622000"/>
            <a:ext cx="2289225" cy="2254540"/>
          </a:xfrm>
          <a:prstGeom prst="rect">
            <a:avLst/>
          </a:prstGeom>
        </p:spPr>
      </p:pic>
      <p:sp>
        <p:nvSpPr>
          <p:cNvPr id="10" name="Rounded Rectangle 9"/>
          <p:cNvSpPr/>
          <p:nvPr/>
        </p:nvSpPr>
        <p:spPr>
          <a:xfrm>
            <a:off x="1143000" y="6553200"/>
            <a:ext cx="13792200" cy="11049000"/>
          </a:xfrm>
          <a:prstGeom prst="roundRect">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spcCol="0" rtlCol="0" anchor="ctr"/>
          <a:lstStyle/>
          <a:p>
            <a:pPr algn="ctr"/>
            <a:r>
              <a:rPr lang="en-US" sz="4800" b="1" i="1" dirty="0" smtClean="0">
                <a:solidFill>
                  <a:schemeClr val="bg2">
                    <a:lumMod val="25000"/>
                  </a:schemeClr>
                </a:solidFill>
              </a:rPr>
              <a:t>Introduction</a:t>
            </a:r>
          </a:p>
          <a:p>
            <a:pPr algn="ctr"/>
            <a:endParaRPr lang="en-US" sz="1600" b="1" i="1" dirty="0" smtClean="0">
              <a:solidFill>
                <a:schemeClr val="bg2">
                  <a:lumMod val="25000"/>
                </a:schemeClr>
              </a:solidFill>
            </a:endParaRPr>
          </a:p>
          <a:p>
            <a:pPr algn="just"/>
            <a:r>
              <a:rPr lang="en-US" sz="3200" dirty="0" smtClean="0">
                <a:solidFill>
                  <a:schemeClr val="tx1">
                    <a:lumMod val="75000"/>
                    <a:lumOff val="25000"/>
                  </a:schemeClr>
                </a:solidFill>
              </a:rPr>
              <a:t>The </a:t>
            </a:r>
            <a:r>
              <a:rPr lang="en-US" sz="3200" dirty="0">
                <a:solidFill>
                  <a:schemeClr val="tx1">
                    <a:lumMod val="75000"/>
                    <a:lumOff val="25000"/>
                  </a:schemeClr>
                </a:solidFill>
              </a:rPr>
              <a:t>skeleton of complex systems can be represented as networks where vertices represent entities, and edges represent the relations between these entities. </a:t>
            </a:r>
            <a:r>
              <a:rPr lang="en-US" sz="3200" dirty="0" smtClean="0">
                <a:solidFill>
                  <a:schemeClr val="tx1">
                    <a:lumMod val="75000"/>
                    <a:lumOff val="25000"/>
                  </a:schemeClr>
                </a:solidFill>
              </a:rPr>
              <a:t>While </a:t>
            </a:r>
            <a:r>
              <a:rPr lang="en-US" sz="3200" dirty="0">
                <a:solidFill>
                  <a:schemeClr val="tx1">
                    <a:lumMod val="75000"/>
                    <a:lumOff val="25000"/>
                  </a:schemeClr>
                </a:solidFill>
              </a:rPr>
              <a:t>many algorithms have been developed to infer networks from quantitative data, less attention has been paid to methods which infer networks from repeated observations of related sets. This type of data is ubiquitous in the field of systems </a:t>
            </a:r>
            <a:r>
              <a:rPr lang="en-US" sz="3200" dirty="0" smtClean="0">
                <a:solidFill>
                  <a:schemeClr val="tx1">
                    <a:lumMod val="75000"/>
                    <a:lumOff val="25000"/>
                  </a:schemeClr>
                </a:solidFill>
              </a:rPr>
              <a:t>biology. </a:t>
            </a:r>
          </a:p>
          <a:p>
            <a:pPr algn="just"/>
            <a:endParaRPr lang="en-US" sz="1200" dirty="0">
              <a:solidFill>
                <a:schemeClr val="tx1">
                  <a:lumMod val="75000"/>
                  <a:lumOff val="25000"/>
                </a:schemeClr>
              </a:solidFill>
            </a:endParaRPr>
          </a:p>
          <a:p>
            <a:pPr algn="just"/>
            <a:r>
              <a:rPr lang="en-US" sz="3200" dirty="0" smtClean="0">
                <a:solidFill>
                  <a:schemeClr val="tx1">
                    <a:lumMod val="75000"/>
                    <a:lumOff val="25000"/>
                  </a:schemeClr>
                </a:solidFill>
              </a:rPr>
              <a:t>We developed a </a:t>
            </a:r>
            <a:r>
              <a:rPr lang="en-US" sz="3200" dirty="0">
                <a:solidFill>
                  <a:schemeClr val="tx1">
                    <a:lumMod val="75000"/>
                    <a:lumOff val="25000"/>
                  </a:schemeClr>
                </a:solidFill>
              </a:rPr>
              <a:t>general method for network inference from repeated observations of sets of related entities. Given experimental observations of such sets, we infer the underlying network connecting these entities by generating an ensemble of networks consistent with the data. The frequency of occurrence of a given link throughout this ensemble is interpreted as the probability that the link is present in the underlying real network conditioned on the data. Exponential random graphs are used to generate and sample the ensemble of consistent networks, and we take an algorithmic approach to numerically executing the inference method. The effectiveness of the method is demonstrated on synthetic data before employing this inference approach to problems in systems biology and systems </a:t>
            </a:r>
            <a:r>
              <a:rPr lang="en-US" sz="3200" dirty="0" smtClean="0">
                <a:solidFill>
                  <a:schemeClr val="tx1">
                    <a:lumMod val="75000"/>
                    <a:lumOff val="25000"/>
                  </a:schemeClr>
                </a:solidFill>
              </a:rPr>
              <a:t>pharmacology</a:t>
            </a:r>
            <a:r>
              <a:rPr lang="en-US" sz="3600" dirty="0" smtClean="0">
                <a:solidFill>
                  <a:schemeClr val="tx1">
                    <a:lumMod val="75000"/>
                    <a:lumOff val="25000"/>
                  </a:schemeClr>
                </a:solidFill>
              </a:rPr>
              <a:t>. </a:t>
            </a:r>
          </a:p>
          <a:p>
            <a:pPr algn="just"/>
            <a:endParaRPr lang="en-US" sz="3600" dirty="0">
              <a:solidFill>
                <a:schemeClr val="tx1">
                  <a:lumMod val="75000"/>
                  <a:lumOff val="25000"/>
                </a:schemeClr>
              </a:solidFill>
            </a:endParaRPr>
          </a:p>
        </p:txBody>
      </p:sp>
      <p:sp>
        <p:nvSpPr>
          <p:cNvPr id="11" name="Rounded Rectangle 10"/>
          <p:cNvSpPr/>
          <p:nvPr/>
        </p:nvSpPr>
        <p:spPr>
          <a:xfrm>
            <a:off x="1066800" y="18059400"/>
            <a:ext cx="13868400" cy="13411200"/>
          </a:xfrm>
          <a:prstGeom prst="roundRect">
            <a:avLst/>
          </a:prstGeom>
          <a:solidFill>
            <a:schemeClr val="accent1">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spcCol="0" rtlCol="0" anchor="ctr"/>
          <a:lstStyle/>
          <a:p>
            <a:pPr algn="ctr"/>
            <a:r>
              <a:rPr lang="en-US" sz="4800" b="1" i="1" dirty="0" smtClean="0">
                <a:solidFill>
                  <a:schemeClr val="bg2">
                    <a:lumMod val="25000"/>
                  </a:schemeClr>
                </a:solidFill>
              </a:rPr>
              <a:t>Synthetic example</a:t>
            </a: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p:txBody>
      </p:sp>
      <p:pic>
        <p:nvPicPr>
          <p:cNvPr id="12" name="Picture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71800" y="19583400"/>
            <a:ext cx="9789459" cy="3148507"/>
          </a:xfrm>
          <a:prstGeom prst="rect">
            <a:avLst/>
          </a:prstGeom>
        </p:spPr>
      </p:pic>
      <p:pic>
        <p:nvPicPr>
          <p:cNvPr id="13" name="Picture 1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05479" y="23404211"/>
            <a:ext cx="5043852" cy="2755189"/>
          </a:xfrm>
          <a:prstGeom prst="rect">
            <a:avLst/>
          </a:prstGeom>
        </p:spPr>
      </p:pic>
      <p:pic>
        <p:nvPicPr>
          <p:cNvPr id="14" name="Picture 1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557219" y="23535185"/>
            <a:ext cx="4962831" cy="2945553"/>
          </a:xfrm>
          <a:prstGeom prst="rect">
            <a:avLst/>
          </a:prstGeom>
        </p:spPr>
      </p:pic>
      <p:pic>
        <p:nvPicPr>
          <p:cNvPr id="15" name="Picture 1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557219" y="27461066"/>
            <a:ext cx="4962831" cy="2872332"/>
          </a:xfrm>
          <a:prstGeom prst="rect">
            <a:avLst/>
          </a:prstGeom>
        </p:spPr>
      </p:pic>
      <p:pic>
        <p:nvPicPr>
          <p:cNvPr id="16" name="Picture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38400" y="27355800"/>
            <a:ext cx="4810931" cy="2808450"/>
          </a:xfrm>
          <a:prstGeom prst="rect">
            <a:avLst/>
          </a:prstGeom>
        </p:spPr>
      </p:pic>
      <p:sp>
        <p:nvSpPr>
          <p:cNvPr id="19" name="Rounded Rectangle 18"/>
          <p:cNvSpPr/>
          <p:nvPr/>
        </p:nvSpPr>
        <p:spPr>
          <a:xfrm>
            <a:off x="15316200" y="6553200"/>
            <a:ext cx="13335000" cy="11049000"/>
          </a:xfrm>
          <a:prstGeom prst="roundRect">
            <a:avLst/>
          </a:prstGeom>
          <a:solidFill>
            <a:schemeClr val="accent1">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spcCol="0" rtlCol="0" anchor="ctr"/>
          <a:lstStyle/>
          <a:p>
            <a:pPr algn="ctr"/>
            <a:r>
              <a:rPr lang="en-US" sz="4800" b="1" i="1" dirty="0" smtClean="0">
                <a:solidFill>
                  <a:schemeClr val="bg2">
                    <a:lumMod val="25000"/>
                  </a:schemeClr>
                </a:solidFill>
              </a:rPr>
              <a:t>Application to PPI inference</a:t>
            </a: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p:txBody>
      </p:sp>
      <p:pic>
        <p:nvPicPr>
          <p:cNvPr id="25" name="Picture 2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2291319" y="13592746"/>
            <a:ext cx="5603197" cy="2913314"/>
          </a:xfrm>
          <a:prstGeom prst="rect">
            <a:avLst/>
          </a:prstGeom>
        </p:spPr>
      </p:pic>
      <p:pic>
        <p:nvPicPr>
          <p:cNvPr id="27" name="Picture 2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6457163" y="13550900"/>
            <a:ext cx="4715853" cy="2997008"/>
          </a:xfrm>
          <a:prstGeom prst="rect">
            <a:avLst/>
          </a:prstGeom>
        </p:spPr>
      </p:pic>
      <p:pic>
        <p:nvPicPr>
          <p:cNvPr id="28" name="Content Placeholder 3" descr="ComparePPIinfdb.png"/>
          <p:cNvPicPr>
            <a:picLocks noChangeAspect="1"/>
          </p:cNvPicPr>
          <p:nvPr/>
        </p:nvPicPr>
        <p:blipFill>
          <a:blip r:embed="rId13" cstate="print"/>
          <a:stretch>
            <a:fillRect/>
          </a:stretch>
        </p:blipFill>
        <p:spPr>
          <a:xfrm>
            <a:off x="17373600" y="7391400"/>
            <a:ext cx="9231929" cy="4969391"/>
          </a:xfrm>
          <a:prstGeom prst="rect">
            <a:avLst/>
          </a:prstGeom>
        </p:spPr>
      </p:pic>
      <p:sp>
        <p:nvSpPr>
          <p:cNvPr id="29" name="Rounded Rectangle 28"/>
          <p:cNvSpPr/>
          <p:nvPr/>
        </p:nvSpPr>
        <p:spPr>
          <a:xfrm>
            <a:off x="15316200" y="18083338"/>
            <a:ext cx="13487400" cy="13311062"/>
          </a:xfrm>
          <a:prstGeom prst="roundRect">
            <a:avLst/>
          </a:prstGeom>
          <a:solidFill>
            <a:schemeClr val="accent1">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spcCol="0" rtlCol="0" anchor="ctr"/>
          <a:lstStyle/>
          <a:p>
            <a:pPr algn="ctr"/>
            <a:endParaRPr lang="en-US" sz="4800" b="1" i="1" dirty="0" smtClean="0">
              <a:solidFill>
                <a:schemeClr val="bg2">
                  <a:lumMod val="25000"/>
                </a:schemeClr>
              </a:solidFill>
            </a:endParaRPr>
          </a:p>
          <a:p>
            <a:pPr algn="ctr"/>
            <a:r>
              <a:rPr lang="en-US" sz="4800" b="1" i="1" dirty="0" smtClean="0">
                <a:solidFill>
                  <a:schemeClr val="bg2">
                    <a:lumMod val="25000"/>
                  </a:schemeClr>
                </a:solidFill>
              </a:rPr>
              <a:t>Applications in Systems Pharmacology</a:t>
            </a: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p:txBody>
      </p:sp>
      <p:sp>
        <p:nvSpPr>
          <p:cNvPr id="30" name="Rounded Rectangle 29"/>
          <p:cNvSpPr/>
          <p:nvPr/>
        </p:nvSpPr>
        <p:spPr>
          <a:xfrm>
            <a:off x="29108400" y="6521116"/>
            <a:ext cx="13716000" cy="11081084"/>
          </a:xfrm>
          <a:prstGeom prst="roundRect">
            <a:avLst/>
          </a:prstGeom>
          <a:solidFill>
            <a:schemeClr val="accent1">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8912" tIns="219456" rIns="438912" bIns="219456" spcCol="0" rtlCol="0" anchor="ctr"/>
          <a:lstStyle/>
          <a:p>
            <a:pPr algn="ctr"/>
            <a:r>
              <a:rPr lang="en-US" sz="4800" b="1" i="1" dirty="0" smtClean="0">
                <a:solidFill>
                  <a:schemeClr val="bg2">
                    <a:lumMod val="25000"/>
                  </a:schemeClr>
                </a:solidFill>
              </a:rPr>
              <a:t>Mount Sinai collaboration network</a:t>
            </a: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a:p>
            <a:pPr algn="ctr"/>
            <a:endParaRPr lang="en-US" sz="4800" b="1" i="1" dirty="0">
              <a:solidFill>
                <a:schemeClr val="bg2">
                  <a:lumMod val="25000"/>
                </a:schemeClr>
              </a:solidFill>
            </a:endParaRPr>
          </a:p>
          <a:p>
            <a:pPr algn="ctr"/>
            <a:endParaRPr lang="en-US" sz="4800" b="1" i="1" dirty="0" smtClean="0">
              <a:solidFill>
                <a:schemeClr val="bg2">
                  <a:lumMod val="25000"/>
                </a:schemeClr>
              </a:solidFill>
            </a:endParaRPr>
          </a:p>
        </p:txBody>
      </p:sp>
      <p:pic>
        <p:nvPicPr>
          <p:cNvPr id="33" name="Picture 32"/>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6154400" y="19735800"/>
            <a:ext cx="5905500" cy="5948870"/>
          </a:xfrm>
          <a:prstGeom prst="rect">
            <a:avLst/>
          </a:prstGeom>
        </p:spPr>
      </p:pic>
      <p:pic>
        <p:nvPicPr>
          <p:cNvPr id="34" name="Picture 33"/>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22976381" y="20389315"/>
            <a:ext cx="5324500" cy="5281647"/>
          </a:xfrm>
          <a:prstGeom prst="rect">
            <a:avLst/>
          </a:prstGeom>
        </p:spPr>
      </p:pic>
      <p:pic>
        <p:nvPicPr>
          <p:cNvPr id="35" name="Picture 34"/>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1107400" y="26365200"/>
            <a:ext cx="6792273" cy="4477375"/>
          </a:xfrm>
          <a:prstGeom prst="rect">
            <a:avLst/>
          </a:prstGeom>
        </p:spPr>
      </p:pic>
      <p:pic>
        <p:nvPicPr>
          <p:cNvPr id="39" name="Picture 3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9946600" y="7619999"/>
            <a:ext cx="9448800" cy="8259697"/>
          </a:xfrm>
          <a:prstGeom prst="rect">
            <a:avLst/>
          </a:prstGeom>
        </p:spPr>
      </p:pic>
      <p:pic>
        <p:nvPicPr>
          <p:cNvPr id="40" name="Picture 39"/>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3909000" y="10668000"/>
            <a:ext cx="8305800" cy="5537200"/>
          </a:xfrm>
          <a:prstGeom prst="rect">
            <a:avLst/>
          </a:prstGeom>
        </p:spPr>
      </p:pic>
      <p:sp>
        <p:nvSpPr>
          <p:cNvPr id="41" name="TextBox 40"/>
          <p:cNvSpPr txBox="1"/>
          <p:nvPr/>
        </p:nvSpPr>
        <p:spPr>
          <a:xfrm>
            <a:off x="3052918" y="31927800"/>
            <a:ext cx="38320940" cy="707886"/>
          </a:xfrm>
          <a:prstGeom prst="rect">
            <a:avLst/>
          </a:prstGeom>
          <a:noFill/>
        </p:spPr>
        <p:txBody>
          <a:bodyPr wrap="none" rtlCol="0">
            <a:spAutoFit/>
          </a:bodyPr>
          <a:lstStyle/>
          <a:p>
            <a:r>
              <a:rPr lang="en-US" sz="4000" b="1" u="sng" dirty="0" smtClean="0">
                <a:solidFill>
                  <a:schemeClr val="tx2">
                    <a:lumMod val="60000"/>
                    <a:lumOff val="40000"/>
                  </a:schemeClr>
                </a:solidFill>
              </a:rPr>
              <a:t>Acknowledgements: </a:t>
            </a:r>
            <a:r>
              <a:rPr lang="en-US" sz="4000" b="1" dirty="0" smtClean="0">
                <a:solidFill>
                  <a:schemeClr val="tx2">
                    <a:lumMod val="60000"/>
                    <a:lumOff val="40000"/>
                  </a:schemeClr>
                </a:solidFill>
              </a:rPr>
              <a:t>This work was supported by NIH grants P50GM071558-03, R01DK088541-01A1, RC2LM010994-01, P01DK056492-10, RC4DK090860-01, and KL2RR029885-0109</a:t>
            </a:r>
            <a:endParaRPr lang="en-US" sz="4000" b="1" dirty="0">
              <a:solidFill>
                <a:schemeClr val="tx2">
                  <a:lumMod val="60000"/>
                  <a:lumOff val="40000"/>
                </a:schemeClr>
              </a:solidFill>
            </a:endParaRPr>
          </a:p>
        </p:txBody>
      </p:sp>
      <p:pic>
        <p:nvPicPr>
          <p:cNvPr id="2050" name="Picture 2" descr="http://www.mssm.edu/static_files/MSSM/Images/About%20Us/Digital%20Media%20Center/ms_1c.gif"/>
          <p:cNvPicPr>
            <a:picLocks noChangeAspect="1" noChangeArrowheads="1"/>
          </p:cNvPicPr>
          <p:nvPr/>
        </p:nvPicPr>
        <p:blipFill>
          <a:blip r:embed="rId19" cstate="print"/>
          <a:srcRect/>
          <a:stretch>
            <a:fillRect/>
          </a:stretch>
        </p:blipFill>
        <p:spPr bwMode="auto">
          <a:xfrm>
            <a:off x="1066800" y="1143000"/>
            <a:ext cx="2667000" cy="4760092"/>
          </a:xfrm>
          <a:prstGeom prst="rect">
            <a:avLst/>
          </a:prstGeom>
          <a:noFill/>
        </p:spPr>
      </p:pic>
      <p:pic>
        <p:nvPicPr>
          <p:cNvPr id="2051" name="Picture 3"/>
          <p:cNvPicPr>
            <a:picLocks noChangeAspect="1" noChangeArrowheads="1"/>
          </p:cNvPicPr>
          <p:nvPr/>
        </p:nvPicPr>
        <p:blipFill>
          <a:blip r:embed="rId20" cstate="print"/>
          <a:srcRect/>
          <a:stretch>
            <a:fillRect/>
          </a:stretch>
        </p:blipFill>
        <p:spPr bwMode="auto">
          <a:xfrm>
            <a:off x="37109400" y="23622000"/>
            <a:ext cx="2293234" cy="2286000"/>
          </a:xfrm>
          <a:prstGeom prst="rect">
            <a:avLst/>
          </a:prstGeom>
          <a:noFill/>
          <a:ln w="9525">
            <a:noFill/>
            <a:miter lim="800000"/>
            <a:headEnd/>
            <a:tailEnd/>
          </a:ln>
        </p:spPr>
      </p:pic>
      <p:sp>
        <p:nvSpPr>
          <p:cNvPr id="42" name="TextBox 41"/>
          <p:cNvSpPr txBox="1"/>
          <p:nvPr/>
        </p:nvSpPr>
        <p:spPr>
          <a:xfrm>
            <a:off x="4648200" y="22783800"/>
            <a:ext cx="6705600" cy="584775"/>
          </a:xfrm>
          <a:prstGeom prst="rect">
            <a:avLst/>
          </a:prstGeom>
          <a:noFill/>
        </p:spPr>
        <p:txBody>
          <a:bodyPr wrap="square" rtlCol="0">
            <a:spAutoFit/>
          </a:bodyPr>
          <a:lstStyle/>
          <a:p>
            <a:r>
              <a:rPr lang="en-US" sz="3200" dirty="0" smtClean="0"/>
              <a:t>Inferring a connected random network</a:t>
            </a:r>
            <a:endParaRPr lang="en-US" sz="3200" dirty="0"/>
          </a:p>
        </p:txBody>
      </p:sp>
      <p:sp>
        <p:nvSpPr>
          <p:cNvPr id="44" name="TextBox 43"/>
          <p:cNvSpPr txBox="1"/>
          <p:nvPr/>
        </p:nvSpPr>
        <p:spPr>
          <a:xfrm>
            <a:off x="1524000" y="26060400"/>
            <a:ext cx="6010275" cy="1077218"/>
          </a:xfrm>
          <a:prstGeom prst="rect">
            <a:avLst/>
          </a:prstGeom>
          <a:noFill/>
        </p:spPr>
        <p:txBody>
          <a:bodyPr wrap="square" rtlCol="0">
            <a:spAutoFit/>
          </a:bodyPr>
          <a:lstStyle/>
          <a:p>
            <a:r>
              <a:rPr lang="en-US" sz="3200" dirty="0" smtClean="0"/>
              <a:t>Distribution of </a:t>
            </a:r>
            <a:r>
              <a:rPr lang="en-US" sz="3200" dirty="0" smtClean="0"/>
              <a:t>scores vs. </a:t>
            </a:r>
            <a:r>
              <a:rPr lang="en-US" sz="3200" dirty="0"/>
              <a:t> q</a:t>
            </a:r>
            <a:r>
              <a:rPr lang="en-US" sz="3200" dirty="0" smtClean="0"/>
              <a:t>uality of inference for different thresholds</a:t>
            </a:r>
            <a:endParaRPr lang="en-US" sz="3200" dirty="0"/>
          </a:p>
        </p:txBody>
      </p:sp>
      <p:sp>
        <p:nvSpPr>
          <p:cNvPr id="46" name="TextBox 45"/>
          <p:cNvSpPr txBox="1"/>
          <p:nvPr/>
        </p:nvSpPr>
        <p:spPr>
          <a:xfrm>
            <a:off x="7620000" y="26390025"/>
            <a:ext cx="7467600" cy="584775"/>
          </a:xfrm>
          <a:prstGeom prst="rect">
            <a:avLst/>
          </a:prstGeom>
          <a:noFill/>
        </p:spPr>
        <p:txBody>
          <a:bodyPr wrap="square" rtlCol="0">
            <a:spAutoFit/>
          </a:bodyPr>
          <a:lstStyle/>
          <a:p>
            <a:r>
              <a:rPr lang="en-US" sz="3200" dirty="0" smtClean="0"/>
              <a:t>Quality of inference for various # of lines</a:t>
            </a:r>
            <a:endParaRPr lang="en-US" sz="3200" dirty="0"/>
          </a:p>
        </p:txBody>
      </p:sp>
      <p:sp>
        <p:nvSpPr>
          <p:cNvPr id="47" name="TextBox 46"/>
          <p:cNvSpPr txBox="1"/>
          <p:nvPr/>
        </p:nvSpPr>
        <p:spPr>
          <a:xfrm>
            <a:off x="9067800" y="30251400"/>
            <a:ext cx="4953000" cy="1077218"/>
          </a:xfrm>
          <a:prstGeom prst="rect">
            <a:avLst/>
          </a:prstGeom>
          <a:noFill/>
        </p:spPr>
        <p:txBody>
          <a:bodyPr wrap="square" rtlCol="0">
            <a:spAutoFit/>
          </a:bodyPr>
          <a:lstStyle/>
          <a:p>
            <a:r>
              <a:rPr lang="en-US" sz="3200" dirty="0" smtClean="0"/>
              <a:t>Comparing different inference methods</a:t>
            </a:r>
            <a:endParaRPr lang="en-US" sz="3200" dirty="0"/>
          </a:p>
        </p:txBody>
      </p:sp>
      <p:sp>
        <p:nvSpPr>
          <p:cNvPr id="49" name="TextBox 48"/>
          <p:cNvSpPr txBox="1"/>
          <p:nvPr/>
        </p:nvSpPr>
        <p:spPr>
          <a:xfrm>
            <a:off x="2590800" y="30099000"/>
            <a:ext cx="5181600" cy="1077218"/>
          </a:xfrm>
          <a:prstGeom prst="rect">
            <a:avLst/>
          </a:prstGeom>
          <a:noFill/>
        </p:spPr>
        <p:txBody>
          <a:bodyPr wrap="square" rtlCol="0">
            <a:spAutoFit/>
          </a:bodyPr>
          <a:lstStyle/>
          <a:p>
            <a:r>
              <a:rPr lang="en-US" sz="3200" dirty="0" smtClean="0"/>
              <a:t>Quality of inference for various average line </a:t>
            </a:r>
            <a:r>
              <a:rPr lang="en-US" sz="3200" dirty="0" smtClean="0"/>
              <a:t>lengths</a:t>
            </a:r>
            <a:endParaRPr lang="en-US" sz="3200" dirty="0"/>
          </a:p>
        </p:txBody>
      </p:sp>
      <p:sp>
        <p:nvSpPr>
          <p:cNvPr id="50" name="TextBox 49"/>
          <p:cNvSpPr txBox="1"/>
          <p:nvPr/>
        </p:nvSpPr>
        <p:spPr>
          <a:xfrm>
            <a:off x="16154400" y="25603200"/>
            <a:ext cx="4724399" cy="1569660"/>
          </a:xfrm>
          <a:prstGeom prst="rect">
            <a:avLst/>
          </a:prstGeom>
          <a:noFill/>
        </p:spPr>
        <p:txBody>
          <a:bodyPr wrap="square" rtlCol="0">
            <a:spAutoFit/>
          </a:bodyPr>
          <a:lstStyle/>
          <a:p>
            <a:r>
              <a:rPr lang="en-US" sz="3200" dirty="0" smtClean="0"/>
              <a:t>Inferred network from ~800,000 AERS records for all drugs and side effects</a:t>
            </a:r>
            <a:endParaRPr lang="en-US" sz="3200" dirty="0"/>
          </a:p>
        </p:txBody>
      </p:sp>
      <p:sp>
        <p:nvSpPr>
          <p:cNvPr id="51" name="TextBox 50"/>
          <p:cNvSpPr txBox="1"/>
          <p:nvPr/>
        </p:nvSpPr>
        <p:spPr>
          <a:xfrm>
            <a:off x="16306800" y="28194000"/>
            <a:ext cx="4800599" cy="2554545"/>
          </a:xfrm>
          <a:prstGeom prst="rect">
            <a:avLst/>
          </a:prstGeom>
          <a:noFill/>
        </p:spPr>
        <p:txBody>
          <a:bodyPr wrap="square" rtlCol="0">
            <a:spAutoFit/>
          </a:bodyPr>
          <a:lstStyle/>
          <a:p>
            <a:r>
              <a:rPr lang="en-US" sz="3200" dirty="0" smtClean="0"/>
              <a:t>Drug-drug networks connected by different types of shared </a:t>
            </a:r>
            <a:r>
              <a:rPr lang="en-US" sz="3200" dirty="0" smtClean="0"/>
              <a:t>attributes:</a:t>
            </a:r>
            <a:endParaRPr lang="en-US" sz="3200" dirty="0" smtClean="0"/>
          </a:p>
          <a:p>
            <a:r>
              <a:rPr lang="en-US" sz="3200" dirty="0" smtClean="0"/>
              <a:t>ARES, ATC, CMAP-</a:t>
            </a:r>
            <a:r>
              <a:rPr lang="en-US" sz="3200" dirty="0" err="1" smtClean="0"/>
              <a:t>ChEA</a:t>
            </a:r>
            <a:r>
              <a:rPr lang="en-US" sz="3200" dirty="0" smtClean="0"/>
              <a:t>, </a:t>
            </a:r>
          </a:p>
          <a:p>
            <a:r>
              <a:rPr lang="en-US" sz="3200" dirty="0" smtClean="0"/>
              <a:t>CMAP-KEGG, MACCS, SIDER</a:t>
            </a:r>
            <a:endParaRPr lang="en-US" sz="3200" dirty="0"/>
          </a:p>
        </p:txBody>
      </p:sp>
      <p:sp>
        <p:nvSpPr>
          <p:cNvPr id="52" name="TextBox 51"/>
          <p:cNvSpPr txBox="1"/>
          <p:nvPr/>
        </p:nvSpPr>
        <p:spPr>
          <a:xfrm>
            <a:off x="21869400" y="25603200"/>
            <a:ext cx="6777433" cy="584775"/>
          </a:xfrm>
          <a:prstGeom prst="rect">
            <a:avLst/>
          </a:prstGeom>
          <a:noFill/>
        </p:spPr>
        <p:txBody>
          <a:bodyPr wrap="none" rtlCol="0">
            <a:spAutoFit/>
          </a:bodyPr>
          <a:lstStyle/>
          <a:p>
            <a:r>
              <a:rPr lang="en-US" sz="3200" dirty="0" smtClean="0"/>
              <a:t>Cancer drugs and 34 severe side-effects</a:t>
            </a:r>
            <a:endParaRPr lang="en-US" sz="3200" dirty="0"/>
          </a:p>
        </p:txBody>
      </p:sp>
      <p:sp>
        <p:nvSpPr>
          <p:cNvPr id="53" name="TextBox 52"/>
          <p:cNvSpPr txBox="1"/>
          <p:nvPr/>
        </p:nvSpPr>
        <p:spPr>
          <a:xfrm>
            <a:off x="31165800" y="16154400"/>
            <a:ext cx="10363200" cy="1077218"/>
          </a:xfrm>
          <a:prstGeom prst="rect">
            <a:avLst/>
          </a:prstGeom>
          <a:noFill/>
        </p:spPr>
        <p:txBody>
          <a:bodyPr wrap="square" rtlCol="0">
            <a:spAutoFit/>
          </a:bodyPr>
          <a:lstStyle/>
          <a:p>
            <a:r>
              <a:rPr lang="en-US" sz="3200" dirty="0" smtClean="0"/>
              <a:t>Inferred network from 5,000 recent (5/2012) publications listed on </a:t>
            </a:r>
            <a:r>
              <a:rPr lang="en-US" sz="3200" dirty="0" err="1" smtClean="0"/>
              <a:t>PubMed</a:t>
            </a:r>
            <a:r>
              <a:rPr lang="en-US" sz="3200" dirty="0" smtClean="0"/>
              <a:t> from Mount Sinai investigators</a:t>
            </a:r>
            <a:endParaRPr lang="en-US" sz="3200" dirty="0"/>
          </a:p>
        </p:txBody>
      </p:sp>
      <p:sp>
        <p:nvSpPr>
          <p:cNvPr id="54" name="TextBox 53"/>
          <p:cNvSpPr txBox="1"/>
          <p:nvPr/>
        </p:nvSpPr>
        <p:spPr>
          <a:xfrm>
            <a:off x="16992600" y="12344400"/>
            <a:ext cx="10210800" cy="1077218"/>
          </a:xfrm>
          <a:prstGeom prst="rect">
            <a:avLst/>
          </a:prstGeom>
          <a:noFill/>
        </p:spPr>
        <p:txBody>
          <a:bodyPr wrap="square" rtlCol="0">
            <a:spAutoFit/>
          </a:bodyPr>
          <a:lstStyle/>
          <a:p>
            <a:pPr algn="ctr"/>
            <a:r>
              <a:rPr lang="en-US" sz="3200" dirty="0" smtClean="0"/>
              <a:t>Network inferred from 3290 IP/MS experiments next to known PPI network made from 20 online PPI databases  </a:t>
            </a:r>
            <a:endParaRPr lang="en-US" sz="3200" dirty="0"/>
          </a:p>
        </p:txBody>
      </p:sp>
      <p:sp>
        <p:nvSpPr>
          <p:cNvPr id="55" name="TextBox 54"/>
          <p:cNvSpPr txBox="1"/>
          <p:nvPr/>
        </p:nvSpPr>
        <p:spPr>
          <a:xfrm>
            <a:off x="16840200" y="16459200"/>
            <a:ext cx="4343400" cy="1077218"/>
          </a:xfrm>
          <a:prstGeom prst="rect">
            <a:avLst/>
          </a:prstGeom>
          <a:noFill/>
        </p:spPr>
        <p:txBody>
          <a:bodyPr wrap="square" rtlCol="0">
            <a:spAutoFit/>
          </a:bodyPr>
          <a:lstStyle/>
          <a:p>
            <a:r>
              <a:rPr lang="en-US" sz="3200" dirty="0" smtClean="0"/>
              <a:t>Comparing different inference methods</a:t>
            </a:r>
            <a:endParaRPr lang="en-US" sz="3200" dirty="0"/>
          </a:p>
        </p:txBody>
      </p:sp>
      <p:sp>
        <p:nvSpPr>
          <p:cNvPr id="56" name="TextBox 55"/>
          <p:cNvSpPr txBox="1"/>
          <p:nvPr/>
        </p:nvSpPr>
        <p:spPr>
          <a:xfrm>
            <a:off x="22250400" y="16383000"/>
            <a:ext cx="5486400" cy="1077218"/>
          </a:xfrm>
          <a:prstGeom prst="rect">
            <a:avLst/>
          </a:prstGeom>
          <a:noFill/>
        </p:spPr>
        <p:txBody>
          <a:bodyPr wrap="square" rtlCol="0">
            <a:spAutoFit/>
          </a:bodyPr>
          <a:lstStyle/>
          <a:p>
            <a:r>
              <a:rPr lang="en-US" sz="3200" dirty="0" smtClean="0"/>
              <a:t>Recovering known complexes listed in CORUM</a:t>
            </a:r>
            <a:endParaRPr lang="en-US" sz="3200" dirty="0"/>
          </a:p>
        </p:txBody>
      </p:sp>
    </p:spTree>
    <p:extLst>
      <p:ext uri="{BB962C8B-B14F-4D97-AF65-F5344CB8AC3E}">
        <p14:creationId xmlns:p14="http://schemas.microsoft.com/office/powerpoint/2010/main" val="28963018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TotalTime>
  <Words>538</Words>
  <Application>Microsoft Office PowerPoint</Application>
  <PresentationFormat>Custom</PresentationFormat>
  <Paragraphs>94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Avi-Maayan</dc:creator>
  <cp:lastModifiedBy>Avi-Maayan</cp:lastModifiedBy>
  <cp:revision>23</cp:revision>
  <cp:lastPrinted>2012-07-12T15:45:59Z</cp:lastPrinted>
  <dcterms:created xsi:type="dcterms:W3CDTF">2012-07-11T21:10:28Z</dcterms:created>
  <dcterms:modified xsi:type="dcterms:W3CDTF">2012-07-12T16:05:58Z</dcterms:modified>
</cp:coreProperties>
</file>