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av" ContentType="audio/wav"/>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76" r:id="rId6"/>
    <p:sldId id="258" r:id="rId7"/>
    <p:sldId id="273" r:id="rId8"/>
    <p:sldId id="274" r:id="rId9"/>
    <p:sldId id="272" r:id="rId10"/>
    <p:sldId id="259" r:id="rId11"/>
    <p:sldId id="268" r:id="rId12"/>
    <p:sldId id="266" r:id="rId13"/>
    <p:sldId id="265" r:id="rId14"/>
    <p:sldId id="267" r:id="rId15"/>
    <p:sldId id="275" r:id="rId16"/>
    <p:sldId id="262" r:id="rId17"/>
    <p:sldId id="270" r:id="rId18"/>
    <p:sldId id="271" r:id="rId19"/>
    <p:sldId id="260" r:id="rId20"/>
    <p:sldId id="269"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4" autoAdjust="0"/>
    <p:restoredTop sz="93909" autoAdjust="0"/>
  </p:normalViewPr>
  <p:slideViewPr>
    <p:cSldViewPr>
      <p:cViewPr>
        <p:scale>
          <a:sx n="70" d="100"/>
          <a:sy n="70" d="100"/>
        </p:scale>
        <p:origin x="-1356" y="-3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032"/>
          <p:cNvSpPr txBox="1">
            <a:spLocks noGrp="1"/>
          </p:cNvSpPr>
          <p:nvPr>
            <p:ph type="ctrTitle"/>
          </p:nvPr>
        </p:nvSpPr>
        <p:spPr>
          <a:xfrm>
            <a:off x="685800" y="2286000"/>
            <a:ext cx="7772400" cy="1143000"/>
          </a:xfrm>
        </p:spPr>
        <p:txBody>
          <a:bodyPr/>
          <a:lstStyle>
            <a:lvl1pPr>
              <a:defRPr/>
            </a:lvl1pPr>
          </a:lstStyle>
          <a:p>
            <a:pPr lvl="0"/>
            <a:r>
              <a:rPr lang="en-US"/>
              <a:t>Click to edit Master title style</a:t>
            </a:r>
          </a:p>
        </p:txBody>
      </p:sp>
    </p:spTree>
    <p:extLst>
      <p:ext uri="{BB962C8B-B14F-4D97-AF65-F5344CB8AC3E}">
        <p14:creationId xmlns:p14="http://schemas.microsoft.com/office/powerpoint/2010/main" val="262096831"/>
      </p:ext>
    </p:extLst>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829885881"/>
      </p:ext>
    </p:extLst>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txBox="1">
            <a:spLocks noGrp="1"/>
          </p:cNvSpPr>
          <p:nvPr>
            <p:ph type="title"/>
          </p:nvPr>
        </p:nvSpPr>
        <p:spPr>
          <a:xfrm>
            <a:off x="722311" y="4406895"/>
            <a:ext cx="7772400" cy="1362071"/>
          </a:xfrm>
        </p:spPr>
        <p:txBody>
          <a:bodyPr anchor="t" anchorCtr="0"/>
          <a:lstStyle>
            <a:lvl1pPr algn="l">
              <a:defRPr sz="4000" b="1" cap="all"/>
            </a:lvl1pPr>
          </a:lstStyle>
          <a:p>
            <a:pPr lvl="0"/>
            <a:r>
              <a:rPr lang="en-US"/>
              <a:t>Click to edit Master title style</a:t>
            </a:r>
            <a:endParaRPr lang="en-GB"/>
          </a:p>
        </p:txBody>
      </p:sp>
      <p:sp>
        <p:nvSpPr>
          <p:cNvPr id="3" name="Text Placeholder 2"/>
          <p:cNvSpPr txBox="1">
            <a:spLocks noGrp="1"/>
          </p:cNvSpPr>
          <p:nvPr>
            <p:ph type="body" idx="1"/>
          </p:nvPr>
        </p:nvSpPr>
        <p:spPr>
          <a:xfrm>
            <a:off x="722311" y="2906713"/>
            <a:ext cx="7772400" cy="1500182"/>
          </a:xfrm>
        </p:spPr>
        <p:txBody>
          <a:bodyPr anchor="b"/>
          <a:lstStyle>
            <a:lvl1pPr marL="0" indent="0">
              <a:spcBef>
                <a:spcPts val="500"/>
              </a:spcBef>
              <a:buNone/>
              <a:defRPr sz="2000"/>
            </a:lvl1pPr>
          </a:lstStyle>
          <a:p>
            <a:pPr lvl="0"/>
            <a:r>
              <a:rPr lang="en-US"/>
              <a:t>Click to edit Master text styles</a:t>
            </a:r>
          </a:p>
        </p:txBody>
      </p:sp>
      <p:sp>
        <p:nvSpPr>
          <p:cNvPr id="4"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377252534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p:cNvSpPr txBox="1">
            <a:spLocks noGrp="1"/>
          </p:cNvSpPr>
          <p:nvPr>
            <p:ph idx="1"/>
          </p:nvPr>
        </p:nvSpPr>
        <p:spPr>
          <a:xfrm>
            <a:off x="685800" y="2362196"/>
            <a:ext cx="3810003" cy="3733796"/>
          </a:xfrm>
        </p:spPr>
        <p:txBody>
          <a:bodyPr/>
          <a:lstStyle>
            <a:lvl1pPr>
              <a:spcBef>
                <a:spcPts val="700"/>
              </a:spcBef>
              <a:defRPr sz="2800"/>
            </a:lvl1pPr>
            <a:lvl2pPr>
              <a:defRPr sz="2400"/>
            </a:lvl2pPr>
            <a:lvl3pPr>
              <a:spcBef>
                <a:spcPts val="500"/>
              </a:spcBef>
              <a:defRPr sz="2000"/>
            </a:lvl3pPr>
            <a:lvl4pPr>
              <a:spcBef>
                <a:spcPts val="400"/>
              </a:spcBef>
              <a:defRPr sz="1800"/>
            </a:lvl4pPr>
            <a:lvl5pPr>
              <a:spcBef>
                <a:spcPts val="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txBox="1">
            <a:spLocks noGrp="1"/>
          </p:cNvSpPr>
          <p:nvPr>
            <p:ph idx="2"/>
          </p:nvPr>
        </p:nvSpPr>
        <p:spPr>
          <a:xfrm>
            <a:off x="4648196" y="2362196"/>
            <a:ext cx="3810003" cy="3733796"/>
          </a:xfrm>
        </p:spPr>
        <p:txBody>
          <a:bodyPr/>
          <a:lstStyle>
            <a:lvl1pPr>
              <a:spcBef>
                <a:spcPts val="700"/>
              </a:spcBef>
              <a:defRPr sz="2800"/>
            </a:lvl1pPr>
            <a:lvl2pPr>
              <a:defRPr sz="2400"/>
            </a:lvl2pPr>
            <a:lvl3pPr>
              <a:spcBef>
                <a:spcPts val="500"/>
              </a:spcBef>
              <a:defRPr sz="2000"/>
            </a:lvl3pPr>
            <a:lvl4pPr>
              <a:spcBef>
                <a:spcPts val="400"/>
              </a:spcBef>
              <a:defRPr sz="1800"/>
            </a:lvl4pPr>
            <a:lvl5pPr>
              <a:spcBef>
                <a:spcPts val="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183450337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txBox="1">
            <a:spLocks noGrp="1"/>
          </p:cNvSpPr>
          <p:nvPr>
            <p:ph type="title"/>
          </p:nvPr>
        </p:nvSpPr>
        <p:spPr>
          <a:xfrm>
            <a:off x="457200" y="274640"/>
            <a:ext cx="8229600" cy="1143000"/>
          </a:xfrm>
        </p:spPr>
        <p:txBody>
          <a:bodyPr/>
          <a:lstStyle>
            <a:lvl1pPr>
              <a:defRPr/>
            </a:lvl1pPr>
          </a:lstStyle>
          <a:p>
            <a:pPr lvl="0"/>
            <a:r>
              <a:rPr lang="en-US"/>
              <a:t>Click to edit Master title style</a:t>
            </a:r>
            <a:endParaRPr lang="en-GB"/>
          </a:p>
        </p:txBody>
      </p:sp>
      <p:sp>
        <p:nvSpPr>
          <p:cNvPr id="3" name="Text Placeholder 2"/>
          <p:cNvSpPr txBox="1">
            <a:spLocks noGrp="1"/>
          </p:cNvSpPr>
          <p:nvPr>
            <p:ph type="body" idx="1"/>
          </p:nvPr>
        </p:nvSpPr>
        <p:spPr>
          <a:xfrm>
            <a:off x="457200" y="1535113"/>
            <a:ext cx="4040184" cy="639759"/>
          </a:xfrm>
        </p:spPr>
        <p:txBody>
          <a:bodyPr anchor="b"/>
          <a:lstStyle>
            <a:lvl1pPr marL="0" indent="0">
              <a:buNone/>
              <a:defRPr sz="2400" b="1"/>
            </a:lvl1pPr>
          </a:lstStyle>
          <a:p>
            <a:pPr lvl="0"/>
            <a:r>
              <a:rPr lang="en-US"/>
              <a:t>Click to edit Master text styles</a:t>
            </a:r>
          </a:p>
        </p:txBody>
      </p:sp>
      <p:sp>
        <p:nvSpPr>
          <p:cNvPr id="4" name="Content Placeholder 3"/>
          <p:cNvSpPr txBox="1">
            <a:spLocks noGrp="1"/>
          </p:cNvSpPr>
          <p:nvPr>
            <p:ph idx="2"/>
          </p:nvPr>
        </p:nvSpPr>
        <p:spPr>
          <a:xfrm>
            <a:off x="457200" y="2174872"/>
            <a:ext cx="4040184" cy="3951286"/>
          </a:xfrm>
        </p:spPr>
        <p:txBody>
          <a:bodyPr/>
          <a:lstStyle>
            <a:lvl1pPr>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txBox="1">
            <a:spLocks noGrp="1"/>
          </p:cNvSpPr>
          <p:nvPr>
            <p:ph type="body" idx="3"/>
          </p:nvPr>
        </p:nvSpPr>
        <p:spPr>
          <a:xfrm>
            <a:off x="4645023" y="1535113"/>
            <a:ext cx="4041776" cy="639759"/>
          </a:xfrm>
        </p:spPr>
        <p:txBody>
          <a:bodyPr anchor="b"/>
          <a:lstStyle>
            <a:lvl1pPr marL="0" indent="0">
              <a:buNone/>
              <a:defRPr sz="2400" b="1"/>
            </a:lvl1pPr>
          </a:lstStyle>
          <a:p>
            <a:pPr lvl="0"/>
            <a:r>
              <a:rPr lang="en-US"/>
              <a:t>Click to edit Master text styles</a:t>
            </a:r>
          </a:p>
        </p:txBody>
      </p:sp>
      <p:sp>
        <p:nvSpPr>
          <p:cNvPr id="6" name="Content Placeholder 5"/>
          <p:cNvSpPr txBox="1">
            <a:spLocks noGrp="1"/>
          </p:cNvSpPr>
          <p:nvPr>
            <p:ph idx="4"/>
          </p:nvPr>
        </p:nvSpPr>
        <p:spPr>
          <a:xfrm>
            <a:off x="4645023" y="2174872"/>
            <a:ext cx="4041776" cy="3951286"/>
          </a:xfrm>
        </p:spPr>
        <p:txBody>
          <a:bodyPr/>
          <a:lstStyle>
            <a:lvl1pPr>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228567230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20342628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107094788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457200" y="273048"/>
            <a:ext cx="3008311" cy="1162046"/>
          </a:xfrm>
        </p:spPr>
        <p:txBody>
          <a:bodyPr anchor="b" anchorCtr="0"/>
          <a:lstStyle>
            <a:lvl1pPr algn="l">
              <a:defRPr sz="2000" b="1"/>
            </a:lvl1pPr>
          </a:lstStyle>
          <a:p>
            <a:pPr lvl="0"/>
            <a:r>
              <a:rPr lang="en-US"/>
              <a:t>Click to edit Master title style</a:t>
            </a:r>
            <a:endParaRPr lang="en-GB"/>
          </a:p>
        </p:txBody>
      </p:sp>
      <p:sp>
        <p:nvSpPr>
          <p:cNvPr id="3" name="Content Placeholder 2"/>
          <p:cNvSpPr txBox="1">
            <a:spLocks noGrp="1"/>
          </p:cNvSpPr>
          <p:nvPr>
            <p:ph idx="1"/>
          </p:nvPr>
        </p:nvSpPr>
        <p:spPr>
          <a:xfrm>
            <a:off x="3575047" y="273048"/>
            <a:ext cx="5111752" cy="5853110"/>
          </a:xfrm>
        </p:spPr>
        <p:txBody>
          <a:bodyPr/>
          <a:lstStyle>
            <a:lvl1pPr>
              <a:spcBef>
                <a:spcPts val="800"/>
              </a:spcBef>
              <a:defRPr sz="3200"/>
            </a:lvl1pPr>
            <a:lvl2pPr>
              <a:spcBef>
                <a:spcPts val="700"/>
              </a:spcBef>
              <a:defRPr sz="2800"/>
            </a:lvl2pPr>
            <a:lvl3pPr>
              <a:defRPr sz="2400"/>
            </a:lvl3pPr>
            <a:lvl4pPr>
              <a:spcBef>
                <a:spcPts val="500"/>
              </a:spcBef>
              <a:defRPr sz="2000"/>
            </a:lvl4pPr>
            <a:lvl5pPr>
              <a:spcBef>
                <a:spcPts val="500"/>
              </a:spcBef>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txBox="1">
            <a:spLocks noGrp="1"/>
          </p:cNvSpPr>
          <p:nvPr>
            <p:ph type="body" idx="2"/>
          </p:nvPr>
        </p:nvSpPr>
        <p:spPr>
          <a:xfrm>
            <a:off x="457200" y="1435095"/>
            <a:ext cx="3008311" cy="4691064"/>
          </a:xfrm>
        </p:spPr>
        <p:txBody>
          <a:bodyPr/>
          <a:lstStyle>
            <a:lvl1pPr marL="0" indent="0">
              <a:spcBef>
                <a:spcPts val="300"/>
              </a:spcBef>
              <a:buNone/>
              <a:defRPr sz="1400"/>
            </a:lvl1pPr>
          </a:lstStyle>
          <a:p>
            <a:pPr lvl="0"/>
            <a:r>
              <a:rPr lang="en-US"/>
              <a:t>Click to edit Master text styles</a:t>
            </a:r>
          </a:p>
        </p:txBody>
      </p:sp>
      <p:sp>
        <p:nvSpPr>
          <p:cNvPr id="5"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95435386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792288" y="4800600"/>
            <a:ext cx="5486400" cy="566735"/>
          </a:xfrm>
        </p:spPr>
        <p:txBody>
          <a:bodyPr anchor="b" anchorCtr="0"/>
          <a:lstStyle>
            <a:lvl1pPr algn="l">
              <a:defRPr sz="2000" b="1"/>
            </a:lvl1pPr>
          </a:lstStyle>
          <a:p>
            <a:pPr lvl="0"/>
            <a:r>
              <a:rPr lang="en-US"/>
              <a:t>Click to edit Master title style</a:t>
            </a:r>
            <a:endParaRPr lang="en-GB"/>
          </a:p>
        </p:txBody>
      </p:sp>
      <p:sp>
        <p:nvSpPr>
          <p:cNvPr id="3" name="Picture Placeholder 2"/>
          <p:cNvSpPr txBox="1">
            <a:spLocks noGrp="1"/>
          </p:cNvSpPr>
          <p:nvPr>
            <p:ph type="pic" idx="1"/>
          </p:nvPr>
        </p:nvSpPr>
        <p:spPr>
          <a:xfrm>
            <a:off x="1792288" y="612776"/>
            <a:ext cx="5486400" cy="4114800"/>
          </a:xfrm>
        </p:spPr>
        <p:txBody>
          <a:bodyPr/>
          <a:lstStyle>
            <a:lvl1pPr marL="0" indent="0">
              <a:spcBef>
                <a:spcPts val="800"/>
              </a:spcBef>
              <a:buNone/>
              <a:defRPr lang="en-GB" sz="3200"/>
            </a:lvl1pPr>
          </a:lstStyle>
          <a:p>
            <a:pPr lvl="0"/>
            <a:endParaRPr lang="en-GB" noProof="0" dirty="0"/>
          </a:p>
        </p:txBody>
      </p:sp>
      <p:sp>
        <p:nvSpPr>
          <p:cNvPr id="4" name="Text Placeholder 3"/>
          <p:cNvSpPr txBox="1">
            <a:spLocks noGrp="1"/>
          </p:cNvSpPr>
          <p:nvPr>
            <p:ph type="body" idx="2"/>
          </p:nvPr>
        </p:nvSpPr>
        <p:spPr>
          <a:xfrm>
            <a:off x="1792288" y="5367335"/>
            <a:ext cx="5486400" cy="804864"/>
          </a:xfrm>
        </p:spPr>
        <p:txBody>
          <a:bodyPr/>
          <a:lstStyle>
            <a:lvl1pPr marL="0" indent="0">
              <a:spcBef>
                <a:spcPts val="300"/>
              </a:spcBef>
              <a:buNone/>
              <a:defRPr sz="1400"/>
            </a:lvl1pPr>
          </a:lstStyle>
          <a:p>
            <a:pPr lvl="0"/>
            <a:r>
              <a:rPr lang="en-US"/>
              <a:t>Click to edit Master text styles</a:t>
            </a:r>
          </a:p>
        </p:txBody>
      </p:sp>
      <p:sp>
        <p:nvSpPr>
          <p:cNvPr id="5"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125776428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245807932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txBox="1">
            <a:spLocks noGrp="1"/>
          </p:cNvSpPr>
          <p:nvPr>
            <p:ph type="title" orient="vert"/>
          </p:nvPr>
        </p:nvSpPr>
        <p:spPr>
          <a:xfrm>
            <a:off x="6515099" y="1196977"/>
            <a:ext cx="1943100" cy="4899026"/>
          </a:xfrm>
        </p:spPr>
        <p:txBody>
          <a:bodyPr vert="eaVert"/>
          <a:lstStyle>
            <a:lvl1pPr>
              <a:defRPr/>
            </a:lvl1pPr>
          </a:lstStyle>
          <a:p>
            <a:pPr lvl="0"/>
            <a:r>
              <a:rPr lang="en-US"/>
              <a:t>Click to edit Master title style</a:t>
            </a:r>
            <a:endParaRPr lang="en-GB"/>
          </a:p>
        </p:txBody>
      </p:sp>
      <p:sp>
        <p:nvSpPr>
          <p:cNvPr id="3" name="Vertical Text Placeholder 2"/>
          <p:cNvSpPr txBox="1">
            <a:spLocks noGrp="1"/>
          </p:cNvSpPr>
          <p:nvPr>
            <p:ph type="body" orient="vert" idx="1"/>
          </p:nvPr>
        </p:nvSpPr>
        <p:spPr>
          <a:xfrm>
            <a:off x="684208" y="1196977"/>
            <a:ext cx="5678488" cy="4899026"/>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268071430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Text Placeholder 2"/>
          <p:cNvSpPr txBox="1">
            <a:spLocks noGrp="1"/>
          </p:cNvSpPr>
          <p:nvPr>
            <p:ph type="body" idx="1"/>
          </p:nvPr>
        </p:nvSpPr>
        <p:spPr>
          <a:xfrm>
            <a:off x="685800" y="2362196"/>
            <a:ext cx="3810003" cy="373379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txBox="1">
            <a:spLocks noGrp="1"/>
          </p:cNvSpPr>
          <p:nvPr>
            <p:ph idx="2"/>
          </p:nvPr>
        </p:nvSpPr>
        <p:spPr>
          <a:xfrm>
            <a:off x="4648196" y="2362196"/>
            <a:ext cx="3810003" cy="373379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81014705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endParaRPr lang="en-GB"/>
          </a:p>
        </p:txBody>
      </p:sp>
      <p:sp>
        <p:nvSpPr>
          <p:cNvPr id="3" name="ClipArt Placeholder 2"/>
          <p:cNvSpPr txBox="1">
            <a:spLocks noGrp="1"/>
          </p:cNvSpPr>
          <p:nvPr>
            <p:ph type="pic" idx="4294967295"/>
          </p:nvPr>
        </p:nvSpPr>
        <p:spPr>
          <a:xfrm>
            <a:off x="685800" y="2362196"/>
            <a:ext cx="3810003" cy="3733796"/>
          </a:xfrm>
        </p:spPr>
        <p:txBody>
          <a:bodyPr/>
          <a:lstStyle>
            <a:lvl1pPr>
              <a:defRPr lang="en-GB"/>
            </a:lvl1pPr>
          </a:lstStyle>
          <a:p>
            <a:pPr lvl="0"/>
            <a:endParaRPr lang="en-GB" noProof="0" dirty="0"/>
          </a:p>
        </p:txBody>
      </p:sp>
      <p:sp>
        <p:nvSpPr>
          <p:cNvPr id="4" name="Text Placeholder 3"/>
          <p:cNvSpPr txBox="1">
            <a:spLocks noGrp="1"/>
          </p:cNvSpPr>
          <p:nvPr>
            <p:ph type="body" idx="2"/>
          </p:nvPr>
        </p:nvSpPr>
        <p:spPr>
          <a:xfrm>
            <a:off x="4648196" y="2362196"/>
            <a:ext cx="3810003" cy="373379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txBox="1">
            <a:spLocks noGrp="1"/>
          </p:cNvSpPr>
          <p:nvPr>
            <p:ph type="dt" sz="half" idx="10"/>
          </p:nvPr>
        </p:nvSpPr>
        <p:spPr>
          <a:ln/>
        </p:spPr>
        <p:txBody>
          <a:bodyPr/>
          <a:lstStyle>
            <a:lvl1pPr>
              <a:defRPr/>
            </a:lvl1pPr>
          </a:lstStyle>
          <a:p>
            <a:pPr>
              <a:defRPr/>
            </a:pPr>
            <a:endParaRPr/>
          </a:p>
        </p:txBody>
      </p:sp>
    </p:spTree>
    <p:extLst>
      <p:ext uri="{BB962C8B-B14F-4D97-AF65-F5344CB8AC3E}">
        <p14:creationId xmlns:p14="http://schemas.microsoft.com/office/powerpoint/2010/main" val="243818408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r:link="rId16"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26" name="Rectangle 2"/>
          <p:cNvSpPr txBox="1">
            <a:spLocks noGrp="1"/>
          </p:cNvSpPr>
          <p:nvPr>
            <p:ph type="title"/>
          </p:nvPr>
        </p:nvSpPr>
        <p:spPr bwMode="auto">
          <a:xfrm>
            <a:off x="684213" y="1196975"/>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bodyPr>
          <a:lstStyle/>
          <a:p>
            <a:pPr lvl="0"/>
            <a:r>
              <a:rPr lang="en-US" smtClean="0"/>
              <a:t>Click to edit Master title style</a:t>
            </a:r>
          </a:p>
        </p:txBody>
      </p:sp>
      <p:sp>
        <p:nvSpPr>
          <p:cNvPr id="1027" name="Rectangle 3"/>
          <p:cNvSpPr txBox="1">
            <a:spLocks noGrp="1"/>
          </p:cNvSpPr>
          <p:nvPr>
            <p:ph type="body" idx="1"/>
          </p:nvPr>
        </p:nvSpPr>
        <p:spPr bwMode="auto">
          <a:xfrm>
            <a:off x="685800" y="2362200"/>
            <a:ext cx="77724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Rectangle 4"/>
          <p:cNvSpPr txBox="1">
            <a:spLocks noGrp="1"/>
          </p:cNvSpPr>
          <p:nvPr>
            <p:ph type="dt" sz="half" idx="2"/>
          </p:nvPr>
        </p:nvSpPr>
        <p:spPr>
          <a:xfrm>
            <a:off x="685800" y="6248400"/>
            <a:ext cx="2895600" cy="457200"/>
          </a:xfrm>
          <a:prstGeom prst="rect">
            <a:avLst/>
          </a:prstGeom>
          <a:noFill/>
          <a:ln>
            <a:noFill/>
          </a:ln>
        </p:spPr>
        <p:txBody>
          <a:bodyPr vert="horz" wrap="square" lIns="91440" tIns="45720" rIns="91440" bIns="45720" anchor="t" anchorCtr="0" compatLnSpc="1"/>
          <a:lstStyle>
            <a:lvl1pPr marL="0" marR="0" lvl="0" indent="0" algn="l" defTabSz="914400" rtl="0" fontAlgn="auto" hangingPunct="0">
              <a:lnSpc>
                <a:spcPct val="100000"/>
              </a:lnSpc>
              <a:spcBef>
                <a:spcPts val="0"/>
              </a:spcBef>
              <a:spcAft>
                <a:spcPts val="0"/>
              </a:spcAft>
              <a:buNone/>
              <a:tabLst/>
              <a:defRPr lang="en-GB" sz="1400" b="0" i="0" u="none" strike="noStrike" kern="1200" cap="none" spc="0" baseline="0">
                <a:solidFill>
                  <a:srgbClr val="000000"/>
                </a:solidFill>
                <a:uFillTx/>
                <a:latin typeface="Arial" pitchFamily="34"/>
                <a:ea typeface="ＭＳ Ｐゴシック" pitchFamily="34"/>
                <a:cs typeface="+mn-cs"/>
              </a:defRPr>
            </a:lvl1pPr>
          </a:lstStyle>
          <a:p>
            <a:pPr>
              <a:defRPr/>
            </a:pPr>
            <a:endParaRPr/>
          </a:p>
        </p:txBody>
      </p:sp>
    </p:spTree>
  </p:cSld>
  <p:clrMap bg1="lt1" tx1="dk1" bg2="lt2" tx2="dk2" accent1="accent1" accent2="accent2" accent3="accent3" accent4="accent4" accent5="accent5" accent6="accent6" hlink="hlink" folHlink="folHlink"/>
  <p:sldLayoutIdLst>
    <p:sldLayoutId id="2147483856"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Lst>
  <p:transition/>
  <p:txStyles>
    <p:titleStyle>
      <a:lvl1pPr algn="ctr" rtl="0" eaLnBrk="0" fontAlgn="base" hangingPunct="0">
        <a:spcBef>
          <a:spcPct val="0"/>
        </a:spcBef>
        <a:spcAft>
          <a:spcPct val="0"/>
        </a:spcAft>
        <a:defRPr lang="en-US" sz="3300">
          <a:solidFill>
            <a:srgbClr val="003E7A"/>
          </a:solidFill>
          <a:latin typeface="Arial"/>
          <a:ea typeface="ＭＳ Ｐゴシック"/>
          <a:cs typeface="ＭＳ Ｐゴシック"/>
        </a:defRPr>
      </a:lvl1pPr>
      <a:lvl2pPr algn="ctr" rtl="0" eaLnBrk="0" fontAlgn="base" hangingPunct="0">
        <a:spcBef>
          <a:spcPct val="0"/>
        </a:spcBef>
        <a:spcAft>
          <a:spcPct val="0"/>
        </a:spcAft>
        <a:defRPr sz="3300">
          <a:solidFill>
            <a:srgbClr val="003E7A"/>
          </a:solidFill>
          <a:latin typeface="Arial" pitchFamily="34" charset="0"/>
          <a:ea typeface="ＭＳ Ｐゴシック"/>
          <a:cs typeface="ＭＳ Ｐゴシック"/>
        </a:defRPr>
      </a:lvl2pPr>
      <a:lvl3pPr algn="ctr" rtl="0" eaLnBrk="0" fontAlgn="base" hangingPunct="0">
        <a:spcBef>
          <a:spcPct val="0"/>
        </a:spcBef>
        <a:spcAft>
          <a:spcPct val="0"/>
        </a:spcAft>
        <a:defRPr sz="3300">
          <a:solidFill>
            <a:srgbClr val="003E7A"/>
          </a:solidFill>
          <a:latin typeface="Arial" pitchFamily="34" charset="0"/>
          <a:ea typeface="ＭＳ Ｐゴシック"/>
          <a:cs typeface="ＭＳ Ｐゴシック"/>
        </a:defRPr>
      </a:lvl3pPr>
      <a:lvl4pPr algn="ctr" rtl="0" eaLnBrk="0" fontAlgn="base" hangingPunct="0">
        <a:spcBef>
          <a:spcPct val="0"/>
        </a:spcBef>
        <a:spcAft>
          <a:spcPct val="0"/>
        </a:spcAft>
        <a:defRPr sz="3300">
          <a:solidFill>
            <a:srgbClr val="003E7A"/>
          </a:solidFill>
          <a:latin typeface="Arial" pitchFamily="34" charset="0"/>
          <a:ea typeface="ＭＳ Ｐゴシック"/>
          <a:cs typeface="ＭＳ Ｐゴシック"/>
        </a:defRPr>
      </a:lvl4pPr>
      <a:lvl5pPr algn="ctr" rtl="0" eaLnBrk="0" fontAlgn="base" hangingPunct="0">
        <a:spcBef>
          <a:spcPct val="0"/>
        </a:spcBef>
        <a:spcAft>
          <a:spcPct val="0"/>
        </a:spcAft>
        <a:defRPr sz="3300">
          <a:solidFill>
            <a:srgbClr val="003E7A"/>
          </a:solidFill>
          <a:latin typeface="Arial" pitchFamily="34" charset="0"/>
          <a:ea typeface="ＭＳ Ｐゴシック"/>
          <a:cs typeface="ＭＳ Ｐゴシック"/>
        </a:defRPr>
      </a:lvl5pPr>
      <a:lvl6pPr marL="457200" algn="ctr" rtl="0" eaLnBrk="0" fontAlgn="base" hangingPunct="0">
        <a:spcBef>
          <a:spcPct val="0"/>
        </a:spcBef>
        <a:spcAft>
          <a:spcPct val="0"/>
        </a:spcAft>
        <a:defRPr sz="3300">
          <a:solidFill>
            <a:srgbClr val="003E7A"/>
          </a:solidFill>
          <a:latin typeface="Arial" pitchFamily="34" charset="0"/>
          <a:ea typeface="ＭＳ Ｐゴシック"/>
          <a:cs typeface="ＭＳ Ｐゴシック"/>
        </a:defRPr>
      </a:lvl6pPr>
      <a:lvl7pPr marL="914400" algn="ctr" rtl="0" eaLnBrk="0" fontAlgn="base" hangingPunct="0">
        <a:spcBef>
          <a:spcPct val="0"/>
        </a:spcBef>
        <a:spcAft>
          <a:spcPct val="0"/>
        </a:spcAft>
        <a:defRPr sz="3300">
          <a:solidFill>
            <a:srgbClr val="003E7A"/>
          </a:solidFill>
          <a:latin typeface="Arial" pitchFamily="34" charset="0"/>
          <a:ea typeface="ＭＳ Ｐゴシック"/>
          <a:cs typeface="ＭＳ Ｐゴシック"/>
        </a:defRPr>
      </a:lvl7pPr>
      <a:lvl8pPr marL="1371600" algn="ctr" rtl="0" eaLnBrk="0" fontAlgn="base" hangingPunct="0">
        <a:spcBef>
          <a:spcPct val="0"/>
        </a:spcBef>
        <a:spcAft>
          <a:spcPct val="0"/>
        </a:spcAft>
        <a:defRPr sz="3300">
          <a:solidFill>
            <a:srgbClr val="003E7A"/>
          </a:solidFill>
          <a:latin typeface="Arial" pitchFamily="34" charset="0"/>
          <a:ea typeface="ＭＳ Ｐゴシック"/>
          <a:cs typeface="ＭＳ Ｐゴシック"/>
        </a:defRPr>
      </a:lvl8pPr>
      <a:lvl9pPr marL="1828800" algn="ctr" rtl="0" eaLnBrk="0" fontAlgn="base" hangingPunct="0">
        <a:spcBef>
          <a:spcPct val="0"/>
        </a:spcBef>
        <a:spcAft>
          <a:spcPct val="0"/>
        </a:spcAft>
        <a:defRPr sz="3300">
          <a:solidFill>
            <a:srgbClr val="003E7A"/>
          </a:solidFill>
          <a:latin typeface="Arial" pitchFamily="34" charset="0"/>
          <a:ea typeface="ＭＳ Ｐゴシック"/>
          <a:cs typeface="ＭＳ Ｐゴシック"/>
        </a:defRPr>
      </a:lvl9pPr>
    </p:titleStyle>
    <p:bodyStyle>
      <a:lvl1pPr marL="342900" indent="-3429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1pPr>
      <a:lvl2pPr marL="742950" lvl="1" indent="-28575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2pPr>
      <a:lvl3pPr marL="1143000" lvl="2"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3pPr>
      <a:lvl4pPr marL="1600200" lvl="3"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4pPr>
      <a:lvl5pPr marL="2057400" lvl="4"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5pPr>
      <a:lvl6pPr marL="2514600"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6pPr>
      <a:lvl7pPr marL="2971800"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7pPr>
      <a:lvl8pPr marL="3429000"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8pPr>
      <a:lvl9pPr marL="3886200"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9pPr>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2.xml"/><Relationship Id="rId7" Type="http://schemas.openxmlformats.org/officeDocument/2006/relationships/image" Target="../media/image12.jpe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11.jpeg"/><Relationship Id="rId5" Type="http://schemas.openxmlformats.org/officeDocument/2006/relationships/image" Target="../media/image10.jpeg"/><Relationship Id="rId10" Type="http://schemas.openxmlformats.org/officeDocument/2006/relationships/image" Target="../media/image15.jpeg"/><Relationship Id="rId4" Type="http://schemas.openxmlformats.org/officeDocument/2006/relationships/image" Target="../media/image9.jpe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4"/>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619250" y="1819275"/>
            <a:ext cx="6769100"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itle 1"/>
          <p:cNvSpPr txBox="1">
            <a:spLocks noGrp="1"/>
          </p:cNvSpPr>
          <p:nvPr>
            <p:ph type="ctrTitle"/>
          </p:nvPr>
        </p:nvSpPr>
        <p:spPr>
          <a:xfrm>
            <a:off x="0" y="1484313"/>
            <a:ext cx="9144000" cy="5373687"/>
          </a:xfrm>
        </p:spPr>
        <p:txBody>
          <a:bodyPr anchor="t"/>
          <a:lstStyle/>
          <a:p>
            <a:pPr eaLnBrk="1"/>
            <a:r>
              <a:rPr lang="en-GB" dirty="0" smtClean="0">
                <a:solidFill>
                  <a:srgbClr val="002060"/>
                </a:solidFill>
                <a:latin typeface="Arial" charset="0"/>
                <a:ea typeface="ＭＳ Ｐゴシック" pitchFamily="34" charset="-128"/>
              </a:rPr>
              <a:t>The Equality Act 2010 and </a:t>
            </a:r>
            <a:br>
              <a:rPr lang="en-GB" dirty="0" smtClean="0">
                <a:solidFill>
                  <a:srgbClr val="002060"/>
                </a:solidFill>
                <a:latin typeface="Arial" charset="0"/>
                <a:ea typeface="ＭＳ Ｐゴシック" pitchFamily="34" charset="-128"/>
              </a:rPr>
            </a:br>
            <a:r>
              <a:rPr lang="en-GB" dirty="0" smtClean="0">
                <a:solidFill>
                  <a:srgbClr val="002060"/>
                </a:solidFill>
                <a:latin typeface="Arial" charset="0"/>
                <a:ea typeface="ＭＳ Ｐゴシック" pitchFamily="34" charset="-128"/>
              </a:rPr>
              <a:t>Accessibility of lifts for disabled users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500"/>
                                        <p:tgtEl>
                                          <p:spTgt spid="4098"/>
                                        </p:tgtEl>
                                      </p:cBhvr>
                                    </p:animEffect>
                                    <p:set>
                                      <p:cBhvr>
                                        <p:cTn id="7" dur="1" fill="hold">
                                          <p:stCondLst>
                                            <p:cond delay="499"/>
                                          </p:stCondLst>
                                        </p:cTn>
                                        <p:tgtEl>
                                          <p:spTgt spid="40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txBox="1">
            <a:spLocks noGrp="1"/>
          </p:cNvSpPr>
          <p:nvPr>
            <p:ph type="ctrTitle"/>
          </p:nvPr>
        </p:nvSpPr>
        <p:spPr>
          <a:xfrm>
            <a:off x="0" y="1484313"/>
            <a:ext cx="9144000" cy="5373687"/>
          </a:xfrm>
        </p:spPr>
        <p:txBody>
          <a:bodyPr anchor="t"/>
          <a:lstStyle/>
          <a:p>
            <a:pPr eaLnBrk="1"/>
            <a:r>
              <a:rPr lang="en-GB" dirty="0" smtClean="0">
                <a:solidFill>
                  <a:srgbClr val="002060"/>
                </a:solidFill>
                <a:latin typeface="Arial" charset="0"/>
                <a:ea typeface="ＭＳ Ｐゴシック" pitchFamily="34" charset="-128"/>
              </a:rPr>
              <a:t>The Equality Act 2010 and </a:t>
            </a:r>
            <a:br>
              <a:rPr lang="en-GB" dirty="0" smtClean="0">
                <a:solidFill>
                  <a:srgbClr val="002060"/>
                </a:solidFill>
                <a:latin typeface="Arial" charset="0"/>
                <a:ea typeface="ＭＳ Ｐゴシック" pitchFamily="34" charset="-128"/>
              </a:rPr>
            </a:br>
            <a:r>
              <a:rPr lang="en-GB" dirty="0" smtClean="0">
                <a:solidFill>
                  <a:srgbClr val="002060"/>
                </a:solidFill>
                <a:latin typeface="Arial" charset="0"/>
                <a:ea typeface="ＭＳ Ｐゴシック" pitchFamily="34" charset="-128"/>
              </a:rPr>
              <a:t>Accessibility of lifts for disabled users</a:t>
            </a:r>
          </a:p>
        </p:txBody>
      </p:sp>
      <p:sp>
        <p:nvSpPr>
          <p:cNvPr id="4" name="Content Placeholder 2"/>
          <p:cNvSpPr txBox="1">
            <a:spLocks/>
          </p:cNvSpPr>
          <p:nvPr/>
        </p:nvSpPr>
        <p:spPr>
          <a:xfrm>
            <a:off x="468313" y="2420938"/>
            <a:ext cx="7915275" cy="3455987"/>
          </a:xfrm>
          <a:prstGeom prst="rect">
            <a:avLst/>
          </a:prstGeom>
        </p:spPr>
        <p:txBody>
          <a:bodyPr/>
          <a:lstStyle>
            <a:lvl1pPr marL="342900" indent="-3429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1pPr>
            <a:lvl2pPr marL="742950" lvl="1" indent="-28575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2pPr>
            <a:lvl3pPr marL="1143000" lvl="2"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3pPr>
            <a:lvl4pPr marL="1600200" lvl="3"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4pPr>
            <a:lvl5pPr marL="2057400" lvl="4"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5pPr>
            <a:lvl6pPr marL="2514600"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6pPr>
            <a:lvl7pPr marL="2971800"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7pPr>
            <a:lvl8pPr marL="3429000"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8pPr>
            <a:lvl9pPr marL="3886200" indent="-228600" algn="l" rtl="0" eaLnBrk="0" fontAlgn="base" hangingPunct="0">
              <a:spcBef>
                <a:spcPts val="600"/>
              </a:spcBef>
              <a:spcAft>
                <a:spcPct val="0"/>
              </a:spcAft>
              <a:buSzPct val="100000"/>
              <a:buChar char="»"/>
              <a:defRPr lang="en-US" sz="2300">
                <a:solidFill>
                  <a:srgbClr val="003E7A"/>
                </a:solidFill>
                <a:latin typeface="Arial"/>
                <a:ea typeface="ＭＳ Ｐゴシック"/>
                <a:cs typeface="ＭＳ Ｐゴシック"/>
              </a:defRPr>
            </a:lvl9pPr>
          </a:lstStyle>
          <a:p>
            <a:pPr marL="0" indent="0">
              <a:buFontTx/>
              <a:buNone/>
              <a:defRPr/>
            </a:pPr>
            <a:endParaRPr lang="en-GB" sz="1800" dirty="0" smtClean="0">
              <a:solidFill>
                <a:srgbClr val="002060"/>
              </a:solidFill>
            </a:endParaRPr>
          </a:p>
          <a:p>
            <a:pPr marL="0" indent="0">
              <a:buFontTx/>
              <a:buNone/>
              <a:defRPr/>
            </a:pPr>
            <a:r>
              <a:rPr lang="en-GB" sz="1800" dirty="0">
                <a:solidFill>
                  <a:srgbClr val="002060"/>
                </a:solidFill>
              </a:rPr>
              <a:t>There are over </a:t>
            </a:r>
            <a:r>
              <a:rPr lang="en-GB" sz="1800" dirty="0" smtClean="0">
                <a:solidFill>
                  <a:srgbClr val="002060"/>
                </a:solidFill>
              </a:rPr>
              <a:t>10 </a:t>
            </a:r>
            <a:r>
              <a:rPr lang="en-GB" sz="1800" dirty="0">
                <a:solidFill>
                  <a:srgbClr val="002060"/>
                </a:solidFill>
              </a:rPr>
              <a:t>million people with a limiting long term illness, impairment or disability in </a:t>
            </a:r>
            <a:r>
              <a:rPr lang="en-GB" sz="1800" dirty="0" smtClean="0">
                <a:solidFill>
                  <a:srgbClr val="002060"/>
                </a:solidFill>
              </a:rPr>
              <a:t>the UK. </a:t>
            </a:r>
          </a:p>
          <a:p>
            <a:pPr marL="0" indent="0">
              <a:buFontTx/>
              <a:buNone/>
              <a:defRPr/>
            </a:pPr>
            <a:endParaRPr lang="en-GB" sz="500" dirty="0">
              <a:solidFill>
                <a:srgbClr val="002060"/>
              </a:solidFill>
            </a:endParaRPr>
          </a:p>
          <a:p>
            <a:pPr marL="0" indent="0">
              <a:buFontTx/>
              <a:buNone/>
              <a:defRPr/>
            </a:pPr>
            <a:r>
              <a:rPr lang="en-GB" sz="1800" dirty="0">
                <a:solidFill>
                  <a:srgbClr val="002060"/>
                </a:solidFill>
              </a:rPr>
              <a:t>In </a:t>
            </a:r>
            <a:r>
              <a:rPr lang="en-GB" sz="1800" dirty="0" smtClean="0">
                <a:solidFill>
                  <a:srgbClr val="002060"/>
                </a:solidFill>
              </a:rPr>
              <a:t>the UK, </a:t>
            </a:r>
            <a:r>
              <a:rPr lang="en-GB" sz="1800" dirty="0">
                <a:solidFill>
                  <a:srgbClr val="002060"/>
                </a:solidFill>
              </a:rPr>
              <a:t>the most commonly-reported impairments are those that affect mobility, lifting or </a:t>
            </a:r>
            <a:r>
              <a:rPr lang="en-GB" sz="1800" dirty="0" smtClean="0">
                <a:solidFill>
                  <a:srgbClr val="002060"/>
                </a:solidFill>
              </a:rPr>
              <a:t>carrying</a:t>
            </a:r>
          </a:p>
          <a:p>
            <a:pPr marL="0" indent="0">
              <a:buFontTx/>
              <a:buNone/>
              <a:defRPr/>
            </a:pPr>
            <a:endParaRPr lang="en-GB" sz="500" dirty="0" smtClean="0">
              <a:solidFill>
                <a:srgbClr val="002060"/>
              </a:solidFill>
            </a:endParaRPr>
          </a:p>
          <a:p>
            <a:pPr marL="0" indent="0">
              <a:buFontTx/>
              <a:buNone/>
              <a:defRPr/>
            </a:pPr>
            <a:r>
              <a:rPr lang="en-GB" sz="1800" dirty="0">
                <a:solidFill>
                  <a:srgbClr val="002060"/>
                </a:solidFill>
              </a:rPr>
              <a:t>The prevalence of disability rises with age. Around one in 20 children are disabled, compared to around one in seven working age </a:t>
            </a:r>
            <a:r>
              <a:rPr lang="en-GB" sz="1800" dirty="0" smtClean="0">
                <a:solidFill>
                  <a:srgbClr val="002060"/>
                </a:solidFill>
              </a:rPr>
              <a:t>adults </a:t>
            </a:r>
            <a:r>
              <a:rPr lang="en-GB" sz="1800" dirty="0">
                <a:solidFill>
                  <a:srgbClr val="002060"/>
                </a:solidFill>
              </a:rPr>
              <a:t>and almost one in two people over state-pension </a:t>
            </a:r>
            <a:r>
              <a:rPr lang="en-GB" sz="1800" dirty="0" smtClean="0">
                <a:solidFill>
                  <a:srgbClr val="002060"/>
                </a:solidFill>
              </a:rPr>
              <a:t>age </a:t>
            </a:r>
            <a:r>
              <a:rPr lang="en-GB" sz="1800" dirty="0">
                <a:solidFill>
                  <a:srgbClr val="002060"/>
                </a:solidFill>
              </a:rPr>
              <a:t>in </a:t>
            </a:r>
            <a:r>
              <a:rPr lang="en-GB" sz="1800" dirty="0" smtClean="0">
                <a:solidFill>
                  <a:srgbClr val="002060"/>
                </a:solidFill>
              </a:rPr>
              <a:t>the UK.</a:t>
            </a:r>
          </a:p>
          <a:p>
            <a:pPr marL="0" indent="0">
              <a:buFontTx/>
              <a:buNone/>
              <a:defRPr/>
            </a:pPr>
            <a:endParaRPr lang="en-GB" sz="500" dirty="0" smtClean="0">
              <a:solidFill>
                <a:srgbClr val="002060"/>
              </a:solidFill>
            </a:endParaRPr>
          </a:p>
          <a:p>
            <a:pPr marL="0" indent="0">
              <a:buFontTx/>
              <a:buNone/>
              <a:defRPr/>
            </a:pPr>
            <a:r>
              <a:rPr lang="en-GB" sz="1800" dirty="0">
                <a:solidFill>
                  <a:srgbClr val="002060"/>
                </a:solidFill>
              </a:rPr>
              <a:t>Around a third of disabled people experience difficulties related to their impairment in accessing public, commercial and leisure goods and services </a:t>
            </a:r>
            <a:endParaRPr lang="en-GB" sz="1800" dirty="0" smtClean="0">
              <a:solidFill>
                <a:srgbClr val="002060"/>
              </a:solidFill>
            </a:endParaRPr>
          </a:p>
          <a:p>
            <a:pPr marL="0" indent="0">
              <a:buFontTx/>
              <a:buNone/>
              <a:defRPr/>
            </a:pPr>
            <a:endParaRPr lang="en-GB" sz="2000" dirty="0">
              <a:solidFill>
                <a:srgbClr val="002060"/>
              </a:solidFill>
            </a:endParaRPr>
          </a:p>
          <a:p>
            <a:pPr marL="0" indent="0">
              <a:buFontTx/>
              <a:buNone/>
              <a:defRPr/>
            </a:pPr>
            <a:endParaRPr lang="en-GB" sz="2000" dirty="0" smtClean="0">
              <a:solidFill>
                <a:srgbClr val="002060"/>
              </a:solidFill>
            </a:endParaRPr>
          </a:p>
          <a:p>
            <a:pPr marL="0" indent="0" eaLnBrk="1" fontAlgn="auto">
              <a:spcBef>
                <a:spcPts val="500"/>
              </a:spcBef>
              <a:spcAft>
                <a:spcPts val="0"/>
              </a:spcAft>
              <a:buFontTx/>
              <a:buNone/>
              <a:defRPr/>
            </a:pPr>
            <a:endParaRPr lang="en-GB" sz="2000" dirty="0" smtClean="0">
              <a:solidFill>
                <a:srgbClr val="002060"/>
              </a:solidFill>
            </a:endParaRPr>
          </a:p>
          <a:p>
            <a:pPr eaLnBrk="1" fontAlgn="auto" hangingPunct="1">
              <a:spcAft>
                <a:spcPts val="0"/>
              </a:spcAft>
              <a:defRPr/>
            </a:pPr>
            <a:endParaRPr lang="en-GB" sz="2400" dirty="0" smtClean="0">
              <a:solidFill>
                <a:srgbClr val="002060"/>
              </a:solidFill>
              <a:cs typeface="Arial" charset="0"/>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p:txBody>
      </p:sp>
      <p:pic>
        <p:nvPicPr>
          <p:cNvPr id="1026" name="Picture 2" descr="C:\Users\allanj\Desktop\logo.gif"/>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580112" y="332656"/>
            <a:ext cx="2942828" cy="56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0860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txBox="1">
            <a:spLocks noGrp="1"/>
          </p:cNvSpPr>
          <p:nvPr>
            <p:ph type="title"/>
          </p:nvPr>
        </p:nvSpPr>
        <p:spPr>
          <a:xfrm>
            <a:off x="0" y="1412875"/>
            <a:ext cx="8748713" cy="647700"/>
          </a:xfrm>
        </p:spPr>
        <p:txBody>
          <a:bodyPr anchor="t"/>
          <a:lstStyle/>
          <a:p>
            <a:pPr eaLnBrk="1"/>
            <a:r>
              <a:rPr lang="en-GB" b="1" smtClean="0">
                <a:solidFill>
                  <a:srgbClr val="002060"/>
                </a:solidFill>
                <a:latin typeface="Arial" charset="0"/>
                <a:ea typeface="ＭＳ Ｐゴシック" pitchFamily="34" charset="-128"/>
              </a:rPr>
              <a:t>The Equality Act 2010</a:t>
            </a:r>
            <a:br>
              <a:rPr lang="en-GB" b="1" smtClean="0">
                <a:solidFill>
                  <a:srgbClr val="002060"/>
                </a:solidFill>
                <a:latin typeface="Arial" charset="0"/>
                <a:ea typeface="ＭＳ Ｐゴシック" pitchFamily="34" charset="-128"/>
              </a:rPr>
            </a:br>
            <a:endParaRPr lang="en-GB" b="1" smtClean="0">
              <a:solidFill>
                <a:srgbClr val="002060"/>
              </a:solidFill>
              <a:latin typeface="Arial" charset="0"/>
              <a:ea typeface="ＭＳ Ｐゴシック" pitchFamily="34" charset="-128"/>
            </a:endParaRPr>
          </a:p>
        </p:txBody>
      </p:sp>
      <p:sp>
        <p:nvSpPr>
          <p:cNvPr id="3" name="Content Placeholder 2"/>
          <p:cNvSpPr>
            <a:spLocks noGrp="1"/>
          </p:cNvSpPr>
          <p:nvPr>
            <p:ph idx="1"/>
          </p:nvPr>
        </p:nvSpPr>
        <p:spPr>
          <a:xfrm>
            <a:off x="468313" y="2420938"/>
            <a:ext cx="7915275" cy="3455987"/>
          </a:xfrm>
        </p:spPr>
        <p:txBody>
          <a:bodyPr/>
          <a:lstStyle/>
          <a:p>
            <a:pPr marL="0" indent="0">
              <a:buFontTx/>
              <a:buNone/>
              <a:defRPr/>
            </a:pPr>
            <a:r>
              <a:rPr lang="en-GB" sz="2000" dirty="0" smtClean="0">
                <a:solidFill>
                  <a:srgbClr val="002060"/>
                </a:solidFill>
              </a:rPr>
              <a:t>From the 1st </a:t>
            </a:r>
            <a:r>
              <a:rPr lang="en-GB" sz="2000" dirty="0">
                <a:solidFill>
                  <a:srgbClr val="002060"/>
                </a:solidFill>
              </a:rPr>
              <a:t>October 2010 the Equality Act replaces the Disability Discrimination Act (1995), or </a:t>
            </a:r>
            <a:r>
              <a:rPr lang="en-GB" sz="2000" dirty="0" smtClean="0">
                <a:solidFill>
                  <a:srgbClr val="002060"/>
                </a:solidFill>
              </a:rPr>
              <a:t>DDA. This Act is an essential </a:t>
            </a:r>
            <a:r>
              <a:rPr lang="en-GB" sz="2000" dirty="0">
                <a:solidFill>
                  <a:srgbClr val="002060"/>
                </a:solidFill>
              </a:rPr>
              <a:t>piece of legislation </a:t>
            </a:r>
            <a:r>
              <a:rPr lang="en-GB" sz="2000" dirty="0" smtClean="0">
                <a:solidFill>
                  <a:srgbClr val="002060"/>
                </a:solidFill>
              </a:rPr>
              <a:t>to be considered when </a:t>
            </a:r>
            <a:r>
              <a:rPr lang="en-GB" sz="2000" dirty="0">
                <a:solidFill>
                  <a:srgbClr val="002060"/>
                </a:solidFill>
              </a:rPr>
              <a:t>specifying products for </a:t>
            </a:r>
            <a:r>
              <a:rPr lang="en-GB" sz="2000" dirty="0" smtClean="0">
                <a:solidFill>
                  <a:srgbClr val="002060"/>
                </a:solidFill>
              </a:rPr>
              <a:t>buildings.</a:t>
            </a:r>
            <a:endParaRPr lang="en-GB" sz="2000" dirty="0">
              <a:solidFill>
                <a:srgbClr val="002060"/>
              </a:solidFill>
            </a:endParaRPr>
          </a:p>
          <a:p>
            <a:pPr>
              <a:defRPr/>
            </a:pPr>
            <a:endParaRPr lang="en-GB" sz="2000" dirty="0" smtClean="0">
              <a:solidFill>
                <a:srgbClr val="002060"/>
              </a:solidFill>
            </a:endParaRPr>
          </a:p>
          <a:p>
            <a:pPr marL="0" indent="0">
              <a:buFontTx/>
              <a:buNone/>
              <a:defRPr/>
            </a:pPr>
            <a:r>
              <a:rPr lang="en-GB" sz="2000" dirty="0" smtClean="0">
                <a:solidFill>
                  <a:srgbClr val="002060"/>
                </a:solidFill>
              </a:rPr>
              <a:t>The </a:t>
            </a:r>
            <a:r>
              <a:rPr lang="en-GB" sz="2000" dirty="0">
                <a:solidFill>
                  <a:srgbClr val="002060"/>
                </a:solidFill>
              </a:rPr>
              <a:t>Equality Act 2010 is the law which bans unfair treatment and helps achieve equal opportunities in the workplace and in wider </a:t>
            </a:r>
            <a:r>
              <a:rPr lang="en-GB" sz="2000" dirty="0" smtClean="0">
                <a:solidFill>
                  <a:srgbClr val="002060"/>
                </a:solidFill>
              </a:rPr>
              <a:t>society. This includes the provision of services for those with disabilities.</a:t>
            </a:r>
          </a:p>
          <a:p>
            <a:pPr>
              <a:defRPr/>
            </a:pPr>
            <a:endParaRPr lang="en-GB" sz="2000" dirty="0">
              <a:solidFill>
                <a:srgbClr val="002060"/>
              </a:solidFill>
            </a:endParaRPr>
          </a:p>
          <a:p>
            <a:pPr marL="0" indent="0" eaLnBrk="1" fontAlgn="auto">
              <a:spcBef>
                <a:spcPts val="500"/>
              </a:spcBef>
              <a:spcAft>
                <a:spcPts val="0"/>
              </a:spcAft>
              <a:buFontTx/>
              <a:buNone/>
              <a:defRPr/>
            </a:pPr>
            <a:endParaRPr lang="en-GB" sz="2000" dirty="0">
              <a:solidFill>
                <a:srgbClr val="002060"/>
              </a:solidFill>
            </a:endParaRPr>
          </a:p>
          <a:p>
            <a:pPr eaLnBrk="1" fontAlgn="auto" hangingPunct="1">
              <a:spcAft>
                <a:spcPts val="0"/>
              </a:spcAft>
              <a:defRPr/>
            </a:pPr>
            <a:endParaRPr lang="en-GB" sz="2400" dirty="0">
              <a:solidFill>
                <a:srgbClr val="002060"/>
              </a:solidFill>
              <a:cs typeface="Arial" charset="0"/>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a:solidFill>
                <a:srgbClr val="002060"/>
              </a:solidFill>
            </a:endParaRPr>
          </a:p>
          <a:p>
            <a:pPr eaLnBrk="1" fontAlgn="auto">
              <a:spcAft>
                <a:spcPts val="0"/>
              </a:spcAft>
              <a:defRPr/>
            </a:pPr>
            <a:endParaRPr lang="en-GB" dirty="0" smtClean="0">
              <a:solidFill>
                <a:srgbClr val="002060"/>
              </a:solidFill>
            </a:endParaRPr>
          </a:p>
          <a:p>
            <a:pPr eaLnBrk="1" fontAlgn="auto">
              <a:spcAft>
                <a:spcPts val="0"/>
              </a:spcAft>
              <a:defRPr/>
            </a:pPr>
            <a:endParaRPr lang="en-GB" dirty="0" smtClean="0">
              <a:solidFill>
                <a:srgbClr val="00206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3" presetClass="emph" presetSubtype="2" fill="hold" nodeType="withEffect">
                                  <p:stCondLst>
                                    <p:cond delay="0"/>
                                  </p:stCondLst>
                                  <p:childTnLst>
                                    <p:animClr clrSpc="rgb" dir="cw">
                                      <p:cBhvr override="childStyle">
                                        <p:cTn id="14" dur="500" fill="hold"/>
                                        <p:tgtEl>
                                          <p:spTgt spid="3">
                                            <p:txEl>
                                              <p:pRg st="0" end="0"/>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txBox="1">
            <a:spLocks noGrp="1"/>
          </p:cNvSpPr>
          <p:nvPr>
            <p:ph idx="1"/>
          </p:nvPr>
        </p:nvSpPr>
        <p:spPr/>
        <p:txBody>
          <a:bodyPr/>
          <a:lstStyle>
            <a:lvl1pPr>
              <a:defRPr sz="2300">
                <a:solidFill>
                  <a:srgbClr val="003E7A"/>
                </a:solidFill>
                <a:latin typeface="Arial" charset="0"/>
                <a:ea typeface="ＭＳ Ｐゴシック" pitchFamily="34" charset="-128"/>
              </a:defRPr>
            </a:lvl1pPr>
            <a:lvl2pPr>
              <a:defRPr sz="2300">
                <a:solidFill>
                  <a:srgbClr val="003E7A"/>
                </a:solidFill>
                <a:latin typeface="Arial" charset="0"/>
                <a:ea typeface="ＭＳ Ｐゴシック" pitchFamily="34" charset="-128"/>
              </a:defRPr>
            </a:lvl2pPr>
            <a:lvl3pPr>
              <a:defRPr sz="2300">
                <a:solidFill>
                  <a:srgbClr val="003E7A"/>
                </a:solidFill>
                <a:latin typeface="Arial" charset="0"/>
                <a:ea typeface="ＭＳ Ｐゴシック" pitchFamily="34" charset="-128"/>
              </a:defRPr>
            </a:lvl3pPr>
            <a:lvl4pPr>
              <a:defRPr sz="2300">
                <a:solidFill>
                  <a:srgbClr val="003E7A"/>
                </a:solidFill>
                <a:latin typeface="Arial" charset="0"/>
                <a:ea typeface="ＭＳ Ｐゴシック" pitchFamily="34" charset="-128"/>
              </a:defRPr>
            </a:lvl4pPr>
            <a:lvl5pPr>
              <a:defRPr sz="2300">
                <a:solidFill>
                  <a:srgbClr val="003E7A"/>
                </a:solidFill>
                <a:latin typeface="Arial" charset="0"/>
                <a:ea typeface="ＭＳ Ｐゴシック" pitchFamily="34" charset="-128"/>
              </a:defRPr>
            </a:lvl5pPr>
            <a:lvl6pPr>
              <a:defRPr sz="2300">
                <a:solidFill>
                  <a:srgbClr val="003E7A"/>
                </a:solidFill>
                <a:latin typeface="Arial" charset="0"/>
                <a:ea typeface="ＭＳ Ｐゴシック" pitchFamily="34" charset="-128"/>
              </a:defRPr>
            </a:lvl6pPr>
            <a:lvl7pPr>
              <a:defRPr sz="2300">
                <a:solidFill>
                  <a:srgbClr val="003E7A"/>
                </a:solidFill>
                <a:latin typeface="Arial" charset="0"/>
                <a:ea typeface="ＭＳ Ｐゴシック" pitchFamily="34" charset="-128"/>
              </a:defRPr>
            </a:lvl7pPr>
            <a:lvl8pPr>
              <a:defRPr sz="2300">
                <a:solidFill>
                  <a:srgbClr val="003E7A"/>
                </a:solidFill>
                <a:latin typeface="Arial" charset="0"/>
                <a:ea typeface="ＭＳ Ｐゴシック" pitchFamily="34" charset="-128"/>
              </a:defRPr>
            </a:lvl8pPr>
            <a:lvl9pPr>
              <a:defRPr sz="2300">
                <a:solidFill>
                  <a:srgbClr val="003E7A"/>
                </a:solidFill>
                <a:latin typeface="Arial" charset="0"/>
                <a:ea typeface="ＭＳ Ｐゴシック" pitchFamily="34" charset="-128"/>
              </a:defRPr>
            </a:lvl9pPr>
          </a:lstStyle>
          <a:p>
            <a:pPr marL="0" indent="0">
              <a:buFontTx/>
              <a:buNone/>
              <a:defRPr/>
            </a:pPr>
            <a:r>
              <a:rPr lang="en-GB" dirty="0" smtClean="0">
                <a:solidFill>
                  <a:srgbClr val="002060"/>
                </a:solidFill>
              </a:rPr>
              <a:t>Where does the Equality Act apply?</a:t>
            </a:r>
          </a:p>
          <a:p>
            <a:pPr marL="0" indent="0">
              <a:buFontTx/>
              <a:buNone/>
              <a:defRPr/>
            </a:pPr>
            <a:endParaRPr lang="en-GB" sz="800" dirty="0" smtClean="0">
              <a:solidFill>
                <a:srgbClr val="002060"/>
              </a:solidFill>
            </a:endParaRPr>
          </a:p>
          <a:p>
            <a:pPr>
              <a:defRPr/>
            </a:pPr>
            <a:r>
              <a:rPr lang="en-GB" sz="2000" dirty="0" smtClean="0">
                <a:solidFill>
                  <a:srgbClr val="002060"/>
                </a:solidFill>
              </a:rPr>
              <a:t>To all service providers and those providing goods and facilities.  This includes, for example, those providing information, advice and day care or running leisure centre facilities </a:t>
            </a:r>
          </a:p>
          <a:p>
            <a:pPr>
              <a:defRPr/>
            </a:pPr>
            <a:r>
              <a:rPr lang="en-GB" sz="2000" dirty="0" smtClean="0">
                <a:solidFill>
                  <a:srgbClr val="002060"/>
                </a:solidFill>
              </a:rPr>
              <a:t>To all services, whether or not a charge is made for them</a:t>
            </a:r>
          </a:p>
          <a:p>
            <a:pPr>
              <a:defRPr/>
            </a:pPr>
            <a:r>
              <a:rPr lang="en-GB" sz="2000" dirty="0" smtClean="0">
                <a:solidFill>
                  <a:srgbClr val="002060"/>
                </a:solidFill>
              </a:rPr>
              <a:t>It also applies to private clubs and other associations with 25 or more members which have rules about membership and select their members</a:t>
            </a:r>
          </a:p>
        </p:txBody>
      </p:sp>
      <p:sp>
        <p:nvSpPr>
          <p:cNvPr id="6147" name="Title 1"/>
          <p:cNvSpPr txBox="1">
            <a:spLocks noGrp="1"/>
          </p:cNvSpPr>
          <p:nvPr>
            <p:ph type="title"/>
          </p:nvPr>
        </p:nvSpPr>
        <p:spPr>
          <a:xfrm>
            <a:off x="0" y="1412875"/>
            <a:ext cx="8748713" cy="647700"/>
          </a:xfrm>
        </p:spPr>
        <p:txBody>
          <a:bodyPr anchor="t"/>
          <a:lstStyle/>
          <a:p>
            <a:pPr eaLnBrk="1"/>
            <a:r>
              <a:rPr lang="en-GB" b="1" smtClean="0">
                <a:solidFill>
                  <a:srgbClr val="002060"/>
                </a:solidFill>
                <a:latin typeface="Arial" charset="0"/>
                <a:ea typeface="ＭＳ Ｐゴシック" pitchFamily="34" charset="-128"/>
              </a:rPr>
              <a:t>The Equality Act 2010</a:t>
            </a:r>
            <a:br>
              <a:rPr lang="en-GB" b="1" smtClean="0">
                <a:solidFill>
                  <a:srgbClr val="002060"/>
                </a:solidFill>
                <a:latin typeface="Arial" charset="0"/>
                <a:ea typeface="ＭＳ Ｐゴシック" pitchFamily="34" charset="-128"/>
              </a:rPr>
            </a:br>
            <a:endParaRPr lang="en-GB" b="1" smtClean="0">
              <a:solidFill>
                <a:srgbClr val="002060"/>
              </a:solidFill>
              <a:latin typeface="Arial" charset="0"/>
              <a:ea typeface="ＭＳ Ｐゴシック"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122">
                                            <p:txEl>
                                              <p:pRg st="0" end="0"/>
                                            </p:txEl>
                                          </p:spTgt>
                                        </p:tgtEl>
                                        <p:attrNameLst>
                                          <p:attrName>style.visibility</p:attrName>
                                        </p:attrNameLst>
                                      </p:cBhvr>
                                      <p:to>
                                        <p:strVal val="visible"/>
                                      </p:to>
                                    </p:set>
                                    <p:animEffect transition="in" filter="fade">
                                      <p:cBhvr>
                                        <p:cTn id="7" dur="500"/>
                                        <p:tgtEl>
                                          <p:spTgt spid="512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122">
                                            <p:txEl>
                                              <p:pRg st="2" end="2"/>
                                            </p:txEl>
                                          </p:spTgt>
                                        </p:tgtEl>
                                        <p:attrNameLst>
                                          <p:attrName>style.visibility</p:attrName>
                                        </p:attrNameLst>
                                      </p:cBhvr>
                                      <p:to>
                                        <p:strVal val="visible"/>
                                      </p:to>
                                    </p:set>
                                    <p:animEffect transition="in" filter="fade">
                                      <p:cBhvr>
                                        <p:cTn id="12" dur="500"/>
                                        <p:tgtEl>
                                          <p:spTgt spid="512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5122">
                                            <p:txEl>
                                              <p:pRg st="3" end="3"/>
                                            </p:txEl>
                                          </p:spTgt>
                                        </p:tgtEl>
                                        <p:attrNameLst>
                                          <p:attrName>style.visibility</p:attrName>
                                        </p:attrNameLst>
                                      </p:cBhvr>
                                      <p:to>
                                        <p:strVal val="visible"/>
                                      </p:to>
                                    </p:set>
                                    <p:animEffect transition="in" filter="fade">
                                      <p:cBhvr>
                                        <p:cTn id="17" dur="500"/>
                                        <p:tgtEl>
                                          <p:spTgt spid="5122">
                                            <p:txEl>
                                              <p:pRg st="3" end="3"/>
                                            </p:txEl>
                                          </p:spTgt>
                                        </p:tgtEl>
                                      </p:cBhvr>
                                    </p:animEffect>
                                  </p:childTnLst>
                                </p:cTn>
                              </p:par>
                              <p:par>
                                <p:cTn id="18" presetID="3" presetClass="emph" presetSubtype="2" fill="hold" nodeType="withEffect">
                                  <p:stCondLst>
                                    <p:cond delay="0"/>
                                  </p:stCondLst>
                                  <p:childTnLst>
                                    <p:animClr clrSpc="rgb" dir="cw">
                                      <p:cBhvr override="childStyle">
                                        <p:cTn id="19" dur="500" fill="hold"/>
                                        <p:tgtEl>
                                          <p:spTgt spid="5122">
                                            <p:txEl>
                                              <p:pRg st="2" end="2"/>
                                            </p:txEl>
                                          </p:spTgt>
                                        </p:tgtEl>
                                        <p:attrNameLst>
                                          <p:attrName>style.color</p:attrName>
                                        </p:attrNameLst>
                                      </p:cBhvr>
                                      <p:to>
                                        <a:srgbClr val="777777"/>
                                      </p:to>
                                    </p:animClr>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5122">
                                            <p:txEl>
                                              <p:pRg st="4" end="4"/>
                                            </p:txEl>
                                          </p:spTgt>
                                        </p:tgtEl>
                                        <p:attrNameLst>
                                          <p:attrName>style.visibility</p:attrName>
                                        </p:attrNameLst>
                                      </p:cBhvr>
                                      <p:to>
                                        <p:strVal val="visible"/>
                                      </p:to>
                                    </p:set>
                                    <p:animEffect transition="in" filter="fade">
                                      <p:cBhvr>
                                        <p:cTn id="24" dur="500"/>
                                        <p:tgtEl>
                                          <p:spTgt spid="5122">
                                            <p:txEl>
                                              <p:pRg st="4" end="4"/>
                                            </p:txEl>
                                          </p:spTgt>
                                        </p:tgtEl>
                                      </p:cBhvr>
                                    </p:animEffect>
                                  </p:childTnLst>
                                </p:cTn>
                              </p:par>
                              <p:par>
                                <p:cTn id="25" presetID="3" presetClass="emph" presetSubtype="2" fill="hold" nodeType="withEffect">
                                  <p:stCondLst>
                                    <p:cond delay="0"/>
                                  </p:stCondLst>
                                  <p:childTnLst>
                                    <p:animClr clrSpc="rgb" dir="cw">
                                      <p:cBhvr override="childStyle">
                                        <p:cTn id="26" dur="500" fill="hold"/>
                                        <p:tgtEl>
                                          <p:spTgt spid="5122">
                                            <p:txEl>
                                              <p:pRg st="3" end="3"/>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750" y="1989138"/>
            <a:ext cx="8064500" cy="4392612"/>
          </a:xfrm>
        </p:spPr>
        <p:txBody>
          <a:bodyPr/>
          <a:lstStyle/>
          <a:p>
            <a:pPr marL="0" indent="0">
              <a:buFontTx/>
              <a:buNone/>
              <a:defRPr/>
            </a:pPr>
            <a:endParaRPr lang="en-GB" dirty="0" smtClean="0">
              <a:solidFill>
                <a:srgbClr val="002060"/>
              </a:solidFill>
            </a:endParaRPr>
          </a:p>
          <a:p>
            <a:pPr marL="0" indent="0">
              <a:buFontTx/>
              <a:buNone/>
              <a:defRPr/>
            </a:pPr>
            <a:r>
              <a:rPr lang="en-GB" dirty="0" smtClean="0">
                <a:solidFill>
                  <a:srgbClr val="002060"/>
                </a:solidFill>
              </a:rPr>
              <a:t>What </a:t>
            </a:r>
            <a:r>
              <a:rPr lang="en-GB" dirty="0">
                <a:solidFill>
                  <a:srgbClr val="002060"/>
                </a:solidFill>
              </a:rPr>
              <a:t>changes are required</a:t>
            </a:r>
            <a:r>
              <a:rPr lang="en-GB" dirty="0" smtClean="0">
                <a:solidFill>
                  <a:srgbClr val="002060"/>
                </a:solidFill>
              </a:rPr>
              <a:t>?</a:t>
            </a:r>
          </a:p>
          <a:p>
            <a:pPr marL="0" indent="0">
              <a:buFontTx/>
              <a:buNone/>
              <a:defRPr/>
            </a:pPr>
            <a:endParaRPr lang="en-GB" sz="800" dirty="0" smtClean="0">
              <a:solidFill>
                <a:srgbClr val="002060"/>
              </a:solidFill>
            </a:endParaRPr>
          </a:p>
          <a:p>
            <a:pPr>
              <a:defRPr/>
            </a:pPr>
            <a:r>
              <a:rPr lang="en-GB" sz="2000" dirty="0" smtClean="0">
                <a:solidFill>
                  <a:srgbClr val="002060"/>
                </a:solidFill>
              </a:rPr>
              <a:t>Service </a:t>
            </a:r>
            <a:r>
              <a:rPr lang="en-GB" sz="2000" dirty="0">
                <a:solidFill>
                  <a:srgbClr val="002060"/>
                </a:solidFill>
              </a:rPr>
              <a:t>providers are required to make changes, where needed, to improve service for disabled customers or </a:t>
            </a:r>
            <a:r>
              <a:rPr lang="en-GB" sz="2000" dirty="0" smtClean="0">
                <a:solidFill>
                  <a:srgbClr val="002060"/>
                </a:solidFill>
              </a:rPr>
              <a:t>potential customers</a:t>
            </a:r>
          </a:p>
          <a:p>
            <a:pPr>
              <a:defRPr/>
            </a:pPr>
            <a:r>
              <a:rPr lang="en-GB" sz="2000" dirty="0" smtClean="0">
                <a:solidFill>
                  <a:srgbClr val="002060"/>
                </a:solidFill>
              </a:rPr>
              <a:t>There </a:t>
            </a:r>
            <a:r>
              <a:rPr lang="en-GB" sz="2000" dirty="0">
                <a:solidFill>
                  <a:srgbClr val="002060"/>
                </a:solidFill>
              </a:rPr>
              <a:t>is a </a:t>
            </a:r>
            <a:r>
              <a:rPr lang="en-GB" sz="2000" dirty="0" smtClean="0">
                <a:solidFill>
                  <a:srgbClr val="002060"/>
                </a:solidFill>
              </a:rPr>
              <a:t>requirement </a:t>
            </a:r>
            <a:r>
              <a:rPr lang="en-GB" sz="2000" dirty="0">
                <a:solidFill>
                  <a:srgbClr val="002060"/>
                </a:solidFill>
              </a:rPr>
              <a:t>to make reasonable changes to the way things are done (such as changing </a:t>
            </a:r>
            <a:r>
              <a:rPr lang="en-GB" sz="2000" dirty="0" smtClean="0">
                <a:solidFill>
                  <a:srgbClr val="002060"/>
                </a:solidFill>
              </a:rPr>
              <a:t>policy</a:t>
            </a:r>
            <a:r>
              <a:rPr lang="en-GB" sz="2000" dirty="0">
                <a:solidFill>
                  <a:srgbClr val="002060"/>
                </a:solidFill>
              </a:rPr>
              <a:t>), to the built environment (such as making changes to the structure of a building to improve access) </a:t>
            </a:r>
            <a:endParaRPr lang="en-GB" sz="2000" dirty="0" smtClean="0">
              <a:solidFill>
                <a:srgbClr val="002060"/>
              </a:solidFill>
            </a:endParaRPr>
          </a:p>
          <a:p>
            <a:pPr>
              <a:defRPr/>
            </a:pPr>
            <a:r>
              <a:rPr lang="en-GB" sz="2000" dirty="0" smtClean="0">
                <a:solidFill>
                  <a:srgbClr val="002060"/>
                </a:solidFill>
              </a:rPr>
              <a:t>And </a:t>
            </a:r>
            <a:r>
              <a:rPr lang="en-GB" sz="2000" dirty="0">
                <a:solidFill>
                  <a:srgbClr val="002060"/>
                </a:solidFill>
              </a:rPr>
              <a:t>to provide auxiliary aids and services (such as providing information in an accessible format, an induction loop for customers with hearing </a:t>
            </a:r>
            <a:r>
              <a:rPr lang="en-GB" sz="2000" dirty="0" smtClean="0">
                <a:solidFill>
                  <a:srgbClr val="002060"/>
                </a:solidFill>
              </a:rPr>
              <a:t>aids or </a:t>
            </a:r>
            <a:r>
              <a:rPr lang="en-GB" sz="2000" dirty="0">
                <a:solidFill>
                  <a:srgbClr val="002060"/>
                </a:solidFill>
              </a:rPr>
              <a:t>additional staff support when using a service</a:t>
            </a:r>
            <a:r>
              <a:rPr lang="en-GB" sz="2000" dirty="0" smtClean="0">
                <a:solidFill>
                  <a:srgbClr val="002060"/>
                </a:solidFill>
              </a:rPr>
              <a:t>)</a:t>
            </a:r>
            <a:endParaRPr lang="en-GB" sz="2000" dirty="0">
              <a:solidFill>
                <a:srgbClr val="002060"/>
              </a:solidFill>
            </a:endParaRPr>
          </a:p>
          <a:p>
            <a:pPr marL="0" indent="0">
              <a:buFontTx/>
              <a:buNone/>
              <a:defRPr/>
            </a:pPr>
            <a:endParaRPr lang="en-GB" sz="2000" dirty="0">
              <a:solidFill>
                <a:srgbClr val="002060"/>
              </a:solidFill>
            </a:endParaRPr>
          </a:p>
        </p:txBody>
      </p:sp>
      <p:sp>
        <p:nvSpPr>
          <p:cNvPr id="7171" name="Title 1"/>
          <p:cNvSpPr txBox="1">
            <a:spLocks noGrp="1"/>
          </p:cNvSpPr>
          <p:nvPr>
            <p:ph type="title"/>
          </p:nvPr>
        </p:nvSpPr>
        <p:spPr>
          <a:xfrm>
            <a:off x="0" y="1412875"/>
            <a:ext cx="8748713" cy="647700"/>
          </a:xfrm>
        </p:spPr>
        <p:txBody>
          <a:bodyPr anchor="t"/>
          <a:lstStyle/>
          <a:p>
            <a:pPr eaLnBrk="1"/>
            <a:r>
              <a:rPr lang="en-GB" b="1" smtClean="0">
                <a:solidFill>
                  <a:srgbClr val="002060"/>
                </a:solidFill>
                <a:latin typeface="Arial" charset="0"/>
                <a:ea typeface="ＭＳ Ｐゴシック" pitchFamily="34" charset="-128"/>
              </a:rPr>
              <a:t>The Equality Act 2010</a:t>
            </a:r>
            <a:br>
              <a:rPr lang="en-GB" b="1" smtClean="0">
                <a:solidFill>
                  <a:srgbClr val="002060"/>
                </a:solidFill>
                <a:latin typeface="Arial" charset="0"/>
                <a:ea typeface="ＭＳ Ｐゴシック" pitchFamily="34" charset="-128"/>
              </a:rPr>
            </a:br>
            <a:endParaRPr lang="en-GB" b="1" smtClean="0">
              <a:solidFill>
                <a:srgbClr val="002060"/>
              </a:solidFill>
              <a:latin typeface="Arial" charset="0"/>
              <a:ea typeface="ＭＳ Ｐゴシック"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3" presetClass="emph" presetSubtype="2" fill="hold" nodeType="withEffect">
                                  <p:stCondLst>
                                    <p:cond delay="0"/>
                                  </p:stCondLst>
                                  <p:childTnLst>
                                    <p:animClr clrSpc="rgb" dir="cw">
                                      <p:cBhvr override="childStyle">
                                        <p:cTn id="19" dur="500" fill="hold"/>
                                        <p:tgtEl>
                                          <p:spTgt spid="3">
                                            <p:txEl>
                                              <p:pRg st="3" end="3"/>
                                            </p:txEl>
                                          </p:spTgt>
                                        </p:tgtEl>
                                        <p:attrNameLst>
                                          <p:attrName>style.color</p:attrName>
                                        </p:attrNameLst>
                                      </p:cBhvr>
                                      <p:to>
                                        <a:srgbClr val="777777"/>
                                      </p:to>
                                    </p:animClr>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3" presetClass="emph" presetSubtype="2" fill="hold" nodeType="withEffect">
                                  <p:stCondLst>
                                    <p:cond delay="0"/>
                                  </p:stCondLst>
                                  <p:childTnLst>
                                    <p:animClr clrSpc="rgb" dir="cw">
                                      <p:cBhvr override="childStyle">
                                        <p:cTn id="26" dur="500" fill="hold"/>
                                        <p:tgtEl>
                                          <p:spTgt spid="3">
                                            <p:txEl>
                                              <p:pRg st="4" end="4"/>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1"/>
          <p:cNvSpPr txBox="1">
            <a:spLocks/>
          </p:cNvSpPr>
          <p:nvPr/>
        </p:nvSpPr>
        <p:spPr bwMode="auto">
          <a:xfrm>
            <a:off x="755650" y="2060575"/>
            <a:ext cx="7772400" cy="396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spcBef>
                <a:spcPts val="600"/>
              </a:spcBef>
              <a:buSzPct val="100000"/>
            </a:pPr>
            <a:r>
              <a:rPr lang="en-GB" sz="2000" dirty="0">
                <a:solidFill>
                  <a:srgbClr val="002060"/>
                </a:solidFill>
                <a:ea typeface="ＭＳ Ｐゴシック" pitchFamily="34" charset="-128"/>
              </a:rPr>
              <a:t>Making lifts accessible to all users</a:t>
            </a:r>
          </a:p>
          <a:p>
            <a:pPr>
              <a:spcBef>
                <a:spcPts val="600"/>
              </a:spcBef>
              <a:buSzPct val="100000"/>
            </a:pPr>
            <a:r>
              <a:rPr lang="en-GB" sz="2000" dirty="0">
                <a:solidFill>
                  <a:srgbClr val="002060"/>
                </a:solidFill>
                <a:ea typeface="ＭＳ Ｐゴシック" pitchFamily="34" charset="-128"/>
              </a:rPr>
              <a:t>poses many different challenges and</a:t>
            </a:r>
          </a:p>
          <a:p>
            <a:pPr>
              <a:spcBef>
                <a:spcPts val="600"/>
              </a:spcBef>
              <a:buSzPct val="100000"/>
            </a:pPr>
            <a:r>
              <a:rPr lang="en-GB" sz="2000" dirty="0">
                <a:solidFill>
                  <a:srgbClr val="002060"/>
                </a:solidFill>
                <a:ea typeface="ＭＳ Ｐゴシック" pitchFamily="34" charset="-128"/>
              </a:rPr>
              <a:t>depending on the type of building; </a:t>
            </a:r>
          </a:p>
          <a:p>
            <a:pPr>
              <a:spcBef>
                <a:spcPts val="600"/>
              </a:spcBef>
              <a:buSzPct val="100000"/>
            </a:pPr>
            <a:r>
              <a:rPr lang="en-GB" sz="2000" dirty="0">
                <a:solidFill>
                  <a:srgbClr val="002060"/>
                </a:solidFill>
                <a:ea typeface="ＭＳ Ｐゴシック" pitchFamily="34" charset="-128"/>
              </a:rPr>
              <a:t>existing or new, the process used to </a:t>
            </a:r>
          </a:p>
          <a:p>
            <a:pPr>
              <a:spcBef>
                <a:spcPts val="600"/>
              </a:spcBef>
              <a:buSzPct val="100000"/>
            </a:pPr>
            <a:r>
              <a:rPr lang="en-GB" sz="2000" dirty="0">
                <a:solidFill>
                  <a:srgbClr val="002060"/>
                </a:solidFill>
                <a:ea typeface="ＭＳ Ｐゴシック" pitchFamily="34" charset="-128"/>
              </a:rPr>
              <a:t>achieve this can also be different.</a:t>
            </a:r>
          </a:p>
          <a:p>
            <a:pPr>
              <a:spcBef>
                <a:spcPts val="600"/>
              </a:spcBef>
              <a:buSzPct val="100000"/>
            </a:pPr>
            <a:endParaRPr lang="en-GB" sz="2000" dirty="0">
              <a:solidFill>
                <a:srgbClr val="002060"/>
              </a:solidFill>
              <a:ea typeface="ＭＳ Ｐゴシック" pitchFamily="34" charset="-128"/>
            </a:endParaRPr>
          </a:p>
          <a:p>
            <a:pPr>
              <a:spcBef>
                <a:spcPts val="600"/>
              </a:spcBef>
              <a:buSzPct val="100000"/>
            </a:pPr>
            <a:r>
              <a:rPr lang="en-GB" sz="2000" dirty="0">
                <a:solidFill>
                  <a:srgbClr val="002060"/>
                </a:solidFill>
                <a:ea typeface="ＭＳ Ｐゴシック" pitchFamily="34" charset="-128"/>
              </a:rPr>
              <a:t>Guidance is available to assist you in making the right decision for your lift users regardless of the type of building or obstacles which seem difficult to overcome.</a:t>
            </a:r>
          </a:p>
          <a:p>
            <a:pPr>
              <a:spcBef>
                <a:spcPts val="600"/>
              </a:spcBef>
              <a:buSzPct val="100000"/>
            </a:pPr>
            <a:endParaRPr lang="en-GB" sz="2300" dirty="0">
              <a:solidFill>
                <a:srgbClr val="002060"/>
              </a:solidFill>
              <a:ea typeface="ＭＳ Ｐゴシック" pitchFamily="34" charset="-128"/>
            </a:endParaRPr>
          </a:p>
        </p:txBody>
      </p:sp>
      <p:sp>
        <p:nvSpPr>
          <p:cNvPr id="8195" name="Title 1"/>
          <p:cNvSpPr txBox="1">
            <a:spLocks noGrp="1"/>
          </p:cNvSpPr>
          <p:nvPr>
            <p:ph type="title"/>
          </p:nvPr>
        </p:nvSpPr>
        <p:spPr/>
        <p:txBody>
          <a:bodyPr/>
          <a:lstStyle/>
          <a:p>
            <a:r>
              <a:rPr lang="en-GB" b="1" smtClean="0">
                <a:solidFill>
                  <a:srgbClr val="002060"/>
                </a:solidFill>
                <a:latin typeface="Arial" charset="0"/>
                <a:ea typeface="ＭＳ Ｐゴシック" pitchFamily="34" charset="-128"/>
              </a:rPr>
              <a:t>Accessibility at every stage</a:t>
            </a:r>
          </a:p>
        </p:txBody>
      </p:sp>
      <p:pic>
        <p:nvPicPr>
          <p:cNvPr id="7172" name="Picture 2" descr="C:\Users\allanj\Documents\BS EN Standards &amp; Legislation\BS EN 81-70 Pictures\Cartoon.jpg"/>
          <p:cNvPicPr>
            <a:picLocks noGrp="1" noChangeAspect="1" noChangeArrowheads="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5219700" y="2170113"/>
            <a:ext cx="3308350" cy="1690687"/>
          </a:xfrm>
          <a:noFill/>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fade">
                                      <p:cBhvr>
                                        <p:cTn id="7" dur="500"/>
                                        <p:tgtEl>
                                          <p:spTgt spid="717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170">
                                            <p:txEl>
                                              <p:pRg st="1" end="1"/>
                                            </p:txEl>
                                          </p:spTgt>
                                        </p:tgtEl>
                                        <p:attrNameLst>
                                          <p:attrName>style.visibility</p:attrName>
                                        </p:attrNameLst>
                                      </p:cBhvr>
                                      <p:to>
                                        <p:strVal val="visible"/>
                                      </p:to>
                                    </p:set>
                                    <p:animEffect transition="in" filter="fade">
                                      <p:cBhvr>
                                        <p:cTn id="10" dur="500"/>
                                        <p:tgtEl>
                                          <p:spTgt spid="717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170">
                                            <p:txEl>
                                              <p:pRg st="2" end="2"/>
                                            </p:txEl>
                                          </p:spTgt>
                                        </p:tgtEl>
                                        <p:attrNameLst>
                                          <p:attrName>style.visibility</p:attrName>
                                        </p:attrNameLst>
                                      </p:cBhvr>
                                      <p:to>
                                        <p:strVal val="visible"/>
                                      </p:to>
                                    </p:set>
                                    <p:animEffect transition="in" filter="fade">
                                      <p:cBhvr>
                                        <p:cTn id="13" dur="500"/>
                                        <p:tgtEl>
                                          <p:spTgt spid="7170">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170">
                                            <p:txEl>
                                              <p:pRg st="3" end="3"/>
                                            </p:txEl>
                                          </p:spTgt>
                                        </p:tgtEl>
                                        <p:attrNameLst>
                                          <p:attrName>style.visibility</p:attrName>
                                        </p:attrNameLst>
                                      </p:cBhvr>
                                      <p:to>
                                        <p:strVal val="visible"/>
                                      </p:to>
                                    </p:set>
                                    <p:animEffect transition="in" filter="fade">
                                      <p:cBhvr>
                                        <p:cTn id="16" dur="500"/>
                                        <p:tgtEl>
                                          <p:spTgt spid="7170">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170">
                                            <p:txEl>
                                              <p:pRg st="4" end="4"/>
                                            </p:txEl>
                                          </p:spTgt>
                                        </p:tgtEl>
                                        <p:attrNameLst>
                                          <p:attrName>style.visibility</p:attrName>
                                        </p:attrNameLst>
                                      </p:cBhvr>
                                      <p:to>
                                        <p:strVal val="visible"/>
                                      </p:to>
                                    </p:set>
                                    <p:animEffect transition="in" filter="fade">
                                      <p:cBhvr>
                                        <p:cTn id="19" dur="500"/>
                                        <p:tgtEl>
                                          <p:spTgt spid="7170">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172"/>
                                        </p:tgtEl>
                                        <p:attrNameLst>
                                          <p:attrName>style.visibility</p:attrName>
                                        </p:attrNameLst>
                                      </p:cBhvr>
                                      <p:to>
                                        <p:strVal val="visible"/>
                                      </p:to>
                                    </p:set>
                                    <p:animEffect transition="in" filter="fade">
                                      <p:cBhvr>
                                        <p:cTn id="22" dur="500"/>
                                        <p:tgtEl>
                                          <p:spTgt spid="71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7170">
                                            <p:txEl>
                                              <p:pRg st="6" end="6"/>
                                            </p:txEl>
                                          </p:spTgt>
                                        </p:tgtEl>
                                        <p:attrNameLst>
                                          <p:attrName>style.visibility</p:attrName>
                                        </p:attrNameLst>
                                      </p:cBhvr>
                                      <p:to>
                                        <p:strVal val="visible"/>
                                      </p:to>
                                    </p:set>
                                    <p:animEffect transition="in" filter="fade">
                                      <p:cBhvr>
                                        <p:cTn id="27" dur="500"/>
                                        <p:tgtEl>
                                          <p:spTgt spid="7170">
                                            <p:txEl>
                                              <p:pRg st="6" end="6"/>
                                            </p:txEl>
                                          </p:spTgt>
                                        </p:tgtEl>
                                      </p:cBhvr>
                                    </p:animEffect>
                                  </p:childTnLst>
                                </p:cTn>
                              </p:par>
                              <p:par>
                                <p:cTn id="28" presetID="3" presetClass="emph" presetSubtype="2" fill="hold" nodeType="withEffect">
                                  <p:stCondLst>
                                    <p:cond delay="0"/>
                                  </p:stCondLst>
                                  <p:childTnLst>
                                    <p:animClr clrSpc="rgb" dir="cw">
                                      <p:cBhvr override="childStyle">
                                        <p:cTn id="29" dur="500" fill="hold"/>
                                        <p:tgtEl>
                                          <p:spTgt spid="7170">
                                            <p:txEl>
                                              <p:pRg st="0" end="0"/>
                                            </p:txEl>
                                          </p:spTgt>
                                        </p:tgtEl>
                                        <p:attrNameLst>
                                          <p:attrName>style.color</p:attrName>
                                        </p:attrNameLst>
                                      </p:cBhvr>
                                      <p:to>
                                        <a:srgbClr val="777777"/>
                                      </p:to>
                                    </p:animClr>
                                  </p:childTnLst>
                                </p:cTn>
                              </p:par>
                              <p:par>
                                <p:cTn id="30" presetID="3" presetClass="emph" presetSubtype="2" fill="hold" nodeType="withEffect">
                                  <p:stCondLst>
                                    <p:cond delay="0"/>
                                  </p:stCondLst>
                                  <p:childTnLst>
                                    <p:animClr clrSpc="rgb" dir="cw">
                                      <p:cBhvr override="childStyle">
                                        <p:cTn id="31" dur="500" fill="hold"/>
                                        <p:tgtEl>
                                          <p:spTgt spid="7170">
                                            <p:txEl>
                                              <p:pRg st="1" end="1"/>
                                            </p:txEl>
                                          </p:spTgt>
                                        </p:tgtEl>
                                        <p:attrNameLst>
                                          <p:attrName>style.color</p:attrName>
                                        </p:attrNameLst>
                                      </p:cBhvr>
                                      <p:to>
                                        <a:srgbClr val="777777"/>
                                      </p:to>
                                    </p:animClr>
                                  </p:childTnLst>
                                </p:cTn>
                              </p:par>
                              <p:par>
                                <p:cTn id="32" presetID="3" presetClass="emph" presetSubtype="2" fill="hold" nodeType="withEffect">
                                  <p:stCondLst>
                                    <p:cond delay="0"/>
                                  </p:stCondLst>
                                  <p:childTnLst>
                                    <p:animClr clrSpc="rgb" dir="cw">
                                      <p:cBhvr override="childStyle">
                                        <p:cTn id="33" dur="500" fill="hold"/>
                                        <p:tgtEl>
                                          <p:spTgt spid="7170">
                                            <p:txEl>
                                              <p:pRg st="2" end="2"/>
                                            </p:txEl>
                                          </p:spTgt>
                                        </p:tgtEl>
                                        <p:attrNameLst>
                                          <p:attrName>style.color</p:attrName>
                                        </p:attrNameLst>
                                      </p:cBhvr>
                                      <p:to>
                                        <a:srgbClr val="777777"/>
                                      </p:to>
                                    </p:animClr>
                                  </p:childTnLst>
                                </p:cTn>
                              </p:par>
                              <p:par>
                                <p:cTn id="34" presetID="3" presetClass="emph" presetSubtype="2" fill="hold" nodeType="withEffect">
                                  <p:stCondLst>
                                    <p:cond delay="0"/>
                                  </p:stCondLst>
                                  <p:childTnLst>
                                    <p:animClr clrSpc="rgb" dir="cw">
                                      <p:cBhvr override="childStyle">
                                        <p:cTn id="35" dur="500" fill="hold"/>
                                        <p:tgtEl>
                                          <p:spTgt spid="7170">
                                            <p:txEl>
                                              <p:pRg st="3" end="3"/>
                                            </p:txEl>
                                          </p:spTgt>
                                        </p:tgtEl>
                                        <p:attrNameLst>
                                          <p:attrName>style.color</p:attrName>
                                        </p:attrNameLst>
                                      </p:cBhvr>
                                      <p:to>
                                        <a:srgbClr val="777777"/>
                                      </p:to>
                                    </p:animClr>
                                  </p:childTnLst>
                                </p:cTn>
                              </p:par>
                              <p:par>
                                <p:cTn id="36" presetID="3" presetClass="emph" presetSubtype="2" fill="hold" nodeType="withEffect">
                                  <p:stCondLst>
                                    <p:cond delay="0"/>
                                  </p:stCondLst>
                                  <p:childTnLst>
                                    <p:animClr clrSpc="rgb" dir="cw">
                                      <p:cBhvr override="childStyle">
                                        <p:cTn id="37" dur="500" fill="hold"/>
                                        <p:tgtEl>
                                          <p:spTgt spid="7170">
                                            <p:txEl>
                                              <p:pRg st="4" end="4"/>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txBox="1">
            <a:spLocks noGrp="1"/>
          </p:cNvSpPr>
          <p:nvPr>
            <p:ph type="title"/>
          </p:nvPr>
        </p:nvSpPr>
        <p:spPr>
          <a:xfrm>
            <a:off x="0" y="1341438"/>
            <a:ext cx="8748713" cy="647700"/>
          </a:xfrm>
        </p:spPr>
        <p:txBody>
          <a:bodyPr anchor="t"/>
          <a:lstStyle/>
          <a:p>
            <a:pPr eaLnBrk="1"/>
            <a:r>
              <a:rPr lang="en-GB" b="1" smtClean="0">
                <a:latin typeface="Arial" charset="0"/>
                <a:ea typeface="ＭＳ Ｐゴシック" pitchFamily="34" charset="-128"/>
              </a:rPr>
              <a:t/>
            </a:r>
            <a:br>
              <a:rPr lang="en-GB" b="1" smtClean="0">
                <a:latin typeface="Arial" charset="0"/>
                <a:ea typeface="ＭＳ Ｐゴシック" pitchFamily="34" charset="-128"/>
              </a:rPr>
            </a:br>
            <a:endParaRPr lang="en-GB" b="1" smtClean="0">
              <a:latin typeface="Arial" charset="0"/>
              <a:ea typeface="ＭＳ Ｐゴシック" pitchFamily="34" charset="-128"/>
            </a:endParaRPr>
          </a:p>
        </p:txBody>
      </p:sp>
      <p:sp>
        <p:nvSpPr>
          <p:cNvPr id="8195" name="Content Placeholder 1"/>
          <p:cNvSpPr txBox="1">
            <a:spLocks noGrp="1"/>
          </p:cNvSpPr>
          <p:nvPr>
            <p:ph idx="1"/>
          </p:nvPr>
        </p:nvSpPr>
        <p:spPr>
          <a:xfrm>
            <a:off x="685800" y="1628775"/>
            <a:ext cx="7772400" cy="4467225"/>
          </a:xfrm>
        </p:spPr>
        <p:txBody>
          <a:bodyPr/>
          <a:lstStyle>
            <a:lvl1pPr>
              <a:defRPr sz="2300">
                <a:solidFill>
                  <a:srgbClr val="003E7A"/>
                </a:solidFill>
                <a:latin typeface="Arial" charset="0"/>
                <a:ea typeface="ＭＳ Ｐゴシック" pitchFamily="34" charset="-128"/>
              </a:defRPr>
            </a:lvl1pPr>
            <a:lvl2pPr>
              <a:defRPr sz="2300">
                <a:solidFill>
                  <a:srgbClr val="003E7A"/>
                </a:solidFill>
                <a:latin typeface="Arial" charset="0"/>
                <a:ea typeface="ＭＳ Ｐゴシック" pitchFamily="34" charset="-128"/>
              </a:defRPr>
            </a:lvl2pPr>
            <a:lvl3pPr>
              <a:defRPr sz="2300">
                <a:solidFill>
                  <a:srgbClr val="003E7A"/>
                </a:solidFill>
                <a:latin typeface="Arial" charset="0"/>
                <a:ea typeface="ＭＳ Ｐゴシック" pitchFamily="34" charset="-128"/>
              </a:defRPr>
            </a:lvl3pPr>
            <a:lvl4pPr>
              <a:defRPr sz="2300">
                <a:solidFill>
                  <a:srgbClr val="003E7A"/>
                </a:solidFill>
                <a:latin typeface="Arial" charset="0"/>
                <a:ea typeface="ＭＳ Ｐゴシック" pitchFamily="34" charset="-128"/>
              </a:defRPr>
            </a:lvl4pPr>
            <a:lvl5pPr>
              <a:defRPr sz="2300">
                <a:solidFill>
                  <a:srgbClr val="003E7A"/>
                </a:solidFill>
                <a:latin typeface="Arial" charset="0"/>
                <a:ea typeface="ＭＳ Ｐゴシック" pitchFamily="34" charset="-128"/>
              </a:defRPr>
            </a:lvl5pPr>
            <a:lvl6pPr>
              <a:defRPr sz="2300">
                <a:solidFill>
                  <a:srgbClr val="003E7A"/>
                </a:solidFill>
                <a:latin typeface="Arial" charset="0"/>
                <a:ea typeface="ＭＳ Ｐゴシック" pitchFamily="34" charset="-128"/>
              </a:defRPr>
            </a:lvl6pPr>
            <a:lvl7pPr>
              <a:defRPr sz="2300">
                <a:solidFill>
                  <a:srgbClr val="003E7A"/>
                </a:solidFill>
                <a:latin typeface="Arial" charset="0"/>
                <a:ea typeface="ＭＳ Ｐゴシック" pitchFamily="34" charset="-128"/>
              </a:defRPr>
            </a:lvl7pPr>
            <a:lvl8pPr>
              <a:defRPr sz="2300">
                <a:solidFill>
                  <a:srgbClr val="003E7A"/>
                </a:solidFill>
                <a:latin typeface="Arial" charset="0"/>
                <a:ea typeface="ＭＳ Ｐゴシック" pitchFamily="34" charset="-128"/>
              </a:defRPr>
            </a:lvl8pPr>
            <a:lvl9pPr>
              <a:defRPr sz="2300">
                <a:solidFill>
                  <a:srgbClr val="003E7A"/>
                </a:solidFill>
                <a:latin typeface="Arial" charset="0"/>
                <a:ea typeface="ＭＳ Ｐゴシック" pitchFamily="34" charset="-128"/>
              </a:defRPr>
            </a:lvl9pPr>
          </a:lstStyle>
          <a:p>
            <a:pPr marL="0" indent="0">
              <a:buFontTx/>
              <a:buNone/>
            </a:pPr>
            <a:r>
              <a:rPr lang="en-GB" smtClean="0">
                <a:solidFill>
                  <a:srgbClr val="002060"/>
                </a:solidFill>
              </a:rPr>
              <a:t>How does all this relate to lifts?</a:t>
            </a:r>
          </a:p>
          <a:p>
            <a:pPr marL="0" indent="0" algn="just">
              <a:buFontTx/>
              <a:buNone/>
            </a:pPr>
            <a:endParaRPr lang="en-GB" sz="2000" smtClean="0">
              <a:solidFill>
                <a:srgbClr val="002060"/>
              </a:solidFill>
            </a:endParaRPr>
          </a:p>
          <a:p>
            <a:pPr marL="0" indent="0" algn="just">
              <a:buFontTx/>
              <a:buNone/>
            </a:pPr>
            <a:endParaRPr lang="en-GB" sz="2000" smtClean="0">
              <a:solidFill>
                <a:srgbClr val="002060"/>
              </a:solidFill>
            </a:endParaRPr>
          </a:p>
          <a:p>
            <a:pPr marL="0" indent="0">
              <a:buFontTx/>
              <a:buNone/>
            </a:pPr>
            <a:r>
              <a:rPr lang="en-GB" sz="2000" smtClean="0">
                <a:solidFill>
                  <a:srgbClr val="002060"/>
                </a:solidFill>
              </a:rPr>
              <a:t>Since the early 1990’s a number of standards and guides were produced to assist those involved in specifying or providing lift services for  users with disabilities.</a:t>
            </a:r>
          </a:p>
          <a:p>
            <a:pPr marL="0" indent="0">
              <a:buFontTx/>
              <a:buNone/>
            </a:pPr>
            <a:endParaRPr lang="en-GB" sz="2000" smtClean="0">
              <a:solidFill>
                <a:srgbClr val="002060"/>
              </a:solidFill>
            </a:endParaRPr>
          </a:p>
          <a:p>
            <a:pPr marL="0" indent="0">
              <a:buFontTx/>
              <a:buNone/>
            </a:pPr>
            <a:r>
              <a:rPr lang="en-GB" sz="2000" smtClean="0">
                <a:solidFill>
                  <a:srgbClr val="002060"/>
                </a:solidFill>
              </a:rPr>
              <a:t>The standards considered not just mobility impairment and users with wheelchairs but many other more common barriers or obstacles which might be encountered by users with different impairments that make using the lift more difficult than it might otherwise be if correctly designed.</a:t>
            </a:r>
          </a:p>
        </p:txBody>
      </p:sp>
      <p:pic>
        <p:nvPicPr>
          <p:cNvPr id="8196" name="Picture 4" descr="C:\Users\allanj\Documents\BS EN Standards &amp; Legislation\BS EN 81-70 Pictures\DDA Symbols - Mobility Hearing Visual Impairment.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435600" y="1725613"/>
            <a:ext cx="2951163"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500"/>
                                        <p:tgtEl>
                                          <p:spTgt spid="81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196"/>
                                        </p:tgtEl>
                                        <p:attrNameLst>
                                          <p:attrName>style.visibility</p:attrName>
                                        </p:attrNameLst>
                                      </p:cBhvr>
                                      <p:to>
                                        <p:strVal val="visible"/>
                                      </p:to>
                                    </p:set>
                                    <p:animEffect transition="in" filter="fade">
                                      <p:cBhvr>
                                        <p:cTn id="10" dur="500"/>
                                        <p:tgtEl>
                                          <p:spTgt spid="819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animEffect transition="in" filter="fade">
                                      <p:cBhvr>
                                        <p:cTn id="15" dur="500"/>
                                        <p:tgtEl>
                                          <p:spTgt spid="8195">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8195">
                                            <p:txEl>
                                              <p:pRg st="5" end="5"/>
                                            </p:txEl>
                                          </p:spTgt>
                                        </p:tgtEl>
                                        <p:attrNameLst>
                                          <p:attrName>style.visibility</p:attrName>
                                        </p:attrNameLst>
                                      </p:cBhvr>
                                      <p:to>
                                        <p:strVal val="visible"/>
                                      </p:to>
                                    </p:set>
                                    <p:animEffect transition="in" filter="fade">
                                      <p:cBhvr>
                                        <p:cTn id="20" dur="500"/>
                                        <p:tgtEl>
                                          <p:spTgt spid="8195">
                                            <p:txEl>
                                              <p:pRg st="5" end="5"/>
                                            </p:txEl>
                                          </p:spTgt>
                                        </p:tgtEl>
                                      </p:cBhvr>
                                    </p:animEffect>
                                  </p:childTnLst>
                                </p:cTn>
                              </p:par>
                              <p:par>
                                <p:cTn id="21" presetID="3" presetClass="emph" presetSubtype="2" fill="hold" nodeType="withEffect">
                                  <p:stCondLst>
                                    <p:cond delay="0"/>
                                  </p:stCondLst>
                                  <p:childTnLst>
                                    <p:animClr clrSpc="rgb" dir="cw">
                                      <p:cBhvr override="childStyle">
                                        <p:cTn id="22" dur="500" fill="hold"/>
                                        <p:tgtEl>
                                          <p:spTgt spid="8195">
                                            <p:txEl>
                                              <p:pRg st="3" end="3"/>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2349500"/>
            <a:ext cx="7988300" cy="3949700"/>
          </a:xfrm>
        </p:spPr>
        <p:txBody>
          <a:bodyPr/>
          <a:lstStyle/>
          <a:p>
            <a:pPr eaLnBrk="1" fontAlgn="auto">
              <a:spcAft>
                <a:spcPts val="0"/>
              </a:spcAft>
              <a:buFontTx/>
              <a:buNone/>
              <a:defRPr/>
            </a:pPr>
            <a:r>
              <a:rPr lang="en-GB" sz="2000" b="1" dirty="0" smtClean="0">
                <a:solidFill>
                  <a:srgbClr val="002060"/>
                </a:solidFill>
              </a:rPr>
              <a:t>	</a:t>
            </a:r>
            <a:r>
              <a:rPr lang="en-GB" sz="2000" b="1" dirty="0" smtClean="0">
                <a:solidFill>
                  <a:srgbClr val="002060"/>
                </a:solidFill>
              </a:rPr>
              <a:t>UK Building </a:t>
            </a:r>
            <a:r>
              <a:rPr lang="en-GB" sz="2000" b="1" dirty="0" smtClean="0">
                <a:solidFill>
                  <a:srgbClr val="002060"/>
                </a:solidFill>
              </a:rPr>
              <a:t>Regulations </a:t>
            </a:r>
          </a:p>
          <a:p>
            <a:pPr eaLnBrk="1" fontAlgn="auto">
              <a:spcAft>
                <a:spcPts val="0"/>
              </a:spcAft>
              <a:buNone/>
              <a:defRPr/>
            </a:pPr>
            <a:r>
              <a:rPr lang="en-GB" sz="2000" b="1" dirty="0">
                <a:solidFill>
                  <a:srgbClr val="002060"/>
                </a:solidFill>
              </a:rPr>
              <a:t>	</a:t>
            </a:r>
            <a:r>
              <a:rPr lang="en-GB" sz="2000" dirty="0">
                <a:solidFill>
                  <a:srgbClr val="002060"/>
                </a:solidFill>
              </a:rPr>
              <a:t>England Approved Document M </a:t>
            </a:r>
            <a:endParaRPr lang="en-GB" sz="2000" dirty="0" smtClean="0">
              <a:solidFill>
                <a:srgbClr val="002060"/>
              </a:solidFill>
            </a:endParaRPr>
          </a:p>
          <a:p>
            <a:pPr eaLnBrk="1" fontAlgn="auto">
              <a:spcAft>
                <a:spcPts val="0"/>
              </a:spcAft>
              <a:buNone/>
              <a:defRPr/>
            </a:pPr>
            <a:r>
              <a:rPr lang="en-GB" sz="2000" dirty="0" smtClean="0">
                <a:solidFill>
                  <a:srgbClr val="002060"/>
                </a:solidFill>
              </a:rPr>
              <a:t>	Scotland  </a:t>
            </a:r>
            <a:r>
              <a:rPr lang="en-GB" sz="2000" dirty="0">
                <a:solidFill>
                  <a:srgbClr val="002060"/>
                </a:solidFill>
              </a:rPr>
              <a:t>SBSA Technical Handbook 4.2</a:t>
            </a:r>
          </a:p>
          <a:p>
            <a:pPr eaLnBrk="1" fontAlgn="auto">
              <a:spcAft>
                <a:spcPts val="0"/>
              </a:spcAft>
              <a:buFontTx/>
              <a:buNone/>
              <a:defRPr/>
            </a:pPr>
            <a:r>
              <a:rPr lang="en-GB" sz="2000" dirty="0" smtClean="0">
                <a:solidFill>
                  <a:srgbClr val="002060"/>
                </a:solidFill>
              </a:rPr>
              <a:t>	Northern Ireland – </a:t>
            </a:r>
            <a:r>
              <a:rPr lang="en-GB" sz="2000" dirty="0" err="1" smtClean="0">
                <a:solidFill>
                  <a:srgbClr val="002060"/>
                </a:solidFill>
              </a:rPr>
              <a:t>Dept</a:t>
            </a:r>
            <a:r>
              <a:rPr lang="en-GB" sz="2000" dirty="0" smtClean="0">
                <a:solidFill>
                  <a:srgbClr val="002060"/>
                </a:solidFill>
              </a:rPr>
              <a:t> Finance &amp; Personnel Tech Booklet R </a:t>
            </a:r>
          </a:p>
          <a:p>
            <a:pPr eaLnBrk="1" fontAlgn="auto">
              <a:spcAft>
                <a:spcPts val="0"/>
              </a:spcAft>
              <a:buFontTx/>
              <a:buNone/>
              <a:defRPr/>
            </a:pPr>
            <a:endParaRPr lang="en-GB" sz="800" b="1" dirty="0" smtClean="0">
              <a:solidFill>
                <a:srgbClr val="002060"/>
              </a:solidFill>
            </a:endParaRPr>
          </a:p>
          <a:p>
            <a:pPr marL="357188" eaLnBrk="1" fontAlgn="auto">
              <a:spcAft>
                <a:spcPts val="0"/>
              </a:spcAft>
              <a:defRPr/>
            </a:pPr>
            <a:r>
              <a:rPr lang="en-GB" sz="2000" dirty="0" smtClean="0">
                <a:solidFill>
                  <a:srgbClr val="002060"/>
                </a:solidFill>
              </a:rPr>
              <a:t>A </a:t>
            </a:r>
            <a:r>
              <a:rPr lang="en-GB" sz="2000" dirty="0" smtClean="0">
                <a:solidFill>
                  <a:srgbClr val="002060"/>
                </a:solidFill>
              </a:rPr>
              <a:t>conventional passenger lift should always be considered over a platform lift and that it is the most suitable form of access  for moving people from one storey to another.</a:t>
            </a:r>
          </a:p>
          <a:p>
            <a:pPr marL="357188" eaLnBrk="1" fontAlgn="auto">
              <a:spcAft>
                <a:spcPts val="0"/>
              </a:spcAft>
              <a:defRPr/>
            </a:pPr>
            <a:r>
              <a:rPr lang="en-GB" sz="2000" dirty="0" smtClean="0">
                <a:solidFill>
                  <a:srgbClr val="002060"/>
                </a:solidFill>
              </a:rPr>
              <a:t>8 person lift car with dimensions of  1100mm(w) x 1400mm(d) is the minimum requirement</a:t>
            </a:r>
          </a:p>
          <a:p>
            <a:pPr marL="357188" eaLnBrk="1" fontAlgn="auto">
              <a:spcAft>
                <a:spcPts val="0"/>
              </a:spcAft>
              <a:defRPr/>
            </a:pPr>
            <a:r>
              <a:rPr lang="en-GB" sz="2000" dirty="0" smtClean="0">
                <a:solidFill>
                  <a:srgbClr val="002060"/>
                </a:solidFill>
              </a:rPr>
              <a:t>Lift to conform to </a:t>
            </a:r>
            <a:r>
              <a:rPr lang="en-GB" sz="2000" dirty="0">
                <a:solidFill>
                  <a:srgbClr val="002060"/>
                </a:solidFill>
              </a:rPr>
              <a:t>the requirements of </a:t>
            </a:r>
            <a:r>
              <a:rPr lang="en-GB" sz="2000" dirty="0" smtClean="0">
                <a:solidFill>
                  <a:srgbClr val="002060"/>
                </a:solidFill>
              </a:rPr>
              <a:t>EN81-70: 2003</a:t>
            </a:r>
          </a:p>
          <a:p>
            <a:pPr marL="357188" eaLnBrk="1" fontAlgn="auto">
              <a:spcAft>
                <a:spcPts val="0"/>
              </a:spcAft>
              <a:defRPr/>
            </a:pPr>
            <a:endParaRPr lang="en-GB" dirty="0" smtClean="0">
              <a:solidFill>
                <a:srgbClr val="002060"/>
              </a:solidFill>
            </a:endParaRPr>
          </a:p>
          <a:p>
            <a:pPr eaLnBrk="1" fontAlgn="auto">
              <a:spcAft>
                <a:spcPts val="0"/>
              </a:spcAft>
              <a:defRPr/>
            </a:pPr>
            <a:endParaRPr lang="en-GB" dirty="0">
              <a:solidFill>
                <a:srgbClr val="002060"/>
              </a:solidFill>
            </a:endParaRPr>
          </a:p>
        </p:txBody>
      </p:sp>
      <p:sp>
        <p:nvSpPr>
          <p:cNvPr id="10243" name="Title 1"/>
          <p:cNvSpPr txBox="1">
            <a:spLocks noGrp="1"/>
          </p:cNvSpPr>
          <p:nvPr>
            <p:ph type="title"/>
          </p:nvPr>
        </p:nvSpPr>
        <p:spPr>
          <a:xfrm>
            <a:off x="0" y="1341438"/>
            <a:ext cx="8748713" cy="647700"/>
          </a:xfrm>
        </p:spPr>
        <p:txBody>
          <a:bodyPr anchor="b"/>
          <a:lstStyle/>
          <a:p>
            <a:pPr algn="l" eaLnBrk="1"/>
            <a:r>
              <a:rPr lang="en-GB" b="1" dirty="0" smtClean="0">
                <a:solidFill>
                  <a:srgbClr val="002060"/>
                </a:solidFill>
                <a:latin typeface="Arial" charset="0"/>
                <a:ea typeface="ＭＳ Ｐゴシック" pitchFamily="34" charset="-128"/>
              </a:rPr>
              <a:t>Accessibility</a:t>
            </a:r>
            <a:endParaRPr lang="en-GB" dirty="0" smtClean="0">
              <a:solidFill>
                <a:srgbClr val="002060"/>
              </a:solidFill>
              <a:latin typeface="Arial" charset="0"/>
              <a:ea typeface="ＭＳ Ｐゴシック"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par>
                                <p:cTn id="13" presetID="3" presetClass="emph" presetSubtype="2" fill="hold" nodeType="withEffect">
                                  <p:stCondLst>
                                    <p:cond delay="0"/>
                                  </p:stCondLst>
                                  <p:childTnLst>
                                    <p:animClr clrSpc="rgb" dir="cw">
                                      <p:cBhvr override="childStyle">
                                        <p:cTn id="14" dur="500" fill="hold"/>
                                        <p:tgtEl>
                                          <p:spTgt spid="3">
                                            <p:txEl>
                                              <p:pRg st="5" end="5"/>
                                            </p:txEl>
                                          </p:spTgt>
                                        </p:tgtEl>
                                        <p:attrNameLst>
                                          <p:attrName>style.color</p:attrName>
                                        </p:attrNameLst>
                                      </p:cBhvr>
                                      <p:to>
                                        <a:srgbClr val="777777"/>
                                      </p:to>
                                    </p:animClr>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par>
                                <p:cTn id="20" presetID="3" presetClass="emph" presetSubtype="2" fill="hold" nodeType="withEffect">
                                  <p:stCondLst>
                                    <p:cond delay="0"/>
                                  </p:stCondLst>
                                  <p:childTnLst>
                                    <p:animClr clrSpc="rgb" dir="cw">
                                      <p:cBhvr override="childStyle">
                                        <p:cTn id="21" dur="500" fill="hold"/>
                                        <p:tgtEl>
                                          <p:spTgt spid="3">
                                            <p:txEl>
                                              <p:pRg st="6" end="6"/>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txBox="1">
            <a:spLocks noGrp="1"/>
          </p:cNvSpPr>
          <p:nvPr>
            <p:ph type="title"/>
          </p:nvPr>
        </p:nvSpPr>
        <p:spPr>
          <a:xfrm>
            <a:off x="0" y="1557338"/>
            <a:ext cx="4859338" cy="647700"/>
          </a:xfrm>
        </p:spPr>
        <p:txBody>
          <a:bodyPr anchor="b"/>
          <a:lstStyle/>
          <a:p>
            <a:pPr algn="l" eaLnBrk="1"/>
            <a:r>
              <a:rPr lang="en-GB" b="1" smtClean="0">
                <a:solidFill>
                  <a:srgbClr val="002060"/>
                </a:solidFill>
                <a:latin typeface="Arial" charset="0"/>
                <a:ea typeface="ＭＳ Ｐゴシック" pitchFamily="34" charset="-128"/>
              </a:rPr>
              <a:t>Accessibility</a:t>
            </a:r>
            <a:endParaRPr lang="en-GB" smtClean="0">
              <a:solidFill>
                <a:srgbClr val="002060"/>
              </a:solidFill>
              <a:latin typeface="Arial" charset="0"/>
              <a:ea typeface="ＭＳ Ｐゴシック" pitchFamily="34" charset="-128"/>
            </a:endParaRPr>
          </a:p>
        </p:txBody>
      </p:sp>
      <p:sp>
        <p:nvSpPr>
          <p:cNvPr id="10243" name="Content Placeholder 2"/>
          <p:cNvSpPr txBox="1">
            <a:spLocks noGrp="1"/>
          </p:cNvSpPr>
          <p:nvPr>
            <p:ph idx="1"/>
          </p:nvPr>
        </p:nvSpPr>
        <p:spPr>
          <a:xfrm>
            <a:off x="468313" y="2349500"/>
            <a:ext cx="7988300" cy="3876675"/>
          </a:xfrm>
        </p:spPr>
        <p:txBody>
          <a:bodyPr/>
          <a:lstStyle/>
          <a:p>
            <a:pPr marL="0" indent="0">
              <a:buFontTx/>
              <a:buNone/>
              <a:defRPr/>
            </a:pPr>
            <a:r>
              <a:rPr lang="en-GB" b="1" dirty="0" smtClean="0">
                <a:solidFill>
                  <a:srgbClr val="002060"/>
                </a:solidFill>
                <a:latin typeface="Arial" charset="0"/>
                <a:ea typeface="ＭＳ Ｐゴシック" pitchFamily="34" charset="-128"/>
              </a:rPr>
              <a:t>BS8300 </a:t>
            </a:r>
            <a:r>
              <a:rPr lang="en-GB" sz="2000" b="1" dirty="0" smtClean="0">
                <a:solidFill>
                  <a:srgbClr val="002060"/>
                </a:solidFill>
                <a:latin typeface="Arial" charset="0"/>
                <a:ea typeface="ＭＳ Ｐゴシック" pitchFamily="34" charset="-128"/>
              </a:rPr>
              <a:t>Design of buildings and their approaches to meet the needs of disabled people – Code of practice</a:t>
            </a:r>
          </a:p>
          <a:p>
            <a:pPr eaLnBrk="1">
              <a:defRPr/>
            </a:pPr>
            <a:r>
              <a:rPr lang="en-GB" sz="2000" dirty="0" smtClean="0">
                <a:solidFill>
                  <a:srgbClr val="002060"/>
                </a:solidFill>
                <a:latin typeface="Arial" charset="0"/>
                <a:ea typeface="ＭＳ Ｐゴシック" pitchFamily="34" charset="-128"/>
              </a:rPr>
              <a:t>States a conventional passenger lift should always be considered. This endorses the technical guidance which define how to comply with Building Regulations</a:t>
            </a:r>
          </a:p>
          <a:p>
            <a:pPr eaLnBrk="1">
              <a:defRPr/>
            </a:pPr>
            <a:r>
              <a:rPr lang="en-GB" sz="2000" dirty="0" smtClean="0">
                <a:solidFill>
                  <a:srgbClr val="002060"/>
                </a:solidFill>
                <a:latin typeface="Arial" charset="0"/>
                <a:ea typeface="ＭＳ Ｐゴシック" pitchFamily="34" charset="-128"/>
              </a:rPr>
              <a:t>Enclosed platform lifts should only be used where conventional lifts cannot be installed (pit excavation or headroom constraints)</a:t>
            </a:r>
          </a:p>
          <a:p>
            <a:pPr eaLnBrk="1">
              <a:defRPr/>
            </a:pPr>
            <a:r>
              <a:rPr lang="en-GB" sz="2000" dirty="0" smtClean="0">
                <a:solidFill>
                  <a:srgbClr val="002060"/>
                </a:solidFill>
                <a:latin typeface="Arial" charset="0"/>
                <a:ea typeface="ＭＳ Ｐゴシック" pitchFamily="34" charset="-128"/>
              </a:rPr>
              <a:t>Recommends the use of larger lift car (2000mm(w) x 1400mm(d)) to aid turning of wheelchairs and walking aids</a:t>
            </a:r>
          </a:p>
          <a:p>
            <a:pPr eaLnBrk="1">
              <a:defRPr/>
            </a:pPr>
            <a:r>
              <a:rPr lang="en-GB" sz="2000" dirty="0" smtClean="0">
                <a:solidFill>
                  <a:srgbClr val="002060"/>
                </a:solidFill>
                <a:latin typeface="Arial" charset="0"/>
                <a:ea typeface="ＭＳ Ｐゴシック" pitchFamily="34" charset="-128"/>
              </a:rPr>
              <a:t>Gives advice on the design of the lift and ancillary items</a:t>
            </a:r>
          </a:p>
          <a:p>
            <a:pPr eaLnBrk="1">
              <a:defRPr/>
            </a:pPr>
            <a:r>
              <a:rPr lang="en-GB" sz="2000" dirty="0" smtClean="0">
                <a:solidFill>
                  <a:srgbClr val="002060"/>
                </a:solidFill>
                <a:latin typeface="Arial" charset="0"/>
                <a:ea typeface="ＭＳ Ｐゴシック" pitchFamily="34" charset="-128"/>
              </a:rPr>
              <a:t>States the lift must conform to the requirements of EN81-70</a:t>
            </a:r>
          </a:p>
          <a:p>
            <a:pPr eaLnBrk="1">
              <a:defRPr/>
            </a:pPr>
            <a:endParaRPr lang="en-GB" sz="2000" dirty="0" smtClean="0">
              <a:solidFill>
                <a:srgbClr val="002060"/>
              </a:solidFill>
              <a:latin typeface="Arial" charset="0"/>
              <a:ea typeface="ＭＳ Ｐゴシック" pitchFamily="34" charset="-128"/>
            </a:endParaRPr>
          </a:p>
        </p:txBody>
      </p:sp>
      <p:pic>
        <p:nvPicPr>
          <p:cNvPr id="11268" name="Picture 3"/>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716463" y="1196975"/>
            <a:ext cx="3802062"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Effect transition="in" filter="fade">
                                      <p:cBhvr>
                                        <p:cTn id="7" dur="500"/>
                                        <p:tgtEl>
                                          <p:spTgt spid="102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fade">
                                      <p:cBhvr>
                                        <p:cTn id="12" dur="500"/>
                                        <p:tgtEl>
                                          <p:spTgt spid="10243">
                                            <p:txEl>
                                              <p:pRg st="2" end="2"/>
                                            </p:txEl>
                                          </p:spTgt>
                                        </p:tgtEl>
                                      </p:cBhvr>
                                    </p:animEffect>
                                  </p:childTnLst>
                                </p:cTn>
                              </p:par>
                              <p:par>
                                <p:cTn id="13" presetID="3" presetClass="emph" presetSubtype="2" fill="hold" nodeType="withEffect">
                                  <p:stCondLst>
                                    <p:cond delay="0"/>
                                  </p:stCondLst>
                                  <p:childTnLst>
                                    <p:animClr clrSpc="rgb" dir="cw">
                                      <p:cBhvr override="childStyle">
                                        <p:cTn id="14" dur="500" fill="hold"/>
                                        <p:tgtEl>
                                          <p:spTgt spid="10243">
                                            <p:txEl>
                                              <p:pRg st="1" end="1"/>
                                            </p:txEl>
                                          </p:spTgt>
                                        </p:tgtEl>
                                        <p:attrNameLst>
                                          <p:attrName>style.color</p:attrName>
                                        </p:attrNameLst>
                                      </p:cBhvr>
                                      <p:to>
                                        <a:srgbClr val="777777"/>
                                      </p:to>
                                    </p:animClr>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animEffect transition="in" filter="fade">
                                      <p:cBhvr>
                                        <p:cTn id="19" dur="500"/>
                                        <p:tgtEl>
                                          <p:spTgt spid="10243">
                                            <p:txEl>
                                              <p:pRg st="3" end="3"/>
                                            </p:txEl>
                                          </p:spTgt>
                                        </p:tgtEl>
                                      </p:cBhvr>
                                    </p:animEffect>
                                  </p:childTnLst>
                                </p:cTn>
                              </p:par>
                              <p:par>
                                <p:cTn id="20" presetID="3" presetClass="emph" presetSubtype="2" fill="hold" nodeType="withEffect">
                                  <p:stCondLst>
                                    <p:cond delay="0"/>
                                  </p:stCondLst>
                                  <p:childTnLst>
                                    <p:animClr clrSpc="rgb" dir="cw">
                                      <p:cBhvr override="childStyle">
                                        <p:cTn id="21" dur="500" fill="hold"/>
                                        <p:tgtEl>
                                          <p:spTgt spid="10243">
                                            <p:txEl>
                                              <p:pRg st="2" end="2"/>
                                            </p:txEl>
                                          </p:spTgt>
                                        </p:tgtEl>
                                        <p:attrNameLst>
                                          <p:attrName>style.color</p:attrName>
                                        </p:attrNameLst>
                                      </p:cBhvr>
                                      <p:to>
                                        <a:srgbClr val="777777"/>
                                      </p:to>
                                    </p:animClr>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10243">
                                            <p:txEl>
                                              <p:pRg st="4" end="4"/>
                                            </p:txEl>
                                          </p:spTgt>
                                        </p:tgtEl>
                                        <p:attrNameLst>
                                          <p:attrName>style.visibility</p:attrName>
                                        </p:attrNameLst>
                                      </p:cBhvr>
                                      <p:to>
                                        <p:strVal val="visible"/>
                                      </p:to>
                                    </p:set>
                                    <p:animEffect transition="in" filter="fade">
                                      <p:cBhvr>
                                        <p:cTn id="26" dur="500"/>
                                        <p:tgtEl>
                                          <p:spTgt spid="10243">
                                            <p:txEl>
                                              <p:pRg st="4" end="4"/>
                                            </p:txEl>
                                          </p:spTgt>
                                        </p:tgtEl>
                                      </p:cBhvr>
                                    </p:animEffect>
                                  </p:childTnLst>
                                </p:cTn>
                              </p:par>
                              <p:par>
                                <p:cTn id="27" presetID="3" presetClass="emph" presetSubtype="2" fill="hold" nodeType="withEffect">
                                  <p:stCondLst>
                                    <p:cond delay="0"/>
                                  </p:stCondLst>
                                  <p:childTnLst>
                                    <p:animClr clrSpc="rgb" dir="cw">
                                      <p:cBhvr override="childStyle">
                                        <p:cTn id="28" dur="500" fill="hold"/>
                                        <p:tgtEl>
                                          <p:spTgt spid="10243">
                                            <p:txEl>
                                              <p:pRg st="3" end="3"/>
                                            </p:txEl>
                                          </p:spTgt>
                                        </p:tgtEl>
                                        <p:attrNameLst>
                                          <p:attrName>style.color</p:attrName>
                                        </p:attrNameLst>
                                      </p:cBhvr>
                                      <p:to>
                                        <a:srgbClr val="777777"/>
                                      </p:to>
                                    </p:animClr>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10243">
                                            <p:txEl>
                                              <p:pRg st="5" end="5"/>
                                            </p:txEl>
                                          </p:spTgt>
                                        </p:tgtEl>
                                        <p:attrNameLst>
                                          <p:attrName>style.visibility</p:attrName>
                                        </p:attrNameLst>
                                      </p:cBhvr>
                                      <p:to>
                                        <p:strVal val="visible"/>
                                      </p:to>
                                    </p:set>
                                    <p:animEffect transition="in" filter="fade">
                                      <p:cBhvr>
                                        <p:cTn id="33" dur="500"/>
                                        <p:tgtEl>
                                          <p:spTgt spid="10243">
                                            <p:txEl>
                                              <p:pRg st="5" end="5"/>
                                            </p:txEl>
                                          </p:spTgt>
                                        </p:tgtEl>
                                      </p:cBhvr>
                                    </p:animEffect>
                                  </p:childTnLst>
                                </p:cTn>
                              </p:par>
                              <p:par>
                                <p:cTn id="34" presetID="3" presetClass="emph" presetSubtype="2" fill="hold" nodeType="withEffect">
                                  <p:stCondLst>
                                    <p:cond delay="0"/>
                                  </p:stCondLst>
                                  <p:childTnLst>
                                    <p:animClr clrSpc="rgb" dir="cw">
                                      <p:cBhvr override="childStyle">
                                        <p:cTn id="35" dur="500" fill="hold"/>
                                        <p:tgtEl>
                                          <p:spTgt spid="10243">
                                            <p:txEl>
                                              <p:pRg st="4" end="4"/>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descr="C:\Users\allanj\Documents\BS EN Standards &amp; Legislation\BS EN 81-70 Pictures\Dimensions.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732588" y="1214438"/>
            <a:ext cx="1951037"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468313" y="2708275"/>
            <a:ext cx="7915275" cy="3876675"/>
          </a:xfrm>
        </p:spPr>
        <p:txBody>
          <a:bodyPr/>
          <a:lstStyle/>
          <a:p>
            <a:pPr eaLnBrk="1" fontAlgn="auto">
              <a:spcBef>
                <a:spcPts val="1200"/>
              </a:spcBef>
              <a:spcAft>
                <a:spcPts val="0"/>
              </a:spcAft>
              <a:buFontTx/>
              <a:buNone/>
              <a:defRPr/>
            </a:pPr>
            <a:r>
              <a:rPr lang="en-GB" b="1" dirty="0">
                <a:solidFill>
                  <a:srgbClr val="002060"/>
                </a:solidFill>
              </a:rPr>
              <a:t>BS EN81-70:2003  </a:t>
            </a:r>
          </a:p>
          <a:p>
            <a:pPr marL="452438" eaLnBrk="1" fontAlgn="auto">
              <a:spcAft>
                <a:spcPts val="0"/>
              </a:spcAft>
              <a:defRPr/>
            </a:pPr>
            <a:r>
              <a:rPr lang="en-GB" sz="2000" dirty="0" smtClean="0">
                <a:solidFill>
                  <a:srgbClr val="002060"/>
                </a:solidFill>
              </a:rPr>
              <a:t>Created by European Disability Forum, National Standardisation </a:t>
            </a:r>
            <a:r>
              <a:rPr lang="en-GB" sz="2000" dirty="0">
                <a:solidFill>
                  <a:srgbClr val="002060"/>
                </a:solidFill>
              </a:rPr>
              <a:t>Institutes and the Lift </a:t>
            </a:r>
            <a:r>
              <a:rPr lang="en-GB" sz="2000" dirty="0" smtClean="0">
                <a:solidFill>
                  <a:srgbClr val="002060"/>
                </a:solidFill>
              </a:rPr>
              <a:t>Industry</a:t>
            </a:r>
          </a:p>
          <a:p>
            <a:pPr marL="452438" eaLnBrk="1" fontAlgn="auto">
              <a:spcAft>
                <a:spcPts val="0"/>
              </a:spcAft>
              <a:defRPr/>
            </a:pPr>
            <a:r>
              <a:rPr lang="en-GB" sz="2000" dirty="0" smtClean="0">
                <a:solidFill>
                  <a:srgbClr val="002060"/>
                </a:solidFill>
              </a:rPr>
              <a:t>Identifies </a:t>
            </a:r>
            <a:r>
              <a:rPr lang="en-GB" sz="2000" dirty="0">
                <a:solidFill>
                  <a:srgbClr val="002060"/>
                </a:solidFill>
              </a:rPr>
              <a:t>the needs of accessibility for the disabled in lifts and will therefore form the basis </a:t>
            </a:r>
            <a:r>
              <a:rPr lang="en-GB" sz="2000" dirty="0" smtClean="0">
                <a:solidFill>
                  <a:srgbClr val="002060"/>
                </a:solidFill>
              </a:rPr>
              <a:t>for compliance</a:t>
            </a:r>
          </a:p>
          <a:p>
            <a:pPr marL="452438" eaLnBrk="1" fontAlgn="auto">
              <a:spcAft>
                <a:spcPts val="0"/>
              </a:spcAft>
              <a:defRPr/>
            </a:pPr>
            <a:r>
              <a:rPr lang="en-GB" sz="2000" dirty="0">
                <a:solidFill>
                  <a:srgbClr val="002060"/>
                </a:solidFill>
              </a:rPr>
              <a:t>Requires its own section within the Owners manuals to </a:t>
            </a:r>
            <a:r>
              <a:rPr lang="en-GB" sz="2000" dirty="0" smtClean="0">
                <a:solidFill>
                  <a:srgbClr val="002060"/>
                </a:solidFill>
              </a:rPr>
              <a:t>provide </a:t>
            </a:r>
            <a:r>
              <a:rPr lang="en-GB" sz="2000" dirty="0">
                <a:solidFill>
                  <a:srgbClr val="002060"/>
                </a:solidFill>
              </a:rPr>
              <a:t>information </a:t>
            </a:r>
            <a:r>
              <a:rPr lang="en-GB" sz="2000" dirty="0" smtClean="0">
                <a:solidFill>
                  <a:srgbClr val="002060"/>
                </a:solidFill>
              </a:rPr>
              <a:t>to adjust volumes </a:t>
            </a:r>
            <a:r>
              <a:rPr lang="en-GB" sz="2000" dirty="0">
                <a:solidFill>
                  <a:srgbClr val="002060"/>
                </a:solidFill>
              </a:rPr>
              <a:t>and door dwell times </a:t>
            </a:r>
            <a:r>
              <a:rPr lang="en-GB" sz="2000" dirty="0" smtClean="0">
                <a:solidFill>
                  <a:srgbClr val="002060"/>
                </a:solidFill>
              </a:rPr>
              <a:t>etc</a:t>
            </a:r>
            <a:endParaRPr lang="en-GB" sz="2000" dirty="0">
              <a:solidFill>
                <a:srgbClr val="002060"/>
              </a:solidFill>
            </a:endParaRPr>
          </a:p>
          <a:p>
            <a:pPr marL="452438" eaLnBrk="1" fontAlgn="auto">
              <a:spcAft>
                <a:spcPts val="0"/>
              </a:spcAft>
              <a:defRPr/>
            </a:pPr>
            <a:r>
              <a:rPr lang="en-GB" sz="2000" dirty="0">
                <a:solidFill>
                  <a:srgbClr val="002060"/>
                </a:solidFill>
              </a:rPr>
              <a:t> Recommends the need for a procedure for the safe rescue of disabled persons</a:t>
            </a:r>
          </a:p>
          <a:p>
            <a:pPr eaLnBrk="1" fontAlgn="auto">
              <a:spcAft>
                <a:spcPts val="0"/>
              </a:spcAft>
              <a:defRPr/>
            </a:pPr>
            <a:endParaRPr lang="en-GB" sz="2000" dirty="0">
              <a:solidFill>
                <a:srgbClr val="002060"/>
              </a:solidFill>
            </a:endParaRPr>
          </a:p>
          <a:p>
            <a:pPr eaLnBrk="1" fontAlgn="auto">
              <a:spcBef>
                <a:spcPts val="500"/>
              </a:spcBef>
              <a:spcAft>
                <a:spcPts val="0"/>
              </a:spcAft>
              <a:defRPr/>
            </a:pPr>
            <a:endParaRPr lang="en-GB" sz="2800" dirty="0">
              <a:solidFill>
                <a:srgbClr val="002060"/>
              </a:solidFill>
              <a:cs typeface="Arial" charset="0"/>
            </a:endParaRPr>
          </a:p>
          <a:p>
            <a:pPr eaLnBrk="1" fontAlgn="auto">
              <a:spcAft>
                <a:spcPts val="0"/>
              </a:spcAft>
              <a:defRPr/>
            </a:pPr>
            <a:endParaRPr lang="en-GB" dirty="0">
              <a:solidFill>
                <a:srgbClr val="002060"/>
              </a:solidFill>
            </a:endParaRPr>
          </a:p>
        </p:txBody>
      </p:sp>
      <p:sp>
        <p:nvSpPr>
          <p:cNvPr id="12292" name="Title 1"/>
          <p:cNvSpPr txBox="1">
            <a:spLocks/>
          </p:cNvSpPr>
          <p:nvPr/>
        </p:nvSpPr>
        <p:spPr bwMode="auto">
          <a:xfrm>
            <a:off x="0" y="1557338"/>
            <a:ext cx="48593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1"/>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GB" sz="3300" b="1">
                <a:solidFill>
                  <a:srgbClr val="002060"/>
                </a:solidFill>
                <a:ea typeface="ＭＳ Ｐゴシック" pitchFamily="34" charset="-128"/>
              </a:rPr>
              <a:t>Accessibility</a:t>
            </a:r>
            <a:endParaRPr lang="en-GB" sz="3300">
              <a:solidFill>
                <a:srgbClr val="002060"/>
              </a:solidFill>
              <a:ea typeface="ＭＳ Ｐゴシック" pitchFamily="34" charset="-128"/>
            </a:endParaRPr>
          </a:p>
        </p:txBody>
      </p:sp>
      <p:pic>
        <p:nvPicPr>
          <p:cNvPr id="12293" name="Picture 7" descr="C:\Users\allanj\Documents\BS EN Standards &amp; Legislation\BS EN 81-70 Pictures\Car Dimensions.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72000" y="1150938"/>
            <a:ext cx="1989138"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3" presetClass="emph" presetSubtype="2" fill="hold" nodeType="withEffect">
                                  <p:stCondLst>
                                    <p:cond delay="0"/>
                                  </p:stCondLst>
                                  <p:childTnLst>
                                    <p:animClr clrSpc="rgb" dir="cw">
                                      <p:cBhvr override="childStyle">
                                        <p:cTn id="14" dur="500" fill="hold"/>
                                        <p:tgtEl>
                                          <p:spTgt spid="3">
                                            <p:txEl>
                                              <p:pRg st="1" end="1"/>
                                            </p:txEl>
                                          </p:spTgt>
                                        </p:tgtEl>
                                        <p:attrNameLst>
                                          <p:attrName>style.color</p:attrName>
                                        </p:attrNameLst>
                                      </p:cBhvr>
                                      <p:to>
                                        <a:srgbClr val="777777"/>
                                      </p:to>
                                    </p:animClr>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3" presetClass="emph" presetSubtype="2" fill="hold" nodeType="withEffect">
                                  <p:stCondLst>
                                    <p:cond delay="0"/>
                                  </p:stCondLst>
                                  <p:childTnLst>
                                    <p:animClr clrSpc="rgb" dir="cw">
                                      <p:cBhvr override="childStyle">
                                        <p:cTn id="21" dur="500" fill="hold"/>
                                        <p:tgtEl>
                                          <p:spTgt spid="3">
                                            <p:txEl>
                                              <p:pRg st="2" end="2"/>
                                            </p:txEl>
                                          </p:spTgt>
                                        </p:tgtEl>
                                        <p:attrNameLst>
                                          <p:attrName>style.color</p:attrName>
                                        </p:attrNameLst>
                                      </p:cBhvr>
                                      <p:to>
                                        <a:srgbClr val="777777"/>
                                      </p:to>
                                    </p:animClr>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3" presetClass="emph" presetSubtype="2" fill="hold" nodeType="withEffect">
                                  <p:stCondLst>
                                    <p:cond delay="0"/>
                                  </p:stCondLst>
                                  <p:childTnLst>
                                    <p:animClr clrSpc="rgb" dir="cw">
                                      <p:cBhvr override="childStyle">
                                        <p:cTn id="28" dur="500" fill="hold"/>
                                        <p:tgtEl>
                                          <p:spTgt spid="3">
                                            <p:txEl>
                                              <p:pRg st="3" end="3"/>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2349500"/>
            <a:ext cx="7915275" cy="3876675"/>
          </a:xfrm>
        </p:spPr>
        <p:txBody>
          <a:bodyPr/>
          <a:lstStyle/>
          <a:p>
            <a:pPr eaLnBrk="1" fontAlgn="auto">
              <a:spcAft>
                <a:spcPts val="0"/>
              </a:spcAft>
              <a:buFontTx/>
              <a:buNone/>
              <a:defRPr/>
            </a:pPr>
            <a:r>
              <a:rPr lang="en-GB" b="1" dirty="0">
                <a:solidFill>
                  <a:srgbClr val="002060"/>
                </a:solidFill>
              </a:rPr>
              <a:t>BS EN81-70:2003  </a:t>
            </a:r>
            <a:r>
              <a:rPr lang="en-GB" b="1" dirty="0" smtClean="0">
                <a:solidFill>
                  <a:srgbClr val="002060"/>
                </a:solidFill>
              </a:rPr>
              <a:t>Continued</a:t>
            </a:r>
            <a:endParaRPr lang="en-GB" b="1" dirty="0">
              <a:solidFill>
                <a:srgbClr val="002060"/>
              </a:solidFill>
            </a:endParaRPr>
          </a:p>
          <a:p>
            <a:pPr marL="109538" indent="0" eaLnBrk="1" fontAlgn="auto">
              <a:spcBef>
                <a:spcPts val="1200"/>
              </a:spcBef>
              <a:spcAft>
                <a:spcPts val="0"/>
              </a:spcAft>
              <a:buFontTx/>
              <a:buNone/>
              <a:defRPr/>
            </a:pPr>
            <a:r>
              <a:rPr lang="en-GB" sz="2000" dirty="0">
                <a:solidFill>
                  <a:srgbClr val="002060"/>
                </a:solidFill>
              </a:rPr>
              <a:t>The standard covers a number of </a:t>
            </a:r>
            <a:r>
              <a:rPr lang="en-GB" sz="2000" dirty="0" smtClean="0">
                <a:solidFill>
                  <a:srgbClr val="002060"/>
                </a:solidFill>
              </a:rPr>
              <a:t>areas</a:t>
            </a:r>
          </a:p>
          <a:p>
            <a:pPr marL="457200" lvl="1" indent="0" eaLnBrk="1" fontAlgn="auto">
              <a:spcBef>
                <a:spcPts val="0"/>
              </a:spcBef>
              <a:spcAft>
                <a:spcPts val="0"/>
              </a:spcAft>
              <a:buFontTx/>
              <a:buNone/>
              <a:defRPr/>
            </a:pPr>
            <a:endParaRPr lang="en-GB" sz="2000" dirty="0" smtClean="0">
              <a:solidFill>
                <a:srgbClr val="002060"/>
              </a:solidFill>
            </a:endParaRPr>
          </a:p>
          <a:p>
            <a:pPr lvl="1" eaLnBrk="1" fontAlgn="auto">
              <a:spcBef>
                <a:spcPts val="0"/>
              </a:spcBef>
              <a:spcAft>
                <a:spcPts val="0"/>
              </a:spcAft>
              <a:buFont typeface="Arial" pitchFamily="34" charset="0"/>
              <a:buChar char="•"/>
              <a:defRPr/>
            </a:pPr>
            <a:r>
              <a:rPr lang="en-GB" sz="2000" dirty="0" smtClean="0">
                <a:solidFill>
                  <a:srgbClr val="002060"/>
                </a:solidFill>
              </a:rPr>
              <a:t>Door and lift </a:t>
            </a:r>
            <a:r>
              <a:rPr lang="en-GB" sz="2000" dirty="0">
                <a:solidFill>
                  <a:srgbClr val="002060"/>
                </a:solidFill>
              </a:rPr>
              <a:t>car </a:t>
            </a:r>
            <a:r>
              <a:rPr lang="en-GB" sz="2000" dirty="0" smtClean="0">
                <a:solidFill>
                  <a:srgbClr val="002060"/>
                </a:solidFill>
              </a:rPr>
              <a:t>dimensions </a:t>
            </a:r>
          </a:p>
          <a:p>
            <a:pPr lvl="1" eaLnBrk="1" fontAlgn="auto">
              <a:spcBef>
                <a:spcPts val="0"/>
              </a:spcBef>
              <a:spcAft>
                <a:spcPts val="0"/>
              </a:spcAft>
              <a:buFont typeface="Arial" pitchFamily="34" charset="0"/>
              <a:buChar char="•"/>
              <a:defRPr/>
            </a:pPr>
            <a:r>
              <a:rPr lang="en-GB" sz="2000" dirty="0" smtClean="0">
                <a:solidFill>
                  <a:srgbClr val="002060"/>
                </a:solidFill>
              </a:rPr>
              <a:t>Signalisation </a:t>
            </a:r>
          </a:p>
          <a:p>
            <a:pPr lvl="1" eaLnBrk="1" fontAlgn="auto">
              <a:spcBef>
                <a:spcPts val="0"/>
              </a:spcBef>
              <a:spcAft>
                <a:spcPts val="0"/>
              </a:spcAft>
              <a:buFont typeface="Arial" pitchFamily="34" charset="0"/>
              <a:buChar char="•"/>
              <a:defRPr/>
            </a:pPr>
            <a:r>
              <a:rPr lang="en-GB" sz="2000" dirty="0" smtClean="0">
                <a:solidFill>
                  <a:srgbClr val="002060"/>
                </a:solidFill>
              </a:rPr>
              <a:t>Location of car </a:t>
            </a:r>
            <a:r>
              <a:rPr lang="en-GB" sz="2000" dirty="0">
                <a:solidFill>
                  <a:srgbClr val="002060"/>
                </a:solidFill>
              </a:rPr>
              <a:t>and </a:t>
            </a:r>
            <a:r>
              <a:rPr lang="en-GB" sz="2000" dirty="0" smtClean="0">
                <a:solidFill>
                  <a:srgbClr val="002060"/>
                </a:solidFill>
              </a:rPr>
              <a:t>landings fixtures</a:t>
            </a:r>
          </a:p>
          <a:p>
            <a:pPr lvl="1" eaLnBrk="1" fontAlgn="auto">
              <a:spcBef>
                <a:spcPts val="0"/>
              </a:spcBef>
              <a:spcAft>
                <a:spcPts val="0"/>
              </a:spcAft>
              <a:buFont typeface="Arial" pitchFamily="34" charset="0"/>
              <a:buChar char="•"/>
              <a:defRPr/>
            </a:pPr>
            <a:r>
              <a:rPr lang="en-GB" sz="2000" dirty="0">
                <a:solidFill>
                  <a:srgbClr val="002060"/>
                </a:solidFill>
              </a:rPr>
              <a:t>F</a:t>
            </a:r>
            <a:r>
              <a:rPr lang="en-GB" sz="2000" dirty="0" smtClean="0">
                <a:solidFill>
                  <a:srgbClr val="002060"/>
                </a:solidFill>
              </a:rPr>
              <a:t>loor levelling</a:t>
            </a:r>
          </a:p>
          <a:p>
            <a:pPr lvl="1" eaLnBrk="1" fontAlgn="auto">
              <a:spcBef>
                <a:spcPts val="0"/>
              </a:spcBef>
              <a:spcAft>
                <a:spcPts val="0"/>
              </a:spcAft>
              <a:buFont typeface="Arial" pitchFamily="34" charset="0"/>
              <a:buChar char="•"/>
              <a:defRPr/>
            </a:pPr>
            <a:r>
              <a:rPr lang="en-GB" sz="2000" dirty="0" smtClean="0">
                <a:solidFill>
                  <a:srgbClr val="002060"/>
                </a:solidFill>
              </a:rPr>
              <a:t>Voice annunciation</a:t>
            </a:r>
          </a:p>
          <a:p>
            <a:pPr lvl="1" eaLnBrk="1" fontAlgn="auto">
              <a:spcBef>
                <a:spcPts val="0"/>
              </a:spcBef>
              <a:spcAft>
                <a:spcPts val="0"/>
              </a:spcAft>
              <a:buFont typeface="Arial" pitchFamily="34" charset="0"/>
              <a:buChar char="•"/>
              <a:defRPr/>
            </a:pPr>
            <a:r>
              <a:rPr lang="en-GB" sz="2000" dirty="0" smtClean="0">
                <a:solidFill>
                  <a:srgbClr val="002060"/>
                </a:solidFill>
              </a:rPr>
              <a:t>Information on how floor levels should be marked, the building’s floor numbering system may need to be changed to achieve this</a:t>
            </a:r>
            <a:endParaRPr lang="en-GB" sz="2000" dirty="0">
              <a:solidFill>
                <a:srgbClr val="002060"/>
              </a:solidFill>
            </a:endParaRPr>
          </a:p>
        </p:txBody>
      </p:sp>
      <p:sp>
        <p:nvSpPr>
          <p:cNvPr id="13315" name="Title 1"/>
          <p:cNvSpPr txBox="1">
            <a:spLocks/>
          </p:cNvSpPr>
          <p:nvPr/>
        </p:nvSpPr>
        <p:spPr bwMode="auto">
          <a:xfrm>
            <a:off x="0" y="1341438"/>
            <a:ext cx="87487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chorCtr="1"/>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GB" sz="3300" b="1">
                <a:solidFill>
                  <a:srgbClr val="002060"/>
                </a:solidFill>
                <a:ea typeface="ＭＳ Ｐゴシック" pitchFamily="34" charset="-128"/>
              </a:rPr>
              <a:t>Accessibility</a:t>
            </a:r>
            <a:endParaRPr lang="en-GB" sz="3300">
              <a:solidFill>
                <a:srgbClr val="002060"/>
              </a:solidFill>
              <a:ea typeface="ＭＳ Ｐゴシック" pitchFamily="34" charset="-128"/>
            </a:endParaRPr>
          </a:p>
        </p:txBody>
      </p:sp>
      <p:pic>
        <p:nvPicPr>
          <p:cNvPr id="1027"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948264" y="1196752"/>
            <a:ext cx="1735232" cy="3076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descr="http://i01.i.aliimg.com/img/pb/808/122/379/379122808_454.jpg"/>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283496" y="1164688"/>
            <a:ext cx="2400000" cy="180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www.goebel-aufzuege.de/images/p9269657.jpg"/>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6184317" y="1196752"/>
            <a:ext cx="2531633"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6184317" y="1171921"/>
            <a:ext cx="2499179" cy="18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descr="http://www.clker.com/cliparts/d/d/5/f/122021303529144214elevator%20door%20open.svg.hi.png"/>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7217169" y="1150165"/>
            <a:ext cx="1466327" cy="1800000"/>
          </a:xfrm>
          <a:prstGeom prst="rect">
            <a:avLst/>
          </a:prstGeom>
          <a:noFill/>
          <a:extLst>
            <a:ext uri="{909E8E84-426E-40DD-AFC4-6F175D3DCCD1}">
              <a14:hiddenFill xmlns:a14="http://schemas.microsoft.com/office/drawing/2010/main">
                <a:solidFill>
                  <a:srgbClr val="FFFFFF"/>
                </a:solidFill>
              </a14:hiddenFill>
            </a:ext>
          </a:extLst>
        </p:spPr>
      </p:pic>
      <p:pic>
        <p:nvPicPr>
          <p:cNvPr id="2" name="Doors opening announcement.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flipV="1">
            <a:off x="8524305" y="116632"/>
            <a:ext cx="448816" cy="448816"/>
          </a:xfrm>
          <a:prstGeom prst="rect">
            <a:avLst/>
          </a:prstGeom>
        </p:spPr>
      </p:pic>
      <p:pic>
        <p:nvPicPr>
          <p:cNvPr id="1034" name="Picture 10" descr="http://www.manss.com/sites/all/files/Deloitte_04.jpg?1259601374"/>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6280888" y="1174691"/>
            <a:ext cx="2243418" cy="180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27"/>
                                        </p:tgtEl>
                                        <p:attrNameLst>
                                          <p:attrName>style.visibility</p:attrName>
                                        </p:attrNameLst>
                                      </p:cBhvr>
                                      <p:to>
                                        <p:strVal val="visible"/>
                                      </p:to>
                                    </p:set>
                                    <p:animEffect transition="in" filter="fade">
                                      <p:cBhvr>
                                        <p:cTn id="10" dur="500"/>
                                        <p:tgtEl>
                                          <p:spTgt spid="10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1027"/>
                                        </p:tgtEl>
                                      </p:cBhvr>
                                    </p:animEffect>
                                    <p:set>
                                      <p:cBhvr>
                                        <p:cTn id="15" dur="1" fill="hold">
                                          <p:stCondLst>
                                            <p:cond delay="499"/>
                                          </p:stCondLst>
                                        </p:cTn>
                                        <p:tgtEl>
                                          <p:spTgt spid="1027"/>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029"/>
                                        </p:tgtEl>
                                        <p:attrNameLst>
                                          <p:attrName>style.visibility</p:attrName>
                                        </p:attrNameLst>
                                      </p:cBhvr>
                                      <p:to>
                                        <p:strVal val="visible"/>
                                      </p:to>
                                    </p:set>
                                    <p:animEffect transition="in" filter="fade">
                                      <p:cBhvr>
                                        <p:cTn id="21" dur="500"/>
                                        <p:tgtEl>
                                          <p:spTgt spid="102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500"/>
                                        <p:tgtEl>
                                          <p:spTgt spid="1029"/>
                                        </p:tgtEl>
                                      </p:cBhvr>
                                    </p:animEffect>
                                    <p:set>
                                      <p:cBhvr>
                                        <p:cTn id="26" dur="1" fill="hold">
                                          <p:stCondLst>
                                            <p:cond delay="499"/>
                                          </p:stCondLst>
                                        </p:cTn>
                                        <p:tgtEl>
                                          <p:spTgt spid="1029"/>
                                        </p:tgtEl>
                                        <p:attrNameLst>
                                          <p:attrName>style.visibility</p:attrName>
                                        </p:attrNameLst>
                                      </p:cBhvr>
                                      <p:to>
                                        <p:strVal val="hidden"/>
                                      </p:to>
                                    </p:se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7"/>
                                        </p:tgtEl>
                                      </p:cBhvr>
                                    </p:animEffect>
                                    <p:set>
                                      <p:cBhvr>
                                        <p:cTn id="37" dur="1" fill="hold">
                                          <p:stCondLst>
                                            <p:cond delay="499"/>
                                          </p:stCondLst>
                                        </p:cTn>
                                        <p:tgtEl>
                                          <p:spTgt spid="7"/>
                                        </p:tgtEl>
                                        <p:attrNameLst>
                                          <p:attrName>style.visibility</p:attrName>
                                        </p:attrNameLst>
                                      </p:cBhvr>
                                      <p:to>
                                        <p:strVal val="hidden"/>
                                      </p:to>
                                    </p:set>
                                  </p:childTnLst>
                                </p:cTn>
                              </p:par>
                              <p:par>
                                <p:cTn id="38" presetID="10" presetClass="entr" presetSubtype="0" fill="hold" nodeType="with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500"/>
                                        <p:tgtEl>
                                          <p:spTgt spid="3">
                                            <p:txEl>
                                              <p:pRg st="6" end="6"/>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030"/>
                                        </p:tgtEl>
                                        <p:attrNameLst>
                                          <p:attrName>style.visibility</p:attrName>
                                        </p:attrNameLst>
                                      </p:cBhvr>
                                      <p:to>
                                        <p:strVal val="visible"/>
                                      </p:to>
                                    </p:set>
                                    <p:animEffect transition="in" filter="fade">
                                      <p:cBhvr>
                                        <p:cTn id="43" dur="500"/>
                                        <p:tgtEl>
                                          <p:spTgt spid="103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1030"/>
                                        </p:tgtEl>
                                      </p:cBhvr>
                                    </p:animEffect>
                                    <p:set>
                                      <p:cBhvr>
                                        <p:cTn id="48" dur="1" fill="hold">
                                          <p:stCondLst>
                                            <p:cond delay="499"/>
                                          </p:stCondLst>
                                        </p:cTn>
                                        <p:tgtEl>
                                          <p:spTgt spid="1030"/>
                                        </p:tgtEl>
                                        <p:attrNameLst>
                                          <p:attrName>style.visibility</p:attrName>
                                        </p:attrNameLst>
                                      </p:cBhvr>
                                      <p:to>
                                        <p:strVal val="hidden"/>
                                      </p:to>
                                    </p:se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500"/>
                                        <p:tgtEl>
                                          <p:spTgt spid="3">
                                            <p:txEl>
                                              <p:pRg st="7" end="7"/>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1032"/>
                                        </p:tgtEl>
                                        <p:attrNameLst>
                                          <p:attrName>style.visibility</p:attrName>
                                        </p:attrNameLst>
                                      </p:cBhvr>
                                      <p:to>
                                        <p:strVal val="visible"/>
                                      </p:to>
                                    </p:set>
                                    <p:animEffect transition="in" filter="fade">
                                      <p:cBhvr>
                                        <p:cTn id="55" dur="500"/>
                                        <p:tgtEl>
                                          <p:spTgt spid="1032"/>
                                        </p:tgtEl>
                                      </p:cBhvr>
                                    </p:animEffect>
                                  </p:childTnLst>
                                </p:cTn>
                              </p:par>
                            </p:childTnLst>
                          </p:cTn>
                        </p:par>
                        <p:par>
                          <p:cTn id="56" fill="hold">
                            <p:stCondLst>
                              <p:cond delay="1000"/>
                            </p:stCondLst>
                            <p:childTnLst>
                              <p:par>
                                <p:cTn id="57" presetID="1" presetClass="mediacall" presetSubtype="0" fill="hold" nodeType="afterEffect">
                                  <p:stCondLst>
                                    <p:cond delay="0"/>
                                  </p:stCondLst>
                                  <p:childTnLst>
                                    <p:cmd type="call" cmd="playFrom(0.0)">
                                      <p:cBhvr>
                                        <p:cTn id="58" dur="4000" fill="hold"/>
                                        <p:tgtEl>
                                          <p:spTgt spid="2"/>
                                        </p:tgtEl>
                                      </p:cBhvr>
                                    </p:cmd>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500"/>
                                        <p:tgtEl>
                                          <p:spTgt spid="1032"/>
                                        </p:tgtEl>
                                      </p:cBhvr>
                                    </p:animEffect>
                                    <p:set>
                                      <p:cBhvr>
                                        <p:cTn id="63" dur="1" fill="hold">
                                          <p:stCondLst>
                                            <p:cond delay="499"/>
                                          </p:stCondLst>
                                        </p:cTn>
                                        <p:tgtEl>
                                          <p:spTgt spid="1032"/>
                                        </p:tgtEl>
                                        <p:attrNameLst>
                                          <p:attrName>style.visibility</p:attrName>
                                        </p:attrNameLst>
                                      </p:cBhvr>
                                      <p:to>
                                        <p:strVal val="hidden"/>
                                      </p:to>
                                    </p:set>
                                  </p:childTnLst>
                                </p:cTn>
                              </p:par>
                              <p:par>
                                <p:cTn id="64" presetID="10" presetClass="entr" presetSubtype="0" fill="hold" nodeType="withEffect">
                                  <p:stCondLst>
                                    <p:cond delay="0"/>
                                  </p:stCondLst>
                                  <p:childTnLst>
                                    <p:set>
                                      <p:cBhvr>
                                        <p:cTn id="65" dur="1" fill="hold">
                                          <p:stCondLst>
                                            <p:cond delay="0"/>
                                          </p:stCondLst>
                                        </p:cTn>
                                        <p:tgtEl>
                                          <p:spTgt spid="3">
                                            <p:txEl>
                                              <p:pRg st="8" end="8"/>
                                            </p:txEl>
                                          </p:spTgt>
                                        </p:tgtEl>
                                        <p:attrNameLst>
                                          <p:attrName>style.visibility</p:attrName>
                                        </p:attrNameLst>
                                      </p:cBhvr>
                                      <p:to>
                                        <p:strVal val="visible"/>
                                      </p:to>
                                    </p:set>
                                    <p:animEffect transition="in" filter="fade">
                                      <p:cBhvr>
                                        <p:cTn id="66" dur="500"/>
                                        <p:tgtEl>
                                          <p:spTgt spid="3">
                                            <p:txEl>
                                              <p:pRg st="8" end="8"/>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1034"/>
                                        </p:tgtEl>
                                        <p:attrNameLst>
                                          <p:attrName>style.visibility</p:attrName>
                                        </p:attrNameLst>
                                      </p:cBhvr>
                                      <p:to>
                                        <p:strVal val="visible"/>
                                      </p:to>
                                    </p:set>
                                    <p:animEffect transition="in" filter="fade">
                                      <p:cBhvr>
                                        <p:cTn id="69" dur="500"/>
                                        <p:tgtEl>
                                          <p:spTgt spid="1034"/>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70" fill="hold" display="0">
                  <p:stCondLst>
                    <p:cond delay="indefinite"/>
                  </p:stCondLst>
                  <p:endCondLst>
                    <p:cond evt="onStopAudio" delay="0">
                      <p:tgtEl>
                        <p:sldTgt/>
                      </p:tgtEl>
                    </p:cond>
                  </p:endCondLst>
                </p:cTn>
                <p:tgtEl>
                  <p:spTgt spid="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313" y="2349500"/>
            <a:ext cx="7988300" cy="3949700"/>
          </a:xfrm>
        </p:spPr>
        <p:txBody>
          <a:bodyPr/>
          <a:lstStyle/>
          <a:p>
            <a:pPr marL="357188" eaLnBrk="1" fontAlgn="auto">
              <a:spcAft>
                <a:spcPts val="0"/>
              </a:spcAft>
              <a:defRPr/>
            </a:pPr>
            <a:endParaRPr lang="en-GB" dirty="0" smtClean="0">
              <a:solidFill>
                <a:srgbClr val="002060"/>
              </a:solidFill>
            </a:endParaRPr>
          </a:p>
          <a:p>
            <a:pPr eaLnBrk="1" fontAlgn="auto">
              <a:spcAft>
                <a:spcPts val="0"/>
              </a:spcAft>
              <a:defRPr/>
            </a:pPr>
            <a:endParaRPr lang="en-GB" dirty="0">
              <a:solidFill>
                <a:srgbClr val="002060"/>
              </a:solidFill>
            </a:endParaRPr>
          </a:p>
        </p:txBody>
      </p:sp>
      <p:sp>
        <p:nvSpPr>
          <p:cNvPr id="10243" name="Title 1"/>
          <p:cNvSpPr txBox="1">
            <a:spLocks noGrp="1"/>
          </p:cNvSpPr>
          <p:nvPr>
            <p:ph type="title"/>
          </p:nvPr>
        </p:nvSpPr>
        <p:spPr>
          <a:xfrm>
            <a:off x="0" y="1341438"/>
            <a:ext cx="8748713" cy="647700"/>
          </a:xfrm>
        </p:spPr>
        <p:txBody>
          <a:bodyPr anchor="b"/>
          <a:lstStyle/>
          <a:p>
            <a:pPr algn="l" eaLnBrk="1"/>
            <a:r>
              <a:rPr lang="en-GB" b="1" dirty="0" smtClean="0">
                <a:solidFill>
                  <a:srgbClr val="002060"/>
                </a:solidFill>
                <a:latin typeface="Arial" charset="0"/>
                <a:ea typeface="ＭＳ Ｐゴシック" pitchFamily="34" charset="-128"/>
              </a:rPr>
              <a:t>Accessibility</a:t>
            </a:r>
            <a:endParaRPr lang="en-GB" dirty="0" smtClean="0">
              <a:solidFill>
                <a:srgbClr val="002060"/>
              </a:solidFill>
              <a:latin typeface="Arial" charset="0"/>
              <a:ea typeface="ＭＳ Ｐゴシック" pitchFamily="34" charset="-128"/>
            </a:endParaRPr>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403648" y="1916832"/>
            <a:ext cx="6288757" cy="4292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5513328"/>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txBox="1">
            <a:spLocks noGrp="1"/>
          </p:cNvSpPr>
          <p:nvPr>
            <p:ph type="title"/>
          </p:nvPr>
        </p:nvSpPr>
        <p:spPr>
          <a:xfrm>
            <a:off x="0" y="1414463"/>
            <a:ext cx="8748713" cy="574675"/>
          </a:xfrm>
        </p:spPr>
        <p:txBody>
          <a:bodyPr/>
          <a:lstStyle/>
          <a:p>
            <a:pPr eaLnBrk="1"/>
            <a:r>
              <a:rPr lang="en-GB" b="1" smtClean="0">
                <a:solidFill>
                  <a:srgbClr val="002060"/>
                </a:solidFill>
                <a:latin typeface="Arial" charset="0"/>
                <a:ea typeface="ＭＳ Ｐゴシック" pitchFamily="34" charset="-128"/>
              </a:rPr>
              <a:t>Case Study</a:t>
            </a:r>
          </a:p>
        </p:txBody>
      </p:sp>
      <p:sp>
        <p:nvSpPr>
          <p:cNvPr id="13315" name="Content Placeholder 3"/>
          <p:cNvSpPr txBox="1">
            <a:spLocks noGrp="1"/>
          </p:cNvSpPr>
          <p:nvPr>
            <p:ph idx="1"/>
          </p:nvPr>
        </p:nvSpPr>
        <p:spPr>
          <a:xfrm>
            <a:off x="468313" y="2276475"/>
            <a:ext cx="8135937" cy="3529013"/>
          </a:xfrm>
        </p:spPr>
        <p:txBody>
          <a:bodyPr/>
          <a:lstStyle>
            <a:lvl1pPr>
              <a:defRPr sz="2300">
                <a:solidFill>
                  <a:srgbClr val="003E7A"/>
                </a:solidFill>
                <a:latin typeface="Arial" charset="0"/>
                <a:ea typeface="ＭＳ Ｐゴシック" pitchFamily="34" charset="-128"/>
              </a:defRPr>
            </a:lvl1pPr>
            <a:lvl2pPr>
              <a:defRPr sz="2300">
                <a:solidFill>
                  <a:srgbClr val="003E7A"/>
                </a:solidFill>
                <a:latin typeface="Arial" charset="0"/>
                <a:ea typeface="ＭＳ Ｐゴシック" pitchFamily="34" charset="-128"/>
              </a:defRPr>
            </a:lvl2pPr>
            <a:lvl3pPr>
              <a:defRPr sz="2300">
                <a:solidFill>
                  <a:srgbClr val="003E7A"/>
                </a:solidFill>
                <a:latin typeface="Arial" charset="0"/>
                <a:ea typeface="ＭＳ Ｐゴシック" pitchFamily="34" charset="-128"/>
              </a:defRPr>
            </a:lvl3pPr>
            <a:lvl4pPr>
              <a:defRPr sz="2300">
                <a:solidFill>
                  <a:srgbClr val="003E7A"/>
                </a:solidFill>
                <a:latin typeface="Arial" charset="0"/>
                <a:ea typeface="ＭＳ Ｐゴシック" pitchFamily="34" charset="-128"/>
              </a:defRPr>
            </a:lvl4pPr>
            <a:lvl5pPr>
              <a:defRPr sz="2300">
                <a:solidFill>
                  <a:srgbClr val="003E7A"/>
                </a:solidFill>
                <a:latin typeface="Arial" charset="0"/>
                <a:ea typeface="ＭＳ Ｐゴシック" pitchFamily="34" charset="-128"/>
              </a:defRPr>
            </a:lvl5pPr>
            <a:lvl6pPr>
              <a:defRPr sz="2300">
                <a:solidFill>
                  <a:srgbClr val="003E7A"/>
                </a:solidFill>
                <a:latin typeface="Arial" charset="0"/>
                <a:ea typeface="ＭＳ Ｐゴシック" pitchFamily="34" charset="-128"/>
              </a:defRPr>
            </a:lvl6pPr>
            <a:lvl7pPr>
              <a:defRPr sz="2300">
                <a:solidFill>
                  <a:srgbClr val="003E7A"/>
                </a:solidFill>
                <a:latin typeface="Arial" charset="0"/>
                <a:ea typeface="ＭＳ Ｐゴシック" pitchFamily="34" charset="-128"/>
              </a:defRPr>
            </a:lvl7pPr>
            <a:lvl8pPr>
              <a:defRPr sz="2300">
                <a:solidFill>
                  <a:srgbClr val="003E7A"/>
                </a:solidFill>
                <a:latin typeface="Arial" charset="0"/>
                <a:ea typeface="ＭＳ Ｐゴシック" pitchFamily="34" charset="-128"/>
              </a:defRPr>
            </a:lvl8pPr>
            <a:lvl9pPr>
              <a:defRPr sz="2300">
                <a:solidFill>
                  <a:srgbClr val="003E7A"/>
                </a:solidFill>
                <a:latin typeface="Arial" charset="0"/>
                <a:ea typeface="ＭＳ Ｐゴシック" pitchFamily="34" charset="-128"/>
              </a:defRPr>
            </a:lvl9pPr>
          </a:lstStyle>
          <a:p>
            <a:pPr marL="0" indent="0" eaLnBrk="1">
              <a:buFontTx/>
              <a:buNone/>
            </a:pPr>
            <a:r>
              <a:rPr lang="en-GB" sz="2000" smtClean="0">
                <a:solidFill>
                  <a:srgbClr val="002060"/>
                </a:solidFill>
              </a:rPr>
              <a:t>We were asked to survey a lift which had recently been upgraded to meet EN81 – 82. Improvement of the accessibility of existing lifts for persons including persons with disability.</a:t>
            </a:r>
          </a:p>
          <a:p>
            <a:pPr marL="0" indent="0" eaLnBrk="1">
              <a:buFontTx/>
              <a:buNone/>
            </a:pPr>
            <a:endParaRPr lang="en-GB" sz="2000" smtClean="0">
              <a:solidFill>
                <a:srgbClr val="002060"/>
              </a:solidFill>
            </a:endParaRPr>
          </a:p>
          <a:p>
            <a:pPr marL="0" indent="0" eaLnBrk="1">
              <a:buFontTx/>
              <a:buNone/>
            </a:pPr>
            <a:r>
              <a:rPr lang="en-GB" sz="2000" smtClean="0">
                <a:solidFill>
                  <a:srgbClr val="002060"/>
                </a:solidFill>
              </a:rPr>
              <a:t>Our survey found the following code compliance issues with the lift and building</a:t>
            </a:r>
          </a:p>
          <a:p>
            <a:pPr lvl="1" eaLnBrk="1">
              <a:buFont typeface="Wingdings" pitchFamily="2" charset="2"/>
              <a:buChar char="Ø"/>
            </a:pPr>
            <a:r>
              <a:rPr lang="en-GB" sz="2000" smtClean="0">
                <a:solidFill>
                  <a:srgbClr val="002060"/>
                </a:solidFill>
              </a:rPr>
              <a:t>The indicator heights on the lift landing were incorrect</a:t>
            </a:r>
          </a:p>
          <a:p>
            <a:pPr lvl="1" eaLnBrk="1">
              <a:buFont typeface="Wingdings" pitchFamily="2" charset="2"/>
              <a:buChar char="Ø"/>
            </a:pPr>
            <a:r>
              <a:rPr lang="en-GB" sz="2000" smtClean="0">
                <a:solidFill>
                  <a:srgbClr val="002060"/>
                </a:solidFill>
              </a:rPr>
              <a:t>All lift lobby landings above the ground floor were not large enough for a wheel chair user to exit the lift</a:t>
            </a:r>
          </a:p>
          <a:p>
            <a:pPr marL="0" indent="0" eaLnBrk="1">
              <a:buFontTx/>
              <a:buNone/>
            </a:pPr>
            <a:endParaRPr lang="en-GB" sz="2000" smtClean="0">
              <a:solidFill>
                <a:srgbClr val="00206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fade">
                                      <p:cBhvr>
                                        <p:cTn id="7" dur="500"/>
                                        <p:tgtEl>
                                          <p:spTgt spid="133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3315">
                                            <p:txEl>
                                              <p:pRg st="2" end="2"/>
                                            </p:txEl>
                                          </p:spTgt>
                                        </p:tgtEl>
                                        <p:attrNameLst>
                                          <p:attrName>style.visibility</p:attrName>
                                        </p:attrNameLst>
                                      </p:cBhvr>
                                      <p:to>
                                        <p:strVal val="visible"/>
                                      </p:to>
                                    </p:set>
                                    <p:animEffect transition="in" filter="fade">
                                      <p:cBhvr>
                                        <p:cTn id="12" dur="500"/>
                                        <p:tgtEl>
                                          <p:spTgt spid="13315">
                                            <p:txEl>
                                              <p:pRg st="2" end="2"/>
                                            </p:txEl>
                                          </p:spTgt>
                                        </p:tgtEl>
                                      </p:cBhvr>
                                    </p:animEffect>
                                  </p:childTnLst>
                                </p:cTn>
                              </p:par>
                              <p:par>
                                <p:cTn id="13" presetID="3" presetClass="emph" presetSubtype="2" fill="hold" nodeType="withEffect">
                                  <p:stCondLst>
                                    <p:cond delay="0"/>
                                  </p:stCondLst>
                                  <p:childTnLst>
                                    <p:animClr clrSpc="rgb" dir="cw">
                                      <p:cBhvr override="childStyle">
                                        <p:cTn id="14" dur="500" fill="hold"/>
                                        <p:tgtEl>
                                          <p:spTgt spid="13315">
                                            <p:txEl>
                                              <p:pRg st="0" end="0"/>
                                            </p:txEl>
                                          </p:spTgt>
                                        </p:tgtEl>
                                        <p:attrNameLst>
                                          <p:attrName>style.color</p:attrName>
                                        </p:attrNameLst>
                                      </p:cBhvr>
                                      <p:to>
                                        <a:srgbClr val="777777"/>
                                      </p:to>
                                    </p:animClr>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13315">
                                            <p:txEl>
                                              <p:pRg st="3" end="3"/>
                                            </p:txEl>
                                          </p:spTgt>
                                        </p:tgtEl>
                                        <p:attrNameLst>
                                          <p:attrName>style.visibility</p:attrName>
                                        </p:attrNameLst>
                                      </p:cBhvr>
                                      <p:to>
                                        <p:strVal val="visible"/>
                                      </p:to>
                                    </p:set>
                                    <p:animEffect transition="in" filter="fade">
                                      <p:cBhvr>
                                        <p:cTn id="19" dur="500"/>
                                        <p:tgtEl>
                                          <p:spTgt spid="13315">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13315">
                                            <p:txEl>
                                              <p:pRg st="4" end="4"/>
                                            </p:txEl>
                                          </p:spTgt>
                                        </p:tgtEl>
                                        <p:attrNameLst>
                                          <p:attrName>style.visibility</p:attrName>
                                        </p:attrNameLst>
                                      </p:cBhvr>
                                      <p:to>
                                        <p:strVal val="visible"/>
                                      </p:to>
                                    </p:set>
                                    <p:animEffect transition="in" filter="fade">
                                      <p:cBhvr>
                                        <p:cTn id="24" dur="500"/>
                                        <p:tgtEl>
                                          <p:spTgt spid="13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txBox="1">
            <a:spLocks noGrp="1"/>
          </p:cNvSpPr>
          <p:nvPr>
            <p:ph type="title"/>
          </p:nvPr>
        </p:nvSpPr>
        <p:spPr>
          <a:xfrm>
            <a:off x="0" y="1414463"/>
            <a:ext cx="8748713" cy="574675"/>
          </a:xfrm>
        </p:spPr>
        <p:txBody>
          <a:bodyPr/>
          <a:lstStyle/>
          <a:p>
            <a:pPr eaLnBrk="1"/>
            <a:r>
              <a:rPr lang="en-GB" b="1" smtClean="0">
                <a:solidFill>
                  <a:srgbClr val="002060"/>
                </a:solidFill>
                <a:latin typeface="Arial" charset="0"/>
                <a:ea typeface="ＭＳ Ｐゴシック" pitchFamily="34" charset="-128"/>
              </a:rPr>
              <a:t>Case Study</a:t>
            </a:r>
          </a:p>
        </p:txBody>
      </p:sp>
      <p:sp>
        <p:nvSpPr>
          <p:cNvPr id="14339" name="Content Placeholder 2"/>
          <p:cNvSpPr txBox="1">
            <a:spLocks noGrp="1"/>
          </p:cNvSpPr>
          <p:nvPr>
            <p:ph idx="1"/>
          </p:nvPr>
        </p:nvSpPr>
        <p:spPr>
          <a:xfrm>
            <a:off x="468313" y="1844675"/>
            <a:ext cx="7915275" cy="4032250"/>
          </a:xfrm>
        </p:spPr>
        <p:txBody>
          <a:bodyPr/>
          <a:lstStyle/>
          <a:p>
            <a:pPr eaLnBrk="1">
              <a:spcBef>
                <a:spcPts val="1200"/>
              </a:spcBef>
              <a:defRPr/>
            </a:pPr>
            <a:endParaRPr lang="en-GB" sz="1000" dirty="0" smtClean="0">
              <a:solidFill>
                <a:srgbClr val="002060"/>
              </a:solidFill>
              <a:latin typeface="Arial" charset="0"/>
              <a:ea typeface="ＭＳ Ｐゴシック" pitchFamily="34" charset="-128"/>
            </a:endParaRPr>
          </a:p>
          <a:p>
            <a:pPr marL="0" indent="0" algn="ctr" eaLnBrk="1">
              <a:spcBef>
                <a:spcPts val="1200"/>
              </a:spcBef>
              <a:buFontTx/>
              <a:buNone/>
              <a:defRPr/>
            </a:pPr>
            <a:r>
              <a:rPr lang="en-GB" sz="2000" dirty="0" smtClean="0">
                <a:solidFill>
                  <a:srgbClr val="002060"/>
                </a:solidFill>
                <a:latin typeface="Arial" charset="0"/>
                <a:ea typeface="ＭＳ Ｐゴシック" pitchFamily="34" charset="-128"/>
              </a:rPr>
              <a:t>The lift installation has been upgraded but still does not meet the specific requirement to achieve compliance.</a:t>
            </a:r>
            <a:endParaRPr lang="en-GB" sz="2400" dirty="0" smtClean="0">
              <a:solidFill>
                <a:srgbClr val="002060"/>
              </a:solidFill>
              <a:latin typeface="Arial" charset="0"/>
              <a:ea typeface="ＭＳ Ｐゴシック" pitchFamily="34" charset="-128"/>
              <a:cs typeface="Arial" charset="0"/>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a:p>
            <a:pPr eaLnBrk="1">
              <a:defRPr/>
            </a:pPr>
            <a:endParaRPr lang="en-GB" dirty="0" smtClean="0">
              <a:solidFill>
                <a:srgbClr val="002060"/>
              </a:solidFill>
              <a:latin typeface="Arial" charset="0"/>
              <a:ea typeface="ＭＳ Ｐゴシック" pitchFamily="34" charset="-128"/>
            </a:endParaRPr>
          </a:p>
        </p:txBody>
      </p:sp>
      <p:pic>
        <p:nvPicPr>
          <p:cNvPr id="14340" name="Picture 2" descr="C:\Users\gregoryh\Documents\Projects\Completed\Norwich House Leicester\DSCF0948.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11238" y="2997200"/>
            <a:ext cx="69850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fade">
                                      <p:cBhvr>
                                        <p:cTn id="7" dur="500"/>
                                        <p:tgtEl>
                                          <p:spTgt spid="1433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340"/>
                                        </p:tgtEl>
                                        <p:attrNameLst>
                                          <p:attrName>style.visibility</p:attrName>
                                        </p:attrNameLst>
                                      </p:cBhvr>
                                      <p:to>
                                        <p:strVal val="visible"/>
                                      </p:to>
                                    </p:set>
                                    <p:animEffect transition="in" filter="fade">
                                      <p:cBhvr>
                                        <p:cTn id="10" dur="5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txBox="1">
            <a:spLocks noGrp="1"/>
          </p:cNvSpPr>
          <p:nvPr>
            <p:ph type="title"/>
          </p:nvPr>
        </p:nvSpPr>
        <p:spPr>
          <a:xfrm>
            <a:off x="0" y="1414463"/>
            <a:ext cx="8748713" cy="574675"/>
          </a:xfrm>
        </p:spPr>
        <p:txBody>
          <a:bodyPr/>
          <a:lstStyle/>
          <a:p>
            <a:pPr eaLnBrk="1"/>
            <a:r>
              <a:rPr lang="en-GB" b="1" smtClean="0">
                <a:solidFill>
                  <a:srgbClr val="002060"/>
                </a:solidFill>
                <a:latin typeface="Arial" charset="0"/>
                <a:ea typeface="ＭＳ Ｐゴシック" pitchFamily="34" charset="-128"/>
              </a:rPr>
              <a:t>Case Study </a:t>
            </a:r>
          </a:p>
        </p:txBody>
      </p:sp>
      <p:sp>
        <p:nvSpPr>
          <p:cNvPr id="4" name="Content Placeholder 3"/>
          <p:cNvSpPr txBox="1">
            <a:spLocks noGrp="1"/>
          </p:cNvSpPr>
          <p:nvPr>
            <p:ph idx="1"/>
          </p:nvPr>
        </p:nvSpPr>
        <p:spPr>
          <a:xfrm>
            <a:off x="539750" y="2349500"/>
            <a:ext cx="7916863" cy="3876675"/>
          </a:xfrm>
        </p:spPr>
        <p:txBody>
          <a:bodyPr/>
          <a:lstStyle/>
          <a:p>
            <a:pPr eaLnBrk="1">
              <a:buFontTx/>
              <a:buNone/>
              <a:defRPr/>
            </a:pPr>
            <a:r>
              <a:rPr lang="en-GB" sz="2000" dirty="0" smtClean="0">
                <a:solidFill>
                  <a:srgbClr val="002060"/>
                </a:solidFill>
                <a:latin typeface="Arial" charset="0"/>
                <a:ea typeface="ＭＳ Ｐゴシック" pitchFamily="34" charset="-128"/>
              </a:rPr>
              <a:t>To make matters worse… </a:t>
            </a:r>
          </a:p>
          <a:p>
            <a:pPr marL="0" indent="0" eaLnBrk="1">
              <a:buFontTx/>
              <a:buNone/>
              <a:defRPr/>
            </a:pPr>
            <a:r>
              <a:rPr lang="en-GB" sz="2000" dirty="0" smtClean="0">
                <a:solidFill>
                  <a:srgbClr val="002060"/>
                </a:solidFill>
                <a:latin typeface="Arial" charset="0"/>
                <a:ea typeface="ＭＳ Ｐゴシック" pitchFamily="34" charset="-128"/>
              </a:rPr>
              <a:t>Two small steps prevent wheel chair access to the lift!</a:t>
            </a:r>
          </a:p>
          <a:p>
            <a:pPr eaLnBrk="1">
              <a:defRPr/>
            </a:pPr>
            <a:endParaRPr lang="en-GB" sz="1000" dirty="0" smtClean="0">
              <a:solidFill>
                <a:srgbClr val="002060"/>
              </a:solidFill>
              <a:latin typeface="Arial" charset="0"/>
              <a:ea typeface="ＭＳ Ｐゴシック" pitchFamily="34" charset="-128"/>
            </a:endParaRPr>
          </a:p>
          <a:p>
            <a:pPr marL="0" indent="0" eaLnBrk="1">
              <a:buFontTx/>
              <a:buNone/>
              <a:defRPr/>
            </a:pPr>
            <a:r>
              <a:rPr lang="en-GB" sz="2000" dirty="0" smtClean="0">
                <a:solidFill>
                  <a:srgbClr val="002060"/>
                </a:solidFill>
                <a:latin typeface="Arial" charset="0"/>
                <a:ea typeface="ＭＳ Ｐゴシック" pitchFamily="34" charset="-128"/>
              </a:rPr>
              <a:t>When the lift company was questioned, the following solution was offered …</a:t>
            </a:r>
            <a:r>
              <a:rPr lang="en-GB" sz="2000" i="1" dirty="0" smtClean="0">
                <a:solidFill>
                  <a:srgbClr val="002060"/>
                </a:solidFill>
                <a:latin typeface="Arial" charset="0"/>
                <a:ea typeface="ＭＳ Ｐゴシック" pitchFamily="34" charset="-128"/>
              </a:rPr>
              <a:t>Install a second platform lift to over come the stairs!</a:t>
            </a:r>
          </a:p>
          <a:p>
            <a:pPr marL="0" indent="0" eaLnBrk="1">
              <a:buFontTx/>
              <a:buNone/>
              <a:defRPr/>
            </a:pPr>
            <a:endParaRPr lang="en-GB" sz="2000" dirty="0" smtClean="0">
              <a:solidFill>
                <a:srgbClr val="002060"/>
              </a:solidFill>
              <a:latin typeface="Arial" charset="0"/>
              <a:ea typeface="ＭＳ Ｐゴシック" pitchFamily="34" charset="-128"/>
            </a:endParaRPr>
          </a:p>
          <a:p>
            <a:pPr eaLnBrk="1">
              <a:defRPr/>
            </a:pPr>
            <a:r>
              <a:rPr lang="en-GB" sz="2000" dirty="0" smtClean="0">
                <a:solidFill>
                  <a:srgbClr val="002060"/>
                </a:solidFill>
                <a:latin typeface="Arial" charset="0"/>
                <a:ea typeface="ＭＳ Ｐゴシック" pitchFamily="34" charset="-128"/>
              </a:rPr>
              <a:t>It </a:t>
            </a:r>
            <a:r>
              <a:rPr lang="en-GB" sz="2000" dirty="0">
                <a:solidFill>
                  <a:srgbClr val="002060"/>
                </a:solidFill>
                <a:latin typeface="Arial" charset="0"/>
                <a:ea typeface="ＭＳ Ｐゴシック" pitchFamily="34" charset="-128"/>
              </a:rPr>
              <a:t>is essential that the access route to and from the lift is considered before a conversion of this type </a:t>
            </a:r>
            <a:r>
              <a:rPr lang="en-GB" sz="2000" dirty="0" smtClean="0">
                <a:solidFill>
                  <a:srgbClr val="002060"/>
                </a:solidFill>
                <a:latin typeface="Arial" charset="0"/>
                <a:ea typeface="ＭＳ Ｐゴシック" pitchFamily="34" charset="-128"/>
              </a:rPr>
              <a:t>is carried out</a:t>
            </a:r>
            <a:endParaRPr lang="en-GB" sz="2000" dirty="0">
              <a:solidFill>
                <a:srgbClr val="002060"/>
              </a:solidFill>
              <a:latin typeface="Arial" charset="0"/>
              <a:ea typeface="ＭＳ Ｐゴシック" pitchFamily="34" charset="-128"/>
            </a:endParaRPr>
          </a:p>
          <a:p>
            <a:pPr eaLnBrk="1">
              <a:defRPr/>
            </a:pPr>
            <a:r>
              <a:rPr lang="en-GB" sz="2000" dirty="0">
                <a:solidFill>
                  <a:srgbClr val="002060"/>
                </a:solidFill>
                <a:latin typeface="Arial" charset="0"/>
                <a:ea typeface="ＭＳ Ｐゴシック" pitchFamily="34" charset="-128"/>
              </a:rPr>
              <a:t>Must remember to consider building fabric and access to the lift</a:t>
            </a:r>
          </a:p>
          <a:p>
            <a:pPr eaLnBrk="1">
              <a:defRPr/>
            </a:pPr>
            <a:endParaRPr lang="en-GB" sz="2000" dirty="0" smtClean="0">
              <a:solidFill>
                <a:srgbClr val="002060"/>
              </a:solidFill>
              <a:latin typeface="Arial" charset="0"/>
              <a:ea typeface="ＭＳ Ｐゴシック"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par>
                                <p:cTn id="13" presetID="3" presetClass="emph" presetSubtype="2" fill="hold" nodeType="withEffect">
                                  <p:stCondLst>
                                    <p:cond delay="0"/>
                                  </p:stCondLst>
                                  <p:childTnLst>
                                    <p:animClr clrSpc="rgb" dir="cw">
                                      <p:cBhvr override="childStyle">
                                        <p:cTn id="14" dur="500" fill="hold"/>
                                        <p:tgtEl>
                                          <p:spTgt spid="4">
                                            <p:txEl>
                                              <p:pRg st="0" end="0"/>
                                            </p:txEl>
                                          </p:spTgt>
                                        </p:tgtEl>
                                        <p:attrNameLst>
                                          <p:attrName>style.color</p:attrName>
                                        </p:attrNameLst>
                                      </p:cBhvr>
                                      <p:to>
                                        <a:srgbClr val="777777"/>
                                      </p:to>
                                    </p:animClr>
                                  </p:childTnLst>
                                </p:cTn>
                              </p:par>
                              <p:par>
                                <p:cTn id="15" presetID="3" presetClass="emph" presetSubtype="2" fill="hold" nodeType="withEffect">
                                  <p:stCondLst>
                                    <p:cond delay="0"/>
                                  </p:stCondLst>
                                  <p:childTnLst>
                                    <p:animClr clrSpc="rgb" dir="cw">
                                      <p:cBhvr override="childStyle">
                                        <p:cTn id="16" dur="500" fill="hold"/>
                                        <p:tgtEl>
                                          <p:spTgt spid="4">
                                            <p:txEl>
                                              <p:pRg st="1" end="1"/>
                                            </p:txEl>
                                          </p:spTgt>
                                        </p:tgtEl>
                                        <p:attrNameLst>
                                          <p:attrName>style.color</p:attrName>
                                        </p:attrNameLst>
                                      </p:cBhvr>
                                      <p:to>
                                        <a:srgbClr val="777777"/>
                                      </p:to>
                                    </p:animClr>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3" presetClass="emph" presetSubtype="2" fill="hold" nodeType="withEffect">
                                  <p:stCondLst>
                                    <p:cond delay="0"/>
                                  </p:stCondLst>
                                  <p:childTnLst>
                                    <p:animClr clrSpc="rgb" dir="cw">
                                      <p:cBhvr override="childStyle">
                                        <p:cTn id="23" dur="500" fill="hold"/>
                                        <p:tgtEl>
                                          <p:spTgt spid="4">
                                            <p:txEl>
                                              <p:pRg st="3" end="3"/>
                                            </p:txEl>
                                          </p:spTgt>
                                        </p:tgtEl>
                                        <p:attrNameLst>
                                          <p:attrName>style.color</p:attrName>
                                        </p:attrNameLst>
                                      </p:cBhvr>
                                      <p:to>
                                        <a:srgbClr val="777777"/>
                                      </p:to>
                                    </p:animClr>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500"/>
                                        <p:tgtEl>
                                          <p:spTgt spid="4">
                                            <p:txEl>
                                              <p:pRg st="6" end="6"/>
                                            </p:txEl>
                                          </p:spTgt>
                                        </p:tgtEl>
                                      </p:cBhvr>
                                    </p:animEffect>
                                  </p:childTnLst>
                                </p:cTn>
                              </p:par>
                              <p:par>
                                <p:cTn id="29" presetID="3" presetClass="emph" presetSubtype="2" fill="hold" nodeType="withEffect">
                                  <p:stCondLst>
                                    <p:cond delay="0"/>
                                  </p:stCondLst>
                                  <p:childTnLst>
                                    <p:animClr clrSpc="rgb" dir="cw">
                                      <p:cBhvr override="childStyle">
                                        <p:cTn id="30" dur="500" fill="hold"/>
                                        <p:tgtEl>
                                          <p:spTgt spid="4">
                                            <p:txEl>
                                              <p:pRg st="5" end="5"/>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txBox="1">
            <a:spLocks noGrp="1"/>
          </p:cNvSpPr>
          <p:nvPr>
            <p:ph type="title"/>
          </p:nvPr>
        </p:nvSpPr>
        <p:spPr>
          <a:xfrm>
            <a:off x="0" y="1414463"/>
            <a:ext cx="8748713" cy="574675"/>
          </a:xfrm>
        </p:spPr>
        <p:txBody>
          <a:bodyPr/>
          <a:lstStyle/>
          <a:p>
            <a:pPr eaLnBrk="1"/>
            <a:r>
              <a:rPr lang="en-GB" b="1" smtClean="0">
                <a:solidFill>
                  <a:srgbClr val="002060"/>
                </a:solidFill>
                <a:latin typeface="Arial" charset="0"/>
                <a:ea typeface="ＭＳ Ｐゴシック" pitchFamily="34" charset="-128"/>
              </a:rPr>
              <a:t>Case Study</a:t>
            </a:r>
          </a:p>
        </p:txBody>
      </p:sp>
      <p:sp>
        <p:nvSpPr>
          <p:cNvPr id="16387" name="Content Placeholder 2"/>
          <p:cNvSpPr txBox="1">
            <a:spLocks noGrp="1"/>
          </p:cNvSpPr>
          <p:nvPr>
            <p:ph idx="1"/>
          </p:nvPr>
        </p:nvSpPr>
        <p:spPr>
          <a:xfrm>
            <a:off x="539750" y="1989138"/>
            <a:ext cx="7843838" cy="3887787"/>
          </a:xfrm>
        </p:spPr>
        <p:txBody>
          <a:bodyPr/>
          <a:lstStyle/>
          <a:p>
            <a:pPr algn="ctr" eaLnBrk="1">
              <a:spcBef>
                <a:spcPts val="1200"/>
              </a:spcBef>
              <a:buFontTx/>
              <a:buNone/>
            </a:pPr>
            <a:r>
              <a:rPr lang="en-GB" sz="2000" smtClean="0">
                <a:solidFill>
                  <a:srgbClr val="002060"/>
                </a:solidFill>
                <a:latin typeface="Arial" charset="0"/>
                <a:ea typeface="ＭＳ Ｐゴシック" pitchFamily="34" charset="-128"/>
              </a:rPr>
              <a:t>The lift installation must not be taken in isolation as it is not suitable if access to the lift is prohibitive.</a:t>
            </a:r>
          </a:p>
          <a:p>
            <a:pPr eaLnBrk="1">
              <a:spcBef>
                <a:spcPts val="500"/>
              </a:spcBef>
            </a:pPr>
            <a:endParaRPr lang="en-GB" sz="2400" smtClean="0">
              <a:solidFill>
                <a:srgbClr val="002060"/>
              </a:solidFill>
              <a:latin typeface="Arial" charset="0"/>
              <a:ea typeface="ＭＳ Ｐゴシック" pitchFamily="34" charset="-128"/>
              <a:cs typeface="Arial" charset="0"/>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a:p>
            <a:pPr eaLnBrk="1"/>
            <a:endParaRPr lang="en-GB" smtClean="0">
              <a:solidFill>
                <a:srgbClr val="002060"/>
              </a:solidFill>
              <a:latin typeface="Arial" charset="0"/>
              <a:ea typeface="ＭＳ Ｐゴシック" pitchFamily="34" charset="-128"/>
            </a:endParaRPr>
          </a:p>
        </p:txBody>
      </p:sp>
      <p:pic>
        <p:nvPicPr>
          <p:cNvPr id="16388" name="Picture 2" descr="C:\Users\gregoryh\Documents\Projects\Completed\Norwich House Leicester\DSCF0950.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187450" y="2852738"/>
            <a:ext cx="6480175"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fade">
                                      <p:cBhvr>
                                        <p:cTn id="7" dur="500"/>
                                        <p:tgtEl>
                                          <p:spTgt spid="1638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88"/>
                                        </p:tgtEl>
                                        <p:attrNameLst>
                                          <p:attrName>style.visibility</p:attrName>
                                        </p:attrNameLst>
                                      </p:cBhvr>
                                      <p:to>
                                        <p:strVal val="visible"/>
                                      </p:to>
                                    </p:set>
                                    <p:animEffect transition="in" filter="fade">
                                      <p:cBhvr>
                                        <p:cTn id="10" dur="500"/>
                                        <p:tgtEl>
                                          <p:spTgt spid="16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txBox="1">
            <a:spLocks noGrp="1"/>
          </p:cNvSpPr>
          <p:nvPr>
            <p:ph type="title"/>
          </p:nvPr>
        </p:nvSpPr>
        <p:spPr>
          <a:xfrm>
            <a:off x="0" y="1443038"/>
            <a:ext cx="8748713" cy="762000"/>
          </a:xfrm>
        </p:spPr>
        <p:txBody>
          <a:bodyPr/>
          <a:lstStyle/>
          <a:p>
            <a:pPr eaLnBrk="1"/>
            <a:r>
              <a:rPr lang="en-GB" b="1" smtClean="0">
                <a:solidFill>
                  <a:srgbClr val="002060"/>
                </a:solidFill>
                <a:latin typeface="Arial" charset="0"/>
                <a:ea typeface="ＭＳ Ｐゴシック" pitchFamily="34" charset="-128"/>
              </a:rPr>
              <a:t>Equality Act 2010</a:t>
            </a:r>
            <a:endParaRPr lang="en-GB" smtClean="0">
              <a:solidFill>
                <a:srgbClr val="002060"/>
              </a:solidFill>
              <a:latin typeface="Arial" charset="0"/>
              <a:ea typeface="ＭＳ Ｐゴシック" pitchFamily="34" charset="-128"/>
            </a:endParaRPr>
          </a:p>
        </p:txBody>
      </p:sp>
      <p:sp>
        <p:nvSpPr>
          <p:cNvPr id="3" name="Content Placeholder 2"/>
          <p:cNvSpPr txBox="1">
            <a:spLocks noGrp="1"/>
          </p:cNvSpPr>
          <p:nvPr>
            <p:ph idx="1"/>
          </p:nvPr>
        </p:nvSpPr>
        <p:spPr>
          <a:xfrm>
            <a:off x="539750" y="2420938"/>
            <a:ext cx="7918450" cy="3675062"/>
          </a:xfrm>
        </p:spPr>
        <p:txBody>
          <a:bodyPr/>
          <a:lstStyle/>
          <a:p>
            <a:pPr marL="0" indent="0">
              <a:buFontTx/>
              <a:buNone/>
              <a:defRPr/>
            </a:pPr>
            <a:r>
              <a:rPr lang="en-GB" sz="2000" dirty="0">
                <a:solidFill>
                  <a:srgbClr val="002060"/>
                </a:solidFill>
              </a:rPr>
              <a:t>The Equality Act 2010 requires that service providers must think ahead and take steps to address barriers that impede disabled people. In doing this, it is a good idea to consider the range of disabilities that your actual or potential service users might </a:t>
            </a:r>
            <a:r>
              <a:rPr lang="en-GB" sz="2000" dirty="0" smtClean="0">
                <a:solidFill>
                  <a:srgbClr val="002060"/>
                </a:solidFill>
              </a:rPr>
              <a:t>have.</a:t>
            </a:r>
          </a:p>
          <a:p>
            <a:pPr marL="0" indent="0">
              <a:buFontTx/>
              <a:buNone/>
              <a:defRPr/>
            </a:pPr>
            <a:endParaRPr lang="en-GB" sz="2000" dirty="0" smtClean="0">
              <a:solidFill>
                <a:srgbClr val="002060"/>
              </a:solidFill>
            </a:endParaRPr>
          </a:p>
          <a:p>
            <a:pPr marL="0" indent="0">
              <a:buFontTx/>
              <a:buNone/>
              <a:defRPr/>
            </a:pPr>
            <a:r>
              <a:rPr lang="en-GB" sz="2000" dirty="0" smtClean="0">
                <a:solidFill>
                  <a:srgbClr val="002060"/>
                </a:solidFill>
              </a:rPr>
              <a:t>You </a:t>
            </a:r>
            <a:r>
              <a:rPr lang="en-GB" sz="2000" dirty="0">
                <a:solidFill>
                  <a:srgbClr val="002060"/>
                </a:solidFill>
              </a:rPr>
              <a:t>should not wait until a disabled person experiences difficulties using a service, as this may make it too late to make the necessary adjustment.</a:t>
            </a:r>
          </a:p>
          <a:p>
            <a:pPr eaLnBrk="1">
              <a:defRPr/>
            </a:pPr>
            <a:endParaRPr lang="en-GB" sz="2000" dirty="0" smtClean="0">
              <a:solidFill>
                <a:srgbClr val="002060"/>
              </a:solidFill>
              <a:latin typeface="Arial" charset="0"/>
              <a:ea typeface="ＭＳ Ｐゴシック"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3" presetClass="emph" presetSubtype="2" fill="hold" nodeType="withEffect">
                                  <p:stCondLst>
                                    <p:cond delay="0"/>
                                  </p:stCondLst>
                                  <p:childTnLst>
                                    <p:animClr clrSpc="rgb" dir="cw">
                                      <p:cBhvr override="childStyle">
                                        <p:cTn id="14" dur="500" fill="hold"/>
                                        <p:tgtEl>
                                          <p:spTgt spid="3">
                                            <p:txEl>
                                              <p:pRg st="0" end="0"/>
                                            </p:txEl>
                                          </p:spTgt>
                                        </p:tgtEl>
                                        <p:attrNameLst>
                                          <p:attrName>style.color</p:attrName>
                                        </p:attrNameLst>
                                      </p:cBhvr>
                                      <p:to>
                                        <a:srgbClr val="777777"/>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ank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95959B1DD8A71439D60AD30FD28526C" ma:contentTypeVersion="0" ma:contentTypeDescription="Create a new document." ma:contentTypeScope="" ma:versionID="bc2c76b0acf67e4abbfd9ff0818b84d3">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F9C56A-BCBB-4AC7-B4D8-36EB34A2EC28}">
  <ds:schemaRefs>
    <ds:schemaRef ds:uri="http://purl.org/dc/dcmitype/"/>
    <ds:schemaRef ds:uri="http://schemas.microsoft.com/office/2006/metadata/properties"/>
    <ds:schemaRef ds:uri="http://schemas.openxmlformats.org/package/2006/metadata/core-properties"/>
    <ds:schemaRef ds:uri="http://purl.org/dc/terms/"/>
    <ds:schemaRef ds:uri="http://schemas.microsoft.com/office/2006/documentManagement/types"/>
    <ds:schemaRef ds:uri="http://purl.org/dc/elements/1.1/"/>
    <ds:schemaRef ds:uri="http://www.w3.org/XML/1998/namespace"/>
    <ds:schemaRef ds:uri="http://schemas.microsoft.com/office/infopath/2007/PartnerControls"/>
  </ds:schemaRefs>
</ds:datastoreItem>
</file>

<file path=customXml/itemProps2.xml><?xml version="1.0" encoding="utf-8"?>
<ds:datastoreItem xmlns:ds="http://schemas.openxmlformats.org/officeDocument/2006/customXml" ds:itemID="{DE47ABDE-92E7-4E04-952C-E029C52CE4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8FC1CE68-66AA-44B8-8F2F-7FD94AFB26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1037</TotalTime>
  <Words>1002</Words>
  <Application>Microsoft Office PowerPoint</Application>
  <PresentationFormat>On-screen Show (4:3)</PresentationFormat>
  <Paragraphs>147</Paragraphs>
  <Slides>17</Slides>
  <Notes>0</Notes>
  <HiddenSlides>0</HiddenSlides>
  <MMClips>1</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Blank Presentation</vt:lpstr>
      <vt:lpstr>The Equality Act 2010 and  Accessibility of lifts for disabled users</vt:lpstr>
      <vt:lpstr>The Equality Act 2010 and  Accessibility of lifts for disabled users</vt:lpstr>
      <vt:lpstr>The Equality Act 2010 </vt:lpstr>
      <vt:lpstr>The Equality Act 2010 </vt:lpstr>
      <vt:lpstr>The Equality Act 2010 </vt:lpstr>
      <vt:lpstr>Accessibility at every stage</vt:lpstr>
      <vt:lpstr> </vt:lpstr>
      <vt:lpstr>Accessibility</vt:lpstr>
      <vt:lpstr>Accessibility</vt:lpstr>
      <vt:lpstr>PowerPoint Presentation</vt:lpstr>
      <vt:lpstr>PowerPoint Presentation</vt:lpstr>
      <vt:lpstr>Accessibility</vt:lpstr>
      <vt:lpstr>Case Study</vt:lpstr>
      <vt:lpstr>Case Study</vt:lpstr>
      <vt:lpstr>Case Study </vt:lpstr>
      <vt:lpstr>Case Study</vt:lpstr>
      <vt:lpstr>Equality Act 2010</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Disability Discrimination Act 1996</dc:title>
  <dc:creator>Stephen Fall</dc:creator>
  <cp:lastModifiedBy>Allan Jarvis</cp:lastModifiedBy>
  <cp:revision>86</cp:revision>
  <dcterms:created xsi:type="dcterms:W3CDTF">2011-09-25T14:48:42Z</dcterms:created>
  <dcterms:modified xsi:type="dcterms:W3CDTF">2012-04-16T14:34:53Z</dcterms:modified>
</cp:coreProperties>
</file>