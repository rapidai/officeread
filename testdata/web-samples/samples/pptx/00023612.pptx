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notesMasterIdLst>
    <p:notesMasterId r:id="rId23"/>
  </p:notesMasterIdLst>
  <p:handoutMasterIdLst>
    <p:handoutMasterId r:id="rId24"/>
  </p:handoutMasterIdLst>
  <p:sldIdLst>
    <p:sldId id="349" r:id="rId2"/>
    <p:sldId id="410" r:id="rId3"/>
    <p:sldId id="449" r:id="rId4"/>
    <p:sldId id="412" r:id="rId5"/>
    <p:sldId id="413" r:id="rId6"/>
    <p:sldId id="435" r:id="rId7"/>
    <p:sldId id="415" r:id="rId8"/>
    <p:sldId id="436" r:id="rId9"/>
    <p:sldId id="437" r:id="rId10"/>
    <p:sldId id="438" r:id="rId11"/>
    <p:sldId id="439" r:id="rId12"/>
    <p:sldId id="441" r:id="rId13"/>
    <p:sldId id="440" r:id="rId14"/>
    <p:sldId id="442" r:id="rId15"/>
    <p:sldId id="443" r:id="rId16"/>
    <p:sldId id="444" r:id="rId17"/>
    <p:sldId id="445" r:id="rId18"/>
    <p:sldId id="446" r:id="rId19"/>
    <p:sldId id="447" r:id="rId20"/>
    <p:sldId id="450" r:id="rId21"/>
    <p:sldId id="451" r:id="rId22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FFCCFF"/>
    <a:srgbClr val="112836"/>
    <a:srgbClr val="3C784C"/>
    <a:srgbClr val="BED5A7"/>
    <a:srgbClr val="A9BB93"/>
    <a:srgbClr val="3C3C3C"/>
    <a:srgbClr val="4D9961"/>
    <a:srgbClr val="52A467"/>
    <a:srgbClr val="56AA6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78" autoAdjust="0"/>
    <p:restoredTop sz="89571" autoAdjust="0"/>
  </p:normalViewPr>
  <p:slideViewPr>
    <p:cSldViewPr snapToGrid="0">
      <p:cViewPr>
        <p:scale>
          <a:sx n="70" d="100"/>
          <a:sy n="70" d="100"/>
        </p:scale>
        <p:origin x="-1530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-1938" y="-84"/>
      </p:cViewPr>
      <p:guideLst>
        <p:guide orient="horz" pos="2928"/>
        <p:guide pos="2208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-1" y="0"/>
            <a:ext cx="4412343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b="1" dirty="0" smtClean="0">
                <a:latin typeface="+mn-lt"/>
              </a:rPr>
              <a:t>Digital Coast Presentation for NGAC</a:t>
            </a:r>
            <a:endParaRPr lang="en-US" b="1" dirty="0">
              <a:latin typeface="+mn-l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6FBEB857-4C5D-4D76-AE7D-8D2EC64692BE}" type="datetimeFigureOut">
              <a:rPr lang="en-US" b="1">
                <a:latin typeface="+mn-lt"/>
              </a:rPr>
              <a:pPr>
                <a:defRPr/>
              </a:pPr>
              <a:t>3/18/2011</a:t>
            </a:fld>
            <a:endParaRPr lang="en-US" b="1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b="1" dirty="0" smtClean="0">
                <a:latin typeface="+mn-lt"/>
              </a:rPr>
              <a:t>NOAA Coastal Services Center</a:t>
            </a:r>
            <a:endParaRPr lang="en-US" b="1" dirty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B8103609-CB44-458F-9CB5-7E536DE81E3F}" type="slidenum">
              <a:rPr lang="en-US" b="1">
                <a:latin typeface="+mn-lt"/>
              </a:rPr>
              <a:pPr>
                <a:defRPr/>
              </a:pPr>
              <a:t>‹#›</a:t>
            </a:fld>
            <a:endParaRPr lang="en-US" b="1" dirty="0">
              <a:latin typeface="+mn-lt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8810171"/>
            <a:ext cx="7010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471714"/>
            <a:ext cx="7010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Planning for Coastal Resilience Using Green Infrastructure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17005DD-0970-4E88-8354-7EFEE41EAAF7}" type="datetimeFigureOut">
              <a:rPr lang="en-US"/>
              <a:pPr>
                <a:defRPr/>
              </a:pPr>
              <a:t>3/18/2011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NOAA Coastal Services Center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1F4D4AD-62A7-4E1E-B7A8-C8B7F021C2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Digital Coast Website</a:t>
            </a:r>
          </a:p>
          <a:p>
            <a:endParaRPr lang="en-US" dirty="0" smtClean="0"/>
          </a:p>
          <a:p>
            <a:pPr eaLnBrk="1" hangingPunct="1">
              <a:buFontTx/>
              <a:buChar char="•"/>
            </a:pPr>
            <a:r>
              <a:rPr lang="en-US" dirty="0" smtClean="0"/>
              <a:t>Provides effective and efficient access to coastal geospatial data, tools, training,  and case studies</a:t>
            </a:r>
          </a:p>
          <a:p>
            <a:pPr eaLnBrk="1" hangingPunct="1">
              <a:buFontTx/>
              <a:buChar char="•"/>
            </a:pPr>
            <a:r>
              <a:rPr lang="en-US" dirty="0" smtClean="0"/>
              <a:t>Facilitates linkages between elements to enhance utility and application</a:t>
            </a:r>
          </a:p>
          <a:p>
            <a:pPr eaLnBrk="1" hangingPunct="1">
              <a:buFontTx/>
              <a:buChar char="•"/>
            </a:pPr>
            <a:r>
              <a:rPr lang="en-US" dirty="0" smtClean="0"/>
              <a:t>Provides opportunity to demonstrate role of geospatial information in decision-making 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Planning for Coastal Resilience Using Green Infrastructure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8ED224A2-A9FB-472C-906E-EECF41C4D7DB}" type="datetime1">
              <a:rPr lang="en-US" smtClean="0"/>
              <a:pPr>
                <a:defRPr/>
              </a:pPr>
              <a:t>3/18/2011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 Coastal Services Center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A1F4D4AD-62A7-4E1E-B7A8-C8B7F021C207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/>
          <a:lstStyle>
            <a:lvl1pPr>
              <a:defRPr sz="4400">
                <a:solidFill>
                  <a:schemeClr val="bg1"/>
                </a:solidFill>
                <a:effectLst>
                  <a:outerShdw blurRad="50800" dist="38100" dir="5400000" algn="t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effectLst/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211456"/>
            <a:ext cx="2170113" cy="579438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4613"/>
            <a:ext cx="9143999" cy="1143000"/>
          </a:xfrm>
        </p:spPr>
        <p:txBody>
          <a:bodyPr/>
          <a:lstStyle>
            <a:lvl1pPr algn="ctr">
              <a:defRPr sz="44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buFont typeface="Arial" pitchFamily="34" charset="0"/>
              <a:buChar char="•"/>
              <a:defRPr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88229" y="74613"/>
            <a:ext cx="5241471" cy="1143000"/>
          </a:xfrm>
        </p:spPr>
        <p:txBody>
          <a:bodyPr/>
          <a:lstStyle>
            <a:lvl1pPr algn="l">
              <a:defRPr sz="4400" b="0">
                <a:solidFill>
                  <a:srgbClr val="3C3C3C"/>
                </a:solidFill>
              </a:defRPr>
            </a:lvl1pPr>
          </a:lstStyle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8228" y="1447800"/>
            <a:ext cx="4822371" cy="4152900"/>
          </a:xfrm>
        </p:spPr>
        <p:txBody>
          <a:bodyPr/>
          <a:lstStyle>
            <a:lvl1pPr algn="l">
              <a:buFont typeface="Arial" pitchFamily="34" charset="0"/>
              <a:buChar char="•"/>
              <a:defRPr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7" name="Straight Connector 4"/>
          <p:cNvCxnSpPr>
            <a:cxnSpLocks noChangeShapeType="1"/>
          </p:cNvCxnSpPr>
          <p:nvPr userDrawn="1"/>
        </p:nvCxnSpPr>
        <p:spPr bwMode="auto">
          <a:xfrm>
            <a:off x="3788229" y="878774"/>
            <a:ext cx="528864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5" name="Text Placeholder 14"/>
          <p:cNvSpPr>
            <a:spLocks noGrp="1"/>
          </p:cNvSpPr>
          <p:nvPr>
            <p:ph type="body" sz="quarter" idx="10"/>
          </p:nvPr>
        </p:nvSpPr>
        <p:spPr>
          <a:xfrm>
            <a:off x="3788229" y="895350"/>
            <a:ext cx="5241470" cy="323850"/>
          </a:xfrm>
        </p:spPr>
        <p:txBody>
          <a:bodyPr/>
          <a:lstStyle>
            <a:lvl1pPr algn="r">
              <a:defRPr sz="1800" b="0" i="1">
                <a:latin typeface="Cambria" pitchFamily="18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479" y="74613"/>
            <a:ext cx="5426921" cy="1143000"/>
          </a:xfrm>
        </p:spPr>
        <p:txBody>
          <a:bodyPr/>
          <a:lstStyle>
            <a:lvl1pPr algn="l">
              <a:defRPr sz="4400" b="0">
                <a:solidFill>
                  <a:srgbClr val="3C3C3C"/>
                </a:solidFill>
              </a:defRPr>
            </a:lvl1pPr>
          </a:lstStyle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260" y="1447800"/>
            <a:ext cx="5130140" cy="4152900"/>
          </a:xfrm>
        </p:spPr>
        <p:txBody>
          <a:bodyPr/>
          <a:lstStyle>
            <a:lvl1pPr algn="l">
              <a:buFont typeface="Arial" pitchFamily="34" charset="0"/>
              <a:buChar char="•"/>
              <a:defRPr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7" name="Straight Connector 4"/>
          <p:cNvCxnSpPr>
            <a:cxnSpLocks noChangeShapeType="1"/>
          </p:cNvCxnSpPr>
          <p:nvPr userDrawn="1"/>
        </p:nvCxnSpPr>
        <p:spPr bwMode="auto">
          <a:xfrm>
            <a:off x="59479" y="878774"/>
            <a:ext cx="5426921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5" name="Text Placeholder 14"/>
          <p:cNvSpPr>
            <a:spLocks noGrp="1"/>
          </p:cNvSpPr>
          <p:nvPr>
            <p:ph type="body" sz="quarter" idx="10"/>
          </p:nvPr>
        </p:nvSpPr>
        <p:spPr>
          <a:xfrm>
            <a:off x="59478" y="895350"/>
            <a:ext cx="5426921" cy="323850"/>
          </a:xfrm>
        </p:spPr>
        <p:txBody>
          <a:bodyPr/>
          <a:lstStyle>
            <a:lvl1pPr algn="r">
              <a:defRPr sz="1800" b="0" i="1">
                <a:latin typeface="Cambria" pitchFamily="18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3924300" cy="4152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447800"/>
            <a:ext cx="3924300" cy="4152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8"/>
            <a:ext cx="2286000" cy="53260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74638"/>
            <a:ext cx="6705600" cy="53260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274638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Headline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8001000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Subhead (if needed)</a:t>
            </a:r>
          </a:p>
          <a:p>
            <a:pPr lvl="1"/>
            <a:r>
              <a:rPr lang="en-US" dirty="0" smtClean="0"/>
              <a:t>Second Level (Body)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pic>
        <p:nvPicPr>
          <p:cNvPr id="11" name="Picture 2" descr="slogan_ww"/>
          <p:cNvPicPr>
            <a:picLocks noChangeAspect="1" noChangeArrowheads="1"/>
          </p:cNvPicPr>
          <p:nvPr userDrawn="1"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5584372" y="6232094"/>
            <a:ext cx="3073400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srgbClr val="3C3C3C">
                <a:alpha val="40000"/>
              </a:srgbClr>
            </a:outerShdw>
          </a:effectLst>
        </p:spPr>
      </p:pic>
      <p:pic>
        <p:nvPicPr>
          <p:cNvPr id="13" name="Picture 4"/>
          <p:cNvPicPr>
            <a:picLocks noChangeAspect="1" noChangeArrowheads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457200" y="6211456"/>
            <a:ext cx="2170113" cy="579438"/>
          </a:xfrm>
          <a:prstGeom prst="rect">
            <a:avLst/>
          </a:prstGeom>
          <a:noFill/>
          <a:ln w="222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51" r:id="rId2"/>
    <p:sldLayoutId id="2147483963" r:id="rId3"/>
    <p:sldLayoutId id="2147483964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  <p:sldLayoutId id="2147483959" r:id="rId12"/>
    <p:sldLayoutId id="2147483960" r:id="rId13"/>
    <p:sldLayoutId id="2147483961" r:id="rId14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defRPr sz="3200" b="1">
          <a:solidFill>
            <a:schemeClr val="bg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bg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bg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hyperlink" Target="http://www.nature.org/?src=logo" TargetMode="External"/><Relationship Id="rId7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96050"/>
            <a:ext cx="9144000" cy="1740931"/>
          </a:xfrm>
        </p:spPr>
        <p:txBody>
          <a:bodyPr/>
          <a:lstStyle/>
          <a:p>
            <a:r>
              <a:rPr lang="en-US" sz="4800" b="0" dirty="0" smtClean="0">
                <a:solidFill>
                  <a:schemeClr val="bg1"/>
                </a:solidFill>
              </a:rPr>
              <a:t>Digital Coast:</a:t>
            </a:r>
            <a:r>
              <a:rPr lang="en-US" sz="4400" b="0" dirty="0" smtClean="0">
                <a:solidFill>
                  <a:schemeClr val="bg1"/>
                </a:solidFill>
              </a:rPr>
              <a:t/>
            </a:r>
            <a:br>
              <a:rPr lang="en-US" sz="4400" b="0" dirty="0" smtClean="0">
                <a:solidFill>
                  <a:schemeClr val="bg1"/>
                </a:solidFill>
              </a:rPr>
            </a:br>
            <a:r>
              <a:rPr lang="en-US" sz="3200" b="0" dirty="0" smtClean="0"/>
              <a:t>Facilitating Coastal Data Sharing and Collaboration</a:t>
            </a:r>
            <a:endParaRPr lang="en-US" sz="3200" b="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5013" y="4111825"/>
            <a:ext cx="8229600" cy="1752600"/>
          </a:xfrm>
        </p:spPr>
        <p:txBody>
          <a:bodyPr/>
          <a:lstStyle/>
          <a:p>
            <a:r>
              <a:rPr lang="en-US" sz="2400" b="0" dirty="0" smtClean="0">
                <a:solidFill>
                  <a:schemeClr val="bg1"/>
                </a:solidFill>
                <a:effectLst/>
              </a:rPr>
              <a:t>Joshua Murphy </a:t>
            </a:r>
          </a:p>
          <a:p>
            <a:r>
              <a:rPr lang="en-US" sz="2400" b="0" dirty="0" smtClean="0">
                <a:solidFill>
                  <a:schemeClr val="bg1"/>
                </a:solidFill>
                <a:effectLst/>
              </a:rPr>
              <a:t>NOAA Coastal Services Center</a:t>
            </a:r>
          </a:p>
          <a:p>
            <a:r>
              <a:rPr lang="en-US" sz="2400" b="0" dirty="0" smtClean="0">
                <a:solidFill>
                  <a:schemeClr val="bg1"/>
                </a:solidFill>
                <a:effectLst/>
              </a:rPr>
              <a:t>March 18, 2011</a:t>
            </a:r>
          </a:p>
          <a:p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/>
              <a:t>Digital Coast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6550"/>
            <a:ext cx="8001000" cy="4152900"/>
          </a:xfrm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b="1" dirty="0" smtClean="0"/>
              <a:t>Approach:</a:t>
            </a:r>
            <a:r>
              <a:rPr lang="en-US" dirty="0" smtClean="0"/>
              <a:t> Bring the geospatial and coastal management communities together</a:t>
            </a:r>
          </a:p>
          <a:p>
            <a:pPr eaLnBrk="1" hangingPunct="1">
              <a:buFontTx/>
              <a:buChar char="•"/>
            </a:pPr>
            <a:endParaRPr lang="en-US" dirty="0" smtClean="0"/>
          </a:p>
          <a:p>
            <a:pPr eaLnBrk="1" hangingPunct="1">
              <a:buFontTx/>
              <a:buChar char="•"/>
            </a:pPr>
            <a:r>
              <a:rPr lang="en-US" b="1" dirty="0" smtClean="0"/>
              <a:t>Outcome:</a:t>
            </a:r>
            <a:r>
              <a:rPr lang="en-US" dirty="0" smtClean="0"/>
              <a:t> A constituent-driven, integrated, enabling platform supporting coastal resource management</a:t>
            </a:r>
          </a:p>
          <a:p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Addressing Geospatial Barriers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475" y="1436914"/>
            <a:ext cx="8001000" cy="3795651"/>
          </a:xfrm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dirty="0" smtClean="0"/>
              <a:t>Coastal data </a:t>
            </a:r>
          </a:p>
          <a:p>
            <a:pPr eaLnBrk="1" hangingPunct="1">
              <a:buFontTx/>
              <a:buChar char="•"/>
            </a:pPr>
            <a:r>
              <a:rPr lang="en-US" dirty="0" smtClean="0"/>
              <a:t>Data accessibility</a:t>
            </a:r>
          </a:p>
          <a:p>
            <a:pPr eaLnBrk="1" hangingPunct="1">
              <a:buFontTx/>
              <a:buChar char="•"/>
            </a:pPr>
            <a:r>
              <a:rPr lang="en-US" dirty="0" smtClean="0"/>
              <a:t>Intergovernmental coordination</a:t>
            </a:r>
          </a:p>
          <a:p>
            <a:pPr eaLnBrk="1" hangingPunct="1">
              <a:buFontTx/>
              <a:buChar char="•"/>
            </a:pPr>
            <a:r>
              <a:rPr lang="en-US" dirty="0" smtClean="0"/>
              <a:t>Techie and non-techie tools</a:t>
            </a:r>
          </a:p>
          <a:p>
            <a:pPr eaLnBrk="1" hangingPunct="1">
              <a:buFontTx/>
              <a:buChar char="•"/>
            </a:pPr>
            <a:r>
              <a:rPr lang="en-US" dirty="0" smtClean="0"/>
              <a:t>Training</a:t>
            </a:r>
          </a:p>
          <a:p>
            <a:pPr eaLnBrk="1" hangingPunct="1">
              <a:buFontTx/>
              <a:buChar char="•"/>
            </a:pPr>
            <a:r>
              <a:rPr lang="en-US" dirty="0" smtClean="0"/>
              <a:t>Case studies</a:t>
            </a:r>
          </a:p>
          <a:p>
            <a:pPr eaLnBrk="1" hangingPunct="1">
              <a:buFontTx/>
              <a:buChar char="•"/>
            </a:pPr>
            <a:r>
              <a:rPr lang="en-US" dirty="0" smtClean="0"/>
              <a:t>Outreach and awareness</a:t>
            </a:r>
          </a:p>
          <a:p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1151906"/>
            <a:ext cx="9144000" cy="49401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Supporting Data Stewardship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60667" y="1294417"/>
            <a:ext cx="6222670" cy="4061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ight Brace 6"/>
          <p:cNvSpPr/>
          <p:nvPr/>
        </p:nvSpPr>
        <p:spPr>
          <a:xfrm rot="5400000">
            <a:off x="5438907" y="4298867"/>
            <a:ext cx="391887" cy="2386939"/>
          </a:xfrm>
          <a:prstGeom prst="rightBrace">
            <a:avLst/>
          </a:prstGeom>
          <a:noFill/>
          <a:ln w="38100">
            <a:solidFill>
              <a:srgbClr val="1128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690763" y="5700153"/>
            <a:ext cx="1958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DIGITAL COAST</a:t>
            </a:r>
            <a:endParaRPr lang="en-US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C:\Users\William Burgess\AppData\Local\Microsoft\Windows\Temporary Internet Files\Content.IE5\F9E3Y80V\MPj04424320000[1].jpg"/>
          <p:cNvPicPr>
            <a:picLocks noChangeAspect="1" noChangeArrowheads="1"/>
          </p:cNvPicPr>
          <p:nvPr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lum bright="10000"/>
          </a:blip>
          <a:srcRect/>
          <a:stretch>
            <a:fillRect/>
          </a:stretch>
        </p:blipFill>
        <p:spPr bwMode="auto">
          <a:xfrm>
            <a:off x="0" y="1306289"/>
            <a:ext cx="9144000" cy="4667869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Digital Coast Partnership</a:t>
            </a:r>
            <a:endParaRPr lang="en-US" dirty="0"/>
          </a:p>
        </p:txBody>
      </p:sp>
      <p:pic>
        <p:nvPicPr>
          <p:cNvPr id="6" name="Picture 4" descr="The Nature Conservancy - Protecting nature, Preserving Life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94302" y="4149932"/>
            <a:ext cx="2138363" cy="838200"/>
          </a:xfrm>
          <a:prstGeom prst="rect">
            <a:avLst/>
          </a:prstGeom>
          <a:noFill/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Group 9"/>
          <p:cNvGrpSpPr/>
          <p:nvPr/>
        </p:nvGrpSpPr>
        <p:grpSpPr>
          <a:xfrm>
            <a:off x="733302" y="3578432"/>
            <a:ext cx="1524000" cy="1371600"/>
            <a:chOff x="3733800" y="2667000"/>
            <a:chExt cx="1676400" cy="1600200"/>
          </a:xfrm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ctangle 7"/>
            <p:cNvSpPr/>
            <p:nvPr/>
          </p:nvSpPr>
          <p:spPr>
            <a:xfrm>
              <a:off x="3733800" y="2667000"/>
              <a:ext cx="1676400" cy="1600200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9" name="Picture 8" descr="logo 3 w-text.jpg"/>
            <p:cNvPicPr>
              <a:picLocks noChangeAspect="1"/>
            </p:cNvPicPr>
            <p:nvPr/>
          </p:nvPicPr>
          <p:blipFill>
            <a:blip r:embed="rId5" cstate="screen"/>
            <a:stretch>
              <a:fillRect/>
            </a:stretch>
          </p:blipFill>
          <p:spPr>
            <a:xfrm>
              <a:off x="3848100" y="2731008"/>
              <a:ext cx="1447800" cy="1395984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0" name="Picture 9" descr="Copy of large color CSO logo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36502" y="1698832"/>
            <a:ext cx="2028825" cy="1295400"/>
          </a:xfrm>
          <a:prstGeom prst="rect">
            <a:avLst/>
          </a:prstGeom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NACo_Logo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390902" y="1749632"/>
            <a:ext cx="2400300" cy="808038"/>
          </a:xfrm>
          <a:prstGeom prst="rect">
            <a:avLst/>
          </a:prstGeom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7" descr="ASFPM_logo.jpg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438902" y="2359232"/>
            <a:ext cx="1282700" cy="128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sx="104000" sy="104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2" descr="http://www.planning.org/image/sample_home_tile1.gif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870202" y="3349832"/>
            <a:ext cx="1219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5" descr="logo_PIT2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900549" y="5147953"/>
            <a:ext cx="30861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/>
              <a:t>Digital Coast Contributors</a:t>
            </a:r>
            <a:endParaRPr lang="en-US" sz="4800" dirty="0"/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609600" y="1418726"/>
            <a:ext cx="8001000" cy="4793702"/>
          </a:xfrm>
        </p:spPr>
        <p:txBody>
          <a:bodyPr numCol="2"/>
          <a:lstStyle/>
          <a:p>
            <a:pPr marL="0" indent="0" eaLnBrk="1" hangingPunct="1">
              <a:buNone/>
            </a:pPr>
            <a:r>
              <a:rPr lang="en-US" sz="1600" b="1" dirty="0" smtClean="0"/>
              <a:t>Mississippi State Coordinating Council           on Remote Sensing and GIS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NOAA National Geodetic Survey 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U.S. Army Corps of Engineers 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U.S. Geological Survey 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NASA/NOAA/USGS Airborne Lidar Assessment of Coastal Erosion (ALACE)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Federal Emergency Management Agency 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National Geospatial-Intelligence Agency 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U.S. Department of Agriculture 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Northwest Florida Water                  Management District 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Southwest Florida Water                Management District 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St Johns River Water Management District </a:t>
            </a:r>
          </a:p>
          <a:p>
            <a:pPr marL="0" indent="0" eaLnBrk="1" hangingPunct="1">
              <a:buNone/>
            </a:pPr>
            <a:endParaRPr lang="en-US" sz="1600" b="1" dirty="0" smtClean="0"/>
          </a:p>
          <a:p>
            <a:pPr marL="0" indent="0" eaLnBrk="1" hangingPunct="1">
              <a:buNone/>
            </a:pPr>
            <a:endParaRPr lang="en-US" sz="1600" b="1" dirty="0" smtClean="0"/>
          </a:p>
          <a:p>
            <a:pPr marL="0" indent="0" eaLnBrk="1" hangingPunct="1">
              <a:buNone/>
            </a:pPr>
            <a:endParaRPr lang="en-US" sz="1600" b="1" dirty="0" smtClean="0"/>
          </a:p>
          <a:p>
            <a:pPr marL="0" indent="0" eaLnBrk="1" hangingPunct="1">
              <a:buNone/>
            </a:pPr>
            <a:endParaRPr lang="en-US" sz="1600" b="1" dirty="0" smtClean="0"/>
          </a:p>
          <a:p>
            <a:pPr marL="0" indent="0" eaLnBrk="1" hangingPunct="1">
              <a:buNone/>
            </a:pPr>
            <a:endParaRPr lang="en-US" sz="1600" b="1" dirty="0" smtClean="0"/>
          </a:p>
          <a:p>
            <a:pPr marL="0" indent="0" eaLnBrk="1" hangingPunct="1">
              <a:buNone/>
            </a:pPr>
            <a:r>
              <a:rPr lang="en-US" sz="1600" b="1" dirty="0" smtClean="0"/>
              <a:t>Maryland Department of Natural Resources 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Oregon Department of Geology                     and Mineral Resources 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Texas Natural Resources Information System 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Mississippi Department of               Environmental Quality 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Scripps Institute of Oceanography 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University of Texas 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Delaware Department of Natural Resources and Environmental Control 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South Carolina Department of                  Natural Resources 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Florida Division of Emergency Management 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Minnesota Department of Natural Resources </a:t>
            </a:r>
          </a:p>
          <a:p>
            <a:pPr marL="0" indent="0" eaLnBrk="1" hangingPunct="1">
              <a:buNone/>
            </a:pPr>
            <a:r>
              <a:rPr lang="en-US" sz="1600" b="1" dirty="0" smtClean="0"/>
              <a:t>Management Association for Private Photogrammetric Surveyors (MAPPS)</a:t>
            </a:r>
            <a:endParaRPr lang="en-US" sz="1800" b="1" dirty="0" smtClean="0"/>
          </a:p>
          <a:p>
            <a:pPr marL="0" indent="0" eaLnBrk="1" hangingPunct="1">
              <a:buNone/>
            </a:pPr>
            <a:r>
              <a:rPr lang="en-US" sz="1800" b="1" dirty="0" smtClean="0"/>
              <a:t> </a:t>
            </a:r>
          </a:p>
          <a:p>
            <a:pPr marL="0" indent="0" eaLnBrk="1" hangingPunct="1">
              <a:buNone/>
            </a:pPr>
            <a:endParaRPr lang="en-US" sz="1800" b="1" dirty="0" smtClean="0"/>
          </a:p>
          <a:p>
            <a:pPr marL="0" indent="0"/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r="1234" b="740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>
            <a:hlinkClick r:id="" action="ppaction://hlinkshowjump?jump=nextslide"/>
          </p:cNvPr>
          <p:cNvSpPr/>
          <p:nvPr/>
        </p:nvSpPr>
        <p:spPr>
          <a:xfrm>
            <a:off x="1104405" y="2576945"/>
            <a:ext cx="2280063" cy="5700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>
            <a:hlinkClick r:id="" action="ppaction://hlinkshowjump?jump=nextslide"/>
          </p:cNvPr>
          <p:cNvSpPr/>
          <p:nvPr/>
        </p:nvSpPr>
        <p:spPr>
          <a:xfrm>
            <a:off x="1971304" y="2185059"/>
            <a:ext cx="973777" cy="1781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hlinkClick r:id="" action="ppaction://hlinkshowjump?jump=nextslide"/>
          </p:cNvPr>
          <p:cNvSpPr/>
          <p:nvPr/>
        </p:nvSpPr>
        <p:spPr>
          <a:xfrm>
            <a:off x="1163782" y="4429496"/>
            <a:ext cx="5023263" cy="9737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r="1234" b="7407"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hlinkClick r:id="" action="ppaction://hlinkshowjump?jump=nextslide"/>
          </p:cNvPr>
          <p:cNvSpPr/>
          <p:nvPr/>
        </p:nvSpPr>
        <p:spPr>
          <a:xfrm>
            <a:off x="2624447" y="1508165"/>
            <a:ext cx="926275" cy="2968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hlinkClick r:id="" action="ppaction://hlinkshowjump?jump=nextslide"/>
          </p:cNvPr>
          <p:cNvSpPr/>
          <p:nvPr/>
        </p:nvSpPr>
        <p:spPr>
          <a:xfrm>
            <a:off x="1068779" y="5997039"/>
            <a:ext cx="5023263" cy="5700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6282048" y="5605153"/>
            <a:ext cx="1781298" cy="8075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7746" name="Picture 2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5546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4215742" y="1520041"/>
            <a:ext cx="1009401" cy="2731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080655" y="2208810"/>
            <a:ext cx="2565069" cy="5462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8194" name="Picture 2">
              <a:hlinkClick r:id="" action="ppaction://hlinkshowjump?jump=nextslide"/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 b="6250"/>
            <a:stretch>
              <a:fillRect/>
            </a:stretch>
          </p:blipFill>
          <p:spPr bwMode="auto">
            <a:xfrm>
              <a:off x="0" y="0"/>
              <a:ext cx="91440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" name="Rectangle 2"/>
            <p:cNvSpPr/>
            <p:nvPr/>
          </p:nvSpPr>
          <p:spPr>
            <a:xfrm>
              <a:off x="1574800" y="88900"/>
              <a:ext cx="120650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4833257" y="2196934"/>
            <a:ext cx="2565069" cy="5462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10242" name="Picture 2">
              <a:hlinkClick r:id="" action="ppaction://hlinkshowjump?jump=nextslide"/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 b="6250"/>
            <a:stretch>
              <a:fillRect/>
            </a:stretch>
          </p:blipFill>
          <p:spPr bwMode="auto">
            <a:xfrm>
              <a:off x="0" y="0"/>
              <a:ext cx="91440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60550" y="88900"/>
              <a:ext cx="95250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it’s Working</a:t>
            </a:r>
            <a:endParaRPr lang="en-US" dirty="0"/>
          </a:p>
        </p:txBody>
      </p:sp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538347" y="1281546"/>
            <a:ext cx="827314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800" dirty="0" smtClean="0">
                <a:latin typeface="Calibri" pitchFamily="34" charset="0"/>
              </a:rPr>
              <a:t>Making geospatial information accessible to all levels of technical proficiency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800" dirty="0" smtClean="0"/>
              <a:t>Focusing on outcomes, not just data access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800" dirty="0" smtClean="0"/>
              <a:t>Maintaining community-focused approach: listening and taking action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800" dirty="0" smtClean="0">
                <a:latin typeface="Calibri" pitchFamily="34" charset="0"/>
              </a:rPr>
              <a:t>Building relationships with federal agencies to facilitate transparency in government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800" dirty="0" smtClean="0"/>
              <a:t>Prioritized and targeted audience as resources allow</a:t>
            </a:r>
            <a:endParaRPr lang="en-US" sz="2800" dirty="0" smtClean="0">
              <a:latin typeface="Calibri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More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b="1" dirty="0" smtClean="0"/>
              <a:t>Visit</a:t>
            </a:r>
          </a:p>
          <a:p>
            <a:pPr algn="ctr">
              <a:buNone/>
            </a:pPr>
            <a:r>
              <a:rPr lang="en-US" dirty="0" smtClean="0"/>
              <a:t>http://www.csc.noaa.gov/digitalcoast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b="1" dirty="0" smtClean="0"/>
              <a:t>Or Contact</a:t>
            </a:r>
            <a:endParaRPr lang="en-US" dirty="0" smtClean="0"/>
          </a:p>
          <a:p>
            <a:pPr algn="ctr">
              <a:buNone/>
            </a:pPr>
            <a:r>
              <a:rPr lang="en-US" dirty="0" smtClean="0"/>
              <a:t>Miki Schmidt 843-740-1237</a:t>
            </a:r>
          </a:p>
          <a:p>
            <a:pPr algn="ctr">
              <a:buNone/>
            </a:pPr>
            <a:r>
              <a:rPr lang="en-US" dirty="0" smtClean="0"/>
              <a:t>Nicholas.schmidt@noaa.gov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ark Blue Background">
  <a:themeElements>
    <a:clrScheme name="Dark Blue 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rk Blue Backgroun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ark Blue Backgroun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k Blue Background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k Blue Background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k Blue Background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k Blue Background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k Blue Background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k Blue Background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k Blue Background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k Blue Background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k Blue Background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k Blue Background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k Blue Background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6202</TotalTime>
  <Words>303</Words>
  <Application>Microsoft Office PowerPoint</Application>
  <PresentationFormat>On-screen Show (4:3)</PresentationFormat>
  <Paragraphs>70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Dark Blue Background</vt:lpstr>
      <vt:lpstr>Digital Coast: Facilitating Coastal Data Sharing and Collaboration</vt:lpstr>
      <vt:lpstr>Digital Coast</vt:lpstr>
      <vt:lpstr>Addressing Geospatial Barriers</vt:lpstr>
      <vt:lpstr>Supporting Data Stewardship</vt:lpstr>
      <vt:lpstr>Digital Coast Partnership</vt:lpstr>
      <vt:lpstr>Digital Coast Contributors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Why it’s Working</vt:lpstr>
      <vt:lpstr>For More Information</vt:lpstr>
    </vt:vector>
  </TitlesOfParts>
  <Company>NOS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Infrastructure Network Design</dc:title>
  <dc:creator>lg</dc:creator>
  <cp:lastModifiedBy>Josh</cp:lastModifiedBy>
  <cp:revision>427</cp:revision>
  <dcterms:created xsi:type="dcterms:W3CDTF">2010-01-04T14:21:20Z</dcterms:created>
  <dcterms:modified xsi:type="dcterms:W3CDTF">2011-03-18T10:08:22Z</dcterms:modified>
</cp:coreProperties>
</file>