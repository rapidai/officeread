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2"/>
    <p:sldId id="272" r:id="rId3"/>
    <p:sldId id="258" r:id="rId4"/>
    <p:sldId id="263" r:id="rId5"/>
    <p:sldId id="273" r:id="rId6"/>
    <p:sldId id="274" r:id="rId7"/>
    <p:sldId id="269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ＭＳ Ｐゴシック" pitchFamily="34" charset="-128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939A"/>
    <a:srgbClr val="FFDB69"/>
    <a:srgbClr val="FFCD2D"/>
    <a:srgbClr val="FFDC6D"/>
    <a:srgbClr val="F0626C"/>
    <a:srgbClr val="FF5D5D"/>
    <a:srgbClr val="FFEFBD"/>
    <a:srgbClr val="8FD634"/>
    <a:srgbClr val="88C026"/>
    <a:srgbClr val="99CF23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210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E0249099-BC29-4438-8157-C0AA3CC32D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" charset="0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" pitchFamily="-107" charset="0"/>
                <a:ea typeface="ＭＳ Ｐゴシック" pitchFamily="-107" charset="-128"/>
              </a:defRPr>
            </a:lvl1pPr>
          </a:lstStyle>
          <a:p>
            <a:pPr>
              <a:defRPr/>
            </a:pPr>
            <a:fld id="{B0EF69ED-E82D-4DF1-9456-80B70FAE34D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ＭＳ Ｐゴシック" pitchFamily="-108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Ph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Logo.jpg"/>
          <p:cNvPicPr>
            <a:picLocks noChangeAspect="1"/>
          </p:cNvPicPr>
          <p:nvPr userDrawn="1"/>
        </p:nvPicPr>
        <p:blipFill>
          <a:blip r:embed="rId2"/>
          <a:srcRect l="6529" t="15623" r="3265" b="7813"/>
          <a:stretch>
            <a:fillRect/>
          </a:stretch>
        </p:blipFill>
        <p:spPr bwMode="auto">
          <a:xfrm>
            <a:off x="5181600" y="6019800"/>
            <a:ext cx="3802063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IMG_7571.jp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321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12" descr="upper_img_greenbars.pn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0" y="3200400"/>
            <a:ext cx="9144000" cy="85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17"/>
          <p:cNvSpPr>
            <a:spLocks noChangeArrowheads="1"/>
          </p:cNvSpPr>
          <p:nvPr userDrawn="1"/>
        </p:nvSpPr>
        <p:spPr bwMode="auto">
          <a:xfrm>
            <a:off x="0" y="2819400"/>
            <a:ext cx="9144000" cy="381000"/>
          </a:xfrm>
          <a:prstGeom prst="rect">
            <a:avLst/>
          </a:prstGeom>
          <a:solidFill>
            <a:srgbClr val="8FD634">
              <a:alpha val="14902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pPr eaLnBrk="0" hangingPunct="0">
              <a:defRPr/>
            </a:pPr>
            <a:endParaRPr lang="en-US">
              <a:latin typeface="Times" pitchFamily="-107" charset="0"/>
              <a:ea typeface="+mn-ea"/>
            </a:endParaRPr>
          </a:p>
        </p:txBody>
      </p:sp>
      <p:pic>
        <p:nvPicPr>
          <p:cNvPr id="7" name="Picture 9" descr="Library Rebrand Logo_Powerpoint.png"/>
          <p:cNvPicPr>
            <a:picLocks noChangeAspect="1"/>
          </p:cNvPicPr>
          <p:nvPr userDrawn="1"/>
        </p:nvPicPr>
        <p:blipFill>
          <a:blip r:embed="rId5"/>
          <a:srcRect/>
          <a:stretch>
            <a:fillRect/>
          </a:stretch>
        </p:blipFill>
        <p:spPr bwMode="auto">
          <a:xfrm>
            <a:off x="533400" y="4343400"/>
            <a:ext cx="31496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84648" y="4210050"/>
            <a:ext cx="3657600" cy="609600"/>
          </a:xfrm>
          <a:prstGeom prst="rect">
            <a:avLst/>
          </a:prstGeom>
        </p:spPr>
        <p:txBody>
          <a:bodyPr/>
          <a:lstStyle>
            <a:lvl1pPr>
              <a:defRPr sz="35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No Ph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Logo.jpg"/>
          <p:cNvPicPr>
            <a:picLocks noChangeAspect="1"/>
          </p:cNvPicPr>
          <p:nvPr userDrawn="1"/>
        </p:nvPicPr>
        <p:blipFill>
          <a:blip r:embed="rId2"/>
          <a:srcRect l="6529" t="15623" r="3265" b="7813"/>
          <a:stretch>
            <a:fillRect/>
          </a:stretch>
        </p:blipFill>
        <p:spPr bwMode="auto">
          <a:xfrm>
            <a:off x="5181600" y="6019800"/>
            <a:ext cx="3802063" cy="67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6" descr="Library Rebrand Logo_Powerpoint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533400" y="533400"/>
            <a:ext cx="3675063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012698" y="3562350"/>
            <a:ext cx="3657600" cy="609600"/>
          </a:xfrm>
          <a:prstGeom prst="rect">
            <a:avLst/>
          </a:prstGeom>
        </p:spPr>
        <p:txBody>
          <a:bodyPr/>
          <a:lstStyle>
            <a:lvl1pPr>
              <a:defRPr sz="35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UofS-GraphicElement2-BlockGlyph_Rotat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14338" y="838200"/>
            <a:ext cx="2714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6858000" cy="609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CA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7543800" cy="43434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B5B5B"/>
                </a:solidFill>
              </a:defRPr>
            </a:lvl1pPr>
            <a:lvl2pPr>
              <a:defRPr>
                <a:solidFill>
                  <a:srgbClr val="5B5B5B"/>
                </a:solidFill>
              </a:defRPr>
            </a:lvl2pPr>
            <a:lvl3pPr>
              <a:defRPr>
                <a:solidFill>
                  <a:srgbClr val="5B5B5B"/>
                </a:solidFill>
              </a:defRPr>
            </a:lvl3pPr>
            <a:lvl4pPr>
              <a:defRPr>
                <a:solidFill>
                  <a:srgbClr val="5B5B5B"/>
                </a:solidFill>
              </a:defRPr>
            </a:lvl4pPr>
            <a:lvl5pPr>
              <a:defRPr>
                <a:solidFill>
                  <a:srgbClr val="5B5B5B"/>
                </a:solidFill>
              </a:defRPr>
            </a:lvl5pPr>
          </a:lstStyle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upper_img_greenbars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723900" y="2914650"/>
            <a:ext cx="77724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ln>
            <a:noFill/>
          </a:ln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1288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CA" dirty="0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UofS-GraphicElement2-BlockGlyph_Rotat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14338" y="838200"/>
            <a:ext cx="2714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0262" y="1524000"/>
            <a:ext cx="3732213" cy="4495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4000"/>
            <a:ext cx="3733800" cy="4495800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6858000" cy="609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CA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UofS-GraphicElement2-BlockGlyph_Rotat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14338" y="838200"/>
            <a:ext cx="2714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0392" y="1343025"/>
            <a:ext cx="3749040" cy="725487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7723" y="2068512"/>
            <a:ext cx="374904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38676" y="1352550"/>
            <a:ext cx="3749040" cy="715962"/>
          </a:xfrm>
          <a:prstGeom prst="rect">
            <a:avLst/>
          </a:prstGeom>
        </p:spPr>
        <p:txBody>
          <a:bodyPr anchor="t" anchorCtr="0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CA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38676" y="2068512"/>
            <a:ext cx="3749040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850392" y="685800"/>
            <a:ext cx="6858000" cy="609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CA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UofS-GraphicElement2-BlockGlyph_Rotat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14338" y="838200"/>
            <a:ext cx="2714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6858000" cy="609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CA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UofS-GraphicElement2-BlockGlyph_Rotat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414338" y="838200"/>
            <a:ext cx="2714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362075"/>
            <a:ext cx="4873625" cy="47640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 dirty="0" smtClean="0"/>
              <a:t>Click to edit Master text styles</a:t>
            </a:r>
          </a:p>
          <a:p>
            <a:pPr lvl="1"/>
            <a:r>
              <a:rPr lang="en-CA" dirty="0" smtClean="0"/>
              <a:t>Second level</a:t>
            </a:r>
          </a:p>
          <a:p>
            <a:pPr lvl="2"/>
            <a:r>
              <a:rPr lang="en-CA" dirty="0" smtClean="0"/>
              <a:t>Third level</a:t>
            </a:r>
          </a:p>
          <a:p>
            <a:pPr lvl="3"/>
            <a:r>
              <a:rPr lang="en-CA" dirty="0" smtClean="0"/>
              <a:t>Fourth level</a:t>
            </a:r>
          </a:p>
          <a:p>
            <a:pPr lvl="4"/>
            <a:r>
              <a:rPr lang="en-CA" dirty="0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8675" y="1362076"/>
            <a:ext cx="2636838" cy="4764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dirty="0" smtClean="0"/>
              <a:t>Click to edit Master text styles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838200" y="685800"/>
            <a:ext cx="6858000" cy="609600"/>
          </a:xfrm>
          <a:prstGeom prst="rect">
            <a:avLst/>
          </a:prstGeom>
        </p:spPr>
        <p:txBody>
          <a:bodyPr/>
          <a:lstStyle>
            <a:lvl1pPr>
              <a:defRPr sz="4000"/>
            </a:lvl1pPr>
          </a:lstStyle>
          <a:p>
            <a:r>
              <a:rPr lang="en-CA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3" descr="UofS-GraphicElement2-BlockGlyph_Rotated.pn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1433513" y="4924425"/>
            <a:ext cx="271462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4810658"/>
            <a:ext cx="5421313" cy="55668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 dirty="0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828800" y="685799"/>
            <a:ext cx="5421313" cy="40417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828800" y="5381622"/>
            <a:ext cx="5421313" cy="7334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CA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jpg"/>
          <p:cNvPicPr>
            <a:picLocks noChangeAspect="1"/>
          </p:cNvPicPr>
          <p:nvPr userDrawn="1"/>
        </p:nvPicPr>
        <p:blipFill>
          <a:blip r:embed="rId2"/>
          <a:srcRect l="6529" t="15623" r="3265" b="7813"/>
          <a:stretch>
            <a:fillRect/>
          </a:stretch>
        </p:blipFill>
        <p:spPr bwMode="auto">
          <a:xfrm>
            <a:off x="-1057275" y="4939815"/>
            <a:ext cx="2963863" cy="5259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0" rev="16200000"/>
            </a:camera>
            <a:lightRig rig="threePt" dir="t"/>
          </a:scene3d>
        </p:spPr>
      </p:pic>
      <p:pic>
        <p:nvPicPr>
          <p:cNvPr id="5" name="Picture 3" descr="Library Rebrand Logo_Powerpoint2.png"/>
          <p:cNvPicPr>
            <a:picLocks noChangeAspect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7277100" y="5057775"/>
            <a:ext cx="204851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scene3d>
            <a:camera prst="orthographicFront">
              <a:rot lat="0" lon="0" rev="16200000"/>
            </a:camera>
            <a:lightRig rig="threePt" dir="t"/>
          </a:scene3d>
        </p:spPr>
      </p:pic>
      <p:pic>
        <p:nvPicPr>
          <p:cNvPr id="6" name="Picture 2" descr="UofS-GraphicElement2-BlockGlyph_Rotated.png"/>
          <p:cNvPicPr>
            <a:picLocks noChangeAspect="1"/>
          </p:cNvPicPr>
          <p:nvPr userDrawn="1"/>
        </p:nvPicPr>
        <p:blipFill>
          <a:blip r:embed="rId4"/>
          <a:srcRect/>
          <a:stretch>
            <a:fillRect/>
          </a:stretch>
        </p:blipFill>
        <p:spPr bwMode="auto">
          <a:xfrm>
            <a:off x="7666038" y="465138"/>
            <a:ext cx="381000" cy="269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08800" y="838200"/>
            <a:ext cx="1406525" cy="4638675"/>
          </a:xfrm>
          <a:prstGeom prst="rect">
            <a:avLst/>
          </a:prstGeom>
        </p:spPr>
        <p:txBody>
          <a:bodyPr vert="eaVert"/>
          <a:lstStyle/>
          <a:p>
            <a:r>
              <a:rPr lang="en-CA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841248"/>
            <a:ext cx="5689600" cy="5257800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CA" smtClean="0"/>
              <a:t>Click to edit Master text styles</a:t>
            </a:r>
          </a:p>
          <a:p>
            <a:pPr lvl="1"/>
            <a:r>
              <a:rPr lang="en-CA" smtClean="0"/>
              <a:t>Second level</a:t>
            </a:r>
          </a:p>
          <a:p>
            <a:pPr lvl="2"/>
            <a:r>
              <a:rPr lang="en-CA" smtClean="0"/>
              <a:t>Third level</a:t>
            </a:r>
          </a:p>
          <a:p>
            <a:pPr lvl="3"/>
            <a:r>
              <a:rPr lang="en-CA" smtClean="0"/>
              <a:t>Fourth level</a:t>
            </a:r>
          </a:p>
          <a:p>
            <a:pPr lvl="4"/>
            <a:r>
              <a:rPr lang="en-CA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3" descr="Library Rebrand Logo_Powerpoint2.png"/>
          <p:cNvPicPr>
            <a:picLocks noChangeAspect="1"/>
          </p:cNvPicPr>
          <p:nvPr userDrawn="1"/>
        </p:nvPicPr>
        <p:blipFill>
          <a:blip r:embed="rId13"/>
          <a:srcRect/>
          <a:stretch>
            <a:fillRect/>
          </a:stretch>
        </p:blipFill>
        <p:spPr bwMode="auto">
          <a:xfrm>
            <a:off x="6934200" y="171450"/>
            <a:ext cx="204787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5" descr="Logo.jpg"/>
          <p:cNvPicPr>
            <a:picLocks noChangeAspect="1"/>
          </p:cNvPicPr>
          <p:nvPr userDrawn="1"/>
        </p:nvPicPr>
        <p:blipFill>
          <a:blip r:embed="rId14"/>
          <a:srcRect l="6529" t="15623" r="3265" b="7813"/>
          <a:stretch>
            <a:fillRect/>
          </a:stretch>
        </p:blipFill>
        <p:spPr bwMode="auto">
          <a:xfrm>
            <a:off x="6019800" y="6169025"/>
            <a:ext cx="2963863" cy="525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40" r:id="rId1"/>
    <p:sldLayoutId id="2147483941" r:id="rId2"/>
    <p:sldLayoutId id="2147483942" r:id="rId3"/>
    <p:sldLayoutId id="2147483943" r:id="rId4"/>
    <p:sldLayoutId id="2147483944" r:id="rId5"/>
    <p:sldLayoutId id="2147483945" r:id="rId6"/>
    <p:sldLayoutId id="2147483946" r:id="rId7"/>
    <p:sldLayoutId id="2147483947" r:id="rId8"/>
    <p:sldLayoutId id="2147483948" r:id="rId9"/>
    <p:sldLayoutId id="2147483949" r:id="rId10"/>
    <p:sldLayoutId id="2147483950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595959"/>
          </a:solidFill>
          <a:latin typeface="Calibri"/>
          <a:ea typeface="ＭＳ Ｐゴシック" pitchFamily="-108" charset="-128"/>
          <a:cs typeface="Calibri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595959"/>
          </a:solidFill>
          <a:latin typeface="Calibri" pitchFamily="-108" charset="0"/>
          <a:ea typeface="ＭＳ Ｐゴシック" pitchFamily="-108" charset="-128"/>
          <a:cs typeface="Calibri" pitchFamily="-107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595959"/>
          </a:solidFill>
          <a:latin typeface="Calibri" pitchFamily="-108" charset="0"/>
          <a:ea typeface="ＭＳ Ｐゴシック" pitchFamily="-108" charset="-128"/>
          <a:cs typeface="Calibri" pitchFamily="-107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595959"/>
          </a:solidFill>
          <a:latin typeface="Calibri" pitchFamily="-108" charset="0"/>
          <a:ea typeface="ＭＳ Ｐゴシック" pitchFamily="-108" charset="-128"/>
          <a:cs typeface="Calibri" pitchFamily="-107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595959"/>
          </a:solidFill>
          <a:latin typeface="Calibri" pitchFamily="-108" charset="0"/>
          <a:ea typeface="ＭＳ Ｐゴシック" pitchFamily="-108" charset="-128"/>
          <a:cs typeface="Calibri" pitchFamily="-107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 Black" pitchFamily="-10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 Black" pitchFamily="-10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 Black" pitchFamily="-10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FFFFFF"/>
          </a:solidFill>
          <a:latin typeface="Arial Black" pitchFamily="-108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SzPct val="75000"/>
        <a:buFont typeface="Wingdings" pitchFamily="2" charset="2"/>
        <a:buChar char="§"/>
        <a:defRPr sz="2800">
          <a:solidFill>
            <a:srgbClr val="000000"/>
          </a:solidFill>
          <a:latin typeface="Calibri"/>
          <a:ea typeface="ＭＳ Ｐゴシック" pitchFamily="-108" charset="-128"/>
          <a:cs typeface="Calibri"/>
        </a:defRPr>
      </a:lvl1pPr>
      <a:lvl2pPr marL="914400" indent="-457200" algn="l" rtl="0" eaLnBrk="0" fontAlgn="base" hangingPunct="0">
        <a:spcBef>
          <a:spcPct val="20000"/>
        </a:spcBef>
        <a:spcAft>
          <a:spcPct val="0"/>
        </a:spcAft>
        <a:buSzPct val="75000"/>
        <a:buFont typeface="Arial" pitchFamily="34" charset="0"/>
        <a:buAutoNum type="alphaLcParenR"/>
        <a:defRPr sz="2400">
          <a:solidFill>
            <a:srgbClr val="000000"/>
          </a:solidFill>
          <a:latin typeface="Calibri"/>
          <a:ea typeface="ＭＳ Ｐゴシック" pitchFamily="-108" charset="-128"/>
          <a:cs typeface="Calibri"/>
        </a:defRPr>
      </a:lvl2pPr>
      <a:lvl3pPr marL="1371600" indent="-4572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2000">
          <a:solidFill>
            <a:srgbClr val="000000"/>
          </a:solidFill>
          <a:latin typeface="Calibri"/>
          <a:ea typeface="ＭＳ Ｐゴシック" pitchFamily="-108" charset="-128"/>
          <a:cs typeface="Calibri"/>
        </a:defRPr>
      </a:lvl3pPr>
      <a:lvl4pPr marL="1752600" indent="-3810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rgbClr val="000000"/>
          </a:solidFill>
          <a:latin typeface="Calibri"/>
          <a:ea typeface="ＭＳ Ｐゴシック" pitchFamily="-108" charset="-128"/>
          <a:cs typeface="Calibri"/>
        </a:defRPr>
      </a:lvl4pPr>
      <a:lvl5pPr marL="2209800" indent="-381000" algn="l" rtl="0" eaLnBrk="0" fontAlgn="base" hangingPunct="0">
        <a:spcBef>
          <a:spcPct val="20000"/>
        </a:spcBef>
        <a:spcAft>
          <a:spcPct val="0"/>
        </a:spcAft>
        <a:buFont typeface="Times" pitchFamily="18" charset="0"/>
        <a:buChar char="•"/>
        <a:defRPr sz="1600">
          <a:solidFill>
            <a:srgbClr val="000000"/>
          </a:solidFill>
          <a:latin typeface="Calibri"/>
          <a:ea typeface="ＭＳ Ｐゴシック" pitchFamily="-108" charset="-128"/>
          <a:cs typeface="Calibri"/>
        </a:defRPr>
      </a:lvl5pPr>
      <a:lvl6pPr marL="2667000" indent="-381000" algn="l" rtl="0" fontAlgn="base">
        <a:spcBef>
          <a:spcPct val="20000"/>
        </a:spcBef>
        <a:spcAft>
          <a:spcPct val="0"/>
        </a:spcAft>
        <a:buFont typeface="Times" pitchFamily="-108" charset="0"/>
        <a:buChar char="•"/>
        <a:defRPr sz="2000">
          <a:solidFill>
            <a:srgbClr val="FFFFFF"/>
          </a:solidFill>
          <a:latin typeface="Georgia" pitchFamily="-108" charset="0"/>
          <a:ea typeface="ＭＳ Ｐゴシック" pitchFamily="-108" charset="-128"/>
        </a:defRPr>
      </a:lvl6pPr>
      <a:lvl7pPr marL="3124200" indent="-381000" algn="l" rtl="0" fontAlgn="base">
        <a:spcBef>
          <a:spcPct val="20000"/>
        </a:spcBef>
        <a:spcAft>
          <a:spcPct val="0"/>
        </a:spcAft>
        <a:buFont typeface="Times" pitchFamily="-108" charset="0"/>
        <a:buChar char="•"/>
        <a:defRPr sz="2000">
          <a:solidFill>
            <a:srgbClr val="FFFFFF"/>
          </a:solidFill>
          <a:latin typeface="Georgia" pitchFamily="-108" charset="0"/>
          <a:ea typeface="ＭＳ Ｐゴシック" pitchFamily="-108" charset="-128"/>
        </a:defRPr>
      </a:lvl7pPr>
      <a:lvl8pPr marL="3581400" indent="-381000" algn="l" rtl="0" fontAlgn="base">
        <a:spcBef>
          <a:spcPct val="20000"/>
        </a:spcBef>
        <a:spcAft>
          <a:spcPct val="0"/>
        </a:spcAft>
        <a:buFont typeface="Times" pitchFamily="-108" charset="0"/>
        <a:buChar char="•"/>
        <a:defRPr sz="2000">
          <a:solidFill>
            <a:srgbClr val="FFFFFF"/>
          </a:solidFill>
          <a:latin typeface="Georgia" pitchFamily="-108" charset="0"/>
          <a:ea typeface="ＭＳ Ｐゴシック" pitchFamily="-108" charset="-128"/>
        </a:defRPr>
      </a:lvl8pPr>
      <a:lvl9pPr marL="4038600" indent="-381000" algn="l" rtl="0" fontAlgn="base">
        <a:spcBef>
          <a:spcPct val="20000"/>
        </a:spcBef>
        <a:spcAft>
          <a:spcPct val="0"/>
        </a:spcAft>
        <a:buFont typeface="Times" pitchFamily="-108" charset="0"/>
        <a:buChar char="•"/>
        <a:defRPr sz="2000">
          <a:solidFill>
            <a:srgbClr val="FFFFFF"/>
          </a:solidFill>
          <a:latin typeface="Georgia" pitchFamily="-108" charset="0"/>
          <a:ea typeface="ＭＳ Ｐゴシック" pitchFamily="-108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ww5.statcan.gc.ca/cansim/home-accueil" TargetMode="External"/><Relationship Id="rId2" Type="http://schemas.openxmlformats.org/officeDocument/2006/relationships/hyperlink" Target="http://www5.statcan.gc.ca/cansim/home-accueil?lang=eng&amp;tz=120308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hyperlink" Target="http://library.usask.ca/find/node.php?nid=141367" TargetMode="Externa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mailto:winnie.smit@usask.ca" TargetMode="External"/><Relationship Id="rId2" Type="http://schemas.openxmlformats.org/officeDocument/2006/relationships/hyperlink" Target="mailto:sunny.kaniyathu@usask.ca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0675" y="4400550"/>
            <a:ext cx="7419975" cy="609600"/>
          </a:xfrm>
        </p:spPr>
        <p:txBody>
          <a:bodyPr/>
          <a:lstStyle/>
          <a:p>
            <a:pPr algn="r"/>
            <a:r>
              <a:rPr lang="en-CA" dirty="0" smtClean="0"/>
              <a:t>Soc 332.6: Principles of research design</a:t>
            </a:r>
            <a:br>
              <a:rPr lang="en-CA" dirty="0" smtClean="0"/>
            </a:br>
            <a:r>
              <a:rPr lang="en-CA" sz="2800" dirty="0" smtClean="0"/>
              <a:t>Finding statistics</a:t>
            </a:r>
            <a:r>
              <a:rPr lang="en-CA" dirty="0" smtClean="0"/>
              <a:t/>
            </a:r>
            <a:br>
              <a:rPr lang="en-CA" dirty="0" smtClean="0"/>
            </a:b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 bwMode="auto">
          <a:xfrm>
            <a:off x="180976" y="209550"/>
            <a:ext cx="2238374" cy="112395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28650" y="428625"/>
            <a:ext cx="140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 smtClean="0">
                <a:latin typeface="Century Gothic" pitchFamily="34" charset="0"/>
              </a:rPr>
              <a:t>Statistics </a:t>
            </a:r>
          </a:p>
          <a:p>
            <a:r>
              <a:rPr lang="en-CA" sz="1800" dirty="0" smtClean="0">
                <a:latin typeface="Century Gothic" pitchFamily="34" charset="0"/>
              </a:rPr>
              <a:t>Canada</a:t>
            </a:r>
            <a:endParaRPr lang="en-CA" sz="1800" dirty="0">
              <a:latin typeface="Century Gothic" pitchFamily="34" charset="0"/>
            </a:endParaRPr>
          </a:p>
        </p:txBody>
      </p:sp>
      <p:sp>
        <p:nvSpPr>
          <p:cNvPr id="17" name="Down Arrow 16"/>
          <p:cNvSpPr/>
          <p:nvPr/>
        </p:nvSpPr>
        <p:spPr bwMode="auto">
          <a:xfrm>
            <a:off x="1095375" y="1504950"/>
            <a:ext cx="323850" cy="4191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69" name="Rectangle 68"/>
          <p:cNvSpPr/>
          <p:nvPr/>
        </p:nvSpPr>
        <p:spPr bwMode="auto">
          <a:xfrm>
            <a:off x="7229475" y="3552825"/>
            <a:ext cx="1628775" cy="254317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1" name="Diamond 70"/>
          <p:cNvSpPr/>
          <p:nvPr/>
        </p:nvSpPr>
        <p:spPr bwMode="auto">
          <a:xfrm>
            <a:off x="3343274" y="257175"/>
            <a:ext cx="1438275" cy="1504950"/>
          </a:xfrm>
          <a:prstGeom prst="diamond">
            <a:avLst/>
          </a:prstGeom>
          <a:solidFill>
            <a:srgbClr val="F5939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2" name="Rectangle 71"/>
          <p:cNvSpPr/>
          <p:nvPr/>
        </p:nvSpPr>
        <p:spPr bwMode="auto">
          <a:xfrm>
            <a:off x="4914899" y="142875"/>
            <a:ext cx="4086225" cy="2752725"/>
          </a:xfrm>
          <a:prstGeom prst="rect">
            <a:avLst/>
          </a:prstGeom>
          <a:solidFill>
            <a:srgbClr val="FFEFBD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3" name="Rectangle 72"/>
          <p:cNvSpPr/>
          <p:nvPr/>
        </p:nvSpPr>
        <p:spPr bwMode="auto">
          <a:xfrm>
            <a:off x="7248525" y="276225"/>
            <a:ext cx="1638300" cy="1971675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4" name="Oval 73"/>
          <p:cNvSpPr/>
          <p:nvPr/>
        </p:nvSpPr>
        <p:spPr bwMode="auto">
          <a:xfrm>
            <a:off x="438150" y="2057400"/>
            <a:ext cx="1714500" cy="1390650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5" name="Rounded Rectangle 74"/>
          <p:cNvSpPr/>
          <p:nvPr/>
        </p:nvSpPr>
        <p:spPr bwMode="auto">
          <a:xfrm>
            <a:off x="400050" y="4124325"/>
            <a:ext cx="1762125" cy="1047750"/>
          </a:xfrm>
          <a:prstGeom prst="round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6" name="Down Arrow 75"/>
          <p:cNvSpPr/>
          <p:nvPr/>
        </p:nvSpPr>
        <p:spPr bwMode="auto">
          <a:xfrm>
            <a:off x="1076325" y="3571875"/>
            <a:ext cx="323850" cy="4191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704850" y="2305051"/>
            <a:ext cx="1190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 smtClean="0">
                <a:latin typeface="Century Gothic" pitchFamily="34" charset="0"/>
              </a:rPr>
              <a:t>Surveys/ Admin Data</a:t>
            </a:r>
            <a:endParaRPr lang="en-CA" sz="1800" dirty="0">
              <a:latin typeface="Century Gothic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581025" y="4229100"/>
            <a:ext cx="14097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 smtClean="0">
                <a:latin typeface="Century Gothic" pitchFamily="34" charset="0"/>
              </a:rPr>
              <a:t>Research Data Centre</a:t>
            </a:r>
          </a:p>
        </p:txBody>
      </p:sp>
      <p:sp>
        <p:nvSpPr>
          <p:cNvPr id="79" name="Oval 78"/>
          <p:cNvSpPr/>
          <p:nvPr/>
        </p:nvSpPr>
        <p:spPr bwMode="auto">
          <a:xfrm>
            <a:off x="5219700" y="209550"/>
            <a:ext cx="1543050" cy="2038350"/>
          </a:xfrm>
          <a:prstGeom prst="ellipse">
            <a:avLst/>
          </a:prstGeom>
          <a:solidFill>
            <a:srgbClr val="FFDB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80" name="TextBox 79"/>
          <p:cNvSpPr txBox="1"/>
          <p:nvPr/>
        </p:nvSpPr>
        <p:spPr>
          <a:xfrm>
            <a:off x="5286376" y="619123"/>
            <a:ext cx="14763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dirty="0" smtClean="0">
                <a:latin typeface="Century Gothic" pitchFamily="34" charset="0"/>
              </a:rPr>
              <a:t>Public Use </a:t>
            </a:r>
            <a:r>
              <a:rPr lang="en-CA" sz="1800" dirty="0" err="1" smtClean="0">
                <a:latin typeface="Century Gothic" pitchFamily="34" charset="0"/>
              </a:rPr>
              <a:t>Microdata</a:t>
            </a:r>
            <a:r>
              <a:rPr lang="en-CA" sz="1800" dirty="0" smtClean="0">
                <a:latin typeface="Century Gothic" pitchFamily="34" charset="0"/>
              </a:rPr>
              <a:t> Files </a:t>
            </a:r>
          </a:p>
          <a:p>
            <a:pPr algn="ctr"/>
            <a:r>
              <a:rPr lang="en-CA" sz="1800" dirty="0" smtClean="0">
                <a:latin typeface="Century Gothic" pitchFamily="34" charset="0"/>
              </a:rPr>
              <a:t>(PUMF)</a:t>
            </a:r>
            <a:endParaRPr lang="en-CA" sz="1800" dirty="0">
              <a:latin typeface="Century Gothic" pitchFamily="34" charset="0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7315200" y="1038225"/>
            <a:ext cx="1409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 smtClean="0">
                <a:latin typeface="Century Gothic" pitchFamily="34" charset="0"/>
              </a:rPr>
              <a:t>&lt;</a:t>
            </a:r>
            <a:r>
              <a:rPr lang="en-CA" sz="1800" dirty="0" err="1" smtClean="0">
                <a:latin typeface="Century Gothic" pitchFamily="34" charset="0"/>
              </a:rPr>
              <a:t>odesi</a:t>
            </a:r>
            <a:r>
              <a:rPr lang="en-CA" sz="1800" dirty="0" smtClean="0">
                <a:latin typeface="Century Gothic" pitchFamily="34" charset="0"/>
              </a:rPr>
              <a:t>&gt;</a:t>
            </a:r>
          </a:p>
          <a:p>
            <a:r>
              <a:rPr lang="en-CA" sz="1800" dirty="0" smtClean="0">
                <a:latin typeface="Century Gothic" pitchFamily="34" charset="0"/>
              </a:rPr>
              <a:t>Equinox</a:t>
            </a:r>
            <a:endParaRPr lang="en-CA" sz="1800" dirty="0">
              <a:latin typeface="Century Gothic" pitchFamily="34" charset="0"/>
            </a:endParaRPr>
          </a:p>
        </p:txBody>
      </p:sp>
      <p:sp>
        <p:nvSpPr>
          <p:cNvPr id="84" name="Striped Right Arrow 83"/>
          <p:cNvSpPr/>
          <p:nvPr/>
        </p:nvSpPr>
        <p:spPr bwMode="auto">
          <a:xfrm>
            <a:off x="6819900" y="962025"/>
            <a:ext cx="447675" cy="485775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315200" y="314325"/>
            <a:ext cx="1409700" cy="584775"/>
          </a:xfrm>
          <a:prstGeom prst="rect">
            <a:avLst/>
          </a:prstGeom>
          <a:noFill/>
          <a:ln w="6350">
            <a:solidFill>
              <a:schemeClr val="tx1"/>
            </a:solidFill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600" dirty="0" smtClean="0">
                <a:latin typeface="Century Gothic" pitchFamily="34" charset="0"/>
              </a:rPr>
              <a:t>Web-based Extractors</a:t>
            </a:r>
            <a:endParaRPr lang="en-CA" sz="1600" dirty="0">
              <a:latin typeface="Century Gothic" pitchFamily="34" charset="0"/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5753100" y="2247900"/>
            <a:ext cx="2019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DLI License</a:t>
            </a:r>
            <a:endParaRPr lang="en-CA" dirty="0"/>
          </a:p>
        </p:txBody>
      </p:sp>
      <p:sp>
        <p:nvSpPr>
          <p:cNvPr id="91" name="Rectangle 90"/>
          <p:cNvSpPr/>
          <p:nvPr/>
        </p:nvSpPr>
        <p:spPr bwMode="auto">
          <a:xfrm>
            <a:off x="600076" y="5734050"/>
            <a:ext cx="1285874" cy="695325"/>
          </a:xfrm>
          <a:prstGeom prst="rect">
            <a:avLst/>
          </a:prstGeom>
          <a:solidFill>
            <a:schemeClr val="bg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666750" y="5724525"/>
            <a:ext cx="11334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 smtClean="0">
                <a:latin typeface="Century Gothic" pitchFamily="34" charset="0"/>
              </a:rPr>
              <a:t>Submit Proposal</a:t>
            </a:r>
            <a:endParaRPr lang="en-CA" sz="1800" dirty="0">
              <a:latin typeface="Century Gothic" pitchFamily="34" charset="0"/>
            </a:endParaRPr>
          </a:p>
        </p:txBody>
      </p:sp>
      <p:sp>
        <p:nvSpPr>
          <p:cNvPr id="93" name="Striped Right Arrow 92"/>
          <p:cNvSpPr/>
          <p:nvPr/>
        </p:nvSpPr>
        <p:spPr bwMode="auto">
          <a:xfrm rot="5400000">
            <a:off x="1019175" y="5229225"/>
            <a:ext cx="447675" cy="485775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94" name="TextBox 93"/>
          <p:cNvSpPr txBox="1"/>
          <p:nvPr/>
        </p:nvSpPr>
        <p:spPr>
          <a:xfrm>
            <a:off x="3362325" y="428625"/>
            <a:ext cx="1409700" cy="830997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600" dirty="0" smtClean="0">
                <a:latin typeface="Century Gothic" pitchFamily="34" charset="0"/>
              </a:rPr>
              <a:t>Make</a:t>
            </a:r>
          </a:p>
          <a:p>
            <a:pPr algn="ctr"/>
            <a:r>
              <a:rPr lang="en-CA" sz="1600" dirty="0" smtClean="0">
                <a:latin typeface="Century Gothic" pitchFamily="34" charset="0"/>
              </a:rPr>
              <a:t>Data</a:t>
            </a:r>
          </a:p>
          <a:p>
            <a:pPr algn="ctr"/>
            <a:r>
              <a:rPr lang="en-CA" sz="1600" dirty="0" smtClean="0">
                <a:latin typeface="Century Gothic" pitchFamily="34" charset="0"/>
              </a:rPr>
              <a:t>Anonymous</a:t>
            </a:r>
            <a:endParaRPr lang="en-CA" sz="1600" dirty="0">
              <a:latin typeface="Century Gothic" pitchFamily="34" charset="0"/>
            </a:endParaRPr>
          </a:p>
        </p:txBody>
      </p:sp>
      <p:sp>
        <p:nvSpPr>
          <p:cNvPr id="97" name="Right Arrow 96"/>
          <p:cNvSpPr/>
          <p:nvPr/>
        </p:nvSpPr>
        <p:spPr bwMode="auto">
          <a:xfrm>
            <a:off x="4467225" y="1352550"/>
            <a:ext cx="714375" cy="238125"/>
          </a:xfrm>
          <a:prstGeom prst="rightArrow">
            <a:avLst/>
          </a:prstGeom>
          <a:solidFill>
            <a:srgbClr val="F5939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98" name="Diamond 97"/>
          <p:cNvSpPr/>
          <p:nvPr/>
        </p:nvSpPr>
        <p:spPr bwMode="auto">
          <a:xfrm>
            <a:off x="3238499" y="4076700"/>
            <a:ext cx="1438275" cy="1504950"/>
          </a:xfrm>
          <a:prstGeom prst="diamon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99" name="TextBox 98"/>
          <p:cNvSpPr txBox="1"/>
          <p:nvPr/>
        </p:nvSpPr>
        <p:spPr>
          <a:xfrm>
            <a:off x="3238500" y="4562475"/>
            <a:ext cx="1409700" cy="584775"/>
          </a:xfrm>
          <a:prstGeom prst="rect">
            <a:avLst/>
          </a:prstGeom>
          <a:noFill/>
          <a:ln w="6350">
            <a:noFill/>
            <a:prstDash val="solid"/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1600" dirty="0" smtClean="0">
                <a:latin typeface="Century Gothic" pitchFamily="34" charset="0"/>
              </a:rPr>
              <a:t>Create Tables</a:t>
            </a:r>
            <a:endParaRPr lang="en-CA" sz="1600" dirty="0">
              <a:latin typeface="Century Gothic" pitchFamily="34" charset="0"/>
            </a:endParaRPr>
          </a:p>
        </p:txBody>
      </p:sp>
      <p:sp>
        <p:nvSpPr>
          <p:cNvPr id="100" name="Right Arrow 99"/>
          <p:cNvSpPr/>
          <p:nvPr/>
        </p:nvSpPr>
        <p:spPr bwMode="auto">
          <a:xfrm>
            <a:off x="4400550" y="5133975"/>
            <a:ext cx="714375" cy="238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101" name="Oval 100"/>
          <p:cNvSpPr/>
          <p:nvPr/>
        </p:nvSpPr>
        <p:spPr bwMode="auto">
          <a:xfrm>
            <a:off x="5162550" y="3971926"/>
            <a:ext cx="1533525" cy="2038350"/>
          </a:xfrm>
          <a:prstGeom prst="ellipse">
            <a:avLst/>
          </a:prstGeom>
          <a:solidFill>
            <a:srgbClr val="FFDB6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102" name="TextBox 101"/>
          <p:cNvSpPr txBox="1"/>
          <p:nvPr/>
        </p:nvSpPr>
        <p:spPr>
          <a:xfrm>
            <a:off x="5131153" y="4524375"/>
            <a:ext cx="15744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1800" dirty="0" smtClean="0">
                <a:latin typeface="Century Gothic" pitchFamily="34" charset="0"/>
              </a:rPr>
              <a:t>Free</a:t>
            </a:r>
          </a:p>
          <a:p>
            <a:pPr algn="ctr"/>
            <a:r>
              <a:rPr lang="en-CA" sz="1800" dirty="0" smtClean="0">
                <a:latin typeface="Century Gothic" pitchFamily="34" charset="0"/>
              </a:rPr>
              <a:t>Aggregate Data</a:t>
            </a:r>
          </a:p>
        </p:txBody>
      </p:sp>
      <p:sp>
        <p:nvSpPr>
          <p:cNvPr id="103" name="Striped Right Arrow 102"/>
          <p:cNvSpPr/>
          <p:nvPr/>
        </p:nvSpPr>
        <p:spPr bwMode="auto">
          <a:xfrm>
            <a:off x="6800850" y="4743450"/>
            <a:ext cx="447675" cy="485775"/>
          </a:xfrm>
          <a:prstGeom prst="striped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105" name="Right Arrow 104"/>
          <p:cNvSpPr/>
          <p:nvPr/>
        </p:nvSpPr>
        <p:spPr bwMode="auto">
          <a:xfrm rot="3013974">
            <a:off x="2015087" y="3952370"/>
            <a:ext cx="1539968" cy="238125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106" name="Right Arrow 105"/>
          <p:cNvSpPr/>
          <p:nvPr/>
        </p:nvSpPr>
        <p:spPr bwMode="auto">
          <a:xfrm rot="18841377">
            <a:off x="2182212" y="1646485"/>
            <a:ext cx="1397344" cy="238125"/>
          </a:xfrm>
          <a:prstGeom prst="rightArrow">
            <a:avLst/>
          </a:prstGeom>
          <a:solidFill>
            <a:srgbClr val="F5939A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A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" pitchFamily="-108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324725" y="4133850"/>
            <a:ext cx="14097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800" dirty="0" smtClean="0">
                <a:latin typeface="Century Gothic" pitchFamily="34" charset="0"/>
              </a:rPr>
              <a:t>CANSIM</a:t>
            </a:r>
          </a:p>
          <a:p>
            <a:endParaRPr lang="en-CA" sz="1800" dirty="0" smtClean="0">
              <a:latin typeface="Century Gothic" pitchFamily="34" charset="0"/>
            </a:endParaRPr>
          </a:p>
          <a:p>
            <a:r>
              <a:rPr lang="en-CA" sz="1800" dirty="0" err="1" smtClean="0">
                <a:latin typeface="Century Gothic" pitchFamily="34" charset="0"/>
              </a:rPr>
              <a:t>CanadianCensus</a:t>
            </a:r>
            <a:r>
              <a:rPr lang="en-CA" sz="1800" dirty="0" smtClean="0">
                <a:latin typeface="Century Gothic" pitchFamily="34" charset="0"/>
              </a:rPr>
              <a:t> Analyser</a:t>
            </a:r>
            <a:endParaRPr lang="en-CA" sz="1800" dirty="0">
              <a:latin typeface="Century Gothic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20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2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2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2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2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2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20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2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2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20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2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/>
      <p:bldP spid="17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77" grpId="0"/>
      <p:bldP spid="78" grpId="0"/>
      <p:bldP spid="79" grpId="0" animBg="1"/>
      <p:bldP spid="80" grpId="0"/>
      <p:bldP spid="81" grpId="0"/>
      <p:bldP spid="84" grpId="0" animBg="1"/>
      <p:bldP spid="85" grpId="0" animBg="1"/>
      <p:bldP spid="90" grpId="0"/>
      <p:bldP spid="91" grpId="0" animBg="1"/>
      <p:bldP spid="92" grpId="0"/>
      <p:bldP spid="93" grpId="0" animBg="1"/>
      <p:bldP spid="94" grpId="0"/>
      <p:bldP spid="97" grpId="0" animBg="1"/>
      <p:bldP spid="98" grpId="0" animBg="1"/>
      <p:bldP spid="99" grpId="0"/>
      <p:bldP spid="100" grpId="0" animBg="1"/>
      <p:bldP spid="101" grpId="0" animBg="1"/>
      <p:bldP spid="102" grpId="0"/>
      <p:bldP spid="103" grpId="0" animBg="1"/>
      <p:bldP spid="105" grpId="0" animBg="1"/>
      <p:bldP spid="106" grpId="0" animBg="1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err="1" smtClean="0"/>
              <a:t>Microdata</a:t>
            </a:r>
            <a:r>
              <a:rPr lang="en-CA" dirty="0" smtClean="0"/>
              <a:t> </a:t>
            </a:r>
            <a:r>
              <a:rPr lang="en-CA" dirty="0" err="1" smtClean="0"/>
              <a:t>vs</a:t>
            </a:r>
            <a:r>
              <a:rPr lang="en-CA" dirty="0" smtClean="0"/>
              <a:t> Aggregate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err="1" smtClean="0"/>
              <a:t>Microdata</a:t>
            </a:r>
            <a:r>
              <a:rPr lang="en-CA" dirty="0" smtClean="0"/>
              <a:t>: Each line in the file contains information on a person</a:t>
            </a:r>
          </a:p>
          <a:p>
            <a:pPr lvl="1">
              <a:buFont typeface="Arial" pitchFamily="34" charset="0"/>
              <a:buChar char="•"/>
            </a:pPr>
            <a:r>
              <a:rPr lang="en-CA" dirty="0" smtClean="0"/>
              <a:t>For example, income of each person in SK</a:t>
            </a:r>
          </a:p>
          <a:p>
            <a:pPr>
              <a:buFont typeface="Arial" pitchFamily="34" charset="0"/>
              <a:buChar char="•"/>
            </a:pPr>
            <a:r>
              <a:rPr lang="en-CA" dirty="0" smtClean="0"/>
              <a:t>Aggregate Data (statistics): Information aggregated from the </a:t>
            </a:r>
            <a:r>
              <a:rPr lang="en-CA" dirty="0" err="1" smtClean="0"/>
              <a:t>microdata</a:t>
            </a:r>
            <a:endParaRPr lang="en-CA" dirty="0" smtClean="0"/>
          </a:p>
          <a:p>
            <a:pPr lvl="1">
              <a:buFont typeface="Arial" pitchFamily="34" charset="0"/>
              <a:buChar char="•"/>
            </a:pPr>
            <a:r>
              <a:rPr lang="en-CA" dirty="0" smtClean="0"/>
              <a:t>For example, average income of people in each province</a:t>
            </a:r>
          </a:p>
          <a:p>
            <a:pPr lvl="1">
              <a:buFont typeface="Arial" pitchFamily="34" charset="0"/>
              <a:buChar char="•"/>
            </a:pPr>
            <a:r>
              <a:rPr lang="en-CA" dirty="0" smtClean="0"/>
              <a:t>Data ≠ Statistics</a:t>
            </a:r>
          </a:p>
          <a:p>
            <a:pPr lvl="1">
              <a:buNone/>
            </a:pPr>
            <a:endParaRPr lang="en-CA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CANSIM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Aggregate data tables generated from surveys and administrative records</a:t>
            </a:r>
          </a:p>
          <a:p>
            <a:r>
              <a:rPr lang="en-CA" dirty="0" smtClean="0"/>
              <a:t>Contains very little Census data</a:t>
            </a:r>
          </a:p>
          <a:p>
            <a:r>
              <a:rPr lang="en-CA" dirty="0" smtClean="0"/>
              <a:t>Access </a:t>
            </a:r>
          </a:p>
          <a:p>
            <a:pPr lvl="1">
              <a:buFont typeface="Arial" pitchFamily="34" charset="0"/>
              <a:buChar char="•"/>
            </a:pPr>
            <a:r>
              <a:rPr lang="en-CA" dirty="0" smtClean="0">
                <a:hlinkClick r:id="rId2"/>
              </a:rPr>
              <a:t>CANSIM Website</a:t>
            </a:r>
            <a:r>
              <a:rPr lang="en-CA" dirty="0" smtClean="0"/>
              <a:t> at Statistics Canada [</a:t>
            </a:r>
            <a:r>
              <a:rPr lang="en-CA" dirty="0" smtClean="0">
                <a:hlinkClick r:id="rId3"/>
              </a:rPr>
              <a:t>http://www5.statcan.gc.ca/cansim/home-accueil</a:t>
            </a:r>
            <a:r>
              <a:rPr lang="en-CA" dirty="0" smtClean="0"/>
              <a:t>]</a:t>
            </a:r>
          </a:p>
          <a:p>
            <a:pPr lvl="1">
              <a:buFont typeface="Arial" pitchFamily="34" charset="0"/>
              <a:buChar char="•"/>
            </a:pPr>
            <a:r>
              <a:rPr lang="en-CA" dirty="0" smtClean="0"/>
              <a:t>Through search engine (Google): CANSIM</a:t>
            </a:r>
          </a:p>
          <a:p>
            <a:pPr>
              <a:buNone/>
            </a:pPr>
            <a:endParaRPr lang="en-CA" dirty="0" err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CANSIM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A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76288" y="1447800"/>
            <a:ext cx="7591425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71525" y="661988"/>
            <a:ext cx="7600950" cy="553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885825" y="652463"/>
            <a:ext cx="731520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90575" y="752475"/>
            <a:ext cx="7562850" cy="5353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62000" y="862013"/>
            <a:ext cx="7410450" cy="376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4" name="Picture 10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85813" y="619125"/>
            <a:ext cx="7572375" cy="5219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747713" y="600075"/>
            <a:ext cx="7610475" cy="459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2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833438" y="2371725"/>
            <a:ext cx="7496175" cy="160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7" name="Picture 13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790575" y="2890838"/>
            <a:ext cx="755332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8" name="Picture 1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842963" y="3471863"/>
            <a:ext cx="7496175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3" name="Picture 19"/>
          <p:cNvPicPr>
            <a:picLocks noChangeAspect="1" noChangeArrowheads="1"/>
          </p:cNvPicPr>
          <p:nvPr/>
        </p:nvPicPr>
        <p:blipFill>
          <a:blip r:embed="rId12"/>
          <a:srcRect/>
          <a:stretch>
            <a:fillRect/>
          </a:stretch>
        </p:blipFill>
        <p:spPr bwMode="auto">
          <a:xfrm>
            <a:off x="838200" y="3748088"/>
            <a:ext cx="748665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18"/>
          <p:cNvPicPr>
            <a:picLocks noChangeAspect="1" noChangeArrowheads="1"/>
          </p:cNvPicPr>
          <p:nvPr/>
        </p:nvPicPr>
        <p:blipFill>
          <a:blip r:embed="rId13"/>
          <a:srcRect/>
          <a:stretch>
            <a:fillRect/>
          </a:stretch>
        </p:blipFill>
        <p:spPr bwMode="auto">
          <a:xfrm>
            <a:off x="814388" y="4152900"/>
            <a:ext cx="7515225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4" name="Picture 20"/>
          <p:cNvPicPr>
            <a:picLocks noChangeAspect="1" noChangeArrowheads="1"/>
          </p:cNvPicPr>
          <p:nvPr/>
        </p:nvPicPr>
        <p:blipFill>
          <a:blip r:embed="rId14"/>
          <a:srcRect/>
          <a:stretch>
            <a:fillRect/>
          </a:stretch>
        </p:blipFill>
        <p:spPr bwMode="auto">
          <a:xfrm>
            <a:off x="771525" y="623888"/>
            <a:ext cx="7600950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5" name="Picture 21"/>
          <p:cNvPicPr>
            <a:picLocks noChangeAspect="1" noChangeArrowheads="1"/>
          </p:cNvPicPr>
          <p:nvPr/>
        </p:nvPicPr>
        <p:blipFill>
          <a:blip r:embed="rId15"/>
          <a:srcRect/>
          <a:stretch>
            <a:fillRect/>
          </a:stretch>
        </p:blipFill>
        <p:spPr bwMode="auto">
          <a:xfrm>
            <a:off x="776288" y="609600"/>
            <a:ext cx="7591425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6" name="Picture 22"/>
          <p:cNvPicPr>
            <a:picLocks noChangeAspect="1" noChangeArrowheads="1"/>
          </p:cNvPicPr>
          <p:nvPr/>
        </p:nvPicPr>
        <p:blipFill>
          <a:blip r:embed="rId16"/>
          <a:srcRect/>
          <a:stretch>
            <a:fillRect/>
          </a:stretch>
        </p:blipFill>
        <p:spPr bwMode="auto">
          <a:xfrm>
            <a:off x="790575" y="1385888"/>
            <a:ext cx="7429500" cy="380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47" name="Picture 23"/>
          <p:cNvPicPr>
            <a:picLocks noChangeAspect="1" noChangeArrowheads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114300" y="523875"/>
            <a:ext cx="8915400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Census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Use </a:t>
            </a:r>
            <a:r>
              <a:rPr lang="en-CA" dirty="0" smtClean="0">
                <a:hlinkClick r:id="rId2"/>
              </a:rPr>
              <a:t>Canadian Census Analyser</a:t>
            </a:r>
            <a:endParaRPr lang="en-CA" dirty="0" smtClean="0"/>
          </a:p>
          <a:p>
            <a:r>
              <a:rPr lang="en-CA" dirty="0" smtClean="0"/>
              <a:t>Data can be extracted at different levels of census geography (Provinces, Census Tracts, Federal Electoral Districts, etc.)</a:t>
            </a:r>
          </a:p>
          <a:p>
            <a:r>
              <a:rPr lang="en-CA" dirty="0" smtClean="0"/>
              <a:t>Data available for every census year (every five years)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" y="848141"/>
            <a:ext cx="7943850" cy="4933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450" y="2099226"/>
            <a:ext cx="8210550" cy="27394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8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54263" y="814387"/>
            <a:ext cx="8199211" cy="5329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452438" y="576263"/>
            <a:ext cx="8239125" cy="5705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481013" y="47625"/>
            <a:ext cx="7967661" cy="66783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514350" y="57150"/>
            <a:ext cx="8168233" cy="3848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9"/>
          <a:srcRect/>
          <a:stretch>
            <a:fillRect/>
          </a:stretch>
        </p:blipFill>
        <p:spPr bwMode="auto">
          <a:xfrm>
            <a:off x="171450" y="1057275"/>
            <a:ext cx="8801100" cy="3943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7"/>
          <p:cNvPicPr>
            <a:picLocks noChangeAspect="1" noChangeArrowheads="1"/>
          </p:cNvPicPr>
          <p:nvPr/>
        </p:nvPicPr>
        <p:blipFill>
          <a:blip r:embed="rId10"/>
          <a:srcRect/>
          <a:stretch>
            <a:fillRect/>
          </a:stretch>
        </p:blipFill>
        <p:spPr bwMode="auto">
          <a:xfrm>
            <a:off x="280988" y="623888"/>
            <a:ext cx="8582025" cy="580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66675" y="409575"/>
            <a:ext cx="9020175" cy="515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Contact Us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Sunny Kaniyathu</a:t>
            </a:r>
          </a:p>
          <a:p>
            <a:pPr>
              <a:buNone/>
            </a:pPr>
            <a:r>
              <a:rPr lang="en-CA" dirty="0" smtClean="0"/>
              <a:t>	306 966 8841; </a:t>
            </a:r>
            <a:r>
              <a:rPr lang="en-CA" dirty="0" smtClean="0">
                <a:hlinkClick r:id="rId2"/>
              </a:rPr>
              <a:t>sunny.kaniyathu@usask.ca</a:t>
            </a:r>
            <a:endParaRPr lang="en-CA" dirty="0" smtClean="0"/>
          </a:p>
          <a:p>
            <a:r>
              <a:rPr lang="en-CA" dirty="0" smtClean="0"/>
              <a:t>Winnie Smit</a:t>
            </a:r>
          </a:p>
          <a:p>
            <a:pPr>
              <a:buNone/>
            </a:pPr>
            <a:r>
              <a:rPr lang="en-CA" dirty="0" smtClean="0"/>
              <a:t>	306 966 7261; </a:t>
            </a:r>
            <a:r>
              <a:rPr lang="en-CA" dirty="0" smtClean="0">
                <a:hlinkClick r:id="rId3"/>
              </a:rPr>
              <a:t>winnie.smit@usask.ca</a:t>
            </a:r>
            <a:endParaRPr lang="en-CA" dirty="0" smtClean="0"/>
          </a:p>
          <a:p>
            <a:pPr>
              <a:buNone/>
            </a:pPr>
            <a:endParaRPr lang="en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ank">
  <a:themeElements>
    <a:clrScheme name="Custom 3">
      <a:dk1>
        <a:srgbClr val="000000"/>
      </a:dk1>
      <a:lt1>
        <a:srgbClr val="797979"/>
      </a:lt1>
      <a:dk2>
        <a:srgbClr val="000000"/>
      </a:dk2>
      <a:lt2>
        <a:srgbClr val="86B234"/>
      </a:lt2>
      <a:accent1>
        <a:srgbClr val="BBE0E3"/>
      </a:accent1>
      <a:accent2>
        <a:srgbClr val="333399"/>
      </a:accent2>
      <a:accent3>
        <a:srgbClr val="BEBEBE"/>
      </a:accent3>
      <a:accent4>
        <a:srgbClr val="000000"/>
      </a:accent4>
      <a:accent5>
        <a:srgbClr val="DAEDEF"/>
      </a:accent5>
      <a:accent6>
        <a:srgbClr val="2D2D8A"/>
      </a:accent6>
      <a:hlink>
        <a:srgbClr val="008000"/>
      </a:hlink>
      <a:folHlink>
        <a:srgbClr val="99CC00"/>
      </a:folHlink>
    </a:clrScheme>
    <a:fontScheme name="Blank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Times" pitchFamily="-10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3260</TotalTime>
  <Words>167</Words>
  <Application>Microsoft Office PowerPoint</Application>
  <PresentationFormat>On-screen Show (4:3)</PresentationFormat>
  <Paragraphs>43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Blank</vt:lpstr>
      <vt:lpstr>Soc 332.6: Principles of research design Finding statistics </vt:lpstr>
      <vt:lpstr>Slide 2</vt:lpstr>
      <vt:lpstr>Microdata vs Aggregate</vt:lpstr>
      <vt:lpstr>CANSIM</vt:lpstr>
      <vt:lpstr>CANSIM</vt:lpstr>
      <vt:lpstr>Census</vt:lpstr>
      <vt:lpstr>Contact Us</vt:lpstr>
    </vt:vector>
  </TitlesOfParts>
  <Company>Division of Media and Technology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W. David Snell</dc:creator>
  <cp:lastModifiedBy>sjk084</cp:lastModifiedBy>
  <cp:revision>250</cp:revision>
  <dcterms:created xsi:type="dcterms:W3CDTF">2010-11-25T14:38:17Z</dcterms:created>
  <dcterms:modified xsi:type="dcterms:W3CDTF">2012-10-29T21:54:31Z</dcterms:modified>
</cp:coreProperties>
</file>