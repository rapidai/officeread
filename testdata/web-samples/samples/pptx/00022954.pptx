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41"/>
  </p:notesMasterIdLst>
  <p:sldIdLst>
    <p:sldId id="624" r:id="rId2"/>
    <p:sldId id="630" r:id="rId3"/>
    <p:sldId id="577" r:id="rId4"/>
    <p:sldId id="579" r:id="rId5"/>
    <p:sldId id="578" r:id="rId6"/>
    <p:sldId id="342" r:id="rId7"/>
    <p:sldId id="607" r:id="rId8"/>
    <p:sldId id="606" r:id="rId9"/>
    <p:sldId id="368" r:id="rId10"/>
    <p:sldId id="490" r:id="rId11"/>
    <p:sldId id="322" r:id="rId12"/>
    <p:sldId id="580" r:id="rId13"/>
    <p:sldId id="325" r:id="rId14"/>
    <p:sldId id="326" r:id="rId15"/>
    <p:sldId id="327" r:id="rId16"/>
    <p:sldId id="328" r:id="rId17"/>
    <p:sldId id="608" r:id="rId18"/>
    <p:sldId id="621" r:id="rId19"/>
    <p:sldId id="609" r:id="rId20"/>
    <p:sldId id="610" r:id="rId21"/>
    <p:sldId id="631" r:id="rId22"/>
    <p:sldId id="632" r:id="rId23"/>
    <p:sldId id="633" r:id="rId24"/>
    <p:sldId id="634" r:id="rId25"/>
    <p:sldId id="635" r:id="rId26"/>
    <p:sldId id="636" r:id="rId27"/>
    <p:sldId id="637" r:id="rId28"/>
    <p:sldId id="638" r:id="rId29"/>
    <p:sldId id="639" r:id="rId30"/>
    <p:sldId id="640" r:id="rId31"/>
    <p:sldId id="641" r:id="rId32"/>
    <p:sldId id="642" r:id="rId33"/>
    <p:sldId id="643" r:id="rId34"/>
    <p:sldId id="644" r:id="rId35"/>
    <p:sldId id="645" r:id="rId36"/>
    <p:sldId id="646" r:id="rId37"/>
    <p:sldId id="647" r:id="rId38"/>
    <p:sldId id="648" r:id="rId39"/>
    <p:sldId id="649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90" y="-9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1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E7960EA-C5F4-4ABB-9386-862651FE4A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A674D6-63FE-4DB1-85D5-77910F9BA8F7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19A93A-E2EB-4417-B9F9-956682A60C05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96554F-0FC2-456C-8853-C9FF0C6E97C9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754F1E-6EBB-4CED-82EA-6B8070F83E68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34819" name="Rectangle 1026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661607-DC70-434B-B215-434D31BC2AF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5843" name="Rectangle 1026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8E633-40FA-47A4-9DFA-9FEF507F22BC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C77ADA-94CE-4F9B-8932-8F8D9A6DE548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378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7BAC17-6B6F-4582-9BA7-02246BB38B5D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BDB307-6E10-45B5-AEA8-40BD756B8637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4ABE2D-FF7B-4684-9C64-42F4AEFF1F5D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446207-0ACB-450F-B8FA-C03488A7F710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1C039F-CB2A-4117-8B2E-DABB5AF44255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40D9D6-3CDF-4A8C-90BA-92BF5D2C760A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48BC0-5614-484E-A004-E0A22BA43D32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77A8DA-EA68-44DE-8440-EA1B06BE2DB5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18623F-531B-4DD0-B1B7-F7C03D6E571D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C6DFC-6F21-4E74-87DD-AB70604CA48C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7824A-FAD5-41A3-985A-48CD6DA52FB9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F42399-ABEF-4F4B-9624-B745FC734FEA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9B6616-D7AC-4C8C-A640-8E3A72231286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794A2A-E15A-4173-8D56-176C41FE3D0F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95414-8FE9-4BE5-92FA-04541CD95C95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F506D0-50D2-4DB7-9119-3C3F7F50676C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78D6A-2B2D-4EBC-9226-3E00D133EC2A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9927E8-050B-4B20-BE3C-61458E955B2A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A0BD33-BD6E-432D-83E0-922E2334D7F1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B24DE9-2E18-4F86-B8E9-9690BFEB721F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US" smtClean="0">
              <a:latin typeface="Times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verne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70300"/>
            <a:ext cx="4573588" cy="1295400"/>
          </a:xfrm>
        </p:spPr>
        <p:txBody>
          <a:bodyPr/>
          <a:lstStyle>
            <a:lvl1pPr marL="0" indent="50800" algn="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336800"/>
            <a:ext cx="4570413" cy="1143000"/>
          </a:xfrm>
        </p:spPr>
        <p:txBody>
          <a:bodyPr anchor="b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813"/>
            <a:ext cx="619125" cy="63658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50800"/>
            <a:ext cx="4813300" cy="7334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813"/>
            <a:ext cx="619125" cy="63658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508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65" y="977900"/>
            <a:ext cx="8763000" cy="5029200"/>
          </a:xfrm>
        </p:spPr>
        <p:txBody>
          <a:bodyPr/>
          <a:lstStyle>
            <a:lvl1pPr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744538" indent="-3397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201738" indent="-404813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658938" indent="-403225"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uquaVECTOR-logo-rgb000099.ep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00" y="6119813"/>
            <a:ext cx="619125" cy="63658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8900"/>
            <a:ext cx="4902200" cy="454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962" y="963762"/>
            <a:ext cx="4279900" cy="5029200"/>
          </a:xfrm>
        </p:spPr>
        <p:txBody>
          <a:bodyPr/>
          <a:lstStyle>
            <a:lvl1pPr>
              <a:defRPr sz="2000"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690563" indent="-350838">
              <a:defRPr sz="1800"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031875" indent="-341313">
              <a:defRPr sz="1600"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541463" indent="-457200">
              <a:defRPr sz="1400"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4763964" y="953129"/>
            <a:ext cx="4279900" cy="5029200"/>
          </a:xfrm>
        </p:spPr>
        <p:txBody>
          <a:bodyPr/>
          <a:lstStyle>
            <a:lvl1pPr>
              <a:defRPr sz="2000"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 marL="690563" indent="-350838">
              <a:defRPr sz="1800">
                <a:solidFill>
                  <a:schemeClr val="accent4">
                    <a:lumMod val="85000"/>
                    <a:lumOff val="15000"/>
                  </a:schemeClr>
                </a:solidFill>
              </a:defRPr>
            </a:lvl2pPr>
            <a:lvl3pPr marL="1031875" indent="-341313">
              <a:defRPr sz="1600">
                <a:solidFill>
                  <a:schemeClr val="accent4">
                    <a:lumMod val="85000"/>
                    <a:lumOff val="15000"/>
                  </a:schemeClr>
                </a:solidFill>
              </a:defRPr>
            </a:lvl3pPr>
            <a:lvl4pPr marL="1541463" indent="-457200">
              <a:defRPr sz="1400">
                <a:solidFill>
                  <a:schemeClr val="accent4">
                    <a:lumMod val="85000"/>
                    <a:lumOff val="15000"/>
                  </a:schemeClr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qua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Picture 7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850900"/>
            <a:ext cx="6075363" cy="549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527800" y="1190625"/>
            <a:ext cx="1925638" cy="787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200" dirty="0">
              <a:solidFill>
                <a:schemeClr val="accent4">
                  <a:lumMod val="85000"/>
                  <a:lumOff val="15000"/>
                </a:schemeClr>
              </a:solidFill>
              <a:latin typeface="Arial Black" pitchFamily="34" charset="0"/>
            </a:endParaRPr>
          </a:p>
          <a:p>
            <a:pPr>
              <a:defRPr/>
            </a:pPr>
            <a:r>
              <a:rPr lang="en-US" sz="1000" dirty="0">
                <a:solidFill>
                  <a:schemeClr val="accent4">
                    <a:lumMod val="85000"/>
                    <a:lumOff val="15000"/>
                  </a:schemeClr>
                </a:solidFill>
                <a:latin typeface="Arial Black" pitchFamily="34" charset="0"/>
              </a:rPr>
              <a:t>CMC green</a:t>
            </a:r>
            <a:endParaRPr lang="en-US" sz="1800" dirty="0">
              <a:solidFill>
                <a:schemeClr val="accent4">
                  <a:lumMod val="85000"/>
                  <a:lumOff val="15000"/>
                </a:schemeClr>
              </a:solidFill>
              <a:latin typeface="Arial Black" pitchFamily="34" charset="0"/>
            </a:endParaRPr>
          </a:p>
          <a:p>
            <a:pPr>
              <a:defRPr/>
            </a:pPr>
            <a:r>
              <a:rPr lang="en-US" sz="900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RGB </a:t>
            </a:r>
            <a:r>
              <a:rPr lang="en-US" sz="1000" dirty="0">
                <a:solidFill>
                  <a:schemeClr val="accent4">
                    <a:lumMod val="85000"/>
                    <a:lumOff val="15000"/>
                  </a:schemeClr>
                </a:solidFill>
                <a:latin typeface="Arial Black" pitchFamily="34" charset="0"/>
              </a:rPr>
              <a:t>0/176/80</a:t>
            </a:r>
          </a:p>
          <a:p>
            <a:pPr algn="ctr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527800" y="2147888"/>
            <a:ext cx="1925638" cy="787400"/>
          </a:xfrm>
          <a:prstGeom prst="rect">
            <a:avLst/>
          </a:prstGeom>
          <a:solidFill>
            <a:srgbClr val="B0F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000" dirty="0">
                <a:solidFill>
                  <a:schemeClr val="accent4">
                    <a:lumMod val="85000"/>
                    <a:lumOff val="15000"/>
                  </a:schemeClr>
                </a:solidFill>
                <a:latin typeface="Arial Black" pitchFamily="34" charset="0"/>
              </a:rPr>
              <a:t>CMC light green</a:t>
            </a:r>
          </a:p>
          <a:p>
            <a:pPr>
              <a:defRPr/>
            </a:pPr>
            <a:r>
              <a:rPr lang="en-US" sz="900" dirty="0">
                <a:solidFill>
                  <a:schemeClr val="accent4">
                    <a:lumMod val="85000"/>
                    <a:lumOff val="15000"/>
                  </a:schemeClr>
                </a:solidFill>
              </a:rPr>
              <a:t>RGB</a:t>
            </a:r>
            <a:r>
              <a:rPr lang="en-US" sz="1000" dirty="0">
                <a:solidFill>
                  <a:schemeClr val="accent4">
                    <a:lumMod val="85000"/>
                    <a:lumOff val="15000"/>
                  </a:schemeClr>
                </a:solidFill>
                <a:latin typeface="Arial Black" pitchFamily="34" charset="0"/>
              </a:rPr>
              <a:t> </a:t>
            </a:r>
            <a:r>
              <a:rPr lang="en-US" sz="900" dirty="0">
                <a:solidFill>
                  <a:schemeClr val="accent4">
                    <a:lumMod val="85000"/>
                    <a:lumOff val="15000"/>
                  </a:schemeClr>
                </a:solidFill>
                <a:latin typeface="Arial Black" pitchFamily="34" charset="0"/>
              </a:rPr>
              <a:t>176/240/140</a:t>
            </a:r>
          </a:p>
        </p:txBody>
      </p:sp>
      <p:pic>
        <p:nvPicPr>
          <p:cNvPr id="7" name="Picture 6" descr="fuquaVECTOR-logo-rgb000099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7800" y="6119813"/>
            <a:ext cx="619125" cy="63658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8"/>
          <p:cNvSpPr>
            <a:spLocks noGrp="1"/>
          </p:cNvSpPr>
          <p:nvPr>
            <p:ph type="title"/>
          </p:nvPr>
        </p:nvSpPr>
        <p:spPr>
          <a:xfrm>
            <a:off x="307975" y="-77788"/>
            <a:ext cx="7627440" cy="7842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qua 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Picture 8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785813"/>
            <a:ext cx="6429375" cy="568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fuquaVECTOR-logo-rgb000099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7800" y="6119813"/>
            <a:ext cx="619125" cy="636587"/>
          </a:xfrm>
          <a:prstGeom prst="rect">
            <a:avLst/>
          </a:prstGeom>
          <a:effectLst>
            <a:outerShdw blurRad="25400" dist="254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8"/>
          <p:cNvSpPr>
            <a:spLocks noGrp="1"/>
          </p:cNvSpPr>
          <p:nvPr>
            <p:ph type="title"/>
          </p:nvPr>
        </p:nvSpPr>
        <p:spPr>
          <a:xfrm>
            <a:off x="307975" y="-77788"/>
            <a:ext cx="7627440" cy="7842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F5AE1-273E-4826-A15A-F99411BC81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</a:defRPr>
            </a:lvl1pPr>
          </a:lstStyle>
          <a:p>
            <a:pPr>
              <a:defRPr/>
            </a:pPr>
            <a:fld id="{1752983B-BC4D-46AF-9EA9-4EFB355E3B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13"/>
          <p:cNvGrpSpPr>
            <a:grpSpLocks/>
          </p:cNvGrpSpPr>
          <p:nvPr/>
        </p:nvGrpSpPr>
        <p:grpSpPr bwMode="auto">
          <a:xfrm>
            <a:off x="303213" y="136525"/>
            <a:ext cx="8650287" cy="776288"/>
            <a:chOff x="342842" y="135748"/>
            <a:chExt cx="8610658" cy="776287"/>
          </a:xfrm>
        </p:grpSpPr>
        <p:grpSp>
          <p:nvGrpSpPr>
            <p:cNvPr id="1032" name="Group 12"/>
            <p:cNvGrpSpPr>
              <a:grpSpLocks/>
            </p:cNvGrpSpPr>
            <p:nvPr userDrawn="1"/>
          </p:nvGrpSpPr>
          <p:grpSpPr bwMode="auto">
            <a:xfrm>
              <a:off x="342842" y="135748"/>
              <a:ext cx="8610658" cy="776287"/>
              <a:chOff x="342842" y="188913"/>
              <a:chExt cx="8610658" cy="776287"/>
            </a:xfrm>
          </p:grpSpPr>
          <p:cxnSp>
            <p:nvCxnSpPr>
              <p:cNvPr id="11" name="Straight Connector 10"/>
              <p:cNvCxnSpPr>
                <a:cxnSpLocks noChangeShapeType="1"/>
              </p:cNvCxnSpPr>
              <p:nvPr userDrawn="1"/>
            </p:nvCxnSpPr>
            <p:spPr bwMode="auto">
              <a:xfrm>
                <a:off x="342842" y="576263"/>
                <a:ext cx="7844248" cy="0"/>
              </a:xfrm>
              <a:prstGeom prst="line">
                <a:avLst/>
              </a:prstGeom>
              <a:noFill/>
              <a:ln w="12700">
                <a:solidFill>
                  <a:srgbClr val="00004D"/>
                </a:solidFill>
                <a:round/>
                <a:headEnd/>
                <a:tailEnd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pic>
            <p:nvPicPr>
              <p:cNvPr id="16" name="Picture 15" descr="mariner's star.png"/>
              <p:cNvPicPr>
                <a:picLocks noChangeAspect="1"/>
              </p:cNvPicPr>
              <p:nvPr userDrawn="1"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8177609" y="188913"/>
                <a:ext cx="775891" cy="776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8100" dir="2700000" rotWithShape="0">
                  <a:srgbClr val="808080">
                    <a:alpha val="42998"/>
                  </a:srgbClr>
                </a:outerShdw>
              </a:effectLst>
            </p:spPr>
          </p:pic>
        </p:grpSp>
        <p:pic>
          <p:nvPicPr>
            <p:cNvPr id="1033" name="Picture 11" descr="Picture 5.png"/>
            <p:cNvPicPr>
              <a:picLocks noChangeAspect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607564" y="590283"/>
              <a:ext cx="2475145" cy="219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+mj-ea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ＭＳ Ｐゴシック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0" fontAlgn="base" hangingPunct="0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+mn-ea"/>
          <a:cs typeface="ＭＳ Ｐゴシック" pitchFamily="-110" charset="-128"/>
        </a:defRPr>
      </a:lvl1pPr>
      <a:lvl2pPr marL="863600" indent="-292100" algn="l" rtl="0" eaLnBrk="0" fontAlgn="base" hangingPunct="0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+mn-ea"/>
        </a:defRPr>
      </a:lvl2pPr>
      <a:lvl3pPr marL="1206500" indent="-295275" algn="l" rtl="0" eaLnBrk="0" fontAlgn="base" hangingPunct="0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+mn-ea"/>
        </a:defRPr>
      </a:lvl3pPr>
      <a:lvl4pPr marL="1549400" indent="-292100" algn="l" rtl="0" eaLnBrk="0" fontAlgn="base" hangingPunct="0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productsearch.barnesandnoble.com/search/results.aspx?store=book&amp;ATH=Catherine+McCarthy" TargetMode="External"/><Relationship Id="rId5" Type="http://schemas.openxmlformats.org/officeDocument/2006/relationships/hyperlink" Target="http://productsearch.barnesandnoble.com/search/results.aspx?store=book&amp;ATH=Margaret+P.+Holtman" TargetMode="External"/><Relationship Id="rId4" Type="http://schemas.openxmlformats.org/officeDocument/2006/relationships/hyperlink" Target="http://productsearch.barnesandnoble.com/search/results.aspx?store=book&amp;ATH=Dennis+N.+T.+Perkins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ubtitle 4"/>
          <p:cNvSpPr>
            <a:spLocks noGrp="1"/>
          </p:cNvSpPr>
          <p:nvPr>
            <p:ph type="subTitle" idx="1"/>
          </p:nvPr>
        </p:nvSpPr>
        <p:spPr>
          <a:xfrm>
            <a:off x="0" y="3581400"/>
            <a:ext cx="4876800" cy="2425700"/>
          </a:xfrm>
        </p:spPr>
        <p:txBody>
          <a:bodyPr/>
          <a:lstStyle/>
          <a:p>
            <a:pPr algn="ctr" eaLnBrk="1" hangingPunct="1"/>
            <a:r>
              <a:rPr lang="en-US" smtClean="0"/>
              <a:t>Alumni Centra Session</a:t>
            </a:r>
          </a:p>
          <a:p>
            <a:pPr algn="ctr" eaLnBrk="1" hangingPunct="1"/>
            <a:r>
              <a:rPr lang="en-US" smtClean="0"/>
              <a:t>Thursday, September 30, 2010</a:t>
            </a:r>
          </a:p>
          <a:p>
            <a:pPr algn="ctr" eaLnBrk="1" hangingPunct="1"/>
            <a:r>
              <a:rPr lang="en-US" smtClean="0"/>
              <a:t>Lisa Schwartz </a:t>
            </a:r>
          </a:p>
          <a:p>
            <a:pPr algn="ctr" eaLnBrk="1" hangingPunct="1"/>
            <a:r>
              <a:rPr lang="en-US" smtClean="0"/>
              <a:t>and </a:t>
            </a:r>
          </a:p>
          <a:p>
            <a:pPr algn="ctr" eaLnBrk="1" hangingPunct="1"/>
            <a:r>
              <a:rPr lang="en-US" smtClean="0"/>
              <a:t>Guest Speaker  Catherine McCarthy</a:t>
            </a:r>
          </a:p>
        </p:txBody>
      </p:sp>
      <p:sp>
        <p:nvSpPr>
          <p:cNvPr id="10243" name="Title 3"/>
          <p:cNvSpPr>
            <a:spLocks noGrp="1"/>
          </p:cNvSpPr>
          <p:nvPr>
            <p:ph type="ctrTitle"/>
          </p:nvPr>
        </p:nvSpPr>
        <p:spPr>
          <a:xfrm>
            <a:off x="0" y="2209800"/>
            <a:ext cx="4570413" cy="1422400"/>
          </a:xfrm>
        </p:spPr>
        <p:txBody>
          <a:bodyPr/>
          <a:lstStyle/>
          <a:p>
            <a:pPr algn="ctr" eaLnBrk="1" hangingPunct="1"/>
            <a:r>
              <a:rPr lang="en-US" smtClean="0"/>
              <a:t>Time  Management: </a:t>
            </a:r>
            <a:br>
              <a:rPr lang="en-US" smtClean="0"/>
            </a:br>
            <a:r>
              <a:rPr lang="en-US" smtClean="0"/>
              <a:t>Getting the right work done first</a:t>
            </a:r>
            <a:br>
              <a:rPr lang="en-US" smtClean="0"/>
            </a:b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14400" y="2133600"/>
            <a:ext cx="4191000" cy="733425"/>
          </a:xfrm>
        </p:spPr>
        <p:txBody>
          <a:bodyPr/>
          <a:lstStyle/>
          <a:p>
            <a:pPr eaLnBrk="1" hangingPunct="1"/>
            <a:r>
              <a:rPr lang="en-US" sz="3600" smtClean="0"/>
              <a:t>A Better Way of Working</a:t>
            </a:r>
          </a:p>
        </p:txBody>
      </p:sp>
      <p:pic>
        <p:nvPicPr>
          <p:cNvPr id="11267" name="Picture 2" descr="Energy Project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676400" cy="165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 descr="headshot_catherin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219200"/>
            <a:ext cx="3048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TextBox 5"/>
          <p:cNvSpPr txBox="1">
            <a:spLocks noChangeArrowheads="1"/>
          </p:cNvSpPr>
          <p:nvPr/>
        </p:nvSpPr>
        <p:spPr bwMode="auto">
          <a:xfrm>
            <a:off x="5410200" y="4419600"/>
            <a:ext cx="31337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Catherine McCarthy</a:t>
            </a:r>
          </a:p>
          <a:p>
            <a:r>
              <a:rPr lang="en-US"/>
              <a:t>Chief Operating Officer</a:t>
            </a:r>
          </a:p>
          <a:p>
            <a:r>
              <a:rPr lang="en-US"/>
              <a:t>The Energy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12291" name="Content Placeholder 3" descr="orange man slide 1.001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l="-20833" r="-20833"/>
          <a:stretch>
            <a:fillRect/>
          </a:stretch>
        </p:blipFill>
        <p:spPr>
          <a:xfrm>
            <a:off x="-1981200" y="0"/>
            <a:ext cx="13127038" cy="69500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13315" name="Content Placeholder 3" descr="orange man 2_3.00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833" r="-20833"/>
          <a:stretch>
            <a:fillRect/>
          </a:stretch>
        </p:blipFill>
        <p:spPr>
          <a:xfrm>
            <a:off x="-1981200" y="0"/>
            <a:ext cx="13300075" cy="70405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14339" name="Content Placeholder 3" descr="orange man 2_3.00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20833" r="-20833"/>
          <a:stretch>
            <a:fillRect/>
          </a:stretch>
        </p:blipFill>
        <p:spPr>
          <a:xfrm>
            <a:off x="-2057400" y="0"/>
            <a:ext cx="13127038" cy="69500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343150" y="5006975"/>
            <a:ext cx="1806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22325">
              <a:tabLst>
                <a:tab pos="754063" algn="l"/>
              </a:tabLst>
            </a:pPr>
            <a:endParaRPr lang="en-US" sz="1300">
              <a:solidFill>
                <a:srgbClr val="000000"/>
              </a:solidFill>
              <a:latin typeface="AkzidenzNinety4" charset="0"/>
            </a:endParaRPr>
          </a:p>
        </p:txBody>
      </p:sp>
      <p:sp>
        <p:nvSpPr>
          <p:cNvPr id="19459" name="Rectangle 3"/>
          <p:cNvSpPr>
            <a:spLocks/>
          </p:cNvSpPr>
          <p:nvPr/>
        </p:nvSpPr>
        <p:spPr bwMode="auto">
          <a:xfrm>
            <a:off x="2862263" y="3479800"/>
            <a:ext cx="5881687" cy="517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defTabSz="822325">
              <a:lnSpc>
                <a:spcPct val="85000"/>
              </a:lnSpc>
            </a:pPr>
            <a:endParaRPr lang="en-US" sz="4000" b="1">
              <a:solidFill>
                <a:schemeClr val="accent2"/>
              </a:solidFill>
            </a:endParaRPr>
          </a:p>
        </p:txBody>
      </p:sp>
      <p:pic>
        <p:nvPicPr>
          <p:cNvPr id="19460" name="Picture 1029" descr="01.jpg                                                         003FB879tim                            C315B7EB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energy more fundamental.0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6"/>
          <p:cNvSpPr txBox="1">
            <a:spLocks noChangeArrowheads="1"/>
          </p:cNvSpPr>
          <p:nvPr/>
        </p:nvSpPr>
        <p:spPr bwMode="auto">
          <a:xfrm>
            <a:off x="2343150" y="5006975"/>
            <a:ext cx="1806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22325" eaLnBrk="1" hangingPunct="1">
              <a:tabLst>
                <a:tab pos="754063" algn="l"/>
              </a:tabLst>
            </a:pPr>
            <a:endParaRPr lang="en-US" sz="1300">
              <a:solidFill>
                <a:srgbClr val="000000"/>
              </a:solidFill>
              <a:latin typeface="AkzidenzNinety4" charset="0"/>
            </a:endParaRPr>
          </a:p>
        </p:txBody>
      </p:sp>
      <p:pic>
        <p:nvPicPr>
          <p:cNvPr id="26627" name="Picture 10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8575" y="-9525"/>
            <a:ext cx="920115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   </a:t>
            </a:r>
          </a:p>
        </p:txBody>
      </p:sp>
      <p:pic>
        <p:nvPicPr>
          <p:cNvPr id="27651" name="Picture 3" descr="energyAUDIT_21.jpg                                             0046AED0tim                            C315B7EB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0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" descr="EMP 2 without the #2.0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12713" y="-134938"/>
            <a:ext cx="9371013" cy="7127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75" y="-174625"/>
            <a:ext cx="9151938" cy="720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114425" y="1711325"/>
            <a:ext cx="6932613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22325">
              <a:lnSpc>
                <a:spcPts val="5125"/>
              </a:lnSpc>
              <a:tabLst>
                <a:tab pos="754063" algn="l"/>
              </a:tabLst>
            </a:pPr>
            <a:endParaRPr lang="en-US" sz="2900">
              <a:solidFill>
                <a:srgbClr val="000000"/>
              </a:solidFill>
            </a:endParaRPr>
          </a:p>
          <a:p>
            <a:pPr defTabSz="822325">
              <a:lnSpc>
                <a:spcPts val="5125"/>
              </a:lnSpc>
              <a:tabLst>
                <a:tab pos="754063" algn="l"/>
              </a:tabLst>
            </a:pPr>
            <a:endParaRPr lang="en-US" sz="2900">
              <a:solidFill>
                <a:srgbClr val="000000"/>
              </a:solidFill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C211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0"/>
            <a:ext cx="76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3700" y="3201988"/>
            <a:ext cx="8172450" cy="460375"/>
            <a:chOff x="248" y="2017"/>
            <a:chExt cx="5148" cy="29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325" y="2017"/>
              <a:ext cx="3114" cy="286"/>
              <a:chOff x="1325" y="2017"/>
              <a:chExt cx="3114" cy="286"/>
            </a:xfrm>
          </p:grpSpPr>
          <p:sp>
            <p:nvSpPr>
              <p:cNvPr id="38937" name="Rectangle 5"/>
              <p:cNvSpPr>
                <a:spLocks/>
              </p:cNvSpPr>
              <p:nvPr/>
            </p:nvSpPr>
            <p:spPr bwMode="auto">
              <a:xfrm rot="-5400000">
                <a:off x="2807" y="744"/>
                <a:ext cx="155" cy="2840"/>
              </a:xfrm>
              <a:prstGeom prst="rect">
                <a:avLst/>
              </a:prstGeom>
              <a:solidFill>
                <a:schemeClr val="bg2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8" name="AutoShape 6"/>
              <p:cNvSpPr>
                <a:spLocks/>
              </p:cNvSpPr>
              <p:nvPr/>
            </p:nvSpPr>
            <p:spPr bwMode="auto">
              <a:xfrm rot="-8100000">
                <a:off x="4153" y="2017"/>
                <a:ext cx="286" cy="286"/>
              </a:xfrm>
              <a:prstGeom prst="rtTriangle">
                <a:avLst/>
              </a:prstGeom>
              <a:solidFill>
                <a:schemeClr val="bg2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9" name="AutoShape 7"/>
              <p:cNvSpPr>
                <a:spLocks/>
              </p:cNvSpPr>
              <p:nvPr/>
            </p:nvSpPr>
            <p:spPr bwMode="auto">
              <a:xfrm rot="2700000">
                <a:off x="1325" y="2017"/>
                <a:ext cx="286" cy="286"/>
              </a:xfrm>
              <a:prstGeom prst="rtTriangle">
                <a:avLst/>
              </a:prstGeom>
              <a:solidFill>
                <a:schemeClr val="bg2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4486" y="2026"/>
              <a:ext cx="910" cy="281"/>
              <a:chOff x="4486" y="2026"/>
              <a:chExt cx="910" cy="281"/>
            </a:xfrm>
          </p:grpSpPr>
          <p:sp>
            <p:nvSpPr>
              <p:cNvPr id="38928" name="Text Box 9"/>
              <p:cNvSpPr txBox="1">
                <a:spLocks/>
              </p:cNvSpPr>
              <p:nvPr/>
            </p:nvSpPr>
            <p:spPr bwMode="auto">
              <a:xfrm>
                <a:off x="4486" y="2030"/>
                <a:ext cx="346" cy="26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200">
                    <a:solidFill>
                      <a:schemeClr val="bg1"/>
                    </a:solidFill>
                    <a:latin typeface="TradeGothic Bold" charset="0"/>
                  </a:rPr>
                  <a:t>P</a:t>
                </a:r>
                <a:endParaRPr lang="en-US" sz="2000">
                  <a:solidFill>
                    <a:schemeClr val="bg1"/>
                  </a:solidFill>
                  <a:latin typeface="TradeGothic Bold" charset="0"/>
                </a:endParaRPr>
              </a:p>
            </p:txBody>
          </p: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4638" y="2026"/>
                <a:ext cx="758" cy="281"/>
                <a:chOff x="4638" y="2026"/>
                <a:chExt cx="758" cy="281"/>
              </a:xfrm>
            </p:grpSpPr>
            <p:sp>
              <p:nvSpPr>
                <p:cNvPr id="38930" name="Text Box 11"/>
                <p:cNvSpPr txBox="1">
                  <a:spLocks/>
                </p:cNvSpPr>
                <p:nvPr/>
              </p:nvSpPr>
              <p:spPr bwMode="auto">
                <a:xfrm>
                  <a:off x="4788" y="2030"/>
                  <a:ext cx="166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S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31" name="Text Box 12"/>
                <p:cNvSpPr txBox="1">
                  <a:spLocks/>
                </p:cNvSpPr>
                <p:nvPr/>
              </p:nvSpPr>
              <p:spPr bwMode="auto">
                <a:xfrm>
                  <a:off x="5006" y="2030"/>
                  <a:ext cx="170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I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32" name="Text Box 13"/>
                <p:cNvSpPr txBox="1">
                  <a:spLocks/>
                </p:cNvSpPr>
                <p:nvPr/>
              </p:nvSpPr>
              <p:spPr bwMode="auto">
                <a:xfrm>
                  <a:off x="4965" y="2028"/>
                  <a:ext cx="116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T</a:t>
                  </a:r>
                </a:p>
              </p:txBody>
            </p:sp>
            <p:sp>
              <p:nvSpPr>
                <p:cNvPr id="38933" name="Text Box 14"/>
                <p:cNvSpPr txBox="1">
                  <a:spLocks/>
                </p:cNvSpPr>
                <p:nvPr/>
              </p:nvSpPr>
              <p:spPr bwMode="auto">
                <a:xfrm>
                  <a:off x="4883" y="2030"/>
                  <a:ext cx="116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I</a:t>
                  </a:r>
                </a:p>
              </p:txBody>
            </p:sp>
            <p:sp>
              <p:nvSpPr>
                <p:cNvPr id="38934" name="Text Box 15"/>
                <p:cNvSpPr txBox="1">
                  <a:spLocks/>
                </p:cNvSpPr>
                <p:nvPr/>
              </p:nvSpPr>
              <p:spPr bwMode="auto">
                <a:xfrm>
                  <a:off x="5080" y="2028"/>
                  <a:ext cx="202" cy="27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300">
                      <a:solidFill>
                        <a:schemeClr val="bg1"/>
                      </a:solidFill>
                      <a:latin typeface="TradeGothic Bold" charset="0"/>
                    </a:rPr>
                    <a:t>V</a:t>
                  </a:r>
                  <a:endParaRPr lang="en-US" sz="2200">
                    <a:solidFill>
                      <a:schemeClr val="bg1"/>
                    </a:solidFill>
                    <a:latin typeface="TradeGothic Bold" charset="0"/>
                  </a:endParaRPr>
                </a:p>
              </p:txBody>
            </p:sp>
            <p:sp>
              <p:nvSpPr>
                <p:cNvPr id="38935" name="Text Box 16"/>
                <p:cNvSpPr txBox="1">
                  <a:spLocks/>
                </p:cNvSpPr>
                <p:nvPr/>
              </p:nvSpPr>
              <p:spPr bwMode="auto">
                <a:xfrm>
                  <a:off x="5150" y="2026"/>
                  <a:ext cx="246" cy="27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300">
                      <a:solidFill>
                        <a:schemeClr val="bg1"/>
                      </a:solidFill>
                      <a:latin typeface="TradeGothic Bold" charset="0"/>
                    </a:rPr>
                    <a:t>E</a:t>
                  </a:r>
                  <a:endParaRPr lang="en-US" sz="2300">
                    <a:latin typeface="TradeGothic Bold" charset="0"/>
                  </a:endParaRPr>
                </a:p>
              </p:txBody>
            </p:sp>
            <p:sp>
              <p:nvSpPr>
                <p:cNvPr id="38936" name="Text Box 17"/>
                <p:cNvSpPr txBox="1">
                  <a:spLocks/>
                </p:cNvSpPr>
                <p:nvPr/>
              </p:nvSpPr>
              <p:spPr bwMode="auto">
                <a:xfrm>
                  <a:off x="4638" y="2031"/>
                  <a:ext cx="253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O</a:t>
                  </a:r>
                </a:p>
              </p:txBody>
            </p:sp>
          </p:grpSp>
        </p:grpSp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248" y="2029"/>
              <a:ext cx="937" cy="271"/>
              <a:chOff x="248" y="2029"/>
              <a:chExt cx="937" cy="271"/>
            </a:xfrm>
          </p:grpSpPr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248" y="2029"/>
                <a:ext cx="843" cy="271"/>
                <a:chOff x="248" y="2029"/>
                <a:chExt cx="843" cy="271"/>
              </a:xfrm>
            </p:grpSpPr>
            <p:sp>
              <p:nvSpPr>
                <p:cNvPr id="38921" name="Text Box 20"/>
                <p:cNvSpPr txBox="1">
                  <a:spLocks/>
                </p:cNvSpPr>
                <p:nvPr/>
              </p:nvSpPr>
              <p:spPr bwMode="auto">
                <a:xfrm>
                  <a:off x="248" y="2030"/>
                  <a:ext cx="334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N</a:t>
                  </a:r>
                  <a:endParaRPr lang="en-US">
                    <a:latin typeface="TradeGothic Bold" charset="0"/>
                  </a:endParaRPr>
                </a:p>
              </p:txBody>
            </p:sp>
            <p:sp>
              <p:nvSpPr>
                <p:cNvPr id="38922" name="Text Box 21"/>
                <p:cNvSpPr txBox="1">
                  <a:spLocks/>
                </p:cNvSpPr>
                <p:nvPr/>
              </p:nvSpPr>
              <p:spPr bwMode="auto">
                <a:xfrm>
                  <a:off x="400" y="2031"/>
                  <a:ext cx="233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E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23" name="Text Box 22"/>
                <p:cNvSpPr txBox="1">
                  <a:spLocks/>
                </p:cNvSpPr>
                <p:nvPr/>
              </p:nvSpPr>
              <p:spPr bwMode="auto">
                <a:xfrm>
                  <a:off x="490" y="2031"/>
                  <a:ext cx="253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G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24" name="Text Box 23"/>
                <p:cNvSpPr txBox="1">
                  <a:spLocks/>
                </p:cNvSpPr>
                <p:nvPr/>
              </p:nvSpPr>
              <p:spPr bwMode="auto">
                <a:xfrm>
                  <a:off x="606" y="2031"/>
                  <a:ext cx="233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A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25" name="Text Box 24"/>
                <p:cNvSpPr txBox="1">
                  <a:spLocks/>
                </p:cNvSpPr>
                <p:nvPr/>
              </p:nvSpPr>
              <p:spPr bwMode="auto">
                <a:xfrm>
                  <a:off x="707" y="2029"/>
                  <a:ext cx="224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T</a:t>
                  </a:r>
                  <a:endParaRPr lang="en-US" sz="2200">
                    <a:latin typeface="TradeGothic Bold" charset="0"/>
                  </a:endParaRPr>
                </a:p>
              </p:txBody>
            </p:sp>
            <p:sp>
              <p:nvSpPr>
                <p:cNvPr id="38926" name="Text Box 25"/>
                <p:cNvSpPr txBox="1">
                  <a:spLocks/>
                </p:cNvSpPr>
                <p:nvPr/>
              </p:nvSpPr>
              <p:spPr bwMode="auto">
                <a:xfrm>
                  <a:off x="801" y="2031"/>
                  <a:ext cx="165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I</a:t>
                  </a:r>
                </a:p>
              </p:txBody>
            </p:sp>
            <p:sp>
              <p:nvSpPr>
                <p:cNvPr id="38927" name="Text Box 26"/>
                <p:cNvSpPr txBox="1">
                  <a:spLocks/>
                </p:cNvSpPr>
                <p:nvPr/>
              </p:nvSpPr>
              <p:spPr bwMode="auto">
                <a:xfrm>
                  <a:off x="858" y="2031"/>
                  <a:ext cx="233" cy="26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200">
                      <a:solidFill>
                        <a:schemeClr val="bg1"/>
                      </a:solidFill>
                      <a:latin typeface="TradeGothic Bold" charset="0"/>
                    </a:rPr>
                    <a:t>V</a:t>
                  </a:r>
                  <a:endParaRPr lang="en-US" sz="2200">
                    <a:latin typeface="TradeGothic Bold" charset="0"/>
                  </a:endParaRPr>
                </a:p>
              </p:txBody>
            </p:sp>
          </p:grpSp>
          <p:sp>
            <p:nvSpPr>
              <p:cNvPr id="38920" name="Text Box 27"/>
              <p:cNvSpPr txBox="1">
                <a:spLocks/>
              </p:cNvSpPr>
              <p:nvPr/>
            </p:nvSpPr>
            <p:spPr bwMode="auto">
              <a:xfrm>
                <a:off x="952" y="2031"/>
                <a:ext cx="233" cy="26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200">
                    <a:solidFill>
                      <a:schemeClr val="bg1"/>
                    </a:solidFill>
                    <a:latin typeface="TradeGothic Bold" charset="0"/>
                  </a:rPr>
                  <a:t>E</a:t>
                </a:r>
              </a:p>
            </p:txBody>
          </p:sp>
        </p:grpSp>
      </p:grp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pic>
        <p:nvPicPr>
          <p:cNvPr id="40963" name="Content Placeholder 3" descr="EMP 3 without the #3.00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18187" r="-18187"/>
          <a:stretch>
            <a:fillRect/>
          </a:stretch>
        </p:blipFill>
        <p:spPr>
          <a:xfrm>
            <a:off x="-1735138" y="0"/>
            <a:ext cx="12719051" cy="69945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343150" y="5006975"/>
            <a:ext cx="1806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22325">
              <a:tabLst>
                <a:tab pos="754063" algn="l"/>
              </a:tabLst>
            </a:pPr>
            <a:endParaRPr lang="en-US" sz="1300">
              <a:solidFill>
                <a:srgbClr val="000000"/>
              </a:solidFill>
              <a:latin typeface="AkzidenzNinety4" charset="0"/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/>
          </p:cNvSpPr>
          <p:nvPr/>
        </p:nvSpPr>
        <p:spPr bwMode="auto">
          <a:xfrm>
            <a:off x="1168400" y="774700"/>
            <a:ext cx="3022600" cy="2095500"/>
          </a:xfrm>
          <a:prstGeom prst="rect">
            <a:avLst/>
          </a:prstGeom>
          <a:solidFill>
            <a:srgbClr val="FFC211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200">
              <a:solidFill>
                <a:srgbClr val="000000"/>
              </a:solidFill>
              <a:latin typeface="Gill Sans" charset="0"/>
            </a:endParaRPr>
          </a:p>
        </p:txBody>
      </p:sp>
      <p:sp>
        <p:nvSpPr>
          <p:cNvPr id="41989" name="Rectangle 5"/>
          <p:cNvSpPr>
            <a:spLocks/>
          </p:cNvSpPr>
          <p:nvPr/>
        </p:nvSpPr>
        <p:spPr bwMode="auto">
          <a:xfrm>
            <a:off x="584200" y="4051300"/>
            <a:ext cx="3022600" cy="2095500"/>
          </a:xfrm>
          <a:prstGeom prst="rect">
            <a:avLst/>
          </a:prstGeom>
          <a:solidFill>
            <a:srgbClr val="FFC211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200">
              <a:solidFill>
                <a:srgbClr val="000000"/>
              </a:solidFill>
              <a:latin typeface="Gill Sans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2343150" y="5006975"/>
            <a:ext cx="1806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22325">
              <a:tabLst>
                <a:tab pos="754063" algn="l"/>
              </a:tabLst>
            </a:pPr>
            <a:endParaRPr lang="en-US" sz="1300">
              <a:solidFill>
                <a:srgbClr val="000000"/>
              </a:solidFill>
              <a:latin typeface="AkzidenzNinety4" charset="0"/>
            </a:endParaRP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Rectangle 4"/>
          <p:cNvSpPr>
            <a:spLocks/>
          </p:cNvSpPr>
          <p:nvPr/>
        </p:nvSpPr>
        <p:spPr bwMode="auto">
          <a:xfrm>
            <a:off x="558800" y="4051300"/>
            <a:ext cx="3022600" cy="2095500"/>
          </a:xfrm>
          <a:prstGeom prst="rect">
            <a:avLst/>
          </a:prstGeom>
          <a:solidFill>
            <a:srgbClr val="FFC211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200">
              <a:solidFill>
                <a:srgbClr val="000000"/>
              </a:solidFill>
              <a:latin typeface="Gill Sans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343150" y="5006975"/>
            <a:ext cx="1806575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822325">
              <a:tabLst>
                <a:tab pos="754063" algn="l"/>
              </a:tabLst>
            </a:pPr>
            <a:endParaRPr lang="en-US" sz="1300">
              <a:solidFill>
                <a:srgbClr val="000000"/>
              </a:solidFill>
              <a:latin typeface="AkzidenzNinety4" charset="0"/>
            </a:endParaRP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mtClean="0">
              <a:cs typeface="+mn-cs"/>
            </a:endParaRPr>
          </a:p>
        </p:txBody>
      </p:sp>
      <p:sp>
        <p:nvSpPr>
          <p:cNvPr id="4505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5060" name="Picture 3" descr="New Keys to Building Rit_May10.0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" descr="closing webinar slides.0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" descr="Resources final slide.00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7" descr="The way we're working isn't working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914400"/>
            <a:ext cx="3459163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1" name="Picture 8" descr="leading at the edg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990600"/>
            <a:ext cx="2895600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3962400" y="5334000"/>
            <a:ext cx="51816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Leading at the Edge: Leadership Lessons from the Extraordinary Saga of Shackleton's Antarctic Expedition </a:t>
            </a:r>
            <a:r>
              <a:rPr lang="en-US" sz="1600" b="1" i="1"/>
              <a:t>by </a:t>
            </a:r>
            <a:r>
              <a:rPr lang="en-US" sz="1600" b="1" i="1">
                <a:hlinkClick r:id="rId4"/>
              </a:rPr>
              <a:t>Dennis N. T. Perkins</a:t>
            </a:r>
            <a:r>
              <a:rPr lang="en-US" sz="1600" b="1" i="1"/>
              <a:t>, </a:t>
            </a:r>
            <a:r>
              <a:rPr lang="en-US" sz="1600" b="1" i="1">
                <a:hlinkClick r:id="rId5"/>
              </a:rPr>
              <a:t>Margaret P. Holtman</a:t>
            </a:r>
            <a:r>
              <a:rPr lang="en-US" sz="1600" b="1" i="1"/>
              <a:t> (With), </a:t>
            </a:r>
            <a:r>
              <a:rPr lang="en-US" sz="1600" b="1" i="1">
                <a:hlinkClick r:id="rId6"/>
              </a:rPr>
              <a:t>Catherine McCarthy</a:t>
            </a:r>
            <a:r>
              <a:rPr lang="en-US" sz="1600" b="1" i="1"/>
              <a:t> 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amlets blackberr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143000"/>
            <a:ext cx="721042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CMBA - CMC VIS - final-2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100 jobs August 2010</Template>
  <TotalTime>10057</TotalTime>
  <Words>108</Words>
  <Application>Microsoft Office PowerPoint</Application>
  <PresentationFormat>On-screen Show (4:3)</PresentationFormat>
  <Paragraphs>55</Paragraphs>
  <Slides>39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Times</vt:lpstr>
      <vt:lpstr>ＭＳ Ｐゴシック</vt:lpstr>
      <vt:lpstr>Arial</vt:lpstr>
      <vt:lpstr>Arial Black</vt:lpstr>
      <vt:lpstr>AkzidenzNinety4</vt:lpstr>
      <vt:lpstr>CCMBA - CMC VIS - final-2</vt:lpstr>
      <vt:lpstr>Time  Management:  Getting the right work done first </vt:lpstr>
      <vt:lpstr>A Better Way of Working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   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Manager/>
  <Company>Alterpop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Christopher Simmons</dc:creator>
  <cp:keywords/>
  <dc:description/>
  <cp:lastModifiedBy>Katie Thomasson</cp:lastModifiedBy>
  <cp:revision>126</cp:revision>
  <dcterms:created xsi:type="dcterms:W3CDTF">2010-09-13T21:08:59Z</dcterms:created>
  <dcterms:modified xsi:type="dcterms:W3CDTF">2010-10-06T14:46:52Z</dcterms:modified>
  <cp:category/>
</cp:coreProperties>
</file>