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8" r:id="rId5"/>
    <p:sldId id="265" r:id="rId6"/>
    <p:sldId id="263" r:id="rId7"/>
    <p:sldId id="264" r:id="rId8"/>
    <p:sldId id="259" r:id="rId9"/>
    <p:sldId id="269" r:id="rId10"/>
    <p:sldId id="262" r:id="rId11"/>
    <p:sldId id="273" r:id="rId12"/>
    <p:sldId id="270" r:id="rId13"/>
    <p:sldId id="272" r:id="rId14"/>
    <p:sldId id="271" r:id="rId15"/>
    <p:sldId id="261" r:id="rId16"/>
    <p:sldId id="276" r:id="rId17"/>
    <p:sldId id="274" r:id="rId18"/>
    <p:sldId id="275" r:id="rId19"/>
    <p:sldId id="267" r:id="rId20"/>
    <p:sldId id="277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92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8FD880-A64C-4A55-BDE1-7F5E71656D73}" type="datetimeFigureOut">
              <a:rPr lang="en-US" smtClean="0"/>
              <a:pPr/>
              <a:t>4/5/2011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274CE7-2E9A-444B-B6FB-74576696B7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7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FBCE4B-BD47-4395-AC5E-48C657709777}" type="slidenum">
              <a:rPr lang="en-US" smtClean="0">
                <a:latin typeface="Arial" pitchFamily="34" charset="0"/>
              </a:rPr>
              <a:pPr/>
              <a:t>2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spcBef>
                <a:spcPct val="0"/>
              </a:spcBef>
            </a:pPr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>
              <a:latin typeface="Arial" pitchFamily="34" charset="0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194AD2-84F2-4EB0-88C5-007345530ED1}" type="slidenum">
              <a:rPr lang="en-US" smtClean="0">
                <a:latin typeface="Arial" pitchFamily="34" charset="0"/>
              </a:rPr>
              <a:pPr/>
              <a:t>3</a:t>
            </a:fld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5A7B220-F05A-4317-9B0B-DBC24D6C4E5A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1" tIns="45716" rIns="91431" bIns="45716" anchor="b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9BC1D64B-3B71-4F57-9084-7324EFF39C61}" type="slidenum">
              <a:rPr lang="en-US" sz="1200">
                <a:solidFill>
                  <a:srgbClr val="000000"/>
                </a:solidFill>
                <a:latin typeface="Arial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sz="1200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://www.cuahsi.org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hyperlink" Target="http://www.campbellsci.com/03001-wind-sentry" TargetMode="External"/><Relationship Id="rId9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6.jpeg"/><Relationship Id="rId7" Type="http://schemas.openxmlformats.org/officeDocument/2006/relationships/image" Target="../media/image20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hydrodesktop.codeplex.com/" TargetMode="External"/><Relationship Id="rId2" Type="http://schemas.openxmlformats.org/officeDocument/2006/relationships/hyperlink" Target="http://hydroserver.codeplex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hyperlink" Target="http://hydrocatalog.codeplex.com/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590800"/>
          </a:xfrm>
        </p:spPr>
        <p:txBody>
          <a:bodyPr>
            <a:normAutofit/>
          </a:bodyPr>
          <a:lstStyle/>
          <a:p>
            <a:r>
              <a:rPr lang="en-US" dirty="0" smtClean="0"/>
              <a:t>Advancing a Services Oriented Architecture for Sharing </a:t>
            </a:r>
            <a:br>
              <a:rPr lang="en-US" dirty="0" smtClean="0"/>
            </a:br>
            <a:r>
              <a:rPr lang="en-US" dirty="0" smtClean="0"/>
              <a:t>Hydrologic Data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895600"/>
            <a:ext cx="6400800" cy="27432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Jeffery S. Horsburgh</a:t>
            </a:r>
          </a:p>
          <a:p>
            <a:r>
              <a:rPr lang="en-US" sz="1800" dirty="0" smtClean="0">
                <a:solidFill>
                  <a:schemeClr val="tx2">
                    <a:lumMod val="50000"/>
                  </a:schemeClr>
                </a:solidFill>
              </a:rPr>
              <a:t>Utah Water Research Laboratory</a:t>
            </a:r>
          </a:p>
          <a:p>
            <a:r>
              <a:rPr lang="en-US" sz="1800" dirty="0" smtClean="0">
                <a:solidFill>
                  <a:schemeClr val="tx2">
                    <a:lumMod val="50000"/>
                  </a:schemeClr>
                </a:solidFill>
              </a:rPr>
              <a:t>Utah State University</a:t>
            </a:r>
          </a:p>
          <a:p>
            <a:endParaRPr lang="en-US" sz="1800" dirty="0" smtClean="0"/>
          </a:p>
          <a:p>
            <a:r>
              <a:rPr lang="en-US" sz="2595" dirty="0" smtClean="0"/>
              <a:t>D.G. Tarboton, D.R. Maidment, I. Zaslavsky, D.P. Ames, J.L. </a:t>
            </a:r>
            <a:r>
              <a:rPr lang="en-US" sz="2595" dirty="0" err="1" smtClean="0"/>
              <a:t>Goodall</a:t>
            </a:r>
            <a:r>
              <a:rPr lang="en-US" sz="2595" dirty="0" smtClean="0"/>
              <a:t>, and R.P. Hooper</a:t>
            </a:r>
            <a:endParaRPr lang="en-US" sz="2595" dirty="0"/>
          </a:p>
        </p:txBody>
      </p:sp>
      <p:pic>
        <p:nvPicPr>
          <p:cNvPr id="4" name="Picture 3" descr="sponsor_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41920" y="5334000"/>
            <a:ext cx="1173480" cy="117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152400" y="5480755"/>
            <a:ext cx="3465512" cy="1300162"/>
            <a:chOff x="228600" y="5232772"/>
            <a:chExt cx="3733800" cy="1400590"/>
          </a:xfrm>
        </p:grpSpPr>
        <p:pic>
          <p:nvPicPr>
            <p:cNvPr id="7" name="Picture 6" descr="cuahsi_logo_4"/>
            <p:cNvPicPr>
              <a:picLocks noChangeAspect="1" noChangeArrowheads="1"/>
            </p:cNvPicPr>
            <p:nvPr/>
          </p:nvPicPr>
          <p:blipFill>
            <a:blip r:embed="rId3" cstate="print"/>
            <a:srcRect r="69569"/>
            <a:stretch>
              <a:fillRect/>
            </a:stretch>
          </p:blipFill>
          <p:spPr bwMode="auto">
            <a:xfrm>
              <a:off x="228600" y="5232772"/>
              <a:ext cx="1447800" cy="14005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1600200" y="5257800"/>
              <a:ext cx="2362200" cy="1326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sz="2800" dirty="0">
                  <a:solidFill>
                    <a:prstClr val="black"/>
                  </a:solidFill>
                </a:rPr>
                <a:t>CUAHSI</a:t>
              </a:r>
            </a:p>
            <a:p>
              <a:pPr>
                <a:lnSpc>
                  <a:spcPct val="80000"/>
                </a:lnSpc>
              </a:pPr>
              <a:r>
                <a:rPr lang="en-US" sz="5400" dirty="0">
                  <a:solidFill>
                    <a:prstClr val="black"/>
                  </a:solidFill>
                </a:rPr>
                <a:t>HIS</a:t>
              </a:r>
            </a:p>
            <a:p>
              <a:pPr>
                <a:lnSpc>
                  <a:spcPct val="40000"/>
                </a:lnSpc>
              </a:pPr>
              <a:r>
                <a:rPr lang="en-US" sz="1400" i="1" dirty="0">
                  <a:solidFill>
                    <a:prstClr val="black"/>
                  </a:solidFill>
                </a:rPr>
                <a:t>Sharing hydrologic data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543800" y="6477000"/>
            <a:ext cx="16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89438"/>
            <a:r>
              <a:rPr lang="en-US" sz="1200" dirty="0" smtClean="0">
                <a:solidFill>
                  <a:prstClr val="black"/>
                </a:solidFill>
              </a:rPr>
              <a:t>Support EAR </a:t>
            </a:r>
            <a:r>
              <a:rPr lang="en-US" sz="1200" dirty="0">
                <a:solidFill>
                  <a:prstClr val="black"/>
                </a:solidFill>
              </a:rPr>
              <a:t>0622374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39497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630363"/>
          </a:xfrm>
        </p:spPr>
        <p:txBody>
          <a:bodyPr/>
          <a:lstStyle/>
          <a:p>
            <a:r>
              <a:rPr lang="en-US" sz="3600" smtClean="0"/>
              <a:t>Consortium of Universities for the Advancement of Hydrologic Science, Inc.</a:t>
            </a:r>
          </a:p>
        </p:txBody>
      </p:sp>
      <p:pic>
        <p:nvPicPr>
          <p:cNvPr id="14339" name="Picture 4" descr="cuahsi_logo_4"/>
          <p:cNvPicPr>
            <a:picLocks noChangeAspect="1" noChangeArrowheads="1"/>
          </p:cNvPicPr>
          <p:nvPr/>
        </p:nvPicPr>
        <p:blipFill>
          <a:blip r:embed="rId3" cstate="print"/>
          <a:srcRect r="-6274"/>
          <a:stretch>
            <a:fillRect/>
          </a:stretch>
        </p:blipFill>
        <p:spPr bwMode="auto">
          <a:xfrm>
            <a:off x="6248400" y="5410200"/>
            <a:ext cx="2895600" cy="801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0" name="Rectangle 5"/>
          <p:cNvSpPr>
            <a:spLocks noChangeArrowheads="1"/>
          </p:cNvSpPr>
          <p:nvPr/>
        </p:nvSpPr>
        <p:spPr bwMode="auto">
          <a:xfrm>
            <a:off x="152400" y="5380038"/>
            <a:ext cx="5638800" cy="1477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dirty="0"/>
              <a:t>An organization representing more than one hundred United States universities, receives support from </a:t>
            </a:r>
            <a:r>
              <a:rPr lang="en-US" dirty="0" smtClean="0"/>
              <a:t>the National </a:t>
            </a:r>
            <a:r>
              <a:rPr lang="en-US" dirty="0"/>
              <a:t>Science Foundation to develop infrastructure and services for the advancement of hydrologic science and education in the U.S.</a:t>
            </a:r>
          </a:p>
        </p:txBody>
      </p:sp>
      <p:sp>
        <p:nvSpPr>
          <p:cNvPr id="14341" name="Rectangle 6"/>
          <p:cNvSpPr>
            <a:spLocks noChangeArrowheads="1"/>
          </p:cNvSpPr>
          <p:nvPr/>
        </p:nvSpPr>
        <p:spPr bwMode="auto">
          <a:xfrm>
            <a:off x="6484938" y="6335713"/>
            <a:ext cx="25066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>
                <a:hlinkClick r:id="rId4"/>
              </a:rPr>
              <a:t>http://www.cuahsi.org/</a:t>
            </a:r>
            <a:r>
              <a:rPr lang="en-US"/>
              <a:t> </a:t>
            </a:r>
          </a:p>
        </p:txBody>
      </p:sp>
      <p:pic>
        <p:nvPicPr>
          <p:cNvPr id="14342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6200" y="1447800"/>
            <a:ext cx="6345238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5867400" y="3733800"/>
            <a:ext cx="32303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 smtClean="0">
                <a:solidFill>
                  <a:srgbClr val="FF0000"/>
                </a:solidFill>
              </a:rPr>
              <a:t>Hydrologic Information System</a:t>
            </a:r>
            <a:endParaRPr lang="en-US" sz="1600" b="1" i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67400" y="4014192"/>
            <a:ext cx="3401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 smtClean="0">
                <a:solidFill>
                  <a:srgbClr val="FF0000"/>
                </a:solidFill>
              </a:rPr>
              <a:t>Hydrologic Measurement Facility</a:t>
            </a:r>
            <a:endParaRPr lang="en-US" sz="1600" b="1" i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67400" y="4294584"/>
            <a:ext cx="2214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 smtClean="0">
                <a:solidFill>
                  <a:srgbClr val="FF0000"/>
                </a:solidFill>
              </a:rPr>
              <a:t>Hydrologic Modeling</a:t>
            </a:r>
            <a:endParaRPr lang="en-US" sz="1600" b="1" i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867400" y="4574977"/>
            <a:ext cx="3262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 smtClean="0">
                <a:solidFill>
                  <a:srgbClr val="FF0000"/>
                </a:solidFill>
              </a:rPr>
              <a:t>Hydrologic Education Outreach</a:t>
            </a:r>
            <a:endParaRPr lang="en-US" sz="1600" b="1" i="1" dirty="0">
              <a:solidFill>
                <a:srgbClr val="FF0000"/>
              </a:solidFill>
            </a:endParaRPr>
          </a:p>
        </p:txBody>
      </p:sp>
      <p:sp>
        <p:nvSpPr>
          <p:cNvPr id="17" name="Diamond 16"/>
          <p:cNvSpPr/>
          <p:nvPr/>
        </p:nvSpPr>
        <p:spPr bwMode="auto">
          <a:xfrm>
            <a:off x="5715000" y="3810000"/>
            <a:ext cx="152400" cy="152400"/>
          </a:xfrm>
          <a:prstGeom prst="diamond">
            <a:avLst/>
          </a:prstGeom>
          <a:solidFill>
            <a:srgbClr val="FF0000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Diamond 17"/>
          <p:cNvSpPr/>
          <p:nvPr/>
        </p:nvSpPr>
        <p:spPr bwMode="auto">
          <a:xfrm>
            <a:off x="5715000" y="4089400"/>
            <a:ext cx="152400" cy="152400"/>
          </a:xfrm>
          <a:prstGeom prst="diamond">
            <a:avLst/>
          </a:prstGeom>
          <a:solidFill>
            <a:srgbClr val="FF0000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Diamond 18"/>
          <p:cNvSpPr/>
          <p:nvPr/>
        </p:nvSpPr>
        <p:spPr bwMode="auto">
          <a:xfrm>
            <a:off x="5715000" y="4368800"/>
            <a:ext cx="152400" cy="152400"/>
          </a:xfrm>
          <a:prstGeom prst="diamond">
            <a:avLst/>
          </a:prstGeom>
          <a:solidFill>
            <a:srgbClr val="FF0000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Diamond 19"/>
          <p:cNvSpPr/>
          <p:nvPr/>
        </p:nvSpPr>
        <p:spPr bwMode="auto">
          <a:xfrm>
            <a:off x="5715000" y="4648200"/>
            <a:ext cx="152400" cy="152400"/>
          </a:xfrm>
          <a:prstGeom prst="diamond">
            <a:avLst/>
          </a:prstGeom>
          <a:solidFill>
            <a:srgbClr val="FF0000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627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6324600" y="2081748"/>
            <a:ext cx="2895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Partners</a:t>
            </a:r>
            <a:r>
              <a:rPr lang="en-US" b="1" dirty="0">
                <a:solidFill>
                  <a:srgbClr val="FF0000"/>
                </a:solidFill>
              </a:rPr>
              <a:t>:</a:t>
            </a:r>
          </a:p>
          <a:p>
            <a:r>
              <a:rPr lang="en-US" b="1" dirty="0">
                <a:solidFill>
                  <a:srgbClr val="3333CC"/>
                </a:solidFill>
              </a:rPr>
              <a:t>Academic</a:t>
            </a:r>
            <a:r>
              <a:rPr lang="en-US" dirty="0"/>
              <a:t>:  11 NSF hydrologic observatories, CEO:P projects, </a:t>
            </a:r>
            <a:r>
              <a:rPr lang="en-US" dirty="0" smtClean="0"/>
              <a:t>LTER, CZO…</a:t>
            </a:r>
            <a:endParaRPr lang="en-US" dirty="0"/>
          </a:p>
          <a:p>
            <a:r>
              <a:rPr lang="en-US" b="1" dirty="0">
                <a:solidFill>
                  <a:srgbClr val="3333CC"/>
                </a:solidFill>
              </a:rPr>
              <a:t>Government</a:t>
            </a:r>
            <a:r>
              <a:rPr lang="en-US" dirty="0"/>
              <a:t>: USGS, EPA, NCDC, NWS, state  and local</a:t>
            </a:r>
          </a:p>
          <a:p>
            <a:r>
              <a:rPr lang="en-US" b="1" dirty="0">
                <a:solidFill>
                  <a:srgbClr val="3333CC"/>
                </a:solidFill>
              </a:rPr>
              <a:t>Commercial</a:t>
            </a:r>
            <a:r>
              <a:rPr lang="en-US" dirty="0"/>
              <a:t>: Microsoft, ESRI, </a:t>
            </a:r>
            <a:r>
              <a:rPr lang="en-US" dirty="0" err="1"/>
              <a:t>Kisters</a:t>
            </a:r>
            <a:endParaRPr lang="en-US" dirty="0"/>
          </a:p>
          <a:p>
            <a:r>
              <a:rPr lang="en-US" b="1" dirty="0">
                <a:solidFill>
                  <a:srgbClr val="3333CC"/>
                </a:solidFill>
              </a:rPr>
              <a:t>International</a:t>
            </a:r>
            <a:r>
              <a:rPr lang="en-US" dirty="0"/>
              <a:t>: Australia, UK</a:t>
            </a:r>
          </a:p>
          <a:p>
            <a:r>
              <a:rPr lang="en-US" b="1" dirty="0">
                <a:solidFill>
                  <a:srgbClr val="3333CC"/>
                </a:solidFill>
              </a:rPr>
              <a:t>Standardization</a:t>
            </a:r>
            <a:r>
              <a:rPr lang="en-US" dirty="0"/>
              <a:t>: OGC, WMO (Hydrology Domain </a:t>
            </a:r>
            <a:r>
              <a:rPr lang="en-US" dirty="0" smtClean="0"/>
              <a:t>WG); </a:t>
            </a:r>
            <a:r>
              <a:rPr lang="en-US" dirty="0"/>
              <a:t>adopted by USGS, </a:t>
            </a:r>
            <a:r>
              <a:rPr lang="en-US" dirty="0" smtClean="0"/>
              <a:t>NCDC, Army Corps of Eng.</a:t>
            </a:r>
            <a:endParaRPr lang="en-US" dirty="0"/>
          </a:p>
        </p:txBody>
      </p:sp>
      <p:sp>
        <p:nvSpPr>
          <p:cNvPr id="15364" name="TextBox 4"/>
          <p:cNvSpPr txBox="1">
            <a:spLocks noChangeArrowheads="1"/>
          </p:cNvSpPr>
          <p:nvPr/>
        </p:nvSpPr>
        <p:spPr bwMode="auto">
          <a:xfrm>
            <a:off x="304800" y="5075872"/>
            <a:ext cx="5715000" cy="1477328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17475" indent="-117475">
              <a:buFont typeface="Arial"/>
              <a:buChar char="•"/>
            </a:pPr>
            <a:r>
              <a:rPr lang="en-US" dirty="0"/>
              <a:t>An online distributed system to support the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sharing </a:t>
            </a:r>
            <a:r>
              <a:rPr lang="en-US" dirty="0">
                <a:solidFill>
                  <a:srgbClr val="FF0000"/>
                </a:solidFill>
              </a:rPr>
              <a:t>of hydrologic data</a:t>
            </a:r>
            <a:r>
              <a:rPr lang="en-US" dirty="0"/>
              <a:t> from multiple</a:t>
            </a:r>
            <a:r>
              <a:rPr lang="en-US" dirty="0" smtClean="0"/>
              <a:t> repositories </a:t>
            </a:r>
            <a:r>
              <a:rPr lang="en-US" dirty="0"/>
              <a:t>and databases via standard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water </a:t>
            </a:r>
            <a:r>
              <a:rPr lang="en-US" dirty="0">
                <a:solidFill>
                  <a:srgbClr val="FF0000"/>
                </a:solidFill>
              </a:rPr>
              <a:t>data service</a:t>
            </a:r>
            <a:r>
              <a:rPr lang="en-US" dirty="0"/>
              <a:t> </a:t>
            </a:r>
            <a:r>
              <a:rPr lang="en-US" dirty="0" smtClean="0"/>
              <a:t>protocols</a:t>
            </a:r>
          </a:p>
          <a:p>
            <a:pPr marL="117475" indent="-117475">
              <a:buFont typeface="Arial"/>
              <a:buChar char="•"/>
            </a:pPr>
            <a:r>
              <a:rPr lang="en-US" dirty="0" smtClean="0"/>
              <a:t>Software </a:t>
            </a:r>
            <a:r>
              <a:rPr lang="en-US" dirty="0"/>
              <a:t>for data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publication</a:t>
            </a:r>
            <a:r>
              <a:rPr lang="en-US" dirty="0">
                <a:solidFill>
                  <a:srgbClr val="FF0000"/>
                </a:solidFill>
              </a:rPr>
              <a:t>, discovery, access and </a:t>
            </a:r>
            <a:r>
              <a:rPr lang="en-US" dirty="0" smtClean="0">
                <a:solidFill>
                  <a:srgbClr val="FF0000"/>
                </a:solidFill>
              </a:rPr>
              <a:t>integration</a:t>
            </a:r>
            <a:endParaRPr lang="en-US" dirty="0"/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57200" y="76200"/>
            <a:ext cx="8229600" cy="71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40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What is the CUAHSI HIS?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" y="773668"/>
            <a:ext cx="8267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solidFill>
                  <a:srgbClr val="C00000"/>
                </a:solidFill>
              </a:rPr>
              <a:t>UT-Austin, SDSC/UCSD, Utah State U, Idaho State U, Drexel U, U of So. Carolina, CUAHSI</a:t>
            </a:r>
          </a:p>
          <a:p>
            <a:r>
              <a:rPr lang="en-US" i="1" dirty="0" smtClean="0">
                <a:solidFill>
                  <a:srgbClr val="C00000"/>
                </a:solidFill>
              </a:rPr>
              <a:t>PI: D. R. Maidment (UT-Austin)</a:t>
            </a:r>
            <a:endParaRPr lang="en-US" i="1" dirty="0">
              <a:solidFill>
                <a:srgbClr val="C00000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70" y="1828800"/>
            <a:ext cx="5851930" cy="2811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455691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</p:spPr>
        <p:txBody>
          <a:bodyPr/>
          <a:lstStyle/>
          <a:p>
            <a:r>
              <a:rPr lang="en-US" dirty="0" smtClean="0"/>
              <a:t>HydroServer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r>
              <a:rPr lang="en-US" sz="2800" dirty="0" smtClean="0"/>
              <a:t>Publication of point observations and geospatial datasets</a:t>
            </a:r>
          </a:p>
          <a:p>
            <a:r>
              <a:rPr lang="en-US" sz="2800" dirty="0" smtClean="0"/>
              <a:t>Distributed data with local control for data publishers</a:t>
            </a:r>
            <a:endParaRPr lang="en-US" sz="2800" dirty="0"/>
          </a:p>
        </p:txBody>
      </p:sp>
      <p:grpSp>
        <p:nvGrpSpPr>
          <p:cNvPr id="31" name="Group 30"/>
          <p:cNvGrpSpPr/>
          <p:nvPr/>
        </p:nvGrpSpPr>
        <p:grpSpPr>
          <a:xfrm>
            <a:off x="858837" y="2882899"/>
            <a:ext cx="7751763" cy="3670300"/>
            <a:chOff x="858837" y="2438400"/>
            <a:chExt cx="7751763" cy="3670300"/>
          </a:xfrm>
        </p:grpSpPr>
        <p:sp>
          <p:nvSpPr>
            <p:cNvPr id="17" name="Rectangle 16"/>
            <p:cNvSpPr/>
            <p:nvPr/>
          </p:nvSpPr>
          <p:spPr bwMode="auto">
            <a:xfrm>
              <a:off x="3438525" y="2438400"/>
              <a:ext cx="2297112" cy="915988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anchor="b"/>
            <a:lstStyle/>
            <a:p>
              <a:pPr algn="ctr">
                <a:defRPr/>
              </a:pPr>
              <a:r>
                <a:rPr lang="en-US" kern="0" dirty="0">
                  <a:solidFill>
                    <a:sysClr val="window" lastClr="FFFFFF"/>
                  </a:solidFill>
                </a:rPr>
                <a:t>Data Discovery and </a:t>
              </a:r>
              <a:r>
                <a:rPr lang="en-US" kern="0" dirty="0" smtClean="0">
                  <a:solidFill>
                    <a:sysClr val="window" lastClr="FFFFFF"/>
                  </a:solidFill>
                </a:rPr>
                <a:t>Integration</a:t>
              </a:r>
              <a:endParaRPr lang="en-US" kern="0" dirty="0">
                <a:solidFill>
                  <a:sysClr val="window" lastClr="FFFFFF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858837" y="5159373"/>
              <a:ext cx="2076450" cy="914400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tIns="274320" anchor="ctr" anchorCtr="0"/>
            <a:lstStyle/>
            <a:p>
              <a:pPr algn="ctr">
                <a:defRPr/>
              </a:pPr>
              <a:r>
                <a:rPr lang="en-US" kern="0" dirty="0">
                  <a:solidFill>
                    <a:sysClr val="window" lastClr="FFFFFF"/>
                  </a:solidFill>
                </a:rPr>
                <a:t>Data </a:t>
              </a:r>
              <a:r>
                <a:rPr lang="en-US" kern="0" dirty="0" smtClean="0">
                  <a:solidFill>
                    <a:sysClr val="window" lastClr="FFFFFF"/>
                  </a:solidFill>
                </a:rPr>
                <a:t>Publication</a:t>
              </a:r>
              <a:endParaRPr lang="en-US" kern="0" dirty="0">
                <a:solidFill>
                  <a:sysClr val="window" lastClr="FFFFFF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 bwMode="auto">
            <a:xfrm>
              <a:off x="6537325" y="5153023"/>
              <a:ext cx="2073275" cy="914400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anchor="b"/>
            <a:lstStyle/>
            <a:p>
              <a:pPr algn="ctr">
                <a:defRPr/>
              </a:pPr>
              <a:r>
                <a:rPr lang="en-US" kern="0" dirty="0">
                  <a:solidFill>
                    <a:sysClr val="window" lastClr="FFFFFF"/>
                  </a:solidFill>
                </a:rPr>
                <a:t>Data </a:t>
              </a:r>
              <a:r>
                <a:rPr lang="en-US" kern="0" dirty="0" smtClean="0">
                  <a:solidFill>
                    <a:sysClr val="window" lastClr="FFFFFF"/>
                  </a:solidFill>
                </a:rPr>
                <a:t> Analysis and Synthesis</a:t>
              </a:r>
              <a:endParaRPr lang="en-US" kern="0" dirty="0">
                <a:solidFill>
                  <a:sysClr val="window" lastClr="FFFFFF"/>
                </a:solidFill>
              </a:endParaRPr>
            </a:p>
          </p:txBody>
        </p:sp>
        <p:cxnSp>
          <p:nvCxnSpPr>
            <p:cNvPr id="20" name="Straight Arrow Connector 63"/>
            <p:cNvCxnSpPr>
              <a:cxnSpLocks noChangeShapeType="1"/>
              <a:stCxn id="18" idx="0"/>
              <a:endCxn id="17" idx="2"/>
            </p:cNvCxnSpPr>
            <p:nvPr/>
          </p:nvCxnSpPr>
          <p:spPr bwMode="auto">
            <a:xfrm rot="5400000" flipH="1" flipV="1">
              <a:off x="2339579" y="2911872"/>
              <a:ext cx="1804985" cy="2690019"/>
            </a:xfrm>
            <a:prstGeom prst="straightConnector1">
              <a:avLst/>
            </a:prstGeom>
            <a:noFill/>
            <a:ln w="57150" algn="ctr">
              <a:solidFill>
                <a:srgbClr val="4A7EBB"/>
              </a:solidFill>
              <a:round/>
              <a:headEnd/>
              <a:tailEnd type="arrow" w="med" len="med"/>
            </a:ln>
          </p:spPr>
        </p:cxnSp>
        <p:cxnSp>
          <p:nvCxnSpPr>
            <p:cNvPr id="21" name="Straight Arrow Connector 64"/>
            <p:cNvCxnSpPr>
              <a:cxnSpLocks noChangeShapeType="1"/>
            </p:cNvCxnSpPr>
            <p:nvPr/>
          </p:nvCxnSpPr>
          <p:spPr bwMode="auto">
            <a:xfrm rot="16200000" flipH="1">
              <a:off x="5142701" y="2724116"/>
              <a:ext cx="1833450" cy="3025231"/>
            </a:xfrm>
            <a:prstGeom prst="straightConnector1">
              <a:avLst/>
            </a:prstGeom>
            <a:noFill/>
            <a:ln w="57150" algn="ctr">
              <a:solidFill>
                <a:srgbClr val="4A7EBB"/>
              </a:solidFill>
              <a:round/>
              <a:headEnd/>
              <a:tailEnd type="arrow" w="med" len="med"/>
            </a:ln>
          </p:spPr>
        </p:cxnSp>
        <p:cxnSp>
          <p:nvCxnSpPr>
            <p:cNvPr id="22" name="Straight Arrow Connector 65"/>
            <p:cNvCxnSpPr>
              <a:cxnSpLocks noChangeShapeType="1"/>
              <a:stCxn id="18" idx="3"/>
              <a:endCxn id="19" idx="1"/>
            </p:cNvCxnSpPr>
            <p:nvPr/>
          </p:nvCxnSpPr>
          <p:spPr bwMode="auto">
            <a:xfrm flipV="1">
              <a:off x="2935287" y="5610223"/>
              <a:ext cx="3602038" cy="6350"/>
            </a:xfrm>
            <a:prstGeom prst="straightConnector1">
              <a:avLst/>
            </a:prstGeom>
            <a:noFill/>
            <a:ln w="57150" algn="ctr">
              <a:solidFill>
                <a:srgbClr val="4A7EBB"/>
              </a:solidFill>
              <a:round/>
              <a:headEnd/>
              <a:tailEnd type="arrow" w="med" len="med"/>
            </a:ln>
          </p:spPr>
        </p:cxnSp>
        <p:sp>
          <p:nvSpPr>
            <p:cNvPr id="23" name="TextBox 13"/>
            <p:cNvSpPr txBox="1">
              <a:spLocks noChangeArrowheads="1"/>
            </p:cNvSpPr>
            <p:nvPr/>
          </p:nvSpPr>
          <p:spPr bwMode="auto">
            <a:xfrm>
              <a:off x="3644264" y="2469514"/>
              <a:ext cx="184816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b="1" kern="0" dirty="0" err="1" smtClean="0">
                  <a:solidFill>
                    <a:srgbClr val="FFFF00"/>
                  </a:solidFill>
                  <a:latin typeface="Arial" pitchFamily="34" charset="0"/>
                </a:rPr>
                <a:t>HydroCatalog</a:t>
              </a:r>
              <a:endParaRPr lang="en-US" b="1" kern="0" dirty="0">
                <a:solidFill>
                  <a:srgbClr val="FFFF00"/>
                </a:solidFill>
                <a:latin typeface="Arial" pitchFamily="34" charset="0"/>
              </a:endParaRPr>
            </a:p>
          </p:txBody>
        </p:sp>
        <p:sp>
          <p:nvSpPr>
            <p:cNvPr id="24" name="TextBox 14"/>
            <p:cNvSpPr txBox="1">
              <a:spLocks noChangeArrowheads="1"/>
            </p:cNvSpPr>
            <p:nvPr/>
          </p:nvSpPr>
          <p:spPr bwMode="auto">
            <a:xfrm>
              <a:off x="6553200" y="5141911"/>
              <a:ext cx="2028825" cy="363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 kern="0" dirty="0" err="1">
                  <a:solidFill>
                    <a:srgbClr val="FFFF00"/>
                  </a:solidFill>
                  <a:latin typeface="Arial" pitchFamily="34" charset="0"/>
                </a:rPr>
                <a:t>HydroDesktop</a:t>
              </a:r>
              <a:endParaRPr lang="en-US" b="1" kern="0" dirty="0">
                <a:solidFill>
                  <a:srgbClr val="FFFF00"/>
                </a:solidFill>
                <a:latin typeface="Arial" pitchFamily="34" charset="0"/>
              </a:endParaRPr>
            </a:p>
          </p:txBody>
        </p:sp>
        <p:sp>
          <p:nvSpPr>
            <p:cNvPr id="25" name="TextBox 15"/>
            <p:cNvSpPr txBox="1">
              <a:spLocks noChangeArrowheads="1"/>
            </p:cNvSpPr>
            <p:nvPr/>
          </p:nvSpPr>
          <p:spPr bwMode="auto">
            <a:xfrm>
              <a:off x="1025525" y="5141911"/>
              <a:ext cx="1706562" cy="369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 kern="0" dirty="0" err="1">
                  <a:solidFill>
                    <a:srgbClr val="FFFF00"/>
                  </a:solidFill>
                  <a:latin typeface="Arial" pitchFamily="34" charset="0"/>
                </a:rPr>
                <a:t>HydroServer</a:t>
              </a:r>
              <a:endParaRPr lang="en-US" b="1" kern="0" dirty="0">
                <a:solidFill>
                  <a:srgbClr val="FFFF00"/>
                </a:solidFill>
                <a:latin typeface="Arial" pitchFamily="34" charset="0"/>
              </a:endParaRPr>
            </a:p>
          </p:txBody>
        </p:sp>
        <p:sp>
          <p:nvSpPr>
            <p:cNvPr id="26" name="TextBox 15"/>
            <p:cNvSpPr txBox="1">
              <a:spLocks noChangeArrowheads="1"/>
            </p:cNvSpPr>
            <p:nvPr/>
          </p:nvSpPr>
          <p:spPr bwMode="auto">
            <a:xfrm>
              <a:off x="3465702" y="4969927"/>
              <a:ext cx="2173098" cy="11387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 dirty="0" smtClean="0">
                  <a:solidFill>
                    <a:srgbClr val="FF0000"/>
                  </a:solidFill>
                </a:rPr>
                <a:t>Bind</a:t>
              </a:r>
            </a:p>
            <a:p>
              <a:pPr algn="ctr"/>
              <a:r>
                <a:rPr lang="en-US" sz="2000" b="1" dirty="0" smtClean="0">
                  <a:solidFill>
                    <a:srgbClr val="000000"/>
                  </a:solidFill>
                </a:rPr>
                <a:t>Data Services</a:t>
              </a:r>
            </a:p>
            <a:p>
              <a:pPr algn="ctr"/>
              <a:r>
                <a:rPr lang="en-US" sz="1400" b="1" dirty="0" smtClean="0">
                  <a:solidFill>
                    <a:srgbClr val="000000"/>
                  </a:solidFill>
                </a:rPr>
                <a:t>Water Data Services</a:t>
              </a:r>
            </a:p>
            <a:p>
              <a:pPr algn="ctr"/>
              <a:r>
                <a:rPr lang="en-US" sz="1400" b="1" dirty="0" smtClean="0">
                  <a:solidFill>
                    <a:srgbClr val="000000"/>
                  </a:solidFill>
                </a:rPr>
                <a:t>Spatial Data Services</a:t>
              </a:r>
              <a:endParaRPr lang="en-US" sz="1400" b="1" dirty="0">
                <a:solidFill>
                  <a:srgbClr val="000000"/>
                </a:solidFill>
              </a:endParaRPr>
            </a:p>
          </p:txBody>
        </p:sp>
        <p:sp>
          <p:nvSpPr>
            <p:cNvPr id="27" name="TextBox 16"/>
            <p:cNvSpPr txBox="1">
              <a:spLocks noChangeArrowheads="1"/>
            </p:cNvSpPr>
            <p:nvPr/>
          </p:nvSpPr>
          <p:spPr bwMode="auto">
            <a:xfrm rot="19560000">
              <a:off x="1956179" y="3716530"/>
              <a:ext cx="2151102" cy="11387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000" b="1" dirty="0" smtClean="0">
                  <a:solidFill>
                    <a:srgbClr val="FF0000"/>
                  </a:solidFill>
                </a:rPr>
                <a:t>Publish</a:t>
              </a:r>
            </a:p>
            <a:p>
              <a:pPr algn="ctr"/>
              <a:r>
                <a:rPr lang="en-US" sz="2000" b="1" dirty="0" smtClean="0">
                  <a:solidFill>
                    <a:srgbClr val="000000"/>
                  </a:solidFill>
                </a:rPr>
                <a:t>Metadata Services</a:t>
              </a:r>
            </a:p>
            <a:p>
              <a:pPr algn="ctr"/>
              <a:r>
                <a:rPr lang="en-US" sz="1400" b="1" dirty="0" smtClean="0">
                  <a:solidFill>
                    <a:srgbClr val="000000"/>
                  </a:solidFill>
                </a:rPr>
                <a:t>Service Registration</a:t>
              </a:r>
            </a:p>
            <a:p>
              <a:pPr algn="ctr"/>
              <a:r>
                <a:rPr lang="en-US" sz="1400" b="1" dirty="0" smtClean="0">
                  <a:solidFill>
                    <a:srgbClr val="000000"/>
                  </a:solidFill>
                </a:rPr>
                <a:t>Catalog Harvesting</a:t>
              </a:r>
              <a:endParaRPr lang="en-US" sz="1400" b="1" dirty="0">
                <a:solidFill>
                  <a:srgbClr val="000000"/>
                </a:solidFill>
              </a:endParaRPr>
            </a:p>
          </p:txBody>
        </p:sp>
        <p:sp>
          <p:nvSpPr>
            <p:cNvPr id="28" name="TextBox 17"/>
            <p:cNvSpPr txBox="1">
              <a:spLocks noChangeArrowheads="1"/>
            </p:cNvSpPr>
            <p:nvPr/>
          </p:nvSpPr>
          <p:spPr bwMode="auto">
            <a:xfrm rot="1860000">
              <a:off x="4704179" y="3561579"/>
              <a:ext cx="2746136" cy="11387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000" b="1" dirty="0" smtClean="0">
                  <a:solidFill>
                    <a:srgbClr val="FF0000"/>
                  </a:solidFill>
                </a:rPr>
                <a:t>Find</a:t>
              </a:r>
            </a:p>
            <a:p>
              <a:pPr algn="ctr"/>
              <a:r>
                <a:rPr lang="en-US" sz="2000" b="1" dirty="0" smtClean="0">
                  <a:solidFill>
                    <a:srgbClr val="000000"/>
                  </a:solidFill>
                </a:rPr>
                <a:t>Metadata Search</a:t>
              </a:r>
            </a:p>
            <a:p>
              <a:pPr algn="ctr"/>
              <a:r>
                <a:rPr lang="en-US" sz="1400" b="1" dirty="0" smtClean="0">
                  <a:solidFill>
                    <a:srgbClr val="000000"/>
                  </a:solidFill>
                </a:rPr>
                <a:t>Service and Data Theme Metadata</a:t>
              </a:r>
            </a:p>
            <a:p>
              <a:pPr algn="ctr"/>
              <a:r>
                <a:rPr lang="en-US" sz="1400" b="1" dirty="0" smtClean="0">
                  <a:solidFill>
                    <a:srgbClr val="000000"/>
                  </a:solidFill>
                </a:rPr>
                <a:t>Data Carts</a:t>
              </a:r>
              <a:endParaRPr lang="en-US" sz="1400" b="1" dirty="0">
                <a:solidFill>
                  <a:srgbClr val="000000"/>
                </a:solidFill>
              </a:endParaRPr>
            </a:p>
          </p:txBody>
        </p:sp>
      </p:grpSp>
      <p:sp>
        <p:nvSpPr>
          <p:cNvPr id="30" name="Oval 29"/>
          <p:cNvSpPr/>
          <p:nvPr/>
        </p:nvSpPr>
        <p:spPr>
          <a:xfrm>
            <a:off x="152400" y="5414426"/>
            <a:ext cx="3551509" cy="12911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048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 descr="C:\Users\jeff\AppData\Local\Microsoft\Windows\Temporary Internet Files\Content.IE5\Q8RGWUXA\MCj04348450000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24200" y="3657600"/>
            <a:ext cx="2133600" cy="2133600"/>
          </a:xfrm>
          <a:prstGeom prst="rect">
            <a:avLst/>
          </a:prstGeom>
          <a:noFill/>
        </p:spPr>
      </p:pic>
      <p:sp>
        <p:nvSpPr>
          <p:cNvPr id="80" name="Line 29"/>
          <p:cNvSpPr>
            <a:spLocks noChangeShapeType="1"/>
          </p:cNvSpPr>
          <p:nvPr/>
        </p:nvSpPr>
        <p:spPr bwMode="auto">
          <a:xfrm flipH="1" flipV="1">
            <a:off x="4114800" y="5715000"/>
            <a:ext cx="1752600" cy="914400"/>
          </a:xfrm>
          <a:prstGeom prst="line">
            <a:avLst/>
          </a:prstGeom>
          <a:noFill/>
          <a:ln w="6350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9" name="Line 29"/>
          <p:cNvSpPr>
            <a:spLocks noChangeShapeType="1"/>
          </p:cNvSpPr>
          <p:nvPr/>
        </p:nvSpPr>
        <p:spPr bwMode="auto">
          <a:xfrm flipH="1">
            <a:off x="4038600" y="228600"/>
            <a:ext cx="1828800" cy="3505200"/>
          </a:xfrm>
          <a:prstGeom prst="line">
            <a:avLst/>
          </a:prstGeom>
          <a:noFill/>
          <a:ln w="63500">
            <a:solidFill>
              <a:schemeClr val="tx1"/>
            </a:solidFill>
            <a:prstDash val="sysDot"/>
            <a:round/>
            <a:headEnd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286" name="Rectangle 23"/>
          <p:cNvSpPr>
            <a:spLocks noChangeArrowheads="1"/>
          </p:cNvSpPr>
          <p:nvPr/>
        </p:nvSpPr>
        <p:spPr bwMode="auto">
          <a:xfrm>
            <a:off x="5867400" y="152400"/>
            <a:ext cx="3124200" cy="6553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headEnd/>
            <a:tailEnd/>
          </a:ln>
          <a:effectLst>
            <a:outerShdw blurRad="107950" dist="12700" dir="5400000" algn="ctr">
              <a:srgbClr val="000000"/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160252" y="152400"/>
            <a:ext cx="4868948" cy="3124200"/>
          </a:xfrm>
          <a:prstGeom prst="rect">
            <a:avLst/>
          </a:prstGeom>
          <a:solidFill>
            <a:schemeClr val="bg1"/>
          </a:solidFill>
          <a:ln>
            <a:noFill/>
            <a:headEnd/>
            <a:tailEnd/>
          </a:ln>
          <a:effectLst>
            <a:outerShdw blurRad="107950" dist="12700" dir="5400000" algn="ctr">
              <a:srgbClr val="000000"/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000000"/>
              </a:solidFill>
              <a:latin typeface="Arial" charset="0"/>
            </a:endParaRPr>
          </a:p>
        </p:txBody>
      </p:sp>
      <p:pic>
        <p:nvPicPr>
          <p:cNvPr id="6161" name="Picture 14" descr="R.M. Young Wind Sentry Set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28600" y="914400"/>
            <a:ext cx="497624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64" name="Text Box 18"/>
          <p:cNvSpPr txBox="1">
            <a:spLocks noChangeArrowheads="1"/>
          </p:cNvSpPr>
          <p:nvPr/>
        </p:nvSpPr>
        <p:spPr bwMode="auto">
          <a:xfrm>
            <a:off x="152400" y="533400"/>
            <a:ext cx="2590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smtClean="0"/>
              <a:t>Ongoing Data Collection</a:t>
            </a:r>
            <a:endParaRPr lang="en-US" dirty="0"/>
          </a:p>
        </p:txBody>
      </p:sp>
      <p:sp>
        <p:nvSpPr>
          <p:cNvPr id="6166" name="Text Box 26"/>
          <p:cNvSpPr txBox="1">
            <a:spLocks noChangeArrowheads="1"/>
          </p:cNvSpPr>
          <p:nvPr/>
        </p:nvSpPr>
        <p:spPr bwMode="auto">
          <a:xfrm>
            <a:off x="5791200" y="5743575"/>
            <a:ext cx="33528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/>
              <a:t>Data </a:t>
            </a:r>
            <a:r>
              <a:rPr lang="en-US" dirty="0" smtClean="0"/>
              <a:t>presentation, </a:t>
            </a:r>
            <a:r>
              <a:rPr lang="en-US" dirty="0"/>
              <a:t>visualization, </a:t>
            </a:r>
            <a:br>
              <a:rPr lang="en-US" dirty="0"/>
            </a:br>
            <a:r>
              <a:rPr lang="en-US" dirty="0"/>
              <a:t>and analysis through Internet enabled applications</a:t>
            </a:r>
          </a:p>
        </p:txBody>
      </p:sp>
      <p:sp>
        <p:nvSpPr>
          <p:cNvPr id="6172" name="Text Box 36"/>
          <p:cNvSpPr txBox="1">
            <a:spLocks noChangeArrowheads="1"/>
          </p:cNvSpPr>
          <p:nvPr/>
        </p:nvSpPr>
        <p:spPr bwMode="auto">
          <a:xfrm>
            <a:off x="5943600" y="152400"/>
            <a:ext cx="2971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 dirty="0" smtClean="0"/>
              <a:t>Internet Applications</a:t>
            </a:r>
            <a:endParaRPr lang="en-US" sz="2000" b="1" dirty="0"/>
          </a:p>
        </p:txBody>
      </p:sp>
      <p:sp>
        <p:nvSpPr>
          <p:cNvPr id="6173" name="Text Box 18"/>
          <p:cNvSpPr txBox="1">
            <a:spLocks noChangeArrowheads="1"/>
          </p:cNvSpPr>
          <p:nvPr/>
        </p:nvSpPr>
        <p:spPr bwMode="auto">
          <a:xfrm>
            <a:off x="685800" y="152400"/>
            <a:ext cx="43434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 dirty="0" smtClean="0"/>
              <a:t>Point Observations Data</a:t>
            </a:r>
            <a:endParaRPr lang="en-US" sz="2000" b="1" dirty="0"/>
          </a:p>
        </p:txBody>
      </p:sp>
      <p:sp>
        <p:nvSpPr>
          <p:cNvPr id="41" name="Text Box 18"/>
          <p:cNvSpPr txBox="1">
            <a:spLocks noChangeArrowheads="1"/>
          </p:cNvSpPr>
          <p:nvPr/>
        </p:nvSpPr>
        <p:spPr bwMode="auto">
          <a:xfrm>
            <a:off x="152400" y="1752600"/>
            <a:ext cx="2590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smtClean="0"/>
              <a:t>Historical Data Files</a:t>
            </a:r>
            <a:endParaRPr lang="en-US" dirty="0"/>
          </a:p>
        </p:txBody>
      </p:sp>
      <p:sp>
        <p:nvSpPr>
          <p:cNvPr id="42" name="Documents"/>
          <p:cNvSpPr>
            <a:spLocks noEditPoints="1" noChangeArrowheads="1"/>
          </p:cNvSpPr>
          <p:nvPr/>
        </p:nvSpPr>
        <p:spPr bwMode="auto">
          <a:xfrm>
            <a:off x="228600" y="2209800"/>
            <a:ext cx="773112" cy="941388"/>
          </a:xfrm>
          <a:custGeom>
            <a:avLst/>
            <a:gdLst>
              <a:gd name="T0" fmla="*/ 0 w 21600"/>
              <a:gd name="T1" fmla="*/ 2800 h 21600"/>
              <a:gd name="T2" fmla="*/ 3468 w 21600"/>
              <a:gd name="T3" fmla="*/ 0 h 21600"/>
              <a:gd name="T4" fmla="*/ 21653 w 21600"/>
              <a:gd name="T5" fmla="*/ 18828 h 21600"/>
              <a:gd name="T6" fmla="*/ 19954 w 21600"/>
              <a:gd name="T7" fmla="*/ 20214 h 21600"/>
              <a:gd name="T8" fmla="*/ 18256 w 21600"/>
              <a:gd name="T9" fmla="*/ 21628 h 21600"/>
              <a:gd name="T10" fmla="*/ 19954 w 21600"/>
              <a:gd name="T11" fmla="*/ 1428 h 21600"/>
              <a:gd name="T12" fmla="*/ 18256 w 21600"/>
              <a:gd name="T13" fmla="*/ 2800 h 21600"/>
              <a:gd name="T14" fmla="*/ 1645 w 21600"/>
              <a:gd name="T15" fmla="*/ 1428 h 21600"/>
              <a:gd name="T16" fmla="*/ 21600 w 21600"/>
              <a:gd name="T17" fmla="*/ 0 h 21600"/>
              <a:gd name="T18" fmla="*/ 10800 w 21600"/>
              <a:gd name="T19" fmla="*/ 0 h 21600"/>
              <a:gd name="T20" fmla="*/ 0 w 21600"/>
              <a:gd name="T21" fmla="*/ 10800 h 21600"/>
              <a:gd name="T22" fmla="*/ 21600 w 21600"/>
              <a:gd name="T23" fmla="*/ 10800 h 21600"/>
              <a:gd name="T24" fmla="*/ 1645 w 21600"/>
              <a:gd name="T25" fmla="*/ 4171 h 21600"/>
              <a:gd name="T26" fmla="*/ 16522 w 21600"/>
              <a:gd name="T27" fmla="*/ 17314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21600" h="21600" extrusionOk="0">
                <a:moveTo>
                  <a:pt x="0" y="18014"/>
                </a:moveTo>
                <a:lnTo>
                  <a:pt x="0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68" y="1428"/>
                </a:lnTo>
                <a:lnTo>
                  <a:pt x="3468" y="0"/>
                </a:lnTo>
                <a:lnTo>
                  <a:pt x="21653" y="0"/>
                </a:lnTo>
                <a:lnTo>
                  <a:pt x="21653" y="18828"/>
                </a:lnTo>
                <a:lnTo>
                  <a:pt x="19954" y="188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16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  <a:path w="21600" h="21600" extrusionOk="0">
                <a:moveTo>
                  <a:pt x="3486" y="1428"/>
                </a:moveTo>
                <a:lnTo>
                  <a:pt x="19954" y="14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86" y="1428"/>
                </a:lnTo>
                <a:close/>
              </a:path>
              <a:path w="21600" h="21600" extrusionOk="0">
                <a:moveTo>
                  <a:pt x="0" y="18014"/>
                </a:moveTo>
                <a:lnTo>
                  <a:pt x="4434" y="180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>
              <a:defRPr/>
            </a:pPr>
            <a:endParaRPr lang="en-US" sz="1000" dirty="0">
              <a:latin typeface="Arial" charset="0"/>
            </a:endParaRPr>
          </a:p>
        </p:txBody>
      </p:sp>
      <p:sp>
        <p:nvSpPr>
          <p:cNvPr id="44" name="Documents"/>
          <p:cNvSpPr>
            <a:spLocks noEditPoints="1" noChangeArrowheads="1"/>
          </p:cNvSpPr>
          <p:nvPr/>
        </p:nvSpPr>
        <p:spPr bwMode="auto">
          <a:xfrm>
            <a:off x="1447800" y="2209800"/>
            <a:ext cx="838200" cy="914400"/>
          </a:xfrm>
          <a:custGeom>
            <a:avLst/>
            <a:gdLst>
              <a:gd name="T0" fmla="*/ 0 w 21600"/>
              <a:gd name="T1" fmla="*/ 2800 h 21600"/>
              <a:gd name="T2" fmla="*/ 3468 w 21600"/>
              <a:gd name="T3" fmla="*/ 0 h 21600"/>
              <a:gd name="T4" fmla="*/ 21653 w 21600"/>
              <a:gd name="T5" fmla="*/ 18828 h 21600"/>
              <a:gd name="T6" fmla="*/ 19954 w 21600"/>
              <a:gd name="T7" fmla="*/ 20214 h 21600"/>
              <a:gd name="T8" fmla="*/ 18256 w 21600"/>
              <a:gd name="T9" fmla="*/ 21628 h 21600"/>
              <a:gd name="T10" fmla="*/ 19954 w 21600"/>
              <a:gd name="T11" fmla="*/ 1428 h 21600"/>
              <a:gd name="T12" fmla="*/ 18256 w 21600"/>
              <a:gd name="T13" fmla="*/ 2800 h 21600"/>
              <a:gd name="T14" fmla="*/ 1645 w 21600"/>
              <a:gd name="T15" fmla="*/ 1428 h 21600"/>
              <a:gd name="T16" fmla="*/ 21600 w 21600"/>
              <a:gd name="T17" fmla="*/ 0 h 21600"/>
              <a:gd name="T18" fmla="*/ 10800 w 21600"/>
              <a:gd name="T19" fmla="*/ 0 h 21600"/>
              <a:gd name="T20" fmla="*/ 0 w 21600"/>
              <a:gd name="T21" fmla="*/ 10800 h 21600"/>
              <a:gd name="T22" fmla="*/ 21600 w 21600"/>
              <a:gd name="T23" fmla="*/ 10800 h 21600"/>
              <a:gd name="T24" fmla="*/ 1645 w 21600"/>
              <a:gd name="T25" fmla="*/ 4171 h 21600"/>
              <a:gd name="T26" fmla="*/ 16522 w 21600"/>
              <a:gd name="T27" fmla="*/ 17314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21600" h="21600" extrusionOk="0">
                <a:moveTo>
                  <a:pt x="0" y="18014"/>
                </a:moveTo>
                <a:lnTo>
                  <a:pt x="0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68" y="1428"/>
                </a:lnTo>
                <a:lnTo>
                  <a:pt x="3468" y="0"/>
                </a:lnTo>
                <a:lnTo>
                  <a:pt x="21653" y="0"/>
                </a:lnTo>
                <a:lnTo>
                  <a:pt x="21653" y="18828"/>
                </a:lnTo>
                <a:lnTo>
                  <a:pt x="19954" y="188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16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  <a:path w="21600" h="21600" extrusionOk="0">
                <a:moveTo>
                  <a:pt x="3486" y="1428"/>
                </a:moveTo>
                <a:lnTo>
                  <a:pt x="19954" y="14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86" y="1428"/>
                </a:lnTo>
                <a:close/>
              </a:path>
              <a:path w="21600" h="21600" extrusionOk="0">
                <a:moveTo>
                  <a:pt x="0" y="18014"/>
                </a:moveTo>
                <a:lnTo>
                  <a:pt x="4434" y="180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>
              <a:defRPr/>
            </a:pPr>
            <a:endParaRPr lang="en-US" sz="1000" dirty="0">
              <a:latin typeface="Arial" charset="0"/>
            </a:endParaRPr>
          </a:p>
        </p:txBody>
      </p:sp>
      <p:sp>
        <p:nvSpPr>
          <p:cNvPr id="54" name="Rectangle 2"/>
          <p:cNvSpPr>
            <a:spLocks noChangeArrowheads="1"/>
          </p:cNvSpPr>
          <p:nvPr/>
        </p:nvSpPr>
        <p:spPr bwMode="auto">
          <a:xfrm>
            <a:off x="152400" y="3429000"/>
            <a:ext cx="3124200" cy="3276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/>
            <a:tailEnd/>
          </a:ln>
          <a:effectLst>
            <a:outerShdw blurRad="107950" dist="12700" dir="5400000" algn="ctr">
              <a:srgbClr val="000000"/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000000"/>
              </a:solidFill>
              <a:latin typeface="Arial" charset="0"/>
            </a:endParaRPr>
          </a:p>
        </p:txBody>
      </p:sp>
      <p:pic>
        <p:nvPicPr>
          <p:cNvPr id="64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90600" y="1143000"/>
            <a:ext cx="723997" cy="288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905000" y="1143000"/>
            <a:ext cx="93122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2" name="Picture 4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81000" y="4114800"/>
            <a:ext cx="2653864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" name="Text Box 18"/>
          <p:cNvSpPr txBox="1">
            <a:spLocks noChangeArrowheads="1"/>
          </p:cNvSpPr>
          <p:nvPr/>
        </p:nvSpPr>
        <p:spPr bwMode="auto">
          <a:xfrm>
            <a:off x="457200" y="3657600"/>
            <a:ext cx="20574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 dirty="0" smtClean="0"/>
              <a:t>GIS Data</a:t>
            </a:r>
            <a:endParaRPr lang="en-US" sz="2000" b="1" dirty="0"/>
          </a:p>
        </p:txBody>
      </p:sp>
      <p:sp>
        <p:nvSpPr>
          <p:cNvPr id="75" name="Text Box 18"/>
          <p:cNvSpPr txBox="1">
            <a:spLocks noChangeArrowheads="1"/>
          </p:cNvSpPr>
          <p:nvPr/>
        </p:nvSpPr>
        <p:spPr bwMode="auto">
          <a:xfrm>
            <a:off x="3276600" y="6027003"/>
            <a:ext cx="1905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dirty="0" err="1" smtClean="0"/>
              <a:t>HydroServer</a:t>
            </a:r>
            <a:endParaRPr lang="en-US" sz="2400" b="1" dirty="0"/>
          </a:p>
        </p:txBody>
      </p:sp>
      <p:pic>
        <p:nvPicPr>
          <p:cNvPr id="81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819400" y="838200"/>
            <a:ext cx="2155336" cy="1240075"/>
          </a:xfrm>
          <a:prstGeom prst="rect">
            <a:avLst/>
          </a:prstGeom>
          <a:noFill/>
          <a:ln w="9525" cap="flat">
            <a:noFill/>
            <a:miter lim="800000"/>
            <a:headEnd/>
            <a:tailEnd/>
          </a:ln>
          <a:effectLst/>
        </p:spPr>
      </p:pic>
      <p:sp>
        <p:nvSpPr>
          <p:cNvPr id="28" name="Can 27"/>
          <p:cNvSpPr/>
          <p:nvPr/>
        </p:nvSpPr>
        <p:spPr>
          <a:xfrm>
            <a:off x="3429000" y="2209800"/>
            <a:ext cx="1219200" cy="990600"/>
          </a:xfrm>
          <a:prstGeom prst="can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ODM Database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9" name="Right Arrow 28"/>
          <p:cNvSpPr/>
          <p:nvPr/>
        </p:nvSpPr>
        <p:spPr>
          <a:xfrm rot="2187603">
            <a:off x="2666990" y="2117587"/>
            <a:ext cx="609600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477000" y="3505200"/>
            <a:ext cx="2406465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6096000" y="609600"/>
            <a:ext cx="2732766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8" name="Picture 25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096000" y="2209800"/>
            <a:ext cx="2009775" cy="1585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8" name="Group 47"/>
          <p:cNvGrpSpPr/>
          <p:nvPr/>
        </p:nvGrpSpPr>
        <p:grpSpPr>
          <a:xfrm>
            <a:off x="4267200" y="3048000"/>
            <a:ext cx="1720472" cy="1752600"/>
            <a:chOff x="4267200" y="3429000"/>
            <a:chExt cx="1720472" cy="1752600"/>
          </a:xfrm>
        </p:grpSpPr>
        <p:sp>
          <p:nvSpPr>
            <p:cNvPr id="32" name="Rectangle 8"/>
            <p:cNvSpPr>
              <a:spLocks noChangeArrowheads="1"/>
            </p:cNvSpPr>
            <p:nvPr/>
          </p:nvSpPr>
          <p:spPr bwMode="auto">
            <a:xfrm>
              <a:off x="4552076" y="3429000"/>
              <a:ext cx="1405534" cy="1752600"/>
            </a:xfrm>
            <a:prstGeom prst="rect">
              <a:avLst/>
            </a:prstGeom>
            <a:solidFill>
              <a:srgbClr val="DEFEE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400">
                <a:solidFill>
                  <a:srgbClr val="000000"/>
                </a:solidFill>
              </a:endParaRPr>
            </a:p>
          </p:txBody>
        </p:sp>
        <p:sp>
          <p:nvSpPr>
            <p:cNvPr id="33" name="Text Box 12"/>
            <p:cNvSpPr txBox="1">
              <a:spLocks noChangeArrowheads="1"/>
            </p:cNvSpPr>
            <p:nvPr/>
          </p:nvSpPr>
          <p:spPr bwMode="auto">
            <a:xfrm>
              <a:off x="4608404" y="3458239"/>
              <a:ext cx="1158587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dirty="0" err="1">
                  <a:solidFill>
                    <a:srgbClr val="0066FF"/>
                  </a:solidFill>
                </a:rPr>
                <a:t>GetSites</a:t>
              </a:r>
              <a:endParaRPr lang="en-US" sz="1200" dirty="0">
                <a:solidFill>
                  <a:srgbClr val="0066FF"/>
                </a:solidFill>
              </a:endParaRPr>
            </a:p>
            <a:p>
              <a:r>
                <a:rPr lang="en-US" sz="1200" dirty="0" err="1">
                  <a:solidFill>
                    <a:srgbClr val="0066FF"/>
                  </a:solidFill>
                </a:rPr>
                <a:t>GetSiteInfo</a:t>
              </a:r>
              <a:endParaRPr lang="en-US" sz="1200" dirty="0">
                <a:solidFill>
                  <a:srgbClr val="0066FF"/>
                </a:solidFill>
              </a:endParaRPr>
            </a:p>
            <a:p>
              <a:r>
                <a:rPr lang="en-US" sz="1200" dirty="0" err="1">
                  <a:solidFill>
                    <a:srgbClr val="0066FF"/>
                  </a:solidFill>
                </a:rPr>
                <a:t>GetVariableInfo</a:t>
              </a:r>
              <a:endParaRPr lang="en-US" sz="1200" dirty="0">
                <a:solidFill>
                  <a:srgbClr val="0066FF"/>
                </a:solidFill>
              </a:endParaRPr>
            </a:p>
            <a:p>
              <a:r>
                <a:rPr lang="en-US" sz="1200" dirty="0" err="1">
                  <a:solidFill>
                    <a:srgbClr val="0066FF"/>
                  </a:solidFill>
                </a:rPr>
                <a:t>GetValues</a:t>
              </a:r>
              <a:endParaRPr lang="en-US" sz="1200" dirty="0">
                <a:solidFill>
                  <a:srgbClr val="0066FF"/>
                </a:solidFill>
              </a:endParaRPr>
            </a:p>
          </p:txBody>
        </p:sp>
        <p:sp>
          <p:nvSpPr>
            <p:cNvPr id="34" name="Oval 13"/>
            <p:cNvSpPr>
              <a:spLocks noChangeArrowheads="1"/>
            </p:cNvSpPr>
            <p:nvPr/>
          </p:nvSpPr>
          <p:spPr bwMode="auto">
            <a:xfrm>
              <a:off x="4275777" y="3524794"/>
              <a:ext cx="110518" cy="95794"/>
            </a:xfrm>
            <a:prstGeom prst="ellipse">
              <a:avLst/>
            </a:prstGeom>
            <a:solidFill>
              <a:srgbClr val="DEFEE3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400">
                <a:solidFill>
                  <a:srgbClr val="000000"/>
                </a:solidFill>
              </a:endParaRPr>
            </a:p>
          </p:txBody>
        </p:sp>
        <p:sp>
          <p:nvSpPr>
            <p:cNvPr id="35" name="Oval 14"/>
            <p:cNvSpPr>
              <a:spLocks noChangeArrowheads="1"/>
            </p:cNvSpPr>
            <p:nvPr/>
          </p:nvSpPr>
          <p:spPr bwMode="auto">
            <a:xfrm>
              <a:off x="4275777" y="3716383"/>
              <a:ext cx="110518" cy="95794"/>
            </a:xfrm>
            <a:prstGeom prst="ellipse">
              <a:avLst/>
            </a:prstGeom>
            <a:solidFill>
              <a:srgbClr val="DEFEE3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400">
                <a:solidFill>
                  <a:srgbClr val="000000"/>
                </a:solidFill>
              </a:endParaRPr>
            </a:p>
          </p:txBody>
        </p:sp>
        <p:sp>
          <p:nvSpPr>
            <p:cNvPr id="36" name="Oval 15"/>
            <p:cNvSpPr>
              <a:spLocks noChangeArrowheads="1"/>
            </p:cNvSpPr>
            <p:nvPr/>
          </p:nvSpPr>
          <p:spPr bwMode="auto">
            <a:xfrm>
              <a:off x="4275777" y="3907972"/>
              <a:ext cx="110518" cy="95794"/>
            </a:xfrm>
            <a:prstGeom prst="ellipse">
              <a:avLst/>
            </a:prstGeom>
            <a:solidFill>
              <a:srgbClr val="DEFEE3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400">
                <a:solidFill>
                  <a:srgbClr val="000000"/>
                </a:solidFill>
              </a:endParaRPr>
            </a:p>
          </p:txBody>
        </p:sp>
        <p:sp>
          <p:nvSpPr>
            <p:cNvPr id="37" name="Text Box 16"/>
            <p:cNvSpPr txBox="1">
              <a:spLocks noChangeArrowheads="1"/>
            </p:cNvSpPr>
            <p:nvPr/>
          </p:nvSpPr>
          <p:spPr bwMode="auto">
            <a:xfrm>
              <a:off x="4506211" y="4648093"/>
              <a:ext cx="1481461" cy="4522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0000"/>
                  </a:solidFill>
                </a:rPr>
                <a:t>WaterOneFlow</a:t>
              </a:r>
            </a:p>
            <a:p>
              <a:pPr algn="ctr"/>
              <a:r>
                <a:rPr lang="en-US" sz="1400" b="1" dirty="0">
                  <a:solidFill>
                    <a:srgbClr val="000000"/>
                  </a:solidFill>
                </a:rPr>
                <a:t>Web Service</a:t>
              </a:r>
            </a:p>
          </p:txBody>
        </p:sp>
        <p:sp>
          <p:nvSpPr>
            <p:cNvPr id="38" name="AutoShape 30"/>
            <p:cNvSpPr>
              <a:spLocks noChangeArrowheads="1"/>
            </p:cNvSpPr>
            <p:nvPr/>
          </p:nvSpPr>
          <p:spPr bwMode="auto">
            <a:xfrm>
              <a:off x="4823033" y="4325390"/>
              <a:ext cx="884149" cy="337048"/>
            </a:xfrm>
            <a:prstGeom prst="foldedCorner">
              <a:avLst>
                <a:gd name="adj" fmla="val 12500"/>
              </a:avLst>
            </a:prstGeom>
            <a:solidFill>
              <a:srgbClr val="BBE0E3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>
                  <a:solidFill>
                    <a:srgbClr val="000000"/>
                  </a:solidFill>
                </a:rPr>
                <a:t>WaterML</a:t>
              </a:r>
            </a:p>
          </p:txBody>
        </p:sp>
        <p:sp>
          <p:nvSpPr>
            <p:cNvPr id="43" name="Line 9"/>
            <p:cNvSpPr>
              <a:spLocks noChangeShapeType="1"/>
            </p:cNvSpPr>
            <p:nvPr/>
          </p:nvSpPr>
          <p:spPr bwMode="auto">
            <a:xfrm>
              <a:off x="4331038" y="3572697"/>
              <a:ext cx="34274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10"/>
            <p:cNvSpPr>
              <a:spLocks noChangeShapeType="1"/>
            </p:cNvSpPr>
            <p:nvPr/>
          </p:nvSpPr>
          <p:spPr bwMode="auto">
            <a:xfrm>
              <a:off x="4331038" y="3764286"/>
              <a:ext cx="34274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Line 11"/>
            <p:cNvSpPr>
              <a:spLocks noChangeShapeType="1"/>
            </p:cNvSpPr>
            <p:nvPr/>
          </p:nvSpPr>
          <p:spPr bwMode="auto">
            <a:xfrm>
              <a:off x="4331038" y="3955875"/>
              <a:ext cx="34274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Oval 15"/>
            <p:cNvSpPr>
              <a:spLocks noChangeArrowheads="1"/>
            </p:cNvSpPr>
            <p:nvPr/>
          </p:nvSpPr>
          <p:spPr bwMode="auto">
            <a:xfrm>
              <a:off x="4267200" y="4100516"/>
              <a:ext cx="110518" cy="95794"/>
            </a:xfrm>
            <a:prstGeom prst="ellipse">
              <a:avLst/>
            </a:prstGeom>
            <a:solidFill>
              <a:srgbClr val="DEFEE3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400">
                <a:solidFill>
                  <a:srgbClr val="000000"/>
                </a:solidFill>
              </a:endParaRPr>
            </a:p>
          </p:txBody>
        </p:sp>
        <p:sp>
          <p:nvSpPr>
            <p:cNvPr id="47" name="Line 11"/>
            <p:cNvSpPr>
              <a:spLocks noChangeShapeType="1"/>
            </p:cNvSpPr>
            <p:nvPr/>
          </p:nvSpPr>
          <p:spPr bwMode="auto">
            <a:xfrm>
              <a:off x="4332190" y="4148410"/>
              <a:ext cx="34274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Rounded Rectangle 1"/>
          <p:cNvSpPr/>
          <p:nvPr/>
        </p:nvSpPr>
        <p:spPr>
          <a:xfrm>
            <a:off x="4267200" y="4953000"/>
            <a:ext cx="1676400" cy="107400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343400" y="4953000"/>
            <a:ext cx="1481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OGC</a:t>
            </a:r>
          </a:p>
          <a:p>
            <a:r>
              <a:rPr lang="en-US" dirty="0" smtClean="0"/>
              <a:t>WMS, WFS, WCS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635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23"/>
          <p:cNvSpPr txBox="1">
            <a:spLocks noChangeArrowheads="1"/>
          </p:cNvSpPr>
          <p:nvPr/>
        </p:nvSpPr>
        <p:spPr bwMode="auto">
          <a:xfrm>
            <a:off x="838200" y="4813300"/>
            <a:ext cx="7845425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>
                <a:solidFill>
                  <a:prstClr val="black"/>
                </a:solidFill>
              </a:rPr>
              <a:t>  A </a:t>
            </a:r>
            <a:r>
              <a:rPr lang="en-US">
                <a:solidFill>
                  <a:srgbClr val="FF3300"/>
                </a:solidFill>
              </a:rPr>
              <a:t>data source</a:t>
            </a:r>
            <a:r>
              <a:rPr lang="en-US">
                <a:solidFill>
                  <a:prstClr val="black"/>
                </a:solidFill>
              </a:rPr>
              <a:t> operates an observation network</a:t>
            </a:r>
          </a:p>
          <a:p>
            <a:pPr>
              <a:buFontTx/>
              <a:buChar char="•"/>
            </a:pPr>
            <a:r>
              <a:rPr lang="en-US">
                <a:solidFill>
                  <a:prstClr val="black"/>
                </a:solidFill>
              </a:rPr>
              <a:t>  A </a:t>
            </a:r>
            <a:r>
              <a:rPr lang="en-US">
                <a:solidFill>
                  <a:srgbClr val="FF3300"/>
                </a:solidFill>
              </a:rPr>
              <a:t>network</a:t>
            </a:r>
            <a:r>
              <a:rPr lang="en-US">
                <a:solidFill>
                  <a:prstClr val="black"/>
                </a:solidFill>
              </a:rPr>
              <a:t> is a set of observation sites</a:t>
            </a:r>
          </a:p>
          <a:p>
            <a:pPr>
              <a:buFontTx/>
              <a:buChar char="•"/>
            </a:pPr>
            <a:r>
              <a:rPr lang="en-US">
                <a:solidFill>
                  <a:prstClr val="black"/>
                </a:solidFill>
              </a:rPr>
              <a:t>  A </a:t>
            </a:r>
            <a:r>
              <a:rPr lang="en-US">
                <a:solidFill>
                  <a:srgbClr val="FF3300"/>
                </a:solidFill>
              </a:rPr>
              <a:t>site</a:t>
            </a:r>
            <a:r>
              <a:rPr lang="en-US">
                <a:solidFill>
                  <a:prstClr val="black"/>
                </a:solidFill>
              </a:rPr>
              <a:t> is a point location where one or more variables are measured</a:t>
            </a:r>
          </a:p>
          <a:p>
            <a:pPr>
              <a:buFontTx/>
              <a:buChar char="•"/>
            </a:pPr>
            <a:r>
              <a:rPr lang="en-US">
                <a:solidFill>
                  <a:prstClr val="black"/>
                </a:solidFill>
              </a:rPr>
              <a:t>  A </a:t>
            </a:r>
            <a:r>
              <a:rPr lang="en-US">
                <a:solidFill>
                  <a:srgbClr val="FF3300"/>
                </a:solidFill>
              </a:rPr>
              <a:t>variable</a:t>
            </a:r>
            <a:r>
              <a:rPr lang="en-US">
                <a:solidFill>
                  <a:prstClr val="black"/>
                </a:solidFill>
              </a:rPr>
              <a:t> is a property describing the flow or quality of water</a:t>
            </a:r>
          </a:p>
          <a:p>
            <a:pPr>
              <a:buFontTx/>
              <a:buChar char="•"/>
            </a:pPr>
            <a:r>
              <a:rPr lang="en-US">
                <a:solidFill>
                  <a:prstClr val="black"/>
                </a:solidFill>
              </a:rPr>
              <a:t>  A </a:t>
            </a:r>
            <a:r>
              <a:rPr lang="en-US">
                <a:solidFill>
                  <a:srgbClr val="FF3300"/>
                </a:solidFill>
              </a:rPr>
              <a:t>value</a:t>
            </a:r>
            <a:r>
              <a:rPr lang="en-US">
                <a:solidFill>
                  <a:prstClr val="black"/>
                </a:solidFill>
              </a:rPr>
              <a:t> is an observation of a variable at a particular time</a:t>
            </a:r>
          </a:p>
          <a:p>
            <a:pPr>
              <a:buFontTx/>
              <a:buChar char="•"/>
            </a:pPr>
            <a:r>
              <a:rPr lang="en-US">
                <a:solidFill>
                  <a:prstClr val="black"/>
                </a:solidFill>
              </a:rPr>
              <a:t>  A </a:t>
            </a:r>
            <a:r>
              <a:rPr lang="en-US">
                <a:solidFill>
                  <a:srgbClr val="FF3300"/>
                </a:solidFill>
              </a:rPr>
              <a:t>qualifier</a:t>
            </a:r>
            <a:r>
              <a:rPr lang="en-US">
                <a:solidFill>
                  <a:prstClr val="black"/>
                </a:solidFill>
              </a:rPr>
              <a:t> is a symbol that provides additional information about the value</a:t>
            </a:r>
          </a:p>
        </p:txBody>
      </p:sp>
      <p:grpSp>
        <p:nvGrpSpPr>
          <p:cNvPr id="2" name="Group 32"/>
          <p:cNvGrpSpPr/>
          <p:nvPr/>
        </p:nvGrpSpPr>
        <p:grpSpPr>
          <a:xfrm>
            <a:off x="609600" y="1219200"/>
            <a:ext cx="7715250" cy="3506232"/>
            <a:chOff x="304800" y="1219200"/>
            <a:chExt cx="7715250" cy="3506232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1508125" y="1344613"/>
              <a:ext cx="137178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</a:rPr>
                <a:t>Data </a:t>
              </a:r>
              <a:r>
                <a:rPr lang="en-US" b="1" dirty="0" smtClean="0">
                  <a:solidFill>
                    <a:prstClr val="black"/>
                  </a:solidFill>
                </a:rPr>
                <a:t>Service</a:t>
              </a:r>
              <a:endParaRPr lang="en-US" b="1" dirty="0">
                <a:solidFill>
                  <a:prstClr val="black"/>
                </a:solidFill>
              </a:endParaRPr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 rot="5400000">
              <a:off x="3009900" y="1498600"/>
              <a:ext cx="533400" cy="457200"/>
            </a:xfrm>
            <a:custGeom>
              <a:avLst/>
              <a:gdLst>
                <a:gd name="G0" fmla="+- 15126 0 0"/>
                <a:gd name="G1" fmla="+- 2912 0 0"/>
                <a:gd name="G2" fmla="+- 12158 0 2912"/>
                <a:gd name="G3" fmla="+- G2 0 2912"/>
                <a:gd name="G4" fmla="*/ G3 32768 32059"/>
                <a:gd name="G5" fmla="*/ G4 1 2"/>
                <a:gd name="G6" fmla="+- 21600 0 15126"/>
                <a:gd name="G7" fmla="*/ G6 2912 6079"/>
                <a:gd name="G8" fmla="+- G7 15126 0"/>
                <a:gd name="T0" fmla="*/ 15126 w 21600"/>
                <a:gd name="T1" fmla="*/ 0 h 21600"/>
                <a:gd name="T2" fmla="*/ 15126 w 21600"/>
                <a:gd name="T3" fmla="*/ 12158 h 21600"/>
                <a:gd name="T4" fmla="*/ 3237 w 21600"/>
                <a:gd name="T5" fmla="*/ 21600 h 21600"/>
                <a:gd name="T6" fmla="*/ 21600 w 21600"/>
                <a:gd name="T7" fmla="*/ 6079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27 w 21600"/>
                <a:gd name="T13" fmla="*/ G1 h 21600"/>
                <a:gd name="T14" fmla="*/ G8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2895600" y="1993900"/>
              <a:ext cx="10858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</a:rPr>
                <a:t>Network</a:t>
              </a:r>
            </a:p>
          </p:txBody>
        </p:sp>
        <p:sp>
          <p:nvSpPr>
            <p:cNvPr id="8" name="AutoShape 6"/>
            <p:cNvSpPr>
              <a:spLocks noChangeArrowheads="1"/>
            </p:cNvSpPr>
            <p:nvPr/>
          </p:nvSpPr>
          <p:spPr bwMode="auto">
            <a:xfrm rot="5400000">
              <a:off x="3924300" y="2184400"/>
              <a:ext cx="533400" cy="457200"/>
            </a:xfrm>
            <a:custGeom>
              <a:avLst/>
              <a:gdLst>
                <a:gd name="G0" fmla="+- 15126 0 0"/>
                <a:gd name="G1" fmla="+- 2912 0 0"/>
                <a:gd name="G2" fmla="+- 12158 0 2912"/>
                <a:gd name="G3" fmla="+- G2 0 2912"/>
                <a:gd name="G4" fmla="*/ G3 32768 32059"/>
                <a:gd name="G5" fmla="*/ G4 1 2"/>
                <a:gd name="G6" fmla="+- 21600 0 15126"/>
                <a:gd name="G7" fmla="*/ G6 2912 6079"/>
                <a:gd name="G8" fmla="+- G7 15126 0"/>
                <a:gd name="T0" fmla="*/ 15126 w 21600"/>
                <a:gd name="T1" fmla="*/ 0 h 21600"/>
                <a:gd name="T2" fmla="*/ 15126 w 21600"/>
                <a:gd name="T3" fmla="*/ 12158 h 21600"/>
                <a:gd name="T4" fmla="*/ 3237 w 21600"/>
                <a:gd name="T5" fmla="*/ 21600 h 21600"/>
                <a:gd name="T6" fmla="*/ 21600 w 21600"/>
                <a:gd name="T7" fmla="*/ 6079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27 w 21600"/>
                <a:gd name="T13" fmla="*/ G1 h 21600"/>
                <a:gd name="T14" fmla="*/ G8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0" name="Text Box 17"/>
            <p:cNvSpPr txBox="1">
              <a:spLocks noChangeArrowheads="1"/>
            </p:cNvSpPr>
            <p:nvPr/>
          </p:nvSpPr>
          <p:spPr bwMode="auto">
            <a:xfrm>
              <a:off x="5486400" y="4356100"/>
              <a:ext cx="2533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prstClr val="black"/>
                  </a:solidFill>
                </a:rPr>
                <a:t>{Value, Time, Qualifier}</a:t>
              </a:r>
            </a:p>
          </p:txBody>
        </p:sp>
        <p:sp>
          <p:nvSpPr>
            <p:cNvPr id="11" name="Text Box 18"/>
            <p:cNvSpPr txBox="1">
              <a:spLocks noChangeArrowheads="1"/>
            </p:cNvSpPr>
            <p:nvPr/>
          </p:nvSpPr>
          <p:spPr bwMode="auto">
            <a:xfrm>
              <a:off x="304800" y="1219200"/>
              <a:ext cx="1295400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en-US" dirty="0" smtClean="0">
                  <a:solidFill>
                    <a:srgbClr val="0066FF"/>
                  </a:solidFill>
                </a:rPr>
                <a:t>NWIS Daily Values</a:t>
              </a:r>
              <a:endParaRPr lang="en-US" dirty="0">
                <a:solidFill>
                  <a:srgbClr val="0066FF"/>
                </a:solidFill>
              </a:endParaRPr>
            </a:p>
          </p:txBody>
        </p:sp>
        <p:sp>
          <p:nvSpPr>
            <p:cNvPr id="12" name="Text Box 19"/>
            <p:cNvSpPr txBox="1">
              <a:spLocks noChangeArrowheads="1"/>
            </p:cNvSpPr>
            <p:nvPr/>
          </p:nvSpPr>
          <p:spPr bwMode="auto">
            <a:xfrm>
              <a:off x="914400" y="2057400"/>
              <a:ext cx="119366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rgbClr val="0066FF"/>
                  </a:solidFill>
                </a:rPr>
                <a:t>NWIS Sites</a:t>
              </a:r>
              <a:endParaRPr lang="en-US" dirty="0">
                <a:solidFill>
                  <a:srgbClr val="0066FF"/>
                </a:solidFill>
              </a:endParaRPr>
            </a:p>
          </p:txBody>
        </p:sp>
        <p:sp>
          <p:nvSpPr>
            <p:cNvPr id="13" name="Text Box 20"/>
            <p:cNvSpPr txBox="1">
              <a:spLocks noChangeArrowheads="1"/>
            </p:cNvSpPr>
            <p:nvPr/>
          </p:nvSpPr>
          <p:spPr bwMode="auto">
            <a:xfrm>
              <a:off x="381000" y="2755900"/>
              <a:ext cx="298921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rgbClr val="0066FF"/>
                  </a:solidFill>
                </a:rPr>
                <a:t>San Marcos River at </a:t>
              </a:r>
              <a:r>
                <a:rPr lang="en-US" dirty="0" err="1" smtClean="0">
                  <a:solidFill>
                    <a:srgbClr val="0066FF"/>
                  </a:solidFill>
                </a:rPr>
                <a:t>Luling</a:t>
              </a:r>
              <a:r>
                <a:rPr lang="en-US" dirty="0" smtClean="0">
                  <a:solidFill>
                    <a:srgbClr val="0066FF"/>
                  </a:solidFill>
                </a:rPr>
                <a:t>, TX</a:t>
              </a:r>
              <a:endParaRPr lang="en-US" dirty="0">
                <a:solidFill>
                  <a:srgbClr val="0066FF"/>
                </a:solidFill>
              </a:endParaRPr>
            </a:p>
          </p:txBody>
        </p:sp>
        <p:sp>
          <p:nvSpPr>
            <p:cNvPr id="14" name="Text Box 21"/>
            <p:cNvSpPr txBox="1">
              <a:spLocks noChangeArrowheads="1"/>
            </p:cNvSpPr>
            <p:nvPr/>
          </p:nvSpPr>
          <p:spPr bwMode="auto">
            <a:xfrm>
              <a:off x="1676400" y="3365500"/>
              <a:ext cx="2597150" cy="641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66FF"/>
                  </a:solidFill>
                </a:rPr>
                <a:t>Discharge, stage </a:t>
              </a:r>
            </a:p>
            <a:p>
              <a:r>
                <a:rPr lang="en-US">
                  <a:solidFill>
                    <a:srgbClr val="0066FF"/>
                  </a:solidFill>
                </a:rPr>
                <a:t>(Daily or instantaneous)</a:t>
              </a:r>
            </a:p>
          </p:txBody>
        </p:sp>
        <p:sp>
          <p:nvSpPr>
            <p:cNvPr id="15" name="Text Box 22"/>
            <p:cNvSpPr txBox="1">
              <a:spLocks noChangeArrowheads="1"/>
            </p:cNvSpPr>
            <p:nvPr/>
          </p:nvSpPr>
          <p:spPr bwMode="auto">
            <a:xfrm>
              <a:off x="2743200" y="4356100"/>
              <a:ext cx="2289601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rgbClr val="0066FF"/>
                  </a:solidFill>
                </a:rPr>
                <a:t>18,700 </a:t>
              </a:r>
              <a:r>
                <a:rPr lang="en-US" dirty="0" err="1">
                  <a:solidFill>
                    <a:srgbClr val="0066FF"/>
                  </a:solidFill>
                </a:rPr>
                <a:t>cfs</a:t>
              </a:r>
              <a:r>
                <a:rPr lang="en-US" dirty="0">
                  <a:solidFill>
                    <a:srgbClr val="0066FF"/>
                  </a:solidFill>
                </a:rPr>
                <a:t>, </a:t>
              </a:r>
              <a:r>
                <a:rPr lang="en-US" dirty="0" smtClean="0">
                  <a:solidFill>
                    <a:srgbClr val="0066FF"/>
                  </a:solidFill>
                </a:rPr>
                <a:t>3 July 2002</a:t>
              </a:r>
              <a:endParaRPr lang="en-US" dirty="0">
                <a:solidFill>
                  <a:srgbClr val="0066FF"/>
                </a:solidFill>
              </a:endParaRPr>
            </a:p>
          </p:txBody>
        </p:sp>
        <p:sp>
          <p:nvSpPr>
            <p:cNvPr id="17" name="Oval 24"/>
            <p:cNvSpPr>
              <a:spLocks noChangeArrowheads="1"/>
            </p:cNvSpPr>
            <p:nvPr/>
          </p:nvSpPr>
          <p:spPr bwMode="auto">
            <a:xfrm>
              <a:off x="4343400" y="1993900"/>
              <a:ext cx="152400" cy="1524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8" name="Oval 25"/>
            <p:cNvSpPr>
              <a:spLocks noChangeArrowheads="1"/>
            </p:cNvSpPr>
            <p:nvPr/>
          </p:nvSpPr>
          <p:spPr bwMode="auto">
            <a:xfrm>
              <a:off x="4495800" y="2146300"/>
              <a:ext cx="152400" cy="1524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" name="Oval 26"/>
            <p:cNvSpPr>
              <a:spLocks noChangeArrowheads="1"/>
            </p:cNvSpPr>
            <p:nvPr/>
          </p:nvSpPr>
          <p:spPr bwMode="auto">
            <a:xfrm>
              <a:off x="4800600" y="2070100"/>
              <a:ext cx="152400" cy="1524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0" name="Oval 27"/>
            <p:cNvSpPr>
              <a:spLocks noChangeArrowheads="1"/>
            </p:cNvSpPr>
            <p:nvPr/>
          </p:nvSpPr>
          <p:spPr bwMode="auto">
            <a:xfrm>
              <a:off x="4572000" y="1841500"/>
              <a:ext cx="152400" cy="1524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2" name="Text Box 7"/>
            <p:cNvSpPr txBox="1">
              <a:spLocks noChangeArrowheads="1"/>
            </p:cNvSpPr>
            <p:nvPr/>
          </p:nvSpPr>
          <p:spPr bwMode="auto">
            <a:xfrm>
              <a:off x="3886200" y="2895600"/>
              <a:ext cx="7302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</a:rPr>
                <a:t>Sites</a:t>
              </a:r>
            </a:p>
          </p:txBody>
        </p:sp>
        <p:sp>
          <p:nvSpPr>
            <p:cNvPr id="23" name="AutoShape 8"/>
            <p:cNvSpPr>
              <a:spLocks noChangeArrowheads="1"/>
            </p:cNvSpPr>
            <p:nvPr/>
          </p:nvSpPr>
          <p:spPr bwMode="auto">
            <a:xfrm rot="5400000">
              <a:off x="4533900" y="3009900"/>
              <a:ext cx="533400" cy="457200"/>
            </a:xfrm>
            <a:custGeom>
              <a:avLst/>
              <a:gdLst>
                <a:gd name="G0" fmla="+- 15126 0 0"/>
                <a:gd name="G1" fmla="+- 2912 0 0"/>
                <a:gd name="G2" fmla="+- 12158 0 2912"/>
                <a:gd name="G3" fmla="+- G2 0 2912"/>
                <a:gd name="G4" fmla="*/ G3 32768 32059"/>
                <a:gd name="G5" fmla="*/ G4 1 2"/>
                <a:gd name="G6" fmla="+- 21600 0 15126"/>
                <a:gd name="G7" fmla="*/ G6 2912 6079"/>
                <a:gd name="G8" fmla="+- G7 15126 0"/>
                <a:gd name="T0" fmla="*/ 15126 w 21600"/>
                <a:gd name="T1" fmla="*/ 0 h 21600"/>
                <a:gd name="T2" fmla="*/ 15126 w 21600"/>
                <a:gd name="T3" fmla="*/ 12158 h 21600"/>
                <a:gd name="T4" fmla="*/ 3237 w 21600"/>
                <a:gd name="T5" fmla="*/ 21600 h 21600"/>
                <a:gd name="T6" fmla="*/ 21600 w 21600"/>
                <a:gd name="T7" fmla="*/ 6079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27 w 21600"/>
                <a:gd name="T13" fmla="*/ G1 h 21600"/>
                <a:gd name="T14" fmla="*/ G8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4" name="Text Box 9"/>
            <p:cNvSpPr txBox="1">
              <a:spLocks noChangeArrowheads="1"/>
            </p:cNvSpPr>
            <p:nvPr/>
          </p:nvSpPr>
          <p:spPr bwMode="auto">
            <a:xfrm>
              <a:off x="4343400" y="3505200"/>
              <a:ext cx="12001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prstClr val="black"/>
                  </a:solidFill>
                </a:rPr>
                <a:t>Variables</a:t>
              </a:r>
            </a:p>
          </p:txBody>
        </p:sp>
        <p:sp>
          <p:nvSpPr>
            <p:cNvPr id="25" name="AutoShape 10"/>
            <p:cNvSpPr>
              <a:spLocks noChangeArrowheads="1"/>
            </p:cNvSpPr>
            <p:nvPr/>
          </p:nvSpPr>
          <p:spPr bwMode="auto">
            <a:xfrm rot="5400000">
              <a:off x="5448300" y="3619500"/>
              <a:ext cx="533400" cy="457200"/>
            </a:xfrm>
            <a:custGeom>
              <a:avLst/>
              <a:gdLst>
                <a:gd name="G0" fmla="+- 15126 0 0"/>
                <a:gd name="G1" fmla="+- 2912 0 0"/>
                <a:gd name="G2" fmla="+- 12158 0 2912"/>
                <a:gd name="G3" fmla="+- G2 0 2912"/>
                <a:gd name="G4" fmla="*/ G3 32768 32059"/>
                <a:gd name="G5" fmla="*/ G4 1 2"/>
                <a:gd name="G6" fmla="+- 21600 0 15126"/>
                <a:gd name="G7" fmla="*/ G6 2912 6079"/>
                <a:gd name="G8" fmla="+- G7 15126 0"/>
                <a:gd name="T0" fmla="*/ 15126 w 21600"/>
                <a:gd name="T1" fmla="*/ 0 h 21600"/>
                <a:gd name="T2" fmla="*/ 15126 w 21600"/>
                <a:gd name="T3" fmla="*/ 12158 h 21600"/>
                <a:gd name="T4" fmla="*/ 3237 w 21600"/>
                <a:gd name="T5" fmla="*/ 21600 h 21600"/>
                <a:gd name="T6" fmla="*/ 21600 w 21600"/>
                <a:gd name="T7" fmla="*/ 6079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27 w 21600"/>
                <a:gd name="T13" fmla="*/ G1 h 21600"/>
                <a:gd name="T14" fmla="*/ G8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6" name="Text Box 11"/>
            <p:cNvSpPr txBox="1">
              <a:spLocks noChangeArrowheads="1"/>
            </p:cNvSpPr>
            <p:nvPr/>
          </p:nvSpPr>
          <p:spPr bwMode="auto">
            <a:xfrm>
              <a:off x="5334000" y="4114800"/>
              <a:ext cx="135344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 dirty="0" smtClean="0">
                  <a:solidFill>
                    <a:prstClr val="black"/>
                  </a:solidFill>
                </a:rPr>
                <a:t>Observation</a:t>
              </a:r>
              <a:endParaRPr lang="en-US" b="1" dirty="0">
                <a:solidFill>
                  <a:prstClr val="black"/>
                </a:solidFill>
              </a:endParaRPr>
            </a:p>
          </p:txBody>
        </p:sp>
        <p:sp>
          <p:nvSpPr>
            <p:cNvPr id="31" name="Oval 28"/>
            <p:cNvSpPr>
              <a:spLocks noChangeArrowheads="1"/>
            </p:cNvSpPr>
            <p:nvPr/>
          </p:nvSpPr>
          <p:spPr bwMode="auto">
            <a:xfrm>
              <a:off x="5029200" y="2971800"/>
              <a:ext cx="152400" cy="1524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34" name="Title 1"/>
          <p:cNvSpPr>
            <a:spLocks noGrp="1"/>
          </p:cNvSpPr>
          <p:nvPr>
            <p:ph type="title"/>
          </p:nvPr>
        </p:nvSpPr>
        <p:spPr>
          <a:xfrm>
            <a:off x="0" y="114618"/>
            <a:ext cx="9144000" cy="1143000"/>
          </a:xfrm>
        </p:spPr>
        <p:txBody>
          <a:bodyPr>
            <a:noAutofit/>
          </a:bodyPr>
          <a:lstStyle/>
          <a:p>
            <a:r>
              <a:rPr lang="en-US" sz="3200" dirty="0" smtClean="0"/>
              <a:t>CUAHSI Observations-Network Information Model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36327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63312" y="1556959"/>
            <a:ext cx="4081076" cy="2617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dirty="0" smtClean="0"/>
              <a:t>Observations Data Model (ODM)</a:t>
            </a:r>
          </a:p>
        </p:txBody>
      </p:sp>
      <p:grpSp>
        <p:nvGrpSpPr>
          <p:cNvPr id="2" name="Group 26"/>
          <p:cNvGrpSpPr/>
          <p:nvPr/>
        </p:nvGrpSpPr>
        <p:grpSpPr>
          <a:xfrm>
            <a:off x="361352" y="685800"/>
            <a:ext cx="8554049" cy="4735035"/>
            <a:chOff x="361352" y="979965"/>
            <a:chExt cx="8554049" cy="4735035"/>
          </a:xfrm>
        </p:grpSpPr>
        <p:pic>
          <p:nvPicPr>
            <p:cNvPr id="18" name="Picture 16" descr="weather_sta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20510" y="2952843"/>
              <a:ext cx="871827" cy="145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3" name="Group 25"/>
            <p:cNvGrpSpPr/>
            <p:nvPr/>
          </p:nvGrpSpPr>
          <p:grpSpPr>
            <a:xfrm>
              <a:off x="361352" y="986838"/>
              <a:ext cx="8554049" cy="3958259"/>
              <a:chOff x="345792" y="986838"/>
              <a:chExt cx="7577286" cy="3958259"/>
            </a:xfrm>
          </p:grpSpPr>
          <p:sp>
            <p:nvSpPr>
              <p:cNvPr id="44036" name="Text Box 16"/>
              <p:cNvSpPr txBox="1">
                <a:spLocks noChangeArrowheads="1"/>
              </p:cNvSpPr>
              <p:nvPr/>
            </p:nvSpPr>
            <p:spPr bwMode="auto">
              <a:xfrm>
                <a:off x="5634229" y="2848045"/>
                <a:ext cx="1613859" cy="10196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91403" tIns="45703" rIns="91403" bIns="45703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prstClr val="black"/>
                    </a:solidFill>
                  </a:rPr>
                  <a:t>Soil </a:t>
                </a:r>
              </a:p>
              <a:p>
                <a:pPr algn="ctr"/>
                <a:r>
                  <a:rPr lang="en-US" sz="2400" dirty="0">
                    <a:solidFill>
                      <a:prstClr val="black"/>
                    </a:solidFill>
                  </a:rPr>
                  <a:t>moisture</a:t>
                </a:r>
              </a:p>
              <a:p>
                <a:pPr algn="ctr"/>
                <a:r>
                  <a:rPr lang="en-US" sz="2400" dirty="0">
                    <a:solidFill>
                      <a:prstClr val="black"/>
                    </a:solidFill>
                  </a:rPr>
                  <a:t>data</a:t>
                </a:r>
              </a:p>
            </p:txBody>
          </p:sp>
          <p:sp>
            <p:nvSpPr>
              <p:cNvPr id="44037" name="Text Box 11"/>
              <p:cNvSpPr txBox="1">
                <a:spLocks noChangeArrowheads="1"/>
              </p:cNvSpPr>
              <p:nvPr/>
            </p:nvSpPr>
            <p:spPr bwMode="auto">
              <a:xfrm>
                <a:off x="1547624" y="986838"/>
                <a:ext cx="1346984" cy="3911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1403" tIns="45703" rIns="91403" bIns="45703">
                <a:spAutoFit/>
              </a:bodyPr>
              <a:lstStyle/>
              <a:p>
                <a:r>
                  <a:rPr lang="en-US" sz="2400" dirty="0">
                    <a:solidFill>
                      <a:prstClr val="black"/>
                    </a:solidFill>
                  </a:rPr>
                  <a:t>Streamflow</a:t>
                </a:r>
              </a:p>
            </p:txBody>
          </p:sp>
          <p:sp>
            <p:nvSpPr>
              <p:cNvPr id="44038" name="Text Box 12"/>
              <p:cNvSpPr txBox="1">
                <a:spLocks noChangeArrowheads="1"/>
              </p:cNvSpPr>
              <p:nvPr/>
            </p:nvSpPr>
            <p:spPr bwMode="auto">
              <a:xfrm>
                <a:off x="5974254" y="4272779"/>
                <a:ext cx="1948824" cy="4616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91403" tIns="45703" rIns="91403" bIns="45703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prstClr val="black"/>
                    </a:solidFill>
                  </a:rPr>
                  <a:t>Flux </a:t>
                </a:r>
                <a:r>
                  <a:rPr lang="en-US" sz="2400" dirty="0" smtClean="0">
                    <a:solidFill>
                      <a:prstClr val="black"/>
                    </a:solidFill>
                  </a:rPr>
                  <a:t>tower data</a:t>
                </a:r>
                <a:endParaRPr lang="en-US" sz="24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4040" name="Text Box 14"/>
              <p:cNvSpPr txBox="1">
                <a:spLocks noChangeArrowheads="1"/>
              </p:cNvSpPr>
              <p:nvPr/>
            </p:nvSpPr>
            <p:spPr bwMode="auto">
              <a:xfrm>
                <a:off x="5167218" y="1012221"/>
                <a:ext cx="1536108" cy="7054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1403" tIns="45703" rIns="91403" bIns="45703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prstClr val="black"/>
                    </a:solidFill>
                  </a:rPr>
                  <a:t>Groundwater</a:t>
                </a:r>
              </a:p>
              <a:p>
                <a:pPr algn="ctr"/>
                <a:r>
                  <a:rPr lang="en-US" sz="2400" dirty="0">
                    <a:solidFill>
                      <a:prstClr val="black"/>
                    </a:solidFill>
                  </a:rPr>
                  <a:t>levels</a:t>
                </a:r>
              </a:p>
            </p:txBody>
          </p:sp>
          <p:sp>
            <p:nvSpPr>
              <p:cNvPr id="44041" name="Text Box 15"/>
              <p:cNvSpPr txBox="1">
                <a:spLocks noChangeArrowheads="1"/>
              </p:cNvSpPr>
              <p:nvPr/>
            </p:nvSpPr>
            <p:spPr bwMode="auto">
              <a:xfrm>
                <a:off x="345792" y="4330073"/>
                <a:ext cx="1893343" cy="3911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91403" tIns="45703" rIns="91403" bIns="45703">
                <a:spAutoFit/>
              </a:bodyPr>
              <a:lstStyle/>
              <a:p>
                <a:r>
                  <a:rPr lang="en-US" sz="2400" dirty="0">
                    <a:solidFill>
                      <a:prstClr val="black"/>
                    </a:solidFill>
                  </a:rPr>
                  <a:t>Water Quality</a:t>
                </a:r>
              </a:p>
            </p:txBody>
          </p:sp>
          <p:sp>
            <p:nvSpPr>
              <p:cNvPr id="44042" name="Line 17"/>
              <p:cNvSpPr>
                <a:spLocks noChangeShapeType="1"/>
              </p:cNvSpPr>
              <p:nvPr/>
            </p:nvSpPr>
            <p:spPr bwMode="auto">
              <a:xfrm>
                <a:off x="2120822" y="1457799"/>
                <a:ext cx="401363" cy="39332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4043" name="Line 18"/>
              <p:cNvSpPr>
                <a:spLocks noChangeShapeType="1"/>
              </p:cNvSpPr>
              <p:nvPr/>
            </p:nvSpPr>
            <p:spPr bwMode="auto">
              <a:xfrm>
                <a:off x="1414949" y="3198668"/>
                <a:ext cx="590488" cy="3847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4044" name="Line 19"/>
              <p:cNvSpPr>
                <a:spLocks noChangeShapeType="1"/>
              </p:cNvSpPr>
              <p:nvPr/>
            </p:nvSpPr>
            <p:spPr bwMode="auto">
              <a:xfrm flipV="1">
                <a:off x="1710193" y="4564598"/>
                <a:ext cx="949823" cy="38049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4045" name="Line 20"/>
              <p:cNvSpPr>
                <a:spLocks noChangeShapeType="1"/>
              </p:cNvSpPr>
              <p:nvPr/>
            </p:nvSpPr>
            <p:spPr bwMode="auto">
              <a:xfrm flipH="1" flipV="1">
                <a:off x="5634228" y="4525665"/>
                <a:ext cx="1069097" cy="34049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4046" name="Line 21"/>
              <p:cNvSpPr>
                <a:spLocks noChangeShapeType="1"/>
              </p:cNvSpPr>
              <p:nvPr/>
            </p:nvSpPr>
            <p:spPr bwMode="auto">
              <a:xfrm flipH="1" flipV="1">
                <a:off x="5399161" y="3187238"/>
                <a:ext cx="695557" cy="3847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4047" name="Line 22"/>
              <p:cNvSpPr>
                <a:spLocks noChangeShapeType="1"/>
              </p:cNvSpPr>
              <p:nvPr/>
            </p:nvSpPr>
            <p:spPr bwMode="auto">
              <a:xfrm flipH="1">
                <a:off x="5974254" y="1951352"/>
                <a:ext cx="605197" cy="29071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4039" name="Text Box 13"/>
              <p:cNvSpPr txBox="1">
                <a:spLocks noChangeArrowheads="1"/>
              </p:cNvSpPr>
              <p:nvPr/>
            </p:nvSpPr>
            <p:spPr bwMode="auto">
              <a:xfrm>
                <a:off x="363196" y="2199165"/>
                <a:ext cx="1473067" cy="7054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1403" tIns="45703" rIns="91403" bIns="45703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prstClr val="black"/>
                    </a:solidFill>
                  </a:rPr>
                  <a:t>Precipitation</a:t>
                </a:r>
              </a:p>
              <a:p>
                <a:pPr algn="ctr"/>
                <a:r>
                  <a:rPr lang="en-US" sz="2400" dirty="0">
                    <a:solidFill>
                      <a:prstClr val="black"/>
                    </a:solidFill>
                  </a:rPr>
                  <a:t>&amp; Climate</a:t>
                </a:r>
              </a:p>
            </p:txBody>
          </p:sp>
        </p:grpSp>
        <p:pic>
          <p:nvPicPr>
            <p:cNvPr id="17" name="Picture 5" descr="stream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57200" y="979965"/>
              <a:ext cx="1025876" cy="1297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9" name="Picture 6" descr="tdr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7854964" y="2689325"/>
              <a:ext cx="970748" cy="13928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0" name="Picture 15" descr="VAIRA3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7728344" y="4675806"/>
              <a:ext cx="1187056" cy="1039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1" name="Picture 3" descr="C:\Documents and Settings\Amber\Desktop\Research\Site Photos\LBR\DSC00422.JP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457200" y="4715234"/>
              <a:ext cx="1266193" cy="949645"/>
            </a:xfrm>
            <a:prstGeom prst="rect">
              <a:avLst/>
            </a:prstGeom>
            <a:noFill/>
          </p:spPr>
        </p:pic>
        <p:pic>
          <p:nvPicPr>
            <p:cNvPr id="4098" name="Picture 2" descr="Truck-mounted drill rig for drilling a well. 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7538415" y="979965"/>
              <a:ext cx="1016075" cy="1361157"/>
            </a:xfrm>
            <a:prstGeom prst="rect">
              <a:avLst/>
            </a:prstGeom>
            <a:noFill/>
          </p:spPr>
        </p:pic>
      </p:grpSp>
      <p:sp>
        <p:nvSpPr>
          <p:cNvPr id="28" name="Rectangle 27"/>
          <p:cNvSpPr/>
          <p:nvPr/>
        </p:nvSpPr>
        <p:spPr>
          <a:xfrm>
            <a:off x="1828800" y="4648200"/>
            <a:ext cx="5943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1721" indent="-231721" eaLnBrk="0" hangingPunct="0">
              <a:buFontTx/>
              <a:buChar char="•"/>
            </a:pPr>
            <a:r>
              <a:rPr lang="en-US" dirty="0" smtClean="0">
                <a:solidFill>
                  <a:srgbClr val="000000"/>
                </a:solidFill>
                <a:latin typeface="Helvetica" pitchFamily="34" charset="0"/>
              </a:rPr>
              <a:t>A </a:t>
            </a:r>
            <a:r>
              <a:rPr lang="en-US" dirty="0" smtClean="0">
                <a:solidFill>
                  <a:srgbClr val="FF3300"/>
                </a:solidFill>
                <a:latin typeface="Helvetica" pitchFamily="34" charset="0"/>
              </a:rPr>
              <a:t>relational database</a:t>
            </a:r>
            <a:r>
              <a:rPr lang="en-US" dirty="0" smtClean="0">
                <a:solidFill>
                  <a:srgbClr val="000000"/>
                </a:solidFill>
                <a:latin typeface="Helvetica" pitchFamily="34" charset="0"/>
              </a:rPr>
              <a:t> at the single observation level</a:t>
            </a:r>
          </a:p>
          <a:p>
            <a:pPr marL="231721" indent="-231721" eaLnBrk="0" hangingPunct="0">
              <a:buFontTx/>
              <a:buChar char="•"/>
            </a:pPr>
            <a:r>
              <a:rPr lang="en-US" dirty="0" smtClean="0">
                <a:solidFill>
                  <a:srgbClr val="000000"/>
                </a:solidFill>
                <a:latin typeface="Helvetica" pitchFamily="34" charset="0"/>
              </a:rPr>
              <a:t>Metadata for </a:t>
            </a:r>
            <a:r>
              <a:rPr lang="en-US" dirty="0" smtClean="0">
                <a:solidFill>
                  <a:srgbClr val="FF3300"/>
                </a:solidFill>
                <a:latin typeface="Helvetica" pitchFamily="34" charset="0"/>
              </a:rPr>
              <a:t>unambiguous interpretation</a:t>
            </a:r>
          </a:p>
          <a:p>
            <a:pPr marL="231721" indent="-231721" eaLnBrk="0" hangingPunct="0">
              <a:buFontTx/>
              <a:buChar char="•"/>
            </a:pPr>
            <a:r>
              <a:rPr lang="en-US" dirty="0" smtClean="0">
                <a:solidFill>
                  <a:srgbClr val="000000"/>
                </a:solidFill>
                <a:latin typeface="Helvetica" pitchFamily="34" charset="0"/>
              </a:rPr>
              <a:t>Traceable heritage from </a:t>
            </a:r>
            <a:r>
              <a:rPr lang="en-US" dirty="0" smtClean="0">
                <a:solidFill>
                  <a:srgbClr val="FF3300"/>
                </a:solidFill>
                <a:latin typeface="Helvetica" pitchFamily="34" charset="0"/>
              </a:rPr>
              <a:t>raw</a:t>
            </a:r>
            <a:r>
              <a:rPr lang="en-US" dirty="0" smtClean="0">
                <a:solidFill>
                  <a:srgbClr val="000000"/>
                </a:solidFill>
                <a:latin typeface="Helvetica" pitchFamily="34" charset="0"/>
              </a:rPr>
              <a:t> measurements to </a:t>
            </a:r>
            <a:r>
              <a:rPr lang="en-US" dirty="0" smtClean="0">
                <a:solidFill>
                  <a:srgbClr val="FF3300"/>
                </a:solidFill>
                <a:latin typeface="Helvetica" pitchFamily="34" charset="0"/>
              </a:rPr>
              <a:t>usable</a:t>
            </a:r>
            <a:r>
              <a:rPr lang="en-US" dirty="0" smtClean="0">
                <a:solidFill>
                  <a:srgbClr val="000000"/>
                </a:solidFill>
                <a:latin typeface="Helvetica" pitchFamily="34" charset="0"/>
              </a:rPr>
              <a:t> information</a:t>
            </a:r>
          </a:p>
          <a:p>
            <a:pPr marL="231721" indent="-231721" eaLnBrk="0" hangingPunct="0">
              <a:buFontTx/>
              <a:buChar char="•"/>
            </a:pPr>
            <a:r>
              <a:rPr lang="en-US" dirty="0" smtClean="0">
                <a:solidFill>
                  <a:prstClr val="black"/>
                </a:solidFill>
                <a:latin typeface="Helvetica" pitchFamily="34" charset="0"/>
              </a:rPr>
              <a:t>Promote </a:t>
            </a:r>
            <a:r>
              <a:rPr lang="en-US" dirty="0" smtClean="0">
                <a:solidFill>
                  <a:srgbClr val="FF0000"/>
                </a:solidFill>
                <a:latin typeface="Helvetica" pitchFamily="34" charset="0"/>
              </a:rPr>
              <a:t>syntactic</a:t>
            </a:r>
            <a:r>
              <a:rPr lang="en-US" dirty="0" smtClean="0">
                <a:solidFill>
                  <a:prstClr val="black"/>
                </a:solidFill>
                <a:latin typeface="Helvetica" pitchFamily="34" charset="0"/>
              </a:rPr>
              <a:t> and </a:t>
            </a:r>
            <a:r>
              <a:rPr lang="en-US" dirty="0" smtClean="0">
                <a:solidFill>
                  <a:srgbClr val="FF0000"/>
                </a:solidFill>
                <a:latin typeface="Helvetica" pitchFamily="34" charset="0"/>
              </a:rPr>
              <a:t>semantic</a:t>
            </a:r>
            <a:r>
              <a:rPr lang="en-US" dirty="0" smtClean="0">
                <a:solidFill>
                  <a:prstClr val="black"/>
                </a:solidFill>
                <a:latin typeface="Helvetica" pitchFamily="34" charset="0"/>
              </a:rPr>
              <a:t> consistency </a:t>
            </a:r>
          </a:p>
          <a:p>
            <a:pPr marL="231721" indent="-231721" eaLnBrk="0" hangingPunct="0">
              <a:buFontTx/>
              <a:buChar char="•"/>
            </a:pPr>
            <a:r>
              <a:rPr lang="en-US" dirty="0" smtClean="0">
                <a:solidFill>
                  <a:srgbClr val="FF3300"/>
                </a:solidFill>
                <a:latin typeface="Helvetica" pitchFamily="34" charset="0"/>
              </a:rPr>
              <a:t>Cross dimension</a:t>
            </a:r>
            <a:r>
              <a:rPr lang="en-US" dirty="0" smtClean="0">
                <a:solidFill>
                  <a:srgbClr val="000000"/>
                </a:solidFill>
                <a:latin typeface="Helvetica" pitchFamily="34" charset="0"/>
              </a:rPr>
              <a:t> retrieval and analysis</a:t>
            </a:r>
            <a:endParaRPr lang="en-US" dirty="0">
              <a:solidFill>
                <a:srgbClr val="000000"/>
              </a:solidFill>
              <a:latin typeface="Helvetica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08952" y="6324600"/>
            <a:ext cx="87826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Horsburgh, J. S., D. G. Tarboton, D. R. Maidment, and I. Zaslavsky (2008), A </a:t>
            </a:r>
            <a:r>
              <a:rPr lang="en-US" sz="1200" dirty="0" smtClean="0"/>
              <a:t>relational model </a:t>
            </a:r>
            <a:r>
              <a:rPr lang="en-US" sz="1200" dirty="0"/>
              <a:t>for environmental and water resources data, </a:t>
            </a:r>
            <a:r>
              <a:rPr lang="en-US" sz="1200" i="1" dirty="0"/>
              <a:t>Water Resources Research</a:t>
            </a:r>
            <a:r>
              <a:rPr lang="en-US" sz="1200" dirty="0"/>
              <a:t>, </a:t>
            </a:r>
            <a:r>
              <a:rPr lang="en-US" sz="1200" dirty="0" smtClean="0"/>
              <a:t>44, W05406</a:t>
            </a:r>
            <a:r>
              <a:rPr lang="en-US" sz="1200" dirty="0"/>
              <a:t>, doi:10.1029/2007WR006392.</a:t>
            </a:r>
            <a:endParaRPr lang="en-US" sz="1200" dirty="0">
              <a:solidFill>
                <a:prstClr val="blac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3474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1"/>
          <p:cNvPicPr>
            <a:picLocks noChangeAspect="1" noChangeArrowheads="1"/>
          </p:cNvPicPr>
          <p:nvPr/>
        </p:nvPicPr>
        <p:blipFill>
          <a:blip r:embed="rId4" cstate="print"/>
          <a:srcRect t="4840" r="14818" b="4018"/>
          <a:stretch>
            <a:fillRect/>
          </a:stretch>
        </p:blipFill>
        <p:spPr bwMode="auto">
          <a:xfrm>
            <a:off x="488950" y="2159000"/>
            <a:ext cx="4137025" cy="42243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3993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57200" y="1698625"/>
            <a:ext cx="4038600" cy="4221163"/>
          </a:xfrm>
        </p:spPr>
        <p:txBody>
          <a:bodyPr/>
          <a:lstStyle/>
          <a:p>
            <a:pPr eaLnBrk="1" hangingPunct="1"/>
            <a:r>
              <a:rPr lang="en-US" sz="2400" smtClean="0"/>
              <a:t>Set of </a:t>
            </a:r>
            <a:r>
              <a:rPr lang="en-US" sz="2400" smtClean="0">
                <a:solidFill>
                  <a:srgbClr val="0066FF"/>
                </a:solidFill>
              </a:rPr>
              <a:t>query</a:t>
            </a:r>
            <a:r>
              <a:rPr lang="en-US" sz="2400" smtClean="0"/>
              <a:t> functions</a:t>
            </a:r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648200" y="1698625"/>
            <a:ext cx="4495800" cy="4221163"/>
          </a:xfrm>
        </p:spPr>
        <p:txBody>
          <a:bodyPr/>
          <a:lstStyle/>
          <a:p>
            <a:pPr eaLnBrk="1" hangingPunct="1"/>
            <a:r>
              <a:rPr lang="en-US" sz="2400" smtClean="0"/>
              <a:t>Returns</a:t>
            </a:r>
            <a:r>
              <a:rPr lang="en-US" sz="1800" smtClean="0"/>
              <a:t> </a:t>
            </a:r>
            <a:r>
              <a:rPr lang="en-US" sz="2400" smtClean="0"/>
              <a:t>data</a:t>
            </a:r>
            <a:r>
              <a:rPr lang="en-US" sz="1800" smtClean="0"/>
              <a:t> </a:t>
            </a:r>
            <a:r>
              <a:rPr lang="en-US" sz="2400" smtClean="0"/>
              <a:t>in</a:t>
            </a:r>
            <a:r>
              <a:rPr lang="en-US" sz="1800" smtClean="0"/>
              <a:t> </a:t>
            </a:r>
            <a:r>
              <a:rPr lang="en-US" sz="2400" smtClean="0">
                <a:solidFill>
                  <a:srgbClr val="0066FF"/>
                </a:solidFill>
              </a:rPr>
              <a:t>WaterML</a:t>
            </a:r>
          </a:p>
        </p:txBody>
      </p:sp>
      <p:pic>
        <p:nvPicPr>
          <p:cNvPr id="39941" name="Picture 6"/>
          <p:cNvPicPr>
            <a:picLocks noChangeAspect="1" noChangeArrowheads="1"/>
          </p:cNvPicPr>
          <p:nvPr/>
        </p:nvPicPr>
        <p:blipFill>
          <a:blip r:embed="rId5" cstate="print"/>
          <a:srcRect b="12267"/>
          <a:stretch>
            <a:fillRect/>
          </a:stretch>
        </p:blipFill>
        <p:spPr bwMode="auto">
          <a:xfrm>
            <a:off x="4811713" y="2166938"/>
            <a:ext cx="3895725" cy="4222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39943" name="Rectangle 7"/>
          <p:cNvSpPr txBox="1">
            <a:spLocks noChangeArrowheads="1"/>
          </p:cNvSpPr>
          <p:nvPr/>
        </p:nvSpPr>
        <p:spPr bwMode="auto">
          <a:xfrm>
            <a:off x="458788" y="0"/>
            <a:ext cx="8228012" cy="693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4400" dirty="0">
                <a:solidFill>
                  <a:srgbClr val="000000"/>
                </a:solidFill>
                <a:latin typeface="+mj-lt"/>
              </a:rPr>
              <a:t>WaterML and WaterOneFlow</a:t>
            </a:r>
          </a:p>
        </p:txBody>
      </p:sp>
      <p:sp>
        <p:nvSpPr>
          <p:cNvPr id="39944" name="Text Box 33"/>
          <p:cNvSpPr txBox="1">
            <a:spLocks noChangeArrowheads="1"/>
          </p:cNvSpPr>
          <p:nvPr/>
        </p:nvSpPr>
        <p:spPr bwMode="auto">
          <a:xfrm>
            <a:off x="587375" y="719138"/>
            <a:ext cx="8286750" cy="822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1430" tIns="45715" rIns="91430" bIns="45715">
            <a:spAutoFit/>
          </a:bodyPr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66FF"/>
                </a:solidFill>
                <a:ea typeface="Arial Unicode MS" pitchFamily="34" charset="-128"/>
                <a:cs typeface="Arial Unicode MS" pitchFamily="34" charset="-128"/>
              </a:rPr>
              <a:t>WaterML</a:t>
            </a:r>
            <a:r>
              <a:rPr lang="en-US" sz="2400" dirty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rPr>
              <a:t> is an XML language for communicating water data</a:t>
            </a:r>
          </a:p>
          <a:p>
            <a:pPr algn="ctr" defTabSz="45720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66FF"/>
                </a:solidFill>
                <a:ea typeface="Arial Unicode MS" pitchFamily="34" charset="-128"/>
                <a:cs typeface="Arial Unicode MS" pitchFamily="34" charset="-128"/>
              </a:rPr>
              <a:t>WaterOneFlow</a:t>
            </a:r>
            <a:r>
              <a:rPr lang="en-US" sz="2400" dirty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rPr>
              <a:t> is a set of web services based on WaterML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86736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</p:spPr>
        <p:txBody>
          <a:bodyPr/>
          <a:lstStyle/>
          <a:p>
            <a:r>
              <a:rPr lang="en-US" dirty="0" smtClean="0"/>
              <a:t>HIS Central - HydroCatalog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r>
              <a:rPr lang="en-US" dirty="0" smtClean="0"/>
              <a:t>Central metadata catalog supporting data discovery</a:t>
            </a:r>
            <a:endParaRPr lang="en-US" dirty="0"/>
          </a:p>
        </p:txBody>
      </p:sp>
      <p:grpSp>
        <p:nvGrpSpPr>
          <p:cNvPr id="31" name="Group 30"/>
          <p:cNvGrpSpPr/>
          <p:nvPr/>
        </p:nvGrpSpPr>
        <p:grpSpPr>
          <a:xfrm>
            <a:off x="858837" y="2438400"/>
            <a:ext cx="7751763" cy="3670300"/>
            <a:chOff x="858837" y="2438400"/>
            <a:chExt cx="7751763" cy="3670300"/>
          </a:xfrm>
        </p:grpSpPr>
        <p:sp>
          <p:nvSpPr>
            <p:cNvPr id="32" name="Rectangle 31"/>
            <p:cNvSpPr/>
            <p:nvPr/>
          </p:nvSpPr>
          <p:spPr bwMode="auto">
            <a:xfrm>
              <a:off x="3438525" y="2438400"/>
              <a:ext cx="2297112" cy="915988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anchor="b"/>
            <a:lstStyle/>
            <a:p>
              <a:pPr algn="ctr">
                <a:defRPr/>
              </a:pPr>
              <a:r>
                <a:rPr lang="en-US" kern="0" dirty="0">
                  <a:solidFill>
                    <a:sysClr val="window" lastClr="FFFFFF"/>
                  </a:solidFill>
                </a:rPr>
                <a:t>Data Discovery and </a:t>
              </a:r>
              <a:r>
                <a:rPr lang="en-US" kern="0" dirty="0" smtClean="0">
                  <a:solidFill>
                    <a:sysClr val="window" lastClr="FFFFFF"/>
                  </a:solidFill>
                </a:rPr>
                <a:t>Integration</a:t>
              </a:r>
              <a:endParaRPr lang="en-US" kern="0" dirty="0">
                <a:solidFill>
                  <a:sysClr val="window" lastClr="FFFFFF"/>
                </a:solidFill>
              </a:endParaRPr>
            </a:p>
          </p:txBody>
        </p:sp>
        <p:sp>
          <p:nvSpPr>
            <p:cNvPr id="33" name="Rectangle 32"/>
            <p:cNvSpPr/>
            <p:nvPr/>
          </p:nvSpPr>
          <p:spPr bwMode="auto">
            <a:xfrm>
              <a:off x="858837" y="5159373"/>
              <a:ext cx="2076450" cy="914400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tIns="274320" anchor="ctr" anchorCtr="0"/>
            <a:lstStyle/>
            <a:p>
              <a:pPr algn="ctr">
                <a:defRPr/>
              </a:pPr>
              <a:r>
                <a:rPr lang="en-US" kern="0" dirty="0">
                  <a:solidFill>
                    <a:sysClr val="window" lastClr="FFFFFF"/>
                  </a:solidFill>
                </a:rPr>
                <a:t>Data </a:t>
              </a:r>
              <a:r>
                <a:rPr lang="en-US" kern="0" dirty="0" smtClean="0">
                  <a:solidFill>
                    <a:sysClr val="window" lastClr="FFFFFF"/>
                  </a:solidFill>
                </a:rPr>
                <a:t>Publication</a:t>
              </a:r>
              <a:endParaRPr lang="en-US" kern="0" dirty="0">
                <a:solidFill>
                  <a:sysClr val="window" lastClr="FFFFFF"/>
                </a:solidFill>
              </a:endParaRPr>
            </a:p>
          </p:txBody>
        </p:sp>
        <p:sp>
          <p:nvSpPr>
            <p:cNvPr id="34" name="Rectangle 33"/>
            <p:cNvSpPr/>
            <p:nvPr/>
          </p:nvSpPr>
          <p:spPr bwMode="auto">
            <a:xfrm>
              <a:off x="6537325" y="5153023"/>
              <a:ext cx="2073275" cy="914400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anchor="b"/>
            <a:lstStyle/>
            <a:p>
              <a:pPr algn="ctr">
                <a:defRPr/>
              </a:pPr>
              <a:r>
                <a:rPr lang="en-US" kern="0" dirty="0">
                  <a:solidFill>
                    <a:sysClr val="window" lastClr="FFFFFF"/>
                  </a:solidFill>
                </a:rPr>
                <a:t>Data </a:t>
              </a:r>
              <a:r>
                <a:rPr lang="en-US" kern="0" dirty="0" smtClean="0">
                  <a:solidFill>
                    <a:sysClr val="window" lastClr="FFFFFF"/>
                  </a:solidFill>
                </a:rPr>
                <a:t> Analysis and Synthesis</a:t>
              </a:r>
              <a:endParaRPr lang="en-US" kern="0" dirty="0">
                <a:solidFill>
                  <a:sysClr val="window" lastClr="FFFFFF"/>
                </a:solidFill>
              </a:endParaRPr>
            </a:p>
          </p:txBody>
        </p:sp>
        <p:cxnSp>
          <p:nvCxnSpPr>
            <p:cNvPr id="35" name="Straight Arrow Connector 63"/>
            <p:cNvCxnSpPr>
              <a:cxnSpLocks noChangeShapeType="1"/>
              <a:stCxn id="33" idx="0"/>
              <a:endCxn id="32" idx="2"/>
            </p:cNvCxnSpPr>
            <p:nvPr/>
          </p:nvCxnSpPr>
          <p:spPr bwMode="auto">
            <a:xfrm rot="5400000" flipH="1" flipV="1">
              <a:off x="2339579" y="2911872"/>
              <a:ext cx="1804985" cy="2690019"/>
            </a:xfrm>
            <a:prstGeom prst="straightConnector1">
              <a:avLst/>
            </a:prstGeom>
            <a:noFill/>
            <a:ln w="57150" algn="ctr">
              <a:solidFill>
                <a:srgbClr val="4A7EBB"/>
              </a:solidFill>
              <a:round/>
              <a:headEnd/>
              <a:tailEnd type="arrow" w="med" len="med"/>
            </a:ln>
          </p:spPr>
        </p:cxnSp>
        <p:cxnSp>
          <p:nvCxnSpPr>
            <p:cNvPr id="36" name="Straight Arrow Connector 64"/>
            <p:cNvCxnSpPr>
              <a:cxnSpLocks noChangeShapeType="1"/>
            </p:cNvCxnSpPr>
            <p:nvPr/>
          </p:nvCxnSpPr>
          <p:spPr bwMode="auto">
            <a:xfrm rot="16200000" flipH="1">
              <a:off x="5142701" y="2724116"/>
              <a:ext cx="1833450" cy="3025231"/>
            </a:xfrm>
            <a:prstGeom prst="straightConnector1">
              <a:avLst/>
            </a:prstGeom>
            <a:noFill/>
            <a:ln w="57150" algn="ctr">
              <a:solidFill>
                <a:srgbClr val="4A7EBB"/>
              </a:solidFill>
              <a:round/>
              <a:headEnd/>
              <a:tailEnd type="arrow" w="med" len="med"/>
            </a:ln>
          </p:spPr>
        </p:cxnSp>
        <p:cxnSp>
          <p:nvCxnSpPr>
            <p:cNvPr id="37" name="Straight Arrow Connector 65"/>
            <p:cNvCxnSpPr>
              <a:cxnSpLocks noChangeShapeType="1"/>
              <a:stCxn id="33" idx="3"/>
              <a:endCxn id="34" idx="1"/>
            </p:cNvCxnSpPr>
            <p:nvPr/>
          </p:nvCxnSpPr>
          <p:spPr bwMode="auto">
            <a:xfrm flipV="1">
              <a:off x="2935287" y="5610223"/>
              <a:ext cx="3602038" cy="6350"/>
            </a:xfrm>
            <a:prstGeom prst="straightConnector1">
              <a:avLst/>
            </a:prstGeom>
            <a:noFill/>
            <a:ln w="57150" algn="ctr">
              <a:solidFill>
                <a:srgbClr val="4A7EBB"/>
              </a:solidFill>
              <a:round/>
              <a:headEnd/>
              <a:tailEnd type="arrow" w="med" len="med"/>
            </a:ln>
          </p:spPr>
        </p:cxnSp>
        <p:sp>
          <p:nvSpPr>
            <p:cNvPr id="38" name="TextBox 13"/>
            <p:cNvSpPr txBox="1">
              <a:spLocks noChangeArrowheads="1"/>
            </p:cNvSpPr>
            <p:nvPr/>
          </p:nvSpPr>
          <p:spPr bwMode="auto">
            <a:xfrm>
              <a:off x="3644264" y="2469514"/>
              <a:ext cx="184816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b="1" kern="0" dirty="0" err="1" smtClean="0">
                  <a:solidFill>
                    <a:srgbClr val="FFFF00"/>
                  </a:solidFill>
                  <a:latin typeface="Arial" pitchFamily="34" charset="0"/>
                </a:rPr>
                <a:t>HydroCatalog</a:t>
              </a:r>
              <a:endParaRPr lang="en-US" b="1" kern="0" dirty="0">
                <a:solidFill>
                  <a:srgbClr val="FFFF00"/>
                </a:solidFill>
                <a:latin typeface="Arial" pitchFamily="34" charset="0"/>
              </a:endParaRPr>
            </a:p>
          </p:txBody>
        </p:sp>
        <p:sp>
          <p:nvSpPr>
            <p:cNvPr id="39" name="TextBox 14"/>
            <p:cNvSpPr txBox="1">
              <a:spLocks noChangeArrowheads="1"/>
            </p:cNvSpPr>
            <p:nvPr/>
          </p:nvSpPr>
          <p:spPr bwMode="auto">
            <a:xfrm>
              <a:off x="6553200" y="5141911"/>
              <a:ext cx="2028825" cy="363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 kern="0" dirty="0" err="1">
                  <a:solidFill>
                    <a:srgbClr val="FFFF00"/>
                  </a:solidFill>
                  <a:latin typeface="Arial" pitchFamily="34" charset="0"/>
                </a:rPr>
                <a:t>HydroDesktop</a:t>
              </a:r>
              <a:endParaRPr lang="en-US" b="1" kern="0" dirty="0">
                <a:solidFill>
                  <a:srgbClr val="FFFF00"/>
                </a:solidFill>
                <a:latin typeface="Arial" pitchFamily="34" charset="0"/>
              </a:endParaRPr>
            </a:p>
          </p:txBody>
        </p:sp>
        <p:sp>
          <p:nvSpPr>
            <p:cNvPr id="40" name="TextBox 15"/>
            <p:cNvSpPr txBox="1">
              <a:spLocks noChangeArrowheads="1"/>
            </p:cNvSpPr>
            <p:nvPr/>
          </p:nvSpPr>
          <p:spPr bwMode="auto">
            <a:xfrm>
              <a:off x="1025525" y="5141911"/>
              <a:ext cx="1706562" cy="369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 kern="0" dirty="0" err="1">
                  <a:solidFill>
                    <a:srgbClr val="FFFF00"/>
                  </a:solidFill>
                  <a:latin typeface="Arial" pitchFamily="34" charset="0"/>
                </a:rPr>
                <a:t>HydroServer</a:t>
              </a:r>
              <a:endParaRPr lang="en-US" b="1" kern="0" dirty="0">
                <a:solidFill>
                  <a:srgbClr val="FFFF00"/>
                </a:solidFill>
                <a:latin typeface="Arial" pitchFamily="34" charset="0"/>
              </a:endParaRPr>
            </a:p>
          </p:txBody>
        </p:sp>
        <p:sp>
          <p:nvSpPr>
            <p:cNvPr id="41" name="TextBox 15"/>
            <p:cNvSpPr txBox="1">
              <a:spLocks noChangeArrowheads="1"/>
            </p:cNvSpPr>
            <p:nvPr/>
          </p:nvSpPr>
          <p:spPr bwMode="auto">
            <a:xfrm>
              <a:off x="3465702" y="4969927"/>
              <a:ext cx="2173098" cy="11387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 dirty="0" smtClean="0">
                  <a:solidFill>
                    <a:srgbClr val="FF0000"/>
                  </a:solidFill>
                </a:rPr>
                <a:t>Bind</a:t>
              </a:r>
            </a:p>
            <a:p>
              <a:pPr algn="ctr"/>
              <a:r>
                <a:rPr lang="en-US" sz="2000" b="1" dirty="0" smtClean="0">
                  <a:solidFill>
                    <a:srgbClr val="000000"/>
                  </a:solidFill>
                </a:rPr>
                <a:t>Data Services</a:t>
              </a:r>
            </a:p>
            <a:p>
              <a:pPr algn="ctr"/>
              <a:r>
                <a:rPr lang="en-US" sz="1400" b="1" dirty="0" smtClean="0">
                  <a:solidFill>
                    <a:srgbClr val="000000"/>
                  </a:solidFill>
                </a:rPr>
                <a:t>Water Data Services</a:t>
              </a:r>
            </a:p>
            <a:p>
              <a:pPr algn="ctr"/>
              <a:r>
                <a:rPr lang="en-US" sz="1400" b="1" dirty="0" smtClean="0">
                  <a:solidFill>
                    <a:srgbClr val="000000"/>
                  </a:solidFill>
                </a:rPr>
                <a:t>Spatial Data Services</a:t>
              </a:r>
              <a:endParaRPr lang="en-US" sz="1400" b="1" dirty="0">
                <a:solidFill>
                  <a:srgbClr val="000000"/>
                </a:solidFill>
              </a:endParaRPr>
            </a:p>
          </p:txBody>
        </p:sp>
        <p:sp>
          <p:nvSpPr>
            <p:cNvPr id="42" name="TextBox 16"/>
            <p:cNvSpPr txBox="1">
              <a:spLocks noChangeArrowheads="1"/>
            </p:cNvSpPr>
            <p:nvPr/>
          </p:nvSpPr>
          <p:spPr bwMode="auto">
            <a:xfrm rot="19560000">
              <a:off x="1956179" y="3716530"/>
              <a:ext cx="2151102" cy="11387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000" b="1" dirty="0" smtClean="0">
                  <a:solidFill>
                    <a:srgbClr val="FF0000"/>
                  </a:solidFill>
                </a:rPr>
                <a:t>Publish</a:t>
              </a:r>
            </a:p>
            <a:p>
              <a:pPr algn="ctr"/>
              <a:r>
                <a:rPr lang="en-US" sz="2000" b="1" dirty="0" smtClean="0">
                  <a:solidFill>
                    <a:srgbClr val="000000"/>
                  </a:solidFill>
                </a:rPr>
                <a:t>Metadata Services</a:t>
              </a:r>
            </a:p>
            <a:p>
              <a:pPr algn="ctr"/>
              <a:r>
                <a:rPr lang="en-US" sz="1400" b="1" dirty="0" smtClean="0">
                  <a:solidFill>
                    <a:srgbClr val="000000"/>
                  </a:solidFill>
                </a:rPr>
                <a:t>Service Registration</a:t>
              </a:r>
            </a:p>
            <a:p>
              <a:pPr algn="ctr"/>
              <a:r>
                <a:rPr lang="en-US" sz="1400" b="1" dirty="0" smtClean="0">
                  <a:solidFill>
                    <a:srgbClr val="000000"/>
                  </a:solidFill>
                </a:rPr>
                <a:t>Catalog Harvesting</a:t>
              </a:r>
              <a:endParaRPr lang="en-US" sz="1400" b="1" dirty="0">
                <a:solidFill>
                  <a:srgbClr val="000000"/>
                </a:solidFill>
              </a:endParaRPr>
            </a:p>
          </p:txBody>
        </p:sp>
        <p:sp>
          <p:nvSpPr>
            <p:cNvPr id="43" name="TextBox 17"/>
            <p:cNvSpPr txBox="1">
              <a:spLocks noChangeArrowheads="1"/>
            </p:cNvSpPr>
            <p:nvPr/>
          </p:nvSpPr>
          <p:spPr bwMode="auto">
            <a:xfrm rot="1860000">
              <a:off x="4704179" y="3561579"/>
              <a:ext cx="2746136" cy="11387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000" b="1" dirty="0" smtClean="0">
                  <a:solidFill>
                    <a:srgbClr val="FF0000"/>
                  </a:solidFill>
                </a:rPr>
                <a:t>Find</a:t>
              </a:r>
            </a:p>
            <a:p>
              <a:pPr algn="ctr"/>
              <a:r>
                <a:rPr lang="en-US" sz="2000" b="1" dirty="0" smtClean="0">
                  <a:solidFill>
                    <a:srgbClr val="000000"/>
                  </a:solidFill>
                </a:rPr>
                <a:t>Metadata Search</a:t>
              </a:r>
            </a:p>
            <a:p>
              <a:pPr algn="ctr"/>
              <a:r>
                <a:rPr lang="en-US" sz="1400" b="1" dirty="0" smtClean="0">
                  <a:solidFill>
                    <a:srgbClr val="000000"/>
                  </a:solidFill>
                </a:rPr>
                <a:t>Service and Data Theme Metadata</a:t>
              </a:r>
            </a:p>
            <a:p>
              <a:pPr algn="ctr"/>
              <a:r>
                <a:rPr lang="en-US" sz="1400" b="1" dirty="0" smtClean="0">
                  <a:solidFill>
                    <a:srgbClr val="000000"/>
                  </a:solidFill>
                </a:rPr>
                <a:t>Data Carts</a:t>
              </a:r>
              <a:endParaRPr lang="en-US" sz="1400" b="1" dirty="0">
                <a:solidFill>
                  <a:srgbClr val="000000"/>
                </a:solidFill>
              </a:endParaRPr>
            </a:p>
          </p:txBody>
        </p:sp>
      </p:grpSp>
      <p:sp>
        <p:nvSpPr>
          <p:cNvPr id="44" name="Oval 43"/>
          <p:cNvSpPr/>
          <p:nvPr/>
        </p:nvSpPr>
        <p:spPr>
          <a:xfrm>
            <a:off x="2831287" y="1965758"/>
            <a:ext cx="3551509" cy="19399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725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822328" y="1143000"/>
            <a:ext cx="7528044" cy="4032295"/>
            <a:chOff x="0" y="1978399"/>
            <a:chExt cx="9100710" cy="4352837"/>
          </a:xfrm>
        </p:grpSpPr>
        <p:pic>
          <p:nvPicPr>
            <p:cNvPr id="6" name="Picture 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978399"/>
              <a:ext cx="8834511" cy="4352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Box 6"/>
            <p:cNvSpPr txBox="1">
              <a:spLocks noChangeArrowheads="1"/>
            </p:cNvSpPr>
            <p:nvPr/>
          </p:nvSpPr>
          <p:spPr bwMode="auto">
            <a:xfrm>
              <a:off x="6882444" y="4993714"/>
              <a:ext cx="2218266" cy="8970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500" b="1" kern="1200">
                  <a:solidFill>
                    <a:schemeClr val="tx1"/>
                  </a:solidFill>
                  <a:latin typeface="Arial" charset="0"/>
                  <a:ea typeface="ＭＳ Ｐゴシック" charset="-128"/>
                  <a:cs typeface="+mn-cs"/>
                </a:defRPr>
              </a:lvl1pPr>
              <a:lvl2pPr marL="455613" indent="1588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500" b="1" kern="1200">
                  <a:solidFill>
                    <a:schemeClr val="tx1"/>
                  </a:solidFill>
                  <a:latin typeface="Arial" charset="0"/>
                  <a:ea typeface="ＭＳ Ｐゴシック" charset="-128"/>
                  <a:cs typeface="+mn-cs"/>
                </a:defRPr>
              </a:lvl2pPr>
              <a:lvl3pPr marL="912813" indent="1588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500" b="1" kern="1200">
                  <a:solidFill>
                    <a:schemeClr val="tx1"/>
                  </a:solidFill>
                  <a:latin typeface="Arial" charset="0"/>
                  <a:ea typeface="ＭＳ Ｐゴシック" charset="-128"/>
                  <a:cs typeface="+mn-cs"/>
                </a:defRPr>
              </a:lvl3pPr>
              <a:lvl4pPr marL="1368425" indent="3175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500" b="1" kern="1200">
                  <a:solidFill>
                    <a:schemeClr val="tx1"/>
                  </a:solidFill>
                  <a:latin typeface="Arial" charset="0"/>
                  <a:ea typeface="ＭＳ Ｐゴシック" charset="-128"/>
                  <a:cs typeface="+mn-cs"/>
                </a:defRPr>
              </a:lvl4pPr>
              <a:lvl5pPr marL="1825625" indent="3175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500" b="1" kern="1200">
                  <a:solidFill>
                    <a:schemeClr val="tx1"/>
                  </a:solidFill>
                  <a:latin typeface="Arial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sz="3500" b="1" kern="1200">
                  <a:solidFill>
                    <a:schemeClr val="tx1"/>
                  </a:solidFill>
                  <a:latin typeface="Arial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sz="3500" b="1" kern="1200">
                  <a:solidFill>
                    <a:schemeClr val="tx1"/>
                  </a:solidFill>
                  <a:latin typeface="Arial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sz="3500" b="1" kern="1200">
                  <a:solidFill>
                    <a:schemeClr val="tx1"/>
                  </a:solidFill>
                  <a:latin typeface="Arial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sz="3500" b="1" kern="1200">
                  <a:solidFill>
                    <a:schemeClr val="tx1"/>
                  </a:solidFill>
                  <a:latin typeface="Arial" charset="0"/>
                  <a:ea typeface="ＭＳ Ｐゴシック" charset="-128"/>
                  <a:cs typeface="+mn-cs"/>
                </a:defRPr>
              </a:lvl9pPr>
            </a:lstStyle>
            <a:p>
              <a:pPr defTabSz="914144" eaLnBrk="1" hangingPunct="1">
                <a:defRPr/>
              </a:pPr>
              <a:r>
                <a:rPr lang="en-US" sz="1600" b="0" dirty="0">
                  <a:solidFill>
                    <a:srgbClr val="7030A0"/>
                  </a:solidFill>
                  <a:latin typeface="Arial" pitchFamily="34" charset="0"/>
                </a:rPr>
                <a:t>Map integrating NWIS, STORET, &amp; Climatic Sites  </a:t>
              </a:r>
            </a:p>
          </p:txBody>
        </p:sp>
      </p:grpSp>
      <p:sp>
        <p:nvSpPr>
          <p:cNvPr id="5" name="TextBox 7"/>
          <p:cNvSpPr txBox="1">
            <a:spLocks noChangeArrowheads="1"/>
          </p:cNvSpPr>
          <p:nvPr/>
        </p:nvSpPr>
        <p:spPr bwMode="auto">
          <a:xfrm>
            <a:off x="448577" y="4191000"/>
            <a:ext cx="6211018" cy="1946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241" tIns="49621" rIns="99241" bIns="49621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500" b="1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5613" indent="1588" algn="l" rtl="0" eaLnBrk="0" fontAlgn="base" hangingPunct="0">
              <a:spcBef>
                <a:spcPct val="0"/>
              </a:spcBef>
              <a:spcAft>
                <a:spcPct val="0"/>
              </a:spcAft>
              <a:defRPr sz="3500" b="1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912813" indent="1588" algn="l" rtl="0" eaLnBrk="0" fontAlgn="base" hangingPunct="0">
              <a:spcBef>
                <a:spcPct val="0"/>
              </a:spcBef>
              <a:spcAft>
                <a:spcPct val="0"/>
              </a:spcAft>
              <a:defRPr sz="3500" b="1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1368425" indent="3175" algn="l" rtl="0" eaLnBrk="0" fontAlgn="base" hangingPunct="0">
              <a:spcBef>
                <a:spcPct val="0"/>
              </a:spcBef>
              <a:spcAft>
                <a:spcPct val="0"/>
              </a:spcAft>
              <a:defRPr sz="3500" b="1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1825625" indent="3175" algn="l" rtl="0" eaLnBrk="0" fontAlgn="base" hangingPunct="0">
              <a:spcBef>
                <a:spcPct val="0"/>
              </a:spcBef>
              <a:spcAft>
                <a:spcPct val="0"/>
              </a:spcAft>
              <a:defRPr sz="3500" b="1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3500" b="1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3500" b="1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3500" b="1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3500" b="1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9pPr>
          </a:lstStyle>
          <a:p>
            <a:pPr defTabSz="914144" eaLnBrk="1" hangingPunct="1">
              <a:defRPr/>
            </a:pPr>
            <a:r>
              <a:rPr lang="en-US" sz="2400" dirty="0" smtClean="0">
                <a:solidFill>
                  <a:prstClr val="black"/>
                </a:solidFill>
                <a:latin typeface="+mn-lt"/>
              </a:rPr>
              <a:t>65 </a:t>
            </a:r>
            <a:r>
              <a:rPr lang="en-US" sz="2400" dirty="0">
                <a:solidFill>
                  <a:prstClr val="black"/>
                </a:solidFill>
                <a:latin typeface="+mn-lt"/>
              </a:rPr>
              <a:t>public</a:t>
            </a:r>
            <a:r>
              <a:rPr lang="en-US" sz="2400" dirty="0" smtClean="0">
                <a:solidFill>
                  <a:prstClr val="black"/>
                </a:solidFill>
                <a:latin typeface="+mn-lt"/>
              </a:rPr>
              <a:t> web services</a:t>
            </a:r>
            <a:endParaRPr lang="en-US" sz="2400" dirty="0">
              <a:solidFill>
                <a:prstClr val="black"/>
              </a:solidFill>
              <a:latin typeface="+mn-lt"/>
            </a:endParaRPr>
          </a:p>
          <a:p>
            <a:pPr defTabSz="914144" eaLnBrk="1" hangingPunct="1">
              <a:defRPr/>
            </a:pPr>
            <a:r>
              <a:rPr lang="en-US" sz="2400" dirty="0">
                <a:solidFill>
                  <a:prstClr val="black"/>
                </a:solidFill>
                <a:latin typeface="+mn-lt"/>
              </a:rPr>
              <a:t>18,000+ variables</a:t>
            </a:r>
          </a:p>
          <a:p>
            <a:pPr defTabSz="914144" eaLnBrk="1" hangingPunct="1">
              <a:defRPr/>
            </a:pPr>
            <a:r>
              <a:rPr lang="en-US" sz="2400" dirty="0" smtClean="0">
                <a:solidFill>
                  <a:prstClr val="black"/>
                </a:solidFill>
                <a:latin typeface="+mn-lt"/>
              </a:rPr>
              <a:t>1.96+ </a:t>
            </a:r>
            <a:r>
              <a:rPr lang="en-US" sz="2400" dirty="0">
                <a:solidFill>
                  <a:prstClr val="black"/>
                </a:solidFill>
                <a:latin typeface="+mn-lt"/>
              </a:rPr>
              <a:t>million sites</a:t>
            </a:r>
          </a:p>
          <a:p>
            <a:pPr defTabSz="914144" eaLnBrk="1" hangingPunct="1">
              <a:defRPr/>
            </a:pPr>
            <a:r>
              <a:rPr lang="en-US" sz="2400" dirty="0">
                <a:solidFill>
                  <a:prstClr val="black"/>
                </a:solidFill>
                <a:latin typeface="+mn-lt"/>
              </a:rPr>
              <a:t>23.3 million </a:t>
            </a:r>
            <a:r>
              <a:rPr lang="en-US" sz="2400" dirty="0" smtClean="0">
                <a:solidFill>
                  <a:prstClr val="black"/>
                </a:solidFill>
                <a:latin typeface="+mn-lt"/>
              </a:rPr>
              <a:t>observation time series</a:t>
            </a:r>
            <a:endParaRPr lang="en-US" sz="2400" dirty="0">
              <a:solidFill>
                <a:prstClr val="black"/>
              </a:solidFill>
              <a:latin typeface="+mn-lt"/>
            </a:endParaRPr>
          </a:p>
          <a:p>
            <a:pPr defTabSz="914144" eaLnBrk="1" hangingPunct="1">
              <a:defRPr/>
            </a:pPr>
            <a:r>
              <a:rPr lang="en-US" sz="2400" dirty="0">
                <a:solidFill>
                  <a:prstClr val="black"/>
                </a:solidFill>
                <a:latin typeface="+mn-lt"/>
              </a:rPr>
              <a:t>Referencing </a:t>
            </a:r>
            <a:r>
              <a:rPr lang="en-US" sz="2400" dirty="0" smtClean="0">
                <a:solidFill>
                  <a:prstClr val="black"/>
                </a:solidFill>
                <a:latin typeface="+mn-lt"/>
              </a:rPr>
              <a:t>5.2 </a:t>
            </a:r>
            <a:r>
              <a:rPr lang="en-US" sz="2400" dirty="0">
                <a:solidFill>
                  <a:prstClr val="black"/>
                </a:solidFill>
                <a:latin typeface="+mn-lt"/>
              </a:rPr>
              <a:t>billion data values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HIS Central HydroCatalog Content (November 2010)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505200" y="4724400"/>
            <a:ext cx="2507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44"/>
            <a:r>
              <a:rPr lang="en-US" i="1" dirty="0" smtClean="0">
                <a:solidFill>
                  <a:prstClr val="black"/>
                </a:solidFill>
              </a:rPr>
              <a:t>Available via HIS Central</a:t>
            </a:r>
            <a:br>
              <a:rPr lang="en-US" i="1" dirty="0" smtClean="0">
                <a:solidFill>
                  <a:prstClr val="black"/>
                </a:solidFill>
              </a:rPr>
            </a:br>
            <a:r>
              <a:rPr lang="en-US" i="1" dirty="0" smtClean="0">
                <a:solidFill>
                  <a:prstClr val="black"/>
                </a:solidFill>
              </a:rPr>
              <a:t>discovery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05400" y="5757446"/>
            <a:ext cx="31805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44"/>
            <a:r>
              <a:rPr lang="en-US" sz="1600" i="1" dirty="0" smtClean="0">
                <a:solidFill>
                  <a:prstClr val="black"/>
                </a:solidFill>
              </a:rPr>
              <a:t>Available via </a:t>
            </a:r>
            <a:r>
              <a:rPr lang="en-US" sz="1600" i="1" dirty="0" err="1" smtClean="0">
                <a:solidFill>
                  <a:prstClr val="black"/>
                </a:solidFill>
              </a:rPr>
              <a:t>GetValues</a:t>
            </a:r>
            <a:r>
              <a:rPr lang="en-US" sz="1600" i="1" dirty="0" smtClean="0">
                <a:solidFill>
                  <a:prstClr val="black"/>
                </a:solidFill>
              </a:rPr>
              <a:t> requests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2400" y="6324600"/>
            <a:ext cx="4783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Metadata for most services are harvested weekly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863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9200"/>
          </a:xfrm>
        </p:spPr>
        <p:txBody>
          <a:bodyPr/>
          <a:lstStyle/>
          <a:p>
            <a:r>
              <a:rPr lang="en-US" dirty="0" smtClean="0"/>
              <a:t>HydroCatalog Search 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3581400" cy="452596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A web service application programmers interface to the metadata catalog</a:t>
            </a:r>
          </a:p>
          <a:p>
            <a:r>
              <a:rPr lang="en-US" dirty="0" smtClean="0"/>
              <a:t>Semantic annotations and a domain ontology aid in discovery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371600"/>
            <a:ext cx="4938643" cy="5324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5594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</p:spPr>
        <p:txBody>
          <a:bodyPr/>
          <a:lstStyle/>
          <a:p>
            <a:r>
              <a:rPr lang="en-US" dirty="0" smtClean="0"/>
              <a:t>HydroDesktop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r>
              <a:rPr lang="en-US" dirty="0" smtClean="0"/>
              <a:t>Discover, download, visualize, and analyze hydrologic data</a:t>
            </a:r>
            <a:endParaRPr lang="en-US" dirty="0"/>
          </a:p>
        </p:txBody>
      </p:sp>
      <p:grpSp>
        <p:nvGrpSpPr>
          <p:cNvPr id="29" name="Group 28"/>
          <p:cNvGrpSpPr/>
          <p:nvPr/>
        </p:nvGrpSpPr>
        <p:grpSpPr>
          <a:xfrm>
            <a:off x="858837" y="2438400"/>
            <a:ext cx="7751763" cy="3670300"/>
            <a:chOff x="858837" y="2438400"/>
            <a:chExt cx="7751763" cy="3670300"/>
          </a:xfrm>
        </p:grpSpPr>
        <p:sp>
          <p:nvSpPr>
            <p:cNvPr id="31" name="Rectangle 30"/>
            <p:cNvSpPr/>
            <p:nvPr/>
          </p:nvSpPr>
          <p:spPr bwMode="auto">
            <a:xfrm>
              <a:off x="3438525" y="2438400"/>
              <a:ext cx="2297112" cy="915988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anchor="b"/>
            <a:lstStyle/>
            <a:p>
              <a:pPr algn="ctr">
                <a:defRPr/>
              </a:pPr>
              <a:r>
                <a:rPr lang="en-US" kern="0" dirty="0">
                  <a:solidFill>
                    <a:sysClr val="window" lastClr="FFFFFF"/>
                  </a:solidFill>
                </a:rPr>
                <a:t>Data Discovery and </a:t>
              </a:r>
              <a:r>
                <a:rPr lang="en-US" kern="0" dirty="0" smtClean="0">
                  <a:solidFill>
                    <a:sysClr val="window" lastClr="FFFFFF"/>
                  </a:solidFill>
                </a:rPr>
                <a:t>Integration</a:t>
              </a:r>
              <a:endParaRPr lang="en-US" kern="0" dirty="0">
                <a:solidFill>
                  <a:sysClr val="window" lastClr="FFFFFF"/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 bwMode="auto">
            <a:xfrm>
              <a:off x="858837" y="5159373"/>
              <a:ext cx="2076450" cy="914400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tIns="274320" anchor="ctr" anchorCtr="0"/>
            <a:lstStyle/>
            <a:p>
              <a:pPr algn="ctr">
                <a:defRPr/>
              </a:pPr>
              <a:r>
                <a:rPr lang="en-US" kern="0" dirty="0">
                  <a:solidFill>
                    <a:sysClr val="window" lastClr="FFFFFF"/>
                  </a:solidFill>
                </a:rPr>
                <a:t>Data </a:t>
              </a:r>
              <a:r>
                <a:rPr lang="en-US" kern="0" dirty="0" smtClean="0">
                  <a:solidFill>
                    <a:sysClr val="window" lastClr="FFFFFF"/>
                  </a:solidFill>
                </a:rPr>
                <a:t>Publication</a:t>
              </a:r>
              <a:endParaRPr lang="en-US" kern="0" dirty="0">
                <a:solidFill>
                  <a:sysClr val="window" lastClr="FFFFFF"/>
                </a:solidFill>
              </a:endParaRPr>
            </a:p>
          </p:txBody>
        </p:sp>
        <p:sp>
          <p:nvSpPr>
            <p:cNvPr id="33" name="Rectangle 32"/>
            <p:cNvSpPr/>
            <p:nvPr/>
          </p:nvSpPr>
          <p:spPr bwMode="auto">
            <a:xfrm>
              <a:off x="6537325" y="5153023"/>
              <a:ext cx="2073275" cy="914400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anchor="b"/>
            <a:lstStyle/>
            <a:p>
              <a:pPr algn="ctr">
                <a:defRPr/>
              </a:pPr>
              <a:r>
                <a:rPr lang="en-US" kern="0" dirty="0">
                  <a:solidFill>
                    <a:sysClr val="window" lastClr="FFFFFF"/>
                  </a:solidFill>
                </a:rPr>
                <a:t>Data </a:t>
              </a:r>
              <a:r>
                <a:rPr lang="en-US" kern="0" dirty="0" smtClean="0">
                  <a:solidFill>
                    <a:sysClr val="window" lastClr="FFFFFF"/>
                  </a:solidFill>
                </a:rPr>
                <a:t> Analysis and Synthesis</a:t>
              </a:r>
              <a:endParaRPr lang="en-US" kern="0" dirty="0">
                <a:solidFill>
                  <a:sysClr val="window" lastClr="FFFFFF"/>
                </a:solidFill>
              </a:endParaRPr>
            </a:p>
          </p:txBody>
        </p:sp>
        <p:cxnSp>
          <p:nvCxnSpPr>
            <p:cNvPr id="34" name="Straight Arrow Connector 63"/>
            <p:cNvCxnSpPr>
              <a:cxnSpLocks noChangeShapeType="1"/>
              <a:stCxn id="32" idx="0"/>
              <a:endCxn id="31" idx="2"/>
            </p:cNvCxnSpPr>
            <p:nvPr/>
          </p:nvCxnSpPr>
          <p:spPr bwMode="auto">
            <a:xfrm rot="5400000" flipH="1" flipV="1">
              <a:off x="2339579" y="2911872"/>
              <a:ext cx="1804985" cy="2690019"/>
            </a:xfrm>
            <a:prstGeom prst="straightConnector1">
              <a:avLst/>
            </a:prstGeom>
            <a:noFill/>
            <a:ln w="57150" algn="ctr">
              <a:solidFill>
                <a:srgbClr val="4A7EBB"/>
              </a:solidFill>
              <a:round/>
              <a:headEnd/>
              <a:tailEnd type="arrow" w="med" len="med"/>
            </a:ln>
          </p:spPr>
        </p:cxnSp>
        <p:cxnSp>
          <p:nvCxnSpPr>
            <p:cNvPr id="35" name="Straight Arrow Connector 64"/>
            <p:cNvCxnSpPr>
              <a:cxnSpLocks noChangeShapeType="1"/>
            </p:cNvCxnSpPr>
            <p:nvPr/>
          </p:nvCxnSpPr>
          <p:spPr bwMode="auto">
            <a:xfrm rot="16200000" flipH="1">
              <a:off x="5142701" y="2724116"/>
              <a:ext cx="1833450" cy="3025231"/>
            </a:xfrm>
            <a:prstGeom prst="straightConnector1">
              <a:avLst/>
            </a:prstGeom>
            <a:noFill/>
            <a:ln w="57150" algn="ctr">
              <a:solidFill>
                <a:srgbClr val="4A7EBB"/>
              </a:solidFill>
              <a:round/>
              <a:headEnd/>
              <a:tailEnd type="arrow" w="med" len="med"/>
            </a:ln>
          </p:spPr>
        </p:cxnSp>
        <p:cxnSp>
          <p:nvCxnSpPr>
            <p:cNvPr id="36" name="Straight Arrow Connector 65"/>
            <p:cNvCxnSpPr>
              <a:cxnSpLocks noChangeShapeType="1"/>
              <a:stCxn id="32" idx="3"/>
              <a:endCxn id="33" idx="1"/>
            </p:cNvCxnSpPr>
            <p:nvPr/>
          </p:nvCxnSpPr>
          <p:spPr bwMode="auto">
            <a:xfrm flipV="1">
              <a:off x="2935287" y="5610223"/>
              <a:ext cx="3602038" cy="6350"/>
            </a:xfrm>
            <a:prstGeom prst="straightConnector1">
              <a:avLst/>
            </a:prstGeom>
            <a:noFill/>
            <a:ln w="57150" algn="ctr">
              <a:solidFill>
                <a:srgbClr val="4A7EBB"/>
              </a:solidFill>
              <a:round/>
              <a:headEnd/>
              <a:tailEnd type="arrow" w="med" len="med"/>
            </a:ln>
          </p:spPr>
        </p:cxnSp>
        <p:sp>
          <p:nvSpPr>
            <p:cNvPr id="37" name="TextBox 13"/>
            <p:cNvSpPr txBox="1">
              <a:spLocks noChangeArrowheads="1"/>
            </p:cNvSpPr>
            <p:nvPr/>
          </p:nvSpPr>
          <p:spPr bwMode="auto">
            <a:xfrm>
              <a:off x="3644264" y="2469514"/>
              <a:ext cx="184816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b="1" kern="0" dirty="0" err="1" smtClean="0">
                  <a:solidFill>
                    <a:srgbClr val="FFFF00"/>
                  </a:solidFill>
                  <a:latin typeface="Arial" pitchFamily="34" charset="0"/>
                </a:rPr>
                <a:t>HydroCatalog</a:t>
              </a:r>
              <a:endParaRPr lang="en-US" b="1" kern="0" dirty="0">
                <a:solidFill>
                  <a:srgbClr val="FFFF00"/>
                </a:solidFill>
                <a:latin typeface="Arial" pitchFamily="34" charset="0"/>
              </a:endParaRPr>
            </a:p>
          </p:txBody>
        </p:sp>
        <p:sp>
          <p:nvSpPr>
            <p:cNvPr id="38" name="TextBox 14"/>
            <p:cNvSpPr txBox="1">
              <a:spLocks noChangeArrowheads="1"/>
            </p:cNvSpPr>
            <p:nvPr/>
          </p:nvSpPr>
          <p:spPr bwMode="auto">
            <a:xfrm>
              <a:off x="6553200" y="5141911"/>
              <a:ext cx="2028825" cy="363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 kern="0" dirty="0" err="1">
                  <a:solidFill>
                    <a:srgbClr val="FFFF00"/>
                  </a:solidFill>
                  <a:latin typeface="Arial" pitchFamily="34" charset="0"/>
                </a:rPr>
                <a:t>HydroDesktop</a:t>
              </a:r>
              <a:endParaRPr lang="en-US" b="1" kern="0" dirty="0">
                <a:solidFill>
                  <a:srgbClr val="FFFF00"/>
                </a:solidFill>
                <a:latin typeface="Arial" pitchFamily="34" charset="0"/>
              </a:endParaRPr>
            </a:p>
          </p:txBody>
        </p:sp>
        <p:sp>
          <p:nvSpPr>
            <p:cNvPr id="39" name="TextBox 15"/>
            <p:cNvSpPr txBox="1">
              <a:spLocks noChangeArrowheads="1"/>
            </p:cNvSpPr>
            <p:nvPr/>
          </p:nvSpPr>
          <p:spPr bwMode="auto">
            <a:xfrm>
              <a:off x="1025525" y="5141911"/>
              <a:ext cx="1706562" cy="369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 kern="0" dirty="0" err="1">
                  <a:solidFill>
                    <a:srgbClr val="FFFF00"/>
                  </a:solidFill>
                  <a:latin typeface="Arial" pitchFamily="34" charset="0"/>
                </a:rPr>
                <a:t>HydroServer</a:t>
              </a:r>
              <a:endParaRPr lang="en-US" b="1" kern="0" dirty="0">
                <a:solidFill>
                  <a:srgbClr val="FFFF00"/>
                </a:solidFill>
                <a:latin typeface="Arial" pitchFamily="34" charset="0"/>
              </a:endParaRPr>
            </a:p>
          </p:txBody>
        </p:sp>
        <p:sp>
          <p:nvSpPr>
            <p:cNvPr id="40" name="TextBox 15"/>
            <p:cNvSpPr txBox="1">
              <a:spLocks noChangeArrowheads="1"/>
            </p:cNvSpPr>
            <p:nvPr/>
          </p:nvSpPr>
          <p:spPr bwMode="auto">
            <a:xfrm>
              <a:off x="3465702" y="4969927"/>
              <a:ext cx="2173098" cy="11387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 dirty="0" smtClean="0">
                  <a:solidFill>
                    <a:srgbClr val="FF0000"/>
                  </a:solidFill>
                </a:rPr>
                <a:t>Bind</a:t>
              </a:r>
            </a:p>
            <a:p>
              <a:pPr algn="ctr"/>
              <a:r>
                <a:rPr lang="en-US" sz="2000" b="1" dirty="0" smtClean="0">
                  <a:solidFill>
                    <a:srgbClr val="000000"/>
                  </a:solidFill>
                </a:rPr>
                <a:t>Data Services</a:t>
              </a:r>
            </a:p>
            <a:p>
              <a:pPr algn="ctr"/>
              <a:r>
                <a:rPr lang="en-US" sz="1400" b="1" dirty="0" smtClean="0">
                  <a:solidFill>
                    <a:srgbClr val="000000"/>
                  </a:solidFill>
                </a:rPr>
                <a:t>Water Data Services</a:t>
              </a:r>
            </a:p>
            <a:p>
              <a:pPr algn="ctr"/>
              <a:r>
                <a:rPr lang="en-US" sz="1400" b="1" dirty="0" smtClean="0">
                  <a:solidFill>
                    <a:srgbClr val="000000"/>
                  </a:solidFill>
                </a:rPr>
                <a:t>Spatial Data Services</a:t>
              </a:r>
              <a:endParaRPr lang="en-US" sz="1400" b="1" dirty="0">
                <a:solidFill>
                  <a:srgbClr val="000000"/>
                </a:solidFill>
              </a:endParaRPr>
            </a:p>
          </p:txBody>
        </p:sp>
        <p:sp>
          <p:nvSpPr>
            <p:cNvPr id="41" name="TextBox 16"/>
            <p:cNvSpPr txBox="1">
              <a:spLocks noChangeArrowheads="1"/>
            </p:cNvSpPr>
            <p:nvPr/>
          </p:nvSpPr>
          <p:spPr bwMode="auto">
            <a:xfrm rot="19560000">
              <a:off x="1956179" y="3716530"/>
              <a:ext cx="2151102" cy="11387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000" b="1" dirty="0" smtClean="0">
                  <a:solidFill>
                    <a:srgbClr val="FF0000"/>
                  </a:solidFill>
                </a:rPr>
                <a:t>Publish</a:t>
              </a:r>
            </a:p>
            <a:p>
              <a:pPr algn="ctr"/>
              <a:r>
                <a:rPr lang="en-US" sz="2000" b="1" dirty="0" smtClean="0">
                  <a:solidFill>
                    <a:srgbClr val="000000"/>
                  </a:solidFill>
                </a:rPr>
                <a:t>Metadata Services</a:t>
              </a:r>
            </a:p>
            <a:p>
              <a:pPr algn="ctr"/>
              <a:r>
                <a:rPr lang="en-US" sz="1400" b="1" dirty="0" smtClean="0">
                  <a:solidFill>
                    <a:srgbClr val="000000"/>
                  </a:solidFill>
                </a:rPr>
                <a:t>Service Registration</a:t>
              </a:r>
            </a:p>
            <a:p>
              <a:pPr algn="ctr"/>
              <a:r>
                <a:rPr lang="en-US" sz="1400" b="1" dirty="0" smtClean="0">
                  <a:solidFill>
                    <a:srgbClr val="000000"/>
                  </a:solidFill>
                </a:rPr>
                <a:t>Catalog Harvesting</a:t>
              </a:r>
              <a:endParaRPr lang="en-US" sz="1400" b="1" dirty="0">
                <a:solidFill>
                  <a:srgbClr val="000000"/>
                </a:solidFill>
              </a:endParaRPr>
            </a:p>
          </p:txBody>
        </p:sp>
        <p:sp>
          <p:nvSpPr>
            <p:cNvPr id="42" name="TextBox 17"/>
            <p:cNvSpPr txBox="1">
              <a:spLocks noChangeArrowheads="1"/>
            </p:cNvSpPr>
            <p:nvPr/>
          </p:nvSpPr>
          <p:spPr bwMode="auto">
            <a:xfrm rot="1860000">
              <a:off x="4704179" y="3561579"/>
              <a:ext cx="2746136" cy="11387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000" b="1" dirty="0" smtClean="0">
                  <a:solidFill>
                    <a:srgbClr val="FF0000"/>
                  </a:solidFill>
                </a:rPr>
                <a:t>Find</a:t>
              </a:r>
            </a:p>
            <a:p>
              <a:pPr algn="ctr"/>
              <a:r>
                <a:rPr lang="en-US" sz="2000" b="1" dirty="0" smtClean="0">
                  <a:solidFill>
                    <a:srgbClr val="000000"/>
                  </a:solidFill>
                </a:rPr>
                <a:t>Metadata Search</a:t>
              </a:r>
            </a:p>
            <a:p>
              <a:pPr algn="ctr"/>
              <a:r>
                <a:rPr lang="en-US" sz="1400" b="1" dirty="0" smtClean="0">
                  <a:solidFill>
                    <a:srgbClr val="000000"/>
                  </a:solidFill>
                </a:rPr>
                <a:t>Service and Data Theme Metadata</a:t>
              </a:r>
            </a:p>
            <a:p>
              <a:pPr algn="ctr"/>
              <a:r>
                <a:rPr lang="en-US" sz="1400" b="1" dirty="0" smtClean="0">
                  <a:solidFill>
                    <a:srgbClr val="000000"/>
                  </a:solidFill>
                </a:rPr>
                <a:t>Data Carts</a:t>
              </a:r>
              <a:endParaRPr lang="en-US" sz="1400" b="1" dirty="0">
                <a:solidFill>
                  <a:srgbClr val="000000"/>
                </a:solidFill>
              </a:endParaRPr>
            </a:p>
          </p:txBody>
        </p:sp>
      </p:grpSp>
      <p:sp>
        <p:nvSpPr>
          <p:cNvPr id="43" name="Oval 42"/>
          <p:cNvSpPr/>
          <p:nvPr/>
        </p:nvSpPr>
        <p:spPr>
          <a:xfrm>
            <a:off x="5492431" y="4603743"/>
            <a:ext cx="3551509" cy="19399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324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55403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4000" dirty="0" err="1" smtClean="0"/>
              <a:t>HydroDesktop</a:t>
            </a:r>
            <a:r>
              <a:rPr lang="cs-CZ" sz="4000" dirty="0" smtClean="0"/>
              <a:t> </a:t>
            </a:r>
            <a:r>
              <a:rPr lang="en-US" sz="4000" dirty="0" smtClean="0"/>
              <a:t>Capabilities</a:t>
            </a:r>
          </a:p>
        </p:txBody>
      </p:sp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092825"/>
            <a:ext cx="2133600" cy="476250"/>
          </a:xfrm>
          <a:noFill/>
        </p:spPr>
        <p:txBody>
          <a:bodyPr/>
          <a:lstStyle/>
          <a:p>
            <a:fld id="{0AB2E636-8A17-4B04-AAAC-807E81AE8C59}" type="slidenum">
              <a:rPr lang="en-US" smtClean="0">
                <a:latin typeface="Arial" pitchFamily="34" charset="0"/>
              </a:rPr>
              <a:pPr/>
              <a:t>13</a:t>
            </a:fld>
            <a:endParaRPr lang="en-US" smtClean="0">
              <a:latin typeface="Arial" pitchFamily="34" charset="0"/>
            </a:endParaRPr>
          </a:p>
        </p:txBody>
      </p:sp>
      <p:pic>
        <p:nvPicPr>
          <p:cNvPr id="31747" name="Picture 17" descr="hydrodesktop_main_map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2463" y="1323975"/>
            <a:ext cx="7805737" cy="522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228600" y="1295400"/>
            <a:ext cx="2913063" cy="2263775"/>
            <a:chOff x="2819400" y="1066800"/>
            <a:chExt cx="3277196" cy="1676400"/>
          </a:xfrm>
          <a:solidFill>
            <a:schemeClr val="bg1"/>
          </a:solidFill>
        </p:grpSpPr>
        <p:sp>
          <p:nvSpPr>
            <p:cNvPr id="8" name="Rectangle 7"/>
            <p:cNvSpPr/>
            <p:nvPr/>
          </p:nvSpPr>
          <p:spPr>
            <a:xfrm>
              <a:off x="2819400" y="1066800"/>
              <a:ext cx="3277196" cy="1676400"/>
            </a:xfrm>
            <a:prstGeom prst="rect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757" name="TextBox 2"/>
            <p:cNvSpPr txBox="1">
              <a:spLocks noChangeArrowheads="1"/>
            </p:cNvSpPr>
            <p:nvPr/>
          </p:nvSpPr>
          <p:spPr bwMode="auto">
            <a:xfrm>
              <a:off x="2875666" y="1447616"/>
              <a:ext cx="3171825" cy="1196516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114300" indent="-114300">
                <a:buFont typeface="Arial" pitchFamily="34" charset="0"/>
                <a:buChar char="•"/>
              </a:pPr>
              <a:r>
                <a:rPr lang="en-US" sz="2000" dirty="0">
                  <a:latin typeface="Calibri" pitchFamily="34" charset="0"/>
                </a:rPr>
                <a:t>Add </a:t>
              </a:r>
              <a:r>
                <a:rPr lang="en-US" sz="2000" dirty="0" err="1">
                  <a:latin typeface="Calibri" pitchFamily="34" charset="0"/>
                </a:rPr>
                <a:t>shapefiles</a:t>
              </a:r>
              <a:r>
                <a:rPr lang="en-US" sz="2000" dirty="0">
                  <a:latin typeface="Calibri" pitchFamily="34" charset="0"/>
                </a:rPr>
                <a:t> to map</a:t>
              </a:r>
            </a:p>
            <a:p>
              <a:pPr marL="114300" indent="-114300">
                <a:buFont typeface="Arial" pitchFamily="34" charset="0"/>
                <a:buChar char="•"/>
              </a:pPr>
              <a:r>
                <a:rPr lang="en-US" sz="2000" dirty="0">
                  <a:latin typeface="Calibri" pitchFamily="34" charset="0"/>
                </a:rPr>
                <a:t>Change </a:t>
              </a:r>
              <a:r>
                <a:rPr lang="en-US" sz="2000" dirty="0" err="1">
                  <a:latin typeface="Calibri" pitchFamily="34" charset="0"/>
                </a:rPr>
                <a:t>symbology</a:t>
              </a:r>
              <a:r>
                <a:rPr lang="en-US" sz="2000" dirty="0">
                  <a:latin typeface="Calibri" pitchFamily="34" charset="0"/>
                </a:rPr>
                <a:t> and labels</a:t>
              </a:r>
            </a:p>
            <a:p>
              <a:pPr marL="114300" indent="-114300">
                <a:buFont typeface="Arial" pitchFamily="34" charset="0"/>
                <a:buChar char="•"/>
              </a:pPr>
              <a:r>
                <a:rPr lang="en-US" sz="2000" dirty="0">
                  <a:latin typeface="Calibri" pitchFamily="34" charset="0"/>
                </a:rPr>
                <a:t>Print and export map</a:t>
              </a:r>
            </a:p>
            <a:p>
              <a:pPr marL="114300" indent="-114300">
                <a:buFont typeface="Arial" pitchFamily="34" charset="0"/>
                <a:buChar char="•"/>
              </a:pPr>
              <a:r>
                <a:rPr lang="en-US" sz="2000" dirty="0">
                  <a:latin typeface="Calibri" pitchFamily="34" charset="0"/>
                </a:rPr>
                <a:t>GIS toolbox</a:t>
              </a:r>
            </a:p>
          </p:txBody>
        </p:sp>
        <p:sp>
          <p:nvSpPr>
            <p:cNvPr id="31758" name="TextBox 5"/>
            <p:cNvSpPr txBox="1">
              <a:spLocks noChangeArrowheads="1"/>
            </p:cNvSpPr>
            <p:nvPr/>
          </p:nvSpPr>
          <p:spPr bwMode="auto">
            <a:xfrm>
              <a:off x="3343275" y="1142023"/>
              <a:ext cx="2133600" cy="27150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b="1" dirty="0">
                  <a:latin typeface="Calibri" pitchFamily="34" charset="0"/>
                </a:rPr>
                <a:t>GIS</a:t>
              </a:r>
              <a:r>
                <a:rPr lang="en-US" dirty="0">
                  <a:latin typeface="Calibri" pitchFamily="34" charset="0"/>
                </a:rPr>
                <a:t> </a:t>
              </a: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228600" y="4379913"/>
            <a:ext cx="2743200" cy="2173287"/>
            <a:chOff x="6477000" y="1066800"/>
            <a:chExt cx="2362200" cy="1676400"/>
          </a:xfrm>
        </p:grpSpPr>
        <p:sp>
          <p:nvSpPr>
            <p:cNvPr id="10" name="Rectangle 9"/>
            <p:cNvSpPr/>
            <p:nvPr/>
          </p:nvSpPr>
          <p:spPr>
            <a:xfrm>
              <a:off x="6477000" y="1066800"/>
              <a:ext cx="2362200" cy="16764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1754" name="TextBox 4"/>
            <p:cNvSpPr txBox="1">
              <a:spLocks noChangeArrowheads="1"/>
            </p:cNvSpPr>
            <p:nvPr/>
          </p:nvSpPr>
          <p:spPr bwMode="auto">
            <a:xfrm>
              <a:off x="6553680" y="1447633"/>
              <a:ext cx="2285520" cy="10114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Arial" pitchFamily="34" charset="0"/>
                <a:buChar char="•"/>
              </a:pPr>
              <a:r>
                <a:rPr lang="en-US" sz="2000" dirty="0">
                  <a:solidFill>
                    <a:srgbClr val="000000"/>
                  </a:solidFill>
                  <a:latin typeface="Calibri" pitchFamily="34" charset="0"/>
                </a:rPr>
                <a:t>Search for data</a:t>
              </a:r>
            </a:p>
            <a:p>
              <a:pPr>
                <a:buFont typeface="Arial" pitchFamily="34" charset="0"/>
                <a:buChar char="•"/>
              </a:pPr>
              <a:r>
                <a:rPr lang="en-US" sz="2000" dirty="0">
                  <a:solidFill>
                    <a:srgbClr val="000000"/>
                  </a:solidFill>
                  <a:latin typeface="Calibri" pitchFamily="34" charset="0"/>
                </a:rPr>
                <a:t>Download data</a:t>
              </a:r>
            </a:p>
            <a:p>
              <a:pPr>
                <a:buFont typeface="Arial" pitchFamily="34" charset="0"/>
                <a:buChar char="•"/>
              </a:pPr>
              <a:r>
                <a:rPr lang="en-US" sz="2000" dirty="0">
                  <a:solidFill>
                    <a:srgbClr val="000000"/>
                  </a:solidFill>
                  <a:latin typeface="Calibri" pitchFamily="34" charset="0"/>
                </a:rPr>
                <a:t>Display time series</a:t>
              </a:r>
            </a:p>
            <a:p>
              <a:pPr>
                <a:buFont typeface="Arial" pitchFamily="34" charset="0"/>
                <a:buChar char="•"/>
              </a:pPr>
              <a:r>
                <a:rPr lang="en-US" sz="2000" dirty="0">
                  <a:solidFill>
                    <a:srgbClr val="000000"/>
                  </a:solidFill>
                  <a:latin typeface="Calibri" pitchFamily="34" charset="0"/>
                </a:rPr>
                <a:t>Export data</a:t>
              </a:r>
            </a:p>
          </p:txBody>
        </p:sp>
        <p:sp>
          <p:nvSpPr>
            <p:cNvPr id="31755" name="TextBox 6"/>
            <p:cNvSpPr txBox="1">
              <a:spLocks noChangeArrowheads="1"/>
            </p:cNvSpPr>
            <p:nvPr/>
          </p:nvSpPr>
          <p:spPr bwMode="auto">
            <a:xfrm>
              <a:off x="6608233" y="1142716"/>
              <a:ext cx="2133600" cy="2828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b="1" dirty="0">
                  <a:solidFill>
                    <a:srgbClr val="000000"/>
                  </a:solidFill>
                  <a:latin typeface="Calibri" pitchFamily="34" charset="0"/>
                </a:rPr>
                <a:t>Hydrology</a:t>
              </a:r>
              <a:r>
                <a:rPr lang="en-US" dirty="0">
                  <a:solidFill>
                    <a:srgbClr val="000000"/>
                  </a:solidFill>
                  <a:latin typeface="Calibri" pitchFamily="34" charset="0"/>
                </a:rPr>
                <a:t> </a:t>
              </a:r>
            </a:p>
          </p:txBody>
        </p:sp>
      </p:grpSp>
      <p:pic>
        <p:nvPicPr>
          <p:cNvPr id="31762" name="Picture 18" descr="hydrodesktop_symbology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29000" y="1295400"/>
            <a:ext cx="5486400" cy="417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764" name="Picture 20" descr="columbia-box-whisker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429000" y="2895600"/>
            <a:ext cx="5486400" cy="364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5" name="Group 8"/>
          <p:cNvGrpSpPr>
            <a:grpSpLocks/>
          </p:cNvGrpSpPr>
          <p:nvPr/>
        </p:nvGrpSpPr>
        <p:grpSpPr bwMode="auto">
          <a:xfrm>
            <a:off x="3429000" y="4333024"/>
            <a:ext cx="2913063" cy="2263775"/>
            <a:chOff x="2819400" y="1066800"/>
            <a:chExt cx="3277196" cy="1676400"/>
          </a:xfrm>
          <a:solidFill>
            <a:schemeClr val="bg1">
              <a:lumMod val="50000"/>
            </a:schemeClr>
          </a:solidFill>
        </p:grpSpPr>
        <p:sp>
          <p:nvSpPr>
            <p:cNvPr id="16" name="Rectangle 15"/>
            <p:cNvSpPr/>
            <p:nvPr/>
          </p:nvSpPr>
          <p:spPr>
            <a:xfrm>
              <a:off x="2819400" y="1066800"/>
              <a:ext cx="3277196" cy="16764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7" name="TextBox 2"/>
            <p:cNvSpPr txBox="1">
              <a:spLocks noChangeArrowheads="1"/>
            </p:cNvSpPr>
            <p:nvPr/>
          </p:nvSpPr>
          <p:spPr bwMode="auto">
            <a:xfrm>
              <a:off x="2819400" y="1447616"/>
              <a:ext cx="3277196" cy="524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114300" indent="-114300">
                <a:buFont typeface="Arial" pitchFamily="34" charset="0"/>
                <a:buChar char="•"/>
              </a:pPr>
              <a:r>
                <a:rPr lang="en-US" sz="2000" dirty="0" smtClean="0">
                  <a:solidFill>
                    <a:srgbClr val="000000"/>
                  </a:solidFill>
                  <a:latin typeface="Calibri" pitchFamily="34" charset="0"/>
                </a:rPr>
                <a:t>A plug-in interface for analytical capabilities</a:t>
              </a:r>
            </a:p>
          </p:txBody>
        </p:sp>
        <p:sp>
          <p:nvSpPr>
            <p:cNvPr id="18" name="TextBox 5"/>
            <p:cNvSpPr txBox="1">
              <a:spLocks noChangeArrowheads="1"/>
            </p:cNvSpPr>
            <p:nvPr/>
          </p:nvSpPr>
          <p:spPr bwMode="auto">
            <a:xfrm>
              <a:off x="3343275" y="1142023"/>
              <a:ext cx="2133600" cy="27150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b="1" dirty="0" smtClean="0">
                  <a:solidFill>
                    <a:srgbClr val="000000"/>
                  </a:solidFill>
                  <a:latin typeface="Calibri" pitchFamily="34" charset="0"/>
                </a:rPr>
                <a:t>Extensibility</a:t>
              </a:r>
              <a:endParaRPr lang="en-US" dirty="0">
                <a:solidFill>
                  <a:srgbClr val="000000"/>
                </a:solidFill>
                <a:latin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8979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Data Visualization and Analysis in R</a:t>
            </a:r>
            <a:endParaRPr lang="en-US" dirty="0"/>
          </a:p>
        </p:txBody>
      </p:sp>
      <p:pic>
        <p:nvPicPr>
          <p:cNvPr id="4" name="Picture 4" descr="R 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01000" y="5916168"/>
            <a:ext cx="838200" cy="637032"/>
          </a:xfrm>
          <a:prstGeom prst="rect">
            <a:avLst/>
          </a:prstGeom>
          <a:noFill/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62" y="1310513"/>
            <a:ext cx="7240138" cy="51206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1271" y="3545396"/>
            <a:ext cx="3158729" cy="316020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9007" y="1592814"/>
            <a:ext cx="2867793" cy="287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708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92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Collaborative Open Source Development</a:t>
            </a:r>
            <a:endParaRPr lang="en-US" sz="360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r>
              <a:rPr lang="en-US" sz="2800" dirty="0" smtClean="0"/>
              <a:t>HydroServer – </a:t>
            </a:r>
            <a:r>
              <a:rPr lang="en-US" sz="2800" dirty="0" smtClean="0">
                <a:hlinkClick r:id="rId2"/>
              </a:rPr>
              <a:t>http://hydroserver.codeplex.com</a:t>
            </a:r>
            <a:endParaRPr lang="en-US" sz="2800" dirty="0" smtClean="0"/>
          </a:p>
          <a:p>
            <a:r>
              <a:rPr lang="en-US" sz="2800" dirty="0" smtClean="0"/>
              <a:t>HydroDesktop – </a:t>
            </a:r>
            <a:r>
              <a:rPr lang="en-US" sz="2800" dirty="0" smtClean="0">
                <a:hlinkClick r:id="rId3"/>
              </a:rPr>
              <a:t>http://hydrodesktop.codeplex.com</a:t>
            </a:r>
            <a:endParaRPr lang="en-US" sz="2800" dirty="0" smtClean="0"/>
          </a:p>
          <a:p>
            <a:r>
              <a:rPr lang="en-US" sz="2800" dirty="0" smtClean="0"/>
              <a:t>HydroCatalog – </a:t>
            </a:r>
            <a:r>
              <a:rPr lang="en-US" sz="2800" dirty="0" smtClean="0">
                <a:hlinkClick r:id="rId4"/>
              </a:rPr>
              <a:t>http://hydrocatalog.codeplex.com</a:t>
            </a:r>
            <a:endParaRPr lang="en-US" sz="2800" dirty="0" smtClean="0"/>
          </a:p>
          <a:p>
            <a:endParaRPr lang="en-US" dirty="0" smtClean="0"/>
          </a:p>
          <a:p>
            <a:r>
              <a:rPr lang="en-US" dirty="0" smtClean="0"/>
              <a:t>Source Code</a:t>
            </a:r>
          </a:p>
          <a:p>
            <a:r>
              <a:rPr lang="en-US" dirty="0" smtClean="0"/>
              <a:t>Downloads</a:t>
            </a:r>
          </a:p>
          <a:p>
            <a:r>
              <a:rPr lang="en-US" dirty="0" smtClean="0"/>
              <a:t>Discussion Forums</a:t>
            </a:r>
          </a:p>
          <a:p>
            <a:r>
              <a:rPr lang="en-US" dirty="0" smtClean="0"/>
              <a:t>Issue Tracker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200400"/>
            <a:ext cx="4737735" cy="3509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8922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Toward a Standard SOA for Water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CUAHSI has engaged with the Open Geospatial Consortium (OGC) to develop standards for water data</a:t>
            </a:r>
          </a:p>
          <a:p>
            <a:endParaRPr lang="en-US" dirty="0" smtClean="0"/>
          </a:p>
          <a:p>
            <a:r>
              <a:rPr lang="en-US" dirty="0" smtClean="0"/>
              <a:t>The OGC </a:t>
            </a:r>
            <a:r>
              <a:rPr lang="en-US" dirty="0"/>
              <a:t>is a non-profit, international voluntary consensus standards organization that is leading the development of standards for geospatial and location based </a:t>
            </a:r>
            <a:r>
              <a:rPr lang="en-US" dirty="0" smtClean="0"/>
              <a:t>services</a:t>
            </a:r>
            <a:endParaRPr lang="en-US" dirty="0"/>
          </a:p>
          <a:p>
            <a:pPr lvl="1"/>
            <a:endParaRPr lang="en-US" dirty="0">
              <a:solidFill>
                <a:srgbClr val="000000"/>
              </a:solidFill>
              <a:cs typeface="Arial" pitchFamily="34" charset="0"/>
            </a:endParaRPr>
          </a:p>
          <a:p>
            <a:pPr lvl="1"/>
            <a:r>
              <a:rPr lang="en-US" dirty="0">
                <a:solidFill>
                  <a:srgbClr val="000000"/>
                </a:solidFill>
                <a:cs typeface="Arial" pitchFamily="34" charset="0"/>
              </a:rPr>
              <a:t>The OGC facilitates a consensus process in which government, private industry, NGOs, and academia collaborate to create open and extensible software application programming interfaces for geospatial and other mainstream information technologies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23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WaterML 2.0</a:t>
            </a:r>
            <a:br>
              <a:rPr lang="en-US" dirty="0" smtClean="0"/>
            </a:br>
            <a:r>
              <a:rPr lang="en-US" sz="2700" dirty="0" smtClean="0">
                <a:solidFill>
                  <a:srgbClr val="FF0000"/>
                </a:solidFill>
              </a:rPr>
              <a:t>An OGC Standard for Transmitting Hydrologic Observations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1"/>
            <a:ext cx="8229600" cy="48768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</a:t>
            </a:r>
            <a:r>
              <a:rPr lang="en-US" dirty="0" smtClean="0"/>
              <a:t>n </a:t>
            </a:r>
            <a:r>
              <a:rPr lang="en-US" dirty="0"/>
              <a:t>application schema of GML </a:t>
            </a:r>
            <a:r>
              <a:rPr lang="en-US" dirty="0" smtClean="0"/>
              <a:t>3.2.1</a:t>
            </a:r>
          </a:p>
          <a:p>
            <a:r>
              <a:rPr lang="en-US" dirty="0"/>
              <a:t>M</a:t>
            </a:r>
            <a:r>
              <a:rPr lang="en-US" dirty="0" smtClean="0"/>
              <a:t>akes </a:t>
            </a:r>
            <a:r>
              <a:rPr lang="en-US" dirty="0"/>
              <a:t>extensive use of the </a:t>
            </a:r>
            <a:r>
              <a:rPr lang="en-US" dirty="0" smtClean="0"/>
              <a:t>Observations and Measurements (O&amp;M) </a:t>
            </a:r>
            <a:r>
              <a:rPr lang="en-US" dirty="0"/>
              <a:t>specification (ISO 19156</a:t>
            </a:r>
            <a:r>
              <a:rPr lang="en-US" dirty="0" smtClean="0"/>
              <a:t>) </a:t>
            </a:r>
          </a:p>
          <a:p>
            <a:r>
              <a:rPr lang="en-US" dirty="0" smtClean="0"/>
              <a:t>Describes: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observations </a:t>
            </a:r>
            <a:r>
              <a:rPr lang="en-US" dirty="0"/>
              <a:t>(what/when/where/how/results/context</a:t>
            </a:r>
            <a:r>
              <a:rPr lang="en-US" dirty="0" smtClean="0"/>
              <a:t>)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time </a:t>
            </a:r>
            <a:r>
              <a:rPr lang="en-US" dirty="0"/>
              <a:t>series (values/units/data types/data quality/accuracy/period of record/publisher and owner</a:t>
            </a:r>
            <a:r>
              <a:rPr lang="en-US" dirty="0" smtClean="0"/>
              <a:t>)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observation </a:t>
            </a:r>
            <a:r>
              <a:rPr lang="en-US" dirty="0"/>
              <a:t>processes (sensors/algorithms/models/manual methods</a:t>
            </a:r>
            <a:r>
              <a:rPr lang="en-US" dirty="0" smtClean="0"/>
              <a:t>)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locations </a:t>
            </a:r>
            <a:r>
              <a:rPr lang="en-US" dirty="0"/>
              <a:t>(stations and locations/operators/</a:t>
            </a:r>
            <a:r>
              <a:rPr lang="en-US" dirty="0" err="1"/>
              <a:t>datums</a:t>
            </a:r>
            <a:r>
              <a:rPr lang="en-US" dirty="0"/>
              <a:t>/types of observations/history/time zone/resources</a:t>
            </a:r>
            <a:r>
              <a:rPr lang="en-US" dirty="0" smtClean="0"/>
              <a:t>)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grouping </a:t>
            </a:r>
            <a:r>
              <a:rPr lang="en-US" dirty="0"/>
              <a:t>of measuring locations (i.e. networks</a:t>
            </a:r>
            <a:r>
              <a:rPr lang="en-US" dirty="0" smtClean="0"/>
              <a:t>)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groupings </a:t>
            </a:r>
            <a:r>
              <a:rPr lang="en-US" dirty="0"/>
              <a:t>of observations and time </a:t>
            </a:r>
            <a:r>
              <a:rPr lang="en-US" dirty="0" smtClean="0"/>
              <a:t>series</a:t>
            </a:r>
          </a:p>
          <a:p>
            <a:r>
              <a:rPr lang="en-US" dirty="0" smtClean="0"/>
              <a:t>OGC Hydrology Domain working group</a:t>
            </a:r>
          </a:p>
          <a:p>
            <a:pPr marL="971550" lvl="1" indent="-514350"/>
            <a:r>
              <a:rPr lang="en-US" dirty="0" smtClean="0"/>
              <a:t>Working on WaterML </a:t>
            </a:r>
          </a:p>
          <a:p>
            <a:pPr marL="971550" lvl="1" indent="-514350"/>
            <a:r>
              <a:rPr lang="en-US" dirty="0"/>
              <a:t>Interoperability </a:t>
            </a:r>
            <a:r>
              <a:rPr lang="en-US" dirty="0" smtClean="0"/>
              <a:t>experiments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154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 Standard SOA for Water Data</a:t>
            </a:r>
            <a:br>
              <a:rPr lang="en-US" dirty="0" smtClean="0"/>
            </a:br>
            <a:r>
              <a:rPr lang="en-US" sz="3100" dirty="0" smtClean="0">
                <a:solidFill>
                  <a:srgbClr val="FF0000"/>
                </a:solidFill>
              </a:rPr>
              <a:t>OGC Concept Development Study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Operationalizing the CUAHSI HIS</a:t>
            </a:r>
          </a:p>
          <a:p>
            <a:r>
              <a:rPr lang="en-US" dirty="0" smtClean="0"/>
              <a:t>Encourage </a:t>
            </a:r>
            <a:r>
              <a:rPr lang="en-US" dirty="0" smtClean="0"/>
              <a:t>broad implementation by software providers and broad uptake by data publishers</a:t>
            </a:r>
          </a:p>
          <a:p>
            <a:r>
              <a:rPr lang="en-US" dirty="0" smtClean="0"/>
              <a:t>Determine </a:t>
            </a:r>
            <a:r>
              <a:rPr lang="en-US" dirty="0" smtClean="0"/>
              <a:t>optimal web service interfaces and data encodings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2286000" y="4072872"/>
            <a:ext cx="6477000" cy="2632728"/>
            <a:chOff x="858837" y="2438400"/>
            <a:chExt cx="7751763" cy="3635373"/>
          </a:xfrm>
        </p:grpSpPr>
        <p:sp>
          <p:nvSpPr>
            <p:cNvPr id="5" name="Rectangle 4"/>
            <p:cNvSpPr/>
            <p:nvPr/>
          </p:nvSpPr>
          <p:spPr bwMode="auto">
            <a:xfrm>
              <a:off x="3438525" y="2438400"/>
              <a:ext cx="2297112" cy="915988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anchor="b"/>
            <a:lstStyle/>
            <a:p>
              <a:pPr algn="ctr">
                <a:defRPr/>
              </a:pPr>
              <a:endParaRPr lang="en-US" kern="0" dirty="0">
                <a:solidFill>
                  <a:sysClr val="window" lastClr="FFFFFF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858837" y="5159373"/>
              <a:ext cx="2076450" cy="914400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tIns="274320" anchor="ctr" anchorCtr="0"/>
            <a:lstStyle/>
            <a:p>
              <a:pPr algn="ctr">
                <a:defRPr/>
              </a:pPr>
              <a:endParaRPr lang="en-US" kern="0" dirty="0">
                <a:solidFill>
                  <a:sysClr val="window" lastClr="FFFFFF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6537325" y="5153023"/>
              <a:ext cx="2073275" cy="914400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anchor="b"/>
            <a:lstStyle/>
            <a:p>
              <a:pPr algn="ctr">
                <a:defRPr/>
              </a:pPr>
              <a:endParaRPr lang="en-US" kern="0" dirty="0">
                <a:solidFill>
                  <a:sysClr val="window" lastClr="FFFFFF"/>
                </a:solidFill>
              </a:endParaRPr>
            </a:p>
          </p:txBody>
        </p:sp>
        <p:cxnSp>
          <p:nvCxnSpPr>
            <p:cNvPr id="8" name="Straight Arrow Connector 63"/>
            <p:cNvCxnSpPr>
              <a:cxnSpLocks noChangeShapeType="1"/>
              <a:stCxn id="6" idx="0"/>
              <a:endCxn id="5" idx="2"/>
            </p:cNvCxnSpPr>
            <p:nvPr/>
          </p:nvCxnSpPr>
          <p:spPr bwMode="auto">
            <a:xfrm rot="5400000" flipH="1" flipV="1">
              <a:off x="2339579" y="2911872"/>
              <a:ext cx="1804985" cy="2690019"/>
            </a:xfrm>
            <a:prstGeom prst="straightConnector1">
              <a:avLst/>
            </a:prstGeom>
            <a:noFill/>
            <a:ln w="57150" algn="ctr">
              <a:solidFill>
                <a:srgbClr val="4A7EBB"/>
              </a:solidFill>
              <a:round/>
              <a:headEnd/>
              <a:tailEnd type="arrow" w="med" len="med"/>
            </a:ln>
          </p:spPr>
        </p:cxnSp>
        <p:cxnSp>
          <p:nvCxnSpPr>
            <p:cNvPr id="9" name="Straight Arrow Connector 64"/>
            <p:cNvCxnSpPr>
              <a:cxnSpLocks noChangeShapeType="1"/>
            </p:cNvCxnSpPr>
            <p:nvPr/>
          </p:nvCxnSpPr>
          <p:spPr bwMode="auto">
            <a:xfrm rot="16200000" flipH="1">
              <a:off x="5142701" y="2724116"/>
              <a:ext cx="1833450" cy="3025231"/>
            </a:xfrm>
            <a:prstGeom prst="straightConnector1">
              <a:avLst/>
            </a:prstGeom>
            <a:noFill/>
            <a:ln w="57150" algn="ctr">
              <a:solidFill>
                <a:srgbClr val="4A7EBB"/>
              </a:solidFill>
              <a:round/>
              <a:headEnd/>
              <a:tailEnd type="arrow" w="med" len="med"/>
            </a:ln>
          </p:spPr>
        </p:cxnSp>
        <p:cxnSp>
          <p:nvCxnSpPr>
            <p:cNvPr id="10" name="Straight Arrow Connector 65"/>
            <p:cNvCxnSpPr>
              <a:cxnSpLocks noChangeShapeType="1"/>
              <a:stCxn id="6" idx="3"/>
              <a:endCxn id="7" idx="1"/>
            </p:cNvCxnSpPr>
            <p:nvPr/>
          </p:nvCxnSpPr>
          <p:spPr bwMode="auto">
            <a:xfrm flipV="1">
              <a:off x="2935287" y="5610223"/>
              <a:ext cx="3602038" cy="6350"/>
            </a:xfrm>
            <a:prstGeom prst="straightConnector1">
              <a:avLst/>
            </a:prstGeom>
            <a:noFill/>
            <a:ln w="57150" algn="ctr">
              <a:solidFill>
                <a:srgbClr val="4A7EBB"/>
              </a:solidFill>
              <a:round/>
              <a:headEnd/>
              <a:tailEnd type="arrow" w="med" len="med"/>
            </a:ln>
          </p:spPr>
        </p:cxnSp>
        <p:sp>
          <p:nvSpPr>
            <p:cNvPr id="11" name="TextBox 13"/>
            <p:cNvSpPr txBox="1">
              <a:spLocks noChangeArrowheads="1"/>
            </p:cNvSpPr>
            <p:nvPr/>
          </p:nvSpPr>
          <p:spPr bwMode="auto">
            <a:xfrm>
              <a:off x="3644264" y="2601516"/>
              <a:ext cx="184816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b="1" kern="0" dirty="0" smtClean="0">
                  <a:solidFill>
                    <a:srgbClr val="FFFF00"/>
                  </a:solidFill>
                  <a:latin typeface="Arial" pitchFamily="34" charset="0"/>
                </a:rPr>
                <a:t>Catalog</a:t>
              </a:r>
              <a:endParaRPr lang="en-US" b="1" kern="0" dirty="0">
                <a:solidFill>
                  <a:srgbClr val="FFFF00"/>
                </a:solidFill>
                <a:latin typeface="Arial" pitchFamily="34" charset="0"/>
              </a:endParaRPr>
            </a:p>
          </p:txBody>
        </p:sp>
        <p:sp>
          <p:nvSpPr>
            <p:cNvPr id="12" name="TextBox 14"/>
            <p:cNvSpPr txBox="1">
              <a:spLocks noChangeArrowheads="1"/>
            </p:cNvSpPr>
            <p:nvPr/>
          </p:nvSpPr>
          <p:spPr bwMode="auto">
            <a:xfrm>
              <a:off x="6553200" y="5378830"/>
              <a:ext cx="202882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 kern="0" dirty="0" smtClean="0">
                  <a:solidFill>
                    <a:srgbClr val="FFFF00"/>
                  </a:solidFill>
                  <a:latin typeface="Arial" pitchFamily="34" charset="0"/>
                </a:rPr>
                <a:t>Desktop</a:t>
              </a:r>
              <a:endParaRPr lang="en-US" b="1" kern="0" dirty="0">
                <a:solidFill>
                  <a:srgbClr val="FFFF00"/>
                </a:solidFill>
                <a:latin typeface="Arial" pitchFamily="34" charset="0"/>
              </a:endParaRPr>
            </a:p>
          </p:txBody>
        </p:sp>
        <p:sp>
          <p:nvSpPr>
            <p:cNvPr id="13" name="TextBox 15"/>
            <p:cNvSpPr txBox="1">
              <a:spLocks noChangeArrowheads="1"/>
            </p:cNvSpPr>
            <p:nvPr/>
          </p:nvSpPr>
          <p:spPr bwMode="auto">
            <a:xfrm>
              <a:off x="1025525" y="5380411"/>
              <a:ext cx="1706562" cy="369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 kern="0" dirty="0" smtClean="0">
                  <a:solidFill>
                    <a:srgbClr val="FFFF00"/>
                  </a:solidFill>
                  <a:latin typeface="Arial" pitchFamily="34" charset="0"/>
                </a:rPr>
                <a:t>Server</a:t>
              </a:r>
              <a:endParaRPr lang="en-US" b="1" kern="0" dirty="0">
                <a:solidFill>
                  <a:srgbClr val="FFFF00"/>
                </a:solidFill>
                <a:latin typeface="Arial" pitchFamily="34" charset="0"/>
              </a:endParaRPr>
            </a:p>
          </p:txBody>
        </p:sp>
        <p:sp>
          <p:nvSpPr>
            <p:cNvPr id="14" name="TextBox 15"/>
            <p:cNvSpPr txBox="1">
              <a:spLocks noChangeArrowheads="1"/>
            </p:cNvSpPr>
            <p:nvPr/>
          </p:nvSpPr>
          <p:spPr bwMode="auto">
            <a:xfrm>
              <a:off x="3465702" y="5069802"/>
              <a:ext cx="217309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 dirty="0" smtClean="0">
                  <a:solidFill>
                    <a:srgbClr val="FF0000"/>
                  </a:solidFill>
                </a:rPr>
                <a:t>Bind????</a:t>
              </a:r>
            </a:p>
          </p:txBody>
        </p:sp>
        <p:sp>
          <p:nvSpPr>
            <p:cNvPr id="15" name="TextBox 16"/>
            <p:cNvSpPr txBox="1">
              <a:spLocks noChangeArrowheads="1"/>
            </p:cNvSpPr>
            <p:nvPr/>
          </p:nvSpPr>
          <p:spPr bwMode="auto">
            <a:xfrm rot="19560000">
              <a:off x="2109756" y="3920736"/>
              <a:ext cx="1436612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000" b="1" dirty="0" smtClean="0">
                  <a:solidFill>
                    <a:srgbClr val="FF0000"/>
                  </a:solidFill>
                </a:rPr>
                <a:t>Publish????</a:t>
              </a:r>
            </a:p>
          </p:txBody>
        </p:sp>
        <p:sp>
          <p:nvSpPr>
            <p:cNvPr id="16" name="TextBox 17"/>
            <p:cNvSpPr txBox="1">
              <a:spLocks noChangeArrowheads="1"/>
            </p:cNvSpPr>
            <p:nvPr/>
          </p:nvSpPr>
          <p:spPr bwMode="auto">
            <a:xfrm rot="1860000">
              <a:off x="5753726" y="3794039"/>
              <a:ext cx="111440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000" b="1" dirty="0" smtClean="0">
                  <a:solidFill>
                    <a:srgbClr val="FF0000"/>
                  </a:solidFill>
                </a:rPr>
                <a:t>Find????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11376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990600"/>
          </a:xfrm>
        </p:spPr>
        <p:txBody>
          <a:bodyPr/>
          <a:lstStyle/>
          <a:p>
            <a:r>
              <a:rPr lang="en-US" dirty="0" smtClean="0"/>
              <a:t>Summary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76200" y="838200"/>
            <a:ext cx="8991600" cy="57150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sz="2400" dirty="0" smtClean="0"/>
              <a:t>CUAHSI HIS</a:t>
            </a:r>
          </a:p>
          <a:p>
            <a:pPr lvl="1"/>
            <a:r>
              <a:rPr lang="en-US" sz="2000" dirty="0" smtClean="0">
                <a:solidFill>
                  <a:srgbClr val="FF0000"/>
                </a:solidFill>
              </a:rPr>
              <a:t>Cyberinfrastructure </a:t>
            </a:r>
            <a:r>
              <a:rPr lang="en-US" sz="2000" dirty="0" smtClean="0"/>
              <a:t>for managing and publishing observational data</a:t>
            </a:r>
          </a:p>
          <a:p>
            <a:pPr lvl="1" eaLnBrk="1" hangingPunct="1"/>
            <a:r>
              <a:rPr lang="en-US" sz="2000" dirty="0" smtClean="0"/>
              <a:t>Overcomes </a:t>
            </a:r>
            <a:r>
              <a:rPr lang="en-US" sz="2000" dirty="0" smtClean="0">
                <a:solidFill>
                  <a:srgbClr val="FF0000"/>
                </a:solidFill>
              </a:rPr>
              <a:t>syntactic and semantic heterogeneity </a:t>
            </a:r>
            <a:r>
              <a:rPr lang="en-US" sz="2000" dirty="0" smtClean="0"/>
              <a:t>using a standard data model, transmission language, controlled vocabularies, and ontology</a:t>
            </a:r>
          </a:p>
          <a:p>
            <a:pPr lvl="1" eaLnBrk="1" hangingPunct="1"/>
            <a:r>
              <a:rPr lang="en-US" sz="2000" dirty="0" smtClean="0">
                <a:solidFill>
                  <a:srgbClr val="FF0000"/>
                </a:solidFill>
              </a:rPr>
              <a:t>End-to-end infrastructure</a:t>
            </a:r>
            <a:r>
              <a:rPr lang="en-US" sz="2000" dirty="0"/>
              <a:t> </a:t>
            </a:r>
            <a:r>
              <a:rPr lang="en-US" sz="2000" dirty="0" smtClean="0"/>
              <a:t>- from publication to discovery, access, and analysis</a:t>
            </a:r>
          </a:p>
          <a:p>
            <a:pPr lvl="1" eaLnBrk="1" hangingPunct="1"/>
            <a:r>
              <a:rPr lang="en-US" sz="2000" dirty="0" smtClean="0"/>
              <a:t>Supports a </a:t>
            </a:r>
            <a:r>
              <a:rPr lang="en-US" sz="2000" dirty="0" smtClean="0">
                <a:solidFill>
                  <a:srgbClr val="FF0000"/>
                </a:solidFill>
              </a:rPr>
              <a:t>national network </a:t>
            </a:r>
            <a:r>
              <a:rPr lang="en-US" sz="2000" dirty="0" smtClean="0"/>
              <a:t>of academic partners, and links to many important federal water data repositories</a:t>
            </a:r>
          </a:p>
          <a:p>
            <a:pPr lvl="1" eaLnBrk="1" hangingPunct="1"/>
            <a:r>
              <a:rPr lang="en-US" sz="2000" dirty="0" smtClean="0"/>
              <a:t>Maintains </a:t>
            </a:r>
            <a:r>
              <a:rPr lang="en-US" sz="2000" dirty="0" smtClean="0">
                <a:solidFill>
                  <a:srgbClr val="FF0000"/>
                </a:solidFill>
              </a:rPr>
              <a:t>national registry of </a:t>
            </a:r>
            <a:r>
              <a:rPr lang="en-US" sz="2000" dirty="0" smtClean="0">
                <a:solidFill>
                  <a:srgbClr val="FF0000"/>
                </a:solidFill>
              </a:rPr>
              <a:t>services </a:t>
            </a:r>
            <a:r>
              <a:rPr lang="en-US" sz="2000" dirty="0" smtClean="0"/>
              <a:t>with searchable metadata</a:t>
            </a:r>
            <a:endParaRPr lang="en-US" sz="2000" dirty="0" smtClean="0"/>
          </a:p>
          <a:p>
            <a:pPr lvl="1"/>
            <a:r>
              <a:rPr lang="en-US" sz="2000" dirty="0"/>
              <a:t>Already </a:t>
            </a:r>
            <a:r>
              <a:rPr lang="en-US" sz="2000" dirty="0">
                <a:solidFill>
                  <a:srgbClr val="FF0000"/>
                </a:solidFill>
              </a:rPr>
              <a:t>deployed </a:t>
            </a:r>
            <a:r>
              <a:rPr lang="en-US" sz="2000" dirty="0"/>
              <a:t>at multiple </a:t>
            </a:r>
            <a:r>
              <a:rPr lang="en-US" sz="2000" dirty="0" smtClean="0"/>
              <a:t>locations, </a:t>
            </a:r>
            <a:r>
              <a:rPr lang="en-US" sz="2000" dirty="0"/>
              <a:t>leveraged by other </a:t>
            </a:r>
            <a:r>
              <a:rPr lang="en-US" sz="2000" dirty="0" smtClean="0"/>
              <a:t>projects</a:t>
            </a:r>
            <a:r>
              <a:rPr lang="en-US" sz="2000" dirty="0" smtClean="0">
                <a:solidFill>
                  <a:srgbClr val="FF0000"/>
                </a:solidFill>
              </a:rPr>
              <a:t>, free </a:t>
            </a:r>
            <a:r>
              <a:rPr lang="en-US" sz="2000" dirty="0">
                <a:solidFill>
                  <a:srgbClr val="FF0000"/>
                </a:solidFill>
              </a:rPr>
              <a:t>and open </a:t>
            </a:r>
            <a:r>
              <a:rPr lang="en-US" sz="2000" dirty="0" smtClean="0">
                <a:solidFill>
                  <a:srgbClr val="FF0000"/>
                </a:solidFill>
              </a:rPr>
              <a:t>source</a:t>
            </a:r>
          </a:p>
          <a:p>
            <a:pPr eaLnBrk="1" hangingPunct="1"/>
            <a:r>
              <a:rPr lang="en-US" sz="2400" dirty="0" smtClean="0"/>
              <a:t>New Developments</a:t>
            </a:r>
          </a:p>
          <a:p>
            <a:pPr lvl="1"/>
            <a:r>
              <a:rPr lang="en-US" sz="2000" dirty="0" smtClean="0">
                <a:solidFill>
                  <a:srgbClr val="FF0000"/>
                </a:solidFill>
              </a:rPr>
              <a:t>HydroDesktop </a:t>
            </a:r>
            <a:r>
              <a:rPr lang="en-US" sz="2000" dirty="0" smtClean="0"/>
              <a:t>and associated plugins for data </a:t>
            </a:r>
            <a:r>
              <a:rPr lang="en-US" sz="2000" dirty="0" smtClean="0">
                <a:solidFill>
                  <a:srgbClr val="FF0000"/>
                </a:solidFill>
              </a:rPr>
              <a:t>discovery, download, and analysis</a:t>
            </a:r>
            <a:endParaRPr lang="en-US" sz="2000" dirty="0" smtClean="0"/>
          </a:p>
          <a:p>
            <a:pPr lvl="1"/>
            <a:r>
              <a:rPr lang="en-US" sz="2000" dirty="0" smtClean="0">
                <a:solidFill>
                  <a:srgbClr val="FF0000"/>
                </a:solidFill>
              </a:rPr>
              <a:t>WaterML 2.0</a:t>
            </a:r>
            <a:r>
              <a:rPr lang="en-US" sz="2000" dirty="0" smtClean="0"/>
              <a:t> is an emerging OGC standard language for communicating water observations data from academic and government sources</a:t>
            </a:r>
          </a:p>
          <a:p>
            <a:pPr lvl="1" eaLnBrk="1" hangingPunct="1"/>
            <a:r>
              <a:rPr lang="en-US" sz="2000" dirty="0" smtClean="0"/>
              <a:t>New </a:t>
            </a:r>
            <a:r>
              <a:rPr lang="en-US" sz="2000" dirty="0" smtClean="0">
                <a:solidFill>
                  <a:srgbClr val="FF0000"/>
                </a:solidFill>
              </a:rPr>
              <a:t>OGC Concept </a:t>
            </a:r>
            <a:r>
              <a:rPr lang="en-US" sz="2000" dirty="0">
                <a:solidFill>
                  <a:srgbClr val="FF0000"/>
                </a:solidFill>
              </a:rPr>
              <a:t>D</a:t>
            </a:r>
            <a:r>
              <a:rPr lang="en-US" sz="2000" dirty="0" smtClean="0">
                <a:solidFill>
                  <a:srgbClr val="FF0000"/>
                </a:solidFill>
              </a:rPr>
              <a:t>evelopment </a:t>
            </a:r>
            <a:r>
              <a:rPr lang="en-US" sz="2000" dirty="0">
                <a:solidFill>
                  <a:srgbClr val="FF0000"/>
                </a:solidFill>
              </a:rPr>
              <a:t>S</a:t>
            </a:r>
            <a:r>
              <a:rPr lang="en-US" sz="2000" dirty="0" smtClean="0">
                <a:solidFill>
                  <a:srgbClr val="FF0000"/>
                </a:solidFill>
              </a:rPr>
              <a:t>tudy </a:t>
            </a:r>
            <a:r>
              <a:rPr lang="en-US" sz="2000" dirty="0" smtClean="0"/>
              <a:t>to define </a:t>
            </a:r>
            <a:r>
              <a:rPr lang="en-US" sz="2000" dirty="0" smtClean="0">
                <a:solidFill>
                  <a:srgbClr val="FF0000"/>
                </a:solidFill>
              </a:rPr>
              <a:t>best practices </a:t>
            </a:r>
            <a:r>
              <a:rPr lang="en-US" sz="2000" dirty="0" smtClean="0"/>
              <a:t>for web service interfaces and data encodings</a:t>
            </a:r>
          </a:p>
          <a:p>
            <a:pPr eaLnBrk="1" hangingPunct="1"/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883564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 you!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sponsor_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41920" y="5334000"/>
            <a:ext cx="1173480" cy="117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152400" y="5480755"/>
            <a:ext cx="3465512" cy="1300162"/>
            <a:chOff x="228600" y="5232772"/>
            <a:chExt cx="3733800" cy="1400590"/>
          </a:xfrm>
        </p:grpSpPr>
        <p:pic>
          <p:nvPicPr>
            <p:cNvPr id="8" name="Picture 7" descr="cuahsi_logo_4"/>
            <p:cNvPicPr>
              <a:picLocks noChangeAspect="1" noChangeArrowheads="1"/>
            </p:cNvPicPr>
            <p:nvPr/>
          </p:nvPicPr>
          <p:blipFill>
            <a:blip r:embed="rId3" cstate="print"/>
            <a:srcRect r="69569"/>
            <a:stretch>
              <a:fillRect/>
            </a:stretch>
          </p:blipFill>
          <p:spPr bwMode="auto">
            <a:xfrm>
              <a:off x="228600" y="5232772"/>
              <a:ext cx="1447800" cy="14005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1600200" y="5257800"/>
              <a:ext cx="2362200" cy="1326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sz="2800" dirty="0">
                  <a:solidFill>
                    <a:prstClr val="black"/>
                  </a:solidFill>
                </a:rPr>
                <a:t>CUAHSI</a:t>
              </a:r>
            </a:p>
            <a:p>
              <a:pPr>
                <a:lnSpc>
                  <a:spcPct val="80000"/>
                </a:lnSpc>
              </a:pPr>
              <a:r>
                <a:rPr lang="en-US" sz="5400" dirty="0">
                  <a:solidFill>
                    <a:prstClr val="black"/>
                  </a:solidFill>
                </a:rPr>
                <a:t>HIS</a:t>
              </a:r>
            </a:p>
            <a:p>
              <a:pPr>
                <a:lnSpc>
                  <a:spcPct val="40000"/>
                </a:lnSpc>
              </a:pPr>
              <a:r>
                <a:rPr lang="en-US" sz="1400" i="1" dirty="0">
                  <a:solidFill>
                    <a:prstClr val="black"/>
                  </a:solidFill>
                </a:rPr>
                <a:t>Sharing hydrologic data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7543800" y="6477000"/>
            <a:ext cx="16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89438"/>
            <a:r>
              <a:rPr lang="en-US" sz="1200" dirty="0" smtClean="0">
                <a:solidFill>
                  <a:prstClr val="black"/>
                </a:solidFill>
              </a:rPr>
              <a:t>Support EAR </a:t>
            </a:r>
            <a:r>
              <a:rPr lang="en-US" sz="1200" dirty="0">
                <a:solidFill>
                  <a:prstClr val="black"/>
                </a:solidFill>
              </a:rPr>
              <a:t>0622374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55502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</TotalTime>
  <Words>1160</Words>
  <Application>Microsoft Office PowerPoint</Application>
  <PresentationFormat>On-screen Show (4:3)</PresentationFormat>
  <Paragraphs>234</Paragraphs>
  <Slides>20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Advancing a Services Oriented Architecture for Sharing  Hydrologic Data</vt:lpstr>
      <vt:lpstr>Consortium of Universities for the Advancement of Hydrologic Science, Inc.</vt:lpstr>
      <vt:lpstr>PowerPoint Presentation</vt:lpstr>
      <vt:lpstr>HydroServer</vt:lpstr>
      <vt:lpstr>PowerPoint Presentation</vt:lpstr>
      <vt:lpstr>CUAHSI Observations-Network Information Model</vt:lpstr>
      <vt:lpstr>Observations Data Model (ODM)</vt:lpstr>
      <vt:lpstr>PowerPoint Presentation</vt:lpstr>
      <vt:lpstr>HIS Central - HydroCatalog</vt:lpstr>
      <vt:lpstr>HIS Central HydroCatalog Content (November 2010)</vt:lpstr>
      <vt:lpstr>HydroCatalog Search Services</vt:lpstr>
      <vt:lpstr>HydroDesktop</vt:lpstr>
      <vt:lpstr>HydroDesktop Capabilities</vt:lpstr>
      <vt:lpstr>Data Visualization and Analysis in R</vt:lpstr>
      <vt:lpstr>Collaborative Open Source Development</vt:lpstr>
      <vt:lpstr>Toward a Standard SOA for Water Data</vt:lpstr>
      <vt:lpstr>WaterML 2.0 An OGC Standard for Transmitting Hydrologic Observations</vt:lpstr>
      <vt:lpstr>A Standard SOA for Water Data OGC Concept Development Study</vt:lpstr>
      <vt:lpstr>Summary</vt:lpstr>
      <vt:lpstr>Thank you!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Advancing a Services Oriented Architecture for Sharing  Hydrologic Data</dc:title>
  <dc:creator>jeff</dc:creator>
  <cp:lastModifiedBy>Jeffery S. Horsburgh</cp:lastModifiedBy>
  <cp:revision>41</cp:revision>
  <dcterms:created xsi:type="dcterms:W3CDTF">2011-03-30T14:50:15Z</dcterms:created>
  <dcterms:modified xsi:type="dcterms:W3CDTF">2011-04-06T02:10:15Z</dcterms:modified>
</cp:coreProperties>
</file>