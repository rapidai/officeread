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102" y="-1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Phase 5.3.2 Loads by Year and Future Goals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Sheet1!$H$3</c:f>
              <c:strCache>
                <c:ptCount val="1"/>
                <c:pt idx="0">
                  <c:v>1985</c:v>
                </c:pt>
              </c:strCache>
            </c:strRef>
          </c:tx>
          <c:cat>
            <c:strRef>
              <c:f>Sheet1!$G$4:$G$22</c:f>
              <c:strCache>
                <c:ptCount val="19"/>
                <c:pt idx="0">
                  <c:v>DC Potomac</c:v>
                </c:pt>
                <c:pt idx="1">
                  <c:v>DE Eastern Shore</c:v>
                </c:pt>
                <c:pt idx="2">
                  <c:v>MD Eastern Shore</c:v>
                </c:pt>
                <c:pt idx="3">
                  <c:v>MD Patuxent</c:v>
                </c:pt>
                <c:pt idx="4">
                  <c:v>MD Potomac</c:v>
                </c:pt>
                <c:pt idx="5">
                  <c:v>MD Susquehanna</c:v>
                </c:pt>
                <c:pt idx="6">
                  <c:v>MD Western Shore</c:v>
                </c:pt>
                <c:pt idx="7">
                  <c:v>NY Susquehanna</c:v>
                </c:pt>
                <c:pt idx="8">
                  <c:v>PA Eastern Shore</c:v>
                </c:pt>
                <c:pt idx="9">
                  <c:v>PA Potomac</c:v>
                </c:pt>
                <c:pt idx="10">
                  <c:v>PA Susquehanna</c:v>
                </c:pt>
                <c:pt idx="11">
                  <c:v>PA Western Shore</c:v>
                </c:pt>
                <c:pt idx="12">
                  <c:v>VA Eastern Shore</c:v>
                </c:pt>
                <c:pt idx="13">
                  <c:v>VA James</c:v>
                </c:pt>
                <c:pt idx="14">
                  <c:v>VA Potomac</c:v>
                </c:pt>
                <c:pt idx="15">
                  <c:v>VA Rappahannock</c:v>
                </c:pt>
                <c:pt idx="16">
                  <c:v>VA York</c:v>
                </c:pt>
                <c:pt idx="17">
                  <c:v>WV James</c:v>
                </c:pt>
                <c:pt idx="18">
                  <c:v>WV Potomac</c:v>
                </c:pt>
              </c:strCache>
            </c:strRef>
          </c:cat>
          <c:val>
            <c:numRef>
              <c:f>Sheet1!$H$4:$H$22</c:f>
              <c:numCache>
                <c:formatCode>General</c:formatCode>
                <c:ptCount val="19"/>
                <c:pt idx="0">
                  <c:v>6.2325660000000003</c:v>
                </c:pt>
                <c:pt idx="1">
                  <c:v>5.3903400000000001</c:v>
                </c:pt>
                <c:pt idx="2">
                  <c:v>20.484349999999992</c:v>
                </c:pt>
                <c:pt idx="3">
                  <c:v>4.5607470000000001</c:v>
                </c:pt>
                <c:pt idx="4">
                  <c:v>27.436299999999996</c:v>
                </c:pt>
                <c:pt idx="5">
                  <c:v>2.3718869999999996</c:v>
                </c:pt>
                <c:pt idx="6">
                  <c:v>26.460909999999991</c:v>
                </c:pt>
                <c:pt idx="7">
                  <c:v>15.92151</c:v>
                </c:pt>
                <c:pt idx="8">
                  <c:v>0.57188960000000011</c:v>
                </c:pt>
                <c:pt idx="9">
                  <c:v>6.0765180000000001</c:v>
                </c:pt>
                <c:pt idx="10">
                  <c:v>131.03800000000001</c:v>
                </c:pt>
                <c:pt idx="11">
                  <c:v>2.0818259999999998E-2</c:v>
                </c:pt>
                <c:pt idx="12">
                  <c:v>2.3175840000000001</c:v>
                </c:pt>
                <c:pt idx="13">
                  <c:v>43.501520000000006</c:v>
                </c:pt>
                <c:pt idx="14">
                  <c:v>27.812259999999995</c:v>
                </c:pt>
                <c:pt idx="15">
                  <c:v>8.9710770000000011</c:v>
                </c:pt>
                <c:pt idx="16">
                  <c:v>7.5658009999999996</c:v>
                </c:pt>
                <c:pt idx="17">
                  <c:v>2.7386330000000007E-2</c:v>
                </c:pt>
                <c:pt idx="18">
                  <c:v>7.1426420000000004</c:v>
                </c:pt>
              </c:numCache>
            </c:numRef>
          </c:val>
        </c:ser>
        <c:ser>
          <c:idx val="1"/>
          <c:order val="1"/>
          <c:tx>
            <c:strRef>
              <c:f>Sheet1!$I$3</c:f>
              <c:strCache>
                <c:ptCount val="1"/>
                <c:pt idx="0">
                  <c:v>1997</c:v>
                </c:pt>
              </c:strCache>
            </c:strRef>
          </c:tx>
          <c:cat>
            <c:strRef>
              <c:f>Sheet1!$G$4:$G$22</c:f>
              <c:strCache>
                <c:ptCount val="19"/>
                <c:pt idx="0">
                  <c:v>DC Potomac</c:v>
                </c:pt>
                <c:pt idx="1">
                  <c:v>DE Eastern Shore</c:v>
                </c:pt>
                <c:pt idx="2">
                  <c:v>MD Eastern Shore</c:v>
                </c:pt>
                <c:pt idx="3">
                  <c:v>MD Patuxent</c:v>
                </c:pt>
                <c:pt idx="4">
                  <c:v>MD Potomac</c:v>
                </c:pt>
                <c:pt idx="5">
                  <c:v>MD Susquehanna</c:v>
                </c:pt>
                <c:pt idx="6">
                  <c:v>MD Western Shore</c:v>
                </c:pt>
                <c:pt idx="7">
                  <c:v>NY Susquehanna</c:v>
                </c:pt>
                <c:pt idx="8">
                  <c:v>PA Eastern Shore</c:v>
                </c:pt>
                <c:pt idx="9">
                  <c:v>PA Potomac</c:v>
                </c:pt>
                <c:pt idx="10">
                  <c:v>PA Susquehanna</c:v>
                </c:pt>
                <c:pt idx="11">
                  <c:v>PA Western Shore</c:v>
                </c:pt>
                <c:pt idx="12">
                  <c:v>VA Eastern Shore</c:v>
                </c:pt>
                <c:pt idx="13">
                  <c:v>VA James</c:v>
                </c:pt>
                <c:pt idx="14">
                  <c:v>VA Potomac</c:v>
                </c:pt>
                <c:pt idx="15">
                  <c:v>VA Rappahannock</c:v>
                </c:pt>
                <c:pt idx="16">
                  <c:v>VA York</c:v>
                </c:pt>
                <c:pt idx="17">
                  <c:v>WV James</c:v>
                </c:pt>
                <c:pt idx="18">
                  <c:v>WV Potomac</c:v>
                </c:pt>
              </c:strCache>
            </c:strRef>
          </c:cat>
          <c:val>
            <c:numRef>
              <c:f>Sheet1!$I$4:$I$22</c:f>
              <c:numCache>
                <c:formatCode>General</c:formatCode>
                <c:ptCount val="19"/>
                <c:pt idx="0">
                  <c:v>4.5243139999999986</c:v>
                </c:pt>
                <c:pt idx="1">
                  <c:v>5.481256000000001</c:v>
                </c:pt>
                <c:pt idx="2">
                  <c:v>19.610350000000004</c:v>
                </c:pt>
                <c:pt idx="3">
                  <c:v>3.9201999999999999</c:v>
                </c:pt>
                <c:pt idx="4">
                  <c:v>23.685379999999995</c:v>
                </c:pt>
                <c:pt idx="5">
                  <c:v>2.1896239999999998</c:v>
                </c:pt>
                <c:pt idx="6">
                  <c:v>16.41892</c:v>
                </c:pt>
                <c:pt idx="7">
                  <c:v>13.909560000000003</c:v>
                </c:pt>
                <c:pt idx="8">
                  <c:v>0.57796990000000004</c:v>
                </c:pt>
                <c:pt idx="9">
                  <c:v>6.1458809999999993</c:v>
                </c:pt>
                <c:pt idx="10">
                  <c:v>123.41170000000001</c:v>
                </c:pt>
                <c:pt idx="11">
                  <c:v>2.0580840000000003E-2</c:v>
                </c:pt>
                <c:pt idx="12">
                  <c:v>2.3817559999999998</c:v>
                </c:pt>
                <c:pt idx="13">
                  <c:v>36.07846</c:v>
                </c:pt>
                <c:pt idx="14">
                  <c:v>25.910229999999995</c:v>
                </c:pt>
                <c:pt idx="15">
                  <c:v>8.4333340000000003</c:v>
                </c:pt>
                <c:pt idx="16">
                  <c:v>7.6759049999999993</c:v>
                </c:pt>
                <c:pt idx="17">
                  <c:v>2.5323990000000005E-2</c:v>
                </c:pt>
                <c:pt idx="18">
                  <c:v>6.5646490000000002</c:v>
                </c:pt>
              </c:numCache>
            </c:numRef>
          </c:val>
        </c:ser>
        <c:ser>
          <c:idx val="2"/>
          <c:order val="2"/>
          <c:tx>
            <c:strRef>
              <c:f>Sheet1!$J$3</c:f>
              <c:strCache>
                <c:ptCount val="1"/>
                <c:pt idx="0">
                  <c:v>2010</c:v>
                </c:pt>
              </c:strCache>
            </c:strRef>
          </c:tx>
          <c:cat>
            <c:strRef>
              <c:f>Sheet1!$G$4:$G$22</c:f>
              <c:strCache>
                <c:ptCount val="19"/>
                <c:pt idx="0">
                  <c:v>DC Potomac</c:v>
                </c:pt>
                <c:pt idx="1">
                  <c:v>DE Eastern Shore</c:v>
                </c:pt>
                <c:pt idx="2">
                  <c:v>MD Eastern Shore</c:v>
                </c:pt>
                <c:pt idx="3">
                  <c:v>MD Patuxent</c:v>
                </c:pt>
                <c:pt idx="4">
                  <c:v>MD Potomac</c:v>
                </c:pt>
                <c:pt idx="5">
                  <c:v>MD Susquehanna</c:v>
                </c:pt>
                <c:pt idx="6">
                  <c:v>MD Western Shore</c:v>
                </c:pt>
                <c:pt idx="7">
                  <c:v>NY Susquehanna</c:v>
                </c:pt>
                <c:pt idx="8">
                  <c:v>PA Eastern Shore</c:v>
                </c:pt>
                <c:pt idx="9">
                  <c:v>PA Potomac</c:v>
                </c:pt>
                <c:pt idx="10">
                  <c:v>PA Susquehanna</c:v>
                </c:pt>
                <c:pt idx="11">
                  <c:v>PA Western Shore</c:v>
                </c:pt>
                <c:pt idx="12">
                  <c:v>VA Eastern Shore</c:v>
                </c:pt>
                <c:pt idx="13">
                  <c:v>VA James</c:v>
                </c:pt>
                <c:pt idx="14">
                  <c:v>VA Potomac</c:v>
                </c:pt>
                <c:pt idx="15">
                  <c:v>VA Rappahannock</c:v>
                </c:pt>
                <c:pt idx="16">
                  <c:v>VA York</c:v>
                </c:pt>
                <c:pt idx="17">
                  <c:v>WV James</c:v>
                </c:pt>
                <c:pt idx="18">
                  <c:v>WV Potomac</c:v>
                </c:pt>
              </c:strCache>
            </c:strRef>
          </c:cat>
          <c:val>
            <c:numRef>
              <c:f>Sheet1!$J$4:$J$22</c:f>
              <c:numCache>
                <c:formatCode>General</c:formatCode>
                <c:ptCount val="19"/>
                <c:pt idx="0">
                  <c:v>2.5101930000000001</c:v>
                </c:pt>
                <c:pt idx="1">
                  <c:v>4.3015739999999996</c:v>
                </c:pt>
                <c:pt idx="2">
                  <c:v>15.977320000000001</c:v>
                </c:pt>
                <c:pt idx="3">
                  <c:v>3.3745859999999994</c:v>
                </c:pt>
                <c:pt idx="4">
                  <c:v>17.809840000000001</c:v>
                </c:pt>
                <c:pt idx="5">
                  <c:v>1.715195</c:v>
                </c:pt>
                <c:pt idx="6">
                  <c:v>14.111379999999999</c:v>
                </c:pt>
                <c:pt idx="7">
                  <c:v>10.811020000000001</c:v>
                </c:pt>
                <c:pt idx="8">
                  <c:v>0.51535229999999987</c:v>
                </c:pt>
                <c:pt idx="9">
                  <c:v>5.2666959999999996</c:v>
                </c:pt>
                <c:pt idx="10">
                  <c:v>107.94360000000002</c:v>
                </c:pt>
                <c:pt idx="11">
                  <c:v>1.937111E-2</c:v>
                </c:pt>
                <c:pt idx="12">
                  <c:v>2.3164539999999989</c:v>
                </c:pt>
                <c:pt idx="13">
                  <c:v>33.60483</c:v>
                </c:pt>
                <c:pt idx="14">
                  <c:v>19.422779999999992</c:v>
                </c:pt>
                <c:pt idx="15">
                  <c:v>7.429435999999999</c:v>
                </c:pt>
                <c:pt idx="16">
                  <c:v>6.8292039999999998</c:v>
                </c:pt>
                <c:pt idx="17">
                  <c:v>2.2308709999999999E-2</c:v>
                </c:pt>
                <c:pt idx="18">
                  <c:v>5.6137579999999989</c:v>
                </c:pt>
              </c:numCache>
            </c:numRef>
          </c:val>
        </c:ser>
        <c:ser>
          <c:idx val="3"/>
          <c:order val="3"/>
          <c:tx>
            <c:strRef>
              <c:f>Sheet1!$K$3</c:f>
              <c:strCache>
                <c:ptCount val="1"/>
                <c:pt idx="0">
                  <c:v>2017</c:v>
                </c:pt>
              </c:strCache>
            </c:strRef>
          </c:tx>
          <c:cat>
            <c:strRef>
              <c:f>Sheet1!$G$4:$G$22</c:f>
              <c:strCache>
                <c:ptCount val="19"/>
                <c:pt idx="0">
                  <c:v>DC Potomac</c:v>
                </c:pt>
                <c:pt idx="1">
                  <c:v>DE Eastern Shore</c:v>
                </c:pt>
                <c:pt idx="2">
                  <c:v>MD Eastern Shore</c:v>
                </c:pt>
                <c:pt idx="3">
                  <c:v>MD Patuxent</c:v>
                </c:pt>
                <c:pt idx="4">
                  <c:v>MD Potomac</c:v>
                </c:pt>
                <c:pt idx="5">
                  <c:v>MD Susquehanna</c:v>
                </c:pt>
                <c:pt idx="6">
                  <c:v>MD Western Shore</c:v>
                </c:pt>
                <c:pt idx="7">
                  <c:v>NY Susquehanna</c:v>
                </c:pt>
                <c:pt idx="8">
                  <c:v>PA Eastern Shore</c:v>
                </c:pt>
                <c:pt idx="9">
                  <c:v>PA Potomac</c:v>
                </c:pt>
                <c:pt idx="10">
                  <c:v>PA Susquehanna</c:v>
                </c:pt>
                <c:pt idx="11">
                  <c:v>PA Western Shore</c:v>
                </c:pt>
                <c:pt idx="12">
                  <c:v>VA Eastern Shore</c:v>
                </c:pt>
                <c:pt idx="13">
                  <c:v>VA James</c:v>
                </c:pt>
                <c:pt idx="14">
                  <c:v>VA Potomac</c:v>
                </c:pt>
                <c:pt idx="15">
                  <c:v>VA Rappahannock</c:v>
                </c:pt>
                <c:pt idx="16">
                  <c:v>VA York</c:v>
                </c:pt>
                <c:pt idx="17">
                  <c:v>WV James</c:v>
                </c:pt>
                <c:pt idx="18">
                  <c:v>WV Potomac</c:v>
                </c:pt>
              </c:strCache>
            </c:strRef>
          </c:cat>
          <c:val>
            <c:numRef>
              <c:f>Sheet1!$K$4:$K$22</c:f>
              <c:numCache>
                <c:formatCode>General</c:formatCode>
                <c:ptCount val="19"/>
                <c:pt idx="0">
                  <c:v>2.4279636</c:v>
                </c:pt>
                <c:pt idx="1">
                  <c:v>3.7552589999999997</c:v>
                </c:pt>
                <c:pt idx="2">
                  <c:v>13.481944</c:v>
                </c:pt>
                <c:pt idx="3">
                  <c:v>3.2119613999999999</c:v>
                </c:pt>
                <c:pt idx="4">
                  <c:v>16.299298</c:v>
                </c:pt>
                <c:pt idx="5">
                  <c:v>1.3980878000000001</c:v>
                </c:pt>
                <c:pt idx="6">
                  <c:v>11.504464</c:v>
                </c:pt>
                <c:pt idx="7">
                  <c:v>9.334389496</c:v>
                </c:pt>
                <c:pt idx="8">
                  <c:v>0.39598470000000013</c:v>
                </c:pt>
                <c:pt idx="9">
                  <c:v>4.4141613999999985</c:v>
                </c:pt>
                <c:pt idx="10">
                  <c:v>87.957276000000007</c:v>
                </c:pt>
                <c:pt idx="11">
                  <c:v>2.9526008000000006E-2</c:v>
                </c:pt>
                <c:pt idx="12">
                  <c:v>1.7754867999999999</c:v>
                </c:pt>
                <c:pt idx="13">
                  <c:v>27.369408</c:v>
                </c:pt>
                <c:pt idx="14">
                  <c:v>17.612231999999999</c:v>
                </c:pt>
                <c:pt idx="15">
                  <c:v>6.5207984000000003</c:v>
                </c:pt>
                <c:pt idx="16">
                  <c:v>6.0386302000000001</c:v>
                </c:pt>
                <c:pt idx="17">
                  <c:v>1.9435586000000001E-2</c:v>
                </c:pt>
                <c:pt idx="18">
                  <c:v>5.2342616000000008</c:v>
                </c:pt>
              </c:numCache>
            </c:numRef>
          </c:val>
        </c:ser>
        <c:ser>
          <c:idx val="4"/>
          <c:order val="4"/>
          <c:tx>
            <c:strRef>
              <c:f>Sheet1!$L$3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Sheet1!$G$4:$G$22</c:f>
              <c:strCache>
                <c:ptCount val="19"/>
                <c:pt idx="0">
                  <c:v>DC Potomac</c:v>
                </c:pt>
                <c:pt idx="1">
                  <c:v>DE Eastern Shore</c:v>
                </c:pt>
                <c:pt idx="2">
                  <c:v>MD Eastern Shore</c:v>
                </c:pt>
                <c:pt idx="3">
                  <c:v>MD Patuxent</c:v>
                </c:pt>
                <c:pt idx="4">
                  <c:v>MD Potomac</c:v>
                </c:pt>
                <c:pt idx="5">
                  <c:v>MD Susquehanna</c:v>
                </c:pt>
                <c:pt idx="6">
                  <c:v>MD Western Shore</c:v>
                </c:pt>
                <c:pt idx="7">
                  <c:v>NY Susquehanna</c:v>
                </c:pt>
                <c:pt idx="8">
                  <c:v>PA Eastern Shore</c:v>
                </c:pt>
                <c:pt idx="9">
                  <c:v>PA Potomac</c:v>
                </c:pt>
                <c:pt idx="10">
                  <c:v>PA Susquehanna</c:v>
                </c:pt>
                <c:pt idx="11">
                  <c:v>PA Western Shore</c:v>
                </c:pt>
                <c:pt idx="12">
                  <c:v>VA Eastern Shore</c:v>
                </c:pt>
                <c:pt idx="13">
                  <c:v>VA James</c:v>
                </c:pt>
                <c:pt idx="14">
                  <c:v>VA Potomac</c:v>
                </c:pt>
                <c:pt idx="15">
                  <c:v>VA Rappahannock</c:v>
                </c:pt>
                <c:pt idx="16">
                  <c:v>VA York</c:v>
                </c:pt>
                <c:pt idx="17">
                  <c:v>WV James</c:v>
                </c:pt>
                <c:pt idx="18">
                  <c:v>WV Potomac</c:v>
                </c:pt>
              </c:strCache>
            </c:strRef>
          </c:cat>
          <c:val>
            <c:numRef>
              <c:f>Sheet1!$L$4:$L$22</c:f>
              <c:numCache>
                <c:formatCode>0.00</c:formatCode>
                <c:ptCount val="19"/>
                <c:pt idx="0">
                  <c:v>2.3731439999999995</c:v>
                </c:pt>
                <c:pt idx="1">
                  <c:v>3.3910489999999993</c:v>
                </c:pt>
                <c:pt idx="2">
                  <c:v>11.818359999999998</c:v>
                </c:pt>
                <c:pt idx="3">
                  <c:v>3.103545</c:v>
                </c:pt>
                <c:pt idx="4">
                  <c:v>15.292269999999998</c:v>
                </c:pt>
                <c:pt idx="5">
                  <c:v>1.1866830000000002</c:v>
                </c:pt>
                <c:pt idx="6">
                  <c:v>9.7665200000000034</c:v>
                </c:pt>
                <c:pt idx="7">
                  <c:v>8.3499691599999988</c:v>
                </c:pt>
                <c:pt idx="8">
                  <c:v>0.31640630000000008</c:v>
                </c:pt>
                <c:pt idx="9">
                  <c:v>3.8458049999999995</c:v>
                </c:pt>
                <c:pt idx="10">
                  <c:v>74.63306</c:v>
                </c:pt>
                <c:pt idx="11">
                  <c:v>3.6295940000000013E-2</c:v>
                </c:pt>
                <c:pt idx="12">
                  <c:v>1.4148419999999997</c:v>
                </c:pt>
                <c:pt idx="13">
                  <c:v>23.21246</c:v>
                </c:pt>
                <c:pt idx="14">
                  <c:v>16.405199999999997</c:v>
                </c:pt>
                <c:pt idx="15">
                  <c:v>5.9150400000000003</c:v>
                </c:pt>
                <c:pt idx="16">
                  <c:v>5.5115809999999987</c:v>
                </c:pt>
                <c:pt idx="17">
                  <c:v>1.7520170000000005E-2</c:v>
                </c:pt>
                <c:pt idx="18">
                  <c:v>4.9812640000000012</c:v>
                </c:pt>
              </c:numCache>
            </c:numRef>
          </c:val>
        </c:ser>
        <c:axId val="72447488"/>
        <c:axId val="72449024"/>
      </c:barChart>
      <c:catAx>
        <c:axId val="72447488"/>
        <c:scaling>
          <c:orientation val="minMax"/>
        </c:scaling>
        <c:axPos val="b"/>
        <c:majorTickMark val="none"/>
        <c:tickLblPos val="nextTo"/>
        <c:crossAx val="72449024"/>
        <c:crosses val="autoZero"/>
        <c:auto val="1"/>
        <c:lblAlgn val="ctr"/>
        <c:lblOffset val="100"/>
      </c:catAx>
      <c:valAx>
        <c:axId val="7244902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crossAx val="72447488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P5.3.2 WSM and Fake WRTDS at Chain Bridge</a:t>
            </a:r>
          </a:p>
        </c:rich>
      </c:tx>
      <c:layout>
        <c:manualLayout>
          <c:xMode val="edge"/>
          <c:yMode val="edge"/>
          <c:x val="0.22895770836276413"/>
          <c:y val="1.6148738785090329E-2"/>
        </c:manualLayout>
      </c:layout>
    </c:title>
    <c:plotArea>
      <c:layout>
        <c:manualLayout>
          <c:layoutTarget val="inner"/>
          <c:xMode val="edge"/>
          <c:yMode val="edge"/>
          <c:x val="9.6877478530558628E-2"/>
          <c:y val="9.5277558832032969E-2"/>
          <c:w val="0.84941683263299683"/>
          <c:h val="0.77408582005632065"/>
        </c:manualLayout>
      </c:layout>
      <c:scatterChart>
        <c:scatterStyle val="lineMarker"/>
        <c:ser>
          <c:idx val="0"/>
          <c:order val="0"/>
          <c:tx>
            <c:strRef>
              <c:f>P_AFL!$B$12</c:f>
              <c:strCache>
                <c:ptCount val="1"/>
                <c:pt idx="0">
                  <c:v>TN Fake WRTDS</c:v>
                </c:pt>
              </c:strCache>
            </c:strRef>
          </c:tx>
          <c:spPr>
            <a:ln w="28575">
              <a:solidFill>
                <a:schemeClr val="tx2"/>
              </a:solidFill>
            </a:ln>
          </c:spPr>
          <c:marker>
            <c:symbol val="none"/>
          </c:marker>
          <c:xVal>
            <c:numRef>
              <c:f>P_AFL!$A$13:$A$44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P_AFL!$B$13:$B$44</c:f>
              <c:numCache>
                <c:formatCode>General</c:formatCode>
                <c:ptCount val="32"/>
                <c:pt idx="0">
                  <c:v>71.959999789935409</c:v>
                </c:pt>
                <c:pt idx="1">
                  <c:v>73.911402856156741</c:v>
                </c:pt>
                <c:pt idx="2">
                  <c:v>75.754122593571779</c:v>
                </c:pt>
                <c:pt idx="3">
                  <c:v>75.450126276721747</c:v>
                </c:pt>
                <c:pt idx="4">
                  <c:v>75.295701558866796</c:v>
                </c:pt>
                <c:pt idx="5">
                  <c:v>74.843210615730982</c:v>
                </c:pt>
                <c:pt idx="6">
                  <c:v>73.280685842069715</c:v>
                </c:pt>
                <c:pt idx="7">
                  <c:v>72.404349521929447</c:v>
                </c:pt>
                <c:pt idx="8">
                  <c:v>71.196905320307664</c:v>
                </c:pt>
                <c:pt idx="9">
                  <c:v>70.41101458674774</c:v>
                </c:pt>
                <c:pt idx="10">
                  <c:v>69.712752247951656</c:v>
                </c:pt>
                <c:pt idx="11">
                  <c:v>69.078804665344762</c:v>
                </c:pt>
                <c:pt idx="12">
                  <c:v>67.767830852759573</c:v>
                </c:pt>
                <c:pt idx="13">
                  <c:v>66.182255571102672</c:v>
                </c:pt>
                <c:pt idx="14">
                  <c:v>66.768164737537816</c:v>
                </c:pt>
                <c:pt idx="15">
                  <c:v>66.950899992557282</c:v>
                </c:pt>
                <c:pt idx="16">
                  <c:v>66.375403537852947</c:v>
                </c:pt>
                <c:pt idx="17">
                  <c:v>65.956565784386484</c:v>
                </c:pt>
                <c:pt idx="18">
                  <c:v>66.342455499235228</c:v>
                </c:pt>
                <c:pt idx="19">
                  <c:v>66.22414736520993</c:v>
                </c:pt>
                <c:pt idx="20">
                  <c:v>66.019434707506306</c:v>
                </c:pt>
                <c:pt idx="21">
                  <c:v>64.696711678508152</c:v>
                </c:pt>
                <c:pt idx="22">
                  <c:v>65.012126472357323</c:v>
                </c:pt>
                <c:pt idx="23">
                  <c:v>65.772780083207806</c:v>
                </c:pt>
                <c:pt idx="24">
                  <c:v>65.070115205956839</c:v>
                </c:pt>
                <c:pt idx="25">
                  <c:v>64.758010178532658</c:v>
                </c:pt>
                <c:pt idx="26">
                  <c:v>64.438677652749348</c:v>
                </c:pt>
                <c:pt idx="27">
                  <c:v>64.113534760070266</c:v>
                </c:pt>
                <c:pt idx="28">
                  <c:v>64.215159964587372</c:v>
                </c:pt>
                <c:pt idx="29">
                  <c:v>64.449063748310991</c:v>
                </c:pt>
              </c:numCache>
            </c:numRef>
          </c:yVal>
        </c:ser>
        <c:ser>
          <c:idx val="1"/>
          <c:order val="1"/>
          <c:tx>
            <c:strRef>
              <c:f>P_AFL!$C$12</c:f>
              <c:strCache>
                <c:ptCount val="1"/>
                <c:pt idx="0">
                  <c:v>TN WSM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chemeClr val="tx2"/>
              </a:solidFill>
              <a:ln>
                <a:solidFill>
                  <a:schemeClr val="tx2"/>
                </a:solidFill>
              </a:ln>
            </c:spPr>
          </c:marker>
          <c:xVal>
            <c:numRef>
              <c:f>P_AFL!$A$13:$A$44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P_AFL!$C$13:$C$44</c:f>
              <c:numCache>
                <c:formatCode>General</c:formatCode>
                <c:ptCount val="32"/>
                <c:pt idx="4">
                  <c:v>44.04645</c:v>
                </c:pt>
                <c:pt idx="6">
                  <c:v>43.178950000000007</c:v>
                </c:pt>
                <c:pt idx="11">
                  <c:v>41.646710000000006</c:v>
                </c:pt>
                <c:pt idx="16">
                  <c:v>41.152879999999996</c:v>
                </c:pt>
                <c:pt idx="24">
                  <c:v>38.44941</c:v>
                </c:pt>
                <c:pt idx="29">
                  <c:v>35.711970000000001</c:v>
                </c:pt>
                <c:pt idx="30">
                  <c:v>31.857822000000002</c:v>
                </c:pt>
                <c:pt idx="31">
                  <c:v>29.288389999999996</c:v>
                </c:pt>
              </c:numCache>
            </c:numRef>
          </c:yVal>
        </c:ser>
        <c:axId val="73667328"/>
        <c:axId val="73669632"/>
      </c:scatterChart>
      <c:valAx>
        <c:axId val="73667328"/>
        <c:scaling>
          <c:orientation val="minMax"/>
        </c:scaling>
        <c:axPos val="b"/>
        <c:title>
          <c:layout/>
        </c:title>
        <c:numFmt formatCode="General" sourceLinked="1"/>
        <c:majorTickMark val="none"/>
        <c:tickLblPos val="nextTo"/>
        <c:crossAx val="73669632"/>
        <c:crosses val="autoZero"/>
        <c:crossBetween val="midCat"/>
      </c:valAx>
      <c:valAx>
        <c:axId val="73669632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Million lbs TN 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7366732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0615419947506552"/>
          <c:y val="0.18356936632920887"/>
          <c:w val="0.19409681538542514"/>
          <c:h val="0.10228064378155155"/>
        </c:manualLayout>
      </c:layout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P5.3.2 WSM and Fake WRTDS at Chain Bridge</a:t>
            </a:r>
          </a:p>
        </c:rich>
      </c:tx>
      <c:layout>
        <c:manualLayout>
          <c:xMode val="edge"/>
          <c:yMode val="edge"/>
          <c:x val="0.22895770836276419"/>
          <c:y val="1.6148738785090329E-2"/>
        </c:manualLayout>
      </c:layout>
    </c:title>
    <c:plotArea>
      <c:layout>
        <c:manualLayout>
          <c:layoutTarget val="inner"/>
          <c:xMode val="edge"/>
          <c:yMode val="edge"/>
          <c:x val="9.6877478530558628E-2"/>
          <c:y val="9.527755883203301E-2"/>
          <c:w val="0.84941683263299683"/>
          <c:h val="0.77408582005632065"/>
        </c:manualLayout>
      </c:layout>
      <c:scatterChart>
        <c:scatterStyle val="lineMarker"/>
        <c:ser>
          <c:idx val="0"/>
          <c:order val="0"/>
          <c:tx>
            <c:strRef>
              <c:f>P_AFL!$B$12</c:f>
              <c:strCache>
                <c:ptCount val="1"/>
                <c:pt idx="0">
                  <c:v>TN Fake WRTDS</c:v>
                </c:pt>
              </c:strCache>
            </c:strRef>
          </c:tx>
          <c:spPr>
            <a:ln w="28575">
              <a:solidFill>
                <a:schemeClr val="tx2"/>
              </a:solidFill>
            </a:ln>
          </c:spPr>
          <c:marker>
            <c:symbol val="none"/>
          </c:marker>
          <c:xVal>
            <c:numRef>
              <c:f>P_AFL!$A$13:$A$44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P_AFL!$B$13:$B$44</c:f>
              <c:numCache>
                <c:formatCode>General</c:formatCode>
                <c:ptCount val="32"/>
                <c:pt idx="0">
                  <c:v>71.959999789935409</c:v>
                </c:pt>
                <c:pt idx="1">
                  <c:v>73.911402856156741</c:v>
                </c:pt>
                <c:pt idx="2">
                  <c:v>75.754122593571779</c:v>
                </c:pt>
                <c:pt idx="3">
                  <c:v>75.450126276721747</c:v>
                </c:pt>
                <c:pt idx="4">
                  <c:v>75.295701558866796</c:v>
                </c:pt>
                <c:pt idx="5">
                  <c:v>74.843210615730982</c:v>
                </c:pt>
                <c:pt idx="6">
                  <c:v>73.280685842069715</c:v>
                </c:pt>
                <c:pt idx="7">
                  <c:v>72.404349521929447</c:v>
                </c:pt>
                <c:pt idx="8">
                  <c:v>71.196905320307664</c:v>
                </c:pt>
                <c:pt idx="9">
                  <c:v>70.41101458674774</c:v>
                </c:pt>
                <c:pt idx="10">
                  <c:v>69.712752247951656</c:v>
                </c:pt>
                <c:pt idx="11">
                  <c:v>69.078804665344762</c:v>
                </c:pt>
                <c:pt idx="12">
                  <c:v>67.767830852759573</c:v>
                </c:pt>
                <c:pt idx="13">
                  <c:v>66.182255571102672</c:v>
                </c:pt>
                <c:pt idx="14">
                  <c:v>66.768164737537816</c:v>
                </c:pt>
                <c:pt idx="15">
                  <c:v>66.950899992557282</c:v>
                </c:pt>
                <c:pt idx="16">
                  <c:v>66.375403537852947</c:v>
                </c:pt>
                <c:pt idx="17">
                  <c:v>65.956565784386484</c:v>
                </c:pt>
                <c:pt idx="18">
                  <c:v>66.342455499235228</c:v>
                </c:pt>
                <c:pt idx="19">
                  <c:v>66.22414736520993</c:v>
                </c:pt>
                <c:pt idx="20">
                  <c:v>66.019434707506306</c:v>
                </c:pt>
                <c:pt idx="21">
                  <c:v>64.696711678508152</c:v>
                </c:pt>
                <c:pt idx="22">
                  <c:v>65.012126472357323</c:v>
                </c:pt>
                <c:pt idx="23">
                  <c:v>65.772780083207806</c:v>
                </c:pt>
                <c:pt idx="24">
                  <c:v>65.070115205956839</c:v>
                </c:pt>
                <c:pt idx="25">
                  <c:v>64.758010178532658</c:v>
                </c:pt>
                <c:pt idx="26">
                  <c:v>64.438677652749348</c:v>
                </c:pt>
                <c:pt idx="27">
                  <c:v>64.113534760070266</c:v>
                </c:pt>
                <c:pt idx="28">
                  <c:v>64.215159964587372</c:v>
                </c:pt>
                <c:pt idx="29">
                  <c:v>64.449063748310991</c:v>
                </c:pt>
              </c:numCache>
            </c:numRef>
          </c:yVal>
        </c:ser>
        <c:ser>
          <c:idx val="1"/>
          <c:order val="1"/>
          <c:tx>
            <c:strRef>
              <c:f>P_AFL!$C$12</c:f>
              <c:strCache>
                <c:ptCount val="1"/>
                <c:pt idx="0">
                  <c:v>TN WSM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chemeClr val="tx2"/>
              </a:solidFill>
              <a:ln>
                <a:solidFill>
                  <a:schemeClr val="tx2"/>
                </a:solidFill>
              </a:ln>
            </c:spPr>
          </c:marker>
          <c:xVal>
            <c:numRef>
              <c:f>P_AFL!$A$13:$A$44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P_AFL!$C$13:$C$44</c:f>
              <c:numCache>
                <c:formatCode>General</c:formatCode>
                <c:ptCount val="32"/>
                <c:pt idx="4">
                  <c:v>44.04645</c:v>
                </c:pt>
                <c:pt idx="6">
                  <c:v>43.178950000000007</c:v>
                </c:pt>
                <c:pt idx="11">
                  <c:v>41.646710000000006</c:v>
                </c:pt>
                <c:pt idx="16">
                  <c:v>41.152879999999996</c:v>
                </c:pt>
                <c:pt idx="24">
                  <c:v>38.44941</c:v>
                </c:pt>
                <c:pt idx="29">
                  <c:v>35.711970000000001</c:v>
                </c:pt>
                <c:pt idx="30">
                  <c:v>31.857822000000002</c:v>
                </c:pt>
                <c:pt idx="31">
                  <c:v>29.288389999999996</c:v>
                </c:pt>
              </c:numCache>
            </c:numRef>
          </c:yVal>
        </c:ser>
        <c:axId val="73707520"/>
        <c:axId val="73709824"/>
      </c:scatterChart>
      <c:valAx>
        <c:axId val="73707520"/>
        <c:scaling>
          <c:orientation val="minMax"/>
        </c:scaling>
        <c:axPos val="b"/>
        <c:title>
          <c:layout/>
        </c:title>
        <c:numFmt formatCode="General" sourceLinked="1"/>
        <c:majorTickMark val="none"/>
        <c:tickLblPos val="nextTo"/>
        <c:crossAx val="73709824"/>
        <c:crosses val="autoZero"/>
        <c:crossBetween val="midCat"/>
      </c:valAx>
      <c:valAx>
        <c:axId val="7370982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Million lbs </a:t>
                </a:r>
                <a:r>
                  <a:rPr lang="en-US" dirty="0" smtClean="0"/>
                  <a:t>TN</a:t>
                </a:r>
                <a:endParaRPr lang="en-US" dirty="0"/>
              </a:p>
            </c:rich>
          </c:tx>
          <c:layout/>
        </c:title>
        <c:numFmt formatCode="General" sourceLinked="1"/>
        <c:majorTickMark val="none"/>
        <c:tickLblPos val="nextTo"/>
        <c:crossAx val="7370752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0615419947506552"/>
          <c:y val="0.18356936632920895"/>
          <c:w val="0.19409681538542523"/>
          <c:h val="0.10228064378155162"/>
        </c:manualLayout>
      </c:layout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Express as a Percent of 1985</a:t>
            </a:r>
          </a:p>
        </c:rich>
      </c:tx>
      <c:layout/>
    </c:title>
    <c:plotArea>
      <c:layout>
        <c:manualLayout>
          <c:layoutTarget val="inner"/>
          <c:xMode val="edge"/>
          <c:yMode val="edge"/>
          <c:x val="0.1383915669714538"/>
          <c:y val="0.10365980329373865"/>
          <c:w val="0.82460151922670333"/>
          <c:h val="0.75326904673009532"/>
        </c:manualLayout>
      </c:layout>
      <c:scatterChart>
        <c:scatterStyle val="lineMarker"/>
        <c:ser>
          <c:idx val="0"/>
          <c:order val="0"/>
          <c:tx>
            <c:strRef>
              <c:f>'Percent of year'!$F$1</c:f>
              <c:strCache>
                <c:ptCount val="1"/>
                <c:pt idx="0">
                  <c:v>TN Fake WRTDS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year'!$E$2:$E$33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year'!$F$2:$F$33</c:f>
              <c:numCache>
                <c:formatCode>0%</c:formatCode>
                <c:ptCount val="32"/>
                <c:pt idx="0">
                  <c:v>0.95569864281929118</c:v>
                </c:pt>
                <c:pt idx="1">
                  <c:v>0.98161516960396722</c:v>
                </c:pt>
                <c:pt idx="2">
                  <c:v>1.0060882762921941</c:v>
                </c:pt>
                <c:pt idx="3">
                  <c:v>1.0020509101403914</c:v>
                </c:pt>
                <c:pt idx="4">
                  <c:v>1</c:v>
                </c:pt>
                <c:pt idx="5">
                  <c:v>0.99399048107969257</c:v>
                </c:pt>
                <c:pt idx="6">
                  <c:v>0.9732386354721495</c:v>
                </c:pt>
                <c:pt idx="7">
                  <c:v>0.96160003855363685</c:v>
                </c:pt>
                <c:pt idx="8">
                  <c:v>0.94556400759006554</c:v>
                </c:pt>
                <c:pt idx="9">
                  <c:v>0.9351266158493764</c:v>
                </c:pt>
                <c:pt idx="10">
                  <c:v>0.92585301424477284</c:v>
                </c:pt>
                <c:pt idx="11">
                  <c:v>0.91743357502736522</c:v>
                </c:pt>
                <c:pt idx="12">
                  <c:v>0.90002257034258659</c:v>
                </c:pt>
                <c:pt idx="13">
                  <c:v>0.87896459161564267</c:v>
                </c:pt>
                <c:pt idx="14">
                  <c:v>0.88674603403937891</c:v>
                </c:pt>
                <c:pt idx="15">
                  <c:v>0.8891729355920075</c:v>
                </c:pt>
                <c:pt idx="16">
                  <c:v>0.88152978408681293</c:v>
                </c:pt>
                <c:pt idx="17">
                  <c:v>0.8759672121896771</c:v>
                </c:pt>
                <c:pt idx="18">
                  <c:v>0.8810922021540385</c:v>
                </c:pt>
                <c:pt idx="19">
                  <c:v>0.87952095530228025</c:v>
                </c:pt>
                <c:pt idx="20">
                  <c:v>0.87680217251036263</c:v>
                </c:pt>
                <c:pt idx="21">
                  <c:v>0.85923512682762793</c:v>
                </c:pt>
                <c:pt idx="22">
                  <c:v>0.86342414143694879</c:v>
                </c:pt>
                <c:pt idx="23">
                  <c:v>0.8735263596924735</c:v>
                </c:pt>
                <c:pt idx="24">
                  <c:v>0.86419428810400933</c:v>
                </c:pt>
                <c:pt idx="25">
                  <c:v>0.86004923040532844</c:v>
                </c:pt>
                <c:pt idx="26">
                  <c:v>0.8558081845133042</c:v>
                </c:pt>
                <c:pt idx="27">
                  <c:v>0.85148997130926218</c:v>
                </c:pt>
                <c:pt idx="28">
                  <c:v>0.85283965266441453</c:v>
                </c:pt>
                <c:pt idx="29">
                  <c:v>0.85594612194328445</c:v>
                </c:pt>
              </c:numCache>
            </c:numRef>
          </c:yVal>
        </c:ser>
        <c:ser>
          <c:idx val="1"/>
          <c:order val="1"/>
          <c:tx>
            <c:strRef>
              <c:f>'Percent of year'!$G$1</c:f>
              <c:strCache>
                <c:ptCount val="1"/>
                <c:pt idx="0">
                  <c:v>TN WSM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year'!$E$2:$E$33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year'!$G$2:$G$33</c:f>
              <c:numCache>
                <c:formatCode>General</c:formatCode>
                <c:ptCount val="32"/>
                <c:pt idx="4" formatCode="0%">
                  <c:v>1</c:v>
                </c:pt>
                <c:pt idx="6" formatCode="0%">
                  <c:v>0.98030488268634586</c:v>
                </c:pt>
                <c:pt idx="11" formatCode="0%">
                  <c:v>0.94551797023369644</c:v>
                </c:pt>
                <c:pt idx="16" formatCode="0%">
                  <c:v>0.93430639699680673</c:v>
                </c:pt>
                <c:pt idx="24" formatCode="0%">
                  <c:v>0.87292869232367232</c:v>
                </c:pt>
                <c:pt idx="29" formatCode="0%">
                  <c:v>0.81077975637083144</c:v>
                </c:pt>
                <c:pt idx="30" formatCode="0%">
                  <c:v>0.72327785780692877</c:v>
                </c:pt>
                <c:pt idx="31" formatCode="0%">
                  <c:v>0.66494325876432736</c:v>
                </c:pt>
              </c:numCache>
            </c:numRef>
          </c:yVal>
        </c:ser>
        <c:axId val="72486272"/>
        <c:axId val="72521216"/>
      </c:scatterChart>
      <c:valAx>
        <c:axId val="72486272"/>
        <c:scaling>
          <c:orientation val="minMax"/>
          <c:min val="198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72521216"/>
        <c:crosses val="autoZero"/>
        <c:crossBetween val="midCat"/>
      </c:valAx>
      <c:valAx>
        <c:axId val="72521216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Percent of 1985</a:t>
                </a:r>
              </a:p>
            </c:rich>
          </c:tx>
          <c:layout/>
        </c:title>
        <c:numFmt formatCode="0%" sourceLinked="1"/>
        <c:majorTickMark val="none"/>
        <c:tickLblPos val="nextTo"/>
        <c:crossAx val="724862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6400788143863962"/>
          <c:y val="0.11430207646396026"/>
          <c:w val="0.20667678622705668"/>
          <c:h val="0.11205285596644242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dirty="0"/>
              <a:t>Express as a Percent of </a:t>
            </a:r>
            <a:r>
              <a:rPr lang="en-US" dirty="0" smtClean="0"/>
              <a:t>1994</a:t>
            </a:r>
            <a:endParaRPr lang="en-US" dirty="0"/>
          </a:p>
        </c:rich>
      </c:tx>
      <c:layout/>
    </c:title>
    <c:plotArea>
      <c:layout>
        <c:manualLayout>
          <c:layoutTarget val="inner"/>
          <c:xMode val="edge"/>
          <c:yMode val="edge"/>
          <c:x val="0.1383915669714538"/>
          <c:y val="0.10365980329373863"/>
          <c:w val="0.82460151922670355"/>
          <c:h val="0.75326904673009554"/>
        </c:manualLayout>
      </c:layout>
      <c:scatterChart>
        <c:scatterStyle val="lineMarker"/>
        <c:ser>
          <c:idx val="0"/>
          <c:order val="0"/>
          <c:tx>
            <c:strRef>
              <c:f>'Percent of year'!$N$1</c:f>
              <c:strCache>
                <c:ptCount val="1"/>
                <c:pt idx="0">
                  <c:v>TN Fake WRTDS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year'!$M$2:$M$33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year'!$N$2:$N$33</c:f>
              <c:numCache>
                <c:formatCode>0%</c:formatCode>
                <c:ptCount val="32"/>
                <c:pt idx="0">
                  <c:v>1.0841365318238345</c:v>
                </c:pt>
                <c:pt idx="1">
                  <c:v>1.113536022632331</c:v>
                </c:pt>
                <c:pt idx="2">
                  <c:v>1.141298109779028</c:v>
                </c:pt>
                <c:pt idx="3">
                  <c:v>1.136718155448857</c:v>
                </c:pt>
                <c:pt idx="4">
                  <c:v>1.1343916201718718</c:v>
                </c:pt>
                <c:pt idx="5">
                  <c:v>1.1275744722674101</c:v>
                </c:pt>
                <c:pt idx="6">
                  <c:v>1.1040337525071129</c:v>
                </c:pt>
                <c:pt idx="7">
                  <c:v>1.0908310256921938</c:v>
                </c:pt>
                <c:pt idx="8">
                  <c:v>1.0726398865463023</c:v>
                </c:pt>
                <c:pt idx="9">
                  <c:v>1.0607997968192131</c:v>
                </c:pt>
                <c:pt idx="10">
                  <c:v>1.0502799008701387</c:v>
                </c:pt>
                <c:pt idx="11">
                  <c:v>1.0407289595753653</c:v>
                </c:pt>
                <c:pt idx="12">
                  <c:v>1.0209780617621789</c:v>
                </c:pt>
                <c:pt idx="13">
                  <c:v>0.99709006715657633</c:v>
                </c:pt>
                <c:pt idx="14">
                  <c:v>1.0059172702349122</c:v>
                </c:pt>
                <c:pt idx="15">
                  <c:v>1.0086703270191963</c:v>
                </c:pt>
                <c:pt idx="16">
                  <c:v>1</c:v>
                </c:pt>
                <c:pt idx="17">
                  <c:v>0.99368986505328527</c:v>
                </c:pt>
                <c:pt idx="18">
                  <c:v>0.99950361072232152</c:v>
                </c:pt>
                <c:pt idx="19">
                  <c:v>0.99772120146046595</c:v>
                </c:pt>
                <c:pt idx="20">
                  <c:v>0.99463703704424711</c:v>
                </c:pt>
                <c:pt idx="21">
                  <c:v>0.97470912763057682</c:v>
                </c:pt>
                <c:pt idx="22">
                  <c:v>0.9794611107001675</c:v>
                </c:pt>
                <c:pt idx="23">
                  <c:v>0.99092098243438209</c:v>
                </c:pt>
                <c:pt idx="24">
                  <c:v>0.98033475862558428</c:v>
                </c:pt>
                <c:pt idx="25">
                  <c:v>0.97563263990707161</c:v>
                </c:pt>
                <c:pt idx="26">
                  <c:v>0.97082163298639523</c:v>
                </c:pt>
                <c:pt idx="27">
                  <c:v>0.96592308811361438</c:v>
                </c:pt>
                <c:pt idx="28">
                  <c:v>0.96745415533280099</c:v>
                </c:pt>
                <c:pt idx="29">
                  <c:v>0.97097810805107287</c:v>
                </c:pt>
              </c:numCache>
            </c:numRef>
          </c:yVal>
        </c:ser>
        <c:ser>
          <c:idx val="1"/>
          <c:order val="1"/>
          <c:tx>
            <c:strRef>
              <c:f>'Percent of year'!$O$1</c:f>
              <c:strCache>
                <c:ptCount val="1"/>
                <c:pt idx="0">
                  <c:v>TN WSM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year'!$M$2:$M$33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year'!$O$2:$O$33</c:f>
              <c:numCache>
                <c:formatCode>General</c:formatCode>
                <c:ptCount val="32"/>
                <c:pt idx="4" formatCode="0%">
                  <c:v>1.0703126974345416</c:v>
                </c:pt>
                <c:pt idx="6" formatCode="0%">
                  <c:v>1.049232763296275</c:v>
                </c:pt>
                <c:pt idx="11" formatCode="0%">
                  <c:v>1.0119998891936597</c:v>
                </c:pt>
                <c:pt idx="16" formatCode="0%">
                  <c:v>1</c:v>
                </c:pt>
                <c:pt idx="24" formatCode="0%">
                  <c:v>0.93430666334895629</c:v>
                </c:pt>
                <c:pt idx="29" formatCode="0%">
                  <c:v>0.86778786806658492</c:v>
                </c:pt>
                <c:pt idx="30" formatCode="0%">
                  <c:v>0.77413347498401075</c:v>
                </c:pt>
                <c:pt idx="31" formatCode="0%">
                  <c:v>0.7116972129289616</c:v>
                </c:pt>
              </c:numCache>
            </c:numRef>
          </c:yVal>
        </c:ser>
        <c:axId val="73703808"/>
        <c:axId val="13529856"/>
      </c:scatterChart>
      <c:valAx>
        <c:axId val="73703808"/>
        <c:scaling>
          <c:orientation val="minMax"/>
          <c:min val="198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13529856"/>
        <c:crosses val="autoZero"/>
        <c:crossBetween val="midCat"/>
      </c:valAx>
      <c:valAx>
        <c:axId val="13529856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Percent of 1985</a:t>
                </a:r>
              </a:p>
            </c:rich>
          </c:tx>
          <c:layout/>
        </c:title>
        <c:numFmt formatCode="0%" sourceLinked="1"/>
        <c:majorTickMark val="none"/>
        <c:tickLblPos val="nextTo"/>
        <c:crossAx val="7370380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4495291542134212"/>
          <c:y val="0.10219052237514253"/>
          <c:w val="0.20667678622705668"/>
          <c:h val="0.11205285596644242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Express as a Percent of 2010</a:t>
            </a:r>
          </a:p>
        </c:rich>
      </c:tx>
      <c:layout/>
    </c:title>
    <c:plotArea>
      <c:layout>
        <c:manualLayout>
          <c:layoutTarget val="inner"/>
          <c:xMode val="edge"/>
          <c:yMode val="edge"/>
          <c:x val="0.1383915669714538"/>
          <c:y val="0.10365980329373864"/>
          <c:w val="0.82460151922670344"/>
          <c:h val="0.75326904673009543"/>
        </c:manualLayout>
      </c:layout>
      <c:scatterChart>
        <c:scatterStyle val="lineMarker"/>
        <c:ser>
          <c:idx val="0"/>
          <c:order val="0"/>
          <c:tx>
            <c:strRef>
              <c:f>'Percent of year'!$J$1</c:f>
              <c:strCache>
                <c:ptCount val="1"/>
                <c:pt idx="0">
                  <c:v>TN Fake WRTDS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year'!$I$2:$I$33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year'!$J$2:$J$33</c:f>
              <c:numCache>
                <c:formatCode>0%</c:formatCode>
                <c:ptCount val="32"/>
                <c:pt idx="0">
                  <c:v>1.1165406540420264</c:v>
                </c:pt>
                <c:pt idx="1">
                  <c:v>1.1468188761406761</c:v>
                </c:pt>
                <c:pt idx="2">
                  <c:v>1.1754107536675753</c:v>
                </c:pt>
                <c:pt idx="3">
                  <c:v>1.1706939075387131</c:v>
                </c:pt>
                <c:pt idx="4">
                  <c:v>1.168297833664653</c:v>
                </c:pt>
                <c:pt idx="5">
                  <c:v>1.161276925728691</c:v>
                </c:pt>
                <c:pt idx="6">
                  <c:v>1.1370325894608553</c:v>
                </c:pt>
                <c:pt idx="7">
                  <c:v>1.1234352418940603</c:v>
                </c:pt>
                <c:pt idx="8">
                  <c:v>1.1047003816587413</c:v>
                </c:pt>
                <c:pt idx="9">
                  <c:v>1.0925063994989841</c:v>
                </c:pt>
                <c:pt idx="10">
                  <c:v>1.081672070834057</c:v>
                </c:pt>
                <c:pt idx="11">
                  <c:v>1.0718356582356883</c:v>
                </c:pt>
                <c:pt idx="12">
                  <c:v>1.0514944191805362</c:v>
                </c:pt>
                <c:pt idx="13">
                  <c:v>1.0268924282524916</c:v>
                </c:pt>
                <c:pt idx="14">
                  <c:v>1.0359834705789288</c:v>
                </c:pt>
                <c:pt idx="15">
                  <c:v>1.0388188144053823</c:v>
                </c:pt>
                <c:pt idx="16">
                  <c:v>1.0298893370594924</c:v>
                </c:pt>
                <c:pt idx="17">
                  <c:v>1.0233905963624645</c:v>
                </c:pt>
                <c:pt idx="18">
                  <c:v>1.0293781110353815</c:v>
                </c:pt>
                <c:pt idx="19">
                  <c:v>1.0275424267423201</c:v>
                </c:pt>
                <c:pt idx="20">
                  <c:v>1.024366078696318</c:v>
                </c:pt>
                <c:pt idx="21">
                  <c:v>1.0038425372812911</c:v>
                </c:pt>
                <c:pt idx="22">
                  <c:v>1.0087365539745501</c:v>
                </c:pt>
                <c:pt idx="23">
                  <c:v>1.020538953677687</c:v>
                </c:pt>
                <c:pt idx="24">
                  <c:v>1.0096363146572807</c:v>
                </c:pt>
                <c:pt idx="25">
                  <c:v>1.0047936527274963</c:v>
                </c:pt>
                <c:pt idx="26">
                  <c:v>0.99983884799937262</c:v>
                </c:pt>
                <c:pt idx="27">
                  <c:v>0.99479388886778841</c:v>
                </c:pt>
                <c:pt idx="28">
                  <c:v>0.99637071867115001</c:v>
                </c:pt>
                <c:pt idx="29">
                  <c:v>1</c:v>
                </c:pt>
              </c:numCache>
            </c:numRef>
          </c:yVal>
        </c:ser>
        <c:ser>
          <c:idx val="1"/>
          <c:order val="1"/>
          <c:tx>
            <c:strRef>
              <c:f>'Percent of year'!$K$1</c:f>
              <c:strCache>
                <c:ptCount val="1"/>
                <c:pt idx="0">
                  <c:v>TN WSM</c:v>
                </c:pt>
              </c:strCache>
            </c:strRef>
          </c:tx>
          <c:spPr>
            <a:ln w="28575">
              <a:noFill/>
            </a:ln>
          </c:spPr>
          <c:xVal>
            <c:numRef>
              <c:f>'Percent of year'!$I$2:$I$33</c:f>
              <c:numCache>
                <c:formatCode>General</c:formatCode>
                <c:ptCount val="32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  <c:pt idx="20">
                  <c:v>2001</c:v>
                </c:pt>
                <c:pt idx="21">
                  <c:v>2002</c:v>
                </c:pt>
                <c:pt idx="22">
                  <c:v>2003</c:v>
                </c:pt>
                <c:pt idx="23">
                  <c:v>2004</c:v>
                </c:pt>
                <c:pt idx="24">
                  <c:v>2005</c:v>
                </c:pt>
                <c:pt idx="25">
                  <c:v>2006</c:v>
                </c:pt>
                <c:pt idx="26">
                  <c:v>2007</c:v>
                </c:pt>
                <c:pt idx="27">
                  <c:v>2008</c:v>
                </c:pt>
                <c:pt idx="28">
                  <c:v>2009</c:v>
                </c:pt>
                <c:pt idx="29">
                  <c:v>2010</c:v>
                </c:pt>
                <c:pt idx="30">
                  <c:v>2017</c:v>
                </c:pt>
                <c:pt idx="31">
                  <c:v>2025</c:v>
                </c:pt>
              </c:numCache>
            </c:numRef>
          </c:xVal>
          <c:yVal>
            <c:numRef>
              <c:f>'Percent of year'!$K$2:$K$33</c:f>
              <c:numCache>
                <c:formatCode>General</c:formatCode>
                <c:ptCount val="32"/>
                <c:pt idx="4" formatCode="0%">
                  <c:v>1.233380572396314</c:v>
                </c:pt>
                <c:pt idx="6" formatCode="0%">
                  <c:v>1.2090889973305867</c:v>
                </c:pt>
                <c:pt idx="11" formatCode="0%">
                  <c:v>1.1661834953378378</c:v>
                </c:pt>
                <c:pt idx="16" formatCode="0%">
                  <c:v>1.1523553587214599</c:v>
                </c:pt>
                <c:pt idx="24" formatCode="0%">
                  <c:v>1.0766532901993362</c:v>
                </c:pt>
                <c:pt idx="29" formatCode="0%">
                  <c:v>1</c:v>
                </c:pt>
                <c:pt idx="30" formatCode="0%">
                  <c:v>0.89207685826348981</c:v>
                </c:pt>
                <c:pt idx="31" formatCode="0%">
                  <c:v>0.82012809710581658</c:v>
                </c:pt>
              </c:numCache>
            </c:numRef>
          </c:yVal>
        </c:ser>
        <c:axId val="13563776"/>
        <c:axId val="73863168"/>
      </c:scatterChart>
      <c:valAx>
        <c:axId val="13563776"/>
        <c:scaling>
          <c:orientation val="minMax"/>
          <c:min val="198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73863168"/>
        <c:crosses val="autoZero"/>
        <c:crossBetween val="midCat"/>
      </c:valAx>
      <c:valAx>
        <c:axId val="7386316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Percent of 1985</a:t>
                </a:r>
              </a:p>
            </c:rich>
          </c:tx>
          <c:layout/>
        </c:title>
        <c:numFmt formatCode="0%" sourceLinked="1"/>
        <c:majorTickMark val="none"/>
        <c:tickLblPos val="nextTo"/>
        <c:crossAx val="1356377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5374751512163329"/>
          <c:y val="0.10219052237514253"/>
          <c:w val="0.20667678622705668"/>
          <c:h val="0.11205285596644242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E1EF-DFC3-444C-A7BF-E721BEEB621B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7D459-2CCF-4AF1-A7AC-F0EA9B192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974-770B-43F8-A4AA-C853FE76D0EB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48EF-594F-4D37-BE00-EA7B97C54258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A2BBE-F7E3-4D51-A471-5F3BE429F418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9597C-F322-4ABE-BD71-B22B6BECBD50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EFA70-4440-4290-AFC6-18B13B0E7216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AD49-CB2D-48A1-B310-DAE133F0D6B3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E158-EDFA-4FE2-A9C9-4ABCC029A934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9032-603A-43DF-B1EE-FECAC64E444F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C5D0-C552-4AD3-A83C-A41FE8547CAF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67669-074A-4139-9F9A-4C771864105E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9AF8-232C-4DBD-865B-7A247D1160AF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CFB94-C02D-47CB-9E96-F0A6CD110584}" type="datetime1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463E4-AA27-4405-AD3F-5D6A6F9ABD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Goal Lines for Monitoring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Gary Shenk</a:t>
            </a:r>
          </a:p>
          <a:p>
            <a:r>
              <a:rPr lang="en-US" dirty="0" smtClean="0"/>
              <a:t>TMAW/NTWG</a:t>
            </a:r>
          </a:p>
          <a:p>
            <a:r>
              <a:rPr lang="en-US" dirty="0" smtClean="0"/>
              <a:t>8/15/2012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Cannot Assign TMDL loads to Monitoring Stations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Spatial Mismatch</a:t>
            </a:r>
          </a:p>
          <a:p>
            <a:pPr lvl="1"/>
            <a:r>
              <a:rPr lang="en-US" dirty="0" smtClean="0"/>
              <a:t>TMDL is defined on the 92 tidal monitoring segments</a:t>
            </a:r>
          </a:p>
          <a:p>
            <a:pPr lvl="3"/>
            <a:r>
              <a:rPr lang="en-US" dirty="0" smtClean="0"/>
              <a:t>Chain Bridge is almost perfect match to POTTF_MD</a:t>
            </a:r>
          </a:p>
          <a:p>
            <a:pPr lvl="3"/>
            <a:r>
              <a:rPr lang="en-US" dirty="0" smtClean="0"/>
              <a:t>Conowingo is about 95% of CB1TF</a:t>
            </a:r>
          </a:p>
          <a:p>
            <a:pPr lvl="3"/>
            <a:r>
              <a:rPr lang="en-US" dirty="0" smtClean="0"/>
              <a:t>Fredericksburg is about 80% of RPPTF</a:t>
            </a:r>
          </a:p>
          <a:p>
            <a:pPr lvl="3"/>
            <a:r>
              <a:rPr lang="en-US" dirty="0" smtClean="0"/>
              <a:t>Others are much worse</a:t>
            </a:r>
          </a:p>
          <a:p>
            <a:r>
              <a:rPr lang="en-US" dirty="0" smtClean="0"/>
              <a:t>Model Mismatch - P5.3.2 </a:t>
            </a:r>
            <a:r>
              <a:rPr lang="en-US" dirty="0" err="1" smtClean="0"/>
              <a:t>vs</a:t>
            </a:r>
            <a:r>
              <a:rPr lang="en-US" dirty="0" smtClean="0"/>
              <a:t> Estimator or WRTDS</a:t>
            </a:r>
          </a:p>
          <a:p>
            <a:pPr lvl="1"/>
            <a:r>
              <a:rPr lang="en-US" dirty="0" smtClean="0"/>
              <a:t>Confidence intervals</a:t>
            </a:r>
          </a:p>
          <a:p>
            <a:pPr lvl="1"/>
            <a:r>
              <a:rPr lang="en-US" dirty="0" smtClean="0"/>
              <a:t>Different flow normalization techniques</a:t>
            </a:r>
          </a:p>
          <a:p>
            <a:pPr lvl="1"/>
            <a:r>
              <a:rPr lang="en-US" dirty="0" smtClean="0"/>
              <a:t>Implementation </a:t>
            </a:r>
            <a:r>
              <a:rPr lang="en-US" dirty="0" err="1" smtClean="0"/>
              <a:t>vs</a:t>
            </a:r>
            <a:r>
              <a:rPr lang="en-US" dirty="0" smtClean="0"/>
              <a:t> water 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Cannot assign WIP Target Loads to Monitoring Station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Spatial Mismatch </a:t>
            </a:r>
          </a:p>
          <a:p>
            <a:pPr lvl="1"/>
            <a:r>
              <a:rPr lang="en-US" dirty="0" smtClean="0"/>
              <a:t>Target Loads are defined by state and basin</a:t>
            </a:r>
          </a:p>
          <a:p>
            <a:pPr lvl="2"/>
            <a:r>
              <a:rPr lang="en-US" dirty="0" smtClean="0"/>
              <a:t>Patuxent - Maryland</a:t>
            </a:r>
          </a:p>
          <a:p>
            <a:pPr lvl="2"/>
            <a:r>
              <a:rPr lang="en-US" dirty="0" smtClean="0"/>
              <a:t>Susquehanna - New York</a:t>
            </a:r>
          </a:p>
          <a:p>
            <a:r>
              <a:rPr lang="en-US" dirty="0" smtClean="0"/>
              <a:t>Model Mismatch</a:t>
            </a:r>
          </a:p>
          <a:p>
            <a:pPr lvl="1"/>
            <a:r>
              <a:rPr lang="en-US" dirty="0" smtClean="0"/>
              <a:t>Same reasoning as for TMDL loads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1600" y="76200"/>
            <a:ext cx="7315200" cy="7620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What is the TMDL? </a:t>
            </a:r>
            <a:r>
              <a:rPr lang="en-US" sz="2000" b="1" dirty="0" smtClean="0"/>
              <a:t>(my perspective)</a:t>
            </a:r>
            <a:endParaRPr lang="en-US" b="1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D1DCB-A60D-4373-A0FB-CD8BF252D972}" type="slidenum">
              <a:rPr lang="en-US"/>
              <a:pPr/>
              <a:t>4</a:t>
            </a:fld>
            <a:endParaRPr lang="en-US"/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6858000" y="914400"/>
            <a:ext cx="996950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4.5 mg/l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066800" y="1905000"/>
            <a:ext cx="806450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8 mg/l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3124200" y="2895600"/>
            <a:ext cx="1873250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20 percent slope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1143000" y="3886200"/>
            <a:ext cx="4800600" cy="1815882"/>
          </a:xfrm>
          <a:prstGeom prst="rect">
            <a:avLst/>
          </a:prstGeom>
          <a:solidFill>
            <a:srgbClr val="FFFFC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Agreement to do 55% to 90% of all possible actions, depending on PS/NPS split and position in the watershed</a:t>
            </a:r>
            <a:endParaRPr lang="en-US" sz="2800" b="1" dirty="0"/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1905000" y="1143000"/>
            <a:ext cx="2076450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Wastewater Loads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4419600" y="1676400"/>
            <a:ext cx="1885950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other sources</a:t>
            </a: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2971800" y="1524000"/>
            <a:ext cx="3048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410200" y="2057400"/>
            <a:ext cx="2286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2" name="Picture 4" descr="Effectiveness_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96000" y="2590800"/>
            <a:ext cx="2590800" cy="3289676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0" y="914400"/>
          <a:ext cx="9067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71600" y="76200"/>
            <a:ext cx="7315200" cy="7620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What are the WIPs? </a:t>
            </a:r>
            <a:r>
              <a:rPr lang="en-US" sz="2000" b="1" dirty="0" smtClean="0"/>
              <a:t>(my perspective)</a:t>
            </a:r>
            <a:endParaRPr lang="en-US" b="1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D1DCB-A60D-4373-A0FB-CD8BF252D972}" type="slidenum">
              <a:rPr lang="en-US"/>
              <a:pPr/>
              <a:t>5</a:t>
            </a:fld>
            <a:endParaRPr lang="en-US"/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685800" y="1600200"/>
            <a:ext cx="3352800" cy="1828800"/>
          </a:xfrm>
          <a:prstGeom prst="rect">
            <a:avLst/>
          </a:prstGeom>
          <a:solidFill>
            <a:srgbClr val="FFFFC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Plans to restore water quality that are consistent with the TMDL</a:t>
            </a:r>
            <a:endParaRPr lang="en-US" sz="2800" b="1" dirty="0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5181600" y="2057400"/>
            <a:ext cx="2133600" cy="338554"/>
          </a:xfrm>
          <a:prstGeom prst="rect">
            <a:avLst/>
          </a:prstGeom>
          <a:solidFill>
            <a:srgbClr val="FFFFC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Illustrative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i="1" dirty="0" smtClean="0"/>
              <a:t>can</a:t>
            </a:r>
            <a:r>
              <a:rPr lang="en-US" dirty="0" smtClean="0"/>
              <a:t> we say?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may compare </a:t>
            </a:r>
            <a:r>
              <a:rPr lang="en-US" i="1" dirty="0" smtClean="0"/>
              <a:t>flow normalized</a:t>
            </a:r>
            <a:r>
              <a:rPr lang="en-US" dirty="0" smtClean="0"/>
              <a:t> load trends to reductions estimated from implementation of WIPs.</a:t>
            </a:r>
          </a:p>
          <a:p>
            <a:endParaRPr lang="en-US" dirty="0" smtClean="0"/>
          </a:p>
          <a:p>
            <a:r>
              <a:rPr lang="en-US" dirty="0" smtClean="0"/>
              <a:t>Caveats:</a:t>
            </a:r>
          </a:p>
          <a:p>
            <a:pPr lvl="1"/>
            <a:r>
              <a:rPr lang="en-US" dirty="0" smtClean="0"/>
              <a:t>WIPs are defined on different scale; some BMP spatial distribution is assumed</a:t>
            </a:r>
          </a:p>
          <a:p>
            <a:pPr lvl="1"/>
            <a:r>
              <a:rPr lang="en-US" dirty="0" smtClean="0"/>
              <a:t>WIPs are implementation goals.  Lag times are not factored in.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133600" y="2895600"/>
            <a:ext cx="2133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3352800"/>
            <a:ext cx="2133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800600"/>
            <a:ext cx="3710888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Confidence intervals</a:t>
            </a:r>
          </a:p>
          <a:p>
            <a:r>
              <a:rPr lang="en-US" dirty="0" smtClean="0"/>
              <a:t>Different flow normalization methods</a:t>
            </a:r>
          </a:p>
          <a:p>
            <a:r>
              <a:rPr lang="en-US" dirty="0" smtClean="0"/>
              <a:t>Different models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39796" y="283243"/>
          <a:ext cx="8664408" cy="6291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24000" y="4114800"/>
            <a:ext cx="3338286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Consistent with TMDL decision of </a:t>
            </a:r>
          </a:p>
          <a:p>
            <a:r>
              <a:rPr lang="en-US" dirty="0" smtClean="0"/>
              <a:t>“Percent of possible reductions”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39796" y="283243"/>
          <a:ext cx="8664408" cy="6291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24000" y="4114800"/>
            <a:ext cx="4440639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Consistent with necessary WQ improvements</a:t>
            </a:r>
          </a:p>
          <a:p>
            <a:r>
              <a:rPr lang="en-US" dirty="0" smtClean="0"/>
              <a:t>	Estuarine model calibrated to 1990s</a:t>
            </a:r>
          </a:p>
          <a:p>
            <a:r>
              <a:rPr lang="en-US" dirty="0" smtClean="0"/>
              <a:t>	Critical period 1993-1995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39796" y="283243"/>
          <a:ext cx="8664408" cy="6291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47800" y="3124200"/>
            <a:ext cx="4810035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Consistent with WIPs and Milestones</a:t>
            </a:r>
          </a:p>
          <a:p>
            <a:r>
              <a:rPr lang="en-US" dirty="0" smtClean="0"/>
              <a:t>	Starting now, What are we going to do?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0" y="4419600"/>
            <a:ext cx="3886200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Benefit for any method: Chance to examine WSM predictions to determine where and when it works best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Suggested Next Steps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Gather WSM, WRTDS, and ESTIMATOR output at all available locations</a:t>
            </a:r>
          </a:p>
          <a:p>
            <a:r>
              <a:rPr lang="en-US" dirty="0" smtClean="0"/>
              <a:t>IMO, method must be</a:t>
            </a:r>
          </a:p>
          <a:p>
            <a:pPr lvl="1"/>
            <a:r>
              <a:rPr lang="en-US" dirty="0" smtClean="0"/>
              <a:t>Flow-normalized</a:t>
            </a:r>
          </a:p>
          <a:p>
            <a:pPr lvl="1"/>
            <a:r>
              <a:rPr lang="en-US" dirty="0" smtClean="0"/>
              <a:t>Expressed as a percent reduction</a:t>
            </a:r>
          </a:p>
          <a:p>
            <a:pPr lvl="1"/>
            <a:r>
              <a:rPr lang="en-US" dirty="0" smtClean="0"/>
              <a:t>Explained clearly</a:t>
            </a:r>
          </a:p>
          <a:p>
            <a:r>
              <a:rPr lang="en-US" dirty="0" smtClean="0"/>
              <a:t>Need to determine</a:t>
            </a:r>
          </a:p>
          <a:p>
            <a:pPr lvl="1"/>
            <a:r>
              <a:rPr lang="en-US" dirty="0" smtClean="0"/>
              <a:t>Appropriate baseline</a:t>
            </a:r>
          </a:p>
          <a:p>
            <a:pPr lvl="1"/>
            <a:r>
              <a:rPr lang="en-US" dirty="0" smtClean="0"/>
              <a:t>Display methods</a:t>
            </a:r>
          </a:p>
          <a:p>
            <a:r>
              <a:rPr lang="en-US" dirty="0" smtClean="0"/>
              <a:t>Work toward indicators and possible role in 2017 mid-point evaluation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3E4-AA27-4405-AD3F-5D6A6F9ABD9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3165</TotalTime>
  <Words>383</Words>
  <Application>Microsoft Office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Goal Lines for Monitoring</vt:lpstr>
      <vt:lpstr>Cannot Assign TMDL loads to Monitoring Stations</vt:lpstr>
      <vt:lpstr>Cannot assign WIP Target Loads to Monitoring Station</vt:lpstr>
      <vt:lpstr>What is the TMDL? (my perspective)</vt:lpstr>
      <vt:lpstr>What are the WIPs? (my perspective)</vt:lpstr>
      <vt:lpstr>What can we say?</vt:lpstr>
      <vt:lpstr>Slide 7</vt:lpstr>
      <vt:lpstr>Slide 8</vt:lpstr>
      <vt:lpstr>Slide 9</vt:lpstr>
      <vt:lpstr>Slide 10</vt:lpstr>
      <vt:lpstr>Slide 11</vt:lpstr>
      <vt:lpstr>Suggested Next Steps</vt:lpstr>
    </vt:vector>
  </TitlesOfParts>
  <Company>U.S. EPA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gshenk</dc:creator>
  <cp:lastModifiedBy>apruzinsky</cp:lastModifiedBy>
  <cp:revision>316</cp:revision>
  <dcterms:created xsi:type="dcterms:W3CDTF">2012-07-25T16:59:21Z</dcterms:created>
  <dcterms:modified xsi:type="dcterms:W3CDTF">2012-08-14T15:17:45Z</dcterms:modified>
</cp:coreProperties>
</file>