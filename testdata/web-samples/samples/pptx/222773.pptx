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3700"/>
    <a:srgbClr val="6EB6F2"/>
    <a:srgbClr val="6694FA"/>
    <a:srgbClr val="09A4E9"/>
    <a:srgbClr val="088DC8"/>
    <a:srgbClr val="C7ECFD"/>
    <a:srgbClr val="92D1F0"/>
    <a:srgbClr val="9FDFFB"/>
    <a:srgbClr val="BBE9FD"/>
    <a:srgbClr val="07226D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56" d="100"/>
          <a:sy n="56" d="100"/>
        </p:scale>
        <p:origin x="-1548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4D897-763A-4E53-8E37-46C0D0039E76}" type="datetimeFigureOut">
              <a:rPr lang="en-US" smtClean="0"/>
              <a:pPr/>
              <a:t>12/16/2008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F925B-EBF9-4C4D-88B2-336D5915AC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irelight title.png"/>
          <p:cNvPicPr>
            <a:picLocks noChangeAspect="1"/>
          </p:cNvPicPr>
          <p:nvPr/>
        </p:nvPicPr>
        <p:blipFill>
          <a:blip r:embed="rId2"/>
          <a:srcRect l="43431" t="21353" b="20413"/>
          <a:stretch>
            <a:fillRect/>
          </a:stretch>
        </p:blipFill>
        <p:spPr>
          <a:xfrm>
            <a:off x="0" y="0"/>
            <a:ext cx="367230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1219200"/>
            <a:ext cx="6400800" cy="1600200"/>
          </a:xfrm>
        </p:spPr>
        <p:txBody>
          <a:bodyPr anchor="b" anchorCtr="0"/>
          <a:lstStyle>
            <a:lvl1pPr algn="l">
              <a:defRPr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2971800"/>
            <a:ext cx="5715000" cy="129540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8600" y="5943600"/>
            <a:ext cx="2133600" cy="228600"/>
          </a:xfrm>
        </p:spPr>
        <p:txBody>
          <a:bodyPr/>
          <a:lstStyle>
            <a:lvl1pPr algn="l">
              <a:defRPr/>
            </a:lvl1pPr>
          </a:lstStyle>
          <a:p>
            <a:fld id="{42F12EF9-7E05-413A-A75B-0E7F7C3F89D5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" y="5715000"/>
            <a:ext cx="2667000" cy="228600"/>
          </a:xfrm>
        </p:spPr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600" y="6248400"/>
            <a:ext cx="533400" cy="228600"/>
          </a:xfrm>
        </p:spPr>
        <p:txBody>
          <a:bodyPr/>
          <a:lstStyle>
            <a:lvl1pPr algn="l">
              <a:defRPr/>
            </a:lvl1pPr>
          </a:lstStyle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064C0-8E54-4A32-8785-D2EE1DE620AC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irelight section.png"/>
          <p:cNvPicPr>
            <a:picLocks noChangeAspect="1"/>
          </p:cNvPicPr>
          <p:nvPr/>
        </p:nvPicPr>
        <p:blipFill>
          <a:blip r:embed="rId2"/>
          <a:srcRect l="7678" r="8563" b="31688"/>
          <a:stretch>
            <a:fillRect/>
          </a:stretch>
        </p:blipFill>
        <p:spPr>
          <a:xfrm>
            <a:off x="0" y="3048000"/>
            <a:ext cx="9144000" cy="381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2057400"/>
            <a:ext cx="7391400" cy="1590675"/>
          </a:xfrm>
        </p:spPr>
        <p:txBody>
          <a:bodyPr anchor="b" anchorCtr="0">
            <a:normAutofit/>
          </a:bodyPr>
          <a:lstStyle>
            <a:lvl1pPr algn="ctr">
              <a:defRPr sz="4400" b="0" i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7546" y="3810000"/>
            <a:ext cx="5388909" cy="1423987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1500"/>
              </a:spcBef>
              <a:buFontTx/>
              <a:buNone/>
              <a:defRPr sz="1800" kern="1200"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3A6E-B1BE-4DEB-BA31-4DCD47757489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1368" y="274638"/>
            <a:ext cx="5681265" cy="14779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057401"/>
            <a:ext cx="2743200" cy="3898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2057401"/>
            <a:ext cx="2743200" cy="3898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27C8F-5C72-4A99-9486-6C12BA947177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1368" y="274638"/>
            <a:ext cx="5681265" cy="14779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967753"/>
            <a:ext cx="2743200" cy="639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2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819400"/>
            <a:ext cx="2743200" cy="3136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1967753"/>
            <a:ext cx="2743200" cy="639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2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2819400"/>
            <a:ext cx="2743200" cy="3136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EE65-E364-4289-8965-16EA53FC94FC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D560-AEA7-45C7-A4E0-39D879442B47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D27AA-99C4-4701-86FC-EBA849E00835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ontent caption.png"/>
          <p:cNvPicPr>
            <a:picLocks noChangeAspect="1"/>
          </p:cNvPicPr>
          <p:nvPr/>
        </p:nvPicPr>
        <p:blipFill>
          <a:blip r:embed="rId2"/>
          <a:srcRect l="11342" t="23079" r="13047"/>
          <a:stretch>
            <a:fillRect/>
          </a:stretch>
        </p:blipFill>
        <p:spPr>
          <a:xfrm>
            <a:off x="0" y="0"/>
            <a:ext cx="9144000" cy="60953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25" y="438150"/>
            <a:ext cx="2743200" cy="1618488"/>
          </a:xfrm>
        </p:spPr>
        <p:txBody>
          <a:bodyPr anchor="ctr" anchorCtr="0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438150"/>
            <a:ext cx="4419600" cy="5118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439" y="2514600"/>
            <a:ext cx="1985962" cy="23622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32420-413E-4929-B427-D7B23335603D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ntent caption.png"/>
          <p:cNvPicPr>
            <a:picLocks noChangeAspect="1"/>
          </p:cNvPicPr>
          <p:nvPr/>
        </p:nvPicPr>
        <p:blipFill>
          <a:blip r:embed="rId2"/>
          <a:srcRect l="11342" t="23079" r="13047"/>
          <a:stretch>
            <a:fillRect/>
          </a:stretch>
        </p:blipFill>
        <p:spPr>
          <a:xfrm>
            <a:off x="0" y="0"/>
            <a:ext cx="9144000" cy="60953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25" y="438150"/>
            <a:ext cx="2743200" cy="1619250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 spc="0" baseline="0"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75050" y="685800"/>
            <a:ext cx="5264150" cy="4648200"/>
          </a:xfrm>
          <a:prstGeom prst="ellipse">
            <a:avLst/>
          </a:prstGeom>
          <a:ln w="127000">
            <a:solidFill>
              <a:schemeClr val="tx1">
                <a:alpha val="10000"/>
              </a:schemeClr>
            </a:solidFill>
          </a:ln>
          <a:effectLst>
            <a:innerShdw blurRad="190500">
              <a:prstClr val="black">
                <a:alpha val="75000"/>
              </a:prstClr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2104" y="2514600"/>
            <a:ext cx="1984248" cy="2359152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buNone/>
              <a:defRPr sz="1400" kern="1200">
                <a:gradFill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15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E7A7-A0FD-4704-B1D5-7CB5D641D7B7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1368" y="274638"/>
            <a:ext cx="5681265" cy="14779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4209" y="2057400"/>
            <a:ext cx="5678424" cy="3886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C17F-B16F-432E-A128-CA24DFD16699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34200" y="533400"/>
            <a:ext cx="1752600" cy="43433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7800" y="533401"/>
            <a:ext cx="5029200" cy="5422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9E0C9-4578-4389-95A9-29FC5D05D046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irelight content.png"/>
          <p:cNvPicPr>
            <a:picLocks noChangeAspect="1"/>
          </p:cNvPicPr>
          <p:nvPr/>
        </p:nvPicPr>
        <p:blipFill>
          <a:blip r:embed="rId13"/>
          <a:srcRect l="10260" t="11518" r="6261" b="874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1368" y="274638"/>
            <a:ext cx="5681265" cy="14779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0" y="2057400"/>
            <a:ext cx="50292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0" y="64770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1000" kern="1200" spc="0" baseline="0"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latin typeface="+mn-lt"/>
                <a:ea typeface="+mj-ea"/>
                <a:cs typeface="+mj-cs"/>
              </a:defRPr>
            </a:lvl1pPr>
          </a:lstStyle>
          <a:p>
            <a:fld id="{DA187D5E-2308-423A-ABC7-8C03C58F8822}" type="datetime1">
              <a:rPr lang="en-US" smtClean="0"/>
              <a:pPr/>
              <a:t>12/16/2008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6477000"/>
            <a:ext cx="2895600" cy="2286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1000" kern="1200" spc="0" baseline="0"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6248400"/>
            <a:ext cx="533400" cy="2286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1100" kern="1200" spc="0" baseline="0">
                <a:gradFill flip="none" rotWithShape="1">
                  <a:gsLst>
                    <a:gs pos="0">
                      <a:schemeClr val="tx1">
                        <a:alpha val="70000"/>
                      </a:schemeClr>
                    </a:gs>
                    <a:gs pos="50000">
                      <a:schemeClr val="tx1">
                        <a:alpha val="80000"/>
                      </a:schemeClr>
                    </a:gs>
                    <a:gs pos="100000">
                      <a:schemeClr val="tx1">
                        <a:alpha val="90000"/>
                      </a:schemeClr>
                    </a:gs>
                  </a:gsLst>
                  <a:lin ang="0" scaled="0"/>
                  <a:tileRect/>
                </a:gradFill>
                <a:latin typeface="+mn-lt"/>
                <a:ea typeface="+mj-ea"/>
                <a:cs typeface="+mj-cs"/>
              </a:defRPr>
            </a:lvl1pPr>
          </a:lstStyle>
          <a:p>
            <a:fld id="{106BCD2F-66F4-441B-ABA9-DCA8861654B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 spc="0" baseline="0">
          <a:gradFill flip="none" rotWithShape="1"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  <a:tileRect/>
          </a:gra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1500"/>
        </a:spcBef>
        <a:buFontTx/>
        <a:buBlip>
          <a:blip r:embed="rId14"/>
        </a:buBlip>
        <a:defRPr sz="20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1500"/>
        </a:spcBef>
        <a:buFontTx/>
        <a:buBlip>
          <a:blip r:embed="rId15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1500"/>
        </a:spcBef>
        <a:buFontTx/>
        <a:buBlip>
          <a:blip r:embed="rId14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1500"/>
        </a:spcBef>
        <a:buFontTx/>
        <a:buBlip>
          <a:blip r:embed="rId15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1500"/>
        </a:spcBef>
        <a:buFontTx/>
        <a:buBlip>
          <a:blip r:embed="rId14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1500"/>
        </a:spcBef>
        <a:buFontTx/>
        <a:buBlip>
          <a:blip r:embed="rId14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1500"/>
        </a:spcBef>
        <a:buFontTx/>
        <a:buBlip>
          <a:blip r:embed="rId14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1500"/>
        </a:spcBef>
        <a:buFontTx/>
        <a:buBlip>
          <a:blip r:embed="rId14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1500"/>
        </a:spcBef>
        <a:buFontTx/>
        <a:buBlip>
          <a:blip r:embed="rId14"/>
        </a:buBlip>
        <a:defRPr sz="1600" kern="1200">
          <a:gradFill>
            <a:gsLst>
              <a:gs pos="0">
                <a:schemeClr val="tx1">
                  <a:alpha val="70000"/>
                </a:schemeClr>
              </a:gs>
              <a:gs pos="50000">
                <a:schemeClr val="tx1">
                  <a:alpha val="8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gif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1400" y="2209800"/>
            <a:ext cx="5410200" cy="3505200"/>
          </a:xfrm>
        </p:spPr>
        <p:txBody>
          <a:bodyPr>
            <a:noAutofit/>
          </a:bodyPr>
          <a:lstStyle/>
          <a:p>
            <a:pPr algn="ctr"/>
            <a:r>
              <a:rPr lang="en-US" dirty="0" err="1" smtClean="0"/>
              <a:t>Cursillo</a:t>
            </a:r>
            <a:r>
              <a:rPr lang="en-US" dirty="0" smtClean="0"/>
              <a:t> </a:t>
            </a:r>
            <a:r>
              <a:rPr lang="en-US" smtClean="0"/>
              <a:t>de </a:t>
            </a:r>
            <a:r>
              <a:rPr lang="en-US" smtClean="0"/>
              <a:t>instrucción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de </a:t>
            </a:r>
            <a:r>
              <a:rPr lang="en-US" dirty="0" err="1" smtClean="0"/>
              <a:t>seguridad</a:t>
            </a:r>
            <a:r>
              <a:rPr lang="en-US" dirty="0" smtClean="0"/>
              <a:t> </a:t>
            </a:r>
            <a:r>
              <a:rPr lang="en-US" dirty="0" err="1" smtClean="0"/>
              <a:t>sobre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radiación </a:t>
            </a:r>
            <a:r>
              <a:rPr lang="en-US" dirty="0" err="1" smtClean="0"/>
              <a:t>para</a:t>
            </a:r>
            <a:r>
              <a:rPr lang="en-US" dirty="0" smtClean="0"/>
              <a:t> el</a:t>
            </a:r>
            <a:br>
              <a:rPr lang="en-US" dirty="0" smtClean="0"/>
            </a:br>
            <a:r>
              <a:rPr lang="en-US" dirty="0" smtClean="0"/>
              <a:t>personal </a:t>
            </a:r>
            <a:r>
              <a:rPr lang="en-US" dirty="0" err="1" smtClean="0"/>
              <a:t>auxiliar</a:t>
            </a:r>
            <a:r>
              <a:rPr lang="en-US" dirty="0" smtClean="0"/>
              <a:t> (</a:t>
            </a:r>
            <a:r>
              <a:rPr lang="en-US" dirty="0" err="1" smtClean="0"/>
              <a:t>subalterno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Picture 3" descr="NOAA-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9000" y="381000"/>
            <a:ext cx="1611313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2" name="Picture 2" descr="http://images.inmagine.com/img/corbis/crbs035/crbs0351519.jpg"/>
          <p:cNvPicPr>
            <a:picLocks noChangeAspect="1" noChangeArrowheads="1"/>
          </p:cNvPicPr>
          <p:nvPr/>
        </p:nvPicPr>
        <p:blipFill>
          <a:blip r:embed="rId3"/>
          <a:srcRect t="14000"/>
          <a:stretch>
            <a:fillRect/>
          </a:stretch>
        </p:blipFill>
        <p:spPr bwMode="auto">
          <a:xfrm>
            <a:off x="228600" y="1676400"/>
            <a:ext cx="3389128" cy="3886200"/>
          </a:xfrm>
          <a:prstGeom prst="rect">
            <a:avLst/>
          </a:prstGeom>
          <a:noFill/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4191000" cy="228600"/>
          </a:xfrm>
        </p:spPr>
        <p:txBody>
          <a:bodyPr>
            <a:normAutofit fontScale="92500"/>
          </a:bodyPr>
          <a:lstStyle/>
          <a:p>
            <a:r>
              <a:rPr lang="es-ES" dirty="0" smtClean="0"/>
              <a:t>21 de Noviembre de 2008 auxiliares de seguridad radiológica de Formación</a:t>
            </a:r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Objetivos</a:t>
            </a:r>
            <a:r>
              <a:rPr lang="en-US" dirty="0" smtClean="0"/>
              <a:t> del </a:t>
            </a:r>
            <a:r>
              <a:rPr lang="en-US" dirty="0" err="1" smtClean="0"/>
              <a:t>cursillo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828800"/>
            <a:ext cx="7162800" cy="4648200"/>
          </a:xfrm>
        </p:spPr>
        <p:txBody>
          <a:bodyPr>
            <a:noAutofit/>
          </a:bodyPr>
          <a:lstStyle/>
          <a:p>
            <a:r>
              <a:rPr lang="es-ES" sz="3200" dirty="0" smtClean="0"/>
              <a:t>Reconozca el símbolo de radiación y la señales y etiquetas </a:t>
            </a:r>
            <a:r>
              <a:rPr lang="es-ES" sz="3200" smtClean="0"/>
              <a:t>de </a:t>
            </a:r>
            <a:r>
              <a:rPr lang="es-ES" sz="3200" smtClean="0"/>
              <a:t>precaución</a:t>
            </a:r>
            <a:endParaRPr lang="es-ES" sz="3200" dirty="0" smtClean="0"/>
          </a:p>
          <a:p>
            <a:r>
              <a:rPr lang="es-ES" sz="3200" dirty="0" smtClean="0"/>
              <a:t>Comprender las reglas de seguridad para trabajar en laboratorios de material radiactivo (RAM).</a:t>
            </a:r>
          </a:p>
          <a:p>
            <a:r>
              <a:rPr lang="en-US" sz="3200" dirty="0" err="1" smtClean="0"/>
              <a:t>Comprender</a:t>
            </a:r>
            <a:r>
              <a:rPr lang="en-US" sz="3200" dirty="0" smtClean="0"/>
              <a:t> los </a:t>
            </a:r>
            <a:r>
              <a:rPr lang="en-US" sz="3200" dirty="0" err="1" smtClean="0"/>
              <a:t>principios</a:t>
            </a:r>
            <a:r>
              <a:rPr lang="en-US" sz="3200" dirty="0" smtClean="0"/>
              <a:t> </a:t>
            </a:r>
            <a:r>
              <a:rPr lang="es-ES" sz="3200" dirty="0" smtClean="0"/>
              <a:t>básicos </a:t>
            </a:r>
            <a:r>
              <a:rPr lang="es-ES" sz="3200" smtClean="0"/>
              <a:t>de </a:t>
            </a:r>
            <a:r>
              <a:rPr lang="es-ES" sz="3200" smtClean="0"/>
              <a:t>radiación </a:t>
            </a:r>
            <a:r>
              <a:rPr lang="es-ES" sz="3200" dirty="0" smtClean="0"/>
              <a:t>por iones.</a:t>
            </a:r>
          </a:p>
          <a:p>
            <a:r>
              <a:rPr lang="en-US" sz="3200" dirty="0" err="1" smtClean="0"/>
              <a:t>Puntos</a:t>
            </a:r>
            <a:r>
              <a:rPr lang="en-US" sz="3200" dirty="0" smtClean="0"/>
              <a:t> </a:t>
            </a:r>
            <a:r>
              <a:rPr lang="en-US" sz="3200" dirty="0" err="1" smtClean="0"/>
              <a:t>importantes</a:t>
            </a:r>
            <a:r>
              <a:rPr lang="en-US" sz="3200" dirty="0" smtClean="0"/>
              <a:t> de </a:t>
            </a:r>
            <a:r>
              <a:rPr lang="en-US" sz="3200" dirty="0" err="1" smtClean="0"/>
              <a:t>contacto</a:t>
            </a:r>
            <a:endParaRPr lang="es-ES" sz="3200" dirty="0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4191000" cy="228600"/>
          </a:xfrm>
        </p:spPr>
        <p:txBody>
          <a:bodyPr>
            <a:normAutofit fontScale="92500"/>
          </a:bodyPr>
          <a:lstStyle/>
          <a:p>
            <a:r>
              <a:rPr lang="es-ES" dirty="0" smtClean="0"/>
              <a:t>21 de Noviembre de 2008 auxiliares de seguridad radiológica de Formación</a:t>
            </a:r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7086600" cy="1477962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Señales y etiquetas </a:t>
            </a:r>
            <a:r>
              <a:rPr lang="es-ES" dirty="0" smtClean="0"/>
              <a:t>advirtiendo </a:t>
            </a:r>
            <a:r>
              <a:rPr lang="es-ES" dirty="0" smtClean="0"/>
              <a:t>del peligro de radiación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752600"/>
            <a:ext cx="3505200" cy="2057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dirty="0" smtClean="0"/>
              <a:t>Señales y etiquetas para puertas, caperuzas </a:t>
            </a:r>
            <a:r>
              <a:rPr lang="es-ES" smtClean="0"/>
              <a:t>de </a:t>
            </a:r>
            <a:r>
              <a:rPr lang="es-ES" smtClean="0"/>
              <a:t>protección </a:t>
            </a:r>
            <a:r>
              <a:rPr lang="es-ES" dirty="0" smtClean="0"/>
              <a:t>de gases, refrigeradores, congeladores, y </a:t>
            </a:r>
            <a:r>
              <a:rPr lang="es-ES" dirty="0" err="1" smtClean="0"/>
              <a:t>demas</a:t>
            </a:r>
            <a:r>
              <a:rPr lang="es-ES" dirty="0" smtClean="0"/>
              <a:t> equipo de gran tamaño utilizado para el manejo de materiales radioactivos.</a:t>
            </a:r>
            <a:endParaRPr lang="es-E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553200" y="2971800"/>
            <a:ext cx="2590800" cy="762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r>
              <a:rPr lang="en-US" sz="2000" dirty="0" err="1" smtClean="0"/>
              <a:t>contenedor</a:t>
            </a:r>
            <a:r>
              <a:rPr lang="en-US" sz="2000" dirty="0" smtClean="0"/>
              <a:t> de </a:t>
            </a:r>
            <a:r>
              <a:rPr lang="en-US" sz="2000" dirty="0" err="1" smtClean="0"/>
              <a:t>desperdicios</a:t>
            </a:r>
            <a:r>
              <a:rPr lang="en-US" sz="2000" dirty="0" smtClean="0"/>
              <a:t> </a:t>
            </a:r>
            <a:r>
              <a:rPr lang="en-US" sz="2000" dirty="0" err="1" smtClean="0"/>
              <a:t>radiactivos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239000" y="4267200"/>
            <a:ext cx="1905000" cy="2057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s-ES" sz="2000" dirty="0" smtClean="0"/>
              <a:t>Etiquetas de los residuos radioactivos adosadas a cada contenedor de residuos  radiactivos.</a:t>
            </a:r>
            <a:endParaRPr lang="es-ES" sz="20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8600" y="5410200"/>
            <a:ext cx="39624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r>
              <a:rPr lang="es-ES" sz="2000" dirty="0" smtClean="0"/>
              <a:t>Cinta para material radiactivo utilizada en equipo de pequeño tamaño que se usa en el laboratorio para trabajar con materiales radioactivos.</a:t>
            </a:r>
            <a:endParaRPr lang="es-ES" sz="2000" dirty="0"/>
          </a:p>
        </p:txBody>
      </p:sp>
      <p:pic>
        <p:nvPicPr>
          <p:cNvPr id="1026" name="Picture 2" descr="http://www.unitednuclear.com/taperoll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810000"/>
            <a:ext cx="2857500" cy="1590675"/>
          </a:xfrm>
          <a:prstGeom prst="rect">
            <a:avLst/>
          </a:prstGeom>
          <a:noFill/>
        </p:spPr>
      </p:pic>
      <p:pic>
        <p:nvPicPr>
          <p:cNvPr id="1028" name="Picture 4" descr="http://www.safety-direct.com.au/LImage.aspx?i=239&amp;t=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600200"/>
            <a:ext cx="1332199" cy="2133600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4724400" y="4038600"/>
            <a:ext cx="2347752" cy="2362200"/>
            <a:chOff x="6172200" y="3429000"/>
            <a:chExt cx="2347752" cy="2362200"/>
          </a:xfrm>
        </p:grpSpPr>
        <p:pic>
          <p:nvPicPr>
            <p:cNvPr id="1030" name="Picture 6" descr="http://www.purdue.edu/rem/home/graphics/RadMatInf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172200" y="3429000"/>
              <a:ext cx="2347752" cy="2362200"/>
            </a:xfrm>
            <a:prstGeom prst="rect">
              <a:avLst/>
            </a:prstGeom>
            <a:noFill/>
          </p:spPr>
        </p:pic>
        <p:sp>
          <p:nvSpPr>
            <p:cNvPr id="10" name="Rectangle 9"/>
            <p:cNvSpPr/>
            <p:nvPr/>
          </p:nvSpPr>
          <p:spPr>
            <a:xfrm>
              <a:off x="6858000" y="3505200"/>
              <a:ext cx="914400" cy="10260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32" name="Picture 8" descr="http://www.chem.harvard.edu/safety/waste_cont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15200" y="1066800"/>
            <a:ext cx="1488281" cy="1905000"/>
          </a:xfrm>
          <a:prstGeom prst="rect">
            <a:avLst/>
          </a:prstGeom>
          <a:noFill/>
        </p:spPr>
      </p:pic>
      <p:sp>
        <p:nvSpPr>
          <p:cNvPr id="1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4191000" cy="228600"/>
          </a:xfrm>
        </p:spPr>
        <p:txBody>
          <a:bodyPr>
            <a:normAutofit fontScale="92500"/>
          </a:bodyPr>
          <a:lstStyle/>
          <a:p>
            <a:r>
              <a:rPr lang="es-ES" dirty="0" smtClean="0"/>
              <a:t>21 de Noviembre de 2008 auxiliares de seguridad radiológica de Formación</a:t>
            </a:r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28600"/>
            <a:ext cx="9067800" cy="1477962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Regla principal mientras se trabaja en un laboratorio con materiales radioactivos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752600"/>
            <a:ext cx="5257800" cy="25908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ES" sz="4000" i="1" u="sng" dirty="0" smtClean="0"/>
              <a:t>Evitar el contacto con cualquier objeto que lleve una señal o etiqueta con el signo de radiación</a:t>
            </a:r>
            <a:endParaRPr lang="es-ES" sz="4000" i="1" u="sng" dirty="0"/>
          </a:p>
        </p:txBody>
      </p:sp>
      <p:pic>
        <p:nvPicPr>
          <p:cNvPr id="16386" name="Picture 2" descr="http://www.kinectrics.com/images/RadioBubbl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81800" y="3581400"/>
            <a:ext cx="2089858" cy="2955925"/>
          </a:xfrm>
          <a:prstGeom prst="rect">
            <a:avLst/>
          </a:prstGeom>
          <a:noFill/>
        </p:spPr>
      </p:pic>
      <p:pic>
        <p:nvPicPr>
          <p:cNvPr id="16388" name="Picture 4" descr="http://ehs.virginia.edu/tree/jugs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4648200"/>
            <a:ext cx="2627587" cy="1905000"/>
          </a:xfrm>
          <a:prstGeom prst="rect">
            <a:avLst/>
          </a:prstGeom>
          <a:noFill/>
        </p:spPr>
      </p:pic>
      <p:pic>
        <p:nvPicPr>
          <p:cNvPr id="16390" name="Picture 6" descr="http://cache.daylife.com/imageserve/0dafd6I6PFe67/610x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0" y="4648200"/>
            <a:ext cx="3441700" cy="1901398"/>
          </a:xfrm>
          <a:prstGeom prst="rect">
            <a:avLst/>
          </a:prstGeom>
          <a:noFill/>
        </p:spPr>
      </p:pic>
      <p:pic>
        <p:nvPicPr>
          <p:cNvPr id="16392" name="Picture 8" descr="http://www.ehs.psu.edu/images/rad_sign02.gi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" y="2133600"/>
            <a:ext cx="2133600" cy="2361946"/>
          </a:xfrm>
          <a:prstGeom prst="rect">
            <a:avLst/>
          </a:prstGeom>
          <a:noFill/>
        </p:spPr>
      </p:pic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4191000" cy="228600"/>
          </a:xfrm>
        </p:spPr>
        <p:txBody>
          <a:bodyPr>
            <a:normAutofit fontScale="92500"/>
          </a:bodyPr>
          <a:lstStyle/>
          <a:p>
            <a:r>
              <a:rPr lang="es-ES" dirty="0" smtClean="0"/>
              <a:t>21 de Noviembre de 2008 auxiliares de seguridad radiológica de Formación</a:t>
            </a:r>
            <a:endParaRPr lang="es-E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4191000"/>
            <a:ext cx="5410200" cy="2209800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¿Qué es la radiación?  Radiación es la transferencia de energía</a:t>
            </a:r>
            <a:endParaRPr lang="es-ES" dirty="0"/>
          </a:p>
        </p:txBody>
      </p:sp>
      <p:grpSp>
        <p:nvGrpSpPr>
          <p:cNvPr id="6" name="Group 5"/>
          <p:cNvGrpSpPr/>
          <p:nvPr/>
        </p:nvGrpSpPr>
        <p:grpSpPr>
          <a:xfrm>
            <a:off x="5321300" y="2667000"/>
            <a:ext cx="3822700" cy="3886200"/>
            <a:chOff x="4876800" y="2362200"/>
            <a:chExt cx="3822700" cy="3886200"/>
          </a:xfrm>
        </p:grpSpPr>
        <p:pic>
          <p:nvPicPr>
            <p:cNvPr id="17410" name="Picture 2" descr="http://www.uraniumsa.org/about/images/radiation_hand.gif"/>
            <p:cNvPicPr>
              <a:picLocks noChangeAspect="1" noChangeArrowheads="1"/>
            </p:cNvPicPr>
            <p:nvPr/>
          </p:nvPicPr>
          <p:blipFill>
            <a:blip r:embed="rId2"/>
            <a:srcRect t="7303"/>
            <a:stretch>
              <a:fillRect/>
            </a:stretch>
          </p:blipFill>
          <p:spPr bwMode="auto">
            <a:xfrm>
              <a:off x="4876800" y="2362200"/>
              <a:ext cx="3822700" cy="3868606"/>
            </a:xfrm>
            <a:prstGeom prst="rect">
              <a:avLst/>
            </a:prstGeom>
            <a:noFill/>
          </p:spPr>
        </p:pic>
        <p:pic>
          <p:nvPicPr>
            <p:cNvPr id="17412" name="Picture 4" descr="http://images.google.com/url?q=http://upload.wikimedia.org/wikipedia/commons/thumb/a/ae/RadiationPenetration2-pn.png/300px-RadiationPenetration2-pn.png&amp;usg=AFQjCNEr4NMJW-EUAelLtyWTIdxEKYUYfQ"/>
            <p:cNvPicPr>
              <a:picLocks noChangeAspect="1" noChangeArrowheads="1"/>
            </p:cNvPicPr>
            <p:nvPr/>
          </p:nvPicPr>
          <p:blipFill>
            <a:blip r:embed="rId3"/>
            <a:srcRect r="79654"/>
            <a:stretch>
              <a:fillRect/>
            </a:stretch>
          </p:blipFill>
          <p:spPr bwMode="auto">
            <a:xfrm>
              <a:off x="4876800" y="3124200"/>
              <a:ext cx="654050" cy="3124200"/>
            </a:xfrm>
            <a:prstGeom prst="rect">
              <a:avLst/>
            </a:prstGeom>
            <a:noFill/>
          </p:spPr>
        </p:pic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0" y="3276600"/>
            <a:ext cx="2514600" cy="533400"/>
          </a:xfr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US" b="1" dirty="0" err="1" smtClean="0">
                <a:solidFill>
                  <a:schemeClr val="bg1"/>
                </a:solidFill>
              </a:rPr>
              <a:t>Tipos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smtClean="0">
                <a:solidFill>
                  <a:schemeClr val="bg1"/>
                </a:solidFill>
              </a:rPr>
              <a:t>de </a:t>
            </a:r>
            <a:r>
              <a:rPr lang="en-US" b="1" smtClean="0">
                <a:solidFill>
                  <a:schemeClr val="bg1"/>
                </a:solidFill>
              </a:rPr>
              <a:t>radiación </a:t>
            </a:r>
            <a:r>
              <a:rPr lang="en-US" b="1" dirty="0" err="1" smtClean="0">
                <a:solidFill>
                  <a:schemeClr val="bg1"/>
                </a:solidFill>
              </a:rPr>
              <a:t>por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iones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4191000" cy="228600"/>
          </a:xfrm>
        </p:spPr>
        <p:txBody>
          <a:bodyPr>
            <a:normAutofit fontScale="92500"/>
          </a:bodyPr>
          <a:lstStyle/>
          <a:p>
            <a:r>
              <a:rPr lang="es-ES" dirty="0" smtClean="0"/>
              <a:t>21 de Noviembre de 2008 auxiliares de seguridad radiológica de Formación</a:t>
            </a:r>
            <a:endParaRPr lang="es-ES" dirty="0"/>
          </a:p>
        </p:txBody>
      </p:sp>
      <p:grpSp>
        <p:nvGrpSpPr>
          <p:cNvPr id="21" name="Group 20"/>
          <p:cNvGrpSpPr/>
          <p:nvPr/>
        </p:nvGrpSpPr>
        <p:grpSpPr>
          <a:xfrm>
            <a:off x="0" y="0"/>
            <a:ext cx="8305800" cy="3200400"/>
            <a:chOff x="0" y="0"/>
            <a:chExt cx="8305800" cy="3200400"/>
          </a:xfrm>
        </p:grpSpPr>
        <p:pic>
          <p:nvPicPr>
            <p:cNvPr id="17414" name="Picture 6" descr="http://www.rerf.or.jp/general/image/gen_01_e.jpg"/>
            <p:cNvPicPr>
              <a:picLocks noChangeAspect="1" noChangeArrowheads="1"/>
            </p:cNvPicPr>
            <p:nvPr/>
          </p:nvPicPr>
          <p:blipFill>
            <a:blip r:embed="rId4"/>
            <a:srcRect l="3093" t="3412" r="3093" b="5670"/>
            <a:stretch>
              <a:fillRect/>
            </a:stretch>
          </p:blipFill>
          <p:spPr bwMode="auto">
            <a:xfrm>
              <a:off x="0" y="0"/>
              <a:ext cx="7194396" cy="3200400"/>
            </a:xfrm>
            <a:prstGeom prst="rect">
              <a:avLst/>
            </a:prstGeom>
            <a:noFill/>
          </p:spPr>
        </p:pic>
        <p:sp>
          <p:nvSpPr>
            <p:cNvPr id="11" name="Rectangle 10"/>
            <p:cNvSpPr/>
            <p:nvPr/>
          </p:nvSpPr>
          <p:spPr>
            <a:xfrm>
              <a:off x="624840" y="2250034"/>
              <a:ext cx="1371600" cy="228600"/>
            </a:xfrm>
            <a:prstGeom prst="rect">
              <a:avLst/>
            </a:prstGeom>
            <a:solidFill>
              <a:srgbClr val="F7F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251094" y="2287828"/>
              <a:ext cx="1371600" cy="228600"/>
            </a:xfrm>
            <a:prstGeom prst="rect">
              <a:avLst/>
            </a:prstGeom>
            <a:solidFill>
              <a:srgbClr val="F7F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4800" y="2209800"/>
              <a:ext cx="2209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schemeClr val="bg1"/>
                  </a:solidFill>
                </a:rPr>
                <a:t>Longitud</a:t>
              </a:r>
              <a:r>
                <a:rPr lang="en-US" sz="1400" dirty="0" smtClean="0">
                  <a:solidFill>
                    <a:schemeClr val="bg1"/>
                  </a:solidFill>
                </a:rPr>
                <a:t> de </a:t>
              </a:r>
              <a:r>
                <a:rPr lang="en-US" sz="1400" dirty="0" err="1" smtClean="0">
                  <a:solidFill>
                    <a:schemeClr val="bg1"/>
                  </a:solidFill>
                </a:rPr>
                <a:t>onda</a:t>
              </a:r>
              <a:r>
                <a:rPr lang="en-US" sz="1400" dirty="0" smtClean="0">
                  <a:solidFill>
                    <a:schemeClr val="bg1"/>
                  </a:solidFill>
                </a:rPr>
                <a:t> </a:t>
              </a:r>
              <a:r>
                <a:rPr lang="en-US" sz="1400" dirty="0" err="1" smtClean="0">
                  <a:solidFill>
                    <a:schemeClr val="bg1"/>
                  </a:solidFill>
                </a:rPr>
                <a:t>larga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657600" y="0"/>
              <a:ext cx="2971800" cy="228600"/>
            </a:xfrm>
            <a:prstGeom prst="rect">
              <a:avLst/>
            </a:prstGeom>
            <a:solidFill>
              <a:srgbClr val="F7F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33400" y="0"/>
              <a:ext cx="2971800" cy="228600"/>
            </a:xfrm>
            <a:prstGeom prst="rect">
              <a:avLst/>
            </a:prstGeom>
            <a:solidFill>
              <a:srgbClr val="F7F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81000" y="0"/>
              <a:ext cx="330225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400" dirty="0" smtClean="0">
                  <a:solidFill>
                    <a:schemeClr val="bg1"/>
                  </a:solidFill>
                </a:rPr>
                <a:t>Menor </a:t>
              </a:r>
              <a:r>
                <a:rPr lang="es-ES" sz="1400" dirty="0" err="1" smtClean="0">
                  <a:solidFill>
                    <a:schemeClr val="bg1"/>
                  </a:solidFill>
                </a:rPr>
                <a:t>energia</a:t>
              </a:r>
              <a:r>
                <a:rPr lang="es-ES" sz="1400" dirty="0" smtClean="0">
                  <a:solidFill>
                    <a:schemeClr val="bg1"/>
                  </a:solidFill>
                </a:rPr>
                <a:t> (mayor longitud de onda)</a:t>
              </a:r>
              <a:endParaRPr lang="es-ES" sz="1400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162800" y="0"/>
              <a:ext cx="533400" cy="3200400"/>
            </a:xfrm>
            <a:prstGeom prst="rect">
              <a:avLst/>
            </a:prstGeom>
            <a:solidFill>
              <a:srgbClr val="F7F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733800" y="0"/>
              <a:ext cx="4572000" cy="3077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s-ES" sz="1400" dirty="0" smtClean="0">
                  <a:solidFill>
                    <a:schemeClr val="bg1"/>
                  </a:solidFill>
                </a:rPr>
                <a:t>Mayor </a:t>
              </a:r>
              <a:r>
                <a:rPr lang="es-ES" sz="1400" dirty="0" err="1" smtClean="0">
                  <a:solidFill>
                    <a:schemeClr val="bg1"/>
                  </a:solidFill>
                </a:rPr>
                <a:t>energia</a:t>
              </a:r>
              <a:r>
                <a:rPr lang="es-ES" sz="1400" dirty="0" smtClean="0">
                  <a:solidFill>
                    <a:schemeClr val="bg1"/>
                  </a:solidFill>
                </a:rPr>
                <a:t> (menor longitud de onda) </a:t>
              </a:r>
              <a:endParaRPr lang="es-ES" sz="1400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81600" y="2209800"/>
              <a:ext cx="2209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schemeClr val="bg1"/>
                  </a:solidFill>
                </a:rPr>
                <a:t>Longitud</a:t>
              </a:r>
              <a:r>
                <a:rPr lang="en-US" sz="1400" dirty="0" smtClean="0">
                  <a:solidFill>
                    <a:schemeClr val="bg1"/>
                  </a:solidFill>
                </a:rPr>
                <a:t> de </a:t>
              </a:r>
              <a:r>
                <a:rPr lang="en-US" sz="1400" dirty="0" err="1" smtClean="0">
                  <a:solidFill>
                    <a:schemeClr val="bg1"/>
                  </a:solidFill>
                </a:rPr>
                <a:t>onda</a:t>
              </a:r>
              <a:r>
                <a:rPr lang="en-US" sz="1400" dirty="0" smtClean="0">
                  <a:solidFill>
                    <a:schemeClr val="bg1"/>
                  </a:solidFill>
                </a:rPr>
                <a:t> </a:t>
              </a:r>
              <a:r>
                <a:rPr lang="en-US" sz="1400" dirty="0" err="1" smtClean="0">
                  <a:solidFill>
                    <a:schemeClr val="bg1"/>
                  </a:solidFill>
                </a:rPr>
                <a:t>corta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Content Placeholder 2"/>
          <p:cNvSpPr txBox="1">
            <a:spLocks/>
          </p:cNvSpPr>
          <p:nvPr/>
        </p:nvSpPr>
        <p:spPr>
          <a:xfrm>
            <a:off x="7696200" y="2895600"/>
            <a:ext cx="838200" cy="2286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Aluminio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8458200" y="2927405"/>
            <a:ext cx="685800" cy="2286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Plomo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76200" y="4724400"/>
            <a:ext cx="6781800" cy="1905000"/>
          </a:xfrm>
          <a:prstGeom prst="rect">
            <a:avLst/>
          </a:prstGeom>
          <a:solidFill>
            <a:srgbClr val="07226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¿Dónde se encuentra radiación?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1219200"/>
            <a:ext cx="4191000" cy="3886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800" dirty="0" smtClean="0"/>
              <a:t>Estamos rodeados de radiación, incluso dentro de nuestro cuerpo.  Se encuentra en el aire, el agua, la tierra, los materiales </a:t>
            </a:r>
            <a:r>
              <a:rPr lang="es-ES" sz="2800" smtClean="0"/>
              <a:t>de </a:t>
            </a:r>
            <a:r>
              <a:rPr lang="es-ES" sz="2800" smtClean="0"/>
              <a:t>construcción </a:t>
            </a:r>
            <a:r>
              <a:rPr lang="es-ES" sz="2800" dirty="0" smtClean="0"/>
              <a:t>e incluso en algunos alimentos.</a:t>
            </a:r>
            <a:endParaRPr lang="es-ES" sz="2800" dirty="0"/>
          </a:p>
        </p:txBody>
      </p:sp>
      <p:pic>
        <p:nvPicPr>
          <p:cNvPr id="5" name="Picture 4" descr="http://www.stoller-eser.com/images/Background_Radiation_Graph.jpg"/>
          <p:cNvPicPr>
            <a:picLocks noChangeAspect="1" noChangeArrowheads="1"/>
          </p:cNvPicPr>
          <p:nvPr/>
        </p:nvPicPr>
        <p:blipFill>
          <a:blip r:embed="rId2"/>
          <a:srcRect r="33767"/>
          <a:stretch>
            <a:fillRect/>
          </a:stretch>
        </p:blipFill>
        <p:spPr bwMode="auto">
          <a:xfrm>
            <a:off x="83489" y="922351"/>
            <a:ext cx="4847863" cy="3752850"/>
          </a:xfrm>
          <a:prstGeom prst="rect">
            <a:avLst/>
          </a:prstGeom>
          <a:noFill/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4191000" cy="228600"/>
          </a:xfrm>
        </p:spPr>
        <p:txBody>
          <a:bodyPr>
            <a:normAutofit fontScale="92500"/>
          </a:bodyPr>
          <a:lstStyle/>
          <a:p>
            <a:r>
              <a:rPr lang="es-ES" dirty="0" smtClean="0"/>
              <a:t>21 de Noviembre de 2008 auxiliares de seguridad radiológica de Formación</a:t>
            </a:r>
            <a:endParaRPr lang="es-ES" dirty="0"/>
          </a:p>
        </p:txBody>
      </p:sp>
      <p:sp>
        <p:nvSpPr>
          <p:cNvPr id="13" name="Rectangle 12"/>
          <p:cNvSpPr/>
          <p:nvPr/>
        </p:nvSpPr>
        <p:spPr>
          <a:xfrm>
            <a:off x="457200" y="4953000"/>
            <a:ext cx="609600" cy="228600"/>
          </a:xfrm>
          <a:prstGeom prst="rect">
            <a:avLst/>
          </a:prstGeom>
          <a:solidFill>
            <a:srgbClr val="939EED"/>
          </a:solidFill>
          <a:ln>
            <a:solidFill>
              <a:schemeClr val="bg1"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7200" y="5334000"/>
            <a:ext cx="609600" cy="228600"/>
          </a:xfrm>
          <a:prstGeom prst="rect">
            <a:avLst/>
          </a:prstGeom>
          <a:solidFill>
            <a:srgbClr val="A83A59"/>
          </a:solidFill>
          <a:ln>
            <a:solidFill>
              <a:schemeClr val="bg1"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7200" y="5715000"/>
            <a:ext cx="609600" cy="228600"/>
          </a:xfrm>
          <a:prstGeom prst="rect">
            <a:avLst/>
          </a:prstGeom>
          <a:solidFill>
            <a:srgbClr val="E7F565"/>
          </a:solidFill>
          <a:ln>
            <a:solidFill>
              <a:schemeClr val="bg1"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57200" y="6096000"/>
            <a:ext cx="609600" cy="228600"/>
          </a:xfrm>
          <a:prstGeom prst="rect">
            <a:avLst/>
          </a:prstGeom>
          <a:solidFill>
            <a:srgbClr val="5CD6EE"/>
          </a:solidFill>
          <a:ln>
            <a:solidFill>
              <a:schemeClr val="bg1"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429000" y="5029200"/>
            <a:ext cx="609600" cy="228600"/>
          </a:xfrm>
          <a:prstGeom prst="rect">
            <a:avLst/>
          </a:prstGeom>
          <a:solidFill>
            <a:srgbClr val="0ABA1F"/>
          </a:solidFill>
          <a:ln>
            <a:solidFill>
              <a:schemeClr val="bg1"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421049" y="5465859"/>
            <a:ext cx="609600" cy="228600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429000" y="5867400"/>
            <a:ext cx="609600" cy="228600"/>
          </a:xfrm>
          <a:prstGeom prst="rect">
            <a:avLst/>
          </a:prstGeom>
          <a:solidFill>
            <a:srgbClr val="107DB4"/>
          </a:solidFill>
          <a:ln>
            <a:solidFill>
              <a:schemeClr val="bg1"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066800" y="4800600"/>
            <a:ext cx="236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 smtClean="0"/>
              <a:t>Otros</a:t>
            </a:r>
            <a:r>
              <a:rPr lang="en-US" sz="1600" dirty="0" smtClean="0"/>
              <a:t> </a:t>
            </a:r>
            <a:r>
              <a:rPr lang="en-US" sz="1600" dirty="0" err="1" smtClean="0"/>
              <a:t>Origenes</a:t>
            </a: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sz="1600" dirty="0" err="1" smtClean="0"/>
              <a:t>Cosmicos</a:t>
            </a: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sz="1600" dirty="0" err="1" smtClean="0"/>
              <a:t>Terrestres</a:t>
            </a:r>
            <a:endParaRPr lang="en-US" sz="1600" dirty="0" smtClean="0"/>
          </a:p>
          <a:p>
            <a:pPr>
              <a:lnSpc>
                <a:spcPct val="150000"/>
              </a:lnSpc>
            </a:pPr>
            <a:r>
              <a:rPr lang="en-US" sz="1600" dirty="0" err="1" smtClean="0"/>
              <a:t>Internos</a:t>
            </a:r>
            <a:r>
              <a:rPr lang="en-US" sz="1600" dirty="0" smtClean="0"/>
              <a:t> (</a:t>
            </a:r>
            <a:r>
              <a:rPr lang="en-US" sz="1600" dirty="0" err="1" smtClean="0"/>
              <a:t>Alimentos</a:t>
            </a:r>
            <a:r>
              <a:rPr lang="en-US" sz="1600" dirty="0" smtClean="0"/>
              <a:t>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8600" y="4876800"/>
            <a:ext cx="2450671" cy="13388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/>
              <a:t>Productos</a:t>
            </a:r>
            <a:r>
              <a:rPr lang="en-US" dirty="0" smtClean="0"/>
              <a:t> de </a:t>
            </a:r>
            <a:r>
              <a:rPr lang="en-US" dirty="0" err="1" smtClean="0"/>
              <a:t>Consumo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err="1" smtClean="0"/>
              <a:t>Medicina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Gas Radon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935162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La radiación natural mas la producida en Estados Unidos se eleva a entre 250 y 400 </a:t>
            </a:r>
            <a:r>
              <a:rPr lang="es-ES" dirty="0" err="1" smtClean="0"/>
              <a:t>mrems</a:t>
            </a:r>
            <a:r>
              <a:rPr lang="es-ES" dirty="0" smtClean="0"/>
              <a:t> anualmente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 descr="http://www.nukeworker.com/study/gert/gertFig1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1828800"/>
            <a:ext cx="5029200" cy="4010423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600200" y="6172200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38200" y="5715000"/>
            <a:ext cx="7543800" cy="89138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0000"/>
          </a:bodyPr>
          <a:lstStyle/>
          <a:p>
            <a:r>
              <a:rPr lang="es-ES" sz="2000" dirty="0" smtClean="0"/>
              <a:t>El material radiactivo y natural en </a:t>
            </a:r>
            <a:r>
              <a:rPr lang="es-ES" sz="2000" smtClean="0"/>
              <a:t>las </a:t>
            </a:r>
            <a:r>
              <a:rPr lang="es-ES" sz="2000" smtClean="0"/>
              <a:t>instalaciónes </a:t>
            </a:r>
            <a:r>
              <a:rPr lang="es-ES" sz="2000" dirty="0" smtClean="0"/>
              <a:t>de NOAA no presentan un problema </a:t>
            </a:r>
            <a:r>
              <a:rPr lang="es-ES" sz="2000" smtClean="0"/>
              <a:t>de </a:t>
            </a:r>
            <a:r>
              <a:rPr lang="es-ES" sz="2000" smtClean="0"/>
              <a:t>exposición </a:t>
            </a:r>
            <a:r>
              <a:rPr lang="es-ES" sz="2000" dirty="0" smtClean="0"/>
              <a:t>peligrosa para el personal auxiliar (subalterno).</a:t>
            </a:r>
            <a:endParaRPr lang="es-ES" sz="2000" dirty="0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4191000" cy="228600"/>
          </a:xfrm>
        </p:spPr>
        <p:txBody>
          <a:bodyPr>
            <a:normAutofit fontScale="92500"/>
          </a:bodyPr>
          <a:lstStyle/>
          <a:p>
            <a:r>
              <a:rPr lang="es-ES" dirty="0" smtClean="0"/>
              <a:t>21 de Noviembre de 2008 auxiliares de seguridad radiológica de Formación</a:t>
            </a:r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2438400" y="2209800"/>
            <a:ext cx="1143000" cy="228600"/>
          </a:xfrm>
          <a:prstGeom prst="rect">
            <a:avLst/>
          </a:prstGeom>
          <a:solidFill>
            <a:srgbClr val="9FDF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340334" y="2147514"/>
            <a:ext cx="205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chemeClr val="bg1"/>
                </a:solidFill>
              </a:rPr>
              <a:t>Planeta</a:t>
            </a:r>
            <a:r>
              <a:rPr lang="en-US" sz="1400" dirty="0" smtClean="0">
                <a:solidFill>
                  <a:schemeClr val="bg1"/>
                </a:solidFill>
              </a:rPr>
              <a:t> Tierra 30 </a:t>
            </a:r>
            <a:r>
              <a:rPr lang="en-US" sz="1400" dirty="0" err="1" smtClean="0">
                <a:solidFill>
                  <a:schemeClr val="bg1"/>
                </a:solidFill>
              </a:rPr>
              <a:t>mrem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20778" y="3163293"/>
            <a:ext cx="1346422" cy="398891"/>
          </a:xfrm>
          <a:prstGeom prst="rect">
            <a:avLst/>
          </a:prstGeom>
          <a:solidFill>
            <a:srgbClr val="9FDF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895600" y="3084444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 smtClean="0">
                <a:solidFill>
                  <a:schemeClr val="bg1"/>
                </a:solidFill>
              </a:rPr>
              <a:t>Medicina</a:t>
            </a:r>
            <a:r>
              <a:rPr lang="en-US" sz="1400" dirty="0" smtClean="0">
                <a:solidFill>
                  <a:schemeClr val="bg1"/>
                </a:solidFill>
              </a:rPr>
              <a:t> y </a:t>
            </a:r>
            <a:r>
              <a:rPr lang="en-US" sz="1400" dirty="0" err="1" smtClean="0">
                <a:solidFill>
                  <a:schemeClr val="bg1"/>
                </a:solidFill>
              </a:rPr>
              <a:t>otros</a:t>
            </a:r>
            <a:r>
              <a:rPr lang="en-US" sz="1400" dirty="0" smtClean="0">
                <a:solidFill>
                  <a:schemeClr val="bg1"/>
                </a:solidFill>
              </a:rPr>
              <a:t> 60 </a:t>
            </a:r>
            <a:r>
              <a:rPr lang="en-US" sz="1400" dirty="0" err="1" smtClean="0">
                <a:solidFill>
                  <a:schemeClr val="bg1"/>
                </a:solidFill>
              </a:rPr>
              <a:t>mrem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43401" y="3000955"/>
            <a:ext cx="2272084" cy="228600"/>
          </a:xfrm>
          <a:prstGeom prst="rect">
            <a:avLst/>
          </a:prstGeom>
          <a:solidFill>
            <a:srgbClr val="6EB6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517004" y="1889760"/>
            <a:ext cx="2133600" cy="184205"/>
          </a:xfrm>
          <a:prstGeom prst="rect">
            <a:avLst/>
          </a:prstGeom>
          <a:solidFill>
            <a:srgbClr val="C7E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412974" y="18288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mtClean="0">
                <a:solidFill>
                  <a:schemeClr val="bg1"/>
                </a:solidFill>
              </a:rPr>
              <a:t>Radación </a:t>
            </a:r>
            <a:r>
              <a:rPr lang="en-US" sz="1400" dirty="0" err="1" smtClean="0">
                <a:solidFill>
                  <a:schemeClr val="bg1"/>
                </a:solidFill>
              </a:rPr>
              <a:t>cosmica</a:t>
            </a:r>
            <a:r>
              <a:rPr lang="en-US" sz="1400" dirty="0" smtClean="0">
                <a:solidFill>
                  <a:schemeClr val="bg1"/>
                </a:solidFill>
              </a:rPr>
              <a:t> 30 </a:t>
            </a:r>
            <a:r>
              <a:rPr lang="en-US" sz="1400" dirty="0" err="1" smtClean="0">
                <a:solidFill>
                  <a:schemeClr val="bg1"/>
                </a:solidFill>
              </a:rPr>
              <a:t>mrem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0" y="2819400"/>
            <a:ext cx="2059388" cy="228600"/>
          </a:xfrm>
          <a:prstGeom prst="rect">
            <a:avLst/>
          </a:prstGeom>
          <a:solidFill>
            <a:srgbClr val="6EB6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648200" y="2819400"/>
            <a:ext cx="1999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Gas Radon de </a:t>
            </a:r>
            <a:r>
              <a:rPr lang="en-US" sz="1400" dirty="0" err="1" smtClean="0">
                <a:solidFill>
                  <a:schemeClr val="bg1"/>
                </a:solidFill>
              </a:rPr>
              <a:t>tierra</a:t>
            </a:r>
            <a:r>
              <a:rPr lang="en-US" sz="1400" dirty="0" smtClean="0">
                <a:solidFill>
                  <a:schemeClr val="bg1"/>
                </a:solidFill>
              </a:rPr>
              <a:t> de </a:t>
            </a:r>
            <a:r>
              <a:rPr lang="en-US" sz="1400" dirty="0" err="1" smtClean="0">
                <a:solidFill>
                  <a:schemeClr val="bg1"/>
                </a:solidFill>
              </a:rPr>
              <a:t>cultivo</a:t>
            </a:r>
            <a:r>
              <a:rPr lang="en-US" sz="1400" dirty="0" smtClean="0">
                <a:solidFill>
                  <a:schemeClr val="bg1"/>
                </a:solidFill>
              </a:rPr>
              <a:t> 200 </a:t>
            </a:r>
            <a:r>
              <a:rPr lang="en-US" sz="1400" dirty="0" err="1" smtClean="0">
                <a:solidFill>
                  <a:schemeClr val="bg1"/>
                </a:solidFill>
              </a:rPr>
              <a:t>mrem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24400" y="3962400"/>
            <a:ext cx="1143000" cy="228600"/>
          </a:xfrm>
          <a:prstGeom prst="rect">
            <a:avLst/>
          </a:prstGeom>
          <a:solidFill>
            <a:srgbClr val="743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724400" y="38862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chemeClr val="bg1"/>
                </a:solidFill>
              </a:rPr>
              <a:t>Alimentos</a:t>
            </a:r>
            <a:r>
              <a:rPr lang="en-US" sz="1400" dirty="0" smtClean="0">
                <a:solidFill>
                  <a:schemeClr val="bg1"/>
                </a:solidFill>
              </a:rPr>
              <a:t> 40 </a:t>
            </a:r>
            <a:r>
              <a:rPr lang="en-US" sz="1400" dirty="0" err="1" smtClean="0">
                <a:solidFill>
                  <a:schemeClr val="bg1"/>
                </a:solidFill>
              </a:rPr>
              <a:t>mrem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382000" cy="1477962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Reglas básicas para trabajar en laboratorios con materiales radiactivos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905000"/>
            <a:ext cx="7467600" cy="4800600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 smtClean="0"/>
              <a:t> </a:t>
            </a:r>
            <a:r>
              <a:rPr lang="es-ES" sz="2400" dirty="0" smtClean="0"/>
              <a:t>Antes de empezar el trabajo, contacte al oficial de seguridad radiológica.</a:t>
            </a:r>
            <a:endParaRPr lang="en-US" sz="2400" dirty="0" smtClean="0"/>
          </a:p>
          <a:p>
            <a:r>
              <a:rPr lang="es-ES" sz="2400" dirty="0" smtClean="0"/>
              <a:t>Lea todos las señales y anuncios antes de realizar su trabajo.</a:t>
            </a:r>
          </a:p>
          <a:p>
            <a:r>
              <a:rPr lang="es-ES" sz="2400" dirty="0" smtClean="0"/>
              <a:t>Avise de su presencia y la </a:t>
            </a:r>
            <a:r>
              <a:rPr lang="es-ES" sz="2400" dirty="0" err="1" smtClean="0"/>
              <a:t>razon</a:t>
            </a:r>
            <a:r>
              <a:rPr lang="es-ES" sz="2400" dirty="0" smtClean="0"/>
              <a:t> por la que esta en el laboratorio.</a:t>
            </a:r>
          </a:p>
          <a:p>
            <a:r>
              <a:rPr lang="es-ES" dirty="0" smtClean="0"/>
              <a:t>Contacte al oficial de seguridad radioactiva si no hay nadie en el laboratorio.</a:t>
            </a:r>
          </a:p>
          <a:p>
            <a:r>
              <a:rPr lang="es-ES" dirty="0" smtClean="0"/>
              <a:t>Pregunte al personal de laboratorio sobre que </a:t>
            </a:r>
            <a:r>
              <a:rPr lang="es-ES" dirty="0" err="1" smtClean="0"/>
              <a:t>areas</a:t>
            </a:r>
            <a:r>
              <a:rPr lang="es-ES" dirty="0" smtClean="0"/>
              <a:t> deben ser evitadas.</a:t>
            </a:r>
          </a:p>
          <a:p>
            <a:r>
              <a:rPr lang="es-ES" u="sng" dirty="0" smtClean="0"/>
              <a:t>No</a:t>
            </a:r>
            <a:r>
              <a:rPr lang="es-ES" dirty="0" smtClean="0"/>
              <a:t> toque </a:t>
            </a:r>
            <a:r>
              <a:rPr lang="es-ES" dirty="0" err="1" smtClean="0"/>
              <a:t>ningun</a:t>
            </a:r>
            <a:r>
              <a:rPr lang="es-ES" dirty="0" smtClean="0"/>
              <a:t> objeto que lleve una etiqueta de radiactividad hasta que haya </a:t>
            </a:r>
            <a:r>
              <a:rPr lang="es-ES" smtClean="0"/>
              <a:t>recibido </a:t>
            </a:r>
            <a:r>
              <a:rPr lang="es-ES" smtClean="0"/>
              <a:t>autorización </a:t>
            </a:r>
            <a:r>
              <a:rPr lang="es-ES" dirty="0" smtClean="0"/>
              <a:t>del oficial de seguridad radioactiva.</a:t>
            </a:r>
          </a:p>
          <a:p>
            <a:r>
              <a:rPr lang="es-ES" dirty="0" smtClean="0"/>
              <a:t>Para pedir ayuda contacte al oficial de seguridad radiactiva durante las  horas de trabajo.</a:t>
            </a:r>
            <a:endParaRPr lang="es-ES" dirty="0"/>
          </a:p>
        </p:txBody>
      </p:sp>
      <p:pic>
        <p:nvPicPr>
          <p:cNvPr id="22530" name="Picture 2" descr="http://www.uchsc.edu/safety/Images/RadiationSymbol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0" y="4648200"/>
            <a:ext cx="510530" cy="476250"/>
          </a:xfrm>
          <a:prstGeom prst="rect">
            <a:avLst/>
          </a:prstGeom>
          <a:noFill/>
        </p:spPr>
      </p:pic>
      <p:sp>
        <p:nvSpPr>
          <p:cNvPr id="6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4191000" cy="228600"/>
          </a:xfrm>
        </p:spPr>
        <p:txBody>
          <a:bodyPr>
            <a:normAutofit fontScale="92500"/>
          </a:bodyPr>
          <a:lstStyle/>
          <a:p>
            <a:r>
              <a:rPr lang="es-ES" dirty="0" smtClean="0"/>
              <a:t>21 de Noviembre de 2008 auxiliares de seguridad radiológica de Formación</a:t>
            </a:r>
            <a:endParaRPr lang="es-E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91600" cy="1371600"/>
          </a:xfrm>
        </p:spPr>
        <p:txBody>
          <a:bodyPr>
            <a:noAutofit/>
          </a:bodyPr>
          <a:lstStyle/>
          <a:p>
            <a:r>
              <a:rPr lang="es-ES" sz="3700" dirty="0" smtClean="0"/>
              <a:t>Procedimientos de emergencia para accidentes derrames </a:t>
            </a:r>
            <a:r>
              <a:rPr lang="es-ES" sz="3700" dirty="0" err="1" smtClean="0"/>
              <a:t>ilo</a:t>
            </a:r>
            <a:r>
              <a:rPr lang="es-ES" sz="3700" dirty="0" smtClean="0"/>
              <a:t> Derrames</a:t>
            </a:r>
            <a:endParaRPr lang="es-ES" sz="37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600200"/>
          <a:ext cx="6781800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0"/>
                <a:gridCol w="3390900"/>
              </a:tblGrid>
              <a:tr h="458097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Tipo</a:t>
                      </a:r>
                      <a:r>
                        <a:rPr lang="en-US" dirty="0" smtClean="0"/>
                        <a:t> de </a:t>
                      </a:r>
                      <a:r>
                        <a:rPr lang="en-US" dirty="0" err="1" smtClean="0"/>
                        <a:t>emergencia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Contactar</a:t>
                      </a:r>
                      <a:endParaRPr lang="en-US" dirty="0"/>
                    </a:p>
                  </a:txBody>
                  <a:tcPr/>
                </a:tc>
              </a:tr>
              <a:tr h="1129552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Accidentes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/>
                        <a:t>o </a:t>
                      </a:r>
                      <a:r>
                        <a:rPr lang="en-US" dirty="0" err="1" smtClean="0"/>
                        <a:t>derrames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que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causen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da</a:t>
                      </a:r>
                      <a:r>
                        <a:rPr lang="es-ES" sz="1800" dirty="0" smtClean="0"/>
                        <a:t>ñ</a:t>
                      </a:r>
                      <a:r>
                        <a:rPr lang="en-US" baseline="0" dirty="0" err="1" smtClean="0"/>
                        <a:t>os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que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err="1" smtClean="0"/>
                        <a:t>requieran</a:t>
                      </a:r>
                      <a:r>
                        <a:rPr lang="en-US" baseline="0" smtClean="0"/>
                        <a:t> </a:t>
                      </a:r>
                      <a:r>
                        <a:rPr lang="en-US" baseline="0" smtClean="0"/>
                        <a:t>atención </a:t>
                      </a:r>
                      <a:r>
                        <a:rPr lang="en-US" baseline="0" dirty="0" err="1" smtClean="0"/>
                        <a:t>medica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urgente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911</a:t>
                      </a:r>
                      <a:endParaRPr lang="en-US" dirty="0"/>
                    </a:p>
                  </a:txBody>
                  <a:tcPr/>
                </a:tc>
              </a:tr>
              <a:tr h="2146151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Accidentes</a:t>
                      </a:r>
                      <a:r>
                        <a:rPr lang="en-US" dirty="0" smtClean="0"/>
                        <a:t> o </a:t>
                      </a:r>
                      <a:r>
                        <a:rPr lang="en-US" dirty="0" err="1" smtClean="0"/>
                        <a:t>derrames</a:t>
                      </a:r>
                      <a:r>
                        <a:rPr lang="en-US" dirty="0" smtClean="0"/>
                        <a:t> sin </a:t>
                      </a:r>
                      <a:r>
                        <a:rPr lang="en-US" dirty="0" err="1" smtClean="0"/>
                        <a:t>da</a:t>
                      </a:r>
                      <a:r>
                        <a:rPr lang="es-ES" sz="1800" dirty="0" smtClean="0"/>
                        <a:t>ñ</a:t>
                      </a:r>
                      <a:r>
                        <a:rPr lang="en-US" dirty="0" err="1" smtClean="0"/>
                        <a:t>os</a:t>
                      </a:r>
                      <a:r>
                        <a:rPr lang="en-US" dirty="0" smtClean="0"/>
                        <a:t> o con </a:t>
                      </a:r>
                      <a:r>
                        <a:rPr lang="en-US" dirty="0" err="1" smtClean="0"/>
                        <a:t>da</a:t>
                      </a:r>
                      <a:r>
                        <a:rPr lang="es-ES" sz="1800" dirty="0" smtClean="0"/>
                        <a:t>ñ</a:t>
                      </a:r>
                      <a:r>
                        <a:rPr lang="en-US" dirty="0" err="1" smtClean="0"/>
                        <a:t>os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que</a:t>
                      </a:r>
                      <a:r>
                        <a:rPr lang="en-US" dirty="0" smtClean="0"/>
                        <a:t> no </a:t>
                      </a:r>
                      <a:r>
                        <a:rPr lang="en-US" err="1" smtClean="0"/>
                        <a:t>requieran</a:t>
                      </a:r>
                      <a:r>
                        <a:rPr lang="en-US" smtClean="0"/>
                        <a:t> </a:t>
                      </a:r>
                      <a:r>
                        <a:rPr lang="en-US" smtClean="0"/>
                        <a:t>atención </a:t>
                      </a:r>
                      <a:r>
                        <a:rPr lang="en-US" dirty="0" err="1" smtClean="0"/>
                        <a:t>medica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urgente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sino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solamente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la </a:t>
                      </a:r>
                      <a:r>
                        <a:rPr lang="en-US" baseline="0" dirty="0" err="1" smtClean="0"/>
                        <a:t>unidad</a:t>
                      </a:r>
                      <a:r>
                        <a:rPr lang="en-US" baseline="0" dirty="0" smtClean="0"/>
                        <a:t> de </a:t>
                      </a:r>
                      <a:r>
                        <a:rPr lang="en-US" baseline="0" dirty="0" err="1" smtClean="0"/>
                        <a:t>primeros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auxilios</a:t>
                      </a:r>
                      <a:r>
                        <a:rPr lang="en-US" baseline="0" dirty="0" smtClean="0"/>
                        <a:t> en el </a:t>
                      </a:r>
                      <a:r>
                        <a:rPr lang="en-US" baseline="0" dirty="0" err="1" smtClean="0"/>
                        <a:t>edificio</a:t>
                      </a:r>
                      <a:r>
                        <a:rPr lang="en-US" baseline="0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Durante </a:t>
                      </a:r>
                      <a:r>
                        <a:rPr lang="en-US" dirty="0" err="1" smtClean="0"/>
                        <a:t>horas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normales</a:t>
                      </a:r>
                      <a:endParaRPr lang="en-US" dirty="0" smtClean="0"/>
                    </a:p>
                    <a:p>
                      <a:pPr algn="ctr"/>
                      <a:r>
                        <a:rPr lang="en-US" baseline="0" dirty="0" smtClean="0"/>
                        <a:t>De </a:t>
                      </a:r>
                      <a:r>
                        <a:rPr lang="en-US" baseline="0" dirty="0" err="1" smtClean="0"/>
                        <a:t>trabajo</a:t>
                      </a:r>
                      <a:r>
                        <a:rPr lang="en-US" baseline="0" dirty="0" smtClean="0"/>
                        <a:t>:  XXX-XXX-XXXX</a:t>
                      </a:r>
                    </a:p>
                    <a:p>
                      <a:pPr algn="ctr"/>
                      <a:endParaRPr lang="en-US" baseline="0" dirty="0" smtClean="0"/>
                    </a:p>
                    <a:p>
                      <a:pPr algn="ctr"/>
                      <a:r>
                        <a:rPr lang="en-US" baseline="0" dirty="0" err="1" smtClean="0"/>
                        <a:t>Fuera</a:t>
                      </a:r>
                      <a:r>
                        <a:rPr lang="en-US" baseline="0" dirty="0" smtClean="0"/>
                        <a:t> de </a:t>
                      </a:r>
                      <a:r>
                        <a:rPr lang="en-US" baseline="0" dirty="0" err="1" smtClean="0"/>
                        <a:t>las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horas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normales</a:t>
                      </a:r>
                      <a:r>
                        <a:rPr lang="en-US" baseline="0" dirty="0" smtClean="0"/>
                        <a:t> de </a:t>
                      </a:r>
                      <a:r>
                        <a:rPr lang="en-US" baseline="0" dirty="0" err="1" smtClean="0"/>
                        <a:t>trabajo</a:t>
                      </a:r>
                      <a:r>
                        <a:rPr lang="en-US" baseline="0" dirty="0" smtClean="0"/>
                        <a:t>, fines de </a:t>
                      </a:r>
                      <a:r>
                        <a:rPr lang="en-US" baseline="0" dirty="0" err="1" smtClean="0"/>
                        <a:t>semana</a:t>
                      </a:r>
                      <a:r>
                        <a:rPr lang="en-US" baseline="0" dirty="0" smtClean="0"/>
                        <a:t> y </a:t>
                      </a:r>
                      <a:r>
                        <a:rPr lang="en-US" baseline="0" dirty="0" err="1" smtClean="0"/>
                        <a:t>dias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festivos</a:t>
                      </a:r>
                      <a:r>
                        <a:rPr lang="en-US" baseline="0" dirty="0" smtClean="0"/>
                        <a:t>: </a:t>
                      </a:r>
                    </a:p>
                    <a:p>
                      <a:pPr algn="ctr"/>
                      <a:r>
                        <a:rPr lang="en-US" baseline="0" dirty="0" smtClean="0"/>
                        <a:t>XXX-XXX-XXXX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457200" y="5181600"/>
            <a:ext cx="8077200" cy="1447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z="1900" dirty="0" smtClean="0">
                <a:latin typeface="Times New Roman"/>
                <a:ea typeface="Calibri"/>
              </a:rPr>
              <a:t>Nota </a:t>
            </a:r>
            <a:r>
              <a:rPr lang="en-US" sz="1900" dirty="0" err="1" smtClean="0">
                <a:latin typeface="Times New Roman"/>
                <a:ea typeface="Calibri"/>
              </a:rPr>
              <a:t>importante</a:t>
            </a:r>
            <a:r>
              <a:rPr lang="en-US" sz="1900" dirty="0" smtClean="0">
                <a:latin typeface="Times New Roman"/>
                <a:ea typeface="Calibri"/>
              </a:rPr>
              <a:t>: Si el </a:t>
            </a:r>
            <a:r>
              <a:rPr lang="en-US" sz="1900" dirty="0" err="1" smtClean="0">
                <a:latin typeface="Times New Roman"/>
                <a:ea typeface="Calibri"/>
              </a:rPr>
              <a:t>accidente</a:t>
            </a:r>
            <a:r>
              <a:rPr lang="en-US" sz="1900" dirty="0" smtClean="0">
                <a:latin typeface="Times New Roman"/>
                <a:ea typeface="Calibri"/>
              </a:rPr>
              <a:t> ha </a:t>
            </a:r>
            <a:r>
              <a:rPr lang="en-US" sz="1900" dirty="0" err="1" smtClean="0">
                <a:latin typeface="Times New Roman"/>
                <a:ea typeface="Calibri"/>
              </a:rPr>
              <a:t>producido</a:t>
            </a:r>
            <a:r>
              <a:rPr lang="en-US" sz="1900" dirty="0" smtClean="0">
                <a:latin typeface="Times New Roman"/>
                <a:ea typeface="Calibri"/>
              </a:rPr>
              <a:t> </a:t>
            </a:r>
            <a:r>
              <a:rPr lang="en-US" sz="1900" dirty="0" err="1" smtClean="0">
                <a:latin typeface="Times New Roman"/>
                <a:ea typeface="Calibri"/>
              </a:rPr>
              <a:t>contacto</a:t>
            </a:r>
            <a:r>
              <a:rPr lang="en-US" sz="1900" dirty="0" smtClean="0">
                <a:latin typeface="Times New Roman"/>
                <a:ea typeface="Calibri"/>
              </a:rPr>
              <a:t> con material </a:t>
            </a:r>
            <a:r>
              <a:rPr lang="en-US" sz="1900" dirty="0" err="1" smtClean="0">
                <a:latin typeface="Times New Roman"/>
                <a:ea typeface="Calibri"/>
              </a:rPr>
              <a:t>radioactivo</a:t>
            </a:r>
            <a:r>
              <a:rPr lang="en-US" sz="1900" dirty="0" smtClean="0">
                <a:latin typeface="Times New Roman"/>
                <a:ea typeface="Calibri"/>
              </a:rPr>
              <a:t>, no </a:t>
            </a:r>
            <a:r>
              <a:rPr lang="en-US" sz="1900" dirty="0" err="1" smtClean="0">
                <a:latin typeface="Times New Roman"/>
                <a:ea typeface="Calibri"/>
              </a:rPr>
              <a:t>abandone</a:t>
            </a:r>
            <a:r>
              <a:rPr lang="en-US" sz="1900" dirty="0" smtClean="0">
                <a:latin typeface="Times New Roman"/>
                <a:ea typeface="Calibri"/>
              </a:rPr>
              <a:t> el </a:t>
            </a:r>
            <a:r>
              <a:rPr lang="en-US" sz="1900" dirty="0" err="1" smtClean="0">
                <a:latin typeface="Times New Roman"/>
                <a:ea typeface="Calibri"/>
              </a:rPr>
              <a:t>lugar</a:t>
            </a:r>
            <a:r>
              <a:rPr lang="en-US" sz="1900" dirty="0" smtClean="0">
                <a:latin typeface="Times New Roman"/>
                <a:ea typeface="Calibri"/>
              </a:rPr>
              <a:t> a </a:t>
            </a:r>
            <a:r>
              <a:rPr lang="en-US" sz="1900" dirty="0" err="1" smtClean="0">
                <a:latin typeface="Times New Roman"/>
                <a:ea typeface="Calibri"/>
              </a:rPr>
              <a:t>menos</a:t>
            </a:r>
            <a:r>
              <a:rPr lang="en-US" sz="1900" dirty="0" smtClean="0">
                <a:latin typeface="Times New Roman"/>
                <a:ea typeface="Calibri"/>
              </a:rPr>
              <a:t> </a:t>
            </a:r>
            <a:r>
              <a:rPr lang="en-US" sz="1900" dirty="0" err="1" smtClean="0">
                <a:latin typeface="Times New Roman"/>
                <a:ea typeface="Calibri"/>
              </a:rPr>
              <a:t>que</a:t>
            </a:r>
            <a:r>
              <a:rPr lang="en-US" sz="1900" dirty="0" smtClean="0">
                <a:latin typeface="Times New Roman"/>
                <a:ea typeface="Calibri"/>
              </a:rPr>
              <a:t> sea </a:t>
            </a:r>
            <a:r>
              <a:rPr lang="en-US" sz="1900" dirty="0" err="1" smtClean="0">
                <a:latin typeface="Times New Roman"/>
                <a:ea typeface="Calibri"/>
              </a:rPr>
              <a:t>peligroso</a:t>
            </a:r>
            <a:r>
              <a:rPr lang="en-US" sz="1900" dirty="0" smtClean="0">
                <a:latin typeface="Times New Roman"/>
                <a:ea typeface="Calibri"/>
              </a:rPr>
              <a:t> </a:t>
            </a:r>
            <a:r>
              <a:rPr lang="en-US" sz="1900" dirty="0" err="1" smtClean="0">
                <a:latin typeface="Times New Roman"/>
                <a:ea typeface="Calibri"/>
              </a:rPr>
              <a:t>permanecer</a:t>
            </a:r>
            <a:r>
              <a:rPr lang="en-US" sz="1900" dirty="0" smtClean="0">
                <a:latin typeface="Times New Roman"/>
                <a:ea typeface="Calibri"/>
              </a:rPr>
              <a:t> </a:t>
            </a:r>
            <a:r>
              <a:rPr lang="en-US" sz="1900" dirty="0" err="1" smtClean="0">
                <a:latin typeface="Times New Roman"/>
                <a:ea typeface="Calibri"/>
              </a:rPr>
              <a:t>alli</a:t>
            </a:r>
            <a:r>
              <a:rPr lang="en-US" sz="1900" dirty="0" smtClean="0">
                <a:latin typeface="Times New Roman"/>
                <a:ea typeface="Calibri"/>
              </a:rPr>
              <a:t>. </a:t>
            </a:r>
            <a:r>
              <a:rPr lang="en-US" sz="1900" dirty="0" err="1" smtClean="0">
                <a:latin typeface="Times New Roman"/>
                <a:ea typeface="Calibri"/>
              </a:rPr>
              <a:t>Avise</a:t>
            </a:r>
            <a:r>
              <a:rPr lang="en-US" sz="1900" dirty="0" smtClean="0">
                <a:latin typeface="Times New Roman"/>
                <a:ea typeface="Calibri"/>
              </a:rPr>
              <a:t> al </a:t>
            </a:r>
            <a:r>
              <a:rPr lang="en-US" sz="1900" dirty="0" err="1" smtClean="0">
                <a:latin typeface="Times New Roman"/>
                <a:ea typeface="Calibri"/>
              </a:rPr>
              <a:t>Ofical</a:t>
            </a:r>
            <a:r>
              <a:rPr lang="en-US" sz="1900" dirty="0" smtClean="0">
                <a:latin typeface="Times New Roman"/>
                <a:ea typeface="Calibri"/>
              </a:rPr>
              <a:t> de </a:t>
            </a:r>
            <a:r>
              <a:rPr lang="en-US" sz="1900" dirty="0" err="1" smtClean="0">
                <a:latin typeface="Times New Roman"/>
                <a:ea typeface="Calibri"/>
              </a:rPr>
              <a:t>Seguridad</a:t>
            </a:r>
            <a:r>
              <a:rPr lang="en-US" sz="1900" dirty="0" smtClean="0">
                <a:latin typeface="Times New Roman"/>
                <a:ea typeface="Calibri"/>
              </a:rPr>
              <a:t> </a:t>
            </a:r>
            <a:r>
              <a:rPr lang="en-US" sz="1900" dirty="0" err="1" smtClean="0">
                <a:latin typeface="Times New Roman"/>
                <a:ea typeface="Calibri"/>
              </a:rPr>
              <a:t>Radioctiva</a:t>
            </a:r>
            <a:r>
              <a:rPr lang="en-US" sz="1900" dirty="0" smtClean="0">
                <a:latin typeface="Times New Roman"/>
                <a:ea typeface="Calibri"/>
              </a:rPr>
              <a:t> y </a:t>
            </a:r>
            <a:r>
              <a:rPr lang="en-US" sz="1900" dirty="0" err="1" smtClean="0">
                <a:latin typeface="Times New Roman"/>
                <a:ea typeface="Calibri"/>
              </a:rPr>
              <a:t>espere</a:t>
            </a:r>
            <a:r>
              <a:rPr lang="en-US" sz="1900" dirty="0" smtClean="0">
                <a:latin typeface="Times New Roman"/>
                <a:ea typeface="Calibri"/>
              </a:rPr>
              <a:t> a </a:t>
            </a:r>
            <a:r>
              <a:rPr lang="en-US" sz="1900" dirty="0" err="1" smtClean="0">
                <a:latin typeface="Times New Roman"/>
                <a:ea typeface="Calibri"/>
              </a:rPr>
              <a:t>que</a:t>
            </a:r>
            <a:r>
              <a:rPr lang="en-US" sz="1900" dirty="0" smtClean="0">
                <a:latin typeface="Times New Roman"/>
                <a:ea typeface="Calibri"/>
              </a:rPr>
              <a:t> </a:t>
            </a:r>
            <a:r>
              <a:rPr lang="en-US" sz="1900" dirty="0" err="1" smtClean="0">
                <a:latin typeface="Times New Roman"/>
                <a:ea typeface="Calibri"/>
              </a:rPr>
              <a:t>llegue</a:t>
            </a:r>
            <a:r>
              <a:rPr lang="en-US" sz="1900" dirty="0" smtClean="0">
                <a:latin typeface="Times New Roman"/>
                <a:ea typeface="Calibri"/>
              </a:rPr>
              <a:t> el personal de </a:t>
            </a:r>
            <a:r>
              <a:rPr lang="en-US" sz="1900" dirty="0" err="1" smtClean="0">
                <a:latin typeface="Times New Roman"/>
                <a:ea typeface="Calibri"/>
              </a:rPr>
              <a:t>ayuda</a:t>
            </a:r>
            <a:r>
              <a:rPr lang="en-US" sz="1900" dirty="0" smtClean="0">
                <a:latin typeface="Times New Roman"/>
                <a:ea typeface="Calibri"/>
              </a:rPr>
              <a:t> (</a:t>
            </a:r>
            <a:r>
              <a:rPr lang="en-US" sz="1900" dirty="0" err="1" smtClean="0">
                <a:latin typeface="Times New Roman"/>
                <a:ea typeface="Calibri"/>
              </a:rPr>
              <a:t>socorro</a:t>
            </a:r>
            <a:r>
              <a:rPr lang="en-US" sz="1900" dirty="0" smtClean="0">
                <a:latin typeface="Times New Roman"/>
                <a:ea typeface="Calibri"/>
              </a:rPr>
              <a:t>). </a:t>
            </a:r>
          </a:p>
          <a:p>
            <a:r>
              <a:rPr lang="en-US" sz="1900" dirty="0" err="1" smtClean="0">
                <a:latin typeface="Times New Roman"/>
                <a:ea typeface="Calibri"/>
              </a:rPr>
              <a:t>Esto</a:t>
            </a:r>
            <a:r>
              <a:rPr lang="en-US" sz="1900" dirty="0" smtClean="0">
                <a:latin typeface="Times New Roman"/>
                <a:ea typeface="Calibri"/>
              </a:rPr>
              <a:t> </a:t>
            </a:r>
            <a:r>
              <a:rPr lang="en-US" sz="1900" dirty="0" err="1" smtClean="0">
                <a:latin typeface="Times New Roman"/>
                <a:ea typeface="Calibri"/>
              </a:rPr>
              <a:t>evitara</a:t>
            </a:r>
            <a:r>
              <a:rPr lang="en-US" sz="1900" dirty="0" smtClean="0">
                <a:latin typeface="Times New Roman"/>
                <a:ea typeface="Calibri"/>
              </a:rPr>
              <a:t> </a:t>
            </a:r>
            <a:r>
              <a:rPr lang="en-US" sz="1900" dirty="0" err="1" smtClean="0">
                <a:latin typeface="Times New Roman"/>
                <a:ea typeface="Calibri"/>
              </a:rPr>
              <a:t>que</a:t>
            </a:r>
            <a:r>
              <a:rPr lang="en-US" sz="1900" dirty="0" smtClean="0">
                <a:latin typeface="Times New Roman"/>
                <a:ea typeface="Calibri"/>
              </a:rPr>
              <a:t> </a:t>
            </a:r>
            <a:r>
              <a:rPr lang="en-US" sz="1900" smtClean="0">
                <a:latin typeface="Times New Roman"/>
                <a:ea typeface="Calibri"/>
              </a:rPr>
              <a:t>la </a:t>
            </a:r>
            <a:r>
              <a:rPr lang="en-US" sz="1900" smtClean="0">
                <a:latin typeface="Times New Roman"/>
                <a:ea typeface="Calibri"/>
              </a:rPr>
              <a:t>contaminación </a:t>
            </a:r>
            <a:r>
              <a:rPr lang="en-US" sz="1900" dirty="0" smtClean="0">
                <a:latin typeface="Times New Roman"/>
                <a:ea typeface="Calibri"/>
              </a:rPr>
              <a:t>se </a:t>
            </a:r>
            <a:r>
              <a:rPr lang="en-US" sz="1900" dirty="0" err="1" smtClean="0">
                <a:latin typeface="Times New Roman"/>
                <a:ea typeface="Calibri"/>
              </a:rPr>
              <a:t>extienda</a:t>
            </a:r>
            <a:r>
              <a:rPr lang="en-US" sz="1900" dirty="0" smtClean="0">
                <a:latin typeface="Times New Roman"/>
                <a:ea typeface="Calibri"/>
              </a:rPr>
              <a:t>.</a:t>
            </a:r>
            <a:endParaRPr lang="en-US" sz="1900" dirty="0">
              <a:latin typeface="Times New Roman"/>
              <a:ea typeface="Calibri"/>
            </a:endParaRPr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4191000" cy="228600"/>
          </a:xfrm>
        </p:spPr>
        <p:txBody>
          <a:bodyPr>
            <a:normAutofit fontScale="92500"/>
          </a:bodyPr>
          <a:lstStyle/>
          <a:p>
            <a:r>
              <a:rPr lang="es-ES" dirty="0" smtClean="0"/>
              <a:t>21 de Noviembre de 2008 auxiliares de seguridad radiológica de Formación</a:t>
            </a:r>
            <a:endParaRPr lang="es-E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9144000" cy="6858000"/>
            <a:chOff x="304800" y="152400"/>
            <a:chExt cx="8534400" cy="6477000"/>
          </a:xfrm>
        </p:grpSpPr>
        <p:pic>
          <p:nvPicPr>
            <p:cNvPr id="18435" name="Picture 3"/>
            <p:cNvPicPr>
              <a:picLocks noChangeAspect="1" noChangeArrowheads="1"/>
            </p:cNvPicPr>
            <p:nvPr/>
          </p:nvPicPr>
          <p:blipFill>
            <a:blip r:embed="rId2"/>
            <a:srcRect l="10407" t="15292" r="8822" b="3710"/>
            <a:stretch>
              <a:fillRect/>
            </a:stretch>
          </p:blipFill>
          <p:spPr bwMode="auto">
            <a:xfrm>
              <a:off x="304800" y="152400"/>
              <a:ext cx="8534400" cy="647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ctangle 5"/>
            <p:cNvSpPr/>
            <p:nvPr/>
          </p:nvSpPr>
          <p:spPr>
            <a:xfrm>
              <a:off x="6705600" y="5029200"/>
              <a:ext cx="1066800" cy="533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600200" y="2286000"/>
            <a:ext cx="5943600" cy="170816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500" u="sng" dirty="0" err="1" smtClean="0">
                <a:solidFill>
                  <a:schemeClr val="bg1"/>
                </a:solidFill>
              </a:rPr>
              <a:t>Puntos</a:t>
            </a:r>
            <a:r>
              <a:rPr lang="en-US" sz="1500" u="sng" dirty="0" smtClean="0">
                <a:solidFill>
                  <a:schemeClr val="bg1"/>
                </a:solidFill>
              </a:rPr>
              <a:t> a </a:t>
            </a:r>
            <a:r>
              <a:rPr lang="en-US" sz="1500" u="sng" dirty="0" err="1" smtClean="0">
                <a:solidFill>
                  <a:schemeClr val="bg1"/>
                </a:solidFill>
              </a:rPr>
              <a:t>recordar</a:t>
            </a:r>
            <a:r>
              <a:rPr lang="en-US" sz="1500" u="sng" dirty="0" smtClean="0">
                <a:solidFill>
                  <a:schemeClr val="bg1"/>
                </a:solidFill>
              </a:rPr>
              <a:t>:</a:t>
            </a:r>
          </a:p>
          <a:p>
            <a:pPr>
              <a:buFont typeface="Arial" charset="0"/>
              <a:buChar char="•"/>
            </a:pPr>
            <a:r>
              <a:rPr lang="en-US" sz="1500" dirty="0" smtClean="0">
                <a:solidFill>
                  <a:schemeClr val="bg1"/>
                </a:solidFill>
              </a:rPr>
              <a:t> No </a:t>
            </a:r>
            <a:r>
              <a:rPr lang="en-US" sz="1500" dirty="0" err="1" smtClean="0">
                <a:solidFill>
                  <a:schemeClr val="bg1"/>
                </a:solidFill>
              </a:rPr>
              <a:t>trabaje</a:t>
            </a:r>
            <a:r>
              <a:rPr lang="en-US" sz="1500" dirty="0" smtClean="0">
                <a:solidFill>
                  <a:schemeClr val="bg1"/>
                </a:solidFill>
              </a:rPr>
              <a:t>, </a:t>
            </a:r>
            <a:r>
              <a:rPr lang="en-US" sz="1500" dirty="0" err="1" smtClean="0">
                <a:solidFill>
                  <a:schemeClr val="bg1"/>
                </a:solidFill>
              </a:rPr>
              <a:t>desmonte</a:t>
            </a:r>
            <a:r>
              <a:rPr lang="en-US" sz="1500" dirty="0" smtClean="0">
                <a:solidFill>
                  <a:schemeClr val="bg1"/>
                </a:solidFill>
              </a:rPr>
              <a:t> o </a:t>
            </a:r>
            <a:r>
              <a:rPr lang="en-US" sz="1500" dirty="0" err="1" smtClean="0">
                <a:solidFill>
                  <a:schemeClr val="bg1"/>
                </a:solidFill>
              </a:rPr>
              <a:t>mueva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ningun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objeto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que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lleve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una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etiqueta</a:t>
            </a:r>
            <a:r>
              <a:rPr lang="en-US" sz="1500" dirty="0" smtClean="0">
                <a:solidFill>
                  <a:schemeClr val="bg1"/>
                </a:solidFill>
              </a:rPr>
              <a:t> de </a:t>
            </a:r>
            <a:r>
              <a:rPr lang="en-US" sz="1500" dirty="0" err="1" smtClean="0">
                <a:solidFill>
                  <a:schemeClr val="bg1"/>
                </a:solidFill>
              </a:rPr>
              <a:t>peligro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smtClean="0">
                <a:solidFill>
                  <a:schemeClr val="bg1"/>
                </a:solidFill>
              </a:rPr>
              <a:t>de </a:t>
            </a:r>
            <a:r>
              <a:rPr lang="en-US" sz="1500" smtClean="0">
                <a:solidFill>
                  <a:schemeClr val="bg1"/>
                </a:solidFill>
              </a:rPr>
              <a:t>radiación </a:t>
            </a:r>
            <a:r>
              <a:rPr lang="en-US" sz="1500" dirty="0" err="1" smtClean="0">
                <a:solidFill>
                  <a:schemeClr val="bg1"/>
                </a:solidFill>
              </a:rPr>
              <a:t>hasta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que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haya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err="1" smtClean="0">
                <a:solidFill>
                  <a:schemeClr val="bg1"/>
                </a:solidFill>
              </a:rPr>
              <a:t>recibido</a:t>
            </a:r>
            <a:r>
              <a:rPr lang="en-US" sz="1500" smtClean="0">
                <a:solidFill>
                  <a:schemeClr val="bg1"/>
                </a:solidFill>
              </a:rPr>
              <a:t> </a:t>
            </a:r>
            <a:r>
              <a:rPr lang="en-US" sz="1500" smtClean="0">
                <a:solidFill>
                  <a:schemeClr val="bg1"/>
                </a:solidFill>
              </a:rPr>
              <a:t>autorización </a:t>
            </a:r>
            <a:r>
              <a:rPr lang="en-US" sz="1500" dirty="0" smtClean="0">
                <a:solidFill>
                  <a:schemeClr val="bg1"/>
                </a:solidFill>
              </a:rPr>
              <a:t>del </a:t>
            </a:r>
            <a:r>
              <a:rPr lang="en-US" sz="1500" dirty="0" err="1" smtClean="0">
                <a:solidFill>
                  <a:schemeClr val="bg1"/>
                </a:solidFill>
              </a:rPr>
              <a:t>oficial</a:t>
            </a:r>
            <a:r>
              <a:rPr lang="en-US" sz="1500" dirty="0" smtClean="0">
                <a:solidFill>
                  <a:schemeClr val="bg1"/>
                </a:solidFill>
              </a:rPr>
              <a:t> de </a:t>
            </a:r>
            <a:r>
              <a:rPr lang="en-US" sz="1500" dirty="0" err="1" smtClean="0">
                <a:solidFill>
                  <a:schemeClr val="bg1"/>
                </a:solidFill>
              </a:rPr>
              <a:t>seguridad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radioactiva</a:t>
            </a:r>
            <a:r>
              <a:rPr lang="en-US" sz="1500" dirty="0" smtClean="0">
                <a:solidFill>
                  <a:schemeClr val="bg1"/>
                </a:solidFill>
              </a:rPr>
              <a:t> (RSO) o del personal del </a:t>
            </a:r>
            <a:r>
              <a:rPr lang="en-US" sz="1500" dirty="0" err="1" smtClean="0">
                <a:solidFill>
                  <a:schemeClr val="bg1"/>
                </a:solidFill>
              </a:rPr>
              <a:t>laboratorio</a:t>
            </a:r>
            <a:r>
              <a:rPr lang="en-US" sz="1500" dirty="0" smtClean="0">
                <a:solidFill>
                  <a:schemeClr val="bg1"/>
                </a:solidFill>
              </a:rPr>
              <a:t>.</a:t>
            </a:r>
          </a:p>
          <a:p>
            <a:pPr>
              <a:buFont typeface="Arial" charset="0"/>
              <a:buChar char="•"/>
            </a:pPr>
            <a:r>
              <a:rPr lang="en-US" sz="1500" dirty="0" smtClean="0">
                <a:solidFill>
                  <a:schemeClr val="bg1"/>
                </a:solidFill>
              </a:rPr>
              <a:t> Si no </a:t>
            </a:r>
            <a:r>
              <a:rPr lang="en-US" sz="1500" dirty="0" err="1" smtClean="0">
                <a:solidFill>
                  <a:schemeClr val="bg1"/>
                </a:solidFill>
              </a:rPr>
              <a:t>esta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seguro</a:t>
            </a:r>
            <a:r>
              <a:rPr lang="en-US" sz="1500" dirty="0" smtClean="0">
                <a:solidFill>
                  <a:schemeClr val="bg1"/>
                </a:solidFill>
              </a:rPr>
              <a:t> de </a:t>
            </a:r>
            <a:r>
              <a:rPr lang="en-US" sz="1500" err="1" smtClean="0">
                <a:solidFill>
                  <a:schemeClr val="bg1"/>
                </a:solidFill>
              </a:rPr>
              <a:t>las</a:t>
            </a:r>
            <a:r>
              <a:rPr lang="en-US" sz="1500" smtClean="0">
                <a:solidFill>
                  <a:schemeClr val="bg1"/>
                </a:solidFill>
              </a:rPr>
              <a:t> </a:t>
            </a:r>
            <a:r>
              <a:rPr lang="en-US" sz="1500" smtClean="0">
                <a:solidFill>
                  <a:schemeClr val="bg1"/>
                </a:solidFill>
              </a:rPr>
              <a:t>precauciónes </a:t>
            </a:r>
            <a:r>
              <a:rPr lang="en-US" sz="1500" dirty="0" err="1" smtClean="0">
                <a:solidFill>
                  <a:schemeClr val="bg1"/>
                </a:solidFill>
              </a:rPr>
              <a:t>que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debe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tomar</a:t>
            </a:r>
            <a:r>
              <a:rPr lang="en-US" sz="1500" dirty="0" smtClean="0">
                <a:solidFill>
                  <a:schemeClr val="bg1"/>
                </a:solidFill>
              </a:rPr>
              <a:t>, </a:t>
            </a:r>
            <a:r>
              <a:rPr lang="en-US" sz="1500" dirty="0" err="1" smtClean="0">
                <a:solidFill>
                  <a:schemeClr val="bg1"/>
                </a:solidFill>
              </a:rPr>
              <a:t>pregunte</a:t>
            </a:r>
            <a:r>
              <a:rPr lang="en-US" sz="1500" dirty="0" smtClean="0">
                <a:solidFill>
                  <a:schemeClr val="bg1"/>
                </a:solidFill>
              </a:rPr>
              <a:t> al personal del </a:t>
            </a:r>
            <a:r>
              <a:rPr lang="en-US" sz="1500" dirty="0" err="1" smtClean="0">
                <a:solidFill>
                  <a:schemeClr val="bg1"/>
                </a:solidFill>
              </a:rPr>
              <a:t>laboratorio</a:t>
            </a:r>
            <a:r>
              <a:rPr lang="en-US" sz="1500" dirty="0" smtClean="0">
                <a:solidFill>
                  <a:schemeClr val="bg1"/>
                </a:solidFill>
              </a:rPr>
              <a:t> o al </a:t>
            </a:r>
            <a:r>
              <a:rPr lang="en-US" sz="1500" dirty="0" err="1" smtClean="0">
                <a:solidFill>
                  <a:schemeClr val="bg1"/>
                </a:solidFill>
              </a:rPr>
              <a:t>oficial</a:t>
            </a:r>
            <a:r>
              <a:rPr lang="en-US" sz="1500" dirty="0" smtClean="0">
                <a:solidFill>
                  <a:schemeClr val="bg1"/>
                </a:solidFill>
              </a:rPr>
              <a:t> (RSO) </a:t>
            </a:r>
            <a:r>
              <a:rPr lang="en-US" sz="1500" dirty="0" err="1" smtClean="0">
                <a:solidFill>
                  <a:schemeClr val="bg1"/>
                </a:solidFill>
              </a:rPr>
              <a:t>sobre</a:t>
            </a:r>
            <a:r>
              <a:rPr lang="en-US" sz="1500" dirty="0" smtClean="0">
                <a:solidFill>
                  <a:schemeClr val="bg1"/>
                </a:solidFill>
              </a:rPr>
              <a:t> el </a:t>
            </a:r>
            <a:r>
              <a:rPr lang="en-US" sz="1500" dirty="0" err="1" smtClean="0">
                <a:solidFill>
                  <a:schemeClr val="bg1"/>
                </a:solidFill>
              </a:rPr>
              <a:t>procedimiento</a:t>
            </a:r>
            <a:r>
              <a:rPr lang="en-US" sz="1500" dirty="0" smtClean="0">
                <a:solidFill>
                  <a:schemeClr val="bg1"/>
                </a:solidFill>
              </a:rPr>
              <a:t> </a:t>
            </a:r>
            <a:r>
              <a:rPr lang="en-US" sz="1500" dirty="0" err="1" smtClean="0">
                <a:solidFill>
                  <a:schemeClr val="bg1"/>
                </a:solidFill>
              </a:rPr>
              <a:t>adecuado</a:t>
            </a:r>
            <a:r>
              <a:rPr lang="en-US" sz="1500" dirty="0" smtClean="0">
                <a:solidFill>
                  <a:schemeClr val="bg1"/>
                </a:solidFill>
              </a:rPr>
              <a:t>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43000" y="1143000"/>
            <a:ext cx="6934200" cy="10772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s-ES" sz="3200" dirty="0" smtClean="0">
                <a:solidFill>
                  <a:schemeClr val="bg1"/>
                </a:solidFill>
              </a:rPr>
              <a:t>Auxiliares de seguridad radiológica certificado de formación</a:t>
            </a:r>
            <a:endParaRPr lang="es-ES" sz="320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551008" y="2310114"/>
            <a:ext cx="5943600" cy="15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November 21, 2008  Ancillary Radiation Safety Training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relight">
  <a:themeElements>
    <a:clrScheme name="Firelight">
      <a:dk1>
        <a:sysClr val="windowText" lastClr="000000"/>
      </a:dk1>
      <a:lt1>
        <a:sysClr val="window" lastClr="FFFFFF"/>
      </a:lt1>
      <a:dk2>
        <a:srgbClr val="9F1C00"/>
      </a:dk2>
      <a:lt2>
        <a:srgbClr val="EEECE1"/>
      </a:lt2>
      <a:accent1>
        <a:srgbClr val="FF881F"/>
      </a:accent1>
      <a:accent2>
        <a:srgbClr val="771C00"/>
      </a:accent2>
      <a:accent3>
        <a:srgbClr val="576A2C"/>
      </a:accent3>
      <a:accent4>
        <a:srgbClr val="A24D00"/>
      </a:accent4>
      <a:accent5>
        <a:srgbClr val="244872"/>
      </a:accent5>
      <a:accent6>
        <a:srgbClr val="5E341C"/>
      </a:accent6>
      <a:hlink>
        <a:srgbClr val="FF912E"/>
      </a:hlink>
      <a:folHlink>
        <a:srgbClr val="B5CB83"/>
      </a:folHlink>
    </a:clrScheme>
    <a:fontScheme name="Firelight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irelight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50000"/>
              </a:schemeClr>
            </a:gs>
            <a:gs pos="100000">
              <a:schemeClr val="phClr">
                <a:tint val="100000"/>
                <a:shade val="80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path path="circle">
            <a:fillToRect l="25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8100" cap="flat" cmpd="sng" algn="ctr">
          <a:solidFill>
            <a:schemeClr val="phClr">
              <a:shade val="95000"/>
              <a:alpha val="90000"/>
            </a:schemeClr>
          </a:solidFill>
          <a:prstDash val="solid"/>
        </a:ln>
        <a:ln w="76200" cap="flat" cmpd="sng" algn="ctr">
          <a:solidFill>
            <a:schemeClr val="phClr">
              <a:shade val="95000"/>
              <a:alpha val="50000"/>
            </a:schemeClr>
          </a:solidFill>
          <a:prstDash val="solid"/>
        </a:ln>
      </a:lnStyleLst>
      <a:effectStyleLst>
        <a:effectStyle>
          <a:effectLst>
            <a:innerShdw blurRad="63500">
              <a:srgbClr val="000000">
                <a:alpha val="60000"/>
              </a:srgbClr>
            </a:innerShdw>
          </a:effectLst>
        </a:effectStyle>
        <a:effectStyle>
          <a:effectLst>
            <a:innerShdw blurRad="63500">
              <a:srgbClr val="000000">
                <a:alpha val="50000"/>
              </a:srgbClr>
            </a:innerShdw>
            <a:outerShdw blurRad="76200" dist="38100" sx="101000" sy="101000" rotWithShape="0">
              <a:srgbClr val="000000">
                <a:alpha val="60000"/>
              </a:srgbClr>
            </a:outerShdw>
          </a:effectLst>
        </a:effectStyle>
        <a:effectStyle>
          <a:effectLst>
            <a:innerShdw blurRad="63500">
              <a:srgbClr val="000000">
                <a:alpha val="50000"/>
              </a:srgbClr>
            </a:innerShdw>
          </a:effectLst>
          <a:scene3d>
            <a:camera prst="orthographicFront">
              <a:rot lat="0" lon="0" rev="0"/>
            </a:camera>
            <a:lightRig rig="balanced" dir="t">
              <a:rot lat="0" lon="0" rev="4200000"/>
            </a:lightRig>
          </a:scene3d>
          <a:sp3d prstMaterial="softmetal">
            <a:bevelT w="63500" h="25400" prst="softRound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accent1">
                <a:shade val="45000"/>
                <a:satMod val="125000"/>
              </a:schemeClr>
            </a:gs>
            <a:gs pos="100000">
              <a:schemeClr val="phClr">
                <a:shade val="55000"/>
                <a:satMod val="125000"/>
              </a:schemeClr>
            </a:gs>
          </a:gsLst>
          <a:lin ang="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Firelight</Template>
  <TotalTime>459</TotalTime>
  <Words>738</Words>
  <Application>Microsoft Office PowerPoint</Application>
  <PresentationFormat>On-screen Show (4:3)</PresentationFormat>
  <Paragraphs>72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Firelight</vt:lpstr>
      <vt:lpstr>Cursillo de instrucción de seguridad sobre radiación para el personal auxiliar (subalterno)</vt:lpstr>
      <vt:lpstr>Objetivos del cursillo</vt:lpstr>
      <vt:lpstr>Señales y etiquetas advirtiendo del peligro de radiación</vt:lpstr>
      <vt:lpstr>Regla principal mientras se trabaja en un laboratorio con materiales radioactivos</vt:lpstr>
      <vt:lpstr>¿Qué es la radiación?  Radiación es la transferencia de energía</vt:lpstr>
      <vt:lpstr>¿Dónde se encuentra radiación?</vt:lpstr>
      <vt:lpstr>La radiación natural mas la producida en Estados Unidos se eleva a entre 250 y 400 mrems anualmente</vt:lpstr>
      <vt:lpstr>Reglas básicas para trabajar en laboratorios con materiales radiactivos</vt:lpstr>
      <vt:lpstr>Procedimientos de emergencia para accidentes derrames ilo Derrames</vt:lpstr>
      <vt:lpstr>Slide 10</vt:lpstr>
    </vt:vector>
  </TitlesOfParts>
  <Company>NOAA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Great Radiation-Man</dc:title>
  <dc:creator>William L Freeman</dc:creator>
  <cp:lastModifiedBy>jwilliams</cp:lastModifiedBy>
  <cp:revision>16</cp:revision>
  <dcterms:created xsi:type="dcterms:W3CDTF">2008-11-21T17:37:12Z</dcterms:created>
  <dcterms:modified xsi:type="dcterms:W3CDTF">2008-12-16T19:14:29Z</dcterms:modified>
</cp:coreProperties>
</file>