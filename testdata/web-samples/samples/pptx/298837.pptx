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embeddings/Microsoft_Equation15.bin" ContentType="application/vnd.openxmlformats-officedocument.oleObject"/>
  <Override PartName="/ppt/slides/slide30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embeddings/Microsoft_Equation8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slides/slide25.xml" ContentType="application/vnd.openxmlformats-officedocument.presentationml.slide+xml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16.bin" ContentType="application/vnd.openxmlformats-officedocument.oleObject"/>
  <Override PartName="/ppt/embeddings/Microsoft_Equation4.bin" ContentType="application/vnd.openxmlformats-officedocument.oleObject"/>
  <Override PartName="/ppt/notesSlides/notesSlide4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oleObject1.bin" ContentType="application/vnd.openxmlformats-officedocument.oleObject"/>
  <Override PartName="/ppt/embeddings/Microsoft_Equation10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vml" ContentType="application/vnd.openxmlformats-officedocument.vmlDrawin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slides/slide15.xml" ContentType="application/vnd.openxmlformats-officedocument.presentationml.slide+xml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slides/slide24.xml" ContentType="application/vnd.openxmlformats-officedocument.presentationml.slide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6.xml" ContentType="application/vnd.openxmlformats-officedocument.presentationml.slide+xml"/>
  <Default Extension="pdf" ContentType="application/pdf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trictFirstAndLastChars="0" saveSubsetFonts="1">
  <p:sldMasterIdLst>
    <p:sldMasterId id="2147483655" r:id="rId1"/>
  </p:sldMasterIdLst>
  <p:notesMasterIdLst>
    <p:notesMasterId r:id="rId32"/>
  </p:notesMasterIdLst>
  <p:sldIdLst>
    <p:sldId id="263" r:id="rId2"/>
    <p:sldId id="341" r:id="rId3"/>
    <p:sldId id="363" r:id="rId4"/>
    <p:sldId id="364" r:id="rId5"/>
    <p:sldId id="369" r:id="rId6"/>
    <p:sldId id="371" r:id="rId7"/>
    <p:sldId id="386" r:id="rId8"/>
    <p:sldId id="372" r:id="rId9"/>
    <p:sldId id="370" r:id="rId10"/>
    <p:sldId id="351" r:id="rId11"/>
    <p:sldId id="353" r:id="rId12"/>
    <p:sldId id="378" r:id="rId13"/>
    <p:sldId id="368" r:id="rId14"/>
    <p:sldId id="373" r:id="rId15"/>
    <p:sldId id="374" r:id="rId16"/>
    <p:sldId id="375" r:id="rId17"/>
    <p:sldId id="376" r:id="rId18"/>
    <p:sldId id="377" r:id="rId19"/>
    <p:sldId id="354" r:id="rId20"/>
    <p:sldId id="379" r:id="rId21"/>
    <p:sldId id="381" r:id="rId22"/>
    <p:sldId id="383" r:id="rId23"/>
    <p:sldId id="355" r:id="rId24"/>
    <p:sldId id="380" r:id="rId25"/>
    <p:sldId id="382" r:id="rId26"/>
    <p:sldId id="357" r:id="rId27"/>
    <p:sldId id="384" r:id="rId28"/>
    <p:sldId id="359" r:id="rId29"/>
    <p:sldId id="361" r:id="rId30"/>
    <p:sldId id="385" r:id="rId31"/>
  </p:sldIdLst>
  <p:sldSz cx="9144000" cy="6858000" type="screen4x3"/>
  <p:notesSz cx="6858000" cy="9144000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schemeClr val="tx1"/>
    </p:penClr>
  </p:showPr>
  <p:clrMru>
    <a:srgbClr val="C0C0C0"/>
    <a:srgbClr val="0000FF"/>
    <a:srgbClr val="FFFFFF"/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320" y="-64"/>
      </p:cViewPr>
      <p:guideLst>
        <p:guide orient="horz" pos="2864"/>
        <p:guide pos="2880"/>
      </p:guideLst>
    </p:cSldViewPr>
  </p:slideViewPr>
  <p:outlineViewPr>
    <p:cViewPr varScale="1">
      <p:scale>
        <a:sx n="170" d="200"/>
        <a:sy n="170" d="200"/>
      </p:scale>
      <p:origin x="-784" y="-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5" Type="http://schemas.openxmlformats.org/officeDocument/2006/relationships/viewProps" Target="viewProps.xml"/><Relationship Id="rId31" Type="http://schemas.openxmlformats.org/officeDocument/2006/relationships/slide" Target="slides/slide3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3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23" Type="http://schemas.openxmlformats.org/officeDocument/2006/relationships/slide" Target="slides/slide22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33" Type="http://schemas.openxmlformats.org/officeDocument/2006/relationships/printerSettings" Target="printerSettings/printerSettings1.bin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ict"/><Relationship Id="rId1" Type="http://schemas.openxmlformats.org/officeDocument/2006/relationships/image" Target="../media/image5.pict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ict"/><Relationship Id="rId4" Type="http://schemas.openxmlformats.org/officeDocument/2006/relationships/image" Target="../media/image19.pict"/><Relationship Id="rId5" Type="http://schemas.openxmlformats.org/officeDocument/2006/relationships/image" Target="../media/image20.pict"/><Relationship Id="rId7" Type="http://schemas.openxmlformats.org/officeDocument/2006/relationships/image" Target="../media/image22.pict"/><Relationship Id="rId1" Type="http://schemas.openxmlformats.org/officeDocument/2006/relationships/image" Target="../media/image16.pict"/><Relationship Id="rId2" Type="http://schemas.openxmlformats.org/officeDocument/2006/relationships/image" Target="../media/image17.pict"/><Relationship Id="rId3" Type="http://schemas.openxmlformats.org/officeDocument/2006/relationships/image" Target="../media/image18.pict"/><Relationship Id="rId6" Type="http://schemas.openxmlformats.org/officeDocument/2006/relationships/image" Target="../media/image21.pict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.pict"/><Relationship Id="rId4" Type="http://schemas.openxmlformats.org/officeDocument/2006/relationships/image" Target="../media/image27.pict"/><Relationship Id="rId1" Type="http://schemas.openxmlformats.org/officeDocument/2006/relationships/image" Target="../media/image24.pict"/><Relationship Id="rId2" Type="http://schemas.openxmlformats.org/officeDocument/2006/relationships/image" Target="../media/image25.pict"/><Relationship Id="rId3" Type="http://schemas.openxmlformats.org/officeDocument/2006/relationships/image" Target="../media/image26.pict"/><Relationship Id="rId5" Type="http://schemas.openxmlformats.org/officeDocument/2006/relationships/image" Target="../media/image28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ict"/><Relationship Id="rId1" Type="http://schemas.openxmlformats.org/officeDocument/2006/relationships/image" Target="../media/image36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03213"/>
            <a:ext cx="1588" cy="155178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503238" y="4316413"/>
            <a:ext cx="5856287" cy="405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65" charset="0"/>
      <a:defRPr sz="1200" kern="1200">
        <a:solidFill>
          <a:srgbClr val="000000"/>
        </a:solidFill>
        <a:latin typeface="Times New Roman" pitchFamily="18" charset="0"/>
        <a:ea typeface="ＭＳ Ｐゴシック" pitchFamily="-65" charset="-128"/>
        <a:cs typeface="ＭＳ Ｐゴシック" pitchFamily="-65" charset="-128"/>
      </a:defRPr>
    </a:lvl1pPr>
    <a:lvl2pPr marL="37931725" indent="-37474525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65" charset="0"/>
      <a:defRPr sz="1200" kern="1200">
        <a:solidFill>
          <a:srgbClr val="000000"/>
        </a:solidFill>
        <a:latin typeface="Times New Roman" pitchFamily="18" charset="0"/>
        <a:ea typeface="ＭＳ Ｐゴシック" pitchFamily="-65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65" charset="0"/>
      <a:defRPr sz="1200" kern="1200">
        <a:solidFill>
          <a:srgbClr val="000000"/>
        </a:solidFill>
        <a:latin typeface="Times New Roman" pitchFamily="18" charset="0"/>
        <a:ea typeface="ＭＳ Ｐゴシック" pitchFamily="-65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65" charset="0"/>
      <a:defRPr sz="1200" kern="1200">
        <a:solidFill>
          <a:srgbClr val="000000"/>
        </a:solidFill>
        <a:latin typeface="Times New Roman" pitchFamily="18" charset="0"/>
        <a:ea typeface="ＭＳ Ｐゴシック" pitchFamily="-65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65" charset="0"/>
      <a:defRPr sz="1200" kern="1200">
        <a:solidFill>
          <a:srgbClr val="000000"/>
        </a:solidFill>
        <a:latin typeface="Times New Roman" pitchFamily="18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noFill/>
          <a:ln/>
        </p:spPr>
      </p:sp>
      <p:sp>
        <p:nvSpPr>
          <p:cNvPr id="399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65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0344150" y="303213"/>
            <a:ext cx="20689888" cy="15517812"/>
          </a:xfrm>
          <a:ln/>
        </p:spPr>
      </p:sp>
      <p:sp>
        <p:nvSpPr>
          <p:cNvPr id="41987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65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0344150" y="303213"/>
            <a:ext cx="20689888" cy="15517812"/>
          </a:xfrm>
          <a:ln/>
        </p:spPr>
      </p:sp>
      <p:sp>
        <p:nvSpPr>
          <p:cNvPr id="41987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65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03213"/>
            <a:ext cx="1588" cy="1587"/>
          </a:xfrm>
          <a:ln/>
        </p:spPr>
      </p:sp>
      <p:sp>
        <p:nvSpPr>
          <p:cNvPr id="4813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503238" y="4318000"/>
            <a:ext cx="5856287" cy="4059238"/>
          </a:xfrm>
          <a:noFill/>
          <a:ln/>
        </p:spPr>
        <p:txBody>
          <a:bodyPr wrap="none" anchor="ctr"/>
          <a:lstStyle/>
          <a:p>
            <a:pPr eaLnBrk="1" hangingPunct="1"/>
            <a:endParaRPr lang="en-US">
              <a:latin typeface="Times New Roman" pitchFamily="-65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 userDrawn="1"/>
        </p:nvSpPr>
        <p:spPr bwMode="auto">
          <a:xfrm>
            <a:off x="0" y="6062140"/>
            <a:ext cx="9144000" cy="795860"/>
          </a:xfrm>
          <a:prstGeom prst="rect">
            <a:avLst/>
          </a:prstGeom>
          <a:gradFill rotWithShape="0">
            <a:gsLst>
              <a:gs pos="0">
                <a:srgbClr val="34324C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>
            <a:off x="0" y="-1"/>
            <a:ext cx="9144000" cy="2116667"/>
          </a:xfrm>
          <a:prstGeom prst="rect">
            <a:avLst/>
          </a:prstGeom>
          <a:gradFill rotWithShape="0">
            <a:gsLst>
              <a:gs pos="0">
                <a:srgbClr val="34324C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72125" y="361953"/>
            <a:ext cx="6553200" cy="1504950"/>
          </a:xfrm>
        </p:spPr>
        <p:txBody>
          <a:bodyPr tIns="45720" bIns="45720"/>
          <a:lstStyle>
            <a:lvl1pPr algn="ctr">
              <a:defRPr sz="34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50" y="2209800"/>
            <a:ext cx="8820150" cy="38481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9" descr="TX_logomark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348132" y="6115190"/>
            <a:ext cx="795867" cy="742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6" descr="compass-sm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7797125" y="609600"/>
            <a:ext cx="1235075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96" descr="compass-sm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7949525" y="762000"/>
            <a:ext cx="1235075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96" descr="compass-sm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8101925" y="914400"/>
            <a:ext cx="1235075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6" descr="compass-sm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8254325" y="1066800"/>
            <a:ext cx="1235075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96" descr="compass-sm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8406725" y="1219200"/>
            <a:ext cx="1235075" cy="155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compass-sm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677" y="6052389"/>
            <a:ext cx="625475" cy="788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SC-Banner-CMYK-white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25331" y="6118010"/>
            <a:ext cx="1714500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760C72-545A-A14F-A680-1E8D1F87C5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100" y="1219200"/>
            <a:ext cx="433705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219200"/>
            <a:ext cx="433705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EAA11A-67E0-D447-AB29-AB3412D9F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70E784-1D24-3343-850F-C4497A85F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CE43C-A8BE-A14D-8B91-B740A95FB2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E6F25-87E5-B142-BAC6-8ED72BF95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88C76-1CEB-5C43-81A8-711116814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80D93-8ADF-D94D-8FDD-9AF81964A2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C5D48-E553-FE4D-9324-4159260EB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4975" y="38100"/>
            <a:ext cx="2206625" cy="6292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100" y="38100"/>
            <a:ext cx="6467475" cy="6292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4E04C-0DFA-1A44-BE16-2B25EE3B18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ChangeArrowheads="1"/>
          </p:cNvSpPr>
          <p:nvPr/>
        </p:nvSpPr>
        <p:spPr bwMode="auto">
          <a:xfrm>
            <a:off x="0" y="0"/>
            <a:ext cx="8077200" cy="1066800"/>
          </a:xfrm>
          <a:prstGeom prst="rect">
            <a:avLst/>
          </a:prstGeom>
          <a:gradFill rotWithShape="0">
            <a:gsLst>
              <a:gs pos="0">
                <a:srgbClr val="34324C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5100" y="1219200"/>
            <a:ext cx="88265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2875" y="6597650"/>
            <a:ext cx="75596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solidFill>
                  <a:srgbClr val="336699"/>
                </a:solidFill>
                <a:ea typeface="ＭＳ Ｐゴシック" pitchFamily="-65" charset="-128"/>
                <a:cs typeface="ＭＳ Ｐゴシック" pitchFamily="-65" charset="-128"/>
              </a:defRPr>
            </a:lvl1pPr>
          </a:lstStyle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4250" y="6589713"/>
            <a:ext cx="395288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336699"/>
                </a:solidFill>
                <a:ea typeface="ＭＳ Ｐゴシック" pitchFamily="-65" charset="-128"/>
                <a:cs typeface="ＭＳ Ｐゴシック" pitchFamily="-65" charset="-128"/>
              </a:defRPr>
            </a:lvl1pPr>
          </a:lstStyle>
          <a:p>
            <a:pPr>
              <a:defRPr/>
            </a:pPr>
            <a:fld id="{9EFADF32-FBD5-3A46-AAC8-9B3E53AAFC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2998" name="Line 6"/>
          <p:cNvSpPr>
            <a:spLocks noChangeShapeType="1"/>
          </p:cNvSpPr>
          <p:nvPr/>
        </p:nvSpPr>
        <p:spPr bwMode="auto">
          <a:xfrm>
            <a:off x="142875" y="6489700"/>
            <a:ext cx="8858250" cy="0"/>
          </a:xfrm>
          <a:prstGeom prst="line">
            <a:avLst/>
          </a:prstGeom>
          <a:noFill/>
          <a:ln w="38100">
            <a:solidFill>
              <a:srgbClr val="9DBED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12999" name="Line 7"/>
          <p:cNvSpPr>
            <a:spLocks noChangeShapeType="1"/>
          </p:cNvSpPr>
          <p:nvPr/>
        </p:nvSpPr>
        <p:spPr bwMode="auto">
          <a:xfrm>
            <a:off x="142875" y="6524625"/>
            <a:ext cx="8858250" cy="0"/>
          </a:xfrm>
          <a:prstGeom prst="line">
            <a:avLst/>
          </a:prstGeom>
          <a:noFill/>
          <a:ln w="38100">
            <a:solidFill>
              <a:srgbClr val="5F5F5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2560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330210" y="38100"/>
            <a:ext cx="72390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25609" name="Picture 9" descr="TX_logomark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01000" y="0"/>
            <a:ext cx="1143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2pPr>
      <a:lvl3pPr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3pPr>
      <a:lvl4pPr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4pPr>
      <a:lvl5pPr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5pPr>
      <a:lvl6pPr marL="457200" algn="l" rtl="0" fontAlgn="base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15000"/>
        </a:spcBef>
        <a:spcAft>
          <a:spcPct val="0"/>
        </a:spcAft>
        <a:defRPr sz="3000" b="1">
          <a:solidFill>
            <a:srgbClr val="FFFF03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lr>
          <a:srgbClr val="003399"/>
        </a:buClr>
        <a:buSzPct val="120000"/>
        <a:buChar char="•"/>
        <a:defRPr sz="2800" b="1">
          <a:solidFill>
            <a:srgbClr val="0066CC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571500" indent="-228600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  <a:ea typeface="ＭＳ Ｐゴシック" charset="-128"/>
          <a:cs typeface="ＭＳ Ｐゴシック" pitchFamily="-65" charset="-128"/>
        </a:defRPr>
      </a:lvl2pPr>
      <a:lvl3pPr marL="914400" indent="-228600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257300" indent="-228600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1600200" indent="-228600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057400" indent="-228600" algn="l" rtl="0" fontAlgn="base">
        <a:lnSpc>
          <a:spcPct val="90000"/>
        </a:lnSpc>
        <a:spcBef>
          <a:spcPct val="1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514600" indent="-228600" algn="l" rtl="0" fontAlgn="base">
        <a:lnSpc>
          <a:spcPct val="90000"/>
        </a:lnSpc>
        <a:spcBef>
          <a:spcPct val="1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2971800" indent="-228600" algn="l" rtl="0" fontAlgn="base">
        <a:lnSpc>
          <a:spcPct val="90000"/>
        </a:lnSpc>
        <a:spcBef>
          <a:spcPct val="1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429000" indent="-228600" algn="l" rtl="0" fontAlgn="base">
        <a:lnSpc>
          <a:spcPct val="90000"/>
        </a:lnSpc>
        <a:spcBef>
          <a:spcPct val="1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2.bin"/><Relationship Id="rId4" Type="http://schemas.openxmlformats.org/officeDocument/2006/relationships/image" Target="../media/image7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Relationship Id="rId5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d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8.bin"/><Relationship Id="rId4" Type="http://schemas.openxmlformats.org/officeDocument/2006/relationships/oleObject" Target="../embeddings/Microsoft_Equation4.bin"/><Relationship Id="rId10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5.bin"/><Relationship Id="rId7" Type="http://schemas.openxmlformats.org/officeDocument/2006/relationships/oleObject" Target="../embeddings/Microsoft_Equation7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9.bin"/><Relationship Id="rId3" Type="http://schemas.openxmlformats.org/officeDocument/2006/relationships/oleObject" Target="../embeddings/Microsoft_Equation3.bin"/><Relationship Id="rId6" Type="http://schemas.openxmlformats.org/officeDocument/2006/relationships/oleObject" Target="../embeddings/Microsoft_Equation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16.bin"/><Relationship Id="rId4" Type="http://schemas.openxmlformats.org/officeDocument/2006/relationships/oleObject" Target="../embeddings/Microsoft_Equation12.bin"/><Relationship Id="rId5" Type="http://schemas.openxmlformats.org/officeDocument/2006/relationships/oleObject" Target="../embeddings/Microsoft_Equation13.bin"/><Relationship Id="rId7" Type="http://schemas.openxmlformats.org/officeDocument/2006/relationships/oleObject" Target="../embeddings/Microsoft_Equation15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.bin"/><Relationship Id="rId6" Type="http://schemas.openxmlformats.org/officeDocument/2006/relationships/oleObject" Target="../embeddings/Microsoft_Equation1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1" Type="http://schemas.openxmlformats.org/officeDocument/2006/relationships/vmlDrawing" Target="../drawings/vmlDrawing4.v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8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7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4" Type="http://schemas.openxmlformats.org/officeDocument/2006/relationships/image" Target="../media/image40.png"/><Relationship Id="rId5" Type="http://schemas.openxmlformats.org/officeDocument/2006/relationships/image" Target="../media/image41.pdf"/><Relationship Id="rId7" Type="http://schemas.openxmlformats.org/officeDocument/2006/relationships/image" Target="../media/image43.pd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df"/><Relationship Id="rId6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4" Type="http://schemas.openxmlformats.org/officeDocument/2006/relationships/image" Target="../media/image47.png"/><Relationship Id="rId5" Type="http://schemas.openxmlformats.org/officeDocument/2006/relationships/image" Target="../media/image48.pdf"/><Relationship Id="rId7" Type="http://schemas.openxmlformats.org/officeDocument/2006/relationships/image" Target="../media/image50.pd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df"/><Relationship Id="rId6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56.png"/><Relationship Id="rId1" Type="http://schemas.openxmlformats.org/officeDocument/2006/relationships/video" Target="file://localhost/Users/austin/Presentations/COMPASS-Dec-2008/SciDAC08VorpalCrab1366x768.mov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3" descr="sciDacImage000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0" y="3052355"/>
            <a:ext cx="2743200" cy="2518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1244600" y="474133"/>
            <a:ext cx="6921500" cy="1172627"/>
          </a:xfrm>
        </p:spPr>
        <p:txBody>
          <a:bodyPr/>
          <a:lstStyle/>
          <a:p>
            <a:pPr algn="ctr" eaLnBrk="1" hangingPunct="1"/>
            <a:r>
              <a:rPr lang="en-US" sz="3200"/>
              <a:t>Applications of Frequency Extraction to Cavity Modeling</a:t>
            </a:r>
            <a:endParaRPr lang="en-US"/>
          </a:p>
        </p:txBody>
      </p:sp>
      <p:sp>
        <p:nvSpPr>
          <p:cNvPr id="38916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0" y="2242592"/>
            <a:ext cx="9144000" cy="1045414"/>
          </a:xfrm>
          <a:noFill/>
        </p:spPr>
        <p:txBody>
          <a:bodyPr>
            <a:spAutoFit/>
          </a:bodyPr>
          <a:lstStyle/>
          <a:p>
            <a:pPr marL="228600" indent="-228600" eaLnBrk="1" hangingPunct="1"/>
            <a:r>
              <a:rPr lang="en-US" sz="2400"/>
              <a:t>Travis M. Austin* and John R. Cary*</a:t>
            </a:r>
            <a:r>
              <a:rPr lang="en-US" sz="2400" baseline="30000"/>
              <a:t>,¶</a:t>
            </a:r>
          </a:p>
          <a:p>
            <a:pPr marL="228600" indent="-228600" eaLnBrk="1" hangingPunct="1"/>
            <a:r>
              <a:rPr lang="en-US" sz="2000"/>
              <a:t>Tech-X Corporation*, University of Colorado-Boulder</a:t>
            </a:r>
            <a:r>
              <a:rPr lang="en-US" sz="2000" baseline="30000"/>
              <a:t>¶</a:t>
            </a:r>
            <a:endParaRPr lang="en-US" sz="2000" baseline="30000"/>
          </a:p>
          <a:p>
            <a:pPr marL="228600" indent="-228600" eaLnBrk="1" hangingPunct="1"/>
            <a:r>
              <a:rPr lang="en-US" sz="2000" b="0"/>
              <a:t>Collaborator: Leo Bellantoni, FNAL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5232400"/>
            <a:ext cx="697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UCLA COMPASS Meeting</a:t>
            </a:r>
          </a:p>
          <a:p>
            <a:r>
              <a:rPr lang="en-US" i="1"/>
              <a:t>3 December 2008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Overview</a:t>
            </a:r>
          </a:p>
        </p:txBody>
      </p:sp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Tech-X Corporation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0630E9A-CF32-664B-A200-8B1D4EE062E9}" type="slidenum">
              <a:rPr lang="en-US"/>
              <a:pPr/>
              <a:t>2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76213" y="1675541"/>
            <a:ext cx="8826500" cy="3870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  <a:latin typeface="+mn-lt"/>
              </a:rPr>
              <a:t>Background on Cavity Modeling 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  <a:latin typeface="+mn-lt"/>
              </a:rPr>
              <a:t>Finite-Difference Time-Domain Simulations</a:t>
            </a:r>
            <a:endParaRPr lang="en-US" sz="2800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</a:rPr>
              <a:t>Frequency Extraction Algorithm 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</a:rPr>
              <a:t>Filtered Excitation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</a:rPr>
              <a:t>Filter-Diagonalization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</a:rPr>
              <a:t>Verification of Spherical Cavity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</a:rPr>
              <a:t>Validation of A15 Cavity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2800" b="1" kern="0">
                <a:solidFill>
                  <a:srgbClr val="0066CC"/>
                </a:solidFill>
              </a:rPr>
              <a:t>Conclusion 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sz="2800" b="1" kern="0">
              <a:solidFill>
                <a:srgbClr val="0066CC"/>
              </a:solidFill>
            </a:endParaRP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sz="2800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sz="2800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Cavity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1765295"/>
            <a:ext cx="8541456" cy="4792133"/>
          </a:xfrm>
        </p:spPr>
        <p:txBody>
          <a:bodyPr/>
          <a:lstStyle/>
          <a:p>
            <a:r>
              <a:rPr lang="en-US"/>
              <a:t>Verifying and validating EM codes is a crucial part of cavity modeling since it provides evidence of the effectiveness of the code</a:t>
            </a:r>
          </a:p>
          <a:p>
            <a:r>
              <a:rPr lang="en-US"/>
              <a:t>COMPASS codes like Omega3p have made a concerted effort at V&amp;V</a:t>
            </a:r>
          </a:p>
          <a:p>
            <a:r>
              <a:rPr lang="en-US"/>
              <a:t>We focus in this talk on V&amp;V efforts for Tech-X Corporation’s VORPAL code</a:t>
            </a:r>
          </a:p>
          <a:p>
            <a:r>
              <a:rPr lang="en-US"/>
              <a:t>VORPAL has been successful in the past at laser wakefield simulations and electron cooling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Cavity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1732843"/>
            <a:ext cx="8826500" cy="4679244"/>
          </a:xfrm>
        </p:spPr>
        <p:txBody>
          <a:bodyPr/>
          <a:lstStyle/>
          <a:p>
            <a:r>
              <a:rPr lang="en-US"/>
              <a:t>Machining is accurate to about 1 mil or 0.0254 mm</a:t>
            </a:r>
          </a:p>
          <a:p>
            <a:r>
              <a:rPr lang="en-US">
                <a:cs typeface="Symbol" charset="2"/>
              </a:rPr>
              <a:t>Results in [Burt et al., 2007] showed frequencies to be sensitive to equatorial radius by about 80 MHz/mm for a deflecting cavity</a:t>
            </a:r>
          </a:p>
          <a:p>
            <a:r>
              <a:rPr lang="en-US">
                <a:cs typeface="Symbol" charset="2"/>
              </a:rPr>
              <a:t>Machining can produce cavities with frequencies shifted by about ± 2 MHz from the original specs.</a:t>
            </a:r>
          </a:p>
          <a:p>
            <a:r>
              <a:rPr lang="en-US">
                <a:cs typeface="Symbol" charset="2"/>
              </a:rPr>
              <a:t>Careful remeasurements after fabrication can be using simulations instead of bead pull experiments if the simulations are accurate.</a:t>
            </a:r>
          </a:p>
          <a:p>
            <a:endParaRPr lang="en-US">
              <a:cs typeface="Symbol" charset="2"/>
            </a:endParaRPr>
          </a:p>
          <a:p>
            <a:pPr>
              <a:buNone/>
            </a:pPr>
            <a:endParaRPr lang="en-US">
              <a:cs typeface="Symbol" charset="2"/>
            </a:endParaRPr>
          </a:p>
          <a:p>
            <a:endParaRPr lang="en-US">
              <a:cs typeface="Symbol" charset="2"/>
            </a:endParaRPr>
          </a:p>
          <a:p>
            <a:endParaRPr lang="en-US">
              <a:cs typeface="Symbol" charset="2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Finite-Difference Time-Domain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407988" y="1852089"/>
          <a:ext cx="2909887" cy="1970088"/>
        </p:xfrm>
        <a:graphic>
          <a:graphicData uri="http://schemas.openxmlformats.org/presentationml/2006/ole">
            <p:oleObj spid="_x0000_s87042" name="Equation" r:id="rId3" imgW="1092200" imgH="762000" progId="Equation.3">
              <p:embed/>
            </p:oleObj>
          </a:graphicData>
        </a:graphic>
      </p:graphicFrame>
      <p:grpSp>
        <p:nvGrpSpPr>
          <p:cNvPr id="3" name="Group 113"/>
          <p:cNvGrpSpPr>
            <a:grpSpLocks/>
          </p:cNvGrpSpPr>
          <p:nvPr/>
        </p:nvGrpSpPr>
        <p:grpSpPr bwMode="auto">
          <a:xfrm>
            <a:off x="3310483" y="2328319"/>
            <a:ext cx="1938870" cy="1820036"/>
            <a:chOff x="15925800" y="3728720"/>
            <a:chExt cx="2297919" cy="2111241"/>
          </a:xfrm>
        </p:grpSpPr>
        <p:pic>
          <p:nvPicPr>
            <p:cNvPr id="23" name="Picture 98" descr="yee_cell2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6230600" y="4168698"/>
              <a:ext cx="1600200" cy="1393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Box 99"/>
            <p:cNvSpPr txBox="1">
              <a:spLocks noChangeArrowheads="1"/>
            </p:cNvSpPr>
            <p:nvPr/>
          </p:nvSpPr>
          <p:spPr bwMode="auto">
            <a:xfrm>
              <a:off x="16764000" y="5214119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x</a:t>
              </a:r>
            </a:p>
          </p:txBody>
        </p:sp>
        <p:sp>
          <p:nvSpPr>
            <p:cNvPr id="25" name="TextBox 100"/>
            <p:cNvSpPr txBox="1">
              <a:spLocks noChangeArrowheads="1"/>
            </p:cNvSpPr>
            <p:nvPr/>
          </p:nvSpPr>
          <p:spPr bwMode="auto">
            <a:xfrm>
              <a:off x="16764000" y="4267200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x</a:t>
              </a:r>
            </a:p>
          </p:txBody>
        </p:sp>
        <p:sp>
          <p:nvSpPr>
            <p:cNvPr id="26" name="TextBox 102"/>
            <p:cNvSpPr txBox="1">
              <a:spLocks noChangeArrowheads="1"/>
            </p:cNvSpPr>
            <p:nvPr/>
          </p:nvSpPr>
          <p:spPr bwMode="auto">
            <a:xfrm>
              <a:off x="15925800" y="4572000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chemeClr val="tx2"/>
                  </a:solidFill>
                  <a:latin typeface="Century" charset="0"/>
                  <a:ea typeface="Century" charset="0"/>
                  <a:cs typeface="Century" charset="0"/>
                </a:rPr>
                <a:t>z</a:t>
              </a:r>
            </a:p>
          </p:txBody>
        </p:sp>
        <p:sp>
          <p:nvSpPr>
            <p:cNvPr id="27" name="TextBox 105"/>
            <p:cNvSpPr txBox="1">
              <a:spLocks noChangeArrowheads="1"/>
            </p:cNvSpPr>
            <p:nvPr/>
          </p:nvSpPr>
          <p:spPr bwMode="auto">
            <a:xfrm>
              <a:off x="17056576" y="4572001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z</a:t>
              </a:r>
            </a:p>
          </p:txBody>
        </p:sp>
        <p:sp>
          <p:nvSpPr>
            <p:cNvPr id="28" name="TextBox 106"/>
            <p:cNvSpPr txBox="1">
              <a:spLocks noChangeArrowheads="1"/>
            </p:cNvSpPr>
            <p:nvPr/>
          </p:nvSpPr>
          <p:spPr bwMode="auto">
            <a:xfrm>
              <a:off x="16154400" y="3962400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y</a:t>
              </a:r>
            </a:p>
          </p:txBody>
        </p:sp>
        <p:sp>
          <p:nvSpPr>
            <p:cNvPr id="29" name="TextBox 107"/>
            <p:cNvSpPr txBox="1">
              <a:spLocks noChangeArrowheads="1"/>
            </p:cNvSpPr>
            <p:nvPr/>
          </p:nvSpPr>
          <p:spPr bwMode="auto">
            <a:xfrm>
              <a:off x="17076639" y="4158822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y</a:t>
              </a:r>
            </a:p>
          </p:txBody>
        </p:sp>
        <p:sp>
          <p:nvSpPr>
            <p:cNvPr id="30" name="TextBox 108"/>
            <p:cNvSpPr txBox="1">
              <a:spLocks noChangeArrowheads="1"/>
            </p:cNvSpPr>
            <p:nvPr/>
          </p:nvSpPr>
          <p:spPr bwMode="auto">
            <a:xfrm>
              <a:off x="17461719" y="5262880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y</a:t>
              </a:r>
            </a:p>
          </p:txBody>
        </p:sp>
        <p:sp>
          <p:nvSpPr>
            <p:cNvPr id="31" name="TextBox 109"/>
            <p:cNvSpPr txBox="1">
              <a:spLocks noChangeArrowheads="1"/>
            </p:cNvSpPr>
            <p:nvPr/>
          </p:nvSpPr>
          <p:spPr bwMode="auto">
            <a:xfrm>
              <a:off x="17614119" y="4674949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FF0000"/>
                  </a:solidFill>
                  <a:latin typeface="Century" charset="0"/>
                  <a:ea typeface="Century" charset="0"/>
                  <a:cs typeface="Century" charset="0"/>
                </a:rPr>
                <a:t>B</a:t>
              </a:r>
              <a:r>
                <a:rPr lang="en-US" sz="1400" i="1" baseline="-25000">
                  <a:solidFill>
                    <a:srgbClr val="FF0000"/>
                  </a:solidFill>
                  <a:latin typeface="Century" charset="0"/>
                  <a:ea typeface="Century" charset="0"/>
                  <a:cs typeface="Century" charset="0"/>
                </a:rPr>
                <a:t>x</a:t>
              </a:r>
            </a:p>
          </p:txBody>
        </p:sp>
        <p:sp>
          <p:nvSpPr>
            <p:cNvPr id="32" name="TextBox 110"/>
            <p:cNvSpPr txBox="1">
              <a:spLocks noChangeArrowheads="1"/>
            </p:cNvSpPr>
            <p:nvPr/>
          </p:nvSpPr>
          <p:spPr bwMode="auto">
            <a:xfrm>
              <a:off x="16246594" y="4953341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FF0000"/>
                  </a:solidFill>
                  <a:latin typeface="Century" charset="0"/>
                  <a:ea typeface="Century" charset="0"/>
                  <a:cs typeface="Century" charset="0"/>
                </a:rPr>
                <a:t>B</a:t>
              </a:r>
              <a:r>
                <a:rPr lang="en-US" sz="1400" i="1" baseline="-25000">
                  <a:solidFill>
                    <a:srgbClr val="FF0000"/>
                  </a:solidFill>
                  <a:latin typeface="Century" charset="0"/>
                  <a:ea typeface="Century" charset="0"/>
                  <a:cs typeface="Century" charset="0"/>
                </a:rPr>
                <a:t>y</a:t>
              </a:r>
            </a:p>
          </p:txBody>
        </p:sp>
        <p:sp>
          <p:nvSpPr>
            <p:cNvPr id="33" name="TextBox 111"/>
            <p:cNvSpPr txBox="1">
              <a:spLocks noChangeArrowheads="1"/>
            </p:cNvSpPr>
            <p:nvPr/>
          </p:nvSpPr>
          <p:spPr bwMode="auto">
            <a:xfrm>
              <a:off x="16738600" y="3728720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FF0000"/>
                  </a:solidFill>
                  <a:latin typeface="Century" charset="0"/>
                  <a:ea typeface="Century" charset="0"/>
                  <a:cs typeface="Century" charset="0"/>
                </a:rPr>
                <a:t>B</a:t>
              </a:r>
              <a:r>
                <a:rPr lang="en-US" sz="1400" i="1" baseline="-25000">
                  <a:solidFill>
                    <a:srgbClr val="FF0000"/>
                  </a:solidFill>
                  <a:latin typeface="Century" charset="0"/>
                  <a:ea typeface="Century" charset="0"/>
                  <a:cs typeface="Century" charset="0"/>
                </a:rPr>
                <a:t>z</a:t>
              </a:r>
            </a:p>
          </p:txBody>
        </p:sp>
        <p:sp>
          <p:nvSpPr>
            <p:cNvPr id="34" name="TextBox 112"/>
            <p:cNvSpPr txBox="1">
              <a:spLocks noChangeArrowheads="1"/>
            </p:cNvSpPr>
            <p:nvPr/>
          </p:nvSpPr>
          <p:spPr bwMode="auto">
            <a:xfrm>
              <a:off x="17513770" y="4324099"/>
              <a:ext cx="609600" cy="577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1400" i="1">
                  <a:solidFill>
                    <a:srgbClr val="0000FF"/>
                  </a:solidFill>
                  <a:latin typeface="Century" charset="0"/>
                  <a:ea typeface="Century" charset="0"/>
                  <a:cs typeface="Century" charset="0"/>
                </a:rPr>
                <a:t>E</a:t>
              </a:r>
              <a:r>
                <a:rPr lang="en-US" sz="1400" i="1" baseline="-25000">
                  <a:solidFill>
                    <a:schemeClr val="tx2"/>
                  </a:solidFill>
                  <a:latin typeface="Century" charset="0"/>
                  <a:ea typeface="Century" charset="0"/>
                  <a:cs typeface="Century" charset="0"/>
                </a:rPr>
                <a:t>z</a:t>
              </a:r>
            </a:p>
          </p:txBody>
        </p:sp>
      </p:grpSp>
      <p:sp>
        <p:nvSpPr>
          <p:cNvPr id="35" name="Right Arrow 34"/>
          <p:cNvSpPr/>
          <p:nvPr/>
        </p:nvSpPr>
        <p:spPr bwMode="auto">
          <a:xfrm>
            <a:off x="5225363" y="2534346"/>
            <a:ext cx="685800" cy="304800"/>
          </a:xfrm>
          <a:prstGeom prst="rightArrow">
            <a:avLst/>
          </a:prstGeom>
          <a:solidFill>
            <a:schemeClr val="bg2">
              <a:alpha val="5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140000"/>
            </a:camera>
            <a:lightRig rig="threePt" dir="t"/>
          </a:scene3d>
        </p:spPr>
        <p:txBody>
          <a:bodyPr>
            <a:prstTxWarp prst="textNoShape">
              <a:avLst/>
            </a:prstTxWarp>
          </a:bodyPr>
          <a:lstStyle/>
          <a:p>
            <a:pPr defTabSz="457200">
              <a:defRPr/>
            </a:pPr>
            <a:endParaRPr lang="en-US"/>
          </a:p>
        </p:txBody>
      </p:sp>
      <p:pic>
        <p:nvPicPr>
          <p:cNvPr id="36" name="Picture 114" descr="structgri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30926" y="1329263"/>
            <a:ext cx="28860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Rectangle 124"/>
          <p:cNvSpPr>
            <a:spLocks noChangeArrowheads="1"/>
          </p:cNvSpPr>
          <p:nvPr/>
        </p:nvSpPr>
        <p:spPr bwMode="auto">
          <a:xfrm>
            <a:off x="6134101" y="2370487"/>
            <a:ext cx="328613" cy="228600"/>
          </a:xfrm>
          <a:prstGeom prst="rect">
            <a:avLst/>
          </a:prstGeom>
          <a:solidFill>
            <a:schemeClr val="bg2">
              <a:alpha val="30980"/>
            </a:schemeClr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defTabSz="457200"/>
            <a:endParaRPr lang="en-US"/>
          </a:p>
        </p:txBody>
      </p:sp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38138" y="4378325"/>
          <a:ext cx="8524875" cy="534988"/>
        </p:xfrm>
        <a:graphic>
          <a:graphicData uri="http://schemas.openxmlformats.org/presentationml/2006/ole">
            <p:oleObj spid="_x0000_s87043" name="Equation" r:id="rId6" imgW="3886200" imgH="254000" progId="Equation.3">
              <p:embed/>
            </p:oleObj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84666" y="4991093"/>
            <a:ext cx="1295400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00000"/>
              </a:lnSpc>
              <a:defRPr/>
            </a:pPr>
            <a:r>
              <a:rPr lang="en-US">
                <a:solidFill>
                  <a:schemeClr val="accent4"/>
                </a:solidFill>
              </a:rPr>
              <a:t>.</a:t>
            </a:r>
          </a:p>
          <a:p>
            <a:pPr>
              <a:lnSpc>
                <a:spcPct val="100000"/>
              </a:lnSpc>
              <a:defRPr/>
            </a:pPr>
            <a:r>
              <a:rPr lang="en-US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38" name="TextBox 100"/>
          <p:cNvSpPr txBox="1">
            <a:spLocks noChangeArrowheads="1"/>
          </p:cNvSpPr>
          <p:nvPr/>
        </p:nvSpPr>
        <p:spPr bwMode="auto">
          <a:xfrm>
            <a:off x="4237842" y="2470802"/>
            <a:ext cx="514350" cy="49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rgbClr val="0000FF"/>
                </a:solidFill>
                <a:latin typeface="Century" charset="0"/>
                <a:ea typeface="Century" charset="0"/>
                <a:cs typeface="Century" charset="0"/>
              </a:rPr>
              <a:t>E</a:t>
            </a:r>
            <a:r>
              <a:rPr lang="en-US" sz="1400" i="1" baseline="-25000">
                <a:solidFill>
                  <a:srgbClr val="0000FF"/>
                </a:solidFill>
                <a:latin typeface="Century" charset="0"/>
                <a:ea typeface="Century" charset="0"/>
                <a:cs typeface="Century" charset="0"/>
              </a:rPr>
              <a:t>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201" y="1120423"/>
            <a:ext cx="4473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rgbClr val="0000FF"/>
                </a:solidFill>
                <a:latin typeface="+mn-lt"/>
              </a:rPr>
              <a:t>Maxwell’s Equations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555" y="3430411"/>
            <a:ext cx="2300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+mn-lt"/>
              </a:rPr>
              <a:t>“Rectangular Grid”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40" grpId="0"/>
      <p:bldP spid="38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Finite-Difference Time-Domain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9890" y="1199447"/>
            <a:ext cx="688622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>
                <a:solidFill>
                  <a:srgbClr val="0000FF"/>
                </a:solidFill>
                <a:latin typeface="+mn-lt"/>
              </a:rPr>
              <a:t>Embedded Boundary Methods</a:t>
            </a:r>
          </a:p>
        </p:txBody>
      </p:sp>
      <p:pic>
        <p:nvPicPr>
          <p:cNvPr id="9" name="Picture 8" descr="crabwithendholes1c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56" y="2742494"/>
            <a:ext cx="3001244" cy="2245574"/>
          </a:xfrm>
          <a:prstGeom prst="rect">
            <a:avLst/>
          </a:prstGeom>
        </p:spPr>
      </p:pic>
      <p:pic>
        <p:nvPicPr>
          <p:cNvPr id="10" name="Picture 114" descr="structgri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8926" y="2713562"/>
            <a:ext cx="3216274" cy="2292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ight Arrow 10"/>
          <p:cNvSpPr/>
          <p:nvPr/>
        </p:nvSpPr>
        <p:spPr bwMode="auto">
          <a:xfrm rot="1030551">
            <a:off x="3870910" y="3765799"/>
            <a:ext cx="1249356" cy="428076"/>
          </a:xfrm>
          <a:prstGeom prst="rightArrow">
            <a:avLst/>
          </a:prstGeom>
          <a:solidFill>
            <a:schemeClr val="bg2">
              <a:alpha val="5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1140000"/>
            </a:camera>
            <a:lightRig rig="threePt" dir="t"/>
          </a:scene3d>
        </p:spPr>
        <p:txBody>
          <a:bodyPr>
            <a:prstTxWarp prst="textNoShape">
              <a:avLst/>
            </a:prstTxWarp>
          </a:bodyPr>
          <a:lstStyle/>
          <a:p>
            <a:pPr defTabSz="457200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Finite-Difference Time-Domain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1882417"/>
            <a:ext cx="8826500" cy="3832578"/>
          </a:xfrm>
        </p:spPr>
        <p:txBody>
          <a:bodyPr/>
          <a:lstStyle/>
          <a:p>
            <a:r>
              <a:rPr lang="en-US" sz="2400"/>
              <a:t>Curved domains described analytically</a:t>
            </a:r>
          </a:p>
          <a:p>
            <a:r>
              <a:rPr lang="en-US" sz="2400"/>
              <a:t>These domains are not represented by the logically rectangular domain in contrast to unstructured FE meshes</a:t>
            </a:r>
          </a:p>
          <a:p>
            <a:r>
              <a:rPr lang="en-US" sz="2400"/>
              <a:t>There are three methods for representing contribution of curved boundaries for logically rectangular domains:</a:t>
            </a:r>
          </a:p>
          <a:p>
            <a:pPr lvl="1"/>
            <a:r>
              <a:rPr lang="en-US" sz="2400"/>
              <a:t>Stairstep</a:t>
            </a:r>
          </a:p>
          <a:p>
            <a:pPr lvl="1"/>
            <a:r>
              <a:rPr lang="en-US" sz="2400"/>
              <a:t>Dey-Mittra</a:t>
            </a:r>
          </a:p>
          <a:p>
            <a:pPr lvl="1"/>
            <a:r>
              <a:rPr lang="en-US" sz="2400"/>
              <a:t>Zagorodnov</a:t>
            </a:r>
          </a:p>
          <a:p>
            <a:r>
              <a:rPr lang="en-US" sz="2400"/>
              <a:t>Stairstep and Dey-Mittra discussed on next page</a:t>
            </a:r>
          </a:p>
          <a:p>
            <a:r>
              <a:rPr lang="en-US" sz="2400"/>
              <a:t>Zagorodnov only recently implemented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9890" y="1199447"/>
            <a:ext cx="688622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i="1">
                <a:solidFill>
                  <a:srgbClr val="0000FF"/>
                </a:solidFill>
                <a:latin typeface="+mn-lt"/>
              </a:rPr>
              <a:t>Embedded Boundary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Finite-Difference Time-Domain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8</a:t>
            </a:fld>
            <a:endParaRPr lang="en-US"/>
          </a:p>
        </p:txBody>
      </p:sp>
      <p:pic>
        <p:nvPicPr>
          <p:cNvPr id="8" name="Picture 7" descr="deymit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95" y="1246011"/>
            <a:ext cx="3983009" cy="4064000"/>
          </a:xfrm>
          <a:prstGeom prst="rect">
            <a:avLst/>
          </a:prstGeom>
        </p:spPr>
      </p:pic>
      <p:pic>
        <p:nvPicPr>
          <p:cNvPr id="9" name="Picture 8" descr="stairc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05" y="1203678"/>
            <a:ext cx="4046616" cy="41204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556" y="5374923"/>
            <a:ext cx="8226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solidFill>
                  <a:srgbClr val="0000FF"/>
                </a:solidFill>
                <a:latin typeface="+mn-lt"/>
              </a:rPr>
              <a:t>(a) Stairstep Approach                  (b) Dey-Mittra Approach</a:t>
            </a:r>
          </a:p>
        </p:txBody>
      </p:sp>
      <p:sp>
        <p:nvSpPr>
          <p:cNvPr id="11" name="Rectangle 124"/>
          <p:cNvSpPr>
            <a:spLocks noChangeArrowheads="1"/>
          </p:cNvSpPr>
          <p:nvPr/>
        </p:nvSpPr>
        <p:spPr bwMode="auto">
          <a:xfrm>
            <a:off x="5168901" y="5977287"/>
            <a:ext cx="328613" cy="321914"/>
          </a:xfrm>
          <a:prstGeom prst="rect">
            <a:avLst/>
          </a:prstGeom>
          <a:solidFill>
            <a:schemeClr val="bg2">
              <a:alpha val="30980"/>
            </a:schemeClr>
          </a:solidFill>
          <a:ln w="9525">
            <a:noFill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defTabSz="457200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562600" y="5969000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/>
              <a:t>- Only change Faraday 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Finite-Difference Time-Domain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234" y="1693324"/>
            <a:ext cx="4779433" cy="4453467"/>
          </a:xfrm>
        </p:spPr>
        <p:txBody>
          <a:bodyPr/>
          <a:lstStyle/>
          <a:p>
            <a:r>
              <a:rPr lang="en-US" sz="2000"/>
              <a:t>FDTD is a second-order method </a:t>
            </a:r>
          </a:p>
          <a:p>
            <a:r>
              <a:rPr lang="en-US" sz="2000"/>
              <a:t>Curved domains modeled using embedded boundary methods</a:t>
            </a:r>
          </a:p>
          <a:p>
            <a:r>
              <a:rPr lang="en-US" sz="2000"/>
              <a:t>Embedded boundary method requires adjusting lengths (</a:t>
            </a:r>
            <a:r>
              <a:rPr lang="en-US" sz="2000" b="0" i="1"/>
              <a:t>l</a:t>
            </a:r>
            <a:r>
              <a:rPr lang="en-US" sz="2000" b="0" i="1" baseline="-25000"/>
              <a:t>ij</a:t>
            </a:r>
            <a:r>
              <a:rPr lang="en-US" sz="2000" b="0" i="1"/>
              <a:t>, l</a:t>
            </a:r>
            <a:r>
              <a:rPr lang="en-US" sz="2000" b="0" i="1" baseline="-25000"/>
              <a:t>ik</a:t>
            </a:r>
            <a:r>
              <a:rPr lang="en-US" sz="2000" b="0" i="1"/>
              <a:t>,</a:t>
            </a:r>
            <a:r>
              <a:rPr lang="en-US" sz="2000" b="0" i="1" baseline="-25000"/>
              <a:t> </a:t>
            </a:r>
            <a:r>
              <a:rPr lang="en-US" sz="2000" b="0" i="1"/>
              <a:t>l</a:t>
            </a:r>
            <a:r>
              <a:rPr lang="en-US" sz="2000" b="0" i="1" baseline="-25000"/>
              <a:t>jk</a:t>
            </a:r>
            <a:r>
              <a:rPr lang="en-US" sz="2000"/>
              <a:t>) and areas (</a:t>
            </a:r>
            <a:r>
              <a:rPr lang="en-US" sz="2000" b="0" i="1"/>
              <a:t>a</a:t>
            </a:r>
            <a:r>
              <a:rPr lang="en-US" sz="2000" b="0" i="1" baseline="-25000"/>
              <a:t>ij</a:t>
            </a:r>
            <a:r>
              <a:rPr lang="en-US" sz="2000" b="0" i="1"/>
              <a:t>)</a:t>
            </a:r>
            <a:r>
              <a:rPr lang="en-US" sz="2000"/>
              <a:t> used in the </a:t>
            </a:r>
            <a:r>
              <a:rPr lang="en-US" sz="2000">
                <a:solidFill>
                  <a:schemeClr val="tx1"/>
                </a:solidFill>
              </a:rPr>
              <a:t>Faraday update step</a:t>
            </a:r>
            <a:r>
              <a:rPr lang="en-US" sz="2000"/>
              <a:t> </a:t>
            </a:r>
          </a:p>
          <a:p>
            <a:r>
              <a:rPr lang="en-US" sz="2000"/>
              <a:t>Faces with small area excluded from computations to minimize the reduction in time-step due to CFL</a:t>
            </a:r>
          </a:p>
          <a:p>
            <a:r>
              <a:rPr lang="en-US" sz="2000"/>
              <a:t>Method maintains second-order in time and space unless too many cells thrown out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128" descr="deymittra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0702" y="1820333"/>
            <a:ext cx="3560761" cy="355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VORPAL Computational Framework</a:t>
            </a:r>
          </a:p>
        </p:txBody>
      </p:sp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Tech-X Corporation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0630E9A-CF32-664B-A200-8B1D4EE062E9}" type="slidenum">
              <a:rPr lang="en-US"/>
              <a:pPr/>
              <a:t>10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0992" y="1897062"/>
            <a:ext cx="3774897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Based on the FDTD method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Mainly uses the Dey-Mittra method for embedded boundaries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Excellent scaling on &gt;10000 processors of Franklin for EM problem with ~200 million grid points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Load balancing and ADI methods currently being investigated for even better performance in the future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sz="1600" b="1" kern="0">
              <a:solidFill>
                <a:srgbClr val="0066CC"/>
              </a:solidFill>
              <a:latin typeface="+mn-lt"/>
            </a:endParaRPr>
          </a:p>
        </p:txBody>
      </p:sp>
      <p:pic>
        <p:nvPicPr>
          <p:cNvPr id="7" name="Picture 6" descr="scaling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727450" y="1733550"/>
            <a:ext cx="5276850" cy="39622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Extraction Algorithm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6213" y="1627540"/>
            <a:ext cx="8826500" cy="3960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b="1" kern="0">
                <a:solidFill>
                  <a:srgbClr val="0066CC"/>
                </a:solidFill>
                <a:latin typeface="+mn-lt"/>
              </a:rPr>
              <a:t>Eigenvalue problems typically consist of constructing a large matrix system and using an iterative method to find the eigenvalues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b="1" kern="0">
                <a:solidFill>
                  <a:srgbClr val="0066CC"/>
                </a:solidFill>
                <a:latin typeface="+mn-lt"/>
              </a:rPr>
              <a:t>Robust eigenvalue solver is necessary to compute the eigenvalues in a reasonable time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b="1" kern="0">
                <a:solidFill>
                  <a:srgbClr val="0066CC"/>
                </a:solidFill>
                <a:latin typeface="+mn-lt"/>
              </a:rPr>
              <a:t>These methods require more memory (storing matrix and multiple vectors) and are generally less scalable than FDTD methods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b="1" kern="0">
                <a:solidFill>
                  <a:srgbClr val="0066CC"/>
                </a:solidFill>
                <a:latin typeface="+mn-lt"/>
              </a:rPr>
              <a:t>Goal is to construct an eigenvalue solver (or frequency extraction algorithm) that depends on FDTD methods which are very scalable and require minimal memory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  <a:p>
            <a:pPr marL="1257300" lvl="2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1257300" lvl="2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Extraction Algorithm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9214" y="1317098"/>
            <a:ext cx="8826500" cy="3960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b="1" kern="0">
                <a:solidFill>
                  <a:srgbClr val="0066CC"/>
                </a:solidFill>
                <a:latin typeface="+mn-lt"/>
              </a:rPr>
              <a:t>Use FDTD method as it scales well for massively parallel machines like the NERSC machine Franklin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b="1" kern="0">
                <a:solidFill>
                  <a:srgbClr val="0066CC"/>
                </a:solidFill>
                <a:latin typeface="+mn-lt"/>
              </a:rPr>
              <a:t>Extract frequencies through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kern="0">
                <a:latin typeface="+mn-lt"/>
              </a:rPr>
              <a:t>Filter to desired modes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kern="0">
                <a:solidFill>
                  <a:srgbClr val="000000"/>
                </a:solidFill>
                <a:latin typeface="+mn-lt"/>
              </a:rPr>
              <a:t>Determine subspace with SVD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kern="0">
                <a:solidFill>
                  <a:srgbClr val="000000"/>
                </a:solidFill>
                <a:latin typeface="+mn-lt"/>
              </a:rPr>
              <a:t>Diagonalize in subspace</a:t>
            </a:r>
          </a:p>
          <a:p>
            <a:pPr marL="800100" lvl="1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kern="0">
                <a:solidFill>
                  <a:srgbClr val="000000"/>
                </a:solidFill>
                <a:latin typeface="+mn-lt"/>
              </a:rPr>
              <a:t>Get multiple modes at once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  <a:p>
            <a:pPr marL="1257300" lvl="2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1257300" lvl="2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90259" y="2436284"/>
            <a:ext cx="3812631" cy="3335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5235221" y="5842000"/>
            <a:ext cx="4007556" cy="455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r>
              <a:rPr lang="en-US" sz="1200" kern="0">
                <a:solidFill>
                  <a:srgbClr val="000000"/>
                </a:solidFill>
              </a:rPr>
              <a:t>G.W Werner and J.R Cary, </a:t>
            </a:r>
            <a:r>
              <a:rPr lang="en-US" sz="1200" i="1" kern="0">
                <a:solidFill>
                  <a:srgbClr val="000000"/>
                </a:solidFill>
              </a:rPr>
              <a:t>J. Comp. Phys.</a:t>
            </a:r>
            <a:r>
              <a:rPr lang="en-US" sz="1200" kern="0">
                <a:solidFill>
                  <a:srgbClr val="000000"/>
                </a:solidFill>
              </a:rPr>
              <a:t>, </a:t>
            </a:r>
            <a:r>
              <a:rPr lang="en-US" sz="1200" b="1" kern="0">
                <a:solidFill>
                  <a:srgbClr val="000000"/>
                </a:solidFill>
              </a:rPr>
              <a:t>227</a:t>
            </a:r>
            <a:r>
              <a:rPr lang="en-US" sz="1200" kern="0">
                <a:solidFill>
                  <a:srgbClr val="000000"/>
                </a:solidFill>
              </a:rPr>
              <a:t>,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r>
              <a:rPr lang="en-US" sz="1200" kern="0">
                <a:solidFill>
                  <a:srgbClr val="000000"/>
                </a:solidFill>
              </a:rPr>
              <a:t>5200-5214, 10, (2008).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Extraction Algorithm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69334" y="1806229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+mn-lt"/>
              </a:rPr>
              <a:t>Consider</a:t>
            </a:r>
          </a:p>
        </p:txBody>
      </p:sp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1341440" y="1638130"/>
          <a:ext cx="4881562" cy="692150"/>
        </p:xfrm>
        <a:graphic>
          <a:graphicData uri="http://schemas.openxmlformats.org/presentationml/2006/ole">
            <p:oleObj spid="_x0000_s86018" name="Equation" r:id="rId3" imgW="2870200" imgH="39370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6513" y="2565402"/>
            <a:ext cx="556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+mn-lt"/>
              </a:rPr>
              <a:t>Then                                                      where</a:t>
            </a: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857250" y="2548823"/>
          <a:ext cx="3232150" cy="603250"/>
        </p:xfrm>
        <a:graphic>
          <a:graphicData uri="http://schemas.openxmlformats.org/presentationml/2006/ole">
            <p:oleObj spid="_x0000_s86019" name="Equation" r:id="rId4" imgW="1892300" imgH="342900" progId="Equation.3">
              <p:embed/>
            </p:oleObj>
          </a:graphicData>
        </a:graphic>
      </p:graphicFrame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4940300" y="2534889"/>
          <a:ext cx="2176463" cy="414337"/>
        </p:xfrm>
        <a:graphic>
          <a:graphicData uri="http://schemas.openxmlformats.org/presentationml/2006/ole">
            <p:oleObj spid="_x0000_s86020" name="Equation" r:id="rId5" imgW="1282700" imgH="203200" progId="Equation.3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3691" y="3479796"/>
            <a:ext cx="7978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+mn-lt"/>
              </a:rPr>
              <a:t>Use        that vanishes for </a:t>
            </a:r>
            <a:r>
              <a:rPr lang="en-US" sz="1800" i="1">
                <a:solidFill>
                  <a:srgbClr val="0000FF"/>
                </a:solidFill>
                <a:latin typeface="+mn-lt"/>
              </a:rPr>
              <a:t>t &gt; T</a:t>
            </a:r>
            <a:r>
              <a:rPr lang="en-US" sz="1800">
                <a:solidFill>
                  <a:srgbClr val="0000FF"/>
                </a:solidFill>
                <a:latin typeface="+mn-lt"/>
              </a:rPr>
              <a:t>, where </a:t>
            </a:r>
            <a:r>
              <a:rPr lang="en-US" sz="1800" i="1">
                <a:solidFill>
                  <a:srgbClr val="0000FF"/>
                </a:solidFill>
                <a:latin typeface="+mn-lt"/>
              </a:rPr>
              <a:t>T</a:t>
            </a:r>
            <a:r>
              <a:rPr lang="en-US" sz="1800">
                <a:solidFill>
                  <a:srgbClr val="0000FF"/>
                </a:solidFill>
                <a:latin typeface="+mn-lt"/>
              </a:rPr>
              <a:t> is the excitation time, i.e.,</a:t>
            </a:r>
          </a:p>
        </p:txBody>
      </p:sp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640292" y="3516668"/>
          <a:ext cx="495300" cy="361950"/>
        </p:xfrm>
        <a:graphic>
          <a:graphicData uri="http://schemas.openxmlformats.org/presentationml/2006/ole">
            <p:oleObj spid="_x0000_s86021" name="Equation" r:id="rId6" imgW="292100" imgH="177800" progId="Equation.3">
              <p:embed/>
            </p:oleObj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1465263" y="3871913"/>
          <a:ext cx="5580062" cy="1120775"/>
        </p:xfrm>
        <a:graphic>
          <a:graphicData uri="http://schemas.openxmlformats.org/presentationml/2006/ole">
            <p:oleObj spid="_x0000_s86022" name="Equation" r:id="rId7" imgW="3263900" imgH="635000" progId="Equation.3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69332" y="5022130"/>
            <a:ext cx="7978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+mn-lt"/>
              </a:rPr>
              <a:t>where </a:t>
            </a:r>
          </a:p>
        </p:txBody>
      </p:sp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965200" y="5084941"/>
          <a:ext cx="2590800" cy="311150"/>
        </p:xfrm>
        <a:graphic>
          <a:graphicData uri="http://schemas.openxmlformats.org/presentationml/2006/ole">
            <p:oleObj spid="_x0000_s86023" name="Equation" r:id="rId8" imgW="1524000" imgH="177800" progId="Equation.3">
              <p:embed/>
            </p:oleObj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66511" y="5576692"/>
            <a:ext cx="7978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+mn-lt"/>
              </a:rPr>
              <a:t>For the range               , we use</a:t>
            </a:r>
          </a:p>
        </p:txBody>
      </p:sp>
      <p:graphicFrame>
        <p:nvGraphicFramePr>
          <p:cNvPr id="85000" name="Object 8"/>
          <p:cNvGraphicFramePr>
            <a:graphicFrameLocks noChangeAspect="1"/>
          </p:cNvGraphicFramePr>
          <p:nvPr/>
        </p:nvGraphicFramePr>
        <p:xfrm>
          <a:off x="1662113" y="5605463"/>
          <a:ext cx="906462" cy="361950"/>
        </p:xfrm>
        <a:graphic>
          <a:graphicData uri="http://schemas.openxmlformats.org/presentationml/2006/ole">
            <p:oleObj spid="_x0000_s86024" name="Equation" r:id="rId9" imgW="469900" imgH="177800" progId="Equation.3">
              <p:embed/>
            </p:oleObj>
          </a:graphicData>
        </a:graphic>
      </p:graphicFrame>
      <p:graphicFrame>
        <p:nvGraphicFramePr>
          <p:cNvPr id="85001" name="Object 9"/>
          <p:cNvGraphicFramePr>
            <a:graphicFrameLocks noChangeAspect="1"/>
          </p:cNvGraphicFramePr>
          <p:nvPr/>
        </p:nvGraphicFramePr>
        <p:xfrm>
          <a:off x="3475382" y="5588177"/>
          <a:ext cx="1960562" cy="361950"/>
        </p:xfrm>
        <a:graphic>
          <a:graphicData uri="http://schemas.openxmlformats.org/presentationml/2006/ole">
            <p:oleObj spid="_x0000_s86025" name="Equation" r:id="rId10" imgW="1155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Extraction Algorithm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6213" y="1345320"/>
            <a:ext cx="8826500" cy="70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1257300" lvl="2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1257300" lvl="2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b="1" kern="0">
              <a:solidFill>
                <a:srgbClr val="0066CC"/>
              </a:solidFill>
              <a:latin typeface="+mn-lt"/>
            </a:endParaRPr>
          </a:p>
        </p:txBody>
      </p:sp>
      <p:graphicFrame>
        <p:nvGraphicFramePr>
          <p:cNvPr id="85002" name="Object 10"/>
          <p:cNvGraphicFramePr>
            <a:graphicFrameLocks noChangeAspect="1"/>
          </p:cNvGraphicFramePr>
          <p:nvPr/>
        </p:nvGraphicFramePr>
        <p:xfrm>
          <a:off x="6756214" y="1442685"/>
          <a:ext cx="906462" cy="361950"/>
        </p:xfrm>
        <a:graphic>
          <a:graphicData uri="http://schemas.openxmlformats.org/presentationml/2006/ole">
            <p:oleObj spid="_x0000_s91138" name="Equation" r:id="rId3" imgW="469900" imgH="177800" progId="Equation.3">
              <p:embed/>
            </p:oleObj>
          </a:graphicData>
        </a:graphic>
      </p:graphicFrame>
      <p:graphicFrame>
        <p:nvGraphicFramePr>
          <p:cNvPr id="85003" name="Object 11"/>
          <p:cNvGraphicFramePr>
            <a:graphicFrameLocks noChangeAspect="1"/>
          </p:cNvGraphicFramePr>
          <p:nvPr/>
        </p:nvGraphicFramePr>
        <p:xfrm>
          <a:off x="2143478" y="3398838"/>
          <a:ext cx="4305300" cy="284162"/>
        </p:xfrm>
        <a:graphic>
          <a:graphicData uri="http://schemas.openxmlformats.org/presentationml/2006/ole">
            <p:oleObj spid="_x0000_s91139" name="Equation" r:id="rId4" imgW="2781300" imgH="177800" progId="Equation.3">
              <p:embed/>
            </p:oleObj>
          </a:graphicData>
        </a:graphic>
      </p:graphicFrame>
      <p:graphicFrame>
        <p:nvGraphicFramePr>
          <p:cNvPr id="85004" name="Object 12"/>
          <p:cNvGraphicFramePr>
            <a:graphicFrameLocks noChangeAspect="1"/>
          </p:cNvGraphicFramePr>
          <p:nvPr/>
        </p:nvGraphicFramePr>
        <p:xfrm>
          <a:off x="5543021" y="3826582"/>
          <a:ext cx="1789112" cy="325438"/>
        </p:xfrm>
        <a:graphic>
          <a:graphicData uri="http://schemas.openxmlformats.org/presentationml/2006/ole">
            <p:oleObj spid="_x0000_s91140" name="Equation" r:id="rId5" imgW="1155700" imgH="203200" progId="Equation.3">
              <p:embed/>
            </p:oleObj>
          </a:graphicData>
        </a:graphic>
      </p:graphicFrame>
      <p:graphicFrame>
        <p:nvGraphicFramePr>
          <p:cNvPr id="85006" name="Object 14"/>
          <p:cNvGraphicFramePr>
            <a:graphicFrameLocks noChangeAspect="1"/>
          </p:cNvGraphicFramePr>
          <p:nvPr/>
        </p:nvGraphicFramePr>
        <p:xfrm>
          <a:off x="2164284" y="4216049"/>
          <a:ext cx="4649788" cy="695325"/>
        </p:xfrm>
        <a:graphic>
          <a:graphicData uri="http://schemas.openxmlformats.org/presentationml/2006/ole">
            <p:oleObj spid="_x0000_s91141" name="Equation" r:id="rId6" imgW="3009900" imgH="431800" progId="Equation.3">
              <p:embed/>
            </p:oleObj>
          </a:graphicData>
        </a:graphic>
      </p:graphicFrame>
      <p:graphicFrame>
        <p:nvGraphicFramePr>
          <p:cNvPr id="85007" name="Object 15"/>
          <p:cNvGraphicFramePr>
            <a:graphicFrameLocks noChangeAspect="1"/>
          </p:cNvGraphicFramePr>
          <p:nvPr/>
        </p:nvGraphicFramePr>
        <p:xfrm>
          <a:off x="3255610" y="5026378"/>
          <a:ext cx="1198562" cy="261938"/>
        </p:xfrm>
        <a:graphic>
          <a:graphicData uri="http://schemas.openxmlformats.org/presentationml/2006/ole">
            <p:oleObj spid="_x0000_s91142" name="Equation" r:id="rId7" imgW="774700" imgH="165100" progId="Equation.3">
              <p:embed/>
            </p:oleObj>
          </a:graphicData>
        </a:graphic>
      </p:graphicFrame>
      <p:graphicFrame>
        <p:nvGraphicFramePr>
          <p:cNvPr id="85008" name="Object 16"/>
          <p:cNvGraphicFramePr>
            <a:graphicFrameLocks noChangeAspect="1"/>
          </p:cNvGraphicFramePr>
          <p:nvPr/>
        </p:nvGraphicFramePr>
        <p:xfrm>
          <a:off x="3659540" y="5549019"/>
          <a:ext cx="884237" cy="363537"/>
        </p:xfrm>
        <a:graphic>
          <a:graphicData uri="http://schemas.openxmlformats.org/presentationml/2006/ole">
            <p:oleObj spid="_x0000_s91143" name="Equation" r:id="rId8" imgW="571500" imgH="228600" progId="Equation.3">
              <p:embed/>
            </p:oleObj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66889" y="1989662"/>
            <a:ext cx="82973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Obtain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state vectors (</a:t>
            </a:r>
            <a:r>
              <a:rPr lang="en-US" sz="1800" b="1" i="1">
                <a:ea typeface="Times New Roman" charset="0"/>
                <a:cs typeface="Times New Roman" charset="0"/>
              </a:rPr>
              <a:t>s</a:t>
            </a:r>
            <a:r>
              <a:rPr lang="en-US" sz="1800" i="1" baseline="-25000"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) for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&gt;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M, 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the number of modes, which correspond to evaluation of the field at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times for t &gt; T and define </a:t>
            </a:r>
            <a:r>
              <a:rPr lang="en-US" sz="1800" b="1" i="1">
                <a:solidFill>
                  <a:srgbClr val="000000"/>
                </a:solidFill>
                <a:ea typeface="Times New Roman" charset="0"/>
                <a:cs typeface="Times New Roman" charset="0"/>
              </a:rPr>
              <a:t>r</a:t>
            </a:r>
            <a:r>
              <a:rPr lang="en-US" sz="1800" i="1" baseline="-25000">
                <a:solidFill>
                  <a:srgbClr val="000000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sz="1800">
                <a:solidFill>
                  <a:srgbClr val="000000"/>
                </a:solidFill>
                <a:ea typeface="Times New Roman" charset="0"/>
                <a:cs typeface="Times New Roman" charset="0"/>
              </a:rPr>
              <a:t>=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sz="1800" b="1" i="1">
                <a:solidFill>
                  <a:srgbClr val="000000"/>
                </a:solidFill>
                <a:ea typeface="Times New Roman" charset="0"/>
                <a:cs typeface="Times New Roman" charset="0"/>
              </a:rPr>
              <a:t>Hs</a:t>
            </a:r>
            <a:r>
              <a:rPr lang="en-US" sz="1800" i="1" baseline="-25000">
                <a:solidFill>
                  <a:srgbClr val="000000"/>
                </a:solidFill>
                <a:ea typeface="Times New Roman" charset="0"/>
                <a:cs typeface="Times New Roman" charset="0"/>
              </a:rPr>
              <a:t>l</a:t>
            </a:r>
          </a:p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52778" y="1417724"/>
            <a:ext cx="68862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Determine the approximate number of modes,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M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, in the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068" y="2684893"/>
            <a:ext cx="8286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Evaluate (</a:t>
            </a:r>
            <a:r>
              <a:rPr lang="en-US" sz="1800" b="1" i="1">
                <a:ea typeface="Times New Roman" charset="0"/>
                <a:cs typeface="Times New Roman" charset="0"/>
              </a:rPr>
              <a:t>s</a:t>
            </a:r>
            <a:r>
              <a:rPr lang="en-US" sz="1800" i="1" baseline="-25000"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) at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P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random points on the grid to obtain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P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X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matrix </a:t>
            </a:r>
            <a:r>
              <a:rPr lang="en-US" sz="1800" b="1">
                <a:solidFill>
                  <a:srgbClr val="000000"/>
                </a:solidFill>
                <a:ea typeface="Times New Roman" charset="0"/>
                <a:cs typeface="Times New Roman" charset="0"/>
              </a:rPr>
              <a:t>S 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and the    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P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X </a:t>
            </a:r>
            <a:r>
              <a:rPr lang="en-US" sz="1800" i="1">
                <a:solidFill>
                  <a:srgbClr val="0000FF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matrix </a:t>
            </a:r>
            <a:r>
              <a:rPr lang="en-US" sz="1800" b="1">
                <a:ea typeface="Times New Roman" charset="0"/>
                <a:cs typeface="Times New Roman" charset="0"/>
              </a:rPr>
              <a:t>R 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such that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179" y="3799681"/>
            <a:ext cx="68862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1">
                <a:ea typeface="Times New Roman" charset="0"/>
                <a:cs typeface="Times New Roman" charset="0"/>
              </a:rPr>
              <a:t>R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and </a:t>
            </a:r>
            <a:r>
              <a:rPr lang="en-US" sz="1800" b="1">
                <a:solidFill>
                  <a:srgbClr val="000000"/>
                </a:solidFill>
                <a:ea typeface="Times New Roman" charset="0"/>
                <a:cs typeface="Times New Roman" charset="0"/>
              </a:rPr>
              <a:t>S</a:t>
            </a: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 may be overdetermined so solve instead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247" y="4347189"/>
            <a:ext cx="1924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Find the SVD of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26" y="4979363"/>
            <a:ext cx="29576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Find the singular values 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426" y="5529692"/>
            <a:ext cx="3733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solidFill>
                  <a:srgbClr val="0000FF"/>
                </a:solidFill>
                <a:ea typeface="Times New Roman" charset="0"/>
                <a:cs typeface="Times New Roman" charset="0"/>
              </a:rPr>
              <a:t>Frequencies are calculated 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Extraction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1501420"/>
            <a:ext cx="8826500" cy="4707467"/>
          </a:xfrm>
        </p:spPr>
        <p:txBody>
          <a:bodyPr/>
          <a:lstStyle/>
          <a:p>
            <a:r>
              <a:rPr lang="en-US">
                <a:solidFill>
                  <a:srgbClr val="0000FF"/>
                </a:solidFill>
              </a:rPr>
              <a:t>Degeneracies (or near degeneracies) can be extracted with multiple simulations to generate the state vectors </a:t>
            </a:r>
            <a:r>
              <a:rPr lang="en-US" b="0"/>
              <a:t>(</a:t>
            </a:r>
            <a:r>
              <a:rPr lang="en-US" i="1">
                <a:solidFill>
                  <a:schemeClr val="tx1"/>
                </a:solidFill>
                <a:ea typeface="Times New Roman" charset="0"/>
                <a:cs typeface="Times New Roman" charset="0"/>
              </a:rPr>
              <a:t>s</a:t>
            </a:r>
            <a:r>
              <a:rPr lang="en-US" i="1" baseline="-25000">
                <a:solidFill>
                  <a:schemeClr val="tx1"/>
                </a:solidFill>
                <a:ea typeface="Times New Roman" charset="0"/>
                <a:cs typeface="Times New Roman" charset="0"/>
              </a:rPr>
              <a:t>l</a:t>
            </a:r>
            <a:r>
              <a:rPr lang="en-US" b="0">
                <a:solidFill>
                  <a:srgbClr val="0000FF"/>
                </a:solidFill>
                <a:ea typeface="Times New Roman" charset="0"/>
                <a:cs typeface="Times New Roman" charset="0"/>
              </a:rPr>
              <a:t>)</a:t>
            </a:r>
            <a:r>
              <a:rPr lang="en-US">
                <a:solidFill>
                  <a:srgbClr val="0000FF"/>
                </a:solidFill>
                <a:ea typeface="Times New Roman" charset="0"/>
                <a:cs typeface="Times New Roman" charset="0"/>
              </a:rPr>
              <a:t> </a:t>
            </a:r>
          </a:p>
          <a:p>
            <a:r>
              <a:rPr lang="en-US">
                <a:solidFill>
                  <a:srgbClr val="0000FF"/>
                </a:solidFill>
                <a:ea typeface="Times New Roman" charset="0"/>
                <a:cs typeface="Times New Roman" charset="0"/>
              </a:rPr>
              <a:t>Once the state vectors are generated from FDTD simulations,  the frequency extraction algorithm is quick (&lt; 1min)</a:t>
            </a:r>
          </a:p>
          <a:p>
            <a:r>
              <a:rPr lang="en-US">
                <a:solidFill>
                  <a:srgbClr val="0000FF"/>
                </a:solidFill>
                <a:ea typeface="Times New Roman" charset="0"/>
                <a:cs typeface="Times New Roman" charset="0"/>
              </a:rPr>
              <a:t>Constructing the spatial mode patterns for each frequency also takes only several minutes depending on problem size</a:t>
            </a:r>
          </a:p>
          <a:p>
            <a:r>
              <a:rPr lang="en-US">
                <a:solidFill>
                  <a:srgbClr val="0000FF"/>
                </a:solidFill>
                <a:ea typeface="Times New Roman" charset="0"/>
                <a:cs typeface="Times New Roman" charset="0"/>
              </a:rPr>
              <a:t>Results in [Cary and Werner, 2008] verified method for 2D rectangular wave guide</a:t>
            </a:r>
          </a:p>
          <a:p>
            <a:endParaRPr lang="en-US">
              <a:solidFill>
                <a:srgbClr val="0000FF"/>
              </a:solidFill>
              <a:ea typeface="Times New Roman" charset="0"/>
              <a:cs typeface="Times New Roman" charset="0"/>
            </a:endParaRPr>
          </a:p>
          <a:p>
            <a:endParaRPr lang="en-US">
              <a:solidFill>
                <a:srgbClr val="0000FF"/>
              </a:solidFill>
              <a:ea typeface="Times New Roman" charset="0"/>
              <a:cs typeface="Times New Roman" charset="0"/>
            </a:endParaRP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FFFF00"/>
                </a:solidFill>
              </a:rPr>
              <a:t>Validation of Sphere 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013" y="1911350"/>
            <a:ext cx="3814762" cy="3754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814763" y="1327150"/>
            <a:ext cx="5029200" cy="52117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Simulation parameters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18 degree slice of a spherical cavity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Radius = 0.1 m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Grid size = 2 mm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Frequency range = 2 ~ 4 GHz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Expected modes (TEnmp)‏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TE101        2.14396 GHz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TE201        2.74995 GHz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TE301        3.33418 GHz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TE102        3.68598 GHz</a:t>
            </a:r>
          </a:p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TE401        3.90418 GHz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FFFF00"/>
                </a:solidFill>
              </a:rPr>
              <a:t>Validation of Sphere 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17</a:t>
            </a:fld>
            <a:endParaRPr lang="en-US"/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4157838" y="1724378"/>
          <a:ext cx="4870450" cy="3505200"/>
        </p:xfrm>
        <a:graphic>
          <a:graphicData uri="http://schemas.openxmlformats.org/presentationml/2006/ole">
            <p:oleObj spid="_x0000_s94210" r:id="rId3" imgW="4864100" imgH="3517900" progId="">
              <p:embed/>
            </p:oleObj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2888" y="1933224"/>
          <a:ext cx="3937000" cy="234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984250"/>
                <a:gridCol w="1098696"/>
                <a:gridCol w="869804"/>
              </a:tblGrid>
              <a:tr h="57855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Analytical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Calculated (GHz)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Rel. Error</a:t>
                      </a:r>
                    </a:p>
                  </a:txBody>
                  <a:tcPr/>
                </a:tc>
              </a:tr>
              <a:tr h="32220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TE101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2.14396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2.14550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0.00072</a:t>
                      </a:r>
                    </a:p>
                  </a:txBody>
                  <a:tcPr/>
                </a:tc>
              </a:tr>
              <a:tr h="32220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TE201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2.74995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2.75091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0.00035</a:t>
                      </a:r>
                    </a:p>
                  </a:txBody>
                  <a:tcPr/>
                </a:tc>
              </a:tr>
              <a:tr h="32220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TE301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3.33418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3.33378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0.00012</a:t>
                      </a:r>
                    </a:p>
                  </a:txBody>
                  <a:tcPr/>
                </a:tc>
              </a:tr>
              <a:tr h="32220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TE102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3.68598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3.68458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0.00038</a:t>
                      </a:r>
                    </a:p>
                  </a:txBody>
                  <a:tcPr/>
                </a:tc>
              </a:tr>
              <a:tr h="32220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TE401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3.90418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3.90302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0.00030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556" y="5006623"/>
            <a:ext cx="5530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/>
              <a:t>These preliminary results have similar accuracy to HFSS and Microwave Studio.  Omega3p more accurate by a three orders of magnitude.  (HFSS, Microwave Studio, and Omega3p results obtain from JLab. VORPAL results produced by Seah Zhou of Tech-X Corp.)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17324" y="1747490"/>
            <a:ext cx="8826676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Compute frequencies for 9-cell crab cavity and compare to MAFIA/MWS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sz="1800" b="1" kern="0">
              <a:solidFill>
                <a:srgbClr val="0066CC"/>
              </a:solidFill>
              <a:latin typeface="+mn-lt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Crab cavity squashed in the z-direction to eliminate degeneracies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Simulations with up to 25 million cells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Extrapolated results consistently differ from MAFIA/MWS by ~3 MHz 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endParaRPr lang="en-US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sz="1600" b="1" kern="0">
              <a:solidFill>
                <a:srgbClr val="0066CC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6335" y="1171225"/>
            <a:ext cx="4473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>
                <a:solidFill>
                  <a:srgbClr val="0000FF"/>
                </a:solidFill>
                <a:latin typeface="+mn-lt"/>
              </a:rPr>
              <a:t>Background</a:t>
            </a:r>
          </a:p>
        </p:txBody>
      </p:sp>
      <p:pic>
        <p:nvPicPr>
          <p:cNvPr id="9" name="Picture 76" descr="crop_crab_geometry_1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3489" y="2161258"/>
            <a:ext cx="33528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88" descr="diagnostics_points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90823" y="2111587"/>
            <a:ext cx="76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87" descr="freqr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7445" y="3863622"/>
            <a:ext cx="4114800" cy="208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45" descr="c:\Mychart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7644" y="3854978"/>
            <a:ext cx="3733800" cy="23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33880" y="1564045"/>
            <a:ext cx="3925887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A15 Cavity is an aluminum cavity fabricated at Fermilab in 1999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 typeface="Arial"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  <a:latin typeface="+mn-lt"/>
              </a:rPr>
              <a:t>Designed for development of a K+ beam </a:t>
            </a:r>
            <a:endParaRPr lang="en-US" sz="1800" b="1" kern="0">
              <a:solidFill>
                <a:srgbClr val="0066CC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</a:rPr>
              <a:t>It has been extensively tested, measured, and simulated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</a:rPr>
              <a:t>Simulations performed by MAFIA considered computing frequencies of accelerating and deflecting modes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r>
              <a:rPr lang="en-US" sz="1800" b="1" kern="0">
                <a:solidFill>
                  <a:srgbClr val="0066CC"/>
                </a:solidFill>
              </a:rPr>
              <a:t>Tech-X using VORPAL has concentrated on the deflecting (TM</a:t>
            </a:r>
            <a:r>
              <a:rPr lang="en-US" sz="1800" b="1" kern="0" baseline="-25000">
                <a:solidFill>
                  <a:srgbClr val="0066CC"/>
                </a:solidFill>
              </a:rPr>
              <a:t>110</a:t>
            </a:r>
            <a:r>
              <a:rPr lang="en-US" sz="1800" b="1" kern="0">
                <a:solidFill>
                  <a:srgbClr val="0066CC"/>
                </a:solidFill>
              </a:rPr>
              <a:t>) modes from the A15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15000"/>
              </a:spcBef>
              <a:buClr>
                <a:srgbClr val="003399"/>
              </a:buClr>
              <a:buSzPct val="120000"/>
              <a:buFontTx/>
              <a:buChar char="•"/>
              <a:defRPr/>
            </a:pPr>
            <a:endParaRPr lang="en-US" sz="1600" b="1" kern="0">
              <a:solidFill>
                <a:srgbClr val="0066CC"/>
              </a:solidFill>
              <a:latin typeface="+mn-lt"/>
            </a:endParaRPr>
          </a:p>
        </p:txBody>
      </p:sp>
      <p:pic>
        <p:nvPicPr>
          <p:cNvPr id="7" name="Picture 6" descr="crabwithendholes1c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911" y="1602319"/>
            <a:ext cx="4178300" cy="3126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20</a:t>
            </a:fld>
            <a:endParaRPr lang="en-US"/>
          </a:p>
        </p:txBody>
      </p:sp>
      <p:pic>
        <p:nvPicPr>
          <p:cNvPr id="10" name="Picture 9" descr="crabwithendholes1c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911" y="1602319"/>
            <a:ext cx="4178300" cy="3126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1669" y="1636892"/>
            <a:ext cx="35983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/>
              <a:t>Equator Radius: 47.19 mm</a:t>
            </a:r>
          </a:p>
          <a:p>
            <a:pPr algn="l"/>
            <a:r>
              <a:rPr lang="en-US" sz="1800"/>
              <a:t>Iris Radius: 15.00 mm</a:t>
            </a:r>
          </a:p>
          <a:p>
            <a:pPr algn="l"/>
            <a:r>
              <a:rPr lang="en-US" sz="1800"/>
              <a:t>Cavity Length: 153.6 mm</a:t>
            </a:r>
          </a:p>
          <a:p>
            <a:pPr algn="l"/>
            <a:endParaRPr lang="en-US" sz="1800"/>
          </a:p>
          <a:p>
            <a:pPr algn="l"/>
            <a:r>
              <a:rPr lang="en-US" sz="1800"/>
              <a:t>Cavity contains end plate holes used for bead pull experiments and for creating dipoles</a:t>
            </a:r>
          </a:p>
          <a:p>
            <a:pPr algn="l"/>
            <a:endParaRPr lang="en-US" sz="1800"/>
          </a:p>
          <a:p>
            <a:pPr algn="l"/>
            <a:endParaRPr lang="en-US" sz="1800"/>
          </a:p>
          <a:p>
            <a:pPr algn="l"/>
            <a:endParaRPr lang="en-US" sz="1800"/>
          </a:p>
          <a:p>
            <a:pPr algn="l"/>
            <a:endParaRPr lang="en-US" sz="1800"/>
          </a:p>
          <a:p>
            <a:pPr algn="l"/>
            <a:r>
              <a:rPr lang="en-US" sz="1800" b="1"/>
              <a:t>Five Deflecting Modes:</a:t>
            </a:r>
          </a:p>
          <a:p>
            <a:pPr algn="l"/>
            <a:endParaRPr lang="en-US" sz="1800"/>
          </a:p>
          <a:p>
            <a:pPr algn="l"/>
            <a:endParaRPr lang="en-US" sz="1800"/>
          </a:p>
          <a:p>
            <a:pPr algn="l"/>
            <a:endParaRPr lang="en-US" sz="18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5225" y="5192671"/>
          <a:ext cx="4882445" cy="67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489"/>
                <a:gridCol w="976489"/>
                <a:gridCol w="976489"/>
                <a:gridCol w="976489"/>
                <a:gridCol w="976489"/>
              </a:tblGrid>
              <a:tr h="158697"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lang="en-US" b="0" baseline="-250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lang="en-US"/>
                    </a:p>
                  </a:txBody>
                  <a:tcPr/>
                </a:tc>
              </a:tr>
              <a:tr h="219830">
                <a:tc>
                  <a:txBody>
                    <a:bodyPr/>
                    <a:lstStyle/>
                    <a:p>
                      <a:r>
                        <a:rPr lang="en-US" sz="1400"/>
                        <a:t>3902.810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3910.404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3939.336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4001.342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4106.164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458788" y="1846263"/>
          <a:ext cx="8418512" cy="4237037"/>
        </p:xfrm>
        <a:graphic>
          <a:graphicData uri="http://schemas.openxmlformats.org/presentationml/2006/ole">
            <p:oleObj spid="_x0000_s100354" name="Equation" r:id="rId3" imgW="3721100" imgH="1930400" progId="Equation.3">
              <p:embed/>
            </p:oleObj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2284063" y="3432000"/>
          <a:ext cx="5449887" cy="806450"/>
        </p:xfrm>
        <a:graphic>
          <a:graphicData uri="http://schemas.openxmlformats.org/presentationml/2006/ole">
            <p:oleObj spid="_x0000_s100355" name="Equation" r:id="rId4" imgW="3187700" imgH="457200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1244600"/>
            <a:ext cx="339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/>
              <a:t>Excitation Pattern: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8300" y="1485900"/>
            <a:ext cx="8496300" cy="563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/>
              <a:t>Simulation Parameters</a:t>
            </a:r>
            <a:r>
              <a:rPr lang="en-US"/>
              <a:t>:</a:t>
            </a:r>
          </a:p>
          <a:p>
            <a:pPr algn="l"/>
            <a:endParaRPr lang="en-US"/>
          </a:p>
          <a:p>
            <a:pPr algn="l"/>
            <a:r>
              <a:rPr lang="en-US"/>
              <a:t>   Two simulations used to capture degeneracies</a:t>
            </a:r>
          </a:p>
          <a:p>
            <a:pPr algn="l"/>
            <a:endParaRPr lang="en-US"/>
          </a:p>
          <a:p>
            <a:pPr algn="l"/>
            <a:r>
              <a:rPr lang="en-US"/>
              <a:t>   Excitation time:  100 periods @ 4 GHz</a:t>
            </a:r>
          </a:p>
          <a:p>
            <a:pPr algn="l"/>
            <a:endParaRPr lang="en-US"/>
          </a:p>
          <a:p>
            <a:pPr algn="l"/>
            <a:r>
              <a:rPr lang="en-US"/>
              <a:t>   Total simulation time: 150 periods @ 4 GHz</a:t>
            </a:r>
          </a:p>
          <a:p>
            <a:pPr algn="l"/>
            <a:endParaRPr lang="en-US"/>
          </a:p>
          <a:p>
            <a:pPr algn="l"/>
            <a:r>
              <a:rPr lang="en-US"/>
              <a:t>   Max number of grid points: ~20 million grid points</a:t>
            </a:r>
          </a:p>
          <a:p>
            <a:pPr algn="l"/>
            <a:endParaRPr lang="en-US"/>
          </a:p>
          <a:p>
            <a:pPr algn="l"/>
            <a:r>
              <a:rPr lang="en-US"/>
              <a:t>   Max Total Time Steps: 437369 time steps</a:t>
            </a:r>
          </a:p>
          <a:p>
            <a:pPr algn="l"/>
            <a:r>
              <a:rPr lang="en-US"/>
              <a:t>      </a:t>
            </a:r>
          </a:p>
          <a:p>
            <a:pPr algn="l"/>
            <a:r>
              <a:rPr lang="en-US"/>
              <a:t>   </a:t>
            </a:r>
          </a:p>
          <a:p>
            <a:pPr algn="l"/>
            <a:endParaRPr lang="en-US"/>
          </a:p>
          <a:p>
            <a:pPr algn="l"/>
            <a:r>
              <a:rPr lang="en-US"/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15cav2con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1" y="3906099"/>
            <a:ext cx="3511006" cy="245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23</a:t>
            </a:fld>
            <a:endParaRPr lang="en-US"/>
          </a:p>
        </p:txBody>
      </p:sp>
      <p:pic>
        <p:nvPicPr>
          <p:cNvPr id="7" name="Picture 6" descr="a15cav2conv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0500" y="1270000"/>
            <a:ext cx="3657600" cy="2560320"/>
          </a:xfrm>
          <a:prstGeom prst="rect">
            <a:avLst/>
          </a:prstGeom>
        </p:spPr>
      </p:pic>
      <p:pic>
        <p:nvPicPr>
          <p:cNvPr id="9" name="Picture 8" descr="a15cav2conv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4559300" y="1270000"/>
            <a:ext cx="3657600" cy="2560320"/>
          </a:xfrm>
          <a:prstGeom prst="rect">
            <a:avLst/>
          </a:prstGeom>
        </p:spPr>
      </p:pic>
      <p:pic>
        <p:nvPicPr>
          <p:cNvPr id="12" name="Picture 11" descr="a15cav2conv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4572000" y="3848100"/>
            <a:ext cx="3657600" cy="256032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 bwMode="auto">
          <a:xfrm>
            <a:off x="3441700" y="17526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673100" y="27178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048250" y="17653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7816850" y="165735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5060950" y="459105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7829550" y="424815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73100" y="45720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3337979" y="4282018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673100" y="1727200"/>
            <a:ext cx="45720" cy="4572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3441700" y="1847850"/>
            <a:ext cx="45720" cy="4572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698500" y="1987550"/>
            <a:ext cx="1384300" cy="127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711200" y="3028950"/>
            <a:ext cx="1384300" cy="127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rot="660000">
            <a:off x="5048250" y="2717800"/>
            <a:ext cx="1384300" cy="127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rot="20520000">
            <a:off x="730251" y="4921250"/>
            <a:ext cx="1714500" cy="4572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 rot="20820000">
            <a:off x="5118101" y="4737099"/>
            <a:ext cx="1714500" cy="4572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6511" y="3708405"/>
            <a:ext cx="845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/>
              <a:t>Relative Error of Deflecting Modes Computed by VORPAL:</a:t>
            </a:r>
          </a:p>
          <a:p>
            <a:pPr algn="l"/>
            <a:endParaRPr lang="en-US" sz="180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42348" y="4367173"/>
          <a:ext cx="5856110" cy="110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222"/>
                <a:gridCol w="1171222"/>
                <a:gridCol w="1171222"/>
                <a:gridCol w="1171222"/>
                <a:gridCol w="1171222"/>
              </a:tblGrid>
              <a:tr h="600483"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lang="en-US" b="0" baseline="-250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lang="en-US"/>
                    </a:p>
                  </a:txBody>
                  <a:tcPr/>
                </a:tc>
              </a:tr>
              <a:tr h="50040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6.5e-4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4.9e-4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5.1e-4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6.1e-4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6511" y="1473205"/>
            <a:ext cx="8453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/>
              <a:t>Relative Error of Deflecting Modes Computed by MAFIA:</a:t>
            </a:r>
          </a:p>
          <a:p>
            <a:pPr algn="l"/>
            <a:endParaRPr lang="en-US" sz="18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42348" y="1992273"/>
          <a:ext cx="5856110" cy="110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222"/>
                <a:gridCol w="1171222"/>
                <a:gridCol w="1171222"/>
                <a:gridCol w="1171222"/>
                <a:gridCol w="1171222"/>
              </a:tblGrid>
              <a:tr h="600483"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lang="en-US" b="0" baseline="-250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lang="en-US"/>
                    </a:p>
                  </a:txBody>
                  <a:tcPr/>
                </a:tc>
              </a:tr>
              <a:tr h="50040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1.4e-3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1.3e-3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-------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1549400"/>
            <a:ext cx="8826500" cy="5111750"/>
          </a:xfrm>
        </p:spPr>
        <p:txBody>
          <a:bodyPr/>
          <a:lstStyle/>
          <a:p>
            <a:r>
              <a:rPr lang="en-US"/>
              <a:t>VORPAL was too low by 2 MHz for the </a:t>
            </a:r>
            <a:r>
              <a:rPr lang="en-US">
                <a:latin typeface="Symbol Proportional BT" charset="2"/>
                <a:cs typeface="Symbol Proportional BT" charset="2"/>
              </a:rPr>
              <a:t>p</a:t>
            </a:r>
            <a:r>
              <a:rPr lang="en-US"/>
              <a:t> mode</a:t>
            </a:r>
          </a:p>
          <a:p>
            <a:r>
              <a:rPr lang="en-US"/>
              <a:t>MAFIA was too low by 5 MHz for the </a:t>
            </a:r>
            <a:r>
              <a:rPr lang="en-US">
                <a:latin typeface="Symbol Proportional BT" charset="2"/>
                <a:cs typeface="Symbol Proportional BT" charset="2"/>
              </a:rPr>
              <a:t>p</a:t>
            </a:r>
            <a:r>
              <a:rPr lang="en-US"/>
              <a:t> mode</a:t>
            </a:r>
          </a:p>
          <a:p>
            <a:r>
              <a:rPr lang="en-US"/>
              <a:t>MAFIA calculations were too large on spacing between the </a:t>
            </a:r>
            <a:r>
              <a:rPr lang="en-US">
                <a:latin typeface="Symbol Proportional BT" charset="2"/>
                <a:cs typeface="Symbol Proportional BT" charset="2"/>
              </a:rPr>
              <a:t>p</a:t>
            </a:r>
            <a:r>
              <a:rPr lang="en-US"/>
              <a:t> deflection mode and the next higher mode by 6.41% and VORPAL calculations were too large by 7.6%</a:t>
            </a:r>
          </a:p>
          <a:p>
            <a:r>
              <a:rPr lang="en-US"/>
              <a:t>Possible causes for differences between calculations and experimental measurements:</a:t>
            </a:r>
          </a:p>
          <a:p>
            <a:pPr lvl="1"/>
            <a:r>
              <a:rPr lang="en-US"/>
              <a:t>Failed to account for atmospheric conditions</a:t>
            </a:r>
          </a:p>
          <a:p>
            <a:pPr lvl="1"/>
            <a:r>
              <a:rPr lang="en-US"/>
              <a:t>End plate holes lead to frequency shift</a:t>
            </a:r>
          </a:p>
          <a:p>
            <a:pPr lvl="1"/>
            <a:r>
              <a:rPr lang="en-US"/>
              <a:t>Discrepancies between specs and machining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15cav3con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42" y="3849369"/>
            <a:ext cx="3590473" cy="2513331"/>
          </a:xfrm>
          <a:prstGeom prst="rect">
            <a:avLst/>
          </a:prstGeom>
        </p:spPr>
      </p:pic>
      <p:pic>
        <p:nvPicPr>
          <p:cNvPr id="31" name="Picture 30" descr="a15cav3conv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572000" y="3848100"/>
            <a:ext cx="3657600" cy="2560320"/>
          </a:xfrm>
          <a:prstGeom prst="rect">
            <a:avLst/>
          </a:prstGeom>
        </p:spPr>
      </p:pic>
      <p:pic>
        <p:nvPicPr>
          <p:cNvPr id="30" name="Picture 29" descr="a15cav3conv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4565650" y="1276350"/>
            <a:ext cx="3657600" cy="2560320"/>
          </a:xfrm>
          <a:prstGeom prst="rect">
            <a:avLst/>
          </a:prstGeom>
        </p:spPr>
      </p:pic>
      <p:pic>
        <p:nvPicPr>
          <p:cNvPr id="28" name="Picture 27" descr="a15cav3conv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190500" y="1270000"/>
            <a:ext cx="3657600" cy="2560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A15 Accelerator Cavity Computations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13" name="Oval 12"/>
          <p:cNvSpPr/>
          <p:nvPr/>
        </p:nvSpPr>
        <p:spPr bwMode="auto">
          <a:xfrm>
            <a:off x="3441700" y="17526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673100" y="27813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048250" y="17653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7816850" y="165735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5060950" y="484505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7829550" y="424815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92150" y="45720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3429000" y="4241800"/>
            <a:ext cx="45720" cy="4572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673100" y="1930400"/>
            <a:ext cx="45720" cy="4572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3441700" y="1847850"/>
            <a:ext cx="45720" cy="4572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" name="Straight Connector 23"/>
          <p:cNvCxnSpPr/>
          <p:nvPr/>
        </p:nvCxnSpPr>
        <p:spPr bwMode="auto">
          <a:xfrm rot="21360000">
            <a:off x="698500" y="1924050"/>
            <a:ext cx="1384300" cy="127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rot="21420000">
            <a:off x="704850" y="2832100"/>
            <a:ext cx="1384300" cy="1270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>
            <a:off x="5067300" y="1943100"/>
            <a:ext cx="1430828" cy="258388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rot="20520000">
            <a:off x="762002" y="4305300"/>
            <a:ext cx="1714500" cy="4572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 rot="20640000">
            <a:off x="5111751" y="4686299"/>
            <a:ext cx="1714500" cy="45720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of A15 Cavity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6511" y="3708405"/>
            <a:ext cx="8453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/>
              <a:t>Relative Error of Deflecting Modes Computed by VORPAL for 0.03 mm smaller equatorial radius:</a:t>
            </a:r>
          </a:p>
          <a:p>
            <a:pPr algn="l"/>
            <a:endParaRPr lang="en-US" sz="180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67748" y="2271673"/>
          <a:ext cx="5856110" cy="110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222"/>
                <a:gridCol w="1171222"/>
                <a:gridCol w="1171222"/>
                <a:gridCol w="1171222"/>
                <a:gridCol w="1171222"/>
              </a:tblGrid>
              <a:tr h="600483"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lang="en-US" b="0" baseline="-250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lang="en-US"/>
                    </a:p>
                  </a:txBody>
                  <a:tcPr/>
                </a:tc>
              </a:tr>
              <a:tr h="50040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6.5e-4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4.9e-4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5.1e-4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6.1e-4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6511" y="1473205"/>
            <a:ext cx="8453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/>
              <a:t>Relative Error of Deflecting Modes Computed by VORPAL for original equatorial radius:</a:t>
            </a:r>
          </a:p>
          <a:p>
            <a:pPr algn="l"/>
            <a:endParaRPr lang="en-US" sz="18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43948" y="4544973"/>
          <a:ext cx="5856110" cy="1100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222"/>
                <a:gridCol w="1171222"/>
                <a:gridCol w="1171222"/>
                <a:gridCol w="1171222"/>
                <a:gridCol w="1171222"/>
              </a:tblGrid>
              <a:tr h="600483"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lang="en-US" b="0" baseline="-250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lang="en-US" b="0" i="0" baseline="-2500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lang="en-US"/>
                    </a:p>
                  </a:txBody>
                  <a:tcPr/>
                </a:tc>
              </a:tr>
              <a:tr h="500403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5.6e-5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1.4e-5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7.3e-5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7.0e-5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7.6e-5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A15 Cavity Computations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3B7657-D5B2-2445-AF54-522BE7ACE8F4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04900" y="110490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/>
              <a:t>3902.810 MHz (</a:t>
            </a:r>
            <a:r>
              <a:rPr lang="en-US" sz="1400">
                <a:latin typeface="Symbol Proportional BT" charset="2"/>
                <a:cs typeface="Symbol Proportional BT" charset="2"/>
              </a:rPr>
              <a:t>p</a:t>
            </a:r>
            <a:r>
              <a:rPr lang="en-US" sz="1400"/>
              <a:t>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2500" y="1104900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/>
              <a:t>3910.404 MHz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3657600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/>
              <a:t>4001.342 MHz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8600" y="3657600"/>
            <a:ext cx="1384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/>
              <a:t>3939.336 MHz </a:t>
            </a:r>
          </a:p>
        </p:txBody>
      </p:sp>
      <p:pic>
        <p:nvPicPr>
          <p:cNvPr id="18" name="Picture 17" descr="bmod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384485"/>
            <a:ext cx="3822158" cy="2252795"/>
          </a:xfrm>
          <a:prstGeom prst="rect">
            <a:avLst/>
          </a:prstGeom>
        </p:spPr>
      </p:pic>
      <p:pic>
        <p:nvPicPr>
          <p:cNvPr id="19" name="Picture 18" descr="bmo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1335765"/>
            <a:ext cx="4013200" cy="2399243"/>
          </a:xfrm>
          <a:prstGeom prst="rect">
            <a:avLst/>
          </a:prstGeom>
        </p:spPr>
      </p:pic>
      <p:pic>
        <p:nvPicPr>
          <p:cNvPr id="20" name="Picture 19" descr="bmod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972145"/>
            <a:ext cx="3936373" cy="2296575"/>
          </a:xfrm>
          <a:prstGeom prst="rect">
            <a:avLst/>
          </a:prstGeom>
        </p:spPr>
      </p:pic>
      <p:pic>
        <p:nvPicPr>
          <p:cNvPr id="21" name="Picture 20" descr="bmod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240" y="3951737"/>
            <a:ext cx="3995228" cy="2357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Complete Picture of </a:t>
            </a:r>
            <a:r>
              <a:rPr lang="en-US">
                <a:latin typeface="Symbol Proportional BT" charset="2"/>
                <a:cs typeface="Symbol Proportional BT" charset="2"/>
              </a:rPr>
              <a:t>p</a:t>
            </a:r>
            <a:r>
              <a:rPr lang="en-US"/>
              <a:t> deflection mode</a:t>
            </a:r>
          </a:p>
        </p:txBody>
      </p:sp>
      <p:sp>
        <p:nvSpPr>
          <p:cNvPr id="471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Tech-X Corporation</a:t>
            </a:r>
          </a:p>
        </p:txBody>
      </p:sp>
      <p:sp>
        <p:nvSpPr>
          <p:cNvPr id="471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60129DB-3CD5-754D-AA80-291F0A643BEE}" type="slidenum">
              <a:rPr lang="en-US"/>
              <a:pPr/>
              <a:t>29</a:t>
            </a:fld>
            <a:endParaRPr lang="en-US"/>
          </a:p>
        </p:txBody>
      </p:sp>
      <p:pic>
        <p:nvPicPr>
          <p:cNvPr id="7" name="SciDAC08VorpalCrab1366x768.mov">
            <a:hlinkClick r:id="" action="ppaction://media"/>
          </p:cNvPr>
          <p:cNvPicPr/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5100" y="1293833"/>
            <a:ext cx="8826500" cy="4962483"/>
          </a:xfr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00" y="2006600"/>
            <a:ext cx="8826500" cy="4584700"/>
          </a:xfrm>
        </p:spPr>
        <p:txBody>
          <a:bodyPr/>
          <a:lstStyle/>
          <a:p>
            <a:r>
              <a:rPr lang="en-US"/>
              <a:t>Thanks to Leo Bellantoni at FNAL for assisting on verification study</a:t>
            </a:r>
          </a:p>
          <a:p>
            <a:r>
              <a:rPr lang="en-US"/>
              <a:t>Working with Jlab on further validation for sphere and examining maximum value of B field on surface</a:t>
            </a:r>
          </a:p>
          <a:p>
            <a:r>
              <a:rPr lang="en-US"/>
              <a:t>We are currently working on a paper which will be submitted soon showcasing this work</a:t>
            </a:r>
          </a:p>
          <a:p>
            <a:r>
              <a:rPr lang="en-US"/>
              <a:t>Future topics consist of using algorithm in an optimization loop for cavity design.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Tech-X Corporation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81E7B5-A7D0-9A42-B358-83095F5CF423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orpMaster14Sep07">
  <a:themeElements>
    <a:clrScheme name="2_CorpMaster14Sep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orpMaster14Sep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CorpMaster14Sep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rpMaster14Sep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rpMaster14Sep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rpMaster14Sep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rpMaster14Sep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rpMaster14Sep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rpMaster14Sep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rpMaster14Sep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rpMaster14Sep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rpMaster14Sep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rpMaster14Sep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rpMaster14Sep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HD:Users:cary:Desktop:CorpMaster14Sep07.pot</Template>
  <TotalTime>2319</TotalTime>
  <Words>1637</Words>
  <PresentationFormat>On-screen Show (4:3)</PresentationFormat>
  <Paragraphs>346</Paragraphs>
  <Slides>30</Slides>
  <Notes>4</Notes>
  <HiddenSlides>0</HiddenSlides>
  <MMClips>1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2_CorpMaster14Sep07</vt:lpstr>
      <vt:lpstr>Equation</vt:lpstr>
      <vt:lpstr>Microsoft Equation</vt:lpstr>
      <vt:lpstr>Applications of Frequency Extraction to Cavity Modeling</vt:lpstr>
      <vt:lpstr>Overview</vt:lpstr>
      <vt:lpstr>Cavity Modeling</vt:lpstr>
      <vt:lpstr>Cavity Modeling</vt:lpstr>
      <vt:lpstr>Finite-Difference Time-Domain </vt:lpstr>
      <vt:lpstr>Finite-Difference Time-Domain </vt:lpstr>
      <vt:lpstr>Finite-Difference Time-Domain </vt:lpstr>
      <vt:lpstr>Finite-Difference Time-Domain </vt:lpstr>
      <vt:lpstr>Finite-Difference Time-Domain </vt:lpstr>
      <vt:lpstr>VORPAL Computational Framework</vt:lpstr>
      <vt:lpstr>Frequency Extraction Algorithm</vt:lpstr>
      <vt:lpstr>Frequency Extraction Algorithm</vt:lpstr>
      <vt:lpstr>Frequency Extraction Algorithm</vt:lpstr>
      <vt:lpstr>Frequency Extraction Algorithm</vt:lpstr>
      <vt:lpstr>Frequency Extraction Algorithm</vt:lpstr>
      <vt:lpstr>Validation of Sphere </vt:lpstr>
      <vt:lpstr>Validation of Sphere </vt:lpstr>
      <vt:lpstr>Validation of A15 Cavity</vt:lpstr>
      <vt:lpstr>Validation of A15 Cavity</vt:lpstr>
      <vt:lpstr>Validation of A15 Cavity</vt:lpstr>
      <vt:lpstr>Validation of A15 Cavity</vt:lpstr>
      <vt:lpstr>Validation of A15 Cavity</vt:lpstr>
      <vt:lpstr>Validation of A15 Cavity</vt:lpstr>
      <vt:lpstr>Validation of A15 Cavity</vt:lpstr>
      <vt:lpstr>Validation of A15 Cavity</vt:lpstr>
      <vt:lpstr>A15 Accelerator Cavity Computations</vt:lpstr>
      <vt:lpstr>Validation of A15 Cavity</vt:lpstr>
      <vt:lpstr>A15 Cavity Computations</vt:lpstr>
      <vt:lpstr>Complete Picture of p deflection mode</vt:lpstr>
      <vt:lpstr>Final Remarks</vt:lpstr>
    </vt:vector>
  </TitlesOfParts>
  <Company>Tech-X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Schema for Simulation Data</dc:title>
  <dc:creator>Sveta Shasharina</dc:creator>
  <cp:lastModifiedBy>Travis Austin</cp:lastModifiedBy>
  <cp:revision>95</cp:revision>
  <cp:lastPrinted>2007-09-05T20:10:45Z</cp:lastPrinted>
  <dcterms:created xsi:type="dcterms:W3CDTF">2008-12-03T15:27:17Z</dcterms:created>
  <dcterms:modified xsi:type="dcterms:W3CDTF">2008-12-03T17:57:44Z</dcterms:modified>
</cp:coreProperties>
</file>