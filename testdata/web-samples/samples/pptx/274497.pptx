
<file path=[Content_Types].xml><?xml version="1.0" encoding="utf-8"?>
<Types xmlns="http://schemas.openxmlformats.org/package/2006/content-types">
  <Override PartName="/ppt/slideMasters/slideMaster3.xml" ContentType="application/vnd.openxmlformats-officedocument.presentationml.slideMaster+xml"/>
  <Override PartName="/ppt/slideLayouts/slideLayout39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5.xml" ContentType="application/vnd.openxmlformats-officedocument.them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75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53.xml" ContentType="application/vnd.openxmlformats-officedocument.presentationml.slideLayout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71.xml" ContentType="application/vnd.openxmlformats-officedocument.presentationml.slideLayout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20.xml" ContentType="application/vnd.openxmlformats-officedocument.presentationml.slideLayout+xml"/>
  <Override PartName="/ppt/slideLayouts/slideLayout31.xml" ContentType="application/vnd.openxmlformats-officedocument.presentationml.slideLayout+xml"/>
  <Override PartName="/docProps/custom.xml" ContentType="application/vnd.openxmlformats-officedocument.custom-properties+xml"/>
  <Override PartName="/ppt/notesSlides/notesSlide12.xml" ContentType="application/vnd.openxmlformats-officedocument.presentationml.notesSlide+xml"/>
  <Override PartName="/ppt/notesSlides/notesSlide7.xml" ContentType="application/vnd.openxmlformats-officedocument.presentationml.notesSlide+xml"/>
  <Override PartName="/ppt/slideMasters/slideMaster4.xml" ContentType="application/vnd.openxmlformats-officedocument.presentationml.slideMaster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theme/theme6.xml" ContentType="application/vnd.openxmlformats-officedocument.theme+xml"/>
  <Override PartName="/ppt/slideLayouts/slideLayout69.xml" ContentType="application/vnd.openxmlformats-officedocument.presentationml.slideLayout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Layouts/slideLayout29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76.xml" ContentType="application/vnd.openxmlformats-officedocument.presentationml.slideLayout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74.xml" ContentType="application/vnd.openxmlformats-officedocument.presentationml.slideLayout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72.xml" ContentType="application/vnd.openxmlformats-officedocument.presentationml.slideLayout+xml"/>
  <Default Extension="jpeg" ContentType="image/jpeg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70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50.xml" ContentType="application/vnd.openxmlformats-officedocument.presentationml.slideLayout+xml"/>
  <Override PartName="/ppt/notesSlides/notesSlide1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slideMasters/slideMaster7.xml" ContentType="application/vnd.openxmlformats-officedocument.presentationml.slideMaster+xml"/>
  <Override PartName="/ppt/theme/theme9.xml" ContentType="application/vnd.openxmlformats-officedocument.theme+xml"/>
  <Override PartName="/ppt/notesSlides/notesSlide6.xml" ContentType="application/vnd.openxmlformats-officedocument.presentationml.notesSlide+xml"/>
  <Override PartName="/ppt/slideMasters/slideMaster5.xml" ContentType="application/vnd.openxmlformats-officedocument.presentationml.slideMaster+xml"/>
  <Override PartName="/ppt/slides/slide8.xml" ContentType="application/vnd.openxmlformats-officedocument.presentationml.slide+xml"/>
  <Override PartName="/ppt/handoutMasters/handoutMaster1.xml" ContentType="application/vnd.openxmlformats-officedocument.presentationml.handoutMaster+xml"/>
  <Override PartName="/ppt/slideLayouts/slideLayout59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79.xml" ContentType="application/vnd.openxmlformats-officedocument.presentationml.slideLayout+xml"/>
  <Override PartName="/ppt/theme/theme7.xml" ContentType="application/vnd.openxmlformats-officedocument.them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Layouts/slideLayout1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73.xml" ContentType="application/vnd.openxmlformats-officedocument.presentationml.slideLayout+xml"/>
  <Default Extension="wmf" ContentType="image/x-wmf"/>
  <Override PartName="/ppt/notesSlides/notesSlide18.xml" ContentType="application/vnd.openxmlformats-officedocument.presentationml.notesSlide+xml"/>
  <Default Extension="rels" ContentType="application/vnd.openxmlformats-package.relationships+xml"/>
  <Override PartName="/ppt/slideLayouts/slideLayout2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11.xml" ContentType="application/vnd.openxmlformats-officedocument.presentationml.slideLayout+xml"/>
  <Override PartName="/ppt/slideLayouts/slideLayout40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9.xml" ContentType="application/vnd.openxmlformats-officedocument.presentationml.notesSlide+xml"/>
  <Override PartName="/ppt/slideMasters/slideMaster6.xml" ContentType="application/vnd.openxmlformats-officedocument.presentationml.slideMaster+xml"/>
  <Override PartName="/ppt/theme/theme8.xml" ContentType="application/vnd.openxmlformats-officedocument.them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9.xml" ContentType="application/vnd.openxmlformats-officedocument.presentationml.slideLayout+xml"/>
  <Override PartName="/ppt/slideLayouts/slideLayout78.xml" ContentType="application/vnd.openxmlformats-officedocument.presentationml.slideLayout+xml"/>
  <Override PartName="/ppt/notesSlides/notesSlide5.xml" ContentType="application/vnd.openxmlformats-officedocument.presentationml.notesSlide+xml"/>
  <Override PartName="/ppt/slideMasters/slideMaster2.xml" ContentType="application/vnd.openxmlformats-officedocument.presentationml.slideMaster+xml"/>
  <Override PartName="/ppt/slideLayouts/slideLayout3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67.xml" ContentType="application/vnd.openxmlformats-officedocument.presentationml.slideLayout+xml"/>
  <Override PartName="/ppt/notesSlides/notesSlide1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8" r:id="rId1"/>
    <p:sldMasterId id="2147484229" r:id="rId2"/>
    <p:sldMasterId id="2147484242" r:id="rId3"/>
    <p:sldMasterId id="2147484254" r:id="rId4"/>
    <p:sldMasterId id="2147484217" r:id="rId5"/>
    <p:sldMasterId id="2147483652" r:id="rId6"/>
    <p:sldMasterId id="2147483650" r:id="rId7"/>
  </p:sldMasterIdLst>
  <p:notesMasterIdLst>
    <p:notesMasterId r:id="rId28"/>
  </p:notesMasterIdLst>
  <p:handoutMasterIdLst>
    <p:handoutMasterId r:id="rId29"/>
  </p:handoutMasterIdLst>
  <p:sldIdLst>
    <p:sldId id="339" r:id="rId8"/>
    <p:sldId id="544" r:id="rId9"/>
    <p:sldId id="545" r:id="rId10"/>
    <p:sldId id="546" r:id="rId11"/>
    <p:sldId id="547" r:id="rId12"/>
    <p:sldId id="548" r:id="rId13"/>
    <p:sldId id="549" r:id="rId14"/>
    <p:sldId id="550" r:id="rId15"/>
    <p:sldId id="551" r:id="rId16"/>
    <p:sldId id="552" r:id="rId17"/>
    <p:sldId id="553" r:id="rId18"/>
    <p:sldId id="554" r:id="rId19"/>
    <p:sldId id="555" r:id="rId20"/>
    <p:sldId id="556" r:id="rId21"/>
    <p:sldId id="557" r:id="rId22"/>
    <p:sldId id="558" r:id="rId23"/>
    <p:sldId id="559" r:id="rId24"/>
    <p:sldId id="560" r:id="rId25"/>
    <p:sldId id="561" r:id="rId26"/>
    <p:sldId id="562" r:id="rId27"/>
  </p:sldIdLst>
  <p:sldSz cx="9144000" cy="6858000" type="screen4x3"/>
  <p:notesSz cx="6934200" cy="9234488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Gill Sans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Gill Sans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Gill Sans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Gill Sans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Gill Sans"/>
        <a:ea typeface="+mn-ea"/>
        <a:cs typeface="+mn-cs"/>
      </a:defRPr>
    </a:lvl5pPr>
    <a:lvl6pPr marL="2286000" algn="l" defTabSz="914400" rtl="0" eaLnBrk="1" latinLnBrk="0" hangingPunct="1">
      <a:defRPr sz="2000" b="1" kern="1200">
        <a:solidFill>
          <a:schemeClr val="tx1"/>
        </a:solidFill>
        <a:latin typeface="Gill Sans"/>
        <a:ea typeface="+mn-ea"/>
        <a:cs typeface="+mn-cs"/>
      </a:defRPr>
    </a:lvl6pPr>
    <a:lvl7pPr marL="2743200" algn="l" defTabSz="914400" rtl="0" eaLnBrk="1" latinLnBrk="0" hangingPunct="1">
      <a:defRPr sz="2000" b="1" kern="1200">
        <a:solidFill>
          <a:schemeClr val="tx1"/>
        </a:solidFill>
        <a:latin typeface="Gill Sans"/>
        <a:ea typeface="+mn-ea"/>
        <a:cs typeface="+mn-cs"/>
      </a:defRPr>
    </a:lvl7pPr>
    <a:lvl8pPr marL="3200400" algn="l" defTabSz="914400" rtl="0" eaLnBrk="1" latinLnBrk="0" hangingPunct="1">
      <a:defRPr sz="2000" b="1" kern="1200">
        <a:solidFill>
          <a:schemeClr val="tx1"/>
        </a:solidFill>
        <a:latin typeface="Gill Sans"/>
        <a:ea typeface="+mn-ea"/>
        <a:cs typeface="+mn-cs"/>
      </a:defRPr>
    </a:lvl8pPr>
    <a:lvl9pPr marL="3657600" algn="l" defTabSz="914400" rtl="0" eaLnBrk="1" latinLnBrk="0" hangingPunct="1">
      <a:defRPr sz="2000" b="1" kern="1200">
        <a:solidFill>
          <a:schemeClr val="tx1"/>
        </a:solidFill>
        <a:latin typeface="Gill Sans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3300"/>
    <a:srgbClr val="E3F53D"/>
    <a:srgbClr val="FFFF00"/>
    <a:srgbClr val="006600"/>
    <a:srgbClr val="339933"/>
    <a:srgbClr val="006666"/>
    <a:srgbClr val="0000CC"/>
    <a:srgbClr val="000066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21078" autoAdjust="0"/>
    <p:restoredTop sz="94761" autoAdjust="0"/>
  </p:normalViewPr>
  <p:slideViewPr>
    <p:cSldViewPr>
      <p:cViewPr>
        <p:scale>
          <a:sx n="66" d="100"/>
          <a:sy n="66" d="100"/>
        </p:scale>
        <p:origin x="-990" y="-84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40" d="100"/>
          <a:sy n="40" d="100"/>
        </p:scale>
        <p:origin x="-1476" y="-90"/>
      </p:cViewPr>
      <p:guideLst>
        <p:guide orient="horz" pos="2911"/>
        <p:guide pos="2184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4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067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644" tIns="47315" rIns="94644" bIns="47315" numCol="1" anchor="t" anchorCtr="0" compatLnSpc="1">
            <a:prstTxWarp prst="textNoShape">
              <a:avLst/>
            </a:prstTxWarp>
          </a:bodyPr>
          <a:lstStyle>
            <a:lvl1pPr defTabSz="947738" eaLnBrk="0" hangingPunct="0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altLang="en-US"/>
              <a:t>Test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27475" y="0"/>
            <a:ext cx="30067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644" tIns="47315" rIns="94644" bIns="47315" numCol="1" anchor="t" anchorCtr="0" compatLnSpc="1">
            <a:prstTxWarp prst="textNoShape">
              <a:avLst/>
            </a:prstTxWarp>
          </a:bodyPr>
          <a:lstStyle>
            <a:lvl1pPr algn="r" defTabSz="947738" eaLnBrk="0" hangingPunct="0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772525"/>
            <a:ext cx="30067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644" tIns="47315" rIns="94644" bIns="47315" numCol="1" anchor="b" anchorCtr="0" compatLnSpc="1">
            <a:prstTxWarp prst="textNoShape">
              <a:avLst/>
            </a:prstTxWarp>
          </a:bodyPr>
          <a:lstStyle>
            <a:lvl1pPr defTabSz="947738" eaLnBrk="0" hangingPunct="0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27475" y="8772525"/>
            <a:ext cx="30067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644" tIns="47315" rIns="94644" bIns="47315" numCol="1" anchor="b" anchorCtr="0" compatLnSpc="1">
            <a:prstTxWarp prst="textNoShape">
              <a:avLst/>
            </a:prstTxWarp>
          </a:bodyPr>
          <a:lstStyle>
            <a:lvl1pPr algn="r" defTabSz="947738" eaLnBrk="0" hangingPunct="0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fld id="{6DC7D99F-771F-4B4A-8C5D-3A4C40DC01E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067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644" tIns="47315" rIns="94644" bIns="47315" numCol="1" anchor="t" anchorCtr="0" compatLnSpc="1">
            <a:prstTxWarp prst="textNoShape">
              <a:avLst/>
            </a:prstTxWarp>
          </a:bodyPr>
          <a:lstStyle>
            <a:lvl1pPr defTabSz="947738" eaLnBrk="0" hangingPunct="0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altLang="en-US"/>
              <a:t>Test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27475" y="0"/>
            <a:ext cx="30067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644" tIns="47315" rIns="94644" bIns="47315" numCol="1" anchor="t" anchorCtr="0" compatLnSpc="1">
            <a:prstTxWarp prst="textNoShape">
              <a:avLst/>
            </a:prstTxWarp>
          </a:bodyPr>
          <a:lstStyle>
            <a:lvl1pPr algn="r" defTabSz="947738" eaLnBrk="0" hangingPunct="0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90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62050" y="692150"/>
            <a:ext cx="4616450" cy="34623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23925" y="4384675"/>
            <a:ext cx="5086350" cy="415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644" tIns="47315" rIns="94644" bIns="4731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 smtClean="0"/>
              <a:t>Click to edit Master text styles</a:t>
            </a:r>
          </a:p>
          <a:p>
            <a:pPr lvl="1"/>
            <a:r>
              <a:rPr lang="en-US" altLang="en-US" noProof="0" smtClean="0"/>
              <a:t>Second level</a:t>
            </a:r>
          </a:p>
          <a:p>
            <a:pPr lvl="2"/>
            <a:r>
              <a:rPr lang="en-US" altLang="en-US" noProof="0" smtClean="0"/>
              <a:t>Third level</a:t>
            </a:r>
          </a:p>
          <a:p>
            <a:pPr lvl="3"/>
            <a:r>
              <a:rPr lang="en-US" altLang="en-US" noProof="0" smtClean="0"/>
              <a:t>Fourth level</a:t>
            </a:r>
          </a:p>
          <a:p>
            <a:pPr lvl="4"/>
            <a:r>
              <a:rPr lang="en-US" altLang="en-US" noProof="0" smtClean="0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72525"/>
            <a:ext cx="30067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644" tIns="47315" rIns="94644" bIns="47315" numCol="1" anchor="b" anchorCtr="0" compatLnSpc="1">
            <a:prstTxWarp prst="textNoShape">
              <a:avLst/>
            </a:prstTxWarp>
          </a:bodyPr>
          <a:lstStyle>
            <a:lvl1pPr defTabSz="947738" eaLnBrk="0" hangingPunct="0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27475" y="8772525"/>
            <a:ext cx="30067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644" tIns="47315" rIns="94644" bIns="47315" numCol="1" anchor="b" anchorCtr="0" compatLnSpc="1">
            <a:prstTxWarp prst="textNoShape">
              <a:avLst/>
            </a:prstTxWarp>
          </a:bodyPr>
          <a:lstStyle>
            <a:lvl1pPr algn="r" defTabSz="947738" eaLnBrk="0" hangingPunct="0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fld id="{5EC87E1C-FAF6-4B27-8978-6E3C2E41A72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 altLang="en-US" smtClean="0"/>
              <a:t>Test</a:t>
            </a:r>
          </a:p>
        </p:txBody>
      </p:sp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C8F1715-701B-4BC1-9E5A-518093946509}" type="slidenum">
              <a:rPr lang="en-US" altLang="en-US" smtClean="0"/>
              <a:pPr/>
              <a:t>1</a:t>
            </a:fld>
            <a:endParaRPr lang="en-US" altLang="en-US" smtClean="0"/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CDB115B-B187-43C5-950E-0984169AECB1}" type="slidenum">
              <a:rPr lang="en-US" smtClean="0"/>
              <a:pPr/>
              <a:t>2</a:t>
            </a:fld>
            <a:endParaRPr lang="en-US" smtClean="0"/>
          </a:p>
        </p:txBody>
      </p:sp>
      <p:sp>
        <p:nvSpPr>
          <p:cNvPr id="94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2575DE5-A835-4698-A028-A6064462C528}" type="slidenum">
              <a:rPr lang="en-US" smtClean="0"/>
              <a:pPr/>
              <a:t>3</a:t>
            </a:fld>
            <a:endParaRPr lang="en-US" smtClean="0"/>
          </a:p>
        </p:txBody>
      </p:sp>
      <p:sp>
        <p:nvSpPr>
          <p:cNvPr id="96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9156BE0-DA78-45C5-9BD9-7CCF49A016E7}" type="slidenum">
              <a:rPr lang="en-US" smtClean="0"/>
              <a:pPr/>
              <a:t>4</a:t>
            </a:fld>
            <a:endParaRPr lang="en-US" smtClean="0"/>
          </a:p>
        </p:txBody>
      </p:sp>
      <p:sp>
        <p:nvSpPr>
          <p:cNvPr id="983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DE3A678-3401-4B5E-A1B0-6F6E7058F56E}" type="slidenum">
              <a:rPr lang="en-US" smtClean="0"/>
              <a:pPr/>
              <a:t>5</a:t>
            </a:fld>
            <a:endParaRPr lang="en-US" smtClean="0"/>
          </a:p>
        </p:txBody>
      </p:sp>
      <p:sp>
        <p:nvSpPr>
          <p:cNvPr id="100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4065079-1BD2-49B8-8E35-AC0167BABCE2}" type="slidenum">
              <a:rPr lang="en-US" smtClean="0"/>
              <a:pPr/>
              <a:t>6</a:t>
            </a:fld>
            <a:endParaRPr lang="en-US" smtClean="0"/>
          </a:p>
        </p:txBody>
      </p:sp>
      <p:sp>
        <p:nvSpPr>
          <p:cNvPr id="102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3B664F6-B2EA-42F4-89F8-0DF97D8B2F28}" type="slidenum">
              <a:rPr lang="en-US" smtClean="0"/>
              <a:pPr/>
              <a:t>7</a:t>
            </a:fld>
            <a:endParaRPr lang="en-US" smtClean="0"/>
          </a:p>
        </p:txBody>
      </p:sp>
      <p:sp>
        <p:nvSpPr>
          <p:cNvPr id="104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9895CA1-02C4-404E-9B2D-19DBBC6B008C}" type="slidenum">
              <a:rPr lang="en-US" smtClean="0"/>
              <a:pPr/>
              <a:t>8</a:t>
            </a:fld>
            <a:endParaRPr lang="en-US" smtClean="0"/>
          </a:p>
        </p:txBody>
      </p:sp>
      <p:sp>
        <p:nvSpPr>
          <p:cNvPr id="1064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4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29AC72E-52FB-4A43-B6CA-158FA0EF3821}" type="slidenum">
              <a:rPr lang="en-US" smtClean="0"/>
              <a:pPr/>
              <a:t>9</a:t>
            </a:fld>
            <a:endParaRPr lang="en-US" smtClean="0"/>
          </a:p>
        </p:txBody>
      </p:sp>
      <p:sp>
        <p:nvSpPr>
          <p:cNvPr id="108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E7D4538-4B56-4955-B116-7D608EBC9A38}" type="slidenum">
              <a:rPr lang="en-US" smtClean="0"/>
              <a:pPr/>
              <a:t>10</a:t>
            </a:fld>
            <a:endParaRPr lang="en-US" smtClean="0"/>
          </a:p>
        </p:txBody>
      </p:sp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63D6C75-5C3A-4A56-84CF-6C3F3877C064}" type="slidenum">
              <a:rPr lang="en-US" smtClean="0"/>
              <a:pPr/>
              <a:t>11</a:t>
            </a:fld>
            <a:endParaRPr lang="en-US" smtClean="0"/>
          </a:p>
        </p:txBody>
      </p:sp>
      <p:sp>
        <p:nvSpPr>
          <p:cNvPr id="112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8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F5AAEB4-759E-45EE-B73A-10E7218689C6}" type="slidenum">
              <a:rPr lang="en-US" smtClean="0"/>
              <a:pPr/>
              <a:t>12</a:t>
            </a:fld>
            <a:endParaRPr lang="en-US" smtClean="0"/>
          </a:p>
        </p:txBody>
      </p:sp>
      <p:sp>
        <p:nvSpPr>
          <p:cNvPr id="114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49A5A97-3E0F-471D-9896-67B008BCE14D}" type="slidenum">
              <a:rPr lang="en-US" smtClean="0"/>
              <a:pPr/>
              <a:t>13</a:t>
            </a:fld>
            <a:endParaRPr lang="en-US" smtClean="0"/>
          </a:p>
        </p:txBody>
      </p:sp>
      <p:sp>
        <p:nvSpPr>
          <p:cNvPr id="1167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138F65C-3BB8-429C-A667-A51C848B4C54}" type="slidenum">
              <a:rPr lang="en-US" smtClean="0"/>
              <a:pPr/>
              <a:t>14</a:t>
            </a:fld>
            <a:endParaRPr lang="en-US" smtClean="0"/>
          </a:p>
        </p:txBody>
      </p:sp>
      <p:sp>
        <p:nvSpPr>
          <p:cNvPr id="118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4BCD89D-FD08-4CA2-BBEF-1AD1FACFCFBE}" type="slidenum">
              <a:rPr lang="en-US" smtClean="0"/>
              <a:pPr/>
              <a:t>15</a:t>
            </a:fld>
            <a:endParaRPr lang="en-US" smtClean="0"/>
          </a:p>
        </p:txBody>
      </p:sp>
      <p:sp>
        <p:nvSpPr>
          <p:cNvPr id="120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77E14F2-0EA4-4055-A5CA-5A2431E13697}" type="slidenum">
              <a:rPr lang="en-US" smtClean="0"/>
              <a:pPr/>
              <a:t>16</a:t>
            </a:fld>
            <a:endParaRPr lang="en-US" smtClean="0"/>
          </a:p>
        </p:txBody>
      </p:sp>
      <p:sp>
        <p:nvSpPr>
          <p:cNvPr id="1228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2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1AFCA64-29A2-4AA0-8F11-9D8061B8C536}" type="slidenum">
              <a:rPr lang="en-US" smtClean="0"/>
              <a:pPr/>
              <a:t>17</a:t>
            </a:fld>
            <a:endParaRPr lang="en-US" smtClean="0"/>
          </a:p>
        </p:txBody>
      </p:sp>
      <p:sp>
        <p:nvSpPr>
          <p:cNvPr id="1249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7D652CA-274D-435A-81D0-1D2BA405DC61}" type="slidenum">
              <a:rPr lang="en-US" smtClean="0"/>
              <a:pPr/>
              <a:t>18</a:t>
            </a:fld>
            <a:endParaRPr lang="en-US" smtClean="0"/>
          </a:p>
        </p:txBody>
      </p:sp>
      <p:sp>
        <p:nvSpPr>
          <p:cNvPr id="1269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0D0907B-E466-4EC7-86E1-B1145469E079}" type="slidenum">
              <a:rPr lang="en-US" smtClean="0"/>
              <a:pPr/>
              <a:t>19</a:t>
            </a:fld>
            <a:endParaRPr lang="en-US" smtClean="0"/>
          </a:p>
        </p:txBody>
      </p:sp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B8AED54-654B-49CA-9C56-503D19976FA1}" type="slidenum">
              <a:rPr lang="en-US" smtClean="0"/>
              <a:pPr/>
              <a:t>20</a:t>
            </a:fld>
            <a:endParaRPr lang="en-US" smtClean="0"/>
          </a:p>
        </p:txBody>
      </p:sp>
      <p:sp>
        <p:nvSpPr>
          <p:cNvPr id="1310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0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0574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Symbol" pitchFamily="18" charset="2"/>
              <a:buNone/>
              <a:defRPr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r>
              <a:rPr lang="en-US"/>
              <a:t>Feb. 4 2009 </a:t>
            </a: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 algn="ctr">
              <a:defRPr sz="1400"/>
            </a:lvl1pPr>
          </a:lstStyle>
          <a:p>
            <a:pPr>
              <a:defRPr/>
            </a:pPr>
            <a:r>
              <a:rPr lang="en-US" altLang="en-US"/>
              <a:t>Abrams-AAC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7910A5-2A47-4B9B-9CE2-D259B8E0C02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2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Feb. 4 2009 </a:t>
            </a:r>
            <a:endParaRPr lang="en-US" altLang="en-US"/>
          </a:p>
        </p:txBody>
      </p:sp>
      <p:sp>
        <p:nvSpPr>
          <p:cNvPr id="5" name="Rectangle 22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239000" y="6477000"/>
            <a:ext cx="1905000" cy="381000"/>
          </a:xfrm>
        </p:spPr>
        <p:txBody>
          <a:bodyPr/>
          <a:lstStyle>
            <a:lvl1pPr algn="ctr">
              <a:defRPr/>
            </a:lvl1pPr>
          </a:lstStyle>
          <a:p>
            <a:pPr>
              <a:defRPr/>
            </a:pPr>
            <a:fld id="{19DA5734-F165-4765-8FAC-15BEF5FF48C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Rectangle 28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pPr>
              <a:defRPr/>
            </a:pPr>
            <a:r>
              <a:rPr lang="en-US"/>
              <a:t>Abrams-AAC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2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Feb. 4 2009 </a:t>
            </a:r>
            <a:endParaRPr lang="en-US" altLang="en-US"/>
          </a:p>
        </p:txBody>
      </p:sp>
      <p:sp>
        <p:nvSpPr>
          <p:cNvPr id="4" name="Rectangle 22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FA67ED-0DA7-4673-BC35-BB41F15C29F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5" name="Rectangle 28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Abrams-AAC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2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Feb. 4 2009 </a:t>
            </a:r>
            <a:endParaRPr lang="en-US" altLang="en-US"/>
          </a:p>
        </p:txBody>
      </p:sp>
      <p:sp>
        <p:nvSpPr>
          <p:cNvPr id="5" name="Rectangle 22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B7B769-2E44-40FC-9FD3-1616995CF07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Rectangle 28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Abrams-AAC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990600"/>
            <a:ext cx="3810000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90600"/>
            <a:ext cx="3810000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2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Feb. 4 2009 </a:t>
            </a:r>
            <a:endParaRPr lang="en-US" altLang="en-US"/>
          </a:p>
        </p:txBody>
      </p:sp>
      <p:sp>
        <p:nvSpPr>
          <p:cNvPr id="6" name="Rectangle 22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7A2A07-8181-4DBE-B36E-B79D4F377D9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28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Abrams-AAC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2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Feb. 4 2009 </a:t>
            </a:r>
            <a:endParaRPr lang="en-US" altLang="en-US"/>
          </a:p>
        </p:txBody>
      </p:sp>
      <p:sp>
        <p:nvSpPr>
          <p:cNvPr id="8" name="Rectangle 22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B18B73-1553-4840-ABF2-0529C9EC194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9" name="Rectangle 28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Abrams-AAC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2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Feb. 4 2009 </a:t>
            </a:r>
            <a:endParaRPr lang="en-US" altLang="en-US"/>
          </a:p>
        </p:txBody>
      </p:sp>
      <p:sp>
        <p:nvSpPr>
          <p:cNvPr id="4" name="Rectangle 22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1806C7-8651-4C73-82E2-90104CE5345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5" name="Rectangle 28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Abrams-AAC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Feb. 4 2009 </a:t>
            </a:r>
            <a:endParaRPr lang="en-US" altLang="en-US"/>
          </a:p>
        </p:txBody>
      </p:sp>
      <p:sp>
        <p:nvSpPr>
          <p:cNvPr id="3" name="Rectangle 22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80980A-0355-41C9-A0C6-17D42B69725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4" name="Rectangle 28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Abrams-AAC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2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Feb. 4 2009 </a:t>
            </a:r>
            <a:endParaRPr lang="en-US" altLang="en-US"/>
          </a:p>
        </p:txBody>
      </p:sp>
      <p:sp>
        <p:nvSpPr>
          <p:cNvPr id="6" name="Rectangle 22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1ACBD9-CCA9-4189-94D7-52F8226E3F4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28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Abrams-AAC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2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Feb. 4 2009 </a:t>
            </a:r>
            <a:endParaRPr lang="en-US" altLang="en-US"/>
          </a:p>
        </p:txBody>
      </p:sp>
      <p:sp>
        <p:nvSpPr>
          <p:cNvPr id="6" name="Rectangle 22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2C4FC5-9A50-4214-A121-EF8E678EFE3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28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Abrams-AAC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2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Feb. 4 2009 </a:t>
            </a:r>
            <a:endParaRPr lang="en-US" altLang="en-US"/>
          </a:p>
        </p:txBody>
      </p:sp>
      <p:sp>
        <p:nvSpPr>
          <p:cNvPr id="5" name="Rectangle 22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C4E8F3-7CA3-4760-A779-249E6064413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Rectangle 28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Abrams-AAC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0"/>
            <a:ext cx="1943100" cy="61722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0"/>
            <a:ext cx="5676900" cy="6172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2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Feb. 4 2009 </a:t>
            </a:r>
            <a:endParaRPr lang="en-US" altLang="en-US"/>
          </a:p>
        </p:txBody>
      </p:sp>
      <p:sp>
        <p:nvSpPr>
          <p:cNvPr id="5" name="Rectangle 22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66FD02-40BC-4EC4-B219-377ECB50B5C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Rectangle 28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Abrams-AAC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Feb. 4 2009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Abrams-AAC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EEB9DF-81AD-4D1B-AAC4-B9858966C72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Feb. 4 2009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Abrams-AAC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694BFD-C8E8-4695-99BD-61BE967FD19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Feb. 4 2009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Abrams-AAC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F82887-9197-4931-ABDA-AC8DBCAC133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Feb. 4 2009 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Abrams-AAC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1A5B05-8F09-4EBF-8A1B-386C95A1646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Feb. 4 2009 </a:t>
            </a: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Abrams-AAC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E62789-5170-45AD-B412-A37FD0B4B27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Feb. 4 2009 </a:t>
            </a: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Abrams-AAC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D6C442-5E9E-490B-98FC-E9E6A809F4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Feb. 4 2009 </a:t>
            </a: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Abrams-AAC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548596-C68C-4712-8C67-0B79BC5C9CD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Feb. 4 2009 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Abrams-AAC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4331FC-5647-498A-82E8-CEDC71833F1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Feb. 4 2009 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Abrams-AAC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837508-DD9D-4B04-BF8C-B3570A912F8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Feb. 4 2009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Abrams-AAC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E3036E-9B05-49D7-9A0F-D5A48EC73F9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Feb. 4 2009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Abrams-AAC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18C317-3ADF-4452-98C3-E5D37A6C929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Feb. 4 2009 </a:t>
            </a: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Abrams-AAC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8055E8-A1C6-4308-9EF2-6BB370CCC24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Feb. 4 2009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Abrams-AAC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47300A-A0EE-44EE-9F1B-5B71D1AC20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Feb. 4 2009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Abrams-AAC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B32CA6-FA08-49DD-AE74-57FB60E16FB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Feb. 4 2009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Abrams-AAC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E0329A-D671-40EB-9F47-4492FA50EF5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Feb. 4 2009 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Abrams-AAC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53BA77-F054-4046-97F1-73DCD3C1762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Feb. 4 2009 </a:t>
            </a: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Abrams-AAC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D11FB-230A-4D29-BF9C-E3346F6863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Feb. 4 2009 </a:t>
            </a: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Abrams-AAC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883427-57F5-4C1C-BEA0-9FE76C2D73F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Feb. 4 2009 </a:t>
            </a: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Abrams-AAC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4AAB4E-CE0F-4CF3-A5B1-2F742309878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Feb. 4 2009 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Abrams-AAC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69A15C-127B-410A-B7DA-75928294DF0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Feb. 4 2009 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Abrams-AAC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EE6F67-3F50-49AC-961D-5CF72A3FFCD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Feb. 4 2009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Abrams-AAC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6B0665-B37D-4C6F-A496-E1A7CF9EF8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Feb. 4 2009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Abrams-AAC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EF4801-0DE2-47C2-BFD0-0BE1F0765F1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Feb. 4 2009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Abrams-AAC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6F70EF-475A-4B17-A846-2890D1557B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Feb. 4 2009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Abrams-AAC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10A307-26AF-4F9C-AA17-2466C7D11EF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Feb. 4 2009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Abrams-AAC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54290F-C290-460A-8222-352FC4590B9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Feb. 4 2009 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Abrams-AAC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AF2226-9883-425B-AA4F-8E32E9B0A4B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Feb. 4 2009 </a:t>
            </a: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Abrams-AAC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5DA613-4546-42B3-9682-9846457E0A5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Feb. 4 2009 </a:t>
            </a: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Abrams-AAC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6EE854-D286-4C1F-8191-D660AD61D49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Feb. 4 2009 </a:t>
            </a: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Abrams-AAC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FBAE9C-CC88-4814-B33A-C8C9463A74E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Feb. 4 2009 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Abrams-AAC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33F370-ECD1-4903-ABAF-E575CD8AE29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Feb. 4 2009 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Abrams-AAC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3DBBF0-0D5B-436C-9BB2-3F8A026F52A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Feb. 4 2009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Abrams-AAC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725BB7-A8A6-49E9-B3F9-AE8EE32557C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Feb. 4 2009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Abrams-AAC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81666E-F80B-466E-B70D-2E142269843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Feb. 4 2009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Abrams-AAC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8DD73A-5C74-492E-A609-0E38E76F424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Feb. 4 2009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Abrams-AAC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7F716C-02EA-4092-AFBC-EB594595AD8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Feb. 4 2009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Abrams-AAC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70439D-CEB4-4EF3-954F-17EDC6F4858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Feb. 4 2009 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Abrams-AAC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7F3CA9-2231-47A0-A5AB-71CCDAFE4A2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Feb. 4 2009 </a:t>
            </a: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Abrams-AAC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76FC83-1578-4C0B-9E6F-E4B16DB738E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Feb. 4 2009 </a:t>
            </a: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Abrams-AAC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042C15-3AA3-4455-BBA6-C2E94E608FE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Feb. 4 2009 </a:t>
            </a: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Abrams-AAC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9D5375-C654-4CE6-9357-50A776F3BC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Feb. 4 2009 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Abrams-AAC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7CE187-017D-4716-A38F-BDE0928EB0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Feb. 4 2009 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Abrams-AAC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CB51FD-992B-4178-BCE5-CFF92E6A51F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Feb. 4 2009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Abrams-AAC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BF8AEC-1538-4DF7-9BCE-68D283154F4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Feb. 4 2009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Abrams-AAC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DB9DB3-EEF4-456B-ADD1-5D4E96A33EB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Feb. 4 2009 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Abrams-AAC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21FC20-B00D-4A95-B6B2-CF1FDEC6CE6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Feb. 4 2009 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Abrams-AAC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580403-BCEF-451E-A5BC-0B16CD236A3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Feb. 4 2009 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Abrams-AAC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EF5260-BE83-4AFF-BB97-5E6A814B2EA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Feb. 4 2009 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Abrams-AAC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CF346F-54E0-4E81-9B4D-48CFB0BBC32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Feb. 4 2009 </a:t>
            </a: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Abrams-AAC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5C775F-DA8F-4E17-B242-1A241EC4C44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Feb. 4 2009 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Abrams-AAC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75883B-F9DE-4631-B928-AFECB17C7A2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Feb. 4 2009 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Abrams-AAC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B95024-4712-4866-86D7-3AF5C24E76C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Feb. 4 2009 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Abrams-AAC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875E5C-FFA2-4375-93E3-EAA2335E3A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Feb. 4 2009 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Abrams-AAC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89C615-B2B3-4B5B-B104-B2A9241DF94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Feb. 4 2009 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Abrams-AAC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D2BF7D-A307-4221-924C-1B9EF3FC3F1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Feb. 4 2009 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Abrams-AAC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3B2262-A0AF-42A3-9677-8053827C2B0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11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4611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Feb. 4 2009 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Abrams-AAC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B6070C-C5E7-44A3-861C-99DA79B5CA3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Feb. 4 2009 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Abrams-AAC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38EE08-CFDB-46D4-91D6-485106EF44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Feb. 4 2009 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Abrams-AAC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840216-D38F-4F7E-9C4A-77A02E87534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Feb. 4 2009 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Abrams-AAC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EBD85B-CC30-46EA-8800-42CCE21095A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Feb. 4 2009 </a:t>
            </a: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Abrams-AAC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AA6832-390E-4766-A215-46F5FFA234B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Feb. 4 2009 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Abrams-AAC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51E09E-17F3-4C1B-8FB0-011054D1D4C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Feb. 4 2009 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Abrams-AAC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C99B5E-30C6-4EBE-8C26-F5144460E61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Feb. 4 2009 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Abrams-AAC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2EAF1E-FA9B-4625-9857-708EFD65B4B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Feb. 4 2009 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Abrams-AAC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441D40-AFDA-466A-AD6B-9940EFB64DD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Feb. 4 2009 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Abrams-AAC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DC86DF-F0C5-48D6-8DA4-4691DAB972E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Feb. 4 2009 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Abrams-AAC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79FE3F-AA9E-49C4-A72B-0064CA58C15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4.xml"/><Relationship Id="rId3" Type="http://schemas.openxmlformats.org/officeDocument/2006/relationships/slideLayout" Target="../slideLayouts/slideLayout49.xml"/><Relationship Id="rId7" Type="http://schemas.openxmlformats.org/officeDocument/2006/relationships/slideLayout" Target="../slideLayouts/slideLayout53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8.xml"/><Relationship Id="rId1" Type="http://schemas.openxmlformats.org/officeDocument/2006/relationships/slideLayout" Target="../slideLayouts/slideLayout47.xml"/><Relationship Id="rId6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57.xml"/><Relationship Id="rId5" Type="http://schemas.openxmlformats.org/officeDocument/2006/relationships/slideLayout" Target="../slideLayouts/slideLayout51.xml"/><Relationship Id="rId10" Type="http://schemas.openxmlformats.org/officeDocument/2006/relationships/slideLayout" Target="../slideLayouts/slideLayout56.xml"/><Relationship Id="rId4" Type="http://schemas.openxmlformats.org/officeDocument/2006/relationships/slideLayout" Target="../slideLayouts/slideLayout50.xml"/><Relationship Id="rId9" Type="http://schemas.openxmlformats.org/officeDocument/2006/relationships/slideLayout" Target="../slideLayouts/slideLayout5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5.xml"/><Relationship Id="rId3" Type="http://schemas.openxmlformats.org/officeDocument/2006/relationships/slideLayout" Target="../slideLayouts/slideLayout60.xml"/><Relationship Id="rId7" Type="http://schemas.openxmlformats.org/officeDocument/2006/relationships/slideLayout" Target="../slideLayouts/slideLayout64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9.xml"/><Relationship Id="rId1" Type="http://schemas.openxmlformats.org/officeDocument/2006/relationships/slideLayout" Target="../slideLayouts/slideLayout58.xml"/><Relationship Id="rId6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68.xml"/><Relationship Id="rId5" Type="http://schemas.openxmlformats.org/officeDocument/2006/relationships/slideLayout" Target="../slideLayouts/slideLayout62.xml"/><Relationship Id="rId10" Type="http://schemas.openxmlformats.org/officeDocument/2006/relationships/slideLayout" Target="../slideLayouts/slideLayout67.xml"/><Relationship Id="rId4" Type="http://schemas.openxmlformats.org/officeDocument/2006/relationships/slideLayout" Target="../slideLayouts/slideLayout61.xml"/><Relationship Id="rId9" Type="http://schemas.openxmlformats.org/officeDocument/2006/relationships/slideLayout" Target="../slideLayouts/slideLayout66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6.xml"/><Relationship Id="rId3" Type="http://schemas.openxmlformats.org/officeDocument/2006/relationships/slideLayout" Target="../slideLayouts/slideLayout71.xml"/><Relationship Id="rId7" Type="http://schemas.openxmlformats.org/officeDocument/2006/relationships/slideLayout" Target="../slideLayouts/slideLayout75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70.xml"/><Relationship Id="rId1" Type="http://schemas.openxmlformats.org/officeDocument/2006/relationships/slideLayout" Target="../slideLayouts/slideLayout69.xml"/><Relationship Id="rId6" Type="http://schemas.openxmlformats.org/officeDocument/2006/relationships/slideLayout" Target="../slideLayouts/slideLayout74.xml"/><Relationship Id="rId11" Type="http://schemas.openxmlformats.org/officeDocument/2006/relationships/slideLayout" Target="../slideLayouts/slideLayout79.xml"/><Relationship Id="rId5" Type="http://schemas.openxmlformats.org/officeDocument/2006/relationships/slideLayout" Target="../slideLayouts/slideLayout73.xml"/><Relationship Id="rId10" Type="http://schemas.openxmlformats.org/officeDocument/2006/relationships/slideLayout" Target="../slideLayouts/slideLayout78.xml"/><Relationship Id="rId4" Type="http://schemas.openxmlformats.org/officeDocument/2006/relationships/slideLayout" Target="../slideLayouts/slideLayout72.xml"/><Relationship Id="rId9" Type="http://schemas.openxmlformats.org/officeDocument/2006/relationships/slideLayout" Target="../slideLayouts/slideLayout7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8"/>
          <p:cNvSpPr>
            <a:spLocks noGrp="1" noChangeArrowheads="1"/>
          </p:cNvSpPr>
          <p:nvPr>
            <p:ph type="title"/>
          </p:nvPr>
        </p:nvSpPr>
        <p:spPr bwMode="auto">
          <a:xfrm>
            <a:off x="1752600" y="0"/>
            <a:ext cx="66294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Title</a:t>
            </a:r>
          </a:p>
        </p:txBody>
      </p:sp>
      <p:sp>
        <p:nvSpPr>
          <p:cNvPr id="1027" name="Rectangle 19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990600"/>
            <a:ext cx="777240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44" name="Rectangle 2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477000"/>
            <a:ext cx="1905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0" hangingPunct="0">
              <a:defRPr sz="1400" b="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/>
              <a:t>Feb. 4 2009 </a:t>
            </a:r>
            <a:endParaRPr lang="en-US" altLang="en-US"/>
          </a:p>
        </p:txBody>
      </p:sp>
      <p:sp>
        <p:nvSpPr>
          <p:cNvPr id="1046" name="Rectangle 2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39000" y="6553200"/>
            <a:ext cx="1905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400" b="0">
                <a:latin typeface="Times New Roman" pitchFamily="18" charset="0"/>
              </a:defRPr>
            </a:lvl1pPr>
          </a:lstStyle>
          <a:p>
            <a:pPr>
              <a:defRPr/>
            </a:pPr>
            <a:fld id="{B50C1F6E-2ADE-42FD-814C-5D38338BC5F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047" name="Line 23"/>
          <p:cNvSpPr>
            <a:spLocks noChangeShapeType="1"/>
          </p:cNvSpPr>
          <p:nvPr/>
        </p:nvSpPr>
        <p:spPr bwMode="auto">
          <a:xfrm>
            <a:off x="685800" y="914400"/>
            <a:ext cx="7772400" cy="0"/>
          </a:xfrm>
          <a:prstGeom prst="line">
            <a:avLst/>
          </a:prstGeom>
          <a:noFill/>
          <a:ln w="38100">
            <a:solidFill>
              <a:srgbClr val="CC0066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defRPr/>
            </a:pPr>
            <a:endParaRPr lang="en-US">
              <a:latin typeface="Gill Sans" pitchFamily="34" charset="0"/>
            </a:endParaRPr>
          </a:p>
        </p:txBody>
      </p:sp>
      <p:pic>
        <p:nvPicPr>
          <p:cNvPr id="1031" name="Picture 24" descr="flogo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auto">
          <a:xfrm>
            <a:off x="8305800" y="0"/>
            <a:ext cx="83820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52" name="Rectangle 2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209800" y="6477000"/>
            <a:ext cx="50292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/>
              <a:t>Abrams-AAC</a:t>
            </a:r>
          </a:p>
        </p:txBody>
      </p:sp>
      <p:grpSp>
        <p:nvGrpSpPr>
          <p:cNvPr id="1033" name="Group 33"/>
          <p:cNvGrpSpPr>
            <a:grpSpLocks/>
          </p:cNvGrpSpPr>
          <p:nvPr userDrawn="1"/>
        </p:nvGrpSpPr>
        <p:grpSpPr bwMode="auto">
          <a:xfrm>
            <a:off x="0" y="0"/>
            <a:ext cx="1905000" cy="838200"/>
            <a:chOff x="3840" y="3216"/>
            <a:chExt cx="1440" cy="624"/>
          </a:xfrm>
        </p:grpSpPr>
        <p:grpSp>
          <p:nvGrpSpPr>
            <p:cNvPr id="1034" name="Group 34"/>
            <p:cNvGrpSpPr>
              <a:grpSpLocks/>
            </p:cNvGrpSpPr>
            <p:nvPr/>
          </p:nvGrpSpPr>
          <p:grpSpPr bwMode="auto">
            <a:xfrm>
              <a:off x="3840" y="3216"/>
              <a:ext cx="336" cy="624"/>
              <a:chOff x="1152" y="288"/>
              <a:chExt cx="960" cy="1872"/>
            </a:xfrm>
          </p:grpSpPr>
          <p:sp>
            <p:nvSpPr>
              <p:cNvPr id="19" name="Oval 35"/>
              <p:cNvSpPr>
                <a:spLocks noChangeArrowheads="1"/>
              </p:cNvSpPr>
              <p:nvPr/>
            </p:nvSpPr>
            <p:spPr bwMode="auto">
              <a:xfrm>
                <a:off x="1152" y="1486"/>
                <a:ext cx="960" cy="674"/>
              </a:xfrm>
              <a:prstGeom prst="ellipse">
                <a:avLst/>
              </a:pr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en-US">
                  <a:latin typeface="Gill Sans" charset="0"/>
                </a:endParaRPr>
              </a:p>
            </p:txBody>
          </p:sp>
          <p:sp>
            <p:nvSpPr>
              <p:cNvPr id="20" name="Oval 36"/>
              <p:cNvSpPr>
                <a:spLocks noChangeArrowheads="1"/>
              </p:cNvSpPr>
              <p:nvPr/>
            </p:nvSpPr>
            <p:spPr bwMode="auto">
              <a:xfrm>
                <a:off x="1152" y="288"/>
                <a:ext cx="960" cy="674"/>
              </a:xfrm>
              <a:prstGeom prst="ellipse">
                <a:avLst/>
              </a:pr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en-US">
                  <a:latin typeface="Gill Sans" charset="0"/>
                </a:endParaRPr>
              </a:p>
            </p:txBody>
          </p:sp>
          <p:sp>
            <p:nvSpPr>
              <p:cNvPr id="21" name="Rectangle 37"/>
              <p:cNvSpPr>
                <a:spLocks noChangeAspect="1" noChangeArrowheads="1"/>
              </p:cNvSpPr>
              <p:nvPr/>
            </p:nvSpPr>
            <p:spPr bwMode="auto">
              <a:xfrm>
                <a:off x="1152" y="625"/>
                <a:ext cx="960" cy="1198"/>
              </a:xfrm>
              <a:prstGeom prst="rect">
                <a:avLst/>
              </a:prstGeom>
              <a:solidFill>
                <a:schemeClr val="accent2"/>
              </a:solidFill>
              <a:ln w="2857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en-US">
                  <a:latin typeface="Gill Sans" charset="0"/>
                </a:endParaRPr>
              </a:p>
            </p:txBody>
          </p:sp>
          <p:sp>
            <p:nvSpPr>
              <p:cNvPr id="1039" name="WordArt 38"/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1392" y="768"/>
                <a:ext cx="494" cy="100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2833"/>
                  </a:avLst>
                </a:prstTxWarp>
              </a:bodyPr>
              <a:lstStyle/>
              <a:p>
                <a:r>
                  <a:rPr lang="en-US" sz="5400" i="1" kern="10">
                    <a:ln w="19050">
                      <a:noFill/>
                      <a:round/>
                      <a:headEnd/>
                      <a:tailEnd/>
                    </a:ln>
                    <a:solidFill>
                      <a:srgbClr val="FFFFFF"/>
                    </a:solidFill>
                    <a:latin typeface="Symbol"/>
                  </a:rPr>
                  <a:t>m</a:t>
                </a:r>
              </a:p>
            </p:txBody>
          </p:sp>
        </p:grpSp>
        <p:sp>
          <p:nvSpPr>
            <p:cNvPr id="18" name="Text Box 39"/>
            <p:cNvSpPr txBox="1">
              <a:spLocks noChangeArrowheads="1"/>
            </p:cNvSpPr>
            <p:nvPr/>
          </p:nvSpPr>
          <p:spPr bwMode="auto">
            <a:xfrm>
              <a:off x="4274" y="3360"/>
              <a:ext cx="1006" cy="25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  <a:defRPr/>
              </a:pPr>
              <a:r>
                <a:rPr lang="en-US" sz="1600" i="1">
                  <a:solidFill>
                    <a:schemeClr val="accent2"/>
                  </a:solidFill>
                  <a:latin typeface="Times New Roman" pitchFamily="18" charset="0"/>
                </a:rPr>
                <a:t>Muons, Inc.</a:t>
              </a: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34" r:id="rId1"/>
    <p:sldLayoutId id="2147484335" r:id="rId2"/>
    <p:sldLayoutId id="2147484266" r:id="rId3"/>
    <p:sldLayoutId id="2147484265" r:id="rId4"/>
    <p:sldLayoutId id="2147484264" r:id="rId5"/>
    <p:sldLayoutId id="2147484263" r:id="rId6"/>
    <p:sldLayoutId id="2147484262" r:id="rId7"/>
    <p:sldLayoutId id="2147484261" r:id="rId8"/>
    <p:sldLayoutId id="2147484260" r:id="rId9"/>
    <p:sldLayoutId id="2147484259" r:id="rId10"/>
    <p:sldLayoutId id="2147484258" r:id="rId11"/>
    <p:sldLayoutId id="2147484257" r:id="rId12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000066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000066"/>
          </a:solidFill>
          <a:latin typeface="Comic Sans MS" pitchFamily="66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000066"/>
          </a:solidFill>
          <a:latin typeface="Comic Sans MS" pitchFamily="66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000066"/>
          </a:solidFill>
          <a:latin typeface="Comic Sans MS" pitchFamily="66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000066"/>
          </a:solidFill>
          <a:latin typeface="Comic Sans MS" pitchFamily="66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000066"/>
          </a:solidFill>
          <a:latin typeface="Comic Sans MS" pitchFamily="66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000066"/>
          </a:solidFill>
          <a:latin typeface="Comic Sans MS" pitchFamily="66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000066"/>
          </a:solidFill>
          <a:latin typeface="Comic Sans MS" pitchFamily="66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000066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Symbol" pitchFamily="18" charset="2"/>
        <a:buChar char="·"/>
        <a:defRPr sz="2400">
          <a:solidFill>
            <a:srgbClr val="0000CC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Symbol" pitchFamily="18" charset="2"/>
        <a:buChar char="·"/>
        <a:defRPr sz="2000">
          <a:solidFill>
            <a:srgbClr val="006666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433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0" hangingPunct="0">
              <a:defRPr sz="1200">
                <a:solidFill>
                  <a:schemeClr val="tx1">
                    <a:tint val="75000"/>
                  </a:schemeClr>
                </a:solidFill>
                <a:latin typeface="Gill Sans" charset="0"/>
              </a:defRPr>
            </a:lvl1pPr>
          </a:lstStyle>
          <a:p>
            <a:pPr>
              <a:defRPr/>
            </a:pPr>
            <a:r>
              <a:rPr lang="en-US"/>
              <a:t>Feb. 4 2009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0" hangingPunct="0">
              <a:defRPr sz="1200">
                <a:solidFill>
                  <a:schemeClr val="tx1">
                    <a:tint val="75000"/>
                  </a:schemeClr>
                </a:solidFill>
                <a:latin typeface="Gill Sans" charset="0"/>
              </a:defRPr>
            </a:lvl1pPr>
          </a:lstStyle>
          <a:p>
            <a:pPr>
              <a:defRPr/>
            </a:pPr>
            <a:r>
              <a:rPr lang="en-US"/>
              <a:t>Abrams-AAC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0" hangingPunct="0">
              <a:defRPr sz="1200">
                <a:solidFill>
                  <a:schemeClr val="tx1">
                    <a:tint val="75000"/>
                  </a:schemeClr>
                </a:solidFill>
                <a:latin typeface="Gill Sans" charset="0"/>
              </a:defRPr>
            </a:lvl1pPr>
          </a:lstStyle>
          <a:p>
            <a:pPr>
              <a:defRPr/>
            </a:pPr>
            <a:fld id="{30AA0475-0018-4058-AA3B-DD61FD10829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78" r:id="rId1"/>
    <p:sldLayoutId id="2147484277" r:id="rId2"/>
    <p:sldLayoutId id="2147484276" r:id="rId3"/>
    <p:sldLayoutId id="2147484275" r:id="rId4"/>
    <p:sldLayoutId id="2147484274" r:id="rId5"/>
    <p:sldLayoutId id="2147484273" r:id="rId6"/>
    <p:sldLayoutId id="2147484272" r:id="rId7"/>
    <p:sldLayoutId id="2147484271" r:id="rId8"/>
    <p:sldLayoutId id="2147484270" r:id="rId9"/>
    <p:sldLayoutId id="2147484269" r:id="rId10"/>
    <p:sldLayoutId id="2147484268" r:id="rId11"/>
    <p:sldLayoutId id="2147484267" r:id="rId12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276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0" hangingPunct="0">
              <a:defRPr sz="1200">
                <a:solidFill>
                  <a:schemeClr val="tx1">
                    <a:tint val="75000"/>
                  </a:schemeClr>
                </a:solidFill>
                <a:latin typeface="Gill Sans" charset="0"/>
              </a:defRPr>
            </a:lvl1pPr>
          </a:lstStyle>
          <a:p>
            <a:pPr>
              <a:defRPr/>
            </a:pPr>
            <a:r>
              <a:rPr lang="en-US"/>
              <a:t>Feb. 4 2009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0" hangingPunct="0">
              <a:defRPr sz="1200">
                <a:solidFill>
                  <a:schemeClr val="tx1">
                    <a:tint val="75000"/>
                  </a:schemeClr>
                </a:solidFill>
                <a:latin typeface="Gill Sans" charset="0"/>
              </a:defRPr>
            </a:lvl1pPr>
          </a:lstStyle>
          <a:p>
            <a:pPr>
              <a:defRPr/>
            </a:pPr>
            <a:r>
              <a:rPr lang="en-US"/>
              <a:t>Abrams-AAC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0" hangingPunct="0">
              <a:defRPr sz="1200">
                <a:solidFill>
                  <a:schemeClr val="tx1">
                    <a:tint val="75000"/>
                  </a:schemeClr>
                </a:solidFill>
                <a:latin typeface="Gill Sans" charset="0"/>
              </a:defRPr>
            </a:lvl1pPr>
          </a:lstStyle>
          <a:p>
            <a:pPr>
              <a:defRPr/>
            </a:pPr>
            <a:fld id="{268CAA8A-7D9C-4C91-995C-6F336D71776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89" r:id="rId1"/>
    <p:sldLayoutId id="2147484288" r:id="rId2"/>
    <p:sldLayoutId id="2147484287" r:id="rId3"/>
    <p:sldLayoutId id="2147484286" r:id="rId4"/>
    <p:sldLayoutId id="2147484285" r:id="rId5"/>
    <p:sldLayoutId id="2147484284" r:id="rId6"/>
    <p:sldLayoutId id="2147484283" r:id="rId7"/>
    <p:sldLayoutId id="2147484282" r:id="rId8"/>
    <p:sldLayoutId id="2147484281" r:id="rId9"/>
    <p:sldLayoutId id="2147484280" r:id="rId10"/>
    <p:sldLayoutId id="2147484279" r:id="rId11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3993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0" hangingPunct="0">
              <a:defRPr sz="1200">
                <a:solidFill>
                  <a:schemeClr val="tx1">
                    <a:tint val="75000"/>
                  </a:schemeClr>
                </a:solidFill>
                <a:latin typeface="Gill Sans" charset="0"/>
              </a:defRPr>
            </a:lvl1pPr>
          </a:lstStyle>
          <a:p>
            <a:pPr>
              <a:defRPr/>
            </a:pPr>
            <a:r>
              <a:rPr lang="en-US"/>
              <a:t>Feb. 4 2009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0" hangingPunct="0">
              <a:defRPr sz="1200">
                <a:solidFill>
                  <a:schemeClr val="tx1">
                    <a:tint val="75000"/>
                  </a:schemeClr>
                </a:solidFill>
                <a:latin typeface="Gill Sans" charset="0"/>
              </a:defRPr>
            </a:lvl1pPr>
          </a:lstStyle>
          <a:p>
            <a:pPr>
              <a:defRPr/>
            </a:pPr>
            <a:r>
              <a:rPr lang="en-US"/>
              <a:t>Abrams-AAC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0" hangingPunct="0">
              <a:defRPr sz="1200">
                <a:solidFill>
                  <a:schemeClr val="tx1">
                    <a:tint val="75000"/>
                  </a:schemeClr>
                </a:solidFill>
                <a:latin typeface="Gill Sans" charset="0"/>
              </a:defRPr>
            </a:lvl1pPr>
          </a:lstStyle>
          <a:p>
            <a:pPr>
              <a:defRPr/>
            </a:pPr>
            <a:fld id="{38C7CA3F-92E2-4522-B852-54BFADCDB7A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00" r:id="rId1"/>
    <p:sldLayoutId id="2147484299" r:id="rId2"/>
    <p:sldLayoutId id="2147484298" r:id="rId3"/>
    <p:sldLayoutId id="2147484297" r:id="rId4"/>
    <p:sldLayoutId id="2147484296" r:id="rId5"/>
    <p:sldLayoutId id="2147484295" r:id="rId6"/>
    <p:sldLayoutId id="2147484294" r:id="rId7"/>
    <p:sldLayoutId id="2147484293" r:id="rId8"/>
    <p:sldLayoutId id="2147484292" r:id="rId9"/>
    <p:sldLayoutId id="2147484291" r:id="rId10"/>
    <p:sldLayoutId id="2147484290" r:id="rId11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522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0" hangingPunct="0">
              <a:defRPr sz="1200">
                <a:solidFill>
                  <a:schemeClr val="tx1">
                    <a:tint val="75000"/>
                  </a:schemeClr>
                </a:solidFill>
                <a:latin typeface="Gill Sans" charset="0"/>
              </a:defRPr>
            </a:lvl1pPr>
          </a:lstStyle>
          <a:p>
            <a:pPr>
              <a:defRPr/>
            </a:pPr>
            <a:r>
              <a:rPr lang="en-US"/>
              <a:t>Feb. 4 2009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0" hangingPunct="0">
              <a:defRPr sz="1200">
                <a:solidFill>
                  <a:schemeClr val="tx1">
                    <a:tint val="75000"/>
                  </a:schemeClr>
                </a:solidFill>
                <a:latin typeface="Gill Sans" charset="0"/>
              </a:defRPr>
            </a:lvl1pPr>
          </a:lstStyle>
          <a:p>
            <a:pPr>
              <a:defRPr/>
            </a:pPr>
            <a:r>
              <a:rPr lang="en-US"/>
              <a:t>Abrams-AAC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0" hangingPunct="0">
              <a:defRPr sz="1200">
                <a:solidFill>
                  <a:schemeClr val="tx1">
                    <a:tint val="75000"/>
                  </a:schemeClr>
                </a:solidFill>
                <a:latin typeface="Gill Sans" charset="0"/>
              </a:defRPr>
            </a:lvl1pPr>
          </a:lstStyle>
          <a:p>
            <a:pPr>
              <a:defRPr/>
            </a:pPr>
            <a:fld id="{0916F921-834D-4768-A421-3B54729E1CD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11" r:id="rId1"/>
    <p:sldLayoutId id="2147484310" r:id="rId2"/>
    <p:sldLayoutId id="2147484309" r:id="rId3"/>
    <p:sldLayoutId id="2147484308" r:id="rId4"/>
    <p:sldLayoutId id="2147484307" r:id="rId5"/>
    <p:sldLayoutId id="2147484306" r:id="rId6"/>
    <p:sldLayoutId id="2147484305" r:id="rId7"/>
    <p:sldLayoutId id="2147484304" r:id="rId8"/>
    <p:sldLayoutId id="2147484303" r:id="rId9"/>
    <p:sldLayoutId id="2147484302" r:id="rId10"/>
    <p:sldLayoutId id="2147484301" r:id="rId11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34714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400" b="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/>
              <a:t>Feb. 4 2009 </a:t>
            </a:r>
          </a:p>
        </p:txBody>
      </p:sp>
      <p:sp>
        <p:nvSpPr>
          <p:cNvPr id="34714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0" hangingPunct="0">
              <a:defRPr sz="1400" b="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/>
              <a:t>Abrams-AAC</a:t>
            </a:r>
          </a:p>
        </p:txBody>
      </p:sp>
      <p:sp>
        <p:nvSpPr>
          <p:cNvPr id="34714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400" b="0">
                <a:latin typeface="Times New Roman" pitchFamily="18" charset="0"/>
              </a:defRPr>
            </a:lvl1pPr>
          </a:lstStyle>
          <a:p>
            <a:pPr>
              <a:defRPr/>
            </a:pPr>
            <a:fld id="{8A8FE450-C743-4309-8A62-49E8CCECE11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22" r:id="rId1"/>
    <p:sldLayoutId id="2147484321" r:id="rId2"/>
    <p:sldLayoutId id="2147484320" r:id="rId3"/>
    <p:sldLayoutId id="2147484319" r:id="rId4"/>
    <p:sldLayoutId id="2147484318" r:id="rId5"/>
    <p:sldLayoutId id="2147484317" r:id="rId6"/>
    <p:sldLayoutId id="2147484316" r:id="rId7"/>
    <p:sldLayoutId id="2147484315" r:id="rId8"/>
    <p:sldLayoutId id="2147484314" r:id="rId9"/>
    <p:sldLayoutId id="2147484313" r:id="rId10"/>
    <p:sldLayoutId id="2147484312" r:id="rId11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34509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400" b="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/>
              <a:t>Feb. 4 2009 </a:t>
            </a:r>
          </a:p>
        </p:txBody>
      </p:sp>
      <p:sp>
        <p:nvSpPr>
          <p:cNvPr id="34509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0" hangingPunct="0">
              <a:defRPr sz="1400" b="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/>
              <a:t>Abrams-AAC</a:t>
            </a:r>
          </a:p>
        </p:txBody>
      </p:sp>
      <p:sp>
        <p:nvSpPr>
          <p:cNvPr id="34509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400" b="0">
                <a:latin typeface="Times New Roman" pitchFamily="18" charset="0"/>
              </a:defRPr>
            </a:lvl1pPr>
          </a:lstStyle>
          <a:p>
            <a:pPr>
              <a:defRPr/>
            </a:pPr>
            <a:fld id="{23BD9B81-C2E4-4AC3-AB53-31AE502BB2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33" r:id="rId1"/>
    <p:sldLayoutId id="2147484332" r:id="rId2"/>
    <p:sldLayoutId id="2147484331" r:id="rId3"/>
    <p:sldLayoutId id="2147484330" r:id="rId4"/>
    <p:sldLayoutId id="2147484329" r:id="rId5"/>
    <p:sldLayoutId id="2147484328" r:id="rId6"/>
    <p:sldLayoutId id="2147484327" r:id="rId7"/>
    <p:sldLayoutId id="2147484326" r:id="rId8"/>
    <p:sldLayoutId id="2147484325" r:id="rId9"/>
    <p:sldLayoutId id="2147484324" r:id="rId10"/>
    <p:sldLayoutId id="2147484323" r:id="rId11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jpeg"/><Relationship Id="rId7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eg"/><Relationship Id="rId5" Type="http://schemas.openxmlformats.org/officeDocument/2006/relationships/image" Target="../media/image6.wmf"/><Relationship Id="rId4" Type="http://schemas.openxmlformats.org/officeDocument/2006/relationships/image" Target="../media/image5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wmf"/><Relationship Id="rId3" Type="http://schemas.openxmlformats.org/officeDocument/2006/relationships/image" Target="../media/image17.jpeg"/><Relationship Id="rId7" Type="http://schemas.openxmlformats.org/officeDocument/2006/relationships/image" Target="../media/image21.w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jpeg"/><Relationship Id="rId5" Type="http://schemas.openxmlformats.org/officeDocument/2006/relationships/image" Target="../media/image19.jpeg"/><Relationship Id="rId4" Type="http://schemas.openxmlformats.org/officeDocument/2006/relationships/image" Target="../media/image18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Feb. 4 2009 </a:t>
            </a:r>
            <a:endParaRPr lang="en-US" altLang="en-US" smtClean="0"/>
          </a:p>
        </p:txBody>
      </p:sp>
      <p:sp>
        <p:nvSpPr>
          <p:cNvPr id="9113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72B45BB1-4ABF-4602-A931-C4A5FE76A759}" type="slidenum">
              <a:rPr lang="en-US" altLang="en-US" smtClean="0"/>
              <a:pPr/>
              <a:t>1</a:t>
            </a:fld>
            <a:endParaRPr lang="en-US" altLang="en-US" smtClean="0"/>
          </a:p>
        </p:txBody>
      </p:sp>
      <p:sp>
        <p:nvSpPr>
          <p:cNvPr id="91139" name="Footer Placeholder 5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/>
          <a:p>
            <a:r>
              <a:rPr lang="en-US" smtClean="0"/>
              <a:t>Abrams-AAC</a:t>
            </a:r>
          </a:p>
        </p:txBody>
      </p:sp>
      <p:sp>
        <p:nvSpPr>
          <p:cNvPr id="91140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0"/>
            <a:ext cx="6629400" cy="635000"/>
          </a:xfrm>
        </p:spPr>
        <p:txBody>
          <a:bodyPr/>
          <a:lstStyle/>
          <a:p>
            <a:r>
              <a:rPr lang="en-US" altLang="en-US" smtClean="0">
                <a:latin typeface="Trebuchet MS" pitchFamily="34" charset="0"/>
              </a:rPr>
              <a:t>AAC Meeting</a:t>
            </a:r>
          </a:p>
        </p:txBody>
      </p:sp>
      <p:sp>
        <p:nvSpPr>
          <p:cNvPr id="9114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itchFamily="18" charset="2"/>
              <a:buNone/>
            </a:pPr>
            <a:endParaRPr lang="en-US" altLang="en-US" sz="2200" b="1" smtClean="0">
              <a:latin typeface="Arial" charset="0"/>
            </a:endParaRPr>
          </a:p>
          <a:p>
            <a:endParaRPr lang="en-US" altLang="en-US" sz="2200" b="1" smtClean="0">
              <a:latin typeface="Arial" charset="0"/>
            </a:endParaRPr>
          </a:p>
          <a:p>
            <a:endParaRPr lang="en-US" altLang="en-US" sz="2200" b="1" smtClean="0">
              <a:latin typeface="Arial" charset="0"/>
            </a:endParaRPr>
          </a:p>
          <a:p>
            <a:pPr>
              <a:buFont typeface="Symbol" pitchFamily="18" charset="2"/>
              <a:buNone/>
            </a:pPr>
            <a:endParaRPr lang="en-US" altLang="en-US" b="1" smtClean="0">
              <a:latin typeface="Arial" charset="0"/>
            </a:endParaRPr>
          </a:p>
          <a:p>
            <a:endParaRPr lang="en-US" altLang="en-US" smtClean="0"/>
          </a:p>
        </p:txBody>
      </p:sp>
      <p:sp>
        <p:nvSpPr>
          <p:cNvPr id="23559" name="Text Box 4"/>
          <p:cNvSpPr txBox="1">
            <a:spLocks noChangeArrowheads="1"/>
          </p:cNvSpPr>
          <p:nvPr/>
        </p:nvSpPr>
        <p:spPr bwMode="auto">
          <a:xfrm>
            <a:off x="228600" y="2362200"/>
            <a:ext cx="8610600" cy="1323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  <a:defRPr/>
            </a:pPr>
            <a:r>
              <a:rPr lang="en-US" sz="4000" dirty="0">
                <a:solidFill>
                  <a:srgbClr val="000066"/>
                </a:solidFill>
                <a:latin typeface="+mj-lt"/>
                <a:ea typeface="+mj-ea"/>
                <a:cs typeface="+mj-cs"/>
              </a:rPr>
              <a:t>MANX at RAL Experiment:   Beam Line, Detectors, and Plans</a:t>
            </a:r>
          </a:p>
        </p:txBody>
      </p:sp>
      <p:sp>
        <p:nvSpPr>
          <p:cNvPr id="91143" name="Text Box 5"/>
          <p:cNvSpPr txBox="1">
            <a:spLocks noChangeArrowheads="1"/>
          </p:cNvSpPr>
          <p:nvPr/>
        </p:nvSpPr>
        <p:spPr bwMode="auto">
          <a:xfrm>
            <a:off x="685800" y="3886200"/>
            <a:ext cx="7848600" cy="90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0" hangingPunct="0"/>
            <a:r>
              <a:rPr lang="en-US" altLang="en-US" sz="2400" b="0">
                <a:solidFill>
                  <a:srgbClr val="006600"/>
                </a:solidFill>
                <a:latin typeface="Comic Sans MS" pitchFamily="66" charset="0"/>
              </a:rPr>
              <a:t>Bob Abrams</a:t>
            </a:r>
          </a:p>
          <a:p>
            <a:pPr algn="ctr" eaLnBrk="0" hangingPunct="0">
              <a:spcBef>
                <a:spcPct val="20000"/>
              </a:spcBef>
              <a:buClr>
                <a:schemeClr val="hlink"/>
              </a:buClr>
              <a:buFont typeface="Symbol" pitchFamily="18" charset="2"/>
              <a:buNone/>
            </a:pPr>
            <a:r>
              <a:rPr lang="en-US" sz="2400" b="0">
                <a:solidFill>
                  <a:srgbClr val="006600"/>
                </a:solidFill>
                <a:latin typeface="Comic Sans MS" pitchFamily="66" charset="0"/>
              </a:rPr>
              <a:t>February 4, 2009</a:t>
            </a:r>
            <a:endParaRPr lang="en-US" altLang="en-US" sz="2400" b="0">
              <a:solidFill>
                <a:srgbClr val="006600"/>
              </a:solidFill>
              <a:latin typeface="Comic Sans MS" pitchFamily="66" charset="0"/>
            </a:endParaRPr>
          </a:p>
        </p:txBody>
      </p:sp>
      <p:sp>
        <p:nvSpPr>
          <p:cNvPr id="91144" name="Rectangle 6"/>
          <p:cNvSpPr>
            <a:spLocks noChangeArrowheads="1"/>
          </p:cNvSpPr>
          <p:nvPr/>
        </p:nvSpPr>
        <p:spPr bwMode="auto">
          <a:xfrm>
            <a:off x="304800" y="6400800"/>
            <a:ext cx="8305800" cy="4572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Feb. 4 2009 </a:t>
            </a:r>
          </a:p>
        </p:txBody>
      </p:sp>
      <p:sp>
        <p:nvSpPr>
          <p:cNvPr id="93186" name="Footer Placeholder 4"/>
          <p:cNvSpPr>
            <a:spLocks noGrp="1"/>
          </p:cNvSpPr>
          <p:nvPr>
            <p:ph type="ftr" sz="quarter" idx="12"/>
          </p:nvPr>
        </p:nvSpPr>
        <p:spPr>
          <a:xfrm>
            <a:off x="7239000" y="6477000"/>
            <a:ext cx="1905000" cy="381000"/>
          </a:xfrm>
          <a:noFill/>
        </p:spPr>
        <p:txBody>
          <a:bodyPr/>
          <a:lstStyle/>
          <a:p>
            <a:r>
              <a:rPr lang="en-US" sz="1400" smtClean="0"/>
              <a:t>Abrams-AAC</a:t>
            </a:r>
          </a:p>
        </p:txBody>
      </p:sp>
      <p:sp>
        <p:nvSpPr>
          <p:cNvPr id="93187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2209800" y="6477000"/>
            <a:ext cx="5029200" cy="381000"/>
          </a:xfrm>
          <a:noFill/>
        </p:spPr>
        <p:txBody>
          <a:bodyPr/>
          <a:lstStyle/>
          <a:p>
            <a:fld id="{CCEE086A-F6DB-4615-9079-C44D3D0F81E7}" type="slidenum">
              <a:rPr lang="en-US" sz="1200" smtClean="0"/>
              <a:pPr/>
              <a:t>2</a:t>
            </a:fld>
            <a:endParaRPr lang="en-US" sz="1200" smtClean="0"/>
          </a:p>
        </p:txBody>
      </p:sp>
      <p:sp>
        <p:nvSpPr>
          <p:cNvPr id="9318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/>
          <a:lstStyle/>
          <a:p>
            <a:r>
              <a:rPr lang="en-US" sz="4000" smtClean="0"/>
              <a:t>Overall Strategy</a:t>
            </a:r>
          </a:p>
        </p:txBody>
      </p:sp>
      <p:sp>
        <p:nvSpPr>
          <p:cNvPr id="9318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066800"/>
            <a:ext cx="8229600" cy="4572000"/>
          </a:xfrm>
        </p:spPr>
        <p:txBody>
          <a:bodyPr/>
          <a:lstStyle/>
          <a:p>
            <a:r>
              <a:rPr lang="en-US" sz="2800" smtClean="0"/>
              <a:t>Utilize/adapt existing MICE HW and SW </a:t>
            </a:r>
            <a:r>
              <a:rPr lang="en-US" sz="2800" baseline="30000" smtClean="0"/>
              <a:t>1</a:t>
            </a:r>
          </a:p>
          <a:p>
            <a:pPr lvl="1"/>
            <a:r>
              <a:rPr lang="en-US" sz="2400" smtClean="0"/>
              <a:t>MICE beam line</a:t>
            </a:r>
          </a:p>
          <a:p>
            <a:pPr lvl="1"/>
            <a:r>
              <a:rPr lang="en-US" sz="2400" smtClean="0"/>
              <a:t>MICE beam instrumentation</a:t>
            </a:r>
          </a:p>
          <a:p>
            <a:pPr lvl="1"/>
            <a:r>
              <a:rPr lang="en-US" sz="2400" smtClean="0"/>
              <a:t>MICE spectrometers and particle ID counters</a:t>
            </a:r>
          </a:p>
          <a:p>
            <a:pPr lvl="1"/>
            <a:r>
              <a:rPr lang="en-US" sz="2400" smtClean="0"/>
              <a:t>DAQ and electronics</a:t>
            </a:r>
          </a:p>
          <a:p>
            <a:pPr lvl="1"/>
            <a:r>
              <a:rPr lang="en-US" sz="2400" smtClean="0"/>
              <a:t>Simulation and analysis SW</a:t>
            </a:r>
          </a:p>
          <a:p>
            <a:pPr lvl="1"/>
            <a:r>
              <a:rPr lang="en-US" sz="2400" smtClean="0"/>
              <a:t>Infrastructure and facilities at RAL</a:t>
            </a:r>
          </a:p>
          <a:p>
            <a:r>
              <a:rPr lang="en-US" sz="2800" smtClean="0"/>
              <a:t>Add MANX-specific HW and SW </a:t>
            </a:r>
          </a:p>
          <a:p>
            <a:pPr lvl="1"/>
            <a:r>
              <a:rPr lang="en-US" sz="2400" smtClean="0"/>
              <a:t> Faster TOF for better P</a:t>
            </a:r>
            <a:r>
              <a:rPr lang="en-US" sz="2400" baseline="-25000" smtClean="0"/>
              <a:t>L</a:t>
            </a:r>
            <a:r>
              <a:rPr lang="en-US" sz="2400" smtClean="0"/>
              <a:t>, 6D emittance determination</a:t>
            </a:r>
            <a:endParaRPr lang="en-US" sz="2400" baseline="-25000" smtClean="0"/>
          </a:p>
          <a:p>
            <a:pPr lvl="1"/>
            <a:r>
              <a:rPr lang="en-US" sz="2400" smtClean="0"/>
              <a:t>Trackers inside HCC for trajectory determination</a:t>
            </a:r>
          </a:p>
          <a:p>
            <a:pPr lvl="1"/>
            <a:endParaRPr lang="en-US" sz="2400" baseline="-25000" smtClean="0"/>
          </a:p>
          <a:p>
            <a:pPr lvl="1"/>
            <a:endParaRPr lang="en-US" sz="2400" smtClean="0"/>
          </a:p>
        </p:txBody>
      </p:sp>
      <p:sp>
        <p:nvSpPr>
          <p:cNvPr id="93190" name="Text Box 4"/>
          <p:cNvSpPr txBox="1">
            <a:spLocks noChangeArrowheads="1"/>
          </p:cNvSpPr>
          <p:nvPr/>
        </p:nvSpPr>
        <p:spPr bwMode="auto">
          <a:xfrm>
            <a:off x="0" y="5943600"/>
            <a:ext cx="914400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600" baseline="30000">
                <a:latin typeface="Times New Roman" pitchFamily="18" charset="0"/>
              </a:rPr>
              <a:t>1 </a:t>
            </a:r>
            <a:r>
              <a:rPr lang="en-US" sz="1600">
                <a:latin typeface="Times New Roman" pitchFamily="18" charset="0"/>
              </a:rPr>
              <a:t>Many of the figures and pictures presented here were taken from MICE documents and presentations</a:t>
            </a:r>
            <a:endParaRPr lang="en-US" sz="1600" baseline="30000"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Date Placeholder 2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Feb. 4 2009 </a:t>
            </a:r>
          </a:p>
        </p:txBody>
      </p:sp>
      <p:sp>
        <p:nvSpPr>
          <p:cNvPr id="95234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7239000" y="6553200"/>
            <a:ext cx="1905000" cy="304800"/>
          </a:xfrm>
          <a:noFill/>
        </p:spPr>
        <p:txBody>
          <a:bodyPr/>
          <a:lstStyle/>
          <a:p>
            <a:pPr algn="r"/>
            <a:r>
              <a:rPr lang="en-US" sz="1400" smtClean="0"/>
              <a:t>Abrams-AAC</a:t>
            </a:r>
          </a:p>
        </p:txBody>
      </p:sp>
      <p:sp>
        <p:nvSpPr>
          <p:cNvPr id="9523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2209800" y="6477000"/>
            <a:ext cx="5029200" cy="381000"/>
          </a:xfrm>
          <a:noFill/>
        </p:spPr>
        <p:txBody>
          <a:bodyPr/>
          <a:lstStyle/>
          <a:p>
            <a:pPr algn="ctr"/>
            <a:fld id="{639B3337-4469-46A7-A6B6-C235EEA05926}" type="slidenum">
              <a:rPr lang="en-US" sz="1200" smtClean="0"/>
              <a:pPr algn="ctr"/>
              <a:t>3</a:t>
            </a:fld>
            <a:endParaRPr lang="en-US" sz="1200" smtClean="0"/>
          </a:p>
        </p:txBody>
      </p:sp>
      <p:sp>
        <p:nvSpPr>
          <p:cNvPr id="9523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RAL: MICE Beam Line</a:t>
            </a:r>
          </a:p>
        </p:txBody>
      </p:sp>
      <p:pic>
        <p:nvPicPr>
          <p:cNvPr id="95237" name="Picture 4" descr="BeamlineFigure13_annot_forTRD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62000" y="1347788"/>
            <a:ext cx="7075488" cy="4522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5238" name="Text Box 5"/>
          <p:cNvSpPr txBox="1">
            <a:spLocks noChangeArrowheads="1"/>
          </p:cNvSpPr>
          <p:nvPr/>
        </p:nvSpPr>
        <p:spPr bwMode="auto">
          <a:xfrm>
            <a:off x="7243763" y="5451475"/>
            <a:ext cx="1112837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>
                <a:latin typeface="Times New Roman" pitchFamily="18" charset="0"/>
              </a:rPr>
              <a:t>(Upstream)</a:t>
            </a:r>
          </a:p>
        </p:txBody>
      </p:sp>
      <p:sp>
        <p:nvSpPr>
          <p:cNvPr id="95239" name="Text Box 6"/>
          <p:cNvSpPr txBox="1">
            <a:spLocks noChangeArrowheads="1"/>
          </p:cNvSpPr>
          <p:nvPr/>
        </p:nvSpPr>
        <p:spPr bwMode="auto">
          <a:xfrm>
            <a:off x="7735888" y="4875213"/>
            <a:ext cx="1020762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>
                <a:latin typeface="Times New Roman" pitchFamily="18" charset="0"/>
              </a:rPr>
              <a:t>/MANX</a:t>
            </a:r>
          </a:p>
          <a:p>
            <a:r>
              <a:rPr lang="en-US" sz="1600">
                <a:latin typeface="Times New Roman" pitchFamily="18" charset="0"/>
              </a:rPr>
              <a:t>Apparatus</a:t>
            </a:r>
          </a:p>
        </p:txBody>
      </p:sp>
      <p:sp>
        <p:nvSpPr>
          <p:cNvPr id="95240" name="Rectangle 7"/>
          <p:cNvSpPr>
            <a:spLocks noChangeArrowheads="1"/>
          </p:cNvSpPr>
          <p:nvPr/>
        </p:nvSpPr>
        <p:spPr bwMode="auto">
          <a:xfrm>
            <a:off x="6657975" y="4818063"/>
            <a:ext cx="2195513" cy="57943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95241" name="Text Box 8"/>
          <p:cNvSpPr txBox="1">
            <a:spLocks noChangeArrowheads="1"/>
          </p:cNvSpPr>
          <p:nvPr/>
        </p:nvSpPr>
        <p:spPr bwMode="auto">
          <a:xfrm>
            <a:off x="307975" y="1314450"/>
            <a:ext cx="23368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latin typeface="Times New Roman" pitchFamily="18" charset="0"/>
              </a:rPr>
              <a:t>ISIS: 800 MeV Protons</a:t>
            </a:r>
          </a:p>
          <a:p>
            <a:r>
              <a:rPr lang="en-US">
                <a:latin typeface="Times New Roman" pitchFamily="18" charset="0"/>
              </a:rPr>
              <a:t>50 Hz, 100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µs spill</a:t>
            </a:r>
          </a:p>
        </p:txBody>
      </p:sp>
      <p:sp>
        <p:nvSpPr>
          <p:cNvPr id="95242" name="Text Box 9"/>
          <p:cNvSpPr txBox="1">
            <a:spLocks noChangeArrowheads="1"/>
          </p:cNvSpPr>
          <p:nvPr/>
        </p:nvSpPr>
        <p:spPr bwMode="auto">
          <a:xfrm>
            <a:off x="403225" y="2228850"/>
            <a:ext cx="18986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latin typeface="Times New Roman" pitchFamily="18" charset="0"/>
              </a:rPr>
              <a:t>(1x10 mm Ti</a:t>
            </a:r>
          </a:p>
          <a:p>
            <a:r>
              <a:rPr lang="en-US">
                <a:latin typeface="Times New Roman" pitchFamily="18" charset="0"/>
              </a:rPr>
              <a:t>1 dip per 50 spills)</a:t>
            </a:r>
          </a:p>
        </p:txBody>
      </p:sp>
      <p:sp>
        <p:nvSpPr>
          <p:cNvPr id="95243" name="Text Box 10"/>
          <p:cNvSpPr txBox="1">
            <a:spLocks noChangeArrowheads="1"/>
          </p:cNvSpPr>
          <p:nvPr/>
        </p:nvSpPr>
        <p:spPr bwMode="auto">
          <a:xfrm>
            <a:off x="3317875" y="5638800"/>
            <a:ext cx="6286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latin typeface="Times New Roman" pitchFamily="18" charset="0"/>
              </a:rPr>
              <a:t>(5m)</a:t>
            </a:r>
          </a:p>
        </p:txBody>
      </p:sp>
      <p:sp>
        <p:nvSpPr>
          <p:cNvPr id="95244" name="Text Box 11"/>
          <p:cNvSpPr txBox="1">
            <a:spLocks noChangeArrowheads="1"/>
          </p:cNvSpPr>
          <p:nvPr/>
        </p:nvSpPr>
        <p:spPr bwMode="auto">
          <a:xfrm>
            <a:off x="1905000" y="4430713"/>
            <a:ext cx="14128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rgbClr val="FF0066"/>
                </a:solidFill>
                <a:latin typeface="Times New Roman" pitchFamily="18" charset="0"/>
              </a:rPr>
              <a:t>~400-480 MeV/c</a:t>
            </a:r>
          </a:p>
        </p:txBody>
      </p:sp>
      <p:sp>
        <p:nvSpPr>
          <p:cNvPr id="95245" name="Text Box 12"/>
          <p:cNvSpPr txBox="1">
            <a:spLocks noChangeArrowheads="1"/>
          </p:cNvSpPr>
          <p:nvPr/>
        </p:nvSpPr>
        <p:spPr bwMode="auto">
          <a:xfrm>
            <a:off x="3565525" y="5116513"/>
            <a:ext cx="14128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rgbClr val="FF0066"/>
                </a:solidFill>
                <a:latin typeface="Times New Roman" pitchFamily="18" charset="0"/>
              </a:rPr>
              <a:t>~140-250 MeV/c</a:t>
            </a:r>
          </a:p>
        </p:txBody>
      </p:sp>
      <p:sp>
        <p:nvSpPr>
          <p:cNvPr id="95246" name="Text Box 13"/>
          <p:cNvSpPr txBox="1">
            <a:spLocks noChangeArrowheads="1"/>
          </p:cNvSpPr>
          <p:nvPr/>
        </p:nvSpPr>
        <p:spPr bwMode="auto">
          <a:xfrm>
            <a:off x="4229100" y="2411413"/>
            <a:ext cx="4857750" cy="915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>
                <a:solidFill>
                  <a:srgbClr val="FF0066"/>
                </a:solidFill>
                <a:latin typeface="Times New Roman" pitchFamily="18" charset="0"/>
              </a:rPr>
              <a:t>For MANX:</a:t>
            </a:r>
          </a:p>
          <a:p>
            <a:pPr algn="ctr"/>
            <a:r>
              <a:rPr lang="en-US">
                <a:solidFill>
                  <a:srgbClr val="FF0066"/>
                </a:solidFill>
                <a:latin typeface="Times New Roman" pitchFamily="18" charset="0"/>
              </a:rPr>
              <a:t>Retune beam for ~370 MeV/c muons</a:t>
            </a:r>
          </a:p>
          <a:p>
            <a:pPr algn="ctr"/>
            <a:r>
              <a:rPr lang="en-US">
                <a:solidFill>
                  <a:srgbClr val="FF0066"/>
                </a:solidFill>
                <a:latin typeface="Times New Roman" pitchFamily="18" charset="0"/>
              </a:rPr>
              <a:t>(MICE Plans to operate at 140, 200, 240 MeV/c)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1" name="Date Placeholder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Feb. 4 2009 </a:t>
            </a:r>
          </a:p>
        </p:txBody>
      </p:sp>
      <p:sp>
        <p:nvSpPr>
          <p:cNvPr id="97282" name="Footer Placeholder 2"/>
          <p:cNvSpPr>
            <a:spLocks noGrp="1"/>
          </p:cNvSpPr>
          <p:nvPr>
            <p:ph type="ftr" sz="quarter" idx="12"/>
          </p:nvPr>
        </p:nvSpPr>
        <p:spPr>
          <a:xfrm>
            <a:off x="7239000" y="6553200"/>
            <a:ext cx="1905000" cy="304800"/>
          </a:xfrm>
          <a:noFill/>
        </p:spPr>
        <p:txBody>
          <a:bodyPr/>
          <a:lstStyle/>
          <a:p>
            <a:pPr algn="r"/>
            <a:r>
              <a:rPr lang="en-US" sz="1400" smtClean="0"/>
              <a:t>Abrams-AAC</a:t>
            </a:r>
          </a:p>
        </p:txBody>
      </p:sp>
      <p:sp>
        <p:nvSpPr>
          <p:cNvPr id="97283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2209800" y="6477000"/>
            <a:ext cx="5029200" cy="381000"/>
          </a:xfrm>
          <a:noFill/>
        </p:spPr>
        <p:txBody>
          <a:bodyPr/>
          <a:lstStyle/>
          <a:p>
            <a:pPr algn="l"/>
            <a:fld id="{B12FA6E9-55FF-4269-A079-5D654DC4CB29}" type="slidenum">
              <a:rPr lang="en-US" sz="1200" smtClean="0"/>
              <a:pPr algn="l"/>
              <a:t>4</a:t>
            </a:fld>
            <a:endParaRPr lang="en-US" sz="1200" smtClean="0"/>
          </a:p>
        </p:txBody>
      </p:sp>
      <p:grpSp>
        <p:nvGrpSpPr>
          <p:cNvPr id="97284" name="Group 29"/>
          <p:cNvGrpSpPr>
            <a:grpSpLocks/>
          </p:cNvGrpSpPr>
          <p:nvPr/>
        </p:nvGrpSpPr>
        <p:grpSpPr bwMode="auto">
          <a:xfrm>
            <a:off x="1649413" y="109538"/>
            <a:ext cx="6102350" cy="6853237"/>
            <a:chOff x="0" y="0"/>
            <a:chExt cx="3844" cy="4317"/>
          </a:xfrm>
        </p:grpSpPr>
        <p:pic>
          <p:nvPicPr>
            <p:cNvPr id="97286" name="Picture 4"/>
            <p:cNvPicPr>
              <a:picLocks noChangeAspect="1" noChangeArrowheads="1"/>
            </p:cNvPicPr>
            <p:nvPr/>
          </p:nvPicPr>
          <p:blipFill>
            <a:blip r:embed="rId3"/>
            <a:srcRect t="19695" r="52544" b="8344"/>
            <a:stretch>
              <a:fillRect/>
            </a:stretch>
          </p:blipFill>
          <p:spPr bwMode="auto">
            <a:xfrm>
              <a:off x="0" y="0"/>
              <a:ext cx="3844" cy="43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97287" name="Text Box 7"/>
            <p:cNvSpPr txBox="1">
              <a:spLocks noChangeArrowheads="1"/>
            </p:cNvSpPr>
            <p:nvPr/>
          </p:nvSpPr>
          <p:spPr bwMode="auto">
            <a:xfrm>
              <a:off x="562" y="529"/>
              <a:ext cx="306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1600">
                  <a:latin typeface="Comic Sans MS" pitchFamily="66" charset="0"/>
                </a:rPr>
                <a:t>Q1</a:t>
              </a:r>
            </a:p>
          </p:txBody>
        </p:sp>
        <p:sp>
          <p:nvSpPr>
            <p:cNvPr id="97288" name="Text Box 8"/>
            <p:cNvSpPr txBox="1">
              <a:spLocks noChangeArrowheads="1"/>
            </p:cNvSpPr>
            <p:nvPr/>
          </p:nvSpPr>
          <p:spPr bwMode="auto">
            <a:xfrm>
              <a:off x="573" y="770"/>
              <a:ext cx="306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1600">
                  <a:latin typeface="Comic Sans MS" pitchFamily="66" charset="0"/>
                </a:rPr>
                <a:t>Q2</a:t>
              </a:r>
            </a:p>
          </p:txBody>
        </p:sp>
        <p:sp>
          <p:nvSpPr>
            <p:cNvPr id="97289" name="Text Box 10"/>
            <p:cNvSpPr txBox="1">
              <a:spLocks noChangeArrowheads="1"/>
            </p:cNvSpPr>
            <p:nvPr/>
          </p:nvSpPr>
          <p:spPr bwMode="auto">
            <a:xfrm>
              <a:off x="573" y="1022"/>
              <a:ext cx="306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1600">
                  <a:latin typeface="Comic Sans MS" pitchFamily="66" charset="0"/>
                </a:rPr>
                <a:t>Q3</a:t>
              </a:r>
            </a:p>
          </p:txBody>
        </p:sp>
        <p:sp>
          <p:nvSpPr>
            <p:cNvPr id="97290" name="Text Box 11"/>
            <p:cNvSpPr txBox="1">
              <a:spLocks noChangeArrowheads="1"/>
            </p:cNvSpPr>
            <p:nvPr/>
          </p:nvSpPr>
          <p:spPr bwMode="auto">
            <a:xfrm>
              <a:off x="718" y="1978"/>
              <a:ext cx="297" cy="21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1600">
                  <a:latin typeface="Comic Sans MS" pitchFamily="66" charset="0"/>
                </a:rPr>
                <a:t>DS</a:t>
              </a:r>
            </a:p>
          </p:txBody>
        </p:sp>
        <p:sp>
          <p:nvSpPr>
            <p:cNvPr id="97291" name="Text Box 12"/>
            <p:cNvSpPr txBox="1">
              <a:spLocks noChangeArrowheads="1"/>
            </p:cNvSpPr>
            <p:nvPr/>
          </p:nvSpPr>
          <p:spPr bwMode="auto">
            <a:xfrm>
              <a:off x="1653" y="1763"/>
              <a:ext cx="713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1400">
                  <a:latin typeface="Comic Sans MS" pitchFamily="66" charset="0"/>
                </a:rPr>
                <a:t>Q4 Q5 Q6</a:t>
              </a:r>
              <a:endParaRPr lang="en-US" sz="1600">
                <a:latin typeface="Comic Sans MS" pitchFamily="66" charset="0"/>
              </a:endParaRPr>
            </a:p>
          </p:txBody>
        </p:sp>
        <p:sp>
          <p:nvSpPr>
            <p:cNvPr id="97292" name="Text Box 13"/>
            <p:cNvSpPr txBox="1">
              <a:spLocks noChangeArrowheads="1"/>
            </p:cNvSpPr>
            <p:nvPr/>
          </p:nvSpPr>
          <p:spPr bwMode="auto">
            <a:xfrm>
              <a:off x="0" y="2127"/>
              <a:ext cx="354" cy="212"/>
            </a:xfrm>
            <a:prstGeom prst="rect">
              <a:avLst/>
            </a:prstGeom>
            <a:solidFill>
              <a:srgbClr val="FFFF00"/>
            </a:solidFill>
            <a:ln w="57150" cmpd="thickThin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1600">
                  <a:latin typeface="Comic Sans MS" pitchFamily="66" charset="0"/>
                </a:rPr>
                <a:t>BC1</a:t>
              </a:r>
            </a:p>
          </p:txBody>
        </p:sp>
        <p:sp>
          <p:nvSpPr>
            <p:cNvPr id="97293" name="Line 14"/>
            <p:cNvSpPr>
              <a:spLocks noChangeShapeType="1"/>
            </p:cNvSpPr>
            <p:nvPr/>
          </p:nvSpPr>
          <p:spPr bwMode="auto">
            <a:xfrm flipV="1">
              <a:off x="376" y="1624"/>
              <a:ext cx="266" cy="522"/>
            </a:xfrm>
            <a:prstGeom prst="line">
              <a:avLst/>
            </a:prstGeom>
            <a:noFill/>
            <a:ln w="50800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97294" name="Text Box 15"/>
            <p:cNvSpPr txBox="1">
              <a:spLocks noChangeArrowheads="1"/>
            </p:cNvSpPr>
            <p:nvPr/>
          </p:nvSpPr>
          <p:spPr bwMode="auto">
            <a:xfrm>
              <a:off x="744" y="2643"/>
              <a:ext cx="681" cy="212"/>
            </a:xfrm>
            <a:prstGeom prst="rect">
              <a:avLst/>
            </a:prstGeom>
            <a:solidFill>
              <a:srgbClr val="FFFF00"/>
            </a:solidFill>
            <a:ln w="57150" cmpd="thickThin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1600">
                  <a:latin typeface="Comic Sans MS" pitchFamily="66" charset="0"/>
                </a:rPr>
                <a:t>BM1,BC2</a:t>
              </a:r>
            </a:p>
          </p:txBody>
        </p:sp>
        <p:sp>
          <p:nvSpPr>
            <p:cNvPr id="97295" name="Line 16"/>
            <p:cNvSpPr>
              <a:spLocks noChangeShapeType="1"/>
            </p:cNvSpPr>
            <p:nvPr/>
          </p:nvSpPr>
          <p:spPr bwMode="auto">
            <a:xfrm flipV="1">
              <a:off x="1120" y="2128"/>
              <a:ext cx="266" cy="522"/>
            </a:xfrm>
            <a:prstGeom prst="line">
              <a:avLst/>
            </a:prstGeom>
            <a:noFill/>
            <a:ln w="50800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97296" name="Text Box 17"/>
            <p:cNvSpPr txBox="1">
              <a:spLocks noChangeArrowheads="1"/>
            </p:cNvSpPr>
            <p:nvPr/>
          </p:nvSpPr>
          <p:spPr bwMode="auto">
            <a:xfrm>
              <a:off x="1102" y="2901"/>
              <a:ext cx="461" cy="212"/>
            </a:xfrm>
            <a:prstGeom prst="rect">
              <a:avLst/>
            </a:prstGeom>
            <a:solidFill>
              <a:srgbClr val="FFFF00"/>
            </a:solidFill>
            <a:ln w="57150" cmpd="thickThin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1600">
                  <a:latin typeface="Comic Sans MS" pitchFamily="66" charset="0"/>
                  <a:ea typeface="ＭＳ Ｐゴシック" pitchFamily="34" charset="-128"/>
                </a:rPr>
                <a:t>GVA1</a:t>
              </a:r>
            </a:p>
          </p:txBody>
        </p:sp>
        <p:sp>
          <p:nvSpPr>
            <p:cNvPr id="97297" name="Line 18"/>
            <p:cNvSpPr>
              <a:spLocks noChangeShapeType="1"/>
            </p:cNvSpPr>
            <p:nvPr/>
          </p:nvSpPr>
          <p:spPr bwMode="auto">
            <a:xfrm flipH="1" flipV="1">
              <a:off x="1392" y="2157"/>
              <a:ext cx="171" cy="744"/>
            </a:xfrm>
            <a:prstGeom prst="line">
              <a:avLst/>
            </a:prstGeom>
            <a:noFill/>
            <a:ln w="50800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97298" name="Line 19"/>
            <p:cNvSpPr>
              <a:spLocks noChangeShapeType="1"/>
            </p:cNvSpPr>
            <p:nvPr/>
          </p:nvSpPr>
          <p:spPr bwMode="auto">
            <a:xfrm flipV="1">
              <a:off x="2155" y="2181"/>
              <a:ext cx="169" cy="716"/>
            </a:xfrm>
            <a:prstGeom prst="line">
              <a:avLst/>
            </a:prstGeom>
            <a:noFill/>
            <a:ln w="50800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97299" name="Text Box 20"/>
            <p:cNvSpPr txBox="1">
              <a:spLocks noChangeArrowheads="1"/>
            </p:cNvSpPr>
            <p:nvPr/>
          </p:nvSpPr>
          <p:spPr bwMode="auto">
            <a:xfrm>
              <a:off x="1865" y="2948"/>
              <a:ext cx="461" cy="212"/>
            </a:xfrm>
            <a:prstGeom prst="rect">
              <a:avLst/>
            </a:prstGeom>
            <a:solidFill>
              <a:srgbClr val="FFFF00"/>
            </a:solidFill>
            <a:ln w="57150" cmpd="thickThin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1600">
                  <a:latin typeface="Comic Sans MS" pitchFamily="66" charset="0"/>
                  <a:ea typeface="ＭＳ Ｐゴシック" pitchFamily="34" charset="-128"/>
                </a:rPr>
                <a:t>GVA2</a:t>
              </a:r>
            </a:p>
          </p:txBody>
        </p:sp>
        <p:sp>
          <p:nvSpPr>
            <p:cNvPr id="97300" name="Text Box 21"/>
            <p:cNvSpPr txBox="1">
              <a:spLocks noChangeArrowheads="1"/>
            </p:cNvSpPr>
            <p:nvPr/>
          </p:nvSpPr>
          <p:spPr bwMode="auto">
            <a:xfrm>
              <a:off x="2405" y="2948"/>
              <a:ext cx="556" cy="212"/>
            </a:xfrm>
            <a:prstGeom prst="rect">
              <a:avLst/>
            </a:prstGeom>
            <a:solidFill>
              <a:srgbClr val="FFFF00"/>
            </a:solidFill>
            <a:ln w="57150" cmpd="thickThin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1600">
                  <a:latin typeface="Comic Sans MS" pitchFamily="66" charset="0"/>
                  <a:ea typeface="ＭＳ Ｐゴシック" pitchFamily="34" charset="-128"/>
                </a:rPr>
                <a:t>CKOVA</a:t>
              </a:r>
            </a:p>
          </p:txBody>
        </p:sp>
        <p:sp>
          <p:nvSpPr>
            <p:cNvPr id="97301" name="Text Box 22"/>
            <p:cNvSpPr txBox="1">
              <a:spLocks noChangeArrowheads="1"/>
            </p:cNvSpPr>
            <p:nvPr/>
          </p:nvSpPr>
          <p:spPr bwMode="auto">
            <a:xfrm>
              <a:off x="2501" y="2648"/>
              <a:ext cx="543" cy="212"/>
            </a:xfrm>
            <a:prstGeom prst="rect">
              <a:avLst/>
            </a:prstGeom>
            <a:solidFill>
              <a:srgbClr val="FFFF00"/>
            </a:solidFill>
            <a:ln w="57150" cmpd="thickThin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1600">
                  <a:latin typeface="Comic Sans MS" pitchFamily="66" charset="0"/>
                  <a:ea typeface="ＭＳ Ｐゴシック" pitchFamily="34" charset="-128"/>
                </a:rPr>
                <a:t>CKOVB</a:t>
              </a:r>
            </a:p>
          </p:txBody>
        </p:sp>
        <p:sp>
          <p:nvSpPr>
            <p:cNvPr id="97302" name="Line 23"/>
            <p:cNvSpPr>
              <a:spLocks noChangeShapeType="1"/>
            </p:cNvSpPr>
            <p:nvPr/>
          </p:nvSpPr>
          <p:spPr bwMode="auto">
            <a:xfrm flipV="1">
              <a:off x="2409" y="2253"/>
              <a:ext cx="11" cy="679"/>
            </a:xfrm>
            <a:prstGeom prst="line">
              <a:avLst/>
            </a:prstGeom>
            <a:noFill/>
            <a:ln w="50800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97303" name="Line 24"/>
            <p:cNvSpPr>
              <a:spLocks noChangeShapeType="1"/>
            </p:cNvSpPr>
            <p:nvPr/>
          </p:nvSpPr>
          <p:spPr bwMode="auto">
            <a:xfrm flipH="1" flipV="1">
              <a:off x="2516" y="2228"/>
              <a:ext cx="25" cy="412"/>
            </a:xfrm>
            <a:prstGeom prst="line">
              <a:avLst/>
            </a:prstGeom>
            <a:noFill/>
            <a:ln w="50800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97304" name="Text Box 25"/>
            <p:cNvSpPr txBox="1">
              <a:spLocks noChangeArrowheads="1"/>
            </p:cNvSpPr>
            <p:nvPr/>
          </p:nvSpPr>
          <p:spPr bwMode="auto">
            <a:xfrm>
              <a:off x="2428" y="1576"/>
              <a:ext cx="388" cy="212"/>
            </a:xfrm>
            <a:prstGeom prst="rect">
              <a:avLst/>
            </a:prstGeom>
            <a:solidFill>
              <a:srgbClr val="FFFF00"/>
            </a:solidFill>
            <a:ln w="57150" cmpd="thickThin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1600">
                  <a:latin typeface="Comic Sans MS" pitchFamily="66" charset="0"/>
                </a:rPr>
                <a:t>BM2</a:t>
              </a:r>
            </a:p>
          </p:txBody>
        </p:sp>
        <p:sp>
          <p:nvSpPr>
            <p:cNvPr id="97305" name="Line 26"/>
            <p:cNvSpPr>
              <a:spLocks noChangeShapeType="1"/>
            </p:cNvSpPr>
            <p:nvPr/>
          </p:nvSpPr>
          <p:spPr bwMode="auto">
            <a:xfrm flipH="1">
              <a:off x="2384" y="1792"/>
              <a:ext cx="122" cy="316"/>
            </a:xfrm>
            <a:prstGeom prst="line">
              <a:avLst/>
            </a:prstGeom>
            <a:noFill/>
            <a:ln w="50800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97306" name="Text Box 27"/>
            <p:cNvSpPr txBox="1">
              <a:spLocks noChangeArrowheads="1"/>
            </p:cNvSpPr>
            <p:nvPr/>
          </p:nvSpPr>
          <p:spPr bwMode="auto">
            <a:xfrm>
              <a:off x="2864" y="1774"/>
              <a:ext cx="71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1400">
                  <a:latin typeface="Comic Sans MS" pitchFamily="66" charset="0"/>
                </a:rPr>
                <a:t>Q7 Q8 Q9</a:t>
              </a:r>
              <a:endParaRPr lang="en-US" sz="1600">
                <a:latin typeface="Comic Sans MS" pitchFamily="66" charset="0"/>
              </a:endParaRPr>
            </a:p>
          </p:txBody>
        </p:sp>
      </p:grpSp>
      <p:sp>
        <p:nvSpPr>
          <p:cNvPr id="97285" name="Text Box 30"/>
          <p:cNvSpPr txBox="1">
            <a:spLocks noChangeArrowheads="1"/>
          </p:cNvSpPr>
          <p:nvPr/>
        </p:nvSpPr>
        <p:spPr bwMode="auto">
          <a:xfrm>
            <a:off x="255588" y="1728788"/>
            <a:ext cx="1419225" cy="118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>
                <a:latin typeface="Times New Roman" pitchFamily="18" charset="0"/>
              </a:rPr>
              <a:t>MICE</a:t>
            </a:r>
          </a:p>
          <a:p>
            <a:r>
              <a:rPr lang="en-US" sz="2400">
                <a:latin typeface="Times New Roman" pitchFamily="18" charset="0"/>
              </a:rPr>
              <a:t>Beam</a:t>
            </a:r>
          </a:p>
          <a:p>
            <a:r>
              <a:rPr lang="en-US" sz="2400">
                <a:latin typeface="Times New Roman" pitchFamily="18" charset="0"/>
              </a:rPr>
              <a:t>Detectors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9" name="Date Placeholder 2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Feb. 4 2009 </a:t>
            </a:r>
          </a:p>
        </p:txBody>
      </p:sp>
      <p:sp>
        <p:nvSpPr>
          <p:cNvPr id="99330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7239000" y="6553200"/>
            <a:ext cx="1905000" cy="304800"/>
          </a:xfrm>
          <a:noFill/>
        </p:spPr>
        <p:txBody>
          <a:bodyPr/>
          <a:lstStyle/>
          <a:p>
            <a:pPr algn="r"/>
            <a:r>
              <a:rPr lang="en-US" sz="1400" smtClean="0"/>
              <a:t>Abrams-AAC</a:t>
            </a:r>
          </a:p>
        </p:txBody>
      </p:sp>
      <p:sp>
        <p:nvSpPr>
          <p:cNvPr id="99331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2209800" y="6477000"/>
            <a:ext cx="5029200" cy="381000"/>
          </a:xfrm>
          <a:noFill/>
        </p:spPr>
        <p:txBody>
          <a:bodyPr/>
          <a:lstStyle/>
          <a:p>
            <a:pPr algn="ctr"/>
            <a:fld id="{151FF9E2-7C8B-4176-B12C-2D5624BC7A3B}" type="slidenum">
              <a:rPr lang="en-US" sz="1200" smtClean="0"/>
              <a:pPr algn="ctr"/>
              <a:t>5</a:t>
            </a:fld>
            <a:endParaRPr lang="en-US" sz="1200" smtClean="0"/>
          </a:p>
        </p:txBody>
      </p:sp>
      <p:sp>
        <p:nvSpPr>
          <p:cNvPr id="99332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8229600" cy="895350"/>
          </a:xfrm>
        </p:spPr>
        <p:txBody>
          <a:bodyPr/>
          <a:lstStyle/>
          <a:p>
            <a:r>
              <a:rPr lang="en-US" smtClean="0"/>
              <a:t>MICE Detectors Available for MANX</a:t>
            </a:r>
          </a:p>
        </p:txBody>
      </p:sp>
      <p:sp>
        <p:nvSpPr>
          <p:cNvPr id="99333" name="Rectangle 7"/>
          <p:cNvSpPr>
            <a:spLocks noChangeArrowheads="1"/>
          </p:cNvSpPr>
          <p:nvPr/>
        </p:nvSpPr>
        <p:spPr bwMode="auto">
          <a:xfrm>
            <a:off x="5762625" y="5842000"/>
            <a:ext cx="23622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US" sz="1400">
              <a:latin typeface="Times New Roman" pitchFamily="18" charset="0"/>
            </a:endParaRPr>
          </a:p>
        </p:txBody>
      </p:sp>
      <p:sp>
        <p:nvSpPr>
          <p:cNvPr id="99334" name="Rectangle 8"/>
          <p:cNvSpPr>
            <a:spLocks noChangeArrowheads="1"/>
          </p:cNvSpPr>
          <p:nvPr/>
        </p:nvSpPr>
        <p:spPr bwMode="auto">
          <a:xfrm>
            <a:off x="3676650" y="5605463"/>
            <a:ext cx="179070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US">
              <a:latin typeface="Times New Roman" pitchFamily="18" charset="0"/>
            </a:endParaRPr>
          </a:p>
          <a:p>
            <a:endParaRPr lang="en-US" sz="1400">
              <a:latin typeface="Times New Roman" pitchFamily="18" charset="0"/>
            </a:endParaRPr>
          </a:p>
        </p:txBody>
      </p:sp>
      <p:sp>
        <p:nvSpPr>
          <p:cNvPr id="99335" name="Text Box 10"/>
          <p:cNvSpPr txBox="1">
            <a:spLocks noChangeArrowheads="1"/>
          </p:cNvSpPr>
          <p:nvPr/>
        </p:nvSpPr>
        <p:spPr bwMode="auto">
          <a:xfrm>
            <a:off x="628650" y="5895975"/>
            <a:ext cx="1841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US" sz="1400">
              <a:latin typeface="Times New Roman" pitchFamily="18" charset="0"/>
            </a:endParaRPr>
          </a:p>
        </p:txBody>
      </p:sp>
      <p:graphicFrame>
        <p:nvGraphicFramePr>
          <p:cNvPr id="19688" name="Group 232"/>
          <p:cNvGraphicFramePr>
            <a:graphicFrameLocks noGrp="1"/>
          </p:cNvGraphicFramePr>
          <p:nvPr/>
        </p:nvGraphicFramePr>
        <p:xfrm>
          <a:off x="504825" y="1192213"/>
          <a:ext cx="8134350" cy="5044948"/>
        </p:xfrm>
        <a:graphic>
          <a:graphicData uri="http://schemas.openxmlformats.org/drawingml/2006/table">
            <a:tbl>
              <a:tblPr/>
              <a:tblGrid>
                <a:gridCol w="2384425"/>
                <a:gridCol w="1549400"/>
                <a:gridCol w="779463"/>
                <a:gridCol w="1004887"/>
                <a:gridCol w="1208088"/>
                <a:gridCol w="1208087"/>
              </a:tblGrid>
              <a:tr h="5937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Detector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Purpose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Size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(cm</a:t>
                      </a:r>
                      <a:r>
                        <a:rPr kumimoji="0" lang="en-US" sz="1400" b="1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Number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(Per unit)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Type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Source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953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BM1,2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BC1, 2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GVA1, 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Beam profile Beam trigger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Beam trigger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20x20 </a:t>
                      </a:r>
                      <a:endParaRPr kumimoji="0" lang="en-US" sz="1200" b="0" i="0" u="none" strike="noStrike" cap="none" normalizeH="0" baseline="30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(8x + 8y)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Scint fibers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Scint ctrs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Scint paddle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U. Geneva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7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TOF 0, 1 &amp; 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Pi-mu ID,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RF timing(MICE)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(~70 ps time res)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~40x40</a:t>
                      </a:r>
                      <a:endParaRPr kumimoji="0" lang="en-US" sz="1400" b="1" i="0" u="none" strike="noStrike" cap="none" normalizeH="0" baseline="30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10x + 10y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7x + 7y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BC-420 scint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INFN Milano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Pavia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4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CKOV1,2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Pi-mu ID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Trigger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45x45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4 PMTs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Cherenkov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Aerogel rad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U. Miss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90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Trackers (Upstream&amp;Downstream)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Momentum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measurement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~17.5 cm active radius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5 stations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2-3 coord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per stat’n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Scint Fibers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(x, u, v)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 4T Solenoid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LBNL, IIT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FNAL, UCL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RAL, Osaka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96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KL (Upgraded KLOE EMCAL)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Downstream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electron ident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120 x120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4 layers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30/layer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Scint Fibers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Pb Foils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INFN Rome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143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EMR (Electromagnetic Ranger)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Downstream e-mu ID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120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x120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9 layers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9  (x or y) per layer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Scintillator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strips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INFN Milan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7" name="Date Placeholder 2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Feb. 4 2009 </a:t>
            </a:r>
          </a:p>
        </p:txBody>
      </p:sp>
      <p:sp>
        <p:nvSpPr>
          <p:cNvPr id="101378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7239000" y="6553200"/>
            <a:ext cx="1905000" cy="304800"/>
          </a:xfrm>
          <a:noFill/>
        </p:spPr>
        <p:txBody>
          <a:bodyPr/>
          <a:lstStyle/>
          <a:p>
            <a:pPr algn="r"/>
            <a:r>
              <a:rPr lang="en-US" sz="1400" smtClean="0"/>
              <a:t>Abrams-AAC</a:t>
            </a:r>
          </a:p>
        </p:txBody>
      </p:sp>
      <p:sp>
        <p:nvSpPr>
          <p:cNvPr id="101379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2209800" y="6477000"/>
            <a:ext cx="5029200" cy="381000"/>
          </a:xfrm>
          <a:noFill/>
        </p:spPr>
        <p:txBody>
          <a:bodyPr/>
          <a:lstStyle/>
          <a:p>
            <a:pPr algn="ctr"/>
            <a:fld id="{C33E82A1-2A5C-42B3-B1B0-5A55EF7886D5}" type="slidenum">
              <a:rPr lang="en-US" sz="1200" smtClean="0"/>
              <a:pPr algn="ctr"/>
              <a:t>6</a:t>
            </a:fld>
            <a:endParaRPr lang="en-US" sz="1200" smtClean="0"/>
          </a:p>
        </p:txBody>
      </p:sp>
      <p:sp>
        <p:nvSpPr>
          <p:cNvPr id="101380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800100"/>
          </a:xfrm>
        </p:spPr>
        <p:txBody>
          <a:bodyPr/>
          <a:lstStyle/>
          <a:p>
            <a:r>
              <a:rPr lang="en-US" smtClean="0"/>
              <a:t>MICE Detectors</a:t>
            </a:r>
          </a:p>
        </p:txBody>
      </p:sp>
      <p:pic>
        <p:nvPicPr>
          <p:cNvPr id="101381" name="Picture 5" descr="img_2387"/>
          <p:cNvPicPr>
            <a:picLocks noChangeAspect="1" noChangeArrowheads="1"/>
          </p:cNvPicPr>
          <p:nvPr/>
        </p:nvPicPr>
        <p:blipFill>
          <a:blip r:embed="rId3"/>
          <a:srcRect l="22501" t="30000" r="39375" b="14999"/>
          <a:stretch>
            <a:fillRect/>
          </a:stretch>
        </p:blipFill>
        <p:spPr bwMode="auto">
          <a:xfrm>
            <a:off x="679450" y="1158875"/>
            <a:ext cx="1654175" cy="1790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1382" name="Picture 6"/>
          <p:cNvPicPr>
            <a:picLocks noChangeAspect="1" noChangeArrowheads="1"/>
          </p:cNvPicPr>
          <p:nvPr/>
        </p:nvPicPr>
        <p:blipFill>
          <a:blip r:embed="rId4"/>
          <a:srcRect l="13162" t="17615" r="13162"/>
          <a:stretch>
            <a:fillRect/>
          </a:stretch>
        </p:blipFill>
        <p:spPr bwMode="auto">
          <a:xfrm>
            <a:off x="2524125" y="1190625"/>
            <a:ext cx="2047875" cy="1711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1383" name="Picture 7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905500" y="3609975"/>
            <a:ext cx="2084388" cy="2147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1384" name="Rectangle 8"/>
          <p:cNvSpPr>
            <a:spLocks noChangeArrowheads="1"/>
          </p:cNvSpPr>
          <p:nvPr/>
        </p:nvSpPr>
        <p:spPr bwMode="auto">
          <a:xfrm>
            <a:off x="1200150" y="2892425"/>
            <a:ext cx="704850" cy="51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>
                <a:latin typeface="Times New Roman" pitchFamily="18" charset="0"/>
              </a:rPr>
              <a:t>TOF0</a:t>
            </a:r>
          </a:p>
          <a:p>
            <a:r>
              <a:rPr lang="en-US" sz="1400">
                <a:latin typeface="Times New Roman" pitchFamily="18" charset="0"/>
              </a:rPr>
              <a:t>(70 ps)</a:t>
            </a:r>
          </a:p>
        </p:txBody>
      </p:sp>
      <p:sp>
        <p:nvSpPr>
          <p:cNvPr id="101385" name="Rectangle 9"/>
          <p:cNvSpPr>
            <a:spLocks noChangeArrowheads="1"/>
          </p:cNvSpPr>
          <p:nvPr/>
        </p:nvSpPr>
        <p:spPr bwMode="auto">
          <a:xfrm>
            <a:off x="2794000" y="2971800"/>
            <a:ext cx="1652588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latin typeface="Times New Roman" pitchFamily="18" charset="0"/>
              </a:rPr>
              <a:t>CKOV1: Cherenkov</a:t>
            </a:r>
          </a:p>
        </p:txBody>
      </p:sp>
      <p:sp>
        <p:nvSpPr>
          <p:cNvPr id="101386" name="Rectangle 10"/>
          <p:cNvSpPr>
            <a:spLocks noChangeArrowheads="1"/>
          </p:cNvSpPr>
          <p:nvPr/>
        </p:nvSpPr>
        <p:spPr bwMode="auto">
          <a:xfrm>
            <a:off x="5730875" y="5829300"/>
            <a:ext cx="26193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latin typeface="Times New Roman" pitchFamily="18" charset="0"/>
              </a:rPr>
              <a:t>KL, EMR: Electron Muon Ranger</a:t>
            </a:r>
          </a:p>
        </p:txBody>
      </p:sp>
      <p:pic>
        <p:nvPicPr>
          <p:cNvPr id="101387" name="Picture 11" descr="mice_spectrometer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2341563" y="3609975"/>
            <a:ext cx="3208337" cy="2406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1388" name="Picture 12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212725" y="3609975"/>
            <a:ext cx="2203450" cy="2222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1389" name="Text Box 13"/>
          <p:cNvSpPr txBox="1">
            <a:spLocks noChangeArrowheads="1"/>
          </p:cNvSpPr>
          <p:nvPr/>
        </p:nvSpPr>
        <p:spPr bwMode="auto">
          <a:xfrm>
            <a:off x="355600" y="5754688"/>
            <a:ext cx="17145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latin typeface="Times New Roman" pitchFamily="18" charset="0"/>
              </a:rPr>
              <a:t>Tracker and Solenoid</a:t>
            </a:r>
          </a:p>
        </p:txBody>
      </p:sp>
      <p:pic>
        <p:nvPicPr>
          <p:cNvPr id="101390" name="Picture 14" descr="Coolingchannel-w3dman1-smaller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4724400" y="1144588"/>
            <a:ext cx="3390900" cy="1903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1391" name="Line 15"/>
          <p:cNvSpPr>
            <a:spLocks noChangeShapeType="1"/>
          </p:cNvSpPr>
          <p:nvPr/>
        </p:nvSpPr>
        <p:spPr bwMode="auto">
          <a:xfrm flipV="1">
            <a:off x="6324600" y="2419350"/>
            <a:ext cx="942975" cy="3714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01392" name="Text Box 16"/>
          <p:cNvSpPr txBox="1">
            <a:spLocks noChangeArrowheads="1"/>
          </p:cNvSpPr>
          <p:nvPr/>
        </p:nvSpPr>
        <p:spPr bwMode="auto">
          <a:xfrm>
            <a:off x="6019800" y="2667000"/>
            <a:ext cx="2071688" cy="51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latin typeface="Times New Roman" pitchFamily="18" charset="0"/>
              </a:rPr>
              <a:t>MICE cooling channel</a:t>
            </a:r>
          </a:p>
          <a:p>
            <a:r>
              <a:rPr lang="en-US" sz="1400">
                <a:solidFill>
                  <a:srgbClr val="FF0066"/>
                </a:solidFill>
                <a:latin typeface="Times New Roman" pitchFamily="18" charset="0"/>
              </a:rPr>
              <a:t>(to be replaced with HCC)</a:t>
            </a:r>
          </a:p>
        </p:txBody>
      </p:sp>
      <p:sp>
        <p:nvSpPr>
          <p:cNvPr id="101393" name="Freeform 17"/>
          <p:cNvSpPr>
            <a:spLocks/>
          </p:cNvSpPr>
          <p:nvPr/>
        </p:nvSpPr>
        <p:spPr bwMode="auto">
          <a:xfrm>
            <a:off x="7924800" y="1828800"/>
            <a:ext cx="635000" cy="1828800"/>
          </a:xfrm>
          <a:custGeom>
            <a:avLst/>
            <a:gdLst>
              <a:gd name="T0" fmla="*/ 0 w 400"/>
              <a:gd name="T1" fmla="*/ 1828800 h 1152"/>
              <a:gd name="T2" fmla="*/ 609600 w 400"/>
              <a:gd name="T3" fmla="*/ 457200 h 1152"/>
              <a:gd name="T4" fmla="*/ 152400 w 400"/>
              <a:gd name="T5" fmla="*/ 0 h 1152"/>
              <a:gd name="T6" fmla="*/ 0 60000 65536"/>
              <a:gd name="T7" fmla="*/ 0 60000 65536"/>
              <a:gd name="T8" fmla="*/ 0 60000 65536"/>
              <a:gd name="T9" fmla="*/ 0 w 400"/>
              <a:gd name="T10" fmla="*/ 0 h 1152"/>
              <a:gd name="T11" fmla="*/ 400 w 400"/>
              <a:gd name="T12" fmla="*/ 1152 h 115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00" h="1152">
                <a:moveTo>
                  <a:pt x="0" y="1152"/>
                </a:moveTo>
                <a:cubicBezTo>
                  <a:pt x="184" y="816"/>
                  <a:pt x="368" y="480"/>
                  <a:pt x="384" y="288"/>
                </a:cubicBezTo>
                <a:cubicBezTo>
                  <a:pt x="400" y="96"/>
                  <a:pt x="144" y="48"/>
                  <a:pt x="96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pPr eaLnBrk="0" hangingPunct="0"/>
            <a:endParaRPr lang="en-US"/>
          </a:p>
        </p:txBody>
      </p:sp>
      <p:sp>
        <p:nvSpPr>
          <p:cNvPr id="101394" name="Freeform 18"/>
          <p:cNvSpPr>
            <a:spLocks/>
          </p:cNvSpPr>
          <p:nvPr/>
        </p:nvSpPr>
        <p:spPr bwMode="auto">
          <a:xfrm>
            <a:off x="5181600" y="2667000"/>
            <a:ext cx="774700" cy="914400"/>
          </a:xfrm>
          <a:custGeom>
            <a:avLst/>
            <a:gdLst>
              <a:gd name="T0" fmla="*/ 0 w 488"/>
              <a:gd name="T1" fmla="*/ 914400 h 576"/>
              <a:gd name="T2" fmla="*/ 685800 w 488"/>
              <a:gd name="T3" fmla="*/ 533400 h 576"/>
              <a:gd name="T4" fmla="*/ 533400 w 488"/>
              <a:gd name="T5" fmla="*/ 76200 h 576"/>
              <a:gd name="T6" fmla="*/ 457200 w 488"/>
              <a:gd name="T7" fmla="*/ 76200 h 576"/>
              <a:gd name="T8" fmla="*/ 0 60000 65536"/>
              <a:gd name="T9" fmla="*/ 0 60000 65536"/>
              <a:gd name="T10" fmla="*/ 0 60000 65536"/>
              <a:gd name="T11" fmla="*/ 0 60000 65536"/>
              <a:gd name="T12" fmla="*/ 0 w 488"/>
              <a:gd name="T13" fmla="*/ 0 h 576"/>
              <a:gd name="T14" fmla="*/ 488 w 488"/>
              <a:gd name="T15" fmla="*/ 576 h 57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88" h="576">
                <a:moveTo>
                  <a:pt x="0" y="576"/>
                </a:moveTo>
                <a:cubicBezTo>
                  <a:pt x="188" y="500"/>
                  <a:pt x="376" y="424"/>
                  <a:pt x="432" y="336"/>
                </a:cubicBezTo>
                <a:cubicBezTo>
                  <a:pt x="488" y="248"/>
                  <a:pt x="360" y="96"/>
                  <a:pt x="336" y="48"/>
                </a:cubicBezTo>
                <a:cubicBezTo>
                  <a:pt x="312" y="0"/>
                  <a:pt x="300" y="24"/>
                  <a:pt x="288" y="4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pPr eaLnBrk="0" hangingPunct="0"/>
            <a:endParaRPr lang="en-US"/>
          </a:p>
        </p:txBody>
      </p:sp>
      <p:sp>
        <p:nvSpPr>
          <p:cNvPr id="101395" name="Freeform 19"/>
          <p:cNvSpPr>
            <a:spLocks/>
          </p:cNvSpPr>
          <p:nvPr/>
        </p:nvSpPr>
        <p:spPr bwMode="auto">
          <a:xfrm>
            <a:off x="1295400" y="2590800"/>
            <a:ext cx="3886200" cy="1295400"/>
          </a:xfrm>
          <a:custGeom>
            <a:avLst/>
            <a:gdLst>
              <a:gd name="T0" fmla="*/ 0 w 2448"/>
              <a:gd name="T1" fmla="*/ 1295400 h 816"/>
              <a:gd name="T2" fmla="*/ 1371600 w 2448"/>
              <a:gd name="T3" fmla="*/ 838200 h 816"/>
              <a:gd name="T4" fmla="*/ 3429000 w 2448"/>
              <a:gd name="T5" fmla="*/ 762000 h 816"/>
              <a:gd name="T6" fmla="*/ 3886200 w 2448"/>
              <a:gd name="T7" fmla="*/ 0 h 816"/>
              <a:gd name="T8" fmla="*/ 0 60000 65536"/>
              <a:gd name="T9" fmla="*/ 0 60000 65536"/>
              <a:gd name="T10" fmla="*/ 0 60000 65536"/>
              <a:gd name="T11" fmla="*/ 0 60000 65536"/>
              <a:gd name="T12" fmla="*/ 0 w 2448"/>
              <a:gd name="T13" fmla="*/ 0 h 816"/>
              <a:gd name="T14" fmla="*/ 2448 w 2448"/>
              <a:gd name="T15" fmla="*/ 816 h 81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448" h="816">
                <a:moveTo>
                  <a:pt x="0" y="816"/>
                </a:moveTo>
                <a:cubicBezTo>
                  <a:pt x="252" y="700"/>
                  <a:pt x="504" y="584"/>
                  <a:pt x="864" y="528"/>
                </a:cubicBezTo>
                <a:cubicBezTo>
                  <a:pt x="1224" y="472"/>
                  <a:pt x="1896" y="568"/>
                  <a:pt x="2160" y="480"/>
                </a:cubicBezTo>
                <a:cubicBezTo>
                  <a:pt x="2424" y="392"/>
                  <a:pt x="2400" y="80"/>
                  <a:pt x="2448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pPr eaLnBrk="0" hangingPunct="0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5" name="Date Placeholder 2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Feb. 4 2009 </a:t>
            </a:r>
          </a:p>
        </p:txBody>
      </p:sp>
      <p:sp>
        <p:nvSpPr>
          <p:cNvPr id="103426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7239000" y="6553200"/>
            <a:ext cx="1905000" cy="304800"/>
          </a:xfrm>
          <a:noFill/>
        </p:spPr>
        <p:txBody>
          <a:bodyPr/>
          <a:lstStyle/>
          <a:p>
            <a:pPr algn="r"/>
            <a:r>
              <a:rPr lang="en-US" sz="1400" smtClean="0"/>
              <a:t>Abrams-AAC</a:t>
            </a:r>
          </a:p>
        </p:txBody>
      </p:sp>
      <p:sp>
        <p:nvSpPr>
          <p:cNvPr id="103427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2209800" y="6477000"/>
            <a:ext cx="5029200" cy="381000"/>
          </a:xfrm>
          <a:noFill/>
        </p:spPr>
        <p:txBody>
          <a:bodyPr/>
          <a:lstStyle/>
          <a:p>
            <a:pPr algn="ctr"/>
            <a:fld id="{B4B25A59-5B98-4037-ADE9-E01E69300C83}" type="slidenum">
              <a:rPr lang="en-US" sz="1200" smtClean="0"/>
              <a:pPr algn="ctr"/>
              <a:t>7</a:t>
            </a:fld>
            <a:endParaRPr lang="en-US" sz="1200" smtClean="0"/>
          </a:p>
        </p:txBody>
      </p:sp>
      <p:pic>
        <p:nvPicPr>
          <p:cNvPr id="103428" name="Picture 2"/>
          <p:cNvPicPr>
            <a:picLocks noChangeAspect="1" noChangeArrowheads="1"/>
          </p:cNvPicPr>
          <p:nvPr/>
        </p:nvPicPr>
        <p:blipFill>
          <a:blip r:embed="rId3"/>
          <a:srcRect l="28661" t="38295" b="20515"/>
          <a:stretch>
            <a:fillRect/>
          </a:stretch>
        </p:blipFill>
        <p:spPr bwMode="auto">
          <a:xfrm>
            <a:off x="214313" y="2174875"/>
            <a:ext cx="9021762" cy="3856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42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-296863"/>
            <a:ext cx="8229600" cy="1143001"/>
          </a:xfrm>
        </p:spPr>
        <p:txBody>
          <a:bodyPr/>
          <a:lstStyle/>
          <a:p>
            <a:r>
              <a:rPr lang="en-US" smtClean="0"/>
              <a:t>Layout in MICE Hall</a:t>
            </a:r>
          </a:p>
        </p:txBody>
      </p:sp>
      <p:sp>
        <p:nvSpPr>
          <p:cNvPr id="103430" name="Text Box 9"/>
          <p:cNvSpPr txBox="1">
            <a:spLocks noChangeArrowheads="1"/>
          </p:cNvSpPr>
          <p:nvPr/>
        </p:nvSpPr>
        <p:spPr bwMode="auto">
          <a:xfrm>
            <a:off x="5851525" y="1052513"/>
            <a:ext cx="3009900" cy="768350"/>
          </a:xfrm>
          <a:prstGeom prst="rect">
            <a:avLst/>
          </a:prstGeom>
          <a:noFill/>
          <a:ln w="38100">
            <a:solidFill>
              <a:srgbClr val="FF0066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/>
              <a:t>Move downstream</a:t>
            </a:r>
          </a:p>
          <a:p>
            <a:r>
              <a:rPr lang="en-US" sz="1400"/>
              <a:t>Tracker and Cal farther</a:t>
            </a:r>
          </a:p>
          <a:p>
            <a:r>
              <a:rPr lang="en-US" sz="1400"/>
              <a:t>downstream to make room for HCC</a:t>
            </a:r>
          </a:p>
        </p:txBody>
      </p:sp>
      <p:sp>
        <p:nvSpPr>
          <p:cNvPr id="103431" name="Text Box 10"/>
          <p:cNvSpPr txBox="1">
            <a:spLocks noChangeArrowheads="1"/>
          </p:cNvSpPr>
          <p:nvPr/>
        </p:nvSpPr>
        <p:spPr bwMode="auto">
          <a:xfrm>
            <a:off x="2266950" y="881063"/>
            <a:ext cx="2824163" cy="342900"/>
          </a:xfrm>
          <a:prstGeom prst="rect">
            <a:avLst/>
          </a:prstGeom>
          <a:noFill/>
          <a:ln w="38100">
            <a:solidFill>
              <a:srgbClr val="FF0066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/>
              <a:t>Remove MICE cooling apparatus</a:t>
            </a:r>
          </a:p>
        </p:txBody>
      </p:sp>
      <p:sp>
        <p:nvSpPr>
          <p:cNvPr id="103432" name="Rectangle 12"/>
          <p:cNvSpPr>
            <a:spLocks noChangeArrowheads="1"/>
          </p:cNvSpPr>
          <p:nvPr/>
        </p:nvSpPr>
        <p:spPr bwMode="auto">
          <a:xfrm>
            <a:off x="3111500" y="3419475"/>
            <a:ext cx="1460500" cy="684213"/>
          </a:xfrm>
          <a:prstGeom prst="rect">
            <a:avLst/>
          </a:prstGeom>
          <a:noFill/>
          <a:ln w="38100">
            <a:solidFill>
              <a:srgbClr val="FF0066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03433" name="Text Box 13"/>
          <p:cNvSpPr txBox="1">
            <a:spLocks noChangeArrowheads="1"/>
          </p:cNvSpPr>
          <p:nvPr/>
        </p:nvSpPr>
        <p:spPr bwMode="auto">
          <a:xfrm>
            <a:off x="1857375" y="1414463"/>
            <a:ext cx="1639888" cy="555625"/>
          </a:xfrm>
          <a:prstGeom prst="rect">
            <a:avLst/>
          </a:prstGeom>
          <a:noFill/>
          <a:ln w="38100">
            <a:solidFill>
              <a:srgbClr val="FF0066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/>
              <a:t>Upstream Tracker</a:t>
            </a:r>
          </a:p>
          <a:p>
            <a:r>
              <a:rPr lang="en-US" sz="1400"/>
              <a:t>unchanged</a:t>
            </a:r>
          </a:p>
        </p:txBody>
      </p:sp>
      <p:sp>
        <p:nvSpPr>
          <p:cNvPr id="103434" name="Line 14"/>
          <p:cNvSpPr>
            <a:spLocks noChangeShapeType="1"/>
          </p:cNvSpPr>
          <p:nvPr/>
        </p:nvSpPr>
        <p:spPr bwMode="auto">
          <a:xfrm>
            <a:off x="2114550" y="1970088"/>
            <a:ext cx="728663" cy="1651000"/>
          </a:xfrm>
          <a:prstGeom prst="line">
            <a:avLst/>
          </a:prstGeom>
          <a:noFill/>
          <a:ln w="38100">
            <a:solidFill>
              <a:srgbClr val="FF0066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03435" name="Line 15"/>
          <p:cNvSpPr>
            <a:spLocks noChangeShapeType="1"/>
          </p:cNvSpPr>
          <p:nvPr/>
        </p:nvSpPr>
        <p:spPr bwMode="auto">
          <a:xfrm flipH="1">
            <a:off x="3957638" y="1223963"/>
            <a:ext cx="1095375" cy="2195512"/>
          </a:xfrm>
          <a:prstGeom prst="line">
            <a:avLst/>
          </a:prstGeom>
          <a:noFill/>
          <a:ln w="38100">
            <a:solidFill>
              <a:srgbClr val="FF0066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03436" name="Line 16"/>
          <p:cNvSpPr>
            <a:spLocks noChangeShapeType="1"/>
          </p:cNvSpPr>
          <p:nvPr/>
        </p:nvSpPr>
        <p:spPr bwMode="auto">
          <a:xfrm flipH="1">
            <a:off x="4918075" y="1782763"/>
            <a:ext cx="1997075" cy="1838325"/>
          </a:xfrm>
          <a:prstGeom prst="line">
            <a:avLst/>
          </a:prstGeom>
          <a:noFill/>
          <a:ln w="38100">
            <a:solidFill>
              <a:srgbClr val="FF0066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03437" name="Line 17"/>
          <p:cNvSpPr>
            <a:spLocks noChangeShapeType="1"/>
          </p:cNvSpPr>
          <p:nvPr/>
        </p:nvSpPr>
        <p:spPr bwMode="auto">
          <a:xfrm flipH="1">
            <a:off x="5686425" y="1820863"/>
            <a:ext cx="1382713" cy="1800225"/>
          </a:xfrm>
          <a:prstGeom prst="line">
            <a:avLst/>
          </a:prstGeom>
          <a:noFill/>
          <a:ln w="38100">
            <a:solidFill>
              <a:srgbClr val="FF0066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03438" name="Text Box 18"/>
          <p:cNvSpPr txBox="1">
            <a:spLocks noChangeArrowheads="1"/>
          </p:cNvSpPr>
          <p:nvPr/>
        </p:nvSpPr>
        <p:spPr bwMode="auto">
          <a:xfrm>
            <a:off x="639763" y="1381125"/>
            <a:ext cx="785812" cy="374650"/>
          </a:xfrm>
          <a:prstGeom prst="rect">
            <a:avLst/>
          </a:prstGeom>
          <a:noFill/>
          <a:ln w="38100">
            <a:solidFill>
              <a:srgbClr val="FF0066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>
                <a:latin typeface="Times New Roman" pitchFamily="18" charset="0"/>
              </a:rPr>
              <a:t>Q7-Q9</a:t>
            </a:r>
          </a:p>
        </p:txBody>
      </p:sp>
      <p:sp>
        <p:nvSpPr>
          <p:cNvPr id="103439" name="Line 19"/>
          <p:cNvSpPr>
            <a:spLocks noChangeShapeType="1"/>
          </p:cNvSpPr>
          <p:nvPr/>
        </p:nvSpPr>
        <p:spPr bwMode="auto">
          <a:xfrm>
            <a:off x="1154113" y="1755775"/>
            <a:ext cx="460375" cy="1865313"/>
          </a:xfrm>
          <a:prstGeom prst="line">
            <a:avLst/>
          </a:prstGeom>
          <a:noFill/>
          <a:ln w="38100">
            <a:solidFill>
              <a:srgbClr val="FF0066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3" name="Date Placeholder 2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Feb. 4 2009 </a:t>
            </a:r>
          </a:p>
        </p:txBody>
      </p:sp>
      <p:sp>
        <p:nvSpPr>
          <p:cNvPr id="105474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7239000" y="6553200"/>
            <a:ext cx="1905000" cy="304800"/>
          </a:xfrm>
          <a:noFill/>
        </p:spPr>
        <p:txBody>
          <a:bodyPr/>
          <a:lstStyle/>
          <a:p>
            <a:pPr algn="r"/>
            <a:r>
              <a:rPr lang="en-US" sz="1400" smtClean="0"/>
              <a:t>Abrams-AAC</a:t>
            </a:r>
          </a:p>
        </p:txBody>
      </p:sp>
      <p:sp>
        <p:nvSpPr>
          <p:cNvPr id="10547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2209800" y="6477000"/>
            <a:ext cx="5029200" cy="381000"/>
          </a:xfrm>
          <a:noFill/>
        </p:spPr>
        <p:txBody>
          <a:bodyPr/>
          <a:lstStyle/>
          <a:p>
            <a:pPr algn="ctr"/>
            <a:fld id="{E1AFD51B-BAC2-42EF-85A5-D4570E5DCF23}" type="slidenum">
              <a:rPr lang="en-US" sz="1200" smtClean="0"/>
              <a:pPr algn="ctr"/>
              <a:t>8</a:t>
            </a:fld>
            <a:endParaRPr lang="en-US" sz="1200" smtClean="0"/>
          </a:p>
        </p:txBody>
      </p:sp>
      <p:sp>
        <p:nvSpPr>
          <p:cNvPr id="105476" name="Rectangle 4"/>
          <p:cNvSpPr>
            <a:spLocks noGrp="1" noChangeArrowheads="1"/>
          </p:cNvSpPr>
          <p:nvPr>
            <p:ph type="title"/>
          </p:nvPr>
        </p:nvSpPr>
        <p:spPr>
          <a:xfrm>
            <a:off x="1752600" y="152400"/>
            <a:ext cx="6629400" cy="762000"/>
          </a:xfrm>
        </p:spPr>
        <p:txBody>
          <a:bodyPr/>
          <a:lstStyle/>
          <a:p>
            <a:r>
              <a:rPr lang="en-US" sz="2800" smtClean="0"/>
              <a:t>Layouts with MICE Channel </a:t>
            </a:r>
            <a:br>
              <a:rPr lang="en-US" sz="2800" smtClean="0"/>
            </a:br>
            <a:r>
              <a:rPr lang="en-US" sz="2800" smtClean="0"/>
              <a:t>and MANX Apparatus</a:t>
            </a:r>
          </a:p>
        </p:txBody>
      </p:sp>
      <p:pic>
        <p:nvPicPr>
          <p:cNvPr id="105477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371600" y="1371600"/>
            <a:ext cx="7256463" cy="3676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5478" name="Group 46"/>
          <p:cNvGrpSpPr>
            <a:grpSpLocks/>
          </p:cNvGrpSpPr>
          <p:nvPr/>
        </p:nvGrpSpPr>
        <p:grpSpPr bwMode="auto">
          <a:xfrm>
            <a:off x="2574925" y="5045075"/>
            <a:ext cx="1008063" cy="274638"/>
            <a:chOff x="1632" y="1521"/>
            <a:chExt cx="635" cy="173"/>
          </a:xfrm>
        </p:grpSpPr>
        <p:sp>
          <p:nvSpPr>
            <p:cNvPr id="105528" name="Line 6"/>
            <p:cNvSpPr>
              <a:spLocks noChangeShapeType="1"/>
            </p:cNvSpPr>
            <p:nvPr/>
          </p:nvSpPr>
          <p:spPr bwMode="auto">
            <a:xfrm>
              <a:off x="1632" y="1680"/>
              <a:ext cx="635" cy="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5529" name="Text Box 7"/>
            <p:cNvSpPr txBox="1">
              <a:spLocks noChangeArrowheads="1"/>
            </p:cNvSpPr>
            <p:nvPr/>
          </p:nvSpPr>
          <p:spPr bwMode="auto">
            <a:xfrm>
              <a:off x="1776" y="1521"/>
              <a:ext cx="34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200">
                  <a:latin typeface="Times New Roman" pitchFamily="18" charset="0"/>
                </a:rPr>
                <a:t>2.6 m</a:t>
              </a:r>
            </a:p>
          </p:txBody>
        </p:sp>
      </p:grpSp>
      <p:grpSp>
        <p:nvGrpSpPr>
          <p:cNvPr id="105479" name="Group 39"/>
          <p:cNvGrpSpPr>
            <a:grpSpLocks/>
          </p:cNvGrpSpPr>
          <p:nvPr/>
        </p:nvGrpSpPr>
        <p:grpSpPr bwMode="auto">
          <a:xfrm>
            <a:off x="6400800" y="5656263"/>
            <a:ext cx="2524125" cy="668337"/>
            <a:chOff x="4224" y="2082"/>
            <a:chExt cx="1590" cy="421"/>
          </a:xfrm>
        </p:grpSpPr>
        <p:sp>
          <p:nvSpPr>
            <p:cNvPr id="105524" name="Line 35"/>
            <p:cNvSpPr>
              <a:spLocks noChangeShapeType="1"/>
            </p:cNvSpPr>
            <p:nvPr/>
          </p:nvSpPr>
          <p:spPr bwMode="auto">
            <a:xfrm>
              <a:off x="4224" y="2208"/>
              <a:ext cx="572" cy="0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5525" name="Line 36"/>
            <p:cNvSpPr>
              <a:spLocks noChangeShapeType="1"/>
            </p:cNvSpPr>
            <p:nvPr/>
          </p:nvSpPr>
          <p:spPr bwMode="auto">
            <a:xfrm flipV="1">
              <a:off x="4224" y="2400"/>
              <a:ext cx="576" cy="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5526" name="Text Box 37"/>
            <p:cNvSpPr txBox="1">
              <a:spLocks noChangeArrowheads="1"/>
            </p:cNvSpPr>
            <p:nvPr/>
          </p:nvSpPr>
          <p:spPr bwMode="auto">
            <a:xfrm>
              <a:off x="4800" y="2082"/>
              <a:ext cx="101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>
                  <a:latin typeface="Times New Roman" pitchFamily="18" charset="0"/>
                </a:rPr>
                <a:t>New TOF Ctrs (TF)</a:t>
              </a:r>
            </a:p>
          </p:txBody>
        </p:sp>
        <p:sp>
          <p:nvSpPr>
            <p:cNvPr id="105527" name="Text Box 38"/>
            <p:cNvSpPr txBox="1">
              <a:spLocks noChangeArrowheads="1"/>
            </p:cNvSpPr>
            <p:nvPr/>
          </p:nvSpPr>
          <p:spPr bwMode="auto">
            <a:xfrm>
              <a:off x="4790" y="2311"/>
              <a:ext cx="912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>
                  <a:latin typeface="Times New Roman" pitchFamily="18" charset="0"/>
                </a:rPr>
                <a:t>New Trackers (S)</a:t>
              </a:r>
            </a:p>
          </p:txBody>
        </p:sp>
      </p:grpSp>
      <p:grpSp>
        <p:nvGrpSpPr>
          <p:cNvPr id="105480" name="Group 45"/>
          <p:cNvGrpSpPr>
            <a:grpSpLocks/>
          </p:cNvGrpSpPr>
          <p:nvPr/>
        </p:nvGrpSpPr>
        <p:grpSpPr bwMode="auto">
          <a:xfrm>
            <a:off x="2455863" y="3724275"/>
            <a:ext cx="5834062" cy="1511300"/>
            <a:chOff x="1526" y="2390"/>
            <a:chExt cx="3675" cy="952"/>
          </a:xfrm>
        </p:grpSpPr>
        <p:sp>
          <p:nvSpPr>
            <p:cNvPr id="105501" name="Line 10"/>
            <p:cNvSpPr>
              <a:spLocks noChangeShapeType="1"/>
            </p:cNvSpPr>
            <p:nvPr/>
          </p:nvSpPr>
          <p:spPr bwMode="auto">
            <a:xfrm flipV="1">
              <a:off x="2277" y="3179"/>
              <a:ext cx="603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5502" name="Line 15"/>
            <p:cNvSpPr>
              <a:spLocks noChangeShapeType="1"/>
            </p:cNvSpPr>
            <p:nvPr/>
          </p:nvSpPr>
          <p:spPr bwMode="auto">
            <a:xfrm>
              <a:off x="2880" y="2563"/>
              <a:ext cx="7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5503" name="Line 17"/>
            <p:cNvSpPr>
              <a:spLocks noChangeShapeType="1"/>
            </p:cNvSpPr>
            <p:nvPr/>
          </p:nvSpPr>
          <p:spPr bwMode="auto">
            <a:xfrm flipV="1">
              <a:off x="2880" y="2529"/>
              <a:ext cx="0" cy="1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5504" name="Line 18"/>
            <p:cNvSpPr>
              <a:spLocks noChangeShapeType="1"/>
            </p:cNvSpPr>
            <p:nvPr/>
          </p:nvSpPr>
          <p:spPr bwMode="auto">
            <a:xfrm flipV="1">
              <a:off x="3599" y="2511"/>
              <a:ext cx="0" cy="1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5505" name="Text Box 19"/>
            <p:cNvSpPr txBox="1">
              <a:spLocks noChangeArrowheads="1"/>
            </p:cNvSpPr>
            <p:nvPr/>
          </p:nvSpPr>
          <p:spPr bwMode="auto">
            <a:xfrm>
              <a:off x="2948" y="2390"/>
              <a:ext cx="553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200">
                  <a:latin typeface="Times New Roman" pitchFamily="18" charset="0"/>
                </a:rPr>
                <a:t>3.2m HCC</a:t>
              </a:r>
            </a:p>
          </p:txBody>
        </p:sp>
        <p:sp>
          <p:nvSpPr>
            <p:cNvPr id="105506" name="Text Box 20"/>
            <p:cNvSpPr txBox="1">
              <a:spLocks noChangeArrowheads="1"/>
            </p:cNvSpPr>
            <p:nvPr/>
          </p:nvSpPr>
          <p:spPr bwMode="auto">
            <a:xfrm>
              <a:off x="2334" y="3013"/>
              <a:ext cx="511" cy="3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>
                  <a:latin typeface="Times New Roman" pitchFamily="18" charset="0"/>
                </a:rPr>
                <a:t>  </a:t>
              </a:r>
              <a:r>
                <a:rPr lang="en-US" sz="1200">
                  <a:latin typeface="Times New Roman" pitchFamily="18" charset="0"/>
                </a:rPr>
                <a:t>2.4 m</a:t>
              </a:r>
            </a:p>
            <a:p>
              <a:r>
                <a:rPr lang="en-US" sz="1200">
                  <a:latin typeface="Times New Roman" pitchFamily="18" charset="0"/>
                </a:rPr>
                <a:t>Matching</a:t>
              </a:r>
            </a:p>
          </p:txBody>
        </p:sp>
        <p:sp>
          <p:nvSpPr>
            <p:cNvPr id="105507" name="Line 21"/>
            <p:cNvSpPr>
              <a:spLocks noChangeShapeType="1"/>
            </p:cNvSpPr>
            <p:nvPr/>
          </p:nvSpPr>
          <p:spPr bwMode="auto">
            <a:xfrm flipV="1">
              <a:off x="3615" y="3187"/>
              <a:ext cx="603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5508" name="Rectangle 23"/>
            <p:cNvSpPr>
              <a:spLocks noChangeArrowheads="1"/>
            </p:cNvSpPr>
            <p:nvPr/>
          </p:nvSpPr>
          <p:spPr bwMode="auto">
            <a:xfrm>
              <a:off x="3638" y="3035"/>
              <a:ext cx="560" cy="3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>
                  <a:latin typeface="Times New Roman" pitchFamily="18" charset="0"/>
                </a:rPr>
                <a:t>  </a:t>
              </a:r>
              <a:r>
                <a:rPr lang="en-US" sz="1200">
                  <a:latin typeface="Times New Roman" pitchFamily="18" charset="0"/>
                </a:rPr>
                <a:t>2.4 m</a:t>
              </a:r>
            </a:p>
            <a:p>
              <a:r>
                <a:rPr lang="en-US" sz="1200">
                  <a:latin typeface="Times New Roman" pitchFamily="18" charset="0"/>
                </a:rPr>
                <a:t>Matching</a:t>
              </a:r>
            </a:p>
          </p:txBody>
        </p:sp>
        <p:sp>
          <p:nvSpPr>
            <p:cNvPr id="105509" name="Line 25"/>
            <p:cNvSpPr>
              <a:spLocks noChangeShapeType="1"/>
            </p:cNvSpPr>
            <p:nvPr/>
          </p:nvSpPr>
          <p:spPr bwMode="auto">
            <a:xfrm>
              <a:off x="2244" y="2784"/>
              <a:ext cx="0" cy="160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5510" name="Line 26"/>
            <p:cNvSpPr>
              <a:spLocks noChangeShapeType="1"/>
            </p:cNvSpPr>
            <p:nvPr/>
          </p:nvSpPr>
          <p:spPr bwMode="auto">
            <a:xfrm>
              <a:off x="1612" y="2780"/>
              <a:ext cx="0" cy="160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5511" name="Line 27"/>
            <p:cNvSpPr>
              <a:spLocks noChangeShapeType="1"/>
            </p:cNvSpPr>
            <p:nvPr/>
          </p:nvSpPr>
          <p:spPr bwMode="auto">
            <a:xfrm>
              <a:off x="2956" y="2732"/>
              <a:ext cx="0" cy="12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5512" name="Line 28"/>
            <p:cNvSpPr>
              <a:spLocks noChangeShapeType="1"/>
            </p:cNvSpPr>
            <p:nvPr/>
          </p:nvSpPr>
          <p:spPr bwMode="auto">
            <a:xfrm>
              <a:off x="3144" y="2856"/>
              <a:ext cx="0" cy="12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5513" name="Line 29"/>
            <p:cNvSpPr>
              <a:spLocks noChangeShapeType="1"/>
            </p:cNvSpPr>
            <p:nvPr/>
          </p:nvSpPr>
          <p:spPr bwMode="auto">
            <a:xfrm>
              <a:off x="3328" y="2740"/>
              <a:ext cx="0" cy="12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5514" name="Line 30"/>
            <p:cNvSpPr>
              <a:spLocks noChangeShapeType="1"/>
            </p:cNvSpPr>
            <p:nvPr/>
          </p:nvSpPr>
          <p:spPr bwMode="auto">
            <a:xfrm>
              <a:off x="3552" y="2848"/>
              <a:ext cx="0" cy="12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5515" name="Line 31"/>
            <p:cNvSpPr>
              <a:spLocks noChangeShapeType="1"/>
            </p:cNvSpPr>
            <p:nvPr/>
          </p:nvSpPr>
          <p:spPr bwMode="auto">
            <a:xfrm flipV="1">
              <a:off x="2880" y="2785"/>
              <a:ext cx="0" cy="1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5516" name="Line 32"/>
            <p:cNvSpPr>
              <a:spLocks noChangeShapeType="1"/>
            </p:cNvSpPr>
            <p:nvPr/>
          </p:nvSpPr>
          <p:spPr bwMode="auto">
            <a:xfrm flipV="1">
              <a:off x="3619" y="2787"/>
              <a:ext cx="0" cy="1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5517" name="Line 33"/>
            <p:cNvSpPr>
              <a:spLocks noChangeShapeType="1"/>
            </p:cNvSpPr>
            <p:nvPr/>
          </p:nvSpPr>
          <p:spPr bwMode="auto">
            <a:xfrm>
              <a:off x="4376" y="2776"/>
              <a:ext cx="0" cy="160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5518" name="Line 34"/>
            <p:cNvSpPr>
              <a:spLocks noChangeShapeType="1"/>
            </p:cNvSpPr>
            <p:nvPr/>
          </p:nvSpPr>
          <p:spPr bwMode="auto">
            <a:xfrm>
              <a:off x="5036" y="2764"/>
              <a:ext cx="0" cy="160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5519" name="Text Box 40"/>
            <p:cNvSpPr txBox="1">
              <a:spLocks noChangeArrowheads="1"/>
            </p:cNvSpPr>
            <p:nvPr/>
          </p:nvSpPr>
          <p:spPr bwMode="auto">
            <a:xfrm>
              <a:off x="1526" y="2455"/>
              <a:ext cx="315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>
                  <a:solidFill>
                    <a:schemeClr val="folHlink"/>
                  </a:solidFill>
                  <a:latin typeface="Times New Roman" pitchFamily="18" charset="0"/>
                </a:rPr>
                <a:t>TF1</a:t>
              </a:r>
            </a:p>
          </p:txBody>
        </p:sp>
        <p:sp>
          <p:nvSpPr>
            <p:cNvPr id="105520" name="Text Box 41"/>
            <p:cNvSpPr txBox="1">
              <a:spLocks noChangeArrowheads="1"/>
            </p:cNvSpPr>
            <p:nvPr/>
          </p:nvSpPr>
          <p:spPr bwMode="auto">
            <a:xfrm>
              <a:off x="2102" y="2455"/>
              <a:ext cx="315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>
                  <a:solidFill>
                    <a:schemeClr val="folHlink"/>
                  </a:solidFill>
                  <a:latin typeface="Times New Roman" pitchFamily="18" charset="0"/>
                </a:rPr>
                <a:t>TF2</a:t>
              </a:r>
            </a:p>
          </p:txBody>
        </p:sp>
        <p:sp>
          <p:nvSpPr>
            <p:cNvPr id="105521" name="Text Box 42"/>
            <p:cNvSpPr txBox="1">
              <a:spLocks noChangeArrowheads="1"/>
            </p:cNvSpPr>
            <p:nvPr/>
          </p:nvSpPr>
          <p:spPr bwMode="auto">
            <a:xfrm>
              <a:off x="4214" y="2455"/>
              <a:ext cx="315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>
                  <a:solidFill>
                    <a:schemeClr val="folHlink"/>
                  </a:solidFill>
                  <a:latin typeface="Times New Roman" pitchFamily="18" charset="0"/>
                </a:rPr>
                <a:t>TF3</a:t>
              </a:r>
            </a:p>
          </p:txBody>
        </p:sp>
        <p:sp>
          <p:nvSpPr>
            <p:cNvPr id="105522" name="Text Box 43"/>
            <p:cNvSpPr txBox="1">
              <a:spLocks noChangeArrowheads="1"/>
            </p:cNvSpPr>
            <p:nvPr/>
          </p:nvSpPr>
          <p:spPr bwMode="auto">
            <a:xfrm>
              <a:off x="4886" y="2455"/>
              <a:ext cx="315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>
                  <a:solidFill>
                    <a:schemeClr val="folHlink"/>
                  </a:solidFill>
                  <a:latin typeface="Times New Roman" pitchFamily="18" charset="0"/>
                </a:rPr>
                <a:t>TF4</a:t>
              </a:r>
            </a:p>
          </p:txBody>
        </p:sp>
        <p:sp>
          <p:nvSpPr>
            <p:cNvPr id="105523" name="Text Box 44"/>
            <p:cNvSpPr txBox="1">
              <a:spLocks noChangeArrowheads="1"/>
            </p:cNvSpPr>
            <p:nvPr/>
          </p:nvSpPr>
          <p:spPr bwMode="auto">
            <a:xfrm>
              <a:off x="2880" y="3024"/>
              <a:ext cx="756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>
                  <a:solidFill>
                    <a:schemeClr val="accent2"/>
                  </a:solidFill>
                  <a:latin typeface="Times New Roman" pitchFamily="18" charset="0"/>
                </a:rPr>
                <a:t>S1  S2  S3  S4</a:t>
              </a:r>
            </a:p>
          </p:txBody>
        </p:sp>
      </p:grpSp>
      <p:sp>
        <p:nvSpPr>
          <p:cNvPr id="105481" name="Rectangle 49"/>
          <p:cNvSpPr>
            <a:spLocks noChangeArrowheads="1"/>
          </p:cNvSpPr>
          <p:nvPr/>
        </p:nvSpPr>
        <p:spPr bwMode="auto">
          <a:xfrm>
            <a:off x="8534400" y="1981200"/>
            <a:ext cx="152400" cy="4572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05482" name="Rectangle 50"/>
          <p:cNvSpPr>
            <a:spLocks noChangeArrowheads="1"/>
          </p:cNvSpPr>
          <p:nvPr/>
        </p:nvSpPr>
        <p:spPr bwMode="auto">
          <a:xfrm>
            <a:off x="8534400" y="4267200"/>
            <a:ext cx="152400" cy="4572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05483" name="Text Box 51"/>
          <p:cNvSpPr txBox="1">
            <a:spLocks noChangeArrowheads="1"/>
          </p:cNvSpPr>
          <p:nvPr/>
        </p:nvSpPr>
        <p:spPr bwMode="auto">
          <a:xfrm>
            <a:off x="8289925" y="1306513"/>
            <a:ext cx="600075" cy="51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latin typeface="Times New Roman" pitchFamily="18" charset="0"/>
              </a:rPr>
              <a:t>Beam</a:t>
            </a:r>
          </a:p>
          <a:p>
            <a:r>
              <a:rPr lang="en-US" sz="1400">
                <a:latin typeface="Times New Roman" pitchFamily="18" charset="0"/>
              </a:rPr>
              <a:t>Stop</a:t>
            </a:r>
          </a:p>
        </p:txBody>
      </p:sp>
      <p:sp>
        <p:nvSpPr>
          <p:cNvPr id="105484" name="Line 52"/>
          <p:cNvSpPr>
            <a:spLocks noChangeShapeType="1"/>
          </p:cNvSpPr>
          <p:nvPr/>
        </p:nvSpPr>
        <p:spPr bwMode="auto">
          <a:xfrm>
            <a:off x="7086600" y="20574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5485" name="Line 53"/>
          <p:cNvSpPr>
            <a:spLocks noChangeShapeType="1"/>
          </p:cNvSpPr>
          <p:nvPr/>
        </p:nvSpPr>
        <p:spPr bwMode="auto">
          <a:xfrm>
            <a:off x="7086600" y="23622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5486" name="Text Box 54"/>
          <p:cNvSpPr txBox="1">
            <a:spLocks noChangeArrowheads="1"/>
          </p:cNvSpPr>
          <p:nvPr/>
        </p:nvSpPr>
        <p:spPr bwMode="auto">
          <a:xfrm>
            <a:off x="7315200" y="1752600"/>
            <a:ext cx="550863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latin typeface="Times New Roman" pitchFamily="18" charset="0"/>
              </a:rPr>
              <a:t>Rails</a:t>
            </a:r>
          </a:p>
        </p:txBody>
      </p:sp>
      <p:sp>
        <p:nvSpPr>
          <p:cNvPr id="105487" name="Text Box 55"/>
          <p:cNvSpPr txBox="1">
            <a:spLocks noChangeArrowheads="1"/>
          </p:cNvSpPr>
          <p:nvPr/>
        </p:nvSpPr>
        <p:spPr bwMode="auto">
          <a:xfrm>
            <a:off x="657225" y="2586038"/>
            <a:ext cx="26860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latin typeface="Times New Roman" pitchFamily="18" charset="0"/>
              </a:rPr>
              <a:t>Full MICE Setup (Step 6)</a:t>
            </a:r>
          </a:p>
        </p:txBody>
      </p:sp>
      <p:sp>
        <p:nvSpPr>
          <p:cNvPr id="105488" name="Text Box 56"/>
          <p:cNvSpPr txBox="1">
            <a:spLocks noChangeArrowheads="1"/>
          </p:cNvSpPr>
          <p:nvPr/>
        </p:nvSpPr>
        <p:spPr bwMode="auto">
          <a:xfrm>
            <a:off x="2640013" y="1509713"/>
            <a:ext cx="46386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>
                <a:latin typeface="Times New Roman" pitchFamily="18" charset="0"/>
              </a:rPr>
              <a:t>Tracker   Cool  RF    Cool   RF   Cool Tracker     EMR</a:t>
            </a:r>
          </a:p>
        </p:txBody>
      </p:sp>
      <p:sp>
        <p:nvSpPr>
          <p:cNvPr id="105489" name="Line 57"/>
          <p:cNvSpPr>
            <a:spLocks noChangeShapeType="1"/>
          </p:cNvSpPr>
          <p:nvPr/>
        </p:nvSpPr>
        <p:spPr bwMode="auto">
          <a:xfrm>
            <a:off x="3630613" y="2776538"/>
            <a:ext cx="21304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05490" name="Text Box 58"/>
          <p:cNvSpPr txBox="1">
            <a:spLocks noChangeArrowheads="1"/>
          </p:cNvSpPr>
          <p:nvPr/>
        </p:nvSpPr>
        <p:spPr bwMode="auto">
          <a:xfrm>
            <a:off x="4202113" y="2776538"/>
            <a:ext cx="506412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>
                <a:latin typeface="Times New Roman" pitchFamily="18" charset="0"/>
              </a:rPr>
              <a:t>6 m</a:t>
            </a:r>
          </a:p>
        </p:txBody>
      </p:sp>
      <p:sp>
        <p:nvSpPr>
          <p:cNvPr id="105491" name="Line 59"/>
          <p:cNvSpPr>
            <a:spLocks noChangeShapeType="1"/>
          </p:cNvSpPr>
          <p:nvPr/>
        </p:nvSpPr>
        <p:spPr bwMode="auto">
          <a:xfrm flipV="1">
            <a:off x="3630613" y="2362200"/>
            <a:ext cx="0" cy="590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5492" name="Line 60"/>
          <p:cNvSpPr>
            <a:spLocks noChangeShapeType="1"/>
          </p:cNvSpPr>
          <p:nvPr/>
        </p:nvSpPr>
        <p:spPr bwMode="auto">
          <a:xfrm>
            <a:off x="5761038" y="2362200"/>
            <a:ext cx="0" cy="590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5493" name="Line 61"/>
          <p:cNvSpPr>
            <a:spLocks noChangeShapeType="1"/>
          </p:cNvSpPr>
          <p:nvPr/>
        </p:nvSpPr>
        <p:spPr bwMode="auto">
          <a:xfrm>
            <a:off x="3582988" y="4748213"/>
            <a:ext cx="0" cy="9382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5494" name="Line 62"/>
          <p:cNvSpPr>
            <a:spLocks noChangeShapeType="1"/>
          </p:cNvSpPr>
          <p:nvPr/>
        </p:nvSpPr>
        <p:spPr bwMode="auto">
          <a:xfrm>
            <a:off x="6697663" y="4748213"/>
            <a:ext cx="0" cy="9382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5495" name="Line 63"/>
          <p:cNvSpPr>
            <a:spLocks noChangeShapeType="1"/>
          </p:cNvSpPr>
          <p:nvPr/>
        </p:nvSpPr>
        <p:spPr bwMode="auto">
          <a:xfrm>
            <a:off x="3582988" y="5473700"/>
            <a:ext cx="31146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05496" name="Text Box 64"/>
          <p:cNvSpPr txBox="1">
            <a:spLocks noChangeArrowheads="1"/>
          </p:cNvSpPr>
          <p:nvPr/>
        </p:nvSpPr>
        <p:spPr bwMode="auto">
          <a:xfrm>
            <a:off x="4633913" y="5200650"/>
            <a:ext cx="506412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>
                <a:latin typeface="Times New Roman" pitchFamily="18" charset="0"/>
              </a:rPr>
              <a:t>8 m</a:t>
            </a:r>
          </a:p>
        </p:txBody>
      </p:sp>
      <p:sp>
        <p:nvSpPr>
          <p:cNvPr id="105497" name="Line 65"/>
          <p:cNvSpPr>
            <a:spLocks noChangeShapeType="1"/>
          </p:cNvSpPr>
          <p:nvPr/>
        </p:nvSpPr>
        <p:spPr bwMode="auto">
          <a:xfrm>
            <a:off x="8534400" y="2438400"/>
            <a:ext cx="0" cy="514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5498" name="Line 66"/>
          <p:cNvSpPr>
            <a:spLocks noChangeShapeType="1"/>
          </p:cNvSpPr>
          <p:nvPr/>
        </p:nvSpPr>
        <p:spPr bwMode="auto">
          <a:xfrm>
            <a:off x="6980238" y="2362200"/>
            <a:ext cx="0" cy="590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5499" name="Line 67"/>
          <p:cNvSpPr>
            <a:spLocks noChangeShapeType="1"/>
          </p:cNvSpPr>
          <p:nvPr/>
        </p:nvSpPr>
        <p:spPr bwMode="auto">
          <a:xfrm>
            <a:off x="6980238" y="2776538"/>
            <a:ext cx="155416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05500" name="Text Box 68"/>
          <p:cNvSpPr txBox="1">
            <a:spLocks noChangeArrowheads="1"/>
          </p:cNvSpPr>
          <p:nvPr/>
        </p:nvSpPr>
        <p:spPr bwMode="auto">
          <a:xfrm>
            <a:off x="7399338" y="2784475"/>
            <a:ext cx="658812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>
                <a:latin typeface="Times New Roman" pitchFamily="18" charset="0"/>
              </a:rPr>
              <a:t>5.5 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Feb. 4 2009 </a:t>
            </a:r>
          </a:p>
        </p:txBody>
      </p:sp>
      <p:sp>
        <p:nvSpPr>
          <p:cNvPr id="107522" name="Footer Placeholder 4"/>
          <p:cNvSpPr>
            <a:spLocks noGrp="1"/>
          </p:cNvSpPr>
          <p:nvPr>
            <p:ph type="ftr" sz="quarter" idx="12"/>
          </p:nvPr>
        </p:nvSpPr>
        <p:spPr>
          <a:xfrm>
            <a:off x="7239000" y="6477000"/>
            <a:ext cx="1905000" cy="381000"/>
          </a:xfrm>
          <a:noFill/>
        </p:spPr>
        <p:txBody>
          <a:bodyPr/>
          <a:lstStyle/>
          <a:p>
            <a:r>
              <a:rPr lang="en-US" sz="1400" smtClean="0"/>
              <a:t>Abrams-AAC</a:t>
            </a:r>
          </a:p>
        </p:txBody>
      </p:sp>
      <p:sp>
        <p:nvSpPr>
          <p:cNvPr id="107523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2209800" y="6477000"/>
            <a:ext cx="5029200" cy="381000"/>
          </a:xfrm>
          <a:noFill/>
        </p:spPr>
        <p:txBody>
          <a:bodyPr/>
          <a:lstStyle/>
          <a:p>
            <a:fld id="{D2762F7F-C4A8-4044-BC81-67A0ADE70E2A}" type="slidenum">
              <a:rPr lang="en-US" sz="1200" smtClean="0"/>
              <a:pPr/>
              <a:t>9</a:t>
            </a:fld>
            <a:endParaRPr lang="en-US" sz="1200" smtClean="0"/>
          </a:p>
        </p:txBody>
      </p:sp>
      <p:sp>
        <p:nvSpPr>
          <p:cNvPr id="10752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New MANX Detectors</a:t>
            </a:r>
          </a:p>
        </p:txBody>
      </p:sp>
      <p:sp>
        <p:nvSpPr>
          <p:cNvPr id="107525" name="Rectangle 8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Fast TOF Counters</a:t>
            </a:r>
          </a:p>
          <a:p>
            <a:pPr lvl="1"/>
            <a:r>
              <a:rPr lang="en-US" smtClean="0"/>
              <a:t>Better determination of longitudinal component of momentum </a:t>
            </a:r>
          </a:p>
          <a:p>
            <a:pPr lvl="1"/>
            <a:r>
              <a:rPr lang="en-US" smtClean="0"/>
              <a:t>Improves computation of 6D emittance</a:t>
            </a:r>
          </a:p>
          <a:p>
            <a:pPr lvl="1"/>
            <a:r>
              <a:rPr lang="en-US" smtClean="0"/>
              <a:t>MICE TOF ctrs </a:t>
            </a:r>
            <a:r>
              <a:rPr lang="en-US" smtClean="0">
                <a:sym typeface="Wingdings" pitchFamily="2" charset="2"/>
              </a:rPr>
              <a:t> 70psec resolution</a:t>
            </a:r>
          </a:p>
          <a:p>
            <a:pPr lvl="1"/>
            <a:r>
              <a:rPr lang="en-US" smtClean="0">
                <a:sym typeface="Wingdings" pitchFamily="2" charset="2"/>
              </a:rPr>
              <a:t>MANX MCP TOF (10 ps or better) counters can supplement or supplant MICE TOFs to improve resolution</a:t>
            </a:r>
            <a:endParaRPr lang="en-US" smtClean="0">
              <a:cs typeface="Arial" charset="0"/>
            </a:endParaRPr>
          </a:p>
          <a:p>
            <a:r>
              <a:rPr lang="en-US" smtClean="0"/>
              <a:t>Trackers inside HCC</a:t>
            </a:r>
          </a:p>
          <a:p>
            <a:pPr lvl="1"/>
            <a:r>
              <a:rPr lang="en-US" smtClean="0"/>
              <a:t>Better definition of trajectory inside HCC</a:t>
            </a:r>
          </a:p>
          <a:p>
            <a:pPr lvl="1"/>
            <a:r>
              <a:rPr lang="en-US" smtClean="0"/>
              <a:t>Measure emittance evolution inside HCC</a:t>
            </a:r>
          </a:p>
          <a:p>
            <a:pPr lvl="1"/>
            <a:r>
              <a:rPr lang="en-US" smtClean="0"/>
              <a:t>Calibration/verification with empty HCC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69" name="Date Placeholder 2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Feb. 4 2009 </a:t>
            </a:r>
          </a:p>
        </p:txBody>
      </p:sp>
      <p:sp>
        <p:nvSpPr>
          <p:cNvPr id="109570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7239000" y="6553200"/>
            <a:ext cx="1905000" cy="304800"/>
          </a:xfrm>
          <a:noFill/>
        </p:spPr>
        <p:txBody>
          <a:bodyPr/>
          <a:lstStyle/>
          <a:p>
            <a:pPr algn="r"/>
            <a:r>
              <a:rPr lang="en-US" sz="1400" smtClean="0"/>
              <a:t>Abrams-AAC</a:t>
            </a:r>
          </a:p>
        </p:txBody>
      </p:sp>
      <p:sp>
        <p:nvSpPr>
          <p:cNvPr id="109571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2209800" y="6477000"/>
            <a:ext cx="5029200" cy="381000"/>
          </a:xfrm>
          <a:noFill/>
        </p:spPr>
        <p:txBody>
          <a:bodyPr/>
          <a:lstStyle/>
          <a:p>
            <a:pPr algn="ctr"/>
            <a:fld id="{BD7E1339-D60E-4017-AC9A-C4566AF4EA62}" type="slidenum">
              <a:rPr lang="en-US" sz="1200" smtClean="0"/>
              <a:pPr algn="ctr"/>
              <a:t>10</a:t>
            </a:fld>
            <a:endParaRPr lang="en-US" sz="1200" smtClean="0"/>
          </a:p>
        </p:txBody>
      </p:sp>
      <p:sp>
        <p:nvSpPr>
          <p:cNvPr id="10957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MCP TOF Detectors</a:t>
            </a:r>
          </a:p>
        </p:txBody>
      </p:sp>
      <p:sp>
        <p:nvSpPr>
          <p:cNvPr id="109573" name="Rectangle 5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0" y="1239838"/>
            <a:ext cx="4038600" cy="452596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1800" dirty="0" smtClean="0"/>
              <a:t>Concept (Frisch et al)</a:t>
            </a:r>
          </a:p>
          <a:p>
            <a:pPr lvl="1">
              <a:lnSpc>
                <a:spcPct val="90000"/>
              </a:lnSpc>
            </a:pPr>
            <a:r>
              <a:rPr lang="en-US" sz="1600" dirty="0" smtClean="0"/>
              <a:t>Goal: 5-10 ps resolution</a:t>
            </a:r>
          </a:p>
          <a:p>
            <a:pPr lvl="1">
              <a:lnSpc>
                <a:spcPct val="90000"/>
              </a:lnSpc>
            </a:pPr>
            <a:r>
              <a:rPr lang="en-US" sz="1600" dirty="0" smtClean="0"/>
              <a:t>MTBF tests achieved: 13 ps</a:t>
            </a:r>
          </a:p>
          <a:p>
            <a:pPr lvl="1">
              <a:lnSpc>
                <a:spcPct val="90000"/>
              </a:lnSpc>
            </a:pPr>
            <a:r>
              <a:rPr lang="en-US" sz="1600" dirty="0" smtClean="0"/>
              <a:t>5 cm x 5 cm tiles</a:t>
            </a:r>
          </a:p>
          <a:p>
            <a:pPr lvl="1">
              <a:lnSpc>
                <a:spcPct val="90000"/>
              </a:lnSpc>
            </a:pPr>
            <a:r>
              <a:rPr lang="en-US" sz="1600" dirty="0" smtClean="0"/>
              <a:t>2mm x 2mm anodes</a:t>
            </a:r>
          </a:p>
          <a:p>
            <a:pPr lvl="2">
              <a:lnSpc>
                <a:spcPct val="90000"/>
              </a:lnSpc>
            </a:pPr>
            <a:r>
              <a:rPr lang="en-US" sz="1400" dirty="0" smtClean="0"/>
              <a:t>Good space resolution</a:t>
            </a:r>
          </a:p>
          <a:p>
            <a:pPr lvl="1">
              <a:lnSpc>
                <a:spcPct val="90000"/>
              </a:lnSpc>
            </a:pPr>
            <a:r>
              <a:rPr lang="en-US" sz="1600" dirty="0" smtClean="0"/>
              <a:t>Anode unit has transmission lines and time digitizers</a:t>
            </a:r>
          </a:p>
          <a:p>
            <a:pPr lvl="1">
              <a:lnSpc>
                <a:spcPct val="90000"/>
              </a:lnSpc>
            </a:pPr>
            <a:r>
              <a:rPr lang="en-US" sz="1600" dirty="0" smtClean="0"/>
              <a:t>DAQ, FPGA, custom chips in progress</a:t>
            </a:r>
          </a:p>
          <a:p>
            <a:pPr>
              <a:lnSpc>
                <a:spcPct val="90000"/>
              </a:lnSpc>
            </a:pPr>
            <a:r>
              <a:rPr lang="en-US" sz="1800" dirty="0" smtClean="0"/>
              <a:t>International </a:t>
            </a:r>
            <a:r>
              <a:rPr lang="en-US" sz="1800" dirty="0" err="1" smtClean="0"/>
              <a:t>Psec</a:t>
            </a:r>
            <a:r>
              <a:rPr lang="en-US" sz="1800" dirty="0" smtClean="0"/>
              <a:t> Timing  Collaboration</a:t>
            </a:r>
          </a:p>
          <a:p>
            <a:pPr lvl="1">
              <a:lnSpc>
                <a:spcPct val="90000"/>
              </a:lnSpc>
            </a:pPr>
            <a:r>
              <a:rPr lang="en-US" sz="1600" dirty="0" smtClean="0"/>
              <a:t>Advancing the art toward 1 </a:t>
            </a:r>
            <a:r>
              <a:rPr lang="en-US" sz="1600" dirty="0" err="1" smtClean="0"/>
              <a:t>psec</a:t>
            </a:r>
            <a:r>
              <a:rPr lang="en-US" sz="1600" dirty="0" smtClean="0"/>
              <a:t> goal</a:t>
            </a:r>
          </a:p>
          <a:p>
            <a:pPr lvl="1">
              <a:lnSpc>
                <a:spcPct val="90000"/>
              </a:lnSpc>
            </a:pPr>
            <a:r>
              <a:rPr lang="en-US" sz="1600" dirty="0" smtClean="0"/>
              <a:t>Medical applications, e.g. PET scanners</a:t>
            </a:r>
          </a:p>
          <a:p>
            <a:pPr lvl="1">
              <a:lnSpc>
                <a:spcPct val="90000"/>
              </a:lnSpc>
            </a:pPr>
            <a:r>
              <a:rPr lang="en-US" sz="1600" dirty="0" smtClean="0"/>
              <a:t>Other HEP applications</a:t>
            </a:r>
          </a:p>
          <a:p>
            <a:pPr lvl="1">
              <a:lnSpc>
                <a:spcPct val="90000"/>
              </a:lnSpc>
              <a:buFontTx/>
              <a:buNone/>
            </a:pPr>
            <a:endParaRPr lang="en-US" sz="1600" dirty="0" smtClean="0"/>
          </a:p>
        </p:txBody>
      </p:sp>
      <p:pic>
        <p:nvPicPr>
          <p:cNvPr id="109574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84613" y="1295400"/>
            <a:ext cx="3049587" cy="1982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9575" name="Picture 7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234238" y="1525588"/>
            <a:ext cx="1671637" cy="163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9576" name="Text Box 8"/>
          <p:cNvSpPr txBox="1">
            <a:spLocks noChangeArrowheads="1"/>
          </p:cNvSpPr>
          <p:nvPr/>
        </p:nvSpPr>
        <p:spPr bwMode="auto">
          <a:xfrm>
            <a:off x="4038600" y="3124201"/>
            <a:ext cx="4876799" cy="5027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baseline="-25000" dirty="0" err="1">
                <a:latin typeface="Times New Roman" pitchFamily="18" charset="0"/>
              </a:rPr>
              <a:t>MgF</a:t>
            </a:r>
            <a:r>
              <a:rPr lang="en-US" baseline="-25000" dirty="0">
                <a:latin typeface="Times New Roman" pitchFamily="18" charset="0"/>
              </a:rPr>
              <a:t>    Cathode   MCP        </a:t>
            </a:r>
            <a:r>
              <a:rPr lang="en-US" baseline="-25000" dirty="0" smtClean="0">
                <a:latin typeface="Times New Roman" pitchFamily="18" charset="0"/>
              </a:rPr>
              <a:t>Anode/ </a:t>
            </a:r>
            <a:r>
              <a:rPr lang="en-US" baseline="-25000" dirty="0" err="1" smtClean="0">
                <a:latin typeface="Times New Roman" pitchFamily="18" charset="0"/>
              </a:rPr>
              <a:t>transmline</a:t>
            </a:r>
            <a:r>
              <a:rPr lang="en-US" baseline="-25000" dirty="0">
                <a:latin typeface="Times New Roman" pitchFamily="18" charset="0"/>
              </a:rPr>
              <a:t>/</a:t>
            </a:r>
          </a:p>
          <a:p>
            <a:r>
              <a:rPr lang="en-US" baseline="-25000" dirty="0">
                <a:latin typeface="Times New Roman" pitchFamily="18" charset="0"/>
              </a:rPr>
              <a:t>                                            </a:t>
            </a:r>
          </a:p>
        </p:txBody>
      </p:sp>
      <p:sp>
        <p:nvSpPr>
          <p:cNvPr id="109577" name="Text Box 11"/>
          <p:cNvSpPr txBox="1">
            <a:spLocks noChangeArrowheads="1"/>
          </p:cNvSpPr>
          <p:nvPr/>
        </p:nvSpPr>
        <p:spPr bwMode="auto">
          <a:xfrm>
            <a:off x="7391400" y="3429000"/>
            <a:ext cx="1419225" cy="596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600" baseline="-25000" dirty="0">
                <a:latin typeface="Times New Roman" pitchFamily="18" charset="0"/>
              </a:rPr>
              <a:t>Anode layout</a:t>
            </a:r>
          </a:p>
          <a:p>
            <a:r>
              <a:rPr lang="en-US" sz="1600" baseline="-25000" dirty="0">
                <a:latin typeface="Times New Roman" pitchFamily="18" charset="0"/>
              </a:rPr>
              <a:t>Designed for equal times for signals</a:t>
            </a:r>
          </a:p>
        </p:txBody>
      </p:sp>
      <p:sp>
        <p:nvSpPr>
          <p:cNvPr id="109578" name="Rectangle 12"/>
          <p:cNvSpPr>
            <a:spLocks noChangeArrowheads="1"/>
          </p:cNvSpPr>
          <p:nvPr/>
        </p:nvSpPr>
        <p:spPr bwMode="auto">
          <a:xfrm>
            <a:off x="4038600" y="4419600"/>
            <a:ext cx="4572000" cy="10795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600" dirty="0">
                <a:latin typeface="Times New Roman" pitchFamily="18" charset="0"/>
              </a:rPr>
              <a:t>Tom Roberts, Valentine </a:t>
            </a:r>
            <a:r>
              <a:rPr lang="en-US" sz="1600" dirty="0" err="1">
                <a:latin typeface="Times New Roman" pitchFamily="18" charset="0"/>
              </a:rPr>
              <a:t>Ivanov</a:t>
            </a:r>
            <a:r>
              <a:rPr lang="en-US" sz="1600" dirty="0">
                <a:latin typeface="Times New Roman" pitchFamily="18" charset="0"/>
              </a:rPr>
              <a:t> (Muons, Inc.) and Henry Frisch (U. Chicago) have submitted an SBIR proposal for G4BL simulation of MCP gain for TOF counters with </a:t>
            </a:r>
            <a:r>
              <a:rPr lang="en-US" sz="1600" dirty="0" err="1">
                <a:latin typeface="Times New Roman" pitchFamily="18" charset="0"/>
              </a:rPr>
              <a:t>microchannel</a:t>
            </a:r>
            <a:r>
              <a:rPr lang="en-US" sz="1600" dirty="0">
                <a:latin typeface="Times New Roman" pitchFamily="18" charset="0"/>
              </a:rPr>
              <a:t> plates.</a:t>
            </a:r>
          </a:p>
        </p:txBody>
      </p:sp>
      <p:sp>
        <p:nvSpPr>
          <p:cNvPr id="109580" name="Rectangle 12"/>
          <p:cNvSpPr>
            <a:spLocks noChangeArrowheads="1"/>
          </p:cNvSpPr>
          <p:nvPr/>
        </p:nvSpPr>
        <p:spPr bwMode="auto">
          <a:xfrm>
            <a:off x="3276600" y="5638800"/>
            <a:ext cx="5638800" cy="646331"/>
          </a:xfrm>
          <a:prstGeom prst="rect">
            <a:avLst/>
          </a:prstGeom>
          <a:noFill/>
          <a:ln w="9525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itchFamily="18" charset="0"/>
              </a:rPr>
              <a:t>Low-cost large-area </a:t>
            </a:r>
            <a:r>
              <a:rPr lang="en-US" sz="1600" dirty="0" err="1">
                <a:latin typeface="Times New Roman" pitchFamily="18" charset="0"/>
              </a:rPr>
              <a:t>nanoporeMCP</a:t>
            </a:r>
            <a:r>
              <a:rPr lang="en-US" sz="1600" dirty="0">
                <a:latin typeface="Times New Roman" pitchFamily="18" charset="0"/>
              </a:rPr>
              <a:t> materials </a:t>
            </a:r>
          </a:p>
          <a:p>
            <a:r>
              <a:rPr lang="en-US" sz="1600" dirty="0">
                <a:latin typeface="Times New Roman" pitchFamily="18" charset="0"/>
              </a:rPr>
              <a:t>in development </a:t>
            </a:r>
            <a:r>
              <a:rPr lang="en-US" sz="1600" dirty="0"/>
              <a:t>at ANL</a:t>
            </a:r>
            <a:r>
              <a:rPr lang="en-US" dirty="0"/>
              <a:t>: </a:t>
            </a:r>
            <a:r>
              <a:rPr lang="en-US" sz="1600" dirty="0"/>
              <a:t>alternative to </a:t>
            </a:r>
            <a:r>
              <a:rPr lang="en-US" sz="1600" dirty="0" smtClean="0"/>
              <a:t>commercial </a:t>
            </a:r>
            <a:r>
              <a:rPr lang="en-US" sz="1600" dirty="0"/>
              <a:t>MCPs</a:t>
            </a:r>
          </a:p>
        </p:txBody>
      </p:sp>
      <p:sp>
        <p:nvSpPr>
          <p:cNvPr id="109581" name="Rectangle 13"/>
          <p:cNvSpPr>
            <a:spLocks noChangeArrowheads="1"/>
          </p:cNvSpPr>
          <p:nvPr/>
        </p:nvSpPr>
        <p:spPr bwMode="auto">
          <a:xfrm>
            <a:off x="4038600" y="1295400"/>
            <a:ext cx="4953000" cy="2819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7" name="Date Placeholder 2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Feb. 4 2009 </a:t>
            </a:r>
          </a:p>
        </p:txBody>
      </p:sp>
      <p:sp>
        <p:nvSpPr>
          <p:cNvPr id="111618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7239000" y="6553200"/>
            <a:ext cx="1905000" cy="304800"/>
          </a:xfrm>
          <a:noFill/>
        </p:spPr>
        <p:txBody>
          <a:bodyPr/>
          <a:lstStyle/>
          <a:p>
            <a:pPr algn="r"/>
            <a:r>
              <a:rPr lang="en-US" sz="1400" smtClean="0"/>
              <a:t>Abrams-AAC</a:t>
            </a:r>
          </a:p>
        </p:txBody>
      </p:sp>
      <p:sp>
        <p:nvSpPr>
          <p:cNvPr id="111619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2209800" y="6477000"/>
            <a:ext cx="5029200" cy="381000"/>
          </a:xfrm>
          <a:noFill/>
        </p:spPr>
        <p:txBody>
          <a:bodyPr/>
          <a:lstStyle/>
          <a:p>
            <a:pPr algn="ctr"/>
            <a:fld id="{C1BA8143-308B-4553-BD47-D4F8720A2421}" type="slidenum">
              <a:rPr lang="en-US" sz="1200" smtClean="0"/>
              <a:pPr algn="ctr"/>
              <a:t>11</a:t>
            </a:fld>
            <a:endParaRPr lang="en-US" sz="1200" smtClean="0"/>
          </a:p>
        </p:txBody>
      </p:sp>
      <p:sp>
        <p:nvSpPr>
          <p:cNvPr id="111620" name="Rectangle 4"/>
          <p:cNvSpPr>
            <a:spLocks noGrp="1" noChangeArrowheads="1"/>
          </p:cNvSpPr>
          <p:nvPr>
            <p:ph type="title"/>
          </p:nvPr>
        </p:nvSpPr>
        <p:spPr>
          <a:xfrm>
            <a:off x="1295400" y="0"/>
            <a:ext cx="7848600" cy="762000"/>
          </a:xfrm>
        </p:spPr>
        <p:txBody>
          <a:bodyPr/>
          <a:lstStyle/>
          <a:p>
            <a:r>
              <a:rPr lang="en-US" smtClean="0"/>
              <a:t>MCP TOF Counters for Better P</a:t>
            </a:r>
            <a:r>
              <a:rPr lang="en-US" baseline="-25000" smtClean="0"/>
              <a:t>L</a:t>
            </a:r>
          </a:p>
        </p:txBody>
      </p:sp>
      <p:pic>
        <p:nvPicPr>
          <p:cNvPr id="111621" name="P 3" descr="run_150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39763" y="1208088"/>
            <a:ext cx="3822700" cy="241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1622" name="Rectangle 7"/>
          <p:cNvSpPr>
            <a:spLocks noChangeArrowheads="1"/>
          </p:cNvSpPr>
          <p:nvPr/>
        </p:nvSpPr>
        <p:spPr bwMode="auto">
          <a:xfrm>
            <a:off x="4724400" y="1600200"/>
            <a:ext cx="3916363" cy="1262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800"/>
              <a:t>Example:</a:t>
            </a:r>
          </a:p>
          <a:p>
            <a:r>
              <a:rPr lang="en-US" sz="1800"/>
              <a:t>p = 300 MeV/c muon, </a:t>
            </a:r>
            <a:r>
              <a:rPr lang="el-GR" sz="1800"/>
              <a:t>γ</a:t>
            </a:r>
            <a:r>
              <a:rPr lang="en-US" sz="1800"/>
              <a:t>=3, </a:t>
            </a:r>
            <a:r>
              <a:rPr lang="el-GR" sz="1800"/>
              <a:t>β</a:t>
            </a:r>
            <a:r>
              <a:rPr lang="en-US" sz="1800"/>
              <a:t> = 0.94</a:t>
            </a:r>
            <a:endParaRPr lang="el-GR" sz="1800"/>
          </a:p>
          <a:p>
            <a:r>
              <a:rPr lang="en-US" sz="1800"/>
              <a:t>For L=3m, t = 10.6 ns</a:t>
            </a:r>
          </a:p>
          <a:p>
            <a:endParaRPr lang="el-GR"/>
          </a:p>
        </p:txBody>
      </p:sp>
      <p:sp>
        <p:nvSpPr>
          <p:cNvPr id="111623" name="Rectangle 9"/>
          <p:cNvSpPr>
            <a:spLocks noChangeArrowheads="1"/>
          </p:cNvSpPr>
          <p:nvPr/>
        </p:nvSpPr>
        <p:spPr bwMode="auto">
          <a:xfrm>
            <a:off x="4765675" y="2438400"/>
            <a:ext cx="4378325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l-GR" sz="1800"/>
              <a:t>Δ</a:t>
            </a:r>
            <a:r>
              <a:rPr lang="en-US" sz="1800"/>
              <a:t>p/p = </a:t>
            </a:r>
            <a:r>
              <a:rPr lang="el-GR" sz="1800"/>
              <a:t>γ</a:t>
            </a:r>
            <a:r>
              <a:rPr lang="en-US" sz="1800" baseline="30000"/>
              <a:t>2</a:t>
            </a:r>
            <a:r>
              <a:rPr lang="en-US" sz="1800"/>
              <a:t> </a:t>
            </a:r>
            <a:r>
              <a:rPr lang="el-GR" sz="1800"/>
              <a:t>Δ</a:t>
            </a:r>
            <a:r>
              <a:rPr lang="en-US" sz="1800"/>
              <a:t>t/t </a:t>
            </a:r>
          </a:p>
          <a:p>
            <a:r>
              <a:rPr lang="en-US" sz="1800"/>
              <a:t>Then</a:t>
            </a:r>
          </a:p>
          <a:p>
            <a:r>
              <a:rPr lang="en-US" sz="1800"/>
              <a:t>For </a:t>
            </a:r>
            <a:r>
              <a:rPr lang="el-GR" sz="1800"/>
              <a:t>Δ</a:t>
            </a:r>
            <a:r>
              <a:rPr lang="en-US" sz="1800"/>
              <a:t>t = 50 ps resolution: </a:t>
            </a:r>
            <a:r>
              <a:rPr lang="el-GR" sz="1800"/>
              <a:t>Δ</a:t>
            </a:r>
            <a:r>
              <a:rPr lang="en-US" sz="1800"/>
              <a:t>p/p = 4.3%</a:t>
            </a:r>
          </a:p>
          <a:p>
            <a:r>
              <a:rPr lang="en-US" sz="1800"/>
              <a:t>For </a:t>
            </a:r>
            <a:r>
              <a:rPr lang="el-GR" sz="1800"/>
              <a:t>Δ</a:t>
            </a:r>
            <a:r>
              <a:rPr lang="en-US" sz="1800"/>
              <a:t>t = 5 ps resolution: </a:t>
            </a:r>
            <a:r>
              <a:rPr lang="el-GR" sz="1800"/>
              <a:t>Δ</a:t>
            </a:r>
            <a:r>
              <a:rPr lang="en-US" sz="1800"/>
              <a:t>p/p = 0.43%</a:t>
            </a:r>
          </a:p>
        </p:txBody>
      </p:sp>
      <p:sp>
        <p:nvSpPr>
          <p:cNvPr id="111624" name="Text Box 11"/>
          <p:cNvSpPr txBox="1">
            <a:spLocks noChangeArrowheads="1"/>
          </p:cNvSpPr>
          <p:nvPr/>
        </p:nvSpPr>
        <p:spPr bwMode="auto">
          <a:xfrm>
            <a:off x="325438" y="4419600"/>
            <a:ext cx="8491537" cy="9255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1800"/>
              <a:t>TOF measurement of P</a:t>
            </a:r>
            <a:r>
              <a:rPr lang="en-US" sz="1800" baseline="-25000">
                <a:solidFill>
                  <a:schemeClr val="tx2"/>
                </a:solidFill>
              </a:rPr>
              <a:t>L</a:t>
            </a:r>
            <a:r>
              <a:rPr lang="en-US" sz="1800">
                <a:solidFill>
                  <a:schemeClr val="tx2"/>
                </a:solidFill>
              </a:rPr>
              <a:t> is complementary to measurement by MICE tracker:</a:t>
            </a:r>
          </a:p>
          <a:p>
            <a:pPr eaLnBrk="0" hangingPunct="0"/>
            <a:r>
              <a:rPr lang="en-US" sz="1800">
                <a:solidFill>
                  <a:schemeClr val="tx2"/>
                </a:solidFill>
              </a:rPr>
              <a:t> - MICE tracker measures P</a:t>
            </a:r>
            <a:r>
              <a:rPr lang="en-US" sz="1800" baseline="-25000">
                <a:solidFill>
                  <a:schemeClr val="tx2"/>
                </a:solidFill>
              </a:rPr>
              <a:t>T</a:t>
            </a:r>
            <a:r>
              <a:rPr lang="en-US" sz="1800">
                <a:solidFill>
                  <a:schemeClr val="tx2"/>
                </a:solidFill>
              </a:rPr>
              <a:t> and infers P</a:t>
            </a:r>
            <a:r>
              <a:rPr lang="en-US" sz="1800" baseline="-25000">
                <a:solidFill>
                  <a:schemeClr val="tx2"/>
                </a:solidFill>
              </a:rPr>
              <a:t>L</a:t>
            </a:r>
            <a:r>
              <a:rPr lang="en-US" sz="1800">
                <a:solidFill>
                  <a:schemeClr val="tx2"/>
                </a:solidFill>
              </a:rPr>
              <a:t> by track angle, </a:t>
            </a:r>
            <a:r>
              <a:rPr lang="el-GR" sz="1800">
                <a:solidFill>
                  <a:schemeClr val="tx2"/>
                </a:solidFill>
                <a:cs typeface="Arial" charset="0"/>
              </a:rPr>
              <a:t>Δ</a:t>
            </a:r>
            <a:r>
              <a:rPr lang="en-US" sz="1800">
                <a:solidFill>
                  <a:schemeClr val="tx2"/>
                </a:solidFill>
                <a:cs typeface="Arial" charset="0"/>
              </a:rPr>
              <a:t>P</a:t>
            </a:r>
            <a:r>
              <a:rPr lang="en-US" sz="1800" baseline="-25000">
                <a:solidFill>
                  <a:schemeClr val="tx2"/>
                </a:solidFill>
                <a:cs typeface="Arial" charset="0"/>
              </a:rPr>
              <a:t>L</a:t>
            </a:r>
            <a:r>
              <a:rPr lang="en-US" sz="1800">
                <a:solidFill>
                  <a:schemeClr val="tx2"/>
                </a:solidFill>
                <a:cs typeface="Arial" charset="0"/>
              </a:rPr>
              <a:t>/P</a:t>
            </a:r>
            <a:r>
              <a:rPr lang="en-US" sz="1800" baseline="-25000">
                <a:solidFill>
                  <a:schemeClr val="tx2"/>
                </a:solidFill>
                <a:cs typeface="Arial" charset="0"/>
              </a:rPr>
              <a:t>L</a:t>
            </a:r>
            <a:r>
              <a:rPr lang="en-US" sz="1800">
                <a:solidFill>
                  <a:schemeClr val="tx2"/>
                </a:solidFill>
                <a:cs typeface="Arial" charset="0"/>
              </a:rPr>
              <a:t> ~ 2%</a:t>
            </a:r>
            <a:r>
              <a:rPr lang="en-US" sz="1800">
                <a:solidFill>
                  <a:schemeClr val="tx2"/>
                </a:solidFill>
              </a:rPr>
              <a:t>.</a:t>
            </a:r>
          </a:p>
          <a:p>
            <a:pPr eaLnBrk="0" hangingPunct="0"/>
            <a:r>
              <a:rPr lang="en-US" sz="1800">
                <a:solidFill>
                  <a:schemeClr val="tx2"/>
                </a:solidFill>
              </a:rPr>
              <a:t> - TOF measures P</a:t>
            </a:r>
            <a:r>
              <a:rPr lang="en-US" sz="1800" baseline="-25000">
                <a:solidFill>
                  <a:schemeClr val="tx2"/>
                </a:solidFill>
              </a:rPr>
              <a:t>L</a:t>
            </a:r>
            <a:r>
              <a:rPr lang="en-US" sz="1800">
                <a:solidFill>
                  <a:schemeClr val="tx2"/>
                </a:solidFill>
              </a:rPr>
              <a:t> directly (given particle ID), </a:t>
            </a:r>
            <a:r>
              <a:rPr lang="el-GR" sz="1800">
                <a:solidFill>
                  <a:schemeClr val="tx2"/>
                </a:solidFill>
              </a:rPr>
              <a:t>Δ</a:t>
            </a:r>
            <a:r>
              <a:rPr lang="en-US" sz="1800">
                <a:solidFill>
                  <a:schemeClr val="tx2"/>
                </a:solidFill>
              </a:rPr>
              <a:t>P</a:t>
            </a:r>
            <a:r>
              <a:rPr lang="en-US" sz="1800" baseline="-25000">
                <a:solidFill>
                  <a:schemeClr val="tx2"/>
                </a:solidFill>
              </a:rPr>
              <a:t>L</a:t>
            </a:r>
            <a:r>
              <a:rPr lang="en-US" sz="1800">
                <a:solidFill>
                  <a:schemeClr val="tx2"/>
                </a:solidFill>
              </a:rPr>
              <a:t>/P</a:t>
            </a:r>
            <a:r>
              <a:rPr lang="en-US" sz="1800" baseline="-25000">
                <a:solidFill>
                  <a:schemeClr val="tx2"/>
                </a:solidFill>
              </a:rPr>
              <a:t>L</a:t>
            </a:r>
            <a:r>
              <a:rPr lang="en-US" sz="1800">
                <a:solidFill>
                  <a:schemeClr val="tx2"/>
                </a:solidFill>
              </a:rPr>
              <a:t> ~ 0.5%.</a:t>
            </a:r>
          </a:p>
        </p:txBody>
      </p:sp>
      <p:sp>
        <p:nvSpPr>
          <p:cNvPr id="111625" name="Text Box 12"/>
          <p:cNvSpPr txBox="1">
            <a:spLocks noChangeArrowheads="1"/>
          </p:cNvSpPr>
          <p:nvPr/>
        </p:nvSpPr>
        <p:spPr bwMode="auto">
          <a:xfrm>
            <a:off x="838200" y="3621088"/>
            <a:ext cx="3962400" cy="730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 sz="1400"/>
              <a:t>Time difference between 2 commercial MCPs, response to laser pulses, intrinsic MCP resolution 4ps (ANL test stand, 408nm)</a:t>
            </a:r>
          </a:p>
        </p:txBody>
      </p:sp>
      <p:sp>
        <p:nvSpPr>
          <p:cNvPr id="111626" name="Rectangle 13"/>
          <p:cNvSpPr>
            <a:spLocks noChangeArrowheads="1"/>
          </p:cNvSpPr>
          <p:nvPr/>
        </p:nvSpPr>
        <p:spPr bwMode="auto">
          <a:xfrm>
            <a:off x="228600" y="5638800"/>
            <a:ext cx="8686800" cy="711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/>
              <a:t>For MANX: ~50 (5cmx5cm) tiles cover the 40 cm diameter MICE solenoid aperture. Tiles with commercial MCPs ~$5k each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5" name="Date Placeholder 2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Feb. 4 2009 </a:t>
            </a:r>
          </a:p>
        </p:txBody>
      </p:sp>
      <p:sp>
        <p:nvSpPr>
          <p:cNvPr id="113666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7239000" y="6553200"/>
            <a:ext cx="1905000" cy="304800"/>
          </a:xfrm>
          <a:noFill/>
        </p:spPr>
        <p:txBody>
          <a:bodyPr/>
          <a:lstStyle/>
          <a:p>
            <a:pPr algn="r"/>
            <a:r>
              <a:rPr lang="en-US" sz="1400" smtClean="0"/>
              <a:t>Abrams-AAC</a:t>
            </a:r>
          </a:p>
        </p:txBody>
      </p:sp>
      <p:sp>
        <p:nvSpPr>
          <p:cNvPr id="113667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2209800" y="6477000"/>
            <a:ext cx="5029200" cy="381000"/>
          </a:xfrm>
          <a:noFill/>
        </p:spPr>
        <p:txBody>
          <a:bodyPr/>
          <a:lstStyle/>
          <a:p>
            <a:pPr algn="ctr"/>
            <a:fld id="{BE5C7D17-4252-4D50-94C0-DEF8AD84997B}" type="slidenum">
              <a:rPr lang="en-US" sz="1200" smtClean="0"/>
              <a:pPr algn="ctr"/>
              <a:t>12</a:t>
            </a:fld>
            <a:endParaRPr lang="en-US" sz="1200" smtClean="0"/>
          </a:p>
        </p:txBody>
      </p:sp>
      <p:sp>
        <p:nvSpPr>
          <p:cNvPr id="113668" name="Rectangle 4"/>
          <p:cNvSpPr>
            <a:spLocks noGrp="1" noChangeArrowheads="1"/>
          </p:cNvSpPr>
          <p:nvPr>
            <p:ph type="title"/>
          </p:nvPr>
        </p:nvSpPr>
        <p:spPr>
          <a:xfrm>
            <a:off x="1447800" y="457200"/>
            <a:ext cx="6400800" cy="868363"/>
          </a:xfrm>
        </p:spPr>
        <p:txBody>
          <a:bodyPr/>
          <a:lstStyle/>
          <a:p>
            <a:r>
              <a:rPr lang="en-US" sz="3600" dirty="0" smtClean="0"/>
              <a:t>MANX HCC Tracker Design</a:t>
            </a:r>
            <a:br>
              <a:rPr lang="en-US" sz="3600" dirty="0" smtClean="0"/>
            </a:br>
            <a:r>
              <a:rPr lang="en-US" sz="3600" dirty="0" smtClean="0"/>
              <a:t>(based on MICE Tracker)</a:t>
            </a:r>
          </a:p>
        </p:txBody>
      </p:sp>
      <p:pic>
        <p:nvPicPr>
          <p:cNvPr id="113669" name="Picture 5" descr="doublet-layer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14400" y="1905000"/>
            <a:ext cx="3721100" cy="1084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3670" name="Text Box 6"/>
          <p:cNvSpPr txBox="1">
            <a:spLocks noChangeArrowheads="1"/>
          </p:cNvSpPr>
          <p:nvPr/>
        </p:nvSpPr>
        <p:spPr bwMode="auto">
          <a:xfrm>
            <a:off x="4837113" y="1828800"/>
            <a:ext cx="3805237" cy="1069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Tx/>
              <a:buChar char="•"/>
            </a:pPr>
            <a:r>
              <a:rPr lang="en-US" sz="1400">
                <a:latin typeface="Times New Roman" pitchFamily="18" charset="0"/>
              </a:rPr>
              <a:t> </a:t>
            </a:r>
            <a:r>
              <a:rPr lang="en-US" sz="1600">
                <a:latin typeface="Times New Roman" pitchFamily="18" charset="0"/>
              </a:rPr>
              <a:t>0.35 mm Scintillating fibers</a:t>
            </a:r>
          </a:p>
          <a:p>
            <a:pPr>
              <a:buFontTx/>
              <a:buChar char="•"/>
            </a:pPr>
            <a:r>
              <a:rPr lang="en-US" sz="1600">
                <a:latin typeface="Times New Roman" pitchFamily="18" charset="0"/>
              </a:rPr>
              <a:t> Two overlapping layers per coordinate</a:t>
            </a:r>
          </a:p>
          <a:p>
            <a:pPr>
              <a:buFontTx/>
              <a:buChar char="•"/>
            </a:pPr>
            <a:r>
              <a:rPr lang="en-US" sz="1600">
                <a:latin typeface="Times New Roman" pitchFamily="18" charset="0"/>
              </a:rPr>
              <a:t> Combine signals in groups of 7</a:t>
            </a:r>
          </a:p>
          <a:p>
            <a:pPr>
              <a:buFontTx/>
              <a:buChar char="•"/>
            </a:pPr>
            <a:r>
              <a:rPr lang="en-US" sz="1600">
                <a:latin typeface="Times New Roman" pitchFamily="18" charset="0"/>
              </a:rPr>
              <a:t> Resolution ~0.5 mm per 2-layer plane </a:t>
            </a:r>
          </a:p>
        </p:txBody>
      </p:sp>
      <p:pic>
        <p:nvPicPr>
          <p:cNvPr id="113671" name="Picture 7" descr="u-v-w-arrangement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244600" y="2971800"/>
            <a:ext cx="1778000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3672" name="Rectangle 8"/>
          <p:cNvSpPr>
            <a:spLocks noChangeArrowheads="1"/>
          </p:cNvSpPr>
          <p:nvPr/>
        </p:nvSpPr>
        <p:spPr bwMode="auto">
          <a:xfrm>
            <a:off x="3105150" y="3306763"/>
            <a:ext cx="6038850" cy="1314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buFontTx/>
              <a:buChar char="•"/>
            </a:pPr>
            <a:r>
              <a:rPr lang="en-US" sz="1400">
                <a:latin typeface="Times New Roman" pitchFamily="18" charset="0"/>
              </a:rPr>
              <a:t> </a:t>
            </a:r>
            <a:r>
              <a:rPr lang="en-US" sz="1600">
                <a:latin typeface="Times New Roman" pitchFamily="18" charset="0"/>
              </a:rPr>
              <a:t>To cover a 50cm HCC inner diameter requires 306 channels </a:t>
            </a:r>
          </a:p>
          <a:p>
            <a:pPr>
              <a:buFontTx/>
              <a:buChar char="•"/>
            </a:pPr>
            <a:r>
              <a:rPr lang="en-US" sz="1600">
                <a:latin typeface="Times New Roman" pitchFamily="18" charset="0"/>
              </a:rPr>
              <a:t> Each channel 1.63mm wide, containing 7 fibers (2142 fibers total).</a:t>
            </a:r>
          </a:p>
          <a:p>
            <a:pPr>
              <a:buFontTx/>
              <a:buChar char="•"/>
            </a:pPr>
            <a:r>
              <a:rPr lang="en-US" sz="1600">
                <a:latin typeface="Times New Roman" pitchFamily="18" charset="0"/>
              </a:rPr>
              <a:t> Each 3-plane station requires 918 channels,</a:t>
            </a:r>
          </a:p>
          <a:p>
            <a:pPr>
              <a:buFontTx/>
              <a:buChar char="•"/>
            </a:pPr>
            <a:r>
              <a:rPr lang="en-US" sz="1600">
                <a:latin typeface="Times New Roman" pitchFamily="18" charset="0"/>
              </a:rPr>
              <a:t> Total of 3672 channels for 4 stations inside the HCC</a:t>
            </a:r>
          </a:p>
          <a:p>
            <a:pPr>
              <a:buFontTx/>
              <a:buChar char="•"/>
            </a:pPr>
            <a:r>
              <a:rPr lang="en-US" sz="1600">
                <a:latin typeface="Times New Roman" pitchFamily="18" charset="0"/>
              </a:rPr>
              <a:t> ~0.5% X0 per station (HCC Liq He is ~50%X0)</a:t>
            </a:r>
          </a:p>
        </p:txBody>
      </p:sp>
      <p:sp>
        <p:nvSpPr>
          <p:cNvPr id="113673" name="Text Box 10"/>
          <p:cNvSpPr txBox="1">
            <a:spLocks noChangeArrowheads="1"/>
          </p:cNvSpPr>
          <p:nvPr/>
        </p:nvSpPr>
        <p:spPr bwMode="auto">
          <a:xfrm>
            <a:off x="2133600" y="5105400"/>
            <a:ext cx="4606925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latin typeface="Times New Roman" pitchFamily="18" charset="0"/>
              </a:rPr>
              <a:t>Existing MICE readout: </a:t>
            </a:r>
          </a:p>
          <a:p>
            <a:r>
              <a:rPr lang="en-US" sz="1400">
                <a:latin typeface="Times New Roman" pitchFamily="18" charset="0"/>
              </a:rPr>
              <a:t>VLPCs and electronics</a:t>
            </a:r>
            <a:r>
              <a:rPr lang="en-US" sz="1600" baseline="-25000">
                <a:latin typeface="Times New Roman" pitchFamily="18" charset="0"/>
              </a:rPr>
              <a:t> </a:t>
            </a:r>
            <a:r>
              <a:rPr lang="en-US" sz="1600">
                <a:latin typeface="Times New Roman" pitchFamily="18" charset="0"/>
              </a:rPr>
              <a:t>are </a:t>
            </a:r>
            <a:r>
              <a:rPr lang="en-US" sz="1400">
                <a:latin typeface="Times New Roman" pitchFamily="18" charset="0"/>
              </a:rPr>
              <a:t>Fermilab D0 CFT components</a:t>
            </a:r>
          </a:p>
        </p:txBody>
      </p:sp>
      <p:pic>
        <p:nvPicPr>
          <p:cNvPr id="113674" name="Picture 11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85763" y="4343400"/>
            <a:ext cx="1425575" cy="1901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3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Feb. 4 2009 </a:t>
            </a:r>
          </a:p>
        </p:txBody>
      </p:sp>
      <p:sp>
        <p:nvSpPr>
          <p:cNvPr id="115714" name="Footer Placeholder 4"/>
          <p:cNvSpPr>
            <a:spLocks noGrp="1"/>
          </p:cNvSpPr>
          <p:nvPr>
            <p:ph type="ftr" sz="quarter" idx="12"/>
          </p:nvPr>
        </p:nvSpPr>
        <p:spPr>
          <a:xfrm>
            <a:off x="7239000" y="6477000"/>
            <a:ext cx="1905000" cy="381000"/>
          </a:xfrm>
          <a:noFill/>
        </p:spPr>
        <p:txBody>
          <a:bodyPr/>
          <a:lstStyle/>
          <a:p>
            <a:r>
              <a:rPr lang="en-US" sz="1400" smtClean="0"/>
              <a:t>Abrams-AAC</a:t>
            </a:r>
          </a:p>
        </p:txBody>
      </p:sp>
      <p:sp>
        <p:nvSpPr>
          <p:cNvPr id="115715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2209800" y="6477000"/>
            <a:ext cx="5029200" cy="381000"/>
          </a:xfrm>
          <a:noFill/>
        </p:spPr>
        <p:txBody>
          <a:bodyPr/>
          <a:lstStyle/>
          <a:p>
            <a:fld id="{8C69C822-7020-4A96-849F-B38DD74AF00D}" type="slidenum">
              <a:rPr lang="en-US" sz="1200" smtClean="0"/>
              <a:pPr/>
              <a:t>13</a:t>
            </a:fld>
            <a:endParaRPr lang="en-US" sz="1200" smtClean="0"/>
          </a:p>
        </p:txBody>
      </p:sp>
      <p:sp>
        <p:nvSpPr>
          <p:cNvPr id="115716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0"/>
            <a:ext cx="8153400" cy="1143000"/>
          </a:xfrm>
        </p:spPr>
        <p:txBody>
          <a:bodyPr/>
          <a:lstStyle/>
          <a:p>
            <a:r>
              <a:rPr lang="en-US" sz="3600" dirty="0" smtClean="0"/>
              <a:t>      MANX HCC Tracker Concept 1</a:t>
            </a:r>
          </a:p>
        </p:txBody>
      </p:sp>
      <p:sp>
        <p:nvSpPr>
          <p:cNvPr id="11571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Based on MICE tracker design</a:t>
            </a:r>
          </a:p>
          <a:p>
            <a:pPr lvl="1"/>
            <a:r>
              <a:rPr lang="en-US" smtClean="0"/>
              <a:t>Tracker unit is installed in HCC bore</a:t>
            </a:r>
          </a:p>
          <a:p>
            <a:pPr lvl="1"/>
            <a:r>
              <a:rPr lang="en-US" smtClean="0"/>
              <a:t>Fiber light guides brought out of bore</a:t>
            </a:r>
          </a:p>
          <a:p>
            <a:pPr lvl="1"/>
            <a:r>
              <a:rPr lang="en-US" smtClean="0"/>
              <a:t>Optical detectors  and electronics outside</a:t>
            </a:r>
          </a:p>
          <a:p>
            <a:r>
              <a:rPr lang="en-US" smtClean="0"/>
              <a:t>Design Challenges</a:t>
            </a:r>
          </a:p>
          <a:p>
            <a:pPr lvl="1"/>
            <a:r>
              <a:rPr lang="en-US" smtClean="0"/>
              <a:t>HCC bore is helical, not straight</a:t>
            </a:r>
          </a:p>
          <a:p>
            <a:pPr lvl="1"/>
            <a:r>
              <a:rPr lang="en-US" smtClean="0"/>
              <a:t>Alignment, positioning, installation, seals</a:t>
            </a:r>
          </a:p>
          <a:p>
            <a:pPr lvl="1"/>
            <a:r>
              <a:rPr lang="en-US" smtClean="0"/>
              <a:t>Bore is filled with Liq He, not He gas at STP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1" name="Date Placeholder 2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Feb. 4 2009 </a:t>
            </a:r>
          </a:p>
        </p:txBody>
      </p:sp>
      <p:sp>
        <p:nvSpPr>
          <p:cNvPr id="117762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7239000" y="6553200"/>
            <a:ext cx="1905000" cy="304800"/>
          </a:xfrm>
          <a:noFill/>
        </p:spPr>
        <p:txBody>
          <a:bodyPr/>
          <a:lstStyle/>
          <a:p>
            <a:pPr algn="r"/>
            <a:r>
              <a:rPr lang="en-US" sz="1400" smtClean="0"/>
              <a:t>Abrams-AAC</a:t>
            </a:r>
          </a:p>
        </p:txBody>
      </p:sp>
      <p:sp>
        <p:nvSpPr>
          <p:cNvPr id="117763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2209800" y="6477000"/>
            <a:ext cx="5029200" cy="381000"/>
          </a:xfrm>
          <a:noFill/>
        </p:spPr>
        <p:txBody>
          <a:bodyPr/>
          <a:lstStyle/>
          <a:p>
            <a:pPr algn="ctr"/>
            <a:fld id="{EB9DB9C7-A4FE-4D68-B21F-281D9BCA6EFB}" type="slidenum">
              <a:rPr lang="en-US" sz="1200" smtClean="0"/>
              <a:pPr algn="ctr"/>
              <a:t>14</a:t>
            </a:fld>
            <a:endParaRPr lang="en-US" sz="1200" smtClean="0"/>
          </a:p>
        </p:txBody>
      </p:sp>
      <p:sp>
        <p:nvSpPr>
          <p:cNvPr id="117764" name="Rectangle 4"/>
          <p:cNvSpPr>
            <a:spLocks noGrp="1" noChangeArrowheads="1"/>
          </p:cNvSpPr>
          <p:nvPr>
            <p:ph type="title"/>
          </p:nvPr>
        </p:nvSpPr>
        <p:spPr>
          <a:xfrm>
            <a:off x="533400" y="-152400"/>
            <a:ext cx="8229600" cy="1143000"/>
          </a:xfrm>
        </p:spPr>
        <p:txBody>
          <a:bodyPr/>
          <a:lstStyle/>
          <a:p>
            <a:r>
              <a:rPr lang="en-US" smtClean="0"/>
              <a:t>MICE Tracker Assembly</a:t>
            </a:r>
          </a:p>
        </p:txBody>
      </p:sp>
      <p:pic>
        <p:nvPicPr>
          <p:cNvPr id="117765" name="Picture 8" descr="IMG_4779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867400" y="1371600"/>
            <a:ext cx="2970213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7766" name="Picture 10" descr="IMG_471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2400" y="838200"/>
            <a:ext cx="2132013" cy="1420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7767" name="Picture 14" descr="IMG_474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52400" y="2590800"/>
            <a:ext cx="2133600" cy="142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7768" name="Text Box 15"/>
          <p:cNvSpPr txBox="1">
            <a:spLocks noChangeArrowheads="1"/>
          </p:cNvSpPr>
          <p:nvPr/>
        </p:nvSpPr>
        <p:spPr bwMode="auto">
          <a:xfrm>
            <a:off x="2667000" y="3276600"/>
            <a:ext cx="21494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Tracker in solenoid</a:t>
            </a:r>
          </a:p>
        </p:txBody>
      </p:sp>
      <p:sp>
        <p:nvSpPr>
          <p:cNvPr id="117769" name="Text Box 16"/>
          <p:cNvSpPr txBox="1">
            <a:spLocks noChangeArrowheads="1"/>
          </p:cNvSpPr>
          <p:nvPr/>
        </p:nvSpPr>
        <p:spPr bwMode="auto">
          <a:xfrm>
            <a:off x="5791200" y="3429000"/>
            <a:ext cx="3138488" cy="51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/>
              <a:t>Tracker, waveguide fibers, and patch </a:t>
            </a:r>
          </a:p>
          <a:p>
            <a:r>
              <a:rPr lang="en-US" sz="1400"/>
              <a:t>panel all assembled </a:t>
            </a:r>
          </a:p>
        </p:txBody>
      </p:sp>
      <p:sp>
        <p:nvSpPr>
          <p:cNvPr id="117770" name="Line 20"/>
          <p:cNvSpPr>
            <a:spLocks noChangeShapeType="1"/>
          </p:cNvSpPr>
          <p:nvPr/>
        </p:nvSpPr>
        <p:spPr bwMode="auto">
          <a:xfrm flipH="1">
            <a:off x="6248400" y="4648200"/>
            <a:ext cx="1295400" cy="4572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17771" name="Text Box 21"/>
          <p:cNvSpPr txBox="1">
            <a:spLocks noChangeArrowheads="1"/>
          </p:cNvSpPr>
          <p:nvPr/>
        </p:nvSpPr>
        <p:spPr bwMode="auto">
          <a:xfrm>
            <a:off x="6248400" y="5791200"/>
            <a:ext cx="17303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/>
              <a:t>Optical feedthrough</a:t>
            </a:r>
          </a:p>
        </p:txBody>
      </p:sp>
      <p:pic>
        <p:nvPicPr>
          <p:cNvPr id="117772" name="Picture 5" descr="IMG_4795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5867400" y="3962400"/>
            <a:ext cx="2741613" cy="1827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7773" name="Picture 19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2590800" y="914400"/>
            <a:ext cx="2660650" cy="227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7774" name="Picture 20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152400" y="4267200"/>
            <a:ext cx="2339975" cy="175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7775" name="Rectangle 21"/>
          <p:cNvSpPr>
            <a:spLocks noChangeArrowheads="1"/>
          </p:cNvSpPr>
          <p:nvPr/>
        </p:nvSpPr>
        <p:spPr bwMode="auto">
          <a:xfrm>
            <a:off x="381000" y="2286000"/>
            <a:ext cx="14001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latin typeface="Times New Roman" pitchFamily="18" charset="0"/>
              </a:rPr>
              <a:t>5 tracker stations</a:t>
            </a:r>
          </a:p>
        </p:txBody>
      </p:sp>
      <p:sp>
        <p:nvSpPr>
          <p:cNvPr id="117776" name="Rectangle 22"/>
          <p:cNvSpPr>
            <a:spLocks noChangeArrowheads="1"/>
          </p:cNvSpPr>
          <p:nvPr/>
        </p:nvSpPr>
        <p:spPr bwMode="auto">
          <a:xfrm>
            <a:off x="228600" y="3962400"/>
            <a:ext cx="2082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latin typeface="Times New Roman" pitchFamily="18" charset="0"/>
              </a:rPr>
              <a:t>Waveguide fibers attached</a:t>
            </a:r>
          </a:p>
        </p:txBody>
      </p:sp>
      <p:sp>
        <p:nvSpPr>
          <p:cNvPr id="117777" name="Rectangle 23"/>
          <p:cNvSpPr>
            <a:spLocks noChangeArrowheads="1"/>
          </p:cNvSpPr>
          <p:nvPr/>
        </p:nvSpPr>
        <p:spPr bwMode="auto">
          <a:xfrm>
            <a:off x="76200" y="5943600"/>
            <a:ext cx="3109913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latin typeface="Times New Roman" pitchFamily="18" charset="0"/>
              </a:rPr>
              <a:t>Waveguide fibers organized and bundled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09" name="Date Placeholder 2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Feb. 4 2009 </a:t>
            </a:r>
          </a:p>
        </p:txBody>
      </p:sp>
      <p:sp>
        <p:nvSpPr>
          <p:cNvPr id="119810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7239000" y="6553200"/>
            <a:ext cx="1905000" cy="304800"/>
          </a:xfrm>
          <a:noFill/>
        </p:spPr>
        <p:txBody>
          <a:bodyPr/>
          <a:lstStyle/>
          <a:p>
            <a:pPr algn="r"/>
            <a:r>
              <a:rPr lang="en-US" sz="1400" smtClean="0"/>
              <a:t>Abrams-AAC</a:t>
            </a:r>
          </a:p>
        </p:txBody>
      </p:sp>
      <p:sp>
        <p:nvSpPr>
          <p:cNvPr id="119811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2209800" y="6477000"/>
            <a:ext cx="5029200" cy="381000"/>
          </a:xfrm>
          <a:noFill/>
        </p:spPr>
        <p:txBody>
          <a:bodyPr/>
          <a:lstStyle/>
          <a:p>
            <a:pPr algn="ctr"/>
            <a:fld id="{EC850CF4-2EBF-40F2-A7E0-C2924A13B266}" type="slidenum">
              <a:rPr lang="en-US" sz="1200" smtClean="0"/>
              <a:pPr algn="ctr"/>
              <a:t>15</a:t>
            </a:fld>
            <a:endParaRPr lang="en-US" sz="1200" smtClean="0"/>
          </a:p>
        </p:txBody>
      </p:sp>
      <p:sp>
        <p:nvSpPr>
          <p:cNvPr id="119812" name="Rectangle 213"/>
          <p:cNvSpPr>
            <a:spLocks noChangeArrowheads="1"/>
          </p:cNvSpPr>
          <p:nvPr/>
        </p:nvSpPr>
        <p:spPr bwMode="auto">
          <a:xfrm>
            <a:off x="6400800" y="5667375"/>
            <a:ext cx="2651125" cy="5651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19813" name="Oval 163"/>
          <p:cNvSpPr>
            <a:spLocks noChangeArrowheads="1"/>
          </p:cNvSpPr>
          <p:nvPr/>
        </p:nvSpPr>
        <p:spPr bwMode="auto">
          <a:xfrm>
            <a:off x="7183438" y="3186113"/>
            <a:ext cx="1228725" cy="1192212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19814" name="Rectangle 4"/>
          <p:cNvSpPr>
            <a:spLocks noGrp="1" noChangeArrowheads="1"/>
          </p:cNvSpPr>
          <p:nvPr>
            <p:ph type="title"/>
          </p:nvPr>
        </p:nvSpPr>
        <p:spPr>
          <a:xfrm>
            <a:off x="1752600" y="0"/>
            <a:ext cx="6629400" cy="1752600"/>
          </a:xfrm>
        </p:spPr>
        <p:txBody>
          <a:bodyPr/>
          <a:lstStyle/>
          <a:p>
            <a:r>
              <a:rPr lang="en-US" sz="4000" dirty="0" smtClean="0"/>
              <a:t>MANX HCC Tracker</a:t>
            </a:r>
            <a:br>
              <a:rPr lang="en-US" sz="4000" dirty="0" smtClean="0"/>
            </a:br>
            <a:r>
              <a:rPr lang="en-US" sz="4000" dirty="0" smtClean="0"/>
              <a:t>Concept 1</a:t>
            </a:r>
          </a:p>
        </p:txBody>
      </p:sp>
      <p:sp>
        <p:nvSpPr>
          <p:cNvPr id="119815" name="Rectangle 65"/>
          <p:cNvSpPr>
            <a:spLocks noChangeArrowheads="1"/>
          </p:cNvSpPr>
          <p:nvPr/>
        </p:nvSpPr>
        <p:spPr bwMode="auto">
          <a:xfrm>
            <a:off x="6400800" y="5340350"/>
            <a:ext cx="125888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000"/>
              <a:t>Optical Connectors</a:t>
            </a:r>
          </a:p>
        </p:txBody>
      </p:sp>
      <p:sp>
        <p:nvSpPr>
          <p:cNvPr id="119816" name="Rectangle 66"/>
          <p:cNvSpPr>
            <a:spLocks noChangeArrowheads="1"/>
          </p:cNvSpPr>
          <p:nvPr/>
        </p:nvSpPr>
        <p:spPr bwMode="auto">
          <a:xfrm>
            <a:off x="1511300" y="2432050"/>
            <a:ext cx="113188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000"/>
              <a:t>Cryostat Vessel</a:t>
            </a:r>
          </a:p>
        </p:txBody>
      </p:sp>
      <p:sp>
        <p:nvSpPr>
          <p:cNvPr id="119817" name="Rectangle 67"/>
          <p:cNvSpPr>
            <a:spLocks noChangeArrowheads="1"/>
          </p:cNvSpPr>
          <p:nvPr/>
        </p:nvSpPr>
        <p:spPr bwMode="auto">
          <a:xfrm>
            <a:off x="4244975" y="2257425"/>
            <a:ext cx="10414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000"/>
              <a:t>Detectors</a:t>
            </a:r>
            <a:endParaRPr lang="en-US"/>
          </a:p>
        </p:txBody>
      </p:sp>
      <p:sp>
        <p:nvSpPr>
          <p:cNvPr id="119818" name="Rectangle 68"/>
          <p:cNvSpPr>
            <a:spLocks noChangeArrowheads="1"/>
          </p:cNvSpPr>
          <p:nvPr/>
        </p:nvSpPr>
        <p:spPr bwMode="auto">
          <a:xfrm>
            <a:off x="5576888" y="2257425"/>
            <a:ext cx="49371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000"/>
              <a:t>Coils</a:t>
            </a:r>
          </a:p>
        </p:txBody>
      </p:sp>
      <p:sp>
        <p:nvSpPr>
          <p:cNvPr id="119819" name="Line 69"/>
          <p:cNvSpPr>
            <a:spLocks noChangeShapeType="1"/>
          </p:cNvSpPr>
          <p:nvPr/>
        </p:nvSpPr>
        <p:spPr bwMode="auto">
          <a:xfrm flipH="1">
            <a:off x="3905250" y="2322513"/>
            <a:ext cx="433388" cy="10588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19820" name="Line 70"/>
          <p:cNvSpPr>
            <a:spLocks noChangeShapeType="1"/>
          </p:cNvSpPr>
          <p:nvPr/>
        </p:nvSpPr>
        <p:spPr bwMode="auto">
          <a:xfrm>
            <a:off x="2465388" y="2501900"/>
            <a:ext cx="581025" cy="393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19821" name="Line 71"/>
          <p:cNvSpPr>
            <a:spLocks noChangeShapeType="1"/>
          </p:cNvSpPr>
          <p:nvPr/>
        </p:nvSpPr>
        <p:spPr bwMode="auto">
          <a:xfrm flipH="1">
            <a:off x="5775325" y="2422525"/>
            <a:ext cx="260350" cy="13874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19822" name="Rectangle 53"/>
          <p:cNvSpPr>
            <a:spLocks noChangeArrowheads="1"/>
          </p:cNvSpPr>
          <p:nvPr/>
        </p:nvSpPr>
        <p:spPr bwMode="auto">
          <a:xfrm>
            <a:off x="609600" y="2895600"/>
            <a:ext cx="5572125" cy="2286000"/>
          </a:xfrm>
          <a:prstGeom prst="rect">
            <a:avLst/>
          </a:prstGeom>
          <a:noFill/>
          <a:ln w="57150">
            <a:solidFill>
              <a:srgbClr val="0066FF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19823" name="Freeform 7"/>
          <p:cNvSpPr>
            <a:spLocks noChangeAspect="1"/>
          </p:cNvSpPr>
          <p:nvPr/>
        </p:nvSpPr>
        <p:spPr bwMode="auto">
          <a:xfrm>
            <a:off x="709613" y="3048000"/>
            <a:ext cx="5451475" cy="865188"/>
          </a:xfrm>
          <a:custGeom>
            <a:avLst/>
            <a:gdLst>
              <a:gd name="T0" fmla="*/ 78183 w 3068"/>
              <a:gd name="T1" fmla="*/ 163744 h 1173"/>
              <a:gd name="T2" fmla="*/ 227441 w 3068"/>
              <a:gd name="T3" fmla="*/ 63432 h 1173"/>
              <a:gd name="T4" fmla="*/ 412237 w 3068"/>
              <a:gd name="T5" fmla="*/ 1475 h 1173"/>
              <a:gd name="T6" fmla="*/ 632570 w 3068"/>
              <a:gd name="T7" fmla="*/ 45730 h 1173"/>
              <a:gd name="T8" fmla="*/ 781828 w 3068"/>
              <a:gd name="T9" fmla="*/ 119489 h 1173"/>
              <a:gd name="T10" fmla="*/ 895549 w 3068"/>
              <a:gd name="T11" fmla="*/ 219801 h 1173"/>
              <a:gd name="T12" fmla="*/ 1023484 w 3068"/>
              <a:gd name="T13" fmla="*/ 337814 h 1173"/>
              <a:gd name="T14" fmla="*/ 1158527 w 3068"/>
              <a:gd name="T15" fmla="*/ 452878 h 1173"/>
              <a:gd name="T16" fmla="*/ 1293570 w 3068"/>
              <a:gd name="T17" fmla="*/ 576792 h 1173"/>
              <a:gd name="T18" fmla="*/ 1371753 w 3068"/>
              <a:gd name="T19" fmla="*/ 665302 h 1173"/>
              <a:gd name="T20" fmla="*/ 1506796 w 3068"/>
              <a:gd name="T21" fmla="*/ 747912 h 1173"/>
              <a:gd name="T22" fmla="*/ 1627624 w 3068"/>
              <a:gd name="T23" fmla="*/ 821670 h 1173"/>
              <a:gd name="T24" fmla="*/ 1734237 w 3068"/>
              <a:gd name="T25" fmla="*/ 857075 h 1173"/>
              <a:gd name="T26" fmla="*/ 1911926 w 3068"/>
              <a:gd name="T27" fmla="*/ 854124 h 1173"/>
              <a:gd name="T28" fmla="*/ 2103829 w 3068"/>
              <a:gd name="T29" fmla="*/ 765614 h 1173"/>
              <a:gd name="T30" fmla="*/ 2260194 w 3068"/>
              <a:gd name="T31" fmla="*/ 647600 h 1173"/>
              <a:gd name="T32" fmla="*/ 2395237 w 3068"/>
              <a:gd name="T33" fmla="*/ 538438 h 1173"/>
              <a:gd name="T34" fmla="*/ 2580033 w 3068"/>
              <a:gd name="T35" fmla="*/ 355516 h 1173"/>
              <a:gd name="T36" fmla="*/ 2736399 w 3068"/>
              <a:gd name="T37" fmla="*/ 219801 h 1173"/>
              <a:gd name="T38" fmla="*/ 2906979 w 3068"/>
              <a:gd name="T39" fmla="*/ 81134 h 1173"/>
              <a:gd name="T40" fmla="*/ 3049130 w 3068"/>
              <a:gd name="T41" fmla="*/ 28028 h 1173"/>
              <a:gd name="T42" fmla="*/ 3269463 w 3068"/>
              <a:gd name="T43" fmla="*/ 7376 h 1173"/>
              <a:gd name="T44" fmla="*/ 3432936 w 3068"/>
              <a:gd name="T45" fmla="*/ 78184 h 1173"/>
              <a:gd name="T46" fmla="*/ 3567979 w 3068"/>
              <a:gd name="T47" fmla="*/ 169645 h 1173"/>
              <a:gd name="T48" fmla="*/ 3738561 w 3068"/>
              <a:gd name="T49" fmla="*/ 314211 h 1173"/>
              <a:gd name="T50" fmla="*/ 3880712 w 3068"/>
              <a:gd name="T51" fmla="*/ 435176 h 1173"/>
              <a:gd name="T52" fmla="*/ 4029970 w 3068"/>
              <a:gd name="T53" fmla="*/ 600395 h 1173"/>
              <a:gd name="T54" fmla="*/ 4150798 w 3068"/>
              <a:gd name="T55" fmla="*/ 694806 h 1173"/>
              <a:gd name="T56" fmla="*/ 4257410 w 3068"/>
              <a:gd name="T57" fmla="*/ 777415 h 1173"/>
              <a:gd name="T58" fmla="*/ 4449314 w 3068"/>
              <a:gd name="T59" fmla="*/ 851174 h 1173"/>
              <a:gd name="T60" fmla="*/ 4662539 w 3068"/>
              <a:gd name="T61" fmla="*/ 839373 h 1173"/>
              <a:gd name="T62" fmla="*/ 4889980 w 3068"/>
              <a:gd name="T63" fmla="*/ 747912 h 1173"/>
              <a:gd name="T64" fmla="*/ 4996593 w 3068"/>
              <a:gd name="T65" fmla="*/ 650550 h 1173"/>
              <a:gd name="T66" fmla="*/ 5238249 w 3068"/>
              <a:gd name="T67" fmla="*/ 423374 h 1173"/>
              <a:gd name="T68" fmla="*/ 5337755 w 3068"/>
              <a:gd name="T69" fmla="*/ 343715 h 1173"/>
              <a:gd name="T70" fmla="*/ 5451475 w 3068"/>
              <a:gd name="T71" fmla="*/ 222751 h 1173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w 3068"/>
              <a:gd name="T109" fmla="*/ 0 h 1173"/>
              <a:gd name="T110" fmla="*/ 3068 w 3068"/>
              <a:gd name="T111" fmla="*/ 1173 h 1173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T108" t="T109" r="T110" b="T111"/>
            <a:pathLst>
              <a:path w="3068" h="1173">
                <a:moveTo>
                  <a:pt x="0" y="294"/>
                </a:moveTo>
                <a:cubicBezTo>
                  <a:pt x="16" y="269"/>
                  <a:pt x="32" y="244"/>
                  <a:pt x="44" y="222"/>
                </a:cubicBezTo>
                <a:cubicBezTo>
                  <a:pt x="56" y="200"/>
                  <a:pt x="58" y="181"/>
                  <a:pt x="72" y="158"/>
                </a:cubicBezTo>
                <a:cubicBezTo>
                  <a:pt x="86" y="135"/>
                  <a:pt x="111" y="107"/>
                  <a:pt x="128" y="86"/>
                </a:cubicBezTo>
                <a:cubicBezTo>
                  <a:pt x="145" y="65"/>
                  <a:pt x="159" y="48"/>
                  <a:pt x="176" y="34"/>
                </a:cubicBezTo>
                <a:cubicBezTo>
                  <a:pt x="193" y="20"/>
                  <a:pt x="211" y="4"/>
                  <a:pt x="232" y="2"/>
                </a:cubicBezTo>
                <a:cubicBezTo>
                  <a:pt x="253" y="0"/>
                  <a:pt x="279" y="12"/>
                  <a:pt x="300" y="22"/>
                </a:cubicBezTo>
                <a:cubicBezTo>
                  <a:pt x="321" y="32"/>
                  <a:pt x="337" y="44"/>
                  <a:pt x="356" y="62"/>
                </a:cubicBezTo>
                <a:cubicBezTo>
                  <a:pt x="375" y="80"/>
                  <a:pt x="398" y="113"/>
                  <a:pt x="412" y="130"/>
                </a:cubicBezTo>
                <a:cubicBezTo>
                  <a:pt x="426" y="147"/>
                  <a:pt x="430" y="146"/>
                  <a:pt x="440" y="162"/>
                </a:cubicBezTo>
                <a:cubicBezTo>
                  <a:pt x="450" y="178"/>
                  <a:pt x="461" y="203"/>
                  <a:pt x="472" y="226"/>
                </a:cubicBezTo>
                <a:cubicBezTo>
                  <a:pt x="483" y="249"/>
                  <a:pt x="492" y="273"/>
                  <a:pt x="504" y="298"/>
                </a:cubicBezTo>
                <a:cubicBezTo>
                  <a:pt x="516" y="323"/>
                  <a:pt x="532" y="347"/>
                  <a:pt x="544" y="374"/>
                </a:cubicBezTo>
                <a:cubicBezTo>
                  <a:pt x="556" y="401"/>
                  <a:pt x="564" y="431"/>
                  <a:pt x="576" y="458"/>
                </a:cubicBezTo>
                <a:cubicBezTo>
                  <a:pt x="588" y="485"/>
                  <a:pt x="603" y="512"/>
                  <a:pt x="616" y="538"/>
                </a:cubicBezTo>
                <a:cubicBezTo>
                  <a:pt x="629" y="564"/>
                  <a:pt x="639" y="586"/>
                  <a:pt x="652" y="614"/>
                </a:cubicBezTo>
                <a:cubicBezTo>
                  <a:pt x="665" y="642"/>
                  <a:pt x="683" y="678"/>
                  <a:pt x="696" y="706"/>
                </a:cubicBezTo>
                <a:cubicBezTo>
                  <a:pt x="709" y="734"/>
                  <a:pt x="718" y="759"/>
                  <a:pt x="728" y="782"/>
                </a:cubicBezTo>
                <a:cubicBezTo>
                  <a:pt x="738" y="805"/>
                  <a:pt x="749" y="822"/>
                  <a:pt x="756" y="842"/>
                </a:cubicBezTo>
                <a:cubicBezTo>
                  <a:pt x="763" y="862"/>
                  <a:pt x="763" y="883"/>
                  <a:pt x="772" y="902"/>
                </a:cubicBezTo>
                <a:cubicBezTo>
                  <a:pt x="781" y="921"/>
                  <a:pt x="795" y="935"/>
                  <a:pt x="808" y="954"/>
                </a:cubicBezTo>
                <a:cubicBezTo>
                  <a:pt x="821" y="973"/>
                  <a:pt x="835" y="993"/>
                  <a:pt x="848" y="1014"/>
                </a:cubicBezTo>
                <a:cubicBezTo>
                  <a:pt x="861" y="1035"/>
                  <a:pt x="873" y="1065"/>
                  <a:pt x="884" y="1082"/>
                </a:cubicBezTo>
                <a:cubicBezTo>
                  <a:pt x="895" y="1099"/>
                  <a:pt x="906" y="1103"/>
                  <a:pt x="916" y="1114"/>
                </a:cubicBezTo>
                <a:cubicBezTo>
                  <a:pt x="926" y="1125"/>
                  <a:pt x="934" y="1138"/>
                  <a:pt x="944" y="1146"/>
                </a:cubicBezTo>
                <a:cubicBezTo>
                  <a:pt x="954" y="1154"/>
                  <a:pt x="965" y="1158"/>
                  <a:pt x="976" y="1162"/>
                </a:cubicBezTo>
                <a:cubicBezTo>
                  <a:pt x="987" y="1166"/>
                  <a:pt x="991" y="1171"/>
                  <a:pt x="1008" y="1170"/>
                </a:cubicBezTo>
                <a:cubicBezTo>
                  <a:pt x="1025" y="1169"/>
                  <a:pt x="1055" y="1170"/>
                  <a:pt x="1076" y="1158"/>
                </a:cubicBezTo>
                <a:cubicBezTo>
                  <a:pt x="1097" y="1146"/>
                  <a:pt x="1118" y="1118"/>
                  <a:pt x="1136" y="1098"/>
                </a:cubicBezTo>
                <a:cubicBezTo>
                  <a:pt x="1154" y="1078"/>
                  <a:pt x="1169" y="1059"/>
                  <a:pt x="1184" y="1038"/>
                </a:cubicBezTo>
                <a:cubicBezTo>
                  <a:pt x="1199" y="1017"/>
                  <a:pt x="1213" y="1001"/>
                  <a:pt x="1228" y="974"/>
                </a:cubicBezTo>
                <a:cubicBezTo>
                  <a:pt x="1243" y="947"/>
                  <a:pt x="1258" y="904"/>
                  <a:pt x="1272" y="878"/>
                </a:cubicBezTo>
                <a:cubicBezTo>
                  <a:pt x="1286" y="852"/>
                  <a:pt x="1299" y="843"/>
                  <a:pt x="1312" y="818"/>
                </a:cubicBezTo>
                <a:cubicBezTo>
                  <a:pt x="1325" y="793"/>
                  <a:pt x="1331" y="769"/>
                  <a:pt x="1348" y="730"/>
                </a:cubicBezTo>
                <a:cubicBezTo>
                  <a:pt x="1365" y="691"/>
                  <a:pt x="1395" y="623"/>
                  <a:pt x="1412" y="582"/>
                </a:cubicBezTo>
                <a:cubicBezTo>
                  <a:pt x="1429" y="541"/>
                  <a:pt x="1439" y="515"/>
                  <a:pt x="1452" y="482"/>
                </a:cubicBezTo>
                <a:cubicBezTo>
                  <a:pt x="1465" y="449"/>
                  <a:pt x="1477" y="413"/>
                  <a:pt x="1492" y="382"/>
                </a:cubicBezTo>
                <a:cubicBezTo>
                  <a:pt x="1507" y="351"/>
                  <a:pt x="1523" y="327"/>
                  <a:pt x="1540" y="298"/>
                </a:cubicBezTo>
                <a:cubicBezTo>
                  <a:pt x="1557" y="269"/>
                  <a:pt x="1576" y="237"/>
                  <a:pt x="1592" y="206"/>
                </a:cubicBezTo>
                <a:cubicBezTo>
                  <a:pt x="1608" y="175"/>
                  <a:pt x="1623" y="131"/>
                  <a:pt x="1636" y="110"/>
                </a:cubicBezTo>
                <a:cubicBezTo>
                  <a:pt x="1649" y="89"/>
                  <a:pt x="1655" y="90"/>
                  <a:pt x="1668" y="78"/>
                </a:cubicBezTo>
                <a:cubicBezTo>
                  <a:pt x="1681" y="66"/>
                  <a:pt x="1697" y="49"/>
                  <a:pt x="1716" y="38"/>
                </a:cubicBezTo>
                <a:cubicBezTo>
                  <a:pt x="1735" y="27"/>
                  <a:pt x="1763" y="19"/>
                  <a:pt x="1784" y="14"/>
                </a:cubicBezTo>
                <a:cubicBezTo>
                  <a:pt x="1805" y="9"/>
                  <a:pt x="1822" y="3"/>
                  <a:pt x="1840" y="10"/>
                </a:cubicBezTo>
                <a:cubicBezTo>
                  <a:pt x="1858" y="17"/>
                  <a:pt x="1881" y="38"/>
                  <a:pt x="1896" y="54"/>
                </a:cubicBezTo>
                <a:cubicBezTo>
                  <a:pt x="1911" y="70"/>
                  <a:pt x="1919" y="87"/>
                  <a:pt x="1932" y="106"/>
                </a:cubicBezTo>
                <a:cubicBezTo>
                  <a:pt x="1945" y="125"/>
                  <a:pt x="1959" y="145"/>
                  <a:pt x="1972" y="166"/>
                </a:cubicBezTo>
                <a:cubicBezTo>
                  <a:pt x="1985" y="187"/>
                  <a:pt x="1996" y="210"/>
                  <a:pt x="2008" y="230"/>
                </a:cubicBezTo>
                <a:cubicBezTo>
                  <a:pt x="2020" y="250"/>
                  <a:pt x="2028" y="253"/>
                  <a:pt x="2044" y="286"/>
                </a:cubicBezTo>
                <a:cubicBezTo>
                  <a:pt x="2060" y="319"/>
                  <a:pt x="2088" y="387"/>
                  <a:pt x="2104" y="426"/>
                </a:cubicBezTo>
                <a:cubicBezTo>
                  <a:pt x="2120" y="465"/>
                  <a:pt x="2127" y="491"/>
                  <a:pt x="2140" y="518"/>
                </a:cubicBezTo>
                <a:cubicBezTo>
                  <a:pt x="2153" y="545"/>
                  <a:pt x="2169" y="557"/>
                  <a:pt x="2184" y="590"/>
                </a:cubicBezTo>
                <a:cubicBezTo>
                  <a:pt x="2199" y="623"/>
                  <a:pt x="2218" y="677"/>
                  <a:pt x="2232" y="714"/>
                </a:cubicBezTo>
                <a:cubicBezTo>
                  <a:pt x="2246" y="751"/>
                  <a:pt x="2256" y="787"/>
                  <a:pt x="2268" y="814"/>
                </a:cubicBezTo>
                <a:cubicBezTo>
                  <a:pt x="2280" y="841"/>
                  <a:pt x="2293" y="857"/>
                  <a:pt x="2304" y="878"/>
                </a:cubicBezTo>
                <a:cubicBezTo>
                  <a:pt x="2315" y="899"/>
                  <a:pt x="2327" y="924"/>
                  <a:pt x="2336" y="942"/>
                </a:cubicBezTo>
                <a:cubicBezTo>
                  <a:pt x="2345" y="960"/>
                  <a:pt x="2350" y="967"/>
                  <a:pt x="2360" y="986"/>
                </a:cubicBezTo>
                <a:cubicBezTo>
                  <a:pt x="2370" y="1005"/>
                  <a:pt x="2379" y="1031"/>
                  <a:pt x="2396" y="1054"/>
                </a:cubicBezTo>
                <a:cubicBezTo>
                  <a:pt x="2413" y="1077"/>
                  <a:pt x="2442" y="1105"/>
                  <a:pt x="2460" y="1122"/>
                </a:cubicBezTo>
                <a:cubicBezTo>
                  <a:pt x="2478" y="1139"/>
                  <a:pt x="2489" y="1146"/>
                  <a:pt x="2504" y="1154"/>
                </a:cubicBezTo>
                <a:cubicBezTo>
                  <a:pt x="2519" y="1162"/>
                  <a:pt x="2528" y="1173"/>
                  <a:pt x="2548" y="1170"/>
                </a:cubicBezTo>
                <a:cubicBezTo>
                  <a:pt x="2568" y="1167"/>
                  <a:pt x="2595" y="1155"/>
                  <a:pt x="2624" y="1138"/>
                </a:cubicBezTo>
                <a:cubicBezTo>
                  <a:pt x="2653" y="1121"/>
                  <a:pt x="2699" y="1087"/>
                  <a:pt x="2720" y="1066"/>
                </a:cubicBezTo>
                <a:cubicBezTo>
                  <a:pt x="2741" y="1045"/>
                  <a:pt x="2742" y="1033"/>
                  <a:pt x="2752" y="1014"/>
                </a:cubicBezTo>
                <a:cubicBezTo>
                  <a:pt x="2762" y="995"/>
                  <a:pt x="2770" y="976"/>
                  <a:pt x="2780" y="954"/>
                </a:cubicBezTo>
                <a:cubicBezTo>
                  <a:pt x="2790" y="932"/>
                  <a:pt x="2793" y="925"/>
                  <a:pt x="2812" y="882"/>
                </a:cubicBezTo>
                <a:cubicBezTo>
                  <a:pt x="2831" y="839"/>
                  <a:pt x="2869" y="749"/>
                  <a:pt x="2892" y="698"/>
                </a:cubicBezTo>
                <a:cubicBezTo>
                  <a:pt x="2915" y="647"/>
                  <a:pt x="2936" y="599"/>
                  <a:pt x="2948" y="574"/>
                </a:cubicBezTo>
                <a:cubicBezTo>
                  <a:pt x="2960" y="549"/>
                  <a:pt x="2955" y="564"/>
                  <a:pt x="2964" y="546"/>
                </a:cubicBezTo>
                <a:cubicBezTo>
                  <a:pt x="2973" y="528"/>
                  <a:pt x="2989" y="489"/>
                  <a:pt x="3004" y="466"/>
                </a:cubicBezTo>
                <a:cubicBezTo>
                  <a:pt x="3019" y="443"/>
                  <a:pt x="3041" y="433"/>
                  <a:pt x="3052" y="406"/>
                </a:cubicBezTo>
                <a:cubicBezTo>
                  <a:pt x="3063" y="379"/>
                  <a:pt x="3066" y="319"/>
                  <a:pt x="3068" y="302"/>
                </a:cubicBezTo>
              </a:path>
            </a:pathLst>
          </a:custGeom>
          <a:noFill/>
          <a:ln w="57150">
            <a:solidFill>
              <a:srgbClr val="008000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/>
          </a:p>
        </p:txBody>
      </p:sp>
      <p:sp>
        <p:nvSpPr>
          <p:cNvPr id="119824" name="Freeform 8"/>
          <p:cNvSpPr>
            <a:spLocks noChangeAspect="1"/>
          </p:cNvSpPr>
          <p:nvPr/>
        </p:nvSpPr>
        <p:spPr bwMode="auto">
          <a:xfrm>
            <a:off x="752475" y="4186238"/>
            <a:ext cx="5449888" cy="866775"/>
          </a:xfrm>
          <a:custGeom>
            <a:avLst/>
            <a:gdLst>
              <a:gd name="T0" fmla="*/ 78160 w 3068"/>
              <a:gd name="T1" fmla="*/ 164044 h 1173"/>
              <a:gd name="T2" fmla="*/ 227375 w 3068"/>
              <a:gd name="T3" fmla="*/ 63549 h 1173"/>
              <a:gd name="T4" fmla="*/ 412117 w 3068"/>
              <a:gd name="T5" fmla="*/ 1478 h 1173"/>
              <a:gd name="T6" fmla="*/ 632386 w 3068"/>
              <a:gd name="T7" fmla="*/ 45814 h 1173"/>
              <a:gd name="T8" fmla="*/ 781601 w 3068"/>
              <a:gd name="T9" fmla="*/ 119708 h 1173"/>
              <a:gd name="T10" fmla="*/ 895288 w 3068"/>
              <a:gd name="T11" fmla="*/ 220204 h 1173"/>
              <a:gd name="T12" fmla="*/ 1023186 w 3068"/>
              <a:gd name="T13" fmla="*/ 338434 h 1173"/>
              <a:gd name="T14" fmla="*/ 1158190 w 3068"/>
              <a:gd name="T15" fmla="*/ 453708 h 1173"/>
              <a:gd name="T16" fmla="*/ 1293194 w 3068"/>
              <a:gd name="T17" fmla="*/ 577850 h 1173"/>
              <a:gd name="T18" fmla="*/ 1371354 w 3068"/>
              <a:gd name="T19" fmla="*/ 666523 h 1173"/>
              <a:gd name="T20" fmla="*/ 1506358 w 3068"/>
              <a:gd name="T21" fmla="*/ 749284 h 1173"/>
              <a:gd name="T22" fmla="*/ 1627150 w 3068"/>
              <a:gd name="T23" fmla="*/ 823178 h 1173"/>
              <a:gd name="T24" fmla="*/ 1733732 w 3068"/>
              <a:gd name="T25" fmla="*/ 858647 h 1173"/>
              <a:gd name="T26" fmla="*/ 1911369 w 3068"/>
              <a:gd name="T27" fmla="*/ 855691 h 1173"/>
              <a:gd name="T28" fmla="*/ 2103216 w 3068"/>
              <a:gd name="T29" fmla="*/ 767018 h 1173"/>
              <a:gd name="T30" fmla="*/ 2259537 w 3068"/>
              <a:gd name="T31" fmla="*/ 648788 h 1173"/>
              <a:gd name="T32" fmla="*/ 2394540 w 3068"/>
              <a:gd name="T33" fmla="*/ 539425 h 1173"/>
              <a:gd name="T34" fmla="*/ 2579282 w 3068"/>
              <a:gd name="T35" fmla="*/ 356168 h 1173"/>
              <a:gd name="T36" fmla="*/ 2735602 w 3068"/>
              <a:gd name="T37" fmla="*/ 220204 h 1173"/>
              <a:gd name="T38" fmla="*/ 2906133 w 3068"/>
              <a:gd name="T39" fmla="*/ 81283 h 1173"/>
              <a:gd name="T40" fmla="*/ 3048242 w 3068"/>
              <a:gd name="T41" fmla="*/ 28080 h 1173"/>
              <a:gd name="T42" fmla="*/ 3268512 w 3068"/>
              <a:gd name="T43" fmla="*/ 7389 h 1173"/>
              <a:gd name="T44" fmla="*/ 3431937 w 3068"/>
              <a:gd name="T45" fmla="*/ 78327 h 1173"/>
              <a:gd name="T46" fmla="*/ 3566941 w 3068"/>
              <a:gd name="T47" fmla="*/ 169956 h 1173"/>
              <a:gd name="T48" fmla="*/ 3737473 w 3068"/>
              <a:gd name="T49" fmla="*/ 314788 h 1173"/>
              <a:gd name="T50" fmla="*/ 3879582 w 3068"/>
              <a:gd name="T51" fmla="*/ 435974 h 1173"/>
              <a:gd name="T52" fmla="*/ 4028796 w 3068"/>
              <a:gd name="T53" fmla="*/ 601496 h 1173"/>
              <a:gd name="T54" fmla="*/ 4149589 w 3068"/>
              <a:gd name="T55" fmla="*/ 696080 h 1173"/>
              <a:gd name="T56" fmla="*/ 4256171 w 3068"/>
              <a:gd name="T57" fmla="*/ 778841 h 1173"/>
              <a:gd name="T58" fmla="*/ 4448018 w 3068"/>
              <a:gd name="T59" fmla="*/ 852735 h 1173"/>
              <a:gd name="T60" fmla="*/ 4661182 w 3068"/>
              <a:gd name="T61" fmla="*/ 840912 h 1173"/>
              <a:gd name="T62" fmla="*/ 4888557 w 3068"/>
              <a:gd name="T63" fmla="*/ 749284 h 1173"/>
              <a:gd name="T64" fmla="*/ 4995139 w 3068"/>
              <a:gd name="T65" fmla="*/ 651744 h 1173"/>
              <a:gd name="T66" fmla="*/ 5236724 w 3068"/>
              <a:gd name="T67" fmla="*/ 424151 h 1173"/>
              <a:gd name="T68" fmla="*/ 5336201 w 3068"/>
              <a:gd name="T69" fmla="*/ 344345 h 1173"/>
              <a:gd name="T70" fmla="*/ 5449888 w 3068"/>
              <a:gd name="T71" fmla="*/ 223159 h 1173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w 3068"/>
              <a:gd name="T109" fmla="*/ 0 h 1173"/>
              <a:gd name="T110" fmla="*/ 3068 w 3068"/>
              <a:gd name="T111" fmla="*/ 1173 h 1173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T108" t="T109" r="T110" b="T111"/>
            <a:pathLst>
              <a:path w="3068" h="1173">
                <a:moveTo>
                  <a:pt x="0" y="294"/>
                </a:moveTo>
                <a:cubicBezTo>
                  <a:pt x="16" y="269"/>
                  <a:pt x="32" y="244"/>
                  <a:pt x="44" y="222"/>
                </a:cubicBezTo>
                <a:cubicBezTo>
                  <a:pt x="56" y="200"/>
                  <a:pt x="58" y="181"/>
                  <a:pt x="72" y="158"/>
                </a:cubicBezTo>
                <a:cubicBezTo>
                  <a:pt x="86" y="135"/>
                  <a:pt x="111" y="107"/>
                  <a:pt x="128" y="86"/>
                </a:cubicBezTo>
                <a:cubicBezTo>
                  <a:pt x="145" y="65"/>
                  <a:pt x="159" y="48"/>
                  <a:pt x="176" y="34"/>
                </a:cubicBezTo>
                <a:cubicBezTo>
                  <a:pt x="193" y="20"/>
                  <a:pt x="211" y="4"/>
                  <a:pt x="232" y="2"/>
                </a:cubicBezTo>
                <a:cubicBezTo>
                  <a:pt x="253" y="0"/>
                  <a:pt x="279" y="12"/>
                  <a:pt x="300" y="22"/>
                </a:cubicBezTo>
                <a:cubicBezTo>
                  <a:pt x="321" y="32"/>
                  <a:pt x="337" y="44"/>
                  <a:pt x="356" y="62"/>
                </a:cubicBezTo>
                <a:cubicBezTo>
                  <a:pt x="375" y="80"/>
                  <a:pt x="398" y="113"/>
                  <a:pt x="412" y="130"/>
                </a:cubicBezTo>
                <a:cubicBezTo>
                  <a:pt x="426" y="147"/>
                  <a:pt x="430" y="146"/>
                  <a:pt x="440" y="162"/>
                </a:cubicBezTo>
                <a:cubicBezTo>
                  <a:pt x="450" y="178"/>
                  <a:pt x="461" y="203"/>
                  <a:pt x="472" y="226"/>
                </a:cubicBezTo>
                <a:cubicBezTo>
                  <a:pt x="483" y="249"/>
                  <a:pt x="492" y="273"/>
                  <a:pt x="504" y="298"/>
                </a:cubicBezTo>
                <a:cubicBezTo>
                  <a:pt x="516" y="323"/>
                  <a:pt x="532" y="347"/>
                  <a:pt x="544" y="374"/>
                </a:cubicBezTo>
                <a:cubicBezTo>
                  <a:pt x="556" y="401"/>
                  <a:pt x="564" y="431"/>
                  <a:pt x="576" y="458"/>
                </a:cubicBezTo>
                <a:cubicBezTo>
                  <a:pt x="588" y="485"/>
                  <a:pt x="603" y="512"/>
                  <a:pt x="616" y="538"/>
                </a:cubicBezTo>
                <a:cubicBezTo>
                  <a:pt x="629" y="564"/>
                  <a:pt x="639" y="586"/>
                  <a:pt x="652" y="614"/>
                </a:cubicBezTo>
                <a:cubicBezTo>
                  <a:pt x="665" y="642"/>
                  <a:pt x="683" y="678"/>
                  <a:pt x="696" y="706"/>
                </a:cubicBezTo>
                <a:cubicBezTo>
                  <a:pt x="709" y="734"/>
                  <a:pt x="718" y="759"/>
                  <a:pt x="728" y="782"/>
                </a:cubicBezTo>
                <a:cubicBezTo>
                  <a:pt x="738" y="805"/>
                  <a:pt x="749" y="822"/>
                  <a:pt x="756" y="842"/>
                </a:cubicBezTo>
                <a:cubicBezTo>
                  <a:pt x="763" y="862"/>
                  <a:pt x="763" y="883"/>
                  <a:pt x="772" y="902"/>
                </a:cubicBezTo>
                <a:cubicBezTo>
                  <a:pt x="781" y="921"/>
                  <a:pt x="795" y="935"/>
                  <a:pt x="808" y="954"/>
                </a:cubicBezTo>
                <a:cubicBezTo>
                  <a:pt x="821" y="973"/>
                  <a:pt x="835" y="993"/>
                  <a:pt x="848" y="1014"/>
                </a:cubicBezTo>
                <a:cubicBezTo>
                  <a:pt x="861" y="1035"/>
                  <a:pt x="873" y="1065"/>
                  <a:pt x="884" y="1082"/>
                </a:cubicBezTo>
                <a:cubicBezTo>
                  <a:pt x="895" y="1099"/>
                  <a:pt x="906" y="1103"/>
                  <a:pt x="916" y="1114"/>
                </a:cubicBezTo>
                <a:cubicBezTo>
                  <a:pt x="926" y="1125"/>
                  <a:pt x="934" y="1138"/>
                  <a:pt x="944" y="1146"/>
                </a:cubicBezTo>
                <a:cubicBezTo>
                  <a:pt x="954" y="1154"/>
                  <a:pt x="965" y="1158"/>
                  <a:pt x="976" y="1162"/>
                </a:cubicBezTo>
                <a:cubicBezTo>
                  <a:pt x="987" y="1166"/>
                  <a:pt x="991" y="1171"/>
                  <a:pt x="1008" y="1170"/>
                </a:cubicBezTo>
                <a:cubicBezTo>
                  <a:pt x="1025" y="1169"/>
                  <a:pt x="1055" y="1170"/>
                  <a:pt x="1076" y="1158"/>
                </a:cubicBezTo>
                <a:cubicBezTo>
                  <a:pt x="1097" y="1146"/>
                  <a:pt x="1118" y="1118"/>
                  <a:pt x="1136" y="1098"/>
                </a:cubicBezTo>
                <a:cubicBezTo>
                  <a:pt x="1154" y="1078"/>
                  <a:pt x="1169" y="1059"/>
                  <a:pt x="1184" y="1038"/>
                </a:cubicBezTo>
                <a:cubicBezTo>
                  <a:pt x="1199" y="1017"/>
                  <a:pt x="1213" y="1001"/>
                  <a:pt x="1228" y="974"/>
                </a:cubicBezTo>
                <a:cubicBezTo>
                  <a:pt x="1243" y="947"/>
                  <a:pt x="1258" y="904"/>
                  <a:pt x="1272" y="878"/>
                </a:cubicBezTo>
                <a:cubicBezTo>
                  <a:pt x="1286" y="852"/>
                  <a:pt x="1299" y="843"/>
                  <a:pt x="1312" y="818"/>
                </a:cubicBezTo>
                <a:cubicBezTo>
                  <a:pt x="1325" y="793"/>
                  <a:pt x="1331" y="769"/>
                  <a:pt x="1348" y="730"/>
                </a:cubicBezTo>
                <a:cubicBezTo>
                  <a:pt x="1365" y="691"/>
                  <a:pt x="1395" y="623"/>
                  <a:pt x="1412" y="582"/>
                </a:cubicBezTo>
                <a:cubicBezTo>
                  <a:pt x="1429" y="541"/>
                  <a:pt x="1439" y="515"/>
                  <a:pt x="1452" y="482"/>
                </a:cubicBezTo>
                <a:cubicBezTo>
                  <a:pt x="1465" y="449"/>
                  <a:pt x="1477" y="413"/>
                  <a:pt x="1492" y="382"/>
                </a:cubicBezTo>
                <a:cubicBezTo>
                  <a:pt x="1507" y="351"/>
                  <a:pt x="1523" y="327"/>
                  <a:pt x="1540" y="298"/>
                </a:cubicBezTo>
                <a:cubicBezTo>
                  <a:pt x="1557" y="269"/>
                  <a:pt x="1576" y="237"/>
                  <a:pt x="1592" y="206"/>
                </a:cubicBezTo>
                <a:cubicBezTo>
                  <a:pt x="1608" y="175"/>
                  <a:pt x="1623" y="131"/>
                  <a:pt x="1636" y="110"/>
                </a:cubicBezTo>
                <a:cubicBezTo>
                  <a:pt x="1649" y="89"/>
                  <a:pt x="1655" y="90"/>
                  <a:pt x="1668" y="78"/>
                </a:cubicBezTo>
                <a:cubicBezTo>
                  <a:pt x="1681" y="66"/>
                  <a:pt x="1697" y="49"/>
                  <a:pt x="1716" y="38"/>
                </a:cubicBezTo>
                <a:cubicBezTo>
                  <a:pt x="1735" y="27"/>
                  <a:pt x="1763" y="19"/>
                  <a:pt x="1784" y="14"/>
                </a:cubicBezTo>
                <a:cubicBezTo>
                  <a:pt x="1805" y="9"/>
                  <a:pt x="1822" y="3"/>
                  <a:pt x="1840" y="10"/>
                </a:cubicBezTo>
                <a:cubicBezTo>
                  <a:pt x="1858" y="17"/>
                  <a:pt x="1881" y="38"/>
                  <a:pt x="1896" y="54"/>
                </a:cubicBezTo>
                <a:cubicBezTo>
                  <a:pt x="1911" y="70"/>
                  <a:pt x="1919" y="87"/>
                  <a:pt x="1932" y="106"/>
                </a:cubicBezTo>
                <a:cubicBezTo>
                  <a:pt x="1945" y="125"/>
                  <a:pt x="1959" y="145"/>
                  <a:pt x="1972" y="166"/>
                </a:cubicBezTo>
                <a:cubicBezTo>
                  <a:pt x="1985" y="187"/>
                  <a:pt x="1996" y="210"/>
                  <a:pt x="2008" y="230"/>
                </a:cubicBezTo>
                <a:cubicBezTo>
                  <a:pt x="2020" y="250"/>
                  <a:pt x="2028" y="253"/>
                  <a:pt x="2044" y="286"/>
                </a:cubicBezTo>
                <a:cubicBezTo>
                  <a:pt x="2060" y="319"/>
                  <a:pt x="2088" y="387"/>
                  <a:pt x="2104" y="426"/>
                </a:cubicBezTo>
                <a:cubicBezTo>
                  <a:pt x="2120" y="465"/>
                  <a:pt x="2127" y="491"/>
                  <a:pt x="2140" y="518"/>
                </a:cubicBezTo>
                <a:cubicBezTo>
                  <a:pt x="2153" y="545"/>
                  <a:pt x="2169" y="557"/>
                  <a:pt x="2184" y="590"/>
                </a:cubicBezTo>
                <a:cubicBezTo>
                  <a:pt x="2199" y="623"/>
                  <a:pt x="2218" y="677"/>
                  <a:pt x="2232" y="714"/>
                </a:cubicBezTo>
                <a:cubicBezTo>
                  <a:pt x="2246" y="751"/>
                  <a:pt x="2256" y="787"/>
                  <a:pt x="2268" y="814"/>
                </a:cubicBezTo>
                <a:cubicBezTo>
                  <a:pt x="2280" y="841"/>
                  <a:pt x="2293" y="857"/>
                  <a:pt x="2304" y="878"/>
                </a:cubicBezTo>
                <a:cubicBezTo>
                  <a:pt x="2315" y="899"/>
                  <a:pt x="2327" y="924"/>
                  <a:pt x="2336" y="942"/>
                </a:cubicBezTo>
                <a:cubicBezTo>
                  <a:pt x="2345" y="960"/>
                  <a:pt x="2350" y="967"/>
                  <a:pt x="2360" y="986"/>
                </a:cubicBezTo>
                <a:cubicBezTo>
                  <a:pt x="2370" y="1005"/>
                  <a:pt x="2379" y="1031"/>
                  <a:pt x="2396" y="1054"/>
                </a:cubicBezTo>
                <a:cubicBezTo>
                  <a:pt x="2413" y="1077"/>
                  <a:pt x="2442" y="1105"/>
                  <a:pt x="2460" y="1122"/>
                </a:cubicBezTo>
                <a:cubicBezTo>
                  <a:pt x="2478" y="1139"/>
                  <a:pt x="2489" y="1146"/>
                  <a:pt x="2504" y="1154"/>
                </a:cubicBezTo>
                <a:cubicBezTo>
                  <a:pt x="2519" y="1162"/>
                  <a:pt x="2528" y="1173"/>
                  <a:pt x="2548" y="1170"/>
                </a:cubicBezTo>
                <a:cubicBezTo>
                  <a:pt x="2568" y="1167"/>
                  <a:pt x="2595" y="1155"/>
                  <a:pt x="2624" y="1138"/>
                </a:cubicBezTo>
                <a:cubicBezTo>
                  <a:pt x="2653" y="1121"/>
                  <a:pt x="2699" y="1087"/>
                  <a:pt x="2720" y="1066"/>
                </a:cubicBezTo>
                <a:cubicBezTo>
                  <a:pt x="2741" y="1045"/>
                  <a:pt x="2742" y="1033"/>
                  <a:pt x="2752" y="1014"/>
                </a:cubicBezTo>
                <a:cubicBezTo>
                  <a:pt x="2762" y="995"/>
                  <a:pt x="2770" y="976"/>
                  <a:pt x="2780" y="954"/>
                </a:cubicBezTo>
                <a:cubicBezTo>
                  <a:pt x="2790" y="932"/>
                  <a:pt x="2793" y="925"/>
                  <a:pt x="2812" y="882"/>
                </a:cubicBezTo>
                <a:cubicBezTo>
                  <a:pt x="2831" y="839"/>
                  <a:pt x="2869" y="749"/>
                  <a:pt x="2892" y="698"/>
                </a:cubicBezTo>
                <a:cubicBezTo>
                  <a:pt x="2915" y="647"/>
                  <a:pt x="2936" y="599"/>
                  <a:pt x="2948" y="574"/>
                </a:cubicBezTo>
                <a:cubicBezTo>
                  <a:pt x="2960" y="549"/>
                  <a:pt x="2955" y="564"/>
                  <a:pt x="2964" y="546"/>
                </a:cubicBezTo>
                <a:cubicBezTo>
                  <a:pt x="2973" y="528"/>
                  <a:pt x="2989" y="489"/>
                  <a:pt x="3004" y="466"/>
                </a:cubicBezTo>
                <a:cubicBezTo>
                  <a:pt x="3019" y="443"/>
                  <a:pt x="3041" y="433"/>
                  <a:pt x="3052" y="406"/>
                </a:cubicBezTo>
                <a:cubicBezTo>
                  <a:pt x="3063" y="379"/>
                  <a:pt x="3066" y="319"/>
                  <a:pt x="3068" y="302"/>
                </a:cubicBezTo>
              </a:path>
            </a:pathLst>
          </a:custGeom>
          <a:noFill/>
          <a:ln w="57150">
            <a:solidFill>
              <a:srgbClr val="008000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/>
          </a:p>
        </p:txBody>
      </p:sp>
      <p:sp>
        <p:nvSpPr>
          <p:cNvPr id="119825" name="Rectangle 10"/>
          <p:cNvSpPr>
            <a:spLocks noChangeArrowheads="1"/>
          </p:cNvSpPr>
          <p:nvPr/>
        </p:nvSpPr>
        <p:spPr bwMode="auto">
          <a:xfrm>
            <a:off x="2465388" y="4035425"/>
            <a:ext cx="88900" cy="8382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19826" name="Rectangle 11"/>
          <p:cNvSpPr>
            <a:spLocks noChangeArrowheads="1"/>
          </p:cNvSpPr>
          <p:nvPr/>
        </p:nvSpPr>
        <p:spPr bwMode="auto">
          <a:xfrm>
            <a:off x="3836988" y="3197225"/>
            <a:ext cx="88900" cy="8382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19827" name="Rectangle 12"/>
          <p:cNvSpPr>
            <a:spLocks noChangeArrowheads="1"/>
          </p:cNvSpPr>
          <p:nvPr/>
        </p:nvSpPr>
        <p:spPr bwMode="auto">
          <a:xfrm>
            <a:off x="5281613" y="4060825"/>
            <a:ext cx="88900" cy="8382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19828" name="Line 13"/>
          <p:cNvSpPr>
            <a:spLocks noChangeShapeType="1"/>
          </p:cNvSpPr>
          <p:nvPr/>
        </p:nvSpPr>
        <p:spPr bwMode="auto">
          <a:xfrm>
            <a:off x="725488" y="3536950"/>
            <a:ext cx="34925" cy="6175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9829" name="Line 14"/>
          <p:cNvSpPr>
            <a:spLocks noChangeShapeType="1"/>
          </p:cNvSpPr>
          <p:nvPr/>
        </p:nvSpPr>
        <p:spPr bwMode="auto">
          <a:xfrm>
            <a:off x="6149975" y="3595688"/>
            <a:ext cx="39688" cy="644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9830" name="Line 15"/>
          <p:cNvSpPr>
            <a:spLocks noChangeShapeType="1"/>
          </p:cNvSpPr>
          <p:nvPr/>
        </p:nvSpPr>
        <p:spPr bwMode="auto">
          <a:xfrm>
            <a:off x="857250" y="3467100"/>
            <a:ext cx="31750" cy="6175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9831" name="Line 16"/>
          <p:cNvSpPr>
            <a:spLocks noChangeShapeType="1"/>
          </p:cNvSpPr>
          <p:nvPr/>
        </p:nvSpPr>
        <p:spPr bwMode="auto">
          <a:xfrm>
            <a:off x="971550" y="3381375"/>
            <a:ext cx="31750" cy="6159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9832" name="Line 17"/>
          <p:cNvSpPr>
            <a:spLocks noChangeShapeType="1"/>
          </p:cNvSpPr>
          <p:nvPr/>
        </p:nvSpPr>
        <p:spPr bwMode="auto">
          <a:xfrm>
            <a:off x="1249363" y="3357563"/>
            <a:ext cx="31750" cy="6159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9833" name="Line 18"/>
          <p:cNvSpPr>
            <a:spLocks noChangeShapeType="1"/>
          </p:cNvSpPr>
          <p:nvPr/>
        </p:nvSpPr>
        <p:spPr bwMode="auto">
          <a:xfrm>
            <a:off x="1379538" y="3357563"/>
            <a:ext cx="31750" cy="6159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9834" name="Line 19"/>
          <p:cNvSpPr>
            <a:spLocks noChangeShapeType="1"/>
          </p:cNvSpPr>
          <p:nvPr/>
        </p:nvSpPr>
        <p:spPr bwMode="auto">
          <a:xfrm>
            <a:off x="1511300" y="3506788"/>
            <a:ext cx="31750" cy="6175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9835" name="Line 20"/>
          <p:cNvSpPr>
            <a:spLocks noChangeShapeType="1"/>
          </p:cNvSpPr>
          <p:nvPr/>
        </p:nvSpPr>
        <p:spPr bwMode="auto">
          <a:xfrm>
            <a:off x="1625600" y="3536950"/>
            <a:ext cx="31750" cy="6175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9836" name="Line 21"/>
          <p:cNvSpPr>
            <a:spLocks noChangeShapeType="1"/>
          </p:cNvSpPr>
          <p:nvPr/>
        </p:nvSpPr>
        <p:spPr bwMode="auto">
          <a:xfrm>
            <a:off x="1771650" y="3760788"/>
            <a:ext cx="31750" cy="6175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9837" name="Line 22"/>
          <p:cNvSpPr>
            <a:spLocks noChangeShapeType="1"/>
          </p:cNvSpPr>
          <p:nvPr/>
        </p:nvSpPr>
        <p:spPr bwMode="auto">
          <a:xfrm>
            <a:off x="1887538" y="3760788"/>
            <a:ext cx="31750" cy="6175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9838" name="Line 23"/>
          <p:cNvSpPr>
            <a:spLocks noChangeShapeType="1"/>
          </p:cNvSpPr>
          <p:nvPr/>
        </p:nvSpPr>
        <p:spPr bwMode="auto">
          <a:xfrm>
            <a:off x="2001838" y="3935413"/>
            <a:ext cx="31750" cy="6159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9839" name="Line 24"/>
          <p:cNvSpPr>
            <a:spLocks noChangeShapeType="1"/>
          </p:cNvSpPr>
          <p:nvPr/>
        </p:nvSpPr>
        <p:spPr bwMode="auto">
          <a:xfrm>
            <a:off x="2130425" y="4060825"/>
            <a:ext cx="31750" cy="6175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9840" name="Line 25"/>
          <p:cNvSpPr>
            <a:spLocks noChangeShapeType="1"/>
          </p:cNvSpPr>
          <p:nvPr/>
        </p:nvSpPr>
        <p:spPr bwMode="auto">
          <a:xfrm>
            <a:off x="2260600" y="4162425"/>
            <a:ext cx="34925" cy="6175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9841" name="Line 26"/>
          <p:cNvSpPr>
            <a:spLocks noChangeShapeType="1"/>
          </p:cNvSpPr>
          <p:nvPr/>
        </p:nvSpPr>
        <p:spPr bwMode="auto">
          <a:xfrm>
            <a:off x="2392363" y="4224338"/>
            <a:ext cx="31750" cy="6159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9842" name="Line 27"/>
          <p:cNvSpPr>
            <a:spLocks noChangeShapeType="1"/>
          </p:cNvSpPr>
          <p:nvPr/>
        </p:nvSpPr>
        <p:spPr bwMode="auto">
          <a:xfrm>
            <a:off x="2654300" y="4194175"/>
            <a:ext cx="31750" cy="6159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9843" name="Line 28"/>
          <p:cNvSpPr>
            <a:spLocks noChangeShapeType="1"/>
          </p:cNvSpPr>
          <p:nvPr/>
        </p:nvSpPr>
        <p:spPr bwMode="auto">
          <a:xfrm>
            <a:off x="2784475" y="4090988"/>
            <a:ext cx="31750" cy="6175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9844" name="Line 29"/>
          <p:cNvSpPr>
            <a:spLocks noChangeShapeType="1"/>
          </p:cNvSpPr>
          <p:nvPr/>
        </p:nvSpPr>
        <p:spPr bwMode="auto">
          <a:xfrm>
            <a:off x="2914650" y="4060825"/>
            <a:ext cx="31750" cy="6175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9845" name="Line 30"/>
          <p:cNvSpPr>
            <a:spLocks noChangeShapeType="1"/>
          </p:cNvSpPr>
          <p:nvPr/>
        </p:nvSpPr>
        <p:spPr bwMode="auto">
          <a:xfrm>
            <a:off x="3046413" y="3935413"/>
            <a:ext cx="31750" cy="6159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9846" name="Line 31"/>
          <p:cNvSpPr>
            <a:spLocks noChangeShapeType="1"/>
          </p:cNvSpPr>
          <p:nvPr/>
        </p:nvSpPr>
        <p:spPr bwMode="auto">
          <a:xfrm>
            <a:off x="3194050" y="3760788"/>
            <a:ext cx="33338" cy="6175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9847" name="Line 32"/>
          <p:cNvSpPr>
            <a:spLocks noChangeShapeType="1"/>
          </p:cNvSpPr>
          <p:nvPr/>
        </p:nvSpPr>
        <p:spPr bwMode="auto">
          <a:xfrm>
            <a:off x="3308350" y="3621088"/>
            <a:ext cx="31750" cy="6159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9848" name="Line 33"/>
          <p:cNvSpPr>
            <a:spLocks noChangeShapeType="1"/>
          </p:cNvSpPr>
          <p:nvPr/>
        </p:nvSpPr>
        <p:spPr bwMode="auto">
          <a:xfrm>
            <a:off x="3422650" y="3573463"/>
            <a:ext cx="31750" cy="6159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9849" name="Line 34"/>
          <p:cNvSpPr>
            <a:spLocks noChangeShapeType="1"/>
          </p:cNvSpPr>
          <p:nvPr/>
        </p:nvSpPr>
        <p:spPr bwMode="auto">
          <a:xfrm>
            <a:off x="3554413" y="3536950"/>
            <a:ext cx="31750" cy="6175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9850" name="Line 35"/>
          <p:cNvSpPr>
            <a:spLocks noChangeShapeType="1"/>
          </p:cNvSpPr>
          <p:nvPr/>
        </p:nvSpPr>
        <p:spPr bwMode="auto">
          <a:xfrm>
            <a:off x="3700463" y="3405188"/>
            <a:ext cx="31750" cy="6159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9851" name="Line 36"/>
          <p:cNvSpPr>
            <a:spLocks noChangeShapeType="1"/>
          </p:cNvSpPr>
          <p:nvPr/>
        </p:nvSpPr>
        <p:spPr bwMode="auto">
          <a:xfrm>
            <a:off x="3946525" y="3357563"/>
            <a:ext cx="31750" cy="6159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9852" name="Line 37"/>
          <p:cNvSpPr>
            <a:spLocks noChangeShapeType="1"/>
          </p:cNvSpPr>
          <p:nvPr/>
        </p:nvSpPr>
        <p:spPr bwMode="auto">
          <a:xfrm>
            <a:off x="4076700" y="3357563"/>
            <a:ext cx="31750" cy="6159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9853" name="Line 38"/>
          <p:cNvSpPr>
            <a:spLocks noChangeShapeType="1"/>
          </p:cNvSpPr>
          <p:nvPr/>
        </p:nvSpPr>
        <p:spPr bwMode="auto">
          <a:xfrm>
            <a:off x="4206875" y="3467100"/>
            <a:ext cx="33338" cy="6175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9854" name="Line 39"/>
          <p:cNvSpPr>
            <a:spLocks noChangeShapeType="1"/>
          </p:cNvSpPr>
          <p:nvPr/>
        </p:nvSpPr>
        <p:spPr bwMode="auto">
          <a:xfrm>
            <a:off x="4338638" y="3536950"/>
            <a:ext cx="31750" cy="6175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9855" name="Line 40"/>
          <p:cNvSpPr>
            <a:spLocks noChangeShapeType="1"/>
          </p:cNvSpPr>
          <p:nvPr/>
        </p:nvSpPr>
        <p:spPr bwMode="auto">
          <a:xfrm>
            <a:off x="4500563" y="3668713"/>
            <a:ext cx="31750" cy="6159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9856" name="Line 41"/>
          <p:cNvSpPr>
            <a:spLocks noChangeShapeType="1"/>
          </p:cNvSpPr>
          <p:nvPr/>
        </p:nvSpPr>
        <p:spPr bwMode="auto">
          <a:xfrm>
            <a:off x="4632325" y="3811588"/>
            <a:ext cx="31750" cy="6159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9857" name="Line 42"/>
          <p:cNvSpPr>
            <a:spLocks noChangeShapeType="1"/>
          </p:cNvSpPr>
          <p:nvPr/>
        </p:nvSpPr>
        <p:spPr bwMode="auto">
          <a:xfrm>
            <a:off x="4762500" y="3960813"/>
            <a:ext cx="31750" cy="6159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9858" name="Line 43"/>
          <p:cNvSpPr>
            <a:spLocks noChangeShapeType="1"/>
          </p:cNvSpPr>
          <p:nvPr/>
        </p:nvSpPr>
        <p:spPr bwMode="auto">
          <a:xfrm>
            <a:off x="4892675" y="4022725"/>
            <a:ext cx="31750" cy="6159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9859" name="Line 44"/>
          <p:cNvSpPr>
            <a:spLocks noChangeShapeType="1"/>
          </p:cNvSpPr>
          <p:nvPr/>
        </p:nvSpPr>
        <p:spPr bwMode="auto">
          <a:xfrm>
            <a:off x="5024438" y="4162425"/>
            <a:ext cx="31750" cy="6175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9860" name="Line 45"/>
          <p:cNvSpPr>
            <a:spLocks noChangeShapeType="1"/>
          </p:cNvSpPr>
          <p:nvPr/>
        </p:nvSpPr>
        <p:spPr bwMode="auto">
          <a:xfrm>
            <a:off x="5154613" y="4194175"/>
            <a:ext cx="31750" cy="6159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9861" name="Line 46"/>
          <p:cNvSpPr>
            <a:spLocks noChangeShapeType="1"/>
          </p:cNvSpPr>
          <p:nvPr/>
        </p:nvSpPr>
        <p:spPr bwMode="auto">
          <a:xfrm>
            <a:off x="5448300" y="4176713"/>
            <a:ext cx="31750" cy="6159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9862" name="Line 47"/>
          <p:cNvSpPr>
            <a:spLocks noChangeShapeType="1"/>
          </p:cNvSpPr>
          <p:nvPr/>
        </p:nvSpPr>
        <p:spPr bwMode="auto">
          <a:xfrm>
            <a:off x="5545138" y="4090988"/>
            <a:ext cx="31750" cy="6175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9863" name="Line 48"/>
          <p:cNvSpPr>
            <a:spLocks noChangeShapeType="1"/>
          </p:cNvSpPr>
          <p:nvPr/>
        </p:nvSpPr>
        <p:spPr bwMode="auto">
          <a:xfrm>
            <a:off x="5643563" y="4022725"/>
            <a:ext cx="31750" cy="6159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9864" name="Line 49"/>
          <p:cNvSpPr>
            <a:spLocks noChangeShapeType="1"/>
          </p:cNvSpPr>
          <p:nvPr/>
        </p:nvSpPr>
        <p:spPr bwMode="auto">
          <a:xfrm>
            <a:off x="5775325" y="3900488"/>
            <a:ext cx="31750" cy="6159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9865" name="Line 50"/>
          <p:cNvSpPr>
            <a:spLocks noChangeShapeType="1"/>
          </p:cNvSpPr>
          <p:nvPr/>
        </p:nvSpPr>
        <p:spPr bwMode="auto">
          <a:xfrm>
            <a:off x="5905500" y="3810000"/>
            <a:ext cx="31750" cy="6175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9866" name="Line 51"/>
          <p:cNvSpPr>
            <a:spLocks noChangeShapeType="1"/>
          </p:cNvSpPr>
          <p:nvPr/>
        </p:nvSpPr>
        <p:spPr bwMode="auto">
          <a:xfrm>
            <a:off x="6035675" y="3668713"/>
            <a:ext cx="31750" cy="6159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9867" name="Freeform 54"/>
          <p:cNvSpPr>
            <a:spLocks noChangeAspect="1"/>
          </p:cNvSpPr>
          <p:nvPr/>
        </p:nvSpPr>
        <p:spPr bwMode="auto">
          <a:xfrm>
            <a:off x="752475" y="4016375"/>
            <a:ext cx="5449888" cy="865188"/>
          </a:xfrm>
          <a:custGeom>
            <a:avLst/>
            <a:gdLst>
              <a:gd name="T0" fmla="*/ 78160 w 3068"/>
              <a:gd name="T1" fmla="*/ 163744 h 1173"/>
              <a:gd name="T2" fmla="*/ 227375 w 3068"/>
              <a:gd name="T3" fmla="*/ 63432 h 1173"/>
              <a:gd name="T4" fmla="*/ 412117 w 3068"/>
              <a:gd name="T5" fmla="*/ 1475 h 1173"/>
              <a:gd name="T6" fmla="*/ 632386 w 3068"/>
              <a:gd name="T7" fmla="*/ 45730 h 1173"/>
              <a:gd name="T8" fmla="*/ 781601 w 3068"/>
              <a:gd name="T9" fmla="*/ 119489 h 1173"/>
              <a:gd name="T10" fmla="*/ 895288 w 3068"/>
              <a:gd name="T11" fmla="*/ 219801 h 1173"/>
              <a:gd name="T12" fmla="*/ 1023186 w 3068"/>
              <a:gd name="T13" fmla="*/ 337814 h 1173"/>
              <a:gd name="T14" fmla="*/ 1158190 w 3068"/>
              <a:gd name="T15" fmla="*/ 452878 h 1173"/>
              <a:gd name="T16" fmla="*/ 1293194 w 3068"/>
              <a:gd name="T17" fmla="*/ 576792 h 1173"/>
              <a:gd name="T18" fmla="*/ 1371354 w 3068"/>
              <a:gd name="T19" fmla="*/ 665302 h 1173"/>
              <a:gd name="T20" fmla="*/ 1506358 w 3068"/>
              <a:gd name="T21" fmla="*/ 747912 h 1173"/>
              <a:gd name="T22" fmla="*/ 1627150 w 3068"/>
              <a:gd name="T23" fmla="*/ 821670 h 1173"/>
              <a:gd name="T24" fmla="*/ 1733732 w 3068"/>
              <a:gd name="T25" fmla="*/ 857075 h 1173"/>
              <a:gd name="T26" fmla="*/ 1911369 w 3068"/>
              <a:gd name="T27" fmla="*/ 854124 h 1173"/>
              <a:gd name="T28" fmla="*/ 2103216 w 3068"/>
              <a:gd name="T29" fmla="*/ 765614 h 1173"/>
              <a:gd name="T30" fmla="*/ 2259537 w 3068"/>
              <a:gd name="T31" fmla="*/ 647600 h 1173"/>
              <a:gd name="T32" fmla="*/ 2394540 w 3068"/>
              <a:gd name="T33" fmla="*/ 538438 h 1173"/>
              <a:gd name="T34" fmla="*/ 2579282 w 3068"/>
              <a:gd name="T35" fmla="*/ 355516 h 1173"/>
              <a:gd name="T36" fmla="*/ 2735602 w 3068"/>
              <a:gd name="T37" fmla="*/ 219801 h 1173"/>
              <a:gd name="T38" fmla="*/ 2906133 w 3068"/>
              <a:gd name="T39" fmla="*/ 81134 h 1173"/>
              <a:gd name="T40" fmla="*/ 3048242 w 3068"/>
              <a:gd name="T41" fmla="*/ 28028 h 1173"/>
              <a:gd name="T42" fmla="*/ 3268512 w 3068"/>
              <a:gd name="T43" fmla="*/ 7376 h 1173"/>
              <a:gd name="T44" fmla="*/ 3431937 w 3068"/>
              <a:gd name="T45" fmla="*/ 78184 h 1173"/>
              <a:gd name="T46" fmla="*/ 3566941 w 3068"/>
              <a:gd name="T47" fmla="*/ 169645 h 1173"/>
              <a:gd name="T48" fmla="*/ 3737473 w 3068"/>
              <a:gd name="T49" fmla="*/ 314211 h 1173"/>
              <a:gd name="T50" fmla="*/ 3879582 w 3068"/>
              <a:gd name="T51" fmla="*/ 435176 h 1173"/>
              <a:gd name="T52" fmla="*/ 4028796 w 3068"/>
              <a:gd name="T53" fmla="*/ 600395 h 1173"/>
              <a:gd name="T54" fmla="*/ 4149589 w 3068"/>
              <a:gd name="T55" fmla="*/ 694806 h 1173"/>
              <a:gd name="T56" fmla="*/ 4256171 w 3068"/>
              <a:gd name="T57" fmla="*/ 777415 h 1173"/>
              <a:gd name="T58" fmla="*/ 4448018 w 3068"/>
              <a:gd name="T59" fmla="*/ 851174 h 1173"/>
              <a:gd name="T60" fmla="*/ 4661182 w 3068"/>
              <a:gd name="T61" fmla="*/ 839373 h 1173"/>
              <a:gd name="T62" fmla="*/ 4888557 w 3068"/>
              <a:gd name="T63" fmla="*/ 747912 h 1173"/>
              <a:gd name="T64" fmla="*/ 4995139 w 3068"/>
              <a:gd name="T65" fmla="*/ 650550 h 1173"/>
              <a:gd name="T66" fmla="*/ 5236724 w 3068"/>
              <a:gd name="T67" fmla="*/ 423374 h 1173"/>
              <a:gd name="T68" fmla="*/ 5336201 w 3068"/>
              <a:gd name="T69" fmla="*/ 343715 h 1173"/>
              <a:gd name="T70" fmla="*/ 5449888 w 3068"/>
              <a:gd name="T71" fmla="*/ 222751 h 1173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w 3068"/>
              <a:gd name="T109" fmla="*/ 0 h 1173"/>
              <a:gd name="T110" fmla="*/ 3068 w 3068"/>
              <a:gd name="T111" fmla="*/ 1173 h 1173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T108" t="T109" r="T110" b="T111"/>
            <a:pathLst>
              <a:path w="3068" h="1173">
                <a:moveTo>
                  <a:pt x="0" y="294"/>
                </a:moveTo>
                <a:cubicBezTo>
                  <a:pt x="16" y="269"/>
                  <a:pt x="32" y="244"/>
                  <a:pt x="44" y="222"/>
                </a:cubicBezTo>
                <a:cubicBezTo>
                  <a:pt x="56" y="200"/>
                  <a:pt x="58" y="181"/>
                  <a:pt x="72" y="158"/>
                </a:cubicBezTo>
                <a:cubicBezTo>
                  <a:pt x="86" y="135"/>
                  <a:pt x="111" y="107"/>
                  <a:pt x="128" y="86"/>
                </a:cubicBezTo>
                <a:cubicBezTo>
                  <a:pt x="145" y="65"/>
                  <a:pt x="159" y="48"/>
                  <a:pt x="176" y="34"/>
                </a:cubicBezTo>
                <a:cubicBezTo>
                  <a:pt x="193" y="20"/>
                  <a:pt x="211" y="4"/>
                  <a:pt x="232" y="2"/>
                </a:cubicBezTo>
                <a:cubicBezTo>
                  <a:pt x="253" y="0"/>
                  <a:pt x="279" y="12"/>
                  <a:pt x="300" y="22"/>
                </a:cubicBezTo>
                <a:cubicBezTo>
                  <a:pt x="321" y="32"/>
                  <a:pt x="337" y="44"/>
                  <a:pt x="356" y="62"/>
                </a:cubicBezTo>
                <a:cubicBezTo>
                  <a:pt x="375" y="80"/>
                  <a:pt x="398" y="113"/>
                  <a:pt x="412" y="130"/>
                </a:cubicBezTo>
                <a:cubicBezTo>
                  <a:pt x="426" y="147"/>
                  <a:pt x="430" y="146"/>
                  <a:pt x="440" y="162"/>
                </a:cubicBezTo>
                <a:cubicBezTo>
                  <a:pt x="450" y="178"/>
                  <a:pt x="461" y="203"/>
                  <a:pt x="472" y="226"/>
                </a:cubicBezTo>
                <a:cubicBezTo>
                  <a:pt x="483" y="249"/>
                  <a:pt x="492" y="273"/>
                  <a:pt x="504" y="298"/>
                </a:cubicBezTo>
                <a:cubicBezTo>
                  <a:pt x="516" y="323"/>
                  <a:pt x="532" y="347"/>
                  <a:pt x="544" y="374"/>
                </a:cubicBezTo>
                <a:cubicBezTo>
                  <a:pt x="556" y="401"/>
                  <a:pt x="564" y="431"/>
                  <a:pt x="576" y="458"/>
                </a:cubicBezTo>
                <a:cubicBezTo>
                  <a:pt x="588" y="485"/>
                  <a:pt x="603" y="512"/>
                  <a:pt x="616" y="538"/>
                </a:cubicBezTo>
                <a:cubicBezTo>
                  <a:pt x="629" y="564"/>
                  <a:pt x="639" y="586"/>
                  <a:pt x="652" y="614"/>
                </a:cubicBezTo>
                <a:cubicBezTo>
                  <a:pt x="665" y="642"/>
                  <a:pt x="683" y="678"/>
                  <a:pt x="696" y="706"/>
                </a:cubicBezTo>
                <a:cubicBezTo>
                  <a:pt x="709" y="734"/>
                  <a:pt x="718" y="759"/>
                  <a:pt x="728" y="782"/>
                </a:cubicBezTo>
                <a:cubicBezTo>
                  <a:pt x="738" y="805"/>
                  <a:pt x="749" y="822"/>
                  <a:pt x="756" y="842"/>
                </a:cubicBezTo>
                <a:cubicBezTo>
                  <a:pt x="763" y="862"/>
                  <a:pt x="763" y="883"/>
                  <a:pt x="772" y="902"/>
                </a:cubicBezTo>
                <a:cubicBezTo>
                  <a:pt x="781" y="921"/>
                  <a:pt x="795" y="935"/>
                  <a:pt x="808" y="954"/>
                </a:cubicBezTo>
                <a:cubicBezTo>
                  <a:pt x="821" y="973"/>
                  <a:pt x="835" y="993"/>
                  <a:pt x="848" y="1014"/>
                </a:cubicBezTo>
                <a:cubicBezTo>
                  <a:pt x="861" y="1035"/>
                  <a:pt x="873" y="1065"/>
                  <a:pt x="884" y="1082"/>
                </a:cubicBezTo>
                <a:cubicBezTo>
                  <a:pt x="895" y="1099"/>
                  <a:pt x="906" y="1103"/>
                  <a:pt x="916" y="1114"/>
                </a:cubicBezTo>
                <a:cubicBezTo>
                  <a:pt x="926" y="1125"/>
                  <a:pt x="934" y="1138"/>
                  <a:pt x="944" y="1146"/>
                </a:cubicBezTo>
                <a:cubicBezTo>
                  <a:pt x="954" y="1154"/>
                  <a:pt x="965" y="1158"/>
                  <a:pt x="976" y="1162"/>
                </a:cubicBezTo>
                <a:cubicBezTo>
                  <a:pt x="987" y="1166"/>
                  <a:pt x="991" y="1171"/>
                  <a:pt x="1008" y="1170"/>
                </a:cubicBezTo>
                <a:cubicBezTo>
                  <a:pt x="1025" y="1169"/>
                  <a:pt x="1055" y="1170"/>
                  <a:pt x="1076" y="1158"/>
                </a:cubicBezTo>
                <a:cubicBezTo>
                  <a:pt x="1097" y="1146"/>
                  <a:pt x="1118" y="1118"/>
                  <a:pt x="1136" y="1098"/>
                </a:cubicBezTo>
                <a:cubicBezTo>
                  <a:pt x="1154" y="1078"/>
                  <a:pt x="1169" y="1059"/>
                  <a:pt x="1184" y="1038"/>
                </a:cubicBezTo>
                <a:cubicBezTo>
                  <a:pt x="1199" y="1017"/>
                  <a:pt x="1213" y="1001"/>
                  <a:pt x="1228" y="974"/>
                </a:cubicBezTo>
                <a:cubicBezTo>
                  <a:pt x="1243" y="947"/>
                  <a:pt x="1258" y="904"/>
                  <a:pt x="1272" y="878"/>
                </a:cubicBezTo>
                <a:cubicBezTo>
                  <a:pt x="1286" y="852"/>
                  <a:pt x="1299" y="843"/>
                  <a:pt x="1312" y="818"/>
                </a:cubicBezTo>
                <a:cubicBezTo>
                  <a:pt x="1325" y="793"/>
                  <a:pt x="1331" y="769"/>
                  <a:pt x="1348" y="730"/>
                </a:cubicBezTo>
                <a:cubicBezTo>
                  <a:pt x="1365" y="691"/>
                  <a:pt x="1395" y="623"/>
                  <a:pt x="1412" y="582"/>
                </a:cubicBezTo>
                <a:cubicBezTo>
                  <a:pt x="1429" y="541"/>
                  <a:pt x="1439" y="515"/>
                  <a:pt x="1452" y="482"/>
                </a:cubicBezTo>
                <a:cubicBezTo>
                  <a:pt x="1465" y="449"/>
                  <a:pt x="1477" y="413"/>
                  <a:pt x="1492" y="382"/>
                </a:cubicBezTo>
                <a:cubicBezTo>
                  <a:pt x="1507" y="351"/>
                  <a:pt x="1523" y="327"/>
                  <a:pt x="1540" y="298"/>
                </a:cubicBezTo>
                <a:cubicBezTo>
                  <a:pt x="1557" y="269"/>
                  <a:pt x="1576" y="237"/>
                  <a:pt x="1592" y="206"/>
                </a:cubicBezTo>
                <a:cubicBezTo>
                  <a:pt x="1608" y="175"/>
                  <a:pt x="1623" y="131"/>
                  <a:pt x="1636" y="110"/>
                </a:cubicBezTo>
                <a:cubicBezTo>
                  <a:pt x="1649" y="89"/>
                  <a:pt x="1655" y="90"/>
                  <a:pt x="1668" y="78"/>
                </a:cubicBezTo>
                <a:cubicBezTo>
                  <a:pt x="1681" y="66"/>
                  <a:pt x="1697" y="49"/>
                  <a:pt x="1716" y="38"/>
                </a:cubicBezTo>
                <a:cubicBezTo>
                  <a:pt x="1735" y="27"/>
                  <a:pt x="1763" y="19"/>
                  <a:pt x="1784" y="14"/>
                </a:cubicBezTo>
                <a:cubicBezTo>
                  <a:pt x="1805" y="9"/>
                  <a:pt x="1822" y="3"/>
                  <a:pt x="1840" y="10"/>
                </a:cubicBezTo>
                <a:cubicBezTo>
                  <a:pt x="1858" y="17"/>
                  <a:pt x="1881" y="38"/>
                  <a:pt x="1896" y="54"/>
                </a:cubicBezTo>
                <a:cubicBezTo>
                  <a:pt x="1911" y="70"/>
                  <a:pt x="1919" y="87"/>
                  <a:pt x="1932" y="106"/>
                </a:cubicBezTo>
                <a:cubicBezTo>
                  <a:pt x="1945" y="125"/>
                  <a:pt x="1959" y="145"/>
                  <a:pt x="1972" y="166"/>
                </a:cubicBezTo>
                <a:cubicBezTo>
                  <a:pt x="1985" y="187"/>
                  <a:pt x="1996" y="210"/>
                  <a:pt x="2008" y="230"/>
                </a:cubicBezTo>
                <a:cubicBezTo>
                  <a:pt x="2020" y="250"/>
                  <a:pt x="2028" y="253"/>
                  <a:pt x="2044" y="286"/>
                </a:cubicBezTo>
                <a:cubicBezTo>
                  <a:pt x="2060" y="319"/>
                  <a:pt x="2088" y="387"/>
                  <a:pt x="2104" y="426"/>
                </a:cubicBezTo>
                <a:cubicBezTo>
                  <a:pt x="2120" y="465"/>
                  <a:pt x="2127" y="491"/>
                  <a:pt x="2140" y="518"/>
                </a:cubicBezTo>
                <a:cubicBezTo>
                  <a:pt x="2153" y="545"/>
                  <a:pt x="2169" y="557"/>
                  <a:pt x="2184" y="590"/>
                </a:cubicBezTo>
                <a:cubicBezTo>
                  <a:pt x="2199" y="623"/>
                  <a:pt x="2218" y="677"/>
                  <a:pt x="2232" y="714"/>
                </a:cubicBezTo>
                <a:cubicBezTo>
                  <a:pt x="2246" y="751"/>
                  <a:pt x="2256" y="787"/>
                  <a:pt x="2268" y="814"/>
                </a:cubicBezTo>
                <a:cubicBezTo>
                  <a:pt x="2280" y="841"/>
                  <a:pt x="2293" y="857"/>
                  <a:pt x="2304" y="878"/>
                </a:cubicBezTo>
                <a:cubicBezTo>
                  <a:pt x="2315" y="899"/>
                  <a:pt x="2327" y="924"/>
                  <a:pt x="2336" y="942"/>
                </a:cubicBezTo>
                <a:cubicBezTo>
                  <a:pt x="2345" y="960"/>
                  <a:pt x="2350" y="967"/>
                  <a:pt x="2360" y="986"/>
                </a:cubicBezTo>
                <a:cubicBezTo>
                  <a:pt x="2370" y="1005"/>
                  <a:pt x="2379" y="1031"/>
                  <a:pt x="2396" y="1054"/>
                </a:cubicBezTo>
                <a:cubicBezTo>
                  <a:pt x="2413" y="1077"/>
                  <a:pt x="2442" y="1105"/>
                  <a:pt x="2460" y="1122"/>
                </a:cubicBezTo>
                <a:cubicBezTo>
                  <a:pt x="2478" y="1139"/>
                  <a:pt x="2489" y="1146"/>
                  <a:pt x="2504" y="1154"/>
                </a:cubicBezTo>
                <a:cubicBezTo>
                  <a:pt x="2519" y="1162"/>
                  <a:pt x="2528" y="1173"/>
                  <a:pt x="2548" y="1170"/>
                </a:cubicBezTo>
                <a:cubicBezTo>
                  <a:pt x="2568" y="1167"/>
                  <a:pt x="2595" y="1155"/>
                  <a:pt x="2624" y="1138"/>
                </a:cubicBezTo>
                <a:cubicBezTo>
                  <a:pt x="2653" y="1121"/>
                  <a:pt x="2699" y="1087"/>
                  <a:pt x="2720" y="1066"/>
                </a:cubicBezTo>
                <a:cubicBezTo>
                  <a:pt x="2741" y="1045"/>
                  <a:pt x="2742" y="1033"/>
                  <a:pt x="2752" y="1014"/>
                </a:cubicBezTo>
                <a:cubicBezTo>
                  <a:pt x="2762" y="995"/>
                  <a:pt x="2770" y="976"/>
                  <a:pt x="2780" y="954"/>
                </a:cubicBezTo>
                <a:cubicBezTo>
                  <a:pt x="2790" y="932"/>
                  <a:pt x="2793" y="925"/>
                  <a:pt x="2812" y="882"/>
                </a:cubicBezTo>
                <a:cubicBezTo>
                  <a:pt x="2831" y="839"/>
                  <a:pt x="2869" y="749"/>
                  <a:pt x="2892" y="698"/>
                </a:cubicBezTo>
                <a:cubicBezTo>
                  <a:pt x="2915" y="647"/>
                  <a:pt x="2936" y="599"/>
                  <a:pt x="2948" y="574"/>
                </a:cubicBezTo>
                <a:cubicBezTo>
                  <a:pt x="2960" y="549"/>
                  <a:pt x="2955" y="564"/>
                  <a:pt x="2964" y="546"/>
                </a:cubicBezTo>
                <a:cubicBezTo>
                  <a:pt x="2973" y="528"/>
                  <a:pt x="2989" y="489"/>
                  <a:pt x="3004" y="466"/>
                </a:cubicBezTo>
                <a:cubicBezTo>
                  <a:pt x="3019" y="443"/>
                  <a:pt x="3041" y="433"/>
                  <a:pt x="3052" y="406"/>
                </a:cubicBezTo>
                <a:cubicBezTo>
                  <a:pt x="3063" y="379"/>
                  <a:pt x="3066" y="319"/>
                  <a:pt x="3068" y="302"/>
                </a:cubicBezTo>
              </a:path>
            </a:pathLst>
          </a:custGeom>
          <a:noFill/>
          <a:ln w="28575">
            <a:solidFill>
              <a:srgbClr val="008000"/>
            </a:solidFill>
            <a:prstDash val="dash"/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/>
          </a:p>
        </p:txBody>
      </p:sp>
      <p:sp>
        <p:nvSpPr>
          <p:cNvPr id="119868" name="Freeform 55"/>
          <p:cNvSpPr>
            <a:spLocks noChangeAspect="1"/>
          </p:cNvSpPr>
          <p:nvPr/>
        </p:nvSpPr>
        <p:spPr bwMode="auto">
          <a:xfrm>
            <a:off x="709613" y="3186113"/>
            <a:ext cx="5451475" cy="868362"/>
          </a:xfrm>
          <a:custGeom>
            <a:avLst/>
            <a:gdLst>
              <a:gd name="T0" fmla="*/ 78183 w 3068"/>
              <a:gd name="T1" fmla="*/ 164345 h 1173"/>
              <a:gd name="T2" fmla="*/ 227441 w 3068"/>
              <a:gd name="T3" fmla="*/ 63665 h 1173"/>
              <a:gd name="T4" fmla="*/ 412237 w 3068"/>
              <a:gd name="T5" fmla="*/ 1481 h 1173"/>
              <a:gd name="T6" fmla="*/ 632570 w 3068"/>
              <a:gd name="T7" fmla="*/ 45898 h 1173"/>
              <a:gd name="T8" fmla="*/ 781828 w 3068"/>
              <a:gd name="T9" fmla="*/ 119927 h 1173"/>
              <a:gd name="T10" fmla="*/ 895549 w 3068"/>
              <a:gd name="T11" fmla="*/ 220607 h 1173"/>
              <a:gd name="T12" fmla="*/ 1023484 w 3068"/>
              <a:gd name="T13" fmla="*/ 339053 h 1173"/>
              <a:gd name="T14" fmla="*/ 1158527 w 3068"/>
              <a:gd name="T15" fmla="*/ 454539 h 1173"/>
              <a:gd name="T16" fmla="*/ 1293570 w 3068"/>
              <a:gd name="T17" fmla="*/ 578908 h 1173"/>
              <a:gd name="T18" fmla="*/ 1371753 w 3068"/>
              <a:gd name="T19" fmla="*/ 667743 h 1173"/>
              <a:gd name="T20" fmla="*/ 1506796 w 3068"/>
              <a:gd name="T21" fmla="*/ 750656 h 1173"/>
              <a:gd name="T22" fmla="*/ 1627624 w 3068"/>
              <a:gd name="T23" fmla="*/ 824685 h 1173"/>
              <a:gd name="T24" fmla="*/ 1734237 w 3068"/>
              <a:gd name="T25" fmla="*/ 860219 h 1173"/>
              <a:gd name="T26" fmla="*/ 1911926 w 3068"/>
              <a:gd name="T27" fmla="*/ 857258 h 1173"/>
              <a:gd name="T28" fmla="*/ 2103829 w 3068"/>
              <a:gd name="T29" fmla="*/ 768423 h 1173"/>
              <a:gd name="T30" fmla="*/ 2260194 w 3068"/>
              <a:gd name="T31" fmla="*/ 649976 h 1173"/>
              <a:gd name="T32" fmla="*/ 2395237 w 3068"/>
              <a:gd name="T33" fmla="*/ 540413 h 1173"/>
              <a:gd name="T34" fmla="*/ 2580033 w 3068"/>
              <a:gd name="T35" fmla="*/ 356820 h 1173"/>
              <a:gd name="T36" fmla="*/ 2736399 w 3068"/>
              <a:gd name="T37" fmla="*/ 220607 h 1173"/>
              <a:gd name="T38" fmla="*/ 2906979 w 3068"/>
              <a:gd name="T39" fmla="*/ 81432 h 1173"/>
              <a:gd name="T40" fmla="*/ 3049130 w 3068"/>
              <a:gd name="T41" fmla="*/ 28131 h 1173"/>
              <a:gd name="T42" fmla="*/ 3269463 w 3068"/>
              <a:gd name="T43" fmla="*/ 7403 h 1173"/>
              <a:gd name="T44" fmla="*/ 3432936 w 3068"/>
              <a:gd name="T45" fmla="*/ 78471 h 1173"/>
              <a:gd name="T46" fmla="*/ 3567979 w 3068"/>
              <a:gd name="T47" fmla="*/ 170267 h 1173"/>
              <a:gd name="T48" fmla="*/ 3738561 w 3068"/>
              <a:gd name="T49" fmla="*/ 315364 h 1173"/>
              <a:gd name="T50" fmla="*/ 3880712 w 3068"/>
              <a:gd name="T51" fmla="*/ 436772 h 1173"/>
              <a:gd name="T52" fmla="*/ 4029970 w 3068"/>
              <a:gd name="T53" fmla="*/ 602597 h 1173"/>
              <a:gd name="T54" fmla="*/ 4150798 w 3068"/>
              <a:gd name="T55" fmla="*/ 697355 h 1173"/>
              <a:gd name="T56" fmla="*/ 4257410 w 3068"/>
              <a:gd name="T57" fmla="*/ 780267 h 1173"/>
              <a:gd name="T58" fmla="*/ 4449314 w 3068"/>
              <a:gd name="T59" fmla="*/ 854296 h 1173"/>
              <a:gd name="T60" fmla="*/ 4662539 w 3068"/>
              <a:gd name="T61" fmla="*/ 842452 h 1173"/>
              <a:gd name="T62" fmla="*/ 4889980 w 3068"/>
              <a:gd name="T63" fmla="*/ 750656 h 1173"/>
              <a:gd name="T64" fmla="*/ 4996593 w 3068"/>
              <a:gd name="T65" fmla="*/ 652937 h 1173"/>
              <a:gd name="T66" fmla="*/ 5238249 w 3068"/>
              <a:gd name="T67" fmla="*/ 424927 h 1173"/>
              <a:gd name="T68" fmla="*/ 5337755 w 3068"/>
              <a:gd name="T69" fmla="*/ 344976 h 1173"/>
              <a:gd name="T70" fmla="*/ 5451475 w 3068"/>
              <a:gd name="T71" fmla="*/ 223568 h 1173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w 3068"/>
              <a:gd name="T109" fmla="*/ 0 h 1173"/>
              <a:gd name="T110" fmla="*/ 3068 w 3068"/>
              <a:gd name="T111" fmla="*/ 1173 h 1173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T108" t="T109" r="T110" b="T111"/>
            <a:pathLst>
              <a:path w="3068" h="1173">
                <a:moveTo>
                  <a:pt x="0" y="294"/>
                </a:moveTo>
                <a:cubicBezTo>
                  <a:pt x="16" y="269"/>
                  <a:pt x="32" y="244"/>
                  <a:pt x="44" y="222"/>
                </a:cubicBezTo>
                <a:cubicBezTo>
                  <a:pt x="56" y="200"/>
                  <a:pt x="58" y="181"/>
                  <a:pt x="72" y="158"/>
                </a:cubicBezTo>
                <a:cubicBezTo>
                  <a:pt x="86" y="135"/>
                  <a:pt x="111" y="107"/>
                  <a:pt x="128" y="86"/>
                </a:cubicBezTo>
                <a:cubicBezTo>
                  <a:pt x="145" y="65"/>
                  <a:pt x="159" y="48"/>
                  <a:pt x="176" y="34"/>
                </a:cubicBezTo>
                <a:cubicBezTo>
                  <a:pt x="193" y="20"/>
                  <a:pt x="211" y="4"/>
                  <a:pt x="232" y="2"/>
                </a:cubicBezTo>
                <a:cubicBezTo>
                  <a:pt x="253" y="0"/>
                  <a:pt x="279" y="12"/>
                  <a:pt x="300" y="22"/>
                </a:cubicBezTo>
                <a:cubicBezTo>
                  <a:pt x="321" y="32"/>
                  <a:pt x="337" y="44"/>
                  <a:pt x="356" y="62"/>
                </a:cubicBezTo>
                <a:cubicBezTo>
                  <a:pt x="375" y="80"/>
                  <a:pt x="398" y="113"/>
                  <a:pt x="412" y="130"/>
                </a:cubicBezTo>
                <a:cubicBezTo>
                  <a:pt x="426" y="147"/>
                  <a:pt x="430" y="146"/>
                  <a:pt x="440" y="162"/>
                </a:cubicBezTo>
                <a:cubicBezTo>
                  <a:pt x="450" y="178"/>
                  <a:pt x="461" y="203"/>
                  <a:pt x="472" y="226"/>
                </a:cubicBezTo>
                <a:cubicBezTo>
                  <a:pt x="483" y="249"/>
                  <a:pt x="492" y="273"/>
                  <a:pt x="504" y="298"/>
                </a:cubicBezTo>
                <a:cubicBezTo>
                  <a:pt x="516" y="323"/>
                  <a:pt x="532" y="347"/>
                  <a:pt x="544" y="374"/>
                </a:cubicBezTo>
                <a:cubicBezTo>
                  <a:pt x="556" y="401"/>
                  <a:pt x="564" y="431"/>
                  <a:pt x="576" y="458"/>
                </a:cubicBezTo>
                <a:cubicBezTo>
                  <a:pt x="588" y="485"/>
                  <a:pt x="603" y="512"/>
                  <a:pt x="616" y="538"/>
                </a:cubicBezTo>
                <a:cubicBezTo>
                  <a:pt x="629" y="564"/>
                  <a:pt x="639" y="586"/>
                  <a:pt x="652" y="614"/>
                </a:cubicBezTo>
                <a:cubicBezTo>
                  <a:pt x="665" y="642"/>
                  <a:pt x="683" y="678"/>
                  <a:pt x="696" y="706"/>
                </a:cubicBezTo>
                <a:cubicBezTo>
                  <a:pt x="709" y="734"/>
                  <a:pt x="718" y="759"/>
                  <a:pt x="728" y="782"/>
                </a:cubicBezTo>
                <a:cubicBezTo>
                  <a:pt x="738" y="805"/>
                  <a:pt x="749" y="822"/>
                  <a:pt x="756" y="842"/>
                </a:cubicBezTo>
                <a:cubicBezTo>
                  <a:pt x="763" y="862"/>
                  <a:pt x="763" y="883"/>
                  <a:pt x="772" y="902"/>
                </a:cubicBezTo>
                <a:cubicBezTo>
                  <a:pt x="781" y="921"/>
                  <a:pt x="795" y="935"/>
                  <a:pt x="808" y="954"/>
                </a:cubicBezTo>
                <a:cubicBezTo>
                  <a:pt x="821" y="973"/>
                  <a:pt x="835" y="993"/>
                  <a:pt x="848" y="1014"/>
                </a:cubicBezTo>
                <a:cubicBezTo>
                  <a:pt x="861" y="1035"/>
                  <a:pt x="873" y="1065"/>
                  <a:pt x="884" y="1082"/>
                </a:cubicBezTo>
                <a:cubicBezTo>
                  <a:pt x="895" y="1099"/>
                  <a:pt x="906" y="1103"/>
                  <a:pt x="916" y="1114"/>
                </a:cubicBezTo>
                <a:cubicBezTo>
                  <a:pt x="926" y="1125"/>
                  <a:pt x="934" y="1138"/>
                  <a:pt x="944" y="1146"/>
                </a:cubicBezTo>
                <a:cubicBezTo>
                  <a:pt x="954" y="1154"/>
                  <a:pt x="965" y="1158"/>
                  <a:pt x="976" y="1162"/>
                </a:cubicBezTo>
                <a:cubicBezTo>
                  <a:pt x="987" y="1166"/>
                  <a:pt x="991" y="1171"/>
                  <a:pt x="1008" y="1170"/>
                </a:cubicBezTo>
                <a:cubicBezTo>
                  <a:pt x="1025" y="1169"/>
                  <a:pt x="1055" y="1170"/>
                  <a:pt x="1076" y="1158"/>
                </a:cubicBezTo>
                <a:cubicBezTo>
                  <a:pt x="1097" y="1146"/>
                  <a:pt x="1118" y="1118"/>
                  <a:pt x="1136" y="1098"/>
                </a:cubicBezTo>
                <a:cubicBezTo>
                  <a:pt x="1154" y="1078"/>
                  <a:pt x="1169" y="1059"/>
                  <a:pt x="1184" y="1038"/>
                </a:cubicBezTo>
                <a:cubicBezTo>
                  <a:pt x="1199" y="1017"/>
                  <a:pt x="1213" y="1001"/>
                  <a:pt x="1228" y="974"/>
                </a:cubicBezTo>
                <a:cubicBezTo>
                  <a:pt x="1243" y="947"/>
                  <a:pt x="1258" y="904"/>
                  <a:pt x="1272" y="878"/>
                </a:cubicBezTo>
                <a:cubicBezTo>
                  <a:pt x="1286" y="852"/>
                  <a:pt x="1299" y="843"/>
                  <a:pt x="1312" y="818"/>
                </a:cubicBezTo>
                <a:cubicBezTo>
                  <a:pt x="1325" y="793"/>
                  <a:pt x="1331" y="769"/>
                  <a:pt x="1348" y="730"/>
                </a:cubicBezTo>
                <a:cubicBezTo>
                  <a:pt x="1365" y="691"/>
                  <a:pt x="1395" y="623"/>
                  <a:pt x="1412" y="582"/>
                </a:cubicBezTo>
                <a:cubicBezTo>
                  <a:pt x="1429" y="541"/>
                  <a:pt x="1439" y="515"/>
                  <a:pt x="1452" y="482"/>
                </a:cubicBezTo>
                <a:cubicBezTo>
                  <a:pt x="1465" y="449"/>
                  <a:pt x="1477" y="413"/>
                  <a:pt x="1492" y="382"/>
                </a:cubicBezTo>
                <a:cubicBezTo>
                  <a:pt x="1507" y="351"/>
                  <a:pt x="1523" y="327"/>
                  <a:pt x="1540" y="298"/>
                </a:cubicBezTo>
                <a:cubicBezTo>
                  <a:pt x="1557" y="269"/>
                  <a:pt x="1576" y="237"/>
                  <a:pt x="1592" y="206"/>
                </a:cubicBezTo>
                <a:cubicBezTo>
                  <a:pt x="1608" y="175"/>
                  <a:pt x="1623" y="131"/>
                  <a:pt x="1636" y="110"/>
                </a:cubicBezTo>
                <a:cubicBezTo>
                  <a:pt x="1649" y="89"/>
                  <a:pt x="1655" y="90"/>
                  <a:pt x="1668" y="78"/>
                </a:cubicBezTo>
                <a:cubicBezTo>
                  <a:pt x="1681" y="66"/>
                  <a:pt x="1697" y="49"/>
                  <a:pt x="1716" y="38"/>
                </a:cubicBezTo>
                <a:cubicBezTo>
                  <a:pt x="1735" y="27"/>
                  <a:pt x="1763" y="19"/>
                  <a:pt x="1784" y="14"/>
                </a:cubicBezTo>
                <a:cubicBezTo>
                  <a:pt x="1805" y="9"/>
                  <a:pt x="1822" y="3"/>
                  <a:pt x="1840" y="10"/>
                </a:cubicBezTo>
                <a:cubicBezTo>
                  <a:pt x="1858" y="17"/>
                  <a:pt x="1881" y="38"/>
                  <a:pt x="1896" y="54"/>
                </a:cubicBezTo>
                <a:cubicBezTo>
                  <a:pt x="1911" y="70"/>
                  <a:pt x="1919" y="87"/>
                  <a:pt x="1932" y="106"/>
                </a:cubicBezTo>
                <a:cubicBezTo>
                  <a:pt x="1945" y="125"/>
                  <a:pt x="1959" y="145"/>
                  <a:pt x="1972" y="166"/>
                </a:cubicBezTo>
                <a:cubicBezTo>
                  <a:pt x="1985" y="187"/>
                  <a:pt x="1996" y="210"/>
                  <a:pt x="2008" y="230"/>
                </a:cubicBezTo>
                <a:cubicBezTo>
                  <a:pt x="2020" y="250"/>
                  <a:pt x="2028" y="253"/>
                  <a:pt x="2044" y="286"/>
                </a:cubicBezTo>
                <a:cubicBezTo>
                  <a:pt x="2060" y="319"/>
                  <a:pt x="2088" y="387"/>
                  <a:pt x="2104" y="426"/>
                </a:cubicBezTo>
                <a:cubicBezTo>
                  <a:pt x="2120" y="465"/>
                  <a:pt x="2127" y="491"/>
                  <a:pt x="2140" y="518"/>
                </a:cubicBezTo>
                <a:cubicBezTo>
                  <a:pt x="2153" y="545"/>
                  <a:pt x="2169" y="557"/>
                  <a:pt x="2184" y="590"/>
                </a:cubicBezTo>
                <a:cubicBezTo>
                  <a:pt x="2199" y="623"/>
                  <a:pt x="2218" y="677"/>
                  <a:pt x="2232" y="714"/>
                </a:cubicBezTo>
                <a:cubicBezTo>
                  <a:pt x="2246" y="751"/>
                  <a:pt x="2256" y="787"/>
                  <a:pt x="2268" y="814"/>
                </a:cubicBezTo>
                <a:cubicBezTo>
                  <a:pt x="2280" y="841"/>
                  <a:pt x="2293" y="857"/>
                  <a:pt x="2304" y="878"/>
                </a:cubicBezTo>
                <a:cubicBezTo>
                  <a:pt x="2315" y="899"/>
                  <a:pt x="2327" y="924"/>
                  <a:pt x="2336" y="942"/>
                </a:cubicBezTo>
                <a:cubicBezTo>
                  <a:pt x="2345" y="960"/>
                  <a:pt x="2350" y="967"/>
                  <a:pt x="2360" y="986"/>
                </a:cubicBezTo>
                <a:cubicBezTo>
                  <a:pt x="2370" y="1005"/>
                  <a:pt x="2379" y="1031"/>
                  <a:pt x="2396" y="1054"/>
                </a:cubicBezTo>
                <a:cubicBezTo>
                  <a:pt x="2413" y="1077"/>
                  <a:pt x="2442" y="1105"/>
                  <a:pt x="2460" y="1122"/>
                </a:cubicBezTo>
                <a:cubicBezTo>
                  <a:pt x="2478" y="1139"/>
                  <a:pt x="2489" y="1146"/>
                  <a:pt x="2504" y="1154"/>
                </a:cubicBezTo>
                <a:cubicBezTo>
                  <a:pt x="2519" y="1162"/>
                  <a:pt x="2528" y="1173"/>
                  <a:pt x="2548" y="1170"/>
                </a:cubicBezTo>
                <a:cubicBezTo>
                  <a:pt x="2568" y="1167"/>
                  <a:pt x="2595" y="1155"/>
                  <a:pt x="2624" y="1138"/>
                </a:cubicBezTo>
                <a:cubicBezTo>
                  <a:pt x="2653" y="1121"/>
                  <a:pt x="2699" y="1087"/>
                  <a:pt x="2720" y="1066"/>
                </a:cubicBezTo>
                <a:cubicBezTo>
                  <a:pt x="2741" y="1045"/>
                  <a:pt x="2742" y="1033"/>
                  <a:pt x="2752" y="1014"/>
                </a:cubicBezTo>
                <a:cubicBezTo>
                  <a:pt x="2762" y="995"/>
                  <a:pt x="2770" y="976"/>
                  <a:pt x="2780" y="954"/>
                </a:cubicBezTo>
                <a:cubicBezTo>
                  <a:pt x="2790" y="932"/>
                  <a:pt x="2793" y="925"/>
                  <a:pt x="2812" y="882"/>
                </a:cubicBezTo>
                <a:cubicBezTo>
                  <a:pt x="2831" y="839"/>
                  <a:pt x="2869" y="749"/>
                  <a:pt x="2892" y="698"/>
                </a:cubicBezTo>
                <a:cubicBezTo>
                  <a:pt x="2915" y="647"/>
                  <a:pt x="2936" y="599"/>
                  <a:pt x="2948" y="574"/>
                </a:cubicBezTo>
                <a:cubicBezTo>
                  <a:pt x="2960" y="549"/>
                  <a:pt x="2955" y="564"/>
                  <a:pt x="2964" y="546"/>
                </a:cubicBezTo>
                <a:cubicBezTo>
                  <a:pt x="2973" y="528"/>
                  <a:pt x="2989" y="489"/>
                  <a:pt x="3004" y="466"/>
                </a:cubicBezTo>
                <a:cubicBezTo>
                  <a:pt x="3019" y="443"/>
                  <a:pt x="3041" y="433"/>
                  <a:pt x="3052" y="406"/>
                </a:cubicBezTo>
                <a:cubicBezTo>
                  <a:pt x="3063" y="379"/>
                  <a:pt x="3066" y="319"/>
                  <a:pt x="3068" y="302"/>
                </a:cubicBezTo>
              </a:path>
            </a:pathLst>
          </a:custGeom>
          <a:noFill/>
          <a:ln w="28575">
            <a:solidFill>
              <a:srgbClr val="008000"/>
            </a:solidFill>
            <a:prstDash val="dash"/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/>
          </a:p>
        </p:txBody>
      </p:sp>
      <p:sp>
        <p:nvSpPr>
          <p:cNvPr id="119869" name="Rectangle 56"/>
          <p:cNvSpPr>
            <a:spLocks noChangeArrowheads="1"/>
          </p:cNvSpPr>
          <p:nvPr/>
        </p:nvSpPr>
        <p:spPr bwMode="auto">
          <a:xfrm>
            <a:off x="1093788" y="3197225"/>
            <a:ext cx="88900" cy="836613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19870" name="Text Box 83"/>
          <p:cNvSpPr txBox="1">
            <a:spLocks noChangeAspect="1" noChangeArrowheads="1"/>
          </p:cNvSpPr>
          <p:nvPr/>
        </p:nvSpPr>
        <p:spPr bwMode="auto">
          <a:xfrm>
            <a:off x="685800" y="4349750"/>
            <a:ext cx="731838" cy="182563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9871" name="Text Box 84"/>
          <p:cNvSpPr txBox="1">
            <a:spLocks noChangeAspect="1" noChangeArrowheads="1"/>
          </p:cNvSpPr>
          <p:nvPr/>
        </p:nvSpPr>
        <p:spPr bwMode="auto">
          <a:xfrm>
            <a:off x="685800" y="4597400"/>
            <a:ext cx="731838" cy="179388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9872" name="Rectangle 150"/>
          <p:cNvSpPr>
            <a:spLocks noChangeAspect="1" noChangeArrowheads="1"/>
          </p:cNvSpPr>
          <p:nvPr/>
        </p:nvSpPr>
        <p:spPr bwMode="auto">
          <a:xfrm>
            <a:off x="687388" y="4776788"/>
            <a:ext cx="184150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US" sz="800"/>
          </a:p>
        </p:txBody>
      </p:sp>
      <p:sp>
        <p:nvSpPr>
          <p:cNvPr id="119873" name="Rectangle 152"/>
          <p:cNvSpPr>
            <a:spLocks noChangeArrowheads="1"/>
          </p:cNvSpPr>
          <p:nvPr/>
        </p:nvSpPr>
        <p:spPr bwMode="auto">
          <a:xfrm>
            <a:off x="6172200" y="2895600"/>
            <a:ext cx="228600" cy="2286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19874" name="Line 153"/>
          <p:cNvSpPr>
            <a:spLocks noChangeShapeType="1"/>
          </p:cNvSpPr>
          <p:nvPr/>
        </p:nvSpPr>
        <p:spPr bwMode="auto">
          <a:xfrm>
            <a:off x="685800" y="3276600"/>
            <a:ext cx="7620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9875" name="Line 154"/>
          <p:cNvSpPr>
            <a:spLocks noChangeShapeType="1"/>
          </p:cNvSpPr>
          <p:nvPr/>
        </p:nvSpPr>
        <p:spPr bwMode="auto">
          <a:xfrm>
            <a:off x="6172200" y="39624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9876" name="AutoShape 156"/>
          <p:cNvSpPr>
            <a:spLocks noChangeArrowheads="1"/>
          </p:cNvSpPr>
          <p:nvPr/>
        </p:nvSpPr>
        <p:spPr bwMode="auto">
          <a:xfrm>
            <a:off x="6248400" y="4191000"/>
            <a:ext cx="152400" cy="152400"/>
          </a:xfrm>
          <a:custGeom>
            <a:avLst/>
            <a:gdLst>
              <a:gd name="T0" fmla="*/ 537633 w 21600"/>
              <a:gd name="T1" fmla="*/ 0 h 21600"/>
              <a:gd name="T2" fmla="*/ 157459 w 21600"/>
              <a:gd name="T3" fmla="*/ 157459 h 21600"/>
              <a:gd name="T4" fmla="*/ 0 w 21600"/>
              <a:gd name="T5" fmla="*/ 537633 h 21600"/>
              <a:gd name="T6" fmla="*/ 157459 w 21600"/>
              <a:gd name="T7" fmla="*/ 917808 h 21600"/>
              <a:gd name="T8" fmla="*/ 537633 w 21600"/>
              <a:gd name="T9" fmla="*/ 1075267 h 21600"/>
              <a:gd name="T10" fmla="*/ 917808 w 21600"/>
              <a:gd name="T11" fmla="*/ 917808 h 21600"/>
              <a:gd name="T12" fmla="*/ 1075267 w 21600"/>
              <a:gd name="T13" fmla="*/ 537633 h 21600"/>
              <a:gd name="T14" fmla="*/ 917808 w 21600"/>
              <a:gd name="T15" fmla="*/ 157459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5400" y="10800"/>
                </a:moveTo>
                <a:cubicBezTo>
                  <a:pt x="5400" y="13782"/>
                  <a:pt x="7818" y="16200"/>
                  <a:pt x="10800" y="16200"/>
                </a:cubicBezTo>
                <a:cubicBezTo>
                  <a:pt x="13782" y="16200"/>
                  <a:pt x="16200" y="13782"/>
                  <a:pt x="16200" y="10800"/>
                </a:cubicBezTo>
                <a:cubicBezTo>
                  <a:pt x="16200" y="7818"/>
                  <a:pt x="13782" y="5400"/>
                  <a:pt x="10800" y="5400"/>
                </a:cubicBezTo>
                <a:cubicBezTo>
                  <a:pt x="7818" y="5400"/>
                  <a:pt x="5400" y="7818"/>
                  <a:pt x="5400" y="10800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en-US" sz="1600">
              <a:solidFill>
                <a:schemeClr val="accent2"/>
              </a:solidFill>
              <a:latin typeface="Times New Roman" pitchFamily="18" charset="0"/>
            </a:endParaRPr>
          </a:p>
        </p:txBody>
      </p:sp>
      <p:sp>
        <p:nvSpPr>
          <p:cNvPr id="119877" name="AutoShape 157"/>
          <p:cNvSpPr>
            <a:spLocks noChangeArrowheads="1"/>
          </p:cNvSpPr>
          <p:nvPr/>
        </p:nvSpPr>
        <p:spPr bwMode="auto">
          <a:xfrm>
            <a:off x="6248400" y="4419600"/>
            <a:ext cx="152400" cy="152400"/>
          </a:xfrm>
          <a:custGeom>
            <a:avLst/>
            <a:gdLst>
              <a:gd name="T0" fmla="*/ 537633 w 21600"/>
              <a:gd name="T1" fmla="*/ 0 h 21600"/>
              <a:gd name="T2" fmla="*/ 157459 w 21600"/>
              <a:gd name="T3" fmla="*/ 157459 h 21600"/>
              <a:gd name="T4" fmla="*/ 0 w 21600"/>
              <a:gd name="T5" fmla="*/ 537633 h 21600"/>
              <a:gd name="T6" fmla="*/ 157459 w 21600"/>
              <a:gd name="T7" fmla="*/ 917808 h 21600"/>
              <a:gd name="T8" fmla="*/ 537633 w 21600"/>
              <a:gd name="T9" fmla="*/ 1075267 h 21600"/>
              <a:gd name="T10" fmla="*/ 917808 w 21600"/>
              <a:gd name="T11" fmla="*/ 917808 h 21600"/>
              <a:gd name="T12" fmla="*/ 1075267 w 21600"/>
              <a:gd name="T13" fmla="*/ 537633 h 21600"/>
              <a:gd name="T14" fmla="*/ 917808 w 21600"/>
              <a:gd name="T15" fmla="*/ 157459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5400" y="10800"/>
                </a:moveTo>
                <a:cubicBezTo>
                  <a:pt x="5400" y="13782"/>
                  <a:pt x="7818" y="16200"/>
                  <a:pt x="10800" y="16200"/>
                </a:cubicBezTo>
                <a:cubicBezTo>
                  <a:pt x="13782" y="16200"/>
                  <a:pt x="16200" y="13782"/>
                  <a:pt x="16200" y="10800"/>
                </a:cubicBezTo>
                <a:cubicBezTo>
                  <a:pt x="16200" y="7818"/>
                  <a:pt x="13782" y="5400"/>
                  <a:pt x="10800" y="5400"/>
                </a:cubicBezTo>
                <a:cubicBezTo>
                  <a:pt x="7818" y="5400"/>
                  <a:pt x="5400" y="7818"/>
                  <a:pt x="5400" y="10800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en-US" sz="1600">
              <a:solidFill>
                <a:schemeClr val="accent2"/>
              </a:solidFill>
              <a:latin typeface="Times New Roman" pitchFamily="18" charset="0"/>
            </a:endParaRPr>
          </a:p>
        </p:txBody>
      </p:sp>
      <p:sp>
        <p:nvSpPr>
          <p:cNvPr id="119878" name="AutoShape 158"/>
          <p:cNvSpPr>
            <a:spLocks noChangeArrowheads="1"/>
          </p:cNvSpPr>
          <p:nvPr/>
        </p:nvSpPr>
        <p:spPr bwMode="auto">
          <a:xfrm>
            <a:off x="6248400" y="4648200"/>
            <a:ext cx="152400" cy="152400"/>
          </a:xfrm>
          <a:custGeom>
            <a:avLst/>
            <a:gdLst>
              <a:gd name="T0" fmla="*/ 537633 w 21600"/>
              <a:gd name="T1" fmla="*/ 0 h 21600"/>
              <a:gd name="T2" fmla="*/ 157459 w 21600"/>
              <a:gd name="T3" fmla="*/ 157459 h 21600"/>
              <a:gd name="T4" fmla="*/ 0 w 21600"/>
              <a:gd name="T5" fmla="*/ 537633 h 21600"/>
              <a:gd name="T6" fmla="*/ 157459 w 21600"/>
              <a:gd name="T7" fmla="*/ 917808 h 21600"/>
              <a:gd name="T8" fmla="*/ 537633 w 21600"/>
              <a:gd name="T9" fmla="*/ 1075267 h 21600"/>
              <a:gd name="T10" fmla="*/ 917808 w 21600"/>
              <a:gd name="T11" fmla="*/ 917808 h 21600"/>
              <a:gd name="T12" fmla="*/ 1075267 w 21600"/>
              <a:gd name="T13" fmla="*/ 537633 h 21600"/>
              <a:gd name="T14" fmla="*/ 917808 w 21600"/>
              <a:gd name="T15" fmla="*/ 157459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5400" y="10800"/>
                </a:moveTo>
                <a:cubicBezTo>
                  <a:pt x="5400" y="13782"/>
                  <a:pt x="7818" y="16200"/>
                  <a:pt x="10800" y="16200"/>
                </a:cubicBezTo>
                <a:cubicBezTo>
                  <a:pt x="13782" y="16200"/>
                  <a:pt x="16200" y="13782"/>
                  <a:pt x="16200" y="10800"/>
                </a:cubicBezTo>
                <a:cubicBezTo>
                  <a:pt x="16200" y="7818"/>
                  <a:pt x="13782" y="5400"/>
                  <a:pt x="10800" y="5400"/>
                </a:cubicBezTo>
                <a:cubicBezTo>
                  <a:pt x="7818" y="5400"/>
                  <a:pt x="5400" y="7818"/>
                  <a:pt x="5400" y="10800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en-US" sz="1600">
              <a:solidFill>
                <a:schemeClr val="accent2"/>
              </a:solidFill>
              <a:latin typeface="Times New Roman" pitchFamily="18" charset="0"/>
            </a:endParaRPr>
          </a:p>
        </p:txBody>
      </p:sp>
      <p:sp>
        <p:nvSpPr>
          <p:cNvPr id="119879" name="Oval 162"/>
          <p:cNvSpPr>
            <a:spLocks noChangeArrowheads="1"/>
          </p:cNvSpPr>
          <p:nvPr/>
        </p:nvSpPr>
        <p:spPr bwMode="auto">
          <a:xfrm>
            <a:off x="7337425" y="3405188"/>
            <a:ext cx="892175" cy="81915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19880" name="Oval 164"/>
          <p:cNvSpPr>
            <a:spLocks noChangeArrowheads="1"/>
          </p:cNvSpPr>
          <p:nvPr/>
        </p:nvSpPr>
        <p:spPr bwMode="auto">
          <a:xfrm>
            <a:off x="6624638" y="2705100"/>
            <a:ext cx="2401887" cy="2362200"/>
          </a:xfrm>
          <a:prstGeom prst="ellipse">
            <a:avLst/>
          </a:prstGeom>
          <a:noFill/>
          <a:ln w="76200" cmpd="tri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19881" name="Line 166"/>
          <p:cNvSpPr>
            <a:spLocks noChangeShapeType="1"/>
          </p:cNvSpPr>
          <p:nvPr/>
        </p:nvSpPr>
        <p:spPr bwMode="auto">
          <a:xfrm flipH="1">
            <a:off x="6624638" y="3973513"/>
            <a:ext cx="558800" cy="2032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9882" name="Line 167"/>
          <p:cNvSpPr>
            <a:spLocks noChangeShapeType="1"/>
          </p:cNvSpPr>
          <p:nvPr/>
        </p:nvSpPr>
        <p:spPr bwMode="auto">
          <a:xfrm flipH="1">
            <a:off x="7183438" y="4284663"/>
            <a:ext cx="284162" cy="555625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9883" name="Line 168"/>
          <p:cNvSpPr>
            <a:spLocks noChangeShapeType="1"/>
          </p:cNvSpPr>
          <p:nvPr/>
        </p:nvSpPr>
        <p:spPr bwMode="auto">
          <a:xfrm>
            <a:off x="8143875" y="4284663"/>
            <a:ext cx="414338" cy="525462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9884" name="Line 169"/>
          <p:cNvSpPr>
            <a:spLocks noChangeShapeType="1"/>
          </p:cNvSpPr>
          <p:nvPr/>
        </p:nvSpPr>
        <p:spPr bwMode="auto">
          <a:xfrm>
            <a:off x="8412163" y="3935413"/>
            <a:ext cx="538162" cy="219075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9885" name="Rectangle 170"/>
          <p:cNvSpPr>
            <a:spLocks noChangeArrowheads="1"/>
          </p:cNvSpPr>
          <p:nvPr/>
        </p:nvSpPr>
        <p:spPr bwMode="auto">
          <a:xfrm rot="-3362456">
            <a:off x="6579394" y="4236244"/>
            <a:ext cx="122237" cy="920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19886" name="Line 172"/>
          <p:cNvSpPr>
            <a:spLocks noChangeShapeType="1"/>
          </p:cNvSpPr>
          <p:nvPr/>
        </p:nvSpPr>
        <p:spPr bwMode="auto">
          <a:xfrm flipH="1" flipV="1">
            <a:off x="6400800" y="4532313"/>
            <a:ext cx="604838" cy="8080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19887" name="Oval 173"/>
          <p:cNvSpPr>
            <a:spLocks noChangeArrowheads="1"/>
          </p:cNvSpPr>
          <p:nvPr/>
        </p:nvSpPr>
        <p:spPr bwMode="auto">
          <a:xfrm>
            <a:off x="8637588" y="4754563"/>
            <a:ext cx="98425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19888" name="Rectangle 174"/>
          <p:cNvSpPr>
            <a:spLocks noChangeArrowheads="1"/>
          </p:cNvSpPr>
          <p:nvPr/>
        </p:nvSpPr>
        <p:spPr bwMode="auto">
          <a:xfrm rot="-3362456">
            <a:off x="6671469" y="4442619"/>
            <a:ext cx="122237" cy="920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19889" name="Rectangle 175"/>
          <p:cNvSpPr>
            <a:spLocks noChangeArrowheads="1"/>
          </p:cNvSpPr>
          <p:nvPr/>
        </p:nvSpPr>
        <p:spPr bwMode="auto">
          <a:xfrm rot="-3362456">
            <a:off x="6825457" y="4672806"/>
            <a:ext cx="122238" cy="920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19890" name="Rectangle 176"/>
          <p:cNvSpPr>
            <a:spLocks noChangeArrowheads="1"/>
          </p:cNvSpPr>
          <p:nvPr/>
        </p:nvSpPr>
        <p:spPr bwMode="auto">
          <a:xfrm rot="-3362456">
            <a:off x="8935244" y="4255294"/>
            <a:ext cx="122237" cy="920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19891" name="Rectangle 177"/>
          <p:cNvSpPr>
            <a:spLocks noChangeArrowheads="1"/>
          </p:cNvSpPr>
          <p:nvPr/>
        </p:nvSpPr>
        <p:spPr bwMode="auto">
          <a:xfrm rot="-3362456">
            <a:off x="8843169" y="4550569"/>
            <a:ext cx="122237" cy="920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19892" name="Rectangle 178"/>
          <p:cNvSpPr>
            <a:spLocks noChangeArrowheads="1"/>
          </p:cNvSpPr>
          <p:nvPr/>
        </p:nvSpPr>
        <p:spPr bwMode="auto">
          <a:xfrm rot="-3362456">
            <a:off x="8622507" y="4707731"/>
            <a:ext cx="122238" cy="920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19893" name="Rectangle 179"/>
          <p:cNvSpPr>
            <a:spLocks noChangeArrowheads="1"/>
          </p:cNvSpPr>
          <p:nvPr/>
        </p:nvSpPr>
        <p:spPr bwMode="auto">
          <a:xfrm rot="-3362456">
            <a:off x="7276307" y="4944269"/>
            <a:ext cx="122237" cy="920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19894" name="Rectangle 180"/>
          <p:cNvSpPr>
            <a:spLocks noChangeArrowheads="1"/>
          </p:cNvSpPr>
          <p:nvPr/>
        </p:nvSpPr>
        <p:spPr bwMode="auto">
          <a:xfrm rot="-3362456">
            <a:off x="7552532" y="5066506"/>
            <a:ext cx="122238" cy="920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19895" name="Rectangle 181"/>
          <p:cNvSpPr>
            <a:spLocks noChangeArrowheads="1"/>
          </p:cNvSpPr>
          <p:nvPr/>
        </p:nvSpPr>
        <p:spPr bwMode="auto">
          <a:xfrm rot="-3362456">
            <a:off x="8305007" y="4945856"/>
            <a:ext cx="122238" cy="920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19896" name="AutoShape 182"/>
          <p:cNvSpPr>
            <a:spLocks noChangeArrowheads="1"/>
          </p:cNvSpPr>
          <p:nvPr/>
        </p:nvSpPr>
        <p:spPr bwMode="auto">
          <a:xfrm>
            <a:off x="6248400" y="4881563"/>
            <a:ext cx="152400" cy="152400"/>
          </a:xfrm>
          <a:custGeom>
            <a:avLst/>
            <a:gdLst>
              <a:gd name="T0" fmla="*/ 537633 w 21600"/>
              <a:gd name="T1" fmla="*/ 0 h 21600"/>
              <a:gd name="T2" fmla="*/ 157459 w 21600"/>
              <a:gd name="T3" fmla="*/ 157459 h 21600"/>
              <a:gd name="T4" fmla="*/ 0 w 21600"/>
              <a:gd name="T5" fmla="*/ 537633 h 21600"/>
              <a:gd name="T6" fmla="*/ 157459 w 21600"/>
              <a:gd name="T7" fmla="*/ 917808 h 21600"/>
              <a:gd name="T8" fmla="*/ 537633 w 21600"/>
              <a:gd name="T9" fmla="*/ 1075267 h 21600"/>
              <a:gd name="T10" fmla="*/ 917808 w 21600"/>
              <a:gd name="T11" fmla="*/ 917808 h 21600"/>
              <a:gd name="T12" fmla="*/ 1075267 w 21600"/>
              <a:gd name="T13" fmla="*/ 537633 h 21600"/>
              <a:gd name="T14" fmla="*/ 917808 w 21600"/>
              <a:gd name="T15" fmla="*/ 157459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5400" y="10800"/>
                </a:moveTo>
                <a:cubicBezTo>
                  <a:pt x="5400" y="13782"/>
                  <a:pt x="7818" y="16200"/>
                  <a:pt x="10800" y="16200"/>
                </a:cubicBezTo>
                <a:cubicBezTo>
                  <a:pt x="13782" y="16200"/>
                  <a:pt x="16200" y="13782"/>
                  <a:pt x="16200" y="10800"/>
                </a:cubicBezTo>
                <a:cubicBezTo>
                  <a:pt x="16200" y="7818"/>
                  <a:pt x="13782" y="5400"/>
                  <a:pt x="10800" y="5400"/>
                </a:cubicBezTo>
                <a:cubicBezTo>
                  <a:pt x="7818" y="5400"/>
                  <a:pt x="5400" y="7818"/>
                  <a:pt x="5400" y="10800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en-US" sz="1600">
              <a:solidFill>
                <a:schemeClr val="accent2"/>
              </a:solidFill>
              <a:latin typeface="Times New Roman" pitchFamily="18" charset="0"/>
            </a:endParaRPr>
          </a:p>
        </p:txBody>
      </p:sp>
      <p:sp>
        <p:nvSpPr>
          <p:cNvPr id="119897" name="Rectangle 184"/>
          <p:cNvSpPr>
            <a:spLocks noChangeArrowheads="1"/>
          </p:cNvSpPr>
          <p:nvPr/>
        </p:nvSpPr>
        <p:spPr bwMode="auto">
          <a:xfrm rot="-3362456">
            <a:off x="8036719" y="5004594"/>
            <a:ext cx="122237" cy="920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19898" name="Line 185"/>
          <p:cNvSpPr>
            <a:spLocks noChangeShapeType="1"/>
          </p:cNvSpPr>
          <p:nvPr/>
        </p:nvSpPr>
        <p:spPr bwMode="auto">
          <a:xfrm flipV="1">
            <a:off x="7005638" y="5067300"/>
            <a:ext cx="285750" cy="273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19899" name="Text Box 186"/>
          <p:cNvSpPr txBox="1">
            <a:spLocks noChangeArrowheads="1"/>
          </p:cNvSpPr>
          <p:nvPr/>
        </p:nvSpPr>
        <p:spPr bwMode="auto">
          <a:xfrm>
            <a:off x="4246563" y="5392738"/>
            <a:ext cx="992187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>
                <a:latin typeface="Times New Roman" pitchFamily="18" charset="0"/>
              </a:rPr>
              <a:t>Light guides</a:t>
            </a:r>
          </a:p>
        </p:txBody>
      </p:sp>
      <p:sp>
        <p:nvSpPr>
          <p:cNvPr id="119900" name="Line 187"/>
          <p:cNvSpPr>
            <a:spLocks noChangeShapeType="1"/>
          </p:cNvSpPr>
          <p:nvPr/>
        </p:nvSpPr>
        <p:spPr bwMode="auto">
          <a:xfrm flipV="1">
            <a:off x="4500563" y="4427538"/>
            <a:ext cx="261937" cy="965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19901" name="Text Box 188"/>
          <p:cNvSpPr txBox="1">
            <a:spLocks noChangeArrowheads="1"/>
          </p:cNvSpPr>
          <p:nvPr/>
        </p:nvSpPr>
        <p:spPr bwMode="auto">
          <a:xfrm>
            <a:off x="7245350" y="2233613"/>
            <a:ext cx="11493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/>
              <a:t>End View</a:t>
            </a:r>
          </a:p>
        </p:txBody>
      </p:sp>
      <p:sp>
        <p:nvSpPr>
          <p:cNvPr id="119902" name="Text Box 189"/>
          <p:cNvSpPr txBox="1">
            <a:spLocks noChangeArrowheads="1"/>
          </p:cNvSpPr>
          <p:nvPr/>
        </p:nvSpPr>
        <p:spPr bwMode="auto">
          <a:xfrm>
            <a:off x="2593975" y="1965325"/>
            <a:ext cx="1200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/>
              <a:t>Side View</a:t>
            </a:r>
          </a:p>
        </p:txBody>
      </p:sp>
      <p:sp>
        <p:nvSpPr>
          <p:cNvPr id="119903" name="Line 190"/>
          <p:cNvSpPr>
            <a:spLocks noChangeShapeType="1"/>
          </p:cNvSpPr>
          <p:nvPr/>
        </p:nvSpPr>
        <p:spPr bwMode="auto">
          <a:xfrm>
            <a:off x="4664075" y="4410075"/>
            <a:ext cx="292100" cy="2794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19904" name="Line 191"/>
          <p:cNvSpPr>
            <a:spLocks noChangeShapeType="1"/>
          </p:cNvSpPr>
          <p:nvPr/>
        </p:nvSpPr>
        <p:spPr bwMode="auto">
          <a:xfrm flipH="1">
            <a:off x="6686550" y="4016375"/>
            <a:ext cx="558800" cy="223838"/>
          </a:xfrm>
          <a:prstGeom prst="line">
            <a:avLst/>
          </a:prstGeom>
          <a:noFill/>
          <a:ln w="9525">
            <a:solidFill>
              <a:schemeClr val="accent2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19905" name="Line 192"/>
          <p:cNvSpPr>
            <a:spLocks noChangeShapeType="1"/>
          </p:cNvSpPr>
          <p:nvPr/>
        </p:nvSpPr>
        <p:spPr bwMode="auto">
          <a:xfrm flipV="1">
            <a:off x="6778625" y="4124325"/>
            <a:ext cx="512763" cy="303213"/>
          </a:xfrm>
          <a:prstGeom prst="line">
            <a:avLst/>
          </a:prstGeom>
          <a:noFill/>
          <a:ln w="9525">
            <a:solidFill>
              <a:schemeClr val="accent2"/>
            </a:solidFill>
            <a:prstDash val="dash"/>
            <a:round/>
            <a:headEnd type="triangle" w="med" len="med"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9906" name="Line 193"/>
          <p:cNvSpPr>
            <a:spLocks noChangeShapeType="1"/>
          </p:cNvSpPr>
          <p:nvPr/>
        </p:nvSpPr>
        <p:spPr bwMode="auto">
          <a:xfrm flipV="1">
            <a:off x="6932613" y="4221163"/>
            <a:ext cx="404812" cy="45720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dash"/>
            <a:round/>
            <a:headEnd type="triangle" w="med" len="med"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9907" name="Line 194"/>
          <p:cNvSpPr>
            <a:spLocks noChangeShapeType="1"/>
          </p:cNvSpPr>
          <p:nvPr/>
        </p:nvSpPr>
        <p:spPr bwMode="auto">
          <a:xfrm flipV="1">
            <a:off x="7337425" y="4362450"/>
            <a:ext cx="230188" cy="566738"/>
          </a:xfrm>
          <a:prstGeom prst="line">
            <a:avLst/>
          </a:prstGeom>
          <a:noFill/>
          <a:ln w="9525">
            <a:solidFill>
              <a:schemeClr val="accent2"/>
            </a:solidFill>
            <a:prstDash val="dash"/>
            <a:round/>
            <a:headEnd type="triangle" w="med" len="med"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9908" name="Line 195"/>
          <p:cNvSpPr>
            <a:spLocks noChangeShapeType="1"/>
          </p:cNvSpPr>
          <p:nvPr/>
        </p:nvSpPr>
        <p:spPr bwMode="auto">
          <a:xfrm flipV="1">
            <a:off x="7659688" y="4343400"/>
            <a:ext cx="0" cy="690563"/>
          </a:xfrm>
          <a:prstGeom prst="line">
            <a:avLst/>
          </a:prstGeom>
          <a:noFill/>
          <a:ln w="9525">
            <a:solidFill>
              <a:schemeClr val="accent2"/>
            </a:solidFill>
            <a:prstDash val="dash"/>
            <a:round/>
            <a:headEnd type="triangle" w="med" len="med"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9909" name="Line 196"/>
          <p:cNvSpPr>
            <a:spLocks noChangeShapeType="1"/>
          </p:cNvSpPr>
          <p:nvPr/>
        </p:nvSpPr>
        <p:spPr bwMode="auto">
          <a:xfrm flipH="1" flipV="1">
            <a:off x="7921625" y="4349750"/>
            <a:ext cx="130175" cy="684213"/>
          </a:xfrm>
          <a:prstGeom prst="line">
            <a:avLst/>
          </a:prstGeom>
          <a:noFill/>
          <a:ln w="9525">
            <a:solidFill>
              <a:schemeClr val="accent2"/>
            </a:solidFill>
            <a:prstDash val="dash"/>
            <a:round/>
            <a:headEnd type="triangle" w="med" len="med"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9910" name="Line 197"/>
          <p:cNvSpPr>
            <a:spLocks noChangeShapeType="1"/>
          </p:cNvSpPr>
          <p:nvPr/>
        </p:nvSpPr>
        <p:spPr bwMode="auto">
          <a:xfrm flipH="1" flipV="1">
            <a:off x="8051800" y="4343400"/>
            <a:ext cx="268288" cy="585788"/>
          </a:xfrm>
          <a:prstGeom prst="line">
            <a:avLst/>
          </a:prstGeom>
          <a:noFill/>
          <a:ln w="9525">
            <a:solidFill>
              <a:schemeClr val="accent2"/>
            </a:solidFill>
            <a:prstDash val="dash"/>
            <a:round/>
            <a:headEnd type="triangle" w="med" len="med"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9911" name="Line 198"/>
          <p:cNvSpPr>
            <a:spLocks noChangeShapeType="1"/>
          </p:cNvSpPr>
          <p:nvPr/>
        </p:nvSpPr>
        <p:spPr bwMode="auto">
          <a:xfrm flipH="1" flipV="1">
            <a:off x="8229600" y="4176713"/>
            <a:ext cx="407988" cy="531812"/>
          </a:xfrm>
          <a:prstGeom prst="line">
            <a:avLst/>
          </a:prstGeom>
          <a:noFill/>
          <a:ln w="9525">
            <a:solidFill>
              <a:schemeClr val="accent2"/>
            </a:solidFill>
            <a:prstDash val="dash"/>
            <a:round/>
            <a:headEnd type="triangle" w="med" len="med"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9912" name="Line 199"/>
          <p:cNvSpPr>
            <a:spLocks noChangeShapeType="1"/>
          </p:cNvSpPr>
          <p:nvPr/>
        </p:nvSpPr>
        <p:spPr bwMode="auto">
          <a:xfrm flipH="1" flipV="1">
            <a:off x="8320088" y="4124325"/>
            <a:ext cx="538162" cy="452438"/>
          </a:xfrm>
          <a:prstGeom prst="line">
            <a:avLst/>
          </a:prstGeom>
          <a:noFill/>
          <a:ln w="9525">
            <a:solidFill>
              <a:schemeClr val="accent2"/>
            </a:solidFill>
            <a:prstDash val="dash"/>
            <a:round/>
            <a:headEnd type="triangle" w="med" len="med"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9913" name="Line 200"/>
          <p:cNvSpPr>
            <a:spLocks noChangeShapeType="1"/>
          </p:cNvSpPr>
          <p:nvPr/>
        </p:nvSpPr>
        <p:spPr bwMode="auto">
          <a:xfrm flipH="1" flipV="1">
            <a:off x="8320088" y="4022725"/>
            <a:ext cx="630237" cy="261938"/>
          </a:xfrm>
          <a:prstGeom prst="line">
            <a:avLst/>
          </a:prstGeom>
          <a:noFill/>
          <a:ln w="9525">
            <a:solidFill>
              <a:schemeClr val="accent2"/>
            </a:solidFill>
            <a:prstDash val="dash"/>
            <a:round/>
            <a:headEnd type="triangle" w="med" len="med"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9914" name="Rectangle 201"/>
          <p:cNvSpPr>
            <a:spLocks noChangeArrowheads="1"/>
          </p:cNvSpPr>
          <p:nvPr/>
        </p:nvSpPr>
        <p:spPr bwMode="auto">
          <a:xfrm rot="-3362456">
            <a:off x="7768432" y="5082381"/>
            <a:ext cx="122238" cy="920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19915" name="Line 202"/>
          <p:cNvSpPr>
            <a:spLocks noChangeShapeType="1"/>
          </p:cNvSpPr>
          <p:nvPr/>
        </p:nvSpPr>
        <p:spPr bwMode="auto">
          <a:xfrm flipV="1">
            <a:off x="7829550" y="4362450"/>
            <a:ext cx="0" cy="70485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dash"/>
            <a:round/>
            <a:headEnd type="triangle" w="med" len="med"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9916" name="Line 203"/>
          <p:cNvSpPr>
            <a:spLocks noChangeShapeType="1"/>
          </p:cNvSpPr>
          <p:nvPr/>
        </p:nvSpPr>
        <p:spPr bwMode="auto">
          <a:xfrm flipV="1">
            <a:off x="5448300" y="4597400"/>
            <a:ext cx="327025" cy="242888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19917" name="Line 204"/>
          <p:cNvSpPr>
            <a:spLocks noChangeShapeType="1"/>
          </p:cNvSpPr>
          <p:nvPr/>
        </p:nvSpPr>
        <p:spPr bwMode="auto">
          <a:xfrm>
            <a:off x="3905250" y="3997325"/>
            <a:ext cx="365125" cy="176213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19918" name="Line 205"/>
          <p:cNvSpPr>
            <a:spLocks noChangeShapeType="1"/>
          </p:cNvSpPr>
          <p:nvPr/>
        </p:nvSpPr>
        <p:spPr bwMode="auto">
          <a:xfrm flipV="1">
            <a:off x="2593975" y="4689475"/>
            <a:ext cx="360363" cy="1651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19919" name="Line 206"/>
          <p:cNvSpPr>
            <a:spLocks noChangeShapeType="1"/>
          </p:cNvSpPr>
          <p:nvPr/>
        </p:nvSpPr>
        <p:spPr bwMode="auto">
          <a:xfrm flipV="1">
            <a:off x="2554288" y="3890963"/>
            <a:ext cx="360362" cy="1651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19920" name="Line 207"/>
          <p:cNvSpPr>
            <a:spLocks noChangeShapeType="1"/>
          </p:cNvSpPr>
          <p:nvPr/>
        </p:nvSpPr>
        <p:spPr bwMode="auto">
          <a:xfrm>
            <a:off x="3881438" y="3181350"/>
            <a:ext cx="365125" cy="176213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19921" name="Line 208"/>
          <p:cNvSpPr>
            <a:spLocks noChangeShapeType="1"/>
          </p:cNvSpPr>
          <p:nvPr/>
        </p:nvSpPr>
        <p:spPr bwMode="auto">
          <a:xfrm flipV="1">
            <a:off x="5348288" y="3900488"/>
            <a:ext cx="327025" cy="180975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19922" name="Line 209"/>
          <p:cNvSpPr>
            <a:spLocks noChangeShapeType="1"/>
          </p:cNvSpPr>
          <p:nvPr/>
        </p:nvSpPr>
        <p:spPr bwMode="auto">
          <a:xfrm>
            <a:off x="1182688" y="4033838"/>
            <a:ext cx="360362" cy="90487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19923" name="Line 210"/>
          <p:cNvSpPr>
            <a:spLocks noChangeShapeType="1"/>
          </p:cNvSpPr>
          <p:nvPr/>
        </p:nvSpPr>
        <p:spPr bwMode="auto">
          <a:xfrm>
            <a:off x="1182688" y="3197225"/>
            <a:ext cx="360362" cy="90488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19924" name="Text Box 212"/>
          <p:cNvSpPr txBox="1">
            <a:spLocks noChangeArrowheads="1"/>
          </p:cNvSpPr>
          <p:nvPr/>
        </p:nvSpPr>
        <p:spPr bwMode="auto">
          <a:xfrm>
            <a:off x="6735763" y="5821363"/>
            <a:ext cx="20002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1400"/>
              <a:t>VLPCs and Electronics</a:t>
            </a:r>
          </a:p>
        </p:txBody>
      </p:sp>
      <p:sp>
        <p:nvSpPr>
          <p:cNvPr id="119925" name="Line 214"/>
          <p:cNvSpPr>
            <a:spLocks noChangeShapeType="1"/>
          </p:cNvSpPr>
          <p:nvPr/>
        </p:nvSpPr>
        <p:spPr bwMode="auto">
          <a:xfrm>
            <a:off x="7829550" y="5189538"/>
            <a:ext cx="0" cy="477837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9926" name="Line 215"/>
          <p:cNvSpPr>
            <a:spLocks noChangeShapeType="1"/>
          </p:cNvSpPr>
          <p:nvPr/>
        </p:nvSpPr>
        <p:spPr bwMode="auto">
          <a:xfrm>
            <a:off x="8051800" y="5067300"/>
            <a:ext cx="0" cy="600075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9927" name="Line 216"/>
          <p:cNvSpPr>
            <a:spLocks noChangeShapeType="1"/>
          </p:cNvSpPr>
          <p:nvPr/>
        </p:nvSpPr>
        <p:spPr bwMode="auto">
          <a:xfrm>
            <a:off x="8394700" y="5051425"/>
            <a:ext cx="17463" cy="61595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9928" name="Line 217"/>
          <p:cNvSpPr>
            <a:spLocks noChangeShapeType="1"/>
          </p:cNvSpPr>
          <p:nvPr/>
        </p:nvSpPr>
        <p:spPr bwMode="auto">
          <a:xfrm>
            <a:off x="8686800" y="4814888"/>
            <a:ext cx="0" cy="852487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9929" name="Line 218"/>
          <p:cNvSpPr>
            <a:spLocks noChangeShapeType="1"/>
          </p:cNvSpPr>
          <p:nvPr/>
        </p:nvSpPr>
        <p:spPr bwMode="auto">
          <a:xfrm>
            <a:off x="8864600" y="4648200"/>
            <a:ext cx="0" cy="100965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9930" name="Line 219"/>
          <p:cNvSpPr>
            <a:spLocks noChangeShapeType="1"/>
          </p:cNvSpPr>
          <p:nvPr/>
        </p:nvSpPr>
        <p:spPr bwMode="auto">
          <a:xfrm>
            <a:off x="9026525" y="4343400"/>
            <a:ext cx="0" cy="131445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7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Feb. 4 2009 </a:t>
            </a:r>
          </a:p>
        </p:txBody>
      </p:sp>
      <p:sp>
        <p:nvSpPr>
          <p:cNvPr id="121858" name="Footer Placeholder 4"/>
          <p:cNvSpPr>
            <a:spLocks noGrp="1"/>
          </p:cNvSpPr>
          <p:nvPr>
            <p:ph type="ftr" sz="quarter" idx="12"/>
          </p:nvPr>
        </p:nvSpPr>
        <p:spPr>
          <a:xfrm>
            <a:off x="7239000" y="6477000"/>
            <a:ext cx="1905000" cy="381000"/>
          </a:xfrm>
          <a:noFill/>
        </p:spPr>
        <p:txBody>
          <a:bodyPr/>
          <a:lstStyle/>
          <a:p>
            <a:r>
              <a:rPr lang="en-US" sz="1400" smtClean="0"/>
              <a:t>Abrams-AAC</a:t>
            </a:r>
          </a:p>
        </p:txBody>
      </p:sp>
      <p:sp>
        <p:nvSpPr>
          <p:cNvPr id="121859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2209800" y="6477000"/>
            <a:ext cx="5029200" cy="381000"/>
          </a:xfrm>
          <a:noFill/>
        </p:spPr>
        <p:txBody>
          <a:bodyPr/>
          <a:lstStyle/>
          <a:p>
            <a:fld id="{AFD69CBC-7BD8-42FF-B112-22F3FB5EF71D}" type="slidenum">
              <a:rPr lang="en-US" sz="1200" smtClean="0"/>
              <a:pPr/>
              <a:t>16</a:t>
            </a:fld>
            <a:endParaRPr lang="en-US" sz="1200" smtClean="0"/>
          </a:p>
        </p:txBody>
      </p:sp>
      <p:sp>
        <p:nvSpPr>
          <p:cNvPr id="121860" name="Rectangle 2"/>
          <p:cNvSpPr>
            <a:spLocks noGrp="1" noChangeArrowheads="1"/>
          </p:cNvSpPr>
          <p:nvPr>
            <p:ph type="title"/>
          </p:nvPr>
        </p:nvSpPr>
        <p:spPr>
          <a:xfrm>
            <a:off x="1219200" y="0"/>
            <a:ext cx="7620000" cy="1143000"/>
          </a:xfrm>
        </p:spPr>
        <p:txBody>
          <a:bodyPr/>
          <a:lstStyle/>
          <a:p>
            <a:r>
              <a:rPr lang="en-US" sz="3600" smtClean="0"/>
              <a:t>MANX HCC Tracker Concept 2</a:t>
            </a:r>
          </a:p>
        </p:txBody>
      </p:sp>
      <p:sp>
        <p:nvSpPr>
          <p:cNvPr id="12186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452596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mtClean="0"/>
              <a:t>Based on mech design of HCC</a:t>
            </a:r>
          </a:p>
          <a:p>
            <a:pPr lvl="1">
              <a:lnSpc>
                <a:spcPct val="90000"/>
              </a:lnSpc>
            </a:pPr>
            <a:r>
              <a:rPr lang="en-US" smtClean="0"/>
              <a:t>Build planes into structure of HCC</a:t>
            </a:r>
          </a:p>
          <a:p>
            <a:pPr lvl="1">
              <a:lnSpc>
                <a:spcPct val="90000"/>
              </a:lnSpc>
            </a:pPr>
            <a:r>
              <a:rPr lang="en-US" smtClean="0"/>
              <a:t>Use scint fiber as detectors</a:t>
            </a:r>
          </a:p>
          <a:p>
            <a:pPr lvl="1">
              <a:lnSpc>
                <a:spcPct val="90000"/>
              </a:lnSpc>
            </a:pPr>
            <a:r>
              <a:rPr lang="en-US" smtClean="0"/>
              <a:t>Mount SiPMs and digitizers within HCC</a:t>
            </a:r>
          </a:p>
          <a:p>
            <a:pPr lvl="1">
              <a:lnSpc>
                <a:spcPct val="90000"/>
              </a:lnSpc>
            </a:pPr>
            <a:r>
              <a:rPr lang="en-US" smtClean="0"/>
              <a:t>Extract electrical signals (not light guides)</a:t>
            </a:r>
          </a:p>
          <a:p>
            <a:pPr>
              <a:lnSpc>
                <a:spcPct val="90000"/>
              </a:lnSpc>
            </a:pPr>
            <a:r>
              <a:rPr lang="en-US" smtClean="0"/>
              <a:t>Challenges</a:t>
            </a:r>
          </a:p>
          <a:p>
            <a:pPr lvl="1">
              <a:lnSpc>
                <a:spcPct val="90000"/>
              </a:lnSpc>
            </a:pPr>
            <a:r>
              <a:rPr lang="en-US" smtClean="0"/>
              <a:t>New technology/application (SBIR proposal)</a:t>
            </a:r>
          </a:p>
          <a:p>
            <a:pPr lvl="1">
              <a:lnSpc>
                <a:spcPct val="90000"/>
              </a:lnSpc>
            </a:pPr>
            <a:r>
              <a:rPr lang="en-US" smtClean="0"/>
              <a:t>Access to electronics for repair/maint</a:t>
            </a:r>
          </a:p>
          <a:p>
            <a:pPr lvl="1">
              <a:lnSpc>
                <a:spcPct val="90000"/>
              </a:lnSpc>
            </a:pPr>
            <a:r>
              <a:rPr lang="en-US" smtClean="0"/>
              <a:t>Heat inside cryostat?			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5" name="Date Placeholder 2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Feb. 4 2009 </a:t>
            </a:r>
          </a:p>
        </p:txBody>
      </p:sp>
      <p:sp>
        <p:nvSpPr>
          <p:cNvPr id="123906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7239000" y="6553200"/>
            <a:ext cx="1905000" cy="304800"/>
          </a:xfrm>
          <a:noFill/>
        </p:spPr>
        <p:txBody>
          <a:bodyPr/>
          <a:lstStyle/>
          <a:p>
            <a:pPr algn="r"/>
            <a:r>
              <a:rPr lang="en-US" sz="1400" smtClean="0"/>
              <a:t>Abrams-AAC</a:t>
            </a:r>
          </a:p>
        </p:txBody>
      </p:sp>
      <p:sp>
        <p:nvSpPr>
          <p:cNvPr id="123907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2209800" y="6477000"/>
            <a:ext cx="5029200" cy="381000"/>
          </a:xfrm>
          <a:noFill/>
        </p:spPr>
        <p:txBody>
          <a:bodyPr/>
          <a:lstStyle/>
          <a:p>
            <a:pPr algn="ctr"/>
            <a:fld id="{C7457476-27EE-4CB8-9882-70C9D6C3BF45}" type="slidenum">
              <a:rPr lang="en-US" sz="1200" smtClean="0"/>
              <a:pPr algn="ctr"/>
              <a:t>17</a:t>
            </a:fld>
            <a:endParaRPr lang="en-US" sz="1200" smtClean="0"/>
          </a:p>
        </p:txBody>
      </p:sp>
      <p:sp>
        <p:nvSpPr>
          <p:cNvPr id="123908" name="Rectangle 4"/>
          <p:cNvSpPr>
            <a:spLocks noGrp="1" noChangeArrowheads="1"/>
          </p:cNvSpPr>
          <p:nvPr>
            <p:ph type="title"/>
          </p:nvPr>
        </p:nvSpPr>
        <p:spPr>
          <a:xfrm>
            <a:off x="1447800" y="381000"/>
            <a:ext cx="6248400" cy="1020763"/>
          </a:xfrm>
        </p:spPr>
        <p:txBody>
          <a:bodyPr/>
          <a:lstStyle/>
          <a:p>
            <a:r>
              <a:rPr lang="en-US" sz="3600" smtClean="0"/>
              <a:t>Trackers Inside HCC Concept 2</a:t>
            </a:r>
          </a:p>
        </p:txBody>
      </p:sp>
      <p:grpSp>
        <p:nvGrpSpPr>
          <p:cNvPr id="123909" name="Group 5"/>
          <p:cNvGrpSpPr>
            <a:grpSpLocks noChangeAspect="1"/>
          </p:cNvGrpSpPr>
          <p:nvPr/>
        </p:nvGrpSpPr>
        <p:grpSpPr bwMode="auto">
          <a:xfrm>
            <a:off x="609600" y="1600200"/>
            <a:ext cx="3922713" cy="2555875"/>
            <a:chOff x="816" y="384"/>
            <a:chExt cx="3090" cy="2013"/>
          </a:xfrm>
        </p:grpSpPr>
        <p:sp>
          <p:nvSpPr>
            <p:cNvPr id="123986" name="Oval 6"/>
            <p:cNvSpPr>
              <a:spLocks noChangeAspect="1" noChangeArrowheads="1"/>
            </p:cNvSpPr>
            <p:nvPr/>
          </p:nvSpPr>
          <p:spPr bwMode="auto">
            <a:xfrm>
              <a:off x="816" y="384"/>
              <a:ext cx="1942" cy="1800"/>
            </a:xfrm>
            <a:prstGeom prst="ellipse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123987" name="Line 7"/>
            <p:cNvSpPr>
              <a:spLocks noChangeAspect="1" noChangeShapeType="1"/>
            </p:cNvSpPr>
            <p:nvPr/>
          </p:nvSpPr>
          <p:spPr bwMode="auto">
            <a:xfrm>
              <a:off x="2700" y="1250"/>
              <a:ext cx="24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988" name="Rectangle 8"/>
            <p:cNvSpPr>
              <a:spLocks noChangeAspect="1" noChangeArrowheads="1"/>
            </p:cNvSpPr>
            <p:nvPr/>
          </p:nvSpPr>
          <p:spPr bwMode="auto">
            <a:xfrm>
              <a:off x="2758" y="1796"/>
              <a:ext cx="58" cy="57"/>
            </a:xfrm>
            <a:prstGeom prst="rect">
              <a:avLst/>
            </a:prstGeom>
            <a:solidFill>
              <a:srgbClr val="00C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123989" name="Rectangle 9"/>
            <p:cNvSpPr>
              <a:spLocks noChangeAspect="1" noChangeArrowheads="1"/>
            </p:cNvSpPr>
            <p:nvPr/>
          </p:nvSpPr>
          <p:spPr bwMode="auto">
            <a:xfrm>
              <a:off x="2758" y="1958"/>
              <a:ext cx="58" cy="57"/>
            </a:xfrm>
            <a:prstGeom prst="rect">
              <a:avLst/>
            </a:prstGeom>
            <a:solidFill>
              <a:srgbClr val="00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123990" name="Rectangle 10"/>
            <p:cNvSpPr>
              <a:spLocks noChangeAspect="1" noChangeArrowheads="1"/>
            </p:cNvSpPr>
            <p:nvPr/>
          </p:nvSpPr>
          <p:spPr bwMode="auto">
            <a:xfrm>
              <a:off x="2758" y="2126"/>
              <a:ext cx="58" cy="57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123991" name="Text Box 11"/>
            <p:cNvSpPr txBox="1">
              <a:spLocks noChangeAspect="1" noChangeArrowheads="1"/>
            </p:cNvSpPr>
            <p:nvPr/>
          </p:nvSpPr>
          <p:spPr bwMode="auto">
            <a:xfrm>
              <a:off x="2896" y="1892"/>
              <a:ext cx="576" cy="14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US" sz="800"/>
                <a:t>MPPCs</a:t>
              </a:r>
              <a:endParaRPr lang="en-US"/>
            </a:p>
          </p:txBody>
        </p:sp>
        <p:sp>
          <p:nvSpPr>
            <p:cNvPr id="123992" name="Text Box 12"/>
            <p:cNvSpPr txBox="1">
              <a:spLocks noChangeAspect="1" noChangeArrowheads="1"/>
            </p:cNvSpPr>
            <p:nvPr/>
          </p:nvSpPr>
          <p:spPr bwMode="auto">
            <a:xfrm>
              <a:off x="2896" y="2087"/>
              <a:ext cx="576" cy="14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US" sz="800"/>
                <a:t>Electronics</a:t>
              </a:r>
              <a:endParaRPr lang="en-US"/>
            </a:p>
          </p:txBody>
        </p:sp>
        <p:sp>
          <p:nvSpPr>
            <p:cNvPr id="123993" name="Text Box 13"/>
            <p:cNvSpPr txBox="1">
              <a:spLocks noChangeAspect="1" noChangeArrowheads="1"/>
            </p:cNvSpPr>
            <p:nvPr/>
          </p:nvSpPr>
          <p:spPr bwMode="auto">
            <a:xfrm>
              <a:off x="2946" y="1158"/>
              <a:ext cx="576" cy="14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US" sz="800"/>
                <a:t>Signals out</a:t>
              </a:r>
              <a:endParaRPr lang="en-US"/>
            </a:p>
          </p:txBody>
        </p:sp>
        <p:sp>
          <p:nvSpPr>
            <p:cNvPr id="123994" name="Line 14"/>
            <p:cNvSpPr>
              <a:spLocks noChangeAspect="1" noChangeShapeType="1"/>
            </p:cNvSpPr>
            <p:nvPr/>
          </p:nvSpPr>
          <p:spPr bwMode="auto">
            <a:xfrm flipH="1">
              <a:off x="2643" y="1564"/>
              <a:ext cx="228" cy="1"/>
            </a:xfrm>
            <a:prstGeom prst="line">
              <a:avLst/>
            </a:prstGeom>
            <a:noFill/>
            <a:ln w="9525">
              <a:solidFill>
                <a:srgbClr val="FF0000">
                  <a:alpha val="96861"/>
                </a:srgbClr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995" name="Text Box 15"/>
            <p:cNvSpPr txBox="1">
              <a:spLocks noChangeAspect="1" noChangeArrowheads="1"/>
            </p:cNvSpPr>
            <p:nvPr/>
          </p:nvSpPr>
          <p:spPr bwMode="auto">
            <a:xfrm>
              <a:off x="2896" y="1490"/>
              <a:ext cx="576" cy="147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US" sz="800"/>
                <a:t>Power in</a:t>
              </a:r>
              <a:endParaRPr lang="en-US"/>
            </a:p>
          </p:txBody>
        </p:sp>
        <p:sp>
          <p:nvSpPr>
            <p:cNvPr id="123996" name="Oval 16"/>
            <p:cNvSpPr>
              <a:spLocks noChangeAspect="1" noChangeArrowheads="1"/>
            </p:cNvSpPr>
            <p:nvPr/>
          </p:nvSpPr>
          <p:spPr bwMode="auto">
            <a:xfrm>
              <a:off x="1167" y="743"/>
              <a:ext cx="1153" cy="1152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123997" name="Oval 17"/>
            <p:cNvSpPr>
              <a:spLocks noChangeAspect="1" noChangeArrowheads="1"/>
            </p:cNvSpPr>
            <p:nvPr/>
          </p:nvSpPr>
          <p:spPr bwMode="auto">
            <a:xfrm>
              <a:off x="1260" y="832"/>
              <a:ext cx="978" cy="979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123998" name="Line 18"/>
            <p:cNvSpPr>
              <a:spLocks noChangeAspect="1" noChangeShapeType="1"/>
            </p:cNvSpPr>
            <p:nvPr/>
          </p:nvSpPr>
          <p:spPr bwMode="auto">
            <a:xfrm>
              <a:off x="1476" y="815"/>
              <a:ext cx="57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999" name="Line 19"/>
            <p:cNvSpPr>
              <a:spLocks noChangeAspect="1" noChangeShapeType="1"/>
            </p:cNvSpPr>
            <p:nvPr/>
          </p:nvSpPr>
          <p:spPr bwMode="auto">
            <a:xfrm>
              <a:off x="1476" y="815"/>
              <a:ext cx="666" cy="1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4000" name="Line 20"/>
            <p:cNvSpPr>
              <a:spLocks noChangeAspect="1" noChangeShapeType="1"/>
            </p:cNvSpPr>
            <p:nvPr/>
          </p:nvSpPr>
          <p:spPr bwMode="auto">
            <a:xfrm flipV="1">
              <a:off x="1374" y="886"/>
              <a:ext cx="768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4001" name="Line 21"/>
            <p:cNvSpPr>
              <a:spLocks noChangeAspect="1" noChangeShapeType="1"/>
            </p:cNvSpPr>
            <p:nvPr/>
          </p:nvSpPr>
          <p:spPr bwMode="auto">
            <a:xfrm>
              <a:off x="1308" y="959"/>
              <a:ext cx="90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4002" name="Line 22"/>
            <p:cNvSpPr>
              <a:spLocks noChangeAspect="1" noChangeShapeType="1"/>
            </p:cNvSpPr>
            <p:nvPr/>
          </p:nvSpPr>
          <p:spPr bwMode="auto">
            <a:xfrm flipV="1">
              <a:off x="1260" y="1030"/>
              <a:ext cx="1044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4003" name="Line 23"/>
            <p:cNvSpPr>
              <a:spLocks noChangeAspect="1" noChangeShapeType="1"/>
            </p:cNvSpPr>
            <p:nvPr/>
          </p:nvSpPr>
          <p:spPr bwMode="auto">
            <a:xfrm>
              <a:off x="1239" y="1103"/>
              <a:ext cx="108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4004" name="Line 24"/>
            <p:cNvSpPr>
              <a:spLocks noChangeAspect="1" noChangeShapeType="1"/>
            </p:cNvSpPr>
            <p:nvPr/>
          </p:nvSpPr>
          <p:spPr bwMode="auto">
            <a:xfrm flipV="1">
              <a:off x="1203" y="1166"/>
              <a:ext cx="1137" cy="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4005" name="Line 25"/>
            <p:cNvSpPr>
              <a:spLocks noChangeAspect="1" noChangeShapeType="1"/>
            </p:cNvSpPr>
            <p:nvPr/>
          </p:nvSpPr>
          <p:spPr bwMode="auto">
            <a:xfrm flipV="1">
              <a:off x="1188" y="1229"/>
              <a:ext cx="1152" cy="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4006" name="Line 26"/>
            <p:cNvSpPr>
              <a:spLocks noChangeAspect="1" noChangeShapeType="1"/>
            </p:cNvSpPr>
            <p:nvPr/>
          </p:nvSpPr>
          <p:spPr bwMode="auto">
            <a:xfrm flipV="1">
              <a:off x="1188" y="1301"/>
              <a:ext cx="1152" cy="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4007" name="Line 27"/>
            <p:cNvSpPr>
              <a:spLocks noChangeAspect="1" noChangeShapeType="1"/>
            </p:cNvSpPr>
            <p:nvPr/>
          </p:nvSpPr>
          <p:spPr bwMode="auto">
            <a:xfrm>
              <a:off x="1188" y="1373"/>
              <a:ext cx="115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4008" name="Line 28"/>
            <p:cNvSpPr>
              <a:spLocks noChangeAspect="1" noChangeShapeType="1"/>
            </p:cNvSpPr>
            <p:nvPr/>
          </p:nvSpPr>
          <p:spPr bwMode="auto">
            <a:xfrm>
              <a:off x="1203" y="1445"/>
              <a:ext cx="1189" cy="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4009" name="Line 29"/>
            <p:cNvSpPr>
              <a:spLocks noChangeAspect="1" noChangeShapeType="1"/>
            </p:cNvSpPr>
            <p:nvPr/>
          </p:nvSpPr>
          <p:spPr bwMode="auto">
            <a:xfrm>
              <a:off x="1221" y="1514"/>
              <a:ext cx="1099" cy="1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4010" name="Line 30"/>
            <p:cNvSpPr>
              <a:spLocks noChangeAspect="1" noChangeShapeType="1"/>
            </p:cNvSpPr>
            <p:nvPr/>
          </p:nvSpPr>
          <p:spPr bwMode="auto">
            <a:xfrm>
              <a:off x="1260" y="1595"/>
              <a:ext cx="1044" cy="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4011" name="Line 31"/>
            <p:cNvSpPr>
              <a:spLocks noChangeAspect="1" noChangeShapeType="1"/>
            </p:cNvSpPr>
            <p:nvPr/>
          </p:nvSpPr>
          <p:spPr bwMode="auto">
            <a:xfrm>
              <a:off x="1308" y="1676"/>
              <a:ext cx="96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4012" name="Line 32"/>
            <p:cNvSpPr>
              <a:spLocks noChangeAspect="1" noChangeShapeType="1"/>
            </p:cNvSpPr>
            <p:nvPr/>
          </p:nvSpPr>
          <p:spPr bwMode="auto">
            <a:xfrm>
              <a:off x="1374" y="1739"/>
              <a:ext cx="840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4013" name="Line 33"/>
            <p:cNvSpPr>
              <a:spLocks noChangeAspect="1" noChangeShapeType="1"/>
            </p:cNvSpPr>
            <p:nvPr/>
          </p:nvSpPr>
          <p:spPr bwMode="auto">
            <a:xfrm>
              <a:off x="1431" y="1796"/>
              <a:ext cx="73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4014" name="Rectangle 34"/>
            <p:cNvSpPr>
              <a:spLocks noChangeAspect="1" noChangeArrowheads="1"/>
            </p:cNvSpPr>
            <p:nvPr/>
          </p:nvSpPr>
          <p:spPr bwMode="auto">
            <a:xfrm>
              <a:off x="2304" y="1030"/>
              <a:ext cx="72" cy="72"/>
            </a:xfrm>
            <a:prstGeom prst="rect">
              <a:avLst/>
            </a:prstGeom>
            <a:solidFill>
              <a:srgbClr val="00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124015" name="Rectangle 35"/>
            <p:cNvSpPr>
              <a:spLocks noChangeAspect="1" noChangeArrowheads="1"/>
            </p:cNvSpPr>
            <p:nvPr/>
          </p:nvSpPr>
          <p:spPr bwMode="auto">
            <a:xfrm>
              <a:off x="2340" y="1378"/>
              <a:ext cx="72" cy="72"/>
            </a:xfrm>
            <a:prstGeom prst="rect">
              <a:avLst/>
            </a:prstGeom>
            <a:solidFill>
              <a:srgbClr val="00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124016" name="Rectangle 36"/>
            <p:cNvSpPr>
              <a:spLocks noChangeAspect="1" noChangeArrowheads="1"/>
            </p:cNvSpPr>
            <p:nvPr/>
          </p:nvSpPr>
          <p:spPr bwMode="auto">
            <a:xfrm>
              <a:off x="2142" y="815"/>
              <a:ext cx="72" cy="71"/>
            </a:xfrm>
            <a:prstGeom prst="rect">
              <a:avLst/>
            </a:prstGeom>
            <a:solidFill>
              <a:srgbClr val="00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124017" name="Rectangle 37"/>
            <p:cNvSpPr>
              <a:spLocks noChangeAspect="1" noChangeArrowheads="1"/>
            </p:cNvSpPr>
            <p:nvPr/>
          </p:nvSpPr>
          <p:spPr bwMode="auto">
            <a:xfrm>
              <a:off x="2214" y="887"/>
              <a:ext cx="72" cy="72"/>
            </a:xfrm>
            <a:prstGeom prst="rect">
              <a:avLst/>
            </a:prstGeom>
            <a:solidFill>
              <a:srgbClr val="00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124018" name="Rectangle 38"/>
            <p:cNvSpPr>
              <a:spLocks noChangeAspect="1" noChangeArrowheads="1"/>
            </p:cNvSpPr>
            <p:nvPr/>
          </p:nvSpPr>
          <p:spPr bwMode="auto">
            <a:xfrm>
              <a:off x="2286" y="959"/>
              <a:ext cx="72" cy="71"/>
            </a:xfrm>
            <a:prstGeom prst="rect">
              <a:avLst/>
            </a:prstGeom>
            <a:solidFill>
              <a:srgbClr val="00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124019" name="Rectangle 39"/>
            <p:cNvSpPr>
              <a:spLocks noChangeAspect="1" noChangeArrowheads="1"/>
            </p:cNvSpPr>
            <p:nvPr/>
          </p:nvSpPr>
          <p:spPr bwMode="auto">
            <a:xfrm>
              <a:off x="2340" y="1101"/>
              <a:ext cx="72" cy="71"/>
            </a:xfrm>
            <a:prstGeom prst="rect">
              <a:avLst/>
            </a:prstGeom>
            <a:solidFill>
              <a:srgbClr val="00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124020" name="Rectangle 40"/>
            <p:cNvSpPr>
              <a:spLocks noChangeAspect="1" noChangeArrowheads="1"/>
            </p:cNvSpPr>
            <p:nvPr/>
          </p:nvSpPr>
          <p:spPr bwMode="auto">
            <a:xfrm>
              <a:off x="2340" y="1163"/>
              <a:ext cx="72" cy="72"/>
            </a:xfrm>
            <a:prstGeom prst="rect">
              <a:avLst/>
            </a:prstGeom>
            <a:solidFill>
              <a:srgbClr val="00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124021" name="Rectangle 41"/>
            <p:cNvSpPr>
              <a:spLocks noChangeAspect="1" noChangeArrowheads="1"/>
            </p:cNvSpPr>
            <p:nvPr/>
          </p:nvSpPr>
          <p:spPr bwMode="auto">
            <a:xfrm>
              <a:off x="2348" y="1236"/>
              <a:ext cx="72" cy="71"/>
            </a:xfrm>
            <a:prstGeom prst="rect">
              <a:avLst/>
            </a:prstGeom>
            <a:solidFill>
              <a:srgbClr val="00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124022" name="Rectangle 42"/>
            <p:cNvSpPr>
              <a:spLocks noChangeAspect="1" noChangeArrowheads="1"/>
            </p:cNvSpPr>
            <p:nvPr/>
          </p:nvSpPr>
          <p:spPr bwMode="auto">
            <a:xfrm>
              <a:off x="2340" y="1307"/>
              <a:ext cx="72" cy="71"/>
            </a:xfrm>
            <a:prstGeom prst="rect">
              <a:avLst/>
            </a:prstGeom>
            <a:solidFill>
              <a:srgbClr val="00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124023" name="Rectangle 43"/>
            <p:cNvSpPr>
              <a:spLocks noChangeAspect="1" noChangeArrowheads="1"/>
            </p:cNvSpPr>
            <p:nvPr/>
          </p:nvSpPr>
          <p:spPr bwMode="auto">
            <a:xfrm>
              <a:off x="2320" y="1457"/>
              <a:ext cx="72" cy="72"/>
            </a:xfrm>
            <a:prstGeom prst="rect">
              <a:avLst/>
            </a:prstGeom>
            <a:solidFill>
              <a:srgbClr val="00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124024" name="Rectangle 44"/>
            <p:cNvSpPr>
              <a:spLocks noChangeAspect="1" noChangeArrowheads="1"/>
            </p:cNvSpPr>
            <p:nvPr/>
          </p:nvSpPr>
          <p:spPr bwMode="auto">
            <a:xfrm>
              <a:off x="2304" y="1532"/>
              <a:ext cx="72" cy="72"/>
            </a:xfrm>
            <a:prstGeom prst="rect">
              <a:avLst/>
            </a:prstGeom>
            <a:solidFill>
              <a:srgbClr val="00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124025" name="Rectangle 45"/>
            <p:cNvSpPr>
              <a:spLocks noChangeAspect="1" noChangeArrowheads="1"/>
            </p:cNvSpPr>
            <p:nvPr/>
          </p:nvSpPr>
          <p:spPr bwMode="auto">
            <a:xfrm>
              <a:off x="2268" y="1604"/>
              <a:ext cx="72" cy="72"/>
            </a:xfrm>
            <a:prstGeom prst="rect">
              <a:avLst/>
            </a:prstGeom>
            <a:solidFill>
              <a:srgbClr val="00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124026" name="Rectangle 46"/>
            <p:cNvSpPr>
              <a:spLocks noChangeAspect="1" noChangeArrowheads="1"/>
            </p:cNvSpPr>
            <p:nvPr/>
          </p:nvSpPr>
          <p:spPr bwMode="auto">
            <a:xfrm>
              <a:off x="2214" y="1676"/>
              <a:ext cx="72" cy="71"/>
            </a:xfrm>
            <a:prstGeom prst="rect">
              <a:avLst/>
            </a:prstGeom>
            <a:solidFill>
              <a:srgbClr val="00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124027" name="Rectangle 47"/>
            <p:cNvSpPr>
              <a:spLocks noChangeAspect="1" noChangeArrowheads="1"/>
            </p:cNvSpPr>
            <p:nvPr/>
          </p:nvSpPr>
          <p:spPr bwMode="auto">
            <a:xfrm>
              <a:off x="2166" y="1740"/>
              <a:ext cx="72" cy="71"/>
            </a:xfrm>
            <a:prstGeom prst="rect">
              <a:avLst/>
            </a:prstGeom>
            <a:solidFill>
              <a:srgbClr val="00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124028" name="Line 48"/>
            <p:cNvSpPr>
              <a:spLocks noChangeAspect="1" noChangeShapeType="1"/>
            </p:cNvSpPr>
            <p:nvPr/>
          </p:nvSpPr>
          <p:spPr bwMode="auto">
            <a:xfrm flipV="1">
              <a:off x="2214" y="848"/>
              <a:ext cx="178" cy="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4029" name="Line 49"/>
            <p:cNvSpPr>
              <a:spLocks noChangeAspect="1" noChangeShapeType="1"/>
            </p:cNvSpPr>
            <p:nvPr/>
          </p:nvSpPr>
          <p:spPr bwMode="auto">
            <a:xfrm flipV="1">
              <a:off x="2286" y="923"/>
              <a:ext cx="158" cy="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4030" name="Line 50"/>
            <p:cNvSpPr>
              <a:spLocks noChangeAspect="1" noChangeShapeType="1"/>
            </p:cNvSpPr>
            <p:nvPr/>
          </p:nvSpPr>
          <p:spPr bwMode="auto">
            <a:xfrm>
              <a:off x="2358" y="992"/>
              <a:ext cx="12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4031" name="Line 51"/>
            <p:cNvSpPr>
              <a:spLocks noChangeAspect="1" noChangeShapeType="1"/>
            </p:cNvSpPr>
            <p:nvPr/>
          </p:nvSpPr>
          <p:spPr bwMode="auto">
            <a:xfrm>
              <a:off x="2376" y="1064"/>
              <a:ext cx="12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4032" name="Line 52"/>
            <p:cNvSpPr>
              <a:spLocks noChangeAspect="1" noChangeShapeType="1"/>
            </p:cNvSpPr>
            <p:nvPr/>
          </p:nvSpPr>
          <p:spPr bwMode="auto">
            <a:xfrm flipV="1">
              <a:off x="2412" y="1130"/>
              <a:ext cx="12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4033" name="Line 53"/>
            <p:cNvSpPr>
              <a:spLocks noChangeAspect="1" noChangeShapeType="1"/>
            </p:cNvSpPr>
            <p:nvPr/>
          </p:nvSpPr>
          <p:spPr bwMode="auto">
            <a:xfrm>
              <a:off x="2412" y="1193"/>
              <a:ext cx="1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4034" name="Line 54"/>
            <p:cNvSpPr>
              <a:spLocks noChangeAspect="1" noChangeShapeType="1"/>
            </p:cNvSpPr>
            <p:nvPr/>
          </p:nvSpPr>
          <p:spPr bwMode="auto">
            <a:xfrm>
              <a:off x="2412" y="1268"/>
              <a:ext cx="14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4035" name="Line 55"/>
            <p:cNvSpPr>
              <a:spLocks noChangeAspect="1" noChangeShapeType="1"/>
            </p:cNvSpPr>
            <p:nvPr/>
          </p:nvSpPr>
          <p:spPr bwMode="auto">
            <a:xfrm>
              <a:off x="2412" y="1343"/>
              <a:ext cx="12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4036" name="Line 56"/>
            <p:cNvSpPr>
              <a:spLocks noChangeAspect="1" noChangeShapeType="1"/>
            </p:cNvSpPr>
            <p:nvPr/>
          </p:nvSpPr>
          <p:spPr bwMode="auto">
            <a:xfrm flipV="1">
              <a:off x="2412" y="1412"/>
              <a:ext cx="10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4037" name="Line 57"/>
            <p:cNvSpPr>
              <a:spLocks noChangeAspect="1" noChangeShapeType="1"/>
            </p:cNvSpPr>
            <p:nvPr/>
          </p:nvSpPr>
          <p:spPr bwMode="auto">
            <a:xfrm>
              <a:off x="2392" y="1490"/>
              <a:ext cx="13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4038" name="Line 58"/>
            <p:cNvSpPr>
              <a:spLocks noChangeAspect="1" noChangeShapeType="1"/>
            </p:cNvSpPr>
            <p:nvPr/>
          </p:nvSpPr>
          <p:spPr bwMode="auto">
            <a:xfrm>
              <a:off x="2376" y="1565"/>
              <a:ext cx="12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4039" name="Line 59"/>
            <p:cNvSpPr>
              <a:spLocks noChangeAspect="1" noChangeShapeType="1"/>
            </p:cNvSpPr>
            <p:nvPr/>
          </p:nvSpPr>
          <p:spPr bwMode="auto">
            <a:xfrm>
              <a:off x="2340" y="1640"/>
              <a:ext cx="12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4040" name="Line 60"/>
            <p:cNvSpPr>
              <a:spLocks noChangeAspect="1" noChangeShapeType="1"/>
            </p:cNvSpPr>
            <p:nvPr/>
          </p:nvSpPr>
          <p:spPr bwMode="auto">
            <a:xfrm>
              <a:off x="2286" y="1715"/>
              <a:ext cx="12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4041" name="Line 61"/>
            <p:cNvSpPr>
              <a:spLocks noChangeAspect="1" noChangeShapeType="1"/>
            </p:cNvSpPr>
            <p:nvPr/>
          </p:nvSpPr>
          <p:spPr bwMode="auto">
            <a:xfrm>
              <a:off x="2238" y="1778"/>
              <a:ext cx="12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4042" name="Rectangle 62"/>
            <p:cNvSpPr>
              <a:spLocks noChangeAspect="1" noChangeArrowheads="1"/>
            </p:cNvSpPr>
            <p:nvPr/>
          </p:nvSpPr>
          <p:spPr bwMode="auto">
            <a:xfrm>
              <a:off x="2392" y="816"/>
              <a:ext cx="180" cy="70"/>
            </a:xfrm>
            <a:prstGeom prst="rect">
              <a:avLst/>
            </a:prstGeom>
            <a:solidFill>
              <a:srgbClr val="FAF648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124043" name="Rectangle 63"/>
            <p:cNvSpPr>
              <a:spLocks noChangeAspect="1" noChangeArrowheads="1"/>
            </p:cNvSpPr>
            <p:nvPr/>
          </p:nvSpPr>
          <p:spPr bwMode="auto">
            <a:xfrm>
              <a:off x="2444" y="887"/>
              <a:ext cx="164" cy="71"/>
            </a:xfrm>
            <a:prstGeom prst="rect">
              <a:avLst/>
            </a:prstGeom>
            <a:solidFill>
              <a:srgbClr val="FAF648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124044" name="Rectangle 64"/>
            <p:cNvSpPr>
              <a:spLocks noChangeAspect="1" noChangeArrowheads="1"/>
            </p:cNvSpPr>
            <p:nvPr/>
          </p:nvSpPr>
          <p:spPr bwMode="auto">
            <a:xfrm>
              <a:off x="2484" y="965"/>
              <a:ext cx="164" cy="71"/>
            </a:xfrm>
            <a:prstGeom prst="rect">
              <a:avLst/>
            </a:prstGeom>
            <a:solidFill>
              <a:srgbClr val="FAF648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124045" name="Rectangle 65"/>
            <p:cNvSpPr>
              <a:spLocks noChangeAspect="1" noChangeArrowheads="1"/>
            </p:cNvSpPr>
            <p:nvPr/>
          </p:nvSpPr>
          <p:spPr bwMode="auto">
            <a:xfrm>
              <a:off x="2502" y="1037"/>
              <a:ext cx="164" cy="71"/>
            </a:xfrm>
            <a:prstGeom prst="rect">
              <a:avLst/>
            </a:prstGeom>
            <a:solidFill>
              <a:srgbClr val="FAF648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124046" name="Rectangle 66"/>
            <p:cNvSpPr>
              <a:spLocks noChangeAspect="1" noChangeArrowheads="1"/>
            </p:cNvSpPr>
            <p:nvPr/>
          </p:nvSpPr>
          <p:spPr bwMode="auto">
            <a:xfrm>
              <a:off x="2536" y="1108"/>
              <a:ext cx="164" cy="71"/>
            </a:xfrm>
            <a:prstGeom prst="rect">
              <a:avLst/>
            </a:prstGeom>
            <a:solidFill>
              <a:srgbClr val="FAF648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124047" name="Rectangle 67"/>
            <p:cNvSpPr>
              <a:spLocks noChangeAspect="1" noChangeArrowheads="1"/>
            </p:cNvSpPr>
            <p:nvPr/>
          </p:nvSpPr>
          <p:spPr bwMode="auto">
            <a:xfrm>
              <a:off x="2552" y="1179"/>
              <a:ext cx="164" cy="71"/>
            </a:xfrm>
            <a:prstGeom prst="rect">
              <a:avLst/>
            </a:prstGeom>
            <a:solidFill>
              <a:srgbClr val="FAF648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124048" name="Rectangle 68"/>
            <p:cNvSpPr>
              <a:spLocks noChangeAspect="1" noChangeArrowheads="1"/>
            </p:cNvSpPr>
            <p:nvPr/>
          </p:nvSpPr>
          <p:spPr bwMode="auto">
            <a:xfrm>
              <a:off x="2554" y="1253"/>
              <a:ext cx="164" cy="71"/>
            </a:xfrm>
            <a:prstGeom prst="rect">
              <a:avLst/>
            </a:prstGeom>
            <a:solidFill>
              <a:srgbClr val="FAF648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124049" name="Rectangle 69"/>
            <p:cNvSpPr>
              <a:spLocks noChangeAspect="1" noChangeArrowheads="1"/>
            </p:cNvSpPr>
            <p:nvPr/>
          </p:nvSpPr>
          <p:spPr bwMode="auto">
            <a:xfrm>
              <a:off x="2536" y="1316"/>
              <a:ext cx="164" cy="71"/>
            </a:xfrm>
            <a:prstGeom prst="rect">
              <a:avLst/>
            </a:prstGeom>
            <a:solidFill>
              <a:srgbClr val="FAF648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124050" name="Rectangle 70"/>
            <p:cNvSpPr>
              <a:spLocks noChangeAspect="1" noChangeArrowheads="1"/>
            </p:cNvSpPr>
            <p:nvPr/>
          </p:nvSpPr>
          <p:spPr bwMode="auto">
            <a:xfrm>
              <a:off x="2516" y="1379"/>
              <a:ext cx="164" cy="71"/>
            </a:xfrm>
            <a:prstGeom prst="rect">
              <a:avLst/>
            </a:prstGeom>
            <a:solidFill>
              <a:srgbClr val="FAF648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124051" name="Rectangle 71"/>
            <p:cNvSpPr>
              <a:spLocks noChangeAspect="1" noChangeArrowheads="1"/>
            </p:cNvSpPr>
            <p:nvPr/>
          </p:nvSpPr>
          <p:spPr bwMode="auto">
            <a:xfrm>
              <a:off x="2500" y="1458"/>
              <a:ext cx="164" cy="71"/>
            </a:xfrm>
            <a:prstGeom prst="rect">
              <a:avLst/>
            </a:prstGeom>
            <a:solidFill>
              <a:srgbClr val="FAF648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124052" name="Rectangle 72"/>
            <p:cNvSpPr>
              <a:spLocks noChangeAspect="1" noChangeArrowheads="1"/>
            </p:cNvSpPr>
            <p:nvPr/>
          </p:nvSpPr>
          <p:spPr bwMode="auto">
            <a:xfrm>
              <a:off x="2490" y="1533"/>
              <a:ext cx="164" cy="71"/>
            </a:xfrm>
            <a:prstGeom prst="rect">
              <a:avLst/>
            </a:prstGeom>
            <a:solidFill>
              <a:srgbClr val="FAF648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124053" name="Rectangle 73"/>
            <p:cNvSpPr>
              <a:spLocks noChangeAspect="1" noChangeArrowheads="1"/>
            </p:cNvSpPr>
            <p:nvPr/>
          </p:nvSpPr>
          <p:spPr bwMode="auto">
            <a:xfrm>
              <a:off x="2454" y="1604"/>
              <a:ext cx="164" cy="71"/>
            </a:xfrm>
            <a:prstGeom prst="rect">
              <a:avLst/>
            </a:prstGeom>
            <a:solidFill>
              <a:srgbClr val="FAF648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124054" name="Rectangle 74"/>
            <p:cNvSpPr>
              <a:spLocks noChangeAspect="1" noChangeArrowheads="1"/>
            </p:cNvSpPr>
            <p:nvPr/>
          </p:nvSpPr>
          <p:spPr bwMode="auto">
            <a:xfrm>
              <a:off x="2420" y="1676"/>
              <a:ext cx="164" cy="71"/>
            </a:xfrm>
            <a:prstGeom prst="rect">
              <a:avLst/>
            </a:prstGeom>
            <a:solidFill>
              <a:srgbClr val="FAF648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124055" name="Rectangle 75"/>
            <p:cNvSpPr>
              <a:spLocks noChangeAspect="1" noChangeArrowheads="1"/>
            </p:cNvSpPr>
            <p:nvPr/>
          </p:nvSpPr>
          <p:spPr bwMode="auto">
            <a:xfrm>
              <a:off x="2359" y="1740"/>
              <a:ext cx="164" cy="71"/>
            </a:xfrm>
            <a:prstGeom prst="rect">
              <a:avLst/>
            </a:prstGeom>
            <a:solidFill>
              <a:srgbClr val="FAF648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124056" name="Text Box 76"/>
            <p:cNvSpPr txBox="1">
              <a:spLocks noChangeAspect="1" noChangeArrowheads="1"/>
            </p:cNvSpPr>
            <p:nvPr/>
          </p:nvSpPr>
          <p:spPr bwMode="auto">
            <a:xfrm>
              <a:off x="2896" y="1743"/>
              <a:ext cx="789" cy="1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800"/>
                <a:t>Active area, fibers</a:t>
              </a:r>
            </a:p>
          </p:txBody>
        </p:sp>
        <p:sp>
          <p:nvSpPr>
            <p:cNvPr id="124057" name="Rectangle 77"/>
            <p:cNvSpPr>
              <a:spLocks noChangeAspect="1" noChangeArrowheads="1"/>
            </p:cNvSpPr>
            <p:nvPr/>
          </p:nvSpPr>
          <p:spPr bwMode="auto">
            <a:xfrm>
              <a:off x="2758" y="2279"/>
              <a:ext cx="58" cy="57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124058" name="Rectangle 78"/>
            <p:cNvSpPr>
              <a:spLocks noChangeAspect="1" noChangeArrowheads="1"/>
            </p:cNvSpPr>
            <p:nvPr/>
          </p:nvSpPr>
          <p:spPr bwMode="auto">
            <a:xfrm>
              <a:off x="2897" y="2228"/>
              <a:ext cx="1009" cy="1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800"/>
                <a:t>Support/mounting frame</a:t>
              </a:r>
            </a:p>
          </p:txBody>
        </p:sp>
      </p:grpSp>
      <p:sp>
        <p:nvSpPr>
          <p:cNvPr id="123910" name="Text Box 79"/>
          <p:cNvSpPr txBox="1">
            <a:spLocks noChangeArrowheads="1"/>
          </p:cNvSpPr>
          <p:nvPr/>
        </p:nvSpPr>
        <p:spPr bwMode="auto">
          <a:xfrm>
            <a:off x="792163" y="3913188"/>
            <a:ext cx="4003675" cy="639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/>
              <a:t>Scintillating fiber planes</a:t>
            </a:r>
          </a:p>
          <a:p>
            <a:r>
              <a:rPr lang="en-US" sz="1200"/>
              <a:t>Similar to MICE spectrometer.</a:t>
            </a:r>
          </a:p>
          <a:p>
            <a:r>
              <a:rPr lang="en-US" sz="1200"/>
              <a:t>Use MPPCs(SiPMs) and onboard readout electronics</a:t>
            </a:r>
          </a:p>
        </p:txBody>
      </p:sp>
      <p:sp>
        <p:nvSpPr>
          <p:cNvPr id="123911" name="Text Box 80"/>
          <p:cNvSpPr txBox="1">
            <a:spLocks noChangeArrowheads="1"/>
          </p:cNvSpPr>
          <p:nvPr/>
        </p:nvSpPr>
        <p:spPr bwMode="auto">
          <a:xfrm>
            <a:off x="5095875" y="4108450"/>
            <a:ext cx="27654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/>
              <a:t>Consider 4 trackers (x, u, v) per set </a:t>
            </a:r>
          </a:p>
          <a:p>
            <a:r>
              <a:rPr lang="en-US" sz="1200"/>
              <a:t>and possibly 2 more outside.</a:t>
            </a:r>
          </a:p>
        </p:txBody>
      </p:sp>
      <p:sp>
        <p:nvSpPr>
          <p:cNvPr id="123912" name="Text Box 81"/>
          <p:cNvSpPr txBox="1">
            <a:spLocks noChangeArrowheads="1"/>
          </p:cNvSpPr>
          <p:nvPr/>
        </p:nvSpPr>
        <p:spPr bwMode="auto">
          <a:xfrm>
            <a:off x="854075" y="5564188"/>
            <a:ext cx="7527925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/>
              <a:t>Bob Abrams and Vishnu Zutshhi (NIU) have an SBIR proposal on this topic.</a:t>
            </a:r>
          </a:p>
        </p:txBody>
      </p:sp>
      <p:grpSp>
        <p:nvGrpSpPr>
          <p:cNvPr id="123913" name="Group 82"/>
          <p:cNvGrpSpPr>
            <a:grpSpLocks/>
          </p:cNvGrpSpPr>
          <p:nvPr/>
        </p:nvGrpSpPr>
        <p:grpSpPr bwMode="auto">
          <a:xfrm>
            <a:off x="4648200" y="1447800"/>
            <a:ext cx="4354513" cy="2555875"/>
            <a:chOff x="1508" y="2236"/>
            <a:chExt cx="2743" cy="1610"/>
          </a:xfrm>
        </p:grpSpPr>
        <p:sp>
          <p:nvSpPr>
            <p:cNvPr id="123915" name="Line 83"/>
            <p:cNvSpPr>
              <a:spLocks noChangeShapeType="1"/>
            </p:cNvSpPr>
            <p:nvPr/>
          </p:nvSpPr>
          <p:spPr bwMode="auto">
            <a:xfrm>
              <a:off x="1821" y="3131"/>
              <a:ext cx="0" cy="4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916" name="Freeform 84"/>
            <p:cNvSpPr>
              <a:spLocks noChangeAspect="1"/>
            </p:cNvSpPr>
            <p:nvPr/>
          </p:nvSpPr>
          <p:spPr bwMode="auto">
            <a:xfrm>
              <a:off x="1662" y="2577"/>
              <a:ext cx="2393" cy="345"/>
            </a:xfrm>
            <a:custGeom>
              <a:avLst/>
              <a:gdLst>
                <a:gd name="T0" fmla="*/ 34 w 3068"/>
                <a:gd name="T1" fmla="*/ 65 h 1173"/>
                <a:gd name="T2" fmla="*/ 100 w 3068"/>
                <a:gd name="T3" fmla="*/ 25 h 1173"/>
                <a:gd name="T4" fmla="*/ 181 w 3068"/>
                <a:gd name="T5" fmla="*/ 1 h 1173"/>
                <a:gd name="T6" fmla="*/ 278 w 3068"/>
                <a:gd name="T7" fmla="*/ 18 h 1173"/>
                <a:gd name="T8" fmla="*/ 343 w 3068"/>
                <a:gd name="T9" fmla="*/ 48 h 1173"/>
                <a:gd name="T10" fmla="*/ 393 w 3068"/>
                <a:gd name="T11" fmla="*/ 88 h 1173"/>
                <a:gd name="T12" fmla="*/ 449 w 3068"/>
                <a:gd name="T13" fmla="*/ 135 h 1173"/>
                <a:gd name="T14" fmla="*/ 509 w 3068"/>
                <a:gd name="T15" fmla="*/ 181 h 1173"/>
                <a:gd name="T16" fmla="*/ 568 w 3068"/>
                <a:gd name="T17" fmla="*/ 230 h 1173"/>
                <a:gd name="T18" fmla="*/ 602 w 3068"/>
                <a:gd name="T19" fmla="*/ 265 h 1173"/>
                <a:gd name="T20" fmla="*/ 661 w 3068"/>
                <a:gd name="T21" fmla="*/ 298 h 1173"/>
                <a:gd name="T22" fmla="*/ 714 w 3068"/>
                <a:gd name="T23" fmla="*/ 328 h 1173"/>
                <a:gd name="T24" fmla="*/ 761 w 3068"/>
                <a:gd name="T25" fmla="*/ 342 h 1173"/>
                <a:gd name="T26" fmla="*/ 839 w 3068"/>
                <a:gd name="T27" fmla="*/ 341 h 1173"/>
                <a:gd name="T28" fmla="*/ 924 w 3068"/>
                <a:gd name="T29" fmla="*/ 305 h 1173"/>
                <a:gd name="T30" fmla="*/ 992 w 3068"/>
                <a:gd name="T31" fmla="*/ 258 h 1173"/>
                <a:gd name="T32" fmla="*/ 1051 w 3068"/>
                <a:gd name="T33" fmla="*/ 215 h 1173"/>
                <a:gd name="T34" fmla="*/ 1133 w 3068"/>
                <a:gd name="T35" fmla="*/ 142 h 1173"/>
                <a:gd name="T36" fmla="*/ 1201 w 3068"/>
                <a:gd name="T37" fmla="*/ 88 h 1173"/>
                <a:gd name="T38" fmla="*/ 1276 w 3068"/>
                <a:gd name="T39" fmla="*/ 32 h 1173"/>
                <a:gd name="T40" fmla="*/ 1338 w 3068"/>
                <a:gd name="T41" fmla="*/ 11 h 1173"/>
                <a:gd name="T42" fmla="*/ 1435 w 3068"/>
                <a:gd name="T43" fmla="*/ 3 h 1173"/>
                <a:gd name="T44" fmla="*/ 1507 w 3068"/>
                <a:gd name="T45" fmla="*/ 31 h 1173"/>
                <a:gd name="T46" fmla="*/ 1566 w 3068"/>
                <a:gd name="T47" fmla="*/ 68 h 1173"/>
                <a:gd name="T48" fmla="*/ 1641 w 3068"/>
                <a:gd name="T49" fmla="*/ 125 h 1173"/>
                <a:gd name="T50" fmla="*/ 1703 w 3068"/>
                <a:gd name="T51" fmla="*/ 174 h 1173"/>
                <a:gd name="T52" fmla="*/ 1769 w 3068"/>
                <a:gd name="T53" fmla="*/ 239 h 1173"/>
                <a:gd name="T54" fmla="*/ 1822 w 3068"/>
                <a:gd name="T55" fmla="*/ 277 h 1173"/>
                <a:gd name="T56" fmla="*/ 1869 w 3068"/>
                <a:gd name="T57" fmla="*/ 310 h 1173"/>
                <a:gd name="T58" fmla="*/ 1953 w 3068"/>
                <a:gd name="T59" fmla="*/ 339 h 1173"/>
                <a:gd name="T60" fmla="*/ 2047 w 3068"/>
                <a:gd name="T61" fmla="*/ 335 h 1173"/>
                <a:gd name="T62" fmla="*/ 2147 w 3068"/>
                <a:gd name="T63" fmla="*/ 298 h 1173"/>
                <a:gd name="T64" fmla="*/ 2193 w 3068"/>
                <a:gd name="T65" fmla="*/ 259 h 1173"/>
                <a:gd name="T66" fmla="*/ 2299 w 3068"/>
                <a:gd name="T67" fmla="*/ 169 h 1173"/>
                <a:gd name="T68" fmla="*/ 2343 w 3068"/>
                <a:gd name="T69" fmla="*/ 137 h 1173"/>
                <a:gd name="T70" fmla="*/ 2393 w 3068"/>
                <a:gd name="T71" fmla="*/ 89 h 1173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3068"/>
                <a:gd name="T109" fmla="*/ 0 h 1173"/>
                <a:gd name="T110" fmla="*/ 3068 w 3068"/>
                <a:gd name="T111" fmla="*/ 1173 h 1173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3068" h="1173">
                  <a:moveTo>
                    <a:pt x="0" y="294"/>
                  </a:moveTo>
                  <a:cubicBezTo>
                    <a:pt x="16" y="269"/>
                    <a:pt x="32" y="244"/>
                    <a:pt x="44" y="222"/>
                  </a:cubicBezTo>
                  <a:cubicBezTo>
                    <a:pt x="56" y="200"/>
                    <a:pt x="58" y="181"/>
                    <a:pt x="72" y="158"/>
                  </a:cubicBezTo>
                  <a:cubicBezTo>
                    <a:pt x="86" y="135"/>
                    <a:pt x="111" y="107"/>
                    <a:pt x="128" y="86"/>
                  </a:cubicBezTo>
                  <a:cubicBezTo>
                    <a:pt x="145" y="65"/>
                    <a:pt x="159" y="48"/>
                    <a:pt x="176" y="34"/>
                  </a:cubicBezTo>
                  <a:cubicBezTo>
                    <a:pt x="193" y="20"/>
                    <a:pt x="211" y="4"/>
                    <a:pt x="232" y="2"/>
                  </a:cubicBezTo>
                  <a:cubicBezTo>
                    <a:pt x="253" y="0"/>
                    <a:pt x="279" y="12"/>
                    <a:pt x="300" y="22"/>
                  </a:cubicBezTo>
                  <a:cubicBezTo>
                    <a:pt x="321" y="32"/>
                    <a:pt x="337" y="44"/>
                    <a:pt x="356" y="62"/>
                  </a:cubicBezTo>
                  <a:cubicBezTo>
                    <a:pt x="375" y="80"/>
                    <a:pt x="398" y="113"/>
                    <a:pt x="412" y="130"/>
                  </a:cubicBezTo>
                  <a:cubicBezTo>
                    <a:pt x="426" y="147"/>
                    <a:pt x="430" y="146"/>
                    <a:pt x="440" y="162"/>
                  </a:cubicBezTo>
                  <a:cubicBezTo>
                    <a:pt x="450" y="178"/>
                    <a:pt x="461" y="203"/>
                    <a:pt x="472" y="226"/>
                  </a:cubicBezTo>
                  <a:cubicBezTo>
                    <a:pt x="483" y="249"/>
                    <a:pt x="492" y="273"/>
                    <a:pt x="504" y="298"/>
                  </a:cubicBezTo>
                  <a:cubicBezTo>
                    <a:pt x="516" y="323"/>
                    <a:pt x="532" y="347"/>
                    <a:pt x="544" y="374"/>
                  </a:cubicBezTo>
                  <a:cubicBezTo>
                    <a:pt x="556" y="401"/>
                    <a:pt x="564" y="431"/>
                    <a:pt x="576" y="458"/>
                  </a:cubicBezTo>
                  <a:cubicBezTo>
                    <a:pt x="588" y="485"/>
                    <a:pt x="603" y="512"/>
                    <a:pt x="616" y="538"/>
                  </a:cubicBezTo>
                  <a:cubicBezTo>
                    <a:pt x="629" y="564"/>
                    <a:pt x="639" y="586"/>
                    <a:pt x="652" y="614"/>
                  </a:cubicBezTo>
                  <a:cubicBezTo>
                    <a:pt x="665" y="642"/>
                    <a:pt x="683" y="678"/>
                    <a:pt x="696" y="706"/>
                  </a:cubicBezTo>
                  <a:cubicBezTo>
                    <a:pt x="709" y="734"/>
                    <a:pt x="718" y="759"/>
                    <a:pt x="728" y="782"/>
                  </a:cubicBezTo>
                  <a:cubicBezTo>
                    <a:pt x="738" y="805"/>
                    <a:pt x="749" y="822"/>
                    <a:pt x="756" y="842"/>
                  </a:cubicBezTo>
                  <a:cubicBezTo>
                    <a:pt x="763" y="862"/>
                    <a:pt x="763" y="883"/>
                    <a:pt x="772" y="902"/>
                  </a:cubicBezTo>
                  <a:cubicBezTo>
                    <a:pt x="781" y="921"/>
                    <a:pt x="795" y="935"/>
                    <a:pt x="808" y="954"/>
                  </a:cubicBezTo>
                  <a:cubicBezTo>
                    <a:pt x="821" y="973"/>
                    <a:pt x="835" y="993"/>
                    <a:pt x="848" y="1014"/>
                  </a:cubicBezTo>
                  <a:cubicBezTo>
                    <a:pt x="861" y="1035"/>
                    <a:pt x="873" y="1065"/>
                    <a:pt x="884" y="1082"/>
                  </a:cubicBezTo>
                  <a:cubicBezTo>
                    <a:pt x="895" y="1099"/>
                    <a:pt x="906" y="1103"/>
                    <a:pt x="916" y="1114"/>
                  </a:cubicBezTo>
                  <a:cubicBezTo>
                    <a:pt x="926" y="1125"/>
                    <a:pt x="934" y="1138"/>
                    <a:pt x="944" y="1146"/>
                  </a:cubicBezTo>
                  <a:cubicBezTo>
                    <a:pt x="954" y="1154"/>
                    <a:pt x="965" y="1158"/>
                    <a:pt x="976" y="1162"/>
                  </a:cubicBezTo>
                  <a:cubicBezTo>
                    <a:pt x="987" y="1166"/>
                    <a:pt x="991" y="1171"/>
                    <a:pt x="1008" y="1170"/>
                  </a:cubicBezTo>
                  <a:cubicBezTo>
                    <a:pt x="1025" y="1169"/>
                    <a:pt x="1055" y="1170"/>
                    <a:pt x="1076" y="1158"/>
                  </a:cubicBezTo>
                  <a:cubicBezTo>
                    <a:pt x="1097" y="1146"/>
                    <a:pt x="1118" y="1118"/>
                    <a:pt x="1136" y="1098"/>
                  </a:cubicBezTo>
                  <a:cubicBezTo>
                    <a:pt x="1154" y="1078"/>
                    <a:pt x="1169" y="1059"/>
                    <a:pt x="1184" y="1038"/>
                  </a:cubicBezTo>
                  <a:cubicBezTo>
                    <a:pt x="1199" y="1017"/>
                    <a:pt x="1213" y="1001"/>
                    <a:pt x="1228" y="974"/>
                  </a:cubicBezTo>
                  <a:cubicBezTo>
                    <a:pt x="1243" y="947"/>
                    <a:pt x="1258" y="904"/>
                    <a:pt x="1272" y="878"/>
                  </a:cubicBezTo>
                  <a:cubicBezTo>
                    <a:pt x="1286" y="852"/>
                    <a:pt x="1299" y="843"/>
                    <a:pt x="1312" y="818"/>
                  </a:cubicBezTo>
                  <a:cubicBezTo>
                    <a:pt x="1325" y="793"/>
                    <a:pt x="1331" y="769"/>
                    <a:pt x="1348" y="730"/>
                  </a:cubicBezTo>
                  <a:cubicBezTo>
                    <a:pt x="1365" y="691"/>
                    <a:pt x="1395" y="623"/>
                    <a:pt x="1412" y="582"/>
                  </a:cubicBezTo>
                  <a:cubicBezTo>
                    <a:pt x="1429" y="541"/>
                    <a:pt x="1439" y="515"/>
                    <a:pt x="1452" y="482"/>
                  </a:cubicBezTo>
                  <a:cubicBezTo>
                    <a:pt x="1465" y="449"/>
                    <a:pt x="1477" y="413"/>
                    <a:pt x="1492" y="382"/>
                  </a:cubicBezTo>
                  <a:cubicBezTo>
                    <a:pt x="1507" y="351"/>
                    <a:pt x="1523" y="327"/>
                    <a:pt x="1540" y="298"/>
                  </a:cubicBezTo>
                  <a:cubicBezTo>
                    <a:pt x="1557" y="269"/>
                    <a:pt x="1576" y="237"/>
                    <a:pt x="1592" y="206"/>
                  </a:cubicBezTo>
                  <a:cubicBezTo>
                    <a:pt x="1608" y="175"/>
                    <a:pt x="1623" y="131"/>
                    <a:pt x="1636" y="110"/>
                  </a:cubicBezTo>
                  <a:cubicBezTo>
                    <a:pt x="1649" y="89"/>
                    <a:pt x="1655" y="90"/>
                    <a:pt x="1668" y="78"/>
                  </a:cubicBezTo>
                  <a:cubicBezTo>
                    <a:pt x="1681" y="66"/>
                    <a:pt x="1697" y="49"/>
                    <a:pt x="1716" y="38"/>
                  </a:cubicBezTo>
                  <a:cubicBezTo>
                    <a:pt x="1735" y="27"/>
                    <a:pt x="1763" y="19"/>
                    <a:pt x="1784" y="14"/>
                  </a:cubicBezTo>
                  <a:cubicBezTo>
                    <a:pt x="1805" y="9"/>
                    <a:pt x="1822" y="3"/>
                    <a:pt x="1840" y="10"/>
                  </a:cubicBezTo>
                  <a:cubicBezTo>
                    <a:pt x="1858" y="17"/>
                    <a:pt x="1881" y="38"/>
                    <a:pt x="1896" y="54"/>
                  </a:cubicBezTo>
                  <a:cubicBezTo>
                    <a:pt x="1911" y="70"/>
                    <a:pt x="1919" y="87"/>
                    <a:pt x="1932" y="106"/>
                  </a:cubicBezTo>
                  <a:cubicBezTo>
                    <a:pt x="1945" y="125"/>
                    <a:pt x="1959" y="145"/>
                    <a:pt x="1972" y="166"/>
                  </a:cubicBezTo>
                  <a:cubicBezTo>
                    <a:pt x="1985" y="187"/>
                    <a:pt x="1996" y="210"/>
                    <a:pt x="2008" y="230"/>
                  </a:cubicBezTo>
                  <a:cubicBezTo>
                    <a:pt x="2020" y="250"/>
                    <a:pt x="2028" y="253"/>
                    <a:pt x="2044" y="286"/>
                  </a:cubicBezTo>
                  <a:cubicBezTo>
                    <a:pt x="2060" y="319"/>
                    <a:pt x="2088" y="387"/>
                    <a:pt x="2104" y="426"/>
                  </a:cubicBezTo>
                  <a:cubicBezTo>
                    <a:pt x="2120" y="465"/>
                    <a:pt x="2127" y="491"/>
                    <a:pt x="2140" y="518"/>
                  </a:cubicBezTo>
                  <a:cubicBezTo>
                    <a:pt x="2153" y="545"/>
                    <a:pt x="2169" y="557"/>
                    <a:pt x="2184" y="590"/>
                  </a:cubicBezTo>
                  <a:cubicBezTo>
                    <a:pt x="2199" y="623"/>
                    <a:pt x="2218" y="677"/>
                    <a:pt x="2232" y="714"/>
                  </a:cubicBezTo>
                  <a:cubicBezTo>
                    <a:pt x="2246" y="751"/>
                    <a:pt x="2256" y="787"/>
                    <a:pt x="2268" y="814"/>
                  </a:cubicBezTo>
                  <a:cubicBezTo>
                    <a:pt x="2280" y="841"/>
                    <a:pt x="2293" y="857"/>
                    <a:pt x="2304" y="878"/>
                  </a:cubicBezTo>
                  <a:cubicBezTo>
                    <a:pt x="2315" y="899"/>
                    <a:pt x="2327" y="924"/>
                    <a:pt x="2336" y="942"/>
                  </a:cubicBezTo>
                  <a:cubicBezTo>
                    <a:pt x="2345" y="960"/>
                    <a:pt x="2350" y="967"/>
                    <a:pt x="2360" y="986"/>
                  </a:cubicBezTo>
                  <a:cubicBezTo>
                    <a:pt x="2370" y="1005"/>
                    <a:pt x="2379" y="1031"/>
                    <a:pt x="2396" y="1054"/>
                  </a:cubicBezTo>
                  <a:cubicBezTo>
                    <a:pt x="2413" y="1077"/>
                    <a:pt x="2442" y="1105"/>
                    <a:pt x="2460" y="1122"/>
                  </a:cubicBezTo>
                  <a:cubicBezTo>
                    <a:pt x="2478" y="1139"/>
                    <a:pt x="2489" y="1146"/>
                    <a:pt x="2504" y="1154"/>
                  </a:cubicBezTo>
                  <a:cubicBezTo>
                    <a:pt x="2519" y="1162"/>
                    <a:pt x="2528" y="1173"/>
                    <a:pt x="2548" y="1170"/>
                  </a:cubicBezTo>
                  <a:cubicBezTo>
                    <a:pt x="2568" y="1167"/>
                    <a:pt x="2595" y="1155"/>
                    <a:pt x="2624" y="1138"/>
                  </a:cubicBezTo>
                  <a:cubicBezTo>
                    <a:pt x="2653" y="1121"/>
                    <a:pt x="2699" y="1087"/>
                    <a:pt x="2720" y="1066"/>
                  </a:cubicBezTo>
                  <a:cubicBezTo>
                    <a:pt x="2741" y="1045"/>
                    <a:pt x="2742" y="1033"/>
                    <a:pt x="2752" y="1014"/>
                  </a:cubicBezTo>
                  <a:cubicBezTo>
                    <a:pt x="2762" y="995"/>
                    <a:pt x="2770" y="976"/>
                    <a:pt x="2780" y="954"/>
                  </a:cubicBezTo>
                  <a:cubicBezTo>
                    <a:pt x="2790" y="932"/>
                    <a:pt x="2793" y="925"/>
                    <a:pt x="2812" y="882"/>
                  </a:cubicBezTo>
                  <a:cubicBezTo>
                    <a:pt x="2831" y="839"/>
                    <a:pt x="2869" y="749"/>
                    <a:pt x="2892" y="698"/>
                  </a:cubicBezTo>
                  <a:cubicBezTo>
                    <a:pt x="2915" y="647"/>
                    <a:pt x="2936" y="599"/>
                    <a:pt x="2948" y="574"/>
                  </a:cubicBezTo>
                  <a:cubicBezTo>
                    <a:pt x="2960" y="549"/>
                    <a:pt x="2955" y="564"/>
                    <a:pt x="2964" y="546"/>
                  </a:cubicBezTo>
                  <a:cubicBezTo>
                    <a:pt x="2973" y="528"/>
                    <a:pt x="2989" y="489"/>
                    <a:pt x="3004" y="466"/>
                  </a:cubicBezTo>
                  <a:cubicBezTo>
                    <a:pt x="3019" y="443"/>
                    <a:pt x="3041" y="433"/>
                    <a:pt x="3052" y="406"/>
                  </a:cubicBezTo>
                  <a:cubicBezTo>
                    <a:pt x="3063" y="379"/>
                    <a:pt x="3066" y="319"/>
                    <a:pt x="3068" y="302"/>
                  </a:cubicBezTo>
                </a:path>
              </a:pathLst>
            </a:custGeom>
            <a:noFill/>
            <a:ln w="57150">
              <a:solidFill>
                <a:srgbClr val="008000"/>
              </a:solidFill>
              <a:round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123917" name="Freeform 85"/>
            <p:cNvSpPr>
              <a:spLocks noChangeAspect="1"/>
            </p:cNvSpPr>
            <p:nvPr/>
          </p:nvSpPr>
          <p:spPr bwMode="auto">
            <a:xfrm>
              <a:off x="1681" y="3031"/>
              <a:ext cx="2392" cy="345"/>
            </a:xfrm>
            <a:custGeom>
              <a:avLst/>
              <a:gdLst>
                <a:gd name="T0" fmla="*/ 34 w 3068"/>
                <a:gd name="T1" fmla="*/ 65 h 1173"/>
                <a:gd name="T2" fmla="*/ 100 w 3068"/>
                <a:gd name="T3" fmla="*/ 25 h 1173"/>
                <a:gd name="T4" fmla="*/ 181 w 3068"/>
                <a:gd name="T5" fmla="*/ 1 h 1173"/>
                <a:gd name="T6" fmla="*/ 278 w 3068"/>
                <a:gd name="T7" fmla="*/ 18 h 1173"/>
                <a:gd name="T8" fmla="*/ 343 w 3068"/>
                <a:gd name="T9" fmla="*/ 48 h 1173"/>
                <a:gd name="T10" fmla="*/ 393 w 3068"/>
                <a:gd name="T11" fmla="*/ 88 h 1173"/>
                <a:gd name="T12" fmla="*/ 449 w 3068"/>
                <a:gd name="T13" fmla="*/ 135 h 1173"/>
                <a:gd name="T14" fmla="*/ 508 w 3068"/>
                <a:gd name="T15" fmla="*/ 181 h 1173"/>
                <a:gd name="T16" fmla="*/ 568 w 3068"/>
                <a:gd name="T17" fmla="*/ 230 h 1173"/>
                <a:gd name="T18" fmla="*/ 602 w 3068"/>
                <a:gd name="T19" fmla="*/ 265 h 1173"/>
                <a:gd name="T20" fmla="*/ 661 w 3068"/>
                <a:gd name="T21" fmla="*/ 298 h 1173"/>
                <a:gd name="T22" fmla="*/ 714 w 3068"/>
                <a:gd name="T23" fmla="*/ 328 h 1173"/>
                <a:gd name="T24" fmla="*/ 761 w 3068"/>
                <a:gd name="T25" fmla="*/ 342 h 1173"/>
                <a:gd name="T26" fmla="*/ 839 w 3068"/>
                <a:gd name="T27" fmla="*/ 341 h 1173"/>
                <a:gd name="T28" fmla="*/ 923 w 3068"/>
                <a:gd name="T29" fmla="*/ 305 h 1173"/>
                <a:gd name="T30" fmla="*/ 992 w 3068"/>
                <a:gd name="T31" fmla="*/ 258 h 1173"/>
                <a:gd name="T32" fmla="*/ 1051 w 3068"/>
                <a:gd name="T33" fmla="*/ 215 h 1173"/>
                <a:gd name="T34" fmla="*/ 1132 w 3068"/>
                <a:gd name="T35" fmla="*/ 142 h 1173"/>
                <a:gd name="T36" fmla="*/ 1201 w 3068"/>
                <a:gd name="T37" fmla="*/ 88 h 1173"/>
                <a:gd name="T38" fmla="*/ 1276 w 3068"/>
                <a:gd name="T39" fmla="*/ 32 h 1173"/>
                <a:gd name="T40" fmla="*/ 1338 w 3068"/>
                <a:gd name="T41" fmla="*/ 11 h 1173"/>
                <a:gd name="T42" fmla="*/ 1435 w 3068"/>
                <a:gd name="T43" fmla="*/ 3 h 1173"/>
                <a:gd name="T44" fmla="*/ 1506 w 3068"/>
                <a:gd name="T45" fmla="*/ 31 h 1173"/>
                <a:gd name="T46" fmla="*/ 1566 w 3068"/>
                <a:gd name="T47" fmla="*/ 68 h 1173"/>
                <a:gd name="T48" fmla="*/ 1640 w 3068"/>
                <a:gd name="T49" fmla="*/ 125 h 1173"/>
                <a:gd name="T50" fmla="*/ 1703 w 3068"/>
                <a:gd name="T51" fmla="*/ 174 h 1173"/>
                <a:gd name="T52" fmla="*/ 1768 w 3068"/>
                <a:gd name="T53" fmla="*/ 239 h 1173"/>
                <a:gd name="T54" fmla="*/ 1821 w 3068"/>
                <a:gd name="T55" fmla="*/ 277 h 1173"/>
                <a:gd name="T56" fmla="*/ 1868 w 3068"/>
                <a:gd name="T57" fmla="*/ 310 h 1173"/>
                <a:gd name="T58" fmla="*/ 1952 w 3068"/>
                <a:gd name="T59" fmla="*/ 339 h 1173"/>
                <a:gd name="T60" fmla="*/ 2046 w 3068"/>
                <a:gd name="T61" fmla="*/ 335 h 1173"/>
                <a:gd name="T62" fmla="*/ 2146 w 3068"/>
                <a:gd name="T63" fmla="*/ 298 h 1173"/>
                <a:gd name="T64" fmla="*/ 2192 w 3068"/>
                <a:gd name="T65" fmla="*/ 259 h 1173"/>
                <a:gd name="T66" fmla="*/ 2298 w 3068"/>
                <a:gd name="T67" fmla="*/ 169 h 1173"/>
                <a:gd name="T68" fmla="*/ 2342 w 3068"/>
                <a:gd name="T69" fmla="*/ 137 h 1173"/>
                <a:gd name="T70" fmla="*/ 2392 w 3068"/>
                <a:gd name="T71" fmla="*/ 89 h 1173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3068"/>
                <a:gd name="T109" fmla="*/ 0 h 1173"/>
                <a:gd name="T110" fmla="*/ 3068 w 3068"/>
                <a:gd name="T111" fmla="*/ 1173 h 1173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3068" h="1173">
                  <a:moveTo>
                    <a:pt x="0" y="294"/>
                  </a:moveTo>
                  <a:cubicBezTo>
                    <a:pt x="16" y="269"/>
                    <a:pt x="32" y="244"/>
                    <a:pt x="44" y="222"/>
                  </a:cubicBezTo>
                  <a:cubicBezTo>
                    <a:pt x="56" y="200"/>
                    <a:pt x="58" y="181"/>
                    <a:pt x="72" y="158"/>
                  </a:cubicBezTo>
                  <a:cubicBezTo>
                    <a:pt x="86" y="135"/>
                    <a:pt x="111" y="107"/>
                    <a:pt x="128" y="86"/>
                  </a:cubicBezTo>
                  <a:cubicBezTo>
                    <a:pt x="145" y="65"/>
                    <a:pt x="159" y="48"/>
                    <a:pt x="176" y="34"/>
                  </a:cubicBezTo>
                  <a:cubicBezTo>
                    <a:pt x="193" y="20"/>
                    <a:pt x="211" y="4"/>
                    <a:pt x="232" y="2"/>
                  </a:cubicBezTo>
                  <a:cubicBezTo>
                    <a:pt x="253" y="0"/>
                    <a:pt x="279" y="12"/>
                    <a:pt x="300" y="22"/>
                  </a:cubicBezTo>
                  <a:cubicBezTo>
                    <a:pt x="321" y="32"/>
                    <a:pt x="337" y="44"/>
                    <a:pt x="356" y="62"/>
                  </a:cubicBezTo>
                  <a:cubicBezTo>
                    <a:pt x="375" y="80"/>
                    <a:pt x="398" y="113"/>
                    <a:pt x="412" y="130"/>
                  </a:cubicBezTo>
                  <a:cubicBezTo>
                    <a:pt x="426" y="147"/>
                    <a:pt x="430" y="146"/>
                    <a:pt x="440" y="162"/>
                  </a:cubicBezTo>
                  <a:cubicBezTo>
                    <a:pt x="450" y="178"/>
                    <a:pt x="461" y="203"/>
                    <a:pt x="472" y="226"/>
                  </a:cubicBezTo>
                  <a:cubicBezTo>
                    <a:pt x="483" y="249"/>
                    <a:pt x="492" y="273"/>
                    <a:pt x="504" y="298"/>
                  </a:cubicBezTo>
                  <a:cubicBezTo>
                    <a:pt x="516" y="323"/>
                    <a:pt x="532" y="347"/>
                    <a:pt x="544" y="374"/>
                  </a:cubicBezTo>
                  <a:cubicBezTo>
                    <a:pt x="556" y="401"/>
                    <a:pt x="564" y="431"/>
                    <a:pt x="576" y="458"/>
                  </a:cubicBezTo>
                  <a:cubicBezTo>
                    <a:pt x="588" y="485"/>
                    <a:pt x="603" y="512"/>
                    <a:pt x="616" y="538"/>
                  </a:cubicBezTo>
                  <a:cubicBezTo>
                    <a:pt x="629" y="564"/>
                    <a:pt x="639" y="586"/>
                    <a:pt x="652" y="614"/>
                  </a:cubicBezTo>
                  <a:cubicBezTo>
                    <a:pt x="665" y="642"/>
                    <a:pt x="683" y="678"/>
                    <a:pt x="696" y="706"/>
                  </a:cubicBezTo>
                  <a:cubicBezTo>
                    <a:pt x="709" y="734"/>
                    <a:pt x="718" y="759"/>
                    <a:pt x="728" y="782"/>
                  </a:cubicBezTo>
                  <a:cubicBezTo>
                    <a:pt x="738" y="805"/>
                    <a:pt x="749" y="822"/>
                    <a:pt x="756" y="842"/>
                  </a:cubicBezTo>
                  <a:cubicBezTo>
                    <a:pt x="763" y="862"/>
                    <a:pt x="763" y="883"/>
                    <a:pt x="772" y="902"/>
                  </a:cubicBezTo>
                  <a:cubicBezTo>
                    <a:pt x="781" y="921"/>
                    <a:pt x="795" y="935"/>
                    <a:pt x="808" y="954"/>
                  </a:cubicBezTo>
                  <a:cubicBezTo>
                    <a:pt x="821" y="973"/>
                    <a:pt x="835" y="993"/>
                    <a:pt x="848" y="1014"/>
                  </a:cubicBezTo>
                  <a:cubicBezTo>
                    <a:pt x="861" y="1035"/>
                    <a:pt x="873" y="1065"/>
                    <a:pt x="884" y="1082"/>
                  </a:cubicBezTo>
                  <a:cubicBezTo>
                    <a:pt x="895" y="1099"/>
                    <a:pt x="906" y="1103"/>
                    <a:pt x="916" y="1114"/>
                  </a:cubicBezTo>
                  <a:cubicBezTo>
                    <a:pt x="926" y="1125"/>
                    <a:pt x="934" y="1138"/>
                    <a:pt x="944" y="1146"/>
                  </a:cubicBezTo>
                  <a:cubicBezTo>
                    <a:pt x="954" y="1154"/>
                    <a:pt x="965" y="1158"/>
                    <a:pt x="976" y="1162"/>
                  </a:cubicBezTo>
                  <a:cubicBezTo>
                    <a:pt x="987" y="1166"/>
                    <a:pt x="991" y="1171"/>
                    <a:pt x="1008" y="1170"/>
                  </a:cubicBezTo>
                  <a:cubicBezTo>
                    <a:pt x="1025" y="1169"/>
                    <a:pt x="1055" y="1170"/>
                    <a:pt x="1076" y="1158"/>
                  </a:cubicBezTo>
                  <a:cubicBezTo>
                    <a:pt x="1097" y="1146"/>
                    <a:pt x="1118" y="1118"/>
                    <a:pt x="1136" y="1098"/>
                  </a:cubicBezTo>
                  <a:cubicBezTo>
                    <a:pt x="1154" y="1078"/>
                    <a:pt x="1169" y="1059"/>
                    <a:pt x="1184" y="1038"/>
                  </a:cubicBezTo>
                  <a:cubicBezTo>
                    <a:pt x="1199" y="1017"/>
                    <a:pt x="1213" y="1001"/>
                    <a:pt x="1228" y="974"/>
                  </a:cubicBezTo>
                  <a:cubicBezTo>
                    <a:pt x="1243" y="947"/>
                    <a:pt x="1258" y="904"/>
                    <a:pt x="1272" y="878"/>
                  </a:cubicBezTo>
                  <a:cubicBezTo>
                    <a:pt x="1286" y="852"/>
                    <a:pt x="1299" y="843"/>
                    <a:pt x="1312" y="818"/>
                  </a:cubicBezTo>
                  <a:cubicBezTo>
                    <a:pt x="1325" y="793"/>
                    <a:pt x="1331" y="769"/>
                    <a:pt x="1348" y="730"/>
                  </a:cubicBezTo>
                  <a:cubicBezTo>
                    <a:pt x="1365" y="691"/>
                    <a:pt x="1395" y="623"/>
                    <a:pt x="1412" y="582"/>
                  </a:cubicBezTo>
                  <a:cubicBezTo>
                    <a:pt x="1429" y="541"/>
                    <a:pt x="1439" y="515"/>
                    <a:pt x="1452" y="482"/>
                  </a:cubicBezTo>
                  <a:cubicBezTo>
                    <a:pt x="1465" y="449"/>
                    <a:pt x="1477" y="413"/>
                    <a:pt x="1492" y="382"/>
                  </a:cubicBezTo>
                  <a:cubicBezTo>
                    <a:pt x="1507" y="351"/>
                    <a:pt x="1523" y="327"/>
                    <a:pt x="1540" y="298"/>
                  </a:cubicBezTo>
                  <a:cubicBezTo>
                    <a:pt x="1557" y="269"/>
                    <a:pt x="1576" y="237"/>
                    <a:pt x="1592" y="206"/>
                  </a:cubicBezTo>
                  <a:cubicBezTo>
                    <a:pt x="1608" y="175"/>
                    <a:pt x="1623" y="131"/>
                    <a:pt x="1636" y="110"/>
                  </a:cubicBezTo>
                  <a:cubicBezTo>
                    <a:pt x="1649" y="89"/>
                    <a:pt x="1655" y="90"/>
                    <a:pt x="1668" y="78"/>
                  </a:cubicBezTo>
                  <a:cubicBezTo>
                    <a:pt x="1681" y="66"/>
                    <a:pt x="1697" y="49"/>
                    <a:pt x="1716" y="38"/>
                  </a:cubicBezTo>
                  <a:cubicBezTo>
                    <a:pt x="1735" y="27"/>
                    <a:pt x="1763" y="19"/>
                    <a:pt x="1784" y="14"/>
                  </a:cubicBezTo>
                  <a:cubicBezTo>
                    <a:pt x="1805" y="9"/>
                    <a:pt x="1822" y="3"/>
                    <a:pt x="1840" y="10"/>
                  </a:cubicBezTo>
                  <a:cubicBezTo>
                    <a:pt x="1858" y="17"/>
                    <a:pt x="1881" y="38"/>
                    <a:pt x="1896" y="54"/>
                  </a:cubicBezTo>
                  <a:cubicBezTo>
                    <a:pt x="1911" y="70"/>
                    <a:pt x="1919" y="87"/>
                    <a:pt x="1932" y="106"/>
                  </a:cubicBezTo>
                  <a:cubicBezTo>
                    <a:pt x="1945" y="125"/>
                    <a:pt x="1959" y="145"/>
                    <a:pt x="1972" y="166"/>
                  </a:cubicBezTo>
                  <a:cubicBezTo>
                    <a:pt x="1985" y="187"/>
                    <a:pt x="1996" y="210"/>
                    <a:pt x="2008" y="230"/>
                  </a:cubicBezTo>
                  <a:cubicBezTo>
                    <a:pt x="2020" y="250"/>
                    <a:pt x="2028" y="253"/>
                    <a:pt x="2044" y="286"/>
                  </a:cubicBezTo>
                  <a:cubicBezTo>
                    <a:pt x="2060" y="319"/>
                    <a:pt x="2088" y="387"/>
                    <a:pt x="2104" y="426"/>
                  </a:cubicBezTo>
                  <a:cubicBezTo>
                    <a:pt x="2120" y="465"/>
                    <a:pt x="2127" y="491"/>
                    <a:pt x="2140" y="518"/>
                  </a:cubicBezTo>
                  <a:cubicBezTo>
                    <a:pt x="2153" y="545"/>
                    <a:pt x="2169" y="557"/>
                    <a:pt x="2184" y="590"/>
                  </a:cubicBezTo>
                  <a:cubicBezTo>
                    <a:pt x="2199" y="623"/>
                    <a:pt x="2218" y="677"/>
                    <a:pt x="2232" y="714"/>
                  </a:cubicBezTo>
                  <a:cubicBezTo>
                    <a:pt x="2246" y="751"/>
                    <a:pt x="2256" y="787"/>
                    <a:pt x="2268" y="814"/>
                  </a:cubicBezTo>
                  <a:cubicBezTo>
                    <a:pt x="2280" y="841"/>
                    <a:pt x="2293" y="857"/>
                    <a:pt x="2304" y="878"/>
                  </a:cubicBezTo>
                  <a:cubicBezTo>
                    <a:pt x="2315" y="899"/>
                    <a:pt x="2327" y="924"/>
                    <a:pt x="2336" y="942"/>
                  </a:cubicBezTo>
                  <a:cubicBezTo>
                    <a:pt x="2345" y="960"/>
                    <a:pt x="2350" y="967"/>
                    <a:pt x="2360" y="986"/>
                  </a:cubicBezTo>
                  <a:cubicBezTo>
                    <a:pt x="2370" y="1005"/>
                    <a:pt x="2379" y="1031"/>
                    <a:pt x="2396" y="1054"/>
                  </a:cubicBezTo>
                  <a:cubicBezTo>
                    <a:pt x="2413" y="1077"/>
                    <a:pt x="2442" y="1105"/>
                    <a:pt x="2460" y="1122"/>
                  </a:cubicBezTo>
                  <a:cubicBezTo>
                    <a:pt x="2478" y="1139"/>
                    <a:pt x="2489" y="1146"/>
                    <a:pt x="2504" y="1154"/>
                  </a:cubicBezTo>
                  <a:cubicBezTo>
                    <a:pt x="2519" y="1162"/>
                    <a:pt x="2528" y="1173"/>
                    <a:pt x="2548" y="1170"/>
                  </a:cubicBezTo>
                  <a:cubicBezTo>
                    <a:pt x="2568" y="1167"/>
                    <a:pt x="2595" y="1155"/>
                    <a:pt x="2624" y="1138"/>
                  </a:cubicBezTo>
                  <a:cubicBezTo>
                    <a:pt x="2653" y="1121"/>
                    <a:pt x="2699" y="1087"/>
                    <a:pt x="2720" y="1066"/>
                  </a:cubicBezTo>
                  <a:cubicBezTo>
                    <a:pt x="2741" y="1045"/>
                    <a:pt x="2742" y="1033"/>
                    <a:pt x="2752" y="1014"/>
                  </a:cubicBezTo>
                  <a:cubicBezTo>
                    <a:pt x="2762" y="995"/>
                    <a:pt x="2770" y="976"/>
                    <a:pt x="2780" y="954"/>
                  </a:cubicBezTo>
                  <a:cubicBezTo>
                    <a:pt x="2790" y="932"/>
                    <a:pt x="2793" y="925"/>
                    <a:pt x="2812" y="882"/>
                  </a:cubicBezTo>
                  <a:cubicBezTo>
                    <a:pt x="2831" y="839"/>
                    <a:pt x="2869" y="749"/>
                    <a:pt x="2892" y="698"/>
                  </a:cubicBezTo>
                  <a:cubicBezTo>
                    <a:pt x="2915" y="647"/>
                    <a:pt x="2936" y="599"/>
                    <a:pt x="2948" y="574"/>
                  </a:cubicBezTo>
                  <a:cubicBezTo>
                    <a:pt x="2960" y="549"/>
                    <a:pt x="2955" y="564"/>
                    <a:pt x="2964" y="546"/>
                  </a:cubicBezTo>
                  <a:cubicBezTo>
                    <a:pt x="2973" y="528"/>
                    <a:pt x="2989" y="489"/>
                    <a:pt x="3004" y="466"/>
                  </a:cubicBezTo>
                  <a:cubicBezTo>
                    <a:pt x="3019" y="443"/>
                    <a:pt x="3041" y="433"/>
                    <a:pt x="3052" y="406"/>
                  </a:cubicBezTo>
                  <a:cubicBezTo>
                    <a:pt x="3063" y="379"/>
                    <a:pt x="3066" y="319"/>
                    <a:pt x="3068" y="302"/>
                  </a:cubicBezTo>
                </a:path>
              </a:pathLst>
            </a:custGeom>
            <a:noFill/>
            <a:ln w="57150">
              <a:solidFill>
                <a:srgbClr val="008000"/>
              </a:solidFill>
              <a:round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123918" name="Rectangle 86"/>
            <p:cNvSpPr>
              <a:spLocks noChangeArrowheads="1"/>
            </p:cNvSpPr>
            <p:nvPr/>
          </p:nvSpPr>
          <p:spPr bwMode="auto">
            <a:xfrm>
              <a:off x="1508" y="2577"/>
              <a:ext cx="39" cy="60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123919" name="Rectangle 87"/>
            <p:cNvSpPr>
              <a:spLocks noChangeArrowheads="1"/>
            </p:cNvSpPr>
            <p:nvPr/>
          </p:nvSpPr>
          <p:spPr bwMode="auto">
            <a:xfrm>
              <a:off x="2433" y="2819"/>
              <a:ext cx="39" cy="601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123920" name="Rectangle 88"/>
            <p:cNvSpPr>
              <a:spLocks noChangeArrowheads="1"/>
            </p:cNvSpPr>
            <p:nvPr/>
          </p:nvSpPr>
          <p:spPr bwMode="auto">
            <a:xfrm>
              <a:off x="3019" y="2530"/>
              <a:ext cx="39" cy="60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123921" name="Rectangle 89"/>
            <p:cNvSpPr>
              <a:spLocks noChangeArrowheads="1"/>
            </p:cNvSpPr>
            <p:nvPr/>
          </p:nvSpPr>
          <p:spPr bwMode="auto">
            <a:xfrm>
              <a:off x="3669" y="2829"/>
              <a:ext cx="39" cy="601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123922" name="Line 90"/>
            <p:cNvSpPr>
              <a:spLocks noChangeShapeType="1"/>
            </p:cNvSpPr>
            <p:nvPr/>
          </p:nvSpPr>
          <p:spPr bwMode="auto">
            <a:xfrm>
              <a:off x="1669" y="2660"/>
              <a:ext cx="15" cy="44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923" name="Line 91"/>
            <p:cNvSpPr>
              <a:spLocks noChangeShapeType="1"/>
            </p:cNvSpPr>
            <p:nvPr/>
          </p:nvSpPr>
          <p:spPr bwMode="auto">
            <a:xfrm>
              <a:off x="4050" y="2678"/>
              <a:ext cx="18" cy="4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924" name="Line 92"/>
            <p:cNvSpPr>
              <a:spLocks noChangeShapeType="1"/>
            </p:cNvSpPr>
            <p:nvPr/>
          </p:nvSpPr>
          <p:spPr bwMode="auto">
            <a:xfrm>
              <a:off x="1727" y="2632"/>
              <a:ext cx="14" cy="44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925" name="Line 93"/>
            <p:cNvSpPr>
              <a:spLocks noChangeShapeType="1"/>
            </p:cNvSpPr>
            <p:nvPr/>
          </p:nvSpPr>
          <p:spPr bwMode="auto">
            <a:xfrm>
              <a:off x="1777" y="2598"/>
              <a:ext cx="14" cy="4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926" name="Line 94"/>
            <p:cNvSpPr>
              <a:spLocks noChangeShapeType="1"/>
            </p:cNvSpPr>
            <p:nvPr/>
          </p:nvSpPr>
          <p:spPr bwMode="auto">
            <a:xfrm>
              <a:off x="1899" y="2589"/>
              <a:ext cx="14" cy="4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927" name="Line 95"/>
            <p:cNvSpPr>
              <a:spLocks noChangeShapeType="1"/>
            </p:cNvSpPr>
            <p:nvPr/>
          </p:nvSpPr>
          <p:spPr bwMode="auto">
            <a:xfrm>
              <a:off x="1956" y="2589"/>
              <a:ext cx="14" cy="4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928" name="Line 96"/>
            <p:cNvSpPr>
              <a:spLocks noChangeShapeType="1"/>
            </p:cNvSpPr>
            <p:nvPr/>
          </p:nvSpPr>
          <p:spPr bwMode="auto">
            <a:xfrm>
              <a:off x="2014" y="2648"/>
              <a:ext cx="14" cy="44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929" name="Line 97"/>
            <p:cNvSpPr>
              <a:spLocks noChangeShapeType="1"/>
            </p:cNvSpPr>
            <p:nvPr/>
          </p:nvSpPr>
          <p:spPr bwMode="auto">
            <a:xfrm>
              <a:off x="2064" y="2660"/>
              <a:ext cx="14" cy="44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930" name="Line 98"/>
            <p:cNvSpPr>
              <a:spLocks noChangeShapeType="1"/>
            </p:cNvSpPr>
            <p:nvPr/>
          </p:nvSpPr>
          <p:spPr bwMode="auto">
            <a:xfrm>
              <a:off x="2128" y="2749"/>
              <a:ext cx="14" cy="44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931" name="Line 99"/>
            <p:cNvSpPr>
              <a:spLocks noChangeShapeType="1"/>
            </p:cNvSpPr>
            <p:nvPr/>
          </p:nvSpPr>
          <p:spPr bwMode="auto">
            <a:xfrm>
              <a:off x="2179" y="2749"/>
              <a:ext cx="14" cy="44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932" name="Line 100"/>
            <p:cNvSpPr>
              <a:spLocks noChangeShapeType="1"/>
            </p:cNvSpPr>
            <p:nvPr/>
          </p:nvSpPr>
          <p:spPr bwMode="auto">
            <a:xfrm>
              <a:off x="2229" y="2819"/>
              <a:ext cx="14" cy="4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933" name="Line 101"/>
            <p:cNvSpPr>
              <a:spLocks noChangeShapeType="1"/>
            </p:cNvSpPr>
            <p:nvPr/>
          </p:nvSpPr>
          <p:spPr bwMode="auto">
            <a:xfrm>
              <a:off x="2286" y="2869"/>
              <a:ext cx="14" cy="44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934" name="Line 102"/>
            <p:cNvSpPr>
              <a:spLocks noChangeShapeType="1"/>
            </p:cNvSpPr>
            <p:nvPr/>
          </p:nvSpPr>
          <p:spPr bwMode="auto">
            <a:xfrm>
              <a:off x="2343" y="2909"/>
              <a:ext cx="15" cy="44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935" name="Line 103"/>
            <p:cNvSpPr>
              <a:spLocks noChangeShapeType="1"/>
            </p:cNvSpPr>
            <p:nvPr/>
          </p:nvSpPr>
          <p:spPr bwMode="auto">
            <a:xfrm>
              <a:off x="2401" y="2934"/>
              <a:ext cx="14" cy="4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936" name="Line 104"/>
            <p:cNvSpPr>
              <a:spLocks noChangeShapeType="1"/>
            </p:cNvSpPr>
            <p:nvPr/>
          </p:nvSpPr>
          <p:spPr bwMode="auto">
            <a:xfrm>
              <a:off x="2516" y="2922"/>
              <a:ext cx="14" cy="4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937" name="Line 105"/>
            <p:cNvSpPr>
              <a:spLocks noChangeShapeType="1"/>
            </p:cNvSpPr>
            <p:nvPr/>
          </p:nvSpPr>
          <p:spPr bwMode="auto">
            <a:xfrm>
              <a:off x="2573" y="2881"/>
              <a:ext cx="14" cy="44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938" name="Line 106"/>
            <p:cNvSpPr>
              <a:spLocks noChangeShapeType="1"/>
            </p:cNvSpPr>
            <p:nvPr/>
          </p:nvSpPr>
          <p:spPr bwMode="auto">
            <a:xfrm>
              <a:off x="2630" y="2869"/>
              <a:ext cx="14" cy="44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939" name="Line 107"/>
            <p:cNvSpPr>
              <a:spLocks noChangeShapeType="1"/>
            </p:cNvSpPr>
            <p:nvPr/>
          </p:nvSpPr>
          <p:spPr bwMode="auto">
            <a:xfrm>
              <a:off x="2688" y="2819"/>
              <a:ext cx="14" cy="4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940" name="Line 108"/>
            <p:cNvSpPr>
              <a:spLocks noChangeShapeType="1"/>
            </p:cNvSpPr>
            <p:nvPr/>
          </p:nvSpPr>
          <p:spPr bwMode="auto">
            <a:xfrm>
              <a:off x="2753" y="2749"/>
              <a:ext cx="14" cy="44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941" name="Line 109"/>
            <p:cNvSpPr>
              <a:spLocks noChangeShapeType="1"/>
            </p:cNvSpPr>
            <p:nvPr/>
          </p:nvSpPr>
          <p:spPr bwMode="auto">
            <a:xfrm>
              <a:off x="2803" y="2694"/>
              <a:ext cx="14" cy="4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942" name="Line 110"/>
            <p:cNvSpPr>
              <a:spLocks noChangeShapeType="1"/>
            </p:cNvSpPr>
            <p:nvPr/>
          </p:nvSpPr>
          <p:spPr bwMode="auto">
            <a:xfrm>
              <a:off x="2853" y="2675"/>
              <a:ext cx="14" cy="4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943" name="Line 111"/>
            <p:cNvSpPr>
              <a:spLocks noChangeShapeType="1"/>
            </p:cNvSpPr>
            <p:nvPr/>
          </p:nvSpPr>
          <p:spPr bwMode="auto">
            <a:xfrm>
              <a:off x="2911" y="2660"/>
              <a:ext cx="14" cy="44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944" name="Line 112"/>
            <p:cNvSpPr>
              <a:spLocks noChangeShapeType="1"/>
            </p:cNvSpPr>
            <p:nvPr/>
          </p:nvSpPr>
          <p:spPr bwMode="auto">
            <a:xfrm>
              <a:off x="2975" y="2608"/>
              <a:ext cx="14" cy="4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945" name="Line 113"/>
            <p:cNvSpPr>
              <a:spLocks noChangeShapeType="1"/>
            </p:cNvSpPr>
            <p:nvPr/>
          </p:nvSpPr>
          <p:spPr bwMode="auto">
            <a:xfrm>
              <a:off x="3083" y="2589"/>
              <a:ext cx="14" cy="4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946" name="Line 114"/>
            <p:cNvSpPr>
              <a:spLocks noChangeShapeType="1"/>
            </p:cNvSpPr>
            <p:nvPr/>
          </p:nvSpPr>
          <p:spPr bwMode="auto">
            <a:xfrm>
              <a:off x="3140" y="2589"/>
              <a:ext cx="14" cy="4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947" name="Line 115"/>
            <p:cNvSpPr>
              <a:spLocks noChangeShapeType="1"/>
            </p:cNvSpPr>
            <p:nvPr/>
          </p:nvSpPr>
          <p:spPr bwMode="auto">
            <a:xfrm>
              <a:off x="3197" y="2632"/>
              <a:ext cx="15" cy="44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948" name="Line 116"/>
            <p:cNvSpPr>
              <a:spLocks noChangeShapeType="1"/>
            </p:cNvSpPr>
            <p:nvPr/>
          </p:nvSpPr>
          <p:spPr bwMode="auto">
            <a:xfrm>
              <a:off x="3255" y="2660"/>
              <a:ext cx="14" cy="44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949" name="Line 117"/>
            <p:cNvSpPr>
              <a:spLocks noChangeShapeType="1"/>
            </p:cNvSpPr>
            <p:nvPr/>
          </p:nvSpPr>
          <p:spPr bwMode="auto">
            <a:xfrm>
              <a:off x="3326" y="2713"/>
              <a:ext cx="14" cy="4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950" name="Line 118"/>
            <p:cNvSpPr>
              <a:spLocks noChangeShapeType="1"/>
            </p:cNvSpPr>
            <p:nvPr/>
          </p:nvSpPr>
          <p:spPr bwMode="auto">
            <a:xfrm>
              <a:off x="3384" y="2770"/>
              <a:ext cx="14" cy="4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951" name="Line 119"/>
            <p:cNvSpPr>
              <a:spLocks noChangeShapeType="1"/>
            </p:cNvSpPr>
            <p:nvPr/>
          </p:nvSpPr>
          <p:spPr bwMode="auto">
            <a:xfrm>
              <a:off x="3441" y="2829"/>
              <a:ext cx="14" cy="4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952" name="Line 120"/>
            <p:cNvSpPr>
              <a:spLocks noChangeShapeType="1"/>
            </p:cNvSpPr>
            <p:nvPr/>
          </p:nvSpPr>
          <p:spPr bwMode="auto">
            <a:xfrm>
              <a:off x="3498" y="2854"/>
              <a:ext cx="14" cy="4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953" name="Line 121"/>
            <p:cNvSpPr>
              <a:spLocks noChangeShapeType="1"/>
            </p:cNvSpPr>
            <p:nvPr/>
          </p:nvSpPr>
          <p:spPr bwMode="auto">
            <a:xfrm>
              <a:off x="3556" y="2909"/>
              <a:ext cx="14" cy="44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954" name="Line 122"/>
            <p:cNvSpPr>
              <a:spLocks noChangeShapeType="1"/>
            </p:cNvSpPr>
            <p:nvPr/>
          </p:nvSpPr>
          <p:spPr bwMode="auto">
            <a:xfrm>
              <a:off x="3613" y="2922"/>
              <a:ext cx="14" cy="4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955" name="Line 123"/>
            <p:cNvSpPr>
              <a:spLocks noChangeShapeType="1"/>
            </p:cNvSpPr>
            <p:nvPr/>
          </p:nvSpPr>
          <p:spPr bwMode="auto">
            <a:xfrm>
              <a:off x="3742" y="2915"/>
              <a:ext cx="14" cy="4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956" name="Line 124"/>
            <p:cNvSpPr>
              <a:spLocks noChangeShapeType="1"/>
            </p:cNvSpPr>
            <p:nvPr/>
          </p:nvSpPr>
          <p:spPr bwMode="auto">
            <a:xfrm>
              <a:off x="3785" y="2881"/>
              <a:ext cx="14" cy="44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957" name="Line 125"/>
            <p:cNvSpPr>
              <a:spLocks noChangeShapeType="1"/>
            </p:cNvSpPr>
            <p:nvPr/>
          </p:nvSpPr>
          <p:spPr bwMode="auto">
            <a:xfrm>
              <a:off x="3828" y="2854"/>
              <a:ext cx="14" cy="4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958" name="Line 126"/>
            <p:cNvSpPr>
              <a:spLocks noChangeShapeType="1"/>
            </p:cNvSpPr>
            <p:nvPr/>
          </p:nvSpPr>
          <p:spPr bwMode="auto">
            <a:xfrm>
              <a:off x="3886" y="2805"/>
              <a:ext cx="14" cy="4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959" name="Line 127"/>
            <p:cNvSpPr>
              <a:spLocks noChangeShapeType="1"/>
            </p:cNvSpPr>
            <p:nvPr/>
          </p:nvSpPr>
          <p:spPr bwMode="auto">
            <a:xfrm>
              <a:off x="3943" y="2769"/>
              <a:ext cx="14" cy="44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960" name="Line 128"/>
            <p:cNvSpPr>
              <a:spLocks noChangeShapeType="1"/>
            </p:cNvSpPr>
            <p:nvPr/>
          </p:nvSpPr>
          <p:spPr bwMode="auto">
            <a:xfrm>
              <a:off x="4000" y="2713"/>
              <a:ext cx="14" cy="4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961" name="Rectangle 129"/>
            <p:cNvSpPr>
              <a:spLocks noChangeArrowheads="1"/>
            </p:cNvSpPr>
            <p:nvPr/>
          </p:nvSpPr>
          <p:spPr bwMode="auto">
            <a:xfrm>
              <a:off x="4212" y="2589"/>
              <a:ext cx="39" cy="601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123962" name="Rectangle 130"/>
            <p:cNvSpPr>
              <a:spLocks noChangeArrowheads="1"/>
            </p:cNvSpPr>
            <p:nvPr/>
          </p:nvSpPr>
          <p:spPr bwMode="auto">
            <a:xfrm>
              <a:off x="1609" y="2484"/>
              <a:ext cx="2446" cy="1000"/>
            </a:xfrm>
            <a:prstGeom prst="rect">
              <a:avLst/>
            </a:prstGeom>
            <a:noFill/>
            <a:ln w="57150">
              <a:solidFill>
                <a:srgbClr val="0066F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123963" name="Freeform 131"/>
            <p:cNvSpPr>
              <a:spLocks noChangeAspect="1"/>
            </p:cNvSpPr>
            <p:nvPr/>
          </p:nvSpPr>
          <p:spPr bwMode="auto">
            <a:xfrm>
              <a:off x="1681" y="2963"/>
              <a:ext cx="2392" cy="345"/>
            </a:xfrm>
            <a:custGeom>
              <a:avLst/>
              <a:gdLst>
                <a:gd name="T0" fmla="*/ 34 w 3068"/>
                <a:gd name="T1" fmla="*/ 65 h 1173"/>
                <a:gd name="T2" fmla="*/ 100 w 3068"/>
                <a:gd name="T3" fmla="*/ 25 h 1173"/>
                <a:gd name="T4" fmla="*/ 181 w 3068"/>
                <a:gd name="T5" fmla="*/ 1 h 1173"/>
                <a:gd name="T6" fmla="*/ 278 w 3068"/>
                <a:gd name="T7" fmla="*/ 18 h 1173"/>
                <a:gd name="T8" fmla="*/ 343 w 3068"/>
                <a:gd name="T9" fmla="*/ 48 h 1173"/>
                <a:gd name="T10" fmla="*/ 393 w 3068"/>
                <a:gd name="T11" fmla="*/ 88 h 1173"/>
                <a:gd name="T12" fmla="*/ 449 w 3068"/>
                <a:gd name="T13" fmla="*/ 135 h 1173"/>
                <a:gd name="T14" fmla="*/ 508 w 3068"/>
                <a:gd name="T15" fmla="*/ 181 h 1173"/>
                <a:gd name="T16" fmla="*/ 568 w 3068"/>
                <a:gd name="T17" fmla="*/ 230 h 1173"/>
                <a:gd name="T18" fmla="*/ 602 w 3068"/>
                <a:gd name="T19" fmla="*/ 265 h 1173"/>
                <a:gd name="T20" fmla="*/ 661 w 3068"/>
                <a:gd name="T21" fmla="*/ 298 h 1173"/>
                <a:gd name="T22" fmla="*/ 714 w 3068"/>
                <a:gd name="T23" fmla="*/ 328 h 1173"/>
                <a:gd name="T24" fmla="*/ 761 w 3068"/>
                <a:gd name="T25" fmla="*/ 342 h 1173"/>
                <a:gd name="T26" fmla="*/ 839 w 3068"/>
                <a:gd name="T27" fmla="*/ 341 h 1173"/>
                <a:gd name="T28" fmla="*/ 923 w 3068"/>
                <a:gd name="T29" fmla="*/ 305 h 1173"/>
                <a:gd name="T30" fmla="*/ 992 w 3068"/>
                <a:gd name="T31" fmla="*/ 258 h 1173"/>
                <a:gd name="T32" fmla="*/ 1051 w 3068"/>
                <a:gd name="T33" fmla="*/ 215 h 1173"/>
                <a:gd name="T34" fmla="*/ 1132 w 3068"/>
                <a:gd name="T35" fmla="*/ 142 h 1173"/>
                <a:gd name="T36" fmla="*/ 1201 w 3068"/>
                <a:gd name="T37" fmla="*/ 88 h 1173"/>
                <a:gd name="T38" fmla="*/ 1276 w 3068"/>
                <a:gd name="T39" fmla="*/ 32 h 1173"/>
                <a:gd name="T40" fmla="*/ 1338 w 3068"/>
                <a:gd name="T41" fmla="*/ 11 h 1173"/>
                <a:gd name="T42" fmla="*/ 1435 w 3068"/>
                <a:gd name="T43" fmla="*/ 3 h 1173"/>
                <a:gd name="T44" fmla="*/ 1506 w 3068"/>
                <a:gd name="T45" fmla="*/ 31 h 1173"/>
                <a:gd name="T46" fmla="*/ 1566 w 3068"/>
                <a:gd name="T47" fmla="*/ 68 h 1173"/>
                <a:gd name="T48" fmla="*/ 1640 w 3068"/>
                <a:gd name="T49" fmla="*/ 125 h 1173"/>
                <a:gd name="T50" fmla="*/ 1703 w 3068"/>
                <a:gd name="T51" fmla="*/ 174 h 1173"/>
                <a:gd name="T52" fmla="*/ 1768 w 3068"/>
                <a:gd name="T53" fmla="*/ 239 h 1173"/>
                <a:gd name="T54" fmla="*/ 1821 w 3068"/>
                <a:gd name="T55" fmla="*/ 277 h 1173"/>
                <a:gd name="T56" fmla="*/ 1868 w 3068"/>
                <a:gd name="T57" fmla="*/ 310 h 1173"/>
                <a:gd name="T58" fmla="*/ 1952 w 3068"/>
                <a:gd name="T59" fmla="*/ 339 h 1173"/>
                <a:gd name="T60" fmla="*/ 2046 w 3068"/>
                <a:gd name="T61" fmla="*/ 335 h 1173"/>
                <a:gd name="T62" fmla="*/ 2146 w 3068"/>
                <a:gd name="T63" fmla="*/ 298 h 1173"/>
                <a:gd name="T64" fmla="*/ 2192 w 3068"/>
                <a:gd name="T65" fmla="*/ 259 h 1173"/>
                <a:gd name="T66" fmla="*/ 2298 w 3068"/>
                <a:gd name="T67" fmla="*/ 169 h 1173"/>
                <a:gd name="T68" fmla="*/ 2342 w 3068"/>
                <a:gd name="T69" fmla="*/ 137 h 1173"/>
                <a:gd name="T70" fmla="*/ 2392 w 3068"/>
                <a:gd name="T71" fmla="*/ 89 h 1173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3068"/>
                <a:gd name="T109" fmla="*/ 0 h 1173"/>
                <a:gd name="T110" fmla="*/ 3068 w 3068"/>
                <a:gd name="T111" fmla="*/ 1173 h 1173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3068" h="1173">
                  <a:moveTo>
                    <a:pt x="0" y="294"/>
                  </a:moveTo>
                  <a:cubicBezTo>
                    <a:pt x="16" y="269"/>
                    <a:pt x="32" y="244"/>
                    <a:pt x="44" y="222"/>
                  </a:cubicBezTo>
                  <a:cubicBezTo>
                    <a:pt x="56" y="200"/>
                    <a:pt x="58" y="181"/>
                    <a:pt x="72" y="158"/>
                  </a:cubicBezTo>
                  <a:cubicBezTo>
                    <a:pt x="86" y="135"/>
                    <a:pt x="111" y="107"/>
                    <a:pt x="128" y="86"/>
                  </a:cubicBezTo>
                  <a:cubicBezTo>
                    <a:pt x="145" y="65"/>
                    <a:pt x="159" y="48"/>
                    <a:pt x="176" y="34"/>
                  </a:cubicBezTo>
                  <a:cubicBezTo>
                    <a:pt x="193" y="20"/>
                    <a:pt x="211" y="4"/>
                    <a:pt x="232" y="2"/>
                  </a:cubicBezTo>
                  <a:cubicBezTo>
                    <a:pt x="253" y="0"/>
                    <a:pt x="279" y="12"/>
                    <a:pt x="300" y="22"/>
                  </a:cubicBezTo>
                  <a:cubicBezTo>
                    <a:pt x="321" y="32"/>
                    <a:pt x="337" y="44"/>
                    <a:pt x="356" y="62"/>
                  </a:cubicBezTo>
                  <a:cubicBezTo>
                    <a:pt x="375" y="80"/>
                    <a:pt x="398" y="113"/>
                    <a:pt x="412" y="130"/>
                  </a:cubicBezTo>
                  <a:cubicBezTo>
                    <a:pt x="426" y="147"/>
                    <a:pt x="430" y="146"/>
                    <a:pt x="440" y="162"/>
                  </a:cubicBezTo>
                  <a:cubicBezTo>
                    <a:pt x="450" y="178"/>
                    <a:pt x="461" y="203"/>
                    <a:pt x="472" y="226"/>
                  </a:cubicBezTo>
                  <a:cubicBezTo>
                    <a:pt x="483" y="249"/>
                    <a:pt x="492" y="273"/>
                    <a:pt x="504" y="298"/>
                  </a:cubicBezTo>
                  <a:cubicBezTo>
                    <a:pt x="516" y="323"/>
                    <a:pt x="532" y="347"/>
                    <a:pt x="544" y="374"/>
                  </a:cubicBezTo>
                  <a:cubicBezTo>
                    <a:pt x="556" y="401"/>
                    <a:pt x="564" y="431"/>
                    <a:pt x="576" y="458"/>
                  </a:cubicBezTo>
                  <a:cubicBezTo>
                    <a:pt x="588" y="485"/>
                    <a:pt x="603" y="512"/>
                    <a:pt x="616" y="538"/>
                  </a:cubicBezTo>
                  <a:cubicBezTo>
                    <a:pt x="629" y="564"/>
                    <a:pt x="639" y="586"/>
                    <a:pt x="652" y="614"/>
                  </a:cubicBezTo>
                  <a:cubicBezTo>
                    <a:pt x="665" y="642"/>
                    <a:pt x="683" y="678"/>
                    <a:pt x="696" y="706"/>
                  </a:cubicBezTo>
                  <a:cubicBezTo>
                    <a:pt x="709" y="734"/>
                    <a:pt x="718" y="759"/>
                    <a:pt x="728" y="782"/>
                  </a:cubicBezTo>
                  <a:cubicBezTo>
                    <a:pt x="738" y="805"/>
                    <a:pt x="749" y="822"/>
                    <a:pt x="756" y="842"/>
                  </a:cubicBezTo>
                  <a:cubicBezTo>
                    <a:pt x="763" y="862"/>
                    <a:pt x="763" y="883"/>
                    <a:pt x="772" y="902"/>
                  </a:cubicBezTo>
                  <a:cubicBezTo>
                    <a:pt x="781" y="921"/>
                    <a:pt x="795" y="935"/>
                    <a:pt x="808" y="954"/>
                  </a:cubicBezTo>
                  <a:cubicBezTo>
                    <a:pt x="821" y="973"/>
                    <a:pt x="835" y="993"/>
                    <a:pt x="848" y="1014"/>
                  </a:cubicBezTo>
                  <a:cubicBezTo>
                    <a:pt x="861" y="1035"/>
                    <a:pt x="873" y="1065"/>
                    <a:pt x="884" y="1082"/>
                  </a:cubicBezTo>
                  <a:cubicBezTo>
                    <a:pt x="895" y="1099"/>
                    <a:pt x="906" y="1103"/>
                    <a:pt x="916" y="1114"/>
                  </a:cubicBezTo>
                  <a:cubicBezTo>
                    <a:pt x="926" y="1125"/>
                    <a:pt x="934" y="1138"/>
                    <a:pt x="944" y="1146"/>
                  </a:cubicBezTo>
                  <a:cubicBezTo>
                    <a:pt x="954" y="1154"/>
                    <a:pt x="965" y="1158"/>
                    <a:pt x="976" y="1162"/>
                  </a:cubicBezTo>
                  <a:cubicBezTo>
                    <a:pt x="987" y="1166"/>
                    <a:pt x="991" y="1171"/>
                    <a:pt x="1008" y="1170"/>
                  </a:cubicBezTo>
                  <a:cubicBezTo>
                    <a:pt x="1025" y="1169"/>
                    <a:pt x="1055" y="1170"/>
                    <a:pt x="1076" y="1158"/>
                  </a:cubicBezTo>
                  <a:cubicBezTo>
                    <a:pt x="1097" y="1146"/>
                    <a:pt x="1118" y="1118"/>
                    <a:pt x="1136" y="1098"/>
                  </a:cubicBezTo>
                  <a:cubicBezTo>
                    <a:pt x="1154" y="1078"/>
                    <a:pt x="1169" y="1059"/>
                    <a:pt x="1184" y="1038"/>
                  </a:cubicBezTo>
                  <a:cubicBezTo>
                    <a:pt x="1199" y="1017"/>
                    <a:pt x="1213" y="1001"/>
                    <a:pt x="1228" y="974"/>
                  </a:cubicBezTo>
                  <a:cubicBezTo>
                    <a:pt x="1243" y="947"/>
                    <a:pt x="1258" y="904"/>
                    <a:pt x="1272" y="878"/>
                  </a:cubicBezTo>
                  <a:cubicBezTo>
                    <a:pt x="1286" y="852"/>
                    <a:pt x="1299" y="843"/>
                    <a:pt x="1312" y="818"/>
                  </a:cubicBezTo>
                  <a:cubicBezTo>
                    <a:pt x="1325" y="793"/>
                    <a:pt x="1331" y="769"/>
                    <a:pt x="1348" y="730"/>
                  </a:cubicBezTo>
                  <a:cubicBezTo>
                    <a:pt x="1365" y="691"/>
                    <a:pt x="1395" y="623"/>
                    <a:pt x="1412" y="582"/>
                  </a:cubicBezTo>
                  <a:cubicBezTo>
                    <a:pt x="1429" y="541"/>
                    <a:pt x="1439" y="515"/>
                    <a:pt x="1452" y="482"/>
                  </a:cubicBezTo>
                  <a:cubicBezTo>
                    <a:pt x="1465" y="449"/>
                    <a:pt x="1477" y="413"/>
                    <a:pt x="1492" y="382"/>
                  </a:cubicBezTo>
                  <a:cubicBezTo>
                    <a:pt x="1507" y="351"/>
                    <a:pt x="1523" y="327"/>
                    <a:pt x="1540" y="298"/>
                  </a:cubicBezTo>
                  <a:cubicBezTo>
                    <a:pt x="1557" y="269"/>
                    <a:pt x="1576" y="237"/>
                    <a:pt x="1592" y="206"/>
                  </a:cubicBezTo>
                  <a:cubicBezTo>
                    <a:pt x="1608" y="175"/>
                    <a:pt x="1623" y="131"/>
                    <a:pt x="1636" y="110"/>
                  </a:cubicBezTo>
                  <a:cubicBezTo>
                    <a:pt x="1649" y="89"/>
                    <a:pt x="1655" y="90"/>
                    <a:pt x="1668" y="78"/>
                  </a:cubicBezTo>
                  <a:cubicBezTo>
                    <a:pt x="1681" y="66"/>
                    <a:pt x="1697" y="49"/>
                    <a:pt x="1716" y="38"/>
                  </a:cubicBezTo>
                  <a:cubicBezTo>
                    <a:pt x="1735" y="27"/>
                    <a:pt x="1763" y="19"/>
                    <a:pt x="1784" y="14"/>
                  </a:cubicBezTo>
                  <a:cubicBezTo>
                    <a:pt x="1805" y="9"/>
                    <a:pt x="1822" y="3"/>
                    <a:pt x="1840" y="10"/>
                  </a:cubicBezTo>
                  <a:cubicBezTo>
                    <a:pt x="1858" y="17"/>
                    <a:pt x="1881" y="38"/>
                    <a:pt x="1896" y="54"/>
                  </a:cubicBezTo>
                  <a:cubicBezTo>
                    <a:pt x="1911" y="70"/>
                    <a:pt x="1919" y="87"/>
                    <a:pt x="1932" y="106"/>
                  </a:cubicBezTo>
                  <a:cubicBezTo>
                    <a:pt x="1945" y="125"/>
                    <a:pt x="1959" y="145"/>
                    <a:pt x="1972" y="166"/>
                  </a:cubicBezTo>
                  <a:cubicBezTo>
                    <a:pt x="1985" y="187"/>
                    <a:pt x="1996" y="210"/>
                    <a:pt x="2008" y="230"/>
                  </a:cubicBezTo>
                  <a:cubicBezTo>
                    <a:pt x="2020" y="250"/>
                    <a:pt x="2028" y="253"/>
                    <a:pt x="2044" y="286"/>
                  </a:cubicBezTo>
                  <a:cubicBezTo>
                    <a:pt x="2060" y="319"/>
                    <a:pt x="2088" y="387"/>
                    <a:pt x="2104" y="426"/>
                  </a:cubicBezTo>
                  <a:cubicBezTo>
                    <a:pt x="2120" y="465"/>
                    <a:pt x="2127" y="491"/>
                    <a:pt x="2140" y="518"/>
                  </a:cubicBezTo>
                  <a:cubicBezTo>
                    <a:pt x="2153" y="545"/>
                    <a:pt x="2169" y="557"/>
                    <a:pt x="2184" y="590"/>
                  </a:cubicBezTo>
                  <a:cubicBezTo>
                    <a:pt x="2199" y="623"/>
                    <a:pt x="2218" y="677"/>
                    <a:pt x="2232" y="714"/>
                  </a:cubicBezTo>
                  <a:cubicBezTo>
                    <a:pt x="2246" y="751"/>
                    <a:pt x="2256" y="787"/>
                    <a:pt x="2268" y="814"/>
                  </a:cubicBezTo>
                  <a:cubicBezTo>
                    <a:pt x="2280" y="841"/>
                    <a:pt x="2293" y="857"/>
                    <a:pt x="2304" y="878"/>
                  </a:cubicBezTo>
                  <a:cubicBezTo>
                    <a:pt x="2315" y="899"/>
                    <a:pt x="2327" y="924"/>
                    <a:pt x="2336" y="942"/>
                  </a:cubicBezTo>
                  <a:cubicBezTo>
                    <a:pt x="2345" y="960"/>
                    <a:pt x="2350" y="967"/>
                    <a:pt x="2360" y="986"/>
                  </a:cubicBezTo>
                  <a:cubicBezTo>
                    <a:pt x="2370" y="1005"/>
                    <a:pt x="2379" y="1031"/>
                    <a:pt x="2396" y="1054"/>
                  </a:cubicBezTo>
                  <a:cubicBezTo>
                    <a:pt x="2413" y="1077"/>
                    <a:pt x="2442" y="1105"/>
                    <a:pt x="2460" y="1122"/>
                  </a:cubicBezTo>
                  <a:cubicBezTo>
                    <a:pt x="2478" y="1139"/>
                    <a:pt x="2489" y="1146"/>
                    <a:pt x="2504" y="1154"/>
                  </a:cubicBezTo>
                  <a:cubicBezTo>
                    <a:pt x="2519" y="1162"/>
                    <a:pt x="2528" y="1173"/>
                    <a:pt x="2548" y="1170"/>
                  </a:cubicBezTo>
                  <a:cubicBezTo>
                    <a:pt x="2568" y="1167"/>
                    <a:pt x="2595" y="1155"/>
                    <a:pt x="2624" y="1138"/>
                  </a:cubicBezTo>
                  <a:cubicBezTo>
                    <a:pt x="2653" y="1121"/>
                    <a:pt x="2699" y="1087"/>
                    <a:pt x="2720" y="1066"/>
                  </a:cubicBezTo>
                  <a:cubicBezTo>
                    <a:pt x="2741" y="1045"/>
                    <a:pt x="2742" y="1033"/>
                    <a:pt x="2752" y="1014"/>
                  </a:cubicBezTo>
                  <a:cubicBezTo>
                    <a:pt x="2762" y="995"/>
                    <a:pt x="2770" y="976"/>
                    <a:pt x="2780" y="954"/>
                  </a:cubicBezTo>
                  <a:cubicBezTo>
                    <a:pt x="2790" y="932"/>
                    <a:pt x="2793" y="925"/>
                    <a:pt x="2812" y="882"/>
                  </a:cubicBezTo>
                  <a:cubicBezTo>
                    <a:pt x="2831" y="839"/>
                    <a:pt x="2869" y="749"/>
                    <a:pt x="2892" y="698"/>
                  </a:cubicBezTo>
                  <a:cubicBezTo>
                    <a:pt x="2915" y="647"/>
                    <a:pt x="2936" y="599"/>
                    <a:pt x="2948" y="574"/>
                  </a:cubicBezTo>
                  <a:cubicBezTo>
                    <a:pt x="2960" y="549"/>
                    <a:pt x="2955" y="564"/>
                    <a:pt x="2964" y="546"/>
                  </a:cubicBezTo>
                  <a:cubicBezTo>
                    <a:pt x="2973" y="528"/>
                    <a:pt x="2989" y="489"/>
                    <a:pt x="3004" y="466"/>
                  </a:cubicBezTo>
                  <a:cubicBezTo>
                    <a:pt x="3019" y="443"/>
                    <a:pt x="3041" y="433"/>
                    <a:pt x="3052" y="406"/>
                  </a:cubicBezTo>
                  <a:cubicBezTo>
                    <a:pt x="3063" y="379"/>
                    <a:pt x="3066" y="319"/>
                    <a:pt x="3068" y="302"/>
                  </a:cubicBezTo>
                </a:path>
              </a:pathLst>
            </a:custGeom>
            <a:noFill/>
            <a:ln w="28575">
              <a:solidFill>
                <a:srgbClr val="008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123964" name="Freeform 132"/>
            <p:cNvSpPr>
              <a:spLocks noChangeAspect="1"/>
            </p:cNvSpPr>
            <p:nvPr/>
          </p:nvSpPr>
          <p:spPr bwMode="auto">
            <a:xfrm>
              <a:off x="1662" y="2632"/>
              <a:ext cx="2393" cy="346"/>
            </a:xfrm>
            <a:custGeom>
              <a:avLst/>
              <a:gdLst>
                <a:gd name="T0" fmla="*/ 34 w 3068"/>
                <a:gd name="T1" fmla="*/ 65 h 1173"/>
                <a:gd name="T2" fmla="*/ 100 w 3068"/>
                <a:gd name="T3" fmla="*/ 25 h 1173"/>
                <a:gd name="T4" fmla="*/ 181 w 3068"/>
                <a:gd name="T5" fmla="*/ 1 h 1173"/>
                <a:gd name="T6" fmla="*/ 278 w 3068"/>
                <a:gd name="T7" fmla="*/ 18 h 1173"/>
                <a:gd name="T8" fmla="*/ 343 w 3068"/>
                <a:gd name="T9" fmla="*/ 48 h 1173"/>
                <a:gd name="T10" fmla="*/ 393 w 3068"/>
                <a:gd name="T11" fmla="*/ 88 h 1173"/>
                <a:gd name="T12" fmla="*/ 449 w 3068"/>
                <a:gd name="T13" fmla="*/ 135 h 1173"/>
                <a:gd name="T14" fmla="*/ 509 w 3068"/>
                <a:gd name="T15" fmla="*/ 181 h 1173"/>
                <a:gd name="T16" fmla="*/ 568 w 3068"/>
                <a:gd name="T17" fmla="*/ 231 h 1173"/>
                <a:gd name="T18" fmla="*/ 602 w 3068"/>
                <a:gd name="T19" fmla="*/ 266 h 1173"/>
                <a:gd name="T20" fmla="*/ 661 w 3068"/>
                <a:gd name="T21" fmla="*/ 299 h 1173"/>
                <a:gd name="T22" fmla="*/ 714 w 3068"/>
                <a:gd name="T23" fmla="*/ 329 h 1173"/>
                <a:gd name="T24" fmla="*/ 761 w 3068"/>
                <a:gd name="T25" fmla="*/ 343 h 1173"/>
                <a:gd name="T26" fmla="*/ 839 w 3068"/>
                <a:gd name="T27" fmla="*/ 342 h 1173"/>
                <a:gd name="T28" fmla="*/ 924 w 3068"/>
                <a:gd name="T29" fmla="*/ 306 h 1173"/>
                <a:gd name="T30" fmla="*/ 992 w 3068"/>
                <a:gd name="T31" fmla="*/ 259 h 1173"/>
                <a:gd name="T32" fmla="*/ 1051 w 3068"/>
                <a:gd name="T33" fmla="*/ 215 h 1173"/>
                <a:gd name="T34" fmla="*/ 1133 w 3068"/>
                <a:gd name="T35" fmla="*/ 142 h 1173"/>
                <a:gd name="T36" fmla="*/ 1201 w 3068"/>
                <a:gd name="T37" fmla="*/ 88 h 1173"/>
                <a:gd name="T38" fmla="*/ 1276 w 3068"/>
                <a:gd name="T39" fmla="*/ 32 h 1173"/>
                <a:gd name="T40" fmla="*/ 1338 w 3068"/>
                <a:gd name="T41" fmla="*/ 11 h 1173"/>
                <a:gd name="T42" fmla="*/ 1435 w 3068"/>
                <a:gd name="T43" fmla="*/ 3 h 1173"/>
                <a:gd name="T44" fmla="*/ 1507 w 3068"/>
                <a:gd name="T45" fmla="*/ 31 h 1173"/>
                <a:gd name="T46" fmla="*/ 1566 w 3068"/>
                <a:gd name="T47" fmla="*/ 68 h 1173"/>
                <a:gd name="T48" fmla="*/ 1641 w 3068"/>
                <a:gd name="T49" fmla="*/ 126 h 1173"/>
                <a:gd name="T50" fmla="*/ 1703 w 3068"/>
                <a:gd name="T51" fmla="*/ 174 h 1173"/>
                <a:gd name="T52" fmla="*/ 1769 w 3068"/>
                <a:gd name="T53" fmla="*/ 240 h 1173"/>
                <a:gd name="T54" fmla="*/ 1822 w 3068"/>
                <a:gd name="T55" fmla="*/ 278 h 1173"/>
                <a:gd name="T56" fmla="*/ 1869 w 3068"/>
                <a:gd name="T57" fmla="*/ 311 h 1173"/>
                <a:gd name="T58" fmla="*/ 1953 w 3068"/>
                <a:gd name="T59" fmla="*/ 340 h 1173"/>
                <a:gd name="T60" fmla="*/ 2047 w 3068"/>
                <a:gd name="T61" fmla="*/ 336 h 1173"/>
                <a:gd name="T62" fmla="*/ 2147 w 3068"/>
                <a:gd name="T63" fmla="*/ 299 h 1173"/>
                <a:gd name="T64" fmla="*/ 2193 w 3068"/>
                <a:gd name="T65" fmla="*/ 260 h 1173"/>
                <a:gd name="T66" fmla="*/ 2299 w 3068"/>
                <a:gd name="T67" fmla="*/ 169 h 1173"/>
                <a:gd name="T68" fmla="*/ 2343 w 3068"/>
                <a:gd name="T69" fmla="*/ 137 h 1173"/>
                <a:gd name="T70" fmla="*/ 2393 w 3068"/>
                <a:gd name="T71" fmla="*/ 89 h 1173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3068"/>
                <a:gd name="T109" fmla="*/ 0 h 1173"/>
                <a:gd name="T110" fmla="*/ 3068 w 3068"/>
                <a:gd name="T111" fmla="*/ 1173 h 1173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3068" h="1173">
                  <a:moveTo>
                    <a:pt x="0" y="294"/>
                  </a:moveTo>
                  <a:cubicBezTo>
                    <a:pt x="16" y="269"/>
                    <a:pt x="32" y="244"/>
                    <a:pt x="44" y="222"/>
                  </a:cubicBezTo>
                  <a:cubicBezTo>
                    <a:pt x="56" y="200"/>
                    <a:pt x="58" y="181"/>
                    <a:pt x="72" y="158"/>
                  </a:cubicBezTo>
                  <a:cubicBezTo>
                    <a:pt x="86" y="135"/>
                    <a:pt x="111" y="107"/>
                    <a:pt x="128" y="86"/>
                  </a:cubicBezTo>
                  <a:cubicBezTo>
                    <a:pt x="145" y="65"/>
                    <a:pt x="159" y="48"/>
                    <a:pt x="176" y="34"/>
                  </a:cubicBezTo>
                  <a:cubicBezTo>
                    <a:pt x="193" y="20"/>
                    <a:pt x="211" y="4"/>
                    <a:pt x="232" y="2"/>
                  </a:cubicBezTo>
                  <a:cubicBezTo>
                    <a:pt x="253" y="0"/>
                    <a:pt x="279" y="12"/>
                    <a:pt x="300" y="22"/>
                  </a:cubicBezTo>
                  <a:cubicBezTo>
                    <a:pt x="321" y="32"/>
                    <a:pt x="337" y="44"/>
                    <a:pt x="356" y="62"/>
                  </a:cubicBezTo>
                  <a:cubicBezTo>
                    <a:pt x="375" y="80"/>
                    <a:pt x="398" y="113"/>
                    <a:pt x="412" y="130"/>
                  </a:cubicBezTo>
                  <a:cubicBezTo>
                    <a:pt x="426" y="147"/>
                    <a:pt x="430" y="146"/>
                    <a:pt x="440" y="162"/>
                  </a:cubicBezTo>
                  <a:cubicBezTo>
                    <a:pt x="450" y="178"/>
                    <a:pt x="461" y="203"/>
                    <a:pt x="472" y="226"/>
                  </a:cubicBezTo>
                  <a:cubicBezTo>
                    <a:pt x="483" y="249"/>
                    <a:pt x="492" y="273"/>
                    <a:pt x="504" y="298"/>
                  </a:cubicBezTo>
                  <a:cubicBezTo>
                    <a:pt x="516" y="323"/>
                    <a:pt x="532" y="347"/>
                    <a:pt x="544" y="374"/>
                  </a:cubicBezTo>
                  <a:cubicBezTo>
                    <a:pt x="556" y="401"/>
                    <a:pt x="564" y="431"/>
                    <a:pt x="576" y="458"/>
                  </a:cubicBezTo>
                  <a:cubicBezTo>
                    <a:pt x="588" y="485"/>
                    <a:pt x="603" y="512"/>
                    <a:pt x="616" y="538"/>
                  </a:cubicBezTo>
                  <a:cubicBezTo>
                    <a:pt x="629" y="564"/>
                    <a:pt x="639" y="586"/>
                    <a:pt x="652" y="614"/>
                  </a:cubicBezTo>
                  <a:cubicBezTo>
                    <a:pt x="665" y="642"/>
                    <a:pt x="683" y="678"/>
                    <a:pt x="696" y="706"/>
                  </a:cubicBezTo>
                  <a:cubicBezTo>
                    <a:pt x="709" y="734"/>
                    <a:pt x="718" y="759"/>
                    <a:pt x="728" y="782"/>
                  </a:cubicBezTo>
                  <a:cubicBezTo>
                    <a:pt x="738" y="805"/>
                    <a:pt x="749" y="822"/>
                    <a:pt x="756" y="842"/>
                  </a:cubicBezTo>
                  <a:cubicBezTo>
                    <a:pt x="763" y="862"/>
                    <a:pt x="763" y="883"/>
                    <a:pt x="772" y="902"/>
                  </a:cubicBezTo>
                  <a:cubicBezTo>
                    <a:pt x="781" y="921"/>
                    <a:pt x="795" y="935"/>
                    <a:pt x="808" y="954"/>
                  </a:cubicBezTo>
                  <a:cubicBezTo>
                    <a:pt x="821" y="973"/>
                    <a:pt x="835" y="993"/>
                    <a:pt x="848" y="1014"/>
                  </a:cubicBezTo>
                  <a:cubicBezTo>
                    <a:pt x="861" y="1035"/>
                    <a:pt x="873" y="1065"/>
                    <a:pt x="884" y="1082"/>
                  </a:cubicBezTo>
                  <a:cubicBezTo>
                    <a:pt x="895" y="1099"/>
                    <a:pt x="906" y="1103"/>
                    <a:pt x="916" y="1114"/>
                  </a:cubicBezTo>
                  <a:cubicBezTo>
                    <a:pt x="926" y="1125"/>
                    <a:pt x="934" y="1138"/>
                    <a:pt x="944" y="1146"/>
                  </a:cubicBezTo>
                  <a:cubicBezTo>
                    <a:pt x="954" y="1154"/>
                    <a:pt x="965" y="1158"/>
                    <a:pt x="976" y="1162"/>
                  </a:cubicBezTo>
                  <a:cubicBezTo>
                    <a:pt x="987" y="1166"/>
                    <a:pt x="991" y="1171"/>
                    <a:pt x="1008" y="1170"/>
                  </a:cubicBezTo>
                  <a:cubicBezTo>
                    <a:pt x="1025" y="1169"/>
                    <a:pt x="1055" y="1170"/>
                    <a:pt x="1076" y="1158"/>
                  </a:cubicBezTo>
                  <a:cubicBezTo>
                    <a:pt x="1097" y="1146"/>
                    <a:pt x="1118" y="1118"/>
                    <a:pt x="1136" y="1098"/>
                  </a:cubicBezTo>
                  <a:cubicBezTo>
                    <a:pt x="1154" y="1078"/>
                    <a:pt x="1169" y="1059"/>
                    <a:pt x="1184" y="1038"/>
                  </a:cubicBezTo>
                  <a:cubicBezTo>
                    <a:pt x="1199" y="1017"/>
                    <a:pt x="1213" y="1001"/>
                    <a:pt x="1228" y="974"/>
                  </a:cubicBezTo>
                  <a:cubicBezTo>
                    <a:pt x="1243" y="947"/>
                    <a:pt x="1258" y="904"/>
                    <a:pt x="1272" y="878"/>
                  </a:cubicBezTo>
                  <a:cubicBezTo>
                    <a:pt x="1286" y="852"/>
                    <a:pt x="1299" y="843"/>
                    <a:pt x="1312" y="818"/>
                  </a:cubicBezTo>
                  <a:cubicBezTo>
                    <a:pt x="1325" y="793"/>
                    <a:pt x="1331" y="769"/>
                    <a:pt x="1348" y="730"/>
                  </a:cubicBezTo>
                  <a:cubicBezTo>
                    <a:pt x="1365" y="691"/>
                    <a:pt x="1395" y="623"/>
                    <a:pt x="1412" y="582"/>
                  </a:cubicBezTo>
                  <a:cubicBezTo>
                    <a:pt x="1429" y="541"/>
                    <a:pt x="1439" y="515"/>
                    <a:pt x="1452" y="482"/>
                  </a:cubicBezTo>
                  <a:cubicBezTo>
                    <a:pt x="1465" y="449"/>
                    <a:pt x="1477" y="413"/>
                    <a:pt x="1492" y="382"/>
                  </a:cubicBezTo>
                  <a:cubicBezTo>
                    <a:pt x="1507" y="351"/>
                    <a:pt x="1523" y="327"/>
                    <a:pt x="1540" y="298"/>
                  </a:cubicBezTo>
                  <a:cubicBezTo>
                    <a:pt x="1557" y="269"/>
                    <a:pt x="1576" y="237"/>
                    <a:pt x="1592" y="206"/>
                  </a:cubicBezTo>
                  <a:cubicBezTo>
                    <a:pt x="1608" y="175"/>
                    <a:pt x="1623" y="131"/>
                    <a:pt x="1636" y="110"/>
                  </a:cubicBezTo>
                  <a:cubicBezTo>
                    <a:pt x="1649" y="89"/>
                    <a:pt x="1655" y="90"/>
                    <a:pt x="1668" y="78"/>
                  </a:cubicBezTo>
                  <a:cubicBezTo>
                    <a:pt x="1681" y="66"/>
                    <a:pt x="1697" y="49"/>
                    <a:pt x="1716" y="38"/>
                  </a:cubicBezTo>
                  <a:cubicBezTo>
                    <a:pt x="1735" y="27"/>
                    <a:pt x="1763" y="19"/>
                    <a:pt x="1784" y="14"/>
                  </a:cubicBezTo>
                  <a:cubicBezTo>
                    <a:pt x="1805" y="9"/>
                    <a:pt x="1822" y="3"/>
                    <a:pt x="1840" y="10"/>
                  </a:cubicBezTo>
                  <a:cubicBezTo>
                    <a:pt x="1858" y="17"/>
                    <a:pt x="1881" y="38"/>
                    <a:pt x="1896" y="54"/>
                  </a:cubicBezTo>
                  <a:cubicBezTo>
                    <a:pt x="1911" y="70"/>
                    <a:pt x="1919" y="87"/>
                    <a:pt x="1932" y="106"/>
                  </a:cubicBezTo>
                  <a:cubicBezTo>
                    <a:pt x="1945" y="125"/>
                    <a:pt x="1959" y="145"/>
                    <a:pt x="1972" y="166"/>
                  </a:cubicBezTo>
                  <a:cubicBezTo>
                    <a:pt x="1985" y="187"/>
                    <a:pt x="1996" y="210"/>
                    <a:pt x="2008" y="230"/>
                  </a:cubicBezTo>
                  <a:cubicBezTo>
                    <a:pt x="2020" y="250"/>
                    <a:pt x="2028" y="253"/>
                    <a:pt x="2044" y="286"/>
                  </a:cubicBezTo>
                  <a:cubicBezTo>
                    <a:pt x="2060" y="319"/>
                    <a:pt x="2088" y="387"/>
                    <a:pt x="2104" y="426"/>
                  </a:cubicBezTo>
                  <a:cubicBezTo>
                    <a:pt x="2120" y="465"/>
                    <a:pt x="2127" y="491"/>
                    <a:pt x="2140" y="518"/>
                  </a:cubicBezTo>
                  <a:cubicBezTo>
                    <a:pt x="2153" y="545"/>
                    <a:pt x="2169" y="557"/>
                    <a:pt x="2184" y="590"/>
                  </a:cubicBezTo>
                  <a:cubicBezTo>
                    <a:pt x="2199" y="623"/>
                    <a:pt x="2218" y="677"/>
                    <a:pt x="2232" y="714"/>
                  </a:cubicBezTo>
                  <a:cubicBezTo>
                    <a:pt x="2246" y="751"/>
                    <a:pt x="2256" y="787"/>
                    <a:pt x="2268" y="814"/>
                  </a:cubicBezTo>
                  <a:cubicBezTo>
                    <a:pt x="2280" y="841"/>
                    <a:pt x="2293" y="857"/>
                    <a:pt x="2304" y="878"/>
                  </a:cubicBezTo>
                  <a:cubicBezTo>
                    <a:pt x="2315" y="899"/>
                    <a:pt x="2327" y="924"/>
                    <a:pt x="2336" y="942"/>
                  </a:cubicBezTo>
                  <a:cubicBezTo>
                    <a:pt x="2345" y="960"/>
                    <a:pt x="2350" y="967"/>
                    <a:pt x="2360" y="986"/>
                  </a:cubicBezTo>
                  <a:cubicBezTo>
                    <a:pt x="2370" y="1005"/>
                    <a:pt x="2379" y="1031"/>
                    <a:pt x="2396" y="1054"/>
                  </a:cubicBezTo>
                  <a:cubicBezTo>
                    <a:pt x="2413" y="1077"/>
                    <a:pt x="2442" y="1105"/>
                    <a:pt x="2460" y="1122"/>
                  </a:cubicBezTo>
                  <a:cubicBezTo>
                    <a:pt x="2478" y="1139"/>
                    <a:pt x="2489" y="1146"/>
                    <a:pt x="2504" y="1154"/>
                  </a:cubicBezTo>
                  <a:cubicBezTo>
                    <a:pt x="2519" y="1162"/>
                    <a:pt x="2528" y="1173"/>
                    <a:pt x="2548" y="1170"/>
                  </a:cubicBezTo>
                  <a:cubicBezTo>
                    <a:pt x="2568" y="1167"/>
                    <a:pt x="2595" y="1155"/>
                    <a:pt x="2624" y="1138"/>
                  </a:cubicBezTo>
                  <a:cubicBezTo>
                    <a:pt x="2653" y="1121"/>
                    <a:pt x="2699" y="1087"/>
                    <a:pt x="2720" y="1066"/>
                  </a:cubicBezTo>
                  <a:cubicBezTo>
                    <a:pt x="2741" y="1045"/>
                    <a:pt x="2742" y="1033"/>
                    <a:pt x="2752" y="1014"/>
                  </a:cubicBezTo>
                  <a:cubicBezTo>
                    <a:pt x="2762" y="995"/>
                    <a:pt x="2770" y="976"/>
                    <a:pt x="2780" y="954"/>
                  </a:cubicBezTo>
                  <a:cubicBezTo>
                    <a:pt x="2790" y="932"/>
                    <a:pt x="2793" y="925"/>
                    <a:pt x="2812" y="882"/>
                  </a:cubicBezTo>
                  <a:cubicBezTo>
                    <a:pt x="2831" y="839"/>
                    <a:pt x="2869" y="749"/>
                    <a:pt x="2892" y="698"/>
                  </a:cubicBezTo>
                  <a:cubicBezTo>
                    <a:pt x="2915" y="647"/>
                    <a:pt x="2936" y="599"/>
                    <a:pt x="2948" y="574"/>
                  </a:cubicBezTo>
                  <a:cubicBezTo>
                    <a:pt x="2960" y="549"/>
                    <a:pt x="2955" y="564"/>
                    <a:pt x="2964" y="546"/>
                  </a:cubicBezTo>
                  <a:cubicBezTo>
                    <a:pt x="2973" y="528"/>
                    <a:pt x="2989" y="489"/>
                    <a:pt x="3004" y="466"/>
                  </a:cubicBezTo>
                  <a:cubicBezTo>
                    <a:pt x="3019" y="443"/>
                    <a:pt x="3041" y="433"/>
                    <a:pt x="3052" y="406"/>
                  </a:cubicBezTo>
                  <a:cubicBezTo>
                    <a:pt x="3063" y="379"/>
                    <a:pt x="3066" y="319"/>
                    <a:pt x="3068" y="302"/>
                  </a:cubicBezTo>
                </a:path>
              </a:pathLst>
            </a:custGeom>
            <a:noFill/>
            <a:ln w="28575">
              <a:solidFill>
                <a:srgbClr val="008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123965" name="Rectangle 133"/>
            <p:cNvSpPr>
              <a:spLocks noChangeArrowheads="1"/>
            </p:cNvSpPr>
            <p:nvPr/>
          </p:nvSpPr>
          <p:spPr bwMode="auto">
            <a:xfrm>
              <a:off x="1824" y="2518"/>
              <a:ext cx="39" cy="60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123966" name="Line 134"/>
            <p:cNvSpPr>
              <a:spLocks noChangeShapeType="1"/>
            </p:cNvSpPr>
            <p:nvPr/>
          </p:nvSpPr>
          <p:spPr bwMode="auto">
            <a:xfrm flipV="1">
              <a:off x="1849" y="3095"/>
              <a:ext cx="0" cy="505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967" name="Line 135"/>
            <p:cNvSpPr>
              <a:spLocks noChangeShapeType="1"/>
            </p:cNvSpPr>
            <p:nvPr/>
          </p:nvSpPr>
          <p:spPr bwMode="auto">
            <a:xfrm>
              <a:off x="2437" y="3390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968" name="Line 136"/>
            <p:cNvSpPr>
              <a:spLocks noChangeShapeType="1"/>
            </p:cNvSpPr>
            <p:nvPr/>
          </p:nvSpPr>
          <p:spPr bwMode="auto">
            <a:xfrm flipV="1">
              <a:off x="2473" y="3402"/>
              <a:ext cx="0" cy="192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969" name="Line 137"/>
            <p:cNvSpPr>
              <a:spLocks noChangeShapeType="1"/>
            </p:cNvSpPr>
            <p:nvPr/>
          </p:nvSpPr>
          <p:spPr bwMode="auto">
            <a:xfrm>
              <a:off x="3673" y="3374"/>
              <a:ext cx="0" cy="2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970" name="Line 138"/>
            <p:cNvSpPr>
              <a:spLocks noChangeShapeType="1"/>
            </p:cNvSpPr>
            <p:nvPr/>
          </p:nvSpPr>
          <p:spPr bwMode="auto">
            <a:xfrm flipV="1">
              <a:off x="3709" y="3384"/>
              <a:ext cx="0" cy="24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971" name="Line 139"/>
            <p:cNvSpPr>
              <a:spLocks noChangeShapeType="1"/>
            </p:cNvSpPr>
            <p:nvPr/>
          </p:nvSpPr>
          <p:spPr bwMode="auto">
            <a:xfrm>
              <a:off x="3025" y="3138"/>
              <a:ext cx="0" cy="4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972" name="Line 140"/>
            <p:cNvSpPr>
              <a:spLocks noChangeShapeType="1"/>
            </p:cNvSpPr>
            <p:nvPr/>
          </p:nvSpPr>
          <p:spPr bwMode="auto">
            <a:xfrm flipV="1">
              <a:off x="3055" y="3132"/>
              <a:ext cx="0" cy="45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973" name="Rectangle 141"/>
            <p:cNvSpPr>
              <a:spLocks noChangeArrowheads="1"/>
            </p:cNvSpPr>
            <p:nvPr/>
          </p:nvSpPr>
          <p:spPr bwMode="auto">
            <a:xfrm>
              <a:off x="2778" y="3596"/>
              <a:ext cx="690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000"/>
                <a:t>Power in</a:t>
              </a:r>
            </a:p>
            <a:p>
              <a:r>
                <a:rPr lang="en-US" sz="1000"/>
                <a:t>Signals out</a:t>
              </a:r>
            </a:p>
          </p:txBody>
        </p:sp>
        <p:sp>
          <p:nvSpPr>
            <p:cNvPr id="123974" name="Rectangle 142"/>
            <p:cNvSpPr>
              <a:spLocks noChangeArrowheads="1"/>
            </p:cNvSpPr>
            <p:nvPr/>
          </p:nvSpPr>
          <p:spPr bwMode="auto">
            <a:xfrm>
              <a:off x="1520" y="3649"/>
              <a:ext cx="606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000"/>
                <a:t>Feedthroughs</a:t>
              </a:r>
            </a:p>
          </p:txBody>
        </p:sp>
        <p:sp>
          <p:nvSpPr>
            <p:cNvPr id="123975" name="Rectangle 143"/>
            <p:cNvSpPr>
              <a:spLocks noChangeArrowheads="1"/>
            </p:cNvSpPr>
            <p:nvPr/>
          </p:nvSpPr>
          <p:spPr bwMode="auto">
            <a:xfrm>
              <a:off x="1550" y="2262"/>
              <a:ext cx="1068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000"/>
                <a:t>Schematic Cryostat Vessel</a:t>
              </a:r>
            </a:p>
          </p:txBody>
        </p:sp>
        <p:sp>
          <p:nvSpPr>
            <p:cNvPr id="123976" name="Rectangle 144"/>
            <p:cNvSpPr>
              <a:spLocks noChangeArrowheads="1"/>
            </p:cNvSpPr>
            <p:nvPr/>
          </p:nvSpPr>
          <p:spPr bwMode="auto">
            <a:xfrm>
              <a:off x="2423" y="2236"/>
              <a:ext cx="457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000"/>
                <a:t>Detectors</a:t>
              </a:r>
              <a:endParaRPr lang="en-US"/>
            </a:p>
          </p:txBody>
        </p:sp>
        <p:sp>
          <p:nvSpPr>
            <p:cNvPr id="123977" name="Rectangle 145"/>
            <p:cNvSpPr>
              <a:spLocks noChangeArrowheads="1"/>
            </p:cNvSpPr>
            <p:nvPr/>
          </p:nvSpPr>
          <p:spPr bwMode="auto">
            <a:xfrm>
              <a:off x="3430" y="2244"/>
              <a:ext cx="294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000"/>
                <a:t>Coils</a:t>
              </a:r>
            </a:p>
          </p:txBody>
        </p:sp>
        <p:sp>
          <p:nvSpPr>
            <p:cNvPr id="123978" name="Line 146"/>
            <p:cNvSpPr>
              <a:spLocks noChangeShapeType="1"/>
            </p:cNvSpPr>
            <p:nvPr/>
          </p:nvSpPr>
          <p:spPr bwMode="auto">
            <a:xfrm flipH="1">
              <a:off x="2472" y="2382"/>
              <a:ext cx="120" cy="4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979" name="Line 147"/>
            <p:cNvSpPr>
              <a:spLocks noChangeShapeType="1"/>
            </p:cNvSpPr>
            <p:nvPr/>
          </p:nvSpPr>
          <p:spPr bwMode="auto">
            <a:xfrm>
              <a:off x="2172" y="2352"/>
              <a:ext cx="162" cy="1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980" name="Line 148"/>
            <p:cNvSpPr>
              <a:spLocks noChangeShapeType="1"/>
            </p:cNvSpPr>
            <p:nvPr/>
          </p:nvSpPr>
          <p:spPr bwMode="auto">
            <a:xfrm flipH="1">
              <a:off x="3342" y="2388"/>
              <a:ext cx="252" cy="57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981" name="Rectangle 149"/>
            <p:cNvSpPr>
              <a:spLocks noChangeArrowheads="1"/>
            </p:cNvSpPr>
            <p:nvPr/>
          </p:nvSpPr>
          <p:spPr bwMode="auto">
            <a:xfrm>
              <a:off x="1765" y="3456"/>
              <a:ext cx="144" cy="4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123982" name="Rectangle 150"/>
            <p:cNvSpPr>
              <a:spLocks noChangeArrowheads="1"/>
            </p:cNvSpPr>
            <p:nvPr/>
          </p:nvSpPr>
          <p:spPr bwMode="auto">
            <a:xfrm>
              <a:off x="2389" y="3468"/>
              <a:ext cx="144" cy="4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123983" name="Rectangle 151"/>
            <p:cNvSpPr>
              <a:spLocks noChangeArrowheads="1"/>
            </p:cNvSpPr>
            <p:nvPr/>
          </p:nvSpPr>
          <p:spPr bwMode="auto">
            <a:xfrm>
              <a:off x="2971" y="3462"/>
              <a:ext cx="144" cy="4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123984" name="Rectangle 152"/>
            <p:cNvSpPr>
              <a:spLocks noChangeArrowheads="1"/>
            </p:cNvSpPr>
            <p:nvPr/>
          </p:nvSpPr>
          <p:spPr bwMode="auto">
            <a:xfrm>
              <a:off x="3607" y="3456"/>
              <a:ext cx="144" cy="4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123985" name="Line 153"/>
            <p:cNvSpPr>
              <a:spLocks noChangeShapeType="1"/>
            </p:cNvSpPr>
            <p:nvPr/>
          </p:nvSpPr>
          <p:spPr bwMode="auto">
            <a:xfrm flipV="1">
              <a:off x="2058" y="3516"/>
              <a:ext cx="312" cy="1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3914" name="Text Box 154"/>
          <p:cNvSpPr txBox="1">
            <a:spLocks noChangeArrowheads="1"/>
          </p:cNvSpPr>
          <p:nvPr/>
        </p:nvSpPr>
        <p:spPr bwMode="auto">
          <a:xfrm>
            <a:off x="914400" y="4648200"/>
            <a:ext cx="5810250" cy="915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Purpose: Verify trajectories inside HCC</a:t>
            </a:r>
          </a:p>
          <a:p>
            <a:r>
              <a:rPr lang="en-US"/>
              <a:t> - Helps in commissioning</a:t>
            </a:r>
          </a:p>
          <a:p>
            <a:r>
              <a:rPr lang="en-US"/>
              <a:t> - Provides measure of track quality, losses within HCC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3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Feb. 4 2009 </a:t>
            </a:r>
          </a:p>
        </p:txBody>
      </p:sp>
      <p:sp>
        <p:nvSpPr>
          <p:cNvPr id="125954" name="Footer Placeholder 4"/>
          <p:cNvSpPr>
            <a:spLocks noGrp="1"/>
          </p:cNvSpPr>
          <p:nvPr>
            <p:ph type="ftr" sz="quarter" idx="12"/>
          </p:nvPr>
        </p:nvSpPr>
        <p:spPr>
          <a:xfrm>
            <a:off x="7239000" y="6477000"/>
            <a:ext cx="1905000" cy="381000"/>
          </a:xfrm>
          <a:noFill/>
        </p:spPr>
        <p:txBody>
          <a:bodyPr/>
          <a:lstStyle/>
          <a:p>
            <a:r>
              <a:rPr lang="en-US" sz="1400" smtClean="0"/>
              <a:t>Abrams-AAC</a:t>
            </a:r>
          </a:p>
        </p:txBody>
      </p:sp>
      <p:sp>
        <p:nvSpPr>
          <p:cNvPr id="125955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2209800" y="6477000"/>
            <a:ext cx="5029200" cy="381000"/>
          </a:xfrm>
          <a:noFill/>
        </p:spPr>
        <p:txBody>
          <a:bodyPr/>
          <a:lstStyle/>
          <a:p>
            <a:fld id="{5330D630-B8CA-43D4-B6BC-1A8A6DA64076}" type="slidenum">
              <a:rPr lang="en-US" sz="1200" smtClean="0"/>
              <a:pPr/>
              <a:t>18</a:t>
            </a:fld>
            <a:endParaRPr lang="en-US" sz="1200" smtClean="0"/>
          </a:p>
        </p:txBody>
      </p:sp>
      <p:sp>
        <p:nvSpPr>
          <p:cNvPr id="125956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73025"/>
            <a:ext cx="6629400" cy="762000"/>
          </a:xfrm>
        </p:spPr>
        <p:txBody>
          <a:bodyPr/>
          <a:lstStyle/>
          <a:p>
            <a:r>
              <a:rPr lang="en-US" smtClean="0"/>
              <a:t>Running and Data Estimates</a:t>
            </a:r>
            <a:br>
              <a:rPr lang="en-US" smtClean="0"/>
            </a:br>
            <a:r>
              <a:rPr lang="en-US" smtClean="0"/>
              <a:t>(Preliminary)</a:t>
            </a:r>
          </a:p>
        </p:txBody>
      </p:sp>
      <p:sp>
        <p:nvSpPr>
          <p:cNvPr id="12595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mtClean="0"/>
              <a:t>About 10,000 events gives a useful sample for emittance measurement, based on simulations</a:t>
            </a:r>
          </a:p>
          <a:p>
            <a:pPr>
              <a:lnSpc>
                <a:spcPct val="90000"/>
              </a:lnSpc>
            </a:pPr>
            <a:r>
              <a:rPr lang="en-US" smtClean="0"/>
              <a:t>Expect ~100 </a:t>
            </a:r>
            <a:r>
              <a:rPr lang="en-US" smtClean="0">
                <a:cs typeface="Arial" charset="0"/>
              </a:rPr>
              <a:t>µ per spill, ~1% usable for gross emittance calculation, 1 spill/sec</a:t>
            </a:r>
          </a:p>
          <a:p>
            <a:pPr>
              <a:lnSpc>
                <a:spcPct val="90000"/>
              </a:lnSpc>
            </a:pPr>
            <a:r>
              <a:rPr lang="en-US" smtClean="0">
                <a:cs typeface="Arial" charset="0"/>
              </a:rPr>
              <a:t>A single 10,000-event run would take ~3 hours.  </a:t>
            </a:r>
          </a:p>
          <a:p>
            <a:pPr>
              <a:lnSpc>
                <a:spcPct val="90000"/>
              </a:lnSpc>
            </a:pPr>
            <a:r>
              <a:rPr lang="en-US" smtClean="0">
                <a:cs typeface="Arial" charset="0"/>
              </a:rPr>
              <a:t>Expect ~ few hundred runs to vary conditions such as different initial emittances, magnet currents, beam momentum, fill with liquid H</a:t>
            </a:r>
            <a:r>
              <a:rPr lang="en-US" baseline="-25000" smtClean="0">
                <a:cs typeface="Arial" charset="0"/>
              </a:rPr>
              <a:t>2</a:t>
            </a:r>
            <a:r>
              <a:rPr lang="en-US" smtClean="0">
                <a:cs typeface="Arial" charset="0"/>
              </a:rPr>
              <a:t>(?), wedge absorbers, etc.</a:t>
            </a:r>
          </a:p>
          <a:p>
            <a:pPr>
              <a:lnSpc>
                <a:spcPct val="90000"/>
              </a:lnSpc>
            </a:pPr>
            <a:r>
              <a:rPr lang="en-US" smtClean="0">
                <a:cs typeface="Arial" charset="0"/>
              </a:rPr>
              <a:t>Longer runs needed to study particular regions of phase space in HCC</a:t>
            </a:r>
          </a:p>
          <a:p>
            <a:pPr>
              <a:lnSpc>
                <a:spcPct val="90000"/>
              </a:lnSpc>
            </a:pPr>
            <a:r>
              <a:rPr lang="en-US" smtClean="0">
                <a:cs typeface="Arial" charset="0"/>
              </a:rPr>
              <a:t>Time is needed for commissioning, calibration, beam tuning, background studies, reconfiguring, etc.</a:t>
            </a:r>
          </a:p>
          <a:p>
            <a:pPr>
              <a:lnSpc>
                <a:spcPct val="90000"/>
              </a:lnSpc>
            </a:pPr>
            <a:endParaRPr lang="en-US" smtClean="0"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1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Feb. 4 2009 </a:t>
            </a:r>
          </a:p>
        </p:txBody>
      </p:sp>
      <p:sp>
        <p:nvSpPr>
          <p:cNvPr id="128002" name="Footer Placeholder 4"/>
          <p:cNvSpPr>
            <a:spLocks noGrp="1"/>
          </p:cNvSpPr>
          <p:nvPr>
            <p:ph type="ftr" sz="quarter" idx="12"/>
          </p:nvPr>
        </p:nvSpPr>
        <p:spPr>
          <a:xfrm>
            <a:off x="7239000" y="6477000"/>
            <a:ext cx="1905000" cy="381000"/>
          </a:xfrm>
          <a:noFill/>
        </p:spPr>
        <p:txBody>
          <a:bodyPr/>
          <a:lstStyle/>
          <a:p>
            <a:r>
              <a:rPr lang="en-US" sz="1400" smtClean="0"/>
              <a:t>Abrams-AAC</a:t>
            </a:r>
          </a:p>
        </p:txBody>
      </p:sp>
      <p:sp>
        <p:nvSpPr>
          <p:cNvPr id="128003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2209800" y="6477000"/>
            <a:ext cx="5029200" cy="381000"/>
          </a:xfrm>
          <a:noFill/>
        </p:spPr>
        <p:txBody>
          <a:bodyPr/>
          <a:lstStyle/>
          <a:p>
            <a:fld id="{69D5AD0D-96B3-4E11-8430-C42573EA3772}" type="slidenum">
              <a:rPr lang="en-US" sz="1200" smtClean="0"/>
              <a:pPr/>
              <a:t>19</a:t>
            </a:fld>
            <a:endParaRPr lang="en-US" sz="1200" smtClean="0"/>
          </a:p>
        </p:txBody>
      </p:sp>
      <p:sp>
        <p:nvSpPr>
          <p:cNvPr id="128004" name="Rectangle 4"/>
          <p:cNvSpPr>
            <a:spLocks noGrp="1" noChangeArrowheads="1"/>
          </p:cNvSpPr>
          <p:nvPr>
            <p:ph type="title"/>
          </p:nvPr>
        </p:nvSpPr>
        <p:spPr>
          <a:xfrm>
            <a:off x="231775" y="125413"/>
            <a:ext cx="8229600" cy="1143000"/>
          </a:xfrm>
        </p:spPr>
        <p:txBody>
          <a:bodyPr/>
          <a:lstStyle/>
          <a:p>
            <a:r>
              <a:rPr lang="en-US" smtClean="0"/>
              <a:t>Work To Do and in Progress</a:t>
            </a:r>
          </a:p>
        </p:txBody>
      </p:sp>
      <p:sp>
        <p:nvSpPr>
          <p:cNvPr id="128005" name="Rectangle 6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sz="2000" smtClean="0"/>
              <a:t>Simulations of 350 MeV/c beam: tuning, </a:t>
            </a:r>
            <a:r>
              <a:rPr lang="en-US" sz="2000" smtClean="0">
                <a:cs typeface="Arial" charset="0"/>
              </a:rPr>
              <a:t>µ</a:t>
            </a:r>
            <a:r>
              <a:rPr lang="en-US" sz="2000" smtClean="0"/>
              <a:t> rates, backgrounds (NIU, Muons, Inc.)</a:t>
            </a:r>
          </a:p>
          <a:p>
            <a:pPr>
              <a:lnSpc>
                <a:spcPct val="80000"/>
              </a:lnSpc>
            </a:pPr>
            <a:r>
              <a:rPr lang="en-US" sz="2000" smtClean="0"/>
              <a:t>Simulations of full MANX spectrometer including HCC and new detectors (Muons, Inc., NIU, IIT)</a:t>
            </a:r>
          </a:p>
          <a:p>
            <a:pPr>
              <a:lnSpc>
                <a:spcPct val="80000"/>
              </a:lnSpc>
            </a:pPr>
            <a:r>
              <a:rPr lang="en-US" sz="2000" smtClean="0"/>
              <a:t>Reconstruction and fitting of tracks in HCC (Muons, Inc., IIT, NIU, FNAL)</a:t>
            </a:r>
          </a:p>
          <a:p>
            <a:pPr>
              <a:lnSpc>
                <a:spcPct val="80000"/>
              </a:lnSpc>
            </a:pPr>
            <a:r>
              <a:rPr lang="en-US" sz="2000" smtClean="0"/>
              <a:t>Sensitivity analysis, field accuracy requirements, statistics needed, running time estimates (IIT, FNAL, Muons, Inc.)</a:t>
            </a:r>
          </a:p>
          <a:p>
            <a:pPr>
              <a:lnSpc>
                <a:spcPct val="80000"/>
              </a:lnSpc>
            </a:pPr>
            <a:r>
              <a:rPr lang="en-US" sz="2000" smtClean="0"/>
              <a:t>Calibration procedure, run conditions (Muons, Inc., UCR)</a:t>
            </a:r>
          </a:p>
          <a:p>
            <a:pPr>
              <a:lnSpc>
                <a:spcPct val="80000"/>
              </a:lnSpc>
            </a:pPr>
            <a:r>
              <a:rPr lang="en-US" sz="2000" smtClean="0"/>
              <a:t>Review all MICE components for use in MANX (Muons, Inc., FNAL, UCR, NIU)</a:t>
            </a:r>
          </a:p>
          <a:p>
            <a:pPr>
              <a:lnSpc>
                <a:spcPct val="80000"/>
              </a:lnSpc>
            </a:pPr>
            <a:r>
              <a:rPr lang="en-US" sz="2000" smtClean="0"/>
              <a:t>Analysis refinements and additions to MICE analysis SW (FNAL, Muons, Inc., IIT, NIU, JLab)</a:t>
            </a:r>
          </a:p>
          <a:p>
            <a:pPr>
              <a:lnSpc>
                <a:spcPct val="80000"/>
              </a:lnSpc>
            </a:pPr>
            <a:r>
              <a:rPr lang="en-US" sz="2000" smtClean="0"/>
              <a:t>Design MANX-specific detectors, electronics, and other components (NIU, UC, Muons, Inc., FNAL)</a:t>
            </a:r>
          </a:p>
          <a:p>
            <a:pPr>
              <a:lnSpc>
                <a:spcPct val="80000"/>
              </a:lnSpc>
            </a:pPr>
            <a:endParaRPr lang="en-US" sz="20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49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Feb. 4 2009 </a:t>
            </a:r>
          </a:p>
        </p:txBody>
      </p:sp>
      <p:sp>
        <p:nvSpPr>
          <p:cNvPr id="130050" name="Footer Placeholder 4"/>
          <p:cNvSpPr>
            <a:spLocks noGrp="1"/>
          </p:cNvSpPr>
          <p:nvPr>
            <p:ph type="ftr" sz="quarter" idx="12"/>
          </p:nvPr>
        </p:nvSpPr>
        <p:spPr>
          <a:xfrm>
            <a:off x="7239000" y="6477000"/>
            <a:ext cx="1905000" cy="381000"/>
          </a:xfrm>
          <a:noFill/>
        </p:spPr>
        <p:txBody>
          <a:bodyPr/>
          <a:lstStyle/>
          <a:p>
            <a:r>
              <a:rPr lang="en-US" sz="1400" smtClean="0"/>
              <a:t>Abrams-AAC</a:t>
            </a:r>
          </a:p>
        </p:txBody>
      </p:sp>
      <p:sp>
        <p:nvSpPr>
          <p:cNvPr id="130051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2209800" y="6477000"/>
            <a:ext cx="5029200" cy="381000"/>
          </a:xfrm>
          <a:noFill/>
        </p:spPr>
        <p:txBody>
          <a:bodyPr/>
          <a:lstStyle/>
          <a:p>
            <a:fld id="{B0AA0560-55B6-4AD8-AB0A-BCF5461B3026}" type="slidenum">
              <a:rPr lang="en-US" sz="1200" smtClean="0"/>
              <a:pPr/>
              <a:t>20</a:t>
            </a:fld>
            <a:endParaRPr lang="en-US" sz="1200" smtClean="0"/>
          </a:p>
        </p:txBody>
      </p:sp>
      <p:sp>
        <p:nvSpPr>
          <p:cNvPr id="130052" name="Rectangle 2"/>
          <p:cNvSpPr>
            <a:spLocks noGrp="1" noChangeArrowheads="1"/>
          </p:cNvSpPr>
          <p:nvPr>
            <p:ph type="title"/>
          </p:nvPr>
        </p:nvSpPr>
        <p:spPr>
          <a:xfrm>
            <a:off x="1308100" y="0"/>
            <a:ext cx="6335713" cy="1143000"/>
          </a:xfrm>
        </p:spPr>
        <p:txBody>
          <a:bodyPr/>
          <a:lstStyle/>
          <a:p>
            <a:r>
              <a:rPr lang="en-US" sz="4000" smtClean="0"/>
              <a:t> FNAL Support Needed</a:t>
            </a:r>
          </a:p>
        </p:txBody>
      </p:sp>
      <p:sp>
        <p:nvSpPr>
          <p:cNvPr id="13005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4525963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sz="2800" smtClean="0"/>
              <a:t>Designing/Building HCC</a:t>
            </a:r>
          </a:p>
          <a:p>
            <a:pPr>
              <a:lnSpc>
                <a:spcPct val="80000"/>
              </a:lnSpc>
            </a:pPr>
            <a:r>
              <a:rPr lang="en-US" sz="2800" smtClean="0"/>
              <a:t>Access to lab facilities for fabricating and testing scintillation counters (NIU has some facilities for source testing)</a:t>
            </a:r>
          </a:p>
          <a:p>
            <a:pPr>
              <a:lnSpc>
                <a:spcPct val="80000"/>
              </a:lnSpc>
            </a:pPr>
            <a:r>
              <a:rPr lang="en-US" sz="2800" smtClean="0"/>
              <a:t>For HCC tracker concept 1: use of available D0 CFT VLPCs and associated electronics</a:t>
            </a:r>
          </a:p>
          <a:p>
            <a:pPr>
              <a:lnSpc>
                <a:spcPct val="80000"/>
              </a:lnSpc>
            </a:pPr>
            <a:r>
              <a:rPr lang="en-US" sz="2800" smtClean="0"/>
              <a:t>Some electronics design and fabrication (possibly supported by joint SBIR projects)</a:t>
            </a:r>
          </a:p>
          <a:p>
            <a:pPr>
              <a:lnSpc>
                <a:spcPct val="80000"/>
              </a:lnSpc>
            </a:pPr>
            <a:r>
              <a:rPr lang="en-US" sz="2800" smtClean="0"/>
              <a:t>Use of MTBF for beam tests of detectors</a:t>
            </a:r>
          </a:p>
          <a:p>
            <a:pPr>
              <a:lnSpc>
                <a:spcPct val="80000"/>
              </a:lnSpc>
            </a:pPr>
            <a:r>
              <a:rPr lang="en-US" sz="2800" smtClean="0"/>
              <a:t>Mapping of HCC magnetic field</a:t>
            </a:r>
          </a:p>
          <a:p>
            <a:pPr>
              <a:lnSpc>
                <a:spcPct val="80000"/>
              </a:lnSpc>
            </a:pPr>
            <a:r>
              <a:rPr lang="en-US" sz="2800" smtClean="0"/>
              <a:t>Use of PREP electronics for tests at Fermilab</a:t>
            </a:r>
          </a:p>
          <a:p>
            <a:pPr>
              <a:lnSpc>
                <a:spcPct val="80000"/>
              </a:lnSpc>
            </a:pPr>
            <a:r>
              <a:rPr lang="en-US" sz="2800" smtClean="0"/>
              <a:t>Support Fermilab participants in MANX</a:t>
            </a:r>
          </a:p>
          <a:p>
            <a:pPr>
              <a:lnSpc>
                <a:spcPct val="80000"/>
              </a:lnSpc>
            </a:pPr>
            <a:endParaRPr lang="en-US" sz="28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lank Presentation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ill Sans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ill Sans" pitchFamily="34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0000"/>
        </a:dk1>
        <a:lt1>
          <a:srgbClr val="FFFFFF"/>
        </a:lt1>
        <a:dk2>
          <a:srgbClr val="000099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3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4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5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1_Custom Design">
  <a:themeElements>
    <a:clrScheme name="1_Custom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ill Sans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ill Sans" pitchFamily="34" charset="0"/>
          </a:defRPr>
        </a:defPPr>
      </a:lstStyle>
    </a:lnDef>
  </a:objectDefaults>
  <a:extraClrSchemeLst>
    <a:extraClrScheme>
      <a:clrScheme name="1_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Custom Design">
  <a:themeElements>
    <a:clrScheme name="Custom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ill Sans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ill Sans" pitchFamily="34" charset="0"/>
          </a:defRPr>
        </a:defPPr>
      </a:lstStyle>
    </a:lnDef>
  </a:objectDefaults>
  <a:extraClrSchemeLst>
    <a:extraClrScheme>
      <a:clrScheme name="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D:\Microsoft Office\Templates\Blank Presentation.pot</Template>
  <TotalTime>38974</TotalTime>
  <Words>1647</Words>
  <Application>Microsoft PowerPoint</Application>
  <PresentationFormat>On-screen Show (4:3)</PresentationFormat>
  <Paragraphs>380</Paragraphs>
  <Slides>20</Slides>
  <Notes>20</Notes>
  <HiddenSlides>0</HiddenSlides>
  <MMClips>0</MMClips>
  <ScaleCrop>false</ScaleCrop>
  <HeadingPairs>
    <vt:vector size="4" baseType="variant">
      <vt:variant>
        <vt:lpstr>Theme</vt:lpstr>
      </vt:variant>
      <vt:variant>
        <vt:i4>7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Blank Presentation</vt:lpstr>
      <vt:lpstr>3_Custom Design</vt:lpstr>
      <vt:lpstr>4_Custom Design</vt:lpstr>
      <vt:lpstr>5_Custom Design</vt:lpstr>
      <vt:lpstr>2_Custom Design</vt:lpstr>
      <vt:lpstr>1_Custom Design</vt:lpstr>
      <vt:lpstr>Custom Design</vt:lpstr>
      <vt:lpstr>AAC Meeting</vt:lpstr>
      <vt:lpstr>Overall Strategy</vt:lpstr>
      <vt:lpstr>RAL: MICE Beam Line</vt:lpstr>
      <vt:lpstr>Slide 4</vt:lpstr>
      <vt:lpstr>MICE Detectors Available for MANX</vt:lpstr>
      <vt:lpstr>MICE Detectors</vt:lpstr>
      <vt:lpstr>Layout in MICE Hall</vt:lpstr>
      <vt:lpstr>Layouts with MICE Channel  and MANX Apparatus</vt:lpstr>
      <vt:lpstr>New MANX Detectors</vt:lpstr>
      <vt:lpstr>MCP TOF Detectors</vt:lpstr>
      <vt:lpstr>MCP TOF Counters for Better PL</vt:lpstr>
      <vt:lpstr>MANX HCC Tracker Design (based on MICE Tracker)</vt:lpstr>
      <vt:lpstr>      MANX HCC Tracker Concept 1</vt:lpstr>
      <vt:lpstr>MICE Tracker Assembly</vt:lpstr>
      <vt:lpstr>MANX HCC Tracker Concept 1</vt:lpstr>
      <vt:lpstr>MANX HCC Tracker Concept 2</vt:lpstr>
      <vt:lpstr>Trackers Inside HCC Concept 2</vt:lpstr>
      <vt:lpstr>Running and Data Estimates (Preliminary)</vt:lpstr>
      <vt:lpstr>Work To Do and in Progress</vt:lpstr>
      <vt:lpstr> FNAL Support Needed</vt:lpstr>
    </vt:vector>
  </TitlesOfParts>
  <Company>UCSB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creator>witherel</dc:creator>
  <cp:lastModifiedBy>sasse</cp:lastModifiedBy>
  <cp:revision>497</cp:revision>
  <cp:lastPrinted>2001-04-02T15:26:12Z</cp:lastPrinted>
  <dcterms:created xsi:type="dcterms:W3CDTF">1999-03-30T20:07:59Z</dcterms:created>
  <dcterms:modified xsi:type="dcterms:W3CDTF">2009-02-03T15:11:21Z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1</vt:i4>
  </property>
  <property fmtid="{D5CDD505-2E9C-101B-9397-08002B2CF9AE}" pid="3" name="GraphicType">
    <vt:i4>1</vt:i4>
  </property>
  <property fmtid="{D5CDD505-2E9C-101B-9397-08002B2CF9AE}" pid="4" name="Compression">
    <vt:i4>100</vt:i4>
  </property>
  <property fmtid="{D5CDD505-2E9C-101B-9397-08002B2CF9AE}" pid="5" name="ScreenSize">
    <vt:i4>1</vt:i4>
  </property>
  <property fmtid="{D5CDD505-2E9C-101B-9397-08002B2CF9AE}" pid="6" name="ScreenUsage">
    <vt:i4>1</vt:i4>
  </property>
  <property fmtid="{D5CDD505-2E9C-101B-9397-08002B2CF9AE}" pid="7" name="MailAddress">
    <vt:lpwstr/>
  </property>
  <property fmtid="{D5CDD505-2E9C-101B-9397-08002B2CF9AE}" pid="8" name="HomePage">
    <vt:lpwstr/>
  </property>
  <property fmtid="{D5CDD505-2E9C-101B-9397-08002B2CF9AE}" pid="9" name="Other">
    <vt:lpwstr/>
  </property>
  <property fmtid="{D5CDD505-2E9C-101B-9397-08002B2CF9AE}" pid="10" name="DownloadOriginal">
    <vt:bool>false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15132390</vt:i4>
  </property>
  <property fmtid="{D5CDD505-2E9C-101B-9397-08002B2CF9AE}" pid="14" name="TextColor">
    <vt:i4>0</vt:i4>
  </property>
  <property fmtid="{D5CDD505-2E9C-101B-9397-08002B2CF9AE}" pid="15" name="LinkColor">
    <vt:i4>16711782</vt:i4>
  </property>
  <property fmtid="{D5CDD505-2E9C-101B-9397-08002B2CF9AE}" pid="16" name="VisitedColor">
    <vt:i4>10040268</vt:i4>
  </property>
  <property fmtid="{D5CDD505-2E9C-101B-9397-08002B2CF9AE}" pid="17" name="TransparentButton">
    <vt:i4>0</vt:i4>
  </property>
  <property fmtid="{D5CDD505-2E9C-101B-9397-08002B2CF9AE}" pid="18" name="ButtonType">
    <vt:i4>3</vt:i4>
  </property>
  <property fmtid="{D5CDD505-2E9C-101B-9397-08002B2CF9AE}" pid="19" name="ShowNotes">
    <vt:bool>false</vt:bool>
  </property>
  <property fmtid="{D5CDD505-2E9C-101B-9397-08002B2CF9AE}" pid="20" name="NavBtnPos">
    <vt:i4>3</vt:i4>
  </property>
  <property fmtid="{D5CDD505-2E9C-101B-9397-08002B2CF9AE}" pid="21" name="OutputDir">
    <vt:lpwstr>U:\web stuff</vt:lpwstr>
  </property>
</Properties>
</file>