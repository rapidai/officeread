
<file path=[Content_Types].xml><?xml version="1.0" encoding="utf-8"?>
<Types xmlns="http://schemas.openxmlformats.org/package/2006/content-types">
  <Override PartName="/ppt/notesSlides/notesSlide4.xml" ContentType="application/vnd.openxmlformats-officedocument.presentationml.notesSlide+xml"/>
  <Override PartName="/ppt/slides/slide9.xml" ContentType="application/vnd.openxmlformats-officedocument.presentationml.slide+xml"/>
  <Override PartName="/ppt/slides/slide14.xml" ContentType="application/vnd.openxmlformats-officedocument.presentationml.slide+xml"/>
  <Override PartName="/ppt/slideLayouts/slideLayout9.xml" ContentType="application/vnd.openxmlformats-officedocument.presentationml.slideLayout+xml"/>
  <Override PartName="/ppt/notesSlides/notesSlide9.xml" ContentType="application/vnd.openxmlformats-officedocument.presentationml.notesSlide+xml"/>
  <Override PartName="/ppt/slides/slide5.xml" ContentType="application/vnd.openxmlformats-officedocument.presentationml.slide+xml"/>
  <Override PartName="/ppt/slideLayouts/slideLayout11.xml" ContentType="application/vnd.openxmlformats-officedocument.presentationml.slideLayout+xml"/>
  <Default Extension="rels" ContentType="application/vnd.openxmlformats-package.relationships+xml"/>
  <Default Extension="jpeg" ContentType="image/jpeg"/>
  <Override PartName="/ppt/slides/slide10.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handoutMasters/handoutMaster1.xml" ContentType="application/vnd.openxmlformats-officedocument.presentationml.handoutMaster+xml"/>
  <Override PartName="/ppt/slideMasters/slideMaster2.xml" ContentType="application/vnd.openxmlformats-officedocument.presentationml.slideMaster+xml"/>
  <Override PartName="/ppt/slideLayouts/slideLayout5.xml" ContentType="application/vnd.openxmlformats-officedocument.presentationml.slideLayout+xml"/>
  <Override PartName="/ppt/theme/theme2.xml" ContentType="application/vnd.openxmlformats-officedocument.theme+xml"/>
  <Override PartName="/ppt/slideLayouts/slideLayout1.xml" ContentType="application/vnd.openxmlformats-officedocument.presentationml.slideLayout+xml"/>
  <Override PartName="/ppt/notesSlides/notesSlide12.xml" ContentType="application/vnd.openxmlformats-officedocument.presentationml.notesSlide+xml"/>
  <Override PartName="/docProps/app.xml" ContentType="application/vnd.openxmlformats-officedocument.extended-properties+xml"/>
  <Default Extension="xml" ContentType="application/xml"/>
  <Override PartName="/ppt/notesSlides/notesSlide5.xml" ContentType="application/vnd.openxmlformats-officedocument.presentationml.notesSlide+xml"/>
  <Override PartName="/ppt/tableStyles.xml" ContentType="application/vnd.openxmlformats-officedocument.presentationml.tableStyles+xml"/>
  <Override PartName="/ppt/notesSlides/notesSlide1.xml" ContentType="application/vnd.openxmlformats-officedocument.presentationml.notesSlide+xml"/>
  <Override PartName="/ppt/slideLayouts/slideLayout12.xml" ContentType="application/vnd.openxmlformats-officedocument.presentationml.slideLayout+xml"/>
  <Override PartName="/ppt/slides/slide6.xml" ContentType="application/vnd.openxmlformats-officedocument.presentationml.slide+xml"/>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notesSlides/notesSlide13.xml" ContentType="application/vnd.openxmlformats-officedocument.presentationml.notesSlide+xml"/>
  <Override PartName="/ppt/slides/slide2.xml" ContentType="application/vnd.openxmlformats-officedocument.presentationml.slide+xml"/>
  <Default Extension="png" ContentType="image/png"/>
  <Override PartName="/ppt/slideLayouts/slideLayout2.xml" ContentType="application/vnd.openxmlformats-officedocument.presentationml.slideLayout+xml"/>
  <Override PartName="/ppt/theme/theme3.xml" ContentType="application/vnd.openxmlformats-officedocument.theme+xml"/>
  <Override PartName="/ppt/notesSlides/notesSlide6.xml" ContentType="application/vnd.openxmlformats-officedocument.presentationml.notesSlide+xml"/>
  <Override PartName="/ppt/notesSlides/notesSlide2.xml" ContentType="application/vnd.openxmlformats-officedocument.presentationml.notesSlide+xml"/>
  <Override PartName="/ppt/slideLayouts/slideLayout13.xml" ContentType="application/vnd.openxmlformats-officedocument.presentationml.slideLayout+xml"/>
  <Override PartName="/ppt/slides/slide7.xml" ContentType="application/vnd.openxmlformats-officedocument.presentationml.slide+xml"/>
  <Override PartName="/ppt/presentation.xml" ContentType="application/vnd.openxmlformats-officedocument.presentationml.presentation.main+xml"/>
  <Override PartName="/ppt/slides/slide12.xml" ContentType="application/vnd.openxmlformats-officedocument.presentationml.slide+xml"/>
  <Override PartName="/ppt/slideLayouts/slideLayout7.xml" ContentType="application/vnd.openxmlformats-officedocument.presentationml.slideLayout+xml"/>
  <Override PartName="/ppt/notesSlides/notesSlide14.xml" ContentType="application/vnd.openxmlformats-officedocument.presentationml.notesSlide+xml"/>
  <Override PartName="/ppt/slides/slide3.xml" ContentType="application/vnd.openxmlformats-officedocument.presentationml.slide+xml"/>
  <Override PartName="/ppt/theme/theme4.xml" ContentType="application/vnd.openxmlformats-officedocument.theme+xml"/>
  <Override PartName="/ppt/slideLayouts/slideLayout3.xml" ContentType="application/vnd.openxmlformats-officedocument.presentationml.slideLayout+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3.xml" ContentType="application/vnd.openxmlformats-officedocument.presentationml.notesSlide+xml"/>
  <Override PartName="/ppt/slides/slide8.xml" ContentType="application/vnd.openxmlformats-officedocument.presentationml.slide+xml"/>
  <Override PartName="/ppt/presProps.xml" ContentType="application/vnd.openxmlformats-officedocument.presentationml.presProps+xml"/>
  <Override PartName="/ppt/slides/slide13.xml" ContentType="application/vnd.openxmlformats-officedocument.presentationml.slide+xml"/>
  <Override PartName="/ppt/slideLayouts/slideLayout8.xml" ContentType="application/vnd.openxmlformats-officedocument.presentationml.slideLayout+xml"/>
  <Override PartName="/ppt/notesSlides/notesSlide8.xml" ContentType="application/vnd.openxmlformats-officedocument.presentationml.notesSlide+xml"/>
  <Override PartName="/ppt/slideLayouts/slideLayout10.xml" ContentType="application/vnd.openxmlformats-officedocument.presentationml.slideLayout+xml"/>
  <Override PartName="/ppt/slides/slide4.xml" ContentType="application/vnd.openxmlformats-officedocument.presentationml.slide+xml"/>
  <Override PartName="/ppt/notesSlides/notesSlide11.xml" ContentType="application/vnd.openxmlformats-officedocument.presentationml.notesSlide+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viewProps.xml" ContentType="application/vnd.openxmlformats-officedocument.presentationml.viewProps+xml"/>
  <Default Extension="bin" ContentType="application/vnd.openxmlformats-officedocument.presentationml.printerSettings"/>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8" r:id="rId1"/>
    <p:sldMasterId id="2147483660" r:id="rId2"/>
  </p:sldMasterIdLst>
  <p:notesMasterIdLst>
    <p:notesMasterId r:id="rId17"/>
  </p:notesMasterIdLst>
  <p:handoutMasterIdLst>
    <p:handoutMasterId r:id="rId18"/>
  </p:handoutMasterIdLst>
  <p:sldIdLst>
    <p:sldId id="256" r:id="rId3"/>
    <p:sldId id="397" r:id="rId4"/>
    <p:sldId id="427" r:id="rId5"/>
    <p:sldId id="434" r:id="rId6"/>
    <p:sldId id="449" r:id="rId7"/>
    <p:sldId id="439" r:id="rId8"/>
    <p:sldId id="444" r:id="rId9"/>
    <p:sldId id="440" r:id="rId10"/>
    <p:sldId id="446" r:id="rId11"/>
    <p:sldId id="448" r:id="rId12"/>
    <p:sldId id="447" r:id="rId13"/>
    <p:sldId id="451" r:id="rId14"/>
    <p:sldId id="450" r:id="rId15"/>
    <p:sldId id="452" r:id="rId16"/>
  </p:sldIdLst>
  <p:sldSz cx="9144000" cy="6858000" type="letter"/>
  <p:notesSz cx="9144000" cy="6858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prnWhat="notes" clrMode="gray"/>
  <p:clrMru>
    <a:srgbClr val="123677"/>
    <a:srgbClr val="0454A0"/>
    <a:srgbClr val="0F00D5"/>
    <a:srgbClr val="0F2FA5"/>
    <a:srgbClr val="2732B2"/>
    <a:srgbClr val="29399D"/>
    <a:srgbClr val="1B1E9D"/>
    <a:srgbClr val="FCA534"/>
    <a:srgbClr val="0E1938"/>
    <a:srgbClr val="05152A"/>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lastView="notesView">
  <p:normalViewPr>
    <p:restoredLeft sz="15030" autoAdjust="0"/>
    <p:restoredTop sz="54407" autoAdjust="0"/>
  </p:normalViewPr>
  <p:slideViewPr>
    <p:cSldViewPr snapToObjects="1">
      <p:cViewPr>
        <p:scale>
          <a:sx n="100" d="100"/>
          <a:sy n="100" d="100"/>
        </p:scale>
        <p:origin x="-2736" y="-88"/>
      </p:cViewPr>
      <p:guideLst>
        <p:guide orient="horz" pos="2160"/>
        <p:guide pos="2880"/>
      </p:guideLst>
    </p:cSldViewPr>
  </p:slideViewPr>
  <p:outlineViewPr>
    <p:cViewPr>
      <p:scale>
        <a:sx n="33" d="100"/>
        <a:sy n="33" d="100"/>
      </p:scale>
      <p:origin x="0" y="13424"/>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67" d="100"/>
          <a:sy n="167" d="100"/>
        </p:scale>
        <p:origin x="-1848" y="-104"/>
      </p:cViewPr>
      <p:guideLst>
        <p:guide orient="horz" pos="2160"/>
        <p:guide pos="2880"/>
      </p:guideLst>
    </p:cSldViewPr>
  </p:notesViewPr>
  <p:gridSpacing cx="78028800" cy="780288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interSettings" Target="printerSettings/printerSettings1.bin"/><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atin typeface="Arial" pitchFamily="-111" charset="0"/>
                <a:ea typeface="ＭＳ Ｐゴシック" pitchFamily="-111" charset="-128"/>
                <a:cs typeface="ＭＳ Ｐゴシック" pitchFamily="-111" charset="-128"/>
              </a:defRPr>
            </a:lvl1pPr>
          </a:lstStyle>
          <a:p>
            <a:pPr>
              <a:defRPr/>
            </a:pPr>
            <a:endParaRPr lang="en-US"/>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atin typeface="Arial" pitchFamily="-111" charset="0"/>
                <a:ea typeface="ＭＳ Ｐゴシック" pitchFamily="-111" charset="-128"/>
                <a:cs typeface="ＭＳ Ｐゴシック" pitchFamily="-111" charset="-128"/>
              </a:defRPr>
            </a:lvl1pPr>
          </a:lstStyle>
          <a:p>
            <a:pPr>
              <a:defRPr/>
            </a:pPr>
            <a:fld id="{98B19DF5-6D12-6B42-BB0C-5B73B8BBE5AB}" type="datetimeFigureOut">
              <a:rPr lang="en-US"/>
              <a:pPr>
                <a:defRPr/>
              </a:pPr>
              <a:t>12/5/11</a:t>
            </a:fld>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atin typeface="Arial" pitchFamily="-111" charset="0"/>
                <a:ea typeface="ＭＳ Ｐゴシック" pitchFamily="-111" charset="-128"/>
                <a:cs typeface="ＭＳ Ｐゴシック" pitchFamily="-111" charset="-128"/>
              </a:defRPr>
            </a:lvl1pPr>
          </a:lstStyle>
          <a:p>
            <a:pPr>
              <a:defRPr/>
            </a:pPr>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atin typeface="Arial" pitchFamily="-111" charset="0"/>
                <a:ea typeface="ＭＳ Ｐゴシック" pitchFamily="-111" charset="-128"/>
                <a:cs typeface="ＭＳ Ｐゴシック" pitchFamily="-111" charset="-128"/>
              </a:defRPr>
            </a:lvl1pPr>
          </a:lstStyle>
          <a:p>
            <a:pPr>
              <a:defRPr/>
            </a:pPr>
            <a:fld id="{6E2DC283-9E98-CC4B-8241-AC419CB8CB32}"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atin typeface="Arial" pitchFamily="-111" charset="0"/>
                <a:ea typeface="ＭＳ Ｐゴシック" pitchFamily="-111" charset="-128"/>
                <a:cs typeface="ＭＳ Ｐゴシック" pitchFamily="-111" charset="-128"/>
              </a:defRPr>
            </a:lvl1pPr>
          </a:lstStyle>
          <a:p>
            <a:pPr>
              <a:defRPr/>
            </a:pPr>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atin typeface="Arial" pitchFamily="-111" charset="0"/>
                <a:ea typeface="ＭＳ Ｐゴシック" pitchFamily="-111" charset="-128"/>
                <a:cs typeface="ＭＳ Ｐゴシック" pitchFamily="-111" charset="-128"/>
              </a:defRPr>
            </a:lvl1pPr>
          </a:lstStyle>
          <a:p>
            <a:pPr>
              <a:defRPr/>
            </a:pPr>
            <a:fld id="{2415AA58-0E3B-5A4D-A5C7-FF24C6242FB1}" type="datetime1">
              <a:rPr lang="en-US"/>
              <a:pPr>
                <a:defRPr/>
              </a:pPr>
              <a:t>12/5/11</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fr-CA" noProof="0" smtClean="0"/>
              <a:t>Click to edit Master text styles</a:t>
            </a:r>
          </a:p>
          <a:p>
            <a:pPr lvl="1"/>
            <a:r>
              <a:rPr lang="fr-CA" noProof="0" smtClean="0"/>
              <a:t>Second level</a:t>
            </a:r>
          </a:p>
          <a:p>
            <a:pPr lvl="2"/>
            <a:r>
              <a:rPr lang="fr-CA" noProof="0" smtClean="0"/>
              <a:t>Third level</a:t>
            </a:r>
          </a:p>
          <a:p>
            <a:pPr lvl="3"/>
            <a:r>
              <a:rPr lang="fr-CA" noProof="0" smtClean="0"/>
              <a:t>Fourth level</a:t>
            </a:r>
          </a:p>
          <a:p>
            <a:pPr lvl="4"/>
            <a:r>
              <a:rPr lang="fr-CA" noProof="0" smtClean="0"/>
              <a:t>Fifth level</a:t>
            </a:r>
            <a:endParaRPr lang="en-US" noProof="0" smtClean="0"/>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atin typeface="Arial" pitchFamily="-111" charset="0"/>
                <a:ea typeface="ＭＳ Ｐゴシック" pitchFamily="-111" charset="-128"/>
                <a:cs typeface="ＭＳ Ｐゴシック" pitchFamily="-111" charset="-128"/>
              </a:defRPr>
            </a:lvl1pPr>
          </a:lstStyle>
          <a:p>
            <a:pPr>
              <a:defRPr/>
            </a:pPr>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atin typeface="Arial" pitchFamily="-111" charset="0"/>
                <a:ea typeface="ＭＳ Ｐゴシック" pitchFamily="-111" charset="-128"/>
                <a:cs typeface="ＭＳ Ｐゴシック" pitchFamily="-111" charset="-128"/>
              </a:defRPr>
            </a:lvl1pPr>
          </a:lstStyle>
          <a:p>
            <a:pPr>
              <a:defRPr/>
            </a:pPr>
            <a:fld id="{DB034452-DEF6-104E-9295-43FD85A9F4FB}"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ＭＳ Ｐゴシック" pitchFamily="-11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1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6386" name="Slide Image Placeholder 1"/>
          <p:cNvSpPr>
            <a:spLocks noGrp="1" noRot="1" noChangeAspect="1"/>
          </p:cNvSpPr>
          <p:nvPr>
            <p:ph type="sldImg"/>
          </p:nvPr>
        </p:nvSpPr>
        <p:spPr bwMode="auto">
          <a:noFill/>
          <a:ln>
            <a:solidFill>
              <a:srgbClr val="000000"/>
            </a:solidFill>
            <a:miter lim="800000"/>
            <a:headEnd/>
            <a:tailEnd/>
          </a:ln>
        </p:spPr>
      </p:sp>
      <p:sp>
        <p:nvSpPr>
          <p:cNvPr id="1638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ea typeface="ＭＳ Ｐゴシック" charset="-128"/>
              <a:cs typeface="ＭＳ Ｐゴシック" charset="-128"/>
            </a:endParaRPr>
          </a:p>
        </p:txBody>
      </p:sp>
      <p:sp>
        <p:nvSpPr>
          <p:cNvPr id="163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3D65D2A-327C-994B-85A6-F1E2974D9921}" type="slidenum">
              <a:rPr lang="en-US" smtClean="0">
                <a:latin typeface="Arial" charset="0"/>
                <a:ea typeface="ＭＳ Ｐゴシック" charset="-128"/>
                <a:cs typeface="ＭＳ Ｐゴシック" charset="-128"/>
              </a:rPr>
              <a:pPr/>
              <a:t>1</a:t>
            </a:fld>
            <a:endParaRPr lang="en-US" smtClean="0">
              <a:latin typeface="Arial" charset="0"/>
              <a:ea typeface="ＭＳ Ｐゴシック" charset="-128"/>
              <a:cs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p:txBody>
          <a:bodyPr wrap="square" numCol="1" anchor="t" anchorCtr="0" compatLnSpc="1">
            <a:prstTxWarp prst="textNoShape">
              <a:avLst/>
            </a:prstTxWarp>
            <a:normAutofit fontScale="85000" lnSpcReduction="10000"/>
          </a:bodyPr>
          <a:lstStyle/>
          <a:p>
            <a:pPr>
              <a:buFont typeface="Arial"/>
              <a:buNone/>
              <a:defRPr/>
            </a:pPr>
            <a:r>
              <a:rPr lang="en-US" sz="1500" b="1" dirty="0" smtClean="0">
                <a:solidFill>
                  <a:srgbClr val="000000"/>
                </a:solidFill>
              </a:rPr>
              <a:t>Who used/</a:t>
            </a:r>
            <a:r>
              <a:rPr lang="en-US" sz="1500" b="1" baseline="0" dirty="0" smtClean="0">
                <a:solidFill>
                  <a:srgbClr val="000000"/>
                </a:solidFill>
              </a:rPr>
              <a:t> followed the social media for this event?</a:t>
            </a:r>
            <a:endParaRPr lang="en-US" sz="1500" b="1" dirty="0" smtClean="0">
              <a:solidFill>
                <a:srgbClr val="000000"/>
              </a:solidFill>
            </a:endParaRPr>
          </a:p>
          <a:p>
            <a:pPr>
              <a:buFont typeface="Arial"/>
              <a:buNone/>
              <a:defRPr/>
            </a:pPr>
            <a:endParaRPr lang="en-US" sz="1500" b="1" dirty="0" smtClean="0">
              <a:solidFill>
                <a:srgbClr val="000000"/>
              </a:solidFill>
            </a:endParaRPr>
          </a:p>
          <a:p>
            <a:pPr>
              <a:buFont typeface="Arial"/>
              <a:buNone/>
              <a:defRPr/>
            </a:pPr>
            <a:r>
              <a:rPr lang="en-US" sz="1500" b="1" dirty="0" smtClean="0">
                <a:solidFill>
                  <a:srgbClr val="000000"/>
                </a:solidFill>
              </a:rPr>
              <a:t>Social media allows us to:</a:t>
            </a:r>
            <a:endParaRPr lang="en-US" sz="1500" b="1" baseline="0" dirty="0" smtClean="0">
              <a:solidFill>
                <a:srgbClr val="000000"/>
              </a:solidFill>
            </a:endParaRPr>
          </a:p>
          <a:p>
            <a:pPr>
              <a:buFont typeface="Arial"/>
              <a:buNone/>
              <a:defRPr/>
            </a:pPr>
            <a:endParaRPr lang="en-US" sz="1500" b="1" baseline="0" dirty="0" smtClean="0">
              <a:solidFill>
                <a:srgbClr val="000000"/>
              </a:solidFill>
            </a:endParaRPr>
          </a:p>
          <a:p>
            <a:pPr>
              <a:buFont typeface="Arial"/>
              <a:buNone/>
              <a:defRPr/>
            </a:pPr>
            <a:r>
              <a:rPr lang="en-US" sz="1500" dirty="0" smtClean="0">
                <a:solidFill>
                  <a:srgbClr val="000000"/>
                </a:solidFill>
              </a:rPr>
              <a:t>share information about the event </a:t>
            </a:r>
            <a:r>
              <a:rPr lang="en-US" sz="1500" baseline="0" dirty="0" smtClean="0">
                <a:solidFill>
                  <a:srgbClr val="000000"/>
                </a:solidFill>
              </a:rPr>
              <a:t>and even </a:t>
            </a:r>
            <a:r>
              <a:rPr lang="en-US" sz="1500" dirty="0" smtClean="0">
                <a:solidFill>
                  <a:srgbClr val="000000"/>
                </a:solidFill>
              </a:rPr>
              <a:t>promote the event for you – just by talking about it</a:t>
            </a:r>
          </a:p>
          <a:p>
            <a:pPr>
              <a:buFont typeface="Arial"/>
              <a:buNone/>
              <a:defRPr/>
            </a:pPr>
            <a:r>
              <a:rPr lang="en-US" sz="1500" dirty="0" smtClean="0">
                <a:solidFill>
                  <a:srgbClr val="000000"/>
                </a:solidFill>
              </a:rPr>
              <a:t> </a:t>
            </a:r>
          </a:p>
          <a:p>
            <a:pPr>
              <a:buFont typeface="Arial"/>
              <a:buNone/>
              <a:defRPr/>
            </a:pPr>
            <a:r>
              <a:rPr lang="en-US" sz="1500" dirty="0" smtClean="0">
                <a:solidFill>
                  <a:srgbClr val="000000"/>
                </a:solidFill>
              </a:rPr>
              <a:t>It</a:t>
            </a:r>
            <a:r>
              <a:rPr lang="en-US" sz="1500" baseline="0" dirty="0" smtClean="0">
                <a:solidFill>
                  <a:srgbClr val="000000"/>
                </a:solidFill>
              </a:rPr>
              <a:t> enhances </a:t>
            </a:r>
            <a:r>
              <a:rPr lang="en-US" sz="1500" dirty="0" smtClean="0">
                <a:solidFill>
                  <a:srgbClr val="000000"/>
                </a:solidFill>
              </a:rPr>
              <a:t>the networking experience</a:t>
            </a:r>
            <a:r>
              <a:rPr lang="en-US" sz="1500" baseline="0" dirty="0" smtClean="0">
                <a:solidFill>
                  <a:srgbClr val="000000"/>
                </a:solidFill>
              </a:rPr>
              <a:t> by enabling people who might not normally chat with one another at a conference to interact.</a:t>
            </a:r>
            <a:endParaRPr lang="en-US" sz="1500" dirty="0" smtClean="0">
              <a:solidFill>
                <a:srgbClr val="000000"/>
              </a:solidFill>
            </a:endParaRPr>
          </a:p>
          <a:p>
            <a:pPr>
              <a:buFont typeface="Arial"/>
              <a:buNone/>
              <a:defRPr/>
            </a:pPr>
            <a:r>
              <a:rPr lang="en-US" sz="1500" dirty="0" smtClean="0">
                <a:solidFill>
                  <a:srgbClr val="000000"/>
                </a:solidFill>
              </a:rPr>
              <a:t> </a:t>
            </a:r>
          </a:p>
          <a:p>
            <a:pPr>
              <a:buFont typeface="Arial"/>
              <a:buNone/>
              <a:defRPr/>
            </a:pPr>
            <a:r>
              <a:rPr lang="en-US" sz="1500" dirty="0" smtClean="0">
                <a:solidFill>
                  <a:srgbClr val="000000"/>
                </a:solidFill>
              </a:rPr>
              <a:t>Allows participants to ask questions, and continue the conversation long after the session has ended.</a:t>
            </a:r>
          </a:p>
          <a:p>
            <a:pPr>
              <a:buFont typeface="Arial"/>
              <a:buNone/>
              <a:defRPr/>
            </a:pPr>
            <a:r>
              <a:rPr lang="en-US" sz="1500" dirty="0" smtClean="0">
                <a:solidFill>
                  <a:srgbClr val="000000"/>
                </a:solidFill>
              </a:rPr>
              <a:t>  </a:t>
            </a:r>
          </a:p>
          <a:p>
            <a:pPr>
              <a:buFont typeface="Arial"/>
              <a:buNone/>
              <a:defRPr/>
            </a:pPr>
            <a:r>
              <a:rPr lang="en-US" sz="1500" dirty="0" smtClean="0">
                <a:solidFill>
                  <a:srgbClr val="000000"/>
                </a:solidFill>
              </a:rPr>
              <a:t>And</a:t>
            </a:r>
            <a:r>
              <a:rPr lang="en-US" sz="1500" baseline="0" dirty="0" smtClean="0">
                <a:solidFill>
                  <a:srgbClr val="000000"/>
                </a:solidFill>
              </a:rPr>
              <a:t> by c</a:t>
            </a:r>
            <a:r>
              <a:rPr lang="en-US" sz="1500" dirty="0" smtClean="0">
                <a:solidFill>
                  <a:srgbClr val="000000"/>
                </a:solidFill>
              </a:rPr>
              <a:t>reating a digital record of the event,</a:t>
            </a:r>
            <a:r>
              <a:rPr lang="en-US" sz="1500" baseline="0" dirty="0" smtClean="0">
                <a:solidFill>
                  <a:srgbClr val="000000"/>
                </a:solidFill>
              </a:rPr>
              <a:t> it extends the life of the event long after the booths have been packed up and everyone goes back to work.</a:t>
            </a:r>
            <a:endParaRPr lang="en-US" sz="1500" dirty="0" smtClean="0">
              <a:solidFill>
                <a:srgbClr val="000000"/>
              </a:solidFill>
              <a:ea typeface="ＭＳ Ｐゴシック" charset="-128"/>
              <a:cs typeface="ＭＳ Ｐゴシック" charset="-128"/>
            </a:endParaRPr>
          </a:p>
          <a:p>
            <a:pPr>
              <a:buFont typeface="Arial"/>
              <a:buNone/>
              <a:defRPr/>
            </a:pPr>
            <a:endParaRPr lang="en-US" sz="1500" dirty="0">
              <a:solidFill>
                <a:srgbClr val="000000"/>
              </a:solidFill>
              <a:ea typeface="ＭＳ Ｐゴシック" charset="-128"/>
              <a:cs typeface="ＭＳ Ｐゴシック" charset="-128"/>
            </a:endParaRPr>
          </a:p>
        </p:txBody>
      </p:sp>
      <p:sp>
        <p:nvSpPr>
          <p:cNvPr id="38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8D165C6-4F55-8346-BCD3-BFC6CCEFEBE2}" type="slidenum">
              <a:rPr lang="en-US" smtClean="0">
                <a:latin typeface="Arial" charset="0"/>
                <a:ea typeface="ＭＳ Ｐゴシック" charset="-128"/>
                <a:cs typeface="ＭＳ Ｐゴシック" charset="-128"/>
              </a:rPr>
              <a:pPr/>
              <a:t>2</a:t>
            </a:fld>
            <a:endParaRPr lang="en-US" smtClean="0">
              <a:latin typeface="Arial" charset="0"/>
              <a:ea typeface="ＭＳ Ｐゴシック" charset="-128"/>
              <a:cs typeface="ＭＳ Ｐゴシック"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p:txBody>
          <a:bodyPr wrap="square" numCol="1" anchor="t" anchorCtr="0" compatLnSpc="1">
            <a:prstTxWarp prst="textNoShape">
              <a:avLst/>
            </a:prstTxWarp>
          </a:bodyPr>
          <a:lstStyle/>
          <a:p>
            <a:pPr>
              <a:defRPr/>
            </a:pPr>
            <a:r>
              <a:rPr lang="en-US" sz="1400" dirty="0" smtClean="0">
                <a:ea typeface="ＭＳ Ｐゴシック" charset="-128"/>
                <a:cs typeface="ＭＳ Ｐゴシック" charset="-128"/>
              </a:rPr>
              <a:t>Created</a:t>
            </a:r>
            <a:r>
              <a:rPr lang="en-US" sz="1400" baseline="0" dirty="0" smtClean="0">
                <a:ea typeface="ＭＳ Ｐゴシック" charset="-128"/>
                <a:cs typeface="ＭＳ Ｐゴシック" charset="-128"/>
              </a:rPr>
              <a:t> a twitter account and NCE </a:t>
            </a:r>
            <a:r>
              <a:rPr lang="en-US" sz="1400" baseline="0" dirty="0" err="1" smtClean="0">
                <a:ea typeface="ＭＳ Ｐゴシック" charset="-128"/>
                <a:cs typeface="ＭＳ Ｐゴシック" charset="-128"/>
              </a:rPr>
              <a:t>facebook</a:t>
            </a:r>
            <a:r>
              <a:rPr lang="en-US" sz="1400" baseline="0" dirty="0" smtClean="0">
                <a:ea typeface="ＭＳ Ｐゴシック" charset="-128"/>
                <a:cs typeface="ＭＳ Ｐゴシック" charset="-128"/>
              </a:rPr>
              <a:t> page to spread the word and amp up the hype for the NCE annual meeting.</a:t>
            </a:r>
            <a:endParaRPr lang="en-US" sz="1400" dirty="0" smtClean="0">
              <a:ea typeface="ＭＳ Ｐゴシック" charset="-128"/>
              <a:cs typeface="ＭＳ Ｐゴシック" charset="-128"/>
            </a:endParaRPr>
          </a:p>
        </p:txBody>
      </p:sp>
      <p:sp>
        <p:nvSpPr>
          <p:cNvPr id="38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8D165C6-4F55-8346-BCD3-BFC6CCEFEBE2}" type="slidenum">
              <a:rPr lang="en-US" smtClean="0">
                <a:latin typeface="Arial" charset="0"/>
                <a:ea typeface="ＭＳ Ｐゴシック" charset="-128"/>
                <a:cs typeface="ＭＳ Ｐゴシック" charset="-128"/>
              </a:rPr>
              <a:pPr/>
              <a:t>3</a:t>
            </a:fld>
            <a:endParaRPr lang="en-US" smtClean="0">
              <a:latin typeface="Arial" charset="0"/>
              <a:ea typeface="ＭＳ Ｐゴシック" charset="-128"/>
              <a:cs typeface="ＭＳ Ｐゴシック"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400" dirty="0" smtClean="0"/>
              <a:t>Everyone here is familiar with twitter, right?</a:t>
            </a:r>
          </a:p>
          <a:p>
            <a:pPr marL="0" marR="0" indent="0" algn="l" defTabSz="457200" rtl="0" eaLnBrk="0" fontAlgn="base" latinLnBrk="0" hangingPunct="0">
              <a:lnSpc>
                <a:spcPct val="100000"/>
              </a:lnSpc>
              <a:spcBef>
                <a:spcPct val="30000"/>
              </a:spcBef>
              <a:spcAft>
                <a:spcPct val="0"/>
              </a:spcAft>
              <a:buClrTx/>
              <a:buSzTx/>
              <a:buFontTx/>
              <a:buNone/>
              <a:tabLst/>
              <a:defRPr/>
            </a:pPr>
            <a:endParaRPr lang="en-US" sz="1400" baseline="0" dirty="0" smtClean="0"/>
          </a:p>
          <a:p>
            <a:pPr marL="0" marR="0" indent="0" algn="l" defTabSz="457200" rtl="0" eaLnBrk="0" fontAlgn="base" latinLnBrk="0" hangingPunct="0">
              <a:lnSpc>
                <a:spcPct val="100000"/>
              </a:lnSpc>
              <a:spcBef>
                <a:spcPct val="30000"/>
              </a:spcBef>
              <a:spcAft>
                <a:spcPct val="0"/>
              </a:spcAft>
              <a:buClrTx/>
              <a:buSzTx/>
              <a:buFontTx/>
              <a:buNone/>
              <a:tabLst/>
              <a:defRPr/>
            </a:pPr>
            <a:r>
              <a:rPr lang="en-US" sz="1400" dirty="0" smtClean="0"/>
              <a:t>Twitter is what’s </a:t>
            </a:r>
            <a:r>
              <a:rPr lang="en-US" sz="1400" baseline="0" dirty="0" smtClean="0"/>
              <a:t>referred to as a “micro-blogging” website,  where users can set-up accounts and talk to one another. </a:t>
            </a:r>
          </a:p>
          <a:p>
            <a:pPr marL="0" marR="0" indent="0" algn="l" defTabSz="457200" rtl="0" eaLnBrk="0" fontAlgn="base" latinLnBrk="0" hangingPunct="0">
              <a:lnSpc>
                <a:spcPct val="100000"/>
              </a:lnSpc>
              <a:spcBef>
                <a:spcPct val="30000"/>
              </a:spcBef>
              <a:spcAft>
                <a:spcPct val="0"/>
              </a:spcAft>
              <a:buClrTx/>
              <a:buSzTx/>
              <a:buFontTx/>
              <a:buNone/>
              <a:tabLst/>
              <a:defRPr/>
            </a:pPr>
            <a:endParaRPr lang="en-US" sz="1400" baseline="0" dirty="0" smtClean="0"/>
          </a:p>
          <a:p>
            <a:pPr marL="0" marR="0" indent="0" algn="l" defTabSz="457200" rtl="0" eaLnBrk="0" fontAlgn="base" latinLnBrk="0" hangingPunct="0">
              <a:lnSpc>
                <a:spcPct val="100000"/>
              </a:lnSpc>
              <a:spcBef>
                <a:spcPct val="30000"/>
              </a:spcBef>
              <a:spcAft>
                <a:spcPct val="0"/>
              </a:spcAft>
              <a:buClrTx/>
              <a:buSzTx/>
              <a:buFontTx/>
              <a:buNone/>
              <a:tabLst/>
              <a:defRPr/>
            </a:pPr>
            <a:r>
              <a:rPr lang="en-US" sz="1400" baseline="0" dirty="0" smtClean="0"/>
              <a:t>It basically allows them to have online conversations with other people who share the same interests.</a:t>
            </a:r>
            <a:endParaRPr lang="en-US" sz="1400" dirty="0" smtClean="0"/>
          </a:p>
          <a:p>
            <a:endParaRPr lang="en-US" sz="1400" baseline="0" dirty="0" smtClean="0"/>
          </a:p>
        </p:txBody>
      </p:sp>
      <p:sp>
        <p:nvSpPr>
          <p:cNvPr id="4" name="Slide Number Placeholder 3"/>
          <p:cNvSpPr>
            <a:spLocks noGrp="1"/>
          </p:cNvSpPr>
          <p:nvPr>
            <p:ph type="sldNum" sz="quarter" idx="10"/>
          </p:nvPr>
        </p:nvSpPr>
        <p:spPr/>
        <p:txBody>
          <a:bodyPr/>
          <a:lstStyle/>
          <a:p>
            <a:pPr>
              <a:defRPr/>
            </a:pPr>
            <a:fld id="{DB034452-DEF6-104E-9295-43FD85A9F4FB}"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Our twitter page</a:t>
            </a:r>
            <a:endParaRPr lang="en-US" dirty="0"/>
          </a:p>
        </p:txBody>
      </p:sp>
      <p:sp>
        <p:nvSpPr>
          <p:cNvPr id="4" name="Slide Number Placeholder 3"/>
          <p:cNvSpPr>
            <a:spLocks noGrp="1"/>
          </p:cNvSpPr>
          <p:nvPr>
            <p:ph type="sldNum" sz="quarter" idx="10"/>
          </p:nvPr>
        </p:nvSpPr>
        <p:spPr/>
        <p:txBody>
          <a:bodyPr/>
          <a:lstStyle/>
          <a:p>
            <a:pPr>
              <a:defRPr/>
            </a:pPr>
            <a:fld id="{DB034452-DEF6-104E-9295-43FD85A9F4FB}"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ＭＳ Ｐゴシック" charset="-128"/>
                <a:cs typeface="ＭＳ Ｐゴシック" charset="-128"/>
              </a:rPr>
              <a:t>Alex at the NCE created an list of tweets promoting the meeting. These tweets provided information about the meeting, such as information and and links to registration, links to the program and some program and speaker highlights. </a:t>
            </a:r>
          </a:p>
          <a:p>
            <a:endParaRPr lang="en-US" sz="1200" kern="1200" baseline="0" dirty="0" smtClean="0">
              <a:solidFill>
                <a:schemeClr val="tx1"/>
              </a:solidFill>
              <a:latin typeface="+mn-lt"/>
              <a:ea typeface="ＭＳ Ｐゴシック" charset="-128"/>
              <a:cs typeface="ＭＳ Ｐゴシック" charset="-128"/>
            </a:endParaRPr>
          </a:p>
          <a:p>
            <a:r>
              <a:rPr lang="en-US" sz="1200" kern="1200" baseline="0" dirty="0" smtClean="0">
                <a:solidFill>
                  <a:schemeClr val="tx1"/>
                </a:solidFill>
                <a:latin typeface="+mn-lt"/>
                <a:ea typeface="ＭＳ Ｐゴシック" charset="-128"/>
                <a:cs typeface="ＭＳ Ｐゴシック" charset="-128"/>
              </a:rPr>
              <a:t>In the last week and a half before the meeting a few more tweets were written to engage the audience and attempt to generate conversation. These tweets were questions. This effort had little success. Not overly successful. Got a few responses. From Cathy but also from </a:t>
            </a:r>
            <a:r>
              <a:rPr lang="en-US" sz="1200" kern="1200" baseline="0" dirty="0" err="1" smtClean="0">
                <a:solidFill>
                  <a:schemeClr val="tx1"/>
                </a:solidFill>
                <a:latin typeface="+mn-lt"/>
                <a:ea typeface="ＭＳ Ｐゴシック" charset="-128"/>
                <a:cs typeface="ＭＳ Ｐゴシック" charset="-128"/>
              </a:rPr>
              <a:t>ConnectCanada</a:t>
            </a:r>
            <a:r>
              <a:rPr lang="en-US" sz="1200" kern="1200" baseline="0" dirty="0" smtClean="0">
                <a:solidFill>
                  <a:schemeClr val="tx1"/>
                </a:solidFill>
                <a:latin typeface="+mn-lt"/>
                <a:ea typeface="ＭＳ Ｐゴシック" charset="-128"/>
                <a:cs typeface="ＭＳ Ｐゴシック" charset="-128"/>
              </a:rPr>
              <a:t>.</a:t>
            </a:r>
          </a:p>
          <a:p>
            <a:endParaRPr lang="en-US" sz="1200" kern="1200" dirty="0" smtClean="0">
              <a:solidFill>
                <a:schemeClr val="tx1"/>
              </a:solidFill>
              <a:latin typeface="+mn-lt"/>
              <a:ea typeface="ＭＳ Ｐゴシック" pitchFamily="-111" charset="-128"/>
              <a:cs typeface="ＭＳ Ｐゴシック" pitchFamily="-111" charset="-128"/>
            </a:endParaRPr>
          </a:p>
          <a:p>
            <a:r>
              <a:rPr lang="en-US" sz="1200" kern="1200" dirty="0" smtClean="0">
                <a:solidFill>
                  <a:schemeClr val="tx1"/>
                </a:solidFill>
                <a:latin typeface="+mn-lt"/>
                <a:ea typeface="ＭＳ Ｐゴシック" pitchFamily="-111" charset="-128"/>
                <a:cs typeface="ＭＳ Ｐゴシック" pitchFamily="-111" charset="-128"/>
              </a:rPr>
              <a:t>Lori</a:t>
            </a:r>
            <a:r>
              <a:rPr lang="en-US" sz="1200" kern="1200" baseline="0" dirty="0" smtClean="0">
                <a:solidFill>
                  <a:schemeClr val="tx1"/>
                </a:solidFill>
                <a:latin typeface="+mn-lt"/>
                <a:ea typeface="ＭＳ Ｐゴシック" pitchFamily="-111" charset="-128"/>
                <a:cs typeface="ＭＳ Ｐゴシック" pitchFamily="-111" charset="-128"/>
              </a:rPr>
              <a:t> created a unique </a:t>
            </a:r>
            <a:r>
              <a:rPr lang="en-US" sz="1200" kern="1200" baseline="0" dirty="0" err="1" smtClean="0">
                <a:solidFill>
                  <a:schemeClr val="tx1"/>
                </a:solidFill>
                <a:latin typeface="+mn-lt"/>
                <a:ea typeface="ＭＳ Ｐゴシック" pitchFamily="-111" charset="-128"/>
                <a:cs typeface="ＭＳ Ｐゴシック" pitchFamily="-111" charset="-128"/>
              </a:rPr>
              <a:t>hashtag</a:t>
            </a:r>
            <a:r>
              <a:rPr lang="en-US" sz="1200" kern="1200" baseline="0" dirty="0" smtClean="0">
                <a:solidFill>
                  <a:schemeClr val="tx1"/>
                </a:solidFill>
                <a:latin typeface="+mn-lt"/>
                <a:ea typeface="ＭＳ Ｐゴシック" pitchFamily="-111" charset="-128"/>
                <a:cs typeface="ＭＳ Ｐゴシック" pitchFamily="-111" charset="-128"/>
              </a:rPr>
              <a:t> for the event, </a:t>
            </a:r>
            <a:r>
              <a:rPr lang="en-US" sz="1200" kern="1200" baseline="0" dirty="0" err="1" smtClean="0">
                <a:solidFill>
                  <a:schemeClr val="tx1"/>
                </a:solidFill>
                <a:latin typeface="+mn-lt"/>
                <a:ea typeface="ＭＳ Ｐゴシック" pitchFamily="-111" charset="-128"/>
                <a:cs typeface="ＭＳ Ｐゴシック" pitchFamily="-111" charset="-128"/>
              </a:rPr>
              <a:t>NCExcellence</a:t>
            </a:r>
            <a:r>
              <a:rPr lang="en-US" sz="1200" kern="1200" baseline="0" dirty="0" smtClean="0">
                <a:solidFill>
                  <a:schemeClr val="tx1"/>
                </a:solidFill>
                <a:latin typeface="+mn-lt"/>
                <a:ea typeface="ＭＳ Ｐゴシック" pitchFamily="-111" charset="-128"/>
                <a:cs typeface="ＭＳ Ｐゴシック" pitchFamily="-111" charset="-128"/>
              </a:rPr>
              <a:t> that was added to the end of the tweets we sent out and for others to use.</a:t>
            </a:r>
          </a:p>
          <a:p>
            <a:r>
              <a:rPr lang="en-US" sz="1200" kern="1200" baseline="0" dirty="0" smtClean="0">
                <a:solidFill>
                  <a:schemeClr val="tx1"/>
                </a:solidFill>
                <a:latin typeface="+mn-lt"/>
                <a:ea typeface="ＭＳ Ｐゴシック" pitchFamily="-111" charset="-128"/>
                <a:cs typeface="ＭＳ Ｐゴシック" pitchFamily="-111" charset="-128"/>
              </a:rPr>
              <a:t>Again, not super successful. </a:t>
            </a:r>
            <a:r>
              <a:rPr lang="en-US" sz="1200" kern="1200" baseline="0" dirty="0" err="1" smtClean="0">
                <a:solidFill>
                  <a:schemeClr val="tx1"/>
                </a:solidFill>
                <a:latin typeface="+mn-lt"/>
                <a:ea typeface="ＭＳ Ｐゴシック" pitchFamily="-111" charset="-128"/>
                <a:cs typeface="ＭＳ Ｐゴシック" pitchFamily="-111" charset="-128"/>
              </a:rPr>
              <a:t>ConnectCanada</a:t>
            </a:r>
            <a:r>
              <a:rPr lang="en-US" sz="1200" kern="1200" baseline="0" dirty="0" smtClean="0">
                <a:solidFill>
                  <a:schemeClr val="tx1"/>
                </a:solidFill>
                <a:latin typeface="+mn-lt"/>
                <a:ea typeface="ＭＳ Ｐゴシック" pitchFamily="-111" charset="-128"/>
                <a:cs typeface="ＭＳ Ｐゴシック" pitchFamily="-111" charset="-128"/>
              </a:rPr>
              <a:t> was the only follower to ever use the </a:t>
            </a:r>
            <a:r>
              <a:rPr lang="en-US" sz="1200" kern="1200" baseline="0" dirty="0" err="1" smtClean="0">
                <a:solidFill>
                  <a:schemeClr val="tx1"/>
                </a:solidFill>
                <a:latin typeface="+mn-lt"/>
                <a:ea typeface="ＭＳ Ｐゴシック" pitchFamily="-111" charset="-128"/>
                <a:cs typeface="ＭＳ Ｐゴシック" pitchFamily="-111" charset="-128"/>
              </a:rPr>
              <a:t>hashtag</a:t>
            </a:r>
            <a:r>
              <a:rPr lang="en-US" sz="1200" kern="1200" baseline="0" dirty="0" smtClean="0">
                <a:solidFill>
                  <a:schemeClr val="tx1"/>
                </a:solidFill>
                <a:latin typeface="+mn-lt"/>
                <a:ea typeface="ＭＳ Ｐゴシック" pitchFamily="-111" charset="-128"/>
                <a:cs typeface="ＭＳ Ｐゴシック" pitchFamily="-111" charset="-128"/>
              </a:rPr>
              <a:t>. </a:t>
            </a:r>
            <a:endParaRPr lang="en-US" sz="1200" kern="1200" dirty="0" smtClean="0">
              <a:solidFill>
                <a:schemeClr val="tx1"/>
              </a:solidFill>
              <a:latin typeface="+mn-lt"/>
              <a:ea typeface="ＭＳ Ｐゴシック" pitchFamily="-111" charset="-128"/>
              <a:cs typeface="ＭＳ Ｐゴシック" pitchFamily="-111" charset="-128"/>
            </a:endParaRPr>
          </a:p>
          <a:p>
            <a:endParaRPr lang="en-US" dirty="0"/>
          </a:p>
        </p:txBody>
      </p:sp>
      <p:sp>
        <p:nvSpPr>
          <p:cNvPr id="4" name="Slide Number Placeholder 3"/>
          <p:cNvSpPr>
            <a:spLocks noGrp="1"/>
          </p:cNvSpPr>
          <p:nvPr>
            <p:ph type="sldNum" sz="quarter" idx="10"/>
          </p:nvPr>
        </p:nvSpPr>
        <p:spPr/>
        <p:txBody>
          <a:bodyPr/>
          <a:lstStyle/>
          <a:p>
            <a:pPr>
              <a:defRPr/>
            </a:pPr>
            <a:fld id="{DB034452-DEF6-104E-9295-43FD85A9F4FB}"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wanted</a:t>
            </a:r>
            <a:r>
              <a:rPr lang="en-US" baseline="0" dirty="0" smtClean="0"/>
              <a:t> our tweets to reach a specific audience; the delegates. In this case we weren’t trying to generate any media attention or get the word out to the public. Therefore we had a much smaller audience then we would for our Congress. Any person who followed us, we would follow back. As you can see not all of our followers chose to follow us. </a:t>
            </a:r>
          </a:p>
          <a:p>
            <a:endParaRPr lang="en-US" baseline="0" dirty="0" smtClean="0"/>
          </a:p>
          <a:p>
            <a:r>
              <a:rPr lang="en-US" baseline="0" dirty="0" smtClean="0"/>
              <a:t>The purpose of the account was to get information out to delegates.</a:t>
            </a:r>
          </a:p>
        </p:txBody>
      </p:sp>
      <p:sp>
        <p:nvSpPr>
          <p:cNvPr id="4" name="Slide Number Placeholder 3"/>
          <p:cNvSpPr>
            <a:spLocks noGrp="1"/>
          </p:cNvSpPr>
          <p:nvPr>
            <p:ph type="sldNum" sz="quarter" idx="10"/>
          </p:nvPr>
        </p:nvSpPr>
        <p:spPr/>
        <p:txBody>
          <a:bodyPr/>
          <a:lstStyle/>
          <a:p>
            <a:pPr>
              <a:defRPr/>
            </a:pPr>
            <a:fld id="{DB034452-DEF6-104E-9295-43FD85A9F4FB}"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smtClean="0"/>
              <a:t>We planned &amp;</a:t>
            </a:r>
            <a:r>
              <a:rPr lang="en-US" baseline="0" dirty="0" smtClean="0"/>
              <a:t> </a:t>
            </a:r>
            <a:r>
              <a:rPr lang="en-US" dirty="0" smtClean="0"/>
              <a:t>scheduled tweets so that it would look like we were having an ongoing discussion.  Messages were scheduled for the week on each</a:t>
            </a:r>
            <a:r>
              <a:rPr lang="en-US" baseline="0" dirty="0" smtClean="0"/>
              <a:t> Monday and I would check the page regularly for any questions or required </a:t>
            </a:r>
            <a:r>
              <a:rPr lang="en-US" baseline="0" dirty="0" err="1" smtClean="0"/>
              <a:t>retweets</a:t>
            </a:r>
            <a:r>
              <a:rPr lang="en-US" baseline="0" dirty="0" smtClean="0"/>
              <a:t>.</a:t>
            </a:r>
            <a:endParaRPr lang="en-US" dirty="0" smtClean="0"/>
          </a:p>
          <a:p>
            <a:endParaRPr lang="en-US" baseline="0" dirty="0" smtClean="0"/>
          </a:p>
          <a:p>
            <a:r>
              <a:rPr lang="en-US" baseline="0" dirty="0" smtClean="0"/>
              <a:t>I tried not to overload with two many tweets at the beginning, with a plan to schedule more tweets the week before the meeting. Since we weren’t getting much pick-up, I thought we might be able to generate more conversation in the week before the meeting. So I saved a lot of tweets for then, including the tweets asking questions to our followers. </a:t>
            </a:r>
            <a:r>
              <a:rPr lang="en-US" baseline="0" dirty="0" err="1" smtClean="0"/>
              <a:t>Ie</a:t>
            </a:r>
            <a:r>
              <a:rPr lang="en-US" baseline="0" dirty="0" smtClean="0"/>
              <a:t>. What are you looking forward to most?</a:t>
            </a:r>
          </a:p>
          <a:p>
            <a:endParaRPr lang="en-US" baseline="0" dirty="0" smtClean="0"/>
          </a:p>
          <a:p>
            <a:r>
              <a:rPr lang="en-US" baseline="0" dirty="0" smtClean="0"/>
              <a:t>Sent tweets about speakers, registration, sessions, etc.</a:t>
            </a:r>
          </a:p>
          <a:p>
            <a:endParaRPr lang="en-US" baseline="0" dirty="0" smtClean="0"/>
          </a:p>
          <a:p>
            <a:r>
              <a:rPr lang="en-US" baseline="0" dirty="0" smtClean="0"/>
              <a:t>If someone tweeted to us, we replied.  If they mentioned us we </a:t>
            </a:r>
            <a:r>
              <a:rPr lang="en-US" baseline="0" dirty="0" err="1" smtClean="0"/>
              <a:t>retweeted</a:t>
            </a:r>
            <a:r>
              <a:rPr lang="en-US" baseline="0" dirty="0" smtClean="0"/>
              <a:t>. Over the month we had 13 mentions – half of which came from Cathy. The remaining mentions were split between 3 other followers.</a:t>
            </a:r>
            <a:endParaRPr lang="en-US" b="1" baseline="0" dirty="0" smtClean="0"/>
          </a:p>
          <a:p>
            <a:endParaRPr lang="en-US" baseline="0" dirty="0" smtClean="0"/>
          </a:p>
          <a:p>
            <a:r>
              <a:rPr lang="en-US" baseline="0" dirty="0" smtClean="0"/>
              <a:t>As you can see, we tweeted a lot over the month, but we didn’t get many tweets back and were </a:t>
            </a:r>
            <a:r>
              <a:rPr lang="en-US" baseline="0" dirty="0" err="1" smtClean="0"/>
              <a:t>unsucessful</a:t>
            </a:r>
            <a:r>
              <a:rPr lang="en-US" baseline="0" dirty="0" smtClean="0"/>
              <a:t> generating any conversation, except with Cathy. This is probably because we only had about a month to build our online presence. For our Congress we are tweeting all year about program updates, location, registration, even website updates. With the NCE meeting we didn’t have enough time to build much, but we’ve created a solid base if the tools are continued to be used. </a:t>
            </a:r>
          </a:p>
        </p:txBody>
      </p:sp>
      <p:sp>
        <p:nvSpPr>
          <p:cNvPr id="4" name="Slide Number Placeholder 3"/>
          <p:cNvSpPr>
            <a:spLocks noGrp="1"/>
          </p:cNvSpPr>
          <p:nvPr>
            <p:ph type="sldNum" sz="quarter" idx="10"/>
          </p:nvPr>
        </p:nvSpPr>
        <p:spPr/>
        <p:txBody>
          <a:bodyPr/>
          <a:lstStyle/>
          <a:p>
            <a:pPr>
              <a:defRPr/>
            </a:pPr>
            <a:fld id="{DB034452-DEF6-104E-9295-43FD85A9F4FB}"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0594" name="Slide Image Placeholder 1"/>
          <p:cNvSpPr>
            <a:spLocks noGrp="1" noRot="1" noChangeAspect="1"/>
          </p:cNvSpPr>
          <p:nvPr>
            <p:ph type="sldImg"/>
          </p:nvPr>
        </p:nvSpPr>
        <p:spPr bwMode="auto">
          <a:noFill/>
          <a:ln>
            <a:solidFill>
              <a:srgbClr val="000000"/>
            </a:solidFill>
            <a:miter lim="800000"/>
            <a:headEnd/>
            <a:tailEnd/>
          </a:ln>
        </p:spPr>
      </p:sp>
      <p:sp>
        <p:nvSpPr>
          <p:cNvPr id="11059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z="1400" dirty="0" smtClean="0">
              <a:ea typeface="ＭＳ Ｐゴシック" charset="-128"/>
              <a:cs typeface="ＭＳ Ｐゴシック" charset="-128"/>
            </a:endParaRPr>
          </a:p>
        </p:txBody>
      </p:sp>
      <p:sp>
        <p:nvSpPr>
          <p:cNvPr id="1105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4A2E9CF-E50E-4744-BE9A-806FCD9D58F8}" type="slidenum">
              <a:rPr lang="en-US">
                <a:solidFill>
                  <a:prstClr val="black"/>
                </a:solidFill>
              </a:rPr>
              <a:pPr/>
              <a:t>9</a:t>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aseline="0" dirty="0" smtClean="0">
                <a:ea typeface="ＭＳ Ｐゴシック" charset="-128"/>
                <a:cs typeface="ＭＳ Ｐゴシック" charset="-128"/>
              </a:rPr>
              <a:t>Our </a:t>
            </a:r>
            <a:r>
              <a:rPr lang="en-US" sz="1200" baseline="0" dirty="0" err="1" smtClean="0">
                <a:ea typeface="ＭＳ Ｐゴシック" charset="-128"/>
                <a:cs typeface="ＭＳ Ｐゴシック" charset="-128"/>
              </a:rPr>
              <a:t>facebook</a:t>
            </a:r>
            <a:r>
              <a:rPr lang="en-US" sz="1200" baseline="0" dirty="0" smtClean="0">
                <a:ea typeface="ＭＳ Ｐゴシック" charset="-128"/>
                <a:cs typeface="ＭＳ Ｐゴシック" charset="-128"/>
              </a:rPr>
              <a:t> page had very little action. Any hits we did have on that page came from Cathy. </a:t>
            </a:r>
          </a:p>
          <a:p>
            <a:endParaRPr lang="en-US" sz="1200" baseline="0" dirty="0" smtClean="0">
              <a:ea typeface="ＭＳ Ｐゴシック" charset="-128"/>
              <a:cs typeface="ＭＳ Ｐゴシック" charset="-128"/>
            </a:endParaRPr>
          </a:p>
          <a:p>
            <a:r>
              <a:rPr lang="en-US" sz="1200" baseline="0" dirty="0" smtClean="0">
                <a:ea typeface="ＭＳ Ｐゴシック" charset="-128"/>
                <a:cs typeface="ＭＳ Ｐゴシック" charset="-128"/>
              </a:rPr>
              <a:t>There are multiple reasons for this. </a:t>
            </a:r>
            <a:r>
              <a:rPr lang="en-US" sz="1200" baseline="0" dirty="0" err="1" smtClean="0">
                <a:ea typeface="ＭＳ Ｐゴシック" charset="-128"/>
                <a:cs typeface="ＭＳ Ｐゴシック" charset="-128"/>
              </a:rPr>
              <a:t>Facebook</a:t>
            </a:r>
            <a:r>
              <a:rPr lang="en-US" sz="1200" baseline="0" dirty="0" smtClean="0">
                <a:ea typeface="ＭＳ Ｐゴシック" charset="-128"/>
                <a:cs typeface="ＭＳ Ｐゴシック" charset="-128"/>
              </a:rPr>
              <a:t> is a more personal space, twitter has become much more popular for spreading a message and marketing. Because it is immediate and you can create </a:t>
            </a:r>
            <a:r>
              <a:rPr lang="en-US" sz="1200" baseline="0" dirty="0" err="1" smtClean="0">
                <a:ea typeface="ＭＳ Ｐゴシック" charset="-128"/>
                <a:cs typeface="ＭＳ Ｐゴシック" charset="-128"/>
              </a:rPr>
              <a:t>hashtags</a:t>
            </a:r>
            <a:r>
              <a:rPr lang="en-US" sz="1200" baseline="0" dirty="0" smtClean="0">
                <a:ea typeface="ＭＳ Ｐゴシック" charset="-128"/>
                <a:cs typeface="ＭＳ Ｐゴシック" charset="-128"/>
              </a:rPr>
              <a:t> or mentions that make your topic easier to search for.</a:t>
            </a:r>
            <a:endParaRPr lang="en-US" sz="1200" dirty="0" smtClean="0">
              <a:ea typeface="ＭＳ Ｐゴシック" charset="-128"/>
              <a:cs typeface="ＭＳ Ｐゴシック" charset="-128"/>
            </a:endParaRPr>
          </a:p>
          <a:p>
            <a:endParaRPr lang="en-US" sz="1200" dirty="0" smtClean="0">
              <a:ea typeface="ＭＳ Ｐゴシック" charset="-128"/>
              <a:cs typeface="ＭＳ Ｐゴシック" charset="-128"/>
            </a:endParaRPr>
          </a:p>
          <a:p>
            <a:r>
              <a:rPr lang="en-US" sz="1200" dirty="0" smtClean="0">
                <a:ea typeface="ＭＳ Ｐゴシック" charset="-128"/>
                <a:cs typeface="ＭＳ Ｐゴシック" charset="-128"/>
              </a:rPr>
              <a:t>NEXT</a:t>
            </a:r>
          </a:p>
          <a:p>
            <a:endParaRPr lang="en-US" dirty="0"/>
          </a:p>
        </p:txBody>
      </p:sp>
      <p:sp>
        <p:nvSpPr>
          <p:cNvPr id="4" name="Slide Number Placeholder 3"/>
          <p:cNvSpPr>
            <a:spLocks noGrp="1"/>
          </p:cNvSpPr>
          <p:nvPr>
            <p:ph type="sldNum" sz="quarter" idx="10"/>
          </p:nvPr>
        </p:nvSpPr>
        <p:spPr/>
        <p:txBody>
          <a:bodyPr/>
          <a:lstStyle/>
          <a:p>
            <a:pPr>
              <a:defRPr/>
            </a:pPr>
            <a:fld id="{DB034452-DEF6-104E-9295-43FD85A9F4FB}"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Lori</a:t>
            </a:r>
            <a:r>
              <a:rPr lang="en-US" baseline="0" dirty="0" smtClean="0"/>
              <a:t> final remarks</a:t>
            </a:r>
          </a:p>
          <a:p>
            <a:endParaRPr lang="en-US" baseline="0" dirty="0" smtClean="0"/>
          </a:p>
          <a:p>
            <a:r>
              <a:rPr lang="en-US" baseline="0" dirty="0" smtClean="0"/>
              <a:t>Questions:</a:t>
            </a:r>
          </a:p>
          <a:p>
            <a:endParaRPr lang="en-US" baseline="0" dirty="0" smtClean="0"/>
          </a:p>
          <a:p>
            <a:r>
              <a:rPr lang="en-US" baseline="0" dirty="0" smtClean="0"/>
              <a:t>Do  you have any suggestions for how we can continue to build NCE social media?</a:t>
            </a:r>
          </a:p>
          <a:p>
            <a:r>
              <a:rPr lang="en-US" baseline="0" dirty="0" smtClean="0"/>
              <a:t>Did you follow our tweets? If so, why didn’t you use it?</a:t>
            </a:r>
          </a:p>
          <a:p>
            <a:r>
              <a:rPr lang="en-US" baseline="0" dirty="0" smtClean="0"/>
              <a:t>What could we have done to make you engage with NCE social media?</a:t>
            </a:r>
          </a:p>
        </p:txBody>
      </p:sp>
      <p:sp>
        <p:nvSpPr>
          <p:cNvPr id="4" name="Slide Number Placeholder 3"/>
          <p:cNvSpPr>
            <a:spLocks noGrp="1"/>
          </p:cNvSpPr>
          <p:nvPr>
            <p:ph type="sldNum" sz="quarter" idx="10"/>
          </p:nvPr>
        </p:nvSpPr>
        <p:spPr/>
        <p:txBody>
          <a:bodyPr/>
          <a:lstStyle/>
          <a:p>
            <a:pPr>
              <a:defRPr/>
            </a:pPr>
            <a:fld id="{DB034452-DEF6-104E-9295-43FD85A9F4FB}" type="slidenum">
              <a:rPr lang="en-US" smtClean="0"/>
              <a:pPr>
                <a:defRPr/>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pPr>
              <a:defRPr/>
            </a:pPr>
            <a:fld id="{DB034452-DEF6-104E-9295-43FD85A9F4FB}" type="slidenum">
              <a:rPr lang="en-US" smtClean="0"/>
              <a:pPr>
                <a:defRPr/>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pPr>
              <a:defRPr/>
            </a:pPr>
            <a:fld id="{DB034452-DEF6-104E-9295-43FD85A9F4FB}" type="slidenum">
              <a:rPr lang="en-US" smtClean="0"/>
              <a:pPr>
                <a:defRPr/>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434" name="Slide Image Placeholder 1"/>
          <p:cNvSpPr>
            <a:spLocks noGrp="1" noRot="1" noChangeAspec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457200" rtl="0" eaLnBrk="0" fontAlgn="base" latinLnBrk="0" hangingPunct="0">
              <a:lnSpc>
                <a:spcPct val="100000"/>
              </a:lnSpc>
              <a:spcBef>
                <a:spcPct val="30000"/>
              </a:spcBef>
              <a:spcAft>
                <a:spcPct val="0"/>
              </a:spcAft>
              <a:buClrTx/>
              <a:buSzTx/>
              <a:buFontTx/>
              <a:buNone/>
              <a:tabLst/>
              <a:defRPr/>
            </a:pPr>
            <a:r>
              <a:rPr lang="en-US" sz="1400" baseline="0" dirty="0" smtClean="0">
                <a:solidFill>
                  <a:srgbClr val="000000"/>
                </a:solidFill>
              </a:rPr>
              <a:t>And on that note, I’d be happy to take your questions.</a:t>
            </a:r>
            <a:endParaRPr lang="en-US" sz="1400" dirty="0" smtClean="0">
              <a:solidFill>
                <a:srgbClr val="000000"/>
              </a:solidFill>
            </a:endParaRPr>
          </a:p>
          <a:p>
            <a:endParaRPr lang="en-US" sz="1400" dirty="0">
              <a:ea typeface="ＭＳ Ｐゴシック" charset="-128"/>
              <a:cs typeface="ＭＳ Ｐゴシック" charset="-128"/>
            </a:endParaRPr>
          </a:p>
        </p:txBody>
      </p:sp>
      <p:sp>
        <p:nvSpPr>
          <p:cNvPr id="184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FA46499-CBE0-5642-A7F0-8F67310DD87E}" type="slidenum">
              <a:rPr lang="en-US" smtClean="0">
                <a:latin typeface="Arial" charset="0"/>
                <a:ea typeface="ＭＳ Ｐゴシック" charset="-128"/>
                <a:cs typeface="ＭＳ Ｐゴシック" charset="-128"/>
              </a:rPr>
              <a:pPr/>
              <a:t>14</a:t>
            </a:fld>
            <a:endParaRPr lang="en-US" smtClean="0">
              <a:latin typeface="Arial" charset="0"/>
              <a:ea typeface="ＭＳ Ｐゴシック" charset="-128"/>
              <a:cs typeface="ＭＳ Ｐゴシック"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fr-CA"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CA"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4C00442A-ED53-6946-8737-78070F3709F0}" type="datetime1">
              <a:rPr lang="en-US"/>
              <a:pPr>
                <a:defRPr/>
              </a:pPr>
              <a:t>12/5/11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36C6CEE-93C2-CA4A-B764-3B4767FCE49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smtClean="0"/>
              <a:t>Click to edit Master title style</a:t>
            </a:r>
            <a:endParaRPr lang="en-US"/>
          </a:p>
        </p:txBody>
      </p:sp>
      <p:sp>
        <p:nvSpPr>
          <p:cNvPr id="3" name="Content Placeholder 2"/>
          <p:cNvSpPr>
            <a:spLocks noGrp="1"/>
          </p:cNvSpPr>
          <p:nvPr>
            <p:ph idx="1"/>
          </p:nvPr>
        </p:nvSpPr>
        <p:spPr/>
        <p:txBody>
          <a:bodyPr/>
          <a:lstStyle/>
          <a:p>
            <a:pPr lvl="0"/>
            <a:r>
              <a:rPr lang="fr-CA" smtClean="0"/>
              <a:t>Click to edit Master text styles</a:t>
            </a:r>
          </a:p>
          <a:p>
            <a:pPr lvl="1"/>
            <a:r>
              <a:rPr lang="fr-CA" smtClean="0"/>
              <a:t>Second level</a:t>
            </a:r>
          </a:p>
          <a:p>
            <a:pPr lvl="2"/>
            <a:r>
              <a:rPr lang="fr-CA" smtClean="0"/>
              <a:t>Third level</a:t>
            </a:r>
          </a:p>
          <a:p>
            <a:pPr lvl="3"/>
            <a:r>
              <a:rPr lang="fr-CA" smtClean="0"/>
              <a:t>Fourth level</a:t>
            </a:r>
          </a:p>
          <a:p>
            <a:pPr lvl="4"/>
            <a:r>
              <a:rPr lang="fr-CA"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D545D21-75AB-714F-9184-A9C654764839}" type="datetime1">
              <a:rPr lang="en-US"/>
              <a:pPr>
                <a:defRPr/>
              </a:pPr>
              <a:t>12/5/11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782495D-D2FC-B84D-8C86-A14E762EB3B9}"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fr-CA"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337F7B1A-9DEA-484D-9A09-E2BA10083AD1}" type="datetime1">
              <a:rPr lang="en-US"/>
              <a:pPr>
                <a:defRPr/>
              </a:pPr>
              <a:t>12/5/11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19B1706-AF33-3C45-87AA-FB0847A69F1E}"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CA" smtClean="0"/>
              <a:t>Click to edit Master text styles</a:t>
            </a:r>
          </a:p>
          <a:p>
            <a:pPr lvl="1"/>
            <a:r>
              <a:rPr lang="fr-CA" smtClean="0"/>
              <a:t>Second level</a:t>
            </a:r>
          </a:p>
          <a:p>
            <a:pPr lvl="2"/>
            <a:r>
              <a:rPr lang="fr-CA" smtClean="0"/>
              <a:t>Third level</a:t>
            </a:r>
          </a:p>
          <a:p>
            <a:pPr lvl="3"/>
            <a:r>
              <a:rPr lang="fr-CA" smtClean="0"/>
              <a:t>Fourth level</a:t>
            </a:r>
          </a:p>
          <a:p>
            <a:pPr lvl="4"/>
            <a:r>
              <a:rPr lang="fr-CA"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CA" smtClean="0"/>
              <a:t>Click to edit Master text styles</a:t>
            </a:r>
          </a:p>
          <a:p>
            <a:pPr lvl="1"/>
            <a:r>
              <a:rPr lang="fr-CA" smtClean="0"/>
              <a:t>Second level</a:t>
            </a:r>
          </a:p>
          <a:p>
            <a:pPr lvl="2"/>
            <a:r>
              <a:rPr lang="fr-CA" smtClean="0"/>
              <a:t>Third level</a:t>
            </a:r>
          </a:p>
          <a:p>
            <a:pPr lvl="3"/>
            <a:r>
              <a:rPr lang="fr-CA" smtClean="0"/>
              <a:t>Fourth level</a:t>
            </a:r>
          </a:p>
          <a:p>
            <a:pPr lvl="4"/>
            <a:r>
              <a:rPr lang="fr-CA"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4928D5C4-E9B4-3445-AEF9-DC28B2FBA965}" type="datetime1">
              <a:rPr lang="en-US"/>
              <a:pPr>
                <a:defRPr/>
              </a:pPr>
              <a:t>12/5/11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138DDD8-99B0-2146-AC3B-440D4C29249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CA"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CA" smtClean="0"/>
              <a:t>Click to edit Master text styles</a:t>
            </a:r>
          </a:p>
          <a:p>
            <a:pPr lvl="1"/>
            <a:r>
              <a:rPr lang="fr-CA" smtClean="0"/>
              <a:t>Second level</a:t>
            </a:r>
          </a:p>
          <a:p>
            <a:pPr lvl="2"/>
            <a:r>
              <a:rPr lang="fr-CA" smtClean="0"/>
              <a:t>Third level</a:t>
            </a:r>
          </a:p>
          <a:p>
            <a:pPr lvl="3"/>
            <a:r>
              <a:rPr lang="fr-CA" smtClean="0"/>
              <a:t>Fourth level</a:t>
            </a:r>
          </a:p>
          <a:p>
            <a:pPr lvl="4"/>
            <a:r>
              <a:rPr lang="fr-CA"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CA" smtClean="0"/>
              <a:t>Click to edit Master text styles</a:t>
            </a:r>
          </a:p>
          <a:p>
            <a:pPr lvl="1"/>
            <a:r>
              <a:rPr lang="fr-CA" smtClean="0"/>
              <a:t>Second level</a:t>
            </a:r>
          </a:p>
          <a:p>
            <a:pPr lvl="2"/>
            <a:r>
              <a:rPr lang="fr-CA" smtClean="0"/>
              <a:t>Third level</a:t>
            </a:r>
          </a:p>
          <a:p>
            <a:pPr lvl="3"/>
            <a:r>
              <a:rPr lang="fr-CA" smtClean="0"/>
              <a:t>Fourth level</a:t>
            </a:r>
          </a:p>
          <a:p>
            <a:pPr lvl="4"/>
            <a:r>
              <a:rPr lang="fr-CA"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135AFA05-2CE9-6A46-BD0F-3A88730E0F35}" type="datetime1">
              <a:rPr lang="en-US"/>
              <a:pPr>
                <a:defRPr/>
              </a:pPr>
              <a:t>12/5/11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C46F60D5-34FE-404C-9F47-3CA4CABC213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EEF06E66-8B7D-9542-829A-851B6C0F75D4}" type="datetime1">
              <a:rPr lang="en-US"/>
              <a:pPr>
                <a:defRPr/>
              </a:pPr>
              <a:t>12/5/11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2D0F3F99-4779-5F45-9B9D-3A9D8723D8B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370D4D3-854B-E840-B5E8-02B9393D6F3E}" type="datetime1">
              <a:rPr lang="en-US"/>
              <a:pPr>
                <a:defRPr/>
              </a:pPr>
              <a:t>12/5/11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65C04EE-B48B-8140-9885-FC3223BB904F}"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fr-CA"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CA" smtClean="0"/>
              <a:t>Click to edit Master text styles</a:t>
            </a:r>
          </a:p>
          <a:p>
            <a:pPr lvl="1"/>
            <a:r>
              <a:rPr lang="fr-CA" smtClean="0"/>
              <a:t>Second level</a:t>
            </a:r>
          </a:p>
          <a:p>
            <a:pPr lvl="2"/>
            <a:r>
              <a:rPr lang="fr-CA" smtClean="0"/>
              <a:t>Third level</a:t>
            </a:r>
          </a:p>
          <a:p>
            <a:pPr lvl="3"/>
            <a:r>
              <a:rPr lang="fr-CA" smtClean="0"/>
              <a:t>Fourth level</a:t>
            </a:r>
          </a:p>
          <a:p>
            <a:pPr lvl="4"/>
            <a:r>
              <a:rPr lang="fr-CA"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A"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69B098B-55DD-F84F-922E-6DCDD4C795A5}" type="datetime1">
              <a:rPr lang="en-US"/>
              <a:pPr>
                <a:defRPr/>
              </a:pPr>
              <a:t>12/5/11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E839A76-D88D-424C-B971-DAB66CE3296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fr-CA"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A"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C5D5713-5529-2242-89F3-459CBB4B1562}" type="datetime1">
              <a:rPr lang="en-US"/>
              <a:pPr>
                <a:defRPr/>
              </a:pPr>
              <a:t>12/5/11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2CF8A9B-6C6C-2B45-92CC-AE483DC06B9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fr-CA" smtClean="0"/>
              <a:t>Click to edit Master text styles</a:t>
            </a:r>
          </a:p>
          <a:p>
            <a:pPr lvl="1"/>
            <a:r>
              <a:rPr lang="fr-CA" smtClean="0"/>
              <a:t>Second level</a:t>
            </a:r>
          </a:p>
          <a:p>
            <a:pPr lvl="2"/>
            <a:r>
              <a:rPr lang="fr-CA" smtClean="0"/>
              <a:t>Third level</a:t>
            </a:r>
          </a:p>
          <a:p>
            <a:pPr lvl="3"/>
            <a:r>
              <a:rPr lang="fr-CA" smtClean="0"/>
              <a:t>Fourth level</a:t>
            </a:r>
          </a:p>
          <a:p>
            <a:pPr lvl="4"/>
            <a:r>
              <a:rPr lang="fr-CA"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EAAB0F1-F060-E14C-B22A-2DAB8A8F8D9F}" type="datetime1">
              <a:rPr lang="en-US"/>
              <a:pPr>
                <a:defRPr/>
              </a:pPr>
              <a:t>12/5/11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8970635-69AD-8B4E-ACB9-FC1E281EAD9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fr-CA"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CA" smtClean="0"/>
              <a:t>Click to edit Master text styles</a:t>
            </a:r>
          </a:p>
          <a:p>
            <a:pPr lvl="1"/>
            <a:r>
              <a:rPr lang="fr-CA" smtClean="0"/>
              <a:t>Second level</a:t>
            </a:r>
          </a:p>
          <a:p>
            <a:pPr lvl="2"/>
            <a:r>
              <a:rPr lang="fr-CA" smtClean="0"/>
              <a:t>Third level</a:t>
            </a:r>
          </a:p>
          <a:p>
            <a:pPr lvl="3"/>
            <a:r>
              <a:rPr lang="fr-CA" smtClean="0"/>
              <a:t>Fourth level</a:t>
            </a:r>
          </a:p>
          <a:p>
            <a:pPr lvl="4"/>
            <a:r>
              <a:rPr lang="fr-CA"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E937727-4132-B84E-8B4E-6193D58AB3E4}" type="datetime1">
              <a:rPr lang="en-US"/>
              <a:pPr>
                <a:defRPr/>
              </a:pPr>
              <a:t>12/5/11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D2CFF03-D72F-3D4E-9AD5-733293DC6312}"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fr-CA"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337F7B1A-9DEA-484D-9A09-E2BA10083AD1}" type="datetime1">
              <a:rPr lang="en-US">
                <a:solidFill>
                  <a:prstClr val="black">
                    <a:tint val="75000"/>
                  </a:prstClr>
                </a:solidFill>
              </a:rPr>
              <a:pPr>
                <a:defRPr/>
              </a:pPr>
              <a:t>12/5/11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19B1706-AF33-3C45-87AA-FB0847A69F1E}" type="slidenum">
              <a:rPr lang="en-US">
                <a:solidFill>
                  <a:prstClr val="black">
                    <a:tint val="75000"/>
                  </a:prstClr>
                </a:solidFill>
              </a:rPr>
              <a:pPr>
                <a:defRPr/>
              </a:p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smtClean="0"/>
              <a:t>Click to edit Master title style</a:t>
            </a:r>
            <a:endParaRPr lang="en-US"/>
          </a:p>
        </p:txBody>
      </p:sp>
      <p:sp>
        <p:nvSpPr>
          <p:cNvPr id="3" name="Content Placeholder 2"/>
          <p:cNvSpPr>
            <a:spLocks noGrp="1"/>
          </p:cNvSpPr>
          <p:nvPr>
            <p:ph idx="1"/>
          </p:nvPr>
        </p:nvSpPr>
        <p:spPr/>
        <p:txBody>
          <a:bodyPr/>
          <a:lstStyle/>
          <a:p>
            <a:pPr lvl="0"/>
            <a:r>
              <a:rPr lang="fr-CA" smtClean="0"/>
              <a:t>Click to edit Master text styles</a:t>
            </a:r>
          </a:p>
          <a:p>
            <a:pPr lvl="1"/>
            <a:r>
              <a:rPr lang="fr-CA" smtClean="0"/>
              <a:t>Second level</a:t>
            </a:r>
          </a:p>
          <a:p>
            <a:pPr lvl="2"/>
            <a:r>
              <a:rPr lang="fr-CA" smtClean="0"/>
              <a:t>Third level</a:t>
            </a:r>
          </a:p>
          <a:p>
            <a:pPr lvl="3"/>
            <a:r>
              <a:rPr lang="fr-CA" smtClean="0"/>
              <a:t>Fourth level</a:t>
            </a:r>
          </a:p>
          <a:p>
            <a:pPr lvl="4"/>
            <a:r>
              <a:rPr lang="fr-CA"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D545D21-75AB-714F-9184-A9C654764839}" type="datetime1">
              <a:rPr lang="en-US"/>
              <a:pPr>
                <a:defRPr/>
              </a:pPr>
              <a:t>12/5/11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782495D-D2FC-B84D-8C86-A14E762EB3B9}"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10615189-256D-5B48-B8C1-477886B17962}" type="datetime1">
              <a:rPr lang="en-US"/>
              <a:pPr>
                <a:defRPr/>
              </a:pPr>
              <a:t>12/5/11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C2AAF0E3-1E33-CE4F-80C6-3FAA136B6F6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11" charset="-128"/>
          <a:cs typeface="ＭＳ Ｐゴシック" pitchFamily="-111" charset="-128"/>
        </a:defRPr>
      </a:lvl1pPr>
      <a:lvl2pPr algn="ctr" defTabSz="457200" rtl="0" eaLnBrk="0" fontAlgn="base" hangingPunct="0">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2pPr>
      <a:lvl3pPr algn="ctr" defTabSz="457200" rtl="0" eaLnBrk="0" fontAlgn="base" hangingPunct="0">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3pPr>
      <a:lvl4pPr algn="ctr" defTabSz="457200" rtl="0" eaLnBrk="0" fontAlgn="base" hangingPunct="0">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4pPr>
      <a:lvl5pPr algn="ctr" defTabSz="457200" rtl="0" eaLnBrk="0" fontAlgn="base" hangingPunct="0">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5pPr>
      <a:lvl6pPr marL="457200" algn="ctr" defTabSz="457200" rtl="0" fontAlgn="base">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6pPr>
      <a:lvl7pPr marL="914400" algn="ctr" defTabSz="457200" rtl="0" fontAlgn="base">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7pPr>
      <a:lvl8pPr marL="1371600" algn="ctr" defTabSz="457200" rtl="0" fontAlgn="base">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8pPr>
      <a:lvl9pPr marL="1828800" algn="ctr" defTabSz="457200" rtl="0" fontAlgn="base">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pitchFamily="-111" charset="-128"/>
          <a:cs typeface="ＭＳ Ｐゴシック" pitchFamily="-111"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pitchFamily="-111"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pitchFamily="-111"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11"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11"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10615189-256D-5B48-B8C1-477886B17962}" type="datetime1">
              <a:rPr lang="en-US">
                <a:solidFill>
                  <a:prstClr val="black">
                    <a:tint val="75000"/>
                  </a:prstClr>
                </a:solidFill>
              </a:rPr>
              <a:pPr>
                <a:defRPr/>
              </a:pPr>
              <a:t>12/5/11</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C2AAF0E3-1E33-CE4F-80C6-3FAA136B6F6B}" type="slidenum">
              <a:rPr lang="en-US">
                <a:solidFill>
                  <a:prstClr val="black">
                    <a:tint val="75000"/>
                  </a:prstClr>
                </a:solidFill>
              </a:rPr>
              <a:pPr>
                <a:def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11" charset="-128"/>
          <a:cs typeface="ＭＳ Ｐゴシック" pitchFamily="-111" charset="-128"/>
        </a:defRPr>
      </a:lvl1pPr>
      <a:lvl2pPr algn="ctr" defTabSz="457200" rtl="0" eaLnBrk="0" fontAlgn="base" hangingPunct="0">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2pPr>
      <a:lvl3pPr algn="ctr" defTabSz="457200" rtl="0" eaLnBrk="0" fontAlgn="base" hangingPunct="0">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3pPr>
      <a:lvl4pPr algn="ctr" defTabSz="457200" rtl="0" eaLnBrk="0" fontAlgn="base" hangingPunct="0">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4pPr>
      <a:lvl5pPr algn="ctr" defTabSz="457200" rtl="0" eaLnBrk="0" fontAlgn="base" hangingPunct="0">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5pPr>
      <a:lvl6pPr marL="457200" algn="ctr" defTabSz="457200" rtl="0" fontAlgn="base">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6pPr>
      <a:lvl7pPr marL="914400" algn="ctr" defTabSz="457200" rtl="0" fontAlgn="base">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7pPr>
      <a:lvl8pPr marL="1371600" algn="ctr" defTabSz="457200" rtl="0" fontAlgn="base">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8pPr>
      <a:lvl9pPr marL="1828800" algn="ctr" defTabSz="457200" rtl="0" fontAlgn="base">
        <a:spcBef>
          <a:spcPct val="0"/>
        </a:spcBef>
        <a:spcAft>
          <a:spcPct val="0"/>
        </a:spcAft>
        <a:defRPr sz="4400">
          <a:solidFill>
            <a:schemeClr val="tx1"/>
          </a:solidFill>
          <a:latin typeface="Calibri" pitchFamily="-111" charset="0"/>
          <a:ea typeface="ＭＳ Ｐゴシック" pitchFamily="-111" charset="-128"/>
          <a:cs typeface="ＭＳ Ｐゴシック" pitchFamily="-111"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pitchFamily="-111" charset="-128"/>
          <a:cs typeface="ＭＳ Ｐゴシック" pitchFamily="-111"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pitchFamily="-111"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pitchFamily="-111"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11"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11"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www.nce-rce.gc.ca/AnnualMeeting-ReunionAnnuelle/2011/index_eng.asp"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828800"/>
            <a:ext cx="8305800" cy="993775"/>
          </a:xfrm>
        </p:spPr>
        <p:txBody>
          <a:bodyPr rtlCol="0">
            <a:normAutofit/>
          </a:bodyPr>
          <a:lstStyle/>
          <a:p>
            <a:pPr algn="r" eaLnBrk="1" fontAlgn="auto" hangingPunct="1">
              <a:spcAft>
                <a:spcPts val="0"/>
              </a:spcAft>
              <a:defRPr/>
            </a:pPr>
            <a:r>
              <a:rPr lang="en-US" dirty="0" smtClean="0">
                <a:solidFill>
                  <a:srgbClr val="FFFFFF"/>
                </a:solidFill>
                <a:ea typeface="+mj-ea"/>
                <a:cs typeface="American Typewriter"/>
              </a:rPr>
              <a:t>Social Media Campaign</a:t>
            </a:r>
          </a:p>
        </p:txBody>
      </p:sp>
      <p:sp>
        <p:nvSpPr>
          <p:cNvPr id="15363" name="Subtitle 4"/>
          <p:cNvSpPr>
            <a:spLocks noGrp="1"/>
          </p:cNvSpPr>
          <p:nvPr>
            <p:ph type="subTitle" idx="1"/>
          </p:nvPr>
        </p:nvSpPr>
        <p:spPr>
          <a:xfrm>
            <a:off x="1371600" y="2590800"/>
            <a:ext cx="7543800" cy="1752600"/>
          </a:xfrm>
        </p:spPr>
        <p:txBody>
          <a:bodyPr/>
          <a:lstStyle/>
          <a:p>
            <a:pPr algn="r"/>
            <a:r>
              <a:rPr lang="en-US" dirty="0" smtClean="0">
                <a:solidFill>
                  <a:srgbClr val="898989"/>
                </a:solidFill>
                <a:ea typeface="ＭＳ Ｐゴシック" charset="-128"/>
                <a:cs typeface="ＭＳ Ｐゴシック" charset="-128"/>
              </a:rPr>
              <a:t>NCE Annual Meeting</a:t>
            </a:r>
            <a:br>
              <a:rPr lang="en-US" dirty="0" smtClean="0">
                <a:solidFill>
                  <a:srgbClr val="898989"/>
                </a:solidFill>
                <a:ea typeface="ＭＳ Ｐゴシック" charset="-128"/>
                <a:cs typeface="ＭＳ Ｐゴシック" charset="-128"/>
              </a:rPr>
            </a:br>
            <a:endParaRPr lang="en-US" dirty="0" smtClean="0">
              <a:solidFill>
                <a:srgbClr val="898989"/>
              </a:solidFill>
              <a:ea typeface="ＭＳ Ｐゴシック" charset="-128"/>
              <a:cs typeface="ＭＳ Ｐゴシック" charset="-128"/>
            </a:endParaRPr>
          </a:p>
          <a:p>
            <a:pPr algn="r"/>
            <a:endParaRPr lang="en-US" dirty="0" smtClean="0">
              <a:solidFill>
                <a:srgbClr val="898989"/>
              </a:solidFill>
              <a:ea typeface="ＭＳ Ｐゴシック" charset="-128"/>
              <a:cs typeface="ＭＳ Ｐゴシック" charset="-128"/>
            </a:endParaRPr>
          </a:p>
          <a:p>
            <a:pPr algn="r">
              <a:spcBef>
                <a:spcPct val="0"/>
              </a:spcBef>
            </a:pPr>
            <a:endParaRPr lang="en-US" sz="2400" dirty="0" smtClean="0">
              <a:solidFill>
                <a:schemeClr val="bg1"/>
              </a:solidFill>
              <a:ea typeface="ＭＳ Ｐゴシック" charset="-128"/>
              <a:cs typeface="ＭＳ Ｐゴシック" charset="-128"/>
            </a:endParaRPr>
          </a:p>
          <a:p>
            <a:pPr algn="r">
              <a:spcBef>
                <a:spcPct val="0"/>
              </a:spcBef>
            </a:pPr>
            <a:endParaRPr lang="en-US" sz="2400" dirty="0" smtClean="0">
              <a:solidFill>
                <a:schemeClr val="bg1"/>
              </a:solidFill>
              <a:ea typeface="ＭＳ Ｐゴシック" charset="-128"/>
              <a:cs typeface="ＭＳ Ｐゴシック" charset="-128"/>
            </a:endParaRPr>
          </a:p>
          <a:p>
            <a:pPr algn="r">
              <a:spcBef>
                <a:spcPct val="0"/>
              </a:spcBef>
            </a:pPr>
            <a:endParaRPr lang="en-US" sz="2400" dirty="0" smtClean="0">
              <a:solidFill>
                <a:schemeClr val="bg1"/>
              </a:solidFill>
              <a:ea typeface="ＭＳ Ｐゴシック" charset="-128"/>
              <a:cs typeface="ＭＳ Ｐゴシック" charset="-128"/>
            </a:endParaRPr>
          </a:p>
          <a:p>
            <a:pPr algn="r">
              <a:spcBef>
                <a:spcPct val="0"/>
              </a:spcBef>
            </a:pPr>
            <a:r>
              <a:rPr lang="en-US" sz="2400" b="1" dirty="0" smtClean="0">
                <a:solidFill>
                  <a:schemeClr val="bg1"/>
                </a:solidFill>
                <a:ea typeface="ＭＳ Ｐゴシック" charset="-128"/>
                <a:cs typeface="ＭＳ Ｐゴシック" charset="-128"/>
              </a:rPr>
              <a:t>Sarah Stewart</a:t>
            </a:r>
          </a:p>
          <a:p>
            <a:pPr algn="r">
              <a:spcBef>
                <a:spcPct val="0"/>
              </a:spcBef>
            </a:pPr>
            <a:r>
              <a:rPr lang="en-US" sz="2000" dirty="0" smtClean="0">
                <a:solidFill>
                  <a:schemeClr val="bg1"/>
                </a:solidFill>
                <a:ea typeface="ＭＳ Ｐゴシック" charset="-128"/>
                <a:cs typeface="ＭＳ Ｐゴシック" charset="-128"/>
              </a:rPr>
              <a:t>Communications Officer</a:t>
            </a:r>
          </a:p>
          <a:p>
            <a:pPr algn="r">
              <a:spcBef>
                <a:spcPct val="0"/>
              </a:spcBef>
            </a:pPr>
            <a:r>
              <a:rPr lang="en-US" sz="2000" dirty="0" smtClean="0">
                <a:solidFill>
                  <a:schemeClr val="bg1"/>
                </a:solidFill>
                <a:ea typeface="ＭＳ Ｐゴシック" charset="-128"/>
                <a:cs typeface="ＭＳ Ｐゴシック" charset="-128"/>
              </a:rPr>
              <a:t>Canadian Stroke Network</a:t>
            </a:r>
          </a:p>
        </p:txBody>
      </p:sp>
      <p:pic>
        <p:nvPicPr>
          <p:cNvPr id="15364" name="Picture 5" descr="CSN_Logo_hor_ef-WHITE.gif"/>
          <p:cNvPicPr>
            <a:picLocks noChangeAspect="1"/>
          </p:cNvPicPr>
          <p:nvPr/>
        </p:nvPicPr>
        <p:blipFill>
          <a:blip r:embed="rId3"/>
          <a:srcRect/>
          <a:stretch>
            <a:fillRect/>
          </a:stretch>
        </p:blipFill>
        <p:spPr bwMode="auto">
          <a:xfrm>
            <a:off x="304800" y="5056188"/>
            <a:ext cx="2743200" cy="16652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 name="Text Placeholder 17"/>
          <p:cNvSpPr>
            <a:spLocks noGrp="1"/>
          </p:cNvSpPr>
          <p:nvPr>
            <p:ph idx="1"/>
          </p:nvPr>
        </p:nvSpPr>
        <p:spPr>
          <a:ln>
            <a:solidFill>
              <a:schemeClr val="bg1"/>
            </a:solidFill>
          </a:ln>
        </p:spPr>
        <p:txBody>
          <a:bodyPr rtlCol="0">
            <a:normAutofit/>
          </a:bodyPr>
          <a:lstStyle/>
          <a:p>
            <a:pPr>
              <a:defRPr/>
            </a:pPr>
            <a:r>
              <a:rPr lang="en-US" sz="2800" dirty="0" smtClean="0">
                <a:solidFill>
                  <a:srgbClr val="17375E"/>
                </a:solidFill>
              </a:rPr>
              <a:t>Generate </a:t>
            </a:r>
            <a:r>
              <a:rPr lang="en-US" dirty="0" smtClean="0">
                <a:solidFill>
                  <a:schemeClr val="accent1">
                    <a:lumMod val="75000"/>
                  </a:schemeClr>
                </a:solidFill>
              </a:rPr>
              <a:t>awareness </a:t>
            </a:r>
            <a:r>
              <a:rPr lang="en-US" sz="2800" dirty="0" smtClean="0">
                <a:solidFill>
                  <a:srgbClr val="17375E"/>
                </a:solidFill>
              </a:rPr>
              <a:t>around the event</a:t>
            </a:r>
          </a:p>
          <a:p>
            <a:pPr>
              <a:defRPr/>
            </a:pPr>
            <a:r>
              <a:rPr lang="en-US" sz="2800" dirty="0" smtClean="0">
                <a:solidFill>
                  <a:srgbClr val="17375E"/>
                </a:solidFill>
              </a:rPr>
              <a:t>Encourage </a:t>
            </a:r>
            <a:r>
              <a:rPr lang="en-US" dirty="0" smtClean="0">
                <a:solidFill>
                  <a:srgbClr val="376092"/>
                </a:solidFill>
              </a:rPr>
              <a:t>networking</a:t>
            </a:r>
            <a:endParaRPr lang="en-US" sz="2800" dirty="0" smtClean="0">
              <a:solidFill>
                <a:srgbClr val="376092"/>
              </a:solidFill>
            </a:endParaRPr>
          </a:p>
          <a:p>
            <a:pPr>
              <a:defRPr/>
            </a:pPr>
            <a:r>
              <a:rPr lang="en-US" sz="2800" dirty="0" smtClean="0">
                <a:solidFill>
                  <a:srgbClr val="17375E"/>
                </a:solidFill>
              </a:rPr>
              <a:t>Promote </a:t>
            </a:r>
            <a:r>
              <a:rPr lang="en-US" dirty="0" smtClean="0">
                <a:solidFill>
                  <a:srgbClr val="376092"/>
                </a:solidFill>
              </a:rPr>
              <a:t>discussion </a:t>
            </a:r>
            <a:r>
              <a:rPr lang="en-US" sz="2800" dirty="0" smtClean="0">
                <a:solidFill>
                  <a:srgbClr val="17375E"/>
                </a:solidFill>
              </a:rPr>
              <a:t>about session topics</a:t>
            </a:r>
          </a:p>
          <a:p>
            <a:pPr>
              <a:defRPr/>
            </a:pPr>
            <a:r>
              <a:rPr lang="en-US" dirty="0" smtClean="0">
                <a:solidFill>
                  <a:srgbClr val="376092"/>
                </a:solidFill>
              </a:rPr>
              <a:t>Engage </a:t>
            </a:r>
            <a:r>
              <a:rPr lang="en-US" sz="2800" dirty="0" smtClean="0">
                <a:solidFill>
                  <a:srgbClr val="17375E"/>
                </a:solidFill>
              </a:rPr>
              <a:t>non-attendees</a:t>
            </a:r>
          </a:p>
          <a:p>
            <a:pPr>
              <a:defRPr/>
            </a:pPr>
            <a:r>
              <a:rPr lang="en-US" dirty="0" smtClean="0">
                <a:solidFill>
                  <a:srgbClr val="376092"/>
                </a:solidFill>
              </a:rPr>
              <a:t>Extend </a:t>
            </a:r>
            <a:r>
              <a:rPr lang="en-US" sz="2800" dirty="0" smtClean="0">
                <a:solidFill>
                  <a:srgbClr val="17375E"/>
                </a:solidFill>
              </a:rPr>
              <a:t>the life of the event.</a:t>
            </a:r>
          </a:p>
          <a:p>
            <a:pPr>
              <a:defRPr/>
            </a:pPr>
            <a:endParaRPr lang="en-US" sz="2800" dirty="0" smtClean="0">
              <a:solidFill>
                <a:srgbClr val="17375E"/>
              </a:solidFill>
            </a:endParaRPr>
          </a:p>
          <a:p>
            <a:pPr>
              <a:buFont typeface="Arial" charset="0"/>
              <a:buNone/>
              <a:defRPr/>
            </a:pPr>
            <a:endParaRPr lang="en-US" sz="2800" dirty="0" smtClean="0">
              <a:solidFill>
                <a:srgbClr val="17375E"/>
              </a:solidFill>
            </a:endParaRPr>
          </a:p>
        </p:txBody>
      </p:sp>
      <p:sp>
        <p:nvSpPr>
          <p:cNvPr id="5" name="Title 3"/>
          <p:cNvSpPr>
            <a:spLocks noGrp="1"/>
          </p:cNvSpPr>
          <p:nvPr>
            <p:ph type="title"/>
          </p:nvPr>
        </p:nvSpPr>
        <p:spPr>
          <a:xfrm>
            <a:off x="0" y="274638"/>
            <a:ext cx="8686800" cy="1143000"/>
          </a:xfrm>
          <a:solidFill>
            <a:schemeClr val="accent1">
              <a:alpha val="36000"/>
            </a:schemeClr>
          </a:solidFill>
        </p:spPr>
        <p:txBody>
          <a:bodyPr/>
          <a:lstStyle/>
          <a:p>
            <a:pPr lvl="3" algn="l">
              <a:defRPr/>
            </a:pPr>
            <a:r>
              <a:rPr lang="en-US" b="1" dirty="0" smtClean="0">
                <a:solidFill>
                  <a:schemeClr val="tx2">
                    <a:lumMod val="75000"/>
                  </a:schemeClr>
                </a:solidFill>
              </a:rPr>
              <a:t>	Why use Social Media?</a:t>
            </a:r>
            <a:endParaRPr lang="en-US" dirty="0">
              <a:solidFill>
                <a:schemeClr val="tx2">
                  <a:lumMod val="75000"/>
                </a:schemeClr>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 name="Text Placeholder 17"/>
          <p:cNvSpPr>
            <a:spLocks noGrp="1"/>
          </p:cNvSpPr>
          <p:nvPr>
            <p:ph idx="1"/>
          </p:nvPr>
        </p:nvSpPr>
        <p:spPr>
          <a:ln>
            <a:solidFill>
              <a:schemeClr val="bg1"/>
            </a:solidFill>
          </a:ln>
        </p:spPr>
        <p:txBody>
          <a:bodyPr rtlCol="0">
            <a:normAutofit/>
          </a:bodyPr>
          <a:lstStyle/>
          <a:p>
            <a:pPr>
              <a:defRPr/>
            </a:pPr>
            <a:r>
              <a:rPr lang="en-US" sz="2800" dirty="0" smtClean="0">
                <a:solidFill>
                  <a:srgbClr val="17375E"/>
                </a:solidFill>
              </a:rPr>
              <a:t>Website</a:t>
            </a:r>
            <a:r>
              <a:rPr lang="en-US" sz="2800" dirty="0" smtClean="0">
                <a:solidFill>
                  <a:srgbClr val="17375E"/>
                </a:solidFill>
                <a:hlinkClick r:id="rId3"/>
              </a:rPr>
              <a:t>http://www.nce-rce.gc.ca/AnnualMeeting-ReunionAnnuelle/2011/index_eng.asp</a:t>
            </a:r>
            <a:r>
              <a:rPr lang="en-US" sz="2800" dirty="0" smtClean="0">
                <a:solidFill>
                  <a:srgbClr val="17375E"/>
                </a:solidFill>
              </a:rPr>
              <a:t> </a:t>
            </a:r>
          </a:p>
          <a:p>
            <a:pPr>
              <a:defRPr/>
            </a:pPr>
            <a:r>
              <a:rPr lang="en-US" sz="2800" dirty="0" smtClean="0">
                <a:solidFill>
                  <a:srgbClr val="17375E"/>
                </a:solidFill>
              </a:rPr>
              <a:t>Email </a:t>
            </a:r>
          </a:p>
          <a:p>
            <a:pPr>
              <a:defRPr/>
            </a:pPr>
            <a:r>
              <a:rPr lang="en-US" sz="2800" dirty="0" smtClean="0">
                <a:solidFill>
                  <a:srgbClr val="17375E"/>
                </a:solidFill>
              </a:rPr>
              <a:t>To this we added:</a:t>
            </a:r>
          </a:p>
          <a:p>
            <a:pPr lvl="1">
              <a:defRPr/>
            </a:pPr>
            <a:r>
              <a:rPr lang="en-US" sz="2400" dirty="0" err="1" smtClean="0">
                <a:solidFill>
                  <a:srgbClr val="17375E"/>
                </a:solidFill>
              </a:rPr>
              <a:t>Facebook</a:t>
            </a:r>
            <a:r>
              <a:rPr lang="en-US" sz="2400" dirty="0" smtClean="0">
                <a:solidFill>
                  <a:srgbClr val="17375E"/>
                </a:solidFill>
              </a:rPr>
              <a:t> page</a:t>
            </a:r>
          </a:p>
          <a:p>
            <a:pPr lvl="1">
              <a:defRPr/>
            </a:pPr>
            <a:r>
              <a:rPr lang="en-US" sz="2400" dirty="0" smtClean="0">
                <a:solidFill>
                  <a:srgbClr val="17375E"/>
                </a:solidFill>
              </a:rPr>
              <a:t>Twitter account</a:t>
            </a:r>
          </a:p>
          <a:p>
            <a:pPr lvl="1">
              <a:defRPr/>
            </a:pPr>
            <a:endParaRPr lang="en-US" sz="2400" dirty="0" smtClean="0">
              <a:solidFill>
                <a:srgbClr val="17375E"/>
              </a:solidFill>
            </a:endParaRPr>
          </a:p>
          <a:p>
            <a:pPr lvl="1">
              <a:buNone/>
              <a:defRPr/>
            </a:pPr>
            <a:endParaRPr lang="en-US" sz="2000" dirty="0" smtClean="0">
              <a:solidFill>
                <a:srgbClr val="376092"/>
              </a:solidFill>
            </a:endParaRPr>
          </a:p>
          <a:p>
            <a:pPr indent="0">
              <a:buNone/>
              <a:defRPr/>
            </a:pPr>
            <a:endParaRPr lang="en-US" sz="2800" dirty="0" smtClean="0">
              <a:solidFill>
                <a:srgbClr val="17375E"/>
              </a:solidFill>
            </a:endParaRPr>
          </a:p>
        </p:txBody>
      </p:sp>
      <p:sp>
        <p:nvSpPr>
          <p:cNvPr id="5" name="Title 3"/>
          <p:cNvSpPr>
            <a:spLocks noGrp="1"/>
          </p:cNvSpPr>
          <p:nvPr>
            <p:ph type="title"/>
          </p:nvPr>
        </p:nvSpPr>
        <p:spPr>
          <a:xfrm>
            <a:off x="0" y="274638"/>
            <a:ext cx="8686800" cy="1143000"/>
          </a:xfrm>
          <a:solidFill>
            <a:schemeClr val="accent1">
              <a:alpha val="36000"/>
            </a:schemeClr>
          </a:solidFill>
        </p:spPr>
        <p:txBody>
          <a:bodyPr/>
          <a:lstStyle/>
          <a:p>
            <a:pPr lvl="3" algn="l">
              <a:defRPr/>
            </a:pPr>
            <a:r>
              <a:rPr lang="en-US" b="1" dirty="0" smtClean="0">
                <a:solidFill>
                  <a:schemeClr val="tx2">
                    <a:lumMod val="75000"/>
                  </a:schemeClr>
                </a:solidFill>
              </a:rPr>
              <a:t>	Event Marketing</a:t>
            </a:r>
            <a:endParaRPr lang="en-US" dirty="0">
              <a:solidFill>
                <a:schemeClr val="tx2">
                  <a:lumMod val="75000"/>
                </a:schemeClr>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rgbClr val="1F497D"/>
                </a:solidFill>
              </a:rPr>
              <a:t>twitter</a:t>
            </a:r>
            <a:endParaRPr lang="en-US" dirty="0">
              <a:solidFill>
                <a:srgbClr val="1F497D"/>
              </a:solidFill>
            </a:endParaRPr>
          </a:p>
        </p:txBody>
      </p:sp>
      <p:sp>
        <p:nvSpPr>
          <p:cNvPr id="5" name="Text Placeholder 4"/>
          <p:cNvSpPr>
            <a:spLocks noGrp="1"/>
          </p:cNvSpPr>
          <p:nvPr>
            <p:ph type="body" idx="1"/>
          </p:nvPr>
        </p:nvSpPr>
        <p:spPr/>
        <p:txBody>
          <a:bodyPr/>
          <a:lstStyle/>
          <a:p>
            <a:r>
              <a:rPr lang="en-US" dirty="0" smtClean="0"/>
              <a:t>users send &amp; receive real time posts of up to 140 characters (tweets) which are displayed on the user's profile page &amp; received by followers *</a:t>
            </a:r>
            <a:endParaRPr lang="en-US" dirty="0"/>
          </a:p>
        </p:txBody>
      </p:sp>
      <p:sp>
        <p:nvSpPr>
          <p:cNvPr id="6" name="TextBox 5"/>
          <p:cNvSpPr txBox="1"/>
          <p:nvPr/>
        </p:nvSpPr>
        <p:spPr>
          <a:xfrm>
            <a:off x="381000" y="6367790"/>
            <a:ext cx="8305800" cy="261610"/>
          </a:xfrm>
          <a:prstGeom prst="rect">
            <a:avLst/>
          </a:prstGeom>
          <a:noFill/>
        </p:spPr>
        <p:txBody>
          <a:bodyPr wrap="square" rtlCol="0">
            <a:spAutoFit/>
          </a:bodyPr>
          <a:lstStyle/>
          <a:p>
            <a:pPr algn="r"/>
            <a:r>
              <a:rPr lang="en-US" sz="1100" i="1" dirty="0" smtClean="0">
                <a:solidFill>
                  <a:schemeClr val="tx1">
                    <a:lumMod val="75000"/>
                    <a:lumOff val="25000"/>
                  </a:schemeClr>
                </a:solidFill>
              </a:rPr>
              <a:t>* My 140 character description of Twitter.  Ironically, Twitter does not have an official 140 character description of its own. #fail</a:t>
            </a:r>
            <a:endParaRPr lang="en-US" sz="1100" i="1" dirty="0">
              <a:solidFill>
                <a:schemeClr val="tx1">
                  <a:lumMod val="75000"/>
                  <a:lumOff val="25000"/>
                </a:schemeClr>
              </a:solidFill>
            </a:endParaRPr>
          </a:p>
        </p:txBody>
      </p:sp>
      <p:pic>
        <p:nvPicPr>
          <p:cNvPr id="7" name="Picture 6" descr="twitter-bird-logo.jpg"/>
          <p:cNvPicPr>
            <a:picLocks noChangeAspect="1"/>
          </p:cNvPicPr>
          <p:nvPr/>
        </p:nvPicPr>
        <p:blipFill>
          <a:blip r:embed="rId3"/>
          <a:stretch>
            <a:fillRect/>
          </a:stretch>
        </p:blipFill>
        <p:spPr>
          <a:xfrm>
            <a:off x="2895600" y="685800"/>
            <a:ext cx="2855285" cy="285528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lumMod val="75000"/>
          </a:schemeClr>
        </a:solidFill>
        <a:effectLst/>
      </p:bgPr>
    </p:bg>
    <p:spTree>
      <p:nvGrpSpPr>
        <p:cNvPr id="1" name=""/>
        <p:cNvGrpSpPr/>
        <p:nvPr/>
      </p:nvGrpSpPr>
      <p:grpSpPr>
        <a:xfrm>
          <a:off x="0" y="0"/>
          <a:ext cx="0" cy="0"/>
          <a:chOff x="0" y="0"/>
          <a:chExt cx="0" cy="0"/>
        </a:xfrm>
      </p:grpSpPr>
      <p:pic>
        <p:nvPicPr>
          <p:cNvPr id="4" name="Picture 3" descr="twitter.png"/>
          <p:cNvPicPr>
            <a:picLocks noChangeAspect="1"/>
          </p:cNvPicPr>
          <p:nvPr/>
        </p:nvPicPr>
        <p:blipFill>
          <a:blip r:embed="rId3"/>
          <a:stretch>
            <a:fillRect/>
          </a:stretch>
        </p:blipFill>
        <p:spPr>
          <a:xfrm>
            <a:off x="267151" y="0"/>
            <a:ext cx="8609698" cy="68580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 name="Content Placeholder 9"/>
          <p:cNvSpPr>
            <a:spLocks noGrp="1"/>
          </p:cNvSpPr>
          <p:nvPr>
            <p:ph idx="1"/>
          </p:nvPr>
        </p:nvSpPr>
        <p:spPr/>
        <p:txBody>
          <a:bodyPr/>
          <a:lstStyle/>
          <a:p>
            <a:r>
              <a:rPr lang="en-US" dirty="0" smtClean="0"/>
              <a:t>22 scheduled general tweets</a:t>
            </a:r>
          </a:p>
          <a:p>
            <a:r>
              <a:rPr lang="en-US" dirty="0" err="1" smtClean="0"/>
              <a:t>Hashtag</a:t>
            </a:r>
            <a:r>
              <a:rPr lang="en-US" dirty="0" smtClean="0"/>
              <a:t>: #NCExcellence2011</a:t>
            </a:r>
          </a:p>
        </p:txBody>
      </p:sp>
      <p:sp>
        <p:nvSpPr>
          <p:cNvPr id="4" name="Title 3"/>
          <p:cNvSpPr>
            <a:spLocks noGrp="1"/>
          </p:cNvSpPr>
          <p:nvPr>
            <p:ph type="title"/>
          </p:nvPr>
        </p:nvSpPr>
        <p:spPr>
          <a:xfrm>
            <a:off x="0" y="274638"/>
            <a:ext cx="8686800" cy="1143000"/>
          </a:xfrm>
          <a:solidFill>
            <a:schemeClr val="accent1">
              <a:alpha val="36000"/>
            </a:schemeClr>
          </a:solidFill>
        </p:spPr>
        <p:txBody>
          <a:bodyPr/>
          <a:lstStyle/>
          <a:p>
            <a:pPr lvl="3" algn="l">
              <a:defRPr/>
            </a:pPr>
            <a:r>
              <a:rPr lang="en-US" b="1" dirty="0" smtClean="0">
                <a:solidFill>
                  <a:schemeClr val="tx2">
                    <a:lumMod val="75000"/>
                  </a:schemeClr>
                </a:solidFill>
              </a:rPr>
              <a:t>	The Leg Work</a:t>
            </a:r>
            <a:endParaRPr lang="en-US" dirty="0">
              <a:solidFill>
                <a:schemeClr val="tx2">
                  <a:lumMod val="75000"/>
                </a:schemeClr>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txBox="1">
            <a:spLocks/>
          </p:cNvSpPr>
          <p:nvPr/>
        </p:nvSpPr>
        <p:spPr bwMode="auto">
          <a:xfrm>
            <a:off x="0" y="274638"/>
            <a:ext cx="8686800" cy="1143000"/>
          </a:xfrm>
          <a:prstGeom prst="rect">
            <a:avLst/>
          </a:prstGeom>
          <a:solidFill>
            <a:schemeClr val="accent1">
              <a:alpha val="36000"/>
            </a:schemeClr>
          </a:solidFill>
          <a:ln w="9525">
            <a:noFill/>
            <a:miter lim="800000"/>
            <a:headEnd/>
            <a:tailEnd/>
          </a:ln>
        </p:spPr>
        <p:txBody>
          <a:bodyPr vert="horz" wrap="square" lIns="91440" tIns="45720" rIns="91440" bIns="45720" numCol="1" anchor="ctr" anchorCtr="0" compatLnSpc="1">
            <a:prstTxWarp prst="textNoShape">
              <a:avLst/>
            </a:prstTxWarp>
          </a:bodyPr>
          <a:lstStyle/>
          <a:p>
            <a:pPr marL="0" marR="0" lvl="3" indent="0" algn="l" defTabSz="457200" rtl="0" eaLnBrk="0" fontAlgn="base" latinLnBrk="0" hangingPunct="0">
              <a:lnSpc>
                <a:spcPct val="100000"/>
              </a:lnSpc>
              <a:spcBef>
                <a:spcPct val="0"/>
              </a:spcBef>
              <a:spcAft>
                <a:spcPct val="0"/>
              </a:spcAft>
              <a:buClrTx/>
              <a:buSzTx/>
              <a:buFontTx/>
              <a:buNone/>
              <a:tabLst/>
              <a:defRPr/>
            </a:pPr>
            <a:r>
              <a:rPr kumimoji="0" lang="en-US" sz="4400" b="1" i="0" u="none" strike="noStrike" kern="0" cap="none" spc="0" normalizeH="0" baseline="0" noProof="0" dirty="0" smtClean="0">
                <a:ln>
                  <a:noFill/>
                </a:ln>
                <a:solidFill>
                  <a:schemeClr val="tx2">
                    <a:lumMod val="75000"/>
                  </a:schemeClr>
                </a:solidFill>
                <a:effectLst/>
                <a:uLnTx/>
                <a:uFillTx/>
                <a:latin typeface="Calibri" pitchFamily="-111" charset="0"/>
                <a:ea typeface="ＭＳ Ｐゴシック" pitchFamily="-111" charset="-128"/>
                <a:cs typeface="ＭＳ Ｐゴシック" pitchFamily="-111" charset="-128"/>
              </a:rPr>
              <a:t>	The </a:t>
            </a:r>
            <a:r>
              <a:rPr lang="en-US" sz="4400" b="1" kern="0" dirty="0" smtClean="0">
                <a:solidFill>
                  <a:schemeClr val="tx2">
                    <a:lumMod val="75000"/>
                  </a:schemeClr>
                </a:solidFill>
                <a:latin typeface="Calibri" pitchFamily="-111" charset="0"/>
                <a:ea typeface="ＭＳ Ｐゴシック" pitchFamily="-111" charset="-128"/>
                <a:cs typeface="ＭＳ Ｐゴシック" pitchFamily="-111" charset="-128"/>
              </a:rPr>
              <a:t>Audience</a:t>
            </a:r>
            <a:endParaRPr kumimoji="0" lang="en-US" sz="4400" b="0" i="0" u="none" strike="noStrike" kern="0" cap="none" spc="0" normalizeH="0" baseline="0" noProof="0" dirty="0">
              <a:ln>
                <a:noFill/>
              </a:ln>
              <a:solidFill>
                <a:schemeClr val="tx2">
                  <a:lumMod val="75000"/>
                </a:schemeClr>
              </a:solidFill>
              <a:effectLst/>
              <a:uLnTx/>
              <a:uFillTx/>
              <a:latin typeface="Calibri" pitchFamily="-111" charset="0"/>
              <a:ea typeface="ＭＳ Ｐゴシック" pitchFamily="-111" charset="-128"/>
              <a:cs typeface="ＭＳ Ｐゴシック" pitchFamily="-111" charset="-128"/>
            </a:endParaRPr>
          </a:p>
        </p:txBody>
      </p:sp>
      <p:sp>
        <p:nvSpPr>
          <p:cNvPr id="12" name="Content Placeholder 11"/>
          <p:cNvSpPr>
            <a:spLocks noGrp="1"/>
          </p:cNvSpPr>
          <p:nvPr>
            <p:ph idx="1"/>
          </p:nvPr>
        </p:nvSpPr>
        <p:spPr/>
        <p:txBody>
          <a:bodyPr/>
          <a:lstStyle/>
          <a:p>
            <a:r>
              <a:rPr lang="en-US" dirty="0" smtClean="0"/>
              <a:t>Following 37</a:t>
            </a:r>
          </a:p>
          <a:p>
            <a:pPr lvl="1"/>
            <a:r>
              <a:rPr lang="en-US" dirty="0" smtClean="0"/>
              <a:t>Primarily from NCE</a:t>
            </a:r>
          </a:p>
          <a:p>
            <a:r>
              <a:rPr lang="en-US" dirty="0" smtClean="0"/>
              <a:t>30 followers</a:t>
            </a:r>
          </a:p>
          <a:p>
            <a:pPr lvl="1">
              <a:buNone/>
            </a:pPr>
            <a:endParaRPr lang="en-US" dirty="0" smtClean="0"/>
          </a:p>
          <a:p>
            <a:pPr lvl="1">
              <a:buNone/>
            </a:pPr>
            <a:endParaRPr lang="en-US"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txBox="1">
            <a:spLocks/>
          </p:cNvSpPr>
          <p:nvPr/>
        </p:nvSpPr>
        <p:spPr bwMode="auto">
          <a:xfrm>
            <a:off x="0" y="274638"/>
            <a:ext cx="8686800" cy="1143000"/>
          </a:xfrm>
          <a:prstGeom prst="rect">
            <a:avLst/>
          </a:prstGeom>
          <a:solidFill>
            <a:schemeClr val="accent1">
              <a:alpha val="36000"/>
            </a:schemeClr>
          </a:solidFill>
          <a:ln w="9525">
            <a:noFill/>
            <a:miter lim="800000"/>
            <a:headEnd/>
            <a:tailEnd/>
          </a:ln>
        </p:spPr>
        <p:txBody>
          <a:bodyPr vert="horz" wrap="square" lIns="91440" tIns="45720" rIns="91440" bIns="45720" numCol="1" anchor="ctr" anchorCtr="0" compatLnSpc="1">
            <a:prstTxWarp prst="textNoShape">
              <a:avLst/>
            </a:prstTxWarp>
          </a:bodyPr>
          <a:lstStyle/>
          <a:p>
            <a:pPr marL="0" marR="0" lvl="3" indent="0" algn="l" defTabSz="457200" rtl="0" eaLnBrk="0" fontAlgn="base" latinLnBrk="0" hangingPunct="0">
              <a:lnSpc>
                <a:spcPct val="100000"/>
              </a:lnSpc>
              <a:spcBef>
                <a:spcPct val="0"/>
              </a:spcBef>
              <a:spcAft>
                <a:spcPct val="0"/>
              </a:spcAft>
              <a:buClrTx/>
              <a:buSzTx/>
              <a:buFontTx/>
              <a:buNone/>
              <a:tabLst/>
              <a:defRPr/>
            </a:pPr>
            <a:r>
              <a:rPr kumimoji="0" lang="en-US" sz="4400" b="1" i="0" u="none" strike="noStrike" kern="0" cap="none" spc="0" normalizeH="0" baseline="0" noProof="0" dirty="0" smtClean="0">
                <a:ln>
                  <a:noFill/>
                </a:ln>
                <a:solidFill>
                  <a:schemeClr val="tx2">
                    <a:lumMod val="75000"/>
                  </a:schemeClr>
                </a:solidFill>
                <a:effectLst/>
                <a:uLnTx/>
                <a:uFillTx/>
                <a:latin typeface="Calibri" pitchFamily="-111" charset="0"/>
                <a:ea typeface="ＭＳ Ｐゴシック" pitchFamily="-111" charset="-128"/>
                <a:cs typeface="ＭＳ Ｐゴシック" pitchFamily="-111" charset="-128"/>
              </a:rPr>
              <a:t>	Building the Conversation</a:t>
            </a:r>
            <a:endParaRPr kumimoji="0" lang="en-US" sz="4400" b="0" i="0" u="none" strike="noStrike" kern="0" cap="none" spc="0" normalizeH="0" baseline="0" noProof="0" dirty="0">
              <a:ln>
                <a:noFill/>
              </a:ln>
              <a:solidFill>
                <a:schemeClr val="tx2">
                  <a:lumMod val="75000"/>
                </a:schemeClr>
              </a:solidFill>
              <a:effectLst/>
              <a:uLnTx/>
              <a:uFillTx/>
              <a:latin typeface="Calibri" pitchFamily="-111" charset="0"/>
              <a:ea typeface="ＭＳ Ｐゴシック" pitchFamily="-111" charset="-128"/>
              <a:cs typeface="ＭＳ Ｐゴシック" pitchFamily="-111" charset="-128"/>
            </a:endParaRPr>
          </a:p>
        </p:txBody>
      </p:sp>
      <p:sp>
        <p:nvSpPr>
          <p:cNvPr id="12" name="Content Placeholder 11"/>
          <p:cNvSpPr>
            <a:spLocks noGrp="1"/>
          </p:cNvSpPr>
          <p:nvPr>
            <p:ph idx="1"/>
          </p:nvPr>
        </p:nvSpPr>
        <p:spPr/>
        <p:txBody>
          <a:bodyPr/>
          <a:lstStyle/>
          <a:p>
            <a:r>
              <a:rPr lang="en-US" dirty="0" smtClean="0"/>
              <a:t>54 tweets sent</a:t>
            </a:r>
          </a:p>
          <a:p>
            <a:pPr lvl="1"/>
            <a:r>
              <a:rPr lang="en-US" dirty="0" smtClean="0"/>
              <a:t>From scheduled list</a:t>
            </a:r>
          </a:p>
          <a:p>
            <a:pPr lvl="1"/>
            <a:r>
              <a:rPr lang="en-US" dirty="0" smtClean="0"/>
              <a:t>Answering questions</a:t>
            </a:r>
          </a:p>
          <a:p>
            <a:pPr lvl="1"/>
            <a:r>
              <a:rPr lang="en-US" dirty="0" err="1" smtClean="0"/>
              <a:t>Retweeted</a:t>
            </a:r>
            <a:endParaRPr lang="en-US" dirty="0" smtClean="0"/>
          </a:p>
          <a:p>
            <a:r>
              <a:rPr lang="en-US" dirty="0" smtClean="0"/>
              <a:t>5 </a:t>
            </a:r>
            <a:r>
              <a:rPr lang="en-US" dirty="0" err="1" smtClean="0"/>
              <a:t>retweets</a:t>
            </a:r>
            <a:r>
              <a:rPr lang="en-US" dirty="0" smtClean="0"/>
              <a:t> from followers</a:t>
            </a:r>
          </a:p>
          <a:p>
            <a:r>
              <a:rPr lang="en-US" dirty="0" smtClean="0"/>
              <a:t>13 mentions</a:t>
            </a:r>
          </a:p>
          <a:p>
            <a:pPr lvl="1">
              <a:buNone/>
            </a:pPr>
            <a:endParaRPr lang="en-US" dirty="0" smtClean="0"/>
          </a:p>
          <a:p>
            <a:pPr lvl="1">
              <a:buNone/>
            </a:pPr>
            <a:endParaRPr lang="en-US" dirty="0" smtClean="0"/>
          </a:p>
          <a:p>
            <a:pPr lvl="1">
              <a:buNone/>
            </a:pPr>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rgbClr val="003F92"/>
        </a:solidFill>
        <a:effectLst/>
      </p:bgPr>
    </p:bg>
    <p:spTree>
      <p:nvGrpSpPr>
        <p:cNvPr id="1" name=""/>
        <p:cNvGrpSpPr/>
        <p:nvPr/>
      </p:nvGrpSpPr>
      <p:grpSpPr>
        <a:xfrm>
          <a:off x="0" y="0"/>
          <a:ext cx="0" cy="0"/>
          <a:chOff x="0" y="0"/>
          <a:chExt cx="0" cy="0"/>
        </a:xfrm>
      </p:grpSpPr>
      <p:pic>
        <p:nvPicPr>
          <p:cNvPr id="109570" name="Picture 4" descr="facebook.jpg"/>
          <p:cNvPicPr>
            <a:picLocks noChangeAspect="1"/>
          </p:cNvPicPr>
          <p:nvPr/>
        </p:nvPicPr>
        <p:blipFill>
          <a:blip r:embed="rId3"/>
          <a:srcRect/>
          <a:stretch>
            <a:fillRect/>
          </a:stretch>
        </p:blipFill>
        <p:spPr bwMode="auto">
          <a:xfrm>
            <a:off x="914400" y="762000"/>
            <a:ext cx="7294936" cy="2743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rgbClr val="000090"/>
        </a:solidFill>
        <a:effectLst/>
      </p:bgPr>
    </p:bg>
    <p:spTree>
      <p:nvGrpSpPr>
        <p:cNvPr id="1" name=""/>
        <p:cNvGrpSpPr/>
        <p:nvPr/>
      </p:nvGrpSpPr>
      <p:grpSpPr>
        <a:xfrm>
          <a:off x="0" y="0"/>
          <a:ext cx="0" cy="0"/>
          <a:chOff x="0" y="0"/>
          <a:chExt cx="0" cy="0"/>
        </a:xfrm>
      </p:grpSpPr>
      <p:pic>
        <p:nvPicPr>
          <p:cNvPr id="4" name="Picture 3" descr="Facebook.png"/>
          <p:cNvPicPr>
            <a:picLocks noChangeAspect="1"/>
          </p:cNvPicPr>
          <p:nvPr/>
        </p:nvPicPr>
        <p:blipFill>
          <a:blip r:embed="rId3"/>
          <a:stretch>
            <a:fillRect/>
          </a:stretch>
        </p:blipFill>
        <p:spPr>
          <a:xfrm>
            <a:off x="1096165" y="0"/>
            <a:ext cx="6951670" cy="685800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Notes</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txBox="1">
            <a:spLocks/>
          </p:cNvSpPr>
          <p:nvPr/>
        </p:nvSpPr>
        <p:spPr bwMode="auto">
          <a:xfrm>
            <a:off x="0" y="274638"/>
            <a:ext cx="8686800" cy="1143000"/>
          </a:xfrm>
          <a:prstGeom prst="rect">
            <a:avLst/>
          </a:prstGeom>
          <a:solidFill>
            <a:schemeClr val="accent1">
              <a:alpha val="36000"/>
            </a:schemeClr>
          </a:solidFill>
          <a:ln w="9525">
            <a:noFill/>
            <a:miter lim="800000"/>
            <a:headEnd/>
            <a:tailEnd/>
          </a:ln>
        </p:spPr>
        <p:txBody>
          <a:bodyPr vert="horz" wrap="square" lIns="91440" tIns="45720" rIns="91440" bIns="45720" numCol="1" anchor="ctr" anchorCtr="0" compatLnSpc="1">
            <a:prstTxWarp prst="textNoShape">
              <a:avLst/>
            </a:prstTxWarp>
          </a:bodyPr>
          <a:lstStyle/>
          <a:p>
            <a:pPr marL="0" marR="0" lvl="3" indent="0" algn="l" defTabSz="457200" rtl="0" eaLnBrk="0" fontAlgn="base" latinLnBrk="0" hangingPunct="0">
              <a:lnSpc>
                <a:spcPct val="100000"/>
              </a:lnSpc>
              <a:spcBef>
                <a:spcPct val="0"/>
              </a:spcBef>
              <a:spcAft>
                <a:spcPct val="0"/>
              </a:spcAft>
              <a:buClrTx/>
              <a:buSzTx/>
              <a:buFontTx/>
              <a:buNone/>
              <a:tabLst/>
              <a:defRPr/>
            </a:pPr>
            <a:r>
              <a:rPr kumimoji="0" lang="en-US" sz="4400" b="1" i="0" u="none" strike="noStrike" kern="0" cap="none" spc="0" normalizeH="0" baseline="0" noProof="0" dirty="0" smtClean="0">
                <a:ln>
                  <a:noFill/>
                </a:ln>
                <a:solidFill>
                  <a:schemeClr val="tx2">
                    <a:lumMod val="75000"/>
                  </a:schemeClr>
                </a:solidFill>
                <a:effectLst/>
                <a:uLnTx/>
                <a:uFillTx/>
                <a:latin typeface="Calibri" pitchFamily="-111" charset="0"/>
                <a:ea typeface="ＭＳ Ｐゴシック" pitchFamily="-111" charset="-128"/>
                <a:cs typeface="ＭＳ Ｐゴシック" pitchFamily="-111" charset="-128"/>
              </a:rPr>
              <a:t>	</a:t>
            </a:r>
            <a:r>
              <a:rPr lang="en-US" sz="4400" b="1" kern="0" dirty="0" smtClean="0">
                <a:solidFill>
                  <a:schemeClr val="tx2">
                    <a:lumMod val="75000"/>
                  </a:schemeClr>
                </a:solidFill>
                <a:latin typeface="Calibri" pitchFamily="-111" charset="0"/>
                <a:ea typeface="ＭＳ Ｐゴシック" pitchFamily="-111" charset="-128"/>
                <a:cs typeface="ＭＳ Ｐゴシック" pitchFamily="-111" charset="-128"/>
              </a:rPr>
              <a:t>Lessons Learned</a:t>
            </a:r>
            <a:endParaRPr kumimoji="0" lang="en-US" sz="4400" b="0" i="0" u="none" strike="noStrike" kern="0" cap="none" spc="0" normalizeH="0" baseline="0" noProof="0" dirty="0">
              <a:ln>
                <a:noFill/>
              </a:ln>
              <a:solidFill>
                <a:schemeClr val="tx2">
                  <a:lumMod val="75000"/>
                </a:schemeClr>
              </a:solidFill>
              <a:effectLst/>
              <a:uLnTx/>
              <a:uFillTx/>
              <a:latin typeface="Calibri" pitchFamily="-111" charset="0"/>
              <a:ea typeface="ＭＳ Ｐゴシック" pitchFamily="-111" charset="-128"/>
              <a:cs typeface="ＭＳ Ｐゴシック" pitchFamily="-111" charset="-128"/>
            </a:endParaRPr>
          </a:p>
        </p:txBody>
      </p:sp>
      <p:sp>
        <p:nvSpPr>
          <p:cNvPr id="12" name="Content Placeholder 11"/>
          <p:cNvSpPr>
            <a:spLocks noGrp="1"/>
          </p:cNvSpPr>
          <p:nvPr>
            <p:ph idx="1"/>
          </p:nvPr>
        </p:nvSpPr>
        <p:spPr/>
        <p:txBody>
          <a:bodyPr/>
          <a:lstStyle/>
          <a:p>
            <a:r>
              <a:rPr lang="en-US" sz="2400" dirty="0" smtClean="0"/>
              <a:t>Timing</a:t>
            </a:r>
          </a:p>
          <a:p>
            <a:pPr lvl="1"/>
            <a:r>
              <a:rPr lang="en-US" sz="2000" dirty="0" smtClean="0"/>
              <a:t>Social media campaign needs to begin MUCH sooner. (suggest beginning SM campaign for 2012 meeting now)</a:t>
            </a:r>
          </a:p>
          <a:p>
            <a:r>
              <a:rPr lang="en-US" sz="2400" dirty="0" smtClean="0"/>
              <a:t>Visibility</a:t>
            </a:r>
          </a:p>
          <a:p>
            <a:pPr lvl="1"/>
            <a:r>
              <a:rPr lang="en-US" sz="2000" dirty="0" smtClean="0"/>
              <a:t>Twitter feed should be included on NCE home page, and links should be on all material.</a:t>
            </a:r>
          </a:p>
          <a:p>
            <a:r>
              <a:rPr lang="en-US" sz="2400" dirty="0" smtClean="0"/>
              <a:t>Quality Information*</a:t>
            </a:r>
          </a:p>
          <a:p>
            <a:pPr lvl="1"/>
            <a:r>
              <a:rPr lang="en-US" sz="2000" dirty="0" smtClean="0"/>
              <a:t>Don’t tweet just for tweet’s sake. Tweet info people want immediate access to (link to registration, link to program, etc.)</a:t>
            </a:r>
          </a:p>
          <a:p>
            <a:pPr lvl="1"/>
            <a:r>
              <a:rPr lang="en-US" sz="2000" dirty="0" smtClean="0"/>
              <a:t>Having a low feedback rate doesn’t necessarily indicate ineffectiveness. An organization’s twitter page can become a great “go-to” space for links to useful information.</a:t>
            </a:r>
          </a:p>
          <a:p>
            <a:pPr lvl="1">
              <a:buNone/>
            </a:pPr>
            <a:endParaRPr lang="en-US" sz="2000" dirty="0" smtClean="0"/>
          </a:p>
          <a:p>
            <a:pPr lvl="1">
              <a:buNone/>
            </a:pPr>
            <a:endParaRPr lang="en-US" sz="20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txBox="1">
            <a:spLocks/>
          </p:cNvSpPr>
          <p:nvPr/>
        </p:nvSpPr>
        <p:spPr bwMode="auto">
          <a:xfrm>
            <a:off x="0" y="274638"/>
            <a:ext cx="8686800" cy="1143000"/>
          </a:xfrm>
          <a:prstGeom prst="rect">
            <a:avLst/>
          </a:prstGeom>
          <a:solidFill>
            <a:schemeClr val="accent1">
              <a:alpha val="36000"/>
            </a:schemeClr>
          </a:solidFill>
          <a:ln w="9525">
            <a:noFill/>
            <a:miter lim="800000"/>
            <a:headEnd/>
            <a:tailEnd/>
          </a:ln>
        </p:spPr>
        <p:txBody>
          <a:bodyPr vert="horz" wrap="square" lIns="91440" tIns="45720" rIns="91440" bIns="45720" numCol="1" anchor="ctr" anchorCtr="0" compatLnSpc="1">
            <a:prstTxWarp prst="textNoShape">
              <a:avLst/>
            </a:prstTxWarp>
          </a:bodyPr>
          <a:lstStyle/>
          <a:p>
            <a:pPr marL="0" marR="0" lvl="3" indent="0" algn="l" defTabSz="457200" rtl="0" eaLnBrk="0" fontAlgn="base" latinLnBrk="0" hangingPunct="0">
              <a:lnSpc>
                <a:spcPct val="100000"/>
              </a:lnSpc>
              <a:spcBef>
                <a:spcPct val="0"/>
              </a:spcBef>
              <a:spcAft>
                <a:spcPct val="0"/>
              </a:spcAft>
              <a:buClrTx/>
              <a:buSzTx/>
              <a:buFontTx/>
              <a:buNone/>
              <a:tabLst/>
              <a:defRPr/>
            </a:pPr>
            <a:r>
              <a:rPr kumimoji="0" lang="en-US" sz="4400" b="1" i="0" u="none" strike="noStrike" kern="0" cap="none" spc="0" normalizeH="0" baseline="0" noProof="0" dirty="0" smtClean="0">
                <a:ln>
                  <a:noFill/>
                </a:ln>
                <a:solidFill>
                  <a:schemeClr val="tx2">
                    <a:lumMod val="75000"/>
                  </a:schemeClr>
                </a:solidFill>
                <a:effectLst/>
                <a:uLnTx/>
                <a:uFillTx/>
                <a:latin typeface="Calibri" pitchFamily="-111" charset="0"/>
                <a:ea typeface="ＭＳ Ｐゴシック" pitchFamily="-111" charset="-128"/>
                <a:cs typeface="ＭＳ Ｐゴシック" pitchFamily="-111" charset="-128"/>
              </a:rPr>
              <a:t>	</a:t>
            </a:r>
            <a:r>
              <a:rPr lang="en-US" sz="4400" b="1" kern="0" noProof="0" dirty="0" smtClean="0">
                <a:solidFill>
                  <a:schemeClr val="tx2">
                    <a:lumMod val="75000"/>
                  </a:schemeClr>
                </a:solidFill>
                <a:latin typeface="Calibri" pitchFamily="-111" charset="0"/>
                <a:ea typeface="ＭＳ Ｐゴシック" pitchFamily="-111" charset="-128"/>
                <a:cs typeface="ＭＳ Ｐゴシック" pitchFamily="-111" charset="-128"/>
              </a:rPr>
              <a:t>Going Forward</a:t>
            </a:r>
            <a:endParaRPr kumimoji="0" lang="en-US" sz="4400" b="0" i="0" u="none" strike="noStrike" kern="0" cap="none" spc="0" normalizeH="0" baseline="0" noProof="0" dirty="0">
              <a:ln>
                <a:noFill/>
              </a:ln>
              <a:solidFill>
                <a:schemeClr val="tx2">
                  <a:lumMod val="75000"/>
                </a:schemeClr>
              </a:solidFill>
              <a:effectLst/>
              <a:uLnTx/>
              <a:uFillTx/>
              <a:latin typeface="Calibri" pitchFamily="-111" charset="0"/>
              <a:ea typeface="ＭＳ Ｐゴシック" pitchFamily="-111" charset="-128"/>
              <a:cs typeface="ＭＳ Ｐゴシック" pitchFamily="-111" charset="-128"/>
            </a:endParaRPr>
          </a:p>
        </p:txBody>
      </p:sp>
      <p:sp>
        <p:nvSpPr>
          <p:cNvPr id="12" name="Content Placeholder 11"/>
          <p:cNvSpPr>
            <a:spLocks noGrp="1"/>
          </p:cNvSpPr>
          <p:nvPr>
            <p:ph idx="1"/>
          </p:nvPr>
        </p:nvSpPr>
        <p:spPr/>
        <p:txBody>
          <a:bodyPr/>
          <a:lstStyle/>
          <a:p>
            <a:r>
              <a:rPr lang="en-US" sz="2800" dirty="0" smtClean="0"/>
              <a:t>Is there any value in using SM for 2012 campaign?</a:t>
            </a:r>
          </a:p>
          <a:p>
            <a:r>
              <a:rPr lang="en-US" sz="2800" dirty="0" smtClean="0"/>
              <a:t>Network involvement?</a:t>
            </a:r>
          </a:p>
          <a:p>
            <a:r>
              <a:rPr lang="en-US" sz="2800" smtClean="0"/>
              <a:t>Suggestions? </a:t>
            </a:r>
            <a:endParaRPr lang="en-US" sz="2800" dirty="0" smtClean="0"/>
          </a:p>
          <a:p>
            <a:endParaRPr lang="en-US" sz="2400" dirty="0" smtClean="0"/>
          </a:p>
          <a:p>
            <a:pPr lvl="1">
              <a:buNone/>
            </a:pPr>
            <a:endParaRPr lang="en-US" sz="24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rgbClr val="0E192D"/>
        </a:solidFill>
        <a:effectLst/>
      </p:bgPr>
    </p:bg>
    <p:spTree>
      <p:nvGrpSpPr>
        <p:cNvPr id="1" name=""/>
        <p:cNvGrpSpPr/>
        <p:nvPr/>
      </p:nvGrpSpPr>
      <p:grpSpPr>
        <a:xfrm>
          <a:off x="0" y="0"/>
          <a:ext cx="0" cy="0"/>
          <a:chOff x="0" y="0"/>
          <a:chExt cx="0" cy="0"/>
        </a:xfrm>
      </p:grpSpPr>
      <p:sp>
        <p:nvSpPr>
          <p:cNvPr id="52226" name="Text Placeholder 4"/>
          <p:cNvSpPr>
            <a:spLocks noGrp="1"/>
          </p:cNvSpPr>
          <p:nvPr>
            <p:ph type="body" idx="1"/>
          </p:nvPr>
        </p:nvSpPr>
        <p:spPr>
          <a:xfrm>
            <a:off x="722313" y="2906713"/>
            <a:ext cx="8193087" cy="1500187"/>
          </a:xfrm>
        </p:spPr>
        <p:txBody>
          <a:bodyPr/>
          <a:lstStyle/>
          <a:p>
            <a:pPr>
              <a:defRPr/>
            </a:pPr>
            <a:r>
              <a:rPr lang="en-US" sz="3200" dirty="0" smtClean="0">
                <a:solidFill>
                  <a:schemeClr val="accent1">
                    <a:lumMod val="60000"/>
                    <a:lumOff val="40000"/>
                  </a:schemeClr>
                </a:solidFill>
                <a:ea typeface="ＭＳ Ｐゴシック" charset="-128"/>
                <a:cs typeface="ＭＳ Ｐゴシック" charset="-128"/>
              </a:rPr>
              <a:t>thank </a:t>
            </a:r>
            <a:r>
              <a:rPr lang="en-US" sz="3200" dirty="0" smtClean="0">
                <a:solidFill>
                  <a:schemeClr val="bg1"/>
                </a:solidFill>
                <a:ea typeface="ＭＳ Ｐゴシック" charset="-128"/>
                <a:cs typeface="ＭＳ Ｐゴシック" charset="-128"/>
              </a:rPr>
              <a:t>you</a:t>
            </a:r>
            <a:endParaRPr lang="en-US" sz="3200" dirty="0" smtClean="0">
              <a:solidFill>
                <a:srgbClr val="FF0F5B"/>
              </a:solidFill>
              <a:ea typeface="ＭＳ Ｐゴシック" charset="-128"/>
              <a:cs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0" presetClass="entr" presetSubtype="0" fill="hold" grpId="0" nodeType="afterEffect">
                                  <p:stCondLst>
                                    <p:cond delay="0"/>
                                  </p:stCondLst>
                                  <p:iterate type="lt">
                                    <p:tmPct val="10000"/>
                                  </p:iterate>
                                  <p:childTnLst>
                                    <p:set>
                                      <p:cBhvr>
                                        <p:cTn id="6" dur="1" fill="hold">
                                          <p:stCondLst>
                                            <p:cond delay="0"/>
                                          </p:stCondLst>
                                        </p:cTn>
                                        <p:tgtEl>
                                          <p:spTgt spid="52226">
                                            <p:txEl>
                                              <p:pRg st="0" end="0"/>
                                            </p:txEl>
                                          </p:spTgt>
                                        </p:tgtEl>
                                        <p:attrNameLst>
                                          <p:attrName>style.visibility</p:attrName>
                                        </p:attrNameLst>
                                      </p:cBhvr>
                                      <p:to>
                                        <p:strVal val="visible"/>
                                      </p:to>
                                    </p:set>
                                    <p:animEffect transition="in" filter="fade">
                                      <p:cBhvr>
                                        <p:cTn id="7" dur="1000"/>
                                        <p:tgtEl>
                                          <p:spTgt spid="52226">
                                            <p:txEl>
                                              <p:pRg st="0" end="0"/>
                                            </p:txEl>
                                          </p:spTgt>
                                        </p:tgtEl>
                                      </p:cBhvr>
                                    </p:animEffect>
                                    <p:anim calcmode="lin" valueType="num">
                                      <p:cBhvr>
                                        <p:cTn id="8" dur="1000" fill="hold"/>
                                        <p:tgtEl>
                                          <p:spTgt spid="52226">
                                            <p:txEl>
                                              <p:pRg st="0" end="0"/>
                                            </p:txEl>
                                          </p:spTgt>
                                        </p:tgtEl>
                                        <p:attrNameLst>
                                          <p:attrName>ppt_x</p:attrName>
                                        </p:attrNameLst>
                                      </p:cBhvr>
                                      <p:tavLst>
                                        <p:tav tm="0">
                                          <p:val>
                                            <p:strVal val="#ppt_x-.1"/>
                                          </p:val>
                                        </p:tav>
                                        <p:tav tm="100000">
                                          <p:val>
                                            <p:strVal val="#ppt_x"/>
                                          </p:val>
                                        </p:tav>
                                      </p:tavLst>
                                    </p:anim>
                                    <p:anim calcmode="lin" valueType="num">
                                      <p:cBhvr>
                                        <p:cTn id="9" dur="1000" fill="hold"/>
                                        <p:tgtEl>
                                          <p:spTgt spid="5222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3461</TotalTime>
  <Words>1117</Words>
  <Application>Microsoft Macintosh PowerPoint</Application>
  <PresentationFormat>Letter Paper (8.5x11 in)</PresentationFormat>
  <Paragraphs>117</Paragraphs>
  <Slides>14</Slides>
  <Notes>14</Notes>
  <HiddenSlides>0</HiddenSlides>
  <MMClips>0</MMClips>
  <ScaleCrop>false</ScaleCrop>
  <HeadingPairs>
    <vt:vector size="4" baseType="variant">
      <vt:variant>
        <vt:lpstr>Design Template</vt:lpstr>
      </vt:variant>
      <vt:variant>
        <vt:i4>2</vt:i4>
      </vt:variant>
      <vt:variant>
        <vt:lpstr>Slide Titles</vt:lpstr>
      </vt:variant>
      <vt:variant>
        <vt:i4>14</vt:i4>
      </vt:variant>
    </vt:vector>
  </HeadingPairs>
  <TitlesOfParts>
    <vt:vector size="16" baseType="lpstr">
      <vt:lpstr>Office Theme</vt:lpstr>
      <vt:lpstr>1_Office Theme</vt:lpstr>
      <vt:lpstr>Social Media Campaign</vt:lpstr>
      <vt:lpstr> Why use Social Media?</vt:lpstr>
      <vt:lpstr> Event Marketing</vt:lpstr>
      <vt:lpstr>twitter</vt:lpstr>
      <vt:lpstr>Slide 5</vt:lpstr>
      <vt:lpstr> The Leg Work</vt:lpstr>
      <vt:lpstr>Slide 7</vt:lpstr>
      <vt:lpstr>Slide 8</vt:lpstr>
      <vt:lpstr>Slide 9</vt:lpstr>
      <vt:lpstr>Slide 10</vt:lpstr>
      <vt:lpstr>Final Notes</vt:lpstr>
      <vt:lpstr>Slide 12</vt:lpstr>
      <vt:lpstr>Slide 13</vt:lpstr>
      <vt:lpstr>Slide 14</vt:lpstr>
    </vt:vector>
  </TitlesOfParts>
  <Company>Canadian Stroke Network</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101</dc:title>
  <dc:creator>Lori Barron</dc:creator>
  <cp:lastModifiedBy>CSN</cp:lastModifiedBy>
  <cp:revision>186</cp:revision>
  <cp:lastPrinted>2011-12-05T16:48:03Z</cp:lastPrinted>
  <dcterms:created xsi:type="dcterms:W3CDTF">2011-12-05T16:47:43Z</dcterms:created>
  <dcterms:modified xsi:type="dcterms:W3CDTF">2011-12-05T16:55:37Z</dcterms:modified>
</cp:coreProperties>
</file>