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2" r:id="rId2"/>
  </p:sldMasterIdLst>
  <p:notesMasterIdLst>
    <p:notesMasterId r:id="rId62"/>
  </p:notesMasterIdLst>
  <p:handoutMasterIdLst>
    <p:handoutMasterId r:id="rId63"/>
  </p:handoutMasterIdLst>
  <p:sldIdLst>
    <p:sldId id="263" r:id="rId3"/>
    <p:sldId id="264" r:id="rId4"/>
    <p:sldId id="348" r:id="rId5"/>
    <p:sldId id="294" r:id="rId6"/>
    <p:sldId id="295" r:id="rId7"/>
    <p:sldId id="296" r:id="rId8"/>
    <p:sldId id="269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278" r:id="rId19"/>
    <p:sldId id="306" r:id="rId20"/>
    <p:sldId id="307" r:id="rId21"/>
    <p:sldId id="308" r:id="rId22"/>
    <p:sldId id="282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21" r:id="rId34"/>
    <p:sldId id="322" r:id="rId35"/>
    <p:sldId id="319" r:id="rId36"/>
    <p:sldId id="320" r:id="rId37"/>
    <p:sldId id="323" r:id="rId38"/>
    <p:sldId id="324" r:id="rId39"/>
    <p:sldId id="326" r:id="rId40"/>
    <p:sldId id="327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49" r:id="rId49"/>
    <p:sldId id="335" r:id="rId50"/>
    <p:sldId id="336" r:id="rId51"/>
    <p:sldId id="337" r:id="rId52"/>
    <p:sldId id="350" r:id="rId53"/>
    <p:sldId id="339" r:id="rId54"/>
    <p:sldId id="340" r:id="rId55"/>
    <p:sldId id="341" r:id="rId56"/>
    <p:sldId id="342" r:id="rId57"/>
    <p:sldId id="343" r:id="rId58"/>
    <p:sldId id="344" r:id="rId59"/>
    <p:sldId id="345" r:id="rId60"/>
    <p:sldId id="347" r:id="rId61"/>
  </p:sldIdLst>
  <p:sldSz cx="9144000" cy="6858000" type="screen4x3"/>
  <p:notesSz cx="6985000" cy="92837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6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-150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551" y="0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/>
          <a:lstStyle>
            <a:lvl1pPr algn="r">
              <a:defRPr sz="1200"/>
            </a:lvl1pPr>
          </a:lstStyle>
          <a:p>
            <a:fld id="{E082E97C-483C-47E1-8CFA-D2AA45A5E457}" type="datetimeFigureOut">
              <a:rPr lang="en-US" smtClean="0"/>
              <a:t>12/21/2012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17904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551" y="8817904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 anchor="b"/>
          <a:lstStyle>
            <a:lvl1pPr algn="r">
              <a:defRPr sz="1200"/>
            </a:lvl1pPr>
          </a:lstStyle>
          <a:p>
            <a:fld id="{A045E69D-98FD-44FD-B3B2-E472D6367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9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1" y="0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/>
          <a:lstStyle>
            <a:lvl1pPr algn="r">
              <a:defRPr sz="1200"/>
            </a:lvl1pPr>
          </a:lstStyle>
          <a:p>
            <a:fld id="{73229D42-04DB-43C7-825C-642DD879F0FA}" type="datetimeFigureOut">
              <a:rPr lang="en-US" smtClean="0"/>
              <a:t>12/21/2012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695325"/>
            <a:ext cx="4641850" cy="3481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64" tIns="46482" rIns="92964" bIns="4648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1" y="4409758"/>
            <a:ext cx="5588000" cy="4177665"/>
          </a:xfrm>
          <a:prstGeom prst="rect">
            <a:avLst/>
          </a:prstGeom>
        </p:spPr>
        <p:txBody>
          <a:bodyPr vert="horz" lIns="92964" tIns="46482" rIns="92964" bIns="46482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17904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1" y="8817904"/>
            <a:ext cx="3026833" cy="464185"/>
          </a:xfrm>
          <a:prstGeom prst="rect">
            <a:avLst/>
          </a:prstGeom>
        </p:spPr>
        <p:txBody>
          <a:bodyPr vert="horz" lIns="92964" tIns="46482" rIns="92964" bIns="46482" rtlCol="0" anchor="b"/>
          <a:lstStyle>
            <a:lvl1pPr algn="r">
              <a:defRPr sz="1200"/>
            </a:lvl1pPr>
          </a:lstStyle>
          <a:p>
            <a:fld id="{81C24DCE-C1F0-4110-B2A0-C9D02E2C7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7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6716" indent="-28719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8794" indent="-22975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8312" indent="-22975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67828" indent="-22975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27346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86863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46380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05898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CE3C09D-ACC4-4B63-8670-BA5C87AF19A7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6716" indent="-28719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8794" indent="-22975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8312" indent="-22975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67828" indent="-22975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27346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86863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46380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05898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8772618-1D82-448E-88C6-3AEAE5F072BA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5149" indent="-282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30999" indent="-226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83398" indent="-2262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35797" indent="-2262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88197" indent="-226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40596" indent="-226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92996" indent="-226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45395" indent="-226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9F3B9A49-6022-4746-9DBD-E626441725D5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3F0144D7-98C7-4801-81E7-142D1EAE0807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smtClean="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0276" y="4408489"/>
            <a:ext cx="5124450" cy="4179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FA461EE-3A3E-47DC-9858-264F6A2A4ED7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AF8605C-FDFA-4A30-AEB4-79D154445ED4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6716" indent="-28719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8794" indent="-22975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8312" indent="-22975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67828" indent="-22975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27346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86863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46380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05898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C389564-19AD-4D43-A614-E44D040313BD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6B4B0B5-4268-4A09-8B94-27E093F28DF3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4BBC031-D0DE-47EA-B6B2-18BFC98F8E3C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smtClean="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32F8BC6-0004-4FFD-8928-4F2EA75B1507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7906F20E-5DF9-494C-979F-78C5590A4CCB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B1838C30-1868-4053-A2CC-382FE0B6759E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2A47C7C-CFFE-4BA7-82A4-B7124ABB037E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51A31274-83D7-4BA7-AE7E-34F16062094B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8E551D6-1C6E-4980-A5FC-C21E642BC6B7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E446C09-9B23-4DE5-87D9-F6E3EDF6BD0F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smtClean="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6716" indent="-28719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8794" indent="-229759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8312" indent="-229759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67828" indent="-229759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27346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86863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46380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05898" indent="-22975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89B3EF4-6B3A-4D96-B5CE-D968EC44A3E4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39F8C38-1B96-4CC1-B7D5-169C24D4337C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EF36BB57-9937-487E-B6BD-831178DEFE75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8C762A8-6320-4C74-A6D1-1F7D8A78B58A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B975E8B-BEA9-4673-9A6C-D2CA5ECA5EB4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906346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defTabSz="90634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defTabSz="906346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defTabSz="906346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defTabSz="906346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defTabSz="9063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defTabSz="9063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defTabSz="9063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defTabSz="90634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048CEE1C-8FEC-4225-B846-20CD9879CD8B}" type="slidenum">
              <a:rPr lang="en-US" smtClean="0">
                <a:latin typeface="Times New Roman" pitchFamily="18" charset="0"/>
                <a:ea typeface="ＭＳ Ｐゴシック" pitchFamily="34" charset="-128"/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smtClean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0463" y="704850"/>
            <a:ext cx="4665662" cy="350043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0750" y="4438653"/>
            <a:ext cx="5143501" cy="4130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CE5202D4-1D59-420D-815F-11FEA4BF3B4F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642C3686-58C8-4904-A36B-E8417E658F01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73163" y="695325"/>
            <a:ext cx="4641850" cy="34813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6" y="4408489"/>
            <a:ext cx="51212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 txBox="1">
            <a:spLocks noGrp="1" noChangeArrowheads="1"/>
          </p:cNvSpPr>
          <p:nvPr/>
        </p:nvSpPr>
        <p:spPr bwMode="auto">
          <a:xfrm>
            <a:off x="3956050" y="8818564"/>
            <a:ext cx="3027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937" tIns="46469" rIns="92937" bIns="46469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0CDA72A0-50D0-4EA8-BFF4-988B2F21BEB8}" type="slidenum">
              <a:rPr lang="en-US" sz="1200"/>
              <a:pPr algn="r" eaLnBrk="1" hangingPunct="1"/>
              <a:t>38</a:t>
            </a:fld>
            <a:endParaRPr 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73163" y="695325"/>
            <a:ext cx="4641850" cy="34813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6" y="4408489"/>
            <a:ext cx="51212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ADA5A19B-F4FC-4245-A873-7AFCB0B9048F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73163" y="695325"/>
            <a:ext cx="4641850" cy="34813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6" y="4408489"/>
            <a:ext cx="51212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FABE569C-DC94-4457-9B17-04EF6731B342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82EA4D55-2185-4010-A4B6-37285178EDBF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smtClean="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0276" y="4408489"/>
            <a:ext cx="5124450" cy="4179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854" indent="-28571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2852" indent="-22857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9999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134" indent="-22857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27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415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855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5696" indent="-2285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fld id="{DCD6249C-ECD9-4E0E-A1FA-BA271974573B}" type="slidenum">
              <a:rPr lang="en-US" smtClean="0"/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 smtClean="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73163" y="695325"/>
            <a:ext cx="4641850" cy="34813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1866" y="4408489"/>
            <a:ext cx="51212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13300B2-CF45-423D-B45F-C765D5FF10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57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37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2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294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1543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15439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31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8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4549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2928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65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4405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785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NR_HEhorizon_poster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29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A4D032-359D-4260-A6A9-C16B50ABA6D2}" type="datetimeFigureOut">
              <a:rPr lang="en-US"/>
              <a:pPr/>
              <a:t>12/21/2012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33C474-3322-4E10-9AA3-11E42085AD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9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D6ADDC-4987-4958-AEA9-6E78BABF6310}" type="datetimeFigureOut">
              <a:rPr lang="en-US"/>
              <a:pPr/>
              <a:t>12/21/2012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805837-D933-4FB5-9CB8-F2E1CD5DC4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6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 descr="Wave+ANRLogo_basic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5807075"/>
            <a:ext cx="88519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3" r:id="rId9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F002B1D9-70A4-4029-8C67-EDD37D3EC4EC}" type="datetimeFigureOut">
              <a:rPr lang="en-US"/>
              <a:pPr/>
              <a:t>12/21/2012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AE84CF9-CC4A-420E-A21C-4CB7B0C8359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ucanr.edu/pr-ebook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://ucanr.org/meritpromotion" TargetMode="Externa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mailto:pdtise@ucanr.edu" TargetMode="External"/><Relationship Id="rId2" Type="http://schemas.openxmlformats.org/officeDocument/2006/relationships/hyperlink" Target="mailto:karodrigues@ucanr.edu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ucanr.edu/academicpersonnel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604211" y="3733800"/>
            <a:ext cx="6096001" cy="1752600"/>
          </a:xfrm>
        </p:spPr>
        <p:txBody>
          <a:bodyPr/>
          <a:lstStyle/>
          <a:p>
            <a:pPr marL="0" indent="0" algn="ctr" eaLnBrk="1" hangingPunct="1">
              <a:buFont typeface="Arial" charset="0"/>
              <a:buNone/>
            </a:pPr>
            <a:r>
              <a:rPr lang="en-US" dirty="0" smtClean="0"/>
              <a:t>December 12, 2012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475874" y="609600"/>
            <a:ext cx="6829926" cy="299085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900" b="1" dirty="0" smtClean="0"/>
              <a:t>Promotion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3600" dirty="0" smtClean="0"/>
              <a:t>Training for </a:t>
            </a:r>
            <a:br>
              <a:rPr lang="en-US" sz="3600" dirty="0" smtClean="0"/>
            </a:br>
            <a:r>
              <a:rPr lang="en-US" sz="3600" dirty="0" smtClean="0"/>
              <a:t>Full Title Step V to Step VI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29219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2104" y="256673"/>
            <a:ext cx="7427495" cy="895851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Agenda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2104" y="1505450"/>
            <a:ext cx="8181474" cy="451643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Welcome/Introductions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Agenda/Training Agreements/Outcomes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Overview of Process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PR Dossier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Questions/Wrap-up</a:t>
            </a:r>
          </a:p>
        </p:txBody>
      </p:sp>
    </p:spTree>
    <p:extLst>
      <p:ext uri="{BB962C8B-B14F-4D97-AF65-F5344CB8AC3E}">
        <p14:creationId xmlns:p14="http://schemas.microsoft.com/office/powerpoint/2010/main" val="142772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5082" y="228600"/>
            <a:ext cx="7234517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Presenters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5082" y="1371600"/>
            <a:ext cx="7234518" cy="4208929"/>
          </a:xfrm>
        </p:spPr>
        <p:txBody>
          <a:bodyPr rtlCol="0">
            <a:normAutofit fontScale="85000" lnSpcReduction="20000"/>
          </a:bodyPr>
          <a:lstStyle/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dirty="0" smtClean="0">
              <a:solidFill>
                <a:srgbClr val="035CB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b="1" dirty="0" smtClean="0"/>
              <a:t>Academic Personnel Unit</a:t>
            </a: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b="1" dirty="0" smtClean="0">
                <a:solidFill>
                  <a:srgbClr val="035CBD"/>
                </a:solidFill>
              </a:rPr>
              <a:t>Kim Rodrigues</a:t>
            </a: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dirty="0" smtClean="0">
              <a:solidFill>
                <a:srgbClr val="035CBD"/>
              </a:solidFill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dirty="0">
              <a:solidFill>
                <a:srgbClr val="035CBD"/>
              </a:solidFill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Academic Assembly Council</a:t>
            </a: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Personnel Committee 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Members</a:t>
            </a:r>
          </a:p>
          <a:p>
            <a:pPr algn="ctr" fontAlgn="auto">
              <a:lnSpc>
                <a:spcPct val="80000"/>
              </a:lnSpc>
              <a:spcAft>
                <a:spcPts val="0"/>
              </a:spcAft>
              <a:buNone/>
              <a:defRPr/>
            </a:pPr>
            <a:r>
              <a:rPr lang="en-US" sz="2800" b="1" dirty="0" smtClean="0">
                <a:solidFill>
                  <a:srgbClr val="035CBD"/>
                </a:solidFill>
              </a:rPr>
              <a:t>Anna Martin</a:t>
            </a: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Arial" charset="0"/>
              <a:buNone/>
              <a:defRPr/>
            </a:pPr>
            <a:r>
              <a:rPr lang="en-US" sz="2800" b="1" dirty="0" smtClean="0">
                <a:solidFill>
                  <a:srgbClr val="035CBD"/>
                </a:solidFill>
              </a:rPr>
              <a:t>Steve </a:t>
            </a:r>
            <a:r>
              <a:rPr lang="en-US" sz="2800" b="1" dirty="0" err="1" smtClean="0">
                <a:solidFill>
                  <a:srgbClr val="035CBD"/>
                </a:solidFill>
              </a:rPr>
              <a:t>Tjosvold</a:t>
            </a:r>
            <a:endParaRPr lang="en-US" sz="2800" b="1" dirty="0">
              <a:solidFill>
                <a:srgbClr val="035CBD"/>
              </a:solidFill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b="1" dirty="0" smtClean="0">
              <a:solidFill>
                <a:srgbClr val="035CBD"/>
              </a:solidFill>
            </a:endParaRP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b="1" dirty="0" smtClean="0"/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b="1" dirty="0" smtClean="0"/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 smtClean="0"/>
              <a:t> </a:t>
            </a:r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 smtClean="0"/>
          </a:p>
          <a:p>
            <a:pPr algn="ctr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0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87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6275" y="152400"/>
            <a:ext cx="76962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AAC Personnel Committee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9003" y="1295400"/>
            <a:ext cx="8254621" cy="420464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Work with UC ANR Academic Personnel Unit to coordinate the academic merit &amp; promotion process.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Assures process is fair and understandable.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Facilitates training with UC ANR APU.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Recommends nominations for Ad hoc review committees.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Provides Ad hoc committee chair training.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sz="2400" dirty="0" smtClean="0"/>
              <a:t>Reviews Ad hoc committee reports</a:t>
            </a:r>
            <a:r>
              <a:rPr lang="en-US" sz="2400" i="1" dirty="0" smtClean="0"/>
              <a:t> </a:t>
            </a:r>
            <a:r>
              <a:rPr lang="en-US" sz="2400" dirty="0" smtClean="0"/>
              <a:t>for constructive, mentoring advice that helps an academic improve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794161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46162" y="152400"/>
            <a:ext cx="7078638" cy="16002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  Thank You for Your</a:t>
            </a:r>
            <a:br>
              <a:rPr lang="en-US" sz="4000" dirty="0" smtClean="0"/>
            </a:br>
            <a:r>
              <a:rPr lang="en-US" sz="4000" dirty="0" smtClean="0"/>
              <a:t>    Support and Expertise: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6162" y="1828800"/>
            <a:ext cx="7983940" cy="3712191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800" dirty="0" smtClean="0"/>
              <a:t>AAC Personnel Committee  </a:t>
            </a:r>
          </a:p>
          <a:p>
            <a:pPr lvl="1" fontAlgn="auto">
              <a:spcAft>
                <a:spcPts val="0"/>
              </a:spcAft>
              <a:buClr>
                <a:srgbClr val="0914FF"/>
              </a:buClr>
              <a:buFont typeface="Arial" pitchFamily="34" charset="0"/>
              <a:buChar char="•"/>
              <a:defRPr/>
            </a:pPr>
            <a:r>
              <a:rPr lang="en-US" sz="2000" dirty="0" smtClean="0"/>
              <a:t>Ben Faber, Larry Forero, Pam Geisel, Janine Hasey, Kurt </a:t>
            </a:r>
            <a:r>
              <a:rPr lang="en-US" sz="2000" dirty="0" err="1" smtClean="0"/>
              <a:t>Hembree</a:t>
            </a:r>
            <a:r>
              <a:rPr lang="en-US" sz="2000" dirty="0" smtClean="0"/>
              <a:t>, Sue Manglallan, Anna Martin, Scott Stoddard, Steve Tjosvold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 smtClean="0"/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800" dirty="0" smtClean="0"/>
              <a:t>Academic Personnel Unit</a:t>
            </a:r>
          </a:p>
          <a:p>
            <a:pPr lvl="1" eaLnBrk="1" fontAlgn="auto" hangingPunct="1">
              <a:spcAft>
                <a:spcPts val="0"/>
              </a:spcAft>
              <a:buClr>
                <a:srgbClr val="0914FF"/>
              </a:buClr>
              <a:buFont typeface="Arial" pitchFamily="34" charset="0"/>
              <a:buChar char="•"/>
              <a:defRPr/>
            </a:pPr>
            <a:r>
              <a:rPr lang="en-US" sz="2000" dirty="0" smtClean="0"/>
              <a:t>Kim Rodrigues, Executive Director</a:t>
            </a:r>
          </a:p>
          <a:p>
            <a:pPr lvl="1" eaLnBrk="1" fontAlgn="auto" hangingPunct="1">
              <a:spcAft>
                <a:spcPts val="0"/>
              </a:spcAft>
              <a:buClr>
                <a:srgbClr val="0914FF"/>
              </a:buClr>
              <a:buFont typeface="Arial" pitchFamily="34" charset="0"/>
              <a:buChar char="•"/>
              <a:defRPr/>
            </a:pPr>
            <a:r>
              <a:rPr lang="en-US" sz="2000" dirty="0" smtClean="0"/>
              <a:t>Pam Tise, Personnel Analyst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solidFill>
                <a:srgbClr val="FFFF0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5365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3978" y="274638"/>
            <a:ext cx="7297063" cy="1020762"/>
          </a:xfrm>
        </p:spPr>
        <p:txBody>
          <a:bodyPr/>
          <a:lstStyle/>
          <a:p>
            <a:pPr eaLnBrk="1" hangingPunct="1"/>
            <a:r>
              <a:rPr lang="en-US" dirty="0" smtClean="0"/>
              <a:t>  </a:t>
            </a:r>
            <a:r>
              <a:rPr lang="en-US" sz="4000" dirty="0" smtClean="0"/>
              <a:t>Training Agreements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73206" y="12192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u="sng" dirty="0" smtClean="0"/>
              <a:t>Mute</a:t>
            </a:r>
            <a:r>
              <a:rPr lang="en-US" sz="2800" dirty="0" smtClean="0"/>
              <a:t> phone until you want to speak.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Press *6 to mute and *7 to unmute.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Silence cell phones/other noise makers.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Do not put call on “hold” (problem with music).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May type questions via the chat function on your computer screen.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If you ask questions verbally, state your name followed by a concise question.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One person speak at a time. </a:t>
            </a:r>
          </a:p>
        </p:txBody>
      </p:sp>
    </p:spTree>
    <p:extLst>
      <p:ext uri="{BB962C8B-B14F-4D97-AF65-F5344CB8AC3E}">
        <p14:creationId xmlns:p14="http://schemas.microsoft.com/office/powerpoint/2010/main" val="62319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3158" y="224588"/>
            <a:ext cx="7122695" cy="918411"/>
          </a:xfrm>
        </p:spPr>
        <p:txBody>
          <a:bodyPr/>
          <a:lstStyle/>
          <a:p>
            <a:pPr eaLnBrk="1" hangingPunct="1"/>
            <a:r>
              <a:rPr lang="en-US" sz="4000" dirty="0" smtClean="0"/>
              <a:t>Outcomes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2104" y="1319462"/>
            <a:ext cx="7764379" cy="48307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3000" dirty="0" smtClean="0"/>
              <a:t>Increased knowledge of new procedures.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3000" dirty="0" smtClean="0"/>
              <a:t>Understanding of the PR format and required elements for Promotion FT V to FT VI.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3000" dirty="0" smtClean="0"/>
              <a:t>Increased knowledge of how to develop a well written PR.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3000" dirty="0" smtClean="0"/>
              <a:t>Answers to your PR questions. </a:t>
            </a:r>
          </a:p>
        </p:txBody>
      </p:sp>
    </p:spTree>
    <p:extLst>
      <p:ext uri="{BB962C8B-B14F-4D97-AF65-F5344CB8AC3E}">
        <p14:creationId xmlns:p14="http://schemas.microsoft.com/office/powerpoint/2010/main" val="172122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7922" y="274638"/>
            <a:ext cx="7432343" cy="1096962"/>
          </a:xfrm>
        </p:spPr>
        <p:txBody>
          <a:bodyPr/>
          <a:lstStyle/>
          <a:p>
            <a:pPr eaLnBrk="1" hangingPunct="1"/>
            <a:r>
              <a:rPr lang="en-US" sz="4000" dirty="0" smtClean="0"/>
              <a:t>UC ANR Organization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7923" y="1244221"/>
            <a:ext cx="7391400" cy="46783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Structure(s) with respect to academic review process.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Peer Review Committee (PRC) – chaired by ED APU &amp; composed of 7 peers: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Chris Greer, Janet Hartin, Rachael Long, Glenn </a:t>
            </a:r>
            <a:r>
              <a:rPr lang="en-US" dirty="0" err="1" smtClean="0"/>
              <a:t>McGourty</a:t>
            </a:r>
            <a:r>
              <a:rPr lang="en-US" dirty="0" smtClean="0"/>
              <a:t>, Lynn Schmitt-McQuitty, Dorothy Smith, Eta Takele.</a:t>
            </a:r>
          </a:p>
          <a:p>
            <a:pPr lvl="2">
              <a:lnSpc>
                <a:spcPct val="90000"/>
              </a:lnSpc>
              <a:buFont typeface="Arial" charset="0"/>
              <a:buChar char="•"/>
            </a:pPr>
            <a:r>
              <a:rPr lang="en-US" dirty="0" smtClean="0"/>
              <a:t>Rotated off last cycle:  John Harper, Chuck Ingels, Shirley Peterson</a:t>
            </a:r>
          </a:p>
          <a:p>
            <a:pPr lvl="2">
              <a:lnSpc>
                <a:spcPct val="90000"/>
              </a:lnSpc>
              <a:buFont typeface="Arial" charset="0"/>
              <a:buChar char="•"/>
            </a:pPr>
            <a:r>
              <a:rPr lang="en-US" dirty="0" smtClean="0"/>
              <a:t>Expect 3 new openings next cycle</a:t>
            </a:r>
          </a:p>
        </p:txBody>
      </p:sp>
    </p:spTree>
    <p:extLst>
      <p:ext uri="{BB962C8B-B14F-4D97-AF65-F5344CB8AC3E}">
        <p14:creationId xmlns:p14="http://schemas.microsoft.com/office/powerpoint/2010/main" val="103557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3332" y="370173"/>
            <a:ext cx="7696200" cy="1096962"/>
          </a:xfrm>
        </p:spPr>
        <p:txBody>
          <a:bodyPr/>
          <a:lstStyle/>
          <a:p>
            <a:pPr eaLnBrk="1" hangingPunct="1"/>
            <a:r>
              <a:rPr lang="en-US" sz="4000" dirty="0" smtClean="0"/>
              <a:t>Peer Review Committee (PRC)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3332" y="1456899"/>
            <a:ext cx="7391400" cy="404997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Reviews terms, merits (including streamlined merits), promotions, accelerations, and upper level merits as well as any special cases upon request of the candidate or supervisor.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99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2263" y="198438"/>
            <a:ext cx="7696200" cy="1096962"/>
          </a:xfrm>
        </p:spPr>
        <p:txBody>
          <a:bodyPr/>
          <a:lstStyle/>
          <a:p>
            <a:pPr eaLnBrk="1" hangingPunct="1"/>
            <a:r>
              <a:rPr lang="en-US" dirty="0" smtClean="0"/>
              <a:t>PRC Operational Guidelines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7063" y="1171575"/>
            <a:ext cx="7391400" cy="46157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ED assigns 2 PRC reviews per case (systematically randomized to balance workload and avoid any/all potential conflicts of interest).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Lead PRC member summarizes the case, in advance, of full meeting discussion.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PRC fully reviews and discusses all cases, especially any with mixed reviews.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PRC seeks consensus, but reports all </a:t>
            </a:r>
            <a:r>
              <a:rPr lang="en-US" sz="2400" b="1" dirty="0" smtClean="0"/>
              <a:t>recommendations </a:t>
            </a:r>
            <a:r>
              <a:rPr lang="en-US" sz="2400" dirty="0" smtClean="0"/>
              <a:t>and any/all split “votes.”  This information is shared with the decision-maker </a:t>
            </a:r>
            <a:r>
              <a:rPr lang="en-US" sz="2400" u="sng" dirty="0" smtClean="0"/>
              <a:t>ONLY</a:t>
            </a:r>
            <a:r>
              <a:rPr lang="en-US" sz="2400" dirty="0" smtClean="0"/>
              <a:t>.  Candidate sees consensus or majority recommendations.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 smtClean="0"/>
              <a:t>Associate Director of CE considers </a:t>
            </a:r>
            <a:r>
              <a:rPr lang="en-US" sz="2400" u="sng" dirty="0" smtClean="0"/>
              <a:t>ALL </a:t>
            </a:r>
            <a:r>
              <a:rPr lang="en-US" sz="2400" dirty="0" smtClean="0"/>
              <a:t>input on case when making decision.</a:t>
            </a:r>
            <a:endParaRPr lang="en-US" sz="2400" u="sng" dirty="0" smtClean="0"/>
          </a:p>
          <a:p>
            <a:pPr lvl="1" eaLnBrk="1" hangingPunct="1">
              <a:lnSpc>
                <a:spcPct val="90000"/>
              </a:lnSpc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19121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4842" y="274638"/>
            <a:ext cx="8420668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Peer Review Committee Perspective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55092" y="1195316"/>
            <a:ext cx="7467600" cy="3962400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2800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 smtClean="0"/>
              <a:t>Your PR is your chance to tell your story.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800" dirty="0" smtClean="0"/>
              <a:t>Presentation is important because: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 smtClean="0"/>
              <a:t>You want the reviewer to </a:t>
            </a:r>
            <a:r>
              <a:rPr lang="en-US" sz="2400" b="1" dirty="0" smtClean="0"/>
              <a:t>enjoy</a:t>
            </a:r>
            <a:r>
              <a:rPr lang="en-US" sz="2400" dirty="0" smtClean="0"/>
              <a:t> reading your dossier!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 smtClean="0"/>
              <a:t>It needs to be easily understood by people in other programs.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dirty="0" smtClean="0"/>
              <a:t>Each reviewer has a unique perspective: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SzPct val="90000"/>
              <a:buFont typeface="Wingdings" pitchFamily="2" charset="2"/>
              <a:buChar char="§"/>
              <a:defRPr/>
            </a:pPr>
            <a:r>
              <a:rPr lang="en-US" sz="2200" dirty="0" smtClean="0"/>
              <a:t>Keep in mind the perspectives of those reading your PR: supervisor (e.g. CD), Ad hoc Committee and /or members of Peer Review Committee.</a:t>
            </a:r>
          </a:p>
          <a:p>
            <a:pPr lvl="2" eaLnBrk="1" fontAlgn="auto" hangingPunct="1">
              <a:lnSpc>
                <a:spcPct val="90000"/>
              </a:lnSpc>
              <a:spcAft>
                <a:spcPts val="0"/>
              </a:spcAft>
              <a:buSzPct val="90000"/>
              <a:buFont typeface="Wingdings" pitchFamily="2" charset="2"/>
              <a:buChar char="§"/>
              <a:defRPr/>
            </a:pPr>
            <a:r>
              <a:rPr lang="en-US" sz="2200" dirty="0" smtClean="0"/>
              <a:t>Reviewers may not be familiar with you or your specific program.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2400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49855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9150" y="1057275"/>
            <a:ext cx="7696200" cy="246697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pitchFamily="2" charset="2"/>
              <a:buChar char="n"/>
            </a:pPr>
            <a:endParaRPr lang="en-US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sz="3600" dirty="0" smtClean="0"/>
              <a:t>Any questions regarding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600" dirty="0" smtClean="0"/>
              <a:t>The Peer Review Committee?</a:t>
            </a:r>
          </a:p>
        </p:txBody>
      </p:sp>
    </p:spTree>
    <p:extLst>
      <p:ext uri="{BB962C8B-B14F-4D97-AF65-F5344CB8AC3E}">
        <p14:creationId xmlns:p14="http://schemas.microsoft.com/office/powerpoint/2010/main" val="393789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7700" y="141288"/>
            <a:ext cx="7853718" cy="715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Ad hoc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5775" y="781051"/>
            <a:ext cx="8405883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Ad </a:t>
            </a:r>
            <a:r>
              <a:rPr lang="en-US" sz="2800" dirty="0" err="1" smtClean="0"/>
              <a:t>hocs</a:t>
            </a:r>
            <a:r>
              <a:rPr lang="en-US" sz="2800" dirty="0" smtClean="0"/>
              <a:t> will be established for all promotions including any/all accelerated promotions: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Assistant to Associate*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Associate to Full Title*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Full Title V to Full Title VI*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/>
              <a:t>All candidates in the third term will receive an Ad hoc review before receiving indefinite status.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/>
              <a:t>Also upon request of candidate, CD or other ANR leaders.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dirty="0" smtClean="0"/>
              <a:t>*Note:  All  program areas are represented within each Ad hoc and no longer isolated by program area since expectations are the same for all.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947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66750" y="246856"/>
            <a:ext cx="7696200" cy="1200944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APU            AAC PC</a:t>
            </a:r>
            <a:br>
              <a:rPr lang="en-US" dirty="0" smtClean="0"/>
            </a:br>
            <a:r>
              <a:rPr lang="en-US" sz="2700" dirty="0" smtClean="0"/>
              <a:t>(</a:t>
            </a:r>
            <a:r>
              <a:rPr lang="en-US" sz="2400" dirty="0" smtClean="0"/>
              <a:t>Academic Personnel Unit     Academic Assembly Council </a:t>
            </a:r>
            <a:br>
              <a:rPr lang="en-US" sz="2400" dirty="0" smtClean="0"/>
            </a:br>
            <a:r>
              <a:rPr lang="en-US" sz="2400" dirty="0" smtClean="0"/>
              <a:t>Personnel Committee)</a:t>
            </a:r>
            <a:endParaRPr 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42975" y="1981199"/>
            <a:ext cx="7620000" cy="298132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 Academic Personnel will work with AAC Personnel Committee to recommend the Ad hoc Committee membership to Associate Director of CE.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Associate Director of CE appoints the Ad hoc Committees.</a:t>
            </a:r>
          </a:p>
        </p:txBody>
      </p:sp>
      <p:sp>
        <p:nvSpPr>
          <p:cNvPr id="4" name="Left-Right Arrow 3"/>
          <p:cNvSpPr/>
          <p:nvPr/>
        </p:nvSpPr>
        <p:spPr>
          <a:xfrm>
            <a:off x="3838575" y="316707"/>
            <a:ext cx="914400" cy="39211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326746" y="1013047"/>
            <a:ext cx="211541" cy="514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2146" y="350838"/>
            <a:ext cx="7696200" cy="10969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CD Review</a:t>
            </a:r>
            <a:br>
              <a:rPr lang="en-US" dirty="0" smtClean="0"/>
            </a:br>
            <a:r>
              <a:rPr lang="en-US" dirty="0" smtClean="0"/>
              <a:t>Advisors with CD Assignments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41696" y="1930021"/>
            <a:ext cx="7391400" cy="3200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dirty="0" smtClean="0"/>
              <a:t>CD’s are reviewed by Associate Director of CE in the Merit and Promotion Process.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  <a:defRPr/>
            </a:pPr>
            <a:r>
              <a:rPr lang="en-US" dirty="0" smtClean="0"/>
              <a:t>Associate Director of CE receives all recommendations in order to make informed decisions.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7164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4276" y="193953"/>
            <a:ext cx="7696200" cy="1294189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</a:t>
            </a:r>
            <a:r>
              <a:rPr lang="en-US" sz="4000" dirty="0" smtClean="0"/>
              <a:t>For Advisors with Statewide </a:t>
            </a:r>
            <a:br>
              <a:rPr lang="en-US" sz="4000" dirty="0" smtClean="0"/>
            </a:br>
            <a:r>
              <a:rPr lang="en-US" sz="4000" dirty="0" smtClean="0"/>
              <a:t>Program Affiliation (IPM, MG, YFC)</a:t>
            </a:r>
            <a:br>
              <a:rPr lang="en-US" sz="4000" dirty="0" smtClean="0"/>
            </a:br>
            <a:endParaRPr lang="en-US" sz="4000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2384" y="1488142"/>
            <a:ext cx="8595781" cy="4419599"/>
          </a:xfrm>
        </p:spPr>
        <p:txBody>
          <a:bodyPr/>
          <a:lstStyle/>
          <a:p>
            <a:pPr eaLnBrk="1" hangingPunct="1"/>
            <a:r>
              <a:rPr lang="en-US" sz="2600" dirty="0" smtClean="0"/>
              <a:t>UC ANR Leaders are committed to strengthening UCCE as a statewide program developed and delivered locally.</a:t>
            </a:r>
          </a:p>
          <a:p>
            <a:pPr eaLnBrk="1" hangingPunct="1"/>
            <a:r>
              <a:rPr lang="en-US" sz="2600" dirty="0" smtClean="0"/>
              <a:t>Providing input from both the local supervisor and the Statewide Program Director supports this alignment.</a:t>
            </a:r>
          </a:p>
          <a:p>
            <a:pPr eaLnBrk="1" hangingPunct="1"/>
            <a:r>
              <a:rPr lang="en-US" sz="2600" dirty="0" smtClean="0"/>
              <a:t>The input from the Statewide Program Director is to provide integration towards statewide outcomes/impacts and mentoring/coaching/support.</a:t>
            </a:r>
          </a:p>
          <a:p>
            <a:pPr eaLnBrk="1" hangingPunct="1"/>
            <a:r>
              <a:rPr lang="en-US" sz="2600" dirty="0" smtClean="0"/>
              <a:t>The goal is to seek balance between local priorities and statewide goals.</a:t>
            </a:r>
          </a:p>
          <a:p>
            <a:pPr marL="0" indent="0" eaLnBrk="1" hangingPunct="1">
              <a:buNone/>
            </a:pPr>
            <a:endParaRPr lang="en-US" sz="2600" dirty="0" smtClean="0"/>
          </a:p>
          <a:p>
            <a:pPr marL="0" indent="0" eaLnBrk="1" hangingPunct="1">
              <a:buNone/>
            </a:pPr>
            <a:endParaRPr lang="en-US" sz="2800" dirty="0" smtClean="0"/>
          </a:p>
          <a:p>
            <a:pPr lvl="1" eaLnBrk="1" hangingPunct="1">
              <a:lnSpc>
                <a:spcPct val="90000"/>
              </a:lnSpc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1840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1684" y="160420"/>
            <a:ext cx="7652084" cy="7860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For Advisors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1684" y="1066800"/>
            <a:ext cx="8085221" cy="3908425"/>
          </a:xfrm>
        </p:spPr>
        <p:txBody>
          <a:bodyPr/>
          <a:lstStyle/>
          <a:p>
            <a:pPr>
              <a:defRPr/>
            </a:pPr>
            <a:r>
              <a:rPr lang="en-US" sz="2800" dirty="0" smtClean="0"/>
              <a:t>Promotions: Advisors </a:t>
            </a:r>
            <a:r>
              <a:rPr lang="en-US" sz="2800" dirty="0" smtClean="0">
                <a:solidFill>
                  <a:srgbClr val="035CBD"/>
                </a:solidFill>
              </a:rPr>
              <a:t>&gt; </a:t>
            </a:r>
            <a:r>
              <a:rPr lang="en-US" sz="2800" dirty="0" smtClean="0"/>
              <a:t>CD </a:t>
            </a:r>
            <a:r>
              <a:rPr lang="en-US" sz="2800" dirty="0" smtClean="0">
                <a:solidFill>
                  <a:srgbClr val="035CBD"/>
                </a:solidFill>
              </a:rPr>
              <a:t>&gt;  </a:t>
            </a:r>
            <a:r>
              <a:rPr lang="en-US" sz="2800" dirty="0" smtClean="0"/>
              <a:t>Ad hoc </a:t>
            </a:r>
            <a:r>
              <a:rPr lang="en-US" sz="2800" dirty="0" smtClean="0">
                <a:solidFill>
                  <a:srgbClr val="035CBD"/>
                </a:solidFill>
              </a:rPr>
              <a:t>&gt;</a:t>
            </a:r>
            <a:r>
              <a:rPr lang="en-US" sz="2800" dirty="0" smtClean="0"/>
              <a:t> PRC </a:t>
            </a:r>
            <a:r>
              <a:rPr lang="en-US" sz="2800" dirty="0">
                <a:solidFill>
                  <a:srgbClr val="035CBD"/>
                </a:solidFill>
              </a:rPr>
              <a:t>&gt;</a:t>
            </a:r>
            <a:r>
              <a:rPr lang="en-US" sz="2800" dirty="0"/>
              <a:t> </a:t>
            </a:r>
            <a:r>
              <a:rPr lang="en-US" sz="2800" dirty="0" smtClean="0"/>
              <a:t>Associate Director CE</a:t>
            </a:r>
          </a:p>
          <a:p>
            <a:pPr lvl="1" eaLnBrk="1" hangingPunct="1">
              <a:buFont typeface="Wingdings" pitchFamily="2" charset="2"/>
              <a:buChar char="§"/>
              <a:defRPr/>
            </a:pPr>
            <a:r>
              <a:rPr lang="en-US" sz="2400" dirty="0" smtClean="0"/>
              <a:t>Ad </a:t>
            </a:r>
            <a:r>
              <a:rPr lang="en-US" sz="2400" dirty="0" err="1" smtClean="0"/>
              <a:t>hocs</a:t>
            </a:r>
            <a:r>
              <a:rPr lang="en-US" sz="2400" dirty="0" smtClean="0"/>
              <a:t> are developed for specific actions: Assistant to </a:t>
            </a:r>
            <a:r>
              <a:rPr lang="en-US" sz="2400" dirty="0" err="1" smtClean="0"/>
              <a:t>Assoc</a:t>
            </a:r>
            <a:r>
              <a:rPr lang="en-US" sz="2400" dirty="0" smtClean="0"/>
              <a:t>, </a:t>
            </a:r>
            <a:r>
              <a:rPr lang="en-US" sz="2400" dirty="0" err="1" smtClean="0"/>
              <a:t>Assoc</a:t>
            </a:r>
            <a:r>
              <a:rPr lang="en-US" sz="2400" dirty="0" smtClean="0"/>
              <a:t> to </a:t>
            </a:r>
            <a:r>
              <a:rPr lang="en-US" sz="2400" b="1" dirty="0" smtClean="0"/>
              <a:t>Full Title and Full Title V to Full Title VI </a:t>
            </a:r>
            <a:r>
              <a:rPr lang="en-US" sz="2400" dirty="0" smtClean="0"/>
              <a:t>(and for Advisors seeking indefinite status)</a:t>
            </a:r>
            <a:endParaRPr lang="en-US" sz="2400" dirty="0"/>
          </a:p>
          <a:p>
            <a:pPr marL="401638" lvl="1" indent="-401638">
              <a:buFont typeface="Arial" pitchFamily="34" charset="0"/>
              <a:buChar char="•"/>
              <a:defRPr/>
            </a:pPr>
            <a:r>
              <a:rPr lang="en-US" dirty="0" smtClean="0"/>
              <a:t>Indefinite Term Review: Advisors </a:t>
            </a:r>
            <a:r>
              <a:rPr lang="en-US" dirty="0" smtClean="0">
                <a:solidFill>
                  <a:srgbClr val="035CBD"/>
                </a:solidFill>
              </a:rPr>
              <a:t>&gt; </a:t>
            </a:r>
            <a:r>
              <a:rPr lang="en-US" dirty="0" smtClean="0"/>
              <a:t>CD </a:t>
            </a:r>
            <a:r>
              <a:rPr lang="en-US" dirty="0" smtClean="0">
                <a:solidFill>
                  <a:srgbClr val="035CBD"/>
                </a:solidFill>
              </a:rPr>
              <a:t>&gt;  </a:t>
            </a:r>
            <a:r>
              <a:rPr lang="en-US" dirty="0" smtClean="0"/>
              <a:t>Ad hoc </a:t>
            </a:r>
            <a:r>
              <a:rPr lang="en-US" dirty="0" smtClean="0">
                <a:solidFill>
                  <a:srgbClr val="035CBD"/>
                </a:solidFill>
              </a:rPr>
              <a:t>&gt;</a:t>
            </a:r>
            <a:r>
              <a:rPr lang="en-US" dirty="0" smtClean="0"/>
              <a:t> PRC </a:t>
            </a:r>
            <a:r>
              <a:rPr lang="en-US" dirty="0" smtClean="0">
                <a:solidFill>
                  <a:srgbClr val="035CBD"/>
                </a:solidFill>
              </a:rPr>
              <a:t>&gt;</a:t>
            </a:r>
            <a:r>
              <a:rPr lang="en-US" dirty="0" smtClean="0"/>
              <a:t> Associate Director CE</a:t>
            </a:r>
          </a:p>
          <a:p>
            <a:pPr marL="401638" lvl="1" indent="-401638" eaLnBrk="1" hangingPunct="1">
              <a:buFont typeface="Arial" pitchFamily="34" charset="0"/>
              <a:buChar char="•"/>
              <a:defRPr/>
            </a:pPr>
            <a:endParaRPr lang="en-US" dirty="0"/>
          </a:p>
          <a:p>
            <a:pPr marL="0" lvl="1" indent="0" eaLnBrk="1" hangingPunct="1">
              <a:buFont typeface="Arial" charset="0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796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41445" y="274638"/>
            <a:ext cx="7696200" cy="715962"/>
          </a:xfrm>
        </p:spPr>
        <p:txBody>
          <a:bodyPr/>
          <a:lstStyle/>
          <a:p>
            <a:pPr eaLnBrk="1" hangingPunct="1"/>
            <a:r>
              <a:rPr lang="en-US" dirty="0" smtClean="0"/>
              <a:t> </a:t>
            </a:r>
            <a:r>
              <a:rPr lang="en-US" sz="4000" dirty="0" smtClean="0"/>
              <a:t>Decisions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371600"/>
            <a:ext cx="7448550" cy="41148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Char char="Ø"/>
              <a:tabLst>
                <a:tab pos="401638" algn="l"/>
              </a:tabLst>
            </a:pPr>
            <a:r>
              <a:rPr lang="en-US" dirty="0" smtClean="0"/>
              <a:t> Associate Director of CE receives recommendations and makes decisions.</a:t>
            </a:r>
          </a:p>
          <a:p>
            <a:pPr marL="0" indent="0" eaLnBrk="1" hangingPunct="1">
              <a:buFont typeface="Arial" charset="0"/>
              <a:buNone/>
              <a:tabLst>
                <a:tab pos="401638" algn="l"/>
              </a:tabLst>
            </a:pPr>
            <a:endParaRPr lang="en-US" dirty="0" smtClean="0"/>
          </a:p>
          <a:p>
            <a:pPr marL="0" indent="0" eaLnBrk="1" hangingPunct="1">
              <a:buFont typeface="Wingdings" pitchFamily="2" charset="2"/>
              <a:buChar char="Ø"/>
              <a:tabLst>
                <a:tab pos="401638" algn="l"/>
              </a:tabLst>
            </a:pPr>
            <a:r>
              <a:rPr lang="en-US" dirty="0" smtClean="0"/>
              <a:t>All appeals go to VP Barbara Allen-Diaz.</a:t>
            </a:r>
          </a:p>
          <a:p>
            <a:pPr lvl="1" eaLnBrk="1" hangingPunct="1">
              <a:lnSpc>
                <a:spcPct val="90000"/>
              </a:lnSpc>
              <a:buFont typeface="Arial" charset="0"/>
              <a:buNone/>
              <a:tabLst>
                <a:tab pos="401638" algn="l"/>
              </a:tabLs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8848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A </a:t>
            </a:r>
            <a:r>
              <a:rPr lang="en-US" sz="4000" smtClean="0"/>
              <a:t>Good</a:t>
            </a:r>
            <a:r>
              <a:rPr lang="en-US" smtClean="0"/>
              <a:t> PR is…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62050" y="1295400"/>
            <a:ext cx="7067550" cy="39624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dirty="0" smtClean="0"/>
              <a:t>ACCURATE:</a:t>
            </a:r>
            <a:r>
              <a:rPr lang="en-US" sz="3600" dirty="0" smtClean="0"/>
              <a:t> </a:t>
            </a:r>
            <a:r>
              <a:rPr lang="en-US" sz="2800" dirty="0" smtClean="0"/>
              <a:t>Be factual, tell how impacts were achieved.</a:t>
            </a:r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dirty="0" smtClean="0"/>
              <a:t>BRIEF:</a:t>
            </a:r>
            <a:r>
              <a:rPr lang="en-US" sz="3600" dirty="0" smtClean="0"/>
              <a:t> </a:t>
            </a:r>
            <a:r>
              <a:rPr lang="en-US" sz="2800" dirty="0" smtClean="0"/>
              <a:t>Make every word work.</a:t>
            </a:r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dirty="0" smtClean="0"/>
              <a:t>CLEAR:</a:t>
            </a:r>
            <a:r>
              <a:rPr lang="en-US" sz="3600" dirty="0" smtClean="0"/>
              <a:t> </a:t>
            </a:r>
            <a:r>
              <a:rPr lang="en-US" sz="2800" dirty="0" smtClean="0"/>
              <a:t>Say what you mean.</a:t>
            </a:r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dirty="0" smtClean="0"/>
              <a:t>SPECIFIC:</a:t>
            </a:r>
            <a:r>
              <a:rPr lang="en-US" sz="3600" dirty="0" smtClean="0"/>
              <a:t> </a:t>
            </a:r>
            <a:r>
              <a:rPr lang="en-US" sz="2800" dirty="0" smtClean="0"/>
              <a:t>Use examples.</a:t>
            </a:r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dirty="0" smtClean="0"/>
              <a:t>PROFESSIONAL:</a:t>
            </a:r>
            <a:r>
              <a:rPr lang="en-US" sz="3600" dirty="0" smtClean="0"/>
              <a:t> </a:t>
            </a:r>
            <a:r>
              <a:rPr lang="en-US" sz="2800" dirty="0" smtClean="0"/>
              <a:t>Make it look professional – adhere to format guidelines.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n"/>
              <a:defRPr/>
            </a:pPr>
            <a:endParaRPr lang="en-US" sz="2800" dirty="0" smtClean="0"/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2286000" y="2559050"/>
            <a:ext cx="457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effectLst>
                <a:outerShdw blurRad="38100" dist="38100" dir="2700000" algn="tl">
                  <a:srgbClr val="000000"/>
                </a:outerShdw>
              </a:effectLst>
              <a:latin typeface="Tahoma" pitchFamily="-11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029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72102"/>
            <a:ext cx="8610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Make Your Dossier Reflect Your Program!  Make It Enjoyable to Read!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1525" y="1551580"/>
            <a:ext cx="7696200" cy="446881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Reviewers find it less enjoyable to read if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 smtClean="0"/>
              <a:t>they have to tease out information.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State your overarching program themes.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Identify your clientele/audiences.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Write clear goals and objectives.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Summarize your accomplishments.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 smtClean="0"/>
              <a:t>Remember what is obvious to you, may not be obvious to all readers -- </a:t>
            </a:r>
            <a:r>
              <a:rPr lang="en-US" b="1" u="sng" dirty="0" smtClean="0"/>
              <a:t>make it obvious!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0439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0042" y="152400"/>
            <a:ext cx="6003758" cy="685800"/>
          </a:xfrm>
        </p:spPr>
        <p:txBody>
          <a:bodyPr/>
          <a:lstStyle/>
          <a:p>
            <a:pPr eaLnBrk="1" hangingPunct="1"/>
            <a:r>
              <a:rPr lang="en-US" dirty="0" smtClean="0"/>
              <a:t>General Tips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05852" y="1267326"/>
            <a:ext cx="8165432" cy="442762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Start as early as possible.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Keep good records all year and use them.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Use web examples referenced in e-book.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Review and edit; then review and edit some more.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Ask questions.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3000" dirty="0" smtClean="0"/>
              <a:t>Ask peers to review your work.</a:t>
            </a:r>
          </a:p>
        </p:txBody>
      </p:sp>
    </p:spTree>
    <p:extLst>
      <p:ext uri="{BB962C8B-B14F-4D97-AF65-F5344CB8AC3E}">
        <p14:creationId xmlns:p14="http://schemas.microsoft.com/office/powerpoint/2010/main" val="210283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5910" y="137426"/>
            <a:ext cx="8229600" cy="12192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General Directions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2000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19384" y="1206500"/>
            <a:ext cx="8229600" cy="4539207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3000" dirty="0" smtClean="0"/>
              <a:t>Font: Times New Roman 11 or 12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3000" dirty="0" smtClean="0"/>
              <a:t>Margins: 1 inch all around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3000" dirty="0" smtClean="0"/>
              <a:t>Adhere to page limits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r>
              <a:rPr lang="en-US" sz="3000" dirty="0" smtClean="0"/>
              <a:t>Please refer to the E-book found at </a:t>
            </a:r>
            <a:r>
              <a:rPr lang="en-US" sz="3000" dirty="0" smtClean="0">
                <a:hlinkClick r:id="rId3"/>
              </a:rPr>
              <a:t>http://ucanr.edu/pr-ebook</a:t>
            </a:r>
            <a:endParaRPr lang="en-US" sz="3000" dirty="0" smtClean="0"/>
          </a:p>
          <a:p>
            <a:pPr marL="0" indent="0" eaLnBrk="1" hangingPunct="1">
              <a:buFont typeface="Arial" charset="0"/>
              <a:buNone/>
              <a:tabLst>
                <a:tab pos="739775" algn="l"/>
              </a:tabLst>
              <a:defRPr/>
            </a:pPr>
            <a:r>
              <a:rPr lang="en-US" sz="2800" dirty="0" smtClean="0"/>
              <a:t>Tip:  Be kind to your readers – use a format that makes your PR readable.  Pay attention to required vs. suggested.</a:t>
            </a:r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 smtClean="0"/>
          </a:p>
          <a:p>
            <a:pPr eaLnBrk="1" hangingPunct="1">
              <a:buFont typeface="Wingdings" pitchFamily="2" charset="2"/>
              <a:buChar char="Ø"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900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38175" y="274638"/>
            <a:ext cx="78486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Fostering</a:t>
            </a:r>
            <a:r>
              <a:rPr lang="en-US" dirty="0" smtClean="0"/>
              <a:t> Your Success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9125" y="1495425"/>
            <a:ext cx="7772400" cy="45259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SzPct val="95000"/>
              <a:buFont typeface="Wingdings" pitchFamily="2" charset="2"/>
              <a:buChar char="Ø"/>
              <a:tabLst>
                <a:tab pos="742950" algn="l"/>
              </a:tabLst>
              <a:defRPr/>
            </a:pPr>
            <a:r>
              <a:rPr lang="en-US" sz="3600" dirty="0" smtClean="0"/>
              <a:t>	</a:t>
            </a:r>
            <a:r>
              <a:rPr lang="en-US" sz="3000" dirty="0" smtClean="0"/>
              <a:t>An excellent presentation, along with high 	quality work, greatly helps your supervisor 	write a strong evaluation.</a:t>
            </a:r>
          </a:p>
          <a:p>
            <a:pPr lvl="1" indent="-682625" eaLnBrk="1" fontAlgn="auto" hangingPunct="1">
              <a:spcAft>
                <a:spcPts val="0"/>
              </a:spcAft>
              <a:buSzPct val="100000"/>
              <a:buFont typeface="Wingdings" pitchFamily="2" charset="2"/>
              <a:buChar char="Ø"/>
              <a:defRPr/>
            </a:pPr>
            <a:r>
              <a:rPr lang="en-US" sz="3000" dirty="0" smtClean="0"/>
              <a:t>The multi-disciplinary Ad hoc(s) will benefit from a concise well-written PR that demonstrates the importance of your program outcomes and/or impacts.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3000" dirty="0" smtClean="0"/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None/>
              <a:defRPr/>
            </a:pPr>
            <a:r>
              <a:rPr lang="en-US" sz="3600" dirty="0" smtClean="0"/>
              <a:t>	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Wingdings" pitchFamily="-111" charset="2"/>
              <a:buChar char="n"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4871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0377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Timeline</a:t>
            </a:r>
            <a:r>
              <a:rPr lang="en-US" dirty="0" smtClean="0"/>
              <a:t> for PR Process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3900" y="1417638"/>
            <a:ext cx="76200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Access is available through your portal.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Deadline for uploading your PR dossier: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US" b="1" dirty="0" smtClean="0">
                <a:solidFill>
                  <a:srgbClr val="0914FF"/>
                </a:solidFill>
              </a:rPr>
              <a:t>11:59 PM, February 1, 2013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/>
              <a:t>     (</a:t>
            </a:r>
            <a:r>
              <a:rPr lang="en-US" sz="2400" i="1" dirty="0" smtClean="0"/>
              <a:t>note:</a:t>
            </a:r>
            <a:r>
              <a:rPr lang="en-US" sz="2400" dirty="0" smtClean="0"/>
              <a:t> you may upload your documents and make corrections/revisions up until the deadline).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 smtClean="0"/>
              <a:t>Results by the end of June 2013 for July 1, 2013 actions.</a:t>
            </a:r>
          </a:p>
        </p:txBody>
      </p:sp>
    </p:spTree>
    <p:extLst>
      <p:ext uri="{BB962C8B-B14F-4D97-AF65-F5344CB8AC3E}">
        <p14:creationId xmlns:p14="http://schemas.microsoft.com/office/powerpoint/2010/main" val="5828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 idx="4294967295"/>
          </p:nvPr>
        </p:nvSpPr>
        <p:spPr>
          <a:xfrm>
            <a:off x="450376" y="179104"/>
            <a:ext cx="8001000" cy="1096962"/>
          </a:xfrm>
        </p:spPr>
        <p:txBody>
          <a:bodyPr/>
          <a:lstStyle/>
          <a:p>
            <a:pPr eaLnBrk="1" hangingPunct="1"/>
            <a:r>
              <a:rPr lang="en-US" sz="4000" dirty="0" smtClean="0"/>
              <a:t>Strategic</a:t>
            </a:r>
            <a:r>
              <a:rPr lang="en-US" dirty="0" smtClean="0"/>
              <a:t> Initiatives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866775" y="1552576"/>
            <a:ext cx="7765576" cy="3076574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dirty="0" smtClean="0"/>
              <a:t>Initiatives}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dirty="0" smtClean="0"/>
              <a:t>Water Quality, Quantity and Security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dirty="0" smtClean="0"/>
              <a:t>Sustainable Food Systems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dirty="0" smtClean="0"/>
              <a:t>Sustainable Natural Ecosystems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dirty="0" smtClean="0"/>
              <a:t>Healthy Families and Communities</a:t>
            </a:r>
          </a:p>
          <a:p>
            <a:pPr eaLnBrk="1" hangingPunct="1">
              <a:buFont typeface="Wingdings" pitchFamily="2" charset="2"/>
              <a:buChar char="q"/>
            </a:pPr>
            <a:r>
              <a:rPr lang="en-US" sz="2400" dirty="0" smtClean="0"/>
              <a:t>Endemic and Invasive Pests and Diseases</a:t>
            </a:r>
          </a:p>
          <a:p>
            <a:pPr eaLnBrk="1" hangingPunct="1">
              <a:buFont typeface="Wingdings" pitchFamily="2" charset="2"/>
              <a:buChar char="q"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7028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6854" y="152400"/>
            <a:ext cx="7337946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Definitions to Help </a:t>
            </a:r>
            <a:br>
              <a:rPr lang="en-US" dirty="0" smtClean="0"/>
            </a:br>
            <a:r>
              <a:rPr lang="en-US" dirty="0" smtClean="0"/>
              <a:t>Develop a Thematic PR Format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556982"/>
            <a:ext cx="8792570" cy="41910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b="1" dirty="0" smtClean="0"/>
              <a:t>Theme</a:t>
            </a:r>
            <a:r>
              <a:rPr lang="en-US" sz="2600" dirty="0" smtClean="0"/>
              <a:t>:  your program focus; subject matter expertise; etc. </a:t>
            </a:r>
            <a:r>
              <a:rPr lang="en-US" sz="2600" b="1" dirty="0" smtClean="0"/>
              <a:t>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600" dirty="0" smtClean="0"/>
              <a:t>Themes may or may not relate to Strategic Initiatives (</a:t>
            </a:r>
            <a:r>
              <a:rPr lang="en-US" sz="2600" smtClean="0"/>
              <a:t>See E-book </a:t>
            </a:r>
            <a:r>
              <a:rPr lang="en-US" sz="2600" dirty="0" smtClean="0"/>
              <a:t>for more detail).</a:t>
            </a:r>
            <a:endParaRPr lang="en-US" sz="2600" b="1" dirty="0" smtClean="0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b="1" dirty="0" smtClean="0"/>
              <a:t>Clientele</a:t>
            </a:r>
            <a:r>
              <a:rPr lang="en-US" sz="2600" dirty="0" smtClean="0"/>
              <a:t>: People or group of people that a program aims to serve.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b="1" dirty="0" smtClean="0"/>
              <a:t>Goals: </a:t>
            </a:r>
            <a:r>
              <a:rPr lang="en-US" sz="2600" dirty="0" smtClean="0"/>
              <a:t>The purpose towards which an effort is directed.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tabLst>
                <a:tab pos="1146175" algn="l"/>
              </a:tabLst>
              <a:defRPr/>
            </a:pPr>
            <a:r>
              <a:rPr lang="en-US" sz="2600" b="1" dirty="0" smtClean="0"/>
              <a:t>Inputs:</a:t>
            </a:r>
            <a:r>
              <a:rPr lang="en-US" sz="2600" dirty="0" smtClean="0"/>
              <a:t> What we invest:  Faculty, staff, students, infrastructure, federal, state and private funds, time, knowledge, etc.  This step is often assumed and is not always articulated and is not required in DANRIS-X.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600" b="1" dirty="0" smtClean="0"/>
              <a:t>Methods (Activities/Outputs)</a:t>
            </a:r>
            <a:r>
              <a:rPr lang="en-US" sz="2600" dirty="0" smtClean="0"/>
              <a:t>: Research/Creative and Extension activities to reach goals.  Products created through such activity (meetings, trainings, extension programs, curricula, webinars, publications, etc.).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tabLst>
                <a:tab pos="974725" algn="l"/>
                <a:tab pos="1547813" algn="l"/>
              </a:tabLst>
              <a:defRPr/>
            </a:pPr>
            <a:r>
              <a:rPr lang="en-US" sz="2600" b="1" dirty="0" smtClean="0"/>
              <a:t>Outcomes</a:t>
            </a:r>
            <a:r>
              <a:rPr lang="en-US" sz="2600" dirty="0" smtClean="0"/>
              <a:t>: Changed knowledge, attitudes, skills, behavior/practices  resulting from your efforts.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Ø"/>
              <a:tabLst>
                <a:tab pos="1195388" algn="l"/>
              </a:tabLst>
              <a:defRPr/>
            </a:pPr>
            <a:r>
              <a:rPr lang="en-US" sz="2600" b="1" dirty="0" smtClean="0"/>
              <a:t>Impacts</a:t>
            </a:r>
            <a:r>
              <a:rPr lang="en-US" sz="2600" dirty="0" smtClean="0"/>
              <a:t>: Social/health, economic, environmental/physical benefits to individuals, organizations, populations, communities.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90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381000"/>
            <a:ext cx="8915400" cy="9906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Another Way of Looking At One of Your Themes</a:t>
            </a:r>
            <a:endParaRPr lang="en-US" b="1" dirty="0" smtClean="0"/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66700" y="1770063"/>
            <a:ext cx="1371600" cy="469900"/>
          </a:xfrm>
          <a:prstGeom prst="rect">
            <a:avLst/>
          </a:prstGeom>
          <a:solidFill>
            <a:srgbClr val="E0E01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ea typeface="ＭＳ Ｐゴシック" pitchFamily="34" charset="-128"/>
              </a:rPr>
              <a:t>INPUTS</a:t>
            </a:r>
            <a:endParaRPr lang="en-US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828800" y="1770063"/>
            <a:ext cx="2971800" cy="461962"/>
          </a:xfrm>
          <a:prstGeom prst="rect">
            <a:avLst/>
          </a:prstGeom>
          <a:solidFill>
            <a:srgbClr val="5AFD4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>
                <a:ea typeface="ＭＳ Ｐゴシック" pitchFamily="34" charset="-128"/>
              </a:rPr>
              <a:t>OUTPUTS</a:t>
            </a:r>
            <a:endParaRPr lang="en-US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029200" y="1770063"/>
            <a:ext cx="3810000" cy="461962"/>
          </a:xfrm>
          <a:prstGeom prst="rect">
            <a:avLst/>
          </a:prstGeom>
          <a:solidFill>
            <a:srgbClr val="FF5A33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>
                <a:ea typeface="ＭＳ Ｐゴシック" pitchFamily="34" charset="-128"/>
              </a:rPr>
              <a:t>OUTCOMES</a:t>
            </a:r>
            <a:endParaRPr lang="en-US" sz="24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325438" y="2522538"/>
            <a:ext cx="1371600" cy="1169987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Program Investments or Efforts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1865313" y="2568575"/>
            <a:ext cx="1295400" cy="10001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Activities</a:t>
            </a:r>
            <a:endParaRPr lang="en-US" sz="1400">
              <a:ea typeface="ＭＳ Ｐゴシック" pitchFamily="34" charset="-128"/>
            </a:endParaRPr>
          </a:p>
          <a:p>
            <a:pPr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</p:txBody>
      </p:sp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3429000" y="2568575"/>
            <a:ext cx="1371600" cy="10001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Participation</a:t>
            </a:r>
            <a:endParaRPr lang="en-US" sz="1400">
              <a:ea typeface="ＭＳ Ｐゴシック" pitchFamily="34" charset="-128"/>
            </a:endParaRPr>
          </a:p>
          <a:p>
            <a:pPr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5048250" y="2568575"/>
            <a:ext cx="1200150" cy="10001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Short</a:t>
            </a:r>
            <a:endParaRPr lang="en-US" sz="1400">
              <a:ea typeface="ＭＳ Ｐゴシック" pitchFamily="34" charset="-128"/>
            </a:endParaRPr>
          </a:p>
          <a:p>
            <a:pPr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6616700" y="2568575"/>
            <a:ext cx="1143000" cy="100012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Medium</a:t>
            </a:r>
            <a:endParaRPr lang="en-US" sz="1400">
              <a:ea typeface="ＭＳ Ｐゴシック" pitchFamily="34" charset="-128"/>
            </a:endParaRPr>
          </a:p>
          <a:p>
            <a:pPr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</p:txBody>
      </p:sp>
      <p:sp>
        <p:nvSpPr>
          <p:cNvPr id="30731" name="AutoShape 11"/>
          <p:cNvSpPr>
            <a:spLocks noChangeArrowheads="1"/>
          </p:cNvSpPr>
          <p:nvPr/>
        </p:nvSpPr>
        <p:spPr bwMode="auto">
          <a:xfrm>
            <a:off x="1697038" y="3048000"/>
            <a:ext cx="152400" cy="152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0732" name="AutoShape 12"/>
          <p:cNvSpPr>
            <a:spLocks noChangeArrowheads="1"/>
          </p:cNvSpPr>
          <p:nvPr/>
        </p:nvSpPr>
        <p:spPr bwMode="auto">
          <a:xfrm>
            <a:off x="3200400" y="3082925"/>
            <a:ext cx="152400" cy="152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0733" name="AutoShape 13"/>
          <p:cNvSpPr>
            <a:spLocks noChangeArrowheads="1"/>
          </p:cNvSpPr>
          <p:nvPr/>
        </p:nvSpPr>
        <p:spPr bwMode="auto">
          <a:xfrm>
            <a:off x="4800600" y="3048000"/>
            <a:ext cx="152400" cy="152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lang="en-US" sz="240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30734" name="AutoShape 14"/>
          <p:cNvSpPr>
            <a:spLocks noChangeArrowheads="1"/>
          </p:cNvSpPr>
          <p:nvPr/>
        </p:nvSpPr>
        <p:spPr bwMode="auto">
          <a:xfrm>
            <a:off x="6248400" y="3048000"/>
            <a:ext cx="152400" cy="152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0735" name="AutoShape 15"/>
          <p:cNvSpPr>
            <a:spLocks noChangeArrowheads="1"/>
          </p:cNvSpPr>
          <p:nvPr/>
        </p:nvSpPr>
        <p:spPr bwMode="auto">
          <a:xfrm>
            <a:off x="7772400" y="3048000"/>
            <a:ext cx="152400" cy="1524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457200" y="3776663"/>
            <a:ext cx="990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What we invest or do</a:t>
            </a:r>
            <a:endParaRPr lang="en-US" sz="160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1697038" y="3776663"/>
            <a:ext cx="12747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Products or programs we create</a:t>
            </a: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3429000" y="3652838"/>
            <a:ext cx="12239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Who we reach</a:t>
            </a:r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>
            <a:off x="5105400" y="3733800"/>
            <a:ext cx="365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Information gained, behaviors changed, etc.</a:t>
            </a:r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5029200" y="4479925"/>
            <a:ext cx="3848100" cy="1062038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dirty="0">
                <a:ea typeface="ＭＳ Ｐゴシック" pitchFamily="34" charset="-128"/>
              </a:rPr>
              <a:t>SO WHAT??</a:t>
            </a:r>
          </a:p>
          <a:p>
            <a:pPr algn="ctr">
              <a:spcBef>
                <a:spcPct val="50000"/>
              </a:spcBef>
            </a:pPr>
            <a:r>
              <a:rPr lang="en-US" dirty="0">
                <a:ea typeface="ＭＳ Ｐゴシック" pitchFamily="34" charset="-128"/>
              </a:rPr>
              <a:t>What is the IMPACT or ANTICIPATED IMPACT?</a:t>
            </a:r>
            <a:endParaRPr lang="en-US" dirty="0">
              <a:latin typeface="Times New Roman" pitchFamily="18" charset="0"/>
              <a:ea typeface="ＭＳ Ｐゴシック" pitchFamily="34" charset="-128"/>
            </a:endParaRP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8001000" y="2498725"/>
            <a:ext cx="762000" cy="1277938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endParaRPr lang="en-US" sz="16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1600">
                <a:ea typeface="ＭＳ Ｐゴシック" pitchFamily="34" charset="-128"/>
              </a:rPr>
              <a:t>Long-term</a:t>
            </a:r>
            <a:endParaRPr lang="en-US" sz="1400">
              <a:ea typeface="ＭＳ Ｐゴシック" pitchFamily="34" charset="-128"/>
            </a:endParaRPr>
          </a:p>
          <a:p>
            <a:pPr algn="ctr">
              <a:spcBef>
                <a:spcPct val="50000"/>
              </a:spcBef>
            </a:pPr>
            <a:endParaRPr lang="en-US" sz="140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2624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504825" y="98425"/>
            <a:ext cx="825817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latin typeface="+mj-lt"/>
                <a:ea typeface="ＭＳ Ｐゴシック"/>
                <a:cs typeface="ＭＳ Ｐゴシック"/>
              </a:rPr>
              <a:t>2 Separate Theme Examples- 4-HYDA</a:t>
            </a:r>
          </a:p>
        </p:txBody>
      </p:sp>
      <p:sp>
        <p:nvSpPr>
          <p:cNvPr id="31747" name="Rectangle 6"/>
          <p:cNvSpPr>
            <a:spLocks noChangeArrowheads="1"/>
          </p:cNvSpPr>
          <p:nvPr/>
        </p:nvSpPr>
        <p:spPr bwMode="auto">
          <a:xfrm>
            <a:off x="504825" y="1684338"/>
            <a:ext cx="79406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0724" name="Rectangle 7"/>
          <p:cNvSpPr>
            <a:spLocks noChangeArrowheads="1"/>
          </p:cNvSpPr>
          <p:nvPr/>
        </p:nvSpPr>
        <p:spPr bwMode="auto">
          <a:xfrm>
            <a:off x="304800" y="914400"/>
            <a:ext cx="8610600" cy="572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400" dirty="0">
                <a:latin typeface="+mj-lt"/>
                <a:ea typeface="ＭＳ Ｐゴシック"/>
                <a:cs typeface="ＭＳ Ｐゴシック"/>
              </a:rPr>
              <a:t>Healthy Families and Communities Initiative (Advisor 1)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Promote Positive Youth Development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Support Adolescent Leadership Development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Volunteer Development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Increase Science Literacy Among Youth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en-US" sz="2100" dirty="0">
              <a:latin typeface="+mj-lt"/>
              <a:ea typeface="ＭＳ Ｐゴシック"/>
              <a:cs typeface="ＭＳ Ｐゴシック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sz="2400" dirty="0">
                <a:latin typeface="+mj-lt"/>
                <a:ea typeface="ＭＳ Ｐゴシック"/>
                <a:cs typeface="ＭＳ Ｐゴシック"/>
              </a:rPr>
              <a:t>Healthy Families and Communities Initiative (Advisor 2)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Life Skills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Adolescent Development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Extension Education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Science, Engineering and Technology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Administrative Leadership</a:t>
            </a: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16297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685800" y="160338"/>
            <a:ext cx="75946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latin typeface="+mj-lt"/>
                <a:ea typeface="ＭＳ Ｐゴシック"/>
                <a:cs typeface="ＭＳ Ｐゴシック"/>
              </a:rPr>
              <a:t>Theme Examples - NFCS Advisor</a:t>
            </a:r>
          </a:p>
        </p:txBody>
      </p:sp>
      <p:sp>
        <p:nvSpPr>
          <p:cNvPr id="32771" name="Rectangle 6"/>
          <p:cNvSpPr>
            <a:spLocks noChangeArrowheads="1"/>
          </p:cNvSpPr>
          <p:nvPr/>
        </p:nvSpPr>
        <p:spPr bwMode="auto">
          <a:xfrm>
            <a:off x="504825" y="1684338"/>
            <a:ext cx="79406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0724" name="Rectangle 7"/>
          <p:cNvSpPr>
            <a:spLocks noChangeArrowheads="1"/>
          </p:cNvSpPr>
          <p:nvPr/>
        </p:nvSpPr>
        <p:spPr bwMode="auto">
          <a:xfrm>
            <a:off x="609600" y="746125"/>
            <a:ext cx="8153400" cy="660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400" kern="100" dirty="0">
                <a:latin typeface="+mj-lt"/>
                <a:ea typeface="ＭＳ Ｐゴシック"/>
                <a:cs typeface="ＭＳ Ｐゴシック"/>
              </a:rPr>
              <a:t>I expanded the scope of my activities in research, extension, and creative activity while at the same time ensuring I was strategically positioning my administrative and programmatic efforts in ways that integrated the local county needs with the UC ANR Strategic Vision: human nutritional status, child obesity, food safety, and food security. </a:t>
            </a:r>
          </a:p>
          <a:p>
            <a:pPr marL="342900" indent="-342900">
              <a:defRPr/>
            </a:pPr>
            <a:endParaRPr lang="en-US" sz="2000" kern="100" dirty="0">
              <a:latin typeface="+mj-lt"/>
              <a:ea typeface="ＭＳ Ｐゴシック"/>
              <a:cs typeface="ＭＳ Ｐゴシック"/>
            </a:endParaRPr>
          </a:p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400" dirty="0">
                <a:latin typeface="+mj-lt"/>
                <a:ea typeface="ＭＳ Ｐゴシック"/>
                <a:cs typeface="ＭＳ Ｐゴシック"/>
              </a:rPr>
              <a:t>Healthy Families and Communities Initiative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Childhood Obesity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Health Promotion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Consumer Food Safety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Food Security</a:t>
            </a:r>
            <a:endParaRPr lang="en-US" sz="2100" dirty="0">
              <a:solidFill>
                <a:srgbClr val="FF0000"/>
              </a:solidFill>
              <a:latin typeface="+mj-lt"/>
              <a:ea typeface="ＭＳ Ｐゴシック"/>
              <a:cs typeface="ＭＳ Ｐゴシック"/>
            </a:endParaRP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Administrative Leadership</a:t>
            </a: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04560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066800" y="241561"/>
            <a:ext cx="72136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latin typeface="+mj-lt"/>
                <a:ea typeface="ＭＳ Ｐゴシック"/>
                <a:cs typeface="ＭＳ Ｐゴシック"/>
              </a:rPr>
              <a:t>Theme Examples – Agricultural</a:t>
            </a:r>
          </a:p>
        </p:txBody>
      </p:sp>
      <p:sp>
        <p:nvSpPr>
          <p:cNvPr id="33795" name="Rectangle 6"/>
          <p:cNvSpPr>
            <a:spLocks noChangeArrowheads="1"/>
          </p:cNvSpPr>
          <p:nvPr/>
        </p:nvSpPr>
        <p:spPr bwMode="auto">
          <a:xfrm>
            <a:off x="504825" y="1684338"/>
            <a:ext cx="79406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0724" name="Rectangle 7"/>
          <p:cNvSpPr>
            <a:spLocks noChangeArrowheads="1"/>
          </p:cNvSpPr>
          <p:nvPr/>
        </p:nvSpPr>
        <p:spPr bwMode="auto">
          <a:xfrm>
            <a:off x="368300" y="827349"/>
            <a:ext cx="8610600" cy="669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200" dirty="0">
                <a:latin typeface="+mj-lt"/>
                <a:ea typeface="ＭＳ Ｐゴシック"/>
                <a:cs typeface="ＭＳ Ｐゴシック"/>
              </a:rPr>
              <a:t>My research and extension program is based on the major theme of interactions between plants and microorganisms.  Because of my interest, training and experience with plant pathology and microbial ecology, I focused my activities on three areas of plant-microbe interactions: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Pathogens of plants (summary of 16 projects)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Microbial ecology in strawberry (summary of 7 projects)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Foodborne pathogens and ecology of </a:t>
            </a:r>
            <a:r>
              <a:rPr lang="en-US" sz="2100" i="1" dirty="0">
                <a:latin typeface="+mj-lt"/>
                <a:ea typeface="ＭＳ Ｐゴシック"/>
                <a:cs typeface="ＭＳ Ｐゴシック"/>
              </a:rPr>
              <a:t>E. coli. </a:t>
            </a:r>
            <a:r>
              <a:rPr lang="en-US" sz="2100" dirty="0">
                <a:latin typeface="+mj-lt"/>
                <a:ea typeface="ＭＳ Ｐゴシック"/>
                <a:cs typeface="ＭＳ Ｐゴシック"/>
              </a:rPr>
              <a:t>(summary of 2 projects)</a:t>
            </a:r>
            <a:endParaRPr lang="en-US" sz="2100" i="1" dirty="0">
              <a:latin typeface="+mj-lt"/>
              <a:ea typeface="ＭＳ Ｐゴシック"/>
              <a:cs typeface="ＭＳ Ｐゴシック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sz="2200" dirty="0">
                <a:latin typeface="+mj-lt"/>
                <a:ea typeface="ＭＳ Ｐゴシック"/>
                <a:cs typeface="ＭＳ Ｐゴシック"/>
              </a:rPr>
              <a:t>Sustainability and Viability of Agriculture: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Sustainable Food Systems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Science and Agriculture Literacy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Organic Crop Production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Ag Productivity, Efficiency and Sustainability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Waste Management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en-US" sz="2100" dirty="0">
              <a:latin typeface="+mj-lt"/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56873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079500" y="160338"/>
            <a:ext cx="72136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dirty="0">
                <a:latin typeface="+mj-lt"/>
                <a:ea typeface="ＭＳ Ｐゴシック"/>
                <a:cs typeface="ＭＳ Ｐゴシック"/>
              </a:rPr>
              <a:t>Theme Examples – Natural Resources</a:t>
            </a:r>
          </a:p>
        </p:txBody>
      </p:sp>
      <p:sp>
        <p:nvSpPr>
          <p:cNvPr id="34819" name="Rectangle 6"/>
          <p:cNvSpPr>
            <a:spLocks noChangeArrowheads="1"/>
          </p:cNvSpPr>
          <p:nvPr/>
        </p:nvSpPr>
        <p:spPr bwMode="auto">
          <a:xfrm>
            <a:off x="504825" y="1684338"/>
            <a:ext cx="79406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0724" name="Rectangle 7"/>
          <p:cNvSpPr>
            <a:spLocks noChangeArrowheads="1"/>
          </p:cNvSpPr>
          <p:nvPr/>
        </p:nvSpPr>
        <p:spPr bwMode="auto">
          <a:xfrm>
            <a:off x="808038" y="868363"/>
            <a:ext cx="7756525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Wingdings" pitchFamily="2" charset="2"/>
              <a:buChar char="Ø"/>
              <a:defRPr/>
            </a:pPr>
            <a:r>
              <a:rPr lang="en-US" sz="2400" dirty="0">
                <a:latin typeface="+mj-lt"/>
                <a:ea typeface="ＭＳ Ｐゴシック"/>
                <a:cs typeface="ＭＳ Ｐゴシック"/>
              </a:rPr>
              <a:t>Sustainable Ecosystems Initiative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Sustainable Natural Ecosystems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Sustainable Natural Resources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Water Quality, Quantity and Security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Water Conservation and Irrigation Quality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endParaRPr lang="en-US" sz="2100" dirty="0">
              <a:latin typeface="+mj-lt"/>
              <a:ea typeface="ＭＳ Ｐゴシック"/>
              <a:cs typeface="ＭＳ Ｐゴシック"/>
            </a:endParaRPr>
          </a:p>
          <a:p>
            <a:pPr marL="285750" indent="-285750">
              <a:buFont typeface="Wingdings" pitchFamily="2" charset="2"/>
              <a:buChar char="Ø"/>
              <a:defRPr/>
            </a:pPr>
            <a:r>
              <a:rPr lang="en-US" sz="2400" dirty="0">
                <a:latin typeface="+mj-lt"/>
                <a:ea typeface="ＭＳ Ｐゴシック"/>
                <a:cs typeface="ＭＳ Ｐゴシック"/>
              </a:rPr>
              <a:t>Example of a more narrowly focused Natural Resources Theme(s)</a:t>
            </a:r>
          </a:p>
          <a:p>
            <a:pPr marL="800100" lvl="1" indent="-342900">
              <a:buFont typeface="Courier New" pitchFamily="49" charset="0"/>
              <a:buChar char="o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Landscape Management</a:t>
            </a:r>
          </a:p>
          <a:p>
            <a:pPr marL="1257300" lvl="2" indent="-342900">
              <a:buFont typeface="Wingdings" pitchFamily="2" charset="2"/>
              <a:buChar char="§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Wildland/Urban Interface</a:t>
            </a:r>
          </a:p>
          <a:p>
            <a:pPr marL="1257300" lvl="2" indent="-342900">
              <a:buFont typeface="Wingdings" pitchFamily="2" charset="2"/>
              <a:buChar char="§"/>
              <a:defRPr/>
            </a:pPr>
            <a:r>
              <a:rPr lang="en-US" sz="2100" dirty="0">
                <a:latin typeface="+mj-lt"/>
                <a:ea typeface="ＭＳ Ｐゴシック"/>
                <a:cs typeface="ＭＳ Ｐゴシック"/>
              </a:rPr>
              <a:t>Wildfire Education</a:t>
            </a: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  <a:p>
            <a:pPr>
              <a:defRPr/>
            </a:pPr>
            <a:endParaRPr lang="en-US" dirty="0"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7739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2"/>
          <p:cNvSpPr txBox="1">
            <a:spLocks/>
          </p:cNvSpPr>
          <p:nvPr/>
        </p:nvSpPr>
        <p:spPr bwMode="auto">
          <a:xfrm>
            <a:off x="661245" y="242047"/>
            <a:ext cx="7615451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sz="4000" dirty="0">
                <a:latin typeface="Calibri" pitchFamily="34" charset="0"/>
                <a:ea typeface="ＭＳ Ｐゴシック" pitchFamily="34" charset="-128"/>
              </a:rPr>
              <a:t>Theme Example 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(examples borrowed from UC Delivers)</a:t>
            </a:r>
            <a:br>
              <a:rPr lang="en-US" sz="2400" dirty="0">
                <a:latin typeface="Calibri" pitchFamily="34" charset="0"/>
                <a:ea typeface="ＭＳ Ｐゴシック" pitchFamily="34" charset="-128"/>
              </a:rPr>
            </a:b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 </a:t>
            </a:r>
          </a:p>
        </p:txBody>
      </p:sp>
      <p:sp>
        <p:nvSpPr>
          <p:cNvPr id="56323" name="Content Placeholder 3"/>
          <p:cNvSpPr txBox="1">
            <a:spLocks/>
          </p:cNvSpPr>
          <p:nvPr/>
        </p:nvSpPr>
        <p:spPr bwMode="auto">
          <a:xfrm>
            <a:off x="457200" y="1066800"/>
            <a:ext cx="8432800" cy="4679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Conserving water in agricultural systems (Theme)</a:t>
            </a: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20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Description of Theme: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Water resources are severely limited in both volume and quality in CA. It is critical to assist clientele in conserving water resources and in improving agricultural uses of water. . . 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endParaRPr lang="en-US" sz="24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Goal to address theme: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Devise improved systems of irrigation and . .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endParaRPr lang="en-US" sz="24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Research projects: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New method for canopy shading measurements; erosion reduction in watersheds; vineyard cover crop and water usage; polymer additives reduce sediment and nutrient losses.</a:t>
            </a:r>
          </a:p>
        </p:txBody>
      </p:sp>
    </p:spTree>
    <p:extLst>
      <p:ext uri="{BB962C8B-B14F-4D97-AF65-F5344CB8AC3E}">
        <p14:creationId xmlns:p14="http://schemas.microsoft.com/office/powerpoint/2010/main" val="371171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 txBox="1">
            <a:spLocks/>
          </p:cNvSpPr>
          <p:nvPr/>
        </p:nvSpPr>
        <p:spPr bwMode="auto">
          <a:xfrm>
            <a:off x="152400" y="267087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sz="3600" dirty="0">
                <a:latin typeface="Calibri" pitchFamily="34" charset="0"/>
                <a:ea typeface="ＭＳ Ｐゴシック" pitchFamily="34" charset="-128"/>
              </a:rPr>
              <a:t>Theme Example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(cont’d)</a:t>
            </a:r>
          </a:p>
          <a:p>
            <a:pPr algn="ctr" eaLnBrk="1" hangingPunct="1">
              <a:lnSpc>
                <a:spcPct val="80000"/>
              </a:lnSpc>
            </a:pP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(examples borrowed from UC Delivers) </a:t>
            </a:r>
          </a:p>
        </p:txBody>
      </p:sp>
      <p:sp>
        <p:nvSpPr>
          <p:cNvPr id="57347" name="Content Placeholder 2"/>
          <p:cNvSpPr txBox="1">
            <a:spLocks/>
          </p:cNvSpPr>
          <p:nvPr/>
        </p:nvSpPr>
        <p:spPr bwMode="auto">
          <a:xfrm>
            <a:off x="447675" y="1015621"/>
            <a:ext cx="8153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Role: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very brief description (your project summary table will provide the details).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Inputs: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very brief description of your efforts.</a:t>
            </a:r>
            <a:endParaRPr lang="en-US" sz="2400" b="1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Outputs: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Findings, publications, new methods and products, meetings, curricula, extension programs, etc.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Extension: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Brief summary of extension activities related to outputs.  How did you extend your products/information to clientele?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sz="2400" b="1" dirty="0">
                <a:latin typeface="Calibri" pitchFamily="34" charset="0"/>
                <a:ea typeface="ＭＳ Ｐゴシック" pitchFamily="34" charset="-128"/>
              </a:rPr>
              <a:t>Outcomes/impacts as related to overall theme: </a:t>
            </a:r>
            <a:r>
              <a:rPr lang="en-US" sz="2400" dirty="0">
                <a:latin typeface="Calibri" pitchFamily="34" charset="0"/>
                <a:ea typeface="ＭＳ Ｐゴシック" pitchFamily="34" charset="-128"/>
              </a:rPr>
              <a:t>20 growers changed practices . . . . Runoff reduced in this watershed . . . . 12 growers used canopy measurement system and altered irrigation scheduling in this manner. . . . Positive impacts on long-term, broader environmental issues.</a:t>
            </a: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ＭＳ Ｐゴシック" pitchFamily="34" charset="-128"/>
            </a:endParaRPr>
          </a:p>
          <a:p>
            <a:pPr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sz="2000" dirty="0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633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5370" y="1304925"/>
            <a:ext cx="7772400" cy="2469906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n-US" sz="3600" dirty="0" smtClean="0"/>
              <a:t>Questions about general directions, 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600" dirty="0" smtClean="0"/>
              <a:t>format, or themes?</a:t>
            </a:r>
          </a:p>
        </p:txBody>
      </p:sp>
    </p:spTree>
    <p:extLst>
      <p:ext uri="{BB962C8B-B14F-4D97-AF65-F5344CB8AC3E}">
        <p14:creationId xmlns:p14="http://schemas.microsoft.com/office/powerpoint/2010/main" val="3498456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1318" y="0"/>
            <a:ext cx="7509681" cy="7620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Full Title V – VI - Promotion</a:t>
            </a:r>
            <a:endParaRPr lang="en-US" sz="4000" dirty="0" smtClean="0">
              <a:solidFill>
                <a:srgbClr val="FF0000"/>
              </a:solidFill>
            </a:endParaRP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81075" y="685799"/>
            <a:ext cx="7315200" cy="5448301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Program Summary Narrative (10 pages) for your career within the Full Title </a:t>
            </a:r>
            <a:r>
              <a:rPr lang="en-US" sz="1750" kern="0" dirty="0">
                <a:latin typeface="+mj-lt"/>
                <a:ea typeface="Tahoma" pitchFamily="34" charset="0"/>
                <a:cs typeface="Tahoma" pitchFamily="34" charset="0"/>
              </a:rPr>
              <a:t>r</a:t>
            </a: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ank.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AE Section C: Goals for the Coming Year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Bibliography from your entire career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1750" b="1" u="sng" kern="0" dirty="0" smtClean="0">
                <a:latin typeface="+mj-lt"/>
                <a:ea typeface="Tahoma" pitchFamily="34" charset="0"/>
                <a:cs typeface="Tahoma" pitchFamily="34" charset="0"/>
              </a:rPr>
              <a:t>Highlight </a:t>
            </a: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years in Full Title rank and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lang="en-US" sz="1750" b="1" u="sng" kern="0" dirty="0" smtClean="0">
                <a:latin typeface="+mj-lt"/>
                <a:ea typeface="Tahoma" pitchFamily="34" charset="0"/>
                <a:cs typeface="Tahoma" pitchFamily="34" charset="0"/>
              </a:rPr>
              <a:t>Highlight differently</a:t>
            </a: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 years since last salary action.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Extension activities table and </a:t>
            </a:r>
            <a:r>
              <a:rPr lang="en-US" sz="1750" kern="0" dirty="0">
                <a:latin typeface="+mj-lt"/>
                <a:ea typeface="Tahoma" pitchFamily="34" charset="0"/>
                <a:cs typeface="Tahoma" pitchFamily="34" charset="0"/>
              </a:rPr>
              <a:t>p</a:t>
            </a: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roject summary table—include years since last review.</a:t>
            </a:r>
          </a:p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Ø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All other components: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(3) Publication examples -- can be those submitted in other PR’s in Full Title rank.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Letters of Evaluation.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1750" kern="0" dirty="0" smtClean="0">
                <a:latin typeface="+mj-lt"/>
                <a:ea typeface="Tahoma" pitchFamily="34" charset="0"/>
                <a:cs typeface="Tahoma" pitchFamily="34" charset="0"/>
              </a:rPr>
              <a:t>Include all PD’s from all years in Full Title rank</a:t>
            </a:r>
            <a:r>
              <a:rPr lang="en-US" sz="1750" kern="0" dirty="0" smtClean="0">
                <a:latin typeface="+mj-lt"/>
                <a:cs typeface="Times New Roman" pitchFamily="18" charset="0"/>
              </a:rPr>
              <a:t>.</a:t>
            </a: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1750" kern="0" dirty="0" smtClean="0">
                <a:latin typeface="+mj-lt"/>
                <a:cs typeface="Times New Roman" pitchFamily="18" charset="0"/>
              </a:rPr>
              <a:t>Refer to E-book for guidance in performance expectations.</a:t>
            </a:r>
          </a:p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4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4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400" dirty="0" smtClean="0"/>
              <a:t>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400" dirty="0" smtClean="0"/>
          </a:p>
        </p:txBody>
      </p:sp>
    </p:spTree>
    <p:extLst>
      <p:ext uri="{BB962C8B-B14F-4D97-AF65-F5344CB8AC3E}">
        <p14:creationId xmlns:p14="http://schemas.microsoft.com/office/powerpoint/2010/main" val="152176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9144000" cy="5334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Program Review Sections-Advisors</a:t>
            </a:r>
            <a:br>
              <a:rPr lang="en-US" dirty="0" smtClean="0"/>
            </a:br>
            <a:r>
              <a:rPr lang="en-US" dirty="0" smtClean="0"/>
              <a:t>		</a:t>
            </a:r>
            <a:br>
              <a:rPr lang="en-US" dirty="0" smtClean="0"/>
            </a:br>
            <a:endParaRPr lang="en-US" sz="1800" dirty="0" smtClean="0">
              <a:solidFill>
                <a:schemeClr val="folHlink"/>
              </a:solidFill>
            </a:endParaRPr>
          </a:p>
        </p:txBody>
      </p:sp>
      <p:sp>
        <p:nvSpPr>
          <p:cNvPr id="43011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1194" y="1209676"/>
            <a:ext cx="3697406" cy="4724400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dirty="0" smtClean="0"/>
              <a:t>Position Description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dirty="0" smtClean="0"/>
              <a:t>Acceleration Statement (if applicable)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US" sz="1800" dirty="0" smtClean="0"/>
              <a:t>Program Summary Narrative</a:t>
            </a:r>
            <a:endParaRPr lang="en-US" sz="700" dirty="0" smtClean="0"/>
          </a:p>
          <a:p>
            <a:pPr marL="857250" lvl="1" indent="-228600" fontAlgn="t"/>
            <a:r>
              <a:rPr lang="en-US" sz="1400" dirty="0" smtClean="0"/>
              <a:t>Extending Knowledge and Information/Applied Research and Creative Activity</a:t>
            </a:r>
            <a:endParaRPr lang="en-US" sz="1400" dirty="0"/>
          </a:p>
          <a:p>
            <a:pPr marL="857250" lvl="1" indent="-228600" fontAlgn="t"/>
            <a:r>
              <a:rPr lang="en-US" sz="1400" dirty="0"/>
              <a:t>Professional </a:t>
            </a:r>
            <a:r>
              <a:rPr lang="en-US" sz="1400" dirty="0" smtClean="0"/>
              <a:t>Competence </a:t>
            </a:r>
            <a:r>
              <a:rPr lang="en-US" sz="1400" dirty="0"/>
              <a:t>&amp; </a:t>
            </a:r>
            <a:r>
              <a:rPr lang="en-US" sz="1400" dirty="0" smtClean="0"/>
              <a:t>Professional Activity Summary</a:t>
            </a:r>
            <a:endParaRPr lang="en-US" sz="1400" dirty="0"/>
          </a:p>
          <a:p>
            <a:pPr marL="857250" lvl="1" indent="-228600" fontAlgn="t"/>
            <a:r>
              <a:rPr lang="en-US" sz="1400" dirty="0"/>
              <a:t>University and Public Service Summary</a:t>
            </a:r>
          </a:p>
          <a:p>
            <a:pPr marL="857250" lvl="1" indent="-228600" fontAlgn="t"/>
            <a:r>
              <a:rPr lang="en-US" sz="1400" dirty="0"/>
              <a:t>Affirmative Action </a:t>
            </a:r>
            <a:r>
              <a:rPr lang="en-US" sz="1400" dirty="0" smtClean="0"/>
              <a:t>Summary</a:t>
            </a:r>
            <a:endParaRPr lang="en-US" sz="1400" dirty="0"/>
          </a:p>
          <a:p>
            <a:pPr marL="533400" indent="-533400" eaLnBrk="1" hangingPunct="1">
              <a:lnSpc>
                <a:spcPct val="90000"/>
              </a:lnSpc>
              <a:buFont typeface="Arial" charset="0"/>
              <a:buNone/>
            </a:pPr>
            <a:r>
              <a:rPr lang="en-US" sz="1800" dirty="0" smtClean="0"/>
              <a:t>4.	Professional Competence</a:t>
            </a:r>
            <a:br>
              <a:rPr lang="en-US" sz="1800" dirty="0" smtClean="0"/>
            </a:br>
            <a:r>
              <a:rPr lang="en-US" sz="1800" dirty="0" smtClean="0"/>
              <a:t>(documenting lists)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dirty="0" smtClean="0">
              <a:solidFill>
                <a:schemeClr val="hlink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 smtClean="0"/>
          </a:p>
        </p:txBody>
      </p:sp>
      <p:sp>
        <p:nvSpPr>
          <p:cNvPr id="190469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499923" y="1200151"/>
            <a:ext cx="3821373" cy="4533900"/>
          </a:xfrm>
        </p:spPr>
        <p:txBody>
          <a:bodyPr rtlCol="0">
            <a:normAutofit/>
          </a:bodyPr>
          <a:lstStyle/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1800" dirty="0" smtClean="0"/>
              <a:t>5</a:t>
            </a:r>
            <a:r>
              <a:rPr lang="en-US" sz="2000" dirty="0" smtClean="0"/>
              <a:t>.  </a:t>
            </a:r>
            <a:r>
              <a:rPr lang="en-US" sz="1800" dirty="0" smtClean="0"/>
              <a:t>University and Public Service (documenting lists)</a:t>
            </a:r>
          </a:p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 startAt="6"/>
              <a:defRPr/>
            </a:pPr>
            <a:r>
              <a:rPr lang="en-US" sz="1800" dirty="0" smtClean="0"/>
              <a:t>AE Section C: Goals for Coming Year</a:t>
            </a:r>
          </a:p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 startAt="6"/>
              <a:defRPr/>
            </a:pPr>
            <a:r>
              <a:rPr lang="en-US" sz="1800" dirty="0" smtClean="0"/>
              <a:t>Bibliography</a:t>
            </a:r>
            <a:endParaRPr lang="en-US" sz="1800" dirty="0"/>
          </a:p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 startAt="6"/>
              <a:defRPr/>
            </a:pPr>
            <a:r>
              <a:rPr lang="en-US" sz="1800" dirty="0" smtClean="0"/>
              <a:t>Publication Examples and Summary (if applicable)</a:t>
            </a:r>
          </a:p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 startAt="6"/>
              <a:defRPr/>
            </a:pPr>
            <a:r>
              <a:rPr lang="en-US" sz="1800" dirty="0" smtClean="0"/>
              <a:t>Letters of Evaluation (if applicable)</a:t>
            </a:r>
          </a:p>
          <a:p>
            <a:pPr marL="457200" indent="-457200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AutoNum type="arabicPeriod" startAt="6"/>
              <a:defRPr/>
            </a:pPr>
            <a:r>
              <a:rPr lang="en-US" sz="1800" dirty="0" smtClean="0"/>
              <a:t>Appendices:</a:t>
            </a:r>
          </a:p>
          <a:p>
            <a:pPr lvl="1" indent="-171450" fontAlgn="t"/>
            <a:r>
              <a:rPr lang="en-US" sz="1400" dirty="0"/>
              <a:t>Project Summary Table </a:t>
            </a:r>
            <a:endParaRPr lang="en-US" sz="1400" dirty="0" smtClean="0"/>
          </a:p>
          <a:p>
            <a:pPr lvl="1" indent="-171450" fontAlgn="t"/>
            <a:r>
              <a:rPr lang="en-US" sz="1400" dirty="0" smtClean="0"/>
              <a:t>Extension </a:t>
            </a:r>
            <a:r>
              <a:rPr lang="en-US" sz="1400" dirty="0"/>
              <a:t>Activities Table </a:t>
            </a:r>
            <a:endParaRPr lang="en-US" sz="1400" dirty="0" smtClean="0"/>
          </a:p>
          <a:p>
            <a:pPr lvl="1" indent="-171450" fontAlgn="t"/>
            <a:r>
              <a:rPr lang="en-US" sz="1400" dirty="0" smtClean="0"/>
              <a:t>Letters </a:t>
            </a:r>
            <a:r>
              <a:rPr lang="en-US" sz="1400" dirty="0"/>
              <a:t>of Publication </a:t>
            </a:r>
            <a:r>
              <a:rPr lang="en-US" sz="1400" dirty="0" smtClean="0"/>
              <a:t>(if applicable)</a:t>
            </a:r>
          </a:p>
          <a:p>
            <a:pPr lvl="1" indent="-171450" fontAlgn="t"/>
            <a:r>
              <a:rPr lang="en-US" sz="1400" dirty="0" smtClean="0"/>
              <a:t>Sabbatical Leave Plan and/or Report (if applicable)</a:t>
            </a:r>
            <a:endParaRPr 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7706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0376" y="10918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   </a:t>
            </a:r>
            <a:r>
              <a:rPr lang="en-US" sz="4000" dirty="0" smtClean="0"/>
              <a:t>Position Description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sz="2400" dirty="0" smtClean="0">
              <a:solidFill>
                <a:srgbClr val="FF6600"/>
              </a:solidFill>
            </a:endParaRP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9836" y="1252182"/>
            <a:ext cx="8305800" cy="4114800"/>
          </a:xfrm>
        </p:spPr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itchFamily="-111" charset="2"/>
              <a:buNone/>
              <a:defRPr/>
            </a:pPr>
            <a:r>
              <a:rPr lang="en-US" dirty="0" smtClean="0"/>
              <a:t>The Position Description provides the basis for evaluating your PR:</a:t>
            </a:r>
          </a:p>
          <a:p>
            <a:pPr marL="574675" lvl="1" indent="-341313"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Review your PD to make sure it reflects your current assignment.  Update if needed. The new academic PD template is available on the APU website .</a:t>
            </a:r>
          </a:p>
          <a:p>
            <a:pPr marL="574675" lvl="1" indent="-341313"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Include all position descriptions that apply to the review period. </a:t>
            </a:r>
          </a:p>
          <a:p>
            <a:pPr marL="574675" lvl="1" indent="-341313"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Indicate the time period each was in effect.</a:t>
            </a:r>
          </a:p>
          <a:p>
            <a:pPr marL="574675" lvl="1" indent="-341313"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Develop documentation (i.e. PD addendum) for special assignments, such as acting County Director or new cross county work.</a:t>
            </a:r>
          </a:p>
          <a:p>
            <a:pPr marL="0" indent="0" eaLnBrk="1" fontAlgn="auto" hangingPunct="1">
              <a:spcAft>
                <a:spcPts val="0"/>
              </a:spcAft>
              <a:buFont typeface="Wingdings" pitchFamily="-111" charset="2"/>
              <a:buChar char="Ø"/>
              <a:defRPr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577191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6675"/>
            <a:ext cx="8458200" cy="1066800"/>
          </a:xfrm>
        </p:spPr>
        <p:txBody>
          <a:bodyPr/>
          <a:lstStyle/>
          <a:p>
            <a:pPr eaLnBrk="1" hangingPunct="1"/>
            <a:r>
              <a:rPr lang="en-US" dirty="0" smtClean="0"/>
              <a:t>   </a:t>
            </a:r>
            <a:r>
              <a:rPr lang="en-US" sz="3600" dirty="0" smtClean="0"/>
              <a:t>Program Summary Narrative</a:t>
            </a:r>
          </a:p>
        </p:txBody>
      </p:sp>
      <p:sp>
        <p:nvSpPr>
          <p:cNvPr id="47107" name="Rectangle 8"/>
          <p:cNvSpPr>
            <a:spLocks noGrp="1" noChangeArrowheads="1"/>
          </p:cNvSpPr>
          <p:nvPr>
            <p:ph idx="4294967295"/>
          </p:nvPr>
        </p:nvSpPr>
        <p:spPr>
          <a:xfrm>
            <a:off x="702859" y="1218063"/>
            <a:ext cx="7772400" cy="4114800"/>
          </a:xfrm>
        </p:spPr>
        <p:txBody>
          <a:bodyPr/>
          <a:lstStyle/>
          <a:p>
            <a:pPr marL="339725" indent="-339725" eaLnBrk="1" hangingPunct="1">
              <a:lnSpc>
                <a:spcPct val="80000"/>
              </a:lnSpc>
              <a:spcAft>
                <a:spcPts val="1800"/>
              </a:spcAft>
              <a:buFont typeface="Wingdings" pitchFamily="2" charset="2"/>
              <a:buChar char="Ø"/>
            </a:pPr>
            <a:r>
              <a:rPr lang="en-US" sz="2800" dirty="0" smtClean="0"/>
              <a:t>Make sure your Program Summary Narrative:</a:t>
            </a:r>
          </a:p>
          <a:p>
            <a:pPr marL="739775" lvl="1" indent="-339725" eaLnBrk="1" hangingPunct="1">
              <a:lnSpc>
                <a:spcPct val="80000"/>
              </a:lnSpc>
              <a:spcAft>
                <a:spcPts val="1800"/>
              </a:spcAft>
              <a:buFont typeface="Wingdings" pitchFamily="2" charset="2"/>
              <a:buChar char="Ø"/>
            </a:pPr>
            <a:r>
              <a:rPr lang="en-US" sz="2400" dirty="0" smtClean="0"/>
              <a:t>Highlights your major accomplishments in Full Title Rank, notable achievements; highlight accomplishments since last salary action.</a:t>
            </a:r>
          </a:p>
          <a:p>
            <a:pPr marL="739775" lvl="1" indent="-339725" eaLnBrk="1" hangingPunct="1">
              <a:lnSpc>
                <a:spcPct val="80000"/>
              </a:lnSpc>
              <a:spcAft>
                <a:spcPts val="1800"/>
              </a:spcAft>
              <a:buFont typeface="Wingdings" pitchFamily="2" charset="2"/>
              <a:buChar char="Ø"/>
            </a:pPr>
            <a:r>
              <a:rPr lang="en-US" sz="2400" dirty="0" smtClean="0"/>
              <a:t>Maximum length is 10  pages for promotions.</a:t>
            </a:r>
          </a:p>
          <a:p>
            <a:pPr marL="739775" lvl="1" indent="-339725" eaLnBrk="1" hangingPunct="1">
              <a:lnSpc>
                <a:spcPct val="80000"/>
              </a:lnSpc>
              <a:spcAft>
                <a:spcPts val="1800"/>
              </a:spcAft>
              <a:buFont typeface="Wingdings" pitchFamily="2" charset="2"/>
              <a:buChar char="Ø"/>
            </a:pPr>
            <a:r>
              <a:rPr lang="en-US" sz="2400" dirty="0" smtClean="0"/>
              <a:t>Use bullets, indentations, and subheadings to make your statement more readable.</a:t>
            </a:r>
          </a:p>
          <a:p>
            <a:pPr marL="739775" lvl="1" indent="-339725" eaLnBrk="1" hangingPunct="1">
              <a:lnSpc>
                <a:spcPct val="80000"/>
              </a:lnSpc>
              <a:spcAft>
                <a:spcPts val="1800"/>
              </a:spcAft>
              <a:buFont typeface="Wingdings" pitchFamily="2" charset="2"/>
              <a:buChar char="Ø"/>
            </a:pPr>
            <a:r>
              <a:rPr lang="en-US" sz="2400" dirty="0" smtClean="0"/>
              <a:t>Tells your story with impacts.</a:t>
            </a:r>
          </a:p>
        </p:txBody>
      </p:sp>
      <p:sp>
        <p:nvSpPr>
          <p:cNvPr id="6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192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ChangeArrowheads="1"/>
          </p:cNvSpPr>
          <p:nvPr/>
        </p:nvSpPr>
        <p:spPr bwMode="auto">
          <a:xfrm>
            <a:off x="322263" y="204788"/>
            <a:ext cx="80010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sz="3600" dirty="0">
                <a:latin typeface="Calibri" pitchFamily="34" charset="0"/>
                <a:ea typeface="ＭＳ Ｐゴシック" pitchFamily="34" charset="-128"/>
              </a:rPr>
              <a:t>Program Summary Narrative </a:t>
            </a: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(cont.)</a:t>
            </a:r>
          </a:p>
        </p:txBody>
      </p:sp>
      <p:sp>
        <p:nvSpPr>
          <p:cNvPr id="16387" name="Rectangle 8"/>
          <p:cNvSpPr txBox="1">
            <a:spLocks noChangeArrowheads="1"/>
          </p:cNvSpPr>
          <p:nvPr/>
        </p:nvSpPr>
        <p:spPr bwMode="auto">
          <a:xfrm>
            <a:off x="322263" y="990600"/>
            <a:ext cx="8669337" cy="44958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39775" indent="-3397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latin typeface="+mj-lt"/>
              </a:rPr>
              <a:t>Summarize Themes</a:t>
            </a:r>
            <a:endParaRPr lang="en-US" sz="2800" dirty="0">
              <a:latin typeface="+mj-lt"/>
            </a:endParaRPr>
          </a:p>
          <a:p>
            <a:pPr marL="742950" lvl="1" indent="-3429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j-lt"/>
              </a:rPr>
              <a:t>Provide Context</a:t>
            </a:r>
          </a:p>
          <a:p>
            <a:pPr lvl="2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latin typeface="+mj-lt"/>
              </a:rPr>
              <a:t>Describe counties covered, nature of clientele, factors that influenced program activities.</a:t>
            </a:r>
          </a:p>
          <a:p>
            <a:pPr lvl="2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 smtClean="0">
              <a:latin typeface="+mj-lt"/>
            </a:endParaRPr>
          </a:p>
          <a:p>
            <a:pPr marL="742950" lvl="1" indent="-3429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j-lt"/>
              </a:rPr>
              <a:t>Describe Goals and Objectives for each theme</a:t>
            </a:r>
          </a:p>
          <a:p>
            <a:pPr lvl="2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latin typeface="+mj-lt"/>
              </a:rPr>
              <a:t>Include how goals were determined, clientele needs assessments, etc.</a:t>
            </a:r>
          </a:p>
          <a:p>
            <a:pPr lvl="2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 smtClean="0"/>
          </a:p>
          <a:p>
            <a:pPr marL="742950" lvl="1" indent="-3429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j-lt"/>
              </a:rPr>
              <a:t>Describe Research, Creative Activities, and other Efforts</a:t>
            </a:r>
          </a:p>
          <a:p>
            <a:pPr marL="400050" lvl="1" indent="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j-lt"/>
            </a:endParaRPr>
          </a:p>
          <a:p>
            <a:pPr marL="742950" lvl="1" indent="-342900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j-lt"/>
              </a:rPr>
              <a:t>Describe resulting Outputs, Outcomes, and Impacts</a:t>
            </a:r>
          </a:p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 smtClean="0"/>
          </a:p>
        </p:txBody>
      </p:sp>
      <p:sp>
        <p:nvSpPr>
          <p:cNvPr id="4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48133" name="Text Box 4"/>
          <p:cNvSpPr txBox="1">
            <a:spLocks noChangeArrowheads="1"/>
          </p:cNvSpPr>
          <p:nvPr/>
        </p:nvSpPr>
        <p:spPr bwMode="auto">
          <a:xfrm>
            <a:off x="533400" y="21336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 b="1">
              <a:solidFill>
                <a:srgbClr val="003399"/>
              </a:solidFill>
              <a:latin typeface="Tahoma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625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ChangeArrowheads="1"/>
          </p:cNvSpPr>
          <p:nvPr/>
        </p:nvSpPr>
        <p:spPr bwMode="auto">
          <a:xfrm>
            <a:off x="304800" y="152400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sz="3600" dirty="0">
                <a:latin typeface="Calibri" pitchFamily="34" charset="0"/>
                <a:ea typeface="ＭＳ Ｐゴシック" pitchFamily="34" charset="-128"/>
              </a:rPr>
              <a:t>Program Summary Narrative </a:t>
            </a:r>
            <a:r>
              <a:rPr lang="en-US" sz="2800" dirty="0">
                <a:latin typeface="Calibri" pitchFamily="34" charset="0"/>
                <a:ea typeface="ＭＳ Ｐゴシック" pitchFamily="34" charset="-128"/>
              </a:rPr>
              <a:t>(cont.)</a:t>
            </a:r>
          </a:p>
        </p:txBody>
      </p:sp>
      <p:sp>
        <p:nvSpPr>
          <p:cNvPr id="16387" name="Rectangle 8"/>
          <p:cNvSpPr txBox="1">
            <a:spLocks noChangeArrowheads="1"/>
          </p:cNvSpPr>
          <p:nvPr/>
        </p:nvSpPr>
        <p:spPr bwMode="auto">
          <a:xfrm>
            <a:off x="403225" y="1143000"/>
            <a:ext cx="8202613" cy="358140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39775" indent="-3397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latin typeface="+mj-lt"/>
              </a:rPr>
              <a:t>Summarize Professional Competence</a:t>
            </a:r>
            <a:endParaRPr lang="en-US" sz="2800" dirty="0">
              <a:latin typeface="+mj-lt"/>
            </a:endParaRPr>
          </a:p>
          <a:p>
            <a:pPr lvl="1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dirty="0">
                <a:latin typeface="+mj-lt"/>
              </a:rPr>
              <a:t>Describe professional </a:t>
            </a:r>
            <a:r>
              <a:rPr lang="en-US" dirty="0" smtClean="0">
                <a:latin typeface="+mj-lt"/>
              </a:rPr>
              <a:t>activities </a:t>
            </a:r>
            <a:endParaRPr lang="en-US" dirty="0">
              <a:latin typeface="+mj-lt"/>
            </a:endParaRPr>
          </a:p>
          <a:p>
            <a:pPr lvl="1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dirty="0">
                <a:latin typeface="+mj-lt"/>
              </a:rPr>
              <a:t>Include other elements of professional </a:t>
            </a:r>
            <a:r>
              <a:rPr lang="en-US" dirty="0" smtClean="0">
                <a:latin typeface="+mj-lt"/>
              </a:rPr>
              <a:t>development and competence </a:t>
            </a:r>
            <a:endParaRPr lang="en-US" dirty="0">
              <a:latin typeface="+mj-lt"/>
            </a:endParaRPr>
          </a:p>
          <a:p>
            <a:pPr lvl="1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 smtClean="0">
              <a:latin typeface="+mj-lt"/>
            </a:endParaRPr>
          </a:p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latin typeface="+mj-lt"/>
              </a:rPr>
              <a:t>Summarize University and Public Service</a:t>
            </a:r>
          </a:p>
          <a:p>
            <a:pPr lvl="1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smtClean="0"/>
              <a:t> </a:t>
            </a:r>
            <a:endParaRPr lang="en-US" sz="1800" dirty="0"/>
          </a:p>
          <a:p>
            <a:pPr marL="339725" indent="-339725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 smtClean="0">
                <a:latin typeface="+mj-lt"/>
              </a:rPr>
              <a:t>Summarize Affirmative Action</a:t>
            </a:r>
          </a:p>
          <a:p>
            <a:pPr lvl="1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>
                <a:latin typeface="+mj-lt"/>
              </a:rPr>
              <a:t>Describe how Affirmative Action tied into program themes and activities.</a:t>
            </a:r>
          </a:p>
          <a:p>
            <a:pPr eaLnBrk="1" fontAlgn="auto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Wingdings" charset="2"/>
              <a:buChar char="Ø"/>
              <a:defRPr/>
            </a:pPr>
            <a:endParaRPr lang="en-US" sz="2800" dirty="0">
              <a:latin typeface="Calibri" charset="0"/>
            </a:endParaRPr>
          </a:p>
        </p:txBody>
      </p:sp>
      <p:sp>
        <p:nvSpPr>
          <p:cNvPr id="4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49157" name="Text Box 4"/>
          <p:cNvSpPr txBox="1">
            <a:spLocks noChangeArrowheads="1"/>
          </p:cNvSpPr>
          <p:nvPr/>
        </p:nvSpPr>
        <p:spPr bwMode="auto">
          <a:xfrm>
            <a:off x="533400" y="21336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2400" b="1">
              <a:solidFill>
                <a:srgbClr val="003399"/>
              </a:solidFill>
              <a:latin typeface="Tahoma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018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8229600" cy="563563"/>
          </a:xfrm>
        </p:spPr>
        <p:txBody>
          <a:bodyPr/>
          <a:lstStyle/>
          <a:p>
            <a:pPr eaLnBrk="1" hangingPunct="1"/>
            <a:r>
              <a:rPr lang="en-US" sz="4000" smtClean="0"/>
              <a:t/>
            </a:r>
            <a:br>
              <a:rPr lang="en-US" sz="4000" smtClean="0"/>
            </a:br>
            <a:r>
              <a:rPr lang="en-US" sz="4000" smtClean="0"/>
              <a:t>         Professional Competence</a:t>
            </a:r>
            <a:br>
              <a:rPr lang="en-US" sz="4000" smtClean="0"/>
            </a:br>
            <a:endParaRPr lang="en-US" sz="4000" smtClean="0"/>
          </a:p>
        </p:txBody>
      </p:sp>
      <p:sp>
        <p:nvSpPr>
          <p:cNvPr id="205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476250" y="914400"/>
            <a:ext cx="82296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100" dirty="0" smtClean="0"/>
              <a:t>In the Program Summary Narrative you summarize activities (in one to two paragraphs) that you: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sz="2100" dirty="0" smtClean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100" dirty="0" smtClean="0"/>
              <a:t>Participated in training to become more competent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100" dirty="0" smtClean="0"/>
              <a:t>Are viewed as competent by peers &amp; clientele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21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100" dirty="0" smtClean="0"/>
              <a:t>In this Professional Competence section (documenting lists), items may be listed by themes, subject matter, goals, or other organization at the discretion of the advisor</a:t>
            </a:r>
          </a:p>
          <a:p>
            <a:pPr marL="0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sz="2100" dirty="0" smtClean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100" dirty="0" smtClean="0"/>
              <a:t>Divide activities into 2 sections:</a:t>
            </a:r>
          </a:p>
          <a:p>
            <a:pPr marL="457200" lvl="1" indent="0"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2100" dirty="0" smtClean="0"/>
              <a:t>1.  Professional Development &amp; Training</a:t>
            </a:r>
          </a:p>
          <a:p>
            <a:pPr marL="457200" lvl="1" indent="0"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2100" dirty="0" smtClean="0"/>
              <a:t>2.  Evidence of Professional Competence</a:t>
            </a:r>
            <a:br>
              <a:rPr lang="en-US" sz="2100" dirty="0" smtClean="0"/>
            </a:br>
            <a:endParaRPr lang="en-US" sz="2100" dirty="0" smtClean="0"/>
          </a:p>
          <a:p>
            <a:pPr marL="1828800" lvl="4" indent="0"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2100" dirty="0" smtClean="0"/>
              <a:t>                                                     </a:t>
            </a:r>
          </a:p>
          <a:p>
            <a:pPr marL="1828800" lvl="4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sz="2100" dirty="0" smtClean="0"/>
          </a:p>
        </p:txBody>
      </p:sp>
    </p:spTree>
    <p:extLst>
      <p:ext uri="{BB962C8B-B14F-4D97-AF65-F5344CB8AC3E}">
        <p14:creationId xmlns:p14="http://schemas.microsoft.com/office/powerpoint/2010/main" val="61229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01639" y="228600"/>
            <a:ext cx="7737143" cy="563563"/>
          </a:xfrm>
        </p:spPr>
        <p:txBody>
          <a:bodyPr/>
          <a:lstStyle/>
          <a:p>
            <a:pPr eaLnBrk="1" hangingPunct="1"/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         Professional Competence </a:t>
            </a:r>
            <a:r>
              <a:rPr lang="en-US" sz="2800" dirty="0" smtClean="0"/>
              <a:t>(cont.)</a:t>
            </a:r>
            <a:br>
              <a:rPr lang="en-US" sz="2800" dirty="0" smtClean="0"/>
            </a:br>
            <a:endParaRPr lang="en-US" sz="2800" dirty="0" smtClean="0"/>
          </a:p>
        </p:txBody>
      </p:sp>
      <p:sp>
        <p:nvSpPr>
          <p:cNvPr id="205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361950" y="981075"/>
            <a:ext cx="8458200" cy="48768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defRPr/>
            </a:pPr>
            <a:endParaRPr lang="en-US" sz="2000" dirty="0" smtClean="0"/>
          </a:p>
          <a:p>
            <a:pPr marL="457200" lvl="1" indent="0"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2200" dirty="0" smtClean="0"/>
              <a:t>1.   Professional Development &amp; Training</a:t>
            </a:r>
          </a:p>
          <a:p>
            <a:pPr lvl="2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200" dirty="0" smtClean="0"/>
              <a:t>Training, conferences, workgroups and non-workgroup activities, administrative training, technology training, etc.</a:t>
            </a:r>
          </a:p>
          <a:p>
            <a:pPr lvl="2" eaLnBrk="1" hangingPunct="1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sz="2200" dirty="0" smtClean="0"/>
              <a:t>Disciplinary societies/professional association meetings,           memberships, attend activities, etc.</a:t>
            </a:r>
          </a:p>
          <a:p>
            <a:pPr marL="457200" lvl="1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sz="2200" dirty="0" smtClean="0"/>
          </a:p>
          <a:p>
            <a:pPr marL="457200" lvl="1" indent="0" eaLnBrk="1" hangingPunct="1">
              <a:lnSpc>
                <a:spcPct val="80000"/>
              </a:lnSpc>
              <a:buFont typeface="Arial" charset="0"/>
              <a:buNone/>
              <a:defRPr/>
            </a:pPr>
            <a:r>
              <a:rPr lang="en-US" sz="2200" dirty="0" smtClean="0"/>
              <a:t>2.   Evidence of Professional Competence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2200" dirty="0" smtClean="0"/>
              <a:t>Presentations at professional society and workgroup meetings, editing books, reviewing articles, professional offices held, etc.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2200" dirty="0" smtClean="0"/>
              <a:t>Awards, recognition (includes national and international), licenses.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34850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 txBox="1">
            <a:spLocks noChangeArrowheads="1"/>
          </p:cNvSpPr>
          <p:nvPr/>
        </p:nvSpPr>
        <p:spPr bwMode="auto">
          <a:xfrm>
            <a:off x="304800" y="457200"/>
            <a:ext cx="792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3600">
              <a:latin typeface="Calibri" pitchFamily="34" charset="0"/>
              <a:ea typeface="ＭＳ Ｐゴシック" pitchFamily="34" charset="-128"/>
            </a:endParaRPr>
          </a:p>
          <a:p>
            <a:pPr algn="ctr" eaLnBrk="1" hangingPunct="1"/>
            <a:r>
              <a:rPr lang="en-US" sz="3600">
                <a:latin typeface="Calibri" pitchFamily="34" charset="0"/>
                <a:ea typeface="ＭＳ Ｐゴシック" pitchFamily="34" charset="-128"/>
              </a:rPr>
              <a:t>   University and Public Service</a:t>
            </a:r>
          </a:p>
          <a:p>
            <a:pPr algn="ctr" eaLnBrk="1" hangingPunct="1"/>
            <a:r>
              <a:rPr lang="en-US" sz="3600">
                <a:latin typeface="Calibri" pitchFamily="34" charset="0"/>
                <a:ea typeface="ＭＳ Ｐゴシック" pitchFamily="34" charset="-128"/>
              </a:rPr>
              <a:t/>
            </a:r>
            <a:br>
              <a:rPr lang="en-US" sz="3600">
                <a:latin typeface="Calibri" pitchFamily="34" charset="0"/>
                <a:ea typeface="ＭＳ Ｐゴシック" pitchFamily="34" charset="-128"/>
              </a:rPr>
            </a:br>
            <a:r>
              <a:rPr lang="en-US" sz="3600">
                <a:solidFill>
                  <a:srgbClr val="2F0CA0"/>
                </a:solidFill>
                <a:latin typeface="Calibri" pitchFamily="34" charset="0"/>
                <a:ea typeface="ＭＳ Ｐゴシック" pitchFamily="34" charset="-128"/>
              </a:rPr>
              <a:t> </a:t>
            </a:r>
            <a:endParaRPr lang="en-US" sz="3600">
              <a:solidFill>
                <a:srgbClr val="FF6600"/>
              </a:solidFill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19100" y="762000"/>
            <a:ext cx="8229600" cy="5048250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marL="231775" indent="-2317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marL="342900" indent="-342900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dirty="0" smtClean="0">
                <a:latin typeface="Calibri" charset="0"/>
                <a:cs typeface="Calibri" charset="0"/>
              </a:rPr>
              <a:t> </a:t>
            </a:r>
            <a:r>
              <a:rPr lang="en-US" sz="2000" dirty="0">
                <a:latin typeface="Calibri" charset="0"/>
                <a:cs typeface="Calibri" charset="0"/>
              </a:rPr>
              <a:t>In the Program Summary Narrative you summarize (in one </a:t>
            </a:r>
            <a:r>
              <a:rPr lang="en-US" sz="2000" dirty="0" smtClean="0">
                <a:latin typeface="Calibri" charset="0"/>
                <a:cs typeface="Calibri" charset="0"/>
              </a:rPr>
              <a:t>to two </a:t>
            </a:r>
            <a:r>
              <a:rPr lang="en-US" sz="2000" dirty="0">
                <a:latin typeface="Calibri" charset="0"/>
                <a:cs typeface="Calibri" charset="0"/>
              </a:rPr>
              <a:t>paragraphs) that you served the university and the </a:t>
            </a:r>
            <a:r>
              <a:rPr lang="en-US" sz="2000" dirty="0" smtClean="0">
                <a:latin typeface="Calibri" charset="0"/>
                <a:cs typeface="Calibri" charset="0"/>
              </a:rPr>
              <a:t>public in your area of expertise. </a:t>
            </a:r>
            <a:endParaRPr lang="en-US" sz="2200" dirty="0" smtClean="0">
              <a:latin typeface="Calibri" charset="0"/>
              <a:cs typeface="Calibri" charset="0"/>
            </a:endParaRPr>
          </a:p>
          <a:p>
            <a:pPr marL="0" indent="0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In this University and Public Service section (documenting lists), list items in two categories:</a:t>
            </a:r>
          </a:p>
          <a:p>
            <a:pPr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SzPct val="75000"/>
              <a:buFont typeface="Wingdings" pitchFamily="2" charset="2"/>
              <a:buChar char="q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University Service such as:</a:t>
            </a:r>
            <a:endParaRPr lang="en-US" sz="2000" dirty="0">
              <a:latin typeface="Calibri" charset="0"/>
              <a:cs typeface="Calibri" charset="0"/>
            </a:endParaRP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Committees, task forces, </a:t>
            </a:r>
            <a:r>
              <a:rPr lang="en-US" sz="2000" dirty="0" smtClean="0">
                <a:latin typeface="Calibri" charset="0"/>
                <a:cs typeface="Calibri" charset="0"/>
              </a:rPr>
              <a:t>program teams, workgroups</a:t>
            </a:r>
            <a:r>
              <a:rPr lang="en-US" sz="2000" dirty="0">
                <a:latin typeface="Calibri" charset="0"/>
                <a:cs typeface="Calibri" charset="0"/>
              </a:rPr>
              <a:t>, </a:t>
            </a:r>
            <a:r>
              <a:rPr lang="en-US" sz="2000" dirty="0" smtClean="0">
                <a:latin typeface="Calibri" charset="0"/>
                <a:cs typeface="Calibri" charset="0"/>
              </a:rPr>
              <a:t>university student tours, etc</a:t>
            </a:r>
            <a:r>
              <a:rPr lang="en-US" sz="2000" dirty="0">
                <a:latin typeface="Calibri" charset="0"/>
                <a:cs typeface="Calibri" charset="0"/>
              </a:rPr>
              <a:t>.</a:t>
            </a: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Describe your role, relationship and responsibilities within each service area.</a:t>
            </a: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Indicate who benefited.</a:t>
            </a:r>
            <a:endParaRPr lang="en-US" sz="2000" dirty="0">
              <a:latin typeface="Calibri" charset="0"/>
              <a:cs typeface="Calibri" charset="0"/>
            </a:endParaRP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Wingdings" charset="2"/>
              <a:buChar char="Ø"/>
              <a:defRPr/>
            </a:pPr>
            <a:endParaRPr lang="en-US" sz="900" dirty="0">
              <a:latin typeface="Calibri" charset="0"/>
              <a:cs typeface="Calibri" charset="0"/>
            </a:endParaRPr>
          </a:p>
          <a:p>
            <a:pPr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SzPct val="75000"/>
              <a:buFont typeface="Wingdings" pitchFamily="2" charset="2"/>
              <a:buChar char="q"/>
              <a:defRPr/>
            </a:pPr>
            <a:r>
              <a:rPr lang="en-US" sz="2000" dirty="0">
                <a:latin typeface="Calibri" charset="0"/>
                <a:cs typeface="Calibri" charset="0"/>
              </a:rPr>
              <a:t>Public </a:t>
            </a:r>
            <a:r>
              <a:rPr lang="en-US" sz="2000" dirty="0" smtClean="0">
                <a:latin typeface="Calibri" charset="0"/>
                <a:cs typeface="Calibri" charset="0"/>
              </a:rPr>
              <a:t>Service such as:</a:t>
            </a:r>
            <a:endParaRPr lang="en-US" sz="2000" dirty="0">
              <a:latin typeface="Calibri" charset="0"/>
              <a:cs typeface="Calibri" charset="0"/>
            </a:endParaRP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>
                <a:latin typeface="Calibri" charset="0"/>
                <a:cs typeface="Calibri" charset="0"/>
              </a:rPr>
              <a:t>Activities and events in which you used your professional expertise to benefit groups or efforts outside the University. </a:t>
            </a:r>
            <a:endParaRPr lang="en-US" sz="2000" dirty="0" smtClean="0">
              <a:latin typeface="Calibri" charset="0"/>
              <a:cs typeface="Calibri" charset="0"/>
            </a:endParaRP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Describe your role, relationship and responsibilities within each service area.</a:t>
            </a:r>
          </a:p>
          <a:p>
            <a:pPr lvl="1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Indicate who benefited</a:t>
            </a:r>
          </a:p>
          <a:p>
            <a:pPr marL="512763" lvl="1" indent="0" eaLnBrk="1" fontAlgn="auto" hangingPunct="1">
              <a:lnSpc>
                <a:spcPct val="70000"/>
              </a:lnSpc>
              <a:spcBef>
                <a:spcPct val="20000"/>
              </a:spcBef>
              <a:spcAft>
                <a:spcPts val="0"/>
              </a:spcAft>
              <a:buFont typeface="Wingdings" charset="2"/>
              <a:buNone/>
              <a:defRPr/>
            </a:pPr>
            <a:r>
              <a:rPr lang="en-US" sz="2000" dirty="0" smtClean="0">
                <a:latin typeface="Calibri" charset="0"/>
                <a:cs typeface="Calibri" charset="0"/>
              </a:rPr>
              <a:t>(</a:t>
            </a:r>
            <a:r>
              <a:rPr lang="en-US" sz="2000" i="1" dirty="0">
                <a:latin typeface="Calibri" charset="0"/>
                <a:cs typeface="Calibri" charset="0"/>
              </a:rPr>
              <a:t>note:</a:t>
            </a:r>
            <a:r>
              <a:rPr lang="en-US" sz="2000" dirty="0">
                <a:latin typeface="Calibri" charset="0"/>
                <a:cs typeface="Calibri" charset="0"/>
              </a:rPr>
              <a:t> activities listed here should relate to your field of expertise or your ANR assignment).</a:t>
            </a:r>
          </a:p>
        </p:txBody>
      </p:sp>
    </p:spTree>
    <p:extLst>
      <p:ext uri="{BB962C8B-B14F-4D97-AF65-F5344CB8AC3E}">
        <p14:creationId xmlns:p14="http://schemas.microsoft.com/office/powerpoint/2010/main" val="10873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714375" y="409575"/>
            <a:ext cx="7391400" cy="6096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Affirmative</a:t>
            </a:r>
            <a:r>
              <a:rPr lang="en-US" dirty="0" smtClean="0"/>
              <a:t> Action</a:t>
            </a:r>
            <a:br>
              <a:rPr lang="en-US" dirty="0" smtClean="0"/>
            </a:br>
            <a:endParaRPr lang="en-US" sz="2000" dirty="0" smtClean="0">
              <a:solidFill>
                <a:srgbClr val="FF6600"/>
              </a:solidFill>
            </a:endParaRPr>
          </a:p>
        </p:txBody>
      </p:sp>
      <p:sp>
        <p:nvSpPr>
          <p:cNvPr id="144391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638175" y="1219200"/>
            <a:ext cx="7086600" cy="3352800"/>
          </a:xfrm>
        </p:spPr>
        <p:txBody>
          <a:bodyPr rtlCol="0">
            <a:normAutofit fontScale="85000" lnSpcReduction="20000"/>
          </a:bodyPr>
          <a:lstStyle/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None/>
              <a:defRPr/>
            </a:pPr>
            <a:r>
              <a:rPr lang="en-US" sz="2600" dirty="0" smtClean="0"/>
              <a:t>This is a place to describe your efforts and successes in reaching under-served audiences.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None/>
              <a:defRPr/>
            </a:pPr>
            <a:r>
              <a:rPr lang="en-US" sz="2200" dirty="0" smtClean="0"/>
              <a:t> 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Summarize your AA accomplishments as related to your position description.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endParaRPr lang="en-US" sz="2600" dirty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Discuss your primary and secondary clientele and specific AA goals and accomplishments.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None/>
              <a:defRPr/>
            </a:pPr>
            <a:endParaRPr lang="en-US" sz="26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n"/>
              <a:defRPr/>
            </a:pPr>
            <a:endParaRPr lang="en-US" sz="14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r>
              <a:rPr lang="en-US" sz="2600" dirty="0" smtClean="0"/>
              <a:t>Limit this section to 1-4 paragraphs, but be descriptive.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endParaRPr lang="en-US" sz="2600" dirty="0"/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600" b="1" dirty="0" smtClean="0"/>
              <a:t>Note: CASA records will be reviewed to ensure candidates achieved parity or demonstrated all reasonable effort.</a:t>
            </a:r>
          </a:p>
        </p:txBody>
      </p:sp>
    </p:spTree>
    <p:extLst>
      <p:ext uri="{BB962C8B-B14F-4D97-AF65-F5344CB8AC3E}">
        <p14:creationId xmlns:p14="http://schemas.microsoft.com/office/powerpoint/2010/main" val="162458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Section C AE: Goals for Coming Year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Projects you intend to accomplish in the coming year, anticipated collaborators  and anticipated outcomes in each criteria area including specific AA goals.</a:t>
            </a:r>
          </a:p>
          <a:p>
            <a:r>
              <a:rPr lang="en-US" dirty="0" smtClean="0"/>
              <a:t>What needs to be accomplished to advance?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826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7671" y="327547"/>
            <a:ext cx="7657531" cy="51429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   </a:t>
            </a:r>
            <a:br>
              <a:rPr lang="en-US" dirty="0" smtClean="0"/>
            </a:br>
            <a:r>
              <a:rPr lang="en-US" dirty="0" smtClean="0"/>
              <a:t>Bibliography</a:t>
            </a:r>
            <a:br>
              <a:rPr lang="en-US" dirty="0" smtClean="0"/>
            </a:br>
            <a:endParaRPr lang="en-US" sz="2400" dirty="0" smtClean="0">
              <a:solidFill>
                <a:srgbClr val="FF6600"/>
              </a:solidFill>
            </a:endParaRP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7645" y="1117079"/>
            <a:ext cx="8153400" cy="48006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800" dirty="0" smtClean="0"/>
              <a:t>Promotion to Full Title Step VI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sz="2800" dirty="0" smtClean="0"/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 smtClean="0"/>
              <a:t>Bibliography from your entire career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 smtClean="0"/>
              <a:t>Highlight years in Full Title Rank</a:t>
            </a:r>
          </a:p>
          <a:p>
            <a:pPr lvl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2400" dirty="0" smtClean="0"/>
              <a:t>Highlight differently years since last salary action</a:t>
            </a:r>
          </a:p>
        </p:txBody>
      </p:sp>
    </p:spTree>
    <p:extLst>
      <p:ext uri="{BB962C8B-B14F-4D97-AF65-F5344CB8AC3E}">
        <p14:creationId xmlns:p14="http://schemas.microsoft.com/office/powerpoint/2010/main" val="26539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77671" y="327547"/>
            <a:ext cx="7657531" cy="51429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   </a:t>
            </a:r>
            <a:br>
              <a:rPr lang="en-US" dirty="0" smtClean="0"/>
            </a:br>
            <a:r>
              <a:rPr lang="en-US" dirty="0" smtClean="0"/>
              <a:t>Bibliography</a:t>
            </a:r>
            <a:br>
              <a:rPr lang="en-US" dirty="0" smtClean="0"/>
            </a:br>
            <a:endParaRPr lang="en-US" sz="2400" dirty="0" smtClean="0">
              <a:solidFill>
                <a:srgbClr val="FF6600"/>
              </a:solidFill>
            </a:endParaRP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7645" y="1117079"/>
            <a:ext cx="8153400" cy="4800600"/>
          </a:xfrm>
        </p:spPr>
        <p:txBody>
          <a:bodyPr rtlCol="0">
            <a:normAutofit fontScale="32500" lnSpcReduction="20000"/>
          </a:bodyPr>
          <a:lstStyle/>
          <a:p>
            <a:pPr>
              <a:defRPr/>
            </a:pPr>
            <a:r>
              <a:rPr lang="en-US" sz="5600" b="1" dirty="0"/>
              <a:t>Required elements of your Bibliography:  </a:t>
            </a:r>
            <a:endParaRPr lang="en-US" sz="5600" dirty="0"/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Description of your organizational method (at the beginning).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Highlighting publications (e.g. bold, shade, or enclose with border) for this review as required for your merit or promotion. 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Include a Bibliography Summary that indicates the number of publications in each of your selected categories.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Required elements of your bibliography should clearly describe peer reviewed efforts and non-peer reviewed efforts in separate sections in order to clearly assess academic growth.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Peer reviewed articles include scholarly journals; Cal Ag, ANR publications, UCIPM Pest Management Guidelines, curricula, and other peer reviewed publications.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5500" dirty="0" smtClean="0"/>
              <a:t>Recommended format for non-peer reviewed Bibliography section to designate type of publication within this section:</a:t>
            </a:r>
          </a:p>
          <a:p>
            <a:pPr lvl="2">
              <a:defRPr/>
            </a:pPr>
            <a:r>
              <a:rPr lang="en-US" sz="5500" dirty="0" smtClean="0"/>
              <a:t>A – Popular (articles, newsletters, stories, UC Delivers, etc.)</a:t>
            </a:r>
          </a:p>
          <a:p>
            <a:pPr lvl="2">
              <a:defRPr/>
            </a:pPr>
            <a:r>
              <a:rPr lang="en-US" sz="5500" dirty="0" smtClean="0"/>
              <a:t>B</a:t>
            </a:r>
            <a:r>
              <a:rPr lang="en-US" sz="5500" dirty="0"/>
              <a:t> –</a:t>
            </a:r>
            <a:r>
              <a:rPr lang="en-US" sz="5500" dirty="0" smtClean="0"/>
              <a:t> Technical (reports, curricula, and articles)</a:t>
            </a:r>
          </a:p>
          <a:p>
            <a:pPr lvl="2">
              <a:defRPr/>
            </a:pPr>
            <a:r>
              <a:rPr lang="en-US" sz="5500" dirty="0" smtClean="0"/>
              <a:t>C – Abstracts, other outreach materials 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-111" charset="2"/>
              <a:buChar char="Ø"/>
              <a:defRPr/>
            </a:pPr>
            <a:endParaRPr lang="en-US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47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Publication</a:t>
            </a:r>
            <a:r>
              <a:rPr lang="en-US" sz="4800" dirty="0" smtClean="0"/>
              <a:t> Examples</a:t>
            </a:r>
            <a:br>
              <a:rPr lang="en-US" sz="4800" dirty="0" smtClean="0"/>
            </a:br>
            <a:endParaRPr lang="en-US" sz="2400" dirty="0" smtClean="0">
              <a:solidFill>
                <a:srgbClr val="FF6600"/>
              </a:solidFill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5218" y="1295400"/>
            <a:ext cx="7656394" cy="4038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/>
              <a:t>Required for: 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 dirty="0" smtClean="0"/>
              <a:t>Promotions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smtClean="0"/>
              <a:t>Accelerations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smtClean="0"/>
              <a:t>Upper Level Merits (Advisor FT VII – IX)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en-US" dirty="0" smtClean="0"/>
              <a:t>Choose </a:t>
            </a:r>
            <a:r>
              <a:rPr lang="en-US" b="1" dirty="0" smtClean="0"/>
              <a:t>3</a:t>
            </a:r>
            <a:r>
              <a:rPr lang="en-US" dirty="0" smtClean="0"/>
              <a:t> that best represent your work </a:t>
            </a:r>
          </a:p>
          <a:p>
            <a:pPr lvl="2" eaLnBrk="1" hangingPunct="1"/>
            <a:r>
              <a:rPr lang="en-US" dirty="0" smtClean="0"/>
              <a:t>Describe all 3 on a single page preceding the examples</a:t>
            </a:r>
          </a:p>
          <a:p>
            <a:pPr lvl="1" eaLnBrk="1" hangingPunct="1">
              <a:buClr>
                <a:schemeClr val="hlink"/>
              </a:buClr>
              <a:buFont typeface="Wingdings" pitchFamily="2" charset="2"/>
              <a:buChar char="Ø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8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 idx="4294967295"/>
          </p:nvPr>
        </p:nvSpPr>
        <p:spPr>
          <a:xfrm>
            <a:off x="569794" y="304800"/>
            <a:ext cx="8001000" cy="914400"/>
          </a:xfrm>
        </p:spPr>
        <p:txBody>
          <a:bodyPr/>
          <a:lstStyle/>
          <a:p>
            <a:pPr eaLnBrk="1" hangingPunct="1"/>
            <a:r>
              <a:rPr lang="en-US" sz="4000" dirty="0" smtClean="0"/>
              <a:t>Project Summary Table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4294967295"/>
          </p:nvPr>
        </p:nvSpPr>
        <p:spPr>
          <a:xfrm>
            <a:off x="493594" y="1437563"/>
            <a:ext cx="8077200" cy="4321791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Use the themes/goals you used to organize your Program Summary.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 List projects, including the ones that do not have specific grants or financial support. 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Include: title of project and duration; your role; first initial and last name and institutional affiliation of collaborators; amount of support and its duration (and type if other than money); and the funding source.</a:t>
            </a:r>
          </a:p>
          <a:p>
            <a:pPr eaLnBrk="1" hangingPunct="1"/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9034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9809" y="274638"/>
            <a:ext cx="7391400" cy="8683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dirty="0" smtClean="0"/>
              <a:t>Extension Activities 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2400" dirty="0" smtClean="0"/>
          </a:p>
        </p:txBody>
      </p:sp>
      <p:sp>
        <p:nvSpPr>
          <p:cNvPr id="64515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09684" y="1371600"/>
            <a:ext cx="7902053" cy="3581400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  <a:tabLst>
                <a:tab pos="3144838" algn="l"/>
              </a:tabLst>
            </a:pPr>
            <a:r>
              <a:rPr lang="en-US" sz="2800" dirty="0" smtClean="0"/>
              <a:t>Only list activities directly related to your program clientele. </a:t>
            </a:r>
          </a:p>
          <a:p>
            <a:pPr eaLnBrk="1" hangingPunct="1">
              <a:buFont typeface="Wingdings" pitchFamily="2" charset="2"/>
              <a:buChar char="Ø"/>
              <a:tabLst>
                <a:tab pos="3144838" algn="l"/>
              </a:tabLst>
            </a:pPr>
            <a:r>
              <a:rPr lang="en-US" sz="2800" dirty="0" smtClean="0"/>
              <a:t>List activities for non-clientele groups (e.g. students, foreign visitors, scientific colleagues) in Professional Competence or University and Public Service sections.</a:t>
            </a:r>
          </a:p>
          <a:p>
            <a:pPr eaLnBrk="1" hangingPunct="1">
              <a:buFont typeface="Wingdings" pitchFamily="2" charset="2"/>
              <a:buChar char="Ø"/>
              <a:tabLst>
                <a:tab pos="3144838" algn="l"/>
              </a:tabLst>
            </a:pPr>
            <a:r>
              <a:rPr lang="en-US" sz="2800" dirty="0" smtClean="0"/>
              <a:t>Format examples appear in E-book.</a:t>
            </a:r>
          </a:p>
          <a:p>
            <a:pPr eaLnBrk="1" hangingPunct="1">
              <a:buFont typeface="Wingdings" pitchFamily="2" charset="2"/>
              <a:buChar char="Ø"/>
              <a:tabLst>
                <a:tab pos="3144838" algn="l"/>
              </a:tabLst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9469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9809" y="198437"/>
            <a:ext cx="73152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 </a:t>
            </a:r>
            <a:r>
              <a:rPr lang="en-US" dirty="0" smtClean="0"/>
              <a:t>Letters of Evaluation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sz="2000" dirty="0" smtClean="0">
              <a:solidFill>
                <a:srgbClr val="FF6600"/>
              </a:solidFill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4275" y="912126"/>
            <a:ext cx="8077200" cy="419100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Needed for: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pitchFamily="-111" charset="-128"/>
              </a:rPr>
              <a:t>Definite Term to Indefinite Status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 smtClean="0">
                <a:ea typeface="ＭＳ Ｐゴシック" pitchFamily="-111" charset="-128"/>
              </a:rPr>
              <a:t>Promotions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pitchFamily="-111" charset="-128"/>
              </a:rPr>
              <a:t>Accelerations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 smtClean="0">
                <a:ea typeface="ＭＳ Ｐゴシック" pitchFamily="-111" charset="-128"/>
              </a:rPr>
              <a:t>Merits Advisor FT VII to FT IX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Candidate enters names online of up to 6 references; may also give names of those not suitable to serve as reference.  It is recommended that you seek both internal and external references who understand your program.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Supervisor uses these and may add ones of their own.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All letters received are included with dossier.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Candidates will not see the letters.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Names must be entered online prior to </a:t>
            </a:r>
            <a:r>
              <a:rPr lang="en-US" sz="2400" b="1" dirty="0" smtClean="0"/>
              <a:t>January 21</a:t>
            </a:r>
            <a:r>
              <a:rPr lang="en-US" sz="2400" b="1" baseline="30000" dirty="0" smtClean="0"/>
              <a:t>st</a:t>
            </a:r>
            <a:r>
              <a:rPr lang="en-US" sz="2400" b="1" dirty="0" smtClean="0"/>
              <a:t> </a:t>
            </a:r>
            <a:r>
              <a:rPr lang="en-US" sz="2400" dirty="0" smtClean="0"/>
              <a:t>. Supervisors will send out requests for letters of evaluation.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 smtClean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1125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2406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9809" y="198437"/>
            <a:ext cx="73152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 </a:t>
            </a:r>
            <a:r>
              <a:rPr lang="en-US" dirty="0" smtClean="0"/>
              <a:t>Letters of Evaluation </a:t>
            </a:r>
            <a:r>
              <a:rPr lang="en-US" sz="3200" dirty="0" smtClean="0"/>
              <a:t>(</a:t>
            </a:r>
            <a:r>
              <a:rPr lang="en-US" sz="3200" dirty="0" err="1" smtClean="0"/>
              <a:t>cont</a:t>
            </a:r>
            <a:r>
              <a:rPr lang="en-US" sz="3200" dirty="0" smtClean="0"/>
              <a:t>).</a:t>
            </a:r>
            <a:r>
              <a:rPr lang="en-US" sz="5400" dirty="0" smtClean="0"/>
              <a:t/>
            </a:r>
            <a:br>
              <a:rPr lang="en-US" sz="5400" dirty="0" smtClean="0"/>
            </a:br>
            <a:endParaRPr lang="en-US" sz="2000" dirty="0" smtClean="0">
              <a:solidFill>
                <a:srgbClr val="FF6600"/>
              </a:solidFill>
            </a:endParaRPr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4275" y="1190031"/>
            <a:ext cx="8077200" cy="4191000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Select people to write letters of evaluation who can truly evaluate your program.</a:t>
            </a:r>
            <a:endParaRPr lang="en-US" sz="2000" dirty="0" smtClean="0">
              <a:ea typeface="ＭＳ Ｐゴシック" pitchFamily="-111" charset="-128"/>
            </a:endParaRP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u="sng" dirty="0" smtClean="0"/>
              <a:t>You</a:t>
            </a:r>
            <a:r>
              <a:rPr lang="en-US" sz="2400" dirty="0" smtClean="0"/>
              <a:t> are responsible for providing your program information to the evaluators.</a:t>
            </a:r>
            <a:endParaRPr lang="en-US" sz="2400" u="sng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IF, the CD/Supervisor add names, it is </a:t>
            </a:r>
            <a:r>
              <a:rPr lang="en-US" sz="2400" u="sng" dirty="0" smtClean="0"/>
              <a:t>their</a:t>
            </a:r>
            <a:r>
              <a:rPr lang="en-US" sz="2400" dirty="0" smtClean="0"/>
              <a:t> responsibility to share the candidates PR or other materials for review with the requested evaluator.</a:t>
            </a:r>
            <a:endParaRPr lang="en-US" sz="2400" u="sng" dirty="0" smtClean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en-US" sz="2400" dirty="0" smtClean="0"/>
              <a:t>The CD/Supervisor writes their letter of evaluation after letters from other evaluators are received.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000" dirty="0" smtClean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buFont typeface="Wingdings" pitchFamily="2" charset="2"/>
              <a:buChar char="Ø"/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6070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effectLst>
                <a:outerShdw blurRad="38100" dist="38100" dir="2700000" algn="tl">
                  <a:srgbClr val="000000"/>
                </a:outerShdw>
              </a:effectLst>
              <a:ea typeface="ＭＳ Ｐゴシック" pitchFamily="-111" charset="-128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72955" y="341313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    </a:t>
            </a:r>
            <a:r>
              <a:rPr lang="en-US" sz="4000" dirty="0" smtClean="0"/>
              <a:t>Other</a:t>
            </a:r>
            <a:r>
              <a:rPr lang="en-US" dirty="0" smtClean="0"/>
              <a:t> Documents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066800" y="1600200"/>
            <a:ext cx="7435755" cy="3231107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Letters of publication acceptance (if applicable)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Sabbatical leave plan and report (if applicable)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Definitions of acronyms (if applicable)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 smtClean="0"/>
              <a:t>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82961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941695" y="2100618"/>
            <a:ext cx="7315200" cy="13716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/>
            <a:r>
              <a:rPr lang="en-US" sz="4000" dirty="0" smtClean="0"/>
              <a:t>Questions about these dossier components?</a:t>
            </a:r>
          </a:p>
        </p:txBody>
      </p:sp>
    </p:spTree>
    <p:extLst>
      <p:ext uri="{BB962C8B-B14F-4D97-AF65-F5344CB8AC3E}">
        <p14:creationId xmlns:p14="http://schemas.microsoft.com/office/powerpoint/2010/main" val="323123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mtClean="0"/>
              <a:t>     </a:t>
            </a:r>
            <a:r>
              <a:rPr lang="en-US" sz="4000" smtClean="0"/>
              <a:t>Access</a:t>
            </a:r>
            <a:r>
              <a:rPr lang="en-US" smtClean="0"/>
              <a:t> </a:t>
            </a:r>
            <a:r>
              <a:rPr lang="en-US" sz="4000" smtClean="0"/>
              <a:t>Through Your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14400" y="1371600"/>
            <a:ext cx="8229600" cy="3962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In the e-book:</a:t>
            </a:r>
          </a:p>
          <a:p>
            <a:pPr lvl="1" eaLnBrk="1" fontAlgn="auto" hangingPunct="1">
              <a:spcAft>
                <a:spcPts val="0"/>
              </a:spcAft>
              <a:buSzPct val="50000"/>
              <a:buFont typeface="Wingdings" pitchFamily="2" charset="2"/>
              <a:buChar char="q"/>
              <a:defRPr/>
            </a:pPr>
            <a:r>
              <a:rPr lang="en-US" dirty="0" smtClean="0"/>
              <a:t>Sample Outlines</a:t>
            </a:r>
          </a:p>
          <a:p>
            <a:pPr lvl="1" eaLnBrk="1" fontAlgn="auto" hangingPunct="1">
              <a:spcAft>
                <a:spcPts val="0"/>
              </a:spcAft>
              <a:buSzPct val="50000"/>
              <a:buFont typeface="Wingdings" pitchFamily="2" charset="2"/>
              <a:buChar char="q"/>
              <a:defRPr/>
            </a:pPr>
            <a:r>
              <a:rPr lang="en-US" dirty="0" smtClean="0"/>
              <a:t>How to merge projects under one theme</a:t>
            </a:r>
          </a:p>
          <a:p>
            <a:pPr lvl="1" eaLnBrk="1" fontAlgn="auto" hangingPunct="1">
              <a:spcAft>
                <a:spcPts val="0"/>
              </a:spcAft>
              <a:buSzPct val="50000"/>
              <a:buFont typeface="Wingdings" pitchFamily="2" charset="2"/>
              <a:buChar char="q"/>
              <a:defRPr/>
            </a:pPr>
            <a:r>
              <a:rPr lang="en-US" dirty="0" smtClean="0"/>
              <a:t>Actual PR Examples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 smtClean="0"/>
              <a:t>Merit and Promotion Website:</a:t>
            </a:r>
          </a:p>
          <a:p>
            <a:pPr lvl="1" eaLnBrk="1" fontAlgn="auto" hangingPunct="1">
              <a:spcAft>
                <a:spcPts val="0"/>
              </a:spcAft>
              <a:buSzPct val="50000"/>
              <a:buFont typeface="Wingdings" pitchFamily="2" charset="2"/>
              <a:buChar char="q"/>
              <a:defRPr/>
            </a:pPr>
            <a:r>
              <a:rPr lang="en-US" dirty="0" smtClean="0">
                <a:hlinkClick r:id="rId2"/>
              </a:rPr>
              <a:t>http://ucanr.edu/meritpromotion</a:t>
            </a:r>
            <a:endParaRPr lang="en-US" dirty="0" smtClean="0"/>
          </a:p>
          <a:p>
            <a:pPr marL="457200" lvl="1" indent="0" eaLnBrk="1" fontAlgn="auto" hangingPunct="1">
              <a:spcAft>
                <a:spcPts val="0"/>
              </a:spcAft>
              <a:buSzPct val="50000"/>
              <a:buFont typeface="Arial" charset="0"/>
              <a:buNone/>
              <a:defRPr/>
            </a:pP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0954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      </a:t>
            </a:r>
            <a:r>
              <a:rPr lang="en-US" sz="4000" dirty="0" smtClean="0"/>
              <a:t>Need</a:t>
            </a:r>
            <a:r>
              <a:rPr lang="en-US" dirty="0" smtClean="0"/>
              <a:t> More Help?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98587"/>
            <a:ext cx="8031707" cy="4192587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3600" dirty="0" smtClean="0"/>
              <a:t>Questions</a:t>
            </a:r>
            <a:r>
              <a:rPr lang="en-US" sz="4000" dirty="0" smtClean="0"/>
              <a:t>: 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Kim Rodrigues @ </a:t>
            </a:r>
            <a:r>
              <a:rPr lang="en-US" sz="3000" dirty="0" smtClean="0">
                <a:hlinkClick r:id="rId2"/>
              </a:rPr>
              <a:t>karodrigues@ucanr.edu</a:t>
            </a:r>
            <a:r>
              <a:rPr lang="en-US" sz="3000" dirty="0" smtClean="0"/>
              <a:t> </a:t>
            </a:r>
          </a:p>
          <a:p>
            <a:pPr marL="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or  Pam Tise @ </a:t>
            </a:r>
            <a:r>
              <a:rPr lang="en-US" sz="3000" dirty="0" smtClean="0">
                <a:hlinkClick r:id="rId3"/>
              </a:rPr>
              <a:t>pdtise@ucanr.edu</a:t>
            </a:r>
            <a:endParaRPr lang="en-US" sz="3000" dirty="0"/>
          </a:p>
          <a:p>
            <a:pPr eaLnBrk="1" fontAlgn="auto" hangingPunct="1">
              <a:spcAft>
                <a:spcPts val="0"/>
              </a:spcAft>
              <a:buSzPct val="78000"/>
              <a:buFont typeface="Wingdings" pitchFamily="2" charset="2"/>
              <a:buChar char="Ø"/>
              <a:defRPr/>
            </a:pPr>
            <a:r>
              <a:rPr lang="en-US" sz="2800" dirty="0" smtClean="0"/>
              <a:t>530-754-8509 (APU)</a:t>
            </a:r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Note:  All forms, guidelines, slides, samples and policy information can be found on the APU website:</a:t>
            </a:r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800" dirty="0"/>
              <a:t>	</a:t>
            </a:r>
            <a:r>
              <a:rPr lang="en-US" sz="2800" dirty="0" smtClean="0"/>
              <a:t>	</a:t>
            </a:r>
            <a:r>
              <a:rPr lang="en-US" sz="2800" dirty="0" smtClean="0">
                <a:hlinkClick r:id="rId4"/>
              </a:rPr>
              <a:t>http</a:t>
            </a:r>
            <a:r>
              <a:rPr lang="en-US" sz="2800" smtClean="0">
                <a:hlinkClick r:id="rId4"/>
              </a:rPr>
              <a:t>://ucanr.edu/academicpersonnel</a:t>
            </a:r>
            <a:endParaRPr lang="en-US" sz="2800" dirty="0" smtClean="0"/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 smtClean="0"/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 smtClean="0"/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sz="2800" dirty="0" smtClean="0"/>
          </a:p>
          <a:p>
            <a:pPr marL="1588" indent="-1588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 smtClean="0"/>
          </a:p>
          <a:p>
            <a:pPr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 smtClean="0"/>
          </a:p>
          <a:p>
            <a:pPr algn="ctr" eaLnBrk="1" fontAlgn="auto" hangingPunct="1"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5967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514350"/>
            <a:ext cx="7772400" cy="457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Important Dates</a:t>
            </a:r>
          </a:p>
        </p:txBody>
      </p:sp>
      <p:graphicFrame>
        <p:nvGraphicFramePr>
          <p:cNvPr id="105582" name="Group 110"/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1492133631"/>
              </p:ext>
            </p:extLst>
          </p:nvPr>
        </p:nvGraphicFramePr>
        <p:xfrm>
          <a:off x="427772" y="1492509"/>
          <a:ext cx="8344753" cy="3645979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738639"/>
                <a:gridCol w="1330603"/>
                <a:gridCol w="3275511"/>
              </a:tblGrid>
              <a:tr h="3089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Topic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Date Due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Action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12076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Deadline for Academics to submit names so supervisor may request Confidential Letters of Evaluation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1/21/2013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CDs send out requests for letters of evaluation for Academics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</a:tr>
              <a:tr h="3650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PR Dossiers Due (this includes Section C of the AE – Goals)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2/1/2013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Academic upload by 11:59 PM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</a:tr>
              <a:tr h="3650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Confidential Letters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3/1/2013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Deadline for submission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</a:tr>
              <a:tr h="645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Review by supervisor for all actions – Upload into online system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3/15/2013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-111" charset="2"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Supervisor meets with academic first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T="45717" marB="45717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18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1650" y="274638"/>
            <a:ext cx="7727950" cy="789888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Outcomes Check-in</a:t>
            </a:r>
            <a:br>
              <a:rPr lang="en-US" sz="4000" dirty="0" smtClean="0"/>
            </a:br>
            <a:endParaRPr lang="en-US" sz="4000" dirty="0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1225" y="1312176"/>
            <a:ext cx="7620000" cy="325029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Has your knowledge of the promotion process increased?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Has your knowledge of how to develop a well written PR increased?</a:t>
            </a:r>
          </a:p>
          <a:p>
            <a:pPr eaLnBrk="1" hangingPunct="1">
              <a:buFont typeface="Wingdings" pitchFamily="2" charset="2"/>
              <a:buChar char="Ø"/>
            </a:pPr>
            <a:r>
              <a:rPr lang="en-US" sz="2800" dirty="0" smtClean="0"/>
              <a:t>Have all your PR questions been answered? </a:t>
            </a:r>
          </a:p>
          <a:p>
            <a:pPr marL="0" indent="0" eaLnBrk="1" hangingPunct="1">
              <a:buNone/>
            </a:pPr>
            <a:endParaRPr lang="en-US" sz="2800" dirty="0" smtClean="0"/>
          </a:p>
          <a:p>
            <a:pPr marL="0" indent="0" eaLnBrk="1" hangingPunct="1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43607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96561" y="1674395"/>
            <a:ext cx="7419975" cy="121318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600" dirty="0"/>
              <a:t>Additional Questions? 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3600" dirty="0" smtClean="0"/>
          </a:p>
          <a:p>
            <a:pPr algn="ctr" eaLnBrk="1" hangingPunct="1">
              <a:buFont typeface="Wingdings" pitchFamily="2" charset="2"/>
              <a:buNone/>
            </a:pPr>
            <a:endParaRPr lang="en-US" sz="3600" dirty="0" smtClean="0"/>
          </a:p>
        </p:txBody>
      </p:sp>
      <p:pic>
        <p:nvPicPr>
          <p:cNvPr id="4" name="Picture 5" descr="http://images.clipartof.com/small/16075-Happy-Yellow-Smiley-Face-Graphic-With-A-Big-Smile-Clipart-Illustratio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461" y="2951746"/>
            <a:ext cx="1531603" cy="147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217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TRANSITION" val="Elevator.p3d 1"/>
  <p:tag name="POWER3D OPTIONS" val="Medium "/>
</p:tagLst>
</file>

<file path=ppt/theme/theme1.xml><?xml version="1.0" encoding="utf-8"?>
<a:theme xmlns:a="http://schemas.openxmlformats.org/drawingml/2006/main" name="ANRBrand_bas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ANRBrand_basic</Template>
  <TotalTime>1248</TotalTime>
  <Words>3352</Words>
  <Application>Microsoft Office PowerPoint</Application>
  <PresentationFormat>On-screen Show (4:3)</PresentationFormat>
  <Paragraphs>541</Paragraphs>
  <Slides>59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ANRBrand_basic</vt:lpstr>
      <vt:lpstr>Custom Design</vt:lpstr>
      <vt:lpstr>Promotion  Training for  Full Title Step V to Step VI </vt:lpstr>
      <vt:lpstr>Agenda</vt:lpstr>
      <vt:lpstr>Presenters</vt:lpstr>
      <vt:lpstr>AAC Personnel Committee </vt:lpstr>
      <vt:lpstr>  Thank You for Your     Support and Expertise:</vt:lpstr>
      <vt:lpstr>  Training Agreements</vt:lpstr>
      <vt:lpstr>Outcomes</vt:lpstr>
      <vt:lpstr>UC ANR Organization</vt:lpstr>
      <vt:lpstr>Peer Review Committee (PRC)</vt:lpstr>
      <vt:lpstr>PRC Operational Guidelines</vt:lpstr>
      <vt:lpstr>Peer Review Committee Perspective</vt:lpstr>
      <vt:lpstr>PowerPoint Presentation</vt:lpstr>
      <vt:lpstr>Ad hoc</vt:lpstr>
      <vt:lpstr> APU            AAC PC (Academic Personnel Unit     Academic Assembly Council  Personnel Committee)</vt:lpstr>
      <vt:lpstr>CD Review Advisors with CD Assignments</vt:lpstr>
      <vt:lpstr> For Advisors with Statewide  Program Affiliation (IPM, MG, YFC) </vt:lpstr>
      <vt:lpstr> For Advisors</vt:lpstr>
      <vt:lpstr> Decisions</vt:lpstr>
      <vt:lpstr>A Good PR is…</vt:lpstr>
      <vt:lpstr>Make Your Dossier Reflect Your Program!  Make It Enjoyable to Read! </vt:lpstr>
      <vt:lpstr>General Tips</vt:lpstr>
      <vt:lpstr>General Directions </vt:lpstr>
      <vt:lpstr>Fostering Your Success</vt:lpstr>
      <vt:lpstr>Timeline for PR Process</vt:lpstr>
      <vt:lpstr>Strategic Initiatives</vt:lpstr>
      <vt:lpstr>Definitions to Help  Develop a Thematic PR Format </vt:lpstr>
      <vt:lpstr>Another Way of Looking At One of Your Themes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Full Title V – VI - Promotion</vt:lpstr>
      <vt:lpstr> Program Review Sections-Advisors    </vt:lpstr>
      <vt:lpstr>   Position Description </vt:lpstr>
      <vt:lpstr>   Program Summary Narrative</vt:lpstr>
      <vt:lpstr>PowerPoint Presentation</vt:lpstr>
      <vt:lpstr>PowerPoint Presentation</vt:lpstr>
      <vt:lpstr>          Professional Competence </vt:lpstr>
      <vt:lpstr>          Professional Competence (cont.) </vt:lpstr>
      <vt:lpstr>PowerPoint Presentation</vt:lpstr>
      <vt:lpstr>Affirmative Action </vt:lpstr>
      <vt:lpstr>Section C AE: Goals for Coming Year</vt:lpstr>
      <vt:lpstr>     Bibliography </vt:lpstr>
      <vt:lpstr>     Bibliography </vt:lpstr>
      <vt:lpstr>Publication Examples </vt:lpstr>
      <vt:lpstr>Project Summary Table</vt:lpstr>
      <vt:lpstr> Extension Activities  </vt:lpstr>
      <vt:lpstr> Letters of Evaluation </vt:lpstr>
      <vt:lpstr> Letters of Evaluation (cont). </vt:lpstr>
      <vt:lpstr>    Other Documents</vt:lpstr>
      <vt:lpstr>Questions about these dossier components?</vt:lpstr>
      <vt:lpstr>     Access Through Your Portal</vt:lpstr>
      <vt:lpstr>      Need More Help?</vt:lpstr>
      <vt:lpstr>Important Dates</vt:lpstr>
      <vt:lpstr>Outcomes Check-in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presentation notes brief.</dc:title>
  <dc:creator>Pam Tise</dc:creator>
  <cp:lastModifiedBy>Pam Tise</cp:lastModifiedBy>
  <cp:revision>26</cp:revision>
  <cp:lastPrinted>2012-12-08T01:30:43Z</cp:lastPrinted>
  <dcterms:created xsi:type="dcterms:W3CDTF">2012-09-17T22:50:43Z</dcterms:created>
  <dcterms:modified xsi:type="dcterms:W3CDTF">2012-12-21T19:27:21Z</dcterms:modified>
</cp:coreProperties>
</file>