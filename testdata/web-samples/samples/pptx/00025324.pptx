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8" r:id="rId3"/>
    <p:sldId id="260" r:id="rId4"/>
    <p:sldId id="261" r:id="rId5"/>
    <p:sldId id="262" r:id="rId6"/>
    <p:sldId id="268" r:id="rId7"/>
    <p:sldId id="264" r:id="rId8"/>
    <p:sldId id="266" r:id="rId9"/>
    <p:sldId id="267" r:id="rId1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896" autoAdjust="0"/>
    <p:restoredTop sz="94660"/>
  </p:normalViewPr>
  <p:slideViewPr>
    <p:cSldViewPr>
      <p:cViewPr varScale="1">
        <p:scale>
          <a:sx n="73" d="100"/>
          <a:sy n="73" d="100"/>
        </p:scale>
        <p:origin x="-390"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A67F0EA-F318-4468-8037-2DEE6FA17077}" type="datetimeFigureOut">
              <a:rPr lang="en-US"/>
              <a:pPr>
                <a:defRPr/>
              </a:pPr>
              <a:t>4/8/2009</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CA"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BCBEC61F-23D1-4512-A60F-7290DEC869B1}" type="slidenum">
              <a:rPr lang="en-CA"/>
              <a:pPr>
                <a:defRPr/>
              </a:pPr>
              <a:t>‹#›</a:t>
            </a:fld>
            <a:endParaRPr lang="en-CA"/>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eaLnBrk="1" hangingPunct="1">
              <a:spcBef>
                <a:spcPct val="0"/>
              </a:spcBef>
            </a:pPr>
            <a:r>
              <a:rPr lang="en-CA" smtClean="0"/>
              <a:t>This chapter focuses on the first of the two</a:t>
            </a:r>
          </a:p>
          <a:p>
            <a:pPr marL="228600" indent="-228600" eaLnBrk="1" hangingPunct="1">
              <a:spcBef>
                <a:spcPct val="0"/>
              </a:spcBef>
              <a:buFontTx/>
              <a:buAutoNum type="arabicParenR"/>
            </a:pPr>
            <a:r>
              <a:rPr lang="en-US" smtClean="0"/>
              <a:t>The right to be heard and thus given the opportunity to meaningfully to participate in the decision making process</a:t>
            </a:r>
          </a:p>
          <a:p>
            <a:pPr marL="228600" indent="-228600" eaLnBrk="1" hangingPunct="1">
              <a:spcBef>
                <a:spcPct val="0"/>
              </a:spcBef>
              <a:buFontTx/>
              <a:buAutoNum type="arabicParenR"/>
            </a:pPr>
            <a:r>
              <a:rPr lang="en-US" smtClean="0"/>
              <a:t>The right to be judged impartially</a:t>
            </a:r>
            <a:endParaRPr lang="en-CA" smtClean="0"/>
          </a:p>
        </p:txBody>
      </p:sp>
      <p:sp>
        <p:nvSpPr>
          <p:cNvPr id="143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8E522BA-55BA-4CF4-A764-B95CEA4AADA3}" type="slidenum">
              <a:rPr lang="en-CA"/>
              <a:pPr fontAlgn="base">
                <a:spcBef>
                  <a:spcPct val="0"/>
                </a:spcBef>
                <a:spcAft>
                  <a:spcPct val="0"/>
                </a:spcAft>
                <a:defRPr/>
              </a:pPr>
              <a:t>2</a:t>
            </a:fld>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CA" smtClean="0"/>
              <a:t>Which leads to the next part </a:t>
            </a:r>
          </a:p>
        </p:txBody>
      </p:sp>
      <p:sp>
        <p:nvSpPr>
          <p:cNvPr id="1536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5568BE4-7306-4222-BC44-1C096EE39D91}" type="slidenum">
              <a:rPr lang="en-CA"/>
              <a:pPr fontAlgn="base">
                <a:spcBef>
                  <a:spcPct val="0"/>
                </a:spcBef>
                <a:spcAft>
                  <a:spcPct val="0"/>
                </a:spcAft>
                <a:defRPr/>
              </a:pPr>
              <a:t>3</a:t>
            </a:fld>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p:spPr>
      </p:sp>
      <p:sp>
        <p:nvSpPr>
          <p:cNvPr id="20482"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eaLnBrk="1" hangingPunct="1">
              <a:spcBef>
                <a:spcPct val="0"/>
              </a:spcBef>
            </a:pPr>
            <a:r>
              <a:rPr lang="en-CA" smtClean="0"/>
              <a:t>Two examples that were given by the author were</a:t>
            </a:r>
          </a:p>
          <a:p>
            <a:pPr marL="228600" indent="-228600" eaLnBrk="1" hangingPunct="1">
              <a:spcBef>
                <a:spcPct val="0"/>
              </a:spcBef>
              <a:buFontTx/>
              <a:buAutoNum type="arabicParenR"/>
            </a:pPr>
            <a:r>
              <a:rPr lang="en-US" smtClean="0"/>
              <a:t>Siting of transmission lines initial proposal turned down- adequate but since it was not understood it was inherently defective</a:t>
            </a:r>
          </a:p>
          <a:p>
            <a:pPr marL="228600" indent="-228600" eaLnBrk="1" hangingPunct="1">
              <a:spcBef>
                <a:spcPct val="0"/>
              </a:spcBef>
              <a:buFontTx/>
              <a:buAutoNum type="arabicParenR"/>
            </a:pPr>
            <a:r>
              <a:rPr lang="en-US" smtClean="0"/>
              <a:t>Live in remote area, possibility of pesticide spraying </a:t>
            </a:r>
            <a:endParaRPr lang="en-CA" smtClean="0"/>
          </a:p>
        </p:txBody>
      </p:sp>
      <p:sp>
        <p:nvSpPr>
          <p:cNvPr id="1638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984F152-2799-45AA-AF00-4E9909847C99}" type="slidenum">
              <a:rPr lang="en-CA"/>
              <a:pPr fontAlgn="base">
                <a:spcBef>
                  <a:spcPct val="0"/>
                </a:spcBef>
                <a:spcAft>
                  <a:spcPct val="0"/>
                </a:spcAft>
                <a:defRPr/>
              </a:pPr>
              <a:t>4</a:t>
            </a:fld>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TextEdit="1"/>
          </p:cNvSpPr>
          <p:nvPr>
            <p:ph type="sldImg"/>
          </p:nvPr>
        </p:nvSpPr>
        <p:spPr bwMode="auto">
          <a:noFill/>
          <a:ln>
            <a:solidFill>
              <a:srgbClr val="000000"/>
            </a:solidFill>
            <a:miter lim="800000"/>
            <a:headEnd/>
            <a:tailEnd/>
          </a:ln>
        </p:spPr>
      </p:sp>
      <p:sp>
        <p:nvSpPr>
          <p:cNvPr id="22530" name="Rectangle 3"/>
          <p:cNvSpPr>
            <a:spLocks noGrp="1"/>
          </p:cNvSpPr>
          <p:nvPr>
            <p:ph type="body" idx="1"/>
          </p:nvPr>
        </p:nvSpPr>
        <p:spPr bwMode="auto">
          <a:noFill/>
        </p:spPr>
        <p:txBody>
          <a:bodyPr wrap="square" numCol="1" anchor="t" anchorCtr="0" compatLnSpc="1">
            <a:prstTxWarp prst="textNoShape">
              <a:avLst/>
            </a:prstTxWarp>
          </a:bodyPr>
          <a:lstStyle/>
          <a:p>
            <a:pPr marL="228600" indent="-228600">
              <a:buFontTx/>
              <a:buAutoNum type="arabicParenR"/>
            </a:pPr>
            <a:endParaRPr lang="en-CA"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TextEdit="1"/>
          </p:cNvSpPr>
          <p:nvPr>
            <p:ph type="sldImg"/>
          </p:nvPr>
        </p:nvSpPr>
        <p:spPr bwMode="auto">
          <a:noFill/>
          <a:ln>
            <a:solidFill>
              <a:srgbClr val="000000"/>
            </a:solidFill>
            <a:miter lim="800000"/>
            <a:headEnd/>
            <a:tailEnd/>
          </a:ln>
        </p:spPr>
      </p:sp>
      <p:sp>
        <p:nvSpPr>
          <p:cNvPr id="24578" name="Rectangle 3"/>
          <p:cNvSpPr>
            <a:spLocks noGrp="1"/>
          </p:cNvSpPr>
          <p:nvPr>
            <p:ph type="body" idx="1"/>
          </p:nvPr>
        </p:nvSpPr>
        <p:spPr bwMode="auto">
          <a:noFill/>
        </p:spPr>
        <p:txBody>
          <a:bodyPr wrap="square" numCol="1" anchor="t" anchorCtr="0" compatLnSpc="1">
            <a:prstTxWarp prst="textNoShape">
              <a:avLst/>
            </a:prstTxWarp>
          </a:bodyPr>
          <a:lstStyle/>
          <a:p>
            <a:pPr marL="228600" indent="-228600">
              <a:buFontTx/>
              <a:buAutoNum type="arabicParenR"/>
            </a:pPr>
            <a:r>
              <a:rPr lang="en-US" smtClean="0"/>
              <a:t>Was successful</a:t>
            </a:r>
          </a:p>
          <a:p>
            <a:pPr marL="228600" indent="-228600">
              <a:buFontTx/>
              <a:buAutoNum type="arabicParenR"/>
            </a:pPr>
            <a:r>
              <a:rPr lang="en-US" smtClean="0"/>
              <a:t> was unsuccessful  - </a:t>
            </a:r>
            <a:r>
              <a:rPr lang="en-CA" sz="800" smtClean="0"/>
              <a:t>The Board refused the discovery on the basis that to provide the documentation would undermine the Board’s need to have candid, complete and objective advice from its staff. </a:t>
            </a:r>
          </a:p>
          <a:p>
            <a:pPr marL="228600" indent="-228600">
              <a:buFontTx/>
              <a:buAutoNum type="arabicParenR"/>
            </a:pPr>
            <a:r>
              <a:rPr lang="en-US" sz="800" smtClean="0"/>
              <a:t> A variation - </a:t>
            </a:r>
            <a:r>
              <a:rPr lang="en-CA" sz="700" smtClean="0"/>
              <a:t>Where rights to discovery exist, it may also be necessary to specifically ask for them. </a:t>
            </a:r>
            <a:endParaRPr lang="en-CA" sz="800" smtClean="0"/>
          </a:p>
          <a:p>
            <a:pPr marL="228600" indent="-228600">
              <a:buFontTx/>
              <a:buAutoNum type="arabicParenR"/>
            </a:pPr>
            <a:endParaRPr lang="en-CA" smtClean="0"/>
          </a:p>
          <a:p>
            <a:pPr marL="228600" indent="-228600"/>
            <a:endParaRPr lang="en-CA"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Rot="1" noChangeAspect="1" noTextEdit="1"/>
          </p:cNvSpPr>
          <p:nvPr>
            <p:ph type="sldImg"/>
          </p:nvPr>
        </p:nvSpPr>
        <p:spPr bwMode="auto">
          <a:noFill/>
          <a:ln>
            <a:solidFill>
              <a:srgbClr val="000000"/>
            </a:solidFill>
            <a:miter lim="800000"/>
            <a:headEnd/>
            <a:tailEnd/>
          </a:ln>
        </p:spPr>
      </p:sp>
      <p:sp>
        <p:nvSpPr>
          <p:cNvPr id="26626" name="Rectangle 3"/>
          <p:cNvSpPr>
            <a:spLocks noGrp="1"/>
          </p:cNvSpPr>
          <p:nvPr>
            <p:ph type="body" idx="1"/>
          </p:nvPr>
        </p:nvSpPr>
        <p:spPr bwMode="auto">
          <a:noFill/>
        </p:spPr>
        <p:txBody>
          <a:bodyPr wrap="square" numCol="1" anchor="t" anchorCtr="0" compatLnSpc="1">
            <a:prstTxWarp prst="textNoShape">
              <a:avLst/>
            </a:prstTxWarp>
          </a:bodyPr>
          <a:lstStyle/>
          <a:p>
            <a:r>
              <a:rPr lang="en-US" smtClean="0"/>
              <a:t>I got the impression that the author is pointing at  </a:t>
            </a:r>
            <a:r>
              <a:rPr lang="en-CA" sz="700" smtClean="0"/>
              <a:t>Economics and Politics</a:t>
            </a:r>
          </a:p>
          <a:p>
            <a:endParaRPr lang="en-CA"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spect="1" noTextEdit="1"/>
          </p:cNvSpPr>
          <p:nvPr>
            <p:ph type="sldImg"/>
          </p:nvPr>
        </p:nvSpPr>
        <p:spPr bwMode="auto">
          <a:noFill/>
          <a:ln>
            <a:solidFill>
              <a:srgbClr val="000000"/>
            </a:solidFill>
            <a:miter lim="800000"/>
            <a:headEnd/>
            <a:tailEnd/>
          </a:ln>
        </p:spPr>
      </p:sp>
      <p:sp>
        <p:nvSpPr>
          <p:cNvPr id="28674" name="Rectangle 3"/>
          <p:cNvSpPr>
            <a:spLocks noGrp="1"/>
          </p:cNvSpPr>
          <p:nvPr>
            <p:ph type="body" idx="1"/>
          </p:nvPr>
        </p:nvSpPr>
        <p:spPr bwMode="auto">
          <a:noFill/>
        </p:spPr>
        <p:txBody>
          <a:bodyPr wrap="square" numCol="1" anchor="t" anchorCtr="0" compatLnSpc="1">
            <a:prstTxWarp prst="textNoShape">
              <a:avLst/>
            </a:prstTxWarp>
          </a:bodyPr>
          <a:lstStyle/>
          <a:p>
            <a:r>
              <a:rPr lang="en-US" b="1" smtClean="0"/>
              <a:t>In the Ontario Humans Rights Commission it did not but it did in the CIBA-Geigy case. </a:t>
            </a:r>
          </a:p>
          <a:p>
            <a:endParaRPr lang="en-CA"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Rot="1" noChangeAspect="1" noTextEdit="1"/>
          </p:cNvSpPr>
          <p:nvPr>
            <p:ph type="sldImg"/>
          </p:nvPr>
        </p:nvSpPr>
        <p:spPr bwMode="auto">
          <a:noFill/>
          <a:ln>
            <a:solidFill>
              <a:srgbClr val="000000"/>
            </a:solidFill>
            <a:miter lim="800000"/>
            <a:headEnd/>
            <a:tailEnd/>
          </a:ln>
        </p:spPr>
      </p:sp>
      <p:sp>
        <p:nvSpPr>
          <p:cNvPr id="30722" name="Rectangle 3"/>
          <p:cNvSpPr>
            <a:spLocks noGrp="1"/>
          </p:cNvSpPr>
          <p:nvPr>
            <p:ph type="body" idx="1"/>
          </p:nvPr>
        </p:nvSpPr>
        <p:spPr bwMode="auto">
          <a:noFill/>
        </p:spPr>
        <p:txBody>
          <a:bodyPr wrap="square" numCol="1" anchor="t" anchorCtr="0" compatLnSpc="1">
            <a:prstTxWarp prst="textNoShape">
              <a:avLst/>
            </a:prstTxWarp>
          </a:bodyPr>
          <a:lstStyle/>
          <a:p>
            <a:endParaRPr lang="en-CA" b="1"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4" name="Rectangle 3"/>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Straight Connector 4"/>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12" name="Title 11"/>
          <p:cNvSpPr>
            <a:spLocks noGrp="1"/>
          </p:cNvSpPr>
          <p:nvPr>
            <p:ph type="ctrTitle"/>
          </p:nvPr>
        </p:nvSpPr>
        <p:spPr>
          <a:xfrm>
            <a:off x="3366868" y="533400"/>
            <a:ext cx="5105400" cy="2868168"/>
          </a:xfrm>
        </p:spPr>
        <p:txBody>
          <a:bodyPr>
            <a:noAutofit/>
          </a:bodyPr>
          <a:lstStyle>
            <a:lvl1pPr algn="r">
              <a:defRPr sz="4200" b="1"/>
            </a:lvl1pPr>
            <a:extLst/>
          </a:lstStyle>
          <a:p>
            <a:r>
              <a:rPr lang="en-US" smtClean="0"/>
              <a:t>Click to edit Master title style</a:t>
            </a:r>
            <a:endParaRPr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30"/>
          <p:cNvSpPr>
            <a:spLocks noGrp="1"/>
          </p:cNvSpPr>
          <p:nvPr>
            <p:ph type="dt" sz="half" idx="10"/>
          </p:nvPr>
        </p:nvSpPr>
        <p:spPr>
          <a:xfrm>
            <a:off x="5870575" y="6557963"/>
            <a:ext cx="2003425" cy="227012"/>
          </a:xfrm>
        </p:spPr>
        <p:txBody>
          <a:bodyPr/>
          <a:lstStyle>
            <a:lvl1pPr>
              <a:defRPr lang="en-US">
                <a:solidFill>
                  <a:srgbClr val="FFFFFF"/>
                </a:solidFill>
              </a:defRPr>
            </a:lvl1pPr>
            <a:extLst/>
          </a:lstStyle>
          <a:p>
            <a:pPr>
              <a:defRPr/>
            </a:pPr>
            <a:fld id="{8779A03B-68F8-457B-9CDD-BDFA58A307F8}" type="datetimeFigureOut">
              <a:rPr/>
              <a:pPr>
                <a:defRPr/>
              </a:pPr>
              <a:t>4/8/2009</a:t>
            </a:fld>
            <a:endParaRPr lang="en-CA"/>
          </a:p>
        </p:txBody>
      </p:sp>
      <p:sp>
        <p:nvSpPr>
          <p:cNvPr id="7" name="Footer Placeholder 17"/>
          <p:cNvSpPr>
            <a:spLocks noGrp="1"/>
          </p:cNvSpPr>
          <p:nvPr>
            <p:ph type="ftr" sz="quarter" idx="11"/>
          </p:nvPr>
        </p:nvSpPr>
        <p:spPr>
          <a:xfrm>
            <a:off x="2819400" y="6557963"/>
            <a:ext cx="2927350" cy="228600"/>
          </a:xfrm>
        </p:spPr>
        <p:txBody>
          <a:bodyPr/>
          <a:lstStyle>
            <a:lvl1pPr>
              <a:defRPr lang="en-US">
                <a:solidFill>
                  <a:srgbClr val="FFFFFF"/>
                </a:solidFill>
              </a:defRPr>
            </a:lvl1pPr>
            <a:extLst/>
          </a:lstStyle>
          <a:p>
            <a:pPr>
              <a:defRPr/>
            </a:pPr>
            <a:endParaRPr lang="en-CA"/>
          </a:p>
        </p:txBody>
      </p:sp>
      <p:sp>
        <p:nvSpPr>
          <p:cNvPr id="8" name="Slide Number Placeholder 28"/>
          <p:cNvSpPr>
            <a:spLocks noGrp="1"/>
          </p:cNvSpPr>
          <p:nvPr>
            <p:ph type="sldNum" sz="quarter" idx="12"/>
          </p:nvPr>
        </p:nvSpPr>
        <p:spPr>
          <a:xfrm>
            <a:off x="7880350" y="6556375"/>
            <a:ext cx="588963" cy="228600"/>
          </a:xfrm>
        </p:spPr>
        <p:txBody>
          <a:bodyPr/>
          <a:lstStyle>
            <a:lvl1pPr>
              <a:defRPr lang="en-US">
                <a:solidFill>
                  <a:srgbClr val="FFFFFF"/>
                </a:solidFill>
              </a:defRPr>
            </a:lvl1pPr>
            <a:extLst/>
          </a:lstStyle>
          <a:p>
            <a:pPr>
              <a:defRPr/>
            </a:pPr>
            <a:fld id="{6290B2AD-1969-485E-80C6-D3AA756BB22D}" type="slidenum">
              <a:rPr lang="en-CA"/>
              <a:pPr>
                <a:defRPr/>
              </a:pPr>
              <a:t>‹#›</a:t>
            </a:fld>
            <a:endParaRPr lang="en-CA"/>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6"/>
          <p:cNvSpPr>
            <a:spLocks noGrp="1"/>
          </p:cNvSpPr>
          <p:nvPr>
            <p:ph type="dt" sz="half" idx="10"/>
          </p:nvPr>
        </p:nvSpPr>
        <p:spPr/>
        <p:txBody>
          <a:bodyPr/>
          <a:lstStyle>
            <a:lvl1pPr>
              <a:defRPr/>
            </a:lvl1pPr>
          </a:lstStyle>
          <a:p>
            <a:pPr>
              <a:defRPr/>
            </a:pPr>
            <a:fld id="{FC9E7EC1-F857-4031-9EE6-6548F4A22D9C}" type="datetimeFigureOut">
              <a:rPr lang="en-US"/>
              <a:pPr>
                <a:defRPr/>
              </a:pPr>
              <a:t>4/8/2009</a:t>
            </a:fld>
            <a:endParaRPr lang="en-CA"/>
          </a:p>
        </p:txBody>
      </p:sp>
      <p:sp>
        <p:nvSpPr>
          <p:cNvPr id="5" name="Footer Placeholder 3"/>
          <p:cNvSpPr>
            <a:spLocks noGrp="1"/>
          </p:cNvSpPr>
          <p:nvPr>
            <p:ph type="ftr" sz="quarter" idx="11"/>
          </p:nvPr>
        </p:nvSpPr>
        <p:spPr/>
        <p:txBody>
          <a:bodyPr/>
          <a:lstStyle>
            <a:lvl1pPr>
              <a:defRPr/>
            </a:lvl1pPr>
          </a:lstStyle>
          <a:p>
            <a:pPr>
              <a:defRPr/>
            </a:pPr>
            <a:endParaRPr lang="en-CA"/>
          </a:p>
        </p:txBody>
      </p:sp>
      <p:sp>
        <p:nvSpPr>
          <p:cNvPr id="6" name="Slide Number Placeholder 15"/>
          <p:cNvSpPr>
            <a:spLocks noGrp="1"/>
          </p:cNvSpPr>
          <p:nvPr>
            <p:ph type="sldNum" sz="quarter" idx="12"/>
          </p:nvPr>
        </p:nvSpPr>
        <p:spPr/>
        <p:txBody>
          <a:bodyPr/>
          <a:lstStyle>
            <a:lvl1pPr>
              <a:defRPr/>
            </a:lvl1pPr>
          </a:lstStyle>
          <a:p>
            <a:pPr>
              <a:defRPr/>
            </a:pPr>
            <a:fld id="{9A52CEC8-9E1F-4C22-800A-A03E6BAB4489}" type="slidenum">
              <a:rPr lang="en-CA"/>
              <a:pPr>
                <a:defRPr/>
              </a:pPr>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anchor="t"/>
          <a:lstStyle>
            <a:lvl1pPr algn="r">
              <a:buNone/>
              <a:defRPr sz="42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4" name="Date Placeholder 3"/>
          <p:cNvSpPr>
            <a:spLocks noGrp="1"/>
          </p:cNvSpPr>
          <p:nvPr>
            <p:ph type="dt" sz="half" idx="10"/>
          </p:nvPr>
        </p:nvSpPr>
        <p:spPr>
          <a:xfrm>
            <a:off x="4724400" y="6556375"/>
            <a:ext cx="2001838" cy="227013"/>
          </a:xfrm>
        </p:spPr>
        <p:txBody>
          <a:bodyPr/>
          <a:lstStyle>
            <a:lvl1pPr>
              <a:defRPr>
                <a:solidFill>
                  <a:schemeClr val="tx2"/>
                </a:solidFill>
              </a:defRPr>
            </a:lvl1pPr>
            <a:extLst/>
          </a:lstStyle>
          <a:p>
            <a:pPr>
              <a:defRPr/>
            </a:pPr>
            <a:fld id="{2ACEA84F-8078-4B8B-B5A3-90F2D50A9055}" type="datetimeFigureOut">
              <a:rPr lang="en-US"/>
              <a:pPr>
                <a:defRPr/>
              </a:pPr>
              <a:t>4/8/2009</a:t>
            </a:fld>
            <a:endParaRPr lang="en-CA"/>
          </a:p>
        </p:txBody>
      </p:sp>
      <p:sp>
        <p:nvSpPr>
          <p:cNvPr id="5" name="Footer Placeholder 4"/>
          <p:cNvSpPr>
            <a:spLocks noGrp="1"/>
          </p:cNvSpPr>
          <p:nvPr>
            <p:ph type="ftr" sz="quarter" idx="11"/>
          </p:nvPr>
        </p:nvSpPr>
        <p:spPr>
          <a:xfrm>
            <a:off x="1735138" y="6556375"/>
            <a:ext cx="2895600" cy="228600"/>
          </a:xfrm>
        </p:spPr>
        <p:txBody>
          <a:bodyPr/>
          <a:lstStyle>
            <a:lvl1pPr>
              <a:defRPr>
                <a:solidFill>
                  <a:schemeClr val="tx2"/>
                </a:solidFill>
              </a:defRPr>
            </a:lvl1pPr>
            <a:extLst/>
          </a:lstStyle>
          <a:p>
            <a:pPr>
              <a:defRPr/>
            </a:pPr>
            <a:endParaRPr lang="en-CA"/>
          </a:p>
        </p:txBody>
      </p:sp>
      <p:sp>
        <p:nvSpPr>
          <p:cNvPr id="6" name="Slide Number Placeholder 5"/>
          <p:cNvSpPr>
            <a:spLocks noGrp="1"/>
          </p:cNvSpPr>
          <p:nvPr>
            <p:ph type="sldNum" sz="quarter" idx="12"/>
          </p:nvPr>
        </p:nvSpPr>
        <p:spPr>
          <a:xfrm>
            <a:off x="6734175" y="6554788"/>
            <a:ext cx="587375" cy="228600"/>
          </a:xfrm>
        </p:spPr>
        <p:txBody>
          <a:bodyPr/>
          <a:lstStyle>
            <a:lvl1pPr>
              <a:defRPr/>
            </a:lvl1pPr>
            <a:extLst/>
          </a:lstStyle>
          <a:p>
            <a:pPr>
              <a:defRPr/>
            </a:pPr>
            <a:fld id="{460F4470-0865-4E60-9B55-69610DA22555}" type="slidenum">
              <a:rPr lang="en-CA"/>
              <a:pPr>
                <a:defRPr/>
              </a:pPr>
              <a:t>‹#›</a:t>
            </a:fld>
            <a:endParaRPr lang="en-CA"/>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457200" y="1600200"/>
            <a:ext cx="352044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178808" y="1600200"/>
            <a:ext cx="352044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6"/>
          <p:cNvSpPr>
            <a:spLocks noGrp="1"/>
          </p:cNvSpPr>
          <p:nvPr>
            <p:ph type="dt" sz="half" idx="10"/>
          </p:nvPr>
        </p:nvSpPr>
        <p:spPr/>
        <p:txBody>
          <a:bodyPr/>
          <a:lstStyle>
            <a:lvl1pPr>
              <a:defRPr/>
            </a:lvl1pPr>
          </a:lstStyle>
          <a:p>
            <a:pPr>
              <a:defRPr/>
            </a:pPr>
            <a:fld id="{515E88CD-2872-401F-A50C-16FB16697D3F}" type="datetimeFigureOut">
              <a:rPr lang="en-US"/>
              <a:pPr>
                <a:defRPr/>
              </a:pPr>
              <a:t>4/8/2009</a:t>
            </a:fld>
            <a:endParaRPr lang="en-CA"/>
          </a:p>
        </p:txBody>
      </p:sp>
      <p:sp>
        <p:nvSpPr>
          <p:cNvPr id="6" name="Footer Placeholder 3"/>
          <p:cNvSpPr>
            <a:spLocks noGrp="1"/>
          </p:cNvSpPr>
          <p:nvPr>
            <p:ph type="ftr" sz="quarter" idx="11"/>
          </p:nvPr>
        </p:nvSpPr>
        <p:spPr/>
        <p:txBody>
          <a:bodyPr/>
          <a:lstStyle>
            <a:lvl1pPr>
              <a:defRPr/>
            </a:lvl1pPr>
          </a:lstStyle>
          <a:p>
            <a:pPr>
              <a:defRPr/>
            </a:pPr>
            <a:endParaRPr lang="en-CA"/>
          </a:p>
        </p:txBody>
      </p:sp>
      <p:sp>
        <p:nvSpPr>
          <p:cNvPr id="7" name="Slide Number Placeholder 15"/>
          <p:cNvSpPr>
            <a:spLocks noGrp="1"/>
          </p:cNvSpPr>
          <p:nvPr>
            <p:ph type="sldNum" sz="quarter" idx="12"/>
          </p:nvPr>
        </p:nvSpPr>
        <p:spPr/>
        <p:txBody>
          <a:bodyPr/>
          <a:lstStyle>
            <a:lvl1pPr>
              <a:defRPr/>
            </a:lvl1pPr>
          </a:lstStyle>
          <a:p>
            <a:pPr>
              <a:defRPr/>
            </a:pPr>
            <a:fld id="{66A201C3-CC07-474E-B5BF-7895FF41EC9D}" type="slidenum">
              <a:rPr lang="en-CA"/>
              <a:pPr>
                <a:defRPr/>
              </a:pPr>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6"/>
          <p:cNvSpPr>
            <a:spLocks noGrp="1"/>
          </p:cNvSpPr>
          <p:nvPr>
            <p:ph type="dt" sz="half" idx="10"/>
          </p:nvPr>
        </p:nvSpPr>
        <p:spPr/>
        <p:txBody>
          <a:bodyPr/>
          <a:lstStyle>
            <a:lvl1pPr>
              <a:defRPr/>
            </a:lvl1pPr>
          </a:lstStyle>
          <a:p>
            <a:pPr>
              <a:defRPr/>
            </a:pPr>
            <a:fld id="{EF41BBF8-6608-4787-81E4-B77F080E0D80}" type="datetimeFigureOut">
              <a:rPr lang="en-US"/>
              <a:pPr>
                <a:defRPr/>
              </a:pPr>
              <a:t>4/8/2009</a:t>
            </a:fld>
            <a:endParaRPr lang="en-CA"/>
          </a:p>
        </p:txBody>
      </p:sp>
      <p:sp>
        <p:nvSpPr>
          <p:cNvPr id="8" name="Footer Placeholder 3"/>
          <p:cNvSpPr>
            <a:spLocks noGrp="1"/>
          </p:cNvSpPr>
          <p:nvPr>
            <p:ph type="ftr" sz="quarter" idx="11"/>
          </p:nvPr>
        </p:nvSpPr>
        <p:spPr/>
        <p:txBody>
          <a:bodyPr/>
          <a:lstStyle>
            <a:lvl1pPr>
              <a:defRPr/>
            </a:lvl1pPr>
          </a:lstStyle>
          <a:p>
            <a:pPr>
              <a:defRPr/>
            </a:pPr>
            <a:endParaRPr lang="en-CA"/>
          </a:p>
        </p:txBody>
      </p:sp>
      <p:sp>
        <p:nvSpPr>
          <p:cNvPr id="9" name="Slide Number Placeholder 15"/>
          <p:cNvSpPr>
            <a:spLocks noGrp="1"/>
          </p:cNvSpPr>
          <p:nvPr>
            <p:ph type="sldNum" sz="quarter" idx="12"/>
          </p:nvPr>
        </p:nvSpPr>
        <p:spPr/>
        <p:txBody>
          <a:bodyPr/>
          <a:lstStyle>
            <a:lvl1pPr>
              <a:defRPr/>
            </a:lvl1pPr>
          </a:lstStyle>
          <a:p>
            <a:pPr>
              <a:defRPr/>
            </a:pPr>
            <a:fld id="{227133C9-706F-472E-8715-6F7BA8745DC3}" type="slidenum">
              <a:rPr lang="en-CA"/>
              <a:pPr>
                <a:defRPr/>
              </a:pPr>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lang="en-US" smtClean="0"/>
              <a:t>Click to edit Master title style</a:t>
            </a:r>
            <a:endParaRPr lang="en-US"/>
          </a:p>
        </p:txBody>
      </p:sp>
      <p:sp>
        <p:nvSpPr>
          <p:cNvPr id="3" name="Date Placeholder 26"/>
          <p:cNvSpPr>
            <a:spLocks noGrp="1"/>
          </p:cNvSpPr>
          <p:nvPr>
            <p:ph type="dt" sz="half" idx="10"/>
          </p:nvPr>
        </p:nvSpPr>
        <p:spPr/>
        <p:txBody>
          <a:bodyPr/>
          <a:lstStyle>
            <a:lvl1pPr>
              <a:defRPr/>
            </a:lvl1pPr>
          </a:lstStyle>
          <a:p>
            <a:pPr>
              <a:defRPr/>
            </a:pPr>
            <a:fld id="{5FC0C6B5-FCE0-426F-BD74-9831B6D2C146}" type="datetimeFigureOut">
              <a:rPr lang="en-US"/>
              <a:pPr>
                <a:defRPr/>
              </a:pPr>
              <a:t>4/8/2009</a:t>
            </a:fld>
            <a:endParaRPr lang="en-CA"/>
          </a:p>
        </p:txBody>
      </p:sp>
      <p:sp>
        <p:nvSpPr>
          <p:cNvPr id="4" name="Footer Placeholder 3"/>
          <p:cNvSpPr>
            <a:spLocks noGrp="1"/>
          </p:cNvSpPr>
          <p:nvPr>
            <p:ph type="ftr" sz="quarter" idx="11"/>
          </p:nvPr>
        </p:nvSpPr>
        <p:spPr/>
        <p:txBody>
          <a:bodyPr/>
          <a:lstStyle>
            <a:lvl1pPr>
              <a:defRPr/>
            </a:lvl1pPr>
          </a:lstStyle>
          <a:p>
            <a:pPr>
              <a:defRPr/>
            </a:pPr>
            <a:endParaRPr lang="en-CA"/>
          </a:p>
        </p:txBody>
      </p:sp>
      <p:sp>
        <p:nvSpPr>
          <p:cNvPr id="5" name="Slide Number Placeholder 15"/>
          <p:cNvSpPr>
            <a:spLocks noGrp="1"/>
          </p:cNvSpPr>
          <p:nvPr>
            <p:ph type="sldNum" sz="quarter" idx="12"/>
          </p:nvPr>
        </p:nvSpPr>
        <p:spPr/>
        <p:txBody>
          <a:bodyPr/>
          <a:lstStyle>
            <a:lvl1pPr>
              <a:defRPr/>
            </a:lvl1pPr>
          </a:lstStyle>
          <a:p>
            <a:pPr>
              <a:defRPr/>
            </a:pPr>
            <a:fld id="{FBB6F451-740C-4F51-95BE-0D0F2FA9225A}" type="slidenum">
              <a:rPr lang="en-CA"/>
              <a:pPr>
                <a:defRPr/>
              </a:pPr>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6"/>
          <p:cNvSpPr>
            <a:spLocks noGrp="1"/>
          </p:cNvSpPr>
          <p:nvPr>
            <p:ph type="dt" sz="half" idx="10"/>
          </p:nvPr>
        </p:nvSpPr>
        <p:spPr/>
        <p:txBody>
          <a:bodyPr/>
          <a:lstStyle>
            <a:lvl1pPr>
              <a:defRPr/>
            </a:lvl1pPr>
          </a:lstStyle>
          <a:p>
            <a:pPr>
              <a:defRPr/>
            </a:pPr>
            <a:fld id="{AFE213DC-5295-4DF7-AEC1-BE56D8263167}" type="datetimeFigureOut">
              <a:rPr lang="en-US"/>
              <a:pPr>
                <a:defRPr/>
              </a:pPr>
              <a:t>4/8/2009</a:t>
            </a:fld>
            <a:endParaRPr lang="en-CA"/>
          </a:p>
        </p:txBody>
      </p:sp>
      <p:sp>
        <p:nvSpPr>
          <p:cNvPr id="3" name="Footer Placeholder 3"/>
          <p:cNvSpPr>
            <a:spLocks noGrp="1"/>
          </p:cNvSpPr>
          <p:nvPr>
            <p:ph type="ftr" sz="quarter" idx="11"/>
          </p:nvPr>
        </p:nvSpPr>
        <p:spPr/>
        <p:txBody>
          <a:bodyPr/>
          <a:lstStyle>
            <a:lvl1pPr>
              <a:defRPr/>
            </a:lvl1pPr>
          </a:lstStyle>
          <a:p>
            <a:pPr>
              <a:defRPr/>
            </a:pPr>
            <a:endParaRPr lang="en-CA"/>
          </a:p>
        </p:txBody>
      </p:sp>
      <p:sp>
        <p:nvSpPr>
          <p:cNvPr id="4" name="Slide Number Placeholder 15"/>
          <p:cNvSpPr>
            <a:spLocks noGrp="1"/>
          </p:cNvSpPr>
          <p:nvPr>
            <p:ph type="sldNum" sz="quarter" idx="12"/>
          </p:nvPr>
        </p:nvSpPr>
        <p:spPr/>
        <p:txBody>
          <a:bodyPr/>
          <a:lstStyle>
            <a:lvl1pPr>
              <a:defRPr/>
            </a:lvl1pPr>
          </a:lstStyle>
          <a:p>
            <a:pPr>
              <a:defRPr/>
            </a:pPr>
            <a:fld id="{56FD70BA-97C0-4407-81F1-5DB2658288DA}" type="slidenum">
              <a:rPr lang="en-CA"/>
              <a:pPr>
                <a:defRPr/>
              </a:pPr>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lstStyle>
            <a:lvl1pPr algn="l">
              <a:buNone/>
              <a:defRPr lang="en-US" sz="2400" baseline="0" smtClean="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lIns="45720" tIns="0" rIns="0" bIns="0" spcCol="0" rtlCol="0" fromWordArt="0" forceAA="0">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6"/>
          <p:cNvSpPr>
            <a:spLocks noGrp="1"/>
          </p:cNvSpPr>
          <p:nvPr>
            <p:ph type="dt" sz="half" idx="10"/>
          </p:nvPr>
        </p:nvSpPr>
        <p:spPr/>
        <p:txBody>
          <a:bodyPr/>
          <a:lstStyle>
            <a:lvl1pPr>
              <a:defRPr/>
            </a:lvl1pPr>
          </a:lstStyle>
          <a:p>
            <a:pPr>
              <a:defRPr/>
            </a:pPr>
            <a:fld id="{D45A044E-4376-4164-A4E8-76BB8DDDC6EE}" type="datetimeFigureOut">
              <a:rPr lang="en-US"/>
              <a:pPr>
                <a:defRPr/>
              </a:pPr>
              <a:t>4/8/2009</a:t>
            </a:fld>
            <a:endParaRPr lang="en-CA"/>
          </a:p>
        </p:txBody>
      </p:sp>
      <p:sp>
        <p:nvSpPr>
          <p:cNvPr id="6" name="Footer Placeholder 3"/>
          <p:cNvSpPr>
            <a:spLocks noGrp="1"/>
          </p:cNvSpPr>
          <p:nvPr>
            <p:ph type="ftr" sz="quarter" idx="11"/>
          </p:nvPr>
        </p:nvSpPr>
        <p:spPr/>
        <p:txBody>
          <a:bodyPr/>
          <a:lstStyle>
            <a:lvl1pPr>
              <a:defRPr/>
            </a:lvl1pPr>
          </a:lstStyle>
          <a:p>
            <a:pPr>
              <a:defRPr/>
            </a:pPr>
            <a:endParaRPr lang="en-CA"/>
          </a:p>
        </p:txBody>
      </p:sp>
      <p:sp>
        <p:nvSpPr>
          <p:cNvPr id="7" name="Slide Number Placeholder 15"/>
          <p:cNvSpPr>
            <a:spLocks noGrp="1"/>
          </p:cNvSpPr>
          <p:nvPr>
            <p:ph type="sldNum" sz="quarter" idx="12"/>
          </p:nvPr>
        </p:nvSpPr>
        <p:spPr/>
        <p:txBody>
          <a:bodyPr/>
          <a:lstStyle>
            <a:lvl1pPr>
              <a:defRPr/>
            </a:lvl1pPr>
          </a:lstStyle>
          <a:p>
            <a:pPr>
              <a:defRPr/>
            </a:pPr>
            <a:fld id="{19228627-1814-4CDC-B402-667A3499A4A6}" type="slidenum">
              <a:rPr lang="en-CA"/>
              <a:pPr>
                <a:defRPr/>
              </a:pPr>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5" name="Rectangle 4"/>
          <p:cNvSpPr/>
          <p:nvPr/>
        </p:nvSpPr>
        <p:spPr>
          <a:xfrm rot="21240000">
            <a:off x="598488" y="1004888"/>
            <a:ext cx="4319587" cy="4311650"/>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Rectangle 5"/>
          <p:cNvSpPr/>
          <p:nvPr/>
        </p:nvSpPr>
        <p:spPr>
          <a:xfrm rot="21420000">
            <a:off x="596900" y="998538"/>
            <a:ext cx="4319588" cy="4313237"/>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2" name="Title 1"/>
          <p:cNvSpPr>
            <a:spLocks noGrp="1"/>
          </p:cNvSpPr>
          <p:nvPr>
            <p:ph type="title"/>
          </p:nvPr>
        </p:nvSpPr>
        <p:spPr>
          <a:xfrm>
            <a:off x="5389098" y="1143000"/>
            <a:ext cx="3429000" cy="2057400"/>
          </a:xfrm>
        </p:spPr>
        <p:txBody>
          <a:bodyPr/>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lang="en-US" smtClean="0"/>
              <a:t>Click to edit Master title style</a:t>
            </a:r>
            <a:endParaRPr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lIns="82296" tIns="0" rIns="0" bIns="0" spcCol="0" rtlCol="0" fromWordArt="0" forceAA="0">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7" name="Date Placeholder 4"/>
          <p:cNvSpPr>
            <a:spLocks noGrp="1"/>
          </p:cNvSpPr>
          <p:nvPr>
            <p:ph type="dt" sz="half" idx="10"/>
          </p:nvPr>
        </p:nvSpPr>
        <p:spPr/>
        <p:txBody>
          <a:bodyPr/>
          <a:lstStyle>
            <a:lvl1pPr>
              <a:defRPr/>
            </a:lvl1pPr>
            <a:extLst/>
          </a:lstStyle>
          <a:p>
            <a:pPr>
              <a:defRPr/>
            </a:pPr>
            <a:fld id="{0A1C66BC-D81F-464D-B87C-550AC22EBDB4}" type="datetimeFigureOut">
              <a:rPr lang="en-US"/>
              <a:pPr>
                <a:defRPr/>
              </a:pPr>
              <a:t>4/8/2009</a:t>
            </a:fld>
            <a:endParaRPr lang="en-CA"/>
          </a:p>
        </p:txBody>
      </p:sp>
      <p:sp>
        <p:nvSpPr>
          <p:cNvPr id="8" name="Footer Placeholder 5"/>
          <p:cNvSpPr>
            <a:spLocks noGrp="1"/>
          </p:cNvSpPr>
          <p:nvPr>
            <p:ph type="ftr" sz="quarter" idx="11"/>
          </p:nvPr>
        </p:nvSpPr>
        <p:spPr/>
        <p:txBody>
          <a:bodyPr/>
          <a:lstStyle>
            <a:lvl1pPr>
              <a:defRPr/>
            </a:lvl1pPr>
            <a:extLst/>
          </a:lstStyle>
          <a:p>
            <a:pPr>
              <a:defRPr/>
            </a:pPr>
            <a:endParaRPr lang="en-CA"/>
          </a:p>
        </p:txBody>
      </p:sp>
      <p:sp>
        <p:nvSpPr>
          <p:cNvPr id="9" name="Slide Number Placeholder 6"/>
          <p:cNvSpPr>
            <a:spLocks noGrp="1"/>
          </p:cNvSpPr>
          <p:nvPr>
            <p:ph type="sldNum" sz="quarter" idx="12"/>
          </p:nvPr>
        </p:nvSpPr>
        <p:spPr/>
        <p:txBody>
          <a:bodyPr/>
          <a:lstStyle>
            <a:lvl1pPr>
              <a:defRPr/>
            </a:lvl1pPr>
            <a:extLst/>
          </a:lstStyle>
          <a:p>
            <a:pPr>
              <a:defRPr/>
            </a:pPr>
            <a:fld id="{5A9E37E4-64F9-483C-B3C1-EE5BAF4E52EA}" type="slidenum">
              <a:rPr lang="en-CA"/>
              <a:pPr>
                <a:defRPr/>
              </a:pPr>
              <a:t>‹#›</a:t>
            </a:fld>
            <a:endParaRPr lang="en-CA"/>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6"/>
          <p:cNvSpPr>
            <a:spLocks noGrp="1"/>
          </p:cNvSpPr>
          <p:nvPr>
            <p:ph type="dt" sz="half" idx="10"/>
          </p:nvPr>
        </p:nvSpPr>
        <p:spPr/>
        <p:txBody>
          <a:bodyPr/>
          <a:lstStyle>
            <a:lvl1pPr>
              <a:defRPr/>
            </a:lvl1pPr>
          </a:lstStyle>
          <a:p>
            <a:pPr>
              <a:defRPr/>
            </a:pPr>
            <a:fld id="{797A45F1-8E75-4E35-8B20-398DF84A0C4A}" type="datetimeFigureOut">
              <a:rPr lang="en-US"/>
              <a:pPr>
                <a:defRPr/>
              </a:pPr>
              <a:t>4/8/2009</a:t>
            </a:fld>
            <a:endParaRPr lang="en-CA"/>
          </a:p>
        </p:txBody>
      </p:sp>
      <p:sp>
        <p:nvSpPr>
          <p:cNvPr id="5" name="Footer Placeholder 3"/>
          <p:cNvSpPr>
            <a:spLocks noGrp="1"/>
          </p:cNvSpPr>
          <p:nvPr>
            <p:ph type="ftr" sz="quarter" idx="11"/>
          </p:nvPr>
        </p:nvSpPr>
        <p:spPr/>
        <p:txBody>
          <a:bodyPr/>
          <a:lstStyle>
            <a:lvl1pPr>
              <a:defRPr/>
            </a:lvl1pPr>
          </a:lstStyle>
          <a:p>
            <a:pPr>
              <a:defRPr/>
            </a:pPr>
            <a:endParaRPr lang="en-CA"/>
          </a:p>
        </p:txBody>
      </p:sp>
      <p:sp>
        <p:nvSpPr>
          <p:cNvPr id="6" name="Slide Number Placeholder 15"/>
          <p:cNvSpPr>
            <a:spLocks noGrp="1"/>
          </p:cNvSpPr>
          <p:nvPr>
            <p:ph type="sldNum" sz="quarter" idx="12"/>
          </p:nvPr>
        </p:nvSpPr>
        <p:spPr/>
        <p:txBody>
          <a:bodyPr/>
          <a:lstStyle>
            <a:lvl1pPr>
              <a:defRPr/>
            </a:lvl1pPr>
          </a:lstStyle>
          <a:p>
            <a:pPr>
              <a:defRPr/>
            </a:pPr>
            <a:fld id="{91758397-2FC5-4D81-960D-0D4949732D96}" type="slidenum">
              <a:rPr lang="en-CA"/>
              <a:pPr>
                <a:defRPr/>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243388" y="6557963"/>
            <a:ext cx="2001837" cy="227012"/>
          </a:xfrm>
        </p:spPr>
        <p:txBody>
          <a:bodyPr/>
          <a:lstStyle>
            <a:lvl1pPr>
              <a:defRPr/>
            </a:lvl1pPr>
            <a:extLst/>
          </a:lstStyle>
          <a:p>
            <a:pPr>
              <a:defRPr/>
            </a:pPr>
            <a:fld id="{F308BD14-FF20-445A-BF9C-3E588EACB250}" type="datetimeFigureOut">
              <a:rPr lang="en-US"/>
              <a:pPr>
                <a:defRPr/>
              </a:pPr>
              <a:t>4/8/2009</a:t>
            </a:fld>
            <a:endParaRPr lang="en-CA"/>
          </a:p>
        </p:txBody>
      </p:sp>
      <p:sp>
        <p:nvSpPr>
          <p:cNvPr id="5" name="Footer Placeholder 4"/>
          <p:cNvSpPr>
            <a:spLocks noGrp="1"/>
          </p:cNvSpPr>
          <p:nvPr>
            <p:ph type="ftr" sz="quarter" idx="11"/>
          </p:nvPr>
        </p:nvSpPr>
        <p:spPr>
          <a:xfrm>
            <a:off x="457200" y="6556375"/>
            <a:ext cx="3657600" cy="228600"/>
          </a:xfrm>
        </p:spPr>
        <p:txBody>
          <a:bodyPr/>
          <a:lstStyle>
            <a:lvl1pPr>
              <a:defRPr/>
            </a:lvl1pPr>
            <a:extLst/>
          </a:lstStyle>
          <a:p>
            <a:pPr>
              <a:defRPr/>
            </a:pPr>
            <a:endParaRPr lang="en-CA"/>
          </a:p>
        </p:txBody>
      </p:sp>
      <p:sp>
        <p:nvSpPr>
          <p:cNvPr id="6" name="Slide Number Placeholder 5"/>
          <p:cNvSpPr>
            <a:spLocks noGrp="1"/>
          </p:cNvSpPr>
          <p:nvPr>
            <p:ph type="sldNum" sz="quarter" idx="12"/>
          </p:nvPr>
        </p:nvSpPr>
        <p:spPr>
          <a:xfrm>
            <a:off x="6254750" y="6553200"/>
            <a:ext cx="587375" cy="228600"/>
          </a:xfrm>
        </p:spPr>
        <p:txBody>
          <a:bodyPr/>
          <a:lstStyle>
            <a:lvl1pPr>
              <a:defRPr>
                <a:solidFill>
                  <a:schemeClr val="tx2"/>
                </a:solidFill>
              </a:defRPr>
            </a:lvl1pPr>
            <a:extLst/>
          </a:lstStyle>
          <a:p>
            <a:pPr>
              <a:defRPr/>
            </a:pPr>
            <a:fld id="{38F2CB9F-B6FC-4F82-A485-F638A770E9CD}" type="slidenum">
              <a:rPr lang="en-CA"/>
              <a:pPr>
                <a:defRPr/>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3" name="Title Placeholder 2"/>
          <p:cNvSpPr>
            <a:spLocks noGrp="1"/>
          </p:cNvSpPr>
          <p:nvPr>
            <p:ph type="title"/>
          </p:nvPr>
        </p:nvSpPr>
        <p:spPr>
          <a:xfrm>
            <a:off x="457200" y="320675"/>
            <a:ext cx="7239000" cy="1143000"/>
          </a:xfrm>
          <a:prstGeom prst="rect">
            <a:avLst/>
          </a:prstGeom>
        </p:spPr>
        <p:txBody>
          <a:bodyPr vert="horz" lIns="45720" tIns="0" rIns="45720" bIns="0" anchor="b" anchorCtr="0">
            <a:normAutofit/>
          </a:bodyPr>
          <a:lstStyle>
            <a:extLst/>
          </a:lstStyle>
          <a:p>
            <a:r>
              <a:rPr lang="en-US" smtClean="0"/>
              <a:t>Click to edit Master title style</a:t>
            </a:r>
            <a:endParaRPr lang="en-US"/>
          </a:p>
        </p:txBody>
      </p:sp>
      <p:sp>
        <p:nvSpPr>
          <p:cNvPr id="1030" name="Text Placeholder 30"/>
          <p:cNvSpPr>
            <a:spLocks noGrp="1"/>
          </p:cNvSpPr>
          <p:nvPr>
            <p:ph type="body" idx="1"/>
          </p:nvPr>
        </p:nvSpPr>
        <p:spPr bwMode="auto">
          <a:xfrm>
            <a:off x="457200" y="1609725"/>
            <a:ext cx="7239000" cy="48466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7" name="Date Placeholder 26"/>
          <p:cNvSpPr>
            <a:spLocks noGrp="1"/>
          </p:cNvSpPr>
          <p:nvPr>
            <p:ph type="dt" sz="half" idx="2"/>
          </p:nvPr>
        </p:nvSpPr>
        <p:spPr>
          <a:xfrm>
            <a:off x="4246563" y="6557963"/>
            <a:ext cx="2001837" cy="227012"/>
          </a:xfrm>
          <a:prstGeom prst="rect">
            <a:avLst/>
          </a:prstGeom>
        </p:spPr>
        <p:txBody>
          <a:bodyPr vert="horz" tIns="0" bIns="0" anchor="b"/>
          <a:lstStyle>
            <a:lvl1pPr algn="l" eaLnBrk="1" fontAlgn="auto" latinLnBrk="0" hangingPunct="1">
              <a:spcBef>
                <a:spcPts val="0"/>
              </a:spcBef>
              <a:spcAft>
                <a:spcPts val="0"/>
              </a:spcAft>
              <a:defRPr kumimoji="0" sz="1000">
                <a:solidFill>
                  <a:schemeClr val="tx2"/>
                </a:solidFill>
                <a:latin typeface="+mn-lt"/>
                <a:cs typeface="+mn-cs"/>
              </a:defRPr>
            </a:lvl1pPr>
            <a:extLst/>
          </a:lstStyle>
          <a:p>
            <a:pPr>
              <a:defRPr/>
            </a:pPr>
            <a:fld id="{7F8CC87C-43C5-4CD7-A46D-3DF123514177}" type="datetimeFigureOut">
              <a:rPr lang="en-US"/>
              <a:pPr>
                <a:defRPr/>
              </a:pPr>
              <a:t>4/8/2009</a:t>
            </a:fld>
            <a:endParaRPr lang="en-CA"/>
          </a:p>
        </p:txBody>
      </p:sp>
      <p:sp>
        <p:nvSpPr>
          <p:cNvPr id="4" name="Footer Placeholder 3"/>
          <p:cNvSpPr>
            <a:spLocks noGrp="1"/>
          </p:cNvSpPr>
          <p:nvPr>
            <p:ph type="ftr" sz="quarter" idx="3"/>
          </p:nvPr>
        </p:nvSpPr>
        <p:spPr>
          <a:xfrm>
            <a:off x="457200" y="6557963"/>
            <a:ext cx="3657600" cy="228600"/>
          </a:xfrm>
          <a:prstGeom prst="rect">
            <a:avLst/>
          </a:prstGeom>
        </p:spPr>
        <p:txBody>
          <a:bodyPr vert="horz" tIns="0" bIns="0" anchor="b"/>
          <a:lstStyle>
            <a:lvl1pPr algn="r" eaLnBrk="1" fontAlgn="auto" latinLnBrk="0" hangingPunct="1">
              <a:spcBef>
                <a:spcPts val="0"/>
              </a:spcBef>
              <a:spcAft>
                <a:spcPts val="0"/>
              </a:spcAft>
              <a:defRPr kumimoji="0" sz="1000">
                <a:solidFill>
                  <a:schemeClr val="tx2"/>
                </a:solidFill>
                <a:latin typeface="+mn-lt"/>
                <a:cs typeface="+mn-cs"/>
              </a:defRPr>
            </a:lvl1pPr>
            <a:extLst/>
          </a:lstStyle>
          <a:p>
            <a:pPr>
              <a:defRPr/>
            </a:pPr>
            <a:endParaRPr lang="en-CA"/>
          </a:p>
        </p:txBody>
      </p:sp>
      <p:sp>
        <p:nvSpPr>
          <p:cNvPr id="16" name="Slide Number Placeholder 15"/>
          <p:cNvSpPr>
            <a:spLocks noGrp="1"/>
          </p:cNvSpPr>
          <p:nvPr>
            <p:ph type="sldNum" sz="quarter" idx="4"/>
          </p:nvPr>
        </p:nvSpPr>
        <p:spPr>
          <a:xfrm>
            <a:off x="6251575" y="6556375"/>
            <a:ext cx="588963" cy="228600"/>
          </a:xfrm>
          <a:prstGeom prst="rect">
            <a:avLst/>
          </a:prstGeom>
        </p:spPr>
        <p:txBody>
          <a:bodyPr vert="horz" lIns="0" tIns="0" rIns="0" bIns="0" anchor="b"/>
          <a:lstStyle>
            <a:lvl1pPr algn="r" eaLnBrk="1" fontAlgn="auto" latinLnBrk="0" hangingPunct="1">
              <a:spcBef>
                <a:spcPts val="0"/>
              </a:spcBef>
              <a:spcAft>
                <a:spcPts val="0"/>
              </a:spcAft>
              <a:defRPr kumimoji="0" sz="1100">
                <a:solidFill>
                  <a:schemeClr val="tx2"/>
                </a:solidFill>
                <a:latin typeface="+mn-lt"/>
                <a:cs typeface="+mn-cs"/>
              </a:defRPr>
            </a:lvl1pPr>
            <a:extLst/>
          </a:lstStyle>
          <a:p>
            <a:pPr>
              <a:defRPr/>
            </a:pPr>
            <a:fld id="{4D16F1D4-081B-46FF-9DEC-A394F2D0BBFB}" type="slidenum">
              <a:rPr lang="en-CA"/>
              <a:pPr>
                <a:defRPr/>
              </a:pPr>
              <a:t>‹#›</a:t>
            </a:fld>
            <a:endParaRPr lang="en-CA"/>
          </a:p>
        </p:txBody>
      </p:sp>
    </p:spTree>
  </p:cSld>
  <p:clrMap bg1="lt1" tx1="dk1" bg2="lt2" tx2="dk2" accent1="accent1" accent2="accent2" accent3="accent3" accent4="accent4" accent5="accent5" accent6="accent6" hlink="hlink" folHlink="folHlink"/>
  <p:sldLayoutIdLst>
    <p:sldLayoutId id="2147483672" r:id="rId1"/>
    <p:sldLayoutId id="2147483671" r:id="rId2"/>
    <p:sldLayoutId id="2147483673" r:id="rId3"/>
    <p:sldLayoutId id="2147483670" r:id="rId4"/>
    <p:sldLayoutId id="2147483669" r:id="rId5"/>
    <p:sldLayoutId id="2147483668" r:id="rId6"/>
    <p:sldLayoutId id="2147483667" r:id="rId7"/>
    <p:sldLayoutId id="2147483666" r:id="rId8"/>
    <p:sldLayoutId id="2147483674" r:id="rId9"/>
    <p:sldLayoutId id="2147483665" r:id="rId10"/>
    <p:sldLayoutId id="2147483675" r:id="rId11"/>
  </p:sldLayoutIdLst>
  <p:txStyles>
    <p:titleStyle>
      <a:lvl1pPr algn="l" rtl="0" eaLnBrk="0" fontAlgn="base" hangingPunct="0">
        <a:spcBef>
          <a:spcPct val="0"/>
        </a:spcBef>
        <a:spcAft>
          <a:spcPct val="0"/>
        </a:spcAft>
        <a:defRPr sz="3800" b="1" kern="1200" cap="all">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latin typeface="+mj-lt"/>
          <a:ea typeface="+mj-ea"/>
          <a:cs typeface="+mj-cs"/>
        </a:defRPr>
      </a:lvl1pPr>
      <a:lvl2pPr algn="l" rtl="0" eaLnBrk="0" fontAlgn="base" hangingPunct="0">
        <a:spcBef>
          <a:spcPct val="0"/>
        </a:spcBef>
        <a:spcAft>
          <a:spcPct val="0"/>
        </a:spcAft>
        <a:defRPr sz="3800" b="1">
          <a:solidFill>
            <a:schemeClr val="tx1"/>
          </a:solidFill>
          <a:latin typeface="Trebuchet MS" pitchFamily="34" charset="0"/>
        </a:defRPr>
      </a:lvl2pPr>
      <a:lvl3pPr algn="l" rtl="0" eaLnBrk="0" fontAlgn="base" hangingPunct="0">
        <a:spcBef>
          <a:spcPct val="0"/>
        </a:spcBef>
        <a:spcAft>
          <a:spcPct val="0"/>
        </a:spcAft>
        <a:defRPr sz="3800" b="1">
          <a:solidFill>
            <a:schemeClr val="tx1"/>
          </a:solidFill>
          <a:latin typeface="Trebuchet MS" pitchFamily="34" charset="0"/>
        </a:defRPr>
      </a:lvl3pPr>
      <a:lvl4pPr algn="l" rtl="0" eaLnBrk="0" fontAlgn="base" hangingPunct="0">
        <a:spcBef>
          <a:spcPct val="0"/>
        </a:spcBef>
        <a:spcAft>
          <a:spcPct val="0"/>
        </a:spcAft>
        <a:defRPr sz="3800" b="1">
          <a:solidFill>
            <a:schemeClr val="tx1"/>
          </a:solidFill>
          <a:latin typeface="Trebuchet MS" pitchFamily="34" charset="0"/>
        </a:defRPr>
      </a:lvl4pPr>
      <a:lvl5pPr algn="l" rtl="0" eaLnBrk="0" fontAlgn="base" hangingPunct="0">
        <a:spcBef>
          <a:spcPct val="0"/>
        </a:spcBef>
        <a:spcAft>
          <a:spcPct val="0"/>
        </a:spcAft>
        <a:defRPr sz="3800" b="1">
          <a:solidFill>
            <a:schemeClr val="tx1"/>
          </a:solidFill>
          <a:latin typeface="Trebuchet MS" pitchFamily="34" charset="0"/>
        </a:defRPr>
      </a:lvl5pPr>
      <a:lvl6pPr marL="457200" algn="l" rtl="0" fontAlgn="base">
        <a:spcBef>
          <a:spcPct val="0"/>
        </a:spcBef>
        <a:spcAft>
          <a:spcPct val="0"/>
        </a:spcAft>
        <a:defRPr sz="3800" b="1">
          <a:solidFill>
            <a:schemeClr val="tx1"/>
          </a:solidFill>
          <a:latin typeface="Trebuchet MS" pitchFamily="34" charset="0"/>
        </a:defRPr>
      </a:lvl6pPr>
      <a:lvl7pPr marL="914400" algn="l" rtl="0" fontAlgn="base">
        <a:spcBef>
          <a:spcPct val="0"/>
        </a:spcBef>
        <a:spcAft>
          <a:spcPct val="0"/>
        </a:spcAft>
        <a:defRPr sz="3800" b="1">
          <a:solidFill>
            <a:schemeClr val="tx1"/>
          </a:solidFill>
          <a:latin typeface="Trebuchet MS" pitchFamily="34" charset="0"/>
        </a:defRPr>
      </a:lvl7pPr>
      <a:lvl8pPr marL="1371600" algn="l" rtl="0" fontAlgn="base">
        <a:spcBef>
          <a:spcPct val="0"/>
        </a:spcBef>
        <a:spcAft>
          <a:spcPct val="0"/>
        </a:spcAft>
        <a:defRPr sz="3800" b="1">
          <a:solidFill>
            <a:schemeClr val="tx1"/>
          </a:solidFill>
          <a:latin typeface="Trebuchet MS" pitchFamily="34" charset="0"/>
        </a:defRPr>
      </a:lvl8pPr>
      <a:lvl9pPr marL="1828800" algn="l" rtl="0" fontAlgn="base">
        <a:spcBef>
          <a:spcPct val="0"/>
        </a:spcBef>
        <a:spcAft>
          <a:spcPct val="0"/>
        </a:spcAft>
        <a:defRPr sz="3800" b="1">
          <a:solidFill>
            <a:schemeClr val="tx1"/>
          </a:solidFill>
          <a:latin typeface="Trebuchet MS" pitchFamily="34" charset="0"/>
        </a:defRPr>
      </a:lvl9pPr>
      <a:extLst/>
    </p:titleStyle>
    <p:bodyStyle>
      <a:lvl1pPr marL="273050" indent="-273050" algn="l" rtl="0" eaLnBrk="0" fontAlgn="base" hangingPunct="0">
        <a:spcBef>
          <a:spcPts val="600"/>
        </a:spcBef>
        <a:spcAft>
          <a:spcPct val="0"/>
        </a:spcAft>
        <a:buClr>
          <a:schemeClr val="tx2"/>
        </a:buClr>
        <a:buSzPct val="73000"/>
        <a:buFont typeface="Wingdings 2"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itchFamily="2" charset="2"/>
        <a:buChar char=""/>
        <a:defRPr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642918"/>
            <a:ext cx="7772400" cy="5286412"/>
          </a:xfrm>
        </p:spPr>
        <p:txBody>
          <a:bodyPr>
            <a:normAutofit fontScale="90000"/>
          </a:bodyPr>
          <a:lstStyle/>
          <a:p>
            <a:pPr eaLnBrk="1" fontAlgn="auto" hangingPunct="1">
              <a:spcAft>
                <a:spcPts val="0"/>
              </a:spcAft>
              <a:defRPr/>
            </a:pPr>
            <a:r>
              <a:rPr lang="en-CA" dirty="0" smtClean="0"/>
              <a:t>Administrative Law</a:t>
            </a:r>
            <a:br>
              <a:rPr lang="en-CA" dirty="0" smtClean="0"/>
            </a:br>
            <a:r>
              <a:rPr lang="en-CA" dirty="0" smtClean="0"/>
              <a:t>Chapter 13</a:t>
            </a:r>
            <a:br>
              <a:rPr lang="en-CA" dirty="0" smtClean="0"/>
            </a:br>
            <a:r>
              <a:rPr lang="en-CA" dirty="0" smtClean="0"/>
              <a:t/>
            </a:r>
            <a:br>
              <a:rPr lang="en-CA" dirty="0" smtClean="0"/>
            </a:br>
            <a:r>
              <a:rPr lang="en-CA" dirty="0" smtClean="0"/>
              <a:t>Notice and Discovery</a:t>
            </a:r>
            <a:br>
              <a:rPr lang="en-CA" dirty="0" smtClean="0"/>
            </a:br>
            <a:r>
              <a:rPr lang="en-CA" dirty="0" smtClean="0"/>
              <a:t> </a:t>
            </a:r>
            <a:br>
              <a:rPr lang="en-CA" dirty="0" smtClean="0"/>
            </a:br>
            <a:r>
              <a:rPr lang="en-CA" dirty="0" smtClean="0"/>
              <a:t>Audi </a:t>
            </a:r>
            <a:r>
              <a:rPr lang="en-CA" dirty="0" err="1" smtClean="0"/>
              <a:t>Alteram</a:t>
            </a:r>
            <a:r>
              <a:rPr lang="en-CA" dirty="0" smtClean="0"/>
              <a:t> </a:t>
            </a:r>
            <a:r>
              <a:rPr lang="en-CA" dirty="0" err="1" smtClean="0"/>
              <a:t>Partem</a:t>
            </a:r>
            <a:r>
              <a:rPr lang="en-CA" dirty="0" smtClean="0"/>
              <a:t> </a:t>
            </a:r>
            <a:br>
              <a:rPr lang="en-CA" dirty="0" smtClean="0"/>
            </a:br>
            <a:r>
              <a:rPr lang="en-CA" dirty="0" smtClean="0"/>
              <a:t>(Hear the Other Side)</a:t>
            </a:r>
            <a:br>
              <a:rPr lang="en-CA" dirty="0" smtClean="0"/>
            </a:br>
            <a:r>
              <a:rPr lang="en-CA" dirty="0" smtClean="0"/>
              <a:t/>
            </a:r>
            <a:br>
              <a:rPr lang="en-CA" dirty="0" smtClean="0"/>
            </a:br>
            <a:r>
              <a:rPr lang="en-CA" dirty="0" smtClean="0"/>
              <a:t>David J. </a:t>
            </a:r>
            <a:r>
              <a:rPr lang="en-CA" dirty="0" err="1" smtClean="0"/>
              <a:t>Mullan</a:t>
            </a:r>
            <a:r>
              <a:rPr lang="en-CA" dirty="0" smtClean="0"/>
              <a:t> </a:t>
            </a:r>
            <a:br>
              <a:rPr lang="en-CA" dirty="0" smtClean="0"/>
            </a:br>
            <a:endParaRPr lang="en-CA" dirty="0"/>
          </a:p>
        </p:txBody>
      </p:sp>
      <p:sp>
        <p:nvSpPr>
          <p:cNvPr id="3" name="Subtitle 2"/>
          <p:cNvSpPr>
            <a:spLocks noGrp="1"/>
          </p:cNvSpPr>
          <p:nvPr>
            <p:ph type="subTitle" idx="1"/>
          </p:nvPr>
        </p:nvSpPr>
        <p:spPr>
          <a:xfrm>
            <a:off x="3354388" y="3540125"/>
            <a:ext cx="5114925" cy="1101725"/>
          </a:xfrm>
        </p:spPr>
        <p:txBody>
          <a:bodyPr>
            <a:normAutofit lnSpcReduction="10000"/>
          </a:bodyPr>
          <a:lstStyle/>
          <a:p>
            <a:pPr eaLnBrk="1" fontAlgn="auto" hangingPunct="1">
              <a:spcAft>
                <a:spcPts val="0"/>
              </a:spcAft>
              <a:buFont typeface="Wingdings 2"/>
              <a:buNone/>
              <a:defRPr/>
            </a:pPr>
            <a:endParaRPr lang="en-CA" dirty="0" smtClean="0"/>
          </a:p>
          <a:p>
            <a:pPr eaLnBrk="1" fontAlgn="auto" hangingPunct="1">
              <a:spcAft>
                <a:spcPts val="0"/>
              </a:spcAft>
              <a:buFont typeface="Wingdings 2"/>
              <a:buNone/>
              <a:defRPr/>
            </a:pPr>
            <a:endParaRPr lang="en-CA" dirty="0"/>
          </a:p>
          <a:p>
            <a:pPr eaLnBrk="1" fontAlgn="auto" hangingPunct="1">
              <a:spcAft>
                <a:spcPts val="0"/>
              </a:spcAft>
              <a:buFont typeface="Wingdings 2"/>
              <a:buNone/>
              <a:defRPr/>
            </a:pPr>
            <a:r>
              <a:rPr lang="en-CA" dirty="0" smtClean="0"/>
              <a:t>By: </a:t>
            </a:r>
            <a:r>
              <a:rPr lang="en-CA" dirty="0" err="1" smtClean="0"/>
              <a:t>Heddy</a:t>
            </a:r>
            <a:r>
              <a:rPr lang="en-CA" dirty="0" smtClean="0"/>
              <a:t> Cordova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37192"/>
          </a:xfrm>
        </p:spPr>
        <p:txBody>
          <a:bodyPr>
            <a:normAutofit fontScale="90000"/>
          </a:bodyPr>
          <a:lstStyle/>
          <a:p>
            <a:pPr eaLnBrk="1" fontAlgn="auto" hangingPunct="1">
              <a:spcAft>
                <a:spcPts val="0"/>
              </a:spcAft>
              <a:defRPr/>
            </a:pPr>
            <a:r>
              <a:rPr lang="en-CA" dirty="0" smtClean="0"/>
              <a:t>Introduction</a:t>
            </a:r>
            <a:endParaRPr lang="en-CA" dirty="0"/>
          </a:p>
        </p:txBody>
      </p:sp>
      <p:sp>
        <p:nvSpPr>
          <p:cNvPr id="15362" name="Content Placeholder 2"/>
          <p:cNvSpPr>
            <a:spLocks noGrp="1"/>
          </p:cNvSpPr>
          <p:nvPr>
            <p:ph idx="1"/>
          </p:nvPr>
        </p:nvSpPr>
        <p:spPr>
          <a:xfrm>
            <a:off x="457200" y="857250"/>
            <a:ext cx="7239000" cy="5599113"/>
          </a:xfrm>
        </p:spPr>
        <p:txBody>
          <a:bodyPr/>
          <a:lstStyle/>
          <a:p>
            <a:pPr eaLnBrk="1" hangingPunct="1">
              <a:lnSpc>
                <a:spcPct val="90000"/>
              </a:lnSpc>
            </a:pPr>
            <a:r>
              <a:rPr lang="en-CA" smtClean="0"/>
              <a:t>The rules of Procedural Fairness (Natural Justice) are divided into two separate categories:  </a:t>
            </a:r>
          </a:p>
          <a:p>
            <a:pPr eaLnBrk="1" hangingPunct="1">
              <a:lnSpc>
                <a:spcPct val="90000"/>
              </a:lnSpc>
            </a:pPr>
            <a:endParaRPr lang="en-CA" smtClean="0"/>
          </a:p>
          <a:p>
            <a:pPr eaLnBrk="1" hangingPunct="1">
              <a:lnSpc>
                <a:spcPct val="90000"/>
              </a:lnSpc>
            </a:pPr>
            <a:r>
              <a:rPr lang="en-CA" smtClean="0"/>
              <a:t>1) </a:t>
            </a:r>
            <a:r>
              <a:rPr lang="en-CA" i="1" smtClean="0"/>
              <a:t>Audi Alteram Partem</a:t>
            </a:r>
            <a:r>
              <a:rPr lang="en-CA" smtClean="0"/>
              <a:t>:  The requirement that the decision maker provide adequate opportunities for those affected to present their case and respond to the evidence and arguments being advanced by other participants or in the knowledge or possession of the decision maker</a:t>
            </a:r>
          </a:p>
          <a:p>
            <a:pPr eaLnBrk="1" hangingPunct="1">
              <a:lnSpc>
                <a:spcPct val="90000"/>
              </a:lnSpc>
              <a:buFont typeface="Wingdings 2" pitchFamily="18" charset="2"/>
              <a:buNone/>
            </a:pPr>
            <a:endParaRPr lang="en-CA" smtClean="0"/>
          </a:p>
          <a:p>
            <a:pPr eaLnBrk="1" hangingPunct="1">
              <a:lnSpc>
                <a:spcPct val="90000"/>
              </a:lnSpc>
            </a:pPr>
            <a:r>
              <a:rPr lang="en-CA" smtClean="0"/>
              <a:t>2)  The requirement that decision makers be independent and unbiased </a:t>
            </a:r>
          </a:p>
          <a:p>
            <a:pPr eaLnBrk="1" hangingPunct="1">
              <a:lnSpc>
                <a:spcPct val="90000"/>
              </a:lnSpc>
            </a:pPr>
            <a:endParaRPr lang="en-CA"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642942"/>
          </a:xfrm>
        </p:spPr>
        <p:txBody>
          <a:bodyPr/>
          <a:lstStyle/>
          <a:p>
            <a:pPr eaLnBrk="1" fontAlgn="auto" hangingPunct="1">
              <a:spcAft>
                <a:spcPts val="0"/>
              </a:spcAft>
              <a:defRPr/>
            </a:pPr>
            <a:r>
              <a:rPr lang="en-CA" dirty="0" smtClean="0"/>
              <a:t>Section B:  Notice</a:t>
            </a:r>
            <a:endParaRPr lang="en-CA" dirty="0"/>
          </a:p>
        </p:txBody>
      </p:sp>
      <p:sp>
        <p:nvSpPr>
          <p:cNvPr id="17410" name="Content Placeholder 2"/>
          <p:cNvSpPr>
            <a:spLocks noGrp="1"/>
          </p:cNvSpPr>
          <p:nvPr>
            <p:ph idx="1"/>
          </p:nvPr>
        </p:nvSpPr>
        <p:spPr>
          <a:xfrm>
            <a:off x="0" y="908050"/>
            <a:ext cx="8229600" cy="5786438"/>
          </a:xfrm>
        </p:spPr>
        <p:txBody>
          <a:bodyPr/>
          <a:lstStyle/>
          <a:p>
            <a:pPr eaLnBrk="1" hangingPunct="1"/>
            <a:r>
              <a:rPr lang="en-CA" sz="1800" smtClean="0"/>
              <a:t>It is one of the fundamentals of procedural fairness that those affected by decisions within its scope should in general receive notice of the process about to be undertaken in a sufficient degree or detail and in a timely fashion to enable the fulfillment of their participatory entitlements </a:t>
            </a:r>
          </a:p>
          <a:p>
            <a:pPr eaLnBrk="1" hangingPunct="1"/>
            <a:endParaRPr lang="en-CA" sz="1800" smtClean="0"/>
          </a:p>
          <a:p>
            <a:pPr eaLnBrk="1" hangingPunct="1"/>
            <a:r>
              <a:rPr lang="en-CA" sz="1800" smtClean="0"/>
              <a:t>The notice requirements in civil and criminal cases are more detailed and are served personally, which is now typically followed by a discovery process.  For example, professional discipline with career threatening ramifications. </a:t>
            </a:r>
          </a:p>
          <a:p>
            <a:pPr eaLnBrk="1" hangingPunct="1"/>
            <a:endParaRPr lang="en-CA" sz="1800" smtClean="0"/>
          </a:p>
          <a:p>
            <a:pPr eaLnBrk="1" hangingPunct="1"/>
            <a:r>
              <a:rPr lang="en-CA" sz="1800" smtClean="0"/>
              <a:t>In contrast, in public hearings (i.e. Location of a nuclear plant) the notice is less formal (i.e. Newspaper) where not everyone is served personally, only those who are directly affected.  </a:t>
            </a:r>
          </a:p>
          <a:p>
            <a:pPr eaLnBrk="1" hangingPunct="1"/>
            <a:endParaRPr lang="en-CA" sz="1800" smtClean="0"/>
          </a:p>
          <a:p>
            <a:pPr eaLnBrk="1" hangingPunct="1"/>
            <a:r>
              <a:rPr lang="en-CA" sz="1800" b="1" smtClean="0"/>
              <a:t>This leaves me the question whether in public hearings the required notice is sufficient? What are the criteria when selecting whom should get a personal notice?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871" y="152400"/>
            <a:ext cx="8229600" cy="500066"/>
          </a:xfrm>
        </p:spPr>
        <p:txBody>
          <a:bodyPr>
            <a:normAutofit fontScale="90000"/>
          </a:bodyPr>
          <a:lstStyle/>
          <a:p>
            <a:pPr eaLnBrk="1" fontAlgn="auto" hangingPunct="1">
              <a:spcAft>
                <a:spcPts val="0"/>
              </a:spcAft>
              <a:defRPr/>
            </a:pPr>
            <a:r>
              <a:rPr lang="en-CA" dirty="0" smtClean="0"/>
              <a:t>Notice cont’d </a:t>
            </a:r>
            <a:endParaRPr lang="en-CA" dirty="0"/>
          </a:p>
        </p:txBody>
      </p:sp>
      <p:sp>
        <p:nvSpPr>
          <p:cNvPr id="19458" name="Content Placeholder 2"/>
          <p:cNvSpPr>
            <a:spLocks noGrp="1"/>
          </p:cNvSpPr>
          <p:nvPr>
            <p:ph idx="1"/>
          </p:nvPr>
        </p:nvSpPr>
        <p:spPr>
          <a:xfrm>
            <a:off x="0" y="836613"/>
            <a:ext cx="8229600" cy="6429375"/>
          </a:xfrm>
        </p:spPr>
        <p:txBody>
          <a:bodyPr/>
          <a:lstStyle/>
          <a:p>
            <a:pPr eaLnBrk="1" hangingPunct="1"/>
            <a:r>
              <a:rPr lang="en-CA" sz="1600" smtClean="0"/>
              <a:t>Is the Notice Adequate and Reasonable:  It is the obligation of the tribunal to make wise choices  as to the medium or media through which the affected portions of the public are to be notified and to provide information that is both ample and enough to alert the public as to what is at stake.  </a:t>
            </a:r>
          </a:p>
          <a:p>
            <a:pPr eaLnBrk="1" hangingPunct="1"/>
            <a:endParaRPr lang="en-CA" sz="1600" smtClean="0"/>
          </a:p>
          <a:p>
            <a:pPr eaLnBrk="1" hangingPunct="1"/>
            <a:r>
              <a:rPr lang="en-CA" sz="1600" i="1" smtClean="0"/>
              <a:t>1) Re Central Ontario Coalition and Ontario Hydro </a:t>
            </a:r>
            <a:r>
              <a:rPr lang="en-CA" sz="1600" smtClean="0"/>
              <a:t>–The problem arose when an alternative decision was chosen and the announcement was very vague and misleading in its description of the area affected.  </a:t>
            </a:r>
          </a:p>
          <a:p>
            <a:pPr eaLnBrk="1" hangingPunct="1"/>
            <a:r>
              <a:rPr lang="en-CA" sz="1600" i="1" smtClean="0"/>
              <a:t>2)Nisga’a Tribal Council v. Environmental Appeal Board</a:t>
            </a:r>
            <a:r>
              <a:rPr lang="en-CA" sz="1600" smtClean="0"/>
              <a:t> –The problem arose when the applicant placed an announcement in a newspaper serving the community 150 miles away from Nisga’a. The court held that this was insufficient compliance because in this instance newspaper advertising of any kind was inadequate and there was an obligation on the administrator to ensure notification in the manner requested by the Tribal Council.  </a:t>
            </a:r>
          </a:p>
          <a:p>
            <a:pPr eaLnBrk="1" hangingPunct="1"/>
            <a:endParaRPr lang="en-CA" sz="1600" smtClean="0"/>
          </a:p>
          <a:p>
            <a:pPr eaLnBrk="1" hangingPunct="1"/>
            <a:r>
              <a:rPr lang="en-CA" sz="1600" smtClean="0"/>
              <a:t>Notice will have to be given again if during the course of a hearing new issues arise particularly when additionally persons stand to be affected by the decision.   If the change is significant it may hinder the ability to participate effectively because of insufficient time to prepare.  </a:t>
            </a:r>
          </a:p>
          <a:p>
            <a:pPr eaLnBrk="1" hangingPunct="1"/>
            <a:r>
              <a:rPr lang="en-CA" sz="1700" b="1" smtClean="0"/>
              <a:t>How much time and detail is adequate?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142852"/>
            <a:ext cx="8229600" cy="571528"/>
          </a:xfrm>
        </p:spPr>
        <p:txBody>
          <a:bodyPr>
            <a:normAutofit fontScale="90000"/>
          </a:bodyPr>
          <a:lstStyle/>
          <a:p>
            <a:pPr eaLnBrk="1" fontAlgn="auto" hangingPunct="1">
              <a:spcAft>
                <a:spcPts val="0"/>
              </a:spcAft>
              <a:defRPr/>
            </a:pPr>
            <a:r>
              <a:rPr lang="en-CA" dirty="0" smtClean="0"/>
              <a:t>Section C: Discovery</a:t>
            </a:r>
            <a:endParaRPr lang="en-CA" dirty="0"/>
          </a:p>
        </p:txBody>
      </p:sp>
      <p:sp>
        <p:nvSpPr>
          <p:cNvPr id="21506" name="Content Placeholder 2"/>
          <p:cNvSpPr>
            <a:spLocks noGrp="1"/>
          </p:cNvSpPr>
          <p:nvPr>
            <p:ph idx="1"/>
          </p:nvPr>
        </p:nvSpPr>
        <p:spPr>
          <a:xfrm>
            <a:off x="0" y="1052513"/>
            <a:ext cx="8050213" cy="5543550"/>
          </a:xfrm>
        </p:spPr>
        <p:txBody>
          <a:bodyPr/>
          <a:lstStyle/>
          <a:p>
            <a:pPr eaLnBrk="1" hangingPunct="1">
              <a:lnSpc>
                <a:spcPct val="80000"/>
              </a:lnSpc>
            </a:pPr>
            <a:r>
              <a:rPr lang="en-CA" sz="1800" smtClean="0"/>
              <a:t>In recent years that there has been demands seeking full discovery rights or access to all relevant material in the hands of the decision maker and other parties mainly because of the decision of the Supreme Court of Canada in </a:t>
            </a:r>
            <a:r>
              <a:rPr lang="en-CA" sz="1800" i="1" smtClean="0"/>
              <a:t>R. v. Stinchcombe </a:t>
            </a:r>
            <a:r>
              <a:rPr lang="en-CA" sz="1800" smtClean="0"/>
              <a:t>in which the court prescribed extensive discovery rights in the criminal trial process. </a:t>
            </a:r>
          </a:p>
          <a:p>
            <a:pPr eaLnBrk="1" hangingPunct="1">
              <a:lnSpc>
                <a:spcPct val="80000"/>
              </a:lnSpc>
            </a:pPr>
            <a:endParaRPr lang="en-CA" sz="1800" smtClean="0"/>
          </a:p>
          <a:p>
            <a:pPr eaLnBrk="1" hangingPunct="1">
              <a:lnSpc>
                <a:spcPct val="80000"/>
              </a:lnSpc>
            </a:pPr>
            <a:r>
              <a:rPr lang="en-US" sz="1800" b="1" smtClean="0"/>
              <a:t>Does this case apply to administrative tribunals? </a:t>
            </a:r>
            <a:r>
              <a:rPr lang="en-CA" sz="1800" smtClean="0"/>
              <a:t>No, there has not been a universal acceptance of discovery as a component of procedural fairness across a broad spectrum of administrative process</a:t>
            </a:r>
          </a:p>
          <a:p>
            <a:pPr eaLnBrk="1" hangingPunct="1">
              <a:lnSpc>
                <a:spcPct val="80000"/>
              </a:lnSpc>
            </a:pPr>
            <a:endParaRPr lang="en-CA" sz="1800" b="1" smtClean="0"/>
          </a:p>
          <a:p>
            <a:pPr eaLnBrk="1" hangingPunct="1">
              <a:lnSpc>
                <a:spcPct val="80000"/>
              </a:lnSpc>
            </a:pPr>
            <a:endParaRPr lang="en-CA" sz="180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bwMode="auto">
          <a:xfrm>
            <a:off x="457200" y="320675"/>
            <a:ext cx="7239000" cy="587375"/>
          </a:xfrm>
        </p:spPr>
        <p:txBody>
          <a:bodyPr wrap="square" numCol="1" compatLnSpc="1">
            <a:prstTxWarp prst="textNoShape">
              <a:avLst/>
            </a:prstTxWarp>
          </a:bodyPr>
          <a:lstStyle/>
          <a:p>
            <a:pPr>
              <a:defRPr/>
            </a:pPr>
            <a:r>
              <a:rPr lang="en-CA" dirty="0" smtClean="0"/>
              <a:t>Discovery cont’d</a:t>
            </a:r>
            <a:endParaRPr lang="en-CA" cap="none" dirty="0" smtClean="0">
              <a:ln>
                <a:noFill/>
              </a:ln>
              <a:solidFill>
                <a:schemeClr val="tx1"/>
              </a:solidFill>
            </a:endParaRPr>
          </a:p>
        </p:txBody>
      </p:sp>
      <p:sp>
        <p:nvSpPr>
          <p:cNvPr id="23554" name="Rectangle 3"/>
          <p:cNvSpPr>
            <a:spLocks noGrp="1"/>
          </p:cNvSpPr>
          <p:nvPr>
            <p:ph idx="1"/>
          </p:nvPr>
        </p:nvSpPr>
        <p:spPr>
          <a:xfrm>
            <a:off x="250825" y="1268413"/>
            <a:ext cx="7239000" cy="4846637"/>
          </a:xfrm>
        </p:spPr>
        <p:txBody>
          <a:bodyPr/>
          <a:lstStyle/>
          <a:p>
            <a:pPr eaLnBrk="1" hangingPunct="1">
              <a:lnSpc>
                <a:spcPct val="80000"/>
              </a:lnSpc>
            </a:pPr>
            <a:r>
              <a:rPr lang="en-CA" sz="1800" smtClean="0"/>
              <a:t>1) </a:t>
            </a:r>
            <a:r>
              <a:rPr lang="en-CA" sz="1800" i="1" smtClean="0"/>
              <a:t>Ontario (Human Rights Commission) v. Ontario (Board of Inquiry into Northwestern General Hospital)</a:t>
            </a:r>
            <a:r>
              <a:rPr lang="en-CA" sz="1800" smtClean="0"/>
              <a:t> –The Commission was obliged to provide discovery of all statements made by the Complainants to the Commission.  The Court emphasized the serious ramifications of a finding of discrimination and in this context expressed the view that justice would be served better when there is complete information available to the respondents. </a:t>
            </a:r>
          </a:p>
          <a:p>
            <a:pPr eaLnBrk="1" hangingPunct="1">
              <a:lnSpc>
                <a:spcPct val="80000"/>
              </a:lnSpc>
            </a:pPr>
            <a:endParaRPr lang="en-CA" sz="1800" smtClean="0"/>
          </a:p>
          <a:p>
            <a:pPr eaLnBrk="1" hangingPunct="1">
              <a:lnSpc>
                <a:spcPct val="80000"/>
              </a:lnSpc>
            </a:pPr>
            <a:r>
              <a:rPr lang="en-CA" sz="1800" i="1" smtClean="0"/>
              <a:t>2) CIBA-Geigy Ltd. v. Canada (Patented Medicine Prices Review Board)</a:t>
            </a:r>
            <a:r>
              <a:rPr lang="en-CA" sz="1800" smtClean="0"/>
              <a:t> –The target was to obtain pre-hearing disclosure of all relevant documents in the Board’s possession. The Federal Court sustained the Board’s refusal on the ruling by stating that there were no criminal proceedings, it would impact the efficiency of the business, and it would also lengthen the proceedings.  </a:t>
            </a:r>
          </a:p>
          <a:p>
            <a:pPr eaLnBrk="1" hangingPunct="1">
              <a:lnSpc>
                <a:spcPct val="80000"/>
              </a:lnSpc>
            </a:pPr>
            <a:endParaRPr lang="en-CA" sz="1800" smtClean="0"/>
          </a:p>
          <a:p>
            <a:r>
              <a:rPr lang="en-US" sz="1800" smtClean="0"/>
              <a:t>3) </a:t>
            </a:r>
            <a:r>
              <a:rPr lang="en-CA" sz="1800" i="1" smtClean="0"/>
              <a:t>Siad v. Canada</a:t>
            </a:r>
            <a:r>
              <a:rPr lang="en-CA" sz="1800" smtClean="0"/>
              <a:t> – the failure of the immigration authorities to disclose all relevant material prior to a convention refugee hearing did not amount to a breach of their duty when counsel did not request that material until the hearing had commenced.  </a:t>
            </a:r>
          </a:p>
          <a:p>
            <a:endParaRPr lang="en-CA"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439718"/>
          </a:xfrm>
        </p:spPr>
        <p:txBody>
          <a:bodyPr>
            <a:normAutofit fontScale="90000"/>
          </a:bodyPr>
          <a:lstStyle/>
          <a:p>
            <a:pPr eaLnBrk="1" fontAlgn="auto" hangingPunct="1">
              <a:spcAft>
                <a:spcPts val="0"/>
              </a:spcAft>
              <a:defRPr/>
            </a:pPr>
            <a:r>
              <a:rPr lang="en-CA" dirty="0" smtClean="0"/>
              <a:t>Discovery cont’d</a:t>
            </a:r>
            <a:endParaRPr lang="en-CA" dirty="0"/>
          </a:p>
        </p:txBody>
      </p:sp>
      <p:sp>
        <p:nvSpPr>
          <p:cNvPr id="25602" name="Content Placeholder 2"/>
          <p:cNvSpPr>
            <a:spLocks noGrp="1"/>
          </p:cNvSpPr>
          <p:nvPr>
            <p:ph idx="1"/>
          </p:nvPr>
        </p:nvSpPr>
        <p:spPr>
          <a:xfrm>
            <a:off x="0" y="908050"/>
            <a:ext cx="8229600" cy="5197475"/>
          </a:xfrm>
        </p:spPr>
        <p:txBody>
          <a:bodyPr/>
          <a:lstStyle/>
          <a:p>
            <a:pPr eaLnBrk="1" hangingPunct="1">
              <a:lnSpc>
                <a:spcPct val="80000"/>
              </a:lnSpc>
            </a:pPr>
            <a:endParaRPr lang="en-CA" sz="1800" smtClean="0"/>
          </a:p>
          <a:p>
            <a:pPr eaLnBrk="1" hangingPunct="1">
              <a:lnSpc>
                <a:spcPct val="80000"/>
              </a:lnSpc>
            </a:pPr>
            <a:endParaRPr lang="en-CA" sz="2000" smtClean="0"/>
          </a:p>
          <a:p>
            <a:pPr eaLnBrk="1" hangingPunct="1">
              <a:lnSpc>
                <a:spcPct val="80000"/>
              </a:lnSpc>
            </a:pPr>
            <a:r>
              <a:rPr lang="en-CA" sz="2000" smtClean="0"/>
              <a:t>How much more damaging is it to be accused of discrimination that it is to be accused of price gouging? </a:t>
            </a:r>
          </a:p>
          <a:p>
            <a:pPr eaLnBrk="1" hangingPunct="1">
              <a:lnSpc>
                <a:spcPct val="80000"/>
              </a:lnSpc>
            </a:pPr>
            <a:r>
              <a:rPr lang="en-CA" sz="2000" smtClean="0"/>
              <a:t>Was it wrong for the judgement to be measured on the basis of whether it was a criminal process?</a:t>
            </a:r>
          </a:p>
          <a:p>
            <a:pPr eaLnBrk="1" hangingPunct="1">
              <a:lnSpc>
                <a:spcPct val="80000"/>
              </a:lnSpc>
            </a:pPr>
            <a:r>
              <a:rPr lang="en-CA" sz="2000" smtClean="0"/>
              <a:t>Why should Patented Medicine Prices Review Board have more protection than the staff of the Ontario Human Rights Commission?</a:t>
            </a:r>
          </a:p>
          <a:p>
            <a:pPr eaLnBrk="1" hangingPunct="1">
              <a:lnSpc>
                <a:spcPct val="80000"/>
              </a:lnSpc>
            </a:pPr>
            <a:r>
              <a:rPr lang="en-CA" sz="2000" smtClean="0"/>
              <a:t>What happens when the information is not in the hands of the decision maker but with one of the parties? Who should the information belong to? Should it belong to the public?</a:t>
            </a:r>
          </a:p>
          <a:p>
            <a:pPr eaLnBrk="1" hangingPunct="1">
              <a:lnSpc>
                <a:spcPct val="80000"/>
              </a:lnSpc>
            </a:pPr>
            <a:r>
              <a:rPr lang="en-US" sz="2000" smtClean="0"/>
              <a:t>Is justice not better served when complete information of the case is provided?</a:t>
            </a:r>
          </a:p>
          <a:p>
            <a:pPr eaLnBrk="1" hangingPunct="1">
              <a:lnSpc>
                <a:spcPct val="80000"/>
              </a:lnSpc>
            </a:pPr>
            <a:endParaRPr lang="en-US" sz="2000" smtClean="0"/>
          </a:p>
          <a:p>
            <a:pPr eaLnBrk="1" hangingPunct="1">
              <a:lnSpc>
                <a:spcPct val="80000"/>
              </a:lnSpc>
            </a:pPr>
            <a:r>
              <a:rPr lang="en-CA" sz="2000" smtClean="0"/>
              <a:t>As you can see ….the precise entitlements of discovery in the administrative process are still far from being established ..... </a:t>
            </a:r>
          </a:p>
          <a:p>
            <a:pPr eaLnBrk="1" hangingPunct="1">
              <a:lnSpc>
                <a:spcPct val="80000"/>
              </a:lnSpc>
            </a:pPr>
            <a:endParaRPr lang="en-CA" sz="160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bwMode="auto">
          <a:xfrm>
            <a:off x="457200" y="320675"/>
            <a:ext cx="7239000" cy="731838"/>
          </a:xfrm>
        </p:spPr>
        <p:txBody>
          <a:bodyPr wrap="square" numCol="1" compatLnSpc="1">
            <a:prstTxWarp prst="textNoShape">
              <a:avLst/>
            </a:prstTxWarp>
          </a:bodyPr>
          <a:lstStyle/>
          <a:p>
            <a:pPr>
              <a:defRPr/>
            </a:pPr>
            <a:r>
              <a:rPr lang="en-CA" dirty="0" smtClean="0"/>
              <a:t>Discovery cont’d</a:t>
            </a:r>
            <a:endParaRPr lang="en-CA" cap="none" dirty="0" smtClean="0">
              <a:ln>
                <a:noFill/>
              </a:ln>
              <a:solidFill>
                <a:schemeClr val="tx1"/>
              </a:solidFill>
            </a:endParaRPr>
          </a:p>
        </p:txBody>
      </p:sp>
      <p:sp>
        <p:nvSpPr>
          <p:cNvPr id="27650" name="Rectangle 3"/>
          <p:cNvSpPr>
            <a:spLocks noGrp="1"/>
          </p:cNvSpPr>
          <p:nvPr>
            <p:ph idx="1"/>
          </p:nvPr>
        </p:nvSpPr>
        <p:spPr>
          <a:xfrm>
            <a:off x="457200" y="1268413"/>
            <a:ext cx="7239000" cy="5187950"/>
          </a:xfrm>
        </p:spPr>
        <p:txBody>
          <a:bodyPr/>
          <a:lstStyle/>
          <a:p>
            <a:r>
              <a:rPr lang="en-US" smtClean="0"/>
              <a:t>In civil and criminal litigation processes are subject to restrictions, for example, in penitentiary proceedings there are informer or solicitor/client privilege </a:t>
            </a:r>
          </a:p>
          <a:p>
            <a:r>
              <a:rPr lang="en-US" smtClean="0"/>
              <a:t>In the case of administrative processes this remains questionable (i.e. privilege between lawyers to the Commission and their clients)</a:t>
            </a:r>
          </a:p>
          <a:p>
            <a:r>
              <a:rPr lang="en-US" b="1" smtClean="0"/>
              <a:t>Does such class privilege exist in terms of the relationship between a tribunal and its staff? </a:t>
            </a:r>
            <a:endParaRPr lang="en-CA" b="1"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bwMode="auto">
          <a:xfrm>
            <a:off x="457200" y="320675"/>
            <a:ext cx="7239000" cy="731838"/>
          </a:xfrm>
        </p:spPr>
        <p:txBody>
          <a:bodyPr wrap="square" numCol="1" compatLnSpc="1">
            <a:prstTxWarp prst="textNoShape">
              <a:avLst/>
            </a:prstTxWarp>
          </a:bodyPr>
          <a:lstStyle/>
          <a:p>
            <a:pPr>
              <a:defRPr/>
            </a:pPr>
            <a:r>
              <a:rPr lang="en-CA" dirty="0" smtClean="0"/>
              <a:t>Discovery cont’d</a:t>
            </a:r>
            <a:endParaRPr lang="en-CA" cap="none" dirty="0" smtClean="0">
              <a:ln>
                <a:noFill/>
              </a:ln>
              <a:solidFill>
                <a:schemeClr val="tx1"/>
              </a:solidFill>
            </a:endParaRPr>
          </a:p>
        </p:txBody>
      </p:sp>
      <p:sp>
        <p:nvSpPr>
          <p:cNvPr id="29698" name="Rectangle 3"/>
          <p:cNvSpPr>
            <a:spLocks noGrp="1"/>
          </p:cNvSpPr>
          <p:nvPr>
            <p:ph idx="1"/>
          </p:nvPr>
        </p:nvSpPr>
        <p:spPr>
          <a:xfrm>
            <a:off x="457200" y="1268413"/>
            <a:ext cx="7239000" cy="5187950"/>
          </a:xfrm>
        </p:spPr>
        <p:txBody>
          <a:bodyPr/>
          <a:lstStyle/>
          <a:p>
            <a:r>
              <a:rPr lang="en-CA" sz="2000" i="1" smtClean="0"/>
              <a:t>CIBA-Geigy Ltd. v. Canada</a:t>
            </a:r>
            <a:r>
              <a:rPr lang="en-US" sz="2000" smtClean="0"/>
              <a:t>  - to the extent that the provision of discovery or the making of a discovery order is a matter within the discretion of a and administrative tribunal or agency, it is possible that any ruling about discovery will be </a:t>
            </a:r>
            <a:r>
              <a:rPr lang="en-US" sz="2000" u="sng" smtClean="0"/>
              <a:t>subject to judicial  review not on correctness but on a patent of unreasonableness standard.  </a:t>
            </a:r>
          </a:p>
          <a:p>
            <a:endParaRPr lang="en-US" sz="2000" u="sng" smtClean="0"/>
          </a:p>
          <a:p>
            <a:r>
              <a:rPr lang="en-US" sz="2000" smtClean="0"/>
              <a:t>In an appeal or judicial review of a decision of an administrative body, it is important to understand the role of the supervising court. </a:t>
            </a:r>
          </a:p>
          <a:p>
            <a:endParaRPr lang="en-US" sz="2000" smtClean="0"/>
          </a:p>
          <a:p>
            <a:r>
              <a:rPr lang="en-US" sz="2000" b="1" smtClean="0"/>
              <a:t>Why and to what extent </a:t>
            </a:r>
            <a:r>
              <a:rPr lang="en-US" sz="2000" b="1" i="1" smtClean="0"/>
              <a:t>should </a:t>
            </a:r>
            <a:r>
              <a:rPr lang="en-US" sz="2000" b="1" smtClean="0"/>
              <a:t>the court intervene in the decision made by an  administrative body?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themeOverride>
</file>

<file path=docProps/app.xml><?xml version="1.0" encoding="utf-8"?>
<Properties xmlns="http://schemas.openxmlformats.org/officeDocument/2006/extended-properties" xmlns:vt="http://schemas.openxmlformats.org/officeDocument/2006/docPropsVTypes">
  <Template/>
  <TotalTime>551</TotalTime>
  <Words>1092</Words>
  <Application>Microsoft Office PowerPoint</Application>
  <PresentationFormat>On-screen Show (4:3)</PresentationFormat>
  <Paragraphs>62</Paragraphs>
  <Slides>9</Slides>
  <Notes>8</Notes>
  <HiddenSlides>0</HiddenSlides>
  <MMClips>0</MMClips>
  <ScaleCrop>false</ScaleCrop>
  <HeadingPairs>
    <vt:vector size="6" baseType="variant">
      <vt:variant>
        <vt:lpstr>Fonts Used</vt:lpstr>
      </vt:variant>
      <vt:variant>
        <vt:i4>5</vt:i4>
      </vt:variant>
      <vt:variant>
        <vt:lpstr>Design Template</vt:lpstr>
      </vt:variant>
      <vt:variant>
        <vt:i4>5</vt:i4>
      </vt:variant>
      <vt:variant>
        <vt:lpstr>Slide Titles</vt:lpstr>
      </vt:variant>
      <vt:variant>
        <vt:i4>9</vt:i4>
      </vt:variant>
    </vt:vector>
  </HeadingPairs>
  <TitlesOfParts>
    <vt:vector size="19" baseType="lpstr">
      <vt:lpstr>Arial</vt:lpstr>
      <vt:lpstr>Trebuchet MS</vt:lpstr>
      <vt:lpstr>Wingdings 2</vt:lpstr>
      <vt:lpstr>Wingdings</vt:lpstr>
      <vt:lpstr>Calibri</vt:lpstr>
      <vt:lpstr>Opulent</vt:lpstr>
      <vt:lpstr>Opulent</vt:lpstr>
      <vt:lpstr>Opulent</vt:lpstr>
      <vt:lpstr>Opulent</vt:lpstr>
      <vt:lpstr>Opulent</vt:lpstr>
      <vt:lpstr>Slide 1</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Administrative Law Chapter 13  Audi Alteram Partem  (Hear the Other Side)  David J. Mullan</dc:title>
  <dc:creator>Heddy</dc:creator>
  <cp:lastModifiedBy>itc</cp:lastModifiedBy>
  <cp:revision>38</cp:revision>
  <dcterms:created xsi:type="dcterms:W3CDTF">2009-04-08T04:36:21Z</dcterms:created>
  <dcterms:modified xsi:type="dcterms:W3CDTF">2009-04-09T01:59:42Z</dcterms:modified>
</cp:coreProperties>
</file>