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2.xml" ContentType="application/vnd.openxmlformats-officedocument.presentationml.slide+xml"/>
  <Override PartName="/ppt/theme/theme2.xml" ContentType="application/vnd.openxmlformats-officedocument.theme+xml"/>
  <Override PartName="/ppt/notesSlides/notesSlide11.xml" ContentType="application/vnd.openxmlformats-officedocument.presentationml.notesSlid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theme/theme3.xml" ContentType="application/vnd.openxmlformats-officedocument.them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Override PartName="/ppt/notesSlides/notesSlide18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Override PartName="/ppt/notesSlides/notesSlide10.xml" ContentType="application/vnd.openxmlformats-officedocument.presentationml.notesSlide+xml"/>
  <Default Extension="rels" ContentType="application/vnd.openxmlformats-package.relationships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r:id="rId1"/>
  </p:sldMasterIdLst>
  <p:notesMasterIdLst>
    <p:notesMasterId r:id="rId25"/>
  </p:notesMasterIdLst>
  <p:handoutMasterIdLst>
    <p:handoutMasterId r:id="rId26"/>
  </p:handoutMasterIdLst>
  <p:sldIdLst>
    <p:sldId id="256" r:id="rId2"/>
    <p:sldId id="326" r:id="rId3"/>
    <p:sldId id="327" r:id="rId4"/>
    <p:sldId id="313" r:id="rId5"/>
    <p:sldId id="347" r:id="rId6"/>
    <p:sldId id="329" r:id="rId7"/>
    <p:sldId id="282" r:id="rId8"/>
    <p:sldId id="346" r:id="rId9"/>
    <p:sldId id="333" r:id="rId10"/>
    <p:sldId id="283" r:id="rId11"/>
    <p:sldId id="315" r:id="rId12"/>
    <p:sldId id="334" r:id="rId13"/>
    <p:sldId id="344" r:id="rId14"/>
    <p:sldId id="319" r:id="rId15"/>
    <p:sldId id="349" r:id="rId16"/>
    <p:sldId id="323" r:id="rId17"/>
    <p:sldId id="324" r:id="rId18"/>
    <p:sldId id="348" r:id="rId19"/>
    <p:sldId id="345" r:id="rId20"/>
    <p:sldId id="335" r:id="rId21"/>
    <p:sldId id="318" r:id="rId22"/>
    <p:sldId id="332" r:id="rId23"/>
    <p:sldId id="28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5021" autoAdjust="0"/>
    <p:restoredTop sz="51061" autoAdjust="0"/>
  </p:normalViewPr>
  <p:slideViewPr>
    <p:cSldViewPr snapToObjects="1">
      <p:cViewPr varScale="1">
        <p:scale>
          <a:sx n="57" d="100"/>
          <a:sy n="57" d="100"/>
        </p:scale>
        <p:origin x="-239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1" Type="http://schemas.openxmlformats.org/officeDocument/2006/relationships/tableStyles" Target="tableStyles.xml"/><Relationship Id="rId7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printerSettings" Target="printerSettings/printerSettings1.bin"/><Relationship Id="rId14" Type="http://schemas.openxmlformats.org/officeDocument/2006/relationships/slide" Target="slides/slide13.xml"/><Relationship Id="rId23" Type="http://schemas.openxmlformats.org/officeDocument/2006/relationships/slide" Target="slides/slide22.xml"/><Relationship Id="rId4" Type="http://schemas.openxmlformats.org/officeDocument/2006/relationships/slide" Target="slides/slide3.xml"/><Relationship Id="rId28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11" Type="http://schemas.openxmlformats.org/officeDocument/2006/relationships/slide" Target="slides/slide10.xml"/><Relationship Id="rId29" Type="http://schemas.openxmlformats.org/officeDocument/2006/relationships/viewProps" Target="viewProps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167C1-9B13-1B49-965A-14AB40B3D3DB}" type="datetimeFigureOut">
              <a:rPr lang="en-US" smtClean="0"/>
              <a:pPr/>
              <a:t>4/11/12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0D41D-DD0C-EB4A-9F6B-15091A7E1D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6EC34-AAB7-4740-B73F-C05F2FD2E866}" type="datetimeFigureOut">
              <a:rPr lang="en-US" smtClean="0"/>
              <a:pPr/>
              <a:t>4/11/12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66EF4-73DD-7C4B-BFFF-DE2240F12D5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dirty="0" smtClean="0">
              <a:ea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17F81-38FD-1C40-96B5-A2098207DDD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17F81-38FD-1C40-96B5-A2098207DDD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17F81-38FD-1C40-96B5-A2098207DDD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17F81-38FD-1C40-96B5-A2098207DDD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1200" dirty="0" smtClean="0">
              <a:latin typeface="Comic Sans 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17F81-38FD-1C40-96B5-A2098207DDD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 err="1" smtClean="0"/>
              <a:t>Servedio</a:t>
            </a:r>
            <a:r>
              <a:rPr lang="en-US" baseline="0" dirty="0" smtClean="0"/>
              <a:t> </a:t>
            </a:r>
            <a:r>
              <a:rPr lang="en-US" dirty="0" smtClean="0"/>
              <a:t>gives an efficient algorithm for identifying</a:t>
            </a:r>
            <a:r>
              <a:rPr lang="en-US" baseline="0" dirty="0" smtClean="0"/>
              <a:t> </a:t>
            </a:r>
            <a:r>
              <a:rPr lang="en-US" dirty="0" smtClean="0"/>
              <a:t>the important variables of a monotone Boolean function. We refer to this algorithm as</a:t>
            </a:r>
            <a:r>
              <a:rPr lang="en-US" baseline="0" dirty="0" smtClean="0"/>
              <a:t> </a:t>
            </a:r>
            <a:r>
              <a:rPr lang="en-US" dirty="0" err="1" smtClean="0"/>
              <a:t>FindVariables</a:t>
            </a:r>
            <a:endParaRPr lang="en-US" dirty="0" smtClean="0"/>
          </a:p>
          <a:p>
            <a:r>
              <a:rPr lang="en-US" dirty="0" smtClean="0"/>
              <a:t>There is an</a:t>
            </a:r>
            <a:r>
              <a:rPr lang="en-US" baseline="0" dirty="0" smtClean="0"/>
              <a:t> </a:t>
            </a:r>
            <a:r>
              <a:rPr lang="en-US" dirty="0" smtClean="0"/>
              <a:t>algorithm,</a:t>
            </a:r>
            <a:r>
              <a:rPr lang="en-US" baseline="0" dirty="0" smtClean="0"/>
              <a:t> </a:t>
            </a:r>
            <a:r>
              <a:rPr lang="en-US" dirty="0" smtClean="0"/>
              <a:t>runs in poly-time steps for all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eps</a:t>
            </a:r>
            <a:r>
              <a:rPr lang="en-US" baseline="0" dirty="0" smtClean="0"/>
              <a:t> delta </a:t>
            </a:r>
            <a:r>
              <a:rPr lang="en-US" dirty="0" smtClean="0"/>
              <a:t>&gt; 0; and with probability at least 1 – delta</a:t>
            </a:r>
            <a:r>
              <a:rPr lang="en-US" baseline="0" dirty="0" smtClean="0"/>
              <a:t>;  </a:t>
            </a:r>
            <a:r>
              <a:rPr lang="en-US" dirty="0" smtClean="0"/>
              <a:t>it outputs a set </a:t>
            </a:r>
            <a:r>
              <a:rPr lang="en-US" dirty="0" err="1" smtClean="0"/>
              <a:t>S_f</a:t>
            </a:r>
            <a:r>
              <a:rPr lang="en-US" dirty="0" smtClean="0"/>
              <a:t> </a:t>
            </a:r>
            <a:r>
              <a:rPr lang="en-US" dirty="0" err="1" smtClean="0"/>
              <a:t>subseteq</a:t>
            </a:r>
            <a:r>
              <a:rPr lang="en-US" dirty="0" smtClean="0"/>
              <a:t> [</a:t>
            </a:r>
            <a:r>
              <a:rPr lang="en-US" dirty="0" err="1" smtClean="0"/>
              <a:t>n</a:t>
            </a:r>
            <a:r>
              <a:rPr lang="en-US" dirty="0" smtClean="0"/>
              <a:t>] such that this</a:t>
            </a:r>
            <a:r>
              <a:rPr lang="en-US" baseline="0" dirty="0" smtClean="0"/>
              <a:t> </a:t>
            </a:r>
            <a:r>
              <a:rPr lang="en-US" dirty="0" smtClean="0"/>
              <a:t>property</a:t>
            </a:r>
            <a:r>
              <a:rPr lang="en-US" baseline="0" dirty="0" smtClean="0"/>
              <a:t> is sat.</a:t>
            </a:r>
          </a:p>
          <a:p>
            <a:endParaRPr lang="en-US" dirty="0" smtClean="0"/>
          </a:p>
          <a:p>
            <a:r>
              <a:rPr lang="en-US" dirty="0" smtClean="0"/>
              <a:t>The Learn-term algorithm thus estimates ^ </a:t>
            </a:r>
            <a:r>
              <a:rPr lang="en-US" dirty="0" err="1" smtClean="0"/>
              <a:t>f(A</a:t>
            </a:r>
            <a:r>
              <a:rPr lang="en-US" dirty="0" smtClean="0"/>
              <a:t>) for A </a:t>
            </a:r>
            <a:r>
              <a:rPr lang="en-US" dirty="0" err="1" smtClean="0"/>
              <a:t>subseteq</a:t>
            </a:r>
            <a:r>
              <a:rPr lang="en-US" dirty="0" smtClean="0"/>
              <a:t> </a:t>
            </a:r>
            <a:r>
              <a:rPr lang="en-US" dirty="0" err="1" smtClean="0"/>
              <a:t>S_f</a:t>
            </a:r>
            <a:r>
              <a:rPr lang="en-US" dirty="0" smtClean="0"/>
              <a:t> </a:t>
            </a:r>
            <a:r>
              <a:rPr lang="en-US" baseline="0" dirty="0" smtClean="0"/>
              <a:t> (size&lt;</a:t>
            </a:r>
            <a:r>
              <a:rPr lang="en-US" dirty="0" err="1" smtClean="0"/>
              <a:t>c</a:t>
            </a:r>
            <a:r>
              <a:rPr lang="en-US" dirty="0" smtClean="0"/>
              <a:t>) by sampling and constructs a</a:t>
            </a:r>
            <a:r>
              <a:rPr lang="en-US" baseline="0" dirty="0" smtClean="0"/>
              <a:t> </a:t>
            </a:r>
            <a:r>
              <a:rPr lang="en-US" dirty="0" smtClean="0"/>
              <a:t>hypothesis using these approximate Fourier coefficients. </a:t>
            </a:r>
          </a:p>
          <a:p>
            <a:r>
              <a:rPr lang="en-US" dirty="0" smtClean="0"/>
              <a:t>The</a:t>
            </a:r>
            <a:r>
              <a:rPr lang="en-US" baseline="0" dirty="0" smtClean="0"/>
              <a:t> idea is, </a:t>
            </a:r>
            <a:r>
              <a:rPr lang="en-US" baseline="0" dirty="0" err="1" smtClean="0"/>
              <a:t>Mansour’s</a:t>
            </a:r>
            <a:r>
              <a:rPr lang="en-US" baseline="0" dirty="0" smtClean="0"/>
              <a:t> lemma has dependency on </a:t>
            </a:r>
            <a:r>
              <a:rPr lang="en-US" baseline="0" dirty="0" err="1" smtClean="0"/>
              <a:t>t</a:t>
            </a:r>
            <a:r>
              <a:rPr lang="en-US" baseline="0" dirty="0" smtClean="0"/>
              <a:t> (log </a:t>
            </a:r>
            <a:r>
              <a:rPr lang="en-US" baseline="0" dirty="0" err="1" smtClean="0"/>
              <a:t>t</a:t>
            </a:r>
            <a:r>
              <a:rPr lang="en-US" baseline="0" dirty="0" smtClean="0"/>
              <a:t>): look at </a:t>
            </a:r>
            <a:r>
              <a:rPr lang="en-US" baseline="0" dirty="0" err="1" smtClean="0"/>
              <a:t>coeff</a:t>
            </a:r>
            <a:r>
              <a:rPr lang="en-US" baseline="0" dirty="0" smtClean="0"/>
              <a:t> for small set of </a:t>
            </a:r>
            <a:r>
              <a:rPr lang="en-US" baseline="0" dirty="0" err="1" smtClean="0"/>
              <a:t>rel</a:t>
            </a:r>
            <a:r>
              <a:rPr lang="en-US" baseline="0" dirty="0" smtClean="0"/>
              <a:t> variable. If do not have too many terms say 2^{o(sqrt(long))}, can just look at small set of variables. </a:t>
            </a:r>
            <a:r>
              <a:rPr lang="en-US" dirty="0" smtClean="0"/>
              <a:t>The key fact</a:t>
            </a:r>
            <a:r>
              <a:rPr lang="en-US" baseline="0" dirty="0" smtClean="0"/>
              <a:t> is the only part that requires </a:t>
            </a:r>
            <a:r>
              <a:rPr lang="en-US" baseline="0" dirty="0" err="1" smtClean="0"/>
              <a:t>monotonicity</a:t>
            </a:r>
            <a:r>
              <a:rPr lang="en-US" baseline="0" dirty="0" smtClean="0"/>
              <a:t> is find-</a:t>
            </a:r>
            <a:r>
              <a:rPr lang="en-US" baseline="0" dirty="0" err="1" smtClean="0"/>
              <a:t>var</a:t>
            </a:r>
            <a:r>
              <a:rPr lang="en-US" baseline="0" dirty="0" smtClean="0"/>
              <a:t>. So we Replace </a:t>
            </a:r>
            <a:r>
              <a:rPr lang="en-US" baseline="0" dirty="0" err="1" smtClean="0"/>
              <a:t>findvar</a:t>
            </a:r>
            <a:r>
              <a:rPr lang="en-US" baseline="0" dirty="0" smtClean="0"/>
              <a:t> with </a:t>
            </a:r>
            <a:r>
              <a:rPr lang="en-US" baseline="0" dirty="0" err="1" smtClean="0"/>
              <a:t>sth</a:t>
            </a:r>
            <a:r>
              <a:rPr lang="en-US" baseline="0" dirty="0" smtClean="0"/>
              <a:t> that works for non-monotone </a:t>
            </a:r>
            <a:r>
              <a:rPr lang="en-US" baseline="0" dirty="0" err="1" smtClean="0"/>
              <a:t>dnf</a:t>
            </a:r>
            <a:r>
              <a:rPr lang="en-US" baseline="0" dirty="0" smtClean="0"/>
              <a:t>. And use landmarks (landmark </a:t>
            </a:r>
            <a:r>
              <a:rPr lang="en-US" baseline="0" dirty="0" err="1" smtClean="0"/>
              <a:t>dnf</a:t>
            </a:r>
            <a:r>
              <a:rPr lang="en-US" baseline="0" dirty="0" smtClean="0"/>
              <a:t> is monotone: because flipping from 0 to 1, only makes them closer in K) to find relevant var. G</a:t>
            </a:r>
            <a:r>
              <a:rPr lang="en-US" dirty="0" smtClean="0"/>
              <a:t>iven the </a:t>
            </a:r>
            <a:r>
              <a:rPr lang="en-US" dirty="0" err="1" smtClean="0"/>
              <a:t>S_f</a:t>
            </a:r>
            <a:r>
              <a:rPr lang="en-US" dirty="0" smtClean="0"/>
              <a:t>,</a:t>
            </a:r>
            <a:r>
              <a:rPr lang="en-US" baseline="0" dirty="0" smtClean="0"/>
              <a:t> we run </a:t>
            </a:r>
            <a:r>
              <a:rPr lang="en-US" dirty="0" smtClean="0"/>
              <a:t>learn-term</a:t>
            </a:r>
            <a:r>
              <a:rPr lang="en-US" baseline="0" dirty="0" smtClean="0"/>
              <a:t> (does not require monotone).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17F81-38FD-1C40-96B5-A2098207DDD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C66EF4-73DD-7C4B-BFFF-DE2240F12D5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B8D81-74A6-7046-9D42-49AD5F19AF4D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6AC58-CD63-404C-B784-9614B7563A8F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7336-E4FE-894E-B8DD-9EBF166AD357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51E26-EE47-1749-B354-73DA61DA224A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3D5-BE1B-F041-A5C4-A345614CA6AC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372F-26A0-904E-8A2C-544A16C9AD4B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BB433-DD36-334E-BB1E-BB180117A1DD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7A256-C27F-434F-ABC4-DF34A7E97A0C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7BB7-9B16-384A-9A28-8EA2B9E09985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1EF1B-B2DA-5C4F-BD84-9F47E1AE9D73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EDDE-9280-9C40-9C32-663E8A4D705A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7230-8B18-5A45-AA64-6036615AF0BF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20026-AD34-7B4C-A9C2-75EDD57A56E0}" type="datetime1">
              <a:rPr lang="en-US" smtClean="0"/>
              <a:pPr/>
              <a:t>4/11/12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0A227-C3CB-D047-9064-CE750872C5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676400"/>
            <a:ext cx="8458200" cy="1470025"/>
          </a:xfrm>
        </p:spPr>
        <p:txBody>
          <a:bodyPr>
            <a:noAutofit/>
          </a:bodyPr>
          <a:lstStyle/>
          <a:p>
            <a:r>
              <a:rPr lang="en-US" sz="5000" dirty="0" err="1" smtClean="0">
                <a:solidFill>
                  <a:srgbClr val="800000"/>
                </a:solidFill>
                <a:latin typeface="Comic Sans MS"/>
              </a:rPr>
              <a:t>Learnability</a:t>
            </a:r>
            <a:r>
              <a:rPr lang="en-US" sz="5000" dirty="0" smtClean="0">
                <a:solidFill>
                  <a:srgbClr val="800000"/>
                </a:solidFill>
                <a:latin typeface="Comic Sans MS"/>
              </a:rPr>
              <a:t> of DNF with Representation-Specific Queries</a:t>
            </a:r>
            <a:br>
              <a:rPr lang="en-US" sz="5000" dirty="0" smtClean="0">
                <a:solidFill>
                  <a:srgbClr val="800000"/>
                </a:solidFill>
                <a:latin typeface="Comic Sans MS"/>
              </a:rPr>
            </a:br>
            <a:r>
              <a:rPr lang="en-US" dirty="0" smtClean="0">
                <a:solidFill>
                  <a:srgbClr val="800000"/>
                </a:solidFill>
                <a:latin typeface="Comic Sans MS"/>
              </a:rPr>
              <a:t/>
            </a:r>
            <a:br>
              <a:rPr lang="en-US" dirty="0" smtClean="0">
                <a:solidFill>
                  <a:srgbClr val="800000"/>
                </a:solidFill>
                <a:latin typeface="Comic Sans MS"/>
              </a:rPr>
            </a:br>
            <a:r>
              <a:rPr lang="en-US" dirty="0" smtClean="0">
                <a:solidFill>
                  <a:srgbClr val="800000"/>
                </a:solidFill>
                <a:latin typeface="Comic Sans MS"/>
              </a:rPr>
              <a:t>Liu Yang</a:t>
            </a:r>
            <a:endParaRPr lang="en-US" dirty="0">
              <a:solidFill>
                <a:srgbClr val="800000"/>
              </a:solidFill>
              <a:latin typeface="Comic Sans M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4572000"/>
            <a:ext cx="8839200" cy="1752600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  <a:latin typeface="Comic Sans MS"/>
                <a:ea typeface="+mj-ea"/>
                <a:cs typeface="+mj-cs"/>
              </a:rPr>
              <a:t>Joint work </a:t>
            </a:r>
            <a:r>
              <a:rPr lang="en-US" sz="3000" dirty="0" smtClean="0">
                <a:solidFill>
                  <a:schemeClr val="tx1"/>
                </a:solidFill>
                <a:latin typeface="Comic Sans MS"/>
                <a:ea typeface="+mj-ea"/>
                <a:cs typeface="+mj-cs"/>
              </a:rPr>
              <a:t>with </a:t>
            </a:r>
            <a:r>
              <a:rPr lang="en-US" sz="3000" dirty="0" err="1" smtClean="0">
                <a:solidFill>
                  <a:schemeClr val="tx1"/>
                </a:solidFill>
                <a:latin typeface="Comic Sans MS"/>
                <a:ea typeface="+mj-ea"/>
                <a:cs typeface="+mj-cs"/>
              </a:rPr>
              <a:t>Avrim</a:t>
            </a:r>
            <a:r>
              <a:rPr lang="en-US" sz="3000" dirty="0" smtClean="0">
                <a:solidFill>
                  <a:schemeClr val="tx1"/>
                </a:solidFill>
                <a:latin typeface="Comic Sans MS"/>
                <a:ea typeface="+mj-ea"/>
                <a:cs typeface="+mj-cs"/>
              </a:rPr>
              <a:t> Blum </a:t>
            </a:r>
            <a:r>
              <a:rPr lang="en-US" sz="3000" dirty="0" smtClean="0">
                <a:solidFill>
                  <a:schemeClr val="tx1"/>
                </a:solidFill>
                <a:latin typeface="Comic Sans MS"/>
              </a:rPr>
              <a:t>&amp; Jaime </a:t>
            </a:r>
            <a:r>
              <a:rPr lang="en-US" sz="3000" dirty="0" err="1" smtClean="0">
                <a:solidFill>
                  <a:schemeClr val="tx1"/>
                </a:solidFill>
                <a:latin typeface="Comic Sans MS"/>
              </a:rPr>
              <a:t>Carbonell</a:t>
            </a:r>
            <a:r>
              <a:rPr lang="en-US" sz="3000" dirty="0" smtClean="0">
                <a:solidFill>
                  <a:schemeClr val="tx1"/>
                </a:solidFill>
                <a:latin typeface="Comic Sans MS"/>
              </a:rPr>
              <a:t> </a:t>
            </a:r>
          </a:p>
          <a:p>
            <a:endParaRPr lang="en-US" sz="3000" dirty="0" smtClean="0">
              <a:solidFill>
                <a:schemeClr val="tx1"/>
              </a:solidFill>
              <a:latin typeface="Comic Sans MS"/>
            </a:endParaRPr>
          </a:p>
          <a:p>
            <a:r>
              <a:rPr lang="en-US" sz="3000" dirty="0" smtClean="0">
                <a:solidFill>
                  <a:schemeClr val="tx1"/>
                </a:solidFill>
                <a:latin typeface="Comic Sans MS"/>
              </a:rPr>
              <a:t>Carnegie Mellon University</a:t>
            </a:r>
            <a:endParaRPr lang="en-US" sz="4400" dirty="0" smtClean="0">
              <a:solidFill>
                <a:schemeClr val="tx1"/>
              </a:solidFill>
              <a:latin typeface="Comic Sans 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Learning DNF formulas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534400" cy="460375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>
                <a:latin typeface="Comic Sans MS"/>
                <a:ea typeface="Arial" charset="0"/>
                <a:cs typeface="Arial" charset="0"/>
              </a:rPr>
              <a:t>DNF formulas:</a:t>
            </a:r>
            <a:br>
              <a:rPr lang="en-US" sz="2800" dirty="0" smtClean="0">
                <a:latin typeface="Comic Sans MS"/>
                <a:ea typeface="Arial" charset="0"/>
                <a:cs typeface="Arial" charset="0"/>
              </a:rPr>
            </a:br>
            <a:r>
              <a:rPr lang="en-US" sz="2800" dirty="0" smtClean="0">
                <a:latin typeface="Comic Sans MS"/>
                <a:ea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n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: # of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var.s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; </a:t>
            </a:r>
          </a:p>
          <a:p>
            <a:pPr eaLnBrk="1" hangingPunct="1">
              <a:buFontTx/>
              <a:buNone/>
            </a:pP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     poly-sized DNF:  </a:t>
            </a:r>
            <a:r>
              <a:rPr lang="en-US" sz="2400" dirty="0" smtClean="0">
                <a:solidFill>
                  <a:srgbClr val="FF0000"/>
                </a:solidFill>
                <a:latin typeface="Comic Sans MS"/>
                <a:ea typeface="Arial" charset="0"/>
                <a:cs typeface="Arial" charset="0"/>
              </a:rPr>
              <a:t># </a:t>
            </a:r>
            <a:r>
              <a:rPr lang="en-US" sz="2400" i="1" dirty="0" smtClean="0">
                <a:solidFill>
                  <a:srgbClr val="FF0000"/>
                </a:solidFill>
                <a:latin typeface="Comic Sans MS"/>
                <a:ea typeface="Arial" charset="0"/>
                <a:cs typeface="Arial" charset="0"/>
              </a:rPr>
              <a:t>terms</a:t>
            </a:r>
            <a:r>
              <a:rPr lang="en-US" sz="2400" dirty="0" smtClean="0">
                <a:solidFill>
                  <a:srgbClr val="FF0000"/>
                </a:solidFill>
                <a:latin typeface="Comic Sans MS"/>
                <a:ea typeface="Arial" charset="0"/>
                <a:cs typeface="Arial" charset="0"/>
              </a:rPr>
              <a:t> = </a:t>
            </a:r>
            <a:r>
              <a:rPr lang="en-US" sz="2400" b="1" dirty="0" smtClean="0">
                <a:solidFill>
                  <a:srgbClr val="FF0000"/>
                </a:solidFill>
                <a:latin typeface="Comic Sans MS"/>
                <a:ea typeface="Arial" charset="0"/>
                <a:cs typeface="Arial" charset="0"/>
              </a:rPr>
              <a:t>n</a:t>
            </a:r>
            <a:r>
              <a:rPr lang="en-US" sz="2400" b="1" baseline="30000" dirty="0" smtClean="0">
                <a:solidFill>
                  <a:srgbClr val="FF0000"/>
                </a:solidFill>
                <a:latin typeface="Comic Sans MS"/>
                <a:ea typeface="Arial" charset="0"/>
                <a:cs typeface="Arial" charset="0"/>
              </a:rPr>
              <a:t>O(1)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 </a:t>
            </a:r>
          </a:p>
          <a:p>
            <a:pPr>
              <a:buNone/>
            </a:pP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     e.g. set of fn like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f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 = (x1∧x2) ∨ (x1∧x4) </a:t>
            </a:r>
          </a:p>
          <a:p>
            <a:pPr eaLnBrk="1" hangingPunct="1">
              <a:buFontTx/>
              <a:buChar char="-"/>
            </a:pPr>
            <a:r>
              <a:rPr lang="en-US" sz="2800" dirty="0" smtClean="0">
                <a:latin typeface="Comic Sans MS"/>
                <a:ea typeface="Arial" charset="0"/>
                <a:cs typeface="Arial" charset="0"/>
              </a:rPr>
              <a:t>Natural </a:t>
            </a:r>
            <a:r>
              <a:rPr lang="en-US" sz="2800" dirty="0">
                <a:latin typeface="Comic Sans MS"/>
                <a:ea typeface="Arial" charset="0"/>
                <a:cs typeface="Arial" charset="0"/>
              </a:rPr>
              <a:t>form of knowledge </a:t>
            </a:r>
            <a:r>
              <a:rPr lang="en-US" sz="2800" dirty="0" smtClean="0">
                <a:latin typeface="Comic Sans MS"/>
                <a:ea typeface="Arial" charset="0"/>
                <a:cs typeface="Arial" charset="0"/>
              </a:rPr>
              <a:t>representation</a:t>
            </a:r>
          </a:p>
          <a:p>
            <a:pPr eaLnBrk="1" hangingPunct="1">
              <a:buFontTx/>
              <a:buChar char="-"/>
            </a:pPr>
            <a:r>
              <a:rPr lang="en-US" sz="2800" dirty="0" smtClean="0">
                <a:latin typeface="Comic Sans MS"/>
                <a:ea typeface="Arial" charset="0"/>
                <a:cs typeface="Arial" charset="0"/>
              </a:rPr>
              <a:t>[Valiant 1984] a </a:t>
            </a:r>
            <a:r>
              <a:rPr lang="en-US" sz="2800" dirty="0">
                <a:latin typeface="Comic Sans MS"/>
                <a:ea typeface="Arial" charset="0"/>
                <a:cs typeface="Arial" charset="0"/>
              </a:rPr>
              <a:t>great challenge over</a:t>
            </a:r>
            <a:r>
              <a:rPr lang="en-US" sz="2800" dirty="0" smtClean="0">
                <a:latin typeface="Comic Sans MS"/>
                <a:ea typeface="Arial" charset="0"/>
                <a:cs typeface="Arial" charset="0"/>
              </a:rPr>
              <a:t> 20 years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sz="2800" dirty="0" smtClean="0">
                <a:latin typeface="Comic Sans MS"/>
                <a:ea typeface="Arial" charset="0"/>
                <a:cs typeface="Arial" charset="0"/>
              </a:rPr>
              <a:t>PAC-learning DNF appears to be very hard.</a:t>
            </a:r>
          </a:p>
          <a:p>
            <a:pPr eaLnBrk="1" hangingPunct="1"/>
            <a:endParaRPr lang="en-US" sz="2400" dirty="0" smtClean="0">
              <a:ea typeface="Arial" charset="0"/>
              <a:cs typeface="Arial" charset="0"/>
            </a:endParaRPr>
          </a:p>
          <a:p>
            <a:pPr eaLnBrk="1" hangingPunct="1"/>
            <a:endParaRPr lang="en-US" sz="2400" dirty="0">
              <a:ea typeface="Arial" charset="0"/>
              <a:cs typeface="Arial" charset="0"/>
            </a:endParaRPr>
          </a:p>
        </p:txBody>
      </p:sp>
      <p:pic>
        <p:nvPicPr>
          <p:cNvPr id="8" name="Picture 7" descr="les_vali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66800" cy="1572126"/>
          </a:xfrm>
          <a:prstGeom prst="rect">
            <a:avLst/>
          </a:prstGeom>
        </p:spPr>
      </p:pic>
      <p:pic>
        <p:nvPicPr>
          <p:cNvPr id="5" name="Picture 4" descr="360px-Hypercubeorder_binary.s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228600"/>
            <a:ext cx="3352800" cy="3352800"/>
          </a:xfrm>
          <a:prstGeom prst="rect">
            <a:avLst/>
          </a:prstGeom>
        </p:spPr>
      </p:pic>
      <p:sp>
        <p:nvSpPr>
          <p:cNvPr id="6" name="Oval Callout 5"/>
          <p:cNvSpPr/>
          <p:nvPr/>
        </p:nvSpPr>
        <p:spPr>
          <a:xfrm>
            <a:off x="5715000" y="76200"/>
            <a:ext cx="2057400" cy="1524000"/>
          </a:xfrm>
          <a:prstGeom prst="wedgeEllipseCallout">
            <a:avLst>
              <a:gd name="adj1" fmla="val -34976"/>
              <a:gd name="adj2" fmla="val 84537"/>
            </a:avLst>
          </a:prstGeom>
          <a:solidFill>
            <a:schemeClr val="bg1">
              <a:alpha val="0"/>
            </a:schemeClr>
          </a:solidFill>
          <a:ln w="28575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81600" y="2133600"/>
            <a:ext cx="1067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800000"/>
                </a:solidFill>
              </a:rPr>
              <a:t>(x1</a:t>
            </a:r>
            <a:r>
              <a:rPr lang="en-US" i="1" dirty="0" smtClean="0">
                <a:solidFill>
                  <a:srgbClr val="800000"/>
                </a:solidFill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n-US" i="1" dirty="0" smtClean="0">
                <a:solidFill>
                  <a:srgbClr val="800000"/>
                </a:solidFill>
              </a:rPr>
              <a:t>x2)</a:t>
            </a:r>
            <a:endParaRPr lang="en-US" dirty="0"/>
          </a:p>
        </p:txBody>
      </p:sp>
      <p:sp>
        <p:nvSpPr>
          <p:cNvPr id="9" name="Oval Callout 8"/>
          <p:cNvSpPr/>
          <p:nvPr/>
        </p:nvSpPr>
        <p:spPr>
          <a:xfrm>
            <a:off x="7086600" y="228600"/>
            <a:ext cx="990600" cy="1828800"/>
          </a:xfrm>
          <a:prstGeom prst="wedgeEllipseCallout">
            <a:avLst>
              <a:gd name="adj1" fmla="val 77370"/>
              <a:gd name="adj2" fmla="val 107685"/>
            </a:avLst>
          </a:prstGeom>
          <a:solidFill>
            <a:schemeClr val="bg1">
              <a:alpha val="0"/>
            </a:schemeClr>
          </a:solidFill>
          <a:ln w="28575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923894" y="3135868"/>
            <a:ext cx="1067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800000"/>
                </a:solidFill>
              </a:rPr>
              <a:t>(x1</a:t>
            </a:r>
            <a:r>
              <a:rPr lang="en-US" i="1" dirty="0" smtClean="0">
                <a:solidFill>
                  <a:srgbClr val="800000"/>
                </a:solidFill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n-US" i="1" dirty="0" smtClean="0">
                <a:solidFill>
                  <a:srgbClr val="800000"/>
                </a:solidFill>
              </a:rPr>
              <a:t>x4)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Best Known </a:t>
            </a:r>
            <a:r>
              <a:rPr lang="en-US" sz="4000" dirty="0" err="1" smtClean="0">
                <a:solidFill>
                  <a:srgbClr val="800000"/>
                </a:solidFill>
                <a:latin typeface="Comic Sans MS"/>
              </a:rPr>
              <a:t>Alg.s</a:t>
            </a: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/>
            </a:r>
            <a:br>
              <a:rPr lang="en-US" sz="4000" dirty="0" smtClean="0">
                <a:solidFill>
                  <a:srgbClr val="800000"/>
                </a:solidFill>
                <a:latin typeface="Comic Sans MS"/>
              </a:rPr>
            </a:b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in Standard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52578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 smtClean="0">
                <a:solidFill>
                  <a:srgbClr val="0000FF"/>
                </a:solidFill>
                <a:latin typeface="Comic Sans MS"/>
              </a:rPr>
              <a:t>Learning DNF with MQ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Comic Sans MS"/>
              </a:rPr>
              <a:t>    - No </a:t>
            </a:r>
            <a:r>
              <a:rPr lang="en-US" sz="2000" dirty="0" err="1" smtClean="0">
                <a:latin typeface="Comic Sans MS"/>
              </a:rPr>
              <a:t>effi</a:t>
            </a:r>
            <a:r>
              <a:rPr lang="en-US" sz="2000" dirty="0" smtClean="0">
                <a:latin typeface="Comic Sans MS"/>
              </a:rPr>
              <a:t>. MQ-</a:t>
            </a:r>
            <a:r>
              <a:rPr lang="en-US" sz="2000" dirty="0" err="1" smtClean="0">
                <a:latin typeface="Comic Sans MS"/>
              </a:rPr>
              <a:t>alg</a:t>
            </a:r>
            <a:r>
              <a:rPr lang="en-US" sz="2000" dirty="0" smtClean="0">
                <a:latin typeface="Comic Sans MS"/>
              </a:rPr>
              <a:t> under general </a:t>
            </a:r>
            <a:r>
              <a:rPr lang="en-US" sz="2000" dirty="0" err="1" smtClean="0">
                <a:latin typeface="Comic Sans MS"/>
              </a:rPr>
              <a:t>distri</a:t>
            </a:r>
            <a:r>
              <a:rPr lang="en-US" sz="2000" dirty="0" smtClean="0">
                <a:latin typeface="Comic Sans MS"/>
              </a:rPr>
              <a:t>.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Comic Sans MS"/>
              </a:rPr>
              <a:t>    - Can improper-learn DNF by MQ under </a:t>
            </a:r>
            <a:r>
              <a:rPr lang="en-US" sz="2000" dirty="0" err="1" smtClean="0">
                <a:latin typeface="Comic Sans MS"/>
              </a:rPr>
              <a:t>Unif</a:t>
            </a:r>
            <a:r>
              <a:rPr lang="en-US" sz="2000" dirty="0" smtClean="0">
                <a:latin typeface="Comic Sans MS"/>
              </a:rPr>
              <a:t>. </a:t>
            </a:r>
            <a:r>
              <a:rPr lang="en-US" sz="1600" dirty="0" smtClean="0">
                <a:latin typeface="Comic Sans MS"/>
              </a:rPr>
              <a:t>[Jac94]</a:t>
            </a:r>
          </a:p>
          <a:p>
            <a:pPr>
              <a:lnSpc>
                <a:spcPct val="90000"/>
              </a:lnSpc>
            </a:pPr>
            <a:r>
              <a:rPr lang="en-US" sz="2000" dirty="0" smtClean="0">
                <a:solidFill>
                  <a:srgbClr val="0000FF"/>
                </a:solidFill>
                <a:latin typeface="Comic Sans MS"/>
              </a:rPr>
              <a:t>PAC-learn General DNF 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Comic Sans MS"/>
                <a:ea typeface="Arial" charset="0"/>
                <a:cs typeface="Arial" charset="0"/>
              </a:rPr>
              <a:t>    </a:t>
            </a:r>
            <a:r>
              <a:rPr lang="en-US" sz="2000" dirty="0" smtClean="0">
                <a:latin typeface="Comic Sans MS"/>
              </a:rPr>
              <a:t>- Not known if we can </a:t>
            </a:r>
            <a:r>
              <a:rPr lang="en-US" sz="2000" dirty="0" err="1" smtClean="0">
                <a:latin typeface="Comic Sans MS"/>
              </a:rPr>
              <a:t>effi</a:t>
            </a:r>
            <a:r>
              <a:rPr lang="en-US" sz="2000" dirty="0" smtClean="0">
                <a:latin typeface="Comic Sans MS"/>
              </a:rPr>
              <a:t>. learn DNF from random </a:t>
            </a:r>
            <a:r>
              <a:rPr lang="en-US" sz="2000" dirty="0" err="1" smtClean="0">
                <a:latin typeface="Comic Sans MS"/>
              </a:rPr>
              <a:t>ex.s</a:t>
            </a:r>
            <a:endParaRPr lang="en-US" sz="2000" dirty="0" smtClean="0">
              <a:latin typeface="Comic Sans MS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Comic Sans MS"/>
              </a:rPr>
              <a:t>    - cannot proper-learn 2-term DNF from random </a:t>
            </a:r>
            <a:r>
              <a:rPr lang="en-US" sz="2000" dirty="0" err="1" smtClean="0">
                <a:latin typeface="Comic Sans MS"/>
              </a:rPr>
              <a:t>ex.s</a:t>
            </a:r>
            <a:r>
              <a:rPr lang="en-US" sz="2000" dirty="0" smtClean="0">
                <a:latin typeface="Comic Sans MS"/>
              </a:rPr>
              <a:t> unless NP = RP </a:t>
            </a:r>
            <a:r>
              <a:rPr lang="en-US" sz="1600" dirty="0" smtClean="0">
                <a:latin typeface="Comic Sans MS"/>
              </a:rPr>
              <a:t>[PV88] 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Comic Sans MS"/>
              </a:rPr>
              <a:t>    - Fastest </a:t>
            </a:r>
            <a:r>
              <a:rPr lang="en-US" sz="2000" dirty="0" err="1" smtClean="0">
                <a:latin typeface="Comic Sans MS"/>
              </a:rPr>
              <a:t>alg</a:t>
            </a:r>
            <a:r>
              <a:rPr lang="en-US" sz="2000" dirty="0" smtClean="0">
                <a:latin typeface="Comic Sans MS"/>
              </a:rPr>
              <a:t> [KS01] PAC-learning </a:t>
            </a:r>
            <a:r>
              <a:rPr lang="en-US" sz="2000" dirty="0" err="1" smtClean="0">
                <a:latin typeface="Comic Sans MS"/>
              </a:rPr>
              <a:t>poly(n</a:t>
            </a:r>
            <a:r>
              <a:rPr lang="en-US" sz="2000" dirty="0" smtClean="0">
                <a:latin typeface="Comic Sans MS"/>
              </a:rPr>
              <a:t>)-term DNF run in time</a:t>
            </a:r>
          </a:p>
          <a:p>
            <a:pPr>
              <a:lnSpc>
                <a:spcPct val="90000"/>
              </a:lnSpc>
            </a:pPr>
            <a:r>
              <a:rPr lang="en-US" sz="2000" dirty="0" smtClean="0">
                <a:solidFill>
                  <a:srgbClr val="0000FF"/>
                </a:solidFill>
                <a:latin typeface="Comic Sans MS"/>
              </a:rPr>
              <a:t>PAC-learn DNF under </a:t>
            </a:r>
            <a:r>
              <a:rPr lang="en-US" sz="2000" dirty="0" err="1" smtClean="0">
                <a:solidFill>
                  <a:srgbClr val="0000FF"/>
                </a:solidFill>
                <a:latin typeface="Comic Sans MS"/>
              </a:rPr>
              <a:t>Unif</a:t>
            </a:r>
            <a:r>
              <a:rPr lang="en-US" sz="2000" dirty="0" smtClean="0">
                <a:solidFill>
                  <a:srgbClr val="0000FF"/>
                </a:solidFill>
                <a:latin typeface="Comic Sans MS"/>
              </a:rPr>
              <a:t>.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Comic Sans MS"/>
              </a:rPr>
              <a:t>     - Fastest known </a:t>
            </a:r>
            <a:r>
              <a:rPr lang="en-US" sz="2000" dirty="0" err="1" smtClean="0">
                <a:latin typeface="Comic Sans MS"/>
              </a:rPr>
              <a:t>alg</a:t>
            </a:r>
            <a:r>
              <a:rPr lang="en-US" sz="2000" dirty="0" smtClean="0">
                <a:latin typeface="Comic Sans MS"/>
              </a:rPr>
              <a:t> runs in time </a:t>
            </a:r>
            <a:r>
              <a:rPr lang="en-US" sz="2000" dirty="0" err="1" smtClean="0">
                <a:latin typeface="Comic Sans MS"/>
              </a:rPr>
              <a:t>n</a:t>
            </a:r>
            <a:r>
              <a:rPr lang="en-US" sz="2000" baseline="30000" dirty="0" err="1" smtClean="0">
                <a:latin typeface="Comic Sans MS"/>
              </a:rPr>
              <a:t>O(log</a:t>
            </a:r>
            <a:r>
              <a:rPr lang="en-US" sz="2000" baseline="30000" dirty="0" smtClean="0">
                <a:latin typeface="Comic Sans MS"/>
              </a:rPr>
              <a:t> </a:t>
            </a:r>
            <a:r>
              <a:rPr lang="en-US" sz="2000" baseline="30000" dirty="0" err="1" smtClean="0">
                <a:latin typeface="Comic Sans MS"/>
              </a:rPr>
              <a:t>n</a:t>
            </a:r>
            <a:r>
              <a:rPr lang="en-US" sz="2000" baseline="30000" dirty="0" smtClean="0">
                <a:latin typeface="Comic Sans MS"/>
              </a:rPr>
              <a:t>) </a:t>
            </a:r>
            <a:r>
              <a:rPr lang="en-US" sz="1600" dirty="0" smtClean="0">
                <a:latin typeface="Comic Sans MS"/>
              </a:rPr>
              <a:t>[Ver90]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Comic Sans MS"/>
              </a:rPr>
              <a:t>     - Learning </a:t>
            </a:r>
            <a:r>
              <a:rPr lang="en-US" sz="2000" dirty="0" err="1" smtClean="0">
                <a:latin typeface="Comic Sans MS"/>
              </a:rPr>
              <a:t>k</a:t>
            </a:r>
            <a:r>
              <a:rPr lang="en-US" sz="2000" dirty="0" smtClean="0">
                <a:latin typeface="Comic Sans MS"/>
              </a:rPr>
              <a:t>-juntas: best known </a:t>
            </a:r>
            <a:r>
              <a:rPr lang="en-US" sz="2000" dirty="0" err="1" smtClean="0">
                <a:latin typeface="Comic Sans MS"/>
              </a:rPr>
              <a:t>alg</a:t>
            </a:r>
            <a:r>
              <a:rPr lang="en-US" sz="2000" dirty="0" smtClean="0">
                <a:latin typeface="Comic Sans MS"/>
              </a:rPr>
              <a:t> </a:t>
            </a:r>
            <a:r>
              <a:rPr lang="en-US" sz="2000" dirty="0" err="1" smtClean="0">
                <a:latin typeface="Comic Sans MS"/>
              </a:rPr>
              <a:t>needstime</a:t>
            </a:r>
            <a:r>
              <a:rPr lang="en-US" sz="2000" dirty="0" smtClean="0">
                <a:latin typeface="Comic Sans MS"/>
              </a:rPr>
              <a:t> (n</a:t>
            </a:r>
            <a:r>
              <a:rPr lang="en-US" sz="2000" baseline="30000" dirty="0" smtClean="0">
                <a:latin typeface="Comic Sans MS"/>
              </a:rPr>
              <a:t>k</a:t>
            </a:r>
            <a:r>
              <a:rPr lang="en-US" sz="2000" dirty="0" smtClean="0">
                <a:latin typeface="Comic Sans MS"/>
              </a:rPr>
              <a:t>)</a:t>
            </a:r>
            <a:r>
              <a:rPr lang="en-US" sz="2000" baseline="30000" dirty="0" smtClean="0">
                <a:latin typeface="Comic Sans MS"/>
              </a:rPr>
              <a:t>w/(w+1),</a:t>
            </a:r>
            <a:r>
              <a:rPr lang="en-US" sz="1600" dirty="0" smtClean="0">
                <a:latin typeface="Comic Sans MS"/>
              </a:rPr>
              <a:t>w &lt; 2.376 [MOS04]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mic Sans MS"/>
              </a:rPr>
              <a:t>PAC-learn Monotone DNF under </a:t>
            </a:r>
            <a:r>
              <a:rPr lang="en-US" sz="2000" dirty="0" err="1" smtClean="0">
                <a:solidFill>
                  <a:srgbClr val="0000FF"/>
                </a:solidFill>
                <a:latin typeface="Comic Sans MS"/>
              </a:rPr>
              <a:t>Unif</a:t>
            </a:r>
            <a:r>
              <a:rPr lang="en-US" sz="2000" dirty="0" smtClean="0">
                <a:latin typeface="Comic Sans MS"/>
              </a:rPr>
              <a:t>. (partial results) </a:t>
            </a:r>
            <a:endParaRPr lang="en-US" sz="2000" dirty="0" smtClean="0">
              <a:solidFill>
                <a:srgbClr val="FF0000"/>
              </a:solidFill>
              <a:latin typeface="Comic Sans MS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Comic Sans MS"/>
              </a:rPr>
              <a:t>     - can </a:t>
            </a:r>
            <a:r>
              <a:rPr lang="en-US" sz="2000" dirty="0" err="1" smtClean="0">
                <a:latin typeface="Comic Sans MS"/>
              </a:rPr>
              <a:t>effi</a:t>
            </a:r>
            <a:r>
              <a:rPr lang="en-US" sz="2000" dirty="0" smtClean="0">
                <a:latin typeface="Comic Sans MS"/>
              </a:rPr>
              <a:t>. learn 2</a:t>
            </a:r>
            <a:r>
              <a:rPr lang="en-US" sz="2000" baseline="30000" dirty="0" smtClean="0">
                <a:latin typeface="Comic Sans MS"/>
              </a:rPr>
              <a:t>O(√log </a:t>
            </a:r>
            <a:r>
              <a:rPr lang="en-US" sz="2000" baseline="30000" dirty="0" err="1" smtClean="0">
                <a:latin typeface="Comic Sans MS"/>
              </a:rPr>
              <a:t>n</a:t>
            </a:r>
            <a:r>
              <a:rPr lang="en-US" sz="2000" baseline="30000" dirty="0" smtClean="0">
                <a:latin typeface="Comic Sans MS"/>
              </a:rPr>
              <a:t>)</a:t>
            </a:r>
            <a:r>
              <a:rPr lang="en-US" sz="2000" dirty="0" smtClean="0">
                <a:latin typeface="Comic Sans MS"/>
              </a:rPr>
              <a:t>-term monotone DNF under </a:t>
            </a:r>
            <a:r>
              <a:rPr lang="en-US" sz="2000" dirty="0" err="1" smtClean="0">
                <a:latin typeface="Comic Sans MS"/>
              </a:rPr>
              <a:t>unif</a:t>
            </a:r>
            <a:r>
              <a:rPr lang="en-US" sz="2000" dirty="0" smtClean="0">
                <a:latin typeface="Comic Sans MS"/>
              </a:rPr>
              <a:t>. </a:t>
            </a:r>
            <a:r>
              <a:rPr lang="en-US" sz="1600" dirty="0" smtClean="0">
                <a:latin typeface="Comic Sans MS"/>
              </a:rPr>
              <a:t>[Ser04]</a:t>
            </a:r>
            <a:r>
              <a:rPr lang="en-US" sz="2000" dirty="0" smtClean="0">
                <a:latin typeface="Comic Sans MS"/>
              </a:rPr>
              <a:t>;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Comic Sans MS"/>
              </a:rPr>
              <a:t>     - can </a:t>
            </a:r>
            <a:r>
              <a:rPr lang="en-US" sz="2000" dirty="0" err="1" smtClean="0">
                <a:latin typeface="Comic Sans MS"/>
              </a:rPr>
              <a:t>effi</a:t>
            </a:r>
            <a:r>
              <a:rPr lang="en-US" sz="2000" dirty="0" smtClean="0">
                <a:latin typeface="Comic Sans MS"/>
              </a:rPr>
              <a:t>. learn monotone decision tree under </a:t>
            </a:r>
            <a:r>
              <a:rPr lang="en-US" sz="2000" dirty="0" err="1" smtClean="0">
                <a:latin typeface="Comic Sans MS"/>
              </a:rPr>
              <a:t>unif</a:t>
            </a:r>
            <a:r>
              <a:rPr lang="en-US" sz="2000" dirty="0" smtClean="0">
                <a:latin typeface="Comic Sans MS"/>
              </a:rPr>
              <a:t>. </a:t>
            </a:r>
            <a:r>
              <a:rPr lang="en-US" sz="1600" dirty="0" smtClean="0">
                <a:latin typeface="Comic Sans MS"/>
              </a:rPr>
              <a:t>[OS07]</a:t>
            </a:r>
          </a:p>
          <a:p>
            <a:pPr>
              <a:buNone/>
            </a:pPr>
            <a:endParaRPr lang="en-US" sz="2000" dirty="0" smtClean="0">
              <a:latin typeface="Comic Sans MS"/>
            </a:endParaRPr>
          </a:p>
          <a:p>
            <a:endParaRPr lang="en-US" sz="2000" dirty="0" smtClean="0">
              <a:latin typeface="Comic Sans MS"/>
            </a:endParaRP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Liu Yang 2012</a:t>
            </a:r>
            <a:endParaRPr lang="en-US" dirty="0"/>
          </a:p>
        </p:txBody>
      </p:sp>
      <p:pic>
        <p:nvPicPr>
          <p:cNvPr id="6" name="Picture 5" descr="Picture 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032" y="3784651"/>
            <a:ext cx="1053968" cy="406349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Query: Similarity about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>
                <a:latin typeface="Comic Sans MS"/>
              </a:rPr>
              <a:t>What if you have similarity info about TYPE ?</a:t>
            </a:r>
          </a:p>
          <a:p>
            <a:r>
              <a:rPr lang="en-US" sz="2600" dirty="0" smtClean="0">
                <a:latin typeface="Comic Sans MS"/>
              </a:rPr>
              <a:t>Card Fraud detection : fraudulent of same type ?</a:t>
            </a:r>
          </a:p>
          <a:p>
            <a:pPr>
              <a:buNone/>
            </a:pPr>
            <a:r>
              <a:rPr lang="en-US" sz="2200" dirty="0" smtClean="0">
                <a:latin typeface="Comic Sans MS"/>
              </a:rPr>
              <a:t>    </a:t>
            </a:r>
            <a:r>
              <a:rPr lang="en-US" sz="2000" dirty="0" smtClean="0">
                <a:solidFill>
                  <a:srgbClr val="FF0000"/>
                </a:solidFill>
                <a:latin typeface="Comic Sans MS"/>
              </a:rPr>
              <a:t>- Identity theft/Skimming/Stolen cards</a:t>
            </a:r>
          </a:p>
          <a:p>
            <a:r>
              <a:rPr lang="en-US" sz="2600" dirty="0" smtClean="0">
                <a:latin typeface="Comic Sans MS"/>
              </a:rPr>
              <a:t>Type of Query for DNF learning: </a:t>
            </a:r>
          </a:p>
          <a:p>
            <a:pPr>
              <a:buNone/>
            </a:pPr>
            <a:r>
              <a:rPr lang="en-US" sz="2400" dirty="0" smtClean="0">
                <a:latin typeface="Comic Sans MS"/>
              </a:rPr>
              <a:t>    - Binary: pair </a:t>
            </a:r>
            <a:r>
              <a:rPr lang="en-US" sz="2000" dirty="0" smtClean="0">
                <a:latin typeface="Comic Sans MS"/>
              </a:rPr>
              <a:t>of </a:t>
            </a:r>
            <a:r>
              <a:rPr lang="en-US" sz="2000" dirty="0" smtClean="0">
                <a:solidFill>
                  <a:srgbClr val="FF0000"/>
                </a:solidFill>
                <a:latin typeface="Comic Sans MS"/>
              </a:rPr>
              <a:t>POSITIVE</a:t>
            </a:r>
            <a:r>
              <a:rPr lang="en-US" sz="2000" dirty="0" smtClean="0">
                <a:latin typeface="Comic Sans MS"/>
              </a:rPr>
              <a:t> </a:t>
            </a:r>
            <a:r>
              <a:rPr lang="en-US" sz="2000" dirty="0" err="1" smtClean="0">
                <a:latin typeface="Comic Sans MS"/>
              </a:rPr>
              <a:t>ex.s</a:t>
            </a:r>
            <a:r>
              <a:rPr lang="en-US" sz="2000" dirty="0" smtClean="0">
                <a:latin typeface="Comic Sans MS"/>
              </a:rPr>
              <a:t> from a random dataset, teacher says </a:t>
            </a:r>
            <a:r>
              <a:rPr lang="en-US" sz="2000" dirty="0" smtClean="0">
                <a:solidFill>
                  <a:srgbClr val="FF0000"/>
                </a:solidFill>
                <a:latin typeface="Comic Sans MS"/>
              </a:rPr>
              <a:t>YES</a:t>
            </a:r>
            <a:r>
              <a:rPr lang="en-US" sz="2000" dirty="0" smtClean="0">
                <a:latin typeface="Comic Sans MS"/>
              </a:rPr>
              <a:t> if they share a term</a:t>
            </a:r>
          </a:p>
          <a:p>
            <a:r>
              <a:rPr lang="en-US" sz="2600" dirty="0" smtClean="0">
                <a:latin typeface="Comic Sans MS"/>
              </a:rPr>
              <a:t>Can we efficiently learn DNF with this query?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>
              <a:solidFill>
                <a:srgbClr val="FF0000"/>
              </a:solidFill>
              <a:latin typeface="Comic Sans MS"/>
            </a:endParaRPr>
          </a:p>
          <a:p>
            <a:pPr>
              <a:buNone/>
            </a:pPr>
            <a:endParaRPr lang="en-US" dirty="0" smtClean="0">
              <a:latin typeface="Comic Sans 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pic>
        <p:nvPicPr>
          <p:cNvPr id="6" name="Picture 5" descr="psn-credit-card-hack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4648200"/>
            <a:ext cx="3149600" cy="17890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19800" y="6400800"/>
            <a:ext cx="314960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6600"/>
                </a:solidFill>
                <a:latin typeface="Comic Sans MS"/>
              </a:rPr>
              <a:t>   Fraud Detection</a:t>
            </a:r>
            <a:endParaRPr lang="en-US" sz="2400" b="1" dirty="0">
              <a:solidFill>
                <a:srgbClr val="FF6600"/>
              </a:solidFill>
              <a:latin typeface="Comic Sans MS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Outline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 bwMode="auto">
          <a:xfrm>
            <a:off x="304800" y="1600200"/>
            <a:ext cx="9372600" cy="4525963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sz="3600" dirty="0" smtClean="0">
                <a:solidFill>
                  <a:srgbClr val="800000"/>
                </a:solidFill>
                <a:latin typeface="Comic Sans MS"/>
              </a:rPr>
              <a:t>Our model</a:t>
            </a:r>
          </a:p>
          <a:p>
            <a:pPr eaLnBrk="1" hangingPunct="1">
              <a:defRPr/>
            </a:pPr>
            <a:r>
              <a:rPr lang="en-US" sz="3000" dirty="0" smtClean="0">
                <a:latin typeface="Comic Sans MS"/>
                <a:ea typeface="+mj-ea"/>
                <a:cs typeface="+mj-cs"/>
              </a:rPr>
              <a:t>Hardness Results </a:t>
            </a:r>
          </a:p>
          <a:p>
            <a:pPr eaLnBrk="1" hangingPunct="1">
              <a:defRPr/>
            </a:pPr>
            <a:r>
              <a:rPr lang="en-US" sz="3000" dirty="0" smtClean="0">
                <a:latin typeface="Comic Sans MS"/>
                <a:ea typeface="+mj-ea"/>
                <a:cs typeface="+mj-cs"/>
              </a:rPr>
              <a:t>Positive Results: Uniform </a:t>
            </a:r>
            <a:r>
              <a:rPr lang="en-US" sz="3000" dirty="0" err="1" smtClean="0">
                <a:latin typeface="Comic Sans MS"/>
                <a:ea typeface="+mj-ea"/>
                <a:cs typeface="+mj-cs"/>
              </a:rPr>
              <a:t>distri</a:t>
            </a:r>
            <a:r>
              <a:rPr lang="en-US" sz="3000" dirty="0" smtClean="0">
                <a:latin typeface="Comic Sans MS"/>
                <a:ea typeface="+mj-ea"/>
                <a:cs typeface="+mj-cs"/>
              </a:rPr>
              <a:t>. </a:t>
            </a:r>
          </a:p>
          <a:p>
            <a:pPr>
              <a:defRPr/>
            </a:pPr>
            <a:r>
              <a:rPr lang="en-US" sz="3000" dirty="0" smtClean="0">
                <a:latin typeface="Comic Sans MS"/>
              </a:rPr>
              <a:t>Positive Results: General </a:t>
            </a:r>
            <a:r>
              <a:rPr lang="en-US" sz="3000" dirty="0" err="1" smtClean="0">
                <a:latin typeface="Comic Sans MS"/>
              </a:rPr>
              <a:t>distri</a:t>
            </a:r>
            <a:r>
              <a:rPr lang="en-US" sz="3000" dirty="0" smtClean="0">
                <a:latin typeface="Comic Sans MS"/>
              </a:rPr>
              <a:t>.</a:t>
            </a:r>
          </a:p>
          <a:p>
            <a:pPr eaLnBrk="1" hangingPunct="1">
              <a:defRPr/>
            </a:pPr>
            <a:endParaRPr lang="en-US" sz="3000" dirty="0" smtClean="0">
              <a:solidFill>
                <a:srgbClr val="800000"/>
              </a:solidFill>
              <a:latin typeface="Comic Sans MS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Notations</a:t>
            </a:r>
            <a:endParaRPr lang="en-US" sz="4000" dirty="0">
              <a:solidFill>
                <a:srgbClr val="800000"/>
              </a:solidFill>
              <a:latin typeface="Comic Sans M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dirty="0" smtClean="0">
                <a:latin typeface="Comic Sans MS"/>
              </a:rPr>
              <a:t>Instance space X = {0, 1}^n </a:t>
            </a:r>
          </a:p>
          <a:p>
            <a:r>
              <a:rPr lang="en-US" dirty="0" smtClean="0">
                <a:latin typeface="Comic Sans MS"/>
              </a:rPr>
              <a:t>Concept space C: collection of fn </a:t>
            </a:r>
            <a:r>
              <a:rPr lang="en-US" dirty="0" err="1" smtClean="0">
                <a:latin typeface="Comic Sans MS"/>
              </a:rPr>
              <a:t>h</a:t>
            </a:r>
            <a:r>
              <a:rPr lang="en-US" dirty="0" smtClean="0">
                <a:latin typeface="Comic Sans MS"/>
              </a:rPr>
              <a:t>: X -&gt; {-1,1}</a:t>
            </a:r>
          </a:p>
          <a:p>
            <a:r>
              <a:rPr lang="en-US" dirty="0" smtClean="0">
                <a:latin typeface="Comic Sans MS"/>
              </a:rPr>
              <a:t>Distribution D over X   </a:t>
            </a:r>
          </a:p>
          <a:p>
            <a:r>
              <a:rPr lang="en-US" dirty="0" smtClean="0">
                <a:latin typeface="Comic Sans MS"/>
              </a:rPr>
              <a:t>Unknown target function </a:t>
            </a:r>
            <a:r>
              <a:rPr lang="en-US" dirty="0" err="1" smtClean="0">
                <a:latin typeface="Comic Sans MS"/>
              </a:rPr>
              <a:t>h</a:t>
            </a:r>
            <a:r>
              <a:rPr lang="en-US" dirty="0" smtClean="0">
                <a:latin typeface="Comic Sans MS"/>
              </a:rPr>
              <a:t>*: the true labeling function (Realizable case: </a:t>
            </a:r>
            <a:r>
              <a:rPr lang="en-US" dirty="0" err="1" smtClean="0">
                <a:latin typeface="Comic Sans MS"/>
              </a:rPr>
              <a:t>h</a:t>
            </a:r>
            <a:r>
              <a:rPr lang="en-US" dirty="0" smtClean="0">
                <a:latin typeface="Comic Sans MS"/>
              </a:rPr>
              <a:t>* in C) </a:t>
            </a:r>
          </a:p>
          <a:p>
            <a:r>
              <a:rPr lang="en-US" dirty="0" err="1" smtClean="0">
                <a:latin typeface="Comic Sans MS"/>
              </a:rPr>
              <a:t>Err(h</a:t>
            </a:r>
            <a:r>
              <a:rPr lang="en-US" dirty="0" smtClean="0">
                <a:latin typeface="Comic Sans MS"/>
              </a:rPr>
              <a:t>) = </a:t>
            </a:r>
            <a:r>
              <a:rPr lang="en-US" dirty="0" err="1" smtClean="0">
                <a:latin typeface="Comic Sans MS"/>
              </a:rPr>
              <a:t>Px~D[h(x</a:t>
            </a:r>
            <a:r>
              <a:rPr lang="en-US" dirty="0" smtClean="0">
                <a:latin typeface="Comic Sans MS"/>
              </a:rPr>
              <a:t>) ~= </a:t>
            </a:r>
            <a:r>
              <a:rPr lang="en-US" dirty="0" err="1" smtClean="0">
                <a:latin typeface="Comic Sans MS"/>
              </a:rPr>
              <a:t>h</a:t>
            </a:r>
            <a:r>
              <a:rPr lang="en-US" dirty="0" smtClean="0">
                <a:latin typeface="Comic Sans MS"/>
              </a:rPr>
              <a:t>*(</a:t>
            </a:r>
            <a:r>
              <a:rPr lang="en-US" dirty="0" err="1" smtClean="0">
                <a:latin typeface="Comic Sans MS"/>
              </a:rPr>
              <a:t>x</a:t>
            </a:r>
            <a:r>
              <a:rPr lang="en-US" dirty="0" smtClean="0">
                <a:latin typeface="Comic Sans MS"/>
              </a:rPr>
              <a:t>)]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Warm Up: Disjoint DNF </a:t>
            </a:r>
            <a:r>
              <a:rPr lang="en-US" sz="4000" dirty="0" err="1" smtClean="0">
                <a:solidFill>
                  <a:srgbClr val="800000"/>
                </a:solidFill>
                <a:latin typeface="Comic Sans MS"/>
              </a:rPr>
              <a:t>w</a:t>
            </a: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/Boolean queries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610600" cy="1600200"/>
          </a:xfrm>
        </p:spPr>
        <p:txBody>
          <a:bodyPr>
            <a:normAutofit fontScale="92500"/>
          </a:bodyPr>
          <a:lstStyle/>
          <a:p>
            <a:r>
              <a:rPr lang="en-US" sz="2588" dirty="0" smtClean="0">
                <a:latin typeface="Comic Sans MS"/>
              </a:rPr>
              <a:t>Neighborhood Method</a:t>
            </a:r>
          </a:p>
          <a:p>
            <a:pPr>
              <a:buNone/>
            </a:pPr>
            <a:r>
              <a:rPr lang="en-US" sz="2588" dirty="0" smtClean="0">
                <a:latin typeface="Comic Sans MS"/>
              </a:rPr>
              <a:t>    - </a:t>
            </a:r>
            <a:r>
              <a:rPr lang="en-US" sz="2588" dirty="0" smtClean="0">
                <a:solidFill>
                  <a:srgbClr val="FF0000"/>
                </a:solidFill>
                <a:latin typeface="Comic Sans MS"/>
              </a:rPr>
              <a:t>Nice seed </a:t>
            </a:r>
            <a:r>
              <a:rPr lang="en-US" sz="2595" dirty="0" smtClean="0">
                <a:latin typeface="Comic Sans MS"/>
              </a:rPr>
              <a:t>for Ti: ex. </a:t>
            </a:r>
            <a:r>
              <a:rPr lang="en-US" sz="2588" dirty="0" smtClean="0">
                <a:latin typeface="Comic Sans MS"/>
              </a:rPr>
              <a:t>sat. T</a:t>
            </a:r>
            <a:r>
              <a:rPr lang="en-US" sz="2588" baseline="-25000" dirty="0" smtClean="0">
                <a:latin typeface="Comic Sans MS"/>
              </a:rPr>
              <a:t>i</a:t>
            </a:r>
            <a:r>
              <a:rPr lang="en-US" sz="2588" dirty="0" smtClean="0">
                <a:latin typeface="Comic Sans MS"/>
              </a:rPr>
              <a:t> &amp; no other term </a:t>
            </a:r>
          </a:p>
          <a:p>
            <a:pPr>
              <a:buNone/>
            </a:pPr>
            <a:r>
              <a:rPr lang="en-US" sz="2588" dirty="0" smtClean="0">
                <a:latin typeface="Comic Sans MS"/>
              </a:rPr>
              <a:t>    - Get all its neighbors in the graph and learn a </a:t>
            </a:r>
            <a:r>
              <a:rPr lang="en-US" sz="2588" dirty="0" err="1" smtClean="0">
                <a:latin typeface="Comic Sans MS"/>
              </a:rPr>
              <a:t>conjunc</a:t>
            </a:r>
            <a:r>
              <a:rPr lang="en-US" sz="2588" dirty="0" smtClean="0">
                <a:latin typeface="Comic Sans MS"/>
              </a:rPr>
              <a:t>.</a:t>
            </a:r>
          </a:p>
          <a:p>
            <a:endParaRPr lang="en-US" dirty="0" smtClean="0">
              <a:latin typeface="Comic Sans 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grpSp>
        <p:nvGrpSpPr>
          <p:cNvPr id="52" name="Group 51"/>
          <p:cNvGrpSpPr/>
          <p:nvPr/>
        </p:nvGrpSpPr>
        <p:grpSpPr>
          <a:xfrm>
            <a:off x="5334000" y="4572000"/>
            <a:ext cx="2514600" cy="2286000"/>
            <a:chOff x="5334000" y="4572000"/>
            <a:chExt cx="2514600" cy="2286000"/>
          </a:xfrm>
        </p:grpSpPr>
        <p:sp>
          <p:nvSpPr>
            <p:cNvPr id="6" name="Oval 5"/>
            <p:cNvSpPr/>
            <p:nvPr/>
          </p:nvSpPr>
          <p:spPr>
            <a:xfrm>
              <a:off x="6096000" y="5029200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rot="16200000" flipH="1">
              <a:off x="6175752" y="5308092"/>
              <a:ext cx="378972" cy="2235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endCxn id="18" idx="0"/>
            </p:cNvCxnSpPr>
            <p:nvPr/>
          </p:nvCxnSpPr>
          <p:spPr>
            <a:xfrm rot="5400000">
              <a:off x="7153146" y="6086346"/>
              <a:ext cx="936756" cy="2042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6324600" y="5437632"/>
              <a:ext cx="201168" cy="201168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334000" y="5361432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961632" y="5181600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48400" y="6047232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666232" y="5742432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410200" y="4648200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6400800" y="4572000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7418832" y="6656832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647432" y="5513832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6934200" y="5894832"/>
              <a:ext cx="201168" cy="20116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>
              <a:endCxn id="20" idx="0"/>
            </p:cNvCxnSpPr>
            <p:nvPr/>
          </p:nvCxnSpPr>
          <p:spPr>
            <a:xfrm>
              <a:off x="6482076" y="5564628"/>
              <a:ext cx="552708" cy="3302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5" idx="6"/>
              <a:endCxn id="11" idx="2"/>
            </p:cNvCxnSpPr>
            <p:nvPr/>
          </p:nvCxnSpPr>
          <p:spPr>
            <a:xfrm flipV="1">
              <a:off x="5867400" y="5538216"/>
              <a:ext cx="457200" cy="3048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endCxn id="11" idx="0"/>
            </p:cNvCxnSpPr>
            <p:nvPr/>
          </p:nvCxnSpPr>
          <p:spPr>
            <a:xfrm rot="5400000">
              <a:off x="6097015" y="4976370"/>
              <a:ext cx="789432" cy="1330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endCxn id="14" idx="7"/>
            </p:cNvCxnSpPr>
            <p:nvPr/>
          </p:nvCxnSpPr>
          <p:spPr>
            <a:xfrm rot="16200000" flipH="1">
              <a:off x="6155946" y="5812530"/>
              <a:ext cx="514092" cy="142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endCxn id="13" idx="3"/>
            </p:cNvCxnSpPr>
            <p:nvPr/>
          </p:nvCxnSpPr>
          <p:spPr>
            <a:xfrm flipV="1">
              <a:off x="6477000" y="5353308"/>
              <a:ext cx="514092" cy="2113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5091684" y="5091684"/>
              <a:ext cx="713232" cy="76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3" idx="6"/>
              <a:endCxn id="19" idx="7"/>
            </p:cNvCxnSpPr>
            <p:nvPr/>
          </p:nvCxnSpPr>
          <p:spPr>
            <a:xfrm>
              <a:off x="7162800" y="5282184"/>
              <a:ext cx="656340" cy="2611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6553200" y="5029200"/>
              <a:ext cx="4416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</a:rPr>
                <a:t>T1</a:t>
              </a:r>
              <a:endParaRPr lang="en-US" sz="2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4" name="Rectangle 53"/>
          <p:cNvSpPr/>
          <p:nvPr/>
        </p:nvSpPr>
        <p:spPr>
          <a:xfrm>
            <a:off x="457200" y="2895600"/>
            <a:ext cx="8610600" cy="1685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2588" dirty="0" smtClean="0">
                <a:latin typeface="Comic Sans MS"/>
              </a:rPr>
              <a:t>   Lemma. Neighbor-method </a:t>
            </a:r>
            <a:r>
              <a:rPr lang="en-US" sz="2588" dirty="0" err="1" smtClean="0">
                <a:latin typeface="Comic Sans MS"/>
              </a:rPr>
              <a:t>w.p</a:t>
            </a:r>
            <a:r>
              <a:rPr lang="en-US" sz="2588" dirty="0" smtClean="0">
                <a:latin typeface="Comic Sans MS"/>
              </a:rPr>
              <a:t>. 1-δ, produce an </a:t>
            </a:r>
            <a:r>
              <a:rPr lang="en-US" sz="2588" dirty="0" err="1" smtClean="0">
                <a:latin typeface="Comic Sans MS"/>
              </a:rPr>
              <a:t>ε-accu</a:t>
            </a:r>
            <a:r>
              <a:rPr lang="en-US" sz="2588" dirty="0" smtClean="0">
                <a:latin typeface="Comic Sans MS"/>
              </a:rPr>
              <a:t>. DNF if, for each term Ti in target DNF having a pr. of sat ≥ε/2t, there is ≥ 1/poly(n, 1/ε) prob. a rand. ex. sat. T</a:t>
            </a:r>
            <a:r>
              <a:rPr lang="en-US" sz="2588" baseline="-25000" dirty="0" smtClean="0">
                <a:latin typeface="Comic Sans MS"/>
              </a:rPr>
              <a:t>i</a:t>
            </a:r>
            <a:r>
              <a:rPr lang="en-US" sz="2588" dirty="0" smtClean="0">
                <a:latin typeface="Comic Sans MS"/>
              </a:rPr>
              <a:t> &amp; no other term.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2971800"/>
            <a:ext cx="8305800" cy="1524000"/>
          </a:xfrm>
          <a:prstGeom prst="roundRect">
            <a:avLst/>
          </a:prstGeom>
          <a:noFill/>
          <a:ln w="57150" cmpd="sng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 smtClean="0">
                <a:solidFill>
                  <a:srgbClr val="800000"/>
                </a:solidFill>
                <a:latin typeface="Comic Sans MS"/>
              </a:rPr>
              <a:t>Warm Up: </a:t>
            </a:r>
            <a:br>
              <a:rPr lang="en-US" sz="4800" dirty="0" smtClean="0">
                <a:solidFill>
                  <a:srgbClr val="800000"/>
                </a:solidFill>
                <a:latin typeface="Comic Sans MS"/>
              </a:rPr>
            </a:br>
            <a:r>
              <a:rPr lang="en-US" sz="4444" dirty="0" smtClean="0">
                <a:solidFill>
                  <a:srgbClr val="800000"/>
                </a:solidFill>
                <a:latin typeface="Comic Sans MS"/>
              </a:rPr>
              <a:t>Adaptively Construct </a:t>
            </a:r>
            <a:r>
              <a:rPr lang="en-US" sz="4444" dirty="0" err="1" smtClean="0">
                <a:solidFill>
                  <a:srgbClr val="800000"/>
                </a:solidFill>
                <a:latin typeface="Comic Sans MS"/>
              </a:rPr>
              <a:t>Ex.s</a:t>
            </a:r>
            <a:r>
              <a:rPr lang="en-US" sz="4444" dirty="0" smtClean="0">
                <a:solidFill>
                  <a:srgbClr val="800000"/>
                </a:solidFill>
                <a:latin typeface="Comic Sans MS"/>
              </a:rPr>
              <a:t>. </a:t>
            </a:r>
            <a:r>
              <a:rPr lang="en-US" sz="4800" dirty="0" smtClean="0">
                <a:latin typeface="Comic Sans MS"/>
              </a:rPr>
              <a:t/>
            </a:r>
            <a:br>
              <a:rPr lang="en-US" sz="4800" dirty="0" smtClean="0">
                <a:latin typeface="Comic Sans MS"/>
              </a:rPr>
            </a:br>
            <a:r>
              <a:rPr lang="en-US" dirty="0" smtClean="0">
                <a:latin typeface="Comic Sans MS"/>
              </a:rPr>
              <a:t/>
            </a:r>
            <a:br>
              <a:rPr lang="en-US" dirty="0" smtClean="0">
                <a:latin typeface="Comic Sans M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 err="1" smtClean="0">
                <a:latin typeface="Comic Sans MS"/>
              </a:rPr>
              <a:t>Oracle(x</a:t>
            </a:r>
            <a:r>
              <a:rPr lang="en-US" sz="2200" dirty="0" smtClean="0">
                <a:latin typeface="Comic Sans MS"/>
              </a:rPr>
              <a:t>, </a:t>
            </a:r>
            <a:r>
              <a:rPr lang="en-US" sz="2200" dirty="0" err="1" smtClean="0">
                <a:latin typeface="Comic Sans MS"/>
              </a:rPr>
              <a:t>x</a:t>
            </a:r>
            <a:r>
              <a:rPr lang="en-US" sz="2200" dirty="0" smtClean="0">
                <a:latin typeface="Comic Sans MS"/>
              </a:rPr>
              <a:t>’) -&gt; #terms that </a:t>
            </a:r>
            <a:r>
              <a:rPr lang="en-US" sz="2200" dirty="0" err="1" smtClean="0">
                <a:latin typeface="Comic Sans MS"/>
              </a:rPr>
              <a:t>x</a:t>
            </a:r>
            <a:r>
              <a:rPr lang="en-US" sz="2200" dirty="0" smtClean="0">
                <a:latin typeface="Comic Sans MS"/>
              </a:rPr>
              <a:t> and </a:t>
            </a:r>
            <a:r>
              <a:rPr lang="en-US" sz="2200" dirty="0" err="1" smtClean="0">
                <a:latin typeface="Comic Sans MS"/>
              </a:rPr>
              <a:t>x</a:t>
            </a:r>
            <a:r>
              <a:rPr lang="en-US" sz="2200" dirty="0" smtClean="0">
                <a:latin typeface="Comic Sans MS"/>
              </a:rPr>
              <a:t>’ have in common. </a:t>
            </a:r>
          </a:p>
          <a:p>
            <a:pPr>
              <a:buNone/>
            </a:pPr>
            <a:r>
              <a:rPr lang="en-US" sz="2200" dirty="0" err="1" smtClean="0">
                <a:latin typeface="Comic Sans MS"/>
              </a:rPr>
              <a:t>Move(x</a:t>
            </a:r>
            <a:r>
              <a:rPr lang="en-US" sz="2200" dirty="0" smtClean="0">
                <a:latin typeface="Comic Sans MS"/>
              </a:rPr>
              <a:t>, </a:t>
            </a:r>
            <a:r>
              <a:rPr lang="en-US" sz="2200" dirty="0" err="1" smtClean="0">
                <a:latin typeface="Comic Sans MS"/>
              </a:rPr>
              <a:t>x</a:t>
            </a:r>
            <a:r>
              <a:rPr lang="en-US" sz="2200" dirty="0" smtClean="0">
                <a:latin typeface="Comic Sans MS"/>
              </a:rPr>
              <a:t>’) moves </a:t>
            </a:r>
            <a:r>
              <a:rPr lang="en-US" sz="2200" dirty="0" err="1" smtClean="0">
                <a:latin typeface="Comic Sans MS"/>
              </a:rPr>
              <a:t>x</a:t>
            </a:r>
            <a:r>
              <a:rPr lang="en-US" sz="2200" dirty="0" smtClean="0">
                <a:latin typeface="Comic Sans MS"/>
              </a:rPr>
              <a:t>’ away from </a:t>
            </a:r>
            <a:r>
              <a:rPr lang="en-US" sz="2200" dirty="0" err="1" smtClean="0">
                <a:latin typeface="Comic Sans MS"/>
              </a:rPr>
              <a:t>x</a:t>
            </a:r>
            <a:r>
              <a:rPr lang="en-US" sz="2200" dirty="0" smtClean="0">
                <a:latin typeface="Comic Sans MS"/>
              </a:rPr>
              <a:t> by 1 bit, trying to maintain at least one common term. </a:t>
            </a:r>
          </a:p>
          <a:p>
            <a:pPr>
              <a:buNone/>
            </a:pPr>
            <a:r>
              <a:rPr lang="en-US" sz="2200" dirty="0" err="1" smtClean="0">
                <a:latin typeface="Comic Sans MS"/>
              </a:rPr>
              <a:t>LearnTerm(x</a:t>
            </a:r>
            <a:r>
              <a:rPr lang="en-US" sz="2200" dirty="0" smtClean="0">
                <a:latin typeface="Comic Sans MS"/>
              </a:rPr>
              <a:t>) -&gt; a term in target fn.</a:t>
            </a:r>
            <a:endParaRPr lang="en-US" sz="2200" dirty="0">
              <a:latin typeface="Comic Sans M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" name="Picture 9" descr="Picture 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6540540"/>
            <a:ext cx="2692063" cy="317460"/>
          </a:xfrm>
          <a:prstGeom prst="rect">
            <a:avLst/>
          </a:prstGeom>
        </p:spPr>
      </p:pic>
      <p:pic>
        <p:nvPicPr>
          <p:cNvPr id="13" name="Picture 12" descr="Picture 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95600"/>
            <a:ext cx="4723809" cy="2095238"/>
          </a:xfrm>
          <a:prstGeom prst="rect">
            <a:avLst/>
          </a:prstGeom>
        </p:spPr>
      </p:pic>
      <p:pic>
        <p:nvPicPr>
          <p:cNvPr id="11" name="Picture 10" descr="Picture 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022" y="4419600"/>
            <a:ext cx="4977778" cy="21333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05400" y="6427113"/>
            <a:ext cx="2186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/>
              <a:t>+ or – </a:t>
            </a:r>
            <a:r>
              <a:rPr lang="en-US" sz="2200" b="1" dirty="0" err="1" smtClean="0"/>
              <a:t>s.t</a:t>
            </a:r>
            <a:r>
              <a:rPr lang="en-US" sz="2200" b="1" dirty="0" smtClean="0"/>
              <a:t>. </a:t>
            </a:r>
            <a:r>
              <a:rPr lang="en-US" sz="2200" b="1" dirty="0" err="1" smtClean="0"/>
              <a:t>x</a:t>
            </a:r>
            <a:r>
              <a:rPr lang="en-US" sz="2200" b="1" dirty="0" smtClean="0"/>
              <a:t> sat it)</a:t>
            </a:r>
            <a:endParaRPr lang="en-US" sz="2200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1981200" y="4343400"/>
            <a:ext cx="5257801" cy="2514600"/>
          </a:xfrm>
          <a:prstGeom prst="roundRect">
            <a:avLst/>
          </a:prstGeom>
          <a:noFill/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315200" y="2133601"/>
            <a:ext cx="1828800" cy="92333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X 110111011 </a:t>
            </a:r>
          </a:p>
          <a:p>
            <a:r>
              <a:rPr lang="en-US" dirty="0" smtClean="0"/>
              <a:t>Y 110111011</a:t>
            </a:r>
          </a:p>
          <a:p>
            <a:r>
              <a:rPr lang="en-US" dirty="0" err="1" smtClean="0"/>
              <a:t>K(x,y</a:t>
            </a:r>
            <a:r>
              <a:rPr lang="en-US" dirty="0" smtClean="0"/>
              <a:t>) = 1 initially</a:t>
            </a:r>
          </a:p>
          <a:p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7848600" y="5562600"/>
            <a:ext cx="484632" cy="566677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7315200" y="3124200"/>
            <a:ext cx="1828800" cy="12192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X 110111011</a:t>
            </a:r>
          </a:p>
          <a:p>
            <a:r>
              <a:rPr lang="en-US" b="1" dirty="0" smtClean="0"/>
              <a:t>Y 001111011</a:t>
            </a:r>
          </a:p>
          <a:p>
            <a:r>
              <a:rPr lang="en-US" b="1" dirty="0" err="1" smtClean="0"/>
              <a:t>K(x,y</a:t>
            </a:r>
            <a:r>
              <a:rPr lang="en-US" b="1" dirty="0" smtClean="0"/>
              <a:t>) = 0 change! </a:t>
            </a:r>
            <a:r>
              <a:rPr lang="en-US" b="1" dirty="0" smtClean="0">
                <a:solidFill>
                  <a:srgbClr val="0000FF"/>
                </a:solidFill>
              </a:rPr>
              <a:t>X3 </a:t>
            </a:r>
            <a:r>
              <a:rPr lang="en-US" b="1" dirty="0" err="1" smtClean="0">
                <a:solidFill>
                  <a:srgbClr val="0000FF"/>
                </a:solidFill>
              </a:rPr>
              <a:t>rel</a:t>
            </a:r>
            <a:r>
              <a:rPr lang="en-US" b="1" dirty="0" smtClean="0">
                <a:solidFill>
                  <a:srgbClr val="0000FF"/>
                </a:solidFill>
              </a:rPr>
              <a:t>…</a:t>
            </a:r>
          </a:p>
          <a:p>
            <a:endParaRPr lang="en-US" b="1" dirty="0" smtClean="0"/>
          </a:p>
        </p:txBody>
      </p:sp>
      <p:sp>
        <p:nvSpPr>
          <p:cNvPr id="28" name="Rectangle 27"/>
          <p:cNvSpPr/>
          <p:nvPr/>
        </p:nvSpPr>
        <p:spPr>
          <a:xfrm>
            <a:off x="7696200" y="6019800"/>
            <a:ext cx="865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x</a:t>
            </a:r>
            <a:r>
              <a:rPr lang="en-US" b="1" baseline="-25000" dirty="0" smtClean="0">
                <a:solidFill>
                  <a:srgbClr val="FF0000"/>
                </a:solidFill>
              </a:rPr>
              <a:t>3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ＭＳ ゴシック"/>
                <a:ea typeface="ＭＳ ゴシック"/>
                <a:cs typeface="ＭＳ ゴシック"/>
              </a:rPr>
              <a:t>∧x</a:t>
            </a:r>
            <a:r>
              <a:rPr lang="en-US" b="1" baseline="-25000" dirty="0" smtClean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362271"/>
            <a:ext cx="1828800" cy="1200329"/>
          </a:xfrm>
          <a:prstGeom prst="rect">
            <a:avLst/>
          </a:prstGeom>
          <a:ln w="57150" cmpd="sng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Flip x3 back …</a:t>
            </a:r>
          </a:p>
          <a:p>
            <a:r>
              <a:rPr lang="en-US" dirty="0" smtClean="0"/>
              <a:t>X 110111011</a:t>
            </a:r>
          </a:p>
          <a:p>
            <a:r>
              <a:rPr lang="en-US" dirty="0" smtClean="0"/>
              <a:t>Y 000000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11</a:t>
            </a:r>
          </a:p>
          <a:p>
            <a:r>
              <a:rPr lang="en-US" dirty="0" err="1" smtClean="0"/>
              <a:t>K(x,y</a:t>
            </a:r>
            <a:r>
              <a:rPr lang="en-US" dirty="0" smtClean="0"/>
              <a:t>) = 0 </a:t>
            </a:r>
            <a:r>
              <a:rPr lang="en-US" b="1" dirty="0" smtClean="0">
                <a:solidFill>
                  <a:srgbClr val="0000FF"/>
                </a:solidFill>
              </a:rPr>
              <a:t>X7 </a:t>
            </a:r>
            <a:r>
              <a:rPr lang="en-US" b="1" dirty="0" err="1" smtClean="0">
                <a:solidFill>
                  <a:srgbClr val="0000FF"/>
                </a:solidFill>
              </a:rPr>
              <a:t>rel</a:t>
            </a:r>
            <a:r>
              <a:rPr lang="en-US" b="1" smtClean="0">
                <a:solidFill>
                  <a:srgbClr val="0000FF"/>
                </a:solidFill>
              </a:rPr>
              <a:t>…</a:t>
            </a:r>
            <a:endParaRPr lang="en-US" b="1" dirty="0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8" grpId="0"/>
      <p:bldP spid="1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Outline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 bwMode="auto">
          <a:xfrm>
            <a:off x="304800" y="1600200"/>
            <a:ext cx="9372600" cy="4525963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sz="3000" dirty="0" smtClean="0">
                <a:latin typeface="Comic Sans MS"/>
                <a:ea typeface="+mj-ea"/>
                <a:cs typeface="+mj-cs"/>
              </a:rPr>
              <a:t>Our model</a:t>
            </a:r>
          </a:p>
          <a:p>
            <a:pPr>
              <a:defRPr/>
            </a:pPr>
            <a:r>
              <a:rPr lang="en-US" sz="3600" dirty="0" smtClean="0">
                <a:solidFill>
                  <a:srgbClr val="800000"/>
                </a:solidFill>
                <a:latin typeface="Comic Sans MS"/>
              </a:rPr>
              <a:t>Hardness Results </a:t>
            </a:r>
          </a:p>
          <a:p>
            <a:pPr eaLnBrk="1" hangingPunct="1">
              <a:defRPr/>
            </a:pPr>
            <a:r>
              <a:rPr lang="en-US" sz="3000" dirty="0" smtClean="0">
                <a:latin typeface="Comic Sans MS"/>
                <a:ea typeface="+mj-ea"/>
                <a:cs typeface="+mj-cs"/>
              </a:rPr>
              <a:t>Positive Results: Uniform </a:t>
            </a:r>
          </a:p>
          <a:p>
            <a:pPr>
              <a:defRPr/>
            </a:pPr>
            <a:r>
              <a:rPr lang="en-US" sz="3000" dirty="0" smtClean="0">
                <a:latin typeface="Comic Sans MS"/>
              </a:rPr>
              <a:t>Positive Results: General</a:t>
            </a:r>
          </a:p>
          <a:p>
            <a:pPr eaLnBrk="1" hangingPunct="1">
              <a:defRPr/>
            </a:pPr>
            <a:endParaRPr lang="en-US" sz="3000" dirty="0" smtClean="0">
              <a:solidFill>
                <a:srgbClr val="800000"/>
              </a:solidFill>
              <a:latin typeface="Comic Sans MS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Hardness Results</a:t>
            </a:r>
            <a:br>
              <a:rPr lang="en-US" sz="4000" dirty="0" smtClean="0">
                <a:solidFill>
                  <a:srgbClr val="800000"/>
                </a:solidFill>
                <a:latin typeface="Comic Sans MS"/>
              </a:rPr>
            </a:b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Boolean (group learn) </a:t>
            </a:r>
            <a:br>
              <a:rPr lang="en-US" sz="4000" dirty="0" smtClean="0">
                <a:solidFill>
                  <a:srgbClr val="800000"/>
                </a:solidFill>
                <a:latin typeface="Comic Sans MS"/>
              </a:rPr>
            </a:br>
            <a:endParaRPr lang="en-US" sz="4000" dirty="0" smtClean="0">
              <a:solidFill>
                <a:srgbClr val="800000"/>
              </a:solidFill>
              <a:latin typeface="Comic Sans M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000" dirty="0" smtClean="0">
                <a:latin typeface="Comic Sans MS"/>
              </a:rPr>
              <a:t>  </a:t>
            </a:r>
            <a:r>
              <a:rPr lang="en-US" sz="2800" b="1" dirty="0" err="1" smtClean="0">
                <a:solidFill>
                  <a:srgbClr val="800000"/>
                </a:solidFill>
                <a:latin typeface="Comic Sans MS"/>
              </a:rPr>
              <a:t>Thm</a:t>
            </a:r>
            <a:r>
              <a:rPr lang="en-US" sz="2800" b="1" dirty="0" smtClean="0">
                <a:solidFill>
                  <a:srgbClr val="800000"/>
                </a:solidFill>
                <a:latin typeface="Comic Sans MS"/>
              </a:rPr>
              <a:t>.</a:t>
            </a:r>
            <a:r>
              <a:rPr lang="en-US" sz="2800" dirty="0" smtClean="0">
                <a:latin typeface="Comic Sans MS"/>
              </a:rPr>
              <a:t> Learning DNF from random data under </a:t>
            </a:r>
            <a:r>
              <a:rPr lang="en-US" sz="2800" dirty="0" err="1" smtClean="0">
                <a:latin typeface="Comic Sans MS"/>
              </a:rPr>
              <a:t>arb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distri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w</a:t>
            </a:r>
            <a:r>
              <a:rPr lang="en-US" sz="2800" dirty="0" smtClean="0">
                <a:latin typeface="Comic Sans MS"/>
              </a:rPr>
              <a:t>/ </a:t>
            </a:r>
            <a:r>
              <a:rPr lang="en-US" sz="2800" dirty="0" err="1" smtClean="0">
                <a:solidFill>
                  <a:srgbClr val="FF0000"/>
                </a:solidFill>
                <a:latin typeface="Comic Sans MS"/>
              </a:rPr>
              <a:t>boolean</a:t>
            </a:r>
            <a:r>
              <a:rPr lang="en-US" sz="2800" dirty="0" smtClean="0">
                <a:solidFill>
                  <a:srgbClr val="FF0000"/>
                </a:solidFill>
                <a:latin typeface="Comic Sans MS"/>
              </a:rPr>
              <a:t> queries</a:t>
            </a:r>
            <a:r>
              <a:rPr lang="en-US" sz="2800" dirty="0" smtClean="0">
                <a:latin typeface="Comic Sans MS"/>
              </a:rPr>
              <a:t> is as hard as learning DNF from random data under </a:t>
            </a:r>
            <a:r>
              <a:rPr lang="en-US" sz="2800" dirty="0" err="1" smtClean="0">
                <a:latin typeface="Comic Sans MS"/>
              </a:rPr>
              <a:t>arb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distri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w</a:t>
            </a:r>
            <a:r>
              <a:rPr lang="en-US" sz="2800" dirty="0" smtClean="0">
                <a:latin typeface="Comic Sans MS"/>
              </a:rPr>
              <a:t>/ only labels (no queries).</a:t>
            </a:r>
          </a:p>
          <a:p>
            <a:endParaRPr lang="en-US" dirty="0" smtClean="0">
              <a:latin typeface="Comic Sans M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Liu Yang 2012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09600" y="1600200"/>
            <a:ext cx="7924800" cy="1828800"/>
          </a:xfrm>
          <a:prstGeom prst="roundRect">
            <a:avLst/>
          </a:prstGeom>
          <a:noFill/>
          <a:ln w="57150" cmpd="sng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57340" y="35814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57340" y="38862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57340" y="41910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7340" y="44958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57340" y="48006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57340" y="51054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057340" y="54102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057340" y="57150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057340" y="60198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057340" y="6324600"/>
            <a:ext cx="685800" cy="304800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276540" y="35814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276540" y="38862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276540" y="41910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276540" y="44958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276540" y="48006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276540" y="51054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276540" y="54102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276540" y="57150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276540" y="60198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276540" y="6324600"/>
            <a:ext cx="685800" cy="3048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e 27"/>
          <p:cNvSpPr/>
          <p:nvPr/>
        </p:nvSpPr>
        <p:spPr>
          <a:xfrm>
            <a:off x="5749492" y="3581400"/>
            <a:ext cx="155448" cy="3048000"/>
          </a:xfrm>
          <a:prstGeom prst="leftBrace">
            <a:avLst/>
          </a:prstGeom>
          <a:ln w="28575" cmpd="sng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5279965" y="4876800"/>
            <a:ext cx="43503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solidFill>
                  <a:schemeClr val="accent2"/>
                </a:solidFill>
              </a:rPr>
              <a:t>m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51738" y="6564868"/>
            <a:ext cx="2577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mic Sans MS"/>
              </a:rPr>
              <a:t>K (giant 1, giant 2) =  1</a:t>
            </a:r>
            <a:endParaRPr lang="en-US" dirty="0">
              <a:latin typeface="Comic Sans M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0" y="3657599"/>
            <a:ext cx="5715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mic Sans MS"/>
              </a:rPr>
              <a:t>Reduction from </a:t>
            </a:r>
            <a:r>
              <a:rPr lang="en-US" sz="2400" dirty="0" smtClean="0">
                <a:solidFill>
                  <a:srgbClr val="FF0000"/>
                </a:solidFill>
                <a:latin typeface="Comic Sans MS"/>
              </a:rPr>
              <a:t>group-learn DNF </a:t>
            </a:r>
            <a:r>
              <a:rPr lang="en-US" sz="2400" dirty="0" smtClean="0">
                <a:latin typeface="Comic Sans MS"/>
              </a:rPr>
              <a:t>in std. model to </a:t>
            </a:r>
            <a:r>
              <a:rPr lang="en-US" sz="2400" dirty="0" smtClean="0">
                <a:solidFill>
                  <a:srgbClr val="FF0000"/>
                </a:solidFill>
                <a:latin typeface="Comic Sans MS"/>
              </a:rPr>
              <a:t>extended queries model</a:t>
            </a:r>
            <a:r>
              <a:rPr lang="en-US" sz="2400" dirty="0" smtClean="0">
                <a:latin typeface="Comic Sans MS"/>
              </a:rPr>
              <a:t>. </a:t>
            </a:r>
          </a:p>
          <a:p>
            <a:endParaRPr lang="en-US" sz="2400" dirty="0" smtClean="0">
              <a:latin typeface="Comic Sans MS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  <a:latin typeface="Comic Sans MS"/>
              </a:rPr>
              <a:t>How to use our </a:t>
            </a:r>
            <a:r>
              <a:rPr lang="en-US" sz="2400" dirty="0" err="1" smtClean="0">
                <a:solidFill>
                  <a:srgbClr val="0000FF"/>
                </a:solidFill>
                <a:latin typeface="Comic Sans MS"/>
              </a:rPr>
              <a:t>alg</a:t>
            </a:r>
            <a:r>
              <a:rPr lang="en-US" sz="2400" dirty="0" smtClean="0">
                <a:solidFill>
                  <a:srgbClr val="0000FF"/>
                </a:solidFill>
                <a:latin typeface="Comic Sans MS"/>
              </a:rPr>
              <a:t> </a:t>
            </a:r>
            <a:r>
              <a:rPr lang="en-US" sz="2400" dirty="0" smtClean="0">
                <a:latin typeface="Comic Sans MS"/>
              </a:rPr>
              <a:t>(A: learn from a </a:t>
            </a:r>
          </a:p>
          <a:p>
            <a:pPr>
              <a:buNone/>
            </a:pPr>
            <a:r>
              <a:rPr lang="en-US" sz="2400" dirty="0" smtClean="0">
                <a:latin typeface="Comic Sans MS"/>
              </a:rPr>
              <a:t>poly #</a:t>
            </a:r>
            <a:r>
              <a:rPr lang="en-US" sz="2400" dirty="0" err="1" smtClean="0">
                <a:latin typeface="Comic Sans MS"/>
              </a:rPr>
              <a:t>ex.s</a:t>
            </a:r>
            <a:r>
              <a:rPr lang="en-US" sz="2400" dirty="0" smtClean="0">
                <a:latin typeface="Comic Sans MS"/>
              </a:rPr>
              <a:t> in extended model) </a:t>
            </a:r>
          </a:p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  <a:latin typeface="Comic Sans MS"/>
              </a:rPr>
              <a:t>to group-learn ? 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500"/>
                            </p:stCondLst>
                            <p:childTnLst>
                              <p:par>
                                <p:cTn id="86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0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6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Hardness Results</a:t>
            </a:r>
            <a:br>
              <a:rPr lang="en-US" sz="4000" dirty="0" smtClean="0">
                <a:solidFill>
                  <a:srgbClr val="800000"/>
                </a:solidFill>
                <a:latin typeface="Comic Sans MS"/>
              </a:rPr>
            </a:b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Approx numerical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err="1" smtClean="0">
                <a:solidFill>
                  <a:srgbClr val="800000"/>
                </a:solidFill>
                <a:latin typeface="Comic Sans MS"/>
              </a:rPr>
              <a:t>Thm</a:t>
            </a:r>
            <a:r>
              <a:rPr lang="en-US" sz="2800" b="1" dirty="0" smtClean="0">
                <a:solidFill>
                  <a:srgbClr val="800000"/>
                </a:solidFill>
                <a:latin typeface="Comic Sans MS"/>
              </a:rPr>
              <a:t>. </a:t>
            </a:r>
            <a:r>
              <a:rPr lang="en-US" sz="2800" dirty="0" smtClean="0">
                <a:latin typeface="Comic Sans MS"/>
              </a:rPr>
              <a:t>Learning DNF from random data under </a:t>
            </a:r>
            <a:r>
              <a:rPr lang="en-US" sz="2800" dirty="0" err="1" smtClean="0">
                <a:latin typeface="Comic Sans MS"/>
              </a:rPr>
              <a:t>arbi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distri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w</a:t>
            </a:r>
            <a:r>
              <a:rPr lang="en-US" sz="2800" dirty="0" smtClean="0">
                <a:latin typeface="Comic Sans MS"/>
              </a:rPr>
              <a:t>/ </a:t>
            </a:r>
            <a:r>
              <a:rPr lang="en-US" sz="2800" dirty="0" smtClean="0">
                <a:solidFill>
                  <a:srgbClr val="FF0000"/>
                </a:solidFill>
                <a:latin typeface="Comic Sans MS"/>
              </a:rPr>
              <a:t>approx-numerical-queries</a:t>
            </a:r>
            <a:r>
              <a:rPr lang="en-US" sz="2800" dirty="0" smtClean="0">
                <a:latin typeface="Comic Sans MS"/>
              </a:rPr>
              <a:t> is as hard as learning DNF from random data under </a:t>
            </a:r>
            <a:r>
              <a:rPr lang="en-US" sz="2800" dirty="0" err="1" smtClean="0">
                <a:latin typeface="Comic Sans MS"/>
              </a:rPr>
              <a:t>arb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distri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w</a:t>
            </a:r>
            <a:r>
              <a:rPr lang="en-US" sz="2800" dirty="0" smtClean="0">
                <a:latin typeface="Comic Sans MS"/>
              </a:rPr>
              <a:t>/ only labels i.e. if C is #terms x</a:t>
            </a:r>
            <a:r>
              <a:rPr lang="en-US" sz="2800" baseline="-25000" dirty="0" smtClean="0">
                <a:latin typeface="Comic Sans MS"/>
              </a:rPr>
              <a:t>i</a:t>
            </a:r>
            <a:r>
              <a:rPr lang="en-US" sz="2800" dirty="0" smtClean="0">
                <a:latin typeface="Comic Sans MS"/>
              </a:rPr>
              <a:t> and </a:t>
            </a:r>
            <a:r>
              <a:rPr lang="en-US" sz="2800" dirty="0" err="1" smtClean="0">
                <a:latin typeface="Comic Sans MS"/>
              </a:rPr>
              <a:t>x</a:t>
            </a:r>
            <a:r>
              <a:rPr lang="en-US" sz="2800" baseline="-25000" dirty="0" err="1" smtClean="0">
                <a:latin typeface="Comic Sans MS"/>
              </a:rPr>
              <a:t>j</a:t>
            </a:r>
            <a:r>
              <a:rPr lang="en-US" sz="2800" dirty="0" smtClean="0">
                <a:latin typeface="Comic Sans MS"/>
              </a:rPr>
              <a:t> sat in common, oracle returns a value in [(1 – </a:t>
            </a:r>
            <a:r>
              <a:rPr lang="en-US" sz="2800" dirty="0" smtClean="0">
                <a:latin typeface="Lucida Grande"/>
                <a:ea typeface="Lucida Grande"/>
                <a:cs typeface="Lucida Grande"/>
              </a:rPr>
              <a:t>τ</a:t>
            </a:r>
            <a:r>
              <a:rPr lang="en-US" sz="2800" dirty="0" smtClean="0">
                <a:latin typeface="Comic Sans MS"/>
              </a:rPr>
              <a:t>)C, (1 + </a:t>
            </a:r>
            <a:r>
              <a:rPr lang="en-US" sz="2800" dirty="0" smtClean="0">
                <a:latin typeface="Lucida Grande"/>
                <a:ea typeface="Lucida Grande"/>
                <a:cs typeface="Lucida Grande"/>
              </a:rPr>
              <a:t>τ</a:t>
            </a:r>
            <a:r>
              <a:rPr lang="en-US" sz="2800" dirty="0" smtClean="0">
                <a:latin typeface="Comic Sans MS"/>
              </a:rPr>
              <a:t>)C].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33400" y="1600200"/>
            <a:ext cx="8305800" cy="2667000"/>
          </a:xfrm>
          <a:prstGeom prst="roundRect">
            <a:avLst/>
          </a:prstGeom>
          <a:noFill/>
          <a:ln w="57150" cmpd="sng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Outline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 bwMode="auto">
          <a:xfrm>
            <a:off x="304800" y="1600200"/>
            <a:ext cx="9372600" cy="4525963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sz="3000" dirty="0" smtClean="0">
                <a:latin typeface="Comic Sans MS"/>
                <a:ea typeface="+mj-ea"/>
                <a:cs typeface="+mj-cs"/>
              </a:rPr>
              <a:t>Our model</a:t>
            </a:r>
          </a:p>
          <a:p>
            <a:pPr>
              <a:defRPr/>
            </a:pPr>
            <a:r>
              <a:rPr lang="en-US" sz="3000" dirty="0" smtClean="0">
                <a:latin typeface="Comic Sans MS"/>
                <a:ea typeface="+mj-ea"/>
                <a:cs typeface="+mj-cs"/>
              </a:rPr>
              <a:t>Hardness Results </a:t>
            </a:r>
          </a:p>
          <a:p>
            <a:pPr>
              <a:defRPr/>
            </a:pPr>
            <a:r>
              <a:rPr lang="en-US" sz="3600" dirty="0" smtClean="0">
                <a:solidFill>
                  <a:srgbClr val="800000"/>
                </a:solidFill>
                <a:latin typeface="Comic Sans MS"/>
              </a:rPr>
              <a:t>Positive Results: Uniform </a:t>
            </a:r>
            <a:r>
              <a:rPr lang="en-US" sz="3600" dirty="0" err="1" smtClean="0">
                <a:solidFill>
                  <a:srgbClr val="800000"/>
                </a:solidFill>
                <a:latin typeface="Comic Sans MS"/>
              </a:rPr>
              <a:t>distri</a:t>
            </a:r>
            <a:r>
              <a:rPr lang="en-US" sz="3600" dirty="0" smtClean="0">
                <a:solidFill>
                  <a:srgbClr val="800000"/>
                </a:solidFill>
                <a:latin typeface="Comic Sans MS"/>
              </a:rPr>
              <a:t>. </a:t>
            </a:r>
          </a:p>
          <a:p>
            <a:pPr>
              <a:buSzPct val="70000"/>
              <a:buNone/>
            </a:pPr>
            <a:r>
              <a:rPr lang="en-US" sz="2600" b="1" dirty="0" smtClean="0">
                <a:solidFill>
                  <a:srgbClr val="3366FF"/>
                </a:solidFill>
                <a:latin typeface="Comic Sans MS"/>
              </a:rPr>
              <a:t>  </a:t>
            </a:r>
            <a:r>
              <a:rPr lang="en-US" sz="2800" b="1" dirty="0" smtClean="0">
                <a:solidFill>
                  <a:srgbClr val="800000"/>
                </a:solidFill>
                <a:latin typeface="Comic Sans MS"/>
              </a:rPr>
              <a:t>- Can learn DNF </a:t>
            </a:r>
            <a:r>
              <a:rPr lang="en-US" sz="2800" b="1" dirty="0" err="1" smtClean="0">
                <a:solidFill>
                  <a:srgbClr val="800000"/>
                </a:solidFill>
                <a:latin typeface="Comic Sans MS"/>
              </a:rPr>
              <a:t>w</a:t>
            </a:r>
            <a:r>
              <a:rPr lang="en-US" sz="2800" b="1" dirty="0" smtClean="0">
                <a:solidFill>
                  <a:srgbClr val="800000"/>
                </a:solidFill>
                <a:latin typeface="Comic Sans MS"/>
              </a:rPr>
              <a:t>/ numerical query  </a:t>
            </a:r>
          </a:p>
          <a:p>
            <a:pPr>
              <a:buSzPct val="70000"/>
              <a:buNone/>
            </a:pPr>
            <a:r>
              <a:rPr lang="en-US" sz="2800" b="1" dirty="0" smtClean="0">
                <a:solidFill>
                  <a:srgbClr val="800000"/>
                </a:solidFill>
                <a:latin typeface="Comic Sans MS"/>
              </a:rPr>
              <a:t>  - Can learn Junta </a:t>
            </a:r>
            <a:r>
              <a:rPr lang="en-US" sz="2800" b="1" dirty="0" err="1" smtClean="0">
                <a:solidFill>
                  <a:srgbClr val="800000"/>
                </a:solidFill>
                <a:latin typeface="Comic Sans MS"/>
              </a:rPr>
              <a:t>w</a:t>
            </a:r>
            <a:r>
              <a:rPr lang="en-US" sz="2800" b="1" dirty="0" smtClean="0">
                <a:solidFill>
                  <a:srgbClr val="800000"/>
                </a:solidFill>
                <a:latin typeface="Comic Sans MS"/>
              </a:rPr>
              <a:t>/ </a:t>
            </a:r>
            <a:r>
              <a:rPr lang="en-US" sz="2800" b="1" dirty="0" err="1" smtClean="0">
                <a:solidFill>
                  <a:srgbClr val="800000"/>
                </a:solidFill>
                <a:latin typeface="Comic Sans MS"/>
              </a:rPr>
              <a:t>boolean</a:t>
            </a:r>
            <a:r>
              <a:rPr lang="en-US" sz="2800" b="1" dirty="0" smtClean="0">
                <a:solidFill>
                  <a:srgbClr val="800000"/>
                </a:solidFill>
                <a:latin typeface="Comic Sans MS"/>
              </a:rPr>
              <a:t> query </a:t>
            </a:r>
          </a:p>
          <a:p>
            <a:pPr>
              <a:buSzPct val="70000"/>
              <a:buNone/>
            </a:pPr>
            <a:r>
              <a:rPr lang="en-US" sz="2800" b="1" dirty="0" smtClean="0">
                <a:solidFill>
                  <a:srgbClr val="800000"/>
                </a:solidFill>
                <a:latin typeface="Comic Sans MS"/>
              </a:rPr>
              <a:t>  - Can learn DNF having ≤ 2</a:t>
            </a:r>
            <a:r>
              <a:rPr lang="en-US" sz="2800" b="1" baseline="30000" dirty="0" smtClean="0">
                <a:solidFill>
                  <a:srgbClr val="800000"/>
                </a:solidFill>
                <a:latin typeface="Comic Sans MS"/>
              </a:rPr>
              <a:t>O(√log(n)) </a:t>
            </a:r>
            <a:r>
              <a:rPr lang="en-US" sz="2800" b="1" dirty="0" smtClean="0">
                <a:solidFill>
                  <a:srgbClr val="800000"/>
                </a:solidFill>
                <a:latin typeface="Comic Sans MS"/>
              </a:rPr>
              <a:t>terms</a:t>
            </a:r>
            <a:endParaRPr lang="en-US" sz="2800" dirty="0" smtClean="0">
              <a:solidFill>
                <a:srgbClr val="800000"/>
              </a:solidFill>
              <a:latin typeface="Comic Sans MS"/>
            </a:endParaRPr>
          </a:p>
          <a:p>
            <a:pPr>
              <a:defRPr/>
            </a:pPr>
            <a:r>
              <a:rPr lang="en-US" sz="3000" dirty="0" smtClean="0">
                <a:latin typeface="Comic Sans MS"/>
              </a:rPr>
              <a:t>Positive Results: General </a:t>
            </a:r>
            <a:r>
              <a:rPr lang="en-US" sz="3000" dirty="0" err="1" smtClean="0">
                <a:latin typeface="Comic Sans MS"/>
              </a:rPr>
              <a:t>distri</a:t>
            </a:r>
            <a:r>
              <a:rPr lang="en-US" sz="3000" dirty="0" smtClean="0">
                <a:latin typeface="Comic Sans MS"/>
              </a:rPr>
              <a:t>.</a:t>
            </a:r>
          </a:p>
          <a:p>
            <a:pPr eaLnBrk="1" hangingPunct="1">
              <a:defRPr/>
            </a:pPr>
            <a:endParaRPr lang="en-US" sz="3000" dirty="0" smtClean="0">
              <a:solidFill>
                <a:srgbClr val="800000"/>
              </a:solidFill>
              <a:latin typeface="Comic Sans MS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Learning a sum of monotone terms</a:t>
            </a:r>
            <a:endParaRPr lang="en-US" sz="4000" dirty="0">
              <a:solidFill>
                <a:srgbClr val="800000"/>
              </a:solidFill>
              <a:latin typeface="Comic Sans M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>
                <a:latin typeface="Comic Sans MS"/>
              </a:rPr>
              <a:t>  </a:t>
            </a:r>
            <a:r>
              <a:rPr lang="en-US" dirty="0" err="1" smtClean="0">
                <a:solidFill>
                  <a:srgbClr val="800000"/>
                </a:solidFill>
                <a:latin typeface="Comic Sans MS"/>
              </a:rPr>
              <a:t>Thm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.</a:t>
            </a:r>
            <a:r>
              <a:rPr lang="en-US" dirty="0" smtClean="0">
                <a:latin typeface="Comic Sans MS"/>
              </a:rPr>
              <a:t> </a:t>
            </a:r>
            <a:r>
              <a:rPr lang="en-US" sz="2800" dirty="0" smtClean="0">
                <a:latin typeface="Comic Sans MS"/>
              </a:rPr>
              <a:t>Can efficiently learn a sum of monotone </a:t>
            </a:r>
            <a:r>
              <a:rPr lang="en-US" sz="2800" dirty="0" err="1" smtClean="0">
                <a:latin typeface="Comic Sans MS"/>
              </a:rPr>
              <a:t>t</a:t>
            </a:r>
            <a:r>
              <a:rPr lang="en-US" sz="2800" dirty="0" smtClean="0">
                <a:latin typeface="Comic Sans MS"/>
              </a:rPr>
              <a:t> terms over </a:t>
            </a:r>
            <a:r>
              <a:rPr lang="en-US" sz="2800" dirty="0" err="1" smtClean="0">
                <a:latin typeface="Comic Sans MS"/>
              </a:rPr>
              <a:t>unif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Distri</a:t>
            </a:r>
            <a:r>
              <a:rPr lang="en-US" sz="2800" dirty="0" smtClean="0">
                <a:latin typeface="Comic Sans MS"/>
              </a:rPr>
              <a:t>., using time &amp; samples </a:t>
            </a:r>
            <a:r>
              <a:rPr lang="en-US" sz="2800" dirty="0" err="1" smtClean="0">
                <a:latin typeface="Comic Sans MS"/>
              </a:rPr>
              <a:t>poly(t</a:t>
            </a:r>
            <a:r>
              <a:rPr lang="en-US" sz="2800" dirty="0" smtClean="0">
                <a:latin typeface="Comic Sans MS"/>
              </a:rPr>
              <a:t>, </a:t>
            </a:r>
            <a:r>
              <a:rPr lang="en-US" sz="2800" dirty="0" err="1" smtClean="0">
                <a:latin typeface="Comic Sans MS"/>
              </a:rPr>
              <a:t>n</a:t>
            </a:r>
            <a:r>
              <a:rPr lang="en-US" sz="2800" dirty="0" smtClean="0">
                <a:latin typeface="Comic Sans MS"/>
              </a:rPr>
              <a:t>, 1/ε).</a:t>
            </a:r>
          </a:p>
          <a:p>
            <a:pPr>
              <a:buNone/>
            </a:pPr>
            <a:endParaRPr lang="en-US" sz="2800" dirty="0" smtClean="0">
              <a:latin typeface="Comic Sans MS"/>
            </a:endParaRPr>
          </a:p>
          <a:p>
            <a:pPr>
              <a:buNone/>
            </a:pPr>
            <a:endParaRPr lang="en-US" sz="2800" dirty="0" smtClean="0">
              <a:latin typeface="Comic Sans MS"/>
            </a:endParaRPr>
          </a:p>
          <a:p>
            <a:pPr marL="514350" indent="-514350">
              <a:buNone/>
            </a:pPr>
            <a:endParaRPr lang="en-US" sz="2800" dirty="0" smtClean="0">
              <a:latin typeface="Comic Sans MS"/>
            </a:endParaRPr>
          </a:p>
          <a:p>
            <a:pPr marL="514350" indent="-514350">
              <a:buNone/>
            </a:pPr>
            <a:endParaRPr lang="en-US" sz="2800" dirty="0" smtClean="0">
              <a:latin typeface="Comic Sans MS"/>
            </a:endParaRPr>
          </a:p>
          <a:p>
            <a:pPr marL="514350" indent="-514350">
              <a:buNone/>
            </a:pPr>
            <a:r>
              <a:rPr lang="en-US" sz="2800" dirty="0" smtClean="0">
                <a:latin typeface="Comic Sans MS"/>
              </a:rPr>
              <a:t>- Fourier representation for single term T is simple: </a:t>
            </a:r>
          </a:p>
          <a:p>
            <a:pPr marL="514350" indent="-514350">
              <a:buNone/>
            </a:pPr>
            <a:r>
              <a:rPr lang="en-US" sz="2800" dirty="0" smtClean="0">
                <a:latin typeface="Comic Sans MS"/>
              </a:rPr>
              <a:t>                 </a:t>
            </a:r>
          </a:p>
          <a:p>
            <a:pPr>
              <a:buNone/>
            </a:pPr>
            <a:r>
              <a:rPr lang="en-US" sz="2800" dirty="0" smtClean="0">
                <a:latin typeface="Comic Sans MS"/>
              </a:rPr>
              <a:t>- Fourier </a:t>
            </a:r>
            <a:r>
              <a:rPr lang="en-US" sz="2800" dirty="0" err="1" smtClean="0">
                <a:latin typeface="Comic Sans MS"/>
              </a:rPr>
              <a:t>coeffi</a:t>
            </a:r>
            <a:r>
              <a:rPr lang="en-US" sz="2800" dirty="0" smtClean="0">
                <a:latin typeface="Comic Sans MS"/>
              </a:rPr>
              <a:t>. for S of </a:t>
            </a:r>
            <a:r>
              <a:rPr lang="en-US" sz="2800" dirty="0" err="1" smtClean="0">
                <a:latin typeface="Comic Sans MS"/>
              </a:rPr>
              <a:t>f</a:t>
            </a:r>
            <a:r>
              <a:rPr lang="en-US" sz="2800" dirty="0" smtClean="0">
                <a:latin typeface="Comic Sans MS"/>
              </a:rPr>
              <a:t>:</a:t>
            </a:r>
          </a:p>
          <a:p>
            <a:pPr>
              <a:buNone/>
            </a:pPr>
            <a:endParaRPr lang="en-US" sz="2800" dirty="0" smtClean="0">
              <a:latin typeface="Comic Sans MS"/>
            </a:endParaRPr>
          </a:p>
          <a:p>
            <a:pPr>
              <a:buNone/>
            </a:pPr>
            <a:endParaRPr lang="en-US" sz="2800" dirty="0" smtClean="0">
              <a:latin typeface="Comic Sans MS"/>
            </a:endParaRPr>
          </a:p>
          <a:p>
            <a:pPr>
              <a:buNone/>
            </a:pPr>
            <a:r>
              <a:rPr lang="en-US" sz="2800" dirty="0" smtClean="0">
                <a:latin typeface="Comic Sans MS"/>
              </a:rPr>
              <a:t>- For each T</a:t>
            </a:r>
            <a:r>
              <a:rPr lang="en-US" sz="2800" baseline="-25000" dirty="0" smtClean="0">
                <a:latin typeface="Comic Sans MS"/>
              </a:rPr>
              <a:t>i</a:t>
            </a:r>
            <a:r>
              <a:rPr lang="en-US" sz="2800" dirty="0" smtClean="0">
                <a:latin typeface="Comic Sans MS"/>
              </a:rPr>
              <a:t>, L1-length is 1, we have L1(f) ≤</a:t>
            </a:r>
            <a:r>
              <a:rPr lang="en-US" sz="2800" dirty="0" err="1" smtClean="0">
                <a:latin typeface="Comic Sans MS"/>
              </a:rPr>
              <a:t>t</a:t>
            </a:r>
            <a:r>
              <a:rPr lang="en-US" sz="2800" dirty="0" smtClean="0">
                <a:latin typeface="Comic Sans MS"/>
              </a:rPr>
              <a:t>. </a:t>
            </a:r>
          </a:p>
          <a:p>
            <a:pPr>
              <a:buNone/>
            </a:pPr>
            <a:r>
              <a:rPr lang="en-US" sz="2800" dirty="0" smtClean="0">
                <a:latin typeface="Comic Sans MS"/>
              </a:rPr>
              <a:t>=&gt; for any thresh </a:t>
            </a:r>
            <a:r>
              <a:rPr lang="en-US" sz="2800" dirty="0" err="1" smtClean="0">
                <a:latin typeface="Comic Sans MS"/>
              </a:rPr>
              <a:t>θ</a:t>
            </a:r>
            <a:r>
              <a:rPr lang="en-US" sz="2800" dirty="0" smtClean="0">
                <a:latin typeface="Comic Sans MS"/>
              </a:rPr>
              <a:t>, at most </a:t>
            </a:r>
            <a:r>
              <a:rPr lang="en-US" sz="2800" dirty="0" err="1" smtClean="0">
                <a:latin typeface="Comic Sans MS"/>
              </a:rPr>
              <a:t>t/θ</a:t>
            </a:r>
            <a:r>
              <a:rPr lang="en-US" sz="2800" dirty="0" smtClean="0">
                <a:latin typeface="Comic Sans MS"/>
              </a:rPr>
              <a:t> </a:t>
            </a:r>
            <a:r>
              <a:rPr lang="en-US" sz="2800" dirty="0" err="1" smtClean="0">
                <a:latin typeface="Comic Sans MS"/>
              </a:rPr>
              <a:t>coeffi</a:t>
            </a:r>
            <a:r>
              <a:rPr lang="en-US" sz="2800" dirty="0" smtClean="0">
                <a:latin typeface="Comic Sans MS"/>
              </a:rPr>
              <a:t>. of mag. ≥ </a:t>
            </a:r>
            <a:r>
              <a:rPr lang="en-US" sz="2800" dirty="0" err="1" smtClean="0">
                <a:latin typeface="Comic Sans MS"/>
              </a:rPr>
              <a:t>θ</a:t>
            </a:r>
            <a:r>
              <a:rPr lang="en-US" sz="2800" dirty="0" smtClean="0">
                <a:latin typeface="Comic Sans MS"/>
              </a:rPr>
              <a:t>.</a:t>
            </a:r>
          </a:p>
          <a:p>
            <a:pPr>
              <a:buFont typeface="Symbol" charset="2"/>
              <a:buChar char=""/>
            </a:pPr>
            <a:endParaRPr lang="en-US" sz="2800" dirty="0" smtClean="0">
              <a:latin typeface="Comic Sans MS"/>
            </a:endParaRPr>
          </a:p>
          <a:p>
            <a:pPr>
              <a:buNone/>
            </a:pPr>
            <a:endParaRPr lang="en-US" sz="2800" dirty="0" smtClean="0">
              <a:latin typeface="Comic Sans M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33400" y="1600200"/>
            <a:ext cx="8077200" cy="1600200"/>
          </a:xfrm>
          <a:prstGeom prst="roundRect">
            <a:avLst/>
          </a:prstGeom>
          <a:noFill/>
          <a:ln w="57150" cmpd="sng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Pictur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051346"/>
            <a:ext cx="8190476" cy="368254"/>
          </a:xfrm>
          <a:prstGeom prst="rect">
            <a:avLst/>
          </a:prstGeom>
        </p:spPr>
      </p:pic>
      <p:pic>
        <p:nvPicPr>
          <p:cNvPr id="10" name="Picture 9" descr="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4406959"/>
            <a:ext cx="3911111" cy="469841"/>
          </a:xfrm>
          <a:prstGeom prst="rect">
            <a:avLst/>
          </a:prstGeom>
        </p:spPr>
      </p:pic>
      <p:pic>
        <p:nvPicPr>
          <p:cNvPr id="11" name="Picture 10" descr="Picture 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9064" y="4953000"/>
            <a:ext cx="3707936" cy="4698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34400" y="4038600"/>
            <a:ext cx="6589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 smtClean="0">
                <a:latin typeface="Comic Sans MS"/>
              </a:rPr>
              <a:t>otw</a:t>
            </a:r>
            <a:endParaRPr lang="en-US" sz="2200" dirty="0">
              <a:latin typeface="Comic Sans M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36310" y="2514600"/>
            <a:ext cx="49216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 smtClean="0">
                <a:latin typeface="Comic Sans MS"/>
              </a:rPr>
              <a:t>f(x</a:t>
            </a:r>
            <a:r>
              <a:rPr lang="en-US" sz="2800" dirty="0" smtClean="0">
                <a:latin typeface="Comic Sans MS"/>
              </a:rPr>
              <a:t>) = T</a:t>
            </a:r>
            <a:r>
              <a:rPr lang="en-US" sz="2800" baseline="-25000" dirty="0" smtClean="0">
                <a:latin typeface="Comic Sans MS"/>
              </a:rPr>
              <a:t>1</a:t>
            </a:r>
            <a:r>
              <a:rPr lang="en-US" sz="2800" dirty="0" smtClean="0">
                <a:latin typeface="Comic Sans MS"/>
              </a:rPr>
              <a:t>(x)+T</a:t>
            </a:r>
            <a:r>
              <a:rPr lang="en-US" sz="2800" baseline="-25000" dirty="0" smtClean="0">
                <a:latin typeface="Comic Sans MS"/>
              </a:rPr>
              <a:t>2</a:t>
            </a:r>
            <a:r>
              <a:rPr lang="en-US" sz="2800" dirty="0" smtClean="0">
                <a:latin typeface="Comic Sans MS"/>
              </a:rPr>
              <a:t>(x)+ … +</a:t>
            </a:r>
            <a:r>
              <a:rPr lang="en-US" sz="2800" dirty="0" err="1" smtClean="0">
                <a:latin typeface="Comic Sans MS"/>
              </a:rPr>
              <a:t>T</a:t>
            </a:r>
            <a:r>
              <a:rPr lang="en-US" sz="2800" baseline="-25000" dirty="0" err="1" smtClean="0">
                <a:latin typeface="Comic Sans MS"/>
              </a:rPr>
              <a:t>t</a:t>
            </a:r>
            <a:r>
              <a:rPr lang="en-US" sz="2800" dirty="0" err="1" smtClean="0">
                <a:latin typeface="Comic Sans MS"/>
              </a:rPr>
              <a:t>(x</a:t>
            </a:r>
            <a:r>
              <a:rPr lang="en-US" sz="2800" dirty="0" smtClean="0">
                <a:latin typeface="Comic Sans MS"/>
              </a:rPr>
              <a:t>)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243223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 smtClean="0">
                <a:solidFill>
                  <a:srgbClr val="800000"/>
                </a:solidFill>
                <a:latin typeface="Comic Sans MS"/>
              </a:rPr>
              <a:t>Observations:</a:t>
            </a:r>
            <a:r>
              <a:rPr lang="en-US" sz="2600" dirty="0" smtClean="0">
                <a:latin typeface="Comic Sans MS"/>
              </a:rPr>
              <a:t> </a:t>
            </a:r>
            <a:endParaRPr lang="en-US" sz="2600" dirty="0">
              <a:latin typeface="Comic Sans MS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err="1" smtClean="0">
                <a:solidFill>
                  <a:srgbClr val="800000"/>
                </a:solidFill>
                <a:latin typeface="Comic Sans MS"/>
              </a:rPr>
              <a:t>Alg</a:t>
            </a: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: learn DNF </a:t>
            </a:r>
            <a:r>
              <a:rPr lang="en-US" sz="4000" dirty="0" err="1" smtClean="0">
                <a:solidFill>
                  <a:srgbClr val="800000"/>
                </a:solidFill>
                <a:latin typeface="Comic Sans MS"/>
              </a:rPr>
              <a:t>w</a:t>
            </a: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/ numerical query </a:t>
            </a:r>
            <a:endParaRPr lang="en-US" sz="4000" dirty="0">
              <a:solidFill>
                <a:srgbClr val="800000"/>
              </a:solidFill>
              <a:latin typeface="Comic Sans M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Autofit/>
          </a:bodyPr>
          <a:lstStyle/>
          <a:p>
            <a:r>
              <a:rPr lang="en-US" sz="2300" dirty="0" smtClean="0">
                <a:latin typeface="Comic Sans MS"/>
              </a:rPr>
              <a:t>Examine each parity fn of size 1 &amp; </a:t>
            </a:r>
            <a:r>
              <a:rPr lang="en-US" sz="2300" dirty="0" err="1" smtClean="0">
                <a:latin typeface="Comic Sans MS"/>
              </a:rPr>
              <a:t>est</a:t>
            </a:r>
            <a:r>
              <a:rPr lang="en-US" sz="2300" dirty="0" smtClean="0">
                <a:latin typeface="Comic Sans MS"/>
              </a:rPr>
              <a:t> its Fourier </a:t>
            </a:r>
            <a:r>
              <a:rPr lang="en-US" sz="2300" dirty="0" err="1" smtClean="0">
                <a:latin typeface="Comic Sans MS"/>
              </a:rPr>
              <a:t>coeffi</a:t>
            </a:r>
            <a:r>
              <a:rPr lang="en-US" sz="2300" dirty="0" smtClean="0">
                <a:latin typeface="Comic Sans MS"/>
              </a:rPr>
              <a:t>. from data (up to </a:t>
            </a:r>
            <a:r>
              <a:rPr lang="en-US" sz="2300" dirty="0" err="1" smtClean="0">
                <a:latin typeface="Comic Sans MS"/>
              </a:rPr>
              <a:t>accu</a:t>
            </a:r>
            <a:r>
              <a:rPr lang="en-US" sz="2300" dirty="0" smtClean="0">
                <a:latin typeface="Comic Sans MS"/>
              </a:rPr>
              <a:t>. θ/4). Set </a:t>
            </a:r>
            <a:r>
              <a:rPr lang="en-US" sz="2300" dirty="0" err="1" smtClean="0">
                <a:latin typeface="Comic Sans MS"/>
              </a:rPr>
              <a:t>θ</a:t>
            </a:r>
            <a:r>
              <a:rPr lang="en-US" sz="2300" dirty="0" smtClean="0">
                <a:latin typeface="Comic Sans MS"/>
              </a:rPr>
              <a:t> =</a:t>
            </a:r>
            <a:r>
              <a:rPr lang="en-US" sz="2300" dirty="0" smtClean="0">
                <a:latin typeface="Lucida Grande"/>
                <a:ea typeface="Lucida Grande"/>
                <a:cs typeface="Lucida Grande"/>
              </a:rPr>
              <a:t>ε/(8t)</a:t>
            </a:r>
            <a:r>
              <a:rPr lang="en-US" sz="2300" dirty="0" smtClean="0">
                <a:latin typeface="Comic Sans MS"/>
              </a:rPr>
              <a:t>  </a:t>
            </a:r>
          </a:p>
          <a:p>
            <a:r>
              <a:rPr lang="en-US" sz="2300" dirty="0" smtClean="0">
                <a:latin typeface="Comic Sans MS"/>
              </a:rPr>
              <a:t>Place all </a:t>
            </a:r>
            <a:r>
              <a:rPr lang="en-US" sz="2300" dirty="0" err="1" smtClean="0">
                <a:latin typeface="Comic Sans MS"/>
              </a:rPr>
              <a:t>coeffi</a:t>
            </a:r>
            <a:r>
              <a:rPr lang="en-US" sz="2300" dirty="0" smtClean="0">
                <a:latin typeface="Comic Sans MS"/>
              </a:rPr>
              <a:t>. of mag. ≥ θ/2 into a list L1.</a:t>
            </a:r>
          </a:p>
          <a:p>
            <a:r>
              <a:rPr lang="en-US" sz="2300" dirty="0" smtClean="0">
                <a:latin typeface="Comic Sans MS"/>
              </a:rPr>
              <a:t>For </a:t>
            </a:r>
            <a:r>
              <a:rPr lang="en-US" sz="2300" dirty="0" err="1" smtClean="0">
                <a:latin typeface="Comic Sans MS"/>
              </a:rPr>
              <a:t>j</a:t>
            </a:r>
            <a:r>
              <a:rPr lang="en-US" sz="2300" dirty="0" smtClean="0">
                <a:latin typeface="Comic Sans MS"/>
              </a:rPr>
              <a:t> = 2, 3, ... </a:t>
            </a:r>
            <a:r>
              <a:rPr lang="en-US" sz="2300" b="1" dirty="0" smtClean="0">
                <a:solidFill>
                  <a:srgbClr val="FF0000"/>
                </a:solidFill>
                <a:latin typeface="Comic Sans MS"/>
              </a:rPr>
              <a:t>repeat</a:t>
            </a:r>
            <a:r>
              <a:rPr lang="en-US" sz="2300" dirty="0" smtClean="0">
                <a:latin typeface="Comic Sans MS"/>
              </a:rPr>
              <a:t>: </a:t>
            </a:r>
          </a:p>
          <a:p>
            <a:pPr>
              <a:buNone/>
            </a:pPr>
            <a:r>
              <a:rPr lang="en-US" sz="2300" dirty="0" smtClean="0">
                <a:latin typeface="Comic Sans MS"/>
              </a:rPr>
              <a:t>        - For each parity fn Φ</a:t>
            </a:r>
            <a:r>
              <a:rPr lang="en-US" sz="2300" baseline="-25000" dirty="0" smtClean="0">
                <a:latin typeface="Comic Sans MS"/>
              </a:rPr>
              <a:t>S</a:t>
            </a:r>
            <a:r>
              <a:rPr lang="en-US" sz="2300" dirty="0" smtClean="0">
                <a:latin typeface="Comic Sans MS"/>
              </a:rPr>
              <a:t> in list L</a:t>
            </a:r>
            <a:r>
              <a:rPr lang="en-US" sz="2300" baseline="30000" dirty="0" smtClean="0">
                <a:latin typeface="Comic Sans MS"/>
              </a:rPr>
              <a:t>j-1</a:t>
            </a:r>
            <a:r>
              <a:rPr lang="en-US" sz="2300" dirty="0" smtClean="0">
                <a:latin typeface="Comic Sans MS"/>
              </a:rPr>
              <a:t> and each x</a:t>
            </a:r>
            <a:r>
              <a:rPr lang="en-US" sz="2300" baseline="-25000" dirty="0" smtClean="0">
                <a:latin typeface="Comic Sans MS"/>
              </a:rPr>
              <a:t>i</a:t>
            </a:r>
            <a:r>
              <a:rPr lang="en-US" sz="2300" dirty="0" smtClean="0">
                <a:latin typeface="Comic Sans MS"/>
              </a:rPr>
              <a:t> not in S, </a:t>
            </a:r>
            <a:r>
              <a:rPr lang="en-US" sz="2300" dirty="0" err="1" smtClean="0">
                <a:latin typeface="Comic Sans MS"/>
              </a:rPr>
              <a:t>est</a:t>
            </a:r>
            <a:r>
              <a:rPr lang="en-US" sz="2300" dirty="0" smtClean="0">
                <a:latin typeface="Comic Sans MS"/>
              </a:rPr>
              <a:t> Fourier </a:t>
            </a:r>
            <a:r>
              <a:rPr lang="en-US" sz="2300" dirty="0" err="1" smtClean="0">
                <a:latin typeface="Comic Sans MS"/>
              </a:rPr>
              <a:t>coeffi</a:t>
            </a:r>
            <a:r>
              <a:rPr lang="en-US" sz="2300" dirty="0" smtClean="0">
                <a:latin typeface="Comic Sans MS"/>
              </a:rPr>
              <a:t>. of </a:t>
            </a:r>
          </a:p>
          <a:p>
            <a:pPr>
              <a:buNone/>
            </a:pPr>
            <a:r>
              <a:rPr lang="en-US" sz="2300" dirty="0" smtClean="0">
                <a:latin typeface="Comic Sans MS"/>
              </a:rPr>
              <a:t>        - If est. is ≥ θ/2, add it to list </a:t>
            </a:r>
            <a:r>
              <a:rPr lang="en-US" sz="2300" dirty="0" err="1" smtClean="0">
                <a:latin typeface="Comic Sans MS"/>
              </a:rPr>
              <a:t>L</a:t>
            </a:r>
            <a:r>
              <a:rPr lang="en-US" sz="2300" baseline="30000" dirty="0" err="1" smtClean="0">
                <a:latin typeface="Comic Sans MS"/>
              </a:rPr>
              <a:t>j</a:t>
            </a:r>
            <a:r>
              <a:rPr lang="en-US" sz="2300" dirty="0" smtClean="0">
                <a:latin typeface="Comic Sans MS"/>
              </a:rPr>
              <a:t> (if not already in) </a:t>
            </a:r>
          </a:p>
          <a:p>
            <a:pPr>
              <a:buNone/>
            </a:pPr>
            <a:r>
              <a:rPr lang="en-US" sz="2300" dirty="0" smtClean="0">
                <a:latin typeface="Comic Sans MS"/>
              </a:rPr>
              <a:t>        - maintain list </a:t>
            </a:r>
            <a:r>
              <a:rPr lang="en-US" sz="2300" dirty="0" err="1" smtClean="0">
                <a:latin typeface="Comic Sans MS"/>
              </a:rPr>
              <a:t>L</a:t>
            </a:r>
            <a:r>
              <a:rPr lang="en-US" sz="2300" baseline="30000" dirty="0" err="1" smtClean="0">
                <a:latin typeface="Comic Sans MS"/>
              </a:rPr>
              <a:t>j</a:t>
            </a:r>
            <a:r>
              <a:rPr lang="en-US" sz="2300" dirty="0" smtClean="0">
                <a:latin typeface="Comic Sans MS"/>
              </a:rPr>
              <a:t>: size-</a:t>
            </a:r>
            <a:r>
              <a:rPr lang="en-US" sz="2300" dirty="0" err="1" smtClean="0">
                <a:latin typeface="Comic Sans MS"/>
              </a:rPr>
              <a:t>j</a:t>
            </a:r>
            <a:r>
              <a:rPr lang="en-US" sz="2300" dirty="0" smtClean="0">
                <a:latin typeface="Comic Sans MS"/>
              </a:rPr>
              <a:t> parity fns </a:t>
            </a:r>
            <a:r>
              <a:rPr lang="en-US" sz="2300" dirty="0" err="1" smtClean="0">
                <a:latin typeface="Comic Sans MS"/>
              </a:rPr>
              <a:t>w</a:t>
            </a:r>
            <a:r>
              <a:rPr lang="en-US" sz="2300" dirty="0" smtClean="0">
                <a:latin typeface="Comic Sans MS"/>
              </a:rPr>
              <a:t>/ </a:t>
            </a:r>
            <a:r>
              <a:rPr lang="en-US" sz="2300" dirty="0" err="1" smtClean="0">
                <a:latin typeface="Comic Sans MS"/>
              </a:rPr>
              <a:t>coeffi</a:t>
            </a:r>
            <a:r>
              <a:rPr lang="en-US" sz="2300" dirty="0" smtClean="0">
                <a:latin typeface="Comic Sans MS"/>
              </a:rPr>
              <a:t>. mag. ≥ </a:t>
            </a:r>
            <a:r>
              <a:rPr lang="en-US" sz="2300" dirty="0" err="1" smtClean="0">
                <a:latin typeface="Comic Sans MS"/>
              </a:rPr>
              <a:t>θ</a:t>
            </a:r>
            <a:r>
              <a:rPr lang="en-US" sz="2300" dirty="0" smtClean="0">
                <a:latin typeface="Comic Sans MS"/>
              </a:rPr>
              <a:t>.</a:t>
            </a:r>
          </a:p>
          <a:p>
            <a:r>
              <a:rPr lang="en-US" sz="2300" dirty="0" smtClean="0">
                <a:latin typeface="Comic Sans MS"/>
              </a:rPr>
              <a:t>Construct fn </a:t>
            </a:r>
            <a:r>
              <a:rPr lang="en-US" sz="2300" dirty="0" err="1" smtClean="0">
                <a:latin typeface="Comic Sans MS"/>
              </a:rPr>
              <a:t>g</a:t>
            </a:r>
            <a:r>
              <a:rPr lang="en-US" sz="2300" dirty="0" smtClean="0">
                <a:latin typeface="Comic Sans MS"/>
              </a:rPr>
              <a:t>: weight sum of parities for identified </a:t>
            </a:r>
            <a:r>
              <a:rPr lang="en-US" sz="2300" dirty="0" err="1" smtClean="0">
                <a:latin typeface="Comic Sans MS"/>
              </a:rPr>
              <a:t>coeff</a:t>
            </a:r>
            <a:r>
              <a:rPr lang="en-US" sz="2300" dirty="0" smtClean="0">
                <a:latin typeface="Comic Sans MS"/>
              </a:rPr>
              <a:t>. </a:t>
            </a:r>
          </a:p>
          <a:p>
            <a:r>
              <a:rPr lang="en-US" sz="2300" dirty="0" smtClean="0">
                <a:latin typeface="Comic Sans MS"/>
              </a:rPr>
              <a:t>Output fn </a:t>
            </a:r>
            <a:r>
              <a:rPr lang="en-US" sz="2300" dirty="0" err="1" smtClean="0">
                <a:latin typeface="Comic Sans MS"/>
              </a:rPr>
              <a:t>h(x</a:t>
            </a:r>
            <a:r>
              <a:rPr lang="en-US" sz="2300" dirty="0" smtClean="0">
                <a:latin typeface="Comic Sans MS"/>
              </a:rPr>
              <a:t>) = [</a:t>
            </a:r>
            <a:r>
              <a:rPr lang="en-US" sz="2300" dirty="0" err="1" smtClean="0">
                <a:latin typeface="Comic Sans MS"/>
              </a:rPr>
              <a:t>g(x</a:t>
            </a:r>
            <a:r>
              <a:rPr lang="en-US" sz="2300" dirty="0" smtClean="0">
                <a:latin typeface="Comic Sans MS"/>
              </a:rPr>
              <a:t>)]</a:t>
            </a:r>
          </a:p>
          <a:p>
            <a:endParaRPr lang="en-US" sz="2300" dirty="0" smtClean="0">
              <a:latin typeface="Comic Sans M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 descr="Picture 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657600"/>
            <a:ext cx="1815873" cy="342857"/>
          </a:xfrm>
          <a:prstGeom prst="rect">
            <a:avLst/>
          </a:prstGeom>
        </p:spPr>
      </p:pic>
      <p:pic>
        <p:nvPicPr>
          <p:cNvPr id="7" name="Picture 6" descr="Picture 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162" y="5753162"/>
            <a:ext cx="6095238" cy="495238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rgbClr val="800000"/>
                </a:solidFill>
                <a:latin typeface="Comic Sans MS"/>
              </a:rPr>
              <a:t>Alg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: learn DNF </a:t>
            </a:r>
            <a:r>
              <a:rPr lang="en-US" dirty="0" err="1" smtClean="0">
                <a:solidFill>
                  <a:srgbClr val="800000"/>
                </a:solidFill>
                <a:latin typeface="Comic Sans MS"/>
              </a:rPr>
              <a:t>w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/ numerical query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latin typeface="Comic Sans MS"/>
              </a:rPr>
              <a:t>   </a:t>
            </a:r>
            <a:r>
              <a:rPr lang="en-US" sz="2800" dirty="0" err="1" smtClean="0">
                <a:solidFill>
                  <a:srgbClr val="800000"/>
                </a:solidFill>
                <a:latin typeface="Comic Sans MS"/>
              </a:rPr>
              <a:t>Thm</a:t>
            </a:r>
            <a:r>
              <a:rPr lang="en-US" sz="2800" dirty="0" smtClean="0">
                <a:solidFill>
                  <a:srgbClr val="800000"/>
                </a:solidFill>
              </a:rPr>
              <a:t>. </a:t>
            </a:r>
            <a:r>
              <a:rPr lang="en-US" sz="2800" dirty="0" smtClean="0">
                <a:latin typeface="Comic Sans MS"/>
              </a:rPr>
              <a:t>Under the uniform distribution, with numerical </a:t>
            </a:r>
            <a:r>
              <a:rPr lang="en-US" sz="2800" dirty="0" err="1" smtClean="0">
                <a:latin typeface="Comic Sans MS"/>
              </a:rPr>
              <a:t>pairwise</a:t>
            </a:r>
            <a:r>
              <a:rPr lang="en-US" sz="2800" dirty="0" smtClean="0">
                <a:latin typeface="Comic Sans MS"/>
              </a:rPr>
              <a:t> queries, we can learn any </a:t>
            </a:r>
            <a:r>
              <a:rPr lang="en-US" sz="2800" dirty="0" err="1" smtClean="0">
                <a:latin typeface="Comic Sans MS"/>
              </a:rPr>
              <a:t>poly(n</a:t>
            </a:r>
            <a:r>
              <a:rPr lang="en-US" sz="2800" dirty="0" smtClean="0">
                <a:latin typeface="Comic Sans MS"/>
              </a:rPr>
              <a:t>)-term DNF.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33400" y="1600200"/>
            <a:ext cx="8077200" cy="1524000"/>
          </a:xfrm>
          <a:prstGeom prst="roundRect">
            <a:avLst/>
          </a:prstGeom>
          <a:noFill/>
          <a:ln w="57150" cmpd="sng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800000"/>
                </a:solidFill>
                <a:latin typeface="Comic Sans MS"/>
              </a:rPr>
              <a:t>r-Junta under </a:t>
            </a:r>
            <a:r>
              <a:rPr lang="en-US" dirty="0" err="1" smtClean="0">
                <a:solidFill>
                  <a:srgbClr val="800000"/>
                </a:solidFill>
                <a:latin typeface="Comic Sans MS"/>
              </a:rPr>
              <a:t>Unif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. (</a:t>
            </a:r>
            <a:r>
              <a:rPr lang="en-US" dirty="0" err="1" smtClean="0">
                <a:solidFill>
                  <a:srgbClr val="800000"/>
                </a:solidFill>
                <a:latin typeface="Comic Sans MS"/>
              </a:rPr>
              <a:t>r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 = log </a:t>
            </a:r>
            <a:r>
              <a:rPr lang="en-US" dirty="0" err="1" smtClean="0">
                <a:solidFill>
                  <a:srgbClr val="800000"/>
                </a:solidFill>
                <a:latin typeface="Comic Sans MS"/>
              </a:rPr>
              <a:t>n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)</a:t>
            </a:r>
            <a:br>
              <a:rPr lang="en-US" dirty="0" smtClean="0">
                <a:solidFill>
                  <a:srgbClr val="800000"/>
                </a:solidFill>
                <a:latin typeface="Comic Sans MS"/>
              </a:rPr>
            </a:br>
            <a:r>
              <a:rPr lang="en-US" dirty="0" smtClean="0">
                <a:solidFill>
                  <a:srgbClr val="800000"/>
                </a:solidFill>
                <a:latin typeface="Comic Sans MS"/>
              </a:rPr>
              <a:t>Using Boolean Query </a:t>
            </a:r>
            <a:br>
              <a:rPr lang="en-US" dirty="0" smtClean="0">
                <a:solidFill>
                  <a:srgbClr val="800000"/>
                </a:solidFill>
                <a:latin typeface="Comic Sans MS"/>
              </a:rPr>
            </a:br>
            <a:endParaRPr lang="en-US" dirty="0">
              <a:solidFill>
                <a:srgbClr val="800000"/>
              </a:solidFill>
              <a:latin typeface="Comic Sans M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solidFill>
                  <a:srgbClr val="800000"/>
                </a:solidFill>
                <a:latin typeface="Comic Sans MS"/>
              </a:rPr>
              <a:t>Lemma.</a:t>
            </a:r>
            <a:r>
              <a:rPr lang="en-US" sz="2800" dirty="0" smtClean="0">
                <a:latin typeface="Comic Sans MS"/>
              </a:rPr>
              <a:t> For </a:t>
            </a:r>
            <a:r>
              <a:rPr lang="en-US" sz="2800" dirty="0" err="1" smtClean="0">
                <a:latin typeface="Comic Sans MS"/>
              </a:rPr>
              <a:t>x</a:t>
            </a:r>
            <a:r>
              <a:rPr lang="en-US" sz="2800" dirty="0" smtClean="0">
                <a:latin typeface="Comic Sans MS"/>
              </a:rPr>
              <a:t> and </a:t>
            </a:r>
            <a:r>
              <a:rPr lang="en-US" sz="2800" dirty="0" err="1" smtClean="0">
                <a:latin typeface="Comic Sans MS"/>
              </a:rPr>
              <a:t>y</a:t>
            </a:r>
            <a:r>
              <a:rPr lang="en-US" sz="2800" dirty="0" smtClean="0">
                <a:latin typeface="Comic Sans MS"/>
              </a:rPr>
              <a:t> </a:t>
            </a:r>
            <a:r>
              <a:rPr lang="en-US" sz="2800" dirty="0" err="1" smtClean="0">
                <a:latin typeface="Comic Sans MS"/>
              </a:rPr>
              <a:t>ind</a:t>
            </a:r>
            <a:r>
              <a:rPr lang="en-US" sz="2800" dirty="0" smtClean="0">
                <a:latin typeface="Comic Sans MS"/>
              </a:rPr>
              <a:t>. </a:t>
            </a:r>
            <a:r>
              <a:rPr lang="en-US" sz="2800" dirty="0" err="1" smtClean="0">
                <a:latin typeface="Comic Sans MS"/>
              </a:rPr>
              <a:t>unif</a:t>
            </a:r>
            <a:r>
              <a:rPr lang="en-US" sz="2800" dirty="0" smtClean="0">
                <a:latin typeface="Comic Sans MS"/>
              </a:rPr>
              <a:t>. samples, if target fn has </a:t>
            </a:r>
            <a:r>
              <a:rPr lang="en-US" sz="2800" dirty="0" err="1" smtClean="0">
                <a:latin typeface="Comic Sans MS"/>
              </a:rPr>
              <a:t>r</a:t>
            </a:r>
            <a:r>
              <a:rPr lang="en-US" sz="2800" dirty="0" smtClean="0">
                <a:latin typeface="Comic Sans MS"/>
              </a:rPr>
              <a:t> relevant variables, and the </a:t>
            </a:r>
            <a:r>
              <a:rPr lang="en-US" sz="2800" dirty="0" err="1" smtClean="0">
                <a:latin typeface="Comic Sans MS"/>
              </a:rPr>
              <a:t>ith</a:t>
            </a:r>
            <a:r>
              <a:rPr lang="en-US" sz="2800" dirty="0" smtClean="0">
                <a:latin typeface="Comic Sans MS"/>
              </a:rPr>
              <a:t> variable is relevant in target fn, then</a:t>
            </a:r>
            <a:endParaRPr lang="en-US" sz="2800" dirty="0">
              <a:latin typeface="Comic Sans M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 descr="Picture 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556" y="2971800"/>
            <a:ext cx="1663492" cy="355556"/>
          </a:xfrm>
          <a:prstGeom prst="rect">
            <a:avLst/>
          </a:prstGeom>
        </p:spPr>
      </p:pic>
      <p:pic>
        <p:nvPicPr>
          <p:cNvPr id="7" name="Picture 6" descr="Picture 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971800"/>
            <a:ext cx="7111111" cy="40634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91152" y="1600200"/>
            <a:ext cx="8876648" cy="1777949"/>
          </a:xfrm>
          <a:prstGeom prst="roundRect">
            <a:avLst/>
          </a:prstGeom>
          <a:noFill/>
          <a:ln w="57150" cmpd="sng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rgbClr val="800000"/>
                </a:solidFill>
                <a:latin typeface="Comic Sans MS"/>
              </a:rPr>
              <a:t>Alg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: Learn (log </a:t>
            </a:r>
            <a:r>
              <a:rPr lang="en-US" dirty="0" err="1" smtClean="0">
                <a:solidFill>
                  <a:srgbClr val="800000"/>
                </a:solidFill>
                <a:latin typeface="Comic Sans MS"/>
              </a:rPr>
              <a:t>n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)-Junta</a:t>
            </a:r>
            <a:endParaRPr lang="en-US" dirty="0">
              <a:solidFill>
                <a:srgbClr val="800000"/>
              </a:solidFill>
              <a:latin typeface="Comic Sans M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latin typeface="Comic Sans MS"/>
              </a:rPr>
              <a:t>  </a:t>
            </a:r>
            <a:r>
              <a:rPr lang="en-US" sz="2800" dirty="0" err="1" smtClean="0">
                <a:latin typeface="Comic Sans MS"/>
              </a:rPr>
              <a:t>Thm</a:t>
            </a:r>
            <a:r>
              <a:rPr lang="en-US" sz="2800" dirty="0" smtClean="0">
                <a:latin typeface="Comic Sans MS"/>
              </a:rPr>
              <a:t>. Under </a:t>
            </a:r>
            <a:r>
              <a:rPr lang="en-US" sz="2800" dirty="0" err="1" smtClean="0">
                <a:latin typeface="Comic Sans MS"/>
              </a:rPr>
              <a:t>Unif</a:t>
            </a:r>
            <a:r>
              <a:rPr lang="en-US" sz="2800" dirty="0" smtClean="0">
                <a:latin typeface="Comic Sans MS"/>
              </a:rPr>
              <a:t>., with </a:t>
            </a:r>
            <a:r>
              <a:rPr lang="en-US" sz="2800" dirty="0" err="1" smtClean="0">
                <a:latin typeface="Comic Sans MS"/>
              </a:rPr>
              <a:t>boolean</a:t>
            </a:r>
            <a:r>
              <a:rPr lang="en-US" sz="2800" dirty="0" smtClean="0">
                <a:latin typeface="Comic Sans MS"/>
              </a:rPr>
              <a:t> queries, can properly learn any DNF having </a:t>
            </a:r>
            <a:r>
              <a:rPr lang="en-US" sz="2800" dirty="0" err="1" smtClean="0">
                <a:latin typeface="Comic Sans MS"/>
              </a:rPr>
              <a:t>O(log(n</a:t>
            </a:r>
            <a:r>
              <a:rPr lang="en-US" sz="2800" dirty="0" smtClean="0">
                <a:latin typeface="Comic Sans MS"/>
              </a:rPr>
              <a:t>)) relevant </a:t>
            </a:r>
            <a:r>
              <a:rPr lang="en-US" sz="2800" dirty="0" err="1" smtClean="0">
                <a:latin typeface="Comic Sans MS"/>
              </a:rPr>
              <a:t>var.s</a:t>
            </a:r>
            <a:r>
              <a:rPr lang="en-US" sz="2800" dirty="0" smtClean="0">
                <a:latin typeface="Comic Sans MS"/>
              </a:rPr>
              <a:t> (</a:t>
            </a:r>
            <a:r>
              <a:rPr lang="en-US" sz="2800" b="1" dirty="0" smtClean="0">
                <a:solidFill>
                  <a:srgbClr val="FF0000"/>
                </a:solidFill>
                <a:latin typeface="Comic Sans MS"/>
              </a:rPr>
              <a:t>Junta</a:t>
            </a:r>
            <a:r>
              <a:rPr lang="en-US" sz="2800" dirty="0" smtClean="0">
                <a:latin typeface="Comic Sans MS"/>
              </a:rPr>
              <a:t>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33400" y="1600200"/>
            <a:ext cx="8077200" cy="1447800"/>
          </a:xfrm>
          <a:prstGeom prst="roundRect">
            <a:avLst/>
          </a:prstGeom>
          <a:noFill/>
          <a:ln w="57150" cmpd="sng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3475672"/>
            <a:ext cx="1074079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200" dirty="0" smtClean="0">
                <a:latin typeface="Comic Sans MS"/>
              </a:rPr>
              <a:t> - For each </a:t>
            </a:r>
            <a:r>
              <a:rPr lang="en-US" sz="2200" dirty="0" err="1" smtClean="0">
                <a:latin typeface="Comic Sans MS"/>
              </a:rPr>
              <a:t>i</a:t>
            </a:r>
            <a:r>
              <a:rPr lang="en-US" sz="2200" dirty="0" smtClean="0">
                <a:latin typeface="Comic Sans MS"/>
              </a:rPr>
              <a:t>, sample (16</a:t>
            </a:r>
            <a:r>
              <a:rPr lang="en-US" sz="2200" baseline="30000" dirty="0" smtClean="0">
                <a:latin typeface="Comic Sans MS"/>
              </a:rPr>
              <a:t>r</a:t>
            </a:r>
            <a:r>
              <a:rPr lang="en-US" sz="2200" dirty="0" smtClean="0">
                <a:latin typeface="Comic Sans MS"/>
              </a:rPr>
              <a:t> </a:t>
            </a:r>
            <a:r>
              <a:rPr lang="en-US" sz="2200" dirty="0" err="1" smtClean="0">
                <a:latin typeface="Comic Sans MS"/>
              </a:rPr>
              <a:t>log(n/</a:t>
            </a:r>
            <a:r>
              <a:rPr lang="en-US" sz="2200" dirty="0" err="1" smtClean="0">
                <a:latin typeface="Lucida Grande"/>
                <a:ea typeface="Lucida Grande"/>
                <a:cs typeface="Lucida Grande"/>
              </a:rPr>
              <a:t>δ</a:t>
            </a:r>
            <a:r>
              <a:rPr lang="en-US" sz="2200" dirty="0" smtClean="0">
                <a:latin typeface="Comic Sans MS"/>
              </a:rPr>
              <a:t>)) rand. pairs (</a:t>
            </a:r>
            <a:r>
              <a:rPr lang="en-US" sz="2200" dirty="0" err="1" smtClean="0">
                <a:latin typeface="Comic Sans MS"/>
              </a:rPr>
              <a:t>x</a:t>
            </a:r>
            <a:r>
              <a:rPr lang="en-US" sz="2200" dirty="0" smtClean="0">
                <a:latin typeface="Comic Sans MS"/>
              </a:rPr>
              <a:t>, </a:t>
            </a:r>
            <a:r>
              <a:rPr lang="en-US" sz="2200" dirty="0" err="1" smtClean="0">
                <a:latin typeface="Comic Sans MS"/>
              </a:rPr>
              <a:t>y</a:t>
            </a:r>
            <a:r>
              <a:rPr lang="en-US" sz="2200" dirty="0" smtClean="0">
                <a:latin typeface="Comic Sans MS"/>
              </a:rPr>
              <a:t>); </a:t>
            </a:r>
          </a:p>
          <a:p>
            <a:r>
              <a:rPr lang="en-US" sz="2200" dirty="0" smtClean="0">
                <a:latin typeface="Comic Sans MS"/>
              </a:rPr>
              <a:t>  - Evaluate </a:t>
            </a:r>
            <a:r>
              <a:rPr lang="en-US" sz="2200" dirty="0" err="1" smtClean="0">
                <a:latin typeface="Comic Sans MS"/>
              </a:rPr>
              <a:t>k(x</a:t>
            </a:r>
            <a:r>
              <a:rPr lang="en-US" sz="2200" dirty="0" smtClean="0">
                <a:latin typeface="Comic Sans MS"/>
              </a:rPr>
              <a:t>, </a:t>
            </a:r>
            <a:r>
              <a:rPr lang="en-US" sz="2200" dirty="0" err="1" smtClean="0">
                <a:latin typeface="Comic Sans MS"/>
              </a:rPr>
              <a:t>y</a:t>
            </a:r>
            <a:r>
              <a:rPr lang="en-US" sz="2200" dirty="0" smtClean="0">
                <a:latin typeface="Comic Sans MS"/>
              </a:rPr>
              <a:t>) </a:t>
            </a:r>
          </a:p>
          <a:p>
            <a:r>
              <a:rPr lang="en-US" sz="2200" dirty="0" smtClean="0">
                <a:latin typeface="Comic Sans MS"/>
              </a:rPr>
              <a:t>  - Calculate diff. of emp. </a:t>
            </a:r>
            <a:r>
              <a:rPr lang="en-US" sz="2200" dirty="0" err="1" smtClean="0">
                <a:latin typeface="Comic Sans MS"/>
              </a:rPr>
              <a:t>prob.s</a:t>
            </a:r>
            <a:r>
              <a:rPr lang="en-US" sz="2200" dirty="0" smtClean="0">
                <a:latin typeface="Comic Sans MS"/>
              </a:rPr>
              <a:t>.</a:t>
            </a:r>
          </a:p>
          <a:p>
            <a:r>
              <a:rPr lang="en-US" sz="2200" dirty="0" smtClean="0">
                <a:latin typeface="Comic Sans MS"/>
              </a:rPr>
              <a:t>  - 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If 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(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frac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. of pairs with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k(x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,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y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) = 1 </a:t>
            </a:r>
            <a:r>
              <a:rPr lang="en-US" sz="2200" dirty="0" smtClean="0">
                <a:solidFill>
                  <a:srgbClr val="FF0000"/>
                </a:solidFill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 xi =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yi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  </a:t>
            </a:r>
          </a:p>
          <a:p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    -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frac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. of pairs with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k(x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,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y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) = 1</a:t>
            </a:r>
            <a:r>
              <a:rPr lang="en-US" sz="2200" dirty="0" smtClean="0">
                <a:solidFill>
                  <a:srgbClr val="FF0000"/>
                </a:solidFill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mic Sans MS"/>
              </a:rPr>
              <a:t>x</a:t>
            </a:r>
            <a:r>
              <a:rPr lang="en-US" sz="2400" baseline="-25000" dirty="0" smtClean="0">
                <a:solidFill>
                  <a:srgbClr val="FF0000"/>
                </a:solidFill>
                <a:latin typeface="Comic Sans MS"/>
              </a:rPr>
              <a:t>i</a:t>
            </a:r>
            <a:r>
              <a:rPr lang="en-US" sz="2400" dirty="0" smtClean="0">
                <a:solidFill>
                  <a:srgbClr val="FF0000"/>
                </a:solidFill>
                <a:latin typeface="Comic Sans MS"/>
              </a:rPr>
              <a:t> ≠ </a:t>
            </a:r>
            <a:r>
              <a:rPr lang="en-US" sz="2400" dirty="0" err="1" smtClean="0">
                <a:solidFill>
                  <a:srgbClr val="FF0000"/>
                </a:solidFill>
                <a:latin typeface="Comic Sans MS"/>
              </a:rPr>
              <a:t>y</a:t>
            </a:r>
            <a:r>
              <a:rPr lang="en-US" sz="2400" baseline="-25000" dirty="0" err="1" smtClean="0">
                <a:solidFill>
                  <a:srgbClr val="FF0000"/>
                </a:solidFill>
                <a:latin typeface="Comic Sans MS"/>
              </a:rPr>
              <a:t>i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) &gt; (1/2)(1/4)</a:t>
            </a:r>
            <a:r>
              <a:rPr lang="en-US" sz="2200" baseline="30000" dirty="0" smtClean="0">
                <a:solidFill>
                  <a:srgbClr val="FF0000"/>
                </a:solidFill>
                <a:latin typeface="Comic Sans MS"/>
              </a:rPr>
              <a:t>r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, </a:t>
            </a:r>
            <a:endParaRPr lang="en-US" sz="2200" dirty="0" smtClean="0">
              <a:solidFill>
                <a:srgbClr val="FF0000"/>
              </a:solidFill>
              <a:latin typeface="Comic Sans MS"/>
            </a:endParaRPr>
          </a:p>
          <a:p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    then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var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i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 is rel.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, 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otw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200" dirty="0" err="1" smtClean="0">
                <a:solidFill>
                  <a:srgbClr val="FF0000"/>
                </a:solidFill>
                <a:latin typeface="Comic Sans MS"/>
              </a:rPr>
              <a:t>irrel</a:t>
            </a:r>
            <a:r>
              <a:rPr lang="en-US" sz="2200" dirty="0" smtClean="0">
                <a:solidFill>
                  <a:srgbClr val="FF0000"/>
                </a:solidFill>
                <a:latin typeface="Comic Sans MS"/>
              </a:rPr>
              <a:t>.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800000"/>
                </a:solidFill>
                <a:latin typeface="Comic Sans MS"/>
              </a:rPr>
              <a:t>Learn DNF having ≤ 2</a:t>
            </a:r>
            <a:r>
              <a:rPr lang="en-US" baseline="30000" dirty="0" smtClean="0">
                <a:solidFill>
                  <a:srgbClr val="800000"/>
                </a:solidFill>
                <a:latin typeface="Comic Sans MS"/>
              </a:rPr>
              <a:t>O(√log(n)) 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terms</a:t>
            </a:r>
            <a:endParaRPr lang="en-US" dirty="0">
              <a:solidFill>
                <a:srgbClr val="800000"/>
              </a:solidFill>
              <a:latin typeface="Comic Sans M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0" y="1524000"/>
            <a:ext cx="2298977" cy="1649682"/>
          </a:xfrm>
          <a:noFill/>
        </p:spPr>
        <p:txBody>
          <a:bodyPr wrap="none" rtlCol="0">
            <a:spAutoFit/>
          </a:bodyPr>
          <a:lstStyle/>
          <a:p>
            <a:pPr marL="0">
              <a:buNone/>
            </a:pPr>
            <a:r>
              <a:rPr lang="en-US" sz="2200" b="1" dirty="0" err="1" smtClean="0">
                <a:solidFill>
                  <a:srgbClr val="FF0000"/>
                </a:solidFill>
                <a:latin typeface="Comic Sans MS"/>
              </a:rPr>
              <a:t>FindVarariables</a:t>
            </a:r>
            <a:endParaRPr lang="en-US" sz="2200" b="1" dirty="0" smtClean="0">
              <a:solidFill>
                <a:srgbClr val="FF0000"/>
              </a:solidFill>
              <a:latin typeface="Comic Sans MS"/>
            </a:endParaRPr>
          </a:p>
          <a:p>
            <a:pPr marL="0"/>
            <a:endParaRPr lang="en-US" sz="2200" b="1" dirty="0" smtClean="0">
              <a:solidFill>
                <a:srgbClr val="FF0000"/>
              </a:solidFill>
              <a:latin typeface="Comic Sans MS"/>
            </a:endParaRPr>
          </a:p>
          <a:p>
            <a:pPr marL="0">
              <a:buNone/>
            </a:pPr>
            <a:endParaRPr lang="en-US" sz="2200" b="1" dirty="0" smtClean="0">
              <a:solidFill>
                <a:srgbClr val="FF0000"/>
              </a:solidFill>
              <a:latin typeface="Comic Sans MS"/>
            </a:endParaRPr>
          </a:p>
          <a:p>
            <a:pPr marL="0">
              <a:buNone/>
            </a:pPr>
            <a:endParaRPr lang="en-US" sz="2200" b="1" dirty="0" smtClean="0">
              <a:solidFill>
                <a:srgbClr val="FF0000"/>
              </a:solidFill>
              <a:latin typeface="Comic Sans MS"/>
            </a:endParaRPr>
          </a:p>
          <a:p>
            <a:pPr marL="0">
              <a:buNone/>
            </a:pPr>
            <a:endParaRPr lang="en-US" sz="2200" b="1" dirty="0" smtClean="0">
              <a:solidFill>
                <a:srgbClr val="FF0000"/>
              </a:solidFill>
              <a:latin typeface="Comic Sans MS"/>
            </a:endParaRPr>
          </a:p>
        </p:txBody>
      </p:sp>
      <p:pic>
        <p:nvPicPr>
          <p:cNvPr id="6" name="Picture 5" descr="Picture 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24400"/>
            <a:ext cx="9144000" cy="1941922"/>
          </a:xfrm>
          <a:prstGeom prst="rect">
            <a:avLst/>
          </a:prstGeom>
        </p:spPr>
      </p:pic>
      <p:pic>
        <p:nvPicPr>
          <p:cNvPr id="7" name="Picture 6" descr="Picture 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9011"/>
            <a:ext cx="9144000" cy="8341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14274" y="1524000"/>
            <a:ext cx="2638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800000"/>
                </a:solidFill>
                <a:latin typeface="Comic Sans MS"/>
              </a:rPr>
              <a:t>[Ser04]: monotone </a:t>
            </a:r>
            <a:r>
              <a:rPr lang="en-US" dirty="0" err="1" smtClean="0">
                <a:solidFill>
                  <a:srgbClr val="800000"/>
                </a:solidFill>
                <a:latin typeface="Comic Sans MS"/>
              </a:rPr>
              <a:t>dnf</a:t>
            </a:r>
            <a:r>
              <a:rPr lang="en-US" dirty="0" smtClean="0">
                <a:solidFill>
                  <a:srgbClr val="800000"/>
                </a:solidFill>
                <a:latin typeface="Comic Sans MS"/>
              </a:rPr>
              <a:t> </a:t>
            </a:r>
            <a:endParaRPr lang="en-US" dirty="0"/>
          </a:p>
        </p:txBody>
      </p:sp>
      <p:pic>
        <p:nvPicPr>
          <p:cNvPr id="9" name="Picture 8" descr="Picture 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3924362"/>
            <a:ext cx="4647619" cy="495238"/>
          </a:xfrm>
          <a:prstGeom prst="rect">
            <a:avLst/>
          </a:prstGeom>
        </p:spPr>
      </p:pic>
      <p:pic>
        <p:nvPicPr>
          <p:cNvPr id="11" name="Picture 10" descr="Picture 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679" y="3810000"/>
            <a:ext cx="3034921" cy="939683"/>
          </a:xfrm>
          <a:prstGeom prst="rect">
            <a:avLst/>
          </a:prstGeom>
        </p:spPr>
      </p:pic>
      <p:pic>
        <p:nvPicPr>
          <p:cNvPr id="12" name="Picture 11" descr="Picture 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349" y="3124200"/>
            <a:ext cx="7187301" cy="774603"/>
          </a:xfrm>
          <a:prstGeom prst="rect">
            <a:avLst/>
          </a:prstGeom>
        </p:spPr>
      </p:pic>
      <p:pic>
        <p:nvPicPr>
          <p:cNvPr id="13" name="Picture 12" descr="Picture 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635" y="2451194"/>
            <a:ext cx="6958730" cy="74920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17539" y="2971800"/>
            <a:ext cx="43609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solidFill>
                  <a:srgbClr val="0000FF"/>
                </a:solidFill>
                <a:latin typeface="Comic Sans MS"/>
              </a:rPr>
              <a:t>For monotone </a:t>
            </a:r>
            <a:r>
              <a:rPr lang="en-US" sz="2200" b="1" dirty="0" err="1" smtClean="0">
                <a:solidFill>
                  <a:srgbClr val="0000FF"/>
                </a:solidFill>
                <a:latin typeface="Comic Sans MS"/>
              </a:rPr>
              <a:t>f</a:t>
            </a:r>
            <a:r>
              <a:rPr lang="en-US" sz="2200" b="1" dirty="0" smtClean="0">
                <a:solidFill>
                  <a:srgbClr val="0000FF"/>
                </a:solidFill>
                <a:latin typeface="Comic Sans MS"/>
              </a:rPr>
              <a:t>, simplified as:</a:t>
            </a:r>
            <a:endParaRPr lang="en-US" sz="2200" b="1" dirty="0">
              <a:solidFill>
                <a:srgbClr val="0000FF"/>
              </a:solidFill>
              <a:latin typeface="Comic Sans M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87306" y="2617113"/>
            <a:ext cx="15138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00FF"/>
                </a:solidFill>
                <a:latin typeface="Comic Sans MS"/>
              </a:rPr>
              <a:t>MQ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400" y="3200400"/>
            <a:ext cx="8354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solidFill>
                  <a:srgbClr val="0000FF"/>
                </a:solidFill>
                <a:latin typeface="Comic Sans MS"/>
              </a:rPr>
              <a:t>Rand</a:t>
            </a:r>
          </a:p>
          <a:p>
            <a:r>
              <a:rPr lang="en-US" sz="2200" b="1" dirty="0" smtClean="0">
                <a:solidFill>
                  <a:srgbClr val="0000FF"/>
                </a:solidFill>
                <a:latin typeface="Comic Sans MS"/>
              </a:rPr>
              <a:t>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43" y="4355068"/>
            <a:ext cx="16465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err="1" smtClean="0">
                <a:solidFill>
                  <a:srgbClr val="FF0000"/>
                </a:solidFill>
                <a:latin typeface="Comic Sans MS"/>
              </a:rPr>
              <a:t>LearnTerm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Learn DNF having ≤ 2</a:t>
            </a:r>
            <a:r>
              <a:rPr lang="en-US" sz="4000" baseline="30000" dirty="0" smtClean="0">
                <a:solidFill>
                  <a:srgbClr val="800000"/>
                </a:solidFill>
                <a:latin typeface="Comic Sans MS"/>
              </a:rPr>
              <a:t>O(√log(n)) </a:t>
            </a: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terms: </a:t>
            </a:r>
            <a:r>
              <a:rPr lang="en-US" sz="4000" dirty="0" err="1" smtClean="0">
                <a:solidFill>
                  <a:srgbClr val="800000"/>
                </a:solidFill>
                <a:latin typeface="Comic Sans MS"/>
              </a:rPr>
              <a:t>Unif</a:t>
            </a: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. </a:t>
            </a:r>
            <a:r>
              <a:rPr lang="en-US" sz="4000" dirty="0" err="1" smtClean="0">
                <a:solidFill>
                  <a:srgbClr val="800000"/>
                </a:solidFill>
                <a:latin typeface="Comic Sans MS"/>
              </a:rPr>
              <a:t>Distri</a:t>
            </a:r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US" sz="2200" dirty="0" smtClean="0">
                <a:latin typeface="Comic Sans MS"/>
              </a:rPr>
              <a:t>sample </a:t>
            </a:r>
            <a:r>
              <a:rPr lang="en-US" sz="2200" dirty="0" err="1" smtClean="0">
                <a:latin typeface="Comic Sans MS"/>
              </a:rPr>
              <a:t>m</a:t>
            </a:r>
            <a:r>
              <a:rPr lang="en-US" sz="2200" dirty="0" smtClean="0">
                <a:latin typeface="Comic Sans MS"/>
              </a:rPr>
              <a:t> = </a:t>
            </a:r>
            <a:r>
              <a:rPr lang="en-US" sz="2200" dirty="0" err="1" smtClean="0">
                <a:latin typeface="Comic Sans MS"/>
              </a:rPr>
              <a:t>poly(t/eps</a:t>
            </a:r>
            <a:r>
              <a:rPr lang="en-US" sz="2200" dirty="0" smtClean="0">
                <a:latin typeface="Comic Sans MS"/>
              </a:rPr>
              <a:t>) labeled </a:t>
            </a:r>
            <a:r>
              <a:rPr lang="en-US" sz="2200" dirty="0" err="1" smtClean="0">
                <a:latin typeface="Comic Sans MS"/>
              </a:rPr>
              <a:t>ex.s</a:t>
            </a:r>
            <a:r>
              <a:rPr lang="en-US" sz="2200" dirty="0" smtClean="0">
                <a:latin typeface="Comic Sans MS"/>
              </a:rPr>
              <a:t> x</a:t>
            </a:r>
            <a:r>
              <a:rPr lang="en-US" sz="2200" baseline="30000" dirty="0" smtClean="0">
                <a:latin typeface="Comic Sans MS"/>
              </a:rPr>
              <a:t>(1)</a:t>
            </a:r>
            <a:r>
              <a:rPr lang="en-US" sz="2200" dirty="0" smtClean="0">
                <a:latin typeface="Comic Sans MS"/>
              </a:rPr>
              <a:t>,…,  </a:t>
            </a:r>
            <a:r>
              <a:rPr lang="en-US" sz="2200" dirty="0" err="1" smtClean="0">
                <a:latin typeface="Comic Sans MS"/>
              </a:rPr>
              <a:t>x</a:t>
            </a:r>
            <a:r>
              <a:rPr lang="en-US" sz="2200" baseline="30000" dirty="0" err="1" smtClean="0">
                <a:latin typeface="Comic Sans MS"/>
              </a:rPr>
              <a:t>(m</a:t>
            </a:r>
            <a:r>
              <a:rPr lang="en-US" sz="2200" baseline="30000" dirty="0" smtClean="0">
                <a:latin typeface="Comic Sans MS"/>
              </a:rPr>
              <a:t>)</a:t>
            </a:r>
            <a:r>
              <a:rPr lang="en-US" sz="2200" dirty="0" smtClean="0">
                <a:latin typeface="Comic Sans MS"/>
              </a:rPr>
              <a:t> at random. </a:t>
            </a:r>
          </a:p>
          <a:p>
            <a:pPr>
              <a:buFontTx/>
              <a:buChar char="-"/>
            </a:pPr>
            <a:r>
              <a:rPr lang="en-US" sz="2200" dirty="0" smtClean="0">
                <a:latin typeface="Comic Sans MS"/>
              </a:rPr>
              <a:t>for each </a:t>
            </a:r>
            <a:r>
              <a:rPr lang="en-US" sz="2200" dirty="0" err="1" smtClean="0">
                <a:latin typeface="Comic Sans MS"/>
              </a:rPr>
              <a:t>j</a:t>
            </a:r>
            <a:r>
              <a:rPr lang="en-US" sz="2200" dirty="0" smtClean="0">
                <a:latin typeface="Comic Sans MS"/>
              </a:rPr>
              <a:t> ≤ </a:t>
            </a:r>
            <a:r>
              <a:rPr lang="en-US" sz="2200" dirty="0" err="1" smtClean="0">
                <a:latin typeface="Comic Sans MS"/>
              </a:rPr>
              <a:t>m</a:t>
            </a:r>
            <a:r>
              <a:rPr lang="en-US" sz="2200" dirty="0" smtClean="0">
                <a:latin typeface="Comic Sans MS"/>
              </a:rPr>
              <a:t>, define</a:t>
            </a:r>
          </a:p>
          <a:p>
            <a:pPr>
              <a:buFontTx/>
              <a:buChar char="-"/>
            </a:pPr>
            <a:r>
              <a:rPr lang="en-US" sz="2200" dirty="0" err="1" smtClean="0">
                <a:latin typeface="Comic Sans MS"/>
              </a:rPr>
              <a:t>Kj</a:t>
            </a:r>
            <a:r>
              <a:rPr lang="en-US" sz="2200" dirty="0" smtClean="0">
                <a:latin typeface="Comic Sans MS"/>
              </a:rPr>
              <a:t> is a monotone DNF after transforming feature space to: </a:t>
            </a:r>
            <a:r>
              <a:rPr lang="en-US" sz="2200" dirty="0" err="1" smtClean="0">
                <a:latin typeface="Comic Sans MS"/>
              </a:rPr>
              <a:t>phi_j(y</a:t>
            </a:r>
            <a:r>
              <a:rPr lang="en-US" sz="2200" dirty="0" smtClean="0">
                <a:latin typeface="Comic Sans MS"/>
              </a:rPr>
              <a:t>) = (I[y1=x(j)1], I[y2=x(j)2],…, </a:t>
            </a:r>
            <a:r>
              <a:rPr lang="en-US" sz="2200" dirty="0" err="1" smtClean="0">
                <a:latin typeface="Comic Sans MS"/>
              </a:rPr>
              <a:t>I[yn</a:t>
            </a:r>
            <a:r>
              <a:rPr lang="en-US" sz="2200" dirty="0" smtClean="0">
                <a:latin typeface="Comic Sans MS"/>
              </a:rPr>
              <a:t>=</a:t>
            </a:r>
            <a:r>
              <a:rPr lang="en-US" sz="2200" dirty="0" err="1" smtClean="0">
                <a:latin typeface="Comic Sans MS"/>
              </a:rPr>
              <a:t>x(j)n</a:t>
            </a:r>
            <a:r>
              <a:rPr lang="en-US" sz="2200" dirty="0" smtClean="0">
                <a:latin typeface="Comic Sans MS"/>
              </a:rPr>
              <a:t>]). </a:t>
            </a:r>
          </a:p>
          <a:p>
            <a:pPr>
              <a:buNone/>
            </a:pPr>
            <a:r>
              <a:rPr lang="en-US" sz="2200" dirty="0" smtClean="0">
                <a:latin typeface="Comic Sans MS"/>
              </a:rPr>
              <a:t>    call it a </a:t>
            </a:r>
            <a:r>
              <a:rPr lang="en-US" sz="2200" b="1" dirty="0" smtClean="0">
                <a:solidFill>
                  <a:srgbClr val="FF0000"/>
                </a:solidFill>
                <a:latin typeface="Comic Sans MS"/>
              </a:rPr>
              <a:t>landmark DNF</a:t>
            </a:r>
            <a:endParaRPr lang="en-US" sz="2200" dirty="0" smtClean="0">
              <a:latin typeface="Comic Sans MS"/>
            </a:endParaRPr>
          </a:p>
          <a:p>
            <a:r>
              <a:rPr lang="en-US" sz="2200" dirty="0" smtClean="0">
                <a:latin typeface="Comic Sans MS"/>
              </a:rPr>
              <a:t>Terms in </a:t>
            </a:r>
            <a:r>
              <a:rPr lang="en-US" sz="2200" dirty="0" err="1" smtClean="0">
                <a:latin typeface="Comic Sans MS"/>
              </a:rPr>
              <a:t>k</a:t>
            </a:r>
            <a:r>
              <a:rPr lang="en-US" sz="2200" baseline="-25000" dirty="0" err="1" smtClean="0">
                <a:latin typeface="Comic Sans MS"/>
              </a:rPr>
              <a:t>j</a:t>
            </a:r>
            <a:r>
              <a:rPr lang="en-US" sz="2200" dirty="0" smtClean="0">
                <a:latin typeface="Comic Sans MS"/>
              </a:rPr>
              <a:t> correspond to terms in target sat. by </a:t>
            </a:r>
            <a:r>
              <a:rPr lang="en-US" sz="2200" dirty="0" err="1" smtClean="0">
                <a:latin typeface="Comic Sans MS"/>
              </a:rPr>
              <a:t>x</a:t>
            </a:r>
            <a:r>
              <a:rPr lang="en-US" sz="2200" baseline="30000" dirty="0" err="1" smtClean="0">
                <a:latin typeface="Comic Sans MS"/>
              </a:rPr>
              <a:t>(j</a:t>
            </a:r>
            <a:r>
              <a:rPr lang="en-US" sz="2200" baseline="30000" dirty="0" smtClean="0">
                <a:latin typeface="Comic Sans MS"/>
              </a:rPr>
              <a:t>)</a:t>
            </a:r>
            <a:r>
              <a:rPr lang="en-US" sz="2200" dirty="0" smtClean="0">
                <a:latin typeface="Comic Sans MS"/>
              </a:rPr>
              <a:t>, </a:t>
            </a:r>
          </a:p>
          <a:p>
            <a:pPr>
              <a:buFontTx/>
              <a:buChar char="-"/>
            </a:pPr>
            <a:r>
              <a:rPr lang="en-US" sz="2200" dirty="0" smtClean="0">
                <a:latin typeface="Comic Sans MS"/>
              </a:rPr>
              <a:t>Run </a:t>
            </a:r>
            <a:r>
              <a:rPr lang="en-US" sz="2200" dirty="0" err="1" smtClean="0">
                <a:latin typeface="Comic Sans MS"/>
              </a:rPr>
              <a:t>FindVariables</a:t>
            </a:r>
            <a:r>
              <a:rPr lang="en-US" sz="2200" dirty="0" smtClean="0">
                <a:latin typeface="Comic Sans MS"/>
              </a:rPr>
              <a:t> for each </a:t>
            </a:r>
            <a:r>
              <a:rPr lang="en-US" sz="2200" dirty="0" err="1" smtClean="0">
                <a:latin typeface="Comic Sans MS"/>
              </a:rPr>
              <a:t>k</a:t>
            </a:r>
            <a:r>
              <a:rPr lang="en-US" sz="2200" baseline="-25000" dirty="0" err="1" smtClean="0">
                <a:latin typeface="Comic Sans MS"/>
              </a:rPr>
              <a:t>j</a:t>
            </a:r>
            <a:endParaRPr lang="en-US" sz="2200" dirty="0" smtClean="0">
              <a:latin typeface="Comic Sans MS"/>
            </a:endParaRPr>
          </a:p>
          <a:p>
            <a:r>
              <a:rPr lang="en-US" sz="2200" dirty="0" err="1" smtClean="0">
                <a:latin typeface="Comic Sans MS"/>
              </a:rPr>
              <a:t>S</a:t>
            </a:r>
            <a:r>
              <a:rPr lang="en-US" sz="2200" baseline="-25000" dirty="0" err="1" smtClean="0">
                <a:latin typeface="Comic Sans MS"/>
              </a:rPr>
              <a:t>f</a:t>
            </a:r>
            <a:r>
              <a:rPr lang="en-US" sz="2200" dirty="0" smtClean="0">
                <a:latin typeface="Comic Sans MS"/>
              </a:rPr>
              <a:t>: union of returned sets of variables.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 descr="Picture 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2032051"/>
            <a:ext cx="2298413" cy="406349"/>
          </a:xfrm>
          <a:prstGeom prst="rect">
            <a:avLst/>
          </a:prstGeom>
        </p:spPr>
      </p:pic>
      <p:pic>
        <p:nvPicPr>
          <p:cNvPr id="10" name="Picture 9" descr="Picture 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953000"/>
            <a:ext cx="8610600" cy="1083095"/>
          </a:xfrm>
          <a:prstGeom prst="rect">
            <a:avLst/>
          </a:prstGeom>
          <a:ln w="57150" cmpd="sng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000" dirty="0" smtClean="0">
                <a:solidFill>
                  <a:srgbClr val="800000"/>
                </a:solidFill>
                <a:latin typeface="Comic Sans MS"/>
              </a:rPr>
              <a:t>Outline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 bwMode="auto">
          <a:xfrm>
            <a:off x="304800" y="1600200"/>
            <a:ext cx="9372600" cy="4525963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sz="3000" dirty="0" smtClean="0">
                <a:latin typeface="Comic Sans MS"/>
                <a:ea typeface="+mj-ea"/>
                <a:cs typeface="+mj-cs"/>
              </a:rPr>
              <a:t>Our model</a:t>
            </a:r>
          </a:p>
          <a:p>
            <a:pPr>
              <a:defRPr/>
            </a:pPr>
            <a:r>
              <a:rPr lang="en-US" sz="3000" dirty="0" smtClean="0">
                <a:latin typeface="Comic Sans MS"/>
                <a:ea typeface="+mj-ea"/>
                <a:cs typeface="+mj-cs"/>
              </a:rPr>
              <a:t>Hardness Results </a:t>
            </a:r>
          </a:p>
          <a:p>
            <a:pPr eaLnBrk="1" hangingPunct="1">
              <a:defRPr/>
            </a:pPr>
            <a:r>
              <a:rPr lang="en-US" sz="3000" dirty="0" smtClean="0">
                <a:latin typeface="Comic Sans MS"/>
                <a:ea typeface="+mj-ea"/>
                <a:cs typeface="+mj-cs"/>
              </a:rPr>
              <a:t>Positive Results: Uniform </a:t>
            </a:r>
            <a:r>
              <a:rPr lang="en-US" sz="3000" dirty="0" err="1" smtClean="0">
                <a:latin typeface="Comic Sans MS"/>
                <a:ea typeface="+mj-ea"/>
                <a:cs typeface="+mj-cs"/>
              </a:rPr>
              <a:t>distri</a:t>
            </a:r>
            <a:r>
              <a:rPr lang="en-US" sz="3000" dirty="0" smtClean="0">
                <a:latin typeface="Comic Sans MS"/>
                <a:ea typeface="+mj-ea"/>
                <a:cs typeface="+mj-cs"/>
              </a:rPr>
              <a:t>. </a:t>
            </a:r>
          </a:p>
          <a:p>
            <a:pPr>
              <a:defRPr/>
            </a:pPr>
            <a:r>
              <a:rPr lang="en-US" sz="3600" dirty="0" smtClean="0">
                <a:solidFill>
                  <a:srgbClr val="800000"/>
                </a:solidFill>
                <a:latin typeface="Comic Sans MS"/>
              </a:rPr>
              <a:t>Positive Results: General </a:t>
            </a:r>
            <a:r>
              <a:rPr lang="en-US" sz="3600" dirty="0" err="1" smtClean="0">
                <a:solidFill>
                  <a:srgbClr val="800000"/>
                </a:solidFill>
                <a:latin typeface="Comic Sans MS"/>
              </a:rPr>
              <a:t>distri</a:t>
            </a:r>
            <a:r>
              <a:rPr lang="en-US" sz="3600" dirty="0" smtClean="0">
                <a:solidFill>
                  <a:srgbClr val="800000"/>
                </a:solidFill>
                <a:latin typeface="Comic Sans MS"/>
              </a:rPr>
              <a:t>.</a:t>
            </a:r>
          </a:p>
          <a:p>
            <a:pPr eaLnBrk="1" hangingPunct="1">
              <a:defRPr/>
            </a:pPr>
            <a:endParaRPr lang="en-US" sz="3000" dirty="0" smtClean="0">
              <a:solidFill>
                <a:srgbClr val="800000"/>
              </a:solidFill>
              <a:latin typeface="Comic Sans MS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800000"/>
                </a:solidFill>
                <a:latin typeface="Comic Sans MS"/>
              </a:rPr>
              <a:t>Common Profile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sz="3059" b="1" dirty="0" smtClean="0">
                <a:solidFill>
                  <a:srgbClr val="FF0000"/>
                </a:solidFill>
                <a:latin typeface="Comic Sans MS"/>
                <a:ea typeface="Arial" charset="0"/>
                <a:cs typeface="Arial" charset="0"/>
              </a:rPr>
              <a:t>Common Profile Approach</a:t>
            </a:r>
          </a:p>
          <a:p>
            <a:pPr>
              <a:buNone/>
            </a:pP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    - Take a sample of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poly(n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, 1/</a:t>
            </a:r>
            <a:r>
              <a:rPr lang="en-US" sz="2727" dirty="0" smtClean="0">
                <a:latin typeface="Lucida Grande"/>
                <a:ea typeface="Lucida Grande"/>
                <a:cs typeface="Lucida Grande"/>
              </a:rPr>
              <a:t>ε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, log(1/</a:t>
            </a:r>
            <a:r>
              <a:rPr lang="en-US" sz="2727" dirty="0" smtClean="0">
                <a:latin typeface="Lucida Grande"/>
                <a:ea typeface="Lucida Grande"/>
                <a:cs typeface="Lucida Grande"/>
              </a:rPr>
              <a:t>δ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)) rand. labeled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ex.s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, </a:t>
            </a:r>
          </a:p>
          <a:p>
            <a:pPr>
              <a:buNone/>
            </a:pP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    -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K(x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,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y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): #terms sat in common for a pair pos ex. (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x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,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y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)</a:t>
            </a:r>
          </a:p>
          <a:p>
            <a:pPr>
              <a:buNone/>
            </a:pP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    - “Profile”: set of terms T</a:t>
            </a:r>
            <a:r>
              <a:rPr lang="en-US" sz="2727" baseline="-25000" dirty="0" smtClean="0">
                <a:latin typeface="Comic Sans MS"/>
                <a:ea typeface="Arial" charset="0"/>
                <a:cs typeface="Arial" charset="0"/>
              </a:rPr>
              <a:t>i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 in target DNF satisfied by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x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.</a:t>
            </a:r>
          </a:p>
          <a:p>
            <a:pPr>
              <a:buNone/>
            </a:pP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    - For each pos ex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x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, identify set S of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ex.s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y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s.t..K(x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;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y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) =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K(x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;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x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). So these points sat at least all the terms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x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 sat. </a:t>
            </a:r>
          </a:p>
          <a:p>
            <a:pPr>
              <a:buNone/>
            </a:pP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    - For each S, learn a minimal conjunction consistent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w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/ these </a:t>
            </a:r>
            <a:r>
              <a:rPr lang="en-US" sz="2727" dirty="0" err="1" smtClean="0">
                <a:latin typeface="Comic Sans MS"/>
                <a:ea typeface="Arial" charset="0"/>
                <a:cs typeface="Arial" charset="0"/>
              </a:rPr>
              <a:t>ex.s</a:t>
            </a:r>
            <a:r>
              <a:rPr lang="en-US" sz="2727" dirty="0" smtClean="0">
                <a:latin typeface="Comic Sans MS"/>
                <a:ea typeface="Arial" charset="0"/>
                <a:cs typeface="Arial" charset="0"/>
              </a:rPr>
              <a:t>. </a:t>
            </a:r>
            <a:endParaRPr lang="en-US" sz="2800" dirty="0" smtClean="0">
              <a:latin typeface="Comic Sans MS"/>
              <a:ea typeface="Arial" charset="0"/>
              <a:cs typeface="Arial" charset="0"/>
            </a:endParaRPr>
          </a:p>
          <a:p>
            <a:pPr>
              <a:buNone/>
            </a:pPr>
            <a:r>
              <a:rPr lang="en-US" sz="2800" dirty="0" smtClean="0">
                <a:solidFill>
                  <a:srgbClr val="800000"/>
                </a:solidFill>
                <a:latin typeface="Comic Sans MS"/>
                <a:ea typeface="Arial" charset="0"/>
                <a:cs typeface="Arial" charset="0"/>
              </a:rPr>
              <a:t>    </a:t>
            </a:r>
            <a:endParaRPr lang="en-US" sz="2800" dirty="0" smtClean="0">
              <a:latin typeface="Comic Sans MS"/>
              <a:ea typeface="Arial" charset="0"/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85800" y="4724400"/>
            <a:ext cx="8077200" cy="1157037"/>
          </a:xfrm>
          <a:prstGeom prst="roundRect">
            <a:avLst/>
          </a:prstGeom>
          <a:noFill/>
          <a:ln w="57150" cmpd="sng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5943600"/>
            <a:ext cx="8546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mic Sans MS"/>
                <a:ea typeface="Arial" charset="0"/>
                <a:cs typeface="Arial" charset="0"/>
              </a:rPr>
              <a:t>Implication: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w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/numerical-valued queries, under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arb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.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distri</a:t>
            </a:r>
            <a:r>
              <a:rPr lang="en-US" sz="2400" dirty="0" smtClean="0">
                <a:solidFill>
                  <a:srgbClr val="0000FF"/>
                </a:solidFill>
                <a:latin typeface="Comic Sans MS"/>
                <a:ea typeface="Arial" charset="0"/>
                <a:cs typeface="Arial" charset="0"/>
              </a:rPr>
              <a:t>.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 </a:t>
            </a:r>
          </a:p>
          <a:p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                     can proper-learn DNF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w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/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O(log(n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)) rel. var.. </a:t>
            </a:r>
            <a:endParaRPr lang="en-US" sz="2400" dirty="0" smtClean="0">
              <a:solidFill>
                <a:srgbClr val="0000FF"/>
              </a:solidFill>
              <a:latin typeface="Comic Sans MS"/>
              <a:ea typeface="Arial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987" y="4724400"/>
            <a:ext cx="7954371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800000"/>
                </a:solidFill>
                <a:latin typeface="Comic Sans MS"/>
                <a:ea typeface="Arial" charset="0"/>
                <a:cs typeface="Arial" charset="0"/>
              </a:rPr>
              <a:t>Lemma.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 If target DNF has ≤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poly(n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) possible profiles, </a:t>
            </a:r>
          </a:p>
          <a:p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common-profile-approach, </a:t>
            </a:r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w.p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. ≥1 -</a:t>
            </a:r>
            <a:r>
              <a:rPr lang="en-US" sz="2400" dirty="0" err="1" smtClean="0">
                <a:latin typeface="Lucida Grande"/>
                <a:ea typeface="Lucida Grande"/>
                <a:cs typeface="Lucida Grande"/>
              </a:rPr>
              <a:t>δ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, produce a DNF </a:t>
            </a:r>
          </a:p>
          <a:p>
            <a:r>
              <a:rPr lang="en-US" sz="2400" dirty="0" err="1" smtClean="0">
                <a:latin typeface="Comic Sans MS"/>
                <a:ea typeface="Arial" charset="0"/>
                <a:cs typeface="Arial" charset="0"/>
              </a:rPr>
              <a:t>w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/err rate ≤ </a:t>
            </a:r>
            <a:r>
              <a:rPr lang="en-US" sz="2400" dirty="0" err="1" smtClean="0">
                <a:latin typeface="Lucida Grande"/>
                <a:ea typeface="Lucida Grande"/>
                <a:cs typeface="Lucida Grande"/>
              </a:rPr>
              <a:t>ε</a:t>
            </a:r>
            <a:r>
              <a:rPr lang="en-US" sz="2400" dirty="0" smtClean="0">
                <a:latin typeface="Comic Sans MS"/>
                <a:ea typeface="Arial" charset="0"/>
                <a:cs typeface="Arial" charset="0"/>
              </a:rPr>
              <a:t>.</a:t>
            </a:r>
            <a:endParaRPr lang="en-US" sz="24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2429702"/>
          <a:ext cx="7162800" cy="30566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44508"/>
                <a:gridCol w="2515607"/>
                <a:gridCol w="1502685"/>
              </a:tblGrid>
              <a:tr h="6335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Comic Sans MS"/>
                        </a:rPr>
                        <a:t>Binary</a:t>
                      </a:r>
                      <a:endParaRPr lang="en-US" b="0" i="0" dirty="0">
                        <a:latin typeface="Comic Sans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latin typeface="Comic Sans MS"/>
                        </a:rPr>
                        <a:t>Numeric</a:t>
                      </a:r>
                      <a:endParaRPr lang="en-US" b="0" i="0" dirty="0">
                        <a:latin typeface="Comic Sans MS"/>
                      </a:endParaRP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lang="en-US" sz="2200" b="1" i="0" dirty="0" err="1" smtClean="0">
                          <a:latin typeface="Comic Sans MS"/>
                        </a:rPr>
                        <a:t>O(log(n</a:t>
                      </a:r>
                      <a:r>
                        <a:rPr lang="en-US" sz="2200" b="1" i="0" dirty="0" smtClean="0">
                          <a:latin typeface="Comic Sans MS"/>
                        </a:rPr>
                        <a:t>)) terms DNF </a:t>
                      </a:r>
                    </a:p>
                    <a:p>
                      <a:r>
                        <a:rPr lang="en-US" sz="2200" b="1" i="0" dirty="0" smtClean="0">
                          <a:latin typeface="Comic Sans MS"/>
                        </a:rPr>
                        <a:t>under any </a:t>
                      </a:r>
                      <a:r>
                        <a:rPr lang="en-US" sz="2200" b="1" i="0" dirty="0" err="1" smtClean="0">
                          <a:latin typeface="Comic Sans MS"/>
                        </a:rPr>
                        <a:t>distrib</a:t>
                      </a:r>
                      <a:r>
                        <a:rPr lang="en-US" sz="2200" b="1" i="0" dirty="0" smtClean="0">
                          <a:latin typeface="Comic Sans MS"/>
                        </a:rPr>
                        <a:t>.</a:t>
                      </a:r>
                      <a:endParaRPr lang="en-US" sz="2200" b="1" i="0" dirty="0">
                        <a:latin typeface="Comic Sans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 smtClean="0">
                          <a:solidFill>
                            <a:srgbClr val="0000FF"/>
                          </a:solidFill>
                        </a:rPr>
                        <a:t>✔</a:t>
                      </a:r>
                    </a:p>
                    <a:p>
                      <a:endParaRPr lang="en-US" sz="30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</a:tr>
              <a:tr h="477736">
                <a:tc>
                  <a:txBody>
                    <a:bodyPr/>
                    <a:lstStyle/>
                    <a:p>
                      <a:r>
                        <a:rPr lang="en-US" sz="2200" b="1" i="0" baseline="0" dirty="0" smtClean="0">
                          <a:latin typeface="Comic Sans MS"/>
                        </a:rPr>
                        <a:t>2-term DNF</a:t>
                      </a:r>
                    </a:p>
                    <a:p>
                      <a:r>
                        <a:rPr lang="en-US" sz="2200" b="1" i="0" dirty="0" smtClean="0">
                          <a:latin typeface="Comic Sans MS"/>
                        </a:rPr>
                        <a:t>under any </a:t>
                      </a:r>
                      <a:r>
                        <a:rPr lang="en-US" sz="2200" b="1" i="0" dirty="0" err="1" smtClean="0">
                          <a:latin typeface="Comic Sans MS"/>
                        </a:rPr>
                        <a:t>distrib</a:t>
                      </a:r>
                      <a:r>
                        <a:rPr lang="en-US" sz="2200" b="1" i="0" dirty="0" smtClean="0">
                          <a:latin typeface="Comic Sans MS"/>
                        </a:rPr>
                        <a:t>.</a:t>
                      </a:r>
                      <a:endParaRPr lang="en-US" sz="2200" b="1" i="0" dirty="0">
                        <a:latin typeface="Comic Sans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 smtClean="0">
                          <a:solidFill>
                            <a:srgbClr val="0000FF"/>
                          </a:solidFill>
                        </a:rPr>
                        <a:t>✔</a:t>
                      </a:r>
                    </a:p>
                    <a:p>
                      <a:endParaRPr lang="en-US" sz="30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 smtClean="0">
                          <a:solidFill>
                            <a:srgbClr val="0000FF"/>
                          </a:solidFill>
                        </a:rPr>
                        <a:t>✔</a:t>
                      </a:r>
                    </a:p>
                    <a:p>
                      <a:endParaRPr lang="en-US" sz="30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</a:tr>
              <a:tr h="474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i="0" dirty="0" smtClean="0">
                          <a:latin typeface="Comic Sans MS"/>
                        </a:rPr>
                        <a:t>DNF</a:t>
                      </a:r>
                      <a:r>
                        <a:rPr lang="en-US" sz="2200" b="1" i="0" baseline="0" dirty="0" smtClean="0">
                          <a:latin typeface="Comic Sans MS"/>
                        </a:rPr>
                        <a:t>: all </a:t>
                      </a:r>
                      <a:r>
                        <a:rPr lang="en-US" sz="2200" b="1" i="0" dirty="0" err="1" smtClean="0">
                          <a:latin typeface="Comic Sans MS"/>
                        </a:rPr>
                        <a:t>var</a:t>
                      </a:r>
                      <a:r>
                        <a:rPr lang="en-US" sz="2200" b="1" i="0" dirty="0" smtClean="0">
                          <a:latin typeface="Comic Sans MS"/>
                        </a:rPr>
                        <a:t> in </a:t>
                      </a:r>
                    </a:p>
                    <a:p>
                      <a:pPr>
                        <a:buNone/>
                      </a:pPr>
                      <a:r>
                        <a:rPr lang="en-US" sz="2200" b="1" i="0" dirty="0" err="1" smtClean="0">
                          <a:latin typeface="Comic Sans MS"/>
                        </a:rPr>
                        <a:t>O(log(n</a:t>
                      </a:r>
                      <a:r>
                        <a:rPr lang="en-US" sz="2200" b="1" i="0" dirty="0" smtClean="0">
                          <a:latin typeface="Comic Sans MS"/>
                        </a:rPr>
                        <a:t>)) terms</a:t>
                      </a:r>
                      <a:r>
                        <a:rPr lang="en-US" sz="2200" b="1" i="0" baseline="0" dirty="0" smtClean="0">
                          <a:latin typeface="Comic Sans MS"/>
                        </a:rPr>
                        <a:t> </a:t>
                      </a:r>
                      <a:r>
                        <a:rPr lang="en-US" sz="2200" b="1" i="0" dirty="0" smtClean="0">
                          <a:latin typeface="Comic Sans MS"/>
                        </a:rPr>
                        <a:t>(</a:t>
                      </a:r>
                      <a:r>
                        <a:rPr lang="en-US" sz="2200" b="1" i="0" dirty="0" err="1" smtClean="0">
                          <a:latin typeface="Comic Sans MS"/>
                        </a:rPr>
                        <a:t>Unif</a:t>
                      </a:r>
                      <a:r>
                        <a:rPr lang="en-US" sz="2200" b="1" i="0" dirty="0" smtClean="0">
                          <a:latin typeface="Comic Sans M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 smtClean="0">
                          <a:solidFill>
                            <a:srgbClr val="0000FF"/>
                          </a:solidFill>
                        </a:rPr>
                        <a:t>✔</a:t>
                      </a:r>
                    </a:p>
                    <a:p>
                      <a:endParaRPr lang="en-US" sz="30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 smtClean="0">
                          <a:solidFill>
                            <a:srgbClr val="0000FF"/>
                          </a:solidFill>
                        </a:rPr>
                        <a:t>✔</a:t>
                      </a:r>
                    </a:p>
                    <a:p>
                      <a:endParaRPr lang="en-US" sz="30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itle 1"/>
          <p:cNvSpPr>
            <a:spLocks noGrp="1"/>
          </p:cNvSpPr>
          <p:nvPr>
            <p:ph type="title"/>
          </p:nvPr>
        </p:nvSpPr>
        <p:spPr bwMode="auto">
          <a:xfrm>
            <a:off x="-3505200" y="76200"/>
            <a:ext cx="11049000" cy="114300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>
                <a:latin typeface="Comic Sans MS"/>
              </a:rPr>
              <a:t>                 </a:t>
            </a:r>
            <a:r>
              <a:rPr lang="en-US" dirty="0" smtClean="0">
                <a:solidFill>
                  <a:srgbClr val="8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mic Sans MS"/>
              </a:rPr>
              <a:t>Other Positive Results</a:t>
            </a:r>
            <a:endParaRPr lang="en-US" dirty="0" smtClean="0">
              <a:solidFill>
                <a:srgbClr val="FF6600"/>
              </a:solidFill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Comic Sans MS"/>
            </a:endParaRPr>
          </a:p>
        </p:txBody>
      </p:sp>
      <p:pic>
        <p:nvPicPr>
          <p:cNvPr id="5" name="Picture 4" descr="imag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50" y="0"/>
            <a:ext cx="1962150" cy="196215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74755" name="Content Placeholder 4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dirty="0" smtClean="0"/>
              <a:t>      </a:t>
            </a:r>
          </a:p>
          <a:p>
            <a:pPr algn="ctr">
              <a:spcBef>
                <a:spcPct val="0"/>
              </a:spcBef>
              <a:buNone/>
            </a:pPr>
            <a:r>
              <a:rPr lang="en-US" dirty="0" smtClean="0">
                <a:solidFill>
                  <a:srgbClr val="8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   </a:t>
            </a:r>
            <a:r>
              <a:rPr lang="en-US" sz="6000" dirty="0" smtClean="0">
                <a:solidFill>
                  <a:srgbClr val="800000"/>
                </a:solidFill>
                <a:latin typeface="Comic Sans MS"/>
                <a:ea typeface="+mj-ea"/>
                <a:cs typeface="+mj-cs"/>
              </a:rPr>
              <a:t>Thanks 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227-C3CB-D047-9064-CE750872C58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Liu Yang 2012</a:t>
            </a:r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2296</Words>
  <Application>Microsoft Macintosh PowerPoint</Application>
  <PresentationFormat>On-screen Show (4:3)</PresentationFormat>
  <Paragraphs>257</Paragraphs>
  <Slides>23</Slides>
  <Notes>22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Learnability of DNF with Representation-Specific Queries  Liu Yang</vt:lpstr>
      <vt:lpstr>Learning DNF formulas</vt:lpstr>
      <vt:lpstr>Best Known Alg.s in Standard Model</vt:lpstr>
      <vt:lpstr>Query: Similarity about TYPE</vt:lpstr>
      <vt:lpstr>Outline</vt:lpstr>
      <vt:lpstr>Notations</vt:lpstr>
      <vt:lpstr>Warm Up: Disjoint DNF w/Boolean queries </vt:lpstr>
      <vt:lpstr>Warm Up:  Adaptively Construct Ex.s.   </vt:lpstr>
      <vt:lpstr>Outline</vt:lpstr>
      <vt:lpstr>Hardness Results Boolean (group learn)  </vt:lpstr>
      <vt:lpstr>Hardness Results Approx numerical query</vt:lpstr>
      <vt:lpstr>Outline</vt:lpstr>
      <vt:lpstr>Learning a sum of monotone terms</vt:lpstr>
      <vt:lpstr>Alg: learn DNF w/ numerical query </vt:lpstr>
      <vt:lpstr>Alg: learn DNF w/ numerical query </vt:lpstr>
      <vt:lpstr>r-Junta under Unif. (r = log n) Using Boolean Query  </vt:lpstr>
      <vt:lpstr>Alg: Learn (log n)-Junta</vt:lpstr>
      <vt:lpstr>Learn DNF having ≤ 2O(√log(n)) terms</vt:lpstr>
      <vt:lpstr>Learn DNF having ≤ 2O(√log(n)) terms: Unif. Distri.</vt:lpstr>
      <vt:lpstr>Outline</vt:lpstr>
      <vt:lpstr>Common Profile Approach</vt:lpstr>
      <vt:lpstr>                 Other Positive Results</vt:lpstr>
      <vt:lpstr>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Liu Yang</dc:creator>
  <cp:lastModifiedBy>Liu Yang</cp:lastModifiedBy>
  <cp:revision>578</cp:revision>
  <dcterms:created xsi:type="dcterms:W3CDTF">2012-04-11T19:55:49Z</dcterms:created>
  <dcterms:modified xsi:type="dcterms:W3CDTF">2012-04-11T19:58:26Z</dcterms:modified>
</cp:coreProperties>
</file>