
<file path=[Content_Types].xml><?xml version="1.0" encoding="utf-8"?>
<Types xmlns="http://schemas.openxmlformats.org/package/2006/content-types">
  <Override PartName="/ppt/slideMasters/slideMaster1.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viewProps.xml" ContentType="application/vnd.openxmlformats-officedocument.presentationml.viewProps+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wmf"/><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8" r:id="rId3"/>
    <p:sldId id="259" r:id="rId4"/>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72" d="100"/>
          <a:sy n="72" d="100"/>
        </p:scale>
        <p:origin x="-462" y="-102"/>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152400" y="0"/>
            <a:ext cx="8991600" cy="762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457200" y="990600"/>
            <a:ext cx="4038600" cy="5257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4648200" y="990600"/>
            <a:ext cx="4038600" cy="25527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4648200" y="3695700"/>
            <a:ext cx="4038600" cy="25527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3.jpeg"/><Relationship Id="rId5" Type="http://schemas.openxmlformats.org/officeDocument/2006/relationships/image" Target="../media/image2.jpeg"/><Relationship Id="rId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7"/>
          <p:cNvSpPr>
            <a:spLocks noGrp="1" noChangeArrowheads="1"/>
          </p:cNvSpPr>
          <p:nvPr>
            <p:ph type="title"/>
          </p:nvPr>
        </p:nvSpPr>
        <p:spPr bwMode="auto">
          <a:xfrm>
            <a:off x="152400" y="0"/>
            <a:ext cx="8991600" cy="762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25961" name="Text Box 9"/>
          <p:cNvSpPr txBox="1">
            <a:spLocks noChangeArrowheads="1"/>
          </p:cNvSpPr>
          <p:nvPr userDrawn="1"/>
        </p:nvSpPr>
        <p:spPr bwMode="auto">
          <a:xfrm>
            <a:off x="3048000" y="6477000"/>
            <a:ext cx="2982913" cy="274638"/>
          </a:xfrm>
          <a:prstGeom prst="rect">
            <a:avLst/>
          </a:prstGeom>
          <a:noFill/>
          <a:ln w="9525">
            <a:noFill/>
            <a:miter lim="800000"/>
            <a:headEnd/>
            <a:tailEnd/>
          </a:ln>
          <a:effectLst/>
        </p:spPr>
        <p:txBody>
          <a:bodyPr wrap="none">
            <a:spAutoFit/>
          </a:bodyPr>
          <a:lstStyle/>
          <a:p>
            <a:pPr fontAlgn="auto">
              <a:spcBef>
                <a:spcPts val="0"/>
              </a:spcBef>
              <a:spcAft>
                <a:spcPts val="0"/>
              </a:spcAft>
              <a:defRPr/>
            </a:pPr>
            <a:r>
              <a:rPr lang="en-US" sz="1200" b="1">
                <a:latin typeface="Arial Narrow" pitchFamily="34" charset="0"/>
              </a:rPr>
              <a:t>Thomas Jefferson National Accelerator Facility</a:t>
            </a:r>
          </a:p>
        </p:txBody>
      </p:sp>
      <p:sp>
        <p:nvSpPr>
          <p:cNvPr id="125962" name="Line 10"/>
          <p:cNvSpPr>
            <a:spLocks noChangeShapeType="1"/>
          </p:cNvSpPr>
          <p:nvPr userDrawn="1"/>
        </p:nvSpPr>
        <p:spPr bwMode="auto">
          <a:xfrm>
            <a:off x="0" y="914400"/>
            <a:ext cx="9144000" cy="0"/>
          </a:xfrm>
          <a:prstGeom prst="line">
            <a:avLst/>
          </a:prstGeom>
          <a:noFill/>
          <a:ln w="63500">
            <a:solidFill>
              <a:srgbClr val="C0C0C0"/>
            </a:solidFill>
            <a:round/>
            <a:headEnd/>
            <a:tailEnd/>
          </a:ln>
          <a:effectLst/>
        </p:spPr>
        <p:txBody>
          <a:bodyPr/>
          <a:lstStyle/>
          <a:p>
            <a:pPr fontAlgn="auto">
              <a:spcBef>
                <a:spcPts val="0"/>
              </a:spcBef>
              <a:spcAft>
                <a:spcPts val="0"/>
              </a:spcAft>
              <a:defRPr/>
            </a:pPr>
            <a:endParaRPr lang="en-US">
              <a:latin typeface="+mn-lt"/>
            </a:endParaRPr>
          </a:p>
        </p:txBody>
      </p:sp>
      <p:sp>
        <p:nvSpPr>
          <p:cNvPr id="125963" name="Line 11"/>
          <p:cNvSpPr>
            <a:spLocks noChangeShapeType="1"/>
          </p:cNvSpPr>
          <p:nvPr userDrawn="1"/>
        </p:nvSpPr>
        <p:spPr bwMode="auto">
          <a:xfrm>
            <a:off x="0" y="6400800"/>
            <a:ext cx="9144000" cy="0"/>
          </a:xfrm>
          <a:prstGeom prst="line">
            <a:avLst/>
          </a:prstGeom>
          <a:noFill/>
          <a:ln w="63500">
            <a:solidFill>
              <a:srgbClr val="C0C0C0"/>
            </a:solidFill>
            <a:round/>
            <a:headEnd/>
            <a:tailEnd/>
          </a:ln>
          <a:effectLst/>
        </p:spPr>
        <p:txBody>
          <a:bodyPr/>
          <a:lstStyle/>
          <a:p>
            <a:pPr fontAlgn="auto">
              <a:spcBef>
                <a:spcPts val="0"/>
              </a:spcBef>
              <a:spcAft>
                <a:spcPts val="0"/>
              </a:spcAft>
              <a:defRPr/>
            </a:pPr>
            <a:endParaRPr lang="en-US">
              <a:latin typeface="+mn-lt"/>
            </a:endParaRPr>
          </a:p>
        </p:txBody>
      </p:sp>
      <p:pic>
        <p:nvPicPr>
          <p:cNvPr id="1030" name="Picture 12" descr="JSA logo"/>
          <p:cNvPicPr>
            <a:picLocks noChangeAspect="1" noChangeArrowheads="1"/>
          </p:cNvPicPr>
          <p:nvPr userDrawn="1"/>
        </p:nvPicPr>
        <p:blipFill>
          <a:blip r:embed="rId4"/>
          <a:srcRect/>
          <a:stretch>
            <a:fillRect/>
          </a:stretch>
        </p:blipFill>
        <p:spPr bwMode="auto">
          <a:xfrm>
            <a:off x="8382000" y="6516688"/>
            <a:ext cx="506413" cy="341312"/>
          </a:xfrm>
          <a:prstGeom prst="rect">
            <a:avLst/>
          </a:prstGeom>
          <a:noFill/>
          <a:ln w="9525">
            <a:noFill/>
            <a:miter lim="800000"/>
            <a:headEnd/>
            <a:tailEnd/>
          </a:ln>
        </p:spPr>
      </p:pic>
      <p:pic>
        <p:nvPicPr>
          <p:cNvPr id="1031" name="Picture 13" descr="New JLab Logo wo words"/>
          <p:cNvPicPr>
            <a:picLocks noChangeAspect="1" noChangeArrowheads="1"/>
          </p:cNvPicPr>
          <p:nvPr userDrawn="1"/>
        </p:nvPicPr>
        <p:blipFill>
          <a:blip r:embed="rId5"/>
          <a:srcRect/>
          <a:stretch>
            <a:fillRect/>
          </a:stretch>
        </p:blipFill>
        <p:spPr bwMode="auto">
          <a:xfrm>
            <a:off x="152400" y="6475413"/>
            <a:ext cx="1524000" cy="382587"/>
          </a:xfrm>
          <a:prstGeom prst="rect">
            <a:avLst/>
          </a:prstGeom>
          <a:noFill/>
          <a:ln w="9525">
            <a:noFill/>
            <a:miter lim="800000"/>
            <a:headEnd/>
            <a:tailEnd/>
          </a:ln>
        </p:spPr>
      </p:pic>
      <p:sp>
        <p:nvSpPr>
          <p:cNvPr id="125966" name="Text Box 14"/>
          <p:cNvSpPr txBox="1">
            <a:spLocks noChangeArrowheads="1"/>
          </p:cNvSpPr>
          <p:nvPr userDrawn="1"/>
        </p:nvSpPr>
        <p:spPr bwMode="auto">
          <a:xfrm>
            <a:off x="2971800" y="6643688"/>
            <a:ext cx="3130550" cy="214312"/>
          </a:xfrm>
          <a:prstGeom prst="rect">
            <a:avLst/>
          </a:prstGeom>
          <a:noFill/>
          <a:ln w="9525">
            <a:noFill/>
            <a:miter lim="800000"/>
            <a:headEnd/>
            <a:tailEnd/>
          </a:ln>
          <a:effectLst/>
        </p:spPr>
        <p:txBody>
          <a:bodyPr>
            <a:spAutoFit/>
          </a:bodyPr>
          <a:lstStyle/>
          <a:p>
            <a:pPr algn="ctr" fontAlgn="auto">
              <a:spcBef>
                <a:spcPct val="50000"/>
              </a:spcBef>
              <a:spcAft>
                <a:spcPts val="0"/>
              </a:spcAft>
              <a:defRPr/>
            </a:pPr>
            <a:r>
              <a:rPr lang="en-US" sz="800" i="1">
                <a:latin typeface="Times New Roman" pitchFamily="18" charset="0"/>
              </a:rPr>
              <a:t>CWL/Kovar/March 1, 2007     Page </a:t>
            </a:r>
            <a:fld id="{EA9B9E2E-3EED-4105-B078-1521C138D45F}" type="slidenum">
              <a:rPr lang="en-US" sz="800" i="1">
                <a:latin typeface="Times New Roman" pitchFamily="18" charset="0"/>
              </a:rPr>
              <a:pPr algn="ctr" fontAlgn="auto">
                <a:spcBef>
                  <a:spcPct val="50000"/>
                </a:spcBef>
                <a:spcAft>
                  <a:spcPts val="0"/>
                </a:spcAft>
                <a:defRPr/>
              </a:pPr>
              <a:t>‹#›</a:t>
            </a:fld>
            <a:endParaRPr lang="en-US" sz="800" i="1">
              <a:latin typeface="Times New Roman" pitchFamily="18" charset="0"/>
            </a:endParaRPr>
          </a:p>
        </p:txBody>
      </p:sp>
      <p:pic>
        <p:nvPicPr>
          <p:cNvPr id="1033" name="Picture 15" descr="final_doe"/>
          <p:cNvPicPr>
            <a:picLocks noChangeAspect="1" noChangeArrowheads="1"/>
          </p:cNvPicPr>
          <p:nvPr userDrawn="1"/>
        </p:nvPicPr>
        <p:blipFill>
          <a:blip r:embed="rId6"/>
          <a:srcRect/>
          <a:stretch>
            <a:fillRect/>
          </a:stretch>
        </p:blipFill>
        <p:spPr bwMode="auto">
          <a:xfrm>
            <a:off x="7924800" y="6465888"/>
            <a:ext cx="392113" cy="392112"/>
          </a:xfrm>
          <a:prstGeom prst="rect">
            <a:avLst/>
          </a:prstGeom>
          <a:noFill/>
          <a:ln w="9525">
            <a:noFill/>
            <a:miter lim="800000"/>
            <a:headEnd/>
            <a:tailEnd/>
          </a:ln>
        </p:spPr>
      </p:pic>
      <p:sp>
        <p:nvSpPr>
          <p:cNvPr id="1034" name="Rectangle 17"/>
          <p:cNvSpPr>
            <a:spLocks noGrp="1" noChangeArrowheads="1"/>
          </p:cNvSpPr>
          <p:nvPr>
            <p:ph type="body" idx="1"/>
          </p:nvPr>
        </p:nvSpPr>
        <p:spPr bwMode="auto">
          <a:xfrm>
            <a:off x="457200" y="990600"/>
            <a:ext cx="8229600" cy="5257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Tree>
  </p:cSld>
  <p:clrMap bg1="lt1" tx1="dk1" bg2="lt2" tx2="dk2" accent1="accent1" accent2="accent2" accent3="accent3" accent4="accent4" accent5="accent5" accent6="accent6" hlink="hlink" folHlink="folHlink"/>
  <p:sldLayoutIdLst>
    <p:sldLayoutId id="2147483662" r:id="rId1"/>
    <p:sldLayoutId id="2147483661" r:id="rId2"/>
  </p:sldLayoutIdLst>
  <p:txStyles>
    <p:titleStyle>
      <a:lvl1pPr algn="ctr" rtl="0" eaLnBrk="0" fontAlgn="base" hangingPunct="0">
        <a:spcBef>
          <a:spcPct val="0"/>
        </a:spcBef>
        <a:spcAft>
          <a:spcPct val="0"/>
        </a:spcAft>
        <a:defRPr sz="3200" b="1">
          <a:solidFill>
            <a:schemeClr val="tx1"/>
          </a:solidFill>
          <a:latin typeface="+mj-lt"/>
          <a:ea typeface="+mj-ea"/>
          <a:cs typeface="+mj-cs"/>
        </a:defRPr>
      </a:lvl1pPr>
      <a:lvl2pPr algn="ctr" rtl="0" eaLnBrk="0" fontAlgn="base" hangingPunct="0">
        <a:spcBef>
          <a:spcPct val="0"/>
        </a:spcBef>
        <a:spcAft>
          <a:spcPct val="0"/>
        </a:spcAft>
        <a:defRPr sz="3200" b="1">
          <a:solidFill>
            <a:schemeClr val="tx1"/>
          </a:solidFill>
          <a:latin typeface="Arial" charset="0"/>
        </a:defRPr>
      </a:lvl2pPr>
      <a:lvl3pPr algn="ctr" rtl="0" eaLnBrk="0" fontAlgn="base" hangingPunct="0">
        <a:spcBef>
          <a:spcPct val="0"/>
        </a:spcBef>
        <a:spcAft>
          <a:spcPct val="0"/>
        </a:spcAft>
        <a:defRPr sz="3200" b="1">
          <a:solidFill>
            <a:schemeClr val="tx1"/>
          </a:solidFill>
          <a:latin typeface="Arial" charset="0"/>
        </a:defRPr>
      </a:lvl3pPr>
      <a:lvl4pPr algn="ctr" rtl="0" eaLnBrk="0" fontAlgn="base" hangingPunct="0">
        <a:spcBef>
          <a:spcPct val="0"/>
        </a:spcBef>
        <a:spcAft>
          <a:spcPct val="0"/>
        </a:spcAft>
        <a:defRPr sz="3200" b="1">
          <a:solidFill>
            <a:schemeClr val="tx1"/>
          </a:solidFill>
          <a:latin typeface="Arial" charset="0"/>
        </a:defRPr>
      </a:lvl4pPr>
      <a:lvl5pPr algn="ctr" rtl="0" eaLnBrk="0" fontAlgn="base" hangingPunct="0">
        <a:spcBef>
          <a:spcPct val="0"/>
        </a:spcBef>
        <a:spcAft>
          <a:spcPct val="0"/>
        </a:spcAft>
        <a:defRPr sz="3200" b="1">
          <a:solidFill>
            <a:schemeClr val="tx1"/>
          </a:solidFill>
          <a:latin typeface="Arial" charset="0"/>
        </a:defRPr>
      </a:lvl5pPr>
      <a:lvl6pPr marL="457200" algn="ctr" rtl="0" fontAlgn="base">
        <a:spcBef>
          <a:spcPct val="0"/>
        </a:spcBef>
        <a:spcAft>
          <a:spcPct val="0"/>
        </a:spcAft>
        <a:defRPr sz="3200" b="1">
          <a:solidFill>
            <a:schemeClr val="tx1"/>
          </a:solidFill>
          <a:latin typeface="Arial" charset="0"/>
        </a:defRPr>
      </a:lvl6pPr>
      <a:lvl7pPr marL="914400" algn="ctr" rtl="0" fontAlgn="base">
        <a:spcBef>
          <a:spcPct val="0"/>
        </a:spcBef>
        <a:spcAft>
          <a:spcPct val="0"/>
        </a:spcAft>
        <a:defRPr sz="3200" b="1">
          <a:solidFill>
            <a:schemeClr val="tx1"/>
          </a:solidFill>
          <a:latin typeface="Arial" charset="0"/>
        </a:defRPr>
      </a:lvl7pPr>
      <a:lvl8pPr marL="1371600" algn="ctr" rtl="0" fontAlgn="base">
        <a:spcBef>
          <a:spcPct val="0"/>
        </a:spcBef>
        <a:spcAft>
          <a:spcPct val="0"/>
        </a:spcAft>
        <a:defRPr sz="3200" b="1">
          <a:solidFill>
            <a:schemeClr val="tx1"/>
          </a:solidFill>
          <a:latin typeface="Arial" charset="0"/>
        </a:defRPr>
      </a:lvl8pPr>
      <a:lvl9pPr marL="1828800" algn="ctr" rtl="0" fontAlgn="base">
        <a:spcBef>
          <a:spcPct val="0"/>
        </a:spcBef>
        <a:spcAft>
          <a:spcPct val="0"/>
        </a:spcAft>
        <a:defRPr sz="3200" b="1">
          <a:solidFill>
            <a:schemeClr val="tx1"/>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a:solidFill>
            <a:schemeClr val="tx1"/>
          </a:solidFill>
          <a:latin typeface="+mn-lt"/>
        </a:defRPr>
      </a:lvl6pPr>
      <a:lvl7pPr marL="2971800" indent="-228600" algn="l" rtl="0" fontAlgn="base">
        <a:spcBef>
          <a:spcPct val="20000"/>
        </a:spcBef>
        <a:spcAft>
          <a:spcPct val="0"/>
        </a:spcAft>
        <a:buChar char="»"/>
        <a:defRPr>
          <a:solidFill>
            <a:schemeClr val="tx1"/>
          </a:solidFill>
          <a:latin typeface="+mn-lt"/>
        </a:defRPr>
      </a:lvl7pPr>
      <a:lvl8pPr marL="3429000" indent="-228600" algn="l" rtl="0" fontAlgn="base">
        <a:spcBef>
          <a:spcPct val="20000"/>
        </a:spcBef>
        <a:spcAft>
          <a:spcPct val="0"/>
        </a:spcAft>
        <a:buChar char="»"/>
        <a:defRPr>
          <a:solidFill>
            <a:schemeClr val="tx1"/>
          </a:solidFill>
          <a:latin typeface="+mn-lt"/>
        </a:defRPr>
      </a:lvl8pPr>
      <a:lvl9pPr marL="3886200" indent="-228600" algn="l" rtl="0" fontAlgn="base">
        <a:spcBef>
          <a:spcPct val="20000"/>
        </a:spcBef>
        <a:spcAft>
          <a:spcPct val="0"/>
        </a:spcAft>
        <a:buChar char="»"/>
        <a:defRPr>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7" name="Rectangle 2"/>
          <p:cNvSpPr>
            <a:spLocks noChangeArrowheads="1"/>
          </p:cNvSpPr>
          <p:nvPr/>
        </p:nvSpPr>
        <p:spPr bwMode="auto">
          <a:xfrm>
            <a:off x="76200" y="88900"/>
            <a:ext cx="9144000" cy="525463"/>
          </a:xfrm>
          <a:prstGeom prst="rect">
            <a:avLst/>
          </a:prstGeom>
          <a:noFill/>
          <a:ln w="3175">
            <a:noFill/>
            <a:miter lim="800000"/>
            <a:headEnd/>
            <a:tailEnd/>
          </a:ln>
        </p:spPr>
        <p:txBody>
          <a:bodyPr anchor="ctr"/>
          <a:lstStyle/>
          <a:p>
            <a:pPr algn="ctr"/>
            <a:r>
              <a:rPr lang="en-US" sz="3200" b="1"/>
              <a:t>FY08: Performance Anticipated </a:t>
            </a:r>
          </a:p>
        </p:txBody>
      </p:sp>
      <p:graphicFrame>
        <p:nvGraphicFramePr>
          <p:cNvPr id="207969" name="Group 97"/>
          <p:cNvGraphicFramePr>
            <a:graphicFrameLocks noGrp="1"/>
          </p:cNvGraphicFramePr>
          <p:nvPr/>
        </p:nvGraphicFramePr>
        <p:xfrm>
          <a:off x="457200" y="1676400"/>
          <a:ext cx="8077200" cy="3689350"/>
        </p:xfrm>
        <a:graphic>
          <a:graphicData uri="http://schemas.openxmlformats.org/drawingml/2006/table">
            <a:tbl>
              <a:tblPr/>
              <a:tblGrid>
                <a:gridCol w="2844800"/>
                <a:gridCol w="1820863"/>
                <a:gridCol w="1781175"/>
                <a:gridCol w="1630362"/>
              </a:tblGrid>
              <a:tr h="304800">
                <a:tc>
                  <a:txBody>
                    <a:bodyPr/>
                    <a:lstStyle/>
                    <a:p>
                      <a:pPr marL="0" marR="0" lvl="0" indent="0" algn="l" defTabSz="914400" rtl="0" eaLnBrk="1" fontAlgn="base" latinLnBrk="0" hangingPunct="1">
                        <a:lnSpc>
                          <a:spcPct val="100000"/>
                        </a:lnSpc>
                        <a:spcBef>
                          <a:spcPct val="70000"/>
                        </a:spcBef>
                        <a:spcAft>
                          <a:spcPct val="0"/>
                        </a:spcAft>
                        <a:buClr>
                          <a:schemeClr val="tx1"/>
                        </a:buClr>
                        <a:buSzPct val="90000"/>
                        <a:buFont typeface="Wingdings" pitchFamily="2" charset="2"/>
                        <a:buNone/>
                        <a:tabLst/>
                      </a:pPr>
                      <a:r>
                        <a:rPr kumimoji="0" lang="en-US" sz="1700" b="1" i="0" u="sng" strike="noStrike" cap="none" normalizeH="0" baseline="0" smtClean="0">
                          <a:ln>
                            <a:noFill/>
                          </a:ln>
                          <a:solidFill>
                            <a:schemeClr val="tx1"/>
                          </a:solidFill>
                          <a:effectLst/>
                          <a:latin typeface="Arial" charset="0"/>
                        </a:rPr>
                        <a:t>Performance</a:t>
                      </a: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700" b="1" i="0" u="sng" strike="noStrike" cap="none" normalizeH="0" baseline="0" smtClean="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700" b="1" i="0" u="sng" strike="noStrike" cap="none" normalizeH="0" baseline="0" smtClean="0">
                          <a:ln>
                            <a:noFill/>
                          </a:ln>
                          <a:solidFill>
                            <a:schemeClr val="tx1"/>
                          </a:solidFill>
                          <a:effectLst/>
                          <a:latin typeface="Arial" charset="0"/>
                        </a:rPr>
                        <a:t>FY07 Appr.</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700" b="1" i="0" u="sng" strike="noStrike" cap="none" normalizeH="0" baseline="0" smtClean="0">
                          <a:ln>
                            <a:noFill/>
                          </a:ln>
                          <a:solidFill>
                            <a:schemeClr val="tx1"/>
                          </a:solidFill>
                          <a:effectLst/>
                          <a:latin typeface="Arial" charset="0"/>
                        </a:rPr>
                        <a:t>FY08 PB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700" b="1" i="0" u="sng" strike="noStrike" cap="none" normalizeH="0" baseline="0" smtClean="0">
                          <a:ln>
                            <a:noFill/>
                          </a:ln>
                          <a:solidFill>
                            <a:schemeClr val="tx1"/>
                          </a:solidFill>
                          <a:effectLst/>
                          <a:latin typeface="Arial" charset="0"/>
                        </a:rPr>
                        <a:t>% Change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24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700" b="0" i="0" u="none" strike="noStrike" cap="none" normalizeH="0" baseline="0" smtClean="0">
                          <a:ln>
                            <a:noFill/>
                          </a:ln>
                          <a:solidFill>
                            <a:schemeClr val="tx1"/>
                          </a:solidFill>
                          <a:effectLst/>
                          <a:latin typeface="Arial" charset="0"/>
                        </a:rPr>
                        <a:t>Delivered research hours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700" b="0" i="0" u="none" strike="noStrike" cap="none" normalizeH="0" baseline="0" smtClean="0">
                          <a:ln>
                            <a:noFill/>
                          </a:ln>
                          <a:solidFill>
                            <a:schemeClr val="tx1"/>
                          </a:solidFill>
                          <a:effectLst/>
                          <a:latin typeface="Arial" charset="0"/>
                        </a:rPr>
                        <a:t>4426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700" b="0" i="0" u="none" strike="noStrike" cap="none" normalizeH="0" baseline="0" smtClean="0">
                          <a:ln>
                            <a:noFill/>
                          </a:ln>
                          <a:solidFill>
                            <a:schemeClr val="tx1"/>
                          </a:solidFill>
                          <a:effectLst/>
                          <a:latin typeface="Arial" charset="0"/>
                        </a:rPr>
                        <a:t>4868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700" b="0" i="0" u="none" strike="noStrike" cap="none" normalizeH="0" baseline="0" smtClean="0">
                          <a:ln>
                            <a:noFill/>
                          </a:ln>
                          <a:solidFill>
                            <a:schemeClr val="tx1"/>
                          </a:solidFill>
                          <a:effectLst/>
                          <a:latin typeface="Arial" charset="0"/>
                        </a:rPr>
                        <a:t>10.0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08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700" b="0" i="0" u="none" strike="noStrike" cap="none" normalizeH="0" baseline="0" smtClean="0">
                          <a:ln>
                            <a:noFill/>
                          </a:ln>
                          <a:solidFill>
                            <a:schemeClr val="tx1"/>
                          </a:solidFill>
                          <a:effectLst/>
                          <a:latin typeface="Arial" charset="0"/>
                        </a:rPr>
                        <a:t>Delivered beam studies hours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700" b="0" i="0" u="none" strike="noStrike" cap="none" normalizeH="0" baseline="0" smtClean="0">
                          <a:ln>
                            <a:noFill/>
                          </a:ln>
                          <a:solidFill>
                            <a:schemeClr val="tx1"/>
                          </a:solidFill>
                          <a:effectLst/>
                          <a:latin typeface="Arial" charset="0"/>
                        </a:rPr>
                        <a:t>349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700" b="0" i="0" u="none" strike="noStrike" cap="none" normalizeH="0" baseline="0" smtClean="0">
                          <a:ln>
                            <a:noFill/>
                          </a:ln>
                          <a:solidFill>
                            <a:schemeClr val="tx1"/>
                          </a:solidFill>
                          <a:effectLst/>
                          <a:latin typeface="Arial" charset="0"/>
                        </a:rPr>
                        <a:t>406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700" b="0" i="0" u="none" strike="noStrike" cap="none" normalizeH="0" baseline="0" smtClean="0">
                          <a:ln>
                            <a:noFill/>
                          </a:ln>
                          <a:solidFill>
                            <a:schemeClr val="tx1"/>
                          </a:solidFill>
                          <a:effectLst/>
                          <a:latin typeface="Arial" charset="0"/>
                        </a:rPr>
                        <a:t>16.3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24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700" b="0" i="0" u="none" strike="noStrike" cap="none" normalizeH="0" baseline="0" smtClean="0">
                          <a:ln>
                            <a:noFill/>
                          </a:ln>
                          <a:solidFill>
                            <a:schemeClr val="tx1"/>
                          </a:solidFill>
                          <a:effectLst/>
                          <a:latin typeface="Arial" charset="0"/>
                        </a:rPr>
                        <a:t>Set-up/tuning hours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700" b="0" i="0" u="none" strike="noStrike" cap="none" normalizeH="0" baseline="0" smtClean="0">
                          <a:ln>
                            <a:noFill/>
                          </a:ln>
                          <a:solidFill>
                            <a:schemeClr val="tx1"/>
                          </a:solidFill>
                          <a:effectLst/>
                          <a:latin typeface="Arial" charset="0"/>
                        </a:rPr>
                        <a:t>259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700" b="0" i="0" u="none" strike="noStrike" cap="none" normalizeH="0" baseline="0" smtClean="0">
                          <a:ln>
                            <a:noFill/>
                          </a:ln>
                          <a:solidFill>
                            <a:schemeClr val="tx1"/>
                          </a:solidFill>
                          <a:effectLst/>
                          <a:latin typeface="Arial" charset="0"/>
                        </a:rPr>
                        <a:t>270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700" b="0" i="0" u="none" strike="noStrike" cap="none" normalizeH="0" baseline="0" smtClean="0">
                          <a:ln>
                            <a:noFill/>
                          </a:ln>
                          <a:solidFill>
                            <a:schemeClr val="tx1"/>
                          </a:solidFill>
                          <a:effectLst/>
                          <a:latin typeface="Arial" charset="0"/>
                        </a:rPr>
                        <a:t>4.2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08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700" b="0" i="0" u="none" strike="noStrike" cap="none" normalizeH="0" baseline="0" smtClean="0">
                          <a:ln>
                            <a:noFill/>
                          </a:ln>
                          <a:solidFill>
                            <a:schemeClr val="tx1"/>
                          </a:solidFill>
                          <a:effectLst/>
                          <a:latin typeface="Arial" charset="0"/>
                        </a:rPr>
                        <a:t>Delivered Operating hours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700" b="0" i="0" u="none" strike="noStrike" cap="none" normalizeH="0" baseline="0" smtClean="0">
                          <a:ln>
                            <a:noFill/>
                          </a:ln>
                          <a:solidFill>
                            <a:schemeClr val="tx1"/>
                          </a:solidFill>
                          <a:effectLst/>
                          <a:latin typeface="Arial" charset="0"/>
                        </a:rPr>
                        <a:t>5034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700" b="0" i="0" u="none" strike="noStrike" cap="none" normalizeH="0" baseline="0" smtClean="0">
                          <a:ln>
                            <a:noFill/>
                          </a:ln>
                          <a:solidFill>
                            <a:schemeClr val="tx1"/>
                          </a:solidFill>
                          <a:effectLst/>
                          <a:latin typeface="Arial" charset="0"/>
                        </a:rPr>
                        <a:t>5544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700" b="0" i="0" u="none" strike="noStrike" cap="none" normalizeH="0" baseline="0" smtClean="0">
                          <a:ln>
                            <a:noFill/>
                          </a:ln>
                          <a:solidFill>
                            <a:schemeClr val="tx1"/>
                          </a:solidFill>
                          <a:effectLst/>
                          <a:latin typeface="Arial" charset="0"/>
                        </a:rPr>
                        <a:t>10.1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24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700" b="0" i="0" u="none" strike="noStrike" cap="none" normalizeH="0" baseline="0" smtClean="0">
                          <a:ln>
                            <a:noFill/>
                          </a:ln>
                          <a:solidFill>
                            <a:schemeClr val="tx1"/>
                          </a:solidFill>
                          <a:effectLst/>
                          <a:latin typeface="Arial" charset="0"/>
                        </a:rPr>
                        <a:t>Unscheduled shut down</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700" b="0" i="0" u="none" strike="noStrike" cap="none" normalizeH="0" baseline="0" smtClean="0">
                          <a:ln>
                            <a:noFill/>
                          </a:ln>
                          <a:solidFill>
                            <a:schemeClr val="tx1"/>
                          </a:solidFill>
                          <a:effectLst/>
                          <a:latin typeface="Arial" charset="0"/>
                        </a:rPr>
                        <a:t>559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700" b="0" i="0" u="none" strike="noStrike" cap="none" normalizeH="0" baseline="0" smtClean="0">
                          <a:ln>
                            <a:noFill/>
                          </a:ln>
                          <a:solidFill>
                            <a:schemeClr val="tx1"/>
                          </a:solidFill>
                          <a:effectLst/>
                          <a:latin typeface="Arial" charset="0"/>
                        </a:rPr>
                        <a:t>756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700" b="0" i="0" u="none" strike="noStrike" cap="none" normalizeH="0" baseline="0" smtClean="0">
                          <a:ln>
                            <a:noFill/>
                          </a:ln>
                          <a:solidFill>
                            <a:schemeClr val="tx1"/>
                          </a:solidFill>
                          <a:effectLst/>
                          <a:latin typeface="Arial" charset="0"/>
                        </a:rPr>
                        <a:t>35.2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08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700" b="0" i="0" u="none" strike="noStrike" cap="none" normalizeH="0" baseline="0" smtClean="0">
                          <a:ln>
                            <a:noFill/>
                          </a:ln>
                          <a:solidFill>
                            <a:schemeClr val="tx1"/>
                          </a:solidFill>
                          <a:effectLst/>
                          <a:latin typeface="Arial" charset="0"/>
                        </a:rPr>
                        <a:t>Scheduled Weeks of operation</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700" b="0" i="0" u="none" strike="noStrike" cap="none" normalizeH="0" baseline="0" smtClean="0">
                          <a:ln>
                            <a:noFill/>
                          </a:ln>
                          <a:solidFill>
                            <a:schemeClr val="tx1"/>
                          </a:solidFill>
                          <a:effectLst/>
                          <a:latin typeface="Arial" charset="0"/>
                        </a:rPr>
                        <a:t>33.3*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700" b="0" i="0" u="none" strike="noStrike" cap="none" normalizeH="0" baseline="0" smtClean="0">
                          <a:ln>
                            <a:noFill/>
                          </a:ln>
                          <a:solidFill>
                            <a:schemeClr val="tx1"/>
                          </a:solidFill>
                          <a:effectLst/>
                          <a:latin typeface="Arial" charset="0"/>
                        </a:rPr>
                        <a:t>37.5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700" b="0" i="0" u="none" strike="noStrike" cap="none" normalizeH="0" baseline="0" smtClean="0">
                          <a:ln>
                            <a:noFill/>
                          </a:ln>
                          <a:solidFill>
                            <a:schemeClr val="tx1"/>
                          </a:solidFill>
                          <a:effectLst/>
                          <a:latin typeface="Arial" charset="0"/>
                        </a:rPr>
                        <a:t>12.6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4140" name="Text Box 99"/>
          <p:cNvSpPr txBox="1">
            <a:spLocks noChangeArrowheads="1"/>
          </p:cNvSpPr>
          <p:nvPr/>
        </p:nvSpPr>
        <p:spPr bwMode="auto">
          <a:xfrm>
            <a:off x="533400" y="5638800"/>
            <a:ext cx="4783138" cy="701675"/>
          </a:xfrm>
          <a:prstGeom prst="rect">
            <a:avLst/>
          </a:prstGeom>
          <a:noFill/>
          <a:ln w="12700" algn="ctr">
            <a:noFill/>
            <a:miter lim="800000"/>
            <a:headEnd/>
            <a:tailEnd/>
          </a:ln>
        </p:spPr>
        <p:txBody>
          <a:bodyPr wrap="none">
            <a:spAutoFit/>
          </a:bodyPr>
          <a:lstStyle/>
          <a:p>
            <a:pPr marL="455613" indent="-455613">
              <a:tabLst>
                <a:tab pos="857250" algn="l"/>
              </a:tabLst>
            </a:pPr>
            <a:r>
              <a:rPr lang="en-US" sz="2000"/>
              <a:t>* Includes 6 weeks of low-impact running</a:t>
            </a:r>
          </a:p>
          <a:p>
            <a:pPr marL="455613" indent="-455613">
              <a:tabLst>
                <a:tab pos="857250" algn="l"/>
              </a:tabLst>
            </a:pPr>
            <a:endParaRPr lang="en-US" sz="2000">
              <a:solidFill>
                <a:srgbClr val="CC0000"/>
              </a:solidFill>
            </a:endParaRPr>
          </a:p>
        </p:txBody>
      </p:sp>
      <p:sp>
        <p:nvSpPr>
          <p:cNvPr id="46" name="TextBox 45"/>
          <p:cNvSpPr txBox="1"/>
          <p:nvPr/>
        </p:nvSpPr>
        <p:spPr>
          <a:xfrm>
            <a:off x="5476778" y="990600"/>
            <a:ext cx="3309560" cy="369332"/>
          </a:xfrm>
          <a:prstGeom prst="rect">
            <a:avLst/>
          </a:prstGeom>
          <a:solidFill>
            <a:srgbClr val="5419E9"/>
          </a:solidFill>
        </p:spPr>
        <p:txBody>
          <a:bodyPr wrap="none">
            <a:spAutoFit/>
          </a:bodyPr>
          <a:lstStyle/>
          <a:p>
            <a:pPr fontAlgn="auto">
              <a:spcBef>
                <a:spcPts val="0"/>
              </a:spcBef>
              <a:spcAft>
                <a:spcPts val="0"/>
              </a:spcAft>
              <a:defRPr/>
            </a:pPr>
            <a:r>
              <a:rPr lang="en-US"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mn-lt"/>
              </a:rPr>
              <a:t>FREYBERGER/HUTTON p 42</a:t>
            </a:r>
            <a:endParaRPr lang="en-US"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mn-lt"/>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p:cNvSpPr>
            <a:spLocks noChangeArrowheads="1"/>
          </p:cNvSpPr>
          <p:nvPr/>
        </p:nvSpPr>
        <p:spPr bwMode="auto">
          <a:xfrm>
            <a:off x="0" y="304800"/>
            <a:ext cx="9144000" cy="525463"/>
          </a:xfrm>
          <a:prstGeom prst="rect">
            <a:avLst/>
          </a:prstGeom>
          <a:noFill/>
          <a:ln w="3175">
            <a:noFill/>
            <a:miter lim="800000"/>
            <a:headEnd/>
            <a:tailEnd/>
          </a:ln>
        </p:spPr>
        <p:txBody>
          <a:bodyPr anchor="ctr"/>
          <a:lstStyle/>
          <a:p>
            <a:pPr algn="ctr"/>
            <a:r>
              <a:rPr lang="en-US" sz="3200" b="1"/>
              <a:t>FY09 Planned Performance ($M)</a:t>
            </a:r>
          </a:p>
        </p:txBody>
      </p:sp>
      <p:graphicFrame>
        <p:nvGraphicFramePr>
          <p:cNvPr id="210058" name="Group 138"/>
          <p:cNvGraphicFramePr>
            <a:graphicFrameLocks noGrp="1"/>
          </p:cNvGraphicFramePr>
          <p:nvPr/>
        </p:nvGraphicFramePr>
        <p:xfrm>
          <a:off x="457200" y="1600200"/>
          <a:ext cx="8001000" cy="4049713"/>
        </p:xfrm>
        <a:graphic>
          <a:graphicData uri="http://schemas.openxmlformats.org/drawingml/2006/table">
            <a:tbl>
              <a:tblPr/>
              <a:tblGrid>
                <a:gridCol w="2747963"/>
                <a:gridCol w="1212850"/>
                <a:gridCol w="1616075"/>
                <a:gridCol w="1130300"/>
                <a:gridCol w="1293812"/>
              </a:tblGrid>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smtClean="0">
                        <a:ln>
                          <a:noFill/>
                        </a:ln>
                        <a:solidFill>
                          <a:schemeClr val="tx1"/>
                        </a:solidFill>
                        <a:effectLst/>
                        <a:latin typeface="Arial" charset="0"/>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smtClean="0">
                          <a:ln>
                            <a:noFill/>
                          </a:ln>
                          <a:solidFill>
                            <a:schemeClr val="tx1"/>
                          </a:solidFill>
                          <a:effectLst/>
                          <a:latin typeface="Arial" charset="0"/>
                        </a:rPr>
                        <a:t>Performance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smtClean="0">
                          <a:ln>
                            <a:noFill/>
                          </a:ln>
                          <a:solidFill>
                            <a:schemeClr val="tx1"/>
                          </a:solidFill>
                          <a:effectLst>
                            <a:outerShdw blurRad="38100" dist="38100" dir="2700000" algn="tl">
                              <a:srgbClr val="C0C0C0"/>
                            </a:outerShdw>
                          </a:effectLst>
                          <a:latin typeface="Arial" charset="0"/>
                        </a:rPr>
                        <a:t>(-5%)</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smtClean="0">
                          <a:ln>
                            <a:noFill/>
                          </a:ln>
                          <a:solidFill>
                            <a:schemeClr val="tx1"/>
                          </a:solidFill>
                          <a:effectLst>
                            <a:outerShdw blurRad="38100" dist="38100" dir="2700000" algn="tl">
                              <a:srgbClr val="C0C0C0"/>
                            </a:outerShdw>
                          </a:effectLst>
                          <a:latin typeface="Arial" charset="0"/>
                        </a:rPr>
                        <a:t>FY08 PB </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smtClean="0">
                          <a:ln>
                            <a:noFill/>
                          </a:ln>
                          <a:solidFill>
                            <a:schemeClr val="tx1"/>
                          </a:solidFill>
                          <a:effectLst>
                            <a:outerShdw blurRad="38100" dist="38100" dir="2700000" algn="tl">
                              <a:srgbClr val="C0C0C0"/>
                            </a:outerShdw>
                          </a:effectLst>
                          <a:latin typeface="Arial" charset="0"/>
                        </a:rPr>
                        <a:t>$83.7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smtClean="0">
                          <a:ln>
                            <a:noFill/>
                          </a:ln>
                          <a:solidFill>
                            <a:schemeClr val="tx1"/>
                          </a:solidFill>
                          <a:effectLst>
                            <a:outerShdw blurRad="38100" dist="38100" dir="2700000" algn="tl">
                              <a:srgbClr val="C0C0C0"/>
                            </a:outerShdw>
                          </a:effectLst>
                          <a:latin typeface="Arial" charset="0"/>
                        </a:rPr>
                        <a:t>(Flat)</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smtClean="0">
                          <a:ln>
                            <a:noFill/>
                          </a:ln>
                          <a:solidFill>
                            <a:schemeClr val="tx1"/>
                          </a:solidFill>
                          <a:effectLst>
                            <a:outerShdw blurRad="38100" dist="38100" dir="2700000" algn="tl">
                              <a:srgbClr val="C0C0C0"/>
                            </a:outerShdw>
                          </a:effectLst>
                          <a:latin typeface="Arial" charset="0"/>
                        </a:rPr>
                        <a:t>FY08 Planned</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smtClean="0">
                          <a:ln>
                            <a:noFill/>
                          </a:ln>
                          <a:solidFill>
                            <a:schemeClr val="tx1"/>
                          </a:solidFill>
                          <a:effectLst>
                            <a:outerShdw blurRad="38100" dist="38100" dir="2700000" algn="tl">
                              <a:srgbClr val="C0C0C0"/>
                            </a:outerShdw>
                          </a:effectLst>
                          <a:latin typeface="Arial" charset="0"/>
                        </a:rPr>
                        <a:t>$88.3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smtClean="0">
                          <a:ln>
                            <a:noFill/>
                          </a:ln>
                          <a:solidFill>
                            <a:schemeClr val="tx1"/>
                          </a:solidFill>
                          <a:effectLst>
                            <a:outerShdw blurRad="38100" dist="38100" dir="2700000" algn="tl">
                              <a:srgbClr val="C0C0C0"/>
                            </a:outerShdw>
                          </a:effectLst>
                          <a:latin typeface="Arial" charset="0"/>
                        </a:rPr>
                        <a:t>FY08 (+3.5%)</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smtClean="0">
                          <a:ln>
                            <a:noFill/>
                          </a:ln>
                          <a:solidFill>
                            <a:schemeClr val="tx1"/>
                          </a:solidFill>
                          <a:effectLst>
                            <a:outerShdw blurRad="38100" dist="38100" dir="2700000" algn="tl">
                              <a:srgbClr val="C0C0C0"/>
                            </a:outerShdw>
                          </a:effectLst>
                          <a:latin typeface="Arial" charset="0"/>
                        </a:rPr>
                        <a:t>$91.5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1" i="0" u="none" strike="noStrike" cap="none" normalizeH="0" baseline="0" smtClean="0">
                        <a:ln>
                          <a:noFill/>
                        </a:ln>
                        <a:solidFill>
                          <a:schemeClr val="tx1"/>
                        </a:solidFill>
                        <a:effectLst>
                          <a:outerShdw blurRad="38100" dist="38100" dir="2700000" algn="tl">
                            <a:srgbClr val="C0C0C0"/>
                          </a:outerShdw>
                        </a:effectLst>
                        <a:latin typeface="Arial" charset="0"/>
                      </a:endParaRP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smtClean="0">
                          <a:ln>
                            <a:noFill/>
                          </a:ln>
                          <a:solidFill>
                            <a:schemeClr val="tx1"/>
                          </a:solidFill>
                          <a:effectLst>
                            <a:outerShdw blurRad="38100" dist="38100" dir="2700000" algn="tl">
                              <a:srgbClr val="C0C0C0"/>
                            </a:outerShdw>
                          </a:effectLst>
                          <a:latin typeface="Arial" charset="0"/>
                        </a:rPr>
                        <a:t>Proposed</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smtClean="0">
                          <a:ln>
                            <a:noFill/>
                          </a:ln>
                          <a:solidFill>
                            <a:schemeClr val="tx1"/>
                          </a:solidFill>
                          <a:effectLst>
                            <a:outerShdw blurRad="38100" dist="38100" dir="2700000" algn="tl">
                              <a:srgbClr val="C0C0C0"/>
                            </a:outerShdw>
                          </a:effectLst>
                          <a:latin typeface="Arial" charset="0"/>
                        </a:rPr>
                        <a:t>$113.1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064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Arial" charset="0"/>
                        </a:rPr>
                        <a:t>Delivered research hours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Arial" charset="0"/>
                        </a:rPr>
                        <a:t>3877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Arial" charset="0"/>
                        </a:rPr>
                        <a:t>3889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Arial" charset="0"/>
                        </a:rPr>
                        <a:t>4199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Arial" charset="0"/>
                        </a:rPr>
                        <a:t>5251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064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Arial" charset="0"/>
                        </a:rPr>
                        <a:t>Delivered beam studies hours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Arial" charset="0"/>
                        </a:rPr>
                        <a:t>323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Arial" charset="0"/>
                        </a:rPr>
                        <a:t>324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Arial" charset="0"/>
                        </a:rPr>
                        <a:t>350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Arial" charset="0"/>
                        </a:rPr>
                        <a:t>438</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064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Arial" charset="0"/>
                        </a:rPr>
                        <a:t>Delivered Set-up/tuning hours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70000"/>
                        </a:spcBef>
                        <a:spcAft>
                          <a:spcPct val="0"/>
                        </a:spcAft>
                        <a:buClr>
                          <a:schemeClr val="tx1"/>
                        </a:buClr>
                        <a:buSzPct val="90000"/>
                        <a:buFont typeface="Wingdings" pitchFamily="2" charset="2"/>
                        <a:buNone/>
                        <a:tabLst/>
                      </a:pPr>
                      <a:r>
                        <a:rPr kumimoji="0" lang="en-US" sz="1600" b="0" i="0" u="none" strike="noStrike" cap="none" normalizeH="0" baseline="0" smtClean="0">
                          <a:ln>
                            <a:noFill/>
                          </a:ln>
                          <a:solidFill>
                            <a:schemeClr val="tx1"/>
                          </a:solidFill>
                          <a:effectLst/>
                          <a:latin typeface="Arial" charset="0"/>
                        </a:rPr>
                        <a:t>215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Arial" charset="0"/>
                        </a:rPr>
                        <a:t>216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70000"/>
                        </a:spcBef>
                        <a:spcAft>
                          <a:spcPct val="0"/>
                        </a:spcAft>
                        <a:buClr>
                          <a:schemeClr val="tx1"/>
                        </a:buClr>
                        <a:buSzPct val="90000"/>
                        <a:buFont typeface="Wingdings" pitchFamily="2" charset="2"/>
                        <a:buNone/>
                        <a:tabLst/>
                      </a:pPr>
                      <a:r>
                        <a:rPr kumimoji="0" lang="en-US" sz="1600" b="0" i="0" u="none" strike="noStrike" cap="none" normalizeH="0" baseline="0" smtClean="0">
                          <a:ln>
                            <a:noFill/>
                          </a:ln>
                          <a:solidFill>
                            <a:schemeClr val="tx1"/>
                          </a:solidFill>
                          <a:effectLst/>
                          <a:latin typeface="Arial" charset="0"/>
                        </a:rPr>
                        <a:t>233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Arial" charset="0"/>
                        </a:rPr>
                        <a:t>292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064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Arial" charset="0"/>
                        </a:rPr>
                        <a:t>Total delivered Operating hours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Arial" charset="0"/>
                        </a:rPr>
                        <a:t>4416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Arial" charset="0"/>
                        </a:rPr>
                        <a:t>4429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Arial" charset="0"/>
                        </a:rPr>
                        <a:t>4783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Arial" charset="0"/>
                        </a:rPr>
                        <a:t>5981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064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Arial" charset="0"/>
                        </a:rPr>
                        <a:t>Unscheduled shut down</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Arial" charset="0"/>
                        </a:rPr>
                        <a:t>719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Arial" charset="0"/>
                        </a:rPr>
                        <a:t>662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Arial" charset="0"/>
                        </a:rPr>
                        <a:t>652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Arial" charset="0"/>
                        </a:rPr>
                        <a:t>739</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064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Arial" charset="0"/>
                        </a:rPr>
                        <a:t>Scheduled weeks of operation</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Arial" charset="0"/>
                        </a:rPr>
                        <a:t>30.6*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Arial" charset="0"/>
                        </a:rPr>
                        <a:t>30.3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Arial" charset="0"/>
                        </a:rPr>
                        <a:t>32.4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Arial" charset="0"/>
                        </a:rPr>
                        <a:t>40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5172" name="Text Box 136"/>
          <p:cNvSpPr txBox="1">
            <a:spLocks noChangeArrowheads="1"/>
          </p:cNvSpPr>
          <p:nvPr/>
        </p:nvSpPr>
        <p:spPr bwMode="auto">
          <a:xfrm>
            <a:off x="3048000" y="5791200"/>
            <a:ext cx="5410200" cy="366713"/>
          </a:xfrm>
          <a:prstGeom prst="rect">
            <a:avLst/>
          </a:prstGeom>
          <a:noFill/>
          <a:ln w="12700" algn="ctr">
            <a:noFill/>
            <a:miter lim="800000"/>
            <a:headEnd/>
            <a:tailEnd/>
          </a:ln>
        </p:spPr>
        <p:txBody>
          <a:bodyPr>
            <a:spAutoFit/>
          </a:bodyPr>
          <a:lstStyle/>
          <a:p>
            <a:pPr marL="455613" indent="-455613" algn="r">
              <a:spcBef>
                <a:spcPct val="50000"/>
              </a:spcBef>
              <a:tabLst>
                <a:tab pos="857250" algn="l"/>
              </a:tabLst>
            </a:pPr>
            <a:r>
              <a:rPr lang="en-US"/>
              <a:t>*one Hall moth-balled at FY08 PB -5%</a:t>
            </a:r>
          </a:p>
        </p:txBody>
      </p:sp>
      <p:sp>
        <p:nvSpPr>
          <p:cNvPr id="54" name="TextBox 53"/>
          <p:cNvSpPr txBox="1"/>
          <p:nvPr/>
        </p:nvSpPr>
        <p:spPr>
          <a:xfrm>
            <a:off x="6705600" y="990600"/>
            <a:ext cx="2287806" cy="369332"/>
          </a:xfrm>
          <a:prstGeom prst="rect">
            <a:avLst/>
          </a:prstGeom>
          <a:solidFill>
            <a:srgbClr val="5419E9"/>
          </a:solidFill>
        </p:spPr>
        <p:txBody>
          <a:bodyPr wrap="none">
            <a:spAutoFit/>
          </a:bodyPr>
          <a:lstStyle/>
          <a:p>
            <a:pPr fontAlgn="auto">
              <a:spcBef>
                <a:spcPts val="0"/>
              </a:spcBef>
              <a:spcAft>
                <a:spcPts val="0"/>
              </a:spcAft>
              <a:defRPr/>
            </a:pPr>
            <a:r>
              <a:rPr lang="en-US"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mn-lt"/>
              </a:rPr>
              <a:t>FREYBERGER p 63</a:t>
            </a:r>
            <a:endParaRPr lang="en-US"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mn-lt"/>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2"/>
          <p:cNvSpPr>
            <a:spLocks noGrp="1" noChangeArrowheads="1"/>
          </p:cNvSpPr>
          <p:nvPr>
            <p:ph type="title"/>
          </p:nvPr>
        </p:nvSpPr>
        <p:spPr/>
        <p:txBody>
          <a:bodyPr/>
          <a:lstStyle/>
          <a:p>
            <a:pPr eaLnBrk="1" hangingPunct="1"/>
            <a:r>
              <a:rPr lang="en-US" smtClean="0"/>
              <a:t>Facility Statistics - LC</a:t>
            </a:r>
          </a:p>
        </p:txBody>
      </p:sp>
      <p:sp>
        <p:nvSpPr>
          <p:cNvPr id="6146" name="Rectangle 3"/>
          <p:cNvSpPr>
            <a:spLocks noGrp="1" noChangeArrowheads="1"/>
          </p:cNvSpPr>
          <p:nvPr>
            <p:ph type="body" sz="half" idx="1"/>
          </p:nvPr>
        </p:nvSpPr>
        <p:spPr>
          <a:xfrm>
            <a:off x="304800" y="990600"/>
            <a:ext cx="6934200" cy="863600"/>
          </a:xfrm>
        </p:spPr>
        <p:txBody>
          <a:bodyPr/>
          <a:lstStyle/>
          <a:p>
            <a:pPr eaLnBrk="1" hangingPunct="1">
              <a:lnSpc>
                <a:spcPct val="90000"/>
              </a:lnSpc>
              <a:buFontTx/>
              <a:buNone/>
            </a:pPr>
            <a:r>
              <a:rPr lang="en-US" sz="900" b="1" smtClean="0"/>
              <a:t>	The current assumptions for Max hours/weeks for each facility is shown in the table below based on information input to this Office last budget formulation process. These numbers are not intended to fluctuate year by year and will be assumed to remain the same unless justified. </a:t>
            </a:r>
          </a:p>
        </p:txBody>
      </p:sp>
      <p:graphicFrame>
        <p:nvGraphicFramePr>
          <p:cNvPr id="277616" name="Group 112"/>
          <p:cNvGraphicFramePr>
            <a:graphicFrameLocks noGrp="1"/>
          </p:cNvGraphicFramePr>
          <p:nvPr>
            <p:ph sz="quarter" idx="2"/>
          </p:nvPr>
        </p:nvGraphicFramePr>
        <p:xfrm>
          <a:off x="781050" y="1797050"/>
          <a:ext cx="6464300" cy="1243013"/>
        </p:xfrm>
        <a:graphic>
          <a:graphicData uri="http://schemas.openxmlformats.org/drawingml/2006/table">
            <a:tbl>
              <a:tblPr/>
              <a:tblGrid>
                <a:gridCol w="1373188"/>
                <a:gridCol w="1778000"/>
                <a:gridCol w="1535112"/>
                <a:gridCol w="1778000"/>
              </a:tblGrid>
              <a:tr h="3048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800" b="1" i="0" u="none" strike="noStrike" cap="none" normalizeH="0" baseline="0" smtClean="0">
                          <a:ln>
                            <a:noFill/>
                          </a:ln>
                          <a:solidFill>
                            <a:schemeClr val="tx1"/>
                          </a:solidFill>
                          <a:effectLst/>
                          <a:latin typeface="Arial" charset="0"/>
                        </a:rPr>
                        <a:t>Facility</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800" b="1" i="0" u="none" strike="noStrike" cap="none" normalizeH="0" baseline="0" smtClean="0">
                          <a:ln>
                            <a:noFill/>
                          </a:ln>
                          <a:solidFill>
                            <a:schemeClr val="tx1"/>
                          </a:solidFill>
                          <a:effectLst/>
                          <a:latin typeface="Arial" charset="0"/>
                        </a:rPr>
                        <a:t>Assumed Max hours</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800" b="1" i="0" u="none" strike="noStrike" cap="none" normalizeH="0" baseline="0" smtClean="0">
                          <a:ln>
                            <a:noFill/>
                          </a:ln>
                          <a:solidFill>
                            <a:srgbClr val="CC0000"/>
                          </a:solidFill>
                          <a:effectLst/>
                          <a:latin typeface="Arial" charset="0"/>
                        </a:rPr>
                        <a:t>Delivered</a:t>
                      </a:r>
                      <a:r>
                        <a:rPr kumimoji="0" lang="en-US" sz="800" b="1" i="0" u="none" strike="noStrike" cap="none" normalizeH="0" baseline="0" smtClean="0">
                          <a:ln>
                            <a:noFill/>
                          </a:ln>
                          <a:solidFill>
                            <a:schemeClr val="tx1"/>
                          </a:solidFill>
                          <a:effectLst/>
                          <a:latin typeface="Arial" charset="0"/>
                        </a:rPr>
                        <a:t> hours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800" b="1" i="0" u="none" strike="noStrike" cap="none" normalizeH="0" baseline="0" smtClean="0">
                          <a:ln>
                            <a:noFill/>
                          </a:ln>
                          <a:solidFill>
                            <a:schemeClr val="tx1"/>
                          </a:solidFill>
                          <a:effectLst/>
                          <a:latin typeface="Arial" charset="0"/>
                        </a:rPr>
                        <a:t>Max </a:t>
                      </a:r>
                      <a:r>
                        <a:rPr kumimoji="0" lang="en-US" sz="800" b="1" i="0" u="none" strike="noStrike" cap="none" normalizeH="0" baseline="0" smtClean="0">
                          <a:ln>
                            <a:noFill/>
                          </a:ln>
                          <a:solidFill>
                            <a:srgbClr val="CC0000"/>
                          </a:solidFill>
                          <a:effectLst/>
                          <a:latin typeface="Arial" charset="0"/>
                        </a:rPr>
                        <a:t>scheduled </a:t>
                      </a:r>
                      <a:r>
                        <a:rPr kumimoji="0" lang="en-US" sz="800" b="1" i="0" u="none" strike="noStrike" cap="none" normalizeH="0" baseline="0" smtClean="0">
                          <a:ln>
                            <a:noFill/>
                          </a:ln>
                          <a:solidFill>
                            <a:schemeClr val="tx1"/>
                          </a:solidFill>
                          <a:effectLst/>
                          <a:latin typeface="Arial" charset="0"/>
                        </a:rPr>
                        <a:t>hours</a:t>
                      </a:r>
                      <a:r>
                        <a:rPr kumimoji="0" lang="en-US" sz="800" b="1" i="0" u="none" strike="noStrike" cap="none" normalizeH="0" baseline="0" smtClean="0">
                          <a:ln>
                            <a:noFill/>
                          </a:ln>
                          <a:solidFill>
                            <a:srgbClr val="CC0000"/>
                          </a:solidFill>
                          <a:effectLst/>
                          <a:latin typeface="Arial" charset="0"/>
                        </a:rPr>
                        <a:t>/calendar</a:t>
                      </a:r>
                      <a:r>
                        <a:rPr kumimoji="0" lang="en-US" sz="800" b="1" i="0" u="none" strike="noStrike" cap="none" normalizeH="0" baseline="0" smtClean="0">
                          <a:ln>
                            <a:noFill/>
                          </a:ln>
                          <a:solidFill>
                            <a:schemeClr val="tx1"/>
                          </a:solidFill>
                          <a:effectLst/>
                          <a:latin typeface="Arial" charset="0"/>
                        </a:rPr>
                        <a:t> week</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800" b="1" i="0" u="none" strike="noStrike" cap="none" normalizeH="0" baseline="0" smtClean="0">
                          <a:ln>
                            <a:noFill/>
                          </a:ln>
                          <a:solidFill>
                            <a:schemeClr val="tx1"/>
                          </a:solidFill>
                          <a:effectLst/>
                          <a:latin typeface="Arial" charset="0"/>
                        </a:rPr>
                        <a:t>Max</a:t>
                      </a:r>
                      <a:r>
                        <a:rPr kumimoji="0" lang="en-US" sz="800" b="1" i="0" u="none" strike="noStrike" cap="none" normalizeH="0" baseline="0" smtClean="0">
                          <a:ln>
                            <a:noFill/>
                          </a:ln>
                          <a:solidFill>
                            <a:srgbClr val="CC0000"/>
                          </a:solidFill>
                          <a:effectLst/>
                          <a:latin typeface="Arial" charset="0"/>
                        </a:rPr>
                        <a:t> Calendar </a:t>
                      </a:r>
                      <a:r>
                        <a:rPr kumimoji="0" lang="en-US" sz="800" b="1" i="0" u="none" strike="noStrike" cap="none" normalizeH="0" baseline="0" smtClean="0">
                          <a:ln>
                            <a:noFill/>
                          </a:ln>
                          <a:solidFill>
                            <a:schemeClr val="tx1"/>
                          </a:solidFill>
                          <a:effectLst/>
                          <a:latin typeface="Arial" charset="0"/>
                        </a:rPr>
                        <a:t>Weeks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4128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800" b="1" i="0" u="none" strike="noStrike" cap="none" normalizeH="0" baseline="0" smtClean="0">
                          <a:ln>
                            <a:noFill/>
                          </a:ln>
                          <a:solidFill>
                            <a:schemeClr val="tx1"/>
                          </a:solidFill>
                          <a:effectLst/>
                          <a:latin typeface="Arial" charset="0"/>
                        </a:rPr>
                        <a:t>ANL/ATLAS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800" b="1" i="0" u="none" strike="noStrike" cap="none" normalizeH="0" baseline="0" smtClean="0">
                          <a:ln>
                            <a:noFill/>
                          </a:ln>
                          <a:solidFill>
                            <a:schemeClr val="tx1"/>
                          </a:solidFill>
                          <a:effectLst/>
                          <a:latin typeface="Arial" charset="0"/>
                        </a:rPr>
                        <a:t>6600 (7 day ops)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800" b="1" i="0" u="none" strike="noStrike" cap="none" normalizeH="0" baseline="0" smtClean="0">
                          <a:ln>
                            <a:noFill/>
                          </a:ln>
                          <a:solidFill>
                            <a:schemeClr val="tx1"/>
                          </a:solidFill>
                          <a:effectLst/>
                          <a:latin typeface="Arial" charset="0"/>
                        </a:rPr>
                        <a:t>143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800" b="1" i="0" u="none" strike="noStrike" cap="none" normalizeH="0" baseline="0" smtClean="0">
                          <a:ln>
                            <a:noFill/>
                          </a:ln>
                          <a:solidFill>
                            <a:schemeClr val="tx1"/>
                          </a:solidFill>
                          <a:effectLst/>
                          <a:latin typeface="Arial" charset="0"/>
                        </a:rPr>
                        <a:t>39</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428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800" b="1" i="0" u="none" strike="noStrike" cap="none" normalizeH="0" baseline="0" smtClean="0">
                          <a:ln>
                            <a:noFill/>
                          </a:ln>
                          <a:solidFill>
                            <a:schemeClr val="tx1"/>
                          </a:solidFill>
                          <a:effectLst/>
                          <a:latin typeface="Arial" charset="0"/>
                        </a:rPr>
                        <a:t>BNL/RHIC</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800" b="1" i="0" u="none" strike="noStrike" cap="none" normalizeH="0" baseline="0" smtClean="0">
                          <a:ln>
                            <a:noFill/>
                          </a:ln>
                          <a:solidFill>
                            <a:schemeClr val="tx1"/>
                          </a:solidFill>
                          <a:effectLst/>
                          <a:latin typeface="Arial" charset="0"/>
                        </a:rPr>
                        <a:t>4100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800" b="1" i="0" u="none" strike="noStrike" cap="none" normalizeH="0" baseline="0" smtClean="0">
                          <a:ln>
                            <a:noFill/>
                          </a:ln>
                          <a:solidFill>
                            <a:schemeClr val="tx1"/>
                          </a:solidFill>
                          <a:effectLst/>
                          <a:latin typeface="Arial" charset="0"/>
                        </a:rPr>
                        <a:t>124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800" b="1" i="0" u="none" strike="noStrike" cap="none" normalizeH="0" baseline="0" smtClean="0">
                          <a:ln>
                            <a:noFill/>
                          </a:ln>
                          <a:solidFill>
                            <a:schemeClr val="tx1"/>
                          </a:solidFill>
                          <a:effectLst/>
                          <a:latin typeface="Arial" charset="0"/>
                        </a:rPr>
                        <a:t>33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4128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1" i="0" u="none" strike="noStrike" cap="none" normalizeH="0" baseline="0" smtClean="0">
                          <a:ln>
                            <a:noFill/>
                          </a:ln>
                          <a:solidFill>
                            <a:srgbClr val="CC0000"/>
                          </a:solidFill>
                          <a:effectLst/>
                          <a:latin typeface="Arial" charset="0"/>
                        </a:rPr>
                        <a:t>TJNAF/CEBAF</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1" i="0" u="none" strike="noStrike" cap="none" normalizeH="0" baseline="0" smtClean="0">
                          <a:ln>
                            <a:noFill/>
                          </a:ln>
                          <a:solidFill>
                            <a:srgbClr val="CC0000"/>
                          </a:solidFill>
                          <a:effectLst/>
                          <a:latin typeface="Arial" charset="0"/>
                        </a:rPr>
                        <a:t>5700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1" i="0" u="none" strike="noStrike" cap="none" normalizeH="0" baseline="0" smtClean="0">
                          <a:ln>
                            <a:noFill/>
                          </a:ln>
                          <a:solidFill>
                            <a:srgbClr val="CC0000"/>
                          </a:solidFill>
                          <a:effectLst/>
                          <a:latin typeface="Arial" charset="0"/>
                        </a:rPr>
                        <a:t>164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1" i="0" u="none" strike="noStrike" cap="none" normalizeH="0" baseline="0" smtClean="0">
                          <a:ln>
                            <a:noFill/>
                          </a:ln>
                          <a:solidFill>
                            <a:srgbClr val="CC0000"/>
                          </a:solidFill>
                          <a:effectLst/>
                          <a:latin typeface="Arial" charset="0"/>
                        </a:rPr>
                        <a:t>41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428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800" b="1" i="0" u="none" strike="noStrike" cap="none" normalizeH="0" baseline="0" smtClean="0">
                          <a:ln>
                            <a:noFill/>
                          </a:ln>
                          <a:solidFill>
                            <a:schemeClr val="tx1"/>
                          </a:solidFill>
                          <a:effectLst/>
                          <a:latin typeface="Arial" charset="0"/>
                        </a:rPr>
                        <a:t>ORNL/HRIBF</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800" b="1" i="0" u="none" strike="noStrike" cap="none" normalizeH="0" baseline="0" smtClean="0">
                          <a:ln>
                            <a:noFill/>
                          </a:ln>
                          <a:solidFill>
                            <a:schemeClr val="tx1"/>
                          </a:solidFill>
                          <a:effectLst/>
                          <a:latin typeface="Arial" charset="0"/>
                        </a:rPr>
                        <a:t>6100 (7day ops)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800" b="1" i="0" u="none" strike="noStrike" cap="none" normalizeH="0" baseline="0" smtClean="0">
                          <a:ln>
                            <a:noFill/>
                          </a:ln>
                          <a:solidFill>
                            <a:schemeClr val="tx1"/>
                          </a:solidFill>
                          <a:effectLst/>
                          <a:latin typeface="Arial" charset="0"/>
                        </a:rPr>
                        <a:t>152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800" b="1" i="0" u="none" strike="noStrike" cap="none" normalizeH="0" baseline="0" smtClean="0">
                          <a:ln>
                            <a:noFill/>
                          </a:ln>
                          <a:solidFill>
                            <a:schemeClr val="tx1"/>
                          </a:solidFill>
                          <a:effectLst/>
                          <a:latin typeface="Arial" charset="0"/>
                        </a:rPr>
                        <a:t>40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6179" name="Text Box 36"/>
          <p:cNvSpPr txBox="1">
            <a:spLocks noChangeArrowheads="1"/>
          </p:cNvSpPr>
          <p:nvPr/>
        </p:nvSpPr>
        <p:spPr bwMode="auto">
          <a:xfrm>
            <a:off x="381000" y="3429000"/>
            <a:ext cx="8534400" cy="304800"/>
          </a:xfrm>
          <a:prstGeom prst="rect">
            <a:avLst/>
          </a:prstGeom>
          <a:noFill/>
          <a:ln w="12700">
            <a:noFill/>
            <a:miter lim="800000"/>
            <a:headEnd/>
            <a:tailEnd/>
          </a:ln>
        </p:spPr>
        <p:txBody>
          <a:bodyPr>
            <a:spAutoFit/>
          </a:bodyPr>
          <a:lstStyle/>
          <a:p>
            <a:pPr algn="ctr"/>
            <a:r>
              <a:rPr lang="en-US" sz="1400"/>
              <a:t>Please fill out/correct the table below assuming FY 2009 COL from FY 2008 and FY 2007 Appropriation. </a:t>
            </a:r>
          </a:p>
        </p:txBody>
      </p:sp>
      <p:graphicFrame>
        <p:nvGraphicFramePr>
          <p:cNvPr id="277630" name="Group 126"/>
          <p:cNvGraphicFramePr>
            <a:graphicFrameLocks noGrp="1"/>
          </p:cNvGraphicFramePr>
          <p:nvPr>
            <p:ph sz="quarter" idx="3"/>
          </p:nvPr>
        </p:nvGraphicFramePr>
        <p:xfrm>
          <a:off x="304800" y="3810000"/>
          <a:ext cx="8610600" cy="2163763"/>
        </p:xfrm>
        <a:graphic>
          <a:graphicData uri="http://schemas.openxmlformats.org/drawingml/2006/table">
            <a:tbl>
              <a:tblPr/>
              <a:tblGrid>
                <a:gridCol w="698500"/>
                <a:gridCol w="977900"/>
                <a:gridCol w="990600"/>
                <a:gridCol w="990600"/>
                <a:gridCol w="990600"/>
                <a:gridCol w="685800"/>
                <a:gridCol w="793750"/>
                <a:gridCol w="2482850"/>
              </a:tblGrid>
              <a:tr h="38100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800" b="1" i="0" u="none" strike="noStrike" cap="none" normalizeH="0" baseline="0" smtClean="0">
                          <a:ln>
                            <a:noFill/>
                          </a:ln>
                          <a:solidFill>
                            <a:schemeClr val="tx1"/>
                          </a:solidFill>
                          <a:effectLst/>
                          <a:latin typeface="Arial" charset="0"/>
                          <a:cs typeface="Times New Roman" pitchFamily="18" charset="0"/>
                        </a:rPr>
                        <a:t>Facility</a:t>
                      </a:r>
                      <a:endParaRPr kumimoji="0" lang="en-US" sz="1600" b="1"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800" b="1" i="0" u="none" strike="noStrike" cap="none" normalizeH="0" baseline="0" smtClean="0">
                          <a:ln>
                            <a:noFill/>
                          </a:ln>
                          <a:solidFill>
                            <a:schemeClr val="tx1"/>
                          </a:solidFill>
                          <a:effectLst/>
                          <a:latin typeface="Arial" charset="0"/>
                          <a:cs typeface="Times New Roman" pitchFamily="18" charset="0"/>
                        </a:rPr>
                        <a:t>Cost/</a:t>
                      </a:r>
                      <a:r>
                        <a:rPr kumimoji="0" lang="en-US" sz="800" b="1" i="0" u="none" strike="noStrike" cap="none" normalizeH="0" baseline="0" smtClean="0">
                          <a:ln>
                            <a:noFill/>
                          </a:ln>
                          <a:solidFill>
                            <a:srgbClr val="CC0000"/>
                          </a:solidFill>
                          <a:effectLst/>
                          <a:latin typeface="Arial" charset="0"/>
                          <a:cs typeface="Times New Roman" pitchFamily="18" charset="0"/>
                        </a:rPr>
                        <a:t>scheduled</a:t>
                      </a:r>
                      <a:r>
                        <a:rPr kumimoji="0" lang="en-US" sz="800" b="1" i="0" u="none" strike="noStrike" cap="none" normalizeH="0" baseline="0" smtClean="0">
                          <a:ln>
                            <a:noFill/>
                          </a:ln>
                          <a:solidFill>
                            <a:schemeClr val="tx1"/>
                          </a:solidFill>
                          <a:effectLst/>
                          <a:latin typeface="Arial" charset="0"/>
                          <a:cs typeface="Times New Roman" pitchFamily="18" charset="0"/>
                        </a:rPr>
                        <a:t> weeks (no CE)</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800" b="1" i="0" u="none" strike="noStrike" cap="none" normalizeH="0" baseline="0" smtClean="0">
                          <a:ln>
                            <a:noFill/>
                          </a:ln>
                          <a:solidFill>
                            <a:schemeClr val="tx1"/>
                          </a:solidFill>
                          <a:effectLst/>
                          <a:latin typeface="Arial" charset="0"/>
                          <a:cs typeface="Times New Roman" pitchFamily="18" charset="0"/>
                        </a:rPr>
                        <a:t>FY08</a:t>
                      </a:r>
                      <a:endParaRPr kumimoji="0" lang="en-US" sz="800" b="1"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800" b="1" i="0" u="none" strike="noStrike" cap="none" normalizeH="0" baseline="0" smtClean="0">
                          <a:ln>
                            <a:noFill/>
                          </a:ln>
                          <a:solidFill>
                            <a:schemeClr val="tx1"/>
                          </a:solidFill>
                          <a:effectLst/>
                          <a:latin typeface="Arial" charset="0"/>
                          <a:cs typeface="Times New Roman" pitchFamily="18" charset="0"/>
                        </a:rPr>
                        <a:t>Cost/</a:t>
                      </a:r>
                      <a:r>
                        <a:rPr kumimoji="0" lang="en-US" sz="800" b="1" i="0" u="none" strike="noStrike" cap="none" normalizeH="0" baseline="0" smtClean="0">
                          <a:ln>
                            <a:noFill/>
                          </a:ln>
                          <a:solidFill>
                            <a:srgbClr val="CC0000"/>
                          </a:solidFill>
                          <a:effectLst/>
                          <a:latin typeface="Arial" charset="0"/>
                          <a:cs typeface="Times New Roman" pitchFamily="18" charset="0"/>
                        </a:rPr>
                        <a:t>scheduled</a:t>
                      </a:r>
                      <a:r>
                        <a:rPr kumimoji="0" lang="en-US" sz="800" b="1" i="0" u="none" strike="noStrike" cap="none" normalizeH="0" baseline="0" smtClean="0">
                          <a:ln>
                            <a:noFill/>
                          </a:ln>
                          <a:solidFill>
                            <a:schemeClr val="tx1"/>
                          </a:solidFill>
                          <a:effectLst/>
                          <a:latin typeface="Arial" charset="0"/>
                          <a:cs typeface="Times New Roman" pitchFamily="18" charset="0"/>
                        </a:rPr>
                        <a:t> weeks (no CE)</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800" b="1" i="0" u="none" strike="noStrike" cap="none" normalizeH="0" baseline="0" smtClean="0">
                          <a:ln>
                            <a:noFill/>
                          </a:ln>
                          <a:solidFill>
                            <a:schemeClr val="tx1"/>
                          </a:solidFill>
                          <a:effectLst/>
                          <a:latin typeface="Arial" charset="0"/>
                          <a:cs typeface="Times New Roman" pitchFamily="18" charset="0"/>
                        </a:rPr>
                        <a:t>FY09</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800" b="1" i="0" u="none" strike="noStrike" cap="none" normalizeH="0" baseline="0" smtClean="0">
                          <a:ln>
                            <a:noFill/>
                          </a:ln>
                          <a:solidFill>
                            <a:srgbClr val="CC0000"/>
                          </a:solidFill>
                          <a:effectLst/>
                          <a:latin typeface="Arial" charset="0"/>
                          <a:cs typeface="Times New Roman" pitchFamily="18" charset="0"/>
                        </a:rPr>
                        <a:t>Scheduled </a:t>
                      </a:r>
                      <a:r>
                        <a:rPr kumimoji="0" lang="en-US" sz="800" b="1" i="0" u="none" strike="noStrike" cap="none" normalizeH="0" baseline="0" smtClean="0">
                          <a:ln>
                            <a:noFill/>
                          </a:ln>
                          <a:solidFill>
                            <a:schemeClr val="tx1"/>
                          </a:solidFill>
                          <a:effectLst/>
                          <a:latin typeface="Arial" charset="0"/>
                          <a:cs typeface="Times New Roman" pitchFamily="18" charset="0"/>
                        </a:rPr>
                        <a:t>hours/</a:t>
                      </a:r>
                      <a:r>
                        <a:rPr kumimoji="0" lang="en-US" sz="800" b="1" i="0" u="none" strike="noStrike" cap="none" normalizeH="0" baseline="0" smtClean="0">
                          <a:ln>
                            <a:noFill/>
                          </a:ln>
                          <a:solidFill>
                            <a:srgbClr val="CC0000"/>
                          </a:solidFill>
                          <a:effectLst/>
                          <a:latin typeface="Arial" charset="0"/>
                          <a:cs typeface="Times New Roman" pitchFamily="18" charset="0"/>
                        </a:rPr>
                        <a:t>calendar </a:t>
                      </a:r>
                      <a:r>
                        <a:rPr kumimoji="0" lang="en-US" sz="800" b="1" i="0" u="none" strike="noStrike" cap="none" normalizeH="0" baseline="0" smtClean="0">
                          <a:ln>
                            <a:noFill/>
                          </a:ln>
                          <a:solidFill>
                            <a:schemeClr val="tx1"/>
                          </a:solidFill>
                          <a:effectLst/>
                          <a:latin typeface="Arial" charset="0"/>
                          <a:cs typeface="Times New Roman" pitchFamily="18" charset="0"/>
                        </a:rPr>
                        <a:t>week FY08</a:t>
                      </a:r>
                      <a:endParaRPr kumimoji="0" lang="en-US" sz="1600" b="1"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800" b="1" i="0" u="none" strike="noStrike" cap="none" normalizeH="0" baseline="0" smtClean="0">
                          <a:ln>
                            <a:noFill/>
                          </a:ln>
                          <a:solidFill>
                            <a:srgbClr val="CC0000"/>
                          </a:solidFill>
                          <a:effectLst/>
                          <a:latin typeface="Arial" charset="0"/>
                          <a:cs typeface="Times New Roman" pitchFamily="18" charset="0"/>
                        </a:rPr>
                        <a:t>Scheduled </a:t>
                      </a:r>
                      <a:r>
                        <a:rPr kumimoji="0" lang="en-US" sz="800" b="1" i="0" u="none" strike="noStrike" cap="none" normalizeH="0" baseline="0" smtClean="0">
                          <a:ln>
                            <a:noFill/>
                          </a:ln>
                          <a:solidFill>
                            <a:schemeClr val="tx1"/>
                          </a:solidFill>
                          <a:effectLst/>
                          <a:latin typeface="Arial" charset="0"/>
                          <a:cs typeface="Times New Roman" pitchFamily="18" charset="0"/>
                        </a:rPr>
                        <a:t>Hours/</a:t>
                      </a:r>
                      <a:r>
                        <a:rPr kumimoji="0" lang="en-US" sz="800" b="1" i="0" u="none" strike="noStrike" cap="none" normalizeH="0" baseline="0" smtClean="0">
                          <a:ln>
                            <a:noFill/>
                          </a:ln>
                          <a:solidFill>
                            <a:srgbClr val="CC0000"/>
                          </a:solidFill>
                          <a:effectLst/>
                          <a:latin typeface="Arial" charset="0"/>
                          <a:cs typeface="Times New Roman" pitchFamily="18" charset="0"/>
                        </a:rPr>
                        <a:t>Calendar</a:t>
                      </a:r>
                      <a:r>
                        <a:rPr kumimoji="0" lang="en-US" sz="800" b="1" i="0" u="none" strike="noStrike" cap="none" normalizeH="0" baseline="0" smtClean="0">
                          <a:ln>
                            <a:noFill/>
                          </a:ln>
                          <a:solidFill>
                            <a:schemeClr val="tx1"/>
                          </a:solidFill>
                          <a:effectLst/>
                          <a:latin typeface="Arial" charset="0"/>
                          <a:cs typeface="Times New Roman" pitchFamily="18" charset="0"/>
                        </a:rPr>
                        <a:t> week FY09</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800" b="1" i="0" u="none" strike="noStrike" cap="none" normalizeH="0" baseline="0" smtClean="0">
                          <a:ln>
                            <a:noFill/>
                          </a:ln>
                          <a:solidFill>
                            <a:schemeClr val="tx1"/>
                          </a:solidFill>
                          <a:effectLst/>
                          <a:latin typeface="Arial" charset="0"/>
                          <a:cs typeface="Times New Roman" pitchFamily="18" charset="0"/>
                        </a:rPr>
                        <a:t>Operation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800" b="1" i="0" u="none" strike="noStrike" cap="none" normalizeH="0" baseline="0" smtClean="0">
                          <a:ln>
                            <a:noFill/>
                          </a:ln>
                          <a:solidFill>
                            <a:schemeClr val="tx1"/>
                          </a:solidFill>
                          <a:effectLst/>
                          <a:latin typeface="Arial" charset="0"/>
                          <a:cs typeface="Times New Roman" pitchFamily="18" charset="0"/>
                        </a:rPr>
                        <a:t>Mode in 08</a:t>
                      </a:r>
                      <a:endParaRPr kumimoji="0" lang="en-US" sz="1600" b="1"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800" b="1" i="0" u="none" strike="noStrike" cap="none" normalizeH="0" baseline="0" smtClean="0">
                          <a:ln>
                            <a:noFill/>
                          </a:ln>
                          <a:solidFill>
                            <a:schemeClr val="tx1"/>
                          </a:solidFill>
                          <a:effectLst/>
                          <a:latin typeface="Arial" charset="0"/>
                          <a:cs typeface="Times New Roman" pitchFamily="18" charset="0"/>
                        </a:rPr>
                        <a:t>Operation </a:t>
                      </a:r>
                    </a:p>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800" b="1" i="0" u="none" strike="noStrike" cap="none" normalizeH="0" baseline="0" smtClean="0">
                          <a:ln>
                            <a:noFill/>
                          </a:ln>
                          <a:solidFill>
                            <a:schemeClr val="tx1"/>
                          </a:solidFill>
                          <a:effectLst/>
                          <a:latin typeface="Arial" charset="0"/>
                          <a:cs typeface="Times New Roman" pitchFamily="18" charset="0"/>
                        </a:rPr>
                        <a:t>Mode in 09</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800" b="1" i="0" u="none" strike="noStrike" cap="none" normalizeH="0" baseline="0" smtClean="0">
                          <a:ln>
                            <a:noFill/>
                          </a:ln>
                          <a:solidFill>
                            <a:schemeClr val="tx1"/>
                          </a:solidFill>
                          <a:effectLst/>
                          <a:latin typeface="Arial" charset="0"/>
                          <a:cs typeface="Times New Roman" pitchFamily="18" charset="0"/>
                        </a:rPr>
                        <a:t>Comment</a:t>
                      </a:r>
                      <a:endParaRPr kumimoji="0" lang="en-US" sz="1600" b="1"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17488">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smtClean="0">
                          <a:ln>
                            <a:noFill/>
                          </a:ln>
                          <a:solidFill>
                            <a:srgbClr val="CC0000"/>
                          </a:solidFill>
                          <a:effectLst/>
                          <a:latin typeface="Arial" charset="0"/>
                          <a:cs typeface="Times New Roman" pitchFamily="18" charset="0"/>
                        </a:rPr>
                        <a:t>TJNAF</a:t>
                      </a:r>
                      <a:endParaRPr kumimoji="0" lang="en-US" sz="1000" b="1" i="0" u="none" strike="noStrike" cap="none" normalizeH="0" baseline="0" smtClean="0">
                        <a:ln>
                          <a:noFill/>
                        </a:ln>
                        <a:solidFill>
                          <a:srgbClr val="CC0000"/>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smtClean="0">
                          <a:ln>
                            <a:noFill/>
                          </a:ln>
                          <a:solidFill>
                            <a:srgbClr val="CC0000"/>
                          </a:solidFill>
                          <a:effectLst/>
                          <a:latin typeface="Arial" charset="0"/>
                          <a:cs typeface="Times New Roman" pitchFamily="18" charset="0"/>
                        </a:rPr>
                        <a:t>$520K/wk</a:t>
                      </a:r>
                      <a:endParaRPr kumimoji="0" lang="en-US" sz="1000" b="1" i="0" u="none" strike="noStrike" cap="none" normalizeH="0" baseline="0" smtClean="0">
                        <a:ln>
                          <a:noFill/>
                        </a:ln>
                        <a:solidFill>
                          <a:srgbClr val="CC0000"/>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smtClean="0">
                          <a:ln>
                            <a:noFill/>
                          </a:ln>
                          <a:solidFill>
                            <a:srgbClr val="CC0000"/>
                          </a:solidFill>
                          <a:effectLst/>
                          <a:latin typeface="Arial" charset="0"/>
                          <a:cs typeface="Times New Roman" pitchFamily="18" charset="0"/>
                        </a:rPr>
                        <a:t>$520K/wk</a:t>
                      </a:r>
                      <a:endParaRPr kumimoji="0" lang="en-US" sz="1000" b="1" i="0" u="none" strike="noStrike" cap="none" normalizeH="0" baseline="0" smtClean="0">
                        <a:ln>
                          <a:noFill/>
                        </a:ln>
                        <a:solidFill>
                          <a:srgbClr val="CC0000"/>
                        </a:solidFill>
                        <a:effectLst/>
                        <a:latin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000" b="1" i="0" u="none" strike="noStrike" cap="none" normalizeH="0" baseline="0" smtClean="0">
                        <a:ln>
                          <a:noFill/>
                        </a:ln>
                        <a:solidFill>
                          <a:srgbClr val="CC0000"/>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smtClean="0">
                          <a:ln>
                            <a:noFill/>
                          </a:ln>
                          <a:solidFill>
                            <a:srgbClr val="CC0000"/>
                          </a:solidFill>
                          <a:effectLst/>
                          <a:latin typeface="Arial" charset="0"/>
                          <a:cs typeface="Times New Roman" pitchFamily="18" charset="0"/>
                        </a:rPr>
                        <a:t>164</a:t>
                      </a:r>
                      <a:endParaRPr kumimoji="0" lang="en-US" sz="1000" b="1" i="0" u="none" strike="noStrike" cap="none" normalizeH="0" baseline="0" smtClean="0">
                        <a:ln>
                          <a:noFill/>
                        </a:ln>
                        <a:solidFill>
                          <a:srgbClr val="CC0000"/>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smtClean="0">
                          <a:ln>
                            <a:noFill/>
                          </a:ln>
                          <a:solidFill>
                            <a:srgbClr val="CC0000"/>
                          </a:solidFill>
                          <a:effectLst/>
                          <a:latin typeface="Arial" charset="0"/>
                        </a:rPr>
                        <a:t>164</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smtClean="0">
                          <a:ln>
                            <a:noFill/>
                          </a:ln>
                          <a:solidFill>
                            <a:srgbClr val="CC0000"/>
                          </a:solidFill>
                          <a:effectLst/>
                          <a:latin typeface="Arial" charset="0"/>
                          <a:cs typeface="Times New Roman" pitchFamily="18" charset="0"/>
                        </a:rPr>
                        <a:t>7/24</a:t>
                      </a:r>
                      <a:endParaRPr kumimoji="0" lang="en-US" sz="1000" b="1" i="0" u="none" strike="noStrike" cap="none" normalizeH="0" baseline="0" smtClean="0">
                        <a:ln>
                          <a:noFill/>
                        </a:ln>
                        <a:solidFill>
                          <a:srgbClr val="CC0000"/>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smtClean="0">
                          <a:ln>
                            <a:noFill/>
                          </a:ln>
                          <a:solidFill>
                            <a:srgbClr val="CC0000"/>
                          </a:solidFill>
                          <a:effectLst/>
                          <a:latin typeface="Arial" charset="0"/>
                        </a:rPr>
                        <a:t>7/24</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smtClean="0">
                          <a:ln>
                            <a:noFill/>
                          </a:ln>
                          <a:solidFill>
                            <a:srgbClr val="CC0000"/>
                          </a:solidFill>
                          <a:effectLst/>
                          <a:latin typeface="Arial" charset="0"/>
                        </a:rPr>
                        <a:t>Requires additional $210K/wk in Capital Equipment to support experimental program. Cost differential increased due to cryogenics savings in standby mode</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36525">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800" b="1" i="0" u="none" strike="noStrike" cap="none" normalizeH="0" baseline="0" smtClean="0">
                          <a:ln>
                            <a:noFill/>
                          </a:ln>
                          <a:solidFill>
                            <a:schemeClr val="tx1"/>
                          </a:solidFill>
                          <a:effectLst/>
                          <a:latin typeface="Arial" charset="0"/>
                          <a:cs typeface="Times New Roman" pitchFamily="18" charset="0"/>
                        </a:rPr>
                        <a:t>RHIC</a:t>
                      </a:r>
                      <a:endParaRPr kumimoji="0" lang="en-US" sz="1600" b="1"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800" b="1" i="0" u="none" strike="noStrike" cap="none" normalizeH="0" baseline="0" smtClean="0">
                          <a:ln>
                            <a:noFill/>
                          </a:ln>
                          <a:solidFill>
                            <a:schemeClr val="tx1"/>
                          </a:solidFill>
                          <a:effectLst/>
                          <a:latin typeface="Arial" charset="0"/>
                          <a:cs typeface="Times New Roman" pitchFamily="18" charset="0"/>
                        </a:rPr>
                        <a:t>~$650k/wk</a:t>
                      </a:r>
                      <a:endParaRPr kumimoji="0" lang="en-US" sz="1600" b="1"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600" b="1"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800" b="1" i="0" u="none" strike="noStrike" cap="none" normalizeH="0" baseline="0" smtClean="0">
                          <a:ln>
                            <a:noFill/>
                          </a:ln>
                          <a:solidFill>
                            <a:schemeClr val="tx1"/>
                          </a:solidFill>
                          <a:effectLst/>
                          <a:latin typeface="Arial" charset="0"/>
                          <a:cs typeface="Times New Roman" pitchFamily="18" charset="0"/>
                        </a:rPr>
                        <a:t>124</a:t>
                      </a:r>
                      <a:endParaRPr kumimoji="0" lang="en-US" sz="1600" b="1"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en-US" sz="1600" b="1"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800" b="1" i="0" u="none" strike="noStrike" cap="none" normalizeH="0" baseline="0" smtClean="0">
                          <a:ln>
                            <a:noFill/>
                          </a:ln>
                          <a:solidFill>
                            <a:schemeClr val="tx1"/>
                          </a:solidFill>
                          <a:effectLst/>
                          <a:latin typeface="Arial" charset="0"/>
                          <a:cs typeface="Times New Roman" pitchFamily="18" charset="0"/>
                        </a:rPr>
                        <a:t>7D</a:t>
                      </a:r>
                      <a:endParaRPr kumimoji="0" lang="en-US" sz="1600" b="1"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en-US" sz="1600" b="1"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800" b="1" i="0" u="none" strike="noStrike" cap="none" normalizeH="0" baseline="0" smtClean="0">
                          <a:ln>
                            <a:noFill/>
                          </a:ln>
                          <a:solidFill>
                            <a:schemeClr val="tx1"/>
                          </a:solidFill>
                          <a:effectLst/>
                          <a:latin typeface="Arial" charset="0"/>
                          <a:cs typeface="Times New Roman" pitchFamily="18" charset="0"/>
                        </a:rPr>
                        <a:t>Cryo wks</a:t>
                      </a:r>
                      <a:endParaRPr kumimoji="0" lang="en-US" sz="1600" b="1"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17488">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800" b="1" i="0" u="none" strike="noStrike" cap="none" normalizeH="0" baseline="0" smtClean="0">
                          <a:ln>
                            <a:noFill/>
                          </a:ln>
                          <a:solidFill>
                            <a:schemeClr val="tx1"/>
                          </a:solidFill>
                          <a:effectLst/>
                          <a:latin typeface="Arial" charset="0"/>
                          <a:cs typeface="Times New Roman" pitchFamily="18" charset="0"/>
                        </a:rPr>
                        <a:t>ATLAS</a:t>
                      </a:r>
                      <a:endParaRPr kumimoji="0" lang="en-US" sz="1600" b="1"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800" b="1" i="0" u="none" strike="noStrike" cap="none" normalizeH="0" baseline="0" smtClean="0">
                          <a:ln>
                            <a:noFill/>
                          </a:ln>
                          <a:solidFill>
                            <a:schemeClr val="tx1"/>
                          </a:solidFill>
                          <a:effectLst/>
                          <a:latin typeface="Arial" charset="0"/>
                          <a:cs typeface="Times New Roman" pitchFamily="18" charset="0"/>
                        </a:rPr>
                        <a:t>~$125k/wk</a:t>
                      </a:r>
                      <a:endParaRPr kumimoji="0" lang="en-US" sz="1600" b="1"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600" b="1"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800" b="1" i="0" u="none" strike="noStrike" cap="none" normalizeH="0" baseline="0" smtClean="0">
                          <a:ln>
                            <a:noFill/>
                          </a:ln>
                          <a:solidFill>
                            <a:schemeClr val="tx1"/>
                          </a:solidFill>
                          <a:effectLst/>
                          <a:latin typeface="Arial" charset="0"/>
                          <a:cs typeface="Times New Roman" pitchFamily="18" charset="0"/>
                        </a:rPr>
                        <a:t>160</a:t>
                      </a:r>
                      <a:endParaRPr kumimoji="0" lang="en-US" sz="1600" b="1"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en-US" sz="1600" b="1"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800" b="1" i="0" u="none" strike="noStrike" cap="none" normalizeH="0" baseline="0" smtClean="0">
                          <a:ln>
                            <a:noFill/>
                          </a:ln>
                          <a:solidFill>
                            <a:schemeClr val="tx1"/>
                          </a:solidFill>
                          <a:effectLst/>
                          <a:latin typeface="Arial" charset="0"/>
                          <a:cs typeface="Times New Roman" pitchFamily="18" charset="0"/>
                        </a:rPr>
                        <a:t>7D</a:t>
                      </a:r>
                      <a:endParaRPr kumimoji="0" lang="en-US" sz="1600" b="1"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en-US" sz="1600" b="1"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19075">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800" b="1" i="0" u="none" strike="noStrike" cap="none" normalizeH="0" baseline="0" smtClean="0">
                          <a:ln>
                            <a:noFill/>
                          </a:ln>
                          <a:solidFill>
                            <a:schemeClr val="tx1"/>
                          </a:solidFill>
                          <a:effectLst/>
                          <a:latin typeface="Arial" charset="0"/>
                          <a:cs typeface="Times New Roman" pitchFamily="18" charset="0"/>
                        </a:rPr>
                        <a:t>HRIBF</a:t>
                      </a:r>
                      <a:endParaRPr kumimoji="0" lang="en-US" sz="1600" b="1"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800" b="1" i="0" u="none" strike="noStrike" cap="none" normalizeH="0" baseline="0" smtClean="0">
                          <a:ln>
                            <a:noFill/>
                          </a:ln>
                          <a:solidFill>
                            <a:schemeClr val="tx1"/>
                          </a:solidFill>
                          <a:effectLst/>
                          <a:latin typeface="Arial" charset="0"/>
                          <a:cs typeface="Times New Roman" pitchFamily="18" charset="0"/>
                        </a:rPr>
                        <a:t>~$150k/wk</a:t>
                      </a:r>
                      <a:endParaRPr kumimoji="0" lang="en-US" sz="1600" b="1"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600" b="1"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800" b="1" i="0" u="none" strike="noStrike" cap="none" normalizeH="0" baseline="0" smtClean="0">
                          <a:ln>
                            <a:noFill/>
                          </a:ln>
                          <a:solidFill>
                            <a:schemeClr val="tx1"/>
                          </a:solidFill>
                          <a:effectLst/>
                          <a:latin typeface="Arial" charset="0"/>
                          <a:cs typeface="Times New Roman" pitchFamily="18" charset="0"/>
                        </a:rPr>
                        <a:t>130</a:t>
                      </a:r>
                      <a:endParaRPr kumimoji="0" lang="en-US" sz="1600" b="1"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en-US" sz="1600" b="1"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800" b="1" i="0" u="none" strike="noStrike" cap="none" normalizeH="0" baseline="0" smtClean="0">
                          <a:ln>
                            <a:noFill/>
                          </a:ln>
                          <a:solidFill>
                            <a:schemeClr val="tx1"/>
                          </a:solidFill>
                          <a:effectLst/>
                          <a:latin typeface="Arial" charset="0"/>
                          <a:cs typeface="Times New Roman" pitchFamily="18" charset="0"/>
                        </a:rPr>
                        <a:t>5 to 7D</a:t>
                      </a:r>
                      <a:endParaRPr kumimoji="0" lang="en-US" sz="1600" b="1"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en-US" sz="1600" b="1"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93" name="TextBox 92"/>
          <p:cNvSpPr txBox="1"/>
          <p:nvPr/>
        </p:nvSpPr>
        <p:spPr>
          <a:xfrm>
            <a:off x="5476778" y="533400"/>
            <a:ext cx="3309560" cy="369332"/>
          </a:xfrm>
          <a:prstGeom prst="rect">
            <a:avLst/>
          </a:prstGeom>
          <a:solidFill>
            <a:srgbClr val="5419E9"/>
          </a:solidFill>
        </p:spPr>
        <p:txBody>
          <a:bodyPr wrap="none">
            <a:spAutoFit/>
          </a:bodyPr>
          <a:lstStyle/>
          <a:p>
            <a:pPr fontAlgn="auto">
              <a:spcBef>
                <a:spcPts val="0"/>
              </a:spcBef>
              <a:spcAft>
                <a:spcPts val="0"/>
              </a:spcAft>
              <a:defRPr/>
            </a:pPr>
            <a:r>
              <a:rPr lang="en-US"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mn-lt"/>
              </a:rPr>
              <a:t>FREYBERGER/HUTTON p 91</a:t>
            </a:r>
            <a:endParaRPr lang="en-US"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mn-lt"/>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Custom Design">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2700"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455613" marR="0" indent="-455613" algn="l" defTabSz="914400" rtl="0" eaLnBrk="0" fontAlgn="base" latinLnBrk="0" hangingPunct="0">
          <a:lnSpc>
            <a:spcPct val="100000"/>
          </a:lnSpc>
          <a:spcBef>
            <a:spcPct val="0"/>
          </a:spcBef>
          <a:spcAft>
            <a:spcPct val="0"/>
          </a:spcAft>
          <a:buClrTx/>
          <a:buSzTx/>
          <a:buFontTx/>
          <a:buNone/>
          <a:tabLst>
            <a:tab pos="857250" algn="l"/>
          </a:tabLst>
          <a:defRPr kumimoji="0" lang="en-US" sz="24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noFill/>
        <a:ln w="12700"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455613" marR="0" indent="-455613" algn="l" defTabSz="914400" rtl="0" eaLnBrk="0" fontAlgn="base" latinLnBrk="0" hangingPunct="0">
          <a:lnSpc>
            <a:spcPct val="100000"/>
          </a:lnSpc>
          <a:spcBef>
            <a:spcPct val="0"/>
          </a:spcBef>
          <a:spcAft>
            <a:spcPct val="0"/>
          </a:spcAft>
          <a:buClrTx/>
          <a:buSzTx/>
          <a:buFontTx/>
          <a:buNone/>
          <a:tabLst>
            <a:tab pos="857250" algn="l"/>
          </a:tabLst>
          <a:defRPr kumimoji="0" lang="en-US" sz="2400" b="0" i="0" u="none" strike="noStrike" cap="none" normalizeH="0" baseline="0" smtClean="0">
            <a:ln>
              <a:noFill/>
            </a:ln>
            <a:solidFill>
              <a:schemeClr val="tx1"/>
            </a:solidFill>
            <a:effectLst/>
            <a:latin typeface="Arial" charset="0"/>
          </a:defRPr>
        </a:defPPr>
      </a:lstStyle>
    </a:lnDef>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docProps/app.xml><?xml version="1.0" encoding="utf-8"?>
<Properties xmlns="http://schemas.openxmlformats.org/officeDocument/2006/extended-properties" xmlns:vt="http://schemas.openxmlformats.org/officeDocument/2006/docPropsVTypes">
  <TotalTime>3</TotalTime>
  <Words>293</Words>
  <Application>Microsoft Office PowerPoint</Application>
  <PresentationFormat>On-screen Show (4:3)</PresentationFormat>
  <Paragraphs>132</Paragraphs>
  <Slides>3</Slides>
  <Notes>0</Notes>
  <HiddenSlides>0</HiddenSlides>
  <MMClips>0</MMClips>
  <ScaleCrop>false</ScaleCrop>
  <HeadingPairs>
    <vt:vector size="6" baseType="variant">
      <vt:variant>
        <vt:lpstr>Fonts Used</vt:lpstr>
      </vt:variant>
      <vt:variant>
        <vt:i4>5</vt:i4>
      </vt:variant>
      <vt:variant>
        <vt:lpstr>Design Template</vt:lpstr>
      </vt:variant>
      <vt:variant>
        <vt:i4>1</vt:i4>
      </vt:variant>
      <vt:variant>
        <vt:lpstr>Slide Titles</vt:lpstr>
      </vt:variant>
      <vt:variant>
        <vt:i4>3</vt:i4>
      </vt:variant>
    </vt:vector>
  </HeadingPairs>
  <TitlesOfParts>
    <vt:vector size="9" baseType="lpstr">
      <vt:lpstr>Arial</vt:lpstr>
      <vt:lpstr>Calibri</vt:lpstr>
      <vt:lpstr>Arial Narrow</vt:lpstr>
      <vt:lpstr>Times New Roman</vt:lpstr>
      <vt:lpstr>Wingdings</vt:lpstr>
      <vt:lpstr>Custom Design</vt:lpstr>
      <vt:lpstr>Slide 1</vt:lpstr>
      <vt:lpstr>Slide 2</vt:lpstr>
      <vt:lpstr>Facility Statistics - LC</vt:lpstr>
    </vt:vector>
  </TitlesOfParts>
  <Company>Jefferson Science Associates, LLC</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sthomas</dc:creator>
  <cp:lastModifiedBy>freyberg</cp:lastModifiedBy>
  <cp:revision>1</cp:revision>
  <dcterms:created xsi:type="dcterms:W3CDTF">2008-01-07T14:23:46Z</dcterms:created>
  <dcterms:modified xsi:type="dcterms:W3CDTF">2008-01-08T13:37:23Z</dcterms:modified>
</cp:coreProperties>
</file>