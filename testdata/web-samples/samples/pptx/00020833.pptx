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27"/>
  </p:notesMasterIdLst>
  <p:sldIdLst>
    <p:sldId id="267" r:id="rId2"/>
    <p:sldId id="268" r:id="rId3"/>
    <p:sldId id="288" r:id="rId4"/>
    <p:sldId id="269" r:id="rId5"/>
    <p:sldId id="270" r:id="rId6"/>
    <p:sldId id="292" r:id="rId7"/>
    <p:sldId id="293" r:id="rId8"/>
    <p:sldId id="271" r:id="rId9"/>
    <p:sldId id="272" r:id="rId10"/>
    <p:sldId id="257" r:id="rId11"/>
    <p:sldId id="274" r:id="rId12"/>
    <p:sldId id="275" r:id="rId13"/>
    <p:sldId id="258" r:id="rId14"/>
    <p:sldId id="259" r:id="rId15"/>
    <p:sldId id="290" r:id="rId16"/>
    <p:sldId id="260" r:id="rId17"/>
    <p:sldId id="261" r:id="rId18"/>
    <p:sldId id="291" r:id="rId19"/>
    <p:sldId id="262" r:id="rId20"/>
    <p:sldId id="282" r:id="rId21"/>
    <p:sldId id="264" r:id="rId22"/>
    <p:sldId id="284" r:id="rId23"/>
    <p:sldId id="285" r:id="rId24"/>
    <p:sldId id="286" r:id="rId25"/>
    <p:sldId id="28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5C5C"/>
    <a:srgbClr val="C01B1C"/>
    <a:srgbClr val="C40836"/>
    <a:srgbClr val="590F4A"/>
    <a:srgbClr val="166813"/>
    <a:srgbClr val="004FBB"/>
    <a:srgbClr val="383838"/>
    <a:srgbClr val="00A2D7"/>
    <a:srgbClr val="FFCF00"/>
    <a:srgbClr val="F27D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9819" autoAdjust="0"/>
  </p:normalViewPr>
  <p:slideViewPr>
    <p:cSldViewPr>
      <p:cViewPr varScale="1">
        <p:scale>
          <a:sx n="104" d="100"/>
          <a:sy n="104" d="100"/>
        </p:scale>
        <p:origin x="-2016" y="-96"/>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103" d="100"/>
          <a:sy n="103" d="100"/>
        </p:scale>
        <p:origin x="-2776" y="2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interSettings" Target="printerSettings/printerSettings1.bin"/><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D0EEA6-3FE3-4FAA-B648-A79F7B237411}" type="datetimeFigureOut">
              <a:rPr lang="en-AU" smtClean="0"/>
              <a:t>3/12/12</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760B50-68CE-4856-A7F5-953E39274F9E}" type="slidenum">
              <a:rPr lang="en-AU" smtClean="0"/>
              <a:t>‹#›</a:t>
            </a:fld>
            <a:endParaRPr lang="en-AU"/>
          </a:p>
        </p:txBody>
      </p:sp>
    </p:spTree>
    <p:extLst>
      <p:ext uri="{BB962C8B-B14F-4D97-AF65-F5344CB8AC3E}">
        <p14:creationId xmlns:p14="http://schemas.microsoft.com/office/powerpoint/2010/main" val="599407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a:t>
            </a:r>
            <a:endParaRPr lang="en-US" dirty="0"/>
          </a:p>
        </p:txBody>
      </p:sp>
      <p:sp>
        <p:nvSpPr>
          <p:cNvPr id="4" name="Slide Number Placeholder 3"/>
          <p:cNvSpPr>
            <a:spLocks noGrp="1"/>
          </p:cNvSpPr>
          <p:nvPr>
            <p:ph type="sldNum" sz="quarter" idx="10"/>
          </p:nvPr>
        </p:nvSpPr>
        <p:spPr/>
        <p:txBody>
          <a:bodyPr/>
          <a:lstStyle/>
          <a:p>
            <a:fld id="{51760B50-68CE-4856-A7F5-953E39274F9E}" type="slidenum">
              <a:rPr lang="en-AU" smtClean="0"/>
              <a:t>1</a:t>
            </a:fld>
            <a:endParaRPr lang="en-AU"/>
          </a:p>
        </p:txBody>
      </p:sp>
    </p:spTree>
    <p:extLst>
      <p:ext uri="{BB962C8B-B14F-4D97-AF65-F5344CB8AC3E}">
        <p14:creationId xmlns:p14="http://schemas.microsoft.com/office/powerpoint/2010/main" val="542743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So, this is the question. </a:t>
            </a:r>
            <a:endParaRPr lang="en-US" sz="2000" dirty="0"/>
          </a:p>
        </p:txBody>
      </p:sp>
      <p:sp>
        <p:nvSpPr>
          <p:cNvPr id="4" name="Slide Number Placeholder 3"/>
          <p:cNvSpPr>
            <a:spLocks noGrp="1"/>
          </p:cNvSpPr>
          <p:nvPr>
            <p:ph type="sldNum" sz="quarter" idx="10"/>
          </p:nvPr>
        </p:nvSpPr>
        <p:spPr/>
        <p:txBody>
          <a:bodyPr/>
          <a:lstStyle/>
          <a:p>
            <a:fld id="{51760B50-68CE-4856-A7F5-953E39274F9E}" type="slidenum">
              <a:rPr lang="en-AU" smtClean="0"/>
              <a:t>2</a:t>
            </a:fld>
            <a:endParaRPr lang="en-AU"/>
          </a:p>
        </p:txBody>
      </p:sp>
    </p:spTree>
    <p:extLst>
      <p:ext uri="{BB962C8B-B14F-4D97-AF65-F5344CB8AC3E}">
        <p14:creationId xmlns:p14="http://schemas.microsoft.com/office/powerpoint/2010/main" val="2539405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We love to measure. </a:t>
            </a:r>
          </a:p>
          <a:p>
            <a:endParaRPr lang="en-US" sz="1600" dirty="0"/>
          </a:p>
          <a:p>
            <a:r>
              <a:rPr lang="en-US" sz="1600" dirty="0"/>
              <a:t>There are lots of things that can be measured on the Internet, and people are out there doing it.</a:t>
            </a:r>
          </a:p>
          <a:p>
            <a:endParaRPr lang="en-US" sz="1600" dirty="0"/>
          </a:p>
          <a:p>
            <a:r>
              <a:rPr lang="en-US" sz="1600" dirty="0"/>
              <a:t>We measure the amount of IPv4 and IPv6 address which has been assigned.</a:t>
            </a:r>
          </a:p>
          <a:p>
            <a:endParaRPr lang="en-US" sz="1600" dirty="0"/>
          </a:p>
          <a:p>
            <a:r>
              <a:rPr lang="en-US" sz="1600" dirty="0"/>
              <a:t>We measure how much IPv6 is being routed</a:t>
            </a:r>
          </a:p>
          <a:p>
            <a:endParaRPr lang="en-US" sz="1600" dirty="0"/>
          </a:p>
          <a:p>
            <a:r>
              <a:rPr lang="en-US" sz="1600" dirty="0"/>
              <a:t>We measure how many hits our webserver takes, or how many prefixes are in BGP, or how much traffic we see at exchange points.</a:t>
            </a:r>
          </a:p>
          <a:p>
            <a:endParaRPr lang="en-US" sz="1600" dirty="0"/>
          </a:p>
          <a:p>
            <a:r>
              <a:rPr lang="en-US" sz="1600" dirty="0"/>
              <a:t>So a question which arose for us, was, how can we measure what real people, ordinary users are doing?</a:t>
            </a:r>
          </a:p>
          <a:p>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3</a:t>
            </a:fld>
            <a:endParaRPr lang="en-AU"/>
          </a:p>
        </p:txBody>
      </p:sp>
    </p:spTree>
    <p:extLst>
      <p:ext uri="{BB962C8B-B14F-4D97-AF65-F5344CB8AC3E}">
        <p14:creationId xmlns:p14="http://schemas.microsoft.com/office/powerpoint/2010/main" val="3166178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smtClean="0"/>
              <a:t>We’re not really measuring one user.</a:t>
            </a:r>
          </a:p>
          <a:p>
            <a:endParaRPr lang="en-US" sz="1800" dirty="0"/>
          </a:p>
          <a:p>
            <a:r>
              <a:rPr lang="en-US" sz="1800" dirty="0" smtClean="0"/>
              <a:t>What we want to do, is measure as many end users as possible, so we can start to understand how IPv6 is being deployed to the edge, and how its going to  work.</a:t>
            </a:r>
          </a:p>
          <a:p>
            <a:endParaRPr lang="en-US" sz="1800" dirty="0" smtClean="0"/>
          </a:p>
          <a:p>
            <a:r>
              <a:rPr lang="en-US" sz="1800" dirty="0" smtClean="0"/>
              <a:t>The goal is to get good data, and that means getting as much data as possible, about as many different users as possible, worldwide.</a:t>
            </a:r>
            <a:endParaRPr lang="en-US" sz="1800" dirty="0"/>
          </a:p>
        </p:txBody>
      </p:sp>
      <p:sp>
        <p:nvSpPr>
          <p:cNvPr id="4" name="Slide Number Placeholder 3"/>
          <p:cNvSpPr>
            <a:spLocks noGrp="1"/>
          </p:cNvSpPr>
          <p:nvPr>
            <p:ph type="sldNum" sz="quarter" idx="10"/>
          </p:nvPr>
        </p:nvSpPr>
        <p:spPr/>
        <p:txBody>
          <a:bodyPr/>
          <a:lstStyle/>
          <a:p>
            <a:fld id="{51760B50-68CE-4856-A7F5-953E39274F9E}" type="slidenum">
              <a:rPr lang="en-AU" smtClean="0"/>
              <a:t>4</a:t>
            </a:fld>
            <a:endParaRPr lang="en-AU"/>
          </a:p>
        </p:txBody>
      </p:sp>
    </p:spTree>
    <p:extLst>
      <p:ext uri="{BB962C8B-B14F-4D97-AF65-F5344CB8AC3E}">
        <p14:creationId xmlns:p14="http://schemas.microsoft.com/office/powerpoint/2010/main" val="3250141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smtClean="0"/>
              <a:t>Well.. If you have the luxury of taking almost all search worldwide, you know everything about the user.</a:t>
            </a:r>
          </a:p>
          <a:p>
            <a:endParaRPr lang="en-US" sz="1800" dirty="0"/>
          </a:p>
          <a:p>
            <a:r>
              <a:rPr lang="en-US" sz="1800" dirty="0" smtClean="0"/>
              <a:t>So, this is clearly one of the ways to do this: be big, and be a web service everyone worldwide goes to.</a:t>
            </a:r>
          </a:p>
          <a:p>
            <a:endParaRPr lang="en-US" sz="1800" dirty="0"/>
          </a:p>
          <a:p>
            <a:r>
              <a:rPr lang="en-US" sz="1800" dirty="0" smtClean="0"/>
              <a:t>But we don’t have the luxury of being </a:t>
            </a:r>
            <a:r>
              <a:rPr lang="en-US" sz="1800" dirty="0" err="1" smtClean="0"/>
              <a:t>google</a:t>
            </a:r>
            <a:r>
              <a:rPr lang="en-US" sz="1800" dirty="0" smtClean="0"/>
              <a:t>.</a:t>
            </a:r>
            <a:endParaRPr lang="en-US" sz="1800" dirty="0"/>
          </a:p>
        </p:txBody>
      </p:sp>
      <p:sp>
        <p:nvSpPr>
          <p:cNvPr id="4" name="Slide Number Placeholder 3"/>
          <p:cNvSpPr>
            <a:spLocks noGrp="1"/>
          </p:cNvSpPr>
          <p:nvPr>
            <p:ph type="sldNum" sz="quarter" idx="10"/>
          </p:nvPr>
        </p:nvSpPr>
        <p:spPr/>
        <p:txBody>
          <a:bodyPr/>
          <a:lstStyle/>
          <a:p>
            <a:fld id="{51760B50-68CE-4856-A7F5-953E39274F9E}" type="slidenum">
              <a:rPr lang="en-AU" smtClean="0"/>
              <a:t>5</a:t>
            </a:fld>
            <a:endParaRPr lang="en-AU"/>
          </a:p>
        </p:txBody>
      </p:sp>
    </p:spTree>
    <p:extLst>
      <p:ext uri="{BB962C8B-B14F-4D97-AF65-F5344CB8AC3E}">
        <p14:creationId xmlns:p14="http://schemas.microsoft.com/office/powerpoint/2010/main" val="3147990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smtClean="0"/>
              <a:t>So we have to look for another way to get lots and lots of users to  measure</a:t>
            </a:r>
            <a:endParaRPr lang="en-US" sz="1800" dirty="0"/>
          </a:p>
        </p:txBody>
      </p:sp>
      <p:sp>
        <p:nvSpPr>
          <p:cNvPr id="4" name="Slide Number Placeholder 3"/>
          <p:cNvSpPr>
            <a:spLocks noGrp="1"/>
          </p:cNvSpPr>
          <p:nvPr>
            <p:ph type="sldNum" sz="quarter" idx="10"/>
          </p:nvPr>
        </p:nvSpPr>
        <p:spPr/>
        <p:txBody>
          <a:bodyPr/>
          <a:lstStyle/>
          <a:p>
            <a:fld id="{51760B50-68CE-4856-A7F5-953E39274F9E}" type="slidenum">
              <a:rPr lang="en-AU" smtClean="0"/>
              <a:t>6</a:t>
            </a:fld>
            <a:endParaRPr lang="en-AU"/>
          </a:p>
        </p:txBody>
      </p:sp>
    </p:spTree>
    <p:extLst>
      <p:ext uri="{BB962C8B-B14F-4D97-AF65-F5344CB8AC3E}">
        <p14:creationId xmlns:p14="http://schemas.microsoft.com/office/powerpoint/2010/main" val="226353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smtClean="0"/>
              <a:t>And the answer seems to be, to get users to measure themselves for you.</a:t>
            </a:r>
          </a:p>
          <a:p>
            <a:endParaRPr lang="en-US" sz="1800" dirty="0"/>
          </a:p>
          <a:p>
            <a:r>
              <a:rPr lang="en-US" sz="1800" dirty="0" smtClean="0"/>
              <a:t>Now, I don’t mean ‘be a virus’ or ‘be a botnet’</a:t>
            </a:r>
            <a:endParaRPr lang="en-US" sz="1800" dirty="0"/>
          </a:p>
        </p:txBody>
      </p:sp>
      <p:sp>
        <p:nvSpPr>
          <p:cNvPr id="4" name="Slide Number Placeholder 3"/>
          <p:cNvSpPr>
            <a:spLocks noGrp="1"/>
          </p:cNvSpPr>
          <p:nvPr>
            <p:ph type="sldNum" sz="quarter" idx="10"/>
          </p:nvPr>
        </p:nvSpPr>
        <p:spPr/>
        <p:txBody>
          <a:bodyPr/>
          <a:lstStyle/>
          <a:p>
            <a:fld id="{51760B50-68CE-4856-A7F5-953E39274F9E}" type="slidenum">
              <a:rPr lang="en-AU" smtClean="0"/>
              <a:t>7</a:t>
            </a:fld>
            <a:endParaRPr lang="en-AU"/>
          </a:p>
        </p:txBody>
      </p:sp>
    </p:spTree>
    <p:extLst>
      <p:ext uri="{BB962C8B-B14F-4D97-AF65-F5344CB8AC3E}">
        <p14:creationId xmlns:p14="http://schemas.microsoft.com/office/powerpoint/2010/main" val="4231343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800" dirty="0" smtClean="0"/>
              <a:t>What we have done, is look into how we were able to characterize user </a:t>
            </a:r>
            <a:r>
              <a:rPr lang="en-US" sz="1800" dirty="0" err="1" smtClean="0"/>
              <a:t>behavuour</a:t>
            </a:r>
            <a:r>
              <a:rPr lang="en-US" sz="1800" dirty="0" smtClean="0"/>
              <a:t> from our own website measurements,</a:t>
            </a:r>
          </a:p>
          <a:p>
            <a:endParaRPr lang="en-US" sz="1800" dirty="0"/>
          </a:p>
          <a:p>
            <a:r>
              <a:rPr lang="en-US" sz="1800" dirty="0" smtClean="0"/>
              <a:t>And then find a way to apply the technique to more people.</a:t>
            </a:r>
          </a:p>
          <a:p>
            <a:endParaRPr lang="en-US" sz="1800" dirty="0"/>
          </a:p>
          <a:p>
            <a:r>
              <a:rPr lang="en-US" sz="1800" dirty="0" smtClean="0"/>
              <a:t>Our website isn’t that popular. And, it</a:t>
            </a:r>
            <a:r>
              <a:rPr lang="fr-FR" sz="1800" dirty="0" smtClean="0"/>
              <a:t>’</a:t>
            </a:r>
            <a:r>
              <a:rPr lang="en-US" sz="1800" dirty="0" smtClean="0"/>
              <a:t>s a very specific population of users who want to come and look at a Regional Internet Registry web page: its you. People who are very likely to have IPv6</a:t>
            </a:r>
          </a:p>
          <a:p>
            <a:endParaRPr lang="en-US" sz="1800" dirty="0"/>
          </a:p>
          <a:p>
            <a:r>
              <a:rPr lang="en-US" sz="1800" dirty="0" smtClean="0"/>
              <a:t>So we tend to </a:t>
            </a:r>
            <a:r>
              <a:rPr lang="en-US" sz="1800" dirty="0" err="1" smtClean="0"/>
              <a:t>overcount</a:t>
            </a:r>
            <a:r>
              <a:rPr lang="en-US" sz="1800" dirty="0" smtClean="0"/>
              <a:t> the IPv6 capability from our own web, because the users who come there, are close to the core of their network, where IPv6 is easier to deploy.</a:t>
            </a:r>
          </a:p>
          <a:p>
            <a:endParaRPr lang="en-US" sz="1800" dirty="0" smtClean="0"/>
          </a:p>
          <a:p>
            <a:r>
              <a:rPr lang="en-US" sz="1800" dirty="0" smtClean="0"/>
              <a:t>This is where we stumbled across the </a:t>
            </a:r>
            <a:r>
              <a:rPr lang="en-US" sz="1800" dirty="0" err="1" smtClean="0"/>
              <a:t>advertizing</a:t>
            </a:r>
            <a:r>
              <a:rPr lang="en-US" sz="1800" dirty="0" smtClean="0"/>
              <a:t> networks</a:t>
            </a:r>
            <a:endParaRPr lang="en-US" sz="1800" dirty="0"/>
          </a:p>
        </p:txBody>
      </p:sp>
      <p:sp>
        <p:nvSpPr>
          <p:cNvPr id="4" name="Slide Number Placeholder 3"/>
          <p:cNvSpPr>
            <a:spLocks noGrp="1"/>
          </p:cNvSpPr>
          <p:nvPr>
            <p:ph type="sldNum" sz="quarter" idx="10"/>
          </p:nvPr>
        </p:nvSpPr>
        <p:spPr/>
        <p:txBody>
          <a:bodyPr/>
          <a:lstStyle/>
          <a:p>
            <a:fld id="{51760B50-68CE-4856-A7F5-953E39274F9E}" type="slidenum">
              <a:rPr lang="en-AU" smtClean="0"/>
              <a:t>8</a:t>
            </a:fld>
            <a:endParaRPr lang="en-AU"/>
          </a:p>
        </p:txBody>
      </p:sp>
    </p:spTree>
    <p:extLst>
      <p:ext uri="{BB962C8B-B14F-4D97-AF65-F5344CB8AC3E}">
        <p14:creationId xmlns:p14="http://schemas.microsoft.com/office/powerpoint/2010/main" val="2276883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600" dirty="0" smtClean="0"/>
              <a:t>Advertising networks are designed to show something to as many people as possible.</a:t>
            </a:r>
          </a:p>
          <a:p>
            <a:endParaRPr lang="en-US" sz="1600" dirty="0"/>
          </a:p>
          <a:p>
            <a:r>
              <a:rPr lang="en-US" sz="1600" dirty="0" smtClean="0"/>
              <a:t>They are designed to get fresh eyes, to look at </a:t>
            </a:r>
            <a:r>
              <a:rPr lang="en-US" sz="1600" dirty="0" err="1" smtClean="0"/>
              <a:t>somebodys</a:t>
            </a:r>
            <a:r>
              <a:rPr lang="en-US" sz="1600" dirty="0" smtClean="0"/>
              <a:t> adverts.</a:t>
            </a:r>
          </a:p>
          <a:p>
            <a:endParaRPr lang="en-US" sz="1600" dirty="0"/>
          </a:p>
          <a:p>
            <a:r>
              <a:rPr lang="en-US" sz="1600" dirty="0" smtClean="0"/>
              <a:t>They don’t just put adverts in front of your customers coming to your web, they put adverts in front of anyone they can make look at the advert.</a:t>
            </a:r>
          </a:p>
          <a:p>
            <a:endParaRPr lang="en-US" sz="1600" dirty="0"/>
          </a:p>
          <a:p>
            <a:r>
              <a:rPr lang="en-US" sz="1600" dirty="0" smtClean="0"/>
              <a:t>The primary channel for web </a:t>
            </a:r>
            <a:r>
              <a:rPr lang="en-US" sz="1600" dirty="0" err="1" smtClean="0"/>
              <a:t>advertizing</a:t>
            </a:r>
            <a:r>
              <a:rPr lang="en-US" sz="1600" dirty="0" smtClean="0"/>
              <a:t> right now is flash. Adverts which have some dynamic behaviour like image swapping, presented to the user via flash. The mechanism permits the </a:t>
            </a:r>
            <a:r>
              <a:rPr lang="en-US" sz="1600" dirty="0" err="1" smtClean="0"/>
              <a:t>advertizing</a:t>
            </a:r>
            <a:r>
              <a:rPr lang="en-US" sz="1600" dirty="0" smtClean="0"/>
              <a:t> network to ask websites to embed logic in their webpage which fires off flash, which fetches the web adverts.</a:t>
            </a:r>
          </a:p>
          <a:p>
            <a:endParaRPr lang="en-US" sz="1600" dirty="0"/>
          </a:p>
          <a:p>
            <a:r>
              <a:rPr lang="en-US" sz="1600" dirty="0" smtClean="0"/>
              <a:t>Flash, is a fully functional, network aware programming environment, Its perfect for what w need to do,  conducting IPv6 tests.</a:t>
            </a:r>
          </a:p>
          <a:p>
            <a:endParaRPr lang="en-US" sz="1600" dirty="0"/>
          </a:p>
          <a:p>
            <a:r>
              <a:rPr lang="en-US" sz="1600" dirty="0" smtClean="0"/>
              <a:t>And, what we’ve done, is embed a series of fetches of tiny, </a:t>
            </a:r>
            <a:r>
              <a:rPr lang="en-US" sz="1600" dirty="0" err="1" smtClean="0"/>
              <a:t>undisplayed</a:t>
            </a:r>
            <a:r>
              <a:rPr lang="en-US" sz="1600" dirty="0" smtClean="0"/>
              <a:t> 1x1 pixel images, each one backed by a DNS name which is unique and each one testing a different kind of transport over the Internet: Ipv4, dual stack, Ipv6 only.</a:t>
            </a:r>
          </a:p>
          <a:p>
            <a:endParaRPr lang="en-US" sz="1600" dirty="0"/>
          </a:p>
          <a:p>
            <a:r>
              <a:rPr lang="en-US" sz="1600" dirty="0" smtClean="0"/>
              <a:t>We are then able to collate these fetches, and summarize what that user can do in each case, from their host.</a:t>
            </a:r>
          </a:p>
          <a:p>
            <a:endParaRPr lang="en-US" sz="1600" dirty="0"/>
          </a:p>
          <a:p>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9</a:t>
            </a:fld>
            <a:endParaRPr lang="en-AU"/>
          </a:p>
        </p:txBody>
      </p:sp>
    </p:spTree>
    <p:extLst>
      <p:ext uri="{BB962C8B-B14F-4D97-AF65-F5344CB8AC3E}">
        <p14:creationId xmlns:p14="http://schemas.microsoft.com/office/powerpoint/2010/main" val="426380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600" dirty="0" smtClean="0"/>
              <a:t>There is a basic metric in web </a:t>
            </a:r>
            <a:r>
              <a:rPr lang="en-US" sz="1600" dirty="0" err="1" smtClean="0"/>
              <a:t>advertizing</a:t>
            </a:r>
            <a:r>
              <a:rPr lang="en-US" sz="1600" dirty="0" smtClean="0"/>
              <a:t> called the CPM or clicks-per-mille, how many people can be converted from viewing an advert, to clicking on an advert, which drives the pricing model.</a:t>
            </a:r>
          </a:p>
          <a:p>
            <a:endParaRPr lang="en-US" sz="1600" dirty="0"/>
          </a:p>
          <a:p>
            <a:r>
              <a:rPr lang="en-US" sz="1600" dirty="0" smtClean="0"/>
              <a:t>Normally,  people pay higher CPM if their advert is placed somewhere which achieves a high click-rate. That</a:t>
            </a:r>
            <a:r>
              <a:rPr lang="fr-FR" sz="1600" dirty="0" smtClean="0"/>
              <a:t>’</a:t>
            </a:r>
            <a:r>
              <a:rPr lang="en-US" sz="1600" dirty="0" smtClean="0"/>
              <a:t>s normally what </a:t>
            </a:r>
            <a:r>
              <a:rPr lang="en-US" sz="1600" dirty="0" err="1" smtClean="0"/>
              <a:t>advertizers</a:t>
            </a:r>
            <a:r>
              <a:rPr lang="en-US" sz="1600" dirty="0" smtClean="0"/>
              <a:t> want: they want people to follow the advert to your website, and buy something, and so complete a profitable sell.</a:t>
            </a:r>
          </a:p>
          <a:p>
            <a:endParaRPr lang="en-US" sz="1600" dirty="0"/>
          </a:p>
          <a:p>
            <a:r>
              <a:rPr lang="en-US" sz="1600" dirty="0" smtClean="0"/>
              <a:t>But the </a:t>
            </a:r>
            <a:r>
              <a:rPr lang="en-US" sz="1600" dirty="0" err="1" smtClean="0"/>
              <a:t>advertizing</a:t>
            </a:r>
            <a:r>
              <a:rPr lang="en-US" sz="1600" dirty="0" smtClean="0"/>
              <a:t> network REALLY wants to take your money. So, if you deliberately bid LOW on the CPM model, they agree to show your ad widely, and take a different level of revenue from you, based on impressions not clicks.</a:t>
            </a:r>
          </a:p>
          <a:p>
            <a:endParaRPr lang="en-US" sz="1600" dirty="0"/>
          </a:p>
          <a:p>
            <a:r>
              <a:rPr lang="en-US" sz="1600" dirty="0" smtClean="0"/>
              <a:t>And this drives a need to supply fresh new IP </a:t>
            </a:r>
            <a:r>
              <a:rPr lang="en-US" sz="1600" dirty="0" err="1" smtClean="0"/>
              <a:t>addreses</a:t>
            </a:r>
            <a:r>
              <a:rPr lang="en-US" sz="1600" dirty="0" smtClean="0"/>
              <a:t>, with fresh new eyeballs behind them, to justify charging for impressions.</a:t>
            </a:r>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10</a:t>
            </a:fld>
            <a:endParaRPr lang="en-AU"/>
          </a:p>
        </p:txBody>
      </p:sp>
    </p:spTree>
    <p:extLst>
      <p:ext uri="{BB962C8B-B14F-4D97-AF65-F5344CB8AC3E}">
        <p14:creationId xmlns:p14="http://schemas.microsoft.com/office/powerpoint/2010/main" val="1568803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smtClean="0"/>
              <a:t>So a reasonable question to ask now is “how unique are these </a:t>
            </a:r>
            <a:r>
              <a:rPr lang="en-US" sz="1600" dirty="0" err="1" smtClean="0"/>
              <a:t>Ips</a:t>
            </a:r>
            <a:r>
              <a:rPr lang="en-US" sz="1600" dirty="0" smtClean="0"/>
              <a:t>”</a:t>
            </a:r>
          </a:p>
          <a:p>
            <a:endParaRPr lang="en-US" sz="1600" dirty="0"/>
          </a:p>
          <a:p>
            <a:r>
              <a:rPr lang="en-US" sz="1600" dirty="0" smtClean="0"/>
              <a:t>And it turns out, they are really very unique.</a:t>
            </a:r>
          </a:p>
          <a:p>
            <a:endParaRPr lang="en-US" sz="1600" dirty="0"/>
          </a:p>
          <a:p>
            <a:r>
              <a:rPr lang="en-US" sz="1600" dirty="0" smtClean="0"/>
              <a:t>We did some basic statistics on this, by comparing the flash advert to another mechanism we have on our own, and some other web pages, using </a:t>
            </a:r>
            <a:r>
              <a:rPr lang="en-US" sz="1600" dirty="0" err="1" smtClean="0"/>
              <a:t>javascript</a:t>
            </a:r>
            <a:r>
              <a:rPr lang="en-US" sz="1600" dirty="0" smtClean="0"/>
              <a:t>.</a:t>
            </a:r>
          </a:p>
          <a:p>
            <a:endParaRPr lang="en-US" sz="1600" dirty="0"/>
          </a:p>
          <a:p>
            <a:r>
              <a:rPr lang="en-US" sz="1600" dirty="0" smtClean="0"/>
              <a:t>We’re checking the IP addresses we see each day, and seeing if they are unique in the day, and how many we see, and then also </a:t>
            </a:r>
            <a:r>
              <a:rPr lang="en-US" sz="1600" dirty="0" err="1" smtClean="0"/>
              <a:t>compiing</a:t>
            </a:r>
            <a:r>
              <a:rPr lang="en-US" sz="1600" dirty="0" smtClean="0"/>
              <a:t> a cumulative list of all the IP addresses we have ever seen.</a:t>
            </a:r>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11</a:t>
            </a:fld>
            <a:endParaRPr lang="en-AU"/>
          </a:p>
        </p:txBody>
      </p:sp>
    </p:spTree>
    <p:extLst>
      <p:ext uri="{BB962C8B-B14F-4D97-AF65-F5344CB8AC3E}">
        <p14:creationId xmlns:p14="http://schemas.microsoft.com/office/powerpoint/2010/main" val="3542318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400" dirty="0" smtClean="0"/>
              <a:t>So this graph shows the data as two sets of lines. Each set shows both </a:t>
            </a:r>
            <a:r>
              <a:rPr lang="en-US" sz="1400" dirty="0" err="1" smtClean="0"/>
              <a:t>javascript</a:t>
            </a:r>
            <a:r>
              <a:rPr lang="en-US" sz="1400" dirty="0" smtClean="0"/>
              <a:t> and flash.</a:t>
            </a:r>
          </a:p>
          <a:p>
            <a:endParaRPr lang="en-US" sz="1400" dirty="0"/>
          </a:p>
          <a:p>
            <a:r>
              <a:rPr lang="en-US" sz="1400" dirty="0" smtClean="0"/>
              <a:t>Down the bottom, is the unique daily totals. And you can see that each method is sending broadly similar amounts of IP addresses, per day, unique counts.</a:t>
            </a:r>
          </a:p>
          <a:p>
            <a:endParaRPr lang="en-US" sz="1400" dirty="0"/>
          </a:p>
          <a:p>
            <a:r>
              <a:rPr lang="en-US" sz="1400" dirty="0" smtClean="0"/>
              <a:t>Up the top, is the cumulative plot. And one line is very </a:t>
            </a:r>
            <a:r>
              <a:rPr lang="en-US" sz="1400" dirty="0" err="1" smtClean="0"/>
              <a:t>gentely</a:t>
            </a:r>
            <a:r>
              <a:rPr lang="en-US" sz="1400" dirty="0" smtClean="0"/>
              <a:t> curving down: this is the list of </a:t>
            </a:r>
            <a:r>
              <a:rPr lang="en-US" sz="1400" dirty="0" err="1" smtClean="0"/>
              <a:t>javascript</a:t>
            </a:r>
            <a:r>
              <a:rPr lang="en-US" sz="1400" dirty="0" smtClean="0"/>
              <a:t> </a:t>
            </a:r>
            <a:r>
              <a:rPr lang="en-US" sz="1400" dirty="0" err="1" smtClean="0"/>
              <a:t>Ips</a:t>
            </a:r>
            <a:r>
              <a:rPr lang="en-US" sz="1400" dirty="0" smtClean="0"/>
              <a:t> because it tends to collect all the addresses website visitors are using to come to the website: there </a:t>
            </a:r>
            <a:r>
              <a:rPr lang="en-US" sz="1400" dirty="0" err="1" smtClean="0"/>
              <a:t>isnt</a:t>
            </a:r>
            <a:r>
              <a:rPr lang="en-US" sz="1400" dirty="0" smtClean="0"/>
              <a:t> quite as much uniqueness over time, in this measure. –Its still pretty good, but it does tend to re-visit some of the same </a:t>
            </a:r>
            <a:r>
              <a:rPr lang="en-US" sz="1400" dirty="0" err="1" smtClean="0"/>
              <a:t>Ips</a:t>
            </a:r>
            <a:r>
              <a:rPr lang="en-US" sz="1400" dirty="0" smtClean="0"/>
              <a:t>.</a:t>
            </a:r>
          </a:p>
          <a:p>
            <a:endParaRPr lang="en-US" sz="1400" dirty="0"/>
          </a:p>
          <a:p>
            <a:r>
              <a:rPr lang="en-US" sz="1400" dirty="0" smtClean="0"/>
              <a:t>The other line, the blue line, shows the uniqueness of the </a:t>
            </a:r>
            <a:r>
              <a:rPr lang="en-US" sz="1400" dirty="0" err="1" smtClean="0"/>
              <a:t>Ips</a:t>
            </a:r>
            <a:r>
              <a:rPr lang="en-US" sz="1400" dirty="0" smtClean="0"/>
              <a:t> presented by the </a:t>
            </a:r>
            <a:r>
              <a:rPr lang="en-US" sz="1400" dirty="0" err="1" smtClean="0"/>
              <a:t>advertizing</a:t>
            </a:r>
            <a:r>
              <a:rPr lang="en-US" sz="1400" dirty="0" smtClean="0"/>
              <a:t> network. And its substantially a straight line: they have a worldwide supply of clean, new, unseen eyes, and they are trying very hard to ensure we see these new IP addresses behind them.</a:t>
            </a:r>
          </a:p>
          <a:p>
            <a:endParaRPr lang="en-US" sz="1400" dirty="0"/>
          </a:p>
          <a:p>
            <a:r>
              <a:rPr lang="en-US" sz="1400" dirty="0" smtClean="0"/>
              <a:t>This is because for us, a million users is a large measure, but the global network is now covering 2 billion people, so we are able to be supplied with constantly changing </a:t>
            </a:r>
            <a:r>
              <a:rPr lang="en-US" sz="1400" dirty="0" err="1" smtClean="0"/>
              <a:t>Ips</a:t>
            </a:r>
            <a:r>
              <a:rPr lang="en-US" sz="1400" dirty="0" smtClean="0"/>
              <a:t> from the world.</a:t>
            </a:r>
            <a:endParaRPr lang="en-US" sz="1400" dirty="0"/>
          </a:p>
        </p:txBody>
      </p:sp>
      <p:sp>
        <p:nvSpPr>
          <p:cNvPr id="4" name="Slide Number Placeholder 3"/>
          <p:cNvSpPr>
            <a:spLocks noGrp="1"/>
          </p:cNvSpPr>
          <p:nvPr>
            <p:ph type="sldNum" sz="quarter" idx="10"/>
          </p:nvPr>
        </p:nvSpPr>
        <p:spPr/>
        <p:txBody>
          <a:bodyPr/>
          <a:lstStyle/>
          <a:p>
            <a:fld id="{51760B50-68CE-4856-A7F5-953E39274F9E}" type="slidenum">
              <a:rPr lang="en-AU" smtClean="0"/>
              <a:t>12</a:t>
            </a:fld>
            <a:endParaRPr lang="en-AU"/>
          </a:p>
        </p:txBody>
      </p:sp>
    </p:spTree>
    <p:extLst>
      <p:ext uri="{BB962C8B-B14F-4D97-AF65-F5344CB8AC3E}">
        <p14:creationId xmlns:p14="http://schemas.microsoft.com/office/powerpoint/2010/main" val="3551470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400" dirty="0" smtClean="0"/>
              <a:t>If you want to see the kinds to result we’ve collected, this is being presented from the </a:t>
            </a:r>
            <a:r>
              <a:rPr lang="en-US" sz="1400" dirty="0" err="1" smtClean="0"/>
              <a:t>labs.apnic.net</a:t>
            </a:r>
            <a:r>
              <a:rPr lang="en-US" sz="1400" dirty="0" smtClean="0"/>
              <a:t> website.</a:t>
            </a:r>
          </a:p>
          <a:p>
            <a:r>
              <a:rPr lang="en-US" sz="1400" dirty="0" smtClean="0"/>
              <a:t>We’re archiving all our reduced data and making it available for view, and doing some post processing to compile comparative measurement by economy, region and organization.</a:t>
            </a:r>
            <a:r>
              <a:rPr lang="en-US" sz="1400" dirty="0"/>
              <a:t/>
            </a:r>
            <a:br>
              <a:rPr lang="en-US" sz="1400" dirty="0"/>
            </a:br>
            <a:r>
              <a:rPr lang="en-US" sz="1400" dirty="0" smtClean="0"/>
              <a:t>We think this is helping inform us about how each state and region in the world is doing with its IPv6 deployment, and can be used outside of the Internet technical community for strategic planning.</a:t>
            </a:r>
          </a:p>
          <a:p>
            <a:endParaRPr lang="en-US" sz="1400" dirty="0"/>
          </a:p>
          <a:p>
            <a:r>
              <a:rPr lang="en-US" sz="1400" dirty="0" err="1" smtClean="0"/>
              <a:t>Whats</a:t>
            </a:r>
            <a:r>
              <a:rPr lang="en-US" sz="1400" dirty="0" smtClean="0"/>
              <a:t> interesting is that we’re seeing into a significant number of the individual networks worldwide: 35,000 ASN have been seen in the test, and that</a:t>
            </a:r>
            <a:r>
              <a:rPr lang="fr-FR" sz="1400" dirty="0" smtClean="0"/>
              <a:t>’</a:t>
            </a:r>
            <a:r>
              <a:rPr lang="en-US" sz="1400" dirty="0" smtClean="0"/>
              <a:t>s over 75% of the global AS network. Far fewer than this present enough data to graph, but its still a significant percentage of the 8 to 10,000 AS which are currently believed to be doing IPv6.</a:t>
            </a:r>
          </a:p>
          <a:p>
            <a:endParaRPr lang="en-US" sz="1400" dirty="0"/>
          </a:p>
          <a:p>
            <a:r>
              <a:rPr lang="en-US" sz="1400" dirty="0" smtClean="0"/>
              <a:t>And at the national level we can plot about half of the worlds economies with some data, although in a few cases it</a:t>
            </a:r>
            <a:r>
              <a:rPr lang="fr-FR" sz="1400" dirty="0" smtClean="0"/>
              <a:t>’</a:t>
            </a:r>
            <a:r>
              <a:rPr lang="en-US" sz="1400" dirty="0" smtClean="0"/>
              <a:t>s a bit spotty.</a:t>
            </a:r>
          </a:p>
          <a:p>
            <a:endParaRPr lang="en-US" sz="1400" dirty="0"/>
          </a:p>
          <a:p>
            <a:r>
              <a:rPr lang="en-US" sz="1400" dirty="0" smtClean="0"/>
              <a:t>At one presentation, I mentioned we’d seen the </a:t>
            </a:r>
            <a:r>
              <a:rPr lang="en-US" sz="1400" dirty="0" err="1" smtClean="0"/>
              <a:t>vatican</a:t>
            </a:r>
            <a:r>
              <a:rPr lang="en-US" sz="1400" dirty="0" smtClean="0"/>
              <a:t>, with about 16 adverts and I joked that I couldn’t confirm who was using the browser and hadn’t seen IPv6. Afterward I was told by somebody they knew that the Vatican City had been testing IPv6. </a:t>
            </a:r>
            <a:r>
              <a:rPr lang="en-US" sz="1400" dirty="0"/>
              <a:t> </a:t>
            </a:r>
            <a:r>
              <a:rPr lang="en-US" sz="1400" dirty="0" smtClean="0"/>
              <a:t>I think we need a few more  cardinals to get on the web so we can confirm that</a:t>
            </a:r>
            <a:endParaRPr lang="en-US" sz="1400" dirty="0"/>
          </a:p>
        </p:txBody>
      </p:sp>
      <p:sp>
        <p:nvSpPr>
          <p:cNvPr id="4" name="Slide Number Placeholder 3"/>
          <p:cNvSpPr>
            <a:spLocks noGrp="1"/>
          </p:cNvSpPr>
          <p:nvPr>
            <p:ph type="sldNum" sz="quarter" idx="10"/>
          </p:nvPr>
        </p:nvSpPr>
        <p:spPr/>
        <p:txBody>
          <a:bodyPr/>
          <a:lstStyle/>
          <a:p>
            <a:fld id="{51760B50-68CE-4856-A7F5-953E39274F9E}" type="slidenum">
              <a:rPr lang="en-AU" smtClean="0"/>
              <a:t>13</a:t>
            </a:fld>
            <a:endParaRPr lang="en-AU"/>
          </a:p>
        </p:txBody>
      </p:sp>
    </p:spTree>
    <p:extLst>
      <p:ext uri="{BB962C8B-B14F-4D97-AF65-F5344CB8AC3E}">
        <p14:creationId xmlns:p14="http://schemas.microsoft.com/office/powerpoint/2010/main" val="4234603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smtClean="0"/>
              <a:t>To display the data, we’re using the </a:t>
            </a:r>
            <a:r>
              <a:rPr lang="en-US" sz="1600" dirty="0" err="1" smtClean="0"/>
              <a:t>google</a:t>
            </a:r>
            <a:r>
              <a:rPr lang="en-US" sz="1600" dirty="0" smtClean="0"/>
              <a:t> visualization API.</a:t>
            </a:r>
          </a:p>
          <a:p>
            <a:endParaRPr lang="en-US" sz="1600" dirty="0"/>
          </a:p>
          <a:p>
            <a:r>
              <a:rPr lang="en-US" sz="1600" dirty="0" smtClean="0"/>
              <a:t>This provides a really simple, rich set of </a:t>
            </a:r>
            <a:r>
              <a:rPr lang="en-US" sz="1600" dirty="0" err="1" smtClean="0"/>
              <a:t>javascript</a:t>
            </a:r>
            <a:r>
              <a:rPr lang="en-US" sz="1600" dirty="0" smtClean="0"/>
              <a:t> chart and graph models, and includes a good worldwide map model for </a:t>
            </a:r>
            <a:r>
              <a:rPr lang="en-US" sz="1600" dirty="0" err="1" smtClean="0"/>
              <a:t>colour</a:t>
            </a:r>
            <a:r>
              <a:rPr lang="en-US" sz="1600" dirty="0" smtClean="0"/>
              <a:t> graphing economies.</a:t>
            </a:r>
          </a:p>
          <a:p>
            <a:endParaRPr lang="en-US" sz="1600" dirty="0"/>
          </a:p>
          <a:p>
            <a:r>
              <a:rPr lang="en-US" sz="1600" dirty="0" smtClean="0"/>
              <a:t>Here you can see it showing the UN economic region of ‘south east </a:t>
            </a:r>
            <a:r>
              <a:rPr lang="en-US" sz="1600" dirty="0" err="1" smtClean="0"/>
              <a:t>asian</a:t>
            </a:r>
            <a:r>
              <a:rPr lang="en-US" sz="1600" dirty="0" smtClean="0"/>
              <a:t>’ and you can see that Thailand and Indonesia are showing more IPv6 than other economies in the region, Thailand with 0.2% of users having IPv6.</a:t>
            </a:r>
          </a:p>
          <a:p>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14</a:t>
            </a:fld>
            <a:endParaRPr lang="en-AU"/>
          </a:p>
        </p:txBody>
      </p:sp>
    </p:spTree>
    <p:extLst>
      <p:ext uri="{BB962C8B-B14F-4D97-AF65-F5344CB8AC3E}">
        <p14:creationId xmlns:p14="http://schemas.microsoft.com/office/powerpoint/2010/main" val="3134955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smtClean="0"/>
              <a:t>This is the </a:t>
            </a:r>
            <a:r>
              <a:rPr lang="en-US" sz="1600" dirty="0" err="1" smtClean="0"/>
              <a:t>google</a:t>
            </a:r>
            <a:r>
              <a:rPr lang="en-US" sz="1600" dirty="0" smtClean="0"/>
              <a:t> chart for Asia, and shows the penetration of IPv6 in China and Japan is significantly higher. China has double the Thai population, and Japan is already up at around 2%.</a:t>
            </a:r>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15</a:t>
            </a:fld>
            <a:endParaRPr lang="en-AU"/>
          </a:p>
        </p:txBody>
      </p:sp>
    </p:spTree>
    <p:extLst>
      <p:ext uri="{BB962C8B-B14F-4D97-AF65-F5344CB8AC3E}">
        <p14:creationId xmlns:p14="http://schemas.microsoft.com/office/powerpoint/2010/main" val="1682857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smtClean="0"/>
              <a:t>We also provide per-economy charts with </a:t>
            </a:r>
            <a:r>
              <a:rPr lang="en-US" sz="1600" dirty="0" err="1" smtClean="0"/>
              <a:t>monthy</a:t>
            </a:r>
            <a:r>
              <a:rPr lang="en-US" sz="1600" dirty="0" smtClean="0"/>
              <a:t> and weekly totals, this is the monthly chart for Japan and it shows that after a flat period in 2011/2012 there looks to have been quite rapid deployment of IPv6, around the time of world IPv6 launch.</a:t>
            </a:r>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16</a:t>
            </a:fld>
            <a:endParaRPr lang="en-AU"/>
          </a:p>
        </p:txBody>
      </p:sp>
    </p:spTree>
    <p:extLst>
      <p:ext uri="{BB962C8B-B14F-4D97-AF65-F5344CB8AC3E}">
        <p14:creationId xmlns:p14="http://schemas.microsoft.com/office/powerpoint/2010/main" val="8357099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smtClean="0"/>
              <a:t>By comparison, this is a graph of the IPv6 uptake for the USA, using a moving 30 day model, </a:t>
            </a:r>
            <a:r>
              <a:rPr lang="en-US" sz="1600" dirty="0" err="1" smtClean="0"/>
              <a:t>whch</a:t>
            </a:r>
            <a:r>
              <a:rPr lang="en-US" sz="1600" dirty="0" smtClean="0"/>
              <a:t> </a:t>
            </a:r>
            <a:r>
              <a:rPr lang="en-US" sz="1600" dirty="0" err="1" smtClean="0"/>
              <a:t>smooths</a:t>
            </a:r>
            <a:r>
              <a:rPr lang="en-US" sz="1600" dirty="0" smtClean="0"/>
              <a:t> out a lot of the measurement variances.</a:t>
            </a:r>
          </a:p>
          <a:p>
            <a:endParaRPr lang="en-US" sz="1600" dirty="0"/>
          </a:p>
          <a:p>
            <a:r>
              <a:rPr lang="en-US" sz="1600" dirty="0" smtClean="0"/>
              <a:t>It shows a really strong uptake of IPv6 during and after World IPv6 Launch and reflects the kind of capital and operating investment people in Verizon,  AT&amp;T, and Comcast have made, getting IPv6 deployed to the CPE.</a:t>
            </a:r>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17</a:t>
            </a:fld>
            <a:endParaRPr lang="en-AU"/>
          </a:p>
        </p:txBody>
      </p:sp>
    </p:spTree>
    <p:extLst>
      <p:ext uri="{BB962C8B-B14F-4D97-AF65-F5344CB8AC3E}">
        <p14:creationId xmlns:p14="http://schemas.microsoft.com/office/powerpoint/2010/main" val="3689016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600" dirty="0" smtClean="0"/>
              <a:t>As well as charts, we’re making all the data available as JSON and CSV files, so you can post process it yourself. The URLs are described on the website, and are stable paths to fetch data in each context</a:t>
            </a:r>
          </a:p>
          <a:p>
            <a:endParaRPr lang="en-US" sz="1600" dirty="0"/>
          </a:p>
          <a:p>
            <a:r>
              <a:rPr lang="en-US" sz="1600" dirty="0" smtClean="0"/>
              <a:t>This has been used by the New Zealand Internet community in their IPv6 deployment activity to show details on their national take up in their own web charts.</a:t>
            </a:r>
          </a:p>
          <a:p>
            <a:endParaRPr lang="en-US" sz="1600" dirty="0"/>
          </a:p>
          <a:p>
            <a:r>
              <a:rPr lang="en-US" sz="1600" dirty="0" smtClean="0"/>
              <a:t>There is considerably more data than I can show here, we are currently charting the flash adverts, but we also collate and hold our </a:t>
            </a:r>
            <a:r>
              <a:rPr lang="en-US" sz="1600" dirty="0" err="1" smtClean="0"/>
              <a:t>javascript</a:t>
            </a:r>
            <a:r>
              <a:rPr lang="en-US" sz="1600" dirty="0" smtClean="0"/>
              <a:t> measurements, and if you want to view per-AS number, this is possibly a better dataset for you, because it covers far more AS with </a:t>
            </a:r>
            <a:r>
              <a:rPr lang="en-US" sz="1600" dirty="0" err="1" smtClean="0"/>
              <a:t>plottable</a:t>
            </a:r>
            <a:r>
              <a:rPr lang="en-US" sz="1600" dirty="0" smtClean="0"/>
              <a:t> data.</a:t>
            </a:r>
          </a:p>
          <a:p>
            <a:endParaRPr lang="en-US" sz="1600" dirty="0"/>
          </a:p>
          <a:p>
            <a:r>
              <a:rPr lang="en-US" sz="1600" dirty="0" smtClean="0"/>
              <a:t>JSON is really easy to use, and has been useful sharing information with the RIPE NCC in our ongoing collaboration in IPv6 measurement.</a:t>
            </a:r>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18</a:t>
            </a:fld>
            <a:endParaRPr lang="en-AU"/>
          </a:p>
        </p:txBody>
      </p:sp>
    </p:spTree>
    <p:extLst>
      <p:ext uri="{BB962C8B-B14F-4D97-AF65-F5344CB8AC3E}">
        <p14:creationId xmlns:p14="http://schemas.microsoft.com/office/powerpoint/2010/main" val="642700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smtClean="0"/>
              <a:t>One of the more interesting derived datasets we have is a table of the combination of the IPv6 capability with the GDP, population, and inferred internet </a:t>
            </a:r>
            <a:r>
              <a:rPr lang="en-US" sz="1400" dirty="0" err="1" smtClean="0"/>
              <a:t>usercount</a:t>
            </a:r>
            <a:r>
              <a:rPr lang="en-US" sz="1400" dirty="0" smtClean="0"/>
              <a:t>.</a:t>
            </a:r>
          </a:p>
          <a:p>
            <a:endParaRPr lang="en-US" sz="1400" dirty="0"/>
          </a:p>
          <a:p>
            <a:r>
              <a:rPr lang="en-US" sz="1400" dirty="0" smtClean="0"/>
              <a:t>This is permitting us to show the indicative Ipv6 population by economy.</a:t>
            </a:r>
          </a:p>
          <a:p>
            <a:endParaRPr lang="en-US" sz="1400" dirty="0"/>
          </a:p>
          <a:p>
            <a:r>
              <a:rPr lang="en-US" sz="1400" dirty="0" smtClean="0"/>
              <a:t>So, here it is presented in IPv6 preference order, and ranks economies by the apparent penetration of IPv6 with two standouts: Romania, where a single ISP has deployed a managed rollout to their CPE of IPv6, and achieved a huge nationwide success story, with over 22% of the </a:t>
            </a:r>
            <a:r>
              <a:rPr lang="en-US" sz="1400" dirty="0" err="1" smtClean="0"/>
              <a:t>userbase</a:t>
            </a:r>
            <a:r>
              <a:rPr lang="en-US" sz="1400" dirty="0" smtClean="0"/>
              <a:t> now IPv6 enabled (they have about half of the national footprint, so this drops back to a national measure of 9%)</a:t>
            </a:r>
          </a:p>
          <a:p>
            <a:r>
              <a:rPr lang="en-US" sz="1400" dirty="0"/>
              <a:t/>
            </a:r>
            <a:br>
              <a:rPr lang="en-US" sz="1400" dirty="0"/>
            </a:br>
            <a:r>
              <a:rPr lang="en-US" sz="1400" dirty="0" smtClean="0"/>
              <a:t>The other is France, where </a:t>
            </a:r>
            <a:r>
              <a:rPr lang="en-US" sz="1400" dirty="0" err="1" smtClean="0"/>
              <a:t>Proxad</a:t>
            </a:r>
            <a:r>
              <a:rPr lang="en-US" sz="1400" dirty="0" smtClean="0"/>
              <a:t>/</a:t>
            </a:r>
            <a:r>
              <a:rPr lang="en-US" sz="1400" dirty="0" err="1" smtClean="0"/>
              <a:t>FreeNet</a:t>
            </a:r>
            <a:r>
              <a:rPr lang="en-US" sz="1400" dirty="0" smtClean="0"/>
              <a:t> has deployed 6rd, with a similarly massive effect to the customer. This demonstrates that sensible use of transition technology can work, and immediately boost IPv6 coverage.</a:t>
            </a:r>
          </a:p>
          <a:p>
            <a:endParaRPr lang="en-US" sz="1400" dirty="0"/>
          </a:p>
          <a:p>
            <a:r>
              <a:rPr lang="en-US" sz="1400" dirty="0" err="1" smtClean="0"/>
              <a:t>Proxad</a:t>
            </a:r>
            <a:r>
              <a:rPr lang="en-US" sz="1400" dirty="0" smtClean="0"/>
              <a:t> is on 17% but with lower market share, the effect on the French IPv6 figure dilutes to 4% -which is still significantly ahead of current world average.</a:t>
            </a:r>
            <a:endParaRPr lang="en-US" sz="1400" dirty="0"/>
          </a:p>
        </p:txBody>
      </p:sp>
      <p:sp>
        <p:nvSpPr>
          <p:cNvPr id="4" name="Slide Number Placeholder 3"/>
          <p:cNvSpPr>
            <a:spLocks noGrp="1"/>
          </p:cNvSpPr>
          <p:nvPr>
            <p:ph type="sldNum" sz="quarter" idx="10"/>
          </p:nvPr>
        </p:nvSpPr>
        <p:spPr/>
        <p:txBody>
          <a:bodyPr/>
          <a:lstStyle/>
          <a:p>
            <a:fld id="{51760B50-68CE-4856-A7F5-953E39274F9E}" type="slidenum">
              <a:rPr lang="en-AU" smtClean="0"/>
              <a:t>19</a:t>
            </a:fld>
            <a:endParaRPr lang="en-AU"/>
          </a:p>
        </p:txBody>
      </p:sp>
    </p:spTree>
    <p:extLst>
      <p:ext uri="{BB962C8B-B14F-4D97-AF65-F5344CB8AC3E}">
        <p14:creationId xmlns:p14="http://schemas.microsoft.com/office/powerpoint/2010/main" val="36280228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55730"/>
            <a:ext cx="5486400" cy="4114800"/>
          </a:xfrm>
        </p:spPr>
        <p:txBody>
          <a:bodyPr/>
          <a:lstStyle/>
          <a:p>
            <a:r>
              <a:rPr lang="en-US" sz="1400" dirty="0" smtClean="0"/>
              <a:t>We’ve made this a sortable table. If you resort by the inferred IPv6 population you see a slightly different story.</a:t>
            </a:r>
          </a:p>
          <a:p>
            <a:endParaRPr lang="en-US" sz="1400" dirty="0"/>
          </a:p>
          <a:p>
            <a:r>
              <a:rPr lang="en-US" sz="1400" dirty="0" smtClean="0"/>
              <a:t>The top 5 economies are covering around 10 million users already. That</a:t>
            </a:r>
            <a:r>
              <a:rPr lang="fr-FR" sz="1400" dirty="0" smtClean="0"/>
              <a:t>’</a:t>
            </a:r>
            <a:r>
              <a:rPr lang="en-US" sz="1400" dirty="0" smtClean="0"/>
              <a:t>s a huge number in absolute terms, while being a very small percentage of the global internet </a:t>
            </a:r>
            <a:r>
              <a:rPr lang="en-US" sz="1400" dirty="0" err="1" smtClean="0"/>
              <a:t>userbase</a:t>
            </a:r>
            <a:r>
              <a:rPr lang="en-US" sz="1400" dirty="0" smtClean="0"/>
              <a:t> in relative terms. 10 million is a significant population of IPv6 usage.</a:t>
            </a:r>
          </a:p>
          <a:p>
            <a:endParaRPr lang="en-US" sz="1400" dirty="0" smtClean="0"/>
          </a:p>
          <a:p>
            <a:r>
              <a:rPr lang="en-US" sz="1400" dirty="0" smtClean="0"/>
              <a:t>China appears to have about one-quarter the penetration of IPv6 compared to the USA, but in population terms the difference is closer to half: it is clear that as China continues to deploy IPv6 it will move to the top of this table very rapidly.</a:t>
            </a:r>
          </a:p>
          <a:p>
            <a:endParaRPr lang="en-US" sz="1400" dirty="0"/>
          </a:p>
          <a:p>
            <a:r>
              <a:rPr lang="en-US" sz="1400" dirty="0" smtClean="0"/>
              <a:t>And you can see further down the table there is visible signs the Asia-Pacific population from China, Japan, Indonesia, Thailand, India and Malaysia are visible.</a:t>
            </a:r>
          </a:p>
          <a:p>
            <a:endParaRPr lang="en-US" sz="1400" dirty="0"/>
          </a:p>
          <a:p>
            <a:endParaRPr lang="en-US" sz="1400" dirty="0"/>
          </a:p>
        </p:txBody>
      </p:sp>
      <p:sp>
        <p:nvSpPr>
          <p:cNvPr id="4" name="Slide Number Placeholder 3"/>
          <p:cNvSpPr>
            <a:spLocks noGrp="1"/>
          </p:cNvSpPr>
          <p:nvPr>
            <p:ph type="sldNum" sz="quarter" idx="10"/>
          </p:nvPr>
        </p:nvSpPr>
        <p:spPr/>
        <p:txBody>
          <a:bodyPr/>
          <a:lstStyle/>
          <a:p>
            <a:fld id="{51760B50-68CE-4856-A7F5-953E39274F9E}" type="slidenum">
              <a:rPr lang="en-AU" smtClean="0"/>
              <a:t>20</a:t>
            </a:fld>
            <a:endParaRPr lang="en-AU"/>
          </a:p>
        </p:txBody>
      </p:sp>
    </p:spTree>
    <p:extLst>
      <p:ext uri="{BB962C8B-B14F-4D97-AF65-F5344CB8AC3E}">
        <p14:creationId xmlns:p14="http://schemas.microsoft.com/office/powerpoint/2010/main" val="32121973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smtClean="0"/>
              <a:t>We also have views based on the ASN, this one is the compilation of registered participants in the World IPv6 Launch. It helps to show that research and academic networks continue to dominate the deployment figures, because they are early adopters of new technology and have less issues in the CPE deployment problem space.</a:t>
            </a:r>
          </a:p>
          <a:p>
            <a:endParaRPr lang="en-US" sz="1600" dirty="0" smtClean="0"/>
          </a:p>
          <a:p>
            <a:r>
              <a:rPr lang="en-US" sz="1600" dirty="0" smtClean="0"/>
              <a:t>You’ll notice a Thai research net has pushed to the top of the table here.</a:t>
            </a:r>
          </a:p>
          <a:p>
            <a:endParaRPr lang="en-US" sz="1600" dirty="0"/>
          </a:p>
          <a:p>
            <a:r>
              <a:rPr lang="en-US" sz="1600" dirty="0" smtClean="0"/>
              <a:t>But it shows some domestic ISP providers like </a:t>
            </a:r>
            <a:r>
              <a:rPr lang="en-US" sz="1600" dirty="0" err="1" smtClean="0"/>
              <a:t>XSforALL</a:t>
            </a:r>
            <a:r>
              <a:rPr lang="en-US" sz="1600" dirty="0" smtClean="0"/>
              <a:t> and KDDI do have IPv6 deploying to their customer base in volume, and it shows the emerging penetration of IPv6 into the large national carriers like </a:t>
            </a:r>
            <a:r>
              <a:rPr lang="en-US" sz="1600" dirty="0" err="1" smtClean="0"/>
              <a:t>comcast</a:t>
            </a:r>
            <a:r>
              <a:rPr lang="en-US" sz="1600" dirty="0" smtClean="0"/>
              <a:t> and AT&amp;T</a:t>
            </a:r>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21</a:t>
            </a:fld>
            <a:endParaRPr lang="en-AU"/>
          </a:p>
        </p:txBody>
      </p:sp>
    </p:spTree>
    <p:extLst>
      <p:ext uri="{BB962C8B-B14F-4D97-AF65-F5344CB8AC3E}">
        <p14:creationId xmlns:p14="http://schemas.microsoft.com/office/powerpoint/2010/main" val="18243619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smtClean="0"/>
              <a:t>So, this data is what is driving my personal sense that IPv6 has arrived, its here, and we have a good news story on our hands right now. </a:t>
            </a:r>
          </a:p>
          <a:p>
            <a:endParaRPr lang="en-US" sz="1600" dirty="0"/>
          </a:p>
          <a:p>
            <a:r>
              <a:rPr lang="en-US" sz="1600" dirty="0" smtClean="0"/>
              <a:t>Trends are up. They are variable, and the world is not flat: rates of IPv6 adoption vary by economy, and by region, by ISP, and they reflect sometimes the global economic conditions, and sometimes the capital investment regime in a specific place and time.</a:t>
            </a:r>
          </a:p>
          <a:p>
            <a:endParaRPr lang="en-US" sz="1600" dirty="0"/>
          </a:p>
          <a:p>
            <a:r>
              <a:rPr lang="en-US" sz="1600" dirty="0" smtClean="0"/>
              <a:t>While in general tunnels are bad, transition technology like 6rd done right, can make IPv6 deployment to the user reasonably good. The CPE gap is the real problem.</a:t>
            </a:r>
          </a:p>
          <a:p>
            <a:endParaRPr lang="en-US" sz="1600" dirty="0"/>
          </a:p>
          <a:p>
            <a:r>
              <a:rPr lang="en-US" sz="1600" dirty="0" smtClean="0"/>
              <a:t>APNIC is making a long term investment in data analysis, and hopes to continue to inform the industry, and strategic planners with this kind of information.</a:t>
            </a:r>
            <a:endParaRPr lang="en-US" sz="1600" dirty="0"/>
          </a:p>
        </p:txBody>
      </p:sp>
      <p:sp>
        <p:nvSpPr>
          <p:cNvPr id="4" name="Slide Number Placeholder 3"/>
          <p:cNvSpPr>
            <a:spLocks noGrp="1"/>
          </p:cNvSpPr>
          <p:nvPr>
            <p:ph type="sldNum" sz="quarter" idx="10"/>
          </p:nvPr>
        </p:nvSpPr>
        <p:spPr/>
        <p:txBody>
          <a:bodyPr/>
          <a:lstStyle/>
          <a:p>
            <a:fld id="{51760B50-68CE-4856-A7F5-953E39274F9E}" type="slidenum">
              <a:rPr lang="en-AU" smtClean="0"/>
              <a:t>22</a:t>
            </a:fld>
            <a:endParaRPr lang="en-AU"/>
          </a:p>
        </p:txBody>
      </p:sp>
    </p:spTree>
    <p:extLst>
      <p:ext uri="{BB962C8B-B14F-4D97-AF65-F5344CB8AC3E}">
        <p14:creationId xmlns:p14="http://schemas.microsoft.com/office/powerpoint/2010/main" val="3971368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760B50-68CE-4856-A7F5-953E39274F9E}" type="slidenum">
              <a:rPr lang="en-AU" smtClean="0"/>
              <a:t>23</a:t>
            </a:fld>
            <a:endParaRPr lang="en-AU"/>
          </a:p>
        </p:txBody>
      </p:sp>
    </p:spTree>
    <p:extLst>
      <p:ext uri="{BB962C8B-B14F-4D97-AF65-F5344CB8AC3E}">
        <p14:creationId xmlns:p14="http://schemas.microsoft.com/office/powerpoint/2010/main" val="1251280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760B50-68CE-4856-A7F5-953E39274F9E}" type="slidenum">
              <a:rPr lang="en-AU" smtClean="0"/>
              <a:t>24</a:t>
            </a:fld>
            <a:endParaRPr lang="en-AU"/>
          </a:p>
        </p:txBody>
      </p:sp>
    </p:spTree>
    <p:extLst>
      <p:ext uri="{BB962C8B-B14F-4D97-AF65-F5344CB8AC3E}">
        <p14:creationId xmlns:p14="http://schemas.microsoft.com/office/powerpoint/2010/main" val="29223335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760B50-68CE-4856-A7F5-953E39274F9E}" type="slidenum">
              <a:rPr lang="en-AU" smtClean="0"/>
              <a:t>25</a:t>
            </a:fld>
            <a:endParaRPr lang="en-AU"/>
          </a:p>
        </p:txBody>
      </p:sp>
    </p:spTree>
    <p:extLst>
      <p:ext uri="{BB962C8B-B14F-4D97-AF65-F5344CB8AC3E}">
        <p14:creationId xmlns:p14="http://schemas.microsoft.com/office/powerpoint/2010/main" val="1098761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descr="APNIC 34_PPT template_cover_ FINAL.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1" cy="6884726"/>
          </a:xfrm>
          <a:prstGeom prst="rect">
            <a:avLst/>
          </a:prstGeom>
        </p:spPr>
      </p:pic>
      <p:sp>
        <p:nvSpPr>
          <p:cNvPr id="2" name="Title 1"/>
          <p:cNvSpPr>
            <a:spLocks noGrp="1"/>
          </p:cNvSpPr>
          <p:nvPr>
            <p:ph type="ctrTitle"/>
          </p:nvPr>
        </p:nvSpPr>
        <p:spPr>
          <a:xfrm>
            <a:off x="323528" y="1844825"/>
            <a:ext cx="8424936" cy="2160239"/>
          </a:xfrm>
        </p:spPr>
        <p:txBody>
          <a:bodyPr>
            <a:normAutofit/>
          </a:bodyPr>
          <a:lstStyle>
            <a:lvl1pPr algn="l">
              <a:defRPr sz="5400">
                <a:solidFill>
                  <a:schemeClr val="bg1"/>
                </a:solidFill>
              </a:defRPr>
            </a:lvl1pPr>
          </a:lstStyle>
          <a:p>
            <a:r>
              <a:rPr lang="en-AU" smtClean="0"/>
              <a:t>Click to edit Master title style</a:t>
            </a:r>
            <a:endParaRPr lang="en-AU" dirty="0"/>
          </a:p>
        </p:txBody>
      </p:sp>
      <p:sp>
        <p:nvSpPr>
          <p:cNvPr id="3" name="Subtitle 2"/>
          <p:cNvSpPr>
            <a:spLocks noGrp="1"/>
          </p:cNvSpPr>
          <p:nvPr>
            <p:ph type="subTitle" idx="1"/>
          </p:nvPr>
        </p:nvSpPr>
        <p:spPr>
          <a:xfrm>
            <a:off x="323528" y="4077072"/>
            <a:ext cx="8424936" cy="1752600"/>
          </a:xfr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AU" dirty="0"/>
          </a:p>
        </p:txBody>
      </p:sp>
    </p:spTree>
    <p:extLst>
      <p:ext uri="{BB962C8B-B14F-4D97-AF65-F5344CB8AC3E}">
        <p14:creationId xmlns:p14="http://schemas.microsoft.com/office/powerpoint/2010/main" val="33837449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with logos">
    <p:spTree>
      <p:nvGrpSpPr>
        <p:cNvPr id="1" name=""/>
        <p:cNvGrpSpPr/>
        <p:nvPr/>
      </p:nvGrpSpPr>
      <p:grpSpPr>
        <a:xfrm>
          <a:off x="0" y="0"/>
          <a:ext cx="0" cy="0"/>
          <a:chOff x="0" y="0"/>
          <a:chExt cx="0" cy="0"/>
        </a:xfrm>
      </p:grpSpPr>
      <p:pic>
        <p:nvPicPr>
          <p:cNvPr id="6" name="Picture 5" descr="APNIC 34_PPT template_cover_ FINAL.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1" cy="6884726"/>
          </a:xfrm>
          <a:prstGeom prst="rect">
            <a:avLst/>
          </a:prstGeom>
        </p:spPr>
      </p:pic>
      <p:sp>
        <p:nvSpPr>
          <p:cNvPr id="2" name="Title 1"/>
          <p:cNvSpPr>
            <a:spLocks noGrp="1"/>
          </p:cNvSpPr>
          <p:nvPr>
            <p:ph type="ctrTitle"/>
          </p:nvPr>
        </p:nvSpPr>
        <p:spPr>
          <a:xfrm>
            <a:off x="323528" y="1844824"/>
            <a:ext cx="8424936" cy="2016223"/>
          </a:xfrm>
        </p:spPr>
        <p:txBody>
          <a:bodyPr anchor="t" anchorCtr="0">
            <a:normAutofit/>
          </a:bodyPr>
          <a:lstStyle>
            <a:lvl1pPr algn="l">
              <a:defRPr sz="5400">
                <a:solidFill>
                  <a:schemeClr val="bg1"/>
                </a:solidFill>
              </a:defRPr>
            </a:lvl1pPr>
          </a:lstStyle>
          <a:p>
            <a:r>
              <a:rPr lang="en-AU" smtClean="0"/>
              <a:t>Click to edit Master title style</a:t>
            </a:r>
            <a:endParaRPr lang="en-AU" dirty="0"/>
          </a:p>
        </p:txBody>
      </p:sp>
      <p:sp>
        <p:nvSpPr>
          <p:cNvPr id="3" name="Subtitle 2"/>
          <p:cNvSpPr>
            <a:spLocks noGrp="1"/>
          </p:cNvSpPr>
          <p:nvPr>
            <p:ph type="subTitle" idx="1"/>
          </p:nvPr>
        </p:nvSpPr>
        <p:spPr>
          <a:xfrm>
            <a:off x="323528" y="3933056"/>
            <a:ext cx="8424936" cy="1152128"/>
          </a:xfr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AU" dirty="0"/>
          </a:p>
        </p:txBody>
      </p:sp>
      <p:sp>
        <p:nvSpPr>
          <p:cNvPr id="9" name="Rectangle 8"/>
          <p:cNvSpPr/>
          <p:nvPr userDrawn="1"/>
        </p:nvSpPr>
        <p:spPr>
          <a:xfrm>
            <a:off x="325918" y="5085184"/>
            <a:ext cx="8460000" cy="1080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547032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352928" cy="1143000"/>
          </a:xfrm>
        </p:spPr>
        <p:txBody>
          <a:bodyPr/>
          <a:lstStyle/>
          <a:p>
            <a:r>
              <a:rPr lang="en-AU" smtClean="0"/>
              <a:t>Click to edit Master title style</a:t>
            </a:r>
            <a:endParaRPr lang="en-AU" dirty="0"/>
          </a:p>
        </p:txBody>
      </p:sp>
      <p:sp>
        <p:nvSpPr>
          <p:cNvPr id="3" name="Content Placeholder 2"/>
          <p:cNvSpPr>
            <a:spLocks noGrp="1"/>
          </p:cNvSpPr>
          <p:nvPr>
            <p:ph idx="1"/>
          </p:nvPr>
        </p:nvSpPr>
        <p:spPr>
          <a:xfrm>
            <a:off x="395536" y="1600200"/>
            <a:ext cx="8352928" cy="4565103"/>
          </a:xfrm>
        </p:spPr>
        <p:txBody>
          <a:bodyPr/>
          <a:lstStyle/>
          <a:p>
            <a:pPr lvl="0"/>
            <a:r>
              <a:rPr lang="en-AU" smtClean="0"/>
              <a:t>Click to edit Master text styles</a:t>
            </a:r>
          </a:p>
          <a:p>
            <a:pPr lvl="1"/>
            <a:r>
              <a:rPr lang="en-AU" smtClean="0"/>
              <a:t>Second level</a:t>
            </a:r>
          </a:p>
          <a:p>
            <a:pPr lvl="2"/>
            <a:r>
              <a:rPr lang="en-AU" smtClean="0"/>
              <a:t>Third level</a:t>
            </a:r>
          </a:p>
        </p:txBody>
      </p:sp>
      <p:sp>
        <p:nvSpPr>
          <p:cNvPr id="7" name="Footer Placeholder 2"/>
          <p:cNvSpPr>
            <a:spLocks noGrp="1"/>
          </p:cNvSpPr>
          <p:nvPr>
            <p:ph type="ftr" sz="quarter" idx="3"/>
          </p:nvPr>
        </p:nvSpPr>
        <p:spPr>
          <a:xfrm>
            <a:off x="2699792" y="6548966"/>
            <a:ext cx="3960440" cy="227624"/>
          </a:xfrm>
          <a:prstGeom prst="rect">
            <a:avLst/>
          </a:prstGeom>
        </p:spPr>
        <p:txBody>
          <a:bodyPr lIns="0" tIns="0" rIns="0" bIns="0" anchor="b"/>
          <a:lstStyle>
            <a:lvl1pPr>
              <a:defRPr sz="1000">
                <a:solidFill>
                  <a:schemeClr val="bg1"/>
                </a:solidFill>
              </a:defRPr>
            </a:lvl1pPr>
          </a:lstStyle>
          <a:p>
            <a:endParaRPr lang="en-AU" kern="0" dirty="0"/>
          </a:p>
        </p:txBody>
      </p:sp>
      <p:sp>
        <p:nvSpPr>
          <p:cNvPr id="8"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spTree>
    <p:extLst>
      <p:ext uri="{BB962C8B-B14F-4D97-AF65-F5344CB8AC3E}">
        <p14:creationId xmlns:p14="http://schemas.microsoft.com/office/powerpoint/2010/main" val="2374650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Blue">
    <p:spTree>
      <p:nvGrpSpPr>
        <p:cNvPr id="1" name=""/>
        <p:cNvGrpSpPr/>
        <p:nvPr/>
      </p:nvGrpSpPr>
      <p:grpSpPr>
        <a:xfrm>
          <a:off x="0" y="0"/>
          <a:ext cx="0" cy="0"/>
          <a:chOff x="0" y="0"/>
          <a:chExt cx="0" cy="0"/>
        </a:xfrm>
      </p:grpSpPr>
      <p:pic>
        <p:nvPicPr>
          <p:cNvPr id="7" name="Picture 6" descr="APNIC 34_PPT template_cover_ FINAL.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1" cy="6884726"/>
          </a:xfrm>
          <a:prstGeom prst="rect">
            <a:avLst/>
          </a:prstGeom>
        </p:spPr>
      </p:pic>
      <p:sp>
        <p:nvSpPr>
          <p:cNvPr id="2" name="Title 1"/>
          <p:cNvSpPr>
            <a:spLocks noGrp="1"/>
          </p:cNvSpPr>
          <p:nvPr>
            <p:ph type="title"/>
          </p:nvPr>
        </p:nvSpPr>
        <p:spPr>
          <a:xfrm>
            <a:off x="395536" y="1421904"/>
            <a:ext cx="8352928" cy="1143000"/>
          </a:xfrm>
        </p:spPr>
        <p:txBody>
          <a:bodyPr/>
          <a:lstStyle>
            <a:lvl1pPr>
              <a:defRPr>
                <a:solidFill>
                  <a:schemeClr val="bg1"/>
                </a:solidFill>
              </a:defRPr>
            </a:lvl1pPr>
          </a:lstStyle>
          <a:p>
            <a:r>
              <a:rPr lang="en-AU" smtClean="0"/>
              <a:t>Click to edit Master title style</a:t>
            </a:r>
            <a:endParaRPr lang="en-AU" dirty="0"/>
          </a:p>
        </p:txBody>
      </p:sp>
      <p:sp>
        <p:nvSpPr>
          <p:cNvPr id="3" name="Content Placeholder 2"/>
          <p:cNvSpPr>
            <a:spLocks noGrp="1"/>
          </p:cNvSpPr>
          <p:nvPr>
            <p:ph idx="1"/>
          </p:nvPr>
        </p:nvSpPr>
        <p:spPr>
          <a:xfrm>
            <a:off x="395536" y="2636912"/>
            <a:ext cx="8352928" cy="3528391"/>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AU" smtClean="0"/>
              <a:t>Click to edit Master text styles</a:t>
            </a:r>
          </a:p>
          <a:p>
            <a:pPr lvl="1"/>
            <a:r>
              <a:rPr lang="en-AU" smtClean="0"/>
              <a:t>Second level</a:t>
            </a:r>
          </a:p>
          <a:p>
            <a:pPr lvl="2"/>
            <a:r>
              <a:rPr lang="en-AU" smtClean="0"/>
              <a:t>Third level</a:t>
            </a:r>
          </a:p>
        </p:txBody>
      </p:sp>
      <p:sp>
        <p:nvSpPr>
          <p:cNvPr id="8" name="Footer Placeholder 2"/>
          <p:cNvSpPr>
            <a:spLocks noGrp="1"/>
          </p:cNvSpPr>
          <p:nvPr>
            <p:ph type="ftr" sz="quarter" idx="3"/>
          </p:nvPr>
        </p:nvSpPr>
        <p:spPr>
          <a:xfrm>
            <a:off x="2699792" y="6548966"/>
            <a:ext cx="3960440" cy="227624"/>
          </a:xfrm>
          <a:prstGeom prst="rect">
            <a:avLst/>
          </a:prstGeom>
        </p:spPr>
        <p:txBody>
          <a:bodyPr lIns="0" tIns="0" rIns="0" bIns="0" anchor="b"/>
          <a:lstStyle>
            <a:lvl1pPr>
              <a:defRPr sz="1000">
                <a:solidFill>
                  <a:schemeClr val="bg1"/>
                </a:solidFill>
              </a:defRPr>
            </a:lvl1pPr>
          </a:lstStyle>
          <a:p>
            <a:endParaRPr lang="en-AU" kern="0" dirty="0"/>
          </a:p>
        </p:txBody>
      </p:sp>
      <p:sp>
        <p:nvSpPr>
          <p:cNvPr id="9"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spTree>
    <p:extLst>
      <p:ext uri="{BB962C8B-B14F-4D97-AF65-F5344CB8AC3E}">
        <p14:creationId xmlns:p14="http://schemas.microsoft.com/office/powerpoint/2010/main" val="1413479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o">
    <p:spTree>
      <p:nvGrpSpPr>
        <p:cNvPr id="1" name=""/>
        <p:cNvGrpSpPr/>
        <p:nvPr/>
      </p:nvGrpSpPr>
      <p:grpSpPr>
        <a:xfrm>
          <a:off x="0" y="0"/>
          <a:ext cx="0" cy="0"/>
          <a:chOff x="0" y="0"/>
          <a:chExt cx="0" cy="0"/>
        </a:xfrm>
      </p:grpSpPr>
      <p:pic>
        <p:nvPicPr>
          <p:cNvPr id="12" name="Picture 11" descr="APNIC 34_PPT template_cover_ FINAL.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1" cy="6884726"/>
          </a:xfrm>
          <a:prstGeom prst="rect">
            <a:avLst/>
          </a:prstGeom>
        </p:spPr>
      </p:pic>
      <p:sp>
        <p:nvSpPr>
          <p:cNvPr id="9" name="Rectangle 8"/>
          <p:cNvSpPr/>
          <p:nvPr userDrawn="1"/>
        </p:nvSpPr>
        <p:spPr>
          <a:xfrm>
            <a:off x="0" y="2996952"/>
            <a:ext cx="9144000" cy="3528392"/>
          </a:xfrm>
          <a:prstGeom prst="rect">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395536" y="1570782"/>
            <a:ext cx="8352928" cy="778098"/>
          </a:xfrm>
        </p:spPr>
        <p:txBody>
          <a:bodyPr>
            <a:normAutofit/>
          </a:bodyPr>
          <a:lstStyle>
            <a:lvl1pPr algn="l">
              <a:defRPr sz="4400">
                <a:solidFill>
                  <a:schemeClr val="bg1"/>
                </a:solidFill>
              </a:defRPr>
            </a:lvl1pPr>
          </a:lstStyle>
          <a:p>
            <a:r>
              <a:rPr lang="en-AU" smtClean="0"/>
              <a:t>Click to edit Master title style</a:t>
            </a:r>
            <a:endParaRPr lang="en-AU" dirty="0"/>
          </a:p>
        </p:txBody>
      </p:sp>
      <p:sp>
        <p:nvSpPr>
          <p:cNvPr id="3" name="Content Placeholder 2"/>
          <p:cNvSpPr>
            <a:spLocks noGrp="1"/>
          </p:cNvSpPr>
          <p:nvPr>
            <p:ph idx="1"/>
          </p:nvPr>
        </p:nvSpPr>
        <p:spPr>
          <a:xfrm>
            <a:off x="395536" y="3140968"/>
            <a:ext cx="8352928" cy="3253066"/>
          </a:xfrm>
        </p:spPr>
        <p:txBody>
          <a:bodyPr>
            <a:normAutofit/>
          </a:bodyPr>
          <a:lstStyle>
            <a:lvl1pPr marL="0" indent="0">
              <a:buNone/>
              <a:defRPr sz="1600">
                <a:solidFill>
                  <a:schemeClr val="tx1"/>
                </a:solidFill>
              </a:defRPr>
            </a:lvl1pPr>
            <a:lvl2pPr>
              <a:defRPr>
                <a:solidFill>
                  <a:schemeClr val="bg1"/>
                </a:solidFill>
              </a:defRPr>
            </a:lvl2pPr>
            <a:lvl3pPr>
              <a:defRPr>
                <a:solidFill>
                  <a:schemeClr val="bg1"/>
                </a:solidFill>
              </a:defRPr>
            </a:lvl3pPr>
          </a:lstStyle>
          <a:p>
            <a:pPr lvl="0"/>
            <a:r>
              <a:rPr lang="en-AU" smtClean="0"/>
              <a:t>Click to edit Master text styles</a:t>
            </a:r>
          </a:p>
        </p:txBody>
      </p:sp>
      <p:sp>
        <p:nvSpPr>
          <p:cNvPr id="8" name="Text Placeholder 7"/>
          <p:cNvSpPr>
            <a:spLocks noGrp="1"/>
          </p:cNvSpPr>
          <p:nvPr>
            <p:ph type="body" sz="quarter" idx="13"/>
          </p:nvPr>
        </p:nvSpPr>
        <p:spPr>
          <a:xfrm>
            <a:off x="395536" y="2420888"/>
            <a:ext cx="8352928" cy="504602"/>
          </a:xfrm>
        </p:spPr>
        <p:txBody>
          <a:bodyPr/>
          <a:lstStyle>
            <a:lvl1pPr marL="0" indent="0">
              <a:buNone/>
              <a:defRPr>
                <a:solidFill>
                  <a:schemeClr val="bg1"/>
                </a:solidFill>
              </a:defRPr>
            </a:lvl1pPr>
          </a:lstStyle>
          <a:p>
            <a:pPr lvl="0"/>
            <a:r>
              <a:rPr lang="en-AU" smtClean="0"/>
              <a:t>Click to edit Master text styles</a:t>
            </a:r>
          </a:p>
        </p:txBody>
      </p:sp>
      <p:sp>
        <p:nvSpPr>
          <p:cNvPr id="10" name="Footer Placeholder 2"/>
          <p:cNvSpPr>
            <a:spLocks noGrp="1"/>
          </p:cNvSpPr>
          <p:nvPr>
            <p:ph type="ftr" sz="quarter" idx="3"/>
          </p:nvPr>
        </p:nvSpPr>
        <p:spPr>
          <a:xfrm>
            <a:off x="2699792" y="6548966"/>
            <a:ext cx="3960440" cy="227624"/>
          </a:xfrm>
          <a:prstGeom prst="rect">
            <a:avLst/>
          </a:prstGeom>
        </p:spPr>
        <p:txBody>
          <a:bodyPr lIns="0" tIns="0" rIns="0" bIns="0" anchor="b"/>
          <a:lstStyle>
            <a:lvl1pPr>
              <a:defRPr sz="1000">
                <a:solidFill>
                  <a:schemeClr val="bg1"/>
                </a:solidFill>
              </a:defRPr>
            </a:lvl1pPr>
          </a:lstStyle>
          <a:p>
            <a:endParaRPr lang="en-AU" kern="0" dirty="0"/>
          </a:p>
        </p:txBody>
      </p:sp>
      <p:sp>
        <p:nvSpPr>
          <p:cNvPr id="11"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spTree>
    <p:extLst>
      <p:ext uri="{BB962C8B-B14F-4D97-AF65-F5344CB8AC3E}">
        <p14:creationId xmlns:p14="http://schemas.microsoft.com/office/powerpoint/2010/main" val="3669704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side text">
    <p:spTree>
      <p:nvGrpSpPr>
        <p:cNvPr id="1" name=""/>
        <p:cNvGrpSpPr/>
        <p:nvPr/>
      </p:nvGrpSpPr>
      <p:grpSpPr>
        <a:xfrm>
          <a:off x="0" y="0"/>
          <a:ext cx="0" cy="0"/>
          <a:chOff x="0" y="0"/>
          <a:chExt cx="0" cy="0"/>
        </a:xfrm>
      </p:grpSpPr>
      <p:pic>
        <p:nvPicPr>
          <p:cNvPr id="16" name="Picture 15" descr="APNIC 34_PPT template_cover_ FINAL.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1" cy="6884726"/>
          </a:xfrm>
          <a:prstGeom prst="rect">
            <a:avLst/>
          </a:prstGeom>
        </p:spPr>
      </p:pic>
      <p:sp>
        <p:nvSpPr>
          <p:cNvPr id="14" name="Rectangle 13"/>
          <p:cNvSpPr/>
          <p:nvPr userDrawn="1"/>
        </p:nvSpPr>
        <p:spPr>
          <a:xfrm>
            <a:off x="0" y="0"/>
            <a:ext cx="5580112" cy="6885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395536" y="274638"/>
            <a:ext cx="4896544" cy="1143000"/>
          </a:xfrm>
        </p:spPr>
        <p:txBody>
          <a:bodyPr/>
          <a:lstStyle>
            <a:lvl1pPr>
              <a:defRPr i="0">
                <a:solidFill>
                  <a:schemeClr val="tx1"/>
                </a:solidFill>
              </a:defRPr>
            </a:lvl1pPr>
          </a:lstStyle>
          <a:p>
            <a:r>
              <a:rPr lang="en-AU" smtClean="0"/>
              <a:t>Click to edit Master title style</a:t>
            </a:r>
            <a:endParaRPr lang="en-AU" dirty="0"/>
          </a:p>
        </p:txBody>
      </p:sp>
      <p:sp>
        <p:nvSpPr>
          <p:cNvPr id="3" name="Content Placeholder 2"/>
          <p:cNvSpPr>
            <a:spLocks noGrp="1"/>
          </p:cNvSpPr>
          <p:nvPr>
            <p:ph idx="1"/>
          </p:nvPr>
        </p:nvSpPr>
        <p:spPr>
          <a:xfrm>
            <a:off x="395536" y="1600200"/>
            <a:ext cx="4896544" cy="4565103"/>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AU" smtClean="0"/>
              <a:t>Click to edit Master text styles</a:t>
            </a:r>
          </a:p>
          <a:p>
            <a:pPr lvl="1"/>
            <a:r>
              <a:rPr lang="en-AU" smtClean="0"/>
              <a:t>Second level</a:t>
            </a:r>
          </a:p>
          <a:p>
            <a:pPr lvl="2"/>
            <a:r>
              <a:rPr lang="en-AU" smtClean="0"/>
              <a:t>Third level</a:t>
            </a:r>
          </a:p>
        </p:txBody>
      </p:sp>
      <p:sp>
        <p:nvSpPr>
          <p:cNvPr id="11" name="Text Placeholder 10"/>
          <p:cNvSpPr>
            <a:spLocks noGrp="1"/>
          </p:cNvSpPr>
          <p:nvPr>
            <p:ph type="body" sz="quarter" idx="13"/>
          </p:nvPr>
        </p:nvSpPr>
        <p:spPr>
          <a:xfrm>
            <a:off x="6012161" y="260350"/>
            <a:ext cx="2808312" cy="5904954"/>
          </a:xfrm>
        </p:spPr>
        <p:txBody>
          <a:bodyPr anchor="ctr" anchorCtr="0">
            <a:normAutofit/>
          </a:bodyPr>
          <a:lstStyle>
            <a:lvl1pPr marL="0" indent="0">
              <a:buNone/>
              <a:defRPr sz="2800">
                <a:solidFill>
                  <a:schemeClr val="bg1"/>
                </a:solidFill>
              </a:defRPr>
            </a:lvl1pPr>
          </a:lstStyle>
          <a:p>
            <a:pPr lvl="0"/>
            <a:r>
              <a:rPr lang="en-AU" smtClean="0"/>
              <a:t>Click to edit Master text styles</a:t>
            </a:r>
          </a:p>
        </p:txBody>
      </p:sp>
      <p:sp>
        <p:nvSpPr>
          <p:cNvPr id="10" name="Footer Placeholder 2"/>
          <p:cNvSpPr>
            <a:spLocks noGrp="1"/>
          </p:cNvSpPr>
          <p:nvPr>
            <p:ph type="ftr" sz="quarter" idx="3"/>
          </p:nvPr>
        </p:nvSpPr>
        <p:spPr>
          <a:xfrm>
            <a:off x="2699792" y="6548966"/>
            <a:ext cx="2808312" cy="227624"/>
          </a:xfrm>
          <a:prstGeom prst="rect">
            <a:avLst/>
          </a:prstGeom>
        </p:spPr>
        <p:txBody>
          <a:bodyPr lIns="0" tIns="0" rIns="0" bIns="0" anchor="b"/>
          <a:lstStyle>
            <a:lvl1pPr>
              <a:defRPr sz="1000">
                <a:solidFill>
                  <a:schemeClr val="tx1"/>
                </a:solidFill>
              </a:defRPr>
            </a:lvl1pPr>
          </a:lstStyle>
          <a:p>
            <a:endParaRPr lang="en-AU" kern="0" dirty="0"/>
          </a:p>
        </p:txBody>
      </p:sp>
      <p:sp>
        <p:nvSpPr>
          <p:cNvPr id="13"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pic>
        <p:nvPicPr>
          <p:cNvPr id="12" name="Picture 11"/>
          <p:cNvPicPr>
            <a:picLocks noChangeAspect="1"/>
          </p:cNvPicPr>
          <p:nvPr userDrawn="1"/>
        </p:nvPicPr>
        <p:blipFill rotWithShape="1">
          <a:blip r:embed="rId3" cstate="screen">
            <a:extLst>
              <a:ext uri="{28A0092B-C50C-407E-A947-70E740481C1C}">
                <a14:useLocalDpi xmlns:a14="http://schemas.microsoft.com/office/drawing/2010/main"/>
              </a:ext>
            </a:extLst>
          </a:blip>
          <a:srcRect t="5782" b="1"/>
          <a:stretch/>
        </p:blipFill>
        <p:spPr>
          <a:xfrm>
            <a:off x="0" y="6379370"/>
            <a:ext cx="2032000" cy="478630"/>
          </a:xfrm>
          <a:prstGeom prst="rect">
            <a:avLst/>
          </a:prstGeom>
        </p:spPr>
      </p:pic>
    </p:spTree>
    <p:extLst>
      <p:ext uri="{BB962C8B-B14F-4D97-AF65-F5344CB8AC3E}">
        <p14:creationId xmlns:p14="http://schemas.microsoft.com/office/powerpoint/2010/main" val="12478849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3" name="Picture 12" descr="APNIC 34_PPT template_cover_ FINAL.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1" cy="6884726"/>
          </a:xfrm>
          <a:prstGeom prst="rect">
            <a:avLst/>
          </a:prstGeom>
        </p:spPr>
      </p:pic>
      <p:sp>
        <p:nvSpPr>
          <p:cNvPr id="12" name="Rectangle 11"/>
          <p:cNvSpPr/>
          <p:nvPr userDrawn="1"/>
        </p:nvSpPr>
        <p:spPr>
          <a:xfrm>
            <a:off x="0" y="1916832"/>
            <a:ext cx="9144000" cy="3240360"/>
          </a:xfrm>
          <a:prstGeom prst="rect">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itle 1"/>
          <p:cNvSpPr>
            <a:spLocks noGrp="1"/>
          </p:cNvSpPr>
          <p:nvPr>
            <p:ph type="title"/>
          </p:nvPr>
        </p:nvSpPr>
        <p:spPr>
          <a:xfrm>
            <a:off x="395536" y="2420888"/>
            <a:ext cx="8352928" cy="1362075"/>
          </a:xfrm>
        </p:spPr>
        <p:txBody>
          <a:bodyPr anchor="ctr" anchorCtr="0">
            <a:noAutofit/>
          </a:bodyPr>
          <a:lstStyle>
            <a:lvl1pPr algn="l">
              <a:defRPr sz="4800" b="1" cap="none" baseline="0">
                <a:solidFill>
                  <a:schemeClr val="tx1"/>
                </a:solidFill>
              </a:defRPr>
            </a:lvl1pPr>
          </a:lstStyle>
          <a:p>
            <a:r>
              <a:rPr lang="en-AU" smtClean="0"/>
              <a:t>Click to edit Master title style</a:t>
            </a:r>
            <a:endParaRPr lang="en-AU" dirty="0"/>
          </a:p>
        </p:txBody>
      </p:sp>
      <p:sp>
        <p:nvSpPr>
          <p:cNvPr id="9" name="Text Placeholder 8"/>
          <p:cNvSpPr>
            <a:spLocks noGrp="1"/>
          </p:cNvSpPr>
          <p:nvPr>
            <p:ph type="body" sz="quarter" idx="13"/>
          </p:nvPr>
        </p:nvSpPr>
        <p:spPr>
          <a:xfrm>
            <a:off x="395536" y="3965525"/>
            <a:ext cx="8373710" cy="649288"/>
          </a:xfrm>
        </p:spPr>
        <p:txBody>
          <a:bodyPr/>
          <a:lstStyle>
            <a:lvl1pPr marL="0" indent="0" algn="l">
              <a:buNone/>
              <a:defRPr>
                <a:solidFill>
                  <a:schemeClr val="tx1"/>
                </a:solidFill>
              </a:defRPr>
            </a:lvl1pPr>
          </a:lstStyle>
          <a:p>
            <a:pPr lvl="0"/>
            <a:r>
              <a:rPr lang="en-AU" smtClean="0"/>
              <a:t>Click to edit Master text styles</a:t>
            </a:r>
          </a:p>
        </p:txBody>
      </p:sp>
      <p:sp>
        <p:nvSpPr>
          <p:cNvPr id="10" name="Footer Placeholder 2"/>
          <p:cNvSpPr>
            <a:spLocks noGrp="1"/>
          </p:cNvSpPr>
          <p:nvPr>
            <p:ph type="ftr" sz="quarter" idx="3"/>
          </p:nvPr>
        </p:nvSpPr>
        <p:spPr>
          <a:xfrm>
            <a:off x="2699792" y="6548966"/>
            <a:ext cx="3960440" cy="227624"/>
          </a:xfrm>
          <a:prstGeom prst="rect">
            <a:avLst/>
          </a:prstGeom>
        </p:spPr>
        <p:txBody>
          <a:bodyPr lIns="0" tIns="0" rIns="0" bIns="0" anchor="b"/>
          <a:lstStyle>
            <a:lvl1pPr>
              <a:defRPr sz="1000">
                <a:solidFill>
                  <a:schemeClr val="bg1"/>
                </a:solidFill>
              </a:defRPr>
            </a:lvl1pPr>
          </a:lstStyle>
          <a:p>
            <a:endParaRPr lang="en-AU" kern="0" dirty="0"/>
          </a:p>
        </p:txBody>
      </p:sp>
      <p:sp>
        <p:nvSpPr>
          <p:cNvPr id="11"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spTree>
    <p:extLst>
      <p:ext uri="{BB962C8B-B14F-4D97-AF65-F5344CB8AC3E}">
        <p14:creationId xmlns:p14="http://schemas.microsoft.com/office/powerpoint/2010/main" val="31827927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pic>
        <p:nvPicPr>
          <p:cNvPr id="9" name="Picture 8" descr="APNIC 34_PPT template_cover_ FINAL.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1" cy="6884726"/>
          </a:xfrm>
          <a:prstGeom prst="rect">
            <a:avLst/>
          </a:prstGeom>
        </p:spPr>
      </p:pic>
      <p:sp>
        <p:nvSpPr>
          <p:cNvPr id="10" name="Rectangle 9"/>
          <p:cNvSpPr/>
          <p:nvPr userDrawn="1"/>
        </p:nvSpPr>
        <p:spPr>
          <a:xfrm>
            <a:off x="0" y="0"/>
            <a:ext cx="5580112" cy="6885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395536" y="2060848"/>
            <a:ext cx="4896544" cy="2049191"/>
          </a:xfrm>
        </p:spPr>
        <p:txBody>
          <a:bodyPr anchor="ctr" anchorCtr="0">
            <a:noAutofit/>
          </a:bodyPr>
          <a:lstStyle>
            <a:lvl1pPr algn="l">
              <a:defRPr sz="4800" b="1" cap="none" baseline="0">
                <a:solidFill>
                  <a:schemeClr val="tx1"/>
                </a:solidFill>
              </a:defRPr>
            </a:lvl1pPr>
          </a:lstStyle>
          <a:p>
            <a:r>
              <a:rPr lang="en-AU" smtClean="0"/>
              <a:t>Click to edit Master title style</a:t>
            </a:r>
            <a:endParaRPr lang="en-AU" dirty="0"/>
          </a:p>
        </p:txBody>
      </p:sp>
      <p:sp>
        <p:nvSpPr>
          <p:cNvPr id="12" name="Footer Placeholder 2"/>
          <p:cNvSpPr>
            <a:spLocks noGrp="1"/>
          </p:cNvSpPr>
          <p:nvPr>
            <p:ph type="ftr" sz="quarter" idx="3"/>
          </p:nvPr>
        </p:nvSpPr>
        <p:spPr>
          <a:xfrm>
            <a:off x="2699792" y="6548966"/>
            <a:ext cx="2808312" cy="227624"/>
          </a:xfrm>
          <a:prstGeom prst="rect">
            <a:avLst/>
          </a:prstGeom>
        </p:spPr>
        <p:txBody>
          <a:bodyPr lIns="0" tIns="0" rIns="0" bIns="0" anchor="b"/>
          <a:lstStyle>
            <a:lvl1pPr>
              <a:defRPr sz="1000">
                <a:solidFill>
                  <a:schemeClr val="tx1"/>
                </a:solidFill>
              </a:defRPr>
            </a:lvl1pPr>
          </a:lstStyle>
          <a:p>
            <a:endParaRPr lang="en-AU" kern="0" dirty="0"/>
          </a:p>
        </p:txBody>
      </p:sp>
      <p:sp>
        <p:nvSpPr>
          <p:cNvPr id="13"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pic>
        <p:nvPicPr>
          <p:cNvPr id="8" name="Picture 7"/>
          <p:cNvPicPr>
            <a:picLocks noChangeAspect="1"/>
          </p:cNvPicPr>
          <p:nvPr userDrawn="1"/>
        </p:nvPicPr>
        <p:blipFill rotWithShape="1">
          <a:blip r:embed="rId3" cstate="screen">
            <a:extLst>
              <a:ext uri="{28A0092B-C50C-407E-A947-70E740481C1C}">
                <a14:useLocalDpi xmlns:a14="http://schemas.microsoft.com/office/drawing/2010/main"/>
              </a:ext>
            </a:extLst>
          </a:blip>
          <a:srcRect t="5782" b="1"/>
          <a:stretch/>
        </p:blipFill>
        <p:spPr>
          <a:xfrm>
            <a:off x="0" y="6379370"/>
            <a:ext cx="2032000" cy="478630"/>
          </a:xfrm>
          <a:prstGeom prst="rect">
            <a:avLst/>
          </a:prstGeom>
        </p:spPr>
      </p:pic>
    </p:spTree>
    <p:extLst>
      <p:ext uri="{BB962C8B-B14F-4D97-AF65-F5344CB8AC3E}">
        <p14:creationId xmlns:p14="http://schemas.microsoft.com/office/powerpoint/2010/main" val="25416665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352928" cy="1143000"/>
          </a:xfrm>
        </p:spPr>
        <p:txBody>
          <a:bodyPr/>
          <a:lstStyle/>
          <a:p>
            <a:r>
              <a:rPr lang="en-AU" smtClean="0"/>
              <a:t>Click to edit Master title style</a:t>
            </a:r>
            <a:endParaRPr lang="en-AU" dirty="0"/>
          </a:p>
        </p:txBody>
      </p:sp>
      <p:sp>
        <p:nvSpPr>
          <p:cNvPr id="3" name="Content Placeholder 2"/>
          <p:cNvSpPr>
            <a:spLocks noGrp="1"/>
          </p:cNvSpPr>
          <p:nvPr>
            <p:ph sz="half" idx="1"/>
          </p:nvPr>
        </p:nvSpPr>
        <p:spPr>
          <a:xfrm>
            <a:off x="395536" y="1600200"/>
            <a:ext cx="4104456" cy="4565103"/>
          </a:xfrm>
        </p:spPr>
        <p:txBody>
          <a:bodyPr>
            <a:normAutofit/>
          </a:bodyPr>
          <a:lstStyle>
            <a:lvl1pPr>
              <a:defRPr sz="2000"/>
            </a:lvl1pPr>
            <a:lvl2pPr>
              <a:defRPr sz="1800"/>
            </a:lvl2pPr>
            <a:lvl3pPr>
              <a:defRPr sz="16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p:txBody>
      </p:sp>
      <p:sp>
        <p:nvSpPr>
          <p:cNvPr id="4" name="Content Placeholder 3"/>
          <p:cNvSpPr>
            <a:spLocks noGrp="1"/>
          </p:cNvSpPr>
          <p:nvPr>
            <p:ph sz="half" idx="2"/>
          </p:nvPr>
        </p:nvSpPr>
        <p:spPr>
          <a:xfrm>
            <a:off x="4572000" y="1600200"/>
            <a:ext cx="4176464" cy="4565103"/>
          </a:xfrm>
        </p:spPr>
        <p:txBody>
          <a:bodyPr>
            <a:normAutofit/>
          </a:bodyPr>
          <a:lstStyle>
            <a:lvl1pPr>
              <a:defRPr sz="2000"/>
            </a:lvl1pPr>
            <a:lvl2pPr>
              <a:defRPr sz="1800"/>
            </a:lvl2pPr>
            <a:lvl3pPr>
              <a:defRPr sz="16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p:txBody>
      </p:sp>
      <p:sp>
        <p:nvSpPr>
          <p:cNvPr id="8" name="Footer Placeholder 2"/>
          <p:cNvSpPr>
            <a:spLocks noGrp="1"/>
          </p:cNvSpPr>
          <p:nvPr>
            <p:ph type="ftr" sz="quarter" idx="3"/>
          </p:nvPr>
        </p:nvSpPr>
        <p:spPr>
          <a:xfrm>
            <a:off x="2699792" y="6548966"/>
            <a:ext cx="3960440" cy="227624"/>
          </a:xfrm>
          <a:prstGeom prst="rect">
            <a:avLst/>
          </a:prstGeom>
        </p:spPr>
        <p:txBody>
          <a:bodyPr lIns="0" tIns="0" rIns="0" bIns="0" anchor="b"/>
          <a:lstStyle>
            <a:lvl1pPr>
              <a:defRPr sz="1000">
                <a:solidFill>
                  <a:schemeClr val="bg1"/>
                </a:solidFill>
              </a:defRPr>
            </a:lvl1pPr>
          </a:lstStyle>
          <a:p>
            <a:endParaRPr lang="en-AU" kern="0" dirty="0"/>
          </a:p>
        </p:txBody>
      </p:sp>
      <p:sp>
        <p:nvSpPr>
          <p:cNvPr id="9"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spTree>
    <p:extLst>
      <p:ext uri="{BB962C8B-B14F-4D97-AF65-F5344CB8AC3E}">
        <p14:creationId xmlns:p14="http://schemas.microsoft.com/office/powerpoint/2010/main" val="1808853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352928" cy="1143000"/>
          </a:xfrm>
        </p:spPr>
        <p:txBody>
          <a:bodyPr/>
          <a:lstStyle>
            <a:lvl1pPr>
              <a:defRPr/>
            </a:lvl1pPr>
          </a:lstStyle>
          <a:p>
            <a:r>
              <a:rPr lang="en-AU" smtClean="0"/>
              <a:t>Click to edit Master title style</a:t>
            </a:r>
            <a:endParaRPr lang="en-AU" dirty="0"/>
          </a:p>
        </p:txBody>
      </p:sp>
      <p:sp>
        <p:nvSpPr>
          <p:cNvPr id="3" name="Text Placeholder 2"/>
          <p:cNvSpPr>
            <a:spLocks noGrp="1"/>
          </p:cNvSpPr>
          <p:nvPr>
            <p:ph type="body" idx="1"/>
          </p:nvPr>
        </p:nvSpPr>
        <p:spPr>
          <a:xfrm>
            <a:off x="395536" y="1535113"/>
            <a:ext cx="4104456" cy="639762"/>
          </a:xfrm>
        </p:spPr>
        <p:txBody>
          <a:bodyPr anchor="t" anchorCtr="0"/>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395536" y="2174875"/>
            <a:ext cx="4104456" cy="3990429"/>
          </a:xfrm>
        </p:spPr>
        <p:txBody>
          <a:bodyPr>
            <a:normAutofit/>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p:txBody>
      </p:sp>
      <p:sp>
        <p:nvSpPr>
          <p:cNvPr id="5" name="Text Placeholder 4"/>
          <p:cNvSpPr>
            <a:spLocks noGrp="1"/>
          </p:cNvSpPr>
          <p:nvPr>
            <p:ph type="body" sz="quarter" idx="3"/>
          </p:nvPr>
        </p:nvSpPr>
        <p:spPr>
          <a:xfrm>
            <a:off x="4572001" y="1535113"/>
            <a:ext cx="4176463" cy="639762"/>
          </a:xfrm>
        </p:spPr>
        <p:txBody>
          <a:bodyPr anchor="t" anchorCtr="0">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572001" y="2174875"/>
            <a:ext cx="4176463" cy="3990429"/>
          </a:xfrm>
        </p:spPr>
        <p:txBody>
          <a:bodyPr>
            <a:normAutofit/>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p:txBody>
      </p:sp>
      <p:sp>
        <p:nvSpPr>
          <p:cNvPr id="10" name="Footer Placeholder 2"/>
          <p:cNvSpPr>
            <a:spLocks noGrp="1"/>
          </p:cNvSpPr>
          <p:nvPr>
            <p:ph type="ftr" sz="quarter" idx="10"/>
          </p:nvPr>
        </p:nvSpPr>
        <p:spPr>
          <a:xfrm>
            <a:off x="2699792" y="6548966"/>
            <a:ext cx="3960440" cy="227624"/>
          </a:xfrm>
          <a:prstGeom prst="rect">
            <a:avLst/>
          </a:prstGeom>
        </p:spPr>
        <p:txBody>
          <a:bodyPr lIns="0" tIns="0" rIns="0" bIns="0" anchor="b"/>
          <a:lstStyle>
            <a:lvl1pPr>
              <a:defRPr sz="1000">
                <a:solidFill>
                  <a:schemeClr val="bg1"/>
                </a:solidFill>
              </a:defRPr>
            </a:lvl1pPr>
          </a:lstStyle>
          <a:p>
            <a:endParaRPr lang="en-AU" kern="0" dirty="0"/>
          </a:p>
        </p:txBody>
      </p:sp>
      <p:sp>
        <p:nvSpPr>
          <p:cNvPr id="11" name="Slide Number Placeholder 3"/>
          <p:cNvSpPr>
            <a:spLocks noGrp="1"/>
          </p:cNvSpPr>
          <p:nvPr>
            <p:ph type="sldNum" sz="quarter" idx="11"/>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spTree>
    <p:extLst>
      <p:ext uri="{BB962C8B-B14F-4D97-AF65-F5344CB8AC3E}">
        <p14:creationId xmlns:p14="http://schemas.microsoft.com/office/powerpoint/2010/main" val="35773392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352928" cy="1143000"/>
          </a:xfrm>
        </p:spPr>
        <p:txBody>
          <a:bodyPr/>
          <a:lstStyle/>
          <a:p>
            <a:r>
              <a:rPr lang="en-AU" smtClean="0"/>
              <a:t>Click to edit Master title style</a:t>
            </a:r>
            <a:endParaRPr lang="en-AU" dirty="0"/>
          </a:p>
        </p:txBody>
      </p:sp>
      <p:sp>
        <p:nvSpPr>
          <p:cNvPr id="6" name="Footer Placeholder 2"/>
          <p:cNvSpPr>
            <a:spLocks noGrp="1"/>
          </p:cNvSpPr>
          <p:nvPr>
            <p:ph type="ftr" sz="quarter" idx="3"/>
          </p:nvPr>
        </p:nvSpPr>
        <p:spPr>
          <a:xfrm>
            <a:off x="2699792" y="6548966"/>
            <a:ext cx="3960440" cy="227624"/>
          </a:xfrm>
          <a:prstGeom prst="rect">
            <a:avLst/>
          </a:prstGeom>
        </p:spPr>
        <p:txBody>
          <a:bodyPr lIns="0" tIns="0" rIns="0" bIns="0" anchor="b"/>
          <a:lstStyle>
            <a:lvl1pPr>
              <a:defRPr sz="1000">
                <a:solidFill>
                  <a:schemeClr val="bg1"/>
                </a:solidFill>
              </a:defRPr>
            </a:lvl1pPr>
          </a:lstStyle>
          <a:p>
            <a:endParaRPr lang="en-AU" kern="0" dirty="0"/>
          </a:p>
        </p:txBody>
      </p:sp>
      <p:sp>
        <p:nvSpPr>
          <p:cNvPr id="7"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spTree>
    <p:extLst>
      <p:ext uri="{BB962C8B-B14F-4D97-AF65-F5344CB8AC3E}">
        <p14:creationId xmlns:p14="http://schemas.microsoft.com/office/powerpoint/2010/main" val="9940380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2"/>
          <p:cNvSpPr>
            <a:spLocks noGrp="1"/>
          </p:cNvSpPr>
          <p:nvPr>
            <p:ph type="ftr" sz="quarter" idx="3"/>
          </p:nvPr>
        </p:nvSpPr>
        <p:spPr>
          <a:xfrm>
            <a:off x="2699792" y="6548966"/>
            <a:ext cx="3960440" cy="227624"/>
          </a:xfrm>
          <a:prstGeom prst="rect">
            <a:avLst/>
          </a:prstGeom>
        </p:spPr>
        <p:txBody>
          <a:bodyPr lIns="0" tIns="0" rIns="0" bIns="0" anchor="b"/>
          <a:lstStyle>
            <a:lvl1pPr>
              <a:defRPr sz="1000">
                <a:solidFill>
                  <a:schemeClr val="bg1"/>
                </a:solidFill>
              </a:defRPr>
            </a:lvl1pPr>
          </a:lstStyle>
          <a:p>
            <a:endParaRPr lang="en-AU" kern="0" dirty="0"/>
          </a:p>
        </p:txBody>
      </p:sp>
      <p:sp>
        <p:nvSpPr>
          <p:cNvPr id="6"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spTree>
    <p:extLst>
      <p:ext uri="{BB962C8B-B14F-4D97-AF65-F5344CB8AC3E}">
        <p14:creationId xmlns:p14="http://schemas.microsoft.com/office/powerpoint/2010/main" val="20728924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5536" y="274638"/>
            <a:ext cx="8352928" cy="1143000"/>
          </a:xfrm>
          <a:prstGeom prst="rect">
            <a:avLst/>
          </a:prstGeom>
        </p:spPr>
        <p:txBody>
          <a:bodyPr vert="horz" lIns="0" tIns="0" rIns="0" bIns="0" rtlCol="0" anchor="ctr">
            <a:normAutofit/>
          </a:bodyPr>
          <a:lstStyle/>
          <a:p>
            <a:r>
              <a:rPr lang="en-AU" smtClean="0"/>
              <a:t>Click to edit Master title style</a:t>
            </a:r>
            <a:endParaRPr lang="en-AU" dirty="0"/>
          </a:p>
        </p:txBody>
      </p:sp>
      <p:sp>
        <p:nvSpPr>
          <p:cNvPr id="3" name="Text Placeholder 2"/>
          <p:cNvSpPr>
            <a:spLocks noGrp="1"/>
          </p:cNvSpPr>
          <p:nvPr>
            <p:ph type="body" idx="1"/>
          </p:nvPr>
        </p:nvSpPr>
        <p:spPr>
          <a:xfrm>
            <a:off x="395536" y="1600200"/>
            <a:ext cx="8352928" cy="4565103"/>
          </a:xfrm>
          <a:prstGeom prst="rect">
            <a:avLst/>
          </a:prstGeom>
        </p:spPr>
        <p:txBody>
          <a:bodyPr vert="horz" lIns="0" tIns="0" rIns="0" bIns="0" rtlCol="0">
            <a:normAutofit/>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14" name="Footer Placeholder 2"/>
          <p:cNvSpPr>
            <a:spLocks noGrp="1"/>
          </p:cNvSpPr>
          <p:nvPr>
            <p:ph type="ftr" sz="quarter" idx="3"/>
          </p:nvPr>
        </p:nvSpPr>
        <p:spPr>
          <a:xfrm>
            <a:off x="2699792" y="6548966"/>
            <a:ext cx="3960440" cy="227624"/>
          </a:xfrm>
          <a:prstGeom prst="rect">
            <a:avLst/>
          </a:prstGeom>
        </p:spPr>
        <p:txBody>
          <a:bodyPr lIns="0" tIns="0" rIns="0" bIns="0" anchor="b"/>
          <a:lstStyle>
            <a:lvl1pPr>
              <a:defRPr sz="1000">
                <a:solidFill>
                  <a:schemeClr val="bg1"/>
                </a:solidFill>
              </a:defRPr>
            </a:lvl1pPr>
          </a:lstStyle>
          <a:p>
            <a:endParaRPr lang="en-AU" kern="0" dirty="0"/>
          </a:p>
        </p:txBody>
      </p:sp>
      <p:sp>
        <p:nvSpPr>
          <p:cNvPr id="15" name="Slide Number Placeholder 3"/>
          <p:cNvSpPr>
            <a:spLocks noGrp="1"/>
          </p:cNvSpPr>
          <p:nvPr>
            <p:ph type="sldNum" sz="quarter" idx="4"/>
          </p:nvPr>
        </p:nvSpPr>
        <p:spPr>
          <a:xfrm>
            <a:off x="8748464" y="6548965"/>
            <a:ext cx="288032" cy="216024"/>
          </a:xfrm>
          <a:prstGeom prst="rect">
            <a:avLst/>
          </a:prstGeom>
        </p:spPr>
        <p:txBody>
          <a:bodyPr lIns="0" tIns="0" rIns="0" bIns="0" anchor="b"/>
          <a:lstStyle>
            <a:lvl1pPr algn="r">
              <a:defRPr sz="1000">
                <a:solidFill>
                  <a:schemeClr val="bg1"/>
                </a:solidFill>
              </a:defRPr>
            </a:lvl1pPr>
          </a:lstStyle>
          <a:p>
            <a:fld id="{38B2A337-2C29-4402-A0A2-E290C184D5D3}" type="slidenum">
              <a:rPr lang="en-AU" kern="0" smtClean="0"/>
              <a:pPr/>
              <a:t>‹#›</a:t>
            </a:fld>
            <a:endParaRPr lang="en-AU" kern="0" dirty="0"/>
          </a:p>
        </p:txBody>
      </p:sp>
      <p:pic>
        <p:nvPicPr>
          <p:cNvPr id="4" name="Picture 3" descr="APNIC 34_Powerpoint template.pn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6339669"/>
            <a:ext cx="9144000" cy="545715"/>
          </a:xfrm>
          <a:prstGeom prst="rect">
            <a:avLst/>
          </a:prstGeom>
        </p:spPr>
      </p:pic>
    </p:spTree>
    <p:extLst>
      <p:ext uri="{BB962C8B-B14F-4D97-AF65-F5344CB8AC3E}">
        <p14:creationId xmlns:p14="http://schemas.microsoft.com/office/powerpoint/2010/main" val="302578943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701" r:id="rId5"/>
    <p:sldLayoutId id="2147483669" r:id="rId6"/>
    <p:sldLayoutId id="2147483670" r:id="rId7"/>
    <p:sldLayoutId id="2147483671" r:id="rId8"/>
    <p:sldLayoutId id="2147483672" r:id="rId9"/>
    <p:sldLayoutId id="2147483673" r:id="rId10"/>
    <p:sldLayoutId id="2147483674" r:id="rId11"/>
    <p:sldLayoutId id="2147483675" r:id="rId12"/>
  </p:sldLayoutIdLst>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hf sldNum="0" hdr="0" ftr="0" dt="0"/>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266700" indent="-266700" algn="l" defTabSz="914400" rtl="0" eaLnBrk="1" latinLnBrk="0" hangingPunct="1">
        <a:spcBef>
          <a:spcPts val="1200"/>
        </a:spcBef>
        <a:buFont typeface="Arial" pitchFamily="34" charset="0"/>
        <a:buChar char="•"/>
        <a:defRPr sz="2400" kern="1200">
          <a:solidFill>
            <a:schemeClr val="tx1"/>
          </a:solidFill>
          <a:latin typeface="+mn-lt"/>
          <a:ea typeface="+mn-ea"/>
          <a:cs typeface="+mn-cs"/>
        </a:defRPr>
      </a:lvl1pPr>
      <a:lvl2pPr marL="533400" indent="-266700" algn="l" defTabSz="914400" rtl="0" eaLnBrk="1" latinLnBrk="0" hangingPunct="1">
        <a:spcBef>
          <a:spcPts val="400"/>
        </a:spcBef>
        <a:buFont typeface="Arial" pitchFamily="34" charset="0"/>
        <a:buChar char="–"/>
        <a:defRPr sz="2000" kern="1200">
          <a:solidFill>
            <a:schemeClr val="tx1"/>
          </a:solidFill>
          <a:latin typeface="+mn-lt"/>
          <a:ea typeface="+mn-ea"/>
          <a:cs typeface="+mn-cs"/>
        </a:defRPr>
      </a:lvl2pPr>
      <a:lvl3pPr marL="812800" indent="-279400" algn="l" defTabSz="914400" rtl="0" eaLnBrk="1" latinLnBrk="0" hangingPunct="1">
        <a:spcBef>
          <a:spcPts val="400"/>
        </a:spcBef>
        <a:buFont typeface="Arial"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7.png"/><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0" y="0"/>
            <a:ext cx="5910598" cy="6192055"/>
          </a:xfrm>
          <a:prstGeom prst="rect">
            <a:avLst/>
          </a:prstGeom>
          <a:effectLst>
            <a:softEdge rad="127000"/>
          </a:effectLst>
        </p:spPr>
      </p:pic>
      <p:sp>
        <p:nvSpPr>
          <p:cNvPr id="3" name="Subtitle 2"/>
          <p:cNvSpPr>
            <a:spLocks noGrp="1"/>
          </p:cNvSpPr>
          <p:nvPr>
            <p:ph type="subTitle" idx="1"/>
          </p:nvPr>
        </p:nvSpPr>
        <p:spPr>
          <a:xfrm>
            <a:off x="5910599" y="2852936"/>
            <a:ext cx="3233401" cy="1316623"/>
          </a:xfrm>
        </p:spPr>
        <p:txBody>
          <a:bodyPr>
            <a:normAutofit lnSpcReduction="10000"/>
          </a:bodyPr>
          <a:lstStyle/>
          <a:p>
            <a:r>
              <a:rPr lang="en-US" dirty="0" smtClean="0">
                <a:latin typeface="AhnbergHand"/>
                <a:cs typeface="AhnbergHand"/>
              </a:rPr>
              <a:t>George Michaelson,</a:t>
            </a:r>
          </a:p>
          <a:p>
            <a:r>
              <a:rPr lang="en-US" dirty="0" smtClean="0">
                <a:latin typeface="AhnbergHand"/>
                <a:cs typeface="AhnbergHand"/>
              </a:rPr>
              <a:t>Geoff Huston</a:t>
            </a:r>
          </a:p>
          <a:p>
            <a:r>
              <a:rPr lang="en-US" dirty="0" smtClean="0">
                <a:latin typeface="AhnbergHand"/>
                <a:cs typeface="AhnbergHand"/>
              </a:rPr>
              <a:t>APNIC</a:t>
            </a:r>
          </a:p>
        </p:txBody>
      </p:sp>
      <p:sp>
        <p:nvSpPr>
          <p:cNvPr id="2" name="Title 1"/>
          <p:cNvSpPr>
            <a:spLocks noGrp="1"/>
          </p:cNvSpPr>
          <p:nvPr>
            <p:ph type="ctrTitle"/>
          </p:nvPr>
        </p:nvSpPr>
        <p:spPr>
          <a:xfrm>
            <a:off x="5879671" y="1268760"/>
            <a:ext cx="3233403" cy="1470025"/>
          </a:xfrm>
          <a:solidFill>
            <a:schemeClr val="bg1">
              <a:alpha val="73000"/>
            </a:schemeClr>
          </a:solidFill>
          <a:effectLst>
            <a:softEdge rad="1270000"/>
          </a:effectLst>
        </p:spPr>
        <p:txBody>
          <a:bodyPr>
            <a:normAutofit/>
          </a:bodyPr>
          <a:lstStyle/>
          <a:p>
            <a:r>
              <a:rPr lang="en-US" sz="4400" dirty="0" smtClean="0"/>
              <a:t>Measuring </a:t>
            </a:r>
            <a:br>
              <a:rPr lang="en-US" sz="4400" dirty="0" smtClean="0"/>
            </a:br>
            <a:r>
              <a:rPr lang="en-US" sz="4400" dirty="0" smtClean="0"/>
              <a:t>IPv6 Users</a:t>
            </a:r>
            <a:endParaRPr lang="en-US" sz="4400" dirty="0"/>
          </a:p>
        </p:txBody>
      </p:sp>
    </p:spTree>
    <p:extLst>
      <p:ext uri="{BB962C8B-B14F-4D97-AF65-F5344CB8AC3E}">
        <p14:creationId xmlns:p14="http://schemas.microsoft.com/office/powerpoint/2010/main" val="21944996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latin typeface="Powderfinger Type"/>
                <a:cs typeface="Powderfinger Type"/>
              </a:rPr>
              <a:t>How to measure </a:t>
            </a:r>
            <a:r>
              <a:rPr lang="en-US" dirty="0">
                <a:latin typeface="Powderfinger Type"/>
                <a:cs typeface="Powderfinger Type"/>
              </a:rPr>
              <a:t>the end </a:t>
            </a:r>
            <a:r>
              <a:rPr lang="en-US" dirty="0" smtClean="0">
                <a:latin typeface="Powderfinger Type"/>
                <a:cs typeface="Powderfinger Type"/>
              </a:rPr>
              <a:t>user</a:t>
            </a:r>
            <a:endParaRPr lang="en-US" dirty="0">
              <a:latin typeface="Powderfinger Type"/>
              <a:cs typeface="Powderfinger Type"/>
            </a:endParaRPr>
          </a:p>
        </p:txBody>
      </p:sp>
    </p:spTree>
    <p:extLst>
      <p:ext uri="{BB962C8B-B14F-4D97-AF65-F5344CB8AC3E}">
        <p14:creationId xmlns:p14="http://schemas.microsoft.com/office/powerpoint/2010/main" val="21874215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latin typeface="Powderfinger Type"/>
                <a:cs typeface="Powderfinger Type"/>
              </a:rPr>
              <a:t>How to measure </a:t>
            </a:r>
            <a:r>
              <a:rPr lang="en-US" dirty="0">
                <a:latin typeface="Powderfinger Type"/>
                <a:cs typeface="Powderfinger Type"/>
              </a:rPr>
              <a:t>the end </a:t>
            </a:r>
            <a:r>
              <a:rPr lang="en-US" dirty="0" smtClean="0">
                <a:latin typeface="Powderfinger Type"/>
                <a:cs typeface="Powderfinger Type"/>
              </a:rPr>
              <a:t>user</a:t>
            </a:r>
            <a:endParaRPr lang="en-US" dirty="0">
              <a:latin typeface="Powderfinger Type"/>
              <a:cs typeface="Powderfinger Type"/>
            </a:endParaRPr>
          </a:p>
        </p:txBody>
      </p:sp>
      <p:pic>
        <p:nvPicPr>
          <p:cNvPr id="3" name="Picture 2"/>
          <p:cNvPicPr>
            <a:picLocks noChangeAspect="1"/>
          </p:cNvPicPr>
          <p:nvPr/>
        </p:nvPicPr>
        <p:blipFill>
          <a:blip r:embed="rId3"/>
          <a:stretch>
            <a:fillRect/>
          </a:stretch>
        </p:blipFill>
        <p:spPr>
          <a:xfrm>
            <a:off x="854264" y="1268893"/>
            <a:ext cx="7270857" cy="4968419"/>
          </a:xfrm>
          <a:prstGeom prst="rect">
            <a:avLst/>
          </a:prstGeom>
        </p:spPr>
      </p:pic>
    </p:spTree>
    <p:extLst>
      <p:ext uri="{BB962C8B-B14F-4D97-AF65-F5344CB8AC3E}">
        <p14:creationId xmlns:p14="http://schemas.microsoft.com/office/powerpoint/2010/main" val="9600359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Powderfinger Type"/>
                <a:cs typeface="Powderfinger Type"/>
              </a:rPr>
              <a:t>How to measure a million</a:t>
            </a:r>
            <a:r>
              <a:rPr lang="en-US" sz="3200" baseline="0" dirty="0" smtClean="0">
                <a:latin typeface="Powderfinger Type"/>
                <a:cs typeface="Powderfinger Type"/>
              </a:rPr>
              <a:t> end users</a:t>
            </a:r>
            <a:endParaRPr lang="en-US" sz="3200" dirty="0">
              <a:latin typeface="Powderfinger Type"/>
              <a:cs typeface="Powderfinger Type"/>
            </a:endParaRPr>
          </a:p>
        </p:txBody>
      </p:sp>
      <p:sp>
        <p:nvSpPr>
          <p:cNvPr id="3" name="Content Placeholder 2"/>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23847076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Powderfinger Type"/>
                <a:cs typeface="Powderfinger Type"/>
              </a:rPr>
              <a:t>How to measure a million</a:t>
            </a:r>
            <a:r>
              <a:rPr lang="en-US" sz="3200" baseline="0" dirty="0" smtClean="0">
                <a:latin typeface="Powderfinger Type"/>
                <a:cs typeface="Powderfinger Type"/>
              </a:rPr>
              <a:t> end users</a:t>
            </a:r>
            <a:endParaRPr lang="en-US" sz="3200" dirty="0">
              <a:latin typeface="Powderfinger Type"/>
              <a:cs typeface="Powderfinger Type"/>
            </a:endParaRPr>
          </a:p>
        </p:txBody>
      </p:sp>
      <p:sp>
        <p:nvSpPr>
          <p:cNvPr id="3" name="Content Placeholder 2"/>
          <p:cNvSpPr>
            <a:spLocks noGrp="1"/>
          </p:cNvSpPr>
          <p:nvPr>
            <p:ph idx="1"/>
          </p:nvPr>
        </p:nvSpPr>
        <p:spPr/>
        <p:txBody>
          <a:bodyPr>
            <a:normAutofit/>
          </a:bodyPr>
          <a:lstStyle/>
          <a:p>
            <a:r>
              <a:rPr lang="en-US" sz="3600" dirty="0" smtClean="0"/>
              <a:t>be   www.google.net</a:t>
            </a:r>
          </a:p>
          <a:p>
            <a:pPr marL="0" indent="0">
              <a:buNone/>
            </a:pPr>
            <a:endParaRPr lang="en-US" sz="3600" dirty="0"/>
          </a:p>
          <a:p>
            <a:pPr marL="0" indent="0">
              <a:buNone/>
            </a:pPr>
            <a:endParaRPr lang="en-US" sz="3600" dirty="0" smtClean="0"/>
          </a:p>
        </p:txBody>
      </p:sp>
      <p:pic>
        <p:nvPicPr>
          <p:cNvPr id="4" name="Picture 3"/>
          <p:cNvPicPr>
            <a:picLocks noChangeAspect="1"/>
          </p:cNvPicPr>
          <p:nvPr/>
        </p:nvPicPr>
        <p:blipFill>
          <a:blip r:embed="rId3"/>
          <a:stretch>
            <a:fillRect/>
          </a:stretch>
        </p:blipFill>
        <p:spPr>
          <a:xfrm>
            <a:off x="971600" y="2276872"/>
            <a:ext cx="5878401" cy="3912010"/>
          </a:xfrm>
          <a:prstGeom prst="rect">
            <a:avLst/>
          </a:prstGeom>
          <a:effectLst>
            <a:softEdge rad="571500"/>
          </a:effectLst>
        </p:spPr>
      </p:pic>
      <p:sp>
        <p:nvSpPr>
          <p:cNvPr id="6" name="TextBox 5"/>
          <p:cNvSpPr txBox="1"/>
          <p:nvPr/>
        </p:nvSpPr>
        <p:spPr>
          <a:xfrm>
            <a:off x="539552" y="2510314"/>
            <a:ext cx="1840505" cy="2646878"/>
          </a:xfrm>
          <a:prstGeom prst="rect">
            <a:avLst/>
          </a:prstGeom>
          <a:noFill/>
        </p:spPr>
        <p:txBody>
          <a:bodyPr wrap="none" rtlCol="0">
            <a:spAutoFit/>
          </a:bodyPr>
          <a:lstStyle/>
          <a:p>
            <a:r>
              <a:rPr lang="en-US" sz="16600" dirty="0" smtClean="0">
                <a:solidFill>
                  <a:srgbClr val="FF0000"/>
                </a:solidFill>
              </a:rPr>
              <a:t>G</a:t>
            </a:r>
            <a:endParaRPr lang="en-US" sz="16600" dirty="0">
              <a:solidFill>
                <a:srgbClr val="FF0000"/>
              </a:solidFill>
            </a:endParaRPr>
          </a:p>
        </p:txBody>
      </p:sp>
      <p:sp>
        <p:nvSpPr>
          <p:cNvPr id="7" name="TextBox 6"/>
          <p:cNvSpPr txBox="1"/>
          <p:nvPr/>
        </p:nvSpPr>
        <p:spPr>
          <a:xfrm>
            <a:off x="5436096" y="2797185"/>
            <a:ext cx="3725825" cy="2215991"/>
          </a:xfrm>
          <a:prstGeom prst="rect">
            <a:avLst/>
          </a:prstGeom>
          <a:noFill/>
        </p:spPr>
        <p:txBody>
          <a:bodyPr wrap="none" rtlCol="0">
            <a:spAutoFit/>
          </a:bodyPr>
          <a:lstStyle/>
          <a:p>
            <a:r>
              <a:rPr lang="en-US" sz="13800" dirty="0" smtClean="0">
                <a:solidFill>
                  <a:srgbClr val="FFFF00"/>
                </a:solidFill>
              </a:rPr>
              <a:t>G</a:t>
            </a:r>
            <a:r>
              <a:rPr lang="en-US" sz="13800" dirty="0" smtClean="0">
                <a:solidFill>
                  <a:srgbClr val="3366FF"/>
                </a:solidFill>
              </a:rPr>
              <a:t>L</a:t>
            </a:r>
            <a:r>
              <a:rPr lang="en-US" sz="13800" dirty="0" smtClean="0">
                <a:solidFill>
                  <a:srgbClr val="FF0000"/>
                </a:solidFill>
              </a:rPr>
              <a:t>E</a:t>
            </a:r>
            <a:endParaRPr lang="en-US" sz="13800" dirty="0">
              <a:solidFill>
                <a:srgbClr val="FF0000"/>
              </a:solidFill>
            </a:endParaRPr>
          </a:p>
        </p:txBody>
      </p:sp>
    </p:spTree>
    <p:extLst>
      <p:ext uri="{BB962C8B-B14F-4D97-AF65-F5344CB8AC3E}">
        <p14:creationId xmlns:p14="http://schemas.microsoft.com/office/powerpoint/2010/main" val="453990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Powderfinger Type"/>
                <a:cs typeface="Powderfinger Type"/>
              </a:rPr>
              <a:t>How to measure a million</a:t>
            </a:r>
            <a:r>
              <a:rPr lang="en-US" sz="3200" baseline="0" dirty="0" smtClean="0">
                <a:latin typeface="Powderfinger Type"/>
                <a:cs typeface="Powderfinger Type"/>
              </a:rPr>
              <a:t> end users</a:t>
            </a:r>
            <a:endParaRPr lang="en-US" sz="3200" dirty="0">
              <a:latin typeface="Powderfinger Type"/>
              <a:cs typeface="Powderfinger Type"/>
            </a:endParaRPr>
          </a:p>
        </p:txBody>
      </p:sp>
      <p:sp>
        <p:nvSpPr>
          <p:cNvPr id="3" name="Content Placeholder 2"/>
          <p:cNvSpPr>
            <a:spLocks noGrp="1"/>
          </p:cNvSpPr>
          <p:nvPr>
            <p:ph idx="1"/>
          </p:nvPr>
        </p:nvSpPr>
        <p:spPr/>
        <p:txBody>
          <a:bodyPr>
            <a:normAutofit/>
          </a:bodyPr>
          <a:lstStyle/>
          <a:p>
            <a:r>
              <a:rPr lang="en-US" sz="3600" dirty="0" smtClean="0"/>
              <a:t>be   www.google.net</a:t>
            </a:r>
          </a:p>
          <a:p>
            <a:pPr marL="0" indent="0">
              <a:buNone/>
            </a:pPr>
            <a:endParaRPr lang="en-US" sz="3600" dirty="0"/>
          </a:p>
          <a:p>
            <a:pPr marL="0" indent="0">
              <a:buNone/>
            </a:pPr>
            <a:r>
              <a:rPr lang="en-US" sz="3600" dirty="0"/>
              <a:t>o</a:t>
            </a:r>
            <a:r>
              <a:rPr lang="en-US" sz="3600" dirty="0" smtClean="0"/>
              <a:t>r</a:t>
            </a:r>
          </a:p>
          <a:p>
            <a:pPr marL="0" indent="0">
              <a:buNone/>
            </a:pPr>
            <a:endParaRPr lang="en-US" sz="3600" dirty="0" smtClean="0"/>
          </a:p>
        </p:txBody>
      </p:sp>
    </p:spTree>
    <p:extLst>
      <p:ext uri="{BB962C8B-B14F-4D97-AF65-F5344CB8AC3E}">
        <p14:creationId xmlns:p14="http://schemas.microsoft.com/office/powerpoint/2010/main" val="36212596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Powderfinger Type"/>
                <a:cs typeface="Powderfinger Type"/>
              </a:rPr>
              <a:t>How to measure a million</a:t>
            </a:r>
            <a:r>
              <a:rPr lang="en-US" sz="3200" baseline="0" dirty="0" smtClean="0">
                <a:latin typeface="Powderfinger Type"/>
                <a:cs typeface="Powderfinger Type"/>
              </a:rPr>
              <a:t> end users</a:t>
            </a:r>
            <a:endParaRPr lang="en-US" sz="3200" dirty="0">
              <a:latin typeface="Powderfinger Type"/>
              <a:cs typeface="Powderfinger Type"/>
            </a:endParaRPr>
          </a:p>
        </p:txBody>
      </p:sp>
      <p:sp>
        <p:nvSpPr>
          <p:cNvPr id="3" name="Content Placeholder 2"/>
          <p:cNvSpPr>
            <a:spLocks noGrp="1"/>
          </p:cNvSpPr>
          <p:nvPr>
            <p:ph idx="1"/>
          </p:nvPr>
        </p:nvSpPr>
        <p:spPr/>
        <p:txBody>
          <a:bodyPr>
            <a:normAutofit/>
          </a:bodyPr>
          <a:lstStyle/>
          <a:p>
            <a:r>
              <a:rPr lang="en-US" sz="3600" dirty="0" smtClean="0"/>
              <a:t>be   www.google.net</a:t>
            </a:r>
          </a:p>
          <a:p>
            <a:pPr marL="0" indent="0">
              <a:buNone/>
            </a:pPr>
            <a:endParaRPr lang="en-US" sz="3600" dirty="0"/>
          </a:p>
          <a:p>
            <a:pPr marL="0" indent="0">
              <a:buNone/>
            </a:pPr>
            <a:r>
              <a:rPr lang="en-US" sz="3600" smtClean="0"/>
              <a:t>or</a:t>
            </a:r>
            <a:endParaRPr lang="en-US" sz="3600" dirty="0" smtClean="0"/>
          </a:p>
          <a:p>
            <a:pPr marL="0" indent="0">
              <a:buNone/>
            </a:pPr>
            <a:endParaRPr lang="en-US" sz="3600" dirty="0" smtClean="0"/>
          </a:p>
          <a:p>
            <a:r>
              <a:rPr lang="en-US" sz="3600" dirty="0" smtClean="0"/>
              <a:t>Get your code run on millions of machines</a:t>
            </a:r>
            <a:endParaRPr lang="en-US" sz="3600" dirty="0"/>
          </a:p>
        </p:txBody>
      </p:sp>
    </p:spTree>
    <p:extLst>
      <p:ext uri="{BB962C8B-B14F-4D97-AF65-F5344CB8AC3E}">
        <p14:creationId xmlns:p14="http://schemas.microsoft.com/office/powerpoint/2010/main" val="7885751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Powderfinger Type"/>
                <a:cs typeface="Powderfinger Type"/>
              </a:rPr>
              <a:t>Approaches to Measurement</a:t>
            </a:r>
            <a:endParaRPr lang="en-US" dirty="0">
              <a:latin typeface="Powderfinger Type"/>
              <a:cs typeface="Powderfinger Type"/>
            </a:endParaRPr>
          </a:p>
        </p:txBody>
      </p:sp>
      <p:sp>
        <p:nvSpPr>
          <p:cNvPr id="3" name="Content Placeholder 2"/>
          <p:cNvSpPr>
            <a:spLocks noGrp="1"/>
          </p:cNvSpPr>
          <p:nvPr>
            <p:ph idx="1"/>
          </p:nvPr>
        </p:nvSpPr>
        <p:spPr/>
        <p:txBody>
          <a:bodyPr>
            <a:normAutofit lnSpcReduction="10000"/>
          </a:bodyPr>
          <a:lstStyle/>
          <a:p>
            <a:pPr marL="0" indent="0">
              <a:buNone/>
            </a:pPr>
            <a:r>
              <a:rPr lang="en-US" sz="2800" dirty="0" smtClean="0"/>
              <a:t>A case study: APNIC’s approach</a:t>
            </a:r>
          </a:p>
          <a:p>
            <a:r>
              <a:rPr lang="en-US" sz="2800" dirty="0" smtClean="0"/>
              <a:t>we wanted to measure IPv6 deployment as seen by end users</a:t>
            </a:r>
          </a:p>
          <a:p>
            <a:r>
              <a:rPr lang="en-US" sz="2800" dirty="0" smtClean="0"/>
              <a:t>We wanted to say something about ALL users</a:t>
            </a:r>
          </a:p>
          <a:p>
            <a:r>
              <a:rPr lang="en-US" sz="2800" dirty="0" smtClean="0"/>
              <a:t>Our website isn’t that popular</a:t>
            </a:r>
          </a:p>
          <a:p>
            <a:r>
              <a:rPr lang="en-US" sz="2800" dirty="0" smtClean="0"/>
              <a:t>…So we were looking at a way to sample end users in a random but statistically significant fashion</a:t>
            </a:r>
          </a:p>
          <a:p>
            <a:r>
              <a:rPr lang="en-US" sz="2800" dirty="0" smtClean="0"/>
              <a:t>We stumbled across the advertising networks...</a:t>
            </a:r>
            <a:endParaRPr lang="en-US" sz="2800" dirty="0"/>
          </a:p>
        </p:txBody>
      </p:sp>
    </p:spTree>
    <p:extLst>
      <p:ext uri="{BB962C8B-B14F-4D97-AF65-F5344CB8AC3E}">
        <p14:creationId xmlns:p14="http://schemas.microsoft.com/office/powerpoint/2010/main" val="40072714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…buy the measurement</a:t>
            </a:r>
            <a:endParaRPr lang="en-US" dirty="0">
              <a:latin typeface="Powderfinger Type"/>
              <a:cs typeface="Powderfinger Type"/>
            </a:endParaRPr>
          </a:p>
        </p:txBody>
      </p:sp>
      <p:pic>
        <p:nvPicPr>
          <p:cNvPr id="3" name="Picture 2"/>
          <p:cNvPicPr>
            <a:picLocks noChangeAspect="1"/>
          </p:cNvPicPr>
          <p:nvPr/>
        </p:nvPicPr>
        <p:blipFill rotWithShape="1">
          <a:blip r:embed="rId3"/>
          <a:srcRect t="16" b="3538"/>
          <a:stretch/>
        </p:blipFill>
        <p:spPr>
          <a:xfrm>
            <a:off x="457200" y="1340768"/>
            <a:ext cx="3492500" cy="4899600"/>
          </a:xfrm>
          <a:prstGeom prst="rect">
            <a:avLst/>
          </a:prstGeom>
        </p:spPr>
      </p:pic>
      <p:pic>
        <p:nvPicPr>
          <p:cNvPr id="4" name="Picture 3"/>
          <p:cNvPicPr>
            <a:picLocks noChangeAspect="1"/>
          </p:cNvPicPr>
          <p:nvPr/>
        </p:nvPicPr>
        <p:blipFill rotWithShape="1">
          <a:blip r:embed="rId4"/>
          <a:srcRect l="28334" t="-1" r="18442" b="4269"/>
          <a:stretch/>
        </p:blipFill>
        <p:spPr>
          <a:xfrm>
            <a:off x="4667305" y="1381277"/>
            <a:ext cx="3621116" cy="4885200"/>
          </a:xfrm>
          <a:prstGeom prst="rect">
            <a:avLst/>
          </a:prstGeom>
        </p:spPr>
      </p:pic>
    </p:spTree>
    <p:extLst>
      <p:ext uri="{BB962C8B-B14F-4D97-AF65-F5344CB8AC3E}">
        <p14:creationId xmlns:p14="http://schemas.microsoft.com/office/powerpoint/2010/main" val="20540523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Placement</a:t>
            </a:r>
            <a:endParaRPr lang="en-US" dirty="0">
              <a:latin typeface="Powderfinger Type"/>
              <a:cs typeface="Powderfinger Type"/>
            </a:endParaRPr>
          </a:p>
        </p:txBody>
      </p:sp>
      <p:sp>
        <p:nvSpPr>
          <p:cNvPr id="3" name="Content Placeholder 2"/>
          <p:cNvSpPr>
            <a:spLocks noGrp="1"/>
          </p:cNvSpPr>
          <p:nvPr>
            <p:ph idx="1"/>
          </p:nvPr>
        </p:nvSpPr>
        <p:spPr/>
        <p:txBody>
          <a:bodyPr>
            <a:normAutofit/>
          </a:bodyPr>
          <a:lstStyle/>
          <a:p>
            <a:pPr marL="0" indent="0">
              <a:buNone/>
            </a:pPr>
            <a:r>
              <a:rPr lang="en-US" sz="3200" dirty="0" smtClean="0"/>
              <a:t>At low CPM, the advertising network needs to present unique, new eyeballs to harvest impressions and take your money.</a:t>
            </a:r>
          </a:p>
          <a:p>
            <a:pPr lvl="1"/>
            <a:r>
              <a:rPr lang="en-US" sz="2800" dirty="0" smtClean="0"/>
              <a:t>Therefore, a ‘good’ advertising network provides a fresh crop of unique clients per day</a:t>
            </a:r>
          </a:p>
          <a:p>
            <a:pPr lvl="1"/>
            <a:r>
              <a:rPr lang="en-US" sz="2800" dirty="0" smtClean="0"/>
              <a:t>Pay for placement of ads, embed the measurement in </a:t>
            </a:r>
            <a:r>
              <a:rPr lang="en-US" sz="2800" dirty="0" err="1" smtClean="0"/>
              <a:t>flashcode</a:t>
            </a:r>
            <a:r>
              <a:rPr lang="en-US" sz="2800" dirty="0" smtClean="0"/>
              <a:t>.</a:t>
            </a:r>
          </a:p>
          <a:p>
            <a:pPr lvl="1"/>
            <a:r>
              <a:rPr lang="en-US" sz="2800" dirty="0" smtClean="0"/>
              <a:t>Result is lots of Unique IP addresses to measure.</a:t>
            </a:r>
          </a:p>
          <a:p>
            <a:endParaRPr lang="en-US" sz="3200" dirty="0"/>
          </a:p>
        </p:txBody>
      </p:sp>
    </p:spTree>
    <p:extLst>
      <p:ext uri="{BB962C8B-B14F-4D97-AF65-F5344CB8AC3E}">
        <p14:creationId xmlns:p14="http://schemas.microsoft.com/office/powerpoint/2010/main" val="41222725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Unique IPS?</a:t>
            </a:r>
            <a:endParaRPr lang="en-US" dirty="0">
              <a:latin typeface="Powderfinger Type"/>
              <a:cs typeface="Powderfinger Type"/>
            </a:endParaRPr>
          </a:p>
        </p:txBody>
      </p:sp>
      <p:sp>
        <p:nvSpPr>
          <p:cNvPr id="3" name="Content Placeholder 2"/>
          <p:cNvSpPr>
            <a:spLocks noGrp="1"/>
          </p:cNvSpPr>
          <p:nvPr>
            <p:ph idx="1"/>
          </p:nvPr>
        </p:nvSpPr>
        <p:spPr/>
        <p:txBody>
          <a:bodyPr>
            <a:normAutofit/>
          </a:bodyPr>
          <a:lstStyle/>
          <a:p>
            <a:r>
              <a:rPr lang="en-US" sz="3600" dirty="0" smtClean="0"/>
              <a:t>Collect list of unique IP addresses seen</a:t>
            </a:r>
          </a:p>
          <a:p>
            <a:pPr lvl="1"/>
            <a:r>
              <a:rPr lang="en-US" sz="3200" dirty="0" smtClean="0"/>
              <a:t>Per day</a:t>
            </a:r>
          </a:p>
          <a:p>
            <a:pPr lvl="1"/>
            <a:r>
              <a:rPr lang="en-US" sz="3200" dirty="0" smtClean="0"/>
              <a:t>Since inception</a:t>
            </a:r>
          </a:p>
          <a:p>
            <a:r>
              <a:rPr lang="en-US" sz="3600" dirty="0" smtClean="0"/>
              <a:t>Plot to see behaviours of system</a:t>
            </a:r>
          </a:p>
          <a:p>
            <a:pPr lvl="1"/>
            <a:r>
              <a:rPr lang="en-US" sz="3200" dirty="0" smtClean="0"/>
              <a:t>Do we see ‘same eyeballs’ all the time?</a:t>
            </a:r>
            <a:endParaRPr lang="en-US" sz="3200" dirty="0"/>
          </a:p>
        </p:txBody>
      </p:sp>
    </p:spTree>
    <p:extLst>
      <p:ext uri="{BB962C8B-B14F-4D97-AF65-F5344CB8AC3E}">
        <p14:creationId xmlns:p14="http://schemas.microsoft.com/office/powerpoint/2010/main" val="3228140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Lots of Unique IP’S</a:t>
            </a:r>
            <a:endParaRPr lang="en-US" dirty="0">
              <a:latin typeface="Powderfinger Type"/>
              <a:cs typeface="Powderfinger Type"/>
            </a:endParaRPr>
          </a:p>
        </p:txBody>
      </p:sp>
      <p:pic>
        <p:nvPicPr>
          <p:cNvPr id="4" name="Content Placeholder 3" descr="sample-uniques-cumulative.png"/>
          <p:cNvPicPr>
            <a:picLocks noGrp="1" noChangeAspect="1"/>
          </p:cNvPicPr>
          <p:nvPr>
            <p:ph idx="1"/>
          </p:nvPr>
        </p:nvPicPr>
        <p:blipFill>
          <a:blip r:embed="rId3">
            <a:extLst>
              <a:ext uri="{28A0092B-C50C-407E-A947-70E740481C1C}">
                <a14:useLocalDpi xmlns:a14="http://schemas.microsoft.com/office/drawing/2010/main" val="0"/>
              </a:ext>
            </a:extLst>
          </a:blip>
          <a:srcRect l="-1140" r="-1140"/>
          <a:stretch>
            <a:fillRect/>
          </a:stretch>
        </p:blipFill>
        <p:spPr>
          <a:xfrm>
            <a:off x="457200" y="1600200"/>
            <a:ext cx="8229600" cy="4525963"/>
          </a:xfrm>
        </p:spPr>
      </p:pic>
      <p:sp>
        <p:nvSpPr>
          <p:cNvPr id="3" name="TextBox 2"/>
          <p:cNvSpPr txBox="1"/>
          <p:nvPr/>
        </p:nvSpPr>
        <p:spPr>
          <a:xfrm>
            <a:off x="3923928" y="2919968"/>
            <a:ext cx="2532552" cy="369332"/>
          </a:xfrm>
          <a:prstGeom prst="rect">
            <a:avLst/>
          </a:prstGeom>
          <a:noFill/>
        </p:spPr>
        <p:txBody>
          <a:bodyPr wrap="none" rtlCol="0">
            <a:spAutoFit/>
          </a:bodyPr>
          <a:lstStyle/>
          <a:p>
            <a:r>
              <a:rPr lang="en-US" dirty="0" smtClean="0"/>
              <a:t>Cumulative Unique IPs</a:t>
            </a:r>
            <a:endParaRPr lang="en-US" dirty="0"/>
          </a:p>
        </p:txBody>
      </p:sp>
      <p:sp>
        <p:nvSpPr>
          <p:cNvPr id="5" name="TextBox 4"/>
          <p:cNvSpPr txBox="1"/>
          <p:nvPr/>
        </p:nvSpPr>
        <p:spPr>
          <a:xfrm>
            <a:off x="4546600" y="5218668"/>
            <a:ext cx="1891000" cy="369332"/>
          </a:xfrm>
          <a:prstGeom prst="rect">
            <a:avLst/>
          </a:prstGeom>
          <a:noFill/>
        </p:spPr>
        <p:txBody>
          <a:bodyPr wrap="none" rtlCol="0">
            <a:spAutoFit/>
          </a:bodyPr>
          <a:lstStyle/>
          <a:p>
            <a:r>
              <a:rPr lang="en-US" dirty="0" smtClean="0"/>
              <a:t>Daily Unique IPs</a:t>
            </a:r>
            <a:endParaRPr lang="en-US" dirty="0"/>
          </a:p>
        </p:txBody>
      </p:sp>
    </p:spTree>
    <p:extLst>
      <p:ext uri="{BB962C8B-B14F-4D97-AF65-F5344CB8AC3E}">
        <p14:creationId xmlns:p14="http://schemas.microsoft.com/office/powerpoint/2010/main" val="30200625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What </a:t>
            </a:r>
            <a:r>
              <a:rPr lang="en-US" dirty="0">
                <a:latin typeface="Powderfinger Type"/>
                <a:cs typeface="Powderfinger Type"/>
              </a:rPr>
              <a:t>a</a:t>
            </a:r>
            <a:r>
              <a:rPr lang="en-US" dirty="0" smtClean="0">
                <a:latin typeface="Powderfinger Type"/>
                <a:cs typeface="Powderfinger Type"/>
              </a:rPr>
              <a:t>re we finding?</a:t>
            </a:r>
            <a:endParaRPr lang="en-US" dirty="0">
              <a:latin typeface="Powderfinger Type"/>
              <a:cs typeface="Powderfinger Type"/>
            </a:endParaRPr>
          </a:p>
        </p:txBody>
      </p:sp>
      <p:sp>
        <p:nvSpPr>
          <p:cNvPr id="3" name="Content Placeholder 2"/>
          <p:cNvSpPr>
            <a:spLocks noGrp="1"/>
          </p:cNvSpPr>
          <p:nvPr>
            <p:ph idx="1"/>
          </p:nvPr>
        </p:nvSpPr>
        <p:spPr/>
        <p:txBody>
          <a:bodyPr>
            <a:noAutofit/>
          </a:bodyPr>
          <a:lstStyle/>
          <a:p>
            <a:r>
              <a:rPr lang="en-US" sz="3200" dirty="0" smtClean="0"/>
              <a:t>http://labs.apnic.net/ipv6_measurement</a:t>
            </a:r>
          </a:p>
          <a:p>
            <a:pPr lvl="1"/>
            <a:r>
              <a:rPr lang="en-US" sz="2800" dirty="0" smtClean="0"/>
              <a:t>Breakdowns by ASN, Economy, Region, </a:t>
            </a:r>
            <a:r>
              <a:rPr lang="en-US" sz="2800" dirty="0" err="1" smtClean="0"/>
              <a:t>Organisation</a:t>
            </a:r>
            <a:endParaRPr lang="en-US" sz="2800" dirty="0" smtClean="0"/>
          </a:p>
          <a:p>
            <a:r>
              <a:rPr lang="en-US" sz="3200" dirty="0" smtClean="0"/>
              <a:t>125+ economies provide &gt;200 samples/interval consistently in weeklies</a:t>
            </a:r>
            <a:endParaRPr lang="en-US" sz="3200" dirty="0"/>
          </a:p>
          <a:p>
            <a:r>
              <a:rPr lang="en-US" sz="3200" dirty="0" smtClean="0"/>
              <a:t>150+ at monthlies.</a:t>
            </a:r>
          </a:p>
          <a:p>
            <a:r>
              <a:rPr lang="en-US" sz="3200" dirty="0" smtClean="0"/>
              <a:t>2400 ASN provide </a:t>
            </a:r>
            <a:r>
              <a:rPr lang="en-US" sz="3200" dirty="0" err="1" smtClean="0"/>
              <a:t>graphable</a:t>
            </a:r>
            <a:r>
              <a:rPr lang="en-US" sz="3200" dirty="0" smtClean="0"/>
              <a:t> data</a:t>
            </a:r>
          </a:p>
          <a:p>
            <a:r>
              <a:rPr lang="en-US" sz="3200" dirty="0" smtClean="0"/>
              <a:t>Over 35,000 ASN seen during the last year.</a:t>
            </a:r>
          </a:p>
          <a:p>
            <a:pPr lvl="1"/>
            <a:endParaRPr lang="en-US" sz="2800" dirty="0" smtClean="0"/>
          </a:p>
        </p:txBody>
      </p:sp>
    </p:spTree>
    <p:extLst>
      <p:ext uri="{BB962C8B-B14F-4D97-AF65-F5344CB8AC3E}">
        <p14:creationId xmlns:p14="http://schemas.microsoft.com/office/powerpoint/2010/main" val="1303571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Google visualization API</a:t>
            </a:r>
            <a:endParaRPr lang="en-US" dirty="0">
              <a:latin typeface="Powderfinger Type"/>
              <a:cs typeface="Powderfinger Type"/>
            </a:endParaRPr>
          </a:p>
        </p:txBody>
      </p:sp>
      <p:pic>
        <p:nvPicPr>
          <p:cNvPr id="3" name="Picture 2" descr="Screen Shot 2012-08-28 at 11.04.39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1052736"/>
            <a:ext cx="8001000" cy="5334000"/>
          </a:xfrm>
          <a:prstGeom prst="rect">
            <a:avLst/>
          </a:prstGeom>
          <a:effectLst>
            <a:softEdge rad="457200"/>
          </a:effectLst>
        </p:spPr>
      </p:pic>
      <p:pic>
        <p:nvPicPr>
          <p:cNvPr id="5" name="Picture 4" descr="Screen Shot 2012-08-28 at 11.05.12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7744" y="1844824"/>
            <a:ext cx="3037840" cy="751840"/>
          </a:xfrm>
          <a:prstGeom prst="rect">
            <a:avLst/>
          </a:prstGeom>
        </p:spPr>
      </p:pic>
    </p:spTree>
    <p:extLst>
      <p:ext uri="{BB962C8B-B14F-4D97-AF65-F5344CB8AC3E}">
        <p14:creationId xmlns:p14="http://schemas.microsoft.com/office/powerpoint/2010/main" val="30584591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Google visualization API</a:t>
            </a:r>
            <a:endParaRPr lang="en-US" dirty="0">
              <a:latin typeface="Powderfinger Type"/>
              <a:cs typeface="Powderfinger Type"/>
            </a:endParaRPr>
          </a:p>
        </p:txBody>
      </p:sp>
      <p:pic>
        <p:nvPicPr>
          <p:cNvPr id="4" name="Picture 3" descr="Screen Shot 2012-08-28 at 11.06.54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1212304"/>
            <a:ext cx="7429500" cy="4953000"/>
          </a:xfrm>
          <a:prstGeom prst="rect">
            <a:avLst/>
          </a:prstGeom>
        </p:spPr>
      </p:pic>
      <p:pic>
        <p:nvPicPr>
          <p:cNvPr id="6" name="Picture 5" descr="Screen Shot 2012-08-28 at 11.07.27 AM.png"/>
          <p:cNvPicPr>
            <a:picLocks noChangeAspect="1"/>
          </p:cNvPicPr>
          <p:nvPr/>
        </p:nvPicPr>
        <p:blipFill rotWithShape="1">
          <a:blip r:embed="rId4">
            <a:extLst>
              <a:ext uri="{28A0092B-C50C-407E-A947-70E740481C1C}">
                <a14:useLocalDpi xmlns:a14="http://schemas.microsoft.com/office/drawing/2010/main" val="0"/>
              </a:ext>
            </a:extLst>
          </a:blip>
          <a:srcRect r="956" b="3852"/>
          <a:stretch/>
        </p:blipFill>
        <p:spPr>
          <a:xfrm>
            <a:off x="5004048" y="1484784"/>
            <a:ext cx="3704400" cy="903600"/>
          </a:xfrm>
          <a:prstGeom prst="rect">
            <a:avLst/>
          </a:prstGeom>
        </p:spPr>
      </p:pic>
    </p:spTree>
    <p:extLst>
      <p:ext uri="{BB962C8B-B14F-4D97-AF65-F5344CB8AC3E}">
        <p14:creationId xmlns:p14="http://schemas.microsoft.com/office/powerpoint/2010/main" val="29867564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728"/>
            <a:ext cx="8229600" cy="1143000"/>
          </a:xfrm>
        </p:spPr>
        <p:txBody>
          <a:bodyPr/>
          <a:lstStyle/>
          <a:p>
            <a:r>
              <a:rPr lang="en-US" dirty="0" smtClean="0">
                <a:latin typeface="Powderfinger Type"/>
                <a:cs typeface="Powderfinger Type"/>
              </a:rPr>
              <a:t>Google visualization API</a:t>
            </a:r>
            <a:endParaRPr lang="en-US" dirty="0">
              <a:latin typeface="Powderfinger Type"/>
              <a:cs typeface="Powderfinger Type"/>
            </a:endParaRPr>
          </a:p>
        </p:txBody>
      </p:sp>
      <p:pic>
        <p:nvPicPr>
          <p:cNvPr id="4" name="Content Placeholder 3" descr="Screen Shot 2012-08-28 at 11.15.28 AM.png"/>
          <p:cNvPicPr>
            <a:picLocks noGrp="1" noChangeAspect="1"/>
          </p:cNvPicPr>
          <p:nvPr>
            <p:ph idx="1"/>
          </p:nvPr>
        </p:nvPicPr>
        <p:blipFill>
          <a:blip r:embed="rId3">
            <a:extLst>
              <a:ext uri="{28A0092B-C50C-407E-A947-70E740481C1C}">
                <a14:useLocalDpi xmlns:a14="http://schemas.microsoft.com/office/drawing/2010/main" val="0"/>
              </a:ext>
            </a:extLst>
          </a:blip>
          <a:srcRect l="-25780" r="-25780"/>
          <a:stretch>
            <a:fillRect/>
          </a:stretch>
        </p:blipFill>
        <p:spPr/>
      </p:pic>
    </p:spTree>
    <p:extLst>
      <p:ext uri="{BB962C8B-B14F-4D97-AF65-F5344CB8AC3E}">
        <p14:creationId xmlns:p14="http://schemas.microsoft.com/office/powerpoint/2010/main" val="39287219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Google visualization API</a:t>
            </a:r>
            <a:endParaRPr lang="en-US" dirty="0">
              <a:latin typeface="Powderfinger Type"/>
              <a:cs typeface="Powderfinger Type"/>
            </a:endParaRPr>
          </a:p>
        </p:txBody>
      </p:sp>
      <p:pic>
        <p:nvPicPr>
          <p:cNvPr id="4" name="Content Placeholder 3" descr="Screen Shot 2012-07-26 at 3.40.33 PM.png"/>
          <p:cNvPicPr>
            <a:picLocks noGrp="1" noChangeAspect="1"/>
          </p:cNvPicPr>
          <p:nvPr>
            <p:ph idx="1"/>
          </p:nvPr>
        </p:nvPicPr>
        <p:blipFill>
          <a:blip r:embed="rId3">
            <a:extLst>
              <a:ext uri="{28A0092B-C50C-407E-A947-70E740481C1C}">
                <a14:useLocalDpi xmlns:a14="http://schemas.microsoft.com/office/drawing/2010/main" val="0"/>
              </a:ext>
            </a:extLst>
          </a:blip>
          <a:srcRect l="-25145" r="-25145"/>
          <a:stretch>
            <a:fillRect/>
          </a:stretch>
        </p:blipFill>
        <p:spPr>
          <a:xfrm>
            <a:off x="-541338" y="1124744"/>
            <a:ext cx="10283826" cy="5186362"/>
          </a:xfrm>
        </p:spPr>
      </p:pic>
    </p:spTree>
    <p:extLst>
      <p:ext uri="{BB962C8B-B14F-4D97-AF65-F5344CB8AC3E}">
        <p14:creationId xmlns:p14="http://schemas.microsoft.com/office/powerpoint/2010/main" val="19304371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74638"/>
            <a:ext cx="8352928" cy="1143000"/>
          </a:xfrm>
        </p:spPr>
        <p:txBody>
          <a:bodyPr/>
          <a:lstStyle/>
          <a:p>
            <a:r>
              <a:rPr lang="en-US" dirty="0" smtClean="0">
                <a:latin typeface="Powderfinger Type"/>
                <a:cs typeface="Powderfinger Type"/>
              </a:rPr>
              <a:t>Draw your own graphs</a:t>
            </a:r>
            <a:endParaRPr lang="en-US" dirty="0"/>
          </a:p>
        </p:txBody>
      </p:sp>
      <p:pic>
        <p:nvPicPr>
          <p:cNvPr id="4" name="Content Placeholder 3" descr="Screen Shot 2012-08-28 at 11.32.10 AM.png"/>
          <p:cNvPicPr>
            <a:picLocks noGrp="1" noChangeAspect="1"/>
          </p:cNvPicPr>
          <p:nvPr>
            <p:ph idx="1"/>
          </p:nvPr>
        </p:nvPicPr>
        <p:blipFill rotWithShape="1">
          <a:blip r:embed="rId3">
            <a:extLst>
              <a:ext uri="{28A0092B-C50C-407E-A947-70E740481C1C}">
                <a14:useLocalDpi xmlns:a14="http://schemas.microsoft.com/office/drawing/2010/main" val="0"/>
              </a:ext>
            </a:extLst>
          </a:blip>
          <a:srcRect l="-6157" r="46"/>
          <a:stretch/>
        </p:blipFill>
        <p:spPr>
          <a:xfrm>
            <a:off x="395536" y="1528193"/>
            <a:ext cx="2071916" cy="4565103"/>
          </a:xfrm>
          <a:noFill/>
          <a:effectLst>
            <a:outerShdw blurRad="50800" dist="88900" dir="2700000" algn="tl" rotWithShape="0">
              <a:srgbClr val="000000">
                <a:alpha val="71000"/>
              </a:srgbClr>
            </a:outerShdw>
          </a:effectLst>
        </p:spPr>
      </p:pic>
      <p:pic>
        <p:nvPicPr>
          <p:cNvPr id="5" name="Picture 4" descr="Screen Shot 2012-08-28 at 11.33.28 AM.png"/>
          <p:cNvPicPr>
            <a:picLocks noChangeAspect="1"/>
          </p:cNvPicPr>
          <p:nvPr/>
        </p:nvPicPr>
        <p:blipFill rotWithShape="1">
          <a:blip r:embed="rId4">
            <a:extLst>
              <a:ext uri="{28A0092B-C50C-407E-A947-70E740481C1C}">
                <a14:useLocalDpi xmlns:a14="http://schemas.microsoft.com/office/drawing/2010/main" val="0"/>
              </a:ext>
            </a:extLst>
          </a:blip>
          <a:srcRect l="-2" t="5871" r="9487" b="5211"/>
          <a:stretch/>
        </p:blipFill>
        <p:spPr>
          <a:xfrm>
            <a:off x="2696845" y="1755296"/>
            <a:ext cx="5835600" cy="4338000"/>
          </a:xfrm>
          <a:prstGeom prst="rect">
            <a:avLst/>
          </a:prstGeom>
          <a:effectLst>
            <a:outerShdw blurRad="69850" dist="88900" dir="2700000" algn="tl" rotWithShape="0">
              <a:srgbClr val="000000">
                <a:alpha val="75000"/>
              </a:srgbClr>
            </a:outerShdw>
          </a:effectLst>
        </p:spPr>
      </p:pic>
      <p:sp>
        <p:nvSpPr>
          <p:cNvPr id="6" name="TextBox 5"/>
          <p:cNvSpPr txBox="1"/>
          <p:nvPr/>
        </p:nvSpPr>
        <p:spPr>
          <a:xfrm>
            <a:off x="2771800" y="1187460"/>
            <a:ext cx="6161850" cy="369332"/>
          </a:xfrm>
          <a:prstGeom prst="rect">
            <a:avLst/>
          </a:prstGeom>
          <a:noFill/>
        </p:spPr>
        <p:txBody>
          <a:bodyPr wrap="none" rtlCol="0">
            <a:spAutoFit/>
          </a:bodyPr>
          <a:lstStyle/>
          <a:p>
            <a:r>
              <a:rPr lang="en-US" b="1" dirty="0"/>
              <a:t>http://</a:t>
            </a:r>
            <a:r>
              <a:rPr lang="en-US" b="1" dirty="0" err="1"/>
              <a:t>labs.apnic.net</a:t>
            </a:r>
            <a:r>
              <a:rPr lang="en-US" b="1" dirty="0"/>
              <a:t>/ipv6-measurement/</a:t>
            </a:r>
            <a:r>
              <a:rPr lang="en-US" b="1" dirty="0" err="1"/>
              <a:t>datafields.html</a:t>
            </a:r>
            <a:endParaRPr lang="en-US" b="1" dirty="0"/>
          </a:p>
        </p:txBody>
      </p:sp>
    </p:spTree>
    <p:extLst>
      <p:ext uri="{BB962C8B-B14F-4D97-AF65-F5344CB8AC3E}">
        <p14:creationId xmlns:p14="http://schemas.microsoft.com/office/powerpoint/2010/main" val="7802982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2-08-28 at 11.20.45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6632"/>
            <a:ext cx="9144000" cy="6515857"/>
          </a:xfrm>
          <a:prstGeom prst="rect">
            <a:avLst/>
          </a:prstGeom>
        </p:spPr>
      </p:pic>
      <p:sp>
        <p:nvSpPr>
          <p:cNvPr id="5" name="TextBox 4"/>
          <p:cNvSpPr txBox="1"/>
          <p:nvPr/>
        </p:nvSpPr>
        <p:spPr>
          <a:xfrm>
            <a:off x="4857220" y="924857"/>
            <a:ext cx="3764935" cy="369332"/>
          </a:xfrm>
          <a:prstGeom prst="rect">
            <a:avLst/>
          </a:prstGeom>
          <a:noFill/>
        </p:spPr>
        <p:txBody>
          <a:bodyPr wrap="none" rtlCol="0">
            <a:spAutoFit/>
          </a:bodyPr>
          <a:lstStyle/>
          <a:p>
            <a:r>
              <a:rPr lang="en-US" dirty="0" smtClean="0"/>
              <a:t>http://</a:t>
            </a:r>
            <a:r>
              <a:rPr lang="en-US" dirty="0" err="1" smtClean="0"/>
              <a:t>labs.apnic.net</a:t>
            </a:r>
            <a:r>
              <a:rPr lang="en-US" dirty="0" smtClean="0"/>
              <a:t>/</a:t>
            </a:r>
            <a:r>
              <a:rPr lang="en-US" dirty="0" err="1" smtClean="0"/>
              <a:t>dists</a:t>
            </a:r>
            <a:r>
              <a:rPr lang="en-US" dirty="0" smtClean="0"/>
              <a:t>/v6dcc.html</a:t>
            </a:r>
            <a:endParaRPr lang="en-US" dirty="0"/>
          </a:p>
        </p:txBody>
      </p:sp>
    </p:spTree>
    <p:extLst>
      <p:ext uri="{BB962C8B-B14F-4D97-AF65-F5344CB8AC3E}">
        <p14:creationId xmlns:p14="http://schemas.microsoft.com/office/powerpoint/2010/main" val="17858014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2-08-28 at 11.21.49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0800"/>
            <a:ext cx="9144000" cy="6738330"/>
          </a:xfrm>
          <a:prstGeom prst="rect">
            <a:avLst/>
          </a:prstGeom>
        </p:spPr>
      </p:pic>
      <p:sp>
        <p:nvSpPr>
          <p:cNvPr id="5" name="TextBox 4"/>
          <p:cNvSpPr txBox="1"/>
          <p:nvPr/>
        </p:nvSpPr>
        <p:spPr>
          <a:xfrm>
            <a:off x="4811040" y="924857"/>
            <a:ext cx="3764935" cy="369332"/>
          </a:xfrm>
          <a:prstGeom prst="rect">
            <a:avLst/>
          </a:prstGeom>
          <a:noFill/>
        </p:spPr>
        <p:txBody>
          <a:bodyPr wrap="none" rtlCol="0">
            <a:spAutoFit/>
          </a:bodyPr>
          <a:lstStyle/>
          <a:p>
            <a:r>
              <a:rPr lang="en-US" dirty="0" smtClean="0"/>
              <a:t>http://</a:t>
            </a:r>
            <a:r>
              <a:rPr lang="en-US" dirty="0" err="1" smtClean="0"/>
              <a:t>labs.apnic.net</a:t>
            </a:r>
            <a:r>
              <a:rPr lang="en-US" dirty="0" smtClean="0"/>
              <a:t>/</a:t>
            </a:r>
            <a:r>
              <a:rPr lang="en-US" dirty="0" err="1" smtClean="0"/>
              <a:t>dists</a:t>
            </a:r>
            <a:r>
              <a:rPr lang="en-US" dirty="0" smtClean="0"/>
              <a:t>/v6dcc.html</a:t>
            </a:r>
            <a:endParaRPr lang="en-US" dirty="0"/>
          </a:p>
        </p:txBody>
      </p:sp>
    </p:spTree>
    <p:extLst>
      <p:ext uri="{BB962C8B-B14F-4D97-AF65-F5344CB8AC3E}">
        <p14:creationId xmlns:p14="http://schemas.microsoft.com/office/powerpoint/2010/main" val="5273718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2-08-28 at 11.24.50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2700" y="323428"/>
            <a:ext cx="6578600" cy="6057900"/>
          </a:xfrm>
          <a:prstGeom prst="rect">
            <a:avLst/>
          </a:prstGeom>
        </p:spPr>
      </p:pic>
      <p:sp>
        <p:nvSpPr>
          <p:cNvPr id="5" name="TextBox 4"/>
          <p:cNvSpPr txBox="1"/>
          <p:nvPr/>
        </p:nvSpPr>
        <p:spPr>
          <a:xfrm>
            <a:off x="4499992" y="-27384"/>
            <a:ext cx="4506362" cy="369332"/>
          </a:xfrm>
          <a:prstGeom prst="rect">
            <a:avLst/>
          </a:prstGeom>
          <a:noFill/>
        </p:spPr>
        <p:txBody>
          <a:bodyPr wrap="none" rtlCol="0">
            <a:spAutoFit/>
          </a:bodyPr>
          <a:lstStyle/>
          <a:p>
            <a:r>
              <a:rPr lang="en-US" dirty="0" smtClean="0"/>
              <a:t>http://</a:t>
            </a:r>
            <a:r>
              <a:rPr lang="en-US" dirty="0" err="1" smtClean="0"/>
              <a:t>labs.apnic.net</a:t>
            </a:r>
            <a:r>
              <a:rPr lang="en-US" dirty="0" smtClean="0"/>
              <a:t>/ipv6-measurement/W6L</a:t>
            </a:r>
            <a:endParaRPr lang="en-US" dirty="0"/>
          </a:p>
        </p:txBody>
      </p:sp>
    </p:spTree>
    <p:extLst>
      <p:ext uri="{BB962C8B-B14F-4D97-AF65-F5344CB8AC3E}">
        <p14:creationId xmlns:p14="http://schemas.microsoft.com/office/powerpoint/2010/main" val="20423897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IPv6 measurement</a:t>
            </a:r>
            <a:endParaRPr lang="en-US" dirty="0">
              <a:latin typeface="Powderfinger Type"/>
              <a:cs typeface="Powderfinger Type"/>
            </a:endParaRPr>
          </a:p>
        </p:txBody>
      </p:sp>
      <p:sp>
        <p:nvSpPr>
          <p:cNvPr id="3" name="Content Placeholder 2"/>
          <p:cNvSpPr>
            <a:spLocks noGrp="1"/>
          </p:cNvSpPr>
          <p:nvPr>
            <p:ph idx="1"/>
          </p:nvPr>
        </p:nvSpPr>
        <p:spPr/>
        <p:txBody>
          <a:bodyPr>
            <a:normAutofit/>
          </a:bodyPr>
          <a:lstStyle/>
          <a:p>
            <a:r>
              <a:rPr lang="en-US" sz="2400" dirty="0" smtClean="0"/>
              <a:t>Penetration rate of IPv6 into the global AS economy is slowly rising.</a:t>
            </a:r>
          </a:p>
          <a:p>
            <a:r>
              <a:rPr lang="en-US" sz="2400" dirty="0" smtClean="0"/>
              <a:t>Signs Global-Unicast IPv6 will shortly overtake </a:t>
            </a:r>
            <a:r>
              <a:rPr lang="en-US" sz="2400" dirty="0" err="1" smtClean="0"/>
              <a:t>Teredo</a:t>
            </a:r>
            <a:endParaRPr lang="en-US" sz="2400" dirty="0" smtClean="0"/>
          </a:p>
          <a:p>
            <a:r>
              <a:rPr lang="en-US" sz="2400" dirty="0" smtClean="0"/>
              <a:t>Widely distributed hop-over for IPv6 being seen. </a:t>
            </a:r>
          </a:p>
          <a:p>
            <a:pPr lvl="1"/>
            <a:r>
              <a:rPr lang="en-US" sz="2000" dirty="0" smtClean="0"/>
              <a:t>due to the CPE gap ?</a:t>
            </a:r>
          </a:p>
          <a:p>
            <a:pPr lvl="1"/>
            <a:r>
              <a:rPr lang="en-US" sz="2000" dirty="0" smtClean="0"/>
              <a:t>Even IPv6 enabled ISPs have customers tunnelling over the air-gap</a:t>
            </a:r>
          </a:p>
          <a:p>
            <a:r>
              <a:rPr lang="en-US" sz="2400" dirty="0" smtClean="0"/>
              <a:t>Much more information about IPv6, global internet behaviour is in the data</a:t>
            </a:r>
          </a:p>
          <a:p>
            <a:pPr lvl="1"/>
            <a:r>
              <a:rPr lang="en-US" sz="2000" dirty="0" smtClean="0"/>
              <a:t>“watch this space” –long-term investment in measurement, ongoing.</a:t>
            </a:r>
          </a:p>
          <a:p>
            <a:pPr lvl="1"/>
            <a:r>
              <a:rPr lang="en-US" sz="2000" dirty="0" smtClean="0"/>
              <a:t>Better datasets, BigTable map/reduce</a:t>
            </a:r>
            <a:endParaRPr lang="en-US" sz="2000" dirty="0"/>
          </a:p>
          <a:p>
            <a:pPr lvl="1"/>
            <a:r>
              <a:rPr lang="en-US" sz="2000" dirty="0" smtClean="0"/>
              <a:t>Collaborations with “the usual suspects” to extend the experiment</a:t>
            </a:r>
          </a:p>
        </p:txBody>
      </p:sp>
    </p:spTree>
    <p:extLst>
      <p:ext uri="{BB962C8B-B14F-4D97-AF65-F5344CB8AC3E}">
        <p14:creationId xmlns:p14="http://schemas.microsoft.com/office/powerpoint/2010/main" val="1947873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Powderfinger Type"/>
                <a:cs typeface="Powderfinger Type"/>
              </a:rPr>
              <a:t>IPv6 measurement</a:t>
            </a:r>
            <a:endParaRPr lang="en-US" dirty="0"/>
          </a:p>
        </p:txBody>
      </p:sp>
      <p:sp>
        <p:nvSpPr>
          <p:cNvPr id="3" name="Content Placeholder 2"/>
          <p:cNvSpPr>
            <a:spLocks noGrp="1"/>
          </p:cNvSpPr>
          <p:nvPr>
            <p:ph idx="1"/>
          </p:nvPr>
        </p:nvSpPr>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dirty="0" smtClean="0"/>
              <a:t>If you see the advert</a:t>
            </a:r>
            <a:endParaRPr lang="en-US" dirty="0"/>
          </a:p>
        </p:txBody>
      </p:sp>
    </p:spTree>
    <p:extLst>
      <p:ext uri="{BB962C8B-B14F-4D97-AF65-F5344CB8AC3E}">
        <p14:creationId xmlns:p14="http://schemas.microsoft.com/office/powerpoint/2010/main" val="24869608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Powderfinger Type"/>
                <a:cs typeface="Powderfinger Type"/>
              </a:rPr>
              <a:t>IPv6 measurement</a:t>
            </a:r>
            <a:endParaRPr lang="en-US" dirty="0"/>
          </a:p>
        </p:txBody>
      </p:sp>
      <p:sp>
        <p:nvSpPr>
          <p:cNvPr id="3" name="Content Placeholder 2"/>
          <p:cNvSpPr>
            <a:spLocks noGrp="1"/>
          </p:cNvSpPr>
          <p:nvPr>
            <p:ph idx="1"/>
          </p:nvPr>
        </p:nvSpPr>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dirty="0" smtClean="0"/>
              <a:t>If you see the advert</a:t>
            </a:r>
          </a:p>
          <a:p>
            <a:pPr marL="0" indent="0" algn="ctr">
              <a:buNone/>
            </a:pPr>
            <a:r>
              <a:rPr lang="en-US" dirty="0" smtClean="0"/>
              <a:t>PLEASE DON’T CLICK ON IT</a:t>
            </a:r>
          </a:p>
          <a:p>
            <a:pPr marL="0" indent="0" algn="ctr">
              <a:buNone/>
            </a:pPr>
            <a:r>
              <a:rPr lang="en-US" dirty="0" smtClean="0"/>
              <a:t>(it costs us more)</a:t>
            </a:r>
            <a:endParaRPr lang="en-US" dirty="0"/>
          </a:p>
        </p:txBody>
      </p:sp>
    </p:spTree>
    <p:extLst>
      <p:ext uri="{BB962C8B-B14F-4D97-AF65-F5344CB8AC3E}">
        <p14:creationId xmlns:p14="http://schemas.microsoft.com/office/powerpoint/2010/main" val="2146256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owderfinger Type"/>
                <a:cs typeface="Powderfinger Type"/>
              </a:rPr>
              <a:t>A word for our sponsors</a:t>
            </a:r>
            <a:endParaRPr lang="en-US" dirty="0"/>
          </a:p>
        </p:txBody>
      </p:sp>
      <p:sp>
        <p:nvSpPr>
          <p:cNvPr id="3" name="Content Placeholder 2"/>
          <p:cNvSpPr>
            <a:spLocks noGrp="1"/>
          </p:cNvSpPr>
          <p:nvPr>
            <p:ph idx="1"/>
          </p:nvPr>
        </p:nvSpPr>
        <p:spPr/>
        <p:txBody>
          <a:bodyPr>
            <a:normAutofit/>
          </a:bodyPr>
          <a:lstStyle/>
          <a:p>
            <a:r>
              <a:rPr lang="en-US" sz="3200" dirty="0" smtClean="0"/>
              <a:t>Thanks to</a:t>
            </a:r>
          </a:p>
          <a:p>
            <a:pPr lvl="1"/>
            <a:r>
              <a:rPr lang="en-US" sz="2800" dirty="0" smtClean="0"/>
              <a:t>the Internet Society</a:t>
            </a:r>
          </a:p>
          <a:p>
            <a:pPr lvl="1"/>
            <a:r>
              <a:rPr lang="en-US" sz="2800" dirty="0" smtClean="0"/>
              <a:t>Google</a:t>
            </a:r>
          </a:p>
          <a:p>
            <a:pPr lvl="1"/>
            <a:r>
              <a:rPr lang="en-US" sz="2800" dirty="0" smtClean="0"/>
              <a:t>ISC</a:t>
            </a:r>
          </a:p>
          <a:p>
            <a:pPr lvl="1"/>
            <a:r>
              <a:rPr lang="en-US" sz="2800" dirty="0" smtClean="0"/>
              <a:t>RIPE NCC</a:t>
            </a:r>
          </a:p>
          <a:p>
            <a:endParaRPr lang="en-US" sz="3200" dirty="0"/>
          </a:p>
          <a:p>
            <a:r>
              <a:rPr lang="en-US" sz="3200" dirty="0" smtClean="0"/>
              <a:t>For funding, platform support, collaboration</a:t>
            </a:r>
            <a:endParaRPr lang="en-US" sz="3200" dirty="0"/>
          </a:p>
        </p:txBody>
      </p:sp>
    </p:spTree>
    <p:extLst>
      <p:ext uri="{BB962C8B-B14F-4D97-AF65-F5344CB8AC3E}">
        <p14:creationId xmlns:p14="http://schemas.microsoft.com/office/powerpoint/2010/main" val="12149256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theme/theme1.xml><?xml version="1.0" encoding="utf-8"?>
<a:theme xmlns:a="http://schemas.openxmlformats.org/drawingml/2006/main" name="APNIC33PowerPointTemplateFinal">
  <a:themeElements>
    <a:clrScheme name="APNIC">
      <a:dk1>
        <a:sysClr val="windowText" lastClr="000000"/>
      </a:dk1>
      <a:lt1>
        <a:sysClr val="window" lastClr="FFFFFF"/>
      </a:lt1>
      <a:dk2>
        <a:srgbClr val="000000"/>
      </a:dk2>
      <a:lt2>
        <a:srgbClr val="FFFFFF"/>
      </a:lt2>
      <a:accent1>
        <a:srgbClr val="004FBA"/>
      </a:accent1>
      <a:accent2>
        <a:srgbClr val="F27D0A"/>
      </a:accent2>
      <a:accent3>
        <a:srgbClr val="590F4A"/>
      </a:accent3>
      <a:accent4>
        <a:srgbClr val="166813"/>
      </a:accent4>
      <a:accent5>
        <a:srgbClr val="C40836"/>
      </a:accent5>
      <a:accent6>
        <a:srgbClr val="FFCF0A"/>
      </a:accent6>
      <a:hlink>
        <a:srgbClr val="5C5C5C"/>
      </a:hlink>
      <a:folHlink>
        <a:srgbClr val="00A2D7"/>
      </a:folHlink>
    </a:clrScheme>
    <a:fontScheme name="APNI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APNIC33PowerPointTemplateFinal.potx</Template>
  <TotalTime>3494</TotalTime>
  <Words>2600</Words>
  <Application>Microsoft Macintosh PowerPoint</Application>
  <PresentationFormat>On-screen Show (4:3)</PresentationFormat>
  <Paragraphs>238</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APNIC33PowerPointTemplateFinal</vt:lpstr>
      <vt:lpstr>Measuring  IPv6 Users</vt:lpstr>
      <vt:lpstr>How to measure the end user</vt:lpstr>
      <vt:lpstr>How to measure the end user</vt:lpstr>
      <vt:lpstr>How to measure a million end users</vt:lpstr>
      <vt:lpstr>How to measure a million end users</vt:lpstr>
      <vt:lpstr>How to measure a million end users</vt:lpstr>
      <vt:lpstr>How to measure a million end users</vt:lpstr>
      <vt:lpstr>Approaches to Measurement</vt:lpstr>
      <vt:lpstr>…buy the measurement</vt:lpstr>
      <vt:lpstr>Placement</vt:lpstr>
      <vt:lpstr>Unique IPS?</vt:lpstr>
      <vt:lpstr>Lots of Unique IP’S</vt:lpstr>
      <vt:lpstr>What are we finding?</vt:lpstr>
      <vt:lpstr>Google visualization API</vt:lpstr>
      <vt:lpstr>Google visualization API</vt:lpstr>
      <vt:lpstr>Google visualization API</vt:lpstr>
      <vt:lpstr>Google visualization API</vt:lpstr>
      <vt:lpstr>Draw your own graphs</vt:lpstr>
      <vt:lpstr>PowerPoint Presentation</vt:lpstr>
      <vt:lpstr>PowerPoint Presentation</vt:lpstr>
      <vt:lpstr>PowerPoint Presentation</vt:lpstr>
      <vt:lpstr>IPv6 measurement</vt:lpstr>
      <vt:lpstr>IPv6 measurement</vt:lpstr>
      <vt:lpstr>IPv6 measurement</vt:lpstr>
      <vt:lpstr>A word for our sponsors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APNIC PowerPoint Template</dc:title>
  <dc:creator>Rebekah</dc:creator>
  <cp:lastModifiedBy>George Michaelson</cp:lastModifiedBy>
  <cp:revision>62</cp:revision>
  <dcterms:created xsi:type="dcterms:W3CDTF">2011-12-06T02:23:30Z</dcterms:created>
  <dcterms:modified xsi:type="dcterms:W3CDTF">2012-12-03T01:56:52Z</dcterms:modified>
</cp:coreProperties>
</file>