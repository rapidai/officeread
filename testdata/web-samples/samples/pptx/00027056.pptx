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8" r:id="rId2"/>
    <p:sldId id="318" r:id="rId3"/>
    <p:sldId id="333" r:id="rId4"/>
    <p:sldId id="325" r:id="rId5"/>
    <p:sldId id="326" r:id="rId6"/>
    <p:sldId id="327" r:id="rId7"/>
    <p:sldId id="317" r:id="rId8"/>
    <p:sldId id="319" r:id="rId9"/>
    <p:sldId id="320" r:id="rId10"/>
    <p:sldId id="321" r:id="rId11"/>
    <p:sldId id="297" r:id="rId12"/>
    <p:sldId id="286" r:id="rId13"/>
    <p:sldId id="275" r:id="rId14"/>
    <p:sldId id="277" r:id="rId15"/>
    <p:sldId id="330" r:id="rId16"/>
    <p:sldId id="331" r:id="rId17"/>
    <p:sldId id="332" r:id="rId18"/>
    <p:sldId id="308" r:id="rId19"/>
    <p:sldId id="304" r:id="rId20"/>
    <p:sldId id="322" r:id="rId21"/>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3333FF"/>
    <a:srgbClr val="FFFF00"/>
    <a:srgbClr val="FF3300"/>
    <a:srgbClr val="B1B1B1"/>
    <a:srgbClr val="1035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4389" autoAdjust="0"/>
  </p:normalViewPr>
  <p:slideViewPr>
    <p:cSldViewPr>
      <p:cViewPr>
        <p:scale>
          <a:sx n="90" d="100"/>
          <a:sy n="90" d="100"/>
        </p:scale>
        <p:origin x="-1002" y="-15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6" d="100"/>
          <a:sy n="66" d="100"/>
        </p:scale>
        <p:origin x="-2838" y="-10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AU"/>
          </a:p>
        </p:txBody>
      </p:sp>
      <p:sp>
        <p:nvSpPr>
          <p:cNvPr id="727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AU"/>
          </a:p>
        </p:txBody>
      </p:sp>
      <p:sp>
        <p:nvSpPr>
          <p:cNvPr id="727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AU"/>
          </a:p>
        </p:txBody>
      </p:sp>
      <p:sp>
        <p:nvSpPr>
          <p:cNvPr id="727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B1D9E55-84A4-4E83-8E27-6AF9E848112E}" type="slidenum">
              <a:rPr lang="en-AU"/>
              <a:pPr>
                <a:defRPr/>
              </a:pPr>
              <a:t>‹#›</a:t>
            </a:fld>
            <a:endParaRPr 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AU"/>
          </a:p>
        </p:txBody>
      </p:sp>
      <p:sp>
        <p:nvSpPr>
          <p:cNvPr id="348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AU"/>
          </a:p>
        </p:txBody>
      </p:sp>
      <p:sp>
        <p:nvSpPr>
          <p:cNvPr id="163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smtClean="0"/>
              <a:t>Click to edit Master text styles</a:t>
            </a:r>
          </a:p>
          <a:p>
            <a:pPr lvl="1"/>
            <a:r>
              <a:rPr lang="en-AU" noProof="0" smtClean="0"/>
              <a:t>Second level</a:t>
            </a:r>
          </a:p>
          <a:p>
            <a:pPr lvl="2"/>
            <a:r>
              <a:rPr lang="en-AU" noProof="0" smtClean="0"/>
              <a:t>Third level</a:t>
            </a:r>
          </a:p>
          <a:p>
            <a:pPr lvl="3"/>
            <a:r>
              <a:rPr lang="en-AU" noProof="0" smtClean="0"/>
              <a:t>Fourth level</a:t>
            </a:r>
          </a:p>
          <a:p>
            <a:pPr lvl="4"/>
            <a:r>
              <a:rPr lang="en-AU" noProof="0" smtClean="0"/>
              <a:t>Fifth level</a:t>
            </a:r>
          </a:p>
        </p:txBody>
      </p:sp>
      <p:sp>
        <p:nvSpPr>
          <p:cNvPr id="348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AU"/>
          </a:p>
        </p:txBody>
      </p:sp>
      <p:sp>
        <p:nvSpPr>
          <p:cNvPr id="348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AED79B4-2931-4998-B154-A332FF1F3F68}"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p:spPr>
        <p:txBody>
          <a:bodyPr/>
          <a:lstStyle/>
          <a:p>
            <a:fld id="{F1F5F73B-7181-4C63-9B9C-3541414C0720}" type="slidenum">
              <a:rPr lang="en-AU" smtClean="0"/>
              <a:pPr/>
              <a:t>1</a:t>
            </a:fld>
            <a:endParaRPr lang="en-AU" smtClean="0"/>
          </a:p>
        </p:txBody>
      </p:sp>
      <p:sp>
        <p:nvSpPr>
          <p:cNvPr id="19458" name="Rectangle 2"/>
          <p:cNvSpPr>
            <a:spLocks noGrp="1" noRot="1" noChangeAspect="1" noChangeArrowheads="1" noTextEdit="1"/>
          </p:cNvSpPr>
          <p:nvPr>
            <p:ph type="sldImg"/>
          </p:nvPr>
        </p:nvSpPr>
        <p:spPr>
          <a:ln/>
        </p:spPr>
      </p:sp>
      <p:sp>
        <p:nvSpPr>
          <p:cNvPr id="19459" name="Rectangle 4"/>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noChangeArrowheads="1"/>
          </p:cNvSpPr>
          <p:nvPr/>
        </p:nvSpPr>
        <p:spPr bwMode="auto">
          <a:xfrm>
            <a:off x="3884613" y="8686800"/>
            <a:ext cx="2973387" cy="457200"/>
          </a:xfrm>
          <a:prstGeom prst="rect">
            <a:avLst/>
          </a:prstGeom>
          <a:noFill/>
          <a:ln w="12700">
            <a:noFill/>
            <a:miter lim="800000"/>
            <a:headEnd/>
            <a:tailEnd/>
          </a:ln>
        </p:spPr>
        <p:txBody>
          <a:bodyPr lIns="90841" tIns="45421" rIns="90841" bIns="45421" anchor="b"/>
          <a:lstStyle/>
          <a:p>
            <a:pPr algn="r" defTabSz="909638" eaLnBrk="0" hangingPunct="0"/>
            <a:fld id="{88463D27-F817-448C-90FF-9302290396C3}" type="slidenum">
              <a:rPr lang="en-AU" sz="1200">
                <a:latin typeface="Comic Sans MS" pitchFamily="66" charset="0"/>
              </a:rPr>
              <a:pPr algn="r" defTabSz="909638" eaLnBrk="0" hangingPunct="0"/>
              <a:t>7</a:t>
            </a:fld>
            <a:endParaRPr lang="en-AU" sz="1200">
              <a:latin typeface="Comic Sans MS" pitchFamily="66" charset="0"/>
            </a:endParaRPr>
          </a:p>
        </p:txBody>
      </p:sp>
      <p:sp>
        <p:nvSpPr>
          <p:cNvPr id="26626" name="Rectangle 2"/>
          <p:cNvSpPr>
            <a:spLocks noGrp="1" noRot="1" noChangeAspect="1" noChangeArrowheads="1" noTextEdit="1"/>
          </p:cNvSpPr>
          <p:nvPr>
            <p:ph type="sldImg"/>
          </p:nvPr>
        </p:nvSpPr>
        <p:spPr>
          <a:xfrm>
            <a:off x="1149350" y="687388"/>
            <a:ext cx="4570413" cy="3427412"/>
          </a:xfrm>
          <a:ln/>
        </p:spPr>
      </p:sp>
      <p:sp>
        <p:nvSpPr>
          <p:cNvPr id="26627" name="Rectangle 3"/>
          <p:cNvSpPr>
            <a:spLocks noGrp="1" noChangeArrowheads="1"/>
          </p:cNvSpPr>
          <p:nvPr>
            <p:ph type="body" idx="1"/>
          </p:nvPr>
        </p:nvSpPr>
        <p:spPr>
          <a:xfrm>
            <a:off x="914400" y="4344988"/>
            <a:ext cx="5029200" cy="4110037"/>
          </a:xfrm>
          <a:noFill/>
          <a:ln/>
        </p:spPr>
        <p:txBody>
          <a:bodyPr lIns="90841" tIns="45421" rIns="90841" bIns="45421"/>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E048EBD-1951-466B-AD71-D77865447B95}" type="slidenum">
              <a:rPr lang="en-AU" sz="1200"/>
              <a:pPr algn="r"/>
              <a:t>8</a:t>
            </a:fld>
            <a:endParaRPr lang="en-AU" sz="1200"/>
          </a:p>
        </p:txBody>
      </p:sp>
      <p:sp>
        <p:nvSpPr>
          <p:cNvPr id="28674" name="Rectangle 2"/>
          <p:cNvSpPr>
            <a:spLocks noGrp="1" noRot="1" noChangeAspect="1" noChangeArrowheads="1" noTextEdit="1"/>
          </p:cNvSpPr>
          <p:nvPr>
            <p:ph type="sldImg"/>
          </p:nvPr>
        </p:nvSpPr>
        <p:spPr>
          <a:xfrm>
            <a:off x="1144588" y="685800"/>
            <a:ext cx="4572000" cy="3429000"/>
          </a:xfrm>
          <a:ln/>
        </p:spPr>
      </p:sp>
      <p:sp>
        <p:nvSpPr>
          <p:cNvPr id="28675"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994563F-37FD-4554-B8A6-809863F877D8}" type="slidenum">
              <a:rPr lang="en-AU" sz="1200"/>
              <a:pPr algn="r"/>
              <a:t>10</a:t>
            </a:fld>
            <a:endParaRPr lang="en-AU" sz="1200"/>
          </a:p>
        </p:txBody>
      </p:sp>
      <p:sp>
        <p:nvSpPr>
          <p:cNvPr id="73730" name="Rectangle 7"/>
          <p:cNvSpPr txBox="1">
            <a:spLocks noGrp="1" noChangeArrowheads="1"/>
          </p:cNvSpPr>
          <p:nvPr/>
        </p:nvSpPr>
        <p:spPr bwMode="auto">
          <a:xfrm>
            <a:off x="3883025" y="8686800"/>
            <a:ext cx="2974975" cy="457200"/>
          </a:xfrm>
          <a:prstGeom prst="rect">
            <a:avLst/>
          </a:prstGeom>
          <a:noFill/>
          <a:ln w="12700">
            <a:noFill/>
            <a:miter lim="800000"/>
            <a:headEnd/>
            <a:tailEnd/>
          </a:ln>
        </p:spPr>
        <p:txBody>
          <a:bodyPr lIns="92010" tIns="46005" rIns="92010" bIns="46005" anchor="b"/>
          <a:lstStyle/>
          <a:p>
            <a:pPr algn="r" defTabSz="922338" eaLnBrk="0" hangingPunct="0"/>
            <a:fld id="{C28E3C66-2DBE-44B4-A16F-D1BF9B9BE7BD}" type="slidenum">
              <a:rPr lang="en-AU" sz="1200">
                <a:latin typeface="Comic Sans MS" pitchFamily="66" charset="0"/>
              </a:rPr>
              <a:pPr algn="r" defTabSz="922338" eaLnBrk="0" hangingPunct="0"/>
              <a:t>10</a:t>
            </a:fld>
            <a:endParaRPr lang="en-AU" sz="1200">
              <a:latin typeface="Comic Sans MS" pitchFamily="66" charset="0"/>
            </a:endParaRPr>
          </a:p>
        </p:txBody>
      </p:sp>
      <p:sp>
        <p:nvSpPr>
          <p:cNvPr id="73731" name="Rectangle 2"/>
          <p:cNvSpPr>
            <a:spLocks noGrp="1" noRot="1" noChangeAspect="1" noChangeArrowheads="1" noTextEdit="1"/>
          </p:cNvSpPr>
          <p:nvPr>
            <p:ph type="sldImg"/>
          </p:nvPr>
        </p:nvSpPr>
        <p:spPr>
          <a:xfrm>
            <a:off x="1141413" y="685800"/>
            <a:ext cx="4572000" cy="3429000"/>
          </a:xfrm>
          <a:ln/>
        </p:spPr>
      </p:sp>
      <p:sp>
        <p:nvSpPr>
          <p:cNvPr id="73732" name="Rectangle 3"/>
          <p:cNvSpPr>
            <a:spLocks noGrp="1" noChangeArrowheads="1"/>
          </p:cNvSpPr>
          <p:nvPr>
            <p:ph type="body" idx="1"/>
          </p:nvPr>
        </p:nvSpPr>
        <p:spPr>
          <a:xfrm>
            <a:off x="914400" y="4341813"/>
            <a:ext cx="5029200" cy="4113212"/>
          </a:xfrm>
          <a:noFill/>
          <a:ln/>
        </p:spPr>
        <p:txBody>
          <a:bodyPr lIns="92010" tIns="46005" rIns="92010" bIns="46005"/>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p:spPr>
        <p:txBody>
          <a:bodyPr/>
          <a:lstStyle/>
          <a:p>
            <a:fld id="{B81E8E10-2760-4040-9169-07F5CD6F9215}" type="slidenum">
              <a:rPr lang="en-AU" smtClean="0"/>
              <a:pPr/>
              <a:t>11</a:t>
            </a:fld>
            <a:endParaRPr lang="en-AU" smtClean="0"/>
          </a:p>
        </p:txBody>
      </p:sp>
      <p:sp>
        <p:nvSpPr>
          <p:cNvPr id="75778" name="Rectangle 2"/>
          <p:cNvSpPr>
            <a:spLocks noGrp="1" noRot="1" noChangeAspect="1" noChangeArrowheads="1" noTextEdit="1"/>
          </p:cNvSpPr>
          <p:nvPr>
            <p:ph type="sldImg"/>
          </p:nvPr>
        </p:nvSpPr>
        <p:spPr>
          <a:ln/>
        </p:spPr>
      </p:sp>
      <p:sp>
        <p:nvSpPr>
          <p:cNvPr id="75779" name="Rectangle 4"/>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p:spPr>
        <p:txBody>
          <a:bodyPr/>
          <a:lstStyle/>
          <a:p>
            <a:fld id="{E0E5C602-F4B6-4BD5-A847-78F3814F6F10}" type="slidenum">
              <a:rPr lang="en-AU" smtClean="0"/>
              <a:pPr/>
              <a:t>12</a:t>
            </a:fld>
            <a:endParaRPr lang="en-AU" smtClean="0"/>
          </a:p>
        </p:txBody>
      </p:sp>
      <p:sp>
        <p:nvSpPr>
          <p:cNvPr id="77826" name="Rectangle 2"/>
          <p:cNvSpPr>
            <a:spLocks noGrp="1" noRot="1" noChangeAspect="1" noChangeArrowheads="1" noTextEdit="1"/>
          </p:cNvSpPr>
          <p:nvPr>
            <p:ph type="sldImg"/>
          </p:nvPr>
        </p:nvSpPr>
        <p:spPr>
          <a:xfrm>
            <a:off x="1127125" y="687388"/>
            <a:ext cx="4603750" cy="3452812"/>
          </a:xfrm>
          <a:ln w="12700" cap="flat">
            <a:solidFill>
              <a:schemeClr val="tx1"/>
            </a:solidFill>
          </a:ln>
        </p:spPr>
      </p:sp>
      <p:sp>
        <p:nvSpPr>
          <p:cNvPr id="77827" name="Rectangle 4"/>
          <p:cNvSpPr>
            <a:spLocks noGrp="1" noChangeArrowheads="1"/>
          </p:cNvSpPr>
          <p:nvPr>
            <p:ph type="body" idx="1"/>
          </p:nvPr>
        </p:nvSpPr>
        <p:spPr>
          <a:noFill/>
          <a:ln/>
        </p:spPr>
        <p:txBody>
          <a:bodyPr/>
          <a:lstStyle/>
          <a:p>
            <a:r>
              <a:rPr lang="en-AU" smtClean="0"/>
              <a:t>The sample was selected for all children in year one of school for whom there was complete teacher data.</a:t>
            </a:r>
          </a:p>
          <a:p>
            <a:endParaRPr lang="en-AU" smtClean="0"/>
          </a:p>
          <a:p>
            <a:r>
              <a:rPr lang="en-AU" smtClean="0"/>
              <a:t>Given the age range here from 6 years and three months to 7 and a half years, children were divided into younger and older age groups</a:t>
            </a:r>
          </a:p>
          <a:p>
            <a:endParaRPr lang="en-AU" smtClean="0"/>
          </a:p>
          <a:p>
            <a:r>
              <a:rPr lang="en-AU" smtClean="0"/>
              <a:t>Our sample reflects the LSAC sample as a whole in that mothers are quite highly educated and families on lower household incomes are underrepresented</a:t>
            </a:r>
          </a:p>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p:spPr>
        <p:txBody>
          <a:bodyPr/>
          <a:lstStyle/>
          <a:p>
            <a:fld id="{59C16708-E3DE-419C-BC3F-F21170F19ABE}" type="slidenum">
              <a:rPr lang="en-AU" smtClean="0"/>
              <a:pPr/>
              <a:t>13</a:t>
            </a:fld>
            <a:endParaRPr lang="en-AU" smtClean="0"/>
          </a:p>
        </p:txBody>
      </p:sp>
      <p:sp>
        <p:nvSpPr>
          <p:cNvPr id="79874" name="Rectangle 2"/>
          <p:cNvSpPr>
            <a:spLocks noGrp="1" noRot="1" noChangeAspect="1" noChangeArrowheads="1" noTextEdit="1"/>
          </p:cNvSpPr>
          <p:nvPr>
            <p:ph type="sldImg"/>
          </p:nvPr>
        </p:nvSpPr>
        <p:spPr>
          <a:ln/>
        </p:spPr>
      </p:sp>
      <p:sp>
        <p:nvSpPr>
          <p:cNvPr id="79875" name="Rectangle 4"/>
          <p:cNvSpPr>
            <a:spLocks noGrp="1" noChangeArrowheads="1"/>
          </p:cNvSpPr>
          <p:nvPr>
            <p:ph type="body" idx="1"/>
          </p:nvPr>
        </p:nvSpPr>
        <p:spPr>
          <a:noFill/>
          <a:ln/>
        </p:spPr>
        <p:txBody>
          <a:bodyPr/>
          <a:lstStyle/>
          <a:p>
            <a:r>
              <a:rPr lang="en-AU" smtClean="0"/>
              <a:t>It uses a five-point rating scale which reflects the degree to which the child has acquired and/or chooses to demonstrate the targeted skills, knowledge and behaviours from “not yet” – (child has not yet demonstrated the skills, knowledge or behaviour) through “beginning”, “in progress”, “intermediate” to “proficient” (child demonstrates skill knowledge or behaviour competently and consistently).</a:t>
            </a:r>
          </a:p>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p:spPr>
        <p:txBody>
          <a:bodyPr/>
          <a:lstStyle/>
          <a:p>
            <a:fld id="{2A7EB4E3-5B83-4E27-92CA-B9AB71E94AA7}" type="slidenum">
              <a:rPr lang="en-AU" smtClean="0"/>
              <a:pPr/>
              <a:t>14</a:t>
            </a:fld>
            <a:endParaRPr lang="en-AU" smtClean="0"/>
          </a:p>
        </p:txBody>
      </p:sp>
      <p:sp>
        <p:nvSpPr>
          <p:cNvPr id="81922" name="Rectangle 2"/>
          <p:cNvSpPr>
            <a:spLocks noGrp="1" noRot="1" noChangeAspect="1" noChangeArrowheads="1" noTextEdit="1"/>
          </p:cNvSpPr>
          <p:nvPr>
            <p:ph type="sldImg"/>
          </p:nvPr>
        </p:nvSpPr>
        <p:spPr>
          <a:ln/>
        </p:spPr>
      </p:sp>
      <p:sp>
        <p:nvSpPr>
          <p:cNvPr id="81923" name="Rectangle 4"/>
          <p:cNvSpPr>
            <a:spLocks noGrp="1" noChangeArrowheads="1"/>
          </p:cNvSpPr>
          <p:nvPr>
            <p:ph type="body" idx="1"/>
          </p:nvPr>
        </p:nvSpPr>
        <p:spPr>
          <a:noFill/>
          <a:ln/>
        </p:spPr>
        <p:txBody>
          <a:bodyPr/>
          <a:lstStyle/>
          <a:p>
            <a:r>
              <a:rPr lang="en-AU" smtClean="0"/>
              <a:t>The Approaches to learning scale is a subscale of the ECLS-K Social Rating scale. Items are rated on a four point scale from never to very often and relate to a child’s attentiveness, task persistence, eagerness to learn, learning independence, flexibility and organisation. </a:t>
            </a:r>
          </a:p>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a:spLocks noGrp="1" noChangeArrowheads="1"/>
          </p:cNvSpPr>
          <p:nvPr>
            <p:ph type="sldNum" sz="quarter" idx="5"/>
          </p:nvPr>
        </p:nvSpPr>
        <p:spPr>
          <a:noFill/>
        </p:spPr>
        <p:txBody>
          <a:bodyPr/>
          <a:lstStyle/>
          <a:p>
            <a:fld id="{71F601D3-CCDE-4435-91A1-36B2658EE116}" type="slidenum">
              <a:rPr lang="en-AU" smtClean="0"/>
              <a:pPr/>
              <a:t>18</a:t>
            </a:fld>
            <a:endParaRPr lang="en-AU" smtClean="0"/>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a:noFill/>
          <a:ln/>
        </p:spPr>
        <p:txBody>
          <a:bodyPr/>
          <a:lstStyle/>
          <a:p>
            <a:pPr eaLnBrk="1" hangingPunct="1"/>
            <a:r>
              <a:rPr lang="en-AU" smtClean="0"/>
              <a:t>These differences are all significant</a:t>
            </a:r>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noChangeArrowheads="1"/>
          </p:cNvSpPr>
          <p:nvPr>
            <p:ph type="sldNum" sz="quarter" idx="5"/>
          </p:nvPr>
        </p:nvSpPr>
        <p:spPr>
          <a:noFill/>
        </p:spPr>
        <p:txBody>
          <a:bodyPr/>
          <a:lstStyle/>
          <a:p>
            <a:fld id="{9CDB77F6-46DE-4A2D-936E-542F9A662236}" type="slidenum">
              <a:rPr lang="en-AU" smtClean="0"/>
              <a:pPr/>
              <a:t>19</a:t>
            </a:fld>
            <a:endParaRPr lang="en-AU" smtClean="0"/>
          </a:p>
        </p:txBody>
      </p:sp>
      <p:sp>
        <p:nvSpPr>
          <p:cNvPr id="130050" name="Rectangle 2"/>
          <p:cNvSpPr>
            <a:spLocks noGrp="1" noRot="1" noChangeAspect="1" noChangeArrowheads="1" noTextEdit="1"/>
          </p:cNvSpPr>
          <p:nvPr>
            <p:ph type="sldImg"/>
          </p:nvPr>
        </p:nvSpPr>
        <p:spPr>
          <a:ln/>
        </p:spPr>
      </p:sp>
      <p:sp>
        <p:nvSpPr>
          <p:cNvPr id="130051" name="Rectangle 4"/>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5"/>
          <p:cNvSpPr>
            <a:spLocks noChangeArrowheads="1"/>
          </p:cNvSpPr>
          <p:nvPr/>
        </p:nvSpPr>
        <p:spPr bwMode="auto">
          <a:xfrm>
            <a:off x="0" y="5946775"/>
            <a:ext cx="9144000" cy="911225"/>
          </a:xfrm>
          <a:prstGeom prst="rect">
            <a:avLst/>
          </a:prstGeom>
          <a:solidFill>
            <a:srgbClr val="B2B2B2"/>
          </a:solidFill>
          <a:ln w="9525">
            <a:noFill/>
            <a:miter lim="800000"/>
            <a:headEnd/>
            <a:tailEnd/>
          </a:ln>
          <a:effectLst/>
        </p:spPr>
        <p:txBody>
          <a:bodyPr wrap="none" anchor="ctr"/>
          <a:lstStyle/>
          <a:p>
            <a:pPr>
              <a:defRPr/>
            </a:pPr>
            <a:endParaRPr lang="en-AU"/>
          </a:p>
        </p:txBody>
      </p:sp>
      <p:sp>
        <p:nvSpPr>
          <p:cNvPr id="5" name="Text Box 16"/>
          <p:cNvSpPr txBox="1">
            <a:spLocks noChangeArrowheads="1"/>
          </p:cNvSpPr>
          <p:nvPr/>
        </p:nvSpPr>
        <p:spPr bwMode="auto">
          <a:xfrm>
            <a:off x="809625" y="6564313"/>
            <a:ext cx="2014538" cy="214312"/>
          </a:xfrm>
          <a:prstGeom prst="rect">
            <a:avLst/>
          </a:prstGeom>
          <a:noFill/>
          <a:ln w="9525">
            <a:noFill/>
            <a:miter lim="800000"/>
            <a:headEnd/>
            <a:tailEnd/>
          </a:ln>
          <a:effectLst/>
        </p:spPr>
        <p:txBody>
          <a:bodyPr wrap="none">
            <a:spAutoFit/>
          </a:bodyPr>
          <a:lstStyle/>
          <a:p>
            <a:pPr>
              <a:defRPr/>
            </a:pPr>
            <a:r>
              <a:rPr lang="en-US" sz="800" b="1">
                <a:solidFill>
                  <a:srgbClr val="103566"/>
                </a:solidFill>
              </a:rPr>
              <a:t>Queensland University of Technology</a:t>
            </a:r>
          </a:p>
        </p:txBody>
      </p:sp>
      <p:pic>
        <p:nvPicPr>
          <p:cNvPr id="6" name="Picture 17" descr="QUTlogo2955"/>
          <p:cNvPicPr>
            <a:picLocks noChangeAspect="1" noChangeArrowheads="1"/>
          </p:cNvPicPr>
          <p:nvPr/>
        </p:nvPicPr>
        <p:blipFill>
          <a:blip r:embed="rId2" cstate="print"/>
          <a:srcRect r="77751" b="27792"/>
          <a:stretch>
            <a:fillRect/>
          </a:stretch>
        </p:blipFill>
        <p:spPr bwMode="auto">
          <a:xfrm>
            <a:off x="769938" y="6143625"/>
            <a:ext cx="442912" cy="438150"/>
          </a:xfrm>
          <a:prstGeom prst="rect">
            <a:avLst/>
          </a:prstGeom>
          <a:noFill/>
          <a:ln w="9525">
            <a:noFill/>
            <a:miter lim="800000"/>
            <a:headEnd/>
            <a:tailEnd/>
          </a:ln>
        </p:spPr>
      </p:pic>
      <p:sp>
        <p:nvSpPr>
          <p:cNvPr id="7" name="Text Box 18"/>
          <p:cNvSpPr txBox="1">
            <a:spLocks noChangeArrowheads="1"/>
          </p:cNvSpPr>
          <p:nvPr/>
        </p:nvSpPr>
        <p:spPr bwMode="auto">
          <a:xfrm>
            <a:off x="7431088" y="6351588"/>
            <a:ext cx="1244600" cy="228600"/>
          </a:xfrm>
          <a:prstGeom prst="rect">
            <a:avLst/>
          </a:prstGeom>
          <a:noFill/>
          <a:ln w="9525">
            <a:noFill/>
            <a:miter lim="800000"/>
            <a:headEnd/>
            <a:tailEnd/>
          </a:ln>
          <a:effectLst/>
        </p:spPr>
        <p:txBody>
          <a:bodyPr wrap="none">
            <a:spAutoFit/>
          </a:bodyPr>
          <a:lstStyle/>
          <a:p>
            <a:pPr>
              <a:defRPr/>
            </a:pPr>
            <a:r>
              <a:rPr lang="en-AU" sz="900">
                <a:solidFill>
                  <a:srgbClr val="103566"/>
                </a:solidFill>
              </a:rPr>
              <a:t>CRICOS No. 00213J</a:t>
            </a:r>
          </a:p>
        </p:txBody>
      </p:sp>
      <p:sp>
        <p:nvSpPr>
          <p:cNvPr id="3074" name="Rectangle 2"/>
          <p:cNvSpPr>
            <a:spLocks noGrp="1" noChangeArrowheads="1"/>
          </p:cNvSpPr>
          <p:nvPr>
            <p:ph type="ctrTitle"/>
          </p:nvPr>
        </p:nvSpPr>
        <p:spPr>
          <a:xfrm>
            <a:off x="685800" y="1196975"/>
            <a:ext cx="7772400" cy="1470025"/>
          </a:xfrm>
        </p:spPr>
        <p:txBody>
          <a:bodyPr/>
          <a:lstStyle>
            <a:lvl1pPr>
              <a:defRPr sz="3600"/>
            </a:lvl1pPr>
          </a:lstStyle>
          <a:p>
            <a:r>
              <a:rPr lang="en-AU"/>
              <a:t>Click to edit Master title style</a:t>
            </a:r>
          </a:p>
        </p:txBody>
      </p:sp>
      <p:sp>
        <p:nvSpPr>
          <p:cNvPr id="3075" name="Rectangle 3"/>
          <p:cNvSpPr>
            <a:spLocks noGrp="1" noChangeArrowheads="1"/>
          </p:cNvSpPr>
          <p:nvPr>
            <p:ph type="subTitle" idx="1"/>
          </p:nvPr>
        </p:nvSpPr>
        <p:spPr>
          <a:xfrm>
            <a:off x="1371600" y="3573463"/>
            <a:ext cx="6400800" cy="1752600"/>
          </a:xfrm>
        </p:spPr>
        <p:txBody>
          <a:bodyPr/>
          <a:lstStyle>
            <a:lvl1pPr marL="0" indent="0" algn="ctr">
              <a:buFontTx/>
              <a:buNone/>
              <a:defRPr/>
            </a:lvl1pPr>
          </a:lstStyle>
          <a:p>
            <a:r>
              <a:rPr lang="en-AU"/>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28775"/>
            <a:ext cx="4038600" cy="3989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28775"/>
            <a:ext cx="4038600" cy="3989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343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343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457200" y="1628775"/>
            <a:ext cx="4038600" cy="39893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28775"/>
            <a:ext cx="4038600" cy="39893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Table Placeholder 2"/>
          <p:cNvSpPr>
            <a:spLocks noGrp="1"/>
          </p:cNvSpPr>
          <p:nvPr>
            <p:ph type="tbl" idx="1"/>
          </p:nvPr>
        </p:nvSpPr>
        <p:spPr>
          <a:xfrm>
            <a:off x="457200" y="1628775"/>
            <a:ext cx="8229600" cy="3989388"/>
          </a:xfrm>
        </p:spPr>
        <p:txBody>
          <a:bodyPr/>
          <a:lstStyle/>
          <a:p>
            <a:pPr lvl="0"/>
            <a:endParaRPr lang="en-AU" noProof="0"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Chart Placeholder 2"/>
          <p:cNvSpPr>
            <a:spLocks noGrp="1"/>
          </p:cNvSpPr>
          <p:nvPr>
            <p:ph type="chart" idx="1"/>
          </p:nvPr>
        </p:nvSpPr>
        <p:spPr>
          <a:xfrm>
            <a:off x="457200" y="1628775"/>
            <a:ext cx="8229600" cy="3989388"/>
          </a:xfrm>
        </p:spPr>
        <p:txBody>
          <a:bodyPr/>
          <a:lstStyle/>
          <a:p>
            <a:pPr lvl="0"/>
            <a:endParaRPr lang="en-AU" noProof="0" smtClean="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smtClean="0"/>
              <a:t>Click to edit Master title style</a:t>
            </a:r>
          </a:p>
        </p:txBody>
      </p:sp>
      <p:sp>
        <p:nvSpPr>
          <p:cNvPr id="1027" name="Rectangle 3"/>
          <p:cNvSpPr>
            <a:spLocks noGrp="1" noChangeArrowheads="1"/>
          </p:cNvSpPr>
          <p:nvPr>
            <p:ph type="body" idx="1"/>
          </p:nvPr>
        </p:nvSpPr>
        <p:spPr bwMode="auto">
          <a:xfrm>
            <a:off x="457200" y="1628775"/>
            <a:ext cx="8229600" cy="39893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1040" name="Rectangle 16"/>
          <p:cNvSpPr>
            <a:spLocks noChangeArrowheads="1"/>
          </p:cNvSpPr>
          <p:nvPr/>
        </p:nvSpPr>
        <p:spPr bwMode="auto">
          <a:xfrm>
            <a:off x="0" y="6022975"/>
            <a:ext cx="9144000" cy="835025"/>
          </a:xfrm>
          <a:prstGeom prst="rect">
            <a:avLst/>
          </a:prstGeom>
          <a:solidFill>
            <a:srgbClr val="B2B2B2"/>
          </a:solidFill>
          <a:ln w="9525">
            <a:noFill/>
            <a:miter lim="800000"/>
            <a:headEnd/>
            <a:tailEnd/>
          </a:ln>
          <a:effectLst/>
        </p:spPr>
        <p:txBody>
          <a:bodyPr wrap="none" anchor="ctr"/>
          <a:lstStyle/>
          <a:p>
            <a:pPr>
              <a:defRPr/>
            </a:pPr>
            <a:endParaRPr lang="en-AU"/>
          </a:p>
        </p:txBody>
      </p:sp>
      <p:pic>
        <p:nvPicPr>
          <p:cNvPr id="1029" name="Picture 17" descr="QUTlogo2955"/>
          <p:cNvPicPr>
            <a:picLocks noChangeAspect="1" noChangeArrowheads="1"/>
          </p:cNvPicPr>
          <p:nvPr/>
        </p:nvPicPr>
        <p:blipFill>
          <a:blip r:embed="rId16" cstate="print"/>
          <a:srcRect r="77751" b="27792"/>
          <a:stretch>
            <a:fillRect/>
          </a:stretch>
        </p:blipFill>
        <p:spPr bwMode="auto">
          <a:xfrm>
            <a:off x="820738" y="6221413"/>
            <a:ext cx="430212" cy="425450"/>
          </a:xfrm>
          <a:prstGeom prst="rect">
            <a:avLst/>
          </a:prstGeom>
          <a:noFill/>
          <a:ln w="9525">
            <a:noFill/>
            <a:miter lim="800000"/>
            <a:headEnd/>
            <a:tailEnd/>
          </a:ln>
        </p:spPr>
      </p:pic>
      <p:sp>
        <p:nvSpPr>
          <p:cNvPr id="1042" name="Text Box 18"/>
          <p:cNvSpPr txBox="1">
            <a:spLocks noChangeArrowheads="1"/>
          </p:cNvSpPr>
          <p:nvPr/>
        </p:nvSpPr>
        <p:spPr bwMode="auto">
          <a:xfrm>
            <a:off x="7169150" y="6351588"/>
            <a:ext cx="1244600" cy="228600"/>
          </a:xfrm>
          <a:prstGeom prst="rect">
            <a:avLst/>
          </a:prstGeom>
          <a:noFill/>
          <a:ln w="9525">
            <a:noFill/>
            <a:miter lim="800000"/>
            <a:headEnd/>
            <a:tailEnd/>
          </a:ln>
          <a:effectLst/>
        </p:spPr>
        <p:txBody>
          <a:bodyPr wrap="none">
            <a:spAutoFit/>
          </a:bodyPr>
          <a:lstStyle/>
          <a:p>
            <a:pPr>
              <a:defRPr/>
            </a:pPr>
            <a:r>
              <a:rPr lang="en-AU" sz="900">
                <a:solidFill>
                  <a:srgbClr val="103566"/>
                </a:solidFill>
              </a:rPr>
              <a:t>CRICOS No. 00213J</a:t>
            </a:r>
          </a:p>
        </p:txBody>
      </p:sp>
      <p:sp>
        <p:nvSpPr>
          <p:cNvPr id="1043" name="Text Box 19"/>
          <p:cNvSpPr txBox="1">
            <a:spLocks noChangeArrowheads="1"/>
          </p:cNvSpPr>
          <p:nvPr/>
        </p:nvSpPr>
        <p:spPr bwMode="auto">
          <a:xfrm>
            <a:off x="1377950" y="6303963"/>
            <a:ext cx="1430338" cy="260350"/>
          </a:xfrm>
          <a:prstGeom prst="rect">
            <a:avLst/>
          </a:prstGeom>
          <a:noFill/>
          <a:ln w="9525">
            <a:noFill/>
            <a:miter lim="800000"/>
            <a:headEnd/>
            <a:tailEnd/>
          </a:ln>
          <a:effectLst/>
        </p:spPr>
        <p:txBody>
          <a:bodyPr wrap="none">
            <a:spAutoFit/>
          </a:bodyPr>
          <a:lstStyle/>
          <a:p>
            <a:pPr>
              <a:defRPr/>
            </a:pPr>
            <a:r>
              <a:rPr lang="en-US" sz="1100" b="1">
                <a:solidFill>
                  <a:schemeClr val="bg1"/>
                </a:solidFill>
              </a:rPr>
              <a:t>a university for the</a:t>
            </a:r>
            <a:endParaRPr lang="en-US">
              <a:solidFill>
                <a:schemeClr val="bg1"/>
              </a:solidFill>
            </a:endParaRPr>
          </a:p>
        </p:txBody>
      </p:sp>
      <p:sp>
        <p:nvSpPr>
          <p:cNvPr id="1044" name="Text Box 20"/>
          <p:cNvSpPr txBox="1">
            <a:spLocks noChangeArrowheads="1"/>
          </p:cNvSpPr>
          <p:nvPr/>
        </p:nvSpPr>
        <p:spPr bwMode="auto">
          <a:xfrm>
            <a:off x="3184525" y="6362700"/>
            <a:ext cx="555625" cy="260350"/>
          </a:xfrm>
          <a:prstGeom prst="rect">
            <a:avLst/>
          </a:prstGeom>
          <a:noFill/>
          <a:ln w="9525">
            <a:noFill/>
            <a:miter lim="800000"/>
            <a:headEnd/>
            <a:tailEnd/>
          </a:ln>
          <a:effectLst/>
        </p:spPr>
        <p:txBody>
          <a:bodyPr wrap="none">
            <a:spAutoFit/>
          </a:bodyPr>
          <a:lstStyle/>
          <a:p>
            <a:pPr>
              <a:defRPr/>
            </a:pPr>
            <a:r>
              <a:rPr lang="en-US" sz="1100" b="1">
                <a:solidFill>
                  <a:schemeClr val="bg1"/>
                </a:solidFill>
              </a:rPr>
              <a:t>world</a:t>
            </a:r>
            <a:endParaRPr lang="en-US">
              <a:solidFill>
                <a:schemeClr val="bg1"/>
              </a:solidFill>
            </a:endParaRPr>
          </a:p>
        </p:txBody>
      </p:sp>
      <p:sp>
        <p:nvSpPr>
          <p:cNvPr id="1045" name="Text Box 21"/>
          <p:cNvSpPr txBox="1">
            <a:spLocks noChangeArrowheads="1"/>
          </p:cNvSpPr>
          <p:nvPr/>
        </p:nvSpPr>
        <p:spPr bwMode="auto">
          <a:xfrm>
            <a:off x="2674938" y="6254750"/>
            <a:ext cx="635000" cy="396875"/>
          </a:xfrm>
          <a:prstGeom prst="rect">
            <a:avLst/>
          </a:prstGeom>
          <a:noFill/>
          <a:ln w="9525">
            <a:noFill/>
            <a:miter lim="800000"/>
            <a:headEnd/>
            <a:tailEnd/>
          </a:ln>
          <a:effectLst/>
        </p:spPr>
        <p:txBody>
          <a:bodyPr wrap="none">
            <a:spAutoFit/>
          </a:bodyPr>
          <a:lstStyle/>
          <a:p>
            <a:pPr>
              <a:defRPr/>
            </a:pPr>
            <a:r>
              <a:rPr lang="en-US" sz="2000" b="1">
                <a:solidFill>
                  <a:schemeClr val="bg1"/>
                </a:solidFill>
              </a:rPr>
              <a:t>real</a:t>
            </a:r>
            <a:endParaRPr lang="en-US">
              <a:solidFill>
                <a:schemeClr val="bg1"/>
              </a:solidFill>
            </a:endParaRPr>
          </a:p>
        </p:txBody>
      </p:sp>
      <p:sp>
        <p:nvSpPr>
          <p:cNvPr id="1046" name="Text Box 22"/>
          <p:cNvSpPr txBox="1">
            <a:spLocks noChangeArrowheads="1"/>
          </p:cNvSpPr>
          <p:nvPr/>
        </p:nvSpPr>
        <p:spPr bwMode="auto">
          <a:xfrm>
            <a:off x="3698875" y="6276975"/>
            <a:ext cx="192088" cy="168275"/>
          </a:xfrm>
          <a:prstGeom prst="rect">
            <a:avLst/>
          </a:prstGeom>
          <a:noFill/>
          <a:ln w="9525">
            <a:noFill/>
            <a:miter lim="800000"/>
            <a:headEnd/>
            <a:tailEnd/>
          </a:ln>
          <a:effectLst/>
        </p:spPr>
        <p:txBody>
          <a:bodyPr>
            <a:spAutoFit/>
          </a:bodyPr>
          <a:lstStyle/>
          <a:p>
            <a:pPr>
              <a:defRPr/>
            </a:pPr>
            <a:r>
              <a:rPr lang="en-US" sz="500" b="1">
                <a:solidFill>
                  <a:schemeClr val="bg1"/>
                </a:solidFill>
              </a:rPr>
              <a:t>R</a:t>
            </a:r>
          </a:p>
        </p:txBody>
      </p:sp>
      <p:sp>
        <p:nvSpPr>
          <p:cNvPr id="1047" name="Oval 23"/>
          <p:cNvSpPr>
            <a:spLocks noChangeArrowheads="1"/>
          </p:cNvSpPr>
          <p:nvPr/>
        </p:nvSpPr>
        <p:spPr bwMode="auto">
          <a:xfrm>
            <a:off x="3765550" y="6313488"/>
            <a:ext cx="93663" cy="93662"/>
          </a:xfrm>
          <a:prstGeom prst="ellipse">
            <a:avLst/>
          </a:prstGeom>
          <a:noFill/>
          <a:ln w="9525">
            <a:solidFill>
              <a:schemeClr val="bg1"/>
            </a:solidFill>
            <a:round/>
            <a:headEnd/>
            <a:tailEnd/>
          </a:ln>
          <a:effectLst/>
        </p:spPr>
        <p:txBody>
          <a:bodyPr wrap="none"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663" r:id="rId1"/>
    <p:sldLayoutId id="2147483662" r:id="rId2"/>
    <p:sldLayoutId id="2147483661" r:id="rId3"/>
    <p:sldLayoutId id="2147483660" r:id="rId4"/>
    <p:sldLayoutId id="2147483659" r:id="rId5"/>
    <p:sldLayoutId id="2147483658" r:id="rId6"/>
    <p:sldLayoutId id="2147483657" r:id="rId7"/>
    <p:sldLayoutId id="2147483656" r:id="rId8"/>
    <p:sldLayoutId id="2147483655" r:id="rId9"/>
    <p:sldLayoutId id="2147483654" r:id="rId10"/>
    <p:sldLayoutId id="2147483653" r:id="rId11"/>
    <p:sldLayoutId id="2147483652" r:id="rId12"/>
    <p:sldLayoutId id="2147483651" r:id="rId13"/>
    <p:sldLayoutId id="2147483650" r:id="rId14"/>
  </p:sldLayoutIdLst>
  <p:txStyles>
    <p:titleStyle>
      <a:lvl1pPr algn="ctr" rtl="0" eaLnBrk="0" fontAlgn="base" hangingPunct="0">
        <a:spcBef>
          <a:spcPct val="0"/>
        </a:spcBef>
        <a:spcAft>
          <a:spcPct val="0"/>
        </a:spcAft>
        <a:defRPr sz="3200" b="1">
          <a:solidFill>
            <a:srgbClr val="103566"/>
          </a:solidFill>
          <a:latin typeface="+mj-lt"/>
          <a:ea typeface="+mj-ea"/>
          <a:cs typeface="+mj-cs"/>
        </a:defRPr>
      </a:lvl1pPr>
      <a:lvl2pPr algn="ctr" rtl="0" eaLnBrk="0" fontAlgn="base" hangingPunct="0">
        <a:spcBef>
          <a:spcPct val="0"/>
        </a:spcBef>
        <a:spcAft>
          <a:spcPct val="0"/>
        </a:spcAft>
        <a:defRPr sz="3200" b="1">
          <a:solidFill>
            <a:srgbClr val="103566"/>
          </a:solidFill>
          <a:latin typeface="Times New Roman" pitchFamily="18" charset="0"/>
        </a:defRPr>
      </a:lvl2pPr>
      <a:lvl3pPr algn="ctr" rtl="0" eaLnBrk="0" fontAlgn="base" hangingPunct="0">
        <a:spcBef>
          <a:spcPct val="0"/>
        </a:spcBef>
        <a:spcAft>
          <a:spcPct val="0"/>
        </a:spcAft>
        <a:defRPr sz="3200" b="1">
          <a:solidFill>
            <a:srgbClr val="103566"/>
          </a:solidFill>
          <a:latin typeface="Times New Roman" pitchFamily="18" charset="0"/>
        </a:defRPr>
      </a:lvl3pPr>
      <a:lvl4pPr algn="ctr" rtl="0" eaLnBrk="0" fontAlgn="base" hangingPunct="0">
        <a:spcBef>
          <a:spcPct val="0"/>
        </a:spcBef>
        <a:spcAft>
          <a:spcPct val="0"/>
        </a:spcAft>
        <a:defRPr sz="3200" b="1">
          <a:solidFill>
            <a:srgbClr val="103566"/>
          </a:solidFill>
          <a:latin typeface="Times New Roman" pitchFamily="18" charset="0"/>
        </a:defRPr>
      </a:lvl4pPr>
      <a:lvl5pPr algn="ctr" rtl="0" eaLnBrk="0" fontAlgn="base" hangingPunct="0">
        <a:spcBef>
          <a:spcPct val="0"/>
        </a:spcBef>
        <a:spcAft>
          <a:spcPct val="0"/>
        </a:spcAft>
        <a:defRPr sz="3200" b="1">
          <a:solidFill>
            <a:srgbClr val="103566"/>
          </a:solidFill>
          <a:latin typeface="Times New Roman" pitchFamily="18" charset="0"/>
        </a:defRPr>
      </a:lvl5pPr>
      <a:lvl6pPr marL="457200" algn="ctr" rtl="0" fontAlgn="base">
        <a:spcBef>
          <a:spcPct val="0"/>
        </a:spcBef>
        <a:spcAft>
          <a:spcPct val="0"/>
        </a:spcAft>
        <a:defRPr sz="3200" b="1">
          <a:solidFill>
            <a:srgbClr val="103566"/>
          </a:solidFill>
          <a:latin typeface="Times New Roman" pitchFamily="18" charset="0"/>
        </a:defRPr>
      </a:lvl6pPr>
      <a:lvl7pPr marL="914400" algn="ctr" rtl="0" fontAlgn="base">
        <a:spcBef>
          <a:spcPct val="0"/>
        </a:spcBef>
        <a:spcAft>
          <a:spcPct val="0"/>
        </a:spcAft>
        <a:defRPr sz="3200" b="1">
          <a:solidFill>
            <a:srgbClr val="103566"/>
          </a:solidFill>
          <a:latin typeface="Times New Roman" pitchFamily="18" charset="0"/>
        </a:defRPr>
      </a:lvl7pPr>
      <a:lvl8pPr marL="1371600" algn="ctr" rtl="0" fontAlgn="base">
        <a:spcBef>
          <a:spcPct val="0"/>
        </a:spcBef>
        <a:spcAft>
          <a:spcPct val="0"/>
        </a:spcAft>
        <a:defRPr sz="3200" b="1">
          <a:solidFill>
            <a:srgbClr val="103566"/>
          </a:solidFill>
          <a:latin typeface="Times New Roman" pitchFamily="18" charset="0"/>
        </a:defRPr>
      </a:lvl8pPr>
      <a:lvl9pPr marL="1828800" algn="ctr" rtl="0" fontAlgn="base">
        <a:spcBef>
          <a:spcPct val="0"/>
        </a:spcBef>
        <a:spcAft>
          <a:spcPct val="0"/>
        </a:spcAft>
        <a:defRPr sz="3200" b="1">
          <a:solidFill>
            <a:srgbClr val="103566"/>
          </a:solidFill>
          <a:latin typeface="Times New Roman" pitchFamily="18" charset="0"/>
        </a:defRPr>
      </a:lvl9pPr>
    </p:titleStyle>
    <p:bodyStyle>
      <a:lvl1pPr marL="342900" indent="-342900" algn="l" rtl="0" eaLnBrk="0" fontAlgn="base" hangingPunct="0">
        <a:spcBef>
          <a:spcPct val="20000"/>
        </a:spcBef>
        <a:spcAft>
          <a:spcPct val="0"/>
        </a:spcAft>
        <a:buClr>
          <a:srgbClr val="B1B1B1"/>
        </a:buClr>
        <a:buChar char="•"/>
        <a:defRPr sz="2800">
          <a:solidFill>
            <a:srgbClr val="103566"/>
          </a:solidFill>
          <a:latin typeface="+mn-lt"/>
          <a:ea typeface="+mn-ea"/>
          <a:cs typeface="+mn-cs"/>
        </a:defRPr>
      </a:lvl1pPr>
      <a:lvl2pPr marL="742950" indent="-285750" algn="l" rtl="0" eaLnBrk="0" fontAlgn="base" hangingPunct="0">
        <a:spcBef>
          <a:spcPct val="20000"/>
        </a:spcBef>
        <a:spcAft>
          <a:spcPct val="0"/>
        </a:spcAft>
        <a:buClr>
          <a:srgbClr val="B1B1B1"/>
        </a:buClr>
        <a:buChar char="–"/>
        <a:defRPr sz="2400">
          <a:solidFill>
            <a:srgbClr val="103566"/>
          </a:solidFill>
          <a:latin typeface="+mn-lt"/>
        </a:defRPr>
      </a:lvl2pPr>
      <a:lvl3pPr marL="1143000" indent="-228600" algn="l" rtl="0" eaLnBrk="0" fontAlgn="base" hangingPunct="0">
        <a:spcBef>
          <a:spcPct val="20000"/>
        </a:spcBef>
        <a:spcAft>
          <a:spcPct val="0"/>
        </a:spcAft>
        <a:buClr>
          <a:srgbClr val="B1B1B1"/>
        </a:buClr>
        <a:buChar char="•"/>
        <a:defRPr sz="2000">
          <a:solidFill>
            <a:srgbClr val="103566"/>
          </a:solidFill>
          <a:latin typeface="+mn-lt"/>
        </a:defRPr>
      </a:lvl3pPr>
      <a:lvl4pPr marL="1600200" indent="-228600" algn="l" rtl="0" eaLnBrk="0" fontAlgn="base" hangingPunct="0">
        <a:spcBef>
          <a:spcPct val="20000"/>
        </a:spcBef>
        <a:spcAft>
          <a:spcPct val="0"/>
        </a:spcAft>
        <a:buClr>
          <a:srgbClr val="B1B1B1"/>
        </a:buClr>
        <a:buChar char="–"/>
        <a:defRPr sz="2000">
          <a:solidFill>
            <a:srgbClr val="103566"/>
          </a:solidFill>
          <a:latin typeface="+mn-lt"/>
        </a:defRPr>
      </a:lvl4pPr>
      <a:lvl5pPr marL="2057400" indent="-228600" algn="l" rtl="0" eaLnBrk="0" fontAlgn="base" hangingPunct="0">
        <a:spcBef>
          <a:spcPct val="20000"/>
        </a:spcBef>
        <a:spcAft>
          <a:spcPct val="0"/>
        </a:spcAft>
        <a:buClr>
          <a:srgbClr val="B1B1B1"/>
        </a:buClr>
        <a:buChar char="»"/>
        <a:defRPr sz="1600">
          <a:solidFill>
            <a:srgbClr val="103566"/>
          </a:solidFill>
          <a:latin typeface="+mn-lt"/>
        </a:defRPr>
      </a:lvl5pPr>
      <a:lvl6pPr marL="2514600" indent="-228600" algn="l" rtl="0" fontAlgn="base">
        <a:spcBef>
          <a:spcPct val="20000"/>
        </a:spcBef>
        <a:spcAft>
          <a:spcPct val="0"/>
        </a:spcAft>
        <a:buClr>
          <a:srgbClr val="B1B1B1"/>
        </a:buClr>
        <a:buChar char="»"/>
        <a:defRPr sz="1600">
          <a:solidFill>
            <a:srgbClr val="103566"/>
          </a:solidFill>
          <a:latin typeface="+mn-lt"/>
        </a:defRPr>
      </a:lvl6pPr>
      <a:lvl7pPr marL="2971800" indent="-228600" algn="l" rtl="0" fontAlgn="base">
        <a:spcBef>
          <a:spcPct val="20000"/>
        </a:spcBef>
        <a:spcAft>
          <a:spcPct val="0"/>
        </a:spcAft>
        <a:buClr>
          <a:srgbClr val="B1B1B1"/>
        </a:buClr>
        <a:buChar char="»"/>
        <a:defRPr sz="1600">
          <a:solidFill>
            <a:srgbClr val="103566"/>
          </a:solidFill>
          <a:latin typeface="+mn-lt"/>
        </a:defRPr>
      </a:lvl7pPr>
      <a:lvl8pPr marL="3429000" indent="-228600" algn="l" rtl="0" fontAlgn="base">
        <a:spcBef>
          <a:spcPct val="20000"/>
        </a:spcBef>
        <a:spcAft>
          <a:spcPct val="0"/>
        </a:spcAft>
        <a:buClr>
          <a:srgbClr val="B1B1B1"/>
        </a:buClr>
        <a:buChar char="»"/>
        <a:defRPr sz="1600">
          <a:solidFill>
            <a:srgbClr val="103566"/>
          </a:solidFill>
          <a:latin typeface="+mn-lt"/>
        </a:defRPr>
      </a:lvl8pPr>
      <a:lvl9pPr marL="3886200" indent="-228600" algn="l" rtl="0" fontAlgn="base">
        <a:spcBef>
          <a:spcPct val="20000"/>
        </a:spcBef>
        <a:spcAft>
          <a:spcPct val="0"/>
        </a:spcAft>
        <a:buClr>
          <a:srgbClr val="B1B1B1"/>
        </a:buClr>
        <a:buChar char="»"/>
        <a:defRPr sz="1600">
          <a:solidFill>
            <a:srgbClr val="1035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4.xml"/><Relationship Id="rId7" Type="http://schemas.openxmlformats.org/officeDocument/2006/relationships/image" Target="../media/image9.gi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image" Target="../media/image7.wmf"/><Relationship Id="rId4" Type="http://schemas.openxmlformats.org/officeDocument/2006/relationships/oleObject" Target="../embeddings/oleObject1.bin"/><Relationship Id="rId9"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4.xml"/><Relationship Id="rId1" Type="http://schemas.openxmlformats.org/officeDocument/2006/relationships/vmlDrawing" Target="../drawings/vmlDrawing2.v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4.xml"/><Relationship Id="rId1" Type="http://schemas.openxmlformats.org/officeDocument/2006/relationships/vmlDrawing" Target="../drawings/vmlDrawing3.v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4.xml"/><Relationship Id="rId1" Type="http://schemas.openxmlformats.org/officeDocument/2006/relationships/vmlDrawing" Target="../drawings/vmlDrawing4.v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vmlDrawing" Target="../drawings/vmlDrawing5.vml"/><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6" descr="hopscotch2"/>
          <p:cNvPicPr>
            <a:picLocks noChangeAspect="1" noChangeArrowheads="1"/>
          </p:cNvPicPr>
          <p:nvPr/>
        </p:nvPicPr>
        <p:blipFill>
          <a:blip r:embed="rId3" cstate="print"/>
          <a:srcRect/>
          <a:stretch>
            <a:fillRect/>
          </a:stretch>
        </p:blipFill>
        <p:spPr bwMode="auto">
          <a:xfrm>
            <a:off x="0" y="2857500"/>
            <a:ext cx="9144000" cy="2971800"/>
          </a:xfrm>
          <a:prstGeom prst="rect">
            <a:avLst/>
          </a:prstGeom>
          <a:noFill/>
          <a:ln w="9525">
            <a:noFill/>
            <a:miter lim="800000"/>
            <a:headEnd/>
            <a:tailEnd/>
          </a:ln>
        </p:spPr>
      </p:pic>
      <p:sp>
        <p:nvSpPr>
          <p:cNvPr id="18434" name="Rectangle 4"/>
          <p:cNvSpPr>
            <a:spLocks noGrp="1" noChangeArrowheads="1"/>
          </p:cNvSpPr>
          <p:nvPr>
            <p:ph type="ctrTitle"/>
          </p:nvPr>
        </p:nvSpPr>
        <p:spPr>
          <a:xfrm>
            <a:off x="285750" y="188913"/>
            <a:ext cx="8640763" cy="2828925"/>
          </a:xfrm>
        </p:spPr>
        <p:txBody>
          <a:bodyPr/>
          <a:lstStyle/>
          <a:p>
            <a:pPr eaLnBrk="1" hangingPunct="1"/>
            <a:r>
              <a:rPr lang="en-AU" smtClean="0"/>
              <a:t>How well are Australian children doing in the first year of school?</a:t>
            </a:r>
            <a:r>
              <a:rPr lang="en-AU" i="1" smtClean="0"/>
              <a:t/>
            </a:r>
            <a:br>
              <a:rPr lang="en-AU" i="1" smtClean="0"/>
            </a:br>
            <a:r>
              <a:rPr lang="en-AU" i="1" smtClean="0"/>
              <a:t>A demographic analysis</a:t>
            </a:r>
            <a:br>
              <a:rPr lang="en-AU" i="1" smtClean="0"/>
            </a:br>
            <a:r>
              <a:rPr lang="en-AU" sz="2400" smtClean="0"/>
              <a:t>Donna Berthelsen &amp; Sue Walker</a:t>
            </a:r>
            <a:r>
              <a:rPr lang="en-AU" sz="2800" i="1" smtClean="0"/>
              <a:t/>
            </a:r>
            <a:br>
              <a:rPr lang="en-AU" sz="2800" i="1" smtClean="0"/>
            </a:br>
            <a:r>
              <a:rPr lang="en-AU" sz="2000" i="1" smtClean="0"/>
              <a:t>Centre for Learning Innovation</a:t>
            </a:r>
            <a:br>
              <a:rPr lang="en-AU" sz="2000" i="1" smtClean="0"/>
            </a:br>
            <a:r>
              <a:rPr lang="en-AU" sz="2000" i="1" smtClean="0"/>
              <a:t> Queensland University of Technology</a:t>
            </a:r>
            <a:br>
              <a:rPr lang="en-AU" sz="2000" i="1" smtClean="0"/>
            </a:br>
            <a:r>
              <a:rPr lang="en-AU" sz="2000" i="1" smtClean="0"/>
              <a:t>Brisbane, Australia</a:t>
            </a:r>
            <a:endParaRPr lang="en-US" sz="2000" i="1"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idx="4294967295"/>
          </p:nvPr>
        </p:nvSpPr>
        <p:spPr>
          <a:xfrm>
            <a:off x="468313" y="0"/>
            <a:ext cx="8229600" cy="649288"/>
          </a:xfrm>
        </p:spPr>
        <p:txBody>
          <a:bodyPr/>
          <a:lstStyle/>
          <a:p>
            <a:r>
              <a:rPr lang="en-AU" sz="3600" smtClean="0"/>
              <a:t>Beginning School </a:t>
            </a:r>
            <a:endParaRPr lang="en-US" sz="3600" smtClean="0"/>
          </a:p>
        </p:txBody>
      </p:sp>
      <p:sp>
        <p:nvSpPr>
          <p:cNvPr id="20482" name="Rectangle 3"/>
          <p:cNvSpPr>
            <a:spLocks noGrp="1" noChangeArrowheads="1"/>
          </p:cNvSpPr>
          <p:nvPr>
            <p:ph type="body" idx="4294967295"/>
          </p:nvPr>
        </p:nvSpPr>
        <p:spPr>
          <a:xfrm>
            <a:off x="179388" y="765175"/>
            <a:ext cx="8785225" cy="5111750"/>
          </a:xfrm>
        </p:spPr>
        <p:txBody>
          <a:bodyPr/>
          <a:lstStyle/>
          <a:p>
            <a:pPr>
              <a:lnSpc>
                <a:spcPct val="90000"/>
              </a:lnSpc>
            </a:pPr>
            <a:r>
              <a:rPr lang="en-US" sz="2400" b="1" i="1" smtClean="0"/>
              <a:t>When children begin school</a:t>
            </a:r>
            <a:r>
              <a:rPr lang="en-US" sz="2400" smtClean="0"/>
              <a:t>, they do not all begin with the literacy and numeracy skills required to succeed in the academic environment over time; nor do many children begin school with the social and behavioural skills necessary for successful engagement in the school environment. </a:t>
            </a:r>
            <a:r>
              <a:rPr lang="en-AU" sz="2400" smtClean="0"/>
              <a:t> </a:t>
            </a:r>
          </a:p>
          <a:p>
            <a:pPr>
              <a:lnSpc>
                <a:spcPct val="90000"/>
              </a:lnSpc>
            </a:pPr>
            <a:r>
              <a:rPr lang="en-AU" sz="2400" b="1" i="1" smtClean="0"/>
              <a:t>The academic, social and behavioural skills</a:t>
            </a:r>
            <a:r>
              <a:rPr lang="en-AU" sz="2400" smtClean="0"/>
              <a:t> that children hold when they begin formal school show substantial stability throughout the school years. </a:t>
            </a:r>
          </a:p>
          <a:p>
            <a:pPr>
              <a:lnSpc>
                <a:spcPct val="90000"/>
              </a:lnSpc>
            </a:pPr>
            <a:r>
              <a:rPr lang="en-US" sz="2400" b="1" i="1" smtClean="0"/>
              <a:t>If there are child and family risk factors</a:t>
            </a:r>
            <a:r>
              <a:rPr lang="en-US" sz="2400" smtClean="0"/>
              <a:t>, the chances increase that there will be a mismatch between what children bring to their first grade experiences and what schools expect of them if they are to succeed.</a:t>
            </a:r>
          </a:p>
          <a:p>
            <a:pPr>
              <a:lnSpc>
                <a:spcPct val="90000"/>
              </a:lnSpc>
              <a:buFontTx/>
              <a:buNone/>
            </a:pPr>
            <a:r>
              <a:rPr lang="en-AU" sz="2000" b="1" i="1" smtClean="0"/>
              <a:t>Sources:</a:t>
            </a:r>
            <a:r>
              <a:rPr lang="en-AU" sz="2000" smtClean="0"/>
              <a:t> </a:t>
            </a:r>
            <a:r>
              <a:rPr lang="en-US" sz="2000" smtClean="0"/>
              <a:t>Brooks-Gunn &amp; Duncan, 1997;</a:t>
            </a:r>
            <a:r>
              <a:rPr lang="en-AU" sz="2000" smtClean="0"/>
              <a:t> La Paro &amp; Pianta, 2000; Mashburn, &amp; Pianta, 2006; NICHD Early Childhood Research Network, 2003, 2005.</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a:xfrm>
            <a:off x="468313" y="260350"/>
            <a:ext cx="8229600" cy="576263"/>
          </a:xfrm>
        </p:spPr>
        <p:txBody>
          <a:bodyPr/>
          <a:lstStyle/>
          <a:p>
            <a:r>
              <a:rPr lang="en-US" smtClean="0"/>
              <a:t>Demographic Context</a:t>
            </a:r>
          </a:p>
        </p:txBody>
      </p:sp>
      <p:sp>
        <p:nvSpPr>
          <p:cNvPr id="21506" name="Rectangle 3"/>
          <p:cNvSpPr>
            <a:spLocks noGrp="1" noChangeArrowheads="1"/>
          </p:cNvSpPr>
          <p:nvPr>
            <p:ph type="body" idx="4294967295"/>
          </p:nvPr>
        </p:nvSpPr>
        <p:spPr>
          <a:xfrm>
            <a:off x="179388" y="1125538"/>
            <a:ext cx="8785225" cy="4751387"/>
          </a:xfrm>
        </p:spPr>
        <p:txBody>
          <a:bodyPr/>
          <a:lstStyle/>
          <a:p>
            <a:pPr>
              <a:lnSpc>
                <a:spcPct val="80000"/>
              </a:lnSpc>
              <a:buFontTx/>
              <a:buNone/>
            </a:pPr>
            <a:r>
              <a:rPr lang="en-US" sz="2400" b="1" smtClean="0"/>
              <a:t>Australia's population of almost 22 million is one of the most culturally and linguistically diverse populations in the world, as result of a British colonial past and extensive immigration from many different countries and cultures. </a:t>
            </a:r>
          </a:p>
          <a:p>
            <a:pPr lvl="1">
              <a:lnSpc>
                <a:spcPct val="80000"/>
              </a:lnSpc>
            </a:pPr>
            <a:r>
              <a:rPr lang="en-US" sz="2000" smtClean="0"/>
              <a:t>3.5% of Australians have an Indigenous backgrounds </a:t>
            </a:r>
          </a:p>
          <a:p>
            <a:pPr lvl="1">
              <a:lnSpc>
                <a:spcPct val="80000"/>
              </a:lnSpc>
            </a:pPr>
            <a:r>
              <a:rPr lang="en-US" sz="2000" smtClean="0"/>
              <a:t>41% have at least one parent who has born overseas. </a:t>
            </a:r>
          </a:p>
          <a:p>
            <a:pPr lvl="1">
              <a:lnSpc>
                <a:spcPct val="80000"/>
              </a:lnSpc>
            </a:pPr>
            <a:r>
              <a:rPr lang="en-US" sz="2000" smtClean="0"/>
              <a:t>22% were born in another country (England, New Zealand, China). </a:t>
            </a:r>
          </a:p>
          <a:p>
            <a:pPr lvl="1">
              <a:lnSpc>
                <a:spcPct val="80000"/>
              </a:lnSpc>
            </a:pPr>
            <a:r>
              <a:rPr lang="en-US" sz="2000" smtClean="0"/>
              <a:t>14% were born in non-English speaking countries </a:t>
            </a:r>
          </a:p>
          <a:p>
            <a:pPr>
              <a:lnSpc>
                <a:spcPct val="80000"/>
              </a:lnSpc>
              <a:buFontTx/>
              <a:buNone/>
            </a:pPr>
            <a:r>
              <a:rPr lang="en-US" sz="2400" b="1" smtClean="0"/>
              <a:t>Collectively, Australians speak over 200 languages</a:t>
            </a:r>
            <a:r>
              <a:rPr lang="en-US" sz="2400" smtClean="0"/>
              <a:t>. </a:t>
            </a:r>
          </a:p>
          <a:p>
            <a:pPr lvl="1">
              <a:lnSpc>
                <a:spcPct val="80000"/>
              </a:lnSpc>
            </a:pPr>
            <a:r>
              <a:rPr lang="en-US" sz="2000" smtClean="0"/>
              <a:t>Languages other than English are spoken by about 16% of the population with about 56,000 people speaking an Indigenous language. </a:t>
            </a:r>
          </a:p>
          <a:p>
            <a:pPr lvl="1">
              <a:lnSpc>
                <a:spcPct val="80000"/>
              </a:lnSpc>
            </a:pPr>
            <a:r>
              <a:rPr lang="en-US" sz="2000" smtClean="0"/>
              <a:t>Most common languages are Chinese, Vietnamese, Italian, Greek, Arabic. </a:t>
            </a:r>
          </a:p>
          <a:p>
            <a:pPr>
              <a:lnSpc>
                <a:spcPct val="80000"/>
              </a:lnSpc>
              <a:buFontTx/>
              <a:buNone/>
            </a:pPr>
            <a:r>
              <a:rPr lang="en-AU" sz="2400" b="1" smtClean="0"/>
              <a:t>5.5 million immigrants from over 200 countries living in Australia were born overseas, as at June 2008. </a:t>
            </a:r>
            <a:endParaRPr lang="en-US" sz="2400" b="1"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a:xfrm>
            <a:off x="539750" y="115888"/>
            <a:ext cx="8229600" cy="692150"/>
          </a:xfrm>
        </p:spPr>
        <p:txBody>
          <a:bodyPr/>
          <a:lstStyle/>
          <a:p>
            <a:r>
              <a:rPr lang="en-AU" sz="3600" smtClean="0"/>
              <a:t>School Context</a:t>
            </a:r>
            <a:endParaRPr lang="en-US" sz="2800" b="0" smtClean="0"/>
          </a:p>
        </p:txBody>
      </p:sp>
      <p:sp>
        <p:nvSpPr>
          <p:cNvPr id="22530" name="Rectangle 3"/>
          <p:cNvSpPr>
            <a:spLocks noGrp="1" noChangeArrowheads="1"/>
          </p:cNvSpPr>
          <p:nvPr>
            <p:ph type="body" idx="4294967295"/>
          </p:nvPr>
        </p:nvSpPr>
        <p:spPr>
          <a:xfrm>
            <a:off x="179388" y="836613"/>
            <a:ext cx="8785225" cy="5040312"/>
          </a:xfrm>
        </p:spPr>
        <p:txBody>
          <a:bodyPr/>
          <a:lstStyle/>
          <a:p>
            <a:pPr>
              <a:lnSpc>
                <a:spcPct val="90000"/>
              </a:lnSpc>
              <a:buFontTx/>
              <a:buNone/>
            </a:pPr>
            <a:r>
              <a:rPr lang="en-US" sz="2400" b="1" smtClean="0"/>
              <a:t>Students in schools who are considered to have special needs:</a:t>
            </a:r>
          </a:p>
          <a:p>
            <a:pPr lvl="1">
              <a:lnSpc>
                <a:spcPct val="90000"/>
              </a:lnSpc>
            </a:pPr>
            <a:r>
              <a:rPr lang="en-US" smtClean="0"/>
              <a:t>Indigenous: Aboriginal and Torres Strait Islanders (ATSI)</a:t>
            </a:r>
          </a:p>
          <a:p>
            <a:pPr lvl="1">
              <a:lnSpc>
                <a:spcPct val="90000"/>
              </a:lnSpc>
            </a:pPr>
            <a:r>
              <a:rPr lang="en-US" smtClean="0"/>
              <a:t>Language Background Other Than English at home (LBOTE)</a:t>
            </a:r>
          </a:p>
          <a:p>
            <a:pPr lvl="1">
              <a:lnSpc>
                <a:spcPct val="90000"/>
              </a:lnSpc>
            </a:pPr>
            <a:r>
              <a:rPr lang="en-US" smtClean="0"/>
              <a:t>Students from families of low socioeconomic status.</a:t>
            </a:r>
          </a:p>
          <a:p>
            <a:pPr>
              <a:lnSpc>
                <a:spcPct val="90000"/>
              </a:lnSpc>
              <a:buFontTx/>
              <a:buNone/>
            </a:pPr>
            <a:r>
              <a:rPr lang="en-US" sz="2400" b="1" smtClean="0"/>
              <a:t>Indigenous students</a:t>
            </a:r>
          </a:p>
          <a:p>
            <a:pPr lvl="1">
              <a:lnSpc>
                <a:spcPct val="90000"/>
              </a:lnSpc>
            </a:pPr>
            <a:r>
              <a:rPr lang="en-US" smtClean="0"/>
              <a:t>Proportion of ATSI students across Australian schools is 4.3%</a:t>
            </a:r>
          </a:p>
          <a:p>
            <a:pPr>
              <a:lnSpc>
                <a:spcPct val="90000"/>
              </a:lnSpc>
              <a:buFontTx/>
              <a:buNone/>
            </a:pPr>
            <a:r>
              <a:rPr lang="en-US" sz="2400" b="1" smtClean="0"/>
              <a:t>LBOTE students </a:t>
            </a:r>
            <a:r>
              <a:rPr lang="en-US" sz="2400" smtClean="0"/>
              <a:t>(home language is not English or they have at least one parent born in a non-English speaking country).</a:t>
            </a:r>
          </a:p>
          <a:p>
            <a:pPr lvl="1">
              <a:lnSpc>
                <a:spcPct val="90000"/>
              </a:lnSpc>
            </a:pPr>
            <a:r>
              <a:rPr lang="en-US" smtClean="0"/>
              <a:t>Proportion of LBOTE students across Australian schools is  21.5%.</a:t>
            </a:r>
          </a:p>
          <a:p>
            <a:pPr lvl="1">
              <a:lnSpc>
                <a:spcPct val="90000"/>
              </a:lnSpc>
              <a:buFontTx/>
              <a:buNone/>
            </a:pPr>
            <a:endParaRPr lang="en-US" smtClean="0"/>
          </a:p>
          <a:p>
            <a:pPr>
              <a:lnSpc>
                <a:spcPct val="90000"/>
              </a:lnSpc>
              <a:buFontTx/>
              <a:buNone/>
            </a:pPr>
            <a:r>
              <a:rPr lang="en-US" sz="2000" b="1" i="1" smtClean="0"/>
              <a:t>Sources:</a:t>
            </a:r>
            <a:r>
              <a:rPr lang="en-US" sz="2000" smtClean="0"/>
              <a:t> Australian Bureau of Statistics (ABS) Schools Australia 2007; Report on Government Services, 2009).</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idx="4294967295"/>
          </p:nvPr>
        </p:nvSpPr>
        <p:spPr>
          <a:xfrm>
            <a:off x="107950" y="115888"/>
            <a:ext cx="8856663" cy="936625"/>
          </a:xfrm>
        </p:spPr>
        <p:txBody>
          <a:bodyPr/>
          <a:lstStyle/>
          <a:p>
            <a:r>
              <a:rPr lang="en-AU" smtClean="0"/>
              <a:t>Policy Context</a:t>
            </a:r>
            <a:endParaRPr lang="en-US" smtClean="0"/>
          </a:p>
        </p:txBody>
      </p:sp>
      <p:sp>
        <p:nvSpPr>
          <p:cNvPr id="23554" name="Rectangle 3"/>
          <p:cNvSpPr>
            <a:spLocks noGrp="1" noChangeArrowheads="1"/>
          </p:cNvSpPr>
          <p:nvPr>
            <p:ph type="body" idx="4294967295"/>
          </p:nvPr>
        </p:nvSpPr>
        <p:spPr>
          <a:xfrm>
            <a:off x="179388" y="1052513"/>
            <a:ext cx="8713787" cy="4752975"/>
          </a:xfrm>
        </p:spPr>
        <p:txBody>
          <a:bodyPr/>
          <a:lstStyle/>
          <a:p>
            <a:pPr marL="457200" indent="-457200">
              <a:lnSpc>
                <a:spcPct val="90000"/>
              </a:lnSpc>
              <a:buFontTx/>
              <a:buNone/>
            </a:pPr>
            <a:r>
              <a:rPr lang="en-US" sz="2400" b="1" smtClean="0"/>
              <a:t>National Goals for Schooling - </a:t>
            </a:r>
            <a:r>
              <a:rPr lang="en-US" sz="2400" b="1" i="1" smtClean="0"/>
              <a:t>Schooling should be </a:t>
            </a:r>
            <a:r>
              <a:rPr lang="en-US" sz="2400" b="1" i="1" u="sng" smtClean="0"/>
              <a:t>socially just</a:t>
            </a:r>
            <a:r>
              <a:rPr lang="en-US" sz="2400" b="1" i="1" smtClean="0"/>
              <a:t> so that:</a:t>
            </a:r>
          </a:p>
          <a:p>
            <a:pPr marL="838200" lvl="1" indent="-381000">
              <a:lnSpc>
                <a:spcPct val="90000"/>
              </a:lnSpc>
            </a:pPr>
            <a:r>
              <a:rPr lang="en-US" smtClean="0"/>
              <a:t>Outcomes from schooling are free from discrimination  - sex, language, culture and ethnicity, religion or disability; and of differences arising from socioeconomic background;</a:t>
            </a:r>
          </a:p>
          <a:p>
            <a:pPr marL="838200" lvl="1" indent="-381000">
              <a:lnSpc>
                <a:spcPct val="90000"/>
              </a:lnSpc>
            </a:pPr>
            <a:r>
              <a:rPr lang="en-US" smtClean="0"/>
              <a:t>Learning outcomes of educationally disadvantaged students should improve and, over time, match those of other students;</a:t>
            </a:r>
          </a:p>
          <a:p>
            <a:pPr marL="838200" lvl="1" indent="-381000">
              <a:lnSpc>
                <a:spcPct val="90000"/>
              </a:lnSpc>
            </a:pPr>
            <a:r>
              <a:rPr lang="en-US" smtClean="0"/>
              <a:t>ATSI students have equitable access to, and opportunities in, schooling so that learning outcomes improve and, over time, match those of other students; </a:t>
            </a:r>
          </a:p>
          <a:p>
            <a:pPr marL="838200" lvl="1" indent="-381000">
              <a:lnSpc>
                <a:spcPct val="90000"/>
              </a:lnSpc>
            </a:pPr>
            <a:r>
              <a:rPr lang="en-US" smtClean="0"/>
              <a:t>All students have access to high quality education necessary to complete school to Year 12 (or its vocational equivalent).</a:t>
            </a:r>
          </a:p>
          <a:p>
            <a:pPr marL="838200" lvl="1" indent="-381000">
              <a:lnSpc>
                <a:spcPct val="90000"/>
              </a:lnSpc>
              <a:buFontTx/>
              <a:buNone/>
            </a:pPr>
            <a:r>
              <a:rPr lang="en-US" sz="1800" b="1" i="1" smtClean="0"/>
              <a:t>Source:</a:t>
            </a:r>
            <a:r>
              <a:rPr lang="en-US" sz="1800" smtClean="0"/>
              <a:t> Adapted from MCEETYA (1999).</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7"/>
          <p:cNvSpPr>
            <a:spLocks noGrp="1" noChangeArrowheads="1"/>
          </p:cNvSpPr>
          <p:nvPr>
            <p:ph type="title" idx="4294967295"/>
          </p:nvPr>
        </p:nvSpPr>
        <p:spPr>
          <a:xfrm>
            <a:off x="323850" y="115888"/>
            <a:ext cx="8642350" cy="1081087"/>
          </a:xfrm>
        </p:spPr>
        <p:txBody>
          <a:bodyPr/>
          <a:lstStyle/>
          <a:p>
            <a:r>
              <a:rPr lang="en-AU" sz="3000" smtClean="0"/>
              <a:t>There are significant concerns by policy makers about school completion rates … SES and Sex</a:t>
            </a:r>
            <a:endParaRPr lang="en-US" sz="3000" smtClean="0"/>
          </a:p>
        </p:txBody>
      </p:sp>
      <p:graphicFrame>
        <p:nvGraphicFramePr>
          <p:cNvPr id="23589" name="Group 37"/>
          <p:cNvGraphicFramePr>
            <a:graphicFrameLocks noGrp="1"/>
          </p:cNvGraphicFramePr>
          <p:nvPr/>
        </p:nvGraphicFramePr>
        <p:xfrm>
          <a:off x="179388" y="1557338"/>
          <a:ext cx="8785225" cy="2593976"/>
        </p:xfrm>
        <a:graphic>
          <a:graphicData uri="http://schemas.openxmlformats.org/drawingml/2006/table">
            <a:tbl>
              <a:tblPr/>
              <a:tblGrid>
                <a:gridCol w="1944687"/>
                <a:gridCol w="1892300"/>
                <a:gridCol w="1924050"/>
                <a:gridCol w="3024188"/>
              </a:tblGrid>
              <a:tr h="503238">
                <a:tc>
                  <a:txBody>
                    <a:bodyPr/>
                    <a:lstStyle/>
                    <a:p>
                      <a:pPr marL="0" marR="0" lvl="0" indent="0" algn="l" defTabSz="914400" rtl="0" eaLnBrk="0" fontAlgn="base" latinLnBrk="0" hangingPunct="0">
                        <a:lnSpc>
                          <a:spcPct val="100000"/>
                        </a:lnSpc>
                        <a:spcBef>
                          <a:spcPct val="20000"/>
                        </a:spcBef>
                        <a:spcAft>
                          <a:spcPct val="0"/>
                        </a:spcAft>
                        <a:buClr>
                          <a:srgbClr val="B1B1B1"/>
                        </a:buClr>
                        <a:buSzTx/>
                        <a:buFontTx/>
                        <a:buNone/>
                        <a:tabLst/>
                      </a:pP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1" i="0" u="none" strike="noStrike" cap="none" normalizeH="0" baseline="0" smtClean="0">
                          <a:ln>
                            <a:noFill/>
                          </a:ln>
                          <a:solidFill>
                            <a:srgbClr val="103566"/>
                          </a:solidFill>
                          <a:effectLst/>
                          <a:latin typeface="Times New Roman" pitchFamily="18" charset="0"/>
                        </a:rPr>
                        <a:t>Male</a:t>
                      </a:r>
                      <a:endParaRPr kumimoji="0" lang="en-US" sz="2400" b="1"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1" i="0" u="none" strike="noStrike" cap="none" normalizeH="0" baseline="0" smtClean="0">
                          <a:ln>
                            <a:noFill/>
                          </a:ln>
                          <a:solidFill>
                            <a:srgbClr val="103566"/>
                          </a:solidFill>
                          <a:effectLst/>
                          <a:latin typeface="Times New Roman" pitchFamily="18" charset="0"/>
                        </a:rPr>
                        <a:t>Female</a:t>
                      </a:r>
                      <a:endParaRPr kumimoji="0" lang="en-US" sz="2400" b="1"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1" i="0" u="none" strike="noStrike" cap="none" normalizeH="0" baseline="0" smtClean="0">
                          <a:ln>
                            <a:noFill/>
                          </a:ln>
                          <a:solidFill>
                            <a:srgbClr val="103566"/>
                          </a:solidFill>
                          <a:effectLst/>
                          <a:latin typeface="Times New Roman" pitchFamily="18" charset="0"/>
                        </a:rPr>
                        <a:t>All students</a:t>
                      </a:r>
                      <a:endParaRPr kumimoji="0" lang="en-US" sz="2400" b="1"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l" defTabSz="914400" rtl="0" eaLnBrk="0" fontAlgn="base" latinLnBrk="0" hangingPunct="0">
                        <a:lnSpc>
                          <a:spcPct val="100000"/>
                        </a:lnSpc>
                        <a:spcBef>
                          <a:spcPct val="20000"/>
                        </a:spcBef>
                        <a:spcAft>
                          <a:spcPct val="0"/>
                        </a:spcAft>
                        <a:buClr>
                          <a:srgbClr val="B1B1B1"/>
                        </a:buClr>
                        <a:buSzTx/>
                        <a:buFontTx/>
                        <a:buNone/>
                        <a:tabLst/>
                      </a:pPr>
                      <a:r>
                        <a:rPr kumimoji="0" lang="en-AU" sz="2400" b="1" i="0" u="none" strike="noStrike" cap="none" normalizeH="0" baseline="0" smtClean="0">
                          <a:ln>
                            <a:noFill/>
                          </a:ln>
                          <a:solidFill>
                            <a:srgbClr val="103566"/>
                          </a:solidFill>
                          <a:effectLst/>
                          <a:latin typeface="Times New Roman" pitchFamily="18" charset="0"/>
                        </a:rPr>
                        <a:t>Low SES </a:t>
                      </a:r>
                      <a:endParaRPr kumimoji="0" lang="en-US" sz="2400" b="1"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52% </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66%</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59%</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0" fontAlgn="base" latinLnBrk="0" hangingPunct="0">
                        <a:lnSpc>
                          <a:spcPct val="100000"/>
                        </a:lnSpc>
                        <a:spcBef>
                          <a:spcPct val="20000"/>
                        </a:spcBef>
                        <a:spcAft>
                          <a:spcPct val="0"/>
                        </a:spcAft>
                        <a:buClr>
                          <a:srgbClr val="B1B1B1"/>
                        </a:buClr>
                        <a:buSzTx/>
                        <a:buFontTx/>
                        <a:buNone/>
                        <a:tabLst/>
                      </a:pPr>
                      <a:r>
                        <a:rPr kumimoji="0" lang="en-AU" sz="2400" b="1" i="0" u="none" strike="noStrike" cap="none" normalizeH="0" baseline="0" smtClean="0">
                          <a:ln>
                            <a:noFill/>
                          </a:ln>
                          <a:solidFill>
                            <a:srgbClr val="103566"/>
                          </a:solidFill>
                          <a:effectLst/>
                          <a:latin typeface="Times New Roman" pitchFamily="18" charset="0"/>
                        </a:rPr>
                        <a:t>Medium SES</a:t>
                      </a:r>
                      <a:endParaRPr kumimoji="0" lang="en-US" sz="2400" b="1"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57% </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71%</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64%</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0" fontAlgn="base" latinLnBrk="0" hangingPunct="0">
                        <a:lnSpc>
                          <a:spcPct val="100000"/>
                        </a:lnSpc>
                        <a:spcBef>
                          <a:spcPct val="20000"/>
                        </a:spcBef>
                        <a:spcAft>
                          <a:spcPct val="0"/>
                        </a:spcAft>
                        <a:buClr>
                          <a:srgbClr val="B1B1B1"/>
                        </a:buClr>
                        <a:buSzTx/>
                        <a:buFontTx/>
                        <a:buNone/>
                        <a:tabLst/>
                      </a:pPr>
                      <a:r>
                        <a:rPr kumimoji="0" lang="en-AU" sz="2400" b="1" i="0" u="none" strike="noStrike" cap="none" normalizeH="0" baseline="0" smtClean="0">
                          <a:ln>
                            <a:noFill/>
                          </a:ln>
                          <a:solidFill>
                            <a:srgbClr val="103566"/>
                          </a:solidFill>
                          <a:effectLst/>
                          <a:latin typeface="Times New Roman" pitchFamily="18" charset="0"/>
                        </a:rPr>
                        <a:t>High SES</a:t>
                      </a:r>
                      <a:endParaRPr kumimoji="0" lang="en-US" sz="2400" b="1"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72%  </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82%</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0" i="0" u="none" strike="noStrike" cap="none" normalizeH="0" baseline="0" smtClean="0">
                          <a:ln>
                            <a:noFill/>
                          </a:ln>
                          <a:solidFill>
                            <a:srgbClr val="103566"/>
                          </a:solidFill>
                          <a:effectLst/>
                          <a:latin typeface="Times New Roman" pitchFamily="18" charset="0"/>
                        </a:rPr>
                        <a:t>77%</a:t>
                      </a:r>
                      <a:endParaRPr kumimoji="0" lang="en-US" sz="2400" b="0" i="0" u="none" strike="noStrike" cap="none" normalizeH="0" baseline="0" smtClean="0">
                        <a:ln>
                          <a:noFill/>
                        </a:ln>
                        <a:solidFill>
                          <a:srgbClr val="103566"/>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450">
                <a:tc>
                  <a:txBody>
                    <a:bodyPr/>
                    <a:lstStyle/>
                    <a:p>
                      <a:pPr marL="0" marR="0" lvl="0" indent="0" algn="l" defTabSz="914400" rtl="0" eaLnBrk="0" fontAlgn="base" latinLnBrk="0" hangingPunct="0">
                        <a:lnSpc>
                          <a:spcPct val="100000"/>
                        </a:lnSpc>
                        <a:spcBef>
                          <a:spcPct val="20000"/>
                        </a:spcBef>
                        <a:spcAft>
                          <a:spcPct val="0"/>
                        </a:spcAft>
                        <a:buClr>
                          <a:srgbClr val="B1B1B1"/>
                        </a:buClr>
                        <a:buSzTx/>
                        <a:buFontTx/>
                        <a:buNone/>
                        <a:tabLst/>
                      </a:pPr>
                      <a:r>
                        <a:rPr kumimoji="0" lang="en-AU" sz="2400" b="1" i="1" u="none" strike="noStrike" cap="none" normalizeH="0" baseline="0" smtClean="0">
                          <a:ln>
                            <a:noFill/>
                          </a:ln>
                          <a:solidFill>
                            <a:srgbClr val="FF3300"/>
                          </a:solidFill>
                          <a:effectLst/>
                          <a:latin typeface="Times New Roman" pitchFamily="18" charset="0"/>
                        </a:rPr>
                        <a:t>All students</a:t>
                      </a:r>
                      <a:endParaRPr kumimoji="0" lang="en-US" sz="2400" b="1" i="1" u="none" strike="noStrike" cap="none" normalizeH="0" baseline="0" smtClean="0">
                        <a:ln>
                          <a:noFill/>
                        </a:ln>
                        <a:solidFill>
                          <a:srgbClr val="FF3300"/>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1" i="1" u="none" strike="noStrike" cap="none" normalizeH="0" baseline="0" smtClean="0">
                          <a:ln>
                            <a:noFill/>
                          </a:ln>
                          <a:solidFill>
                            <a:srgbClr val="FF3300"/>
                          </a:solidFill>
                          <a:effectLst/>
                          <a:latin typeface="Times New Roman" pitchFamily="18" charset="0"/>
                        </a:rPr>
                        <a:t>60%</a:t>
                      </a:r>
                      <a:endParaRPr kumimoji="0" lang="en-US" sz="2400" b="1" i="1" u="none" strike="noStrike" cap="none" normalizeH="0" baseline="0" smtClean="0">
                        <a:ln>
                          <a:noFill/>
                        </a:ln>
                        <a:solidFill>
                          <a:srgbClr val="FF33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1" i="1" u="none" strike="noStrike" cap="none" normalizeH="0" baseline="0" smtClean="0">
                          <a:ln>
                            <a:noFill/>
                          </a:ln>
                          <a:solidFill>
                            <a:srgbClr val="FF3300"/>
                          </a:solidFill>
                          <a:effectLst/>
                          <a:latin typeface="Times New Roman" pitchFamily="18" charset="0"/>
                        </a:rPr>
                        <a:t>73%</a:t>
                      </a:r>
                      <a:endParaRPr kumimoji="0" lang="en-US" sz="2400" b="1" i="1" u="none" strike="noStrike" cap="none" normalizeH="0" baseline="0" smtClean="0">
                        <a:ln>
                          <a:noFill/>
                        </a:ln>
                        <a:solidFill>
                          <a:srgbClr val="FF33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1B1B1"/>
                        </a:buClr>
                        <a:buSzTx/>
                        <a:buFontTx/>
                        <a:buNone/>
                        <a:tabLst/>
                      </a:pPr>
                      <a:r>
                        <a:rPr kumimoji="0" lang="en-AU" sz="2400" b="1" i="1" u="none" strike="noStrike" cap="none" normalizeH="0" baseline="0" smtClean="0">
                          <a:ln>
                            <a:noFill/>
                          </a:ln>
                          <a:solidFill>
                            <a:srgbClr val="FF3300"/>
                          </a:solidFill>
                          <a:effectLst/>
                          <a:latin typeface="Times New Roman" pitchFamily="18" charset="0"/>
                        </a:rPr>
                        <a:t>77%</a:t>
                      </a:r>
                      <a:endParaRPr kumimoji="0" lang="en-US" sz="2400" b="1" i="1" u="none" strike="noStrike" cap="none" normalizeH="0" baseline="0" smtClean="0">
                        <a:ln>
                          <a:noFill/>
                        </a:ln>
                        <a:solidFill>
                          <a:srgbClr val="FF33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4610" name="Text Box 54"/>
          <p:cNvSpPr txBox="1">
            <a:spLocks noChangeArrowheads="1"/>
          </p:cNvSpPr>
          <p:nvPr/>
        </p:nvSpPr>
        <p:spPr bwMode="auto">
          <a:xfrm>
            <a:off x="179388" y="4437063"/>
            <a:ext cx="8785225" cy="1109662"/>
          </a:xfrm>
          <a:prstGeom prst="rect">
            <a:avLst/>
          </a:prstGeom>
          <a:noFill/>
          <a:ln w="9525">
            <a:solidFill>
              <a:schemeClr val="tx1"/>
            </a:solidFill>
            <a:miter lim="800000"/>
            <a:headEnd/>
            <a:tailEnd/>
          </a:ln>
        </p:spPr>
        <p:txBody>
          <a:bodyPr>
            <a:spAutoFit/>
          </a:bodyPr>
          <a:lstStyle/>
          <a:p>
            <a:r>
              <a:rPr lang="en-AU" sz="1600">
                <a:latin typeface="Times New Roman" pitchFamily="18" charset="0"/>
              </a:rPr>
              <a:t>Socio-economic status (SES) is measured on an index using the postcode of students’ home addresses. Low socioeconomic status is the average of the three lowest deciles, medium socioeconomic status is the average of the four middle deciles and high socioeconomic status is the average of the three highest deciles. </a:t>
            </a:r>
            <a:r>
              <a:rPr lang="en-AU" i="1">
                <a:latin typeface="Times New Roman" pitchFamily="18" charset="0"/>
              </a:rPr>
              <a:t>Report on Government Services 2009, </a:t>
            </a:r>
            <a:r>
              <a:rPr lang="en-AU">
                <a:latin typeface="Times New Roman" pitchFamily="18" charset="0"/>
              </a:rPr>
              <a:t>p. 4.19.</a:t>
            </a:r>
            <a:endParaRPr lang="en-US" sz="1600">
              <a:latin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idx="4294967295"/>
          </p:nvPr>
        </p:nvSpPr>
        <p:spPr>
          <a:xfrm>
            <a:off x="107950" y="115888"/>
            <a:ext cx="8928100" cy="1152525"/>
          </a:xfrm>
        </p:spPr>
        <p:txBody>
          <a:bodyPr lIns="90487" tIns="44450" rIns="90487" bIns="44450"/>
          <a:lstStyle/>
          <a:p>
            <a:r>
              <a:rPr lang="en-US" i="1" smtClean="0"/>
              <a:t>Growing Up in Australia:</a:t>
            </a:r>
            <a:r>
              <a:rPr lang="en-US" smtClean="0"/>
              <a:t> The Longitudinal Study of Australian Children  (LSAC)</a:t>
            </a:r>
            <a:endParaRPr lang="en-AU" smtClean="0"/>
          </a:p>
        </p:txBody>
      </p:sp>
      <p:sp>
        <p:nvSpPr>
          <p:cNvPr id="25602" name="Rectangle 3"/>
          <p:cNvSpPr>
            <a:spLocks noGrp="1" noChangeArrowheads="1"/>
          </p:cNvSpPr>
          <p:nvPr>
            <p:ph type="body" idx="4294967295"/>
          </p:nvPr>
        </p:nvSpPr>
        <p:spPr>
          <a:xfrm>
            <a:off x="179388" y="1412875"/>
            <a:ext cx="8713787" cy="4392613"/>
          </a:xfrm>
        </p:spPr>
        <p:txBody>
          <a:bodyPr lIns="90487" tIns="44450" rIns="90487" bIns="44450"/>
          <a:lstStyle/>
          <a:p>
            <a:pPr>
              <a:lnSpc>
                <a:spcPct val="80000"/>
              </a:lnSpc>
            </a:pPr>
            <a:r>
              <a:rPr lang="en-US" sz="2400" b="1" smtClean="0"/>
              <a:t>Sponsorship:</a:t>
            </a:r>
            <a:r>
              <a:rPr lang="en-US" sz="2400" smtClean="0"/>
              <a:t> Australian Government (Department of Families, Housing, Community Services and Indigenous Affairs -  FaHCSIA);</a:t>
            </a:r>
          </a:p>
          <a:p>
            <a:pPr>
              <a:lnSpc>
                <a:spcPct val="80000"/>
              </a:lnSpc>
            </a:pPr>
            <a:r>
              <a:rPr lang="en-US" sz="2400" b="1" smtClean="0"/>
              <a:t>Sampling frame:</a:t>
            </a:r>
            <a:r>
              <a:rPr lang="en-US" sz="2400" smtClean="0"/>
              <a:t> In base year (2004), a nationally representative sample of 10,000 children in 2 cohorts was drawn from Health Insurance Commission registrations (Medicare) in a clustered and stratified sampling design. </a:t>
            </a:r>
          </a:p>
          <a:p>
            <a:pPr lvl="1">
              <a:lnSpc>
                <a:spcPct val="70000"/>
              </a:lnSpc>
              <a:spcBef>
                <a:spcPct val="60000"/>
              </a:spcBef>
            </a:pPr>
            <a:r>
              <a:rPr lang="en-US" smtClean="0">
                <a:solidFill>
                  <a:srgbClr val="FF3300"/>
                </a:solidFill>
              </a:rPr>
              <a:t>Birth cohort (aged 0-1 years) – 5,000 children</a:t>
            </a:r>
          </a:p>
          <a:p>
            <a:pPr lvl="1">
              <a:lnSpc>
                <a:spcPct val="70000"/>
              </a:lnSpc>
              <a:spcBef>
                <a:spcPct val="60000"/>
              </a:spcBef>
            </a:pPr>
            <a:r>
              <a:rPr lang="en-US" smtClean="0">
                <a:solidFill>
                  <a:srgbClr val="FF3300"/>
                </a:solidFill>
              </a:rPr>
              <a:t>Kindergarten cohort (aged 4-5 years) - children</a:t>
            </a:r>
          </a:p>
          <a:p>
            <a:pPr>
              <a:lnSpc>
                <a:spcPct val="80000"/>
              </a:lnSpc>
            </a:pPr>
            <a:r>
              <a:rPr lang="en-AU" sz="2400" b="1" smtClean="0"/>
              <a:t>Random selection</a:t>
            </a:r>
            <a:r>
              <a:rPr lang="en-AU" sz="2400" smtClean="0"/>
              <a:t> of 300+ postcodes, stratified by state, metropolitan and ex-metropolitan areas</a:t>
            </a:r>
          </a:p>
          <a:p>
            <a:pPr>
              <a:lnSpc>
                <a:spcPct val="80000"/>
              </a:lnSpc>
            </a:pPr>
            <a:r>
              <a:rPr lang="en-AU" sz="2400" b="1" smtClean="0"/>
              <a:t>Random selection</a:t>
            </a:r>
            <a:r>
              <a:rPr lang="en-AU" sz="2400" smtClean="0"/>
              <a:t> of children within postcodes (both cohorts in same postcodes)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2" descr="mp00451_"/>
          <p:cNvPicPr>
            <a:picLocks noChangeAspect="1" noChangeArrowheads="1"/>
          </p:cNvPicPr>
          <p:nvPr/>
        </p:nvPicPr>
        <p:blipFill>
          <a:blip r:embed="rId3" cstate="print"/>
          <a:srcRect/>
          <a:stretch>
            <a:fillRect/>
          </a:stretch>
        </p:blipFill>
        <p:spPr bwMode="auto">
          <a:xfrm>
            <a:off x="755650" y="260350"/>
            <a:ext cx="7162800" cy="5638800"/>
          </a:xfrm>
          <a:prstGeom prst="rect">
            <a:avLst/>
          </a:prstGeom>
          <a:noFill/>
          <a:ln w="9525">
            <a:noFill/>
            <a:miter lim="800000"/>
            <a:headEnd/>
            <a:tailEnd/>
          </a:ln>
        </p:spPr>
      </p:pic>
      <p:sp>
        <p:nvSpPr>
          <p:cNvPr id="27650" name="Rectangle 3"/>
          <p:cNvSpPr>
            <a:spLocks noChangeArrowheads="1"/>
          </p:cNvSpPr>
          <p:nvPr/>
        </p:nvSpPr>
        <p:spPr bwMode="auto">
          <a:xfrm>
            <a:off x="2051050" y="2133600"/>
            <a:ext cx="609600" cy="1066800"/>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533</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507 </a:t>
            </a:r>
            <a:endParaRPr lang="en-AU" sz="1200">
              <a:latin typeface="Times New Roman" pitchFamily="18" charset="0"/>
              <a:cs typeface="Times New Roman" pitchFamily="18" charset="0"/>
            </a:endParaRPr>
          </a:p>
          <a:p>
            <a:pPr eaLnBrk="0" hangingPunct="0"/>
            <a:endParaRPr lang="en-AU" sz="2400">
              <a:latin typeface="Times New Roman" pitchFamily="18" charset="0"/>
            </a:endParaRPr>
          </a:p>
        </p:txBody>
      </p:sp>
      <p:sp>
        <p:nvSpPr>
          <p:cNvPr id="27651" name="Rectangle 4"/>
          <p:cNvSpPr>
            <a:spLocks noChangeArrowheads="1"/>
          </p:cNvSpPr>
          <p:nvPr/>
        </p:nvSpPr>
        <p:spPr bwMode="auto">
          <a:xfrm>
            <a:off x="3851275" y="1341438"/>
            <a:ext cx="457200" cy="701675"/>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87</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82 </a:t>
            </a:r>
            <a:endParaRPr lang="en-AU" sz="2400">
              <a:latin typeface="Times New Roman" pitchFamily="18" charset="0"/>
            </a:endParaRPr>
          </a:p>
        </p:txBody>
      </p:sp>
      <p:sp>
        <p:nvSpPr>
          <p:cNvPr id="27652" name="Rectangle 5"/>
          <p:cNvSpPr>
            <a:spLocks noChangeArrowheads="1"/>
          </p:cNvSpPr>
          <p:nvPr/>
        </p:nvSpPr>
        <p:spPr bwMode="auto">
          <a:xfrm>
            <a:off x="5724525" y="1773238"/>
            <a:ext cx="838200" cy="701675"/>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1,054</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988</a:t>
            </a:r>
            <a:endParaRPr lang="en-AU" sz="2400">
              <a:latin typeface="Times New Roman" pitchFamily="18" charset="0"/>
            </a:endParaRPr>
          </a:p>
        </p:txBody>
      </p:sp>
      <p:sp>
        <p:nvSpPr>
          <p:cNvPr id="27653" name="Rectangle 6"/>
          <p:cNvSpPr>
            <a:spLocks noChangeArrowheads="1"/>
          </p:cNvSpPr>
          <p:nvPr/>
        </p:nvSpPr>
        <p:spPr bwMode="auto">
          <a:xfrm>
            <a:off x="5940425" y="3573463"/>
            <a:ext cx="1066800" cy="701675"/>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1,615</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1,573 </a:t>
            </a:r>
            <a:endParaRPr lang="en-AU" sz="2400">
              <a:latin typeface="Times New Roman" pitchFamily="18" charset="0"/>
            </a:endParaRPr>
          </a:p>
        </p:txBody>
      </p:sp>
      <p:sp>
        <p:nvSpPr>
          <p:cNvPr id="27654" name="Rectangle 7"/>
          <p:cNvSpPr>
            <a:spLocks noChangeArrowheads="1"/>
          </p:cNvSpPr>
          <p:nvPr/>
        </p:nvSpPr>
        <p:spPr bwMode="auto">
          <a:xfrm>
            <a:off x="5508625" y="4581525"/>
            <a:ext cx="838200" cy="701675"/>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1,251</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1,245</a:t>
            </a:r>
            <a:endParaRPr lang="en-AU" sz="2400">
              <a:latin typeface="Times New Roman" pitchFamily="18" charset="0"/>
            </a:endParaRPr>
          </a:p>
        </p:txBody>
      </p:sp>
      <p:sp>
        <p:nvSpPr>
          <p:cNvPr id="27655" name="Rectangle 8"/>
          <p:cNvSpPr>
            <a:spLocks noChangeArrowheads="1"/>
          </p:cNvSpPr>
          <p:nvPr/>
        </p:nvSpPr>
        <p:spPr bwMode="auto">
          <a:xfrm>
            <a:off x="4140200" y="3068638"/>
            <a:ext cx="685800" cy="701675"/>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347</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339 </a:t>
            </a:r>
            <a:endParaRPr lang="en-AU" sz="2400">
              <a:latin typeface="Times New Roman" pitchFamily="18" charset="0"/>
            </a:endParaRPr>
          </a:p>
        </p:txBody>
      </p:sp>
      <p:sp>
        <p:nvSpPr>
          <p:cNvPr id="27656" name="Rectangle 9"/>
          <p:cNvSpPr>
            <a:spLocks noChangeArrowheads="1"/>
          </p:cNvSpPr>
          <p:nvPr/>
        </p:nvSpPr>
        <p:spPr bwMode="auto">
          <a:xfrm>
            <a:off x="6516688" y="4221163"/>
            <a:ext cx="609600" cy="304800"/>
          </a:xfrm>
          <a:prstGeom prst="rect">
            <a:avLst/>
          </a:prstGeom>
          <a:noFill/>
          <a:ln w="9525">
            <a:noFill/>
            <a:miter lim="800000"/>
            <a:headEnd/>
            <a:tailEnd/>
          </a:ln>
        </p:spPr>
        <p:txBody>
          <a:bodyPr>
            <a:spAutoFit/>
          </a:bodyPr>
          <a:lstStyle/>
          <a:p>
            <a:r>
              <a:rPr lang="en-AU" sz="1400">
                <a:solidFill>
                  <a:srgbClr val="000000"/>
                </a:solidFill>
                <a:latin typeface="Times"/>
                <a:cs typeface="Times New Roman" pitchFamily="18" charset="0"/>
              </a:rPr>
              <a:t>ACT</a:t>
            </a:r>
            <a:endParaRPr lang="en-AU" sz="2400">
              <a:latin typeface="Times New Roman" pitchFamily="18" charset="0"/>
            </a:endParaRPr>
          </a:p>
        </p:txBody>
      </p:sp>
      <p:sp>
        <p:nvSpPr>
          <p:cNvPr id="27657" name="Rectangle 10"/>
          <p:cNvSpPr>
            <a:spLocks noChangeArrowheads="1"/>
          </p:cNvSpPr>
          <p:nvPr/>
        </p:nvSpPr>
        <p:spPr bwMode="auto">
          <a:xfrm>
            <a:off x="7380288" y="4581525"/>
            <a:ext cx="762000" cy="701675"/>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107</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113</a:t>
            </a:r>
            <a:endParaRPr lang="en-AU" sz="2400">
              <a:latin typeface="Times New Roman" pitchFamily="18" charset="0"/>
            </a:endParaRPr>
          </a:p>
        </p:txBody>
      </p:sp>
      <p:sp>
        <p:nvSpPr>
          <p:cNvPr id="27658" name="Rectangle 11"/>
          <p:cNvSpPr>
            <a:spLocks noChangeArrowheads="1"/>
          </p:cNvSpPr>
          <p:nvPr/>
        </p:nvSpPr>
        <p:spPr bwMode="auto">
          <a:xfrm>
            <a:off x="6804025" y="5300663"/>
            <a:ext cx="914400" cy="701675"/>
          </a:xfrm>
          <a:prstGeom prst="rect">
            <a:avLst/>
          </a:prstGeom>
          <a:noFill/>
          <a:ln w="9525">
            <a:noFill/>
            <a:miter lim="800000"/>
            <a:headEnd/>
            <a:tailEnd/>
          </a:ln>
        </p:spPr>
        <p:txBody>
          <a:bodyPr>
            <a:spAutoFit/>
          </a:bodyPr>
          <a:lstStyle/>
          <a:p>
            <a:r>
              <a:rPr lang="en-AU" sz="2000" b="1">
                <a:solidFill>
                  <a:srgbClr val="0000FF"/>
                </a:solidFill>
                <a:latin typeface="Times New Roman" pitchFamily="18" charset="0"/>
                <a:cs typeface="Times New Roman" pitchFamily="18" charset="0"/>
              </a:rPr>
              <a:t>113</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136</a:t>
            </a:r>
            <a:endParaRPr lang="en-AU" sz="2400">
              <a:latin typeface="Times New Roman" pitchFamily="18" charset="0"/>
            </a:endParaRPr>
          </a:p>
        </p:txBody>
      </p:sp>
      <p:sp>
        <p:nvSpPr>
          <p:cNvPr id="27659" name="Rectangle 12"/>
          <p:cNvSpPr>
            <a:spLocks noChangeArrowheads="1"/>
          </p:cNvSpPr>
          <p:nvPr/>
        </p:nvSpPr>
        <p:spPr bwMode="auto">
          <a:xfrm>
            <a:off x="179388" y="4724400"/>
            <a:ext cx="5040312" cy="1006475"/>
          </a:xfrm>
          <a:prstGeom prst="rect">
            <a:avLst/>
          </a:prstGeom>
          <a:noFill/>
          <a:ln w="9525">
            <a:noFill/>
            <a:miter lim="800000"/>
            <a:headEnd/>
            <a:tailEnd/>
          </a:ln>
        </p:spPr>
        <p:txBody>
          <a:bodyPr>
            <a:spAutoFit/>
          </a:bodyPr>
          <a:lstStyle/>
          <a:p>
            <a:r>
              <a:rPr lang="en-AU" sz="2000" b="1" u="sng">
                <a:solidFill>
                  <a:srgbClr val="339966"/>
                </a:solidFill>
                <a:latin typeface="Times New Roman" pitchFamily="18" charset="0"/>
                <a:cs typeface="Times New Roman" pitchFamily="18" charset="0"/>
              </a:rPr>
              <a:t>LSAC total sample at recruitment (2004)</a:t>
            </a:r>
            <a:endParaRPr lang="en-AU" sz="1200">
              <a:latin typeface="Times New Roman" pitchFamily="18" charset="0"/>
              <a:cs typeface="Times New Roman" pitchFamily="18" charset="0"/>
            </a:endParaRPr>
          </a:p>
          <a:p>
            <a:pPr eaLnBrk="0" hangingPunct="0"/>
            <a:r>
              <a:rPr lang="en-AU" sz="2000" b="1">
                <a:solidFill>
                  <a:srgbClr val="0000FF"/>
                </a:solidFill>
                <a:latin typeface="Times New Roman" pitchFamily="18" charset="0"/>
                <a:cs typeface="Times New Roman" pitchFamily="18" charset="0"/>
              </a:rPr>
              <a:t>Infants cohort (birth -1 year): 5,107</a:t>
            </a:r>
            <a:endParaRPr lang="en-AU" sz="1200">
              <a:latin typeface="Times New Roman" pitchFamily="18" charset="0"/>
              <a:cs typeface="Times New Roman" pitchFamily="18" charset="0"/>
            </a:endParaRPr>
          </a:p>
          <a:p>
            <a:pPr eaLnBrk="0" hangingPunct="0"/>
            <a:r>
              <a:rPr lang="en-AU" sz="2000" b="1">
                <a:solidFill>
                  <a:srgbClr val="FF0000"/>
                </a:solidFill>
                <a:latin typeface="Times New Roman" pitchFamily="18" charset="0"/>
                <a:cs typeface="Times New Roman" pitchFamily="18" charset="0"/>
              </a:rPr>
              <a:t>Kindergarten cohort (4-5 year olds): 4,983</a:t>
            </a:r>
            <a:r>
              <a:rPr lang="en-AU" sz="1100">
                <a:latin typeface="Times New Roman" pitchFamily="18" charset="0"/>
              </a:rPr>
              <a:t> </a:t>
            </a:r>
            <a:endParaRPr lang="en-AU" sz="2400">
              <a:latin typeface="Times New Roman" pitchFamily="18" charset="0"/>
            </a:endParaRPr>
          </a:p>
        </p:txBody>
      </p:sp>
      <p:sp>
        <p:nvSpPr>
          <p:cNvPr id="27660" name="Line 13"/>
          <p:cNvSpPr>
            <a:spLocks noChangeShapeType="1"/>
          </p:cNvSpPr>
          <p:nvPr/>
        </p:nvSpPr>
        <p:spPr bwMode="auto">
          <a:xfrm flipH="1" flipV="1">
            <a:off x="6948488" y="4437063"/>
            <a:ext cx="503237" cy="504825"/>
          </a:xfrm>
          <a:prstGeom prst="line">
            <a:avLst/>
          </a:prstGeom>
          <a:noFill/>
          <a:ln w="9525">
            <a:solidFill>
              <a:schemeClr val="tx1"/>
            </a:solidFill>
            <a:round/>
            <a:headEnd/>
            <a:tailEnd type="triangle" w="med" len="med"/>
          </a:ln>
        </p:spPr>
        <p:txBody>
          <a:bodyPr/>
          <a:lstStyle/>
          <a:p>
            <a:endParaRPr lang="en-US"/>
          </a:p>
        </p:txBody>
      </p:sp>
      <p:pic>
        <p:nvPicPr>
          <p:cNvPr id="27661" name="Picture 59"/>
          <p:cNvPicPr>
            <a:picLocks noChangeAspect="1" noChangeArrowheads="1"/>
          </p:cNvPicPr>
          <p:nvPr/>
        </p:nvPicPr>
        <p:blipFill>
          <a:blip r:embed="rId4" cstate="print"/>
          <a:srcRect/>
          <a:stretch>
            <a:fillRect/>
          </a:stretch>
        </p:blipFill>
        <p:spPr bwMode="auto">
          <a:xfrm>
            <a:off x="179388" y="188913"/>
            <a:ext cx="1981200" cy="10175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idx="4294967295"/>
          </p:nvPr>
        </p:nvSpPr>
        <p:spPr>
          <a:xfrm>
            <a:off x="2700338" y="188913"/>
            <a:ext cx="5916612" cy="777875"/>
          </a:xfrm>
        </p:spPr>
        <p:txBody>
          <a:bodyPr/>
          <a:lstStyle/>
          <a:p>
            <a:pPr eaLnBrk="1" hangingPunct="1"/>
            <a:r>
              <a:rPr lang="en-AU" smtClean="0"/>
              <a:t>Data collection timeline</a:t>
            </a:r>
            <a:endParaRPr lang="en-US" smtClean="0"/>
          </a:p>
        </p:txBody>
      </p:sp>
      <p:graphicFrame>
        <p:nvGraphicFramePr>
          <p:cNvPr id="28738" name="Group 66"/>
          <p:cNvGraphicFramePr>
            <a:graphicFrameLocks noGrp="1"/>
          </p:cNvGraphicFramePr>
          <p:nvPr/>
        </p:nvGraphicFramePr>
        <p:xfrm>
          <a:off x="179388" y="2060575"/>
          <a:ext cx="8785225" cy="2809875"/>
        </p:xfrm>
        <a:graphic>
          <a:graphicData uri="http://schemas.openxmlformats.org/drawingml/2006/table">
            <a:tbl>
              <a:tblPr/>
              <a:tblGrid>
                <a:gridCol w="1439862"/>
                <a:gridCol w="936625"/>
                <a:gridCol w="863600"/>
                <a:gridCol w="936625"/>
                <a:gridCol w="936625"/>
                <a:gridCol w="935038"/>
                <a:gridCol w="835025"/>
                <a:gridCol w="879475"/>
                <a:gridCol w="1022350"/>
              </a:tblGrid>
              <a:tr h="720725">
                <a:tc>
                  <a:txBody>
                    <a:bodyPr/>
                    <a:lstStyle/>
                    <a:p>
                      <a:pPr marL="0" marR="0" lvl="0" indent="0" algn="l"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103566"/>
                          </a:solidFill>
                          <a:effectLst/>
                          <a:latin typeface="Times New Roman" pitchFamily="18" charset="0"/>
                        </a:rPr>
                        <a:t>Data Collection</a:t>
                      </a:r>
                      <a:endParaRPr kumimoji="0" lang="en-US" sz="1600" b="0"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1 </a:t>
                      </a:r>
                    </a:p>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2004</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2 </a:t>
                      </a:r>
                    </a:p>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2006</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3 </a:t>
                      </a:r>
                    </a:p>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2008</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4 2010</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5 </a:t>
                      </a:r>
                    </a:p>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2012</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6</a:t>
                      </a:r>
                    </a:p>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 2014</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7 </a:t>
                      </a:r>
                    </a:p>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2016</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Wave 8 </a:t>
                      </a:r>
                    </a:p>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2018</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2857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r>
              <a:tr h="620713">
                <a:tc>
                  <a:txBody>
                    <a:bodyPr/>
                    <a:lstStyle/>
                    <a:p>
                      <a:pPr marL="0" marR="0" lvl="0" indent="0" algn="l" defTabSz="914400" rtl="0" eaLnBrk="1" fontAlgn="base" latinLnBrk="0" hangingPunct="1">
                        <a:lnSpc>
                          <a:spcPct val="100000"/>
                        </a:lnSpc>
                        <a:spcBef>
                          <a:spcPct val="20000"/>
                        </a:spcBef>
                        <a:spcAft>
                          <a:spcPct val="0"/>
                        </a:spcAft>
                        <a:buClr>
                          <a:srgbClr val="B1B1B1"/>
                        </a:buClr>
                        <a:buSzTx/>
                        <a:buFontTx/>
                        <a:buNone/>
                        <a:tabLst/>
                      </a:pPr>
                      <a:r>
                        <a:rPr kumimoji="0" lang="en-AU" sz="1800" b="0" i="0" u="none" strike="noStrike" cap="none" normalizeH="0" baseline="0" smtClean="0">
                          <a:ln>
                            <a:noFill/>
                          </a:ln>
                          <a:solidFill>
                            <a:srgbClr val="103566"/>
                          </a:solidFill>
                          <a:effectLst/>
                          <a:latin typeface="Times New Roman" pitchFamily="18" charset="0"/>
                        </a:rPr>
                        <a:t>B Cohort Age</a:t>
                      </a:r>
                      <a:endParaRPr kumimoji="0" lang="en-US" sz="1800" b="0"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0-1</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2-3</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4-5</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6-7</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8-9</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10-11</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12-13</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14-15</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28575" cap="flat" cmpd="sng" algn="ctr">
                      <a:solidFill>
                        <a:srgbClr val="CC6600"/>
                      </a:solidFill>
                      <a:prstDash val="solid"/>
                      <a:round/>
                      <a:headEnd type="none" w="med" len="med"/>
                      <a:tailEnd type="none" w="med" len="med"/>
                    </a:lnR>
                    <a:lnT w="2857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r>
              <a:tr h="623888">
                <a:tc>
                  <a:txBody>
                    <a:bodyPr/>
                    <a:lstStyle/>
                    <a:p>
                      <a:pPr marL="0" marR="0" lvl="0" indent="0" algn="l" defTabSz="914400" rtl="0" eaLnBrk="1" fontAlgn="base" latinLnBrk="0" hangingPunct="1">
                        <a:lnSpc>
                          <a:spcPct val="100000"/>
                        </a:lnSpc>
                        <a:spcBef>
                          <a:spcPct val="20000"/>
                        </a:spcBef>
                        <a:spcAft>
                          <a:spcPct val="0"/>
                        </a:spcAft>
                        <a:buClr>
                          <a:srgbClr val="B1B1B1"/>
                        </a:buClr>
                        <a:buSzTx/>
                        <a:buFontTx/>
                        <a:buNone/>
                        <a:tabLst/>
                      </a:pPr>
                      <a:r>
                        <a:rPr kumimoji="0" lang="en-AU" sz="1800" b="0" i="0" u="none" strike="noStrike" cap="none" normalizeH="0" baseline="0" smtClean="0">
                          <a:ln>
                            <a:noFill/>
                          </a:ln>
                          <a:solidFill>
                            <a:srgbClr val="103566"/>
                          </a:solidFill>
                          <a:effectLst/>
                          <a:latin typeface="Times New Roman" pitchFamily="18" charset="0"/>
                        </a:rPr>
                        <a:t>K Cohort Age</a:t>
                      </a:r>
                      <a:endParaRPr kumimoji="0" lang="en-US" sz="1800" b="0"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4-5</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6-7</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8-9</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10-11</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12-13</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14-15</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16-17</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18-19</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2857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9525" cap="flat" cmpd="sng" algn="ctr">
                      <a:solidFill>
                        <a:srgbClr val="CC6600"/>
                      </a:solidFill>
                      <a:prstDash val="solid"/>
                      <a:round/>
                      <a:headEnd type="none" w="med" len="med"/>
                      <a:tailEnd type="none" w="med" len="med"/>
                    </a:lnB>
                    <a:lnTlToBr>
                      <a:noFill/>
                    </a:lnTlToBr>
                    <a:lnBlToTr>
                      <a:noFill/>
                    </a:lnBlToTr>
                    <a:noFill/>
                  </a:tcPr>
                </a:tc>
              </a:tr>
              <a:tr h="809625">
                <a:tc>
                  <a:txBody>
                    <a:bodyPr/>
                    <a:lstStyle/>
                    <a:p>
                      <a:pPr marL="0" marR="0" lvl="0" indent="0" algn="l" defTabSz="914400" rtl="0" eaLnBrk="1" fontAlgn="base" latinLnBrk="0" hangingPunct="1">
                        <a:lnSpc>
                          <a:spcPct val="100000"/>
                        </a:lnSpc>
                        <a:spcBef>
                          <a:spcPct val="20000"/>
                        </a:spcBef>
                        <a:spcAft>
                          <a:spcPct val="0"/>
                        </a:spcAft>
                        <a:buClr>
                          <a:srgbClr val="B1B1B1"/>
                        </a:buClr>
                        <a:buSzTx/>
                        <a:buFontTx/>
                        <a:buNone/>
                        <a:tabLst/>
                      </a:pPr>
                      <a:r>
                        <a:rPr kumimoji="0" lang="en-AU" sz="1800" b="0" i="0" u="none" strike="noStrike" cap="none" normalizeH="0" baseline="0" smtClean="0">
                          <a:ln>
                            <a:noFill/>
                          </a:ln>
                          <a:solidFill>
                            <a:srgbClr val="103566"/>
                          </a:solidFill>
                          <a:effectLst/>
                          <a:latin typeface="Times New Roman" pitchFamily="18" charset="0"/>
                        </a:rPr>
                        <a:t>Data Release</a:t>
                      </a:r>
                      <a:endParaRPr kumimoji="0" lang="en-US" sz="1800" b="0" i="0" u="none" strike="noStrike" cap="none" normalizeH="0" baseline="0" smtClean="0">
                        <a:ln>
                          <a:noFill/>
                        </a:ln>
                        <a:solidFill>
                          <a:srgbClr val="103566"/>
                        </a:solidFill>
                        <a:effectLst/>
                        <a:latin typeface="Times New Roman" pitchFamily="18" charset="0"/>
                      </a:endParaRPr>
                    </a:p>
                  </a:txBody>
                  <a:tcPr horzOverflow="overflow">
                    <a:lnL w="2857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2005</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2007</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2009</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2011</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2013</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2015</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2017</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952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B1B1B1"/>
                        </a:buClr>
                        <a:buSzTx/>
                        <a:buFontTx/>
                        <a:buNone/>
                        <a:tabLst/>
                      </a:pPr>
                      <a:r>
                        <a:rPr kumimoji="0" lang="en-AU" sz="1600" b="0" i="0" u="none" strike="noStrike" cap="none" normalizeH="0" baseline="0" smtClean="0">
                          <a:ln>
                            <a:noFill/>
                          </a:ln>
                          <a:solidFill>
                            <a:srgbClr val="003687"/>
                          </a:solidFill>
                          <a:effectLst/>
                          <a:latin typeface="Times New Roman" pitchFamily="18" charset="0"/>
                        </a:rPr>
                        <a:t>2019</a:t>
                      </a:r>
                      <a:endParaRPr kumimoji="0" lang="en-US" sz="1600" b="0" i="0" u="none" strike="noStrike" cap="none" normalizeH="0" baseline="0" smtClean="0">
                        <a:ln>
                          <a:noFill/>
                        </a:ln>
                        <a:solidFill>
                          <a:srgbClr val="003687"/>
                        </a:solidFill>
                        <a:effectLst/>
                        <a:latin typeface="Times New Roman" pitchFamily="18" charset="0"/>
                      </a:endParaRPr>
                    </a:p>
                  </a:txBody>
                  <a:tcPr horzOverflow="overflow">
                    <a:lnL w="9525" cap="flat" cmpd="sng" algn="ctr">
                      <a:solidFill>
                        <a:srgbClr val="CC6600"/>
                      </a:solidFill>
                      <a:prstDash val="solid"/>
                      <a:round/>
                      <a:headEnd type="none" w="med" len="med"/>
                      <a:tailEnd type="none" w="med" len="med"/>
                    </a:lnL>
                    <a:lnR w="28575" cap="flat" cmpd="sng" algn="ctr">
                      <a:solidFill>
                        <a:srgbClr val="CC6600"/>
                      </a:solidFill>
                      <a:prstDash val="solid"/>
                      <a:round/>
                      <a:headEnd type="none" w="med" len="med"/>
                      <a:tailEnd type="none" w="med" len="med"/>
                    </a:lnR>
                    <a:lnT w="9525" cap="flat" cmpd="sng" algn="ctr">
                      <a:solidFill>
                        <a:srgbClr val="CC6600"/>
                      </a:solidFill>
                      <a:prstDash val="solid"/>
                      <a:round/>
                      <a:headEnd type="none" w="med" len="med"/>
                      <a:tailEnd type="none" w="med" len="med"/>
                    </a:lnT>
                    <a:lnB w="28575" cap="flat" cmpd="sng" algn="ctr">
                      <a:solidFill>
                        <a:srgbClr val="CC6600"/>
                      </a:solidFill>
                      <a:prstDash val="solid"/>
                      <a:round/>
                      <a:headEnd type="none" w="med" len="med"/>
                      <a:tailEnd type="none" w="med" len="med"/>
                    </a:lnB>
                    <a:lnTlToBr>
                      <a:noFill/>
                    </a:lnTlToBr>
                    <a:lnBlToTr>
                      <a:noFill/>
                    </a:lnBlToTr>
                    <a:noFill/>
                  </a:tcPr>
                </a:tc>
              </a:tr>
            </a:tbl>
          </a:graphicData>
        </a:graphic>
      </p:graphicFrame>
      <p:pic>
        <p:nvPicPr>
          <p:cNvPr id="29750" name="Picture 59"/>
          <p:cNvPicPr>
            <a:picLocks noChangeAspect="1" noChangeArrowheads="1"/>
          </p:cNvPicPr>
          <p:nvPr/>
        </p:nvPicPr>
        <p:blipFill>
          <a:blip r:embed="rId2" cstate="print"/>
          <a:srcRect/>
          <a:stretch>
            <a:fillRect/>
          </a:stretch>
        </p:blipFill>
        <p:spPr bwMode="auto">
          <a:xfrm>
            <a:off x="250825" y="260350"/>
            <a:ext cx="1981200" cy="1017588"/>
          </a:xfrm>
          <a:prstGeom prst="rect">
            <a:avLst/>
          </a:prstGeom>
          <a:noFill/>
          <a:ln w="9525">
            <a:noFill/>
            <a:miter lim="800000"/>
            <a:headEnd/>
            <a:tailEnd/>
          </a:ln>
        </p:spPr>
      </p:pic>
      <p:sp>
        <p:nvSpPr>
          <p:cNvPr id="29751" name="Line 60"/>
          <p:cNvSpPr>
            <a:spLocks noChangeShapeType="1"/>
          </p:cNvSpPr>
          <p:nvPr/>
        </p:nvSpPr>
        <p:spPr bwMode="auto">
          <a:xfrm flipH="1">
            <a:off x="3276600" y="3068638"/>
            <a:ext cx="1439863" cy="431800"/>
          </a:xfrm>
          <a:prstGeom prst="line">
            <a:avLst/>
          </a:prstGeom>
          <a:noFill/>
          <a:ln w="28575">
            <a:solidFill>
              <a:srgbClr val="2B155E"/>
            </a:solidFill>
            <a:round/>
            <a:headEnd type="triangle" w="med" len="med"/>
            <a:tailEnd type="triangle" w="med" len="med"/>
          </a:ln>
        </p:spPr>
        <p:txBody>
          <a:bodyPr>
            <a:spAutoFit/>
          </a:bodyPr>
          <a:lstStyle/>
          <a:p>
            <a:endParaRPr lang="en-US"/>
          </a:p>
        </p:txBody>
      </p:sp>
      <p:sp>
        <p:nvSpPr>
          <p:cNvPr id="29752" name="Line 61"/>
          <p:cNvSpPr>
            <a:spLocks noChangeShapeType="1"/>
          </p:cNvSpPr>
          <p:nvPr/>
        </p:nvSpPr>
        <p:spPr bwMode="auto">
          <a:xfrm flipH="1">
            <a:off x="5076825" y="3068638"/>
            <a:ext cx="1439863" cy="431800"/>
          </a:xfrm>
          <a:prstGeom prst="line">
            <a:avLst/>
          </a:prstGeom>
          <a:noFill/>
          <a:ln w="28575">
            <a:solidFill>
              <a:srgbClr val="2B155E"/>
            </a:solidFill>
            <a:round/>
            <a:headEnd type="triangle" w="med" len="med"/>
            <a:tailEnd type="triangle" w="med" len="med"/>
          </a:ln>
        </p:spPr>
        <p:txBody>
          <a:bodyPr>
            <a:spAutoFit/>
          </a:bodyPr>
          <a:lstStyle/>
          <a:p>
            <a:endParaRPr lang="en-US"/>
          </a:p>
        </p:txBody>
      </p:sp>
      <p:sp>
        <p:nvSpPr>
          <p:cNvPr id="29753" name="Line 62"/>
          <p:cNvSpPr>
            <a:spLocks noChangeShapeType="1"/>
          </p:cNvSpPr>
          <p:nvPr/>
        </p:nvSpPr>
        <p:spPr bwMode="auto">
          <a:xfrm flipH="1">
            <a:off x="5940425" y="3141663"/>
            <a:ext cx="1366838" cy="360362"/>
          </a:xfrm>
          <a:prstGeom prst="line">
            <a:avLst/>
          </a:prstGeom>
          <a:noFill/>
          <a:ln w="28575">
            <a:solidFill>
              <a:srgbClr val="2B155E"/>
            </a:solidFill>
            <a:round/>
            <a:headEnd type="triangle" w="med" len="med"/>
            <a:tailEnd type="triangle" w="med" len="med"/>
          </a:ln>
        </p:spPr>
        <p:txBody>
          <a:bodyPr>
            <a:spAutoFit/>
          </a:bodyPr>
          <a:lstStyle/>
          <a:p>
            <a:endParaRPr lang="en-US"/>
          </a:p>
        </p:txBody>
      </p:sp>
      <p:sp>
        <p:nvSpPr>
          <p:cNvPr id="29754" name="Text Box 63"/>
          <p:cNvSpPr txBox="1">
            <a:spLocks noChangeArrowheads="1"/>
          </p:cNvSpPr>
          <p:nvPr/>
        </p:nvSpPr>
        <p:spPr bwMode="auto">
          <a:xfrm>
            <a:off x="179388" y="1341438"/>
            <a:ext cx="3887787" cy="457200"/>
          </a:xfrm>
          <a:prstGeom prst="rect">
            <a:avLst/>
          </a:prstGeom>
          <a:noFill/>
          <a:ln w="28575" algn="ctr">
            <a:noFill/>
            <a:miter lim="800000"/>
            <a:headEnd/>
            <a:tailEnd/>
          </a:ln>
        </p:spPr>
        <p:txBody>
          <a:bodyPr>
            <a:spAutoFit/>
          </a:bodyPr>
          <a:lstStyle/>
          <a:p>
            <a:pPr eaLnBrk="0" hangingPunct="0">
              <a:spcBef>
                <a:spcPct val="50000"/>
              </a:spcBef>
            </a:pPr>
            <a:r>
              <a:rPr lang="en-AU" sz="2400">
                <a:solidFill>
                  <a:srgbClr val="003687"/>
                </a:solidFill>
              </a:rPr>
              <a:t>Cross-lagged design</a:t>
            </a:r>
            <a:endParaRPr lang="en-US" sz="2400">
              <a:solidFill>
                <a:srgbClr val="003687"/>
              </a:solidFill>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24" name="Rectangle 2"/>
          <p:cNvSpPr>
            <a:spLocks noGrp="1" noChangeArrowheads="1"/>
          </p:cNvSpPr>
          <p:nvPr>
            <p:ph type="title" idx="4294967295"/>
          </p:nvPr>
        </p:nvSpPr>
        <p:spPr>
          <a:xfrm>
            <a:off x="2700338" y="188913"/>
            <a:ext cx="5584825" cy="647700"/>
          </a:xfrm>
        </p:spPr>
        <p:txBody>
          <a:bodyPr lIns="90487" tIns="44450" rIns="90487" bIns="44450"/>
          <a:lstStyle/>
          <a:p>
            <a:pPr eaLnBrk="1" hangingPunct="1"/>
            <a:r>
              <a:rPr lang="en-AU" sz="3600" smtClean="0">
                <a:solidFill>
                  <a:srgbClr val="003399"/>
                </a:solidFill>
              </a:rPr>
              <a:t>Study Informants</a:t>
            </a:r>
          </a:p>
        </p:txBody>
      </p:sp>
      <p:sp>
        <p:nvSpPr>
          <p:cNvPr id="72725" name="Rectangle 3"/>
          <p:cNvSpPr>
            <a:spLocks noChangeArrowheads="1"/>
          </p:cNvSpPr>
          <p:nvPr/>
        </p:nvSpPr>
        <p:spPr bwMode="auto">
          <a:xfrm>
            <a:off x="4479925" y="-655638"/>
            <a:ext cx="184150" cy="1311276"/>
          </a:xfrm>
          <a:prstGeom prst="rect">
            <a:avLst/>
          </a:prstGeom>
          <a:noFill/>
          <a:ln w="28575">
            <a:noFill/>
            <a:miter lim="800000"/>
            <a:headEnd/>
            <a:tailEnd/>
          </a:ln>
        </p:spPr>
        <p:txBody>
          <a:bodyPr wrap="none" anchor="ctr">
            <a:spAutoFit/>
          </a:bodyPr>
          <a:lstStyle/>
          <a:p>
            <a:pPr algn="ctr" eaLnBrk="0" hangingPunct="0"/>
            <a:endParaRPr lang="en-US" sz="8000">
              <a:solidFill>
                <a:schemeClr val="accent2"/>
              </a:solidFill>
            </a:endParaRPr>
          </a:p>
        </p:txBody>
      </p:sp>
      <p:sp>
        <p:nvSpPr>
          <p:cNvPr id="72726" name="Rectangle 4"/>
          <p:cNvSpPr>
            <a:spLocks noChangeArrowheads="1"/>
          </p:cNvSpPr>
          <p:nvPr/>
        </p:nvSpPr>
        <p:spPr bwMode="auto">
          <a:xfrm>
            <a:off x="4479925" y="839788"/>
            <a:ext cx="184150" cy="1311275"/>
          </a:xfrm>
          <a:prstGeom prst="rect">
            <a:avLst/>
          </a:prstGeom>
          <a:noFill/>
          <a:ln w="28575">
            <a:noFill/>
            <a:miter lim="800000"/>
            <a:headEnd/>
            <a:tailEnd/>
          </a:ln>
        </p:spPr>
        <p:txBody>
          <a:bodyPr wrap="none" anchor="ctr">
            <a:spAutoFit/>
          </a:bodyPr>
          <a:lstStyle/>
          <a:p>
            <a:pPr algn="ctr" eaLnBrk="0" hangingPunct="0"/>
            <a:endParaRPr lang="en-US" sz="8000">
              <a:solidFill>
                <a:schemeClr val="accent2"/>
              </a:solidFill>
            </a:endParaRPr>
          </a:p>
        </p:txBody>
      </p:sp>
      <p:sp>
        <p:nvSpPr>
          <p:cNvPr id="72727" name="Rectangle 5"/>
          <p:cNvSpPr>
            <a:spLocks noChangeArrowheads="1"/>
          </p:cNvSpPr>
          <p:nvPr/>
        </p:nvSpPr>
        <p:spPr bwMode="auto">
          <a:xfrm>
            <a:off x="250825" y="1412875"/>
            <a:ext cx="2808288" cy="2449513"/>
          </a:xfrm>
          <a:prstGeom prst="rect">
            <a:avLst/>
          </a:prstGeom>
          <a:noFill/>
          <a:ln w="12700">
            <a:solidFill>
              <a:schemeClr val="tx2"/>
            </a:solidFill>
            <a:miter lim="800000"/>
            <a:headEnd/>
            <a:tailEnd/>
          </a:ln>
        </p:spPr>
        <p:txBody>
          <a:bodyPr wrap="none" anchor="ctr"/>
          <a:lstStyle/>
          <a:p>
            <a:pPr algn="ctr" eaLnBrk="0" hangingPunct="0"/>
            <a:endParaRPr lang="en-US" sz="8000">
              <a:solidFill>
                <a:schemeClr val="accent2"/>
              </a:solidFill>
            </a:endParaRPr>
          </a:p>
        </p:txBody>
      </p:sp>
      <p:sp>
        <p:nvSpPr>
          <p:cNvPr id="72728" name="Rectangle 6"/>
          <p:cNvSpPr>
            <a:spLocks noChangeArrowheads="1"/>
          </p:cNvSpPr>
          <p:nvPr/>
        </p:nvSpPr>
        <p:spPr bwMode="auto">
          <a:xfrm>
            <a:off x="250825" y="3933825"/>
            <a:ext cx="8642350" cy="863600"/>
          </a:xfrm>
          <a:prstGeom prst="rect">
            <a:avLst/>
          </a:prstGeom>
          <a:noFill/>
          <a:ln w="12700">
            <a:solidFill>
              <a:schemeClr val="tx2"/>
            </a:solidFill>
            <a:miter lim="800000"/>
            <a:headEnd/>
            <a:tailEnd/>
          </a:ln>
        </p:spPr>
        <p:txBody>
          <a:bodyPr wrap="none" anchor="ctr"/>
          <a:lstStyle/>
          <a:p>
            <a:pPr algn="ctr" eaLnBrk="0" hangingPunct="0"/>
            <a:endParaRPr lang="en-US" sz="8000">
              <a:solidFill>
                <a:schemeClr val="accent2"/>
              </a:solidFill>
            </a:endParaRPr>
          </a:p>
        </p:txBody>
      </p:sp>
      <p:sp>
        <p:nvSpPr>
          <p:cNvPr id="72729" name="Rectangle 7"/>
          <p:cNvSpPr>
            <a:spLocks noChangeArrowheads="1"/>
          </p:cNvSpPr>
          <p:nvPr/>
        </p:nvSpPr>
        <p:spPr bwMode="auto">
          <a:xfrm>
            <a:off x="468313" y="1484313"/>
            <a:ext cx="2449512" cy="431800"/>
          </a:xfrm>
          <a:prstGeom prst="rect">
            <a:avLst/>
          </a:prstGeom>
          <a:noFill/>
          <a:ln w="12700">
            <a:noFill/>
            <a:miter lim="800000"/>
            <a:headEnd/>
            <a:tailEnd/>
          </a:ln>
        </p:spPr>
        <p:txBody>
          <a:bodyPr lIns="90487" tIns="44450" rIns="90487" bIns="44450" anchor="ctr"/>
          <a:lstStyle/>
          <a:p>
            <a:pPr algn="ctr" eaLnBrk="0" hangingPunct="0"/>
            <a:r>
              <a:rPr lang="en-AU" sz="2400" b="1">
                <a:solidFill>
                  <a:srgbClr val="006600"/>
                </a:solidFill>
              </a:rPr>
              <a:t>Parent</a:t>
            </a:r>
            <a:r>
              <a:rPr lang="en-AU" sz="2000" b="1">
                <a:solidFill>
                  <a:srgbClr val="006600"/>
                </a:solidFill>
              </a:rPr>
              <a:t> 1</a:t>
            </a:r>
          </a:p>
        </p:txBody>
      </p:sp>
      <p:sp>
        <p:nvSpPr>
          <p:cNvPr id="72730" name="Rectangle 8"/>
          <p:cNvSpPr>
            <a:spLocks noChangeArrowheads="1"/>
          </p:cNvSpPr>
          <p:nvPr/>
        </p:nvSpPr>
        <p:spPr bwMode="auto">
          <a:xfrm>
            <a:off x="900113" y="2060575"/>
            <a:ext cx="2159000" cy="1655763"/>
          </a:xfrm>
          <a:prstGeom prst="rect">
            <a:avLst/>
          </a:prstGeom>
          <a:noFill/>
          <a:ln w="12700">
            <a:noFill/>
            <a:miter lim="800000"/>
            <a:headEnd/>
            <a:tailEnd/>
          </a:ln>
        </p:spPr>
        <p:txBody>
          <a:bodyPr lIns="90487" tIns="44450" rIns="90487" bIns="44450" anchor="ctr"/>
          <a:lstStyle/>
          <a:p>
            <a:pPr eaLnBrk="0" hangingPunct="0"/>
            <a:r>
              <a:rPr lang="en-AU" sz="2000" b="1">
                <a:solidFill>
                  <a:srgbClr val="FF9933"/>
                </a:solidFill>
              </a:rPr>
              <a:t>CAI Interview</a:t>
            </a:r>
            <a:br>
              <a:rPr lang="en-AU" sz="2000" b="1">
                <a:solidFill>
                  <a:srgbClr val="FF9933"/>
                </a:solidFill>
              </a:rPr>
            </a:br>
            <a:r>
              <a:rPr lang="en-AU" sz="2000" b="1">
                <a:solidFill>
                  <a:srgbClr val="FF9933"/>
                </a:solidFill>
              </a:rPr>
              <a:t/>
            </a:r>
            <a:br>
              <a:rPr lang="en-AU" sz="2000" b="1">
                <a:solidFill>
                  <a:srgbClr val="FF9933"/>
                </a:solidFill>
              </a:rPr>
            </a:br>
            <a:r>
              <a:rPr lang="en-AU" sz="2000" b="1">
                <a:solidFill>
                  <a:srgbClr val="FF9933"/>
                </a:solidFill>
              </a:rPr>
              <a:t>P1D Self-complete</a:t>
            </a:r>
            <a:br>
              <a:rPr lang="en-AU" sz="2000" b="1">
                <a:solidFill>
                  <a:srgbClr val="FF9933"/>
                </a:solidFill>
              </a:rPr>
            </a:br>
            <a:r>
              <a:rPr lang="en-AU" sz="2000" b="1">
                <a:solidFill>
                  <a:srgbClr val="FF9933"/>
                </a:solidFill>
              </a:rPr>
              <a:t/>
            </a:r>
            <a:br>
              <a:rPr lang="en-AU" sz="2000" b="1">
                <a:solidFill>
                  <a:srgbClr val="FF9933"/>
                </a:solidFill>
              </a:rPr>
            </a:br>
            <a:r>
              <a:rPr lang="en-AU" sz="2000" b="1">
                <a:solidFill>
                  <a:srgbClr val="FF9933"/>
                </a:solidFill>
              </a:rPr>
              <a:t>Time Use Diary</a:t>
            </a:r>
          </a:p>
        </p:txBody>
      </p:sp>
      <p:sp>
        <p:nvSpPr>
          <p:cNvPr id="72731" name="Rectangle 9"/>
          <p:cNvSpPr>
            <a:spLocks noChangeArrowheads="1"/>
          </p:cNvSpPr>
          <p:nvPr/>
        </p:nvSpPr>
        <p:spPr bwMode="auto">
          <a:xfrm>
            <a:off x="3419475" y="1484313"/>
            <a:ext cx="2449513" cy="482600"/>
          </a:xfrm>
          <a:prstGeom prst="rect">
            <a:avLst/>
          </a:prstGeom>
          <a:noFill/>
          <a:ln w="12700">
            <a:noFill/>
            <a:miter lim="800000"/>
            <a:headEnd/>
            <a:tailEnd/>
          </a:ln>
        </p:spPr>
        <p:txBody>
          <a:bodyPr lIns="90487" tIns="44450" rIns="90487" bIns="44450" anchor="ctr"/>
          <a:lstStyle/>
          <a:p>
            <a:pPr algn="ctr" eaLnBrk="0" hangingPunct="0"/>
            <a:r>
              <a:rPr lang="en-AU" sz="2400" b="1">
                <a:solidFill>
                  <a:srgbClr val="006600"/>
                </a:solidFill>
              </a:rPr>
              <a:t>Study child</a:t>
            </a:r>
          </a:p>
        </p:txBody>
      </p:sp>
      <p:sp>
        <p:nvSpPr>
          <p:cNvPr id="72732" name="Rectangle 10"/>
          <p:cNvSpPr>
            <a:spLocks noChangeArrowheads="1"/>
          </p:cNvSpPr>
          <p:nvPr/>
        </p:nvSpPr>
        <p:spPr bwMode="auto">
          <a:xfrm>
            <a:off x="6011863" y="1484313"/>
            <a:ext cx="2449512" cy="482600"/>
          </a:xfrm>
          <a:prstGeom prst="rect">
            <a:avLst/>
          </a:prstGeom>
          <a:noFill/>
          <a:ln w="12700">
            <a:noFill/>
            <a:miter lim="800000"/>
            <a:headEnd/>
            <a:tailEnd/>
          </a:ln>
        </p:spPr>
        <p:txBody>
          <a:bodyPr lIns="90487" tIns="44450" rIns="90487" bIns="44450" anchor="ctr"/>
          <a:lstStyle/>
          <a:p>
            <a:pPr algn="ctr" eaLnBrk="0" hangingPunct="0"/>
            <a:r>
              <a:rPr lang="en-AU" sz="2400" b="1">
                <a:solidFill>
                  <a:srgbClr val="006600"/>
                </a:solidFill>
              </a:rPr>
              <a:t>Parent 2</a:t>
            </a:r>
          </a:p>
        </p:txBody>
      </p:sp>
      <p:sp>
        <p:nvSpPr>
          <p:cNvPr id="72733" name="Rectangle 11"/>
          <p:cNvSpPr>
            <a:spLocks noChangeArrowheads="1"/>
          </p:cNvSpPr>
          <p:nvPr/>
        </p:nvSpPr>
        <p:spPr bwMode="auto">
          <a:xfrm>
            <a:off x="6084888" y="1412875"/>
            <a:ext cx="2808287" cy="2449513"/>
          </a:xfrm>
          <a:prstGeom prst="rect">
            <a:avLst/>
          </a:prstGeom>
          <a:noFill/>
          <a:ln w="12700">
            <a:solidFill>
              <a:schemeClr val="tx2"/>
            </a:solidFill>
            <a:miter lim="800000"/>
            <a:headEnd/>
            <a:tailEnd/>
          </a:ln>
        </p:spPr>
        <p:txBody>
          <a:bodyPr wrap="none" anchor="ctr"/>
          <a:lstStyle/>
          <a:p>
            <a:pPr algn="ctr" eaLnBrk="0" hangingPunct="0"/>
            <a:endParaRPr lang="en-US" sz="8000">
              <a:solidFill>
                <a:schemeClr val="accent2"/>
              </a:solidFill>
            </a:endParaRPr>
          </a:p>
        </p:txBody>
      </p:sp>
      <p:sp>
        <p:nvSpPr>
          <p:cNvPr id="72734" name="Rectangle 12"/>
          <p:cNvSpPr>
            <a:spLocks noChangeArrowheads="1"/>
          </p:cNvSpPr>
          <p:nvPr/>
        </p:nvSpPr>
        <p:spPr bwMode="auto">
          <a:xfrm>
            <a:off x="3203575" y="1412875"/>
            <a:ext cx="2736850" cy="2449513"/>
          </a:xfrm>
          <a:prstGeom prst="rect">
            <a:avLst/>
          </a:prstGeom>
          <a:noFill/>
          <a:ln w="12700">
            <a:solidFill>
              <a:schemeClr val="tx2"/>
            </a:solidFill>
            <a:miter lim="800000"/>
            <a:headEnd/>
            <a:tailEnd/>
          </a:ln>
        </p:spPr>
        <p:txBody>
          <a:bodyPr wrap="none" anchor="ctr"/>
          <a:lstStyle/>
          <a:p>
            <a:pPr algn="ctr" eaLnBrk="0" hangingPunct="0"/>
            <a:endParaRPr lang="en-US" sz="8000">
              <a:solidFill>
                <a:schemeClr val="accent2"/>
              </a:solidFill>
            </a:endParaRPr>
          </a:p>
        </p:txBody>
      </p:sp>
      <p:sp>
        <p:nvSpPr>
          <p:cNvPr id="72735" name="Rectangle 13"/>
          <p:cNvSpPr>
            <a:spLocks noChangeArrowheads="1"/>
          </p:cNvSpPr>
          <p:nvPr/>
        </p:nvSpPr>
        <p:spPr bwMode="auto">
          <a:xfrm>
            <a:off x="3348038" y="1989138"/>
            <a:ext cx="2447925" cy="1655762"/>
          </a:xfrm>
          <a:prstGeom prst="rect">
            <a:avLst/>
          </a:prstGeom>
          <a:noFill/>
          <a:ln w="12700">
            <a:noFill/>
            <a:miter lim="800000"/>
            <a:headEnd/>
            <a:tailEnd/>
          </a:ln>
        </p:spPr>
        <p:txBody>
          <a:bodyPr lIns="90487" tIns="44450" rIns="90487" bIns="44450" anchor="ctr"/>
          <a:lstStyle/>
          <a:p>
            <a:pPr eaLnBrk="0" hangingPunct="0"/>
            <a:r>
              <a:rPr lang="en-AU" sz="2000" b="1">
                <a:solidFill>
                  <a:srgbClr val="CC6600"/>
                </a:solidFill>
              </a:rPr>
              <a:t>Physical measures</a:t>
            </a:r>
            <a:br>
              <a:rPr lang="en-AU" sz="2000" b="1">
                <a:solidFill>
                  <a:srgbClr val="CC6600"/>
                </a:solidFill>
              </a:rPr>
            </a:br>
            <a:r>
              <a:rPr lang="en-AU" sz="2000" b="1">
                <a:solidFill>
                  <a:srgbClr val="CC6600"/>
                </a:solidFill>
              </a:rPr>
              <a:t/>
            </a:r>
            <a:br>
              <a:rPr lang="en-AU" sz="2000" b="1">
                <a:solidFill>
                  <a:srgbClr val="CC6600"/>
                </a:solidFill>
              </a:rPr>
            </a:br>
            <a:r>
              <a:rPr lang="en-AU" sz="2000" b="1">
                <a:solidFill>
                  <a:srgbClr val="CC6600"/>
                </a:solidFill>
              </a:rPr>
              <a:t>Direct assessment</a:t>
            </a:r>
          </a:p>
          <a:p>
            <a:pPr eaLnBrk="0" hangingPunct="0"/>
            <a:endParaRPr lang="en-AU" sz="2000" b="1">
              <a:solidFill>
                <a:srgbClr val="CC6600"/>
              </a:solidFill>
            </a:endParaRPr>
          </a:p>
          <a:p>
            <a:pPr eaLnBrk="0" hangingPunct="0"/>
            <a:r>
              <a:rPr lang="en-AU" sz="2000" b="1">
                <a:solidFill>
                  <a:srgbClr val="CC6600"/>
                </a:solidFill>
              </a:rPr>
              <a:t>Interview</a:t>
            </a:r>
          </a:p>
        </p:txBody>
      </p:sp>
      <p:sp>
        <p:nvSpPr>
          <p:cNvPr id="72736" name="Rectangle 14"/>
          <p:cNvSpPr>
            <a:spLocks noChangeArrowheads="1"/>
          </p:cNvSpPr>
          <p:nvPr/>
        </p:nvSpPr>
        <p:spPr bwMode="auto">
          <a:xfrm>
            <a:off x="6588125" y="1989138"/>
            <a:ext cx="2232025" cy="719137"/>
          </a:xfrm>
          <a:prstGeom prst="rect">
            <a:avLst/>
          </a:prstGeom>
          <a:noFill/>
          <a:ln w="12700">
            <a:noFill/>
            <a:miter lim="800000"/>
            <a:headEnd/>
            <a:tailEnd/>
          </a:ln>
        </p:spPr>
        <p:txBody>
          <a:bodyPr lIns="90487" tIns="44450" rIns="90487" bIns="44450" anchor="ctr"/>
          <a:lstStyle/>
          <a:p>
            <a:pPr eaLnBrk="0" hangingPunct="0"/>
            <a:r>
              <a:rPr lang="en-AU" sz="2000" b="1">
                <a:solidFill>
                  <a:srgbClr val="FF9933"/>
                </a:solidFill>
              </a:rPr>
              <a:t/>
            </a:r>
            <a:br>
              <a:rPr lang="en-AU" sz="2000" b="1">
                <a:solidFill>
                  <a:srgbClr val="FF9933"/>
                </a:solidFill>
              </a:rPr>
            </a:br>
            <a:r>
              <a:rPr lang="en-AU" sz="2000" b="1">
                <a:solidFill>
                  <a:srgbClr val="FF9933"/>
                </a:solidFill>
              </a:rPr>
              <a:t>P2L Self-complete</a:t>
            </a:r>
            <a:br>
              <a:rPr lang="en-AU" sz="2000" b="1">
                <a:solidFill>
                  <a:srgbClr val="FF9933"/>
                </a:solidFill>
              </a:rPr>
            </a:br>
            <a:endParaRPr lang="en-AU" sz="2000" b="1">
              <a:solidFill>
                <a:srgbClr val="FF9933"/>
              </a:solidFill>
            </a:endParaRPr>
          </a:p>
        </p:txBody>
      </p:sp>
      <p:sp>
        <p:nvSpPr>
          <p:cNvPr id="72737" name="Rectangle 15"/>
          <p:cNvSpPr>
            <a:spLocks noChangeArrowheads="1"/>
          </p:cNvSpPr>
          <p:nvPr/>
        </p:nvSpPr>
        <p:spPr bwMode="auto">
          <a:xfrm>
            <a:off x="3348038" y="4149725"/>
            <a:ext cx="2449512" cy="482600"/>
          </a:xfrm>
          <a:prstGeom prst="rect">
            <a:avLst/>
          </a:prstGeom>
          <a:noFill/>
          <a:ln w="12700">
            <a:noFill/>
            <a:miter lim="800000"/>
            <a:headEnd/>
            <a:tailEnd/>
          </a:ln>
        </p:spPr>
        <p:txBody>
          <a:bodyPr lIns="90487" tIns="44450" rIns="90487" bIns="44450" anchor="ctr"/>
          <a:lstStyle/>
          <a:p>
            <a:pPr algn="ctr" eaLnBrk="0" hangingPunct="0"/>
            <a:r>
              <a:rPr lang="en-AU" sz="2000" b="1">
                <a:solidFill>
                  <a:srgbClr val="006600"/>
                </a:solidFill>
              </a:rPr>
              <a:t>Interviewer</a:t>
            </a:r>
            <a:br>
              <a:rPr lang="en-AU" sz="2000" b="1">
                <a:solidFill>
                  <a:srgbClr val="006600"/>
                </a:solidFill>
              </a:rPr>
            </a:br>
            <a:r>
              <a:rPr lang="en-AU" sz="800" b="1">
                <a:solidFill>
                  <a:srgbClr val="006600"/>
                </a:solidFill>
              </a:rPr>
              <a:t/>
            </a:r>
            <a:br>
              <a:rPr lang="en-AU" sz="800" b="1">
                <a:solidFill>
                  <a:srgbClr val="006600"/>
                </a:solidFill>
              </a:rPr>
            </a:br>
            <a:r>
              <a:rPr lang="en-AU" sz="2000">
                <a:solidFill>
                  <a:srgbClr val="006600"/>
                </a:solidFill>
              </a:rPr>
              <a:t>Observations</a:t>
            </a:r>
          </a:p>
        </p:txBody>
      </p:sp>
      <p:sp>
        <p:nvSpPr>
          <p:cNvPr id="72738" name="Rectangle 16"/>
          <p:cNvSpPr>
            <a:spLocks noChangeArrowheads="1"/>
          </p:cNvSpPr>
          <p:nvPr/>
        </p:nvSpPr>
        <p:spPr bwMode="auto">
          <a:xfrm>
            <a:off x="250825" y="4868863"/>
            <a:ext cx="8642350" cy="863600"/>
          </a:xfrm>
          <a:prstGeom prst="rect">
            <a:avLst/>
          </a:prstGeom>
          <a:noFill/>
          <a:ln w="12700">
            <a:solidFill>
              <a:schemeClr val="tx2"/>
            </a:solidFill>
            <a:miter lim="800000"/>
            <a:headEnd/>
            <a:tailEnd/>
          </a:ln>
        </p:spPr>
        <p:txBody>
          <a:bodyPr wrap="none" anchor="ctr"/>
          <a:lstStyle/>
          <a:p>
            <a:pPr algn="ctr" eaLnBrk="0" hangingPunct="0"/>
            <a:endParaRPr lang="en-US" sz="8000">
              <a:solidFill>
                <a:schemeClr val="accent2"/>
              </a:solidFill>
            </a:endParaRPr>
          </a:p>
        </p:txBody>
      </p:sp>
      <p:sp>
        <p:nvSpPr>
          <p:cNvPr id="72739" name="Rectangle 17"/>
          <p:cNvSpPr>
            <a:spLocks noChangeArrowheads="1"/>
          </p:cNvSpPr>
          <p:nvPr/>
        </p:nvSpPr>
        <p:spPr bwMode="auto">
          <a:xfrm>
            <a:off x="250825" y="5805488"/>
            <a:ext cx="8642350" cy="863600"/>
          </a:xfrm>
          <a:prstGeom prst="rect">
            <a:avLst/>
          </a:prstGeom>
          <a:noFill/>
          <a:ln w="12700">
            <a:solidFill>
              <a:schemeClr val="tx2"/>
            </a:solidFill>
            <a:miter lim="800000"/>
            <a:headEnd/>
            <a:tailEnd/>
          </a:ln>
        </p:spPr>
        <p:txBody>
          <a:bodyPr wrap="none" anchor="ctr"/>
          <a:lstStyle/>
          <a:p>
            <a:pPr algn="ctr" eaLnBrk="0" hangingPunct="0"/>
            <a:endParaRPr lang="en-US" sz="8000">
              <a:solidFill>
                <a:schemeClr val="accent2"/>
              </a:solidFill>
            </a:endParaRPr>
          </a:p>
        </p:txBody>
      </p:sp>
      <p:sp>
        <p:nvSpPr>
          <p:cNvPr id="72740" name="Rectangle 18"/>
          <p:cNvSpPr>
            <a:spLocks noChangeArrowheads="1"/>
          </p:cNvSpPr>
          <p:nvPr/>
        </p:nvSpPr>
        <p:spPr bwMode="auto">
          <a:xfrm>
            <a:off x="3419475" y="4941888"/>
            <a:ext cx="4968875" cy="792162"/>
          </a:xfrm>
          <a:prstGeom prst="rect">
            <a:avLst/>
          </a:prstGeom>
          <a:noFill/>
          <a:ln w="12700">
            <a:noFill/>
            <a:miter lim="800000"/>
            <a:headEnd/>
            <a:tailEnd/>
          </a:ln>
        </p:spPr>
        <p:txBody>
          <a:bodyPr lIns="90487" tIns="44450" rIns="90487" bIns="44450" anchor="ctr"/>
          <a:lstStyle/>
          <a:p>
            <a:pPr algn="ctr" eaLnBrk="0" hangingPunct="0"/>
            <a:r>
              <a:rPr lang="en-AU" sz="2400">
                <a:solidFill>
                  <a:srgbClr val="CC6600"/>
                </a:solidFill>
              </a:rPr>
              <a:t>Teacher/Carer</a:t>
            </a:r>
            <a:br>
              <a:rPr lang="en-AU" sz="2400">
                <a:solidFill>
                  <a:srgbClr val="CC6600"/>
                </a:solidFill>
              </a:rPr>
            </a:br>
            <a:r>
              <a:rPr lang="en-AU" sz="2400">
                <a:solidFill>
                  <a:srgbClr val="CC6600"/>
                </a:solidFill>
              </a:rPr>
              <a:t> questionnaires</a:t>
            </a:r>
          </a:p>
        </p:txBody>
      </p:sp>
      <p:graphicFrame>
        <p:nvGraphicFramePr>
          <p:cNvPr id="72723" name="Object 20"/>
          <p:cNvGraphicFramePr>
            <a:graphicFrameLocks noChangeAspect="1"/>
          </p:cNvGraphicFramePr>
          <p:nvPr>
            <p:ph idx="4294967295"/>
          </p:nvPr>
        </p:nvGraphicFramePr>
        <p:xfrm>
          <a:off x="395288" y="5876925"/>
          <a:ext cx="809625" cy="633413"/>
        </p:xfrm>
        <a:graphic>
          <a:graphicData uri="http://schemas.openxmlformats.org/presentationml/2006/ole">
            <p:oleObj spid="_x0000_s72723" name="Drawing" r:id="rId4" imgW="810000" imgH="633600" progId="">
              <p:embed/>
            </p:oleObj>
          </a:graphicData>
        </a:graphic>
      </p:graphicFrame>
      <p:pic>
        <p:nvPicPr>
          <p:cNvPr id="72741" name="Picture 22" descr="j0397066"/>
          <p:cNvPicPr>
            <a:picLocks noChangeAspect="1" noChangeArrowheads="1"/>
          </p:cNvPicPr>
          <p:nvPr/>
        </p:nvPicPr>
        <p:blipFill>
          <a:blip r:embed="rId5" cstate="print"/>
          <a:srcRect/>
          <a:stretch>
            <a:fillRect/>
          </a:stretch>
        </p:blipFill>
        <p:spPr bwMode="auto">
          <a:xfrm>
            <a:off x="323850" y="4941888"/>
            <a:ext cx="708025" cy="720725"/>
          </a:xfrm>
          <a:prstGeom prst="rect">
            <a:avLst/>
          </a:prstGeom>
          <a:noFill/>
          <a:ln w="9525">
            <a:noFill/>
            <a:miter lim="800000"/>
            <a:headEnd/>
            <a:tailEnd/>
          </a:ln>
        </p:spPr>
      </p:pic>
      <p:sp>
        <p:nvSpPr>
          <p:cNvPr id="72742" name="Rectangle 23"/>
          <p:cNvSpPr>
            <a:spLocks noChangeArrowheads="1"/>
          </p:cNvSpPr>
          <p:nvPr/>
        </p:nvSpPr>
        <p:spPr bwMode="auto">
          <a:xfrm>
            <a:off x="1258888" y="5013325"/>
            <a:ext cx="2449512" cy="576263"/>
          </a:xfrm>
          <a:prstGeom prst="rect">
            <a:avLst/>
          </a:prstGeom>
          <a:noFill/>
          <a:ln w="12700">
            <a:noFill/>
            <a:miter lim="800000"/>
            <a:headEnd/>
            <a:tailEnd/>
          </a:ln>
        </p:spPr>
        <p:txBody>
          <a:bodyPr lIns="90487" tIns="44450" rIns="90487" bIns="44450" anchor="ctr"/>
          <a:lstStyle/>
          <a:p>
            <a:pPr eaLnBrk="0" hangingPunct="0"/>
            <a:r>
              <a:rPr lang="en-AU" sz="2400">
                <a:solidFill>
                  <a:srgbClr val="CC6600"/>
                </a:solidFill>
              </a:rPr>
              <a:t>Mailed</a:t>
            </a:r>
          </a:p>
        </p:txBody>
      </p:sp>
      <p:pic>
        <p:nvPicPr>
          <p:cNvPr id="72743" name="Picture 24" descr="j0431632"/>
          <p:cNvPicPr>
            <a:picLocks noChangeAspect="1" noChangeArrowheads="1"/>
          </p:cNvPicPr>
          <p:nvPr/>
        </p:nvPicPr>
        <p:blipFill>
          <a:blip r:embed="rId6" cstate="print"/>
          <a:srcRect/>
          <a:stretch>
            <a:fillRect/>
          </a:stretch>
        </p:blipFill>
        <p:spPr bwMode="auto">
          <a:xfrm>
            <a:off x="323850" y="1916113"/>
            <a:ext cx="647700" cy="647700"/>
          </a:xfrm>
          <a:prstGeom prst="rect">
            <a:avLst/>
          </a:prstGeom>
          <a:noFill/>
          <a:ln w="9525">
            <a:noFill/>
            <a:miter lim="800000"/>
            <a:headEnd/>
            <a:tailEnd/>
          </a:ln>
        </p:spPr>
      </p:pic>
      <p:pic>
        <p:nvPicPr>
          <p:cNvPr id="72744" name="Picture 26" descr="j0431632"/>
          <p:cNvPicPr>
            <a:picLocks noChangeAspect="1" noChangeArrowheads="1"/>
          </p:cNvPicPr>
          <p:nvPr/>
        </p:nvPicPr>
        <p:blipFill>
          <a:blip r:embed="rId6" cstate="print"/>
          <a:srcRect/>
          <a:stretch>
            <a:fillRect/>
          </a:stretch>
        </p:blipFill>
        <p:spPr bwMode="auto">
          <a:xfrm>
            <a:off x="4932363" y="2997200"/>
            <a:ext cx="647700" cy="647700"/>
          </a:xfrm>
          <a:prstGeom prst="rect">
            <a:avLst/>
          </a:prstGeom>
          <a:noFill/>
          <a:ln w="9525">
            <a:noFill/>
            <a:miter lim="800000"/>
            <a:headEnd/>
            <a:tailEnd/>
          </a:ln>
        </p:spPr>
      </p:pic>
      <p:pic>
        <p:nvPicPr>
          <p:cNvPr id="72745" name="Picture 27" descr="j0431632"/>
          <p:cNvPicPr>
            <a:picLocks noChangeAspect="1" noChangeArrowheads="1"/>
          </p:cNvPicPr>
          <p:nvPr/>
        </p:nvPicPr>
        <p:blipFill>
          <a:blip r:embed="rId6" cstate="print"/>
          <a:srcRect/>
          <a:stretch>
            <a:fillRect/>
          </a:stretch>
        </p:blipFill>
        <p:spPr bwMode="auto">
          <a:xfrm>
            <a:off x="2916238" y="4005263"/>
            <a:ext cx="647700" cy="647700"/>
          </a:xfrm>
          <a:prstGeom prst="rect">
            <a:avLst/>
          </a:prstGeom>
          <a:noFill/>
          <a:ln w="9525">
            <a:noFill/>
            <a:miter lim="800000"/>
            <a:headEnd/>
            <a:tailEnd/>
          </a:ln>
        </p:spPr>
      </p:pic>
      <p:pic>
        <p:nvPicPr>
          <p:cNvPr id="72746" name="Picture 28" descr="j0283618"/>
          <p:cNvPicPr>
            <a:picLocks noChangeAspect="1" noChangeArrowheads="1" noCrop="1"/>
          </p:cNvPicPr>
          <p:nvPr/>
        </p:nvPicPr>
        <p:blipFill>
          <a:blip r:embed="rId7" cstate="print"/>
          <a:srcRect/>
          <a:stretch>
            <a:fillRect/>
          </a:stretch>
        </p:blipFill>
        <p:spPr bwMode="auto">
          <a:xfrm>
            <a:off x="323850" y="2565400"/>
            <a:ext cx="550863" cy="576263"/>
          </a:xfrm>
          <a:prstGeom prst="rect">
            <a:avLst/>
          </a:prstGeom>
          <a:noFill/>
          <a:ln w="9525">
            <a:noFill/>
            <a:miter lim="800000"/>
            <a:headEnd/>
            <a:tailEnd/>
          </a:ln>
        </p:spPr>
      </p:pic>
      <p:pic>
        <p:nvPicPr>
          <p:cNvPr id="72747" name="Picture 29" descr="j0283618"/>
          <p:cNvPicPr>
            <a:picLocks noChangeAspect="1" noChangeArrowheads="1" noCrop="1"/>
          </p:cNvPicPr>
          <p:nvPr/>
        </p:nvPicPr>
        <p:blipFill>
          <a:blip r:embed="rId7" cstate="print"/>
          <a:srcRect/>
          <a:stretch>
            <a:fillRect/>
          </a:stretch>
        </p:blipFill>
        <p:spPr bwMode="auto">
          <a:xfrm>
            <a:off x="6156325" y="1844675"/>
            <a:ext cx="550863" cy="576263"/>
          </a:xfrm>
          <a:prstGeom prst="rect">
            <a:avLst/>
          </a:prstGeom>
          <a:noFill/>
          <a:ln w="9525">
            <a:noFill/>
            <a:miter lim="800000"/>
            <a:headEnd/>
            <a:tailEnd/>
          </a:ln>
        </p:spPr>
      </p:pic>
      <p:pic>
        <p:nvPicPr>
          <p:cNvPr id="72748" name="Picture 30" descr="j0287550"/>
          <p:cNvPicPr>
            <a:picLocks noChangeAspect="1" noChangeArrowheads="1"/>
          </p:cNvPicPr>
          <p:nvPr/>
        </p:nvPicPr>
        <p:blipFill>
          <a:blip r:embed="rId8" cstate="print"/>
          <a:srcRect/>
          <a:stretch>
            <a:fillRect/>
          </a:stretch>
        </p:blipFill>
        <p:spPr bwMode="auto">
          <a:xfrm>
            <a:off x="323850" y="3284538"/>
            <a:ext cx="647700" cy="509587"/>
          </a:xfrm>
          <a:prstGeom prst="rect">
            <a:avLst/>
          </a:prstGeom>
          <a:noFill/>
          <a:ln w="9525">
            <a:noFill/>
            <a:miter lim="800000"/>
            <a:headEnd/>
            <a:tailEnd/>
          </a:ln>
        </p:spPr>
      </p:pic>
      <p:pic>
        <p:nvPicPr>
          <p:cNvPr id="72749" name="Picture 30"/>
          <p:cNvPicPr>
            <a:picLocks noChangeAspect="1" noChangeArrowheads="1"/>
          </p:cNvPicPr>
          <p:nvPr/>
        </p:nvPicPr>
        <p:blipFill>
          <a:blip r:embed="rId9" cstate="print"/>
          <a:srcRect/>
          <a:stretch>
            <a:fillRect/>
          </a:stretch>
        </p:blipFill>
        <p:spPr bwMode="auto">
          <a:xfrm>
            <a:off x="250825" y="260350"/>
            <a:ext cx="1981200" cy="10175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a:xfrm>
            <a:off x="468313" y="115888"/>
            <a:ext cx="8229600" cy="661987"/>
          </a:xfrm>
        </p:spPr>
        <p:txBody>
          <a:bodyPr/>
          <a:lstStyle/>
          <a:p>
            <a:pPr eaLnBrk="1" hangingPunct="1"/>
            <a:r>
              <a:rPr lang="en-AU" smtClean="0"/>
              <a:t>Research Questions ….  </a:t>
            </a:r>
          </a:p>
        </p:txBody>
      </p:sp>
      <p:sp>
        <p:nvSpPr>
          <p:cNvPr id="74754" name="Rectangle 3"/>
          <p:cNvSpPr>
            <a:spLocks noGrp="1" noChangeArrowheads="1"/>
          </p:cNvSpPr>
          <p:nvPr>
            <p:ph type="body" idx="1"/>
          </p:nvPr>
        </p:nvSpPr>
        <p:spPr>
          <a:xfrm>
            <a:off x="179388" y="981075"/>
            <a:ext cx="8856662" cy="4895850"/>
          </a:xfrm>
        </p:spPr>
        <p:txBody>
          <a:bodyPr/>
          <a:lstStyle/>
          <a:p>
            <a:pPr>
              <a:lnSpc>
                <a:spcPct val="80000"/>
              </a:lnSpc>
            </a:pPr>
            <a:r>
              <a:rPr lang="en-AU" sz="2400" b="1" i="1" smtClean="0"/>
              <a:t>How well are Australian children doing in Year 1 of school?  Are there differences in measured outcomes on key demographic variables?</a:t>
            </a:r>
          </a:p>
          <a:p>
            <a:pPr eaLnBrk="1" hangingPunct="1">
              <a:lnSpc>
                <a:spcPct val="80000"/>
              </a:lnSpc>
              <a:buFontTx/>
              <a:buNone/>
            </a:pPr>
            <a:r>
              <a:rPr lang="en-AU" sz="2400" b="1" smtClean="0">
                <a:solidFill>
                  <a:srgbClr val="FF3300"/>
                </a:solidFill>
              </a:rPr>
              <a:t>Demographic variables of interest</a:t>
            </a:r>
          </a:p>
          <a:p>
            <a:pPr lvl="2" eaLnBrk="1" hangingPunct="1">
              <a:lnSpc>
                <a:spcPct val="80000"/>
              </a:lnSpc>
            </a:pPr>
            <a:r>
              <a:rPr lang="en-AU" sz="2400" smtClean="0"/>
              <a:t>Gender</a:t>
            </a:r>
          </a:p>
          <a:p>
            <a:pPr lvl="2" eaLnBrk="1" hangingPunct="1">
              <a:lnSpc>
                <a:spcPct val="80000"/>
              </a:lnSpc>
            </a:pPr>
            <a:r>
              <a:rPr lang="en-AU" sz="2400" smtClean="0"/>
              <a:t>Child is Aboriginal and Torres Strait Islander (ATSI)</a:t>
            </a:r>
          </a:p>
          <a:p>
            <a:pPr lvl="2" eaLnBrk="1" hangingPunct="1">
              <a:lnSpc>
                <a:spcPct val="80000"/>
              </a:lnSpc>
            </a:pPr>
            <a:r>
              <a:rPr lang="en-AU" sz="2400" smtClean="0"/>
              <a:t>Child uses a Language Other Than English at home (LOTE)</a:t>
            </a:r>
          </a:p>
          <a:p>
            <a:pPr lvl="2" eaLnBrk="1" hangingPunct="1">
              <a:lnSpc>
                <a:spcPct val="80000"/>
              </a:lnSpc>
            </a:pPr>
            <a:r>
              <a:rPr lang="en-AU" sz="2400" smtClean="0"/>
              <a:t>Family Socio Economic Position (SEP)</a:t>
            </a:r>
          </a:p>
          <a:p>
            <a:pPr>
              <a:lnSpc>
                <a:spcPct val="80000"/>
              </a:lnSpc>
              <a:buFontTx/>
              <a:buNone/>
            </a:pPr>
            <a:r>
              <a:rPr lang="en-AU" sz="2400" b="1" smtClean="0">
                <a:solidFill>
                  <a:srgbClr val="FF3300"/>
                </a:solidFill>
              </a:rPr>
              <a:t>Measured outcomes</a:t>
            </a:r>
            <a:endParaRPr lang="en-AU" sz="2400" b="1" smtClean="0"/>
          </a:p>
          <a:p>
            <a:pPr lvl="2" eaLnBrk="1" hangingPunct="1">
              <a:lnSpc>
                <a:spcPct val="80000"/>
              </a:lnSpc>
            </a:pPr>
            <a:r>
              <a:rPr lang="en-AU" sz="2400" smtClean="0"/>
              <a:t>Academic Rating Scale (ARS)</a:t>
            </a:r>
          </a:p>
          <a:p>
            <a:pPr lvl="3" eaLnBrk="1" hangingPunct="1">
              <a:lnSpc>
                <a:spcPct val="80000"/>
              </a:lnSpc>
            </a:pPr>
            <a:r>
              <a:rPr lang="en-AU" sz="2400" smtClean="0"/>
              <a:t>Language and literacy (ARS – Lit) </a:t>
            </a:r>
          </a:p>
          <a:p>
            <a:pPr lvl="3" eaLnBrk="1" hangingPunct="1">
              <a:lnSpc>
                <a:spcPct val="80000"/>
              </a:lnSpc>
            </a:pPr>
            <a:r>
              <a:rPr lang="en-AU" sz="2400" smtClean="0"/>
              <a:t>Mathematical thinking (ARS – Math)</a:t>
            </a:r>
          </a:p>
          <a:p>
            <a:pPr lvl="2" eaLnBrk="1" hangingPunct="1">
              <a:lnSpc>
                <a:spcPct val="80000"/>
              </a:lnSpc>
            </a:pPr>
            <a:r>
              <a:rPr lang="en-AU" sz="2400" smtClean="0"/>
              <a:t>Approaches to Learning (App Learn)</a:t>
            </a:r>
          </a:p>
          <a:p>
            <a:pPr lvl="2" eaLnBrk="1" hangingPunct="1">
              <a:lnSpc>
                <a:spcPct val="80000"/>
              </a:lnSpc>
            </a:pPr>
            <a:r>
              <a:rPr lang="en-AU" sz="2400" smtClean="0"/>
              <a:t>Student-Teacher  Relationship Scale (STRS)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1692275" y="115888"/>
            <a:ext cx="5905500" cy="655637"/>
          </a:xfrm>
        </p:spPr>
        <p:txBody>
          <a:bodyPr lIns="92064" tIns="46032" rIns="92064" bIns="46032" anchor="b"/>
          <a:lstStyle/>
          <a:p>
            <a:pPr eaLnBrk="1" hangingPunct="1"/>
            <a:r>
              <a:rPr lang="en-US" sz="3600" smtClean="0"/>
              <a:t>Analytic Sample</a:t>
            </a:r>
            <a:endParaRPr lang="en-AU" sz="3600" smtClean="0"/>
          </a:p>
        </p:txBody>
      </p:sp>
      <p:sp>
        <p:nvSpPr>
          <p:cNvPr id="76802" name="Rectangle 3"/>
          <p:cNvSpPr>
            <a:spLocks noGrp="1" noChangeArrowheads="1"/>
          </p:cNvSpPr>
          <p:nvPr>
            <p:ph type="body" sz="half" idx="1"/>
          </p:nvPr>
        </p:nvSpPr>
        <p:spPr>
          <a:xfrm>
            <a:off x="107950" y="908050"/>
            <a:ext cx="8856663" cy="5113338"/>
          </a:xfrm>
        </p:spPr>
        <p:txBody>
          <a:bodyPr lIns="92064" tIns="46032" rIns="92064" bIns="46032"/>
          <a:lstStyle/>
          <a:p>
            <a:pPr>
              <a:lnSpc>
                <a:spcPct val="80000"/>
              </a:lnSpc>
              <a:buFontTx/>
              <a:buNone/>
            </a:pPr>
            <a:r>
              <a:rPr lang="en-US" sz="2400" b="1" i="1" smtClean="0"/>
              <a:t>Analytic Sample: </a:t>
            </a:r>
            <a:r>
              <a:rPr lang="en-US" sz="2400" smtClean="0"/>
              <a:t>Final analytic sample include children in the </a:t>
            </a:r>
            <a:r>
              <a:rPr lang="en-US" sz="2400" b="1" i="1" smtClean="0">
                <a:solidFill>
                  <a:srgbClr val="FF3300"/>
                </a:solidFill>
              </a:rPr>
              <a:t>Kindergarten Cohort</a:t>
            </a:r>
            <a:r>
              <a:rPr lang="en-US" sz="2400" smtClean="0"/>
              <a:t> who were in </a:t>
            </a:r>
            <a:r>
              <a:rPr lang="en-US" sz="2400" b="1" smtClean="0">
                <a:solidFill>
                  <a:srgbClr val="FF3300"/>
                </a:solidFill>
              </a:rPr>
              <a:t>Year 1</a:t>
            </a:r>
            <a:r>
              <a:rPr lang="en-US" sz="2400" smtClean="0"/>
              <a:t> of school with complete teacher data at </a:t>
            </a:r>
            <a:r>
              <a:rPr lang="en-US" sz="2400" b="1" i="1" smtClean="0">
                <a:solidFill>
                  <a:srgbClr val="FF3300"/>
                </a:solidFill>
              </a:rPr>
              <a:t>Wave 2.</a:t>
            </a:r>
            <a:r>
              <a:rPr lang="en-US" sz="2400" smtClean="0"/>
              <a:t> </a:t>
            </a:r>
          </a:p>
          <a:p>
            <a:pPr eaLnBrk="1" hangingPunct="1">
              <a:lnSpc>
                <a:spcPct val="110000"/>
              </a:lnSpc>
              <a:buFontTx/>
              <a:buNone/>
            </a:pPr>
            <a:r>
              <a:rPr lang="en-US" sz="2400" b="1" smtClean="0"/>
              <a:t>Number of children in analyses  - 2499</a:t>
            </a:r>
            <a:r>
              <a:rPr lang="en-US" sz="2400" smtClean="0"/>
              <a:t> </a:t>
            </a:r>
          </a:p>
          <a:p>
            <a:pPr eaLnBrk="1" hangingPunct="1">
              <a:lnSpc>
                <a:spcPct val="110000"/>
              </a:lnSpc>
              <a:buFontTx/>
              <a:buNone/>
            </a:pPr>
            <a:r>
              <a:rPr lang="en-US" sz="2400" b="1" smtClean="0"/>
              <a:t>Child Characteristics – demographic and social background</a:t>
            </a:r>
          </a:p>
          <a:p>
            <a:pPr eaLnBrk="1" hangingPunct="1">
              <a:lnSpc>
                <a:spcPct val="110000"/>
              </a:lnSpc>
            </a:pPr>
            <a:r>
              <a:rPr lang="en-AU" sz="2400" b="1" smtClean="0"/>
              <a:t>Mean age: </a:t>
            </a:r>
            <a:r>
              <a:rPr lang="en-AU" sz="2400" smtClean="0"/>
              <a:t> 6 years 9  months (SD = 2.56) </a:t>
            </a:r>
          </a:p>
          <a:p>
            <a:pPr eaLnBrk="1" hangingPunct="1">
              <a:lnSpc>
                <a:spcPct val="110000"/>
              </a:lnSpc>
            </a:pPr>
            <a:r>
              <a:rPr lang="en-AU" sz="2400" b="1" smtClean="0"/>
              <a:t>Sex:  </a:t>
            </a:r>
            <a:r>
              <a:rPr lang="en-AU" sz="2400" smtClean="0"/>
              <a:t>51% male and 49% female </a:t>
            </a:r>
          </a:p>
          <a:p>
            <a:pPr eaLnBrk="1" hangingPunct="1">
              <a:lnSpc>
                <a:spcPct val="110000"/>
              </a:lnSpc>
            </a:pPr>
            <a:r>
              <a:rPr lang="en-AU" sz="2400" b="1" smtClean="0"/>
              <a:t>ATSI:</a:t>
            </a:r>
            <a:r>
              <a:rPr lang="en-AU" sz="2400" smtClean="0"/>
              <a:t> 3%</a:t>
            </a:r>
          </a:p>
          <a:p>
            <a:pPr eaLnBrk="1" hangingPunct="1">
              <a:lnSpc>
                <a:spcPct val="110000"/>
              </a:lnSpc>
            </a:pPr>
            <a:r>
              <a:rPr lang="en-AU" sz="2400" b="1" smtClean="0"/>
              <a:t>LOTE:</a:t>
            </a:r>
            <a:r>
              <a:rPr lang="en-AU" sz="2400" smtClean="0"/>
              <a:t> 11%</a:t>
            </a:r>
          </a:p>
          <a:p>
            <a:pPr eaLnBrk="1" hangingPunct="1">
              <a:lnSpc>
                <a:spcPct val="110000"/>
              </a:lnSpc>
              <a:buFontTx/>
              <a:buNone/>
            </a:pPr>
            <a:r>
              <a:rPr lang="en-AU" sz="2400" b="1" smtClean="0"/>
              <a:t>Socio-economic position (SEP)</a:t>
            </a:r>
            <a:r>
              <a:rPr lang="en-AU" sz="2400" smtClean="0"/>
              <a:t>: Parental education, occupational status and annual household income (Low SEP - 25%; Medium SEP -  50%; High SEP - 25%)</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179388" y="115888"/>
            <a:ext cx="8713787" cy="649287"/>
          </a:xfrm>
        </p:spPr>
        <p:txBody>
          <a:bodyPr/>
          <a:lstStyle/>
          <a:p>
            <a:pPr eaLnBrk="1" hangingPunct="1"/>
            <a:r>
              <a:rPr lang="en-AU" smtClean="0"/>
              <a:t>Learning Competence – Academic Rating Scales </a:t>
            </a:r>
          </a:p>
        </p:txBody>
      </p:sp>
      <p:sp>
        <p:nvSpPr>
          <p:cNvPr id="78850" name="Rectangle 4"/>
          <p:cNvSpPr>
            <a:spLocks noGrp="1" noChangeArrowheads="1"/>
          </p:cNvSpPr>
          <p:nvPr>
            <p:ph type="body" idx="4294967295"/>
          </p:nvPr>
        </p:nvSpPr>
        <p:spPr>
          <a:xfrm>
            <a:off x="250825" y="836613"/>
            <a:ext cx="8605838" cy="5040312"/>
          </a:xfrm>
        </p:spPr>
        <p:txBody>
          <a:bodyPr/>
          <a:lstStyle/>
          <a:p>
            <a:pPr>
              <a:lnSpc>
                <a:spcPct val="80000"/>
              </a:lnSpc>
              <a:buFontTx/>
              <a:buNone/>
            </a:pPr>
            <a:r>
              <a:rPr lang="en-US" sz="2000" smtClean="0">
                <a:solidFill>
                  <a:srgbClr val="FF3300"/>
                </a:solidFill>
              </a:rPr>
              <a:t>Academic Rating Scales ask teachers to evaluate each child’s skill proficiency on a 5-point scale: </a:t>
            </a:r>
            <a:r>
              <a:rPr lang="en-US" sz="2000" i="1" smtClean="0">
                <a:solidFill>
                  <a:srgbClr val="FF3300"/>
                </a:solidFill>
              </a:rPr>
              <a:t>not yet, beginning, in progress, intermediate, </a:t>
            </a:r>
            <a:r>
              <a:rPr lang="en-US" sz="2000" smtClean="0">
                <a:solidFill>
                  <a:srgbClr val="FF3300"/>
                </a:solidFill>
              </a:rPr>
              <a:t>and </a:t>
            </a:r>
            <a:r>
              <a:rPr lang="en-US" sz="2000" i="1" smtClean="0">
                <a:solidFill>
                  <a:srgbClr val="FF3300"/>
                </a:solidFill>
              </a:rPr>
              <a:t>proficient</a:t>
            </a:r>
            <a:r>
              <a:rPr lang="en-US" sz="2000" i="1" smtClean="0"/>
              <a:t>. </a:t>
            </a:r>
            <a:endParaRPr lang="en-US" sz="2000" smtClean="0"/>
          </a:p>
          <a:p>
            <a:pPr eaLnBrk="1" hangingPunct="1">
              <a:lnSpc>
                <a:spcPct val="80000"/>
              </a:lnSpc>
              <a:buFontTx/>
              <a:buNone/>
            </a:pPr>
            <a:r>
              <a:rPr lang="en-AU" sz="2000" b="1" smtClean="0"/>
              <a:t>Language and literacy (ARS) – 9 items </a:t>
            </a:r>
            <a:r>
              <a:rPr lang="en-AU" sz="2000" smtClean="0"/>
              <a:t>(</a:t>
            </a:r>
            <a:r>
              <a:rPr lang="el-GR" sz="2000" smtClean="0"/>
              <a:t>ά</a:t>
            </a:r>
            <a:r>
              <a:rPr lang="en-AU" sz="2000" smtClean="0"/>
              <a:t> = .94)</a:t>
            </a:r>
            <a:endParaRPr lang="el-GR" sz="2000" smtClean="0"/>
          </a:p>
          <a:p>
            <a:pPr eaLnBrk="1" hangingPunct="1">
              <a:lnSpc>
                <a:spcPct val="80000"/>
              </a:lnSpc>
              <a:buFontTx/>
              <a:buNone/>
            </a:pPr>
            <a:r>
              <a:rPr lang="en-AU" sz="2000" b="1" i="1" smtClean="0"/>
              <a:t>Item examples</a:t>
            </a:r>
            <a:r>
              <a:rPr lang="en-AU" sz="2000" smtClean="0"/>
              <a:t> </a:t>
            </a:r>
          </a:p>
          <a:p>
            <a:pPr eaLnBrk="1" hangingPunct="1">
              <a:lnSpc>
                <a:spcPct val="80000"/>
              </a:lnSpc>
            </a:pPr>
            <a:r>
              <a:rPr lang="en-AU" sz="2000" smtClean="0"/>
              <a:t>Contributes relevant information to classroom discussions. </a:t>
            </a:r>
          </a:p>
          <a:p>
            <a:pPr eaLnBrk="1" hangingPunct="1">
              <a:lnSpc>
                <a:spcPct val="80000"/>
              </a:lnSpc>
            </a:pPr>
            <a:r>
              <a:rPr lang="en-AU" sz="2000" smtClean="0"/>
              <a:t>Understands and interprets a story or other text read to him/her.</a:t>
            </a:r>
          </a:p>
          <a:p>
            <a:pPr eaLnBrk="1" hangingPunct="1">
              <a:lnSpc>
                <a:spcPct val="80000"/>
              </a:lnSpc>
            </a:pPr>
            <a:r>
              <a:rPr lang="en-AU" sz="2000" smtClean="0"/>
              <a:t>Reads words with regular vowel sounds </a:t>
            </a:r>
          </a:p>
          <a:p>
            <a:pPr eaLnBrk="1" hangingPunct="1">
              <a:lnSpc>
                <a:spcPct val="80000"/>
              </a:lnSpc>
            </a:pPr>
            <a:r>
              <a:rPr lang="en-AU" sz="2000" smtClean="0"/>
              <a:t>Reads age appropriate books independently with comprehension</a:t>
            </a:r>
          </a:p>
          <a:p>
            <a:pPr eaLnBrk="1" hangingPunct="1">
              <a:lnSpc>
                <a:spcPct val="80000"/>
              </a:lnSpc>
            </a:pPr>
            <a:r>
              <a:rPr lang="en-AU" sz="2000" smtClean="0"/>
              <a:t>Demonstrates an understanding of the conventions of print </a:t>
            </a:r>
          </a:p>
          <a:p>
            <a:pPr eaLnBrk="1" hangingPunct="1">
              <a:lnSpc>
                <a:spcPct val="80000"/>
              </a:lnSpc>
              <a:buFontTx/>
              <a:buNone/>
            </a:pPr>
            <a:r>
              <a:rPr lang="en-AU" sz="2000" b="1" smtClean="0"/>
              <a:t>Numeracy and Mathematical thinking (ARS)  - 8 items </a:t>
            </a:r>
            <a:r>
              <a:rPr lang="en-AU" sz="2000" smtClean="0"/>
              <a:t>(</a:t>
            </a:r>
            <a:r>
              <a:rPr lang="el-GR" sz="2000" smtClean="0"/>
              <a:t>ά</a:t>
            </a:r>
            <a:r>
              <a:rPr lang="en-AU" sz="2000" smtClean="0"/>
              <a:t> = .91)</a:t>
            </a:r>
          </a:p>
          <a:p>
            <a:pPr eaLnBrk="1" hangingPunct="1">
              <a:lnSpc>
                <a:spcPct val="80000"/>
              </a:lnSpc>
              <a:buFontTx/>
              <a:buNone/>
            </a:pPr>
            <a:r>
              <a:rPr lang="en-AU" sz="2000" b="1" i="1" smtClean="0"/>
              <a:t>Item examples</a:t>
            </a:r>
          </a:p>
          <a:p>
            <a:pPr eaLnBrk="1" hangingPunct="1">
              <a:lnSpc>
                <a:spcPct val="80000"/>
              </a:lnSpc>
            </a:pPr>
            <a:r>
              <a:rPr lang="en-AU" sz="2000" smtClean="0"/>
              <a:t>Uses the computer for a variety of purposes</a:t>
            </a:r>
          </a:p>
          <a:p>
            <a:pPr eaLnBrk="1" hangingPunct="1">
              <a:lnSpc>
                <a:spcPct val="80000"/>
              </a:lnSpc>
            </a:pPr>
            <a:r>
              <a:rPr lang="en-AU" sz="2000" smtClean="0"/>
              <a:t>Demonstrates an understanding of place value. </a:t>
            </a:r>
          </a:p>
          <a:p>
            <a:pPr eaLnBrk="1" hangingPunct="1">
              <a:lnSpc>
                <a:spcPct val="80000"/>
              </a:lnSpc>
            </a:pPr>
            <a:r>
              <a:rPr lang="en-AU" sz="2000" smtClean="0"/>
              <a:t>Models, reads, writes and compares whole numbers.</a:t>
            </a:r>
          </a:p>
          <a:p>
            <a:pPr eaLnBrk="1" hangingPunct="1">
              <a:lnSpc>
                <a:spcPct val="80000"/>
              </a:lnSpc>
            </a:pPr>
            <a:r>
              <a:rPr lang="en-AU" sz="2000" smtClean="0"/>
              <a:t>Measures to the nearest whole number using common instruments. </a:t>
            </a:r>
          </a:p>
          <a:p>
            <a:pPr eaLnBrk="1" hangingPunct="1">
              <a:lnSpc>
                <a:spcPct val="80000"/>
              </a:lnSpc>
            </a:pPr>
            <a:r>
              <a:rPr lang="en-AU" sz="2000" smtClean="0"/>
              <a:t>Uses a variety of strategies to solve maths problems.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a:xfrm>
            <a:off x="250825" y="188913"/>
            <a:ext cx="8713788" cy="720725"/>
          </a:xfrm>
        </p:spPr>
        <p:txBody>
          <a:bodyPr/>
          <a:lstStyle/>
          <a:p>
            <a:pPr eaLnBrk="1" hangingPunct="1"/>
            <a:r>
              <a:rPr lang="en-AU" sz="3400" smtClean="0"/>
              <a:t>Social and Behavioural Competence</a:t>
            </a:r>
          </a:p>
        </p:txBody>
      </p:sp>
      <p:sp>
        <p:nvSpPr>
          <p:cNvPr id="80898" name="Rectangle 3"/>
          <p:cNvSpPr>
            <a:spLocks noGrp="1" noChangeArrowheads="1"/>
          </p:cNvSpPr>
          <p:nvPr>
            <p:ph type="body" idx="1"/>
          </p:nvPr>
        </p:nvSpPr>
        <p:spPr>
          <a:xfrm>
            <a:off x="250825" y="908050"/>
            <a:ext cx="8675688" cy="4968875"/>
          </a:xfrm>
        </p:spPr>
        <p:txBody>
          <a:bodyPr/>
          <a:lstStyle/>
          <a:p>
            <a:pPr eaLnBrk="1" hangingPunct="1">
              <a:lnSpc>
                <a:spcPct val="80000"/>
              </a:lnSpc>
              <a:buFontTx/>
              <a:buNone/>
            </a:pPr>
            <a:r>
              <a:rPr lang="en-AU" altLang="ja-JP" sz="2000" b="1" smtClean="0">
                <a:ea typeface="ＭＳ Ｐゴシック" charset="-128"/>
              </a:rPr>
              <a:t>Approaches to learning (App Learn): </a:t>
            </a:r>
            <a:r>
              <a:rPr lang="en-AU" altLang="ja-JP" sz="2000" smtClean="0">
                <a:ea typeface="ＭＳ Ｐゴシック" charset="-128"/>
              </a:rPr>
              <a:t>Scale (6 items) from Social Skills Rating Scale used in </a:t>
            </a:r>
            <a:r>
              <a:rPr lang="en-AU" altLang="ja-JP" sz="2000" i="1" smtClean="0">
                <a:ea typeface="ＭＳ Ｐゴシック" charset="-128"/>
              </a:rPr>
              <a:t>Early Childhood Longitudinal Study - Kindergarten.  </a:t>
            </a:r>
            <a:r>
              <a:rPr lang="en-AU" altLang="ja-JP" sz="2000" smtClean="0">
                <a:ea typeface="ＭＳ Ｐゴシック" charset="-128"/>
                <a:cs typeface="Times New Roman" pitchFamily="18" charset="0"/>
              </a:rPr>
              <a:t>Teacher ratings on a 4-point scale </a:t>
            </a:r>
            <a:r>
              <a:rPr lang="en-US" sz="2000" smtClean="0"/>
              <a:t>from </a:t>
            </a:r>
            <a:r>
              <a:rPr lang="en-US" sz="2000" i="1" smtClean="0"/>
              <a:t>never </a:t>
            </a:r>
            <a:r>
              <a:rPr lang="en-US" sz="2000" smtClean="0"/>
              <a:t>to </a:t>
            </a:r>
            <a:r>
              <a:rPr lang="en-US" sz="2000" i="1" smtClean="0"/>
              <a:t>very often. </a:t>
            </a:r>
            <a:endParaRPr lang="en-US" sz="2000" smtClean="0"/>
          </a:p>
          <a:p>
            <a:pPr lvl="1">
              <a:lnSpc>
                <a:spcPct val="80000"/>
              </a:lnSpc>
            </a:pPr>
            <a:r>
              <a:rPr lang="en-AU" altLang="ja-JP" sz="2000" smtClean="0">
                <a:ea typeface="ＭＳ Ｐゴシック" charset="-128"/>
              </a:rPr>
              <a:t>Keeps belongings organised</a:t>
            </a:r>
          </a:p>
          <a:p>
            <a:pPr lvl="1" eaLnBrk="1" hangingPunct="1">
              <a:lnSpc>
                <a:spcPct val="80000"/>
              </a:lnSpc>
            </a:pPr>
            <a:r>
              <a:rPr lang="en-AU" altLang="ja-JP" sz="2000" smtClean="0">
                <a:ea typeface="ＭＳ Ｐゴシック" charset="-128"/>
              </a:rPr>
              <a:t>Shows eagerness to learn new things</a:t>
            </a:r>
          </a:p>
          <a:p>
            <a:pPr lvl="1" eaLnBrk="1" hangingPunct="1">
              <a:lnSpc>
                <a:spcPct val="80000"/>
              </a:lnSpc>
            </a:pPr>
            <a:r>
              <a:rPr lang="en-AU" altLang="ja-JP" sz="2000" smtClean="0">
                <a:ea typeface="ＭＳ Ｐゴシック" charset="-128"/>
              </a:rPr>
              <a:t>Works independently</a:t>
            </a:r>
          </a:p>
          <a:p>
            <a:pPr lvl="1" eaLnBrk="1" hangingPunct="1">
              <a:lnSpc>
                <a:spcPct val="80000"/>
              </a:lnSpc>
            </a:pPr>
            <a:r>
              <a:rPr lang="en-AU" altLang="ja-JP" sz="2000" smtClean="0">
                <a:ea typeface="ＭＳ Ｐゴシック" charset="-128"/>
              </a:rPr>
              <a:t>Easily adapts to changes in routine</a:t>
            </a:r>
          </a:p>
          <a:p>
            <a:pPr lvl="1" eaLnBrk="1" hangingPunct="1">
              <a:lnSpc>
                <a:spcPct val="80000"/>
              </a:lnSpc>
            </a:pPr>
            <a:r>
              <a:rPr lang="en-AU" altLang="ja-JP" sz="2000" smtClean="0">
                <a:ea typeface="ＭＳ Ｐゴシック" charset="-128"/>
              </a:rPr>
              <a:t>Persists in completing tasks</a:t>
            </a:r>
          </a:p>
          <a:p>
            <a:pPr lvl="1" eaLnBrk="1" hangingPunct="1">
              <a:lnSpc>
                <a:spcPct val="80000"/>
              </a:lnSpc>
            </a:pPr>
            <a:r>
              <a:rPr lang="en-AU" altLang="ja-JP" sz="2000" smtClean="0">
                <a:ea typeface="ＭＳ Ｐゴシック" charset="-128"/>
              </a:rPr>
              <a:t>Pays attention well</a:t>
            </a:r>
          </a:p>
          <a:p>
            <a:pPr>
              <a:lnSpc>
                <a:spcPct val="80000"/>
              </a:lnSpc>
            </a:pPr>
            <a:r>
              <a:rPr lang="en-AU" altLang="ja-JP" sz="2000" b="1" smtClean="0">
                <a:ea typeface="ＭＳ Ｐゴシック" charset="-128"/>
              </a:rPr>
              <a:t>Student-Teacher Relationship Scale (STRS), (Pianta, 2001): </a:t>
            </a:r>
            <a:r>
              <a:rPr lang="en-AU" altLang="ja-JP" sz="2000" smtClean="0">
                <a:ea typeface="ＭＳ Ｐゴシック" charset="-128"/>
              </a:rPr>
              <a:t>Short form of STRS (15 items) rated on 5-point scales from </a:t>
            </a:r>
            <a:r>
              <a:rPr lang="en-AU" altLang="ja-JP" sz="2000" i="1" smtClean="0">
                <a:ea typeface="ＭＳ Ｐゴシック" charset="-128"/>
              </a:rPr>
              <a:t>definitely does not apply</a:t>
            </a:r>
            <a:r>
              <a:rPr lang="en-AU" altLang="ja-JP" sz="2000" smtClean="0">
                <a:ea typeface="ＭＳ Ｐゴシック" charset="-128"/>
              </a:rPr>
              <a:t> to </a:t>
            </a:r>
            <a:r>
              <a:rPr lang="en-AU" altLang="ja-JP" sz="2000" i="1" smtClean="0">
                <a:ea typeface="ＭＳ Ｐゴシック" charset="-128"/>
              </a:rPr>
              <a:t>definitely applies</a:t>
            </a:r>
            <a:r>
              <a:rPr lang="en-AU" altLang="ja-JP" sz="2000" smtClean="0">
                <a:ea typeface="ＭＳ Ｐゴシック" charset="-128"/>
              </a:rPr>
              <a:t>. Closeness &amp; Conflict scales  - single score derived</a:t>
            </a:r>
          </a:p>
          <a:p>
            <a:pPr lvl="1">
              <a:lnSpc>
                <a:spcPct val="80000"/>
              </a:lnSpc>
            </a:pPr>
            <a:r>
              <a:rPr lang="en-US" altLang="ja-JP" sz="2000" smtClean="0">
                <a:ea typeface="ＭＳ Ｐゴシック" charset="-128"/>
              </a:rPr>
              <a:t>I share an affectionate, warm relationship with this child</a:t>
            </a:r>
          </a:p>
          <a:p>
            <a:pPr lvl="1">
              <a:lnSpc>
                <a:spcPct val="80000"/>
              </a:lnSpc>
            </a:pPr>
            <a:r>
              <a:rPr lang="en-US" altLang="ja-JP" sz="2000" smtClean="0">
                <a:ea typeface="ＭＳ Ｐゴシック" charset="-128"/>
              </a:rPr>
              <a:t>When I praise this child, he/she beams with pride</a:t>
            </a:r>
          </a:p>
          <a:p>
            <a:pPr lvl="1">
              <a:lnSpc>
                <a:spcPct val="80000"/>
              </a:lnSpc>
            </a:pPr>
            <a:r>
              <a:rPr lang="en-US" altLang="ja-JP" sz="2000" smtClean="0">
                <a:ea typeface="ＭＳ Ｐゴシック" charset="-128"/>
              </a:rPr>
              <a:t>This child easily becomes angry with me</a:t>
            </a:r>
          </a:p>
          <a:p>
            <a:pPr lvl="1">
              <a:lnSpc>
                <a:spcPct val="80000"/>
              </a:lnSpc>
            </a:pPr>
            <a:r>
              <a:rPr lang="en-US" altLang="ja-JP" sz="2000" smtClean="0">
                <a:ea typeface="ＭＳ Ｐゴシック" charset="-128"/>
              </a:rPr>
              <a:t>It is easy to be in tune with what this child is feeling</a:t>
            </a:r>
          </a:p>
          <a:p>
            <a:pPr lvl="1">
              <a:lnSpc>
                <a:spcPct val="80000"/>
              </a:lnSpc>
            </a:pPr>
            <a:r>
              <a:rPr lang="en-US" altLang="ja-JP" sz="2000" smtClean="0">
                <a:ea typeface="ＭＳ Ｐゴシック" charset="-128"/>
              </a:rPr>
              <a:t>Dealing with this child drains my energy</a:t>
            </a:r>
            <a:r>
              <a:rPr lang="en-AU" altLang="ja-JP" sz="2000" smtClean="0">
                <a:ea typeface="ＭＳ Ｐゴシック" charset="-128"/>
              </a:rPr>
              <a:t> </a:t>
            </a:r>
            <a:endParaRPr lang="el-GR" altLang="ja-JP" sz="2000" smtClean="0">
              <a:ea typeface="ＭＳ Ｐゴシック" charset="-128"/>
            </a:endParaRPr>
          </a:p>
        </p:txBody>
      </p:sp>
      <p:pic>
        <p:nvPicPr>
          <p:cNvPr id="80899" name="Picture 5" descr="class2"/>
          <p:cNvPicPr>
            <a:picLocks noChangeAspect="1" noChangeArrowheads="1"/>
          </p:cNvPicPr>
          <p:nvPr/>
        </p:nvPicPr>
        <p:blipFill>
          <a:blip r:embed="rId3" cstate="print"/>
          <a:srcRect/>
          <a:stretch>
            <a:fillRect/>
          </a:stretch>
        </p:blipFill>
        <p:spPr bwMode="auto">
          <a:xfrm>
            <a:off x="6300788" y="1773238"/>
            <a:ext cx="2195512" cy="1300162"/>
          </a:xfrm>
          <a:prstGeom prst="rect">
            <a:avLst/>
          </a:prstGeom>
          <a:noFill/>
          <a:ln w="9525">
            <a:solidFill>
              <a:schemeClr val="tx1"/>
            </a:solidFill>
            <a:miter lim="800000"/>
            <a:headEnd/>
            <a:tailEnd/>
          </a:ln>
        </p:spPr>
      </p:pic>
      <p:sp>
        <p:nvSpPr>
          <p:cNvPr id="80900" name="Text Box 6"/>
          <p:cNvSpPr txBox="1">
            <a:spLocks noChangeArrowheads="1"/>
          </p:cNvSpPr>
          <p:nvPr/>
        </p:nvSpPr>
        <p:spPr bwMode="auto">
          <a:xfrm>
            <a:off x="6804025" y="5589588"/>
            <a:ext cx="1046163" cy="366712"/>
          </a:xfrm>
          <a:prstGeom prst="rect">
            <a:avLst/>
          </a:prstGeom>
          <a:noFill/>
          <a:ln w="9525">
            <a:noFill/>
            <a:miter lim="800000"/>
            <a:headEnd/>
            <a:tailEnd/>
          </a:ln>
        </p:spPr>
        <p:txBody>
          <a:bodyPr wrap="none">
            <a:spAutoFit/>
          </a:bodyPr>
          <a:lstStyle/>
          <a:p>
            <a:r>
              <a:rPr lang="en-AU" altLang="ja-JP">
                <a:solidFill>
                  <a:srgbClr val="103566"/>
                </a:solidFill>
                <a:ea typeface="ＭＳ Ｐゴシック" charset="-128"/>
              </a:rPr>
              <a:t>(</a:t>
            </a:r>
            <a:r>
              <a:rPr lang="el-GR" altLang="ja-JP">
                <a:solidFill>
                  <a:srgbClr val="103566"/>
                </a:solidFill>
              </a:rPr>
              <a:t>ά</a:t>
            </a:r>
            <a:r>
              <a:rPr lang="en-AU" altLang="ja-JP">
                <a:solidFill>
                  <a:srgbClr val="103566"/>
                </a:solidFill>
                <a:ea typeface="ＭＳ Ｐゴシック" charset="-128"/>
              </a:rPr>
              <a:t> = .92)</a:t>
            </a:r>
            <a:endParaRPr lang="en-AU">
              <a:solidFill>
                <a:srgbClr val="103566"/>
              </a:solidFill>
            </a:endParaRPr>
          </a:p>
        </p:txBody>
      </p:sp>
      <p:sp>
        <p:nvSpPr>
          <p:cNvPr id="80901" name="Text Box 479"/>
          <p:cNvSpPr txBox="1">
            <a:spLocks noChangeArrowheads="1"/>
          </p:cNvSpPr>
          <p:nvPr/>
        </p:nvSpPr>
        <p:spPr bwMode="auto">
          <a:xfrm>
            <a:off x="4932363" y="1700213"/>
            <a:ext cx="1139825" cy="396875"/>
          </a:xfrm>
          <a:prstGeom prst="rect">
            <a:avLst/>
          </a:prstGeom>
          <a:noFill/>
          <a:ln w="9525">
            <a:noFill/>
            <a:miter lim="800000"/>
            <a:headEnd/>
            <a:tailEnd/>
          </a:ln>
        </p:spPr>
        <p:txBody>
          <a:bodyPr wrap="none">
            <a:spAutoFit/>
          </a:bodyPr>
          <a:lstStyle/>
          <a:p>
            <a:r>
              <a:rPr lang="en-AU" sz="2000">
                <a:solidFill>
                  <a:srgbClr val="103566"/>
                </a:solidFill>
              </a:rPr>
              <a:t>(</a:t>
            </a:r>
            <a:r>
              <a:rPr lang="el-GR" sz="2000">
                <a:solidFill>
                  <a:srgbClr val="103566"/>
                </a:solidFill>
                <a:cs typeface="Arial" charset="0"/>
              </a:rPr>
              <a:t>ά</a:t>
            </a:r>
            <a:r>
              <a:rPr lang="en-AU" sz="2000">
                <a:solidFill>
                  <a:srgbClr val="103566"/>
                </a:solidFill>
                <a:cs typeface="Arial" charset="0"/>
              </a:rPr>
              <a:t> = .94)</a:t>
            </a:r>
            <a:endParaRPr lang="el-GR" sz="2000">
              <a:solidFill>
                <a:srgbClr val="103566"/>
              </a:solidFill>
              <a:cs typeface="Arial"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7" name="Rectangle 5"/>
          <p:cNvSpPr>
            <a:spLocks noGrp="1" noChangeArrowheads="1"/>
          </p:cNvSpPr>
          <p:nvPr>
            <p:ph type="title"/>
          </p:nvPr>
        </p:nvSpPr>
        <p:spPr>
          <a:xfrm>
            <a:off x="395288" y="188913"/>
            <a:ext cx="8229600" cy="647700"/>
          </a:xfrm>
        </p:spPr>
        <p:txBody>
          <a:bodyPr/>
          <a:lstStyle/>
          <a:p>
            <a:r>
              <a:rPr lang="en-AU" smtClean="0"/>
              <a:t>Differences in Competence by Sex </a:t>
            </a:r>
            <a:endParaRPr lang="en-US" smtClean="0"/>
          </a:p>
        </p:txBody>
      </p:sp>
      <p:graphicFrame>
        <p:nvGraphicFramePr>
          <p:cNvPr id="120836" name="Object 4"/>
          <p:cNvGraphicFramePr>
            <a:graphicFrameLocks noChangeAspect="1"/>
          </p:cNvGraphicFramePr>
          <p:nvPr>
            <p:ph idx="1"/>
          </p:nvPr>
        </p:nvGraphicFramePr>
        <p:xfrm>
          <a:off x="395288" y="908050"/>
          <a:ext cx="8201025" cy="3981450"/>
        </p:xfrm>
        <a:graphic>
          <a:graphicData uri="http://schemas.openxmlformats.org/presentationml/2006/ole">
            <p:oleObj spid="_x0000_s120836" name="Chart" r:id="rId3" imgW="7496251" imgH="4067124" progId="MSGraph.Chart.8">
              <p:embed followColorScheme="full"/>
            </p:oleObj>
          </a:graphicData>
        </a:graphic>
      </p:graphicFrame>
      <p:sp>
        <p:nvSpPr>
          <p:cNvPr id="120840" name="Rectangle 8"/>
          <p:cNvSpPr>
            <a:spLocks noChangeArrowheads="1"/>
          </p:cNvSpPr>
          <p:nvPr/>
        </p:nvSpPr>
        <p:spPr bwMode="auto">
          <a:xfrm>
            <a:off x="179388" y="4941888"/>
            <a:ext cx="7848600" cy="925512"/>
          </a:xfrm>
          <a:prstGeom prst="rect">
            <a:avLst/>
          </a:prstGeom>
          <a:noFill/>
          <a:ln w="9525">
            <a:solidFill>
              <a:schemeClr val="tx1"/>
            </a:solidFill>
            <a:miter lim="800000"/>
            <a:headEnd/>
            <a:tailEnd/>
          </a:ln>
          <a:effectLst/>
        </p:spPr>
        <p:txBody>
          <a:bodyPr>
            <a:spAutoFit/>
          </a:bodyPr>
          <a:lstStyle/>
          <a:p>
            <a:r>
              <a:rPr lang="en-AU"/>
              <a:t>One way ANOVAs revealed significant gender differences on:</a:t>
            </a:r>
          </a:p>
          <a:p>
            <a:r>
              <a:rPr lang="en-AU"/>
              <a:t>ARS – Language and Literacy, </a:t>
            </a:r>
            <a:r>
              <a:rPr lang="en-AU" i="1"/>
              <a:t>p</a:t>
            </a:r>
            <a:r>
              <a:rPr lang="en-AU"/>
              <a:t> &lt; .001; Approaches to Learning, </a:t>
            </a:r>
            <a:r>
              <a:rPr lang="en-AU" i="1"/>
              <a:t>p</a:t>
            </a:r>
            <a:r>
              <a:rPr lang="en-AU"/>
              <a:t> &lt; .001; STRS, </a:t>
            </a:r>
            <a:r>
              <a:rPr lang="en-AU" i="1"/>
              <a:t>p</a:t>
            </a:r>
            <a:r>
              <a:rPr lang="en-AU"/>
              <a:t> &lt; .001.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Rectangle 5"/>
          <p:cNvSpPr>
            <a:spLocks noGrp="1" noChangeArrowheads="1"/>
          </p:cNvSpPr>
          <p:nvPr>
            <p:ph type="title"/>
          </p:nvPr>
        </p:nvSpPr>
        <p:spPr>
          <a:xfrm>
            <a:off x="179388" y="274638"/>
            <a:ext cx="8785225" cy="850900"/>
          </a:xfrm>
        </p:spPr>
        <p:txBody>
          <a:bodyPr/>
          <a:lstStyle/>
          <a:p>
            <a:r>
              <a:rPr lang="en-AU" sz="3400" smtClean="0"/>
              <a:t>Differences in Competence by ATSI Status </a:t>
            </a:r>
            <a:endParaRPr lang="en-US" sz="3400" smtClean="0"/>
          </a:p>
        </p:txBody>
      </p:sp>
      <p:graphicFrame>
        <p:nvGraphicFramePr>
          <p:cNvPr id="122884" name="Object 4"/>
          <p:cNvGraphicFramePr>
            <a:graphicFrameLocks noChangeAspect="1"/>
          </p:cNvGraphicFramePr>
          <p:nvPr>
            <p:ph idx="1"/>
          </p:nvPr>
        </p:nvGraphicFramePr>
        <p:xfrm>
          <a:off x="611188" y="1052513"/>
          <a:ext cx="8185150" cy="3981450"/>
        </p:xfrm>
        <a:graphic>
          <a:graphicData uri="http://schemas.openxmlformats.org/presentationml/2006/ole">
            <p:oleObj spid="_x0000_s122884" name="Chart" r:id="rId3" imgW="7896301" imgH="4067124" progId="MSGraph.Chart.8">
              <p:embed followColorScheme="full"/>
            </p:oleObj>
          </a:graphicData>
        </a:graphic>
      </p:graphicFrame>
      <p:sp>
        <p:nvSpPr>
          <p:cNvPr id="122888" name="Rectangle 8"/>
          <p:cNvSpPr>
            <a:spLocks noChangeArrowheads="1"/>
          </p:cNvSpPr>
          <p:nvPr/>
        </p:nvSpPr>
        <p:spPr bwMode="auto">
          <a:xfrm>
            <a:off x="323850" y="4941888"/>
            <a:ext cx="8135938" cy="915987"/>
          </a:xfrm>
          <a:prstGeom prst="rect">
            <a:avLst/>
          </a:prstGeom>
          <a:noFill/>
          <a:ln w="9525">
            <a:noFill/>
            <a:miter lim="800000"/>
            <a:headEnd/>
            <a:tailEnd/>
          </a:ln>
          <a:effectLst/>
        </p:spPr>
        <p:txBody>
          <a:bodyPr>
            <a:spAutoFit/>
          </a:bodyPr>
          <a:lstStyle/>
          <a:p>
            <a:r>
              <a:rPr lang="en-AU"/>
              <a:t>One way ANOVAs revealed significant differences on:</a:t>
            </a:r>
          </a:p>
          <a:p>
            <a:r>
              <a:rPr lang="en-AU"/>
              <a:t>ARS – Language and Literacy, </a:t>
            </a:r>
            <a:r>
              <a:rPr lang="en-AU" i="1"/>
              <a:t>p</a:t>
            </a:r>
            <a:r>
              <a:rPr lang="en-AU"/>
              <a:t> &lt; .001; ARS – Mathematical Thinking; Approaches to Learning, </a:t>
            </a:r>
            <a:r>
              <a:rPr lang="en-AU" i="1"/>
              <a:t>p</a:t>
            </a:r>
            <a:r>
              <a:rPr lang="en-AU"/>
              <a:t> &lt; .001.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3" name="Rectangle 5"/>
          <p:cNvSpPr>
            <a:spLocks noGrp="1" noChangeArrowheads="1"/>
          </p:cNvSpPr>
          <p:nvPr>
            <p:ph type="title"/>
          </p:nvPr>
        </p:nvSpPr>
        <p:spPr>
          <a:xfrm>
            <a:off x="179388" y="188913"/>
            <a:ext cx="8785225" cy="647700"/>
          </a:xfrm>
        </p:spPr>
        <p:txBody>
          <a:bodyPr/>
          <a:lstStyle/>
          <a:p>
            <a:r>
              <a:rPr lang="en-AU" sz="3400" smtClean="0"/>
              <a:t>Differences in competence by LOTE Status</a:t>
            </a:r>
            <a:endParaRPr lang="en-US" sz="3400" smtClean="0"/>
          </a:p>
        </p:txBody>
      </p:sp>
      <p:graphicFrame>
        <p:nvGraphicFramePr>
          <p:cNvPr id="124932" name="Object 4"/>
          <p:cNvGraphicFramePr>
            <a:graphicFrameLocks noChangeAspect="1"/>
          </p:cNvGraphicFramePr>
          <p:nvPr>
            <p:ph idx="1"/>
          </p:nvPr>
        </p:nvGraphicFramePr>
        <p:xfrm>
          <a:off x="395288" y="1196975"/>
          <a:ext cx="8642350" cy="3989388"/>
        </p:xfrm>
        <a:graphic>
          <a:graphicData uri="http://schemas.openxmlformats.org/presentationml/2006/ole">
            <p:oleObj spid="_x0000_s124932" name="Chart" r:id="rId3" imgW="6095848" imgH="4067124" progId="MSGraph.Chart.8">
              <p:embed followColorScheme="full"/>
            </p:oleObj>
          </a:graphicData>
        </a:graphic>
      </p:graphicFrame>
      <p:sp>
        <p:nvSpPr>
          <p:cNvPr id="124936" name="Rectangle 8"/>
          <p:cNvSpPr>
            <a:spLocks noChangeArrowheads="1"/>
          </p:cNvSpPr>
          <p:nvPr/>
        </p:nvSpPr>
        <p:spPr bwMode="auto">
          <a:xfrm>
            <a:off x="684213" y="5445125"/>
            <a:ext cx="6769100" cy="366713"/>
          </a:xfrm>
          <a:prstGeom prst="rect">
            <a:avLst/>
          </a:prstGeom>
          <a:noFill/>
          <a:ln w="9525">
            <a:noFill/>
            <a:miter lim="800000"/>
            <a:headEnd/>
            <a:tailEnd/>
          </a:ln>
          <a:effectLst/>
        </p:spPr>
        <p:txBody>
          <a:bodyPr>
            <a:spAutoFit/>
          </a:bodyPr>
          <a:lstStyle/>
          <a:p>
            <a:r>
              <a:rPr lang="en-AU"/>
              <a:t>No significant differences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a:spLocks noGrp="1" noChangeArrowheads="1"/>
          </p:cNvSpPr>
          <p:nvPr>
            <p:ph type="title"/>
          </p:nvPr>
        </p:nvSpPr>
        <p:spPr>
          <a:xfrm>
            <a:off x="323850" y="115888"/>
            <a:ext cx="8712200" cy="649287"/>
          </a:xfrm>
        </p:spPr>
        <p:txBody>
          <a:bodyPr/>
          <a:lstStyle/>
          <a:p>
            <a:pPr eaLnBrk="1" hangingPunct="1"/>
            <a:r>
              <a:rPr lang="en-AU" sz="2800" smtClean="0"/>
              <a:t>Differences in Competence by Socio Economic Position</a:t>
            </a:r>
          </a:p>
        </p:txBody>
      </p:sp>
      <p:graphicFrame>
        <p:nvGraphicFramePr>
          <p:cNvPr id="3074" name="Object 4"/>
          <p:cNvGraphicFramePr>
            <a:graphicFrameLocks noChangeAspect="1"/>
          </p:cNvGraphicFramePr>
          <p:nvPr>
            <p:ph idx="1"/>
          </p:nvPr>
        </p:nvGraphicFramePr>
        <p:xfrm>
          <a:off x="755650" y="765175"/>
          <a:ext cx="7753350" cy="4379913"/>
        </p:xfrm>
        <a:graphic>
          <a:graphicData uri="http://schemas.openxmlformats.org/presentationml/2006/ole">
            <p:oleObj spid="_x0000_s3074" name="Chart" r:id="rId4" imgW="5876849" imgH="3209874" progId="MSGraph.Chart.8">
              <p:embed followColorScheme="full"/>
            </p:oleObj>
          </a:graphicData>
        </a:graphic>
      </p:graphicFrame>
      <p:sp>
        <p:nvSpPr>
          <p:cNvPr id="3079" name="Rectangle 7"/>
          <p:cNvSpPr>
            <a:spLocks noChangeArrowheads="1"/>
          </p:cNvSpPr>
          <p:nvPr/>
        </p:nvSpPr>
        <p:spPr bwMode="auto">
          <a:xfrm>
            <a:off x="179388" y="5013325"/>
            <a:ext cx="8785225" cy="915988"/>
          </a:xfrm>
          <a:prstGeom prst="rect">
            <a:avLst/>
          </a:prstGeom>
          <a:noFill/>
          <a:ln w="9525">
            <a:noFill/>
            <a:miter lim="800000"/>
            <a:headEnd/>
            <a:tailEnd/>
          </a:ln>
          <a:effectLst/>
        </p:spPr>
        <p:txBody>
          <a:bodyPr>
            <a:spAutoFit/>
          </a:bodyPr>
          <a:lstStyle/>
          <a:p>
            <a:r>
              <a:rPr lang="en-AU"/>
              <a:t>One way ANOVAs revealed significant differences on: ARS – Language and Literacy, </a:t>
            </a:r>
            <a:r>
              <a:rPr lang="en-AU" i="1"/>
              <a:t>p</a:t>
            </a:r>
            <a:r>
              <a:rPr lang="en-AU"/>
              <a:t> &lt; .001; ARS – Mathematical Thinking; Approaches to Learning, </a:t>
            </a:r>
            <a:r>
              <a:rPr lang="en-AU" i="1"/>
              <a:t>p</a:t>
            </a:r>
            <a:r>
              <a:rPr lang="en-AU"/>
              <a:t> &lt; .001 (between low and high SEP); STRS, </a:t>
            </a:r>
            <a:r>
              <a:rPr lang="en-AU" i="1"/>
              <a:t>p</a:t>
            </a:r>
            <a:r>
              <a:rPr lang="en-AU"/>
              <a:t> &lt; .001(between low and high SEP).</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a:spLocks noGrp="1" noChangeArrowheads="1"/>
          </p:cNvSpPr>
          <p:nvPr>
            <p:ph type="title"/>
          </p:nvPr>
        </p:nvSpPr>
        <p:spPr>
          <a:xfrm>
            <a:off x="395288" y="115888"/>
            <a:ext cx="8497887" cy="1027112"/>
          </a:xfrm>
        </p:spPr>
        <p:txBody>
          <a:bodyPr/>
          <a:lstStyle/>
          <a:p>
            <a:pPr eaLnBrk="1" hangingPunct="1"/>
            <a:r>
              <a:rPr lang="en-AU" sz="3600" smtClean="0"/>
              <a:t>How well are Australian children doing in Year 1 of school?</a:t>
            </a:r>
          </a:p>
        </p:txBody>
      </p:sp>
      <p:sp>
        <p:nvSpPr>
          <p:cNvPr id="129026" name="Rectangle 3"/>
          <p:cNvSpPr>
            <a:spLocks noGrp="1" noChangeArrowheads="1"/>
          </p:cNvSpPr>
          <p:nvPr>
            <p:ph type="body" idx="1"/>
          </p:nvPr>
        </p:nvSpPr>
        <p:spPr>
          <a:xfrm>
            <a:off x="179388" y="1196975"/>
            <a:ext cx="8785225" cy="4679950"/>
          </a:xfrm>
        </p:spPr>
        <p:txBody>
          <a:bodyPr/>
          <a:lstStyle/>
          <a:p>
            <a:pPr eaLnBrk="1" hangingPunct="1">
              <a:lnSpc>
                <a:spcPct val="70000"/>
              </a:lnSpc>
              <a:buFontTx/>
              <a:buNone/>
            </a:pPr>
            <a:r>
              <a:rPr lang="en-AU" sz="2400" b="1" i="1" smtClean="0"/>
              <a:t>Some are doing better than others on teacher rated outcomes</a:t>
            </a:r>
            <a:r>
              <a:rPr lang="en-AU" sz="2400" smtClean="0"/>
              <a:t>:</a:t>
            </a:r>
          </a:p>
          <a:p>
            <a:pPr lvl="1" eaLnBrk="1" hangingPunct="1">
              <a:lnSpc>
                <a:spcPct val="70000"/>
              </a:lnSpc>
            </a:pPr>
            <a:r>
              <a:rPr lang="en-AU" b="1" i="1" smtClean="0">
                <a:solidFill>
                  <a:srgbClr val="FF3300"/>
                </a:solidFill>
              </a:rPr>
              <a:t>Girls are rated by their teachers as doing better than boys on:</a:t>
            </a:r>
          </a:p>
          <a:p>
            <a:pPr lvl="2" eaLnBrk="1" hangingPunct="1">
              <a:lnSpc>
                <a:spcPct val="70000"/>
              </a:lnSpc>
            </a:pPr>
            <a:r>
              <a:rPr lang="en-AU" sz="2400" smtClean="0"/>
              <a:t>Language and literacy;</a:t>
            </a:r>
          </a:p>
          <a:p>
            <a:pPr lvl="2" eaLnBrk="1" hangingPunct="1">
              <a:lnSpc>
                <a:spcPct val="70000"/>
              </a:lnSpc>
            </a:pPr>
            <a:r>
              <a:rPr lang="en-AU" sz="2400" smtClean="0"/>
              <a:t>Approaches to learning; and</a:t>
            </a:r>
          </a:p>
          <a:p>
            <a:pPr lvl="2" eaLnBrk="1" hangingPunct="1">
              <a:lnSpc>
                <a:spcPct val="70000"/>
              </a:lnSpc>
            </a:pPr>
            <a:r>
              <a:rPr lang="en-AU" sz="2400" smtClean="0"/>
              <a:t>They have better relationships with their teacher </a:t>
            </a:r>
          </a:p>
          <a:p>
            <a:pPr lvl="1" eaLnBrk="1" hangingPunct="1">
              <a:lnSpc>
                <a:spcPct val="70000"/>
              </a:lnSpc>
            </a:pPr>
            <a:r>
              <a:rPr lang="en-AU" b="1" i="1" smtClean="0">
                <a:solidFill>
                  <a:srgbClr val="FF3300"/>
                </a:solidFill>
              </a:rPr>
              <a:t>Children from ATSI background are doing less well on:</a:t>
            </a:r>
          </a:p>
          <a:p>
            <a:pPr lvl="2" eaLnBrk="1" hangingPunct="1">
              <a:lnSpc>
                <a:spcPct val="70000"/>
              </a:lnSpc>
            </a:pPr>
            <a:r>
              <a:rPr lang="en-AU" sz="2400" smtClean="0"/>
              <a:t>Language and literacy;</a:t>
            </a:r>
          </a:p>
          <a:p>
            <a:pPr lvl="2" eaLnBrk="1" hangingPunct="1">
              <a:lnSpc>
                <a:spcPct val="70000"/>
              </a:lnSpc>
            </a:pPr>
            <a:r>
              <a:rPr lang="en-AU" sz="2400" smtClean="0"/>
              <a:t>Mathematical thinking; and</a:t>
            </a:r>
          </a:p>
          <a:p>
            <a:pPr lvl="2" eaLnBrk="1" hangingPunct="1">
              <a:lnSpc>
                <a:spcPct val="70000"/>
              </a:lnSpc>
            </a:pPr>
            <a:r>
              <a:rPr lang="en-AU" sz="2400" smtClean="0"/>
              <a:t>Approaches to learning</a:t>
            </a:r>
          </a:p>
          <a:p>
            <a:pPr lvl="1" eaLnBrk="1" hangingPunct="1">
              <a:lnSpc>
                <a:spcPct val="70000"/>
              </a:lnSpc>
            </a:pPr>
            <a:r>
              <a:rPr lang="en-AU" b="1" i="1" smtClean="0">
                <a:solidFill>
                  <a:srgbClr val="FF3300"/>
                </a:solidFill>
              </a:rPr>
              <a:t>Children from low SEP families are doing less well on:</a:t>
            </a:r>
          </a:p>
          <a:p>
            <a:pPr lvl="2" eaLnBrk="1" hangingPunct="1">
              <a:lnSpc>
                <a:spcPct val="70000"/>
              </a:lnSpc>
            </a:pPr>
            <a:r>
              <a:rPr lang="en-AU" sz="2400" smtClean="0"/>
              <a:t>Language and literacy;</a:t>
            </a:r>
          </a:p>
          <a:p>
            <a:pPr lvl="2" eaLnBrk="1" hangingPunct="1">
              <a:lnSpc>
                <a:spcPct val="70000"/>
              </a:lnSpc>
            </a:pPr>
            <a:r>
              <a:rPr lang="en-AU" sz="2400" smtClean="0"/>
              <a:t>Mathematical thinking;</a:t>
            </a:r>
          </a:p>
          <a:p>
            <a:pPr lvl="2" eaLnBrk="1" hangingPunct="1">
              <a:lnSpc>
                <a:spcPct val="70000"/>
              </a:lnSpc>
            </a:pPr>
            <a:r>
              <a:rPr lang="en-AU" sz="2400" smtClean="0"/>
              <a:t>Approaches to learning; and</a:t>
            </a:r>
          </a:p>
          <a:p>
            <a:pPr lvl="2" eaLnBrk="1" hangingPunct="1">
              <a:lnSpc>
                <a:spcPct val="70000"/>
              </a:lnSpc>
            </a:pPr>
            <a:r>
              <a:rPr lang="en-AU" sz="2400" smtClean="0"/>
              <a:t>They have poorer relationships with their teacher</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3"/>
          <p:cNvSpPr>
            <a:spLocks noGrp="1" noChangeArrowheads="1"/>
          </p:cNvSpPr>
          <p:nvPr>
            <p:ph type="body" idx="4294967295"/>
          </p:nvPr>
        </p:nvSpPr>
        <p:spPr>
          <a:xfrm>
            <a:off x="107950" y="765175"/>
            <a:ext cx="8785225" cy="5111750"/>
          </a:xfrm>
        </p:spPr>
        <p:txBody>
          <a:bodyPr/>
          <a:lstStyle/>
          <a:p>
            <a:pPr marL="533400" indent="-533400">
              <a:lnSpc>
                <a:spcPct val="80000"/>
              </a:lnSpc>
              <a:buFontTx/>
              <a:buNone/>
            </a:pPr>
            <a:r>
              <a:rPr lang="en-US" sz="2400" b="1" i="1" smtClean="0"/>
              <a:t>So is the schooling system socially just and, if not, how can inequities be addressed? </a:t>
            </a:r>
          </a:p>
          <a:p>
            <a:pPr marL="533400" indent="-533400">
              <a:lnSpc>
                <a:spcPct val="80000"/>
              </a:lnSpc>
            </a:pPr>
            <a:r>
              <a:rPr lang="en-US" sz="2400" smtClean="0"/>
              <a:t>A significant number of young children enter Year 1 with different levels of readiness for school by </a:t>
            </a:r>
            <a:r>
              <a:rPr lang="en-US" sz="2400" b="1" i="1" smtClean="0"/>
              <a:t>key demographic variables. </a:t>
            </a:r>
            <a:endParaRPr lang="en-US" sz="2400" smtClean="0"/>
          </a:p>
          <a:p>
            <a:pPr marL="533400" indent="-533400">
              <a:lnSpc>
                <a:spcPct val="80000"/>
              </a:lnSpc>
            </a:pPr>
            <a:r>
              <a:rPr lang="en-US" sz="2400" smtClean="0"/>
              <a:t>These differences are likely to be manifested by subsequent and continuing differences in achievement and adjustment at school between children by social background.</a:t>
            </a:r>
            <a:endParaRPr lang="en-AU" sz="2400" smtClean="0"/>
          </a:p>
          <a:p>
            <a:pPr marL="533400" indent="-533400">
              <a:lnSpc>
                <a:spcPct val="80000"/>
              </a:lnSpc>
            </a:pPr>
            <a:r>
              <a:rPr lang="en-AU" sz="2400" smtClean="0"/>
              <a:t>The early grades of school are a period when schools can have a major influence on individuals’ school success. It is the responsibility of schools to adjust their practice to these individual differences as children begin school.</a:t>
            </a:r>
          </a:p>
          <a:p>
            <a:pPr marL="533400" indent="-533400">
              <a:lnSpc>
                <a:spcPct val="80000"/>
              </a:lnSpc>
            </a:pPr>
            <a:r>
              <a:rPr lang="en-AU" sz="2400" b="1" i="1" smtClean="0"/>
              <a:t>It is early days in the school careers of LSAC children</a:t>
            </a:r>
            <a:r>
              <a:rPr lang="en-AU" sz="2400" smtClean="0"/>
              <a:t>. It will be important to continue to track their progress and engagement  with their schooling across time. </a:t>
            </a:r>
            <a:endParaRPr lang="en-US" sz="2400" smtClean="0"/>
          </a:p>
        </p:txBody>
      </p:sp>
      <p:sp>
        <p:nvSpPr>
          <p:cNvPr id="131074" name="Text Box 3"/>
          <p:cNvSpPr txBox="1">
            <a:spLocks noChangeArrowheads="1"/>
          </p:cNvSpPr>
          <p:nvPr/>
        </p:nvSpPr>
        <p:spPr bwMode="auto">
          <a:xfrm>
            <a:off x="1042988" y="260350"/>
            <a:ext cx="1873250" cy="366713"/>
          </a:xfrm>
          <a:prstGeom prst="rect">
            <a:avLst/>
          </a:prstGeom>
          <a:noFill/>
          <a:ln w="9525">
            <a:noFill/>
            <a:miter lim="800000"/>
            <a:headEnd/>
            <a:tailEnd/>
          </a:ln>
        </p:spPr>
        <p:txBody>
          <a:bodyPr>
            <a:spAutoFit/>
          </a:bodyPr>
          <a:lstStyle/>
          <a:p>
            <a:pPr>
              <a:spcBef>
                <a:spcPct val="50000"/>
              </a:spcBef>
            </a:pPr>
            <a:endParaRPr lang="en-US"/>
          </a:p>
        </p:txBody>
      </p:sp>
      <p:sp>
        <p:nvSpPr>
          <p:cNvPr id="131075" name="Rectangle 5"/>
          <p:cNvSpPr>
            <a:spLocks noChangeArrowheads="1"/>
          </p:cNvSpPr>
          <p:nvPr/>
        </p:nvSpPr>
        <p:spPr bwMode="auto">
          <a:xfrm>
            <a:off x="395288" y="115888"/>
            <a:ext cx="8362950" cy="503237"/>
          </a:xfrm>
          <a:prstGeom prst="rect">
            <a:avLst/>
          </a:prstGeom>
          <a:noFill/>
          <a:ln w="9525">
            <a:noFill/>
            <a:miter lim="800000"/>
            <a:headEnd/>
            <a:tailEnd/>
          </a:ln>
        </p:spPr>
        <p:txBody>
          <a:bodyPr anchor="ctr"/>
          <a:lstStyle/>
          <a:p>
            <a:pPr algn="ctr"/>
            <a:r>
              <a:rPr lang="en-AU" sz="3600" b="1">
                <a:solidFill>
                  <a:srgbClr val="103566"/>
                </a:solidFill>
                <a:latin typeface="Times New Roman" pitchFamily="18" charset="0"/>
              </a:rPr>
              <a:t>Implications</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3460</TotalTime>
  <Words>1988</Words>
  <Application>Microsoft Office PowerPoint</Application>
  <PresentationFormat>On-screen Show (4:3)</PresentationFormat>
  <Paragraphs>243</Paragraphs>
  <Slides>20</Slides>
  <Notes>10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20</vt:i4>
      </vt:variant>
    </vt:vector>
  </HeadingPairs>
  <TitlesOfParts>
    <vt:vector size="23" baseType="lpstr">
      <vt:lpstr>Default Design</vt:lpstr>
      <vt:lpstr>Drawing</vt:lpstr>
      <vt:lpstr>Chart</vt:lpstr>
      <vt:lpstr>How well are Australian children doing in the first year of school? A demographic analysis Donna Berthelsen &amp; Sue Walker Centre for Learning Innovation  Queensland University of Technology Brisbane, Australia</vt:lpstr>
      <vt:lpstr>Beginning School </vt:lpstr>
      <vt:lpstr>Demographic Context</vt:lpstr>
      <vt:lpstr>School Context</vt:lpstr>
      <vt:lpstr>Policy Context</vt:lpstr>
      <vt:lpstr>There are significant concerns by policy makers about school completion rates … SES and Sex</vt:lpstr>
      <vt:lpstr>Growing Up in Australia: The Longitudinal Study of Australian Children  (LSAC)</vt:lpstr>
      <vt:lpstr>Slide 8</vt:lpstr>
      <vt:lpstr>Data collection timeline</vt:lpstr>
      <vt:lpstr>Study Informants</vt:lpstr>
      <vt:lpstr>Research Questions ….  </vt:lpstr>
      <vt:lpstr>Analytic Sample</vt:lpstr>
      <vt:lpstr>Learning Competence – Academic Rating Scales </vt:lpstr>
      <vt:lpstr>Social and Behavioural Competence</vt:lpstr>
      <vt:lpstr>Differences in Competence by Sex </vt:lpstr>
      <vt:lpstr>Differences in Competence by ATSI Status </vt:lpstr>
      <vt:lpstr>Differences in competence by LOTE Status</vt:lpstr>
      <vt:lpstr>Differences in Competence by Socio Economic Position</vt:lpstr>
      <vt:lpstr>How well are Australian children doing in Year 1 of school?</vt:lpstr>
      <vt:lpstr>Slide 20</vt:lpstr>
    </vt:vector>
  </TitlesOfParts>
  <Company>ȩɯ릜</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Publications Unit</dc:creator>
  <cp:lastModifiedBy>walker</cp:lastModifiedBy>
  <cp:revision>76</cp:revision>
  <dcterms:created xsi:type="dcterms:W3CDTF">2003-12-23T01:05:20Z</dcterms:created>
  <dcterms:modified xsi:type="dcterms:W3CDTF">2009-09-23T05:16:48Z</dcterms:modified>
</cp:coreProperties>
</file>