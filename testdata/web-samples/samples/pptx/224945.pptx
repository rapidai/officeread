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31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15483-976B-4363-BA32-39D3B8A7FFF2}" type="datetimeFigureOut">
              <a:rPr lang="en-US" smtClean="0"/>
              <a:pPr/>
              <a:t>11/6/2007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55F23-FD9B-4053-B0A6-3FD1030179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7772400" cy="1470025"/>
          </a:xfrm>
          <a:solidFill>
            <a:schemeClr val="accent1">
              <a:alpha val="24000"/>
            </a:schemeClr>
          </a:solidFill>
        </p:spPr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Run8 – Coming sooner than we had thought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Mike Leitch</a:t>
            </a:r>
          </a:p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Run8 Coordinator</a:t>
            </a:r>
          </a:p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November 7</a:t>
            </a:r>
            <a:r>
              <a:rPr lang="en-US" baseline="30000" dirty="0" smtClean="0">
                <a:solidFill>
                  <a:srgbClr val="FF0000"/>
                </a:solidFill>
                <a:latin typeface="Comic Sans MS" pitchFamily="66" charset="0"/>
              </a:rPr>
              <a:t>th</a:t>
            </a:r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 2007</a:t>
            </a:r>
            <a:endParaRPr lang="en-US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  <p:pic>
        <p:nvPicPr>
          <p:cNvPr id="2050" name="Picture 2" descr="C:\Documents and Settings\leitch\My Documents\pictures\bnl_nov07\IMG_3845.jpg"/>
          <p:cNvPicPr>
            <a:picLocks noChangeAspect="1" noChangeArrowheads="1"/>
          </p:cNvPicPr>
          <p:nvPr/>
        </p:nvPicPr>
        <p:blipFill>
          <a:blip r:embed="rId2" cstate="print"/>
          <a:srcRect l="19521" t="19418" r="23836" b="7705"/>
          <a:stretch>
            <a:fillRect/>
          </a:stretch>
        </p:blipFill>
        <p:spPr bwMode="auto">
          <a:xfrm>
            <a:off x="5486400" y="3886200"/>
            <a:ext cx="2667000" cy="2287565"/>
          </a:xfrm>
          <a:prstGeom prst="rect">
            <a:avLst/>
          </a:prstGeom>
          <a:noFill/>
        </p:spPr>
      </p:pic>
      <p:pic>
        <p:nvPicPr>
          <p:cNvPr id="2051" name="Picture 3" descr="C:\Documents and Settings\leitch\My Documents\pictures\bnl_oct07\IMG_38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8862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11/7/2007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DE7AFB-709E-4A37-BFDF-9D96A101584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304800"/>
          <a:ext cx="38862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722"/>
                <a:gridCol w="2934478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#weeks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Machine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cold</a:t>
                      </a:r>
                      <a:endParaRPr lang="en-US" dirty="0"/>
                    </a:p>
                  </a:txBody>
                  <a:tcPr/>
                </a:tc>
              </a:tr>
              <a:tr h="36328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Cool-down + setup/ramp-up</a:t>
                      </a:r>
                      <a:endParaRPr lang="en-US" dirty="0"/>
                    </a:p>
                  </a:txBody>
                  <a:tcPr/>
                </a:tc>
              </a:tr>
              <a:tr h="36328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dAu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>
                          <a:sym typeface="Symbol"/>
                        </a:rPr>
                        <a:t> pp change</a:t>
                      </a:r>
                      <a:endParaRPr lang="en-US" dirty="0"/>
                    </a:p>
                  </a:txBody>
                  <a:tcPr/>
                </a:tc>
              </a:tr>
              <a:tr h="36328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Warm-up</a:t>
                      </a:r>
                      <a:endParaRPr lang="en-US" dirty="0"/>
                    </a:p>
                  </a:txBody>
                  <a:tcPr/>
                </a:tc>
              </a:tr>
              <a:tr h="36328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Physics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52800" y="1981200"/>
          <a:ext cx="5562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38200"/>
                <a:gridCol w="1584960"/>
                <a:gridCol w="1234440"/>
                <a:gridCol w="990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Species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Weeks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Delivered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Recorded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Goal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dAu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100-315 nb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25-78 nb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58 nb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50-125 pb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13-31 pb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 pb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49" name="TextBox 9"/>
          <p:cNvSpPr txBox="1">
            <a:spLocks noChangeArrowheads="1"/>
          </p:cNvSpPr>
          <p:nvPr/>
        </p:nvSpPr>
        <p:spPr bwMode="auto">
          <a:xfrm>
            <a:off x="3352800" y="3200400"/>
            <a:ext cx="56292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1600"/>
              <a:t> Assuming 25% recorded/delivered (48% vtx * 53% up*live)</a:t>
            </a:r>
          </a:p>
          <a:p>
            <a:pPr>
              <a:buFont typeface="Arial" charset="0"/>
              <a:buChar char="•"/>
            </a:pPr>
            <a:r>
              <a:rPr lang="en-US" sz="1600"/>
              <a:t> Run8+9 p+p goal is 71 pb</a:t>
            </a:r>
            <a:r>
              <a:rPr lang="en-US" sz="1600" baseline="30000"/>
              <a:t>-1</a:t>
            </a:r>
          </a:p>
        </p:txBody>
      </p:sp>
      <p:pic>
        <p:nvPicPr>
          <p:cNvPr id="41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57638"/>
            <a:ext cx="4660900" cy="24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892550"/>
            <a:ext cx="43624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52" name="TextBox 12"/>
          <p:cNvSpPr txBox="1">
            <a:spLocks noChangeArrowheads="1"/>
          </p:cNvSpPr>
          <p:nvPr/>
        </p:nvSpPr>
        <p:spPr bwMode="auto">
          <a:xfrm>
            <a:off x="4648200" y="457200"/>
            <a:ext cx="4114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>
                <a:latin typeface="Comic Sans MS" pitchFamily="66" charset="0"/>
              </a:rPr>
              <a:t>Expected luminosities for dAu &amp; pp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5943600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Recorded/Delivered = 0.25 – assumes:</a:t>
            </a:r>
          </a:p>
          <a:p>
            <a:pPr lvl="1"/>
            <a:r>
              <a:rPr lang="en-US" sz="2400" dirty="0" smtClean="0">
                <a:latin typeface="Comic Sans MS" pitchFamily="66" charset="0"/>
              </a:rPr>
              <a:t>48% vertex efficiency (average seen in Run7)</a:t>
            </a:r>
          </a:p>
          <a:p>
            <a:pPr lvl="1"/>
            <a:r>
              <a:rPr lang="en-US" sz="2400" dirty="0" smtClean="0">
                <a:latin typeface="Comic Sans MS" pitchFamily="66" charset="0"/>
              </a:rPr>
              <a:t>82% </a:t>
            </a:r>
            <a:r>
              <a:rPr lang="en-US" sz="2400" dirty="0" err="1" smtClean="0">
                <a:latin typeface="Comic Sans MS" pitchFamily="66" charset="0"/>
              </a:rPr>
              <a:t>livetime</a:t>
            </a:r>
            <a:r>
              <a:rPr lang="en-US" sz="2400" dirty="0" smtClean="0">
                <a:latin typeface="Comic Sans MS" pitchFamily="66" charset="0"/>
              </a:rPr>
              <a:t> &amp; 64% up  time (as seen last two weeks of Run7)</a:t>
            </a:r>
          </a:p>
          <a:p>
            <a:pPr lvl="2"/>
            <a:r>
              <a:rPr lang="en-US" dirty="0" err="1" smtClean="0">
                <a:latin typeface="Comic Sans MS" pitchFamily="66" charset="0"/>
              </a:rPr>
              <a:t>d+Au</a:t>
            </a:r>
            <a:r>
              <a:rPr lang="en-US" dirty="0" smtClean="0">
                <a:latin typeface="Comic Sans MS" pitchFamily="66" charset="0"/>
              </a:rPr>
              <a:t> and </a:t>
            </a:r>
            <a:r>
              <a:rPr lang="en-US" dirty="0" err="1" smtClean="0">
                <a:latin typeface="Comic Sans MS" pitchFamily="66" charset="0"/>
              </a:rPr>
              <a:t>p+p</a:t>
            </a:r>
            <a:r>
              <a:rPr lang="en-US" dirty="0" smtClean="0">
                <a:latin typeface="Comic Sans MS" pitchFamily="66" charset="0"/>
              </a:rPr>
              <a:t> collisions not as challenging as </a:t>
            </a:r>
            <a:r>
              <a:rPr lang="en-US" dirty="0" err="1" smtClean="0">
                <a:latin typeface="Comic Sans MS" pitchFamily="66" charset="0"/>
              </a:rPr>
              <a:t>Au+Au</a:t>
            </a:r>
            <a:r>
              <a:rPr lang="en-US" dirty="0" smtClean="0">
                <a:latin typeface="Comic Sans MS" pitchFamily="66" charset="0"/>
              </a:rPr>
              <a:t> for PHENIX DAQ, so probably can do better</a:t>
            </a:r>
          </a:p>
          <a:p>
            <a:pPr lvl="2"/>
            <a:r>
              <a:rPr lang="en-US" dirty="0" smtClean="0">
                <a:latin typeface="Comic Sans MS" pitchFamily="66" charset="0"/>
              </a:rPr>
              <a:t>Also 88% (</a:t>
            </a:r>
            <a:r>
              <a:rPr lang="en-US" dirty="0" err="1" smtClean="0">
                <a:latin typeface="Comic Sans MS" pitchFamily="66" charset="0"/>
              </a:rPr>
              <a:t>dAu</a:t>
            </a:r>
            <a:r>
              <a:rPr lang="en-US" dirty="0" smtClean="0">
                <a:latin typeface="Comic Sans MS" pitchFamily="66" charset="0"/>
              </a:rPr>
              <a:t>) &amp; 53% (pp) BBC efficiencies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Details on </a:t>
            </a:r>
            <a:r>
              <a:rPr lang="en-US" sz="2400" dirty="0" err="1" smtClean="0">
                <a:solidFill>
                  <a:srgbClr val="FF0000"/>
                </a:solidFill>
                <a:latin typeface="Comic Sans MS" pitchFamily="66" charset="0"/>
              </a:rPr>
              <a:t>p+p</a:t>
            </a: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35 pb</a:t>
            </a:r>
            <a:r>
              <a:rPr lang="en-US" sz="2400" baseline="30000" dirty="0" smtClean="0">
                <a:solidFill>
                  <a:srgbClr val="FF0000"/>
                </a:solidFill>
                <a:latin typeface="Comic Sans MS" pitchFamily="66" charset="0"/>
              </a:rPr>
              <a:t>-1</a:t>
            </a: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goal:</a:t>
            </a:r>
          </a:p>
          <a:p>
            <a:pPr lvl="1"/>
            <a:r>
              <a:rPr lang="en-US" sz="2400" dirty="0" smtClean="0">
                <a:latin typeface="Comic Sans MS" pitchFamily="66" charset="0"/>
              </a:rPr>
              <a:t> ¾ longitudinal &amp; ¼ transverse polarization</a:t>
            </a:r>
          </a:p>
          <a:p>
            <a:pPr lvl="1"/>
            <a:r>
              <a:rPr lang="en-US" sz="2400" dirty="0" smtClean="0">
                <a:latin typeface="Comic Sans MS" pitchFamily="66" charset="0"/>
              </a:rPr>
              <a:t> assuming 65% average polarization</a:t>
            </a:r>
          </a:p>
          <a:p>
            <a:pPr lvl="1"/>
            <a:r>
              <a:rPr lang="en-US" sz="2400" dirty="0" smtClean="0">
                <a:latin typeface="Comic Sans MS" pitchFamily="66" charset="0"/>
              </a:rPr>
              <a:t>FOM goals:</a:t>
            </a:r>
          </a:p>
          <a:p>
            <a:pPr lvl="2"/>
            <a:r>
              <a:rPr lang="en-US" dirty="0" smtClean="0">
                <a:latin typeface="Comic Sans MS" pitchFamily="66" charset="0"/>
              </a:rPr>
              <a:t>P</a:t>
            </a:r>
            <a:r>
              <a:rPr lang="en-US" baseline="30000" dirty="0" smtClean="0">
                <a:latin typeface="Comic Sans MS" pitchFamily="66" charset="0"/>
              </a:rPr>
              <a:t>4</a:t>
            </a:r>
            <a:r>
              <a:rPr lang="en-US" i="1" dirty="0" smtClean="0">
                <a:latin typeface="Comic Sans MS" pitchFamily="66" charset="0"/>
              </a:rPr>
              <a:t>L</a:t>
            </a:r>
            <a:r>
              <a:rPr lang="en-US" baseline="-25000" dirty="0" smtClean="0">
                <a:latin typeface="Comic Sans MS" pitchFamily="66" charset="0"/>
              </a:rPr>
              <a:t>longitudinal</a:t>
            </a:r>
            <a:r>
              <a:rPr lang="en-US" dirty="0" smtClean="0">
                <a:latin typeface="Comic Sans MS" pitchFamily="66" charset="0"/>
              </a:rPr>
              <a:t> = 4.7 pb</a:t>
            </a:r>
            <a:r>
              <a:rPr lang="en-US" baseline="30000" dirty="0" smtClean="0">
                <a:latin typeface="Comic Sans MS" pitchFamily="66" charset="0"/>
              </a:rPr>
              <a:t>-1</a:t>
            </a:r>
          </a:p>
          <a:p>
            <a:pPr lvl="2"/>
            <a:r>
              <a:rPr lang="en-US" dirty="0" smtClean="0">
                <a:latin typeface="Comic Sans MS" pitchFamily="66" charset="0"/>
              </a:rPr>
              <a:t>P</a:t>
            </a:r>
            <a:r>
              <a:rPr lang="en-US" baseline="30000" dirty="0" smtClean="0">
                <a:latin typeface="Comic Sans MS" pitchFamily="66" charset="0"/>
              </a:rPr>
              <a:t>2</a:t>
            </a:r>
            <a:r>
              <a:rPr lang="en-US" i="1" dirty="0" smtClean="0">
                <a:latin typeface="Comic Sans MS" pitchFamily="66" charset="0"/>
              </a:rPr>
              <a:t>L</a:t>
            </a:r>
            <a:r>
              <a:rPr lang="en-US" baseline="-25000" dirty="0" smtClean="0">
                <a:latin typeface="Comic Sans MS" pitchFamily="66" charset="0"/>
              </a:rPr>
              <a:t>transverse</a:t>
            </a:r>
            <a:r>
              <a:rPr lang="en-US" dirty="0" smtClean="0">
                <a:latin typeface="Comic Sans MS" pitchFamily="66" charset="0"/>
              </a:rPr>
              <a:t> = 3.7 pb</a:t>
            </a:r>
            <a:r>
              <a:rPr lang="en-US" baseline="30000" dirty="0" smtClean="0">
                <a:latin typeface="Comic Sans MS" pitchFamily="66" charset="0"/>
              </a:rPr>
              <a:t>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11/7/2007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4249B6-75D1-4716-8CE8-B455B16952C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Documents and Settings\leitch\My Documents\phenix\run8\dc\dc_7nov07\CAD_operation_fy08.jpg"/>
          <p:cNvPicPr>
            <a:picLocks noChangeAspect="1" noChangeArrowheads="1"/>
          </p:cNvPicPr>
          <p:nvPr/>
        </p:nvPicPr>
        <p:blipFill>
          <a:blip r:embed="rId2" cstate="print"/>
          <a:srcRect r="18235"/>
          <a:stretch>
            <a:fillRect/>
          </a:stretch>
        </p:blipFill>
        <p:spPr bwMode="auto">
          <a:xfrm>
            <a:off x="3733800" y="1219200"/>
            <a:ext cx="5199519" cy="4114800"/>
          </a:xfrm>
          <a:prstGeom prst="rect">
            <a:avLst/>
          </a:prstGeom>
          <a:noFill/>
        </p:spPr>
      </p:pic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4111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 smtClean="0">
                <a:latin typeface="Comic Sans MS" pitchFamily="66" charset="0"/>
              </a:rPr>
              <a:t>Run8 Schedule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3962400" cy="5562600"/>
          </a:xfrm>
        </p:spPr>
        <p:txBody>
          <a:bodyPr/>
          <a:lstStyle/>
          <a:p>
            <a:pPr eaLnBrk="1" hangingPunct="1"/>
            <a:r>
              <a:rPr lang="en-US" sz="2000" dirty="0" smtClean="0">
                <a:latin typeface="Comic Sans MS" pitchFamily="66" charset="0"/>
              </a:rPr>
              <a:t>Nov 1</a:t>
            </a:r>
            <a:r>
              <a:rPr lang="en-US" sz="2000" baseline="30000" dirty="0" smtClean="0">
                <a:latin typeface="Comic Sans MS" pitchFamily="66" charset="0"/>
              </a:rPr>
              <a:t>st</a:t>
            </a:r>
            <a:r>
              <a:rPr lang="en-US" sz="2000" dirty="0" smtClean="0">
                <a:latin typeface="Comic Sans MS" pitchFamily="66" charset="0"/>
              </a:rPr>
              <a:t> – cool-down</a:t>
            </a:r>
          </a:p>
          <a:p>
            <a:pPr eaLnBrk="1" hangingPunct="1">
              <a:buNone/>
            </a:pPr>
            <a:r>
              <a:rPr lang="en-US" sz="2000" dirty="0" smtClean="0">
                <a:latin typeface="Comic Sans MS" pitchFamily="66" charset="0"/>
              </a:rPr>
              <a:t>	(actually begun several days earlier)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Nov 6</a:t>
            </a:r>
            <a:r>
              <a:rPr lang="en-US" sz="2000" baseline="30000" dirty="0" smtClean="0">
                <a:latin typeface="Comic Sans MS" pitchFamily="66" charset="0"/>
              </a:rPr>
              <a:t>th</a:t>
            </a:r>
            <a:r>
              <a:rPr lang="en-US" sz="2000" dirty="0" smtClean="0">
                <a:latin typeface="Comic Sans MS" pitchFamily="66" charset="0"/>
              </a:rPr>
              <a:t> – both rings cold!</a:t>
            </a:r>
          </a:p>
          <a:p>
            <a:pPr eaLnBrk="1" hangingPunct="1"/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Nov 6</a:t>
            </a:r>
            <a:r>
              <a:rPr lang="en-US" sz="2000" baseline="30000" dirty="0" smtClean="0">
                <a:solidFill>
                  <a:srgbClr val="FF0000"/>
                </a:solidFill>
                <a:latin typeface="Comic Sans MS" pitchFamily="66" charset="0"/>
              </a:rPr>
              <a:t>th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- 2-person shifts, flammable gas (?)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Nov 7</a:t>
            </a:r>
            <a:r>
              <a:rPr lang="en-US" sz="2000" baseline="30000" dirty="0" smtClean="0">
                <a:latin typeface="Comic Sans MS" pitchFamily="66" charset="0"/>
              </a:rPr>
              <a:t>th</a:t>
            </a:r>
            <a:r>
              <a:rPr lang="en-US" sz="2000" dirty="0" smtClean="0">
                <a:latin typeface="Comic Sans MS" pitchFamily="66" charset="0"/>
              </a:rPr>
              <a:t> - d beam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Nov 12</a:t>
            </a:r>
            <a:r>
              <a:rPr lang="en-US" sz="2000" baseline="30000" dirty="0" smtClean="0">
                <a:latin typeface="Comic Sans MS" pitchFamily="66" charset="0"/>
              </a:rPr>
              <a:t>th</a:t>
            </a:r>
            <a:r>
              <a:rPr lang="en-US" sz="2000" dirty="0" smtClean="0">
                <a:latin typeface="Comic Sans MS" pitchFamily="66" charset="0"/>
              </a:rPr>
              <a:t> - Au beam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Nov 22</a:t>
            </a:r>
            <a:r>
              <a:rPr lang="en-US" sz="2000" baseline="30000" dirty="0" smtClean="0">
                <a:latin typeface="Comic Sans MS" pitchFamily="66" charset="0"/>
              </a:rPr>
              <a:t>nd</a:t>
            </a:r>
            <a:r>
              <a:rPr lang="en-US" sz="2000" dirty="0" smtClean="0">
                <a:latin typeface="Comic Sans MS" pitchFamily="66" charset="0"/>
              </a:rPr>
              <a:t> – </a:t>
            </a:r>
            <a:r>
              <a:rPr lang="en-US" sz="2000" dirty="0" err="1" smtClean="0">
                <a:latin typeface="Comic Sans MS" pitchFamily="66" charset="0"/>
              </a:rPr>
              <a:t>d+Au</a:t>
            </a:r>
            <a:r>
              <a:rPr lang="en-US" sz="2000" dirty="0" smtClean="0">
                <a:latin typeface="Comic Sans MS" pitchFamily="66" charset="0"/>
              </a:rPr>
              <a:t> collisions</a:t>
            </a:r>
          </a:p>
          <a:p>
            <a:pPr eaLnBrk="1" hangingPunct="1"/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Nov 27</a:t>
            </a:r>
            <a:r>
              <a:rPr lang="en-US" sz="2000" baseline="30000" dirty="0" smtClean="0">
                <a:solidFill>
                  <a:srgbClr val="FF0000"/>
                </a:solidFill>
                <a:latin typeface="Comic Sans MS" pitchFamily="66" charset="0"/>
              </a:rPr>
              <a:t>th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- 5-person shifts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Dec 1</a:t>
            </a:r>
            <a:r>
              <a:rPr lang="en-US" sz="2000" baseline="30000" dirty="0" smtClean="0">
                <a:latin typeface="Comic Sans MS" pitchFamily="66" charset="0"/>
              </a:rPr>
              <a:t>st</a:t>
            </a:r>
            <a:r>
              <a:rPr lang="en-US" sz="2000" dirty="0" smtClean="0">
                <a:latin typeface="Comic Sans MS" pitchFamily="66" charset="0"/>
              </a:rPr>
              <a:t> – Physics</a:t>
            </a: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Feb – switch to </a:t>
            </a:r>
            <a:r>
              <a:rPr lang="en-US" sz="2000" dirty="0" err="1" smtClean="0">
                <a:latin typeface="Comic Sans MS" pitchFamily="66" charset="0"/>
              </a:rPr>
              <a:t>p+p</a:t>
            </a:r>
            <a:endParaRPr lang="en-US" sz="2000" dirty="0" smtClean="0">
              <a:solidFill>
                <a:srgbClr val="0070C0"/>
              </a:solidFill>
              <a:latin typeface="Comic Sans MS" pitchFamily="66" charset="0"/>
            </a:endParaRPr>
          </a:p>
          <a:p>
            <a:pPr eaLnBrk="1" hangingPunct="1"/>
            <a:r>
              <a:rPr lang="en-US" sz="2000" dirty="0" smtClean="0">
                <a:latin typeface="Comic Sans MS" pitchFamily="66" charset="0"/>
              </a:rPr>
              <a:t>May 27</a:t>
            </a:r>
            <a:r>
              <a:rPr lang="en-US" sz="2000" baseline="30000" dirty="0" smtClean="0">
                <a:latin typeface="Comic Sans MS" pitchFamily="66" charset="0"/>
              </a:rPr>
              <a:t>th</a:t>
            </a:r>
            <a:r>
              <a:rPr lang="en-US" sz="2000" dirty="0" smtClean="0">
                <a:latin typeface="Comic Sans MS" pitchFamily="66" charset="0"/>
              </a:rPr>
              <a:t> – end of run</a:t>
            </a:r>
            <a:endParaRPr lang="en-US" sz="2000" dirty="0" smtClean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11/7/2007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4FA2A-F2AD-4B26-A707-B6BF9FAE75B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MJL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ryo_4nov07.gif"/>
          <p:cNvPicPr>
            <a:picLocks noGrp="1" noChangeAspect="1"/>
          </p:cNvPicPr>
          <p:nvPr>
            <p:ph idx="1"/>
          </p:nvPr>
        </p:nvPicPr>
        <p:blipFill>
          <a:blip r:embed="rId2"/>
          <a:srcRect l="12898" t="2652" r="18426"/>
          <a:stretch>
            <a:fillRect/>
          </a:stretch>
        </p:blipFill>
        <p:spPr>
          <a:xfrm>
            <a:off x="4495800" y="228600"/>
            <a:ext cx="4473297" cy="4405952"/>
          </a:xfrm>
        </p:spPr>
      </p:pic>
      <p:sp>
        <p:nvSpPr>
          <p:cNvPr id="3" name="TextBox 2"/>
          <p:cNvSpPr txBox="1"/>
          <p:nvPr/>
        </p:nvSpPr>
        <p:spPr>
          <a:xfrm>
            <a:off x="5105400" y="1447800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Sun Nov 4</a:t>
            </a:r>
            <a:r>
              <a:rPr lang="en-US" baseline="30000" dirty="0" smtClean="0">
                <a:latin typeface="Comic Sans MS" pitchFamily="66" charset="0"/>
              </a:rPr>
              <a:t>th</a:t>
            </a:r>
            <a:r>
              <a:rPr lang="en-US" dirty="0" smtClean="0">
                <a:latin typeface="Comic Sans MS" pitchFamily="66" charset="0"/>
              </a:rPr>
              <a:t>  9pm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381000"/>
            <a:ext cx="464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 smtClean="0">
                <a:latin typeface="Comic Sans MS" pitchFamily="66" charset="0"/>
              </a:rPr>
              <a:t>Current Status @ 1008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rings cold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big shielding &amp; plug door in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all PHENIX arms in run position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</a:t>
            </a:r>
            <a:r>
              <a:rPr lang="en-US" sz="2000" dirty="0" err="1" smtClean="0">
                <a:latin typeface="Comic Sans MS" pitchFamily="66" charset="0"/>
              </a:rPr>
              <a:t>FCal</a:t>
            </a:r>
            <a:r>
              <a:rPr lang="en-US" sz="2000" dirty="0" smtClean="0">
                <a:latin typeface="Comic Sans MS" pitchFamily="66" charset="0"/>
              </a:rPr>
              <a:t> tested last week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ZDC’s moved 1 cm toward Au beam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HBD not ready…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borrowed UPS online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FPGA test box in this week</a:t>
            </a:r>
          </a:p>
          <a:p>
            <a:r>
              <a:rPr lang="en-US" sz="2000" u="sng" dirty="0" smtClean="0">
                <a:latin typeface="Comic Sans MS" pitchFamily="66" charset="0"/>
              </a:rPr>
              <a:t>Ring will is posted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training required to come to 1008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Comic Sans MS" pitchFamily="66" charset="0"/>
              </a:rPr>
              <a:t> NO sandals, NO short pants</a:t>
            </a:r>
          </a:p>
        </p:txBody>
      </p:sp>
      <p:pic>
        <p:nvPicPr>
          <p:cNvPr id="6" name="Picture 2" descr="C:\Documents and Settings\leitch\My Documents\pictures\bnl_nov07\IMG_0891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181600" y="4800600"/>
            <a:ext cx="2438400" cy="1828800"/>
          </a:xfrm>
          <a:prstGeom prst="rect">
            <a:avLst/>
          </a:prstGeom>
          <a:noFill/>
        </p:spPr>
      </p:pic>
      <p:pic>
        <p:nvPicPr>
          <p:cNvPr id="7" name="Picture 3" descr="C:\Documents and Settings\leitch\My Documents\pictures\bnl_nov07\IMG_384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267200"/>
            <a:ext cx="3581400" cy="2387600"/>
          </a:xfrm>
          <a:prstGeom prst="rect">
            <a:avLst/>
          </a:prstGeom>
          <a:noFill/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381000"/>
            <a:ext cx="5638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latin typeface="Comic Sans MS" pitchFamily="66" charset="0"/>
              </a:rPr>
              <a:t>Run8 Plans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planning for 7khz DAQ event rate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need to fix hot DC packets, …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HBD only expected for short test run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will run with ++ (and --?) magnetic field configuration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LVL1 triggers this year - see following slides from Jamie)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LVL2 filtering &amp; fast analysis on 1008 VA machines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need person to run this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subsystem experts NEEDED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  <a:latin typeface="Comic Sans MS" pitchFamily="66" charset="0"/>
              </a:rPr>
              <a:t> Spin Coordinator – Kensuke Okada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B050"/>
                </a:solidFill>
                <a:latin typeface="Comic Sans MS" pitchFamily="66" charset="0"/>
              </a:rPr>
              <a:t> Focus organizers – Alan Dion &amp; Astrid </a:t>
            </a:r>
            <a:r>
              <a:rPr lang="en-US" sz="2400" dirty="0" err="1" smtClean="0">
                <a:solidFill>
                  <a:srgbClr val="00B050"/>
                </a:solidFill>
                <a:latin typeface="Comic Sans MS" pitchFamily="66" charset="0"/>
              </a:rPr>
              <a:t>Morreale</a:t>
            </a:r>
            <a:endParaRPr lang="en-US" sz="2400" dirty="0" smtClean="0">
              <a:solidFill>
                <a:srgbClr val="00B050"/>
              </a:solidFill>
              <a:latin typeface="Comic Sans MS" pitchFamily="66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r="4824"/>
          <a:stretch>
            <a:fillRect/>
          </a:stretch>
        </p:blipFill>
        <p:spPr bwMode="auto">
          <a:xfrm>
            <a:off x="5504346" y="685800"/>
            <a:ext cx="3639654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11/7/2007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MJL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3962400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ne_Pag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884024" cy="6864928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ne_Page_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57200"/>
            <a:ext cx="8077200" cy="6241472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ne_Page_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33" y="0"/>
            <a:ext cx="8866067" cy="685800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11/7/2007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MJL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370</Words>
  <Application>Microsoft Office PowerPoint</Application>
  <PresentationFormat>On-screen Show (4:3)</PresentationFormat>
  <Paragraphs>108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Run8 – Coming sooner than we had thought</vt:lpstr>
      <vt:lpstr>Slide 2</vt:lpstr>
      <vt:lpstr>Slide 3</vt:lpstr>
      <vt:lpstr>Run8 Schedule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Run8 – Sooner than we thought</dc:title>
  <dc:creator/>
  <cp:lastModifiedBy>leitch</cp:lastModifiedBy>
  <cp:revision>30</cp:revision>
  <dcterms:created xsi:type="dcterms:W3CDTF">2006-08-16T00:00:00Z</dcterms:created>
  <dcterms:modified xsi:type="dcterms:W3CDTF">2007-11-07T03:28:25Z</dcterms:modified>
</cp:coreProperties>
</file>