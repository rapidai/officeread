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rawings/drawing2.xml" ContentType="application/vnd.openxmlformats-officedocument.drawingml.chartshapes+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heme/themeOverride3.xml" ContentType="application/vnd.openxmlformats-officedocument.themeOverr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rawings/drawing3.xml" ContentType="application/vnd.openxmlformats-officedocument.drawingml.chartshapes+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theme/themeOverride4.xml" ContentType="application/vnd.openxmlformats-officedocument.themeOverr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4"/>
  </p:sldMasterIdLst>
  <p:notesMasterIdLst>
    <p:notesMasterId r:id="rId19"/>
  </p:notesMasterIdLst>
  <p:handoutMasterIdLst>
    <p:handoutMasterId r:id="rId20"/>
  </p:handoutMasterIdLst>
  <p:sldIdLst>
    <p:sldId id="562" r:id="rId5"/>
    <p:sldId id="508" r:id="rId6"/>
    <p:sldId id="563" r:id="rId7"/>
    <p:sldId id="557" r:id="rId8"/>
    <p:sldId id="558" r:id="rId9"/>
    <p:sldId id="559" r:id="rId10"/>
    <p:sldId id="511" r:id="rId11"/>
    <p:sldId id="512" r:id="rId12"/>
    <p:sldId id="564" r:id="rId13"/>
    <p:sldId id="514" r:id="rId14"/>
    <p:sldId id="515" r:id="rId15"/>
    <p:sldId id="516" r:id="rId16"/>
    <p:sldId id="560" r:id="rId17"/>
    <p:sldId id="561" r:id="rId18"/>
  </p:sldIdLst>
  <p:sldSz cx="9144000" cy="6858000" type="screen4x3"/>
  <p:notesSz cx="6858000" cy="9296400"/>
  <p:defaultTextStyle>
    <a:defPPr>
      <a:defRPr lang="en-US"/>
    </a:defPPr>
    <a:lvl1pPr algn="ctr" rtl="0" fontAlgn="base">
      <a:spcBef>
        <a:spcPct val="0"/>
      </a:spcBef>
      <a:spcAft>
        <a:spcPct val="0"/>
      </a:spcAft>
      <a:defRPr sz="1000" b="1" kern="1200">
        <a:solidFill>
          <a:schemeClr val="bg1"/>
        </a:solidFill>
        <a:latin typeface="Arial" charset="0"/>
        <a:ea typeface="+mn-ea"/>
        <a:cs typeface="+mn-cs"/>
      </a:defRPr>
    </a:lvl1pPr>
    <a:lvl2pPr marL="457200" algn="ctr" rtl="0" fontAlgn="base">
      <a:spcBef>
        <a:spcPct val="0"/>
      </a:spcBef>
      <a:spcAft>
        <a:spcPct val="0"/>
      </a:spcAft>
      <a:defRPr sz="1000" b="1" kern="1200">
        <a:solidFill>
          <a:schemeClr val="bg1"/>
        </a:solidFill>
        <a:latin typeface="Arial" charset="0"/>
        <a:ea typeface="+mn-ea"/>
        <a:cs typeface="+mn-cs"/>
      </a:defRPr>
    </a:lvl2pPr>
    <a:lvl3pPr marL="914400" algn="ctr" rtl="0" fontAlgn="base">
      <a:spcBef>
        <a:spcPct val="0"/>
      </a:spcBef>
      <a:spcAft>
        <a:spcPct val="0"/>
      </a:spcAft>
      <a:defRPr sz="1000" b="1" kern="1200">
        <a:solidFill>
          <a:schemeClr val="bg1"/>
        </a:solidFill>
        <a:latin typeface="Arial" charset="0"/>
        <a:ea typeface="+mn-ea"/>
        <a:cs typeface="+mn-cs"/>
      </a:defRPr>
    </a:lvl3pPr>
    <a:lvl4pPr marL="1371600" algn="ctr" rtl="0" fontAlgn="base">
      <a:spcBef>
        <a:spcPct val="0"/>
      </a:spcBef>
      <a:spcAft>
        <a:spcPct val="0"/>
      </a:spcAft>
      <a:defRPr sz="1000" b="1" kern="1200">
        <a:solidFill>
          <a:schemeClr val="bg1"/>
        </a:solidFill>
        <a:latin typeface="Arial" charset="0"/>
        <a:ea typeface="+mn-ea"/>
        <a:cs typeface="+mn-cs"/>
      </a:defRPr>
    </a:lvl4pPr>
    <a:lvl5pPr marL="1828800" algn="ct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25B8B"/>
    <a:srgbClr val="5F4C7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6568" autoAdjust="0"/>
  </p:normalViewPr>
  <p:slideViewPr>
    <p:cSldViewPr>
      <p:cViewPr varScale="1">
        <p:scale>
          <a:sx n="83" d="100"/>
          <a:sy n="83" d="100"/>
        </p:scale>
        <p:origin x="-77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http://www.oecd.org/dataoecd/21/35/39574709.xls"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http://www.oecd.org/dataoecd/22/14/39574797.xls"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http://www.oecd.org/dataoecd/10/53/39575086.xls"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oleObject" Target="http://www.oecd.org/dataoecd/22/44/39575002.xls" TargetMode="External"/><Relationship Id="rId1" Type="http://schemas.openxmlformats.org/officeDocument/2006/relationships/themeOverride" Target="../theme/themeOverride4.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plotArea>
      <c:layout>
        <c:manualLayout>
          <c:layoutTarget val="inner"/>
          <c:xMode val="edge"/>
          <c:yMode val="edge"/>
          <c:x val="9.5308512361880982E-2"/>
          <c:y val="0.12654359128927736"/>
          <c:w val="0.85923748420336343"/>
          <c:h val="0.63575280362682518"/>
        </c:manualLayout>
      </c:layout>
      <c:barChart>
        <c:barDir val="col"/>
        <c:grouping val="stacked"/>
        <c:ser>
          <c:idx val="0"/>
          <c:order val="0"/>
          <c:tx>
            <c:strRef>
              <c:f>'[39574709.xls]1. Fixed Broadband'!$C$4</c:f>
              <c:strCache>
                <c:ptCount val="1"/>
                <c:pt idx="0">
                  <c:v>DSL</c:v>
                </c:pt>
              </c:strCache>
            </c:strRef>
          </c:tx>
          <c:spPr>
            <a:solidFill>
              <a:srgbClr val="CCCCFF"/>
            </a:solidFill>
            <a:ln w="25400">
              <a:noFill/>
            </a:ln>
          </c:spPr>
          <c:cat>
            <c:strRef>
              <c:f>'[39574709.xls]1. Fixed Broadband'!$B$5:$B$35</c:f>
              <c:strCache>
                <c:ptCount val="31"/>
                <c:pt idx="0">
                  <c:v>Netherlands</c:v>
                </c:pt>
                <c:pt idx="1">
                  <c:v>Denmark</c:v>
                </c:pt>
                <c:pt idx="2">
                  <c:v>Switzerland</c:v>
                </c:pt>
                <c:pt idx="3">
                  <c:v>Korea</c:v>
                </c:pt>
                <c:pt idx="4">
                  <c:v>Norway</c:v>
                </c:pt>
                <c:pt idx="5">
                  <c:v>Luxembourg</c:v>
                </c:pt>
                <c:pt idx="6">
                  <c:v>Iceland</c:v>
                </c:pt>
                <c:pt idx="7">
                  <c:v>France</c:v>
                </c:pt>
                <c:pt idx="8">
                  <c:v>Sweden</c:v>
                </c:pt>
                <c:pt idx="9">
                  <c:v>Germany</c:v>
                </c:pt>
                <c:pt idx="10">
                  <c:v>United Kingdom</c:v>
                </c:pt>
                <c:pt idx="11">
                  <c:v>Canada</c:v>
                </c:pt>
                <c:pt idx="12">
                  <c:v>Belgium</c:v>
                </c:pt>
                <c:pt idx="13">
                  <c:v>United States</c:v>
                </c:pt>
                <c:pt idx="14">
                  <c:v>Finland</c:v>
                </c:pt>
                <c:pt idx="15">
                  <c:v>Japan</c:v>
                </c:pt>
                <c:pt idx="16">
                  <c:v>New Zealand</c:v>
                </c:pt>
                <c:pt idx="17">
                  <c:v>Australia</c:v>
                </c:pt>
                <c:pt idx="18">
                  <c:v>Austria</c:v>
                </c:pt>
                <c:pt idx="19">
                  <c:v>Spain</c:v>
                </c:pt>
                <c:pt idx="20">
                  <c:v>Italy</c:v>
                </c:pt>
                <c:pt idx="21">
                  <c:v>Ireland</c:v>
                </c:pt>
                <c:pt idx="22">
                  <c:v>Portugal</c:v>
                </c:pt>
                <c:pt idx="23">
                  <c:v>Greece</c:v>
                </c:pt>
                <c:pt idx="24">
                  <c:v>Hungary</c:v>
                </c:pt>
                <c:pt idx="25">
                  <c:v>Czech Republic</c:v>
                </c:pt>
                <c:pt idx="26">
                  <c:v>Poland</c:v>
                </c:pt>
                <c:pt idx="27">
                  <c:v>Slovak Republic</c:v>
                </c:pt>
                <c:pt idx="28">
                  <c:v>Chile</c:v>
                </c:pt>
                <c:pt idx="29">
                  <c:v>Mexico</c:v>
                </c:pt>
                <c:pt idx="30">
                  <c:v>Turkey</c:v>
                </c:pt>
              </c:strCache>
            </c:strRef>
          </c:cat>
          <c:val>
            <c:numRef>
              <c:f>'[39574709.xls]1. Fixed Broadband'!$C$5:$C$35</c:f>
              <c:numCache>
                <c:formatCode>0.0</c:formatCode>
                <c:ptCount val="31"/>
                <c:pt idx="0">
                  <c:v>22.000762402657518</c:v>
                </c:pt>
                <c:pt idx="1">
                  <c:v>22.256428830133917</c:v>
                </c:pt>
                <c:pt idx="2">
                  <c:v>25.919753877707922</c:v>
                </c:pt>
                <c:pt idx="3">
                  <c:v>5.9131609171828234</c:v>
                </c:pt>
                <c:pt idx="4">
                  <c:v>20.186705322012838</c:v>
                </c:pt>
                <c:pt idx="5">
                  <c:v>28.013464630225084</c:v>
                </c:pt>
                <c:pt idx="6">
                  <c:v>30.505942126134702</c:v>
                </c:pt>
                <c:pt idx="7">
                  <c:v>29.688032995317311</c:v>
                </c:pt>
                <c:pt idx="8">
                  <c:v>17.484316454341016</c:v>
                </c:pt>
                <c:pt idx="9">
                  <c:v>27.862325036030924</c:v>
                </c:pt>
                <c:pt idx="10">
                  <c:v>24.090078844690531</c:v>
                </c:pt>
                <c:pt idx="11">
                  <c:v>13.146739957631121</c:v>
                </c:pt>
                <c:pt idx="12">
                  <c:v>16.679860982391105</c:v>
                </c:pt>
                <c:pt idx="13">
                  <c:v>10.853047648946058</c:v>
                </c:pt>
                <c:pt idx="14">
                  <c:v>21.77683705771069</c:v>
                </c:pt>
                <c:pt idx="15">
                  <c:v>7.3355018689318445</c:v>
                </c:pt>
                <c:pt idx="16">
                  <c:v>22.974258350852661</c:v>
                </c:pt>
                <c:pt idx="17">
                  <c:v>19.257982583454293</c:v>
                </c:pt>
                <c:pt idx="18">
                  <c:v>15.896118953420272</c:v>
                </c:pt>
                <c:pt idx="19">
                  <c:v>17.990296644210989</c:v>
                </c:pt>
                <c:pt idx="20">
                  <c:v>20.851932363141561</c:v>
                </c:pt>
                <c:pt idx="21">
                  <c:v>16.335989256938227</c:v>
                </c:pt>
                <c:pt idx="22">
                  <c:v>10.521677006956191</c:v>
                </c:pt>
                <c:pt idx="23">
                  <c:v>18.693829704095791</c:v>
                </c:pt>
                <c:pt idx="24">
                  <c:v>8.1536604104928099</c:v>
                </c:pt>
                <c:pt idx="25">
                  <c:v>7.6672677232608901</c:v>
                </c:pt>
                <c:pt idx="26">
                  <c:v>7.624811102948879</c:v>
                </c:pt>
                <c:pt idx="27">
                  <c:v>7.0292185019749711</c:v>
                </c:pt>
                <c:pt idx="28">
                  <c:v>5.4128339023900383</c:v>
                </c:pt>
                <c:pt idx="29">
                  <c:v>7.7807429904976892</c:v>
                </c:pt>
                <c:pt idx="30">
                  <c:v>8.9912207741630379</c:v>
                </c:pt>
              </c:numCache>
            </c:numRef>
          </c:val>
        </c:ser>
        <c:ser>
          <c:idx val="1"/>
          <c:order val="1"/>
          <c:tx>
            <c:strRef>
              <c:f>'[39574709.xls]1. Fixed Broadband'!$D$4</c:f>
              <c:strCache>
                <c:ptCount val="1"/>
                <c:pt idx="0">
                  <c:v>Cable</c:v>
                </c:pt>
              </c:strCache>
            </c:strRef>
          </c:tx>
          <c:spPr>
            <a:solidFill>
              <a:srgbClr val="9999FF"/>
            </a:solidFill>
            <a:ln w="25400">
              <a:noFill/>
            </a:ln>
          </c:spPr>
          <c:cat>
            <c:strRef>
              <c:f>'[39574709.xls]1. Fixed Broadband'!$B$5:$B$35</c:f>
              <c:strCache>
                <c:ptCount val="31"/>
                <c:pt idx="0">
                  <c:v>Netherlands</c:v>
                </c:pt>
                <c:pt idx="1">
                  <c:v>Denmark</c:v>
                </c:pt>
                <c:pt idx="2">
                  <c:v>Switzerland</c:v>
                </c:pt>
                <c:pt idx="3">
                  <c:v>Korea</c:v>
                </c:pt>
                <c:pt idx="4">
                  <c:v>Norway</c:v>
                </c:pt>
                <c:pt idx="5">
                  <c:v>Luxembourg</c:v>
                </c:pt>
                <c:pt idx="6">
                  <c:v>Iceland</c:v>
                </c:pt>
                <c:pt idx="7">
                  <c:v>France</c:v>
                </c:pt>
                <c:pt idx="8">
                  <c:v>Sweden</c:v>
                </c:pt>
                <c:pt idx="9">
                  <c:v>Germany</c:v>
                </c:pt>
                <c:pt idx="10">
                  <c:v>United Kingdom</c:v>
                </c:pt>
                <c:pt idx="11">
                  <c:v>Canada</c:v>
                </c:pt>
                <c:pt idx="12">
                  <c:v>Belgium</c:v>
                </c:pt>
                <c:pt idx="13">
                  <c:v>United States</c:v>
                </c:pt>
                <c:pt idx="14">
                  <c:v>Finland</c:v>
                </c:pt>
                <c:pt idx="15">
                  <c:v>Japan</c:v>
                </c:pt>
                <c:pt idx="16">
                  <c:v>New Zealand</c:v>
                </c:pt>
                <c:pt idx="17">
                  <c:v>Australia</c:v>
                </c:pt>
                <c:pt idx="18">
                  <c:v>Austria</c:v>
                </c:pt>
                <c:pt idx="19">
                  <c:v>Spain</c:v>
                </c:pt>
                <c:pt idx="20">
                  <c:v>Italy</c:v>
                </c:pt>
                <c:pt idx="21">
                  <c:v>Ireland</c:v>
                </c:pt>
                <c:pt idx="22">
                  <c:v>Portugal</c:v>
                </c:pt>
                <c:pt idx="23">
                  <c:v>Greece</c:v>
                </c:pt>
                <c:pt idx="24">
                  <c:v>Hungary</c:v>
                </c:pt>
                <c:pt idx="25">
                  <c:v>Czech Republic</c:v>
                </c:pt>
                <c:pt idx="26">
                  <c:v>Poland</c:v>
                </c:pt>
                <c:pt idx="27">
                  <c:v>Slovak Republic</c:v>
                </c:pt>
                <c:pt idx="28">
                  <c:v>Chile</c:v>
                </c:pt>
                <c:pt idx="29">
                  <c:v>Mexico</c:v>
                </c:pt>
                <c:pt idx="30">
                  <c:v>Turkey</c:v>
                </c:pt>
              </c:strCache>
            </c:strRef>
          </c:cat>
          <c:val>
            <c:numRef>
              <c:f>'[39574709.xls]1. Fixed Broadband'!$D$5:$D$35</c:f>
              <c:numCache>
                <c:formatCode>0.0</c:formatCode>
                <c:ptCount val="31"/>
                <c:pt idx="0">
                  <c:v>14.836597747886756</c:v>
                </c:pt>
                <c:pt idx="1">
                  <c:v>10.032596885186553</c:v>
                </c:pt>
                <c:pt idx="2">
                  <c:v>10.421740802461224</c:v>
                </c:pt>
                <c:pt idx="3">
                  <c:v>10.603000533245826</c:v>
                </c:pt>
                <c:pt idx="4">
                  <c:v>9.2125698902464297</c:v>
                </c:pt>
                <c:pt idx="5">
                  <c:v>5.847266881028939</c:v>
                </c:pt>
                <c:pt idx="6">
                  <c:v>0</c:v>
                </c:pt>
                <c:pt idx="7">
                  <c:v>1.5815424690668931</c:v>
                </c:pt>
                <c:pt idx="8">
                  <c:v>6.3768868429504275</c:v>
                </c:pt>
                <c:pt idx="9">
                  <c:v>3.1633974155409623</c:v>
                </c:pt>
                <c:pt idx="10">
                  <c:v>6.372303981090238</c:v>
                </c:pt>
                <c:pt idx="11">
                  <c:v>16.91827834489289</c:v>
                </c:pt>
                <c:pt idx="12">
                  <c:v>13.24294717330862</c:v>
                </c:pt>
                <c:pt idx="13">
                  <c:v>14.578998611980412</c:v>
                </c:pt>
                <c:pt idx="14">
                  <c:v>4.3006724483488492</c:v>
                </c:pt>
                <c:pt idx="15">
                  <c:v>4.2247592329935042</c:v>
                </c:pt>
                <c:pt idx="16">
                  <c:v>1.4573697734174216</c:v>
                </c:pt>
                <c:pt idx="17">
                  <c:v>4.1092162554426714</c:v>
                </c:pt>
                <c:pt idx="18">
                  <c:v>6.9049400571339765</c:v>
                </c:pt>
                <c:pt idx="19">
                  <c:v>4.124417766170966</c:v>
                </c:pt>
                <c:pt idx="20">
                  <c:v>0</c:v>
                </c:pt>
                <c:pt idx="21">
                  <c:v>3.875246195165611</c:v>
                </c:pt>
                <c:pt idx="22">
                  <c:v>7.6482139499905966</c:v>
                </c:pt>
                <c:pt idx="23">
                  <c:v>0</c:v>
                </c:pt>
                <c:pt idx="24">
                  <c:v>8.6869219025952589</c:v>
                </c:pt>
                <c:pt idx="25">
                  <c:v>4.5458859257853277</c:v>
                </c:pt>
                <c:pt idx="26">
                  <c:v>4.0380470143771801</c:v>
                </c:pt>
                <c:pt idx="27">
                  <c:v>1.566281516482708</c:v>
                </c:pt>
                <c:pt idx="28">
                  <c:v>4.7543329040794866</c:v>
                </c:pt>
                <c:pt idx="29">
                  <c:v>2.2333383580661916</c:v>
                </c:pt>
                <c:pt idx="30">
                  <c:v>0.26611819686496052</c:v>
                </c:pt>
              </c:numCache>
            </c:numRef>
          </c:val>
        </c:ser>
        <c:ser>
          <c:idx val="2"/>
          <c:order val="2"/>
          <c:tx>
            <c:strRef>
              <c:f>'[39574709.xls]1. Fixed Broadband'!$E$4</c:f>
              <c:strCache>
                <c:ptCount val="1"/>
                <c:pt idx="0">
                  <c:v>Fibre/LAN </c:v>
                </c:pt>
              </c:strCache>
            </c:strRef>
          </c:tx>
          <c:spPr>
            <a:solidFill>
              <a:srgbClr val="0000FF"/>
            </a:solidFill>
            <a:ln w="25400">
              <a:noFill/>
            </a:ln>
          </c:spPr>
          <c:cat>
            <c:strRef>
              <c:f>'[39574709.xls]1. Fixed Broadband'!$B$5:$B$35</c:f>
              <c:strCache>
                <c:ptCount val="31"/>
                <c:pt idx="0">
                  <c:v>Netherlands</c:v>
                </c:pt>
                <c:pt idx="1">
                  <c:v>Denmark</c:v>
                </c:pt>
                <c:pt idx="2">
                  <c:v>Switzerland</c:v>
                </c:pt>
                <c:pt idx="3">
                  <c:v>Korea</c:v>
                </c:pt>
                <c:pt idx="4">
                  <c:v>Norway</c:v>
                </c:pt>
                <c:pt idx="5">
                  <c:v>Luxembourg</c:v>
                </c:pt>
                <c:pt idx="6">
                  <c:v>Iceland</c:v>
                </c:pt>
                <c:pt idx="7">
                  <c:v>France</c:v>
                </c:pt>
                <c:pt idx="8">
                  <c:v>Sweden</c:v>
                </c:pt>
                <c:pt idx="9">
                  <c:v>Germany</c:v>
                </c:pt>
                <c:pt idx="10">
                  <c:v>United Kingdom</c:v>
                </c:pt>
                <c:pt idx="11">
                  <c:v>Canada</c:v>
                </c:pt>
                <c:pt idx="12">
                  <c:v>Belgium</c:v>
                </c:pt>
                <c:pt idx="13">
                  <c:v>United States</c:v>
                </c:pt>
                <c:pt idx="14">
                  <c:v>Finland</c:v>
                </c:pt>
                <c:pt idx="15">
                  <c:v>Japan</c:v>
                </c:pt>
                <c:pt idx="16">
                  <c:v>New Zealand</c:v>
                </c:pt>
                <c:pt idx="17">
                  <c:v>Australia</c:v>
                </c:pt>
                <c:pt idx="18">
                  <c:v>Austria</c:v>
                </c:pt>
                <c:pt idx="19">
                  <c:v>Spain</c:v>
                </c:pt>
                <c:pt idx="20">
                  <c:v>Italy</c:v>
                </c:pt>
                <c:pt idx="21">
                  <c:v>Ireland</c:v>
                </c:pt>
                <c:pt idx="22">
                  <c:v>Portugal</c:v>
                </c:pt>
                <c:pt idx="23">
                  <c:v>Greece</c:v>
                </c:pt>
                <c:pt idx="24">
                  <c:v>Hungary</c:v>
                </c:pt>
                <c:pt idx="25">
                  <c:v>Czech Republic</c:v>
                </c:pt>
                <c:pt idx="26">
                  <c:v>Poland</c:v>
                </c:pt>
                <c:pt idx="27">
                  <c:v>Slovak Republic</c:v>
                </c:pt>
                <c:pt idx="28">
                  <c:v>Chile</c:v>
                </c:pt>
                <c:pt idx="29">
                  <c:v>Mexico</c:v>
                </c:pt>
                <c:pt idx="30">
                  <c:v>Turkey</c:v>
                </c:pt>
              </c:strCache>
            </c:strRef>
          </c:cat>
          <c:val>
            <c:numRef>
              <c:f>'[39574709.xls]1. Fixed Broadband'!$E$5:$E$35</c:f>
              <c:numCache>
                <c:formatCode>0.0</c:formatCode>
                <c:ptCount val="31"/>
                <c:pt idx="0">
                  <c:v>0.94997791452619318</c:v>
                </c:pt>
                <c:pt idx="1">
                  <c:v>4.4005795001810943</c:v>
                </c:pt>
                <c:pt idx="2">
                  <c:v>0.38328419433406141</c:v>
                </c:pt>
                <c:pt idx="3">
                  <c:v>17.917510972558329</c:v>
                </c:pt>
                <c:pt idx="4">
                  <c:v>4.7785876993166294</c:v>
                </c:pt>
                <c:pt idx="5">
                  <c:v>0.15534565916398721</c:v>
                </c:pt>
                <c:pt idx="6">
                  <c:v>2.7781084179598179</c:v>
                </c:pt>
                <c:pt idx="7">
                  <c:v>0.13954786491766691</c:v>
                </c:pt>
                <c:pt idx="8">
                  <c:v>7.7954822824108794</c:v>
                </c:pt>
                <c:pt idx="9">
                  <c:v>0.17509832181156457</c:v>
                </c:pt>
                <c:pt idx="10">
                  <c:v>1.9427849822720885E-2</c:v>
                </c:pt>
                <c:pt idx="11">
                  <c:v>0</c:v>
                </c:pt>
                <c:pt idx="12">
                  <c:v>1.3317886932344758E-2</c:v>
                </c:pt>
                <c:pt idx="13">
                  <c:v>1.426491533600702</c:v>
                </c:pt>
                <c:pt idx="14">
                  <c:v>0.27160170078858153</c:v>
                </c:pt>
                <c:pt idx="15">
                  <c:v>14.550768338648886</c:v>
                </c:pt>
                <c:pt idx="16">
                  <c:v>6.0733473487502992E-2</c:v>
                </c:pt>
                <c:pt idx="17">
                  <c:v>6.80333817126271E-2</c:v>
                </c:pt>
                <c:pt idx="18">
                  <c:v>0.10727561765655105</c:v>
                </c:pt>
                <c:pt idx="19">
                  <c:v>7.7611688202010004E-2</c:v>
                </c:pt>
                <c:pt idx="20">
                  <c:v>0.46336558087051782</c:v>
                </c:pt>
                <c:pt idx="21">
                  <c:v>0.10790062667860366</c:v>
                </c:pt>
                <c:pt idx="22">
                  <c:v>0.73597480729460663</c:v>
                </c:pt>
                <c:pt idx="23">
                  <c:v>1.7761358388689624E-2</c:v>
                </c:pt>
                <c:pt idx="24">
                  <c:v>1.8196685325430797</c:v>
                </c:pt>
                <c:pt idx="25">
                  <c:v>1.5184587643541805</c:v>
                </c:pt>
                <c:pt idx="26">
                  <c:v>0.20336341693776894</c:v>
                </c:pt>
                <c:pt idx="27">
                  <c:v>3.3951973125622952</c:v>
                </c:pt>
                <c:pt idx="28">
                  <c:v>0</c:v>
                </c:pt>
                <c:pt idx="29">
                  <c:v>0</c:v>
                </c:pt>
                <c:pt idx="30">
                  <c:v>0.1399237798517324</c:v>
                </c:pt>
              </c:numCache>
            </c:numRef>
          </c:val>
        </c:ser>
        <c:ser>
          <c:idx val="3"/>
          <c:order val="3"/>
          <c:tx>
            <c:strRef>
              <c:f>'[39574709.xls]1. Fixed Broadband'!$F$4</c:f>
              <c:strCache>
                <c:ptCount val="1"/>
                <c:pt idx="0">
                  <c:v>Other </c:v>
                </c:pt>
              </c:strCache>
            </c:strRef>
          </c:tx>
          <c:spPr>
            <a:solidFill>
              <a:srgbClr val="003366"/>
            </a:solidFill>
            <a:ln w="25400">
              <a:noFill/>
            </a:ln>
          </c:spPr>
          <c:cat>
            <c:strRef>
              <c:f>'[39574709.xls]1. Fixed Broadband'!$B$5:$B$35</c:f>
              <c:strCache>
                <c:ptCount val="31"/>
                <c:pt idx="0">
                  <c:v>Netherlands</c:v>
                </c:pt>
                <c:pt idx="1">
                  <c:v>Denmark</c:v>
                </c:pt>
                <c:pt idx="2">
                  <c:v>Switzerland</c:v>
                </c:pt>
                <c:pt idx="3">
                  <c:v>Korea</c:v>
                </c:pt>
                <c:pt idx="4">
                  <c:v>Norway</c:v>
                </c:pt>
                <c:pt idx="5">
                  <c:v>Luxembourg</c:v>
                </c:pt>
                <c:pt idx="6">
                  <c:v>Iceland</c:v>
                </c:pt>
                <c:pt idx="7">
                  <c:v>France</c:v>
                </c:pt>
                <c:pt idx="8">
                  <c:v>Sweden</c:v>
                </c:pt>
                <c:pt idx="9">
                  <c:v>Germany</c:v>
                </c:pt>
                <c:pt idx="10">
                  <c:v>United Kingdom</c:v>
                </c:pt>
                <c:pt idx="11">
                  <c:v>Canada</c:v>
                </c:pt>
                <c:pt idx="12">
                  <c:v>Belgium</c:v>
                </c:pt>
                <c:pt idx="13">
                  <c:v>United States</c:v>
                </c:pt>
                <c:pt idx="14">
                  <c:v>Finland</c:v>
                </c:pt>
                <c:pt idx="15">
                  <c:v>Japan</c:v>
                </c:pt>
                <c:pt idx="16">
                  <c:v>New Zealand</c:v>
                </c:pt>
                <c:pt idx="17">
                  <c:v>Australia</c:v>
                </c:pt>
                <c:pt idx="18">
                  <c:v>Austria</c:v>
                </c:pt>
                <c:pt idx="19">
                  <c:v>Spain</c:v>
                </c:pt>
                <c:pt idx="20">
                  <c:v>Italy</c:v>
                </c:pt>
                <c:pt idx="21">
                  <c:v>Ireland</c:v>
                </c:pt>
                <c:pt idx="22">
                  <c:v>Portugal</c:v>
                </c:pt>
                <c:pt idx="23">
                  <c:v>Greece</c:v>
                </c:pt>
                <c:pt idx="24">
                  <c:v>Hungary</c:v>
                </c:pt>
                <c:pt idx="25">
                  <c:v>Czech Republic</c:v>
                </c:pt>
                <c:pt idx="26">
                  <c:v>Poland</c:v>
                </c:pt>
                <c:pt idx="27">
                  <c:v>Slovak Republic</c:v>
                </c:pt>
                <c:pt idx="28">
                  <c:v>Chile</c:v>
                </c:pt>
                <c:pt idx="29">
                  <c:v>Mexico</c:v>
                </c:pt>
                <c:pt idx="30">
                  <c:v>Turkey</c:v>
                </c:pt>
              </c:strCache>
            </c:strRef>
          </c:cat>
          <c:val>
            <c:numRef>
              <c:f>'[39574709.xls]1. Fixed Broadband'!$F$5:$F$35</c:f>
              <c:numCache>
                <c:formatCode>0.0</c:formatCode>
                <c:ptCount val="31"/>
                <c:pt idx="0">
                  <c:v>0</c:v>
                </c:pt>
                <c:pt idx="1">
                  <c:v>0.65193770373053261</c:v>
                </c:pt>
                <c:pt idx="2">
                  <c:v>0.38366876041533138</c:v>
                </c:pt>
                <c:pt idx="3">
                  <c:v>0</c:v>
                </c:pt>
                <c:pt idx="4">
                  <c:v>7.0159453302961319E-2</c:v>
                </c:pt>
                <c:pt idx="5">
                  <c:v>9.9075562700964931E-2</c:v>
                </c:pt>
                <c:pt idx="6">
                  <c:v>0</c:v>
                </c:pt>
                <c:pt idx="7">
                  <c:v>0</c:v>
                </c:pt>
                <c:pt idx="8">
                  <c:v>9.9914356064661536E-2</c:v>
                </c:pt>
                <c:pt idx="9">
                  <c:v>6.5955004030583714E-2</c:v>
                </c:pt>
                <c:pt idx="10">
                  <c:v>0</c:v>
                </c:pt>
                <c:pt idx="11">
                  <c:v>0</c:v>
                </c:pt>
                <c:pt idx="12">
                  <c:v>6.4355885078776723E-2</c:v>
                </c:pt>
                <c:pt idx="13">
                  <c:v>0.26129031208410725</c:v>
                </c:pt>
                <c:pt idx="14">
                  <c:v>1.4984921422818322E-2</c:v>
                </c:pt>
                <c:pt idx="15">
                  <c:v>0.16983222712419599</c:v>
                </c:pt>
                <c:pt idx="16">
                  <c:v>0</c:v>
                </c:pt>
                <c:pt idx="17">
                  <c:v>0</c:v>
                </c:pt>
                <c:pt idx="18">
                  <c:v>5.8149958763132843E-2</c:v>
                </c:pt>
                <c:pt idx="19">
                  <c:v>2.9317950017215346E-2</c:v>
                </c:pt>
                <c:pt idx="20">
                  <c:v>6.3654315251481033E-3</c:v>
                </c:pt>
                <c:pt idx="21">
                  <c:v>0</c:v>
                </c:pt>
                <c:pt idx="22">
                  <c:v>2.1827411167512693E-2</c:v>
                </c:pt>
                <c:pt idx="23">
                  <c:v>0</c:v>
                </c:pt>
                <c:pt idx="24">
                  <c:v>0</c:v>
                </c:pt>
                <c:pt idx="25">
                  <c:v>0</c:v>
                </c:pt>
                <c:pt idx="26">
                  <c:v>1.2067189631650761</c:v>
                </c:pt>
                <c:pt idx="27">
                  <c:v>3.0196758831998165E-2</c:v>
                </c:pt>
                <c:pt idx="28">
                  <c:v>4.9714684025850074E-2</c:v>
                </c:pt>
                <c:pt idx="29">
                  <c:v>7.6151687379732103E-2</c:v>
                </c:pt>
                <c:pt idx="30">
                  <c:v>3.3560510174277094E-2</c:v>
                </c:pt>
              </c:numCache>
            </c:numRef>
          </c:val>
        </c:ser>
        <c:gapWidth val="50"/>
        <c:overlap val="100"/>
        <c:axId val="75295360"/>
        <c:axId val="76601216"/>
      </c:barChart>
      <c:lineChart>
        <c:grouping val="standard"/>
        <c:ser>
          <c:idx val="4"/>
          <c:order val="4"/>
          <c:tx>
            <c:strRef>
              <c:f>'[39574709.xls]1. Fixed Broadband'!$I$4</c:f>
              <c:strCache>
                <c:ptCount val="1"/>
                <c:pt idx="0">
                  <c:v>OECD average</c:v>
                </c:pt>
              </c:strCache>
            </c:strRef>
          </c:tx>
          <c:spPr>
            <a:ln>
              <a:solidFill>
                <a:schemeClr val="accent1">
                  <a:lumMod val="75000"/>
                </a:schemeClr>
              </a:solidFill>
            </a:ln>
          </c:spPr>
          <c:marker>
            <c:symbol val="none"/>
          </c:marker>
          <c:cat>
            <c:strRef>
              <c:f>'[39574709.xls]1. Fixed Broadband'!$B$5:$B$35</c:f>
              <c:strCache>
                <c:ptCount val="31"/>
                <c:pt idx="0">
                  <c:v>Netherlands</c:v>
                </c:pt>
                <c:pt idx="1">
                  <c:v>Denmark</c:v>
                </c:pt>
                <c:pt idx="2">
                  <c:v>Switzerland</c:v>
                </c:pt>
                <c:pt idx="3">
                  <c:v>Korea</c:v>
                </c:pt>
                <c:pt idx="4">
                  <c:v>Norway</c:v>
                </c:pt>
                <c:pt idx="5">
                  <c:v>Luxembourg</c:v>
                </c:pt>
                <c:pt idx="6">
                  <c:v>Iceland</c:v>
                </c:pt>
                <c:pt idx="7">
                  <c:v>France</c:v>
                </c:pt>
                <c:pt idx="8">
                  <c:v>Sweden</c:v>
                </c:pt>
                <c:pt idx="9">
                  <c:v>Germany</c:v>
                </c:pt>
                <c:pt idx="10">
                  <c:v>United Kingdom</c:v>
                </c:pt>
                <c:pt idx="11">
                  <c:v>Canada</c:v>
                </c:pt>
                <c:pt idx="12">
                  <c:v>Belgium</c:v>
                </c:pt>
                <c:pt idx="13">
                  <c:v>United States</c:v>
                </c:pt>
                <c:pt idx="14">
                  <c:v>Finland</c:v>
                </c:pt>
                <c:pt idx="15">
                  <c:v>Japan</c:v>
                </c:pt>
                <c:pt idx="16">
                  <c:v>New Zealand</c:v>
                </c:pt>
                <c:pt idx="17">
                  <c:v>Australia</c:v>
                </c:pt>
                <c:pt idx="18">
                  <c:v>Austria</c:v>
                </c:pt>
                <c:pt idx="19">
                  <c:v>Spain</c:v>
                </c:pt>
                <c:pt idx="20">
                  <c:v>Italy</c:v>
                </c:pt>
                <c:pt idx="21">
                  <c:v>Ireland</c:v>
                </c:pt>
                <c:pt idx="22">
                  <c:v>Portugal</c:v>
                </c:pt>
                <c:pt idx="23">
                  <c:v>Greece</c:v>
                </c:pt>
                <c:pt idx="24">
                  <c:v>Hungary</c:v>
                </c:pt>
                <c:pt idx="25">
                  <c:v>Czech Republic</c:v>
                </c:pt>
                <c:pt idx="26">
                  <c:v>Poland</c:v>
                </c:pt>
                <c:pt idx="27">
                  <c:v>Slovak Republic</c:v>
                </c:pt>
                <c:pt idx="28">
                  <c:v>Chile</c:v>
                </c:pt>
                <c:pt idx="29">
                  <c:v>Mexico</c:v>
                </c:pt>
                <c:pt idx="30">
                  <c:v>Turkey</c:v>
                </c:pt>
              </c:strCache>
            </c:strRef>
          </c:cat>
          <c:val>
            <c:numRef>
              <c:f>'[39574709.xls]1. Fixed Broadband'!$I$5:$I$35</c:f>
              <c:numCache>
                <c:formatCode>0.0</c:formatCode>
                <c:ptCount val="31"/>
                <c:pt idx="0">
                  <c:v>24.203320338507822</c:v>
                </c:pt>
                <c:pt idx="1">
                  <c:v>24.203320338507822</c:v>
                </c:pt>
                <c:pt idx="2">
                  <c:v>24.203320338507822</c:v>
                </c:pt>
                <c:pt idx="3">
                  <c:v>24.203320338507822</c:v>
                </c:pt>
                <c:pt idx="4">
                  <c:v>24.203320338507822</c:v>
                </c:pt>
                <c:pt idx="5">
                  <c:v>24.203320338507822</c:v>
                </c:pt>
                <c:pt idx="6">
                  <c:v>24.203320338507822</c:v>
                </c:pt>
                <c:pt idx="7">
                  <c:v>24.203320338507822</c:v>
                </c:pt>
                <c:pt idx="8">
                  <c:v>24.203320338507822</c:v>
                </c:pt>
                <c:pt idx="9">
                  <c:v>24.203320338507822</c:v>
                </c:pt>
                <c:pt idx="10">
                  <c:v>24.203320338507822</c:v>
                </c:pt>
                <c:pt idx="11">
                  <c:v>24.203320338507822</c:v>
                </c:pt>
                <c:pt idx="12">
                  <c:v>24.203320338507822</c:v>
                </c:pt>
                <c:pt idx="13">
                  <c:v>24.203320338507822</c:v>
                </c:pt>
                <c:pt idx="14">
                  <c:v>24.203320338507822</c:v>
                </c:pt>
                <c:pt idx="15">
                  <c:v>24.203320338507822</c:v>
                </c:pt>
                <c:pt idx="16">
                  <c:v>24.203320338507822</c:v>
                </c:pt>
                <c:pt idx="17">
                  <c:v>24.203320338507822</c:v>
                </c:pt>
                <c:pt idx="18">
                  <c:v>24.203320338507822</c:v>
                </c:pt>
                <c:pt idx="19">
                  <c:v>24.203320338507822</c:v>
                </c:pt>
                <c:pt idx="20">
                  <c:v>24.203320338507822</c:v>
                </c:pt>
                <c:pt idx="21">
                  <c:v>24.203320338507822</c:v>
                </c:pt>
                <c:pt idx="22">
                  <c:v>24.203320338507822</c:v>
                </c:pt>
                <c:pt idx="23">
                  <c:v>24.203320338507822</c:v>
                </c:pt>
                <c:pt idx="24">
                  <c:v>24.203320338507822</c:v>
                </c:pt>
                <c:pt idx="25">
                  <c:v>24.203320338507822</c:v>
                </c:pt>
                <c:pt idx="26">
                  <c:v>24.203320338507822</c:v>
                </c:pt>
                <c:pt idx="27">
                  <c:v>24.203320338507822</c:v>
                </c:pt>
                <c:pt idx="28">
                  <c:v>24.203320338507822</c:v>
                </c:pt>
                <c:pt idx="29">
                  <c:v>24.203320338507822</c:v>
                </c:pt>
                <c:pt idx="30">
                  <c:v>24.203320338507822</c:v>
                </c:pt>
              </c:numCache>
            </c:numRef>
          </c:val>
        </c:ser>
        <c:marker val="1"/>
        <c:axId val="75295360"/>
        <c:axId val="76601216"/>
      </c:lineChart>
      <c:catAx>
        <c:axId val="75295360"/>
        <c:scaling>
          <c:orientation val="minMax"/>
        </c:scaling>
        <c:axPos val="b"/>
        <c:numFmt formatCode="General" sourceLinked="1"/>
        <c:tickLblPos val="nextTo"/>
        <c:spPr>
          <a:ln w="3175">
            <a:solidFill>
              <a:srgbClr val="000000"/>
            </a:solidFill>
            <a:prstDash val="solid"/>
          </a:ln>
        </c:spPr>
        <c:txPr>
          <a:bodyPr rot="-2700000" vert="horz"/>
          <a:lstStyle/>
          <a:p>
            <a:pPr>
              <a:defRPr sz="800" b="0" i="0" u="none" strike="noStrike" baseline="0">
                <a:solidFill>
                  <a:srgbClr val="000000"/>
                </a:solidFill>
                <a:latin typeface="Arial"/>
                <a:ea typeface="Arial"/>
                <a:cs typeface="Arial"/>
              </a:defRPr>
            </a:pPr>
            <a:endParaRPr lang="en-US"/>
          </a:p>
        </c:txPr>
        <c:crossAx val="76601216"/>
        <c:crosses val="autoZero"/>
        <c:auto val="1"/>
        <c:lblAlgn val="ctr"/>
        <c:lblOffset val="100"/>
        <c:tickLblSkip val="1"/>
        <c:tickMarkSkip val="1"/>
      </c:catAx>
      <c:valAx>
        <c:axId val="76601216"/>
        <c:scaling>
          <c:orientation val="minMax"/>
          <c:max val="40"/>
        </c:scaling>
        <c:axPos val="l"/>
        <c:majorGridlines>
          <c:spPr>
            <a:ln w="3175">
              <a:solidFill>
                <a:srgbClr val="808080"/>
              </a:solidFill>
              <a:prstDash val="sysDash"/>
            </a:ln>
          </c:spPr>
        </c:majorGridlines>
        <c:title>
          <c:tx>
            <c:rich>
              <a:bodyPr rot="0" vert="horz"/>
              <a:lstStyle/>
              <a:p>
                <a:pPr algn="ctr">
                  <a:defRPr sz="800" b="0" i="0" u="none" strike="noStrike" baseline="0">
                    <a:solidFill>
                      <a:srgbClr val="000000"/>
                    </a:solidFill>
                    <a:latin typeface="Arial"/>
                    <a:ea typeface="Arial"/>
                    <a:cs typeface="Arial"/>
                  </a:defRPr>
                </a:pPr>
                <a:r>
                  <a:rPr lang="en-US"/>
                  <a:t>Source: OECD</a:t>
                </a:r>
              </a:p>
            </c:rich>
          </c:tx>
          <c:layout>
            <c:manualLayout>
              <c:xMode val="edge"/>
              <c:yMode val="edge"/>
              <c:x val="1.2376252721191016E-2"/>
              <c:y val="0.92774654774148968"/>
            </c:manualLayout>
          </c:layout>
          <c:spPr>
            <a:noFill/>
            <a:ln w="25400">
              <a:noFill/>
            </a:ln>
          </c:spPr>
        </c:title>
        <c:numFmt formatCode="0" sourceLinked="0"/>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5295360"/>
        <c:crosses val="autoZero"/>
        <c:crossBetween val="between"/>
        <c:majorUnit val="5"/>
      </c:valAx>
      <c:spPr>
        <a:noFill/>
        <a:ln w="25400">
          <a:noFill/>
        </a:ln>
      </c:spPr>
    </c:plotArea>
    <c:legend>
      <c:legendPos val="r"/>
      <c:legendEntry>
        <c:idx val="0"/>
        <c:delete val="1"/>
      </c:legendEntry>
      <c:layout>
        <c:manualLayout>
          <c:xMode val="edge"/>
          <c:yMode val="edge"/>
          <c:x val="0.45987262717006017"/>
          <c:y val="0.13531976597143774"/>
          <c:w val="0.49871206148675262"/>
          <c:h val="5.1431879366256865E-2"/>
        </c:manualLayout>
      </c:layout>
      <c:spPr>
        <a:solidFill>
          <a:srgbClr val="FFFFFF"/>
        </a:solidFill>
        <a:ln w="25400">
          <a:noFill/>
        </a:ln>
      </c:spPr>
      <c:txPr>
        <a:bodyPr/>
        <a:lstStyle/>
        <a:p>
          <a:pPr>
            <a:defRPr sz="1000" b="0" i="0" u="none" strike="noStrike" baseline="0">
              <a:solidFill>
                <a:srgbClr val="000000"/>
              </a:solidFill>
              <a:latin typeface="Arial"/>
              <a:ea typeface="Arial"/>
              <a:cs typeface="Arial"/>
            </a:defRPr>
          </a:pPr>
          <a:endParaRPr lang="en-US"/>
        </a:p>
      </c:txPr>
    </c:legend>
    <c:plotVisOnly val="1"/>
    <c:dispBlanksAs val="gap"/>
  </c:chart>
  <c:spPr>
    <a:solidFill>
      <a:srgbClr val="FFFFFF"/>
    </a:solidFill>
    <a:ln w="9525">
      <a:noFill/>
    </a:ln>
  </c:spPr>
  <c:txPr>
    <a:bodyPr/>
    <a:lstStyle/>
    <a:p>
      <a:pPr>
        <a:defRPr sz="1200" b="0" i="0" u="none" strike="noStrike" baseline="0">
          <a:solidFill>
            <a:srgbClr val="000000"/>
          </a:solidFill>
          <a:latin typeface="Arial"/>
          <a:ea typeface="Arial"/>
          <a:cs typeface="Arial"/>
        </a:defRPr>
      </a:pPr>
      <a:endParaRPr lang="en-US"/>
    </a:p>
  </c:txPr>
  <c:externalData r:id="rId2"/>
  <c:userShapes r:id="rId3"/>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plotArea>
      <c:layout>
        <c:manualLayout>
          <c:layoutTarget val="inner"/>
          <c:xMode val="edge"/>
          <c:yMode val="edge"/>
          <c:x val="5.2663807649043951E-2"/>
          <c:y val="0.13766912200491069"/>
          <c:w val="0.76583257203346955"/>
          <c:h val="0.74691583151232144"/>
        </c:manualLayout>
      </c:layout>
      <c:lineChart>
        <c:grouping val="standard"/>
        <c:ser>
          <c:idx val="0"/>
          <c:order val="0"/>
          <c:tx>
            <c:strRef>
              <c:f>'[39574797.xls]BB Penetration, historical, G7'!$A$5</c:f>
              <c:strCache>
                <c:ptCount val="1"/>
                <c:pt idx="0">
                  <c:v>France</c:v>
                </c:pt>
              </c:strCache>
            </c:strRef>
          </c:tx>
          <c:spPr>
            <a:ln w="25400">
              <a:solidFill>
                <a:srgbClr val="000080"/>
              </a:solidFill>
              <a:prstDash val="solid"/>
            </a:ln>
          </c:spPr>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G7'!$B$5:$S$5</c:f>
              <c:numCache>
                <c:formatCode>0.0</c:formatCode>
                <c:ptCount val="18"/>
                <c:pt idx="0">
                  <c:v>1.0480005406227324</c:v>
                </c:pt>
                <c:pt idx="1">
                  <c:v>1.573704066634003</c:v>
                </c:pt>
                <c:pt idx="2">
                  <c:v>2.7633382328923859</c:v>
                </c:pt>
                <c:pt idx="3">
                  <c:v>3.9708805860282013</c:v>
                </c:pt>
                <c:pt idx="4">
                  <c:v>5.9419431683937471</c:v>
                </c:pt>
                <c:pt idx="5">
                  <c:v>7.8726921580214171</c:v>
                </c:pt>
                <c:pt idx="6">
                  <c:v>10.457247772829406</c:v>
                </c:pt>
                <c:pt idx="7">
                  <c:v>12.631664071877257</c:v>
                </c:pt>
                <c:pt idx="8">
                  <c:v>15.068244553330084</c:v>
                </c:pt>
                <c:pt idx="9">
                  <c:v>17.572453734838714</c:v>
                </c:pt>
                <c:pt idx="10">
                  <c:v>20.125345950265427</c:v>
                </c:pt>
                <c:pt idx="11">
                  <c:v>22.398746746208186</c:v>
                </c:pt>
                <c:pt idx="12">
                  <c:v>24.606182402228008</c:v>
                </c:pt>
                <c:pt idx="13">
                  <c:v>26.044834545119929</c:v>
                </c:pt>
                <c:pt idx="14">
                  <c:v>27.643394749236595</c:v>
                </c:pt>
                <c:pt idx="15">
                  <c:v>28.963934629577899</c:v>
                </c:pt>
                <c:pt idx="16">
                  <c:v>30.362514342419427</c:v>
                </c:pt>
                <c:pt idx="17">
                  <c:v>31.409123329301902</c:v>
                </c:pt>
              </c:numCache>
            </c:numRef>
          </c:val>
        </c:ser>
        <c:ser>
          <c:idx val="1"/>
          <c:order val="1"/>
          <c:tx>
            <c:strRef>
              <c:f>'[39574797.xls]BB Penetration, historical, G7'!$A$6</c:f>
              <c:strCache>
                <c:ptCount val="1"/>
                <c:pt idx="0">
                  <c:v>Germany</c:v>
                </c:pt>
              </c:strCache>
            </c:strRef>
          </c:tx>
          <c:spPr>
            <a:ln w="25400">
              <a:solidFill>
                <a:srgbClr val="FF00FF"/>
              </a:solidFill>
              <a:prstDash val="solid"/>
            </a:ln>
          </c:spPr>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G7'!$B$6:$S$6</c:f>
              <c:numCache>
                <c:formatCode>0.0</c:formatCode>
                <c:ptCount val="18"/>
                <c:pt idx="0">
                  <c:v>2.3496252019778643</c:v>
                </c:pt>
                <c:pt idx="1">
                  <c:v>3.199607187022623</c:v>
                </c:pt>
                <c:pt idx="2">
                  <c:v>3.9451031740258435</c:v>
                </c:pt>
                <c:pt idx="3">
                  <c:v>4.8273145904023265</c:v>
                </c:pt>
                <c:pt idx="4">
                  <c:v>5.588082888996607</c:v>
                </c:pt>
                <c:pt idx="5">
                  <c:v>6.5638561956824804</c:v>
                </c:pt>
                <c:pt idx="6">
                  <c:v>8.3695749142434916</c:v>
                </c:pt>
                <c:pt idx="7">
                  <c:v>10.241558740783821</c:v>
                </c:pt>
                <c:pt idx="8">
                  <c:v>12.98336243694218</c:v>
                </c:pt>
                <c:pt idx="9">
                  <c:v>15.108904159483282</c:v>
                </c:pt>
                <c:pt idx="10">
                  <c:v>18.190272685331273</c:v>
                </c:pt>
                <c:pt idx="11">
                  <c:v>21.212636281960894</c:v>
                </c:pt>
                <c:pt idx="12">
                  <c:v>23.712454167981932</c:v>
                </c:pt>
                <c:pt idx="13">
                  <c:v>26.325255723331708</c:v>
                </c:pt>
                <c:pt idx="14">
                  <c:v>27.437895762299153</c:v>
                </c:pt>
                <c:pt idx="15">
                  <c:v>29.365854850135577</c:v>
                </c:pt>
                <c:pt idx="16">
                  <c:v>30.455944500085486</c:v>
                </c:pt>
                <c:pt idx="17">
                  <c:v>31.266775777414075</c:v>
                </c:pt>
              </c:numCache>
            </c:numRef>
          </c:val>
        </c:ser>
        <c:ser>
          <c:idx val="2"/>
          <c:order val="2"/>
          <c:tx>
            <c:strRef>
              <c:f>'[39574797.xls]BB Penetration, historical, G7'!$A$7</c:f>
              <c:strCache>
                <c:ptCount val="1"/>
                <c:pt idx="0">
                  <c:v>United Kingdom</c:v>
                </c:pt>
              </c:strCache>
            </c:strRef>
          </c:tx>
          <c:spPr>
            <a:ln w="25400">
              <a:solidFill>
                <a:srgbClr val="FF6600"/>
              </a:solidFill>
              <a:prstDash val="solid"/>
            </a:ln>
          </c:spPr>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G7'!$B$7:$S$7</c:f>
              <c:numCache>
                <c:formatCode>0.0</c:formatCode>
                <c:ptCount val="18"/>
                <c:pt idx="0">
                  <c:v>0.58321668999533116</c:v>
                </c:pt>
                <c:pt idx="1">
                  <c:v>1.2734879321701826</c:v>
                </c:pt>
                <c:pt idx="2">
                  <c:v>2.3161433614268567</c:v>
                </c:pt>
                <c:pt idx="3">
                  <c:v>3.6674290526315878</c:v>
                </c:pt>
                <c:pt idx="4">
                  <c:v>5.3909894736842086</c:v>
                </c:pt>
                <c:pt idx="5">
                  <c:v>7.3599642343817875</c:v>
                </c:pt>
                <c:pt idx="6">
                  <c:v>10.355316375305049</c:v>
                </c:pt>
                <c:pt idx="7">
                  <c:v>13.250190972798832</c:v>
                </c:pt>
                <c:pt idx="8">
                  <c:v>16.31787837523672</c:v>
                </c:pt>
                <c:pt idx="9">
                  <c:v>19.183866175912325</c:v>
                </c:pt>
                <c:pt idx="10">
                  <c:v>21.448726624523299</c:v>
                </c:pt>
                <c:pt idx="11">
                  <c:v>23.725597607916296</c:v>
                </c:pt>
                <c:pt idx="12">
                  <c:v>25.781144169296091</c:v>
                </c:pt>
                <c:pt idx="13">
                  <c:v>27.237439282803589</c:v>
                </c:pt>
                <c:pt idx="14">
                  <c:v>28.159185004074995</c:v>
                </c:pt>
                <c:pt idx="15">
                  <c:v>28.725170398432819</c:v>
                </c:pt>
                <c:pt idx="16">
                  <c:v>29.48708857480527</c:v>
                </c:pt>
                <c:pt idx="17">
                  <c:v>30.481810675603477</c:v>
                </c:pt>
              </c:numCache>
            </c:numRef>
          </c:val>
        </c:ser>
        <c:ser>
          <c:idx val="3"/>
          <c:order val="3"/>
          <c:tx>
            <c:strRef>
              <c:f>'[39574797.xls]BB Penetration, historical, G7'!$A$8</c:f>
              <c:strCache>
                <c:ptCount val="1"/>
                <c:pt idx="0">
                  <c:v>Canada</c:v>
                </c:pt>
              </c:strCache>
            </c:strRef>
          </c:tx>
          <c:spPr>
            <a:ln w="25400">
              <a:solidFill>
                <a:srgbClr val="00FFFF"/>
              </a:solidFill>
              <a:prstDash val="solid"/>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layout/>
              <c:showVal val="1"/>
              <c:showSerName val="1"/>
            </c:dLbl>
            <c:showSerName val="1"/>
          </c:dLbls>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G7'!$B$8:$S$8</c:f>
              <c:numCache>
                <c:formatCode>0.0</c:formatCode>
                <c:ptCount val="18"/>
                <c:pt idx="0">
                  <c:v>8.8485554340132531</c:v>
                </c:pt>
                <c:pt idx="1">
                  <c:v>10.249054640941818</c:v>
                </c:pt>
                <c:pt idx="2">
                  <c:v>12.1140899325428</c:v>
                </c:pt>
                <c:pt idx="3">
                  <c:v>13.14720665658395</c:v>
                </c:pt>
                <c:pt idx="4">
                  <c:v>15.062556598349127</c:v>
                </c:pt>
                <c:pt idx="5">
                  <c:v>16.39826362775683</c:v>
                </c:pt>
                <c:pt idx="6">
                  <c:v>17.607702838566684</c:v>
                </c:pt>
                <c:pt idx="7">
                  <c:v>18.968912084572413</c:v>
                </c:pt>
                <c:pt idx="8">
                  <c:v>20.729568040318647</c:v>
                </c:pt>
                <c:pt idx="9">
                  <c:v>21.878013256075526</c:v>
                </c:pt>
                <c:pt idx="10">
                  <c:v>24.285472584220404</c:v>
                </c:pt>
                <c:pt idx="11">
                  <c:v>24.677343283231089</c:v>
                </c:pt>
                <c:pt idx="12">
                  <c:v>27.200141529554326</c:v>
                </c:pt>
                <c:pt idx="13">
                  <c:v>27.040828224961679</c:v>
                </c:pt>
                <c:pt idx="14">
                  <c:v>28.192893904359867</c:v>
                </c:pt>
                <c:pt idx="15">
                  <c:v>29.43085726364054</c:v>
                </c:pt>
                <c:pt idx="16">
                  <c:v>29.59429308159562</c:v>
                </c:pt>
                <c:pt idx="17">
                  <c:v>30.065018302523942</c:v>
                </c:pt>
              </c:numCache>
            </c:numRef>
          </c:val>
        </c:ser>
        <c:ser>
          <c:idx val="4"/>
          <c:order val="4"/>
          <c:tx>
            <c:strRef>
              <c:f>'[39574797.xls]BB Penetration, historical, G7'!$A$9</c:f>
              <c:strCache>
                <c:ptCount val="1"/>
                <c:pt idx="0">
                  <c:v>United States</c:v>
                </c:pt>
              </c:strCache>
            </c:strRef>
          </c:tx>
          <c:spPr>
            <a:ln w="25400">
              <a:solidFill>
                <a:srgbClr val="800080"/>
              </a:solidFill>
              <a:prstDash val="solid"/>
            </a:ln>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layout/>
              <c:showVal val="1"/>
              <c:showSerName val="1"/>
            </c:dLbl>
            <c:showSerName val="1"/>
          </c:dLbls>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G7'!$B$9:$S$9</c:f>
              <c:numCache>
                <c:formatCode>0.0</c:formatCode>
                <c:ptCount val="18"/>
                <c:pt idx="0">
                  <c:v>4.3760878946611435</c:v>
                </c:pt>
                <c:pt idx="1">
                  <c:v>5.5270643159300885</c:v>
                </c:pt>
                <c:pt idx="2">
                  <c:v>6.7118720778136494</c:v>
                </c:pt>
                <c:pt idx="3">
                  <c:v>7.9385433807994366</c:v>
                </c:pt>
                <c:pt idx="4">
                  <c:v>9.5713423913977014</c:v>
                </c:pt>
                <c:pt idx="5">
                  <c:v>10.910925684130348</c:v>
                </c:pt>
                <c:pt idx="6">
                  <c:v>12.755077593710897</c:v>
                </c:pt>
                <c:pt idx="7">
                  <c:v>14.223109586088926</c:v>
                </c:pt>
                <c:pt idx="8">
                  <c:v>16.323035168298748</c:v>
                </c:pt>
                <c:pt idx="9">
                  <c:v>18.161915313888141</c:v>
                </c:pt>
                <c:pt idx="10">
                  <c:v>20.268406311518422</c:v>
                </c:pt>
                <c:pt idx="11">
                  <c:v>21.859878332271631</c:v>
                </c:pt>
                <c:pt idx="12">
                  <c:v>23.365055214069166</c:v>
                </c:pt>
                <c:pt idx="13">
                  <c:v>23.891604740435227</c:v>
                </c:pt>
                <c:pt idx="14">
                  <c:v>25.480691494077696</c:v>
                </c:pt>
                <c:pt idx="15">
                  <c:v>26.468146660983056</c:v>
                </c:pt>
                <c:pt idx="16">
                  <c:v>26.389456630524489</c:v>
                </c:pt>
                <c:pt idx="17">
                  <c:v>27.119828106611294</c:v>
                </c:pt>
              </c:numCache>
            </c:numRef>
          </c:val>
        </c:ser>
        <c:ser>
          <c:idx val="5"/>
          <c:order val="5"/>
          <c:tx>
            <c:strRef>
              <c:f>'[39574797.xls]BB Penetration, historical, G7'!$A$10</c:f>
              <c:strCache>
                <c:ptCount val="1"/>
                <c:pt idx="0">
                  <c:v>Japan</c:v>
                </c:pt>
              </c:strCache>
            </c:strRef>
          </c:tx>
          <c:spPr>
            <a:ln w="25400">
              <a:solidFill>
                <a:srgbClr val="800000"/>
              </a:solidFill>
              <a:prstDash val="solid"/>
            </a:ln>
          </c:spPr>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G7'!$B$10:$S$10</c:f>
              <c:numCache>
                <c:formatCode>0.0</c:formatCode>
                <c:ptCount val="18"/>
                <c:pt idx="0">
                  <c:v>2.2511972329219487</c:v>
                </c:pt>
                <c:pt idx="1">
                  <c:v>4.0042531486640334</c:v>
                </c:pt>
                <c:pt idx="2">
                  <c:v>6.2177698434496023</c:v>
                </c:pt>
                <c:pt idx="3">
                  <c:v>8.7945204084031339</c:v>
                </c:pt>
                <c:pt idx="4">
                  <c:v>10.897975223125083</c:v>
                </c:pt>
                <c:pt idx="5">
                  <c:v>13.156482025031124</c:v>
                </c:pt>
                <c:pt idx="6">
                  <c:v>14.960684402908575</c:v>
                </c:pt>
                <c:pt idx="7">
                  <c:v>16.705444029646326</c:v>
                </c:pt>
                <c:pt idx="8">
                  <c:v>18.145903281600962</c:v>
                </c:pt>
                <c:pt idx="9">
                  <c:v>19.177604007670933</c:v>
                </c:pt>
                <c:pt idx="10">
                  <c:v>20.694572423779892</c:v>
                </c:pt>
                <c:pt idx="11">
                  <c:v>21.256448014279329</c:v>
                </c:pt>
                <c:pt idx="12">
                  <c:v>22.506810869207825</c:v>
                </c:pt>
                <c:pt idx="13">
                  <c:v>22.978658803997089</c:v>
                </c:pt>
                <c:pt idx="14">
                  <c:v>23.578083983334889</c:v>
                </c:pt>
                <c:pt idx="15">
                  <c:v>24.234994083674891</c:v>
                </c:pt>
                <c:pt idx="16">
                  <c:v>24.786488053724888</c:v>
                </c:pt>
                <c:pt idx="17">
                  <c:v>26.280861667698499</c:v>
                </c:pt>
              </c:numCache>
            </c:numRef>
          </c:val>
        </c:ser>
        <c:ser>
          <c:idx val="6"/>
          <c:order val="6"/>
          <c:tx>
            <c:strRef>
              <c:f>'[39574797.xls]BB Penetration, historical, G7'!$A$11</c:f>
              <c:strCache>
                <c:ptCount val="1"/>
                <c:pt idx="0">
                  <c:v>OECD</c:v>
                </c:pt>
              </c:strCache>
            </c:strRef>
          </c:tx>
          <c:spPr>
            <a:ln w="25400">
              <a:solidFill>
                <a:srgbClr val="008080"/>
              </a:solidFill>
              <a:prstDash val="solid"/>
            </a:ln>
          </c:spPr>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G7'!$B$11:$S$11</c:f>
              <c:numCache>
                <c:formatCode>0.0</c:formatCode>
                <c:ptCount val="18"/>
                <c:pt idx="0">
                  <c:v>2.9261437881456742</c:v>
                </c:pt>
                <c:pt idx="1">
                  <c:v>3.7979148493031802</c:v>
                </c:pt>
                <c:pt idx="2">
                  <c:v>4.8137412804943738</c:v>
                </c:pt>
                <c:pt idx="3">
                  <c:v>5.8762662677047404</c:v>
                </c:pt>
                <c:pt idx="4">
                  <c:v>7.141751669427264</c:v>
                </c:pt>
                <c:pt idx="5">
                  <c:v>8.3454821451686527</c:v>
                </c:pt>
                <c:pt idx="6">
                  <c:v>9.9071373487199228</c:v>
                </c:pt>
                <c:pt idx="7">
                  <c:v>11.294802694703511</c:v>
                </c:pt>
                <c:pt idx="8">
                  <c:v>12.960079042927354</c:v>
                </c:pt>
                <c:pt idx="9">
                  <c:v>14.55682889235581</c:v>
                </c:pt>
                <c:pt idx="10">
                  <c:v>17.007862373190761</c:v>
                </c:pt>
                <c:pt idx="11">
                  <c:v>18.302747316248063</c:v>
                </c:pt>
                <c:pt idx="12">
                  <c:v>19.710271761901165</c:v>
                </c:pt>
                <c:pt idx="13">
                  <c:v>20.614381249237791</c:v>
                </c:pt>
                <c:pt idx="14">
                  <c:v>21.859967801000831</c:v>
                </c:pt>
                <c:pt idx="15">
                  <c:v>22.782555857673689</c:v>
                </c:pt>
                <c:pt idx="16">
                  <c:v>23.287846161488691</c:v>
                </c:pt>
                <c:pt idx="17">
                  <c:v>24.203320338507837</c:v>
                </c:pt>
              </c:numCache>
            </c:numRef>
          </c:val>
        </c:ser>
        <c:ser>
          <c:idx val="7"/>
          <c:order val="7"/>
          <c:tx>
            <c:strRef>
              <c:f>'[39574797.xls]BB Penetration, historical, G7'!$A$12</c:f>
              <c:strCache>
                <c:ptCount val="1"/>
                <c:pt idx="0">
                  <c:v>Italy</c:v>
                </c:pt>
              </c:strCache>
            </c:strRef>
          </c:tx>
          <c:marker>
            <c:symbol val="none"/>
          </c:marker>
          <c:cat>
            <c:strRef>
              <c:f>'[39574797.xls]BB Penetration, historical, G7'!$B$4:$S$4</c:f>
              <c:strCache>
                <c:ptCount val="18"/>
                <c:pt idx="0">
                  <c:v>2001-Q4</c:v>
                </c:pt>
                <c:pt idx="1">
                  <c:v>2002-Q2</c:v>
                </c:pt>
                <c:pt idx="2">
                  <c:v>2002-Q4</c:v>
                </c:pt>
                <c:pt idx="3">
                  <c:v>2003-Q2</c:v>
                </c:pt>
                <c:pt idx="4">
                  <c:v>2003-Q4</c:v>
                </c:pt>
                <c:pt idx="5">
                  <c:v>2004-Q2</c:v>
                </c:pt>
                <c:pt idx="6">
                  <c:v>2004-Q4</c:v>
                </c:pt>
                <c:pt idx="7">
                  <c:v>2005-Q2</c:v>
                </c:pt>
                <c:pt idx="8">
                  <c:v>2005-Q4</c:v>
                </c:pt>
                <c:pt idx="9">
                  <c:v>2006-Q2</c:v>
                </c:pt>
                <c:pt idx="10">
                  <c:v>2006-Q4</c:v>
                </c:pt>
                <c:pt idx="11">
                  <c:v>2007-Q2</c:v>
                </c:pt>
                <c:pt idx="12">
                  <c:v>2007-Q4</c:v>
                </c:pt>
                <c:pt idx="13">
                  <c:v>2008-Q2</c:v>
                </c:pt>
                <c:pt idx="14">
                  <c:v>2008-Q4</c:v>
                </c:pt>
                <c:pt idx="15">
                  <c:v>2009-Q2</c:v>
                </c:pt>
                <c:pt idx="16">
                  <c:v>2009-04</c:v>
                </c:pt>
                <c:pt idx="17">
                  <c:v>2010-Q2</c:v>
                </c:pt>
              </c:strCache>
            </c:strRef>
          </c:cat>
          <c:val>
            <c:numRef>
              <c:f>'[39574797.xls]BB Penetration, historical, G7'!$B$12:$S$12</c:f>
              <c:numCache>
                <c:formatCode>0.0</c:formatCode>
                <c:ptCount val="18"/>
                <c:pt idx="0">
                  <c:v>0.72365208900048861</c:v>
                </c:pt>
                <c:pt idx="1">
                  <c:v>1.187357827255811</c:v>
                </c:pt>
                <c:pt idx="2">
                  <c:v>1.6819793892603558</c:v>
                </c:pt>
                <c:pt idx="3">
                  <c:v>2.8040278853601857</c:v>
                </c:pt>
                <c:pt idx="4">
                  <c:v>4.1345021086151945</c:v>
                </c:pt>
                <c:pt idx="5">
                  <c:v>6.0158142716926255</c:v>
                </c:pt>
                <c:pt idx="6">
                  <c:v>8.0811822199455996</c:v>
                </c:pt>
                <c:pt idx="7">
                  <c:v>9.6973399082020926</c:v>
                </c:pt>
                <c:pt idx="8">
                  <c:v>11.767700104083119</c:v>
                </c:pt>
                <c:pt idx="9">
                  <c:v>13.059133208350673</c:v>
                </c:pt>
                <c:pt idx="10">
                  <c:v>14.239542597321076</c:v>
                </c:pt>
                <c:pt idx="11">
                  <c:v>15.811263762866718</c:v>
                </c:pt>
                <c:pt idx="12">
                  <c:v>17.212042858768839</c:v>
                </c:pt>
                <c:pt idx="13">
                  <c:v>17.912496743987177</c:v>
                </c:pt>
                <c:pt idx="14">
                  <c:v>18.839790813702628</c:v>
                </c:pt>
                <c:pt idx="15">
                  <c:v>19.710269983240128</c:v>
                </c:pt>
                <c:pt idx="16">
                  <c:v>20.332756417702431</c:v>
                </c:pt>
                <c:pt idx="17">
                  <c:v>21.321663375537184</c:v>
                </c:pt>
              </c:numCache>
            </c:numRef>
          </c:val>
        </c:ser>
        <c:marker val="1"/>
        <c:axId val="74877568"/>
        <c:axId val="74793344"/>
      </c:lineChart>
      <c:catAx>
        <c:axId val="74877568"/>
        <c:scaling>
          <c:orientation val="minMax"/>
        </c:scaling>
        <c:axPos val="b"/>
        <c:numFmt formatCode="mmm\-yy" sourceLinked="1"/>
        <c:tickLblPos val="nextTo"/>
        <c:spPr>
          <a:ln w="3175">
            <a:solidFill>
              <a:srgbClr val="000000"/>
            </a:solidFill>
            <a:prstDash val="solid"/>
          </a:ln>
        </c:spPr>
        <c:txPr>
          <a:bodyPr rot="-2700000" vert="horz"/>
          <a:lstStyle/>
          <a:p>
            <a:pPr>
              <a:defRPr sz="800" b="0" i="0" u="none" strike="noStrike" baseline="0">
                <a:solidFill>
                  <a:srgbClr val="000000"/>
                </a:solidFill>
                <a:latin typeface="Arial"/>
                <a:ea typeface="Arial"/>
                <a:cs typeface="Arial"/>
              </a:defRPr>
            </a:pPr>
            <a:endParaRPr lang="en-US"/>
          </a:p>
        </c:txPr>
        <c:crossAx val="74793344"/>
        <c:crosses val="autoZero"/>
        <c:auto val="1"/>
        <c:lblAlgn val="ctr"/>
        <c:lblOffset val="100"/>
        <c:tickLblSkip val="1"/>
        <c:tickMarkSkip val="1"/>
      </c:catAx>
      <c:valAx>
        <c:axId val="74793344"/>
        <c:scaling>
          <c:orientation val="minMax"/>
        </c:scaling>
        <c:axPos val="l"/>
        <c:numFmt formatCode="0" sourceLinked="0"/>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4877568"/>
        <c:crosses val="autoZero"/>
        <c:crossBetween val="between"/>
      </c:valAx>
      <c:spPr>
        <a:noFill/>
        <a:ln w="25400">
          <a:noFill/>
        </a:ln>
      </c:spPr>
    </c:plotArea>
    <c:legend>
      <c:legendPos val="r"/>
      <c:layout>
        <c:manualLayout>
          <c:xMode val="edge"/>
          <c:yMode val="edge"/>
          <c:x val="0.81916818991375928"/>
          <c:y val="0.35350287867242491"/>
          <c:w val="0.17518423456736495"/>
          <c:h val="0.47340031882517752"/>
        </c:manualLayout>
      </c:layout>
      <c:spPr>
        <a:solidFill>
          <a:srgbClr val="FFFFFF"/>
        </a:solidFill>
        <a:ln w="25400">
          <a:noFill/>
        </a:ln>
      </c:spPr>
      <c:txPr>
        <a:bodyPr/>
        <a:lstStyle/>
        <a:p>
          <a:pPr>
            <a:defRPr sz="800" b="0" i="0" u="none" strike="noStrike" baseline="0">
              <a:solidFill>
                <a:srgbClr val="000000"/>
              </a:solidFill>
              <a:latin typeface="Arial"/>
              <a:ea typeface="Arial"/>
              <a:cs typeface="Arial"/>
            </a:defRPr>
          </a:pPr>
          <a:endParaRPr lang="en-US"/>
        </a:p>
      </c:txPr>
    </c:legend>
    <c:plotVisOnly val="1"/>
    <c:dispBlanksAs val="gap"/>
  </c:chart>
  <c:spPr>
    <a:solidFill>
      <a:srgbClr val="FFFFFF"/>
    </a:solidFill>
    <a:ln w="9525">
      <a:noFill/>
    </a:ln>
  </c:spPr>
  <c:txPr>
    <a:bodyPr/>
    <a:lstStyle/>
    <a:p>
      <a:pPr>
        <a:defRPr sz="1200" b="0" i="0" u="none" strike="noStrike" baseline="0">
          <a:solidFill>
            <a:srgbClr val="000000"/>
          </a:solidFill>
          <a:latin typeface="Arial"/>
          <a:ea typeface="Arial"/>
          <a:cs typeface="Arial"/>
        </a:defRPr>
      </a:pPr>
      <a:endParaRPr lang="en-US"/>
    </a:p>
  </c:txPr>
  <c:externalData r:id="rId2"/>
  <c:userShapes r:id="rId3"/>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plotArea>
      <c:layout>
        <c:manualLayout>
          <c:layoutTarget val="inner"/>
          <c:xMode val="edge"/>
          <c:yMode val="edge"/>
          <c:x val="6.5072474048852094E-2"/>
          <c:y val="9.7074337482008291E-2"/>
          <c:w val="0.91854137940943625"/>
          <c:h val="0.71272009066886199"/>
        </c:manualLayout>
      </c:layout>
      <c:barChart>
        <c:barDir val="col"/>
        <c:grouping val="clustered"/>
        <c:ser>
          <c:idx val="0"/>
          <c:order val="0"/>
          <c:tx>
            <c:strRef>
              <c:f>'[39575086.xls]Average advertised BB speed'!$B$5</c:f>
              <c:strCache>
                <c:ptCount val="1"/>
                <c:pt idx="0">
                  <c:v>Average advertised broadband download speed, kbit/s*</c:v>
                </c:pt>
              </c:strCache>
            </c:strRef>
          </c:tx>
          <c:spPr>
            <a:solidFill>
              <a:schemeClr val="tx2">
                <a:lumMod val="60000"/>
                <a:lumOff val="40000"/>
              </a:schemeClr>
            </a:solidFill>
          </c:spPr>
          <c:dLbls>
            <c:txPr>
              <a:bodyPr rot="-4800000" vert="horz"/>
              <a:lstStyle/>
              <a:p>
                <a:pPr algn="ctr">
                  <a:defRPr sz="800" b="0" i="0" u="none" strike="noStrike" baseline="0">
                    <a:solidFill>
                      <a:srgbClr val="3366FF"/>
                    </a:solidFill>
                    <a:latin typeface="Arial"/>
                    <a:ea typeface="Arial"/>
                    <a:cs typeface="Arial"/>
                  </a:defRPr>
                </a:pPr>
                <a:endParaRPr lang="en-US"/>
              </a:p>
            </c:txPr>
            <c:showVal val="1"/>
          </c:dLbls>
          <c:cat>
            <c:strRef>
              <c:f>'[39575086.xls]Average advertised BB speed'!$A$6:$A$36</c:f>
              <c:strCache>
                <c:ptCount val="31"/>
                <c:pt idx="0">
                  <c:v>Mexico</c:v>
                </c:pt>
                <c:pt idx="1">
                  <c:v>Ireland</c:v>
                </c:pt>
                <c:pt idx="2">
                  <c:v>Luxembourg</c:v>
                </c:pt>
                <c:pt idx="3">
                  <c:v>Turkey</c:v>
                </c:pt>
                <c:pt idx="4">
                  <c:v>Belgium</c:v>
                </c:pt>
                <c:pt idx="5">
                  <c:v>Spain</c:v>
                </c:pt>
                <c:pt idx="6">
                  <c:v>Italy</c:v>
                </c:pt>
                <c:pt idx="7">
                  <c:v>United States</c:v>
                </c:pt>
                <c:pt idx="8">
                  <c:v>Greece</c:v>
                </c:pt>
                <c:pt idx="9">
                  <c:v>Germany</c:v>
                </c:pt>
                <c:pt idx="10">
                  <c:v>Iceland</c:v>
                </c:pt>
                <c:pt idx="11">
                  <c:v>New Zealand</c:v>
                </c:pt>
                <c:pt idx="12">
                  <c:v>Norway</c:v>
                </c:pt>
                <c:pt idx="13">
                  <c:v>Finland</c:v>
                </c:pt>
                <c:pt idx="14">
                  <c:v>Czech Republic</c:v>
                </c:pt>
                <c:pt idx="15">
                  <c:v>Canada</c:v>
                </c:pt>
                <c:pt idx="16">
                  <c:v>Poland</c:v>
                </c:pt>
                <c:pt idx="17">
                  <c:v>United Kingdom</c:v>
                </c:pt>
                <c:pt idx="18">
                  <c:v>Switzerland</c:v>
                </c:pt>
                <c:pt idx="19">
                  <c:v>Denmark</c:v>
                </c:pt>
                <c:pt idx="20">
                  <c:v>Australia</c:v>
                </c:pt>
                <c:pt idx="21">
                  <c:v>Sweden</c:v>
                </c:pt>
                <c:pt idx="22">
                  <c:v>Austria</c:v>
                </c:pt>
                <c:pt idx="23">
                  <c:v>Slovak Republic</c:v>
                </c:pt>
                <c:pt idx="24">
                  <c:v>Hungary</c:v>
                </c:pt>
                <c:pt idx="25">
                  <c:v>OECD</c:v>
                </c:pt>
                <c:pt idx="26">
                  <c:v>Netherlands</c:v>
                </c:pt>
                <c:pt idx="27">
                  <c:v>Korea</c:v>
                </c:pt>
                <c:pt idx="28">
                  <c:v>France</c:v>
                </c:pt>
                <c:pt idx="29">
                  <c:v>Portugal</c:v>
                </c:pt>
                <c:pt idx="30">
                  <c:v>Japan</c:v>
                </c:pt>
              </c:strCache>
            </c:strRef>
          </c:cat>
          <c:val>
            <c:numRef>
              <c:f>'[39575086.xls]Average advertised BB speed'!$B$6:$B$36</c:f>
              <c:numCache>
                <c:formatCode>###\ ###</c:formatCode>
                <c:ptCount val="31"/>
                <c:pt idx="0">
                  <c:v>2513.6410256410259</c:v>
                </c:pt>
                <c:pt idx="1">
                  <c:v>6088.1212121212229</c:v>
                </c:pt>
                <c:pt idx="2">
                  <c:v>10457.212121212136</c:v>
                </c:pt>
                <c:pt idx="3">
                  <c:v>10472.727272727272</c:v>
                </c:pt>
                <c:pt idx="4">
                  <c:v>10825.142857142901</c:v>
                </c:pt>
                <c:pt idx="5">
                  <c:v>12800</c:v>
                </c:pt>
                <c:pt idx="6">
                  <c:v>14336</c:v>
                </c:pt>
                <c:pt idx="7">
                  <c:v>14618.746268656747</c:v>
                </c:pt>
                <c:pt idx="8">
                  <c:v>15945.142857142901</c:v>
                </c:pt>
                <c:pt idx="9">
                  <c:v>16032.914285714292</c:v>
                </c:pt>
                <c:pt idx="10">
                  <c:v>17773.714285714337</c:v>
                </c:pt>
                <c:pt idx="11">
                  <c:v>17807.186440677957</c:v>
                </c:pt>
                <c:pt idx="12">
                  <c:v>17999.632183908045</c:v>
                </c:pt>
                <c:pt idx="13">
                  <c:v>18383.912087912089</c:v>
                </c:pt>
                <c:pt idx="14">
                  <c:v>18788.17391304348</c:v>
                </c:pt>
                <c:pt idx="15">
                  <c:v>19567.428571428572</c:v>
                </c:pt>
                <c:pt idx="16">
                  <c:v>19675.428571428572</c:v>
                </c:pt>
                <c:pt idx="17">
                  <c:v>19680.780487804921</c:v>
                </c:pt>
                <c:pt idx="18">
                  <c:v>20073.411764705881</c:v>
                </c:pt>
                <c:pt idx="19">
                  <c:v>20396.972972972952</c:v>
                </c:pt>
                <c:pt idx="20">
                  <c:v>21823.340206185494</c:v>
                </c:pt>
                <c:pt idx="21">
                  <c:v>23693.47368421057</c:v>
                </c:pt>
                <c:pt idx="22">
                  <c:v>25518.54545454546</c:v>
                </c:pt>
                <c:pt idx="23">
                  <c:v>26939.076923076896</c:v>
                </c:pt>
                <c:pt idx="24">
                  <c:v>27542.153846153848</c:v>
                </c:pt>
                <c:pt idx="25">
                  <c:v>30549.799248523886</c:v>
                </c:pt>
                <c:pt idx="26">
                  <c:v>33679.186440677964</c:v>
                </c:pt>
                <c:pt idx="27">
                  <c:v>52771.720930232557</c:v>
                </c:pt>
                <c:pt idx="28">
                  <c:v>54551.272727272728</c:v>
                </c:pt>
                <c:pt idx="29">
                  <c:v>103718.39999999999</c:v>
                </c:pt>
                <c:pt idx="30">
                  <c:v>107724.8</c:v>
                </c:pt>
              </c:numCache>
            </c:numRef>
          </c:val>
        </c:ser>
        <c:ser>
          <c:idx val="1"/>
          <c:order val="1"/>
          <c:tx>
            <c:strRef>
              <c:f>'[39575086.xls]Average advertised BB speed'!$D$5</c:f>
              <c:strCache>
                <c:ptCount val="1"/>
                <c:pt idx="0">
                  <c:v>Median</c:v>
                </c:pt>
              </c:strCache>
            </c:strRef>
          </c:tx>
          <c:spPr>
            <a:solidFill>
              <a:schemeClr val="accent2">
                <a:lumMod val="60000"/>
                <a:lumOff val="40000"/>
              </a:schemeClr>
            </a:solidFill>
          </c:spPr>
          <c:val>
            <c:numRef>
              <c:f>'[39575086.xls]Average advertised BB speed'!$D$6:$D$36</c:f>
              <c:numCache>
                <c:formatCode>0</c:formatCode>
                <c:ptCount val="31"/>
                <c:pt idx="0">
                  <c:v>1536</c:v>
                </c:pt>
                <c:pt idx="1">
                  <c:v>3072</c:v>
                </c:pt>
                <c:pt idx="2">
                  <c:v>8192</c:v>
                </c:pt>
                <c:pt idx="3">
                  <c:v>8192</c:v>
                </c:pt>
                <c:pt idx="4">
                  <c:v>12288</c:v>
                </c:pt>
                <c:pt idx="5">
                  <c:v>6144</c:v>
                </c:pt>
                <c:pt idx="6">
                  <c:v>10240</c:v>
                </c:pt>
                <c:pt idx="7">
                  <c:v>12288</c:v>
                </c:pt>
                <c:pt idx="8">
                  <c:v>24576</c:v>
                </c:pt>
                <c:pt idx="9">
                  <c:v>16384</c:v>
                </c:pt>
                <c:pt idx="10">
                  <c:v>12288</c:v>
                </c:pt>
                <c:pt idx="11">
                  <c:v>24576</c:v>
                </c:pt>
                <c:pt idx="12">
                  <c:v>16384</c:v>
                </c:pt>
                <c:pt idx="13">
                  <c:v>8192</c:v>
                </c:pt>
                <c:pt idx="14">
                  <c:v>10240</c:v>
                </c:pt>
                <c:pt idx="15">
                  <c:v>10240</c:v>
                </c:pt>
                <c:pt idx="16">
                  <c:v>5120</c:v>
                </c:pt>
                <c:pt idx="17">
                  <c:v>20480</c:v>
                </c:pt>
                <c:pt idx="18">
                  <c:v>10240</c:v>
                </c:pt>
                <c:pt idx="19">
                  <c:v>12288</c:v>
                </c:pt>
                <c:pt idx="20">
                  <c:v>20480</c:v>
                </c:pt>
                <c:pt idx="21">
                  <c:v>10240</c:v>
                </c:pt>
                <c:pt idx="22">
                  <c:v>10240</c:v>
                </c:pt>
                <c:pt idx="23">
                  <c:v>10240</c:v>
                </c:pt>
                <c:pt idx="24">
                  <c:v>15360</c:v>
                </c:pt>
                <c:pt idx="25">
                  <c:v>12288</c:v>
                </c:pt>
                <c:pt idx="26">
                  <c:v>25600</c:v>
                </c:pt>
                <c:pt idx="27">
                  <c:v>51200</c:v>
                </c:pt>
                <c:pt idx="28">
                  <c:v>28672</c:v>
                </c:pt>
                <c:pt idx="29">
                  <c:v>24576</c:v>
                </c:pt>
                <c:pt idx="30">
                  <c:v>102400</c:v>
                </c:pt>
              </c:numCache>
            </c:numRef>
          </c:val>
        </c:ser>
        <c:gapWidth val="50"/>
        <c:axId val="74831360"/>
        <c:axId val="74832896"/>
      </c:barChart>
      <c:catAx>
        <c:axId val="74831360"/>
        <c:scaling>
          <c:orientation val="minMax"/>
        </c:scaling>
        <c:axPos val="b"/>
        <c:numFmt formatCode="0" sourceLinked="1"/>
        <c:tickLblPos val="nextTo"/>
        <c:spPr>
          <a:ln w="3175">
            <a:solidFill>
              <a:srgbClr val="000000"/>
            </a:solidFill>
            <a:prstDash val="solid"/>
          </a:ln>
        </c:spPr>
        <c:txPr>
          <a:bodyPr rot="-2700000" vert="horz"/>
          <a:lstStyle/>
          <a:p>
            <a:pPr>
              <a:defRPr sz="800" b="0" i="0" u="none" strike="noStrike" baseline="0">
                <a:solidFill>
                  <a:srgbClr val="000000"/>
                </a:solidFill>
                <a:latin typeface="Arial"/>
                <a:ea typeface="Arial"/>
                <a:cs typeface="Arial"/>
              </a:defRPr>
            </a:pPr>
            <a:endParaRPr lang="en-US"/>
          </a:p>
        </c:txPr>
        <c:crossAx val="74832896"/>
        <c:crosses val="autoZero"/>
        <c:auto val="1"/>
        <c:lblAlgn val="ctr"/>
        <c:lblOffset val="100"/>
        <c:tickLblSkip val="1"/>
        <c:tickMarkSkip val="1"/>
      </c:catAx>
      <c:valAx>
        <c:axId val="74832896"/>
        <c:scaling>
          <c:orientation val="minMax"/>
        </c:scaling>
        <c:axPos val="l"/>
        <c:majorGridlines/>
        <c:numFmt formatCode="###\ ###" sourceLinked="1"/>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4831360"/>
        <c:crosses val="autoZero"/>
        <c:crossBetween val="between"/>
      </c:valAx>
      <c:spPr>
        <a:noFill/>
        <a:ln w="25400">
          <a:noFill/>
        </a:ln>
      </c:spPr>
    </c:plotArea>
    <c:legend>
      <c:legendPos val="r"/>
      <c:layout>
        <c:manualLayout>
          <c:xMode val="edge"/>
          <c:yMode val="edge"/>
          <c:x val="6.6619294539402088E-2"/>
          <c:y val="0.12344706911636029"/>
          <c:w val="0.52958666752021721"/>
          <c:h val="0.13273549139690924"/>
        </c:manualLayout>
      </c:layout>
      <c:txPr>
        <a:bodyPr/>
        <a:lstStyle/>
        <a:p>
          <a:pPr>
            <a:defRPr sz="900" b="0" i="0" u="none" strike="noStrike" baseline="0">
              <a:solidFill>
                <a:srgbClr val="000000"/>
              </a:solidFill>
              <a:latin typeface="Arial"/>
              <a:ea typeface="Arial"/>
              <a:cs typeface="Arial"/>
            </a:defRPr>
          </a:pPr>
          <a:endParaRPr lang="en-US"/>
        </a:p>
      </c:txPr>
    </c:legend>
    <c:plotVisOnly val="1"/>
    <c:dispBlanksAs val="gap"/>
  </c:chart>
  <c:spPr>
    <a:solidFill>
      <a:srgbClr val="FFFFFF"/>
    </a:solidFill>
    <a:ln w="9525">
      <a:noFill/>
    </a:ln>
  </c:spPr>
  <c:txPr>
    <a:bodyPr/>
    <a:lstStyle/>
    <a:p>
      <a:pPr>
        <a:defRPr sz="1025" b="0" i="0" u="none" strike="noStrike" baseline="0">
          <a:solidFill>
            <a:srgbClr val="000000"/>
          </a:solidFill>
          <a:latin typeface="Arial"/>
          <a:ea typeface="Arial"/>
          <a:cs typeface="Arial"/>
        </a:defRPr>
      </a:pPr>
      <a:endParaRPr lang="en-US"/>
    </a:p>
  </c:txPr>
  <c:externalData r:id="rId2"/>
  <c:userShapes r:id="rId3"/>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title>
      <c:tx>
        <c:rich>
          <a:bodyPr/>
          <a:lstStyle/>
          <a:p>
            <a:pPr>
              <a:defRPr sz="800" b="1" i="0" u="none" strike="noStrike" baseline="0">
                <a:solidFill>
                  <a:srgbClr val="000000"/>
                </a:solidFill>
                <a:latin typeface="Arial"/>
                <a:ea typeface="Arial"/>
                <a:cs typeface="Arial"/>
              </a:defRPr>
            </a:pPr>
            <a:r>
              <a:rPr lang="en-US"/>
              <a:t>Broadband average monthly subscription price, Oct. 2009, USD PPP</a:t>
            </a:r>
          </a:p>
        </c:rich>
      </c:tx>
      <c:layout>
        <c:manualLayout>
          <c:xMode val="edge"/>
          <c:yMode val="edge"/>
          <c:x val="6.3767845043108534E-3"/>
          <c:y val="1.0370336655894876E-2"/>
        </c:manualLayout>
      </c:layout>
      <c:spPr>
        <a:noFill/>
        <a:ln w="25400">
          <a:noFill/>
        </a:ln>
      </c:spPr>
    </c:title>
    <c:plotArea>
      <c:layout>
        <c:manualLayout>
          <c:layoutTarget val="inner"/>
          <c:xMode val="edge"/>
          <c:yMode val="edge"/>
          <c:x val="0.20295069019150391"/>
          <c:y val="8.0206255468066548E-2"/>
          <c:w val="0.77070957434668719"/>
          <c:h val="0.85421507311435962"/>
        </c:manualLayout>
      </c:layout>
      <c:barChart>
        <c:barDir val="bar"/>
        <c:grouping val="clustered"/>
        <c:ser>
          <c:idx val="0"/>
          <c:order val="0"/>
          <c:tx>
            <c:strRef>
              <c:f>'[39575002.xls]Broadband Average Prices'!$C$5</c:f>
              <c:strCache>
                <c:ptCount val="1"/>
                <c:pt idx="0">
                  <c:v>Average Subscription Price, USD, PPP</c:v>
                </c:pt>
              </c:strCache>
            </c:strRef>
          </c:tx>
          <c:spPr>
            <a:solidFill>
              <a:srgbClr val="9999FF"/>
            </a:solidFill>
            <a:ln w="25400">
              <a:noFill/>
            </a:ln>
          </c:spPr>
          <c:dLbls>
            <c:txPr>
              <a:bodyPr/>
              <a:lstStyle/>
              <a:p>
                <a:pPr>
                  <a:defRPr sz="800" b="0" i="0" u="none" strike="noStrike" baseline="0">
                    <a:solidFill>
                      <a:srgbClr val="000000"/>
                    </a:solidFill>
                    <a:latin typeface="Arial"/>
                    <a:ea typeface="Arial"/>
                    <a:cs typeface="Arial"/>
                  </a:defRPr>
                </a:pPr>
                <a:endParaRPr lang="en-US"/>
              </a:p>
            </c:txPr>
            <c:showVal val="1"/>
          </c:dLbls>
          <c:cat>
            <c:strRef>
              <c:f>'[39575002.xls]Broadband Average Prices'!$A$6:$A$35</c:f>
              <c:strCache>
                <c:ptCount val="30"/>
                <c:pt idx="0">
                  <c:v>Turkey</c:v>
                </c:pt>
                <c:pt idx="1">
                  <c:v>Luxembourg</c:v>
                </c:pt>
                <c:pt idx="2">
                  <c:v>Portugal</c:v>
                </c:pt>
                <c:pt idx="3">
                  <c:v>Norway</c:v>
                </c:pt>
                <c:pt idx="4">
                  <c:v>Australia</c:v>
                </c:pt>
                <c:pt idx="5">
                  <c:v>New Zealand</c:v>
                </c:pt>
                <c:pt idx="6">
                  <c:v>Mexico</c:v>
                </c:pt>
                <c:pt idx="7">
                  <c:v>Canada</c:v>
                </c:pt>
                <c:pt idx="8">
                  <c:v>Czech Republic</c:v>
                </c:pt>
                <c:pt idx="9">
                  <c:v>Austria</c:v>
                </c:pt>
                <c:pt idx="10">
                  <c:v>United States</c:v>
                </c:pt>
                <c:pt idx="11">
                  <c:v>Spain</c:v>
                </c:pt>
                <c:pt idx="12">
                  <c:v>Slovak Republic</c:v>
                </c:pt>
                <c:pt idx="13">
                  <c:v>Netherlands</c:v>
                </c:pt>
                <c:pt idx="14">
                  <c:v>Iceland</c:v>
                </c:pt>
                <c:pt idx="15">
                  <c:v>Denmark</c:v>
                </c:pt>
                <c:pt idx="16">
                  <c:v>Poland</c:v>
                </c:pt>
                <c:pt idx="17">
                  <c:v>Belgium</c:v>
                </c:pt>
                <c:pt idx="18">
                  <c:v>Hungary</c:v>
                </c:pt>
                <c:pt idx="19">
                  <c:v>Germany</c:v>
                </c:pt>
                <c:pt idx="20">
                  <c:v>Korea</c:v>
                </c:pt>
                <c:pt idx="21">
                  <c:v>Japan</c:v>
                </c:pt>
                <c:pt idx="22">
                  <c:v>Switzerland</c:v>
                </c:pt>
                <c:pt idx="23">
                  <c:v>France</c:v>
                </c:pt>
                <c:pt idx="24">
                  <c:v>Sweden</c:v>
                </c:pt>
                <c:pt idx="25">
                  <c:v>Finland</c:v>
                </c:pt>
                <c:pt idx="26">
                  <c:v>Ireland</c:v>
                </c:pt>
                <c:pt idx="27">
                  <c:v>United Kingdom</c:v>
                </c:pt>
                <c:pt idx="28">
                  <c:v>Italy</c:v>
                </c:pt>
                <c:pt idx="29">
                  <c:v>Greece</c:v>
                </c:pt>
              </c:strCache>
            </c:strRef>
          </c:cat>
          <c:val>
            <c:numRef>
              <c:f>'[39575002.xls]Broadband Average Prices'!$C$6:$C$35</c:f>
              <c:numCache>
                <c:formatCode>0.00_);\(0.00\)</c:formatCode>
                <c:ptCount val="30"/>
                <c:pt idx="0">
                  <c:v>135.36485142857111</c:v>
                </c:pt>
                <c:pt idx="1">
                  <c:v>91.290176923076913</c:v>
                </c:pt>
                <c:pt idx="2">
                  <c:v>79.526931578947369</c:v>
                </c:pt>
                <c:pt idx="3">
                  <c:v>62.763752380952511</c:v>
                </c:pt>
                <c:pt idx="4">
                  <c:v>59.450478947368424</c:v>
                </c:pt>
                <c:pt idx="5">
                  <c:v>57.056928571428479</c:v>
                </c:pt>
                <c:pt idx="6">
                  <c:v>56.705533333333413</c:v>
                </c:pt>
                <c:pt idx="7">
                  <c:v>54.243268181818145</c:v>
                </c:pt>
                <c:pt idx="8">
                  <c:v>51.640181818181894</c:v>
                </c:pt>
                <c:pt idx="9">
                  <c:v>50.11279600000001</c:v>
                </c:pt>
                <c:pt idx="10">
                  <c:v>49.247500000000002</c:v>
                </c:pt>
                <c:pt idx="11">
                  <c:v>48.344659999999998</c:v>
                </c:pt>
                <c:pt idx="12">
                  <c:v>46.848612500000002</c:v>
                </c:pt>
                <c:pt idx="13">
                  <c:v>41.010408333333324</c:v>
                </c:pt>
                <c:pt idx="14">
                  <c:v>40.627868965517244</c:v>
                </c:pt>
                <c:pt idx="15">
                  <c:v>40.197240000000001</c:v>
                </c:pt>
                <c:pt idx="16">
                  <c:v>39.846826666666438</c:v>
                </c:pt>
                <c:pt idx="17">
                  <c:v>39.754536363636255</c:v>
                </c:pt>
                <c:pt idx="18">
                  <c:v>39.394070588235294</c:v>
                </c:pt>
                <c:pt idx="19">
                  <c:v>38.869966666666507</c:v>
                </c:pt>
                <c:pt idx="20">
                  <c:v>38.496156250000013</c:v>
                </c:pt>
                <c:pt idx="21">
                  <c:v>35.178960714285786</c:v>
                </c:pt>
                <c:pt idx="22">
                  <c:v>33.252842857142845</c:v>
                </c:pt>
                <c:pt idx="23">
                  <c:v>32.7048142857142</c:v>
                </c:pt>
                <c:pt idx="24">
                  <c:v>32.496504545454542</c:v>
                </c:pt>
                <c:pt idx="25">
                  <c:v>32.455482142857129</c:v>
                </c:pt>
                <c:pt idx="26">
                  <c:v>31.327033333333276</c:v>
                </c:pt>
                <c:pt idx="27">
                  <c:v>30.803269999999987</c:v>
                </c:pt>
                <c:pt idx="28">
                  <c:v>29.905042857142778</c:v>
                </c:pt>
                <c:pt idx="29">
                  <c:v>27.716874999999995</c:v>
                </c:pt>
              </c:numCache>
            </c:numRef>
          </c:val>
        </c:ser>
        <c:gapWidth val="50"/>
        <c:axId val="74965376"/>
        <c:axId val="74967296"/>
      </c:barChart>
      <c:scatterChart>
        <c:scatterStyle val="lineMarker"/>
        <c:ser>
          <c:idx val="1"/>
          <c:order val="1"/>
          <c:tx>
            <c:v>Median</c:v>
          </c:tx>
          <c:spPr>
            <a:ln w="28575">
              <a:noFill/>
            </a:ln>
          </c:spPr>
          <c:marker>
            <c:symbol val="diamond"/>
            <c:size val="5"/>
            <c:spPr>
              <a:solidFill>
                <a:srgbClr val="FF0000"/>
              </a:solidFill>
            </c:spPr>
          </c:marker>
          <c:xVal>
            <c:numRef>
              <c:f>'[39575002.xls]Broadband Average Prices'!$D$6:$D$35</c:f>
              <c:numCache>
                <c:formatCode>0.00_);\(0.00\)</c:formatCode>
                <c:ptCount val="30"/>
                <c:pt idx="0">
                  <c:v>40.344499999999996</c:v>
                </c:pt>
                <c:pt idx="1">
                  <c:v>83.597899999999996</c:v>
                </c:pt>
                <c:pt idx="2">
                  <c:v>60.398900000000012</c:v>
                </c:pt>
                <c:pt idx="3">
                  <c:v>48.2134</c:v>
                </c:pt>
                <c:pt idx="4">
                  <c:v>56.123100000000086</c:v>
                </c:pt>
                <c:pt idx="5">
                  <c:v>48.125500000000095</c:v>
                </c:pt>
                <c:pt idx="6">
                  <c:v>47.4602</c:v>
                </c:pt>
                <c:pt idx="7">
                  <c:v>43.544599999999996</c:v>
                </c:pt>
                <c:pt idx="8">
                  <c:v>46.099700000000013</c:v>
                </c:pt>
                <c:pt idx="9">
                  <c:v>46.885999999999996</c:v>
                </c:pt>
                <c:pt idx="10">
                  <c:v>37.21</c:v>
                </c:pt>
                <c:pt idx="11">
                  <c:v>46.248000000000012</c:v>
                </c:pt>
                <c:pt idx="12">
                  <c:v>31.461599999999944</c:v>
                </c:pt>
                <c:pt idx="13">
                  <c:v>36.168950000000095</c:v>
                </c:pt>
                <c:pt idx="14">
                  <c:v>37.76550000000011</c:v>
                </c:pt>
                <c:pt idx="15">
                  <c:v>38.559350000000002</c:v>
                </c:pt>
                <c:pt idx="16">
                  <c:v>36.575400000000002</c:v>
                </c:pt>
                <c:pt idx="17">
                  <c:v>35.68</c:v>
                </c:pt>
                <c:pt idx="18">
                  <c:v>31.609100000000005</c:v>
                </c:pt>
                <c:pt idx="19">
                  <c:v>35.261600000000001</c:v>
                </c:pt>
                <c:pt idx="20">
                  <c:v>38.2074</c:v>
                </c:pt>
                <c:pt idx="21">
                  <c:v>35.210900000000002</c:v>
                </c:pt>
                <c:pt idx="22">
                  <c:v>32.539150000000063</c:v>
                </c:pt>
                <c:pt idx="23">
                  <c:v>33.557799999999993</c:v>
                </c:pt>
                <c:pt idx="24">
                  <c:v>32.860050000000001</c:v>
                </c:pt>
                <c:pt idx="25">
                  <c:v>33.309150000000002</c:v>
                </c:pt>
                <c:pt idx="26">
                  <c:v>28.128699999999952</c:v>
                </c:pt>
                <c:pt idx="27">
                  <c:v>30.205449999999917</c:v>
                </c:pt>
                <c:pt idx="28">
                  <c:v>29.8291</c:v>
                </c:pt>
                <c:pt idx="29">
                  <c:v>28.82555</c:v>
                </c:pt>
              </c:numCache>
            </c:numRef>
          </c:xVal>
          <c:yVal>
            <c:numRef>
              <c:f>'[39575002.xls]Broadband Average Prices'!$U$6:$U$35</c:f>
              <c:numCache>
                <c:formatCode>General</c:formatCode>
                <c:ptCount val="30"/>
                <c:pt idx="0">
                  <c:v>0.5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pt idx="15">
                  <c:v>15.5</c:v>
                </c:pt>
                <c:pt idx="16">
                  <c:v>16.5</c:v>
                </c:pt>
                <c:pt idx="17">
                  <c:v>17.5</c:v>
                </c:pt>
                <c:pt idx="18">
                  <c:v>18.5</c:v>
                </c:pt>
                <c:pt idx="19">
                  <c:v>19.5</c:v>
                </c:pt>
                <c:pt idx="20">
                  <c:v>20.5</c:v>
                </c:pt>
                <c:pt idx="21">
                  <c:v>21.5</c:v>
                </c:pt>
                <c:pt idx="22">
                  <c:v>22.5</c:v>
                </c:pt>
                <c:pt idx="23">
                  <c:v>23.5</c:v>
                </c:pt>
                <c:pt idx="24">
                  <c:v>24.5</c:v>
                </c:pt>
                <c:pt idx="25">
                  <c:v>25.5</c:v>
                </c:pt>
                <c:pt idx="26">
                  <c:v>26.5</c:v>
                </c:pt>
                <c:pt idx="27">
                  <c:v>27.5</c:v>
                </c:pt>
                <c:pt idx="28">
                  <c:v>28.5</c:v>
                </c:pt>
                <c:pt idx="29">
                  <c:v>29.5</c:v>
                </c:pt>
              </c:numCache>
            </c:numRef>
          </c:yVal>
        </c:ser>
        <c:axId val="74981376"/>
        <c:axId val="74982912"/>
      </c:scatterChart>
      <c:catAx>
        <c:axId val="74965376"/>
        <c:scaling>
          <c:orientation val="minMax"/>
        </c:scaling>
        <c:axPos val="l"/>
        <c:numFmt formatCode="General" sourceLinked="1"/>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4967296"/>
        <c:crosses val="autoZero"/>
        <c:auto val="1"/>
        <c:lblAlgn val="ctr"/>
        <c:lblOffset val="100"/>
        <c:tickLblSkip val="1"/>
        <c:tickMarkSkip val="1"/>
      </c:catAx>
      <c:valAx>
        <c:axId val="74967296"/>
        <c:scaling>
          <c:orientation val="minMax"/>
        </c:scaling>
        <c:axPos val="b"/>
        <c:numFmt formatCode="0_);\(0\)" sourceLinked="0"/>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74965376"/>
        <c:crosses val="autoZero"/>
        <c:crossBetween val="between"/>
      </c:valAx>
      <c:valAx>
        <c:axId val="74981376"/>
        <c:scaling>
          <c:orientation val="minMax"/>
          <c:max val="160"/>
          <c:min val="0"/>
        </c:scaling>
        <c:delete val="1"/>
        <c:axPos val="t"/>
        <c:numFmt formatCode="0.00_);\(0.00\)" sourceLinked="1"/>
        <c:tickLblPos val="none"/>
        <c:crossAx val="74982912"/>
        <c:crosses val="max"/>
        <c:crossBetween val="midCat"/>
      </c:valAx>
      <c:valAx>
        <c:axId val="74982912"/>
        <c:scaling>
          <c:orientation val="minMax"/>
          <c:max val="30"/>
          <c:min val="0"/>
        </c:scaling>
        <c:delete val="1"/>
        <c:axPos val="r"/>
        <c:numFmt formatCode="General" sourceLinked="1"/>
        <c:tickLblPos val="none"/>
        <c:crossAx val="74981376"/>
        <c:crosses val="max"/>
        <c:crossBetween val="midCat"/>
      </c:valAx>
      <c:spPr>
        <a:noFill/>
        <a:ln w="25400">
          <a:noFill/>
        </a:ln>
      </c:spPr>
    </c:plotArea>
    <c:legend>
      <c:legendPos val="r"/>
      <c:layout/>
    </c:legend>
    <c:plotVisOnly val="1"/>
    <c:dispBlanksAs val="gap"/>
  </c:chart>
  <c:spPr>
    <a:solidFill>
      <a:srgbClr val="FFFFFF"/>
    </a:solidFill>
    <a:ln w="9525">
      <a:noFill/>
    </a:ln>
  </c:spPr>
  <c:txPr>
    <a:bodyPr/>
    <a:lstStyle/>
    <a:p>
      <a:pPr>
        <a:defRPr sz="900" b="0" i="0" u="none" strike="noStrike" baseline="0">
          <a:solidFill>
            <a:srgbClr val="000000"/>
          </a:solidFill>
          <a:latin typeface="Arial"/>
          <a:ea typeface="Arial"/>
          <a:cs typeface="Arial"/>
        </a:defRPr>
      </a:pPr>
      <a:endParaRPr lang="en-US"/>
    </a:p>
  </c:txPr>
  <c:externalData r:id="rId2"/>
</c:chartSpace>
</file>

<file path=ppt/drawings/drawing1.xml><?xml version="1.0" encoding="utf-8"?>
<c:userShapes xmlns:c="http://schemas.openxmlformats.org/drawingml/2006/chart">
  <cdr:relSizeAnchor xmlns:cdr="http://schemas.openxmlformats.org/drawingml/2006/chartDrawing">
    <cdr:from>
      <cdr:x>0.15594</cdr:x>
      <cdr:y>0.05228</cdr:y>
    </cdr:from>
    <cdr:to>
      <cdr:x>0.88526</cdr:x>
      <cdr:y>0.11486</cdr:y>
    </cdr:to>
    <cdr:sp macro="" textlink="">
      <cdr:nvSpPr>
        <cdr:cNvPr id="5121" name="Text Box 1025"/>
        <cdr:cNvSpPr txBox="1">
          <a:spLocks xmlns:a="http://schemas.openxmlformats.org/drawingml/2006/main" noChangeArrowheads="1"/>
        </cdr:cNvSpPr>
      </cdr:nvSpPr>
      <cdr:spPr bwMode="auto">
        <a:xfrm xmlns:a="http://schemas.openxmlformats.org/drawingml/2006/main">
          <a:off x="1203099" y="241016"/>
          <a:ext cx="5626925" cy="288477"/>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none" lIns="18288" tIns="22860" rIns="0" bIns="0" anchor="t" upright="1">
          <a:spAutoFit/>
        </a:bodyPr>
        <a:lstStyle xmlns:a="http://schemas.openxmlformats.org/drawingml/2006/main"/>
        <a:p xmlns:a="http://schemas.openxmlformats.org/drawingml/2006/main">
          <a:pPr algn="ctr" rtl="1">
            <a:defRPr sz="1000"/>
          </a:pPr>
          <a:endParaRPr lang="en-US" sz="800" b="1" i="0" strike="noStrike" baseline="0" dirty="0">
            <a:solidFill>
              <a:srgbClr val="FF0000"/>
            </a:solidFill>
            <a:latin typeface="Arial"/>
            <a:cs typeface="Arial"/>
          </a:endParaRPr>
        </a:p>
        <a:p xmlns:a="http://schemas.openxmlformats.org/drawingml/2006/main">
          <a:pPr algn="l" rtl="1">
            <a:defRPr sz="1000"/>
          </a:pPr>
          <a:r>
            <a:rPr lang="en-US" sz="1000" b="1" i="0" strike="noStrike" dirty="0">
              <a:solidFill>
                <a:srgbClr val="000000"/>
              </a:solidFill>
              <a:latin typeface="Arial"/>
              <a:cs typeface="Arial"/>
            </a:rPr>
            <a:t>OECD Fixed (wired) broadband subscriptions per 100 inhabitants, by technology, June 2010</a:t>
          </a:r>
          <a:endParaRPr lang="en-US" sz="1000" b="0" i="0" strike="noStrike" dirty="0">
            <a:solidFill>
              <a:srgbClr val="000000"/>
            </a:solidFill>
            <a:latin typeface="Arial"/>
            <a:cs typeface="Arial"/>
          </a:endParaRPr>
        </a:p>
      </cdr:txBody>
    </cdr:sp>
  </cdr:relSizeAnchor>
  <cdr:relSizeAnchor xmlns:cdr="http://schemas.openxmlformats.org/drawingml/2006/chartDrawing">
    <cdr:from>
      <cdr:x>0.72132</cdr:x>
      <cdr:y>0.30748</cdr:y>
    </cdr:from>
    <cdr:to>
      <cdr:x>0.90672</cdr:x>
      <cdr:y>0.3595</cdr:y>
    </cdr:to>
    <cdr:sp macro="" textlink="">
      <cdr:nvSpPr>
        <cdr:cNvPr id="5123" name="Text Box 1027"/>
        <cdr:cNvSpPr txBox="1">
          <a:spLocks xmlns:a="http://schemas.openxmlformats.org/drawingml/2006/main" noChangeArrowheads="1"/>
        </cdr:cNvSpPr>
      </cdr:nvSpPr>
      <cdr:spPr bwMode="auto">
        <a:xfrm xmlns:a="http://schemas.openxmlformats.org/drawingml/2006/main">
          <a:off x="5565190" y="1417527"/>
          <a:ext cx="1430393" cy="239822"/>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1">
            <a:defRPr sz="1000"/>
          </a:pPr>
          <a:r>
            <a:rPr lang="en-US" sz="1000" b="1" i="0" strike="noStrike">
              <a:solidFill>
                <a:schemeClr val="accent1">
                  <a:lumMod val="75000"/>
                </a:schemeClr>
              </a:solidFill>
              <a:latin typeface="Arial"/>
              <a:cs typeface="Arial"/>
            </a:rPr>
            <a:t>OECD</a:t>
          </a:r>
          <a:r>
            <a:rPr lang="en-US" sz="800" b="1" i="0" strike="noStrike">
              <a:solidFill>
                <a:schemeClr val="accent1">
                  <a:lumMod val="75000"/>
                </a:schemeClr>
              </a:solidFill>
              <a:latin typeface="Arial"/>
              <a:cs typeface="Arial"/>
            </a:rPr>
            <a:t> average</a:t>
          </a:r>
        </a:p>
      </cdr:txBody>
    </cdr:sp>
  </cdr:relSizeAnchor>
</c:userShapes>
</file>

<file path=ppt/drawings/drawing2.xml><?xml version="1.0" encoding="utf-8"?>
<c:userShapes xmlns:c="http://schemas.openxmlformats.org/drawingml/2006/chart">
  <cdr:relSizeAnchor xmlns:cdr="http://schemas.openxmlformats.org/drawingml/2006/chartDrawing">
    <cdr:from>
      <cdr:x>0.18785</cdr:x>
      <cdr:y>0.03695</cdr:y>
    </cdr:from>
    <cdr:to>
      <cdr:x>0.7942</cdr:x>
      <cdr:y>0.10123</cdr:y>
    </cdr:to>
    <cdr:sp macro="" textlink="">
      <cdr:nvSpPr>
        <cdr:cNvPr id="4097" name="Text Box 1025"/>
        <cdr:cNvSpPr txBox="1">
          <a:spLocks xmlns:a="http://schemas.openxmlformats.org/drawingml/2006/main" noChangeArrowheads="1"/>
        </cdr:cNvSpPr>
      </cdr:nvSpPr>
      <cdr:spPr bwMode="auto">
        <a:xfrm xmlns:a="http://schemas.openxmlformats.org/drawingml/2006/main">
          <a:off x="1295432" y="114735"/>
          <a:ext cx="4181443" cy="199590"/>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1">
            <a:defRPr sz="1000"/>
          </a:pPr>
          <a:r>
            <a:rPr lang="en-US" sz="800" b="1" i="0" strike="noStrike">
              <a:solidFill>
                <a:srgbClr val="000000"/>
              </a:solidFill>
              <a:latin typeface="Arial"/>
              <a:cs typeface="Arial"/>
            </a:rPr>
            <a:t>Fixed (wired) broadband penetration, G7 countries through, June 2010</a:t>
          </a:r>
        </a:p>
      </cdr:txBody>
    </cdr:sp>
  </cdr:relSizeAnchor>
  <cdr:relSizeAnchor xmlns:cdr="http://schemas.openxmlformats.org/drawingml/2006/chartDrawing">
    <cdr:from>
      <cdr:x>0.00175</cdr:x>
      <cdr:y>0.9435</cdr:y>
    </cdr:from>
    <cdr:to>
      <cdr:x>0.00274</cdr:x>
      <cdr:y>0.94834</cdr:y>
    </cdr:to>
    <cdr:sp macro="" textlink="">
      <cdr:nvSpPr>
        <cdr:cNvPr id="4098" name="Text Box 1026"/>
        <cdr:cNvSpPr txBox="1">
          <a:spLocks xmlns:a="http://schemas.openxmlformats.org/drawingml/2006/main" noChangeArrowheads="1"/>
        </cdr:cNvSpPr>
      </cdr:nvSpPr>
      <cdr:spPr bwMode="auto">
        <a:xfrm xmlns:a="http://schemas.openxmlformats.org/drawingml/2006/main">
          <a:off x="62839" y="3010125"/>
          <a:ext cx="772714" cy="175035"/>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1">
            <a:defRPr sz="1000"/>
          </a:pPr>
          <a:r>
            <a:rPr lang="en-US" sz="850" b="0" i="1" strike="noStrike">
              <a:solidFill>
                <a:srgbClr val="000000"/>
              </a:solidFill>
              <a:latin typeface="Arial"/>
              <a:cs typeface="Arial"/>
            </a:rPr>
            <a:t>Source :</a:t>
          </a:r>
          <a:r>
            <a:rPr lang="en-US" sz="850" b="0" i="0" strike="noStrike">
              <a:solidFill>
                <a:srgbClr val="000000"/>
              </a:solidFill>
              <a:latin typeface="Arial"/>
              <a:cs typeface="Arial"/>
            </a:rPr>
            <a:t> OECD</a:t>
          </a:r>
        </a:p>
      </cdr:txBody>
    </cdr:sp>
  </cdr:relSizeAnchor>
  <cdr:relSizeAnchor xmlns:cdr="http://schemas.openxmlformats.org/drawingml/2006/chartDrawing">
    <cdr:from>
      <cdr:x>0.875</cdr:x>
      <cdr:y>0</cdr:y>
    </cdr:from>
    <cdr:to>
      <cdr:x>0.90179</cdr:x>
      <cdr:y>0.00968</cdr:y>
    </cdr:to>
    <cdr:sp macro="" textlink="">
      <cdr:nvSpPr>
        <cdr:cNvPr id="4" name="Left Arrow 3"/>
        <cdr:cNvSpPr/>
      </cdr:nvSpPr>
      <cdr:spPr bwMode="auto">
        <a:xfrm xmlns:a="http://schemas.openxmlformats.org/drawingml/2006/main">
          <a:off x="7467600" y="-838200"/>
          <a:ext cx="228600" cy="45719"/>
        </a:xfrm>
        <a:prstGeom xmlns:a="http://schemas.openxmlformats.org/drawingml/2006/main" prst="leftArrow">
          <a:avLst/>
        </a:prstGeom>
        <a:solidFill xmlns:a="http://schemas.openxmlformats.org/drawingml/2006/main">
          <a:schemeClr val="bg1"/>
        </a:solidFill>
        <a:ln xmlns:a="http://schemas.openxmlformats.org/drawingml/2006/main" w="9525" cap="flat" cmpd="sng" algn="ctr">
          <a:noFill/>
          <a:prstDash val="solid"/>
          <a:round/>
          <a:headEnd type="none" w="med" len="med"/>
          <a:tailEnd type="none" w="med" len="med"/>
        </a:ln>
        <a:effectLst xmlns:a="http://schemas.openxmlformats.org/drawingml/2006/main"/>
      </cdr:spPr>
      <cdr:txBody>
        <a:bodyPr xmlns:a="http://schemas.openxmlformats.org/drawingml/2006/main" vert="horz" wrap="none" lIns="91440" tIns="45720" rIns="91440" bIns="45720" numCol="1" anchor="ctr" anchorCtr="0" compatLnSpc="1">
          <a:prstTxWarp prst="textNoShape">
            <a:avLst/>
          </a:prstTxWarp>
        </a:bodyPr>
        <a:lstStyle xmlns:a="http://schemas.openxmlformats.org/drawingml/2006/main"/>
        <a:p xmlns:a="http://schemas.openxmlformats.org/drawingml/2006/main">
          <a:endParaRPr lang="en-US"/>
        </a:p>
      </cdr:txBody>
    </cdr:sp>
  </cdr:relSizeAnchor>
</c:userShapes>
</file>

<file path=ppt/drawings/drawing3.xml><?xml version="1.0" encoding="utf-8"?>
<c:userShapes xmlns:c="http://schemas.openxmlformats.org/drawingml/2006/chart">
  <cdr:relSizeAnchor xmlns:cdr="http://schemas.openxmlformats.org/drawingml/2006/chartDrawing">
    <cdr:from>
      <cdr:x>0.00602</cdr:x>
      <cdr:y>0.0075</cdr:y>
    </cdr:from>
    <cdr:to>
      <cdr:x>0.86851</cdr:x>
      <cdr:y>0.04961</cdr:y>
    </cdr:to>
    <cdr:sp macro="" textlink="">
      <cdr:nvSpPr>
        <cdr:cNvPr id="2049" name="Text Box 1"/>
        <cdr:cNvSpPr txBox="1">
          <a:spLocks xmlns:a="http://schemas.openxmlformats.org/drawingml/2006/main" noChangeArrowheads="1"/>
        </cdr:cNvSpPr>
      </cdr:nvSpPr>
      <cdr:spPr bwMode="auto">
        <a:xfrm xmlns:a="http://schemas.openxmlformats.org/drawingml/2006/main">
          <a:off x="50800" y="50800"/>
          <a:ext cx="6818567" cy="267526"/>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square" lIns="27432" tIns="22860" rIns="0" bIns="0" anchor="t" upright="1"/>
        <a:lstStyle xmlns:a="http://schemas.openxmlformats.org/drawingml/2006/main"/>
        <a:p xmlns:a="http://schemas.openxmlformats.org/drawingml/2006/main">
          <a:pPr algn="l" rtl="1">
            <a:defRPr sz="1000"/>
          </a:pPr>
          <a:r>
            <a:rPr lang="en-US" sz="800" b="1" i="0" strike="noStrike">
              <a:solidFill>
                <a:srgbClr val="000000"/>
              </a:solidFill>
              <a:latin typeface="Arial"/>
              <a:cs typeface="Arial"/>
            </a:rPr>
            <a:t>Average advertised</a:t>
          </a:r>
          <a:r>
            <a:rPr lang="en-US" sz="800" b="1" i="0" strike="noStrike" baseline="0">
              <a:solidFill>
                <a:srgbClr val="000000"/>
              </a:solidFill>
              <a:latin typeface="Arial"/>
              <a:cs typeface="Arial"/>
            </a:rPr>
            <a:t> broadband download speed, by country, kbit/s, October</a:t>
          </a:r>
          <a:r>
            <a:rPr lang="en-US" sz="800" b="1" i="0" strike="noStrike">
              <a:solidFill>
                <a:srgbClr val="000000"/>
              </a:solidFill>
              <a:latin typeface="Arial"/>
              <a:cs typeface="Arial"/>
            </a:rPr>
            <a:t> 2009</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defRPr>
            </a:lvl1pPr>
          </a:lstStyle>
          <a:p>
            <a:pPr>
              <a:defRPr/>
            </a:pPr>
            <a:endParaRPr lang="en-US"/>
          </a:p>
        </p:txBody>
      </p:sp>
      <p:sp>
        <p:nvSpPr>
          <p:cNvPr id="18435" name="Rectangle 3"/>
          <p:cNvSpPr>
            <a:spLocks noGrp="1" noChangeArrowheads="1"/>
          </p:cNvSpPr>
          <p:nvPr>
            <p:ph type="dt" sz="quarter"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defRPr>
            </a:lvl1pPr>
          </a:lstStyle>
          <a:p>
            <a:pPr>
              <a:defRPr/>
            </a:pPr>
            <a:endParaRPr lang="en-US"/>
          </a:p>
        </p:txBody>
      </p:sp>
      <p:sp>
        <p:nvSpPr>
          <p:cNvPr id="18436" name="Rectangle 4"/>
          <p:cNvSpPr>
            <a:spLocks noGrp="1" noChangeArrowheads="1"/>
          </p:cNvSpPr>
          <p:nvPr>
            <p:ph type="ftr" sz="quarter" idx="2"/>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defRPr>
            </a:lvl1pPr>
          </a:lstStyle>
          <a:p>
            <a:pPr>
              <a:defRPr/>
            </a:pPr>
            <a:endParaRPr lang="en-US"/>
          </a:p>
        </p:txBody>
      </p:sp>
      <p:sp>
        <p:nvSpPr>
          <p:cNvPr id="18437" name="Rectangle 5"/>
          <p:cNvSpPr>
            <a:spLocks noGrp="1" noChangeArrowheads="1"/>
          </p:cNvSpPr>
          <p:nvPr>
            <p:ph type="sldNum" sz="quarter" idx="3"/>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defRPr>
            </a:lvl1pPr>
          </a:lstStyle>
          <a:p>
            <a:pPr>
              <a:defRPr/>
            </a:pPr>
            <a:fld id="{BF85F99C-D038-4B90-AD1A-F8562A200534}"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defRPr>
            </a:lvl1pPr>
          </a:lstStyle>
          <a:p>
            <a:pPr>
              <a:defRPr/>
            </a:pPr>
            <a:endParaRPr lang="en-US"/>
          </a:p>
        </p:txBody>
      </p:sp>
      <p:sp>
        <p:nvSpPr>
          <p:cNvPr id="34819" name="Rectangle 3"/>
          <p:cNvSpPr>
            <a:spLocks noGrp="1" noChangeArrowheads="1"/>
          </p:cNvSpPr>
          <p:nvPr>
            <p:ph type="dt"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defRPr>
            </a:lvl1pPr>
          </a:lstStyle>
          <a:p>
            <a:pPr>
              <a:defRPr/>
            </a:pPr>
            <a:endParaRPr lang="en-US"/>
          </a:p>
        </p:txBody>
      </p:sp>
      <p:sp>
        <p:nvSpPr>
          <p:cNvPr id="17412" name="Rectangle 4"/>
          <p:cNvSpPr>
            <a:spLocks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822" name="Rectangle 6"/>
          <p:cNvSpPr>
            <a:spLocks noGrp="1" noChangeArrowheads="1"/>
          </p:cNvSpPr>
          <p:nvPr>
            <p:ph type="ftr" sz="quarter" idx="4"/>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defRPr>
            </a:lvl1pPr>
          </a:lstStyle>
          <a:p>
            <a:pPr>
              <a:defRPr/>
            </a:pPr>
            <a:endParaRPr lang="en-US"/>
          </a:p>
        </p:txBody>
      </p:sp>
      <p:sp>
        <p:nvSpPr>
          <p:cNvPr id="34823" name="Rectangle 7"/>
          <p:cNvSpPr>
            <a:spLocks noGrp="1" noChangeArrowheads="1"/>
          </p:cNvSpPr>
          <p:nvPr>
            <p:ph type="sldNum" sz="quarter" idx="5"/>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defRPr>
            </a:lvl1pPr>
          </a:lstStyle>
          <a:p>
            <a:pPr>
              <a:defRPr/>
            </a:pPr>
            <a:fld id="{F7D32E34-3515-4E76-8801-6CAF9CFB53C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technewsdaily.com/welcome-to-technewsdaily-why-were-here-100128-0116/"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digitalimpactgroup.org/costofexclusion.pdf"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www.answers.com/topic/g7-g8#ixzz1HqiTPmPT"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digitalimpactgroup.org/costofexclusion.pdf"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305692D6-6A17-4ED1-A6DD-BF85A23D63EA}" type="slidenum">
              <a:rPr lang="en-US" smtClean="0"/>
              <a:pPr/>
              <a:t>2</a:t>
            </a:fld>
            <a:endParaRPr lang="en-US" smtClean="0"/>
          </a:p>
        </p:txBody>
      </p:sp>
      <p:sp>
        <p:nvSpPr>
          <p:cNvPr id="19459" name="Rectangle 2"/>
          <p:cNvSpPr>
            <a:spLocks noRo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Figures from the Organization for Economic Cooperation and Development (OECD) show a sharp decline in U.S. </a:t>
            </a:r>
            <a:r>
              <a:rPr lang="en-US" dirty="0" smtClean="0">
                <a:hlinkClick r:id="rId3"/>
              </a:rPr>
              <a:t>broadband access</a:t>
            </a:r>
            <a:r>
              <a:rPr lang="en-US" dirty="0" smtClean="0"/>
              <a:t> rank among its 30 member nations. The U.S. was the leader in broadband penetration.  In 2001, the U.S. ranked 4th, but by 2010 had fallen to 14’th place.</a:t>
            </a:r>
          </a:p>
          <a:p>
            <a:endParaRPr lang="en-US" dirty="0" smtClean="0"/>
          </a:p>
          <a:p>
            <a:r>
              <a:rPr lang="en-US" dirty="0" smtClean="0"/>
              <a:t>Source: http://www.oecd.org/document/54/0,3746,en_2649_33703_38690102_1_1_1_1,00.html  (Table 1D)</a:t>
            </a:r>
          </a:p>
          <a:p>
            <a:endParaRPr lang="en-US" dirty="0" smtClean="0"/>
          </a:p>
          <a:p>
            <a:endParaRPr lang="en-US" dirty="0" smtClean="0"/>
          </a:p>
          <a:p>
            <a:endParaRPr lang="en-US" dirty="0" smtClean="0"/>
          </a:p>
          <a:p>
            <a:r>
              <a:rPr lang="en-US" dirty="0" smtClean="0"/>
              <a:t>As for speed, </a:t>
            </a:r>
            <a:r>
              <a:rPr lang="en-US" dirty="0" err="1" smtClean="0"/>
              <a:t>Akamai</a:t>
            </a:r>
            <a:r>
              <a:rPr lang="en-US" dirty="0" smtClean="0"/>
              <a:t>, one of the largest global networks, released its "Q3 2009 State of the Internet" report that shows the U.S. 18th with an average connection speed of 3.9 Mbps. In first place was South Korea, which clocked in at 14.6 Mbps. </a:t>
            </a:r>
          </a:p>
          <a:p>
            <a:pPr eaLnBrk="1" hangingPunct="1"/>
            <a:r>
              <a:rPr lang="en-US" dirty="0" smtClean="0"/>
              <a:t>It should be noted that all most all of the countries ahead of the US using this measure are much more densely populated than the US with it’s rural areas.</a:t>
            </a:r>
          </a:p>
          <a:p>
            <a:endParaRPr lang="en-US" dirty="0"/>
          </a:p>
        </p:txBody>
      </p:sp>
      <p:sp>
        <p:nvSpPr>
          <p:cNvPr id="4" name="Slide Number Placeholder 3"/>
          <p:cNvSpPr>
            <a:spLocks noGrp="1"/>
          </p:cNvSpPr>
          <p:nvPr>
            <p:ph type="sldNum" sz="quarter" idx="10"/>
          </p:nvPr>
        </p:nvSpPr>
        <p:spPr/>
        <p:txBody>
          <a:bodyPr/>
          <a:lstStyle/>
          <a:p>
            <a:pPr>
              <a:defRPr/>
            </a:pPr>
            <a:fld id="{F7D32E34-3515-4E76-8801-6CAF9CFB53CB}" type="slidenum">
              <a:rPr lang="en-US" smtClean="0"/>
              <a:pPr>
                <a:defRPr/>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p:spPr>
        <p:txBody>
          <a:bodyPr/>
          <a:lstStyle/>
          <a:p>
            <a:r>
              <a:rPr lang="en-US" dirty="0" smtClean="0"/>
              <a:t>Canada is very similar to the US relative to it’s large rural areas and it has achieved a much higher broadband penetration that the U.S.  (30.1 % with fixed broadband vs. 27.1%)</a:t>
            </a:r>
          </a:p>
          <a:p>
            <a:endParaRPr lang="en-US" dirty="0" smtClean="0"/>
          </a:p>
          <a:p>
            <a:r>
              <a:rPr lang="en-US" dirty="0" smtClean="0"/>
              <a:t>The Group of Seven (G7), now the G8, is a club of advanced industrialized states that meets annually to discuss important </a:t>
            </a:r>
            <a:r>
              <a:rPr lang="en-US" u="sng" dirty="0" smtClean="0">
                <a:hlinkClick r:id="rId3" action="ppaction://hlinkfile"/>
              </a:rPr>
              <a:t>economic</a:t>
            </a:r>
            <a:r>
              <a:rPr lang="en-US" dirty="0" smtClean="0"/>
              <a:t>, financial, and political issues.</a:t>
            </a:r>
            <a:br>
              <a:rPr lang="en-US" dirty="0" smtClean="0"/>
            </a:br>
            <a:r>
              <a:rPr lang="en-US" dirty="0" smtClean="0"/>
              <a:t/>
            </a:r>
            <a:br>
              <a:rPr lang="en-US" dirty="0" smtClean="0"/>
            </a:br>
            <a:r>
              <a:rPr lang="en-US" dirty="0" smtClean="0"/>
              <a:t>Read more: </a:t>
            </a:r>
            <a:r>
              <a:rPr lang="en-US" dirty="0" smtClean="0">
                <a:hlinkClick r:id="rId4"/>
              </a:rPr>
              <a:t>http://www.answers.com/topic/g7-g8#ixzz1HqiTPmPT</a:t>
            </a:r>
            <a:endParaRPr lang="en-US" dirty="0" smtClean="0"/>
          </a:p>
          <a:p>
            <a:endParaRPr lang="en-US" dirty="0" smtClean="0"/>
          </a:p>
          <a:p>
            <a:endParaRPr lang="en-US" dirty="0" smtClean="0"/>
          </a:p>
          <a:p>
            <a:r>
              <a:rPr lang="en-US" dirty="0" smtClean="0"/>
              <a:t>Source: http://www.oecd.org/document/54/0,3746,en_2649_33703_38690102_1_1_1_1,00.html  (Table 1i)</a:t>
            </a:r>
          </a:p>
        </p:txBody>
      </p:sp>
      <p:sp>
        <p:nvSpPr>
          <p:cNvPr id="21508" name="Slide Number Placeholder 3"/>
          <p:cNvSpPr>
            <a:spLocks noGrp="1"/>
          </p:cNvSpPr>
          <p:nvPr>
            <p:ph type="sldNum" sz="quarter" idx="5"/>
          </p:nvPr>
        </p:nvSpPr>
        <p:spPr>
          <a:noFill/>
        </p:spPr>
        <p:txBody>
          <a:bodyPr/>
          <a:lstStyle/>
          <a:p>
            <a:fld id="{3CE19474-F976-4135-A0F8-1A546B9AB448}" type="slidenum">
              <a:rPr lang="en-US" smtClean="0"/>
              <a:pPr/>
              <a:t>4</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p:spPr>
        <p:txBody>
          <a:bodyPr/>
          <a:lstStyle/>
          <a:p>
            <a:r>
              <a:rPr lang="en-US" smtClean="0"/>
              <a:t>Source: http://www.oecd.org/document/54/0,3746,en_2649_33703_38690102_1_1_1_1,00.html  table 5a</a:t>
            </a:r>
          </a:p>
          <a:p>
            <a:endParaRPr lang="en-US" smtClean="0"/>
          </a:p>
          <a:p>
            <a:r>
              <a:rPr lang="en-US" smtClean="0"/>
              <a:t>It’s more about bandwidth and speed than it is about the presence or absence of broadband. The U.W. ranks 24’th according to the OECD Organization for Economic Cooperation and Development </a:t>
            </a:r>
          </a:p>
        </p:txBody>
      </p:sp>
      <p:sp>
        <p:nvSpPr>
          <p:cNvPr id="22532" name="Slide Number Placeholder 3"/>
          <p:cNvSpPr>
            <a:spLocks noGrp="1"/>
          </p:cNvSpPr>
          <p:nvPr>
            <p:ph type="sldNum" sz="quarter" idx="5"/>
          </p:nvPr>
        </p:nvSpPr>
        <p:spPr>
          <a:noFill/>
        </p:spPr>
        <p:txBody>
          <a:bodyPr/>
          <a:lstStyle/>
          <a:p>
            <a:fld id="{E17111FF-D789-442B-AF6D-E999C9D9F1BA}" type="slidenum">
              <a:rPr lang="en-US" smtClean="0"/>
              <a:pPr/>
              <a:t>5</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p:spPr>
        <p:txBody>
          <a:bodyPr/>
          <a:lstStyle/>
          <a:p>
            <a:r>
              <a:rPr lang="en-US" smtClean="0"/>
              <a:t>Source: http://www.oecd.org/document/54/0,3746,en_2649_33703_38690102_1_1_1_1,00.html  (Table 4e)</a:t>
            </a:r>
          </a:p>
          <a:p>
            <a:endParaRPr lang="en-US" smtClean="0"/>
          </a:p>
          <a:p>
            <a:endParaRPr lang="en-US" smtClean="0"/>
          </a:p>
          <a:p>
            <a:r>
              <a:rPr lang="en-US" smtClean="0"/>
              <a:t>Not only do we have lower broadband penetration rates and lower broadband speeds, but we also pay more for our broadband connections.</a:t>
            </a:r>
          </a:p>
        </p:txBody>
      </p:sp>
      <p:sp>
        <p:nvSpPr>
          <p:cNvPr id="23556" name="Slide Number Placeholder 3"/>
          <p:cNvSpPr>
            <a:spLocks noGrp="1"/>
          </p:cNvSpPr>
          <p:nvPr>
            <p:ph type="sldNum" sz="quarter" idx="5"/>
          </p:nvPr>
        </p:nvSpPr>
        <p:spPr>
          <a:noFill/>
        </p:spPr>
        <p:txBody>
          <a:bodyPr/>
          <a:lstStyle/>
          <a:p>
            <a:fld id="{4FA60140-9AB6-4F16-94DD-3063BA4A8961}" type="slidenum">
              <a:rPr lang="en-US" smtClean="0"/>
              <a:pPr/>
              <a:t>6</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9E8227CA-709F-4739-BC17-A733B7CB9B8C}" type="slidenum">
              <a:rPr lang="en-US" smtClean="0"/>
              <a:pPr/>
              <a:t>7</a:t>
            </a:fld>
            <a:endParaRPr lang="en-US" smtClean="0"/>
          </a:p>
        </p:txBody>
      </p:sp>
      <p:sp>
        <p:nvSpPr>
          <p:cNvPr id="24579" name="Rectangle 2"/>
          <p:cNvSpPr>
            <a:spLocks noRo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US" dirty="0" smtClean="0"/>
              <a:t>Source: http://graphics.eiu.com/pdf/E-readiness%20rankings.pdf</a:t>
            </a:r>
          </a:p>
          <a:p>
            <a:pPr eaLnBrk="1" hangingPunct="1"/>
            <a:endParaRPr lang="en-US" dirty="0" smtClean="0"/>
          </a:p>
          <a:p>
            <a:pPr eaLnBrk="1" hangingPunct="1"/>
            <a:r>
              <a:rPr lang="en-US" dirty="0" smtClean="0"/>
              <a:t>The Economist Intelligence Unit publishes national e-readiness rankings annually. This organization ranked the US 5’th based on a methodology that considers 6 categories:</a:t>
            </a:r>
          </a:p>
          <a:p>
            <a:r>
              <a:rPr lang="en-US" b="1" dirty="0" smtClean="0"/>
              <a:t>Category Weight</a:t>
            </a:r>
          </a:p>
          <a:p>
            <a:r>
              <a:rPr lang="en-US" dirty="0" smtClean="0"/>
              <a:t>Connectivity and technology infrastructure 20%</a:t>
            </a:r>
          </a:p>
          <a:p>
            <a:r>
              <a:rPr lang="en-US" dirty="0" smtClean="0"/>
              <a:t>Business environment 15%</a:t>
            </a:r>
          </a:p>
          <a:p>
            <a:r>
              <a:rPr lang="en-US" dirty="0" smtClean="0"/>
              <a:t>Social and cultural environment 15%</a:t>
            </a:r>
          </a:p>
          <a:p>
            <a:r>
              <a:rPr lang="en-US" dirty="0" smtClean="0"/>
              <a:t>Legal environment 10%</a:t>
            </a:r>
          </a:p>
          <a:p>
            <a:r>
              <a:rPr lang="en-US" dirty="0" smtClean="0"/>
              <a:t>Government policy and vision 15%</a:t>
            </a:r>
          </a:p>
          <a:p>
            <a:r>
              <a:rPr lang="en-US" dirty="0" smtClean="0"/>
              <a:t>Consumer and business adoption 25%</a:t>
            </a:r>
          </a:p>
          <a:p>
            <a:r>
              <a:rPr lang="fr-FR" dirty="0" smtClean="0"/>
              <a:t>Source: </a:t>
            </a:r>
            <a:r>
              <a:rPr lang="fr-FR" dirty="0" err="1" smtClean="0"/>
              <a:t>Economist</a:t>
            </a:r>
            <a:r>
              <a:rPr lang="fr-FR" dirty="0" smtClean="0"/>
              <a:t> Intelligence Unit, 2009</a:t>
            </a:r>
            <a:endParaRPr lang="en-US" b="1"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90E1F559-A8E5-4B73-B7C9-0EDDD5802264}" type="slidenum">
              <a:rPr lang="en-US" smtClean="0"/>
              <a:pPr/>
              <a:t>8</a:t>
            </a:fld>
            <a:endParaRPr lang="en-US" smtClean="0"/>
          </a:p>
        </p:txBody>
      </p:sp>
      <p:sp>
        <p:nvSpPr>
          <p:cNvPr id="25603" name="Rectangle 2"/>
          <p:cNvSpPr>
            <a:spLocks noRo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r>
              <a:rPr lang="en-US" smtClean="0"/>
              <a:t>Source: http://www.pewinternet.org/Reports/2010/Home-Broadband-2010.aspx</a:t>
            </a:r>
          </a:p>
          <a:p>
            <a:pPr eaLnBrk="1" hangingPunct="1"/>
            <a:endParaRPr lang="en-US" smtClean="0"/>
          </a:p>
          <a:p>
            <a:pPr eaLnBrk="1" hangingPunct="1"/>
            <a:r>
              <a:rPr lang="en-US" smtClean="0"/>
              <a:t>The Pew Internet and American Life project conducts surveys of US households. This chart from a 2010 report compares home broadband penetration by community type for the US. </a:t>
            </a:r>
          </a:p>
          <a:p>
            <a:pPr eaLnBrk="1" hangingPunct="1"/>
            <a:r>
              <a:rPr lang="en-US" smtClean="0"/>
              <a:t>Household broadband penetration is growing over the time period, but penetration in rural communities continues to lag urban and communities (50% vs. 70%).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dirty="0" smtClean="0"/>
              <a:t>Source: http://www.broadbandmap.gov/number-of-providers</a:t>
            </a:r>
          </a:p>
          <a:p>
            <a:pPr eaLnBrk="1" hangingPunct="1"/>
            <a:endParaRPr lang="en-US" dirty="0" smtClean="0"/>
          </a:p>
          <a:p>
            <a:pPr eaLnBrk="1" hangingPunct="1"/>
            <a:r>
              <a:rPr lang="en-US" dirty="0" smtClean="0"/>
              <a:t>Availability of broadband service is one reason rural broadband penetration lags behind urban and suburban areas. Studies have also shown that the cost of broadband decreases when there are multiple providers in a community. </a:t>
            </a:r>
          </a:p>
          <a:p>
            <a:pPr eaLnBrk="1" hangingPunct="1"/>
            <a:endParaRPr lang="en-US" dirty="0" smtClean="0"/>
          </a:p>
          <a:p>
            <a:pPr eaLnBrk="1" hangingPunct="1"/>
            <a:r>
              <a:rPr lang="en-US" dirty="0" smtClean="0"/>
              <a:t>This map showing the number of high-speed providers by census block (June 2010). The National Broadband Map (NBM) is a searchable and interactive website that allows users to view broadband availability across every neighborhood in the United States. The NBM was created by the National Telecommunications and Information Administration (NTIA), in collaboration with the Federal Communications Commission (FCC), and in partnership with 50 states, five territories and the District of Columbia. The NBM is a project of NTIA's State Broadband Initiative. The NBM will be updated approximately every six months and was first published on February 17, 2011.</a:t>
            </a:r>
          </a:p>
          <a:p>
            <a:endParaRPr lang="en-US" dirty="0"/>
          </a:p>
        </p:txBody>
      </p:sp>
      <p:sp>
        <p:nvSpPr>
          <p:cNvPr id="4" name="Slide Number Placeholder 3"/>
          <p:cNvSpPr>
            <a:spLocks noGrp="1"/>
          </p:cNvSpPr>
          <p:nvPr>
            <p:ph type="sldNum" sz="quarter" idx="10"/>
          </p:nvPr>
        </p:nvSpPr>
        <p:spPr/>
        <p:txBody>
          <a:bodyPr/>
          <a:lstStyle/>
          <a:p>
            <a:pPr>
              <a:defRPr/>
            </a:pPr>
            <a:fld id="{F7D32E34-3515-4E76-8801-6CAF9CFB53CB}" type="slidenum">
              <a:rPr lang="en-US" smtClean="0"/>
              <a:pPr>
                <a:defRPr/>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541EBF96-3C30-4AEC-B6BA-62FE15C93202}" type="slidenum">
              <a:rPr lang="en-US" smtClean="0"/>
              <a:pPr/>
              <a:t>10</a:t>
            </a:fld>
            <a:endParaRPr lang="en-US" smtClean="0"/>
          </a:p>
        </p:txBody>
      </p:sp>
      <p:sp>
        <p:nvSpPr>
          <p:cNvPr id="27651" name="Rectangle 2"/>
          <p:cNvSpPr>
            <a:spLocks noRo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US" smtClean="0"/>
              <a:t>Businesses and residents will be less likely to locate in communities with no or limited broadband.</a:t>
            </a:r>
          </a:p>
          <a:p>
            <a:pPr eaLnBrk="1" hangingPunct="1"/>
            <a:r>
              <a:rPr lang="en-US" smtClean="0"/>
              <a:t>College grads are less likely live in homes without broadband access</a:t>
            </a:r>
          </a:p>
          <a:p>
            <a:pPr eaLnBrk="1" hangingPunct="1"/>
            <a:r>
              <a:rPr lang="en-US" smtClean="0"/>
              <a:t>Communities with out broadband service are less likely to attract young people or retiring baby boomers.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44B72AF6-DE57-4A11-8F62-FDFB185F74FB}" type="slidenum">
              <a:rPr lang="en-US" smtClean="0"/>
              <a:pPr/>
              <a:t>11</a:t>
            </a:fld>
            <a:endParaRPr lang="en-US" smtClean="0"/>
          </a:p>
        </p:txBody>
      </p:sp>
      <p:sp>
        <p:nvSpPr>
          <p:cNvPr id="28675" name="Rectangle 2"/>
          <p:cNvSpPr>
            <a:spLocks noRo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en-US" dirty="0" smtClean="0"/>
              <a:t>The previous slides focused on residential broadband service.</a:t>
            </a:r>
          </a:p>
          <a:p>
            <a:pPr eaLnBrk="1" hangingPunct="1"/>
            <a:r>
              <a:rPr lang="en-US" dirty="0" smtClean="0"/>
              <a:t>Businesses that use broadband often require a higher level of service and dedicated connections with guaranteed bandwidth, synchronous connections (the same up and download speeds). These types of connections are a available in rural areas but they are considerably more expensive than in urban areas.</a:t>
            </a:r>
          </a:p>
          <a:p>
            <a:pPr eaLnBrk="1" hangingPunct="1"/>
            <a:endParaRPr lang="en-US" dirty="0" smtClean="0"/>
          </a:p>
          <a:p>
            <a:pPr eaLnBrk="1" hangingPunct="1"/>
            <a:r>
              <a:rPr lang="en-US" dirty="0" smtClean="0"/>
              <a:t>What organizations in the community use or need this level of broadband service?</a:t>
            </a:r>
          </a:p>
          <a:p>
            <a:pPr eaLnBrk="1" hangingPunct="1"/>
            <a:r>
              <a:rPr lang="en-US" dirty="0" smtClean="0"/>
              <a:t>Who provides the service to our community?</a:t>
            </a:r>
          </a:p>
          <a:p>
            <a:pPr eaLnBrk="1" hangingPunct="1"/>
            <a:r>
              <a:rPr lang="en-US" dirty="0" smtClean="0"/>
              <a:t>What does the service cost? How does cost for commercial broadband service compare to the cost in urban areas?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CB31385A-D765-4ACA-8B13-C0FA96B22CA0}" type="slidenum">
              <a:rPr lang="en-US" smtClean="0"/>
              <a:pPr/>
              <a:t>12</a:t>
            </a:fld>
            <a:endParaRPr lang="en-US" smtClean="0"/>
          </a:p>
        </p:txBody>
      </p:sp>
      <p:sp>
        <p:nvSpPr>
          <p:cNvPr id="29699" name="Rectangle 2"/>
          <p:cNvSpPr>
            <a:spLocks noRo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smtClean="0"/>
              <a:t>Affordable commercial level broadband is important to rural communities. Broadband is a necessary infrastructure that allows businesses to participate in the global economy. Businesses are less likely to locate or grow with out affordable broadband.</a:t>
            </a:r>
          </a:p>
          <a:p>
            <a:pPr eaLnBrk="1" hangingPunct="1"/>
            <a:r>
              <a:rPr lang="en-US" smtClean="0"/>
              <a:t>Most rural governments, schools and hospitals have to pay more for broadband than their counterparts in urban and suburban communities, making the services and products they provide more expensive to local residents.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r>
              <a:rPr lang="en-US" smtClean="0">
                <a:hlinkClick r:id="rId3"/>
              </a:rPr>
              <a:t>http://www.digitalimpactgroup.org/costofexclusion.pdf</a:t>
            </a:r>
            <a:endParaRPr lang="en-US" smtClean="0"/>
          </a:p>
          <a:p>
            <a:endParaRPr lang="en-US" smtClean="0"/>
          </a:p>
          <a:p>
            <a:r>
              <a:rPr lang="en-US" smtClean="0"/>
              <a:t>The impact of not having everyone connected is costing this country about $55.2 billion according to a study done by the Digital Impact Group in 2010. Is it reasonable to assume we can connect everyone?</a:t>
            </a:r>
          </a:p>
          <a:p>
            <a:r>
              <a:rPr lang="en-US" smtClean="0"/>
              <a:t>The Brookings Institute reports:</a:t>
            </a:r>
          </a:p>
          <a:p>
            <a:r>
              <a:rPr lang="en-US" smtClean="0"/>
              <a:t>Finland made history this year by declaring that its citizens have a “legal right” to broadband. It passed a law requiring telecommunications providers to “provide all Finnish residents with broadband lines that can run at speeds of at least 1 megabit per second” by July 2010 (Johnson, 2009). With 96 percent of its people already having access to broadband, the legislation affects the four percent who currently are unconnected. The nation’s communications minister announced plans to bring 100 Mbps Internet speed to all residents by 2016. </a:t>
            </a:r>
          </a:p>
          <a:p>
            <a:r>
              <a:rPr lang="en-US" smtClean="0"/>
              <a:t>France has not declared broadband access a legal right, but its courts have said it is a “basic human right”. In a 2009 Constitutional Council action, officials ruled that people need broadband in order to participate in civic affairs and that the country should ensure that all its people had access (Webware, 2009). </a:t>
            </a:r>
          </a:p>
        </p:txBody>
      </p:sp>
      <p:sp>
        <p:nvSpPr>
          <p:cNvPr id="30724" name="Slide Number Placeholder 3"/>
          <p:cNvSpPr>
            <a:spLocks noGrp="1"/>
          </p:cNvSpPr>
          <p:nvPr>
            <p:ph type="sldNum" sz="quarter" idx="5"/>
          </p:nvPr>
        </p:nvSpPr>
        <p:spPr>
          <a:noFill/>
        </p:spPr>
        <p:txBody>
          <a:bodyPr/>
          <a:lstStyle/>
          <a:p>
            <a:fld id="{3680282B-324E-41C7-B45D-2DB361090AFE}" type="slidenum">
              <a:rPr lang="en-US" smtClean="0"/>
              <a:pPr/>
              <a:t>13</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702CDB5D-5373-4243-A25B-3C7FEBBDF4C7}" type="slidenum">
              <a:rPr lang="en-US" smtClean="0"/>
              <a:pPr/>
              <a:t>14</a:t>
            </a:fld>
            <a:endParaRPr lang="en-US" smtClean="0"/>
          </a:p>
        </p:txBody>
      </p:sp>
      <p:sp>
        <p:nvSpPr>
          <p:cNvPr id="47107" name="Rectangle 2"/>
          <p:cNvSpPr>
            <a:spLocks noRo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r>
              <a:rPr lang="en-US" smtClean="0"/>
              <a:t>End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1"/>
          <p:cNvGrpSpPr/>
          <p:nvPr/>
        </p:nvGrpSpPr>
        <p:grpSpPr>
          <a:xfrm>
            <a:off x="0" y="0"/>
            <a:ext cx="9144000" cy="6400800"/>
            <a:chOff x="0" y="0"/>
            <a:chExt cx="9144000" cy="6400800"/>
          </a:xfrm>
        </p:grpSpPr>
        <p:sp>
          <p:nvSpPr>
            <p:cNvPr id="16" name="Rectangle 15"/>
            <p:cNvSpPr/>
            <p:nvPr/>
          </p:nvSpPr>
          <p:spPr>
            <a:xfrm>
              <a:off x="1828800" y="4572000"/>
              <a:ext cx="6858000" cy="1828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10"/>
            <p:cNvGrpSpPr/>
            <p:nvPr/>
          </p:nvGrpSpPr>
          <p:grpSpPr>
            <a:xfrm>
              <a:off x="0" y="0"/>
              <a:ext cx="9144000" cy="6400800"/>
              <a:chOff x="0" y="0"/>
              <a:chExt cx="9144000" cy="6400800"/>
            </a:xfrm>
          </p:grpSpPr>
          <p:sp>
            <p:nvSpPr>
              <p:cNvPr id="15" name="Rectangle 14"/>
              <p:cNvSpPr/>
              <p:nvPr/>
            </p:nvSpPr>
            <p:spPr>
              <a:xfrm>
                <a:off x="0" y="0"/>
                <a:ext cx="1828800" cy="6400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0" y="4572000"/>
                <a:ext cx="9144000" cy="1828800"/>
              </a:xfrm>
              <a:prstGeom prst="rect">
                <a:avLst/>
              </a:prstGeom>
              <a:solidFill>
                <a:schemeClr val="accent1"/>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Rectangle 12"/>
            <p:cNvSpPr/>
            <p:nvPr/>
          </p:nvSpPr>
          <p:spPr>
            <a:xfrm>
              <a:off x="0" y="4572000"/>
              <a:ext cx="1828800" cy="18288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Date Placeholder 3"/>
          <p:cNvSpPr>
            <a:spLocks noGrp="1"/>
          </p:cNvSpPr>
          <p:nvPr>
            <p:ph type="dt" sz="half" idx="10"/>
          </p:nvPr>
        </p:nvSpPr>
        <p:spPr>
          <a:xfrm>
            <a:off x="6934200" y="6553200"/>
            <a:ext cx="1676400" cy="228600"/>
          </a:xfrm>
        </p:spPr>
        <p:txBody>
          <a:bodyPr vert="horz" lIns="91440" tIns="45720" rIns="91440" bIns="45720" rtlCol="0" anchor="t" anchorCtr="0"/>
          <a:lstStyle>
            <a:lvl1pPr marL="0" algn="r" defTabSz="914400" rtl="0" eaLnBrk="1" latinLnBrk="0" hangingPunct="1">
              <a:defRPr sz="900" kern="1200" cap="small" baseline="0">
                <a:solidFill>
                  <a:sysClr val="windowText" lastClr="000000"/>
                </a:solidFill>
                <a:latin typeface="+mj-lt"/>
                <a:ea typeface="+mn-ea"/>
                <a:cs typeface="+mn-cs"/>
              </a:defRPr>
            </a:lvl1pPr>
          </a:lstStyle>
          <a:p>
            <a:fld id="{8E36636D-D922-432D-A958-524484B5923D}" type="datetimeFigureOut">
              <a:rPr/>
              <a:pPr/>
              <a:t>3/28/2008</a:t>
            </a:fld>
            <a:endParaRPr/>
          </a:p>
        </p:txBody>
      </p:sp>
      <p:sp>
        <p:nvSpPr>
          <p:cNvPr id="5" name="Footer Placeholder 4"/>
          <p:cNvSpPr>
            <a:spLocks noGrp="1"/>
          </p:cNvSpPr>
          <p:nvPr>
            <p:ph type="ftr" sz="quarter" idx="11"/>
          </p:nvPr>
        </p:nvSpPr>
        <p:spPr>
          <a:xfrm>
            <a:off x="1891553" y="6553200"/>
            <a:ext cx="1676400" cy="228600"/>
          </a:xfrm>
        </p:spPr>
        <p:txBody>
          <a:bodyPr anchor="t" anchorCtr="0"/>
          <a:lstStyle>
            <a:lvl1pPr>
              <a:defRPr>
                <a:solidFill>
                  <a:sysClr val="windowText" lastClr="000000"/>
                </a:solidFill>
              </a:defRPr>
            </a:lvl1pPr>
          </a:lstStyle>
          <a:p>
            <a:endParaRPr/>
          </a:p>
        </p:txBody>
      </p:sp>
      <p:sp>
        <p:nvSpPr>
          <p:cNvPr id="6" name="Slide Number Placeholder 5"/>
          <p:cNvSpPr>
            <a:spLocks noGrp="1"/>
          </p:cNvSpPr>
          <p:nvPr>
            <p:ph type="sldNum" sz="quarter" idx="12"/>
          </p:nvPr>
        </p:nvSpPr>
        <p:spPr>
          <a:xfrm>
            <a:off x="4870076" y="6553200"/>
            <a:ext cx="762000" cy="228600"/>
          </a:xfrm>
          <a:noFill/>
          <a:ln>
            <a:noFill/>
          </a:ln>
          <a:effectLst/>
        </p:spPr>
        <p:txBody>
          <a:bodyPr/>
          <a:lstStyle>
            <a:lvl1pPr algn="ctr">
              <a:defRPr sz="900" kern="1200" cap="small" baseline="0">
                <a:solidFill>
                  <a:sysClr val="windowText" lastClr="000000"/>
                </a:solidFill>
                <a:latin typeface="+mj-lt"/>
                <a:ea typeface="+mn-ea"/>
                <a:cs typeface="+mn-cs"/>
              </a:defRPr>
            </a:lvl1pPr>
          </a:lstStyle>
          <a:p>
            <a:fld id="{DF28FB93-0A08-4E7D-8E63-9EFA29F1E093}" type="slidenum">
              <a:rPr/>
              <a:pPr/>
              <a:t>‹#›</a:t>
            </a:fld>
            <a:endParaRPr/>
          </a:p>
        </p:txBody>
      </p:sp>
      <p:sp>
        <p:nvSpPr>
          <p:cNvPr id="3" name="Subtitle 2"/>
          <p:cNvSpPr>
            <a:spLocks noGrp="1"/>
          </p:cNvSpPr>
          <p:nvPr>
            <p:ph type="subTitle" idx="1"/>
          </p:nvPr>
        </p:nvSpPr>
        <p:spPr>
          <a:xfrm>
            <a:off x="1905000" y="5867400"/>
            <a:ext cx="6570722" cy="457200"/>
          </a:xfrm>
        </p:spPr>
        <p:txBody>
          <a:bodyPr>
            <a:normAutofit/>
            <a:scene3d>
              <a:camera prst="orthographicFront"/>
              <a:lightRig rig="soft" dir="t">
                <a:rot lat="0" lon="0" rev="10800000"/>
              </a:lightRig>
            </a:scene3d>
            <a:sp3d>
              <a:contourClr>
                <a:srgbClr val="DDDDDD"/>
              </a:contourClr>
            </a:sp3d>
          </a:bodyPr>
          <a:lstStyle>
            <a:lvl1pPr marL="0" indent="0" algn="l">
              <a:spcBef>
                <a:spcPts val="0"/>
              </a:spcBef>
              <a:buNone/>
              <a:defRPr sz="2000">
                <a:solidFill>
                  <a:schemeClr val="tx1">
                    <a:alpha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2" name="Title 1"/>
          <p:cNvSpPr>
            <a:spLocks noGrp="1"/>
          </p:cNvSpPr>
          <p:nvPr>
            <p:ph type="ctrTitle"/>
          </p:nvPr>
        </p:nvSpPr>
        <p:spPr>
          <a:xfrm>
            <a:off x="1905000" y="4648200"/>
            <a:ext cx="6553200" cy="1219200"/>
          </a:xfrm>
        </p:spPr>
        <p:txBody>
          <a:bodyPr anchor="b" anchorCtr="0">
            <a:noAutofit/>
          </a:bodyPr>
          <a:lstStyle>
            <a:lvl1pPr algn="l">
              <a:defRPr sz="3600"/>
            </a:lvl1pPr>
          </a:lstStyle>
          <a:p>
            <a:r>
              <a:rPr lang="en-US" smtClean="0"/>
              <a:t>Click to edit Master 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8E36636D-D922-432D-A958-524484B5923D}" type="datetimeFigureOut">
              <a:rPr/>
              <a:pPr/>
              <a:t>3/28/2008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10"/>
          <p:cNvGrpSpPr/>
          <p:nvPr/>
        </p:nvGrpSpPr>
        <p:grpSpPr>
          <a:xfrm>
            <a:off x="0" y="0"/>
            <a:ext cx="9144000" cy="6858000"/>
            <a:chOff x="0" y="0"/>
            <a:chExt cx="9144000" cy="6858000"/>
          </a:xfrm>
        </p:grpSpPr>
        <p:sp>
          <p:nvSpPr>
            <p:cNvPr id="7" name="Rectangle 6"/>
            <p:cNvSpPr/>
            <p:nvPr/>
          </p:nvSpPr>
          <p:spPr>
            <a:xfrm>
              <a:off x="0" y="0"/>
              <a:ext cx="18288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2514600"/>
              <a:ext cx="1828800" cy="18288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28800" y="2514600"/>
              <a:ext cx="7315200" cy="1828800"/>
            </a:xfrm>
            <a:prstGeom prst="rect">
              <a:avLst/>
            </a:prstGeom>
            <a:solidFill>
              <a:schemeClr val="accent1"/>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grpSp>
      <p:sp>
        <p:nvSpPr>
          <p:cNvPr id="2" name="Title 1"/>
          <p:cNvSpPr>
            <a:spLocks noGrp="1"/>
          </p:cNvSpPr>
          <p:nvPr>
            <p:ph type="title"/>
          </p:nvPr>
        </p:nvSpPr>
        <p:spPr>
          <a:xfrm>
            <a:off x="1905000" y="2667000"/>
            <a:ext cx="6629400" cy="1143000"/>
          </a:xfrm>
        </p:spPr>
        <p:txBody>
          <a:bodyPr vert="horz" lIns="91440" tIns="45720" rIns="91440" bIns="45720" rtlCol="0" anchor="b" anchorCtr="0">
            <a:noAutofit/>
          </a:bodyPr>
          <a:lstStyle>
            <a:lvl1pPr algn="l" defTabSz="914400" rtl="0" eaLnBrk="1" latinLnBrk="0" hangingPunct="1">
              <a:spcBef>
                <a:spcPct val="0"/>
              </a:spcBef>
              <a:buNone/>
              <a:defRPr sz="3600" kern="1200" cap="small" spc="200" baseline="0">
                <a:solidFill>
                  <a:schemeClr val="tx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152400" y="4495800"/>
            <a:ext cx="1524000" cy="2057400"/>
          </a:xfrm>
        </p:spPr>
        <p:txBody>
          <a:bodyPr vert="horz" lIns="91440" tIns="45720" rIns="91440" bIns="45720" rtlCol="0">
            <a:normAutofit/>
          </a:bodyPr>
          <a:lstStyle>
            <a:lvl1pPr marL="0" indent="0">
              <a:lnSpc>
                <a:spcPct val="200000"/>
              </a:lnSpc>
              <a:buNone/>
              <a:defRPr sz="1600" b="1" kern="1200">
                <a:solidFill>
                  <a:srgbClr val="000000">
                    <a:alpha val="50196"/>
                  </a:srgb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150000"/>
              </a:lnSpc>
              <a:spcBef>
                <a:spcPts val="1800"/>
              </a:spcBef>
              <a:buClr>
                <a:schemeClr val="accent1"/>
              </a:buClr>
              <a:buSzPct val="80000"/>
              <a:buFont typeface="Wingdings" pitchFamily="2" charset="2"/>
              <a:buNone/>
            </a:pPr>
            <a:r>
              <a:rPr lang="en-US" smtClean="0"/>
              <a:t>Click to edit Master text styles</a:t>
            </a:r>
          </a:p>
        </p:txBody>
      </p:sp>
      <p:sp>
        <p:nvSpPr>
          <p:cNvPr id="4" name="Date Placeholder 3"/>
          <p:cNvSpPr>
            <a:spLocks noGrp="1"/>
          </p:cNvSpPr>
          <p:nvPr>
            <p:ph type="dt" sz="half" idx="10"/>
          </p:nvPr>
        </p:nvSpPr>
        <p:spPr>
          <a:xfrm>
            <a:off x="6931152" y="6556248"/>
            <a:ext cx="1673352" cy="228600"/>
          </a:xfrm>
        </p:spPr>
        <p:txBody>
          <a:bodyPr/>
          <a:lstStyle/>
          <a:p>
            <a:fld id="{8E36636D-D922-432D-A958-524484B5923D}" type="datetimeFigureOut">
              <a:rPr/>
              <a:pPr/>
              <a:t>3/28/2008</a:t>
            </a:fld>
            <a:endParaRPr/>
          </a:p>
        </p:txBody>
      </p:sp>
      <p:sp>
        <p:nvSpPr>
          <p:cNvPr id="5" name="Footer Placeholder 4"/>
          <p:cNvSpPr>
            <a:spLocks noGrp="1"/>
          </p:cNvSpPr>
          <p:nvPr>
            <p:ph type="ftr" sz="quarter" idx="11"/>
          </p:nvPr>
        </p:nvSpPr>
        <p:spPr>
          <a:xfrm>
            <a:off x="1892808" y="6556248"/>
            <a:ext cx="1673352" cy="228600"/>
          </a:xfrm>
        </p:spPr>
        <p:txBody>
          <a:bodyPr/>
          <a:lstStyle/>
          <a:p>
            <a:endParaRPr/>
          </a:p>
        </p:txBody>
      </p:sp>
      <p:sp>
        <p:nvSpPr>
          <p:cNvPr id="6" name="Slide Number Placeholder 5"/>
          <p:cNvSpPr>
            <a:spLocks noGrp="1"/>
          </p:cNvSpPr>
          <p:nvPr>
            <p:ph type="sldNum" sz="quarter" idx="12"/>
          </p:nvPr>
        </p:nvSpPr>
        <p:spPr>
          <a:xfrm>
            <a:off x="4867656" y="6556248"/>
            <a:ext cx="762000" cy="228600"/>
          </a:xfrm>
          <a:noFill/>
          <a:ln>
            <a:noFill/>
          </a:ln>
          <a:effectLst/>
        </p:spPr>
        <p:txBody>
          <a:bodyPr vert="horz" lIns="91440" tIns="45720" rIns="91440" bIns="45720" rtlCol="0" anchor="ctr"/>
          <a:lstStyle>
            <a:lvl1pPr marL="0" algn="ctr" defTabSz="914400" rtl="0" eaLnBrk="1" latinLnBrk="0" hangingPunct="1">
              <a:defRPr sz="900" kern="1200" cap="small" baseline="0">
                <a:solidFill>
                  <a:sysClr val="windowText" lastClr="000000"/>
                </a:solidFill>
                <a:latin typeface="+mj-lt"/>
                <a:ea typeface="+mn-ea"/>
                <a:cs typeface="+mn-cs"/>
              </a:defRPr>
            </a:lvl1pPr>
          </a:lstStyle>
          <a:p>
            <a:fld id="{DF28FB93-0A08-4E7D-8E63-9EFA29F1E093}"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438400" y="228600"/>
            <a:ext cx="6248400"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2438400" y="2298700"/>
            <a:ext cx="2971800" cy="3827463"/>
          </a:xfrm>
        </p:spPr>
        <p:txBody>
          <a:bodyPr>
            <a:normAutofit/>
          </a:bodyPr>
          <a:lstStyle>
            <a:lvl1pPr marL="228600" indent="-228600">
              <a:defRPr sz="1800"/>
            </a:lvl1pPr>
            <a:lvl2pPr marL="457200" indent="-228600">
              <a:defRPr sz="1800"/>
            </a:lvl2pPr>
            <a:lvl3pPr marL="685800" indent="-228600">
              <a:defRPr sz="1800"/>
            </a:lvl3pPr>
            <a:lvl4pPr marL="914400" indent="-228600">
              <a:defRPr sz="1800"/>
            </a:lvl4pPr>
            <a:lvl5pPr marL="1143000" indent="-228600">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5715000" y="2298700"/>
            <a:ext cx="2971800" cy="3827463"/>
          </a:xfrm>
        </p:spPr>
        <p:txBody>
          <a:bodyPr>
            <a:normAutofit/>
          </a:bodyPr>
          <a:lstStyle>
            <a:lvl1pPr marL="228600" indent="-228600">
              <a:defRPr sz="1800"/>
            </a:lvl1pPr>
            <a:lvl2pPr marL="457200" indent="-228600">
              <a:defRPr sz="1800"/>
            </a:lvl2pPr>
            <a:lvl3pPr marL="685800" indent="-228600">
              <a:defRPr sz="1800"/>
            </a:lvl3pPr>
            <a:lvl4pPr marL="914400" indent="-228600">
              <a:defRPr sz="1800"/>
            </a:lvl4pPr>
            <a:lvl5pPr marL="1143000" indent="-228600">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8E36636D-D922-432D-A958-524484B5923D}" type="datetimeFigureOut">
              <a:rPr/>
              <a:pPr/>
              <a:t>3/28/2008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38400" y="228600"/>
            <a:ext cx="6248400"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2438400" y="2291697"/>
            <a:ext cx="2971800" cy="639762"/>
          </a:xfrm>
        </p:spPr>
        <p:txBody>
          <a:bodyPr vert="horz" lIns="91440" tIns="45720" rIns="91440" bIns="45720" rtlCol="0" anchor="ctr" anchorCtr="0">
            <a:noAutofit/>
          </a:bodyPr>
          <a:lstStyle>
            <a:lvl1pPr marL="0" indent="0">
              <a:buNone/>
              <a:defRPr sz="2200" b="0" kern="120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ts val="1800"/>
              </a:spcBef>
              <a:buClr>
                <a:schemeClr val="accent1"/>
              </a:buClr>
              <a:buSzPct val="80000"/>
              <a:buFont typeface="Wingdings" pitchFamily="2" charset="2"/>
              <a:buNone/>
            </a:pPr>
            <a:r>
              <a:rPr lang="en-US" smtClean="0"/>
              <a:t>Click to edit Master text styles</a:t>
            </a:r>
          </a:p>
        </p:txBody>
      </p:sp>
      <p:sp>
        <p:nvSpPr>
          <p:cNvPr id="4" name="Content Placeholder 3"/>
          <p:cNvSpPr>
            <a:spLocks noGrp="1"/>
          </p:cNvSpPr>
          <p:nvPr>
            <p:ph sz="half" idx="2"/>
          </p:nvPr>
        </p:nvSpPr>
        <p:spPr>
          <a:xfrm>
            <a:off x="2447925" y="3137647"/>
            <a:ext cx="2971800" cy="2999232"/>
          </a:xfrm>
        </p:spPr>
        <p:txBody>
          <a:bodyPr vert="horz" lIns="91440" tIns="45720" rIns="91440" bIns="45720" rtlCol="0">
            <a:normAutofit/>
          </a:bodyPr>
          <a:lstStyle>
            <a:lvl1pPr marL="228600" indent="-228600" algn="l" defTabSz="914400" rtl="0" eaLnBrk="1" latinLnBrk="0" hangingPunct="1">
              <a:buSzPct val="80000"/>
              <a:buFont typeface="Wingdings" pitchFamily="2" charset="2"/>
              <a:defRPr sz="1800" kern="1200">
                <a:solidFill>
                  <a:schemeClr val="tx1"/>
                </a:solidFill>
                <a:latin typeface="+mn-lt"/>
                <a:ea typeface="+mn-ea"/>
                <a:cs typeface="+mn-cs"/>
              </a:defRPr>
            </a:lvl1pPr>
            <a:lvl2pPr marL="457200" indent="-228600" algn="l" defTabSz="914400" rtl="0" eaLnBrk="1" latinLnBrk="0" hangingPunct="1">
              <a:buSzPct val="80000"/>
              <a:buFont typeface="Wingdings" pitchFamily="2" charset="2"/>
              <a:tabLst/>
              <a:defRPr sz="1800" kern="1200">
                <a:solidFill>
                  <a:schemeClr val="tx1"/>
                </a:solidFill>
                <a:latin typeface="+mn-lt"/>
                <a:ea typeface="+mn-ea"/>
                <a:cs typeface="+mn-cs"/>
              </a:defRPr>
            </a:lvl2pPr>
            <a:lvl3pPr marL="685800" indent="-228600" algn="l" defTabSz="914400" rtl="0" eaLnBrk="1" latinLnBrk="0" hangingPunct="1">
              <a:buSzPct val="80000"/>
              <a:buFont typeface="Wingdings" pitchFamily="2" charset="2"/>
              <a:tabLst/>
              <a:defRPr sz="1800" kern="1200">
                <a:solidFill>
                  <a:schemeClr val="tx1"/>
                </a:solidFill>
                <a:latin typeface="+mn-lt"/>
                <a:ea typeface="+mn-ea"/>
                <a:cs typeface="+mn-cs"/>
              </a:defRPr>
            </a:lvl3pPr>
            <a:lvl4pPr marL="914400" indent="-228600" algn="l" defTabSz="914400" rtl="0" eaLnBrk="1" latinLnBrk="0" hangingPunct="1">
              <a:buSzPct val="80000"/>
              <a:buFont typeface="Wingdings" pitchFamily="2" charset="2"/>
              <a:tabLst/>
              <a:defRPr sz="1800" kern="1200">
                <a:solidFill>
                  <a:schemeClr val="tx1"/>
                </a:solidFill>
                <a:latin typeface="+mn-lt"/>
                <a:ea typeface="+mn-ea"/>
                <a:cs typeface="+mn-cs"/>
              </a:defRPr>
            </a:lvl4pPr>
            <a:lvl5pPr marL="1143000" indent="-228600" algn="l" defTabSz="914400" rtl="0" eaLnBrk="1" latinLnBrk="0" hangingPunct="1">
              <a:buSzPct val="80000"/>
              <a:buFont typeface="Wingdings" pitchFamily="2" charset="2"/>
              <a:tabLst/>
              <a:defRPr sz="1800" kern="120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5715000" y="2291697"/>
            <a:ext cx="2971800" cy="639762"/>
          </a:xfrm>
        </p:spPr>
        <p:txBody>
          <a:bodyPr anchor="ctr" anchorCtr="0">
            <a:noAutofit/>
          </a:bodyPr>
          <a:lstStyle>
            <a:lvl1pPr marL="0" indent="0">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715000" y="3137647"/>
            <a:ext cx="2971800" cy="3001962"/>
          </a:xfrm>
        </p:spPr>
        <p:txBody>
          <a:bodyPr vert="horz" lIns="91440" tIns="45720" rIns="91440" bIns="45720" rtlCol="0">
            <a:normAutofit/>
          </a:bodyPr>
          <a:lstStyle>
            <a:lvl1pPr marL="228600" indent="-228600" algn="l" defTabSz="914400" rtl="0" eaLnBrk="1" latinLnBrk="0" hangingPunct="1">
              <a:buSzPct val="80000"/>
              <a:buFont typeface="Wingdings" pitchFamily="2" charset="2"/>
              <a:defRPr sz="1800" kern="1200">
                <a:solidFill>
                  <a:schemeClr val="tx1"/>
                </a:solidFill>
                <a:latin typeface="+mn-lt"/>
                <a:ea typeface="+mn-ea"/>
                <a:cs typeface="+mn-cs"/>
              </a:defRPr>
            </a:lvl1pPr>
            <a:lvl2pPr marL="457200" indent="-228600" algn="l" defTabSz="914400" rtl="0" eaLnBrk="1" latinLnBrk="0" hangingPunct="1">
              <a:buSzPct val="80000"/>
              <a:buFont typeface="Wingdings" pitchFamily="2" charset="2"/>
              <a:defRPr sz="1800" kern="1200">
                <a:solidFill>
                  <a:schemeClr val="tx1"/>
                </a:solidFill>
                <a:latin typeface="+mn-lt"/>
                <a:ea typeface="+mn-ea"/>
                <a:cs typeface="+mn-cs"/>
              </a:defRPr>
            </a:lvl2pPr>
            <a:lvl3pPr marL="685800" indent="-228600" algn="l" defTabSz="914400" rtl="0" eaLnBrk="1" latinLnBrk="0" hangingPunct="1">
              <a:buSzPct val="80000"/>
              <a:buFont typeface="Wingdings" pitchFamily="2" charset="2"/>
              <a:defRPr sz="1800" kern="1200">
                <a:solidFill>
                  <a:schemeClr val="tx1"/>
                </a:solidFill>
                <a:latin typeface="+mn-lt"/>
                <a:ea typeface="+mn-ea"/>
                <a:cs typeface="+mn-cs"/>
              </a:defRPr>
            </a:lvl3pPr>
            <a:lvl4pPr marL="914400" indent="-228600" algn="l" defTabSz="914400" rtl="0" eaLnBrk="1" latinLnBrk="0" hangingPunct="1">
              <a:buSzPct val="80000"/>
              <a:buFont typeface="Wingdings" pitchFamily="2" charset="2"/>
              <a:defRPr sz="1800" kern="1200">
                <a:solidFill>
                  <a:schemeClr val="tx1"/>
                </a:solidFill>
                <a:latin typeface="+mn-lt"/>
                <a:ea typeface="+mn-ea"/>
                <a:cs typeface="+mn-cs"/>
              </a:defRPr>
            </a:lvl4pPr>
            <a:lvl5pPr marL="1143000" indent="-228600" algn="l" defTabSz="914400" rtl="0" eaLnBrk="1" latinLnBrk="0" hangingPunct="1">
              <a:buSzPct val="80000"/>
              <a:buFont typeface="Wingdings" pitchFamily="2" charset="2"/>
              <a:defRPr sz="1800" kern="120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8E36636D-D922-432D-A958-524484B5923D}" type="datetimeFigureOut">
              <a:rPr/>
              <a:pPr/>
              <a:t>3/28/2008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pSp>
        <p:nvGrpSpPr>
          <p:cNvPr id="6" name="Group 10"/>
          <p:cNvGrpSpPr/>
          <p:nvPr/>
        </p:nvGrpSpPr>
        <p:grpSpPr>
          <a:xfrm>
            <a:off x="0" y="0"/>
            <a:ext cx="9144000" cy="1676400"/>
            <a:chOff x="0" y="0"/>
            <a:chExt cx="9144000" cy="1676400"/>
          </a:xfrm>
        </p:grpSpPr>
        <p:sp>
          <p:nvSpPr>
            <p:cNvPr id="7" name="Rectangle 6"/>
            <p:cNvSpPr/>
            <p:nvPr/>
          </p:nvSpPr>
          <p:spPr>
            <a:xfrm>
              <a:off x="0" y="0"/>
              <a:ext cx="9144000" cy="1676400"/>
            </a:xfrm>
            <a:prstGeom prst="rect">
              <a:avLst/>
            </a:prstGeom>
            <a:solidFill>
              <a:schemeClr val="accent1"/>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9" name="Rectangle 8"/>
            <p:cNvSpPr/>
            <p:nvPr/>
          </p:nvSpPr>
          <p:spPr>
            <a:xfrm>
              <a:off x="0" y="0"/>
              <a:ext cx="1828800" cy="1676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8E36636D-D922-432D-A958-524484B5923D}" type="datetimeFigureOut">
              <a:rPr/>
              <a:pPr/>
              <a:t>3/28/2008</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9"/>
          <p:cNvGrpSpPr/>
          <p:nvPr/>
        </p:nvGrpSpPr>
        <p:grpSpPr>
          <a:xfrm>
            <a:off x="0" y="0"/>
            <a:ext cx="1828800" cy="1676400"/>
            <a:chOff x="457200" y="457200"/>
            <a:chExt cx="1828800" cy="1676400"/>
          </a:xfrm>
        </p:grpSpPr>
        <p:sp>
          <p:nvSpPr>
            <p:cNvPr id="8" name="Rectangle 7"/>
            <p:cNvSpPr/>
            <p:nvPr/>
          </p:nvSpPr>
          <p:spPr>
            <a:xfrm>
              <a:off x="457200" y="457200"/>
              <a:ext cx="1828800" cy="1676400"/>
            </a:xfrm>
            <a:prstGeom prst="rect">
              <a:avLst/>
            </a:prstGeom>
            <a:solidFill>
              <a:schemeClr val="accent2"/>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p:cNvSpPr/>
            <p:nvPr/>
          </p:nvSpPr>
          <p:spPr>
            <a:xfrm>
              <a:off x="952500" y="876300"/>
              <a:ext cx="838200" cy="8382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Date Placeholder 1"/>
          <p:cNvSpPr>
            <a:spLocks noGrp="1"/>
          </p:cNvSpPr>
          <p:nvPr>
            <p:ph type="dt" sz="half" idx="10"/>
          </p:nvPr>
        </p:nvSpPr>
        <p:spPr/>
        <p:txBody>
          <a:bodyPr/>
          <a:lstStyle/>
          <a:p>
            <a:fld id="{8E36636D-D922-432D-A958-524484B5923D}" type="datetimeFigureOut">
              <a:rPr/>
              <a:pPr/>
              <a:t>3/28/2008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41448" y="228600"/>
            <a:ext cx="6245352" cy="1143000"/>
          </a:xfrm>
        </p:spPr>
        <p:txBody>
          <a:bodyPr vert="horz" lIns="91440" tIns="45720" rIns="91440" bIns="45720" rtlCol="0" anchor="ctr">
            <a:normAutofit/>
          </a:bodyPr>
          <a:lstStyle>
            <a:lvl1pPr algn="r" defTabSz="914400" rtl="0" eaLnBrk="1" latinLnBrk="0" hangingPunct="1">
              <a:spcBef>
                <a:spcPct val="0"/>
              </a:spcBef>
              <a:buNone/>
              <a:defRPr sz="4400" kern="1200" cap="small" spc="200" baseline="0">
                <a:solidFill>
                  <a:schemeClr val="tx1"/>
                </a:solidFill>
                <a:latin typeface="+mj-lt"/>
                <a:ea typeface="+mj-ea"/>
                <a:cs typeface="+mj-cs"/>
              </a:defRPr>
            </a:lvl1pPr>
          </a:lstStyle>
          <a:p>
            <a:r>
              <a:rPr lang="en-US" smtClean="0"/>
              <a:t>Click to edit Master title style</a:t>
            </a:r>
            <a:endParaRPr/>
          </a:p>
        </p:txBody>
      </p:sp>
      <p:sp>
        <p:nvSpPr>
          <p:cNvPr id="3" name="Content Placeholder 2"/>
          <p:cNvSpPr>
            <a:spLocks noGrp="1"/>
          </p:cNvSpPr>
          <p:nvPr>
            <p:ph idx="1"/>
          </p:nvPr>
        </p:nvSpPr>
        <p:spPr>
          <a:xfrm>
            <a:off x="2706624" y="2446991"/>
            <a:ext cx="5715000" cy="3531198"/>
          </a:xfrm>
        </p:spPr>
        <p:txBody>
          <a:bodyPr>
            <a:normAutofit/>
          </a:bodyPr>
          <a:lstStyle>
            <a:lvl1pPr>
              <a:defRPr sz="22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164592" y="3031490"/>
            <a:ext cx="1524000" cy="2362200"/>
          </a:xfrm>
        </p:spPr>
        <p:txBody>
          <a:bodyPr/>
          <a:lstStyle>
            <a:lvl1pPr marL="0" indent="0">
              <a:lnSpc>
                <a:spcPct val="150000"/>
              </a:lnSpc>
              <a:buNone/>
              <a:defRPr sz="1400" b="1">
                <a:solidFill>
                  <a:srgbClr val="000000">
                    <a:alpha val="50196"/>
                  </a:srgb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a:pPr/>
              <a:t>3/28/2008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41448" y="228600"/>
            <a:ext cx="6245352" cy="1143000"/>
          </a:xfrm>
        </p:spPr>
        <p:txBody>
          <a:bodyPr vert="horz" lIns="91440" tIns="45720" rIns="91440" bIns="45720" rtlCol="0" anchor="ctr">
            <a:normAutofit/>
          </a:bodyPr>
          <a:lstStyle>
            <a:lvl1pPr algn="r" defTabSz="914400" rtl="0" eaLnBrk="1" latinLnBrk="0" hangingPunct="1">
              <a:spcBef>
                <a:spcPct val="0"/>
              </a:spcBef>
              <a:buNone/>
              <a:defRPr sz="4400" kern="1200" cap="small" spc="200" baseline="0">
                <a:solidFill>
                  <a:schemeClr val="tx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2706624" y="2450592"/>
            <a:ext cx="5715000" cy="3529584"/>
          </a:xfrm>
          <a:noFill/>
          <a:ln w="101600" cmpd="sng">
            <a:miter lim="800000"/>
          </a:ln>
          <a:effectLst>
            <a:outerShdw blurRad="63500" sx="102000" sy="102000" algn="ctr" rotWithShape="0">
              <a:prstClr val="black">
                <a:alpha val="30000"/>
              </a:prstClr>
            </a:outerShdw>
          </a:effectLst>
        </p:spPr>
        <p:style>
          <a:lnRef idx="3">
            <a:schemeClr val="lt1"/>
          </a:lnRef>
          <a:fillRef idx="1">
            <a:schemeClr val="accent2"/>
          </a:fillRef>
          <a:effectRef idx="1">
            <a:schemeClr val="accent2"/>
          </a:effectRef>
          <a:fontRef idx="none"/>
        </p:style>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164592" y="3031489"/>
            <a:ext cx="1527048" cy="2359152"/>
          </a:xfrm>
        </p:spPr>
        <p:txBody>
          <a:bodyPr vert="horz" lIns="91440" tIns="45720" rIns="91440" bIns="45720" rtlCol="0">
            <a:normAutofit/>
          </a:bodyPr>
          <a:lstStyle>
            <a:lvl1pPr marL="0" indent="0">
              <a:lnSpc>
                <a:spcPct val="150000"/>
              </a:lnSpc>
              <a:buNone/>
              <a:defRPr sz="1400" b="1" kern="1200">
                <a:solidFill>
                  <a:srgbClr val="000000">
                    <a:alpha val="50196"/>
                  </a:srgb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lnSpc>
                <a:spcPct val="150000"/>
              </a:lnSpc>
              <a:spcBef>
                <a:spcPts val="1800"/>
              </a:spcBef>
              <a:buClr>
                <a:schemeClr val="accent1"/>
              </a:buClr>
              <a:buSzPct val="80000"/>
              <a:buFont typeface="Wingdings" pitchFamily="2" charset="2"/>
              <a:buNone/>
            </a:pPr>
            <a:r>
              <a:rPr lang="en-US" smtClean="0"/>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a:pPr/>
              <a:t>3/28/2008</a:t>
            </a:fld>
            <a:endParaRPr/>
          </a:p>
        </p:txBody>
      </p:sp>
      <p:sp>
        <p:nvSpPr>
          <p:cNvPr id="6" name="Footer Placeholder 5"/>
          <p:cNvSpPr>
            <a:spLocks noGrp="1"/>
          </p:cNvSpPr>
          <p:nvPr>
            <p:ph type="ftr" sz="quarter" idx="1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8E36636D-D922-432D-A958-524484B5923D}" type="datetimeFigureOut">
              <a:rPr/>
              <a:pPr/>
              <a:t>3/28/2008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9144000" cy="6858000"/>
            <a:chOff x="-442912" y="457200"/>
            <a:chExt cx="9144000" cy="6858000"/>
          </a:xfrm>
        </p:grpSpPr>
        <p:sp>
          <p:nvSpPr>
            <p:cNvPr id="18" name="Rectangle 17"/>
            <p:cNvSpPr/>
            <p:nvPr/>
          </p:nvSpPr>
          <p:spPr>
            <a:xfrm>
              <a:off x="-442912" y="457200"/>
              <a:ext cx="9129712" cy="1676400"/>
            </a:xfrm>
            <a:prstGeom prst="rect">
              <a:avLst/>
            </a:prstGeom>
            <a:solidFill>
              <a:schemeClr val="accent3"/>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6872288" y="457200"/>
              <a:ext cx="1828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6872288" y="457200"/>
              <a:ext cx="1828800" cy="1676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Vertical Title 1"/>
          <p:cNvSpPr>
            <a:spLocks noGrp="1"/>
          </p:cNvSpPr>
          <p:nvPr>
            <p:ph type="title" orient="vert"/>
          </p:nvPr>
        </p:nvSpPr>
        <p:spPr>
          <a:xfrm>
            <a:off x="7467600" y="2298700"/>
            <a:ext cx="1447800" cy="3827463"/>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533400" y="2286000"/>
            <a:ext cx="5943600" cy="3840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8E36636D-D922-432D-A958-524484B5923D}" type="datetimeFigureOut">
              <a:rPr/>
              <a:pPr/>
              <a:t>3/28/2008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a:xfrm>
            <a:off x="7848600" y="533400"/>
            <a:ext cx="762000" cy="609600"/>
          </a:xfrm>
        </p:spPr>
        <p:txBody>
          <a:bodyPr/>
          <a:lstStyle/>
          <a:p>
            <a:fld id="{DF28FB93-0A08-4E7D-8E63-9EFA29F1E093}"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 name="Group 11"/>
          <p:cNvGrpSpPr/>
          <p:nvPr userDrawn="1"/>
        </p:nvGrpSpPr>
        <p:grpSpPr>
          <a:xfrm>
            <a:off x="0" y="0"/>
            <a:ext cx="9144000" cy="6858000"/>
            <a:chOff x="0" y="0"/>
            <a:chExt cx="9144000" cy="6858000"/>
          </a:xfrm>
        </p:grpSpPr>
        <p:sp>
          <p:nvSpPr>
            <p:cNvPr id="7" name="Rectangle 6"/>
            <p:cNvSpPr/>
            <p:nvPr/>
          </p:nvSpPr>
          <p:spPr>
            <a:xfrm>
              <a:off x="457200" y="0"/>
              <a:ext cx="8686800" cy="1676400"/>
            </a:xfrm>
            <a:prstGeom prst="rect">
              <a:avLst/>
            </a:prstGeom>
            <a:solidFill>
              <a:schemeClr val="accent1"/>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8288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0" y="0"/>
              <a:ext cx="1828800" cy="1676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 name="Text Placeholder 2"/>
          <p:cNvSpPr>
            <a:spLocks noGrp="1"/>
          </p:cNvSpPr>
          <p:nvPr>
            <p:ph type="body" idx="1"/>
          </p:nvPr>
        </p:nvSpPr>
        <p:spPr>
          <a:xfrm>
            <a:off x="2438400" y="2286000"/>
            <a:ext cx="6248400" cy="38401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2" name="Title Placeholder 1"/>
          <p:cNvSpPr>
            <a:spLocks noGrp="1"/>
          </p:cNvSpPr>
          <p:nvPr>
            <p:ph type="title"/>
          </p:nvPr>
        </p:nvSpPr>
        <p:spPr>
          <a:xfrm>
            <a:off x="2438400" y="228600"/>
            <a:ext cx="62484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4" name="Date Placeholder 3"/>
          <p:cNvSpPr>
            <a:spLocks noGrp="1"/>
          </p:cNvSpPr>
          <p:nvPr>
            <p:ph type="dt" sz="half" idx="2"/>
          </p:nvPr>
        </p:nvSpPr>
        <p:spPr>
          <a:xfrm>
            <a:off x="6553200" y="6351494"/>
            <a:ext cx="2133600" cy="365125"/>
          </a:xfrm>
          <a:prstGeom prst="rect">
            <a:avLst/>
          </a:prstGeom>
        </p:spPr>
        <p:txBody>
          <a:bodyPr vert="horz" lIns="91440" tIns="45720" rIns="91440" bIns="45720" rtlCol="0" anchor="ctr"/>
          <a:lstStyle>
            <a:lvl1pPr algn="r">
              <a:defRPr sz="900" cap="small" baseline="0">
                <a:solidFill>
                  <a:schemeClr val="tx1"/>
                </a:solidFill>
                <a:latin typeface="+mj-lt"/>
              </a:defRPr>
            </a:lvl1pPr>
          </a:lstStyle>
          <a:p>
            <a:fld id="{8E36636D-D922-432D-A958-524484B5923D}" type="datetimeFigureOut">
              <a:rPr/>
              <a:pPr/>
              <a:t>3/28/2008</a:t>
            </a:fld>
            <a:endParaRPr/>
          </a:p>
        </p:txBody>
      </p:sp>
      <p:sp>
        <p:nvSpPr>
          <p:cNvPr id="5" name="Footer Placeholder 4"/>
          <p:cNvSpPr>
            <a:spLocks noGrp="1"/>
          </p:cNvSpPr>
          <p:nvPr>
            <p:ph type="ftr" sz="quarter" idx="3"/>
          </p:nvPr>
        </p:nvSpPr>
        <p:spPr>
          <a:xfrm>
            <a:off x="2438400" y="6356350"/>
            <a:ext cx="2895600" cy="365125"/>
          </a:xfrm>
          <a:prstGeom prst="rect">
            <a:avLst/>
          </a:prstGeom>
        </p:spPr>
        <p:txBody>
          <a:bodyPr vert="horz" lIns="91440" tIns="45720" rIns="91440" bIns="45720" rtlCol="0" anchor="ctr"/>
          <a:lstStyle>
            <a:lvl1pPr algn="l">
              <a:defRPr sz="900" cap="small" baseline="0">
                <a:solidFill>
                  <a:schemeClr val="tx1"/>
                </a:solidFill>
                <a:latin typeface="+mj-lt"/>
              </a:defRPr>
            </a:lvl1pPr>
          </a:lstStyle>
          <a:p>
            <a:endParaRPr/>
          </a:p>
        </p:txBody>
      </p:sp>
      <p:sp>
        <p:nvSpPr>
          <p:cNvPr id="6" name="Slide Number Placeholder 5"/>
          <p:cNvSpPr>
            <a:spLocks noGrp="1"/>
          </p:cNvSpPr>
          <p:nvPr>
            <p:ph type="sldNum" sz="quarter" idx="4"/>
          </p:nvPr>
        </p:nvSpPr>
        <p:spPr>
          <a:xfrm>
            <a:off x="533400" y="533400"/>
            <a:ext cx="762000" cy="609600"/>
          </a:xfrm>
          <a:prstGeom prst="rect">
            <a:avLst/>
          </a:prstGeom>
        </p:spPr>
        <p:txBody>
          <a:bodyPr vert="horz" lIns="91440" tIns="45720" rIns="91440" bIns="45720" rtlCol="0" anchor="ctr"/>
          <a:lstStyle>
            <a:lvl1pPr algn="ctr">
              <a:defRPr sz="1600" cap="small" baseline="0">
                <a:solidFill>
                  <a:schemeClr val="tx1"/>
                </a:solidFill>
                <a:latin typeface="+mj-lt"/>
              </a:defRPr>
            </a:lvl1pPr>
          </a:lstStyle>
          <a:p>
            <a:fld id="{DF28FB93-0A08-4E7D-8E63-9EFA29F1E093}" type="slidenum">
              <a:rPr/>
              <a:pPr/>
              <a:t>‹#›</a:t>
            </a:fld>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ctr" defTabSz="914400" rtl="0" eaLnBrk="1" latinLnBrk="0" hangingPunct="1">
        <a:spcBef>
          <a:spcPct val="0"/>
        </a:spcBef>
        <a:buNone/>
        <a:defRPr sz="4400" kern="1200" cap="small" spc="200" baseline="0">
          <a:solidFill>
            <a:schemeClr val="tx1"/>
          </a:solidFill>
          <a:latin typeface="+mj-lt"/>
          <a:ea typeface="+mj-ea"/>
          <a:cs typeface="+mj-cs"/>
        </a:defRPr>
      </a:lvl1pPr>
    </p:titleStyle>
    <p:bodyStyle>
      <a:lvl1pPr marL="457200" indent="-457200" algn="l" defTabSz="914400" rtl="0" eaLnBrk="1" latinLnBrk="0" hangingPunct="1">
        <a:spcBef>
          <a:spcPts val="1800"/>
        </a:spcBef>
        <a:buClr>
          <a:schemeClr val="accent1"/>
        </a:buClr>
        <a:buSzPct val="100000"/>
        <a:buFont typeface="Arial" pitchFamily="34" charset="0"/>
        <a:buChar char="•"/>
        <a:defRPr sz="3200" kern="1200">
          <a:solidFill>
            <a:schemeClr val="tx1"/>
          </a:solidFill>
          <a:latin typeface="+mn-lt"/>
          <a:ea typeface="+mn-ea"/>
          <a:cs typeface="+mn-cs"/>
        </a:defRPr>
      </a:lvl1pPr>
      <a:lvl2pPr marL="914400" indent="-457200" algn="l" defTabSz="914400" rtl="0" eaLnBrk="1" latinLnBrk="0" hangingPunct="1">
        <a:spcBef>
          <a:spcPts val="1800"/>
        </a:spcBef>
        <a:buClr>
          <a:schemeClr val="accent2"/>
        </a:buClr>
        <a:buSzPct val="100000"/>
        <a:buFont typeface="Courier New" pitchFamily="49" charset="0"/>
        <a:buChar char="o"/>
        <a:defRPr sz="2800" kern="1200">
          <a:solidFill>
            <a:schemeClr val="tx1"/>
          </a:solidFill>
          <a:latin typeface="+mn-lt"/>
          <a:ea typeface="+mn-ea"/>
          <a:cs typeface="+mn-cs"/>
        </a:defRPr>
      </a:lvl2pPr>
      <a:lvl3pPr marL="1371600" indent="-457200" algn="l" defTabSz="914400" rtl="0" eaLnBrk="1" latinLnBrk="0" hangingPunct="1">
        <a:spcBef>
          <a:spcPts val="1200"/>
        </a:spcBef>
        <a:buClr>
          <a:schemeClr val="accent3"/>
        </a:buClr>
        <a:buSzPct val="100000"/>
        <a:buFont typeface="Arial" pitchFamily="34" charset="0"/>
        <a:buChar char="•"/>
        <a:defRPr sz="2600" kern="1200">
          <a:solidFill>
            <a:schemeClr val="tx1"/>
          </a:solidFill>
          <a:latin typeface="+mn-lt"/>
          <a:ea typeface="+mn-ea"/>
          <a:cs typeface="+mn-cs"/>
        </a:defRPr>
      </a:lvl3pPr>
      <a:lvl4pPr marL="1828800" indent="-457200" algn="l" defTabSz="914400" rtl="0" eaLnBrk="1" latinLnBrk="0" hangingPunct="1">
        <a:spcBef>
          <a:spcPts val="1200"/>
        </a:spcBef>
        <a:buClr>
          <a:schemeClr val="accent4"/>
        </a:buClr>
        <a:buSzPct val="100000"/>
        <a:buFont typeface="Courier New" pitchFamily="49" charset="0"/>
        <a:buChar char="o"/>
        <a:defRPr sz="2200" kern="1200">
          <a:solidFill>
            <a:schemeClr val="tx1"/>
          </a:solidFill>
          <a:latin typeface="+mn-lt"/>
          <a:ea typeface="+mn-ea"/>
          <a:cs typeface="+mn-cs"/>
        </a:defRPr>
      </a:lvl4pPr>
      <a:lvl5pPr marL="2286000" indent="-457200" algn="l" defTabSz="914400" rtl="0" eaLnBrk="1" latinLnBrk="0" hangingPunct="1">
        <a:spcBef>
          <a:spcPts val="1200"/>
        </a:spcBef>
        <a:buClr>
          <a:schemeClr val="accent5"/>
        </a:buClr>
        <a:buSzPct val="100000"/>
        <a:buFont typeface="Arial" pitchFamily="34" charset="0"/>
        <a:buChar char="•"/>
        <a:defRPr sz="2000" kern="1200">
          <a:solidFill>
            <a:schemeClr val="tx1"/>
          </a:solidFill>
          <a:latin typeface="+mn-lt"/>
          <a:ea typeface="+mn-ea"/>
          <a:cs typeface="+mn-cs"/>
        </a:defRPr>
      </a:lvl5pPr>
      <a:lvl6pPr marL="2743200" indent="-457200" algn="l" defTabSz="914400" rtl="0" eaLnBrk="1" latinLnBrk="0" hangingPunct="1">
        <a:spcBef>
          <a:spcPts val="1200"/>
        </a:spcBef>
        <a:buClr>
          <a:schemeClr val="accent6"/>
        </a:buClr>
        <a:buSzPct val="90000"/>
        <a:buFont typeface="Wingdings" pitchFamily="2" charset="2"/>
        <a:buChar char=""/>
        <a:defRPr sz="1600" kern="1200">
          <a:solidFill>
            <a:schemeClr val="tx1"/>
          </a:solidFill>
          <a:latin typeface="+mn-lt"/>
          <a:ea typeface="+mn-ea"/>
          <a:cs typeface="+mn-cs"/>
        </a:defRPr>
      </a:lvl6pPr>
      <a:lvl7pPr marL="3200400" indent="-457200" algn="l" defTabSz="914400" rtl="0" eaLnBrk="1" latinLnBrk="0" hangingPunct="1">
        <a:spcBef>
          <a:spcPts val="1200"/>
        </a:spcBef>
        <a:buClr>
          <a:schemeClr val="accent1"/>
        </a:buClr>
        <a:buSzPct val="70000"/>
        <a:buFont typeface="Wingdings" pitchFamily="2" charset="2"/>
        <a:buChar char="¢"/>
        <a:defRPr sz="1600" kern="1200" baseline="0">
          <a:solidFill>
            <a:schemeClr val="tx1"/>
          </a:solidFill>
          <a:latin typeface="+mn-lt"/>
          <a:ea typeface="+mn-ea"/>
          <a:cs typeface="+mn-cs"/>
        </a:defRPr>
      </a:lvl7pPr>
      <a:lvl8pPr marL="3657600" indent="-457200" algn="l" defTabSz="914400" rtl="0" eaLnBrk="1" latinLnBrk="0" hangingPunct="1">
        <a:spcBef>
          <a:spcPts val="1200"/>
        </a:spcBef>
        <a:buClr>
          <a:schemeClr val="accent3"/>
        </a:buClr>
        <a:buFont typeface="Courier New" pitchFamily="49" charset="0"/>
        <a:buChar char="o"/>
        <a:defRPr sz="1600" kern="1200" baseline="0">
          <a:solidFill>
            <a:schemeClr val="tx1"/>
          </a:solidFill>
          <a:latin typeface="+mn-lt"/>
          <a:ea typeface="+mn-ea"/>
          <a:cs typeface="+mn-cs"/>
        </a:defRPr>
      </a:lvl8pPr>
      <a:lvl9pPr marL="4114800" indent="-457200" algn="l" defTabSz="914400" rtl="0" eaLnBrk="1" latinLnBrk="0" hangingPunct="1">
        <a:spcBef>
          <a:spcPts val="1200"/>
        </a:spcBef>
        <a:buClr>
          <a:schemeClr val="accent5"/>
        </a:buClr>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title"/>
          </p:nvPr>
        </p:nvSpPr>
        <p:spPr>
          <a:xfrm>
            <a:off x="1828800" y="228600"/>
            <a:ext cx="7315200" cy="1219200"/>
          </a:xfrm>
        </p:spPr>
        <p:txBody>
          <a:bodyPr>
            <a:normAutofit fontScale="90000"/>
          </a:bodyPr>
          <a:lstStyle/>
          <a:p>
            <a:pPr eaLnBrk="1" fontAlgn="auto" hangingPunct="1">
              <a:spcAft>
                <a:spcPts val="0"/>
              </a:spcAft>
              <a:defRPr/>
            </a:pPr>
            <a:r>
              <a:rPr lang="en-US" cap="all" dirty="0" smtClean="0"/>
              <a:t>Why broadband matters</a:t>
            </a:r>
            <a:endParaRPr lang="en-US" cap="all" dirty="0" smtClean="0"/>
          </a:p>
        </p:txBody>
      </p:sp>
      <p:pic>
        <p:nvPicPr>
          <p:cNvPr id="16387" name="Content Placeholder 3" descr="CCintro.gif"/>
          <p:cNvPicPr>
            <a:picLocks noGrp="1" noChangeAspect="1"/>
          </p:cNvPicPr>
          <p:nvPr>
            <p:ph idx="1"/>
          </p:nvPr>
        </p:nvPicPr>
        <p:blipFill>
          <a:blip r:embed="rId2" cstate="print"/>
          <a:srcRect/>
          <a:stretch>
            <a:fillRect/>
          </a:stretch>
        </p:blipFill>
        <p:spPr>
          <a:xfrm>
            <a:off x="2438400" y="2517775"/>
            <a:ext cx="6248400" cy="3376613"/>
          </a:xfr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828800" y="228600"/>
            <a:ext cx="7315200" cy="1295400"/>
          </a:xfrm>
        </p:spPr>
        <p:txBody>
          <a:bodyPr>
            <a:normAutofit fontScale="90000"/>
          </a:bodyPr>
          <a:lstStyle/>
          <a:p>
            <a:pPr eaLnBrk="1" hangingPunct="1"/>
            <a:r>
              <a:rPr lang="en-US" dirty="0" smtClean="0"/>
              <a:t>BROADBAND </a:t>
            </a:r>
            <a:br>
              <a:rPr lang="en-US" dirty="0" smtClean="0"/>
            </a:br>
            <a:r>
              <a:rPr lang="en-US" dirty="0" smtClean="0"/>
              <a:t>DIFFUSION AND ADOPTION</a:t>
            </a:r>
            <a:endParaRPr lang="en-US" dirty="0" smtClean="0"/>
          </a:p>
        </p:txBody>
      </p:sp>
      <p:sp>
        <p:nvSpPr>
          <p:cNvPr id="4099" name="Rectangle 3"/>
          <p:cNvSpPr>
            <a:spLocks noGrp="1" noChangeArrowheads="1"/>
          </p:cNvSpPr>
          <p:nvPr>
            <p:ph idx="1"/>
          </p:nvPr>
        </p:nvSpPr>
        <p:spPr>
          <a:xfrm>
            <a:off x="2133600" y="2057400"/>
            <a:ext cx="6781800" cy="4495800"/>
          </a:xfrm>
        </p:spPr>
        <p:txBody>
          <a:bodyPr>
            <a:normAutofit lnSpcReduction="10000"/>
          </a:bodyPr>
          <a:lstStyle/>
          <a:p>
            <a:pPr eaLnBrk="1" hangingPunct="1">
              <a:lnSpc>
                <a:spcPct val="195000"/>
              </a:lnSpc>
            </a:pPr>
            <a:r>
              <a:rPr lang="en-US" dirty="0" smtClean="0"/>
              <a:t>International</a:t>
            </a:r>
          </a:p>
          <a:p>
            <a:pPr eaLnBrk="1" hangingPunct="1">
              <a:lnSpc>
                <a:spcPct val="195000"/>
              </a:lnSpc>
            </a:pPr>
            <a:r>
              <a:rPr lang="en-US" dirty="0" smtClean="0"/>
              <a:t>National</a:t>
            </a:r>
          </a:p>
          <a:p>
            <a:pPr eaLnBrk="1" hangingPunct="1">
              <a:lnSpc>
                <a:spcPct val="195000"/>
              </a:lnSpc>
            </a:pPr>
            <a:r>
              <a:rPr lang="en-US" dirty="0" smtClean="0"/>
              <a:t>State</a:t>
            </a:r>
          </a:p>
          <a:p>
            <a:pPr eaLnBrk="1" hangingPunct="1">
              <a:lnSpc>
                <a:spcPct val="195000"/>
              </a:lnSpc>
            </a:pPr>
            <a:r>
              <a:rPr lang="en-US" dirty="0" smtClean="0"/>
              <a:t>Rural</a:t>
            </a:r>
          </a:p>
        </p:txBody>
      </p:sp>
      <p:pic>
        <p:nvPicPr>
          <p:cNvPr id="4100" name="Picture 4" descr="Z:\Andy Lewis\resources\stock photos\1211043_32740274.jpg"/>
          <p:cNvPicPr>
            <a:picLocks noChangeAspect="1" noChangeArrowheads="1"/>
          </p:cNvPicPr>
          <p:nvPr/>
        </p:nvPicPr>
        <p:blipFill>
          <a:blip r:embed="rId3" cstate="print"/>
          <a:srcRect/>
          <a:stretch>
            <a:fillRect/>
          </a:stretch>
        </p:blipFill>
        <p:spPr bwMode="auto">
          <a:xfrm>
            <a:off x="4953000" y="3276600"/>
            <a:ext cx="3838170" cy="2743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WE’RE NUMBER 14!</a:t>
            </a:r>
            <a:endParaRPr lang="en-US" dirty="0"/>
          </a:p>
        </p:txBody>
      </p:sp>
      <p:graphicFrame>
        <p:nvGraphicFramePr>
          <p:cNvPr id="7" name="Chart 6"/>
          <p:cNvGraphicFramePr>
            <a:graphicFrameLocks/>
          </p:cNvGraphicFramePr>
          <p:nvPr/>
        </p:nvGraphicFramePr>
        <p:xfrm>
          <a:off x="838200" y="1371600"/>
          <a:ext cx="8153400" cy="5257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00200" y="152400"/>
            <a:ext cx="7543800" cy="1371600"/>
          </a:xfrm>
        </p:spPr>
        <p:txBody>
          <a:bodyPr>
            <a:noAutofit/>
          </a:bodyPr>
          <a:lstStyle/>
          <a:p>
            <a:r>
              <a:rPr lang="en-US" sz="3800" dirty="0" smtClean="0"/>
              <a:t>4TH AMONG TOP 7 INDUSTRIALIZED COUNTRIES</a:t>
            </a:r>
            <a:endParaRPr lang="en-US" sz="3800" dirty="0" smtClean="0"/>
          </a:p>
        </p:txBody>
      </p:sp>
      <p:graphicFrame>
        <p:nvGraphicFramePr>
          <p:cNvPr id="4" name="Content Placeholder 3"/>
          <p:cNvGraphicFramePr>
            <a:graphicFrameLocks noGrp="1"/>
          </p:cNvGraphicFramePr>
          <p:nvPr>
            <p:ph idx="1"/>
          </p:nvPr>
        </p:nvGraphicFramePr>
        <p:xfrm>
          <a:off x="381000" y="2057400"/>
          <a:ext cx="8534400" cy="4419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981200" y="228600"/>
            <a:ext cx="7162800" cy="1219200"/>
          </a:xfrm>
        </p:spPr>
        <p:txBody>
          <a:bodyPr>
            <a:normAutofit fontScale="90000"/>
          </a:bodyPr>
          <a:lstStyle/>
          <a:p>
            <a:r>
              <a:rPr lang="en-US" dirty="0" smtClean="0"/>
              <a:t>IT’S ALL ABOUT BANDWIDTH</a:t>
            </a:r>
            <a:endParaRPr lang="en-US" dirty="0" smtClean="0"/>
          </a:p>
        </p:txBody>
      </p:sp>
      <p:graphicFrame>
        <p:nvGraphicFramePr>
          <p:cNvPr id="4" name="Content Placeholder 3"/>
          <p:cNvGraphicFramePr>
            <a:graphicFrameLocks noGrp="1"/>
          </p:cNvGraphicFramePr>
          <p:nvPr>
            <p:ph idx="1"/>
          </p:nvPr>
        </p:nvGraphicFramePr>
        <p:xfrm>
          <a:off x="457200" y="1981200"/>
          <a:ext cx="8458200" cy="4724400"/>
        </p:xfrm>
        <a:graphic>
          <a:graphicData uri="http://schemas.openxmlformats.org/drawingml/2006/chart">
            <c:chart xmlns:c="http://schemas.openxmlformats.org/drawingml/2006/chart" xmlns:r="http://schemas.openxmlformats.org/officeDocument/2006/relationships" r:id="rId3"/>
          </a:graphicData>
        </a:graphic>
      </p:graphicFrame>
      <p:sp>
        <p:nvSpPr>
          <p:cNvPr id="7172" name="Down Arrow 4"/>
          <p:cNvSpPr>
            <a:spLocks noChangeArrowheads="1"/>
          </p:cNvSpPr>
          <p:nvPr/>
        </p:nvSpPr>
        <p:spPr bwMode="auto">
          <a:xfrm>
            <a:off x="2438400" y="4191000"/>
            <a:ext cx="350838" cy="533400"/>
          </a:xfrm>
          <a:prstGeom prst="downArrow">
            <a:avLst>
              <a:gd name="adj1" fmla="val 50000"/>
              <a:gd name="adj2" fmla="val 49954"/>
            </a:avLst>
          </a:prstGeom>
          <a:solidFill>
            <a:schemeClr val="tx1"/>
          </a:solidFill>
          <a:ln w="9525" algn="ctr">
            <a:no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smtClean="0"/>
              <a:t>PRICE</a:t>
            </a:r>
            <a:endParaRPr lang="en-US" dirty="0" smtClean="0"/>
          </a:p>
        </p:txBody>
      </p:sp>
      <p:graphicFrame>
        <p:nvGraphicFramePr>
          <p:cNvPr id="4" name="Content Placeholder 3"/>
          <p:cNvGraphicFramePr>
            <a:graphicFrameLocks noGrp="1"/>
          </p:cNvGraphicFramePr>
          <p:nvPr>
            <p:ph idx="1"/>
          </p:nvPr>
        </p:nvGraphicFramePr>
        <p:xfrm>
          <a:off x="609600" y="1905000"/>
          <a:ext cx="8077200" cy="4724400"/>
        </p:xfrm>
        <a:graphic>
          <a:graphicData uri="http://schemas.openxmlformats.org/drawingml/2006/chart">
            <c:chart xmlns:c="http://schemas.openxmlformats.org/drawingml/2006/chart" xmlns:r="http://schemas.openxmlformats.org/officeDocument/2006/relationships" r:id="rId3"/>
          </a:graphicData>
        </a:graphic>
      </p:graphicFrame>
      <p:sp>
        <p:nvSpPr>
          <p:cNvPr id="8196" name="Left Arrow 5"/>
          <p:cNvSpPr>
            <a:spLocks noChangeArrowheads="1"/>
          </p:cNvSpPr>
          <p:nvPr/>
        </p:nvSpPr>
        <p:spPr bwMode="auto">
          <a:xfrm>
            <a:off x="4495800" y="4800600"/>
            <a:ext cx="609600" cy="228600"/>
          </a:xfrm>
          <a:prstGeom prst="leftArrow">
            <a:avLst>
              <a:gd name="adj1" fmla="val 50000"/>
              <a:gd name="adj2" fmla="val 50000"/>
            </a:avLst>
          </a:prstGeom>
          <a:solidFill>
            <a:schemeClr val="tx1"/>
          </a:solidFill>
          <a:ln w="9525" algn="ctr">
            <a:no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447800" y="609600"/>
            <a:ext cx="7696200" cy="639763"/>
          </a:xfrm>
        </p:spPr>
        <p:txBody>
          <a:bodyPr>
            <a:normAutofit fontScale="90000"/>
          </a:bodyPr>
          <a:lstStyle/>
          <a:p>
            <a:pPr eaLnBrk="1" hangingPunct="1"/>
            <a:r>
              <a:rPr lang="en-US" sz="4000" dirty="0" smtClean="0"/>
              <a:t>2009 E-READINESS RANKINGS</a:t>
            </a:r>
            <a:endParaRPr lang="en-US" sz="4000" dirty="0" smtClean="0"/>
          </a:p>
        </p:txBody>
      </p:sp>
      <p:sp>
        <p:nvSpPr>
          <p:cNvPr id="9219" name="Rectangle 3"/>
          <p:cNvSpPr>
            <a:spLocks noGrp="1" noChangeArrowheads="1"/>
          </p:cNvSpPr>
          <p:nvPr>
            <p:ph idx="1"/>
          </p:nvPr>
        </p:nvSpPr>
        <p:spPr>
          <a:xfrm>
            <a:off x="2133600" y="1981200"/>
            <a:ext cx="6096000" cy="3962400"/>
          </a:xfrm>
        </p:spPr>
        <p:txBody>
          <a:bodyPr>
            <a:normAutofit fontScale="55000" lnSpcReduction="20000"/>
          </a:bodyPr>
          <a:lstStyle/>
          <a:p>
            <a:pPr eaLnBrk="1" hangingPunct="1">
              <a:lnSpc>
                <a:spcPct val="80000"/>
              </a:lnSpc>
              <a:buFontTx/>
              <a:buNone/>
            </a:pPr>
            <a:r>
              <a:rPr lang="en-US" dirty="0" smtClean="0"/>
              <a:t>Denmark			  1</a:t>
            </a:r>
          </a:p>
          <a:p>
            <a:pPr eaLnBrk="1" hangingPunct="1">
              <a:lnSpc>
                <a:spcPct val="80000"/>
              </a:lnSpc>
              <a:buFontTx/>
              <a:buNone/>
            </a:pPr>
            <a:r>
              <a:rPr lang="en-US" dirty="0" smtClean="0"/>
              <a:t>Sweden			  2</a:t>
            </a:r>
          </a:p>
          <a:p>
            <a:pPr eaLnBrk="1" hangingPunct="1">
              <a:lnSpc>
                <a:spcPct val="80000"/>
              </a:lnSpc>
              <a:buFontTx/>
              <a:buNone/>
            </a:pPr>
            <a:r>
              <a:rPr lang="en-US" dirty="0" smtClean="0"/>
              <a:t>Netherlands		  3</a:t>
            </a:r>
          </a:p>
          <a:p>
            <a:pPr eaLnBrk="1" hangingPunct="1">
              <a:lnSpc>
                <a:spcPct val="80000"/>
              </a:lnSpc>
              <a:buFontTx/>
              <a:buNone/>
            </a:pPr>
            <a:r>
              <a:rPr lang="en-US" dirty="0" smtClean="0"/>
              <a:t>Norway			  4</a:t>
            </a:r>
          </a:p>
          <a:p>
            <a:pPr eaLnBrk="1" hangingPunct="1">
              <a:lnSpc>
                <a:spcPct val="80000"/>
              </a:lnSpc>
              <a:buFontTx/>
              <a:buNone/>
            </a:pPr>
            <a:r>
              <a:rPr lang="en-US" sz="4400" b="1" dirty="0" smtClean="0">
                <a:solidFill>
                  <a:schemeClr val="accent1"/>
                </a:solidFill>
              </a:rPr>
              <a:t>United </a:t>
            </a:r>
            <a:r>
              <a:rPr lang="en-US" sz="4400" b="1" dirty="0" smtClean="0">
                <a:solidFill>
                  <a:schemeClr val="accent1"/>
                </a:solidFill>
              </a:rPr>
              <a:t>States</a:t>
            </a:r>
            <a:r>
              <a:rPr lang="en-US" sz="4400" b="1" dirty="0" smtClean="0"/>
              <a:t>	 </a:t>
            </a:r>
            <a:r>
              <a:rPr lang="en-US" sz="4400" b="1" dirty="0" smtClean="0">
                <a:solidFill>
                  <a:schemeClr val="accent1"/>
                </a:solidFill>
              </a:rPr>
              <a:t>5</a:t>
            </a:r>
            <a:endParaRPr lang="en-US" sz="4400" b="1" dirty="0" smtClean="0">
              <a:solidFill>
                <a:schemeClr val="accent1"/>
              </a:solidFill>
            </a:endParaRPr>
          </a:p>
          <a:p>
            <a:pPr eaLnBrk="1" hangingPunct="1">
              <a:lnSpc>
                <a:spcPct val="80000"/>
              </a:lnSpc>
              <a:buFontTx/>
              <a:buNone/>
            </a:pPr>
            <a:r>
              <a:rPr lang="en-US" dirty="0" smtClean="0"/>
              <a:t>Australia			  6</a:t>
            </a:r>
          </a:p>
          <a:p>
            <a:pPr eaLnBrk="1" hangingPunct="1">
              <a:lnSpc>
                <a:spcPct val="80000"/>
              </a:lnSpc>
              <a:buFontTx/>
              <a:buNone/>
            </a:pPr>
            <a:r>
              <a:rPr lang="en-US" dirty="0" smtClean="0"/>
              <a:t>Singapore			  7</a:t>
            </a:r>
          </a:p>
          <a:p>
            <a:pPr eaLnBrk="1" hangingPunct="1">
              <a:lnSpc>
                <a:spcPct val="80000"/>
              </a:lnSpc>
              <a:buFontTx/>
              <a:buNone/>
            </a:pPr>
            <a:r>
              <a:rPr lang="en-US" dirty="0" smtClean="0"/>
              <a:t>Hong Kong		  8</a:t>
            </a:r>
          </a:p>
          <a:p>
            <a:pPr eaLnBrk="1" hangingPunct="1">
              <a:lnSpc>
                <a:spcPct val="80000"/>
              </a:lnSpc>
              <a:buFontTx/>
              <a:buNone/>
            </a:pPr>
            <a:r>
              <a:rPr lang="en-US" dirty="0" smtClean="0"/>
              <a:t>Canada			  9</a:t>
            </a:r>
          </a:p>
          <a:p>
            <a:pPr eaLnBrk="1" hangingPunct="1">
              <a:lnSpc>
                <a:spcPct val="80000"/>
              </a:lnSpc>
              <a:buFontTx/>
              <a:buNone/>
            </a:pPr>
            <a:r>
              <a:rPr lang="en-US" dirty="0" smtClean="0"/>
              <a:t>Finland			 10</a:t>
            </a:r>
          </a:p>
        </p:txBody>
      </p:sp>
      <p:sp>
        <p:nvSpPr>
          <p:cNvPr id="9220" name="Text Box 4"/>
          <p:cNvSpPr txBox="1">
            <a:spLocks noChangeArrowheads="1"/>
          </p:cNvSpPr>
          <p:nvPr/>
        </p:nvSpPr>
        <p:spPr bwMode="auto">
          <a:xfrm>
            <a:off x="5898396" y="5943600"/>
            <a:ext cx="2749471" cy="646331"/>
          </a:xfrm>
          <a:prstGeom prst="rect">
            <a:avLst/>
          </a:prstGeom>
          <a:noFill/>
          <a:ln w="9525" algn="ctr">
            <a:noFill/>
            <a:miter lim="800000"/>
            <a:headEnd/>
            <a:tailEnd/>
          </a:ln>
        </p:spPr>
        <p:txBody>
          <a:bodyPr wrap="none">
            <a:spAutoFit/>
          </a:bodyPr>
          <a:lstStyle/>
          <a:p>
            <a:r>
              <a:rPr lang="en-US" sz="1800" b="0" dirty="0">
                <a:solidFill>
                  <a:srgbClr val="000000"/>
                </a:solidFill>
                <a:latin typeface="+mn-lt"/>
              </a:rPr>
              <a:t>Economist Intelligence Unit</a:t>
            </a:r>
          </a:p>
          <a:p>
            <a:r>
              <a:rPr lang="en-US" sz="1800" b="0" dirty="0">
                <a:solidFill>
                  <a:srgbClr val="000000"/>
                </a:solidFill>
                <a:latin typeface="+mn-lt"/>
              </a:rPr>
              <a:t>www.eic.com</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p:cNvSpPr txBox="1">
            <a:spLocks noChangeArrowheads="1"/>
          </p:cNvSpPr>
          <p:nvPr/>
        </p:nvSpPr>
        <p:spPr bwMode="auto">
          <a:xfrm>
            <a:off x="152400" y="6096000"/>
            <a:ext cx="1524000" cy="584775"/>
          </a:xfrm>
          <a:prstGeom prst="rect">
            <a:avLst/>
          </a:prstGeom>
          <a:noFill/>
          <a:ln w="9525">
            <a:noFill/>
            <a:miter lim="800000"/>
            <a:headEnd/>
            <a:tailEnd/>
          </a:ln>
        </p:spPr>
        <p:txBody>
          <a:bodyPr wrap="square">
            <a:spAutoFit/>
          </a:bodyPr>
          <a:lstStyle/>
          <a:p>
            <a:pPr algn="l"/>
            <a:r>
              <a:rPr lang="en-US" sz="1600" b="0" dirty="0" smtClean="0">
                <a:solidFill>
                  <a:schemeClr val="tx1"/>
                </a:solidFill>
                <a:latin typeface="+mn-lt"/>
              </a:rPr>
              <a:t>Pew/Internet </a:t>
            </a:r>
            <a:r>
              <a:rPr lang="en-US" sz="1600" b="0" dirty="0">
                <a:solidFill>
                  <a:schemeClr val="tx1"/>
                </a:solidFill>
                <a:latin typeface="+mn-lt"/>
              </a:rPr>
              <a:t>– August 2010</a:t>
            </a:r>
          </a:p>
        </p:txBody>
      </p:sp>
      <p:sp>
        <p:nvSpPr>
          <p:cNvPr id="10243" name="Rectangle 3"/>
          <p:cNvSpPr>
            <a:spLocks noChangeArrowheads="1"/>
          </p:cNvSpPr>
          <p:nvPr/>
        </p:nvSpPr>
        <p:spPr bwMode="auto">
          <a:xfrm>
            <a:off x="1828800" y="381000"/>
            <a:ext cx="7315200" cy="1107996"/>
          </a:xfrm>
          <a:prstGeom prst="rect">
            <a:avLst/>
          </a:prstGeom>
          <a:noFill/>
          <a:ln w="9525">
            <a:noFill/>
            <a:miter lim="800000"/>
            <a:headEnd/>
            <a:tailEnd/>
          </a:ln>
        </p:spPr>
        <p:txBody>
          <a:bodyPr wrap="square">
            <a:spAutoFit/>
          </a:bodyPr>
          <a:lstStyle/>
          <a:p>
            <a:r>
              <a:rPr lang="en-US" sz="2800" b="0" dirty="0" smtClean="0">
                <a:solidFill>
                  <a:srgbClr val="000000"/>
                </a:solidFill>
                <a:latin typeface="+mj-lt"/>
              </a:rPr>
              <a:t>ADOPTION TRENDS WITHIN DEMOGRAPHIC GROUPS, 2009-10 </a:t>
            </a:r>
            <a:r>
              <a:rPr lang="en-US" sz="2800" dirty="0">
                <a:solidFill>
                  <a:srgbClr val="000000"/>
                </a:solidFill>
              </a:rPr>
              <a:t>	</a:t>
            </a:r>
          </a:p>
          <a:p>
            <a:r>
              <a:rPr lang="en-US" dirty="0"/>
              <a:t>	</a:t>
            </a:r>
          </a:p>
        </p:txBody>
      </p:sp>
      <p:pic>
        <p:nvPicPr>
          <p:cNvPr id="10244" name="Picture 4"/>
          <p:cNvPicPr>
            <a:picLocks noGrp="1" noChangeAspect="1" noChangeArrowheads="1"/>
          </p:cNvPicPr>
          <p:nvPr>
            <p:ph idx="1"/>
          </p:nvPr>
        </p:nvPicPr>
        <p:blipFill>
          <a:blip r:embed="rId3" cstate="print"/>
          <a:srcRect l="34070" t="33333" r="32196" b="21667"/>
          <a:stretch>
            <a:fillRect/>
          </a:stretch>
        </p:blipFill>
        <p:spPr>
          <a:xfrm>
            <a:off x="2209800" y="1866900"/>
            <a:ext cx="6553200" cy="4914900"/>
          </a:xfr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066800"/>
            <a:ext cx="7315200" cy="228600"/>
          </a:xfrm>
        </p:spPr>
        <p:txBody>
          <a:bodyPr>
            <a:normAutofit fontScale="90000"/>
          </a:bodyPr>
          <a:lstStyle/>
          <a:p>
            <a:r>
              <a:rPr lang="en-US" sz="4000" dirty="0" smtClean="0">
                <a:solidFill>
                  <a:srgbClr val="000000"/>
                </a:solidFill>
              </a:rPr>
              <a:t>Number of Broadband Providers </a:t>
            </a:r>
            <a:r>
              <a:rPr lang="en-US" sz="4000" dirty="0" smtClean="0">
                <a:solidFill>
                  <a:srgbClr val="000000"/>
                </a:solidFill>
              </a:rPr>
              <a:t/>
            </a:r>
            <a:br>
              <a:rPr lang="en-US" sz="4000" dirty="0" smtClean="0">
                <a:solidFill>
                  <a:srgbClr val="000000"/>
                </a:solidFill>
              </a:rPr>
            </a:br>
            <a:r>
              <a:rPr lang="en-US" sz="4000" dirty="0" smtClean="0">
                <a:solidFill>
                  <a:srgbClr val="000000"/>
                </a:solidFill>
              </a:rPr>
              <a:t>(</a:t>
            </a:r>
            <a:r>
              <a:rPr lang="en-US" sz="4000" dirty="0" smtClean="0">
                <a:solidFill>
                  <a:srgbClr val="000000"/>
                </a:solidFill>
              </a:rPr>
              <a:t>National Broadband Map)</a:t>
            </a:r>
            <a:r>
              <a:rPr lang="en-US" dirty="0" smtClean="0">
                <a:solidFill>
                  <a:srgbClr val="000000"/>
                </a:solidFill>
              </a:rPr>
              <a:t/>
            </a:r>
            <a:br>
              <a:rPr lang="en-US" dirty="0" smtClean="0">
                <a:solidFill>
                  <a:srgbClr val="000000"/>
                </a:solidFill>
              </a:rPr>
            </a:br>
            <a:endParaRPr lang="en-US" dirty="0"/>
          </a:p>
        </p:txBody>
      </p:sp>
      <p:pic>
        <p:nvPicPr>
          <p:cNvPr id="4" name="Picture 5"/>
          <p:cNvPicPr>
            <a:picLocks noChangeAspect="1" noChangeArrowheads="1"/>
          </p:cNvPicPr>
          <p:nvPr/>
        </p:nvPicPr>
        <p:blipFill>
          <a:blip r:embed="rId3" cstate="print"/>
          <a:srcRect l="28111" t="46875" r="25623" b="12500"/>
          <a:stretch>
            <a:fillRect/>
          </a:stretch>
        </p:blipFill>
        <p:spPr bwMode="auto">
          <a:xfrm>
            <a:off x="228600" y="2133600"/>
            <a:ext cx="8799513"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828800" y="0"/>
            <a:ext cx="7086600" cy="1800225"/>
          </a:xfrm>
        </p:spPr>
        <p:txBody>
          <a:bodyPr>
            <a:normAutofit/>
          </a:bodyPr>
          <a:lstStyle/>
          <a:p>
            <a:pPr eaLnBrk="1" hangingPunct="1"/>
            <a:r>
              <a:rPr lang="en-US" sz="4000" dirty="0" smtClean="0"/>
              <a:t>CONSUMER BROADBAND </a:t>
            </a:r>
            <a:br>
              <a:rPr lang="en-US" sz="4000" dirty="0" smtClean="0"/>
            </a:br>
            <a:r>
              <a:rPr lang="en-US" sz="2700" dirty="0" smtClean="0"/>
              <a:t>THERE IS A DIVIDE –</a:t>
            </a:r>
            <a:r>
              <a:rPr lang="en-US" sz="2700" dirty="0" smtClean="0"/>
              <a:t> </a:t>
            </a:r>
            <a:r>
              <a:rPr lang="en-US" sz="2700" dirty="0" smtClean="0"/>
              <a:t>IT MATTERS</a:t>
            </a:r>
            <a:endParaRPr lang="en-US" sz="2700" dirty="0" smtClean="0"/>
          </a:p>
        </p:txBody>
      </p:sp>
      <p:sp>
        <p:nvSpPr>
          <p:cNvPr id="12291" name="Rectangle 3"/>
          <p:cNvSpPr>
            <a:spLocks noGrp="1" noChangeArrowheads="1"/>
          </p:cNvSpPr>
          <p:nvPr>
            <p:ph idx="1"/>
          </p:nvPr>
        </p:nvSpPr>
        <p:spPr>
          <a:xfrm>
            <a:off x="2133600" y="2057400"/>
            <a:ext cx="6338888" cy="4572000"/>
          </a:xfrm>
        </p:spPr>
        <p:txBody>
          <a:bodyPr>
            <a:normAutofit fontScale="85000" lnSpcReduction="20000"/>
          </a:bodyPr>
          <a:lstStyle/>
          <a:p>
            <a:pPr eaLnBrk="1" hangingPunct="1">
              <a:lnSpc>
                <a:spcPct val="80000"/>
              </a:lnSpc>
            </a:pPr>
            <a:r>
              <a:rPr lang="en-US" dirty="0" smtClean="0"/>
              <a:t>Unavailable in some communities</a:t>
            </a:r>
          </a:p>
          <a:p>
            <a:pPr eaLnBrk="1" hangingPunct="1">
              <a:lnSpc>
                <a:spcPct val="80000"/>
              </a:lnSpc>
            </a:pPr>
            <a:r>
              <a:rPr lang="en-US" dirty="0" smtClean="0"/>
              <a:t>Bandwidth limits applications</a:t>
            </a:r>
          </a:p>
          <a:p>
            <a:pPr lvl="1" eaLnBrk="1" hangingPunct="1">
              <a:lnSpc>
                <a:spcPct val="80000"/>
              </a:lnSpc>
            </a:pPr>
            <a:r>
              <a:rPr lang="en-US" sz="2400" dirty="0" smtClean="0"/>
              <a:t>Education/training</a:t>
            </a:r>
          </a:p>
          <a:p>
            <a:pPr lvl="1" eaLnBrk="1" hangingPunct="1">
              <a:lnSpc>
                <a:spcPct val="80000"/>
              </a:lnSpc>
            </a:pPr>
            <a:r>
              <a:rPr lang="en-US" sz="2400" dirty="0" err="1" smtClean="0"/>
              <a:t>Telework</a:t>
            </a:r>
            <a:endParaRPr lang="en-US" sz="2400" dirty="0" smtClean="0"/>
          </a:p>
          <a:p>
            <a:pPr lvl="1" eaLnBrk="1" hangingPunct="1">
              <a:lnSpc>
                <a:spcPct val="80000"/>
              </a:lnSpc>
            </a:pPr>
            <a:r>
              <a:rPr lang="en-US" sz="2400" dirty="0" smtClean="0"/>
              <a:t>Telemedicine</a:t>
            </a:r>
          </a:p>
          <a:p>
            <a:pPr lvl="1" eaLnBrk="1" hangingPunct="1">
              <a:lnSpc>
                <a:spcPct val="80000"/>
              </a:lnSpc>
            </a:pPr>
            <a:r>
              <a:rPr lang="en-US" sz="2400" dirty="0" err="1" smtClean="0"/>
              <a:t>eCommerce</a:t>
            </a:r>
            <a:endParaRPr lang="en-US" sz="2400" dirty="0" smtClean="0"/>
          </a:p>
          <a:p>
            <a:pPr lvl="1" eaLnBrk="1" hangingPunct="1">
              <a:lnSpc>
                <a:spcPct val="80000"/>
              </a:lnSpc>
            </a:pPr>
            <a:r>
              <a:rPr lang="en-US" sz="2400" dirty="0" smtClean="0"/>
              <a:t>Entertainment</a:t>
            </a:r>
          </a:p>
          <a:p>
            <a:pPr lvl="1" eaLnBrk="1" hangingPunct="1">
              <a:lnSpc>
                <a:spcPct val="80000"/>
              </a:lnSpc>
            </a:pPr>
            <a:r>
              <a:rPr lang="en-US" sz="2400" dirty="0" err="1" smtClean="0"/>
              <a:t>eGov</a:t>
            </a:r>
            <a:r>
              <a:rPr lang="en-US" sz="2400" dirty="0" smtClean="0"/>
              <a:t> services</a:t>
            </a:r>
          </a:p>
          <a:p>
            <a:pPr eaLnBrk="1" hangingPunct="1">
              <a:lnSpc>
                <a:spcPct val="80000"/>
              </a:lnSpc>
            </a:pPr>
            <a:r>
              <a:rPr lang="en-US" dirty="0" smtClean="0"/>
              <a:t>Brain Drain</a:t>
            </a:r>
          </a:p>
          <a:p>
            <a:pPr eaLnBrk="1" hangingPunct="1">
              <a:lnSpc>
                <a:spcPct val="80000"/>
              </a:lnSpc>
            </a:pPr>
            <a:r>
              <a:rPr lang="en-US" dirty="0" smtClean="0"/>
              <a:t>Economic development</a:t>
            </a:r>
          </a:p>
        </p:txBody>
      </p:sp>
      <p:pic>
        <p:nvPicPr>
          <p:cNvPr id="12292" name="Picture 4" descr="Z:\Andy Lewis\resources\stock photos\427091_49413310.jpg"/>
          <p:cNvPicPr>
            <a:picLocks noChangeAspect="1" noChangeArrowheads="1"/>
          </p:cNvPicPr>
          <p:nvPr/>
        </p:nvPicPr>
        <p:blipFill>
          <a:blip r:embed="rId3" cstate="print"/>
          <a:srcRect/>
          <a:stretch>
            <a:fillRect/>
          </a:stretch>
        </p:blipFill>
        <p:spPr bwMode="auto">
          <a:xfrm>
            <a:off x="5943600" y="3276600"/>
            <a:ext cx="2743200" cy="2057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05000" y="228600"/>
            <a:ext cx="7010400" cy="1371600"/>
          </a:xfrm>
        </p:spPr>
        <p:txBody>
          <a:bodyPr>
            <a:normAutofit fontScale="90000"/>
          </a:bodyPr>
          <a:lstStyle/>
          <a:p>
            <a:pPr eaLnBrk="1" hangingPunct="1"/>
            <a:r>
              <a:rPr lang="en-US" sz="4200" dirty="0" smtClean="0"/>
              <a:t>COMMERCIAL BROADBAND</a:t>
            </a:r>
            <a:r>
              <a:rPr lang="en-US" sz="4000" dirty="0" smtClean="0"/>
              <a:t/>
            </a:r>
            <a:br>
              <a:rPr lang="en-US" sz="4000" dirty="0" smtClean="0"/>
            </a:br>
            <a:r>
              <a:rPr lang="en-US" sz="2700" dirty="0" smtClean="0"/>
              <a:t>BUSINESS, SCHOOLS, GOVERNMENT, ETC.</a:t>
            </a:r>
            <a:endParaRPr lang="en-US" sz="2700" dirty="0" smtClean="0"/>
          </a:p>
        </p:txBody>
      </p:sp>
      <p:sp>
        <p:nvSpPr>
          <p:cNvPr id="13315" name="Rectangle 3"/>
          <p:cNvSpPr>
            <a:spLocks noGrp="1" noChangeArrowheads="1"/>
          </p:cNvSpPr>
          <p:nvPr>
            <p:ph idx="1"/>
          </p:nvPr>
        </p:nvSpPr>
        <p:spPr>
          <a:xfrm>
            <a:off x="4648200" y="1981200"/>
            <a:ext cx="3962400" cy="4343400"/>
          </a:xfrm>
        </p:spPr>
        <p:txBody>
          <a:bodyPr>
            <a:normAutofit fontScale="85000" lnSpcReduction="10000"/>
          </a:bodyPr>
          <a:lstStyle/>
          <a:p>
            <a:pPr eaLnBrk="1" hangingPunct="1"/>
            <a:r>
              <a:rPr lang="en-US" dirty="0" smtClean="0"/>
              <a:t>Higher service level requirements (99.99999%)</a:t>
            </a:r>
          </a:p>
          <a:p>
            <a:pPr eaLnBrk="1" hangingPunct="1"/>
            <a:r>
              <a:rPr lang="en-US" dirty="0" smtClean="0"/>
              <a:t>BIG Pipes</a:t>
            </a:r>
          </a:p>
          <a:p>
            <a:pPr eaLnBrk="1" hangingPunct="1"/>
            <a:r>
              <a:rPr lang="en-US" dirty="0" smtClean="0"/>
              <a:t>Dedicated connections</a:t>
            </a:r>
          </a:p>
          <a:p>
            <a:pPr eaLnBrk="1" hangingPunct="1"/>
            <a:r>
              <a:rPr lang="en-US" dirty="0" smtClean="0"/>
              <a:t>Higher cost in rural vs. urban/suburban areas</a:t>
            </a:r>
          </a:p>
          <a:p>
            <a:pPr eaLnBrk="1" hangingPunct="1"/>
            <a:r>
              <a:rPr lang="en-US" dirty="0" smtClean="0"/>
              <a:t>Limited providers in rural areas</a:t>
            </a:r>
          </a:p>
          <a:p>
            <a:pPr eaLnBrk="1" hangingPunct="1"/>
            <a:endParaRPr lang="en-US" dirty="0" smtClean="0"/>
          </a:p>
        </p:txBody>
      </p:sp>
      <p:pic>
        <p:nvPicPr>
          <p:cNvPr id="13317" name="Picture 5" descr="Z:\Andy Lewis\resources\stock photos\iStock_000000824306Large.jpg"/>
          <p:cNvPicPr>
            <a:picLocks noChangeAspect="1" noChangeArrowheads="1"/>
          </p:cNvPicPr>
          <p:nvPr/>
        </p:nvPicPr>
        <p:blipFill>
          <a:blip r:embed="rId3" cstate="print"/>
          <a:srcRect/>
          <a:stretch>
            <a:fillRect/>
          </a:stretch>
        </p:blipFill>
        <p:spPr bwMode="auto">
          <a:xfrm>
            <a:off x="753666" y="2362200"/>
            <a:ext cx="3208734"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318" name="Picture 6" descr="Z:\Andy Lewis\resources\stock photos\iStock_000010790513Large.jpg"/>
          <p:cNvPicPr>
            <a:picLocks noChangeAspect="1" noChangeArrowheads="1"/>
          </p:cNvPicPr>
          <p:nvPr/>
        </p:nvPicPr>
        <p:blipFill>
          <a:blip r:embed="rId4" cstate="print"/>
          <a:srcRect t="56045"/>
          <a:stretch>
            <a:fillRect/>
          </a:stretch>
        </p:blipFill>
        <p:spPr bwMode="auto">
          <a:xfrm>
            <a:off x="228600" y="4876800"/>
            <a:ext cx="4267200"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52600" y="228600"/>
            <a:ext cx="7391400" cy="1371600"/>
          </a:xfrm>
        </p:spPr>
        <p:txBody>
          <a:bodyPr>
            <a:normAutofit/>
          </a:bodyPr>
          <a:lstStyle/>
          <a:p>
            <a:pPr eaLnBrk="1" hangingPunct="1"/>
            <a:r>
              <a:rPr lang="en-US" sz="4000" dirty="0" smtClean="0"/>
              <a:t>COMMERCIAL BROADBAND </a:t>
            </a:r>
            <a:br>
              <a:rPr lang="en-US" sz="4000" dirty="0" smtClean="0"/>
            </a:br>
            <a:r>
              <a:rPr lang="en-US" sz="4000" dirty="0" smtClean="0"/>
              <a:t>MATTERS</a:t>
            </a:r>
            <a:endParaRPr lang="en-US" sz="4000" dirty="0" smtClean="0"/>
          </a:p>
        </p:txBody>
      </p:sp>
      <p:sp>
        <p:nvSpPr>
          <p:cNvPr id="14339" name="Rectangle 3"/>
          <p:cNvSpPr>
            <a:spLocks noGrp="1" noChangeArrowheads="1"/>
          </p:cNvSpPr>
          <p:nvPr>
            <p:ph idx="1"/>
          </p:nvPr>
        </p:nvSpPr>
        <p:spPr/>
        <p:txBody>
          <a:bodyPr>
            <a:normAutofit fontScale="92500" lnSpcReduction="20000"/>
          </a:bodyPr>
          <a:lstStyle/>
          <a:p>
            <a:pPr eaLnBrk="1" hangingPunct="1"/>
            <a:r>
              <a:rPr lang="en-US" dirty="0" smtClean="0"/>
              <a:t>Global economy driven by broadband</a:t>
            </a:r>
          </a:p>
          <a:p>
            <a:pPr eaLnBrk="1" hangingPunct="1"/>
            <a:r>
              <a:rPr lang="en-US" dirty="0" smtClean="0"/>
              <a:t>Businesses less likely to locate or grow without broadband</a:t>
            </a:r>
          </a:p>
          <a:p>
            <a:pPr eaLnBrk="1" hangingPunct="1"/>
            <a:r>
              <a:rPr lang="en-US" dirty="0" smtClean="0"/>
              <a:t>Geographic penalty</a:t>
            </a:r>
          </a:p>
          <a:p>
            <a:pPr eaLnBrk="1" hangingPunct="1"/>
            <a:r>
              <a:rPr lang="en-US" dirty="0" smtClean="0"/>
              <a:t>Rural business, governments, schools, hospitals pay more than urban and suburban counterparts</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dirty="0" smtClean="0"/>
              <a:t>ECONOMIC IMPACT OF DIGITAL EXCLUSION</a:t>
            </a:r>
            <a:endParaRPr lang="en-US" dirty="0" smtClean="0"/>
          </a:p>
        </p:txBody>
      </p:sp>
      <p:pic>
        <p:nvPicPr>
          <p:cNvPr id="15363" name="Picture 1028" descr="Picture 3"/>
          <p:cNvPicPr>
            <a:picLocks noGrp="1" noChangeAspect="1" noChangeArrowheads="1"/>
          </p:cNvPicPr>
          <p:nvPr>
            <p:ph idx="1"/>
          </p:nvPr>
        </p:nvPicPr>
        <p:blipFill>
          <a:blip r:embed="rId3" cstate="print"/>
          <a:srcRect/>
          <a:stretch>
            <a:fillRect/>
          </a:stretch>
        </p:blipFill>
        <p:spPr>
          <a:xfrm>
            <a:off x="2895600" y="1752600"/>
            <a:ext cx="5189538" cy="4953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ight Arrow 5"/>
          <p:cNvSpPr/>
          <p:nvPr/>
        </p:nvSpPr>
        <p:spPr>
          <a:xfrm>
            <a:off x="1676400" y="6172200"/>
            <a:ext cx="977900" cy="484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09575" y="5867400"/>
            <a:ext cx="8415338" cy="765175"/>
            <a:chOff x="266" y="3648"/>
            <a:chExt cx="5751" cy="555"/>
          </a:xfrm>
        </p:grpSpPr>
        <p:pic>
          <p:nvPicPr>
            <p:cNvPr id="31751" name="Picture 3" descr="PSU_Coo_ Ext_S"/>
            <p:cNvPicPr>
              <a:picLocks noChangeAspect="1" noChangeArrowheads="1"/>
            </p:cNvPicPr>
            <p:nvPr/>
          </p:nvPicPr>
          <p:blipFill>
            <a:blip r:embed="rId3" cstate="print"/>
            <a:srcRect/>
            <a:stretch>
              <a:fillRect/>
            </a:stretch>
          </p:blipFill>
          <p:spPr bwMode="auto">
            <a:xfrm>
              <a:off x="4673" y="3703"/>
              <a:ext cx="1344" cy="458"/>
            </a:xfrm>
            <a:prstGeom prst="rect">
              <a:avLst/>
            </a:prstGeom>
            <a:noFill/>
            <a:ln w="9525">
              <a:noFill/>
              <a:miter lim="800000"/>
              <a:headEnd/>
              <a:tailEnd/>
            </a:ln>
          </p:spPr>
        </p:pic>
        <p:pic>
          <p:nvPicPr>
            <p:cNvPr id="31752" name="Picture 4" descr="wordmark"/>
            <p:cNvPicPr>
              <a:picLocks noChangeAspect="1" noChangeArrowheads="1"/>
            </p:cNvPicPr>
            <p:nvPr/>
          </p:nvPicPr>
          <p:blipFill>
            <a:blip r:embed="rId4" cstate="print"/>
            <a:srcRect/>
            <a:stretch>
              <a:fillRect/>
            </a:stretch>
          </p:blipFill>
          <p:spPr bwMode="auto">
            <a:xfrm>
              <a:off x="266" y="3648"/>
              <a:ext cx="1188" cy="536"/>
            </a:xfrm>
            <a:prstGeom prst="rect">
              <a:avLst/>
            </a:prstGeom>
            <a:noFill/>
            <a:ln w="9525">
              <a:noFill/>
              <a:miter lim="800000"/>
              <a:headEnd/>
              <a:tailEnd/>
            </a:ln>
          </p:spPr>
        </p:pic>
        <p:sp>
          <p:nvSpPr>
            <p:cNvPr id="31753" name="Text Box 7"/>
            <p:cNvSpPr txBox="1">
              <a:spLocks noChangeArrowheads="1"/>
            </p:cNvSpPr>
            <p:nvPr/>
          </p:nvSpPr>
          <p:spPr bwMode="auto">
            <a:xfrm>
              <a:off x="1766" y="3980"/>
              <a:ext cx="2712" cy="223"/>
            </a:xfrm>
            <a:prstGeom prst="rect">
              <a:avLst/>
            </a:prstGeom>
            <a:noFill/>
            <a:ln w="9525" algn="ctr">
              <a:noFill/>
              <a:miter lim="800000"/>
              <a:headEnd/>
              <a:tailEnd/>
            </a:ln>
          </p:spPr>
          <p:txBody>
            <a:bodyPr>
              <a:spAutoFit/>
            </a:bodyPr>
            <a:lstStyle/>
            <a:p>
              <a:pPr>
                <a:spcBef>
                  <a:spcPct val="50000"/>
                </a:spcBef>
              </a:pPr>
              <a:r>
                <a:rPr lang="en-US" sz="1400">
                  <a:solidFill>
                    <a:srgbClr val="000000"/>
                  </a:solidFill>
                </a:rPr>
                <a:t>Southern Rural Development Center</a:t>
              </a:r>
            </a:p>
          </p:txBody>
        </p:sp>
      </p:grpSp>
      <p:pic>
        <p:nvPicPr>
          <p:cNvPr id="31747" name="Picture 10" descr="X:\SRDC\Everyone\HTML\WEBSITE\images\srdc.gif"/>
          <p:cNvPicPr>
            <a:picLocks noChangeAspect="1" noChangeArrowheads="1"/>
          </p:cNvPicPr>
          <p:nvPr/>
        </p:nvPicPr>
        <p:blipFill>
          <a:blip r:embed="rId5" cstate="print"/>
          <a:srcRect/>
          <a:stretch>
            <a:fillRect/>
          </a:stretch>
        </p:blipFill>
        <p:spPr bwMode="auto">
          <a:xfrm>
            <a:off x="3895725" y="5791200"/>
            <a:ext cx="1438275" cy="514350"/>
          </a:xfrm>
          <a:prstGeom prst="rect">
            <a:avLst/>
          </a:prstGeom>
          <a:noFill/>
          <a:ln w="9525">
            <a:noFill/>
            <a:miter lim="800000"/>
            <a:headEnd/>
            <a:tailEnd/>
          </a:ln>
        </p:spPr>
      </p:pic>
      <p:sp>
        <p:nvSpPr>
          <p:cNvPr id="14" name="Title 13"/>
          <p:cNvSpPr>
            <a:spLocks noGrp="1"/>
          </p:cNvSpPr>
          <p:nvPr>
            <p:ph type="title"/>
          </p:nvPr>
        </p:nvSpPr>
        <p:spPr>
          <a:xfrm>
            <a:off x="1828800" y="228600"/>
            <a:ext cx="7315200" cy="1143000"/>
          </a:xfrm>
        </p:spPr>
        <p:txBody>
          <a:bodyPr>
            <a:normAutofit fontScale="90000"/>
          </a:bodyPr>
          <a:lstStyle/>
          <a:p>
            <a:pPr eaLnBrk="1" fontAlgn="auto" hangingPunct="1">
              <a:spcAft>
                <a:spcPts val="0"/>
              </a:spcAft>
              <a:defRPr/>
            </a:pPr>
            <a:r>
              <a:rPr lang="en-US" dirty="0" smtClean="0"/>
              <a:t>FOR MORE INFORMATION:</a:t>
            </a:r>
            <a:endParaRPr lang="en-US" dirty="0"/>
          </a:p>
        </p:txBody>
      </p:sp>
      <p:pic>
        <p:nvPicPr>
          <p:cNvPr id="31749" name="Content Placeholder 3" descr="CCintro.gif"/>
          <p:cNvPicPr>
            <a:picLocks noChangeAspect="1"/>
          </p:cNvPicPr>
          <p:nvPr/>
        </p:nvPicPr>
        <p:blipFill>
          <a:blip r:embed="rId6" cstate="print"/>
          <a:srcRect/>
          <a:stretch>
            <a:fillRect/>
          </a:stretch>
        </p:blipFill>
        <p:spPr bwMode="auto">
          <a:xfrm>
            <a:off x="2286000" y="1828800"/>
            <a:ext cx="4800600" cy="2593975"/>
          </a:xfrm>
          <a:prstGeom prst="rect">
            <a:avLst/>
          </a:prstGeom>
          <a:noFill/>
          <a:ln w="9525">
            <a:noFill/>
            <a:miter lim="800000"/>
            <a:headEnd/>
            <a:tailEnd/>
          </a:ln>
        </p:spPr>
      </p:pic>
      <p:sp>
        <p:nvSpPr>
          <p:cNvPr id="13" name="Rectangle 12"/>
          <p:cNvSpPr/>
          <p:nvPr/>
        </p:nvSpPr>
        <p:spPr>
          <a:xfrm>
            <a:off x="457200" y="4154488"/>
            <a:ext cx="8226425" cy="646112"/>
          </a:xfrm>
          <a:prstGeom prst="rect">
            <a:avLst/>
          </a:prstGeom>
        </p:spPr>
        <p:txBody>
          <a:bodyPr>
            <a:spAutoFit/>
          </a:bodyPr>
          <a:lstStyle/>
          <a:p>
            <a:pPr fontAlgn="auto">
              <a:spcAft>
                <a:spcPts val="0"/>
              </a:spcAft>
              <a:defRPr/>
            </a:pPr>
            <a:r>
              <a:rPr lang="en-US" sz="3600" b="0" cap="small" spc="200" dirty="0">
                <a:solidFill>
                  <a:srgbClr val="000000"/>
                </a:solidFill>
                <a:latin typeface="Gill Sans MT" pitchFamily="34" charset="0"/>
                <a:ea typeface="+mj-ea"/>
                <a:cs typeface="+mj-cs"/>
              </a:rPr>
              <a:t>www.ConnectingCommunities.info</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
  <a:themeElements>
    <a:clrScheme name="Mod">
      <a:dk1>
        <a:sysClr val="windowText" lastClr="000000"/>
      </a:dk1>
      <a:lt1>
        <a:sysClr val="window" lastClr="FFFFFF"/>
      </a:lt1>
      <a:dk2>
        <a:srgbClr val="065218"/>
      </a:dk2>
      <a:lt2>
        <a:srgbClr val="EDF3AE"/>
      </a:lt2>
      <a:accent1>
        <a:srgbClr val="8FCB17"/>
      </a:accent1>
      <a:accent2>
        <a:srgbClr val="769F11"/>
      </a:accent2>
      <a:accent3>
        <a:srgbClr val="D4E336"/>
      </a:accent3>
      <a:accent4>
        <a:srgbClr val="0C8228"/>
      </a:accent4>
      <a:accent5>
        <a:srgbClr val="C0EDA8"/>
      </a:accent5>
      <a:accent6>
        <a:srgbClr val="3B4F18"/>
      </a:accent6>
      <a:hlink>
        <a:srgbClr val="0A6A21"/>
      </a:hlink>
      <a:folHlink>
        <a:srgbClr val="406EA5"/>
      </a:folHlink>
    </a:clrScheme>
    <a:fontScheme name="Custom 1">
      <a:majorFont>
        <a:latin typeface="Gill Sans MT"/>
        <a:ea typeface=""/>
        <a:cs typeface=""/>
      </a:majorFont>
      <a:minorFont>
        <a:latin typeface="Gill Sans MT"/>
        <a:ea typeface=""/>
        <a:cs typeface=""/>
      </a:minorFont>
    </a:fontScheme>
    <a:fmtScheme name="Mod">
      <a:fillStyleLst>
        <a:solidFill>
          <a:schemeClr val="phClr"/>
        </a:solidFill>
        <a:solidFill>
          <a:schemeClr val="phClr">
            <a:tint val="80000"/>
          </a:schemeClr>
        </a:solidFill>
        <a:solidFill>
          <a:schemeClr val="phClr">
            <a:shade val="30000"/>
            <a:satMod val="150000"/>
          </a:schemeClr>
        </a:solidFill>
      </a:fillStyleLst>
      <a:lnStyleLst>
        <a:ln w="9525" cap="flat" cmpd="sng" algn="ctr">
          <a:solidFill>
            <a:schemeClr val="phClr">
              <a:tint val="90000"/>
              <a:satMod val="105000"/>
            </a:schemeClr>
          </a:solidFill>
          <a:prstDash val="solid"/>
        </a:ln>
        <a:ln w="50800" cap="flat" cmpd="sng" algn="ctr">
          <a:solidFill>
            <a:schemeClr val="phClr">
              <a:tint val="90000"/>
            </a:schemeClr>
          </a:solidFill>
          <a:prstDash val="solid"/>
        </a:ln>
        <a:ln w="76200" cap="flat" cmpd="dbl" algn="ctr">
          <a:solidFill>
            <a:schemeClr val="phClr">
              <a:tint val="90000"/>
            </a:schemeClr>
          </a:solidFill>
          <a:prstDash val="solid"/>
        </a:ln>
      </a:lnStyleLst>
      <a:effectStyleLst>
        <a:effectStyle>
          <a:effectLst/>
        </a:effectStyle>
        <a:effectStyle>
          <a:effectLst>
            <a:outerShdw blurRad="76200" dist="25400" dir="5400000" sx="101000" sy="101000" rotWithShape="0">
              <a:srgbClr val="000000">
                <a:alpha val="50000"/>
              </a:srgbClr>
            </a:outerShdw>
          </a:effectLst>
        </a:effectStyle>
        <a:effectStyle>
          <a:effectLst>
            <a:outerShdw blurRad="76200" dist="50800" dir="5400000" sx="101000" sy="101000" rotWithShape="0">
              <a:srgbClr val="000000">
                <a:alpha val="50000"/>
              </a:srgbClr>
            </a:outerShdw>
            <a:reflection blurRad="12700" stA="30000" endPos="30000" dist="50800" dir="5400000" sy="-100000" rotWithShape="0"/>
          </a:effectLst>
          <a:scene3d>
            <a:camera prst="orthographicFront">
              <a:rot lat="0" lon="0" rev="0"/>
            </a:camera>
            <a:lightRig rig="twoPt" dir="t">
              <a:rot lat="0" lon="0" rev="5400000"/>
            </a:lightRig>
          </a:scene3d>
          <a:sp3d prstMaterial="softmetal">
            <a:bevelT w="63500" h="25400" prst="coolSlant"/>
          </a:sp3d>
        </a:effectStyle>
      </a:effectStyleLst>
      <a:bgFillStyleLst>
        <a:solidFill>
          <a:schemeClr val="phClr">
            <a:satMod val="125000"/>
          </a:schemeClr>
        </a:solidFill>
        <a:solidFill>
          <a:schemeClr val="phClr">
            <a:shade val="30000"/>
            <a:satMod val="150000"/>
          </a:schemeClr>
        </a:solidFill>
        <a:gradFill>
          <a:gsLst>
            <a:gs pos="0">
              <a:schemeClr val="phClr">
                <a:tint val="100000"/>
                <a:shade val="80000"/>
                <a:satMod val="135000"/>
              </a:schemeClr>
            </a:gs>
            <a:gs pos="55000">
              <a:schemeClr val="phClr">
                <a:tint val="70000"/>
                <a:shade val="100000"/>
                <a:satMod val="150000"/>
              </a:schemeClr>
            </a:gs>
            <a:gs pos="100000">
              <a:schemeClr val="phClr">
                <a:tint val="70000"/>
                <a:shade val="100000"/>
                <a:satMod val="15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Corporate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Corporate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Corporate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Corporate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B4EB83D7C16246A1DA8B6255FD5E0C" ma:contentTypeVersion="0" ma:contentTypeDescription="Create a new document." ma:contentTypeScope="" ma:versionID="a1ad062a4bdb4e2b478c4e8536387c8a">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780887C-C483-4044-9A2B-A504CD0FAA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BE9F1FFC-1CEC-4E35-BB92-29083F5DA17D}">
  <ds:schemaRefs>
    <ds:schemaRef ds:uri="http://schemas.microsoft.com/sharepoint/v3/contenttype/forms"/>
  </ds:schemaRefs>
</ds:datastoreItem>
</file>

<file path=customXml/itemProps3.xml><?xml version="1.0" encoding="utf-8"?>
<ds:datastoreItem xmlns:ds="http://schemas.openxmlformats.org/officeDocument/2006/customXml" ds:itemID="{16B832FE-2F1F-4076-9AA9-DEE166B5D2B0}">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Mod</Template>
  <TotalTime>951</TotalTime>
  <Words>1222</Words>
  <Application>Microsoft Office PowerPoint</Application>
  <PresentationFormat>On-screen Show (4:3)</PresentationFormat>
  <Paragraphs>135</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Verdana</vt:lpstr>
      <vt:lpstr>Mod</vt:lpstr>
      <vt:lpstr>Why broadband matters</vt:lpstr>
      <vt:lpstr>BROADBAND  DIFFUSION AND ADOPTION</vt:lpstr>
      <vt:lpstr>WE’RE NUMBER 14!</vt:lpstr>
      <vt:lpstr>4TH AMONG TOP 7 INDUSTRIALIZED COUNTRIES</vt:lpstr>
      <vt:lpstr>IT’S ALL ABOUT BANDWIDTH</vt:lpstr>
      <vt:lpstr>PRICE</vt:lpstr>
      <vt:lpstr>2009 E-READINESS RANKINGS</vt:lpstr>
      <vt:lpstr>Slide 8</vt:lpstr>
      <vt:lpstr>Number of Broadband Providers  (National Broadband Map) </vt:lpstr>
      <vt:lpstr>CONSUMER BROADBAND  THERE IS A DIVIDE – IT MATTERS</vt:lpstr>
      <vt:lpstr>COMMERCIAL BROADBAND BUSINESS, SCHOOLS, GOVERNMENT, ETC.</vt:lpstr>
      <vt:lpstr>COMMERCIAL BROADBAND  MATTERS</vt:lpstr>
      <vt:lpstr>ECONOMIC IMPACT OF DIGITAL EXCLUSION</vt:lpstr>
      <vt:lpstr>FOR MORE INFORMATION:</vt:lpstr>
    </vt:vector>
  </TitlesOfParts>
  <Company>Extension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Connecting Rural Communities</dc:title>
  <dc:creator>University of Minnesota</dc:creator>
  <cp:lastModifiedBy>Extension Service</cp:lastModifiedBy>
  <cp:revision>134</cp:revision>
  <dcterms:created xsi:type="dcterms:W3CDTF">2006-05-11T19:23:40Z</dcterms:created>
  <dcterms:modified xsi:type="dcterms:W3CDTF">2011-11-10T22:02:36Z</dcterms:modified>
</cp:coreProperties>
</file>