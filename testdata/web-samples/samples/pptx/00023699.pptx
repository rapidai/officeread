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414" r:id="rId2"/>
    <p:sldId id="420" r:id="rId3"/>
    <p:sldId id="597" r:id="rId4"/>
    <p:sldId id="595" r:id="rId5"/>
    <p:sldId id="598" r:id="rId6"/>
    <p:sldId id="599" r:id="rId7"/>
    <p:sldId id="446" r:id="rId8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4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FF00"/>
    <a:srgbClr val="CCFF66"/>
    <a:srgbClr val="FF6600"/>
    <a:srgbClr val="FF0000"/>
    <a:srgbClr val="FF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615" autoAdjust="0"/>
    <p:restoredTop sz="86391" autoAdjust="0"/>
  </p:normalViewPr>
  <p:slideViewPr>
    <p:cSldViewPr>
      <p:cViewPr>
        <p:scale>
          <a:sx n="70" d="100"/>
          <a:sy n="70" d="100"/>
        </p:scale>
        <p:origin x="-2730" y="-10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1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-1812" y="-108"/>
      </p:cViewPr>
      <p:guideLst>
        <p:guide orient="horz" pos="2927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t" anchorCtr="0" compatLnSpc="1">
            <a:prstTxWarp prst="textNoShape">
              <a:avLst/>
            </a:prstTxWarp>
          </a:bodyPr>
          <a:lstStyle>
            <a:lvl1pPr algn="l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1"/>
            <a:ext cx="3037840" cy="46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575"/>
            <a:ext cx="3037840" cy="46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b" anchorCtr="0" compatLnSpc="1">
            <a:prstTxWarp prst="textNoShape">
              <a:avLst/>
            </a:prstTxWarp>
          </a:bodyPr>
          <a:lstStyle>
            <a:lvl1pPr algn="l">
              <a:defRPr sz="1200" dirty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575"/>
            <a:ext cx="3037840" cy="46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57" tIns="46429" rIns="92857" bIns="4642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57EEA05-0A7C-448D-9654-A0B3DC4A0A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81922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7840" cy="46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3" tIns="46587" rIns="93173" bIns="46587" numCol="1" anchor="t" anchorCtr="0" compatLnSpc="1">
            <a:prstTxWarp prst="textNoShape">
              <a:avLst/>
            </a:prstTxWarp>
          </a:bodyPr>
          <a:lstStyle>
            <a:lvl1pPr algn="l" defTabSz="931797">
              <a:defRPr sz="12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1"/>
            <a:ext cx="3037840" cy="46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3" tIns="46587" rIns="93173" bIns="46587" numCol="1" anchor="t" anchorCtr="0" compatLnSpc="1">
            <a:prstTxWarp prst="textNoShape">
              <a:avLst/>
            </a:prstTxWarp>
          </a:bodyPr>
          <a:lstStyle>
            <a:lvl1pPr algn="r" defTabSz="931797">
              <a:defRPr sz="12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6392"/>
            <a:ext cx="5140960" cy="4183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3" tIns="46587" rIns="93173" bIns="465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179"/>
            <a:ext cx="3037840" cy="46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3" tIns="46587" rIns="93173" bIns="46587" numCol="1" anchor="b" anchorCtr="0" compatLnSpc="1">
            <a:prstTxWarp prst="textNoShape">
              <a:avLst/>
            </a:prstTxWarp>
          </a:bodyPr>
          <a:lstStyle>
            <a:lvl1pPr algn="l" defTabSz="931797">
              <a:defRPr sz="12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179"/>
            <a:ext cx="3037840" cy="465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3" tIns="46587" rIns="93173" bIns="46587" numCol="1" anchor="b" anchorCtr="0" compatLnSpc="1">
            <a:prstTxWarp prst="textNoShape">
              <a:avLst/>
            </a:prstTxWarp>
          </a:bodyPr>
          <a:lstStyle>
            <a:lvl1pPr algn="r" defTabSz="931797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31361ABB-49B4-4F1A-A3AA-2E04DA3302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09242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53707D-F239-4D18-8939-E3B9858EC03C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9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30480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01" name="Rectangle 57"/>
          <p:cNvSpPr>
            <a:spLocks noGrp="1" noChangeArrowheads="1"/>
          </p:cNvSpPr>
          <p:nvPr>
            <p:ph type="ctrTitle"/>
          </p:nvPr>
        </p:nvSpPr>
        <p:spPr>
          <a:xfrm>
            <a:off x="838200" y="2438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202" name="Rectangle 5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05000" y="4038600"/>
            <a:ext cx="6629400" cy="16764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7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3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fld id="{70BADF0B-D723-4D8E-889E-E6D182B8D8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04800"/>
            <a:ext cx="201930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905500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Rectangle 57"/>
          <p:cNvSpPr>
            <a:spLocks noChangeArrowheads="1"/>
          </p:cNvSpPr>
          <p:nvPr/>
        </p:nvSpPr>
        <p:spPr bwMode="ltGray">
          <a:xfrm>
            <a:off x="0" y="0"/>
            <a:ext cx="9144000" cy="1524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0099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92" name="Rectangle 6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981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93" name="Rectangle 6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ahoma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1032" name="Picture 76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5226050"/>
            <a:ext cx="2438400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gdc.gov/standards/projects/FGDC-standards-projects/trail-data-standard/Federal_Trail_Data_Standards_FGDC-STD-017-2011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362200"/>
            <a:ext cx="8763000" cy="2514600"/>
          </a:xfrm>
        </p:spPr>
        <p:txBody>
          <a:bodyPr/>
          <a:lstStyle/>
          <a:p>
            <a:r>
              <a:rPr lang="en-US" sz="3600" dirty="0" smtClean="0"/>
              <a:t>FGDC Report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National Geospatial Advisory Committee Meeting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 smtClean="0">
              <a:solidFill>
                <a:srgbClr val="FF0000"/>
              </a:solidFill>
            </a:endParaRPr>
          </a:p>
        </p:txBody>
      </p:sp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5181600"/>
            <a:ext cx="4343400" cy="1676400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2000" dirty="0" smtClean="0"/>
              <a:t>Ivan DeLoatch, Executive Director</a:t>
            </a:r>
          </a:p>
          <a:p>
            <a:pPr algn="ctr">
              <a:lnSpc>
                <a:spcPct val="90000"/>
              </a:lnSpc>
            </a:pPr>
            <a:r>
              <a:rPr lang="en-US" sz="2000" dirty="0" smtClean="0"/>
              <a:t>January 12, 2012</a:t>
            </a:r>
          </a:p>
          <a:p>
            <a:pPr algn="ctr">
              <a:lnSpc>
                <a:spcPct val="90000"/>
              </a:lnSpc>
            </a:pPr>
            <a:endParaRPr lang="en-US" sz="2000" dirty="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743200" y="9906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FGDC Meetings</a:t>
            </a:r>
          </a:p>
        </p:txBody>
      </p:sp>
      <p:sp>
        <p:nvSpPr>
          <p:cNvPr id="409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Coordination Group – monthly meetings</a:t>
            </a:r>
          </a:p>
          <a:p>
            <a:r>
              <a:rPr lang="en-US" sz="2800" dirty="0" smtClean="0"/>
              <a:t>Executive Committee – January 18</a:t>
            </a:r>
          </a:p>
          <a:p>
            <a:r>
              <a:rPr lang="en-US" sz="2800" dirty="0" smtClean="0"/>
              <a:t>Steering Committee – January 31</a:t>
            </a:r>
          </a:p>
          <a:p>
            <a:pPr lvl="1"/>
            <a:r>
              <a:rPr lang="en-US" sz="2400" dirty="0" smtClean="0"/>
              <a:t>Draft of the Geospatial Platform Business Plan to be discussed</a:t>
            </a:r>
          </a:p>
          <a:p>
            <a:pPr lvl="2"/>
            <a:r>
              <a:rPr lang="en-US" sz="2000" dirty="0" smtClean="0"/>
              <a:t>Shared Funding Strategy</a:t>
            </a:r>
          </a:p>
          <a:p>
            <a:pPr lvl="2"/>
            <a:r>
              <a:rPr lang="en-US" sz="2000" dirty="0" smtClean="0"/>
              <a:t>Managing Partner</a:t>
            </a:r>
            <a:endParaRPr lang="en-US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4495800" y="6096000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2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dirty="0" smtClean="0"/>
              <a:t>Current FGDC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7924800" cy="42672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Geospatial Platform Business Plan</a:t>
            </a:r>
          </a:p>
          <a:p>
            <a:pPr lvl="1"/>
            <a:r>
              <a:rPr lang="en-US" sz="2000" dirty="0" smtClean="0"/>
              <a:t>Being drafted by interagency team</a:t>
            </a:r>
          </a:p>
          <a:p>
            <a:pPr lvl="1"/>
            <a:r>
              <a:rPr lang="en-US" sz="2000" dirty="0" smtClean="0"/>
              <a:t>Status report from Jerry Johnston</a:t>
            </a:r>
          </a:p>
          <a:p>
            <a:pPr>
              <a:buNone/>
            </a:pPr>
            <a:r>
              <a:rPr lang="en-US" sz="2400" dirty="0" smtClean="0"/>
              <a:t>A-16 Supplemental Guidance</a:t>
            </a:r>
          </a:p>
          <a:p>
            <a:pPr lvl="1"/>
            <a:r>
              <a:rPr lang="en-US" sz="2000" dirty="0" smtClean="0"/>
              <a:t>Developing training and template for Agency Implementation Plans</a:t>
            </a:r>
          </a:p>
          <a:p>
            <a:pPr lvl="1"/>
            <a:r>
              <a:rPr lang="en-US" sz="2000" dirty="0" smtClean="0"/>
              <a:t>Refine and update inventory of the NGDA Datasets for each NGDA Theme</a:t>
            </a:r>
          </a:p>
          <a:p>
            <a:pPr lvl="1"/>
            <a:r>
              <a:rPr lang="en-US" sz="2000" dirty="0" smtClean="0"/>
              <a:t>Pilot implementation on one Theme</a:t>
            </a:r>
          </a:p>
          <a:p>
            <a:pPr lvl="1"/>
            <a:r>
              <a:rPr lang="en-US" sz="2000" dirty="0" smtClean="0"/>
              <a:t>Support implementation of Supplemental Guidance for population of data to the GeoPlatform</a:t>
            </a:r>
          </a:p>
          <a:p>
            <a:pPr>
              <a:buNone/>
            </a:pPr>
            <a:r>
              <a:rPr lang="en-US" sz="2400" dirty="0" smtClean="0"/>
              <a:t>GAO Review – providing information/feedback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FGDC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924800" cy="42672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FGDC Cooperative Agreements Program (CAP)</a:t>
            </a:r>
          </a:p>
          <a:p>
            <a:pPr lvl="1"/>
            <a:r>
              <a:rPr lang="en-US" sz="2000" dirty="0" smtClean="0"/>
              <a:t>FY 2012 CAP Announcement on Grants.gov closes January 24, 2012</a:t>
            </a:r>
          </a:p>
          <a:p>
            <a:pPr>
              <a:buNone/>
            </a:pPr>
            <a:r>
              <a:rPr lang="en-US" sz="2400" dirty="0" smtClean="0"/>
              <a:t>Phase II, Geospatial and Semantic Cloud Computing</a:t>
            </a:r>
          </a:p>
          <a:p>
            <a:pPr lvl="1"/>
            <a:r>
              <a:rPr lang="en-US" sz="2000" dirty="0" smtClean="0"/>
              <a:t>Seeking nominations of projects for the second year of geospatial cloud computing testbed</a:t>
            </a:r>
          </a:p>
          <a:p>
            <a:pPr>
              <a:buNone/>
            </a:pPr>
            <a:r>
              <a:rPr lang="en-US" sz="2400" dirty="0" smtClean="0"/>
              <a:t>Standards</a:t>
            </a:r>
          </a:p>
          <a:p>
            <a:pPr lvl="1"/>
            <a:r>
              <a:rPr lang="en-US" sz="2000" dirty="0" smtClean="0"/>
              <a:t>Federal Trails Data Standards, FGDC-STD-017-2011, has been posted to the FGDC web site:</a:t>
            </a:r>
          </a:p>
          <a:p>
            <a:pPr lvl="1" indent="-6350">
              <a:buNone/>
            </a:pPr>
            <a:r>
              <a:rPr lang="en-US" sz="1800" dirty="0" smtClean="0">
                <a:hlinkClick r:id="rId2"/>
              </a:rPr>
              <a:t>http://www.fgdc.gov/standards/projects/FGDC-standards-projects/trail-data-standard/Federal_Trail_Data_Standards_FGDC-STD-017-2011.pdf</a:t>
            </a:r>
            <a:endParaRPr lang="en-US" sz="18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NGAC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924800" cy="42672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NGAC Charter Renewal</a:t>
            </a:r>
          </a:p>
          <a:p>
            <a:pPr lvl="1"/>
            <a:r>
              <a:rPr lang="en-US" sz="2000" dirty="0" smtClean="0"/>
              <a:t>Charter to be renewed by 1/28/12 – minor revisions to current version</a:t>
            </a:r>
          </a:p>
          <a:p>
            <a:pPr>
              <a:buNone/>
            </a:pPr>
            <a:r>
              <a:rPr lang="en-US" sz="2400" dirty="0" smtClean="0"/>
              <a:t>2012 NGAC Call for Nominations</a:t>
            </a:r>
          </a:p>
          <a:p>
            <a:pPr lvl="1"/>
            <a:r>
              <a:rPr lang="en-US" sz="2000" dirty="0" smtClean="0"/>
              <a:t>10 of the 28 current NGAC appointments expire </a:t>
            </a:r>
            <a:r>
              <a:rPr lang="en-US" sz="2000" dirty="0" smtClean="0"/>
              <a:t>12/31/12  </a:t>
            </a:r>
            <a:endParaRPr lang="en-US" sz="2000" dirty="0" smtClean="0"/>
          </a:p>
          <a:p>
            <a:pPr lvl="1"/>
            <a:r>
              <a:rPr lang="en-US" sz="2000" dirty="0" smtClean="0"/>
              <a:t>FGDC will issue Call for Nominations in Spring 2012</a:t>
            </a:r>
          </a:p>
          <a:p>
            <a:pPr>
              <a:buNone/>
            </a:pPr>
            <a:r>
              <a:rPr lang="en-US" sz="2400" dirty="0" smtClean="0"/>
              <a:t>Establishment of NLIP/Landsat Subcommittee</a:t>
            </a:r>
          </a:p>
          <a:p>
            <a:pPr lvl="1"/>
            <a:r>
              <a:rPr lang="en-US" sz="2000" dirty="0" smtClean="0"/>
              <a:t>Draft terms of reference/membership under review</a:t>
            </a:r>
          </a:p>
          <a:p>
            <a:pPr>
              <a:buNone/>
            </a:pPr>
            <a:r>
              <a:rPr lang="en-US" sz="2400" dirty="0" smtClean="0"/>
              <a:t>Development of 2012 FGDC Guidance to NGAC</a:t>
            </a:r>
          </a:p>
          <a:p>
            <a:pPr lvl="1"/>
            <a:r>
              <a:rPr lang="en-US" sz="2000" dirty="0" smtClean="0"/>
              <a:t>To be discussed later in meeting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NGAC Meetings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924800" cy="4267200"/>
          </a:xfrm>
        </p:spPr>
        <p:txBody>
          <a:bodyPr/>
          <a:lstStyle/>
          <a:p>
            <a:pPr>
              <a:buNone/>
            </a:pPr>
            <a:r>
              <a:rPr lang="en-US" sz="2800" dirty="0" smtClean="0"/>
              <a:t>Upcoming Meetings: </a:t>
            </a:r>
          </a:p>
          <a:p>
            <a:pPr lvl="1"/>
            <a:r>
              <a:rPr lang="en-US" sz="2400" dirty="0" smtClean="0"/>
              <a:t>April 17-18 NGAC Public Meeting </a:t>
            </a:r>
          </a:p>
          <a:p>
            <a:pPr lvl="2"/>
            <a:r>
              <a:rPr lang="en-US" sz="2000" dirty="0" smtClean="0"/>
              <a:t>AIA Building, Washington, DC</a:t>
            </a:r>
          </a:p>
          <a:p>
            <a:pPr lvl="1"/>
            <a:r>
              <a:rPr lang="en-US" sz="2400" dirty="0" smtClean="0"/>
              <a:t>September 18-19 NGAC Public Meeting </a:t>
            </a:r>
          </a:p>
          <a:p>
            <a:pPr lvl="2"/>
            <a:r>
              <a:rPr lang="en-US" sz="2000" dirty="0" smtClean="0"/>
              <a:t>AIA Building, Washington, DC</a:t>
            </a:r>
          </a:p>
          <a:p>
            <a:r>
              <a:rPr lang="en-US" sz="2800" dirty="0" smtClean="0"/>
              <a:t>FGDC Steering Committee meetings to be held on April 19 and Sept 20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3"/>
          <p:cNvSpPr txBox="1">
            <a:spLocks noChangeArrowheads="1"/>
          </p:cNvSpPr>
          <p:nvPr/>
        </p:nvSpPr>
        <p:spPr bwMode="auto">
          <a:xfrm>
            <a:off x="3048000" y="2286000"/>
            <a:ext cx="2792413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Thank you</a:t>
            </a:r>
          </a:p>
          <a:p>
            <a:endParaRPr lang="en-US" sz="2000" dirty="0"/>
          </a:p>
          <a:p>
            <a:r>
              <a:rPr lang="en-US" sz="4000" dirty="0"/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95800" y="6096000"/>
            <a:ext cx="38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21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GDC">
  <a:themeElements>
    <a:clrScheme name="FGDC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FGDC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GDC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GDC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GDC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Settings\Administrator\Application Data\Microsoft\Templates\FGDC.ppt</Template>
  <TotalTime>9639</TotalTime>
  <Words>277</Words>
  <Application>Microsoft Office PowerPoint</Application>
  <PresentationFormat>On-screen Show (4:3)</PresentationFormat>
  <Paragraphs>52</Paragraphs>
  <Slides>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FGDC</vt:lpstr>
      <vt:lpstr>FGDC Report  National Geospatial Advisory Committee Meeting </vt:lpstr>
      <vt:lpstr>FGDC Meetings</vt:lpstr>
      <vt:lpstr>Current FGDC Activities</vt:lpstr>
      <vt:lpstr>Current FGDC Activities</vt:lpstr>
      <vt:lpstr>NGAC Activities</vt:lpstr>
      <vt:lpstr>NGAC Meetings</vt:lpstr>
      <vt:lpstr>Slide 7</vt:lpstr>
    </vt:vector>
  </TitlesOfParts>
  <Company>FGDC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Geospatial Profile of Enterprise Architecture</dc:title>
  <dc:creator>Douglas Nebert</dc:creator>
  <cp:lastModifiedBy>USGS</cp:lastModifiedBy>
  <cp:revision>478</cp:revision>
  <cp:lastPrinted>1601-01-01T00:00:00Z</cp:lastPrinted>
  <dcterms:created xsi:type="dcterms:W3CDTF">2006-01-17T21:53:02Z</dcterms:created>
  <dcterms:modified xsi:type="dcterms:W3CDTF">2012-01-12T00:37:46Z</dcterms:modified>
</cp:coreProperties>
</file>