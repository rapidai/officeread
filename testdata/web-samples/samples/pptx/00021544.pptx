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25"/>
  </p:notesMasterIdLst>
  <p:sldIdLst>
    <p:sldId id="256" r:id="rId3"/>
    <p:sldId id="258" r:id="rId4"/>
    <p:sldId id="259" r:id="rId5"/>
    <p:sldId id="260" r:id="rId6"/>
    <p:sldId id="325" r:id="rId7"/>
    <p:sldId id="326" r:id="rId8"/>
    <p:sldId id="298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20" r:id="rId18"/>
    <p:sldId id="319" r:id="rId19"/>
    <p:sldId id="321" r:id="rId20"/>
    <p:sldId id="322" r:id="rId21"/>
    <p:sldId id="327" r:id="rId22"/>
    <p:sldId id="323" r:id="rId23"/>
    <p:sldId id="324" r:id="rId24"/>
  </p:sldIdLst>
  <p:sldSz cx="9144000" cy="6858000" type="overhead"/>
  <p:notesSz cx="6811963" cy="99425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515D09E-BC77-412F-8A5A-E11FE4A7A46C}">
          <p14:sldIdLst>
            <p14:sldId id="256"/>
            <p14:sldId id="258"/>
            <p14:sldId id="259"/>
            <p14:sldId id="260"/>
            <p14:sldId id="325"/>
            <p14:sldId id="326"/>
            <p14:sldId id="298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20"/>
            <p14:sldId id="319"/>
            <p14:sldId id="321"/>
            <p14:sldId id="322"/>
            <p14:sldId id="327"/>
            <p14:sldId id="323"/>
            <p14:sldId id="324"/>
          </p14:sldIdLst>
        </p14:section>
        <p14:section name="Abschnitt ohne Titel" id="{A51D0068-BC69-4388-8DD8-6ADEBAA3F5C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89"/>
    <a:srgbClr val="3C689E"/>
    <a:srgbClr val="2A41CB"/>
    <a:srgbClr val="3D789D"/>
    <a:srgbClr val="5A5A5A"/>
    <a:srgbClr val="FFB100"/>
    <a:srgbClr val="009EE0"/>
    <a:srgbClr val="00AF8A"/>
    <a:srgbClr val="009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13" autoAdjust="0"/>
    <p:restoredTop sz="94660"/>
  </p:normalViewPr>
  <p:slideViewPr>
    <p:cSldViewPr snapToGrid="0">
      <p:cViewPr>
        <p:scale>
          <a:sx n="100" d="100"/>
          <a:sy n="100" d="100"/>
        </p:scale>
        <p:origin x="-1094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2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11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70463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27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49887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5116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727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444038"/>
            <a:ext cx="295116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7C41EC8-1658-4DCF-B0F3-0471C29AE47A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505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AC706F-1D93-4463-8C4D-53F4017A03E7}" type="slidenum">
              <a:rPr lang="de-DE"/>
              <a:pPr/>
              <a:t>1</a:t>
            </a:fld>
            <a:endParaRPr lang="de-DE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41EC8-1658-4DCF-B0F3-0471C29AE47A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1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16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7938" y="5667375"/>
            <a:ext cx="9142412" cy="1588"/>
          </a:xfrm>
          <a:prstGeom prst="line">
            <a:avLst/>
          </a:prstGeom>
          <a:noFill/>
          <a:ln w="19050" cap="rnd">
            <a:solidFill>
              <a:schemeClr val="bg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287338" cy="287338"/>
          </a:xfrm>
          <a:prstGeom prst="rect">
            <a:avLst/>
          </a:prstGeom>
          <a:solidFill>
            <a:srgbClr val="CF6800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88" y="4846638"/>
            <a:ext cx="9142412" cy="2011362"/>
          </a:xfrm>
          <a:prstGeom prst="rect">
            <a:avLst/>
          </a:prstGeom>
          <a:noFill/>
        </p:spPr>
      </p:pic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287338" cy="287338"/>
          </a:xfrm>
          <a:prstGeom prst="rect">
            <a:avLst/>
          </a:prstGeom>
          <a:solidFill>
            <a:srgbClr val="CF6800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4718050"/>
            <a:ext cx="3048000" cy="125413"/>
          </a:xfrm>
          <a:prstGeom prst="rect">
            <a:avLst/>
          </a:prstGeom>
          <a:solidFill>
            <a:srgbClr val="CF68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3048000" y="6726210"/>
            <a:ext cx="573596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eaLnBrk="0" hangingPunct="0">
              <a:spcBef>
                <a:spcPct val="50000"/>
              </a:spcBef>
            </a:pPr>
            <a:r>
              <a:rPr lang="de-DE" sz="900" baseline="0" dirty="0" smtClean="0">
                <a:solidFill>
                  <a:schemeClr val="tx1"/>
                </a:solidFill>
              </a:rPr>
              <a:t>Prof. Wolfhard Möller       |       Institute </a:t>
            </a:r>
            <a:r>
              <a:rPr lang="de-DE" sz="900" baseline="0" dirty="0" err="1" smtClean="0">
                <a:solidFill>
                  <a:schemeClr val="tx1"/>
                </a:solidFill>
              </a:rPr>
              <a:t>of</a:t>
            </a:r>
            <a:r>
              <a:rPr lang="de-DE" sz="900" baseline="0" dirty="0" smtClean="0">
                <a:solidFill>
                  <a:schemeClr val="tx1"/>
                </a:solidFill>
              </a:rPr>
              <a:t> Ion Beam </a:t>
            </a:r>
            <a:r>
              <a:rPr lang="de-DE" sz="900" baseline="0" dirty="0" err="1" smtClean="0">
                <a:solidFill>
                  <a:schemeClr val="tx1"/>
                </a:solidFill>
              </a:rPr>
              <a:t>Physics</a:t>
            </a:r>
            <a:r>
              <a:rPr lang="de-DE" sz="900" baseline="0" dirty="0" smtClean="0">
                <a:solidFill>
                  <a:schemeClr val="tx1"/>
                </a:solidFill>
              </a:rPr>
              <a:t> </a:t>
            </a:r>
            <a:r>
              <a:rPr lang="de-DE" sz="900" baseline="0" dirty="0" err="1" smtClean="0">
                <a:solidFill>
                  <a:schemeClr val="tx1"/>
                </a:solidFill>
              </a:rPr>
              <a:t>and</a:t>
            </a:r>
            <a:r>
              <a:rPr lang="de-DE" sz="900" baseline="0" dirty="0" smtClean="0">
                <a:solidFill>
                  <a:schemeClr val="tx1"/>
                </a:solidFill>
              </a:rPr>
              <a:t> Materials Research         |     http://www.hzdr.de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0" y="466725"/>
            <a:ext cx="9142413" cy="1588"/>
          </a:xfrm>
          <a:prstGeom prst="line">
            <a:avLst/>
          </a:prstGeom>
          <a:noFill/>
          <a:ln w="19050" cap="rnd">
            <a:solidFill>
              <a:schemeClr val="bg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pic>
        <p:nvPicPr>
          <p:cNvPr id="3090" name="Picture 18" descr="FZD-Bildmarke_Preussel_wtransparen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32813" y="44450"/>
            <a:ext cx="325437" cy="360363"/>
          </a:xfrm>
          <a:prstGeom prst="rect">
            <a:avLst/>
          </a:prstGeom>
          <a:noFill/>
        </p:spPr>
      </p:pic>
      <p:pic>
        <p:nvPicPr>
          <p:cNvPr id="3092" name="Picture 20" descr="Folgefoli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0" y="0"/>
            <a:ext cx="287338" cy="287338"/>
          </a:xfrm>
          <a:prstGeom prst="rect">
            <a:avLst/>
          </a:prstGeom>
          <a:solidFill>
            <a:srgbClr val="CF6800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287338" y="6597650"/>
            <a:ext cx="24384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de-DE" sz="900" dirty="0" err="1" smtClean="0">
                <a:solidFill>
                  <a:schemeClr val="bg1"/>
                </a:solidFill>
              </a:rPr>
              <a:t>page</a:t>
            </a:r>
            <a:r>
              <a:rPr lang="de-DE" sz="900" dirty="0" smtClean="0">
                <a:solidFill>
                  <a:schemeClr val="bg1"/>
                </a:solidFill>
              </a:rPr>
              <a:t> </a:t>
            </a:r>
            <a:fld id="{297B8DFB-DF5F-4511-B552-140CE377F9BA}" type="slidenum">
              <a:rPr lang="de-DE" sz="900">
                <a:solidFill>
                  <a:schemeClr val="bg1"/>
                </a:solidFill>
              </a:rPr>
              <a:pPr eaLnBrk="0" hangingPunct="0">
                <a:spcBef>
                  <a:spcPct val="50000"/>
                </a:spcBef>
              </a:pPr>
              <a:t>‹Nr.›</a:t>
            </a:fld>
            <a:endParaRPr lang="de-DE" sz="900" dirty="0">
              <a:solidFill>
                <a:schemeClr val="bg1"/>
              </a:solidFill>
            </a:endParaRPr>
          </a:p>
        </p:txBody>
      </p:sp>
      <p:pic>
        <p:nvPicPr>
          <p:cNvPr id="3102" name="Bild 5" descr="DDC_Logo_110x50_4C.eps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89713" y="6124575"/>
            <a:ext cx="719137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29"/>
          <p:cNvSpPr txBox="1">
            <a:spLocks noChangeArrowheads="1"/>
          </p:cNvSpPr>
          <p:nvPr/>
        </p:nvSpPr>
        <p:spPr bwMode="auto">
          <a:xfrm>
            <a:off x="3048000" y="6726210"/>
            <a:ext cx="573596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eaLnBrk="0" hangingPunct="0">
              <a:spcBef>
                <a:spcPct val="50000"/>
              </a:spcBef>
            </a:pPr>
            <a:r>
              <a:rPr lang="de-DE" sz="900" baseline="0" dirty="0" smtClean="0">
                <a:solidFill>
                  <a:schemeClr val="tx1"/>
                </a:solidFill>
              </a:rPr>
              <a:t>Prof. Wolfhard Möller       |       Institute </a:t>
            </a:r>
            <a:r>
              <a:rPr lang="de-DE" sz="900" baseline="0" dirty="0" err="1" smtClean="0">
                <a:solidFill>
                  <a:schemeClr val="tx1"/>
                </a:solidFill>
              </a:rPr>
              <a:t>of</a:t>
            </a:r>
            <a:r>
              <a:rPr lang="de-DE" sz="900" baseline="0" dirty="0" smtClean="0">
                <a:solidFill>
                  <a:schemeClr val="tx1"/>
                </a:solidFill>
              </a:rPr>
              <a:t> Ion Beam </a:t>
            </a:r>
            <a:r>
              <a:rPr lang="de-DE" sz="900" baseline="0" dirty="0" err="1" smtClean="0">
                <a:solidFill>
                  <a:schemeClr val="tx1"/>
                </a:solidFill>
              </a:rPr>
              <a:t>Physics</a:t>
            </a:r>
            <a:r>
              <a:rPr lang="de-DE" sz="900" baseline="0" dirty="0" smtClean="0">
                <a:solidFill>
                  <a:schemeClr val="tx1"/>
                </a:solidFill>
              </a:rPr>
              <a:t> </a:t>
            </a:r>
            <a:r>
              <a:rPr lang="de-DE" sz="900" baseline="0" dirty="0" err="1" smtClean="0">
                <a:solidFill>
                  <a:schemeClr val="tx1"/>
                </a:solidFill>
              </a:rPr>
              <a:t>and</a:t>
            </a:r>
            <a:r>
              <a:rPr lang="de-DE" sz="900" baseline="0" dirty="0" smtClean="0">
                <a:solidFill>
                  <a:schemeClr val="tx1"/>
                </a:solidFill>
              </a:rPr>
              <a:t> Materials Research      |       http://www.hzdr.de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003E8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em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emf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Bild 4" descr="DDC_Sticker_groß_Schatten_RG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27763" y="5300663"/>
            <a:ext cx="990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4724400"/>
            <a:ext cx="3048000" cy="125413"/>
          </a:xfrm>
          <a:prstGeom prst="rect">
            <a:avLst/>
          </a:prstGeom>
          <a:solidFill>
            <a:srgbClr val="CF68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287338" cy="287338"/>
          </a:xfrm>
          <a:prstGeom prst="rect">
            <a:avLst/>
          </a:prstGeom>
          <a:solidFill>
            <a:srgbClr val="CF6800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5947812" y="423545"/>
            <a:ext cx="238656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de-DE" dirty="0" err="1" smtClean="0">
                <a:solidFill>
                  <a:srgbClr val="00589C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NuPECC</a:t>
            </a:r>
            <a:r>
              <a:rPr lang="de-DE" dirty="0" smtClean="0">
                <a:solidFill>
                  <a:srgbClr val="00589C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Meeting </a:t>
            </a:r>
            <a:r>
              <a:rPr lang="de-DE" dirty="0" err="1" smtClean="0">
                <a:solidFill>
                  <a:srgbClr val="00589C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Prague</a:t>
            </a:r>
            <a:r>
              <a:rPr lang="de-DE" dirty="0" smtClean="0">
                <a:solidFill>
                  <a:srgbClr val="00589C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June 2011 </a:t>
            </a:r>
            <a:endParaRPr lang="de-DE" dirty="0">
              <a:solidFill>
                <a:srgbClr val="0048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268288" y="1824633"/>
            <a:ext cx="8623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2400" b="1" cap="all" dirty="0" smtClean="0">
                <a:solidFill>
                  <a:srgbClr val="003E8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SPIRIT</a:t>
            </a:r>
          </a:p>
          <a:p>
            <a:pPr algn="ctr"/>
            <a:r>
              <a:rPr lang="de-DE" sz="2400" cap="all" dirty="0" smtClean="0">
                <a:solidFill>
                  <a:srgbClr val="003E8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algn="ctr"/>
            <a:r>
              <a:rPr lang="de-DE" sz="2400" cap="all" dirty="0" err="1" smtClean="0">
                <a:solidFill>
                  <a:srgbClr val="003E8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MiDTERM</a:t>
            </a:r>
            <a:r>
              <a:rPr lang="de-DE" sz="2400" cap="all" dirty="0" smtClean="0">
                <a:solidFill>
                  <a:srgbClr val="003E8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de-DE" sz="2400" cap="all" dirty="0" err="1" smtClean="0">
                <a:solidFill>
                  <a:srgbClr val="003E8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STatus</a:t>
            </a:r>
            <a:endParaRPr lang="de-DE" sz="2400" dirty="0">
              <a:solidFill>
                <a:srgbClr val="003E89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609572" y="3012297"/>
            <a:ext cx="2303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de-DE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de-DE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Wolfhard Möller</a:t>
            </a:r>
            <a:endParaRPr lang="de-DE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7410" name="Picture 2" descr="logo-spirit-web_rahme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5000625"/>
            <a:ext cx="12350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 descr="Logo FP7-cap-RGB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5106988"/>
            <a:ext cx="153352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390525"/>
            <a:ext cx="1919287" cy="67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3" name="Text Box 5"/>
          <p:cNvSpPr txBox="1">
            <a:spLocks noChangeArrowheads="1"/>
          </p:cNvSpPr>
          <p:nvPr/>
        </p:nvSpPr>
        <p:spPr bwMode="auto">
          <a:xfrm>
            <a:off x="289620" y="261939"/>
            <a:ext cx="7092255" cy="396875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European Access to Ion Technologies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2313"/>
            <a:ext cx="7431088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493000" y="2159000"/>
            <a:ext cx="1447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400" b="1">
                <a:solidFill>
                  <a:srgbClr val="003E89"/>
                </a:solidFill>
              </a:rPr>
              <a:t>Coordinated by</a:t>
            </a:r>
          </a:p>
        </p:txBody>
      </p:sp>
      <p:pic>
        <p:nvPicPr>
          <p:cNvPr id="12" name="Picture 8" descr="Logo FP7-cap-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150" y="985838"/>
            <a:ext cx="1371600" cy="111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14350" y="3683000"/>
            <a:ext cx="68865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dirty="0"/>
              <a:t>    </a:t>
            </a:r>
            <a:r>
              <a:rPr lang="de-DE" b="1" dirty="0">
                <a:solidFill>
                  <a:srgbClr val="003E89"/>
                </a:solidFill>
              </a:rPr>
              <a:t>11 Partners </a:t>
            </a:r>
            <a:r>
              <a:rPr lang="de-DE" b="1" dirty="0" err="1">
                <a:solidFill>
                  <a:srgbClr val="003E89"/>
                </a:solidFill>
              </a:rPr>
              <a:t>from</a:t>
            </a:r>
            <a:r>
              <a:rPr lang="de-DE" b="1" dirty="0">
                <a:solidFill>
                  <a:srgbClr val="003E89"/>
                </a:solidFill>
              </a:rPr>
              <a:t> 6 European Member States </a:t>
            </a:r>
            <a:r>
              <a:rPr lang="de-DE" b="1" dirty="0" err="1">
                <a:solidFill>
                  <a:srgbClr val="003E89"/>
                </a:solidFill>
              </a:rPr>
              <a:t>and</a:t>
            </a:r>
            <a:r>
              <a:rPr lang="de-DE" b="1" dirty="0">
                <a:solidFill>
                  <a:srgbClr val="003E89"/>
                </a:solidFill>
              </a:rPr>
              <a:t>                                      	2 Associated States</a:t>
            </a:r>
            <a:r>
              <a:rPr lang="de-DE" dirty="0"/>
              <a:t>     </a:t>
            </a:r>
          </a:p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b="1" dirty="0">
                <a:solidFill>
                  <a:srgbClr val="FF0000"/>
                </a:solidFill>
              </a:rPr>
              <a:t>    Free Access </a:t>
            </a:r>
            <a:r>
              <a:rPr lang="de-DE" b="1" dirty="0" err="1">
                <a:solidFill>
                  <a:srgbClr val="FF0000"/>
                </a:solidFill>
              </a:rPr>
              <a:t>for</a:t>
            </a:r>
            <a:r>
              <a:rPr lang="de-DE" b="1" dirty="0">
                <a:solidFill>
                  <a:srgbClr val="FF0000"/>
                </a:solidFill>
              </a:rPr>
              <a:t> European Users </a:t>
            </a:r>
            <a:r>
              <a:rPr lang="de-DE" b="1" dirty="0" err="1">
                <a:solidFill>
                  <a:srgbClr val="FF0000"/>
                </a:solidFill>
              </a:rPr>
              <a:t>at</a:t>
            </a:r>
            <a:r>
              <a:rPr lang="de-DE" b="1" dirty="0">
                <a:solidFill>
                  <a:srgbClr val="FF0000"/>
                </a:solidFill>
              </a:rPr>
              <a:t> 7 European Ion Beam    	Laboratories</a:t>
            </a:r>
          </a:p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b="1" dirty="0"/>
              <a:t>    </a:t>
            </a:r>
            <a:r>
              <a:rPr lang="de-DE" b="1" dirty="0">
                <a:solidFill>
                  <a:srgbClr val="003E89"/>
                </a:solidFill>
              </a:rPr>
              <a:t>Development </a:t>
            </a:r>
            <a:r>
              <a:rPr lang="de-DE" b="1" dirty="0" err="1">
                <a:solidFill>
                  <a:srgbClr val="003E89"/>
                </a:solidFill>
              </a:rPr>
              <a:t>of</a:t>
            </a:r>
            <a:r>
              <a:rPr lang="de-DE" b="1" dirty="0">
                <a:solidFill>
                  <a:srgbClr val="003E89"/>
                </a:solidFill>
              </a:rPr>
              <a:t> Ion Technologies </a:t>
            </a:r>
            <a:r>
              <a:rPr lang="de-DE" b="1" dirty="0" err="1">
                <a:solidFill>
                  <a:srgbClr val="003E89"/>
                </a:solidFill>
              </a:rPr>
              <a:t>for</a:t>
            </a:r>
            <a:r>
              <a:rPr lang="de-DE" b="1" dirty="0">
                <a:solidFill>
                  <a:srgbClr val="003E89"/>
                </a:solidFill>
              </a:rPr>
              <a:t> Materials Analysis                       	</a:t>
            </a:r>
            <a:r>
              <a:rPr lang="de-DE" b="1" dirty="0" err="1">
                <a:solidFill>
                  <a:srgbClr val="003E89"/>
                </a:solidFill>
              </a:rPr>
              <a:t>and</a:t>
            </a:r>
            <a:r>
              <a:rPr lang="de-DE" b="1" dirty="0">
                <a:solidFill>
                  <a:srgbClr val="003E89"/>
                </a:solidFill>
              </a:rPr>
              <a:t> </a:t>
            </a:r>
            <a:r>
              <a:rPr lang="de-DE" b="1" dirty="0" err="1">
                <a:solidFill>
                  <a:srgbClr val="003E89"/>
                </a:solidFill>
              </a:rPr>
              <a:t>Modification</a:t>
            </a:r>
            <a:r>
              <a:rPr lang="de-DE" b="1" dirty="0"/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b="1" dirty="0"/>
              <a:t>    </a:t>
            </a:r>
            <a:r>
              <a:rPr lang="de-DE" b="1" dirty="0" err="1">
                <a:solidFill>
                  <a:srgbClr val="003E89"/>
                </a:solidFill>
              </a:rPr>
              <a:t>Promoting</a:t>
            </a:r>
            <a:r>
              <a:rPr lang="de-DE" b="1" dirty="0">
                <a:solidFill>
                  <a:srgbClr val="003E89"/>
                </a:solidFill>
              </a:rPr>
              <a:t> </a:t>
            </a:r>
            <a:r>
              <a:rPr lang="de-DE" b="1" dirty="0" err="1">
                <a:solidFill>
                  <a:srgbClr val="003E89"/>
                </a:solidFill>
              </a:rPr>
              <a:t>and</a:t>
            </a:r>
            <a:r>
              <a:rPr lang="de-DE" b="1" dirty="0">
                <a:solidFill>
                  <a:srgbClr val="003E89"/>
                </a:solidFill>
              </a:rPr>
              <a:t> Training </a:t>
            </a:r>
            <a:r>
              <a:rPr lang="de-DE" b="1" dirty="0" err="1">
                <a:solidFill>
                  <a:srgbClr val="003E89"/>
                </a:solidFill>
              </a:rPr>
              <a:t>Activities</a:t>
            </a:r>
            <a:endParaRPr lang="de-DE" b="1" dirty="0">
              <a:solidFill>
                <a:srgbClr val="003E89"/>
              </a:solidFill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74625" y="625475"/>
            <a:ext cx="2730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b="1" dirty="0">
                <a:solidFill>
                  <a:srgbClr val="5A5A5A"/>
                </a:solidFill>
                <a:latin typeface="Verdana" pitchFamily="34" charset="0"/>
              </a:rPr>
              <a:t>www.spirit-ion.eu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596" y="2667000"/>
            <a:ext cx="1384554" cy="43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 5"/>
          <p:cNvSpPr txBox="1">
            <a:spLocks noChangeArrowheads="1"/>
          </p:cNvSpPr>
          <p:nvPr/>
        </p:nvSpPr>
        <p:spPr bwMode="auto">
          <a:xfrm>
            <a:off x="289620" y="261939"/>
            <a:ext cx="5625405" cy="396875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European Access to Ion Technologies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0" name="Text Box 3"/>
          <p:cNvSpPr txBox="1">
            <a:spLocks noChangeArrowheads="1"/>
          </p:cNvSpPr>
          <p:nvPr/>
        </p:nvSpPr>
        <p:spPr bwMode="auto">
          <a:xfrm>
            <a:off x="234950" y="1349375"/>
            <a:ext cx="7810500" cy="351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dirty="0">
                <a:solidFill>
                  <a:srgbClr val="5F5F5F"/>
                </a:solidFill>
                <a:latin typeface="Tahoma" pitchFamily="34" charset="0"/>
              </a:rPr>
              <a:t>   </a:t>
            </a:r>
            <a:r>
              <a:rPr lang="de-DE" b="1" dirty="0">
                <a:latin typeface="Tahoma" pitchFamily="34" charset="0"/>
              </a:rPr>
              <a:t>Ion-beam </a:t>
            </a:r>
            <a:r>
              <a:rPr lang="de-DE" b="1" dirty="0" err="1">
                <a:latin typeface="Tahoma" pitchFamily="34" charset="0"/>
              </a:rPr>
              <a:t>based</a:t>
            </a:r>
            <a:r>
              <a:rPr lang="de-DE" b="1" dirty="0">
                <a:latin typeface="Tahoma" pitchFamily="34" charset="0"/>
              </a:rPr>
              <a:t> quantitative </a:t>
            </a:r>
            <a:r>
              <a:rPr lang="de-DE" b="1" dirty="0" err="1">
                <a:latin typeface="Tahoma" pitchFamily="34" charset="0"/>
              </a:rPr>
              <a:t>materials</a:t>
            </a:r>
            <a:r>
              <a:rPr lang="de-DE" b="1" dirty="0">
                <a:latin typeface="Tahoma" pitchFamily="34" charset="0"/>
              </a:rPr>
              <a:t> </a:t>
            </a:r>
            <a:r>
              <a:rPr lang="de-DE" b="1" dirty="0" err="1">
                <a:latin typeface="Tahoma" pitchFamily="34" charset="0"/>
              </a:rPr>
              <a:t>analysis</a:t>
            </a:r>
            <a:r>
              <a:rPr lang="de-DE" b="1" dirty="0">
                <a:latin typeface="Tahoma" pitchFamily="34" charset="0"/>
              </a:rPr>
              <a:t>:</a:t>
            </a:r>
            <a:r>
              <a:rPr lang="de-DE" b="1" dirty="0">
                <a:solidFill>
                  <a:srgbClr val="5F5F5F"/>
                </a:solidFill>
                <a:latin typeface="Tahoma" pitchFamily="34" charset="0"/>
              </a:rPr>
              <a:t>                         	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Rutherford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backscattering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(RBS)                                                        	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Elastic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Recoil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Detection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(ERD)                                                                	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Nuclear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Reaction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Analysis (NRA)                                                                       	Proton-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induced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X-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ray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emission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(PIXE) ….</a:t>
            </a:r>
            <a:r>
              <a:rPr lang="de-DE" dirty="0">
                <a:solidFill>
                  <a:srgbClr val="5F5F5F"/>
                </a:solidFill>
                <a:latin typeface="Tahoma" pitchFamily="34" charset="0"/>
              </a:rPr>
              <a:t>     </a:t>
            </a:r>
          </a:p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b="1" dirty="0">
                <a:solidFill>
                  <a:srgbClr val="5F5F5F"/>
                </a:solidFill>
                <a:latin typeface="Tahoma" pitchFamily="34" charset="0"/>
              </a:rPr>
              <a:t>    </a:t>
            </a:r>
            <a:r>
              <a:rPr lang="de-DE" b="1" dirty="0">
                <a:latin typeface="Tahoma" pitchFamily="34" charset="0"/>
              </a:rPr>
              <a:t>Ion-beam </a:t>
            </a:r>
            <a:r>
              <a:rPr lang="de-DE" b="1" dirty="0" err="1">
                <a:latin typeface="Tahoma" pitchFamily="34" charset="0"/>
              </a:rPr>
              <a:t>modification</a:t>
            </a:r>
            <a:r>
              <a:rPr lang="de-DE" b="1" dirty="0">
                <a:latin typeface="Tahoma" pitchFamily="34" charset="0"/>
              </a:rPr>
              <a:t> </a:t>
            </a:r>
            <a:r>
              <a:rPr lang="de-DE" b="1" dirty="0" err="1">
                <a:latin typeface="Tahoma" pitchFamily="34" charset="0"/>
              </a:rPr>
              <a:t>of</a:t>
            </a:r>
            <a:r>
              <a:rPr lang="de-DE" b="1" dirty="0">
                <a:latin typeface="Tahoma" pitchFamily="34" charset="0"/>
              </a:rPr>
              <a:t> </a:t>
            </a:r>
            <a:r>
              <a:rPr lang="de-DE" b="1" dirty="0" err="1">
                <a:latin typeface="Tahoma" pitchFamily="34" charset="0"/>
              </a:rPr>
              <a:t>materials</a:t>
            </a:r>
            <a:r>
              <a:rPr lang="de-DE" b="1" dirty="0">
                <a:latin typeface="Tahoma" pitchFamily="34" charset="0"/>
              </a:rPr>
              <a:t>:</a:t>
            </a:r>
            <a:r>
              <a:rPr lang="de-DE" b="1" dirty="0">
                <a:solidFill>
                  <a:srgbClr val="5F5F5F"/>
                </a:solidFill>
                <a:latin typeface="Tahoma" pitchFamily="34" charset="0"/>
              </a:rPr>
              <a:t>                                                      	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Conventional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implantation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                                                                           	Plasma-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based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implantation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                                                            	Ion-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assisted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thin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film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F5F5F"/>
                </a:solidFill>
                <a:latin typeface="Tahoma" pitchFamily="34" charset="0"/>
              </a:rPr>
              <a:t>deposition</a:t>
            </a:r>
            <a:r>
              <a:rPr lang="de-DE" sz="1600" b="1" dirty="0">
                <a:solidFill>
                  <a:srgbClr val="5F5F5F"/>
                </a:solidFill>
                <a:latin typeface="Tahoma" pitchFamily="34" charset="0"/>
              </a:rPr>
              <a:t>                                                                                           </a:t>
            </a:r>
          </a:p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de-DE" b="1" dirty="0">
                <a:solidFill>
                  <a:srgbClr val="5F5F5F"/>
                </a:solidFill>
                <a:latin typeface="Tahoma" pitchFamily="34" charset="0"/>
              </a:rPr>
              <a:t>    </a:t>
            </a:r>
            <a:r>
              <a:rPr lang="de-DE" b="1" dirty="0">
                <a:latin typeface="Tahoma" pitchFamily="34" charset="0"/>
              </a:rPr>
              <a:t>Ion </a:t>
            </a:r>
            <a:r>
              <a:rPr lang="de-DE" b="1" dirty="0" err="1">
                <a:latin typeface="Tahoma" pitchFamily="34" charset="0"/>
              </a:rPr>
              <a:t>irradiation</a:t>
            </a:r>
            <a:r>
              <a:rPr lang="de-DE" b="1" dirty="0">
                <a:latin typeface="Tahoma" pitchFamily="34" charset="0"/>
              </a:rPr>
              <a:t>                                                                        	</a:t>
            </a:r>
            <a:r>
              <a:rPr lang="de-DE" sz="1600" b="1" dirty="0" err="1">
                <a:solidFill>
                  <a:srgbClr val="5A5A5A"/>
                </a:solidFill>
                <a:latin typeface="Tahoma" pitchFamily="34" charset="0"/>
              </a:rPr>
              <a:t>Nuclear</a:t>
            </a:r>
            <a:r>
              <a:rPr lang="de-DE" sz="1600" b="1" dirty="0">
                <a:solidFill>
                  <a:srgbClr val="5A5A5A"/>
                </a:solidFill>
                <a:latin typeface="Tahoma" pitchFamily="34" charset="0"/>
              </a:rPr>
              <a:t> </a:t>
            </a:r>
            <a:r>
              <a:rPr lang="de-DE" sz="1600" b="1" dirty="0" err="1">
                <a:solidFill>
                  <a:srgbClr val="5A5A5A"/>
                </a:solidFill>
                <a:latin typeface="Tahoma" pitchFamily="34" charset="0"/>
              </a:rPr>
              <a:t>materials</a:t>
            </a:r>
            <a:r>
              <a:rPr lang="de-DE" sz="1600" b="1" dirty="0">
                <a:solidFill>
                  <a:srgbClr val="5A5A5A"/>
                </a:solidFill>
                <a:latin typeface="Tahoma" pitchFamily="34" charset="0"/>
              </a:rPr>
              <a:t>                                                                         	Biological </a:t>
            </a:r>
            <a:r>
              <a:rPr lang="de-DE" sz="1600" b="1" dirty="0" err="1">
                <a:solidFill>
                  <a:srgbClr val="5A5A5A"/>
                </a:solidFill>
                <a:latin typeface="Tahoma" pitchFamily="34" charset="0"/>
              </a:rPr>
              <a:t>cells</a:t>
            </a:r>
            <a:r>
              <a:rPr lang="de-DE" sz="1600" b="1" dirty="0">
                <a:solidFill>
                  <a:srgbClr val="5A5A5A"/>
                </a:solidFill>
                <a:latin typeface="Tahoma" pitchFamily="34" charset="0"/>
              </a:rPr>
              <a:t> …. </a:t>
            </a:r>
            <a:endParaRPr lang="de-DE" b="1" dirty="0">
              <a:solidFill>
                <a:srgbClr val="5F5F5F"/>
              </a:solidFill>
              <a:latin typeface="Tahoma" pitchFamily="34" charset="0"/>
            </a:endParaRPr>
          </a:p>
        </p:txBody>
      </p:sp>
      <p:sp>
        <p:nvSpPr>
          <p:cNvPr id="101" name="Text Box 7"/>
          <p:cNvSpPr txBox="1">
            <a:spLocks noChangeArrowheads="1"/>
          </p:cNvSpPr>
          <p:nvPr/>
        </p:nvSpPr>
        <p:spPr bwMode="auto">
          <a:xfrm>
            <a:off x="222250" y="904875"/>
            <a:ext cx="412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b="1" dirty="0">
                <a:solidFill>
                  <a:srgbClr val="003E89"/>
                </a:solidFill>
                <a:latin typeface="Verdana" pitchFamily="34" charset="0"/>
              </a:rPr>
              <a:t>SPIRIT </a:t>
            </a:r>
            <a:r>
              <a:rPr lang="de-DE" b="1" dirty="0" err="1">
                <a:solidFill>
                  <a:srgbClr val="003E89"/>
                </a:solidFill>
                <a:latin typeface="Verdana" pitchFamily="34" charset="0"/>
              </a:rPr>
              <a:t>offers</a:t>
            </a:r>
            <a:endParaRPr lang="de-DE" b="1" dirty="0">
              <a:solidFill>
                <a:srgbClr val="003E89"/>
              </a:solidFill>
              <a:latin typeface="Verdana" pitchFamily="34" charset="0"/>
            </a:endParaRPr>
          </a:p>
        </p:txBody>
      </p:sp>
      <p:sp>
        <p:nvSpPr>
          <p:cNvPr id="102" name="Text Box 8"/>
          <p:cNvSpPr txBox="1">
            <a:spLocks noChangeArrowheads="1"/>
          </p:cNvSpPr>
          <p:nvPr/>
        </p:nvSpPr>
        <p:spPr bwMode="auto">
          <a:xfrm>
            <a:off x="273050" y="5006975"/>
            <a:ext cx="7327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b="1">
                <a:solidFill>
                  <a:srgbClr val="FF0000"/>
                </a:solidFill>
                <a:latin typeface="Verdana" pitchFamily="34" charset="0"/>
              </a:rPr>
              <a:t>Free access for European Users                                        	</a:t>
            </a:r>
            <a:r>
              <a:rPr lang="de-DE" sz="1600" b="1">
                <a:solidFill>
                  <a:srgbClr val="FF0000"/>
                </a:solidFill>
                <a:latin typeface="Verdana" pitchFamily="34" charset="0"/>
              </a:rPr>
              <a:t>User travel and local costs covered by EU</a:t>
            </a:r>
            <a:r>
              <a:rPr lang="de-DE" b="1">
                <a:solidFill>
                  <a:srgbClr val="003E89"/>
                </a:solidFill>
                <a:latin typeface="Verdana" pitchFamily="34" charset="0"/>
              </a:rPr>
              <a:t> </a:t>
            </a:r>
          </a:p>
        </p:txBody>
      </p:sp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298450" y="5832475"/>
            <a:ext cx="683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b="1">
                <a:solidFill>
                  <a:srgbClr val="5A5A5A"/>
                </a:solidFill>
                <a:latin typeface="Verdana" pitchFamily="34" charset="0"/>
              </a:rPr>
              <a:t>User Proposals: </a:t>
            </a:r>
            <a:r>
              <a:rPr lang="de-DE" b="1">
                <a:solidFill>
                  <a:srgbClr val="FF0000"/>
                </a:solidFill>
                <a:latin typeface="Verdana" pitchFamily="34" charset="0"/>
              </a:rPr>
              <a:t>www.spirit-ion.eu</a:t>
            </a:r>
          </a:p>
        </p:txBody>
      </p:sp>
      <p:pic>
        <p:nvPicPr>
          <p:cNvPr id="104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415925"/>
            <a:ext cx="1254125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263" y="2459038"/>
            <a:ext cx="2860675" cy="279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06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318721" y="280762"/>
            <a:ext cx="4224704" cy="396875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SPIRIT Dates and Numbers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708024" y="1276350"/>
            <a:ext cx="70072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Project </a:t>
            </a:r>
            <a:r>
              <a:rPr lang="de-DE" sz="1600" b="1" dirty="0">
                <a:solidFill>
                  <a:srgbClr val="003E89"/>
                </a:solidFill>
                <a:latin typeface="Verdana" pitchFamily="34" charset="0"/>
              </a:rPr>
              <a:t>D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uration	</a:t>
            </a:r>
            <a:r>
              <a:rPr lang="de-DE" sz="1600" b="1" dirty="0" smtClean="0">
                <a:latin typeface="Verdana" pitchFamily="34" charset="0"/>
              </a:rPr>
              <a:t>1-March-2009 – 28-Febr-2013</a:t>
            </a:r>
          </a:p>
          <a:p>
            <a:pPr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Total EC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Funding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	</a:t>
            </a:r>
            <a:r>
              <a:rPr lang="de-DE" sz="1600" b="1" dirty="0" smtClean="0">
                <a:latin typeface="Verdana" pitchFamily="34" charset="0"/>
              </a:rPr>
              <a:t>6.991.000 €</a:t>
            </a:r>
          </a:p>
          <a:p>
            <a:pPr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Total User Time	</a:t>
            </a:r>
            <a:r>
              <a:rPr lang="de-DE" sz="1600" b="1" dirty="0" smtClean="0">
                <a:latin typeface="Verdana" pitchFamily="34" charset="0"/>
              </a:rPr>
              <a:t>	~ 13.000 h</a:t>
            </a: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75" y="301625"/>
            <a:ext cx="1254125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519488"/>
            <a:ext cx="413385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75" y="2443163"/>
            <a:ext cx="299085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1638300" y="5572125"/>
            <a:ext cx="2295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smtClean="0">
                <a:latin typeface="+mj-lt"/>
              </a:rPr>
              <a:t>Distribution </a:t>
            </a:r>
            <a:r>
              <a:rPr lang="de-DE" sz="1200" b="1" dirty="0" err="1" smtClean="0">
                <a:latin typeface="+mj-lt"/>
              </a:rPr>
              <a:t>of</a:t>
            </a:r>
            <a:r>
              <a:rPr lang="de-DE" sz="1200" b="1" dirty="0" smtClean="0">
                <a:latin typeface="+mj-lt"/>
              </a:rPr>
              <a:t> Budget</a:t>
            </a:r>
            <a:endParaRPr lang="de-DE" sz="1200" b="1" dirty="0">
              <a:latin typeface="+mj-lt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543675" y="4200525"/>
            <a:ext cx="1247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smtClean="0">
                <a:latin typeface="+mj-lt"/>
              </a:rPr>
              <a:t>Distribution </a:t>
            </a:r>
          </a:p>
          <a:p>
            <a:r>
              <a:rPr lang="de-DE" sz="1200" b="1" dirty="0" err="1" smtClean="0">
                <a:latin typeface="+mj-lt"/>
              </a:rPr>
              <a:t>of</a:t>
            </a:r>
            <a:r>
              <a:rPr lang="de-DE" sz="1200" b="1" dirty="0" smtClean="0">
                <a:latin typeface="+mj-lt"/>
              </a:rPr>
              <a:t> </a:t>
            </a:r>
            <a:r>
              <a:rPr lang="de-DE" sz="1200" b="1" dirty="0" err="1" smtClean="0">
                <a:latin typeface="+mj-lt"/>
              </a:rPr>
              <a:t>Activities</a:t>
            </a:r>
            <a:endParaRPr lang="de-DE" sz="1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276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0762"/>
            <a:ext cx="542485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SPIRIT Transnational Access (TNA)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46099" y="1057275"/>
            <a:ext cx="6426201" cy="17697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&gt; 90% total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delivery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projected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user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time</a:t>
            </a:r>
          </a:p>
          <a:p>
            <a:pPr marL="285750" indent="-285750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varying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performance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at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individual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infrastructures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dirty="0" err="1" smtClean="0">
                <a:latin typeface="Verdana" pitchFamily="34" charset="0"/>
              </a:rPr>
              <a:t>too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optimistic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view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for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biomedical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applications</a:t>
            </a:r>
            <a:r>
              <a:rPr lang="de-DE" sz="1400" dirty="0" smtClean="0">
                <a:latin typeface="Verdana" pitchFamily="34" charset="0"/>
              </a:rPr>
              <a:t> </a:t>
            </a:r>
          </a:p>
          <a:p>
            <a:pPr defTabSz="447675">
              <a:spcBef>
                <a:spcPct val="50000"/>
              </a:spcBef>
            </a:pPr>
            <a:r>
              <a:rPr lang="de-DE" sz="1400" dirty="0">
                <a:latin typeface="Verdana" pitchFamily="34" charset="0"/>
              </a:rPr>
              <a:t>	</a:t>
            </a:r>
            <a:r>
              <a:rPr lang="de-DE" sz="1400" dirty="0" err="1" smtClean="0">
                <a:latin typeface="Verdana" pitchFamily="34" charset="0"/>
              </a:rPr>
              <a:t>underestimation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of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efforts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for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user</a:t>
            </a:r>
            <a:r>
              <a:rPr lang="de-DE" sz="1400" dirty="0" smtClean="0">
                <a:latin typeface="Verdana" pitchFamily="34" charset="0"/>
              </a:rPr>
              <a:t> </a:t>
            </a:r>
            <a:r>
              <a:rPr lang="de-DE" sz="1400" dirty="0" err="1" smtClean="0">
                <a:latin typeface="Verdana" pitchFamily="34" charset="0"/>
              </a:rPr>
              <a:t>acquisition</a:t>
            </a:r>
            <a:endParaRPr lang="de-DE" sz="1400" dirty="0"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redistribution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TNA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quota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for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months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25-48</a:t>
            </a: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75" y="301625"/>
            <a:ext cx="1254125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755" y="3833814"/>
            <a:ext cx="3055620" cy="127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7307580" y="4994910"/>
            <a:ext cx="1051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>
                <a:latin typeface="+mj-lt"/>
              </a:rPr>
              <a:t>Materials</a:t>
            </a:r>
            <a:endParaRPr lang="de-DE" sz="1200" dirty="0">
              <a:latin typeface="+mj-lt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5427345" y="4629150"/>
            <a:ext cx="1078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>
                <a:latin typeface="+mj-lt"/>
              </a:rPr>
              <a:t>Biomedical</a:t>
            </a:r>
            <a:endParaRPr lang="de-DE" sz="1200" dirty="0">
              <a:latin typeface="+mj-lt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6459855" y="3459480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>
                <a:latin typeface="+mj-lt"/>
              </a:rPr>
              <a:t>Environmental &amp; Cultural </a:t>
            </a:r>
            <a:r>
              <a:rPr lang="de-DE" sz="1200" dirty="0" err="1" smtClean="0">
                <a:latin typeface="+mj-lt"/>
              </a:rPr>
              <a:t>Heritage</a:t>
            </a:r>
            <a:endParaRPr lang="de-DE" sz="12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105883"/>
            <a:ext cx="5227587" cy="3152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51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0762"/>
            <a:ext cx="3015029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SPIRIT Networking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88923" y="885825"/>
            <a:ext cx="7150102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Workshops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Tutorials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(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internal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external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participants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) </a:t>
            </a:r>
          </a:p>
          <a:p>
            <a:pPr lvl="1">
              <a:spcBef>
                <a:spcPct val="50000"/>
              </a:spcBef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Workshop </a:t>
            </a:r>
            <a:r>
              <a:rPr lang="de-DE" sz="1400" b="1" dirty="0" smtClean="0">
                <a:latin typeface="Verdana" pitchFamily="34" charset="0"/>
              </a:rPr>
              <a:t>"New </a:t>
            </a:r>
            <a:r>
              <a:rPr lang="de-DE" sz="1400" b="1" dirty="0" err="1" smtClean="0">
                <a:latin typeface="Verdana" pitchFamily="34" charset="0"/>
              </a:rPr>
              <a:t>Detector</a:t>
            </a:r>
            <a:r>
              <a:rPr lang="de-DE" sz="1400" b="1" dirty="0" smtClean="0">
                <a:latin typeface="Verdana" pitchFamily="34" charset="0"/>
              </a:rPr>
              <a:t> Technologies </a:t>
            </a:r>
            <a:r>
              <a:rPr lang="de-DE" sz="1400" b="1" dirty="0" err="1" smtClean="0">
                <a:latin typeface="Verdana" pitchFamily="34" charset="0"/>
              </a:rPr>
              <a:t>for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Advanced</a:t>
            </a:r>
            <a:r>
              <a:rPr lang="de-DE" sz="1400" b="1" dirty="0" smtClean="0">
                <a:latin typeface="Verdana" pitchFamily="34" charset="0"/>
              </a:rPr>
              <a:t> Materials Research </a:t>
            </a:r>
            <a:r>
              <a:rPr lang="de-DE" sz="1400" b="1" dirty="0" err="1" smtClean="0">
                <a:latin typeface="Verdana" pitchFamily="34" charset="0"/>
              </a:rPr>
              <a:t>using</a:t>
            </a:r>
            <a:r>
              <a:rPr lang="de-DE" sz="1400" b="1" dirty="0" smtClean="0">
                <a:latin typeface="Verdana" pitchFamily="34" charset="0"/>
              </a:rPr>
              <a:t> Ion Beam Analysis", </a:t>
            </a:r>
            <a:r>
              <a:rPr lang="de-DE" sz="1400" b="1" dirty="0" err="1" smtClean="0">
                <a:latin typeface="Verdana" pitchFamily="34" charset="0"/>
              </a:rPr>
              <a:t>Plitvice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Lakes</a:t>
            </a:r>
            <a:r>
              <a:rPr lang="de-DE" sz="1400" b="1" dirty="0" smtClean="0">
                <a:latin typeface="Verdana" pitchFamily="34" charset="0"/>
              </a:rPr>
              <a:t>, </a:t>
            </a:r>
            <a:r>
              <a:rPr lang="de-DE" sz="1400" b="1" dirty="0" err="1" smtClean="0">
                <a:latin typeface="Verdana" pitchFamily="34" charset="0"/>
              </a:rPr>
              <a:t>Croatia</a:t>
            </a:r>
            <a:endParaRPr lang="de-DE" sz="1400" b="1" dirty="0" smtClean="0">
              <a:latin typeface="Verdana" pitchFamily="34" charset="0"/>
            </a:endParaRPr>
          </a:p>
          <a:p>
            <a:pPr lvl="1">
              <a:spcBef>
                <a:spcPct val="50000"/>
              </a:spcBef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Tutorial</a:t>
            </a:r>
            <a:r>
              <a:rPr lang="de-DE" sz="1400" b="1" dirty="0" smtClean="0">
                <a:latin typeface="Verdana" pitchFamily="34" charset="0"/>
              </a:rPr>
              <a:t> "Ion Implantation </a:t>
            </a:r>
            <a:r>
              <a:rPr lang="de-DE" sz="1400" b="1" dirty="0" err="1" smtClean="0">
                <a:latin typeface="Verdana" pitchFamily="34" charset="0"/>
              </a:rPr>
              <a:t>and</a:t>
            </a:r>
            <a:r>
              <a:rPr lang="de-DE" sz="1400" b="1" dirty="0" smtClean="0">
                <a:latin typeface="Verdana" pitchFamily="34" charset="0"/>
              </a:rPr>
              <a:t> Irradiation", Dresden, Germany </a:t>
            </a:r>
          </a:p>
          <a:p>
            <a:pPr marL="285750" indent="-285750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Technician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Exchange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Program</a:t>
            </a:r>
            <a:endParaRPr lang="de-DE" sz="1400" b="1" dirty="0">
              <a:solidFill>
                <a:srgbClr val="003E89"/>
              </a:solidFill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err="1" smtClean="0">
                <a:latin typeface="Verdana" pitchFamily="34" charset="0"/>
              </a:rPr>
              <a:t>Detector</a:t>
            </a:r>
            <a:r>
              <a:rPr lang="de-DE" sz="1400" b="1" dirty="0" smtClean="0">
                <a:latin typeface="Verdana" pitchFamily="34" charset="0"/>
              </a:rPr>
              <a:t> Development</a:t>
            </a:r>
            <a:endParaRPr lang="de-DE" sz="1400" b="1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err="1" smtClean="0">
                <a:latin typeface="Verdana" pitchFamily="34" charset="0"/>
              </a:rPr>
              <a:t>Reduction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of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Analysing</a:t>
            </a:r>
            <a:r>
              <a:rPr lang="de-DE" sz="1400" b="1" dirty="0" smtClean="0">
                <a:latin typeface="Verdana" pitchFamily="34" charset="0"/>
              </a:rPr>
              <a:t> Beam </a:t>
            </a:r>
            <a:r>
              <a:rPr lang="de-DE" sz="1400" b="1" dirty="0" err="1" smtClean="0">
                <a:latin typeface="Verdana" pitchFamily="34" charset="0"/>
              </a:rPr>
              <a:t>Effects</a:t>
            </a:r>
            <a:endParaRPr lang="de-DE" sz="1400" b="1" dirty="0">
              <a:latin typeface="Verdana" pitchFamily="34" charset="0"/>
            </a:endParaRPr>
          </a:p>
          <a:p>
            <a:pPr marL="285750" indent="-285750">
              <a:spcBef>
                <a:spcPct val="50000"/>
              </a:spcBef>
              <a:buFont typeface="Wingdings" pitchFamily="2" charset="2"/>
              <a:buChar char="§"/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Standards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Round </a:t>
            </a:r>
            <a:r>
              <a:rPr lang="de-DE" sz="1600" b="1" dirty="0">
                <a:solidFill>
                  <a:srgbClr val="003E89"/>
                </a:solidFill>
                <a:latin typeface="Verdana" pitchFamily="34" charset="0"/>
              </a:rPr>
              <a:t>Robin 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Actions                                     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for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>
                <a:solidFill>
                  <a:srgbClr val="003E89"/>
                </a:solidFill>
                <a:latin typeface="Verdana" pitchFamily="34" charset="0"/>
              </a:rPr>
              <a:t>Ion Beam 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Analysis</a:t>
            </a: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75" y="301625"/>
            <a:ext cx="1254125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9" y="3886200"/>
            <a:ext cx="4390404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9" y="4467225"/>
            <a:ext cx="3319462" cy="168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84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0762"/>
            <a:ext cx="6024930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SPIRIT Joint “Research” Activities (JRA)</a:t>
            </a:r>
            <a:endParaRPr lang="en-US" sz="2000" b="1" dirty="0">
              <a:solidFill>
                <a:schemeClr val="accent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584324" y="1485900"/>
            <a:ext cx="5702301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Beams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(Work Package 5)</a:t>
            </a:r>
          </a:p>
          <a:p>
            <a:pPr defTabSz="447675"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err="1" smtClean="0">
                <a:latin typeface="Verdana" pitchFamily="34" charset="0"/>
              </a:rPr>
              <a:t>Targeted</a:t>
            </a:r>
            <a:r>
              <a:rPr lang="de-DE" sz="1400" b="1" dirty="0" smtClean="0">
                <a:latin typeface="Verdana" pitchFamily="34" charset="0"/>
              </a:rPr>
              <a:t> Irradiation </a:t>
            </a:r>
          </a:p>
          <a:p>
            <a:pPr defTabSz="447675">
              <a:spcBef>
                <a:spcPct val="50000"/>
              </a:spcBef>
            </a:pP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smtClean="0">
                <a:latin typeface="Verdana" pitchFamily="34" charset="0"/>
              </a:rPr>
              <a:t>In-situ Instrumentation</a:t>
            </a:r>
          </a:p>
          <a:p>
            <a:pPr defTabSz="447675"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  <a:p>
            <a:pPr>
              <a:spcBef>
                <a:spcPct val="50000"/>
              </a:spcBef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Improving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Analysis </a:t>
            </a: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(Work Package 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6)</a:t>
            </a:r>
            <a:endParaRPr lang="de-DE" sz="1400" b="1" dirty="0">
              <a:solidFill>
                <a:srgbClr val="003E89"/>
              </a:solidFill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err="1" smtClean="0">
                <a:latin typeface="Verdana" pitchFamily="34" charset="0"/>
              </a:rPr>
              <a:t>Detector</a:t>
            </a:r>
            <a:r>
              <a:rPr lang="de-DE" sz="1400" b="1" dirty="0" smtClean="0">
                <a:latin typeface="Verdana" pitchFamily="34" charset="0"/>
              </a:rPr>
              <a:t> Development</a:t>
            </a:r>
            <a:endParaRPr lang="de-DE" sz="1400" b="1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err="1" smtClean="0">
                <a:latin typeface="Verdana" pitchFamily="34" charset="0"/>
              </a:rPr>
              <a:t>Reduction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of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Analysing</a:t>
            </a:r>
            <a:r>
              <a:rPr lang="de-DE" sz="1400" b="1" dirty="0" smtClean="0">
                <a:latin typeface="Verdana" pitchFamily="34" charset="0"/>
              </a:rPr>
              <a:t> Beam </a:t>
            </a:r>
            <a:r>
              <a:rPr lang="de-DE" sz="1400" b="1" dirty="0" err="1" smtClean="0">
                <a:latin typeface="Verdana" pitchFamily="34" charset="0"/>
              </a:rPr>
              <a:t>Effects</a:t>
            </a:r>
            <a:endParaRPr lang="de-DE" sz="1400" b="1" dirty="0" smtClean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endParaRPr lang="de-DE" sz="1400" b="1" dirty="0">
              <a:latin typeface="Verdana" pitchFamily="34" charset="0"/>
            </a:endParaRPr>
          </a:p>
          <a:p>
            <a:pPr>
              <a:spcBef>
                <a:spcPct val="50000"/>
              </a:spcBef>
            </a:pP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Extending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600" b="1" dirty="0" err="1" smtClean="0">
                <a:solidFill>
                  <a:srgbClr val="003E89"/>
                </a:solidFill>
                <a:latin typeface="Verdana" pitchFamily="34" charset="0"/>
              </a:rPr>
              <a:t>into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 New Fields </a:t>
            </a: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(Work Package 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7)</a:t>
            </a:r>
          </a:p>
          <a:p>
            <a:pPr defTabSz="447675">
              <a:spcBef>
                <a:spcPct val="50000"/>
              </a:spcBef>
            </a:pP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smtClean="0">
                <a:latin typeface="Verdana" pitchFamily="34" charset="0"/>
              </a:rPr>
              <a:t>3-dimensional Analysis</a:t>
            </a:r>
            <a:endParaRPr lang="de-DE" sz="1400" b="1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400" b="1" dirty="0">
                <a:solidFill>
                  <a:srgbClr val="003E89"/>
                </a:solidFill>
                <a:latin typeface="Verdana" pitchFamily="34" charset="0"/>
              </a:rPr>
              <a:t>	</a:t>
            </a:r>
            <a:r>
              <a:rPr lang="de-DE" sz="1400" b="1" dirty="0" smtClean="0">
                <a:latin typeface="Verdana" pitchFamily="34" charset="0"/>
              </a:rPr>
              <a:t>Chemical </a:t>
            </a:r>
            <a:r>
              <a:rPr lang="de-DE" sz="1400" b="1" dirty="0" err="1" smtClean="0">
                <a:latin typeface="Verdana" pitchFamily="34" charset="0"/>
              </a:rPr>
              <a:t>and</a:t>
            </a:r>
            <a:r>
              <a:rPr lang="de-DE" sz="1400" b="1" dirty="0" smtClean="0">
                <a:latin typeface="Verdana" pitchFamily="34" charset="0"/>
              </a:rPr>
              <a:t> </a:t>
            </a:r>
            <a:r>
              <a:rPr lang="de-DE" sz="1400" b="1" dirty="0" err="1" smtClean="0">
                <a:latin typeface="Verdana" pitchFamily="34" charset="0"/>
              </a:rPr>
              <a:t>Molecular</a:t>
            </a:r>
            <a:r>
              <a:rPr lang="de-DE" sz="1400" b="1" dirty="0" smtClean="0">
                <a:latin typeface="Verdana" pitchFamily="34" charset="0"/>
              </a:rPr>
              <a:t> Imaging </a:t>
            </a:r>
            <a:endParaRPr lang="de-DE" sz="1400" b="1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endParaRPr lang="de-DE" sz="1600" b="1" dirty="0" smtClean="0">
              <a:solidFill>
                <a:srgbClr val="003E89"/>
              </a:solidFill>
              <a:latin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75" y="301625"/>
            <a:ext cx="1254125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96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55201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Microbeam</a:t>
            </a:r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Cell  Irradiation Facilities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pieren 2"/>
          <p:cNvGrpSpPr/>
          <p:nvPr/>
        </p:nvGrpSpPr>
        <p:grpSpPr>
          <a:xfrm>
            <a:off x="7112318" y="1396693"/>
            <a:ext cx="1437322" cy="2634287"/>
            <a:chOff x="6845618" y="1465273"/>
            <a:chExt cx="1722024" cy="3304848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5620" y="3108961"/>
              <a:ext cx="1722022" cy="1661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5618" y="1465273"/>
              <a:ext cx="1711642" cy="1651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639" y="2954525"/>
              <a:ext cx="626745" cy="399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Textfeld 1"/>
          <p:cNvSpPr txBox="1"/>
          <p:nvPr/>
        </p:nvSpPr>
        <p:spPr>
          <a:xfrm>
            <a:off x="6149340" y="266700"/>
            <a:ext cx="12877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UBW / TU </a:t>
            </a:r>
            <a:r>
              <a:rPr lang="de-DE" dirty="0" err="1" smtClean="0"/>
              <a:t>Munich</a:t>
            </a:r>
            <a:endParaRPr lang="de-DE" dirty="0"/>
          </a:p>
        </p:txBody>
      </p:sp>
      <p:pic>
        <p:nvPicPr>
          <p:cNvPr id="1030" name="Grafik 0" descr="LCI_Setup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029335"/>
            <a:ext cx="5542280" cy="497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 descr="RGB_klein_DAPI_entfalte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458" y="4144645"/>
            <a:ext cx="2229802" cy="170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6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409516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Segmented IBA Detectors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088380" y="220980"/>
            <a:ext cx="15468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HZDR UPMC Paris</a:t>
            </a:r>
            <a:endParaRPr lang="de-DE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491" y="2233613"/>
            <a:ext cx="2372738" cy="2170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20345" y="746760"/>
            <a:ext cx="4275456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Large </a:t>
            </a:r>
            <a:r>
              <a:rPr lang="de-DE" sz="1200" b="1" dirty="0" err="1">
                <a:solidFill>
                  <a:srgbClr val="003E89"/>
                </a:solidFill>
                <a:latin typeface="Verdana" pitchFamily="34" charset="0"/>
              </a:rPr>
              <a:t>d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etector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area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>
                <a:latin typeface="Verdana" pitchFamily="34" charset="0"/>
              </a:rPr>
              <a:t>reduces</a:t>
            </a:r>
            <a:r>
              <a:rPr lang="de-DE" sz="1200" b="1" dirty="0">
                <a:latin typeface="Verdana" pitchFamily="34" charset="0"/>
              </a:rPr>
              <a:t> time </a:t>
            </a:r>
            <a:r>
              <a:rPr lang="de-DE" sz="1200" b="1" dirty="0" err="1">
                <a:latin typeface="Verdana" pitchFamily="34" charset="0"/>
              </a:rPr>
              <a:t>of</a:t>
            </a:r>
            <a:r>
              <a:rPr lang="de-DE" sz="1200" b="1" dirty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analysis</a:t>
            </a:r>
            <a:endParaRPr lang="de-DE" sz="1200" b="1" dirty="0" smtClean="0"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latin typeface="Verdana" pitchFamily="34" charset="0"/>
              </a:rPr>
              <a:t>reduces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irradiation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damage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of</a:t>
            </a:r>
            <a:r>
              <a:rPr lang="de-DE" sz="1200" b="1" dirty="0" smtClean="0">
                <a:latin typeface="Verdana" pitchFamily="34" charset="0"/>
              </a:rPr>
              <a:t> sample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latin typeface="Verdana" pitchFamily="34" charset="0"/>
              </a:rPr>
              <a:t>deteriorates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energy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resolution</a:t>
            </a:r>
            <a:r>
              <a:rPr lang="de-DE" sz="1200" b="1" dirty="0" smtClean="0">
                <a:latin typeface="Verdana" pitchFamily="34" charset="0"/>
              </a:rPr>
              <a:t> due </a:t>
            </a:r>
            <a:r>
              <a:rPr lang="de-DE" sz="1200" b="1" dirty="0" err="1" smtClean="0">
                <a:latin typeface="Verdana" pitchFamily="34" charset="0"/>
              </a:rPr>
              <a:t>to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kinematic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spread</a:t>
            </a:r>
            <a:endParaRPr lang="de-DE" sz="1200" b="1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615464"/>
            <a:ext cx="1645920" cy="16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E89"/>
                </a:solidFill>
              </a14:hiddenFill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80" y="4612102"/>
            <a:ext cx="1955239" cy="176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E89"/>
                </a:solidFill>
              </a14:hiddenFill>
            </a:ext>
          </a:extLst>
        </p:spPr>
      </p:pic>
      <p:pic>
        <p:nvPicPr>
          <p:cNvPr id="2055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597" y="2217420"/>
            <a:ext cx="3727060" cy="371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Gruppieren 30"/>
          <p:cNvGrpSpPr/>
          <p:nvPr/>
        </p:nvGrpSpPr>
        <p:grpSpPr>
          <a:xfrm>
            <a:off x="4228657" y="680403"/>
            <a:ext cx="1280603" cy="1171257"/>
            <a:chOff x="441517" y="2844483"/>
            <a:chExt cx="1692083" cy="1279438"/>
          </a:xfrm>
        </p:grpSpPr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1695450" y="2846070"/>
              <a:ext cx="0" cy="1117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1704975" y="2844483"/>
              <a:ext cx="428625" cy="11176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1827212" y="2846070"/>
              <a:ext cx="142875" cy="1108075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grpSp>
          <p:nvGrpSpPr>
            <p:cNvPr id="22" name="Group 14"/>
            <p:cNvGrpSpPr>
              <a:grpSpLocks/>
            </p:cNvGrpSpPr>
            <p:nvPr/>
          </p:nvGrpSpPr>
          <p:grpSpPr bwMode="auto">
            <a:xfrm rot="20349482">
              <a:off x="441517" y="3557830"/>
              <a:ext cx="376336" cy="566091"/>
              <a:chOff x="762" y="2330"/>
              <a:chExt cx="224" cy="211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762" y="2330"/>
                <a:ext cx="179" cy="21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24" name="Rectangle 16"/>
              <p:cNvSpPr>
                <a:spLocks noChangeArrowheads="1"/>
              </p:cNvSpPr>
              <p:nvPr/>
            </p:nvSpPr>
            <p:spPr bwMode="auto">
              <a:xfrm>
                <a:off x="826" y="2349"/>
                <a:ext cx="89" cy="17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25" name="Rectangle 17"/>
              <p:cNvSpPr>
                <a:spLocks noChangeArrowheads="1"/>
              </p:cNvSpPr>
              <p:nvPr/>
            </p:nvSpPr>
            <p:spPr bwMode="auto">
              <a:xfrm>
                <a:off x="884" y="2400"/>
                <a:ext cx="102" cy="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01980" y="3177540"/>
              <a:ext cx="1296670" cy="22733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 flipH="1">
              <a:off x="541020" y="3387725"/>
              <a:ext cx="1344610" cy="4908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626427" y="3174365"/>
              <a:ext cx="325438" cy="6032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cxnSp>
          <p:nvCxnSpPr>
            <p:cNvPr id="7" name="Gerade Verbindung 6"/>
            <p:cNvCxnSpPr>
              <a:stCxn id="27" idx="0"/>
              <a:endCxn id="24" idx="1"/>
            </p:cNvCxnSpPr>
            <p:nvPr/>
          </p:nvCxnSpPr>
          <p:spPr bwMode="auto">
            <a:xfrm flipH="1">
              <a:off x="554318" y="3387725"/>
              <a:ext cx="1331312" cy="481843"/>
            </a:xfrm>
            <a:prstGeom prst="line">
              <a:avLst/>
            </a:prstGeom>
            <a:solidFill>
              <a:srgbClr val="003E8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Gerade Verbindung 8"/>
            <p:cNvCxnSpPr>
              <a:endCxn id="27" idx="0"/>
            </p:cNvCxnSpPr>
            <p:nvPr/>
          </p:nvCxnSpPr>
          <p:spPr bwMode="auto">
            <a:xfrm flipV="1">
              <a:off x="510540" y="3387725"/>
              <a:ext cx="1375090" cy="361315"/>
            </a:xfrm>
            <a:prstGeom prst="line">
              <a:avLst/>
            </a:prstGeom>
            <a:solidFill>
              <a:srgbClr val="003E8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Gerade Verbindung 37"/>
            <p:cNvCxnSpPr>
              <a:endCxn id="27" idx="0"/>
            </p:cNvCxnSpPr>
            <p:nvPr/>
          </p:nvCxnSpPr>
          <p:spPr bwMode="auto">
            <a:xfrm flipV="1">
              <a:off x="594360" y="3387725"/>
              <a:ext cx="1291270" cy="605155"/>
            </a:xfrm>
            <a:prstGeom prst="line">
              <a:avLst/>
            </a:prstGeom>
            <a:solidFill>
              <a:srgbClr val="003E8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3" name="Gerade Verbindung 42"/>
          <p:cNvCxnSpPr/>
          <p:nvPr/>
        </p:nvCxnSpPr>
        <p:spPr bwMode="auto">
          <a:xfrm flipV="1">
            <a:off x="510540" y="3387725"/>
            <a:ext cx="1375090" cy="361315"/>
          </a:xfrm>
          <a:prstGeom prst="line">
            <a:avLst/>
          </a:prstGeom>
          <a:solidFill>
            <a:srgbClr val="003E8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Gerade Verbindung 43"/>
          <p:cNvCxnSpPr/>
          <p:nvPr/>
        </p:nvCxnSpPr>
        <p:spPr bwMode="auto">
          <a:xfrm flipV="1">
            <a:off x="662940" y="3540125"/>
            <a:ext cx="1375090" cy="361315"/>
          </a:xfrm>
          <a:prstGeom prst="line">
            <a:avLst/>
          </a:prstGeom>
          <a:solidFill>
            <a:srgbClr val="003E8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1678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1297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High-resolution gas ionization detectors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330440" y="1264920"/>
            <a:ext cx="15468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ETHZ </a:t>
            </a:r>
            <a:r>
              <a:rPr lang="de-DE" dirty="0" err="1" smtClean="0"/>
              <a:t>Zurich</a:t>
            </a:r>
            <a:r>
              <a:rPr lang="de-DE" dirty="0" smtClean="0"/>
              <a:t> RBI Zagreb </a:t>
            </a:r>
            <a:endParaRPr lang="de-DE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944245" y="4518660"/>
            <a:ext cx="42754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no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radiation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degradation</a:t>
            </a:r>
            <a:endParaRPr lang="de-DE" sz="12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very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high heavy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energy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resolution</a:t>
            </a:r>
            <a:r>
              <a:rPr lang="de-DE" sz="1200" b="1" dirty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</a:t>
            </a:r>
            <a:r>
              <a:rPr lang="de-DE" sz="1200" dirty="0" err="1" smtClean="0">
                <a:latin typeface="Verdana" pitchFamily="34" charset="0"/>
              </a:rPr>
              <a:t>MeV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protons</a:t>
            </a:r>
            <a:r>
              <a:rPr lang="de-DE" sz="1200" dirty="0" smtClean="0">
                <a:latin typeface="Verdana" pitchFamily="34" charset="0"/>
              </a:rPr>
              <a:t> 11 </a:t>
            </a:r>
            <a:r>
              <a:rPr lang="de-DE" sz="1200" dirty="0" err="1" smtClean="0">
                <a:latin typeface="Verdana" pitchFamily="34" charset="0"/>
              </a:rPr>
              <a:t>keV</a:t>
            </a:r>
            <a:r>
              <a:rPr lang="de-DE" sz="1200" dirty="0" smtClean="0">
                <a:latin typeface="Verdana" pitchFamily="34" charset="0"/>
              </a:rPr>
              <a:t>                                        72 </a:t>
            </a:r>
            <a:r>
              <a:rPr lang="de-DE" sz="1200" dirty="0" err="1" smtClean="0">
                <a:latin typeface="Verdana" pitchFamily="34" charset="0"/>
              </a:rPr>
              <a:t>MeV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Xe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ions</a:t>
            </a:r>
            <a:r>
              <a:rPr lang="de-DE" sz="1200" dirty="0" smtClean="0">
                <a:latin typeface="Verdana" pitchFamily="34" charset="0"/>
              </a:rPr>
              <a:t> 1.4 %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miniaturized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version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available</a:t>
            </a:r>
            <a:endParaRPr lang="de-DE" sz="1200" b="1" dirty="0">
              <a:solidFill>
                <a:srgbClr val="003E89"/>
              </a:solidFill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3074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" y="1630680"/>
            <a:ext cx="5481977" cy="211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3075" name="Picture 3" descr="GID-matchsti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660" y="2118361"/>
            <a:ext cx="2401557" cy="170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3954780"/>
            <a:ext cx="23907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04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1297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Beam-induced sample deterioration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056120" y="1699260"/>
            <a:ext cx="15468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ETHZ </a:t>
            </a:r>
            <a:r>
              <a:rPr lang="de-DE" dirty="0" err="1" smtClean="0"/>
              <a:t>Zurich</a:t>
            </a:r>
            <a:r>
              <a:rPr lang="de-DE" dirty="0" smtClean="0"/>
              <a:t> UPMC Paris </a:t>
            </a:r>
            <a:endParaRPr lang="de-DE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73684" y="906780"/>
            <a:ext cx="509079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known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for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long</a:t>
            </a:r>
            <a:r>
              <a:rPr lang="de-DE" sz="1200" b="1" dirty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           </a:t>
            </a:r>
            <a:r>
              <a:rPr lang="de-DE" sz="1200" dirty="0" smtClean="0">
                <a:latin typeface="Verdana" pitchFamily="34" charset="0"/>
              </a:rPr>
              <a:t> hydrogen </a:t>
            </a:r>
            <a:r>
              <a:rPr lang="de-DE" sz="1200" dirty="0" err="1" smtClean="0">
                <a:latin typeface="Verdana" pitchFamily="34" charset="0"/>
              </a:rPr>
              <a:t>analysis</a:t>
            </a:r>
            <a:r>
              <a:rPr lang="de-DE" sz="1200" dirty="0" smtClean="0">
                <a:latin typeface="Verdana" pitchFamily="34" charset="0"/>
              </a:rPr>
              <a:t> in </a:t>
            </a:r>
            <a:r>
              <a:rPr lang="de-DE" sz="1200" dirty="0" err="1" smtClean="0">
                <a:latin typeface="Verdana" pitchFamily="34" charset="0"/>
              </a:rPr>
              <a:t>polymers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and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glasses</a:t>
            </a:r>
            <a:r>
              <a:rPr lang="de-DE" sz="1200" dirty="0">
                <a:latin typeface="Verdana" pitchFamily="34" charset="0"/>
              </a:rPr>
              <a:t> </a:t>
            </a:r>
            <a:r>
              <a:rPr lang="de-DE" sz="1200" dirty="0" smtClean="0">
                <a:latin typeface="Verdana" pitchFamily="34" charset="0"/>
              </a:rPr>
              <a:t>             </a:t>
            </a:r>
            <a:r>
              <a:rPr lang="de-DE" sz="1200" dirty="0" err="1" smtClean="0">
                <a:latin typeface="Verdana" pitchFamily="34" charset="0"/>
              </a:rPr>
              <a:t>strongly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dependent</a:t>
            </a:r>
            <a:r>
              <a:rPr lang="de-DE" sz="1200" dirty="0" smtClean="0">
                <a:latin typeface="Verdana" pitchFamily="34" charset="0"/>
              </a:rPr>
              <a:t> on individual </a:t>
            </a:r>
            <a:r>
              <a:rPr lang="de-DE" sz="1200" dirty="0" err="1" smtClean="0">
                <a:latin typeface="Verdana" pitchFamily="34" charset="0"/>
              </a:rPr>
              <a:t>problem</a:t>
            </a:r>
            <a:endParaRPr lang="de-DE" sz="1200" dirty="0" smtClean="0"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better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characterization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understanding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intended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new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dedicated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experiments</a:t>
            </a:r>
            <a:r>
              <a:rPr lang="de-DE" sz="1200" dirty="0">
                <a:latin typeface="Verdana" pitchFamily="34" charset="0"/>
              </a:rPr>
              <a:t> </a:t>
            </a:r>
            <a:r>
              <a:rPr lang="de-DE" sz="1200" dirty="0" smtClean="0">
                <a:latin typeface="Verdana" pitchFamily="34" charset="0"/>
              </a:rPr>
              <a:t>                                   </a:t>
            </a:r>
            <a:r>
              <a:rPr lang="de-DE" sz="1200" dirty="0" err="1" smtClean="0">
                <a:latin typeface="Verdana" pitchFamily="34" charset="0"/>
              </a:rPr>
              <a:t>compilation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of</a:t>
            </a:r>
            <a:r>
              <a:rPr lang="de-DE" sz="1200" dirty="0" smtClean="0">
                <a:latin typeface="Verdana" pitchFamily="34" charset="0"/>
              </a:rPr>
              <a:t> </a:t>
            </a:r>
            <a:r>
              <a:rPr lang="de-DE" sz="1200" dirty="0" err="1" smtClean="0">
                <a:latin typeface="Verdana" pitchFamily="34" charset="0"/>
              </a:rPr>
              <a:t>database</a:t>
            </a:r>
            <a:endParaRPr lang="de-DE" sz="1200" dirty="0"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345367"/>
            <a:ext cx="5382577" cy="393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099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3202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High-resolution PIXE for chemical analysis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164580" y="960120"/>
            <a:ext cx="15468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RBI Zagreb</a:t>
            </a:r>
            <a:endParaRPr lang="de-DE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73684" y="906780"/>
            <a:ext cx="307911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wavelength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dispersive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analysis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using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crystal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spectrometer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982" y="785813"/>
            <a:ext cx="1858099" cy="1401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290445"/>
            <a:ext cx="7034284" cy="4064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643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1297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3D Analysis using Confocal PIXE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042660" y="1188720"/>
            <a:ext cx="15468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JSI Ljubljana</a:t>
            </a:r>
            <a:endParaRPr lang="de-DE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grpSp>
        <p:nvGrpSpPr>
          <p:cNvPr id="9" name="Gruppieren 8"/>
          <p:cNvGrpSpPr/>
          <p:nvPr/>
        </p:nvGrpSpPr>
        <p:grpSpPr>
          <a:xfrm>
            <a:off x="754380" y="2148840"/>
            <a:ext cx="3406140" cy="2697480"/>
            <a:chOff x="3688080" y="1783080"/>
            <a:chExt cx="3253740" cy="2369820"/>
          </a:xfrm>
        </p:grpSpPr>
        <p:sp>
          <p:nvSpPr>
            <p:cNvPr id="7" name="Rechteck 6"/>
            <p:cNvSpPr/>
            <p:nvPr/>
          </p:nvSpPr>
          <p:spPr bwMode="auto">
            <a:xfrm>
              <a:off x="4051712" y="3389390"/>
              <a:ext cx="2890108" cy="76351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6145" name="Picture 1" descr="confoca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8080" y="1783080"/>
              <a:ext cx="2608323" cy="2352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73684" y="906780"/>
            <a:ext cx="50907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2D lateral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resolution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by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beam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scanning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            </a:t>
            </a:r>
            <a:r>
              <a:rPr lang="de-DE" sz="1200" dirty="0" smtClean="0">
                <a:latin typeface="Verdana" pitchFamily="34" charset="0"/>
              </a:rPr>
              <a:t> 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depth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resolution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by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focused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x-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ray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collection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2785745"/>
            <a:ext cx="3880284" cy="267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Gerade Verbindung 10"/>
          <p:cNvCxnSpPr/>
          <p:nvPr/>
        </p:nvCxnSpPr>
        <p:spPr bwMode="auto">
          <a:xfrm flipV="1">
            <a:off x="6324600" y="2278380"/>
            <a:ext cx="891540" cy="990600"/>
          </a:xfrm>
          <a:prstGeom prst="line">
            <a:avLst/>
          </a:prstGeom>
          <a:solidFill>
            <a:srgbClr val="003E89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Gerade Verbindung 18"/>
          <p:cNvCxnSpPr/>
          <p:nvPr/>
        </p:nvCxnSpPr>
        <p:spPr bwMode="auto">
          <a:xfrm flipV="1">
            <a:off x="5013960" y="4503420"/>
            <a:ext cx="1074420" cy="1181100"/>
          </a:xfrm>
          <a:prstGeom prst="line">
            <a:avLst/>
          </a:prstGeom>
          <a:solidFill>
            <a:srgbClr val="003E89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7040880" y="1973580"/>
            <a:ext cx="124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 smtClean="0"/>
              <a:t>from</a:t>
            </a:r>
            <a:r>
              <a:rPr lang="de-DE" sz="1200" dirty="0" smtClean="0"/>
              <a:t> 2D </a:t>
            </a:r>
            <a:r>
              <a:rPr lang="de-DE" sz="1200" dirty="0" err="1" smtClean="0"/>
              <a:t>scan</a:t>
            </a:r>
            <a:r>
              <a:rPr lang="de-DE" sz="1200" dirty="0" smtClean="0"/>
              <a:t> w/o </a:t>
            </a:r>
            <a:r>
              <a:rPr lang="de-DE" sz="1200" dirty="0" err="1" smtClean="0"/>
              <a:t>lens</a:t>
            </a:r>
            <a:endParaRPr lang="de-DE" sz="1200" dirty="0"/>
          </a:p>
        </p:txBody>
      </p:sp>
      <p:sp>
        <p:nvSpPr>
          <p:cNvPr id="22" name="Textfeld 21"/>
          <p:cNvSpPr txBox="1"/>
          <p:nvPr/>
        </p:nvSpPr>
        <p:spPr>
          <a:xfrm>
            <a:off x="4381500" y="5730240"/>
            <a:ext cx="171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 smtClean="0"/>
              <a:t>from</a:t>
            </a:r>
            <a:r>
              <a:rPr lang="de-DE" sz="1200" dirty="0" smtClean="0"/>
              <a:t> 3D </a:t>
            </a:r>
            <a:r>
              <a:rPr lang="de-DE" sz="1200" dirty="0" err="1" smtClean="0"/>
              <a:t>measurement</a:t>
            </a:r>
            <a:r>
              <a:rPr lang="de-DE" sz="1200" dirty="0" smtClean="0"/>
              <a:t> </a:t>
            </a:r>
            <a:r>
              <a:rPr lang="de-DE" sz="1200" dirty="0" err="1" smtClean="0"/>
              <a:t>and</a:t>
            </a:r>
            <a:r>
              <a:rPr lang="de-DE" sz="1200" dirty="0" smtClean="0"/>
              <a:t> </a:t>
            </a:r>
            <a:r>
              <a:rPr lang="de-DE" sz="1200" dirty="0" err="1" smtClean="0"/>
              <a:t>reconstruction</a:t>
            </a:r>
            <a:endParaRPr lang="de-DE" sz="1200" dirty="0"/>
          </a:p>
        </p:txBody>
      </p:sp>
      <p:sp>
        <p:nvSpPr>
          <p:cNvPr id="23" name="Textfeld 22"/>
          <p:cNvSpPr txBox="1"/>
          <p:nvPr/>
        </p:nvSpPr>
        <p:spPr>
          <a:xfrm>
            <a:off x="4747260" y="2324100"/>
            <a:ext cx="143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 smtClean="0"/>
              <a:t>hematite</a:t>
            </a:r>
            <a:r>
              <a:rPr lang="de-DE" sz="1200" dirty="0" smtClean="0"/>
              <a:t> </a:t>
            </a:r>
            <a:r>
              <a:rPr lang="de-DE" sz="1200" dirty="0" err="1" smtClean="0"/>
              <a:t>particle</a:t>
            </a:r>
            <a:r>
              <a:rPr lang="de-DE" sz="1200" dirty="0" smtClean="0"/>
              <a:t> on a </a:t>
            </a:r>
            <a:r>
              <a:rPr lang="de-DE" sz="1200" dirty="0" err="1" smtClean="0"/>
              <a:t>substrate</a:t>
            </a:r>
            <a:r>
              <a:rPr lang="de-DE" sz="1200" dirty="0" smtClean="0"/>
              <a:t> 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2449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58630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MeV Secondary Ion Mass Spectrometry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996940" y="1333500"/>
            <a:ext cx="15468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U Surrey</a:t>
            </a:r>
            <a:endParaRPr lang="de-DE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73684" y="906780"/>
            <a:ext cx="560133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Molecular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Mapping 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"Soft" electronic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desorption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:                                                              	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more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intact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large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molecules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            </a:t>
            </a:r>
            <a:r>
              <a:rPr lang="de-DE" sz="1200" dirty="0" smtClean="0">
                <a:latin typeface="Verdana" pitchFamily="34" charset="0"/>
              </a:rPr>
              <a:t> 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Option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operation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ambient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pressure</a:t>
            </a:r>
            <a:r>
              <a:rPr lang="de-DE" sz="1600" b="1" dirty="0" smtClean="0">
                <a:solidFill>
                  <a:srgbClr val="003E89"/>
                </a:solidFill>
                <a:latin typeface="Verdana" pitchFamily="34" charset="0"/>
              </a:rPr>
              <a:t>	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823" y="2167486"/>
            <a:ext cx="2677477" cy="316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2478341"/>
            <a:ext cx="4537710" cy="3528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feld 20"/>
          <p:cNvSpPr txBox="1"/>
          <p:nvPr/>
        </p:nvSpPr>
        <p:spPr>
          <a:xfrm>
            <a:off x="3596640" y="4145280"/>
            <a:ext cx="109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 smtClean="0"/>
              <a:t>leucine</a:t>
            </a:r>
            <a:r>
              <a:rPr lang="de-DE" sz="1200" dirty="0" smtClean="0"/>
              <a:t> (</a:t>
            </a:r>
            <a:r>
              <a:rPr lang="de-DE" sz="1200" dirty="0" err="1" smtClean="0"/>
              <a:t>amino</a:t>
            </a:r>
            <a:r>
              <a:rPr lang="de-DE" sz="1200" dirty="0" smtClean="0"/>
              <a:t> </a:t>
            </a:r>
            <a:r>
              <a:rPr lang="de-DE" sz="1200" dirty="0" err="1" smtClean="0"/>
              <a:t>acid</a:t>
            </a:r>
            <a:r>
              <a:rPr lang="de-DE" sz="1200" dirty="0" smtClean="0"/>
              <a:t>)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25660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519244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MeV SIMS: Forensic Applications?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421880" y="1455420"/>
            <a:ext cx="15468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U Surrey</a:t>
            </a:r>
            <a:endParaRPr lang="de-DE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16" y="1516381"/>
            <a:ext cx="6370320" cy="404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373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32782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Jet Sputtering by Electronic Energy Loss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37642" y="1798320"/>
            <a:ext cx="2025333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Marcel </a:t>
            </a:r>
            <a:r>
              <a:rPr lang="de-DE" sz="1200" b="1" dirty="0" err="1">
                <a:solidFill>
                  <a:srgbClr val="003E89"/>
                </a:solidFill>
                <a:latin typeface="Verdana" pitchFamily="34" charset="0"/>
              </a:rPr>
              <a:t>T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oulemonde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GANIL-CIRIL                Caen, France                    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462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              </a:t>
            </a:r>
            <a:r>
              <a:rPr lang="de-DE" sz="1100" b="1" dirty="0" smtClean="0">
                <a:solidFill>
                  <a:srgbClr val="003E89"/>
                </a:solidFill>
                <a:latin typeface="Verdana" pitchFamily="34" charset="0"/>
              </a:rPr>
              <a:t>UBW/TU </a:t>
            </a:r>
            <a:r>
              <a:rPr lang="de-DE" sz="1100" b="1" dirty="0" err="1" smtClean="0">
                <a:solidFill>
                  <a:srgbClr val="003E89"/>
                </a:solidFill>
                <a:latin typeface="Verdana" pitchFamily="34" charset="0"/>
              </a:rPr>
              <a:t>Munich</a:t>
            </a:r>
            <a:r>
              <a:rPr lang="de-DE" sz="11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66064" y="784860"/>
            <a:ext cx="424878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Very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high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sputtering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yield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Modified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thermal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spike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description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1005840" y="5425440"/>
            <a:ext cx="42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Thermal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component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and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jet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component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                </a:t>
            </a:r>
            <a:endParaRPr lang="de-DE" sz="1400" b="1" dirty="0">
              <a:solidFill>
                <a:srgbClr val="003E89"/>
              </a:solidFill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" y="2180590"/>
            <a:ext cx="4846602" cy="321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feld 18"/>
          <p:cNvSpPr txBox="1"/>
          <p:nvPr/>
        </p:nvSpPr>
        <p:spPr>
          <a:xfrm>
            <a:off x="838200" y="1973580"/>
            <a:ext cx="2354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latin typeface="+mj-lt"/>
              </a:rPr>
              <a:t>Heavy </a:t>
            </a:r>
            <a:r>
              <a:rPr lang="de-DE" sz="1400" b="1" dirty="0" err="1" smtClean="0">
                <a:latin typeface="+mj-lt"/>
              </a:rPr>
              <a:t>ion</a:t>
            </a:r>
            <a:r>
              <a:rPr lang="de-DE" sz="1400" b="1" dirty="0" smtClean="0">
                <a:latin typeface="+mj-lt"/>
              </a:rPr>
              <a:t> </a:t>
            </a:r>
            <a:r>
              <a:rPr lang="de-DE" sz="1400" b="1" dirty="0" err="1" smtClean="0">
                <a:latin typeface="+mj-lt"/>
              </a:rPr>
              <a:t>irradiation</a:t>
            </a:r>
            <a:r>
              <a:rPr lang="de-DE" sz="1400" b="1" dirty="0" smtClean="0">
                <a:latin typeface="+mj-lt"/>
              </a:rPr>
              <a:t>           200 </a:t>
            </a:r>
            <a:r>
              <a:rPr lang="de-DE" sz="1400" b="1" dirty="0" err="1" smtClean="0">
                <a:latin typeface="+mj-lt"/>
              </a:rPr>
              <a:t>MeV</a:t>
            </a:r>
            <a:r>
              <a:rPr lang="de-DE" sz="1400" b="1" dirty="0" smtClean="0">
                <a:latin typeface="+mj-lt"/>
              </a:rPr>
              <a:t> Au</a:t>
            </a:r>
            <a:r>
              <a:rPr lang="de-DE" sz="1400" b="1" baseline="30000" dirty="0" smtClean="0">
                <a:latin typeface="+mj-lt"/>
              </a:rPr>
              <a:t>+</a:t>
            </a:r>
            <a:r>
              <a:rPr lang="de-DE" sz="1400" b="1" dirty="0" smtClean="0">
                <a:latin typeface="+mj-lt"/>
              </a:rPr>
              <a:t>                 </a:t>
            </a:r>
            <a:endParaRPr lang="de-DE" sz="1400" b="1" dirty="0">
              <a:latin typeface="+mj-lt"/>
            </a:endParaRPr>
          </a:p>
        </p:txBody>
      </p:sp>
      <p:pic>
        <p:nvPicPr>
          <p:cNvPr id="17" name="Image 3" descr="n-g074"/>
          <p:cNvPicPr/>
          <p:nvPr/>
        </p:nvPicPr>
        <p:blipFill>
          <a:blip r:embed="rId5" cstate="print">
            <a:grayscl/>
            <a:lum bright="14000" contrast="20000"/>
          </a:blip>
          <a:srcRect l="31025" r="11949" b="64749"/>
          <a:stretch>
            <a:fillRect/>
          </a:stretch>
        </p:blipFill>
        <p:spPr bwMode="auto">
          <a:xfrm>
            <a:off x="4508500" y="3540125"/>
            <a:ext cx="127317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feld 20"/>
          <p:cNvSpPr txBox="1"/>
          <p:nvPr/>
        </p:nvSpPr>
        <p:spPr>
          <a:xfrm>
            <a:off x="4406265" y="4396740"/>
            <a:ext cx="1584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 err="1" smtClean="0">
                <a:latin typeface="+mj-lt"/>
              </a:rPr>
              <a:t>Sputtered</a:t>
            </a:r>
            <a:r>
              <a:rPr lang="de-DE" sz="1000" b="1" dirty="0" smtClean="0">
                <a:latin typeface="+mj-lt"/>
              </a:rPr>
              <a:t> </a:t>
            </a:r>
            <a:r>
              <a:rPr lang="de-DE" sz="1000" b="1" dirty="0" err="1" smtClean="0">
                <a:latin typeface="+mj-lt"/>
              </a:rPr>
              <a:t>clusters</a:t>
            </a:r>
            <a:r>
              <a:rPr lang="de-DE" sz="1000" b="1" dirty="0" smtClean="0">
                <a:latin typeface="+mj-lt"/>
              </a:rPr>
              <a:t> on </a:t>
            </a:r>
            <a:r>
              <a:rPr lang="de-DE" sz="1000" b="1" dirty="0" err="1" smtClean="0">
                <a:latin typeface="+mj-lt"/>
              </a:rPr>
              <a:t>catcher</a:t>
            </a:r>
            <a:endParaRPr lang="de-DE" sz="1000" b="1" dirty="0">
              <a:latin typeface="+mj-lt"/>
            </a:endParaRPr>
          </a:p>
        </p:txBody>
      </p:sp>
      <p:pic>
        <p:nvPicPr>
          <p:cNvPr id="23" name="Image 1" descr="D:\1a-work on F\1-1-a-MARCEL-2011\administration\logo\logo_cimap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13675" y="2276475"/>
            <a:ext cx="635000" cy="28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369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710506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Ion-Induced Intermixing of Metallic Multilayers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37642" y="1798320"/>
            <a:ext cx="244633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Momir Milosavljevic                          VINCA Institute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Belgrade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,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Serbia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462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              </a:t>
            </a:r>
            <a:r>
              <a:rPr lang="de-DE" sz="1100" b="1" dirty="0" smtClean="0">
                <a:solidFill>
                  <a:srgbClr val="003E89"/>
                </a:solidFill>
                <a:latin typeface="Verdana" pitchFamily="34" charset="0"/>
              </a:rPr>
              <a:t>University </a:t>
            </a:r>
            <a:r>
              <a:rPr lang="de-DE" sz="11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100" b="1" dirty="0" smtClean="0">
                <a:solidFill>
                  <a:srgbClr val="003E89"/>
                </a:solidFill>
                <a:latin typeface="Verdana" pitchFamily="34" charset="0"/>
              </a:rPr>
              <a:t> Surrey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66064" y="784860"/>
            <a:ext cx="538797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Collisional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potential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chemical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effects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</p:txBody>
      </p:sp>
      <p:grpSp>
        <p:nvGrpSpPr>
          <p:cNvPr id="2" name="Gruppieren 1"/>
          <p:cNvGrpSpPr/>
          <p:nvPr/>
        </p:nvGrpSpPr>
        <p:grpSpPr>
          <a:xfrm>
            <a:off x="671194" y="1299210"/>
            <a:ext cx="3877946" cy="4911090"/>
            <a:chOff x="1707514" y="1817370"/>
            <a:chExt cx="3565525" cy="433847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514" y="1817370"/>
              <a:ext cx="3565525" cy="4338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Textfeld 18"/>
            <p:cNvSpPr txBox="1"/>
            <p:nvPr/>
          </p:nvSpPr>
          <p:spPr>
            <a:xfrm>
              <a:off x="2217420" y="1882140"/>
              <a:ext cx="18592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 smtClean="0">
                  <a:latin typeface="+mj-lt"/>
                </a:rPr>
                <a:t>Ion Irradiation </a:t>
              </a:r>
              <a:r>
                <a:rPr lang="de-DE" sz="1400" b="1" dirty="0" err="1" smtClean="0">
                  <a:latin typeface="+mj-lt"/>
                </a:rPr>
                <a:t>and</a:t>
              </a:r>
              <a:r>
                <a:rPr lang="de-DE" sz="1400" b="1" dirty="0" smtClean="0">
                  <a:latin typeface="+mj-lt"/>
                </a:rPr>
                <a:t> RBS               </a:t>
              </a:r>
              <a:endParaRPr lang="de-DE" sz="1400" b="1" dirty="0">
                <a:latin typeface="+mj-lt"/>
              </a:endParaRPr>
            </a:p>
          </p:txBody>
        </p:sp>
      </p:grp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181" y="1808799"/>
            <a:ext cx="1661312" cy="1284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230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40723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Fusion reactor materials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60502" y="1844040"/>
            <a:ext cx="222535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R. Gonzalez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Arrabal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Inst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. Fusion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Nuclear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Madrid, Spain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1389699"/>
            <a:ext cx="6280744" cy="467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HZDR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205740" y="990600"/>
            <a:ext cx="323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solidFill>
                  <a:srgbClr val="003E89"/>
                </a:solidFill>
              </a:rPr>
              <a:t>RBS, ERD, NRA ; H Implantation</a:t>
            </a:r>
            <a:endParaRPr lang="de-DE" sz="1400" b="1" dirty="0">
              <a:solidFill>
                <a:srgbClr val="003E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9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428566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NiTi</a:t>
            </a:r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for prosthetic implants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37642" y="1798320"/>
            <a:ext cx="244633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Rui Martins  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Inst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.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Tecnol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. e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Nuclear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Lisbon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, Portugal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HZDR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66064" y="784860"/>
            <a:ext cx="49764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Superelasticity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Shape-Memory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Effects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But: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Biotoxicity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Ni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281940" y="1828800"/>
            <a:ext cx="5615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latin typeface="+mj-lt"/>
              </a:rPr>
              <a:t>Plasma Immersion Implantation 20...40 </a:t>
            </a:r>
            <a:r>
              <a:rPr lang="de-DE" sz="1400" b="1" dirty="0" err="1" smtClean="0">
                <a:latin typeface="+mj-lt"/>
              </a:rPr>
              <a:t>keV</a:t>
            </a:r>
            <a:r>
              <a:rPr lang="de-DE" sz="1400" b="1" dirty="0" smtClean="0">
                <a:latin typeface="+mj-lt"/>
              </a:rPr>
              <a:t> N</a:t>
            </a:r>
            <a:r>
              <a:rPr lang="de-DE" sz="1400" b="1" baseline="30000" dirty="0" smtClean="0">
                <a:latin typeface="+mj-lt"/>
              </a:rPr>
              <a:t>+</a:t>
            </a:r>
            <a:r>
              <a:rPr lang="de-DE" sz="1400" b="1" dirty="0" smtClean="0">
                <a:latin typeface="+mj-lt"/>
              </a:rPr>
              <a:t>+ O</a:t>
            </a:r>
            <a:r>
              <a:rPr lang="de-DE" sz="1400" b="1" baseline="30000" dirty="0" smtClean="0">
                <a:latin typeface="+mj-lt"/>
              </a:rPr>
              <a:t>+</a:t>
            </a:r>
            <a:endParaRPr lang="de-DE" sz="1400" b="1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846" y="2210797"/>
            <a:ext cx="2634838" cy="40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" y="2217420"/>
            <a:ext cx="2639749" cy="4017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feld 18"/>
          <p:cNvSpPr txBox="1"/>
          <p:nvPr/>
        </p:nvSpPr>
        <p:spPr>
          <a:xfrm>
            <a:off x="807720" y="2308860"/>
            <a:ext cx="5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solidFill>
                  <a:schemeClr val="bg1"/>
                </a:solidFill>
                <a:latin typeface="+mj-lt"/>
              </a:rPr>
              <a:t>O</a:t>
            </a:r>
            <a:r>
              <a:rPr lang="de-DE" sz="1400" b="1" baseline="30000" dirty="0" smtClean="0">
                <a:solidFill>
                  <a:schemeClr val="bg1"/>
                </a:solidFill>
                <a:latin typeface="+mj-lt"/>
              </a:rPr>
              <a:t>+</a:t>
            </a:r>
            <a:endParaRPr lang="de-DE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3398520" y="2308860"/>
            <a:ext cx="5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+mj-lt"/>
              </a:rPr>
              <a:t>N</a:t>
            </a:r>
            <a:r>
              <a:rPr lang="de-DE" sz="1400" b="1" baseline="30000" dirty="0" smtClean="0">
                <a:solidFill>
                  <a:schemeClr val="bg1"/>
                </a:solidFill>
                <a:latin typeface="+mj-lt"/>
              </a:rPr>
              <a:t>+</a:t>
            </a:r>
            <a:endParaRPr lang="de-DE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1150620" y="622554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Surface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layer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strongly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denuded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of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Ni</a:t>
            </a:r>
            <a:endParaRPr lang="de-DE" sz="1400" b="1" dirty="0">
              <a:solidFill>
                <a:srgbClr val="003E8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218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573346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Bioapplication</a:t>
            </a:r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of </a:t>
            </a:r>
            <a:r>
              <a:rPr lang="en-US" sz="2000" b="1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nanomaterials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417627" y="1844040"/>
            <a:ext cx="244633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Giacomo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Ceccone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EC Joint Research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Centre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Ispra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,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Italy</a:t>
            </a:r>
            <a:endParaRPr lang="de-DE" sz="1200" b="1" dirty="0" smtClean="0">
              <a:solidFill>
                <a:srgbClr val="003E89"/>
              </a:solidFill>
              <a:latin typeface="Verdana" pitchFamily="34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440487" y="3208020"/>
            <a:ext cx="157956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CNRS-CENBG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09904" y="914400"/>
            <a:ext cx="56013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Interaction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magnetic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nanoparticles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cells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65" y="2198370"/>
            <a:ext cx="3187077" cy="154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9" y="3755709"/>
            <a:ext cx="1618296" cy="160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094" y="3759519"/>
            <a:ext cx="1604961" cy="1604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4040505" y="1853565"/>
            <a:ext cx="1074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>
                <a:latin typeface="+mj-lt"/>
              </a:rPr>
              <a:t>Nucleus</a:t>
            </a:r>
            <a:endParaRPr lang="de-DE" sz="1400" dirty="0">
              <a:latin typeface="+mj-lt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2516505" y="1849755"/>
            <a:ext cx="1017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>
                <a:latin typeface="+mj-lt"/>
              </a:rPr>
              <a:t>Cytosol</a:t>
            </a:r>
            <a:endParaRPr lang="de-DE" sz="1400" dirty="0">
              <a:latin typeface="+mj-lt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3282315" y="3878580"/>
            <a:ext cx="1074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  <a:latin typeface="+mj-lt"/>
              </a:rPr>
              <a:t>C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4882515" y="3870960"/>
            <a:ext cx="5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>
                <a:solidFill>
                  <a:schemeClr val="bg1"/>
                </a:solidFill>
                <a:latin typeface="+mj-lt"/>
              </a:rPr>
              <a:t>Fe</a:t>
            </a:r>
            <a:endParaRPr lang="de-DE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3312795" y="1630680"/>
            <a:ext cx="87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latin typeface="+mj-lt"/>
              </a:rPr>
              <a:t>PIXE</a:t>
            </a:r>
            <a:endParaRPr lang="de-DE" sz="1400" b="1" dirty="0">
              <a:latin typeface="+mj-lt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2202180" y="5522595"/>
            <a:ext cx="387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Nanoparticles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decorate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the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perinuclear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region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of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the</a:t>
            </a:r>
            <a:r>
              <a:rPr lang="de-DE" sz="1400" b="1" dirty="0" smtClean="0">
                <a:solidFill>
                  <a:srgbClr val="003E89"/>
                </a:solidFill>
                <a:latin typeface="+mj-lt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+mj-lt"/>
              </a:rPr>
              <a:t>cell</a:t>
            </a:r>
            <a:endParaRPr lang="de-DE" sz="1400" b="1" dirty="0">
              <a:solidFill>
                <a:srgbClr val="003E89"/>
              </a:solidFill>
              <a:latin typeface="+mj-lt"/>
            </a:endParaRPr>
          </a:p>
        </p:txBody>
      </p:sp>
      <p:pic>
        <p:nvPicPr>
          <p:cNvPr id="2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25" y="3032850"/>
            <a:ext cx="1462560" cy="1329600"/>
          </a:xfrm>
          <a:prstGeom prst="rect">
            <a:avLst/>
          </a:prstGeom>
        </p:spPr>
      </p:pic>
      <p:sp>
        <p:nvSpPr>
          <p:cNvPr id="24" name="Textfeld 23"/>
          <p:cNvSpPr txBox="1"/>
          <p:nvPr/>
        </p:nvSpPr>
        <p:spPr>
          <a:xfrm>
            <a:off x="868680" y="2667000"/>
            <a:ext cx="937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latin typeface="+mj-lt"/>
              </a:rPr>
              <a:t>Optical</a:t>
            </a:r>
            <a:endParaRPr lang="de-DE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197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6" y="2369820"/>
            <a:ext cx="5509699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407230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Photocatalytic</a:t>
            </a:r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Thin Films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60502" y="1844040"/>
            <a:ext cx="231679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Nuno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Barradas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Inst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.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Tecnol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. e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Nuclear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Lisbon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, Portugal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HZDR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952500" y="2529840"/>
            <a:ext cx="323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solidFill>
                  <a:srgbClr val="003E89"/>
                </a:solidFill>
              </a:rPr>
              <a:t>HI-ERD</a:t>
            </a:r>
            <a:endParaRPr lang="de-DE" sz="1400" b="1" dirty="0">
              <a:solidFill>
                <a:srgbClr val="003E89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922020" y="5484257"/>
            <a:ext cx="5431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 smtClean="0">
                <a:solidFill>
                  <a:srgbClr val="003E89"/>
                </a:solidFill>
              </a:rPr>
              <a:t>Surprise</a:t>
            </a:r>
            <a:r>
              <a:rPr lang="de-DE" sz="1400" b="1" dirty="0" smtClean="0">
                <a:solidFill>
                  <a:srgbClr val="003E89"/>
                </a:solidFill>
              </a:rPr>
              <a:t>: </a:t>
            </a:r>
            <a:r>
              <a:rPr lang="de-DE" sz="1400" b="1" dirty="0" err="1">
                <a:solidFill>
                  <a:srgbClr val="003E89"/>
                </a:solidFill>
              </a:rPr>
              <a:t>t</a:t>
            </a:r>
            <a:r>
              <a:rPr lang="de-DE" sz="1400" b="1" dirty="0" err="1" smtClean="0">
                <a:solidFill>
                  <a:srgbClr val="003E89"/>
                </a:solidFill>
              </a:rPr>
              <a:t>here</a:t>
            </a:r>
            <a:r>
              <a:rPr lang="de-DE" sz="1400" b="1" dirty="0" smtClean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is</a:t>
            </a:r>
            <a:r>
              <a:rPr lang="de-DE" sz="1400" b="1" dirty="0" smtClean="0">
                <a:solidFill>
                  <a:srgbClr val="003E89"/>
                </a:solidFill>
              </a:rPr>
              <a:t> Na in </a:t>
            </a:r>
            <a:r>
              <a:rPr lang="de-DE" sz="1400" b="1" dirty="0" err="1" smtClean="0">
                <a:solidFill>
                  <a:srgbClr val="003E89"/>
                </a:solidFill>
              </a:rPr>
              <a:t>the</a:t>
            </a:r>
            <a:r>
              <a:rPr lang="de-DE" sz="1400" b="1" dirty="0" smtClean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films</a:t>
            </a:r>
            <a:r>
              <a:rPr lang="de-DE" sz="1400" b="1" dirty="0" smtClean="0">
                <a:solidFill>
                  <a:srgbClr val="003E89"/>
                </a:solidFill>
              </a:rPr>
              <a:t> (</a:t>
            </a:r>
            <a:r>
              <a:rPr lang="de-DE" sz="1400" b="1" dirty="0" err="1" smtClean="0">
                <a:solidFill>
                  <a:srgbClr val="003E89"/>
                </a:solidFill>
              </a:rPr>
              <a:t>from</a:t>
            </a:r>
            <a:r>
              <a:rPr lang="de-DE" sz="1400" b="1" dirty="0" smtClean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glass</a:t>
            </a:r>
            <a:r>
              <a:rPr lang="de-DE" sz="1400" b="1" dirty="0" smtClean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substrate</a:t>
            </a:r>
            <a:r>
              <a:rPr lang="de-DE" sz="1400" b="1" dirty="0" smtClean="0">
                <a:solidFill>
                  <a:srgbClr val="003E89"/>
                </a:solidFill>
              </a:rPr>
              <a:t>)</a:t>
            </a:r>
            <a:r>
              <a:rPr lang="de-DE" sz="1400" b="1" dirty="0">
                <a:solidFill>
                  <a:srgbClr val="003E89"/>
                </a:solidFill>
              </a:rPr>
              <a:t> </a:t>
            </a:r>
            <a:r>
              <a:rPr lang="de-DE" sz="1400" b="1" dirty="0" err="1">
                <a:solidFill>
                  <a:srgbClr val="003E89"/>
                </a:solidFill>
              </a:rPr>
              <a:t>Surprise</a:t>
            </a:r>
            <a:r>
              <a:rPr lang="de-DE" sz="1400" b="1" dirty="0">
                <a:solidFill>
                  <a:srgbClr val="003E89"/>
                </a:solidFill>
              </a:rPr>
              <a:t>: </a:t>
            </a:r>
            <a:r>
              <a:rPr lang="de-DE" sz="1400" b="1" dirty="0" err="1">
                <a:solidFill>
                  <a:srgbClr val="003E89"/>
                </a:solidFill>
              </a:rPr>
              <a:t>there</a:t>
            </a:r>
            <a:r>
              <a:rPr lang="de-DE" sz="1400" b="1" dirty="0">
                <a:solidFill>
                  <a:srgbClr val="003E89"/>
                </a:solidFill>
              </a:rPr>
              <a:t> </a:t>
            </a:r>
            <a:r>
              <a:rPr lang="de-DE" sz="1400" b="1" dirty="0" err="1">
                <a:solidFill>
                  <a:srgbClr val="003E89"/>
                </a:solidFill>
              </a:rPr>
              <a:t>is</a:t>
            </a:r>
            <a:r>
              <a:rPr lang="de-DE" sz="1400" b="1" dirty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more</a:t>
            </a:r>
            <a:r>
              <a:rPr lang="de-DE" sz="1400" b="1" dirty="0" smtClean="0">
                <a:solidFill>
                  <a:srgbClr val="003E89"/>
                </a:solidFill>
              </a:rPr>
              <a:t> C </a:t>
            </a:r>
            <a:r>
              <a:rPr lang="de-DE" sz="1400" b="1" dirty="0" err="1" smtClean="0">
                <a:solidFill>
                  <a:srgbClr val="003E89"/>
                </a:solidFill>
              </a:rPr>
              <a:t>than</a:t>
            </a:r>
            <a:r>
              <a:rPr lang="de-DE" sz="1400" b="1" dirty="0" smtClean="0">
                <a:solidFill>
                  <a:srgbClr val="003E89"/>
                </a:solidFill>
              </a:rPr>
              <a:t> N </a:t>
            </a:r>
            <a:r>
              <a:rPr lang="de-DE" sz="1400" b="1" dirty="0">
                <a:solidFill>
                  <a:srgbClr val="003E89"/>
                </a:solidFill>
              </a:rPr>
              <a:t>in </a:t>
            </a:r>
            <a:r>
              <a:rPr lang="de-DE" sz="1400" b="1" dirty="0" err="1">
                <a:solidFill>
                  <a:srgbClr val="003E89"/>
                </a:solidFill>
              </a:rPr>
              <a:t>the</a:t>
            </a:r>
            <a:r>
              <a:rPr lang="de-DE" sz="1400" b="1" dirty="0">
                <a:solidFill>
                  <a:srgbClr val="003E89"/>
                </a:solidFill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</a:rPr>
              <a:t>films</a:t>
            </a:r>
            <a:endParaRPr lang="de-DE" sz="1400" b="1" dirty="0">
              <a:solidFill>
                <a:srgbClr val="003E89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09904" y="914400"/>
            <a:ext cx="5601336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TiO</a:t>
            </a:r>
            <a:r>
              <a:rPr lang="de-DE" sz="1400" b="1" baseline="-25000" dirty="0" smtClean="0">
                <a:solidFill>
                  <a:srgbClr val="003E89"/>
                </a:solidFill>
                <a:latin typeface="Verdana" pitchFamily="34" charset="0"/>
              </a:rPr>
              <a:t>2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(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anatase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)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for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environmental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decontamination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N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doping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for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activation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by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visible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light</a:t>
            </a: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endParaRPr lang="de-DE" sz="1200" b="1" dirty="0">
              <a:solidFill>
                <a:srgbClr val="003E89"/>
              </a:solidFill>
              <a:latin typeface="Verdana" pitchFamily="34" charset="0"/>
            </a:endParaRPr>
          </a:p>
          <a:p>
            <a:pPr defTabSz="447675">
              <a:spcBef>
                <a:spcPct val="50000"/>
              </a:spcBef>
            </a:pPr>
            <a:r>
              <a:rPr lang="de-DE" sz="1200" b="1" dirty="0" err="1" smtClean="0">
                <a:latin typeface="Verdana" pitchFamily="34" charset="0"/>
              </a:rPr>
              <a:t>Thin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film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deposition</a:t>
            </a:r>
            <a:r>
              <a:rPr lang="de-DE" sz="1200" b="1" dirty="0" smtClean="0">
                <a:latin typeface="Verdana" pitchFamily="34" charset="0"/>
              </a:rPr>
              <a:t>: </a:t>
            </a:r>
            <a:r>
              <a:rPr lang="de-DE" sz="1200" b="1" dirty="0" err="1" smtClean="0">
                <a:latin typeface="Verdana" pitchFamily="34" charset="0"/>
              </a:rPr>
              <a:t>Reactive</a:t>
            </a:r>
            <a:r>
              <a:rPr lang="de-DE" sz="1200" b="1" dirty="0" smtClean="0">
                <a:latin typeface="Verdana" pitchFamily="34" charset="0"/>
              </a:rPr>
              <a:t> DC </a:t>
            </a:r>
            <a:r>
              <a:rPr lang="de-DE" sz="1200" b="1" dirty="0" err="1" smtClean="0">
                <a:latin typeface="Verdana" pitchFamily="34" charset="0"/>
              </a:rPr>
              <a:t>magnetron</a:t>
            </a:r>
            <a:r>
              <a:rPr lang="de-DE" sz="1200" b="1" dirty="0" smtClean="0">
                <a:latin typeface="Verdana" pitchFamily="34" charset="0"/>
              </a:rPr>
              <a:t> </a:t>
            </a:r>
            <a:r>
              <a:rPr lang="de-DE" sz="1200" b="1" dirty="0" err="1" smtClean="0">
                <a:latin typeface="Verdana" pitchFamily="34" charset="0"/>
              </a:rPr>
              <a:t>sputtering</a:t>
            </a:r>
            <a:r>
              <a:rPr lang="de-DE" sz="1200" b="1" dirty="0">
                <a:latin typeface="Verdana" pitchFamily="34" charset="0"/>
              </a:rPr>
              <a:t> </a:t>
            </a:r>
            <a:r>
              <a:rPr lang="de-DE" sz="1200" b="1" dirty="0" smtClean="0">
                <a:latin typeface="Verdana" pitchFamily="34" charset="0"/>
              </a:rPr>
              <a:t>      	</a:t>
            </a:r>
            <a:r>
              <a:rPr lang="de-DE" sz="1200" b="1" dirty="0" err="1" smtClean="0">
                <a:latin typeface="Verdana" pitchFamily="34" charset="0"/>
              </a:rPr>
              <a:t>with</a:t>
            </a:r>
            <a:r>
              <a:rPr lang="de-DE" sz="1200" b="1" dirty="0" smtClean="0">
                <a:latin typeface="Verdana" pitchFamily="34" charset="0"/>
              </a:rPr>
              <a:t> N </a:t>
            </a:r>
            <a:r>
              <a:rPr lang="de-DE" sz="1200" b="1" dirty="0" err="1" smtClean="0">
                <a:latin typeface="Verdana" pitchFamily="34" charset="0"/>
              </a:rPr>
              <a:t>codoping</a:t>
            </a:r>
            <a:r>
              <a:rPr lang="de-DE" sz="1200" b="1" dirty="0" smtClean="0">
                <a:latin typeface="Verdana" pitchFamily="34" charset="0"/>
              </a:rPr>
              <a:t>                                                                                                                     </a:t>
            </a:r>
            <a:r>
              <a:rPr lang="de-DE" sz="1200" dirty="0" smtClean="0"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158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271096" y="288382"/>
            <a:ext cx="6685964" cy="400110"/>
          </a:xfrm>
          <a:prstGeom prst="rect">
            <a:avLst/>
          </a:prstGeom>
          <a:solidFill>
            <a:srgbClr val="3C689E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Phytoremediation of Agricultural Pollutants</a:t>
            </a:r>
            <a:endParaRPr lang="en-US" sz="20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8" name="Picture 11" descr="logo-spirit-web_rah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515" y="194945"/>
            <a:ext cx="819785" cy="9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537642" y="1798320"/>
            <a:ext cx="244633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User                                  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Lyudmilla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200" b="1" dirty="0" err="1" smtClean="0">
                <a:solidFill>
                  <a:srgbClr val="003E89"/>
                </a:solidFill>
                <a:latin typeface="Verdana" pitchFamily="34" charset="0"/>
              </a:rPr>
              <a:t>Lyubenova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Helmholtz Zentrum                        München, Germany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6583362" y="3208020"/>
            <a:ext cx="207295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7675">
              <a:spcBef>
                <a:spcPct val="50000"/>
              </a:spcBef>
            </a:pPr>
            <a:r>
              <a:rPr lang="de-DE" sz="1100" b="1" dirty="0" smtClean="0">
                <a:latin typeface="Verdana" pitchFamily="34" charset="0"/>
              </a:rPr>
              <a:t>Infrastructure </a:t>
            </a:r>
            <a:r>
              <a:rPr lang="de-DE" sz="1200" b="1" dirty="0" smtClean="0">
                <a:solidFill>
                  <a:srgbClr val="003E89"/>
                </a:solidFill>
                <a:latin typeface="Verdana" pitchFamily="34" charset="0"/>
              </a:rPr>
              <a:t>                                               JSI Ljubljana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782444" y="883920"/>
            <a:ext cx="4976496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Localization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of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nutrition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elements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and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metals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in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plants</a:t>
            </a:r>
            <a:endParaRPr lang="de-DE" sz="1400" b="1" dirty="0" smtClean="0">
              <a:solidFill>
                <a:srgbClr val="003E89"/>
              </a:solidFill>
              <a:latin typeface="Verdana" pitchFamily="34" charset="0"/>
            </a:endParaRPr>
          </a:p>
          <a:p>
            <a:pPr marL="285750" indent="-285750" defTabSz="447675">
              <a:spcBef>
                <a:spcPct val="50000"/>
              </a:spcBef>
              <a:buFont typeface="Arial" pitchFamily="34" charset="0"/>
              <a:buChar char="•"/>
            </a:pP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Defence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mechanisms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against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  <a:r>
              <a:rPr lang="de-DE" sz="1400" b="1" dirty="0" err="1" smtClean="0">
                <a:solidFill>
                  <a:srgbClr val="003E89"/>
                </a:solidFill>
                <a:latin typeface="Verdana" pitchFamily="34" charset="0"/>
              </a:rPr>
              <a:t>uptake</a:t>
            </a:r>
            <a:r>
              <a:rPr lang="de-DE" sz="1400" b="1" dirty="0" smtClean="0">
                <a:solidFill>
                  <a:srgbClr val="003E89"/>
                </a:solidFill>
                <a:latin typeface="Verdana" pitchFamily="34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530" y="2600960"/>
            <a:ext cx="3633470" cy="3643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9" y="3729039"/>
            <a:ext cx="2084286" cy="216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42" y="1028701"/>
            <a:ext cx="1440022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260" y="2412683"/>
            <a:ext cx="2800525" cy="21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feld 26"/>
          <p:cNvSpPr txBox="1"/>
          <p:nvPr/>
        </p:nvSpPr>
        <p:spPr>
          <a:xfrm>
            <a:off x="2316480" y="2148840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>
                <a:latin typeface="+mj-lt"/>
              </a:rPr>
              <a:t> </a:t>
            </a:r>
            <a:r>
              <a:rPr lang="el-GR" sz="1400" b="1" dirty="0" smtClean="0">
                <a:latin typeface="+mj-lt"/>
              </a:rPr>
              <a:t>μ</a:t>
            </a:r>
            <a:r>
              <a:rPr lang="de-DE" sz="1400" b="1" dirty="0" smtClean="0">
                <a:latin typeface="+mj-lt"/>
              </a:rPr>
              <a:t>PIXE</a:t>
            </a:r>
            <a:endParaRPr lang="de-DE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334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aesentation_Bild_Master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3E8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3E8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Benutzerdefinierte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Ganymed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3E8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3E8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enutzerdefinierte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Praesentation_Bild_Master</Template>
  <TotalTime>0</TotalTime>
  <Words>594</Words>
  <Application>Microsoft Office PowerPoint</Application>
  <PresentationFormat>Overheadfolien</PresentationFormat>
  <Paragraphs>158</Paragraphs>
  <Slides>22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22</vt:i4>
      </vt:variant>
    </vt:vector>
  </HeadingPairs>
  <TitlesOfParts>
    <vt:vector size="24" baseType="lpstr">
      <vt:lpstr>Praesentation_Bild_Master</vt:lpstr>
      <vt:lpstr>Benutzerdefiniertes 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Moeller, Wolfhard</dc:creator>
  <cp:lastModifiedBy>Moeller, Wolfhard</cp:lastModifiedBy>
  <cp:revision>83</cp:revision>
  <dcterms:created xsi:type="dcterms:W3CDTF">2011-02-07T12:53:51Z</dcterms:created>
  <dcterms:modified xsi:type="dcterms:W3CDTF">2011-06-17T11:22:26Z</dcterms:modified>
</cp:coreProperties>
</file>