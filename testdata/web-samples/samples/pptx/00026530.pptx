
<file path=[Content_Types].xml><?xml version="1.0" encoding="utf-8"?>
<Types xmlns="http://schemas.openxmlformats.org/package/2006/content-types">
  <Override PartName="/ppt/slideLayouts/slideLayout8.xml" ContentType="application/vnd.openxmlformats-officedocument.presentationml.slideLayout+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14.xml" ContentType="application/vnd.openxmlformats-officedocument.presentationml.notesSlide+xml"/>
  <Override PartName="/ppt/slides/slide22.xml" ContentType="application/vnd.openxmlformats-officedocument.presentationml.slide+xml"/>
  <Override PartName="/ppt/theme/theme2.xml" ContentType="application/vnd.openxmlformats-officedocument.theme+xml"/>
  <Override PartName="/ppt/notesSlides/notesSlide11.xml" ContentType="application/vnd.openxmlformats-officedocument.presentationml.notesSlide+xml"/>
  <Override PartName="/ppt/slides/slide2.xml" ContentType="application/vnd.openxmlformats-officedocument.presentationml.slide+xml"/>
  <Override PartName="/docProps/app.xml" ContentType="application/vnd.openxmlformats-officedocument.extended-properties+xml"/>
  <Override PartName="/ppt/notesSlides/notesSlide9.xml" ContentType="application/vnd.openxmlformats-officedocument.presentationml.notesSlide+xml"/>
  <Override PartName="/ppt/notesSlides/notesSlide25.xml" ContentType="application/vnd.openxmlformats-officedocument.presentationml.notesSlide+xml"/>
  <Override PartName="/ppt/slides/slide11.xml" ContentType="application/vnd.openxmlformats-officedocument.presentationml.slide+xml"/>
  <Override PartName="/ppt/slides/slide18.xml" ContentType="application/vnd.openxmlformats-officedocument.presentationml.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slideLayouts/slideLayout3.xml" ContentType="application/vnd.openxmlformats-officedocument.presentationml.slideLayout+xml"/>
  <Override PartName="/ppt/slides/slide21.xml" ContentType="application/vnd.openxmlformats-officedocument.presentationml.slide+xml"/>
  <Override PartName="/ppt/slideLayouts/slideLayout5.xml" ContentType="application/vnd.openxmlformats-officedocument.presentationml.slideLayout+xml"/>
  <Override PartName="/ppt/slides/slide23.xml" ContentType="application/vnd.openxmlformats-officedocument.presentationml.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slides/slide1.xml" ContentType="application/vnd.openxmlformats-officedocument.presentationml.slide+xml"/>
  <Override PartName="/ppt/tableStyles.xml" ContentType="application/vnd.openxmlformats-officedocument.presentationml.tableStyles+xml"/>
  <Default Extension="xml" ContentType="application/xml"/>
  <Override PartName="/ppt/slides/slide7.xml" ContentType="application/vnd.openxmlformats-officedocument.presentationml.slide+xml"/>
  <Override PartName="/ppt/slides/slide26.xml" ContentType="application/vnd.openxmlformats-officedocument.presentationml.slide+xml"/>
  <Override PartName="/ppt/slideMasters/slideMaster1.xml" ContentType="application/vnd.openxmlformats-officedocument.presentationml.slideMaster+xml"/>
  <Override PartName="/ppt/viewProps.xml" ContentType="application/vnd.openxmlformats-officedocument.presentationml.viewProps+xml"/>
  <Override PartName="/ppt/notesSlides/notesSlide7.xml" ContentType="application/vnd.openxmlformats-officedocument.presentationml.notesSlide+xml"/>
  <Override PartName="/ppt/notesSlides/notesSlide15.xml" ContentType="application/vnd.openxmlformats-officedocument.presentationml.notesSlide+xml"/>
  <Override PartName="/ppt/slides/slide25.xml" ContentType="application/vnd.openxmlformats-officedocument.presentationml.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slides/slide13.xml" ContentType="application/vnd.openxmlformats-officedocument.presentationml.slide+xml"/>
  <Override PartName="/ppt/slides/slide14.xml" ContentType="application/vnd.openxmlformats-officedocument.presentationml.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slides/slide20.xml" ContentType="application/vnd.openxmlformats-officedocument.presentationml.slide+xml"/>
  <Override PartName="/ppt/slides/slide17.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2.xml" ContentType="application/vnd.openxmlformats-officedocument.presentationml.slideLayout+xml"/>
  <Override PartName="/ppt/notesSlides/notesSlide13.xml" ContentType="application/vnd.openxmlformats-officedocument.presentationml.notesSlide+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theme/theme1.xml" ContentType="application/vnd.openxmlformats-officedocument.theme+xml"/>
  <Override PartName="/ppt/slideLayouts/slideLayout6.xml" ContentType="application/vnd.openxmlformats-officedocument.presentationml.slideLayout+xml"/>
  <Override PartName="/ppt/presentation.xml" ContentType="application/vnd.openxmlformats-officedocument.presentationml.presentation.main+xml"/>
  <Override PartName="/ppt/slides/slide5.xml" ContentType="application/vnd.openxmlformats-officedocument.presentationml.slide+xml"/>
  <Override PartName="/ppt/slideLayouts/slideLayout14.xml" ContentType="application/vnd.openxmlformats-officedocument.presentationml.slideLayout+xml"/>
  <Override PartName="/ppt/slides/slide10.xml" ContentType="application/vnd.openxmlformats-officedocument.presentationml.slide+xml"/>
  <Override PartName="/ppt/slideLayouts/slideLayout7.xml" ContentType="application/vnd.openxmlformats-officedocument.presentationml.slideLayout+xml"/>
  <Override PartName="/ppt/presProps.xml" ContentType="application/vnd.openxmlformats-officedocument.presentationml.presProps+xml"/>
  <Default Extension="jpeg" ContentType="image/jpeg"/>
  <Override PartName="/ppt/notesSlides/notesSlide18.xml" ContentType="application/vnd.openxmlformats-officedocument.presentationml.notesSlide+xml"/>
  <Default Extension="png" ContentType="image/png"/>
  <Override PartName="/ppt/slides/slide3.xml" ContentType="application/vnd.openxmlformats-officedocument.presentationml.slide+xml"/>
  <Override PartName="/ppt/slides/slide4.xml" ContentType="application/vnd.openxmlformats-officedocument.presentationml.slide+xml"/>
  <Override PartName="/ppt/slideLayouts/slideLayout11.xml" ContentType="application/vnd.openxmlformats-officedocument.presentationml.slideLayout+xml"/>
  <Override PartName="/ppt/notesSlides/notesSlide8.xml" ContentType="application/vnd.openxmlformats-officedocument.presentationml.notesSlide+xml"/>
  <Override PartName="/docProps/core.xml" ContentType="application/vnd.openxmlformats-package.core-properties+xml"/>
  <Override PartName="/ppt/slideLayouts/slideLayout16.xml" ContentType="application/vnd.openxmlformats-officedocument.presentationml.slideLayout+xml"/>
  <Override PartName="/ppt/slideLayouts/slideLayout13.xml" ContentType="application/vnd.openxmlformats-officedocument.presentationml.slideLayout+xml"/>
  <Override PartName="/ppt/slides/slide8.xml" ContentType="application/vnd.openxmlformats-officedocument.presentationml.slide+xml"/>
  <Override PartName="/ppt/slides/slide15.xml" ContentType="application/vnd.openxmlformats-officedocument.presentationml.slide+xml"/>
  <Default Extension="bin" ContentType="application/vnd.openxmlformats-officedocument.presentationml.printerSettings"/>
  <Override PartName="/ppt/slideLayouts/slideLayout15.xml" ContentType="application/vnd.openxmlformats-officedocument.presentationml.slideLayout+xml"/>
  <Override PartName="/ppt/notesSlides/notesSlide10.xml" ContentType="application/vnd.openxmlformats-officedocument.presentationml.notesSlide+xml"/>
  <Override PartName="/ppt/slides/slide9.xml" ContentType="application/vnd.openxmlformats-officedocument.presentationml.slide+xml"/>
  <Default Extension="rels" ContentType="application/vnd.openxmlformats-package.relationships+xml"/>
  <Override PartName="/ppt/notesSlides/notesSlide24.xml" ContentType="application/vnd.openxmlformats-officedocument.presentationml.notesSlide+xml"/>
  <Override PartName="/ppt/slides/slide24.xml" ContentType="application/vnd.openxmlformats-officedocument.presentationml.slide+xml"/>
  <Override PartName="/ppt/slides/slide6.xml" ContentType="application/vnd.openxmlformats-officedocument.presentationml.slide+xml"/>
  <Override PartName="/ppt/slides/slide16.xml" ContentType="application/vnd.openxmlformats-officedocument.presentationml.slide+xml"/>
  <Default Extension="pdf" ContentType="application/pdf"/>
  <Override PartName="/ppt/slideLayouts/slideLayout12.xml" ContentType="application/vnd.openxmlformats-officedocument.presentationml.slideLayout+xml"/>
  <Override PartName="/ppt/slides/slide19.xml" ContentType="application/vnd.openxmlformats-officedocument.presentationml.slide+xml"/>
  <Override PartName="/ppt/slides/slide12.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2" Type="http://schemas.openxmlformats.org/package/2006/relationships/metadata/core-properties" Target="docProps/core.xml"/><Relationship Id="rId3" Type="http://schemas.openxmlformats.org/officeDocument/2006/relationships/extended-properties" Target="docProps/app.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p:sldMasterIdLst>
    <p:sldMasterId r:id="rId1"/>
  </p:sldMasterIdLst>
  <p:notesMasterIdLst>
    <p:notesMasterId r:id="rId28"/>
  </p:notesMasterIdLst>
  <p:sldIdLst>
    <p:sldId id="266" r:id="rId2"/>
    <p:sldId id="269" r:id="rId3"/>
    <p:sldId id="297" r:id="rId4"/>
    <p:sldId id="296" r:id="rId5"/>
    <p:sldId id="298" r:id="rId6"/>
    <p:sldId id="271" r:id="rId7"/>
    <p:sldId id="272" r:id="rId8"/>
    <p:sldId id="275" r:id="rId9"/>
    <p:sldId id="277" r:id="rId10"/>
    <p:sldId id="278" r:id="rId11"/>
    <p:sldId id="292" r:id="rId12"/>
    <p:sldId id="279" r:id="rId13"/>
    <p:sldId id="280" r:id="rId14"/>
    <p:sldId id="281" r:id="rId15"/>
    <p:sldId id="282" r:id="rId16"/>
    <p:sldId id="283" r:id="rId17"/>
    <p:sldId id="287" r:id="rId18"/>
    <p:sldId id="288" r:id="rId19"/>
    <p:sldId id="289" r:id="rId20"/>
    <p:sldId id="290" r:id="rId21"/>
    <p:sldId id="293" r:id="rId22"/>
    <p:sldId id="294" r:id="rId23"/>
    <p:sldId id="295" r:id="rId24"/>
    <p:sldId id="291" r:id="rId25"/>
    <p:sldId id="285" r:id="rId26"/>
    <p:sldId id="286"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lrMru>
    <a:srgbClr val="FFFFFF"/>
    <a:srgbClr val="CC33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showOutlineIcons="0">
    <p:restoredLeft sz="15620"/>
    <p:restoredTop sz="82794" autoAdjust="0"/>
  </p:normalViewPr>
  <p:slideViewPr>
    <p:cSldViewPr>
      <p:cViewPr>
        <p:scale>
          <a:sx n="80" d="100"/>
          <a:sy n="80" d="100"/>
        </p:scale>
        <p:origin x="-1160" y="-22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31" Type="http://schemas.openxmlformats.org/officeDocument/2006/relationships/viewProps" Target="viewProps.xml"/><Relationship Id="rId7" Type="http://schemas.openxmlformats.org/officeDocument/2006/relationships/slide" Target="slides/slide6.xml"/><Relationship Id="rId1" Type="http://schemas.openxmlformats.org/officeDocument/2006/relationships/slideMaster" Target="slideMasters/slideMaster1.xml"/><Relationship Id="rId24" Type="http://schemas.openxmlformats.org/officeDocument/2006/relationships/slide" Target="slides/slide23.xml"/><Relationship Id="rId25" Type="http://schemas.openxmlformats.org/officeDocument/2006/relationships/slide" Target="slides/slide24.xml"/><Relationship Id="rId8" Type="http://schemas.openxmlformats.org/officeDocument/2006/relationships/slide" Target="slides/slide7.xml"/><Relationship Id="rId13" Type="http://schemas.openxmlformats.org/officeDocument/2006/relationships/slide" Target="slides/slide12.xml"/><Relationship Id="rId10" Type="http://schemas.openxmlformats.org/officeDocument/2006/relationships/slide" Target="slides/slide9.xml"/><Relationship Id="rId32"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9" Type="http://schemas.openxmlformats.org/officeDocument/2006/relationships/slide" Target="slides/slide8.xml"/><Relationship Id="rId18" Type="http://schemas.openxmlformats.org/officeDocument/2006/relationships/slide" Target="slides/slide17.xml"/><Relationship Id="rId3" Type="http://schemas.openxmlformats.org/officeDocument/2006/relationships/slide" Target="slides/slide2.xml"/><Relationship Id="rId27" Type="http://schemas.openxmlformats.org/officeDocument/2006/relationships/slide" Target="slides/slide26.xml"/><Relationship Id="rId14" Type="http://schemas.openxmlformats.org/officeDocument/2006/relationships/slide" Target="slides/slide13.xml"/><Relationship Id="rId23" Type="http://schemas.openxmlformats.org/officeDocument/2006/relationships/slide" Target="slides/slide22.xml"/><Relationship Id="rId4" Type="http://schemas.openxmlformats.org/officeDocument/2006/relationships/slide" Target="slides/slide3.xml"/><Relationship Id="rId28" Type="http://schemas.openxmlformats.org/officeDocument/2006/relationships/notesMaster" Target="notesMasters/notesMaster1.xml"/><Relationship Id="rId26" Type="http://schemas.openxmlformats.org/officeDocument/2006/relationships/slide" Target="slides/slide25.xml"/><Relationship Id="rId30" Type="http://schemas.openxmlformats.org/officeDocument/2006/relationships/presProps" Target="presProps.xml"/><Relationship Id="rId11" Type="http://schemas.openxmlformats.org/officeDocument/2006/relationships/slide" Target="slides/slide10.xml"/><Relationship Id="rId29" Type="http://schemas.openxmlformats.org/officeDocument/2006/relationships/printerSettings" Target="printerSettings/printerSettings1.bin"/><Relationship Id="rId6" Type="http://schemas.openxmlformats.org/officeDocument/2006/relationships/slide" Target="slides/slide5.xml"/><Relationship Id="rId16" Type="http://schemas.openxmlformats.org/officeDocument/2006/relationships/slide" Target="slides/slide15.xml"/><Relationship Id="rId3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19" Type="http://schemas.openxmlformats.org/officeDocument/2006/relationships/slide" Target="slides/slide18.xml"/><Relationship Id="rId20" Type="http://schemas.openxmlformats.org/officeDocument/2006/relationships/slide" Target="slides/slide19.xml"/><Relationship Id="rId22" Type="http://schemas.openxmlformats.org/officeDocument/2006/relationships/slide" Target="slides/slide21.xml"/><Relationship Id="rId21" Type="http://schemas.openxmlformats.org/officeDocument/2006/relationships/slide" Target="slides/slide20.xml"/><Relationship Id="rId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0BB6A0-1B30-7C47-A2AA-FB0900391DFE}" type="datetimeFigureOut">
              <a:rPr lang="en-US" smtClean="0"/>
              <a:pPr/>
              <a:t>12/18/08</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F6D1FE-CD29-1C45-944F-7CAAC3C940EE}"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The reason to include definitions is to set</a:t>
            </a:r>
            <a:r>
              <a:rPr lang="en-GB" baseline="0" dirty="0" smtClean="0"/>
              <a:t> the background of this presentation in the correct context. There are many definitions of each of these terms in various different communities including our own where people see the word Repository encompassing more or less than it should (by my definition). </a:t>
            </a:r>
          </a:p>
          <a:p>
            <a:endParaRPr lang="en-GB" baseline="0" dirty="0" smtClean="0"/>
          </a:p>
          <a:p>
            <a:r>
              <a:rPr lang="en-GB" baseline="0" dirty="0" smtClean="0"/>
              <a:t>Specifically on this slide I want to introduce the definitions used throughout for Service and Process. Here a service provides something tangible and a process can invoke or call upon many services or processes in order to complete and is not singular in its workflow progression.</a:t>
            </a:r>
          </a:p>
          <a:p>
            <a:endParaRPr lang="en-GB" baseline="0" dirty="0" smtClean="0"/>
          </a:p>
          <a:p>
            <a:r>
              <a:rPr lang="en-GB" baseline="0" dirty="0" smtClean="0"/>
              <a:t>In a repository Ingest is a process which comes in many forms, as is preservation. </a:t>
            </a:r>
          </a:p>
          <a:p>
            <a:endParaRPr lang="en-GB" baseline="0" dirty="0" smtClean="0"/>
          </a:p>
          <a:p>
            <a:r>
              <a:rPr lang="en-GB" baseline="0" dirty="0" smtClean="0"/>
              <a:t>  </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2</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So</a:t>
            </a:r>
            <a:r>
              <a:rPr lang="en-GB" baseline="0" dirty="0" smtClean="0"/>
              <a:t> lets introduce this model of what the repository is from the point of view of the Library (the one which actually holds books and printed material). </a:t>
            </a:r>
          </a:p>
          <a:p>
            <a:endParaRPr lang="en-GB" baseline="0" dirty="0" smtClean="0"/>
          </a:p>
          <a:p>
            <a:r>
              <a:rPr lang="en-GB" baseline="0" dirty="0" smtClean="0"/>
              <a:t>For a library to exist and the continue to run efficiently an infrastructure has to exist complemented by a series of processes which are either internal or may provide services to the users of the library. </a:t>
            </a:r>
          </a:p>
          <a:p>
            <a:endParaRPr lang="en-GB" baseline="0" dirty="0" smtClean="0"/>
          </a:p>
          <a:p>
            <a:r>
              <a:rPr lang="en-GB" baseline="0" dirty="0" smtClean="0"/>
              <a:t>The key thing to point out here is that preservation is an active but unseen process in a library which keeps the materials in good order and available for loan. </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3</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So lets look at the Digital Repository.</a:t>
            </a:r>
            <a:r>
              <a:rPr lang="en-GB" baseline="0" dirty="0" smtClean="0"/>
              <a:t> </a:t>
            </a:r>
          </a:p>
          <a:p>
            <a:endParaRPr lang="en-GB" baseline="0" dirty="0" smtClean="0"/>
          </a:p>
          <a:p>
            <a:r>
              <a:rPr lang="en-GB" baseline="0" dirty="0" smtClean="0"/>
              <a:t>We see here that the mapping between the library and the digital library can be mapped as a one-to-one and thus the same sort of services and processes exist. </a:t>
            </a:r>
          </a:p>
          <a:p>
            <a:r>
              <a:rPr lang="en-GB" baseline="0" dirty="0" smtClean="0"/>
              <a:t>This DOES NOT mean that you can simply map what is done in the library on to the digital repository as the digital repository introduces a set of new opportunities as well as a new set of problems. </a:t>
            </a:r>
          </a:p>
          <a:p>
            <a:endParaRPr lang="en-GB" baseline="0" dirty="0" smtClean="0"/>
          </a:p>
          <a:p>
            <a:r>
              <a:rPr lang="en-GB" baseline="0" dirty="0" smtClean="0"/>
              <a:t>The key point from this slide is the slight change in the Clifford Lynch definition of the IR. It is important to realise that the IR doesn’t just offer a set of services but has to include an underlying set of processes for the management of the resources contained in the Repository.</a:t>
            </a:r>
          </a:p>
          <a:p>
            <a:endParaRPr lang="en-GB" baseline="0" dirty="0" smtClean="0"/>
          </a:p>
          <a:p>
            <a:r>
              <a:rPr lang="en-GB" baseline="0" dirty="0" smtClean="0"/>
              <a:t>So lets look at which processes exist according to </a:t>
            </a:r>
            <a:r>
              <a:rPr lang="en-GB" baseline="0" smtClean="0"/>
              <a:t>current models…</a:t>
            </a:r>
          </a:p>
          <a:p>
            <a:endParaRPr lang="en-GB" baseline="0" smtClean="0"/>
          </a:p>
          <a:p>
            <a:r>
              <a:rPr lang="en-GB" baseline="0" dirty="0" smtClean="0"/>
              <a:t> </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4</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The reason to include definitions is to set</a:t>
            </a:r>
            <a:r>
              <a:rPr lang="en-GB" baseline="0" dirty="0" smtClean="0"/>
              <a:t> the background of this presentation in the correct context. There are many definitions of each of these terms in various different communities including our own where people see the word Repository encompassing more or less than it should (by my definition). </a:t>
            </a:r>
          </a:p>
          <a:p>
            <a:endParaRPr lang="en-GB" baseline="0" dirty="0" smtClean="0"/>
          </a:p>
          <a:p>
            <a:r>
              <a:rPr lang="en-GB" baseline="0" dirty="0" smtClean="0"/>
              <a:t>Specifically on this slide I want to introduce the definitions used throughout for Service and Process. Here a service provides something tangible and a process can invoke or call upon many services or processes in order to complete and is not singular in its workflow progression.</a:t>
            </a:r>
          </a:p>
          <a:p>
            <a:endParaRPr lang="en-GB" baseline="0" dirty="0" smtClean="0"/>
          </a:p>
          <a:p>
            <a:r>
              <a:rPr lang="en-GB" baseline="0" dirty="0" smtClean="0"/>
              <a:t>In a repository Ingest is a process which comes in many forms, as is preservation. </a:t>
            </a:r>
          </a:p>
          <a:p>
            <a:endParaRPr lang="en-GB" baseline="0" dirty="0" smtClean="0"/>
          </a:p>
          <a:p>
            <a:r>
              <a:rPr lang="en-GB" baseline="0" dirty="0" smtClean="0"/>
              <a:t>  </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5</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I figured I’d start with the OAIS</a:t>
            </a:r>
            <a:r>
              <a:rPr lang="en-GB" baseline="0" dirty="0" smtClean="0"/>
              <a:t> model and look at how processes map onto this model.</a:t>
            </a:r>
          </a:p>
          <a:p>
            <a:endParaRPr lang="en-GB" baseline="0" dirty="0" smtClean="0"/>
          </a:p>
          <a:p>
            <a:r>
              <a:rPr lang="en-GB" baseline="0" dirty="0" smtClean="0"/>
              <a:t>The processes are outlined in red.</a:t>
            </a:r>
          </a:p>
          <a:p>
            <a:endParaRPr lang="en-GB" baseline="0" dirty="0" smtClean="0"/>
          </a:p>
          <a:p>
            <a:r>
              <a:rPr lang="en-GB" baseline="0" dirty="0" smtClean="0"/>
              <a:t>This is not an attempt to change the model, just a means of outlining some of the key processes related to a repository.</a:t>
            </a:r>
          </a:p>
          <a:p>
            <a:r>
              <a:rPr lang="en-GB" baseline="0" dirty="0" smtClean="0"/>
              <a:t>Note that putting preservation on this model is challenging as thus as a process has been left out. Essentially the OAIS model sees preservation planning as something which interacts with all of your repository which is confusing to implement for a developer where you are trying to develop a modular system.</a:t>
            </a:r>
          </a:p>
        </p:txBody>
      </p:sp>
      <p:sp>
        <p:nvSpPr>
          <p:cNvPr id="4" name="Slide Number Placeholder 3"/>
          <p:cNvSpPr>
            <a:spLocks noGrp="1"/>
          </p:cNvSpPr>
          <p:nvPr>
            <p:ph type="sldNum" sz="quarter" idx="10"/>
          </p:nvPr>
        </p:nvSpPr>
        <p:spPr/>
        <p:txBody>
          <a:bodyPr/>
          <a:lstStyle/>
          <a:p>
            <a:fld id="{1CF6D1FE-CD29-1C45-944F-7CAAC3C940EE}" type="slidenum">
              <a:rPr lang="en-GB" smtClean="0"/>
              <a:pPr/>
              <a:t>6</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Another model which has emerged</a:t>
            </a:r>
            <a:r>
              <a:rPr lang="en-GB" baseline="0" dirty="0" smtClean="0"/>
              <a:t> is the DCC life cycle model. Here they have a set of processes outlined in their own dark red and I’ve mapped the ones which I had on the OAIS model onto this.</a:t>
            </a:r>
          </a:p>
          <a:p>
            <a:endParaRPr lang="en-GB" baseline="0" dirty="0" smtClean="0"/>
          </a:p>
          <a:p>
            <a:r>
              <a:rPr lang="en-GB" baseline="0" dirty="0" smtClean="0"/>
              <a:t>In the DCC model we have the same order of processes as the OAIS model which some extra processes added which outline in a little more detail where preservation may fit in. </a:t>
            </a:r>
          </a:p>
          <a:p>
            <a:endParaRPr lang="en-GB" baseline="0" dirty="0" smtClean="0"/>
          </a:p>
          <a:p>
            <a:r>
              <a:rPr lang="en-GB" baseline="0" dirty="0" smtClean="0"/>
              <a:t>This model is also a good guide, however it could also be drawn with the processes in many different orders where ingest is done before appraise and select for example. This is the case at Oxford University. </a:t>
            </a:r>
          </a:p>
        </p:txBody>
      </p:sp>
      <p:sp>
        <p:nvSpPr>
          <p:cNvPr id="4" name="Slide Number Placeholder 3"/>
          <p:cNvSpPr>
            <a:spLocks noGrp="1"/>
          </p:cNvSpPr>
          <p:nvPr>
            <p:ph type="sldNum" sz="quarter" idx="10"/>
          </p:nvPr>
        </p:nvSpPr>
        <p:spPr/>
        <p:txBody>
          <a:bodyPr/>
          <a:lstStyle/>
          <a:p>
            <a:fld id="{1CF6D1FE-CD29-1C45-944F-7CAAC3C940EE}" type="slidenum">
              <a:rPr lang="en-GB" smtClean="0"/>
              <a:pPr/>
              <a:t>7</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So lets go</a:t>
            </a:r>
            <a:r>
              <a:rPr lang="en-GB" baseline="0" dirty="0" smtClean="0"/>
              <a:t> back to the </a:t>
            </a:r>
            <a:r>
              <a:rPr lang="en-GB" baseline="0" dirty="0" err="1" smtClean="0"/>
              <a:t>Wikipedia</a:t>
            </a:r>
            <a:r>
              <a:rPr lang="en-GB" baseline="0" dirty="0" smtClean="0"/>
              <a:t> definition of the repository “A place where data is stored and managed” and I’ve added the provision to this. </a:t>
            </a:r>
          </a:p>
          <a:p>
            <a:endParaRPr lang="en-GB" baseline="0" dirty="0" smtClean="0"/>
          </a:p>
          <a:p>
            <a:r>
              <a:rPr lang="en-GB" baseline="0" dirty="0" smtClean="0"/>
              <a:t>So this three stage repository model has three outfacing processes and many internal processes which the users may not see which enable the management of the content. For the purposes of this talk I’ve separated out preservation into 3 categories as this is what I shall be focusing on later. Preservation can be viewed as a single process and indeed should as one part without another is not providing a complete process. This split simply allows me to implement a modular system.   </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8</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Ok so lets look at the Processes</a:t>
            </a:r>
            <a:r>
              <a:rPr lang="en-GB" baseline="0" dirty="0" smtClean="0"/>
              <a:t> in a little more depth and start to introduce services.</a:t>
            </a:r>
          </a:p>
          <a:p>
            <a:endParaRPr lang="en-GB" baseline="0" dirty="0" smtClean="0"/>
          </a:p>
          <a:p>
            <a:r>
              <a:rPr lang="en-GB" baseline="0" dirty="0" smtClean="0"/>
              <a:t>By looking at it in this way we can begin to break up the repository into a set of components with a repository manager in the middle which knows how to manage the processes, taking content from them or serving content to them. </a:t>
            </a:r>
          </a:p>
          <a:p>
            <a:endParaRPr lang="en-GB" baseline="0" dirty="0" smtClean="0"/>
          </a:p>
          <a:p>
            <a:r>
              <a:rPr lang="en-GB" baseline="0" dirty="0" smtClean="0"/>
              <a:t>So what is the manager?</a:t>
            </a:r>
          </a:p>
          <a:p>
            <a:endParaRPr lang="en-GB" baseline="0" dirty="0" smtClean="0"/>
          </a:p>
          <a:p>
            <a:r>
              <a:rPr lang="en-GB" baseline="0" dirty="0" smtClean="0"/>
              <a:t>Examples of managers include the core of EPrints, Fedora and </a:t>
            </a:r>
            <a:r>
              <a:rPr lang="en-GB" baseline="0" dirty="0" err="1" smtClean="0"/>
              <a:t>DSpace</a:t>
            </a:r>
            <a:r>
              <a:rPr lang="en-GB" baseline="0" dirty="0" smtClean="0"/>
              <a:t>. Although these managers often come packaged with these processes built in we can still view the repository in a modularised manor.  </a:t>
            </a:r>
          </a:p>
        </p:txBody>
      </p:sp>
      <p:sp>
        <p:nvSpPr>
          <p:cNvPr id="4" name="Slide Number Placeholder 3"/>
          <p:cNvSpPr>
            <a:spLocks noGrp="1"/>
          </p:cNvSpPr>
          <p:nvPr>
            <p:ph type="sldNum" sz="quarter" idx="10"/>
          </p:nvPr>
        </p:nvSpPr>
        <p:spPr/>
        <p:txBody>
          <a:bodyPr/>
          <a:lstStyle/>
          <a:p>
            <a:fld id="{1CF6D1FE-CD29-1C45-944F-7CAAC3C940EE}" type="slidenum">
              <a:rPr lang="en-GB" smtClean="0"/>
              <a:pPr/>
              <a:t>9</a:t>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This is my</a:t>
            </a:r>
            <a:r>
              <a:rPr lang="en-GB" baseline="0" dirty="0" smtClean="0"/>
              <a:t> simple definition of a manager with some examples given. </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10</a:t>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Right</a:t>
            </a:r>
            <a:r>
              <a:rPr lang="en-GB" baseline="0" dirty="0" smtClean="0"/>
              <a:t> so lets move on to the bulk of this presentation and look at some new code and modules. </a:t>
            </a:r>
          </a:p>
          <a:p>
            <a:endParaRPr lang="en-GB" baseline="0" dirty="0" smtClean="0"/>
          </a:p>
          <a:p>
            <a:r>
              <a:rPr lang="en-GB" baseline="0" dirty="0" smtClean="0"/>
              <a:t>I want to start with the storage layer within EPrints which is my repository of choice. At the last PASIG I outlined the idea of an abstracted storage layer for your repository which allows you to store your resources on any supported storage server. Support is simply provided by a </a:t>
            </a:r>
            <a:r>
              <a:rPr lang="en-GB" baseline="0" dirty="0" err="1" smtClean="0"/>
              <a:t>plugin</a:t>
            </a:r>
            <a:r>
              <a:rPr lang="en-GB" baseline="0" dirty="0" smtClean="0"/>
              <a:t> within EPrints which supports the calls of Store, Retrieve and Delete.</a:t>
            </a:r>
          </a:p>
          <a:p>
            <a:endParaRPr lang="en-GB" baseline="0" dirty="0" smtClean="0"/>
          </a:p>
          <a:p>
            <a:r>
              <a:rPr lang="en-GB" baseline="0" dirty="0" smtClean="0"/>
              <a:t>The EPrints Storage controller provides a means by which you can store your resources in different storage services dependant on your own storage policy/rules. Cut short you can store everything on one storage service, everything in more than one (mirrors), publications locally and datasets remotely. or any combination you can think of.</a:t>
            </a:r>
          </a:p>
          <a:p>
            <a:endParaRPr lang="en-GB" baseline="0" dirty="0" smtClean="0"/>
          </a:p>
          <a:p>
            <a:r>
              <a:rPr lang="en-GB" baseline="0" dirty="0" smtClean="0"/>
              <a:t>On this slide I outline the figures from the </a:t>
            </a:r>
            <a:r>
              <a:rPr lang="en-GB" baseline="0" dirty="0" err="1" smtClean="0"/>
              <a:t>ECystals</a:t>
            </a:r>
            <a:r>
              <a:rPr lang="en-GB" baseline="0" dirty="0" smtClean="0"/>
              <a:t> repository in Southampton which is now storing their datasets on a Honeycomb server. Note that by using the storage abstraction layer does not degrade the performance of the services. The USB drive was the bottleneck on ingest with the network the bottleneck on retrieve. </a:t>
            </a:r>
          </a:p>
          <a:p>
            <a:endParaRPr lang="en-GB" baseline="0" dirty="0" smtClean="0"/>
          </a:p>
          <a:p>
            <a:r>
              <a:rPr lang="en-GB" baseline="0" dirty="0" smtClean="0"/>
              <a:t>Next we are going to be working on an Amazon </a:t>
            </a:r>
            <a:r>
              <a:rPr lang="en-GB" baseline="0" dirty="0" err="1" smtClean="0"/>
              <a:t>Cloudfront</a:t>
            </a:r>
            <a:r>
              <a:rPr lang="en-GB" baseline="0" dirty="0" smtClean="0"/>
              <a:t> </a:t>
            </a:r>
            <a:r>
              <a:rPr lang="en-GB" baseline="0" dirty="0" err="1" smtClean="0"/>
              <a:t>plugin</a:t>
            </a:r>
            <a:r>
              <a:rPr lang="en-GB" baseline="0" dirty="0" smtClean="0"/>
              <a:t> for your distributed worldwide storage.</a:t>
            </a:r>
          </a:p>
          <a:p>
            <a:endParaRPr lang="en-GB" baseline="0" dirty="0" smtClean="0"/>
          </a:p>
          <a:p>
            <a:r>
              <a:rPr lang="en-GB" baseline="0" dirty="0" smtClean="0"/>
              <a:t>More about this can now be found via the EPrints and </a:t>
            </a:r>
            <a:r>
              <a:rPr lang="en-GB" baseline="0" dirty="0" err="1" smtClean="0"/>
              <a:t>Preserv</a:t>
            </a:r>
            <a:r>
              <a:rPr lang="en-GB" baseline="0" dirty="0" smtClean="0"/>
              <a:t> </a:t>
            </a:r>
            <a:r>
              <a:rPr lang="en-GB" baseline="0" dirty="0" err="1" smtClean="0"/>
              <a:t>wiki</a:t>
            </a:r>
            <a:r>
              <a:rPr lang="en-GB" baseline="0" dirty="0" smtClean="0"/>
              <a:t> pages. </a:t>
            </a:r>
            <a:r>
              <a:rPr lang="en-GB" baseline="0" dirty="0" err="1" smtClean="0"/>
              <a:t>Preserv</a:t>
            </a:r>
            <a:r>
              <a:rPr lang="en-GB" baseline="0" dirty="0" smtClean="0"/>
              <a:t> basically started this project which EPrints has now </a:t>
            </a:r>
            <a:r>
              <a:rPr lang="en-GB" baseline="0" dirty="0" err="1" smtClean="0"/>
              <a:t>commited</a:t>
            </a:r>
            <a:r>
              <a:rPr lang="en-GB" baseline="0" dirty="0" smtClean="0"/>
              <a:t> to take on for a future release of EPrints.       </a:t>
            </a:r>
          </a:p>
          <a:p>
            <a:endParaRPr lang="en-GB" baseline="0" dirty="0" smtClean="0"/>
          </a:p>
          <a:p>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11</a:t>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So what is </a:t>
            </a:r>
            <a:r>
              <a:rPr lang="en-GB" dirty="0" err="1" smtClean="0"/>
              <a:t>preserv</a:t>
            </a:r>
            <a:r>
              <a:rPr lang="en-GB" dirty="0" smtClean="0"/>
              <a:t> doing</a:t>
            </a:r>
            <a:r>
              <a:rPr lang="en-GB" baseline="0" dirty="0" smtClean="0"/>
              <a:t> now.</a:t>
            </a:r>
          </a:p>
          <a:p>
            <a:endParaRPr lang="en-GB" baseline="0" dirty="0" smtClean="0"/>
          </a:p>
          <a:p>
            <a:r>
              <a:rPr lang="en-GB" baseline="0" dirty="0" smtClean="0"/>
              <a:t>Lets look at the Preservation process. </a:t>
            </a:r>
          </a:p>
          <a:p>
            <a:endParaRPr lang="en-GB" baseline="0" dirty="0" smtClean="0"/>
          </a:p>
          <a:p>
            <a:r>
              <a:rPr lang="en-GB" baseline="0" dirty="0" smtClean="0"/>
              <a:t>This slide gives a breakdown from my point of view of the preservation process. Each stage of which I’m going to address in the course of this talk.  </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12</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Quick</a:t>
            </a:r>
            <a:r>
              <a:rPr lang="en-GB" baseline="0" dirty="0" smtClean="0"/>
              <a:t> overview of some analysis and recommendation services and service providers.</a:t>
            </a:r>
          </a:p>
          <a:p>
            <a:endParaRPr lang="en-GB" baseline="0" dirty="0" smtClean="0"/>
          </a:p>
          <a:p>
            <a:r>
              <a:rPr lang="en-GB" baseline="0" dirty="0" smtClean="0"/>
              <a:t>Many people already know about the DROID tool from The National Archives (UK) which uses file signatures to classify your files by looking at their content.</a:t>
            </a:r>
          </a:p>
          <a:p>
            <a:r>
              <a:rPr lang="en-GB" baseline="0" dirty="0" smtClean="0"/>
              <a:t>Alongside DROID exists PRONOM which is the </a:t>
            </a:r>
            <a:r>
              <a:rPr lang="en-GB" baseline="0" dirty="0" err="1" smtClean="0"/>
              <a:t>TNA’s</a:t>
            </a:r>
            <a:r>
              <a:rPr lang="en-GB" baseline="0" dirty="0" smtClean="0"/>
              <a:t> registry of file formats and metadata relating to these files. This is soon going to be expanded with a risk analysis service which can provide you with a risk score for your files (as classified by DROID).</a:t>
            </a:r>
          </a:p>
          <a:p>
            <a:endParaRPr lang="en-GB" baseline="0" dirty="0" smtClean="0"/>
          </a:p>
          <a:p>
            <a:r>
              <a:rPr lang="en-GB" baseline="0" dirty="0" smtClean="0"/>
              <a:t>Lastly in the analysis stage exists the still evident need for a registry of tools which can be utilised to aid the preservation process, weather this be to perform further classification or identification of attributes such as significant properties, or to locate tools which can enable you to migrate/transform files which have been identified as at risk.</a:t>
            </a:r>
          </a:p>
          <a:p>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13</a:t>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The</a:t>
            </a:r>
            <a:r>
              <a:rPr lang="en-GB" baseline="0" dirty="0" smtClean="0"/>
              <a:t> focus of this slide is on the DROID classification service (services are in green), downloaded and unmodified from the TNA website.</a:t>
            </a:r>
          </a:p>
          <a:p>
            <a:endParaRPr lang="en-GB" baseline="0" dirty="0" smtClean="0"/>
          </a:p>
          <a:p>
            <a:r>
              <a:rPr lang="en-GB" baseline="0" dirty="0" smtClean="0"/>
              <a:t>By using a series of pipes (which are in Purple) we can link services together to provide the file classification functionality to our repository, the three pipes on this slide are available from preserv2.googlecode.com.</a:t>
            </a:r>
          </a:p>
          <a:p>
            <a:endParaRPr lang="en-GB" baseline="0" dirty="0" smtClean="0"/>
          </a:p>
          <a:p>
            <a:r>
              <a:rPr lang="en-GB" baseline="0" dirty="0" smtClean="0"/>
              <a:t>Why the Calendar Server?</a:t>
            </a:r>
          </a:p>
          <a:p>
            <a:r>
              <a:rPr lang="en-GB" baseline="0" dirty="0" smtClean="0"/>
              <a:t>This enables not only the scheduling of classification event but also the logging back to the calendar server of the history, e.g. how long the event took, were there any errors? It also enables events to be scheduled using your favourite desktop calendar application. </a:t>
            </a:r>
          </a:p>
          <a:p>
            <a:endParaRPr lang="en-GB" baseline="0" dirty="0" smtClean="0"/>
          </a:p>
          <a:p>
            <a:r>
              <a:rPr lang="en-GB" baseline="0" dirty="0" smtClean="0"/>
              <a:t>Why the Web Server?</a:t>
            </a:r>
          </a:p>
          <a:p>
            <a:r>
              <a:rPr lang="en-GB" baseline="0" dirty="0" smtClean="0"/>
              <a:t>This stores to DROID Classification File prior to it being ingested into the repository. It is at this point you can decide to trust the output of the service you have invoked. For example you could request a classification event to happen and many services could pick up the fact that you want this event performed. If the service is able to process your request you could have many outputs from many services of which you could import one or more based upon how much you trust the service in question.</a:t>
            </a:r>
          </a:p>
          <a:p>
            <a:endParaRPr lang="en-GB" baseline="0" dirty="0" smtClean="0"/>
          </a:p>
          <a:p>
            <a:r>
              <a:rPr lang="en-GB" baseline="0" dirty="0" smtClean="0"/>
              <a:t>(note: in the case of the last example you may want to make the default policy for the calendar server one such that you can only write new events and not overwrite the current ones)  </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14</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Once the classification of your files has been performed</a:t>
            </a:r>
            <a:r>
              <a:rPr lang="en-GB" baseline="0" dirty="0" smtClean="0"/>
              <a:t> we can collate the results in various places.</a:t>
            </a:r>
            <a:endParaRPr lang="en-GB" dirty="0" smtClean="0"/>
          </a:p>
          <a:p>
            <a:endParaRPr lang="en-GB" dirty="0" smtClean="0"/>
          </a:p>
          <a:p>
            <a:r>
              <a:rPr lang="en-GB" dirty="0" smtClean="0"/>
              <a:t>PRONOM-ROAR (shown</a:t>
            </a:r>
            <a:r>
              <a:rPr lang="en-GB" baseline="0" dirty="0" smtClean="0"/>
              <a:t> here) is a web service which harvests and classifies (using DROID) content from various repositories to create </a:t>
            </a:r>
            <a:r>
              <a:rPr lang="en-GB" baseline="0" dirty="0" err="1" smtClean="0"/>
              <a:t>preserv</a:t>
            </a:r>
            <a:r>
              <a:rPr lang="en-GB" baseline="0" dirty="0" smtClean="0"/>
              <a:t> profiles.  </a:t>
            </a:r>
          </a:p>
          <a:p>
            <a:endParaRPr lang="en-GB" baseline="0" dirty="0" smtClean="0"/>
          </a:p>
          <a:p>
            <a:r>
              <a:rPr lang="en-GB" baseline="0" dirty="0" smtClean="0"/>
              <a:t>This was one of the big outputs of Preserv1 but repository managers didn’t use it as more than a guide due to the experimental and limiting factors imposed in the was the service works and the positioning of the system components.  </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15</a:t>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(not available yet in any EPrints</a:t>
            </a:r>
            <a:r>
              <a:rPr lang="en-GB" baseline="0" dirty="0" smtClean="0"/>
              <a:t> distribution)</a:t>
            </a:r>
            <a:endParaRPr lang="en-GB" dirty="0" smtClean="0"/>
          </a:p>
          <a:p>
            <a:endParaRPr lang="en-GB" dirty="0" smtClean="0"/>
          </a:p>
          <a:p>
            <a:r>
              <a:rPr lang="en-GB" dirty="0" smtClean="0"/>
              <a:t>This slide shows</a:t>
            </a:r>
            <a:r>
              <a:rPr lang="en-GB" baseline="0" dirty="0" smtClean="0"/>
              <a:t> the </a:t>
            </a:r>
            <a:r>
              <a:rPr lang="en-GB" dirty="0" smtClean="0"/>
              <a:t>DROID</a:t>
            </a:r>
            <a:r>
              <a:rPr lang="en-GB" baseline="0" dirty="0" smtClean="0"/>
              <a:t> output interface in EPrints where your repository manager is now aware of which objects are classified, in need of classification, or have encountered problems during classification. </a:t>
            </a:r>
          </a:p>
          <a:p>
            <a:endParaRPr lang="en-GB" baseline="0" dirty="0" smtClean="0"/>
          </a:p>
          <a:p>
            <a:r>
              <a:rPr lang="en-GB" baseline="0" dirty="0" smtClean="0"/>
              <a:t>So here I have ingested the classification document which DROID output from it’s classification process. </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16</a:t>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A</a:t>
            </a:r>
            <a:r>
              <a:rPr lang="en-GB" baseline="0" dirty="0" smtClean="0"/>
              <a:t> little more on the risk analysis service which is soon going to be available via the PRONOM registry. </a:t>
            </a:r>
          </a:p>
          <a:p>
            <a:endParaRPr lang="en-GB" baseline="0" dirty="0" smtClean="0"/>
          </a:p>
          <a:p>
            <a:r>
              <a:rPr lang="en-GB" baseline="0" dirty="0" smtClean="0"/>
              <a:t>PRONOM is a web service you invoke with SOAP calls. For the purposes of risk analysis there is soon to be a service available which will provide you a risk score for each format as identified by DROID. This risk score is calculated from many factors using a formula as derived by The National Archives (TNA – UK) which provides a single figure between 0 and 3000. It is hoped that when this service is deployed publically that the breakdown of the risk score will also be available such that each repository will be able to apply their own formula dependant on their preservation policy.</a:t>
            </a:r>
          </a:p>
          <a:p>
            <a:endParaRPr lang="en-GB" baseline="0" dirty="0" smtClean="0"/>
          </a:p>
          <a:p>
            <a:r>
              <a:rPr lang="en-GB" baseline="0" dirty="0" smtClean="0"/>
              <a:t>Due to this functionality not being publically available yet, the preserv2 project has put together a piece of stub code which emulates this functionality. This is used here for the purposes of coding future interfaces against. At a later data the pointer in the interface can be changed to reference the actual distribution.   </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17</a:t>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This</a:t>
            </a:r>
            <a:r>
              <a:rPr lang="en-GB" baseline="0" dirty="0" smtClean="0"/>
              <a:t> slide shows the same screen in EPrints as a couple of slides before except this time we have switched on the risk analysis service. </a:t>
            </a:r>
          </a:p>
          <a:p>
            <a:r>
              <a:rPr lang="en-GB" baseline="0" dirty="0" smtClean="0"/>
              <a:t>This screen enables the repository administrators to view the risks related to the content within their repository in a simple traffic light based manner.  </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18</a:t>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Expanding</a:t>
            </a:r>
            <a:r>
              <a:rPr lang="en-GB" baseline="0" dirty="0" smtClean="0"/>
              <a:t> one of the boxes allows us to view the EPrints and files related to these EPrints which have been identified as at risk. </a:t>
            </a:r>
          </a:p>
          <a:p>
            <a:r>
              <a:rPr lang="en-GB" baseline="0" dirty="0" smtClean="0"/>
              <a:t>Managing file risks from within the repository has some advantages over this being an external process. Firstly if a new low risk file has already been generated we can use the internal metadata structure of the repository to state that a higher risk file has a safer copy, allowing us to keep the original and remove it from the high risk display. Secondly we can identify other patterns affecting the risks to files in the repository such as the depositing user, if a single user or machine in providing all of the high risk files this maybe more successfully dealt with externally to the repository preservation process.  </a:t>
            </a:r>
          </a:p>
        </p:txBody>
      </p:sp>
      <p:sp>
        <p:nvSpPr>
          <p:cNvPr id="4" name="Slide Number Placeholder 3"/>
          <p:cNvSpPr>
            <a:spLocks noGrp="1"/>
          </p:cNvSpPr>
          <p:nvPr>
            <p:ph type="sldNum" sz="quarter" idx="10"/>
          </p:nvPr>
        </p:nvSpPr>
        <p:spPr/>
        <p:txBody>
          <a:bodyPr/>
          <a:lstStyle/>
          <a:p>
            <a:fld id="{1CF6D1FE-CD29-1C45-944F-7CAAC3C940EE}" type="slidenum">
              <a:rPr lang="en-GB" smtClean="0"/>
              <a:pPr/>
              <a:t>19</a:t>
            </a:fld>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This slide shows the final part</a:t>
            </a:r>
            <a:r>
              <a:rPr lang="en-GB" baseline="0" dirty="0" smtClean="0"/>
              <a:t> of development relating to this admin service. </a:t>
            </a:r>
          </a:p>
          <a:p>
            <a:endParaRPr lang="en-GB" baseline="0" dirty="0" smtClean="0"/>
          </a:p>
          <a:p>
            <a:r>
              <a:rPr lang="en-GB" baseline="0" dirty="0" smtClean="0"/>
              <a:t>Here I have mocked up a possible display of migration or transformation tool available for the at risk formats and their effectiveness or preservation level. The preservation level relates to the loss level of the new format compared to the old, so if all abilities and significant properties are preserved then we can say that this transformation is 100% effective.</a:t>
            </a:r>
          </a:p>
          <a:p>
            <a:endParaRPr lang="en-GB" baseline="0" dirty="0" smtClean="0"/>
          </a:p>
          <a:p>
            <a:r>
              <a:rPr lang="en-GB" baseline="0" dirty="0" smtClean="0"/>
              <a:t>For this functionality to be available we would look to develop a registry of tools and profile these tools such that these scores can be generated and displayed. These profiles could related directly to the risk scores stored within PRONOM and thus the same local profiling could be used to rate tools differently depending on the requirement of the individual repository. The Planets project (specifically in the context of the PLATO tool) is looking into how to enable this functionality and push the results into the PRONOM registry. </a:t>
            </a:r>
          </a:p>
          <a:p>
            <a:endParaRPr lang="en-GB" baseline="0" dirty="0" smtClean="0"/>
          </a:p>
          <a:p>
            <a:r>
              <a:rPr lang="en-GB" baseline="0" dirty="0" smtClean="0"/>
              <a:t>There is still more work to be done but this interface shows what can be done with the current tools as well as those which are in development.   </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20</a:t>
            </a:fld>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So to summaris</a:t>
            </a:r>
            <a:r>
              <a:rPr lang="en-GB" baseline="0" dirty="0" smtClean="0"/>
              <a:t>e I have looked in this presentation at the basic principals surrounding running an institutional repository. </a:t>
            </a:r>
          </a:p>
          <a:p>
            <a:r>
              <a:rPr lang="en-GB" baseline="0" dirty="0" smtClean="0"/>
              <a:t>The simplistic 3 stage model encapsulates all the processes and services needed to run a complete repository and in the context of this presentation I have looked in depth at the preservation process. </a:t>
            </a:r>
          </a:p>
          <a:p>
            <a:endParaRPr lang="en-GB" baseline="0" dirty="0" smtClean="0"/>
          </a:p>
          <a:p>
            <a:r>
              <a:rPr lang="en-GB" baseline="0" dirty="0" smtClean="0"/>
              <a:t>By outlining the difference between processes and services we can see which services enable the basic bit level preservation which can be used as part of the repository “store” process. In EPrints we implemented a Storage Controller which can then be hooked up to preservation storage solutions such as the late Honeycomb server. </a:t>
            </a:r>
          </a:p>
          <a:p>
            <a:endParaRPr lang="en-GB" baseline="0" dirty="0" smtClean="0"/>
          </a:p>
          <a:p>
            <a:r>
              <a:rPr lang="en-GB" baseline="0" dirty="0" smtClean="0"/>
              <a:t>For the preservation analysis and action sub processes I looked at some the services which are available for use now or being developed and showed how these can be simply integrated to achieve some of our preservation goals. </a:t>
            </a:r>
          </a:p>
          <a:p>
            <a:r>
              <a:rPr lang="en-GB" baseline="0" dirty="0" smtClean="0"/>
              <a:t>Droid is an example of such as service which can be downloaded and executed next to your objects. This is an example of a portable service and I have attached some appendix slides at the end of this presentation to demonstrate some of the places where you could locate your DROID classification service. </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21</a:t>
            </a:fld>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So finally,</a:t>
            </a:r>
            <a:r>
              <a:rPr lang="en-GB" baseline="0" dirty="0" smtClean="0"/>
              <a:t> in the last PASIG I outlined how I would use EPrints to demonstrate some of the new preservation functionality and I think over the last 6 months a lot of improvements have been made in a way which can be pushed out into other repository platforms.    </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22</a:t>
            </a:fld>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Cheers for reading!</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23</a:t>
            </a:fld>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24</a:t>
            </a:fld>
            <a:endParaRPr 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Within the repository!</a:t>
            </a:r>
            <a:r>
              <a:rPr lang="en-GB" baseline="0" dirty="0" smtClean="0"/>
              <a:t> Bad!</a:t>
            </a:r>
            <a:endParaRPr lang="en-GB" dirty="0"/>
          </a:p>
        </p:txBody>
      </p:sp>
      <p:sp>
        <p:nvSpPr>
          <p:cNvPr id="4" name="Slide Number Placeholder 3"/>
          <p:cNvSpPr>
            <a:spLocks noGrp="1"/>
          </p:cNvSpPr>
          <p:nvPr>
            <p:ph type="sldNum" sz="quarter" idx="10"/>
          </p:nvPr>
        </p:nvSpPr>
        <p:spPr/>
        <p:txBody>
          <a:bodyPr/>
          <a:lstStyle/>
          <a:p>
            <a:fld id="{1CF6D1FE-CD29-1C45-944F-7CAAC3C940EE}" type="slidenum">
              <a:rPr lang="en-GB" smtClean="0"/>
              <a:pPr/>
              <a:t>25</a:t>
            </a:fld>
            <a:endParaRPr 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Inside</a:t>
            </a:r>
            <a:r>
              <a:rPr lang="en-GB" baseline="0" dirty="0" smtClean="0"/>
              <a:t> the storage, good </a:t>
            </a:r>
            <a:r>
              <a:rPr lang="en-GB" baseline="0" dirty="0" err="1" smtClean="0">
                <a:sym typeface="Wingdings"/>
              </a:rPr>
              <a:t></a:t>
            </a:r>
            <a:r>
              <a:rPr lang="en-GB" baseline="0" dirty="0" smtClean="0">
                <a:sym typeface="Wingdings"/>
              </a:rPr>
              <a:t>.</a:t>
            </a:r>
          </a:p>
          <a:p>
            <a:endParaRPr lang="en-GB" baseline="0" dirty="0" smtClean="0">
              <a:sym typeface="Wingdings"/>
            </a:endParaRPr>
          </a:p>
          <a:p>
            <a:r>
              <a:rPr lang="en-GB" baseline="0" dirty="0" smtClean="0">
                <a:sym typeface="Wingdings"/>
              </a:rPr>
              <a:t>Note that all the external parts from the main presentation are also in this model, so DROID is portable with no loss in external linking. </a:t>
            </a:r>
          </a:p>
        </p:txBody>
      </p:sp>
      <p:sp>
        <p:nvSpPr>
          <p:cNvPr id="4" name="Slide Number Placeholder 3"/>
          <p:cNvSpPr>
            <a:spLocks noGrp="1"/>
          </p:cNvSpPr>
          <p:nvPr>
            <p:ph type="sldNum" sz="quarter" idx="10"/>
          </p:nvPr>
        </p:nvSpPr>
        <p:spPr/>
        <p:txBody>
          <a:bodyPr/>
          <a:lstStyle/>
          <a:p>
            <a:fld id="{1CF6D1FE-CD29-1C45-944F-7CAAC3C940EE}" type="slidenum">
              <a:rPr lang="en-GB" smtClean="0"/>
              <a:pPr/>
              <a:t>26</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Ref idx="1003">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199" y="1295400"/>
            <a:ext cx="8228013" cy="1927225"/>
          </a:xfrm>
        </p:spPr>
        <p:txBody>
          <a:bodyPr tIns="0" bIns="0" anchor="b" anchorCtr="0"/>
          <a:lstStyle>
            <a:lvl1pPr>
              <a:defRPr sz="6000">
                <a:solidFill>
                  <a:schemeClr val="bg1"/>
                </a:solidFill>
              </a:defRPr>
            </a:lvl1pPr>
          </a:lstStyle>
          <a:p>
            <a:r>
              <a:rPr lang="en-GB" smtClean="0"/>
              <a:t>Click to edit Master title style</a:t>
            </a:r>
            <a:endParaRPr/>
          </a:p>
        </p:txBody>
      </p:sp>
      <p:sp>
        <p:nvSpPr>
          <p:cNvPr id="3" name="Subtitle 2"/>
          <p:cNvSpPr>
            <a:spLocks noGrp="1"/>
          </p:cNvSpPr>
          <p:nvPr>
            <p:ph type="subTitle" idx="1"/>
          </p:nvPr>
        </p:nvSpPr>
        <p:spPr>
          <a:xfrm>
            <a:off x="457199" y="3307976"/>
            <a:ext cx="8228013" cy="1066800"/>
          </a:xfrm>
        </p:spPr>
        <p:txBody>
          <a:bodyPr tIns="0" bIns="0"/>
          <a:lstStyle>
            <a:lvl1pPr marL="0" indent="0" algn="ctr">
              <a:buNone/>
              <a:defRPr sz="1800">
                <a:solidFill>
                  <a:schemeClr val="bg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a:p>
        </p:txBody>
      </p:sp>
      <p:sp>
        <p:nvSpPr>
          <p:cNvPr id="4" name="Date Placeholder 3"/>
          <p:cNvSpPr>
            <a:spLocks noGrp="1"/>
          </p:cNvSpPr>
          <p:nvPr>
            <p:ph type="dt" sz="half" idx="10"/>
          </p:nvPr>
        </p:nvSpPr>
        <p:spPr/>
        <p:txBody>
          <a:bodyPr/>
          <a:lstStyle/>
          <a:p>
            <a:fld id="{F4B30768-82CB-481A-A370-29B9B0A000F3}" type="datetimeFigureOut">
              <a:rPr lang="en-US" smtClean="0"/>
              <a:pPr/>
              <a:t>12/18/08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7A46CB-11D8-4731-AAF5-019F7233E229}" type="slidenum">
              <a:rPr lang="en-GB" smtClean="0"/>
              <a:pPr/>
              <a:t>‹#›</a:t>
            </a:fld>
            <a:endParaRPr lang="en-GB"/>
          </a:p>
        </p:txBody>
      </p:sp>
      <p:sp>
        <p:nvSpPr>
          <p:cNvPr id="8" name="TextBox 7"/>
          <p:cNvSpPr txBox="1"/>
          <p:nvPr/>
        </p:nvSpPr>
        <p:spPr>
          <a:xfrm>
            <a:off x="8292818" y="5804647"/>
            <a:ext cx="367088" cy="677108"/>
          </a:xfrm>
          <a:prstGeom prst="rect">
            <a:avLst/>
          </a:prstGeom>
          <a:noFill/>
        </p:spPr>
        <p:txBody>
          <a:bodyPr wrap="none" lIns="0" tIns="0" rIns="0" bIns="0" rtlCol="0">
            <a:spAutoFit/>
          </a:bodyPr>
          <a:lstStyle/>
          <a:p>
            <a:r>
              <a:rPr sz="4400">
                <a:solidFill>
                  <a:schemeClr val="accent1"/>
                </a:solidFill>
                <a:latin typeface="Wingdings" pitchFamily="2" charset="2"/>
              </a:rPr>
              <a:t>S</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4" name="Date Placeholder 3"/>
          <p:cNvSpPr>
            <a:spLocks noGrp="1"/>
          </p:cNvSpPr>
          <p:nvPr>
            <p:ph type="dt" sz="half" idx="10"/>
          </p:nvPr>
        </p:nvSpPr>
        <p:spPr/>
        <p:txBody>
          <a:bodyPr/>
          <a:lstStyle/>
          <a:p>
            <a:fld id="{F4B30768-82CB-481A-A370-29B9B0A000F3}" type="datetimeFigureOut">
              <a:rPr lang="en-US" smtClean="0"/>
              <a:pPr/>
              <a:t>12/18/08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7A46CB-11D8-4731-AAF5-019F7233E229}"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236694"/>
            <a:ext cx="6400800" cy="1362075"/>
          </a:xfrm>
        </p:spPr>
        <p:txBody>
          <a:bodyPr anchor="b" anchorCtr="0"/>
          <a:lstStyle>
            <a:lvl1pPr algn="r">
              <a:defRPr sz="4600" b="0" cap="none" baseline="0"/>
            </a:lvl1pPr>
          </a:lstStyle>
          <a:p>
            <a:r>
              <a:rPr lang="en-GB" smtClean="0"/>
              <a:t>Click to edit Master title style</a:t>
            </a:r>
            <a:endParaRPr/>
          </a:p>
        </p:txBody>
      </p:sp>
      <p:sp>
        <p:nvSpPr>
          <p:cNvPr id="3" name="Text Placeholder 2"/>
          <p:cNvSpPr>
            <a:spLocks noGrp="1"/>
          </p:cNvSpPr>
          <p:nvPr>
            <p:ph type="body" idx="1"/>
          </p:nvPr>
        </p:nvSpPr>
        <p:spPr>
          <a:xfrm>
            <a:off x="1676399" y="3609695"/>
            <a:ext cx="5181601" cy="1500187"/>
          </a:xfrm>
        </p:spPr>
        <p:txBody>
          <a:bodyPr anchor="t" anchorCtr="0"/>
          <a:lstStyle>
            <a:lvl1pPr marL="0" indent="0" algn="r">
              <a:buNone/>
              <a:defRPr sz="1800"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solidFill>
                  <a:schemeClr val="bg1"/>
                </a:solidFill>
              </a:defRPr>
            </a:lvl1pPr>
          </a:lstStyle>
          <a:p>
            <a:fld id="{F4B30768-82CB-481A-A370-29B9B0A000F3}" type="datetimeFigureOut">
              <a:rPr lang="en-US" smtClean="0"/>
              <a:pPr/>
              <a:t>12/18/08</a:t>
            </a:fld>
            <a:endParaRPr lang="en-GB"/>
          </a:p>
        </p:txBody>
      </p:sp>
      <p:sp>
        <p:nvSpPr>
          <p:cNvPr id="5" name="Footer Placeholder 4"/>
          <p:cNvSpPr>
            <a:spLocks noGrp="1"/>
          </p:cNvSpPr>
          <p:nvPr>
            <p:ph type="ftr" sz="quarter" idx="11"/>
          </p:nvPr>
        </p:nvSpPr>
        <p:spPr>
          <a:xfrm>
            <a:off x="7238999" y="6356350"/>
            <a:ext cx="1446213" cy="365125"/>
          </a:xfrm>
        </p:spPr>
        <p:txBody>
          <a:bodyPr/>
          <a:lstStyle/>
          <a:p>
            <a:endParaRPr lang="en-GB"/>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A7A46CB-11D8-4731-AAF5-019F7233E229}" type="slidenum">
              <a:rPr lang="en-GB" smtClean="0"/>
              <a:pPr/>
              <a:t>‹#›</a:t>
            </a:fld>
            <a:endParaRPr lang="en-GB"/>
          </a:p>
        </p:txBody>
      </p:sp>
      <p:sp>
        <p:nvSpPr>
          <p:cNvPr id="8" name="TextBox 7"/>
          <p:cNvSpPr txBox="1"/>
          <p:nvPr/>
        </p:nvSpPr>
        <p:spPr>
          <a:xfrm>
            <a:off x="8292818" y="5804647"/>
            <a:ext cx="367088" cy="677108"/>
          </a:xfrm>
          <a:prstGeom prst="rect">
            <a:avLst/>
          </a:prstGeom>
          <a:noFill/>
        </p:spPr>
        <p:txBody>
          <a:bodyPr wrap="none" lIns="0" tIns="0" rIns="0" bIns="0" rtlCol="0">
            <a:spAutoFit/>
          </a:bodyPr>
          <a:lstStyle/>
          <a:p>
            <a:r>
              <a:rPr sz="4400">
                <a:solidFill>
                  <a:schemeClr val="accent1"/>
                </a:solidFill>
                <a:latin typeface="Wingdings" pitchFamily="2" charset="2"/>
              </a:rPr>
              <a:t>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a:p>
        </p:txBody>
      </p:sp>
      <p:sp>
        <p:nvSpPr>
          <p:cNvPr id="3" name="Content Placeholder 2"/>
          <p:cNvSpPr>
            <a:spLocks noGrp="1"/>
          </p:cNvSpPr>
          <p:nvPr>
            <p:ph sz="half" idx="1"/>
          </p:nvPr>
        </p:nvSpPr>
        <p:spPr>
          <a:xfrm>
            <a:off x="740664" y="2784475"/>
            <a:ext cx="3767328" cy="3252788"/>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4" name="Content Placeholder 3"/>
          <p:cNvSpPr>
            <a:spLocks noGrp="1"/>
          </p:cNvSpPr>
          <p:nvPr>
            <p:ph sz="half" idx="2"/>
          </p:nvPr>
        </p:nvSpPr>
        <p:spPr>
          <a:xfrm>
            <a:off x="4634753" y="2784475"/>
            <a:ext cx="3767328" cy="3252788"/>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5" name="Date Placeholder 4"/>
          <p:cNvSpPr>
            <a:spLocks noGrp="1"/>
          </p:cNvSpPr>
          <p:nvPr>
            <p:ph type="dt" sz="half" idx="10"/>
          </p:nvPr>
        </p:nvSpPr>
        <p:spPr/>
        <p:txBody>
          <a:bodyPr/>
          <a:lstStyle/>
          <a:p>
            <a:fld id="{F4B30768-82CB-481A-A370-29B9B0A000F3}" type="datetimeFigureOut">
              <a:rPr lang="en-US" smtClean="0"/>
              <a:pPr/>
              <a:t>12/18/08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A7A46CB-11D8-4731-AAF5-019F7233E229}"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a:p>
        </p:txBody>
      </p:sp>
      <p:sp>
        <p:nvSpPr>
          <p:cNvPr id="3" name="Text Placeholder 2"/>
          <p:cNvSpPr>
            <a:spLocks noGrp="1"/>
          </p:cNvSpPr>
          <p:nvPr>
            <p:ph type="body" idx="1"/>
          </p:nvPr>
        </p:nvSpPr>
        <p:spPr>
          <a:xfrm>
            <a:off x="740664" y="2232211"/>
            <a:ext cx="3767328" cy="762000"/>
          </a:xfrm>
        </p:spPr>
        <p:txBody>
          <a:bodyPr anchor="b">
            <a:noAutofit/>
          </a:bodyPr>
          <a:lstStyle>
            <a:lvl1pPr marL="0" indent="0" algn="ctr">
              <a:lnSpc>
                <a:spcPts val="2600"/>
              </a:lnSpc>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740664" y="3160059"/>
            <a:ext cx="3767328" cy="2891491"/>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5" name="Text Placeholder 4"/>
          <p:cNvSpPr>
            <a:spLocks noGrp="1"/>
          </p:cNvSpPr>
          <p:nvPr>
            <p:ph type="body" sz="quarter" idx="3"/>
          </p:nvPr>
        </p:nvSpPr>
        <p:spPr>
          <a:xfrm>
            <a:off x="4631578" y="2232211"/>
            <a:ext cx="3767328" cy="762000"/>
          </a:xfrm>
        </p:spPr>
        <p:txBody>
          <a:bodyPr anchor="b">
            <a:noAutofit/>
          </a:bodyPr>
          <a:lstStyle>
            <a:lvl1pPr marL="0" indent="0" algn="ctr">
              <a:lnSpc>
                <a:spcPts val="2600"/>
              </a:lnSpc>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31578" y="3160059"/>
            <a:ext cx="3767328" cy="2891491"/>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7" name="Date Placeholder 6"/>
          <p:cNvSpPr>
            <a:spLocks noGrp="1"/>
          </p:cNvSpPr>
          <p:nvPr>
            <p:ph type="dt" sz="half" idx="10"/>
          </p:nvPr>
        </p:nvSpPr>
        <p:spPr/>
        <p:txBody>
          <a:bodyPr/>
          <a:lstStyle/>
          <a:p>
            <a:fld id="{F4B30768-82CB-481A-A370-29B9B0A000F3}" type="datetimeFigureOut">
              <a:rPr lang="en-US" smtClean="0"/>
              <a:pPr/>
              <a:t>12/18/08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A7A46CB-11D8-4731-AAF5-019F7233E229}"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a:p>
        </p:txBody>
      </p:sp>
      <p:sp>
        <p:nvSpPr>
          <p:cNvPr id="3" name="Content Placeholder 2"/>
          <p:cNvSpPr>
            <a:spLocks noGrp="1"/>
          </p:cNvSpPr>
          <p:nvPr>
            <p:ph sz="half" idx="1"/>
          </p:nvPr>
        </p:nvSpPr>
        <p:spPr>
          <a:xfrm>
            <a:off x="762000" y="2784475"/>
            <a:ext cx="7656512" cy="155448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5" name="Date Placeholder 4"/>
          <p:cNvSpPr>
            <a:spLocks noGrp="1"/>
          </p:cNvSpPr>
          <p:nvPr>
            <p:ph type="dt" sz="half" idx="10"/>
          </p:nvPr>
        </p:nvSpPr>
        <p:spPr/>
        <p:txBody>
          <a:bodyPr/>
          <a:lstStyle/>
          <a:p>
            <a:fld id="{F4B30768-82CB-481A-A370-29B9B0A000F3}" type="datetimeFigureOut">
              <a:rPr lang="en-US" smtClean="0"/>
              <a:pPr/>
              <a:t>12/18/08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A7A46CB-11D8-4731-AAF5-019F7233E229}" type="slidenum">
              <a:rPr lang="en-GB" smtClean="0"/>
              <a:pPr/>
              <a:t>‹#›</a:t>
            </a:fld>
            <a:endParaRPr lang="en-GB"/>
          </a:p>
        </p:txBody>
      </p:sp>
      <p:sp>
        <p:nvSpPr>
          <p:cNvPr id="8" name="Content Placeholder 2"/>
          <p:cNvSpPr>
            <a:spLocks noGrp="1"/>
          </p:cNvSpPr>
          <p:nvPr>
            <p:ph sz="half" idx="13"/>
          </p:nvPr>
        </p:nvSpPr>
        <p:spPr>
          <a:xfrm>
            <a:off x="762000" y="4497070"/>
            <a:ext cx="7656512" cy="155448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a:p>
        </p:txBody>
      </p:sp>
      <p:sp>
        <p:nvSpPr>
          <p:cNvPr id="3" name="Content Placeholder 2"/>
          <p:cNvSpPr>
            <a:spLocks noGrp="1"/>
          </p:cNvSpPr>
          <p:nvPr>
            <p:ph sz="half" idx="1"/>
          </p:nvPr>
        </p:nvSpPr>
        <p:spPr>
          <a:xfrm>
            <a:off x="4636008" y="2784475"/>
            <a:ext cx="3767328" cy="155448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5" name="Date Placeholder 4"/>
          <p:cNvSpPr>
            <a:spLocks noGrp="1"/>
          </p:cNvSpPr>
          <p:nvPr>
            <p:ph type="dt" sz="half" idx="10"/>
          </p:nvPr>
        </p:nvSpPr>
        <p:spPr/>
        <p:txBody>
          <a:bodyPr/>
          <a:lstStyle/>
          <a:p>
            <a:fld id="{F4B30768-82CB-481A-A370-29B9B0A000F3}" type="datetimeFigureOut">
              <a:rPr lang="en-US" smtClean="0"/>
              <a:pPr/>
              <a:t>12/18/08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A7A46CB-11D8-4731-AAF5-019F7233E229}" type="slidenum">
              <a:rPr lang="en-GB" smtClean="0"/>
              <a:pPr/>
              <a:t>‹#›</a:t>
            </a:fld>
            <a:endParaRPr lang="en-GB"/>
          </a:p>
        </p:txBody>
      </p:sp>
      <p:sp>
        <p:nvSpPr>
          <p:cNvPr id="8" name="Content Placeholder 2"/>
          <p:cNvSpPr>
            <a:spLocks noGrp="1"/>
          </p:cNvSpPr>
          <p:nvPr>
            <p:ph sz="half" idx="13"/>
          </p:nvPr>
        </p:nvSpPr>
        <p:spPr>
          <a:xfrm>
            <a:off x="4636008" y="4497070"/>
            <a:ext cx="3767328" cy="155448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9" name="Content Placeholder 2"/>
          <p:cNvSpPr>
            <a:spLocks noGrp="1"/>
          </p:cNvSpPr>
          <p:nvPr>
            <p:ph sz="half" idx="14"/>
          </p:nvPr>
        </p:nvSpPr>
        <p:spPr>
          <a:xfrm>
            <a:off x="740664" y="2784475"/>
            <a:ext cx="3767328" cy="3252788"/>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a:p>
        </p:txBody>
      </p:sp>
      <p:sp>
        <p:nvSpPr>
          <p:cNvPr id="3" name="Content Placeholder 2"/>
          <p:cNvSpPr>
            <a:spLocks noGrp="1"/>
          </p:cNvSpPr>
          <p:nvPr>
            <p:ph sz="half" idx="1"/>
          </p:nvPr>
        </p:nvSpPr>
        <p:spPr>
          <a:xfrm>
            <a:off x="4636008" y="2784475"/>
            <a:ext cx="3767328" cy="155448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5" name="Date Placeholder 4"/>
          <p:cNvSpPr>
            <a:spLocks noGrp="1"/>
          </p:cNvSpPr>
          <p:nvPr>
            <p:ph type="dt" sz="half" idx="10"/>
          </p:nvPr>
        </p:nvSpPr>
        <p:spPr/>
        <p:txBody>
          <a:bodyPr/>
          <a:lstStyle/>
          <a:p>
            <a:fld id="{F4B30768-82CB-481A-A370-29B9B0A000F3}" type="datetimeFigureOut">
              <a:rPr lang="en-US" smtClean="0"/>
              <a:pPr/>
              <a:t>12/18/08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A7A46CB-11D8-4731-AAF5-019F7233E229}" type="slidenum">
              <a:rPr lang="en-GB" smtClean="0"/>
              <a:pPr/>
              <a:t>‹#›</a:t>
            </a:fld>
            <a:endParaRPr lang="en-GB"/>
          </a:p>
        </p:txBody>
      </p:sp>
      <p:sp>
        <p:nvSpPr>
          <p:cNvPr id="8" name="Content Placeholder 2"/>
          <p:cNvSpPr>
            <a:spLocks noGrp="1"/>
          </p:cNvSpPr>
          <p:nvPr>
            <p:ph sz="half" idx="13"/>
          </p:nvPr>
        </p:nvSpPr>
        <p:spPr>
          <a:xfrm>
            <a:off x="4636008" y="4497070"/>
            <a:ext cx="3767328" cy="155448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10" name="Content Placeholder 2"/>
          <p:cNvSpPr>
            <a:spLocks noGrp="1"/>
          </p:cNvSpPr>
          <p:nvPr>
            <p:ph sz="half" idx="14"/>
          </p:nvPr>
        </p:nvSpPr>
        <p:spPr>
          <a:xfrm>
            <a:off x="739775" y="2784475"/>
            <a:ext cx="3767328" cy="155448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11" name="Content Placeholder 2"/>
          <p:cNvSpPr>
            <a:spLocks noGrp="1"/>
          </p:cNvSpPr>
          <p:nvPr>
            <p:ph sz="half" idx="15"/>
          </p:nvPr>
        </p:nvSpPr>
        <p:spPr>
          <a:xfrm>
            <a:off x="739775" y="4497070"/>
            <a:ext cx="3767328" cy="155448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a:p>
        </p:txBody>
      </p:sp>
      <p:sp>
        <p:nvSpPr>
          <p:cNvPr id="3" name="Date Placeholder 2"/>
          <p:cNvSpPr>
            <a:spLocks noGrp="1"/>
          </p:cNvSpPr>
          <p:nvPr>
            <p:ph type="dt" sz="half" idx="10"/>
          </p:nvPr>
        </p:nvSpPr>
        <p:spPr/>
        <p:txBody>
          <a:bodyPr/>
          <a:lstStyle/>
          <a:p>
            <a:fld id="{F4B30768-82CB-481A-A370-29B9B0A000F3}" type="datetimeFigureOut">
              <a:rPr lang="en-US" smtClean="0"/>
              <a:pPr/>
              <a:t>12/18/08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A7A46CB-11D8-4731-AAF5-019F7233E229}"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bg>
      <p:bgRef idx="1001">
        <a:schemeClr val="bg1"/>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B30768-82CB-481A-A370-29B9B0A000F3}" type="datetimeFigureOut">
              <a:rPr lang="en-US" smtClean="0"/>
              <a:pPr/>
              <a:t>12/18/08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A7A46CB-11D8-4731-AAF5-019F7233E229}"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199" y="381001"/>
            <a:ext cx="3509683" cy="2209800"/>
          </a:xfrm>
        </p:spPr>
        <p:txBody>
          <a:bodyPr anchor="b"/>
          <a:lstStyle>
            <a:lvl1pPr algn="l">
              <a:defRPr sz="4400" b="0"/>
            </a:lvl1pPr>
          </a:lstStyle>
          <a:p>
            <a:r>
              <a:rPr lang="en-GB" smtClean="0"/>
              <a:t>Click to edit Master title style</a:t>
            </a:r>
            <a:endParaRPr/>
          </a:p>
        </p:txBody>
      </p:sp>
      <p:sp>
        <p:nvSpPr>
          <p:cNvPr id="3" name="Content Placeholder 2"/>
          <p:cNvSpPr>
            <a:spLocks noGrp="1"/>
          </p:cNvSpPr>
          <p:nvPr>
            <p:ph idx="1"/>
          </p:nvPr>
        </p:nvSpPr>
        <p:spPr>
          <a:xfrm>
            <a:off x="5029200" y="273050"/>
            <a:ext cx="3657600" cy="5853113"/>
          </a:xfrm>
        </p:spPr>
        <p:txBody>
          <a:bodyPr>
            <a:normAutofit/>
          </a:bodyPr>
          <a:lstStyle>
            <a:lvl1pPr>
              <a:defRPr sz="22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4" name="Text Placeholder 3"/>
          <p:cNvSpPr>
            <a:spLocks noGrp="1"/>
          </p:cNvSpPr>
          <p:nvPr>
            <p:ph type="body" sz="half" idx="2"/>
          </p:nvPr>
        </p:nvSpPr>
        <p:spPr>
          <a:xfrm>
            <a:off x="457199" y="2649071"/>
            <a:ext cx="3509683" cy="3388192"/>
          </a:xfrm>
        </p:spPr>
        <p:txBody>
          <a:bodyPr>
            <a:normAutofit/>
          </a:bodyPr>
          <a:lstStyle>
            <a:lvl1pPr marL="0" indent="0">
              <a:buNone/>
              <a:defRPr sz="20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lvl1pPr>
              <a:defRPr>
                <a:solidFill>
                  <a:schemeClr val="bg1"/>
                </a:solidFill>
              </a:defRPr>
            </a:lvl1pPr>
          </a:lstStyle>
          <a:p>
            <a:fld id="{F4B30768-82CB-481A-A370-29B9B0A000F3}" type="datetimeFigureOut">
              <a:rPr lang="en-US" smtClean="0"/>
              <a:pPr/>
              <a:t>12/18/08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A7A46CB-11D8-4731-AAF5-019F7233E229}" type="slidenum">
              <a:rPr lang="en-GB" smtClean="0"/>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51425" y="381001"/>
            <a:ext cx="3635375" cy="2209800"/>
          </a:xfrm>
        </p:spPr>
        <p:txBody>
          <a:bodyPr anchor="b"/>
          <a:lstStyle>
            <a:lvl1pPr algn="l">
              <a:defRPr sz="4400" b="0">
                <a:solidFill>
                  <a:schemeClr val="tx1"/>
                </a:solidFill>
              </a:defRPr>
            </a:lvl1pPr>
          </a:lstStyle>
          <a:p>
            <a:r>
              <a:rPr lang="en-GB" smtClean="0"/>
              <a:t>Click to edit Master title style</a:t>
            </a:r>
            <a:endParaRPr/>
          </a:p>
        </p:txBody>
      </p:sp>
      <p:sp>
        <p:nvSpPr>
          <p:cNvPr id="4" name="Text Placeholder 3"/>
          <p:cNvSpPr>
            <a:spLocks noGrp="1"/>
          </p:cNvSpPr>
          <p:nvPr>
            <p:ph type="body" sz="half" idx="2"/>
          </p:nvPr>
        </p:nvSpPr>
        <p:spPr>
          <a:xfrm>
            <a:off x="5051425" y="2649070"/>
            <a:ext cx="3635375" cy="3505667"/>
          </a:xfrm>
        </p:spPr>
        <p:txBody>
          <a:bodyPr>
            <a:normAutofit/>
          </a:bodyPr>
          <a:lstStyle>
            <a:lvl1pPr marL="0" indent="0">
              <a:buNone/>
              <a:defRPr sz="2000">
                <a:solidFill>
                  <a:schemeClr val="tx1">
                    <a:lumMod val="65000"/>
                    <a:lumOff val="3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lvl1pPr>
              <a:defRPr>
                <a:solidFill>
                  <a:schemeClr val="bg1"/>
                </a:solidFill>
              </a:defRPr>
            </a:lvl1pPr>
          </a:lstStyle>
          <a:p>
            <a:fld id="{F4B30768-82CB-481A-A370-29B9B0A000F3}" type="datetimeFigureOut">
              <a:rPr lang="en-US" smtClean="0"/>
              <a:pPr/>
              <a:t>12/18/08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A7A46CB-11D8-4731-AAF5-019F7233E229}" type="slidenum">
              <a:rPr lang="en-GB" smtClean="0"/>
              <a:pPr/>
              <a:t>‹#›</a:t>
            </a:fld>
            <a:endParaRPr lang="en-GB"/>
          </a:p>
        </p:txBody>
      </p:sp>
      <p:sp>
        <p:nvSpPr>
          <p:cNvPr id="9" name="Picture Placeholder 8"/>
          <p:cNvSpPr>
            <a:spLocks noGrp="1"/>
          </p:cNvSpPr>
          <p:nvPr>
            <p:ph type="pic" sz="quarter" idx="13"/>
          </p:nvPr>
        </p:nvSpPr>
        <p:spPr>
          <a:xfrm>
            <a:off x="228600" y="1143000"/>
            <a:ext cx="4267200" cy="4267200"/>
          </a:xfrm>
          <a:prstGeom prst="ellipse">
            <a:avLst/>
          </a:prstGeom>
          <a:ln w="28575">
            <a:solidFill>
              <a:schemeClr val="accent1"/>
            </a:solidFill>
          </a:ln>
        </p:spPr>
        <p:txBody>
          <a:bodyPr/>
          <a:lstStyle>
            <a:lvl1pPr marL="0" indent="0">
              <a:buNone/>
              <a:defRPr>
                <a:solidFill>
                  <a:schemeClr val="bg1"/>
                </a:solidFill>
              </a:defRPr>
            </a:lvl1pPr>
          </a:lstStyle>
          <a:p>
            <a:r>
              <a:rPr lang="en-GB" smtClean="0"/>
              <a:t>Click icon to add picture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3 Pictures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51425" y="381001"/>
            <a:ext cx="3635375" cy="2209800"/>
          </a:xfrm>
        </p:spPr>
        <p:txBody>
          <a:bodyPr anchor="b"/>
          <a:lstStyle>
            <a:lvl1pPr algn="l">
              <a:defRPr sz="4400" b="0">
                <a:solidFill>
                  <a:schemeClr val="tx1"/>
                </a:solidFill>
              </a:defRPr>
            </a:lvl1pPr>
          </a:lstStyle>
          <a:p>
            <a:r>
              <a:rPr lang="en-GB" smtClean="0"/>
              <a:t>Click to edit Master title style</a:t>
            </a:r>
            <a:endParaRPr/>
          </a:p>
        </p:txBody>
      </p:sp>
      <p:sp>
        <p:nvSpPr>
          <p:cNvPr id="4" name="Text Placeholder 3"/>
          <p:cNvSpPr>
            <a:spLocks noGrp="1"/>
          </p:cNvSpPr>
          <p:nvPr>
            <p:ph type="body" sz="half" idx="2"/>
          </p:nvPr>
        </p:nvSpPr>
        <p:spPr>
          <a:xfrm>
            <a:off x="5051425" y="2649070"/>
            <a:ext cx="3635375" cy="3505667"/>
          </a:xfrm>
        </p:spPr>
        <p:txBody>
          <a:bodyPr>
            <a:normAutofit/>
          </a:bodyPr>
          <a:lstStyle>
            <a:lvl1pPr marL="0" indent="0">
              <a:buNone/>
              <a:defRPr sz="2000">
                <a:solidFill>
                  <a:schemeClr val="tx1">
                    <a:lumMod val="65000"/>
                    <a:lumOff val="3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lvl1pPr>
              <a:defRPr>
                <a:solidFill>
                  <a:schemeClr val="bg1"/>
                </a:solidFill>
              </a:defRPr>
            </a:lvl1pPr>
          </a:lstStyle>
          <a:p>
            <a:fld id="{F4B30768-82CB-481A-A370-29B9B0A000F3}" type="datetimeFigureOut">
              <a:rPr lang="en-US" smtClean="0"/>
              <a:pPr/>
              <a:t>12/18/08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A7A46CB-11D8-4731-AAF5-019F7233E229}" type="slidenum">
              <a:rPr lang="en-GB" smtClean="0"/>
              <a:pPr/>
              <a:t>‹#›</a:t>
            </a:fld>
            <a:endParaRPr lang="en-GB"/>
          </a:p>
        </p:txBody>
      </p:sp>
      <p:sp>
        <p:nvSpPr>
          <p:cNvPr id="9" name="Picture Placeholder 8"/>
          <p:cNvSpPr>
            <a:spLocks noGrp="1"/>
          </p:cNvSpPr>
          <p:nvPr>
            <p:ph type="pic" sz="quarter" idx="13"/>
          </p:nvPr>
        </p:nvSpPr>
        <p:spPr>
          <a:xfrm>
            <a:off x="990600" y="2590800"/>
            <a:ext cx="3505200" cy="3505200"/>
          </a:xfrm>
          <a:prstGeom prst="ellipse">
            <a:avLst/>
          </a:prstGeom>
          <a:ln w="28575">
            <a:solidFill>
              <a:schemeClr val="accent1"/>
            </a:solidFill>
          </a:ln>
        </p:spPr>
        <p:txBody>
          <a:bodyPr/>
          <a:lstStyle>
            <a:lvl1pPr marL="0" indent="0">
              <a:buNone/>
              <a:defRPr>
                <a:solidFill>
                  <a:schemeClr val="bg1"/>
                </a:solidFill>
              </a:defRPr>
            </a:lvl1pPr>
          </a:lstStyle>
          <a:p>
            <a:r>
              <a:rPr lang="en-GB" smtClean="0"/>
              <a:t>Click icon to add picture</a:t>
            </a:r>
            <a:endParaRPr/>
          </a:p>
        </p:txBody>
      </p:sp>
      <p:sp>
        <p:nvSpPr>
          <p:cNvPr id="8" name="Picture Placeholder 8"/>
          <p:cNvSpPr>
            <a:spLocks noGrp="1"/>
          </p:cNvSpPr>
          <p:nvPr>
            <p:ph type="pic" sz="quarter" idx="14"/>
          </p:nvPr>
        </p:nvSpPr>
        <p:spPr>
          <a:xfrm>
            <a:off x="2479675" y="1260475"/>
            <a:ext cx="1254125" cy="1254125"/>
          </a:xfrm>
          <a:prstGeom prst="ellipse">
            <a:avLst/>
          </a:prstGeom>
          <a:ln w="28575">
            <a:solidFill>
              <a:schemeClr val="accent1"/>
            </a:solidFill>
          </a:ln>
        </p:spPr>
        <p:txBody>
          <a:bodyPr>
            <a:normAutofit/>
          </a:bodyPr>
          <a:lstStyle>
            <a:lvl1pPr marL="0" indent="0">
              <a:buNone/>
              <a:defRPr sz="1400">
                <a:solidFill>
                  <a:schemeClr val="bg1"/>
                </a:solidFill>
              </a:defRPr>
            </a:lvl1pPr>
          </a:lstStyle>
          <a:p>
            <a:r>
              <a:rPr lang="en-GB" smtClean="0"/>
              <a:t>Click icon to add picture</a:t>
            </a:r>
            <a:endParaRPr/>
          </a:p>
        </p:txBody>
      </p:sp>
      <p:sp>
        <p:nvSpPr>
          <p:cNvPr id="10" name="Picture Placeholder 8"/>
          <p:cNvSpPr>
            <a:spLocks noGrp="1"/>
          </p:cNvSpPr>
          <p:nvPr>
            <p:ph type="pic" sz="quarter" idx="15"/>
          </p:nvPr>
        </p:nvSpPr>
        <p:spPr>
          <a:xfrm>
            <a:off x="269875" y="762000"/>
            <a:ext cx="2092325" cy="2092325"/>
          </a:xfrm>
          <a:prstGeom prst="ellipse">
            <a:avLst/>
          </a:prstGeom>
          <a:ln w="28575">
            <a:solidFill>
              <a:schemeClr val="accent1"/>
            </a:solidFill>
          </a:ln>
        </p:spPr>
        <p:txBody>
          <a:bodyPr>
            <a:normAutofit/>
          </a:bodyPr>
          <a:lstStyle>
            <a:lvl1pPr marL="0" indent="0">
              <a:buNone/>
              <a:defRPr sz="1800">
                <a:solidFill>
                  <a:schemeClr val="bg1"/>
                </a:solidFill>
              </a:defRPr>
            </a:lvl1pPr>
          </a:lstStyle>
          <a:p>
            <a:r>
              <a:rPr lang="en-GB" smtClean="0"/>
              <a:t>Click icon to add picture</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a:p>
        </p:txBody>
      </p:sp>
      <p:sp>
        <p:nvSpPr>
          <p:cNvPr id="3" name="Vertical Text Placeholder 2"/>
          <p:cNvSpPr>
            <a:spLocks noGrp="1"/>
          </p:cNvSpPr>
          <p:nvPr>
            <p:ph type="body" orient="vert" idx="1"/>
          </p:nvPr>
        </p:nvSpPr>
        <p:spPr>
          <a:xfrm>
            <a:off x="457200" y="2568388"/>
            <a:ext cx="8228013" cy="346887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4" name="Date Placeholder 3"/>
          <p:cNvSpPr>
            <a:spLocks noGrp="1"/>
          </p:cNvSpPr>
          <p:nvPr>
            <p:ph type="dt" sz="half" idx="10"/>
          </p:nvPr>
        </p:nvSpPr>
        <p:spPr/>
        <p:txBody>
          <a:bodyPr/>
          <a:lstStyle/>
          <a:p>
            <a:fld id="{F4B30768-82CB-481A-A370-29B9B0A000F3}" type="datetimeFigureOut">
              <a:rPr lang="en-US" smtClean="0"/>
              <a:pPr/>
              <a:t>12/18/08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7A46CB-11D8-4731-AAF5-019F7233E229}" type="slidenum">
              <a:rPr lang="en-GB" smtClean="0"/>
              <a:pPr/>
              <a:t>‹#›</a:t>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6600" y="274638"/>
            <a:ext cx="1524000" cy="5851525"/>
          </a:xfrm>
        </p:spPr>
        <p:txBody>
          <a:bodyPr vert="eaVert" anchor="t" anchorCtr="0"/>
          <a:lstStyle/>
          <a:p>
            <a:r>
              <a:rPr lang="en-GB" smtClean="0"/>
              <a:t>Click to edit Master title style</a:t>
            </a:r>
            <a:endParaRPr/>
          </a:p>
        </p:txBody>
      </p:sp>
      <p:sp>
        <p:nvSpPr>
          <p:cNvPr id="3" name="Vertical Text Placeholder 2"/>
          <p:cNvSpPr>
            <a:spLocks noGrp="1"/>
          </p:cNvSpPr>
          <p:nvPr>
            <p:ph type="body" orient="vert" idx="1"/>
          </p:nvPr>
        </p:nvSpPr>
        <p:spPr>
          <a:xfrm>
            <a:off x="457200" y="416859"/>
            <a:ext cx="6019800" cy="5615642"/>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4" name="Date Placeholder 3"/>
          <p:cNvSpPr>
            <a:spLocks noGrp="1"/>
          </p:cNvSpPr>
          <p:nvPr>
            <p:ph type="dt" sz="half" idx="10"/>
          </p:nvPr>
        </p:nvSpPr>
        <p:spPr/>
        <p:txBody>
          <a:bodyPr/>
          <a:lstStyle/>
          <a:p>
            <a:fld id="{F4B30768-82CB-481A-A370-29B9B0A000F3}" type="datetimeFigureOut">
              <a:rPr lang="en-US" smtClean="0"/>
              <a:pPr/>
              <a:t>12/18/08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7A46CB-11D8-4731-AAF5-019F7233E229}" type="slidenum">
              <a:rPr lang="en-GB" smtClean="0"/>
              <a:pPr/>
              <a:t>‹#›</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4B30768-82CB-481A-A370-29B9B0A000F3}" type="datetimeFigureOut">
              <a:rPr lang="en-US" smtClean="0"/>
              <a:pPr/>
              <a:t>12/18/08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A7A46CB-11D8-4731-AAF5-019F7233E229}"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4" Type="http://schemas.openxmlformats.org/officeDocument/2006/relationships/slideLayout" Target="../slideLayouts/slideLayout14.xml"/><Relationship Id="rId4" Type="http://schemas.openxmlformats.org/officeDocument/2006/relationships/slideLayout" Target="../slideLayouts/slideLayout4.xml"/><Relationship Id="rId7" Type="http://schemas.openxmlformats.org/officeDocument/2006/relationships/slideLayout" Target="../slideLayouts/slideLayout7.xml"/><Relationship Id="rId11" Type="http://schemas.openxmlformats.org/officeDocument/2006/relationships/slideLayout" Target="../slideLayouts/slideLayout11.xml"/><Relationship Id="rId1" Type="http://schemas.openxmlformats.org/officeDocument/2006/relationships/slideLayout" Target="../slideLayouts/slideLayout1.xml"/><Relationship Id="rId6" Type="http://schemas.openxmlformats.org/officeDocument/2006/relationships/slideLayout" Target="../slideLayouts/slideLayout6.xml"/><Relationship Id="rId16" Type="http://schemas.openxmlformats.org/officeDocument/2006/relationships/slideLayout" Target="../slideLayouts/slideLayout16.xml"/><Relationship Id="rId8" Type="http://schemas.openxmlformats.org/officeDocument/2006/relationships/slideLayout" Target="../slideLayouts/slideLayout8.xml"/><Relationship Id="rId13" Type="http://schemas.openxmlformats.org/officeDocument/2006/relationships/slideLayout" Target="../slideLayouts/slideLayout13.xml"/><Relationship Id="rId10" Type="http://schemas.openxmlformats.org/officeDocument/2006/relationships/slideLayout" Target="../slideLayouts/slideLayout1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9" Type="http://schemas.openxmlformats.org/officeDocument/2006/relationships/slideLayout" Target="../slideLayouts/slideLayout9.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45141"/>
            <a:ext cx="8229600" cy="1143000"/>
          </a:xfrm>
          <a:prstGeom prst="rect">
            <a:avLst/>
          </a:prstGeom>
        </p:spPr>
        <p:txBody>
          <a:bodyPr vert="horz" lIns="91440" tIns="45720" rIns="91440" bIns="45720" rtlCol="0" anchor="ctr">
            <a:noAutofit/>
          </a:bodyPr>
          <a:lstStyle/>
          <a:p>
            <a:r>
              <a:rPr lang="en-GB" smtClean="0"/>
              <a:t>Click to edit Master title style</a:t>
            </a:r>
            <a:endParaRPr/>
          </a:p>
        </p:txBody>
      </p:sp>
      <p:sp>
        <p:nvSpPr>
          <p:cNvPr id="3" name="Text Placeholder 2"/>
          <p:cNvSpPr>
            <a:spLocks noGrp="1"/>
          </p:cNvSpPr>
          <p:nvPr>
            <p:ph type="body" idx="1"/>
          </p:nvPr>
        </p:nvSpPr>
        <p:spPr>
          <a:xfrm>
            <a:off x="739775" y="2770094"/>
            <a:ext cx="7662864" cy="3267169"/>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fld id="{F4B30768-82CB-481A-A370-29B9B0A000F3}" type="datetimeFigureOut">
              <a:rPr lang="en-US" smtClean="0"/>
              <a:pPr/>
              <a:t>12/18/08</a:t>
            </a:fld>
            <a:endParaRPr lang="en-GB"/>
          </a:p>
        </p:txBody>
      </p:sp>
      <p:sp>
        <p:nvSpPr>
          <p:cNvPr id="5" name="Footer Placeholder 4"/>
          <p:cNvSpPr>
            <a:spLocks noGrp="1"/>
          </p:cNvSpPr>
          <p:nvPr>
            <p:ph type="ftr" sz="quarter" idx="3"/>
          </p:nvPr>
        </p:nvSpPr>
        <p:spPr>
          <a:xfrm>
            <a:off x="5789613" y="6356350"/>
            <a:ext cx="2895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endParaRPr lang="en-GB"/>
          </a:p>
        </p:txBody>
      </p:sp>
      <p:sp>
        <p:nvSpPr>
          <p:cNvPr id="6" name="Slide Number Placeholder 5"/>
          <p:cNvSpPr>
            <a:spLocks noGrp="1"/>
          </p:cNvSpPr>
          <p:nvPr>
            <p:ph type="sldNum" sz="quarter" idx="4"/>
          </p:nvPr>
        </p:nvSpPr>
        <p:spPr>
          <a:xfrm>
            <a:off x="4305300" y="6356350"/>
            <a:ext cx="533400" cy="365125"/>
          </a:xfrm>
          <a:prstGeom prst="rect">
            <a:avLst/>
          </a:prstGeom>
        </p:spPr>
        <p:txBody>
          <a:bodyPr vert="horz" lIns="91440" tIns="45720" rIns="91440" bIns="45720" rtlCol="0" anchor="ctr"/>
          <a:lstStyle>
            <a:lvl1pPr algn="ctr">
              <a:defRPr sz="1100" b="1">
                <a:solidFill>
                  <a:schemeClr val="tx1">
                    <a:lumMod val="50000"/>
                    <a:lumOff val="50000"/>
                  </a:schemeClr>
                </a:solidFill>
              </a:defRPr>
            </a:lvl1pPr>
          </a:lstStyle>
          <a:p>
            <a:fld id="{AA7A46CB-11D8-4731-AAF5-019F7233E229}"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r:id="rId1"/>
    <p:sldLayoutId r:id="rId2"/>
    <p:sldLayoutId r:id="rId3"/>
    <p:sldLayoutId r:id="rId4"/>
    <p:sldLayoutId r:id="rId5"/>
    <p:sldLayoutId r:id="rId6"/>
    <p:sldLayoutId r:id="rId7"/>
    <p:sldLayoutId r:id="rId8"/>
    <p:sldLayoutId r:id="rId9"/>
    <p:sldLayoutId r:id="rId10"/>
    <p:sldLayoutId r:id="rId11"/>
    <p:sldLayoutId r:id="rId12"/>
    <p:sldLayoutId r:id="rId13"/>
    <p:sldLayoutId r:id="rId14"/>
    <p:sldLayoutId r:id="rId15"/>
    <p:sldLayoutId r:id="rId16"/>
  </p:sldLayoutIdLst>
  <p:txStyles>
    <p:titleStyle>
      <a:lvl1pPr algn="ctr" defTabSz="914400" rtl="0" eaLnBrk="1" latinLnBrk="0" hangingPunct="1">
        <a:spcBef>
          <a:spcPct val="0"/>
        </a:spcBef>
        <a:buNone/>
        <a:defRPr sz="4600" kern="1200">
          <a:solidFill>
            <a:schemeClr val="bg1"/>
          </a:solidFill>
          <a:latin typeface="+mj-lt"/>
          <a:ea typeface="+mj-ea"/>
          <a:cs typeface="+mj-cs"/>
        </a:defRPr>
      </a:lvl1pPr>
    </p:titleStyle>
    <p:bodyStyle>
      <a:lvl1pPr marL="342900" indent="-342900" algn="l" defTabSz="914400" rtl="0" eaLnBrk="1" latinLnBrk="0" hangingPunct="1">
        <a:spcBef>
          <a:spcPts val="2000"/>
        </a:spcBef>
        <a:buClr>
          <a:schemeClr val="accent1"/>
        </a:buClr>
        <a:buSzPct val="90000"/>
        <a:buFont typeface="Wingdings" pitchFamily="2" charset="2"/>
        <a:buChar char="S"/>
        <a:defRPr sz="22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60000"/>
            <a:lumOff val="40000"/>
          </a:schemeClr>
        </a:buClr>
        <a:buSzPct val="90000"/>
        <a:buFont typeface="Wingdings" pitchFamily="2" charset="2"/>
        <a:buChar char="S"/>
        <a:defRPr sz="20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SzPct val="90000"/>
        <a:buFont typeface="Wingdings" pitchFamily="2" charset="2"/>
        <a:buChar char="S"/>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60000"/>
            <a:lumOff val="40000"/>
          </a:schemeClr>
        </a:buClr>
        <a:buSzPct val="90000"/>
        <a:buFont typeface="Wingdings" pitchFamily="2" charset="2"/>
        <a:buChar char="S"/>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SzPct val="90000"/>
        <a:buFont typeface="Wingdings" pitchFamily="2" charset="2"/>
        <a:buChar char="S"/>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4" Type="http://schemas.openxmlformats.org/officeDocument/2006/relationships/image" Target="../media/image9.png"/><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8.pd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3" Type="http://schemas.openxmlformats.org/officeDocument/2006/relationships/image" Target="../media/image10.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4" Type="http://schemas.openxmlformats.org/officeDocument/2006/relationships/image" Target="../media/image12.png"/><Relationship Id="rId10" Type="http://schemas.openxmlformats.org/officeDocument/2006/relationships/image" Target="../media/image18.png"/><Relationship Id="rId5" Type="http://schemas.openxmlformats.org/officeDocument/2006/relationships/image" Target="../media/image13.pdf"/><Relationship Id="rId7" Type="http://schemas.openxmlformats.org/officeDocument/2006/relationships/image" Target="../media/image15.pdf"/><Relationship Id="rId1" Type="http://schemas.openxmlformats.org/officeDocument/2006/relationships/slideLayout" Target="../slideLayouts/slideLayout10.xml"/><Relationship Id="rId2" Type="http://schemas.openxmlformats.org/officeDocument/2006/relationships/notesSlide" Target="../notesSlides/notesSlide9.xml"/><Relationship Id="rId9" Type="http://schemas.openxmlformats.org/officeDocument/2006/relationships/image" Target="../media/image17.pdf"/><Relationship Id="rId3" Type="http://schemas.openxmlformats.org/officeDocument/2006/relationships/image" Target="../media/image11.pdf"/><Relationship Id="rId6"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3" Type="http://schemas.openxmlformats.org/officeDocument/2006/relationships/image" Target="../media/image19.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4" Type="http://schemas.openxmlformats.org/officeDocument/2006/relationships/image" Target="../media/image21.png"/><Relationship Id="rId5" Type="http://schemas.openxmlformats.org/officeDocument/2006/relationships/image" Target="../media/image22.pdf"/><Relationship Id="rId7" Type="http://schemas.openxmlformats.org/officeDocument/2006/relationships/image" Target="../media/image24.pdf"/><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20.pdf"/><Relationship Id="rId6" Type="http://schemas.openxmlformats.org/officeDocument/2006/relationships/image" Target="../media/image23.png"/></Relationships>
</file>

<file path=ppt/slides/_rels/slide14.xml.rels><?xml version="1.0" encoding="UTF-8" standalone="yes"?>
<Relationships xmlns="http://schemas.openxmlformats.org/package/2006/relationships"><Relationship Id="rId6" Type="http://schemas.openxmlformats.org/officeDocument/2006/relationships/image" Target="../media/image29.png"/><Relationship Id="rId4" Type="http://schemas.openxmlformats.org/officeDocument/2006/relationships/image" Target="../media/image27.png"/><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26.pdf"/><Relationship Id="rId5" Type="http://schemas.openxmlformats.org/officeDocument/2006/relationships/image" Target="../media/image28.pdf"/></Relationships>
</file>

<file path=ppt/slides/_rels/slide15.xml.rels><?xml version="1.0" encoding="UTF-8" standalone="yes"?>
<Relationships xmlns="http://schemas.openxmlformats.org/package/2006/relationships"><Relationship Id="rId4" Type="http://schemas.openxmlformats.org/officeDocument/2006/relationships/image" Target="../media/image31.png"/><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3" Type="http://schemas.openxmlformats.org/officeDocument/2006/relationships/image" Target="../media/image32.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4" Type="http://schemas.openxmlformats.org/officeDocument/2006/relationships/image" Target="../media/image23.png"/><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22.pd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3" Type="http://schemas.openxmlformats.org/officeDocument/2006/relationships/image" Target="../media/image33.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3" Type="http://schemas.openxmlformats.org/officeDocument/2006/relationships/image" Target="../media/image34.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3" Type="http://schemas.openxmlformats.org/officeDocument/2006/relationships/image" Target="../media/image34.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4" Type="http://schemas.openxmlformats.org/officeDocument/2006/relationships/image" Target="../media/image36.png"/><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35.pdf"/><Relationship Id="rId5" Type="http://schemas.openxmlformats.org/officeDocument/2006/relationships/image" Target="../media/image37.jpeg"/></Relationships>
</file>

<file path=ppt/slides/_rels/slide23.xml.rels><?xml version="1.0" encoding="UTF-8" standalone="yes"?>
<Relationships xmlns="http://schemas.openxmlformats.org/package/2006/relationships"><Relationship Id="rId8" Type="http://schemas.openxmlformats.org/officeDocument/2006/relationships/image" Target="../media/image43.png"/><Relationship Id="rId4" Type="http://schemas.openxmlformats.org/officeDocument/2006/relationships/image" Target="../media/image39.png"/><Relationship Id="rId10" Type="http://schemas.openxmlformats.org/officeDocument/2006/relationships/image" Target="../media/image36.png"/><Relationship Id="rId5" Type="http://schemas.openxmlformats.org/officeDocument/2006/relationships/image" Target="../media/image40.pdf"/><Relationship Id="rId7" Type="http://schemas.openxmlformats.org/officeDocument/2006/relationships/image" Target="../media/image42.pdf"/><Relationship Id="rId1" Type="http://schemas.openxmlformats.org/officeDocument/2006/relationships/slideLayout" Target="../slideLayouts/slideLayout10.xml"/><Relationship Id="rId2" Type="http://schemas.openxmlformats.org/officeDocument/2006/relationships/notesSlide" Target="../notesSlides/notesSlide23.xml"/><Relationship Id="rId9" Type="http://schemas.openxmlformats.org/officeDocument/2006/relationships/image" Target="../media/image35.pdf"/><Relationship Id="rId3" Type="http://schemas.openxmlformats.org/officeDocument/2006/relationships/image" Target="../media/image38.pdf"/><Relationship Id="rId6" Type="http://schemas.openxmlformats.org/officeDocument/2006/relationships/image" Target="../media/image4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ctrTitle"/>
          </p:nvPr>
        </p:nvSpPr>
        <p:spPr>
          <a:xfrm>
            <a:off x="533400" y="1447800"/>
            <a:ext cx="8229600" cy="1470025"/>
          </a:xfrm>
        </p:spPr>
        <p:txBody>
          <a:bodyPr/>
          <a:lstStyle/>
          <a:p>
            <a:r>
              <a:rPr lang="en-GB" dirty="0" smtClean="0"/>
              <a:t>Preservation as a Process of a Repository</a:t>
            </a:r>
            <a:endParaRPr lang="en-GB" dirty="0"/>
          </a:p>
        </p:txBody>
      </p:sp>
      <p:sp>
        <p:nvSpPr>
          <p:cNvPr id="5" name="Subtitle 4"/>
          <p:cNvSpPr>
            <a:spLocks noGrp="1"/>
          </p:cNvSpPr>
          <p:nvPr>
            <p:ph type="subTitle" idx="1"/>
          </p:nvPr>
        </p:nvSpPr>
        <p:spPr>
          <a:xfrm>
            <a:off x="1371600" y="3581400"/>
            <a:ext cx="6400800" cy="1752600"/>
          </a:xfrm>
        </p:spPr>
        <p:txBody>
          <a:bodyPr>
            <a:normAutofit/>
          </a:bodyPr>
          <a:lstStyle/>
          <a:p>
            <a:r>
              <a:rPr lang="en-GB" sz="2000" dirty="0" smtClean="0">
                <a:solidFill>
                  <a:schemeClr val="tx1"/>
                </a:solidFill>
              </a:rPr>
              <a:t>David Tarrant</a:t>
            </a:r>
          </a:p>
          <a:p>
            <a:r>
              <a:rPr lang="en-GB" sz="2000" dirty="0" smtClean="0">
                <a:solidFill>
                  <a:schemeClr val="tx1"/>
                </a:solidFill>
              </a:rPr>
              <a:t>University of Southampton (UK)</a:t>
            </a:r>
          </a:p>
          <a:p>
            <a:r>
              <a:rPr lang="en-GB" sz="2000" dirty="0" smtClean="0">
                <a:solidFill>
                  <a:schemeClr val="tx1"/>
                </a:solidFill>
              </a:rPr>
              <a:t>dct05r@ecs.soton.ac.uk</a:t>
            </a:r>
            <a:endParaRPr lang="en-GB" sz="2000" dirty="0">
              <a:solidFill>
                <a:schemeClr val="tx1"/>
              </a:solidFill>
            </a:endParaRPr>
          </a:p>
        </p:txBody>
      </p:sp>
      <p:grpSp>
        <p:nvGrpSpPr>
          <p:cNvPr id="6" name="Group 2"/>
          <p:cNvGrpSpPr>
            <a:grpSpLocks/>
          </p:cNvGrpSpPr>
          <p:nvPr/>
        </p:nvGrpSpPr>
        <p:grpSpPr bwMode="auto">
          <a:xfrm>
            <a:off x="-23812" y="5410200"/>
            <a:ext cx="3529012" cy="1368425"/>
            <a:chOff x="982" y="2545"/>
            <a:chExt cx="5558" cy="2154"/>
          </a:xfrm>
        </p:grpSpPr>
        <p:sp>
          <p:nvSpPr>
            <p:cNvPr id="7" name="AutoShape 3"/>
            <p:cNvSpPr>
              <a:spLocks noChangeArrowheads="1"/>
            </p:cNvSpPr>
            <p:nvPr/>
          </p:nvSpPr>
          <p:spPr bwMode="auto">
            <a:xfrm>
              <a:off x="1527" y="2759"/>
              <a:ext cx="3041" cy="1940"/>
            </a:xfrm>
            <a:custGeom>
              <a:avLst/>
              <a:gdLst>
                <a:gd name="G0" fmla="+- 6480 0 0"/>
                <a:gd name="G1" fmla="+- 8640 0 0"/>
                <a:gd name="G2" fmla="+- 4320 0 0"/>
                <a:gd name="G3" fmla="+- 21600 0 6480"/>
                <a:gd name="G4" fmla="+- 21600 0 8640"/>
                <a:gd name="G5" fmla="+- 21600 0 4320"/>
                <a:gd name="G6" fmla="+- 6480 0 10800"/>
                <a:gd name="G7" fmla="+- 8640 0 10800"/>
                <a:gd name="G8" fmla="*/ G7 4320 G6"/>
                <a:gd name="G9" fmla="+- 21600 0 G8"/>
                <a:gd name="T0" fmla="*/ G8 w 21600"/>
                <a:gd name="T1" fmla="*/ G1 h 21600"/>
                <a:gd name="T2" fmla="*/ G9 w 21600"/>
                <a:gd name="T3" fmla="*/ G4 h 21600"/>
              </a:gdLst>
              <a:ahLst/>
              <a:cxnLst>
                <a:cxn ang="0">
                  <a:pos x="r" y="vc"/>
                </a:cxn>
                <a:cxn ang="5400000">
                  <a:pos x="hc" y="b"/>
                </a:cxn>
                <a:cxn ang="10800000">
                  <a:pos x="l" y="vc"/>
                </a:cxn>
                <a:cxn ang="16200000">
                  <a:pos x="hc" y="t"/>
                </a:cxn>
              </a:cxnLst>
              <a:rect l="T0" t="T1" r="T2" b="T3"/>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noFill/>
            <a:ln w="47625">
              <a:solidFill>
                <a:srgbClr val="CDCF01">
                  <a:alpha val="49001"/>
                </a:srgbClr>
              </a:solidFill>
              <a:miter lim="800000"/>
              <a:headEnd/>
              <a:tailEnd/>
            </a:ln>
            <a:effectLst>
              <a:outerShdw blurRad="38100" dist="25400" dir="5400000" algn="ctr" rotWithShape="0">
                <a:srgbClr val="000000">
                  <a:alpha val="35001"/>
                </a:srgbClr>
              </a:outerShdw>
            </a:effectLst>
          </p:spPr>
          <p:txBody>
            <a:bodyPr vert="horz" wrap="square" lIns="91440" tIns="91440" rIns="91440" bIns="91440" numCol="1" anchor="t" anchorCtr="0" compatLnSpc="1">
              <a:prstTxWarp prst="textNoShape">
                <a:avLst/>
              </a:prstTxWarp>
            </a:bodyPr>
            <a:lstStyle/>
            <a:p>
              <a:endParaRPr lang="en-GB" dirty="0"/>
            </a:p>
          </p:txBody>
        </p:sp>
        <p:sp>
          <p:nvSpPr>
            <p:cNvPr id="8" name="Rectangle 4"/>
            <p:cNvSpPr>
              <a:spLocks noChangeArrowheads="1"/>
            </p:cNvSpPr>
            <p:nvPr/>
          </p:nvSpPr>
          <p:spPr bwMode="auto">
            <a:xfrm>
              <a:off x="982" y="2545"/>
              <a:ext cx="4294" cy="1520"/>
            </a:xfrm>
            <a:prstGeom prst="rect">
              <a:avLst/>
            </a:prstGeom>
            <a:noFill/>
            <a:ln w="19050">
              <a:noFill/>
              <a:miter lim="800000"/>
              <a:headEnd/>
              <a:tailEnd/>
            </a:ln>
            <a:effectLst>
              <a:outerShdw blurRad="38100" dist="25400" dir="5400000" algn="ctr" rotWithShape="0">
                <a:srgbClr val="000000">
                  <a:alpha val="35001"/>
                </a:srgbClr>
              </a:outerShdw>
            </a:effectLst>
          </p:spPr>
          <p:txBody>
            <a:bodyPr vert="horz" wrap="square" lIns="91440" tIns="91440" rIns="91440" bIns="9144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sz="5300" b="1" i="0" u="none" strike="noStrike" cap="none" normalizeH="0" baseline="0" dirty="0" err="1">
                  <a:ln>
                    <a:noFill/>
                  </a:ln>
                  <a:solidFill>
                    <a:schemeClr val="tx1"/>
                  </a:solidFill>
                  <a:effectLst/>
                  <a:latin typeface="Cambria" pitchFamily="-65" charset="0"/>
                  <a:ea typeface="Times New Roman" pitchFamily="-65" charset="0"/>
                </a:rPr>
                <a:t>Preserv</a:t>
              </a:r>
              <a:endParaRPr kumimoji="0" lang="en-GB" sz="5300" b="1" i="0" u="none" strike="noStrike" cap="none" normalizeH="0" baseline="0" dirty="0">
                <a:ln>
                  <a:noFill/>
                </a:ln>
                <a:solidFill>
                  <a:schemeClr val="tx1"/>
                </a:solidFill>
                <a:effectLst/>
                <a:latin typeface="Cambria" pitchFamily="-65" charset="0"/>
                <a:ea typeface="Times New Roman" pitchFamily="-65" charset="0"/>
              </a:endParaRPr>
            </a:p>
          </p:txBody>
        </p:sp>
        <p:sp>
          <p:nvSpPr>
            <p:cNvPr id="9" name="Rectangle 5"/>
            <p:cNvSpPr>
              <a:spLocks noChangeArrowheads="1"/>
            </p:cNvSpPr>
            <p:nvPr/>
          </p:nvSpPr>
          <p:spPr bwMode="auto">
            <a:xfrm>
              <a:off x="1035" y="3630"/>
              <a:ext cx="3934" cy="921"/>
            </a:xfrm>
            <a:prstGeom prst="rect">
              <a:avLst/>
            </a:prstGeom>
            <a:noFill/>
            <a:ln w="19050">
              <a:noFill/>
              <a:miter lim="800000"/>
              <a:headEnd/>
              <a:tailEnd/>
            </a:ln>
            <a:effectLst>
              <a:outerShdw blurRad="38100" dist="25400" dir="5400000" algn="ctr" rotWithShape="0">
                <a:srgbClr val="000000">
                  <a:alpha val="35001"/>
                </a:srgbClr>
              </a:outerShdw>
            </a:effectLst>
          </p:spPr>
          <p:txBody>
            <a:bodyPr vert="horz" wrap="square" lIns="91440" tIns="91440" rIns="91440" bIns="9144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GB" sz="1200" b="0" i="0" u="none" strike="noStrike" cap="none" normalizeH="0" baseline="0" dirty="0">
                  <a:ln>
                    <a:noFill/>
                  </a:ln>
                  <a:solidFill>
                    <a:schemeClr val="tx1"/>
                  </a:solidFill>
                  <a:effectLst/>
                  <a:latin typeface="Cambria" pitchFamily="-65" charset="0"/>
                  <a:ea typeface="Times New Roman" pitchFamily="-65" charset="0"/>
                </a:rPr>
                <a:t>Repository Preservation and Interoperability</a:t>
              </a:r>
            </a:p>
          </p:txBody>
        </p:sp>
        <p:sp>
          <p:nvSpPr>
            <p:cNvPr id="10" name="Rectangle 6"/>
            <p:cNvSpPr>
              <a:spLocks noChangeArrowheads="1"/>
            </p:cNvSpPr>
            <p:nvPr/>
          </p:nvSpPr>
          <p:spPr bwMode="auto">
            <a:xfrm>
              <a:off x="2606" y="2742"/>
              <a:ext cx="3934" cy="921"/>
            </a:xfrm>
            <a:prstGeom prst="rect">
              <a:avLst/>
            </a:prstGeom>
            <a:noFill/>
            <a:ln w="19050">
              <a:noFill/>
              <a:miter lim="800000"/>
              <a:headEnd/>
              <a:tailEnd/>
            </a:ln>
            <a:effectLst>
              <a:outerShdw blurRad="38100" dist="25400" dir="5400000" algn="ctr" rotWithShape="0">
                <a:srgbClr val="000000">
                  <a:alpha val="35001"/>
                </a:srgbClr>
              </a:outerShdw>
            </a:effectLst>
          </p:spPr>
          <p:txBody>
            <a:bodyPr vert="horz" wrap="square" lIns="91440" tIns="91440" rIns="91440" bIns="9144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GB" sz="1200" b="0" i="0" u="none" strike="noStrike" cap="none" normalizeH="0" baseline="0">
                  <a:ln>
                    <a:noFill/>
                  </a:ln>
                  <a:solidFill>
                    <a:schemeClr val="tx1"/>
                  </a:solidFill>
                  <a:effectLst/>
                  <a:latin typeface="Cambria" pitchFamily="-65" charset="0"/>
                  <a:ea typeface="Times New Roman" pitchFamily="-65" charset="0"/>
                </a:rPr>
                <a:t>.org.uk</a:t>
              </a: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extBox 4"/>
          <p:cNvSpPr txBox="1"/>
          <p:nvPr/>
        </p:nvSpPr>
        <p:spPr>
          <a:xfrm>
            <a:off x="2514600" y="76200"/>
            <a:ext cx="5486400" cy="738664"/>
          </a:xfrm>
          <a:prstGeom prst="rect">
            <a:avLst/>
          </a:prstGeom>
          <a:noFill/>
        </p:spPr>
        <p:txBody>
          <a:bodyPr wrap="square" rtlCol="0">
            <a:spAutoFit/>
          </a:bodyPr>
          <a:lstStyle/>
          <a:p>
            <a:r>
              <a:rPr lang="en-GB" sz="4200" b="1" dirty="0" smtClean="0">
                <a:solidFill>
                  <a:schemeClr val="bg1"/>
                </a:solidFill>
                <a:latin typeface="+mj-lt"/>
                <a:cs typeface="Apple Symbols"/>
              </a:rPr>
              <a:t>A Few Definitions</a:t>
            </a:r>
            <a:endParaRPr lang="en-GB" sz="4200" b="1" dirty="0">
              <a:solidFill>
                <a:schemeClr val="bg1"/>
              </a:solidFill>
              <a:latin typeface="+mj-lt"/>
              <a:cs typeface="Apple Symbols"/>
            </a:endParaRPr>
          </a:p>
        </p:txBody>
      </p:sp>
      <p:sp>
        <p:nvSpPr>
          <p:cNvPr id="18" name="TextBox 17"/>
          <p:cNvSpPr txBox="1"/>
          <p:nvPr/>
        </p:nvSpPr>
        <p:spPr>
          <a:xfrm>
            <a:off x="381000" y="1828800"/>
            <a:ext cx="8382000" cy="6463308"/>
          </a:xfrm>
          <a:prstGeom prst="rect">
            <a:avLst/>
          </a:prstGeom>
          <a:noFill/>
        </p:spPr>
        <p:txBody>
          <a:bodyPr wrap="square" rtlCol="0">
            <a:spAutoFit/>
          </a:bodyPr>
          <a:lstStyle/>
          <a:p>
            <a:r>
              <a:rPr lang="en-GB" b="1" dirty="0" smtClean="0"/>
              <a:t>Repository</a:t>
            </a:r>
            <a:r>
              <a:rPr lang="en-GB" dirty="0" smtClean="0"/>
              <a:t>: A repository is a place where data is stored and maintained.</a:t>
            </a:r>
          </a:p>
          <a:p>
            <a:pPr algn="r"/>
            <a:r>
              <a:rPr lang="en-GB" sz="1400" dirty="0" err="1" smtClean="0"/>
              <a:t>Wikipedia</a:t>
            </a:r>
            <a:endParaRPr lang="en-GB" dirty="0" smtClean="0"/>
          </a:p>
          <a:p>
            <a:endParaRPr lang="en-GB" dirty="0" smtClean="0"/>
          </a:p>
          <a:p>
            <a:r>
              <a:rPr lang="en-GB" b="1" dirty="0" smtClean="0"/>
              <a:t>IR</a:t>
            </a:r>
            <a:r>
              <a:rPr lang="en-GB" dirty="0" smtClean="0"/>
              <a:t>: A repository captures and preserves the intellectual output of an institution.</a:t>
            </a:r>
          </a:p>
          <a:p>
            <a:pPr algn="r"/>
            <a:r>
              <a:rPr lang="en-GB" sz="1400" dirty="0" smtClean="0"/>
              <a:t>The Case for Institutional Repositories – </a:t>
            </a:r>
            <a:r>
              <a:rPr lang="en-GB" sz="1400" dirty="0" err="1" smtClean="0"/>
              <a:t>Raym</a:t>
            </a:r>
            <a:r>
              <a:rPr lang="en-GB" sz="1400" dirty="0" smtClean="0"/>
              <a:t> Crow (SPARC 2002)</a:t>
            </a:r>
          </a:p>
          <a:p>
            <a:endParaRPr lang="en-GB" sz="1400" dirty="0" smtClean="0"/>
          </a:p>
          <a:p>
            <a:endParaRPr lang="en-GB" sz="1400" dirty="0" smtClean="0"/>
          </a:p>
          <a:p>
            <a:r>
              <a:rPr lang="en-GB" b="1" dirty="0" smtClean="0"/>
              <a:t>IR</a:t>
            </a:r>
            <a:r>
              <a:rPr lang="en-GB" dirty="0" smtClean="0"/>
              <a:t>: In my view, a university-based institutional repository is a set of </a:t>
            </a:r>
            <a:r>
              <a:rPr lang="en-GB" b="1" dirty="0" smtClean="0"/>
              <a:t>services</a:t>
            </a:r>
            <a:r>
              <a:rPr lang="en-GB" dirty="0" smtClean="0"/>
              <a:t> that a university offers to the members of its community for the management and dissemination of digital materials created by the institution and its community members. It is most essentially an organizational commitment to the stewardship of these digital materials, including long-term preservation where appropriate, as well as organization and access or distribution. </a:t>
            </a:r>
          </a:p>
          <a:p>
            <a:pPr algn="r"/>
            <a:r>
              <a:rPr lang="en-GB" sz="1400" dirty="0" smtClean="0"/>
              <a:t>Institutional Repositories: Essential Infrastructure For Scholarship In The Digital Age - Clifford A. Lynch</a:t>
            </a:r>
          </a:p>
          <a:p>
            <a:endParaRPr lang="en-GB" sz="1400" dirty="0" smtClean="0"/>
          </a:p>
          <a:p>
            <a:r>
              <a:rPr lang="en-GB" b="1" dirty="0" smtClean="0"/>
              <a:t>Service</a:t>
            </a:r>
            <a:r>
              <a:rPr lang="en-GB" dirty="0" smtClean="0"/>
              <a:t>: A service is something provided directly to a user or 3</a:t>
            </a:r>
            <a:r>
              <a:rPr lang="en-GB" baseline="30000" dirty="0" smtClean="0"/>
              <a:t>rd</a:t>
            </a:r>
            <a:r>
              <a:rPr lang="en-GB" dirty="0" smtClean="0"/>
              <a:t> party agent.</a:t>
            </a:r>
          </a:p>
          <a:p>
            <a:pPr algn="r"/>
            <a:r>
              <a:rPr lang="en-GB" sz="1400" dirty="0" smtClean="0"/>
              <a:t>David Tarrant, 2008</a:t>
            </a:r>
          </a:p>
          <a:p>
            <a:r>
              <a:rPr lang="en-GB" b="1" dirty="0" smtClean="0"/>
              <a:t>Process</a:t>
            </a:r>
            <a:r>
              <a:rPr lang="en-GB" dirty="0" smtClean="0"/>
              <a:t>: A process is something which is invisible to the user or agent.</a:t>
            </a:r>
          </a:p>
          <a:p>
            <a:pPr algn="r"/>
            <a:r>
              <a:rPr lang="en-GB" sz="1400" dirty="0" smtClean="0"/>
              <a:t>David Tarrant, 2008</a:t>
            </a:r>
          </a:p>
          <a:p>
            <a:pPr algn="r"/>
            <a:endParaRPr lang="en-GB" sz="1400" dirty="0" smtClean="0"/>
          </a:p>
          <a:p>
            <a:pPr algn="r"/>
            <a:endParaRPr lang="en-GB" sz="1400" dirty="0" smtClean="0"/>
          </a:p>
          <a:p>
            <a:pPr algn="r"/>
            <a:endParaRPr lang="en-GB" dirty="0" smtClean="0"/>
          </a:p>
          <a:p>
            <a:endParaRPr lang="en-GB" sz="1400" dirty="0" smtClean="0"/>
          </a:p>
          <a:p>
            <a:endParaRPr lang="en-GB" dirty="0" smtClean="0"/>
          </a:p>
          <a:p>
            <a:r>
              <a:rPr lang="en-GB" dirty="0" smtClean="0"/>
              <a:t> </a:t>
            </a:r>
            <a:endParaRPr lang="en-GB"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 name="Rounded Rectangle 11"/>
          <p:cNvSpPr/>
          <p:nvPr/>
        </p:nvSpPr>
        <p:spPr>
          <a:xfrm>
            <a:off x="609600" y="1219200"/>
            <a:ext cx="4038600" cy="4648200"/>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GB"/>
          </a:p>
        </p:txBody>
      </p:sp>
      <p:sp>
        <p:nvSpPr>
          <p:cNvPr id="5" name="TextBox 4"/>
          <p:cNvSpPr txBox="1"/>
          <p:nvPr/>
        </p:nvSpPr>
        <p:spPr>
          <a:xfrm>
            <a:off x="2057400" y="76200"/>
            <a:ext cx="5486400" cy="738664"/>
          </a:xfrm>
          <a:prstGeom prst="rect">
            <a:avLst/>
          </a:prstGeom>
          <a:noFill/>
        </p:spPr>
        <p:txBody>
          <a:bodyPr wrap="square" rtlCol="0">
            <a:spAutoFit/>
          </a:bodyPr>
          <a:lstStyle/>
          <a:p>
            <a:pPr algn="ctr"/>
            <a:r>
              <a:rPr lang="en-GB" sz="4200" b="1" dirty="0" smtClean="0">
                <a:solidFill>
                  <a:schemeClr val="bg1"/>
                </a:solidFill>
                <a:latin typeface="+mj-lt"/>
                <a:cs typeface="Apple Symbols"/>
              </a:rPr>
              <a:t>The Library</a:t>
            </a:r>
            <a:endParaRPr lang="en-GB" sz="4200" b="1" dirty="0">
              <a:solidFill>
                <a:schemeClr val="bg1"/>
              </a:solidFill>
              <a:latin typeface="+mj-lt"/>
              <a:cs typeface="Apple Symbols"/>
            </a:endParaRPr>
          </a:p>
        </p:txBody>
      </p:sp>
      <p:sp>
        <p:nvSpPr>
          <p:cNvPr id="8" name="TextBox 7"/>
          <p:cNvSpPr txBox="1"/>
          <p:nvPr/>
        </p:nvSpPr>
        <p:spPr>
          <a:xfrm>
            <a:off x="457200" y="1371600"/>
            <a:ext cx="4038600" cy="369332"/>
          </a:xfrm>
          <a:prstGeom prst="rect">
            <a:avLst/>
          </a:prstGeom>
          <a:noFill/>
        </p:spPr>
        <p:txBody>
          <a:bodyPr wrap="square" rtlCol="0">
            <a:spAutoFit/>
          </a:bodyPr>
          <a:lstStyle/>
          <a:p>
            <a:endParaRPr lang="en-GB" dirty="0"/>
          </a:p>
        </p:txBody>
      </p:sp>
      <p:sp>
        <p:nvSpPr>
          <p:cNvPr id="9" name="TextBox 8"/>
          <p:cNvSpPr txBox="1"/>
          <p:nvPr/>
        </p:nvSpPr>
        <p:spPr>
          <a:xfrm>
            <a:off x="609600" y="1295400"/>
            <a:ext cx="4038600" cy="4647427"/>
          </a:xfrm>
          <a:prstGeom prst="rect">
            <a:avLst/>
          </a:prstGeom>
          <a:noFill/>
        </p:spPr>
        <p:txBody>
          <a:bodyPr wrap="square" rtlCol="0">
            <a:spAutoFit/>
          </a:bodyPr>
          <a:lstStyle/>
          <a:p>
            <a:pPr algn="ctr"/>
            <a:r>
              <a:rPr lang="en-GB" dirty="0" smtClean="0"/>
              <a:t>The Library</a:t>
            </a:r>
          </a:p>
          <a:p>
            <a:pPr algn="ctr"/>
            <a:endParaRPr lang="en-GB" dirty="0" smtClean="0"/>
          </a:p>
          <a:p>
            <a:pPr algn="ctr">
              <a:buFont typeface="Arial"/>
              <a:buChar char="•"/>
            </a:pPr>
            <a:r>
              <a:rPr lang="en-GB" dirty="0" smtClean="0"/>
              <a:t> </a:t>
            </a:r>
            <a:r>
              <a:rPr lang="en-GB" sz="1600" dirty="0" smtClean="0"/>
              <a:t>A building to store books in.</a:t>
            </a:r>
          </a:p>
          <a:p>
            <a:pPr algn="ctr">
              <a:buFont typeface="Arial"/>
              <a:buChar char="•"/>
            </a:pPr>
            <a:endParaRPr lang="en-GB" sz="1600" dirty="0" smtClean="0"/>
          </a:p>
          <a:p>
            <a:pPr algn="ctr">
              <a:buFont typeface="Arial"/>
              <a:buChar char="•"/>
            </a:pPr>
            <a:r>
              <a:rPr lang="en-GB" sz="1600" dirty="0" smtClean="0"/>
              <a:t> A means by which new books/publications can be acquired.</a:t>
            </a:r>
          </a:p>
          <a:p>
            <a:pPr algn="ctr">
              <a:buFont typeface="Arial"/>
              <a:buChar char="•"/>
            </a:pPr>
            <a:endParaRPr lang="en-GB" sz="1600" dirty="0" smtClean="0"/>
          </a:p>
          <a:p>
            <a:pPr algn="ctr">
              <a:buFont typeface="Arial"/>
              <a:buChar char="•"/>
            </a:pPr>
            <a:r>
              <a:rPr lang="en-GB" sz="1600" dirty="0" smtClean="0"/>
              <a:t> An indexing system to give order.</a:t>
            </a:r>
          </a:p>
          <a:p>
            <a:pPr algn="ctr">
              <a:buFont typeface="Arial"/>
              <a:buChar char="•"/>
            </a:pPr>
            <a:endParaRPr lang="en-GB" sz="1600" dirty="0" smtClean="0"/>
          </a:p>
          <a:p>
            <a:pPr algn="ctr">
              <a:buFont typeface="Arial"/>
              <a:buChar char="•"/>
            </a:pPr>
            <a:r>
              <a:rPr lang="en-GB" sz="1600" dirty="0" smtClean="0"/>
              <a:t> Provides a mean by which books can be found.</a:t>
            </a:r>
          </a:p>
          <a:p>
            <a:pPr algn="ctr">
              <a:buFont typeface="Arial"/>
              <a:buChar char="•"/>
            </a:pPr>
            <a:endParaRPr lang="en-GB" sz="1600" dirty="0" smtClean="0"/>
          </a:p>
          <a:p>
            <a:pPr algn="ctr">
              <a:buFont typeface="Arial"/>
              <a:buChar char="•"/>
            </a:pPr>
            <a:r>
              <a:rPr lang="en-GB" sz="1600" dirty="0" smtClean="0"/>
              <a:t> Provides a way to borrow &amp; return books.</a:t>
            </a:r>
          </a:p>
          <a:p>
            <a:pPr algn="ctr">
              <a:buFont typeface="Arial"/>
              <a:buChar char="•"/>
            </a:pPr>
            <a:endParaRPr lang="en-GB" sz="1600" dirty="0" smtClean="0"/>
          </a:p>
          <a:p>
            <a:pPr algn="ctr">
              <a:buFont typeface="Arial"/>
              <a:buChar char="•"/>
            </a:pPr>
            <a:r>
              <a:rPr lang="en-GB" sz="1600" dirty="0" smtClean="0"/>
              <a:t> A preservation process, e.g. rebind books when they get damaged/worn.</a:t>
            </a:r>
          </a:p>
          <a:p>
            <a:pPr algn="ctr">
              <a:buFont typeface="Arial"/>
              <a:buChar char="•"/>
            </a:pPr>
            <a:endParaRPr lang="en-GB" sz="1600" dirty="0" smtClean="0"/>
          </a:p>
          <a:p>
            <a:pPr algn="ctr">
              <a:buFont typeface="Arial"/>
              <a:buChar char="•"/>
            </a:pPr>
            <a:r>
              <a:rPr lang="en-GB" sz="1600" dirty="0" smtClean="0"/>
              <a:t> …</a:t>
            </a:r>
            <a:r>
              <a:rPr lang="en-GB" dirty="0" smtClean="0"/>
              <a:t>  </a:t>
            </a:r>
            <a:endParaRPr lang="en-GB"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 name="Round Same Side Corner Rectangle 11"/>
          <p:cNvSpPr/>
          <p:nvPr/>
        </p:nvSpPr>
        <p:spPr>
          <a:xfrm>
            <a:off x="236220" y="6019800"/>
            <a:ext cx="8298180" cy="838200"/>
          </a:xfrm>
          <a:prstGeom prst="round2SameRect">
            <a:avLst/>
          </a:prstGeom>
          <a:solidFill>
            <a:srgbClr val="CCFFCC"/>
          </a:solidFill>
          <a:ln>
            <a:solidFill>
              <a:srgbClr val="000000"/>
            </a:solidFill>
          </a:ln>
        </p:spPr>
        <p:style>
          <a:lnRef idx="1">
            <a:schemeClr val="accent1"/>
          </a:lnRef>
          <a:fillRef idx="3">
            <a:schemeClr val="accent1"/>
          </a:fillRef>
          <a:effectRef idx="2">
            <a:schemeClr val="accent1"/>
          </a:effectRef>
          <a:fontRef idx="minor">
            <a:schemeClr val="lt1"/>
          </a:fontRef>
        </p:style>
      </p:sp>
      <p:sp>
        <p:nvSpPr>
          <p:cNvPr id="7" name="Rounded Rectangle 6"/>
          <p:cNvSpPr/>
          <p:nvPr/>
        </p:nvSpPr>
        <p:spPr>
          <a:xfrm>
            <a:off x="5029200" y="1295400"/>
            <a:ext cx="3886200" cy="4648200"/>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GB"/>
          </a:p>
        </p:txBody>
      </p:sp>
      <p:sp>
        <p:nvSpPr>
          <p:cNvPr id="5" name="TextBox 4"/>
          <p:cNvSpPr txBox="1"/>
          <p:nvPr/>
        </p:nvSpPr>
        <p:spPr>
          <a:xfrm>
            <a:off x="2057400" y="76200"/>
            <a:ext cx="5486400" cy="738664"/>
          </a:xfrm>
          <a:prstGeom prst="rect">
            <a:avLst/>
          </a:prstGeom>
          <a:noFill/>
        </p:spPr>
        <p:txBody>
          <a:bodyPr wrap="square" rtlCol="0">
            <a:spAutoFit/>
          </a:bodyPr>
          <a:lstStyle/>
          <a:p>
            <a:pPr algn="ctr"/>
            <a:r>
              <a:rPr lang="en-GB" sz="4200" b="1" dirty="0" smtClean="0">
                <a:solidFill>
                  <a:schemeClr val="bg1"/>
                </a:solidFill>
                <a:latin typeface="+mj-lt"/>
                <a:cs typeface="Apple Symbols"/>
              </a:rPr>
              <a:t>The Digital Library</a:t>
            </a:r>
            <a:endParaRPr lang="en-GB" sz="4200" b="1" dirty="0">
              <a:solidFill>
                <a:schemeClr val="bg1"/>
              </a:solidFill>
              <a:latin typeface="+mj-lt"/>
              <a:cs typeface="Apple Symbols"/>
            </a:endParaRPr>
          </a:p>
        </p:txBody>
      </p:sp>
      <p:sp>
        <p:nvSpPr>
          <p:cNvPr id="18" name="TextBox 17"/>
          <p:cNvSpPr txBox="1"/>
          <p:nvPr/>
        </p:nvSpPr>
        <p:spPr>
          <a:xfrm>
            <a:off x="228600" y="6019800"/>
            <a:ext cx="8382000" cy="923330"/>
          </a:xfrm>
          <a:prstGeom prst="rect">
            <a:avLst/>
          </a:prstGeom>
          <a:noFill/>
        </p:spPr>
        <p:txBody>
          <a:bodyPr wrap="square" rtlCol="0">
            <a:spAutoFit/>
          </a:bodyPr>
          <a:lstStyle/>
          <a:p>
            <a:r>
              <a:rPr lang="en-GB" dirty="0" smtClean="0"/>
              <a:t>“In my view, a university-based institutional repository provides a set of services. The repository itself consists of a set of </a:t>
            </a:r>
            <a:r>
              <a:rPr lang="en-GB" dirty="0" smtClean="0">
                <a:solidFill>
                  <a:srgbClr val="FF0000"/>
                </a:solidFill>
              </a:rPr>
              <a:t>PROCESSES</a:t>
            </a:r>
            <a:r>
              <a:rPr lang="en-GB" dirty="0" smtClean="0"/>
              <a:t> …”</a:t>
            </a:r>
          </a:p>
          <a:p>
            <a:r>
              <a:rPr lang="en-GB" dirty="0" smtClean="0"/>
              <a:t> </a:t>
            </a:r>
            <a:endParaRPr lang="en-GB" dirty="0"/>
          </a:p>
        </p:txBody>
      </p:sp>
      <p:sp>
        <p:nvSpPr>
          <p:cNvPr id="8" name="TextBox 7"/>
          <p:cNvSpPr txBox="1"/>
          <p:nvPr/>
        </p:nvSpPr>
        <p:spPr>
          <a:xfrm>
            <a:off x="457200" y="1371600"/>
            <a:ext cx="4038600" cy="369332"/>
          </a:xfrm>
          <a:prstGeom prst="rect">
            <a:avLst/>
          </a:prstGeom>
          <a:noFill/>
        </p:spPr>
        <p:txBody>
          <a:bodyPr wrap="square" rtlCol="0">
            <a:spAutoFit/>
          </a:bodyPr>
          <a:lstStyle/>
          <a:p>
            <a:endParaRPr lang="en-GB" dirty="0"/>
          </a:p>
        </p:txBody>
      </p:sp>
      <p:sp>
        <p:nvSpPr>
          <p:cNvPr id="9" name="TextBox 8"/>
          <p:cNvSpPr txBox="1"/>
          <p:nvPr/>
        </p:nvSpPr>
        <p:spPr>
          <a:xfrm>
            <a:off x="609600" y="1295400"/>
            <a:ext cx="4038600" cy="4647427"/>
          </a:xfrm>
          <a:prstGeom prst="rect">
            <a:avLst/>
          </a:prstGeom>
          <a:noFill/>
        </p:spPr>
        <p:txBody>
          <a:bodyPr wrap="square" rtlCol="0">
            <a:spAutoFit/>
          </a:bodyPr>
          <a:lstStyle/>
          <a:p>
            <a:pPr algn="ctr"/>
            <a:r>
              <a:rPr lang="en-GB" dirty="0" smtClean="0"/>
              <a:t>The Library</a:t>
            </a:r>
          </a:p>
          <a:p>
            <a:pPr algn="ctr"/>
            <a:endParaRPr lang="en-GB" dirty="0" smtClean="0"/>
          </a:p>
          <a:p>
            <a:pPr algn="ctr">
              <a:buFont typeface="Arial"/>
              <a:buChar char="•"/>
            </a:pPr>
            <a:r>
              <a:rPr lang="en-GB" dirty="0" smtClean="0"/>
              <a:t> </a:t>
            </a:r>
            <a:r>
              <a:rPr lang="en-GB" sz="1600" dirty="0" smtClean="0"/>
              <a:t>A building to store books in.</a:t>
            </a:r>
          </a:p>
          <a:p>
            <a:pPr algn="ctr">
              <a:buFont typeface="Arial"/>
              <a:buChar char="•"/>
            </a:pPr>
            <a:endParaRPr lang="en-GB" sz="1600" dirty="0" smtClean="0"/>
          </a:p>
          <a:p>
            <a:pPr algn="ctr">
              <a:buFont typeface="Arial"/>
              <a:buChar char="•"/>
            </a:pPr>
            <a:r>
              <a:rPr lang="en-GB" sz="1600" dirty="0" smtClean="0"/>
              <a:t> A means by which new books/publications can be acquired.</a:t>
            </a:r>
          </a:p>
          <a:p>
            <a:pPr algn="ctr">
              <a:buFont typeface="Arial"/>
              <a:buChar char="•"/>
            </a:pPr>
            <a:endParaRPr lang="en-GB" sz="1600" dirty="0" smtClean="0"/>
          </a:p>
          <a:p>
            <a:pPr algn="ctr">
              <a:buFont typeface="Arial"/>
              <a:buChar char="•"/>
            </a:pPr>
            <a:r>
              <a:rPr lang="en-GB" sz="1600" dirty="0" smtClean="0"/>
              <a:t> A indexing system to give order.</a:t>
            </a:r>
          </a:p>
          <a:p>
            <a:pPr algn="ctr">
              <a:buFont typeface="Arial"/>
              <a:buChar char="•"/>
            </a:pPr>
            <a:endParaRPr lang="en-GB" sz="1600" dirty="0" smtClean="0"/>
          </a:p>
          <a:p>
            <a:pPr algn="ctr">
              <a:buFont typeface="Arial"/>
              <a:buChar char="•"/>
            </a:pPr>
            <a:r>
              <a:rPr lang="en-GB" sz="1600" dirty="0" smtClean="0"/>
              <a:t> Provides a mean by which books can be found.</a:t>
            </a:r>
          </a:p>
          <a:p>
            <a:pPr algn="ctr">
              <a:buFont typeface="Arial"/>
              <a:buChar char="•"/>
            </a:pPr>
            <a:endParaRPr lang="en-GB" sz="1600" dirty="0" smtClean="0"/>
          </a:p>
          <a:p>
            <a:pPr algn="ctr">
              <a:buFont typeface="Arial"/>
              <a:buChar char="•"/>
            </a:pPr>
            <a:r>
              <a:rPr lang="en-GB" sz="1600" dirty="0" smtClean="0"/>
              <a:t> Provides a way to borrow &amp; return books.</a:t>
            </a:r>
          </a:p>
          <a:p>
            <a:pPr algn="ctr">
              <a:buFont typeface="Arial"/>
              <a:buChar char="•"/>
            </a:pPr>
            <a:endParaRPr lang="en-GB" sz="1600" dirty="0" smtClean="0"/>
          </a:p>
          <a:p>
            <a:pPr algn="ctr">
              <a:buFont typeface="Arial"/>
              <a:buChar char="•"/>
            </a:pPr>
            <a:r>
              <a:rPr lang="en-GB" sz="1600" dirty="0" smtClean="0"/>
              <a:t> A preservation process, e.g. rebind books when they get damaged/worn.</a:t>
            </a:r>
          </a:p>
          <a:p>
            <a:pPr algn="ctr">
              <a:buFont typeface="Arial"/>
              <a:buChar char="•"/>
            </a:pPr>
            <a:endParaRPr lang="en-GB" sz="1600" dirty="0" smtClean="0"/>
          </a:p>
          <a:p>
            <a:pPr algn="ctr">
              <a:buFont typeface="Arial"/>
              <a:buChar char="•"/>
            </a:pPr>
            <a:r>
              <a:rPr lang="en-GB" sz="1600" dirty="0" smtClean="0"/>
              <a:t> …</a:t>
            </a:r>
            <a:r>
              <a:rPr lang="en-GB" dirty="0" smtClean="0"/>
              <a:t>  </a:t>
            </a:r>
            <a:endParaRPr lang="en-GB" dirty="0"/>
          </a:p>
        </p:txBody>
      </p:sp>
      <p:sp>
        <p:nvSpPr>
          <p:cNvPr id="11" name="TextBox 10"/>
          <p:cNvSpPr txBox="1"/>
          <p:nvPr/>
        </p:nvSpPr>
        <p:spPr>
          <a:xfrm>
            <a:off x="4953000" y="1296173"/>
            <a:ext cx="4038600" cy="4647427"/>
          </a:xfrm>
          <a:prstGeom prst="rect">
            <a:avLst/>
          </a:prstGeom>
          <a:noFill/>
        </p:spPr>
        <p:txBody>
          <a:bodyPr wrap="square" rtlCol="0">
            <a:spAutoFit/>
          </a:bodyPr>
          <a:lstStyle/>
          <a:p>
            <a:pPr algn="ctr"/>
            <a:r>
              <a:rPr lang="en-GB" dirty="0" smtClean="0"/>
              <a:t>The Digital Repository</a:t>
            </a:r>
          </a:p>
          <a:p>
            <a:pPr algn="ctr"/>
            <a:endParaRPr lang="en-GB" dirty="0" smtClean="0"/>
          </a:p>
          <a:p>
            <a:pPr algn="ctr">
              <a:buFont typeface="Arial"/>
              <a:buChar char="•"/>
            </a:pPr>
            <a:r>
              <a:rPr lang="en-GB" dirty="0" smtClean="0"/>
              <a:t> </a:t>
            </a:r>
            <a:r>
              <a:rPr lang="en-GB" sz="1600" dirty="0" smtClean="0"/>
              <a:t>A server to store resources on.</a:t>
            </a:r>
          </a:p>
          <a:p>
            <a:pPr algn="ctr">
              <a:buFont typeface="Arial"/>
              <a:buChar char="•"/>
            </a:pPr>
            <a:endParaRPr lang="en-GB" sz="1600" dirty="0" smtClean="0"/>
          </a:p>
          <a:p>
            <a:pPr algn="ctr">
              <a:buFont typeface="Arial"/>
              <a:buChar char="•"/>
            </a:pPr>
            <a:r>
              <a:rPr lang="en-GB" sz="1600" dirty="0" smtClean="0"/>
              <a:t> A way to ingest new resources.</a:t>
            </a:r>
          </a:p>
          <a:p>
            <a:pPr algn="ctr">
              <a:buFont typeface="Arial"/>
              <a:buChar char="•"/>
            </a:pPr>
            <a:endParaRPr lang="en-GB" sz="1600" dirty="0" smtClean="0"/>
          </a:p>
          <a:p>
            <a:pPr algn="ctr">
              <a:buFont typeface="Arial"/>
              <a:buChar char="•"/>
            </a:pPr>
            <a:endParaRPr lang="en-GB" sz="1600" dirty="0" smtClean="0"/>
          </a:p>
          <a:p>
            <a:pPr algn="ctr">
              <a:buFont typeface="Arial"/>
              <a:buChar char="•"/>
            </a:pPr>
            <a:r>
              <a:rPr lang="en-GB" sz="1600" dirty="0" smtClean="0"/>
              <a:t> A database of resources and metadata.</a:t>
            </a:r>
          </a:p>
          <a:p>
            <a:pPr algn="ctr">
              <a:buFont typeface="Arial"/>
              <a:buChar char="•"/>
            </a:pPr>
            <a:endParaRPr lang="en-GB" sz="1600" dirty="0" smtClean="0"/>
          </a:p>
          <a:p>
            <a:pPr algn="ctr">
              <a:buFont typeface="Arial"/>
              <a:buChar char="•"/>
            </a:pPr>
            <a:r>
              <a:rPr lang="en-GB" sz="1600" dirty="0" smtClean="0"/>
              <a:t> A search engine and dissemination pages.</a:t>
            </a:r>
          </a:p>
          <a:p>
            <a:pPr algn="ctr">
              <a:buFont typeface="Arial"/>
              <a:buChar char="•"/>
            </a:pPr>
            <a:endParaRPr lang="en-GB" sz="1600" dirty="0" smtClean="0"/>
          </a:p>
          <a:p>
            <a:pPr algn="ctr">
              <a:buFont typeface="Arial"/>
              <a:buChar char="•"/>
            </a:pPr>
            <a:endParaRPr lang="en-GB" sz="1600" dirty="0" smtClean="0"/>
          </a:p>
          <a:p>
            <a:pPr algn="ctr">
              <a:buFont typeface="Arial"/>
              <a:buChar char="•"/>
            </a:pPr>
            <a:r>
              <a:rPr lang="en-GB" sz="1600" dirty="0" smtClean="0"/>
              <a:t> Open access and downloads.</a:t>
            </a:r>
          </a:p>
          <a:p>
            <a:pPr algn="ctr">
              <a:buFont typeface="Arial"/>
              <a:buChar char="•"/>
            </a:pPr>
            <a:endParaRPr lang="en-GB" sz="1600" dirty="0" smtClean="0"/>
          </a:p>
          <a:p>
            <a:pPr algn="ctr">
              <a:buFont typeface="Arial"/>
              <a:buChar char="•"/>
            </a:pPr>
            <a:r>
              <a:rPr lang="en-GB" sz="1600" dirty="0" smtClean="0"/>
              <a:t> A preservation process, e.g. check that the file on the server can still be read/accessed.</a:t>
            </a:r>
          </a:p>
          <a:p>
            <a:pPr algn="ctr">
              <a:buFont typeface="Arial"/>
              <a:buChar char="•"/>
            </a:pPr>
            <a:endParaRPr lang="en-GB" sz="1600" dirty="0" smtClean="0"/>
          </a:p>
          <a:p>
            <a:pPr algn="ctr">
              <a:buFont typeface="Arial"/>
              <a:buChar char="•"/>
            </a:pPr>
            <a:r>
              <a:rPr lang="en-GB" sz="1600" dirty="0" smtClean="0"/>
              <a:t> …</a:t>
            </a:r>
            <a:r>
              <a:rPr lang="en-GB" dirty="0" smtClean="0"/>
              <a:t>  </a:t>
            </a:r>
            <a:endParaRPr lang="en-GB" dirty="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extBox 4"/>
          <p:cNvSpPr txBox="1"/>
          <p:nvPr/>
        </p:nvSpPr>
        <p:spPr>
          <a:xfrm>
            <a:off x="3352800" y="99536"/>
            <a:ext cx="3200400" cy="738664"/>
          </a:xfrm>
          <a:prstGeom prst="rect">
            <a:avLst/>
          </a:prstGeom>
          <a:noFill/>
        </p:spPr>
        <p:txBody>
          <a:bodyPr wrap="square" rtlCol="0">
            <a:spAutoFit/>
          </a:bodyPr>
          <a:lstStyle/>
          <a:p>
            <a:r>
              <a:rPr lang="en-GB" sz="4200" b="1" dirty="0" smtClean="0">
                <a:solidFill>
                  <a:schemeClr val="bg1"/>
                </a:solidFill>
                <a:latin typeface="+mj-lt"/>
                <a:cs typeface="Apple Symbols"/>
              </a:rPr>
              <a:t>Processes</a:t>
            </a:r>
            <a:endParaRPr lang="en-GB" sz="4200" b="1" dirty="0">
              <a:solidFill>
                <a:schemeClr val="bg1"/>
              </a:solidFill>
              <a:latin typeface="+mj-lt"/>
              <a:cs typeface="Apple Symbols"/>
            </a:endParaRPr>
          </a:p>
        </p:txBody>
      </p:sp>
      <p:sp>
        <p:nvSpPr>
          <p:cNvPr id="18" name="TextBox 17"/>
          <p:cNvSpPr txBox="1"/>
          <p:nvPr/>
        </p:nvSpPr>
        <p:spPr>
          <a:xfrm>
            <a:off x="381000" y="1828800"/>
            <a:ext cx="8382000" cy="2492990"/>
          </a:xfrm>
          <a:prstGeom prst="rect">
            <a:avLst/>
          </a:prstGeom>
          <a:noFill/>
        </p:spPr>
        <p:txBody>
          <a:bodyPr wrap="square" rtlCol="0">
            <a:spAutoFit/>
          </a:bodyPr>
          <a:lstStyle/>
          <a:p>
            <a:r>
              <a:rPr lang="en-GB" sz="2000" b="1" dirty="0" smtClean="0"/>
              <a:t>Service</a:t>
            </a:r>
            <a:r>
              <a:rPr lang="en-GB" sz="2000" dirty="0" smtClean="0"/>
              <a:t>: A service is something provided directly to a user or 3</a:t>
            </a:r>
            <a:r>
              <a:rPr lang="en-GB" sz="2000" baseline="30000" dirty="0" smtClean="0"/>
              <a:t>rd</a:t>
            </a:r>
            <a:r>
              <a:rPr lang="en-GB" sz="2000" dirty="0" smtClean="0"/>
              <a:t> party agent.</a:t>
            </a:r>
          </a:p>
          <a:p>
            <a:pPr algn="r"/>
            <a:endParaRPr lang="en-GB" sz="2000" b="1" dirty="0" smtClean="0"/>
          </a:p>
          <a:p>
            <a:r>
              <a:rPr lang="en-GB" sz="2000" b="1" dirty="0" smtClean="0"/>
              <a:t>Process</a:t>
            </a:r>
            <a:r>
              <a:rPr lang="en-GB" sz="2000" dirty="0" smtClean="0"/>
              <a:t>: A process is something which is invisible to the user or agent.</a:t>
            </a:r>
          </a:p>
          <a:p>
            <a:pPr algn="r"/>
            <a:endParaRPr lang="en-GB" sz="1400" dirty="0" smtClean="0"/>
          </a:p>
          <a:p>
            <a:pPr algn="r"/>
            <a:endParaRPr lang="en-GB" sz="1400" dirty="0" smtClean="0"/>
          </a:p>
          <a:p>
            <a:pPr algn="r"/>
            <a:endParaRPr lang="en-GB" dirty="0" smtClean="0"/>
          </a:p>
          <a:p>
            <a:endParaRPr lang="en-GB" sz="1400" dirty="0" smtClean="0"/>
          </a:p>
          <a:p>
            <a:endParaRPr lang="en-GB" dirty="0" smtClean="0"/>
          </a:p>
          <a:p>
            <a:r>
              <a:rPr lang="en-GB" dirty="0" smtClean="0"/>
              <a:t> </a:t>
            </a:r>
            <a:endParaRPr lang="en-GB" dirty="0"/>
          </a:p>
        </p:txBody>
      </p:sp>
      <p:sp>
        <p:nvSpPr>
          <p:cNvPr id="4" name="TextBox 3"/>
          <p:cNvSpPr txBox="1"/>
          <p:nvPr/>
        </p:nvSpPr>
        <p:spPr>
          <a:xfrm>
            <a:off x="381000" y="3386078"/>
            <a:ext cx="8458200" cy="2862322"/>
          </a:xfrm>
          <a:prstGeom prst="rect">
            <a:avLst/>
          </a:prstGeom>
          <a:noFill/>
        </p:spPr>
        <p:txBody>
          <a:bodyPr wrap="square" rtlCol="0">
            <a:spAutoFit/>
          </a:bodyPr>
          <a:lstStyle/>
          <a:p>
            <a:pPr algn="ctr"/>
            <a:r>
              <a:rPr lang="en-GB" sz="3600" b="1" dirty="0" smtClean="0"/>
              <a:t>There are lots of Processes</a:t>
            </a:r>
          </a:p>
          <a:p>
            <a:pPr algn="ctr"/>
            <a:endParaRPr lang="en-GB" sz="3600" b="1" dirty="0" smtClean="0"/>
          </a:p>
          <a:p>
            <a:pPr algn="ctr"/>
            <a:r>
              <a:rPr lang="en-GB" sz="3600" b="1" dirty="0" smtClean="0"/>
              <a:t>Processes happen in parallel</a:t>
            </a:r>
          </a:p>
          <a:p>
            <a:pPr algn="ctr"/>
            <a:endParaRPr lang="en-GB" sz="3600" b="1" dirty="0" smtClean="0"/>
          </a:p>
          <a:p>
            <a:pPr algn="ctr"/>
            <a:r>
              <a:rPr lang="en-GB" sz="3600" b="1" dirty="0" smtClean="0"/>
              <a:t>Processes happen in different orders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extBox 4"/>
          <p:cNvSpPr txBox="1"/>
          <p:nvPr/>
        </p:nvSpPr>
        <p:spPr>
          <a:xfrm>
            <a:off x="2209800" y="76200"/>
            <a:ext cx="5486400" cy="738664"/>
          </a:xfrm>
          <a:prstGeom prst="rect">
            <a:avLst/>
          </a:prstGeom>
          <a:noFill/>
        </p:spPr>
        <p:txBody>
          <a:bodyPr wrap="square" rtlCol="0">
            <a:spAutoFit/>
          </a:bodyPr>
          <a:lstStyle/>
          <a:p>
            <a:r>
              <a:rPr lang="en-GB" sz="4200" b="1" dirty="0" smtClean="0">
                <a:solidFill>
                  <a:schemeClr val="bg1"/>
                </a:solidFill>
                <a:latin typeface="+mj-lt"/>
                <a:cs typeface="Apple Symbols"/>
              </a:rPr>
              <a:t>Processes and OAIS</a:t>
            </a:r>
            <a:endParaRPr lang="en-GB" sz="4200" b="1" dirty="0">
              <a:solidFill>
                <a:schemeClr val="bg1"/>
              </a:solidFill>
              <a:latin typeface="+mj-lt"/>
              <a:cs typeface="Apple Symbols"/>
            </a:endParaRPr>
          </a:p>
        </p:txBody>
      </p:sp>
      <p:sp>
        <p:nvSpPr>
          <p:cNvPr id="18" name="TextBox 17"/>
          <p:cNvSpPr txBox="1"/>
          <p:nvPr/>
        </p:nvSpPr>
        <p:spPr>
          <a:xfrm>
            <a:off x="381000" y="1371600"/>
            <a:ext cx="8382000" cy="923330"/>
          </a:xfrm>
          <a:prstGeom prst="rect">
            <a:avLst/>
          </a:prstGeom>
          <a:noFill/>
        </p:spPr>
        <p:txBody>
          <a:bodyPr wrap="square" rtlCol="0">
            <a:spAutoFit/>
          </a:bodyPr>
          <a:lstStyle/>
          <a:p>
            <a:r>
              <a:rPr lang="en-GB" dirty="0" smtClean="0"/>
              <a:t>Many existing models contain this notion of processes and services, just not necessarily in a modern light. This doesn’t however mean they are “wrong” or “right” they are just guiding principals.</a:t>
            </a:r>
          </a:p>
        </p:txBody>
      </p:sp>
      <p:pic>
        <p:nvPicPr>
          <p:cNvPr id="4" name="Picture 3"/>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914400" y="2667000"/>
            <a:ext cx="7371905" cy="4051300"/>
          </a:xfrm>
          <a:prstGeom prst="rect">
            <a:avLst/>
          </a:prstGeom>
        </p:spPr>
      </p:pic>
      <p:sp>
        <p:nvSpPr>
          <p:cNvPr id="7" name="Rounded Rectangle 6"/>
          <p:cNvSpPr/>
          <p:nvPr/>
        </p:nvSpPr>
        <p:spPr>
          <a:xfrm>
            <a:off x="1219200" y="3957320"/>
            <a:ext cx="914400" cy="386080"/>
          </a:xfrm>
          <a:prstGeom prst="roundRect">
            <a:avLst/>
          </a:prstGeom>
          <a:solidFill>
            <a:srgbClr val="FF0000">
              <a:alpha val="92000"/>
            </a:srgbClr>
          </a:solidFill>
          <a:ln w="41275"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chemeClr val="tx1"/>
                </a:solidFill>
              </a:rPr>
              <a:t>Ingest</a:t>
            </a:r>
            <a:endParaRPr lang="en-GB" sz="1400" dirty="0">
              <a:solidFill>
                <a:schemeClr val="tx1"/>
              </a:solidFill>
            </a:endParaRPr>
          </a:p>
        </p:txBody>
      </p:sp>
      <p:sp>
        <p:nvSpPr>
          <p:cNvPr id="9" name="Rounded Rectangle 8"/>
          <p:cNvSpPr/>
          <p:nvPr/>
        </p:nvSpPr>
        <p:spPr>
          <a:xfrm rot="1709372">
            <a:off x="3011285" y="4448412"/>
            <a:ext cx="914400" cy="386080"/>
          </a:xfrm>
          <a:prstGeom prst="roundRect">
            <a:avLst/>
          </a:prstGeom>
          <a:solidFill>
            <a:srgbClr val="FF0000">
              <a:alpha val="92000"/>
            </a:srgbClr>
          </a:solidFill>
          <a:ln w="41275"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chemeClr val="tx1"/>
                </a:solidFill>
              </a:rPr>
              <a:t>Store</a:t>
            </a:r>
            <a:endParaRPr lang="en-GB" sz="1400" dirty="0">
              <a:solidFill>
                <a:schemeClr val="tx1"/>
              </a:solidFill>
            </a:endParaRPr>
          </a:p>
        </p:txBody>
      </p:sp>
      <p:sp>
        <p:nvSpPr>
          <p:cNvPr id="11" name="Rounded Rectangle 10"/>
          <p:cNvSpPr/>
          <p:nvPr/>
        </p:nvSpPr>
        <p:spPr>
          <a:xfrm rot="20120234">
            <a:off x="2705845" y="3602169"/>
            <a:ext cx="914400" cy="386080"/>
          </a:xfrm>
          <a:prstGeom prst="roundRect">
            <a:avLst/>
          </a:prstGeom>
          <a:solidFill>
            <a:srgbClr val="FF0000">
              <a:alpha val="92000"/>
            </a:srgbClr>
          </a:solidFill>
          <a:ln w="41275"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chemeClr val="tx1"/>
                </a:solidFill>
              </a:rPr>
              <a:t>Index</a:t>
            </a:r>
            <a:endParaRPr lang="en-GB" sz="1400" dirty="0">
              <a:solidFill>
                <a:schemeClr val="tx1"/>
              </a:solidFill>
            </a:endParaRPr>
          </a:p>
        </p:txBody>
      </p:sp>
      <p:sp>
        <p:nvSpPr>
          <p:cNvPr id="12" name="Rounded Rectangle 11"/>
          <p:cNvSpPr/>
          <p:nvPr/>
        </p:nvSpPr>
        <p:spPr>
          <a:xfrm rot="16200000">
            <a:off x="4912360" y="4455161"/>
            <a:ext cx="914400" cy="386080"/>
          </a:xfrm>
          <a:prstGeom prst="roundRect">
            <a:avLst/>
          </a:prstGeom>
          <a:solidFill>
            <a:srgbClr val="FF0000">
              <a:alpha val="92000"/>
            </a:srgbClr>
          </a:solidFill>
          <a:ln w="41275"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chemeClr val="tx1"/>
                </a:solidFill>
              </a:rPr>
              <a:t>Retrieve</a:t>
            </a:r>
            <a:endParaRPr lang="en-GB" sz="1400" dirty="0">
              <a:solidFill>
                <a:schemeClr val="tx1"/>
              </a:solidFill>
            </a:endParaRPr>
          </a:p>
        </p:txBody>
      </p:sp>
      <p:sp>
        <p:nvSpPr>
          <p:cNvPr id="13" name="Rounded Rectangle 12"/>
          <p:cNvSpPr/>
          <p:nvPr/>
        </p:nvSpPr>
        <p:spPr>
          <a:xfrm rot="16200000">
            <a:off x="6365240" y="4531360"/>
            <a:ext cx="914400" cy="386080"/>
          </a:xfrm>
          <a:prstGeom prst="roundRect">
            <a:avLst/>
          </a:prstGeom>
          <a:solidFill>
            <a:srgbClr val="FF0000">
              <a:alpha val="92000"/>
            </a:srgbClr>
          </a:solidFill>
          <a:ln w="41275"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chemeClr val="tx1"/>
                </a:solidFill>
              </a:rPr>
              <a:t>Locate</a:t>
            </a:r>
            <a:endParaRPr lang="en-GB" sz="1400" dirty="0">
              <a:solidFill>
                <a:schemeClr val="tx1"/>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0" name="Picture 9" descr="DCCLifecycle.png"/>
          <p:cNvPicPr>
            <a:picLocks noChangeAspect="1"/>
          </p:cNvPicPr>
          <p:nvPr/>
        </p:nvPicPr>
        <p:blipFill>
          <a:blip r:embed="rId3"/>
          <a:stretch>
            <a:fillRect/>
          </a:stretch>
        </p:blipFill>
        <p:spPr>
          <a:xfrm>
            <a:off x="685800" y="1371600"/>
            <a:ext cx="8001000" cy="5358245"/>
          </a:xfrm>
          <a:prstGeom prst="rect">
            <a:avLst/>
          </a:prstGeom>
        </p:spPr>
      </p:pic>
      <p:sp>
        <p:nvSpPr>
          <p:cNvPr id="5" name="TextBox 4"/>
          <p:cNvSpPr txBox="1"/>
          <p:nvPr/>
        </p:nvSpPr>
        <p:spPr>
          <a:xfrm>
            <a:off x="1676400" y="76200"/>
            <a:ext cx="6248400" cy="661720"/>
          </a:xfrm>
          <a:prstGeom prst="rect">
            <a:avLst/>
          </a:prstGeom>
          <a:noFill/>
        </p:spPr>
        <p:txBody>
          <a:bodyPr wrap="square" rtlCol="0">
            <a:spAutoFit/>
          </a:bodyPr>
          <a:lstStyle/>
          <a:p>
            <a:r>
              <a:rPr lang="en-GB" sz="3700" b="1" dirty="0" smtClean="0">
                <a:solidFill>
                  <a:schemeClr val="bg1"/>
                </a:solidFill>
                <a:latin typeface="+mj-lt"/>
                <a:cs typeface="Apple Symbols"/>
              </a:rPr>
              <a:t>Processes in the DCC Model</a:t>
            </a:r>
            <a:endParaRPr lang="en-GB" sz="3700" b="1" dirty="0">
              <a:solidFill>
                <a:schemeClr val="bg1"/>
              </a:solidFill>
              <a:latin typeface="+mj-lt"/>
              <a:cs typeface="Apple Symbols"/>
            </a:endParaRPr>
          </a:p>
        </p:txBody>
      </p:sp>
      <p:sp>
        <p:nvSpPr>
          <p:cNvPr id="7" name="Rounded Rectangle 6"/>
          <p:cNvSpPr/>
          <p:nvPr/>
        </p:nvSpPr>
        <p:spPr>
          <a:xfrm>
            <a:off x="5867400" y="5791200"/>
            <a:ext cx="914400" cy="386080"/>
          </a:xfrm>
          <a:prstGeom prst="roundRect">
            <a:avLst/>
          </a:prstGeom>
          <a:solidFill>
            <a:srgbClr val="FF0000">
              <a:alpha val="92000"/>
            </a:srgbClr>
          </a:solidFill>
          <a:ln w="41275"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chemeClr val="tx1"/>
                </a:solidFill>
              </a:rPr>
              <a:t>Ingest</a:t>
            </a:r>
            <a:endParaRPr lang="en-GB" sz="1400" dirty="0">
              <a:solidFill>
                <a:schemeClr val="tx1"/>
              </a:solidFill>
            </a:endParaRPr>
          </a:p>
        </p:txBody>
      </p:sp>
      <p:sp>
        <p:nvSpPr>
          <p:cNvPr id="9" name="Rounded Rectangle 8"/>
          <p:cNvSpPr/>
          <p:nvPr/>
        </p:nvSpPr>
        <p:spPr>
          <a:xfrm>
            <a:off x="1905000" y="5486400"/>
            <a:ext cx="914400" cy="386080"/>
          </a:xfrm>
          <a:prstGeom prst="roundRect">
            <a:avLst/>
          </a:prstGeom>
          <a:solidFill>
            <a:srgbClr val="FF0000">
              <a:alpha val="92000"/>
            </a:srgbClr>
          </a:solidFill>
          <a:ln w="41275"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chemeClr val="tx1"/>
                </a:solidFill>
              </a:rPr>
              <a:t>Store</a:t>
            </a:r>
            <a:endParaRPr lang="en-GB" sz="1400" dirty="0">
              <a:solidFill>
                <a:schemeClr val="tx1"/>
              </a:solidFill>
            </a:endParaRPr>
          </a:p>
        </p:txBody>
      </p:sp>
      <p:sp>
        <p:nvSpPr>
          <p:cNvPr id="11" name="Rounded Rectangle 10"/>
          <p:cNvSpPr/>
          <p:nvPr/>
        </p:nvSpPr>
        <p:spPr>
          <a:xfrm>
            <a:off x="2477245" y="6172200"/>
            <a:ext cx="914400" cy="386080"/>
          </a:xfrm>
          <a:prstGeom prst="roundRect">
            <a:avLst/>
          </a:prstGeom>
          <a:solidFill>
            <a:srgbClr val="FF0000">
              <a:alpha val="92000"/>
            </a:srgbClr>
          </a:solidFill>
          <a:ln w="41275"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chemeClr val="tx1"/>
                </a:solidFill>
              </a:rPr>
              <a:t>Index</a:t>
            </a:r>
            <a:endParaRPr lang="en-GB" sz="1400" dirty="0">
              <a:solidFill>
                <a:schemeClr val="tx1"/>
              </a:solidFill>
            </a:endParaRPr>
          </a:p>
        </p:txBody>
      </p:sp>
      <p:sp>
        <p:nvSpPr>
          <p:cNvPr id="12" name="Rounded Rectangle 11"/>
          <p:cNvSpPr/>
          <p:nvPr/>
        </p:nvSpPr>
        <p:spPr>
          <a:xfrm>
            <a:off x="1600200" y="4033520"/>
            <a:ext cx="914400" cy="386080"/>
          </a:xfrm>
          <a:prstGeom prst="roundRect">
            <a:avLst/>
          </a:prstGeom>
          <a:solidFill>
            <a:srgbClr val="FF0000">
              <a:alpha val="92000"/>
            </a:srgbClr>
          </a:solidFill>
          <a:ln w="41275"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chemeClr val="tx1"/>
                </a:solidFill>
              </a:rPr>
              <a:t>Retrieve</a:t>
            </a:r>
            <a:endParaRPr lang="en-GB" sz="1400" dirty="0">
              <a:solidFill>
                <a:schemeClr val="tx1"/>
              </a:solidFill>
            </a:endParaRPr>
          </a:p>
        </p:txBody>
      </p:sp>
      <p:sp>
        <p:nvSpPr>
          <p:cNvPr id="13" name="Rounded Rectangle 12"/>
          <p:cNvSpPr/>
          <p:nvPr/>
        </p:nvSpPr>
        <p:spPr>
          <a:xfrm>
            <a:off x="1752600" y="3423920"/>
            <a:ext cx="914400" cy="386080"/>
          </a:xfrm>
          <a:prstGeom prst="roundRect">
            <a:avLst/>
          </a:prstGeom>
          <a:solidFill>
            <a:srgbClr val="FF0000">
              <a:alpha val="92000"/>
            </a:srgbClr>
          </a:solidFill>
          <a:ln w="41275"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chemeClr val="tx1"/>
                </a:solidFill>
              </a:rPr>
              <a:t>Locate</a:t>
            </a:r>
            <a:endParaRPr lang="en-GB" sz="1400" dirty="0">
              <a:solidFill>
                <a:schemeClr val="tx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extBox 4"/>
          <p:cNvSpPr txBox="1"/>
          <p:nvPr/>
        </p:nvSpPr>
        <p:spPr>
          <a:xfrm>
            <a:off x="2514600" y="76200"/>
            <a:ext cx="5486400" cy="738664"/>
          </a:xfrm>
          <a:prstGeom prst="rect">
            <a:avLst/>
          </a:prstGeom>
          <a:noFill/>
        </p:spPr>
        <p:txBody>
          <a:bodyPr wrap="square" rtlCol="0">
            <a:spAutoFit/>
          </a:bodyPr>
          <a:lstStyle/>
          <a:p>
            <a:r>
              <a:rPr lang="en-GB" sz="4200" b="1" dirty="0" smtClean="0">
                <a:solidFill>
                  <a:schemeClr val="bg1"/>
                </a:solidFill>
                <a:latin typeface="+mj-lt"/>
                <a:cs typeface="Apple Symbols"/>
              </a:rPr>
              <a:t>The 3 Stage Model</a:t>
            </a:r>
            <a:endParaRPr lang="en-GB" sz="4200" b="1" dirty="0">
              <a:solidFill>
                <a:schemeClr val="bg1"/>
              </a:solidFill>
              <a:latin typeface="+mj-lt"/>
              <a:cs typeface="Apple Symbols"/>
            </a:endParaRPr>
          </a:p>
        </p:txBody>
      </p:sp>
      <p:sp>
        <p:nvSpPr>
          <p:cNvPr id="4" name="Rounded Rectangle 3"/>
          <p:cNvSpPr/>
          <p:nvPr/>
        </p:nvSpPr>
        <p:spPr>
          <a:xfrm>
            <a:off x="1066800" y="1676400"/>
            <a:ext cx="1752600" cy="1051560"/>
          </a:xfrm>
          <a:prstGeom prst="roundRect">
            <a:avLst/>
          </a:prstGeom>
          <a:no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Get Content</a:t>
            </a:r>
          </a:p>
          <a:p>
            <a:pPr algn="ctr"/>
            <a:r>
              <a:rPr lang="en-GB" dirty="0" smtClean="0">
                <a:solidFill>
                  <a:srgbClr val="000000"/>
                </a:solidFill>
              </a:rPr>
              <a:t>(Ingest)</a:t>
            </a:r>
            <a:endParaRPr lang="en-GB" dirty="0">
              <a:solidFill>
                <a:srgbClr val="000000"/>
              </a:solidFill>
            </a:endParaRPr>
          </a:p>
        </p:txBody>
      </p:sp>
      <p:sp>
        <p:nvSpPr>
          <p:cNvPr id="6" name="Rounded Rectangle 5"/>
          <p:cNvSpPr/>
          <p:nvPr/>
        </p:nvSpPr>
        <p:spPr>
          <a:xfrm>
            <a:off x="6400800" y="1676400"/>
            <a:ext cx="1752600" cy="1051560"/>
          </a:xfrm>
          <a:prstGeom prst="roundRect">
            <a:avLst/>
          </a:prstGeom>
          <a:no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Serve Content</a:t>
            </a:r>
            <a:endParaRPr lang="en-GB" dirty="0">
              <a:solidFill>
                <a:srgbClr val="000000"/>
              </a:solidFill>
            </a:endParaRPr>
          </a:p>
        </p:txBody>
      </p:sp>
      <p:cxnSp>
        <p:nvCxnSpPr>
          <p:cNvPr id="7" name="Straight Connector 6"/>
          <p:cNvCxnSpPr/>
          <p:nvPr/>
        </p:nvCxnSpPr>
        <p:spPr>
          <a:xfrm>
            <a:off x="76200" y="2209800"/>
            <a:ext cx="914400" cy="1588"/>
          </a:xfrm>
          <a:prstGeom prst="line">
            <a:avLst/>
          </a:prstGeom>
          <a:ln w="11747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8153400" y="2209800"/>
            <a:ext cx="838200" cy="1588"/>
          </a:xfrm>
          <a:prstGeom prst="line">
            <a:avLst/>
          </a:prstGeom>
          <a:ln w="11747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2819400" y="2209800"/>
            <a:ext cx="533400" cy="1588"/>
          </a:xfrm>
          <a:prstGeom prst="line">
            <a:avLst/>
          </a:prstGeom>
          <a:ln w="11747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5867400" y="2209800"/>
            <a:ext cx="457200" cy="1588"/>
          </a:xfrm>
          <a:prstGeom prst="line">
            <a:avLst/>
          </a:prstGeom>
          <a:ln w="11747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29000" y="1524000"/>
            <a:ext cx="2438400" cy="1371600"/>
          </a:xfrm>
          <a:prstGeom prst="roundRect">
            <a:avLst/>
          </a:prstGeom>
          <a:no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Manage Content</a:t>
            </a:r>
            <a:endParaRPr lang="en-GB" dirty="0">
              <a:solidFill>
                <a:srgbClr val="000000"/>
              </a:solidFill>
            </a:endParaRPr>
          </a:p>
        </p:txBody>
      </p:sp>
      <p:sp>
        <p:nvSpPr>
          <p:cNvPr id="13" name="Rounded Rectangle 12"/>
          <p:cNvSpPr/>
          <p:nvPr/>
        </p:nvSpPr>
        <p:spPr>
          <a:xfrm>
            <a:off x="3429000" y="31242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Appraise &amp; Select</a:t>
            </a:r>
            <a:endParaRPr lang="en-GB" dirty="0">
              <a:solidFill>
                <a:srgbClr val="000000"/>
              </a:solidFill>
            </a:endParaRPr>
          </a:p>
        </p:txBody>
      </p:sp>
      <p:sp>
        <p:nvSpPr>
          <p:cNvPr id="14" name="Rounded Rectangle 13"/>
          <p:cNvSpPr/>
          <p:nvPr/>
        </p:nvSpPr>
        <p:spPr>
          <a:xfrm>
            <a:off x="3429000" y="36576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Store</a:t>
            </a:r>
            <a:endParaRPr lang="en-GB" dirty="0">
              <a:solidFill>
                <a:srgbClr val="000000"/>
              </a:solidFill>
            </a:endParaRPr>
          </a:p>
        </p:txBody>
      </p:sp>
      <p:sp>
        <p:nvSpPr>
          <p:cNvPr id="15" name="Rounded Rectangle 14"/>
          <p:cNvSpPr/>
          <p:nvPr/>
        </p:nvSpPr>
        <p:spPr>
          <a:xfrm>
            <a:off x="3429000" y="41910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Index</a:t>
            </a:r>
            <a:endParaRPr lang="en-GB" dirty="0">
              <a:solidFill>
                <a:srgbClr val="000000"/>
              </a:solidFill>
            </a:endParaRPr>
          </a:p>
        </p:txBody>
      </p:sp>
      <p:sp>
        <p:nvSpPr>
          <p:cNvPr id="16" name="Rounded Rectangle 15"/>
          <p:cNvSpPr/>
          <p:nvPr/>
        </p:nvSpPr>
        <p:spPr>
          <a:xfrm>
            <a:off x="3429000" y="47244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Preservation - Check</a:t>
            </a:r>
            <a:endParaRPr lang="en-GB" dirty="0">
              <a:solidFill>
                <a:srgbClr val="000000"/>
              </a:solidFill>
            </a:endParaRPr>
          </a:p>
        </p:txBody>
      </p:sp>
      <p:sp>
        <p:nvSpPr>
          <p:cNvPr id="17" name="Rounded Rectangle 16"/>
          <p:cNvSpPr/>
          <p:nvPr/>
        </p:nvSpPr>
        <p:spPr>
          <a:xfrm>
            <a:off x="3429000" y="52578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Preservation - Analyse</a:t>
            </a:r>
            <a:endParaRPr lang="en-GB" dirty="0">
              <a:solidFill>
                <a:srgbClr val="000000"/>
              </a:solidFill>
            </a:endParaRPr>
          </a:p>
        </p:txBody>
      </p:sp>
      <p:sp>
        <p:nvSpPr>
          <p:cNvPr id="18" name="Rounded Rectangle 17"/>
          <p:cNvSpPr/>
          <p:nvPr/>
        </p:nvSpPr>
        <p:spPr>
          <a:xfrm>
            <a:off x="3429000" y="57912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Preservation - Action</a:t>
            </a:r>
            <a:endParaRPr lang="en-GB" dirty="0">
              <a:solidFill>
                <a:srgbClr val="000000"/>
              </a:solidFill>
            </a:endParaRPr>
          </a:p>
        </p:txBody>
      </p:sp>
      <p:sp>
        <p:nvSpPr>
          <p:cNvPr id="19" name="Rounded Rectangle 18"/>
          <p:cNvSpPr/>
          <p:nvPr/>
        </p:nvSpPr>
        <p:spPr>
          <a:xfrm>
            <a:off x="3429000" y="63246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Dispose</a:t>
            </a:r>
            <a:endParaRPr lang="en-GB" dirty="0">
              <a:solidFill>
                <a:srgbClr val="000000"/>
              </a:solidFill>
            </a:endParaRPr>
          </a:p>
        </p:txBody>
      </p:sp>
      <p:sp>
        <p:nvSpPr>
          <p:cNvPr id="20" name="Rounded Rectangle 19"/>
          <p:cNvSpPr/>
          <p:nvPr/>
        </p:nvSpPr>
        <p:spPr>
          <a:xfrm rot="16200000">
            <a:off x="4686300" y="4457700"/>
            <a:ext cx="30480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Locate</a:t>
            </a:r>
            <a:endParaRPr lang="en-GB" dirty="0">
              <a:solidFill>
                <a:srgbClr val="000000"/>
              </a:solidFill>
            </a:endParaRPr>
          </a:p>
        </p:txBody>
      </p:sp>
      <p:sp>
        <p:nvSpPr>
          <p:cNvPr id="21" name="Rounded Rectangle 20"/>
          <p:cNvSpPr/>
          <p:nvPr/>
        </p:nvSpPr>
        <p:spPr>
          <a:xfrm rot="16200000">
            <a:off x="5219700" y="4457700"/>
            <a:ext cx="30480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Retrieve</a:t>
            </a:r>
            <a:endParaRPr lang="en-GB" dirty="0">
              <a:solidFill>
                <a:srgbClr val="000000"/>
              </a:solidFill>
            </a:endParaRPr>
          </a:p>
        </p:txBody>
      </p:sp>
      <p:sp>
        <p:nvSpPr>
          <p:cNvPr id="23" name="Rounded Rectangle 22"/>
          <p:cNvSpPr/>
          <p:nvPr/>
        </p:nvSpPr>
        <p:spPr>
          <a:xfrm rot="16200000">
            <a:off x="1485900" y="4457700"/>
            <a:ext cx="30480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Ingest</a:t>
            </a:r>
            <a:endParaRPr lang="en-GB" dirty="0">
              <a:solidFill>
                <a:srgbClr val="000000"/>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7" name="Rounded Rectangle 36"/>
          <p:cNvSpPr/>
          <p:nvPr/>
        </p:nvSpPr>
        <p:spPr>
          <a:xfrm>
            <a:off x="1600200" y="4038600"/>
            <a:ext cx="2438400" cy="1905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tIns="0" anchor="t"/>
          <a:lstStyle/>
          <a:p>
            <a:pPr algn="ctr"/>
            <a:r>
              <a:rPr lang="en-GB" dirty="0" smtClean="0">
                <a:solidFill>
                  <a:srgbClr val="000000"/>
                </a:solidFill>
              </a:rPr>
              <a:t>Ingest</a:t>
            </a:r>
            <a:endParaRPr lang="en-GB" dirty="0">
              <a:solidFill>
                <a:srgbClr val="000000"/>
              </a:solidFill>
            </a:endParaRPr>
          </a:p>
        </p:txBody>
      </p:sp>
      <p:sp>
        <p:nvSpPr>
          <p:cNvPr id="36" name="Rounded Rectangle 35"/>
          <p:cNvSpPr/>
          <p:nvPr/>
        </p:nvSpPr>
        <p:spPr>
          <a:xfrm>
            <a:off x="1371600" y="1752600"/>
            <a:ext cx="2438400" cy="14478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tIns="0" anchor="t"/>
          <a:lstStyle/>
          <a:p>
            <a:pPr algn="ctr"/>
            <a:r>
              <a:rPr lang="en-GB" dirty="0" smtClean="0">
                <a:solidFill>
                  <a:srgbClr val="000000"/>
                </a:solidFill>
              </a:rPr>
              <a:t>Store</a:t>
            </a:r>
            <a:endParaRPr lang="en-GB" dirty="0">
              <a:solidFill>
                <a:srgbClr val="000000"/>
              </a:solidFill>
            </a:endParaRPr>
          </a:p>
        </p:txBody>
      </p:sp>
      <p:sp>
        <p:nvSpPr>
          <p:cNvPr id="35" name="Rounded Rectangle 34"/>
          <p:cNvSpPr/>
          <p:nvPr/>
        </p:nvSpPr>
        <p:spPr>
          <a:xfrm>
            <a:off x="5486400" y="1676400"/>
            <a:ext cx="2438400" cy="23622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tIns="0" anchor="t"/>
          <a:lstStyle/>
          <a:p>
            <a:pPr algn="ctr"/>
            <a:r>
              <a:rPr lang="en-GB" dirty="0" smtClean="0">
                <a:solidFill>
                  <a:srgbClr val="000000"/>
                </a:solidFill>
              </a:rPr>
              <a:t>Index</a:t>
            </a:r>
            <a:endParaRPr lang="en-GB" dirty="0">
              <a:solidFill>
                <a:srgbClr val="000000"/>
              </a:solidFill>
            </a:endParaRPr>
          </a:p>
        </p:txBody>
      </p:sp>
      <p:sp>
        <p:nvSpPr>
          <p:cNvPr id="5" name="TextBox 4"/>
          <p:cNvSpPr txBox="1"/>
          <p:nvPr/>
        </p:nvSpPr>
        <p:spPr>
          <a:xfrm>
            <a:off x="1676400" y="76200"/>
            <a:ext cx="6705600" cy="677108"/>
          </a:xfrm>
          <a:prstGeom prst="rect">
            <a:avLst/>
          </a:prstGeom>
          <a:noFill/>
        </p:spPr>
        <p:txBody>
          <a:bodyPr wrap="square" rtlCol="0">
            <a:spAutoFit/>
          </a:bodyPr>
          <a:lstStyle/>
          <a:p>
            <a:r>
              <a:rPr lang="en-GB" sz="3800" b="1" dirty="0" smtClean="0">
                <a:solidFill>
                  <a:schemeClr val="bg1"/>
                </a:solidFill>
                <a:latin typeface="+mj-lt"/>
                <a:cs typeface="Apple Symbols"/>
              </a:rPr>
              <a:t>Breaking up the Repository</a:t>
            </a:r>
            <a:endParaRPr lang="en-GB" sz="3800" b="1" dirty="0">
              <a:solidFill>
                <a:schemeClr val="bg1"/>
              </a:solidFill>
              <a:latin typeface="+mj-lt"/>
              <a:cs typeface="Apple Symbols"/>
            </a:endParaRPr>
          </a:p>
        </p:txBody>
      </p:sp>
      <p:sp>
        <p:nvSpPr>
          <p:cNvPr id="22" name="Cloud 21"/>
          <p:cNvSpPr/>
          <p:nvPr/>
        </p:nvSpPr>
        <p:spPr>
          <a:xfrm>
            <a:off x="381000" y="1143000"/>
            <a:ext cx="8382000" cy="5715000"/>
          </a:xfrm>
          <a:prstGeom prst="cloud">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 name="Rounded Rectangle 22"/>
          <p:cNvSpPr/>
          <p:nvPr/>
        </p:nvSpPr>
        <p:spPr>
          <a:xfrm>
            <a:off x="1524000" y="22098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Preservation Storage</a:t>
            </a:r>
            <a:endParaRPr lang="en-GB" sz="1400" dirty="0">
              <a:solidFill>
                <a:srgbClr val="000000"/>
              </a:solidFill>
            </a:endParaRPr>
          </a:p>
        </p:txBody>
      </p:sp>
      <p:sp>
        <p:nvSpPr>
          <p:cNvPr id="24" name="Rounded Rectangle 23"/>
          <p:cNvSpPr/>
          <p:nvPr/>
        </p:nvSpPr>
        <p:spPr>
          <a:xfrm>
            <a:off x="1524000" y="26670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Local Storage</a:t>
            </a:r>
            <a:endParaRPr lang="en-GB" sz="1400" dirty="0">
              <a:solidFill>
                <a:srgbClr val="000000"/>
              </a:solidFill>
            </a:endParaRPr>
          </a:p>
        </p:txBody>
      </p:sp>
      <p:sp>
        <p:nvSpPr>
          <p:cNvPr id="25" name="Rounded Rectangle 24"/>
          <p:cNvSpPr/>
          <p:nvPr/>
        </p:nvSpPr>
        <p:spPr>
          <a:xfrm>
            <a:off x="5638800" y="21336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Local</a:t>
            </a:r>
            <a:endParaRPr lang="en-GB" sz="1400" dirty="0">
              <a:solidFill>
                <a:srgbClr val="000000"/>
              </a:solidFill>
            </a:endParaRPr>
          </a:p>
        </p:txBody>
      </p:sp>
      <p:sp>
        <p:nvSpPr>
          <p:cNvPr id="27" name="Rounded Rectangle 26"/>
          <p:cNvSpPr/>
          <p:nvPr/>
        </p:nvSpPr>
        <p:spPr>
          <a:xfrm>
            <a:off x="5638800" y="25908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Federated</a:t>
            </a:r>
            <a:endParaRPr lang="en-GB" sz="1400" dirty="0">
              <a:solidFill>
                <a:srgbClr val="000000"/>
              </a:solidFill>
            </a:endParaRPr>
          </a:p>
        </p:txBody>
      </p:sp>
      <p:sp>
        <p:nvSpPr>
          <p:cNvPr id="28" name="Rounded Rectangle 27"/>
          <p:cNvSpPr/>
          <p:nvPr/>
        </p:nvSpPr>
        <p:spPr>
          <a:xfrm>
            <a:off x="5638800" y="30480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Semantic Web</a:t>
            </a:r>
            <a:endParaRPr lang="en-GB" sz="1400" dirty="0">
              <a:solidFill>
                <a:srgbClr val="000000"/>
              </a:solidFill>
            </a:endParaRPr>
          </a:p>
        </p:txBody>
      </p:sp>
      <p:sp>
        <p:nvSpPr>
          <p:cNvPr id="29" name="Rounded Rectangle 28"/>
          <p:cNvSpPr/>
          <p:nvPr/>
        </p:nvSpPr>
        <p:spPr>
          <a:xfrm>
            <a:off x="5638800" y="35052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Subject Specific</a:t>
            </a:r>
            <a:endParaRPr lang="en-GB" sz="1400" dirty="0">
              <a:solidFill>
                <a:srgbClr val="000000"/>
              </a:solidFill>
            </a:endParaRPr>
          </a:p>
        </p:txBody>
      </p:sp>
      <p:sp>
        <p:nvSpPr>
          <p:cNvPr id="30" name="Rounded Rectangle 29"/>
          <p:cNvSpPr/>
          <p:nvPr/>
        </p:nvSpPr>
        <p:spPr>
          <a:xfrm>
            <a:off x="1752600" y="44958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Web Based </a:t>
            </a:r>
            <a:r>
              <a:rPr lang="en-GB" sz="1400" dirty="0" err="1" smtClean="0">
                <a:solidFill>
                  <a:srgbClr val="000000"/>
                </a:solidFill>
              </a:rPr>
              <a:t>x</a:t>
            </a:r>
            <a:r>
              <a:rPr lang="en-GB" sz="1400" dirty="0" smtClean="0">
                <a:solidFill>
                  <a:srgbClr val="000000"/>
                </a:solidFill>
              </a:rPr>
              <a:t> 3</a:t>
            </a:r>
            <a:endParaRPr lang="en-GB" sz="1400" dirty="0">
              <a:solidFill>
                <a:srgbClr val="000000"/>
              </a:solidFill>
            </a:endParaRPr>
          </a:p>
        </p:txBody>
      </p:sp>
      <p:sp>
        <p:nvSpPr>
          <p:cNvPr id="31" name="Rounded Rectangle 30"/>
          <p:cNvSpPr/>
          <p:nvPr/>
        </p:nvSpPr>
        <p:spPr>
          <a:xfrm>
            <a:off x="1752600" y="49530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SWORD</a:t>
            </a:r>
            <a:endParaRPr lang="en-GB" sz="1400" dirty="0">
              <a:solidFill>
                <a:srgbClr val="000000"/>
              </a:solidFill>
            </a:endParaRPr>
          </a:p>
        </p:txBody>
      </p:sp>
      <p:sp>
        <p:nvSpPr>
          <p:cNvPr id="32" name="Rounded Rectangle 31"/>
          <p:cNvSpPr/>
          <p:nvPr/>
        </p:nvSpPr>
        <p:spPr>
          <a:xfrm>
            <a:off x="1752600" y="54102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OAI-ORE</a:t>
            </a:r>
            <a:endParaRPr lang="en-GB" sz="1400" dirty="0">
              <a:solidFill>
                <a:srgbClr val="000000"/>
              </a:solidFill>
            </a:endParaRPr>
          </a:p>
        </p:txBody>
      </p:sp>
      <p:sp>
        <p:nvSpPr>
          <p:cNvPr id="33" name="Rounded Rectangle 32"/>
          <p:cNvSpPr/>
          <p:nvPr/>
        </p:nvSpPr>
        <p:spPr>
          <a:xfrm rot="16200000">
            <a:off x="7239000" y="2819400"/>
            <a:ext cx="17526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Locate</a:t>
            </a:r>
            <a:endParaRPr lang="en-GB" dirty="0">
              <a:solidFill>
                <a:srgbClr val="000000"/>
              </a:solidFill>
            </a:endParaRPr>
          </a:p>
        </p:txBody>
      </p:sp>
      <p:sp>
        <p:nvSpPr>
          <p:cNvPr id="34" name="Rounded Rectangle 33"/>
          <p:cNvSpPr/>
          <p:nvPr/>
        </p:nvSpPr>
        <p:spPr>
          <a:xfrm rot="16200000">
            <a:off x="7772400" y="2819400"/>
            <a:ext cx="17526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Retrieve</a:t>
            </a:r>
            <a:endParaRPr lang="en-GB" dirty="0">
              <a:solidFill>
                <a:srgbClr val="000000"/>
              </a:solidFill>
            </a:endParaRPr>
          </a:p>
        </p:txBody>
      </p:sp>
      <p:sp>
        <p:nvSpPr>
          <p:cNvPr id="38" name="Rounded Rectangle 37"/>
          <p:cNvSpPr/>
          <p:nvPr/>
        </p:nvSpPr>
        <p:spPr>
          <a:xfrm>
            <a:off x="5486400" y="4267200"/>
            <a:ext cx="1524000" cy="228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sz="800" dirty="0" smtClean="0">
                <a:solidFill>
                  <a:srgbClr val="000000"/>
                </a:solidFill>
              </a:rPr>
              <a:t>Appraise &amp; Select</a:t>
            </a:r>
            <a:endParaRPr lang="en-GB" sz="800" dirty="0">
              <a:solidFill>
                <a:srgbClr val="000000"/>
              </a:solidFill>
            </a:endParaRPr>
          </a:p>
        </p:txBody>
      </p:sp>
      <p:sp>
        <p:nvSpPr>
          <p:cNvPr id="41" name="Rounded Rectangle 40"/>
          <p:cNvSpPr/>
          <p:nvPr/>
        </p:nvSpPr>
        <p:spPr>
          <a:xfrm>
            <a:off x="5486400" y="4572000"/>
            <a:ext cx="1524000" cy="228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sz="800" dirty="0" smtClean="0">
                <a:solidFill>
                  <a:srgbClr val="000000"/>
                </a:solidFill>
              </a:rPr>
              <a:t>Preservation - Check</a:t>
            </a:r>
            <a:endParaRPr lang="en-GB" sz="800" dirty="0">
              <a:solidFill>
                <a:srgbClr val="000000"/>
              </a:solidFill>
            </a:endParaRPr>
          </a:p>
        </p:txBody>
      </p:sp>
      <p:sp>
        <p:nvSpPr>
          <p:cNvPr id="42" name="Rounded Rectangle 41"/>
          <p:cNvSpPr/>
          <p:nvPr/>
        </p:nvSpPr>
        <p:spPr>
          <a:xfrm>
            <a:off x="5486400" y="4876800"/>
            <a:ext cx="1524000" cy="228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sz="800" dirty="0" smtClean="0">
                <a:solidFill>
                  <a:srgbClr val="000000"/>
                </a:solidFill>
              </a:rPr>
              <a:t>Preservation - Analyse</a:t>
            </a:r>
            <a:endParaRPr lang="en-GB" sz="800" dirty="0">
              <a:solidFill>
                <a:srgbClr val="000000"/>
              </a:solidFill>
            </a:endParaRPr>
          </a:p>
        </p:txBody>
      </p:sp>
      <p:sp>
        <p:nvSpPr>
          <p:cNvPr id="43" name="Rounded Rectangle 42"/>
          <p:cNvSpPr/>
          <p:nvPr/>
        </p:nvSpPr>
        <p:spPr>
          <a:xfrm>
            <a:off x="5486400" y="5181600"/>
            <a:ext cx="1524000" cy="228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sz="800" dirty="0" smtClean="0">
                <a:solidFill>
                  <a:srgbClr val="000000"/>
                </a:solidFill>
              </a:rPr>
              <a:t>Preservation - Action</a:t>
            </a:r>
            <a:endParaRPr lang="en-GB" sz="800" dirty="0">
              <a:solidFill>
                <a:srgbClr val="000000"/>
              </a:solidFill>
            </a:endParaRPr>
          </a:p>
        </p:txBody>
      </p:sp>
      <p:sp>
        <p:nvSpPr>
          <p:cNvPr id="44" name="Rounded Rectangle 43"/>
          <p:cNvSpPr/>
          <p:nvPr/>
        </p:nvSpPr>
        <p:spPr>
          <a:xfrm>
            <a:off x="5486400" y="5486400"/>
            <a:ext cx="1524000" cy="228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sz="800" dirty="0" smtClean="0">
                <a:solidFill>
                  <a:srgbClr val="000000"/>
                </a:solidFill>
              </a:rPr>
              <a:t>Dispose</a:t>
            </a:r>
            <a:endParaRPr lang="en-GB" sz="800" dirty="0">
              <a:solidFill>
                <a:srgbClr val="000000"/>
              </a:solidFill>
            </a:endParaRPr>
          </a:p>
        </p:txBody>
      </p:sp>
      <p:sp>
        <p:nvSpPr>
          <p:cNvPr id="45" name="Quad Arrow Callout 44"/>
          <p:cNvSpPr/>
          <p:nvPr/>
        </p:nvSpPr>
        <p:spPr>
          <a:xfrm rot="2648906">
            <a:off x="3505200" y="2590800"/>
            <a:ext cx="2303780" cy="2189480"/>
          </a:xfrm>
          <a:prstGeom prst="quadArrowCallout">
            <a:avLst>
              <a:gd name="adj1" fmla="val 11692"/>
              <a:gd name="adj2" fmla="val 18515"/>
              <a:gd name="adj3" fmla="val 18515"/>
              <a:gd name="adj4" fmla="val 44913"/>
            </a:avLst>
          </a:prstGeom>
          <a:noFill/>
          <a:ln w="34925"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46" name="TextBox 45"/>
          <p:cNvSpPr txBox="1"/>
          <p:nvPr/>
        </p:nvSpPr>
        <p:spPr>
          <a:xfrm>
            <a:off x="4038600" y="3429000"/>
            <a:ext cx="1524000" cy="430887"/>
          </a:xfrm>
          <a:prstGeom prst="rect">
            <a:avLst/>
          </a:prstGeom>
          <a:noFill/>
        </p:spPr>
        <p:txBody>
          <a:bodyPr wrap="square" rtlCol="0">
            <a:spAutoFit/>
          </a:bodyPr>
          <a:lstStyle/>
          <a:p>
            <a:r>
              <a:rPr lang="en-GB" sz="2200" dirty="0" smtClean="0"/>
              <a:t>Manager</a:t>
            </a:r>
            <a:endParaRPr lang="en-GB" sz="2200" dirty="0"/>
          </a:p>
        </p:txBody>
      </p:sp>
      <p:pic>
        <p:nvPicPr>
          <p:cNvPr id="47" name="Picture 46"/>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0" y="5029200"/>
            <a:ext cx="863600" cy="863600"/>
          </a:xfrm>
          <a:prstGeom prst="rect">
            <a:avLst/>
          </a:prstGeom>
        </p:spPr>
      </p:pic>
      <p:cxnSp>
        <p:nvCxnSpPr>
          <p:cNvPr id="48" name="Straight Connector 47"/>
          <p:cNvCxnSpPr/>
          <p:nvPr/>
        </p:nvCxnSpPr>
        <p:spPr>
          <a:xfrm flipV="1">
            <a:off x="762000" y="5181600"/>
            <a:ext cx="762000" cy="152400"/>
          </a:xfrm>
          <a:prstGeom prst="line">
            <a:avLst/>
          </a:prstGeom>
          <a:ln w="50800"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pic>
        <p:nvPicPr>
          <p:cNvPr id="52" name="Picture 51"/>
          <p:cNvPicPr>
            <a:picLocks noChangeAspect="1"/>
          </p:cNvPicPr>
          <p:nvPr/>
        </p:nvPicPr>
        <mc:AlternateContent>
          <mc:Choice xmlns:ma="http://schemas.microsoft.com/office/mac/drawingml/2008/main" Requires="ma">
            <p:blipFill>
              <a:blip r:embed="rId5"/>
              <a:stretch>
                <a:fillRect/>
              </a:stretch>
            </p:blipFill>
          </mc:Choice>
          <mc:Fallback>
            <p:blipFill>
              <a:blip r:embed="rId6"/>
              <a:stretch>
                <a:fillRect/>
              </a:stretch>
            </p:blipFill>
          </mc:Fallback>
        </mc:AlternateContent>
        <p:spPr>
          <a:xfrm>
            <a:off x="7848600" y="1137699"/>
            <a:ext cx="1219200" cy="614901"/>
          </a:xfrm>
          <a:prstGeom prst="rect">
            <a:avLst/>
          </a:prstGeom>
        </p:spPr>
      </p:pic>
      <p:pic>
        <p:nvPicPr>
          <p:cNvPr id="53" name="Picture 52"/>
          <p:cNvPicPr>
            <a:picLocks noChangeAspect="1"/>
          </p:cNvPicPr>
          <p:nvPr/>
        </p:nvPicPr>
        <mc:AlternateContent>
          <mc:Choice xmlns:ma="http://schemas.microsoft.com/office/mac/drawingml/2008/main" Requires="ma">
            <p:blipFill>
              <a:blip r:embed="rId7"/>
              <a:stretch>
                <a:fillRect/>
              </a:stretch>
            </p:blipFill>
          </mc:Choice>
          <mc:Fallback>
            <p:blipFill>
              <a:blip r:embed="rId8"/>
              <a:stretch>
                <a:fillRect/>
              </a:stretch>
            </p:blipFill>
          </mc:Fallback>
        </mc:AlternateContent>
        <p:spPr>
          <a:xfrm>
            <a:off x="152400" y="1066800"/>
            <a:ext cx="1317037" cy="533400"/>
          </a:xfrm>
          <a:prstGeom prst="rect">
            <a:avLst/>
          </a:prstGeom>
        </p:spPr>
      </p:pic>
      <p:pic>
        <p:nvPicPr>
          <p:cNvPr id="54" name="Picture 53"/>
          <p:cNvPicPr>
            <a:picLocks noChangeAspect="1"/>
          </p:cNvPicPr>
          <p:nvPr/>
        </p:nvPicPr>
        <mc:AlternateContent>
          <mc:Choice xmlns:ma="http://schemas.microsoft.com/office/mac/drawingml/2008/main" Requires="ma">
            <p:blipFill>
              <a:blip r:embed="rId9"/>
              <a:stretch>
                <a:fillRect/>
              </a:stretch>
            </p:blipFill>
          </mc:Choice>
          <mc:Fallback>
            <p:blipFill>
              <a:blip r:embed="rId10"/>
              <a:stretch>
                <a:fillRect/>
              </a:stretch>
            </p:blipFill>
          </mc:Fallback>
        </mc:AlternateContent>
        <p:spPr>
          <a:xfrm>
            <a:off x="228600" y="1752600"/>
            <a:ext cx="762000" cy="762000"/>
          </a:xfrm>
          <a:prstGeom prst="rect">
            <a:avLst/>
          </a:prstGeom>
        </p:spPr>
      </p:pic>
      <p:sp>
        <p:nvSpPr>
          <p:cNvPr id="57" name="TextBox 56"/>
          <p:cNvSpPr txBox="1"/>
          <p:nvPr/>
        </p:nvSpPr>
        <p:spPr>
          <a:xfrm>
            <a:off x="0" y="6096000"/>
            <a:ext cx="9144000" cy="707886"/>
          </a:xfrm>
          <a:prstGeom prst="rect">
            <a:avLst/>
          </a:prstGeom>
          <a:solidFill>
            <a:schemeClr val="bg1">
              <a:lumMod val="95000"/>
            </a:schemeClr>
          </a:solidFill>
        </p:spPr>
        <p:txBody>
          <a:bodyPr wrap="square" rtlCol="0">
            <a:spAutoFit/>
          </a:bodyPr>
          <a:lstStyle/>
          <a:p>
            <a:pPr algn="ctr"/>
            <a:r>
              <a:rPr lang="en-GB" sz="2000" dirty="0" smtClean="0"/>
              <a:t>The manager may provide capability to perform one or more of the processes. Typically the manager is all that is used.</a:t>
            </a:r>
            <a:endParaRPr lang="en-GB" sz="2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extBox 4"/>
          <p:cNvSpPr txBox="1"/>
          <p:nvPr/>
        </p:nvSpPr>
        <p:spPr>
          <a:xfrm>
            <a:off x="1219200" y="76200"/>
            <a:ext cx="7010400" cy="615553"/>
          </a:xfrm>
          <a:prstGeom prst="rect">
            <a:avLst/>
          </a:prstGeom>
          <a:noFill/>
        </p:spPr>
        <p:txBody>
          <a:bodyPr wrap="square" rtlCol="0">
            <a:spAutoFit/>
          </a:bodyPr>
          <a:lstStyle/>
          <a:p>
            <a:r>
              <a:rPr lang="en-GB" sz="3400" b="1" dirty="0" smtClean="0">
                <a:solidFill>
                  <a:schemeClr val="bg1"/>
                </a:solidFill>
                <a:latin typeface="+mj-lt"/>
                <a:cs typeface="Apple Symbols"/>
              </a:rPr>
              <a:t>Repository Management Software</a:t>
            </a:r>
            <a:endParaRPr lang="en-GB" sz="3400" b="1" dirty="0">
              <a:solidFill>
                <a:schemeClr val="bg1"/>
              </a:solidFill>
              <a:latin typeface="+mj-lt"/>
              <a:cs typeface="Apple Symbols"/>
            </a:endParaRPr>
          </a:p>
        </p:txBody>
      </p:sp>
      <p:sp>
        <p:nvSpPr>
          <p:cNvPr id="4" name="TextBox 3"/>
          <p:cNvSpPr txBox="1"/>
          <p:nvPr/>
        </p:nvSpPr>
        <p:spPr>
          <a:xfrm>
            <a:off x="609600" y="1676400"/>
            <a:ext cx="8001000" cy="2446824"/>
          </a:xfrm>
          <a:prstGeom prst="rect">
            <a:avLst/>
          </a:prstGeom>
          <a:noFill/>
        </p:spPr>
        <p:txBody>
          <a:bodyPr wrap="square" rtlCol="0">
            <a:spAutoFit/>
          </a:bodyPr>
          <a:lstStyle/>
          <a:p>
            <a:pPr algn="ctr"/>
            <a:r>
              <a:rPr lang="en-GB" sz="5100" dirty="0" smtClean="0"/>
              <a:t>A set of Pipes/Workflows* which know how to translate inputs into outputs.</a:t>
            </a:r>
            <a:endParaRPr lang="en-GB" sz="5100" dirty="0"/>
          </a:p>
        </p:txBody>
      </p:sp>
      <p:sp>
        <p:nvSpPr>
          <p:cNvPr id="6" name="TextBox 5"/>
          <p:cNvSpPr txBox="1"/>
          <p:nvPr/>
        </p:nvSpPr>
        <p:spPr>
          <a:xfrm>
            <a:off x="1143000" y="6324600"/>
            <a:ext cx="7187184" cy="369332"/>
          </a:xfrm>
          <a:prstGeom prst="rect">
            <a:avLst/>
          </a:prstGeom>
          <a:noFill/>
        </p:spPr>
        <p:txBody>
          <a:bodyPr wrap="none" rtlCol="0">
            <a:spAutoFit/>
          </a:bodyPr>
          <a:lstStyle/>
          <a:p>
            <a:r>
              <a:rPr lang="en-GB" dirty="0" smtClean="0"/>
              <a:t>*Depending on your own definition you could also add “Middleware”</a:t>
            </a:r>
            <a:endParaRPr lang="en-GB" dirty="0"/>
          </a:p>
        </p:txBody>
      </p:sp>
      <p:sp>
        <p:nvSpPr>
          <p:cNvPr id="7" name="TextBox 6"/>
          <p:cNvSpPr txBox="1"/>
          <p:nvPr/>
        </p:nvSpPr>
        <p:spPr>
          <a:xfrm>
            <a:off x="457200" y="4495800"/>
            <a:ext cx="8229600" cy="1477328"/>
          </a:xfrm>
          <a:prstGeom prst="rect">
            <a:avLst/>
          </a:prstGeom>
          <a:noFill/>
        </p:spPr>
        <p:txBody>
          <a:bodyPr wrap="square" rtlCol="0">
            <a:spAutoFit/>
          </a:bodyPr>
          <a:lstStyle/>
          <a:p>
            <a:r>
              <a:rPr lang="en-GB" dirty="0" smtClean="0"/>
              <a:t>Examples:</a:t>
            </a:r>
          </a:p>
          <a:p>
            <a:pPr algn="just">
              <a:buFont typeface="Arial"/>
              <a:buChar char="•"/>
            </a:pPr>
            <a:r>
              <a:rPr lang="en-GB" dirty="0" smtClean="0"/>
              <a:t> OAI-ORE which contains Files and Metadata is split by the management software into File/Metadata storage and indexes.</a:t>
            </a:r>
          </a:p>
          <a:p>
            <a:pPr algn="just">
              <a:buFont typeface="Arial"/>
              <a:buChar char="•"/>
            </a:pPr>
            <a:r>
              <a:rPr lang="en-GB" dirty="0" smtClean="0"/>
              <a:t> A request for a set of objects related to a single author is translated into a query to an index and a retrieve from the storage.</a:t>
            </a:r>
            <a:endParaRPr lang="en-GB"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6" name="Rounded Rectangle 35"/>
          <p:cNvSpPr/>
          <p:nvPr/>
        </p:nvSpPr>
        <p:spPr>
          <a:xfrm>
            <a:off x="2971800" y="3774110"/>
            <a:ext cx="2438400" cy="1905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tIns="0" anchor="t"/>
          <a:lstStyle/>
          <a:p>
            <a:pPr algn="ctr"/>
            <a:r>
              <a:rPr lang="en-GB" dirty="0" smtClean="0">
                <a:solidFill>
                  <a:srgbClr val="000000"/>
                </a:solidFill>
              </a:rPr>
              <a:t>Store</a:t>
            </a:r>
            <a:endParaRPr lang="en-GB" dirty="0">
              <a:solidFill>
                <a:srgbClr val="000000"/>
              </a:solidFill>
            </a:endParaRPr>
          </a:p>
        </p:txBody>
      </p:sp>
      <p:sp>
        <p:nvSpPr>
          <p:cNvPr id="22" name="Cloud 21"/>
          <p:cNvSpPr/>
          <p:nvPr/>
        </p:nvSpPr>
        <p:spPr>
          <a:xfrm>
            <a:off x="2667000" y="2783510"/>
            <a:ext cx="6477000" cy="3886200"/>
          </a:xfrm>
          <a:prstGeom prst="cloud">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 name="Rounded Rectangle 22"/>
          <p:cNvSpPr/>
          <p:nvPr/>
        </p:nvSpPr>
        <p:spPr>
          <a:xfrm>
            <a:off x="3124200" y="423131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Local Storage</a:t>
            </a:r>
            <a:endParaRPr lang="en-GB" sz="1400" dirty="0">
              <a:solidFill>
                <a:srgbClr val="000000"/>
              </a:solidFill>
            </a:endParaRPr>
          </a:p>
        </p:txBody>
      </p:sp>
      <p:sp>
        <p:nvSpPr>
          <p:cNvPr id="24" name="Rounded Rectangle 23"/>
          <p:cNvSpPr/>
          <p:nvPr/>
        </p:nvSpPr>
        <p:spPr>
          <a:xfrm>
            <a:off x="3124200" y="468851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Cloud Storage</a:t>
            </a:r>
            <a:endParaRPr lang="en-GB" sz="1400" dirty="0">
              <a:solidFill>
                <a:srgbClr val="000000"/>
              </a:solidFill>
            </a:endParaRPr>
          </a:p>
        </p:txBody>
      </p:sp>
      <p:sp>
        <p:nvSpPr>
          <p:cNvPr id="38" name="Rounded Rectangle 37"/>
          <p:cNvSpPr/>
          <p:nvPr/>
        </p:nvSpPr>
        <p:spPr>
          <a:xfrm>
            <a:off x="7239000" y="4383710"/>
            <a:ext cx="1524000" cy="228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sz="800" dirty="0" smtClean="0">
                <a:solidFill>
                  <a:srgbClr val="000000"/>
                </a:solidFill>
              </a:rPr>
              <a:t>Appraise &amp; Select</a:t>
            </a:r>
            <a:endParaRPr lang="en-GB" sz="800" dirty="0">
              <a:solidFill>
                <a:srgbClr val="000000"/>
              </a:solidFill>
            </a:endParaRPr>
          </a:p>
        </p:txBody>
      </p:sp>
      <p:sp>
        <p:nvSpPr>
          <p:cNvPr id="41" name="Rounded Rectangle 40"/>
          <p:cNvSpPr/>
          <p:nvPr/>
        </p:nvSpPr>
        <p:spPr>
          <a:xfrm>
            <a:off x="7239000" y="4688510"/>
            <a:ext cx="1524000" cy="228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sz="800" dirty="0" smtClean="0">
                <a:solidFill>
                  <a:srgbClr val="000000"/>
                </a:solidFill>
              </a:rPr>
              <a:t>Preservation - Check</a:t>
            </a:r>
            <a:endParaRPr lang="en-GB" sz="800" dirty="0">
              <a:solidFill>
                <a:srgbClr val="000000"/>
              </a:solidFill>
            </a:endParaRPr>
          </a:p>
        </p:txBody>
      </p:sp>
      <p:sp>
        <p:nvSpPr>
          <p:cNvPr id="42" name="Rounded Rectangle 41"/>
          <p:cNvSpPr/>
          <p:nvPr/>
        </p:nvSpPr>
        <p:spPr>
          <a:xfrm>
            <a:off x="7239000" y="4993310"/>
            <a:ext cx="1524000" cy="228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sz="800" dirty="0" smtClean="0">
                <a:solidFill>
                  <a:srgbClr val="000000"/>
                </a:solidFill>
              </a:rPr>
              <a:t>Preservation - Analyse</a:t>
            </a:r>
            <a:endParaRPr lang="en-GB" sz="800" dirty="0">
              <a:solidFill>
                <a:srgbClr val="000000"/>
              </a:solidFill>
            </a:endParaRPr>
          </a:p>
        </p:txBody>
      </p:sp>
      <p:sp>
        <p:nvSpPr>
          <p:cNvPr id="43" name="Rounded Rectangle 42"/>
          <p:cNvSpPr/>
          <p:nvPr/>
        </p:nvSpPr>
        <p:spPr>
          <a:xfrm>
            <a:off x="7239000" y="5298110"/>
            <a:ext cx="1524000" cy="228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sz="800" dirty="0" smtClean="0">
                <a:solidFill>
                  <a:srgbClr val="000000"/>
                </a:solidFill>
              </a:rPr>
              <a:t>Preservation - Action</a:t>
            </a:r>
            <a:endParaRPr lang="en-GB" sz="800" dirty="0">
              <a:solidFill>
                <a:srgbClr val="000000"/>
              </a:solidFill>
            </a:endParaRPr>
          </a:p>
        </p:txBody>
      </p:sp>
      <p:sp>
        <p:nvSpPr>
          <p:cNvPr id="44" name="Rounded Rectangle 43"/>
          <p:cNvSpPr/>
          <p:nvPr/>
        </p:nvSpPr>
        <p:spPr>
          <a:xfrm>
            <a:off x="7239000" y="5602910"/>
            <a:ext cx="1524000" cy="228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sz="800" dirty="0" smtClean="0">
                <a:solidFill>
                  <a:srgbClr val="000000"/>
                </a:solidFill>
              </a:rPr>
              <a:t>Dispose</a:t>
            </a:r>
            <a:endParaRPr lang="en-GB" sz="800" dirty="0">
              <a:solidFill>
                <a:srgbClr val="000000"/>
              </a:solidFill>
            </a:endParaRPr>
          </a:p>
        </p:txBody>
      </p:sp>
      <p:sp>
        <p:nvSpPr>
          <p:cNvPr id="45" name="Quad Arrow Callout 44"/>
          <p:cNvSpPr/>
          <p:nvPr/>
        </p:nvSpPr>
        <p:spPr>
          <a:xfrm rot="2648906">
            <a:off x="5161543" y="3581400"/>
            <a:ext cx="2303780" cy="2189480"/>
          </a:xfrm>
          <a:prstGeom prst="quadArrowCallout">
            <a:avLst>
              <a:gd name="adj1" fmla="val 11692"/>
              <a:gd name="adj2" fmla="val 18515"/>
              <a:gd name="adj3" fmla="val 18515"/>
              <a:gd name="adj4" fmla="val 44913"/>
            </a:avLst>
          </a:prstGeom>
          <a:noFill/>
          <a:ln w="34925"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46" name="TextBox 45"/>
          <p:cNvSpPr txBox="1"/>
          <p:nvPr/>
        </p:nvSpPr>
        <p:spPr>
          <a:xfrm>
            <a:off x="5694943" y="4419600"/>
            <a:ext cx="1524000" cy="430887"/>
          </a:xfrm>
          <a:prstGeom prst="rect">
            <a:avLst/>
          </a:prstGeom>
          <a:noFill/>
        </p:spPr>
        <p:txBody>
          <a:bodyPr wrap="square" rtlCol="0">
            <a:spAutoFit/>
          </a:bodyPr>
          <a:lstStyle/>
          <a:p>
            <a:r>
              <a:rPr lang="en-GB" sz="2200" dirty="0" smtClean="0"/>
              <a:t>Manager</a:t>
            </a:r>
            <a:endParaRPr lang="en-GB" sz="2200" dirty="0"/>
          </a:p>
        </p:txBody>
      </p:sp>
      <p:pic>
        <p:nvPicPr>
          <p:cNvPr id="40" name="Content Placeholder 3" descr="ep_neg.png"/>
          <p:cNvPicPr>
            <a:picLocks noChangeAspect="1"/>
          </p:cNvPicPr>
          <p:nvPr/>
        </p:nvPicPr>
        <p:blipFill>
          <a:blip r:embed="rId3"/>
          <a:stretch>
            <a:fillRect/>
          </a:stretch>
        </p:blipFill>
        <p:spPr>
          <a:xfrm>
            <a:off x="1063095" y="-228600"/>
            <a:ext cx="2899305" cy="1379025"/>
          </a:xfrm>
          <a:prstGeom prst="rect">
            <a:avLst/>
          </a:prstGeom>
        </p:spPr>
      </p:pic>
      <p:sp>
        <p:nvSpPr>
          <p:cNvPr id="49" name="TextBox 48"/>
          <p:cNvSpPr txBox="1"/>
          <p:nvPr/>
        </p:nvSpPr>
        <p:spPr>
          <a:xfrm>
            <a:off x="3505200" y="54114"/>
            <a:ext cx="5257800" cy="707886"/>
          </a:xfrm>
          <a:prstGeom prst="rect">
            <a:avLst/>
          </a:prstGeom>
          <a:noFill/>
        </p:spPr>
        <p:txBody>
          <a:bodyPr wrap="square" rtlCol="0">
            <a:spAutoFit/>
          </a:bodyPr>
          <a:lstStyle/>
          <a:p>
            <a:r>
              <a:rPr lang="en-GB" sz="4000" b="1" dirty="0" smtClean="0">
                <a:solidFill>
                  <a:schemeClr val="bg1"/>
                </a:solidFill>
                <a:latin typeface="+mj-lt"/>
                <a:cs typeface="Apple Symbols"/>
              </a:rPr>
              <a:t> :Storage Controller</a:t>
            </a:r>
            <a:endParaRPr lang="en-GB" sz="4000" b="1" dirty="0">
              <a:solidFill>
                <a:schemeClr val="bg1"/>
              </a:solidFill>
              <a:latin typeface="+mj-lt"/>
              <a:cs typeface="Apple Symbols"/>
            </a:endParaRPr>
          </a:p>
        </p:txBody>
      </p:sp>
      <p:sp>
        <p:nvSpPr>
          <p:cNvPr id="50" name="Rounded Rectangle 49"/>
          <p:cNvSpPr/>
          <p:nvPr/>
        </p:nvSpPr>
        <p:spPr>
          <a:xfrm>
            <a:off x="7239000" y="4078910"/>
            <a:ext cx="1524000" cy="228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sz="800" dirty="0" smtClean="0">
                <a:solidFill>
                  <a:srgbClr val="000000"/>
                </a:solidFill>
              </a:rPr>
              <a:t>Retrieve</a:t>
            </a:r>
            <a:endParaRPr lang="en-GB" sz="800" dirty="0">
              <a:solidFill>
                <a:srgbClr val="000000"/>
              </a:solidFill>
            </a:endParaRPr>
          </a:p>
        </p:txBody>
      </p:sp>
      <p:sp>
        <p:nvSpPr>
          <p:cNvPr id="51" name="Rounded Rectangle 50"/>
          <p:cNvSpPr/>
          <p:nvPr/>
        </p:nvSpPr>
        <p:spPr>
          <a:xfrm>
            <a:off x="7239000" y="3774110"/>
            <a:ext cx="1524000" cy="228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sz="800" dirty="0" smtClean="0">
                <a:solidFill>
                  <a:srgbClr val="000000"/>
                </a:solidFill>
              </a:rPr>
              <a:t>Locate</a:t>
            </a:r>
            <a:endParaRPr lang="en-GB" sz="800" dirty="0">
              <a:solidFill>
                <a:srgbClr val="000000"/>
              </a:solidFill>
            </a:endParaRPr>
          </a:p>
        </p:txBody>
      </p:sp>
      <p:sp>
        <p:nvSpPr>
          <p:cNvPr id="55" name="Rounded Rectangle 54"/>
          <p:cNvSpPr/>
          <p:nvPr/>
        </p:nvSpPr>
        <p:spPr>
          <a:xfrm>
            <a:off x="7239000" y="3469310"/>
            <a:ext cx="1524000" cy="228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sz="800" dirty="0" smtClean="0">
                <a:solidFill>
                  <a:srgbClr val="000000"/>
                </a:solidFill>
              </a:rPr>
              <a:t>Index</a:t>
            </a:r>
            <a:endParaRPr lang="en-GB" sz="800" dirty="0">
              <a:solidFill>
                <a:srgbClr val="000000"/>
              </a:solidFill>
            </a:endParaRPr>
          </a:p>
        </p:txBody>
      </p:sp>
      <p:sp>
        <p:nvSpPr>
          <p:cNvPr id="56" name="Rounded Rectangle 55"/>
          <p:cNvSpPr/>
          <p:nvPr/>
        </p:nvSpPr>
        <p:spPr>
          <a:xfrm>
            <a:off x="3124200" y="514571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Honeycomb</a:t>
            </a:r>
            <a:endParaRPr lang="en-GB" sz="1400" dirty="0">
              <a:solidFill>
                <a:srgbClr val="000000"/>
              </a:solidFill>
            </a:endParaRPr>
          </a:p>
        </p:txBody>
      </p:sp>
      <p:sp>
        <p:nvSpPr>
          <p:cNvPr id="58" name="TextBox 57"/>
          <p:cNvSpPr txBox="1"/>
          <p:nvPr/>
        </p:nvSpPr>
        <p:spPr>
          <a:xfrm>
            <a:off x="228600" y="1493490"/>
            <a:ext cx="8458200" cy="3154710"/>
          </a:xfrm>
          <a:prstGeom prst="rect">
            <a:avLst/>
          </a:prstGeom>
          <a:noFill/>
        </p:spPr>
        <p:txBody>
          <a:bodyPr wrap="square" rtlCol="0">
            <a:spAutoFit/>
          </a:bodyPr>
          <a:lstStyle/>
          <a:p>
            <a:pPr>
              <a:buFont typeface="Arial"/>
              <a:buChar char="•"/>
            </a:pPr>
            <a:r>
              <a:rPr lang="en-GB" sz="2600" dirty="0" smtClean="0"/>
              <a:t> </a:t>
            </a:r>
            <a:r>
              <a:rPr lang="en-GB" sz="2600" dirty="0" err="1" smtClean="0"/>
              <a:t>EPrints</a:t>
            </a:r>
            <a:r>
              <a:rPr lang="en-GB" sz="2600" dirty="0" smtClean="0"/>
              <a:t> Storage Controller works!</a:t>
            </a:r>
          </a:p>
          <a:p>
            <a:pPr lvl="1">
              <a:buFont typeface="Arial"/>
              <a:buChar char="•"/>
            </a:pPr>
            <a:r>
              <a:rPr lang="en-GB" sz="2100" dirty="0" smtClean="0"/>
              <a:t> Local Storage </a:t>
            </a:r>
            <a:r>
              <a:rPr lang="en-GB" sz="2100" dirty="0" err="1" smtClean="0"/>
              <a:t>Plugin</a:t>
            </a:r>
            <a:r>
              <a:rPr lang="en-GB" sz="2100" dirty="0" smtClean="0"/>
              <a:t> (legacy)</a:t>
            </a:r>
          </a:p>
          <a:p>
            <a:pPr lvl="1">
              <a:buFont typeface="Arial"/>
              <a:buChar char="•"/>
            </a:pPr>
            <a:r>
              <a:rPr lang="en-GB" sz="2100" dirty="0" smtClean="0"/>
              <a:t> Honeycomb Storage </a:t>
            </a:r>
            <a:r>
              <a:rPr lang="en-GB" sz="2100" dirty="0" err="1" smtClean="0"/>
              <a:t>Plugin</a:t>
            </a:r>
            <a:r>
              <a:rPr lang="en-GB" sz="2100" dirty="0" smtClean="0"/>
              <a:t> </a:t>
            </a:r>
          </a:p>
          <a:p>
            <a:pPr lvl="1">
              <a:buFont typeface="Arial"/>
              <a:buChar char="•"/>
            </a:pPr>
            <a:r>
              <a:rPr lang="en-GB" sz="2100" dirty="0" smtClean="0"/>
              <a:t> Amazon </a:t>
            </a:r>
            <a:r>
              <a:rPr lang="en-GB" sz="2100" dirty="0" err="1" smtClean="0"/>
              <a:t>Cloudfront</a:t>
            </a:r>
            <a:r>
              <a:rPr lang="en-GB" sz="2100" dirty="0" smtClean="0"/>
              <a:t> (coming soon)</a:t>
            </a:r>
          </a:p>
          <a:p>
            <a:pPr lvl="1">
              <a:buFont typeface="Arial"/>
              <a:buChar char="•"/>
            </a:pPr>
            <a:endParaRPr lang="en-GB" sz="2100" dirty="0" smtClean="0"/>
          </a:p>
          <a:p>
            <a:pPr>
              <a:buFont typeface="Arial"/>
              <a:buChar char="•"/>
            </a:pPr>
            <a:r>
              <a:rPr lang="en-GB" sz="2100" dirty="0" smtClean="0"/>
              <a:t> Honeycomb Stats</a:t>
            </a:r>
          </a:p>
          <a:p>
            <a:r>
              <a:rPr lang="en-GB" sz="2100" dirty="0" smtClean="0"/>
              <a:t>   - 4MB/s ingest*</a:t>
            </a:r>
          </a:p>
          <a:p>
            <a:r>
              <a:rPr lang="en-GB" sz="2100" dirty="0" smtClean="0"/>
              <a:t>   - 200MB/s retrieve </a:t>
            </a:r>
          </a:p>
          <a:p>
            <a:r>
              <a:rPr lang="en-GB" sz="2100" dirty="0" smtClean="0"/>
              <a:t>*USB2.0 max speed</a:t>
            </a:r>
            <a:endParaRPr lang="en-GB" sz="2600" dirty="0" smtClean="0"/>
          </a:p>
          <a:p>
            <a:pPr lvl="1"/>
            <a:endParaRPr lang="en-GB" sz="26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extBox 4"/>
          <p:cNvSpPr txBox="1"/>
          <p:nvPr/>
        </p:nvSpPr>
        <p:spPr>
          <a:xfrm>
            <a:off x="1600200" y="76200"/>
            <a:ext cx="6172200" cy="738664"/>
          </a:xfrm>
          <a:prstGeom prst="rect">
            <a:avLst/>
          </a:prstGeom>
          <a:noFill/>
        </p:spPr>
        <p:txBody>
          <a:bodyPr wrap="square" rtlCol="0">
            <a:spAutoFit/>
          </a:bodyPr>
          <a:lstStyle/>
          <a:p>
            <a:r>
              <a:rPr lang="en-GB" sz="4200" b="1" dirty="0" smtClean="0">
                <a:solidFill>
                  <a:schemeClr val="bg1"/>
                </a:solidFill>
                <a:latin typeface="+mj-lt"/>
                <a:cs typeface="Apple Symbols"/>
              </a:rPr>
              <a:t>The Preservation Process</a:t>
            </a:r>
            <a:endParaRPr lang="en-GB" sz="4200" b="1" dirty="0">
              <a:solidFill>
                <a:schemeClr val="bg1"/>
              </a:solidFill>
              <a:latin typeface="+mj-lt"/>
              <a:cs typeface="Apple Symbols"/>
            </a:endParaRPr>
          </a:p>
        </p:txBody>
      </p:sp>
      <p:sp>
        <p:nvSpPr>
          <p:cNvPr id="4" name="Rounded Rectangle 3"/>
          <p:cNvSpPr/>
          <p:nvPr/>
        </p:nvSpPr>
        <p:spPr>
          <a:xfrm>
            <a:off x="228600" y="15240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Preservation - Check</a:t>
            </a:r>
            <a:endParaRPr lang="en-GB" dirty="0">
              <a:solidFill>
                <a:srgbClr val="000000"/>
              </a:solidFill>
            </a:endParaRPr>
          </a:p>
        </p:txBody>
      </p:sp>
      <p:sp>
        <p:nvSpPr>
          <p:cNvPr id="6" name="Rounded Rectangle 5"/>
          <p:cNvSpPr/>
          <p:nvPr/>
        </p:nvSpPr>
        <p:spPr>
          <a:xfrm>
            <a:off x="228600" y="31242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Preservation - Analyse</a:t>
            </a:r>
            <a:endParaRPr lang="en-GB" dirty="0">
              <a:solidFill>
                <a:srgbClr val="000000"/>
              </a:solidFill>
            </a:endParaRPr>
          </a:p>
        </p:txBody>
      </p:sp>
      <p:sp>
        <p:nvSpPr>
          <p:cNvPr id="7" name="Rounded Rectangle 6"/>
          <p:cNvSpPr/>
          <p:nvPr/>
        </p:nvSpPr>
        <p:spPr>
          <a:xfrm>
            <a:off x="228600" y="47244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Preservation - Action</a:t>
            </a:r>
            <a:endParaRPr lang="en-GB" dirty="0">
              <a:solidFill>
                <a:srgbClr val="000000"/>
              </a:solidFill>
            </a:endParaRPr>
          </a:p>
        </p:txBody>
      </p:sp>
      <p:sp>
        <p:nvSpPr>
          <p:cNvPr id="8" name="TextBox 7"/>
          <p:cNvSpPr txBox="1"/>
          <p:nvPr/>
        </p:nvSpPr>
        <p:spPr>
          <a:xfrm>
            <a:off x="685800" y="1981200"/>
            <a:ext cx="4057521" cy="646331"/>
          </a:xfrm>
          <a:prstGeom prst="rect">
            <a:avLst/>
          </a:prstGeom>
          <a:noFill/>
        </p:spPr>
        <p:txBody>
          <a:bodyPr wrap="square" rtlCol="0">
            <a:spAutoFit/>
          </a:bodyPr>
          <a:lstStyle/>
          <a:p>
            <a:pPr>
              <a:buFont typeface="Arial"/>
              <a:buChar char="•"/>
            </a:pPr>
            <a:r>
              <a:rPr lang="en-GB" dirty="0" smtClean="0"/>
              <a:t> Bit checking &amp; checksum calculation</a:t>
            </a:r>
          </a:p>
          <a:p>
            <a:endParaRPr lang="en-GB" dirty="0"/>
          </a:p>
        </p:txBody>
      </p:sp>
      <p:sp>
        <p:nvSpPr>
          <p:cNvPr id="9" name="TextBox 8"/>
          <p:cNvSpPr txBox="1"/>
          <p:nvPr/>
        </p:nvSpPr>
        <p:spPr>
          <a:xfrm>
            <a:off x="685800" y="3581400"/>
            <a:ext cx="6248400" cy="923330"/>
          </a:xfrm>
          <a:prstGeom prst="rect">
            <a:avLst/>
          </a:prstGeom>
          <a:noFill/>
        </p:spPr>
        <p:txBody>
          <a:bodyPr wrap="square" rtlCol="0">
            <a:spAutoFit/>
          </a:bodyPr>
          <a:lstStyle/>
          <a:p>
            <a:pPr>
              <a:buFont typeface="Arial"/>
              <a:buChar char="•"/>
            </a:pPr>
            <a:r>
              <a:rPr lang="en-GB" dirty="0" smtClean="0"/>
              <a:t> What is the type of file, is the file valid?</a:t>
            </a:r>
          </a:p>
          <a:p>
            <a:pPr>
              <a:buFont typeface="Arial"/>
              <a:buChar char="•"/>
            </a:pPr>
            <a:r>
              <a:rPr lang="en-GB" dirty="0" smtClean="0"/>
              <a:t> Is the file at risk of not having an editor/reader?</a:t>
            </a:r>
          </a:p>
          <a:p>
            <a:pPr>
              <a:buFont typeface="Arial"/>
              <a:buChar char="•"/>
            </a:pPr>
            <a:r>
              <a:rPr lang="en-GB" dirty="0" smtClean="0"/>
              <a:t> Is there a better format available? Lossless or </a:t>
            </a:r>
            <a:r>
              <a:rPr lang="en-GB" dirty="0" err="1" smtClean="0"/>
              <a:t>Lossy</a:t>
            </a:r>
            <a:r>
              <a:rPr lang="en-GB" dirty="0" smtClean="0"/>
              <a:t>?</a:t>
            </a:r>
            <a:endParaRPr lang="en-GB" dirty="0"/>
          </a:p>
        </p:txBody>
      </p:sp>
      <p:sp>
        <p:nvSpPr>
          <p:cNvPr id="11" name="TextBox 10"/>
          <p:cNvSpPr txBox="1"/>
          <p:nvPr/>
        </p:nvSpPr>
        <p:spPr>
          <a:xfrm>
            <a:off x="685800" y="5181600"/>
            <a:ext cx="6248400" cy="646331"/>
          </a:xfrm>
          <a:prstGeom prst="rect">
            <a:avLst/>
          </a:prstGeom>
          <a:noFill/>
        </p:spPr>
        <p:txBody>
          <a:bodyPr wrap="square" rtlCol="0">
            <a:spAutoFit/>
          </a:bodyPr>
          <a:lstStyle/>
          <a:p>
            <a:pPr>
              <a:buFont typeface="Arial"/>
              <a:buChar char="•"/>
            </a:pPr>
            <a:r>
              <a:rPr lang="en-GB" dirty="0" smtClean="0"/>
              <a:t> File migration to avert risks found by analysis.</a:t>
            </a:r>
          </a:p>
          <a:p>
            <a:pPr>
              <a:buFont typeface="Arial"/>
              <a:buChar char="•"/>
            </a:pPr>
            <a:r>
              <a:rPr lang="en-GB" dirty="0" smtClean="0"/>
              <a:t> Movement of file to new storage.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extBox 4"/>
          <p:cNvSpPr txBox="1"/>
          <p:nvPr/>
        </p:nvSpPr>
        <p:spPr>
          <a:xfrm>
            <a:off x="1676400" y="76200"/>
            <a:ext cx="6172200" cy="738664"/>
          </a:xfrm>
          <a:prstGeom prst="rect">
            <a:avLst/>
          </a:prstGeom>
          <a:noFill/>
        </p:spPr>
        <p:txBody>
          <a:bodyPr wrap="square" rtlCol="0">
            <a:spAutoFit/>
          </a:bodyPr>
          <a:lstStyle/>
          <a:p>
            <a:r>
              <a:rPr lang="en-GB" sz="4200" b="1" dirty="0" smtClean="0">
                <a:solidFill>
                  <a:schemeClr val="bg1"/>
                </a:solidFill>
                <a:latin typeface="+mj-lt"/>
                <a:cs typeface="Apple Symbols"/>
              </a:rPr>
              <a:t>Preservation - Analysis</a:t>
            </a:r>
            <a:endParaRPr lang="en-GB" sz="4200" b="1" dirty="0">
              <a:solidFill>
                <a:schemeClr val="bg1"/>
              </a:solidFill>
              <a:latin typeface="+mj-lt"/>
              <a:cs typeface="Apple Symbols"/>
            </a:endParaRPr>
          </a:p>
        </p:txBody>
      </p:sp>
      <p:sp>
        <p:nvSpPr>
          <p:cNvPr id="6" name="Rounded Rectangle 5"/>
          <p:cNvSpPr/>
          <p:nvPr/>
        </p:nvSpPr>
        <p:spPr>
          <a:xfrm>
            <a:off x="533400" y="12954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Preservation - Analyse</a:t>
            </a:r>
            <a:endParaRPr lang="en-GB" dirty="0">
              <a:solidFill>
                <a:srgbClr val="000000"/>
              </a:solidFill>
            </a:endParaRPr>
          </a:p>
        </p:txBody>
      </p:sp>
      <p:sp>
        <p:nvSpPr>
          <p:cNvPr id="9" name="TextBox 8"/>
          <p:cNvSpPr txBox="1"/>
          <p:nvPr/>
        </p:nvSpPr>
        <p:spPr>
          <a:xfrm>
            <a:off x="457200" y="1905000"/>
            <a:ext cx="8001000" cy="3693318"/>
          </a:xfrm>
          <a:prstGeom prst="rect">
            <a:avLst/>
          </a:prstGeom>
          <a:noFill/>
        </p:spPr>
        <p:txBody>
          <a:bodyPr wrap="square" rtlCol="0">
            <a:spAutoFit/>
          </a:bodyPr>
          <a:lstStyle/>
          <a:p>
            <a:pPr>
              <a:buFont typeface="Arial"/>
              <a:buChar char="•"/>
            </a:pPr>
            <a:r>
              <a:rPr lang="en-GB" sz="2600" dirty="0" smtClean="0"/>
              <a:t> What is the type of file, is the file valid?</a:t>
            </a:r>
          </a:p>
          <a:p>
            <a:pPr lvl="1">
              <a:buFont typeface="Arial"/>
              <a:buChar char="•"/>
            </a:pPr>
            <a:r>
              <a:rPr lang="en-GB" sz="2600" dirty="0" smtClean="0"/>
              <a:t> Droid is a good classification tool for this. </a:t>
            </a:r>
          </a:p>
          <a:p>
            <a:endParaRPr lang="en-GB" sz="2600" dirty="0" smtClean="0"/>
          </a:p>
          <a:p>
            <a:pPr>
              <a:buFont typeface="Arial"/>
              <a:buChar char="•"/>
            </a:pPr>
            <a:r>
              <a:rPr lang="en-GB" sz="2600" dirty="0" smtClean="0"/>
              <a:t> Is the file at risk of not having an editor/reader?</a:t>
            </a:r>
          </a:p>
          <a:p>
            <a:pPr lvl="1">
              <a:buFont typeface="Arial"/>
              <a:buChar char="•"/>
            </a:pPr>
            <a:r>
              <a:rPr lang="en-GB" sz="2600" dirty="0" smtClean="0"/>
              <a:t> Functionality is being developed in PRONOM technical registry.</a:t>
            </a:r>
          </a:p>
          <a:p>
            <a:endParaRPr lang="en-GB" sz="2600" dirty="0" smtClean="0"/>
          </a:p>
          <a:p>
            <a:pPr>
              <a:buFont typeface="Arial"/>
              <a:buChar char="•"/>
            </a:pPr>
            <a:r>
              <a:rPr lang="en-GB" sz="2600" dirty="0" smtClean="0"/>
              <a:t> Is there a better format available? Lossless or </a:t>
            </a:r>
            <a:r>
              <a:rPr lang="en-GB" sz="2600" dirty="0" err="1" smtClean="0"/>
              <a:t>Lossy</a:t>
            </a:r>
            <a:r>
              <a:rPr lang="en-GB" sz="2600" dirty="0" smtClean="0"/>
              <a:t>?</a:t>
            </a:r>
          </a:p>
          <a:p>
            <a:pPr lvl="1">
              <a:buFont typeface="Arial"/>
              <a:buChar char="•"/>
            </a:pPr>
            <a:r>
              <a:rPr lang="en-GB" sz="2600" dirty="0" smtClean="0"/>
              <a:t> Planets registry of tools.</a:t>
            </a:r>
            <a:endParaRPr lang="en-GB" sz="2600" dirty="0"/>
          </a:p>
        </p:txBody>
      </p:sp>
      <p:pic>
        <p:nvPicPr>
          <p:cNvPr id="10" name="Picture 9"/>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7391400" y="1828800"/>
            <a:ext cx="1498600" cy="927100"/>
          </a:xfrm>
          <a:prstGeom prst="rect">
            <a:avLst/>
          </a:prstGeom>
        </p:spPr>
      </p:pic>
      <p:pic>
        <p:nvPicPr>
          <p:cNvPr id="12" name="Picture 11"/>
          <p:cNvPicPr>
            <a:picLocks noChangeAspect="1"/>
          </p:cNvPicPr>
          <p:nvPr/>
        </p:nvPicPr>
        <mc:AlternateContent>
          <mc:Choice xmlns:ma="http://schemas.microsoft.com/office/mac/drawingml/2008/main" Requires="ma">
            <p:blipFill>
              <a:blip r:embed="rId5"/>
              <a:stretch>
                <a:fillRect/>
              </a:stretch>
            </p:blipFill>
          </mc:Choice>
          <mc:Fallback>
            <p:blipFill>
              <a:blip r:embed="rId6"/>
              <a:stretch>
                <a:fillRect/>
              </a:stretch>
            </p:blipFill>
          </mc:Fallback>
        </mc:AlternateContent>
        <p:spPr>
          <a:xfrm>
            <a:off x="6286500" y="4076700"/>
            <a:ext cx="3162300" cy="571500"/>
          </a:xfrm>
          <a:prstGeom prst="rect">
            <a:avLst/>
          </a:prstGeom>
        </p:spPr>
      </p:pic>
      <p:pic>
        <p:nvPicPr>
          <p:cNvPr id="13" name="Picture 12"/>
          <p:cNvPicPr>
            <a:picLocks noChangeAspect="1"/>
          </p:cNvPicPr>
          <p:nvPr/>
        </p:nvPicPr>
        <mc:AlternateContent>
          <mc:Choice xmlns:ma="http://schemas.microsoft.com/office/mac/drawingml/2008/main" Requires="ma">
            <p:blipFill>
              <a:blip r:embed="rId7"/>
              <a:stretch>
                <a:fillRect/>
              </a:stretch>
            </p:blipFill>
          </mc:Choice>
          <mc:Fallback>
            <p:blipFill>
              <a:blip r:embed="rId8"/>
              <a:stretch>
                <a:fillRect/>
              </a:stretch>
            </p:blipFill>
          </mc:Fallback>
        </mc:AlternateContent>
        <p:spPr>
          <a:xfrm>
            <a:off x="6705600" y="5331254"/>
            <a:ext cx="2120900" cy="917146"/>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5" name="Rounded Rectangle 24"/>
          <p:cNvSpPr/>
          <p:nvPr/>
        </p:nvSpPr>
        <p:spPr>
          <a:xfrm>
            <a:off x="6934200" y="1066800"/>
            <a:ext cx="2362200" cy="1219200"/>
          </a:xfrm>
          <a:prstGeom prst="round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a:lstStyle/>
          <a:p>
            <a:pPr algn="ctr"/>
            <a:endParaRPr lang="en-GB" sz="1400" dirty="0">
              <a:solidFill>
                <a:srgbClr val="000000"/>
              </a:solidFill>
            </a:endParaRPr>
          </a:p>
        </p:txBody>
      </p:sp>
      <p:sp>
        <p:nvSpPr>
          <p:cNvPr id="5" name="TextBox 4"/>
          <p:cNvSpPr txBox="1"/>
          <p:nvPr/>
        </p:nvSpPr>
        <p:spPr>
          <a:xfrm>
            <a:off x="1676400" y="76200"/>
            <a:ext cx="6172200" cy="738664"/>
          </a:xfrm>
          <a:prstGeom prst="rect">
            <a:avLst/>
          </a:prstGeom>
          <a:noFill/>
        </p:spPr>
        <p:txBody>
          <a:bodyPr wrap="square" rtlCol="0">
            <a:spAutoFit/>
          </a:bodyPr>
          <a:lstStyle/>
          <a:p>
            <a:r>
              <a:rPr lang="en-GB" sz="4200" b="1" dirty="0" smtClean="0">
                <a:solidFill>
                  <a:schemeClr val="bg1"/>
                </a:solidFill>
                <a:latin typeface="+mj-lt"/>
                <a:cs typeface="Apple Symbols"/>
              </a:rPr>
              <a:t>Preservation - Analysis</a:t>
            </a:r>
            <a:endParaRPr lang="en-GB" sz="4200" b="1" dirty="0">
              <a:solidFill>
                <a:schemeClr val="bg1"/>
              </a:solidFill>
              <a:latin typeface="+mj-lt"/>
              <a:cs typeface="Apple Symbols"/>
            </a:endParaRPr>
          </a:p>
        </p:txBody>
      </p:sp>
      <p:sp>
        <p:nvSpPr>
          <p:cNvPr id="6" name="Rounded Rectangle 5"/>
          <p:cNvSpPr/>
          <p:nvPr/>
        </p:nvSpPr>
        <p:spPr>
          <a:xfrm>
            <a:off x="533400" y="12954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Preservation - Analyse</a:t>
            </a:r>
            <a:endParaRPr lang="en-GB" dirty="0">
              <a:solidFill>
                <a:srgbClr val="000000"/>
              </a:solidFill>
            </a:endParaRPr>
          </a:p>
        </p:txBody>
      </p:sp>
      <p:sp>
        <p:nvSpPr>
          <p:cNvPr id="9" name="TextBox 8"/>
          <p:cNvSpPr txBox="1"/>
          <p:nvPr/>
        </p:nvSpPr>
        <p:spPr>
          <a:xfrm>
            <a:off x="457200" y="1752600"/>
            <a:ext cx="8001000" cy="892552"/>
          </a:xfrm>
          <a:prstGeom prst="rect">
            <a:avLst/>
          </a:prstGeom>
          <a:noFill/>
        </p:spPr>
        <p:txBody>
          <a:bodyPr wrap="square" rtlCol="0">
            <a:spAutoFit/>
          </a:bodyPr>
          <a:lstStyle/>
          <a:p>
            <a:pPr>
              <a:buFont typeface="Arial"/>
              <a:buChar char="•"/>
            </a:pPr>
            <a:r>
              <a:rPr lang="en-GB" sz="2600" dirty="0" smtClean="0"/>
              <a:t> What is the type of file, is the file valid?</a:t>
            </a:r>
          </a:p>
          <a:p>
            <a:pPr lvl="1">
              <a:buFont typeface="Arial"/>
              <a:buChar char="•"/>
            </a:pPr>
            <a:r>
              <a:rPr lang="en-GB" sz="2600" dirty="0" smtClean="0"/>
              <a:t> Droid is a good classification tool for this. </a:t>
            </a:r>
          </a:p>
          <a:p>
            <a:endParaRPr lang="en-GB" sz="2600" dirty="0" smtClean="0"/>
          </a:p>
        </p:txBody>
      </p:sp>
      <p:sp>
        <p:nvSpPr>
          <p:cNvPr id="11" name="Cloud 10"/>
          <p:cNvSpPr/>
          <p:nvPr/>
        </p:nvSpPr>
        <p:spPr>
          <a:xfrm>
            <a:off x="228600" y="3276600"/>
            <a:ext cx="2895600" cy="2286000"/>
          </a:xfrm>
          <a:prstGeom prst="cloud">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Rounded Rectangle 13"/>
          <p:cNvSpPr/>
          <p:nvPr/>
        </p:nvSpPr>
        <p:spPr>
          <a:xfrm>
            <a:off x="1524000" y="35052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OAI-PMH</a:t>
            </a:r>
            <a:endParaRPr lang="en-GB" sz="1400" dirty="0">
              <a:solidFill>
                <a:srgbClr val="000000"/>
              </a:solidFill>
            </a:endParaRPr>
          </a:p>
        </p:txBody>
      </p:sp>
      <p:sp>
        <p:nvSpPr>
          <p:cNvPr id="15" name="Rounded Rectangle 14"/>
          <p:cNvSpPr/>
          <p:nvPr/>
        </p:nvSpPr>
        <p:spPr>
          <a:xfrm>
            <a:off x="4094480" y="3124200"/>
            <a:ext cx="1485900" cy="647700"/>
          </a:xfrm>
          <a:prstGeom prst="roundRect">
            <a:avLst/>
          </a:prstGeom>
          <a:solidFill>
            <a:srgbClr val="0000FF">
              <a:alpha val="49000"/>
            </a:srgb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OAI-PMH Translator</a:t>
            </a:r>
            <a:endParaRPr lang="en-GB" sz="1400" dirty="0">
              <a:solidFill>
                <a:srgbClr val="000000"/>
              </a:solidFill>
            </a:endParaRPr>
          </a:p>
        </p:txBody>
      </p:sp>
      <p:cxnSp>
        <p:nvCxnSpPr>
          <p:cNvPr id="16" name="Straight Connector 15"/>
          <p:cNvCxnSpPr/>
          <p:nvPr/>
        </p:nvCxnSpPr>
        <p:spPr>
          <a:xfrm flipV="1">
            <a:off x="3657600" y="3429000"/>
            <a:ext cx="398780" cy="228600"/>
          </a:xfrm>
          <a:prstGeom prst="line">
            <a:avLst/>
          </a:prstGeom>
          <a:ln w="6032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010400" y="1371600"/>
            <a:ext cx="2133600" cy="381000"/>
          </a:xfrm>
          <a:prstGeom prst="roundRect">
            <a:avLst/>
          </a:prstGeom>
          <a:solidFill>
            <a:srgbClr val="0000FF">
              <a:alpha val="49000"/>
            </a:srgb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Pipe / Workflow</a:t>
            </a:r>
            <a:endParaRPr lang="en-GB" sz="1400" dirty="0">
              <a:solidFill>
                <a:srgbClr val="000000"/>
              </a:solidFill>
            </a:endParaRPr>
          </a:p>
        </p:txBody>
      </p:sp>
      <p:sp>
        <p:nvSpPr>
          <p:cNvPr id="23" name="Rounded Rectangle 22"/>
          <p:cNvSpPr/>
          <p:nvPr/>
        </p:nvSpPr>
        <p:spPr>
          <a:xfrm>
            <a:off x="7010400" y="18288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500" dirty="0" smtClean="0">
                <a:solidFill>
                  <a:srgbClr val="000000"/>
                </a:solidFill>
              </a:rPr>
              <a:t>Service</a:t>
            </a:r>
            <a:endParaRPr lang="en-GB" sz="1500" dirty="0">
              <a:solidFill>
                <a:srgbClr val="000000"/>
              </a:solidFill>
            </a:endParaRPr>
          </a:p>
        </p:txBody>
      </p:sp>
      <p:sp>
        <p:nvSpPr>
          <p:cNvPr id="24" name="TextBox 23"/>
          <p:cNvSpPr txBox="1"/>
          <p:nvPr/>
        </p:nvSpPr>
        <p:spPr>
          <a:xfrm>
            <a:off x="7848600" y="990600"/>
            <a:ext cx="577690" cy="369332"/>
          </a:xfrm>
          <a:prstGeom prst="rect">
            <a:avLst/>
          </a:prstGeom>
          <a:noFill/>
        </p:spPr>
        <p:txBody>
          <a:bodyPr wrap="none" rtlCol="0">
            <a:spAutoFit/>
          </a:bodyPr>
          <a:lstStyle/>
          <a:p>
            <a:r>
              <a:rPr lang="en-GB" dirty="0" smtClean="0"/>
              <a:t>Key</a:t>
            </a:r>
            <a:endParaRPr lang="en-GB" dirty="0"/>
          </a:p>
        </p:txBody>
      </p:sp>
      <p:cxnSp>
        <p:nvCxnSpPr>
          <p:cNvPr id="36" name="Elbow Connector 35"/>
          <p:cNvCxnSpPr/>
          <p:nvPr/>
        </p:nvCxnSpPr>
        <p:spPr>
          <a:xfrm>
            <a:off x="6629400" y="3810000"/>
            <a:ext cx="685800" cy="685800"/>
          </a:xfrm>
          <a:prstGeom prst="bentConnector3">
            <a:avLst/>
          </a:prstGeom>
          <a:ln w="5397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580380" y="2971800"/>
            <a:ext cx="1600200" cy="914400"/>
          </a:xfrm>
          <a:prstGeom prst="roundRect">
            <a:avLst/>
          </a:prstGeom>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DROID</a:t>
            </a:r>
            <a:endParaRPr lang="en-GB" dirty="0">
              <a:solidFill>
                <a:srgbClr val="000000"/>
              </a:solidFill>
            </a:endParaRPr>
          </a:p>
        </p:txBody>
      </p:sp>
      <p:sp>
        <p:nvSpPr>
          <p:cNvPr id="39" name="Document 38"/>
          <p:cNvSpPr/>
          <p:nvPr/>
        </p:nvSpPr>
        <p:spPr>
          <a:xfrm>
            <a:off x="7360920" y="4211320"/>
            <a:ext cx="1554480" cy="970280"/>
          </a:xfrm>
          <a:prstGeom prst="flowChartDocument">
            <a:avLst/>
          </a:prstGeom>
          <a:noFill/>
          <a:ln w="254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algn="ctr"/>
            <a:r>
              <a:rPr lang="en-GB" dirty="0" smtClean="0">
                <a:solidFill>
                  <a:srgbClr val="000000"/>
                </a:solidFill>
              </a:rPr>
              <a:t>Classification</a:t>
            </a:r>
          </a:p>
          <a:p>
            <a:pPr algn="ctr"/>
            <a:r>
              <a:rPr lang="en-GB" dirty="0" smtClean="0">
                <a:solidFill>
                  <a:srgbClr val="000000"/>
                </a:solidFill>
              </a:rPr>
              <a:t>File</a:t>
            </a:r>
            <a:endParaRPr lang="en-GB" dirty="0">
              <a:solidFill>
                <a:srgbClr val="000000"/>
              </a:solidFill>
            </a:endParaRPr>
          </a:p>
        </p:txBody>
      </p:sp>
      <p:cxnSp>
        <p:nvCxnSpPr>
          <p:cNvPr id="41" name="Straight Connector 40"/>
          <p:cNvCxnSpPr/>
          <p:nvPr/>
        </p:nvCxnSpPr>
        <p:spPr>
          <a:xfrm rot="5400000">
            <a:off x="7657703" y="5600303"/>
            <a:ext cx="990600" cy="795"/>
          </a:xfrm>
          <a:prstGeom prst="line">
            <a:avLst/>
          </a:prstGeom>
          <a:ln w="6032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5334000" y="5791200"/>
            <a:ext cx="1600200" cy="914400"/>
          </a:xfrm>
          <a:prstGeom prst="roundRect">
            <a:avLst/>
          </a:prstGeom>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Web Server</a:t>
            </a:r>
            <a:endParaRPr lang="en-GB" dirty="0">
              <a:solidFill>
                <a:srgbClr val="000000"/>
              </a:solidFill>
            </a:endParaRPr>
          </a:p>
        </p:txBody>
      </p:sp>
      <p:cxnSp>
        <p:nvCxnSpPr>
          <p:cNvPr id="45" name="Straight Connector 44"/>
          <p:cNvCxnSpPr/>
          <p:nvPr/>
        </p:nvCxnSpPr>
        <p:spPr>
          <a:xfrm rot="10800000">
            <a:off x="6933406" y="6248400"/>
            <a:ext cx="457994" cy="1588"/>
          </a:xfrm>
          <a:prstGeom prst="line">
            <a:avLst/>
          </a:prstGeom>
          <a:ln w="6032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353300" y="6096000"/>
            <a:ext cx="1485900" cy="381000"/>
          </a:xfrm>
          <a:prstGeom prst="roundRect">
            <a:avLst/>
          </a:prstGeom>
          <a:solidFill>
            <a:srgbClr val="0000FF">
              <a:alpha val="49000"/>
            </a:srgb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Web Pipe</a:t>
            </a:r>
            <a:endParaRPr lang="en-GB" sz="1400" dirty="0">
              <a:solidFill>
                <a:srgbClr val="000000"/>
              </a:solidFill>
            </a:endParaRPr>
          </a:p>
        </p:txBody>
      </p:sp>
      <p:cxnSp>
        <p:nvCxnSpPr>
          <p:cNvPr id="57" name="Straight Connector 56"/>
          <p:cNvCxnSpPr/>
          <p:nvPr/>
        </p:nvCxnSpPr>
        <p:spPr>
          <a:xfrm>
            <a:off x="1219200" y="6248400"/>
            <a:ext cx="4107180" cy="1588"/>
          </a:xfrm>
          <a:prstGeom prst="line">
            <a:avLst/>
          </a:prstGeom>
          <a:ln w="60325" cap="flat" cmpd="sng" algn="ctr">
            <a:solidFill>
              <a:srgbClr val="000000"/>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457200" y="5105400"/>
            <a:ext cx="1752600" cy="6096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Droid Classification Ingest</a:t>
            </a:r>
            <a:endParaRPr lang="en-GB" sz="1400" dirty="0">
              <a:solidFill>
                <a:srgbClr val="000000"/>
              </a:solidFill>
            </a:endParaRPr>
          </a:p>
        </p:txBody>
      </p:sp>
      <p:cxnSp>
        <p:nvCxnSpPr>
          <p:cNvPr id="66" name="Straight Connector 65"/>
          <p:cNvCxnSpPr/>
          <p:nvPr/>
        </p:nvCxnSpPr>
        <p:spPr>
          <a:xfrm rot="5400000" flipH="1" flipV="1">
            <a:off x="952103" y="5982097"/>
            <a:ext cx="534194" cy="1588"/>
          </a:xfrm>
          <a:prstGeom prst="line">
            <a:avLst/>
          </a:prstGeom>
          <a:ln w="6032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4953000" y="4572000"/>
            <a:ext cx="1485900" cy="381000"/>
          </a:xfrm>
          <a:prstGeom prst="roundRect">
            <a:avLst/>
          </a:prstGeom>
          <a:solidFill>
            <a:srgbClr val="0000FF">
              <a:alpha val="49000"/>
            </a:srgb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Scheduler</a:t>
            </a:r>
            <a:endParaRPr lang="en-GB" sz="1400" dirty="0">
              <a:solidFill>
                <a:srgbClr val="000000"/>
              </a:solidFill>
            </a:endParaRPr>
          </a:p>
        </p:txBody>
      </p:sp>
      <p:cxnSp>
        <p:nvCxnSpPr>
          <p:cNvPr id="71" name="Straight Connector 70"/>
          <p:cNvCxnSpPr/>
          <p:nvPr/>
        </p:nvCxnSpPr>
        <p:spPr>
          <a:xfrm rot="5400000" flipH="1" flipV="1">
            <a:off x="5419090" y="4182110"/>
            <a:ext cx="685800" cy="93980"/>
          </a:xfrm>
          <a:prstGeom prst="line">
            <a:avLst/>
          </a:prstGeom>
          <a:ln w="60325" cap="flat" cmpd="sng" algn="ctr">
            <a:solidFill>
              <a:srgbClr val="000000"/>
            </a:solidFill>
            <a:prstDash val="solid"/>
            <a:round/>
            <a:headEnd type="triangle" w="lg" len="med"/>
            <a:tailEnd type="triangle" w="lg" len="med"/>
          </a:ln>
        </p:spPr>
        <p:style>
          <a:lnRef idx="2">
            <a:schemeClr val="accent1"/>
          </a:lnRef>
          <a:fillRef idx="0">
            <a:schemeClr val="accent1"/>
          </a:fillRef>
          <a:effectRef idx="1">
            <a:schemeClr val="accent1"/>
          </a:effectRef>
          <a:fontRef idx="minor">
            <a:schemeClr val="tx1"/>
          </a:fontRef>
        </p:style>
      </p:cxnSp>
      <p:sp>
        <p:nvSpPr>
          <p:cNvPr id="73" name="Rounded Rectangle 72"/>
          <p:cNvSpPr/>
          <p:nvPr/>
        </p:nvSpPr>
        <p:spPr>
          <a:xfrm>
            <a:off x="3352800" y="5334000"/>
            <a:ext cx="1600200" cy="762000"/>
          </a:xfrm>
          <a:prstGeom prst="roundRect">
            <a:avLst/>
          </a:prstGeom>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Calendar Server</a:t>
            </a:r>
            <a:endParaRPr lang="en-GB" dirty="0">
              <a:solidFill>
                <a:srgbClr val="000000"/>
              </a:solidFill>
            </a:endParaRPr>
          </a:p>
        </p:txBody>
      </p:sp>
      <p:cxnSp>
        <p:nvCxnSpPr>
          <p:cNvPr id="74" name="Straight Connector 73"/>
          <p:cNvCxnSpPr/>
          <p:nvPr/>
        </p:nvCxnSpPr>
        <p:spPr>
          <a:xfrm rot="5400000" flipH="1" flipV="1">
            <a:off x="4542790" y="4982210"/>
            <a:ext cx="381000" cy="322580"/>
          </a:xfrm>
          <a:prstGeom prst="line">
            <a:avLst/>
          </a:prstGeom>
          <a:ln w="60325" cap="flat" cmpd="sng" algn="ctr">
            <a:solidFill>
              <a:srgbClr val="000000"/>
            </a:solidFill>
            <a:prstDash val="solid"/>
            <a:round/>
            <a:headEnd type="triangle" w="lg" len="med"/>
            <a:tailEnd type="triangle" w="lg" len="med"/>
          </a:ln>
        </p:spPr>
        <p:style>
          <a:lnRef idx="2">
            <a:schemeClr val="accent1"/>
          </a:lnRef>
          <a:fillRef idx="0">
            <a:schemeClr val="accent1"/>
          </a:fillRef>
          <a:effectRef idx="1">
            <a:schemeClr val="accent1"/>
          </a:effectRef>
          <a:fontRef idx="minor">
            <a:schemeClr val="tx1"/>
          </a:fontRef>
        </p:style>
      </p:cxnSp>
      <p:sp>
        <p:nvSpPr>
          <p:cNvPr id="76" name="Quad Arrow Callout 75"/>
          <p:cNvSpPr/>
          <p:nvPr/>
        </p:nvSpPr>
        <p:spPr>
          <a:xfrm rot="2648906">
            <a:off x="1142286" y="3752703"/>
            <a:ext cx="1220681" cy="1257595"/>
          </a:xfrm>
          <a:prstGeom prst="quadArrowCallout">
            <a:avLst>
              <a:gd name="adj1" fmla="val 11692"/>
              <a:gd name="adj2" fmla="val 18515"/>
              <a:gd name="adj3" fmla="val 18515"/>
              <a:gd name="adj4" fmla="val 44913"/>
            </a:avLst>
          </a:prstGeom>
          <a:solidFill>
            <a:srgbClr val="0000FF">
              <a:alpha val="49000"/>
            </a:srgbClr>
          </a:solidFill>
          <a:ln w="34925"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endParaRPr lang="en-GB" dirty="0"/>
          </a:p>
        </p:txBody>
      </p:sp>
      <p:cxnSp>
        <p:nvCxnSpPr>
          <p:cNvPr id="78" name="Straight Connector 77"/>
          <p:cNvCxnSpPr/>
          <p:nvPr/>
        </p:nvCxnSpPr>
        <p:spPr>
          <a:xfrm>
            <a:off x="2057400" y="4343400"/>
            <a:ext cx="1371600" cy="990600"/>
          </a:xfrm>
          <a:prstGeom prst="line">
            <a:avLst/>
          </a:prstGeom>
          <a:ln w="60325" cap="flat" cmpd="sng" algn="ctr">
            <a:solidFill>
              <a:srgbClr val="000000"/>
            </a:solidFill>
            <a:prstDash val="solid"/>
            <a:round/>
            <a:headEnd type="triangle" w="lg" len="med"/>
            <a:tailEnd type="triangle" w="lg" len="med"/>
          </a:ln>
        </p:spPr>
        <p:style>
          <a:lnRef idx="2">
            <a:schemeClr val="accent1"/>
          </a:lnRef>
          <a:fillRef idx="0">
            <a:schemeClr val="accent1"/>
          </a:fillRef>
          <a:effectRef idx="1">
            <a:schemeClr val="accent1"/>
          </a:effectRef>
          <a:fontRef idx="minor">
            <a:schemeClr val="tx1"/>
          </a:fontRef>
        </p:style>
      </p:cxnSp>
      <p:pic>
        <p:nvPicPr>
          <p:cNvPr id="84" name="Picture 83"/>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3276600" y="4495800"/>
            <a:ext cx="609600" cy="609600"/>
          </a:xfrm>
          <a:prstGeom prst="rect">
            <a:avLst/>
          </a:prstGeom>
        </p:spPr>
      </p:pic>
      <p:pic>
        <p:nvPicPr>
          <p:cNvPr id="85" name="Picture 84"/>
          <p:cNvPicPr>
            <a:picLocks noChangeAspect="1"/>
          </p:cNvPicPr>
          <p:nvPr/>
        </p:nvPicPr>
        <mc:AlternateContent>
          <mc:Choice xmlns:ma="http://schemas.microsoft.com/office/mac/drawingml/2008/main" Requires="ma">
            <p:blipFill>
              <a:blip r:embed="rId5"/>
              <a:stretch>
                <a:fillRect/>
              </a:stretch>
            </p:blipFill>
          </mc:Choice>
          <mc:Fallback>
            <p:blipFill>
              <a:blip r:embed="rId6"/>
              <a:stretch>
                <a:fillRect/>
              </a:stretch>
            </p:blipFill>
          </mc:Fallback>
        </mc:AlternateContent>
        <p:spPr>
          <a:xfrm>
            <a:off x="4038600" y="4419600"/>
            <a:ext cx="609600" cy="609600"/>
          </a:xfrm>
          <a:prstGeom prst="rect">
            <a:avLst/>
          </a:prstGeom>
        </p:spPr>
      </p:pic>
      <p:cxnSp>
        <p:nvCxnSpPr>
          <p:cNvPr id="87" name="Straight Connector 86"/>
          <p:cNvCxnSpPr/>
          <p:nvPr/>
        </p:nvCxnSpPr>
        <p:spPr>
          <a:xfrm>
            <a:off x="1219200" y="6246812"/>
            <a:ext cx="4107180" cy="1588"/>
          </a:xfrm>
          <a:prstGeom prst="line">
            <a:avLst/>
          </a:prstGeom>
          <a:ln w="6032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rot="5400000">
            <a:off x="3771900" y="5143500"/>
            <a:ext cx="381000" cy="1588"/>
          </a:xfrm>
          <a:prstGeom prst="line">
            <a:avLst/>
          </a:prstGeom>
          <a:ln w="60325" cap="flat" cmpd="sng" algn="ctr">
            <a:solidFill>
              <a:srgbClr val="000000"/>
            </a:solidFill>
            <a:prstDash val="solid"/>
            <a:round/>
            <a:headEnd type="triangle" w="lg" len="med"/>
            <a:tailEnd type="triangle" w="lg" len="med"/>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animBg="1"/>
      <p:bldP spid="39" grpId="0" animBg="1"/>
      <p:bldP spid="47" grpId="0" animBg="1"/>
      <p:bldP spid="40" grpId="0" animBg="1"/>
      <p:bldP spid="64" grpId="0" animBg="1"/>
      <p:bldP spid="70" grpId="0" animBg="1"/>
      <p:bldP spid="73" grpId="0" animBg="1"/>
      <p:bldP spid="76" grpId="0" animBg="1"/>
    </p:bld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Rounded Rectangle 5"/>
          <p:cNvSpPr/>
          <p:nvPr/>
        </p:nvSpPr>
        <p:spPr>
          <a:xfrm>
            <a:off x="533400" y="12954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Preservation - Analyse</a:t>
            </a:r>
            <a:endParaRPr lang="en-GB" dirty="0">
              <a:solidFill>
                <a:srgbClr val="000000"/>
              </a:solidFill>
            </a:endParaRPr>
          </a:p>
        </p:txBody>
      </p:sp>
      <p:sp>
        <p:nvSpPr>
          <p:cNvPr id="34" name="TextBox 33"/>
          <p:cNvSpPr txBox="1"/>
          <p:nvPr/>
        </p:nvSpPr>
        <p:spPr>
          <a:xfrm>
            <a:off x="4724400" y="1371600"/>
            <a:ext cx="4419600" cy="646331"/>
          </a:xfrm>
          <a:prstGeom prst="rect">
            <a:avLst/>
          </a:prstGeom>
          <a:noFill/>
        </p:spPr>
        <p:txBody>
          <a:bodyPr wrap="square" rtlCol="0">
            <a:spAutoFit/>
          </a:bodyPr>
          <a:lstStyle/>
          <a:p>
            <a:pPr algn="r"/>
            <a:r>
              <a:rPr lang="en-GB" dirty="0" smtClean="0"/>
              <a:t>PRONOM-ROAR (</a:t>
            </a:r>
            <a:r>
              <a:rPr lang="en-GB" dirty="0" err="1" smtClean="0"/>
              <a:t>Preserv</a:t>
            </a:r>
            <a:r>
              <a:rPr lang="en-GB" dirty="0" smtClean="0"/>
              <a:t> 1)</a:t>
            </a:r>
          </a:p>
          <a:p>
            <a:pPr algn="r"/>
            <a:r>
              <a:rPr lang="en-GB" dirty="0" smtClean="0"/>
              <a:t>http://</a:t>
            </a:r>
            <a:r>
              <a:rPr lang="en-GB" dirty="0" err="1" smtClean="0"/>
              <a:t>roar.eprints.org</a:t>
            </a:r>
            <a:endParaRPr lang="en-GB" dirty="0" smtClean="0"/>
          </a:p>
        </p:txBody>
      </p:sp>
      <p:pic>
        <p:nvPicPr>
          <p:cNvPr id="35" name="Picture 34"/>
          <p:cNvPicPr>
            <a:picLocks noChangeAspect="1"/>
          </p:cNvPicPr>
          <p:nvPr/>
        </p:nvPicPr>
        <p:blipFill>
          <a:blip r:embed="rId3"/>
          <a:stretch>
            <a:fillRect/>
          </a:stretch>
        </p:blipFill>
        <p:spPr>
          <a:xfrm>
            <a:off x="152400" y="1984730"/>
            <a:ext cx="8851900" cy="834670"/>
          </a:xfrm>
          <a:prstGeom prst="rect">
            <a:avLst/>
          </a:prstGeom>
        </p:spPr>
      </p:pic>
      <p:pic>
        <p:nvPicPr>
          <p:cNvPr id="37" name="Picture 36"/>
          <p:cNvPicPr>
            <a:picLocks noChangeAspect="1"/>
          </p:cNvPicPr>
          <p:nvPr/>
        </p:nvPicPr>
        <p:blipFill>
          <a:blip r:embed="rId4"/>
          <a:stretch>
            <a:fillRect/>
          </a:stretch>
        </p:blipFill>
        <p:spPr>
          <a:xfrm>
            <a:off x="304800" y="2819400"/>
            <a:ext cx="8534400" cy="5472439"/>
          </a:xfrm>
          <a:prstGeom prst="rect">
            <a:avLst/>
          </a:prstGeom>
        </p:spPr>
      </p:pic>
      <p:sp>
        <p:nvSpPr>
          <p:cNvPr id="38" name="TextBox 37"/>
          <p:cNvSpPr txBox="1"/>
          <p:nvPr/>
        </p:nvSpPr>
        <p:spPr>
          <a:xfrm>
            <a:off x="1676400" y="76200"/>
            <a:ext cx="6172200" cy="738664"/>
          </a:xfrm>
          <a:prstGeom prst="rect">
            <a:avLst/>
          </a:prstGeom>
          <a:noFill/>
        </p:spPr>
        <p:txBody>
          <a:bodyPr wrap="square" rtlCol="0">
            <a:spAutoFit/>
          </a:bodyPr>
          <a:lstStyle/>
          <a:p>
            <a:r>
              <a:rPr lang="en-GB" sz="4200" b="1" dirty="0" smtClean="0">
                <a:solidFill>
                  <a:schemeClr val="bg1"/>
                </a:solidFill>
                <a:latin typeface="+mj-lt"/>
                <a:cs typeface="Apple Symbols"/>
              </a:rPr>
              <a:t>Preservation - Analysis</a:t>
            </a:r>
            <a:endParaRPr lang="en-GB" sz="4200" b="1" dirty="0">
              <a:solidFill>
                <a:schemeClr val="bg1"/>
              </a:solidFill>
              <a:latin typeface="+mj-lt"/>
              <a:cs typeface="Apple Symbols"/>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Rounded Rectangle 5"/>
          <p:cNvSpPr/>
          <p:nvPr/>
        </p:nvSpPr>
        <p:spPr>
          <a:xfrm>
            <a:off x="533400" y="12954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Preservation - Analyse</a:t>
            </a:r>
            <a:endParaRPr lang="en-GB" dirty="0">
              <a:solidFill>
                <a:srgbClr val="000000"/>
              </a:solidFill>
            </a:endParaRPr>
          </a:p>
        </p:txBody>
      </p:sp>
      <p:sp>
        <p:nvSpPr>
          <p:cNvPr id="33" name="TextBox 32"/>
          <p:cNvSpPr txBox="1"/>
          <p:nvPr/>
        </p:nvSpPr>
        <p:spPr>
          <a:xfrm>
            <a:off x="5181600" y="1371600"/>
            <a:ext cx="3962400" cy="492443"/>
          </a:xfrm>
          <a:prstGeom prst="rect">
            <a:avLst/>
          </a:prstGeom>
          <a:noFill/>
        </p:spPr>
        <p:txBody>
          <a:bodyPr wrap="square" rtlCol="0">
            <a:spAutoFit/>
          </a:bodyPr>
          <a:lstStyle/>
          <a:p>
            <a:r>
              <a:rPr lang="en-GB" sz="2600" dirty="0" err="1" smtClean="0"/>
              <a:t>EPrints</a:t>
            </a:r>
            <a:r>
              <a:rPr lang="en-GB" sz="2600" dirty="0" smtClean="0"/>
              <a:t> File Classification</a:t>
            </a:r>
          </a:p>
        </p:txBody>
      </p:sp>
      <p:pic>
        <p:nvPicPr>
          <p:cNvPr id="7" name="Picture 6"/>
          <p:cNvPicPr>
            <a:picLocks noChangeAspect="1"/>
          </p:cNvPicPr>
          <p:nvPr/>
        </p:nvPicPr>
        <p:blipFill>
          <a:blip r:embed="rId3"/>
          <a:stretch>
            <a:fillRect/>
          </a:stretch>
        </p:blipFill>
        <p:spPr>
          <a:xfrm>
            <a:off x="38186" y="1905000"/>
            <a:ext cx="9105814" cy="4648200"/>
          </a:xfrm>
          <a:prstGeom prst="rect">
            <a:avLst/>
          </a:prstGeom>
        </p:spPr>
      </p:pic>
      <p:sp>
        <p:nvSpPr>
          <p:cNvPr id="8" name="TextBox 7"/>
          <p:cNvSpPr txBox="1"/>
          <p:nvPr/>
        </p:nvSpPr>
        <p:spPr>
          <a:xfrm>
            <a:off x="1676400" y="76200"/>
            <a:ext cx="6172200" cy="738664"/>
          </a:xfrm>
          <a:prstGeom prst="rect">
            <a:avLst/>
          </a:prstGeom>
          <a:noFill/>
        </p:spPr>
        <p:txBody>
          <a:bodyPr wrap="square" rtlCol="0">
            <a:spAutoFit/>
          </a:bodyPr>
          <a:lstStyle/>
          <a:p>
            <a:r>
              <a:rPr lang="en-GB" sz="4200" b="1" dirty="0" smtClean="0">
                <a:solidFill>
                  <a:schemeClr val="bg1"/>
                </a:solidFill>
                <a:latin typeface="+mj-lt"/>
                <a:cs typeface="Apple Symbols"/>
              </a:rPr>
              <a:t>Preservation - Analysis</a:t>
            </a:r>
            <a:endParaRPr lang="en-GB" sz="4200" b="1" dirty="0">
              <a:solidFill>
                <a:schemeClr val="bg1"/>
              </a:solidFill>
              <a:latin typeface="+mj-lt"/>
              <a:cs typeface="Apple Symbols"/>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extBox 4"/>
          <p:cNvSpPr txBox="1"/>
          <p:nvPr/>
        </p:nvSpPr>
        <p:spPr>
          <a:xfrm>
            <a:off x="1676400" y="76200"/>
            <a:ext cx="6172200" cy="738664"/>
          </a:xfrm>
          <a:prstGeom prst="rect">
            <a:avLst/>
          </a:prstGeom>
          <a:noFill/>
        </p:spPr>
        <p:txBody>
          <a:bodyPr wrap="square" rtlCol="0">
            <a:spAutoFit/>
          </a:bodyPr>
          <a:lstStyle/>
          <a:p>
            <a:pPr algn="ctr"/>
            <a:r>
              <a:rPr lang="en-GB" sz="4200" b="1" dirty="0" smtClean="0">
                <a:solidFill>
                  <a:schemeClr val="bg1"/>
                </a:solidFill>
                <a:latin typeface="+mj-lt"/>
                <a:cs typeface="Apple Symbols"/>
              </a:rPr>
              <a:t>Risk Analysis</a:t>
            </a:r>
            <a:endParaRPr lang="en-GB" sz="4200" b="1" dirty="0">
              <a:solidFill>
                <a:schemeClr val="bg1"/>
              </a:solidFill>
              <a:latin typeface="+mj-lt"/>
              <a:cs typeface="Apple Symbols"/>
            </a:endParaRPr>
          </a:p>
        </p:txBody>
      </p:sp>
      <p:sp>
        <p:nvSpPr>
          <p:cNvPr id="6" name="Rounded Rectangle 5"/>
          <p:cNvSpPr/>
          <p:nvPr/>
        </p:nvSpPr>
        <p:spPr>
          <a:xfrm>
            <a:off x="533400" y="12954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Preservation - Analyse</a:t>
            </a:r>
            <a:endParaRPr lang="en-GB" dirty="0">
              <a:solidFill>
                <a:srgbClr val="000000"/>
              </a:solidFill>
            </a:endParaRPr>
          </a:p>
        </p:txBody>
      </p:sp>
      <p:sp>
        <p:nvSpPr>
          <p:cNvPr id="9" name="TextBox 8"/>
          <p:cNvSpPr txBox="1"/>
          <p:nvPr/>
        </p:nvSpPr>
        <p:spPr>
          <a:xfrm>
            <a:off x="457200" y="1905000"/>
            <a:ext cx="8686800" cy="4708982"/>
          </a:xfrm>
          <a:prstGeom prst="rect">
            <a:avLst/>
          </a:prstGeom>
          <a:noFill/>
        </p:spPr>
        <p:txBody>
          <a:bodyPr wrap="square" rtlCol="0">
            <a:spAutoFit/>
          </a:bodyPr>
          <a:lstStyle/>
          <a:p>
            <a:pPr>
              <a:buFont typeface="Arial"/>
              <a:buChar char="•"/>
            </a:pPr>
            <a:r>
              <a:rPr lang="en-GB" sz="2600" dirty="0" smtClean="0"/>
              <a:t> Is the file at risk of not having an editor/reader?</a:t>
            </a:r>
          </a:p>
          <a:p>
            <a:pPr lvl="1">
              <a:buFont typeface="Arial"/>
              <a:buChar char="•"/>
            </a:pPr>
            <a:r>
              <a:rPr lang="en-GB" sz="2600" dirty="0" smtClean="0"/>
              <a:t> </a:t>
            </a:r>
            <a:r>
              <a:rPr lang="en-GB" sz="2000" dirty="0" smtClean="0"/>
              <a:t>Functionality is being developed in PRONOM technical registry.</a:t>
            </a:r>
          </a:p>
          <a:p>
            <a:pPr lvl="1">
              <a:buFont typeface="Arial"/>
              <a:buChar char="•"/>
            </a:pPr>
            <a:endParaRPr lang="en-GB" sz="2000" dirty="0" smtClean="0"/>
          </a:p>
          <a:p>
            <a:pPr>
              <a:buFont typeface="Arial"/>
              <a:buChar char="•"/>
            </a:pPr>
            <a:r>
              <a:rPr lang="en-GB" sz="2600" dirty="0" smtClean="0"/>
              <a:t> Simple SOAP web service</a:t>
            </a:r>
          </a:p>
          <a:p>
            <a:pPr>
              <a:buFont typeface="Arial"/>
              <a:buChar char="•"/>
            </a:pPr>
            <a:endParaRPr lang="en-GB" sz="2600" dirty="0" smtClean="0"/>
          </a:p>
          <a:p>
            <a:pPr>
              <a:buFont typeface="Arial"/>
              <a:buChar char="•"/>
            </a:pPr>
            <a:r>
              <a:rPr lang="en-GB" sz="2600" dirty="0" smtClean="0"/>
              <a:t> Takes file format identification id’s, hands back risk score. </a:t>
            </a:r>
          </a:p>
          <a:p>
            <a:pPr>
              <a:buFont typeface="Arial"/>
              <a:buChar char="•"/>
            </a:pPr>
            <a:r>
              <a:rPr lang="en-GB" sz="2600" dirty="0" smtClean="0"/>
              <a:t> Breakdown of risk score may also be available in future releases</a:t>
            </a:r>
            <a:r>
              <a:rPr lang="en-GB" sz="2000" dirty="0" smtClean="0"/>
              <a:t>.</a:t>
            </a:r>
          </a:p>
          <a:p>
            <a:pPr>
              <a:buFont typeface="Arial"/>
              <a:buChar char="•"/>
            </a:pPr>
            <a:endParaRPr lang="en-GB" sz="2000" dirty="0" smtClean="0"/>
          </a:p>
          <a:p>
            <a:pPr>
              <a:buFont typeface="Arial"/>
              <a:buChar char="•"/>
            </a:pPr>
            <a:r>
              <a:rPr lang="en-GB" sz="2600" dirty="0" smtClean="0"/>
              <a:t> A stub you can download and run providing this functionality before the official release with mock up risk scores is available at http://preserv2.googlecode.com</a:t>
            </a:r>
          </a:p>
        </p:txBody>
      </p:sp>
      <p:pic>
        <p:nvPicPr>
          <p:cNvPr id="8" name="Picture 7"/>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6248400" y="1295400"/>
            <a:ext cx="3162300" cy="57150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Rounded Rectangle 5"/>
          <p:cNvSpPr/>
          <p:nvPr/>
        </p:nvSpPr>
        <p:spPr>
          <a:xfrm>
            <a:off x="533400" y="12954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Preservation - Analyse</a:t>
            </a:r>
            <a:endParaRPr lang="en-GB" dirty="0">
              <a:solidFill>
                <a:srgbClr val="000000"/>
              </a:solidFill>
            </a:endParaRPr>
          </a:p>
        </p:txBody>
      </p:sp>
      <p:sp>
        <p:nvSpPr>
          <p:cNvPr id="33" name="TextBox 32"/>
          <p:cNvSpPr txBox="1"/>
          <p:nvPr/>
        </p:nvSpPr>
        <p:spPr>
          <a:xfrm>
            <a:off x="2514600" y="1371600"/>
            <a:ext cx="6629400" cy="492443"/>
          </a:xfrm>
          <a:prstGeom prst="rect">
            <a:avLst/>
          </a:prstGeom>
          <a:noFill/>
        </p:spPr>
        <p:txBody>
          <a:bodyPr wrap="square" rtlCol="0">
            <a:spAutoFit/>
          </a:bodyPr>
          <a:lstStyle/>
          <a:p>
            <a:pPr algn="r"/>
            <a:r>
              <a:rPr lang="en-GB" sz="2600" dirty="0" err="1" smtClean="0"/>
              <a:t>EPrints</a:t>
            </a:r>
            <a:r>
              <a:rPr lang="en-GB" sz="2600" dirty="0" smtClean="0"/>
              <a:t> File Classification + Risk Analysis</a:t>
            </a:r>
          </a:p>
        </p:txBody>
      </p:sp>
      <p:pic>
        <p:nvPicPr>
          <p:cNvPr id="9" name="Picture 8"/>
          <p:cNvPicPr>
            <a:picLocks noChangeAspect="1"/>
          </p:cNvPicPr>
          <p:nvPr/>
        </p:nvPicPr>
        <p:blipFill>
          <a:blip r:embed="rId3"/>
          <a:stretch>
            <a:fillRect/>
          </a:stretch>
        </p:blipFill>
        <p:spPr>
          <a:xfrm>
            <a:off x="609600" y="1828799"/>
            <a:ext cx="8077200" cy="5020415"/>
          </a:xfrm>
          <a:prstGeom prst="rect">
            <a:avLst/>
          </a:prstGeom>
        </p:spPr>
      </p:pic>
      <p:sp>
        <p:nvSpPr>
          <p:cNvPr id="10" name="TextBox 9"/>
          <p:cNvSpPr txBox="1"/>
          <p:nvPr/>
        </p:nvSpPr>
        <p:spPr>
          <a:xfrm>
            <a:off x="1676400" y="76200"/>
            <a:ext cx="6172200" cy="738664"/>
          </a:xfrm>
          <a:prstGeom prst="rect">
            <a:avLst/>
          </a:prstGeom>
          <a:noFill/>
        </p:spPr>
        <p:txBody>
          <a:bodyPr wrap="square" rtlCol="0">
            <a:spAutoFit/>
          </a:bodyPr>
          <a:lstStyle/>
          <a:p>
            <a:pPr algn="ctr"/>
            <a:r>
              <a:rPr lang="en-GB" sz="4200" b="1" dirty="0" smtClean="0">
                <a:solidFill>
                  <a:schemeClr val="bg1"/>
                </a:solidFill>
                <a:latin typeface="+mj-lt"/>
                <a:cs typeface="Apple Symbols"/>
              </a:rPr>
              <a:t>Risk Analysis</a:t>
            </a:r>
            <a:endParaRPr lang="en-GB" sz="4200" b="1" dirty="0">
              <a:solidFill>
                <a:schemeClr val="bg1"/>
              </a:solidFill>
              <a:latin typeface="+mj-lt"/>
              <a:cs typeface="Apple Symbols"/>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Rounded Rectangle 5"/>
          <p:cNvSpPr/>
          <p:nvPr/>
        </p:nvSpPr>
        <p:spPr>
          <a:xfrm>
            <a:off x="533400" y="12954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Preservation - Analyse</a:t>
            </a:r>
            <a:endParaRPr lang="en-GB" dirty="0">
              <a:solidFill>
                <a:srgbClr val="000000"/>
              </a:solidFill>
            </a:endParaRPr>
          </a:p>
        </p:txBody>
      </p:sp>
      <p:sp>
        <p:nvSpPr>
          <p:cNvPr id="33" name="TextBox 32"/>
          <p:cNvSpPr txBox="1"/>
          <p:nvPr/>
        </p:nvSpPr>
        <p:spPr>
          <a:xfrm>
            <a:off x="2514600" y="1371600"/>
            <a:ext cx="6629400" cy="492443"/>
          </a:xfrm>
          <a:prstGeom prst="rect">
            <a:avLst/>
          </a:prstGeom>
          <a:noFill/>
        </p:spPr>
        <p:txBody>
          <a:bodyPr wrap="square" rtlCol="0">
            <a:spAutoFit/>
          </a:bodyPr>
          <a:lstStyle/>
          <a:p>
            <a:pPr algn="r"/>
            <a:r>
              <a:rPr lang="en-GB" sz="2600" dirty="0" err="1" smtClean="0"/>
              <a:t>EPrints</a:t>
            </a:r>
            <a:r>
              <a:rPr lang="en-GB" sz="2600" dirty="0" smtClean="0"/>
              <a:t> File Classification + Risk Analysis</a:t>
            </a:r>
          </a:p>
        </p:txBody>
      </p:sp>
      <p:sp>
        <p:nvSpPr>
          <p:cNvPr id="7" name="TextBox 6"/>
          <p:cNvSpPr txBox="1"/>
          <p:nvPr/>
        </p:nvSpPr>
        <p:spPr>
          <a:xfrm>
            <a:off x="1676400" y="76200"/>
            <a:ext cx="6172200" cy="738664"/>
          </a:xfrm>
          <a:prstGeom prst="rect">
            <a:avLst/>
          </a:prstGeom>
          <a:noFill/>
        </p:spPr>
        <p:txBody>
          <a:bodyPr wrap="square" rtlCol="0">
            <a:spAutoFit/>
          </a:bodyPr>
          <a:lstStyle/>
          <a:p>
            <a:pPr algn="ctr"/>
            <a:r>
              <a:rPr lang="en-GB" sz="4200" b="1" dirty="0" smtClean="0">
                <a:solidFill>
                  <a:schemeClr val="bg1"/>
                </a:solidFill>
                <a:latin typeface="+mj-lt"/>
                <a:cs typeface="Apple Symbols"/>
              </a:rPr>
              <a:t>Risk Analysis</a:t>
            </a:r>
            <a:endParaRPr lang="en-GB" sz="4200" b="1" dirty="0">
              <a:solidFill>
                <a:schemeClr val="bg1"/>
              </a:solidFill>
              <a:latin typeface="+mj-lt"/>
              <a:cs typeface="Apple Symbols"/>
            </a:endParaRPr>
          </a:p>
        </p:txBody>
      </p:sp>
      <p:pic>
        <p:nvPicPr>
          <p:cNvPr id="10" name="Picture 9"/>
          <p:cNvPicPr>
            <a:picLocks noChangeAspect="1"/>
          </p:cNvPicPr>
          <p:nvPr/>
        </p:nvPicPr>
        <p:blipFill>
          <a:blip r:embed="rId3"/>
          <a:stretch>
            <a:fillRect/>
          </a:stretch>
        </p:blipFill>
        <p:spPr>
          <a:xfrm>
            <a:off x="1081414" y="1981200"/>
            <a:ext cx="7148186" cy="487680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Rounded Rectangle 5"/>
          <p:cNvSpPr/>
          <p:nvPr/>
        </p:nvSpPr>
        <p:spPr>
          <a:xfrm>
            <a:off x="533400" y="1295400"/>
            <a:ext cx="2438400"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Preservation - Action</a:t>
            </a:r>
            <a:endParaRPr lang="en-GB" dirty="0">
              <a:solidFill>
                <a:srgbClr val="000000"/>
              </a:solidFill>
            </a:endParaRPr>
          </a:p>
        </p:txBody>
      </p:sp>
      <p:sp>
        <p:nvSpPr>
          <p:cNvPr id="33" name="TextBox 32"/>
          <p:cNvSpPr txBox="1"/>
          <p:nvPr/>
        </p:nvSpPr>
        <p:spPr>
          <a:xfrm>
            <a:off x="2514600" y="1371600"/>
            <a:ext cx="6629400" cy="492443"/>
          </a:xfrm>
          <a:prstGeom prst="rect">
            <a:avLst/>
          </a:prstGeom>
          <a:noFill/>
        </p:spPr>
        <p:txBody>
          <a:bodyPr wrap="square" rtlCol="0">
            <a:spAutoFit/>
          </a:bodyPr>
          <a:lstStyle/>
          <a:p>
            <a:pPr algn="r"/>
            <a:r>
              <a:rPr lang="en-GB" sz="2600" dirty="0" smtClean="0"/>
              <a:t>Mock up Transformation Interface</a:t>
            </a:r>
          </a:p>
        </p:txBody>
      </p:sp>
      <p:sp>
        <p:nvSpPr>
          <p:cNvPr id="7" name="TextBox 6"/>
          <p:cNvSpPr txBox="1"/>
          <p:nvPr/>
        </p:nvSpPr>
        <p:spPr>
          <a:xfrm>
            <a:off x="1676400" y="76200"/>
            <a:ext cx="6172200" cy="738664"/>
          </a:xfrm>
          <a:prstGeom prst="rect">
            <a:avLst/>
          </a:prstGeom>
          <a:noFill/>
        </p:spPr>
        <p:txBody>
          <a:bodyPr wrap="square" rtlCol="0">
            <a:spAutoFit/>
          </a:bodyPr>
          <a:lstStyle/>
          <a:p>
            <a:pPr algn="ctr"/>
            <a:r>
              <a:rPr lang="en-GB" sz="4200" b="1" dirty="0" smtClean="0">
                <a:solidFill>
                  <a:schemeClr val="bg1"/>
                </a:solidFill>
                <a:latin typeface="+mj-lt"/>
                <a:cs typeface="Apple Symbols"/>
              </a:rPr>
              <a:t>Transformation?</a:t>
            </a:r>
            <a:endParaRPr lang="en-GB" sz="4200" b="1" dirty="0">
              <a:solidFill>
                <a:schemeClr val="bg1"/>
              </a:solidFill>
              <a:latin typeface="+mj-lt"/>
              <a:cs typeface="Apple Symbols"/>
            </a:endParaRPr>
          </a:p>
        </p:txBody>
      </p:sp>
      <p:pic>
        <p:nvPicPr>
          <p:cNvPr id="10" name="Picture 9"/>
          <p:cNvPicPr>
            <a:picLocks noChangeAspect="1"/>
          </p:cNvPicPr>
          <p:nvPr/>
        </p:nvPicPr>
        <p:blipFill>
          <a:blip r:embed="rId3"/>
          <a:stretch>
            <a:fillRect/>
          </a:stretch>
        </p:blipFill>
        <p:spPr>
          <a:xfrm>
            <a:off x="1081414" y="1981200"/>
            <a:ext cx="7148186" cy="4876800"/>
          </a:xfrm>
          <a:prstGeom prst="rect">
            <a:avLst/>
          </a:prstGeom>
        </p:spPr>
      </p:pic>
      <p:sp>
        <p:nvSpPr>
          <p:cNvPr id="8" name="Rectangle 7"/>
          <p:cNvSpPr/>
          <p:nvPr/>
        </p:nvSpPr>
        <p:spPr>
          <a:xfrm>
            <a:off x="5582920" y="3716020"/>
            <a:ext cx="2341880" cy="2075180"/>
          </a:xfrm>
          <a:prstGeom prst="rect">
            <a:avLst/>
          </a:prstGeom>
          <a:noFill/>
          <a:ln>
            <a:solidFill>
              <a:srgbClr val="000000"/>
            </a:solidFill>
          </a:ln>
          <a:effectLst/>
        </p:spPr>
        <p:style>
          <a:lnRef idx="1">
            <a:schemeClr val="accent1"/>
          </a:lnRef>
          <a:fillRef idx="3">
            <a:schemeClr val="accent1"/>
          </a:fillRef>
          <a:effectRef idx="2">
            <a:schemeClr val="accent1"/>
          </a:effectRef>
          <a:fontRef idx="minor">
            <a:schemeClr val="lt1"/>
          </a:fontRef>
        </p:style>
      </p:sp>
      <p:sp>
        <p:nvSpPr>
          <p:cNvPr id="9" name="TextBox 8"/>
          <p:cNvSpPr txBox="1"/>
          <p:nvPr/>
        </p:nvSpPr>
        <p:spPr>
          <a:xfrm>
            <a:off x="5880270" y="3882480"/>
            <a:ext cx="2120730" cy="246221"/>
          </a:xfrm>
          <a:prstGeom prst="rect">
            <a:avLst/>
          </a:prstGeom>
          <a:noFill/>
        </p:spPr>
        <p:txBody>
          <a:bodyPr wrap="none" rtlCol="0">
            <a:spAutoFit/>
          </a:bodyPr>
          <a:lstStyle/>
          <a:p>
            <a:r>
              <a:rPr lang="en-GB" sz="1000" b="1" dirty="0" smtClean="0">
                <a:latin typeface="Aerial"/>
                <a:cs typeface="Aerial"/>
              </a:rPr>
              <a:t>Tool               Preservation Level</a:t>
            </a:r>
            <a:endParaRPr lang="en-GB" sz="1000" b="1" dirty="0">
              <a:latin typeface="Aerial"/>
              <a:cs typeface="Aerial"/>
            </a:endParaRPr>
          </a:p>
        </p:txBody>
      </p:sp>
      <p:sp>
        <p:nvSpPr>
          <p:cNvPr id="11" name="TextBox 10"/>
          <p:cNvSpPr txBox="1"/>
          <p:nvPr/>
        </p:nvSpPr>
        <p:spPr>
          <a:xfrm>
            <a:off x="5865533" y="4140369"/>
            <a:ext cx="893196" cy="507831"/>
          </a:xfrm>
          <a:prstGeom prst="rect">
            <a:avLst/>
          </a:prstGeom>
          <a:noFill/>
        </p:spPr>
        <p:txBody>
          <a:bodyPr wrap="none" rtlCol="0">
            <a:spAutoFit/>
          </a:bodyPr>
          <a:lstStyle/>
          <a:p>
            <a:pPr algn="r"/>
            <a:r>
              <a:rPr lang="en-GB" sz="900" dirty="0" smtClean="0">
                <a:latin typeface="Aerial"/>
                <a:cs typeface="Aerial"/>
              </a:rPr>
              <a:t>PPT -&gt; PPTX</a:t>
            </a:r>
          </a:p>
          <a:p>
            <a:pPr algn="r"/>
            <a:endParaRPr lang="en-GB" sz="900" dirty="0" smtClean="0">
              <a:latin typeface="Aerial"/>
              <a:cs typeface="Aerial"/>
            </a:endParaRPr>
          </a:p>
          <a:p>
            <a:pPr algn="r"/>
            <a:r>
              <a:rPr lang="en-GB" sz="900" dirty="0" smtClean="0">
                <a:latin typeface="Aerial"/>
                <a:cs typeface="Aerial"/>
              </a:rPr>
              <a:t>PPT -&gt; PDF</a:t>
            </a:r>
          </a:p>
        </p:txBody>
      </p:sp>
      <p:sp>
        <p:nvSpPr>
          <p:cNvPr id="12" name="Rectangle 11"/>
          <p:cNvSpPr/>
          <p:nvPr/>
        </p:nvSpPr>
        <p:spPr>
          <a:xfrm>
            <a:off x="6718470" y="4204901"/>
            <a:ext cx="1143000" cy="115200"/>
          </a:xfrm>
          <a:prstGeom prst="rect">
            <a:avLst/>
          </a:prstGeom>
          <a:solidFill>
            <a:srgbClr val="0000FF"/>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12"/>
          <p:cNvSpPr/>
          <p:nvPr/>
        </p:nvSpPr>
        <p:spPr>
          <a:xfrm>
            <a:off x="6718470" y="4470701"/>
            <a:ext cx="533400" cy="115200"/>
          </a:xfrm>
          <a:prstGeom prst="rect">
            <a:avLst/>
          </a:prstGeom>
          <a:solidFill>
            <a:srgbClr val="0000FF"/>
          </a:solidFill>
          <a:ln>
            <a:noFill/>
          </a:ln>
          <a:effectLst/>
        </p:spPr>
        <p:style>
          <a:lnRef idx="1">
            <a:schemeClr val="accent1"/>
          </a:lnRef>
          <a:fillRef idx="3">
            <a:schemeClr val="accent1"/>
          </a:fillRef>
          <a:effectRef idx="2">
            <a:schemeClr val="accent1"/>
          </a:effectRef>
          <a:fontRef idx="minor">
            <a:schemeClr val="lt1"/>
          </a:fontRef>
        </p:style>
      </p:sp>
      <p:sp>
        <p:nvSpPr>
          <p:cNvPr id="14" name="TextBox 13"/>
          <p:cNvSpPr txBox="1"/>
          <p:nvPr/>
        </p:nvSpPr>
        <p:spPr>
          <a:xfrm>
            <a:off x="5715000" y="3657600"/>
            <a:ext cx="2133600" cy="307777"/>
          </a:xfrm>
          <a:prstGeom prst="rect">
            <a:avLst/>
          </a:prstGeom>
          <a:noFill/>
        </p:spPr>
        <p:txBody>
          <a:bodyPr wrap="square" rtlCol="0">
            <a:spAutoFit/>
          </a:bodyPr>
          <a:lstStyle/>
          <a:p>
            <a:pPr algn="ctr"/>
            <a:r>
              <a:rPr lang="en-GB" sz="1400" b="1" dirty="0" smtClean="0">
                <a:solidFill>
                  <a:schemeClr val="tx1">
                    <a:lumMod val="65000"/>
                    <a:lumOff val="35000"/>
                  </a:schemeClr>
                </a:solidFill>
                <a:latin typeface="Aerial"/>
                <a:cs typeface="Aerial"/>
              </a:rPr>
              <a:t>Migration Tools</a:t>
            </a:r>
            <a:endParaRPr lang="en-GB" sz="1400" b="1" dirty="0">
              <a:solidFill>
                <a:schemeClr val="tx1">
                  <a:lumMod val="65000"/>
                  <a:lumOff val="35000"/>
                </a:schemeClr>
              </a:solidFill>
              <a:latin typeface="Aerial"/>
              <a:cs typeface="Aeria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extBox 4"/>
          <p:cNvSpPr txBox="1"/>
          <p:nvPr/>
        </p:nvSpPr>
        <p:spPr>
          <a:xfrm>
            <a:off x="1676400" y="76200"/>
            <a:ext cx="6172200" cy="738664"/>
          </a:xfrm>
          <a:prstGeom prst="rect">
            <a:avLst/>
          </a:prstGeom>
          <a:noFill/>
        </p:spPr>
        <p:txBody>
          <a:bodyPr wrap="square" rtlCol="0">
            <a:spAutoFit/>
          </a:bodyPr>
          <a:lstStyle/>
          <a:p>
            <a:pPr algn="ctr"/>
            <a:r>
              <a:rPr lang="en-GB" sz="4200" b="1" dirty="0" smtClean="0">
                <a:solidFill>
                  <a:schemeClr val="bg1"/>
                </a:solidFill>
                <a:latin typeface="+mj-lt"/>
                <a:cs typeface="Apple Symbols"/>
              </a:rPr>
              <a:t>Summary – 1/2</a:t>
            </a:r>
            <a:endParaRPr lang="en-GB" sz="4200" b="1" dirty="0">
              <a:solidFill>
                <a:schemeClr val="bg1"/>
              </a:solidFill>
              <a:latin typeface="+mj-lt"/>
              <a:cs typeface="Apple Symbols"/>
            </a:endParaRPr>
          </a:p>
        </p:txBody>
      </p:sp>
      <p:sp>
        <p:nvSpPr>
          <p:cNvPr id="9" name="TextBox 8"/>
          <p:cNvSpPr txBox="1"/>
          <p:nvPr/>
        </p:nvSpPr>
        <p:spPr>
          <a:xfrm>
            <a:off x="457200" y="2895600"/>
            <a:ext cx="8229600" cy="3785652"/>
          </a:xfrm>
          <a:prstGeom prst="rect">
            <a:avLst/>
          </a:prstGeom>
          <a:noFill/>
        </p:spPr>
        <p:txBody>
          <a:bodyPr wrap="square" rtlCol="0">
            <a:spAutoFit/>
          </a:bodyPr>
          <a:lstStyle/>
          <a:p>
            <a:pPr>
              <a:buFont typeface="Arial"/>
              <a:buChar char="•"/>
            </a:pPr>
            <a:r>
              <a:rPr lang="en-GB" sz="2400" dirty="0" smtClean="0"/>
              <a:t> Processes, Services and Glue</a:t>
            </a:r>
          </a:p>
          <a:p>
            <a:pPr>
              <a:buFont typeface="Arial"/>
              <a:buChar char="•"/>
            </a:pPr>
            <a:endParaRPr lang="en-GB" sz="2400" dirty="0" smtClean="0"/>
          </a:p>
          <a:p>
            <a:pPr>
              <a:buFont typeface="Arial"/>
              <a:buChar char="•"/>
            </a:pPr>
            <a:r>
              <a:rPr lang="en-GB" sz="2400" dirty="0" smtClean="0"/>
              <a:t> Storage Controller provides an API you can glue to.</a:t>
            </a:r>
          </a:p>
          <a:p>
            <a:pPr>
              <a:buFont typeface="Arial"/>
              <a:buChar char="•"/>
            </a:pPr>
            <a:endParaRPr lang="en-GB" sz="2400" dirty="0" smtClean="0"/>
          </a:p>
          <a:p>
            <a:pPr>
              <a:buFont typeface="Arial"/>
              <a:buChar char="•"/>
            </a:pPr>
            <a:r>
              <a:rPr lang="en-GB" sz="2400" dirty="0" smtClean="0"/>
              <a:t> Enabling preservation for any repository model by writing small bits of glue.</a:t>
            </a:r>
          </a:p>
          <a:p>
            <a:pPr>
              <a:buFont typeface="Arial"/>
              <a:buChar char="•"/>
            </a:pPr>
            <a:endParaRPr lang="en-GB" sz="2400" dirty="0" smtClean="0"/>
          </a:p>
          <a:p>
            <a:pPr>
              <a:buFont typeface="Arial"/>
              <a:buChar char="•"/>
            </a:pPr>
            <a:r>
              <a:rPr lang="en-GB" sz="2400" dirty="0" smtClean="0"/>
              <a:t> Portable services are more powerful, faster and cheaper.</a:t>
            </a:r>
          </a:p>
          <a:p>
            <a:pPr>
              <a:buFont typeface="Arial"/>
              <a:buChar char="•"/>
            </a:pPr>
            <a:endParaRPr lang="en-GB" sz="2400" dirty="0" smtClean="0"/>
          </a:p>
          <a:p>
            <a:pPr>
              <a:buFont typeface="Arial"/>
              <a:buChar char="•"/>
            </a:pPr>
            <a:r>
              <a:rPr lang="en-GB" sz="2400" dirty="0" smtClean="0"/>
              <a:t> Make use of existing and supported software where possible.</a:t>
            </a:r>
          </a:p>
        </p:txBody>
      </p:sp>
      <p:sp>
        <p:nvSpPr>
          <p:cNvPr id="7" name="Rounded Rectangle 6"/>
          <p:cNvSpPr/>
          <p:nvPr/>
        </p:nvSpPr>
        <p:spPr>
          <a:xfrm>
            <a:off x="1066800" y="1600200"/>
            <a:ext cx="1752600" cy="1051560"/>
          </a:xfrm>
          <a:prstGeom prst="roundRect">
            <a:avLst/>
          </a:prstGeom>
          <a:no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Get Content</a:t>
            </a:r>
          </a:p>
          <a:p>
            <a:pPr algn="ctr"/>
            <a:r>
              <a:rPr lang="en-GB" dirty="0" smtClean="0">
                <a:solidFill>
                  <a:srgbClr val="000000"/>
                </a:solidFill>
              </a:rPr>
              <a:t>(Ingest)</a:t>
            </a:r>
            <a:endParaRPr lang="en-GB" dirty="0">
              <a:solidFill>
                <a:srgbClr val="000000"/>
              </a:solidFill>
            </a:endParaRPr>
          </a:p>
        </p:txBody>
      </p:sp>
      <p:sp>
        <p:nvSpPr>
          <p:cNvPr id="10" name="Rounded Rectangle 9"/>
          <p:cNvSpPr/>
          <p:nvPr/>
        </p:nvSpPr>
        <p:spPr>
          <a:xfrm>
            <a:off x="6400800" y="1600200"/>
            <a:ext cx="1752600" cy="1051560"/>
          </a:xfrm>
          <a:prstGeom prst="roundRect">
            <a:avLst/>
          </a:prstGeom>
          <a:no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Serve Content</a:t>
            </a:r>
            <a:endParaRPr lang="en-GB" dirty="0">
              <a:solidFill>
                <a:srgbClr val="000000"/>
              </a:solidFill>
            </a:endParaRPr>
          </a:p>
        </p:txBody>
      </p:sp>
      <p:cxnSp>
        <p:nvCxnSpPr>
          <p:cNvPr id="11" name="Straight Connector 10"/>
          <p:cNvCxnSpPr/>
          <p:nvPr/>
        </p:nvCxnSpPr>
        <p:spPr>
          <a:xfrm>
            <a:off x="76200" y="2133600"/>
            <a:ext cx="914400" cy="1588"/>
          </a:xfrm>
          <a:prstGeom prst="line">
            <a:avLst/>
          </a:prstGeom>
          <a:ln w="11747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8153400" y="2133600"/>
            <a:ext cx="838200" cy="1588"/>
          </a:xfrm>
          <a:prstGeom prst="line">
            <a:avLst/>
          </a:prstGeom>
          <a:ln w="11747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2819400" y="2133600"/>
            <a:ext cx="533400" cy="1588"/>
          </a:xfrm>
          <a:prstGeom prst="line">
            <a:avLst/>
          </a:prstGeom>
          <a:ln w="11747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5867400" y="2133600"/>
            <a:ext cx="457200" cy="1588"/>
          </a:xfrm>
          <a:prstGeom prst="line">
            <a:avLst/>
          </a:prstGeom>
          <a:ln w="11747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29000" y="1447800"/>
            <a:ext cx="2438400" cy="1371600"/>
          </a:xfrm>
          <a:prstGeom prst="roundRect">
            <a:avLst/>
          </a:prstGeom>
          <a:no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Manage Content</a:t>
            </a:r>
            <a:endParaRPr lang="en-GB" dirty="0">
              <a:solidFill>
                <a:srgbClr val="000000"/>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extBox 4"/>
          <p:cNvSpPr txBox="1"/>
          <p:nvPr/>
        </p:nvSpPr>
        <p:spPr>
          <a:xfrm>
            <a:off x="1676400" y="76200"/>
            <a:ext cx="6172200" cy="738664"/>
          </a:xfrm>
          <a:prstGeom prst="rect">
            <a:avLst/>
          </a:prstGeom>
          <a:noFill/>
        </p:spPr>
        <p:txBody>
          <a:bodyPr wrap="square" rtlCol="0">
            <a:spAutoFit/>
          </a:bodyPr>
          <a:lstStyle/>
          <a:p>
            <a:pPr algn="ctr"/>
            <a:r>
              <a:rPr lang="en-GB" sz="4200" b="1" dirty="0" smtClean="0">
                <a:solidFill>
                  <a:schemeClr val="bg1"/>
                </a:solidFill>
                <a:latin typeface="+mj-lt"/>
                <a:cs typeface="Apple Symbols"/>
              </a:rPr>
              <a:t>Summary – 2/2</a:t>
            </a:r>
            <a:endParaRPr lang="en-GB" sz="4200" b="1" dirty="0">
              <a:solidFill>
                <a:schemeClr val="bg1"/>
              </a:solidFill>
              <a:latin typeface="+mj-lt"/>
              <a:cs typeface="Apple Symbols"/>
            </a:endParaRPr>
          </a:p>
        </p:txBody>
      </p:sp>
      <p:sp>
        <p:nvSpPr>
          <p:cNvPr id="16" name="TextBox 15"/>
          <p:cNvSpPr txBox="1"/>
          <p:nvPr/>
        </p:nvSpPr>
        <p:spPr>
          <a:xfrm>
            <a:off x="914400" y="4114800"/>
            <a:ext cx="7543800" cy="1692771"/>
          </a:xfrm>
          <a:prstGeom prst="rect">
            <a:avLst/>
          </a:prstGeom>
          <a:noFill/>
        </p:spPr>
        <p:txBody>
          <a:bodyPr wrap="square" rtlCol="0">
            <a:spAutoFit/>
          </a:bodyPr>
          <a:lstStyle/>
          <a:p>
            <a:pPr algn="ctr"/>
            <a:r>
              <a:rPr lang="en-US" sz="2600" dirty="0" smtClean="0"/>
              <a:t>EPrints will provide one of the first platforms for the development of preservation services where direct interaction takes place between the </a:t>
            </a:r>
            <a:r>
              <a:rPr lang="en-US" sz="2600" i="1" dirty="0" smtClean="0"/>
              <a:t>Repository Software</a:t>
            </a:r>
            <a:r>
              <a:rPr lang="en-US" sz="2600" dirty="0" smtClean="0"/>
              <a:t> and </a:t>
            </a:r>
            <a:r>
              <a:rPr lang="en-US" sz="2600" i="1" dirty="0" smtClean="0"/>
              <a:t>Preservation Services</a:t>
            </a:r>
            <a:r>
              <a:rPr lang="en-US" sz="2600" dirty="0" smtClean="0"/>
              <a:t>.   </a:t>
            </a:r>
          </a:p>
        </p:txBody>
      </p:sp>
      <p:pic>
        <p:nvPicPr>
          <p:cNvPr id="17" name="Picture 16"/>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762000" y="2057400"/>
            <a:ext cx="2907518" cy="1600200"/>
          </a:xfrm>
          <a:prstGeom prst="rect">
            <a:avLst/>
          </a:prstGeom>
        </p:spPr>
      </p:pic>
      <p:pic>
        <p:nvPicPr>
          <p:cNvPr id="18" name="Picture 17" descr="E-prints 4col.jpg"/>
          <p:cNvPicPr>
            <a:picLocks noChangeAspect="1"/>
          </p:cNvPicPr>
          <p:nvPr/>
        </p:nvPicPr>
        <p:blipFill>
          <a:blip r:embed="rId5"/>
          <a:stretch>
            <a:fillRect/>
          </a:stretch>
        </p:blipFill>
        <p:spPr>
          <a:xfrm>
            <a:off x="4724400" y="1981200"/>
            <a:ext cx="3662482" cy="1502664"/>
          </a:xfrm>
          <a:prstGeom prst="rect">
            <a:avLst/>
          </a:prstGeom>
        </p:spPr>
      </p:pic>
      <p:sp>
        <p:nvSpPr>
          <p:cNvPr id="19" name="TextBox 18"/>
          <p:cNvSpPr txBox="1"/>
          <p:nvPr/>
        </p:nvSpPr>
        <p:spPr>
          <a:xfrm>
            <a:off x="3886200" y="2200126"/>
            <a:ext cx="689324" cy="1000274"/>
          </a:xfrm>
          <a:prstGeom prst="rect">
            <a:avLst/>
          </a:prstGeom>
          <a:noFill/>
        </p:spPr>
        <p:txBody>
          <a:bodyPr wrap="none" rtlCol="0">
            <a:spAutoFit/>
          </a:bodyPr>
          <a:lstStyle/>
          <a:p>
            <a:r>
              <a:rPr lang="en-GB" sz="5900" b="1" dirty="0" smtClean="0"/>
              <a:t>+</a:t>
            </a:r>
            <a:endParaRPr lang="en-GB" sz="5900" b="1"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 name="TextBox 11"/>
          <p:cNvSpPr txBox="1"/>
          <p:nvPr/>
        </p:nvSpPr>
        <p:spPr>
          <a:xfrm>
            <a:off x="3124200" y="191869"/>
            <a:ext cx="4495800" cy="646331"/>
          </a:xfrm>
          <a:prstGeom prst="rect">
            <a:avLst/>
          </a:prstGeom>
          <a:noFill/>
        </p:spPr>
        <p:txBody>
          <a:bodyPr wrap="square" rtlCol="0">
            <a:spAutoFit/>
          </a:bodyPr>
          <a:lstStyle/>
          <a:p>
            <a:r>
              <a:rPr lang="en-GB" sz="3600" dirty="0" smtClean="0">
                <a:solidFill>
                  <a:schemeClr val="bg1"/>
                </a:solidFill>
              </a:rPr>
              <a:t>Many Thanks!</a:t>
            </a:r>
            <a:endParaRPr lang="en-GB" sz="3600" dirty="0">
              <a:solidFill>
                <a:schemeClr val="bg1"/>
              </a:solidFill>
            </a:endParaRPr>
          </a:p>
        </p:txBody>
      </p:sp>
      <p:sp>
        <p:nvSpPr>
          <p:cNvPr id="14" name="TextBox 13"/>
          <p:cNvSpPr txBox="1"/>
          <p:nvPr/>
        </p:nvSpPr>
        <p:spPr>
          <a:xfrm>
            <a:off x="990600" y="2667000"/>
            <a:ext cx="3733800" cy="4493537"/>
          </a:xfrm>
          <a:prstGeom prst="rect">
            <a:avLst/>
          </a:prstGeom>
          <a:noFill/>
        </p:spPr>
        <p:txBody>
          <a:bodyPr wrap="square" rtlCol="0">
            <a:spAutoFit/>
          </a:bodyPr>
          <a:lstStyle/>
          <a:p>
            <a:pPr algn="r"/>
            <a:endParaRPr lang="en-GB" sz="2200" dirty="0" smtClean="0"/>
          </a:p>
          <a:p>
            <a:pPr algn="r"/>
            <a:r>
              <a:rPr lang="en-GB" sz="2200" dirty="0" smtClean="0"/>
              <a:t>David Tarrant</a:t>
            </a:r>
          </a:p>
          <a:p>
            <a:pPr algn="r"/>
            <a:r>
              <a:rPr lang="en-GB" sz="2200" dirty="0" smtClean="0"/>
              <a:t>Steve Hitchcock</a:t>
            </a:r>
          </a:p>
          <a:p>
            <a:pPr algn="r"/>
            <a:endParaRPr lang="en-GB" sz="2200" dirty="0" smtClean="0"/>
          </a:p>
          <a:p>
            <a:pPr algn="r"/>
            <a:endParaRPr lang="en-GB" sz="2200" dirty="0" smtClean="0"/>
          </a:p>
          <a:p>
            <a:pPr algn="r"/>
            <a:r>
              <a:rPr lang="en-GB" sz="2200" dirty="0" smtClean="0"/>
              <a:t>Neil </a:t>
            </a:r>
            <a:r>
              <a:rPr lang="en-GB" sz="2200" dirty="0" smtClean="0"/>
              <a:t>Jefferies</a:t>
            </a:r>
            <a:endParaRPr lang="en-GB" sz="2200" dirty="0" smtClean="0"/>
          </a:p>
          <a:p>
            <a:pPr algn="r"/>
            <a:r>
              <a:rPr lang="en-GB" sz="2200" dirty="0" smtClean="0"/>
              <a:t>Ben </a:t>
            </a:r>
            <a:r>
              <a:rPr lang="en-GB" sz="2200" dirty="0" err="1" smtClean="0"/>
              <a:t>O’Steen</a:t>
            </a:r>
            <a:endParaRPr lang="en-GB" sz="2200" dirty="0" smtClean="0"/>
          </a:p>
          <a:p>
            <a:pPr algn="r"/>
            <a:r>
              <a:rPr lang="en-GB" sz="2200" dirty="0" smtClean="0"/>
              <a:t>Sally Rumsey </a:t>
            </a:r>
          </a:p>
          <a:p>
            <a:pPr algn="r"/>
            <a:endParaRPr lang="en-GB" sz="2200" dirty="0" smtClean="0"/>
          </a:p>
          <a:p>
            <a:pPr algn="r"/>
            <a:endParaRPr lang="en-GB" sz="2200" dirty="0" smtClean="0"/>
          </a:p>
          <a:p>
            <a:pPr algn="r"/>
            <a:r>
              <a:rPr lang="en-GB" sz="2200" dirty="0" smtClean="0"/>
              <a:t>Adrian Brown</a:t>
            </a:r>
          </a:p>
          <a:p>
            <a:pPr algn="r">
              <a:buFont typeface="Arial"/>
              <a:buChar char="•"/>
            </a:pPr>
            <a:endParaRPr lang="en-GB" sz="2200" dirty="0" smtClean="0"/>
          </a:p>
          <a:p>
            <a:pPr algn="r"/>
            <a:r>
              <a:rPr lang="en-GB" sz="2200" dirty="0" smtClean="0"/>
              <a:t> </a:t>
            </a:r>
          </a:p>
        </p:txBody>
      </p:sp>
      <p:pic>
        <p:nvPicPr>
          <p:cNvPr id="17" name="Picture 16"/>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5410200" y="5778500"/>
            <a:ext cx="1498600" cy="927100"/>
          </a:xfrm>
          <a:prstGeom prst="rect">
            <a:avLst/>
          </a:prstGeom>
        </p:spPr>
      </p:pic>
      <p:pic>
        <p:nvPicPr>
          <p:cNvPr id="18" name="Picture 17"/>
          <p:cNvPicPr>
            <a:picLocks noChangeAspect="1"/>
          </p:cNvPicPr>
          <p:nvPr/>
        </p:nvPicPr>
        <mc:AlternateContent>
          <mc:Choice xmlns:ma="http://schemas.microsoft.com/office/mac/drawingml/2008/main" Requires="ma">
            <p:blipFill>
              <a:blip r:embed="rId5"/>
              <a:stretch>
                <a:fillRect/>
              </a:stretch>
            </p:blipFill>
          </mc:Choice>
          <mc:Fallback>
            <p:blipFill>
              <a:blip r:embed="rId6"/>
              <a:stretch>
                <a:fillRect/>
              </a:stretch>
            </p:blipFill>
          </mc:Fallback>
        </mc:AlternateContent>
        <p:spPr>
          <a:xfrm>
            <a:off x="5486400" y="4330700"/>
            <a:ext cx="1206500" cy="1193800"/>
          </a:xfrm>
          <a:prstGeom prst="rect">
            <a:avLst/>
          </a:prstGeom>
        </p:spPr>
      </p:pic>
      <p:pic>
        <p:nvPicPr>
          <p:cNvPr id="9" name="Picture 8"/>
          <p:cNvPicPr>
            <a:picLocks noChangeAspect="1"/>
          </p:cNvPicPr>
          <p:nvPr/>
        </p:nvPicPr>
        <mc:AlternateContent>
          <mc:Choice xmlns:ma="http://schemas.microsoft.com/office/mac/drawingml/2008/main" Requires="ma">
            <p:blipFill>
              <a:blip r:embed="rId7"/>
              <a:stretch>
                <a:fillRect/>
              </a:stretch>
            </p:blipFill>
          </mc:Choice>
          <mc:Fallback>
            <p:blipFill>
              <a:blip r:embed="rId8"/>
              <a:stretch>
                <a:fillRect/>
              </a:stretch>
            </p:blipFill>
          </mc:Fallback>
        </mc:AlternateContent>
        <p:spPr>
          <a:xfrm>
            <a:off x="4724400" y="2654300"/>
            <a:ext cx="2552700" cy="1701800"/>
          </a:xfrm>
          <a:prstGeom prst="rect">
            <a:avLst/>
          </a:prstGeom>
        </p:spPr>
      </p:pic>
      <p:pic>
        <p:nvPicPr>
          <p:cNvPr id="16" name="Picture 15"/>
          <p:cNvPicPr>
            <a:picLocks noChangeAspect="1"/>
          </p:cNvPicPr>
          <p:nvPr/>
        </p:nvPicPr>
        <mc:AlternateContent>
          <mc:Choice xmlns:ma="http://schemas.microsoft.com/office/mac/drawingml/2008/main" Requires="ma">
            <p:blipFill>
              <a:blip r:embed="rId9"/>
              <a:stretch>
                <a:fillRect/>
              </a:stretch>
            </p:blipFill>
          </mc:Choice>
          <mc:Fallback>
            <p:blipFill>
              <a:blip r:embed="rId10"/>
              <a:stretch>
                <a:fillRect/>
              </a:stretch>
            </p:blipFill>
          </mc:Fallback>
        </mc:AlternateContent>
        <p:spPr>
          <a:xfrm>
            <a:off x="3276600" y="1295400"/>
            <a:ext cx="2907518" cy="160020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TextBox 6"/>
          <p:cNvSpPr txBox="1"/>
          <p:nvPr/>
        </p:nvSpPr>
        <p:spPr>
          <a:xfrm>
            <a:off x="1524000" y="3276600"/>
            <a:ext cx="6172200" cy="738664"/>
          </a:xfrm>
          <a:prstGeom prst="rect">
            <a:avLst/>
          </a:prstGeom>
          <a:noFill/>
        </p:spPr>
        <p:txBody>
          <a:bodyPr wrap="square" rtlCol="0">
            <a:spAutoFit/>
          </a:bodyPr>
          <a:lstStyle/>
          <a:p>
            <a:pPr algn="ctr"/>
            <a:r>
              <a:rPr lang="en-GB" sz="4200" b="1" dirty="0" smtClean="0">
                <a:latin typeface="+mj-lt"/>
                <a:cs typeface="Apple Symbols"/>
              </a:rPr>
              <a:t>Appendix Slides</a:t>
            </a:r>
            <a:endParaRPr lang="en-GB" sz="4200" b="1" dirty="0">
              <a:latin typeface="+mj-lt"/>
              <a:cs typeface="Apple Symbols"/>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7" name="Rounded Rectangle 36"/>
          <p:cNvSpPr/>
          <p:nvPr/>
        </p:nvSpPr>
        <p:spPr>
          <a:xfrm>
            <a:off x="1524000" y="4038600"/>
            <a:ext cx="2438400" cy="14478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tIns="0" anchor="t"/>
          <a:lstStyle/>
          <a:p>
            <a:pPr algn="ctr"/>
            <a:r>
              <a:rPr lang="en-GB" dirty="0" smtClean="0">
                <a:solidFill>
                  <a:srgbClr val="000000"/>
                </a:solidFill>
              </a:rPr>
              <a:t>Ingest</a:t>
            </a:r>
            <a:endParaRPr lang="en-GB" dirty="0">
              <a:solidFill>
                <a:srgbClr val="000000"/>
              </a:solidFill>
            </a:endParaRPr>
          </a:p>
        </p:txBody>
      </p:sp>
      <p:sp>
        <p:nvSpPr>
          <p:cNvPr id="36" name="Rounded Rectangle 35"/>
          <p:cNvSpPr/>
          <p:nvPr/>
        </p:nvSpPr>
        <p:spPr>
          <a:xfrm>
            <a:off x="1447800" y="1752600"/>
            <a:ext cx="2438400" cy="14478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tIns="0" anchor="t"/>
          <a:lstStyle/>
          <a:p>
            <a:pPr algn="ctr"/>
            <a:r>
              <a:rPr lang="en-GB" dirty="0" smtClean="0">
                <a:solidFill>
                  <a:srgbClr val="000000"/>
                </a:solidFill>
              </a:rPr>
              <a:t>Store</a:t>
            </a:r>
            <a:endParaRPr lang="en-GB" dirty="0">
              <a:solidFill>
                <a:srgbClr val="000000"/>
              </a:solidFill>
            </a:endParaRPr>
          </a:p>
        </p:txBody>
      </p:sp>
      <p:sp>
        <p:nvSpPr>
          <p:cNvPr id="35" name="Rounded Rectangle 34"/>
          <p:cNvSpPr/>
          <p:nvPr/>
        </p:nvSpPr>
        <p:spPr>
          <a:xfrm>
            <a:off x="5562600" y="1905000"/>
            <a:ext cx="2438400" cy="990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tIns="0" anchor="t"/>
          <a:lstStyle/>
          <a:p>
            <a:pPr algn="ctr"/>
            <a:r>
              <a:rPr lang="en-GB" dirty="0" smtClean="0">
                <a:solidFill>
                  <a:srgbClr val="000000"/>
                </a:solidFill>
              </a:rPr>
              <a:t>Retrieve</a:t>
            </a:r>
            <a:endParaRPr lang="en-GB" dirty="0">
              <a:solidFill>
                <a:srgbClr val="000000"/>
              </a:solidFill>
            </a:endParaRPr>
          </a:p>
        </p:txBody>
      </p:sp>
      <p:sp>
        <p:nvSpPr>
          <p:cNvPr id="5" name="TextBox 4"/>
          <p:cNvSpPr txBox="1"/>
          <p:nvPr/>
        </p:nvSpPr>
        <p:spPr>
          <a:xfrm>
            <a:off x="-152400" y="76200"/>
            <a:ext cx="9144000" cy="600164"/>
          </a:xfrm>
          <a:prstGeom prst="rect">
            <a:avLst/>
          </a:prstGeom>
          <a:noFill/>
        </p:spPr>
        <p:txBody>
          <a:bodyPr wrap="square" rtlCol="0">
            <a:spAutoFit/>
          </a:bodyPr>
          <a:lstStyle/>
          <a:p>
            <a:pPr algn="ctr"/>
            <a:r>
              <a:rPr lang="en-GB" sz="3300" b="1" dirty="0" smtClean="0">
                <a:solidFill>
                  <a:schemeClr val="bg1"/>
                </a:solidFill>
                <a:latin typeface="+mj-lt"/>
                <a:cs typeface="Apple Symbols"/>
              </a:rPr>
              <a:t>Other options for DROID Positioning</a:t>
            </a:r>
            <a:endParaRPr lang="en-GB" sz="3300" b="1" dirty="0">
              <a:solidFill>
                <a:schemeClr val="bg1"/>
              </a:solidFill>
              <a:latin typeface="+mj-lt"/>
              <a:cs typeface="Apple Symbols"/>
            </a:endParaRPr>
          </a:p>
        </p:txBody>
      </p:sp>
      <p:sp>
        <p:nvSpPr>
          <p:cNvPr id="22" name="Cloud 21"/>
          <p:cNvSpPr/>
          <p:nvPr/>
        </p:nvSpPr>
        <p:spPr>
          <a:xfrm>
            <a:off x="381000" y="1143000"/>
            <a:ext cx="8382000" cy="5715000"/>
          </a:xfrm>
          <a:prstGeom prst="cloud">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 name="Rounded Rectangle 22"/>
          <p:cNvSpPr/>
          <p:nvPr/>
        </p:nvSpPr>
        <p:spPr>
          <a:xfrm>
            <a:off x="1600200" y="22098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Preservation Storage</a:t>
            </a:r>
            <a:endParaRPr lang="en-GB" sz="1400" dirty="0">
              <a:solidFill>
                <a:srgbClr val="000000"/>
              </a:solidFill>
            </a:endParaRPr>
          </a:p>
        </p:txBody>
      </p:sp>
      <p:sp>
        <p:nvSpPr>
          <p:cNvPr id="24" name="Rounded Rectangle 23"/>
          <p:cNvSpPr/>
          <p:nvPr/>
        </p:nvSpPr>
        <p:spPr>
          <a:xfrm>
            <a:off x="1600200" y="26670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Local Storage</a:t>
            </a:r>
            <a:endParaRPr lang="en-GB" sz="1400" dirty="0">
              <a:solidFill>
                <a:srgbClr val="000000"/>
              </a:solidFill>
            </a:endParaRPr>
          </a:p>
        </p:txBody>
      </p:sp>
      <p:sp>
        <p:nvSpPr>
          <p:cNvPr id="25" name="Rounded Rectangle 24"/>
          <p:cNvSpPr/>
          <p:nvPr/>
        </p:nvSpPr>
        <p:spPr>
          <a:xfrm>
            <a:off x="5715000" y="23622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OAI-PMH</a:t>
            </a:r>
            <a:endParaRPr lang="en-GB" sz="1400" dirty="0">
              <a:solidFill>
                <a:srgbClr val="000000"/>
              </a:solidFill>
            </a:endParaRPr>
          </a:p>
        </p:txBody>
      </p:sp>
      <p:sp>
        <p:nvSpPr>
          <p:cNvPr id="30" name="Rounded Rectangle 29"/>
          <p:cNvSpPr/>
          <p:nvPr/>
        </p:nvSpPr>
        <p:spPr>
          <a:xfrm>
            <a:off x="1676400" y="44958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Web Based </a:t>
            </a:r>
            <a:r>
              <a:rPr lang="en-GB" sz="1400" dirty="0" err="1" smtClean="0">
                <a:solidFill>
                  <a:srgbClr val="000000"/>
                </a:solidFill>
              </a:rPr>
              <a:t>x</a:t>
            </a:r>
            <a:r>
              <a:rPr lang="en-GB" sz="1400" dirty="0" smtClean="0">
                <a:solidFill>
                  <a:srgbClr val="000000"/>
                </a:solidFill>
              </a:rPr>
              <a:t> 3</a:t>
            </a:r>
            <a:endParaRPr lang="en-GB" sz="1400" dirty="0">
              <a:solidFill>
                <a:srgbClr val="000000"/>
              </a:solidFill>
            </a:endParaRPr>
          </a:p>
        </p:txBody>
      </p:sp>
      <p:sp>
        <p:nvSpPr>
          <p:cNvPr id="31" name="Rounded Rectangle 30"/>
          <p:cNvSpPr/>
          <p:nvPr/>
        </p:nvSpPr>
        <p:spPr>
          <a:xfrm>
            <a:off x="1676400" y="49530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DROID Classification</a:t>
            </a:r>
            <a:endParaRPr lang="en-GB" sz="1400" dirty="0">
              <a:solidFill>
                <a:srgbClr val="000000"/>
              </a:solidFill>
            </a:endParaRPr>
          </a:p>
        </p:txBody>
      </p:sp>
      <p:sp>
        <p:nvSpPr>
          <p:cNvPr id="45" name="Quad Arrow Callout 44"/>
          <p:cNvSpPr/>
          <p:nvPr/>
        </p:nvSpPr>
        <p:spPr>
          <a:xfrm rot="2648906">
            <a:off x="3637543" y="2590800"/>
            <a:ext cx="2303780" cy="2189480"/>
          </a:xfrm>
          <a:prstGeom prst="quadArrowCallout">
            <a:avLst>
              <a:gd name="adj1" fmla="val 11692"/>
              <a:gd name="adj2" fmla="val 18515"/>
              <a:gd name="adj3" fmla="val 18515"/>
              <a:gd name="adj4" fmla="val 44913"/>
            </a:avLst>
          </a:prstGeom>
          <a:solidFill>
            <a:srgbClr val="0000FF">
              <a:alpha val="49000"/>
            </a:srgbClr>
          </a:solidFill>
          <a:ln w="34925"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46" name="TextBox 45"/>
          <p:cNvSpPr txBox="1"/>
          <p:nvPr/>
        </p:nvSpPr>
        <p:spPr>
          <a:xfrm>
            <a:off x="4191000" y="3429000"/>
            <a:ext cx="1524000" cy="430887"/>
          </a:xfrm>
          <a:prstGeom prst="rect">
            <a:avLst/>
          </a:prstGeom>
          <a:noFill/>
        </p:spPr>
        <p:txBody>
          <a:bodyPr wrap="square" rtlCol="0">
            <a:spAutoFit/>
          </a:bodyPr>
          <a:lstStyle/>
          <a:p>
            <a:r>
              <a:rPr lang="en-GB" sz="2200" dirty="0" smtClean="0"/>
              <a:t>Manager</a:t>
            </a:r>
            <a:endParaRPr lang="en-GB" sz="2200" dirty="0"/>
          </a:p>
        </p:txBody>
      </p:sp>
      <p:sp>
        <p:nvSpPr>
          <p:cNvPr id="39" name="Rounded Rectangle 38"/>
          <p:cNvSpPr/>
          <p:nvPr/>
        </p:nvSpPr>
        <p:spPr>
          <a:xfrm>
            <a:off x="5715000" y="4267200"/>
            <a:ext cx="2438400" cy="990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tIns="0" anchor="t"/>
          <a:lstStyle/>
          <a:p>
            <a:pPr algn="ctr"/>
            <a:r>
              <a:rPr lang="en-GB" dirty="0" smtClean="0">
                <a:solidFill>
                  <a:srgbClr val="000000"/>
                </a:solidFill>
              </a:rPr>
              <a:t>Preserve - Analyse</a:t>
            </a:r>
            <a:endParaRPr lang="en-GB" dirty="0">
              <a:solidFill>
                <a:srgbClr val="000000"/>
              </a:solidFill>
            </a:endParaRPr>
          </a:p>
        </p:txBody>
      </p:sp>
      <p:sp>
        <p:nvSpPr>
          <p:cNvPr id="40" name="Rounded Rectangle 39"/>
          <p:cNvSpPr/>
          <p:nvPr/>
        </p:nvSpPr>
        <p:spPr>
          <a:xfrm>
            <a:off x="5867400" y="47244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DROID</a:t>
            </a:r>
            <a:endParaRPr lang="en-GB" sz="1400" dirty="0">
              <a:solidFill>
                <a:srgbClr val="000000"/>
              </a:solidFill>
            </a:endParaRPr>
          </a:p>
        </p:txBody>
      </p:sp>
      <p:sp>
        <p:nvSpPr>
          <p:cNvPr id="49" name="TextBox 48"/>
          <p:cNvSpPr txBox="1"/>
          <p:nvPr/>
        </p:nvSpPr>
        <p:spPr>
          <a:xfrm>
            <a:off x="0" y="5791200"/>
            <a:ext cx="9144000" cy="1107996"/>
          </a:xfrm>
          <a:prstGeom prst="rect">
            <a:avLst/>
          </a:prstGeom>
          <a:solidFill>
            <a:schemeClr val="bg1">
              <a:lumMod val="95000"/>
            </a:schemeClr>
          </a:solidFill>
        </p:spPr>
        <p:txBody>
          <a:bodyPr wrap="square" rtlCol="0">
            <a:spAutoFit/>
          </a:bodyPr>
          <a:lstStyle/>
          <a:p>
            <a:pPr algn="ctr"/>
            <a:r>
              <a:rPr lang="en-GB" sz="2200" b="1" dirty="0" smtClean="0"/>
              <a:t>This is not the recommended solution as DROID is a 3</a:t>
            </a:r>
            <a:r>
              <a:rPr lang="en-GB" sz="2200" b="1" baseline="30000" dirty="0" smtClean="0"/>
              <a:t>rd</a:t>
            </a:r>
            <a:r>
              <a:rPr lang="en-GB" sz="2200" b="1" dirty="0" smtClean="0"/>
              <a:t> party service for your repository.</a:t>
            </a:r>
          </a:p>
          <a:p>
            <a:pPr algn="ctr"/>
            <a:r>
              <a:rPr lang="en-GB" sz="2200" b="1" dirty="0" smtClean="0"/>
              <a:t>All other services are provided by your repository.</a:t>
            </a:r>
            <a:endParaRPr lang="en-GB" sz="2200" b="1" dirty="0"/>
          </a:p>
        </p:txBody>
      </p:sp>
      <p:cxnSp>
        <p:nvCxnSpPr>
          <p:cNvPr id="50" name="Straight Connector 49"/>
          <p:cNvCxnSpPr>
            <a:endCxn id="40" idx="1"/>
          </p:cNvCxnSpPr>
          <p:nvPr/>
        </p:nvCxnSpPr>
        <p:spPr>
          <a:xfrm flipV="1">
            <a:off x="3810000" y="4914900"/>
            <a:ext cx="2057400" cy="190500"/>
          </a:xfrm>
          <a:prstGeom prst="line">
            <a:avLst/>
          </a:prstGeom>
          <a:ln w="60325" cap="flat" cmpd="sng" algn="ctr">
            <a:solidFill>
              <a:srgbClr val="000000"/>
            </a:solidFill>
            <a:prstDash val="solid"/>
            <a:round/>
            <a:headEnd type="triangle" w="lg" len="med"/>
            <a:tailEnd type="triangle" w="lg" len="med"/>
          </a:ln>
        </p:spPr>
        <p:style>
          <a:lnRef idx="2">
            <a:schemeClr val="accent1"/>
          </a:lnRef>
          <a:fillRef idx="0">
            <a:schemeClr val="accent1"/>
          </a:fillRef>
          <a:effectRef idx="1">
            <a:schemeClr val="accent1"/>
          </a:effectRef>
          <a:fontRef idx="minor">
            <a:schemeClr val="tx1"/>
          </a:fontRef>
        </p:style>
      </p:cxnSp>
      <p:cxnSp>
        <p:nvCxnSpPr>
          <p:cNvPr id="56" name="Straight Connector 55"/>
          <p:cNvCxnSpPr/>
          <p:nvPr/>
        </p:nvCxnSpPr>
        <p:spPr>
          <a:xfrm rot="5400000">
            <a:off x="5943600" y="3733800"/>
            <a:ext cx="1981200" cy="1588"/>
          </a:xfrm>
          <a:prstGeom prst="line">
            <a:avLst/>
          </a:prstGeom>
          <a:ln w="60325" cap="flat" cmpd="sng" algn="ctr">
            <a:solidFill>
              <a:srgbClr val="000000"/>
            </a:solidFill>
            <a:prstDash val="solid"/>
            <a:round/>
            <a:headEnd type="triangle" w="lg" len="med"/>
            <a:tailEnd type="triangle" w="lg" len="med"/>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9" grpId="0" animBg="1"/>
    </p:bld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9" name="Rounded Rectangle 48"/>
          <p:cNvSpPr/>
          <p:nvPr/>
        </p:nvSpPr>
        <p:spPr>
          <a:xfrm>
            <a:off x="1371600" y="1981200"/>
            <a:ext cx="4343400" cy="1752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tIns="0" anchor="t"/>
          <a:lstStyle/>
          <a:p>
            <a:pPr algn="ctr"/>
            <a:r>
              <a:rPr lang="en-GB" b="1" dirty="0" smtClean="0">
                <a:solidFill>
                  <a:srgbClr val="000000"/>
                </a:solidFill>
              </a:rPr>
              <a:t>Store</a:t>
            </a:r>
            <a:endParaRPr lang="en-GB" b="1" dirty="0">
              <a:solidFill>
                <a:srgbClr val="000000"/>
              </a:solidFill>
            </a:endParaRPr>
          </a:p>
        </p:txBody>
      </p:sp>
      <p:sp>
        <p:nvSpPr>
          <p:cNvPr id="52" name="Rounded Rectangle 51"/>
          <p:cNvSpPr/>
          <p:nvPr/>
        </p:nvSpPr>
        <p:spPr>
          <a:xfrm>
            <a:off x="1524000" y="2438400"/>
            <a:ext cx="4091609" cy="1219200"/>
          </a:xfrm>
          <a:prstGeom prst="roundRect">
            <a:avLst/>
          </a:prstGeom>
          <a:ln w="47625" cap="flat" cmpd="sng" algn="ctr">
            <a:solidFill>
              <a:schemeClr val="tx1"/>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tIns="0" rIns="108000"/>
          <a:lstStyle/>
          <a:p>
            <a:pPr algn="ctr"/>
            <a:r>
              <a:rPr lang="en-GB" b="1" dirty="0" smtClean="0">
                <a:solidFill>
                  <a:srgbClr val="000000"/>
                </a:solidFill>
              </a:rPr>
              <a:t>Smart Storage</a:t>
            </a:r>
            <a:endParaRPr lang="en-GB" b="1" dirty="0">
              <a:solidFill>
                <a:srgbClr val="000000"/>
              </a:solidFill>
            </a:endParaRPr>
          </a:p>
        </p:txBody>
      </p:sp>
      <p:sp>
        <p:nvSpPr>
          <p:cNvPr id="11" name="Cloud 10"/>
          <p:cNvSpPr/>
          <p:nvPr/>
        </p:nvSpPr>
        <p:spPr>
          <a:xfrm>
            <a:off x="1524000" y="1295400"/>
            <a:ext cx="7620000" cy="5257800"/>
          </a:xfrm>
          <a:prstGeom prst="cloud">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Rounded Rectangle 14"/>
          <p:cNvSpPr/>
          <p:nvPr/>
        </p:nvSpPr>
        <p:spPr>
          <a:xfrm>
            <a:off x="3429000" y="3200400"/>
            <a:ext cx="2077279" cy="381000"/>
          </a:xfrm>
          <a:prstGeom prst="roundRect">
            <a:avLst/>
          </a:prstGeom>
          <a:solidFill>
            <a:srgbClr val="0000FF">
              <a:alpha val="49000"/>
            </a:srgb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OAI-PMH Translator</a:t>
            </a:r>
            <a:endParaRPr lang="en-GB" sz="1400" dirty="0">
              <a:solidFill>
                <a:srgbClr val="000000"/>
              </a:solidFill>
            </a:endParaRPr>
          </a:p>
        </p:txBody>
      </p:sp>
      <p:sp>
        <p:nvSpPr>
          <p:cNvPr id="8" name="Rounded Rectangle 7"/>
          <p:cNvSpPr/>
          <p:nvPr/>
        </p:nvSpPr>
        <p:spPr>
          <a:xfrm>
            <a:off x="1676400" y="3200400"/>
            <a:ext cx="1762539" cy="381000"/>
          </a:xfrm>
          <a:prstGeom prst="roundRect">
            <a:avLst/>
          </a:prstGeom>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DROID</a:t>
            </a:r>
            <a:endParaRPr lang="en-GB" dirty="0">
              <a:solidFill>
                <a:srgbClr val="000000"/>
              </a:solidFill>
            </a:endParaRPr>
          </a:p>
        </p:txBody>
      </p:sp>
      <p:sp>
        <p:nvSpPr>
          <p:cNvPr id="39" name="Document 38"/>
          <p:cNvSpPr/>
          <p:nvPr/>
        </p:nvSpPr>
        <p:spPr>
          <a:xfrm>
            <a:off x="304800" y="4114800"/>
            <a:ext cx="1219200" cy="665480"/>
          </a:xfrm>
          <a:prstGeom prst="flowChartDocument">
            <a:avLst/>
          </a:prstGeom>
          <a:noFill/>
          <a:ln w="254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Classification</a:t>
            </a:r>
          </a:p>
          <a:p>
            <a:pPr algn="ctr"/>
            <a:r>
              <a:rPr lang="en-GB" sz="1400" dirty="0" smtClean="0">
                <a:solidFill>
                  <a:srgbClr val="000000"/>
                </a:solidFill>
              </a:rPr>
              <a:t>File</a:t>
            </a:r>
            <a:endParaRPr lang="en-GB" sz="1400" dirty="0">
              <a:solidFill>
                <a:srgbClr val="000000"/>
              </a:solidFill>
            </a:endParaRPr>
          </a:p>
        </p:txBody>
      </p:sp>
      <p:cxnSp>
        <p:nvCxnSpPr>
          <p:cNvPr id="41" name="Straight Connector 40"/>
          <p:cNvCxnSpPr/>
          <p:nvPr/>
        </p:nvCxnSpPr>
        <p:spPr>
          <a:xfrm rot="10800000" flipV="1">
            <a:off x="1447800" y="3657600"/>
            <a:ext cx="838200" cy="609600"/>
          </a:xfrm>
          <a:prstGeom prst="line">
            <a:avLst/>
          </a:prstGeom>
          <a:ln w="6032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90600" y="5791200"/>
            <a:ext cx="1600200" cy="914400"/>
          </a:xfrm>
          <a:prstGeom prst="roundRect">
            <a:avLst/>
          </a:prstGeom>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Web Server</a:t>
            </a:r>
            <a:endParaRPr lang="en-GB" dirty="0">
              <a:solidFill>
                <a:srgbClr val="000000"/>
              </a:solidFill>
            </a:endParaRPr>
          </a:p>
        </p:txBody>
      </p:sp>
      <p:cxnSp>
        <p:nvCxnSpPr>
          <p:cNvPr id="45" name="Straight Connector 44"/>
          <p:cNvCxnSpPr/>
          <p:nvPr/>
        </p:nvCxnSpPr>
        <p:spPr>
          <a:xfrm rot="16200000" flipH="1">
            <a:off x="609600" y="5791200"/>
            <a:ext cx="533400" cy="228600"/>
          </a:xfrm>
          <a:prstGeom prst="line">
            <a:avLst/>
          </a:prstGeom>
          <a:ln w="6032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152400" y="5257800"/>
            <a:ext cx="1485900" cy="381000"/>
          </a:xfrm>
          <a:prstGeom prst="roundRect">
            <a:avLst/>
          </a:prstGeom>
          <a:solidFill>
            <a:srgbClr val="0000FF">
              <a:alpha val="49000"/>
            </a:srgb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Web Pipe</a:t>
            </a:r>
            <a:endParaRPr lang="en-GB" sz="1400" dirty="0">
              <a:solidFill>
                <a:srgbClr val="000000"/>
              </a:solidFill>
            </a:endParaRPr>
          </a:p>
        </p:txBody>
      </p:sp>
      <p:sp>
        <p:nvSpPr>
          <p:cNvPr id="70" name="Rounded Rectangle 69"/>
          <p:cNvSpPr/>
          <p:nvPr/>
        </p:nvSpPr>
        <p:spPr>
          <a:xfrm>
            <a:off x="228600" y="3124200"/>
            <a:ext cx="1066800" cy="381000"/>
          </a:xfrm>
          <a:prstGeom prst="roundRect">
            <a:avLst/>
          </a:prstGeom>
          <a:solidFill>
            <a:srgbClr val="0000FF">
              <a:alpha val="49000"/>
            </a:srgb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Scheduler</a:t>
            </a:r>
            <a:endParaRPr lang="en-GB" sz="1400" dirty="0">
              <a:solidFill>
                <a:srgbClr val="000000"/>
              </a:solidFill>
            </a:endParaRPr>
          </a:p>
        </p:txBody>
      </p:sp>
      <p:cxnSp>
        <p:nvCxnSpPr>
          <p:cNvPr id="71" name="Straight Connector 70"/>
          <p:cNvCxnSpPr>
            <a:stCxn id="70" idx="3"/>
          </p:cNvCxnSpPr>
          <p:nvPr/>
        </p:nvCxnSpPr>
        <p:spPr>
          <a:xfrm>
            <a:off x="1295400" y="3314700"/>
            <a:ext cx="381000" cy="114300"/>
          </a:xfrm>
          <a:prstGeom prst="line">
            <a:avLst/>
          </a:prstGeom>
          <a:ln w="60325" cap="flat" cmpd="sng" algn="ctr">
            <a:solidFill>
              <a:srgbClr val="000000"/>
            </a:solidFill>
            <a:prstDash val="solid"/>
            <a:round/>
            <a:headEnd type="triangle" w="lg" len="med"/>
            <a:tailEnd type="triangle" w="lg" len="med"/>
          </a:ln>
        </p:spPr>
        <p:style>
          <a:lnRef idx="2">
            <a:schemeClr val="accent1"/>
          </a:lnRef>
          <a:fillRef idx="0">
            <a:schemeClr val="accent1"/>
          </a:fillRef>
          <a:effectRef idx="1">
            <a:schemeClr val="accent1"/>
          </a:effectRef>
          <a:fontRef idx="minor">
            <a:schemeClr val="tx1"/>
          </a:fontRef>
        </p:style>
      </p:cxnSp>
      <p:sp>
        <p:nvSpPr>
          <p:cNvPr id="73" name="Rounded Rectangle 72"/>
          <p:cNvSpPr/>
          <p:nvPr/>
        </p:nvSpPr>
        <p:spPr>
          <a:xfrm>
            <a:off x="228600" y="1143000"/>
            <a:ext cx="1600200" cy="762000"/>
          </a:xfrm>
          <a:prstGeom prst="roundRect">
            <a:avLst/>
          </a:prstGeom>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Calendar Server</a:t>
            </a:r>
            <a:endParaRPr lang="en-GB" dirty="0">
              <a:solidFill>
                <a:srgbClr val="000000"/>
              </a:solidFill>
            </a:endParaRPr>
          </a:p>
        </p:txBody>
      </p:sp>
      <p:cxnSp>
        <p:nvCxnSpPr>
          <p:cNvPr id="74" name="Straight Connector 73"/>
          <p:cNvCxnSpPr/>
          <p:nvPr/>
        </p:nvCxnSpPr>
        <p:spPr>
          <a:xfrm rot="10800000">
            <a:off x="-457200" y="1066800"/>
            <a:ext cx="685800" cy="457200"/>
          </a:xfrm>
          <a:prstGeom prst="line">
            <a:avLst/>
          </a:prstGeom>
          <a:ln w="60325" cap="flat" cmpd="sng" algn="ctr">
            <a:solidFill>
              <a:srgbClr val="000000"/>
            </a:solidFill>
            <a:prstDash val="solid"/>
            <a:round/>
            <a:headEnd type="triangle" w="lg" len="med"/>
            <a:tailEnd type="triangle" w="lg" len="med"/>
          </a:ln>
        </p:spPr>
        <p:style>
          <a:lnRef idx="2">
            <a:schemeClr val="accent1"/>
          </a:lnRef>
          <a:fillRef idx="0">
            <a:schemeClr val="accent1"/>
          </a:fillRef>
          <a:effectRef idx="1">
            <a:schemeClr val="accent1"/>
          </a:effectRef>
          <a:fontRef idx="minor">
            <a:schemeClr val="tx1"/>
          </a:fontRef>
        </p:style>
      </p:cxnSp>
      <p:sp>
        <p:nvSpPr>
          <p:cNvPr id="76" name="Quad Arrow Callout 75"/>
          <p:cNvSpPr/>
          <p:nvPr/>
        </p:nvSpPr>
        <p:spPr>
          <a:xfrm rot="2648906">
            <a:off x="4679659" y="3488587"/>
            <a:ext cx="1459014" cy="1557225"/>
          </a:xfrm>
          <a:prstGeom prst="quadArrowCallout">
            <a:avLst>
              <a:gd name="adj1" fmla="val 11692"/>
              <a:gd name="adj2" fmla="val 18515"/>
              <a:gd name="adj3" fmla="val 18515"/>
              <a:gd name="adj4" fmla="val 44913"/>
            </a:avLst>
          </a:prstGeom>
          <a:solidFill>
            <a:srgbClr val="0000FF">
              <a:alpha val="49000"/>
            </a:srgbClr>
          </a:solidFill>
          <a:ln w="34925"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endParaRPr lang="en-GB" dirty="0"/>
          </a:p>
        </p:txBody>
      </p:sp>
      <p:cxnSp>
        <p:nvCxnSpPr>
          <p:cNvPr id="78" name="Straight Connector 77"/>
          <p:cNvCxnSpPr/>
          <p:nvPr/>
        </p:nvCxnSpPr>
        <p:spPr>
          <a:xfrm rot="5400000" flipH="1" flipV="1">
            <a:off x="228600" y="2438400"/>
            <a:ext cx="1143000" cy="76200"/>
          </a:xfrm>
          <a:prstGeom prst="line">
            <a:avLst/>
          </a:prstGeom>
          <a:ln w="60325" cap="flat" cmpd="sng" algn="ctr">
            <a:solidFill>
              <a:srgbClr val="000000"/>
            </a:solidFill>
            <a:prstDash val="solid"/>
            <a:round/>
            <a:headEnd type="triangle" w="lg" len="med"/>
            <a:tailEnd type="triangle" w="lg" len="med"/>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rot="5400000">
            <a:off x="609997" y="4952603"/>
            <a:ext cx="457200" cy="794"/>
          </a:xfrm>
          <a:prstGeom prst="line">
            <a:avLst/>
          </a:prstGeom>
          <a:ln w="6032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1676400" y="2819400"/>
            <a:ext cx="3839817" cy="3810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r>
              <a:rPr lang="en-GB" dirty="0" smtClean="0">
                <a:solidFill>
                  <a:srgbClr val="000000"/>
                </a:solidFill>
              </a:rPr>
              <a:t>Preservation - Check</a:t>
            </a:r>
            <a:endParaRPr lang="en-GB" dirty="0">
              <a:solidFill>
                <a:srgbClr val="000000"/>
              </a:solidFill>
            </a:endParaRPr>
          </a:p>
        </p:txBody>
      </p:sp>
      <p:sp>
        <p:nvSpPr>
          <p:cNvPr id="56" name="Rounded Rectangle 55"/>
          <p:cNvSpPr/>
          <p:nvPr/>
        </p:nvSpPr>
        <p:spPr>
          <a:xfrm>
            <a:off x="2743200" y="4724400"/>
            <a:ext cx="2438400" cy="14478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tIns="0" anchor="t"/>
          <a:lstStyle/>
          <a:p>
            <a:pPr algn="ctr"/>
            <a:r>
              <a:rPr lang="en-GB" dirty="0" smtClean="0">
                <a:solidFill>
                  <a:srgbClr val="000000"/>
                </a:solidFill>
              </a:rPr>
              <a:t>Ingest</a:t>
            </a:r>
            <a:endParaRPr lang="en-GB" dirty="0">
              <a:solidFill>
                <a:srgbClr val="000000"/>
              </a:solidFill>
            </a:endParaRPr>
          </a:p>
        </p:txBody>
      </p:sp>
      <p:sp>
        <p:nvSpPr>
          <p:cNvPr id="58" name="Rounded Rectangle 57"/>
          <p:cNvSpPr/>
          <p:nvPr/>
        </p:nvSpPr>
        <p:spPr>
          <a:xfrm>
            <a:off x="6400800" y="2286000"/>
            <a:ext cx="2438400" cy="990600"/>
          </a:xfrm>
          <a:prstGeom prst="roundRect">
            <a:avLst/>
          </a:prstGeom>
          <a:solidFill>
            <a:srgbClr val="FF0000"/>
          </a:solidFill>
          <a:ln w="50800" cap="flat" cmpd="sng" algn="ctr">
            <a:solidFill>
              <a:srgbClr val="00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tIns="0" anchor="t"/>
          <a:lstStyle/>
          <a:p>
            <a:pPr algn="ctr"/>
            <a:r>
              <a:rPr lang="en-GB" dirty="0" smtClean="0">
                <a:solidFill>
                  <a:srgbClr val="000000"/>
                </a:solidFill>
              </a:rPr>
              <a:t>Retrieve</a:t>
            </a:r>
            <a:endParaRPr lang="en-GB" dirty="0">
              <a:solidFill>
                <a:srgbClr val="000000"/>
              </a:solidFill>
            </a:endParaRPr>
          </a:p>
        </p:txBody>
      </p:sp>
      <p:sp>
        <p:nvSpPr>
          <p:cNvPr id="59" name="Rounded Rectangle 58"/>
          <p:cNvSpPr/>
          <p:nvPr/>
        </p:nvSpPr>
        <p:spPr>
          <a:xfrm>
            <a:off x="6553200" y="27432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OAI-PMH</a:t>
            </a:r>
            <a:endParaRPr lang="en-GB" sz="1400" dirty="0">
              <a:solidFill>
                <a:srgbClr val="000000"/>
              </a:solidFill>
            </a:endParaRPr>
          </a:p>
        </p:txBody>
      </p:sp>
      <p:sp>
        <p:nvSpPr>
          <p:cNvPr id="60" name="Rounded Rectangle 59"/>
          <p:cNvSpPr/>
          <p:nvPr/>
        </p:nvSpPr>
        <p:spPr>
          <a:xfrm>
            <a:off x="2895600" y="51816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Web Based </a:t>
            </a:r>
            <a:r>
              <a:rPr lang="en-GB" sz="1400" dirty="0" err="1" smtClean="0">
                <a:solidFill>
                  <a:srgbClr val="000000"/>
                </a:solidFill>
              </a:rPr>
              <a:t>x</a:t>
            </a:r>
            <a:r>
              <a:rPr lang="en-GB" sz="1400" dirty="0" smtClean="0">
                <a:solidFill>
                  <a:srgbClr val="000000"/>
                </a:solidFill>
              </a:rPr>
              <a:t> 3</a:t>
            </a:r>
            <a:endParaRPr lang="en-GB" sz="1400" dirty="0">
              <a:solidFill>
                <a:srgbClr val="000000"/>
              </a:solidFill>
            </a:endParaRPr>
          </a:p>
        </p:txBody>
      </p:sp>
      <p:sp>
        <p:nvSpPr>
          <p:cNvPr id="61" name="Rounded Rectangle 60"/>
          <p:cNvSpPr/>
          <p:nvPr/>
        </p:nvSpPr>
        <p:spPr>
          <a:xfrm>
            <a:off x="2895600" y="5638800"/>
            <a:ext cx="2133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algn="ctr"/>
            <a:r>
              <a:rPr lang="en-GB" sz="1400" dirty="0" smtClean="0">
                <a:solidFill>
                  <a:srgbClr val="000000"/>
                </a:solidFill>
              </a:rPr>
              <a:t>DROID Classification</a:t>
            </a:r>
            <a:endParaRPr lang="en-GB" sz="1400" dirty="0">
              <a:solidFill>
                <a:srgbClr val="000000"/>
              </a:solidFill>
            </a:endParaRPr>
          </a:p>
        </p:txBody>
      </p:sp>
      <p:cxnSp>
        <p:nvCxnSpPr>
          <p:cNvPr id="16" name="Straight Connector 15"/>
          <p:cNvCxnSpPr>
            <a:stCxn id="59" idx="1"/>
          </p:cNvCxnSpPr>
          <p:nvPr/>
        </p:nvCxnSpPr>
        <p:spPr>
          <a:xfrm rot="10800000" flipV="1">
            <a:off x="5486400" y="2933700"/>
            <a:ext cx="1066800" cy="419100"/>
          </a:xfrm>
          <a:prstGeom prst="line">
            <a:avLst/>
          </a:prstGeom>
          <a:ln w="60325" cap="flat" cmpd="sng" algn="ctr">
            <a:solidFill>
              <a:srgbClr val="00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cxnSp>
        <p:nvCxnSpPr>
          <p:cNvPr id="95" name="Straight Connector 94"/>
          <p:cNvCxnSpPr/>
          <p:nvPr/>
        </p:nvCxnSpPr>
        <p:spPr>
          <a:xfrm flipV="1">
            <a:off x="2590800" y="6019800"/>
            <a:ext cx="762000" cy="457200"/>
          </a:xfrm>
          <a:prstGeom prst="line">
            <a:avLst/>
          </a:prstGeom>
          <a:ln w="60325" cap="flat" cmpd="sng" algn="ctr">
            <a:solidFill>
              <a:srgbClr val="000000"/>
            </a:solidFill>
            <a:prstDash val="solid"/>
            <a:round/>
            <a:headEnd type="triangle" w="lg" len="med"/>
            <a:tailEnd type="triangle" w="lg" len="med"/>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52400" y="76200"/>
            <a:ext cx="9144000" cy="600164"/>
          </a:xfrm>
          <a:prstGeom prst="rect">
            <a:avLst/>
          </a:prstGeom>
          <a:noFill/>
        </p:spPr>
        <p:txBody>
          <a:bodyPr wrap="square" rtlCol="0">
            <a:spAutoFit/>
          </a:bodyPr>
          <a:lstStyle/>
          <a:p>
            <a:pPr algn="ctr"/>
            <a:r>
              <a:rPr lang="en-GB" sz="3300" b="1" dirty="0" smtClean="0">
                <a:solidFill>
                  <a:schemeClr val="bg1"/>
                </a:solidFill>
                <a:latin typeface="+mj-lt"/>
                <a:cs typeface="Apple Symbols"/>
              </a:rPr>
              <a:t>DROID Alongside Your Resources</a:t>
            </a:r>
            <a:endParaRPr lang="en-GB" sz="3300" b="1" dirty="0">
              <a:solidFill>
                <a:schemeClr val="bg1"/>
              </a:solidFill>
              <a:latin typeface="+mj-lt"/>
              <a:cs typeface="Apple Symbol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2" grpId="0" animBg="1"/>
      <p:bldP spid="15" grpId="0" animBg="1"/>
      <p:bldP spid="8" grpId="0" animBg="1"/>
      <p:bldP spid="39" grpId="0" animBg="1"/>
      <p:bldP spid="47" grpId="0" animBg="1"/>
      <p:bldP spid="40" grpId="0" animBg="1"/>
      <p:bldP spid="70" grpId="0" animBg="1"/>
      <p:bldP spid="73" grpId="0" animBg="1"/>
      <p:bldP spid="53" grpId="0" animBg="1"/>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3" Type="http://schemas.openxmlformats.org/officeDocument/2006/relationships/image" Target="../media/image3.jpeg"/><Relationship Id="rId1" Type="http://schemas.openxmlformats.org/officeDocument/2006/relationships/image" Target="../media/image1.jpeg"/></Relationships>
</file>

<file path=ppt/theme/theme1.xml><?xml version="1.0" encoding="utf-8"?>
<a:theme xmlns:a="http://schemas.openxmlformats.org/drawingml/2006/main" name="Genesis">
  <a:themeElements>
    <a:clrScheme name="Genesis">
      <a:dk1>
        <a:sysClr val="windowText" lastClr="000000"/>
      </a:dk1>
      <a:lt1>
        <a:sysClr val="window" lastClr="FFFFFF"/>
      </a:lt1>
      <a:dk2>
        <a:srgbClr val="465466"/>
      </a:dk2>
      <a:lt2>
        <a:srgbClr val="BBD7F8"/>
      </a:lt2>
      <a:accent1>
        <a:srgbClr val="80B606"/>
      </a:accent1>
      <a:accent2>
        <a:srgbClr val="E29F1D"/>
      </a:accent2>
      <a:accent3>
        <a:srgbClr val="2397E2"/>
      </a:accent3>
      <a:accent4>
        <a:srgbClr val="35ACA2"/>
      </a:accent4>
      <a:accent5>
        <a:srgbClr val="5430BB"/>
      </a:accent5>
      <a:accent6>
        <a:srgbClr val="8D34E0"/>
      </a:accent6>
      <a:hlink>
        <a:srgbClr val="00B0F0"/>
      </a:hlink>
      <a:folHlink>
        <a:srgbClr val="0070C0"/>
      </a:folHlink>
    </a:clrScheme>
    <a:fontScheme name="Genesis">
      <a:majorFont>
        <a:latin typeface="Calisto MT"/>
        <a:ea typeface=""/>
        <a:cs typeface=""/>
        <a:font script="Jpan" typeface="ＭＳ 明朝"/>
      </a:majorFont>
      <a:minorFont>
        <a:latin typeface="Calisto MT"/>
        <a:ea typeface=""/>
        <a:cs typeface=""/>
        <a:font script="Jpan" typeface="ＭＳ 明朝"/>
      </a:minorFont>
    </a:fontScheme>
    <a:fmtScheme name="Genesis">
      <a:fillStyleLst>
        <a:solidFill>
          <a:schemeClr val="phClr"/>
        </a:solidFill>
        <a:gradFill rotWithShape="1">
          <a:gsLst>
            <a:gs pos="0">
              <a:schemeClr val="phClr">
                <a:tint val="100000"/>
                <a:shade val="70000"/>
                <a:satMod val="100000"/>
                <a:greenMod val="110000"/>
              </a:schemeClr>
            </a:gs>
            <a:gs pos="75000">
              <a:schemeClr val="phClr">
                <a:tint val="40000"/>
                <a:satMod val="150000"/>
                <a:redMod val="100000"/>
                <a:blueMod val="100000"/>
              </a:schemeClr>
            </a:gs>
            <a:gs pos="100000">
              <a:schemeClr val="phClr">
                <a:tint val="60000"/>
                <a:satMod val="120000"/>
                <a:redMod val="100000"/>
                <a:blueMod val="100000"/>
              </a:schemeClr>
            </a:gs>
          </a:gsLst>
          <a:path path="circle">
            <a:fillToRect l="25000" t="25000" r="5000" b="5000"/>
          </a:path>
        </a:gradFill>
        <a:gradFill rotWithShape="1">
          <a:gsLst>
            <a:gs pos="0">
              <a:schemeClr val="phClr">
                <a:tint val="50000"/>
                <a:shade val="100000"/>
                <a:alpha val="100000"/>
                <a:satMod val="150000"/>
              </a:schemeClr>
            </a:gs>
            <a:gs pos="40000">
              <a:schemeClr val="phClr">
                <a:tint val="70000"/>
                <a:shade val="100000"/>
                <a:alpha val="100000"/>
                <a:satMod val="150000"/>
              </a:schemeClr>
            </a:gs>
            <a:gs pos="100000">
              <a:schemeClr val="phClr">
                <a:shade val="90000"/>
                <a:satMod val="110000"/>
              </a:schemeClr>
            </a:gs>
          </a:gsLst>
          <a:lin ang="5400000" scaled="0"/>
        </a:gradFill>
      </a:fillStyleLst>
      <a:lnStyleLst>
        <a:ln w="12700" cap="flat" cmpd="sng" algn="ctr">
          <a:solidFill>
            <a:schemeClr val="phClr">
              <a:shade val="95000"/>
              <a:satMod val="105000"/>
            </a:schemeClr>
          </a:solidFill>
          <a:prstDash val="solid"/>
        </a:ln>
        <a:ln w="3175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outerShdw blurRad="88900" dist="50800" dir="11400000" sx="102000" sy="101000" algn="tl" rotWithShape="0">
              <a:srgbClr val="000000">
                <a:alpha val="35000"/>
              </a:srgbClr>
            </a:outerShdw>
          </a:effectLst>
          <a:scene3d>
            <a:camera prst="perspectiveFront" fov="4800000"/>
            <a:lightRig rig="morning" dir="tl"/>
          </a:scene3d>
          <a:sp3d prstMaterial="softmetal">
            <a:bevelT w="0" h="0"/>
          </a:sp3d>
        </a:effectStyle>
        <a:effectStyle>
          <a:effectLst>
            <a:innerShdw blurRad="50800" dist="25400" dir="13500000">
              <a:srgbClr val="000000">
                <a:alpha val="75000"/>
              </a:srgbClr>
            </a:innerShdw>
            <a:reflection blurRad="101600" stA="40000" endPos="50000" dist="63500" dir="5400000" fadeDir="7200000" sy="-100000" kx="300000" rotWithShape="0"/>
          </a:effectLst>
          <a:scene3d>
            <a:camera prst="orthographicFront">
              <a:rot lat="0" lon="0" rev="0"/>
            </a:camera>
            <a:lightRig rig="chilly" dir="tr">
              <a:rot lat="0" lon="0" rev="1200000"/>
            </a:lightRig>
          </a:scene3d>
          <a:sp3d prstMaterial="plastic">
            <a:bevelT w="0" h="0"/>
          </a:sp3d>
        </a:effectStyle>
      </a:effectStyleLst>
      <a:bgFillStyleLst>
        <a:blipFill rotWithShape="1">
          <a:blip xmlns:r="http://schemas.openxmlformats.org/officeDocument/2006/relationships" r:embed="rId1"/>
          <a:stretch/>
        </a:blipFill>
        <a:blipFill rotWithShape="1">
          <a:blip xmlns:r="http://schemas.openxmlformats.org/officeDocument/2006/relationships" r:embed="rId2"/>
          <a:stretch/>
        </a:blipFill>
        <a:blipFill rotWithShape="1">
          <a:blip xmlns:r="http://schemas.openxmlformats.org/officeDocument/2006/relationships" r:embed="rId3"/>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Genesis.thmx</Template>
  <TotalTime>137474</TotalTime>
  <Words>4072</Words>
  <Application>Microsoft Office PowerPoint</Application>
  <PresentationFormat>On-screen Show (4:3)</PresentationFormat>
  <Paragraphs>454</Paragraphs>
  <Slides>26</Slides>
  <Notes>26</Notes>
  <HiddenSlides>0</HiddenSlides>
  <MMClips>0</MMClips>
  <ScaleCrop>false</ScaleCrop>
  <HeadingPairs>
    <vt:vector size="4" baseType="variant">
      <vt:variant>
        <vt:lpstr>Design Template</vt:lpstr>
      </vt:variant>
      <vt:variant>
        <vt:i4>1</vt:i4>
      </vt:variant>
      <vt:variant>
        <vt:lpstr>Slide Titles</vt:lpstr>
      </vt:variant>
      <vt:variant>
        <vt:i4>26</vt:i4>
      </vt:variant>
    </vt:vector>
  </HeadingPairs>
  <TitlesOfParts>
    <vt:vector size="27" baseType="lpstr">
      <vt:lpstr>Genesis</vt:lpstr>
      <vt:lpstr>Preservation as a Process of a Repository</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LinksUpToDate>false</LinksUpToDate>
  <SharedDoc>false</SharedDoc>
  <HyperlinksChanged>false</HyperlinksChanged>
  <AppVersion>12.0001</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davetaz</dc:creator>
  <cp:lastModifiedBy>Les Carr</cp:lastModifiedBy>
  <cp:revision>578</cp:revision>
  <dcterms:created xsi:type="dcterms:W3CDTF">2008-12-18T16:55:43Z</dcterms:created>
  <dcterms:modified xsi:type="dcterms:W3CDTF">2008-12-19T15:07:09Z</dcterms:modified>
</cp:coreProperties>
</file>