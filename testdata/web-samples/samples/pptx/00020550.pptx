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66" r:id="rId3"/>
    <p:sldId id="257" r:id="rId4"/>
    <p:sldId id="265" r:id="rId5"/>
    <p:sldId id="275" r:id="rId6"/>
    <p:sldId id="279" r:id="rId7"/>
    <p:sldId id="280" r:id="rId8"/>
    <p:sldId id="258" r:id="rId9"/>
    <p:sldId id="267" r:id="rId10"/>
    <p:sldId id="281" r:id="rId11"/>
    <p:sldId id="282" r:id="rId12"/>
    <p:sldId id="259" r:id="rId13"/>
    <p:sldId id="270" r:id="rId14"/>
    <p:sldId id="283" r:id="rId15"/>
    <p:sldId id="284" r:id="rId16"/>
    <p:sldId id="260" r:id="rId17"/>
    <p:sldId id="269" r:id="rId18"/>
    <p:sldId id="285" r:id="rId19"/>
    <p:sldId id="286" r:id="rId20"/>
    <p:sldId id="268" r:id="rId21"/>
    <p:sldId id="261" r:id="rId22"/>
    <p:sldId id="262" r:id="rId23"/>
    <p:sldId id="263" r:id="rId24"/>
    <p:sldId id="264" r:id="rId2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9838"/>
    <a:srgbClr val="C7B151"/>
    <a:srgbClr val="0E0448"/>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autoAdjust="0"/>
    <p:restoredTop sz="87719" autoAdjust="0"/>
  </p:normalViewPr>
  <p:slideViewPr>
    <p:cSldViewPr>
      <p:cViewPr>
        <p:scale>
          <a:sx n="66" d="100"/>
          <a:sy n="66" d="100"/>
        </p:scale>
        <p:origin x="-3666" y="-112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8B0FB48F-4CA1-4B2E-B93B-4D68CDAB1602}" type="datetimeFigureOut">
              <a:rPr lang="en-US"/>
              <a:pPr>
                <a:defRPr/>
              </a:pPr>
              <a:t>11/1/2012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4F40D1B-9346-4F12-9630-903585BE0846}" type="slidenum">
              <a:rPr lang="en-US"/>
              <a:pPr>
                <a:defRPr/>
              </a:pPr>
              <a:t>‹#›</a:t>
            </a:fld>
            <a:endParaRPr lang="en-US"/>
          </a:p>
        </p:txBody>
      </p:sp>
    </p:spTree>
    <p:extLst>
      <p:ext uri="{BB962C8B-B14F-4D97-AF65-F5344CB8AC3E}">
        <p14:creationId xmlns:p14="http://schemas.microsoft.com/office/powerpoint/2010/main" val="7777805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p:cNvSpPr>
            <a:spLocks noGrp="1" noRot="1" noChangeAspect="1"/>
          </p:cNvSpPr>
          <p:nvPr>
            <p:ph type="sldImg"/>
          </p:nvPr>
        </p:nvSpPr>
        <p:spPr bwMode="auto">
          <a:noFill/>
          <a:ln>
            <a:solidFill>
              <a:srgbClr val="000000"/>
            </a:solidFill>
            <a:miter lim="800000"/>
            <a:headEnd/>
            <a:tailEnd/>
          </a:ln>
        </p:spPr>
      </p:sp>
      <p:sp>
        <p:nvSpPr>
          <p:cNvPr id="1945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References:</a:t>
            </a:r>
          </a:p>
          <a:p>
            <a:pPr eaLnBrk="1" hangingPunct="1">
              <a:spcBef>
                <a:spcPct val="0"/>
              </a:spcBef>
            </a:pPr>
            <a:r>
              <a:rPr lang="en-US" smtClean="0"/>
              <a:t>American Meteorological Society Constitution  (http://www.ametsoc.org/aboutams/organizationpdfs/constitution.pdf)</a:t>
            </a:r>
          </a:p>
          <a:p>
            <a:pPr eaLnBrk="1" hangingPunct="1">
              <a:spcBef>
                <a:spcPct val="0"/>
              </a:spcBef>
            </a:pPr>
            <a:r>
              <a:rPr lang="en-US" smtClean="0"/>
              <a:t>Weather Modification Association, Weather Modification Ethics &amp; Standards (http://www.weathermodification.org/standards_ethics.php)</a:t>
            </a:r>
          </a:p>
          <a:p>
            <a:pPr eaLnBrk="1" hangingPunct="1">
              <a:spcBef>
                <a:spcPct val="0"/>
              </a:spcBef>
            </a:pPr>
            <a:r>
              <a:rPr lang="en-US" smtClean="0"/>
              <a:t>National Council of Industrial Meteorologist, Code of Ethics of The National Council of Industrial Meteorologist (http://www.ncim.org/pdfs/CODE_OF_ETHICS.pdf)</a:t>
            </a:r>
          </a:p>
          <a:p>
            <a:pPr eaLnBrk="1" hangingPunct="1">
              <a:spcBef>
                <a:spcPct val="0"/>
              </a:spcBef>
            </a:pPr>
            <a:r>
              <a:rPr lang="en-US" smtClean="0"/>
              <a:t>National Weather Association (http://www.nwas.org/seal/seal-proc-updated.pdf and http://www.nwas.org/bylaws.php)</a:t>
            </a:r>
          </a:p>
        </p:txBody>
      </p:sp>
      <p:sp>
        <p:nvSpPr>
          <p:cNvPr id="1945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AB2CC23-BB17-4820-AD8E-B710D5BB3368}" type="slidenum">
              <a:rPr lang="en-US"/>
              <a:pPr fontAlgn="base">
                <a:spcBef>
                  <a:spcPct val="0"/>
                </a:spcBef>
                <a:spcAft>
                  <a:spcPct val="0"/>
                </a:spcAft>
                <a:defRPr/>
              </a:pPr>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p:cNvSpPr>
            <a:spLocks noGrp="1" noRot="1" noChangeAspect="1" noTextEdit="1"/>
          </p:cNvSpPr>
          <p:nvPr>
            <p:ph type="sldImg"/>
          </p:nvPr>
        </p:nvSpPr>
        <p:spPr bwMode="auto">
          <a:noFill/>
          <a:ln>
            <a:solidFill>
              <a:srgbClr val="000000"/>
            </a:solidFill>
            <a:miter lim="800000"/>
            <a:headEnd/>
            <a:tailEnd/>
          </a:ln>
        </p:spPr>
      </p:sp>
      <p:sp>
        <p:nvSpPr>
          <p:cNvPr id="2150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Approximately 1000 e-mails from the Climatic Research Unit (CRU) of the University of East Anglia (UEA) were stolen and made public without authorization. The e-mails seemed to place in doubt the unbiased nature of the scientific opinion of a group of researchers at the University of East Anglia.  </a:t>
            </a:r>
          </a:p>
          <a:p>
            <a:pPr eaLnBrk="1" hangingPunct="1">
              <a:spcBef>
                <a:spcPct val="0"/>
              </a:spcBef>
            </a:pPr>
            <a:r>
              <a:rPr lang="en-US" smtClean="0"/>
              <a:t>After an investigation of the implications of the e-mails by several panels, the scientists were cleared of manipulation of their data to support preconceived ideas on global warming.  Independent reviews exonerated the CRU of specific allegations made against the rigor and honesty of CRU scientists.  The independent review commissioned by the UEA did find that there had been a consistent pattern of failing to display the proper degree of openness, both on the part of the CRU scientists and on the part of the UEA, who failed to recognize not only the significance of statutory requirements but also the risk to the reputation of the University and, to the credibility of UK climate science. This report also describes multiple recommendations to prevent this kind of backlash from recurring.</a:t>
            </a:r>
          </a:p>
          <a:p>
            <a:pPr eaLnBrk="1" hangingPunct="1">
              <a:spcBef>
                <a:spcPct val="0"/>
              </a:spcBef>
            </a:pPr>
            <a:endParaRPr lang="en-US" smtClean="0"/>
          </a:p>
          <a:p>
            <a:pPr eaLnBrk="1" hangingPunct="1">
              <a:spcBef>
                <a:spcPct val="0"/>
              </a:spcBef>
            </a:pPr>
            <a:r>
              <a:rPr lang="en-US" smtClean="0"/>
              <a:t>References:</a:t>
            </a:r>
          </a:p>
          <a:p>
            <a:pPr eaLnBrk="1" hangingPunct="1">
              <a:spcBef>
                <a:spcPct val="0"/>
              </a:spcBef>
            </a:pPr>
            <a:r>
              <a:rPr lang="en-US" i="1" smtClean="0"/>
              <a:t>Climate change cover-up? You better believe it, </a:t>
            </a:r>
            <a:r>
              <a:rPr lang="en-US" smtClean="0"/>
              <a:t>2009, D. Biello Nov 24, 2009 Observations, Scientific American Blog</a:t>
            </a:r>
          </a:p>
          <a:p>
            <a:pPr eaLnBrk="1" hangingPunct="1">
              <a:spcBef>
                <a:spcPct val="0"/>
              </a:spcBef>
            </a:pPr>
            <a:r>
              <a:rPr lang="en-US" i="1" smtClean="0"/>
              <a:t>The Year Climate Science was Redefined</a:t>
            </a:r>
            <a:r>
              <a:rPr lang="en-US" smtClean="0"/>
              <a:t>, 2010, M. Hulme, The Guardian, 16 November</a:t>
            </a:r>
          </a:p>
          <a:p>
            <a:pPr eaLnBrk="1" hangingPunct="1">
              <a:spcBef>
                <a:spcPct val="0"/>
              </a:spcBef>
            </a:pPr>
            <a:r>
              <a:rPr lang="en-US" i="1" smtClean="0"/>
              <a:t>British Panel Clears Scientists</a:t>
            </a:r>
            <a:r>
              <a:rPr lang="en-US" smtClean="0"/>
              <a:t>, 2010, J. Gillis, The New York Times, July 7</a:t>
            </a:r>
          </a:p>
          <a:p>
            <a:pPr eaLnBrk="1" hangingPunct="1">
              <a:spcBef>
                <a:spcPct val="0"/>
              </a:spcBef>
            </a:pPr>
            <a:r>
              <a:rPr lang="en-US" i="1" smtClean="0"/>
              <a:t>Scientists Respond to Climategate E-Mail Controversy, </a:t>
            </a:r>
            <a:r>
              <a:rPr lang="en-US" smtClean="0"/>
              <a:t>2009 D. Biello, Scientific American, December 4</a:t>
            </a:r>
          </a:p>
          <a:p>
            <a:pPr eaLnBrk="1" hangingPunct="1">
              <a:spcBef>
                <a:spcPct val="0"/>
              </a:spcBef>
            </a:pPr>
            <a:r>
              <a:rPr lang="en-US" i="1" smtClean="0"/>
              <a:t>What East Anglia’s E-Mail Really Tell Us about Climate Change, </a:t>
            </a:r>
            <a:r>
              <a:rPr lang="en-US" smtClean="0"/>
              <a:t>2009, P. Kelemen, Popular Mechanics, December 18</a:t>
            </a:r>
          </a:p>
          <a:p>
            <a:pPr eaLnBrk="1" hangingPunct="1">
              <a:spcBef>
                <a:spcPct val="0"/>
              </a:spcBef>
            </a:pPr>
            <a:r>
              <a:rPr lang="en-US" i="1" smtClean="0"/>
              <a:t>The Independent Climate Change E-mails Review, </a:t>
            </a:r>
            <a:r>
              <a:rPr lang="en-US" smtClean="0"/>
              <a:t>July 2010, Muir Russell, Geoffrey Boulton, Peter Clarke, David Eyton and James Norton, Commissioned by University of East Anglia, p 160. (Available at: </a:t>
            </a:r>
            <a:r>
              <a:rPr lang="en-US" u="sng" smtClean="0"/>
              <a:t>http://www.cce-review.org/pdf/FINAL%20REPORT.pdf</a:t>
            </a:r>
            <a:r>
              <a:rPr lang="en-US" smtClean="0"/>
              <a:t>)</a:t>
            </a:r>
          </a:p>
          <a:p>
            <a:pPr eaLnBrk="1" hangingPunct="1">
              <a:spcBef>
                <a:spcPct val="0"/>
              </a:spcBef>
            </a:pPr>
            <a:endParaRPr lang="en-US" smtClean="0"/>
          </a:p>
        </p:txBody>
      </p:sp>
      <p:sp>
        <p:nvSpPr>
          <p:cNvPr id="23555"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E7875976-F6BC-445B-BD0B-053F3E45B868}" type="slidenum">
              <a:rPr lang="en-US" sz="1200">
                <a:latin typeface="+mn-lt"/>
              </a:rPr>
              <a:pPr algn="r">
                <a:defRPr/>
              </a:pPr>
              <a:t>6</a:t>
            </a:fld>
            <a:endParaRPr lang="en-US" sz="1200">
              <a:latin typeface="+mn-l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noTextEdit="1"/>
          </p:cNvSpPr>
          <p:nvPr>
            <p:ph type="sldImg"/>
          </p:nvPr>
        </p:nvSpPr>
        <p:spPr bwMode="auto">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Climatic Research Unit (CRU) of the University of East Anglia (UEA) was engaged in climate change research.  They published a report describing the results of their analysis but did not make the data available. Approximately 1000 e-mails from the Climatic Research Unit were stolen and made public without authorization. The e-mails seemed to place in doubt the unbiased nature of the scientific opinion of a group of researchers at the University of East Anglia.  </a:t>
            </a:r>
          </a:p>
          <a:p>
            <a:pPr eaLnBrk="1" hangingPunct="1">
              <a:spcBef>
                <a:spcPct val="0"/>
              </a:spcBef>
            </a:pPr>
            <a:r>
              <a:rPr lang="en-US" smtClean="0"/>
              <a:t>After an investigation of the implications of the e-mails by several panels, the scientists were cleared of manipulation of their data to support preconceived ideas on global warming.  Independent reviews exonerated the CRU of specific allegations made against the rigor and honesty of CRU scientists.  The independent review commissioned by the UEA did find that there had been a consistent pattern of failing to display the proper degree of openness, both on the part of the CRU scientists and on the part of the UEA, who failed to recognize not only the significance of statutory requirements but also the risk to the reputation of the University and, to the credibility of UK climate science. This report also describes multiple recommendations to prevent this kind of backlash from recurring. .  Several recommendations among them were:</a:t>
            </a:r>
          </a:p>
          <a:p>
            <a:pPr eaLnBrk="1" hangingPunct="1">
              <a:spcBef>
                <a:spcPct val="0"/>
              </a:spcBef>
            </a:pPr>
            <a:r>
              <a:rPr lang="en-US" smtClean="0"/>
              <a:t>	A recognition that challenges to scientific work can be based on non-traditional methods offering false conclusions and alternative hypotheses for peer review and publication.  The “blogosphere” and non traditional scientific dialogue provides an opportunity for unmoderated comment to stand alongside peer reviewed publications; for presentations or lectures at learned conferences to be challenged without inhibition; and for highly personalized critiques of individuals and their work to be promulgated without hindrance.</a:t>
            </a:r>
          </a:p>
          <a:p>
            <a:pPr eaLnBrk="1" hangingPunct="1">
              <a:spcBef>
                <a:spcPct val="0"/>
              </a:spcBef>
            </a:pPr>
            <a:r>
              <a:rPr lang="en-US" smtClean="0"/>
              <a:t>	The existence of the “blogosphere” demands openness and access to data. A failure to recognize this and to act appropriately, can lead to immense reputational damage by feeding allegations of cover up.</a:t>
            </a:r>
          </a:p>
          <a:p>
            <a:pPr eaLnBrk="1" hangingPunct="1">
              <a:spcBef>
                <a:spcPct val="0"/>
              </a:spcBef>
            </a:pPr>
            <a:r>
              <a:rPr lang="en-US" smtClean="0"/>
              <a:t>	All scientists must learn to communicate their work in ways that the public can access and understand.  </a:t>
            </a:r>
          </a:p>
          <a:p>
            <a:pPr eaLnBrk="1" hangingPunct="1">
              <a:spcBef>
                <a:spcPct val="0"/>
              </a:spcBef>
            </a:pPr>
            <a:endParaRPr lang="en-US" smtClean="0"/>
          </a:p>
          <a:p>
            <a:pPr eaLnBrk="1" hangingPunct="1">
              <a:spcBef>
                <a:spcPct val="0"/>
              </a:spcBef>
            </a:pPr>
            <a:r>
              <a:rPr lang="en-US" smtClean="0"/>
              <a:t>The impact of this incident was a strengthening of mistrust of scientists and their conclusions.  Despite the independent assessments (see: references) and reports of the media (Guardian, Scientific American, The New York Times, and Popular Mechanics) clearing the researchers of data manipulation, the damage was already done (see: references) and opponents of the conclusions of the study used the controversy to cast doubt on the veracity of the report.  The publication of the e-mails weeks before the 15th Conference of the Parties in Copenhagen (U.N. summit on global warming) was politically explosive.</a:t>
            </a:r>
          </a:p>
          <a:p>
            <a:pPr eaLnBrk="1" hangingPunct="1">
              <a:spcBef>
                <a:spcPct val="0"/>
              </a:spcBef>
            </a:pPr>
            <a:endParaRPr lang="en-US" smtClean="0"/>
          </a:p>
          <a:p>
            <a:pPr eaLnBrk="1" hangingPunct="1">
              <a:spcBef>
                <a:spcPct val="0"/>
              </a:spcBef>
            </a:pPr>
            <a:endParaRPr lang="en-US" smtClean="0"/>
          </a:p>
          <a:p>
            <a:pPr eaLnBrk="1" hangingPunct="1">
              <a:spcBef>
                <a:spcPct val="0"/>
              </a:spcBef>
            </a:pPr>
            <a:r>
              <a:rPr lang="en-US" smtClean="0"/>
              <a:t>References:</a:t>
            </a:r>
          </a:p>
          <a:p>
            <a:pPr eaLnBrk="1" hangingPunct="1">
              <a:spcBef>
                <a:spcPct val="0"/>
              </a:spcBef>
            </a:pPr>
            <a:r>
              <a:rPr lang="en-US" i="1" smtClean="0"/>
              <a:t>Climate change cover-up? You better believe it, </a:t>
            </a:r>
            <a:r>
              <a:rPr lang="en-US" smtClean="0"/>
              <a:t>2009, D. Biello Nov 24, 2009 Observations, Scientific American Blog</a:t>
            </a:r>
          </a:p>
          <a:p>
            <a:pPr eaLnBrk="1" hangingPunct="1">
              <a:spcBef>
                <a:spcPct val="0"/>
              </a:spcBef>
            </a:pPr>
            <a:r>
              <a:rPr lang="en-US" i="1" smtClean="0"/>
              <a:t>The Year Climate Science was Redefined</a:t>
            </a:r>
            <a:r>
              <a:rPr lang="en-US" smtClean="0"/>
              <a:t>, 2010, M. Hulme, The Guardian, 16 November</a:t>
            </a:r>
          </a:p>
          <a:p>
            <a:pPr eaLnBrk="1" hangingPunct="1">
              <a:spcBef>
                <a:spcPct val="0"/>
              </a:spcBef>
            </a:pPr>
            <a:r>
              <a:rPr lang="en-US" i="1" smtClean="0"/>
              <a:t>British Panel Clears Scientists</a:t>
            </a:r>
            <a:r>
              <a:rPr lang="en-US" smtClean="0"/>
              <a:t>, 2010, J. Gillis, The New York Times, July 7</a:t>
            </a:r>
          </a:p>
          <a:p>
            <a:pPr eaLnBrk="1" hangingPunct="1">
              <a:spcBef>
                <a:spcPct val="0"/>
              </a:spcBef>
            </a:pPr>
            <a:r>
              <a:rPr lang="en-US" i="1" smtClean="0"/>
              <a:t>Scientists Respond to Climategate E-Mail Controversy, </a:t>
            </a:r>
            <a:r>
              <a:rPr lang="en-US" smtClean="0"/>
              <a:t>2009 D. Biello, Scientific American, December 4</a:t>
            </a:r>
          </a:p>
          <a:p>
            <a:pPr eaLnBrk="1" hangingPunct="1">
              <a:spcBef>
                <a:spcPct val="0"/>
              </a:spcBef>
            </a:pPr>
            <a:r>
              <a:rPr lang="en-US" i="1" smtClean="0"/>
              <a:t>What East Anglia’s E-Mail Really Tell Us about Climate Change, </a:t>
            </a:r>
            <a:r>
              <a:rPr lang="en-US" smtClean="0"/>
              <a:t>2009, P. Kelemen, Popular Mechanics, December 18</a:t>
            </a:r>
          </a:p>
          <a:p>
            <a:pPr eaLnBrk="1" hangingPunct="1">
              <a:spcBef>
                <a:spcPct val="0"/>
              </a:spcBef>
            </a:pPr>
            <a:r>
              <a:rPr lang="en-US" i="1" smtClean="0"/>
              <a:t>The Independent Climate Change E-mails Review, </a:t>
            </a:r>
            <a:r>
              <a:rPr lang="en-US" smtClean="0"/>
              <a:t>July 2010, Muir Russell, Geoffrey Boulton, Peter Clarke, David Eyton and James Norton, Commissioned by University of East Anglia, p 160. (Available at: </a:t>
            </a:r>
            <a:r>
              <a:rPr lang="en-US" u="sng" smtClean="0"/>
              <a:t>http://www.cce-review.org/pdf/FINAL%20REPORT.pdf</a:t>
            </a:r>
            <a:r>
              <a:rPr lang="en-US" smtClean="0"/>
              <a:t>)</a:t>
            </a:r>
          </a:p>
          <a:p>
            <a:pPr eaLnBrk="1" hangingPunct="1">
              <a:spcBef>
                <a:spcPct val="0"/>
              </a:spcBef>
            </a:pPr>
            <a:endParaRPr lang="en-US" smtClean="0"/>
          </a:p>
        </p:txBody>
      </p:sp>
      <p:sp>
        <p:nvSpPr>
          <p:cNvPr id="25603"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03D81E1D-2882-4F70-A11C-CE6D1584FA20}" type="slidenum">
              <a:rPr lang="en-US" sz="1200">
                <a:latin typeface="+mn-lt"/>
              </a:rPr>
              <a:pPr algn="r">
                <a:defRPr/>
              </a:pPr>
              <a:t>7</a:t>
            </a:fld>
            <a:endParaRPr lang="en-US" sz="1200">
              <a:latin typeface="+mn-l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This case was actual occurred a Commerce Department Employee conflict of interest with updating automated weather forecasting systems. The employee was tasked to review the performance of a company, which had contracted with the Commerce Department to update automated weather forecasting systems.  He was found guilty of have been negotiating for a position with that same company while reviewing their performance.  (Federal criminal statute, 18 U.S.C. 208) (ref. 7).  Here the employees’ creditability for a fair performance assessment was seriously questioned and he was in fact convicted of a Federal crime.  </a:t>
            </a:r>
          </a:p>
          <a:p>
            <a:pPr eaLnBrk="1" hangingPunct="1">
              <a:spcBef>
                <a:spcPct val="0"/>
              </a:spcBef>
            </a:pPr>
            <a:r>
              <a:rPr lang="en-US" smtClean="0"/>
              <a:t>The meteorological instrumentation industry and the number of organizations employing meteorologists in general are not very large.  Job opportunities are limited because of this.  Those in positions of responsibility for procurement and contract oversight must be sensitive to the responsibilities of their posts.  Obligations of one’s current employment position may rule out pursuit of a new position even if it is the best suited for ones circumstance.  Acknowledging these ethical obligations and acting accordingly will prevent suspicion, reproach, and potentially criminal investigation of ones actions.  This action will benefit both the individual involved as well as the organizations.</a:t>
            </a:r>
          </a:p>
          <a:p>
            <a:pPr eaLnBrk="1" hangingPunct="1">
              <a:spcBef>
                <a:spcPct val="0"/>
              </a:spcBef>
            </a:pPr>
            <a:endParaRPr lang="en-US" smtClean="0"/>
          </a:p>
          <a:p>
            <a:pPr eaLnBrk="1" hangingPunct="1">
              <a:spcBef>
                <a:spcPct val="0"/>
              </a:spcBef>
            </a:pPr>
            <a:r>
              <a:rPr lang="en-US" i="1" smtClean="0"/>
              <a:t>Encyclopedia of Ethical Failure</a:t>
            </a:r>
            <a:r>
              <a:rPr lang="en-US" smtClean="0"/>
              <a:t>, (2007)  Department of Defense, Office of General Counsel, Standards of Conduct Office,</a:t>
            </a:r>
          </a:p>
          <a:p>
            <a:pPr eaLnBrk="1" hangingPunct="1">
              <a:spcBef>
                <a:spcPct val="0"/>
              </a:spcBef>
            </a:pPr>
            <a:r>
              <a:rPr lang="en-US" smtClean="0"/>
              <a:t>September 2007</a:t>
            </a:r>
          </a:p>
          <a:p>
            <a:pPr eaLnBrk="1" hangingPunct="1">
              <a:spcBef>
                <a:spcPct val="0"/>
              </a:spcBef>
            </a:pPr>
            <a:endParaRPr lang="en-US" smtClean="0"/>
          </a:p>
          <a:p>
            <a:pPr eaLnBrk="1" hangingPunct="1">
              <a:spcBef>
                <a:spcPct val="0"/>
              </a:spcBef>
            </a:pPr>
            <a:endParaRPr lang="en-US" smtClean="0"/>
          </a:p>
          <a:p>
            <a:pPr eaLnBrk="1" hangingPunct="1">
              <a:spcBef>
                <a:spcPct val="0"/>
              </a:spcBef>
            </a:pPr>
            <a:r>
              <a:rPr lang="en-US" i="1" smtClean="0"/>
              <a:t>Update on Federal Criminal Conflict of Interest Statutes</a:t>
            </a:r>
            <a:r>
              <a:rPr lang="en-US" smtClean="0"/>
              <a:t>, (2006), E. Lazarus , Pass It On, Government and Public Sector Lawyers Division, American Bar Association, Spring 2006, Vol.15, No.3 </a:t>
            </a:r>
          </a:p>
          <a:p>
            <a:pPr eaLnBrk="1" hangingPunct="1">
              <a:spcBef>
                <a:spcPct val="0"/>
              </a:spcBef>
            </a:pPr>
            <a:endParaRPr lang="en-US" smtClean="0"/>
          </a:p>
          <a:p>
            <a:pPr eaLnBrk="1" hangingPunct="1">
              <a:spcBef>
                <a:spcPct val="0"/>
              </a:spcBef>
            </a:pPr>
            <a:endParaRPr lang="en-US" smtClean="0"/>
          </a:p>
        </p:txBody>
      </p:sp>
      <p:sp>
        <p:nvSpPr>
          <p:cNvPr id="30723"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829AF3FC-D89A-42C9-A95A-7C97842CB688}" type="slidenum">
              <a:rPr lang="en-US" sz="1200">
                <a:latin typeface="+mn-lt"/>
              </a:rPr>
              <a:pPr algn="r">
                <a:defRPr/>
              </a:pPr>
              <a:t>11</a:t>
            </a:fld>
            <a:endParaRPr lang="en-US" sz="1200">
              <a:latin typeface="+mn-l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An example of one dilemma can be illustrated by the following case of the Roadway Construction Project.</a:t>
            </a:r>
          </a:p>
          <a:p>
            <a:pPr eaLnBrk="1" hangingPunct="1">
              <a:spcBef>
                <a:spcPct val="0"/>
              </a:spcBef>
            </a:pPr>
            <a:r>
              <a:rPr lang="en-US" smtClean="0"/>
              <a:t> </a:t>
            </a:r>
          </a:p>
          <a:p>
            <a:pPr eaLnBrk="1" hangingPunct="1">
              <a:spcBef>
                <a:spcPct val="0"/>
              </a:spcBef>
            </a:pPr>
            <a:r>
              <a:rPr lang="en-US" smtClean="0"/>
              <a:t>You have been hired by an international engineering firm to provide the design team with localized climatological information on precipitation (type, rates, total storm amounts) and wind (speed and direction) along several potential road development corridors in a developing country.  To get this consulting job you took an aggressive stance with price and need to finish your in-country wok as soon as possible.  While the broad scale climatological data is available (major cities and airports) the local climatological data and recent local meteorological measurement data along the potential road corridors is available only at selective universities and through the military.  You approached the Army Major in charge of the data collection and processing only to learn that the data you want while it has been collected and processed is considered sensitive due to the proximity of unnamed military facilities and thus not available to foreigners.  You then approached the university professor in charge of collecting and processing similar data civil uses.  You are told that this local data is only stored in a “raw” format.  The professor suggests that he and his graduate student can process the data into a suitable format for you.  They are very willing to give you a “proposal” to perform this work.  As a bonus that imply they have a special relationship with the Army Major in charge of the military data collection and can also access this information for processing to format the data at a modest cost.  The professor assures you that the “military” data is not sensitive and he can be easily sent to you when the processing is completed back to the U.S. via e-mail.  What do you do?</a:t>
            </a:r>
          </a:p>
          <a:p>
            <a:pPr eaLnBrk="1" hangingPunct="1">
              <a:spcBef>
                <a:spcPct val="0"/>
              </a:spcBef>
            </a:pPr>
            <a:r>
              <a:rPr lang="en-US" smtClean="0"/>
              <a:t> </a:t>
            </a:r>
          </a:p>
          <a:p>
            <a:pPr eaLnBrk="1" hangingPunct="1">
              <a:spcBef>
                <a:spcPct val="0"/>
              </a:spcBef>
            </a:pPr>
            <a:r>
              <a:rPr lang="en-US" smtClean="0"/>
              <a:t>Give a grant to the university professor to “process” the civil data and extrapolate it to the full extent of the corridors.</a:t>
            </a:r>
          </a:p>
          <a:p>
            <a:pPr eaLnBrk="1" hangingPunct="1">
              <a:spcBef>
                <a:spcPct val="0"/>
              </a:spcBef>
            </a:pPr>
            <a:r>
              <a:rPr lang="en-US" smtClean="0"/>
              <a:t>Provide additional funding to the university professor to recover the “military” data.</a:t>
            </a:r>
          </a:p>
          <a:p>
            <a:pPr eaLnBrk="1" hangingPunct="1">
              <a:spcBef>
                <a:spcPct val="0"/>
              </a:spcBef>
            </a:pPr>
            <a:r>
              <a:rPr lang="en-US" smtClean="0"/>
              <a:t>Negotiate with the Army Major to acquire the military data so the full extent of the roadway corridor is covered.</a:t>
            </a:r>
          </a:p>
          <a:p>
            <a:pPr eaLnBrk="1" hangingPunct="1">
              <a:spcBef>
                <a:spcPct val="0"/>
              </a:spcBef>
            </a:pPr>
            <a:r>
              <a:rPr lang="en-US" smtClean="0"/>
              <a:t>Report to the Engineering firm the data along the full extent of the corridors cannot be obtained but you will use best practices to extrapolate the required parameters.</a:t>
            </a:r>
          </a:p>
          <a:p>
            <a:pPr eaLnBrk="1" hangingPunct="1">
              <a:spcBef>
                <a:spcPct val="0"/>
              </a:spcBef>
            </a:pPr>
            <a:r>
              <a:rPr lang="en-US" smtClean="0"/>
              <a:t>Should you hire a local consultant to help clarify the legal status of the data and just what the Army Major said.</a:t>
            </a:r>
          </a:p>
          <a:p>
            <a:pPr eaLnBrk="1" hangingPunct="1">
              <a:spcBef>
                <a:spcPct val="0"/>
              </a:spcBef>
            </a:pPr>
            <a:r>
              <a:rPr lang="en-US" smtClean="0"/>
              <a:t> </a:t>
            </a:r>
          </a:p>
          <a:p>
            <a:pPr eaLnBrk="1" hangingPunct="1">
              <a:spcBef>
                <a:spcPct val="0"/>
              </a:spcBef>
            </a:pPr>
            <a:r>
              <a:rPr lang="en-US" b="1" smtClean="0"/>
              <a:t>Summary</a:t>
            </a:r>
          </a:p>
          <a:p>
            <a:pPr eaLnBrk="1" hangingPunct="1">
              <a:spcBef>
                <a:spcPct val="0"/>
              </a:spcBef>
            </a:pPr>
            <a:r>
              <a:rPr lang="en-US" smtClean="0"/>
              <a:t>The question is trust.  Can you really trust the university professor?  Was the Army Major truthful or looking for a bribe?  Is there any civilian and military data?  Will any data you get be reliable or just extrapolations from major stations?  </a:t>
            </a:r>
          </a:p>
          <a:p>
            <a:pPr eaLnBrk="1" hangingPunct="1">
              <a:spcBef>
                <a:spcPct val="0"/>
              </a:spcBef>
            </a:pPr>
            <a:endParaRPr lang="en-US" smtClean="0"/>
          </a:p>
        </p:txBody>
      </p:sp>
      <p:sp>
        <p:nvSpPr>
          <p:cNvPr id="34819"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B2765AA7-042A-4E47-A645-47A3A3C915DE}" type="slidenum">
              <a:rPr lang="en-US" sz="1200">
                <a:latin typeface="+mn-lt"/>
              </a:rPr>
              <a:pPr algn="r">
                <a:defRPr/>
              </a:pPr>
              <a:t>14</a:t>
            </a:fld>
            <a:endParaRPr lang="en-US" sz="1200">
              <a:latin typeface="+mn-l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An example of one dilemma can be illustrated by the following case of the Roadway Construction Project.</a:t>
            </a:r>
          </a:p>
          <a:p>
            <a:pPr eaLnBrk="1" hangingPunct="1">
              <a:spcBef>
                <a:spcPct val="0"/>
              </a:spcBef>
            </a:pPr>
            <a:r>
              <a:rPr lang="en-US" smtClean="0"/>
              <a:t> </a:t>
            </a:r>
          </a:p>
          <a:p>
            <a:pPr eaLnBrk="1" hangingPunct="1">
              <a:spcBef>
                <a:spcPct val="0"/>
              </a:spcBef>
            </a:pPr>
            <a:r>
              <a:rPr lang="en-US" smtClean="0"/>
              <a:t>You have been hired by an international engineering firm to provide the design team with localized climatological information on precipitation (type, rates, total storm amounts) and wind (speed and direction) along several potential road development corridors in a developing country.  To get this consulting job you took an aggressive stance with price and need to finish your in-country wok as soon as possible.  While the broad scale climatological data is available (major cities and airports) the local climatological data and recent local meteorological measurement data along the potential road corridors is available only at selective universities and through the military.  You approached the Army Major in charge of the data collection and processing only to learn that the data you want while it has been collected and processed is considered sensitive due to the proximity of unnamed military facilities and thus not available to foreigners.  You then approached the university professor in charge of collecting and processing similar data civil uses.  You are told that this local data is only stored in a “raw” format.  The professor suggests that he and his graduate student can process the data into a suitable format for you.  They are very willing to give you a “proposal” to perform this work.  As a bonus that imply they have a special relationship with the Army Major in charge of the military data collection and can also access this information for processing to format the data at a modest cost.  The professor assures you that the “military” data is not sensitive and he can be easily sent to you when the processing is completed back to the U.S. via e-mail.  What do you do?</a:t>
            </a:r>
          </a:p>
          <a:p>
            <a:pPr eaLnBrk="1" hangingPunct="1">
              <a:spcBef>
                <a:spcPct val="0"/>
              </a:spcBef>
            </a:pPr>
            <a:r>
              <a:rPr lang="en-US" smtClean="0"/>
              <a:t> </a:t>
            </a:r>
          </a:p>
          <a:p>
            <a:pPr eaLnBrk="1" hangingPunct="1">
              <a:spcBef>
                <a:spcPct val="0"/>
              </a:spcBef>
            </a:pPr>
            <a:r>
              <a:rPr lang="en-US" b="1" smtClean="0"/>
              <a:t>Questions to ask yourself</a:t>
            </a:r>
          </a:p>
          <a:p>
            <a:pPr eaLnBrk="1" hangingPunct="1">
              <a:spcBef>
                <a:spcPct val="0"/>
              </a:spcBef>
            </a:pPr>
            <a:r>
              <a:rPr lang="en-US" smtClean="0"/>
              <a:t>Give a grant to the university professor to “process” the civil data and extrapolate it to the full extent of the corridors?</a:t>
            </a:r>
          </a:p>
          <a:p>
            <a:pPr eaLnBrk="1" hangingPunct="1">
              <a:spcBef>
                <a:spcPct val="0"/>
              </a:spcBef>
            </a:pPr>
            <a:r>
              <a:rPr lang="en-US" smtClean="0"/>
              <a:t>Provide additional funding to the university professor to recover the “military” data?</a:t>
            </a:r>
          </a:p>
          <a:p>
            <a:pPr eaLnBrk="1" hangingPunct="1">
              <a:spcBef>
                <a:spcPct val="0"/>
              </a:spcBef>
            </a:pPr>
            <a:r>
              <a:rPr lang="en-US" smtClean="0"/>
              <a:t>Negotiate with the Army Major to acquire the military data so the full extent of the roadway corridor is covered?</a:t>
            </a:r>
          </a:p>
          <a:p>
            <a:pPr eaLnBrk="1" hangingPunct="1">
              <a:spcBef>
                <a:spcPct val="0"/>
              </a:spcBef>
            </a:pPr>
            <a:r>
              <a:rPr lang="en-US" smtClean="0"/>
              <a:t>Report to the Engineering firm that the data along the full extent of the corridors cannot be obtained but you will use best practices to extrapolate the required parameters?</a:t>
            </a:r>
          </a:p>
          <a:p>
            <a:pPr eaLnBrk="1" hangingPunct="1">
              <a:spcBef>
                <a:spcPct val="0"/>
              </a:spcBef>
            </a:pPr>
            <a:r>
              <a:rPr lang="en-US" smtClean="0"/>
              <a:t>Should you hire a local consultant to help clarify the legal status of the data and just what the Army Major said?</a:t>
            </a:r>
          </a:p>
          <a:p>
            <a:pPr eaLnBrk="1" hangingPunct="1">
              <a:spcBef>
                <a:spcPct val="0"/>
              </a:spcBef>
            </a:pPr>
            <a:r>
              <a:rPr lang="en-US" smtClean="0"/>
              <a:t> </a:t>
            </a:r>
          </a:p>
          <a:p>
            <a:pPr eaLnBrk="1" hangingPunct="1">
              <a:spcBef>
                <a:spcPct val="0"/>
              </a:spcBef>
            </a:pPr>
            <a:r>
              <a:rPr lang="en-US" b="1" smtClean="0"/>
              <a:t>Additional Questions</a:t>
            </a:r>
          </a:p>
          <a:p>
            <a:pPr eaLnBrk="1" hangingPunct="1">
              <a:spcBef>
                <a:spcPct val="0"/>
              </a:spcBef>
            </a:pPr>
            <a:r>
              <a:rPr lang="en-US" smtClean="0"/>
              <a:t>The question is trust.  Can you really trust the university professor?  Was the Army Major truthful or looking for a bribe?  Is there any civilian and military data?  Will any data you get be reliable or just extrapolations from major stations?  </a:t>
            </a:r>
          </a:p>
          <a:p>
            <a:pPr eaLnBrk="1" hangingPunct="1">
              <a:spcBef>
                <a:spcPct val="0"/>
              </a:spcBef>
            </a:pPr>
            <a:endParaRPr lang="en-US" smtClean="0"/>
          </a:p>
        </p:txBody>
      </p:sp>
      <p:sp>
        <p:nvSpPr>
          <p:cNvPr id="36867"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BDD7C4B2-493F-4250-BE11-74FE3B65C06D}" type="slidenum">
              <a:rPr lang="en-US" sz="1200">
                <a:latin typeface="+mn-lt"/>
              </a:rPr>
              <a:pPr algn="r">
                <a:defRPr/>
              </a:pPr>
              <a:t>15</a:t>
            </a:fld>
            <a:endParaRPr lang="en-US" sz="1200">
              <a:latin typeface="+mn-l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High profile person is involved in a late night car accident in a rural area that occurred during a frontal passage and is being sued for damages.  Because of their position the plaintiff's attorney is asking for a considerable sum of money.  Thus, the client is willing to hire an expert (you) to defend his claim that the roadway was not wet and the plaintive was driving recklessly. The plaintive claims that the defendant was driving too fast for conditions and the roadway was covered in water and it was raining hard.  Radar data is spotty in the area of the accident and the nearest Class A weather station is 10 miles.</a:t>
            </a:r>
          </a:p>
          <a:p>
            <a:pPr eaLnBrk="1" hangingPunct="1">
              <a:spcBef>
                <a:spcPct val="0"/>
              </a:spcBef>
            </a:pPr>
            <a:r>
              <a:rPr lang="en-US" smtClean="0"/>
              <a:t>A near by weather enthusiast offers data from his personal weather system that has been operating for 5 years to help substantiate the rainfall during the period. </a:t>
            </a:r>
          </a:p>
          <a:p>
            <a:pPr eaLnBrk="1" hangingPunct="1">
              <a:spcBef>
                <a:spcPct val="0"/>
              </a:spcBef>
            </a:pPr>
            <a:endParaRPr lang="en-US" smtClean="0"/>
          </a:p>
          <a:p>
            <a:pPr eaLnBrk="1" hangingPunct="1">
              <a:spcBef>
                <a:spcPct val="0"/>
              </a:spcBef>
            </a:pPr>
            <a:r>
              <a:rPr lang="en-US" smtClean="0"/>
              <a:t>The question here is  do you really need the weather enthusiast  data, and is it of any value.  Uncontrolled data can be altered easily with no trace.  The enthusiast could be a fan of the defendant or the plaintive and could alter the data to support either position.</a:t>
            </a:r>
          </a:p>
          <a:p>
            <a:pPr eaLnBrk="1" hangingPunct="1">
              <a:spcBef>
                <a:spcPct val="0"/>
              </a:spcBef>
            </a:pPr>
            <a:endParaRPr lang="en-US" smtClean="0"/>
          </a:p>
          <a:p>
            <a:pPr eaLnBrk="1" hangingPunct="1">
              <a:spcBef>
                <a:spcPct val="0"/>
              </a:spcBef>
            </a:pPr>
            <a:r>
              <a:rPr lang="en-US" smtClean="0"/>
              <a:t>There are many weather sites owned and operated by individuals who may or may not have any meteorological training.  They may offer data for a variety of reasons.</a:t>
            </a:r>
          </a:p>
          <a:p>
            <a:pPr eaLnBrk="1" hangingPunct="1">
              <a:spcBef>
                <a:spcPct val="0"/>
              </a:spcBef>
            </a:pPr>
            <a:endParaRPr lang="en-US" smtClean="0"/>
          </a:p>
          <a:p>
            <a:pPr eaLnBrk="1" hangingPunct="1">
              <a:spcBef>
                <a:spcPct val="0"/>
              </a:spcBef>
            </a:pPr>
            <a:r>
              <a:rPr lang="en-US" smtClean="0"/>
              <a:t>You will need to explore the data and the station just in case the plaintiff's attorney brings it up.  But it is basically unreliable unless there are special circumstances.</a:t>
            </a:r>
          </a:p>
        </p:txBody>
      </p:sp>
      <p:sp>
        <p:nvSpPr>
          <p:cNvPr id="40963"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8617E993-4917-43DF-BD50-631BBAFC1BC8}" type="slidenum">
              <a:rPr lang="en-US" sz="1200">
                <a:latin typeface="+mn-lt"/>
              </a:rPr>
              <a:pPr algn="r">
                <a:defRPr/>
              </a:pPr>
              <a:t>18</a:t>
            </a:fld>
            <a:endParaRPr lang="en-US" sz="1200">
              <a:latin typeface="+mn-l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lIns="45720" tIns="0" rIns="45720" bIns="0" anchor="b">
            <a:scene3d>
              <a:camera prst="orthographicFront"/>
              <a:lightRig rig="soft" dir="t">
                <a:rot lat="0" lon="0" rev="17220000"/>
              </a:lightRig>
            </a:scene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lang="en-US" smtClean="0"/>
              <a:t>Click to edit Master title style</a:t>
            </a:r>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13"/>
          <p:cNvSpPr>
            <a:spLocks noGrp="1"/>
          </p:cNvSpPr>
          <p:nvPr>
            <p:ph type="dt" sz="half" idx="10"/>
          </p:nvPr>
        </p:nvSpPr>
        <p:spPr/>
        <p:txBody>
          <a:bodyPr/>
          <a:lstStyle>
            <a:lvl1pPr>
              <a:defRPr/>
            </a:lvl1pPr>
          </a:lstStyle>
          <a:p>
            <a:pPr>
              <a:defRPr/>
            </a:pPr>
            <a:r>
              <a:rPr lang="en-US"/>
              <a:t>10/15/2012</a:t>
            </a:r>
            <a:endParaRPr lang="en-US" dirty="0"/>
          </a:p>
        </p:txBody>
      </p:sp>
      <p:sp>
        <p:nvSpPr>
          <p:cNvPr id="5" name="Slide Number Placeholder 22"/>
          <p:cNvSpPr>
            <a:spLocks noGrp="1"/>
          </p:cNvSpPr>
          <p:nvPr>
            <p:ph type="sldNum" sz="quarter" idx="11"/>
          </p:nvPr>
        </p:nvSpPr>
        <p:spPr/>
        <p:txBody>
          <a:bodyPr/>
          <a:lstStyle>
            <a:lvl1pPr>
              <a:defRPr/>
            </a:lvl1pPr>
          </a:lstStyle>
          <a:p>
            <a:pPr>
              <a:defRPr/>
            </a:pPr>
            <a:fld id="{ED91E23C-B0F5-4B5E-BFBA-7A4FC3A2C75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r>
              <a:rPr lang="en-US"/>
              <a:t>10/15/2012</a:t>
            </a:r>
            <a:endParaRPr lang="en-US" dirty="0"/>
          </a:p>
        </p:txBody>
      </p:sp>
      <p:sp>
        <p:nvSpPr>
          <p:cNvPr id="5" name="Slide Number Placeholder 22"/>
          <p:cNvSpPr>
            <a:spLocks noGrp="1"/>
          </p:cNvSpPr>
          <p:nvPr>
            <p:ph type="sldNum" sz="quarter" idx="11"/>
          </p:nvPr>
        </p:nvSpPr>
        <p:spPr/>
        <p:txBody>
          <a:bodyPr/>
          <a:lstStyle>
            <a:lvl1pPr>
              <a:defRPr/>
            </a:lvl1pPr>
          </a:lstStyle>
          <a:p>
            <a:pPr>
              <a:defRPr/>
            </a:pPr>
            <a:fld id="{05B04FA0-C7DF-4768-92CD-8CB12E7BFEE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1600200" y="2507786"/>
            <a:ext cx="7086600" cy="1509712"/>
          </a:xfrm>
        </p:spPr>
        <p:txBody>
          <a:bodyPr/>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10/15/2012</a:t>
            </a:r>
          </a:p>
        </p:txBody>
      </p:sp>
      <p:sp>
        <p:nvSpPr>
          <p:cNvPr id="5" name="Slide Number Placeholder 5"/>
          <p:cNvSpPr>
            <a:spLocks noGrp="1"/>
          </p:cNvSpPr>
          <p:nvPr>
            <p:ph type="sldNum" sz="quarter" idx="11"/>
          </p:nvPr>
        </p:nvSpPr>
        <p:spPr/>
        <p:txBody>
          <a:bodyPr/>
          <a:lstStyle>
            <a:lvl1pPr>
              <a:defRPr/>
            </a:lvl1pPr>
          </a:lstStyle>
          <a:p>
            <a:pPr>
              <a:defRPr/>
            </a:pPr>
            <a:fld id="{A6C9668A-CA20-4FB9-8CCB-4E17E6C4BC24}"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r>
              <a:rPr lang="en-US"/>
              <a:t>10/15/2012</a:t>
            </a:r>
            <a:endParaRPr lang="en-US" dirty="0"/>
          </a:p>
        </p:txBody>
      </p:sp>
      <p:sp>
        <p:nvSpPr>
          <p:cNvPr id="6" name="Slide Number Placeholder 22"/>
          <p:cNvSpPr>
            <a:spLocks noGrp="1"/>
          </p:cNvSpPr>
          <p:nvPr>
            <p:ph type="sldNum" sz="quarter" idx="11"/>
          </p:nvPr>
        </p:nvSpPr>
        <p:spPr/>
        <p:txBody>
          <a:bodyPr/>
          <a:lstStyle>
            <a:lvl1pPr>
              <a:defRPr/>
            </a:lvl1pPr>
          </a:lstStyle>
          <a:p>
            <a:pPr>
              <a:defRPr/>
            </a:pPr>
            <a:fld id="{B3D48F3C-8726-424B-8ED3-81752BD8C18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13"/>
          <p:cNvSpPr>
            <a:spLocks noGrp="1"/>
          </p:cNvSpPr>
          <p:nvPr>
            <p:ph type="dt" sz="half" idx="10"/>
          </p:nvPr>
        </p:nvSpPr>
        <p:spPr/>
        <p:txBody>
          <a:bodyPr/>
          <a:lstStyle>
            <a:lvl1pPr>
              <a:defRPr/>
            </a:lvl1pPr>
          </a:lstStyle>
          <a:p>
            <a:pPr>
              <a:defRPr/>
            </a:pPr>
            <a:r>
              <a:rPr lang="en-US"/>
              <a:t>10/15/2012</a:t>
            </a:r>
            <a:endParaRPr lang="en-US" dirty="0"/>
          </a:p>
        </p:txBody>
      </p:sp>
      <p:sp>
        <p:nvSpPr>
          <p:cNvPr id="8" name="Slide Number Placeholder 22"/>
          <p:cNvSpPr>
            <a:spLocks noGrp="1"/>
          </p:cNvSpPr>
          <p:nvPr>
            <p:ph type="sldNum" sz="quarter" idx="11"/>
          </p:nvPr>
        </p:nvSpPr>
        <p:spPr/>
        <p:txBody>
          <a:bodyPr/>
          <a:lstStyle>
            <a:lvl1pPr>
              <a:defRPr/>
            </a:lvl1pPr>
          </a:lstStyle>
          <a:p>
            <a:pPr>
              <a:defRPr/>
            </a:pPr>
            <a:fld id="{84B255CD-830C-4270-8279-C6374B799FE4}"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r>
              <a:rPr lang="en-US"/>
              <a:t>10/15/2012</a:t>
            </a:r>
            <a:endParaRPr lang="en-US" dirty="0"/>
          </a:p>
        </p:txBody>
      </p:sp>
      <p:sp>
        <p:nvSpPr>
          <p:cNvPr id="4" name="Slide Number Placeholder 22"/>
          <p:cNvSpPr>
            <a:spLocks noGrp="1"/>
          </p:cNvSpPr>
          <p:nvPr>
            <p:ph type="sldNum" sz="quarter" idx="11"/>
          </p:nvPr>
        </p:nvSpPr>
        <p:spPr/>
        <p:txBody>
          <a:bodyPr/>
          <a:lstStyle>
            <a:lvl1pPr>
              <a:defRPr/>
            </a:lvl1pPr>
          </a:lstStyle>
          <a:p>
            <a:pPr>
              <a:defRPr/>
            </a:pPr>
            <a:fld id="{FE969CE7-22A8-40EF-8050-0462B53E4C3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r>
              <a:rPr lang="en-US"/>
              <a:t>10/15/2012</a:t>
            </a:r>
            <a:endParaRPr lang="en-US" dirty="0"/>
          </a:p>
        </p:txBody>
      </p:sp>
      <p:sp>
        <p:nvSpPr>
          <p:cNvPr id="3" name="Slide Number Placeholder 22"/>
          <p:cNvSpPr>
            <a:spLocks noGrp="1"/>
          </p:cNvSpPr>
          <p:nvPr>
            <p:ph type="sldNum" sz="quarter" idx="11"/>
          </p:nvPr>
        </p:nvSpPr>
        <p:spPr/>
        <p:txBody>
          <a:bodyPr/>
          <a:lstStyle>
            <a:lvl1pPr>
              <a:defRPr/>
            </a:lvl1pPr>
          </a:lstStyle>
          <a:p>
            <a:pPr>
              <a:defRPr/>
            </a:pPr>
            <a:fld id="{DE1F73C9-65E6-4A31-89D9-72AA025E89B8}"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sp3d prstMaterial="softEdge"/>
          </a:bodyPr>
          <a:lstStyle>
            <a:lvl1pPr algn="l">
              <a:buNone/>
              <a:defRPr sz="2200" b="0">
                <a:ln w="6350">
                  <a:noFill/>
                </a:ln>
                <a:solidFill>
                  <a:schemeClr val="accent1">
                    <a:tint val="73000"/>
                    <a:satMod val="180000"/>
                  </a:schemeClr>
                </a:solidFill>
              </a:defRPr>
            </a:lvl1pPr>
          </a:lstStyle>
          <a:p>
            <a:r>
              <a:rPr lang="en-US" smtClean="0"/>
              <a:t>Click to edit Master title style</a:t>
            </a:r>
            <a:endParaRPr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r>
              <a:rPr lang="en-US"/>
              <a:t>10/15/2012</a:t>
            </a:r>
            <a:endParaRPr lang="en-US" dirty="0"/>
          </a:p>
        </p:txBody>
      </p:sp>
      <p:sp>
        <p:nvSpPr>
          <p:cNvPr id="6" name="Slide Number Placeholder 22"/>
          <p:cNvSpPr>
            <a:spLocks noGrp="1"/>
          </p:cNvSpPr>
          <p:nvPr>
            <p:ph type="sldNum" sz="quarter" idx="11"/>
          </p:nvPr>
        </p:nvSpPr>
        <p:spPr/>
        <p:txBody>
          <a:bodyPr/>
          <a:lstStyle>
            <a:lvl1pPr>
              <a:defRPr/>
            </a:lvl1pPr>
          </a:lstStyle>
          <a:p>
            <a:pPr>
              <a:defRPr/>
            </a:pPr>
            <a:fld id="{DC4E3859-48A3-4880-98BA-180C3228BD21}"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ormAutofit/>
          </a:bodyPr>
          <a:lstStyle>
            <a:lvl1pPr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828800" y="1166787"/>
            <a:ext cx="5486400" cy="530352"/>
          </a:xfrm>
        </p:spPr>
        <p:txBody>
          <a:bodyPr lIns="45720" rIns="45720"/>
          <a:lstStyle>
            <a:lvl1pPr marL="0" indent="0" algn="ctr">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13"/>
          <p:cNvSpPr>
            <a:spLocks noGrp="1"/>
          </p:cNvSpPr>
          <p:nvPr>
            <p:ph type="dt" sz="half" idx="10"/>
          </p:nvPr>
        </p:nvSpPr>
        <p:spPr/>
        <p:txBody>
          <a:bodyPr/>
          <a:lstStyle>
            <a:lvl1pPr>
              <a:defRPr/>
            </a:lvl1pPr>
          </a:lstStyle>
          <a:p>
            <a:pPr>
              <a:defRPr/>
            </a:pPr>
            <a:r>
              <a:rPr lang="en-US"/>
              <a:t>10/15/2012</a:t>
            </a:r>
            <a:endParaRPr lang="en-US" dirty="0"/>
          </a:p>
        </p:txBody>
      </p:sp>
      <p:sp>
        <p:nvSpPr>
          <p:cNvPr id="6" name="Slide Number Placeholder 22"/>
          <p:cNvSpPr>
            <a:spLocks noGrp="1"/>
          </p:cNvSpPr>
          <p:nvPr>
            <p:ph type="sldNum" sz="quarter" idx="11"/>
          </p:nvPr>
        </p:nvSpPr>
        <p:spPr/>
        <p:txBody>
          <a:bodyPr/>
          <a:lstStyle>
            <a:lvl1pPr>
              <a:defRPr/>
            </a:lvl1pPr>
          </a:lstStyle>
          <a:p>
            <a:pPr>
              <a:defRPr/>
            </a:pPr>
            <a:fld id="{0F6FF99D-CCAA-4E1A-82B2-AB0060923F9E}"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r>
              <a:rPr lang="en-US"/>
              <a:t>10/15/2012</a:t>
            </a:r>
            <a:endParaRPr lang="en-US" dirty="0"/>
          </a:p>
        </p:txBody>
      </p:sp>
      <p:sp>
        <p:nvSpPr>
          <p:cNvPr id="5" name="Slide Number Placeholder 22"/>
          <p:cNvSpPr>
            <a:spLocks noGrp="1"/>
          </p:cNvSpPr>
          <p:nvPr>
            <p:ph type="sldNum" sz="quarter" idx="11"/>
          </p:nvPr>
        </p:nvSpPr>
        <p:spPr/>
        <p:txBody>
          <a:bodyPr/>
          <a:lstStyle>
            <a:lvl1pPr>
              <a:defRPr/>
            </a:lvl1pPr>
          </a:lstStyle>
          <a:p>
            <a:pPr>
              <a:defRPr/>
            </a:pPr>
            <a:fld id="{1C36A670-62AF-4006-8811-F56D92FE8D46}"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r>
              <a:rPr lang="en-US"/>
              <a:t>10/15/2012</a:t>
            </a:r>
            <a:endParaRPr lang="en-US" dirty="0"/>
          </a:p>
        </p:txBody>
      </p:sp>
      <p:sp>
        <p:nvSpPr>
          <p:cNvPr id="5" name="Slide Number Placeholder 22"/>
          <p:cNvSpPr>
            <a:spLocks noGrp="1"/>
          </p:cNvSpPr>
          <p:nvPr>
            <p:ph type="sldNum" sz="quarter" idx="11"/>
          </p:nvPr>
        </p:nvSpPr>
        <p:spPr/>
        <p:txBody>
          <a:bodyPr/>
          <a:lstStyle>
            <a:lvl1pPr>
              <a:defRPr/>
            </a:lvl1pPr>
          </a:lstStyle>
          <a:p>
            <a:pPr>
              <a:defRPr/>
            </a:pPr>
            <a:fld id="{43396AE0-CED4-45AE-B61F-3BCB2B8D9D4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lang="en-US" smtClean="0"/>
              <a:t>Click to edit Master title style</a:t>
            </a:r>
            <a:endParaRPr lang="en-US"/>
          </a:p>
        </p:txBody>
      </p:sp>
      <p:sp>
        <p:nvSpPr>
          <p:cNvPr id="1027" name="Text Placeholder 12"/>
          <p:cNvSpPr>
            <a:spLocks noGrp="1"/>
          </p:cNvSpPr>
          <p:nvPr>
            <p:ph type="body" idx="1"/>
          </p:nvPr>
        </p:nvSpPr>
        <p:spPr bwMode="auto">
          <a:xfrm>
            <a:off x="457200" y="1600200"/>
            <a:ext cx="8229600" cy="4708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fontAlgn="auto" latinLnBrk="0" hangingPunct="1">
              <a:spcBef>
                <a:spcPts val="0"/>
              </a:spcBef>
              <a:spcAft>
                <a:spcPts val="0"/>
              </a:spcAft>
              <a:defRPr kumimoji="0" sz="1200">
                <a:solidFill>
                  <a:schemeClr val="tx1">
                    <a:shade val="50000"/>
                  </a:schemeClr>
                </a:solidFill>
                <a:latin typeface="+mn-lt"/>
              </a:defRPr>
            </a:lvl1pPr>
          </a:lstStyle>
          <a:p>
            <a:pPr>
              <a:defRPr/>
            </a:pPr>
            <a:r>
              <a:rPr lang="en-US"/>
              <a:t>10/15/2012</a:t>
            </a:r>
            <a:endParaRPr lang="en-US" dirty="0"/>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fontAlgn="auto" latinLnBrk="0" hangingPunct="1">
              <a:spcBef>
                <a:spcPts val="0"/>
              </a:spcBef>
              <a:spcAft>
                <a:spcPts val="0"/>
              </a:spcAft>
              <a:defRPr kumimoji="0" sz="1200">
                <a:solidFill>
                  <a:schemeClr val="tx1">
                    <a:shade val="50000"/>
                  </a:schemeClr>
                </a:solidFill>
                <a:latin typeface="+mn-lt"/>
              </a:defRPr>
            </a:lvl1pPr>
          </a:lstStyle>
          <a:p>
            <a:pPr>
              <a:defRPr/>
            </a:pPr>
            <a:fld id="{796560EF-43AF-4DB5-A515-00FED7337338}"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662" r:id="rId1"/>
    <p:sldLayoutId id="2147483663" r:id="rId2"/>
    <p:sldLayoutId id="2147483672"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rtl="0" eaLnBrk="0" fontAlgn="base" hangingPunct="0">
        <a:spcBef>
          <a:spcPct val="0"/>
        </a:spcBef>
        <a:spcAft>
          <a:spcPct val="0"/>
        </a:spcAft>
        <a:defRPr sz="4100" b="1" kern="120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a:lvl2pPr algn="ctr" rtl="0" eaLnBrk="0" fontAlgn="base" hangingPunct="0">
        <a:spcBef>
          <a:spcPct val="0"/>
        </a:spcBef>
        <a:spcAft>
          <a:spcPct val="0"/>
        </a:spcAft>
        <a:defRPr sz="4100" b="1">
          <a:solidFill>
            <a:schemeClr val="tx1"/>
          </a:solidFill>
          <a:latin typeface="Lucida Sans" pitchFamily="34" charset="0"/>
        </a:defRPr>
      </a:lvl2pPr>
      <a:lvl3pPr algn="ctr" rtl="0" eaLnBrk="0" fontAlgn="base" hangingPunct="0">
        <a:spcBef>
          <a:spcPct val="0"/>
        </a:spcBef>
        <a:spcAft>
          <a:spcPct val="0"/>
        </a:spcAft>
        <a:defRPr sz="4100" b="1">
          <a:solidFill>
            <a:schemeClr val="tx1"/>
          </a:solidFill>
          <a:latin typeface="Lucida Sans" pitchFamily="34" charset="0"/>
        </a:defRPr>
      </a:lvl3pPr>
      <a:lvl4pPr algn="ctr" rtl="0" eaLnBrk="0" fontAlgn="base" hangingPunct="0">
        <a:spcBef>
          <a:spcPct val="0"/>
        </a:spcBef>
        <a:spcAft>
          <a:spcPct val="0"/>
        </a:spcAft>
        <a:defRPr sz="4100" b="1">
          <a:solidFill>
            <a:schemeClr val="tx1"/>
          </a:solidFill>
          <a:latin typeface="Lucida Sans" pitchFamily="34" charset="0"/>
        </a:defRPr>
      </a:lvl4pPr>
      <a:lvl5pPr algn="ctr" rtl="0" eaLnBrk="0" fontAlgn="base" hangingPunct="0">
        <a:spcBef>
          <a:spcPct val="0"/>
        </a:spcBef>
        <a:spcAft>
          <a:spcPct val="0"/>
        </a:spcAft>
        <a:defRPr sz="4100" b="1">
          <a:solidFill>
            <a:schemeClr val="tx1"/>
          </a:solidFill>
          <a:latin typeface="Lucida Sans" pitchFamily="34" charset="0"/>
        </a:defRPr>
      </a:lvl5pPr>
      <a:lvl6pPr marL="457200" algn="ctr" rtl="0" fontAlgn="base">
        <a:spcBef>
          <a:spcPct val="0"/>
        </a:spcBef>
        <a:spcAft>
          <a:spcPct val="0"/>
        </a:spcAft>
        <a:defRPr sz="4100" b="1">
          <a:solidFill>
            <a:schemeClr val="tx1"/>
          </a:solidFill>
          <a:latin typeface="Lucida Sans" pitchFamily="34" charset="0"/>
        </a:defRPr>
      </a:lvl6pPr>
      <a:lvl7pPr marL="914400" algn="ctr" rtl="0" fontAlgn="base">
        <a:spcBef>
          <a:spcPct val="0"/>
        </a:spcBef>
        <a:spcAft>
          <a:spcPct val="0"/>
        </a:spcAft>
        <a:defRPr sz="4100" b="1">
          <a:solidFill>
            <a:schemeClr val="tx1"/>
          </a:solidFill>
          <a:latin typeface="Lucida Sans" pitchFamily="34" charset="0"/>
        </a:defRPr>
      </a:lvl7pPr>
      <a:lvl8pPr marL="1371600" algn="ctr" rtl="0" fontAlgn="base">
        <a:spcBef>
          <a:spcPct val="0"/>
        </a:spcBef>
        <a:spcAft>
          <a:spcPct val="0"/>
        </a:spcAft>
        <a:defRPr sz="4100" b="1">
          <a:solidFill>
            <a:schemeClr val="tx1"/>
          </a:solidFill>
          <a:latin typeface="Lucida Sans" pitchFamily="34" charset="0"/>
        </a:defRPr>
      </a:lvl8pPr>
      <a:lvl9pPr marL="1828800" algn="ctr" rtl="0" fontAlgn="base">
        <a:spcBef>
          <a:spcPct val="0"/>
        </a:spcBef>
        <a:spcAft>
          <a:spcPct val="0"/>
        </a:spcAft>
        <a:defRPr sz="4100" b="1">
          <a:solidFill>
            <a:schemeClr val="tx1"/>
          </a:solidFill>
          <a:latin typeface="Lucida Sans" pitchFamily="34" charset="0"/>
        </a:defRPr>
      </a:lvl9pPr>
    </p:titleStyle>
    <p:bodyStyle>
      <a:lvl1pPr marL="547688" indent="-411163" algn="l" rtl="0" eaLnBrk="0" fontAlgn="base" hangingPunct="0">
        <a:spcBef>
          <a:spcPct val="20000"/>
        </a:spcBef>
        <a:spcAft>
          <a:spcPct val="0"/>
        </a:spcAft>
        <a:buClr>
          <a:srgbClr val="F9F9F9"/>
        </a:buClr>
        <a:buSzPct val="65000"/>
        <a:buFont typeface="Wingdings 2" pitchFamily="18" charset="2"/>
        <a:buChar char=""/>
        <a:defRPr sz="2800" kern="1200">
          <a:solidFill>
            <a:schemeClr val="tx1"/>
          </a:solidFill>
          <a:latin typeface="+mn-lt"/>
          <a:ea typeface="+mn-ea"/>
          <a:cs typeface="+mn-cs"/>
        </a:defRPr>
      </a:lvl1pPr>
      <a:lvl2pPr marL="868363" indent="-282575" algn="l" rtl="0" eaLnBrk="0" fontAlgn="base" hangingPunct="0">
        <a:spcBef>
          <a:spcPct val="20000"/>
        </a:spcBef>
        <a:spcAft>
          <a:spcPct val="0"/>
        </a:spcAft>
        <a:buClr>
          <a:schemeClr val="tx1"/>
        </a:buClr>
        <a:buSzPct val="80000"/>
        <a:buFont typeface="Wingdings 2" pitchFamily="18" charset="2"/>
        <a:buChar char=""/>
        <a:defRPr sz="2400" kern="1200">
          <a:solidFill>
            <a:schemeClr val="tx1"/>
          </a:solidFill>
          <a:latin typeface="+mn-lt"/>
          <a:ea typeface="+mn-ea"/>
          <a:cs typeface="+mn-cs"/>
        </a:defRPr>
      </a:lvl2pPr>
      <a:lvl3pPr marL="1133475" indent="-228600" algn="l" rtl="0" eaLnBrk="0" fontAlgn="base" hangingPunct="0">
        <a:spcBef>
          <a:spcPct val="20000"/>
        </a:spcBef>
        <a:spcAft>
          <a:spcPct val="0"/>
        </a:spcAft>
        <a:buClr>
          <a:schemeClr val="tx1"/>
        </a:buClr>
        <a:buSzPct val="95000"/>
        <a:buFont typeface="Wingdings" pitchFamily="2" charset="2"/>
        <a:buChar char=""/>
        <a:defRPr sz="2200" kern="1200">
          <a:solidFill>
            <a:schemeClr val="tx1"/>
          </a:solidFill>
          <a:latin typeface="+mn-lt"/>
          <a:ea typeface="+mn-ea"/>
          <a:cs typeface="+mn-cs"/>
        </a:defRPr>
      </a:lvl3pPr>
      <a:lvl4pPr marL="1352550" indent="-182563" algn="l" rtl="0" eaLnBrk="0" fontAlgn="base" hangingPunct="0">
        <a:spcBef>
          <a:spcPct val="20000"/>
        </a:spcBef>
        <a:spcAft>
          <a:spcPct val="0"/>
        </a:spcAft>
        <a:buClr>
          <a:schemeClr val="tx1"/>
        </a:buClr>
        <a:buSzPct val="100000"/>
        <a:buFont typeface="Wingdings 3" pitchFamily="18" charset="2"/>
        <a:buChar char=""/>
        <a:defRPr sz="2000" kern="1200">
          <a:solidFill>
            <a:schemeClr val="tx1"/>
          </a:solidFill>
          <a:latin typeface="+mn-lt"/>
          <a:ea typeface="+mn-ea"/>
          <a:cs typeface="+mn-cs"/>
        </a:defRPr>
      </a:lvl4pPr>
      <a:lvl5pPr marL="1544638" indent="-182563" algn="l" rtl="0" eaLnBrk="0" fontAlgn="base" hangingPunct="0">
        <a:spcBef>
          <a:spcPct val="20000"/>
        </a:spcBef>
        <a:spcAft>
          <a:spcPct val="0"/>
        </a:spcAft>
        <a:buClr>
          <a:schemeClr val="tx1"/>
        </a:buClr>
        <a:buFont typeface="Wingdings 2" pitchFamily="18" charset="2"/>
        <a:buChar char=""/>
        <a:defRPr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1.wmf"/><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5.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7.jpeg"/><Relationship Id="rId4" Type="http://schemas.openxmlformats.org/officeDocument/2006/relationships/image" Target="../media/image6.jpeg"/></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26.wmf"/></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2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hyperlink" Target="http://www.weathermodification.org/" TargetMode="External"/><Relationship Id="rId7" Type="http://schemas.openxmlformats.org/officeDocument/2006/relationships/image" Target="../media/image6.jpeg"/><Relationship Id="rId2" Type="http://schemas.openxmlformats.org/officeDocument/2006/relationships/hyperlink" Target="http://www.nwas.org/" TargetMode="Externa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hyperlink" Target="http://ametsoc.org/" TargetMode="External"/><Relationship Id="rId4" Type="http://schemas.openxmlformats.org/officeDocument/2006/relationships/hyperlink" Target="http://www.ncim.org/"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wmf"/><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33.png"/><Relationship Id="rId4" Type="http://schemas.openxmlformats.org/officeDocument/2006/relationships/hyperlink" Target="http://www.irishmetsociety.org/index.ph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410200" y="4191000"/>
            <a:ext cx="2819400" cy="1752600"/>
          </a:xfrm>
        </p:spPr>
        <p:txBody>
          <a:bodyPr>
            <a:normAutofit fontScale="92500" lnSpcReduction="20000"/>
          </a:bodyPr>
          <a:lstStyle/>
          <a:p>
            <a:pPr marL="457200" indent="-457200" algn="l" eaLnBrk="1" fontAlgn="auto" hangingPunct="1">
              <a:spcAft>
                <a:spcPts val="0"/>
              </a:spcAft>
              <a:buClr>
                <a:schemeClr val="tx1">
                  <a:shade val="95000"/>
                </a:schemeClr>
              </a:buClr>
              <a:buFont typeface="Arial" pitchFamily="34" charset="0"/>
              <a:buChar char="•"/>
              <a:defRPr/>
            </a:pPr>
            <a:r>
              <a:rPr lang="en-US" dirty="0" smtClean="0"/>
              <a:t>Research</a:t>
            </a:r>
          </a:p>
          <a:p>
            <a:pPr marL="457200" indent="-457200" algn="l" eaLnBrk="1" fontAlgn="auto" hangingPunct="1">
              <a:spcAft>
                <a:spcPts val="0"/>
              </a:spcAft>
              <a:buClr>
                <a:schemeClr val="tx1">
                  <a:shade val="95000"/>
                </a:schemeClr>
              </a:buClr>
              <a:buFont typeface="Arial" pitchFamily="34" charset="0"/>
              <a:buChar char="•"/>
              <a:defRPr/>
            </a:pPr>
            <a:r>
              <a:rPr lang="en-US" dirty="0" smtClean="0"/>
              <a:t>Government</a:t>
            </a:r>
          </a:p>
          <a:p>
            <a:pPr marL="457200" indent="-457200" algn="l" eaLnBrk="1" fontAlgn="auto" hangingPunct="1">
              <a:spcAft>
                <a:spcPts val="0"/>
              </a:spcAft>
              <a:buClr>
                <a:schemeClr val="tx1">
                  <a:shade val="95000"/>
                </a:schemeClr>
              </a:buClr>
              <a:buFont typeface="Arial" pitchFamily="34" charset="0"/>
              <a:buChar char="•"/>
              <a:defRPr/>
            </a:pPr>
            <a:r>
              <a:rPr lang="en-US" dirty="0" smtClean="0"/>
              <a:t>Commercial</a:t>
            </a:r>
          </a:p>
          <a:p>
            <a:pPr marL="457200" indent="-457200" algn="l" eaLnBrk="1" fontAlgn="auto" hangingPunct="1">
              <a:spcAft>
                <a:spcPts val="0"/>
              </a:spcAft>
              <a:buClr>
                <a:schemeClr val="tx1">
                  <a:shade val="95000"/>
                </a:schemeClr>
              </a:buClr>
              <a:buFont typeface="Arial" pitchFamily="34" charset="0"/>
              <a:buChar char="•"/>
              <a:defRPr/>
            </a:pPr>
            <a:r>
              <a:rPr lang="en-US" dirty="0" smtClean="0"/>
              <a:t>Legal</a:t>
            </a:r>
            <a:endParaRPr lang="en-US" dirty="0"/>
          </a:p>
        </p:txBody>
      </p:sp>
      <p:pic>
        <p:nvPicPr>
          <p:cNvPr id="14338" name="Picture 2" descr="C:\Users\Gerry\AppData\Local\Microsoft\Windows\Temporary Internet Files\Content.IE5\2PZ5AOJQ\MP900341900[1].jpg"/>
          <p:cNvPicPr>
            <a:picLocks noChangeAspect="1" noChangeArrowheads="1"/>
          </p:cNvPicPr>
          <p:nvPr/>
        </p:nvPicPr>
        <p:blipFill>
          <a:blip r:embed="rId2"/>
          <a:srcRect/>
          <a:stretch>
            <a:fillRect/>
          </a:stretch>
        </p:blipFill>
        <p:spPr bwMode="auto">
          <a:xfrm>
            <a:off x="457200" y="3810000"/>
            <a:ext cx="3657600" cy="2609850"/>
          </a:xfrm>
          <a:prstGeom prst="rect">
            <a:avLst/>
          </a:prstGeom>
          <a:noFill/>
          <a:ln w="9525">
            <a:noFill/>
            <a:miter lim="800000"/>
            <a:headEnd/>
            <a:tailEnd/>
          </a:ln>
        </p:spPr>
      </p:pic>
      <p:sp>
        <p:nvSpPr>
          <p:cNvPr id="4" name="Date Placeholder 3"/>
          <p:cNvSpPr>
            <a:spLocks noGrp="1"/>
          </p:cNvSpPr>
          <p:nvPr>
            <p:ph type="dt" sz="quarter" idx="10"/>
          </p:nvPr>
        </p:nvSpPr>
        <p:spPr/>
        <p:txBody>
          <a:bodyPr/>
          <a:lstStyle/>
          <a:p>
            <a:pPr>
              <a:defRPr/>
            </a:pPr>
            <a:r>
              <a:rPr lang="en-US"/>
              <a:t>10/15/2012</a:t>
            </a:r>
          </a:p>
        </p:txBody>
      </p:sp>
      <p:sp>
        <p:nvSpPr>
          <p:cNvPr id="7" name="Slide Number Placeholder 6"/>
          <p:cNvSpPr>
            <a:spLocks noGrp="1"/>
          </p:cNvSpPr>
          <p:nvPr>
            <p:ph type="sldNum" sz="quarter" idx="11"/>
          </p:nvPr>
        </p:nvSpPr>
        <p:spPr/>
        <p:txBody>
          <a:bodyPr/>
          <a:lstStyle/>
          <a:p>
            <a:pPr>
              <a:defRPr/>
            </a:pPr>
            <a:fld id="{69362756-889E-4FA4-AB74-BAA2D965889B}" type="slidenum">
              <a:rPr lang="en-US"/>
              <a:pPr>
                <a:defRPr/>
              </a:pPr>
              <a:t>1</a:t>
            </a:fld>
            <a:endParaRPr lang="en-US"/>
          </a:p>
        </p:txBody>
      </p:sp>
      <p:pic>
        <p:nvPicPr>
          <p:cNvPr id="14341" name="Picture 8" descr="AMS seal"/>
          <p:cNvPicPr>
            <a:picLocks noChangeAspect="1" noChangeArrowheads="1"/>
          </p:cNvPicPr>
          <p:nvPr/>
        </p:nvPicPr>
        <p:blipFill>
          <a:blip r:embed="rId3"/>
          <a:srcRect/>
          <a:stretch>
            <a:fillRect/>
          </a:stretch>
        </p:blipFill>
        <p:spPr bwMode="auto">
          <a:xfrm>
            <a:off x="7467600" y="152400"/>
            <a:ext cx="1428750" cy="1428750"/>
          </a:xfrm>
          <a:prstGeom prst="rect">
            <a:avLst/>
          </a:prstGeom>
          <a:noFill/>
          <a:ln w="9525">
            <a:noFill/>
            <a:miter lim="800000"/>
            <a:headEnd/>
            <a:tailEnd/>
          </a:ln>
        </p:spPr>
      </p:pic>
      <p:pic>
        <p:nvPicPr>
          <p:cNvPr id="14342" name="Picture 9"/>
          <p:cNvPicPr>
            <a:picLocks noChangeAspect="1" noChangeArrowheads="1"/>
          </p:cNvPicPr>
          <p:nvPr/>
        </p:nvPicPr>
        <p:blipFill>
          <a:blip r:embed="rId4"/>
          <a:srcRect/>
          <a:stretch>
            <a:fillRect/>
          </a:stretch>
        </p:blipFill>
        <p:spPr bwMode="auto">
          <a:xfrm>
            <a:off x="6781800" y="1828800"/>
            <a:ext cx="2162175" cy="628650"/>
          </a:xfrm>
          <a:prstGeom prst="rect">
            <a:avLst/>
          </a:prstGeom>
          <a:noFill/>
          <a:ln w="9525">
            <a:noFill/>
            <a:miter lim="800000"/>
            <a:headEnd/>
            <a:tailEnd/>
          </a:ln>
        </p:spPr>
      </p:pic>
      <p:sp>
        <p:nvSpPr>
          <p:cNvPr id="14345" name="Text Box 9"/>
          <p:cNvSpPr txBox="1">
            <a:spLocks noChangeArrowheads="1"/>
          </p:cNvSpPr>
          <p:nvPr/>
        </p:nvSpPr>
        <p:spPr bwMode="auto">
          <a:xfrm>
            <a:off x="304800" y="228600"/>
            <a:ext cx="6802438" cy="2654300"/>
          </a:xfrm>
          <a:prstGeom prst="rect">
            <a:avLst/>
          </a:prstGeom>
          <a:noFill/>
          <a:ln w="9525">
            <a:noFill/>
            <a:miter lim="800000"/>
            <a:headEnd/>
            <a:tailEnd/>
          </a:ln>
          <a:effectLst/>
        </p:spPr>
        <p:txBody>
          <a:bodyPr>
            <a:spAutoFit/>
          </a:bodyPr>
          <a:lstStyle/>
          <a:p>
            <a:pPr algn="ctr">
              <a:defRPr/>
            </a:pPr>
            <a:r>
              <a:rPr lang="en-US" sz="2800" b="1" dirty="0">
                <a:solidFill>
                  <a:schemeClr val="bg1"/>
                </a:solidFill>
                <a:effectDag name="">
                  <a:cont type="tree" name="">
                    <a:effect ref="fillLine"/>
                    <a:outerShdw dist="38100" dir="13500000" algn="br">
                      <a:srgbClr val="000000"/>
                    </a:outerShdw>
                  </a:cont>
                  <a:cont type="tree" name="">
                    <a:effect ref="fillLine"/>
                    <a:outerShdw dist="38100" dir="2700000" algn="tl">
                      <a:srgbClr val="000000"/>
                    </a:outerShdw>
                  </a:cont>
                  <a:effect ref="fillLine"/>
                </a:effectDag>
                <a:latin typeface="Copperplate Gothic Bold" pitchFamily="34" charset="0"/>
              </a:rPr>
              <a:t>A Webinar on:</a:t>
            </a:r>
          </a:p>
          <a:p>
            <a:pPr algn="ctr">
              <a:defRPr/>
            </a:pPr>
            <a:r>
              <a:rPr lang="en-US" sz="2800" b="1" dirty="0">
                <a:solidFill>
                  <a:schemeClr val="bg1"/>
                </a:solidFill>
                <a:effectDag name="">
                  <a:cont type="tree" name="">
                    <a:effect ref="fillLine"/>
                    <a:outerShdw dist="38100" dir="13500000" algn="br">
                      <a:srgbClr val="000000"/>
                    </a:outerShdw>
                  </a:cont>
                  <a:cont type="tree" name="">
                    <a:effect ref="fillLine"/>
                    <a:outerShdw dist="38100" dir="2700000" algn="tl">
                      <a:srgbClr val="000000"/>
                    </a:outerShdw>
                  </a:cont>
                  <a:effect ref="fillLine"/>
                </a:effectDag>
                <a:latin typeface="Copperplate Gothic Bold" pitchFamily="34" charset="0"/>
              </a:rPr>
              <a:t>An Introduction to Ethics in Meteorology</a:t>
            </a:r>
          </a:p>
          <a:p>
            <a:pPr algn="ctr">
              <a:defRPr/>
            </a:pPr>
            <a:r>
              <a:rPr lang="en-US" sz="2800" b="1" dirty="0">
                <a:solidFill>
                  <a:schemeClr val="bg1"/>
                </a:solidFill>
                <a:effectDag name="">
                  <a:cont type="tree" name="">
                    <a:effect ref="fillLine"/>
                    <a:outerShdw dist="38100" dir="13500000" algn="br">
                      <a:srgbClr val="000000"/>
                    </a:outerShdw>
                  </a:cont>
                  <a:cont type="tree" name="">
                    <a:effect ref="fillLine"/>
                    <a:outerShdw dist="38100" dir="2700000" algn="tl">
                      <a:srgbClr val="000000"/>
                    </a:outerShdw>
                  </a:cont>
                  <a:effect ref="fillLine"/>
                </a:effectDag>
                <a:latin typeface="Copperplate Gothic Bold" pitchFamily="34" charset="0"/>
              </a:rPr>
              <a:t>Presenter:</a:t>
            </a:r>
          </a:p>
          <a:p>
            <a:pPr algn="ctr">
              <a:defRPr/>
            </a:pPr>
            <a:r>
              <a:rPr lang="en-US" sz="2800" b="1" dirty="0">
                <a:solidFill>
                  <a:schemeClr val="bg1"/>
                </a:solidFill>
                <a:effectDag name="">
                  <a:cont type="tree" name="">
                    <a:effect ref="fillLine"/>
                    <a:outerShdw dist="38100" dir="13500000" algn="br">
                      <a:srgbClr val="000000"/>
                    </a:outerShdw>
                  </a:cont>
                  <a:cont type="tree" name="">
                    <a:effect ref="fillLine"/>
                    <a:outerShdw dist="38100" dir="2700000" algn="tl">
                      <a:srgbClr val="000000"/>
                    </a:outerShdw>
                  </a:cont>
                  <a:effect ref="fillLine"/>
                </a:effectDag>
                <a:latin typeface="Copperplate Gothic Bold" pitchFamily="34" charset="0"/>
              </a:rPr>
              <a:t>Gerald J. </a:t>
            </a:r>
            <a:r>
              <a:rPr lang="en-US" sz="2800" b="1" dirty="0" err="1">
                <a:solidFill>
                  <a:schemeClr val="bg1"/>
                </a:solidFill>
                <a:effectDag name="">
                  <a:cont type="tree" name="">
                    <a:effect ref="fillLine"/>
                    <a:outerShdw dist="38100" dir="13500000" algn="br">
                      <a:srgbClr val="000000"/>
                    </a:outerShdw>
                  </a:cont>
                  <a:cont type="tree" name="">
                    <a:effect ref="fillLine"/>
                    <a:outerShdw dist="38100" dir="2700000" algn="tl">
                      <a:srgbClr val="000000"/>
                    </a:outerShdw>
                  </a:cont>
                  <a:effect ref="fillLine"/>
                </a:effectDag>
                <a:latin typeface="Copperplate Gothic Bold" pitchFamily="34" charset="0"/>
              </a:rPr>
              <a:t>Mulvey</a:t>
            </a:r>
            <a:r>
              <a:rPr lang="en-US" sz="2800" b="1" dirty="0">
                <a:solidFill>
                  <a:schemeClr val="bg1"/>
                </a:solidFill>
                <a:effectDag name="">
                  <a:cont type="tree" name="">
                    <a:effect ref="fillLine"/>
                    <a:outerShdw dist="38100" dir="13500000" algn="br">
                      <a:srgbClr val="000000"/>
                    </a:outerShdw>
                  </a:cont>
                  <a:cont type="tree" name="">
                    <a:effect ref="fillLine"/>
                    <a:outerShdw dist="38100" dir="2700000" algn="tl">
                      <a:srgbClr val="000000"/>
                    </a:outerShdw>
                  </a:cont>
                  <a:effect ref="fillLine"/>
                </a:effectDag>
                <a:latin typeface="Copperplate Gothic Bold" pitchFamily="34" charset="0"/>
              </a:rPr>
              <a:t>, Ph.D., </a:t>
            </a:r>
          </a:p>
          <a:p>
            <a:pPr algn="ctr">
              <a:defRPr/>
            </a:pPr>
            <a:r>
              <a:rPr lang="en-US" sz="2800" b="1" dirty="0">
                <a:solidFill>
                  <a:schemeClr val="bg1"/>
                </a:solidFill>
                <a:effectDag name="">
                  <a:cont type="tree" name="">
                    <a:effect ref="fillLine"/>
                    <a:outerShdw dist="38100" dir="13500000" algn="br">
                      <a:srgbClr val="000000"/>
                    </a:outerShdw>
                  </a:cont>
                  <a:cont type="tree" name="">
                    <a:effect ref="fillLine"/>
                    <a:outerShdw dist="38100" dir="2700000" algn="tl">
                      <a:srgbClr val="000000"/>
                    </a:outerShdw>
                  </a:cont>
                  <a:effect ref="fillLine"/>
                </a:effectDag>
                <a:latin typeface="Copperplate Gothic Bold" pitchFamily="34" charset="0"/>
              </a:rPr>
              <a:t>CCM #571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Agenda</a:t>
            </a:r>
            <a:endParaRPr lang="en-US" dirty="0"/>
          </a:p>
        </p:txBody>
      </p:sp>
      <p:sp>
        <p:nvSpPr>
          <p:cNvPr id="15362" name="Content Placeholder 2"/>
          <p:cNvSpPr>
            <a:spLocks noGrp="1"/>
          </p:cNvSpPr>
          <p:nvPr>
            <p:ph idx="1"/>
          </p:nvPr>
        </p:nvSpPr>
        <p:spPr>
          <a:xfrm>
            <a:off x="457200" y="1524000"/>
            <a:ext cx="8229600" cy="4525963"/>
          </a:xfrm>
        </p:spPr>
        <p:txBody>
          <a:bodyPr/>
          <a:lstStyle/>
          <a:p>
            <a:pPr eaLnBrk="1" hangingPunct="1"/>
            <a:r>
              <a:rPr lang="en-US" smtClean="0"/>
              <a:t>Purpose</a:t>
            </a:r>
          </a:p>
          <a:p>
            <a:pPr eaLnBrk="1" hangingPunct="1"/>
            <a:r>
              <a:rPr lang="en-US" smtClean="0"/>
              <a:t>Background</a:t>
            </a:r>
          </a:p>
          <a:p>
            <a:pPr eaLnBrk="1" hangingPunct="1"/>
            <a:r>
              <a:rPr lang="en-US" smtClean="0"/>
              <a:t>Ethics in Meteorological Academia &amp; Research</a:t>
            </a:r>
          </a:p>
          <a:p>
            <a:pPr eaLnBrk="1" hangingPunct="1"/>
            <a:r>
              <a:rPr lang="en-US" smtClean="0"/>
              <a:t>Ethics in Government Meteorology</a:t>
            </a:r>
          </a:p>
          <a:p>
            <a:pPr eaLnBrk="1" hangingPunct="1"/>
            <a:r>
              <a:rPr lang="en-US" smtClean="0"/>
              <a:t>Ethics in Commercial Meteorology</a:t>
            </a:r>
          </a:p>
          <a:p>
            <a:pPr eaLnBrk="1" hangingPunct="1"/>
            <a:r>
              <a:rPr lang="en-US" smtClean="0"/>
              <a:t>Ethics in Forensic Meteorology</a:t>
            </a:r>
          </a:p>
          <a:p>
            <a:pPr eaLnBrk="1" hangingPunct="1"/>
            <a:r>
              <a:rPr lang="en-US" smtClean="0"/>
              <a:t>Summary</a:t>
            </a:r>
          </a:p>
          <a:p>
            <a:pPr eaLnBrk="1" hangingPunct="1"/>
            <a:r>
              <a:rPr lang="en-US" smtClean="0"/>
              <a:t>References</a:t>
            </a:r>
          </a:p>
        </p:txBody>
      </p:sp>
      <p:pic>
        <p:nvPicPr>
          <p:cNvPr id="15363" name="Picture 3" descr="F:\IMAGES\PHOTOS\NATURE\LNDSCAPE\PHNLA128.JPG"/>
          <p:cNvPicPr>
            <a:picLocks noChangeAspect="1" noChangeArrowheads="1"/>
          </p:cNvPicPr>
          <p:nvPr/>
        </p:nvPicPr>
        <p:blipFill>
          <a:blip r:embed="rId2"/>
          <a:srcRect/>
          <a:stretch>
            <a:fillRect/>
          </a:stretch>
        </p:blipFill>
        <p:spPr bwMode="auto">
          <a:xfrm>
            <a:off x="6035675" y="4724400"/>
            <a:ext cx="2925763" cy="1952625"/>
          </a:xfrm>
          <a:prstGeom prst="rect">
            <a:avLst/>
          </a:prstGeom>
          <a:noFill/>
          <a:ln w="9525">
            <a:noFill/>
            <a:miter lim="800000"/>
            <a:headEnd/>
            <a:tailEnd/>
          </a:ln>
        </p:spPr>
      </p:pic>
      <p:sp>
        <p:nvSpPr>
          <p:cNvPr id="5" name="Date Placeholder 4"/>
          <p:cNvSpPr>
            <a:spLocks noGrp="1"/>
          </p:cNvSpPr>
          <p:nvPr>
            <p:ph type="dt" sz="quarter" idx="10"/>
          </p:nvPr>
        </p:nvSpPr>
        <p:spPr/>
        <p:txBody>
          <a:bodyPr/>
          <a:lstStyle/>
          <a:p>
            <a:pPr>
              <a:defRPr/>
            </a:pPr>
            <a:r>
              <a:rPr lang="en-US"/>
              <a:t>10/15/2012</a:t>
            </a:r>
          </a:p>
        </p:txBody>
      </p:sp>
      <p:sp>
        <p:nvSpPr>
          <p:cNvPr id="7" name="Slide Number Placeholder 6"/>
          <p:cNvSpPr>
            <a:spLocks noGrp="1"/>
          </p:cNvSpPr>
          <p:nvPr>
            <p:ph type="sldNum" sz="quarter" idx="11"/>
          </p:nvPr>
        </p:nvSpPr>
        <p:spPr/>
        <p:txBody>
          <a:bodyPr/>
          <a:lstStyle/>
          <a:p>
            <a:pPr>
              <a:defRPr/>
            </a:pPr>
            <a:fld id="{7B2DD198-E1D0-4C9A-98C9-0DA88D5DED22}" type="slidenum">
              <a:rPr lang="en-US"/>
              <a:pPr>
                <a:defRPr/>
              </a:pPr>
              <a:t>2</a:t>
            </a:fld>
            <a:endParaRPr lang="en-US"/>
          </a:p>
        </p:txBody>
      </p:sp>
      <p:grpSp>
        <p:nvGrpSpPr>
          <p:cNvPr id="15366" name="Group 7"/>
          <p:cNvGrpSpPr>
            <a:grpSpLocks/>
          </p:cNvGrpSpPr>
          <p:nvPr/>
        </p:nvGrpSpPr>
        <p:grpSpPr bwMode="auto">
          <a:xfrm>
            <a:off x="8224838" y="152400"/>
            <a:ext cx="736600" cy="806450"/>
            <a:chOff x="5257800" y="4072895"/>
            <a:chExt cx="976745" cy="1108705"/>
          </a:xfrm>
        </p:grpSpPr>
        <p:grpSp>
          <p:nvGrpSpPr>
            <p:cNvPr id="15367" name="Group 8"/>
            <p:cNvGrpSpPr>
              <a:grpSpLocks/>
            </p:cNvGrpSpPr>
            <p:nvPr/>
          </p:nvGrpSpPr>
          <p:grpSpPr bwMode="auto">
            <a:xfrm>
              <a:off x="5257800" y="4764108"/>
              <a:ext cx="321434" cy="183416"/>
              <a:chOff x="2971800" y="2971800"/>
              <a:chExt cx="1073727" cy="464129"/>
            </a:xfrm>
          </p:grpSpPr>
          <p:sp>
            <p:nvSpPr>
              <p:cNvPr id="28" name="Arc 27"/>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9" name="Arc 28"/>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0" name="Straight Connector 29"/>
              <p:cNvCxnSpPr>
                <a:stCxn id="28" idx="2"/>
                <a:endCxn id="29"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368" name="Group 9"/>
            <p:cNvGrpSpPr>
              <a:grpSpLocks/>
            </p:cNvGrpSpPr>
            <p:nvPr/>
          </p:nvGrpSpPr>
          <p:grpSpPr bwMode="auto">
            <a:xfrm>
              <a:off x="5913111" y="4769584"/>
              <a:ext cx="321434" cy="183416"/>
              <a:chOff x="2971800" y="2971800"/>
              <a:chExt cx="1073727" cy="464129"/>
            </a:xfrm>
          </p:grpSpPr>
          <p:sp>
            <p:nvSpPr>
              <p:cNvPr id="25" name="Arc 24"/>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6" name="Arc 25"/>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7" name="Straight Connector 26"/>
              <p:cNvCxnSpPr>
                <a:stCxn id="25" idx="2"/>
                <a:endCxn id="26"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 name="Isosceles Triangle 10"/>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3" name="Straight Connector 12"/>
            <p:cNvCxnSpPr>
              <a:stCxn id="15" idx="3"/>
              <a:endCxn id="26"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5" idx="3"/>
              <a:endCxn id="25"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6" name="Straight Connector 15"/>
            <p:cNvCxnSpPr>
              <a:stCxn id="15" idx="1"/>
              <a:endCxn id="28"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5" idx="1"/>
              <a:endCxn id="29"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rot="10800000">
              <a:off x="5622783" y="4191000"/>
              <a:ext cx="228114" cy="183416"/>
              <a:chOff x="2971800" y="2971800"/>
              <a:chExt cx="1073727" cy="464129"/>
            </a:xfrm>
            <a:solidFill>
              <a:srgbClr val="C0C0C0"/>
            </a:solidFill>
          </p:grpSpPr>
          <p:sp>
            <p:nvSpPr>
              <p:cNvPr id="22" name="Arc 21"/>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4" name="Straight Connector 23"/>
              <p:cNvCxnSpPr>
                <a:stCxn id="22" idx="2"/>
                <a:endCxn id="23"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379" name="Group 18"/>
            <p:cNvGrpSpPr>
              <a:grpSpLocks/>
            </p:cNvGrpSpPr>
            <p:nvPr/>
          </p:nvGrpSpPr>
          <p:grpSpPr bwMode="auto">
            <a:xfrm>
              <a:off x="5728286" y="4238635"/>
              <a:ext cx="18059" cy="119221"/>
              <a:chOff x="1005840" y="2868234"/>
              <a:chExt cx="97154" cy="301685"/>
            </a:xfrm>
          </p:grpSpPr>
          <p:sp>
            <p:nvSpPr>
              <p:cNvPr id="20" name="Isosceles Triangle 19"/>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Oval 20"/>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52400" y="4800600"/>
            <a:ext cx="8839200" cy="1676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p>
            <a:pPr eaLnBrk="1" fontAlgn="auto" hangingPunct="1">
              <a:spcAft>
                <a:spcPts val="0"/>
              </a:spcAft>
              <a:defRPr/>
            </a:pPr>
            <a:r>
              <a:rPr lang="en-US" dirty="0" smtClean="0"/>
              <a:t>Background</a:t>
            </a:r>
            <a:endParaRPr lang="en-US" dirty="0"/>
          </a:p>
        </p:txBody>
      </p:sp>
      <p:sp>
        <p:nvSpPr>
          <p:cNvPr id="16387" name="Content Placeholder 2"/>
          <p:cNvSpPr>
            <a:spLocks noGrp="1"/>
          </p:cNvSpPr>
          <p:nvPr>
            <p:ph idx="1"/>
          </p:nvPr>
        </p:nvSpPr>
        <p:spPr>
          <a:xfrm>
            <a:off x="228600" y="1600200"/>
            <a:ext cx="8458200" cy="3352800"/>
          </a:xfrm>
        </p:spPr>
        <p:txBody>
          <a:bodyPr/>
          <a:lstStyle/>
          <a:p>
            <a:pPr eaLnBrk="1" hangingPunct="1"/>
            <a:r>
              <a:rPr lang="en-US" smtClean="0"/>
              <a:t>Purpose: Introduce Meteorologists to ethical principles common to:</a:t>
            </a:r>
          </a:p>
          <a:p>
            <a:pPr lvl="1" eaLnBrk="1" hangingPunct="1"/>
            <a:r>
              <a:rPr lang="en-US" smtClean="0"/>
              <a:t>American Meteorological Society (AMS)</a:t>
            </a:r>
          </a:p>
          <a:p>
            <a:pPr lvl="1" eaLnBrk="1" hangingPunct="1"/>
            <a:r>
              <a:rPr lang="en-US" smtClean="0"/>
              <a:t>Weather Modification Association (WMA)</a:t>
            </a:r>
          </a:p>
          <a:p>
            <a:pPr lvl="1" eaLnBrk="1" hangingPunct="1"/>
            <a:r>
              <a:rPr lang="en-US" smtClean="0"/>
              <a:t>National Council of Industrial Meteorologists (NCIM)</a:t>
            </a:r>
          </a:p>
          <a:p>
            <a:pPr lvl="1" eaLnBrk="1" hangingPunct="1"/>
            <a:r>
              <a:rPr lang="en-US" smtClean="0"/>
              <a:t>National Weather Association (NWA)</a:t>
            </a:r>
          </a:p>
          <a:p>
            <a:pPr eaLnBrk="1" hangingPunct="1"/>
            <a:endParaRPr lang="en-US" smtClean="0"/>
          </a:p>
        </p:txBody>
      </p:sp>
      <p:sp>
        <p:nvSpPr>
          <p:cNvPr id="16388" name="TextBox 3"/>
          <p:cNvSpPr txBox="1">
            <a:spLocks noChangeArrowheads="1"/>
          </p:cNvSpPr>
          <p:nvPr/>
        </p:nvSpPr>
        <p:spPr bwMode="auto">
          <a:xfrm>
            <a:off x="457200" y="5029200"/>
            <a:ext cx="8229600" cy="1200150"/>
          </a:xfrm>
          <a:prstGeom prst="rect">
            <a:avLst/>
          </a:prstGeom>
          <a:noFill/>
          <a:ln w="9525">
            <a:noFill/>
            <a:miter lim="800000"/>
            <a:headEnd/>
            <a:tailEnd/>
          </a:ln>
        </p:spPr>
        <p:txBody>
          <a:bodyPr>
            <a:spAutoFit/>
          </a:bodyPr>
          <a:lstStyle/>
          <a:p>
            <a:r>
              <a:rPr lang="en-US">
                <a:latin typeface="Book Antiqua" pitchFamily="18" charset="0"/>
              </a:rPr>
              <a:t>Weather impacts the lives of people around the globe, in work and play, in health and safety, in commerce and industry, and in finance and law .  With such a wide spread and intimate impacts the practitioners of meteorology daily face a significant challenge to conduct their affairs with high ethical standards.</a:t>
            </a:r>
          </a:p>
        </p:txBody>
      </p:sp>
      <p:pic>
        <p:nvPicPr>
          <p:cNvPr id="16389" name="Picture 2" descr="C:\Users\Gerry\AppData\Local\Microsoft\Windows\Temporary Internet Files\Content.IE5\12V72X7R\MP900401286[1].jpg"/>
          <p:cNvPicPr>
            <a:picLocks noChangeAspect="1" noChangeArrowheads="1"/>
          </p:cNvPicPr>
          <p:nvPr/>
        </p:nvPicPr>
        <p:blipFill>
          <a:blip r:embed="rId2"/>
          <a:srcRect/>
          <a:stretch>
            <a:fillRect/>
          </a:stretch>
        </p:blipFill>
        <p:spPr bwMode="auto">
          <a:xfrm>
            <a:off x="217488" y="96838"/>
            <a:ext cx="965200" cy="1447800"/>
          </a:xfrm>
          <a:prstGeom prst="rect">
            <a:avLst/>
          </a:prstGeom>
          <a:noFill/>
          <a:ln w="9525">
            <a:noFill/>
            <a:miter lim="800000"/>
            <a:headEnd/>
            <a:tailEnd/>
          </a:ln>
        </p:spPr>
      </p:pic>
      <p:sp>
        <p:nvSpPr>
          <p:cNvPr id="7" name="Date Placeholder 6"/>
          <p:cNvSpPr>
            <a:spLocks noGrp="1"/>
          </p:cNvSpPr>
          <p:nvPr>
            <p:ph type="dt" sz="quarter" idx="10"/>
          </p:nvPr>
        </p:nvSpPr>
        <p:spPr/>
        <p:txBody>
          <a:bodyPr/>
          <a:lstStyle/>
          <a:p>
            <a:pPr>
              <a:defRPr/>
            </a:pPr>
            <a:r>
              <a:rPr lang="en-US"/>
              <a:t>10/15/2012</a:t>
            </a:r>
          </a:p>
        </p:txBody>
      </p:sp>
      <p:sp>
        <p:nvSpPr>
          <p:cNvPr id="9" name="Slide Number Placeholder 8"/>
          <p:cNvSpPr>
            <a:spLocks noGrp="1"/>
          </p:cNvSpPr>
          <p:nvPr>
            <p:ph type="sldNum" sz="quarter" idx="11"/>
          </p:nvPr>
        </p:nvSpPr>
        <p:spPr/>
        <p:txBody>
          <a:bodyPr/>
          <a:lstStyle/>
          <a:p>
            <a:pPr>
              <a:defRPr/>
            </a:pPr>
            <a:fld id="{737EE7ED-0422-457A-A68D-7C4166A8C659}" type="slidenum">
              <a:rPr lang="en-US"/>
              <a:pPr>
                <a:defRPr/>
              </a:pPr>
              <a:t>3</a:t>
            </a:fld>
            <a:endParaRPr lang="en-US"/>
          </a:p>
        </p:txBody>
      </p:sp>
      <p:grpSp>
        <p:nvGrpSpPr>
          <p:cNvPr id="16392" name="Group 9"/>
          <p:cNvGrpSpPr>
            <a:grpSpLocks/>
          </p:cNvGrpSpPr>
          <p:nvPr/>
        </p:nvGrpSpPr>
        <p:grpSpPr bwMode="auto">
          <a:xfrm>
            <a:off x="8224838" y="152400"/>
            <a:ext cx="736600" cy="806450"/>
            <a:chOff x="5257800" y="4072895"/>
            <a:chExt cx="976745" cy="1108705"/>
          </a:xfrm>
        </p:grpSpPr>
        <p:grpSp>
          <p:nvGrpSpPr>
            <p:cNvPr id="16393" name="Group 10"/>
            <p:cNvGrpSpPr>
              <a:grpSpLocks/>
            </p:cNvGrpSpPr>
            <p:nvPr/>
          </p:nvGrpSpPr>
          <p:grpSpPr bwMode="auto">
            <a:xfrm>
              <a:off x="5257800" y="4764108"/>
              <a:ext cx="321434" cy="183416"/>
              <a:chOff x="2971800" y="2971800"/>
              <a:chExt cx="1073727" cy="464129"/>
            </a:xfrm>
          </p:grpSpPr>
          <p:sp>
            <p:nvSpPr>
              <p:cNvPr id="30" name="Arc 29"/>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31" name="Arc 30"/>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2" name="Straight Connector 31"/>
              <p:cNvCxnSpPr>
                <a:stCxn id="30" idx="2"/>
                <a:endCxn id="31"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394" name="Group 11"/>
            <p:cNvGrpSpPr>
              <a:grpSpLocks/>
            </p:cNvGrpSpPr>
            <p:nvPr/>
          </p:nvGrpSpPr>
          <p:grpSpPr bwMode="auto">
            <a:xfrm>
              <a:off x="5913111" y="4769584"/>
              <a:ext cx="321434" cy="183416"/>
              <a:chOff x="2971800" y="2971800"/>
              <a:chExt cx="1073727" cy="464129"/>
            </a:xfrm>
          </p:grpSpPr>
          <p:sp>
            <p:nvSpPr>
              <p:cNvPr id="27" name="Arc 26"/>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9" name="Straight Connector 28"/>
              <p:cNvCxnSpPr>
                <a:stCxn id="27" idx="2"/>
                <a:endCxn id="28"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a:stCxn id="17" idx="3"/>
              <a:endCxn id="28"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7" idx="3"/>
              <a:endCxn id="27"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8" name="Straight Connector 17"/>
            <p:cNvCxnSpPr>
              <a:stCxn id="17" idx="1"/>
              <a:endCxn id="30"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7" idx="1"/>
              <a:endCxn id="31"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rot="10800000">
              <a:off x="5622783" y="4191000"/>
              <a:ext cx="228114" cy="183416"/>
              <a:chOff x="2971800" y="2971800"/>
              <a:chExt cx="1073727" cy="464129"/>
            </a:xfrm>
            <a:solidFill>
              <a:srgbClr val="C0C0C0"/>
            </a:solidFill>
          </p:grpSpPr>
          <p:sp>
            <p:nvSpPr>
              <p:cNvPr id="24" name="Arc 23"/>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5" name="Arc 24"/>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6" name="Straight Connector 25"/>
              <p:cNvCxnSpPr>
                <a:stCxn id="24" idx="2"/>
                <a:endCxn id="25"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405" name="Group 20"/>
            <p:cNvGrpSpPr>
              <a:grpSpLocks/>
            </p:cNvGrpSpPr>
            <p:nvPr/>
          </p:nvGrpSpPr>
          <p:grpSpPr bwMode="auto">
            <a:xfrm>
              <a:off x="5728286" y="4238635"/>
              <a:ext cx="18059" cy="119221"/>
              <a:chOff x="1005840" y="2868234"/>
              <a:chExt cx="97154" cy="301685"/>
            </a:xfrm>
          </p:grpSpPr>
          <p:sp>
            <p:nvSpPr>
              <p:cNvPr id="22" name="Isosceles Triangle 21"/>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Oval 22"/>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Common Elements</a:t>
            </a:r>
            <a:endParaRPr lang="en-US" dirty="0"/>
          </a:p>
        </p:txBody>
      </p:sp>
      <p:sp>
        <p:nvSpPr>
          <p:cNvPr id="17410" name="Content Placeholder 2"/>
          <p:cNvSpPr>
            <a:spLocks noGrp="1"/>
          </p:cNvSpPr>
          <p:nvPr>
            <p:ph idx="1"/>
          </p:nvPr>
        </p:nvSpPr>
        <p:spPr/>
        <p:txBody>
          <a:bodyPr/>
          <a:lstStyle/>
          <a:p>
            <a:pPr eaLnBrk="1" hangingPunct="1"/>
            <a:r>
              <a:rPr lang="en-US" smtClean="0"/>
              <a:t>Fair representation of capabilities</a:t>
            </a:r>
          </a:p>
          <a:p>
            <a:pPr eaLnBrk="1" hangingPunct="1"/>
            <a:r>
              <a:rPr lang="en-US" smtClean="0"/>
              <a:t>Accurate representation of the “state-of-the-science”</a:t>
            </a:r>
          </a:p>
          <a:p>
            <a:pPr eaLnBrk="1" hangingPunct="1"/>
            <a:r>
              <a:rPr lang="en-US" smtClean="0"/>
              <a:t>Provision of fair value for compensation</a:t>
            </a:r>
          </a:p>
          <a:p>
            <a:pPr eaLnBrk="1" hangingPunct="1"/>
            <a:r>
              <a:rPr lang="en-US" smtClean="0"/>
              <a:t>Forum for addressing discrepancies in representation or conduct for meteorologists</a:t>
            </a:r>
          </a:p>
        </p:txBody>
      </p:sp>
      <p:pic>
        <p:nvPicPr>
          <p:cNvPr id="17411" name="Picture 2" descr="C:\Users\Gerry\AppData\Local\Microsoft\Windows\Temporary Internet Files\Content.IE5\12V72X7R\MP900401427[1].jpg"/>
          <p:cNvPicPr>
            <a:picLocks noChangeAspect="1" noChangeArrowheads="1"/>
          </p:cNvPicPr>
          <p:nvPr/>
        </p:nvPicPr>
        <p:blipFill>
          <a:blip r:embed="rId2"/>
          <a:srcRect/>
          <a:stretch>
            <a:fillRect/>
          </a:stretch>
        </p:blipFill>
        <p:spPr bwMode="auto">
          <a:xfrm>
            <a:off x="5791200" y="4622800"/>
            <a:ext cx="3140075" cy="2092325"/>
          </a:xfrm>
          <a:prstGeom prst="rect">
            <a:avLst/>
          </a:prstGeom>
          <a:noFill/>
          <a:ln w="9525">
            <a:noFill/>
            <a:miter lim="800000"/>
            <a:headEnd/>
            <a:tailEnd/>
          </a:ln>
        </p:spPr>
      </p:pic>
      <p:sp>
        <p:nvSpPr>
          <p:cNvPr id="4" name="Date Placeholder 3"/>
          <p:cNvSpPr>
            <a:spLocks noGrp="1"/>
          </p:cNvSpPr>
          <p:nvPr>
            <p:ph type="dt" sz="quarter" idx="10"/>
          </p:nvPr>
        </p:nvSpPr>
        <p:spPr/>
        <p:txBody>
          <a:bodyPr/>
          <a:lstStyle/>
          <a:p>
            <a:pPr>
              <a:defRPr/>
            </a:pPr>
            <a:r>
              <a:rPr lang="en-US"/>
              <a:t>10/15/2012</a:t>
            </a:r>
          </a:p>
        </p:txBody>
      </p:sp>
      <p:sp>
        <p:nvSpPr>
          <p:cNvPr id="6" name="Slide Number Placeholder 5"/>
          <p:cNvSpPr>
            <a:spLocks noGrp="1"/>
          </p:cNvSpPr>
          <p:nvPr>
            <p:ph type="sldNum" sz="quarter" idx="11"/>
          </p:nvPr>
        </p:nvSpPr>
        <p:spPr/>
        <p:txBody>
          <a:bodyPr/>
          <a:lstStyle/>
          <a:p>
            <a:pPr>
              <a:defRPr/>
            </a:pPr>
            <a:fld id="{D9DDA4ED-D8D5-41AD-A32B-DC6C6FFA1538}" type="slidenum">
              <a:rPr lang="en-US"/>
              <a:pPr>
                <a:defRPr/>
              </a:pPr>
              <a:t>4</a:t>
            </a:fld>
            <a:endParaRPr lang="en-US"/>
          </a:p>
        </p:txBody>
      </p:sp>
      <p:grpSp>
        <p:nvGrpSpPr>
          <p:cNvPr id="17414" name="Group 7"/>
          <p:cNvGrpSpPr>
            <a:grpSpLocks/>
          </p:cNvGrpSpPr>
          <p:nvPr/>
        </p:nvGrpSpPr>
        <p:grpSpPr bwMode="auto">
          <a:xfrm>
            <a:off x="8224838" y="152400"/>
            <a:ext cx="736600" cy="806450"/>
            <a:chOff x="5257800" y="4072895"/>
            <a:chExt cx="976745" cy="1108705"/>
          </a:xfrm>
        </p:grpSpPr>
        <p:grpSp>
          <p:nvGrpSpPr>
            <p:cNvPr id="17415" name="Group 8"/>
            <p:cNvGrpSpPr>
              <a:grpSpLocks/>
            </p:cNvGrpSpPr>
            <p:nvPr/>
          </p:nvGrpSpPr>
          <p:grpSpPr bwMode="auto">
            <a:xfrm>
              <a:off x="5257800" y="4764108"/>
              <a:ext cx="321434" cy="183416"/>
              <a:chOff x="2971800" y="2971800"/>
              <a:chExt cx="1073727" cy="464129"/>
            </a:xfrm>
          </p:grpSpPr>
          <p:sp>
            <p:nvSpPr>
              <p:cNvPr id="28" name="Arc 27"/>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9" name="Arc 28"/>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0" name="Straight Connector 29"/>
              <p:cNvCxnSpPr>
                <a:stCxn id="28" idx="2"/>
                <a:endCxn id="29"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7416" name="Group 9"/>
            <p:cNvGrpSpPr>
              <a:grpSpLocks/>
            </p:cNvGrpSpPr>
            <p:nvPr/>
          </p:nvGrpSpPr>
          <p:grpSpPr bwMode="auto">
            <a:xfrm>
              <a:off x="5913111" y="4769584"/>
              <a:ext cx="321434" cy="183416"/>
              <a:chOff x="2971800" y="2971800"/>
              <a:chExt cx="1073727" cy="464129"/>
            </a:xfrm>
          </p:grpSpPr>
          <p:sp>
            <p:nvSpPr>
              <p:cNvPr id="25" name="Arc 24"/>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6" name="Arc 25"/>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7" name="Straight Connector 26"/>
              <p:cNvCxnSpPr>
                <a:stCxn id="25" idx="2"/>
                <a:endCxn id="26"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 name="Isosceles Triangle 10"/>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3" name="Straight Connector 12"/>
            <p:cNvCxnSpPr>
              <a:stCxn id="15" idx="3"/>
              <a:endCxn id="26"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5" idx="3"/>
              <a:endCxn id="25"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6" name="Straight Connector 15"/>
            <p:cNvCxnSpPr>
              <a:stCxn id="15" idx="1"/>
              <a:endCxn id="28"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5" idx="1"/>
              <a:endCxn id="29"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rot="10800000">
              <a:off x="5622783" y="4191000"/>
              <a:ext cx="228114" cy="183416"/>
              <a:chOff x="2971800" y="2971800"/>
              <a:chExt cx="1073727" cy="464129"/>
            </a:xfrm>
            <a:solidFill>
              <a:srgbClr val="C0C0C0"/>
            </a:solidFill>
          </p:grpSpPr>
          <p:sp>
            <p:nvSpPr>
              <p:cNvPr id="22" name="Arc 21"/>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4" name="Straight Connector 23"/>
              <p:cNvCxnSpPr>
                <a:stCxn id="22" idx="2"/>
                <a:endCxn id="23"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7427" name="Group 18"/>
            <p:cNvGrpSpPr>
              <a:grpSpLocks/>
            </p:cNvGrpSpPr>
            <p:nvPr/>
          </p:nvGrpSpPr>
          <p:grpSpPr bwMode="auto">
            <a:xfrm>
              <a:off x="5728286" y="4238635"/>
              <a:ext cx="18059" cy="119221"/>
              <a:chOff x="1005840" y="2868234"/>
              <a:chExt cx="97154" cy="301685"/>
            </a:xfrm>
          </p:grpSpPr>
          <p:sp>
            <p:nvSpPr>
              <p:cNvPr id="20" name="Isosceles Triangle 19"/>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Oval 20"/>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dirty="0" smtClean="0"/>
              <a:t>Cross Comparison Of Ethical Principals</a:t>
            </a:r>
            <a:endParaRPr lang="en-US" dirty="0"/>
          </a:p>
        </p:txBody>
      </p:sp>
      <p:graphicFrame>
        <p:nvGraphicFramePr>
          <p:cNvPr id="18516" name="Group 84"/>
          <p:cNvGraphicFramePr>
            <a:graphicFrameLocks noGrp="1"/>
          </p:cNvGraphicFramePr>
          <p:nvPr>
            <p:ph idx="1"/>
          </p:nvPr>
        </p:nvGraphicFramePr>
        <p:xfrm>
          <a:off x="457200" y="1600200"/>
          <a:ext cx="8229600" cy="3303270"/>
        </p:xfrm>
        <a:graphic>
          <a:graphicData uri="http://schemas.openxmlformats.org/drawingml/2006/table">
            <a:tbl>
              <a:tblPr/>
              <a:tblGrid>
                <a:gridCol w="2590800"/>
                <a:gridCol w="1295400"/>
                <a:gridCol w="1050925"/>
                <a:gridCol w="1646238"/>
                <a:gridCol w="1646237"/>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Book Antiqua" pitchFamily="18" charset="0"/>
                        </a:rPr>
                        <a:t>Ethical Element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Book Antiqua" pitchFamily="18" charset="0"/>
                        </a:rPr>
                        <a:t>AMS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Book Antiqua" pitchFamily="18" charset="0"/>
                        </a:rPr>
                        <a:t>NCIM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Book Antiqua" pitchFamily="18" charset="0"/>
                        </a:rPr>
                        <a:t>WMA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Book Antiqua" pitchFamily="18" charset="0"/>
                        </a:rPr>
                        <a:t>NWA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Credentials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Certificate holders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Certificate holders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Seal holders</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0000"/>
                        </a:solidFill>
                        <a:effectLst/>
                        <a:latin typeface="Book Antiqua"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State of science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F3E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F3E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F3E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F3E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Seal holders</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0000"/>
                        </a:solidFill>
                        <a:effectLst/>
                        <a:latin typeface="Book Antiqua"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F3EA"/>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Capabilities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Certificate holders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Seal holders</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0000"/>
                        </a:solidFill>
                        <a:effectLst/>
                        <a:latin typeface="Book Antiqua"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Written Standards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F3E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F3E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F3E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F3EA"/>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6F3EA"/>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Sanction Mechanism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0000"/>
                        </a:solidFill>
                        <a:effectLst/>
                        <a:latin typeface="Book Antiqua"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0000"/>
                        </a:solidFill>
                        <a:effectLst/>
                        <a:latin typeface="Book Antiqua"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Book Antiqua" pitchFamily="18" charset="0"/>
                        </a:rPr>
                        <a:t>Certificate holders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0000"/>
                        </a:solidFill>
                        <a:effectLst/>
                        <a:latin typeface="Book Antiqua"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DE6D3"/>
                    </a:solidFill>
                  </a:tcPr>
                </a:tc>
              </a:tr>
            </a:tbl>
          </a:graphicData>
        </a:graphic>
      </p:graphicFrame>
      <p:pic>
        <p:nvPicPr>
          <p:cNvPr id="18478" name="Picture 2" descr="C:\Users\Gerry\AppData\Local\Microsoft\Windows\Temporary Internet Files\Content.IE5\11ILRXHT\MP900433107[1].jpg"/>
          <p:cNvPicPr>
            <a:picLocks noChangeAspect="1" noChangeArrowheads="1"/>
          </p:cNvPicPr>
          <p:nvPr/>
        </p:nvPicPr>
        <p:blipFill>
          <a:blip r:embed="rId3"/>
          <a:srcRect/>
          <a:stretch>
            <a:fillRect/>
          </a:stretch>
        </p:blipFill>
        <p:spPr bwMode="auto">
          <a:xfrm>
            <a:off x="7947025" y="4495800"/>
            <a:ext cx="1196975" cy="1792288"/>
          </a:xfrm>
          <a:prstGeom prst="rect">
            <a:avLst/>
          </a:prstGeom>
          <a:noFill/>
          <a:ln w="9525">
            <a:noFill/>
            <a:miter lim="800000"/>
            <a:headEnd/>
            <a:tailEnd/>
          </a:ln>
        </p:spPr>
      </p:pic>
      <p:sp>
        <p:nvSpPr>
          <p:cNvPr id="3" name="Date Placeholder 2"/>
          <p:cNvSpPr>
            <a:spLocks noGrp="1"/>
          </p:cNvSpPr>
          <p:nvPr>
            <p:ph type="dt" sz="quarter" idx="10"/>
          </p:nvPr>
        </p:nvSpPr>
        <p:spPr/>
        <p:txBody>
          <a:bodyPr/>
          <a:lstStyle/>
          <a:p>
            <a:pPr>
              <a:defRPr/>
            </a:pPr>
            <a:r>
              <a:rPr lang="en-US"/>
              <a:t>10/15/2012</a:t>
            </a:r>
          </a:p>
        </p:txBody>
      </p:sp>
      <p:sp>
        <p:nvSpPr>
          <p:cNvPr id="7" name="Slide Number Placeholder 6"/>
          <p:cNvSpPr>
            <a:spLocks noGrp="1"/>
          </p:cNvSpPr>
          <p:nvPr>
            <p:ph type="sldNum" sz="quarter" idx="11"/>
          </p:nvPr>
        </p:nvSpPr>
        <p:spPr/>
        <p:txBody>
          <a:bodyPr/>
          <a:lstStyle/>
          <a:p>
            <a:pPr>
              <a:defRPr/>
            </a:pPr>
            <a:fld id="{E2CC3826-90B9-4CB6-9993-5878CC72A842}" type="slidenum">
              <a:rPr lang="en-US"/>
              <a:pPr>
                <a:defRPr/>
              </a:pPr>
              <a:t>5</a:t>
            </a:fld>
            <a:endParaRPr lang="en-US"/>
          </a:p>
        </p:txBody>
      </p:sp>
      <p:grpSp>
        <p:nvGrpSpPr>
          <p:cNvPr id="18481" name="Group 8"/>
          <p:cNvGrpSpPr>
            <a:grpSpLocks/>
          </p:cNvGrpSpPr>
          <p:nvPr/>
        </p:nvGrpSpPr>
        <p:grpSpPr bwMode="auto">
          <a:xfrm>
            <a:off x="8224838" y="152400"/>
            <a:ext cx="736600" cy="806450"/>
            <a:chOff x="5257800" y="4072895"/>
            <a:chExt cx="976745" cy="1108705"/>
          </a:xfrm>
        </p:grpSpPr>
        <p:grpSp>
          <p:nvGrpSpPr>
            <p:cNvPr id="18482" name="Group 9"/>
            <p:cNvGrpSpPr>
              <a:grpSpLocks/>
            </p:cNvGrpSpPr>
            <p:nvPr/>
          </p:nvGrpSpPr>
          <p:grpSpPr bwMode="auto">
            <a:xfrm>
              <a:off x="5257800" y="4764108"/>
              <a:ext cx="321434" cy="183416"/>
              <a:chOff x="2971800" y="2971800"/>
              <a:chExt cx="1073727" cy="464129"/>
            </a:xfrm>
          </p:grpSpPr>
          <p:sp>
            <p:nvSpPr>
              <p:cNvPr id="29" name="Arc 28"/>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30" name="Arc 29"/>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1" name="Straight Connector 30"/>
              <p:cNvCxnSpPr>
                <a:stCxn id="29" idx="2"/>
                <a:endCxn id="30"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8483" name="Group 10"/>
            <p:cNvGrpSpPr>
              <a:grpSpLocks/>
            </p:cNvGrpSpPr>
            <p:nvPr/>
          </p:nvGrpSpPr>
          <p:grpSpPr bwMode="auto">
            <a:xfrm>
              <a:off x="5913111" y="4769584"/>
              <a:ext cx="321434" cy="183416"/>
              <a:chOff x="2971800" y="2971800"/>
              <a:chExt cx="1073727" cy="464129"/>
            </a:xfrm>
          </p:grpSpPr>
          <p:sp>
            <p:nvSpPr>
              <p:cNvPr id="26" name="Arc 25"/>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7" name="Arc 26"/>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8" name="Straight Connector 27"/>
              <p:cNvCxnSpPr>
                <a:stCxn id="26" idx="2"/>
                <a:endCxn id="27"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Isosceles Triangle 11"/>
            <p:cNvSpPr/>
            <p:nvPr/>
          </p:nvSpPr>
          <p:spPr>
            <a:xfrm>
              <a:off x="5714596" y="4072895"/>
              <a:ext cx="44207" cy="1054143"/>
            </a:xfrm>
            <a:prstGeom prst="triangle">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p:nvSpPr>
          <p:spPr>
            <a:xfrm>
              <a:off x="5591677" y="5121374"/>
              <a:ext cx="296549" cy="60226"/>
            </a:xfrm>
            <a:prstGeom prst="rect">
              <a:avLst/>
            </a:prstGeom>
            <a:blipFill>
              <a:blip r:embed="rId5"/>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4" name="Straight Connector 13"/>
            <p:cNvCxnSpPr>
              <a:stCxn id="16" idx="3"/>
              <a:endCxn id="27"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6" idx="3"/>
              <a:endCxn id="26"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7" name="Straight Connector 16"/>
            <p:cNvCxnSpPr>
              <a:stCxn id="16" idx="1"/>
              <a:endCxn id="29"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6" idx="1"/>
              <a:endCxn id="30"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rot="10800000">
              <a:off x="5622783" y="4191000"/>
              <a:ext cx="228114" cy="183416"/>
              <a:chOff x="2971800" y="2971800"/>
              <a:chExt cx="1073727" cy="464129"/>
            </a:xfrm>
            <a:solidFill>
              <a:srgbClr val="C0C0C0"/>
            </a:solidFill>
          </p:grpSpPr>
          <p:sp>
            <p:nvSpPr>
              <p:cNvPr id="23" name="Arc 22"/>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4" name="Arc 23"/>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5" name="Straight Connector 24"/>
              <p:cNvCxnSpPr>
                <a:stCxn id="23" idx="2"/>
                <a:endCxn id="24"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8494" name="Group 19"/>
            <p:cNvGrpSpPr>
              <a:grpSpLocks/>
            </p:cNvGrpSpPr>
            <p:nvPr/>
          </p:nvGrpSpPr>
          <p:grpSpPr bwMode="auto">
            <a:xfrm>
              <a:off x="5728286" y="4238635"/>
              <a:ext cx="18059" cy="119221"/>
              <a:chOff x="1005840" y="2868234"/>
              <a:chExt cx="97154" cy="301685"/>
            </a:xfrm>
          </p:grpSpPr>
          <p:sp>
            <p:nvSpPr>
              <p:cNvPr id="21" name="Isosceles Triangle 20"/>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 name="Oval 21"/>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274638"/>
            <a:ext cx="8229600" cy="1143000"/>
          </a:xfrm>
        </p:spPr>
        <p:txBody>
          <a:bodyPr>
            <a:normAutofit fontScale="90000"/>
          </a:bodyPr>
          <a:lstStyle/>
          <a:p>
            <a:pPr eaLnBrk="1" fontAlgn="auto" hangingPunct="1">
              <a:spcAft>
                <a:spcPts val="0"/>
              </a:spcAft>
              <a:defRPr/>
            </a:pPr>
            <a:r>
              <a:rPr lang="en-US" dirty="0"/>
              <a:t>Academia / </a:t>
            </a:r>
            <a:r>
              <a:rPr lang="en-US" dirty="0" smtClean="0"/>
              <a:t>Research: An example</a:t>
            </a:r>
            <a:endParaRPr lang="en-US" dirty="0"/>
          </a:p>
        </p:txBody>
      </p:sp>
      <p:sp>
        <p:nvSpPr>
          <p:cNvPr id="20482" name="Content Placeholder 2"/>
          <p:cNvSpPr>
            <a:spLocks noGrp="1"/>
          </p:cNvSpPr>
          <p:nvPr>
            <p:ph idx="4294967295"/>
          </p:nvPr>
        </p:nvSpPr>
        <p:spPr/>
        <p:txBody>
          <a:bodyPr/>
          <a:lstStyle/>
          <a:p>
            <a:pPr marL="114300" indent="0" eaLnBrk="1" hangingPunct="1">
              <a:buFont typeface="Wingdings 2" pitchFamily="18" charset="2"/>
              <a:buNone/>
            </a:pPr>
            <a:r>
              <a:rPr lang="en-US" sz="2600" i="1" smtClean="0"/>
              <a:t>Research and Openness </a:t>
            </a:r>
            <a:endParaRPr lang="en-US" sz="2600" smtClean="0"/>
          </a:p>
          <a:p>
            <a:pPr marL="114300" indent="0" eaLnBrk="1" hangingPunct="1"/>
            <a:r>
              <a:rPr lang="en-US" sz="2600" smtClean="0"/>
              <a:t>  A prestigious university has conducting research on climate change</a:t>
            </a:r>
          </a:p>
          <a:p>
            <a:pPr marL="114300" indent="0" eaLnBrk="1" hangingPunct="1"/>
            <a:r>
              <a:rPr lang="en-US" sz="2600" smtClean="0"/>
              <a:t>  They have compiled a unique data set from which they have drawn their conclusions which has impacted national and global politics</a:t>
            </a:r>
          </a:p>
          <a:p>
            <a:pPr marL="114300" indent="0" eaLnBrk="1" hangingPunct="1"/>
            <a:r>
              <a:rPr lang="en-US" sz="2600" smtClean="0"/>
              <a:t>  The university has received requests to release the data set for others to review.  If they do this they will miss the opportunity to publish research </a:t>
            </a:r>
          </a:p>
          <a:p>
            <a:pPr marL="114300" indent="0" eaLnBrk="1" hangingPunct="1">
              <a:buFont typeface="Wingdings 2" pitchFamily="18" charset="2"/>
              <a:buNone/>
            </a:pPr>
            <a:r>
              <a:rPr lang="en-US" sz="2600" smtClean="0"/>
              <a:t>articles based on the data they have </a:t>
            </a:r>
          </a:p>
          <a:p>
            <a:pPr marL="114300" indent="0" eaLnBrk="1" hangingPunct="1">
              <a:buFont typeface="Wingdings 2" pitchFamily="18" charset="2"/>
              <a:buNone/>
            </a:pPr>
            <a:r>
              <a:rPr lang="en-US" sz="2600" smtClean="0"/>
              <a:t>meticulously compiles and quality controlled</a:t>
            </a:r>
          </a:p>
        </p:txBody>
      </p:sp>
      <p:sp>
        <p:nvSpPr>
          <p:cNvPr id="4" name="Date Placeholder 3"/>
          <p:cNvSpPr txBox="1">
            <a:spLocks noGrp="1"/>
          </p:cNvSpPr>
          <p:nvPr/>
        </p:nvSpPr>
        <p:spPr>
          <a:xfrm>
            <a:off x="457200" y="6416675"/>
            <a:ext cx="2133600" cy="365125"/>
          </a:xfrm>
          <a:prstGeom prst="rect">
            <a:avLst/>
          </a:prstGeom>
          <a:noFill/>
        </p:spPr>
        <p:txBody>
          <a:bodyPr anchor="b"/>
          <a:lstStyle/>
          <a:p>
            <a:pPr fontAlgn="auto">
              <a:spcBef>
                <a:spcPts val="0"/>
              </a:spcBef>
              <a:spcAft>
                <a:spcPts val="0"/>
              </a:spcAft>
              <a:defRPr/>
            </a:pPr>
            <a:r>
              <a:rPr lang="en-US" sz="1200">
                <a:solidFill>
                  <a:schemeClr val="tx1">
                    <a:shade val="50000"/>
                  </a:schemeClr>
                </a:solidFill>
                <a:latin typeface="+mn-lt"/>
              </a:rPr>
              <a:t>10/15/2012</a:t>
            </a:r>
          </a:p>
        </p:txBody>
      </p:sp>
      <p:sp>
        <p:nvSpPr>
          <p:cNvPr id="6" name="Slide Number Placeholder 5"/>
          <p:cNvSpPr txBox="1">
            <a:spLocks noGrp="1"/>
          </p:cNvSpPr>
          <p:nvPr/>
        </p:nvSpPr>
        <p:spPr>
          <a:xfrm>
            <a:off x="7924800" y="6416675"/>
            <a:ext cx="762000" cy="365125"/>
          </a:xfrm>
          <a:prstGeom prst="rect">
            <a:avLst/>
          </a:prstGeom>
          <a:noFill/>
        </p:spPr>
        <p:txBody>
          <a:bodyPr lIns="0" rIns="0" anchor="b"/>
          <a:lstStyle/>
          <a:p>
            <a:pPr algn="r" fontAlgn="auto">
              <a:spcBef>
                <a:spcPts val="0"/>
              </a:spcBef>
              <a:spcAft>
                <a:spcPts val="0"/>
              </a:spcAft>
              <a:defRPr/>
            </a:pPr>
            <a:fld id="{B9C661B7-6550-42E4-BFC9-560EEDC7BE9C}" type="slidenum">
              <a:rPr lang="en-US" sz="1200">
                <a:solidFill>
                  <a:schemeClr val="tx1">
                    <a:shade val="50000"/>
                  </a:schemeClr>
                </a:solidFill>
                <a:latin typeface="+mn-lt"/>
              </a:rPr>
              <a:pPr algn="r" fontAlgn="auto">
                <a:spcBef>
                  <a:spcPts val="0"/>
                </a:spcBef>
                <a:spcAft>
                  <a:spcPts val="0"/>
                </a:spcAft>
                <a:defRPr/>
              </a:pPr>
              <a:t>6</a:t>
            </a:fld>
            <a:endParaRPr lang="en-US" sz="1200">
              <a:solidFill>
                <a:schemeClr val="tx1">
                  <a:shade val="50000"/>
                </a:schemeClr>
              </a:solidFill>
              <a:latin typeface="+mn-lt"/>
            </a:endParaRPr>
          </a:p>
        </p:txBody>
      </p:sp>
      <p:grpSp>
        <p:nvGrpSpPr>
          <p:cNvPr id="20485" name="Group 6"/>
          <p:cNvGrpSpPr>
            <a:grpSpLocks/>
          </p:cNvGrpSpPr>
          <p:nvPr/>
        </p:nvGrpSpPr>
        <p:grpSpPr bwMode="auto">
          <a:xfrm>
            <a:off x="8224838" y="152400"/>
            <a:ext cx="736600" cy="806450"/>
            <a:chOff x="5257800" y="4072895"/>
            <a:chExt cx="976745" cy="1108705"/>
          </a:xfrm>
        </p:grpSpPr>
        <p:grpSp>
          <p:nvGrpSpPr>
            <p:cNvPr id="20487" name="Group 7"/>
            <p:cNvGrpSpPr>
              <a:grpSpLocks/>
            </p:cNvGrpSpPr>
            <p:nvPr/>
          </p:nvGrpSpPr>
          <p:grpSpPr bwMode="auto">
            <a:xfrm>
              <a:off x="5257800" y="4764108"/>
              <a:ext cx="321434" cy="183416"/>
              <a:chOff x="2971800" y="2971800"/>
              <a:chExt cx="1073727" cy="464129"/>
            </a:xfrm>
          </p:grpSpPr>
          <p:sp>
            <p:nvSpPr>
              <p:cNvPr id="27" name="Arc 26"/>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9" name="Straight Connector 28"/>
              <p:cNvCxnSpPr>
                <a:stCxn id="27" idx="2"/>
                <a:endCxn id="28"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0488" name="Group 8"/>
            <p:cNvGrpSpPr>
              <a:grpSpLocks/>
            </p:cNvGrpSpPr>
            <p:nvPr/>
          </p:nvGrpSpPr>
          <p:grpSpPr bwMode="auto">
            <a:xfrm>
              <a:off x="5913111" y="4769584"/>
              <a:ext cx="321434" cy="183416"/>
              <a:chOff x="2971800" y="2971800"/>
              <a:chExt cx="1073727" cy="464129"/>
            </a:xfrm>
          </p:grpSpPr>
          <p:sp>
            <p:nvSpPr>
              <p:cNvPr id="24" name="Arc 23"/>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5" name="Arc 24"/>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6" name="Straight Connector 25"/>
              <p:cNvCxnSpPr>
                <a:stCxn id="24" idx="2"/>
                <a:endCxn id="25"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 name="Isosceles Triangle 9"/>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2" name="Straight Connector 11"/>
            <p:cNvCxnSpPr>
              <a:stCxn id="14" idx="3"/>
              <a:endCxn id="25"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4" idx="3"/>
              <a:endCxn id="24"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a:stCxn id="14" idx="1"/>
              <a:endCxn id="27"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4" idx="1"/>
              <a:endCxn id="28"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rot="10800000">
              <a:off x="5622783" y="4191000"/>
              <a:ext cx="228114" cy="183416"/>
              <a:chOff x="2971800" y="2971800"/>
              <a:chExt cx="1073727" cy="464129"/>
            </a:xfrm>
            <a:solidFill>
              <a:srgbClr val="C0C0C0"/>
            </a:solidFill>
          </p:grpSpPr>
          <p:sp>
            <p:nvSpPr>
              <p:cNvPr id="21" name="Arc 20"/>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3" name="Straight Connector 22"/>
              <p:cNvCxnSpPr>
                <a:stCxn id="21" idx="2"/>
                <a:endCxn id="22"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0499" name="Group 17"/>
            <p:cNvGrpSpPr>
              <a:grpSpLocks/>
            </p:cNvGrpSpPr>
            <p:nvPr/>
          </p:nvGrpSpPr>
          <p:grpSpPr bwMode="auto">
            <a:xfrm>
              <a:off x="5728286" y="4238635"/>
              <a:ext cx="18059" cy="119221"/>
              <a:chOff x="1005840" y="2868234"/>
              <a:chExt cx="97154" cy="301685"/>
            </a:xfrm>
          </p:grpSpPr>
          <p:sp>
            <p:nvSpPr>
              <p:cNvPr id="19" name="Isosceles Triangle 18"/>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Oval 19"/>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20486" name="Picture 31" descr="dglxasset[1]"/>
          <p:cNvPicPr>
            <a:picLocks noChangeAspect="1" noChangeArrowheads="1"/>
          </p:cNvPicPr>
          <p:nvPr/>
        </p:nvPicPr>
        <p:blipFill>
          <a:blip r:embed="rId5"/>
          <a:srcRect/>
          <a:stretch>
            <a:fillRect/>
          </a:stretch>
        </p:blipFill>
        <p:spPr bwMode="auto">
          <a:xfrm>
            <a:off x="7715250" y="5334000"/>
            <a:ext cx="1209675" cy="12620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274638"/>
            <a:ext cx="8229600" cy="1143000"/>
          </a:xfrm>
        </p:spPr>
        <p:txBody>
          <a:bodyPr>
            <a:normAutofit fontScale="90000"/>
          </a:bodyPr>
          <a:lstStyle/>
          <a:p>
            <a:pPr eaLnBrk="1" fontAlgn="auto" hangingPunct="1">
              <a:spcAft>
                <a:spcPts val="0"/>
              </a:spcAft>
              <a:defRPr/>
            </a:pPr>
            <a:r>
              <a:rPr lang="en-US" dirty="0"/>
              <a:t>Academia / </a:t>
            </a:r>
            <a:r>
              <a:rPr lang="en-US" dirty="0" smtClean="0"/>
              <a:t>Research: An example</a:t>
            </a:r>
            <a:endParaRPr lang="en-US" dirty="0"/>
          </a:p>
        </p:txBody>
      </p:sp>
      <p:sp>
        <p:nvSpPr>
          <p:cNvPr id="22530" name="Content Placeholder 2"/>
          <p:cNvSpPr>
            <a:spLocks noGrp="1"/>
          </p:cNvSpPr>
          <p:nvPr>
            <p:ph idx="4294967295"/>
          </p:nvPr>
        </p:nvSpPr>
        <p:spPr/>
        <p:txBody>
          <a:bodyPr/>
          <a:lstStyle/>
          <a:p>
            <a:pPr marL="114300" indent="0" eaLnBrk="1" hangingPunct="1">
              <a:lnSpc>
                <a:spcPct val="80000"/>
              </a:lnSpc>
              <a:buFont typeface="Wingdings 2" pitchFamily="18" charset="2"/>
              <a:buNone/>
            </a:pPr>
            <a:r>
              <a:rPr lang="en-US" sz="2000" smtClean="0"/>
              <a:t>Questions</a:t>
            </a:r>
          </a:p>
          <a:p>
            <a:pPr marL="114300" indent="0" eaLnBrk="1" hangingPunct="1">
              <a:lnSpc>
                <a:spcPct val="80000"/>
              </a:lnSpc>
            </a:pPr>
            <a:r>
              <a:rPr lang="en-US" sz="2000" smtClean="0"/>
              <a:t>  Is it fair that others publish articles based on their data before they have covered all the publication options?</a:t>
            </a:r>
          </a:p>
          <a:p>
            <a:pPr marL="114300" indent="0" eaLnBrk="1" hangingPunct="1">
              <a:lnSpc>
                <a:spcPct val="80000"/>
              </a:lnSpc>
            </a:pPr>
            <a:r>
              <a:rPr lang="en-US" sz="2000" smtClean="0"/>
              <a:t>  Doesn’t the scientific method rely on independent data review and duplication of experiments to validate conclusions?</a:t>
            </a:r>
          </a:p>
          <a:p>
            <a:pPr marL="114300" indent="0" eaLnBrk="1" hangingPunct="1">
              <a:lnSpc>
                <a:spcPct val="80000"/>
              </a:lnSpc>
            </a:pPr>
            <a:r>
              <a:rPr lang="en-US" sz="2000" smtClean="0"/>
              <a:t>  How could the data be released?</a:t>
            </a:r>
          </a:p>
        </p:txBody>
      </p:sp>
      <p:sp>
        <p:nvSpPr>
          <p:cNvPr id="4" name="Date Placeholder 3"/>
          <p:cNvSpPr txBox="1">
            <a:spLocks noGrp="1"/>
          </p:cNvSpPr>
          <p:nvPr/>
        </p:nvSpPr>
        <p:spPr>
          <a:xfrm>
            <a:off x="457200" y="6416675"/>
            <a:ext cx="2133600" cy="365125"/>
          </a:xfrm>
          <a:prstGeom prst="rect">
            <a:avLst/>
          </a:prstGeom>
          <a:noFill/>
        </p:spPr>
        <p:txBody>
          <a:bodyPr anchor="b"/>
          <a:lstStyle/>
          <a:p>
            <a:pPr fontAlgn="auto">
              <a:spcBef>
                <a:spcPts val="0"/>
              </a:spcBef>
              <a:spcAft>
                <a:spcPts val="0"/>
              </a:spcAft>
              <a:defRPr/>
            </a:pPr>
            <a:r>
              <a:rPr lang="en-US" sz="1200">
                <a:solidFill>
                  <a:schemeClr val="tx1">
                    <a:shade val="50000"/>
                  </a:schemeClr>
                </a:solidFill>
                <a:latin typeface="+mn-lt"/>
              </a:rPr>
              <a:t>10/15/2012</a:t>
            </a:r>
          </a:p>
        </p:txBody>
      </p:sp>
      <p:sp>
        <p:nvSpPr>
          <p:cNvPr id="6" name="Slide Number Placeholder 5"/>
          <p:cNvSpPr txBox="1">
            <a:spLocks noGrp="1"/>
          </p:cNvSpPr>
          <p:nvPr/>
        </p:nvSpPr>
        <p:spPr>
          <a:xfrm>
            <a:off x="7924800" y="6416675"/>
            <a:ext cx="762000" cy="365125"/>
          </a:xfrm>
          <a:prstGeom prst="rect">
            <a:avLst/>
          </a:prstGeom>
          <a:noFill/>
        </p:spPr>
        <p:txBody>
          <a:bodyPr lIns="0" rIns="0" anchor="b"/>
          <a:lstStyle/>
          <a:p>
            <a:pPr algn="r" fontAlgn="auto">
              <a:spcBef>
                <a:spcPts val="0"/>
              </a:spcBef>
              <a:spcAft>
                <a:spcPts val="0"/>
              </a:spcAft>
              <a:defRPr/>
            </a:pPr>
            <a:fld id="{CAAF41C0-99CB-4B75-AD34-24B058486122}" type="slidenum">
              <a:rPr lang="en-US" sz="1200">
                <a:solidFill>
                  <a:schemeClr val="tx1">
                    <a:shade val="50000"/>
                  </a:schemeClr>
                </a:solidFill>
                <a:latin typeface="+mn-lt"/>
              </a:rPr>
              <a:pPr algn="r" fontAlgn="auto">
                <a:spcBef>
                  <a:spcPts val="0"/>
                </a:spcBef>
                <a:spcAft>
                  <a:spcPts val="0"/>
                </a:spcAft>
                <a:defRPr/>
              </a:pPr>
              <a:t>7</a:t>
            </a:fld>
            <a:endParaRPr lang="en-US" sz="1200">
              <a:solidFill>
                <a:schemeClr val="tx1">
                  <a:shade val="50000"/>
                </a:schemeClr>
              </a:solidFill>
              <a:latin typeface="+mn-lt"/>
            </a:endParaRPr>
          </a:p>
        </p:txBody>
      </p:sp>
      <p:grpSp>
        <p:nvGrpSpPr>
          <p:cNvPr id="22533" name="Group 6"/>
          <p:cNvGrpSpPr>
            <a:grpSpLocks/>
          </p:cNvGrpSpPr>
          <p:nvPr/>
        </p:nvGrpSpPr>
        <p:grpSpPr bwMode="auto">
          <a:xfrm>
            <a:off x="8224838" y="152400"/>
            <a:ext cx="736600" cy="806450"/>
            <a:chOff x="5257800" y="4072895"/>
            <a:chExt cx="976745" cy="1108705"/>
          </a:xfrm>
        </p:grpSpPr>
        <p:grpSp>
          <p:nvGrpSpPr>
            <p:cNvPr id="22536" name="Group 7"/>
            <p:cNvGrpSpPr>
              <a:grpSpLocks/>
            </p:cNvGrpSpPr>
            <p:nvPr/>
          </p:nvGrpSpPr>
          <p:grpSpPr bwMode="auto">
            <a:xfrm>
              <a:off x="5257800" y="4764108"/>
              <a:ext cx="321434" cy="183416"/>
              <a:chOff x="2971800" y="2971800"/>
              <a:chExt cx="1073727" cy="464129"/>
            </a:xfrm>
          </p:grpSpPr>
          <p:sp>
            <p:nvSpPr>
              <p:cNvPr id="27" name="Arc 26"/>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9" name="Straight Connector 28"/>
              <p:cNvCxnSpPr>
                <a:stCxn id="27" idx="2"/>
                <a:endCxn id="28"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2537" name="Group 8"/>
            <p:cNvGrpSpPr>
              <a:grpSpLocks/>
            </p:cNvGrpSpPr>
            <p:nvPr/>
          </p:nvGrpSpPr>
          <p:grpSpPr bwMode="auto">
            <a:xfrm>
              <a:off x="5913111" y="4769584"/>
              <a:ext cx="321434" cy="183416"/>
              <a:chOff x="2971800" y="2971800"/>
              <a:chExt cx="1073727" cy="464129"/>
            </a:xfrm>
          </p:grpSpPr>
          <p:sp>
            <p:nvSpPr>
              <p:cNvPr id="24" name="Arc 23"/>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5" name="Arc 24"/>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6" name="Straight Connector 25"/>
              <p:cNvCxnSpPr>
                <a:stCxn id="24" idx="2"/>
                <a:endCxn id="25"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 name="Isosceles Triangle 9"/>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2" name="Straight Connector 11"/>
            <p:cNvCxnSpPr>
              <a:stCxn id="14" idx="3"/>
              <a:endCxn id="25"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4" idx="3"/>
              <a:endCxn id="24"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a:stCxn id="14" idx="1"/>
              <a:endCxn id="27"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4" idx="1"/>
              <a:endCxn id="28"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rot="10800000">
              <a:off x="5622783" y="4191000"/>
              <a:ext cx="228114" cy="183416"/>
              <a:chOff x="2971800" y="2971800"/>
              <a:chExt cx="1073727" cy="464129"/>
            </a:xfrm>
            <a:solidFill>
              <a:srgbClr val="C0C0C0"/>
            </a:solidFill>
          </p:grpSpPr>
          <p:sp>
            <p:nvSpPr>
              <p:cNvPr id="21" name="Arc 20"/>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3" name="Straight Connector 22"/>
              <p:cNvCxnSpPr>
                <a:stCxn id="21" idx="2"/>
                <a:endCxn id="22"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2548" name="Group 17"/>
            <p:cNvGrpSpPr>
              <a:grpSpLocks/>
            </p:cNvGrpSpPr>
            <p:nvPr/>
          </p:nvGrpSpPr>
          <p:grpSpPr bwMode="auto">
            <a:xfrm>
              <a:off x="5728286" y="4238635"/>
              <a:ext cx="18059" cy="119221"/>
              <a:chOff x="1005840" y="2868234"/>
              <a:chExt cx="97154" cy="301685"/>
            </a:xfrm>
          </p:grpSpPr>
          <p:sp>
            <p:nvSpPr>
              <p:cNvPr id="19" name="Isosceles Triangle 18"/>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Oval 19"/>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22534" name="Picture 28" descr="dglxasset[2]"/>
          <p:cNvPicPr>
            <a:picLocks noChangeAspect="1" noChangeArrowheads="1"/>
          </p:cNvPicPr>
          <p:nvPr/>
        </p:nvPicPr>
        <p:blipFill>
          <a:blip r:embed="rId5"/>
          <a:srcRect/>
          <a:stretch>
            <a:fillRect/>
          </a:stretch>
        </p:blipFill>
        <p:spPr bwMode="auto">
          <a:xfrm>
            <a:off x="6994525" y="3810000"/>
            <a:ext cx="1955800" cy="2438400"/>
          </a:xfrm>
          <a:prstGeom prst="rect">
            <a:avLst/>
          </a:prstGeom>
          <a:noFill/>
          <a:ln w="9525">
            <a:noFill/>
            <a:miter lim="800000"/>
            <a:headEnd/>
            <a:tailEnd/>
          </a:ln>
        </p:spPr>
      </p:pic>
      <p:sp>
        <p:nvSpPr>
          <p:cNvPr id="22535" name="Content Placeholder 2"/>
          <p:cNvSpPr>
            <a:spLocks/>
          </p:cNvSpPr>
          <p:nvPr/>
        </p:nvSpPr>
        <p:spPr bwMode="auto">
          <a:xfrm>
            <a:off x="233363" y="3436938"/>
            <a:ext cx="6934200" cy="2963862"/>
          </a:xfrm>
          <a:prstGeom prst="rect">
            <a:avLst/>
          </a:prstGeom>
          <a:noFill/>
          <a:ln w="9525">
            <a:noFill/>
            <a:miter lim="800000"/>
            <a:headEnd/>
            <a:tailEnd/>
          </a:ln>
        </p:spPr>
        <p:txBody>
          <a:bodyPr/>
          <a:lstStyle/>
          <a:p>
            <a:pPr marL="114300">
              <a:lnSpc>
                <a:spcPct val="80000"/>
              </a:lnSpc>
              <a:spcBef>
                <a:spcPct val="20000"/>
              </a:spcBef>
              <a:buClr>
                <a:srgbClr val="F9F9F9"/>
              </a:buClr>
              <a:buSzPct val="65000"/>
              <a:buFont typeface="Wingdings 2" pitchFamily="18" charset="2"/>
              <a:buNone/>
            </a:pPr>
            <a:r>
              <a:rPr lang="en-US" sz="2000">
                <a:latin typeface="Book Antiqua" pitchFamily="18" charset="0"/>
              </a:rPr>
              <a:t>An Approach</a:t>
            </a:r>
          </a:p>
          <a:p>
            <a:pPr marL="114300">
              <a:lnSpc>
                <a:spcPct val="80000"/>
              </a:lnSpc>
              <a:spcBef>
                <a:spcPct val="20000"/>
              </a:spcBef>
              <a:buClr>
                <a:srgbClr val="F9F9F9"/>
              </a:buClr>
              <a:buSzPct val="65000"/>
              <a:buFont typeface="Wingdings 2" pitchFamily="18" charset="2"/>
              <a:buChar char=""/>
            </a:pPr>
            <a:r>
              <a:rPr lang="en-US" sz="2000">
                <a:latin typeface="Book Antiqua" pitchFamily="18" charset="0"/>
              </a:rPr>
              <a:t>  In a publish or perish academic world letting others access your data before all publication options are exhausted could mean lost recognition</a:t>
            </a:r>
          </a:p>
          <a:p>
            <a:pPr marL="114300">
              <a:lnSpc>
                <a:spcPct val="80000"/>
              </a:lnSpc>
              <a:spcBef>
                <a:spcPct val="20000"/>
              </a:spcBef>
              <a:buClr>
                <a:srgbClr val="F9F9F9"/>
              </a:buClr>
              <a:buSzPct val="65000"/>
              <a:buFont typeface="Wingdings 2" pitchFamily="18" charset="2"/>
              <a:buChar char=""/>
            </a:pPr>
            <a:r>
              <a:rPr lang="en-US" sz="2000">
                <a:latin typeface="Book Antiqua" pitchFamily="18" charset="0"/>
              </a:rPr>
              <a:t>  While scientific courtesy usually allows the developer/collector of data first access to the data and publication of results, release of data for peer and general review should be done in a timely fashion</a:t>
            </a:r>
          </a:p>
          <a:p>
            <a:pPr marL="114300">
              <a:lnSpc>
                <a:spcPct val="80000"/>
              </a:lnSpc>
              <a:spcBef>
                <a:spcPct val="20000"/>
              </a:spcBef>
              <a:buClr>
                <a:srgbClr val="F9F9F9"/>
              </a:buClr>
              <a:buSzPct val="65000"/>
              <a:buFont typeface="Wingdings 2" pitchFamily="18" charset="2"/>
              <a:buChar char=""/>
            </a:pPr>
            <a:r>
              <a:rPr lang="en-US" sz="2000">
                <a:latin typeface="Book Antiqua" pitchFamily="18" charset="0"/>
              </a:rPr>
              <a:t>  Withholding data from public review allows  others to criticize researcher’s  results and their data as unsubstantiated or bogus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Academia / Research</a:t>
            </a:r>
            <a:endParaRPr lang="en-US" dirty="0"/>
          </a:p>
        </p:txBody>
      </p:sp>
      <p:sp>
        <p:nvSpPr>
          <p:cNvPr id="24578" name="Content Placeholder 2"/>
          <p:cNvSpPr>
            <a:spLocks noGrp="1"/>
          </p:cNvSpPr>
          <p:nvPr>
            <p:ph idx="1"/>
          </p:nvPr>
        </p:nvSpPr>
        <p:spPr/>
        <p:txBody>
          <a:bodyPr/>
          <a:lstStyle/>
          <a:p>
            <a:pPr eaLnBrk="1" hangingPunct="1"/>
            <a:r>
              <a:rPr lang="en-US" smtClean="0"/>
              <a:t>Ethical Challenges:</a:t>
            </a:r>
          </a:p>
          <a:p>
            <a:pPr lvl="1" eaLnBrk="1" hangingPunct="1"/>
            <a:r>
              <a:rPr lang="en-US" smtClean="0"/>
              <a:t>Use of valid data</a:t>
            </a:r>
          </a:p>
          <a:p>
            <a:pPr lvl="1" eaLnBrk="1" hangingPunct="1"/>
            <a:r>
              <a:rPr lang="en-US" smtClean="0"/>
              <a:t>Providing access for open reviews</a:t>
            </a:r>
          </a:p>
          <a:p>
            <a:pPr lvl="1" eaLnBrk="1" hangingPunct="1"/>
            <a:r>
              <a:rPr lang="en-US" smtClean="0"/>
              <a:t>Assigning credit for work to the performers </a:t>
            </a:r>
          </a:p>
          <a:p>
            <a:pPr lvl="1" eaLnBrk="1" hangingPunct="1"/>
            <a:r>
              <a:rPr lang="en-US" smtClean="0"/>
              <a:t>Encouraging scientific debate of theories and interpretations while avoiding personal attacks</a:t>
            </a:r>
          </a:p>
        </p:txBody>
      </p:sp>
      <p:pic>
        <p:nvPicPr>
          <p:cNvPr id="24579" name="Picture 2" descr="F:\IMAGES\PHOTOS\EDCATION\PHEDU009.JPG"/>
          <p:cNvPicPr>
            <a:picLocks noChangeAspect="1" noChangeArrowheads="1"/>
          </p:cNvPicPr>
          <p:nvPr/>
        </p:nvPicPr>
        <p:blipFill>
          <a:blip r:embed="rId2"/>
          <a:srcRect/>
          <a:stretch>
            <a:fillRect/>
          </a:stretch>
        </p:blipFill>
        <p:spPr bwMode="auto">
          <a:xfrm>
            <a:off x="7481888" y="4191000"/>
            <a:ext cx="1509712" cy="2316163"/>
          </a:xfrm>
          <a:prstGeom prst="rect">
            <a:avLst/>
          </a:prstGeom>
          <a:noFill/>
          <a:ln w="9525">
            <a:noFill/>
            <a:miter lim="800000"/>
            <a:headEnd/>
            <a:tailEnd/>
          </a:ln>
        </p:spPr>
      </p:pic>
      <p:sp>
        <p:nvSpPr>
          <p:cNvPr id="4" name="Date Placeholder 3"/>
          <p:cNvSpPr>
            <a:spLocks noGrp="1"/>
          </p:cNvSpPr>
          <p:nvPr>
            <p:ph type="dt" sz="quarter" idx="10"/>
          </p:nvPr>
        </p:nvSpPr>
        <p:spPr/>
        <p:txBody>
          <a:bodyPr/>
          <a:lstStyle/>
          <a:p>
            <a:pPr>
              <a:defRPr/>
            </a:pPr>
            <a:r>
              <a:rPr lang="en-US"/>
              <a:t>10/15/2012</a:t>
            </a:r>
          </a:p>
        </p:txBody>
      </p:sp>
      <p:sp>
        <p:nvSpPr>
          <p:cNvPr id="6" name="Slide Number Placeholder 5"/>
          <p:cNvSpPr>
            <a:spLocks noGrp="1"/>
          </p:cNvSpPr>
          <p:nvPr>
            <p:ph type="sldNum" sz="quarter" idx="11"/>
          </p:nvPr>
        </p:nvSpPr>
        <p:spPr/>
        <p:txBody>
          <a:bodyPr/>
          <a:lstStyle/>
          <a:p>
            <a:pPr>
              <a:defRPr/>
            </a:pPr>
            <a:fld id="{3628C314-BB0B-464C-AA26-50BCA9978062}" type="slidenum">
              <a:rPr lang="en-US"/>
              <a:pPr>
                <a:defRPr/>
              </a:pPr>
              <a:t>8</a:t>
            </a:fld>
            <a:endParaRPr lang="en-US"/>
          </a:p>
        </p:txBody>
      </p:sp>
      <p:grpSp>
        <p:nvGrpSpPr>
          <p:cNvPr id="24582" name="Group 7"/>
          <p:cNvGrpSpPr>
            <a:grpSpLocks/>
          </p:cNvGrpSpPr>
          <p:nvPr/>
        </p:nvGrpSpPr>
        <p:grpSpPr bwMode="auto">
          <a:xfrm>
            <a:off x="8224838" y="152400"/>
            <a:ext cx="736600" cy="806450"/>
            <a:chOff x="5257800" y="4072895"/>
            <a:chExt cx="976745" cy="1108705"/>
          </a:xfrm>
        </p:grpSpPr>
        <p:grpSp>
          <p:nvGrpSpPr>
            <p:cNvPr id="24583" name="Group 8"/>
            <p:cNvGrpSpPr>
              <a:grpSpLocks/>
            </p:cNvGrpSpPr>
            <p:nvPr/>
          </p:nvGrpSpPr>
          <p:grpSpPr bwMode="auto">
            <a:xfrm>
              <a:off x="5257800" y="4764108"/>
              <a:ext cx="321434" cy="183416"/>
              <a:chOff x="2971800" y="2971800"/>
              <a:chExt cx="1073727" cy="464129"/>
            </a:xfrm>
          </p:grpSpPr>
          <p:sp>
            <p:nvSpPr>
              <p:cNvPr id="28" name="Arc 27"/>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9" name="Arc 28"/>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0" name="Straight Connector 29"/>
              <p:cNvCxnSpPr>
                <a:stCxn id="28" idx="2"/>
                <a:endCxn id="29"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4584" name="Group 9"/>
            <p:cNvGrpSpPr>
              <a:grpSpLocks/>
            </p:cNvGrpSpPr>
            <p:nvPr/>
          </p:nvGrpSpPr>
          <p:grpSpPr bwMode="auto">
            <a:xfrm>
              <a:off x="5913111" y="4769584"/>
              <a:ext cx="321434" cy="183416"/>
              <a:chOff x="2971800" y="2971800"/>
              <a:chExt cx="1073727" cy="464129"/>
            </a:xfrm>
          </p:grpSpPr>
          <p:sp>
            <p:nvSpPr>
              <p:cNvPr id="25" name="Arc 24"/>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6" name="Arc 25"/>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7" name="Straight Connector 26"/>
              <p:cNvCxnSpPr>
                <a:stCxn id="25" idx="2"/>
                <a:endCxn id="26"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 name="Isosceles Triangle 10"/>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3" name="Straight Connector 12"/>
            <p:cNvCxnSpPr>
              <a:stCxn id="15" idx="3"/>
              <a:endCxn id="26"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5" idx="3"/>
              <a:endCxn id="25"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6" name="Straight Connector 15"/>
            <p:cNvCxnSpPr>
              <a:stCxn id="15" idx="1"/>
              <a:endCxn id="28"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5" idx="1"/>
              <a:endCxn id="29"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rot="10800000">
              <a:off x="5622783" y="4191000"/>
              <a:ext cx="228114" cy="183416"/>
              <a:chOff x="2971800" y="2971800"/>
              <a:chExt cx="1073727" cy="464129"/>
            </a:xfrm>
            <a:solidFill>
              <a:srgbClr val="C0C0C0"/>
            </a:solidFill>
          </p:grpSpPr>
          <p:sp>
            <p:nvSpPr>
              <p:cNvPr id="22" name="Arc 21"/>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4" name="Straight Connector 23"/>
              <p:cNvCxnSpPr>
                <a:stCxn id="22" idx="2"/>
                <a:endCxn id="23"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4595" name="Group 18"/>
            <p:cNvGrpSpPr>
              <a:grpSpLocks/>
            </p:cNvGrpSpPr>
            <p:nvPr/>
          </p:nvGrpSpPr>
          <p:grpSpPr bwMode="auto">
            <a:xfrm>
              <a:off x="5728286" y="4238635"/>
              <a:ext cx="18059" cy="119221"/>
              <a:chOff x="1005840" y="2868234"/>
              <a:chExt cx="97154" cy="301685"/>
            </a:xfrm>
          </p:grpSpPr>
          <p:sp>
            <p:nvSpPr>
              <p:cNvPr id="20" name="Isosceles Triangle 19"/>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Oval 20"/>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Academia / Research</a:t>
            </a:r>
            <a:endParaRPr lang="en-US" dirty="0"/>
          </a:p>
        </p:txBody>
      </p:sp>
      <p:sp>
        <p:nvSpPr>
          <p:cNvPr id="25602" name="Content Placeholder 2"/>
          <p:cNvSpPr>
            <a:spLocks noGrp="1"/>
          </p:cNvSpPr>
          <p:nvPr>
            <p:ph idx="1"/>
          </p:nvPr>
        </p:nvSpPr>
        <p:spPr>
          <a:xfrm>
            <a:off x="76200" y="1371600"/>
            <a:ext cx="7391400" cy="4953000"/>
          </a:xfrm>
        </p:spPr>
        <p:txBody>
          <a:bodyPr/>
          <a:lstStyle/>
          <a:p>
            <a:pPr eaLnBrk="1" hangingPunct="1"/>
            <a:r>
              <a:rPr lang="en-US" smtClean="0"/>
              <a:t>Ethical Challenges:</a:t>
            </a:r>
          </a:p>
          <a:p>
            <a:pPr lvl="1" eaLnBrk="1" hangingPunct="1"/>
            <a:r>
              <a:rPr lang="en-US" smtClean="0">
                <a:solidFill>
                  <a:srgbClr val="000000"/>
                </a:solidFill>
              </a:rPr>
              <a:t>Use of valid data</a:t>
            </a:r>
          </a:p>
          <a:p>
            <a:pPr lvl="2" eaLnBrk="1" hangingPunct="1"/>
            <a:r>
              <a:rPr lang="en-US" smtClean="0"/>
              <a:t>Is the data good enough ? (publications, next grant pressures)</a:t>
            </a:r>
          </a:p>
          <a:p>
            <a:pPr lvl="1" eaLnBrk="1" hangingPunct="1"/>
            <a:r>
              <a:rPr lang="en-US" smtClean="0">
                <a:solidFill>
                  <a:srgbClr val="000000"/>
                </a:solidFill>
              </a:rPr>
              <a:t>Providing access for open reviews</a:t>
            </a:r>
          </a:p>
          <a:p>
            <a:pPr lvl="2" eaLnBrk="1" hangingPunct="1"/>
            <a:r>
              <a:rPr lang="en-US" smtClean="0"/>
              <a:t>Decision to release the data</a:t>
            </a:r>
          </a:p>
          <a:p>
            <a:pPr lvl="1" eaLnBrk="1" hangingPunct="1"/>
            <a:r>
              <a:rPr lang="en-US" smtClean="0">
                <a:solidFill>
                  <a:srgbClr val="000000"/>
                </a:solidFill>
              </a:rPr>
              <a:t>Assigning credit for work to the performers </a:t>
            </a:r>
          </a:p>
          <a:p>
            <a:pPr lvl="2" eaLnBrk="1" hangingPunct="1"/>
            <a:r>
              <a:rPr lang="en-US" smtClean="0"/>
              <a:t>Who contributed and who did not</a:t>
            </a:r>
          </a:p>
          <a:p>
            <a:pPr lvl="1" eaLnBrk="1" hangingPunct="1"/>
            <a:r>
              <a:rPr lang="en-US" smtClean="0">
                <a:solidFill>
                  <a:srgbClr val="000000"/>
                </a:solidFill>
              </a:rPr>
              <a:t>Encouraging scientific debate of theories and interpretations while avoiding personal attacks</a:t>
            </a:r>
          </a:p>
          <a:p>
            <a:pPr lvl="2" eaLnBrk="1" hangingPunct="1"/>
            <a:r>
              <a:rPr lang="en-US" smtClean="0"/>
              <a:t>Science is a process of ongoing challenge and testing of theories</a:t>
            </a:r>
          </a:p>
        </p:txBody>
      </p:sp>
      <p:sp>
        <p:nvSpPr>
          <p:cNvPr id="4" name="Date Placeholder 3"/>
          <p:cNvSpPr>
            <a:spLocks noGrp="1"/>
          </p:cNvSpPr>
          <p:nvPr>
            <p:ph type="dt" sz="quarter" idx="10"/>
          </p:nvPr>
        </p:nvSpPr>
        <p:spPr/>
        <p:txBody>
          <a:bodyPr/>
          <a:lstStyle/>
          <a:p>
            <a:pPr>
              <a:defRPr/>
            </a:pPr>
            <a:r>
              <a:rPr lang="en-US"/>
              <a:t>10/15/2012</a:t>
            </a:r>
          </a:p>
        </p:txBody>
      </p:sp>
      <p:sp>
        <p:nvSpPr>
          <p:cNvPr id="6" name="Slide Number Placeholder 5"/>
          <p:cNvSpPr>
            <a:spLocks noGrp="1"/>
          </p:cNvSpPr>
          <p:nvPr>
            <p:ph type="sldNum" sz="quarter" idx="11"/>
          </p:nvPr>
        </p:nvSpPr>
        <p:spPr/>
        <p:txBody>
          <a:bodyPr/>
          <a:lstStyle/>
          <a:p>
            <a:pPr>
              <a:defRPr/>
            </a:pPr>
            <a:fld id="{67DD310C-6EF8-40B5-9E45-8398A2E21501}" type="slidenum">
              <a:rPr lang="en-US"/>
              <a:pPr>
                <a:defRPr/>
              </a:pPr>
              <a:t>9</a:t>
            </a:fld>
            <a:endParaRPr lang="en-US"/>
          </a:p>
        </p:txBody>
      </p:sp>
      <p:grpSp>
        <p:nvGrpSpPr>
          <p:cNvPr id="25605" name="Group 10"/>
          <p:cNvGrpSpPr>
            <a:grpSpLocks/>
          </p:cNvGrpSpPr>
          <p:nvPr/>
        </p:nvGrpSpPr>
        <p:grpSpPr bwMode="auto">
          <a:xfrm>
            <a:off x="8224838" y="152400"/>
            <a:ext cx="736600" cy="806450"/>
            <a:chOff x="5257800" y="4072895"/>
            <a:chExt cx="976745" cy="1108705"/>
          </a:xfrm>
        </p:grpSpPr>
        <p:grpSp>
          <p:nvGrpSpPr>
            <p:cNvPr id="25607" name="Group 11"/>
            <p:cNvGrpSpPr>
              <a:grpSpLocks/>
            </p:cNvGrpSpPr>
            <p:nvPr/>
          </p:nvGrpSpPr>
          <p:grpSpPr bwMode="auto">
            <a:xfrm>
              <a:off x="5257800" y="4764108"/>
              <a:ext cx="321434" cy="183416"/>
              <a:chOff x="2971800" y="2971800"/>
              <a:chExt cx="1073727" cy="464129"/>
            </a:xfrm>
          </p:grpSpPr>
          <p:sp>
            <p:nvSpPr>
              <p:cNvPr id="31" name="Arc 30"/>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32" name="Arc 31"/>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3" name="Straight Connector 32"/>
              <p:cNvCxnSpPr>
                <a:stCxn id="31" idx="2"/>
                <a:endCxn id="32"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5608" name="Group 12"/>
            <p:cNvGrpSpPr>
              <a:grpSpLocks/>
            </p:cNvGrpSpPr>
            <p:nvPr/>
          </p:nvGrpSpPr>
          <p:grpSpPr bwMode="auto">
            <a:xfrm>
              <a:off x="5913111" y="4769584"/>
              <a:ext cx="321434" cy="183416"/>
              <a:chOff x="2971800" y="2971800"/>
              <a:chExt cx="1073727" cy="464129"/>
            </a:xfrm>
          </p:grpSpPr>
          <p:sp>
            <p:nvSpPr>
              <p:cNvPr id="28" name="Arc 27"/>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9" name="Arc 28"/>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0" name="Straight Connector 29"/>
              <p:cNvCxnSpPr>
                <a:stCxn id="28" idx="2"/>
                <a:endCxn id="29"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4" name="Isosceles Triangle 13"/>
            <p:cNvSpPr/>
            <p:nvPr/>
          </p:nvSpPr>
          <p:spPr>
            <a:xfrm>
              <a:off x="5714596" y="4072895"/>
              <a:ext cx="44207" cy="1054143"/>
            </a:xfrm>
            <a:prstGeom prst="triangle">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p:nvPr/>
          </p:nvSpPr>
          <p:spPr>
            <a:xfrm>
              <a:off x="5591677" y="5121374"/>
              <a:ext cx="296549" cy="60226"/>
            </a:xfrm>
            <a:prstGeom prst="rect">
              <a:avLst/>
            </a:prstGeom>
            <a:blipFill>
              <a:blip r:embed="rId3"/>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6" name="Straight Connector 15"/>
            <p:cNvCxnSpPr>
              <a:stCxn id="18" idx="3"/>
              <a:endCxn id="29"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8" idx="3"/>
              <a:endCxn id="28"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9" name="Straight Connector 18"/>
            <p:cNvCxnSpPr>
              <a:stCxn id="18" idx="1"/>
              <a:endCxn id="31"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8" idx="1"/>
              <a:endCxn id="32"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rot="10800000">
              <a:off x="5622783" y="4191000"/>
              <a:ext cx="228114" cy="183416"/>
              <a:chOff x="2971800" y="2971800"/>
              <a:chExt cx="1073727" cy="464129"/>
            </a:xfrm>
            <a:solidFill>
              <a:srgbClr val="C0C0C0"/>
            </a:solidFill>
          </p:grpSpPr>
          <p:sp>
            <p:nvSpPr>
              <p:cNvPr id="25" name="Arc 24"/>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6" name="Arc 25"/>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7" name="Straight Connector 26"/>
              <p:cNvCxnSpPr>
                <a:stCxn id="25" idx="2"/>
                <a:endCxn id="26"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5619" name="Group 21"/>
            <p:cNvGrpSpPr>
              <a:grpSpLocks/>
            </p:cNvGrpSpPr>
            <p:nvPr/>
          </p:nvGrpSpPr>
          <p:grpSpPr bwMode="auto">
            <a:xfrm>
              <a:off x="5728286" y="4238635"/>
              <a:ext cx="18059" cy="119221"/>
              <a:chOff x="1005840" y="2868234"/>
              <a:chExt cx="97154" cy="301685"/>
            </a:xfrm>
          </p:grpSpPr>
          <p:sp>
            <p:nvSpPr>
              <p:cNvPr id="23" name="Isosceles Triangle 22"/>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4" name="Oval 23"/>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25606" name="Picture 28" descr="dglxasset[1]"/>
          <p:cNvPicPr>
            <a:picLocks noChangeAspect="1" noChangeArrowheads="1"/>
          </p:cNvPicPr>
          <p:nvPr/>
        </p:nvPicPr>
        <p:blipFill>
          <a:blip r:embed="rId4"/>
          <a:srcRect/>
          <a:stretch>
            <a:fillRect/>
          </a:stretch>
        </p:blipFill>
        <p:spPr bwMode="auto">
          <a:xfrm>
            <a:off x="7010400" y="5181600"/>
            <a:ext cx="1981200" cy="132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lstStyle/>
          <a:p>
            <a:pPr eaLnBrk="1" fontAlgn="auto" hangingPunct="1">
              <a:spcAft>
                <a:spcPts val="0"/>
              </a:spcAft>
              <a:defRPr/>
            </a:pPr>
            <a:r>
              <a:rPr lang="en-US" dirty="0" smtClean="0"/>
              <a:t>Government: </a:t>
            </a:r>
            <a:r>
              <a:rPr lang="en-US" dirty="0"/>
              <a:t>An example</a:t>
            </a:r>
          </a:p>
        </p:txBody>
      </p:sp>
      <p:sp>
        <p:nvSpPr>
          <p:cNvPr id="26626" name="Content Placeholder 2"/>
          <p:cNvSpPr>
            <a:spLocks noGrp="1"/>
          </p:cNvSpPr>
          <p:nvPr>
            <p:ph idx="4294967295"/>
          </p:nvPr>
        </p:nvSpPr>
        <p:spPr/>
        <p:txBody>
          <a:bodyPr/>
          <a:lstStyle/>
          <a:p>
            <a:pPr marL="136525" indent="0" eaLnBrk="1" hangingPunct="1">
              <a:lnSpc>
                <a:spcPct val="90000"/>
              </a:lnSpc>
              <a:buFont typeface="Wingdings 2" pitchFamily="18" charset="2"/>
              <a:buNone/>
            </a:pPr>
            <a:r>
              <a:rPr lang="en-US" sz="2600" smtClean="0"/>
              <a:t>Influence and Employment</a:t>
            </a:r>
          </a:p>
          <a:p>
            <a:pPr marL="136525" indent="0" eaLnBrk="1" hangingPunct="1">
              <a:lnSpc>
                <a:spcPct val="90000"/>
              </a:lnSpc>
            </a:pPr>
            <a:r>
              <a:rPr lang="en-US" sz="2600" smtClean="0"/>
              <a:t>  You are a manager for a contract with the a fast growing company to install meteorological instrumentation.</a:t>
            </a:r>
          </a:p>
          <a:p>
            <a:pPr marL="136525" indent="0" eaLnBrk="1" hangingPunct="1">
              <a:lnSpc>
                <a:spcPct val="90000"/>
              </a:lnSpc>
            </a:pPr>
            <a:r>
              <a:rPr lang="en-US" sz="2600" smtClean="0"/>
              <a:t>  There is a potential contract to analyze the data, but you are not in line to manage it.</a:t>
            </a:r>
          </a:p>
          <a:p>
            <a:pPr marL="136525" indent="0" eaLnBrk="1" hangingPunct="1">
              <a:lnSpc>
                <a:spcPct val="90000"/>
              </a:lnSpc>
            </a:pPr>
            <a:r>
              <a:rPr lang="en-US" sz="2600" smtClean="0"/>
              <a:t>  It is towards the end of the contract and you are doing the evaluation of the installer</a:t>
            </a:r>
          </a:p>
          <a:p>
            <a:pPr marL="136525" indent="0" eaLnBrk="1" hangingPunct="1">
              <a:lnSpc>
                <a:spcPct val="90000"/>
              </a:lnSpc>
              <a:buFont typeface="Wingdings 2" pitchFamily="18" charset="2"/>
              <a:buNone/>
            </a:pPr>
            <a:endParaRPr lang="en-US" sz="2600" smtClean="0"/>
          </a:p>
        </p:txBody>
      </p:sp>
      <p:sp>
        <p:nvSpPr>
          <p:cNvPr id="4" name="Date Placeholder 3"/>
          <p:cNvSpPr txBox="1">
            <a:spLocks noGrp="1"/>
          </p:cNvSpPr>
          <p:nvPr/>
        </p:nvSpPr>
        <p:spPr>
          <a:xfrm>
            <a:off x="457200" y="6416675"/>
            <a:ext cx="2133600" cy="365125"/>
          </a:xfrm>
          <a:prstGeom prst="rect">
            <a:avLst/>
          </a:prstGeom>
          <a:noFill/>
        </p:spPr>
        <p:txBody>
          <a:bodyPr anchor="b"/>
          <a:lstStyle/>
          <a:p>
            <a:pPr fontAlgn="auto">
              <a:spcBef>
                <a:spcPts val="0"/>
              </a:spcBef>
              <a:spcAft>
                <a:spcPts val="0"/>
              </a:spcAft>
              <a:defRPr/>
            </a:pPr>
            <a:r>
              <a:rPr lang="en-US" sz="1200">
                <a:solidFill>
                  <a:schemeClr val="tx1">
                    <a:shade val="50000"/>
                  </a:schemeClr>
                </a:solidFill>
                <a:latin typeface="+mn-lt"/>
              </a:rPr>
              <a:t>10/15/2012</a:t>
            </a:r>
          </a:p>
        </p:txBody>
      </p:sp>
      <p:sp>
        <p:nvSpPr>
          <p:cNvPr id="6" name="Slide Number Placeholder 5"/>
          <p:cNvSpPr txBox="1">
            <a:spLocks noGrp="1"/>
          </p:cNvSpPr>
          <p:nvPr/>
        </p:nvSpPr>
        <p:spPr>
          <a:xfrm>
            <a:off x="7924800" y="6416675"/>
            <a:ext cx="762000" cy="365125"/>
          </a:xfrm>
          <a:prstGeom prst="rect">
            <a:avLst/>
          </a:prstGeom>
          <a:noFill/>
        </p:spPr>
        <p:txBody>
          <a:bodyPr lIns="0" rIns="0" anchor="b"/>
          <a:lstStyle/>
          <a:p>
            <a:pPr algn="r" fontAlgn="auto">
              <a:spcBef>
                <a:spcPts val="0"/>
              </a:spcBef>
              <a:spcAft>
                <a:spcPts val="0"/>
              </a:spcAft>
              <a:defRPr/>
            </a:pPr>
            <a:fld id="{611837CD-0D25-444A-83D5-6DEC65B24AF3}" type="slidenum">
              <a:rPr lang="en-US" sz="1200">
                <a:solidFill>
                  <a:schemeClr val="tx1">
                    <a:shade val="50000"/>
                  </a:schemeClr>
                </a:solidFill>
                <a:latin typeface="+mn-lt"/>
              </a:rPr>
              <a:pPr algn="r" fontAlgn="auto">
                <a:spcBef>
                  <a:spcPts val="0"/>
                </a:spcBef>
                <a:spcAft>
                  <a:spcPts val="0"/>
                </a:spcAft>
                <a:defRPr/>
              </a:pPr>
              <a:t>10</a:t>
            </a:fld>
            <a:endParaRPr lang="en-US" sz="1200">
              <a:solidFill>
                <a:schemeClr val="tx1">
                  <a:shade val="50000"/>
                </a:schemeClr>
              </a:solidFill>
              <a:latin typeface="+mn-lt"/>
            </a:endParaRPr>
          </a:p>
        </p:txBody>
      </p:sp>
      <p:grpSp>
        <p:nvGrpSpPr>
          <p:cNvPr id="26629" name="Group 6"/>
          <p:cNvGrpSpPr>
            <a:grpSpLocks/>
          </p:cNvGrpSpPr>
          <p:nvPr/>
        </p:nvGrpSpPr>
        <p:grpSpPr bwMode="auto">
          <a:xfrm>
            <a:off x="8224838" y="152400"/>
            <a:ext cx="736600" cy="806450"/>
            <a:chOff x="5257800" y="4072895"/>
            <a:chExt cx="976745" cy="1108705"/>
          </a:xfrm>
        </p:grpSpPr>
        <p:grpSp>
          <p:nvGrpSpPr>
            <p:cNvPr id="26632" name="Group 7"/>
            <p:cNvGrpSpPr>
              <a:grpSpLocks/>
            </p:cNvGrpSpPr>
            <p:nvPr/>
          </p:nvGrpSpPr>
          <p:grpSpPr bwMode="auto">
            <a:xfrm>
              <a:off x="5257800" y="4764108"/>
              <a:ext cx="321434" cy="183416"/>
              <a:chOff x="2971800" y="2971800"/>
              <a:chExt cx="1073727" cy="464129"/>
            </a:xfrm>
          </p:grpSpPr>
          <p:sp>
            <p:nvSpPr>
              <p:cNvPr id="27" name="Arc 26"/>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9" name="Straight Connector 28"/>
              <p:cNvCxnSpPr>
                <a:stCxn id="27" idx="2"/>
                <a:endCxn id="28"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6633" name="Group 8"/>
            <p:cNvGrpSpPr>
              <a:grpSpLocks/>
            </p:cNvGrpSpPr>
            <p:nvPr/>
          </p:nvGrpSpPr>
          <p:grpSpPr bwMode="auto">
            <a:xfrm>
              <a:off x="5913111" y="4769584"/>
              <a:ext cx="321434" cy="183416"/>
              <a:chOff x="2971800" y="2971800"/>
              <a:chExt cx="1073727" cy="464129"/>
            </a:xfrm>
          </p:grpSpPr>
          <p:sp>
            <p:nvSpPr>
              <p:cNvPr id="24" name="Arc 23"/>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5" name="Arc 24"/>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6" name="Straight Connector 25"/>
              <p:cNvCxnSpPr>
                <a:stCxn id="24" idx="2"/>
                <a:endCxn id="25"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 name="Isosceles Triangle 9"/>
            <p:cNvSpPr/>
            <p:nvPr/>
          </p:nvSpPr>
          <p:spPr>
            <a:xfrm>
              <a:off x="5714596" y="4072895"/>
              <a:ext cx="44207" cy="1054143"/>
            </a:xfrm>
            <a:prstGeom prst="triangle">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5591677" y="5121374"/>
              <a:ext cx="296549" cy="60226"/>
            </a:xfrm>
            <a:prstGeom prst="rect">
              <a:avLst/>
            </a:prstGeom>
            <a:blipFill>
              <a:blip r:embed="rId3"/>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2" name="Straight Connector 11"/>
            <p:cNvCxnSpPr>
              <a:stCxn id="14" idx="3"/>
              <a:endCxn id="25"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4" idx="3"/>
              <a:endCxn id="24"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a:stCxn id="14" idx="1"/>
              <a:endCxn id="27"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4" idx="1"/>
              <a:endCxn id="28"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rot="10800000">
              <a:off x="5622783" y="4191000"/>
              <a:ext cx="228114" cy="183416"/>
              <a:chOff x="2971800" y="2971800"/>
              <a:chExt cx="1073727" cy="464129"/>
            </a:xfrm>
            <a:solidFill>
              <a:srgbClr val="C0C0C0"/>
            </a:solidFill>
          </p:grpSpPr>
          <p:sp>
            <p:nvSpPr>
              <p:cNvPr id="21" name="Arc 20"/>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3" name="Straight Connector 22"/>
              <p:cNvCxnSpPr>
                <a:stCxn id="21" idx="2"/>
                <a:endCxn id="22"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6644" name="Group 17"/>
            <p:cNvGrpSpPr>
              <a:grpSpLocks/>
            </p:cNvGrpSpPr>
            <p:nvPr/>
          </p:nvGrpSpPr>
          <p:grpSpPr bwMode="auto">
            <a:xfrm>
              <a:off x="5728286" y="4238635"/>
              <a:ext cx="18059" cy="119221"/>
              <a:chOff x="1005840" y="2868234"/>
              <a:chExt cx="97154" cy="301685"/>
            </a:xfrm>
          </p:grpSpPr>
          <p:sp>
            <p:nvSpPr>
              <p:cNvPr id="19" name="Isosceles Triangle 18"/>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Oval 19"/>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26630" name="Picture 30"/>
          <p:cNvPicPr>
            <a:picLocks noChangeAspect="1" noChangeArrowheads="1"/>
          </p:cNvPicPr>
          <p:nvPr/>
        </p:nvPicPr>
        <p:blipFill>
          <a:blip r:embed="rId4"/>
          <a:srcRect/>
          <a:stretch>
            <a:fillRect/>
          </a:stretch>
        </p:blipFill>
        <p:spPr bwMode="auto">
          <a:xfrm>
            <a:off x="7239000" y="4429125"/>
            <a:ext cx="1685925" cy="2047875"/>
          </a:xfrm>
          <a:prstGeom prst="rect">
            <a:avLst/>
          </a:prstGeom>
          <a:noFill/>
          <a:ln w="9525">
            <a:noFill/>
            <a:miter lim="800000"/>
            <a:headEnd/>
            <a:tailEnd/>
          </a:ln>
        </p:spPr>
      </p:pic>
      <p:sp>
        <p:nvSpPr>
          <p:cNvPr id="26631" name="Content Placeholder 2"/>
          <p:cNvSpPr>
            <a:spLocks/>
          </p:cNvSpPr>
          <p:nvPr/>
        </p:nvSpPr>
        <p:spPr bwMode="auto">
          <a:xfrm>
            <a:off x="457200" y="4648200"/>
            <a:ext cx="6705600" cy="1447800"/>
          </a:xfrm>
          <a:prstGeom prst="rect">
            <a:avLst/>
          </a:prstGeom>
          <a:noFill/>
          <a:ln w="9525">
            <a:noFill/>
            <a:miter lim="800000"/>
            <a:headEnd/>
            <a:tailEnd/>
          </a:ln>
        </p:spPr>
        <p:txBody>
          <a:bodyPr/>
          <a:lstStyle/>
          <a:p>
            <a:pPr marL="136525">
              <a:lnSpc>
                <a:spcPct val="90000"/>
              </a:lnSpc>
              <a:spcBef>
                <a:spcPct val="20000"/>
              </a:spcBef>
              <a:buClr>
                <a:srgbClr val="F9F9F9"/>
              </a:buClr>
              <a:buSzPct val="65000"/>
              <a:buFont typeface="Wingdings 2" pitchFamily="18" charset="2"/>
              <a:buChar char=""/>
            </a:pPr>
            <a:r>
              <a:rPr lang="en-US" sz="2600">
                <a:latin typeface="Book Antiqua" pitchFamily="18" charset="0"/>
              </a:rPr>
              <a:t>  Since the installer is looking for people and you are looking for a new opportunity you are thinking about approaching them about the possibility of working for them on the analysis contract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lstStyle/>
          <a:p>
            <a:pPr eaLnBrk="1" fontAlgn="auto" hangingPunct="1">
              <a:spcAft>
                <a:spcPts val="0"/>
              </a:spcAft>
              <a:defRPr/>
            </a:pPr>
            <a:r>
              <a:rPr lang="en-US" dirty="0" smtClean="0"/>
              <a:t>Government: </a:t>
            </a:r>
            <a:r>
              <a:rPr lang="en-US" dirty="0"/>
              <a:t>An example</a:t>
            </a:r>
          </a:p>
        </p:txBody>
      </p:sp>
      <p:sp>
        <p:nvSpPr>
          <p:cNvPr id="27650" name="Content Placeholder 2"/>
          <p:cNvSpPr>
            <a:spLocks noGrp="1"/>
          </p:cNvSpPr>
          <p:nvPr>
            <p:ph idx="4294967295"/>
          </p:nvPr>
        </p:nvSpPr>
        <p:spPr/>
        <p:txBody>
          <a:bodyPr/>
          <a:lstStyle/>
          <a:p>
            <a:pPr marL="136525" indent="0" eaLnBrk="1" hangingPunct="1">
              <a:lnSpc>
                <a:spcPct val="80000"/>
              </a:lnSpc>
              <a:buFont typeface="Wingdings 2" pitchFamily="18" charset="2"/>
              <a:buNone/>
            </a:pPr>
            <a:r>
              <a:rPr lang="en-US" sz="2000" smtClean="0"/>
              <a:t>Questions</a:t>
            </a:r>
          </a:p>
          <a:p>
            <a:pPr marL="136525" indent="0" eaLnBrk="1" hangingPunct="1">
              <a:lnSpc>
                <a:spcPct val="80000"/>
              </a:lnSpc>
            </a:pPr>
            <a:r>
              <a:rPr lang="en-US" sz="2000" smtClean="0"/>
              <a:t>  How would your supervisor view exploring job opportunities with the company?</a:t>
            </a:r>
          </a:p>
          <a:p>
            <a:pPr marL="136525" indent="0" eaLnBrk="1" hangingPunct="1">
              <a:lnSpc>
                <a:spcPct val="80000"/>
              </a:lnSpc>
            </a:pPr>
            <a:r>
              <a:rPr lang="en-US" sz="2000" smtClean="0"/>
              <a:t>  How would it influence your evaluation of their performance on the existing contract?</a:t>
            </a:r>
          </a:p>
          <a:p>
            <a:pPr marL="136525" indent="0" eaLnBrk="1" hangingPunct="1">
              <a:lnSpc>
                <a:spcPct val="80000"/>
              </a:lnSpc>
            </a:pPr>
            <a:r>
              <a:rPr lang="en-US" sz="2000" smtClean="0"/>
              <a:t>  Would this be legal?</a:t>
            </a:r>
          </a:p>
          <a:p>
            <a:pPr marL="136525" indent="0" eaLnBrk="1" hangingPunct="1">
              <a:lnSpc>
                <a:spcPct val="80000"/>
              </a:lnSpc>
            </a:pPr>
            <a:endParaRPr lang="en-US" sz="2000" smtClean="0"/>
          </a:p>
          <a:p>
            <a:pPr marL="136525" indent="0" eaLnBrk="1" hangingPunct="1">
              <a:lnSpc>
                <a:spcPct val="80000"/>
              </a:lnSpc>
              <a:buFont typeface="Wingdings 2" pitchFamily="18" charset="2"/>
              <a:buNone/>
            </a:pPr>
            <a:r>
              <a:rPr lang="en-US" sz="2000" smtClean="0"/>
              <a:t>An Approach</a:t>
            </a:r>
          </a:p>
          <a:p>
            <a:pPr marL="136525" indent="0" eaLnBrk="1" hangingPunct="1">
              <a:lnSpc>
                <a:spcPct val="80000"/>
              </a:lnSpc>
            </a:pPr>
            <a:r>
              <a:rPr lang="en-US" sz="2000" smtClean="0"/>
              <a:t>  Back away from any interaction with the company about job opportunities</a:t>
            </a:r>
          </a:p>
          <a:p>
            <a:pPr marL="136525" indent="0" eaLnBrk="1" hangingPunct="1">
              <a:lnSpc>
                <a:spcPct val="80000"/>
              </a:lnSpc>
            </a:pPr>
            <a:r>
              <a:rPr lang="en-US" sz="2000" smtClean="0"/>
              <a:t>  If you really want to work the data analysis project, you need to distance yourself from the company and the government for at least a year.  A better option would be not to seek employment with that company</a:t>
            </a:r>
          </a:p>
          <a:p>
            <a:pPr marL="136525" indent="0" eaLnBrk="1" hangingPunct="1">
              <a:lnSpc>
                <a:spcPct val="80000"/>
              </a:lnSpc>
            </a:pPr>
            <a:r>
              <a:rPr lang="en-US" sz="2000" smtClean="0"/>
              <a:t>  You risk your reputation, current job and potential legal action</a:t>
            </a:r>
          </a:p>
          <a:p>
            <a:pPr marL="136525" indent="0" eaLnBrk="1" hangingPunct="1">
              <a:lnSpc>
                <a:spcPct val="80000"/>
              </a:lnSpc>
            </a:pPr>
            <a:endParaRPr lang="en-US" sz="2000" smtClean="0"/>
          </a:p>
        </p:txBody>
      </p:sp>
      <p:sp>
        <p:nvSpPr>
          <p:cNvPr id="4" name="Date Placeholder 3"/>
          <p:cNvSpPr txBox="1">
            <a:spLocks noGrp="1"/>
          </p:cNvSpPr>
          <p:nvPr/>
        </p:nvSpPr>
        <p:spPr>
          <a:xfrm>
            <a:off x="457200" y="6416675"/>
            <a:ext cx="2133600" cy="365125"/>
          </a:xfrm>
          <a:prstGeom prst="rect">
            <a:avLst/>
          </a:prstGeom>
          <a:noFill/>
        </p:spPr>
        <p:txBody>
          <a:bodyPr anchor="b"/>
          <a:lstStyle/>
          <a:p>
            <a:pPr fontAlgn="auto">
              <a:spcBef>
                <a:spcPts val="0"/>
              </a:spcBef>
              <a:spcAft>
                <a:spcPts val="0"/>
              </a:spcAft>
              <a:defRPr/>
            </a:pPr>
            <a:r>
              <a:rPr lang="en-US" sz="1200">
                <a:solidFill>
                  <a:schemeClr val="tx1">
                    <a:shade val="50000"/>
                  </a:schemeClr>
                </a:solidFill>
                <a:latin typeface="+mn-lt"/>
              </a:rPr>
              <a:t>10/15/2012</a:t>
            </a:r>
          </a:p>
        </p:txBody>
      </p:sp>
      <p:sp>
        <p:nvSpPr>
          <p:cNvPr id="6" name="Slide Number Placeholder 5"/>
          <p:cNvSpPr txBox="1">
            <a:spLocks noGrp="1"/>
          </p:cNvSpPr>
          <p:nvPr/>
        </p:nvSpPr>
        <p:spPr>
          <a:xfrm>
            <a:off x="7924800" y="6416675"/>
            <a:ext cx="762000" cy="365125"/>
          </a:xfrm>
          <a:prstGeom prst="rect">
            <a:avLst/>
          </a:prstGeom>
          <a:noFill/>
        </p:spPr>
        <p:txBody>
          <a:bodyPr lIns="0" rIns="0" anchor="b"/>
          <a:lstStyle/>
          <a:p>
            <a:pPr algn="r" fontAlgn="auto">
              <a:spcBef>
                <a:spcPts val="0"/>
              </a:spcBef>
              <a:spcAft>
                <a:spcPts val="0"/>
              </a:spcAft>
              <a:defRPr/>
            </a:pPr>
            <a:fld id="{680DE9A6-4F50-4626-885C-86E42A06B7C4}" type="slidenum">
              <a:rPr lang="en-US" sz="1200">
                <a:solidFill>
                  <a:schemeClr val="tx1">
                    <a:shade val="50000"/>
                  </a:schemeClr>
                </a:solidFill>
                <a:latin typeface="+mn-lt"/>
              </a:rPr>
              <a:pPr algn="r" fontAlgn="auto">
                <a:spcBef>
                  <a:spcPts val="0"/>
                </a:spcBef>
                <a:spcAft>
                  <a:spcPts val="0"/>
                </a:spcAft>
                <a:defRPr/>
              </a:pPr>
              <a:t>11</a:t>
            </a:fld>
            <a:endParaRPr lang="en-US" sz="1200">
              <a:solidFill>
                <a:schemeClr val="tx1">
                  <a:shade val="50000"/>
                </a:schemeClr>
              </a:solidFill>
              <a:latin typeface="+mn-lt"/>
            </a:endParaRPr>
          </a:p>
        </p:txBody>
      </p:sp>
      <p:grpSp>
        <p:nvGrpSpPr>
          <p:cNvPr id="27653" name="Group 6"/>
          <p:cNvGrpSpPr>
            <a:grpSpLocks/>
          </p:cNvGrpSpPr>
          <p:nvPr/>
        </p:nvGrpSpPr>
        <p:grpSpPr bwMode="auto">
          <a:xfrm>
            <a:off x="8224838" y="152400"/>
            <a:ext cx="736600" cy="806450"/>
            <a:chOff x="5257800" y="4072895"/>
            <a:chExt cx="976745" cy="1108705"/>
          </a:xfrm>
        </p:grpSpPr>
        <p:grpSp>
          <p:nvGrpSpPr>
            <p:cNvPr id="27655" name="Group 7"/>
            <p:cNvGrpSpPr>
              <a:grpSpLocks/>
            </p:cNvGrpSpPr>
            <p:nvPr/>
          </p:nvGrpSpPr>
          <p:grpSpPr bwMode="auto">
            <a:xfrm>
              <a:off x="5257800" y="4764108"/>
              <a:ext cx="321434" cy="183416"/>
              <a:chOff x="2971800" y="2971800"/>
              <a:chExt cx="1073727" cy="464129"/>
            </a:xfrm>
          </p:grpSpPr>
          <p:sp>
            <p:nvSpPr>
              <p:cNvPr id="27" name="Arc 26"/>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9" name="Straight Connector 28"/>
              <p:cNvCxnSpPr>
                <a:stCxn id="27" idx="2"/>
                <a:endCxn id="28"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7656" name="Group 8"/>
            <p:cNvGrpSpPr>
              <a:grpSpLocks/>
            </p:cNvGrpSpPr>
            <p:nvPr/>
          </p:nvGrpSpPr>
          <p:grpSpPr bwMode="auto">
            <a:xfrm>
              <a:off x="5913111" y="4769584"/>
              <a:ext cx="321434" cy="183416"/>
              <a:chOff x="2971800" y="2971800"/>
              <a:chExt cx="1073727" cy="464129"/>
            </a:xfrm>
          </p:grpSpPr>
          <p:sp>
            <p:nvSpPr>
              <p:cNvPr id="24" name="Arc 23"/>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5" name="Arc 24"/>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6" name="Straight Connector 25"/>
              <p:cNvCxnSpPr>
                <a:stCxn id="24" idx="2"/>
                <a:endCxn id="25"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 name="Isosceles Triangle 9"/>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2" name="Straight Connector 11"/>
            <p:cNvCxnSpPr>
              <a:stCxn id="14" idx="3"/>
              <a:endCxn id="25"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4" idx="3"/>
              <a:endCxn id="24"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a:stCxn id="14" idx="1"/>
              <a:endCxn id="27"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4" idx="1"/>
              <a:endCxn id="28"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rot="10800000">
              <a:off x="5622783" y="4191000"/>
              <a:ext cx="228114" cy="183416"/>
              <a:chOff x="2971800" y="2971800"/>
              <a:chExt cx="1073727" cy="464129"/>
            </a:xfrm>
            <a:solidFill>
              <a:srgbClr val="C0C0C0"/>
            </a:solidFill>
          </p:grpSpPr>
          <p:sp>
            <p:nvSpPr>
              <p:cNvPr id="21" name="Arc 20"/>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3" name="Straight Connector 22"/>
              <p:cNvCxnSpPr>
                <a:stCxn id="21" idx="2"/>
                <a:endCxn id="22"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7667" name="Group 17"/>
            <p:cNvGrpSpPr>
              <a:grpSpLocks/>
            </p:cNvGrpSpPr>
            <p:nvPr/>
          </p:nvGrpSpPr>
          <p:grpSpPr bwMode="auto">
            <a:xfrm>
              <a:off x="5728286" y="4238635"/>
              <a:ext cx="18059" cy="119221"/>
              <a:chOff x="1005840" y="2868234"/>
              <a:chExt cx="97154" cy="301685"/>
            </a:xfrm>
          </p:grpSpPr>
          <p:sp>
            <p:nvSpPr>
              <p:cNvPr id="19" name="Isosceles Triangle 18"/>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Oval 19"/>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27654" name="Picture 28" descr="dglxasset[1]"/>
          <p:cNvPicPr>
            <a:picLocks noChangeAspect="1" noChangeArrowheads="1"/>
          </p:cNvPicPr>
          <p:nvPr/>
        </p:nvPicPr>
        <p:blipFill>
          <a:blip r:embed="rId5"/>
          <a:srcRect/>
          <a:stretch>
            <a:fillRect/>
          </a:stretch>
        </p:blipFill>
        <p:spPr bwMode="auto">
          <a:xfrm>
            <a:off x="7805738" y="2779713"/>
            <a:ext cx="1169987" cy="16398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Government</a:t>
            </a:r>
            <a:endParaRPr lang="en-US" dirty="0"/>
          </a:p>
        </p:txBody>
      </p:sp>
      <p:sp>
        <p:nvSpPr>
          <p:cNvPr id="29698" name="Content Placeholder 2"/>
          <p:cNvSpPr>
            <a:spLocks noGrp="1"/>
          </p:cNvSpPr>
          <p:nvPr>
            <p:ph idx="1"/>
          </p:nvPr>
        </p:nvSpPr>
        <p:spPr/>
        <p:txBody>
          <a:bodyPr/>
          <a:lstStyle/>
          <a:p>
            <a:pPr eaLnBrk="1" hangingPunct="1"/>
            <a:r>
              <a:rPr lang="en-US" smtClean="0"/>
              <a:t>Ethical Challenges:</a:t>
            </a:r>
          </a:p>
          <a:p>
            <a:pPr lvl="1" eaLnBrk="1" hangingPunct="1"/>
            <a:r>
              <a:rPr lang="en-US" smtClean="0"/>
              <a:t>Avoiding conflicts of interest</a:t>
            </a:r>
          </a:p>
          <a:p>
            <a:pPr lvl="1" eaLnBrk="1" hangingPunct="1"/>
            <a:r>
              <a:rPr lang="en-US" smtClean="0"/>
              <a:t>Providing unbiased scientific results in a timely manner</a:t>
            </a:r>
          </a:p>
          <a:p>
            <a:pPr lvl="1" eaLnBrk="1" hangingPunct="1"/>
            <a:r>
              <a:rPr lang="en-US" smtClean="0"/>
              <a:t>Placing the good of the “people” above personal or organizational credit</a:t>
            </a:r>
          </a:p>
        </p:txBody>
      </p:sp>
      <p:pic>
        <p:nvPicPr>
          <p:cNvPr id="29699" name="Picture 2" descr="F:\IMAGES\PHOTOS\ARCHTCTR\PHCGO006.JPG"/>
          <p:cNvPicPr>
            <a:picLocks noChangeAspect="1" noChangeArrowheads="1"/>
          </p:cNvPicPr>
          <p:nvPr/>
        </p:nvPicPr>
        <p:blipFill>
          <a:blip r:embed="rId2"/>
          <a:srcRect/>
          <a:stretch>
            <a:fillRect/>
          </a:stretch>
        </p:blipFill>
        <p:spPr bwMode="auto">
          <a:xfrm>
            <a:off x="7010400" y="4095750"/>
            <a:ext cx="1905000" cy="2381250"/>
          </a:xfrm>
          <a:prstGeom prst="rect">
            <a:avLst/>
          </a:prstGeom>
          <a:noFill/>
          <a:ln w="9525">
            <a:noFill/>
            <a:miter lim="800000"/>
            <a:headEnd/>
            <a:tailEnd/>
          </a:ln>
        </p:spPr>
      </p:pic>
      <p:sp>
        <p:nvSpPr>
          <p:cNvPr id="4" name="Date Placeholder 3"/>
          <p:cNvSpPr>
            <a:spLocks noGrp="1"/>
          </p:cNvSpPr>
          <p:nvPr>
            <p:ph type="dt" sz="quarter" idx="10"/>
          </p:nvPr>
        </p:nvSpPr>
        <p:spPr/>
        <p:txBody>
          <a:bodyPr/>
          <a:lstStyle/>
          <a:p>
            <a:pPr>
              <a:defRPr/>
            </a:pPr>
            <a:r>
              <a:rPr lang="en-US"/>
              <a:t>10/15/2012</a:t>
            </a:r>
          </a:p>
        </p:txBody>
      </p:sp>
      <p:sp>
        <p:nvSpPr>
          <p:cNvPr id="6" name="Slide Number Placeholder 5"/>
          <p:cNvSpPr>
            <a:spLocks noGrp="1"/>
          </p:cNvSpPr>
          <p:nvPr>
            <p:ph type="sldNum" sz="quarter" idx="11"/>
          </p:nvPr>
        </p:nvSpPr>
        <p:spPr/>
        <p:txBody>
          <a:bodyPr/>
          <a:lstStyle/>
          <a:p>
            <a:pPr>
              <a:defRPr/>
            </a:pPr>
            <a:fld id="{8C2857BE-77C0-49F4-AFE8-F6078BA4359C}" type="slidenum">
              <a:rPr lang="en-US"/>
              <a:pPr>
                <a:defRPr/>
              </a:pPr>
              <a:t>12</a:t>
            </a:fld>
            <a:endParaRPr lang="en-US"/>
          </a:p>
        </p:txBody>
      </p:sp>
      <p:grpSp>
        <p:nvGrpSpPr>
          <p:cNvPr id="29702" name="Group 7"/>
          <p:cNvGrpSpPr>
            <a:grpSpLocks/>
          </p:cNvGrpSpPr>
          <p:nvPr/>
        </p:nvGrpSpPr>
        <p:grpSpPr bwMode="auto">
          <a:xfrm>
            <a:off x="8224838" y="152400"/>
            <a:ext cx="736600" cy="806450"/>
            <a:chOff x="5257800" y="4072895"/>
            <a:chExt cx="976745" cy="1108705"/>
          </a:xfrm>
        </p:grpSpPr>
        <p:grpSp>
          <p:nvGrpSpPr>
            <p:cNvPr id="29703" name="Group 8"/>
            <p:cNvGrpSpPr>
              <a:grpSpLocks/>
            </p:cNvGrpSpPr>
            <p:nvPr/>
          </p:nvGrpSpPr>
          <p:grpSpPr bwMode="auto">
            <a:xfrm>
              <a:off x="5257800" y="4764108"/>
              <a:ext cx="321434" cy="183416"/>
              <a:chOff x="2971800" y="2971800"/>
              <a:chExt cx="1073727" cy="464129"/>
            </a:xfrm>
          </p:grpSpPr>
          <p:sp>
            <p:nvSpPr>
              <p:cNvPr id="28" name="Arc 27"/>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9" name="Arc 28"/>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0" name="Straight Connector 29"/>
              <p:cNvCxnSpPr>
                <a:stCxn id="28" idx="2"/>
                <a:endCxn id="29"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9704" name="Group 9"/>
            <p:cNvGrpSpPr>
              <a:grpSpLocks/>
            </p:cNvGrpSpPr>
            <p:nvPr/>
          </p:nvGrpSpPr>
          <p:grpSpPr bwMode="auto">
            <a:xfrm>
              <a:off x="5913111" y="4769584"/>
              <a:ext cx="321434" cy="183416"/>
              <a:chOff x="2971800" y="2971800"/>
              <a:chExt cx="1073727" cy="464129"/>
            </a:xfrm>
          </p:grpSpPr>
          <p:sp>
            <p:nvSpPr>
              <p:cNvPr id="25" name="Arc 24"/>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6" name="Arc 25"/>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7" name="Straight Connector 26"/>
              <p:cNvCxnSpPr>
                <a:stCxn id="25" idx="2"/>
                <a:endCxn id="26"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 name="Isosceles Triangle 10"/>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3" name="Straight Connector 12"/>
            <p:cNvCxnSpPr>
              <a:stCxn id="15" idx="3"/>
              <a:endCxn id="26"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5" idx="3"/>
              <a:endCxn id="25"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6" name="Straight Connector 15"/>
            <p:cNvCxnSpPr>
              <a:stCxn id="15" idx="1"/>
              <a:endCxn id="28"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5" idx="1"/>
              <a:endCxn id="29"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rot="10800000">
              <a:off x="5622783" y="4191000"/>
              <a:ext cx="228114" cy="183416"/>
              <a:chOff x="2971800" y="2971800"/>
              <a:chExt cx="1073727" cy="464129"/>
            </a:xfrm>
            <a:solidFill>
              <a:srgbClr val="C0C0C0"/>
            </a:solidFill>
          </p:grpSpPr>
          <p:sp>
            <p:nvSpPr>
              <p:cNvPr id="22" name="Arc 21"/>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4" name="Straight Connector 23"/>
              <p:cNvCxnSpPr>
                <a:stCxn id="22" idx="2"/>
                <a:endCxn id="23"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9715" name="Group 18"/>
            <p:cNvGrpSpPr>
              <a:grpSpLocks/>
            </p:cNvGrpSpPr>
            <p:nvPr/>
          </p:nvGrpSpPr>
          <p:grpSpPr bwMode="auto">
            <a:xfrm>
              <a:off x="5728286" y="4238635"/>
              <a:ext cx="18059" cy="119221"/>
              <a:chOff x="1005840" y="2868234"/>
              <a:chExt cx="97154" cy="301685"/>
            </a:xfrm>
          </p:grpSpPr>
          <p:sp>
            <p:nvSpPr>
              <p:cNvPr id="20" name="Isosceles Triangle 19"/>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Oval 20"/>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Government</a:t>
            </a:r>
            <a:endParaRPr lang="en-US" dirty="0"/>
          </a:p>
        </p:txBody>
      </p:sp>
      <p:sp>
        <p:nvSpPr>
          <p:cNvPr id="30722" name="Content Placeholder 2"/>
          <p:cNvSpPr>
            <a:spLocks noGrp="1"/>
          </p:cNvSpPr>
          <p:nvPr>
            <p:ph idx="1"/>
          </p:nvPr>
        </p:nvSpPr>
        <p:spPr>
          <a:xfrm>
            <a:off x="228600" y="1600200"/>
            <a:ext cx="8229600" cy="4708525"/>
          </a:xfrm>
        </p:spPr>
        <p:txBody>
          <a:bodyPr/>
          <a:lstStyle/>
          <a:p>
            <a:pPr eaLnBrk="1" hangingPunct="1"/>
            <a:r>
              <a:rPr lang="en-US" smtClean="0"/>
              <a:t>Ethical Challenges:</a:t>
            </a:r>
          </a:p>
          <a:p>
            <a:pPr lvl="1" eaLnBrk="1" hangingPunct="1"/>
            <a:r>
              <a:rPr lang="en-US" smtClean="0">
                <a:solidFill>
                  <a:srgbClr val="000000"/>
                </a:solidFill>
              </a:rPr>
              <a:t>Avoiding conflicts of interest</a:t>
            </a:r>
          </a:p>
          <a:p>
            <a:pPr lvl="2" eaLnBrk="1" hangingPunct="1"/>
            <a:r>
              <a:rPr lang="en-US" smtClean="0"/>
              <a:t>Personal friends and competitors how should they be treated?</a:t>
            </a:r>
          </a:p>
          <a:p>
            <a:pPr lvl="1" eaLnBrk="1" hangingPunct="1"/>
            <a:r>
              <a:rPr lang="en-US" smtClean="0">
                <a:solidFill>
                  <a:srgbClr val="000000"/>
                </a:solidFill>
              </a:rPr>
              <a:t>Providing unbiased scientific results in a timely manner</a:t>
            </a:r>
          </a:p>
          <a:p>
            <a:pPr lvl="2" eaLnBrk="1" hangingPunct="1"/>
            <a:r>
              <a:rPr lang="en-US" smtClean="0"/>
              <a:t>Can the timing of the release of data or analysis influence credibility of results</a:t>
            </a:r>
          </a:p>
          <a:p>
            <a:pPr lvl="1" eaLnBrk="1" hangingPunct="1"/>
            <a:r>
              <a:rPr lang="en-US" smtClean="0">
                <a:solidFill>
                  <a:srgbClr val="000000"/>
                </a:solidFill>
              </a:rPr>
              <a:t>Placing the good of the “people” above personal </a:t>
            </a:r>
          </a:p>
          <a:p>
            <a:pPr lvl="1" eaLnBrk="1" hangingPunct="1">
              <a:buFont typeface="Wingdings 2" pitchFamily="18" charset="2"/>
              <a:buNone/>
            </a:pPr>
            <a:r>
              <a:rPr lang="en-US" smtClean="0">
                <a:solidFill>
                  <a:srgbClr val="000000"/>
                </a:solidFill>
              </a:rPr>
              <a:t>    or organizational credit</a:t>
            </a:r>
          </a:p>
          <a:p>
            <a:pPr lvl="2" eaLnBrk="1" hangingPunct="1"/>
            <a:r>
              <a:rPr lang="en-US" smtClean="0"/>
              <a:t>First obligation is the safety and welfare of the people</a:t>
            </a:r>
          </a:p>
          <a:p>
            <a:pPr eaLnBrk="1" hangingPunct="1"/>
            <a:endParaRPr lang="en-US" smtClean="0"/>
          </a:p>
        </p:txBody>
      </p:sp>
      <p:sp>
        <p:nvSpPr>
          <p:cNvPr id="4" name="Date Placeholder 3"/>
          <p:cNvSpPr>
            <a:spLocks noGrp="1"/>
          </p:cNvSpPr>
          <p:nvPr>
            <p:ph type="dt" sz="quarter" idx="10"/>
          </p:nvPr>
        </p:nvSpPr>
        <p:spPr/>
        <p:txBody>
          <a:bodyPr/>
          <a:lstStyle/>
          <a:p>
            <a:pPr>
              <a:defRPr/>
            </a:pPr>
            <a:r>
              <a:rPr lang="en-US"/>
              <a:t>10/15/2012</a:t>
            </a:r>
          </a:p>
        </p:txBody>
      </p:sp>
      <p:sp>
        <p:nvSpPr>
          <p:cNvPr id="6" name="Slide Number Placeholder 5"/>
          <p:cNvSpPr>
            <a:spLocks noGrp="1"/>
          </p:cNvSpPr>
          <p:nvPr>
            <p:ph type="sldNum" sz="quarter" idx="11"/>
          </p:nvPr>
        </p:nvSpPr>
        <p:spPr/>
        <p:txBody>
          <a:bodyPr/>
          <a:lstStyle/>
          <a:p>
            <a:pPr>
              <a:defRPr/>
            </a:pPr>
            <a:fld id="{3C1F698B-1498-482B-8756-6B12A5B99556}" type="slidenum">
              <a:rPr lang="en-US"/>
              <a:pPr>
                <a:defRPr/>
              </a:pPr>
              <a:t>13</a:t>
            </a:fld>
            <a:endParaRPr lang="en-US"/>
          </a:p>
        </p:txBody>
      </p:sp>
      <p:grpSp>
        <p:nvGrpSpPr>
          <p:cNvPr id="30725" name="Group 6"/>
          <p:cNvGrpSpPr>
            <a:grpSpLocks/>
          </p:cNvGrpSpPr>
          <p:nvPr/>
        </p:nvGrpSpPr>
        <p:grpSpPr bwMode="auto">
          <a:xfrm>
            <a:off x="8224838" y="152400"/>
            <a:ext cx="736600" cy="806450"/>
            <a:chOff x="5257800" y="4072895"/>
            <a:chExt cx="976745" cy="1108705"/>
          </a:xfrm>
        </p:grpSpPr>
        <p:grpSp>
          <p:nvGrpSpPr>
            <p:cNvPr id="30727" name="Group 7"/>
            <p:cNvGrpSpPr>
              <a:grpSpLocks/>
            </p:cNvGrpSpPr>
            <p:nvPr/>
          </p:nvGrpSpPr>
          <p:grpSpPr bwMode="auto">
            <a:xfrm>
              <a:off x="5257800" y="4764108"/>
              <a:ext cx="321434" cy="183416"/>
              <a:chOff x="2971800" y="2971800"/>
              <a:chExt cx="1073727" cy="464129"/>
            </a:xfrm>
          </p:grpSpPr>
          <p:sp>
            <p:nvSpPr>
              <p:cNvPr id="27" name="Arc 26"/>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9" name="Straight Connector 28"/>
              <p:cNvCxnSpPr>
                <a:stCxn id="27" idx="2"/>
                <a:endCxn id="28"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728" name="Group 8"/>
            <p:cNvGrpSpPr>
              <a:grpSpLocks/>
            </p:cNvGrpSpPr>
            <p:nvPr/>
          </p:nvGrpSpPr>
          <p:grpSpPr bwMode="auto">
            <a:xfrm>
              <a:off x="5913111" y="4769584"/>
              <a:ext cx="321434" cy="183416"/>
              <a:chOff x="2971800" y="2971800"/>
              <a:chExt cx="1073727" cy="464129"/>
            </a:xfrm>
          </p:grpSpPr>
          <p:sp>
            <p:nvSpPr>
              <p:cNvPr id="24" name="Arc 23"/>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5" name="Arc 24"/>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6" name="Straight Connector 25"/>
              <p:cNvCxnSpPr>
                <a:stCxn id="24" idx="2"/>
                <a:endCxn id="25"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 name="Isosceles Triangle 9"/>
            <p:cNvSpPr/>
            <p:nvPr/>
          </p:nvSpPr>
          <p:spPr>
            <a:xfrm>
              <a:off x="5714596" y="4072895"/>
              <a:ext cx="44207" cy="1054143"/>
            </a:xfrm>
            <a:prstGeom prst="triangle">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5591677" y="5121374"/>
              <a:ext cx="296549" cy="60226"/>
            </a:xfrm>
            <a:prstGeom prst="rect">
              <a:avLst/>
            </a:prstGeom>
            <a:blipFill>
              <a:blip r:embed="rId3"/>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2" name="Straight Connector 11"/>
            <p:cNvCxnSpPr>
              <a:stCxn id="14" idx="3"/>
              <a:endCxn id="25"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4" idx="3"/>
              <a:endCxn id="24"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a:stCxn id="14" idx="1"/>
              <a:endCxn id="27"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4" idx="1"/>
              <a:endCxn id="28"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rot="10800000">
              <a:off x="5622783" y="4191000"/>
              <a:ext cx="228114" cy="183416"/>
              <a:chOff x="2971800" y="2971800"/>
              <a:chExt cx="1073727" cy="464129"/>
            </a:xfrm>
            <a:solidFill>
              <a:srgbClr val="C0C0C0"/>
            </a:solidFill>
          </p:grpSpPr>
          <p:sp>
            <p:nvSpPr>
              <p:cNvPr id="21" name="Arc 20"/>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3" name="Straight Connector 22"/>
              <p:cNvCxnSpPr>
                <a:stCxn id="21" idx="2"/>
                <a:endCxn id="22"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739" name="Group 17"/>
            <p:cNvGrpSpPr>
              <a:grpSpLocks/>
            </p:cNvGrpSpPr>
            <p:nvPr/>
          </p:nvGrpSpPr>
          <p:grpSpPr bwMode="auto">
            <a:xfrm>
              <a:off x="5728286" y="4238635"/>
              <a:ext cx="18059" cy="119221"/>
              <a:chOff x="1005840" y="2868234"/>
              <a:chExt cx="97154" cy="301685"/>
            </a:xfrm>
          </p:grpSpPr>
          <p:sp>
            <p:nvSpPr>
              <p:cNvPr id="19" name="Isosceles Triangle 18"/>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Oval 19"/>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30726" name="Picture 28" descr="dglxasset[3]"/>
          <p:cNvPicPr>
            <a:picLocks noChangeAspect="1" noChangeArrowheads="1"/>
          </p:cNvPicPr>
          <p:nvPr/>
        </p:nvPicPr>
        <p:blipFill>
          <a:blip r:embed="rId4"/>
          <a:srcRect/>
          <a:stretch>
            <a:fillRect/>
          </a:stretch>
        </p:blipFill>
        <p:spPr bwMode="auto">
          <a:xfrm>
            <a:off x="7696200" y="3048000"/>
            <a:ext cx="1263650" cy="190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lstStyle/>
          <a:p>
            <a:pPr eaLnBrk="1" fontAlgn="auto" hangingPunct="1">
              <a:spcAft>
                <a:spcPts val="0"/>
              </a:spcAft>
              <a:defRPr/>
            </a:pPr>
            <a:r>
              <a:rPr lang="en-US" dirty="0"/>
              <a:t>Commercial: An example</a:t>
            </a:r>
          </a:p>
        </p:txBody>
      </p:sp>
      <p:sp>
        <p:nvSpPr>
          <p:cNvPr id="31746" name="Content Placeholder 2"/>
          <p:cNvSpPr>
            <a:spLocks noGrp="1"/>
          </p:cNvSpPr>
          <p:nvPr>
            <p:ph idx="4294967295"/>
          </p:nvPr>
        </p:nvSpPr>
        <p:spPr/>
        <p:txBody>
          <a:bodyPr/>
          <a:lstStyle/>
          <a:p>
            <a:pPr eaLnBrk="1" hangingPunct="1"/>
            <a:r>
              <a:rPr lang="en-US" smtClean="0"/>
              <a:t>Road Construction Project</a:t>
            </a:r>
          </a:p>
          <a:p>
            <a:pPr lvl="1" eaLnBrk="1" hangingPunct="1"/>
            <a:r>
              <a:rPr lang="en-US" smtClean="0"/>
              <a:t>Location foreign country with few Class A observation stations</a:t>
            </a:r>
          </a:p>
          <a:p>
            <a:pPr lvl="1" eaLnBrk="1" hangingPunct="1"/>
            <a:r>
              <a:rPr lang="en-US" smtClean="0"/>
              <a:t>National Military have additional stations, but do not seem inclined to release the data</a:t>
            </a:r>
          </a:p>
          <a:p>
            <a:pPr lvl="1" eaLnBrk="1" hangingPunct="1"/>
            <a:r>
              <a:rPr lang="en-US" smtClean="0"/>
              <a:t>Local university professor claims to have the military data</a:t>
            </a:r>
          </a:p>
          <a:p>
            <a:pPr lvl="1" eaLnBrk="1" hangingPunct="1"/>
            <a:r>
              <a:rPr lang="en-US" smtClean="0"/>
              <a:t>Professor will “process” the data for you under a research grant</a:t>
            </a:r>
          </a:p>
          <a:p>
            <a:pPr lvl="1" eaLnBrk="1" hangingPunct="1"/>
            <a:r>
              <a:rPr lang="en-US" smtClean="0"/>
              <a:t>What do you do?</a:t>
            </a:r>
          </a:p>
        </p:txBody>
      </p:sp>
      <p:sp>
        <p:nvSpPr>
          <p:cNvPr id="5" name="Date Placeholder 4"/>
          <p:cNvSpPr txBox="1">
            <a:spLocks noGrp="1"/>
          </p:cNvSpPr>
          <p:nvPr/>
        </p:nvSpPr>
        <p:spPr>
          <a:xfrm>
            <a:off x="457200" y="6416675"/>
            <a:ext cx="2133600" cy="365125"/>
          </a:xfrm>
          <a:prstGeom prst="rect">
            <a:avLst/>
          </a:prstGeom>
          <a:noFill/>
        </p:spPr>
        <p:txBody>
          <a:bodyPr anchor="b"/>
          <a:lstStyle/>
          <a:p>
            <a:pPr fontAlgn="auto">
              <a:spcBef>
                <a:spcPts val="0"/>
              </a:spcBef>
              <a:spcAft>
                <a:spcPts val="0"/>
              </a:spcAft>
              <a:defRPr/>
            </a:pPr>
            <a:r>
              <a:rPr lang="en-US" sz="1200">
                <a:solidFill>
                  <a:schemeClr val="tx1">
                    <a:shade val="50000"/>
                  </a:schemeClr>
                </a:solidFill>
                <a:latin typeface="+mn-lt"/>
              </a:rPr>
              <a:t>10/15/2012</a:t>
            </a:r>
          </a:p>
        </p:txBody>
      </p:sp>
      <p:sp>
        <p:nvSpPr>
          <p:cNvPr id="7" name="Slide Number Placeholder 6"/>
          <p:cNvSpPr txBox="1">
            <a:spLocks noGrp="1"/>
          </p:cNvSpPr>
          <p:nvPr/>
        </p:nvSpPr>
        <p:spPr>
          <a:xfrm>
            <a:off x="7924800" y="6416675"/>
            <a:ext cx="762000" cy="365125"/>
          </a:xfrm>
          <a:prstGeom prst="rect">
            <a:avLst/>
          </a:prstGeom>
          <a:noFill/>
        </p:spPr>
        <p:txBody>
          <a:bodyPr lIns="0" rIns="0" anchor="b"/>
          <a:lstStyle/>
          <a:p>
            <a:pPr algn="r" fontAlgn="auto">
              <a:spcBef>
                <a:spcPts val="0"/>
              </a:spcBef>
              <a:spcAft>
                <a:spcPts val="0"/>
              </a:spcAft>
              <a:defRPr/>
            </a:pPr>
            <a:fld id="{7573B85B-8141-4C80-A46C-4D01ACC3A208}" type="slidenum">
              <a:rPr lang="en-US" sz="1200">
                <a:solidFill>
                  <a:schemeClr val="tx1">
                    <a:shade val="50000"/>
                  </a:schemeClr>
                </a:solidFill>
                <a:latin typeface="+mn-lt"/>
              </a:rPr>
              <a:pPr algn="r" fontAlgn="auto">
                <a:spcBef>
                  <a:spcPts val="0"/>
                </a:spcBef>
                <a:spcAft>
                  <a:spcPts val="0"/>
                </a:spcAft>
                <a:defRPr/>
              </a:pPr>
              <a:t>14</a:t>
            </a:fld>
            <a:endParaRPr lang="en-US" sz="1200">
              <a:solidFill>
                <a:schemeClr val="tx1">
                  <a:shade val="50000"/>
                </a:schemeClr>
              </a:solidFill>
              <a:latin typeface="+mn-lt"/>
            </a:endParaRPr>
          </a:p>
        </p:txBody>
      </p:sp>
      <p:grpSp>
        <p:nvGrpSpPr>
          <p:cNvPr id="31749" name="Group 8"/>
          <p:cNvGrpSpPr>
            <a:grpSpLocks/>
          </p:cNvGrpSpPr>
          <p:nvPr/>
        </p:nvGrpSpPr>
        <p:grpSpPr bwMode="auto">
          <a:xfrm>
            <a:off x="8224838" y="152400"/>
            <a:ext cx="736600" cy="806450"/>
            <a:chOff x="5257800" y="4072895"/>
            <a:chExt cx="976745" cy="1108705"/>
          </a:xfrm>
        </p:grpSpPr>
        <p:grpSp>
          <p:nvGrpSpPr>
            <p:cNvPr id="31751" name="Group 9"/>
            <p:cNvGrpSpPr>
              <a:grpSpLocks/>
            </p:cNvGrpSpPr>
            <p:nvPr/>
          </p:nvGrpSpPr>
          <p:grpSpPr bwMode="auto">
            <a:xfrm>
              <a:off x="5257800" y="4764108"/>
              <a:ext cx="321434" cy="183416"/>
              <a:chOff x="2971800" y="2971800"/>
              <a:chExt cx="1073727" cy="464129"/>
            </a:xfrm>
          </p:grpSpPr>
          <p:sp>
            <p:nvSpPr>
              <p:cNvPr id="29" name="Arc 28"/>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30" name="Arc 29"/>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1" name="Straight Connector 30"/>
              <p:cNvCxnSpPr>
                <a:stCxn id="29" idx="2"/>
                <a:endCxn id="30"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1752" name="Group 10"/>
            <p:cNvGrpSpPr>
              <a:grpSpLocks/>
            </p:cNvGrpSpPr>
            <p:nvPr/>
          </p:nvGrpSpPr>
          <p:grpSpPr bwMode="auto">
            <a:xfrm>
              <a:off x="5913111" y="4769584"/>
              <a:ext cx="321434" cy="183416"/>
              <a:chOff x="2971800" y="2971800"/>
              <a:chExt cx="1073727" cy="464129"/>
            </a:xfrm>
          </p:grpSpPr>
          <p:sp>
            <p:nvSpPr>
              <p:cNvPr id="26" name="Arc 25"/>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7" name="Arc 26"/>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8" name="Straight Connector 27"/>
              <p:cNvCxnSpPr>
                <a:stCxn id="26" idx="2"/>
                <a:endCxn id="27"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Isosceles Triangle 11"/>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4" name="Straight Connector 13"/>
            <p:cNvCxnSpPr>
              <a:stCxn id="16" idx="3"/>
              <a:endCxn id="27"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6" idx="3"/>
              <a:endCxn id="26"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7" name="Straight Connector 16"/>
            <p:cNvCxnSpPr>
              <a:stCxn id="16" idx="1"/>
              <a:endCxn id="29"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6" idx="1"/>
              <a:endCxn id="30"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rot="10800000">
              <a:off x="5622783" y="4191000"/>
              <a:ext cx="228114" cy="183416"/>
              <a:chOff x="2971800" y="2971800"/>
              <a:chExt cx="1073727" cy="464129"/>
            </a:xfrm>
            <a:solidFill>
              <a:srgbClr val="C0C0C0"/>
            </a:solidFill>
          </p:grpSpPr>
          <p:sp>
            <p:nvSpPr>
              <p:cNvPr id="23" name="Arc 22"/>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4" name="Arc 23"/>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5" name="Straight Connector 24"/>
              <p:cNvCxnSpPr>
                <a:stCxn id="23" idx="2"/>
                <a:endCxn id="24"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1763" name="Group 19"/>
            <p:cNvGrpSpPr>
              <a:grpSpLocks/>
            </p:cNvGrpSpPr>
            <p:nvPr/>
          </p:nvGrpSpPr>
          <p:grpSpPr bwMode="auto">
            <a:xfrm>
              <a:off x="5728286" y="4238635"/>
              <a:ext cx="18059" cy="119221"/>
              <a:chOff x="1005840" y="2868234"/>
              <a:chExt cx="97154" cy="301685"/>
            </a:xfrm>
          </p:grpSpPr>
          <p:sp>
            <p:nvSpPr>
              <p:cNvPr id="21" name="Isosceles Triangle 20"/>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 name="Oval 21"/>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31750" name="Picture 4" descr="C:\Users\Gerry\AppData\Local\Microsoft\Windows\Temporary Internet Files\Content.IE5\NZI4IJ5R\MP900438533[1].jpg"/>
          <p:cNvPicPr>
            <a:picLocks noChangeAspect="1" noChangeArrowheads="1"/>
          </p:cNvPicPr>
          <p:nvPr/>
        </p:nvPicPr>
        <p:blipFill>
          <a:blip r:embed="rId5"/>
          <a:srcRect/>
          <a:stretch>
            <a:fillRect/>
          </a:stretch>
        </p:blipFill>
        <p:spPr bwMode="auto">
          <a:xfrm>
            <a:off x="6832600" y="5029200"/>
            <a:ext cx="2095500" cy="139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p:txBody>
          <a:bodyPr/>
          <a:lstStyle/>
          <a:p>
            <a:pPr eaLnBrk="1" fontAlgn="auto" hangingPunct="1">
              <a:spcAft>
                <a:spcPts val="0"/>
              </a:spcAft>
              <a:defRPr/>
            </a:pPr>
            <a:r>
              <a:rPr lang="en-US" dirty="0"/>
              <a:t>Commercial: An example</a:t>
            </a:r>
          </a:p>
        </p:txBody>
      </p:sp>
      <p:sp>
        <p:nvSpPr>
          <p:cNvPr id="33794" name="Content Placeholder 2"/>
          <p:cNvSpPr>
            <a:spLocks noGrp="1"/>
          </p:cNvSpPr>
          <p:nvPr>
            <p:ph idx="4294967295"/>
          </p:nvPr>
        </p:nvSpPr>
        <p:spPr>
          <a:xfrm>
            <a:off x="76200" y="1082675"/>
            <a:ext cx="8610600" cy="4708525"/>
          </a:xfrm>
        </p:spPr>
        <p:txBody>
          <a:bodyPr/>
          <a:lstStyle/>
          <a:p>
            <a:pPr eaLnBrk="1" hangingPunct="1"/>
            <a:r>
              <a:rPr lang="en-US" smtClean="0"/>
              <a:t>Questions:</a:t>
            </a:r>
          </a:p>
          <a:p>
            <a:pPr lvl="1" eaLnBrk="1" hangingPunct="1"/>
            <a:r>
              <a:rPr lang="en-US" smtClean="0"/>
              <a:t>Does the professor have that data and the right to release it?</a:t>
            </a:r>
          </a:p>
          <a:p>
            <a:pPr lvl="1" eaLnBrk="1" hangingPunct="1"/>
            <a:r>
              <a:rPr lang="en-US" smtClean="0"/>
              <a:t>Did you understand the military position correctly?</a:t>
            </a:r>
          </a:p>
          <a:p>
            <a:pPr lvl="1" eaLnBrk="1" hangingPunct="1"/>
            <a:r>
              <a:rPr lang="en-US" smtClean="0"/>
              <a:t>What will happen to the university professor?</a:t>
            </a:r>
          </a:p>
          <a:p>
            <a:pPr lvl="1" eaLnBrk="1" hangingPunct="1"/>
            <a:r>
              <a:rPr lang="en-US" smtClean="0"/>
              <a:t>An Approach:</a:t>
            </a:r>
          </a:p>
          <a:p>
            <a:pPr lvl="1" eaLnBrk="1" hangingPunct="1"/>
            <a:r>
              <a:rPr lang="en-US" smtClean="0"/>
              <a:t>Approach the military commander carefully to see if there was a misunderstanding</a:t>
            </a:r>
          </a:p>
          <a:p>
            <a:pPr lvl="1" eaLnBrk="1" hangingPunct="1"/>
            <a:r>
              <a:rPr lang="en-US" smtClean="0"/>
              <a:t>Don’t compromise the professor  position.</a:t>
            </a:r>
          </a:p>
          <a:p>
            <a:pPr lvl="1" eaLnBrk="1" hangingPunct="1"/>
            <a:r>
              <a:rPr lang="en-US" smtClean="0"/>
              <a:t>Inform your client</a:t>
            </a:r>
          </a:p>
        </p:txBody>
      </p:sp>
      <p:sp>
        <p:nvSpPr>
          <p:cNvPr id="5" name="Date Placeholder 4"/>
          <p:cNvSpPr txBox="1">
            <a:spLocks noGrp="1"/>
          </p:cNvSpPr>
          <p:nvPr/>
        </p:nvSpPr>
        <p:spPr>
          <a:xfrm>
            <a:off x="457200" y="6416675"/>
            <a:ext cx="2133600" cy="365125"/>
          </a:xfrm>
          <a:prstGeom prst="rect">
            <a:avLst/>
          </a:prstGeom>
          <a:noFill/>
        </p:spPr>
        <p:txBody>
          <a:bodyPr anchor="b"/>
          <a:lstStyle/>
          <a:p>
            <a:pPr fontAlgn="auto">
              <a:spcBef>
                <a:spcPts val="0"/>
              </a:spcBef>
              <a:spcAft>
                <a:spcPts val="0"/>
              </a:spcAft>
              <a:defRPr/>
            </a:pPr>
            <a:r>
              <a:rPr lang="en-US" sz="1200">
                <a:solidFill>
                  <a:schemeClr val="tx1">
                    <a:shade val="50000"/>
                  </a:schemeClr>
                </a:solidFill>
                <a:latin typeface="+mn-lt"/>
              </a:rPr>
              <a:t>10/15/2012</a:t>
            </a:r>
          </a:p>
        </p:txBody>
      </p:sp>
      <p:sp>
        <p:nvSpPr>
          <p:cNvPr id="7" name="Slide Number Placeholder 6"/>
          <p:cNvSpPr txBox="1">
            <a:spLocks noGrp="1"/>
          </p:cNvSpPr>
          <p:nvPr/>
        </p:nvSpPr>
        <p:spPr>
          <a:xfrm>
            <a:off x="7924800" y="6416675"/>
            <a:ext cx="762000" cy="365125"/>
          </a:xfrm>
          <a:prstGeom prst="rect">
            <a:avLst/>
          </a:prstGeom>
          <a:noFill/>
        </p:spPr>
        <p:txBody>
          <a:bodyPr lIns="0" rIns="0" anchor="b"/>
          <a:lstStyle/>
          <a:p>
            <a:pPr algn="r" fontAlgn="auto">
              <a:spcBef>
                <a:spcPts val="0"/>
              </a:spcBef>
              <a:spcAft>
                <a:spcPts val="0"/>
              </a:spcAft>
              <a:defRPr/>
            </a:pPr>
            <a:fld id="{FE4B9F58-DF95-4542-A9B3-A7380C0CF4CA}" type="slidenum">
              <a:rPr lang="en-US" sz="1200">
                <a:solidFill>
                  <a:schemeClr val="tx1">
                    <a:shade val="50000"/>
                  </a:schemeClr>
                </a:solidFill>
                <a:latin typeface="+mn-lt"/>
              </a:rPr>
              <a:pPr algn="r" fontAlgn="auto">
                <a:spcBef>
                  <a:spcPts val="0"/>
                </a:spcBef>
                <a:spcAft>
                  <a:spcPts val="0"/>
                </a:spcAft>
                <a:defRPr/>
              </a:pPr>
              <a:t>15</a:t>
            </a:fld>
            <a:endParaRPr lang="en-US" sz="1200">
              <a:solidFill>
                <a:schemeClr val="tx1">
                  <a:shade val="50000"/>
                </a:schemeClr>
              </a:solidFill>
              <a:latin typeface="+mn-lt"/>
            </a:endParaRPr>
          </a:p>
        </p:txBody>
      </p:sp>
      <p:grpSp>
        <p:nvGrpSpPr>
          <p:cNvPr id="33797" name="Group 8"/>
          <p:cNvGrpSpPr>
            <a:grpSpLocks/>
          </p:cNvGrpSpPr>
          <p:nvPr/>
        </p:nvGrpSpPr>
        <p:grpSpPr bwMode="auto">
          <a:xfrm>
            <a:off x="8224838" y="152400"/>
            <a:ext cx="736600" cy="806450"/>
            <a:chOff x="5257800" y="4072895"/>
            <a:chExt cx="976745" cy="1108705"/>
          </a:xfrm>
        </p:grpSpPr>
        <p:grpSp>
          <p:nvGrpSpPr>
            <p:cNvPr id="33800" name="Group 9"/>
            <p:cNvGrpSpPr>
              <a:grpSpLocks/>
            </p:cNvGrpSpPr>
            <p:nvPr/>
          </p:nvGrpSpPr>
          <p:grpSpPr bwMode="auto">
            <a:xfrm>
              <a:off x="5257800" y="4764108"/>
              <a:ext cx="321434" cy="183416"/>
              <a:chOff x="2971800" y="2971800"/>
              <a:chExt cx="1073727" cy="464129"/>
            </a:xfrm>
          </p:grpSpPr>
          <p:sp>
            <p:nvSpPr>
              <p:cNvPr id="29" name="Arc 28"/>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30" name="Arc 29"/>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1" name="Straight Connector 30"/>
              <p:cNvCxnSpPr>
                <a:stCxn id="29" idx="2"/>
                <a:endCxn id="30"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801" name="Group 10"/>
            <p:cNvGrpSpPr>
              <a:grpSpLocks/>
            </p:cNvGrpSpPr>
            <p:nvPr/>
          </p:nvGrpSpPr>
          <p:grpSpPr bwMode="auto">
            <a:xfrm>
              <a:off x="5913111" y="4769584"/>
              <a:ext cx="321434" cy="183416"/>
              <a:chOff x="2971800" y="2971800"/>
              <a:chExt cx="1073727" cy="464129"/>
            </a:xfrm>
          </p:grpSpPr>
          <p:sp>
            <p:nvSpPr>
              <p:cNvPr id="26" name="Arc 25"/>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7" name="Arc 26"/>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8" name="Straight Connector 27"/>
              <p:cNvCxnSpPr>
                <a:stCxn id="26" idx="2"/>
                <a:endCxn id="27"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Isosceles Triangle 11"/>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4" name="Straight Connector 13"/>
            <p:cNvCxnSpPr>
              <a:stCxn id="16" idx="3"/>
              <a:endCxn id="27"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6" idx="3"/>
              <a:endCxn id="26"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7" name="Straight Connector 16"/>
            <p:cNvCxnSpPr>
              <a:stCxn id="16" idx="1"/>
              <a:endCxn id="29"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6" idx="1"/>
              <a:endCxn id="30"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rot="10800000">
              <a:off x="5622783" y="4191000"/>
              <a:ext cx="228114" cy="183416"/>
              <a:chOff x="2971800" y="2971800"/>
              <a:chExt cx="1073727" cy="464129"/>
            </a:xfrm>
            <a:solidFill>
              <a:srgbClr val="C0C0C0"/>
            </a:solidFill>
          </p:grpSpPr>
          <p:sp>
            <p:nvSpPr>
              <p:cNvPr id="23" name="Arc 22"/>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4" name="Arc 23"/>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5" name="Straight Connector 24"/>
              <p:cNvCxnSpPr>
                <a:stCxn id="23" idx="2"/>
                <a:endCxn id="24"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3812" name="Group 19"/>
            <p:cNvGrpSpPr>
              <a:grpSpLocks/>
            </p:cNvGrpSpPr>
            <p:nvPr/>
          </p:nvGrpSpPr>
          <p:grpSpPr bwMode="auto">
            <a:xfrm>
              <a:off x="5728286" y="4238635"/>
              <a:ext cx="18059" cy="119221"/>
              <a:chOff x="1005840" y="2868234"/>
              <a:chExt cx="97154" cy="301685"/>
            </a:xfrm>
          </p:grpSpPr>
          <p:sp>
            <p:nvSpPr>
              <p:cNvPr id="21" name="Isosceles Triangle 20"/>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 name="Oval 21"/>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33798" name="Picture 2" descr="C:\Users\Gerry\AppData\Local\Microsoft\Windows\Temporary Internet Files\Content.IE5\11ILRXHT\MP900427670[1].jpg"/>
          <p:cNvPicPr>
            <a:picLocks noChangeAspect="1" noChangeArrowheads="1"/>
          </p:cNvPicPr>
          <p:nvPr/>
        </p:nvPicPr>
        <p:blipFill>
          <a:blip r:embed="rId5"/>
          <a:srcRect/>
          <a:stretch>
            <a:fillRect/>
          </a:stretch>
        </p:blipFill>
        <p:spPr bwMode="auto">
          <a:xfrm>
            <a:off x="7162800" y="5029200"/>
            <a:ext cx="1981200" cy="1446213"/>
          </a:xfrm>
          <a:prstGeom prst="rect">
            <a:avLst/>
          </a:prstGeom>
          <a:noFill/>
          <a:ln w="9525">
            <a:noFill/>
            <a:miter lim="800000"/>
            <a:headEnd/>
            <a:tailEnd/>
          </a:ln>
        </p:spPr>
      </p:pic>
      <p:sp>
        <p:nvSpPr>
          <p:cNvPr id="33799" name="Content Placeholder 2"/>
          <p:cNvSpPr txBox="1">
            <a:spLocks/>
          </p:cNvSpPr>
          <p:nvPr/>
        </p:nvSpPr>
        <p:spPr bwMode="auto">
          <a:xfrm>
            <a:off x="112713" y="5410200"/>
            <a:ext cx="6973887" cy="1235075"/>
          </a:xfrm>
          <a:prstGeom prst="rect">
            <a:avLst/>
          </a:prstGeom>
          <a:noFill/>
          <a:ln w="9525">
            <a:noFill/>
            <a:miter lim="800000"/>
            <a:headEnd/>
            <a:tailEnd/>
          </a:ln>
        </p:spPr>
        <p:txBody>
          <a:bodyPr/>
          <a:lstStyle/>
          <a:p>
            <a:pPr marL="868363" lvl="1" indent="-282575">
              <a:spcBef>
                <a:spcPct val="20000"/>
              </a:spcBef>
              <a:buClr>
                <a:schemeClr val="tx1"/>
              </a:buClr>
              <a:buSzPct val="80000"/>
              <a:buFont typeface="Wingdings 2" pitchFamily="18" charset="2"/>
              <a:buChar char=""/>
            </a:pPr>
            <a:r>
              <a:rPr lang="en-US" sz="2400">
                <a:latin typeface="Book Antiqua" pitchFamily="18" charset="0"/>
              </a:rPr>
              <a:t>Don’t utilize the professor unless the data is clearly “real” and is legitimately available for use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Commercial</a:t>
            </a:r>
            <a:endParaRPr lang="en-US" dirty="0"/>
          </a:p>
        </p:txBody>
      </p:sp>
      <p:sp>
        <p:nvSpPr>
          <p:cNvPr id="35842" name="Content Placeholder 2"/>
          <p:cNvSpPr>
            <a:spLocks noGrp="1"/>
          </p:cNvSpPr>
          <p:nvPr>
            <p:ph idx="1"/>
          </p:nvPr>
        </p:nvSpPr>
        <p:spPr/>
        <p:txBody>
          <a:bodyPr/>
          <a:lstStyle/>
          <a:p>
            <a:pPr eaLnBrk="1" hangingPunct="1"/>
            <a:r>
              <a:rPr lang="en-US" smtClean="0"/>
              <a:t>Ethical Challenges:</a:t>
            </a:r>
          </a:p>
          <a:p>
            <a:pPr lvl="1" eaLnBrk="1" hangingPunct="1"/>
            <a:r>
              <a:rPr lang="en-US" smtClean="0"/>
              <a:t>Retaining proprietary secrets while advancing the science</a:t>
            </a:r>
          </a:p>
          <a:p>
            <a:pPr lvl="1" eaLnBrk="1" hangingPunct="1"/>
            <a:r>
              <a:rPr lang="en-US" smtClean="0"/>
              <a:t>Providing fair value for services</a:t>
            </a:r>
          </a:p>
          <a:p>
            <a:pPr lvl="1" eaLnBrk="1" hangingPunct="1"/>
            <a:r>
              <a:rPr lang="en-US" smtClean="0"/>
              <a:t>Utilizing established methodologies and identifying unproven ones</a:t>
            </a:r>
          </a:p>
          <a:p>
            <a:pPr lvl="1" eaLnBrk="1" hangingPunct="1"/>
            <a:r>
              <a:rPr lang="en-US" smtClean="0"/>
              <a:t>Accurate assessment of capabilities</a:t>
            </a:r>
          </a:p>
        </p:txBody>
      </p:sp>
      <p:pic>
        <p:nvPicPr>
          <p:cNvPr id="35843" name="Picture 2" descr="F:\IMAGES\PHOTOS\PEOPLE\PHPEO070.JPG"/>
          <p:cNvPicPr>
            <a:picLocks noChangeAspect="1" noChangeArrowheads="1"/>
          </p:cNvPicPr>
          <p:nvPr/>
        </p:nvPicPr>
        <p:blipFill>
          <a:blip r:embed="rId2"/>
          <a:srcRect/>
          <a:stretch>
            <a:fillRect/>
          </a:stretch>
        </p:blipFill>
        <p:spPr bwMode="auto">
          <a:xfrm>
            <a:off x="6324600" y="3886200"/>
            <a:ext cx="2590800" cy="2073275"/>
          </a:xfrm>
          <a:prstGeom prst="rect">
            <a:avLst/>
          </a:prstGeom>
          <a:noFill/>
          <a:ln w="9525">
            <a:noFill/>
            <a:miter lim="800000"/>
            <a:headEnd/>
            <a:tailEnd/>
          </a:ln>
        </p:spPr>
      </p:pic>
      <p:sp>
        <p:nvSpPr>
          <p:cNvPr id="4" name="Date Placeholder 3"/>
          <p:cNvSpPr>
            <a:spLocks noGrp="1"/>
          </p:cNvSpPr>
          <p:nvPr>
            <p:ph type="dt" sz="quarter" idx="10"/>
          </p:nvPr>
        </p:nvSpPr>
        <p:spPr/>
        <p:txBody>
          <a:bodyPr/>
          <a:lstStyle/>
          <a:p>
            <a:pPr>
              <a:defRPr/>
            </a:pPr>
            <a:r>
              <a:rPr lang="en-US"/>
              <a:t>10/15/2012</a:t>
            </a:r>
          </a:p>
        </p:txBody>
      </p:sp>
      <p:sp>
        <p:nvSpPr>
          <p:cNvPr id="6" name="Slide Number Placeholder 5"/>
          <p:cNvSpPr>
            <a:spLocks noGrp="1"/>
          </p:cNvSpPr>
          <p:nvPr>
            <p:ph type="sldNum" sz="quarter" idx="11"/>
          </p:nvPr>
        </p:nvSpPr>
        <p:spPr/>
        <p:txBody>
          <a:bodyPr/>
          <a:lstStyle/>
          <a:p>
            <a:pPr>
              <a:defRPr/>
            </a:pPr>
            <a:fld id="{876B2D03-B778-4742-BFD2-B0696920FC6D}" type="slidenum">
              <a:rPr lang="en-US"/>
              <a:pPr>
                <a:defRPr/>
              </a:pPr>
              <a:t>16</a:t>
            </a:fld>
            <a:endParaRPr lang="en-US"/>
          </a:p>
        </p:txBody>
      </p:sp>
      <p:grpSp>
        <p:nvGrpSpPr>
          <p:cNvPr id="35846" name="Group 7"/>
          <p:cNvGrpSpPr>
            <a:grpSpLocks/>
          </p:cNvGrpSpPr>
          <p:nvPr/>
        </p:nvGrpSpPr>
        <p:grpSpPr bwMode="auto">
          <a:xfrm>
            <a:off x="8224838" y="152400"/>
            <a:ext cx="736600" cy="806450"/>
            <a:chOff x="5257800" y="4072895"/>
            <a:chExt cx="976745" cy="1108705"/>
          </a:xfrm>
        </p:grpSpPr>
        <p:grpSp>
          <p:nvGrpSpPr>
            <p:cNvPr id="35847" name="Group 8"/>
            <p:cNvGrpSpPr>
              <a:grpSpLocks/>
            </p:cNvGrpSpPr>
            <p:nvPr/>
          </p:nvGrpSpPr>
          <p:grpSpPr bwMode="auto">
            <a:xfrm>
              <a:off x="5257800" y="4764108"/>
              <a:ext cx="321434" cy="183416"/>
              <a:chOff x="2971800" y="2971800"/>
              <a:chExt cx="1073727" cy="464129"/>
            </a:xfrm>
          </p:grpSpPr>
          <p:sp>
            <p:nvSpPr>
              <p:cNvPr id="28" name="Arc 27"/>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9" name="Arc 28"/>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0" name="Straight Connector 29"/>
              <p:cNvCxnSpPr>
                <a:stCxn id="28" idx="2"/>
                <a:endCxn id="29"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5848" name="Group 9"/>
            <p:cNvGrpSpPr>
              <a:grpSpLocks/>
            </p:cNvGrpSpPr>
            <p:nvPr/>
          </p:nvGrpSpPr>
          <p:grpSpPr bwMode="auto">
            <a:xfrm>
              <a:off x="5913111" y="4769584"/>
              <a:ext cx="321434" cy="183416"/>
              <a:chOff x="2971800" y="2971800"/>
              <a:chExt cx="1073727" cy="464129"/>
            </a:xfrm>
          </p:grpSpPr>
          <p:sp>
            <p:nvSpPr>
              <p:cNvPr id="25" name="Arc 24"/>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6" name="Arc 25"/>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7" name="Straight Connector 26"/>
              <p:cNvCxnSpPr>
                <a:stCxn id="25" idx="2"/>
                <a:endCxn id="26"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 name="Isosceles Triangle 10"/>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3" name="Straight Connector 12"/>
            <p:cNvCxnSpPr>
              <a:stCxn id="15" idx="3"/>
              <a:endCxn id="26"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5" idx="3"/>
              <a:endCxn id="25"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6" name="Straight Connector 15"/>
            <p:cNvCxnSpPr>
              <a:stCxn id="15" idx="1"/>
              <a:endCxn id="28"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5" idx="1"/>
              <a:endCxn id="29"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rot="10800000">
              <a:off x="5622783" y="4191000"/>
              <a:ext cx="228114" cy="183416"/>
              <a:chOff x="2971800" y="2971800"/>
              <a:chExt cx="1073727" cy="464129"/>
            </a:xfrm>
            <a:solidFill>
              <a:srgbClr val="C0C0C0"/>
            </a:solidFill>
          </p:grpSpPr>
          <p:sp>
            <p:nvSpPr>
              <p:cNvPr id="22" name="Arc 21"/>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4" name="Straight Connector 23"/>
              <p:cNvCxnSpPr>
                <a:stCxn id="22" idx="2"/>
                <a:endCxn id="23"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5859" name="Group 18"/>
            <p:cNvGrpSpPr>
              <a:grpSpLocks/>
            </p:cNvGrpSpPr>
            <p:nvPr/>
          </p:nvGrpSpPr>
          <p:grpSpPr bwMode="auto">
            <a:xfrm>
              <a:off x="5728286" y="4238635"/>
              <a:ext cx="18059" cy="119221"/>
              <a:chOff x="1005840" y="2868234"/>
              <a:chExt cx="97154" cy="301685"/>
            </a:xfrm>
          </p:grpSpPr>
          <p:sp>
            <p:nvSpPr>
              <p:cNvPr id="20" name="Isosceles Triangle 19"/>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Oval 20"/>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Commercial</a:t>
            </a:r>
            <a:endParaRPr lang="en-US" dirty="0"/>
          </a:p>
        </p:txBody>
      </p:sp>
      <p:sp>
        <p:nvSpPr>
          <p:cNvPr id="36866" name="Content Placeholder 2"/>
          <p:cNvSpPr>
            <a:spLocks noGrp="1"/>
          </p:cNvSpPr>
          <p:nvPr>
            <p:ph idx="1"/>
          </p:nvPr>
        </p:nvSpPr>
        <p:spPr>
          <a:xfrm>
            <a:off x="0" y="1066800"/>
            <a:ext cx="8610600" cy="4708525"/>
          </a:xfrm>
        </p:spPr>
        <p:txBody>
          <a:bodyPr/>
          <a:lstStyle/>
          <a:p>
            <a:pPr eaLnBrk="1" hangingPunct="1">
              <a:lnSpc>
                <a:spcPct val="90000"/>
              </a:lnSpc>
            </a:pPr>
            <a:r>
              <a:rPr lang="en-US" sz="2600" smtClean="0"/>
              <a:t>Ethical Challenges:</a:t>
            </a:r>
          </a:p>
          <a:p>
            <a:pPr lvl="1" eaLnBrk="1" hangingPunct="1">
              <a:lnSpc>
                <a:spcPct val="90000"/>
              </a:lnSpc>
            </a:pPr>
            <a:r>
              <a:rPr lang="en-US" sz="2200" smtClean="0">
                <a:solidFill>
                  <a:srgbClr val="000000"/>
                </a:solidFill>
              </a:rPr>
              <a:t>Retaining proprietary secrets while advancing the science</a:t>
            </a:r>
          </a:p>
          <a:p>
            <a:pPr lvl="2" eaLnBrk="1" hangingPunct="1">
              <a:lnSpc>
                <a:spcPct val="90000"/>
              </a:lnSpc>
            </a:pPr>
            <a:r>
              <a:rPr lang="en-US" sz="2000" smtClean="0"/>
              <a:t>A balance between advancing ones company goals and advancing the science. </a:t>
            </a:r>
            <a:r>
              <a:rPr lang="en-US" smtClean="0"/>
              <a:t>The release of private data and techniques to the scientific community</a:t>
            </a:r>
            <a:endParaRPr lang="en-US" sz="2000" smtClean="0"/>
          </a:p>
          <a:p>
            <a:pPr lvl="1" eaLnBrk="1" hangingPunct="1">
              <a:lnSpc>
                <a:spcPct val="90000"/>
              </a:lnSpc>
            </a:pPr>
            <a:r>
              <a:rPr lang="en-US" sz="2200" smtClean="0">
                <a:solidFill>
                  <a:srgbClr val="000000"/>
                </a:solidFill>
              </a:rPr>
              <a:t>Providing fair value for services</a:t>
            </a:r>
          </a:p>
          <a:p>
            <a:pPr lvl="2" eaLnBrk="1" hangingPunct="1">
              <a:lnSpc>
                <a:spcPct val="90000"/>
              </a:lnSpc>
            </a:pPr>
            <a:r>
              <a:rPr lang="en-US" sz="2000" smtClean="0"/>
              <a:t>Easy answers should not cost hard dollars only hard answers </a:t>
            </a:r>
            <a:r>
              <a:rPr lang="en-US" smtClean="0"/>
              <a:t>Valid charges and record keeping</a:t>
            </a:r>
            <a:endParaRPr lang="en-US" sz="2000" smtClean="0"/>
          </a:p>
        </p:txBody>
      </p:sp>
      <p:sp>
        <p:nvSpPr>
          <p:cNvPr id="4" name="Date Placeholder 3"/>
          <p:cNvSpPr>
            <a:spLocks noGrp="1"/>
          </p:cNvSpPr>
          <p:nvPr>
            <p:ph type="dt" sz="quarter" idx="10"/>
          </p:nvPr>
        </p:nvSpPr>
        <p:spPr/>
        <p:txBody>
          <a:bodyPr/>
          <a:lstStyle/>
          <a:p>
            <a:pPr>
              <a:defRPr/>
            </a:pPr>
            <a:r>
              <a:rPr lang="en-US"/>
              <a:t>10/15/2012</a:t>
            </a:r>
          </a:p>
        </p:txBody>
      </p:sp>
      <p:sp>
        <p:nvSpPr>
          <p:cNvPr id="6" name="Slide Number Placeholder 5"/>
          <p:cNvSpPr>
            <a:spLocks noGrp="1"/>
          </p:cNvSpPr>
          <p:nvPr>
            <p:ph type="sldNum" sz="quarter" idx="11"/>
          </p:nvPr>
        </p:nvSpPr>
        <p:spPr/>
        <p:txBody>
          <a:bodyPr/>
          <a:lstStyle/>
          <a:p>
            <a:pPr>
              <a:defRPr/>
            </a:pPr>
            <a:fld id="{AE191280-AC0B-4740-A082-A1431B35D256}" type="slidenum">
              <a:rPr lang="en-US"/>
              <a:pPr>
                <a:defRPr/>
              </a:pPr>
              <a:t>17</a:t>
            </a:fld>
            <a:endParaRPr lang="en-US"/>
          </a:p>
        </p:txBody>
      </p:sp>
      <p:grpSp>
        <p:nvGrpSpPr>
          <p:cNvPr id="36869" name="Group 6"/>
          <p:cNvGrpSpPr>
            <a:grpSpLocks/>
          </p:cNvGrpSpPr>
          <p:nvPr/>
        </p:nvGrpSpPr>
        <p:grpSpPr bwMode="auto">
          <a:xfrm>
            <a:off x="8224838" y="152400"/>
            <a:ext cx="736600" cy="806450"/>
            <a:chOff x="5257800" y="4072895"/>
            <a:chExt cx="976745" cy="1108705"/>
          </a:xfrm>
        </p:grpSpPr>
        <p:grpSp>
          <p:nvGrpSpPr>
            <p:cNvPr id="36872" name="Group 7"/>
            <p:cNvGrpSpPr>
              <a:grpSpLocks/>
            </p:cNvGrpSpPr>
            <p:nvPr/>
          </p:nvGrpSpPr>
          <p:grpSpPr bwMode="auto">
            <a:xfrm>
              <a:off x="5257800" y="4764108"/>
              <a:ext cx="321434" cy="183416"/>
              <a:chOff x="2971800" y="2971800"/>
              <a:chExt cx="1073727" cy="464129"/>
            </a:xfrm>
          </p:grpSpPr>
          <p:sp>
            <p:nvSpPr>
              <p:cNvPr id="27" name="Arc 26"/>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9" name="Straight Connector 28"/>
              <p:cNvCxnSpPr>
                <a:stCxn id="27" idx="2"/>
                <a:endCxn id="28"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6873" name="Group 8"/>
            <p:cNvGrpSpPr>
              <a:grpSpLocks/>
            </p:cNvGrpSpPr>
            <p:nvPr/>
          </p:nvGrpSpPr>
          <p:grpSpPr bwMode="auto">
            <a:xfrm>
              <a:off x="5913111" y="4769584"/>
              <a:ext cx="321434" cy="183416"/>
              <a:chOff x="2971800" y="2971800"/>
              <a:chExt cx="1073727" cy="464129"/>
            </a:xfrm>
          </p:grpSpPr>
          <p:sp>
            <p:nvSpPr>
              <p:cNvPr id="24" name="Arc 23"/>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5" name="Arc 24"/>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6" name="Straight Connector 25"/>
              <p:cNvCxnSpPr>
                <a:stCxn id="24" idx="2"/>
                <a:endCxn id="25"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 name="Isosceles Triangle 9"/>
            <p:cNvSpPr/>
            <p:nvPr/>
          </p:nvSpPr>
          <p:spPr>
            <a:xfrm>
              <a:off x="5714596" y="4072895"/>
              <a:ext cx="44207" cy="1054143"/>
            </a:xfrm>
            <a:prstGeom prst="triangle">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5591677" y="5121374"/>
              <a:ext cx="296549" cy="60226"/>
            </a:xfrm>
            <a:prstGeom prst="rect">
              <a:avLst/>
            </a:prstGeom>
            <a:blipFill>
              <a:blip r:embed="rId3"/>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2" name="Straight Connector 11"/>
            <p:cNvCxnSpPr>
              <a:stCxn id="14" idx="3"/>
              <a:endCxn id="25"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4" idx="3"/>
              <a:endCxn id="24"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a:stCxn id="14" idx="1"/>
              <a:endCxn id="27"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4" idx="1"/>
              <a:endCxn id="28"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rot="10800000">
              <a:off x="5622783" y="4191000"/>
              <a:ext cx="228114" cy="183416"/>
              <a:chOff x="2971800" y="2971800"/>
              <a:chExt cx="1073727" cy="464129"/>
            </a:xfrm>
            <a:solidFill>
              <a:srgbClr val="C0C0C0"/>
            </a:solidFill>
          </p:grpSpPr>
          <p:sp>
            <p:nvSpPr>
              <p:cNvPr id="21" name="Arc 20"/>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3" name="Straight Connector 22"/>
              <p:cNvCxnSpPr>
                <a:stCxn id="21" idx="2"/>
                <a:endCxn id="22"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6884" name="Group 17"/>
            <p:cNvGrpSpPr>
              <a:grpSpLocks/>
            </p:cNvGrpSpPr>
            <p:nvPr/>
          </p:nvGrpSpPr>
          <p:grpSpPr bwMode="auto">
            <a:xfrm>
              <a:off x="5728286" y="4238635"/>
              <a:ext cx="18059" cy="119221"/>
              <a:chOff x="1005840" y="2868234"/>
              <a:chExt cx="97154" cy="301685"/>
            </a:xfrm>
          </p:grpSpPr>
          <p:sp>
            <p:nvSpPr>
              <p:cNvPr id="19" name="Isosceles Triangle 18"/>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Oval 19"/>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36870" name="Picture 4" descr="C:\Users\Gerry\AppData\Local\Microsoft\Windows\Temporary Internet Files\Content.IE5\2PZ5AOJQ\MP900437387[1].jpg"/>
          <p:cNvPicPr>
            <a:picLocks noChangeAspect="1" noChangeArrowheads="1"/>
          </p:cNvPicPr>
          <p:nvPr/>
        </p:nvPicPr>
        <p:blipFill>
          <a:blip r:embed="rId4"/>
          <a:srcRect/>
          <a:stretch>
            <a:fillRect/>
          </a:stretch>
        </p:blipFill>
        <p:spPr bwMode="auto">
          <a:xfrm>
            <a:off x="7848600" y="4876800"/>
            <a:ext cx="1085850" cy="1635125"/>
          </a:xfrm>
          <a:prstGeom prst="rect">
            <a:avLst/>
          </a:prstGeom>
          <a:noFill/>
          <a:ln w="9525">
            <a:noFill/>
            <a:miter lim="800000"/>
            <a:headEnd/>
            <a:tailEnd/>
          </a:ln>
        </p:spPr>
      </p:pic>
      <p:sp>
        <p:nvSpPr>
          <p:cNvPr id="36871" name="Content Placeholder 2"/>
          <p:cNvSpPr>
            <a:spLocks/>
          </p:cNvSpPr>
          <p:nvPr/>
        </p:nvSpPr>
        <p:spPr bwMode="auto">
          <a:xfrm>
            <a:off x="152400" y="3505200"/>
            <a:ext cx="8305800" cy="3048000"/>
          </a:xfrm>
          <a:prstGeom prst="rect">
            <a:avLst/>
          </a:prstGeom>
          <a:noFill/>
          <a:ln w="9525">
            <a:noFill/>
            <a:miter lim="800000"/>
            <a:headEnd/>
            <a:tailEnd/>
          </a:ln>
        </p:spPr>
        <p:txBody>
          <a:bodyPr/>
          <a:lstStyle/>
          <a:p>
            <a:pPr marL="868363" lvl="1" indent="-282575">
              <a:lnSpc>
                <a:spcPct val="90000"/>
              </a:lnSpc>
              <a:spcBef>
                <a:spcPct val="20000"/>
              </a:spcBef>
              <a:buClr>
                <a:schemeClr val="tx1"/>
              </a:buClr>
              <a:buSzPct val="80000"/>
              <a:buFont typeface="Wingdings 2" pitchFamily="18" charset="2"/>
              <a:buChar char=""/>
            </a:pPr>
            <a:endParaRPr lang="en-US" sz="2200">
              <a:latin typeface="Book Antiqua" pitchFamily="18" charset="0"/>
            </a:endParaRPr>
          </a:p>
          <a:p>
            <a:pPr marL="868363" lvl="1" indent="-282575">
              <a:lnSpc>
                <a:spcPct val="90000"/>
              </a:lnSpc>
              <a:spcBef>
                <a:spcPct val="20000"/>
              </a:spcBef>
              <a:buClr>
                <a:schemeClr val="tx1"/>
              </a:buClr>
              <a:buSzPct val="80000"/>
              <a:buFont typeface="Wingdings 2" pitchFamily="18" charset="2"/>
              <a:buChar char=""/>
            </a:pPr>
            <a:r>
              <a:rPr lang="en-US" sz="2200">
                <a:solidFill>
                  <a:srgbClr val="000000"/>
                </a:solidFill>
                <a:latin typeface="Book Antiqua" pitchFamily="18" charset="0"/>
              </a:rPr>
              <a:t>Utilizing established methodologies and identifying unproven ones</a:t>
            </a:r>
          </a:p>
          <a:p>
            <a:pPr marL="1133475" lvl="2" indent="-228600">
              <a:lnSpc>
                <a:spcPct val="90000"/>
              </a:lnSpc>
              <a:spcBef>
                <a:spcPct val="20000"/>
              </a:spcBef>
              <a:buClr>
                <a:schemeClr val="tx1"/>
              </a:buClr>
              <a:buSzPct val="95000"/>
              <a:buFont typeface="Wingdings" pitchFamily="2" charset="2"/>
              <a:buChar char=""/>
            </a:pPr>
            <a:r>
              <a:rPr lang="en-US" sz="2000">
                <a:latin typeface="Book Antiqua" pitchFamily="18" charset="0"/>
              </a:rPr>
              <a:t>Techniques that have not been validated and proven, provide only new questions. </a:t>
            </a:r>
            <a:r>
              <a:rPr lang="en-US" sz="2200">
                <a:latin typeface="Book Antiqua" pitchFamily="18" charset="0"/>
              </a:rPr>
              <a:t>State of the science approaches</a:t>
            </a:r>
            <a:endParaRPr lang="en-US" sz="2000">
              <a:latin typeface="Book Antiqua" pitchFamily="18" charset="0"/>
            </a:endParaRPr>
          </a:p>
          <a:p>
            <a:pPr marL="868363" lvl="1" indent="-282575">
              <a:lnSpc>
                <a:spcPct val="90000"/>
              </a:lnSpc>
              <a:spcBef>
                <a:spcPct val="20000"/>
              </a:spcBef>
              <a:buClr>
                <a:schemeClr val="tx1"/>
              </a:buClr>
              <a:buSzPct val="80000"/>
              <a:buFont typeface="Wingdings 2" pitchFamily="18" charset="2"/>
              <a:buChar char=""/>
            </a:pPr>
            <a:r>
              <a:rPr lang="en-US" sz="2200">
                <a:solidFill>
                  <a:srgbClr val="000000"/>
                </a:solidFill>
                <a:latin typeface="Book Antiqua" pitchFamily="18" charset="0"/>
              </a:rPr>
              <a:t>Accurate assessment of capabilities</a:t>
            </a:r>
          </a:p>
          <a:p>
            <a:pPr marL="1133475" lvl="2" indent="-228600">
              <a:lnSpc>
                <a:spcPct val="90000"/>
              </a:lnSpc>
              <a:spcBef>
                <a:spcPct val="20000"/>
              </a:spcBef>
              <a:buClr>
                <a:schemeClr val="tx1"/>
              </a:buClr>
              <a:buSzPct val="95000"/>
              <a:buFont typeface="Wingdings" pitchFamily="2" charset="2"/>
              <a:buChar char=""/>
            </a:pPr>
            <a:r>
              <a:rPr lang="en-US" sz="2000">
                <a:latin typeface="Book Antiqua" pitchFamily="18" charset="0"/>
              </a:rPr>
              <a:t>Avoid overselling capabilities to make a sale can lead to broken contracts, waste, and poor future contract opportunities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5" descr="C:\Users\Gerry\AppData\Local\Microsoft\Windows\Temporary Internet Files\Content.IE5\11ILRXHT\MP900386182[1].jpg"/>
          <p:cNvPicPr>
            <a:picLocks noChangeAspect="1" noChangeArrowheads="1"/>
          </p:cNvPicPr>
          <p:nvPr/>
        </p:nvPicPr>
        <p:blipFill>
          <a:blip r:embed="rId3"/>
          <a:srcRect/>
          <a:stretch>
            <a:fillRect/>
          </a:stretch>
        </p:blipFill>
        <p:spPr bwMode="auto">
          <a:xfrm>
            <a:off x="7402513" y="4191000"/>
            <a:ext cx="1543050" cy="2325688"/>
          </a:xfrm>
          <a:prstGeom prst="rect">
            <a:avLst/>
          </a:prstGeom>
          <a:noFill/>
          <a:ln w="9525">
            <a:noFill/>
            <a:miter lim="800000"/>
            <a:headEnd/>
            <a:tailEnd/>
          </a:ln>
        </p:spPr>
      </p:pic>
      <p:sp>
        <p:nvSpPr>
          <p:cNvPr id="37890" name="AutoShape 36"/>
          <p:cNvSpPr>
            <a:spLocks noChangeArrowheads="1"/>
          </p:cNvSpPr>
          <p:nvPr/>
        </p:nvSpPr>
        <p:spPr bwMode="auto">
          <a:xfrm>
            <a:off x="7696200" y="4419600"/>
            <a:ext cx="1219200" cy="838200"/>
          </a:xfrm>
          <a:prstGeom prst="wedgeRectCallout">
            <a:avLst>
              <a:gd name="adj1" fmla="val -43750"/>
              <a:gd name="adj2" fmla="val 70000"/>
            </a:avLst>
          </a:prstGeom>
          <a:solidFill>
            <a:srgbClr val="0E0448"/>
          </a:solidFill>
          <a:ln w="9525">
            <a:solidFill>
              <a:schemeClr val="tx1"/>
            </a:solidFill>
            <a:miter lim="800000"/>
            <a:headEnd/>
            <a:tailEnd/>
          </a:ln>
        </p:spPr>
        <p:txBody>
          <a:bodyPr/>
          <a:lstStyle/>
          <a:p>
            <a:pPr algn="ctr"/>
            <a:endParaRPr lang="en-US"/>
          </a:p>
        </p:txBody>
      </p:sp>
      <p:sp>
        <p:nvSpPr>
          <p:cNvPr id="2" name="Title 1"/>
          <p:cNvSpPr>
            <a:spLocks noGrp="1"/>
          </p:cNvSpPr>
          <p:nvPr>
            <p:ph type="title" idx="4294967295"/>
          </p:nvPr>
        </p:nvSpPr>
        <p:spPr>
          <a:xfrm>
            <a:off x="152400" y="274638"/>
            <a:ext cx="8229600" cy="1143000"/>
          </a:xfrm>
        </p:spPr>
        <p:txBody>
          <a:bodyPr>
            <a:normAutofit fontScale="90000"/>
          </a:bodyPr>
          <a:lstStyle/>
          <a:p>
            <a:pPr eaLnBrk="1" fontAlgn="auto" hangingPunct="1">
              <a:spcAft>
                <a:spcPts val="0"/>
              </a:spcAft>
              <a:defRPr/>
            </a:pPr>
            <a:r>
              <a:rPr lang="en-US" dirty="0" smtClean="0"/>
              <a:t>Forensic </a:t>
            </a:r>
            <a:r>
              <a:rPr lang="en-US" dirty="0"/>
              <a:t>Meteorology: An example</a:t>
            </a:r>
          </a:p>
        </p:txBody>
      </p:sp>
      <p:sp>
        <p:nvSpPr>
          <p:cNvPr id="37892" name="Content Placeholder 2"/>
          <p:cNvSpPr>
            <a:spLocks noGrp="1"/>
          </p:cNvSpPr>
          <p:nvPr>
            <p:ph idx="4294967295"/>
          </p:nvPr>
        </p:nvSpPr>
        <p:spPr>
          <a:xfrm>
            <a:off x="415925" y="1247775"/>
            <a:ext cx="8229600" cy="3705225"/>
          </a:xfrm>
        </p:spPr>
        <p:txBody>
          <a:bodyPr/>
          <a:lstStyle/>
          <a:p>
            <a:pPr eaLnBrk="1" hangingPunct="1"/>
            <a:r>
              <a:rPr lang="en-US" sz="2400" smtClean="0"/>
              <a:t>High profile person is involved in a late night car accident in a rural area that occurred during a frontal passage and is being sued for damages</a:t>
            </a:r>
          </a:p>
          <a:p>
            <a:pPr eaLnBrk="1" hangingPunct="1"/>
            <a:r>
              <a:rPr lang="en-US" sz="2400" smtClean="0"/>
              <a:t>Radar data is spotty in the area of the accident and the nearest Class A weather station is 10 miles away</a:t>
            </a:r>
          </a:p>
        </p:txBody>
      </p:sp>
      <p:sp>
        <p:nvSpPr>
          <p:cNvPr id="4" name="Date Placeholder 3"/>
          <p:cNvSpPr txBox="1">
            <a:spLocks noGrp="1"/>
          </p:cNvSpPr>
          <p:nvPr/>
        </p:nvSpPr>
        <p:spPr>
          <a:xfrm>
            <a:off x="457200" y="6416675"/>
            <a:ext cx="2133600" cy="365125"/>
          </a:xfrm>
          <a:prstGeom prst="rect">
            <a:avLst/>
          </a:prstGeom>
          <a:noFill/>
        </p:spPr>
        <p:txBody>
          <a:bodyPr anchor="b"/>
          <a:lstStyle/>
          <a:p>
            <a:pPr fontAlgn="auto">
              <a:spcBef>
                <a:spcPts val="0"/>
              </a:spcBef>
              <a:spcAft>
                <a:spcPts val="0"/>
              </a:spcAft>
              <a:defRPr/>
            </a:pPr>
            <a:r>
              <a:rPr lang="en-US" sz="1200">
                <a:solidFill>
                  <a:schemeClr val="tx1">
                    <a:shade val="50000"/>
                  </a:schemeClr>
                </a:solidFill>
                <a:latin typeface="+mn-lt"/>
              </a:rPr>
              <a:t>10/15/2012</a:t>
            </a:r>
          </a:p>
        </p:txBody>
      </p:sp>
      <p:sp>
        <p:nvSpPr>
          <p:cNvPr id="6" name="Slide Number Placeholder 5"/>
          <p:cNvSpPr txBox="1">
            <a:spLocks noGrp="1"/>
          </p:cNvSpPr>
          <p:nvPr/>
        </p:nvSpPr>
        <p:spPr>
          <a:xfrm>
            <a:off x="7924800" y="6416675"/>
            <a:ext cx="762000" cy="365125"/>
          </a:xfrm>
          <a:prstGeom prst="rect">
            <a:avLst/>
          </a:prstGeom>
          <a:noFill/>
        </p:spPr>
        <p:txBody>
          <a:bodyPr lIns="0" rIns="0" anchor="b"/>
          <a:lstStyle/>
          <a:p>
            <a:pPr algn="r" fontAlgn="auto">
              <a:spcBef>
                <a:spcPts val="0"/>
              </a:spcBef>
              <a:spcAft>
                <a:spcPts val="0"/>
              </a:spcAft>
              <a:defRPr/>
            </a:pPr>
            <a:fld id="{9D1189DE-AB5D-43FF-B598-53F7ADD90905}" type="slidenum">
              <a:rPr lang="en-US" sz="1200">
                <a:solidFill>
                  <a:schemeClr val="tx1">
                    <a:shade val="50000"/>
                  </a:schemeClr>
                </a:solidFill>
                <a:latin typeface="+mn-lt"/>
              </a:rPr>
              <a:pPr algn="r" fontAlgn="auto">
                <a:spcBef>
                  <a:spcPts val="0"/>
                </a:spcBef>
                <a:spcAft>
                  <a:spcPts val="0"/>
                </a:spcAft>
                <a:defRPr/>
              </a:pPr>
              <a:t>18</a:t>
            </a:fld>
            <a:endParaRPr lang="en-US" sz="1200">
              <a:solidFill>
                <a:schemeClr val="tx1">
                  <a:shade val="50000"/>
                </a:schemeClr>
              </a:solidFill>
              <a:latin typeface="+mn-lt"/>
            </a:endParaRPr>
          </a:p>
        </p:txBody>
      </p:sp>
      <p:grpSp>
        <p:nvGrpSpPr>
          <p:cNvPr id="37895" name="Group 9"/>
          <p:cNvGrpSpPr>
            <a:grpSpLocks/>
          </p:cNvGrpSpPr>
          <p:nvPr/>
        </p:nvGrpSpPr>
        <p:grpSpPr bwMode="auto">
          <a:xfrm>
            <a:off x="8224838" y="152400"/>
            <a:ext cx="736600" cy="806450"/>
            <a:chOff x="5257800" y="4072895"/>
            <a:chExt cx="976745" cy="1108705"/>
          </a:xfrm>
        </p:grpSpPr>
        <p:grpSp>
          <p:nvGrpSpPr>
            <p:cNvPr id="37899" name="Group 10"/>
            <p:cNvGrpSpPr>
              <a:grpSpLocks/>
            </p:cNvGrpSpPr>
            <p:nvPr/>
          </p:nvGrpSpPr>
          <p:grpSpPr bwMode="auto">
            <a:xfrm>
              <a:off x="5257800" y="4764108"/>
              <a:ext cx="321434" cy="183416"/>
              <a:chOff x="2971800" y="2971800"/>
              <a:chExt cx="1073727" cy="464129"/>
            </a:xfrm>
          </p:grpSpPr>
          <p:sp>
            <p:nvSpPr>
              <p:cNvPr id="30" name="Arc 29"/>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31" name="Arc 30"/>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2" name="Straight Connector 31"/>
              <p:cNvCxnSpPr>
                <a:stCxn id="30" idx="2"/>
                <a:endCxn id="31"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900" name="Group 11"/>
            <p:cNvGrpSpPr>
              <a:grpSpLocks/>
            </p:cNvGrpSpPr>
            <p:nvPr/>
          </p:nvGrpSpPr>
          <p:grpSpPr bwMode="auto">
            <a:xfrm>
              <a:off x="5913111" y="4769584"/>
              <a:ext cx="321434" cy="183416"/>
              <a:chOff x="2971800" y="2971800"/>
              <a:chExt cx="1073727" cy="464129"/>
            </a:xfrm>
          </p:grpSpPr>
          <p:sp>
            <p:nvSpPr>
              <p:cNvPr id="27" name="Arc 26"/>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9" name="Straight Connector 28"/>
              <p:cNvCxnSpPr>
                <a:stCxn id="27" idx="2"/>
                <a:endCxn id="28"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p:cNvSpPr/>
            <p:nvPr/>
          </p:nvSpPr>
          <p:spPr>
            <a:xfrm>
              <a:off x="5714596" y="4072895"/>
              <a:ext cx="44207" cy="1054143"/>
            </a:xfrm>
            <a:prstGeom prst="triangle">
              <a:avLst/>
            </a:prstGeom>
            <a:blipFill>
              <a:blip r:embed="rId4"/>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p:cNvSpPr/>
            <p:nvPr/>
          </p:nvSpPr>
          <p:spPr>
            <a:xfrm>
              <a:off x="5591677" y="5121374"/>
              <a:ext cx="296549" cy="60226"/>
            </a:xfrm>
            <a:prstGeom prst="rect">
              <a:avLst/>
            </a:prstGeom>
            <a:blipFill>
              <a:blip r:embed="rId5"/>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a:stCxn id="17" idx="3"/>
              <a:endCxn id="28"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7" idx="3"/>
              <a:endCxn id="27"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8" name="Straight Connector 17"/>
            <p:cNvCxnSpPr>
              <a:stCxn id="17" idx="1"/>
              <a:endCxn id="30"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7" idx="1"/>
              <a:endCxn id="31"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rot="10800000">
              <a:off x="5622783" y="4191000"/>
              <a:ext cx="228114" cy="183416"/>
              <a:chOff x="2971800" y="2971800"/>
              <a:chExt cx="1073727" cy="464129"/>
            </a:xfrm>
            <a:solidFill>
              <a:srgbClr val="C0C0C0"/>
            </a:solidFill>
          </p:grpSpPr>
          <p:sp>
            <p:nvSpPr>
              <p:cNvPr id="24" name="Arc 23"/>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5" name="Arc 24"/>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6" name="Straight Connector 25"/>
              <p:cNvCxnSpPr>
                <a:stCxn id="24" idx="2"/>
                <a:endCxn id="25"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911" name="Group 20"/>
            <p:cNvGrpSpPr>
              <a:grpSpLocks/>
            </p:cNvGrpSpPr>
            <p:nvPr/>
          </p:nvGrpSpPr>
          <p:grpSpPr bwMode="auto">
            <a:xfrm>
              <a:off x="5728286" y="4238635"/>
              <a:ext cx="18059" cy="119221"/>
              <a:chOff x="1005840" y="2868234"/>
              <a:chExt cx="97154" cy="301685"/>
            </a:xfrm>
          </p:grpSpPr>
          <p:sp>
            <p:nvSpPr>
              <p:cNvPr id="22" name="Isosceles Triangle 21"/>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Oval 22"/>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
        <p:nvSpPr>
          <p:cNvPr id="37896" name="Content Placeholder 2"/>
          <p:cNvSpPr txBox="1">
            <a:spLocks/>
          </p:cNvSpPr>
          <p:nvPr/>
        </p:nvSpPr>
        <p:spPr bwMode="auto">
          <a:xfrm>
            <a:off x="439738" y="3267075"/>
            <a:ext cx="6951662" cy="1838325"/>
          </a:xfrm>
          <a:prstGeom prst="rect">
            <a:avLst/>
          </a:prstGeom>
          <a:noFill/>
          <a:ln w="9525">
            <a:noFill/>
            <a:miter lim="800000"/>
            <a:headEnd/>
            <a:tailEnd/>
          </a:ln>
        </p:spPr>
        <p:txBody>
          <a:bodyPr/>
          <a:lstStyle/>
          <a:p>
            <a:pPr marL="547688" indent="-411163">
              <a:spcBef>
                <a:spcPct val="20000"/>
              </a:spcBef>
              <a:buClr>
                <a:srgbClr val="F9F9F9"/>
              </a:buClr>
              <a:buSzPct val="65000"/>
              <a:buFont typeface="Wingdings 2" pitchFamily="18" charset="2"/>
              <a:buChar char=""/>
            </a:pPr>
            <a:r>
              <a:rPr lang="en-US" sz="2400">
                <a:latin typeface="Book Antiqua" pitchFamily="18" charset="0"/>
              </a:rPr>
              <a:t>A near by weather enthusiast offers data from his personal weather system that has been operating for 5 years to help substantiate the rainfall during the period</a:t>
            </a:r>
          </a:p>
        </p:txBody>
      </p:sp>
      <p:pic>
        <p:nvPicPr>
          <p:cNvPr id="37897" name="Picture 34" descr="dglxasset[1]"/>
          <p:cNvPicPr>
            <a:picLocks noChangeAspect="1" noChangeArrowheads="1"/>
          </p:cNvPicPr>
          <p:nvPr/>
        </p:nvPicPr>
        <p:blipFill>
          <a:blip r:embed="rId6"/>
          <a:srcRect/>
          <a:stretch>
            <a:fillRect/>
          </a:stretch>
        </p:blipFill>
        <p:spPr bwMode="auto">
          <a:xfrm>
            <a:off x="609600" y="5029200"/>
            <a:ext cx="1166813" cy="1166813"/>
          </a:xfrm>
          <a:prstGeom prst="rect">
            <a:avLst/>
          </a:prstGeom>
          <a:noFill/>
          <a:ln w="9525">
            <a:noFill/>
            <a:miter lim="800000"/>
            <a:headEnd/>
            <a:tailEnd/>
          </a:ln>
        </p:spPr>
      </p:pic>
      <p:pic>
        <p:nvPicPr>
          <p:cNvPr id="37898" name="Picture 35" descr="dglxasset[5]"/>
          <p:cNvPicPr>
            <a:picLocks noChangeAspect="1" noChangeArrowheads="1"/>
          </p:cNvPicPr>
          <p:nvPr/>
        </p:nvPicPr>
        <p:blipFill>
          <a:blip r:embed="rId7"/>
          <a:srcRect/>
          <a:stretch>
            <a:fillRect/>
          </a:stretch>
        </p:blipFill>
        <p:spPr bwMode="auto">
          <a:xfrm>
            <a:off x="7696200" y="4419600"/>
            <a:ext cx="1219200" cy="812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274638"/>
            <a:ext cx="8229600" cy="1143000"/>
          </a:xfrm>
        </p:spPr>
        <p:txBody>
          <a:bodyPr>
            <a:normAutofit fontScale="90000"/>
          </a:bodyPr>
          <a:lstStyle/>
          <a:p>
            <a:pPr eaLnBrk="1" fontAlgn="auto" hangingPunct="1">
              <a:spcAft>
                <a:spcPts val="0"/>
              </a:spcAft>
              <a:defRPr/>
            </a:pPr>
            <a:r>
              <a:rPr lang="en-US" dirty="0" smtClean="0"/>
              <a:t>Forensic </a:t>
            </a:r>
            <a:r>
              <a:rPr lang="en-US" dirty="0"/>
              <a:t>Meteorology: An example</a:t>
            </a:r>
          </a:p>
        </p:txBody>
      </p:sp>
      <p:sp>
        <p:nvSpPr>
          <p:cNvPr id="39938" name="Content Placeholder 2"/>
          <p:cNvSpPr>
            <a:spLocks noGrp="1"/>
          </p:cNvSpPr>
          <p:nvPr>
            <p:ph idx="4294967295"/>
          </p:nvPr>
        </p:nvSpPr>
        <p:spPr>
          <a:xfrm>
            <a:off x="304800" y="1447800"/>
            <a:ext cx="8382000" cy="4860925"/>
          </a:xfrm>
        </p:spPr>
        <p:txBody>
          <a:bodyPr/>
          <a:lstStyle/>
          <a:p>
            <a:pPr marL="136525" indent="0" eaLnBrk="1" hangingPunct="1">
              <a:lnSpc>
                <a:spcPct val="80000"/>
              </a:lnSpc>
              <a:buFont typeface="Wingdings 2" pitchFamily="18" charset="2"/>
              <a:buNone/>
            </a:pPr>
            <a:r>
              <a:rPr lang="en-US" sz="2000" smtClean="0"/>
              <a:t>Questions</a:t>
            </a:r>
          </a:p>
          <a:p>
            <a:pPr marL="136525" indent="0" eaLnBrk="1" hangingPunct="1">
              <a:lnSpc>
                <a:spcPct val="80000"/>
              </a:lnSpc>
            </a:pPr>
            <a:r>
              <a:rPr lang="en-US" sz="2000" smtClean="0"/>
              <a:t>  What should you do?</a:t>
            </a:r>
          </a:p>
          <a:p>
            <a:pPr marL="136525" indent="0" eaLnBrk="1" hangingPunct="1">
              <a:lnSpc>
                <a:spcPct val="80000"/>
              </a:lnSpc>
            </a:pPr>
            <a:r>
              <a:rPr lang="en-US" sz="2000" smtClean="0"/>
              <a:t>  Accept the data and use it to fill in for the lack of radar data and the data from distant observation station?</a:t>
            </a:r>
          </a:p>
          <a:p>
            <a:pPr marL="136525" indent="0" eaLnBrk="1" hangingPunct="1">
              <a:lnSpc>
                <a:spcPct val="80000"/>
              </a:lnSpc>
            </a:pPr>
            <a:r>
              <a:rPr lang="en-US" sz="2000" smtClean="0"/>
              <a:t>Rely on the official data?</a:t>
            </a:r>
          </a:p>
          <a:p>
            <a:pPr marL="136525" indent="0" eaLnBrk="1" hangingPunct="1">
              <a:lnSpc>
                <a:spcPct val="80000"/>
              </a:lnSpc>
            </a:pPr>
            <a:endParaRPr lang="en-US" sz="2000" smtClean="0"/>
          </a:p>
          <a:p>
            <a:pPr marL="136525" indent="0" eaLnBrk="1" hangingPunct="1">
              <a:lnSpc>
                <a:spcPct val="80000"/>
              </a:lnSpc>
              <a:buFont typeface="Wingdings 2" pitchFamily="18" charset="2"/>
              <a:buNone/>
            </a:pPr>
            <a:r>
              <a:rPr lang="en-US" sz="2000" smtClean="0"/>
              <a:t>An Approach</a:t>
            </a:r>
          </a:p>
          <a:p>
            <a:pPr marL="136525" indent="0" eaLnBrk="1" hangingPunct="1">
              <a:lnSpc>
                <a:spcPct val="80000"/>
              </a:lnSpc>
            </a:pPr>
            <a:r>
              <a:rPr lang="en-US" sz="2000" smtClean="0"/>
              <a:t>  Gather all official data (radar, official observations, satellite data and eyewitness/police accounts)</a:t>
            </a:r>
          </a:p>
          <a:p>
            <a:pPr marL="136525" indent="0" eaLnBrk="1" hangingPunct="1">
              <a:lnSpc>
                <a:spcPct val="80000"/>
              </a:lnSpc>
            </a:pPr>
            <a:r>
              <a:rPr lang="en-US" sz="2000" smtClean="0"/>
              <a:t>  Check for any special data collections (universities field projects, water districts, highway departments, agricultural observational sites, etc.)</a:t>
            </a:r>
          </a:p>
          <a:p>
            <a:pPr marL="136525" indent="0" eaLnBrk="1" hangingPunct="1">
              <a:lnSpc>
                <a:spcPct val="80000"/>
              </a:lnSpc>
            </a:pPr>
            <a:r>
              <a:rPr lang="en-US" sz="2000" smtClean="0"/>
              <a:t>  Perform your analysis using standard techniques to estimate if it was raining and the rainfall rate</a:t>
            </a:r>
          </a:p>
          <a:p>
            <a:pPr marL="136525" indent="0" eaLnBrk="1" hangingPunct="1">
              <a:lnSpc>
                <a:spcPct val="80000"/>
              </a:lnSpc>
            </a:pPr>
            <a:r>
              <a:rPr lang="en-US" sz="2000" smtClean="0"/>
              <a:t>  Alert your client to the availability and the difficulties of using it.</a:t>
            </a:r>
          </a:p>
          <a:p>
            <a:pPr marL="136525" indent="0" eaLnBrk="1" hangingPunct="1">
              <a:lnSpc>
                <a:spcPct val="80000"/>
              </a:lnSpc>
            </a:pPr>
            <a:r>
              <a:rPr lang="en-US" sz="2000" smtClean="0"/>
              <a:t>  Additional considerations reliability of the weather enthusiast, representativeness of his site, personal motivations</a:t>
            </a:r>
          </a:p>
        </p:txBody>
      </p:sp>
      <p:sp>
        <p:nvSpPr>
          <p:cNvPr id="4" name="Date Placeholder 3"/>
          <p:cNvSpPr txBox="1">
            <a:spLocks noGrp="1"/>
          </p:cNvSpPr>
          <p:nvPr/>
        </p:nvSpPr>
        <p:spPr>
          <a:xfrm>
            <a:off x="457200" y="6416675"/>
            <a:ext cx="2133600" cy="365125"/>
          </a:xfrm>
          <a:prstGeom prst="rect">
            <a:avLst/>
          </a:prstGeom>
          <a:noFill/>
        </p:spPr>
        <p:txBody>
          <a:bodyPr anchor="b"/>
          <a:lstStyle/>
          <a:p>
            <a:pPr fontAlgn="auto">
              <a:spcBef>
                <a:spcPts val="0"/>
              </a:spcBef>
              <a:spcAft>
                <a:spcPts val="0"/>
              </a:spcAft>
              <a:defRPr/>
            </a:pPr>
            <a:r>
              <a:rPr lang="en-US" sz="1200">
                <a:solidFill>
                  <a:schemeClr val="tx1">
                    <a:shade val="50000"/>
                  </a:schemeClr>
                </a:solidFill>
                <a:latin typeface="+mn-lt"/>
              </a:rPr>
              <a:t>10/15/2012</a:t>
            </a:r>
          </a:p>
        </p:txBody>
      </p:sp>
      <p:sp>
        <p:nvSpPr>
          <p:cNvPr id="6" name="Slide Number Placeholder 5"/>
          <p:cNvSpPr txBox="1">
            <a:spLocks noGrp="1"/>
          </p:cNvSpPr>
          <p:nvPr/>
        </p:nvSpPr>
        <p:spPr>
          <a:xfrm>
            <a:off x="7924800" y="6416675"/>
            <a:ext cx="762000" cy="365125"/>
          </a:xfrm>
          <a:prstGeom prst="rect">
            <a:avLst/>
          </a:prstGeom>
          <a:noFill/>
        </p:spPr>
        <p:txBody>
          <a:bodyPr lIns="0" rIns="0" anchor="b"/>
          <a:lstStyle/>
          <a:p>
            <a:pPr algn="r" fontAlgn="auto">
              <a:spcBef>
                <a:spcPts val="0"/>
              </a:spcBef>
              <a:spcAft>
                <a:spcPts val="0"/>
              </a:spcAft>
              <a:defRPr/>
            </a:pPr>
            <a:fld id="{5DB023C7-DBEA-4F6A-98B6-3FF25CC7296B}" type="slidenum">
              <a:rPr lang="en-US" sz="1200">
                <a:solidFill>
                  <a:schemeClr val="tx1">
                    <a:shade val="50000"/>
                  </a:schemeClr>
                </a:solidFill>
                <a:latin typeface="+mn-lt"/>
              </a:rPr>
              <a:pPr algn="r" fontAlgn="auto">
                <a:spcBef>
                  <a:spcPts val="0"/>
                </a:spcBef>
                <a:spcAft>
                  <a:spcPts val="0"/>
                </a:spcAft>
                <a:defRPr/>
              </a:pPr>
              <a:t>19</a:t>
            </a:fld>
            <a:endParaRPr lang="en-US" sz="1200">
              <a:solidFill>
                <a:schemeClr val="tx1">
                  <a:shade val="50000"/>
                </a:schemeClr>
              </a:solidFill>
              <a:latin typeface="+mn-lt"/>
            </a:endParaRPr>
          </a:p>
        </p:txBody>
      </p:sp>
      <p:grpSp>
        <p:nvGrpSpPr>
          <p:cNvPr id="39941" name="Group 9"/>
          <p:cNvGrpSpPr>
            <a:grpSpLocks/>
          </p:cNvGrpSpPr>
          <p:nvPr/>
        </p:nvGrpSpPr>
        <p:grpSpPr bwMode="auto">
          <a:xfrm>
            <a:off x="8224838" y="152400"/>
            <a:ext cx="736600" cy="806450"/>
            <a:chOff x="5257800" y="4072895"/>
            <a:chExt cx="976745" cy="1108705"/>
          </a:xfrm>
        </p:grpSpPr>
        <p:grpSp>
          <p:nvGrpSpPr>
            <p:cNvPr id="39943" name="Group 10"/>
            <p:cNvGrpSpPr>
              <a:grpSpLocks/>
            </p:cNvGrpSpPr>
            <p:nvPr/>
          </p:nvGrpSpPr>
          <p:grpSpPr bwMode="auto">
            <a:xfrm>
              <a:off x="5257800" y="4764108"/>
              <a:ext cx="321434" cy="183416"/>
              <a:chOff x="2971800" y="2971800"/>
              <a:chExt cx="1073727" cy="464129"/>
            </a:xfrm>
          </p:grpSpPr>
          <p:sp>
            <p:nvSpPr>
              <p:cNvPr id="30" name="Arc 29"/>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31" name="Arc 30"/>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2" name="Straight Connector 31"/>
              <p:cNvCxnSpPr>
                <a:stCxn id="30" idx="2"/>
                <a:endCxn id="31"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9944" name="Group 11"/>
            <p:cNvGrpSpPr>
              <a:grpSpLocks/>
            </p:cNvGrpSpPr>
            <p:nvPr/>
          </p:nvGrpSpPr>
          <p:grpSpPr bwMode="auto">
            <a:xfrm>
              <a:off x="5913111" y="4769584"/>
              <a:ext cx="321434" cy="183416"/>
              <a:chOff x="2971800" y="2971800"/>
              <a:chExt cx="1073727" cy="464129"/>
            </a:xfrm>
          </p:grpSpPr>
          <p:sp>
            <p:nvSpPr>
              <p:cNvPr id="27" name="Arc 26"/>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9" name="Straight Connector 28"/>
              <p:cNvCxnSpPr>
                <a:stCxn id="27" idx="2"/>
                <a:endCxn id="28"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p:cNvSpPr/>
            <p:nvPr/>
          </p:nvSpPr>
          <p:spPr>
            <a:xfrm>
              <a:off x="5714596" y="4072895"/>
              <a:ext cx="44207" cy="1054143"/>
            </a:xfrm>
            <a:prstGeom prst="triangle">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p:cNvSpPr/>
            <p:nvPr/>
          </p:nvSpPr>
          <p:spPr>
            <a:xfrm>
              <a:off x="5591677" y="5121374"/>
              <a:ext cx="296549" cy="60226"/>
            </a:xfrm>
            <a:prstGeom prst="rect">
              <a:avLst/>
            </a:prstGeom>
            <a:blipFill>
              <a:blip r:embed="rId3"/>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a:stCxn id="17" idx="3"/>
              <a:endCxn id="28"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7" idx="3"/>
              <a:endCxn id="27"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8" name="Straight Connector 17"/>
            <p:cNvCxnSpPr>
              <a:stCxn id="17" idx="1"/>
              <a:endCxn id="30"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7" idx="1"/>
              <a:endCxn id="31"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rot="10800000">
              <a:off x="5622783" y="4191000"/>
              <a:ext cx="228114" cy="183416"/>
              <a:chOff x="2971800" y="2971800"/>
              <a:chExt cx="1073727" cy="464129"/>
            </a:xfrm>
            <a:solidFill>
              <a:srgbClr val="C0C0C0"/>
            </a:solidFill>
          </p:grpSpPr>
          <p:sp>
            <p:nvSpPr>
              <p:cNvPr id="24" name="Arc 23"/>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5" name="Arc 24"/>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6" name="Straight Connector 25"/>
              <p:cNvCxnSpPr>
                <a:stCxn id="24" idx="2"/>
                <a:endCxn id="25"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9955" name="Group 20"/>
            <p:cNvGrpSpPr>
              <a:grpSpLocks/>
            </p:cNvGrpSpPr>
            <p:nvPr/>
          </p:nvGrpSpPr>
          <p:grpSpPr bwMode="auto">
            <a:xfrm>
              <a:off x="5728286" y="4238635"/>
              <a:ext cx="18059" cy="119221"/>
              <a:chOff x="1005840" y="2868234"/>
              <a:chExt cx="97154" cy="301685"/>
            </a:xfrm>
          </p:grpSpPr>
          <p:sp>
            <p:nvSpPr>
              <p:cNvPr id="22" name="Isosceles Triangle 21"/>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Oval 22"/>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39942" name="Picture 32" descr="dglxasset[2]"/>
          <p:cNvPicPr>
            <a:picLocks noChangeAspect="1" noChangeArrowheads="1"/>
          </p:cNvPicPr>
          <p:nvPr/>
        </p:nvPicPr>
        <p:blipFill>
          <a:blip r:embed="rId4"/>
          <a:srcRect/>
          <a:stretch>
            <a:fillRect/>
          </a:stretch>
        </p:blipFill>
        <p:spPr bwMode="auto">
          <a:xfrm>
            <a:off x="7588250" y="2219325"/>
            <a:ext cx="1527175" cy="13827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Forensic Meteorology</a:t>
            </a:r>
            <a:endParaRPr lang="en-US" dirty="0"/>
          </a:p>
        </p:txBody>
      </p:sp>
      <p:sp>
        <p:nvSpPr>
          <p:cNvPr id="40962" name="Content Placeholder 2"/>
          <p:cNvSpPr>
            <a:spLocks noGrp="1"/>
          </p:cNvSpPr>
          <p:nvPr>
            <p:ph idx="1"/>
          </p:nvPr>
        </p:nvSpPr>
        <p:spPr/>
        <p:txBody>
          <a:bodyPr/>
          <a:lstStyle/>
          <a:p>
            <a:pPr eaLnBrk="1" hangingPunct="1"/>
            <a:r>
              <a:rPr lang="en-US" smtClean="0"/>
              <a:t>Ethical Challenges:</a:t>
            </a:r>
          </a:p>
          <a:p>
            <a:pPr lvl="1" eaLnBrk="1" hangingPunct="1"/>
            <a:r>
              <a:rPr lang="en-US" smtClean="0"/>
              <a:t>Accurate representation of personal capabilities</a:t>
            </a:r>
          </a:p>
          <a:p>
            <a:pPr lvl="1" eaLnBrk="1" hangingPunct="1"/>
            <a:r>
              <a:rPr lang="en-US" smtClean="0"/>
              <a:t>Accurate representation of “state of the science”</a:t>
            </a:r>
          </a:p>
          <a:p>
            <a:pPr lvl="1" eaLnBrk="1" hangingPunct="1"/>
            <a:r>
              <a:rPr lang="en-US" smtClean="0"/>
              <a:t>Utilization of quality data and proven techniques</a:t>
            </a:r>
          </a:p>
          <a:p>
            <a:pPr lvl="1" eaLnBrk="1" hangingPunct="1"/>
            <a:r>
              <a:rPr lang="en-US" smtClean="0"/>
              <a:t>Obligations to hiring attorneys</a:t>
            </a:r>
          </a:p>
          <a:p>
            <a:pPr eaLnBrk="1" hangingPunct="1"/>
            <a:endParaRPr lang="en-US" smtClean="0"/>
          </a:p>
        </p:txBody>
      </p:sp>
      <p:pic>
        <p:nvPicPr>
          <p:cNvPr id="40963" name="Picture 2" descr="F:\IMAGES\PHOTOS\ARCHTCTR\PHCGO009.JPG"/>
          <p:cNvPicPr>
            <a:picLocks noChangeAspect="1" noChangeArrowheads="1"/>
          </p:cNvPicPr>
          <p:nvPr/>
        </p:nvPicPr>
        <p:blipFill>
          <a:blip r:embed="rId2"/>
          <a:srcRect/>
          <a:stretch>
            <a:fillRect/>
          </a:stretch>
        </p:blipFill>
        <p:spPr bwMode="auto">
          <a:xfrm>
            <a:off x="7077075" y="3886200"/>
            <a:ext cx="1762125" cy="2640013"/>
          </a:xfrm>
          <a:prstGeom prst="rect">
            <a:avLst/>
          </a:prstGeom>
          <a:noFill/>
          <a:ln w="9525">
            <a:noFill/>
            <a:miter lim="800000"/>
            <a:headEnd/>
            <a:tailEnd/>
          </a:ln>
        </p:spPr>
      </p:pic>
      <p:sp>
        <p:nvSpPr>
          <p:cNvPr id="5" name="Date Placeholder 4"/>
          <p:cNvSpPr>
            <a:spLocks noGrp="1"/>
          </p:cNvSpPr>
          <p:nvPr>
            <p:ph type="dt" sz="quarter" idx="10"/>
          </p:nvPr>
        </p:nvSpPr>
        <p:spPr/>
        <p:txBody>
          <a:bodyPr/>
          <a:lstStyle/>
          <a:p>
            <a:pPr>
              <a:defRPr/>
            </a:pPr>
            <a:r>
              <a:rPr lang="en-US"/>
              <a:t>10/15/2012</a:t>
            </a:r>
          </a:p>
        </p:txBody>
      </p:sp>
      <p:sp>
        <p:nvSpPr>
          <p:cNvPr id="7" name="Slide Number Placeholder 6"/>
          <p:cNvSpPr>
            <a:spLocks noGrp="1"/>
          </p:cNvSpPr>
          <p:nvPr>
            <p:ph type="sldNum" sz="quarter" idx="11"/>
          </p:nvPr>
        </p:nvSpPr>
        <p:spPr/>
        <p:txBody>
          <a:bodyPr/>
          <a:lstStyle/>
          <a:p>
            <a:pPr>
              <a:defRPr/>
            </a:pPr>
            <a:fld id="{AF4DF432-CA74-4B92-B742-04D5DF4D05DD}" type="slidenum">
              <a:rPr lang="en-US"/>
              <a:pPr>
                <a:defRPr/>
              </a:pPr>
              <a:t>20</a:t>
            </a:fld>
            <a:endParaRPr lang="en-US"/>
          </a:p>
        </p:txBody>
      </p:sp>
      <p:grpSp>
        <p:nvGrpSpPr>
          <p:cNvPr id="40966" name="Group 8"/>
          <p:cNvGrpSpPr>
            <a:grpSpLocks/>
          </p:cNvGrpSpPr>
          <p:nvPr/>
        </p:nvGrpSpPr>
        <p:grpSpPr bwMode="auto">
          <a:xfrm>
            <a:off x="8224838" y="152400"/>
            <a:ext cx="736600" cy="806450"/>
            <a:chOff x="5257800" y="4072895"/>
            <a:chExt cx="976745" cy="1108705"/>
          </a:xfrm>
        </p:grpSpPr>
        <p:grpSp>
          <p:nvGrpSpPr>
            <p:cNvPr id="40967" name="Group 9"/>
            <p:cNvGrpSpPr>
              <a:grpSpLocks/>
            </p:cNvGrpSpPr>
            <p:nvPr/>
          </p:nvGrpSpPr>
          <p:grpSpPr bwMode="auto">
            <a:xfrm>
              <a:off x="5257800" y="4764108"/>
              <a:ext cx="321434" cy="183416"/>
              <a:chOff x="2971800" y="2971800"/>
              <a:chExt cx="1073727" cy="464129"/>
            </a:xfrm>
          </p:grpSpPr>
          <p:sp>
            <p:nvSpPr>
              <p:cNvPr id="29" name="Arc 28"/>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30" name="Arc 29"/>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1" name="Straight Connector 30"/>
              <p:cNvCxnSpPr>
                <a:stCxn id="29" idx="2"/>
                <a:endCxn id="30"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0968" name="Group 10"/>
            <p:cNvGrpSpPr>
              <a:grpSpLocks/>
            </p:cNvGrpSpPr>
            <p:nvPr/>
          </p:nvGrpSpPr>
          <p:grpSpPr bwMode="auto">
            <a:xfrm>
              <a:off x="5913111" y="4769584"/>
              <a:ext cx="321434" cy="183416"/>
              <a:chOff x="2971800" y="2971800"/>
              <a:chExt cx="1073727" cy="464129"/>
            </a:xfrm>
          </p:grpSpPr>
          <p:sp>
            <p:nvSpPr>
              <p:cNvPr id="26" name="Arc 25"/>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7" name="Arc 26"/>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8" name="Straight Connector 27"/>
              <p:cNvCxnSpPr>
                <a:stCxn id="26" idx="2"/>
                <a:endCxn id="27"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Isosceles Triangle 11"/>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4" name="Straight Connector 13"/>
            <p:cNvCxnSpPr>
              <a:stCxn id="16" idx="3"/>
              <a:endCxn id="27"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6" idx="3"/>
              <a:endCxn id="26"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7" name="Straight Connector 16"/>
            <p:cNvCxnSpPr>
              <a:stCxn id="16" idx="1"/>
              <a:endCxn id="29"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6" idx="1"/>
              <a:endCxn id="30"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rot="10800000">
              <a:off x="5622783" y="4191000"/>
              <a:ext cx="228114" cy="183416"/>
              <a:chOff x="2971800" y="2971800"/>
              <a:chExt cx="1073727" cy="464129"/>
            </a:xfrm>
            <a:solidFill>
              <a:srgbClr val="C0C0C0"/>
            </a:solidFill>
          </p:grpSpPr>
          <p:sp>
            <p:nvSpPr>
              <p:cNvPr id="23" name="Arc 22"/>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4" name="Arc 23"/>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5" name="Straight Connector 24"/>
              <p:cNvCxnSpPr>
                <a:stCxn id="23" idx="2"/>
                <a:endCxn id="24"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0979" name="Group 19"/>
            <p:cNvGrpSpPr>
              <a:grpSpLocks/>
            </p:cNvGrpSpPr>
            <p:nvPr/>
          </p:nvGrpSpPr>
          <p:grpSpPr bwMode="auto">
            <a:xfrm>
              <a:off x="5728286" y="4238635"/>
              <a:ext cx="18059" cy="119221"/>
              <a:chOff x="1005840" y="2868234"/>
              <a:chExt cx="97154" cy="301685"/>
            </a:xfrm>
          </p:grpSpPr>
          <p:sp>
            <p:nvSpPr>
              <p:cNvPr id="21" name="Isosceles Triangle 20"/>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 name="Oval 21"/>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Forensic Meteorology</a:t>
            </a:r>
            <a:endParaRPr lang="en-US" dirty="0"/>
          </a:p>
        </p:txBody>
      </p:sp>
      <p:sp>
        <p:nvSpPr>
          <p:cNvPr id="41986" name="Content Placeholder 2"/>
          <p:cNvSpPr>
            <a:spLocks noGrp="1"/>
          </p:cNvSpPr>
          <p:nvPr>
            <p:ph idx="1"/>
          </p:nvPr>
        </p:nvSpPr>
        <p:spPr/>
        <p:txBody>
          <a:bodyPr/>
          <a:lstStyle/>
          <a:p>
            <a:pPr eaLnBrk="1" hangingPunct="1">
              <a:lnSpc>
                <a:spcPct val="90000"/>
              </a:lnSpc>
            </a:pPr>
            <a:r>
              <a:rPr lang="en-US" sz="2600" smtClean="0"/>
              <a:t>Ethical Challenges:</a:t>
            </a:r>
          </a:p>
          <a:p>
            <a:pPr lvl="1" eaLnBrk="1" hangingPunct="1">
              <a:lnSpc>
                <a:spcPct val="90000"/>
              </a:lnSpc>
            </a:pPr>
            <a:r>
              <a:rPr lang="en-US" sz="2200" smtClean="0">
                <a:solidFill>
                  <a:srgbClr val="000000"/>
                </a:solidFill>
              </a:rPr>
              <a:t>Accurate representation of personal capabilities</a:t>
            </a:r>
          </a:p>
          <a:p>
            <a:pPr lvl="2" eaLnBrk="1" hangingPunct="1">
              <a:lnSpc>
                <a:spcPct val="90000"/>
              </a:lnSpc>
            </a:pPr>
            <a:r>
              <a:rPr lang="en-US" sz="2000" smtClean="0"/>
              <a:t>If you are an subject matter expert, state so, if you need to study up on a subject set reasonable expectations</a:t>
            </a:r>
          </a:p>
          <a:p>
            <a:pPr lvl="1" eaLnBrk="1" hangingPunct="1">
              <a:lnSpc>
                <a:spcPct val="90000"/>
              </a:lnSpc>
            </a:pPr>
            <a:r>
              <a:rPr lang="en-US" sz="2200" smtClean="0">
                <a:solidFill>
                  <a:srgbClr val="000000"/>
                </a:solidFill>
              </a:rPr>
              <a:t>Accurate representation of “state of the science”</a:t>
            </a:r>
          </a:p>
          <a:p>
            <a:pPr lvl="2" eaLnBrk="1" hangingPunct="1">
              <a:lnSpc>
                <a:spcPct val="90000"/>
              </a:lnSpc>
            </a:pPr>
            <a:r>
              <a:rPr lang="en-US" sz="2000" smtClean="0"/>
              <a:t>Science has its limits.  Setting expectations early can avoid embarrassment later</a:t>
            </a:r>
          </a:p>
          <a:p>
            <a:pPr lvl="1" eaLnBrk="1" hangingPunct="1">
              <a:lnSpc>
                <a:spcPct val="90000"/>
              </a:lnSpc>
            </a:pPr>
            <a:r>
              <a:rPr lang="en-US" sz="2200" smtClean="0">
                <a:solidFill>
                  <a:srgbClr val="000000"/>
                </a:solidFill>
              </a:rPr>
              <a:t>Utilization of quality data and proven techniques</a:t>
            </a:r>
          </a:p>
          <a:p>
            <a:pPr lvl="2" eaLnBrk="1" hangingPunct="1">
              <a:lnSpc>
                <a:spcPct val="90000"/>
              </a:lnSpc>
            </a:pPr>
            <a:r>
              <a:rPr lang="en-US" sz="2000" smtClean="0"/>
              <a:t>Use standard techniques  and quality data.  Don’t give the opposing expert an opportunity to challenge your understanding of the science or credibility</a:t>
            </a:r>
          </a:p>
          <a:p>
            <a:pPr lvl="1" eaLnBrk="1" hangingPunct="1">
              <a:lnSpc>
                <a:spcPct val="90000"/>
              </a:lnSpc>
            </a:pPr>
            <a:r>
              <a:rPr lang="en-US" sz="2200" smtClean="0">
                <a:solidFill>
                  <a:srgbClr val="000000"/>
                </a:solidFill>
              </a:rPr>
              <a:t>Obligations to hiring attorneys</a:t>
            </a:r>
          </a:p>
          <a:p>
            <a:pPr lvl="2" eaLnBrk="1" hangingPunct="1">
              <a:lnSpc>
                <a:spcPct val="90000"/>
              </a:lnSpc>
            </a:pPr>
            <a:r>
              <a:rPr lang="en-US" sz="2000" smtClean="0"/>
              <a:t>Understand your duty to the attorneys and </a:t>
            </a:r>
          </a:p>
          <a:p>
            <a:pPr lvl="2" eaLnBrk="1" hangingPunct="1">
              <a:lnSpc>
                <a:spcPct val="90000"/>
              </a:lnSpc>
              <a:buFont typeface="Wingdings" pitchFamily="2" charset="2"/>
              <a:buNone/>
            </a:pPr>
            <a:r>
              <a:rPr lang="en-US" sz="2000" smtClean="0"/>
              <a:t>   the courts</a:t>
            </a:r>
          </a:p>
          <a:p>
            <a:pPr eaLnBrk="1" hangingPunct="1">
              <a:lnSpc>
                <a:spcPct val="90000"/>
              </a:lnSpc>
            </a:pPr>
            <a:endParaRPr lang="en-US" sz="2600" smtClean="0"/>
          </a:p>
        </p:txBody>
      </p:sp>
      <p:sp>
        <p:nvSpPr>
          <p:cNvPr id="4" name="Date Placeholder 3"/>
          <p:cNvSpPr>
            <a:spLocks noGrp="1"/>
          </p:cNvSpPr>
          <p:nvPr>
            <p:ph type="dt" sz="quarter" idx="10"/>
          </p:nvPr>
        </p:nvSpPr>
        <p:spPr/>
        <p:txBody>
          <a:bodyPr/>
          <a:lstStyle/>
          <a:p>
            <a:pPr>
              <a:defRPr/>
            </a:pPr>
            <a:r>
              <a:rPr lang="en-US"/>
              <a:t>10/15/2012</a:t>
            </a:r>
          </a:p>
        </p:txBody>
      </p:sp>
      <p:sp>
        <p:nvSpPr>
          <p:cNvPr id="6" name="Slide Number Placeholder 5"/>
          <p:cNvSpPr>
            <a:spLocks noGrp="1"/>
          </p:cNvSpPr>
          <p:nvPr>
            <p:ph type="sldNum" sz="quarter" idx="11"/>
          </p:nvPr>
        </p:nvSpPr>
        <p:spPr/>
        <p:txBody>
          <a:bodyPr/>
          <a:lstStyle/>
          <a:p>
            <a:pPr>
              <a:defRPr/>
            </a:pPr>
            <a:fld id="{FCCF78C5-A902-4171-A59F-E96EE4AC9DD0}" type="slidenum">
              <a:rPr lang="en-US"/>
              <a:pPr>
                <a:defRPr/>
              </a:pPr>
              <a:t>21</a:t>
            </a:fld>
            <a:endParaRPr lang="en-US"/>
          </a:p>
        </p:txBody>
      </p:sp>
      <p:grpSp>
        <p:nvGrpSpPr>
          <p:cNvPr id="41989" name="Group 6"/>
          <p:cNvGrpSpPr>
            <a:grpSpLocks/>
          </p:cNvGrpSpPr>
          <p:nvPr/>
        </p:nvGrpSpPr>
        <p:grpSpPr bwMode="auto">
          <a:xfrm>
            <a:off x="8224838" y="152400"/>
            <a:ext cx="736600" cy="806450"/>
            <a:chOff x="5257800" y="4072895"/>
            <a:chExt cx="976745" cy="1108705"/>
          </a:xfrm>
        </p:grpSpPr>
        <p:grpSp>
          <p:nvGrpSpPr>
            <p:cNvPr id="41991" name="Group 7"/>
            <p:cNvGrpSpPr>
              <a:grpSpLocks/>
            </p:cNvGrpSpPr>
            <p:nvPr/>
          </p:nvGrpSpPr>
          <p:grpSpPr bwMode="auto">
            <a:xfrm>
              <a:off x="5257800" y="4764108"/>
              <a:ext cx="321434" cy="183416"/>
              <a:chOff x="2971800" y="2971800"/>
              <a:chExt cx="1073727" cy="464129"/>
            </a:xfrm>
          </p:grpSpPr>
          <p:sp>
            <p:nvSpPr>
              <p:cNvPr id="27" name="Arc 26"/>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8" name="Arc 27"/>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9" name="Straight Connector 28"/>
              <p:cNvCxnSpPr>
                <a:stCxn id="27" idx="2"/>
                <a:endCxn id="28"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1992" name="Group 8"/>
            <p:cNvGrpSpPr>
              <a:grpSpLocks/>
            </p:cNvGrpSpPr>
            <p:nvPr/>
          </p:nvGrpSpPr>
          <p:grpSpPr bwMode="auto">
            <a:xfrm>
              <a:off x="5913111" y="4769584"/>
              <a:ext cx="321434" cy="183416"/>
              <a:chOff x="2971800" y="2971800"/>
              <a:chExt cx="1073727" cy="464129"/>
            </a:xfrm>
          </p:grpSpPr>
          <p:sp>
            <p:nvSpPr>
              <p:cNvPr id="24" name="Arc 23"/>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5" name="Arc 24"/>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6" name="Straight Connector 25"/>
              <p:cNvCxnSpPr>
                <a:stCxn id="24" idx="2"/>
                <a:endCxn id="25"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0" name="Isosceles Triangle 9"/>
            <p:cNvSpPr/>
            <p:nvPr/>
          </p:nvSpPr>
          <p:spPr>
            <a:xfrm>
              <a:off x="5714596" y="4072895"/>
              <a:ext cx="44207" cy="1054143"/>
            </a:xfrm>
            <a:prstGeom prst="triangle">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5591677" y="5121374"/>
              <a:ext cx="296549" cy="60226"/>
            </a:xfrm>
            <a:prstGeom prst="rect">
              <a:avLst/>
            </a:prstGeom>
            <a:blipFill>
              <a:blip r:embed="rId3"/>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2" name="Straight Connector 11"/>
            <p:cNvCxnSpPr>
              <a:stCxn id="14" idx="3"/>
              <a:endCxn id="25"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4" idx="3"/>
              <a:endCxn id="24"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5" name="Straight Connector 14"/>
            <p:cNvCxnSpPr>
              <a:stCxn id="14" idx="1"/>
              <a:endCxn id="27"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4" idx="1"/>
              <a:endCxn id="28"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rot="10800000">
              <a:off x="5622783" y="4191000"/>
              <a:ext cx="228114" cy="183416"/>
              <a:chOff x="2971800" y="2971800"/>
              <a:chExt cx="1073727" cy="464129"/>
            </a:xfrm>
            <a:solidFill>
              <a:srgbClr val="C0C0C0"/>
            </a:solidFill>
          </p:grpSpPr>
          <p:sp>
            <p:nvSpPr>
              <p:cNvPr id="21" name="Arc 20"/>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2" name="Arc 21"/>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3" name="Straight Connector 22"/>
              <p:cNvCxnSpPr>
                <a:stCxn id="21" idx="2"/>
                <a:endCxn id="22"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2003" name="Group 17"/>
            <p:cNvGrpSpPr>
              <a:grpSpLocks/>
            </p:cNvGrpSpPr>
            <p:nvPr/>
          </p:nvGrpSpPr>
          <p:grpSpPr bwMode="auto">
            <a:xfrm>
              <a:off x="5728286" y="4238635"/>
              <a:ext cx="18059" cy="119221"/>
              <a:chOff x="1005840" y="2868234"/>
              <a:chExt cx="97154" cy="301685"/>
            </a:xfrm>
          </p:grpSpPr>
          <p:sp>
            <p:nvSpPr>
              <p:cNvPr id="19" name="Isosceles Triangle 18"/>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Oval 19"/>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pic>
        <p:nvPicPr>
          <p:cNvPr id="41990" name="Picture 29" descr="dglxasset[4]"/>
          <p:cNvPicPr>
            <a:picLocks noChangeAspect="1" noChangeArrowheads="1"/>
          </p:cNvPicPr>
          <p:nvPr/>
        </p:nvPicPr>
        <p:blipFill>
          <a:blip r:embed="rId4"/>
          <a:srcRect/>
          <a:stretch>
            <a:fillRect/>
          </a:stretch>
        </p:blipFill>
        <p:spPr bwMode="auto">
          <a:xfrm>
            <a:off x="6781800" y="5181600"/>
            <a:ext cx="2057400" cy="11763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Summary</a:t>
            </a:r>
            <a:endParaRPr lang="en-US" dirty="0"/>
          </a:p>
        </p:txBody>
      </p:sp>
      <p:sp>
        <p:nvSpPr>
          <p:cNvPr id="43010" name="Content Placeholder 2"/>
          <p:cNvSpPr>
            <a:spLocks noGrp="1"/>
          </p:cNvSpPr>
          <p:nvPr>
            <p:ph idx="1"/>
          </p:nvPr>
        </p:nvSpPr>
        <p:spPr>
          <a:xfrm>
            <a:off x="457200" y="1371600"/>
            <a:ext cx="8229600" cy="4708525"/>
          </a:xfrm>
        </p:spPr>
        <p:txBody>
          <a:bodyPr/>
          <a:lstStyle/>
          <a:p>
            <a:pPr eaLnBrk="1" hangingPunct="1"/>
            <a:r>
              <a:rPr lang="en-US" smtClean="0"/>
              <a:t>Common elements tie all meteorologists together</a:t>
            </a:r>
          </a:p>
          <a:p>
            <a:pPr eaLnBrk="1" hangingPunct="1"/>
            <a:r>
              <a:rPr lang="en-US" smtClean="0"/>
              <a:t>Our professional organizations provide guidance and in some cases self corrective action</a:t>
            </a:r>
          </a:p>
          <a:p>
            <a:pPr eaLnBrk="1" hangingPunct="1"/>
            <a:r>
              <a:rPr lang="en-US" smtClean="0"/>
              <a:t>It is up to each meteorologist to be aware of ethical dilemmas and to act in the best interest of the profession and science in general</a:t>
            </a:r>
          </a:p>
        </p:txBody>
      </p:sp>
      <p:pic>
        <p:nvPicPr>
          <p:cNvPr id="43011" name="Picture 2" descr="F:\IMAGES\PHOTOS\PEOPLE\PHPEO018.JPG"/>
          <p:cNvPicPr>
            <a:picLocks noChangeAspect="1" noChangeArrowheads="1"/>
          </p:cNvPicPr>
          <p:nvPr/>
        </p:nvPicPr>
        <p:blipFill>
          <a:blip r:embed="rId2"/>
          <a:srcRect/>
          <a:stretch>
            <a:fillRect/>
          </a:stretch>
        </p:blipFill>
        <p:spPr bwMode="auto">
          <a:xfrm>
            <a:off x="6629400" y="4953000"/>
            <a:ext cx="2239963" cy="1495425"/>
          </a:xfrm>
          <a:prstGeom prst="rect">
            <a:avLst/>
          </a:prstGeom>
          <a:noFill/>
          <a:ln w="9525">
            <a:noFill/>
            <a:miter lim="800000"/>
            <a:headEnd/>
            <a:tailEnd/>
          </a:ln>
        </p:spPr>
      </p:pic>
      <p:sp>
        <p:nvSpPr>
          <p:cNvPr id="4" name="Date Placeholder 3"/>
          <p:cNvSpPr>
            <a:spLocks noGrp="1"/>
          </p:cNvSpPr>
          <p:nvPr>
            <p:ph type="dt" sz="quarter" idx="10"/>
          </p:nvPr>
        </p:nvSpPr>
        <p:spPr/>
        <p:txBody>
          <a:bodyPr/>
          <a:lstStyle/>
          <a:p>
            <a:pPr>
              <a:defRPr/>
            </a:pPr>
            <a:r>
              <a:rPr lang="en-US"/>
              <a:t>10/15/2012</a:t>
            </a:r>
          </a:p>
        </p:txBody>
      </p:sp>
      <p:sp>
        <p:nvSpPr>
          <p:cNvPr id="6" name="Slide Number Placeholder 5"/>
          <p:cNvSpPr>
            <a:spLocks noGrp="1"/>
          </p:cNvSpPr>
          <p:nvPr>
            <p:ph type="sldNum" sz="quarter" idx="11"/>
          </p:nvPr>
        </p:nvSpPr>
        <p:spPr/>
        <p:txBody>
          <a:bodyPr/>
          <a:lstStyle/>
          <a:p>
            <a:pPr>
              <a:defRPr/>
            </a:pPr>
            <a:fld id="{A168D36B-C8F7-4FF2-97CE-B2D4B2E87FB9}" type="slidenum">
              <a:rPr lang="en-US"/>
              <a:pPr>
                <a:defRPr/>
              </a:pPr>
              <a:t>22</a:t>
            </a:fld>
            <a:endParaRPr lang="en-US"/>
          </a:p>
        </p:txBody>
      </p:sp>
      <p:grpSp>
        <p:nvGrpSpPr>
          <p:cNvPr id="43014" name="Group 7"/>
          <p:cNvGrpSpPr>
            <a:grpSpLocks/>
          </p:cNvGrpSpPr>
          <p:nvPr/>
        </p:nvGrpSpPr>
        <p:grpSpPr bwMode="auto">
          <a:xfrm>
            <a:off x="8224838" y="152400"/>
            <a:ext cx="736600" cy="806450"/>
            <a:chOff x="5257800" y="4072895"/>
            <a:chExt cx="976745" cy="1108705"/>
          </a:xfrm>
        </p:grpSpPr>
        <p:grpSp>
          <p:nvGrpSpPr>
            <p:cNvPr id="43015" name="Group 8"/>
            <p:cNvGrpSpPr>
              <a:grpSpLocks/>
            </p:cNvGrpSpPr>
            <p:nvPr/>
          </p:nvGrpSpPr>
          <p:grpSpPr bwMode="auto">
            <a:xfrm>
              <a:off x="5257800" y="4764108"/>
              <a:ext cx="321434" cy="183416"/>
              <a:chOff x="2971800" y="2971800"/>
              <a:chExt cx="1073727" cy="464129"/>
            </a:xfrm>
          </p:grpSpPr>
          <p:sp>
            <p:nvSpPr>
              <p:cNvPr id="28" name="Arc 27"/>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9" name="Arc 28"/>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0" name="Straight Connector 29"/>
              <p:cNvCxnSpPr>
                <a:stCxn id="28" idx="2"/>
                <a:endCxn id="29"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3016" name="Group 9"/>
            <p:cNvGrpSpPr>
              <a:grpSpLocks/>
            </p:cNvGrpSpPr>
            <p:nvPr/>
          </p:nvGrpSpPr>
          <p:grpSpPr bwMode="auto">
            <a:xfrm>
              <a:off x="5913111" y="4769584"/>
              <a:ext cx="321434" cy="183416"/>
              <a:chOff x="2971800" y="2971800"/>
              <a:chExt cx="1073727" cy="464129"/>
            </a:xfrm>
          </p:grpSpPr>
          <p:sp>
            <p:nvSpPr>
              <p:cNvPr id="25" name="Arc 24"/>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6" name="Arc 25"/>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7" name="Straight Connector 26"/>
              <p:cNvCxnSpPr>
                <a:stCxn id="25" idx="2"/>
                <a:endCxn id="26"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 name="Isosceles Triangle 10"/>
            <p:cNvSpPr/>
            <p:nvPr/>
          </p:nvSpPr>
          <p:spPr>
            <a:xfrm>
              <a:off x="5714596" y="4072895"/>
              <a:ext cx="44207" cy="1054143"/>
            </a:xfrm>
            <a:prstGeom prst="triangle">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5591677" y="5121374"/>
              <a:ext cx="296549" cy="60226"/>
            </a:xfrm>
            <a:prstGeom prst="rect">
              <a:avLst/>
            </a:prstGeom>
            <a:blipFill>
              <a:blip r:embed="rId4"/>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3" name="Straight Connector 12"/>
            <p:cNvCxnSpPr>
              <a:stCxn id="15" idx="3"/>
              <a:endCxn id="26"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5" idx="3"/>
              <a:endCxn id="25"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6" name="Straight Connector 15"/>
            <p:cNvCxnSpPr>
              <a:stCxn id="15" idx="1"/>
              <a:endCxn id="28"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5" idx="1"/>
              <a:endCxn id="29"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rot="10800000">
              <a:off x="5622783" y="4191000"/>
              <a:ext cx="228114" cy="183416"/>
              <a:chOff x="2971800" y="2971800"/>
              <a:chExt cx="1073727" cy="464129"/>
            </a:xfrm>
            <a:solidFill>
              <a:srgbClr val="C0C0C0"/>
            </a:solidFill>
          </p:grpSpPr>
          <p:sp>
            <p:nvSpPr>
              <p:cNvPr id="22" name="Arc 21"/>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3" name="Arc 22"/>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4" name="Straight Connector 23"/>
              <p:cNvCxnSpPr>
                <a:stCxn id="22" idx="2"/>
                <a:endCxn id="23"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3027" name="Group 18"/>
            <p:cNvGrpSpPr>
              <a:grpSpLocks/>
            </p:cNvGrpSpPr>
            <p:nvPr/>
          </p:nvGrpSpPr>
          <p:grpSpPr bwMode="auto">
            <a:xfrm>
              <a:off x="5728286" y="4238635"/>
              <a:ext cx="18059" cy="119221"/>
              <a:chOff x="1005840" y="2868234"/>
              <a:chExt cx="97154" cy="301685"/>
            </a:xfrm>
          </p:grpSpPr>
          <p:sp>
            <p:nvSpPr>
              <p:cNvPr id="20" name="Isosceles Triangle 19"/>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Oval 20"/>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References</a:t>
            </a:r>
            <a:endParaRPr lang="en-US" dirty="0"/>
          </a:p>
        </p:txBody>
      </p:sp>
      <p:sp>
        <p:nvSpPr>
          <p:cNvPr id="44034" name="Content Placeholder 2"/>
          <p:cNvSpPr>
            <a:spLocks noGrp="1"/>
          </p:cNvSpPr>
          <p:nvPr>
            <p:ph idx="1"/>
          </p:nvPr>
        </p:nvSpPr>
        <p:spPr>
          <a:xfrm>
            <a:off x="304800" y="1600200"/>
            <a:ext cx="8382000" cy="4708525"/>
          </a:xfrm>
        </p:spPr>
        <p:txBody>
          <a:bodyPr/>
          <a:lstStyle/>
          <a:p>
            <a:pPr eaLnBrk="1" hangingPunct="1"/>
            <a:r>
              <a:rPr lang="en-US" sz="1800" smtClean="0"/>
              <a:t>National Weather Association (</a:t>
            </a:r>
            <a:r>
              <a:rPr lang="en-US" sz="1800" smtClean="0">
                <a:hlinkClick r:id="rId2"/>
              </a:rPr>
              <a:t>http://www.nwas.org/</a:t>
            </a:r>
            <a:r>
              <a:rPr lang="en-US" sz="1800" smtClean="0"/>
              <a:t>)</a:t>
            </a:r>
          </a:p>
          <a:p>
            <a:pPr eaLnBrk="1" hangingPunct="1"/>
            <a:r>
              <a:rPr lang="en-US" sz="1800" smtClean="0"/>
              <a:t>Weather Modification Association  (</a:t>
            </a:r>
            <a:r>
              <a:rPr lang="en-US" sz="1800" smtClean="0">
                <a:hlinkClick r:id="rId3"/>
              </a:rPr>
              <a:t>http://www.weathermodification.org</a:t>
            </a:r>
            <a:r>
              <a:rPr lang="en-US" sz="1800" smtClean="0"/>
              <a:t>)</a:t>
            </a:r>
          </a:p>
          <a:p>
            <a:pPr eaLnBrk="1" hangingPunct="1"/>
            <a:r>
              <a:rPr lang="en-US" sz="1800" smtClean="0"/>
              <a:t>National Council of Industrial Meteorologists (</a:t>
            </a:r>
            <a:r>
              <a:rPr lang="en-US" sz="1800" smtClean="0">
                <a:hlinkClick r:id="rId4"/>
              </a:rPr>
              <a:t>http://www.ncim.org</a:t>
            </a:r>
            <a:r>
              <a:rPr lang="en-US" sz="1800" smtClean="0"/>
              <a:t> )</a:t>
            </a:r>
          </a:p>
          <a:p>
            <a:pPr eaLnBrk="1" hangingPunct="1"/>
            <a:r>
              <a:rPr lang="en-US" sz="1800" smtClean="0"/>
              <a:t>American Meteorological Society (</a:t>
            </a:r>
            <a:r>
              <a:rPr lang="en-US" sz="1800" smtClean="0">
                <a:hlinkClick r:id="rId5"/>
              </a:rPr>
              <a:t>http://ametsoc.org</a:t>
            </a:r>
            <a:r>
              <a:rPr lang="en-US" sz="1800" smtClean="0"/>
              <a:t> )</a:t>
            </a:r>
          </a:p>
        </p:txBody>
      </p:sp>
      <p:pic>
        <p:nvPicPr>
          <p:cNvPr id="44035" name="Picture 2" descr="C:\Users\Gerry\AppData\Local\Microsoft\Windows\Temporary Internet Files\Content.IE5\NZI4IJ5R\MP900442465[1].jpg"/>
          <p:cNvPicPr>
            <a:picLocks noChangeAspect="1" noChangeArrowheads="1"/>
          </p:cNvPicPr>
          <p:nvPr/>
        </p:nvPicPr>
        <p:blipFill>
          <a:blip r:embed="rId6"/>
          <a:srcRect/>
          <a:stretch>
            <a:fillRect/>
          </a:stretch>
        </p:blipFill>
        <p:spPr bwMode="auto">
          <a:xfrm>
            <a:off x="6934200" y="4935538"/>
            <a:ext cx="1828800" cy="1600200"/>
          </a:xfrm>
          <a:prstGeom prst="rect">
            <a:avLst/>
          </a:prstGeom>
          <a:noFill/>
          <a:ln w="9525">
            <a:noFill/>
            <a:miter lim="800000"/>
            <a:headEnd/>
            <a:tailEnd/>
          </a:ln>
        </p:spPr>
      </p:pic>
      <p:sp>
        <p:nvSpPr>
          <p:cNvPr id="5" name="Date Placeholder 4"/>
          <p:cNvSpPr>
            <a:spLocks noGrp="1"/>
          </p:cNvSpPr>
          <p:nvPr>
            <p:ph type="dt" sz="quarter" idx="10"/>
          </p:nvPr>
        </p:nvSpPr>
        <p:spPr/>
        <p:txBody>
          <a:bodyPr/>
          <a:lstStyle/>
          <a:p>
            <a:pPr>
              <a:defRPr/>
            </a:pPr>
            <a:r>
              <a:rPr lang="en-US"/>
              <a:t>10/15/2012</a:t>
            </a:r>
          </a:p>
        </p:txBody>
      </p:sp>
      <p:sp>
        <p:nvSpPr>
          <p:cNvPr id="7" name="Slide Number Placeholder 6"/>
          <p:cNvSpPr>
            <a:spLocks noGrp="1"/>
          </p:cNvSpPr>
          <p:nvPr>
            <p:ph type="sldNum" sz="quarter" idx="11"/>
          </p:nvPr>
        </p:nvSpPr>
        <p:spPr/>
        <p:txBody>
          <a:bodyPr/>
          <a:lstStyle/>
          <a:p>
            <a:pPr>
              <a:defRPr/>
            </a:pPr>
            <a:fld id="{2440BABF-F6E1-4F9C-8C08-A42A516052E6}" type="slidenum">
              <a:rPr lang="en-US"/>
              <a:pPr>
                <a:defRPr/>
              </a:pPr>
              <a:t>23</a:t>
            </a:fld>
            <a:endParaRPr lang="en-US"/>
          </a:p>
        </p:txBody>
      </p:sp>
      <p:sp>
        <p:nvSpPr>
          <p:cNvPr id="44038" name="TextBox 7"/>
          <p:cNvSpPr txBox="1">
            <a:spLocks noChangeArrowheads="1"/>
          </p:cNvSpPr>
          <p:nvPr/>
        </p:nvSpPr>
        <p:spPr bwMode="auto">
          <a:xfrm>
            <a:off x="457200" y="5438775"/>
            <a:ext cx="5867400" cy="639763"/>
          </a:xfrm>
          <a:prstGeom prst="rect">
            <a:avLst/>
          </a:prstGeom>
          <a:noFill/>
          <a:ln w="9525">
            <a:noFill/>
            <a:miter lim="800000"/>
            <a:headEnd/>
            <a:tailEnd/>
          </a:ln>
        </p:spPr>
        <p:txBody>
          <a:bodyPr>
            <a:spAutoFit/>
          </a:bodyPr>
          <a:lstStyle/>
          <a:p>
            <a:r>
              <a:rPr lang="en-US" sz="1200">
                <a:latin typeface="Book Antiqua" pitchFamily="18" charset="0"/>
              </a:rPr>
              <a:t>Some of the images used herein were obtained from The Learning Company’s ClickArt Christian Graphics Deluxe product c 1999  The Learning Company, Inc. and its subsidiaries, 88 Rowland Way, Navato, CA  94945 USA.  All rights Reserved</a:t>
            </a:r>
          </a:p>
        </p:txBody>
      </p:sp>
      <p:sp>
        <p:nvSpPr>
          <p:cNvPr id="44039" name="TextBox 8"/>
          <p:cNvSpPr txBox="1">
            <a:spLocks noChangeArrowheads="1"/>
          </p:cNvSpPr>
          <p:nvPr/>
        </p:nvSpPr>
        <p:spPr bwMode="auto">
          <a:xfrm>
            <a:off x="228600" y="3200400"/>
            <a:ext cx="8915400" cy="2014538"/>
          </a:xfrm>
          <a:prstGeom prst="rect">
            <a:avLst/>
          </a:prstGeom>
          <a:noFill/>
          <a:ln w="9525">
            <a:noFill/>
            <a:miter lim="800000"/>
            <a:headEnd/>
            <a:tailEnd/>
          </a:ln>
        </p:spPr>
        <p:txBody>
          <a:bodyPr>
            <a:spAutoFit/>
          </a:bodyPr>
          <a:lstStyle/>
          <a:p>
            <a:r>
              <a:rPr lang="en-US">
                <a:latin typeface="Book Antiqua" pitchFamily="18" charset="0"/>
              </a:rPr>
              <a:t>Other Readings</a:t>
            </a:r>
          </a:p>
          <a:p>
            <a:pPr>
              <a:buFont typeface="Arial" charset="0"/>
              <a:buNone/>
            </a:pPr>
            <a:r>
              <a:rPr lang="en-US" i="1">
                <a:latin typeface="Book Antiqua" pitchFamily="18" charset="0"/>
              </a:rPr>
              <a:t>Honesty</a:t>
            </a:r>
            <a:r>
              <a:rPr lang="en-US">
                <a:latin typeface="Book Antiqua" pitchFamily="18" charset="0"/>
              </a:rPr>
              <a:t>, Ahearne, J., 2011, American Scientists, vol. 99, March April, pp. 120-122</a:t>
            </a:r>
          </a:p>
          <a:p>
            <a:pPr>
              <a:buFont typeface="Arial" charset="0"/>
              <a:buNone/>
            </a:pPr>
            <a:endParaRPr lang="en-US" i="1">
              <a:latin typeface="Book Antiqua" pitchFamily="18" charset="0"/>
            </a:endParaRPr>
          </a:p>
          <a:p>
            <a:pPr>
              <a:buFont typeface="Arial" charset="0"/>
              <a:buNone/>
            </a:pPr>
            <a:r>
              <a:rPr lang="en-US" i="1">
                <a:latin typeface="Book Antiqua" pitchFamily="18" charset="0"/>
              </a:rPr>
              <a:t>On Being a Scientist: Guide to Responsible Conduct in Research</a:t>
            </a:r>
            <a:r>
              <a:rPr lang="en-US">
                <a:latin typeface="Book Antiqua" pitchFamily="18" charset="0"/>
              </a:rPr>
              <a:t>,  2009, Committee on Science, Engineering and Public Policy, National Academy of Sciences, National Academy of Engineering and Institute of Medicine, third edition, Washington, National Academies Press</a:t>
            </a:r>
          </a:p>
        </p:txBody>
      </p:sp>
      <p:grpSp>
        <p:nvGrpSpPr>
          <p:cNvPr id="44040" name="Group 10"/>
          <p:cNvGrpSpPr>
            <a:grpSpLocks/>
          </p:cNvGrpSpPr>
          <p:nvPr/>
        </p:nvGrpSpPr>
        <p:grpSpPr bwMode="auto">
          <a:xfrm>
            <a:off x="8224838" y="152400"/>
            <a:ext cx="736600" cy="806450"/>
            <a:chOff x="5257800" y="4072895"/>
            <a:chExt cx="976745" cy="1108705"/>
          </a:xfrm>
        </p:grpSpPr>
        <p:grpSp>
          <p:nvGrpSpPr>
            <p:cNvPr id="44041" name="Group 11"/>
            <p:cNvGrpSpPr>
              <a:grpSpLocks/>
            </p:cNvGrpSpPr>
            <p:nvPr/>
          </p:nvGrpSpPr>
          <p:grpSpPr bwMode="auto">
            <a:xfrm>
              <a:off x="5257800" y="4764108"/>
              <a:ext cx="321434" cy="183416"/>
              <a:chOff x="2971800" y="2971800"/>
              <a:chExt cx="1073727" cy="464129"/>
            </a:xfrm>
          </p:grpSpPr>
          <p:sp>
            <p:nvSpPr>
              <p:cNvPr id="31" name="Arc 30"/>
              <p:cNvSpPr/>
              <p:nvPr/>
            </p:nvSpPr>
            <p:spPr>
              <a:xfrm rot="10800000">
                <a:off x="2971800" y="2973411"/>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32" name="Arc 31"/>
              <p:cNvSpPr/>
              <p:nvPr/>
            </p:nvSpPr>
            <p:spPr>
              <a:xfrm rot="10800000" flipH="1">
                <a:off x="2978830" y="2978932"/>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3" name="Straight Connector 32"/>
              <p:cNvCxnSpPr>
                <a:stCxn id="31" idx="2"/>
                <a:endCxn id="32" idx="2"/>
              </p:cNvCxnSpPr>
              <p:nvPr/>
            </p:nvCxnSpPr>
            <p:spPr>
              <a:xfrm>
                <a:off x="2971800" y="3199841"/>
                <a:ext cx="1075862"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4042" name="Group 12"/>
            <p:cNvGrpSpPr>
              <a:grpSpLocks/>
            </p:cNvGrpSpPr>
            <p:nvPr/>
          </p:nvGrpSpPr>
          <p:grpSpPr bwMode="auto">
            <a:xfrm>
              <a:off x="5913111" y="4769584"/>
              <a:ext cx="321434" cy="183416"/>
              <a:chOff x="2971800" y="2971800"/>
              <a:chExt cx="1073727" cy="464129"/>
            </a:xfrm>
          </p:grpSpPr>
          <p:sp>
            <p:nvSpPr>
              <p:cNvPr id="28" name="Arc 27"/>
              <p:cNvSpPr/>
              <p:nvPr/>
            </p:nvSpPr>
            <p:spPr>
              <a:xfrm rot="10800000">
                <a:off x="2969661" y="2970600"/>
                <a:ext cx="1068832" cy="458385"/>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9" name="Arc 28"/>
              <p:cNvSpPr/>
              <p:nvPr/>
            </p:nvSpPr>
            <p:spPr>
              <a:xfrm rot="10800000" flipH="1">
                <a:off x="2976695" y="2976121"/>
                <a:ext cx="1068832" cy="458389"/>
              </a:xfrm>
              <a:prstGeom prst="arc">
                <a:avLst/>
              </a:prstGeom>
              <a:solidFill>
                <a:schemeClr val="accent1">
                  <a:lumMod val="50000"/>
                </a:schemeClr>
              </a:solid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30" name="Straight Connector 29"/>
              <p:cNvCxnSpPr>
                <a:stCxn id="28" idx="2"/>
                <a:endCxn id="29" idx="2"/>
              </p:cNvCxnSpPr>
              <p:nvPr/>
            </p:nvCxnSpPr>
            <p:spPr>
              <a:xfrm>
                <a:off x="2969661" y="3197030"/>
                <a:ext cx="1075866" cy="1104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4" name="Isosceles Triangle 13"/>
            <p:cNvSpPr/>
            <p:nvPr/>
          </p:nvSpPr>
          <p:spPr>
            <a:xfrm>
              <a:off x="5714596" y="4072895"/>
              <a:ext cx="44207" cy="1054143"/>
            </a:xfrm>
            <a:prstGeom prst="triangle">
              <a:avLst/>
            </a:prstGeom>
            <a:blipFill>
              <a:blip r:embed="rId7"/>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p:nvPr/>
          </p:nvSpPr>
          <p:spPr>
            <a:xfrm>
              <a:off x="5591677" y="5121374"/>
              <a:ext cx="296549" cy="60226"/>
            </a:xfrm>
            <a:prstGeom prst="rect">
              <a:avLst/>
            </a:prstGeom>
            <a:blipFill>
              <a:blip r:embed="rId8"/>
              <a:tile tx="0" ty="0" sx="100000" sy="100000" flip="none" algn="tl"/>
            </a:blip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6" name="Straight Connector 15"/>
            <p:cNvCxnSpPr>
              <a:stCxn id="18" idx="3"/>
              <a:endCxn id="29" idx="2"/>
            </p:cNvCxnSpPr>
            <p:nvPr/>
          </p:nvCxnSpPr>
          <p:spPr>
            <a:xfrm>
              <a:off x="6074561" y="4352254"/>
              <a:ext cx="159984" cy="5107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8" idx="3"/>
              <a:endCxn id="28" idx="2"/>
            </p:cNvCxnSpPr>
            <p:nvPr/>
          </p:nvCxnSpPr>
          <p:spPr>
            <a:xfrm flipH="1">
              <a:off x="5912471" y="4352254"/>
              <a:ext cx="162090" cy="5085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5417784" y="4343524"/>
              <a:ext cx="656777" cy="17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9" name="Straight Connector 18"/>
            <p:cNvCxnSpPr>
              <a:stCxn id="18" idx="1"/>
              <a:endCxn id="31" idx="2"/>
            </p:cNvCxnSpPr>
            <p:nvPr/>
          </p:nvCxnSpPr>
          <p:spPr>
            <a:xfrm flipH="1">
              <a:off x="5257800" y="4352254"/>
              <a:ext cx="159984" cy="5019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8" idx="1"/>
              <a:endCxn id="32" idx="2"/>
            </p:cNvCxnSpPr>
            <p:nvPr/>
          </p:nvCxnSpPr>
          <p:spPr>
            <a:xfrm>
              <a:off x="5417784" y="4352254"/>
              <a:ext cx="162088" cy="5041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rot="10800000">
              <a:off x="5622783" y="4191000"/>
              <a:ext cx="228114" cy="183416"/>
              <a:chOff x="2971800" y="2971800"/>
              <a:chExt cx="1073727" cy="464129"/>
            </a:xfrm>
            <a:solidFill>
              <a:srgbClr val="C0C0C0"/>
            </a:solidFill>
          </p:grpSpPr>
          <p:sp>
            <p:nvSpPr>
              <p:cNvPr id="25" name="Arc 24"/>
              <p:cNvSpPr/>
              <p:nvPr/>
            </p:nvSpPr>
            <p:spPr>
              <a:xfrm rot="10800000">
                <a:off x="2971800" y="2971800"/>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6" name="Arc 25"/>
              <p:cNvSpPr/>
              <p:nvPr/>
            </p:nvSpPr>
            <p:spPr>
              <a:xfrm rot="10800000" flipH="1">
                <a:off x="2978727" y="2978729"/>
                <a:ext cx="1066800" cy="457200"/>
              </a:xfrm>
              <a:prstGeom prst="arc">
                <a:avLst/>
              </a:prstGeom>
              <a:grpFill/>
              <a:ln>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cxnSp>
            <p:nvCxnSpPr>
              <p:cNvPr id="27" name="Straight Connector 26"/>
              <p:cNvCxnSpPr>
                <a:stCxn id="25" idx="2"/>
                <a:endCxn id="26" idx="2"/>
              </p:cNvCxnSpPr>
              <p:nvPr/>
            </p:nvCxnSpPr>
            <p:spPr>
              <a:xfrm>
                <a:off x="2971800" y="3200400"/>
                <a:ext cx="1073727" cy="6929"/>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4053" name="Group 21"/>
            <p:cNvGrpSpPr>
              <a:grpSpLocks/>
            </p:cNvGrpSpPr>
            <p:nvPr/>
          </p:nvGrpSpPr>
          <p:grpSpPr bwMode="auto">
            <a:xfrm>
              <a:off x="5728286" y="4238635"/>
              <a:ext cx="18059" cy="119221"/>
              <a:chOff x="1005840" y="2868234"/>
              <a:chExt cx="97154" cy="301685"/>
            </a:xfrm>
          </p:grpSpPr>
          <p:sp>
            <p:nvSpPr>
              <p:cNvPr id="23" name="Isosceles Triangle 22"/>
              <p:cNvSpPr/>
              <p:nvPr/>
            </p:nvSpPr>
            <p:spPr>
              <a:xfrm>
                <a:off x="1034118" y="2868561"/>
                <a:ext cx="45299" cy="259570"/>
              </a:xfrm>
              <a:prstGeom prst="triangl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4" name="Oval 23"/>
              <p:cNvSpPr/>
              <p:nvPr/>
            </p:nvSpPr>
            <p:spPr>
              <a:xfrm>
                <a:off x="1011468" y="3128131"/>
                <a:ext cx="90598" cy="4418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About the Presenter</a:t>
            </a:r>
            <a:endParaRPr lang="en-US" dirty="0"/>
          </a:p>
        </p:txBody>
      </p:sp>
      <p:sp>
        <p:nvSpPr>
          <p:cNvPr id="45058" name="Content Placeholder 2"/>
          <p:cNvSpPr>
            <a:spLocks noGrp="1"/>
          </p:cNvSpPr>
          <p:nvPr>
            <p:ph idx="1"/>
          </p:nvPr>
        </p:nvSpPr>
        <p:spPr>
          <a:xfrm>
            <a:off x="457200" y="2438400"/>
            <a:ext cx="8229600" cy="4038600"/>
          </a:xfrm>
        </p:spPr>
        <p:txBody>
          <a:bodyPr/>
          <a:lstStyle/>
          <a:p>
            <a:pPr eaLnBrk="1" hangingPunct="1">
              <a:lnSpc>
                <a:spcPct val="80000"/>
              </a:lnSpc>
            </a:pPr>
            <a:r>
              <a:rPr lang="en-US" sz="2000" smtClean="0"/>
              <a:t>Gerald Mulvey has a Ph. D. in atmospheric science. He has 30 + years of experience in industry and has coauthored a series of articles on ethics in meteorology which have been published in BAMS or accepted for publication.</a:t>
            </a:r>
            <a:r>
              <a:rPr lang="en-US" sz="2400" smtClean="0"/>
              <a:t> </a:t>
            </a:r>
          </a:p>
          <a:p>
            <a:pPr eaLnBrk="1">
              <a:lnSpc>
                <a:spcPct val="80000"/>
              </a:lnSpc>
            </a:pPr>
            <a:r>
              <a:rPr lang="en-US" sz="1800" smtClean="0"/>
              <a:t>Hill, J., and G. Mulvey, </a:t>
            </a:r>
            <a:r>
              <a:rPr lang="en-US" sz="1800" u="sng" smtClean="0"/>
              <a:t>AMS Resources and Guidance for Ethics and Professional Conduct</a:t>
            </a:r>
            <a:r>
              <a:rPr lang="en-US" sz="1800" smtClean="0"/>
              <a:t>, accepted for publication in the Bulletin of the American Meteorological Society 2012</a:t>
            </a:r>
          </a:p>
          <a:p>
            <a:pPr eaLnBrk="1">
              <a:lnSpc>
                <a:spcPct val="80000"/>
              </a:lnSpc>
            </a:pPr>
            <a:r>
              <a:rPr lang="en-US" sz="1800" smtClean="0"/>
              <a:t>Mulvey, G. and J. Hill, </a:t>
            </a:r>
            <a:r>
              <a:rPr lang="en-US" sz="1800" u="sng" smtClean="0"/>
              <a:t>International Business and Meteorology: Special Ethical Dilemmas</a:t>
            </a:r>
            <a:r>
              <a:rPr lang="en-US" sz="1800" smtClean="0"/>
              <a:t>, accepted for publication in the November 2012 issue of the Bulletin of the American Meteorological Society</a:t>
            </a:r>
          </a:p>
          <a:p>
            <a:pPr eaLnBrk="1">
              <a:lnSpc>
                <a:spcPct val="80000"/>
              </a:lnSpc>
            </a:pPr>
            <a:r>
              <a:rPr lang="en-US" sz="1800" smtClean="0"/>
              <a:t>Hill, J., and G. Mulvey, 2012, </a:t>
            </a:r>
            <a:r>
              <a:rPr lang="en-US" sz="1800" u="sng" smtClean="0"/>
              <a:t>The Ethics of Defining a Meteorologist: Who is a Meteorologist</a:t>
            </a:r>
            <a:r>
              <a:rPr lang="en-US" sz="1800" smtClean="0"/>
              <a:t>, Bulletin of the American Meteorological Society, Vol. 93, no 7, pp.1080-1082</a:t>
            </a:r>
          </a:p>
          <a:p>
            <a:pPr eaLnBrk="1">
              <a:lnSpc>
                <a:spcPct val="80000"/>
              </a:lnSpc>
            </a:pPr>
            <a:r>
              <a:rPr lang="en-US" sz="1800" smtClean="0"/>
              <a:t>Hill, J., and G. Mulvey, 2012, </a:t>
            </a:r>
            <a:r>
              <a:rPr lang="en-US" sz="1800" u="sng" smtClean="0"/>
              <a:t>Business Ethics for Professional Meteorology: Expectations and Satisfied Customers,</a:t>
            </a:r>
            <a:r>
              <a:rPr lang="en-US" sz="1800" smtClean="0"/>
              <a:t> Bulletin of the American Meteorological Society, Vol.93, no 6, pp.889-891</a:t>
            </a:r>
            <a:endParaRPr lang="en-US" sz="2400" smtClean="0"/>
          </a:p>
        </p:txBody>
      </p:sp>
      <p:sp>
        <p:nvSpPr>
          <p:cNvPr id="4" name="Date Placeholder 3"/>
          <p:cNvSpPr>
            <a:spLocks noGrp="1"/>
          </p:cNvSpPr>
          <p:nvPr>
            <p:ph type="dt" sz="quarter" idx="10"/>
          </p:nvPr>
        </p:nvSpPr>
        <p:spPr/>
        <p:txBody>
          <a:bodyPr/>
          <a:lstStyle/>
          <a:p>
            <a:pPr>
              <a:defRPr/>
            </a:pPr>
            <a:r>
              <a:rPr lang="en-US"/>
              <a:t>10/15/2012</a:t>
            </a:r>
          </a:p>
        </p:txBody>
      </p:sp>
      <p:sp>
        <p:nvSpPr>
          <p:cNvPr id="6" name="Slide Number Placeholder 5"/>
          <p:cNvSpPr>
            <a:spLocks noGrp="1"/>
          </p:cNvSpPr>
          <p:nvPr>
            <p:ph type="sldNum" sz="quarter" idx="11"/>
          </p:nvPr>
        </p:nvSpPr>
        <p:spPr/>
        <p:txBody>
          <a:bodyPr/>
          <a:lstStyle/>
          <a:p>
            <a:pPr>
              <a:defRPr/>
            </a:pPr>
            <a:fld id="{813BFC55-B2E9-45D6-BA1F-C288D2722D71}" type="slidenum">
              <a:rPr lang="en-US"/>
              <a:pPr>
                <a:defRPr/>
              </a:pPr>
              <a:t>24</a:t>
            </a:fld>
            <a:endParaRPr lang="en-US"/>
          </a:p>
        </p:txBody>
      </p:sp>
      <p:pic>
        <p:nvPicPr>
          <p:cNvPr id="45061" name="Picture 6"/>
          <p:cNvPicPr>
            <a:picLocks noChangeArrowheads="1"/>
          </p:cNvPicPr>
          <p:nvPr/>
        </p:nvPicPr>
        <p:blipFill>
          <a:blip r:embed="rId2"/>
          <a:srcRect/>
          <a:stretch>
            <a:fillRect/>
          </a:stretch>
        </p:blipFill>
        <p:spPr bwMode="auto">
          <a:xfrm>
            <a:off x="228600" y="212725"/>
            <a:ext cx="1154113" cy="1387475"/>
          </a:xfrm>
          <a:prstGeom prst="rect">
            <a:avLst/>
          </a:prstGeom>
          <a:noFill/>
          <a:ln w="9525">
            <a:noFill/>
            <a:miter lim="800000"/>
            <a:headEnd/>
            <a:tailEnd/>
          </a:ln>
        </p:spPr>
      </p:pic>
      <p:pic>
        <p:nvPicPr>
          <p:cNvPr id="45062" name="Picture 10" descr="ccm"/>
          <p:cNvPicPr>
            <a:picLocks noChangeAspect="1" noChangeArrowheads="1"/>
          </p:cNvPicPr>
          <p:nvPr/>
        </p:nvPicPr>
        <p:blipFill>
          <a:blip r:embed="rId3"/>
          <a:srcRect/>
          <a:stretch>
            <a:fillRect/>
          </a:stretch>
        </p:blipFill>
        <p:spPr bwMode="auto">
          <a:xfrm>
            <a:off x="3733800" y="1219200"/>
            <a:ext cx="1676400" cy="1063625"/>
          </a:xfrm>
          <a:prstGeom prst="rect">
            <a:avLst/>
          </a:prstGeom>
          <a:noFill/>
          <a:ln w="9525">
            <a:noFill/>
            <a:miter lim="800000"/>
            <a:headEnd/>
            <a:tailEnd/>
          </a:ln>
        </p:spPr>
      </p:pic>
      <p:pic>
        <p:nvPicPr>
          <p:cNvPr id="45063" name="Picture 12" descr="Enter your slogan here">
            <a:hlinkClick r:id="rId4" tooltip="Enter your slogan here"/>
          </p:cNvPr>
          <p:cNvPicPr>
            <a:picLocks noChangeAspect="1" noChangeArrowheads="1"/>
          </p:cNvPicPr>
          <p:nvPr/>
        </p:nvPicPr>
        <p:blipFill>
          <a:blip r:embed="rId5"/>
          <a:srcRect/>
          <a:stretch>
            <a:fillRect/>
          </a:stretch>
        </p:blipFill>
        <p:spPr bwMode="auto">
          <a:xfrm>
            <a:off x="5772150" y="1219200"/>
            <a:ext cx="1295400" cy="1079500"/>
          </a:xfrm>
          <a:prstGeom prst="rect">
            <a:avLst/>
          </a:prstGeom>
          <a:noFill/>
          <a:ln w="9525">
            <a:noFill/>
            <a:miter lim="800000"/>
            <a:headEnd/>
            <a:tailEnd/>
          </a:ln>
        </p:spPr>
      </p:pic>
      <p:pic>
        <p:nvPicPr>
          <p:cNvPr id="45064" name="Picture 13" descr="AMS seal"/>
          <p:cNvPicPr>
            <a:picLocks noChangeAspect="1" noChangeArrowheads="1"/>
          </p:cNvPicPr>
          <p:nvPr/>
        </p:nvPicPr>
        <p:blipFill>
          <a:blip r:embed="rId6"/>
          <a:srcRect/>
          <a:stretch>
            <a:fillRect/>
          </a:stretch>
        </p:blipFill>
        <p:spPr bwMode="auto">
          <a:xfrm>
            <a:off x="2209800" y="1219200"/>
            <a:ext cx="1066800" cy="1066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875</TotalTime>
  <Words>3047</Words>
  <Application>Microsoft Office PowerPoint</Application>
  <PresentationFormat>On-screen Show (4:3)</PresentationFormat>
  <Paragraphs>334</Paragraphs>
  <Slides>24</Slides>
  <Notes>7</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Apex</vt:lpstr>
      <vt:lpstr>PowerPoint Presentation</vt:lpstr>
      <vt:lpstr>Agenda</vt:lpstr>
      <vt:lpstr>Background</vt:lpstr>
      <vt:lpstr>Common Elements</vt:lpstr>
      <vt:lpstr>Cross Comparison Of Ethical Principals</vt:lpstr>
      <vt:lpstr>Academia / Research: An example</vt:lpstr>
      <vt:lpstr>Academia / Research: An example</vt:lpstr>
      <vt:lpstr>Academia / Research</vt:lpstr>
      <vt:lpstr>Academia / Research</vt:lpstr>
      <vt:lpstr>Government: An example</vt:lpstr>
      <vt:lpstr>Government: An example</vt:lpstr>
      <vt:lpstr>Government</vt:lpstr>
      <vt:lpstr>Government</vt:lpstr>
      <vt:lpstr>Commercial: An example</vt:lpstr>
      <vt:lpstr>Commercial: An example</vt:lpstr>
      <vt:lpstr>Commercial</vt:lpstr>
      <vt:lpstr>Commercial</vt:lpstr>
      <vt:lpstr>Forensic Meteorology: An example</vt:lpstr>
      <vt:lpstr>Forensic Meteorology: An example</vt:lpstr>
      <vt:lpstr>Forensic Meteorology</vt:lpstr>
      <vt:lpstr>Forensic Meteorology</vt:lpstr>
      <vt:lpstr>Summary</vt:lpstr>
      <vt:lpstr>References</vt:lpstr>
      <vt:lpstr>About the Presenter</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Ethics in Meteorology Gerald Mulvey, CCM #571</dc:title>
  <dc:creator>Gerry</dc:creator>
  <cp:lastModifiedBy>bmardirosian</cp:lastModifiedBy>
  <cp:revision>68</cp:revision>
  <dcterms:created xsi:type="dcterms:W3CDTF">2012-08-14T19:19:43Z</dcterms:created>
  <dcterms:modified xsi:type="dcterms:W3CDTF">2012-11-01T14:52:08Z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