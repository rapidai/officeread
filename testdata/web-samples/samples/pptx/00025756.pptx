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7" r:id="rId2"/>
    <p:sldId id="285" r:id="rId3"/>
    <p:sldId id="268" r:id="rId4"/>
    <p:sldId id="269" r:id="rId5"/>
    <p:sldId id="277" r:id="rId6"/>
    <p:sldId id="280" r:id="rId7"/>
    <p:sldId id="270" r:id="rId8"/>
    <p:sldId id="274" r:id="rId9"/>
    <p:sldId id="275" r:id="rId10"/>
    <p:sldId id="282" r:id="rId11"/>
    <p:sldId id="281" r:id="rId12"/>
    <p:sldId id="283" r:id="rId13"/>
    <p:sldId id="261" r:id="rId14"/>
    <p:sldId id="262" r:id="rId15"/>
    <p:sldId id="284" r:id="rId16"/>
    <p:sldId id="263" r:id="rId17"/>
    <p:sldId id="265" r:id="rId18"/>
    <p:sldId id="264" r:id="rId19"/>
    <p:sldId id="276" r:id="rId20"/>
  </p:sldIdLst>
  <p:sldSz cx="9144000" cy="6858000" type="screen4x3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celenza" initials="" lastIdx="5" clrIdx="0"/>
  <p:cmAuthor id="1" name="Gosia Zobel" initials="" lastIdx="15" clrIdx="1"/>
  <p:cmAuthor id="2" name="Isabelle" initials="I" lastIdx="1" clrIdx="2"/>
  <p:cmAuthor id="3" name="fcelenza" initials="f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695" autoAdjust="0"/>
    <p:restoredTop sz="99869" autoAdjust="0"/>
  </p:normalViewPr>
  <p:slideViewPr>
    <p:cSldViewPr snapToObjects="1">
      <p:cViewPr>
        <p:scale>
          <a:sx n="78" d="100"/>
          <a:sy n="78" d="100"/>
        </p:scale>
        <p:origin x="-2658" y="-9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64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>
        <p:scale>
          <a:sx n="100" d="100"/>
          <a:sy n="100" d="100"/>
        </p:scale>
        <p:origin x="-1980" y="1932"/>
      </p:cViewPr>
      <p:guideLst>
        <p:guide orient="horz" pos="2928"/>
        <p:guide pos="220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065A6-E6B7-6149-B221-EB2EEA1BD3B7}" type="doc">
      <dgm:prSet loTypeId="urn:microsoft.com/office/officeart/2005/8/layout/radial4" loCatId="relationship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4784AE5-468A-5542-96D8-146E23134C61}">
      <dgm:prSet phldrT="[Text]"/>
      <dgm:spPr>
        <a:solidFill>
          <a:schemeClr val="accent1">
            <a:lumMod val="75000"/>
          </a:schemeClr>
        </a:solidFill>
        <a:effectLst/>
      </dgm:spPr>
      <dgm:t>
        <a:bodyPr lIns="0" tIns="0" rIns="0" bIns="93600"/>
        <a:lstStyle/>
        <a:p>
          <a:r>
            <a:rPr lang="fr-FR" b="1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Bien-être de l’animal</a:t>
          </a:r>
          <a:endParaRPr lang="fr-FR" b="1" noProof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C127665-9E37-D549-BE6C-22E1E4E82C4E}" type="parTrans" cxnId="{9DC04F2B-364F-284D-A9CC-94758D9817C5}">
      <dgm:prSet/>
      <dgm:spPr/>
      <dgm:t>
        <a:bodyPr/>
        <a:lstStyle/>
        <a:p>
          <a:endParaRPr lang="en-US"/>
        </a:p>
      </dgm:t>
    </dgm:pt>
    <dgm:pt modelId="{20AAF101-2F9D-3245-BF05-B9E24B09273A}" type="sibTrans" cxnId="{9DC04F2B-364F-284D-A9CC-94758D9817C5}">
      <dgm:prSet/>
      <dgm:spPr/>
      <dgm:t>
        <a:bodyPr/>
        <a:lstStyle/>
        <a:p>
          <a:endParaRPr lang="en-US"/>
        </a:p>
      </dgm:t>
    </dgm:pt>
    <dgm:pt modelId="{FCD2EFF7-27D4-CE41-A50C-C08B59AFDC81}">
      <dgm:prSet phldrT="[Text]" custT="1"/>
      <dgm:spPr>
        <a:solidFill>
          <a:schemeClr val="accent1">
            <a:lumMod val="60000"/>
            <a:lumOff val="40000"/>
          </a:schemeClr>
        </a:solidFill>
        <a:effectLst/>
      </dgm:spPr>
      <dgm:t>
        <a:bodyPr/>
        <a:lstStyle/>
        <a:p>
          <a:r>
            <a:rPr lang="fr-FR" sz="2200" b="1" noProof="0" dirty="0" smtClean="0">
              <a:solidFill>
                <a:srgbClr val="000000"/>
              </a:solidFill>
            </a:rPr>
            <a:t>Interface dispositif-animal</a:t>
          </a:r>
        </a:p>
        <a:p>
          <a:r>
            <a:rPr lang="fr-FR" sz="1800" b="0" noProof="0" dirty="0" smtClean="0">
              <a:solidFill>
                <a:schemeClr val="bg1"/>
              </a:solidFill>
            </a:rPr>
            <a:t>(p.ex. communication avec le dispositif)</a:t>
          </a:r>
          <a:endParaRPr lang="fr-FR" sz="1800" b="0" noProof="0" dirty="0">
            <a:solidFill>
              <a:schemeClr val="bg1"/>
            </a:solidFill>
          </a:endParaRPr>
        </a:p>
      </dgm:t>
    </dgm:pt>
    <dgm:pt modelId="{079E6026-14E0-6040-8D58-9A39ECAC1F9D}" type="parTrans" cxnId="{BC58B1F5-F9EF-2B4D-8769-262E437807E9}">
      <dgm:prSet/>
      <dgm:spPr>
        <a:effectLst/>
      </dgm:spPr>
      <dgm:t>
        <a:bodyPr/>
        <a:lstStyle/>
        <a:p>
          <a:endParaRPr lang="en-US" dirty="0"/>
        </a:p>
      </dgm:t>
    </dgm:pt>
    <dgm:pt modelId="{1283ECC3-3038-9149-AF64-58917C0AC6ED}" type="sibTrans" cxnId="{BC58B1F5-F9EF-2B4D-8769-262E437807E9}">
      <dgm:prSet/>
      <dgm:spPr/>
      <dgm:t>
        <a:bodyPr/>
        <a:lstStyle/>
        <a:p>
          <a:endParaRPr lang="en-US"/>
        </a:p>
      </dgm:t>
    </dgm:pt>
    <dgm:pt modelId="{B88E2C70-2C7B-6241-9286-7255464828F4}">
      <dgm:prSet phldrT="[Text]" custT="1"/>
      <dgm:spPr>
        <a:solidFill>
          <a:schemeClr val="accent1">
            <a:lumMod val="60000"/>
            <a:lumOff val="40000"/>
          </a:schemeClr>
        </a:solidFill>
        <a:effectLst/>
      </dgm:spPr>
      <dgm:t>
        <a:bodyPr/>
        <a:lstStyle/>
        <a:p>
          <a:r>
            <a:rPr lang="fr-FR" sz="2200" b="1" noProof="0" dirty="0" smtClean="0">
              <a:solidFill>
                <a:srgbClr val="000000"/>
              </a:solidFill>
              <a:ea typeface="ＭＳ Ｐゴシック" pitchFamily="-65" charset="-128"/>
              <a:cs typeface="ＭＳ Ｐゴシック" pitchFamily="-65" charset="-128"/>
            </a:rPr>
            <a:t>Effet du dispositif</a:t>
          </a:r>
        </a:p>
        <a:p>
          <a:r>
            <a:rPr lang="fr-FR" sz="1800" b="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défaillance)</a:t>
          </a:r>
        </a:p>
      </dgm:t>
    </dgm:pt>
    <dgm:pt modelId="{25E434C0-CB49-8841-800A-E090D5EE4201}" type="parTrans" cxnId="{71FB7D50-FD45-7F44-A1E3-432A5C5878C0}">
      <dgm:prSet/>
      <dgm:spPr>
        <a:effectLst/>
      </dgm:spPr>
      <dgm:t>
        <a:bodyPr/>
        <a:lstStyle/>
        <a:p>
          <a:endParaRPr lang="en-US" dirty="0"/>
        </a:p>
      </dgm:t>
    </dgm:pt>
    <dgm:pt modelId="{ADDEF881-4264-7F49-8D69-FD106E8686C6}" type="sibTrans" cxnId="{71FB7D50-FD45-7F44-A1E3-432A5C5878C0}">
      <dgm:prSet/>
      <dgm:spPr/>
      <dgm:t>
        <a:bodyPr/>
        <a:lstStyle/>
        <a:p>
          <a:endParaRPr lang="en-US"/>
        </a:p>
      </dgm:t>
    </dgm:pt>
    <dgm:pt modelId="{9AC913F5-5227-0A4A-9B7D-7924EF829E20}">
      <dgm:prSet phldrT="[Text]" custT="1"/>
      <dgm:spPr>
        <a:solidFill>
          <a:schemeClr val="accent1">
            <a:lumMod val="60000"/>
            <a:lumOff val="40000"/>
          </a:schemeClr>
        </a:solidFill>
        <a:effectLst/>
      </dgm:spPr>
      <dgm:t>
        <a:bodyPr/>
        <a:lstStyle/>
        <a:p>
          <a:r>
            <a:rPr lang="fr-FR" sz="2200" b="1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Déploiement du dispositif</a:t>
          </a:r>
        </a:p>
        <a:p>
          <a:r>
            <a:rPr lang="fr-FR" sz="1800" b="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installation à l’intérieur de l’animal)</a:t>
          </a:r>
          <a:endParaRPr lang="fr-FR" sz="1800" b="0" noProof="0" dirty="0">
            <a:solidFill>
              <a:schemeClr val="bg1"/>
            </a:solidFill>
          </a:endParaRPr>
        </a:p>
      </dgm:t>
    </dgm:pt>
    <dgm:pt modelId="{FA208BF3-3799-6740-8E1C-B86F5FE4672C}" type="parTrans" cxnId="{8E01CAC8-C1B3-AC48-A25E-DD9D82F6255B}">
      <dgm:prSet/>
      <dgm:spPr>
        <a:effectLst/>
      </dgm:spPr>
      <dgm:t>
        <a:bodyPr/>
        <a:lstStyle/>
        <a:p>
          <a:endParaRPr lang="en-US" dirty="0"/>
        </a:p>
      </dgm:t>
    </dgm:pt>
    <dgm:pt modelId="{B65CD660-FC3A-1647-804F-1C1D9A9815FC}" type="sibTrans" cxnId="{8E01CAC8-C1B3-AC48-A25E-DD9D82F6255B}">
      <dgm:prSet/>
      <dgm:spPr/>
      <dgm:t>
        <a:bodyPr/>
        <a:lstStyle/>
        <a:p>
          <a:endParaRPr lang="en-US"/>
        </a:p>
      </dgm:t>
    </dgm:pt>
    <dgm:pt modelId="{3DDBCD00-4373-CF43-BB5A-F768C750BAEE}">
      <dgm:prSet custT="1"/>
      <dgm:spPr>
        <a:solidFill>
          <a:schemeClr val="accent1">
            <a:lumMod val="60000"/>
            <a:lumOff val="40000"/>
          </a:schemeClr>
        </a:solidFill>
        <a:effectLst/>
      </dgm:spPr>
      <dgm:t>
        <a:bodyPr/>
        <a:lstStyle/>
        <a:p>
          <a:r>
            <a:rPr lang="fr-FR" sz="2200" b="1" noProof="0" dirty="0" smtClean="0">
              <a:solidFill>
                <a:srgbClr val="000000"/>
              </a:solidFill>
              <a:ea typeface="ＭＳ Ｐゴシック" pitchFamily="-65" charset="-128"/>
              <a:cs typeface="ＭＳ Ｐゴシック" pitchFamily="-65" charset="-128"/>
            </a:rPr>
            <a:t>Rendement du dispositif</a:t>
          </a:r>
        </a:p>
        <a:p>
          <a:r>
            <a:rPr lang="fr-FR" sz="1800" b="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collecte des données</a:t>
          </a:r>
          <a:r>
            <a:rPr lang="en-US" sz="1800" b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)</a:t>
          </a:r>
          <a:endParaRPr lang="en-US" sz="1800" b="0" dirty="0">
            <a:solidFill>
              <a:schemeClr val="bg1"/>
            </a:solidFill>
            <a:ea typeface="ＭＳ Ｐゴシック" pitchFamily="-65" charset="-128"/>
            <a:cs typeface="ＭＳ Ｐゴシック" pitchFamily="-65" charset="-128"/>
          </a:endParaRPr>
        </a:p>
      </dgm:t>
    </dgm:pt>
    <dgm:pt modelId="{58821964-1148-9341-8016-DD98DF39DDAC}" type="parTrans" cxnId="{43016B45-1FFE-1749-96CF-CA474D473117}">
      <dgm:prSet/>
      <dgm:spPr>
        <a:effectLst/>
      </dgm:spPr>
      <dgm:t>
        <a:bodyPr/>
        <a:lstStyle/>
        <a:p>
          <a:endParaRPr lang="en-US" dirty="0"/>
        </a:p>
      </dgm:t>
    </dgm:pt>
    <dgm:pt modelId="{A95E4FDB-6BFD-A449-A54E-156A0EB13B8B}" type="sibTrans" cxnId="{43016B45-1FFE-1749-96CF-CA474D473117}">
      <dgm:prSet/>
      <dgm:spPr/>
      <dgm:t>
        <a:bodyPr/>
        <a:lstStyle/>
        <a:p>
          <a:endParaRPr lang="en-US"/>
        </a:p>
      </dgm:t>
    </dgm:pt>
    <dgm:pt modelId="{66E7F984-24A9-434B-8F1F-05C5BE57FD5B}" type="pres">
      <dgm:prSet presAssocID="{A5B065A6-E6B7-6149-B221-EB2EEA1BD3B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26A17A-B449-EC4F-AFE8-35BFA518EF23}" type="pres">
      <dgm:prSet presAssocID="{64784AE5-468A-5542-96D8-146E23134C61}" presName="centerShape" presStyleLbl="node0" presStyleIdx="0" presStyleCnt="1" custLinFactNeighborX="2098" custLinFactNeighborY="22"/>
      <dgm:spPr/>
      <dgm:t>
        <a:bodyPr/>
        <a:lstStyle/>
        <a:p>
          <a:endParaRPr lang="en-US"/>
        </a:p>
      </dgm:t>
    </dgm:pt>
    <dgm:pt modelId="{17C5A7FB-6211-DF4A-ACA6-A9CDFC5E745B}" type="pres">
      <dgm:prSet presAssocID="{079E6026-14E0-6040-8D58-9A39ECAC1F9D}" presName="parTrans" presStyleLbl="bgSibTrans2D1" presStyleIdx="0" presStyleCnt="4" custScaleX="87271" custLinFactNeighborX="10451" custLinFactNeighborY="-9497"/>
      <dgm:spPr/>
      <dgm:t>
        <a:bodyPr/>
        <a:lstStyle/>
        <a:p>
          <a:endParaRPr lang="en-US"/>
        </a:p>
      </dgm:t>
    </dgm:pt>
    <dgm:pt modelId="{D14E341D-F2DC-2D42-8BD9-C5EA76EE42ED}" type="pres">
      <dgm:prSet presAssocID="{FCD2EFF7-27D4-CE41-A50C-C08B59AFDC81}" presName="node" presStyleLbl="node1" presStyleIdx="0" presStyleCnt="4" custScaleX="140380" custRadScaleRad="119747" custRadScaleInc="-41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C8B015-3C64-1D4E-A19A-748F5A78D413}" type="pres">
      <dgm:prSet presAssocID="{25E434C0-CB49-8841-800A-E090D5EE4201}" presName="parTrans" presStyleLbl="bgSibTrans2D1" presStyleIdx="1" presStyleCnt="4"/>
      <dgm:spPr/>
      <dgm:t>
        <a:bodyPr/>
        <a:lstStyle/>
        <a:p>
          <a:endParaRPr lang="en-US"/>
        </a:p>
      </dgm:t>
    </dgm:pt>
    <dgm:pt modelId="{09B4E4B7-5A6C-ED42-8BE5-FC70213A515B}" type="pres">
      <dgm:prSet presAssocID="{B88E2C70-2C7B-6241-9286-7255464828F4}" presName="node" presStyleLbl="node1" presStyleIdx="1" presStyleCnt="4" custScaleX="124672" custRadScaleRad="103033" custRadScaleInc="-74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A47652-228A-CE4B-B10E-7C615272B05E}" type="pres">
      <dgm:prSet presAssocID="{FA208BF3-3799-6740-8E1C-B86F5FE4672C}" presName="parTrans" presStyleLbl="bgSibTrans2D1" presStyleIdx="2" presStyleCnt="4"/>
      <dgm:spPr/>
      <dgm:t>
        <a:bodyPr/>
        <a:lstStyle/>
        <a:p>
          <a:endParaRPr lang="en-US"/>
        </a:p>
      </dgm:t>
    </dgm:pt>
    <dgm:pt modelId="{C2EBB43C-C30E-834C-88AD-CC838B8B793B}" type="pres">
      <dgm:prSet presAssocID="{9AC913F5-5227-0A4A-9B7D-7924EF829E20}" presName="node" presStyleLbl="node1" presStyleIdx="2" presStyleCnt="4" custScaleX="127854" custRadScaleRad="107041" custRadScaleInc="157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6EF2AF-C7A3-B240-861B-ACC5A8E7E7E8}" type="pres">
      <dgm:prSet presAssocID="{58821964-1148-9341-8016-DD98DF39DDAC}" presName="parTrans" presStyleLbl="bgSibTrans2D1" presStyleIdx="3" presStyleCnt="4" custScaleX="109784"/>
      <dgm:spPr/>
      <dgm:t>
        <a:bodyPr/>
        <a:lstStyle/>
        <a:p>
          <a:endParaRPr lang="en-US"/>
        </a:p>
      </dgm:t>
    </dgm:pt>
    <dgm:pt modelId="{FAE6D27B-F37D-1842-A611-A6203890EEEB}" type="pres">
      <dgm:prSet presAssocID="{3DDBCD00-4373-CF43-BB5A-F768C750BAEE}" presName="node" presStyleLbl="node1" presStyleIdx="3" presStyleCnt="4" custScaleX="130152" custRadScaleRad="119747" custRadScaleInc="41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EB42CB-3027-2A4F-A2B6-1295DC242F18}" type="presOf" srcId="{B88E2C70-2C7B-6241-9286-7255464828F4}" destId="{09B4E4B7-5A6C-ED42-8BE5-FC70213A515B}" srcOrd="0" destOrd="0" presId="urn:microsoft.com/office/officeart/2005/8/layout/radial4"/>
    <dgm:cxn modelId="{43016B45-1FFE-1749-96CF-CA474D473117}" srcId="{64784AE5-468A-5542-96D8-146E23134C61}" destId="{3DDBCD00-4373-CF43-BB5A-F768C750BAEE}" srcOrd="3" destOrd="0" parTransId="{58821964-1148-9341-8016-DD98DF39DDAC}" sibTransId="{A95E4FDB-6BFD-A449-A54E-156A0EB13B8B}"/>
    <dgm:cxn modelId="{65A21B6A-D866-7942-BF5C-E4B1CCC47D5F}" type="presOf" srcId="{64784AE5-468A-5542-96D8-146E23134C61}" destId="{E726A17A-B449-EC4F-AFE8-35BFA518EF23}" srcOrd="0" destOrd="0" presId="urn:microsoft.com/office/officeart/2005/8/layout/radial4"/>
    <dgm:cxn modelId="{F9227E74-4972-214E-A022-4C08F609FA13}" type="presOf" srcId="{9AC913F5-5227-0A4A-9B7D-7924EF829E20}" destId="{C2EBB43C-C30E-834C-88AD-CC838B8B793B}" srcOrd="0" destOrd="0" presId="urn:microsoft.com/office/officeart/2005/8/layout/radial4"/>
    <dgm:cxn modelId="{8E01CAC8-C1B3-AC48-A25E-DD9D82F6255B}" srcId="{64784AE5-468A-5542-96D8-146E23134C61}" destId="{9AC913F5-5227-0A4A-9B7D-7924EF829E20}" srcOrd="2" destOrd="0" parTransId="{FA208BF3-3799-6740-8E1C-B86F5FE4672C}" sibTransId="{B65CD660-FC3A-1647-804F-1C1D9A9815FC}"/>
    <dgm:cxn modelId="{CA245DB3-DA68-CD44-B1CD-D42950AB318D}" type="presOf" srcId="{25E434C0-CB49-8841-800A-E090D5EE4201}" destId="{E5C8B015-3C64-1D4E-A19A-748F5A78D413}" srcOrd="0" destOrd="0" presId="urn:microsoft.com/office/officeart/2005/8/layout/radial4"/>
    <dgm:cxn modelId="{08FB30D6-A561-D347-8338-07D6297DE691}" type="presOf" srcId="{A5B065A6-E6B7-6149-B221-EB2EEA1BD3B7}" destId="{66E7F984-24A9-434B-8F1F-05C5BE57FD5B}" srcOrd="0" destOrd="0" presId="urn:microsoft.com/office/officeart/2005/8/layout/radial4"/>
    <dgm:cxn modelId="{F372087F-1889-7C49-B10C-8187E2402598}" type="presOf" srcId="{58821964-1148-9341-8016-DD98DF39DDAC}" destId="{456EF2AF-C7A3-B240-861B-ACC5A8E7E7E8}" srcOrd="0" destOrd="0" presId="urn:microsoft.com/office/officeart/2005/8/layout/radial4"/>
    <dgm:cxn modelId="{1C4E8684-0CAC-D94C-AA64-E9F517829A09}" type="presOf" srcId="{FA208BF3-3799-6740-8E1C-B86F5FE4672C}" destId="{21A47652-228A-CE4B-B10E-7C615272B05E}" srcOrd="0" destOrd="0" presId="urn:microsoft.com/office/officeart/2005/8/layout/radial4"/>
    <dgm:cxn modelId="{9DC04F2B-364F-284D-A9CC-94758D9817C5}" srcId="{A5B065A6-E6B7-6149-B221-EB2EEA1BD3B7}" destId="{64784AE5-468A-5542-96D8-146E23134C61}" srcOrd="0" destOrd="0" parTransId="{7C127665-9E37-D549-BE6C-22E1E4E82C4E}" sibTransId="{20AAF101-2F9D-3245-BF05-B9E24B09273A}"/>
    <dgm:cxn modelId="{71FB7D50-FD45-7F44-A1E3-432A5C5878C0}" srcId="{64784AE5-468A-5542-96D8-146E23134C61}" destId="{B88E2C70-2C7B-6241-9286-7255464828F4}" srcOrd="1" destOrd="0" parTransId="{25E434C0-CB49-8841-800A-E090D5EE4201}" sibTransId="{ADDEF881-4264-7F49-8D69-FD106E8686C6}"/>
    <dgm:cxn modelId="{049C850D-1764-114D-89F5-EF90AE039AA7}" type="presOf" srcId="{FCD2EFF7-27D4-CE41-A50C-C08B59AFDC81}" destId="{D14E341D-F2DC-2D42-8BD9-C5EA76EE42ED}" srcOrd="0" destOrd="0" presId="urn:microsoft.com/office/officeart/2005/8/layout/radial4"/>
    <dgm:cxn modelId="{6B1F36FB-71AB-7D41-A5BF-497AB1FA9C60}" type="presOf" srcId="{079E6026-14E0-6040-8D58-9A39ECAC1F9D}" destId="{17C5A7FB-6211-DF4A-ACA6-A9CDFC5E745B}" srcOrd="0" destOrd="0" presId="urn:microsoft.com/office/officeart/2005/8/layout/radial4"/>
    <dgm:cxn modelId="{BC58B1F5-F9EF-2B4D-8769-262E437807E9}" srcId="{64784AE5-468A-5542-96D8-146E23134C61}" destId="{FCD2EFF7-27D4-CE41-A50C-C08B59AFDC81}" srcOrd="0" destOrd="0" parTransId="{079E6026-14E0-6040-8D58-9A39ECAC1F9D}" sibTransId="{1283ECC3-3038-9149-AF64-58917C0AC6ED}"/>
    <dgm:cxn modelId="{30567485-A3A2-714D-89FC-B0A615D6CA27}" type="presOf" srcId="{3DDBCD00-4373-CF43-BB5A-F768C750BAEE}" destId="{FAE6D27B-F37D-1842-A611-A6203890EEEB}" srcOrd="0" destOrd="0" presId="urn:microsoft.com/office/officeart/2005/8/layout/radial4"/>
    <dgm:cxn modelId="{AD4DCB3A-BF2D-9E41-B9D0-D58EE22D7731}" type="presParOf" srcId="{66E7F984-24A9-434B-8F1F-05C5BE57FD5B}" destId="{E726A17A-B449-EC4F-AFE8-35BFA518EF23}" srcOrd="0" destOrd="0" presId="urn:microsoft.com/office/officeart/2005/8/layout/radial4"/>
    <dgm:cxn modelId="{58AA58D2-59FD-204B-B79D-0F632759DBAE}" type="presParOf" srcId="{66E7F984-24A9-434B-8F1F-05C5BE57FD5B}" destId="{17C5A7FB-6211-DF4A-ACA6-A9CDFC5E745B}" srcOrd="1" destOrd="0" presId="urn:microsoft.com/office/officeart/2005/8/layout/radial4"/>
    <dgm:cxn modelId="{DDFADB3A-E548-1142-8775-FD228365B19B}" type="presParOf" srcId="{66E7F984-24A9-434B-8F1F-05C5BE57FD5B}" destId="{D14E341D-F2DC-2D42-8BD9-C5EA76EE42ED}" srcOrd="2" destOrd="0" presId="urn:microsoft.com/office/officeart/2005/8/layout/radial4"/>
    <dgm:cxn modelId="{0E9FBB0F-383A-D94A-94A8-D644954372D7}" type="presParOf" srcId="{66E7F984-24A9-434B-8F1F-05C5BE57FD5B}" destId="{E5C8B015-3C64-1D4E-A19A-748F5A78D413}" srcOrd="3" destOrd="0" presId="urn:microsoft.com/office/officeart/2005/8/layout/radial4"/>
    <dgm:cxn modelId="{8E147BAF-4109-4E4A-A5A4-F15471DA7DE2}" type="presParOf" srcId="{66E7F984-24A9-434B-8F1F-05C5BE57FD5B}" destId="{09B4E4B7-5A6C-ED42-8BE5-FC70213A515B}" srcOrd="4" destOrd="0" presId="urn:microsoft.com/office/officeart/2005/8/layout/radial4"/>
    <dgm:cxn modelId="{C743BE2C-0183-DE44-9E38-5843359E8ED5}" type="presParOf" srcId="{66E7F984-24A9-434B-8F1F-05C5BE57FD5B}" destId="{21A47652-228A-CE4B-B10E-7C615272B05E}" srcOrd="5" destOrd="0" presId="urn:microsoft.com/office/officeart/2005/8/layout/radial4"/>
    <dgm:cxn modelId="{8FC9CB2D-5334-284D-ACA9-60318A68CBCE}" type="presParOf" srcId="{66E7F984-24A9-434B-8F1F-05C5BE57FD5B}" destId="{C2EBB43C-C30E-834C-88AD-CC838B8B793B}" srcOrd="6" destOrd="0" presId="urn:microsoft.com/office/officeart/2005/8/layout/radial4"/>
    <dgm:cxn modelId="{98419A5A-B1F9-0E40-AEFB-F11CD38B6E37}" type="presParOf" srcId="{66E7F984-24A9-434B-8F1F-05C5BE57FD5B}" destId="{456EF2AF-C7A3-B240-861B-ACC5A8E7E7E8}" srcOrd="7" destOrd="0" presId="urn:microsoft.com/office/officeart/2005/8/layout/radial4"/>
    <dgm:cxn modelId="{58F36300-2ACB-664B-93AE-AFA24DAB2CA9}" type="presParOf" srcId="{66E7F984-24A9-434B-8F1F-05C5BE57FD5B}" destId="{FAE6D27B-F37D-1842-A611-A6203890EEEB}" srcOrd="8" destOrd="0" presId="urn:microsoft.com/office/officeart/2005/8/layout/radial4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726A17A-B449-EC4F-AFE8-35BFA518EF23}">
      <dsp:nvSpPr>
        <dsp:cNvPr id="0" name=""/>
        <dsp:cNvSpPr/>
      </dsp:nvSpPr>
      <dsp:spPr>
        <a:xfrm>
          <a:off x="3328986" y="2026078"/>
          <a:ext cx="1931538" cy="1931538"/>
        </a:xfrm>
        <a:prstGeom prst="ellipse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9360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900" b="1" kern="1200" noProof="0" dirty="0" smtClean="0"/>
            <a:t>Bien-être de l’animal</a:t>
          </a:r>
          <a:endParaRPr lang="fr-FR" sz="2900" b="1" kern="1200" noProof="0" dirty="0"/>
        </a:p>
      </dsp:txBody>
      <dsp:txXfrm>
        <a:off x="3328986" y="2026078"/>
        <a:ext cx="1931538" cy="1931538"/>
      </dsp:txXfrm>
    </dsp:sp>
    <dsp:sp modelId="{17C5A7FB-6211-DF4A-ACA6-A9CDFC5E745B}">
      <dsp:nvSpPr>
        <dsp:cNvPr id="0" name=""/>
        <dsp:cNvSpPr/>
      </dsp:nvSpPr>
      <dsp:spPr>
        <a:xfrm rot="11562754">
          <a:off x="1599786" y="2206098"/>
          <a:ext cx="1745569" cy="55048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tint val="60000"/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tint val="60000"/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4E341D-F2DC-2D42-8BD9-C5EA76EE42ED}">
      <dsp:nvSpPr>
        <dsp:cNvPr id="0" name=""/>
        <dsp:cNvSpPr/>
      </dsp:nvSpPr>
      <dsp:spPr>
        <a:xfrm>
          <a:off x="3" y="1579559"/>
          <a:ext cx="2575918" cy="146796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noProof="0" dirty="0" smtClean="0">
              <a:solidFill>
                <a:srgbClr val="000000"/>
              </a:solidFill>
            </a:rPr>
            <a:t>Interface dispositif-animal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noProof="0" dirty="0" smtClean="0">
              <a:solidFill>
                <a:schemeClr val="bg1"/>
              </a:solidFill>
            </a:rPr>
            <a:t>(p.ex. communication avec le dispositif)</a:t>
          </a:r>
          <a:endParaRPr lang="fr-FR" sz="1800" b="0" kern="1200" noProof="0" dirty="0">
            <a:solidFill>
              <a:schemeClr val="bg1"/>
            </a:solidFill>
          </a:endParaRPr>
        </a:p>
      </dsp:txBody>
      <dsp:txXfrm>
        <a:off x="3" y="1579559"/>
        <a:ext cx="2575918" cy="1467969"/>
      </dsp:txXfrm>
    </dsp:sp>
    <dsp:sp modelId="{E5C8B015-3C64-1D4E-A19A-748F5A78D413}">
      <dsp:nvSpPr>
        <dsp:cNvPr id="0" name=""/>
        <dsp:cNvSpPr/>
      </dsp:nvSpPr>
      <dsp:spPr>
        <a:xfrm rot="14378887">
          <a:off x="2586783" y="1131799"/>
          <a:ext cx="1559923" cy="55048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tint val="60000"/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tint val="60000"/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B4E4B7-5A6C-ED42-8BE5-FC70213A515B}">
      <dsp:nvSpPr>
        <dsp:cNvPr id="0" name=""/>
        <dsp:cNvSpPr/>
      </dsp:nvSpPr>
      <dsp:spPr>
        <a:xfrm>
          <a:off x="1828781" y="0"/>
          <a:ext cx="2287683" cy="146796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noProof="0" dirty="0" smtClean="0">
              <a:solidFill>
                <a:srgbClr val="000000"/>
              </a:solidFill>
              <a:ea typeface="ＭＳ Ｐゴシック" pitchFamily="-65" charset="-128"/>
              <a:cs typeface="ＭＳ Ｐゴシック" pitchFamily="-65" charset="-128"/>
            </a:rPr>
            <a:t>Effet du dispositif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défaillance)</a:t>
          </a:r>
        </a:p>
      </dsp:txBody>
      <dsp:txXfrm>
        <a:off x="1828781" y="0"/>
        <a:ext cx="2287683" cy="1467969"/>
      </dsp:txXfrm>
    </dsp:sp>
    <dsp:sp modelId="{21A47652-228A-CE4B-B10E-7C615272B05E}">
      <dsp:nvSpPr>
        <dsp:cNvPr id="0" name=""/>
        <dsp:cNvSpPr/>
      </dsp:nvSpPr>
      <dsp:spPr>
        <a:xfrm rot="18008825">
          <a:off x="4438265" y="1130977"/>
          <a:ext cx="1554775" cy="55048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tint val="60000"/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tint val="60000"/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EBB43C-C30E-834C-88AD-CC838B8B793B}">
      <dsp:nvSpPr>
        <dsp:cNvPr id="0" name=""/>
        <dsp:cNvSpPr/>
      </dsp:nvSpPr>
      <dsp:spPr>
        <a:xfrm>
          <a:off x="4433037" y="0"/>
          <a:ext cx="2346071" cy="146796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Déploiement du dispositif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installation à l’intérieur de l’animal)</a:t>
          </a:r>
          <a:endParaRPr lang="fr-FR" sz="1800" b="0" kern="1200" noProof="0" dirty="0">
            <a:solidFill>
              <a:schemeClr val="bg1"/>
            </a:solidFill>
          </a:endParaRPr>
        </a:p>
      </dsp:txBody>
      <dsp:txXfrm>
        <a:off x="4433037" y="0"/>
        <a:ext cx="2346071" cy="1467969"/>
      </dsp:txXfrm>
    </dsp:sp>
    <dsp:sp modelId="{456EF2AF-C7A3-B240-861B-ACC5A8E7E7E8}">
      <dsp:nvSpPr>
        <dsp:cNvPr id="0" name=""/>
        <dsp:cNvSpPr/>
      </dsp:nvSpPr>
      <dsp:spPr>
        <a:xfrm rot="20782360">
          <a:off x="5221706" y="2251284"/>
          <a:ext cx="1984872" cy="55048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tint val="6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tint val="60000"/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tint val="60000"/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E6D27B-F37D-1842-A611-A6203890EEEB}">
      <dsp:nvSpPr>
        <dsp:cNvPr id="0" name=""/>
        <dsp:cNvSpPr/>
      </dsp:nvSpPr>
      <dsp:spPr>
        <a:xfrm>
          <a:off x="5898565" y="1579559"/>
          <a:ext cx="2388239" cy="146796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noProof="0" dirty="0" smtClean="0">
              <a:solidFill>
                <a:srgbClr val="000000"/>
              </a:solidFill>
              <a:ea typeface="ＭＳ Ｐゴシック" pitchFamily="-65" charset="-128"/>
              <a:cs typeface="ＭＳ Ｐゴシック" pitchFamily="-65" charset="-128"/>
            </a:rPr>
            <a:t>Rendement du dispositif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0" kern="1200" noProof="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(p.ex. collecte des données</a:t>
          </a:r>
          <a:r>
            <a:rPr lang="en-US" sz="1800" b="0" kern="1200" dirty="0" smtClean="0">
              <a:solidFill>
                <a:schemeClr val="bg1"/>
              </a:solidFill>
              <a:ea typeface="ＭＳ Ｐゴシック" pitchFamily="-65" charset="-128"/>
              <a:cs typeface="ＭＳ Ｐゴシック" pitchFamily="-65" charset="-128"/>
            </a:rPr>
            <a:t>)</a:t>
          </a:r>
          <a:endParaRPr lang="en-US" sz="1800" b="0" kern="1200" dirty="0">
            <a:solidFill>
              <a:schemeClr val="bg1"/>
            </a:solidFill>
            <a:ea typeface="ＭＳ Ｐゴシック" pitchFamily="-65" charset="-128"/>
            <a:cs typeface="ＭＳ Ｐゴシック" pitchFamily="-65" charset="-128"/>
          </a:endParaRPr>
        </a:p>
      </dsp:txBody>
      <dsp:txXfrm>
        <a:off x="5898565" y="1579559"/>
        <a:ext cx="2388239" cy="1467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r>
              <a:rPr lang="en-US" sz="1100" dirty="0" smtClean="0"/>
              <a:t>Module de formation </a:t>
            </a:r>
            <a:r>
              <a:rPr lang="en-US" sz="1100" dirty="0" err="1" smtClean="0"/>
              <a:t>sur</a:t>
            </a:r>
            <a:r>
              <a:rPr lang="en-US" sz="1100" dirty="0" smtClean="0"/>
              <a:t> : les </a:t>
            </a:r>
            <a:r>
              <a:rPr lang="en-US" sz="1100" dirty="0" err="1" smtClean="0"/>
              <a:t>animaux</a:t>
            </a:r>
            <a:r>
              <a:rPr lang="en-US" sz="1100" dirty="0" smtClean="0"/>
              <a:t> de </a:t>
            </a:r>
            <a:r>
              <a:rPr lang="en-US" sz="1100" dirty="0" err="1" smtClean="0"/>
              <a:t>ferme</a:t>
            </a:r>
            <a:r>
              <a:rPr lang="en-US" sz="1100" dirty="0" smtClean="0"/>
              <a:t> </a:t>
            </a:r>
            <a:r>
              <a:rPr lang="en-US" sz="1100" dirty="0" err="1" smtClean="0"/>
              <a:t>utilisés</a:t>
            </a:r>
            <a:r>
              <a:rPr lang="en-US" sz="1100" dirty="0" smtClean="0"/>
              <a:t> en </a:t>
            </a:r>
            <a:r>
              <a:rPr lang="en-US" sz="1100" dirty="0" err="1" smtClean="0"/>
              <a:t>recherche</a:t>
            </a:r>
            <a:r>
              <a:rPr lang="en-US" sz="1100" dirty="0" smtClean="0"/>
              <a:t> </a:t>
            </a:r>
            <a:r>
              <a:rPr lang="en-US" sz="1100" dirty="0" err="1" smtClean="0"/>
              <a:t>biomédicale</a:t>
            </a:r>
            <a:endParaRPr lang="en-US" sz="11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r>
              <a:rPr lang="en-US" sz="1100" dirty="0" err="1" smtClean="0"/>
              <a:t>Conseil</a:t>
            </a:r>
            <a:r>
              <a:rPr lang="en-US" sz="1100" dirty="0" smtClean="0"/>
              <a:t> </a:t>
            </a:r>
            <a:r>
              <a:rPr lang="en-US" sz="1100" dirty="0" err="1" smtClean="0"/>
              <a:t>canadien</a:t>
            </a:r>
            <a:r>
              <a:rPr lang="en-US" sz="1100" dirty="0" smtClean="0"/>
              <a:t> de protection des </a:t>
            </a:r>
            <a:r>
              <a:rPr lang="en-US" sz="1100" dirty="0" err="1" smtClean="0"/>
              <a:t>animaux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fld id="{3C43BC64-37DA-410A-B0A4-F0C98F66F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fld id="{177241B5-DE11-4820-9B77-D47C436DD231}" type="datetime1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77" tIns="46589" rIns="93177" bIns="46589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fld id="{7BFF1BC0-C4BF-4614-BBAC-E7B9A2FB0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ＭＳ Ｐゴシック" pitchFamily="-108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02228F-1B9B-4553-B862-7919F0F7272D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3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DFE7A08-3F3B-424F-9EBF-C44123CE2FCD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7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>
              <a:ea typeface="ＭＳ Ｐゴシック" pitchFamily="34" charset="-128"/>
            </a:endParaRPr>
          </a:p>
          <a:p>
            <a:pPr>
              <a:spcBef>
                <a:spcPct val="0"/>
              </a:spcBef>
            </a:pPr>
            <a:endParaRPr lang="en-US" smtClean="0">
              <a:ea typeface="ＭＳ Ｐゴシック" pitchFamily="34" charset="-128"/>
            </a:endParaRPr>
          </a:p>
          <a:p>
            <a:pPr>
              <a:spcBef>
                <a:spcPct val="0"/>
              </a:spcBef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F00C6F2-C0FB-40A6-A514-715D47F0B827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8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A7BCE26-7C78-4604-A063-4B7FF6ACD788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11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AFCE011-2BD5-402F-A41E-A678094ED110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12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C4EE799-8326-4124-B5B5-D95847397AF3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13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CA" smtClean="0">
              <a:ea typeface="ＭＳ Ｐゴシック" pitchFamily="34" charset="-128"/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DBFDE7B-87FF-47E4-9BFA-4DEFBD04E540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16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36F2A4-BC8E-49BF-9828-F84A6181E355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17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CA" smtClean="0">
              <a:ea typeface="ＭＳ Ｐゴシック" pitchFamily="34" charset="-128"/>
            </a:endParaRP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6063A2E-C463-4D81-AFB8-D404CFB728D2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18</a:t>
            </a:fld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logo_main_01_pms300 [Converted].eps"/>
          <p:cNvPicPr>
            <a:picLocks noChangeAspect="1"/>
          </p:cNvPicPr>
          <p:nvPr/>
        </p:nvPicPr>
        <p:blipFill>
          <a:blip r:embed="rId2"/>
          <a:srcRect l="3751" t="1250"/>
          <a:stretch>
            <a:fillRect/>
          </a:stretch>
        </p:blipFill>
        <p:spPr bwMode="auto">
          <a:xfrm>
            <a:off x="0" y="0"/>
            <a:ext cx="5867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4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429000"/>
            <a:ext cx="8486336" cy="2209800"/>
          </a:xfrm>
          <a:prstGeom prst="rect">
            <a:avLst/>
          </a:prstGeom>
        </p:spPr>
        <p:txBody>
          <a:bodyPr anchor="t"/>
          <a:lstStyle>
            <a:lvl1pPr algn="r">
              <a:defRPr lang="en-US" sz="3600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  <a:prstGeom prst="rect">
            <a:avLst/>
          </a:prstGeo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9"/>
          <p:cNvSpPr>
            <a:spLocks noGrp="1"/>
          </p:cNvSpPr>
          <p:nvPr>
            <p:ph type="dt" sz="half" idx="10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5BF1D0D-F3F5-4E9C-9050-0A4B1679C6E3}" type="datetime1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8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6"/>
          <p:cNvSpPr>
            <a:spLocks noGrp="1"/>
          </p:cNvSpPr>
          <p:nvPr>
            <p:ph type="sldNum" sz="quarter" idx="12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8613009-1749-41A0-95D2-D62114854A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7467600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logo_main_01_pms300 [Converted].eps"/>
          <p:cNvPicPr>
            <a:picLocks noChangeAspect="1"/>
          </p:cNvPicPr>
          <p:nvPr/>
        </p:nvPicPr>
        <p:blipFill>
          <a:blip r:embed="rId2"/>
          <a:srcRect l="3751" t="1250"/>
          <a:stretch>
            <a:fillRect/>
          </a:stretch>
        </p:blipFill>
        <p:spPr bwMode="auto">
          <a:xfrm>
            <a:off x="0" y="0"/>
            <a:ext cx="5867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4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  <a:prstGeom prst="rect">
            <a:avLst/>
          </a:prstGeo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  <a:prstGeom prst="rect">
            <a:avLst/>
          </a:prstGeo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6BF61CF-B0EA-4929-AB32-1655EA30818A}" type="datetime1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7C1D34-7200-478D-A565-BDAE9E27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8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CD393ED-D594-46E2-9910-B220531E5D03}" type="datetime1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8A7AC31-DC51-48DC-B9D2-4A5368681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5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077200" cy="4525963"/>
          </a:xfrm>
          <a:prstGeom prst="rect">
            <a:avLst/>
          </a:prstGeom>
        </p:spPr>
        <p:txBody>
          <a:bodyPr/>
          <a:lstStyle/>
          <a:p>
            <a:pPr marL="419100" indent="-382588" defTabSz="914400" eaLnBrk="0" hangingPunct="0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-108" charset="2"/>
              <a:buChar char=""/>
              <a:defRPr/>
            </a:pPr>
            <a:r>
              <a:rPr lang="en-CA" sz="3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Click to edit Master text styles</a:t>
            </a:r>
          </a:p>
          <a:p>
            <a:pPr marL="722313" lvl="1" indent="-273050" defTabSz="914400" eaLnBrk="0" hangingPunct="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6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Second level</a:t>
            </a:r>
          </a:p>
          <a:p>
            <a:pPr marL="1004888" lvl="2" indent="-255588" defTabSz="9144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Arial" pitchFamily="-108" charset="0"/>
              <a:buChar char="○"/>
              <a:defRPr/>
            </a:pPr>
            <a:r>
              <a:rPr lang="en-CA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Third level</a:t>
            </a:r>
          </a:p>
          <a:p>
            <a:pPr marL="1279525" lvl="3" indent="-236538" defTabSz="914400" eaLnBrk="0" hangingPunct="0">
              <a:spcBef>
                <a:spcPct val="20000"/>
              </a:spcBef>
              <a:buClr>
                <a:srgbClr val="8D89A4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Fourth level</a:t>
            </a:r>
          </a:p>
          <a:p>
            <a:pPr marL="1489075" lvl="4" indent="-182563" defTabSz="914400" eaLnBrk="0" hangingPunct="0">
              <a:spcBef>
                <a:spcPct val="20000"/>
              </a:spcBef>
              <a:buClr>
                <a:srgbClr val="748560"/>
              </a:buClr>
              <a:buSzPct val="100000"/>
              <a:buFont typeface="Arial" pitchFamily="-108" charset="0"/>
              <a:buChar char="-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Fifth level</a:t>
            </a:r>
            <a:endParaRPr lang="en-US" sz="20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70648" cy="1143000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5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077200" cy="4525963"/>
          </a:xfrm>
          <a:prstGeom prst="rect">
            <a:avLst/>
          </a:prstGeom>
        </p:spPr>
        <p:txBody>
          <a:bodyPr/>
          <a:lstStyle/>
          <a:p>
            <a:pPr marL="419100" indent="-382588" defTabSz="914400" eaLnBrk="0" hangingPunct="0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-108" charset="2"/>
              <a:buChar char=""/>
              <a:defRPr/>
            </a:pPr>
            <a:r>
              <a:rPr lang="en-CA" sz="3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Click to edit Master text styles</a:t>
            </a:r>
          </a:p>
          <a:p>
            <a:pPr marL="722313" lvl="1" indent="-273050" defTabSz="914400" eaLnBrk="0" hangingPunct="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6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Second level</a:t>
            </a:r>
          </a:p>
          <a:p>
            <a:pPr marL="1004888" lvl="2" indent="-255588" defTabSz="9144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Arial" pitchFamily="-108" charset="0"/>
              <a:buChar char="○"/>
              <a:defRPr/>
            </a:pPr>
            <a:r>
              <a:rPr lang="en-CA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Third level</a:t>
            </a:r>
          </a:p>
          <a:p>
            <a:pPr marL="1279525" lvl="3" indent="-236538" defTabSz="914400" eaLnBrk="0" hangingPunct="0">
              <a:spcBef>
                <a:spcPct val="20000"/>
              </a:spcBef>
              <a:buClr>
                <a:srgbClr val="8D89A4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Fourth level</a:t>
            </a:r>
          </a:p>
          <a:p>
            <a:pPr marL="1489075" lvl="4" indent="-182563" defTabSz="914400" eaLnBrk="0" hangingPunct="0">
              <a:spcBef>
                <a:spcPct val="20000"/>
              </a:spcBef>
              <a:buClr>
                <a:srgbClr val="748560"/>
              </a:buClr>
              <a:buSzPct val="100000"/>
              <a:buFont typeface="Arial" pitchFamily="-108" charset="0"/>
              <a:buChar char="-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Fifth level</a:t>
            </a:r>
            <a:endParaRPr lang="en-US" sz="20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  <a:prstGeom prst="rect">
            <a:avLst/>
          </a:prstGeom>
        </p:spPr>
        <p:txBody>
          <a:bodyPr/>
          <a:lstStyle>
            <a:lvl1pPr algn="l">
              <a:defRPr sz="4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8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  <a:prstGeom prst="rect">
            <a:avLst/>
          </a:prstGeo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  <a:prstGeom prst="rect">
            <a:avLst/>
          </a:prstGeo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15778"/>
            <a:ext cx="7467600" cy="3810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9"/>
          <p:cNvSpPr>
            <a:spLocks noGrp="1"/>
          </p:cNvSpPr>
          <p:nvPr/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914400" eaLnBrk="0" hangingPunct="0">
              <a:defRPr/>
            </a:pPr>
            <a: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  <a:t> ____ __ ____  _____ ____ ______</a:t>
            </a:r>
          </a:p>
          <a:p>
            <a:pPr marL="0" lvl="1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_____ _____</a:t>
            </a:r>
          </a:p>
          <a:p>
            <a:pPr marL="0" lvl="2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 _____</a:t>
            </a:r>
          </a:p>
          <a:p>
            <a:pPr marL="0" lvl="3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_____ _____</a:t>
            </a:r>
          </a:p>
          <a:p>
            <a:pPr marL="0" lvl="4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 _____</a:t>
            </a:r>
            <a:endParaRPr lang="en-US" sz="3600" b="1" kern="0" dirty="0">
              <a:latin typeface="Futura Lt BT Light" pitchFamily="-108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" name="Text Placeholder 29"/>
          <p:cNvSpPr>
            <a:spLocks noGrp="1"/>
          </p:cNvSpPr>
          <p:nvPr/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4" defTabSz="914400" eaLnBrk="0" hangingPunct="0">
              <a:defRPr/>
            </a:pPr>
            <a: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  <a:t>Click to edit Master text styles</a:t>
            </a:r>
            <a:b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Second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Third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Fourth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Fifth level</a:t>
            </a:r>
            <a:endParaRPr lang="en-US" sz="3600" b="1" kern="0" dirty="0">
              <a:latin typeface="Futura Lt BT Light" pitchFamily="-108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  <a:prstGeom prst="rect">
            <a:avLst/>
          </a:prstGeo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8BFDDB-4450-4005-A2CF-807245D523FA}" type="datetime1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7467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600200"/>
            <a:ext cx="72390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6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 Placeholder 29"/>
          <p:cNvSpPr>
            <a:spLocks noGrp="1"/>
          </p:cNvSpPr>
          <p:nvPr/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914400" eaLnBrk="0" hangingPunct="0">
              <a:defRPr/>
            </a:pPr>
            <a: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  <a:t> ____ __ ____  _____ ____ ______</a:t>
            </a:r>
          </a:p>
          <a:p>
            <a:pPr marL="0" lvl="1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_____ _____</a:t>
            </a:r>
          </a:p>
          <a:p>
            <a:pPr marL="0" lvl="2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 _____</a:t>
            </a:r>
          </a:p>
          <a:p>
            <a:pPr marL="0" lvl="3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_____ _____</a:t>
            </a:r>
          </a:p>
          <a:p>
            <a:pPr marL="0" lvl="4" defTabSz="914400" eaLnBrk="0" hangingPunct="0">
              <a:defRPr/>
            </a:pP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 ____ _____</a:t>
            </a:r>
            <a:endParaRPr lang="en-US" sz="3600" b="1" kern="0" dirty="0">
              <a:latin typeface="Futura Lt BT Light" pitchFamily="-108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8" name="Text Placeholder 29"/>
          <p:cNvSpPr>
            <a:spLocks noGrp="1"/>
          </p:cNvSpPr>
          <p:nvPr/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4" defTabSz="914400" eaLnBrk="0" hangingPunct="0">
              <a:defRPr/>
            </a:pPr>
            <a: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  <a:t>Click to edit Master text styles</a:t>
            </a:r>
            <a:br>
              <a:rPr lang="en-CA" sz="3600" b="1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Futura Lt BT Light"/>
                <a:ea typeface="ＭＳ Ｐゴシック" pitchFamily="-112" charset="-128"/>
                <a:cs typeface="Futura Lt BT Light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Second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Third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Fourth level</a:t>
            </a:r>
            <a:b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</a:br>
            <a:r>
              <a:rPr lang="en-CA" sz="3600" b="1" kern="0" dirty="0">
                <a:latin typeface="Futura Lt BT Light" pitchFamily="-108" charset="0"/>
                <a:ea typeface="ＭＳ Ｐゴシック" pitchFamily="-112" charset="-128"/>
                <a:cs typeface="ＭＳ Ｐゴシック" pitchFamily="-112" charset="-128"/>
              </a:rPr>
              <a:t>Fifth level</a:t>
            </a:r>
            <a:endParaRPr lang="en-US" sz="3600" b="1" kern="0" dirty="0">
              <a:latin typeface="Futura Lt BT Light" pitchFamily="-108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9" name="Picture 9" descr="logo_main_01_pms300 [Converted].eps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itchFamily="-112" charset="0"/>
              <a:ea typeface="Times New Roman" pitchFamily="-112" charset="0"/>
              <a:cs typeface="Times New Roman" pitchFamily="-112" charset="0"/>
            </a:endParaRPr>
          </a:p>
        </p:txBody>
      </p:sp>
      <p:pic>
        <p:nvPicPr>
          <p:cNvPr id="1028" name="Picture 9" descr="logo_main_01_pms300 [Converted].eps"/>
          <p:cNvPicPr>
            <a:picLocks noChangeAspect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7962900" y="5668963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3333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600200"/>
            <a:ext cx="8077200" cy="4525963"/>
          </a:xfrm>
          <a:prstGeom prst="rect">
            <a:avLst/>
          </a:prstGeom>
        </p:spPr>
        <p:txBody>
          <a:bodyPr/>
          <a:lstStyle/>
          <a:p>
            <a:pPr marL="419100" indent="-382588" defTabSz="914400" eaLnBrk="0" hangingPunct="0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-108" charset="2"/>
              <a:buChar char=""/>
              <a:defRPr/>
            </a:pPr>
            <a:r>
              <a:rPr lang="en-CA" sz="3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Click to edit Master text styles</a:t>
            </a:r>
          </a:p>
          <a:p>
            <a:pPr marL="722313" lvl="1" indent="-273050" defTabSz="914400" eaLnBrk="0" hangingPunct="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6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Second level</a:t>
            </a:r>
          </a:p>
          <a:p>
            <a:pPr marL="1004888" lvl="2" indent="-255588" defTabSz="9144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Arial" pitchFamily="-108" charset="0"/>
              <a:buChar char="○"/>
              <a:defRPr/>
            </a:pPr>
            <a:r>
              <a:rPr lang="en-CA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Third level</a:t>
            </a:r>
          </a:p>
          <a:p>
            <a:pPr marL="1279525" lvl="3" indent="-236538" defTabSz="914400" eaLnBrk="0" hangingPunct="0">
              <a:spcBef>
                <a:spcPct val="20000"/>
              </a:spcBef>
              <a:buClr>
                <a:srgbClr val="8D89A4"/>
              </a:buClr>
              <a:buSzPct val="90000"/>
              <a:buFont typeface="Wingdings 2" pitchFamily="-108" charset="2"/>
              <a:buChar char="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Fourth level</a:t>
            </a:r>
          </a:p>
          <a:p>
            <a:pPr marL="1489075" lvl="4" indent="-182563" defTabSz="914400" eaLnBrk="0" hangingPunct="0">
              <a:spcBef>
                <a:spcPct val="20000"/>
              </a:spcBef>
              <a:buClr>
                <a:srgbClr val="748560"/>
              </a:buClr>
              <a:buSzPct val="100000"/>
              <a:buFont typeface="Arial" pitchFamily="-108" charset="0"/>
              <a:buChar char="-"/>
              <a:defRPr/>
            </a:pPr>
            <a:r>
              <a:rPr lang="en-CA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Fifth level</a:t>
            </a:r>
            <a:endParaRPr lang="en-US" sz="20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lang="en-US" sz="3600" b="1" kern="1200" dirty="0">
          <a:ln w="5000" cmpd="sng">
            <a:solidFill>
              <a:schemeClr val="accent1">
                <a:tint val="80000"/>
                <a:shade val="99000"/>
                <a:satMod val="500000"/>
              </a:schemeClr>
            </a:solidFill>
            <a:prstDash val="solid"/>
          </a:ln>
          <a:gradFill>
            <a:gsLst>
              <a:gs pos="0">
                <a:schemeClr val="accent1">
                  <a:tint val="63000"/>
                  <a:satMod val="255000"/>
                </a:schemeClr>
              </a:gs>
              <a:gs pos="9000">
                <a:schemeClr val="accent1">
                  <a:tint val="63000"/>
                  <a:satMod val="255000"/>
                </a:schemeClr>
              </a:gs>
              <a:gs pos="53000">
                <a:schemeClr val="accent1">
                  <a:shade val="60000"/>
                  <a:satMod val="100000"/>
                </a:schemeClr>
              </a:gs>
              <a:gs pos="90000">
                <a:schemeClr val="accent1">
                  <a:tint val="63000"/>
                  <a:satMod val="255000"/>
                </a:schemeClr>
              </a:gs>
              <a:gs pos="100000">
                <a:schemeClr val="accent1">
                  <a:tint val="63000"/>
                  <a:satMod val="255000"/>
                </a:schemeClr>
              </a:gs>
            </a:gsLst>
            <a:lin ang="5400000"/>
          </a:gradFill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  <a:latin typeface="Arial Narrow"/>
          <a:ea typeface="ＭＳ Ｐゴシック" pitchFamily="-112" charset="-128"/>
          <a:cs typeface="Arial Narrow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  <a:ea typeface="ＭＳ Ｐゴシック" pitchFamily="-112" charset="-128"/>
          <a:cs typeface="Arial Narrow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  <a:ea typeface="ＭＳ Ｐゴシック" pitchFamily="-112" charset="-128"/>
          <a:cs typeface="Arial Narrow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  <a:ea typeface="ＭＳ Ｐゴシック" pitchFamily="-112" charset="-128"/>
          <a:cs typeface="Arial Narrow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  <a:ea typeface="ＭＳ Ｐゴシック" pitchFamily="-112" charset="-128"/>
          <a:cs typeface="Arial Narrow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Franklin Gothic Book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Franklin Gothic Book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Franklin Gothic Book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Franklin Gothic Book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419100" indent="-382588" algn="l" rtl="0" fontAlgn="base">
        <a:spcBef>
          <a:spcPts val="1200"/>
        </a:spcBef>
        <a:spcAft>
          <a:spcPts val="60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  <a:latin typeface="Arial"/>
          <a:ea typeface="ＭＳ Ｐゴシック" pitchFamily="-112" charset="-128"/>
          <a:cs typeface="Arial"/>
        </a:defRPr>
      </a:lvl1pPr>
      <a:lvl2pPr marL="722313" indent="-273050" algn="l" rtl="0" fontAlgn="base">
        <a:spcBef>
          <a:spcPct val="20000"/>
        </a:spcBef>
        <a:spcAft>
          <a:spcPct val="0"/>
        </a:spcAft>
        <a:buClr>
          <a:srgbClr val="F7DF56"/>
        </a:buClr>
        <a:buSzPct val="90000"/>
        <a:buFont typeface="Wingdings 2" pitchFamily="18" charset="2"/>
        <a:buChar char=""/>
        <a:defRPr sz="2600" kern="1200">
          <a:solidFill>
            <a:schemeClr val="tx1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  <a:latin typeface="Arial"/>
          <a:ea typeface="ＭＳ Ｐゴシック" pitchFamily="-112" charset="-128"/>
          <a:cs typeface="Arial"/>
        </a:defRPr>
      </a:lvl2pPr>
      <a:lvl3pPr marL="1004888" indent="-255588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itchFamily="34" charset="0"/>
        <a:buChar char="○"/>
        <a:defRPr sz="2400" kern="1200">
          <a:solidFill>
            <a:schemeClr val="tx1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  <a:latin typeface="Arial"/>
          <a:ea typeface="ＭＳ Ｐゴシック" pitchFamily="-112" charset="-128"/>
          <a:cs typeface="Arial"/>
        </a:defRPr>
      </a:lvl3pPr>
      <a:lvl4pPr marL="1279525" indent="-236538" algn="l" rtl="0" fontAlgn="base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itchFamily="18" charset="2"/>
        <a:buChar char=""/>
        <a:defRPr sz="2000" kern="1200">
          <a:solidFill>
            <a:schemeClr val="tx1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  <a:latin typeface="Arial"/>
          <a:ea typeface="ＭＳ Ｐゴシック" pitchFamily="-112" charset="-128"/>
          <a:cs typeface="Arial"/>
        </a:defRPr>
      </a:lvl4pPr>
      <a:lvl5pPr marL="1489075" indent="-182563" algn="l" rtl="0" fontAlgn="base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itchFamily="34" charset="0"/>
        <a:buChar char="-"/>
        <a:defRPr sz="2000" kern="1200">
          <a:solidFill>
            <a:schemeClr val="tx1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  <a:latin typeface="Arial"/>
          <a:ea typeface="ＭＳ Ｐゴシック" pitchFamily="-112" charset="-128"/>
          <a:cs typeface="Arial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cac.ca/fr/alternativ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>
          <a:xfrm>
            <a:off x="0" y="1044575"/>
            <a:ext cx="9144000" cy="1927225"/>
          </a:xfrm>
        </p:spPr>
        <p:txBody>
          <a:bodyPr/>
          <a:lstStyle/>
          <a:p>
            <a:pPr algn="ctr">
              <a:defRPr/>
            </a:pPr>
            <a:r>
              <a:rPr lang="fr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de formation du CCPA sur :</a:t>
            </a:r>
            <a:br>
              <a:rPr lang="fr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animaux de ferme utilisés </a:t>
            </a:r>
            <a:br>
              <a:rPr lang="fr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recherche biomédicale</a:t>
            </a:r>
            <a:endParaRPr lang="fr-CA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2" name="TextBox 12"/>
          <p:cNvSpPr txBox="1">
            <a:spLocks noChangeArrowheads="1"/>
          </p:cNvSpPr>
          <p:nvPr/>
        </p:nvSpPr>
        <p:spPr bwMode="auto">
          <a:xfrm>
            <a:off x="3429000" y="5867400"/>
            <a:ext cx="548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/>
              <a:t>www.ccac.ca</a:t>
            </a:r>
          </a:p>
        </p:txBody>
      </p:sp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0" y="3465513"/>
            <a:ext cx="9144000" cy="118268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Fa-in-biomed.jpg"/>
          <p:cNvPicPr>
            <a:picLocks noChangeAspect="1"/>
          </p:cNvPicPr>
          <p:nvPr/>
        </p:nvPicPr>
        <p:blipFill>
          <a:blip r:embed="rId2"/>
          <a:srcRect l="398"/>
          <a:stretch>
            <a:fillRect/>
          </a:stretch>
        </p:blipFill>
        <p:spPr>
          <a:xfrm>
            <a:off x="0" y="3581400"/>
            <a:ext cx="9144000" cy="939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/>
              <a:t>Pertinence de ce module de formation</a:t>
            </a:r>
            <a:endParaRPr lang="fr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686800" cy="45259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200" dirty="0" smtClean="0"/>
              <a:t>Ce module de formation est pertinent pour tous les utilisateurs d’animaux qui travaillent avec des </a:t>
            </a:r>
            <a:r>
              <a:rPr lang="fr-CA" sz="2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animaux de ferme </a:t>
            </a:r>
            <a:r>
              <a:rPr lang="fr-CA" sz="2200" dirty="0" smtClean="0"/>
              <a:t>dans le cadre d’une </a:t>
            </a:r>
            <a:r>
              <a:rPr lang="fr-CA" sz="2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recherche biomédicale</a:t>
            </a:r>
          </a:p>
          <a:p>
            <a:r>
              <a:rPr lang="fr-CA" sz="2200" dirty="0" smtClean="0"/>
              <a:t>Ce module porte sur les animaux de ferme suivants :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bovins laitiers et les bovins                                                                     de boucherie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moutons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chèvres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porcs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la volaille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chevaux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animaux sauvages                                                                   élevés en captivité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184416" y="3214686"/>
            <a:ext cx="3316673" cy="2760547"/>
            <a:chOff x="4929190" y="3802972"/>
            <a:chExt cx="3316673" cy="2760547"/>
          </a:xfrm>
        </p:grpSpPr>
        <p:pic>
          <p:nvPicPr>
            <p:cNvPr id="6" name="Picture 4" descr="Sheep Face.jp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646486" y="5221355"/>
              <a:ext cx="1527423" cy="12893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 rot="10800000" flipV="1">
              <a:off x="6715141" y="6286520"/>
              <a:ext cx="153072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sz="600" dirty="0" smtClean="0">
                  <a:solidFill>
                    <a:schemeClr val="bg1"/>
                  </a:solidFill>
                  <a:latin typeface="Calibri" pitchFamily="-65" charset="0"/>
                </a:rPr>
                <a:t>Photo : </a:t>
              </a:r>
              <a:r>
                <a:rPr lang="fr-CA" sz="600" dirty="0" smtClean="0">
                  <a:solidFill>
                    <a:schemeClr val="bg1"/>
                  </a:solidFill>
                  <a:latin typeface="Calibri" pitchFamily="-65" charset="0"/>
                </a:rPr>
                <a:t>gracieuseté</a:t>
              </a:r>
              <a:r>
                <a:rPr lang="en-US" sz="600" dirty="0" smtClean="0">
                  <a:solidFill>
                    <a:schemeClr val="bg1"/>
                  </a:solidFill>
                  <a:latin typeface="Calibri" pitchFamily="-65" charset="0"/>
                </a:rPr>
                <a:t> du Animal Resources Centre, University of Saskatchewan</a:t>
              </a:r>
              <a:endParaRPr lang="en-US" sz="600" dirty="0">
                <a:solidFill>
                  <a:schemeClr val="bg1"/>
                </a:solidFill>
                <a:latin typeface="Calibri" pitchFamily="-65" charset="0"/>
              </a:endParaRPr>
            </a:p>
          </p:txBody>
        </p:sp>
        <p:pic>
          <p:nvPicPr>
            <p:cNvPr id="8" name="Picture 2" descr="U:\ETC\Pictures\CFIA Photoshoot - Nov 2010\devecseri-nrc_CFIA-161.jpg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6646486" y="3803258"/>
              <a:ext cx="1527423" cy="128930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9" name="Picture 3" descr="U:\ETC\Pictures\CFIA Photoshoot - Nov 2010\devecseri-nrc_CFIA-046.jpg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4932145" y="3802972"/>
              <a:ext cx="1462551" cy="129237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10" name="Picture 4" descr="U:\ETC\Pictures\CFIA Photoshoot - Nov 2010\devecseri-nrc_CFIA-057.jpg"/>
            <p:cNvPicPr>
              <a:picLocks noChangeAspect="1" noChangeArrowheads="1"/>
            </p:cNvPicPr>
            <p:nvPr/>
          </p:nvPicPr>
          <p:blipFill>
            <a:blip r:embed="rId5" cstate="screen"/>
            <a:srcRect/>
            <a:stretch>
              <a:fillRect/>
            </a:stretch>
          </p:blipFill>
          <p:spPr bwMode="auto">
            <a:xfrm>
              <a:off x="4929190" y="5199633"/>
              <a:ext cx="1465506" cy="129209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Objectifs de ce module de formation	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05200"/>
          </a:xfrm>
        </p:spPr>
        <p:txBody>
          <a:bodyPr wrap="square">
            <a:normAutofit/>
          </a:bodyPr>
          <a:lstStyle/>
          <a:p>
            <a:pPr>
              <a:buFont typeface="Wingdings 2" pitchFamily="28" charset="2"/>
              <a:buChar char=""/>
              <a:defRPr/>
            </a:pPr>
            <a:r>
              <a:rPr lang="fr-CA" sz="2400" dirty="0" smtClean="0">
                <a:ea typeface="ＭＳ Ｐゴシック" pitchFamily="-107" charset="-128"/>
                <a:cs typeface="ＭＳ Ｐゴシック" pitchFamily="-107" charset="-128"/>
              </a:rPr>
              <a:t>Donner un aperçu des soins particuliers requis lors de l’utilisation des animaux de ferme en recherche biomédicale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CA" sz="2400" dirty="0" smtClean="0">
                <a:ea typeface="ＭＳ Ｐゴシック" pitchFamily="-107" charset="-128"/>
                <a:cs typeface="ＭＳ Ｐゴシック" pitchFamily="-107" charset="-128"/>
              </a:rPr>
              <a:t>Expliquer les considérations importantes liées à la sélection de modèles d’animaux de ferme appropriés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CA" sz="2400" dirty="0" smtClean="0">
                <a:ea typeface="ＭＳ Ｐゴシック" pitchFamily="-107" charset="-128"/>
                <a:cs typeface="ＭＳ Ｐゴシック" pitchFamily="-107" charset="-128"/>
              </a:rPr>
              <a:t>Proposer aux chercheurs des références et des ressources concernant l’utilisation des animaux de ferme en recherche biomédicale</a:t>
            </a:r>
            <a:endParaRPr lang="fr-CA" sz="2400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334000"/>
            <a:ext cx="8229600" cy="1327150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/>
            <a:r>
              <a:rPr lang="fr-CA" sz="1600" dirty="0"/>
              <a:t>Les principes de base liés au bien-être des animaux de ferme, leurs besoins fondamentaux, leur acquisition, les manipulations journalières et les procédures spécialisées, ainsi que les fins de l’utilisation scientifique sont approfondis dans </a:t>
            </a:r>
            <a:r>
              <a:rPr lang="fr-CA" sz="1600" dirty="0" smtClean="0"/>
              <a:t>le </a:t>
            </a:r>
            <a:r>
              <a:rPr lang="fr-CA" sz="1600" i="1" dirty="0" smtClean="0"/>
              <a:t>Module </a:t>
            </a:r>
            <a:r>
              <a:rPr lang="fr-CA" sz="1600" i="1" dirty="0"/>
              <a:t>de formation du CCPA sur : l'utilisation </a:t>
            </a:r>
            <a:r>
              <a:rPr lang="fr-CA" sz="1600" i="1" dirty="0" smtClean="0"/>
              <a:t>et </a:t>
            </a:r>
            <a:r>
              <a:rPr lang="fr-CA" sz="1600" i="1" dirty="0"/>
              <a:t>le soin </a:t>
            </a:r>
            <a:r>
              <a:rPr lang="fr-CA" sz="1600" i="1" dirty="0" smtClean="0"/>
              <a:t>éthiques des </a:t>
            </a:r>
            <a:r>
              <a:rPr lang="fr-CA" sz="1600" i="1" dirty="0"/>
              <a:t>animaux de ferme en science</a:t>
            </a:r>
            <a:r>
              <a:rPr lang="fr-CA" sz="1600" dirty="0"/>
              <a:t> (2010</a:t>
            </a:r>
            <a:r>
              <a:rPr lang="fr-CA" sz="1600" dirty="0" smtClean="0"/>
              <a:t>)</a:t>
            </a:r>
            <a:endParaRPr lang="en-US" sz="1600" dirty="0"/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Plan de ce module de formation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63521" y="1571612"/>
            <a:ext cx="8680479" cy="4756150"/>
          </a:xfrm>
        </p:spPr>
        <p:txBody>
          <a:bodyPr/>
          <a:lstStyle/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Les animaux de ferme utilisés en recherche biomédicale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Les facteurs particuliers et les défis liés à l’utilisation d’animaux de ferme en recherche biomédicale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La sélection d’un modèle d’animal de ferme approprié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La façon de répondre aux besoins des animaux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Les installations et les considérations de transmission des maladies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exemple d’application en recherche biomédicale : les dispositifs médicaux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863600" y="-3937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CA"/>
          </a:p>
        </p:txBody>
      </p:sp>
      <p:sp>
        <p:nvSpPr>
          <p:cNvPr id="5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472488" cy="1143000"/>
          </a:xfrm>
        </p:spPr>
        <p:txBody>
          <a:bodyPr/>
          <a:lstStyle/>
          <a:p>
            <a:pPr>
              <a:defRPr/>
            </a:pPr>
            <a:r>
              <a:rPr lang="fr-CA" dirty="0" smtClean="0"/>
              <a:t>Animaux de ferme utilisés en recherche biomédicale</a:t>
            </a:r>
            <a:endParaRPr lang="fr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6241"/>
            <a:ext cx="8472488" cy="1217608"/>
          </a:xfrm>
        </p:spPr>
        <p:txBody>
          <a:bodyPr/>
          <a:lstStyle/>
          <a:p>
            <a:pPr>
              <a:buFont typeface="Wingdings 2" pitchFamily="28" charset="2"/>
              <a:buChar char=""/>
              <a:defRPr/>
            </a:pPr>
            <a:r>
              <a:rPr lang="fr-CA" sz="2200" dirty="0" smtClean="0"/>
              <a:t>Le but d’utiliser des animaux de ferme en recherche biomédicale est de répondre à des questions liées à la santé humaine</a:t>
            </a:r>
          </a:p>
          <a:p>
            <a:pPr>
              <a:buFont typeface="Wingdings 2" pitchFamily="28" charset="2"/>
              <a:buChar char=""/>
              <a:defRPr/>
            </a:pPr>
            <a:endParaRPr lang="fr-CA" dirty="0" smtClean="0"/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214942" y="2592910"/>
            <a:ext cx="3562046" cy="3369457"/>
            <a:chOff x="5214942" y="2592910"/>
            <a:chExt cx="3562046" cy="3369457"/>
          </a:xfrm>
        </p:grpSpPr>
        <p:pic>
          <p:nvPicPr>
            <p:cNvPr id="5" name="Picture 2" descr="U:\ETC\Pictures\CFIA Photoshoot - Nov 2010\devecseri-nrc_CFIA-187.jpg"/>
            <p:cNvPicPr>
              <a:picLocks noChangeAspect="1" noChangeArrowheads="1"/>
            </p:cNvPicPr>
            <p:nvPr/>
          </p:nvPicPr>
          <p:blipFill>
            <a:blip r:embed="rId2" cstate="screen"/>
            <a:srcRect/>
            <a:stretch>
              <a:fillRect/>
            </a:stretch>
          </p:blipFill>
          <p:spPr bwMode="auto">
            <a:xfrm>
              <a:off x="5214942" y="2592910"/>
              <a:ext cx="3562046" cy="29077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5396311" y="5500702"/>
              <a:ext cx="32281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200" dirty="0" smtClean="0"/>
                <a:t>Les œufs de poule fertilisés sont utilisés dans le développement de vaccins</a:t>
              </a:r>
              <a:endParaRPr lang="en-US" sz="1200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57199" y="2933849"/>
            <a:ext cx="5987009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9100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CA" sz="22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Les animaux de ferme sont                   employés dans plusieurs cas :</a:t>
            </a:r>
          </a:p>
          <a:p>
            <a:pPr marL="722313" lvl="1" indent="-273050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la recherche dans le domaine                                                             de la neurologie</a:t>
            </a:r>
          </a:p>
          <a:p>
            <a:pPr marL="722313" lvl="1" indent="-273050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le développement et les tests de                                                    produits pharmaceutiques et de                                          dispositifs médicaux</a:t>
            </a:r>
          </a:p>
          <a:p>
            <a:pPr marL="722313" lvl="1" indent="-273050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la recherche en chirurgie                                                      reconstructive</a:t>
            </a:r>
          </a:p>
          <a:p>
            <a:pPr marL="722313" lvl="1" indent="-273050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l’enseignement dans le domaine                 médical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1820863" y="5373386"/>
            <a:ext cx="6751637" cy="11635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lIns="0" tIns="608400" rIns="0" bIns="0" anchor="ctr" anchorCtr="1"/>
          <a:lstStyle/>
          <a:p>
            <a:pPr marL="1539875" indent="-107950">
              <a:spcBef>
                <a:spcPts val="1200"/>
              </a:spcBef>
              <a:tabLst>
                <a:tab pos="1311275" algn="l"/>
              </a:tabLst>
              <a:defRPr/>
            </a:pPr>
            <a:r>
              <a:rPr lang="fr-CA" b="1" dirty="0">
                <a:solidFill>
                  <a:srgbClr val="000000"/>
                </a:solidFill>
              </a:rPr>
              <a:t>Les moutons</a:t>
            </a:r>
          </a:p>
          <a:p>
            <a:pPr marL="168275" indent="-168275">
              <a:tabLst>
                <a:tab pos="288925" algn="l"/>
              </a:tabLst>
              <a:defRPr/>
            </a:pPr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ex., recherche périnatale et néonatale</a:t>
            </a:r>
          </a:p>
          <a:p>
            <a:pPr lvl="1">
              <a:defRPr/>
            </a:pPr>
            <a:endParaRPr lang="fr-CA" dirty="0"/>
          </a:p>
          <a:p>
            <a:pPr algn="ctr">
              <a:defRPr/>
            </a:pPr>
            <a:endParaRPr lang="en-US" b="1" dirty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472518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Exemples d’animaux de ferme utilisés en recherche biomédicale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08163" y="1524000"/>
            <a:ext cx="6764337" cy="11811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/>
          <a:lstStyle/>
          <a:p>
            <a:pPr marL="168275" algn="ctr">
              <a:defRPr/>
            </a:pPr>
            <a:r>
              <a:rPr lang="fr-CA" b="1" dirty="0">
                <a:solidFill>
                  <a:srgbClr val="000000"/>
                </a:solidFill>
              </a:rPr>
              <a:t>Les porcs</a:t>
            </a:r>
          </a:p>
          <a:p>
            <a:pPr marL="168275" algn="ctr">
              <a:defRPr/>
            </a:pPr>
            <a:r>
              <a:rPr lang="fr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ex., greffes cutanées, tests de médicaments pour la</a:t>
            </a:r>
            <a:br>
              <a:rPr lang="fr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peau, dispositifs utilisés en chirurgie reconstructive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0863" y="2806496"/>
            <a:ext cx="6751637" cy="11635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212400" rIns="0" bIns="0" anchor="ctr" anchorCtr="1"/>
          <a:lstStyle/>
          <a:p>
            <a:pPr marL="2636838" indent="-411163">
              <a:spcBef>
                <a:spcPts val="1200"/>
              </a:spcBef>
              <a:defRPr/>
            </a:pPr>
            <a:r>
              <a:rPr lang="fr-CA" b="1" dirty="0">
                <a:solidFill>
                  <a:srgbClr val="000000"/>
                </a:solidFill>
              </a:rPr>
              <a:t>Les veaux</a:t>
            </a:r>
          </a:p>
          <a:p>
            <a:pPr algn="ctr">
              <a:defRPr/>
            </a:pPr>
            <a:r>
              <a:rPr lang="fr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ex., dispositifs d’assistance ventriculaire</a:t>
            </a:r>
          </a:p>
          <a:p>
            <a:pPr marL="228600" indent="-228600" algn="ctr">
              <a:defRPr/>
            </a:pP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1820863" y="4081730"/>
            <a:ext cx="6751637" cy="1176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561600" rIns="0" bIns="0" anchor="ctr" anchorCtr="1"/>
          <a:lstStyle/>
          <a:p>
            <a:pPr marL="2574925" indent="-60325">
              <a:defRPr/>
            </a:pPr>
            <a:r>
              <a:rPr lang="fr-CA" b="1" dirty="0">
                <a:solidFill>
                  <a:srgbClr val="000000"/>
                </a:solidFill>
              </a:rPr>
              <a:t>La volaille</a:t>
            </a:r>
          </a:p>
          <a:p>
            <a:pPr algn="ctr">
              <a:defRPr/>
            </a:pPr>
            <a:r>
              <a:rPr lang="fr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ex., production d’anticorps dans les jaunes d'œuf</a:t>
            </a:r>
          </a:p>
          <a:p>
            <a:pPr lvl="1">
              <a:defRPr/>
            </a:pPr>
            <a:endParaRPr lang="en-US" dirty="0"/>
          </a:p>
          <a:p>
            <a:pPr algn="ctr">
              <a:defRPr/>
            </a:pPr>
            <a:endParaRPr lang="en-US" b="1" dirty="0"/>
          </a:p>
        </p:txBody>
      </p:sp>
      <p:sp>
        <p:nvSpPr>
          <p:cNvPr id="1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15" name="Picture 4" descr="Sheep Face.jpg"/>
          <p:cNvPicPr>
            <a:picLocks noChangeAspect="1"/>
          </p:cNvPicPr>
          <p:nvPr/>
        </p:nvPicPr>
        <p:blipFill>
          <a:blip r:embed="rId2" cstate="screen"/>
          <a:srcRect l="4585" t="572" r="6114" b="1181"/>
          <a:stretch>
            <a:fillRect/>
          </a:stretch>
        </p:blipFill>
        <p:spPr>
          <a:xfrm>
            <a:off x="842069" y="5373387"/>
            <a:ext cx="1237238" cy="116353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Picture 15" descr="SDC13070.jpg"/>
          <p:cNvPicPr>
            <a:picLocks noChangeAspect="1"/>
          </p:cNvPicPr>
          <p:nvPr/>
        </p:nvPicPr>
        <p:blipFill>
          <a:blip r:embed="rId3" cstate="screen"/>
          <a:srcRect l="2642" t="2371"/>
          <a:stretch>
            <a:fillRect/>
          </a:stretch>
        </p:blipFill>
        <p:spPr>
          <a:xfrm>
            <a:off x="836014" y="2806496"/>
            <a:ext cx="1239424" cy="116353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  <a:effectLst/>
        </p:spPr>
      </p:pic>
      <p:pic>
        <p:nvPicPr>
          <p:cNvPr id="17" name="Picture 16" descr="pig.jpg"/>
          <p:cNvPicPr>
            <a:picLocks noChangeAspect="1"/>
          </p:cNvPicPr>
          <p:nvPr/>
        </p:nvPicPr>
        <p:blipFill>
          <a:blip r:embed="rId4"/>
          <a:srcRect l="24854" t="1460" r="6072"/>
          <a:stretch>
            <a:fillRect/>
          </a:stretch>
        </p:blipFill>
        <p:spPr>
          <a:xfrm>
            <a:off x="838200" y="1524000"/>
            <a:ext cx="1237238" cy="11760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4" name="Picture 23" descr="chicken-skratch.jpg"/>
          <p:cNvPicPr>
            <a:picLocks noChangeAspect="1"/>
          </p:cNvPicPr>
          <p:nvPr/>
        </p:nvPicPr>
        <p:blipFill>
          <a:blip r:embed="rId5"/>
          <a:srcRect l="5819" r="23864"/>
          <a:stretch>
            <a:fillRect/>
          </a:stretch>
        </p:blipFill>
        <p:spPr>
          <a:xfrm flipH="1">
            <a:off x="838200" y="4081730"/>
            <a:ext cx="1241107" cy="117607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860056" y="3712755"/>
            <a:ext cx="12378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CA" sz="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Photo : gracieuseté du </a:t>
            </a:r>
          </a:p>
          <a:p>
            <a:pPr algn="r"/>
            <a:r>
              <a:rPr lang="en-US" sz="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UBC Animal Welfare Program</a:t>
            </a:r>
            <a:endParaRPr lang="en-US" sz="6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472518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Défis liés à l’utilisation d’animaux de ferme en recherche biomédicale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066800" y="1500188"/>
            <a:ext cx="7010400" cy="4557716"/>
            <a:chOff x="1066800" y="1500188"/>
            <a:chExt cx="7010400" cy="4557716"/>
          </a:xfrm>
        </p:grpSpPr>
        <p:grpSp>
          <p:nvGrpSpPr>
            <p:cNvPr id="22530" name="Group 20"/>
            <p:cNvGrpSpPr>
              <a:grpSpLocks/>
            </p:cNvGrpSpPr>
            <p:nvPr/>
          </p:nvGrpSpPr>
          <p:grpSpPr bwMode="auto">
            <a:xfrm>
              <a:off x="1928794" y="4000504"/>
              <a:ext cx="5097022" cy="2057400"/>
              <a:chOff x="1985962" y="1895460"/>
              <a:chExt cx="5097022" cy="20574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1985962" y="1895460"/>
                <a:ext cx="3124200" cy="2057400"/>
              </a:xfrm>
              <a:prstGeom prst="ellipse">
                <a:avLst/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4038600" y="1895460"/>
                <a:ext cx="3044384" cy="2057400"/>
              </a:xfrm>
              <a:prstGeom prst="ellipse">
                <a:avLst/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2535" name="Rectangle 9"/>
              <p:cNvSpPr>
                <a:spLocks noChangeArrowheads="1"/>
              </p:cNvSpPr>
              <p:nvPr/>
            </p:nvSpPr>
            <p:spPr bwMode="auto">
              <a:xfrm>
                <a:off x="4986358" y="2395526"/>
                <a:ext cx="2080080" cy="11079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fr-CA" sz="2200" b="1" dirty="0"/>
                  <a:t>Résultatsscientifiques significatifs</a:t>
                </a:r>
              </a:p>
            </p:txBody>
          </p:sp>
          <p:sp>
            <p:nvSpPr>
              <p:cNvPr id="22536" name="Rectangle 10"/>
              <p:cNvSpPr>
                <a:spLocks noChangeArrowheads="1"/>
              </p:cNvSpPr>
              <p:nvPr/>
            </p:nvSpPr>
            <p:spPr bwMode="auto">
              <a:xfrm>
                <a:off x="2129984" y="2557474"/>
                <a:ext cx="2057400" cy="7694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200" b="1" dirty="0"/>
                  <a:t>Bien-</a:t>
                </a:r>
                <a:r>
                  <a:rPr lang="fr-CA" sz="2200" b="1" dirty="0" smtClean="0"/>
                  <a:t>être animal</a:t>
                </a:r>
                <a:endParaRPr lang="fr-CA" sz="2200" b="1" dirty="0"/>
              </a:p>
            </p:txBody>
          </p:sp>
          <p:sp>
            <p:nvSpPr>
              <p:cNvPr id="22537" name="Rectangle 19"/>
              <p:cNvSpPr>
                <a:spLocks noChangeArrowheads="1"/>
              </p:cNvSpPr>
              <p:nvPr/>
            </p:nvSpPr>
            <p:spPr bwMode="auto">
              <a:xfrm>
                <a:off x="3886200" y="2738735"/>
                <a:ext cx="14478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/>
                  <a:t>+</a:t>
                </a:r>
              </a:p>
            </p:txBody>
          </p:sp>
        </p:grpSp>
        <p:sp>
          <p:nvSpPr>
            <p:cNvPr id="23" name="Down Arrow Callout 22"/>
            <p:cNvSpPr/>
            <p:nvPr/>
          </p:nvSpPr>
          <p:spPr>
            <a:xfrm>
              <a:off x="3810000" y="3372644"/>
              <a:ext cx="1524000" cy="757237"/>
            </a:xfrm>
            <a:prstGeom prst="downArrowCallou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CA" b="1" dirty="0">
                  <a:solidFill>
                    <a:schemeClr val="tx1"/>
                  </a:solidFill>
                </a:rPr>
                <a:t>Objectif</a:t>
              </a:r>
              <a:r>
                <a:rPr lang="en-US" b="1" dirty="0">
                  <a:solidFill>
                    <a:schemeClr val="tx1"/>
                  </a:solidFill>
                </a:rPr>
                <a:t> :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6800" y="1500188"/>
              <a:ext cx="7010400" cy="1857375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79388" indent="-179388">
                <a:spcAft>
                  <a:spcPts val="600"/>
                </a:spcAft>
                <a:buFont typeface="Arial" pitchFamily="34" charset="0"/>
                <a:buChar char="•"/>
              </a:pPr>
              <a:r>
                <a:rPr lang="fr-CA" sz="2200" dirty="0">
                  <a:solidFill>
                    <a:schemeClr val="tx1"/>
                  </a:solidFill>
                  <a:ea typeface="ＭＳ Ｐゴシック" pitchFamily="34" charset="-128"/>
                </a:rPr>
                <a:t>Il est possible que le rendement agricole n’ait aucun lien avec les résultats scientifiques d’une étude biomédicale</a:t>
              </a:r>
            </a:p>
            <a:p>
              <a:pPr marL="179388" indent="-179388">
                <a:buFont typeface="Arial" pitchFamily="34" charset="0"/>
                <a:buChar char="•"/>
              </a:pPr>
              <a:r>
                <a:rPr lang="fr-CA" sz="2200" dirty="0">
                  <a:solidFill>
                    <a:schemeClr val="tx1"/>
                  </a:solidFill>
                  <a:ea typeface="ＭＳ Ｐゴシック" pitchFamily="34" charset="-128"/>
                </a:rPr>
                <a:t>La sélection d’un modèle animal et sa gestion doit être flexible et abordée cas par cas</a:t>
              </a:r>
            </a:p>
          </p:txBody>
        </p:sp>
      </p:grpSp>
      <p:sp>
        <p:nvSpPr>
          <p:cNvPr id="11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Considérations liées aux Trois R</a:t>
            </a:r>
            <a:endParaRPr lang="fr-CA" dirty="0" smtClean="0">
              <a:ea typeface="+mj-ea"/>
              <a:cs typeface="+mj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67000" y="4101897"/>
            <a:ext cx="6019800" cy="14478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722313" lvl="1" indent="-273050" algn="just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tabLst>
                <a:tab pos="520700" algn="l"/>
              </a:tabLst>
              <a:defRPr/>
            </a:pPr>
            <a:endParaRPr lang="fr-CA" sz="2000" dirty="0" smtClean="0">
              <a:solidFill>
                <a:schemeClr val="tx1"/>
              </a:solidFill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4030459"/>
            <a:ext cx="2514600" cy="16002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fr-CA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Raffinement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67000" y="2796605"/>
            <a:ext cx="6019800" cy="10541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722313" lvl="1" indent="-273050" algn="just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tabLst>
                <a:tab pos="520700" algn="l"/>
              </a:tabLst>
              <a:defRPr/>
            </a:pPr>
            <a:endParaRPr lang="fr-FR" sz="2000" dirty="0" smtClean="0">
              <a:solidFill>
                <a:schemeClr val="tx1"/>
              </a:solidFill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2681278"/>
            <a:ext cx="2514600" cy="127635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fr-CA" sz="2600" dirty="0" smtClean="0"/>
          </a:p>
          <a:p>
            <a:pPr algn="ctr">
              <a:defRPr/>
            </a:pPr>
            <a:r>
              <a:rPr lang="fr-CA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Réduction</a:t>
            </a:r>
            <a:endParaRPr lang="fr-CA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n-US" sz="2600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2214546" y="1447800"/>
            <a:ext cx="6472254" cy="10668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1198563" lvl="1" indent="-284163" algn="just">
              <a:lnSpc>
                <a:spcPct val="90000"/>
              </a:lnSpc>
              <a:spcBef>
                <a:spcPct val="20000"/>
              </a:spcBef>
              <a:buClr>
                <a:srgbClr val="F7DF56"/>
              </a:buClr>
              <a:buSzPct val="90000"/>
              <a:tabLst>
                <a:tab pos="520700" algn="l"/>
              </a:tabLst>
              <a:defRPr/>
            </a:pPr>
            <a:endParaRPr lang="fr-CA" sz="2000" dirty="0" smtClean="0">
              <a:solidFill>
                <a:schemeClr val="tx1"/>
              </a:solidFill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1323956"/>
            <a:ext cx="2514600" cy="129063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fr-CA" sz="2600" dirty="0" smtClean="0"/>
          </a:p>
          <a:p>
            <a:pPr algn="ctr">
              <a:defRPr/>
            </a:pPr>
            <a:r>
              <a:rPr lang="fr-CA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Remplacement</a:t>
            </a:r>
            <a:endParaRPr lang="fr-CA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n-US" sz="2600" b="1" dirty="0"/>
          </a:p>
        </p:txBody>
      </p:sp>
      <p:sp>
        <p:nvSpPr>
          <p:cNvPr id="9" name="Rectangle 8"/>
          <p:cNvSpPr/>
          <p:nvPr/>
        </p:nvSpPr>
        <p:spPr>
          <a:xfrm>
            <a:off x="457200" y="5857892"/>
            <a:ext cx="8229600" cy="830997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CA" sz="160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Pour de plus amples renseignements sur les </a:t>
            </a:r>
            <a:r>
              <a:rPr lang="fr-CA" sz="1600" dirty="0" smtClean="0">
                <a:latin typeface="+mn-lt"/>
                <a:ea typeface="ＭＳ Ｐゴシック" pitchFamily="-107" charset="-128"/>
                <a:cs typeface="ＭＳ Ｐゴシック" pitchFamily="-107" charset="-128"/>
              </a:rPr>
              <a:t>Trois </a:t>
            </a:r>
            <a:r>
              <a:rPr lang="fr-CA" sz="160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R, consultez </a:t>
            </a:r>
            <a:r>
              <a:rPr lang="fr-CA" sz="1600" i="1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le </a:t>
            </a:r>
            <a:r>
              <a:rPr lang="fr-CA" sz="1600" i="1" dirty="0" smtClean="0">
                <a:latin typeface="+mn-lt"/>
                <a:ea typeface="ＭＳ Ｐゴシック" pitchFamily="-107" charset="-128"/>
                <a:cs typeface="ＭＳ Ｐゴシック" pitchFamily="-107" charset="-128"/>
              </a:rPr>
              <a:t>Module </a:t>
            </a:r>
            <a:r>
              <a:rPr lang="fr-CA" sz="1600" i="1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de formation du CCPA sur </a:t>
            </a:r>
            <a:r>
              <a:rPr lang="fr-CA" sz="1600" i="1" dirty="0" smtClean="0">
                <a:latin typeface="+mn-lt"/>
                <a:ea typeface="ＭＳ Ｐゴシック" pitchFamily="-107" charset="-128"/>
                <a:cs typeface="ＭＳ Ｐゴシック" pitchFamily="-107" charset="-128"/>
              </a:rPr>
              <a:t>: les Trois </a:t>
            </a:r>
            <a:r>
              <a:rPr lang="fr-CA" sz="1600" i="1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R de l’expérimentation animale éthiquement acceptable </a:t>
            </a:r>
            <a:r>
              <a:rPr lang="fr-CA" sz="160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(2003) et </a:t>
            </a:r>
            <a:br>
              <a:rPr lang="fr-CA" sz="1600" dirty="0">
                <a:latin typeface="+mn-lt"/>
                <a:ea typeface="ＭＳ Ｐゴシック" pitchFamily="-107" charset="-128"/>
                <a:cs typeface="ＭＳ Ｐゴシック" pitchFamily="-107" charset="-128"/>
              </a:rPr>
            </a:br>
            <a:r>
              <a:rPr lang="fr-CA" sz="160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le microsite du CCPA au </a:t>
            </a:r>
            <a:r>
              <a:rPr lang="fr-CA" sz="1600" dirty="0" smtClean="0">
                <a:latin typeface="+mn-lt"/>
                <a:ea typeface="ＭＳ Ｐゴシック" pitchFamily="-107" charset="-128"/>
                <a:cs typeface="ＭＳ Ｐゴシック" pitchFamily="-107" charset="-128"/>
                <a:hlinkClick r:id="rId3"/>
              </a:rPr>
              <a:t>www.ccac.ca/fr/alternatives</a:t>
            </a:r>
            <a:endParaRPr lang="fr-CA" sz="1600" b="1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10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12" name="Content Placeholder 13"/>
          <p:cNvSpPr>
            <a:spLocks noGrp="1"/>
          </p:cNvSpPr>
          <p:nvPr>
            <p:ph idx="1"/>
          </p:nvPr>
        </p:nvSpPr>
        <p:spPr>
          <a:xfrm>
            <a:off x="3200400" y="1652606"/>
            <a:ext cx="5181600" cy="685800"/>
          </a:xfrm>
        </p:spPr>
        <p:txBody>
          <a:bodyPr/>
          <a:lstStyle/>
          <a:p>
            <a:r>
              <a:rPr lang="fr-CA" sz="1800" dirty="0" smtClean="0"/>
              <a:t>Est-ce</a:t>
            </a:r>
            <a:r>
              <a:rPr lang="en-US" sz="1800" dirty="0" smtClean="0"/>
              <a:t> possible de ne pas </a:t>
            </a:r>
            <a:r>
              <a:rPr lang="fr-CA" sz="1800" dirty="0" smtClean="0"/>
              <a:t>utiliser</a:t>
            </a:r>
            <a:r>
              <a:rPr lang="en-US" sz="1800" dirty="0" smtClean="0"/>
              <a:t> de </a:t>
            </a:r>
            <a:r>
              <a:rPr lang="fr-CA" sz="1800" dirty="0" smtClean="0"/>
              <a:t>modèles</a:t>
            </a:r>
            <a:r>
              <a:rPr lang="en-US" sz="1800" dirty="0" smtClean="0"/>
              <a:t> </a:t>
            </a:r>
            <a:r>
              <a:rPr lang="fr-CA" sz="1800" dirty="0" smtClean="0"/>
              <a:t>animaux</a:t>
            </a:r>
            <a:r>
              <a:rPr lang="en-US" sz="1800" dirty="0" smtClean="0"/>
              <a:t>?</a:t>
            </a:r>
          </a:p>
        </p:txBody>
      </p:sp>
      <p:sp>
        <p:nvSpPr>
          <p:cNvPr id="14" name="Content Placeholder 13"/>
          <p:cNvSpPr txBox="1">
            <a:spLocks/>
          </p:cNvSpPr>
          <p:nvPr/>
        </p:nvSpPr>
        <p:spPr>
          <a:xfrm>
            <a:off x="3200400" y="2805076"/>
            <a:ext cx="5181600" cy="939796"/>
          </a:xfrm>
          <a:prstGeom prst="rect">
            <a:avLst/>
          </a:prstGeom>
        </p:spPr>
        <p:txBody>
          <a:bodyPr/>
          <a:lstStyle/>
          <a:p>
            <a:pPr marL="419100" lvl="0" indent="-382588" defTabSz="914400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18" charset="2"/>
              <a:buChar char=""/>
            </a:pP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Quel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es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t le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nombre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minimum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d’animaux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requis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pour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obtenir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des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résultats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statistiquement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valides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?</a:t>
            </a:r>
          </a:p>
        </p:txBody>
      </p:sp>
      <p:sp>
        <p:nvSpPr>
          <p:cNvPr id="15" name="Content Placeholder 13"/>
          <p:cNvSpPr txBox="1">
            <a:spLocks/>
          </p:cNvSpPr>
          <p:nvPr/>
        </p:nvSpPr>
        <p:spPr>
          <a:xfrm>
            <a:off x="3200400" y="4215423"/>
            <a:ext cx="5181600" cy="1295400"/>
          </a:xfrm>
          <a:prstGeom prst="rect">
            <a:avLst/>
          </a:prstGeom>
        </p:spPr>
        <p:txBody>
          <a:bodyPr/>
          <a:lstStyle/>
          <a:p>
            <a:pPr marL="419100" lvl="0" indent="-382588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18" charset="2"/>
              <a:buChar char=""/>
            </a:pP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Est-ce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que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des solutions de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remplacement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et de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réduction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ont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été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considérées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?</a:t>
            </a:r>
          </a:p>
          <a:p>
            <a:pPr marL="419100" lvl="0" indent="-382588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18" charset="2"/>
              <a:buChar char=""/>
            </a:pP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Est-ce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que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la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douleur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et la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détresse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sont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</a:t>
            </a:r>
            <a:r>
              <a:rPr lang="fr-CA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atténuées</a:t>
            </a:r>
            <a:r>
              <a:rPr lang="en-US" sz="18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 le plus possible?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543956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Sélection de modèles d’animaux de ferme appropriés 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1484313"/>
            <a:ext cx="8677275" cy="512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Le </a:t>
            </a: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degré de sensation qu’un animal peut </a:t>
            </a:r>
            <a:r>
              <a:rPr lang="fr-FR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ressentir</a:t>
            </a:r>
            <a:endParaRPr lang="fr-FR" sz="20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07" charset="-128"/>
              <a:cs typeface="ＭＳ Ｐゴシック" pitchFamily="-107" charset="-128"/>
            </a:endParaRP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La longévité de l’animal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La disponibilité de l’animal en captivité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Le degré de tolérance à la présence humaine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Les exigences spéciales en matière de soins et d’hébergement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La disponibilité des renseignements sur l'anatomie, la physiologie et le comportement de l’espèce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L’admissibilité de l’animal comme sujet pour une étude dans des conditions expérimentales</a:t>
            </a:r>
          </a:p>
          <a:p>
            <a:pPr marL="419100" lvl="1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FR" sz="20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L’utilité des résultats obtenus en matière de physiologie de l’humain 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686800" cy="1143000"/>
          </a:xfrm>
        </p:spPr>
        <p:txBody>
          <a:bodyPr/>
          <a:lstStyle/>
          <a:p>
            <a:pPr>
              <a:defRPr/>
            </a:pPr>
            <a:r>
              <a:rPr lang="fr-CA" sz="2500" dirty="0" smtClean="0">
                <a:ea typeface="ＭＳ Ｐゴシック" pitchFamily="-107" charset="-128"/>
                <a:cs typeface="ＭＳ Ｐゴシック" pitchFamily="-107" charset="-128"/>
              </a:rPr>
              <a:t>Sélection de modèles d’animaux de ferme appropriés : </a:t>
            </a:r>
            <a:br>
              <a:rPr lang="fr-CA" sz="2500" dirty="0" smtClean="0">
                <a:ea typeface="ＭＳ Ｐゴシック" pitchFamily="-107" charset="-128"/>
                <a:cs typeface="ＭＳ Ｐゴシック" pitchFamily="-107" charset="-128"/>
              </a:rPr>
            </a:br>
            <a:r>
              <a:rPr lang="fr-CA" sz="2500" dirty="0" smtClean="0">
                <a:ea typeface="ＭＳ Ｐゴシック" pitchFamily="-107" charset="-128"/>
                <a:cs typeface="ＭＳ Ｐゴシック" pitchFamily="-107" charset="-128"/>
              </a:rPr>
              <a:t>considérations liées aux vétérinaires et au personnel qui manipule les animaux</a:t>
            </a:r>
            <a:endParaRPr lang="fr-CA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566863"/>
            <a:ext cx="8258175" cy="2147889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 2" pitchFamily="28" charset="2"/>
              <a:buChar char=""/>
            </a:pPr>
            <a:r>
              <a:rPr lang="fr-CA" sz="2200" dirty="0" smtClean="0">
                <a:ea typeface="ＭＳ Ｐゴシック" pitchFamily="-65" charset="-128"/>
                <a:cs typeface="ＭＳ Ｐゴシック" pitchFamily="-65" charset="-128"/>
              </a:rPr>
              <a:t>Les modèles d’animaux de ferme sont très différents des modèles de rongeurs</a:t>
            </a:r>
          </a:p>
          <a:p>
            <a:pPr>
              <a:buFont typeface="Wingdings 2" pitchFamily="28" charset="2"/>
              <a:buChar char=""/>
            </a:pPr>
            <a:r>
              <a:rPr lang="fr-CA" sz="2200" dirty="0" smtClean="0">
                <a:ea typeface="ＭＳ Ｐゴシック" pitchFamily="-65" charset="-128"/>
                <a:cs typeface="ＭＳ Ｐゴシック" pitchFamily="-65" charset="-128"/>
              </a:rPr>
              <a:t>La participation du vétérinaire est essentielle à toutes les étapes de planification et de mise en place du protocole de recherche biomédicale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5" name="Picture 2" descr="U:\ETC\Pictures\CFIA Photoshoot - Nov 2010\devecseri-nrc_CFIA-125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947573" y="3572722"/>
            <a:ext cx="3910707" cy="27157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57158" y="3572722"/>
            <a:ext cx="47149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9100" indent="-382588"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</a:pPr>
            <a:r>
              <a:rPr lang="fr-CA" sz="22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65" charset="-128"/>
                <a:cs typeface="ＭＳ Ｐゴシック" pitchFamily="-65" charset="-128"/>
              </a:rPr>
              <a:t>Le personnel de soins aux animaux doit recevoir une formation appropriée en matière de soins et de manipulation des espèces utilisées dans le cadre de la recherche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686800" cy="1143000"/>
          </a:xfrm>
        </p:spPr>
        <p:txBody>
          <a:bodyPr/>
          <a:lstStyle/>
          <a:p>
            <a:pPr>
              <a:defRPr/>
            </a:pPr>
            <a:r>
              <a:rPr lang="fr-CA" sz="3150" dirty="0" smtClean="0">
                <a:ea typeface="ＭＳ Ｐゴシック" pitchFamily="-107" charset="-128"/>
                <a:cs typeface="ＭＳ Ｐゴシック" pitchFamily="-107" charset="-128"/>
              </a:rPr>
              <a:t>Sélection de modèles d’animaux de ferme appropriés : considérations liées à la durée de la recherche</a:t>
            </a:r>
            <a:endParaRPr lang="fr-CA" sz="3150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50825" y="1574011"/>
            <a:ext cx="8569325" cy="49958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La croissance et le cycle de vie des animaux doivent être pris en considération afin de répondre aux exigences de la recherche</a:t>
            </a:r>
          </a:p>
          <a:p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Modèles utilisés dans les recherches liées aux adultes humains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doivent répondre à des critères de ressemblances physiologiques, anatomiques ou biochimiques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peuvent entraîner des problèmes en raison de leur maturité, de leur taille et des difficultés dans le cadre d’une étude à long terme</a:t>
            </a:r>
          </a:p>
          <a:p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Modèles utilisés en recherche pédiatrique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ont une période de croissance moins                                                     longue avant d’atteindre leur maturité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peuvent être utiles pour répondre à                                                   certaines questions abordés dans le                                                       projet de recherche dans des délais                                                   prescrits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5" name="Picture 2" descr="U:\ETC\Pictures\CFIA Photoshoot - Nov 2010\devecseri-nrc_CFIA-074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 flipH="1">
            <a:off x="5786446" y="4071942"/>
            <a:ext cx="2774165" cy="211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250825" y="1484313"/>
            <a:ext cx="8497888" cy="47561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Wingdings 2" pitchFamily="28" charset="2"/>
              <a:buChar char=""/>
            </a:pPr>
            <a:r>
              <a:rPr lang="fr-C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Variabilité génétique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variabilité génétique est plus élevée chez les animaux de ferme que chez les espèces d’animaux de laboratoire conventionnels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 augmentation de la variabilité dans la réponse au traitement peut nécessiter un plus grand nombre d’animaux pour obtenir des résultats scientifiques significatifs</a:t>
            </a:r>
          </a:p>
          <a:p>
            <a:pPr>
              <a:buFont typeface="Wingdings 2" pitchFamily="28" charset="2"/>
              <a:buChar char=""/>
            </a:pPr>
            <a:r>
              <a:rPr lang="fr-C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itchFamily="-107" charset="-128"/>
                <a:cs typeface="ＭＳ Ｐゴシック" pitchFamily="-107" charset="-128"/>
              </a:rPr>
              <a:t>Acquisition des animaux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critères d’acquisition sont sensiblement les mêmes que pour les animaux employés dans une recherche conventionnelle</a:t>
            </a:r>
          </a:p>
          <a:p>
            <a:pPr lvl="1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certaines restrictions supplémentaires dans certains cas</a:t>
            </a:r>
          </a:p>
        </p:txBody>
      </p:sp>
      <p:sp>
        <p:nvSpPr>
          <p:cNvPr id="22531" name="Title 3"/>
          <p:cNvSpPr>
            <a:spLocks noGrp="1"/>
          </p:cNvSpPr>
          <p:nvPr>
            <p:ph type="title"/>
          </p:nvPr>
        </p:nvSpPr>
        <p:spPr>
          <a:xfrm>
            <a:off x="457200" y="33338"/>
            <a:ext cx="8472518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Sélection de modèles d’animaux appropriés : autres considérations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Satisfaction des besoins des animaux en milieu confiné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5263" y="1428750"/>
            <a:ext cx="8415337" cy="3571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19100" indent="-382588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r>
              <a:rPr lang="fr-CA" sz="22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Pour choisir le modèle d’animal de ferme approprié, il est nécessaire de comprendre </a:t>
            </a:r>
            <a:r>
              <a:rPr lang="fr-CA" sz="22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leurs </a:t>
            </a:r>
            <a:r>
              <a:rPr lang="fr-CA" sz="22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besoins </a:t>
            </a:r>
            <a:r>
              <a:rPr lang="fr-CA" sz="22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07" charset="-128"/>
                <a:cs typeface="ＭＳ Ｐゴシック" pitchFamily="-107" charset="-128"/>
              </a:rPr>
              <a:t>sociaux et comportementaux : </a:t>
            </a:r>
          </a:p>
          <a:p>
            <a:pPr marL="722313" lvl="1" indent="-27305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le protocole expérimental doit tenir compte des besoins de chaque espèce en matière d’infrastructure</a:t>
            </a:r>
          </a:p>
          <a:p>
            <a:pPr marL="722313" lvl="1" indent="-27305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l’animal doit pouvoir faire de l’exercice au moins tous les sept jours</a:t>
            </a:r>
          </a:p>
          <a:p>
            <a:pPr marL="722313" lvl="1" indent="-27305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r>
              <a:rPr lang="fr-CA" sz="2000" dirty="0" smtClean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/>
                <a:ea typeface="ＭＳ Ｐゴシック" pitchFamily="-112" charset="-128"/>
                <a:cs typeface="Arial"/>
              </a:rPr>
              <a:t>les animaux doivent être exposés aux manipulations avant le début de la recherche</a:t>
            </a:r>
          </a:p>
          <a:p>
            <a:pPr marL="419100" indent="-382588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itchFamily="28" charset="2"/>
              <a:buChar char=""/>
              <a:defRPr/>
            </a:pPr>
            <a:endParaRPr lang="fr-CA" sz="22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2500306"/>
            <a:ext cx="8043863" cy="206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22313" lvl="1" indent="-273050">
              <a:spcBef>
                <a:spcPct val="20000"/>
              </a:spcBef>
              <a:buClr>
                <a:srgbClr val="F7DF56"/>
              </a:buClr>
              <a:buSzPct val="90000"/>
              <a:buFont typeface="Wingdings 2" pitchFamily="28" charset="2"/>
              <a:buChar char=""/>
              <a:defRPr/>
            </a:pPr>
            <a:endParaRPr lang="fr-CA" sz="2000" dirty="0"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  <a:latin typeface="Arial"/>
              <a:ea typeface="ＭＳ Ｐゴシック" pitchFamily="-112" charset="-128"/>
              <a:cs typeface="Arial"/>
            </a:endParaRPr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28728" y="4429351"/>
            <a:ext cx="6258522" cy="2090594"/>
            <a:chOff x="1428728" y="4429351"/>
            <a:chExt cx="6258522" cy="2090594"/>
          </a:xfrm>
        </p:grpSpPr>
        <p:pic>
          <p:nvPicPr>
            <p:cNvPr id="9" name="Picture 3" descr="U:\ETC\Pictures\CFIA Photoshoot - Nov 2010\devecseri-nrc_CFIA-092.jpg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5072066" y="4429351"/>
              <a:ext cx="2615184" cy="209059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10" name="Picture 4" descr="U:\ETC\Pictures\CFIA Photoshoot - Nov 2010\devecseri-nrc_CFIA-205.jpg"/>
            <p:cNvPicPr>
              <a:picLocks noChangeAspect="1" noChangeArrowheads="1"/>
            </p:cNvPicPr>
            <p:nvPr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1428728" y="4429352"/>
              <a:ext cx="2616251" cy="206352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686800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Installations et considérations liées à la lutte contre les maladies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11150" y="1539875"/>
            <a:ext cx="8437563" cy="53181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Soins appropriés aux espèces</a:t>
            </a:r>
          </a:p>
          <a:p>
            <a:pPr>
              <a:lnSpc>
                <a:spcPct val="90000"/>
              </a:lnSpc>
            </a:pPr>
            <a:r>
              <a:rPr lang="fr-FR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Programme d’assainissement et d’hygiène pour répondre aux exigences des animaux et des humains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F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équipement spécifique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F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gestion médicale selon les normes de                                   pratiques vétérinaires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F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installations de nécropsie conformes                                               aux normes </a:t>
            </a:r>
            <a:r>
              <a:rPr lang="fr-FR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zoosanitaires</a:t>
            </a:r>
            <a:endParaRPr lang="fr-F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fr-FR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Lutte contre les zoonoses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FR" sz="2000" dirty="0" smtClean="0"/>
              <a:t>les risques possibles d’exposition sont                                                    plus élevés qu’avec les modèles de                                              rongeurs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FR" sz="2000" dirty="0" smtClean="0"/>
              <a:t>particulièrement importante dans le cas                                            des agents de croisement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5" name="Picture 2" descr="C:\Users\pbelleau\AppData\Local\Microsoft\Windows\Temporary Internet Files\Content.Outlook\QC136UTZ\arterialline 2 (3)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081695" y="2631040"/>
            <a:ext cx="2667018" cy="20002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072330" y="4458780"/>
            <a:ext cx="17145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Photo : gracieuseté du gouvernement du Canada</a:t>
            </a:r>
            <a:endParaRPr lang="en-US" sz="6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81694" y="4631304"/>
            <a:ext cx="2705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Le personnel </a:t>
            </a:r>
            <a:r>
              <a:rPr lang="fr-FR" sz="1200" dirty="0" smtClean="0"/>
              <a:t>doit connaître les voies possibles de contagion et d’exposition aux maladies, ainsi qu'avoir reçu une formation sur l’emploi du matériel de protection, les interventions médicales et les procédures de sécurité à employer pour réduire les </a:t>
            </a:r>
            <a:r>
              <a:rPr lang="en-US" sz="1200" dirty="0" smtClean="0"/>
              <a:t>risques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/>
              <a:t>Exemple d’applications en recherche biomédicale : les dispositifs médicaux</a:t>
            </a:r>
            <a:endParaRPr lang="fr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88" y="1600200"/>
            <a:ext cx="8472487" cy="4756150"/>
          </a:xfrm>
        </p:spPr>
        <p:txBody>
          <a:bodyPr>
            <a:normAutofit/>
          </a:bodyPr>
          <a:lstStyle/>
          <a:p>
            <a:pPr>
              <a:buFont typeface="Wingdings 2" pitchFamily="28" charset="2"/>
              <a:buChar char=""/>
              <a:defRPr/>
            </a:pPr>
            <a:r>
              <a:rPr lang="fr-CA" sz="2200" dirty="0" smtClean="0">
                <a:ea typeface="ＭＳ Ｐゴシック" pitchFamily="-107" charset="-128"/>
                <a:cs typeface="ＭＳ Ｐゴシック" pitchFamily="-107" charset="-128"/>
              </a:rPr>
              <a:t>Deux types de dispositifs médicaux :</a:t>
            </a:r>
          </a:p>
          <a:p>
            <a:pPr lvl="1" defTabSz="457200">
              <a:buFont typeface="Wingdings 2" pitchFamily="28" charset="2"/>
              <a:buChar char=""/>
              <a:defRPr/>
            </a:pPr>
            <a:r>
              <a:rPr lang="fr-CA" sz="2000" dirty="0" smtClean="0"/>
              <a:t>externes : peuvent nécessiter des mesures de restriction et de confinement</a:t>
            </a:r>
          </a:p>
          <a:p>
            <a:pPr lvl="1" defTabSz="457200">
              <a:buFont typeface="Wingdings 2" pitchFamily="28" charset="2"/>
              <a:buChar char=""/>
              <a:defRPr/>
            </a:pPr>
            <a:r>
              <a:rPr lang="fr-CA" sz="2000" dirty="0" smtClean="0"/>
              <a:t>internes : nécessitent des stratégies permanentes d’évaluation à court et à long terme</a:t>
            </a:r>
          </a:p>
          <a:p>
            <a:pPr>
              <a:buFont typeface="Wingdings 2" pitchFamily="28" charset="2"/>
              <a:buChar char=""/>
              <a:defRPr/>
            </a:pPr>
            <a:r>
              <a:rPr lang="fr-CA" sz="2200" dirty="0" smtClean="0"/>
              <a:t>En raison de leur taille, les animaux de ferme font d’excellents modèles animaux pour tester les dispositifs médicaux tels que :</a:t>
            </a:r>
          </a:p>
          <a:p>
            <a:pPr lvl="1" defTabSz="457200">
              <a:buFont typeface="Wingdings 2" pitchFamily="28" charset="2"/>
              <a:buChar char=""/>
              <a:defRPr/>
            </a:pPr>
            <a:r>
              <a:rPr lang="fr-CA" sz="2000" dirty="0" smtClean="0"/>
              <a:t>pompes intraveineuses (recherche                                              dans le domaine cardiovasculaire)</a:t>
            </a:r>
          </a:p>
          <a:p>
            <a:pPr lvl="1" defTabSz="457200">
              <a:buFont typeface="Wingdings 2" pitchFamily="28" charset="2"/>
              <a:buChar char=""/>
              <a:defRPr/>
            </a:pPr>
            <a:r>
              <a:rPr lang="fr-CA" sz="2000" dirty="0" smtClean="0"/>
              <a:t>greffons osseux (recherche dans                                                        le domaine dentaire)</a:t>
            </a:r>
          </a:p>
          <a:p>
            <a:pPr lvl="1" defTabSz="457200">
              <a:buFont typeface="Wingdings 2" pitchFamily="28" charset="2"/>
              <a:buChar char=""/>
              <a:defRPr/>
            </a:pPr>
            <a:r>
              <a:rPr lang="fr-CA" sz="2000" dirty="0" smtClean="0"/>
              <a:t>implants de stimulateurs cérébraux                                           (recherche sur le système nerveux)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715007" y="4421964"/>
            <a:ext cx="2928959" cy="2396051"/>
            <a:chOff x="5715007" y="4421964"/>
            <a:chExt cx="2928959" cy="2396051"/>
          </a:xfrm>
        </p:grpSpPr>
        <p:pic>
          <p:nvPicPr>
            <p:cNvPr id="5" name="Picture 2" descr="C:\Users\pbelleau\AppData\Local\Microsoft\Windows\Temporary Internet Files\Content.Outlook\QC136UTZ\pig sling induction (2).bmp"/>
            <p:cNvPicPr>
              <a:picLocks noChangeAspect="1" noChangeArrowheads="1"/>
            </p:cNvPicPr>
            <p:nvPr/>
          </p:nvPicPr>
          <p:blipFill>
            <a:blip r:embed="rId2" cstate="screen"/>
            <a:srcRect/>
            <a:stretch>
              <a:fillRect/>
            </a:stretch>
          </p:blipFill>
          <p:spPr bwMode="auto">
            <a:xfrm>
              <a:off x="5715008" y="4421964"/>
              <a:ext cx="2901579" cy="193438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6929454" y="6215082"/>
              <a:ext cx="171451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CA" sz="600" dirty="0" smtClean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Photo gracieuseté du gouvernement du Canada</a:t>
              </a:r>
              <a:endParaRPr lang="en-US" sz="6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15007" y="6356350"/>
              <a:ext cx="29015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200" dirty="0" smtClean="0"/>
                <a:t>Induction de l’anesthésie réalisée au moyen d’un masque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smtClean="0">
                <a:ea typeface="ＭＳ Ｐゴシック" pitchFamily="-107" charset="-128"/>
                <a:cs typeface="ＭＳ Ｐゴシック" pitchFamily="-107" charset="-128"/>
              </a:rPr>
              <a:t>Dispositifs </a:t>
            </a: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médicaux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116013"/>
          </a:xfrm>
        </p:spPr>
        <p:txBody>
          <a:bodyPr/>
          <a:lstStyle/>
          <a:p>
            <a:pPr marL="0" indent="0" algn="ctr">
              <a:buFont typeface="Arial" pitchFamily="-107" charset="0"/>
              <a:buNone/>
              <a:defRPr/>
            </a:pPr>
            <a:r>
              <a:rPr lang="fr-CA" sz="2400" b="1" dirty="0" smtClean="0">
                <a:ea typeface="ＭＳ Ｐゴシック" pitchFamily="-107" charset="-128"/>
                <a:cs typeface="ＭＳ Ｐゴシック" pitchFamily="-107" charset="-128"/>
              </a:rPr>
              <a:t>Quel est l’impact des dispositifs médicaux </a:t>
            </a:r>
            <a:br>
              <a:rPr lang="fr-CA" sz="2400" b="1" dirty="0" smtClean="0">
                <a:ea typeface="ＭＳ Ｐゴシック" pitchFamily="-107" charset="-128"/>
                <a:cs typeface="ＭＳ Ｐゴシック" pitchFamily="-107" charset="-128"/>
              </a:rPr>
            </a:br>
            <a:r>
              <a:rPr lang="fr-CA" sz="2400" b="1" i="1" dirty="0" smtClean="0">
                <a:ea typeface="ＭＳ Ｐゴシック" pitchFamily="-107" charset="-128"/>
                <a:cs typeface="ＭＳ Ｐゴシック" pitchFamily="-107" charset="-128"/>
              </a:rPr>
              <a:t>in vivo </a:t>
            </a:r>
            <a:r>
              <a:rPr lang="fr-CA" sz="2400" b="1" dirty="0" smtClean="0">
                <a:ea typeface="ＭＳ Ｐゴシック" pitchFamily="-107" charset="-128"/>
                <a:cs typeface="ＭＳ Ｐゴシック" pitchFamily="-107" charset="-128"/>
              </a:rPr>
              <a:t>chez l’animal? </a:t>
            </a:r>
            <a:endParaRPr lang="fr-CA" sz="2400" b="1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graphicFrame>
        <p:nvGraphicFramePr>
          <p:cNvPr id="17" name="Diagram 16"/>
          <p:cNvGraphicFramePr/>
          <p:nvPr/>
        </p:nvGraphicFramePr>
        <p:xfrm>
          <a:off x="457200" y="2563812"/>
          <a:ext cx="8286808" cy="3957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>
                <a:ea typeface="ＭＳ Ｐゴシック" pitchFamily="-107" charset="-128"/>
                <a:cs typeface="ＭＳ Ｐゴシック" pitchFamily="-107" charset="-128"/>
              </a:rPr>
              <a:t>T</a:t>
            </a: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ests des dispositifs médicaux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23850" y="1528763"/>
            <a:ext cx="5605472" cy="532923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Les dispositifs médicaux devraient faire l’objet de tests dans un milieu </a:t>
            </a:r>
            <a:r>
              <a:rPr lang="fr-CA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in vitro </a:t>
            </a:r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pour vérifier son utilité avec les espèces ciblées avant l’expérimentation </a:t>
            </a:r>
            <a:r>
              <a:rPr lang="fr-CA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in vivo</a:t>
            </a:r>
            <a:endParaRPr lang="fr-CA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/>
              <a:t>les dispositifs doivent être conçus en fonction de l’utilisation prévue et des espèces ciblées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/>
              <a:t>un animal en phase terminale, anesthésié et recevant une médication contre la douleur pourrait être utilisé dans la phase de raffinement de la conception</a:t>
            </a:r>
          </a:p>
          <a:p>
            <a:r>
              <a:rPr lang="fr-CA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Au moment de tester les dispositifs médicaux, une attention particulière doit être portée :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/>
              <a:t>à l’impact possible sur le bien-être de l’animal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/>
              <a:t>aux soins particuliers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1800" dirty="0" smtClean="0"/>
              <a:t>à l’établissement de points limites</a:t>
            </a:r>
          </a:p>
        </p:txBody>
      </p:sp>
      <p:sp>
        <p:nvSpPr>
          <p:cNvPr id="4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143636" y="1961499"/>
            <a:ext cx="2786082" cy="3724783"/>
            <a:chOff x="6143636" y="1961499"/>
            <a:chExt cx="2786082" cy="3724783"/>
          </a:xfrm>
        </p:grpSpPr>
        <p:pic>
          <p:nvPicPr>
            <p:cNvPr id="5" name="Picture 2" descr="C:\Users\pbelleau\AppData\Local\Microsoft\Windows\Temporary Internet Files\Content.Outlook\QC136UTZ\whole setup.jpg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6143636" y="1961499"/>
              <a:ext cx="2706624" cy="326311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6143636" y="5224617"/>
              <a:ext cx="2706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200" dirty="0" smtClean="0"/>
                <a:t>Modèle  de porc domestique  branché à plusieurs instruments</a:t>
              </a:r>
              <a:endParaRPr 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215206" y="5072074"/>
              <a:ext cx="171451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CA" sz="600" dirty="0" smtClean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Photo gracieuseté du gouvernement du Canada</a:t>
              </a:r>
              <a:endParaRPr lang="en-US" sz="6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472488" cy="1143000"/>
          </a:xfrm>
        </p:spPr>
        <p:txBody>
          <a:bodyPr/>
          <a:lstStyle/>
          <a:p>
            <a:pPr>
              <a:defRPr/>
            </a:pP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Défaillance des dispositifs médicaux  et</a:t>
            </a:r>
            <a:b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</a:br>
            <a:r>
              <a:rPr lang="fr-CA" dirty="0" smtClean="0">
                <a:ea typeface="ＭＳ Ｐゴシック" pitchFamily="-107" charset="-128"/>
                <a:cs typeface="ＭＳ Ｐゴシック" pitchFamily="-107" charset="-128"/>
              </a:rPr>
              <a:t>points limites</a:t>
            </a:r>
            <a:endParaRPr lang="fr-CA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50825" y="1500174"/>
            <a:ext cx="8893175" cy="425767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Le protocole de la recherche devrait inclure :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la fiabilité du rendement des dispositifs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la biocompatibilité d’un dispositif avec le modèle animal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les stratégies pour contrer les défaillances et  réparer les dispositifs</a:t>
            </a:r>
          </a:p>
          <a:p>
            <a:r>
              <a:rPr lang="fr-CA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Les points limites devraient :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être choisis en équilibrant objectifs scientifiques et bien-être animal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000" dirty="0" smtClean="0"/>
              <a:t>présenter les procédures détaillées présentant les mesures à prendre en cas de défaillance ou d’un mauvais fonctionnement  du dispositif</a:t>
            </a:r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457200" y="5225395"/>
            <a:ext cx="8258204" cy="1064907"/>
          </a:xfrm>
          <a:prstGeom prst="rect">
            <a:avLst/>
          </a:prstGeom>
          <a:solidFill>
            <a:schemeClr val="bg1">
              <a:alpha val="25098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CA" sz="1580" dirty="0"/>
              <a:t>Pour de plus amples </a:t>
            </a:r>
            <a:r>
              <a:rPr lang="fr-CA" sz="1580" dirty="0" smtClean="0"/>
              <a:t>renseignements </a:t>
            </a:r>
            <a:r>
              <a:rPr lang="fr-CA" sz="1580" dirty="0"/>
              <a:t>sur les points limites, consultez les </a:t>
            </a:r>
            <a:r>
              <a:rPr lang="fr-CA" sz="1580" i="1" dirty="0"/>
              <a:t>L</a:t>
            </a:r>
            <a:r>
              <a:rPr lang="fr-CA" sz="1580" i="1" dirty="0" smtClean="0"/>
              <a:t>ignes </a:t>
            </a:r>
            <a:r>
              <a:rPr lang="fr-CA" sz="1580" i="1" dirty="0"/>
              <a:t>directrices du CCPA sur</a:t>
            </a:r>
            <a:r>
              <a:rPr lang="fr-CA" sz="1580" dirty="0"/>
              <a:t> : </a:t>
            </a:r>
            <a:r>
              <a:rPr lang="fr-CA" sz="1580" i="1" dirty="0"/>
              <a:t>choisir un point limite approprié pour les expériences faisant appel à l'utilisation des animaux en recherche, en enseignement et dans les tests</a:t>
            </a:r>
            <a:r>
              <a:rPr lang="fr-CA" sz="1580" dirty="0"/>
              <a:t> (1998</a:t>
            </a:r>
            <a:r>
              <a:rPr lang="fr-CA" sz="1580" dirty="0" smtClean="0"/>
              <a:t>) </a:t>
            </a:r>
            <a:r>
              <a:rPr lang="fr-CA" sz="1580" dirty="0"/>
              <a:t>et le </a:t>
            </a:r>
            <a:r>
              <a:rPr lang="fr-CA" sz="1580" i="1" dirty="0"/>
              <a:t>M</a:t>
            </a:r>
            <a:r>
              <a:rPr lang="fr-CA" sz="1580" i="1" dirty="0" smtClean="0"/>
              <a:t>odule </a:t>
            </a:r>
            <a:r>
              <a:rPr lang="fr-CA" sz="1580" i="1" dirty="0"/>
              <a:t>de formation du CCPA sur : </a:t>
            </a:r>
            <a:r>
              <a:rPr lang="fr-CA" sz="1580" i="1" dirty="0" smtClean="0"/>
              <a:t>la douleur, la </a:t>
            </a:r>
            <a:r>
              <a:rPr lang="fr-CA" sz="1580" i="1" dirty="0"/>
              <a:t>détresse et </a:t>
            </a:r>
            <a:r>
              <a:rPr lang="fr-CA" sz="1580" i="1" dirty="0" smtClean="0"/>
              <a:t>les points </a:t>
            </a:r>
            <a:r>
              <a:rPr lang="fr-CA" sz="1580" i="1" dirty="0"/>
              <a:t>limites</a:t>
            </a:r>
            <a:r>
              <a:rPr lang="fr-CA" sz="1580" dirty="0"/>
              <a:t> (2010</a:t>
            </a:r>
            <a:r>
              <a:rPr lang="fr-CA" sz="1580" dirty="0" smtClean="0"/>
              <a:t>)</a:t>
            </a:r>
            <a:endParaRPr lang="fr-CA" sz="1580" dirty="0"/>
          </a:p>
        </p:txBody>
      </p:sp>
      <p:sp>
        <p:nvSpPr>
          <p:cNvPr id="5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 dirty="0" smtClean="0"/>
              <a:t>En bref</a:t>
            </a:r>
            <a:endParaRPr lang="fr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88300" cy="42672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fr-C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Les animaux de ferme sont utiles dans le cadre de certains projets de recherche biomédicale, pourvu que le modèle animal approprié soit employé </a:t>
            </a:r>
          </a:p>
          <a:p>
            <a:r>
              <a:rPr lang="fr-CA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ＭＳ Ｐゴシック" pitchFamily="34" charset="-128"/>
                <a:cs typeface="Arial" pitchFamily="34" charset="0"/>
              </a:rPr>
              <a:t>On doit porter attention à :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/>
              <a:t>l’équilibre entre les besoins de l’animal et l’atteinte des objectifs scientifiques</a:t>
            </a:r>
          </a:p>
          <a:p>
            <a:pPr lvl="1" defTabSz="457200">
              <a:lnSpc>
                <a:spcPct val="90000"/>
              </a:lnSpc>
              <a:buFont typeface="Wingdings 2" pitchFamily="28" charset="2"/>
              <a:buChar char=""/>
              <a:defRPr/>
            </a:pPr>
            <a:r>
              <a:rPr lang="fr-CA" sz="2200" dirty="0" smtClean="0"/>
              <a:t>la compréhension des impacts de la recherche biomédicale sur le bien-être de l’animal</a:t>
            </a:r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 bwMode="auto">
          <a:xfrm>
            <a:off x="7010400" y="64928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EEDE51-F721-7B4D-8276-F7DF9B50113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2910" y="5286389"/>
            <a:ext cx="8043890" cy="996510"/>
          </a:xfrm>
          <a:prstGeom prst="round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fr-F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ＭＳ Ｐゴシック" pitchFamily="-107" charset="-128"/>
                <a:cs typeface="Calibri" pitchFamily="34" charset="0"/>
              </a:rPr>
              <a:t>Les chercheurs devraient s’efforcer d’atteindre leurs objectifs scientifiques tout en respectant les normes les plus élevées de  bien-être animal</a:t>
            </a:r>
            <a:endParaRPr lang="fr-FR" sz="2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ＭＳ Ｐゴシック" pitchFamily="-107" charset="-128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5423</TotalTime>
  <Words>1508</Words>
  <Application>Microsoft Macintosh PowerPoint</Application>
  <PresentationFormat>On-screen Show (4:3)</PresentationFormat>
  <Paragraphs>180</Paragraphs>
  <Slides>19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Theme1</vt:lpstr>
      <vt:lpstr>Module de formation du CCPA sur :  les animaux de ferme utilisés  en recherche biomédicale</vt:lpstr>
      <vt:lpstr>Pertinence de ce module de formation</vt:lpstr>
      <vt:lpstr>Objectifs de ce module de formation </vt:lpstr>
      <vt:lpstr>Plan de ce module de formation</vt:lpstr>
      <vt:lpstr>Animaux de ferme utilisés en recherche biomédicale</vt:lpstr>
      <vt:lpstr>Exemples d’animaux de ferme utilisés en recherche biomédicale</vt:lpstr>
      <vt:lpstr>Défis liés à l’utilisation d’animaux de ferme en recherche biomédicale</vt:lpstr>
      <vt:lpstr>Considérations liées aux Trois R</vt:lpstr>
      <vt:lpstr>Sélection de modèles d’animaux de ferme appropriés </vt:lpstr>
      <vt:lpstr>Sélection de modèles d’animaux de ferme appropriés :  considérations liées aux vétérinaires et au personnel qui manipule les animaux</vt:lpstr>
      <vt:lpstr>Sélection de modèles d’animaux de ferme appropriés : considérations liées à la durée de la recherche</vt:lpstr>
      <vt:lpstr>Sélection de modèles d’animaux appropriés : autres considérations</vt:lpstr>
      <vt:lpstr>Satisfaction des besoins des animaux en milieu confiné</vt:lpstr>
      <vt:lpstr>Installations et considérations liées à la lutte contre les maladies</vt:lpstr>
      <vt:lpstr>Exemple d’applications en recherche biomédicale : les dispositifs médicaux</vt:lpstr>
      <vt:lpstr>Dispositifs médicaux</vt:lpstr>
      <vt:lpstr>Tests des dispositifs médicaux</vt:lpstr>
      <vt:lpstr>Défaillance des dispositifs médicaux  et points limites</vt:lpstr>
      <vt:lpstr>En bref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 Animals in Biomedical Applications</dc:title>
  <dc:creator>Gosia Zobel</dc:creator>
  <cp:lastModifiedBy>Norman Lachance</cp:lastModifiedBy>
  <cp:revision>317</cp:revision>
  <cp:lastPrinted>2010-11-18T15:46:00Z</cp:lastPrinted>
  <dcterms:created xsi:type="dcterms:W3CDTF">2010-12-21T20:46:03Z</dcterms:created>
  <dcterms:modified xsi:type="dcterms:W3CDTF">2011-02-09T16:00:05Z</dcterms:modified>
</cp:coreProperties>
</file>