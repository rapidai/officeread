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65" r:id="rId2"/>
    <p:sldId id="366" r:id="rId3"/>
    <p:sldId id="307" r:id="rId4"/>
    <p:sldId id="308" r:id="rId5"/>
    <p:sldId id="367" r:id="rId6"/>
    <p:sldId id="344" r:id="rId7"/>
    <p:sldId id="269" r:id="rId8"/>
    <p:sldId id="355" r:id="rId9"/>
    <p:sldId id="313" r:id="rId10"/>
    <p:sldId id="368" r:id="rId11"/>
    <p:sldId id="270" r:id="rId12"/>
    <p:sldId id="271" r:id="rId13"/>
    <p:sldId id="277" r:id="rId14"/>
    <p:sldId id="262" r:id="rId15"/>
    <p:sldId id="356" r:id="rId16"/>
    <p:sldId id="357" r:id="rId17"/>
    <p:sldId id="276" r:id="rId18"/>
    <p:sldId id="314" r:id="rId19"/>
    <p:sldId id="338" r:id="rId20"/>
    <p:sldId id="279" r:id="rId21"/>
  </p:sldIdLst>
  <p:sldSz cx="9144000" cy="6858000" type="screen4x3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8080"/>
    <a:srgbClr val="33996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4" autoAdjust="0"/>
    <p:restoredTop sz="94654" autoAdjust="0"/>
  </p:normalViewPr>
  <p:slideViewPr>
    <p:cSldViewPr showGuides="1">
      <p:cViewPr>
        <p:scale>
          <a:sx n="66" d="100"/>
          <a:sy n="66" d="100"/>
        </p:scale>
        <p:origin x="-918" y="-4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orge\My%20Documents\uconn\researchSNPCalling\NA12878_result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orge\My%20Documents\uconn\researchSNPCalling\NA12878_result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orge\Mis%20documentos\uconn\research\researchSNPCalling\MismatchesStatsNA12878_rev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orge\My%20Documents\uconn\researchSNPCalling\NA12878_results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Jorge\Mis%20documentos\uconn\research\researchSNPCalling\NA12878_results_rev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chart>
    <c:plotArea>
      <c:layout>
        <c:manualLayout>
          <c:layoutTarget val="inner"/>
          <c:xMode val="edge"/>
          <c:yMode val="edge"/>
          <c:x val="0.13721646636275744"/>
          <c:y val="5.1400554097404488E-2"/>
          <c:w val="0.7876376571349637"/>
          <c:h val="0.80157325922494949"/>
        </c:manualLayout>
      </c:layout>
      <c:scatterChart>
        <c:scatterStyle val="lineMarker"/>
        <c:ser>
          <c:idx val="3"/>
          <c:order val="0"/>
          <c:tx>
            <c:strRef>
              <c:f>Mapping_SNPCalling_ccds!$A$33</c:f>
              <c:strCache>
                <c:ptCount val="1"/>
                <c:pt idx="0">
                  <c:v>Transcripts</c:v>
                </c:pt>
              </c:strCache>
            </c:strRef>
          </c:tx>
          <c:spPr>
            <a:ln w="50800"/>
          </c:spPr>
          <c:xVal>
            <c:numRef>
              <c:f>Mapping_SNPCalling_ccds!$D$33:$D$42</c:f>
              <c:numCache>
                <c:formatCode>General</c:formatCode>
                <c:ptCount val="10"/>
                <c:pt idx="0">
                  <c:v>109</c:v>
                </c:pt>
                <c:pt idx="1">
                  <c:v>64</c:v>
                </c:pt>
                <c:pt idx="2">
                  <c:v>53</c:v>
                </c:pt>
                <c:pt idx="3">
                  <c:v>44</c:v>
                </c:pt>
                <c:pt idx="4">
                  <c:v>37</c:v>
                </c:pt>
                <c:pt idx="5">
                  <c:v>32</c:v>
                </c:pt>
                <c:pt idx="6">
                  <c:v>24</c:v>
                </c:pt>
                <c:pt idx="7">
                  <c:v>17</c:v>
                </c:pt>
                <c:pt idx="8">
                  <c:v>17</c:v>
                </c:pt>
                <c:pt idx="9">
                  <c:v>15</c:v>
                </c:pt>
              </c:numCache>
            </c:numRef>
          </c:xVal>
          <c:yVal>
            <c:numRef>
              <c:f>Mapping_SNPCalling_ccds!$C$33:$C$42</c:f>
              <c:numCache>
                <c:formatCode>General</c:formatCode>
                <c:ptCount val="10"/>
                <c:pt idx="0">
                  <c:v>4122</c:v>
                </c:pt>
                <c:pt idx="1">
                  <c:v>3989</c:v>
                </c:pt>
                <c:pt idx="2">
                  <c:v>3883</c:v>
                </c:pt>
                <c:pt idx="3">
                  <c:v>3765</c:v>
                </c:pt>
                <c:pt idx="4">
                  <c:v>3600</c:v>
                </c:pt>
                <c:pt idx="5">
                  <c:v>3462</c:v>
                </c:pt>
                <c:pt idx="6">
                  <c:v>3138</c:v>
                </c:pt>
                <c:pt idx="7">
                  <c:v>2562</c:v>
                </c:pt>
                <c:pt idx="8">
                  <c:v>2112</c:v>
                </c:pt>
                <c:pt idx="9">
                  <c:v>1813</c:v>
                </c:pt>
              </c:numCache>
            </c:numRef>
          </c:yVal>
        </c:ser>
        <c:ser>
          <c:idx val="2"/>
          <c:order val="1"/>
          <c:tx>
            <c:strRef>
              <c:f>Mapping_SNPCalling_ccds!$A$23</c:f>
              <c:strCache>
                <c:ptCount val="1"/>
                <c:pt idx="0">
                  <c:v>Genome</c:v>
                </c:pt>
              </c:strCache>
            </c:strRef>
          </c:tx>
          <c:spPr>
            <a:ln w="50800"/>
          </c:spPr>
          <c:xVal>
            <c:numRef>
              <c:f>Mapping_SNPCalling_ccds!$D$23:$D$32</c:f>
              <c:numCache>
                <c:formatCode>General</c:formatCode>
                <c:ptCount val="10"/>
                <c:pt idx="0">
                  <c:v>80</c:v>
                </c:pt>
                <c:pt idx="1">
                  <c:v>40</c:v>
                </c:pt>
                <c:pt idx="2">
                  <c:v>30</c:v>
                </c:pt>
                <c:pt idx="3">
                  <c:v>25</c:v>
                </c:pt>
                <c:pt idx="4">
                  <c:v>21</c:v>
                </c:pt>
                <c:pt idx="5">
                  <c:v>17</c:v>
                </c:pt>
                <c:pt idx="6">
                  <c:v>13</c:v>
                </c:pt>
                <c:pt idx="7">
                  <c:v>8</c:v>
                </c:pt>
                <c:pt idx="8">
                  <c:v>8</c:v>
                </c:pt>
                <c:pt idx="9">
                  <c:v>7</c:v>
                </c:pt>
              </c:numCache>
            </c:numRef>
          </c:xVal>
          <c:yVal>
            <c:numRef>
              <c:f>Mapping_SNPCalling_ccds!$C$23:$C$32</c:f>
              <c:numCache>
                <c:formatCode>General</c:formatCode>
                <c:ptCount val="10"/>
                <c:pt idx="0">
                  <c:v>3859</c:v>
                </c:pt>
                <c:pt idx="1">
                  <c:v>3720</c:v>
                </c:pt>
                <c:pt idx="2">
                  <c:v>3611</c:v>
                </c:pt>
                <c:pt idx="3">
                  <c:v>3493</c:v>
                </c:pt>
                <c:pt idx="4">
                  <c:v>3317</c:v>
                </c:pt>
                <c:pt idx="5">
                  <c:v>3181</c:v>
                </c:pt>
                <c:pt idx="6">
                  <c:v>2844</c:v>
                </c:pt>
                <c:pt idx="7">
                  <c:v>2267</c:v>
                </c:pt>
                <c:pt idx="8">
                  <c:v>1827</c:v>
                </c:pt>
                <c:pt idx="9">
                  <c:v>1546</c:v>
                </c:pt>
              </c:numCache>
            </c:numRef>
          </c:yVal>
        </c:ser>
        <c:ser>
          <c:idx val="1"/>
          <c:order val="2"/>
          <c:tx>
            <c:strRef>
              <c:f>Mapping_SNPCalling_ccds!$A$13</c:f>
              <c:strCache>
                <c:ptCount val="1"/>
                <c:pt idx="0">
                  <c:v>SoftMerge</c:v>
                </c:pt>
              </c:strCache>
            </c:strRef>
          </c:tx>
          <c:spPr>
            <a:ln w="50800"/>
          </c:spPr>
          <c:xVal>
            <c:numRef>
              <c:f>Mapping_SNPCalling_ccds!$D$13:$D$22</c:f>
              <c:numCache>
                <c:formatCode>General</c:formatCode>
                <c:ptCount val="10"/>
                <c:pt idx="0">
                  <c:v>79</c:v>
                </c:pt>
                <c:pt idx="1">
                  <c:v>40</c:v>
                </c:pt>
                <c:pt idx="2">
                  <c:v>33</c:v>
                </c:pt>
                <c:pt idx="3">
                  <c:v>28</c:v>
                </c:pt>
                <c:pt idx="4">
                  <c:v>22</c:v>
                </c:pt>
                <c:pt idx="5">
                  <c:v>19</c:v>
                </c:pt>
                <c:pt idx="6">
                  <c:v>15</c:v>
                </c:pt>
                <c:pt idx="7">
                  <c:v>10</c:v>
                </c:pt>
                <c:pt idx="8">
                  <c:v>10</c:v>
                </c:pt>
                <c:pt idx="9">
                  <c:v>9</c:v>
                </c:pt>
              </c:numCache>
            </c:numRef>
          </c:xVal>
          <c:yVal>
            <c:numRef>
              <c:f>Mapping_SNPCalling_ccds!$C$13:$C$22</c:f>
              <c:numCache>
                <c:formatCode>General</c:formatCode>
                <c:ptCount val="10"/>
                <c:pt idx="0">
                  <c:v>4127</c:v>
                </c:pt>
                <c:pt idx="1">
                  <c:v>3990</c:v>
                </c:pt>
                <c:pt idx="2">
                  <c:v>3885</c:v>
                </c:pt>
                <c:pt idx="3">
                  <c:v>3769</c:v>
                </c:pt>
                <c:pt idx="4">
                  <c:v>3602</c:v>
                </c:pt>
                <c:pt idx="5">
                  <c:v>3470</c:v>
                </c:pt>
                <c:pt idx="6">
                  <c:v>3146</c:v>
                </c:pt>
                <c:pt idx="7">
                  <c:v>2557</c:v>
                </c:pt>
                <c:pt idx="8">
                  <c:v>2106</c:v>
                </c:pt>
                <c:pt idx="9">
                  <c:v>1801</c:v>
                </c:pt>
              </c:numCache>
            </c:numRef>
          </c:yVal>
        </c:ser>
        <c:ser>
          <c:idx val="0"/>
          <c:order val="3"/>
          <c:tx>
            <c:strRef>
              <c:f>Mapping_SNPCalling_ccds!$A$3</c:f>
              <c:strCache>
                <c:ptCount val="1"/>
                <c:pt idx="0">
                  <c:v>HardMerge</c:v>
                </c:pt>
              </c:strCache>
            </c:strRef>
          </c:tx>
          <c:spPr>
            <a:ln w="50800"/>
          </c:spPr>
          <c:xVal>
            <c:numRef>
              <c:f>Mapping_SNPCalling_ccds!$D$3:$D$12</c:f>
              <c:numCache>
                <c:formatCode>General</c:formatCode>
                <c:ptCount val="10"/>
                <c:pt idx="0">
                  <c:v>78</c:v>
                </c:pt>
                <c:pt idx="1">
                  <c:v>41</c:v>
                </c:pt>
                <c:pt idx="2">
                  <c:v>34</c:v>
                </c:pt>
                <c:pt idx="3">
                  <c:v>29</c:v>
                </c:pt>
                <c:pt idx="4">
                  <c:v>23</c:v>
                </c:pt>
                <c:pt idx="5">
                  <c:v>19</c:v>
                </c:pt>
                <c:pt idx="6">
                  <c:v>16</c:v>
                </c:pt>
                <c:pt idx="7">
                  <c:v>10</c:v>
                </c:pt>
                <c:pt idx="8">
                  <c:v>10</c:v>
                </c:pt>
                <c:pt idx="9">
                  <c:v>9</c:v>
                </c:pt>
              </c:numCache>
            </c:numRef>
          </c:xVal>
          <c:yVal>
            <c:numRef>
              <c:f>Mapping_SNPCalling_ccds!$C$3:$C$12</c:f>
              <c:numCache>
                <c:formatCode>General</c:formatCode>
                <c:ptCount val="10"/>
                <c:pt idx="0">
                  <c:v>4100</c:v>
                </c:pt>
                <c:pt idx="1">
                  <c:v>3959</c:v>
                </c:pt>
                <c:pt idx="2">
                  <c:v>3851</c:v>
                </c:pt>
                <c:pt idx="3">
                  <c:v>3735</c:v>
                </c:pt>
                <c:pt idx="4">
                  <c:v>3563</c:v>
                </c:pt>
                <c:pt idx="5">
                  <c:v>3427</c:v>
                </c:pt>
                <c:pt idx="6">
                  <c:v>3095</c:v>
                </c:pt>
                <c:pt idx="7">
                  <c:v>2522</c:v>
                </c:pt>
                <c:pt idx="8">
                  <c:v>2075</c:v>
                </c:pt>
                <c:pt idx="9">
                  <c:v>1770</c:v>
                </c:pt>
              </c:numCache>
            </c:numRef>
          </c:yVal>
        </c:ser>
        <c:axId val="53088256"/>
        <c:axId val="53743616"/>
      </c:scatterChart>
      <c:valAx>
        <c:axId val="53088256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600" dirty="0" smtClean="0"/>
                  <a:t>False Positives</a:t>
                </a:r>
                <a:endParaRPr lang="en-US" sz="1600" dirty="0"/>
              </a:p>
            </c:rich>
          </c:tx>
        </c:title>
        <c:numFmt formatCode="General" sourceLinked="1"/>
        <c:tickLblPos val="nextTo"/>
        <c:txPr>
          <a:bodyPr/>
          <a:lstStyle/>
          <a:p>
            <a:pPr>
              <a:defRPr sz="1600" baseline="0"/>
            </a:pPr>
            <a:endParaRPr lang="es-ES"/>
          </a:p>
        </c:txPr>
        <c:crossAx val="53743616"/>
        <c:crosses val="autoZero"/>
        <c:crossBetween val="midCat"/>
      </c:valAx>
      <c:valAx>
        <c:axId val="53743616"/>
        <c:scaling>
          <c:orientation val="minMax"/>
          <c:min val="1500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sz="1600" dirty="0" smtClean="0"/>
                  <a:t>True Positives</a:t>
                </a:r>
                <a:endParaRPr lang="en-US" sz="1600" dirty="0"/>
              </a:p>
            </c:rich>
          </c:tx>
        </c:title>
        <c:numFmt formatCode="General" sourceLinked="1"/>
        <c:tickLblPos val="nextTo"/>
        <c:txPr>
          <a:bodyPr/>
          <a:lstStyle/>
          <a:p>
            <a:pPr>
              <a:defRPr sz="1600" baseline="0"/>
            </a:pPr>
            <a:endParaRPr lang="es-ES"/>
          </a:p>
        </c:txPr>
        <c:crossAx val="53088256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55595275590551152"/>
          <c:y val="0.3994955226184963"/>
          <c:w val="0.21163726897755542"/>
          <c:h val="0.26743824381619624"/>
        </c:manualLayout>
      </c:layout>
      <c:txPr>
        <a:bodyPr/>
        <a:lstStyle/>
        <a:p>
          <a:pPr>
            <a:defRPr sz="1600" baseline="0"/>
          </a:pPr>
          <a:endParaRPr lang="es-ES"/>
        </a:p>
      </c:txPr>
    </c:legend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chart>
    <c:plotArea>
      <c:layout>
        <c:manualLayout>
          <c:layoutTarget val="inner"/>
          <c:xMode val="edge"/>
          <c:yMode val="edge"/>
          <c:x val="0.18372639395685314"/>
          <c:y val="2.9520202020202019E-2"/>
          <c:w val="0.75500592151590862"/>
          <c:h val="0.81444881889763787"/>
        </c:manualLayout>
      </c:layout>
      <c:scatterChart>
        <c:scatterStyle val="smoothMarker"/>
        <c:ser>
          <c:idx val="0"/>
          <c:order val="0"/>
          <c:tx>
            <c:strRef>
              <c:f>Mapping_SNPCalling!$C$1</c:f>
              <c:strCache>
                <c:ptCount val="1"/>
                <c:pt idx="0">
                  <c:v>SNVQ</c:v>
                </c:pt>
              </c:strCache>
            </c:strRef>
          </c:tx>
          <c:spPr>
            <a:ln w="50800"/>
          </c:spPr>
          <c:xVal>
            <c:numRef>
              <c:f>Mapping_SNPCalling!$D$3:$D$12</c:f>
              <c:numCache>
                <c:formatCode>General</c:formatCode>
                <c:ptCount val="10"/>
                <c:pt idx="0">
                  <c:v>1191</c:v>
                </c:pt>
                <c:pt idx="1">
                  <c:v>509</c:v>
                </c:pt>
                <c:pt idx="2">
                  <c:v>341</c:v>
                </c:pt>
                <c:pt idx="3">
                  <c:v>261</c:v>
                </c:pt>
                <c:pt idx="4">
                  <c:v>185</c:v>
                </c:pt>
                <c:pt idx="5">
                  <c:v>148</c:v>
                </c:pt>
                <c:pt idx="6">
                  <c:v>62</c:v>
                </c:pt>
                <c:pt idx="7">
                  <c:v>36</c:v>
                </c:pt>
                <c:pt idx="8">
                  <c:v>30</c:v>
                </c:pt>
                <c:pt idx="9">
                  <c:v>26</c:v>
                </c:pt>
              </c:numCache>
            </c:numRef>
          </c:xVal>
          <c:yVal>
            <c:numRef>
              <c:f>Mapping_SNPCalling!$C$3:$C$12</c:f>
              <c:numCache>
                <c:formatCode>General</c:formatCode>
                <c:ptCount val="10"/>
                <c:pt idx="0">
                  <c:v>19263</c:v>
                </c:pt>
                <c:pt idx="1">
                  <c:v>17880</c:v>
                </c:pt>
                <c:pt idx="2">
                  <c:v>16796</c:v>
                </c:pt>
                <c:pt idx="3">
                  <c:v>15642</c:v>
                </c:pt>
                <c:pt idx="4">
                  <c:v>13996</c:v>
                </c:pt>
                <c:pt idx="5">
                  <c:v>12686</c:v>
                </c:pt>
                <c:pt idx="6">
                  <c:v>9103</c:v>
                </c:pt>
                <c:pt idx="7">
                  <c:v>5934</c:v>
                </c:pt>
                <c:pt idx="8">
                  <c:v>4610</c:v>
                </c:pt>
                <c:pt idx="9">
                  <c:v>3816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Mapping_SNPCalling!$E$1</c:f>
              <c:strCache>
                <c:ptCount val="1"/>
                <c:pt idx="0">
                  <c:v>SOAPsnp</c:v>
                </c:pt>
              </c:strCache>
            </c:strRef>
          </c:tx>
          <c:spPr>
            <a:ln w="50800"/>
          </c:spPr>
          <c:xVal>
            <c:numRef>
              <c:f>Mapping_SNPCalling!$F$3:$F$12</c:f>
              <c:numCache>
                <c:formatCode>General</c:formatCode>
                <c:ptCount val="10"/>
                <c:pt idx="0">
                  <c:v>1811</c:v>
                </c:pt>
                <c:pt idx="1">
                  <c:v>491</c:v>
                </c:pt>
                <c:pt idx="2">
                  <c:v>343</c:v>
                </c:pt>
                <c:pt idx="3">
                  <c:v>249</c:v>
                </c:pt>
                <c:pt idx="4">
                  <c:v>168</c:v>
                </c:pt>
                <c:pt idx="5">
                  <c:v>137</c:v>
                </c:pt>
                <c:pt idx="6">
                  <c:v>88</c:v>
                </c:pt>
                <c:pt idx="7">
                  <c:v>28</c:v>
                </c:pt>
                <c:pt idx="8">
                  <c:v>23</c:v>
                </c:pt>
                <c:pt idx="9">
                  <c:v>14</c:v>
                </c:pt>
              </c:numCache>
            </c:numRef>
          </c:xVal>
          <c:yVal>
            <c:numRef>
              <c:f>Mapping_SNPCalling!$E$3:$E$12</c:f>
              <c:numCache>
                <c:formatCode>General</c:formatCode>
                <c:ptCount val="10"/>
                <c:pt idx="0">
                  <c:v>17773</c:v>
                </c:pt>
                <c:pt idx="1">
                  <c:v>15850</c:v>
                </c:pt>
                <c:pt idx="2">
                  <c:v>14887</c:v>
                </c:pt>
                <c:pt idx="3">
                  <c:v>13707</c:v>
                </c:pt>
                <c:pt idx="4">
                  <c:v>12042</c:v>
                </c:pt>
                <c:pt idx="5">
                  <c:v>10819</c:v>
                </c:pt>
                <c:pt idx="6">
                  <c:v>8809</c:v>
                </c:pt>
                <c:pt idx="7">
                  <c:v>4542</c:v>
                </c:pt>
                <c:pt idx="8">
                  <c:v>3229</c:v>
                </c:pt>
                <c:pt idx="9">
                  <c:v>2387</c:v>
                </c:pt>
              </c:numCache>
            </c:numRef>
          </c:yVal>
          <c:smooth val="1"/>
        </c:ser>
        <c:ser>
          <c:idx val="2"/>
          <c:order val="2"/>
          <c:tx>
            <c:strRef>
              <c:f>Mapping_SNPCalling!$G$1</c:f>
              <c:strCache>
                <c:ptCount val="1"/>
                <c:pt idx="0">
                  <c:v>Maq</c:v>
                </c:pt>
              </c:strCache>
            </c:strRef>
          </c:tx>
          <c:spPr>
            <a:ln w="50800"/>
          </c:spPr>
          <c:xVal>
            <c:numRef>
              <c:f>Mapping_SNPCalling!$H$3:$H$12</c:f>
              <c:numCache>
                <c:formatCode>General</c:formatCode>
                <c:ptCount val="10"/>
                <c:pt idx="0">
                  <c:v>1793</c:v>
                </c:pt>
                <c:pt idx="1">
                  <c:v>477</c:v>
                </c:pt>
                <c:pt idx="2">
                  <c:v>333</c:v>
                </c:pt>
                <c:pt idx="3">
                  <c:v>243</c:v>
                </c:pt>
                <c:pt idx="4">
                  <c:v>166</c:v>
                </c:pt>
                <c:pt idx="5">
                  <c:v>132</c:v>
                </c:pt>
                <c:pt idx="6">
                  <c:v>83</c:v>
                </c:pt>
                <c:pt idx="7">
                  <c:v>23</c:v>
                </c:pt>
                <c:pt idx="8">
                  <c:v>18</c:v>
                </c:pt>
                <c:pt idx="9">
                  <c:v>14</c:v>
                </c:pt>
              </c:numCache>
            </c:numRef>
          </c:xVal>
          <c:yVal>
            <c:numRef>
              <c:f>Mapping_SNPCalling!$G$3:$G$12</c:f>
              <c:numCache>
                <c:formatCode>General</c:formatCode>
                <c:ptCount val="10"/>
                <c:pt idx="0">
                  <c:v>18246</c:v>
                </c:pt>
                <c:pt idx="1">
                  <c:v>16327</c:v>
                </c:pt>
                <c:pt idx="2">
                  <c:v>15367</c:v>
                </c:pt>
                <c:pt idx="3">
                  <c:v>14166</c:v>
                </c:pt>
                <c:pt idx="4">
                  <c:v>12501</c:v>
                </c:pt>
                <c:pt idx="5">
                  <c:v>11309</c:v>
                </c:pt>
                <c:pt idx="6">
                  <c:v>9116</c:v>
                </c:pt>
                <c:pt idx="7">
                  <c:v>4542</c:v>
                </c:pt>
                <c:pt idx="8">
                  <c:v>3380</c:v>
                </c:pt>
                <c:pt idx="9">
                  <c:v>2638</c:v>
                </c:pt>
              </c:numCache>
            </c:numRef>
          </c:yVal>
          <c:smooth val="1"/>
        </c:ser>
        <c:axId val="53765632"/>
        <c:axId val="53767552"/>
      </c:scatterChart>
      <c:valAx>
        <c:axId val="5376563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600"/>
                </a:pPr>
                <a:r>
                  <a:rPr lang="en-US" sz="1600" dirty="0" smtClean="0"/>
                  <a:t>False Positives</a:t>
                </a:r>
                <a:endParaRPr lang="en-US" sz="1600" dirty="0"/>
              </a:p>
            </c:rich>
          </c:tx>
        </c:title>
        <c:numFmt formatCode="General" sourceLinked="1"/>
        <c:tickLblPos val="nextTo"/>
        <c:txPr>
          <a:bodyPr/>
          <a:lstStyle/>
          <a:p>
            <a:pPr>
              <a:defRPr sz="1600" baseline="0"/>
            </a:pPr>
            <a:endParaRPr lang="es-ES"/>
          </a:p>
        </c:txPr>
        <c:crossAx val="53767552"/>
        <c:crosses val="autoZero"/>
        <c:crossBetween val="midCat"/>
      </c:valAx>
      <c:valAx>
        <c:axId val="53767552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sz="1600" dirty="0" smtClean="0"/>
                  <a:t>True Positives</a:t>
                </a:r>
                <a:endParaRPr lang="en-US" sz="1600" dirty="0"/>
              </a:p>
            </c:rich>
          </c:tx>
        </c:title>
        <c:numFmt formatCode="General" sourceLinked="1"/>
        <c:tickLblPos val="nextTo"/>
        <c:txPr>
          <a:bodyPr/>
          <a:lstStyle/>
          <a:p>
            <a:pPr>
              <a:defRPr sz="1600" baseline="0"/>
            </a:pPr>
            <a:endParaRPr lang="es-ES"/>
          </a:p>
        </c:txPr>
        <c:crossAx val="53765632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59747807438704259"/>
          <c:y val="0.38118464358621934"/>
          <c:w val="0.25059733158355174"/>
          <c:h val="0.24210181776895337"/>
        </c:manualLayout>
      </c:layout>
      <c:txPr>
        <a:bodyPr/>
        <a:lstStyle/>
        <a:p>
          <a:pPr>
            <a:defRPr sz="1600" baseline="0"/>
          </a:pPr>
          <a:endParaRPr lang="es-ES"/>
        </a:p>
      </c:txPr>
    </c:legend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chart>
    <c:plotArea>
      <c:layout>
        <c:manualLayout>
          <c:layoutTarget val="inner"/>
          <c:xMode val="edge"/>
          <c:yMode val="edge"/>
          <c:x val="0.11146633093627534"/>
          <c:y val="7.2524626890257973E-2"/>
          <c:w val="0.84238297448591259"/>
          <c:h val="0.70614964489732901"/>
        </c:manualLayout>
      </c:layout>
      <c:barChart>
        <c:barDir val="col"/>
        <c:grouping val="clustered"/>
        <c:ser>
          <c:idx val="0"/>
          <c:order val="0"/>
          <c:tx>
            <c:strRef>
              <c:f>SRX000566_SRR002063!$B$1</c:f>
              <c:strCache>
                <c:ptCount val="1"/>
                <c:pt idx="0">
                  <c:v>Transcripts</c:v>
                </c:pt>
              </c:strCache>
            </c:strRef>
          </c:tx>
          <c:cat>
            <c:numRef>
              <c:f>SRX000566_SRR002063!$A$2:$A$34</c:f>
              <c:numCache>
                <c:formatCode>General</c:formatCode>
                <c:ptCount val="3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</c:numCache>
            </c:numRef>
          </c:cat>
          <c:val>
            <c:numRef>
              <c:f>SRX000566_SRR002063!$F$2:$F$34</c:f>
              <c:numCache>
                <c:formatCode>0.0000</c:formatCode>
                <c:ptCount val="33"/>
                <c:pt idx="0">
                  <c:v>1.5986774559411259E-2</c:v>
                </c:pt>
                <c:pt idx="1">
                  <c:v>1.9456614275895817E-2</c:v>
                </c:pt>
                <c:pt idx="2">
                  <c:v>2.0744652266511288E-2</c:v>
                </c:pt>
                <c:pt idx="3">
                  <c:v>1.89712666272581E-2</c:v>
                </c:pt>
                <c:pt idx="4">
                  <c:v>1.8961367345380301E-2</c:v>
                </c:pt>
                <c:pt idx="5">
                  <c:v>1.2517783352801914E-2</c:v>
                </c:pt>
                <c:pt idx="6">
                  <c:v>1.5830083069116797E-2</c:v>
                </c:pt>
                <c:pt idx="7">
                  <c:v>1.1268776816447525E-2</c:v>
                </c:pt>
                <c:pt idx="8">
                  <c:v>1.6196639335220801E-2</c:v>
                </c:pt>
                <c:pt idx="9">
                  <c:v>1.4556469746380404E-2</c:v>
                </c:pt>
                <c:pt idx="10">
                  <c:v>8.962809812168215E-3</c:v>
                </c:pt>
                <c:pt idx="11">
                  <c:v>7.1320083380237084E-3</c:v>
                </c:pt>
                <c:pt idx="12">
                  <c:v>6.7603610126682548E-3</c:v>
                </c:pt>
                <c:pt idx="13">
                  <c:v>7.5149691283823757E-3</c:v>
                </c:pt>
                <c:pt idx="14">
                  <c:v>7.9199911754973019E-3</c:v>
                </c:pt>
                <c:pt idx="15">
                  <c:v>7.9253650713738272E-3</c:v>
                </c:pt>
                <c:pt idx="16">
                  <c:v>9.7264686998848847E-3</c:v>
                </c:pt>
                <c:pt idx="17">
                  <c:v>1.0968969993862453E-2</c:v>
                </c:pt>
                <c:pt idx="18">
                  <c:v>1.2746315345866776E-2</c:v>
                </c:pt>
                <c:pt idx="19">
                  <c:v>1.79756817069756E-2</c:v>
                </c:pt>
                <c:pt idx="20">
                  <c:v>2.2549149934523349E-2</c:v>
                </c:pt>
                <c:pt idx="21">
                  <c:v>2.881398118005098E-2</c:v>
                </c:pt>
                <c:pt idx="22">
                  <c:v>3.8418830131151341E-2</c:v>
                </c:pt>
                <c:pt idx="23">
                  <c:v>5.4963075678595784E-2</c:v>
                </c:pt>
                <c:pt idx="24">
                  <c:v>6.9679348118146509E-2</c:v>
                </c:pt>
                <c:pt idx="25">
                  <c:v>8.7014970542565503E-2</c:v>
                </c:pt>
                <c:pt idx="26">
                  <c:v>0.1133201908581546</c:v>
                </c:pt>
                <c:pt idx="27">
                  <c:v>0.14540036938463241</c:v>
                </c:pt>
                <c:pt idx="28">
                  <c:v>0.23782600456498321</c:v>
                </c:pt>
                <c:pt idx="29">
                  <c:v>0.27782787128670894</c:v>
                </c:pt>
                <c:pt idx="30">
                  <c:v>0.32183244192657012</c:v>
                </c:pt>
                <c:pt idx="31">
                  <c:v>0.36067213295584105</c:v>
                </c:pt>
                <c:pt idx="32">
                  <c:v>0.40185738811690208</c:v>
                </c:pt>
              </c:numCache>
            </c:numRef>
          </c:val>
        </c:ser>
        <c:ser>
          <c:idx val="1"/>
          <c:order val="1"/>
          <c:tx>
            <c:strRef>
              <c:f>SRX000566_SRR002063!$C$1</c:f>
              <c:strCache>
                <c:ptCount val="1"/>
                <c:pt idx="0">
                  <c:v>Genome</c:v>
                </c:pt>
              </c:strCache>
            </c:strRef>
          </c:tx>
          <c:val>
            <c:numRef>
              <c:f>SRX000566_SRR002063!$G$2:$G$34</c:f>
              <c:numCache>
                <c:formatCode>0.0000</c:formatCode>
                <c:ptCount val="33"/>
                <c:pt idx="0">
                  <c:v>1.4204381048682867E-2</c:v>
                </c:pt>
                <c:pt idx="1">
                  <c:v>1.7559545305484141E-2</c:v>
                </c:pt>
                <c:pt idx="2">
                  <c:v>1.8894612671206911E-2</c:v>
                </c:pt>
                <c:pt idx="3">
                  <c:v>1.7449635525711934E-2</c:v>
                </c:pt>
                <c:pt idx="4">
                  <c:v>1.7600817549316979E-2</c:v>
                </c:pt>
                <c:pt idx="5">
                  <c:v>1.1441383768613457E-2</c:v>
                </c:pt>
                <c:pt idx="6">
                  <c:v>1.4624729879893284E-2</c:v>
                </c:pt>
                <c:pt idx="7">
                  <c:v>1.0430213794709164E-2</c:v>
                </c:pt>
                <c:pt idx="8">
                  <c:v>1.5061677330906055E-2</c:v>
                </c:pt>
                <c:pt idx="9">
                  <c:v>1.3566007103312062E-2</c:v>
                </c:pt>
                <c:pt idx="10">
                  <c:v>8.2185598588848194E-3</c:v>
                </c:pt>
                <c:pt idx="11">
                  <c:v>6.4559658804154707E-3</c:v>
                </c:pt>
                <c:pt idx="12">
                  <c:v>6.1693032303157189E-3</c:v>
                </c:pt>
                <c:pt idx="13">
                  <c:v>6.8870813839301175E-3</c:v>
                </c:pt>
                <c:pt idx="14">
                  <c:v>7.2728871414978529E-3</c:v>
                </c:pt>
                <c:pt idx="15">
                  <c:v>7.3724788603118504E-3</c:v>
                </c:pt>
                <c:pt idx="16">
                  <c:v>9.1157825509028175E-3</c:v>
                </c:pt>
                <c:pt idx="17">
                  <c:v>1.033107068724118E-2</c:v>
                </c:pt>
                <c:pt idx="18">
                  <c:v>1.2163648035687929E-2</c:v>
                </c:pt>
                <c:pt idx="19">
                  <c:v>1.7114971461589225E-2</c:v>
                </c:pt>
                <c:pt idx="20">
                  <c:v>2.1527512660933737E-2</c:v>
                </c:pt>
                <c:pt idx="21">
                  <c:v>2.7745714527964451E-2</c:v>
                </c:pt>
                <c:pt idx="22">
                  <c:v>3.6927891558076575E-2</c:v>
                </c:pt>
                <c:pt idx="23">
                  <c:v>5.2935241606369567E-2</c:v>
                </c:pt>
                <c:pt idx="24">
                  <c:v>6.7103733747371747E-2</c:v>
                </c:pt>
                <c:pt idx="25">
                  <c:v>8.3246564422159469E-2</c:v>
                </c:pt>
                <c:pt idx="26">
                  <c:v>0.10791704817323219</c:v>
                </c:pt>
                <c:pt idx="27">
                  <c:v>0.13678743134564125</c:v>
                </c:pt>
                <c:pt idx="28">
                  <c:v>0.22395306448653521</c:v>
                </c:pt>
                <c:pt idx="29">
                  <c:v>0.25961542343752025</c:v>
                </c:pt>
                <c:pt idx="30">
                  <c:v>0.29855713132783146</c:v>
                </c:pt>
                <c:pt idx="31">
                  <c:v>0.33164087226195693</c:v>
                </c:pt>
                <c:pt idx="32">
                  <c:v>0.36629071540499958</c:v>
                </c:pt>
              </c:numCache>
            </c:numRef>
          </c:val>
        </c:ser>
        <c:ser>
          <c:idx val="2"/>
          <c:order val="2"/>
          <c:tx>
            <c:strRef>
              <c:f>SRX000566_SRR002063!$H$1</c:f>
              <c:strCache>
                <c:ptCount val="1"/>
                <c:pt idx="0">
                  <c:v>Hard Merge</c:v>
                </c:pt>
              </c:strCache>
            </c:strRef>
          </c:tx>
          <c:val>
            <c:numRef>
              <c:f>SRX000566_SRR002063!$H$2:$H$34</c:f>
              <c:numCache>
                <c:formatCode>0.0000</c:formatCode>
                <c:ptCount val="33"/>
                <c:pt idx="0">
                  <c:v>1.5224056855449714E-2</c:v>
                </c:pt>
                <c:pt idx="1">
                  <c:v>1.8569634251124217E-2</c:v>
                </c:pt>
                <c:pt idx="2">
                  <c:v>1.9676263513721808E-2</c:v>
                </c:pt>
                <c:pt idx="3">
                  <c:v>1.8138839288184452E-2</c:v>
                </c:pt>
                <c:pt idx="4">
                  <c:v>1.8256221034967126E-2</c:v>
                </c:pt>
                <c:pt idx="5">
                  <c:v>1.1912073562389781E-2</c:v>
                </c:pt>
                <c:pt idx="6">
                  <c:v>1.5137897862861759E-2</c:v>
                </c:pt>
                <c:pt idx="7">
                  <c:v>1.0772245421914258E-2</c:v>
                </c:pt>
                <c:pt idx="8">
                  <c:v>1.5502295070045679E-2</c:v>
                </c:pt>
                <c:pt idx="9">
                  <c:v>1.3905587134012029E-2</c:v>
                </c:pt>
                <c:pt idx="10">
                  <c:v>8.5012840851693555E-3</c:v>
                </c:pt>
                <c:pt idx="11">
                  <c:v>6.6765314760932511E-3</c:v>
                </c:pt>
                <c:pt idx="12">
                  <c:v>6.3552137652033124E-3</c:v>
                </c:pt>
                <c:pt idx="13">
                  <c:v>7.0986314948269088E-3</c:v>
                </c:pt>
                <c:pt idx="14">
                  <c:v>7.511641344617793E-3</c:v>
                </c:pt>
                <c:pt idx="15">
                  <c:v>7.6045191577286588E-3</c:v>
                </c:pt>
                <c:pt idx="16">
                  <c:v>9.3715689552550264E-3</c:v>
                </c:pt>
                <c:pt idx="17">
                  <c:v>1.0688457777746159E-2</c:v>
                </c:pt>
                <c:pt idx="18">
                  <c:v>1.2449579204222913E-2</c:v>
                </c:pt>
                <c:pt idx="19">
                  <c:v>1.7506084484820602E-2</c:v>
                </c:pt>
                <c:pt idx="20">
                  <c:v>2.2129028229322042E-2</c:v>
                </c:pt>
                <c:pt idx="21">
                  <c:v>2.8422191710872555E-2</c:v>
                </c:pt>
                <c:pt idx="22">
                  <c:v>3.7847906455047577E-2</c:v>
                </c:pt>
                <c:pt idx="23">
                  <c:v>5.4252894823583586E-2</c:v>
                </c:pt>
                <c:pt idx="24">
                  <c:v>6.8901109237745853E-2</c:v>
                </c:pt>
                <c:pt idx="25">
                  <c:v>8.551675239091211E-2</c:v>
                </c:pt>
                <c:pt idx="26">
                  <c:v>0.11163873613452814</c:v>
                </c:pt>
                <c:pt idx="27">
                  <c:v>0.1425318728988865</c:v>
                </c:pt>
                <c:pt idx="28">
                  <c:v>0.23247672323913537</c:v>
                </c:pt>
                <c:pt idx="29">
                  <c:v>0.27108425163800892</c:v>
                </c:pt>
                <c:pt idx="30">
                  <c:v>0.314584267051774</c:v>
                </c:pt>
                <c:pt idx="31">
                  <c:v>0.35235273333475653</c:v>
                </c:pt>
                <c:pt idx="32">
                  <c:v>0.39180959969267376</c:v>
                </c:pt>
              </c:numCache>
            </c:numRef>
          </c:val>
        </c:ser>
        <c:ser>
          <c:idx val="3"/>
          <c:order val="3"/>
          <c:tx>
            <c:strRef>
              <c:f>SRX000566_SRR002063!$I$1</c:f>
              <c:strCache>
                <c:ptCount val="1"/>
                <c:pt idx="0">
                  <c:v>SoftMerge</c:v>
                </c:pt>
              </c:strCache>
            </c:strRef>
          </c:tx>
          <c:val>
            <c:numRef>
              <c:f>SRX000566_SRR002063!$I$2:$I$34</c:f>
              <c:numCache>
                <c:formatCode>0.0000</c:formatCode>
                <c:ptCount val="33"/>
                <c:pt idx="0">
                  <c:v>1.5281618657168792E-2</c:v>
                </c:pt>
                <c:pt idx="1">
                  <c:v>1.8581845702459489E-2</c:v>
                </c:pt>
                <c:pt idx="2">
                  <c:v>1.9697344682011061E-2</c:v>
                </c:pt>
                <c:pt idx="3">
                  <c:v>1.8180839959971173E-2</c:v>
                </c:pt>
                <c:pt idx="4">
                  <c:v>1.8216708094361891E-2</c:v>
                </c:pt>
                <c:pt idx="5">
                  <c:v>1.1937273806577501E-2</c:v>
                </c:pt>
                <c:pt idx="6">
                  <c:v>1.5131689855415555E-2</c:v>
                </c:pt>
                <c:pt idx="7">
                  <c:v>1.0799177902359762E-2</c:v>
                </c:pt>
                <c:pt idx="8">
                  <c:v>1.5528750103120889E-2</c:v>
                </c:pt>
                <c:pt idx="9">
                  <c:v>1.3927596583918881E-2</c:v>
                </c:pt>
                <c:pt idx="10">
                  <c:v>8.4889113662531025E-3</c:v>
                </c:pt>
                <c:pt idx="11">
                  <c:v>6.7184602527268792E-3</c:v>
                </c:pt>
                <c:pt idx="12">
                  <c:v>6.3518879192536589E-3</c:v>
                </c:pt>
                <c:pt idx="13">
                  <c:v>7.1173139071517471E-3</c:v>
                </c:pt>
                <c:pt idx="14">
                  <c:v>7.5197543750156921E-3</c:v>
                </c:pt>
                <c:pt idx="15">
                  <c:v>7.5721218512261523E-3</c:v>
                </c:pt>
                <c:pt idx="16">
                  <c:v>9.3357580192181544E-3</c:v>
                </c:pt>
                <c:pt idx="17">
                  <c:v>1.0627010857284279E-2</c:v>
                </c:pt>
                <c:pt idx="18">
                  <c:v>1.2410015817847267E-2</c:v>
                </c:pt>
                <c:pt idx="19">
                  <c:v>1.7506160352081607E-2</c:v>
                </c:pt>
                <c:pt idx="20">
                  <c:v>2.2101944411565357E-2</c:v>
                </c:pt>
                <c:pt idx="21">
                  <c:v>2.8379585292630169E-2</c:v>
                </c:pt>
                <c:pt idx="22">
                  <c:v>3.7817208813518008E-2</c:v>
                </c:pt>
                <c:pt idx="23">
                  <c:v>5.4207511504704112E-2</c:v>
                </c:pt>
                <c:pt idx="24">
                  <c:v>6.8765669891211995E-2</c:v>
                </c:pt>
                <c:pt idx="25">
                  <c:v>8.5479503154602468E-2</c:v>
                </c:pt>
                <c:pt idx="26">
                  <c:v>0.11158935290298745</c:v>
                </c:pt>
                <c:pt idx="27">
                  <c:v>0.14258372519270154</c:v>
                </c:pt>
                <c:pt idx="28">
                  <c:v>0.23303885594998547</c:v>
                </c:pt>
                <c:pt idx="29">
                  <c:v>0.27190592505712002</c:v>
                </c:pt>
                <c:pt idx="30">
                  <c:v>0.31515249337336243</c:v>
                </c:pt>
                <c:pt idx="31">
                  <c:v>0.35317702000365858</c:v>
                </c:pt>
                <c:pt idx="32">
                  <c:v>0.39288734895031935</c:v>
                </c:pt>
              </c:numCache>
            </c:numRef>
          </c:val>
        </c:ser>
        <c:axId val="54069504"/>
        <c:axId val="54075776"/>
      </c:barChart>
      <c:catAx>
        <c:axId val="54069504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sz="1600"/>
                </a:pPr>
                <a:r>
                  <a:rPr lang="es-CO" sz="1600"/>
                  <a:t>Read Position</a:t>
                </a:r>
              </a:p>
              <a:p>
                <a:pPr>
                  <a:defRPr sz="1600"/>
                </a:pPr>
                <a:endParaRPr lang="es-CO" sz="1600"/>
              </a:p>
            </c:rich>
          </c:tx>
        </c:title>
        <c:numFmt formatCode="General" sourceLinked="1"/>
        <c:tickLblPos val="nextTo"/>
        <c:txPr>
          <a:bodyPr rot="-2700000" vert="horz"/>
          <a:lstStyle/>
          <a:p>
            <a:pPr>
              <a:defRPr sz="1600"/>
            </a:pPr>
            <a:endParaRPr lang="es-ES"/>
          </a:p>
        </c:txPr>
        <c:crossAx val="54075776"/>
        <c:crosses val="autoZero"/>
        <c:auto val="1"/>
        <c:lblAlgn val="ctr"/>
        <c:lblOffset val="100"/>
        <c:tickLblSkip val="3"/>
        <c:tickMarkSkip val="1"/>
      </c:catAx>
      <c:valAx>
        <c:axId val="54075776"/>
        <c:scaling>
          <c:orientation val="minMax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1600"/>
                </a:pPr>
                <a:r>
                  <a:rPr lang="es-CO" sz="1600"/>
                  <a:t>% of mismatches</a:t>
                </a:r>
              </a:p>
            </c:rich>
          </c:tx>
        </c:title>
        <c:numFmt formatCode="0%" sourceLinked="0"/>
        <c:tickLblPos val="nextTo"/>
        <c:txPr>
          <a:bodyPr rot="0" vert="horz"/>
          <a:lstStyle/>
          <a:p>
            <a:pPr>
              <a:defRPr sz="1600"/>
            </a:pPr>
            <a:endParaRPr lang="es-ES"/>
          </a:p>
        </c:txPr>
        <c:crossAx val="5406950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13570848359402268"/>
          <c:y val="9.6234529261248244E-2"/>
          <c:w val="0.25722983545326061"/>
          <c:h val="0.2857264165508725"/>
        </c:manualLayout>
      </c:layout>
      <c:txPr>
        <a:bodyPr/>
        <a:lstStyle/>
        <a:p>
          <a:pPr>
            <a:defRPr sz="1600"/>
          </a:pPr>
          <a:endParaRPr lang="es-ES"/>
        </a:p>
      </c:txPr>
    </c:legend>
    <c:plotVisOnly val="1"/>
    <c:dispBlanksAs val="gap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chart>
    <c:plotArea>
      <c:layout>
        <c:manualLayout>
          <c:layoutTarget val="inner"/>
          <c:xMode val="edge"/>
          <c:yMode val="edge"/>
          <c:x val="0.13980795878776098"/>
          <c:y val="5.1400554097404488E-2"/>
          <c:w val="0.82264195236465476"/>
          <c:h val="0.79729459953869464"/>
        </c:manualLayout>
      </c:layout>
      <c:scatterChart>
        <c:scatterStyle val="lineMarker"/>
        <c:ser>
          <c:idx val="0"/>
          <c:order val="0"/>
          <c:tx>
            <c:strRef>
              <c:f>ReadsFiltering!$A$3</c:f>
              <c:strCache>
                <c:ptCount val="1"/>
                <c:pt idx="0">
                  <c:v>None</c:v>
                </c:pt>
              </c:strCache>
            </c:strRef>
          </c:tx>
          <c:spPr>
            <a:ln w="50800"/>
          </c:spPr>
          <c:xVal>
            <c:numRef>
              <c:f>ReadsFiltering!$D$5:$D$12</c:f>
              <c:numCache>
                <c:formatCode>General</c:formatCode>
                <c:ptCount val="8"/>
                <c:pt idx="0">
                  <c:v>341</c:v>
                </c:pt>
                <c:pt idx="1">
                  <c:v>261</c:v>
                </c:pt>
                <c:pt idx="2">
                  <c:v>185</c:v>
                </c:pt>
                <c:pt idx="3">
                  <c:v>148</c:v>
                </c:pt>
                <c:pt idx="4">
                  <c:v>62</c:v>
                </c:pt>
                <c:pt idx="5">
                  <c:v>36</c:v>
                </c:pt>
                <c:pt idx="6">
                  <c:v>30</c:v>
                </c:pt>
                <c:pt idx="7">
                  <c:v>26</c:v>
                </c:pt>
              </c:numCache>
            </c:numRef>
          </c:xVal>
          <c:yVal>
            <c:numRef>
              <c:f>ReadsFiltering!$C$5:$C$12</c:f>
              <c:numCache>
                <c:formatCode>General</c:formatCode>
                <c:ptCount val="8"/>
                <c:pt idx="0">
                  <c:v>16796</c:v>
                </c:pt>
                <c:pt idx="1">
                  <c:v>15642</c:v>
                </c:pt>
                <c:pt idx="2">
                  <c:v>13996</c:v>
                </c:pt>
                <c:pt idx="3">
                  <c:v>12686</c:v>
                </c:pt>
                <c:pt idx="4">
                  <c:v>9103</c:v>
                </c:pt>
                <c:pt idx="5">
                  <c:v>5934</c:v>
                </c:pt>
                <c:pt idx="6">
                  <c:v>4610</c:v>
                </c:pt>
                <c:pt idx="7">
                  <c:v>3816</c:v>
                </c:pt>
              </c:numCache>
            </c:numRef>
          </c:yVal>
        </c:ser>
        <c:ser>
          <c:idx val="1"/>
          <c:order val="1"/>
          <c:tx>
            <c:strRef>
              <c:f>ReadsFiltering!$A$13</c:f>
              <c:strCache>
                <c:ptCount val="1"/>
                <c:pt idx="0">
                  <c:v>Alignment Trimming</c:v>
                </c:pt>
              </c:strCache>
            </c:strRef>
          </c:tx>
          <c:spPr>
            <a:ln w="50800"/>
          </c:spPr>
          <c:xVal>
            <c:numRef>
              <c:f>ReadsFiltering!$D$14:$D$22</c:f>
              <c:numCache>
                <c:formatCode>General</c:formatCode>
                <c:ptCount val="9"/>
                <c:pt idx="0">
                  <c:v>279</c:v>
                </c:pt>
                <c:pt idx="1">
                  <c:v>219</c:v>
                </c:pt>
                <c:pt idx="2">
                  <c:v>172</c:v>
                </c:pt>
                <c:pt idx="3">
                  <c:v>126</c:v>
                </c:pt>
                <c:pt idx="4">
                  <c:v>102</c:v>
                </c:pt>
                <c:pt idx="5">
                  <c:v>43</c:v>
                </c:pt>
                <c:pt idx="6">
                  <c:v>23</c:v>
                </c:pt>
                <c:pt idx="7">
                  <c:v>18</c:v>
                </c:pt>
                <c:pt idx="8">
                  <c:v>15</c:v>
                </c:pt>
              </c:numCache>
            </c:numRef>
          </c:xVal>
          <c:yVal>
            <c:numRef>
              <c:f>ReadsFiltering!$C$14:$C$22</c:f>
              <c:numCache>
                <c:formatCode>General</c:formatCode>
                <c:ptCount val="9"/>
                <c:pt idx="0">
                  <c:v>15715</c:v>
                </c:pt>
                <c:pt idx="1">
                  <c:v>14996</c:v>
                </c:pt>
                <c:pt idx="2">
                  <c:v>14077</c:v>
                </c:pt>
                <c:pt idx="3">
                  <c:v>12641</c:v>
                </c:pt>
                <c:pt idx="4">
                  <c:v>11408</c:v>
                </c:pt>
                <c:pt idx="5">
                  <c:v>7951</c:v>
                </c:pt>
                <c:pt idx="6">
                  <c:v>5002</c:v>
                </c:pt>
                <c:pt idx="7">
                  <c:v>3769</c:v>
                </c:pt>
                <c:pt idx="8">
                  <c:v>3107</c:v>
                </c:pt>
              </c:numCache>
            </c:numRef>
          </c:yVal>
        </c:ser>
        <c:ser>
          <c:idx val="2"/>
          <c:order val="2"/>
          <c:tx>
            <c:strRef>
              <c:f>ReadsFiltering!$A$23</c:f>
              <c:strCache>
                <c:ptCount val="1"/>
                <c:pt idx="0">
                  <c:v>Three Reads Per Start Locus</c:v>
                </c:pt>
              </c:strCache>
            </c:strRef>
          </c:tx>
          <c:spPr>
            <a:ln w="50800"/>
          </c:spPr>
          <c:xVal>
            <c:numRef>
              <c:f>ReadsFiltering!$D$25:$D$32</c:f>
              <c:numCache>
                <c:formatCode>General</c:formatCode>
                <c:ptCount val="8"/>
                <c:pt idx="0">
                  <c:v>328</c:v>
                </c:pt>
                <c:pt idx="1">
                  <c:v>249</c:v>
                </c:pt>
                <c:pt idx="2">
                  <c:v>170</c:v>
                </c:pt>
                <c:pt idx="3">
                  <c:v>134</c:v>
                </c:pt>
                <c:pt idx="4">
                  <c:v>41</c:v>
                </c:pt>
                <c:pt idx="5">
                  <c:v>19</c:v>
                </c:pt>
                <c:pt idx="6">
                  <c:v>14</c:v>
                </c:pt>
                <c:pt idx="7">
                  <c:v>11</c:v>
                </c:pt>
              </c:numCache>
            </c:numRef>
          </c:xVal>
          <c:yVal>
            <c:numRef>
              <c:f>ReadsFiltering!$C$25:$C$32</c:f>
              <c:numCache>
                <c:formatCode>General</c:formatCode>
                <c:ptCount val="8"/>
                <c:pt idx="0">
                  <c:v>16300</c:v>
                </c:pt>
                <c:pt idx="1">
                  <c:v>15121</c:v>
                </c:pt>
                <c:pt idx="2">
                  <c:v>13434</c:v>
                </c:pt>
                <c:pt idx="3">
                  <c:v>12096</c:v>
                </c:pt>
                <c:pt idx="4">
                  <c:v>8410</c:v>
                </c:pt>
                <c:pt idx="5">
                  <c:v>5095</c:v>
                </c:pt>
                <c:pt idx="6">
                  <c:v>3643</c:v>
                </c:pt>
                <c:pt idx="7">
                  <c:v>2745</c:v>
                </c:pt>
              </c:numCache>
            </c:numRef>
          </c:yVal>
        </c:ser>
        <c:ser>
          <c:idx val="4"/>
          <c:order val="3"/>
          <c:tx>
            <c:strRef>
              <c:f>ReadsFiltering!$A$43</c:f>
              <c:strCache>
                <c:ptCount val="1"/>
                <c:pt idx="0">
                  <c:v>One Read Per Start Locus</c:v>
                </c:pt>
              </c:strCache>
            </c:strRef>
          </c:tx>
          <c:spPr>
            <a:ln w="50800"/>
          </c:spPr>
          <c:xVal>
            <c:numRef>
              <c:f>ReadsFiltering!$D$45:$D$52</c:f>
              <c:numCache>
                <c:formatCode>General</c:formatCode>
                <c:ptCount val="8"/>
                <c:pt idx="0">
                  <c:v>338</c:v>
                </c:pt>
                <c:pt idx="1">
                  <c:v>249</c:v>
                </c:pt>
                <c:pt idx="2">
                  <c:v>169</c:v>
                </c:pt>
                <c:pt idx="3">
                  <c:v>129</c:v>
                </c:pt>
                <c:pt idx="4">
                  <c:v>37</c:v>
                </c:pt>
                <c:pt idx="5">
                  <c:v>16</c:v>
                </c:pt>
                <c:pt idx="6">
                  <c:v>12</c:v>
                </c:pt>
                <c:pt idx="7">
                  <c:v>10</c:v>
                </c:pt>
              </c:numCache>
            </c:numRef>
          </c:xVal>
          <c:yVal>
            <c:numRef>
              <c:f>ReadsFiltering!$C$45:$C$52</c:f>
              <c:numCache>
                <c:formatCode>General</c:formatCode>
                <c:ptCount val="8"/>
                <c:pt idx="0">
                  <c:v>15663</c:v>
                </c:pt>
                <c:pt idx="1">
                  <c:v>14443</c:v>
                </c:pt>
                <c:pt idx="2">
                  <c:v>12744</c:v>
                </c:pt>
                <c:pt idx="3">
                  <c:v>11380</c:v>
                </c:pt>
                <c:pt idx="4">
                  <c:v>7599</c:v>
                </c:pt>
                <c:pt idx="5">
                  <c:v>4190</c:v>
                </c:pt>
                <c:pt idx="6">
                  <c:v>2630</c:v>
                </c:pt>
                <c:pt idx="7">
                  <c:v>1672</c:v>
                </c:pt>
              </c:numCache>
            </c:numRef>
          </c:yVal>
        </c:ser>
        <c:axId val="54122752"/>
        <c:axId val="54129024"/>
      </c:scatterChart>
      <c:valAx>
        <c:axId val="5412275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sz="1600" dirty="0" smtClean="0"/>
                  <a:t>False Positives</a:t>
                </a:r>
                <a:endParaRPr lang="en-US" sz="1600" dirty="0"/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1600" baseline="0"/>
            </a:pPr>
            <a:endParaRPr lang="es-ES"/>
          </a:p>
        </c:txPr>
        <c:crossAx val="54129024"/>
        <c:crosses val="autoZero"/>
        <c:crossBetween val="midCat"/>
      </c:valAx>
      <c:valAx>
        <c:axId val="54129024"/>
        <c:scaling>
          <c:orientation val="minMax"/>
          <c:min val="2500"/>
        </c:scaling>
        <c:axPos val="l"/>
        <c:majorGridlines/>
        <c:title>
          <c:tx>
            <c:rich>
              <a:bodyPr rot="-5400000" vert="horz"/>
              <a:lstStyle/>
              <a:p>
                <a:pPr>
                  <a:defRPr sz="1600"/>
                </a:pPr>
                <a:r>
                  <a:rPr lang="en-US" sz="1600" dirty="0" smtClean="0"/>
                  <a:t>True Positives</a:t>
                </a:r>
                <a:endParaRPr lang="en-US" sz="1600" dirty="0"/>
              </a:p>
            </c:rich>
          </c:tx>
          <c:layout/>
        </c:title>
        <c:numFmt formatCode="General" sourceLinked="1"/>
        <c:tickLblPos val="nextTo"/>
        <c:txPr>
          <a:bodyPr/>
          <a:lstStyle/>
          <a:p>
            <a:pPr>
              <a:defRPr sz="1600" baseline="0"/>
            </a:pPr>
            <a:endParaRPr lang="es-ES"/>
          </a:p>
        </c:txPr>
        <c:crossAx val="54122752"/>
        <c:crosses val="autoZero"/>
        <c:crossBetween val="midCat"/>
      </c:valAx>
    </c:plotArea>
    <c:legend>
      <c:legendPos val="r"/>
      <c:layout>
        <c:manualLayout>
          <c:xMode val="edge"/>
          <c:yMode val="edge"/>
          <c:x val="0.49190896532670358"/>
          <c:y val="0.37888411675813283"/>
          <c:w val="0.45839900447226706"/>
          <c:h val="0.33757299476321723"/>
        </c:manualLayout>
      </c:layout>
      <c:txPr>
        <a:bodyPr/>
        <a:lstStyle/>
        <a:p>
          <a:pPr>
            <a:defRPr sz="1600" baseline="0"/>
          </a:pPr>
          <a:endParaRPr lang="es-ES"/>
        </a:p>
      </c:txPr>
    </c:legend>
    <c:plotVisOnly val="1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s-ES"/>
  <c:chart>
    <c:plotArea>
      <c:layout/>
      <c:barChart>
        <c:barDir val="col"/>
        <c:grouping val="percentStacked"/>
        <c:ser>
          <c:idx val="13"/>
          <c:order val="0"/>
          <c:tx>
            <c:strRef>
              <c:f>full_RPKM_20!$W$4</c:f>
              <c:strCache>
                <c:ptCount val="1"/>
                <c:pt idx="0">
                  <c:v>TPHomoVar</c:v>
                </c:pt>
              </c:strCache>
            </c:strRef>
          </c:tx>
          <c:spPr>
            <a:solidFill>
              <a:srgbClr val="92D050"/>
            </a:solidFill>
          </c:spPr>
          <c:cat>
            <c:multiLvlStrRef>
              <c:f>full_RPKM_20!$A$5:$B$27</c:f>
              <c:multiLvlStrCache>
                <c:ptCount val="23"/>
                <c:lvl>
                  <c:pt idx="0">
                    <c:v>SOAPsnp</c:v>
                  </c:pt>
                  <c:pt idx="1">
                    <c:v>Maq</c:v>
                  </c:pt>
                  <c:pt idx="2">
                    <c:v>SNVQ</c:v>
                  </c:pt>
                  <c:pt idx="4">
                    <c:v>SOAPsnp</c:v>
                  </c:pt>
                  <c:pt idx="5">
                    <c:v>Maq</c:v>
                  </c:pt>
                  <c:pt idx="6">
                    <c:v>SNVQ</c:v>
                  </c:pt>
                  <c:pt idx="8">
                    <c:v>SOAPsnp</c:v>
                  </c:pt>
                  <c:pt idx="9">
                    <c:v>Maq</c:v>
                  </c:pt>
                  <c:pt idx="10">
                    <c:v>SNVQ</c:v>
                  </c:pt>
                  <c:pt idx="12">
                    <c:v>SOAPsnp</c:v>
                  </c:pt>
                  <c:pt idx="13">
                    <c:v>Maq</c:v>
                  </c:pt>
                  <c:pt idx="14">
                    <c:v>SNVQ</c:v>
                  </c:pt>
                  <c:pt idx="16">
                    <c:v>SOAPsnp</c:v>
                  </c:pt>
                  <c:pt idx="17">
                    <c:v>Maq</c:v>
                  </c:pt>
                  <c:pt idx="18">
                    <c:v>SNVQ</c:v>
                  </c:pt>
                  <c:pt idx="20">
                    <c:v>SOAPsnp</c:v>
                  </c:pt>
                  <c:pt idx="21">
                    <c:v>Maq</c:v>
                  </c:pt>
                  <c:pt idx="22">
                    <c:v>SNVQ</c:v>
                  </c:pt>
                </c:lvl>
                <c:lvl>
                  <c:pt idx="0">
                    <c:v>RPKM &lt; 1</c:v>
                  </c:pt>
                  <c:pt idx="4">
                    <c:v>1 &lt; RPKM &lt; 5</c:v>
                  </c:pt>
                  <c:pt idx="8">
                    <c:v>5 &lt; RPKM &lt; 10</c:v>
                  </c:pt>
                  <c:pt idx="12">
                    <c:v>10 &lt; RPKM &lt; 50</c:v>
                  </c:pt>
                  <c:pt idx="16">
                    <c:v>50 &lt; RPKM &lt; 100</c:v>
                  </c:pt>
                  <c:pt idx="20">
                    <c:v>RPKM &gt; 100</c:v>
                  </c:pt>
                </c:lvl>
              </c:multiLvlStrCache>
            </c:multiLvlStrRef>
          </c:cat>
          <c:val>
            <c:numRef>
              <c:f>full_RPKM_20!$W$5:$W$27</c:f>
              <c:numCache>
                <c:formatCode>0.00%</c:formatCode>
                <c:ptCount val="23"/>
                <c:pt idx="0">
                  <c:v>1.2790697674418604E-2</c:v>
                </c:pt>
                <c:pt idx="1">
                  <c:v>1.2790697674418604E-2</c:v>
                </c:pt>
                <c:pt idx="2">
                  <c:v>1.3372093023255817E-2</c:v>
                </c:pt>
                <c:pt idx="4">
                  <c:v>9.5363079615048113E-2</c:v>
                </c:pt>
                <c:pt idx="5">
                  <c:v>9.5363079615048113E-2</c:v>
                </c:pt>
                <c:pt idx="6">
                  <c:v>0.10061242344706912</c:v>
                </c:pt>
                <c:pt idx="8">
                  <c:v>0.24010217113665389</c:v>
                </c:pt>
                <c:pt idx="9">
                  <c:v>0.23243933588761201</c:v>
                </c:pt>
                <c:pt idx="10">
                  <c:v>0.24648786717752252</c:v>
                </c:pt>
                <c:pt idx="12">
                  <c:v>0.35540683339203988</c:v>
                </c:pt>
                <c:pt idx="13">
                  <c:v>0.3500000000000002</c:v>
                </c:pt>
                <c:pt idx="14">
                  <c:v>0.35832453361492478</c:v>
                </c:pt>
                <c:pt idx="16">
                  <c:v>0.36864864864864882</c:v>
                </c:pt>
                <c:pt idx="17">
                  <c:v>0.36648648648648674</c:v>
                </c:pt>
                <c:pt idx="18">
                  <c:v>0.3708108108108113</c:v>
                </c:pt>
                <c:pt idx="20">
                  <c:v>0.34718826405867997</c:v>
                </c:pt>
                <c:pt idx="21">
                  <c:v>0.34432234432234465</c:v>
                </c:pt>
                <c:pt idx="22">
                  <c:v>0.34591961023142531</c:v>
                </c:pt>
              </c:numCache>
            </c:numRef>
          </c:val>
        </c:ser>
        <c:ser>
          <c:idx val="14"/>
          <c:order val="1"/>
          <c:tx>
            <c:strRef>
              <c:f>full_RPKM_20!$X$4</c:f>
              <c:strCache>
                <c:ptCount val="1"/>
                <c:pt idx="0">
                  <c:v>TPHetero</c:v>
                </c:pt>
              </c:strCache>
            </c:strRef>
          </c:tx>
          <c:spPr>
            <a:solidFill>
              <a:srgbClr val="00B050"/>
            </a:solidFill>
          </c:spPr>
          <c:cat>
            <c:multiLvlStrRef>
              <c:f>full_RPKM_20!$A$5:$B$27</c:f>
              <c:multiLvlStrCache>
                <c:ptCount val="23"/>
                <c:lvl>
                  <c:pt idx="0">
                    <c:v>SOAPsnp</c:v>
                  </c:pt>
                  <c:pt idx="1">
                    <c:v>Maq</c:v>
                  </c:pt>
                  <c:pt idx="2">
                    <c:v>SNVQ</c:v>
                  </c:pt>
                  <c:pt idx="4">
                    <c:v>SOAPsnp</c:v>
                  </c:pt>
                  <c:pt idx="5">
                    <c:v>Maq</c:v>
                  </c:pt>
                  <c:pt idx="6">
                    <c:v>SNVQ</c:v>
                  </c:pt>
                  <c:pt idx="8">
                    <c:v>SOAPsnp</c:v>
                  </c:pt>
                  <c:pt idx="9">
                    <c:v>Maq</c:v>
                  </c:pt>
                  <c:pt idx="10">
                    <c:v>SNVQ</c:v>
                  </c:pt>
                  <c:pt idx="12">
                    <c:v>SOAPsnp</c:v>
                  </c:pt>
                  <c:pt idx="13">
                    <c:v>Maq</c:v>
                  </c:pt>
                  <c:pt idx="14">
                    <c:v>SNVQ</c:v>
                  </c:pt>
                  <c:pt idx="16">
                    <c:v>SOAPsnp</c:v>
                  </c:pt>
                  <c:pt idx="17">
                    <c:v>Maq</c:v>
                  </c:pt>
                  <c:pt idx="18">
                    <c:v>SNVQ</c:v>
                  </c:pt>
                  <c:pt idx="20">
                    <c:v>SOAPsnp</c:v>
                  </c:pt>
                  <c:pt idx="21">
                    <c:v>Maq</c:v>
                  </c:pt>
                  <c:pt idx="22">
                    <c:v>SNVQ</c:v>
                  </c:pt>
                </c:lvl>
                <c:lvl>
                  <c:pt idx="0">
                    <c:v>RPKM &lt; 1</c:v>
                  </c:pt>
                  <c:pt idx="4">
                    <c:v>1 &lt; RPKM &lt; 5</c:v>
                  </c:pt>
                  <c:pt idx="8">
                    <c:v>5 &lt; RPKM &lt; 10</c:v>
                  </c:pt>
                  <c:pt idx="12">
                    <c:v>10 &lt; RPKM &lt; 50</c:v>
                  </c:pt>
                  <c:pt idx="16">
                    <c:v>50 &lt; RPKM &lt; 100</c:v>
                  </c:pt>
                  <c:pt idx="20">
                    <c:v>RPKM &gt; 100</c:v>
                  </c:pt>
                </c:lvl>
              </c:multiLvlStrCache>
            </c:multiLvlStrRef>
          </c:cat>
          <c:val>
            <c:numRef>
              <c:f>full_RPKM_20!$X$5:$X$27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4">
                  <c:v>8.7489063867016625E-4</c:v>
                </c:pt>
                <c:pt idx="5">
                  <c:v>8.7489063867016625E-4</c:v>
                </c:pt>
                <c:pt idx="6">
                  <c:v>8.7489063867016625E-4</c:v>
                </c:pt>
                <c:pt idx="8">
                  <c:v>1.277139208173691E-3</c:v>
                </c:pt>
                <c:pt idx="9">
                  <c:v>1.277139208173691E-3</c:v>
                </c:pt>
                <c:pt idx="10">
                  <c:v>6.3856960408684585E-3</c:v>
                </c:pt>
                <c:pt idx="12">
                  <c:v>8.7002465656921463E-2</c:v>
                </c:pt>
                <c:pt idx="13">
                  <c:v>8.9084507042253527E-2</c:v>
                </c:pt>
                <c:pt idx="14">
                  <c:v>0.17775431186202065</c:v>
                </c:pt>
                <c:pt idx="16">
                  <c:v>0.24756756756756773</c:v>
                </c:pt>
                <c:pt idx="17">
                  <c:v>0.30054054054054052</c:v>
                </c:pt>
                <c:pt idx="18">
                  <c:v>0.45945945945945948</c:v>
                </c:pt>
                <c:pt idx="20">
                  <c:v>0.25427872860635675</c:v>
                </c:pt>
                <c:pt idx="21">
                  <c:v>0.52503052503052461</c:v>
                </c:pt>
                <c:pt idx="22">
                  <c:v>0.59074299634591954</c:v>
                </c:pt>
              </c:numCache>
            </c:numRef>
          </c:val>
        </c:ser>
        <c:ser>
          <c:idx val="15"/>
          <c:order val="2"/>
          <c:tx>
            <c:strRef>
              <c:f>full_RPKM_20!$Y$4</c:f>
              <c:strCache>
                <c:ptCount val="1"/>
                <c:pt idx="0">
                  <c:v>FP</c:v>
                </c:pt>
              </c:strCache>
            </c:strRef>
          </c:tx>
          <c:spPr>
            <a:solidFill>
              <a:srgbClr val="FF0000"/>
            </a:solidFill>
          </c:spPr>
          <c:cat>
            <c:multiLvlStrRef>
              <c:f>full_RPKM_20!$A$5:$B$27</c:f>
              <c:multiLvlStrCache>
                <c:ptCount val="23"/>
                <c:lvl>
                  <c:pt idx="0">
                    <c:v>SOAPsnp</c:v>
                  </c:pt>
                  <c:pt idx="1">
                    <c:v>Maq</c:v>
                  </c:pt>
                  <c:pt idx="2">
                    <c:v>SNVQ</c:v>
                  </c:pt>
                  <c:pt idx="4">
                    <c:v>SOAPsnp</c:v>
                  </c:pt>
                  <c:pt idx="5">
                    <c:v>Maq</c:v>
                  </c:pt>
                  <c:pt idx="6">
                    <c:v>SNVQ</c:v>
                  </c:pt>
                  <c:pt idx="8">
                    <c:v>SOAPsnp</c:v>
                  </c:pt>
                  <c:pt idx="9">
                    <c:v>Maq</c:v>
                  </c:pt>
                  <c:pt idx="10">
                    <c:v>SNVQ</c:v>
                  </c:pt>
                  <c:pt idx="12">
                    <c:v>SOAPsnp</c:v>
                  </c:pt>
                  <c:pt idx="13">
                    <c:v>Maq</c:v>
                  </c:pt>
                  <c:pt idx="14">
                    <c:v>SNVQ</c:v>
                  </c:pt>
                  <c:pt idx="16">
                    <c:v>SOAPsnp</c:v>
                  </c:pt>
                  <c:pt idx="17">
                    <c:v>Maq</c:v>
                  </c:pt>
                  <c:pt idx="18">
                    <c:v>SNVQ</c:v>
                  </c:pt>
                  <c:pt idx="20">
                    <c:v>SOAPsnp</c:v>
                  </c:pt>
                  <c:pt idx="21">
                    <c:v>Maq</c:v>
                  </c:pt>
                  <c:pt idx="22">
                    <c:v>SNVQ</c:v>
                  </c:pt>
                </c:lvl>
                <c:lvl>
                  <c:pt idx="0">
                    <c:v>RPKM &lt; 1</c:v>
                  </c:pt>
                  <c:pt idx="4">
                    <c:v>1 &lt; RPKM &lt; 5</c:v>
                  </c:pt>
                  <c:pt idx="8">
                    <c:v>5 &lt; RPKM &lt; 10</c:v>
                  </c:pt>
                  <c:pt idx="12">
                    <c:v>10 &lt; RPKM &lt; 50</c:v>
                  </c:pt>
                  <c:pt idx="16">
                    <c:v>50 &lt; RPKM &lt; 100</c:v>
                  </c:pt>
                  <c:pt idx="20">
                    <c:v>RPKM &gt; 100</c:v>
                  </c:pt>
                </c:lvl>
              </c:multiLvlStrCache>
            </c:multiLvlStrRef>
          </c:cat>
          <c:val>
            <c:numRef>
              <c:f>full_RPKM_20!$Y$5:$Y$27</c:f>
              <c:numCache>
                <c:formatCode>0.00%</c:formatCode>
                <c:ptCount val="23"/>
                <c:pt idx="0">
                  <c:v>5.8139534883720984E-4</c:v>
                </c:pt>
                <c:pt idx="1">
                  <c:v>5.8139534883720984E-4</c:v>
                </c:pt>
                <c:pt idx="2">
                  <c:v>5.8139534883720984E-4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2">
                  <c:v>2.8178936245156746E-3</c:v>
                </c:pt>
                <c:pt idx="13">
                  <c:v>3.1690140845070458E-3</c:v>
                </c:pt>
                <c:pt idx="14">
                  <c:v>3.5198873636043651E-3</c:v>
                </c:pt>
                <c:pt idx="16">
                  <c:v>2.1621621621621639E-3</c:v>
                </c:pt>
                <c:pt idx="17">
                  <c:v>2.1621621621621639E-3</c:v>
                </c:pt>
                <c:pt idx="18">
                  <c:v>2.1621621621621639E-3</c:v>
                </c:pt>
                <c:pt idx="20">
                  <c:v>2.4449877750611277E-3</c:v>
                </c:pt>
                <c:pt idx="21">
                  <c:v>3.6630036630036647E-3</c:v>
                </c:pt>
                <c:pt idx="22">
                  <c:v>6.0901339829476323E-3</c:v>
                </c:pt>
              </c:numCache>
            </c:numRef>
          </c:val>
        </c:ser>
        <c:ser>
          <c:idx val="16"/>
          <c:order val="3"/>
          <c:tx>
            <c:strRef>
              <c:f>full_RPKM_20!$Z$4</c:f>
              <c:strCache>
                <c:ptCount val="1"/>
                <c:pt idx="0">
                  <c:v>FNHomoVar</c:v>
                </c:pt>
              </c:strCache>
            </c:strRef>
          </c:tx>
          <c:cat>
            <c:multiLvlStrRef>
              <c:f>full_RPKM_20!$A$5:$B$27</c:f>
              <c:multiLvlStrCache>
                <c:ptCount val="23"/>
                <c:lvl>
                  <c:pt idx="0">
                    <c:v>SOAPsnp</c:v>
                  </c:pt>
                  <c:pt idx="1">
                    <c:v>Maq</c:v>
                  </c:pt>
                  <c:pt idx="2">
                    <c:v>SNVQ</c:v>
                  </c:pt>
                  <c:pt idx="4">
                    <c:v>SOAPsnp</c:v>
                  </c:pt>
                  <c:pt idx="5">
                    <c:v>Maq</c:v>
                  </c:pt>
                  <c:pt idx="6">
                    <c:v>SNVQ</c:v>
                  </c:pt>
                  <c:pt idx="8">
                    <c:v>SOAPsnp</c:v>
                  </c:pt>
                  <c:pt idx="9">
                    <c:v>Maq</c:v>
                  </c:pt>
                  <c:pt idx="10">
                    <c:v>SNVQ</c:v>
                  </c:pt>
                  <c:pt idx="12">
                    <c:v>SOAPsnp</c:v>
                  </c:pt>
                  <c:pt idx="13">
                    <c:v>Maq</c:v>
                  </c:pt>
                  <c:pt idx="14">
                    <c:v>SNVQ</c:v>
                  </c:pt>
                  <c:pt idx="16">
                    <c:v>SOAPsnp</c:v>
                  </c:pt>
                  <c:pt idx="17">
                    <c:v>Maq</c:v>
                  </c:pt>
                  <c:pt idx="18">
                    <c:v>SNVQ</c:v>
                  </c:pt>
                  <c:pt idx="20">
                    <c:v>SOAPsnp</c:v>
                  </c:pt>
                  <c:pt idx="21">
                    <c:v>Maq</c:v>
                  </c:pt>
                  <c:pt idx="22">
                    <c:v>SNVQ</c:v>
                  </c:pt>
                </c:lvl>
                <c:lvl>
                  <c:pt idx="0">
                    <c:v>RPKM &lt; 1</c:v>
                  </c:pt>
                  <c:pt idx="4">
                    <c:v>1 &lt; RPKM &lt; 5</c:v>
                  </c:pt>
                  <c:pt idx="8">
                    <c:v>5 &lt; RPKM &lt; 10</c:v>
                  </c:pt>
                  <c:pt idx="12">
                    <c:v>10 &lt; RPKM &lt; 50</c:v>
                  </c:pt>
                  <c:pt idx="16">
                    <c:v>50 &lt; RPKM &lt; 100</c:v>
                  </c:pt>
                  <c:pt idx="20">
                    <c:v>RPKM &gt; 100</c:v>
                  </c:pt>
                </c:lvl>
              </c:multiLvlStrCache>
            </c:multiLvlStrRef>
          </c:cat>
          <c:val>
            <c:numRef>
              <c:f>full_RPKM_20!$Z$5:$Z$27</c:f>
              <c:numCache>
                <c:formatCode>0.00%</c:formatCode>
                <c:ptCount val="23"/>
                <c:pt idx="0">
                  <c:v>0.42325581395348838</c:v>
                </c:pt>
                <c:pt idx="1">
                  <c:v>0.42325581395348838</c:v>
                </c:pt>
                <c:pt idx="2">
                  <c:v>0.42267441860465155</c:v>
                </c:pt>
                <c:pt idx="4">
                  <c:v>0.30096237970253747</c:v>
                </c:pt>
                <c:pt idx="5">
                  <c:v>0.30096237970253747</c:v>
                </c:pt>
                <c:pt idx="6">
                  <c:v>0.29571303587051617</c:v>
                </c:pt>
                <c:pt idx="8">
                  <c:v>0.17752234993614316</c:v>
                </c:pt>
                <c:pt idx="9">
                  <c:v>0.18518518518518531</c:v>
                </c:pt>
                <c:pt idx="10">
                  <c:v>0.17113665389527469</c:v>
                </c:pt>
                <c:pt idx="12">
                  <c:v>4.3325114476928495E-2</c:v>
                </c:pt>
                <c:pt idx="13">
                  <c:v>4.8591549295774646E-2</c:v>
                </c:pt>
                <c:pt idx="14">
                  <c:v>4.0126715945089791E-2</c:v>
                </c:pt>
                <c:pt idx="16">
                  <c:v>2.0540540540540542E-2</c:v>
                </c:pt>
                <c:pt idx="17">
                  <c:v>2.2702702702702721E-2</c:v>
                </c:pt>
                <c:pt idx="18">
                  <c:v>1.8378378378378381E-2</c:v>
                </c:pt>
                <c:pt idx="20">
                  <c:v>2.0782396088019593E-2</c:v>
                </c:pt>
                <c:pt idx="21">
                  <c:v>2.31990231990232E-2</c:v>
                </c:pt>
                <c:pt idx="22">
                  <c:v>2.0706455542021926E-2</c:v>
                </c:pt>
              </c:numCache>
            </c:numRef>
          </c:val>
        </c:ser>
        <c:ser>
          <c:idx val="17"/>
          <c:order val="4"/>
          <c:tx>
            <c:strRef>
              <c:f>full_RPKM_20!$AA$4</c:f>
              <c:strCache>
                <c:ptCount val="1"/>
                <c:pt idx="0">
                  <c:v>FNHetero</c:v>
                </c:pt>
              </c:strCache>
            </c:strRef>
          </c:tx>
          <c:spPr>
            <a:solidFill>
              <a:srgbClr val="0070C0"/>
            </a:solidFill>
          </c:spPr>
          <c:cat>
            <c:multiLvlStrRef>
              <c:f>full_RPKM_20!$A$5:$B$27</c:f>
              <c:multiLvlStrCache>
                <c:ptCount val="23"/>
                <c:lvl>
                  <c:pt idx="0">
                    <c:v>SOAPsnp</c:v>
                  </c:pt>
                  <c:pt idx="1">
                    <c:v>Maq</c:v>
                  </c:pt>
                  <c:pt idx="2">
                    <c:v>SNVQ</c:v>
                  </c:pt>
                  <c:pt idx="4">
                    <c:v>SOAPsnp</c:v>
                  </c:pt>
                  <c:pt idx="5">
                    <c:v>Maq</c:v>
                  </c:pt>
                  <c:pt idx="6">
                    <c:v>SNVQ</c:v>
                  </c:pt>
                  <c:pt idx="8">
                    <c:v>SOAPsnp</c:v>
                  </c:pt>
                  <c:pt idx="9">
                    <c:v>Maq</c:v>
                  </c:pt>
                  <c:pt idx="10">
                    <c:v>SNVQ</c:v>
                  </c:pt>
                  <c:pt idx="12">
                    <c:v>SOAPsnp</c:v>
                  </c:pt>
                  <c:pt idx="13">
                    <c:v>Maq</c:v>
                  </c:pt>
                  <c:pt idx="14">
                    <c:v>SNVQ</c:v>
                  </c:pt>
                  <c:pt idx="16">
                    <c:v>SOAPsnp</c:v>
                  </c:pt>
                  <c:pt idx="17">
                    <c:v>Maq</c:v>
                  </c:pt>
                  <c:pt idx="18">
                    <c:v>SNVQ</c:v>
                  </c:pt>
                  <c:pt idx="20">
                    <c:v>SOAPsnp</c:v>
                  </c:pt>
                  <c:pt idx="21">
                    <c:v>Maq</c:v>
                  </c:pt>
                  <c:pt idx="22">
                    <c:v>SNVQ</c:v>
                  </c:pt>
                </c:lvl>
                <c:lvl>
                  <c:pt idx="0">
                    <c:v>RPKM &lt; 1</c:v>
                  </c:pt>
                  <c:pt idx="4">
                    <c:v>1 &lt; RPKM &lt; 5</c:v>
                  </c:pt>
                  <c:pt idx="8">
                    <c:v>5 &lt; RPKM &lt; 10</c:v>
                  </c:pt>
                  <c:pt idx="12">
                    <c:v>10 &lt; RPKM &lt; 50</c:v>
                  </c:pt>
                  <c:pt idx="16">
                    <c:v>50 &lt; RPKM &lt; 100</c:v>
                  </c:pt>
                  <c:pt idx="20">
                    <c:v>RPKM &gt; 100</c:v>
                  </c:pt>
                </c:lvl>
              </c:multiLvlStrCache>
            </c:multiLvlStrRef>
          </c:cat>
          <c:val>
            <c:numRef>
              <c:f>full_RPKM_20!$AA$5:$AA$27</c:f>
              <c:numCache>
                <c:formatCode>0.00%</c:formatCode>
                <c:ptCount val="23"/>
                <c:pt idx="0">
                  <c:v>0.56337209302325586</c:v>
                </c:pt>
                <c:pt idx="1">
                  <c:v>0.56337209302325586</c:v>
                </c:pt>
                <c:pt idx="2">
                  <c:v>0.56337209302325586</c:v>
                </c:pt>
                <c:pt idx="4">
                  <c:v>0.60279965004374569</c:v>
                </c:pt>
                <c:pt idx="5">
                  <c:v>0.60279965004374569</c:v>
                </c:pt>
                <c:pt idx="6">
                  <c:v>0.60279965004374569</c:v>
                </c:pt>
                <c:pt idx="8">
                  <c:v>0.58109833971902936</c:v>
                </c:pt>
                <c:pt idx="9">
                  <c:v>0.58109833971902936</c:v>
                </c:pt>
                <c:pt idx="10">
                  <c:v>0.57598978288633451</c:v>
                </c:pt>
                <c:pt idx="12">
                  <c:v>0.51144769284959535</c:v>
                </c:pt>
                <c:pt idx="13">
                  <c:v>0.50915492957746433</c:v>
                </c:pt>
                <c:pt idx="14">
                  <c:v>0.42027455121436147</c:v>
                </c:pt>
                <c:pt idx="16">
                  <c:v>0.36108108108108128</c:v>
                </c:pt>
                <c:pt idx="17">
                  <c:v>0.30810810810810818</c:v>
                </c:pt>
                <c:pt idx="18">
                  <c:v>0.1491891891891893</c:v>
                </c:pt>
                <c:pt idx="20">
                  <c:v>0.3753056234718829</c:v>
                </c:pt>
                <c:pt idx="21">
                  <c:v>0.10378510378510389</c:v>
                </c:pt>
                <c:pt idx="22">
                  <c:v>3.6540803897685749E-2</c:v>
                </c:pt>
              </c:numCache>
            </c:numRef>
          </c:val>
        </c:ser>
        <c:gapWidth val="13"/>
        <c:overlap val="100"/>
        <c:axId val="54163328"/>
        <c:axId val="54164864"/>
      </c:barChart>
      <c:catAx>
        <c:axId val="54163328"/>
        <c:scaling>
          <c:orientation val="minMax"/>
        </c:scaling>
        <c:axPos val="b"/>
        <c:tickLblPos val="low"/>
        <c:txPr>
          <a:bodyPr/>
          <a:lstStyle/>
          <a:p>
            <a:pPr>
              <a:defRPr sz="1400"/>
            </a:pPr>
            <a:endParaRPr lang="es-ES"/>
          </a:p>
        </c:txPr>
        <c:crossAx val="54164864"/>
        <c:crosses val="autoZero"/>
        <c:auto val="1"/>
        <c:lblAlgn val="ctr"/>
        <c:lblOffset val="100"/>
      </c:catAx>
      <c:valAx>
        <c:axId val="54164864"/>
        <c:scaling>
          <c:orientation val="minMax"/>
        </c:scaling>
        <c:axPos val="l"/>
        <c:majorGridlines/>
        <c:numFmt formatCode="0%" sourceLinked="1"/>
        <c:tickLblPos val="nextTo"/>
        <c:txPr>
          <a:bodyPr/>
          <a:lstStyle/>
          <a:p>
            <a:pPr>
              <a:defRPr sz="1600"/>
            </a:pPr>
            <a:endParaRPr lang="es-ES"/>
          </a:p>
        </c:txPr>
        <c:crossAx val="54163328"/>
        <c:crosses val="autoZero"/>
        <c:crossBetween val="midCat"/>
      </c:valAx>
    </c:plotArea>
    <c:legend>
      <c:legendPos val="b"/>
      <c:layout/>
      <c:txPr>
        <a:bodyPr/>
        <a:lstStyle/>
        <a:p>
          <a:pPr>
            <a:defRPr sz="1600"/>
          </a:pPr>
          <a:endParaRPr lang="es-ES"/>
        </a:p>
      </c:txPr>
    </c:legend>
    <c:plotVisOnly val="1"/>
  </c:chart>
  <c:externalData r:id="rId1"/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559" cy="469744"/>
          </a:xfrm>
          <a:prstGeom prst="rect">
            <a:avLst/>
          </a:prstGeom>
        </p:spPr>
        <p:txBody>
          <a:bodyPr vert="horz" lIns="93201" tIns="46600" rIns="93201" bIns="46600" rtlCol="0"/>
          <a:lstStyle>
            <a:lvl1pPr algn="l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279" y="0"/>
            <a:ext cx="3078558" cy="469744"/>
          </a:xfrm>
          <a:prstGeom prst="rect">
            <a:avLst/>
          </a:prstGeom>
        </p:spPr>
        <p:txBody>
          <a:bodyPr vert="horz" lIns="93201" tIns="46600" rIns="93201" bIns="46600" rtlCol="0"/>
          <a:lstStyle>
            <a:lvl1pPr algn="r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67FF77B8-68CD-4ECE-86AE-C8D024813117}" type="datetimeFigureOut">
              <a:rPr lang="en-US"/>
              <a:pPr>
                <a:defRPr/>
              </a:pPr>
              <a:t>1/31/2011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917128"/>
            <a:ext cx="3078559" cy="469744"/>
          </a:xfrm>
          <a:prstGeom prst="rect">
            <a:avLst/>
          </a:prstGeom>
        </p:spPr>
        <p:txBody>
          <a:bodyPr vert="horz" lIns="93201" tIns="46600" rIns="93201" bIns="46600" rtlCol="0" anchor="b"/>
          <a:lstStyle>
            <a:lvl1pPr algn="l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279" y="8917128"/>
            <a:ext cx="3078558" cy="469744"/>
          </a:xfrm>
          <a:prstGeom prst="rect">
            <a:avLst/>
          </a:prstGeom>
        </p:spPr>
        <p:txBody>
          <a:bodyPr vert="horz" lIns="93201" tIns="46600" rIns="93201" bIns="46600" rtlCol="0" anchor="b"/>
          <a:lstStyle>
            <a:lvl1pPr algn="r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5B84D696-9142-4D91-AD24-9F1BEC86C3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559" cy="469744"/>
          </a:xfrm>
          <a:prstGeom prst="rect">
            <a:avLst/>
          </a:prstGeom>
        </p:spPr>
        <p:txBody>
          <a:bodyPr vert="horz" lIns="93201" tIns="46600" rIns="93201" bIns="46600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279" y="0"/>
            <a:ext cx="3078558" cy="469744"/>
          </a:xfrm>
          <a:prstGeom prst="rect">
            <a:avLst/>
          </a:prstGeom>
        </p:spPr>
        <p:txBody>
          <a:bodyPr vert="horz" lIns="93201" tIns="46600" rIns="93201" bIns="46600" rtlCol="0"/>
          <a:lstStyle>
            <a:lvl1pPr algn="r">
              <a:defRPr sz="1300"/>
            </a:lvl1pPr>
          </a:lstStyle>
          <a:p>
            <a:fld id="{A39ED67B-EC46-46F4-8590-A72C92D4FB7E}" type="datetimeFigureOut">
              <a:rPr lang="en-US" smtClean="0"/>
              <a:pPr/>
              <a:t>1/31/2011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703263"/>
            <a:ext cx="4694237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01" tIns="46600" rIns="93201" bIns="4660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1066" y="4460168"/>
            <a:ext cx="5681980" cy="4224494"/>
          </a:xfrm>
          <a:prstGeom prst="rect">
            <a:avLst/>
          </a:prstGeom>
        </p:spPr>
        <p:txBody>
          <a:bodyPr vert="horz" lIns="93201" tIns="46600" rIns="93201" bIns="466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917128"/>
            <a:ext cx="3078559" cy="469744"/>
          </a:xfrm>
          <a:prstGeom prst="rect">
            <a:avLst/>
          </a:prstGeom>
        </p:spPr>
        <p:txBody>
          <a:bodyPr vert="horz" lIns="93201" tIns="46600" rIns="93201" bIns="46600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279" y="8917128"/>
            <a:ext cx="3078558" cy="469744"/>
          </a:xfrm>
          <a:prstGeom prst="rect">
            <a:avLst/>
          </a:prstGeom>
        </p:spPr>
        <p:txBody>
          <a:bodyPr vert="horz" lIns="93201" tIns="46600" rIns="93201" bIns="46600" rtlCol="0" anchor="b"/>
          <a:lstStyle>
            <a:lvl1pPr algn="r">
              <a:defRPr sz="1300"/>
            </a:lvl1pPr>
          </a:lstStyle>
          <a:p>
            <a:fld id="{5F21942F-737E-4F1F-B954-665A0A886E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871638-0BEC-445A-94F6-0B1CD0EBA4A8}" type="slidenum">
              <a:rPr lang="en-US"/>
              <a:pPr/>
              <a:t>3</a:t>
            </a:fld>
            <a:endParaRPr lang="en-US"/>
          </a:p>
        </p:txBody>
      </p:sp>
      <p:sp>
        <p:nvSpPr>
          <p:cNvPr id="323586" name="Rectangle 7"/>
          <p:cNvSpPr txBox="1">
            <a:spLocks noGrp="1" noChangeArrowheads="1"/>
          </p:cNvSpPr>
          <p:nvPr/>
        </p:nvSpPr>
        <p:spPr bwMode="auto">
          <a:xfrm>
            <a:off x="4022886" y="8918122"/>
            <a:ext cx="3078048" cy="468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311" tIns="46654" rIns="93311" bIns="46654" anchor="b"/>
          <a:lstStyle/>
          <a:p>
            <a:pPr algn="r" defTabSz="934600"/>
            <a:fld id="{7C264234-5CC7-4F93-92F4-BCDD02FAA03A}" type="slidenum">
              <a:rPr lang="en-US" sz="1200"/>
              <a:pPr algn="r" defTabSz="934600"/>
              <a:t>3</a:t>
            </a:fld>
            <a:endParaRPr lang="en-US" sz="1200" dirty="0"/>
          </a:p>
        </p:txBody>
      </p:sp>
      <p:sp>
        <p:nvSpPr>
          <p:cNvPr id="323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6500" y="704850"/>
            <a:ext cx="4692650" cy="3521075"/>
          </a:xfrm>
          <a:ln/>
        </p:spPr>
      </p:sp>
      <p:sp>
        <p:nvSpPr>
          <p:cNvPr id="3235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3311" tIns="46654" rIns="93311" bIns="46654"/>
          <a:lstStyle/>
          <a:p>
            <a:r>
              <a:rPr lang="en-US" i="1"/>
              <a:t>NOTE: </a:t>
            </a:r>
            <a:r>
              <a:rPr lang="en-US"/>
              <a:t>P(g|r) is NP-Hard…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208EE9-545E-4323-8174-AC75DDF443CD}" type="slidenum">
              <a:rPr lang="en-US"/>
              <a:pPr/>
              <a:t>4</a:t>
            </a:fld>
            <a:endParaRPr lang="en-US"/>
          </a:p>
        </p:txBody>
      </p:sp>
      <p:sp>
        <p:nvSpPr>
          <p:cNvPr id="325634" name="Rectangle 7"/>
          <p:cNvSpPr txBox="1">
            <a:spLocks noGrp="1" noChangeArrowheads="1"/>
          </p:cNvSpPr>
          <p:nvPr/>
        </p:nvSpPr>
        <p:spPr bwMode="auto">
          <a:xfrm>
            <a:off x="4022886" y="8918122"/>
            <a:ext cx="3078048" cy="468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311" tIns="46654" rIns="93311" bIns="46654" anchor="b"/>
          <a:lstStyle/>
          <a:p>
            <a:pPr algn="r" defTabSz="934600"/>
            <a:fld id="{BC9ADB2E-A481-4E52-A8A4-BFAA9B2D27D8}" type="slidenum">
              <a:rPr lang="en-US" sz="1200"/>
              <a:pPr algn="r" defTabSz="934600"/>
              <a:t>4</a:t>
            </a:fld>
            <a:endParaRPr lang="en-US" sz="1200" dirty="0"/>
          </a:p>
        </p:txBody>
      </p:sp>
      <p:sp>
        <p:nvSpPr>
          <p:cNvPr id="325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6500" y="704850"/>
            <a:ext cx="4692650" cy="3521075"/>
          </a:xfrm>
          <a:ln/>
        </p:spPr>
      </p:sp>
      <p:sp>
        <p:nvSpPr>
          <p:cNvPr id="325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3311" tIns="46654" rIns="93311" bIns="46654"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A56C01-2C7E-4EC2-AF50-53F98B642D41}" type="datetimeFigureOut">
              <a:rPr lang="en-US"/>
              <a:pPr>
                <a:defRPr/>
              </a:pPr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9C6E4-7E56-4974-9317-CC1BC73344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577867-4785-41D9-BB4D-DFDEA34AEB2F}" type="datetimeFigureOut">
              <a:rPr lang="en-US"/>
              <a:pPr>
                <a:defRPr/>
              </a:pPr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C1F1D6-40AC-4EDB-BFB9-8B0E8F27D5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6BB80F-16D1-4DAB-BE9F-28D16CB1E50E}" type="datetimeFigureOut">
              <a:rPr lang="en-US"/>
              <a:pPr>
                <a:defRPr/>
              </a:pPr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4F1B3F-BCC7-4E64-A1F2-1CB02AFC9B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36D1D-3A54-4911-A9A5-A708A4E83449}" type="datetimeFigureOut">
              <a:rPr lang="en-US"/>
              <a:pPr>
                <a:defRPr/>
              </a:pPr>
              <a:t>1/31/2011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F08B7-5897-4FB8-A6EA-792C4E218F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39DA25-2D98-43E9-9667-6D2008FE4559}" type="datetimeFigureOut">
              <a:rPr lang="en-US"/>
              <a:pPr>
                <a:defRPr/>
              </a:pPr>
              <a:t>1/31/2011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14782-5BC3-452F-9D51-EF6929B232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C03EC-912C-45BD-8995-3E7699A49F55}" type="datetimeFigureOut">
              <a:rPr lang="en-US"/>
              <a:pPr>
                <a:defRPr/>
              </a:pPr>
              <a:t>1/31/2011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84E385-E27F-483D-B2A2-3832C60C44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D8A8B1-141C-4A8B-861C-3A00D4858B3C}" type="datetimeFigureOut">
              <a:rPr lang="en-US"/>
              <a:pPr>
                <a:defRPr/>
              </a:pPr>
              <a:t>1/31/2011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2EA36-70AB-4D1B-89ED-896F4763B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02D9B-1E1D-49E0-B082-300D1097E350}" type="datetimeFigureOut">
              <a:rPr lang="en-US"/>
              <a:pPr>
                <a:defRPr/>
              </a:pPr>
              <a:t>1/31/2011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690CFC-917D-4565-B131-4133C574D8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E2C136-3589-4B72-8B20-BFD2F836FB00}" type="datetimeFigureOut">
              <a:rPr lang="en-US"/>
              <a:pPr>
                <a:defRPr/>
              </a:pPr>
              <a:t>1/31/2011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A73E2B-759C-45E6-BFD3-2F1C0526A0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7523E-435E-4A1B-A636-7DF1A40CA7B9}" type="datetimeFigureOut">
              <a:rPr lang="en-US"/>
              <a:pPr>
                <a:defRPr/>
              </a:pPr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1E0CA7-8E6F-41CC-A4E1-FE296B0480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112432-BE2E-4059-8B27-A161A8B7CD71}" type="datetimeFigureOut">
              <a:rPr lang="en-US"/>
              <a:pPr>
                <a:defRPr/>
              </a:pPr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E9879-C0AD-44FA-89B1-AA24651AB5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91B0AEB-082B-469F-AEA3-E5386DE38C4C}" type="datetimeFigureOut">
              <a:rPr lang="en-US"/>
              <a:pPr>
                <a:defRPr/>
              </a:pPr>
              <a:t>1/31/2011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3219538-8DE8-451B-8C17-EE589F36B7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90600"/>
            <a:ext cx="7772400" cy="25146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Towards accurate detection and genotyping of expressed variants from whole </a:t>
            </a:r>
            <a:r>
              <a:rPr lang="en-US" dirty="0" err="1" smtClean="0"/>
              <a:t>transcriptome</a:t>
            </a:r>
            <a:r>
              <a:rPr lang="en-US" dirty="0" smtClean="0"/>
              <a:t> sequencing data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>
          <a:xfrm>
            <a:off x="1371600" y="4495800"/>
            <a:ext cx="6400800" cy="1066800"/>
          </a:xfrm>
        </p:spPr>
        <p:txBody>
          <a:bodyPr/>
          <a:lstStyle/>
          <a:p>
            <a:pPr eaLnBrk="1" hangingPunct="1"/>
            <a:r>
              <a:rPr lang="en-GB" u="sng" dirty="0" smtClean="0">
                <a:solidFill>
                  <a:schemeClr val="tx1"/>
                </a:solidFill>
                <a:cs typeface="Arial" charset="0"/>
              </a:rPr>
              <a:t>Jorge Duitama</a:t>
            </a:r>
            <a:r>
              <a:rPr lang="en-GB" u="sng" baseline="30000" dirty="0" smtClean="0">
                <a:solidFill>
                  <a:schemeClr val="tx1"/>
                </a:solidFill>
                <a:cs typeface="Arial" charset="0"/>
              </a:rPr>
              <a:t>1</a:t>
            </a:r>
            <a:r>
              <a:rPr lang="en-GB" dirty="0" smtClean="0">
                <a:solidFill>
                  <a:schemeClr val="tx1"/>
                </a:solidFill>
                <a:cs typeface="Arial" charset="0"/>
              </a:rPr>
              <a:t>, </a:t>
            </a:r>
            <a:r>
              <a:rPr lang="en-GB" dirty="0" err="1" smtClean="0">
                <a:solidFill>
                  <a:schemeClr val="tx1"/>
                </a:solidFill>
                <a:cs typeface="Arial" charset="0"/>
              </a:rPr>
              <a:t>Pramod</a:t>
            </a:r>
            <a:r>
              <a:rPr lang="en-GB" dirty="0" smtClean="0">
                <a:solidFill>
                  <a:schemeClr val="tx1"/>
                </a:solidFill>
                <a:cs typeface="Arial" charset="0"/>
              </a:rPr>
              <a:t> Srivastava</a:t>
            </a:r>
            <a:r>
              <a:rPr lang="en-GB" baseline="30000" dirty="0" smtClean="0">
                <a:solidFill>
                  <a:schemeClr val="tx1"/>
                </a:solidFill>
                <a:cs typeface="Arial" charset="0"/>
              </a:rPr>
              <a:t>2</a:t>
            </a:r>
            <a:r>
              <a:rPr lang="en-GB" dirty="0" smtClean="0">
                <a:solidFill>
                  <a:schemeClr val="tx1"/>
                </a:solidFill>
                <a:cs typeface="Arial" charset="0"/>
              </a:rPr>
              <a:t>,</a:t>
            </a:r>
            <a:r>
              <a:rPr lang="en-GB" baseline="30000" dirty="0" smtClean="0">
                <a:solidFill>
                  <a:schemeClr val="tx1"/>
                </a:solidFill>
                <a:cs typeface="Arial" charset="0"/>
              </a:rPr>
              <a:t> </a:t>
            </a:r>
            <a:r>
              <a:rPr lang="en-GB" dirty="0" smtClean="0">
                <a:solidFill>
                  <a:schemeClr val="tx1"/>
                </a:solidFill>
                <a:cs typeface="Arial" charset="0"/>
              </a:rPr>
              <a:t>and Ion Mandoiu</a:t>
            </a:r>
            <a:r>
              <a:rPr lang="en-GB" baseline="30000" dirty="0" smtClean="0">
                <a:solidFill>
                  <a:schemeClr val="tx1"/>
                </a:solidFill>
                <a:cs typeface="Arial" charset="0"/>
              </a:rPr>
              <a:t>1</a:t>
            </a:r>
          </a:p>
          <a:p>
            <a:pPr eaLnBrk="1" hangingPunct="1"/>
            <a:endParaRPr lang="en-GB" dirty="0" smtClean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9868" y="5678269"/>
            <a:ext cx="81099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30000" dirty="0" smtClean="0"/>
              <a:t>1</a:t>
            </a:r>
            <a:r>
              <a:rPr lang="en-US" dirty="0" smtClean="0"/>
              <a:t> University of Connecticut. Department of Computer Sciences &amp; Engineering</a:t>
            </a:r>
          </a:p>
          <a:p>
            <a:r>
              <a:rPr lang="en-US" baseline="30000" dirty="0" smtClean="0"/>
              <a:t>2</a:t>
            </a:r>
            <a:r>
              <a:rPr lang="en-US" dirty="0" smtClean="0"/>
              <a:t> University of Connecticut Health Center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Introduction</a:t>
            </a: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RNA-</a:t>
            </a:r>
            <a:r>
              <a:rPr lang="en-US" sz="2800" dirty="0" err="1" smtClean="0"/>
              <a:t>Seq</a:t>
            </a:r>
            <a:r>
              <a:rPr lang="en-US" sz="2800" dirty="0" smtClean="0"/>
              <a:t> is the method of choice for studying functional effects of genetic variability</a:t>
            </a:r>
          </a:p>
          <a:p>
            <a:r>
              <a:rPr lang="en-US" sz="2800" dirty="0" smtClean="0"/>
              <a:t>RNA-</a:t>
            </a:r>
            <a:r>
              <a:rPr lang="en-US" sz="2800" dirty="0" err="1" smtClean="0"/>
              <a:t>Seq</a:t>
            </a:r>
            <a:r>
              <a:rPr lang="en-US" sz="2800" dirty="0" smtClean="0"/>
              <a:t> poses new computational challenges compared to genome sequencing</a:t>
            </a:r>
          </a:p>
          <a:p>
            <a:r>
              <a:rPr lang="en-US" sz="2800" dirty="0" smtClean="0"/>
              <a:t>In this paper we present:</a:t>
            </a:r>
            <a:r>
              <a:rPr lang="en-US" sz="2400" dirty="0" smtClean="0"/>
              <a:t> </a:t>
            </a:r>
          </a:p>
          <a:p>
            <a:pPr lvl="1"/>
            <a:r>
              <a:rPr lang="en-US" sz="2400" dirty="0" smtClean="0"/>
              <a:t> a strategy to map </a:t>
            </a:r>
            <a:r>
              <a:rPr lang="en-US" sz="2400" dirty="0" err="1" smtClean="0"/>
              <a:t>transcriptome</a:t>
            </a:r>
            <a:r>
              <a:rPr lang="en-US" sz="2400" dirty="0" smtClean="0"/>
              <a:t> reads using  both the genome reference sequence and the CCDS database.</a:t>
            </a:r>
          </a:p>
          <a:p>
            <a:pPr lvl="1"/>
            <a:r>
              <a:rPr lang="en-US" sz="2400" dirty="0" smtClean="0"/>
              <a:t>a novel Bayesian model for SNV discovery and genotyping based on quality scores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8" name="Text Box 8"/>
          <p:cNvSpPr txBox="1">
            <a:spLocks noChangeArrowheads="1"/>
          </p:cNvSpPr>
          <p:nvPr/>
        </p:nvSpPr>
        <p:spPr bwMode="auto">
          <a:xfrm>
            <a:off x="3786188" y="2057400"/>
            <a:ext cx="1571625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1600" b="1">
                <a:latin typeface="Arial" charset="0"/>
              </a:rPr>
              <a:t>Read Mapping</a:t>
            </a:r>
          </a:p>
        </p:txBody>
      </p:sp>
      <p:sp>
        <p:nvSpPr>
          <p:cNvPr id="322569" name="Line 9"/>
          <p:cNvSpPr>
            <a:spLocks noChangeShapeType="1"/>
          </p:cNvSpPr>
          <p:nvPr/>
        </p:nvSpPr>
        <p:spPr bwMode="auto">
          <a:xfrm>
            <a:off x="3162300" y="3429000"/>
            <a:ext cx="3009900" cy="0"/>
          </a:xfrm>
          <a:prstGeom prst="line">
            <a:avLst/>
          </a:prstGeom>
          <a:noFill/>
          <a:ln w="31750">
            <a:solidFill>
              <a:schemeClr val="folHlink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2570" name="Line 10"/>
          <p:cNvSpPr>
            <a:spLocks noChangeShapeType="1"/>
          </p:cNvSpPr>
          <p:nvPr/>
        </p:nvSpPr>
        <p:spPr bwMode="auto">
          <a:xfrm>
            <a:off x="3314700" y="35814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71" name="Line 11"/>
          <p:cNvSpPr>
            <a:spLocks noChangeShapeType="1"/>
          </p:cNvSpPr>
          <p:nvPr/>
        </p:nvSpPr>
        <p:spPr bwMode="auto">
          <a:xfrm>
            <a:off x="3467100" y="36576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72" name="Line 12"/>
          <p:cNvSpPr>
            <a:spLocks noChangeShapeType="1"/>
          </p:cNvSpPr>
          <p:nvPr/>
        </p:nvSpPr>
        <p:spPr bwMode="auto">
          <a:xfrm>
            <a:off x="3390900" y="35052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73" name="Line 13"/>
          <p:cNvSpPr>
            <a:spLocks noChangeShapeType="1"/>
          </p:cNvSpPr>
          <p:nvPr/>
        </p:nvSpPr>
        <p:spPr bwMode="auto">
          <a:xfrm>
            <a:off x="3848100" y="35814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74" name="Line 14"/>
          <p:cNvSpPr>
            <a:spLocks noChangeShapeType="1"/>
          </p:cNvSpPr>
          <p:nvPr/>
        </p:nvSpPr>
        <p:spPr bwMode="auto">
          <a:xfrm>
            <a:off x="4000500" y="36576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75" name="Line 15"/>
          <p:cNvSpPr>
            <a:spLocks noChangeShapeType="1"/>
          </p:cNvSpPr>
          <p:nvPr/>
        </p:nvSpPr>
        <p:spPr bwMode="auto">
          <a:xfrm>
            <a:off x="3924300" y="35052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76" name="Line 16"/>
          <p:cNvSpPr>
            <a:spLocks noChangeShapeType="1"/>
          </p:cNvSpPr>
          <p:nvPr/>
        </p:nvSpPr>
        <p:spPr bwMode="auto">
          <a:xfrm>
            <a:off x="4533900" y="35052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77" name="Line 17"/>
          <p:cNvSpPr>
            <a:spLocks noChangeShapeType="1"/>
          </p:cNvSpPr>
          <p:nvPr/>
        </p:nvSpPr>
        <p:spPr bwMode="auto">
          <a:xfrm>
            <a:off x="5143500" y="35052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78" name="Line 18"/>
          <p:cNvSpPr>
            <a:spLocks noChangeShapeType="1"/>
          </p:cNvSpPr>
          <p:nvPr/>
        </p:nvSpPr>
        <p:spPr bwMode="auto">
          <a:xfrm>
            <a:off x="5067300" y="36576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80" name="Line 20"/>
          <p:cNvSpPr>
            <a:spLocks noChangeShapeType="1"/>
          </p:cNvSpPr>
          <p:nvPr/>
        </p:nvSpPr>
        <p:spPr bwMode="auto">
          <a:xfrm>
            <a:off x="4686300" y="35814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81" name="Line 21"/>
          <p:cNvSpPr>
            <a:spLocks noChangeShapeType="1"/>
          </p:cNvSpPr>
          <p:nvPr/>
        </p:nvSpPr>
        <p:spPr bwMode="auto">
          <a:xfrm>
            <a:off x="4914900" y="37338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82" name="Line 22"/>
          <p:cNvSpPr>
            <a:spLocks noChangeShapeType="1"/>
          </p:cNvSpPr>
          <p:nvPr/>
        </p:nvSpPr>
        <p:spPr bwMode="auto">
          <a:xfrm>
            <a:off x="5181600" y="38100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83" name="Line 23"/>
          <p:cNvSpPr>
            <a:spLocks noChangeShapeType="1"/>
          </p:cNvSpPr>
          <p:nvPr/>
        </p:nvSpPr>
        <p:spPr bwMode="auto">
          <a:xfrm>
            <a:off x="3924300" y="37338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84" name="Line 24"/>
          <p:cNvSpPr>
            <a:spLocks noChangeShapeType="1"/>
          </p:cNvSpPr>
          <p:nvPr/>
        </p:nvSpPr>
        <p:spPr bwMode="auto">
          <a:xfrm>
            <a:off x="5676900" y="35052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85" name="Line 25"/>
          <p:cNvSpPr>
            <a:spLocks noChangeShapeType="1"/>
          </p:cNvSpPr>
          <p:nvPr/>
        </p:nvSpPr>
        <p:spPr bwMode="auto">
          <a:xfrm>
            <a:off x="5372100" y="3581400"/>
            <a:ext cx="4572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586" name="Rectangle 26"/>
          <p:cNvSpPr>
            <a:spLocks noChangeArrowheads="1"/>
          </p:cNvSpPr>
          <p:nvPr/>
        </p:nvSpPr>
        <p:spPr bwMode="auto">
          <a:xfrm>
            <a:off x="2933700" y="3352800"/>
            <a:ext cx="3276600" cy="914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2591" name="Text Box 31"/>
          <p:cNvSpPr txBox="1">
            <a:spLocks noChangeArrowheads="1"/>
          </p:cNvSpPr>
          <p:nvPr/>
        </p:nvSpPr>
        <p:spPr bwMode="auto">
          <a:xfrm>
            <a:off x="6096000" y="1295400"/>
            <a:ext cx="3048000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lang="en-US" sz="1600" b="1">
                <a:solidFill>
                  <a:schemeClr val="folHlink"/>
                </a:solidFill>
                <a:latin typeface="Arial" charset="0"/>
              </a:rPr>
              <a:t>Reference genome </a:t>
            </a:r>
          </a:p>
          <a:p>
            <a:pPr algn="ctr" eaLnBrk="1" hangingPunct="1"/>
            <a:r>
              <a:rPr lang="en-US" sz="1600" b="1">
                <a:solidFill>
                  <a:schemeClr val="folHlink"/>
                </a:solidFill>
                <a:latin typeface="Arial" charset="0"/>
              </a:rPr>
              <a:t>sequence</a:t>
            </a:r>
          </a:p>
        </p:txBody>
      </p:sp>
      <p:sp>
        <p:nvSpPr>
          <p:cNvPr id="322592" name="Text Box 32"/>
          <p:cNvSpPr txBox="1">
            <a:spLocks noChangeArrowheads="1"/>
          </p:cNvSpPr>
          <p:nvPr/>
        </p:nvSpPr>
        <p:spPr bwMode="auto">
          <a:xfrm>
            <a:off x="6477000" y="1828800"/>
            <a:ext cx="2667000" cy="144621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800">
                <a:solidFill>
                  <a:schemeClr val="folHlink"/>
                </a:solidFill>
              </a:rPr>
              <a:t>&gt;ref|NT_082868.6|Mm19_82865_37:1-3688105 Mus musculus chromosome 19 genomic contig, strain C57BL/6J</a:t>
            </a:r>
          </a:p>
          <a:p>
            <a:r>
              <a:rPr lang="en-US" sz="800">
                <a:solidFill>
                  <a:schemeClr val="folHlink"/>
                </a:solidFill>
              </a:rPr>
              <a:t>GATCATACTCCTCATGCTGGACATTCTGGTTCCTAGTATATCTGGAGAGTTAAGATGGGGAATTATGTCA</a:t>
            </a:r>
          </a:p>
          <a:p>
            <a:r>
              <a:rPr lang="en-US" sz="800">
                <a:solidFill>
                  <a:schemeClr val="folHlink"/>
                </a:solidFill>
              </a:rPr>
              <a:t>ACTTTCCCTCTTCCTATGCCAGTTATGCATAATGCACAAATATTTCCACGCTTTTTCACTACAGATAAAG</a:t>
            </a:r>
          </a:p>
          <a:p>
            <a:r>
              <a:rPr lang="en-US" sz="800">
                <a:solidFill>
                  <a:schemeClr val="folHlink"/>
                </a:solidFill>
              </a:rPr>
              <a:t>AACTGGGACTTGCTTATTTACCTTTAGATGAACAGATTCAGGCTCTGCAAGAAAATAGAATTTTCTTCAT</a:t>
            </a:r>
          </a:p>
          <a:p>
            <a:r>
              <a:rPr lang="en-US" sz="800">
                <a:solidFill>
                  <a:schemeClr val="folHlink"/>
                </a:solidFill>
              </a:rPr>
              <a:t>ACAGGGAAGCCTGTGCTTTGTACTAATTTCTTCATTACAAGATAAGAGTCAATGCATATCCTTGTATAAT</a:t>
            </a:r>
          </a:p>
        </p:txBody>
      </p:sp>
      <p:sp>
        <p:nvSpPr>
          <p:cNvPr id="322651" name="Text Box 91"/>
          <p:cNvSpPr txBox="1">
            <a:spLocks noChangeArrowheads="1"/>
          </p:cNvSpPr>
          <p:nvPr/>
        </p:nvSpPr>
        <p:spPr bwMode="auto">
          <a:xfrm>
            <a:off x="76200" y="1828800"/>
            <a:ext cx="2819400" cy="107721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chemeClr val="hlink"/>
                </a:solidFill>
              </a:rPr>
              <a:t>@HWI-EAS299_2:2:1:1536:631</a:t>
            </a:r>
          </a:p>
          <a:p>
            <a:r>
              <a:rPr lang="en-US" sz="800" dirty="0">
                <a:solidFill>
                  <a:schemeClr val="hlink"/>
                </a:solidFill>
              </a:rPr>
              <a:t>GGGATGTCAGGATTCACAATGACAGTGCTGGATGAG</a:t>
            </a:r>
          </a:p>
          <a:p>
            <a:r>
              <a:rPr lang="en-US" sz="800" dirty="0">
                <a:solidFill>
                  <a:schemeClr val="hlink"/>
                </a:solidFill>
              </a:rPr>
              <a:t>+HWI-EAS299_2:2:1:1536:631</a:t>
            </a:r>
          </a:p>
          <a:p>
            <a:r>
              <a:rPr lang="en-US" sz="800" dirty="0">
                <a:solidFill>
                  <a:schemeClr val="hlink"/>
                </a:solidFill>
              </a:rPr>
              <a:t>::::::::::::::::::::::::::::::222220</a:t>
            </a:r>
          </a:p>
          <a:p>
            <a:r>
              <a:rPr lang="en-US" sz="800" dirty="0">
                <a:solidFill>
                  <a:schemeClr val="hlink"/>
                </a:solidFill>
              </a:rPr>
              <a:t>@HWI-EAS299_2:2:1:771:94</a:t>
            </a:r>
          </a:p>
          <a:p>
            <a:r>
              <a:rPr lang="en-US" sz="800" dirty="0">
                <a:solidFill>
                  <a:schemeClr val="hlink"/>
                </a:solidFill>
              </a:rPr>
              <a:t>ATTACACCACCTTCAGCCCAGGTGGTTGGAGTACTC</a:t>
            </a:r>
          </a:p>
          <a:p>
            <a:r>
              <a:rPr lang="en-US" sz="800" dirty="0">
                <a:solidFill>
                  <a:schemeClr val="hlink"/>
                </a:solidFill>
              </a:rPr>
              <a:t>+HWI-EAS299_2:2:1:771:94</a:t>
            </a:r>
          </a:p>
          <a:p>
            <a:r>
              <a:rPr lang="en-US" sz="800" dirty="0">
                <a:solidFill>
                  <a:schemeClr val="hlink"/>
                </a:solidFill>
              </a:rPr>
              <a:t>:::::::::::::::::::::::::::2::222220</a:t>
            </a:r>
          </a:p>
        </p:txBody>
      </p:sp>
      <p:sp>
        <p:nvSpPr>
          <p:cNvPr id="322653" name="Text Box 93"/>
          <p:cNvSpPr txBox="1">
            <a:spLocks noChangeArrowheads="1"/>
          </p:cNvSpPr>
          <p:nvPr/>
        </p:nvSpPr>
        <p:spPr bwMode="auto">
          <a:xfrm>
            <a:off x="381000" y="1295400"/>
            <a:ext cx="2044700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1600" b="1">
                <a:solidFill>
                  <a:schemeClr val="hlink"/>
                </a:solidFill>
                <a:latin typeface="Arial" charset="0"/>
              </a:rPr>
              <a:t>Read sequences &amp; </a:t>
            </a:r>
          </a:p>
          <a:p>
            <a:pPr algn="ctr" eaLnBrk="1" hangingPunct="1"/>
            <a:r>
              <a:rPr lang="en-US" sz="1600" b="1">
                <a:solidFill>
                  <a:schemeClr val="hlink"/>
                </a:solidFill>
                <a:latin typeface="Arial" charset="0"/>
              </a:rPr>
              <a:t>quality scores</a:t>
            </a:r>
          </a:p>
        </p:txBody>
      </p:sp>
      <p:sp>
        <p:nvSpPr>
          <p:cNvPr id="322657" name="AutoShape 97"/>
          <p:cNvSpPr>
            <a:spLocks noChangeArrowheads="1"/>
          </p:cNvSpPr>
          <p:nvPr/>
        </p:nvSpPr>
        <p:spPr bwMode="auto">
          <a:xfrm>
            <a:off x="4229100" y="4394200"/>
            <a:ext cx="685800" cy="609600"/>
          </a:xfrm>
          <a:prstGeom prst="downArrow">
            <a:avLst>
              <a:gd name="adj1" fmla="val 29167"/>
              <a:gd name="adj2" fmla="val 27343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2661" name="Text Box 101"/>
          <p:cNvSpPr txBox="1">
            <a:spLocks noChangeArrowheads="1"/>
          </p:cNvSpPr>
          <p:nvPr/>
        </p:nvSpPr>
        <p:spPr bwMode="auto">
          <a:xfrm>
            <a:off x="4856163" y="4572000"/>
            <a:ext cx="1301750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/>
            <a:r>
              <a:rPr lang="en-US" sz="1600" b="1">
                <a:latin typeface="Arial" charset="0"/>
              </a:rPr>
              <a:t>SNP calling</a:t>
            </a:r>
          </a:p>
        </p:txBody>
      </p:sp>
      <p:sp>
        <p:nvSpPr>
          <p:cNvPr id="322662" name="Text Box 102"/>
          <p:cNvSpPr txBox="1">
            <a:spLocks noChangeArrowheads="1"/>
          </p:cNvSpPr>
          <p:nvPr/>
        </p:nvSpPr>
        <p:spPr bwMode="auto">
          <a:xfrm>
            <a:off x="3467100" y="5334000"/>
            <a:ext cx="2247900" cy="8350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fr-FR" sz="800"/>
              <a:t>1       4764558 	G    T      2       1</a:t>
            </a:r>
          </a:p>
          <a:p>
            <a:pPr eaLnBrk="1" hangingPunct="1"/>
            <a:r>
              <a:rPr lang="fr-FR" sz="800"/>
              <a:t>1       4767621 	C    A      2       1</a:t>
            </a:r>
          </a:p>
          <a:p>
            <a:r>
              <a:rPr lang="fr-FR" sz="800"/>
              <a:t>1       4767623 	T    A      2       1</a:t>
            </a:r>
          </a:p>
          <a:p>
            <a:r>
              <a:rPr lang="fr-FR" sz="800"/>
              <a:t>1       4767633 	T    A      2       1</a:t>
            </a:r>
          </a:p>
          <a:p>
            <a:r>
              <a:rPr lang="fr-FR" sz="800"/>
              <a:t>1       4767643 	A    C      4       2</a:t>
            </a:r>
          </a:p>
          <a:p>
            <a:r>
              <a:rPr lang="fr-FR" sz="800"/>
              <a:t>1       4767656 	T    C      7       1</a:t>
            </a:r>
            <a:endParaRPr lang="en-US" sz="800">
              <a:solidFill>
                <a:schemeClr val="accent2"/>
              </a:solidFill>
              <a:latin typeface="Calibri" pitchFamily="34" charset="0"/>
            </a:endParaRPr>
          </a:p>
        </p:txBody>
      </p:sp>
      <p:sp>
        <p:nvSpPr>
          <p:cNvPr id="322663" name="Rectangle 10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 dirty="0"/>
              <a:t>SNP Calling from Genomic DNA Reads</a:t>
            </a:r>
          </a:p>
        </p:txBody>
      </p:sp>
      <p:sp>
        <p:nvSpPr>
          <p:cNvPr id="322665" name="AutoShape 105"/>
          <p:cNvSpPr>
            <a:spLocks noChangeArrowheads="1"/>
          </p:cNvSpPr>
          <p:nvPr/>
        </p:nvSpPr>
        <p:spPr bwMode="auto">
          <a:xfrm rot="5400000">
            <a:off x="2857499" y="2286000"/>
            <a:ext cx="1143000" cy="914400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22666" name="AutoShape 106"/>
          <p:cNvSpPr>
            <a:spLocks noChangeArrowheads="1"/>
          </p:cNvSpPr>
          <p:nvPr/>
        </p:nvSpPr>
        <p:spPr bwMode="auto">
          <a:xfrm rot="16200000" flipH="1">
            <a:off x="5181600" y="2286000"/>
            <a:ext cx="1143000" cy="838200"/>
          </a:xfrm>
          <a:custGeom>
            <a:avLst/>
            <a:gdLst>
              <a:gd name="G0" fmla="+- 15126 0 0"/>
              <a:gd name="G1" fmla="+- 2912 0 0"/>
              <a:gd name="G2" fmla="+- 12158 0 2912"/>
              <a:gd name="G3" fmla="+- G2 0 2912"/>
              <a:gd name="G4" fmla="*/ G3 32768 32059"/>
              <a:gd name="G5" fmla="*/ G4 1 2"/>
              <a:gd name="G6" fmla="+- 21600 0 15126"/>
              <a:gd name="G7" fmla="*/ G6 2912 6079"/>
              <a:gd name="G8" fmla="+- G7 15126 0"/>
              <a:gd name="T0" fmla="*/ 15126 w 21600"/>
              <a:gd name="T1" fmla="*/ 0 h 21600"/>
              <a:gd name="T2" fmla="*/ 15126 w 21600"/>
              <a:gd name="T3" fmla="*/ 12158 h 21600"/>
              <a:gd name="T4" fmla="*/ 3237 w 21600"/>
              <a:gd name="T5" fmla="*/ 21600 h 21600"/>
              <a:gd name="T6" fmla="*/ 21600 w 21600"/>
              <a:gd name="T7" fmla="*/ 607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G1 h 21600"/>
              <a:gd name="T14" fmla="*/ G8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35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Mapping mRNA Reads</a:t>
            </a:r>
          </a:p>
        </p:txBody>
      </p:sp>
      <p:pic>
        <p:nvPicPr>
          <p:cNvPr id="324639" name="Picture 3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85988" y="1752600"/>
            <a:ext cx="4770437" cy="456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24640" name="Rectangle 32"/>
          <p:cNvSpPr>
            <a:spLocks noChangeArrowheads="1"/>
          </p:cNvSpPr>
          <p:nvPr/>
        </p:nvSpPr>
        <p:spPr bwMode="auto">
          <a:xfrm>
            <a:off x="76200" y="6553200"/>
            <a:ext cx="30400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900" dirty="0"/>
              <a:t>http://en.wikipedia.org/wiki/File:RNA-Seq-alignment.png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0"/>
            <a:ext cx="5105400" cy="6469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32"/>
          <p:cNvSpPr>
            <a:spLocks noChangeArrowheads="1"/>
          </p:cNvSpPr>
          <p:nvPr/>
        </p:nvSpPr>
        <p:spPr bwMode="auto">
          <a:xfrm>
            <a:off x="76200" y="6553200"/>
            <a:ext cx="7032694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900" dirty="0" smtClean="0"/>
              <a:t>C. </a:t>
            </a:r>
            <a:r>
              <a:rPr lang="en-US" sz="900" dirty="0" err="1" smtClean="0"/>
              <a:t>Trapnell</a:t>
            </a:r>
            <a:r>
              <a:rPr lang="en-US" sz="900" dirty="0" smtClean="0"/>
              <a:t>, L. </a:t>
            </a:r>
            <a:r>
              <a:rPr lang="en-US" sz="900" dirty="0" err="1" smtClean="0"/>
              <a:t>Pachter</a:t>
            </a:r>
            <a:r>
              <a:rPr lang="en-US" sz="900" dirty="0" smtClean="0"/>
              <a:t>, and S.L. </a:t>
            </a:r>
            <a:r>
              <a:rPr lang="en-US" sz="900" dirty="0" err="1" smtClean="0"/>
              <a:t>Salzberg</a:t>
            </a:r>
            <a:r>
              <a:rPr lang="en-US" sz="900" dirty="0" smtClean="0"/>
              <a:t>. </a:t>
            </a:r>
            <a:r>
              <a:rPr lang="en-US" sz="900" dirty="0" err="1" smtClean="0"/>
              <a:t>TopHat</a:t>
            </a:r>
            <a:r>
              <a:rPr lang="en-US" sz="900" dirty="0" smtClean="0"/>
              <a:t>: discovering splice junctions with RNA-Seq. Bioinformatics, 25(9):1105–1111, 2009.</a:t>
            </a:r>
            <a:endParaRPr lang="en-US" sz="9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Mapping and Merging Strategy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838200" y="2362200"/>
            <a:ext cx="7162800" cy="2730437"/>
            <a:chOff x="685800" y="1308163"/>
            <a:chExt cx="7162800" cy="2730437"/>
          </a:xfrm>
        </p:grpSpPr>
        <p:sp>
          <p:nvSpPr>
            <p:cNvPr id="26628" name="AutoShape 4"/>
            <p:cNvSpPr>
              <a:spLocks noChangeArrowheads="1"/>
            </p:cNvSpPr>
            <p:nvPr/>
          </p:nvSpPr>
          <p:spPr bwMode="auto">
            <a:xfrm>
              <a:off x="685800" y="2069653"/>
              <a:ext cx="1143008" cy="1143439"/>
            </a:xfrm>
            <a:prstGeom prst="flowChartDocument">
              <a:avLst/>
            </a:prstGeom>
            <a:solidFill>
              <a:srgbClr val="00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 smtClean="0">
                  <a:solidFill>
                    <a:srgbClr val="000000"/>
                  </a:solidFill>
                  <a:latin typeface="+mn-lt"/>
                </a:rPr>
                <a:t>Tumor mRNA reads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6630" name="AutoShape 6"/>
            <p:cNvSpPr>
              <a:spLocks noChangeArrowheads="1"/>
            </p:cNvSpPr>
            <p:nvPr/>
          </p:nvSpPr>
          <p:spPr bwMode="auto">
            <a:xfrm>
              <a:off x="2438400" y="1384363"/>
              <a:ext cx="1143008" cy="717299"/>
            </a:xfrm>
            <a:prstGeom prst="flowChartProcess">
              <a:avLst/>
            </a:prstGeom>
            <a:solidFill>
              <a:srgbClr val="FFCC99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defRPr/>
              </a:pP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CCDS</a:t>
              </a:r>
            </a:p>
            <a:p>
              <a:pPr algn="ctr">
                <a:spcAft>
                  <a:spcPts val="1000"/>
                </a:spcAft>
                <a:defRPr/>
              </a:pP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Mapping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6631" name="AutoShape 7"/>
            <p:cNvSpPr>
              <a:spLocks noChangeArrowheads="1"/>
            </p:cNvSpPr>
            <p:nvPr/>
          </p:nvSpPr>
          <p:spPr bwMode="auto">
            <a:xfrm>
              <a:off x="2286000" y="3230748"/>
              <a:ext cx="1190903" cy="668215"/>
            </a:xfrm>
            <a:prstGeom prst="flowChartProcess">
              <a:avLst/>
            </a:prstGeom>
            <a:solidFill>
              <a:srgbClr val="FFCC99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Genome Mapping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6632" name="AutoShape 8"/>
            <p:cNvSpPr>
              <a:spLocks noChangeArrowheads="1"/>
            </p:cNvSpPr>
            <p:nvPr/>
          </p:nvSpPr>
          <p:spPr bwMode="auto">
            <a:xfrm>
              <a:off x="4724400" y="2267264"/>
              <a:ext cx="1322938" cy="717299"/>
            </a:xfrm>
            <a:prstGeom prst="flowChartProcess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Read </a:t>
              </a:r>
              <a:r>
                <a:rPr lang="en-US" sz="2000" dirty="0" smtClean="0">
                  <a:solidFill>
                    <a:srgbClr val="000000"/>
                  </a:solidFill>
                  <a:latin typeface="+mn-lt"/>
                </a:rPr>
                <a:t>Merging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6633" name="AutoShape 9"/>
            <p:cNvSpPr>
              <a:spLocks noChangeArrowheads="1"/>
            </p:cNvSpPr>
            <p:nvPr/>
          </p:nvSpPr>
          <p:spPr bwMode="auto">
            <a:xfrm>
              <a:off x="4114800" y="1308163"/>
              <a:ext cx="1694447" cy="774192"/>
            </a:xfrm>
            <a:prstGeom prst="flowChartDocument">
              <a:avLst/>
            </a:prstGeom>
            <a:solidFill>
              <a:srgbClr val="00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CCDS mapped reads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26634" name="AutoShape 10"/>
            <p:cNvSpPr>
              <a:spLocks noChangeArrowheads="1"/>
            </p:cNvSpPr>
            <p:nvPr/>
          </p:nvSpPr>
          <p:spPr bwMode="auto">
            <a:xfrm>
              <a:off x="4114823" y="3213093"/>
              <a:ext cx="1829071" cy="825507"/>
            </a:xfrm>
            <a:prstGeom prst="flowChartDocument">
              <a:avLst/>
            </a:prstGeom>
            <a:solidFill>
              <a:srgbClr val="00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Genome mapped reads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9247" name="Line 11"/>
            <p:cNvSpPr>
              <a:spLocks noChangeShapeType="1"/>
            </p:cNvSpPr>
            <p:nvPr/>
          </p:nvSpPr>
          <p:spPr bwMode="auto">
            <a:xfrm flipV="1">
              <a:off x="1828800" y="1841985"/>
              <a:ext cx="609592" cy="3043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8" name="Line 12"/>
            <p:cNvSpPr>
              <a:spLocks noChangeShapeType="1"/>
            </p:cNvSpPr>
            <p:nvPr/>
          </p:nvSpPr>
          <p:spPr bwMode="auto">
            <a:xfrm>
              <a:off x="1828800" y="2984563"/>
              <a:ext cx="457200" cy="304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9" name="Line 13"/>
            <p:cNvSpPr>
              <a:spLocks noChangeShapeType="1"/>
            </p:cNvSpPr>
            <p:nvPr/>
          </p:nvSpPr>
          <p:spPr bwMode="auto">
            <a:xfrm>
              <a:off x="3581400" y="1765363"/>
              <a:ext cx="533317" cy="111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0" name="Line 14"/>
            <p:cNvSpPr>
              <a:spLocks noChangeShapeType="1"/>
            </p:cNvSpPr>
            <p:nvPr/>
          </p:nvSpPr>
          <p:spPr bwMode="auto">
            <a:xfrm>
              <a:off x="3505200" y="3365563"/>
              <a:ext cx="609623" cy="3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1" name="Line 15"/>
            <p:cNvSpPr>
              <a:spLocks noChangeShapeType="1"/>
            </p:cNvSpPr>
            <p:nvPr/>
          </p:nvSpPr>
          <p:spPr bwMode="auto">
            <a:xfrm flipV="1">
              <a:off x="5257831" y="2984405"/>
              <a:ext cx="1294" cy="2387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52" name="Line 16"/>
            <p:cNvSpPr>
              <a:spLocks noChangeShapeType="1"/>
            </p:cNvSpPr>
            <p:nvPr/>
          </p:nvSpPr>
          <p:spPr bwMode="auto">
            <a:xfrm flipH="1">
              <a:off x="5256506" y="1981200"/>
              <a:ext cx="1294" cy="3011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9" name="AutoShape 25"/>
            <p:cNvSpPr>
              <a:spLocks noChangeArrowheads="1"/>
            </p:cNvSpPr>
            <p:nvPr/>
          </p:nvSpPr>
          <p:spPr bwMode="auto">
            <a:xfrm>
              <a:off x="6629400" y="2225738"/>
              <a:ext cx="1219200" cy="758825"/>
            </a:xfrm>
            <a:prstGeom prst="flowChartDocument">
              <a:avLst/>
            </a:prstGeom>
            <a:solidFill>
              <a:srgbClr val="00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0169" tIns="20084" rIns="40169" bIns="20084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000" dirty="0">
                  <a:solidFill>
                    <a:srgbClr val="000000"/>
                  </a:solidFill>
                  <a:latin typeface="+mn-lt"/>
                </a:rPr>
                <a:t>Mapped reads</a:t>
              </a:r>
              <a:endParaRPr lang="en-US" sz="2000" dirty="0">
                <a:latin typeface="+mn-lt"/>
              </a:endParaRPr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 flipV="1">
              <a:off x="6019800" y="2601976"/>
              <a:ext cx="609600" cy="15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Read Merging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62000" y="1600200"/>
          <a:ext cx="7391400" cy="4495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280"/>
                <a:gridCol w="1478280"/>
                <a:gridCol w="1108710"/>
                <a:gridCol w="1663065"/>
                <a:gridCol w="1663065"/>
              </a:tblGrid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Genome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CCDS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Agree?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Hard Merge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Soft Merge</a:t>
                      </a:r>
                      <a:endParaRPr lang="en-US" dirty="0"/>
                    </a:p>
                  </a:txBody>
                  <a:tcPr/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Unique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Keep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Keep</a:t>
                      </a:r>
                      <a:endParaRPr lang="en-US" dirty="0"/>
                    </a:p>
                  </a:txBody>
                  <a:tcPr/>
                </a:tc>
              </a:tr>
              <a:tr h="4087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Unique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Unique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087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Multiple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No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Throw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Keep</a:t>
                      </a:r>
                      <a:endParaRPr lang="en-US" b="1" dirty="0"/>
                    </a:p>
                  </a:txBody>
                  <a:tcPr/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Unique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Mapped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Keep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Keep</a:t>
                      </a:r>
                      <a:endParaRPr lang="en-US" dirty="0"/>
                    </a:p>
                  </a:txBody>
                  <a:tcPr/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Multiple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Unique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Throw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Keep</a:t>
                      </a:r>
                      <a:endParaRPr lang="en-US" b="1" dirty="0"/>
                    </a:p>
                  </a:txBody>
                  <a:tcPr/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Multiple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Multiple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087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Multiple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Mapped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Not mapped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Keep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Keep</a:t>
                      </a:r>
                      <a:endParaRPr lang="en-US" dirty="0"/>
                    </a:p>
                  </a:txBody>
                  <a:tcPr/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Not mapped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Multiple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08709">
                <a:tc>
                  <a:txBody>
                    <a:bodyPr/>
                    <a:lstStyle/>
                    <a:p>
                      <a:r>
                        <a:rPr lang="en-US" dirty="0" smtClean="0"/>
                        <a:t>Not mapped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Mapped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Throw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SNV Detection and Genotyping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0" y="2514600"/>
            <a:ext cx="6400800" cy="2590800"/>
          </a:xfrm>
        </p:spPr>
        <p:txBody>
          <a:bodyPr/>
          <a:lstStyle/>
          <a:p>
            <a:pPr>
              <a:buNone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AACGCGGCCAGCCGGCTTCTGTCGGCCAGCAGCCAGGAATCTGGAAACAATGGCTACAGCGTGC</a:t>
            </a:r>
          </a:p>
          <a:p>
            <a:pPr>
              <a:buNone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AACGCGGCCAGCCGGCTTCTGTCGGCCAGCCG</a:t>
            </a:r>
            <a:r>
              <a:rPr lang="en-US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CAG</a:t>
            </a:r>
          </a:p>
          <a:p>
            <a:pPr>
              <a:buNone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CGCGGCCAGCCGGCTTCTGTCGGCCAGCAGCCCGGA</a:t>
            </a:r>
          </a:p>
          <a:p>
            <a:pPr>
              <a:buNone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GCGGCCAGCCGGCTTCTGTCGGCCAGCCG</a:t>
            </a:r>
            <a:r>
              <a:rPr lang="en-US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CAGGGA</a:t>
            </a:r>
          </a:p>
          <a:p>
            <a:pPr>
              <a:buNone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  GCCAGCCGGCTTCTGTCGGCCAGCAGCCAGGAATCT</a:t>
            </a:r>
          </a:p>
          <a:p>
            <a:pPr>
              <a:buNone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      GCCGGCTTCTGTCGGCCAGCAGCCAGGAATCTGGAA</a:t>
            </a:r>
          </a:p>
          <a:p>
            <a:pPr>
              <a:buNone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           CTTCTGTCGGCCAGCCG</a:t>
            </a:r>
            <a:r>
              <a:rPr lang="en-US" sz="12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CAGGAATCTGGAAACAAT</a:t>
            </a:r>
          </a:p>
          <a:p>
            <a:pPr>
              <a:buNone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                  CGGCCAGCAGCCAGGAATCTGGAAACAATGGCTACA</a:t>
            </a:r>
          </a:p>
          <a:p>
            <a:pPr>
              <a:buNone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                     CCAGCAGCCAGGAATCTGGAAACAATGGCTACAGCG</a:t>
            </a:r>
          </a:p>
          <a:p>
            <a:pPr>
              <a:buNone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                     CAAGCAGCCAGGAATCTGGAAACAATGGCTACAGCG</a:t>
            </a:r>
          </a:p>
          <a:p>
            <a:pPr>
              <a:buNone/>
            </a:pP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                           GCAGCCAGGAATCTGGAAACAATGGCTACAGCGTGC</a:t>
            </a:r>
            <a:endParaRPr lang="en-US" sz="12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" y="2357735"/>
            <a:ext cx="1440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n-lt"/>
              </a:rPr>
              <a:t>Reference</a:t>
            </a:r>
            <a:endParaRPr lang="en-US" sz="2400" dirty="0">
              <a:latin typeface="+mn-lt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752600" y="2636384"/>
            <a:ext cx="6858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91955" y="1524000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n-lt"/>
              </a:rPr>
              <a:t>Locus </a:t>
            </a:r>
            <a:r>
              <a:rPr lang="en-US" sz="2400" dirty="0" err="1" smtClean="0">
                <a:latin typeface="+mn-lt"/>
              </a:rPr>
              <a:t>i</a:t>
            </a:r>
            <a:endParaRPr lang="en-US" sz="2400" dirty="0">
              <a:latin typeface="+mn-lt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rot="5400000">
            <a:off x="5251447" y="2247106"/>
            <a:ext cx="533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Left Brace 16"/>
          <p:cNvSpPr/>
          <p:nvPr/>
        </p:nvSpPr>
        <p:spPr>
          <a:xfrm>
            <a:off x="2133600" y="2819400"/>
            <a:ext cx="152400" cy="21336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447800" y="3657600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>
                <a:latin typeface="+mn-lt"/>
              </a:rPr>
              <a:t>R</a:t>
            </a:r>
            <a:r>
              <a:rPr lang="en-US" sz="2400" baseline="-25000" dirty="0" err="1" smtClean="0">
                <a:latin typeface="+mn-lt"/>
              </a:rPr>
              <a:t>i</a:t>
            </a:r>
            <a:endParaRPr lang="en-US" sz="2400" baseline="-25000" dirty="0">
              <a:latin typeface="+mn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8200" y="5029200"/>
            <a:ext cx="56761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+mn-lt"/>
              </a:rPr>
              <a:t>r(</a:t>
            </a:r>
            <a:r>
              <a:rPr lang="en-US" sz="2400" dirty="0" err="1" smtClean="0">
                <a:latin typeface="+mn-lt"/>
              </a:rPr>
              <a:t>i</a:t>
            </a:r>
            <a:r>
              <a:rPr lang="en-US" sz="2400" dirty="0" smtClean="0">
                <a:latin typeface="+mn-lt"/>
              </a:rPr>
              <a:t>) : Base call of read r  at locus </a:t>
            </a:r>
            <a:r>
              <a:rPr lang="en-US" sz="2400" dirty="0" err="1" smtClean="0">
                <a:latin typeface="+mn-lt"/>
              </a:rPr>
              <a:t>i</a:t>
            </a:r>
            <a:endParaRPr lang="en-US" sz="2400" dirty="0" smtClean="0">
              <a:latin typeface="+mn-lt"/>
            </a:endParaRPr>
          </a:p>
          <a:p>
            <a:r>
              <a:rPr lang="el-GR" sz="2400" dirty="0" smtClean="0">
                <a:latin typeface="+mn-lt"/>
              </a:rPr>
              <a:t>ε</a:t>
            </a:r>
            <a:r>
              <a:rPr lang="en-US" sz="2400" baseline="-25000" dirty="0" smtClean="0">
                <a:latin typeface="+mn-lt"/>
              </a:rPr>
              <a:t>r(</a:t>
            </a:r>
            <a:r>
              <a:rPr lang="en-US" sz="2400" baseline="-25000" dirty="0" err="1" smtClean="0">
                <a:latin typeface="+mn-lt"/>
              </a:rPr>
              <a:t>i</a:t>
            </a:r>
            <a:r>
              <a:rPr lang="en-US" sz="2400" baseline="-25000" dirty="0" smtClean="0">
                <a:latin typeface="+mn-lt"/>
              </a:rPr>
              <a:t>) </a:t>
            </a:r>
            <a:r>
              <a:rPr lang="en-US" sz="2400" dirty="0" smtClean="0">
                <a:latin typeface="+mn-lt"/>
              </a:rPr>
              <a:t>: Probability of error reading base call r(</a:t>
            </a:r>
            <a:r>
              <a:rPr lang="en-US" sz="2400" dirty="0" err="1" smtClean="0">
                <a:latin typeface="+mn-lt"/>
              </a:rPr>
              <a:t>i</a:t>
            </a:r>
            <a:r>
              <a:rPr lang="en-US" sz="2400" dirty="0" smtClean="0">
                <a:latin typeface="+mn-lt"/>
              </a:rPr>
              <a:t>)</a:t>
            </a:r>
          </a:p>
          <a:p>
            <a:r>
              <a:rPr lang="en-US" sz="2400" dirty="0" err="1" smtClean="0">
                <a:latin typeface="+mn-lt"/>
              </a:rPr>
              <a:t>G</a:t>
            </a:r>
            <a:r>
              <a:rPr lang="en-US" sz="2400" baseline="-25000" dirty="0" err="1" smtClean="0">
                <a:latin typeface="+mn-lt"/>
              </a:rPr>
              <a:t>i</a:t>
            </a:r>
            <a:r>
              <a:rPr lang="en-US" sz="2400" baseline="-25000" dirty="0" smtClean="0">
                <a:latin typeface="+mn-lt"/>
              </a:rPr>
              <a:t>    </a:t>
            </a:r>
            <a:r>
              <a:rPr lang="en-US" sz="2400" dirty="0" smtClean="0">
                <a:latin typeface="+mn-lt"/>
              </a:rPr>
              <a:t>: Genotype at locus </a:t>
            </a:r>
            <a:r>
              <a:rPr lang="en-US" sz="2400" dirty="0" err="1" smtClean="0">
                <a:latin typeface="+mn-lt"/>
              </a:rPr>
              <a:t>i</a:t>
            </a:r>
            <a:endParaRPr lang="en-US" sz="24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SNV Detection and Genotyping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523999"/>
          </a:xfrm>
        </p:spPr>
        <p:txBody>
          <a:bodyPr/>
          <a:lstStyle/>
          <a:p>
            <a:r>
              <a:rPr lang="en-US" dirty="0" smtClean="0"/>
              <a:t>Use </a:t>
            </a:r>
            <a:r>
              <a:rPr lang="en-US" dirty="0" err="1" smtClean="0"/>
              <a:t>Bayes</a:t>
            </a:r>
            <a:r>
              <a:rPr lang="en-US" dirty="0" smtClean="0"/>
              <a:t> rule to calculate posterior probabilities and pick the genotype with the largest one</a:t>
            </a:r>
            <a:endParaRPr lang="en-US" dirty="0"/>
          </a:p>
        </p:txBody>
      </p:sp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3200400"/>
            <a:ext cx="4462943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4800600"/>
            <a:ext cx="531340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Current</a:t>
            </a:r>
            <a:r>
              <a:rPr lang="es-ES" dirty="0" smtClean="0"/>
              <a:t> </a:t>
            </a:r>
            <a:r>
              <a:rPr lang="es-ES" dirty="0" err="1" smtClean="0"/>
              <a:t>Models</a:t>
            </a:r>
            <a:endParaRPr lang="es-E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 smtClean="0"/>
              <a:t>Maq</a:t>
            </a:r>
            <a:r>
              <a:rPr lang="es-ES" dirty="0" smtClean="0"/>
              <a:t>:</a:t>
            </a:r>
          </a:p>
          <a:p>
            <a:pPr lvl="1"/>
            <a:r>
              <a:rPr lang="es-ES" sz="2400" dirty="0" err="1" smtClean="0"/>
              <a:t>Keep</a:t>
            </a:r>
            <a:r>
              <a:rPr lang="es-ES" sz="2400" dirty="0" smtClean="0"/>
              <a:t> </a:t>
            </a:r>
            <a:r>
              <a:rPr lang="es-ES" sz="2400" dirty="0" err="1" smtClean="0"/>
              <a:t>just</a:t>
            </a:r>
            <a:r>
              <a:rPr lang="es-ES" sz="2400" dirty="0" smtClean="0"/>
              <a:t> </a:t>
            </a:r>
            <a:r>
              <a:rPr lang="es-ES" sz="2400" dirty="0" err="1" smtClean="0"/>
              <a:t>the</a:t>
            </a:r>
            <a:r>
              <a:rPr lang="es-ES" sz="2400" dirty="0" smtClean="0"/>
              <a:t> </a:t>
            </a:r>
            <a:r>
              <a:rPr lang="es-ES" sz="2400" dirty="0" err="1" smtClean="0"/>
              <a:t>alleles</a:t>
            </a:r>
            <a:r>
              <a:rPr lang="es-ES" sz="2400" dirty="0" smtClean="0"/>
              <a:t> </a:t>
            </a:r>
            <a:r>
              <a:rPr lang="es-ES" sz="2400" dirty="0" err="1" smtClean="0"/>
              <a:t>with</a:t>
            </a:r>
            <a:r>
              <a:rPr lang="es-ES" sz="2400" dirty="0" smtClean="0"/>
              <a:t> </a:t>
            </a:r>
            <a:r>
              <a:rPr lang="es-ES" sz="2400" dirty="0" err="1" smtClean="0"/>
              <a:t>the</a:t>
            </a:r>
            <a:r>
              <a:rPr lang="es-ES" sz="2400" dirty="0" smtClean="0"/>
              <a:t> </a:t>
            </a:r>
            <a:r>
              <a:rPr lang="es-ES" sz="2400" dirty="0" err="1" smtClean="0"/>
              <a:t>two</a:t>
            </a:r>
            <a:r>
              <a:rPr lang="es-ES" sz="2400" dirty="0" smtClean="0"/>
              <a:t> </a:t>
            </a:r>
            <a:r>
              <a:rPr lang="es-ES" sz="2400" dirty="0" err="1" smtClean="0"/>
              <a:t>largest</a:t>
            </a:r>
            <a:r>
              <a:rPr lang="es-ES" sz="2400" dirty="0" smtClean="0"/>
              <a:t> </a:t>
            </a:r>
            <a:r>
              <a:rPr lang="es-ES" sz="2400" dirty="0" err="1" smtClean="0"/>
              <a:t>counts</a:t>
            </a:r>
            <a:endParaRPr lang="es-ES" sz="2400" dirty="0" smtClean="0"/>
          </a:p>
          <a:p>
            <a:pPr lvl="1"/>
            <a:r>
              <a:rPr lang="es-ES" sz="2400" dirty="0" smtClean="0"/>
              <a:t>Pr (</a:t>
            </a:r>
            <a:r>
              <a:rPr lang="es-ES" sz="2400" dirty="0" err="1" smtClean="0"/>
              <a:t>R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 | </a:t>
            </a:r>
            <a:r>
              <a:rPr lang="es-ES" sz="2400" dirty="0" err="1" smtClean="0"/>
              <a:t>G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=</a:t>
            </a:r>
            <a:r>
              <a:rPr lang="es-ES" sz="2400" dirty="0" err="1" smtClean="0"/>
              <a:t>H</a:t>
            </a:r>
            <a:r>
              <a:rPr lang="es-ES" sz="2400" baseline="-25000" dirty="0" err="1" smtClean="0"/>
              <a:t>i</a:t>
            </a:r>
            <a:r>
              <a:rPr lang="es-ES" sz="2400" dirty="0" err="1" smtClean="0"/>
              <a:t>H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) </a:t>
            </a:r>
            <a:r>
              <a:rPr lang="es-ES" sz="2400" dirty="0" err="1" smtClean="0"/>
              <a:t>is</a:t>
            </a:r>
            <a:r>
              <a:rPr lang="es-ES" sz="2400" dirty="0" smtClean="0"/>
              <a:t> </a:t>
            </a:r>
            <a:r>
              <a:rPr lang="es-ES" sz="2400" dirty="0" err="1" smtClean="0"/>
              <a:t>the</a:t>
            </a:r>
            <a:r>
              <a:rPr lang="es-ES" sz="2400" dirty="0" smtClean="0"/>
              <a:t> </a:t>
            </a:r>
            <a:r>
              <a:rPr lang="es-ES" sz="2400" dirty="0" err="1" smtClean="0"/>
              <a:t>probability</a:t>
            </a:r>
            <a:r>
              <a:rPr lang="es-ES" sz="2400" dirty="0" smtClean="0"/>
              <a:t> of </a:t>
            </a:r>
            <a:r>
              <a:rPr lang="es-ES" sz="2400" dirty="0" err="1" smtClean="0"/>
              <a:t>observing</a:t>
            </a:r>
            <a:r>
              <a:rPr lang="es-ES" sz="2400" dirty="0" smtClean="0"/>
              <a:t> k </a:t>
            </a:r>
            <a:r>
              <a:rPr lang="es-ES" sz="2400" dirty="0" err="1" smtClean="0"/>
              <a:t>alleles</a:t>
            </a:r>
            <a:r>
              <a:rPr lang="es-ES" sz="2400" dirty="0" smtClean="0"/>
              <a:t> r(i) </a:t>
            </a:r>
            <a:r>
              <a:rPr lang="es-ES" sz="2400" dirty="0" err="1" smtClean="0"/>
              <a:t>different</a:t>
            </a:r>
            <a:r>
              <a:rPr lang="es-ES" sz="2400" dirty="0" smtClean="0"/>
              <a:t> </a:t>
            </a:r>
            <a:r>
              <a:rPr lang="es-ES" sz="2400" dirty="0" err="1" smtClean="0"/>
              <a:t>than</a:t>
            </a:r>
            <a:r>
              <a:rPr lang="es-ES" sz="2400" dirty="0" smtClean="0"/>
              <a:t> </a:t>
            </a:r>
            <a:r>
              <a:rPr lang="es-ES" sz="2400" dirty="0" err="1" smtClean="0"/>
              <a:t>H</a:t>
            </a:r>
            <a:r>
              <a:rPr lang="es-ES" sz="2400" baseline="-25000" dirty="0" err="1" smtClean="0"/>
              <a:t>i</a:t>
            </a:r>
            <a:endParaRPr lang="es-ES" sz="2400" baseline="-25000" dirty="0" smtClean="0"/>
          </a:p>
          <a:p>
            <a:pPr lvl="1"/>
            <a:r>
              <a:rPr lang="es-ES" sz="2400" dirty="0" smtClean="0"/>
              <a:t>Pr (</a:t>
            </a:r>
            <a:r>
              <a:rPr lang="es-ES" sz="2400" dirty="0" err="1" smtClean="0"/>
              <a:t>R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 | </a:t>
            </a:r>
            <a:r>
              <a:rPr lang="es-ES" sz="2400" dirty="0" err="1" smtClean="0"/>
              <a:t>G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=</a:t>
            </a:r>
            <a:r>
              <a:rPr lang="es-ES" sz="2400" dirty="0" err="1" smtClean="0"/>
              <a:t>H</a:t>
            </a:r>
            <a:r>
              <a:rPr lang="es-ES" sz="2400" baseline="-25000" dirty="0" err="1" smtClean="0"/>
              <a:t>i</a:t>
            </a:r>
            <a:r>
              <a:rPr lang="es-ES" sz="2400" dirty="0" err="1" smtClean="0"/>
              <a:t>H’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) </a:t>
            </a:r>
            <a:r>
              <a:rPr lang="es-ES" sz="2400" dirty="0" err="1" smtClean="0"/>
              <a:t>is</a:t>
            </a:r>
            <a:r>
              <a:rPr lang="es-ES" sz="2400" dirty="0" smtClean="0"/>
              <a:t> </a:t>
            </a:r>
            <a:r>
              <a:rPr lang="es-ES" sz="2400" dirty="0" err="1" smtClean="0"/>
              <a:t>approximated</a:t>
            </a:r>
            <a:r>
              <a:rPr lang="es-ES" sz="2400" dirty="0" smtClean="0"/>
              <a:t> as a </a:t>
            </a:r>
            <a:r>
              <a:rPr lang="es-ES" sz="2400" dirty="0" err="1" smtClean="0"/>
              <a:t>binomial</a:t>
            </a:r>
            <a:r>
              <a:rPr lang="es-ES" sz="2400" dirty="0" smtClean="0"/>
              <a:t> </a:t>
            </a:r>
            <a:r>
              <a:rPr lang="es-ES" sz="2400" dirty="0" err="1" smtClean="0"/>
              <a:t>with</a:t>
            </a:r>
            <a:r>
              <a:rPr lang="es-ES" sz="2400" dirty="0" smtClean="0"/>
              <a:t> p=0.5</a:t>
            </a:r>
          </a:p>
          <a:p>
            <a:r>
              <a:rPr lang="es-ES" dirty="0" err="1" smtClean="0"/>
              <a:t>SOAPsnp</a:t>
            </a:r>
            <a:endParaRPr lang="es-ES" dirty="0" smtClean="0"/>
          </a:p>
          <a:p>
            <a:pPr lvl="1"/>
            <a:r>
              <a:rPr lang="es-ES" sz="2400" dirty="0" smtClean="0"/>
              <a:t>Pr (</a:t>
            </a:r>
            <a:r>
              <a:rPr lang="es-ES" sz="2400" dirty="0" err="1" smtClean="0"/>
              <a:t>r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 | </a:t>
            </a:r>
            <a:r>
              <a:rPr lang="es-ES" sz="2400" dirty="0" err="1" smtClean="0"/>
              <a:t>G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=</a:t>
            </a:r>
            <a:r>
              <a:rPr lang="es-ES" sz="2400" dirty="0" err="1" smtClean="0"/>
              <a:t>H</a:t>
            </a:r>
            <a:r>
              <a:rPr lang="es-ES" sz="2400" baseline="-25000" dirty="0" err="1" smtClean="0"/>
              <a:t>i</a:t>
            </a:r>
            <a:r>
              <a:rPr lang="es-ES" sz="2400" dirty="0" err="1" smtClean="0"/>
              <a:t>H’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) </a:t>
            </a:r>
            <a:r>
              <a:rPr lang="es-ES" sz="2400" dirty="0" err="1" smtClean="0"/>
              <a:t>is</a:t>
            </a:r>
            <a:r>
              <a:rPr lang="es-ES" sz="2400" dirty="0" smtClean="0"/>
              <a:t> </a:t>
            </a:r>
            <a:r>
              <a:rPr lang="es-ES" sz="2400" dirty="0" err="1" smtClean="0"/>
              <a:t>the</a:t>
            </a:r>
            <a:r>
              <a:rPr lang="es-ES" sz="2400" dirty="0" smtClean="0"/>
              <a:t> </a:t>
            </a:r>
            <a:r>
              <a:rPr lang="es-ES" sz="2400" dirty="0" err="1" smtClean="0"/>
              <a:t>average</a:t>
            </a:r>
            <a:r>
              <a:rPr lang="es-ES" sz="2400" dirty="0" smtClean="0"/>
              <a:t> of Pr(</a:t>
            </a:r>
            <a:r>
              <a:rPr lang="es-ES" sz="2400" dirty="0" err="1" smtClean="0"/>
              <a:t>r</a:t>
            </a:r>
            <a:r>
              <a:rPr lang="es-ES" sz="2400" baseline="-25000" dirty="0" err="1" smtClean="0"/>
              <a:t>i</a:t>
            </a:r>
            <a:r>
              <a:rPr lang="es-ES" sz="2400" dirty="0" err="1" smtClean="0"/>
              <a:t>|H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) and Pr(</a:t>
            </a:r>
            <a:r>
              <a:rPr lang="es-ES" sz="2400" dirty="0" err="1" smtClean="0"/>
              <a:t>r</a:t>
            </a:r>
            <a:r>
              <a:rPr lang="es-ES" sz="2400" baseline="-25000" dirty="0" err="1" smtClean="0"/>
              <a:t>i</a:t>
            </a:r>
            <a:r>
              <a:rPr lang="es-ES" sz="2400" dirty="0" err="1" smtClean="0"/>
              <a:t>|G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=</a:t>
            </a:r>
            <a:r>
              <a:rPr lang="es-ES" sz="2400" dirty="0" err="1" smtClean="0"/>
              <a:t>H’</a:t>
            </a:r>
            <a:r>
              <a:rPr lang="es-ES" sz="2400" baseline="-25000" dirty="0" err="1" smtClean="0"/>
              <a:t>i</a:t>
            </a:r>
            <a:r>
              <a:rPr lang="es-ES" sz="2400" dirty="0" smtClean="0"/>
              <a:t>)</a:t>
            </a:r>
          </a:p>
          <a:p>
            <a:pPr lvl="1"/>
            <a:r>
              <a:rPr lang="es-ES" sz="2400" dirty="0" smtClean="0"/>
              <a:t>A </a:t>
            </a:r>
            <a:r>
              <a:rPr lang="es-ES" sz="2400" dirty="0" err="1" smtClean="0"/>
              <a:t>rank</a:t>
            </a:r>
            <a:r>
              <a:rPr lang="es-ES" sz="2400" dirty="0" smtClean="0"/>
              <a:t> test </a:t>
            </a:r>
            <a:r>
              <a:rPr lang="es-ES" sz="2400" dirty="0" err="1" smtClean="0"/>
              <a:t>on</a:t>
            </a:r>
            <a:r>
              <a:rPr lang="es-ES" sz="2400" dirty="0" smtClean="0"/>
              <a:t> </a:t>
            </a:r>
            <a:r>
              <a:rPr lang="es-ES" sz="2400" dirty="0" err="1" smtClean="0"/>
              <a:t>the</a:t>
            </a:r>
            <a:r>
              <a:rPr lang="es-ES" sz="2400" dirty="0" smtClean="0"/>
              <a:t> </a:t>
            </a:r>
            <a:r>
              <a:rPr lang="es-ES" sz="2400" dirty="0" err="1" smtClean="0"/>
              <a:t>quality</a:t>
            </a:r>
            <a:r>
              <a:rPr lang="es-ES" sz="2400" dirty="0" smtClean="0"/>
              <a:t> scores of </a:t>
            </a:r>
            <a:r>
              <a:rPr lang="es-ES" sz="2400" dirty="0" err="1" smtClean="0"/>
              <a:t>the</a:t>
            </a:r>
            <a:r>
              <a:rPr lang="es-ES" sz="2400" dirty="0" smtClean="0"/>
              <a:t> </a:t>
            </a:r>
            <a:r>
              <a:rPr lang="es-ES" sz="2400" dirty="0" err="1" smtClean="0"/>
              <a:t>allele</a:t>
            </a:r>
            <a:r>
              <a:rPr lang="es-ES" sz="2400" dirty="0" smtClean="0"/>
              <a:t> </a:t>
            </a:r>
            <a:r>
              <a:rPr lang="es-ES" sz="2400" dirty="0" err="1" smtClean="0"/>
              <a:t>calls</a:t>
            </a:r>
            <a:r>
              <a:rPr lang="es-ES" sz="2400" dirty="0" smtClean="0"/>
              <a:t> </a:t>
            </a:r>
            <a:r>
              <a:rPr lang="es-ES" sz="2400" dirty="0" err="1" smtClean="0"/>
              <a:t>is</a:t>
            </a:r>
            <a:r>
              <a:rPr lang="es-ES" sz="2400" dirty="0" smtClean="0"/>
              <a:t> </a:t>
            </a:r>
            <a:r>
              <a:rPr lang="es-ES" sz="2400" dirty="0" err="1" smtClean="0"/>
              <a:t>used</a:t>
            </a:r>
            <a:r>
              <a:rPr lang="es-ES" sz="2400" dirty="0" smtClean="0"/>
              <a:t> </a:t>
            </a:r>
            <a:r>
              <a:rPr lang="es-ES" sz="2400" dirty="0" err="1" smtClean="0"/>
              <a:t>to</a:t>
            </a:r>
            <a:r>
              <a:rPr lang="es-ES" sz="2400" dirty="0" smtClean="0"/>
              <a:t> </a:t>
            </a:r>
            <a:r>
              <a:rPr lang="es-ES" sz="2400" dirty="0" err="1" smtClean="0"/>
              <a:t>confirm</a:t>
            </a:r>
            <a:r>
              <a:rPr lang="es-ES" sz="2400" dirty="0" smtClean="0"/>
              <a:t> </a:t>
            </a:r>
            <a:r>
              <a:rPr lang="es-ES" sz="2400" dirty="0" err="1" smtClean="0"/>
              <a:t>heterozygocity</a:t>
            </a:r>
            <a:endParaRPr lang="es-ES" sz="2400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SNV Detection and Genotyping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066800"/>
          </a:xfrm>
        </p:spPr>
        <p:txBody>
          <a:bodyPr/>
          <a:lstStyle/>
          <a:p>
            <a:pPr eaLnBrk="1" hangingPunct="1"/>
            <a:r>
              <a:rPr lang="en-US" sz="2800" dirty="0" smtClean="0"/>
              <a:t>Calculate conditional probabilities by multiplying contributions of individual reads</a:t>
            </a:r>
          </a:p>
          <a:p>
            <a:pPr lvl="1" eaLnBrk="1" hangingPunct="1">
              <a:buFont typeface="Arial" charset="0"/>
              <a:buNone/>
            </a:pPr>
            <a:r>
              <a:rPr lang="en-US" sz="2200" dirty="0" smtClean="0"/>
              <a:t> 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2590800"/>
            <a:ext cx="3524036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3733800"/>
            <a:ext cx="7076756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Accuracy Assessment of Variants Detection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 smtClean="0"/>
              <a:t>113 million </a:t>
            </a:r>
            <a:r>
              <a:rPr lang="en-US" sz="2800" dirty="0" err="1" smtClean="0"/>
              <a:t>Illumina</a:t>
            </a:r>
            <a:r>
              <a:rPr lang="en-US" sz="2800" dirty="0" smtClean="0"/>
              <a:t> mRNA reads generated from blood cell tissue of </a:t>
            </a:r>
            <a:r>
              <a:rPr lang="en-US" sz="2800" dirty="0" err="1" smtClean="0"/>
              <a:t>Hapmap</a:t>
            </a:r>
            <a:r>
              <a:rPr lang="en-US" sz="2800" dirty="0" smtClean="0"/>
              <a:t> individual NA12878 (NCBI SRA database accession numbers SRX000565 and SRX000566)</a:t>
            </a:r>
          </a:p>
          <a:p>
            <a:pPr lvl="1" eaLnBrk="1" hangingPunct="1"/>
            <a:r>
              <a:rPr lang="en-US" sz="2400" dirty="0" smtClean="0"/>
              <a:t>We tested genotype calling using as gold standard 3.4 million SNPs with known genotypes for NA12878 available in the database of the </a:t>
            </a:r>
            <a:r>
              <a:rPr lang="en-US" sz="2400" dirty="0" err="1" smtClean="0"/>
              <a:t>Hapmap</a:t>
            </a:r>
            <a:r>
              <a:rPr lang="en-US" sz="2400" dirty="0" smtClean="0"/>
              <a:t> project</a:t>
            </a:r>
          </a:p>
          <a:p>
            <a:pPr lvl="1" eaLnBrk="1" hangingPunct="1"/>
            <a:r>
              <a:rPr lang="en-US" sz="2400" dirty="0" smtClean="0"/>
              <a:t>True positive: called variant for  which </a:t>
            </a:r>
            <a:r>
              <a:rPr lang="en-US" sz="2400" dirty="0" err="1" smtClean="0"/>
              <a:t>Hapmap</a:t>
            </a:r>
            <a:r>
              <a:rPr lang="en-US" sz="2400" dirty="0" smtClean="0"/>
              <a:t> genotype coincides</a:t>
            </a:r>
          </a:p>
          <a:p>
            <a:pPr lvl="1" eaLnBrk="1" hangingPunct="1"/>
            <a:r>
              <a:rPr lang="en-US" sz="2400" dirty="0" smtClean="0"/>
              <a:t>False positive: called variant for which </a:t>
            </a:r>
            <a:r>
              <a:rPr lang="en-US" sz="2400" dirty="0" err="1" smtClean="0"/>
              <a:t>Hapmap</a:t>
            </a:r>
            <a:r>
              <a:rPr lang="en-US" sz="2400" dirty="0" smtClean="0"/>
              <a:t> genotype does not coincide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Comparison of Mapping Strategies</a:t>
            </a:r>
          </a:p>
        </p:txBody>
      </p:sp>
      <p:graphicFrame>
        <p:nvGraphicFramePr>
          <p:cNvPr id="6" name="Chart 5"/>
          <p:cNvGraphicFramePr/>
          <p:nvPr/>
        </p:nvGraphicFramePr>
        <p:xfrm>
          <a:off x="838200" y="1219200"/>
          <a:ext cx="72390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Comparison of Variant Calling Strategies</a:t>
            </a:r>
          </a:p>
        </p:txBody>
      </p:sp>
      <p:graphicFrame>
        <p:nvGraphicFramePr>
          <p:cNvPr id="6" name="Chart 5"/>
          <p:cNvGraphicFramePr/>
          <p:nvPr/>
        </p:nvGraphicFramePr>
        <p:xfrm>
          <a:off x="1219200" y="1600200"/>
          <a:ext cx="65532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Filtering</a:t>
            </a:r>
            <a:endParaRPr lang="en-US" dirty="0"/>
          </a:p>
        </p:txBody>
      </p:sp>
      <p:graphicFrame>
        <p:nvGraphicFramePr>
          <p:cNvPr id="5" name="Chart 4"/>
          <p:cNvGraphicFramePr>
            <a:graphicFrameLocks/>
          </p:cNvGraphicFramePr>
          <p:nvPr/>
        </p:nvGraphicFramePr>
        <p:xfrm>
          <a:off x="533400" y="1295400"/>
          <a:ext cx="792480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Filtering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Allow just x reads per start locus to eliminate PCR amplification artifacts</a:t>
            </a:r>
          </a:p>
          <a:p>
            <a:r>
              <a:rPr lang="en-US" dirty="0" err="1" smtClean="0"/>
              <a:t>Chepelev</a:t>
            </a:r>
            <a:r>
              <a:rPr lang="en-US" dirty="0" smtClean="0"/>
              <a:t> et. al. algorithm:</a:t>
            </a:r>
          </a:p>
          <a:p>
            <a:pPr lvl="1"/>
            <a:r>
              <a:rPr lang="en-US" dirty="0" smtClean="0"/>
              <a:t>For each locus groups starting reads with 0, 1 and 2 mismatches</a:t>
            </a:r>
          </a:p>
          <a:p>
            <a:pPr lvl="1"/>
            <a:r>
              <a:rPr lang="en-US" dirty="0" smtClean="0"/>
              <a:t>Choose at random one read of each group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of Data Filtering Strategies</a:t>
            </a:r>
          </a:p>
        </p:txBody>
      </p:sp>
      <p:graphicFrame>
        <p:nvGraphicFramePr>
          <p:cNvPr id="5" name="Chart 4"/>
          <p:cNvGraphicFramePr/>
          <p:nvPr/>
        </p:nvGraphicFramePr>
        <p:xfrm>
          <a:off x="990600" y="1447800"/>
          <a:ext cx="72390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 per RPKM bins</a:t>
            </a:r>
            <a:endParaRPr lang="en-US" dirty="0"/>
          </a:p>
        </p:txBody>
      </p:sp>
      <p:graphicFrame>
        <p:nvGraphicFramePr>
          <p:cNvPr id="5" name="Chart 4"/>
          <p:cNvGraphicFramePr/>
          <p:nvPr/>
        </p:nvGraphicFramePr>
        <p:xfrm>
          <a:off x="633412" y="1357312"/>
          <a:ext cx="7877176" cy="5500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 presented a new strategy to map mRNA reads using both the reference genome and the CCDS database and a new </a:t>
            </a:r>
            <a:r>
              <a:rPr lang="en-US" sz="2400" dirty="0" err="1" smtClean="0"/>
              <a:t>bayesian</a:t>
            </a:r>
            <a:r>
              <a:rPr lang="en-US" sz="2400" dirty="0" smtClean="0"/>
              <a:t> model for SNV detection and genotyping</a:t>
            </a:r>
          </a:p>
          <a:p>
            <a:r>
              <a:rPr lang="en-US" sz="2400" dirty="0" smtClean="0"/>
              <a:t>Experiments on publicly available datasets show that our methods outperform widely used SNV detection methods</a:t>
            </a:r>
          </a:p>
          <a:p>
            <a:r>
              <a:rPr lang="en-US" sz="2400" dirty="0" smtClean="0"/>
              <a:t>Future Work:</a:t>
            </a:r>
          </a:p>
          <a:p>
            <a:pPr lvl="1"/>
            <a:r>
              <a:rPr lang="en-US" sz="2400" dirty="0" smtClean="0"/>
              <a:t>Improve genotype calling by adapting our model to differential allelic expression</a:t>
            </a:r>
          </a:p>
          <a:p>
            <a:pPr lvl="1"/>
            <a:r>
              <a:rPr lang="en-US" sz="2400" dirty="0" smtClean="0"/>
              <a:t>Use our methods on RNA-</a:t>
            </a:r>
            <a:r>
              <a:rPr lang="en-US" sz="2400" dirty="0" err="1" smtClean="0"/>
              <a:t>Seq</a:t>
            </a:r>
            <a:r>
              <a:rPr lang="en-US" sz="2400" dirty="0" smtClean="0"/>
              <a:t> data from cancer tumor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Acknowledgments</a:t>
            </a:r>
          </a:p>
        </p:txBody>
      </p:sp>
      <p:sp>
        <p:nvSpPr>
          <p:cNvPr id="109572" name="Rectangle 3"/>
          <p:cNvSpPr>
            <a:spLocks noChangeArrowheads="1"/>
          </p:cNvSpPr>
          <p:nvPr/>
        </p:nvSpPr>
        <p:spPr bwMode="auto">
          <a:xfrm>
            <a:off x="381000" y="1600200"/>
            <a:ext cx="85344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 dirty="0" smtClean="0"/>
              <a:t>Brent </a:t>
            </a:r>
            <a:r>
              <a:rPr lang="en-US" sz="2400" dirty="0" err="1" smtClean="0"/>
              <a:t>Graveley</a:t>
            </a:r>
            <a:r>
              <a:rPr lang="en-US" sz="2400" dirty="0" smtClean="0"/>
              <a:t> and </a:t>
            </a:r>
            <a:r>
              <a:rPr lang="en-US" sz="2400" dirty="0" err="1" smtClean="0"/>
              <a:t>Duan</a:t>
            </a:r>
            <a:r>
              <a:rPr lang="en-US" sz="2400" dirty="0" smtClean="0"/>
              <a:t> </a:t>
            </a:r>
            <a:r>
              <a:rPr lang="en-US" sz="2400" dirty="0" err="1" smtClean="0"/>
              <a:t>Fei</a:t>
            </a:r>
            <a:r>
              <a:rPr lang="en-US" sz="2400" dirty="0" smtClean="0"/>
              <a:t> (UCHC)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 dirty="0" smtClean="0"/>
              <a:t>NSF </a:t>
            </a:r>
            <a:r>
              <a:rPr lang="en-US" sz="2400" dirty="0"/>
              <a:t>awards </a:t>
            </a:r>
            <a:r>
              <a:rPr lang="en-US" sz="2400" dirty="0" smtClean="0"/>
              <a:t>IIS-0546457, IIS-0916948, </a:t>
            </a:r>
            <a:r>
              <a:rPr lang="en-US" sz="2400" dirty="0"/>
              <a:t>and </a:t>
            </a:r>
            <a:r>
              <a:rPr lang="en-US" sz="2400" dirty="0" smtClean="0"/>
              <a:t>DBI-0543365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2400" dirty="0" smtClean="0"/>
              <a:t>UCONN Research Foundation UCIG grant</a:t>
            </a:r>
            <a:endParaRPr lang="en-US" sz="2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2338</TotalTime>
  <Words>693</Words>
  <Application>Microsoft Office PowerPoint</Application>
  <PresentationFormat>On-screen Show (4:3)</PresentationFormat>
  <Paragraphs>173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Towards accurate detection and genotyping of expressed variants from whole transcriptome sequencing data</vt:lpstr>
      <vt:lpstr>Introduction</vt:lpstr>
      <vt:lpstr>SNP Calling from Genomic DNA Reads</vt:lpstr>
      <vt:lpstr>Mapping mRNA Reads</vt:lpstr>
      <vt:lpstr>Slide 5</vt:lpstr>
      <vt:lpstr>Mapping and Merging Strategy</vt:lpstr>
      <vt:lpstr>Read Merging</vt:lpstr>
      <vt:lpstr>SNV Detection and Genotyping</vt:lpstr>
      <vt:lpstr>SNV Detection and Genotyping</vt:lpstr>
      <vt:lpstr>Current Models</vt:lpstr>
      <vt:lpstr>SNV Detection and Genotyping</vt:lpstr>
      <vt:lpstr>Accuracy Assessment of Variants Detection</vt:lpstr>
      <vt:lpstr>Comparison of Mapping Strategies</vt:lpstr>
      <vt:lpstr>Comparison of Variant Calling Strategies</vt:lpstr>
      <vt:lpstr>Data Filtering</vt:lpstr>
      <vt:lpstr>Data Filtering</vt:lpstr>
      <vt:lpstr>Comparison of Data Filtering Strategies</vt:lpstr>
      <vt:lpstr>Accuracy per RPKM bins</vt:lpstr>
      <vt:lpstr>Conclusions</vt:lpstr>
      <vt:lpstr>Acknowledgments</vt:lpstr>
    </vt:vector>
  </TitlesOfParts>
  <Company>University of Connecticut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Bioinformatics pipeline for detection of immunogenic cancer mutations by  high throughput mRNA sequencing</dc:title>
  <dc:creator>Administrator</dc:creator>
  <cp:lastModifiedBy>Jorge Duitama</cp:lastModifiedBy>
  <cp:revision>413</cp:revision>
  <dcterms:created xsi:type="dcterms:W3CDTF">2009-10-15T15:10:35Z</dcterms:created>
  <dcterms:modified xsi:type="dcterms:W3CDTF">2011-01-31T20:34:00Z</dcterms:modified>
</cp:coreProperties>
</file>