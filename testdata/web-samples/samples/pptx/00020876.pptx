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notesMasterIdLst>
    <p:notesMasterId r:id="rId17"/>
  </p:notesMasterIdLst>
  <p:sldIdLst>
    <p:sldId id="256" r:id="rId2"/>
    <p:sldId id="272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6" r:id="rId11"/>
    <p:sldId id="265" r:id="rId12"/>
    <p:sldId id="267" r:id="rId13"/>
    <p:sldId id="268" r:id="rId14"/>
    <p:sldId id="271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8" autoAdjust="0"/>
    <p:restoredTop sz="63212" autoAdjust="0"/>
  </p:normalViewPr>
  <p:slideViewPr>
    <p:cSldViewPr>
      <p:cViewPr varScale="1">
        <p:scale>
          <a:sx n="46" d="100"/>
          <a:sy n="46" d="100"/>
        </p:scale>
        <p:origin x="-184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25838-CD37-433F-8A65-F71E52C20536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8A11E-BB0D-45BD-828F-0A2BD4A1462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8A11E-BB0D-45BD-828F-0A2BD4A1462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8B75396-4163-43EC-BAED-D9744ECB11F0}" type="datetimeFigureOut">
              <a:rPr lang="en-US" smtClean="0"/>
              <a:pPr/>
              <a:t>2/16/2011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C2A9621-5FC7-4DDF-B2E6-81DB20DEB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youtube.com/watch?v=_A-ZVCjfWf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te.org/positions/statements/21stcentdefinitio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voicethread.com/?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cctv.org/video/?p=74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://www.kcra.com/video/24757343/detail.html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hyperlink" Target="http://www.secctv.org/video/?p=90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hradio.wordpress.com/2007/02/14/taking-a-stand-the-sugihara-story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hyperlink" Target="http://blogs.egusd.net/mscheung/" TargetMode="Externa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alksperiodictable.wikispaces.com/Periodic+Tabl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eg"/><Relationship Id="rId5" Type="http://schemas.openxmlformats.org/officeDocument/2006/relationships/hyperlink" Target="http://voicethread.com/share/1613139/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4grabo.edu.glogster.com/egypt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5" Type="http://schemas.openxmlformats.org/officeDocument/2006/relationships/hyperlink" Target="http://gailhd.edu.glogster.com/texting/" TargetMode="Externa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pals.com/media/p/230946.asp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81000"/>
            <a:ext cx="8062912" cy="1470025"/>
          </a:xfrm>
        </p:spPr>
        <p:txBody>
          <a:bodyPr/>
          <a:lstStyle/>
          <a:p>
            <a:r>
              <a:rPr lang="en-US" dirty="0" smtClean="0"/>
              <a:t>Moving Beyond the Walls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Gail Desler </a:t>
            </a:r>
            <a:br>
              <a:rPr lang="en-US" dirty="0" smtClean="0"/>
            </a:br>
            <a:r>
              <a:rPr lang="en-US" dirty="0" smtClean="0"/>
              <a:t>Kathleen Watt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r="42726"/>
          <a:stretch>
            <a:fillRect/>
          </a:stretch>
        </p:blipFill>
        <p:spPr bwMode="auto">
          <a:xfrm>
            <a:off x="1066800" y="2438400"/>
            <a:ext cx="3352800" cy="25050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Vision of K12 students today</a:t>
            </a:r>
            <a:endParaRPr lang="en-US" dirty="0"/>
          </a:p>
        </p:txBody>
      </p:sp>
      <p:pic>
        <p:nvPicPr>
          <p:cNvPr id="4" name="Content Placeholder 3" descr="visionk12.jpg">
            <a:hlinkClick r:id="rId2"/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95525" y="2482850"/>
            <a:ext cx="4552950" cy="33718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21</a:t>
            </a:r>
            <a:r>
              <a:rPr lang="en-US" baseline="30000" dirty="0" smtClean="0"/>
              <a:t>st</a:t>
            </a:r>
            <a:r>
              <a:rPr lang="en-US" dirty="0" smtClean="0"/>
              <a:t> century literacy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21st century readers and writers need to:</a:t>
            </a:r>
          </a:p>
          <a:p>
            <a:pPr>
              <a:buNone/>
            </a:pPr>
            <a:r>
              <a:rPr lang="en-US" sz="2800" dirty="0" smtClean="0"/>
              <a:t> </a:t>
            </a:r>
          </a:p>
          <a:p>
            <a:r>
              <a:rPr lang="en-US" sz="2800" dirty="0" smtClean="0"/>
              <a:t>Develop proficiency with the tools of technology</a:t>
            </a:r>
          </a:p>
          <a:p>
            <a:r>
              <a:rPr lang="en-US" sz="2800" dirty="0" smtClean="0"/>
              <a:t>Build relationships with others to pose and solve problems collaboratively and cross-culturally </a:t>
            </a:r>
          </a:p>
          <a:p>
            <a:r>
              <a:rPr lang="en-US" sz="2800" dirty="0" smtClean="0"/>
              <a:t>Design and share information for global communities to meet a variety of purposes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21</a:t>
            </a:r>
            <a:r>
              <a:rPr lang="en-US" baseline="30000" dirty="0" smtClean="0"/>
              <a:t>st</a:t>
            </a:r>
            <a:r>
              <a:rPr lang="en-US" dirty="0" smtClean="0"/>
              <a:t> century </a:t>
            </a:r>
            <a:r>
              <a:rPr lang="en-US" dirty="0" err="1" smtClean="0"/>
              <a:t>literacies</a:t>
            </a:r>
            <a:r>
              <a:rPr lang="en-US" dirty="0" smtClean="0"/>
              <a:t>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Manage, analyze and synthesize multiple streams of simultaneous information </a:t>
            </a:r>
          </a:p>
          <a:p>
            <a:r>
              <a:rPr lang="en-US" dirty="0" smtClean="0"/>
              <a:t>Create, critique, analyze, and evaluate multi-media texts</a:t>
            </a:r>
          </a:p>
          <a:p>
            <a:r>
              <a:rPr lang="en-US" dirty="0" smtClean="0"/>
              <a:t>Attend to the ethical responsibilities required by these complex environments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>
                <a:hlinkClick r:id="rId3"/>
              </a:rPr>
              <a:t>National Council of Teachers of English 2008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21</a:t>
            </a:r>
            <a:r>
              <a:rPr lang="en-US" baseline="30000" dirty="0" smtClean="0"/>
              <a:t>st</a:t>
            </a:r>
            <a:r>
              <a:rPr lang="en-US" dirty="0" smtClean="0"/>
              <a:t> century skills?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3597952" cy="3124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666094"/>
            <a:ext cx="3624674" cy="31345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800600" y="52578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21st century Blooms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20</a:t>
            </a:r>
            <a:r>
              <a:rPr lang="en-US" sz="2800" baseline="30000" dirty="0" smtClean="0"/>
              <a:t>th</a:t>
            </a:r>
            <a:r>
              <a:rPr lang="en-US" sz="2800" dirty="0" smtClean="0"/>
              <a:t>  century Blooms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2.0 = two-way learning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420028" y="1882775"/>
            <a:ext cx="6303943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1828800" y="56388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21</a:t>
            </a:r>
            <a:r>
              <a:rPr lang="en-US" baseline="30000" dirty="0" smtClean="0"/>
              <a:t>st</a:t>
            </a:r>
            <a:r>
              <a:rPr lang="en-US" dirty="0" smtClean="0"/>
              <a:t> century classrooms look like?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474575"/>
            <a:ext cx="4038600" cy="3021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Content Placeholder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645554"/>
            <a:ext cx="4038600" cy="26797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399032"/>
          </a:xfrm>
        </p:spPr>
        <p:txBody>
          <a:bodyPr/>
          <a:lstStyle/>
          <a:p>
            <a:r>
              <a:rPr lang="en-US" dirty="0" smtClean="0"/>
              <a:t>Producing  information</a:t>
            </a:r>
            <a:endParaRPr lang="en-US" dirty="0"/>
          </a:p>
        </p:txBody>
      </p:sp>
      <p:pic>
        <p:nvPicPr>
          <p:cNvPr id="6" name="Content Placeholder 5" descr="letters.jpg">
            <a:hlinkClick r:id="rId3"/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1524000" y="1600200"/>
            <a:ext cx="5963138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 difference</a:t>
            </a:r>
            <a:endParaRPr lang="en-US" dirty="0"/>
          </a:p>
        </p:txBody>
      </p:sp>
      <p:pic>
        <p:nvPicPr>
          <p:cNvPr id="4098" name="Picture 2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1981200"/>
            <a:ext cx="4572000" cy="3457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099" name="Picture 3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2000" y="2209800"/>
            <a:ext cx="2857500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458200" cy="1399032"/>
          </a:xfrm>
        </p:spPr>
        <p:txBody>
          <a:bodyPr/>
          <a:lstStyle/>
          <a:p>
            <a:r>
              <a:rPr lang="en-US" i="1" dirty="0" smtClean="0"/>
              <a:t>Doing</a:t>
            </a:r>
            <a:r>
              <a:rPr lang="en-US" dirty="0" smtClean="0"/>
              <a:t> history vs. </a:t>
            </a:r>
            <a:r>
              <a:rPr lang="en-US" i="1" dirty="0" smtClean="0"/>
              <a:t>studying </a:t>
            </a:r>
            <a:r>
              <a:rPr lang="en-US" dirty="0" smtClean="0"/>
              <a:t>history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1" y="1600201"/>
            <a:ext cx="1600200" cy="2438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123" name="Picture 3">
            <a:hlinkClick r:id="rId4"/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1676400"/>
            <a:ext cx="4433887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hannie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10200" y="4343400"/>
            <a:ext cx="2982223" cy="2209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ugihara.jp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200" y="1905000"/>
            <a:ext cx="5029200" cy="270621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Recognizing the power of the human voice</a:t>
            </a:r>
            <a:endParaRPr lang="en-US" dirty="0"/>
          </a:p>
        </p:txBody>
      </p:sp>
      <p:pic>
        <p:nvPicPr>
          <p:cNvPr id="4" name="Content Placeholder 3" descr="mscheung.jpg">
            <a:hlinkClick r:id="rId5"/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/>
          <a:stretch>
            <a:fillRect/>
          </a:stretch>
        </p:blipFill>
        <p:spPr>
          <a:xfrm>
            <a:off x="3800806" y="3276600"/>
            <a:ext cx="4600140" cy="289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Extending science lessons</a:t>
            </a:r>
            <a:endParaRPr lang="en-US" dirty="0"/>
          </a:p>
        </p:txBody>
      </p:sp>
      <p:pic>
        <p:nvPicPr>
          <p:cNvPr id="6146" name="Picture 2">
            <a:hlinkClick r:id="rId3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1676400"/>
            <a:ext cx="2438400" cy="3657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 descr="windVT.jpg">
            <a:hlinkClick r:id="rId5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95399" y="2057400"/>
            <a:ext cx="3366511" cy="28956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green</a:t>
            </a:r>
            <a:endParaRPr lang="en-US" dirty="0"/>
          </a:p>
        </p:txBody>
      </p:sp>
      <p:pic>
        <p:nvPicPr>
          <p:cNvPr id="5" name="Content Placeholder 4" descr="egypt.jpg">
            <a:hlinkClick r:id="rId3"/>
          </p:cNvPr>
          <p:cNvPicPr>
            <a:picLocks noGrp="1" noChangeAspect="1"/>
          </p:cNvPicPr>
          <p:nvPr>
            <p:ph sz="half" idx="1"/>
          </p:nvPr>
        </p:nvPicPr>
        <p:blipFill>
          <a:blip r:embed="rId4" cstate="print"/>
          <a:stretch>
            <a:fillRect/>
          </a:stretch>
        </p:blipFill>
        <p:spPr>
          <a:xfrm>
            <a:off x="1090612" y="1937544"/>
            <a:ext cx="2771775" cy="40957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Content Placeholder 5" descr="texting.jpg">
            <a:hlinkClick r:id="rId5"/>
          </p:cNvPr>
          <p:cNvPicPr>
            <a:picLocks noGrp="1" noChangeAspect="1"/>
          </p:cNvPicPr>
          <p:nvPr>
            <p:ph sz="half" idx="2"/>
          </p:nvPr>
        </p:nvPicPr>
        <p:blipFill>
          <a:blip r:embed="rId6" cstate="print"/>
          <a:stretch>
            <a:fillRect/>
          </a:stretch>
        </p:blipFill>
        <p:spPr>
          <a:xfrm>
            <a:off x="5291137" y="1956594"/>
            <a:ext cx="2752725" cy="40576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global connections</a:t>
            </a:r>
            <a:endParaRPr lang="en-US" dirty="0"/>
          </a:p>
        </p:txBody>
      </p:sp>
      <p:pic>
        <p:nvPicPr>
          <p:cNvPr id="6" name="Content Placeholder 5" descr="epals-israel.jpg">
            <a:hlinkClick r:id="rId3"/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2209800" y="1752600"/>
            <a:ext cx="4876800" cy="418683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21st century vision </a:t>
            </a:r>
            <a:r>
              <a:rPr lang="en-US" smtClean="0"/>
              <a:t>– “where </a:t>
            </a:r>
            <a:r>
              <a:rPr lang="en-US" dirty="0" smtClean="0"/>
              <a:t>study leads </a:t>
            </a:r>
            <a:r>
              <a:rPr lang="en-US" smtClean="0"/>
              <a:t>to action”</a:t>
            </a:r>
            <a:endParaRPr lang="en-US" dirty="0"/>
          </a:p>
        </p:txBody>
      </p:sp>
      <p:pic>
        <p:nvPicPr>
          <p:cNvPr id="6" name="Content Placeholder 5" descr="JDS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90600" y="1828800"/>
            <a:ext cx="7239000" cy="35442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2141</TotalTime>
  <Words>176</Words>
  <Application>Microsoft Office PowerPoint</Application>
  <PresentationFormat>On-screen Show (4:3)</PresentationFormat>
  <Paragraphs>43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Verve</vt:lpstr>
      <vt:lpstr>Moving Beyond the Walls</vt:lpstr>
      <vt:lpstr>Vision of K12 students today</vt:lpstr>
      <vt:lpstr>Defining 21st century literacy</vt:lpstr>
      <vt:lpstr>21st century literacies (Cont.)</vt:lpstr>
      <vt:lpstr>What are 21st century skills?</vt:lpstr>
      <vt:lpstr>Web 2.0 = two-way learning</vt:lpstr>
      <vt:lpstr>What do 21st century classrooms look like?</vt:lpstr>
      <vt:lpstr>Producing  information</vt:lpstr>
      <vt:lpstr>Making a difference</vt:lpstr>
      <vt:lpstr>Doing history vs. studying history</vt:lpstr>
      <vt:lpstr>Recognizing the power of the human voice</vt:lpstr>
      <vt:lpstr>Extending science lessons</vt:lpstr>
      <vt:lpstr>Going green</vt:lpstr>
      <vt:lpstr>Making global connections</vt:lpstr>
      <vt:lpstr>A 21st century vision – “where study leads to action”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Moving Beyond the Walls</dc:title>
  <dc:creator>Gail Desler in Technology Services</dc:creator>
  <cp:lastModifiedBy>Gail Desler in Technology Services</cp:lastModifiedBy>
  <cp:revision>207</cp:revision>
  <dcterms:created xsi:type="dcterms:W3CDTF">2011-02-11T19:38:16Z</dcterms:created>
  <dcterms:modified xsi:type="dcterms:W3CDTF">2011-02-16T18:47:03Z</dcterms:modified>
</cp:coreProperties>
</file>