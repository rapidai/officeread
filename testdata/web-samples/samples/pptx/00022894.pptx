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17" autoAdjust="0"/>
  </p:normalViewPr>
  <p:slideViewPr>
    <p:cSldViewPr>
      <p:cViewPr varScale="1">
        <p:scale>
          <a:sx n="87" d="100"/>
          <a:sy n="87" d="100"/>
        </p:scale>
        <p:origin x="-1584"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0FE426-4A24-45FD-94C2-B03A627FF5AD}" type="datetimeFigureOut">
              <a:rPr lang="en-US" smtClean="0"/>
              <a:pPr/>
              <a:t>11/4/2010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1AC73B-BD52-43AF-B62C-49892B7825B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pewhispanic.org/topics/index.php?TopicID=32" TargetMode="External"/><Relationship Id="rId3" Type="http://schemas.openxmlformats.org/officeDocument/2006/relationships/hyperlink" Target="http://pewhispanic.org/topics/index.php?TopicID=1" TargetMode="External"/><Relationship Id="rId7" Type="http://schemas.openxmlformats.org/officeDocument/2006/relationships/hyperlink" Target="http://pewhispanic.org/topics/index.php?TopicID=16"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pewhispanic.org/topics/index.php?TopicID=8" TargetMode="External"/><Relationship Id="rId5" Type="http://schemas.openxmlformats.org/officeDocument/2006/relationships/hyperlink" Target="http://pewhispanic.org/topics/index.php?TopicID=4" TargetMode="External"/><Relationship Id="rId10" Type="http://schemas.openxmlformats.org/officeDocument/2006/relationships/hyperlink" Target="http://pewhispanic.org/topics/index.php?TopicID=128" TargetMode="External"/><Relationship Id="rId4" Type="http://schemas.openxmlformats.org/officeDocument/2006/relationships/hyperlink" Target="http://pewhispanic.org/topics/index.php?TopicID=2" TargetMode="External"/><Relationship Id="rId9" Type="http://schemas.openxmlformats.org/officeDocument/2006/relationships/hyperlink" Target="http://pewhispanic.org/topics/index.php?TopicID=64"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browse main pages for what’s hot and interesting, but the real “meat” is in the individual research centers.  (Go to the projects section.)</a:t>
            </a:r>
          </a:p>
          <a:p>
            <a:endParaRPr lang="en-US" dirty="0" smtClean="0"/>
          </a:p>
          <a:p>
            <a:r>
              <a:rPr lang="en-US" dirty="0" smtClean="0"/>
              <a:t>I especially like the knowledge quizzes.  These can be used with</a:t>
            </a:r>
            <a:r>
              <a:rPr lang="en-US" baseline="0" dirty="0" smtClean="0"/>
              <a:t> students to ask them what they “know” on the issues and this can lead into the data, how it is collected, what it may or may not mean, what conclusions one can draw and so forth.   </a:t>
            </a:r>
          </a:p>
          <a:p>
            <a:endParaRPr lang="en-US" baseline="0" dirty="0" smtClean="0"/>
          </a:p>
          <a:p>
            <a:r>
              <a:rPr lang="en-US" baseline="0" dirty="0" smtClean="0"/>
              <a:t>There a number of interactive visualizations </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Pew Research Centers focus on 6</a:t>
            </a:r>
            <a:r>
              <a:rPr lang="en-US" baseline="0" dirty="0" smtClean="0"/>
              <a:t> areas of work By going to the main Pew site you can see a listing of each of them</a:t>
            </a:r>
          </a:p>
          <a:p>
            <a:endParaRPr lang="en-US" baseline="0" dirty="0" smtClean="0"/>
          </a:p>
          <a:p>
            <a:r>
              <a:rPr lang="en-US" dirty="0" smtClean="0"/>
              <a:t>Pew Research Center for the People &amp; the Press Data Archive</a:t>
            </a:r>
          </a:p>
          <a:p>
            <a:r>
              <a:rPr lang="en-US" dirty="0" smtClean="0"/>
              <a:t>Pew Hispanic Center Dataset Download</a:t>
            </a:r>
          </a:p>
          <a:p>
            <a:r>
              <a:rPr lang="en-US" dirty="0" smtClean="0"/>
              <a:t>Pew Global Attitudes Project Dataset Download</a:t>
            </a:r>
          </a:p>
          <a:p>
            <a:r>
              <a:rPr lang="en-US" dirty="0" smtClean="0"/>
              <a:t>Pew Internet &amp; American Life Data Downloads</a:t>
            </a:r>
          </a:p>
          <a:p>
            <a:r>
              <a:rPr lang="en-US" dirty="0" smtClean="0"/>
              <a:t>Social &amp; Demographic Trends Dataset Download</a:t>
            </a:r>
          </a:p>
          <a:p>
            <a:r>
              <a:rPr lang="en-US" dirty="0" smtClean="0"/>
              <a:t>Pew Forum on Religion &amp; Public Life Dataset Download</a:t>
            </a:r>
          </a:p>
          <a:p>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Studies attitudes toward politics, the press and public policy issues.  Done through monthly polls.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News Interest Index to see how people are responding to issues in the news. The News Coverage Index catalogues the news from top news organizations across five major sectors of the media: newspapers, network television, cable television, radio and the internet.  It is part of a Project for Excellence</a:t>
            </a:r>
            <a:r>
              <a:rPr lang="en-US" baseline="0" dirty="0" smtClean="0"/>
              <a:t> in </a:t>
            </a:r>
            <a:r>
              <a:rPr lang="en-US" dirty="0" smtClean="0"/>
              <a:t>Journalism.  The news stories are cataloged and indexed to identify the top stories of the week and then they survey people to find out their reactions and responses to these stories.  Reports are similar to the survey reports and could be used as course readings.</a:t>
            </a:r>
            <a:r>
              <a:rPr lang="en-US" baseline="0" dirty="0" smtClean="0"/>
              <a:t>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Survey Reports contain many tables that undergrads like and can be used in classes to demonstrate points.</a:t>
            </a:r>
          </a:p>
          <a:p>
            <a:r>
              <a:rPr lang="en-US" dirty="0" smtClean="0"/>
              <a:t>Also includes lots of details on how the survey was conducted.  These can be shared and/or</a:t>
            </a:r>
            <a:r>
              <a:rPr lang="en-US" baseline="0" dirty="0" smtClean="0"/>
              <a:t> emailed to others.  The reports can also be printed, so could be used in course readings.  </a:t>
            </a:r>
          </a:p>
          <a:p>
            <a:endParaRPr lang="en-US" baseline="0" dirty="0" smtClean="0"/>
          </a:p>
          <a:p>
            <a:r>
              <a:rPr lang="en-US" baseline="0" dirty="0" smtClean="0"/>
              <a:t>The Pew centers offer various ways to search by questions asked in the polls. This question search is actually provided by the Roper Center and for those of you who subscribe to Roper you will be familiar with Roper’s iPOLL  question level search tool.  If you do a similar search in iPOLL, you will retrieve questions from many different polling agencies, not just Pew.  There is a Roper polls session during the data fair and if you are interested in knowing more I recommend that you listen in to that one too.</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How it works:  The</a:t>
            </a:r>
            <a:r>
              <a:rPr lang="en-US" baseline="0" dirty="0" smtClean="0"/>
              <a:t> total reflected on the search page is a combination of the Pew surveys and other polling institutions.  So the data available on a topic available from Roper is broader and may be very useful for comparisons or to inform on a topic in greater depth.</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As you can see here, the data archive at this center has data going back to 1997 and you can download any of the files.  Data are released 5 months after the poll is taken.  Each time you download a file you need to complete a registration form and agree to their usage conditions.</a:t>
            </a:r>
          </a:p>
          <a:p>
            <a:r>
              <a:rPr lang="en-US" dirty="0" smtClean="0"/>
              <a:t>I really wish there were a way to register once and then download anything, like there is at</a:t>
            </a:r>
            <a:r>
              <a:rPr lang="en-US" baseline="0" dirty="0" smtClean="0"/>
              <a:t> Roper.  The data come as one file that is zipped, so you have to uncompress the file to get the dataset, codebook, and questionnaire.  There is always a weight variable included that needs to be used in analysis and its use is discussed in the documentation.</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Internet and American Life research center:  This might be my favorite of the pew data sites : exploring the impact of the internet on families, communities, work and home, daily life, education, health care, and civic and political life.</a:t>
            </a:r>
          </a:p>
          <a:p>
            <a:endParaRPr lang="en-US" dirty="0" smtClean="0"/>
          </a:p>
          <a:p>
            <a:r>
              <a:rPr lang="en-US" dirty="0" smtClean="0"/>
              <a:t>In addition to using the question search I showed you earlier you</a:t>
            </a:r>
            <a:r>
              <a:rPr lang="en-US" baseline="0" dirty="0" smtClean="0"/>
              <a:t> can choose specific topics, or go directly to the Data Tools page. In looking just at statistics, instructors might be interested in the </a:t>
            </a:r>
            <a:r>
              <a:rPr lang="en-US" baseline="0" dirty="0" err="1" smtClean="0"/>
              <a:t>Infographics</a:t>
            </a:r>
            <a:r>
              <a:rPr lang="en-US" baseline="0" dirty="0" smtClean="0"/>
              <a:t> feature (demo)  All the graphics information is linked to suggested reports and readings .  </a:t>
            </a:r>
          </a:p>
          <a:p>
            <a:endParaRPr lang="en-US" baseline="0" dirty="0" smtClean="0"/>
          </a:p>
          <a:p>
            <a:r>
              <a:rPr lang="en-US" baseline="0" dirty="0" smtClean="0"/>
              <a:t>One of the things I like a lot about their data is that you can search by year and by topics to see all the studies done on a particular topic (demo)</a:t>
            </a:r>
            <a:endParaRPr lang="en-US" dirty="0" smtClean="0"/>
          </a:p>
          <a:p>
            <a:endParaRPr lang="en-US" dirty="0" smtClean="0"/>
          </a:p>
          <a:p>
            <a:r>
              <a:rPr lang="en-US" dirty="0" smtClean="0"/>
              <a:t>It is a great site for students who want something</a:t>
            </a:r>
            <a:r>
              <a:rPr lang="en-US" baseline="0" dirty="0" smtClean="0"/>
              <a:t> focused on technology.</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seeks to promote a deeper understanding of issues at the intersection of religion and public affairs.</a:t>
            </a:r>
          </a:p>
          <a:p>
            <a:pPr>
              <a:buFont typeface="Arial" pitchFamily="34" charset="0"/>
              <a:buChar char="•"/>
            </a:pPr>
            <a:r>
              <a:rPr lang="en-US" dirty="0" smtClean="0"/>
              <a:t>religion and American society, from the shifting religious composition of the U.S. to the influence of religion on politics.</a:t>
            </a:r>
          </a:p>
          <a:p>
            <a:pPr>
              <a:buFont typeface="Arial" pitchFamily="34" charset="0"/>
              <a:buChar char="•"/>
            </a:pPr>
            <a:r>
              <a:rPr lang="en-US" dirty="0" smtClean="0"/>
              <a:t>role religion plays in world affairs</a:t>
            </a:r>
          </a:p>
          <a:p>
            <a:endParaRPr lang="en-US" dirty="0" smtClean="0"/>
          </a:p>
          <a:p>
            <a:r>
              <a:rPr lang="en-US" dirty="0" smtClean="0"/>
              <a:t>Pew Forum analyses—including public opinion poll reports, demographic reports, research studies, legal reports and graphics—on an array of topics and issues at the intersection of religion and public life. </a:t>
            </a:r>
          </a:p>
          <a:p>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In California this is a heavily used part of the Pew resources – used quite a bit</a:t>
            </a:r>
            <a:r>
              <a:rPr lang="en-US" baseline="0" dirty="0" smtClean="0"/>
              <a:t> in classes, especially undergrads.  </a:t>
            </a:r>
            <a:endParaRPr lang="en-US" dirty="0" smtClean="0"/>
          </a:p>
          <a:p>
            <a:r>
              <a:rPr lang="en-US" dirty="0" smtClean="0"/>
              <a:t>Key word and question level search, state by state profiles</a:t>
            </a:r>
            <a:r>
              <a:rPr lang="en-US" baseline="0" dirty="0" smtClean="0"/>
              <a:t> – very cool.  Can download reports, data , etc. as with the other pew centers.</a:t>
            </a:r>
            <a:endParaRPr lang="en-US" dirty="0" smtClean="0"/>
          </a:p>
          <a:p>
            <a:endParaRPr lang="en-US" dirty="0" smtClean="0"/>
          </a:p>
          <a:p>
            <a:r>
              <a:rPr lang="en-US" dirty="0" smtClean="0"/>
              <a:t>Seeks to improve understanding of the U.S. Hispanic population and to chronicle Latinos' growing impact on the nation.</a:t>
            </a:r>
          </a:p>
          <a:p>
            <a:r>
              <a:rPr lang="en-US" dirty="0" smtClean="0">
                <a:hlinkClick r:id="rId3"/>
              </a:rPr>
              <a:t>Demography</a:t>
            </a:r>
            <a:r>
              <a:rPr lang="en-US" dirty="0" smtClean="0"/>
              <a:t> - The patterns of Hispanic population growth and settlement across the United States. </a:t>
            </a:r>
          </a:p>
          <a:p>
            <a:r>
              <a:rPr lang="en-US" dirty="0" smtClean="0">
                <a:hlinkClick r:id="rId4"/>
              </a:rPr>
              <a:t>Economics</a:t>
            </a:r>
            <a:r>
              <a:rPr lang="en-US" dirty="0" smtClean="0"/>
              <a:t> - The wealth, well-being and wages of Latinos over time and in comparison to others. </a:t>
            </a:r>
          </a:p>
          <a:p>
            <a:r>
              <a:rPr lang="en-US" dirty="0" smtClean="0">
                <a:hlinkClick r:id="rId5"/>
              </a:rPr>
              <a:t>Education</a:t>
            </a:r>
            <a:r>
              <a:rPr lang="en-US" dirty="0" smtClean="0"/>
              <a:t> - The outcomes and the factors that produce them as well as Latino views on education policy issues. </a:t>
            </a:r>
          </a:p>
          <a:p>
            <a:r>
              <a:rPr lang="en-US" dirty="0" smtClean="0">
                <a:hlinkClick r:id="rId6"/>
              </a:rPr>
              <a:t>Identity</a:t>
            </a:r>
            <a:r>
              <a:rPr lang="en-US" dirty="0" smtClean="0"/>
              <a:t> - Attitudes towards a variety of matters shape the ways that Latinos see themselves and their place in U.S. society. </a:t>
            </a:r>
          </a:p>
          <a:p>
            <a:r>
              <a:rPr lang="en-US" dirty="0" smtClean="0">
                <a:hlinkClick r:id="rId7"/>
              </a:rPr>
              <a:t>Immigration</a:t>
            </a:r>
            <a:r>
              <a:rPr lang="en-US" dirty="0" smtClean="0"/>
              <a:t> - The foreign born as a factor in population growth, their origins and characteristics. </a:t>
            </a:r>
          </a:p>
          <a:p>
            <a:r>
              <a:rPr lang="en-US" dirty="0" smtClean="0">
                <a:hlinkClick r:id="rId8"/>
              </a:rPr>
              <a:t>Labor</a:t>
            </a:r>
            <a:r>
              <a:rPr lang="en-US" dirty="0" smtClean="0"/>
              <a:t> - Hispanic's role in the labor force and the impact of business cycles on their employment and wages. </a:t>
            </a:r>
          </a:p>
          <a:p>
            <a:r>
              <a:rPr lang="en-US" dirty="0" smtClean="0">
                <a:hlinkClick r:id="rId9"/>
              </a:rPr>
              <a:t>Politics</a:t>
            </a:r>
            <a:r>
              <a:rPr lang="en-US" dirty="0" smtClean="0"/>
              <a:t> - Levels of participation, views on policy issues and partisan loyalties. </a:t>
            </a:r>
          </a:p>
          <a:p>
            <a:r>
              <a:rPr lang="en-US" dirty="0" smtClean="0">
                <a:hlinkClick r:id="rId10"/>
              </a:rPr>
              <a:t>Remittances</a:t>
            </a:r>
            <a:r>
              <a:rPr lang="en-US" dirty="0" smtClean="0"/>
              <a:t> - The billions of dollars sent home by Latino immigrants, how they are sent and how they are spent.</a:t>
            </a:r>
          </a:p>
          <a:p>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public opinion surveys around the world on a broad array of subjects ranging from people’s assessments of their own lives to their views about the current state of the world and important issues of the day.  More than 240,000 interviews in 57 countries have been conducted as part of the project’s work.</a:t>
            </a:r>
          </a:p>
          <a:p>
            <a:endParaRPr lang="en-US" dirty="0" smtClean="0"/>
          </a:p>
          <a:p>
            <a:r>
              <a:rPr lang="en-US" dirty="0" smtClean="0"/>
              <a:t>numerous major reports, analyses, and other releases, on topics including attitudes toward the U.S. and American foreign policy, globalization, terrorism, and democracy.</a:t>
            </a:r>
          </a:p>
          <a:p>
            <a:endParaRPr lang="en-US" dirty="0" smtClean="0"/>
          </a:p>
          <a:p>
            <a:r>
              <a:rPr lang="en-US" dirty="0" smtClean="0"/>
              <a:t>Like this one somewhat because</a:t>
            </a:r>
            <a:r>
              <a:rPr lang="en-US" baseline="0" dirty="0" smtClean="0"/>
              <a:t> it is co-chaired by Madeleine Albright who is one of my icons.  If she is part of it I know it will be good.</a:t>
            </a:r>
          </a:p>
          <a:p>
            <a:r>
              <a:rPr lang="en-US" baseline="0" dirty="0" smtClean="0"/>
              <a:t>I like the commentaries because they are short and to the point; nice graphics.  </a:t>
            </a:r>
          </a:p>
          <a:p>
            <a:r>
              <a:rPr lang="en-US" baseline="0" dirty="0" smtClean="0"/>
              <a:t>Reports are in depth and as with other pew reports could be used in courses. </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produce tables, chart or map by topics, and can change year in display.  Could be very nice tool to use in class. </a:t>
            </a:r>
          </a:p>
          <a:p>
            <a:endParaRPr lang="en-US" dirty="0" smtClean="0"/>
          </a:p>
          <a:p>
            <a:r>
              <a:rPr lang="en-US" dirty="0" smtClean="0"/>
              <a:t>Can also do a custom analysis by topic and country or can compare countries over time.  Can also show trends for specific country. </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studies behaviors and attitudes of Americans in key realms of their lives, including family, community, health, finance, work and leisure. </a:t>
            </a:r>
          </a:p>
          <a:p>
            <a:endParaRPr lang="en-US" dirty="0" smtClean="0"/>
          </a:p>
          <a:p>
            <a:r>
              <a:rPr lang="en-US" dirty="0" smtClean="0"/>
              <a:t>Point out “all things census” – useful place to look at what is coming up from ACS and 2010 census taken in the US,</a:t>
            </a:r>
            <a:r>
              <a:rPr lang="en-US" baseline="0" dirty="0" smtClean="0"/>
              <a:t> but also censuses elsewhere.</a:t>
            </a:r>
          </a:p>
          <a:p>
            <a:endParaRPr lang="en-US" baseline="0" dirty="0" smtClean="0"/>
          </a:p>
          <a:p>
            <a:r>
              <a:rPr lang="en-US" baseline="0" dirty="0" smtClean="0"/>
              <a:t>Chart gallery – fun topics and thought provoking.  Could be used to start a class discussion leading into using data.</a:t>
            </a:r>
          </a:p>
          <a:p>
            <a:r>
              <a:rPr lang="en-US" baseline="0" dirty="0" smtClean="0"/>
              <a:t>Has wide variety of topics and students often find something they want to use for assignments.  </a:t>
            </a:r>
          </a:p>
          <a:p>
            <a:endParaRPr lang="en-US" baseline="0" dirty="0" smtClean="0"/>
          </a:p>
          <a:p>
            <a:r>
              <a:rPr lang="en-US" baseline="0" dirty="0" smtClean="0"/>
              <a:t>Problem is that charts and tables do not come as excel files, as is the case for the other Pew centers.  So user does need to download whole dataset.  </a:t>
            </a:r>
          </a:p>
          <a:p>
            <a:endParaRPr lang="en-US" baseline="0" dirty="0" smtClean="0"/>
          </a:p>
          <a:p>
            <a:r>
              <a:rPr lang="en-US" baseline="0" dirty="0" smtClean="0"/>
              <a:t>Key word search will yield both datasets and reports</a:t>
            </a:r>
          </a:p>
          <a:p>
            <a:endParaRPr lang="en-US" baseline="0" dirty="0" smtClean="0"/>
          </a:p>
          <a:p>
            <a:r>
              <a:rPr lang="en-US" baseline="0" dirty="0" smtClean="0"/>
              <a:t>Question search developed by Roper – can make chart or retrieve full report</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 that’s what I wanted to show you about the Pew Research materials.  There’s a lot there that can be used</a:t>
            </a:r>
            <a:r>
              <a:rPr lang="en-US" baseline="0" dirty="0" smtClean="0"/>
              <a:t> in instruction and research.  I wish that they were utilizing tools such as SDA for online analysis as you can do with studies at ICPSR.  And I wish that the tables they create in their reports could be downloaded as excel files because undergrads can use them more easily that way.  There is also no way to search among all the tables they generate, so you have to go through the reports one by one.  That being said, this is a terrific resource and one that compliments what you can get at ICPSR.  And keep in mind that other studies funded by the Pew Charitable Trust are often archived at ICPSR.</a:t>
            </a:r>
            <a:endParaRPr lang="en-US" dirty="0"/>
          </a:p>
        </p:txBody>
      </p:sp>
      <p:sp>
        <p:nvSpPr>
          <p:cNvPr id="4" name="Slide Number Placeholder 3"/>
          <p:cNvSpPr>
            <a:spLocks noGrp="1"/>
          </p:cNvSpPr>
          <p:nvPr>
            <p:ph type="sldNum" sz="quarter" idx="10"/>
          </p:nvPr>
        </p:nvSpPr>
        <p:spPr/>
        <p:txBody>
          <a:bodyPr/>
          <a:lstStyle/>
          <a:p>
            <a:fld id="{751AC73B-BD52-43AF-B62C-49892B7825BA}"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C030162E-4A56-4791-9E01-1B2D89A0E91E}" type="datetimeFigureOut">
              <a:rPr lang="en-US" smtClean="0"/>
              <a:pPr/>
              <a:t>11/4/2010</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6FD49A86-FBC7-41BE-9E33-C11107C84DC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30162E-4A56-4791-9E01-1B2D89A0E91E}" type="datetimeFigureOut">
              <a:rPr lang="en-US" smtClean="0"/>
              <a:pPr/>
              <a:t>11/4/2010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030162E-4A56-4791-9E01-1B2D89A0E91E}" type="datetimeFigureOut">
              <a:rPr lang="en-US" smtClean="0"/>
              <a:pPr/>
              <a:t>11/4/2010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030162E-4A56-4791-9E01-1B2D89A0E91E}" type="datetimeFigureOut">
              <a:rPr lang="en-US" smtClean="0"/>
              <a:pPr/>
              <a:t>11/4/2010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C030162E-4A56-4791-9E01-1B2D89A0E91E}" type="datetimeFigureOut">
              <a:rPr lang="en-US" smtClean="0"/>
              <a:pPr/>
              <a:t>11/4/2010</a:t>
            </a:fld>
            <a:endParaRPr lang="en-US"/>
          </a:p>
        </p:txBody>
      </p:sp>
      <p:sp>
        <p:nvSpPr>
          <p:cNvPr id="27" name="Slide Number Placeholder 26"/>
          <p:cNvSpPr>
            <a:spLocks noGrp="1"/>
          </p:cNvSpPr>
          <p:nvPr>
            <p:ph type="sldNum" sz="quarter" idx="11"/>
          </p:nvPr>
        </p:nvSpPr>
        <p:spPr/>
        <p:txBody>
          <a:bodyPr rtlCol="0"/>
          <a:lstStyle/>
          <a:p>
            <a:fld id="{6FD49A86-FBC7-41BE-9E33-C11107C84DCA}"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C030162E-4A56-4791-9E01-1B2D89A0E91E}" type="datetimeFigureOut">
              <a:rPr lang="en-US" smtClean="0"/>
              <a:pPr/>
              <a:t>11/4/2010</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6FD49A86-FBC7-41BE-9E33-C11107C84DC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30162E-4A56-4791-9E01-1B2D89A0E91E}" type="datetimeFigureOut">
              <a:rPr lang="en-US" smtClean="0"/>
              <a:pPr/>
              <a:t>11/4/2010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030162E-4A56-4791-9E01-1B2D89A0E91E}" type="datetimeFigureOut">
              <a:rPr lang="en-US" smtClean="0"/>
              <a:pPr/>
              <a:t>11/4/2010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030162E-4A56-4791-9E01-1B2D89A0E91E}" type="datetimeFigureOut">
              <a:rPr lang="en-US" smtClean="0"/>
              <a:pPr/>
              <a:t>11/4/2010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30162E-4A56-4791-9E01-1B2D89A0E91E}" type="datetimeFigureOut">
              <a:rPr lang="en-US" smtClean="0"/>
              <a:pPr/>
              <a:t>11/4/2010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30162E-4A56-4791-9E01-1B2D89A0E91E}" type="datetimeFigureOut">
              <a:rPr lang="en-US" smtClean="0"/>
              <a:pPr/>
              <a:t>11/4/2010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D49A86-FBC7-41BE-9E33-C11107C84DC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C030162E-4A56-4791-9E01-1B2D89A0E91E}" type="datetimeFigureOut">
              <a:rPr lang="en-US" smtClean="0"/>
              <a:pPr/>
              <a:t>11/4/2010</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6FD49A86-FBC7-41BE-9E33-C11107C84DC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dataarchives.ss.ucla.edu/" TargetMode="External"/><Relationship Id="rId2" Type="http://schemas.openxmlformats.org/officeDocument/2006/relationships/hyperlink" Target="mailto:libbie@ucla.edu" TargetMode="External"/><Relationship Id="rId1" Type="http://schemas.openxmlformats.org/officeDocument/2006/relationships/slideLayout" Target="../slideLayouts/slideLayout1.xml"/><Relationship Id="rId4" Type="http://schemas.openxmlformats.org/officeDocument/2006/relationships/hyperlink" Target="http://dataarchives.ss.ucla.edu/mobil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pewresearch.or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pewresearch.org/databank/dataset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people-press.or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people-press.org/dataarchiv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pewinternet.or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pewforum.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pewhispanic.or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pewglobal.or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pewsocialtrends.or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4000" dirty="0" smtClean="0"/>
              <a:t/>
            </a:r>
            <a:br>
              <a:rPr lang="en-US" sz="4000" dirty="0" smtClean="0"/>
            </a:br>
            <a:r>
              <a:rPr lang="en-US" sz="4000" dirty="0" smtClean="0"/>
              <a:t>ICPSR Data Fair ~ Small Data Archives: Data from the Pew Research Centers</a:t>
            </a:r>
            <a:r>
              <a:rPr lang="en-US" b="1" dirty="0" smtClean="0"/>
              <a:t/>
            </a:r>
            <a:br>
              <a:rPr lang="en-US" b="1" dirty="0" smtClean="0"/>
            </a:br>
            <a:endParaRPr lang="en-US" dirty="0"/>
          </a:p>
        </p:txBody>
      </p:sp>
      <p:sp>
        <p:nvSpPr>
          <p:cNvPr id="5" name="TextBox 4"/>
          <p:cNvSpPr txBox="1"/>
          <p:nvPr/>
        </p:nvSpPr>
        <p:spPr>
          <a:xfrm>
            <a:off x="1295400" y="5562600"/>
            <a:ext cx="6781800" cy="923330"/>
          </a:xfrm>
          <a:prstGeom prst="rect">
            <a:avLst/>
          </a:prstGeom>
          <a:noFill/>
        </p:spPr>
        <p:txBody>
          <a:bodyPr wrap="square" rtlCol="0">
            <a:spAutoFit/>
          </a:bodyPr>
          <a:lstStyle/>
          <a:p>
            <a:r>
              <a:rPr lang="en-US" dirty="0" smtClean="0"/>
              <a:t>Presented by Libbie  Stephenson, UCLA</a:t>
            </a:r>
          </a:p>
          <a:p>
            <a:r>
              <a:rPr lang="en-US" dirty="0" smtClean="0">
                <a:hlinkClick r:id="rId2"/>
              </a:rPr>
              <a:t>libbie@ucla.edu</a:t>
            </a:r>
            <a:r>
              <a:rPr lang="en-US" dirty="0" smtClean="0"/>
              <a:t>  Web:  </a:t>
            </a:r>
            <a:r>
              <a:rPr lang="en-US" dirty="0" smtClean="0">
                <a:hlinkClick r:id="rId3"/>
              </a:rPr>
              <a:t>http://dataarchives.ss.ucla.edu</a:t>
            </a:r>
            <a:endParaRPr lang="en-US" dirty="0" smtClean="0"/>
          </a:p>
          <a:p>
            <a:r>
              <a:rPr lang="en-US" dirty="0" smtClean="0"/>
              <a:t>Mobile web: </a:t>
            </a:r>
            <a:r>
              <a:rPr lang="en-US" dirty="0" smtClean="0">
                <a:hlinkClick r:id="rId4"/>
              </a:rPr>
              <a:t>http://dataarchives.ss.ucla.edu/mobile/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229600" cy="3505199"/>
          </a:xfrm>
        </p:spPr>
        <p:txBody>
          <a:bodyPr>
            <a:normAutofit/>
          </a:bodyPr>
          <a:lstStyle/>
          <a:p>
            <a:r>
              <a:rPr lang="en-US" dirty="0" smtClean="0"/>
              <a:t>“Fact Tank” on “issues, attitudes and trends</a:t>
            </a:r>
          </a:p>
          <a:p>
            <a:r>
              <a:rPr lang="en-US" dirty="0" smtClean="0"/>
              <a:t>International focus in research, but largely deals with United States</a:t>
            </a:r>
          </a:p>
          <a:p>
            <a:r>
              <a:rPr lang="en-US" dirty="0" smtClean="0"/>
              <a:t>Polling, research, news analysis</a:t>
            </a:r>
          </a:p>
          <a:p>
            <a:r>
              <a:rPr lang="en-US" dirty="0" smtClean="0"/>
              <a:t>Reports, forums, briefings</a:t>
            </a:r>
          </a:p>
          <a:p>
            <a:r>
              <a:rPr lang="en-US" dirty="0" smtClean="0"/>
              <a:t>Does not take positions</a:t>
            </a:r>
            <a:endParaRPr lang="en-US" dirty="0"/>
          </a:p>
        </p:txBody>
      </p:sp>
      <p:pic>
        <p:nvPicPr>
          <p:cNvPr id="4" name="Picture 2"/>
          <p:cNvPicPr>
            <a:picLocks noChangeAspect="1" noChangeArrowheads="1"/>
          </p:cNvPicPr>
          <p:nvPr/>
        </p:nvPicPr>
        <p:blipFill>
          <a:blip r:embed="rId3" cstate="print"/>
          <a:srcRect l="11250" t="28125" r="31875" b="63542"/>
          <a:stretch>
            <a:fillRect/>
          </a:stretch>
        </p:blipFill>
        <p:spPr bwMode="auto">
          <a:xfrm>
            <a:off x="304800" y="914400"/>
            <a:ext cx="8667750" cy="762000"/>
          </a:xfrm>
          <a:prstGeom prst="rect">
            <a:avLst/>
          </a:prstGeom>
          <a:noFill/>
          <a:ln w="28575">
            <a:solidFill>
              <a:schemeClr val="accent1"/>
            </a:solidFill>
            <a:miter lim="800000"/>
            <a:headEnd/>
            <a:tailEnd/>
          </a:ln>
        </p:spPr>
      </p:pic>
      <p:sp>
        <p:nvSpPr>
          <p:cNvPr id="5" name="TextBox 4"/>
          <p:cNvSpPr txBox="1"/>
          <p:nvPr/>
        </p:nvSpPr>
        <p:spPr>
          <a:xfrm>
            <a:off x="838200" y="5791200"/>
            <a:ext cx="6934200" cy="369332"/>
          </a:xfrm>
          <a:prstGeom prst="rect">
            <a:avLst/>
          </a:prstGeom>
          <a:noFill/>
          <a:ln>
            <a:solidFill>
              <a:schemeClr val="accent1"/>
            </a:solidFill>
          </a:ln>
        </p:spPr>
        <p:txBody>
          <a:bodyPr wrap="square" rtlCol="0">
            <a:spAutoFit/>
          </a:bodyPr>
          <a:lstStyle/>
          <a:p>
            <a:r>
              <a:rPr lang="en-US" dirty="0" smtClean="0"/>
              <a:t>Pew Research Center is a subsidiary of the Pew Charitable Trust</a:t>
            </a:r>
            <a:endParaRPr lang="en-US" dirty="0"/>
          </a:p>
        </p:txBody>
      </p:sp>
      <p:sp>
        <p:nvSpPr>
          <p:cNvPr id="6" name="TextBox 5"/>
          <p:cNvSpPr txBox="1"/>
          <p:nvPr/>
        </p:nvSpPr>
        <p:spPr>
          <a:xfrm>
            <a:off x="5486400" y="4876800"/>
            <a:ext cx="2667000" cy="369332"/>
          </a:xfrm>
          <a:prstGeom prst="rect">
            <a:avLst/>
          </a:prstGeom>
          <a:noFill/>
          <a:ln>
            <a:solidFill>
              <a:schemeClr val="accent2"/>
            </a:solidFill>
          </a:ln>
        </p:spPr>
        <p:txBody>
          <a:bodyPr wrap="square" rtlCol="0">
            <a:spAutoFit/>
          </a:bodyPr>
          <a:lstStyle/>
          <a:p>
            <a:r>
              <a:rPr lang="en-US" dirty="0" smtClean="0">
                <a:hlinkClick r:id="rId4"/>
              </a:rPr>
              <a:t>http://pewresearch.org/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066800"/>
          </a:xfrm>
        </p:spPr>
        <p:txBody>
          <a:bodyPr/>
          <a:lstStyle/>
          <a:p>
            <a:r>
              <a:rPr lang="en-US" dirty="0" smtClean="0"/>
              <a:t>Pew Research Themes</a:t>
            </a:r>
            <a:endParaRPr lang="en-US" dirty="0"/>
          </a:p>
        </p:txBody>
      </p:sp>
      <p:sp>
        <p:nvSpPr>
          <p:cNvPr id="3" name="Content Placeholder 2"/>
          <p:cNvSpPr>
            <a:spLocks noGrp="1"/>
          </p:cNvSpPr>
          <p:nvPr>
            <p:ph idx="1"/>
          </p:nvPr>
        </p:nvSpPr>
        <p:spPr>
          <a:xfrm>
            <a:off x="457200" y="1981200"/>
            <a:ext cx="8229600" cy="4325112"/>
          </a:xfrm>
        </p:spPr>
        <p:txBody>
          <a:bodyPr>
            <a:normAutofit fontScale="92500"/>
          </a:bodyPr>
          <a:lstStyle/>
          <a:p>
            <a:r>
              <a:rPr lang="en-US" dirty="0" smtClean="0"/>
              <a:t>Start at </a:t>
            </a:r>
            <a:r>
              <a:rPr lang="en-US" dirty="0" smtClean="0">
                <a:hlinkClick r:id="rId3"/>
              </a:rPr>
              <a:t>http://pewresearch.org/databank/datasets/</a:t>
            </a:r>
            <a:endParaRPr lang="en-US" dirty="0" smtClean="0"/>
          </a:p>
          <a:p>
            <a:endParaRPr lang="en-US" dirty="0" smtClean="0"/>
          </a:p>
          <a:p>
            <a:r>
              <a:rPr lang="en-US" dirty="0" smtClean="0"/>
              <a:t>Pew Research Center for the People &amp; the Press Data Archive</a:t>
            </a:r>
          </a:p>
          <a:p>
            <a:r>
              <a:rPr lang="en-US" dirty="0" smtClean="0"/>
              <a:t>Pew Hispanic Center Dataset Download</a:t>
            </a:r>
          </a:p>
          <a:p>
            <a:r>
              <a:rPr lang="en-US" dirty="0" smtClean="0"/>
              <a:t>Pew Global Attitudes Project Dataset Download</a:t>
            </a:r>
          </a:p>
          <a:p>
            <a:r>
              <a:rPr lang="en-US" dirty="0" smtClean="0"/>
              <a:t>Pew Internet &amp; American Life Data Downloads</a:t>
            </a:r>
          </a:p>
          <a:p>
            <a:r>
              <a:rPr lang="en-US" dirty="0" smtClean="0"/>
              <a:t>Social &amp; Demographic Trends Dataset Download</a:t>
            </a:r>
          </a:p>
          <a:p>
            <a:r>
              <a:rPr lang="en-US" dirty="0" smtClean="0"/>
              <a:t>Pew Forum on Religion &amp; Public Life Dataset Download</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cstate="print"/>
          <a:srcRect l="12122" t="25254" r="13125" b="57910"/>
          <a:stretch>
            <a:fillRect/>
          </a:stretch>
        </p:blipFill>
        <p:spPr bwMode="auto">
          <a:xfrm>
            <a:off x="381000" y="990600"/>
            <a:ext cx="8458200" cy="1143000"/>
          </a:xfrm>
          <a:prstGeom prst="rect">
            <a:avLst/>
          </a:prstGeom>
          <a:noFill/>
          <a:ln w="9525">
            <a:noFill/>
            <a:miter lim="800000"/>
            <a:headEnd/>
            <a:tailEnd/>
          </a:ln>
        </p:spPr>
      </p:pic>
      <p:sp>
        <p:nvSpPr>
          <p:cNvPr id="6" name="TextBox 5"/>
          <p:cNvSpPr txBox="1"/>
          <p:nvPr/>
        </p:nvSpPr>
        <p:spPr>
          <a:xfrm>
            <a:off x="838200" y="2438400"/>
            <a:ext cx="2743200" cy="381000"/>
          </a:xfrm>
          <a:prstGeom prst="rect">
            <a:avLst/>
          </a:prstGeom>
          <a:solidFill>
            <a:schemeClr val="bg1"/>
          </a:solidFill>
          <a:ln>
            <a:solidFill>
              <a:schemeClr val="accent2"/>
            </a:solidFill>
          </a:ln>
        </p:spPr>
        <p:txBody>
          <a:bodyPr wrap="square" rtlCol="0">
            <a:spAutoFit/>
          </a:bodyPr>
          <a:lstStyle/>
          <a:p>
            <a:r>
              <a:rPr lang="en-US" dirty="0" smtClean="0">
                <a:hlinkClick r:id="rId4"/>
              </a:rPr>
              <a:t>http://people-press.org/</a:t>
            </a:r>
            <a:endParaRPr lang="en-US" dirty="0"/>
          </a:p>
        </p:txBody>
      </p:sp>
      <p:sp>
        <p:nvSpPr>
          <p:cNvPr id="8" name="TextBox 7"/>
          <p:cNvSpPr txBox="1"/>
          <p:nvPr/>
        </p:nvSpPr>
        <p:spPr>
          <a:xfrm>
            <a:off x="838200" y="3048000"/>
            <a:ext cx="7696200" cy="3539430"/>
          </a:xfrm>
          <a:prstGeom prst="rect">
            <a:avLst/>
          </a:prstGeom>
          <a:noFill/>
        </p:spPr>
        <p:txBody>
          <a:bodyPr wrap="square" rtlCol="0">
            <a:spAutoFit/>
          </a:bodyPr>
          <a:lstStyle/>
          <a:p>
            <a:pPr>
              <a:buFont typeface="Arial" pitchFamily="34" charset="0"/>
              <a:buChar char="•"/>
            </a:pPr>
            <a:r>
              <a:rPr lang="en-US" sz="3200" dirty="0" smtClean="0"/>
              <a:t>Focused on attitudes about politics, news media and public policy</a:t>
            </a:r>
          </a:p>
          <a:p>
            <a:pPr>
              <a:buFont typeface="Arial" pitchFamily="34" charset="0"/>
              <a:buChar char="•"/>
            </a:pPr>
            <a:r>
              <a:rPr lang="en-US" sz="3200" dirty="0" smtClean="0"/>
              <a:t>Monthly polls</a:t>
            </a:r>
          </a:p>
          <a:p>
            <a:pPr>
              <a:buFont typeface="Arial" pitchFamily="34" charset="0"/>
              <a:buChar char="•"/>
            </a:pPr>
            <a:r>
              <a:rPr lang="en-US" sz="3200" dirty="0" smtClean="0"/>
              <a:t>News Interest Index</a:t>
            </a:r>
          </a:p>
          <a:p>
            <a:pPr>
              <a:buFont typeface="Arial" pitchFamily="34" charset="0"/>
              <a:buChar char="•"/>
            </a:pPr>
            <a:r>
              <a:rPr lang="en-US" sz="3200" dirty="0" smtClean="0"/>
              <a:t>Survey reports</a:t>
            </a:r>
          </a:p>
          <a:p>
            <a:pPr>
              <a:buFont typeface="Arial" pitchFamily="34" charset="0"/>
              <a:buChar char="•"/>
            </a:pPr>
            <a:r>
              <a:rPr lang="en-US" sz="3200" dirty="0" smtClean="0"/>
              <a:t>Question search tool via Roper iPOLL</a:t>
            </a:r>
          </a:p>
          <a:p>
            <a:pPr>
              <a:buFont typeface="Arial" pitchFamily="34" charset="0"/>
              <a:buChar char="•"/>
            </a:pPr>
            <a:r>
              <a:rPr lang="en-US" sz="3200" dirty="0" smtClean="0"/>
              <a:t>Datasets</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066800"/>
          </a:xfrm>
        </p:spPr>
        <p:txBody>
          <a:bodyPr/>
          <a:lstStyle/>
          <a:p>
            <a:r>
              <a:rPr lang="en-US" dirty="0" smtClean="0"/>
              <a:t>Pew Question Search</a:t>
            </a:r>
            <a:endParaRPr lang="en-US" dirty="0"/>
          </a:p>
        </p:txBody>
      </p:sp>
      <p:pic>
        <p:nvPicPr>
          <p:cNvPr id="2050" name="Picture 2"/>
          <p:cNvPicPr>
            <a:picLocks noGrp="1" noChangeAspect="1" noChangeArrowheads="1"/>
          </p:cNvPicPr>
          <p:nvPr>
            <p:ph idx="1"/>
          </p:nvPr>
        </p:nvPicPr>
        <p:blipFill>
          <a:blip r:embed="rId3" cstate="print"/>
          <a:srcRect l="12624" t="25254" r="43939" b="19186"/>
          <a:stretch>
            <a:fillRect/>
          </a:stretch>
        </p:blipFill>
        <p:spPr bwMode="auto">
          <a:xfrm>
            <a:off x="609600" y="1828800"/>
            <a:ext cx="3276600" cy="2514600"/>
          </a:xfrm>
          <a:prstGeom prst="rect">
            <a:avLst/>
          </a:prstGeom>
          <a:noFill/>
          <a:ln w="9525">
            <a:solidFill>
              <a:schemeClr val="accent1">
                <a:lumMod val="50000"/>
              </a:schemeClr>
            </a:solidFill>
            <a:miter lim="800000"/>
            <a:headEnd/>
            <a:tailEnd/>
          </a:ln>
        </p:spPr>
      </p:pic>
      <p:pic>
        <p:nvPicPr>
          <p:cNvPr id="2051" name="Picture 3"/>
          <p:cNvPicPr>
            <a:picLocks noChangeAspect="1" noChangeArrowheads="1"/>
          </p:cNvPicPr>
          <p:nvPr/>
        </p:nvPicPr>
        <p:blipFill>
          <a:blip r:embed="rId4" cstate="print"/>
          <a:srcRect l="14375" t="43750" r="47500" b="44792"/>
          <a:stretch>
            <a:fillRect/>
          </a:stretch>
        </p:blipFill>
        <p:spPr bwMode="auto">
          <a:xfrm>
            <a:off x="609600" y="4724400"/>
            <a:ext cx="4648200" cy="838200"/>
          </a:xfrm>
          <a:prstGeom prst="rect">
            <a:avLst/>
          </a:prstGeom>
          <a:noFill/>
          <a:ln w="9525">
            <a:solidFill>
              <a:schemeClr val="accent1">
                <a:lumMod val="50000"/>
              </a:schemeClr>
            </a:solidFill>
            <a:miter lim="800000"/>
            <a:headEnd/>
            <a:tailEnd/>
          </a:ln>
        </p:spPr>
      </p:pic>
      <p:sp>
        <p:nvSpPr>
          <p:cNvPr id="6" name="TextBox 5"/>
          <p:cNvSpPr txBox="1"/>
          <p:nvPr/>
        </p:nvSpPr>
        <p:spPr>
          <a:xfrm>
            <a:off x="4953000" y="2286000"/>
            <a:ext cx="2514600" cy="646331"/>
          </a:xfrm>
          <a:prstGeom prst="rect">
            <a:avLst/>
          </a:prstGeom>
          <a:noFill/>
          <a:ln>
            <a:solidFill>
              <a:schemeClr val="accent1">
                <a:lumMod val="50000"/>
              </a:schemeClr>
            </a:solidFill>
          </a:ln>
        </p:spPr>
        <p:txBody>
          <a:bodyPr wrap="square" rtlCol="0">
            <a:spAutoFit/>
          </a:bodyPr>
          <a:lstStyle/>
          <a:p>
            <a:r>
              <a:rPr lang="en-US" dirty="0" smtClean="0"/>
              <a:t>Results using the Pew Question Search</a:t>
            </a:r>
            <a:endParaRPr lang="en-US" dirty="0"/>
          </a:p>
        </p:txBody>
      </p:sp>
      <p:sp>
        <p:nvSpPr>
          <p:cNvPr id="7" name="TextBox 6"/>
          <p:cNvSpPr txBox="1"/>
          <p:nvPr/>
        </p:nvSpPr>
        <p:spPr>
          <a:xfrm>
            <a:off x="6172200" y="4648200"/>
            <a:ext cx="1828800" cy="646331"/>
          </a:xfrm>
          <a:prstGeom prst="rect">
            <a:avLst/>
          </a:prstGeom>
          <a:noFill/>
          <a:ln>
            <a:solidFill>
              <a:schemeClr val="accent1">
                <a:lumMod val="50000"/>
              </a:schemeClr>
            </a:solidFill>
          </a:ln>
        </p:spPr>
        <p:txBody>
          <a:bodyPr wrap="square" rtlCol="0">
            <a:spAutoFit/>
          </a:bodyPr>
          <a:lstStyle/>
          <a:p>
            <a:r>
              <a:rPr lang="en-US" dirty="0" smtClean="0"/>
              <a:t>Additional results at Roper</a:t>
            </a:r>
            <a:endParaRPr lang="en-US" dirty="0"/>
          </a:p>
        </p:txBody>
      </p:sp>
      <p:cxnSp>
        <p:nvCxnSpPr>
          <p:cNvPr id="9" name="Straight Arrow Connector 8"/>
          <p:cNvCxnSpPr>
            <a:stCxn id="7" idx="1"/>
          </p:cNvCxnSpPr>
          <p:nvPr/>
        </p:nvCxnSpPr>
        <p:spPr>
          <a:xfrm rot="10800000">
            <a:off x="5410200" y="4953000"/>
            <a:ext cx="762000" cy="183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1"/>
          </p:cNvCxnSpPr>
          <p:nvPr/>
        </p:nvCxnSpPr>
        <p:spPr>
          <a:xfrm rot="10800000">
            <a:off x="3962400" y="2590800"/>
            <a:ext cx="990600" cy="183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1066800"/>
          </a:xfrm>
        </p:spPr>
        <p:txBody>
          <a:bodyPr>
            <a:normAutofit/>
          </a:bodyPr>
          <a:lstStyle/>
          <a:p>
            <a:r>
              <a:rPr lang="en-US" dirty="0" smtClean="0"/>
              <a:t>Datasets from People and the Press</a:t>
            </a:r>
            <a:endParaRPr lang="en-US" dirty="0"/>
          </a:p>
        </p:txBody>
      </p:sp>
      <p:pic>
        <p:nvPicPr>
          <p:cNvPr id="3074" name="Picture 2"/>
          <p:cNvPicPr>
            <a:picLocks noGrp="1" noChangeAspect="1" noChangeArrowheads="1"/>
          </p:cNvPicPr>
          <p:nvPr>
            <p:ph idx="1"/>
          </p:nvPr>
        </p:nvPicPr>
        <p:blipFill>
          <a:blip r:embed="rId3" cstate="print"/>
          <a:srcRect l="10603" t="23571" r="12624" b="7401"/>
          <a:stretch>
            <a:fillRect/>
          </a:stretch>
        </p:blipFill>
        <p:spPr bwMode="auto">
          <a:xfrm>
            <a:off x="228600" y="2362200"/>
            <a:ext cx="5084956" cy="2743200"/>
          </a:xfrm>
          <a:prstGeom prst="rect">
            <a:avLst/>
          </a:prstGeom>
          <a:noFill/>
          <a:ln w="9525">
            <a:solidFill>
              <a:schemeClr val="accent1">
                <a:lumMod val="50000"/>
              </a:schemeClr>
            </a:solidFill>
            <a:miter lim="800000"/>
            <a:headEnd/>
            <a:tailEnd/>
          </a:ln>
        </p:spPr>
      </p:pic>
      <p:sp>
        <p:nvSpPr>
          <p:cNvPr id="5" name="TextBox 4"/>
          <p:cNvSpPr txBox="1"/>
          <p:nvPr/>
        </p:nvSpPr>
        <p:spPr>
          <a:xfrm>
            <a:off x="4419600" y="1752600"/>
            <a:ext cx="4114800" cy="381000"/>
          </a:xfrm>
          <a:prstGeom prst="rect">
            <a:avLst/>
          </a:prstGeom>
          <a:noFill/>
          <a:ln>
            <a:solidFill>
              <a:schemeClr val="accent1">
                <a:lumMod val="50000"/>
              </a:schemeClr>
            </a:solidFill>
          </a:ln>
        </p:spPr>
        <p:txBody>
          <a:bodyPr wrap="square" rtlCol="0">
            <a:spAutoFit/>
          </a:bodyPr>
          <a:lstStyle/>
          <a:p>
            <a:r>
              <a:rPr lang="en-US" dirty="0" smtClean="0">
                <a:hlinkClick r:id="rId4"/>
              </a:rPr>
              <a:t>http://people-press.org/dataarchive/</a:t>
            </a:r>
            <a:endParaRPr lang="en-US" dirty="0"/>
          </a:p>
        </p:txBody>
      </p:sp>
      <p:pic>
        <p:nvPicPr>
          <p:cNvPr id="3075" name="Picture 3"/>
          <p:cNvPicPr>
            <a:picLocks noChangeAspect="1" noChangeArrowheads="1"/>
          </p:cNvPicPr>
          <p:nvPr/>
        </p:nvPicPr>
        <p:blipFill>
          <a:blip r:embed="rId5" cstate="print"/>
          <a:srcRect l="12500" t="25000" r="36875" b="7292"/>
          <a:stretch>
            <a:fillRect/>
          </a:stretch>
        </p:blipFill>
        <p:spPr bwMode="auto">
          <a:xfrm>
            <a:off x="4343400" y="2819400"/>
            <a:ext cx="4572000" cy="3668889"/>
          </a:xfrm>
          <a:prstGeom prst="rect">
            <a:avLst/>
          </a:prstGeom>
          <a:noFill/>
          <a:ln w="9525">
            <a:solidFill>
              <a:schemeClr val="accent1">
                <a:lumMod val="50000"/>
              </a:schemeClr>
            </a:solid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3" cstate="print"/>
          <a:srcRect t="25254" r="2091" b="54542"/>
          <a:stretch>
            <a:fillRect/>
          </a:stretch>
        </p:blipFill>
        <p:spPr bwMode="auto">
          <a:xfrm>
            <a:off x="381000" y="685800"/>
            <a:ext cx="8382000" cy="1037771"/>
          </a:xfrm>
          <a:prstGeom prst="rect">
            <a:avLst/>
          </a:prstGeom>
          <a:noFill/>
          <a:ln w="9525">
            <a:noFill/>
            <a:miter lim="800000"/>
            <a:headEnd/>
            <a:tailEnd/>
          </a:ln>
        </p:spPr>
      </p:pic>
      <p:sp>
        <p:nvSpPr>
          <p:cNvPr id="5" name="TextBox 4"/>
          <p:cNvSpPr txBox="1"/>
          <p:nvPr/>
        </p:nvSpPr>
        <p:spPr>
          <a:xfrm>
            <a:off x="609600" y="5562600"/>
            <a:ext cx="2590800" cy="369332"/>
          </a:xfrm>
          <a:prstGeom prst="rect">
            <a:avLst/>
          </a:prstGeom>
          <a:noFill/>
          <a:ln>
            <a:solidFill>
              <a:schemeClr val="accent1">
                <a:lumMod val="50000"/>
              </a:schemeClr>
            </a:solidFill>
          </a:ln>
        </p:spPr>
        <p:txBody>
          <a:bodyPr wrap="square" rtlCol="0">
            <a:spAutoFit/>
          </a:bodyPr>
          <a:lstStyle/>
          <a:p>
            <a:r>
              <a:rPr lang="en-US" dirty="0" smtClean="0">
                <a:hlinkClick r:id="rId4"/>
              </a:rPr>
              <a:t>http://pewinternet.org/</a:t>
            </a:r>
            <a:endParaRPr lang="en-US" dirty="0"/>
          </a:p>
        </p:txBody>
      </p:sp>
      <p:pic>
        <p:nvPicPr>
          <p:cNvPr id="4100" name="Picture 4"/>
          <p:cNvPicPr>
            <a:picLocks noChangeAspect="1" noChangeArrowheads="1"/>
          </p:cNvPicPr>
          <p:nvPr/>
        </p:nvPicPr>
        <p:blipFill>
          <a:blip r:embed="rId5" cstate="print"/>
          <a:srcRect l="12500" t="25000" r="30625" b="12500"/>
          <a:stretch>
            <a:fillRect/>
          </a:stretch>
        </p:blipFill>
        <p:spPr bwMode="auto">
          <a:xfrm>
            <a:off x="228600" y="1828800"/>
            <a:ext cx="5410200" cy="3567165"/>
          </a:xfrm>
          <a:prstGeom prst="rect">
            <a:avLst/>
          </a:prstGeom>
          <a:noFill/>
          <a:ln w="9525">
            <a:solidFill>
              <a:schemeClr val="accent1">
                <a:lumMod val="50000"/>
              </a:schemeClr>
            </a:solidFill>
            <a:miter lim="800000"/>
            <a:headEnd/>
            <a:tailEnd/>
          </a:ln>
        </p:spPr>
      </p:pic>
      <p:pic>
        <p:nvPicPr>
          <p:cNvPr id="4101" name="Picture 5"/>
          <p:cNvPicPr>
            <a:picLocks noChangeAspect="1" noChangeArrowheads="1"/>
          </p:cNvPicPr>
          <p:nvPr/>
        </p:nvPicPr>
        <p:blipFill>
          <a:blip r:embed="rId6" cstate="print"/>
          <a:srcRect l="28750" t="44792" r="31250" b="41666"/>
          <a:stretch>
            <a:fillRect/>
          </a:stretch>
        </p:blipFill>
        <p:spPr bwMode="auto">
          <a:xfrm>
            <a:off x="3962400" y="4876800"/>
            <a:ext cx="4876800" cy="990600"/>
          </a:xfrm>
          <a:prstGeom prst="rect">
            <a:avLst/>
          </a:prstGeom>
          <a:noFill/>
          <a:ln w="9525">
            <a:solidFill>
              <a:schemeClr val="accent1">
                <a:lumMod val="50000"/>
              </a:schemeClr>
            </a:solidFill>
            <a:miter lim="800000"/>
            <a:headEnd/>
            <a:tailEnd/>
          </a:ln>
        </p:spPr>
      </p:pic>
      <p:pic>
        <p:nvPicPr>
          <p:cNvPr id="4099" name="Picture 3"/>
          <p:cNvPicPr>
            <a:picLocks noChangeAspect="1" noChangeArrowheads="1"/>
          </p:cNvPicPr>
          <p:nvPr/>
        </p:nvPicPr>
        <p:blipFill>
          <a:blip r:embed="rId7" cstate="print"/>
          <a:srcRect l="12500" t="32292" r="37500" b="34375"/>
          <a:stretch>
            <a:fillRect/>
          </a:stretch>
        </p:blipFill>
        <p:spPr bwMode="auto">
          <a:xfrm>
            <a:off x="2743200" y="2057400"/>
            <a:ext cx="6096000" cy="2438400"/>
          </a:xfrm>
          <a:prstGeom prst="rect">
            <a:avLst/>
          </a:prstGeom>
          <a:noFill/>
          <a:ln w="9525">
            <a:solidFill>
              <a:schemeClr val="accent1">
                <a:lumMod val="50000"/>
              </a:schemeClr>
            </a:solidFill>
            <a:miter lim="800000"/>
            <a:headEnd/>
            <a:tailEnd/>
          </a:ln>
        </p:spPr>
      </p:pic>
      <p:sp>
        <p:nvSpPr>
          <p:cNvPr id="9" name="TextBox 8"/>
          <p:cNvSpPr txBox="1"/>
          <p:nvPr/>
        </p:nvSpPr>
        <p:spPr>
          <a:xfrm>
            <a:off x="228600" y="6096000"/>
            <a:ext cx="8610600" cy="461665"/>
          </a:xfrm>
          <a:prstGeom prst="rect">
            <a:avLst/>
          </a:prstGeom>
          <a:noFill/>
          <a:ln>
            <a:solidFill>
              <a:schemeClr val="accent1">
                <a:lumMod val="50000"/>
              </a:schemeClr>
            </a:solidFill>
          </a:ln>
        </p:spPr>
        <p:txBody>
          <a:bodyPr wrap="square" rtlCol="0">
            <a:spAutoFit/>
          </a:bodyPr>
          <a:lstStyle/>
          <a:p>
            <a:r>
              <a:rPr lang="en-US" sz="2400" dirty="0" smtClean="0"/>
              <a:t>Explore data tools, browse by topic, search by date and topic</a:t>
            </a:r>
            <a:endParaRPr lang="en-US" sz="2400" dirty="0"/>
          </a:p>
        </p:txBody>
      </p:sp>
      <p:cxnSp>
        <p:nvCxnSpPr>
          <p:cNvPr id="11" name="Straight Arrow Connector 10"/>
          <p:cNvCxnSpPr/>
          <p:nvPr/>
        </p:nvCxnSpPr>
        <p:spPr>
          <a:xfrm rot="5400000" flipH="1" flipV="1">
            <a:off x="-304800" y="4495800"/>
            <a:ext cx="30480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2667000" y="4800600"/>
            <a:ext cx="2057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5486400" y="5334000"/>
            <a:ext cx="16002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srcRect l="11875" t="23958" r="13750" b="58334"/>
          <a:stretch>
            <a:fillRect/>
          </a:stretch>
        </p:blipFill>
        <p:spPr bwMode="auto">
          <a:xfrm>
            <a:off x="381000" y="762000"/>
            <a:ext cx="8534400" cy="1295400"/>
          </a:xfrm>
          <a:prstGeom prst="rect">
            <a:avLst/>
          </a:prstGeom>
          <a:noFill/>
          <a:ln w="9525">
            <a:noFill/>
            <a:miter lim="800000"/>
            <a:headEnd/>
            <a:tailEnd/>
          </a:ln>
        </p:spPr>
      </p:pic>
      <p:sp>
        <p:nvSpPr>
          <p:cNvPr id="6" name="Content Placeholder 5"/>
          <p:cNvSpPr>
            <a:spLocks noGrp="1"/>
          </p:cNvSpPr>
          <p:nvPr>
            <p:ph idx="1"/>
          </p:nvPr>
        </p:nvSpPr>
        <p:spPr>
          <a:xfrm>
            <a:off x="457200" y="2286000"/>
            <a:ext cx="8458200" cy="4800600"/>
          </a:xfrm>
        </p:spPr>
        <p:txBody>
          <a:bodyPr/>
          <a:lstStyle/>
          <a:p>
            <a:r>
              <a:rPr lang="en-US" dirty="0" smtClean="0"/>
              <a:t>Topics:  Hot issues, beliefs and practices, religious affiliation, demographics</a:t>
            </a:r>
          </a:p>
          <a:p>
            <a:r>
              <a:rPr lang="en-US" dirty="0" smtClean="0"/>
              <a:t>International in scope</a:t>
            </a:r>
          </a:p>
          <a:p>
            <a:r>
              <a:rPr lang="en-US" dirty="0" smtClean="0"/>
              <a:t>Analysis of polls and research – reports &amp; graphics</a:t>
            </a:r>
          </a:p>
          <a:p>
            <a:r>
              <a:rPr lang="en-US" dirty="0" smtClean="0"/>
              <a:t>Question search based on iPOLL</a:t>
            </a:r>
          </a:p>
          <a:p>
            <a:r>
              <a:rPr lang="en-US" dirty="0" smtClean="0"/>
              <a:t>Datasets arranged by year</a:t>
            </a:r>
          </a:p>
          <a:p>
            <a:endParaRPr lang="en-US" dirty="0"/>
          </a:p>
        </p:txBody>
      </p:sp>
      <p:sp>
        <p:nvSpPr>
          <p:cNvPr id="7" name="TextBox 6"/>
          <p:cNvSpPr txBox="1"/>
          <p:nvPr/>
        </p:nvSpPr>
        <p:spPr>
          <a:xfrm>
            <a:off x="1447800" y="6019800"/>
            <a:ext cx="3810000" cy="523220"/>
          </a:xfrm>
          <a:prstGeom prst="rect">
            <a:avLst/>
          </a:prstGeom>
          <a:noFill/>
          <a:ln>
            <a:solidFill>
              <a:schemeClr val="accent2"/>
            </a:solidFill>
          </a:ln>
        </p:spPr>
        <p:txBody>
          <a:bodyPr wrap="square" rtlCol="0">
            <a:spAutoFit/>
          </a:bodyPr>
          <a:lstStyle/>
          <a:p>
            <a:r>
              <a:rPr lang="en-US" sz="2800" dirty="0" smtClean="0">
                <a:hlinkClick r:id="rId4"/>
              </a:rPr>
              <a:t>http://pewforum.org/</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057400"/>
            <a:ext cx="8229600" cy="4525963"/>
          </a:xfrm>
        </p:spPr>
        <p:txBody>
          <a:bodyPr>
            <a:normAutofit/>
          </a:bodyPr>
          <a:lstStyle/>
          <a:p>
            <a:r>
              <a:rPr lang="en-US" dirty="0" smtClean="0"/>
              <a:t>Hispanic population in US; impact of Latinos</a:t>
            </a:r>
          </a:p>
          <a:p>
            <a:r>
              <a:rPr lang="en-US" dirty="0" smtClean="0"/>
              <a:t>Focus on demography, economics, education, identity, immigration, labor, politics, remittances</a:t>
            </a:r>
          </a:p>
          <a:p>
            <a:r>
              <a:rPr lang="en-US" dirty="0" smtClean="0"/>
              <a:t>Question level search; Search publications by topic/year</a:t>
            </a:r>
          </a:p>
          <a:p>
            <a:r>
              <a:rPr lang="en-US" dirty="0" smtClean="0"/>
              <a:t>Survey reports and data, State/county database, interactive map, profiles </a:t>
            </a:r>
            <a:endParaRPr lang="en-US" dirty="0"/>
          </a:p>
        </p:txBody>
      </p:sp>
      <p:pic>
        <p:nvPicPr>
          <p:cNvPr id="6146" name="Picture 2"/>
          <p:cNvPicPr>
            <a:picLocks noChangeAspect="1" noChangeArrowheads="1"/>
          </p:cNvPicPr>
          <p:nvPr/>
        </p:nvPicPr>
        <p:blipFill>
          <a:blip r:embed="rId3" cstate="print"/>
          <a:srcRect l="11875" t="25000" r="13125" b="58333"/>
          <a:stretch>
            <a:fillRect/>
          </a:stretch>
        </p:blipFill>
        <p:spPr bwMode="auto">
          <a:xfrm>
            <a:off x="381000" y="762000"/>
            <a:ext cx="8534400" cy="1178560"/>
          </a:xfrm>
          <a:prstGeom prst="rect">
            <a:avLst/>
          </a:prstGeom>
          <a:noFill/>
          <a:ln w="9525">
            <a:noFill/>
            <a:miter lim="800000"/>
            <a:headEnd/>
            <a:tailEnd/>
          </a:ln>
        </p:spPr>
      </p:pic>
      <p:sp>
        <p:nvSpPr>
          <p:cNvPr id="5" name="TextBox 4"/>
          <p:cNvSpPr txBox="1"/>
          <p:nvPr/>
        </p:nvSpPr>
        <p:spPr>
          <a:xfrm>
            <a:off x="2514600" y="6019800"/>
            <a:ext cx="4038600" cy="523220"/>
          </a:xfrm>
          <a:prstGeom prst="rect">
            <a:avLst/>
          </a:prstGeom>
          <a:noFill/>
          <a:ln>
            <a:solidFill>
              <a:schemeClr val="accent2"/>
            </a:solidFill>
          </a:ln>
        </p:spPr>
        <p:txBody>
          <a:bodyPr wrap="square" rtlCol="0">
            <a:spAutoFit/>
          </a:bodyPr>
          <a:lstStyle/>
          <a:p>
            <a:r>
              <a:rPr lang="en-US" sz="2800" dirty="0" smtClean="0">
                <a:hlinkClick r:id="rId4"/>
              </a:rPr>
              <a:t>http://pewhispanic.org/</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32037"/>
            <a:ext cx="8229600" cy="4525963"/>
          </a:xfrm>
        </p:spPr>
        <p:txBody>
          <a:bodyPr/>
          <a:lstStyle/>
          <a:p>
            <a:r>
              <a:rPr lang="en-US" dirty="0" smtClean="0"/>
              <a:t>General public opinion, quality of life, state of the world, important issues</a:t>
            </a:r>
          </a:p>
          <a:p>
            <a:r>
              <a:rPr lang="en-US" dirty="0" smtClean="0"/>
              <a:t>International – 57 countries</a:t>
            </a:r>
          </a:p>
          <a:p>
            <a:r>
              <a:rPr lang="en-US" dirty="0" smtClean="0"/>
              <a:t>Reports, commentaries, data</a:t>
            </a:r>
          </a:p>
          <a:p>
            <a:r>
              <a:rPr lang="en-US" dirty="0" smtClean="0"/>
              <a:t>Key indicators database</a:t>
            </a:r>
            <a:endParaRPr lang="en-US" dirty="0"/>
          </a:p>
        </p:txBody>
      </p:sp>
      <p:pic>
        <p:nvPicPr>
          <p:cNvPr id="7170" name="Picture 2"/>
          <p:cNvPicPr>
            <a:picLocks noChangeAspect="1" noChangeArrowheads="1"/>
          </p:cNvPicPr>
          <p:nvPr/>
        </p:nvPicPr>
        <p:blipFill>
          <a:blip r:embed="rId3" cstate="print"/>
          <a:srcRect l="12500" t="25000" r="13125" b="60417"/>
          <a:stretch>
            <a:fillRect/>
          </a:stretch>
        </p:blipFill>
        <p:spPr bwMode="auto">
          <a:xfrm>
            <a:off x="381000" y="990600"/>
            <a:ext cx="8458200" cy="1066800"/>
          </a:xfrm>
          <a:prstGeom prst="rect">
            <a:avLst/>
          </a:prstGeom>
          <a:noFill/>
          <a:ln w="9525">
            <a:noFill/>
            <a:miter lim="800000"/>
            <a:headEnd/>
            <a:tailEnd/>
          </a:ln>
        </p:spPr>
      </p:pic>
      <p:sp>
        <p:nvSpPr>
          <p:cNvPr id="5" name="TextBox 4"/>
          <p:cNvSpPr txBox="1"/>
          <p:nvPr/>
        </p:nvSpPr>
        <p:spPr>
          <a:xfrm>
            <a:off x="838200" y="5181600"/>
            <a:ext cx="3657600" cy="523220"/>
          </a:xfrm>
          <a:prstGeom prst="rect">
            <a:avLst/>
          </a:prstGeom>
          <a:noFill/>
          <a:ln>
            <a:solidFill>
              <a:schemeClr val="accent2"/>
            </a:solidFill>
          </a:ln>
        </p:spPr>
        <p:txBody>
          <a:bodyPr wrap="square" rtlCol="0">
            <a:spAutoFit/>
          </a:bodyPr>
          <a:lstStyle/>
          <a:p>
            <a:r>
              <a:rPr lang="en-US" sz="2800" dirty="0" smtClean="0">
                <a:hlinkClick r:id="rId4"/>
              </a:rPr>
              <a:t>http://pewglobal.org</a:t>
            </a:r>
            <a:r>
              <a:rPr lang="en-US" dirty="0" smtClean="0">
                <a:hlinkClick r:id="rId4"/>
              </a:rPr>
              <a: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lstStyle/>
          <a:p>
            <a:r>
              <a:rPr lang="en-US" dirty="0" smtClean="0"/>
              <a:t>Global Attitudes – Key Indicators</a:t>
            </a:r>
            <a:endParaRPr lang="en-US" dirty="0"/>
          </a:p>
        </p:txBody>
      </p:sp>
      <p:pic>
        <p:nvPicPr>
          <p:cNvPr id="8195" name="Picture 3"/>
          <p:cNvPicPr>
            <a:picLocks noChangeAspect="1" noChangeArrowheads="1"/>
          </p:cNvPicPr>
          <p:nvPr/>
        </p:nvPicPr>
        <p:blipFill>
          <a:blip r:embed="rId3" cstate="print"/>
          <a:srcRect l="31250" t="33333" r="16250" b="10417"/>
          <a:stretch>
            <a:fillRect/>
          </a:stretch>
        </p:blipFill>
        <p:spPr bwMode="auto">
          <a:xfrm>
            <a:off x="2514600" y="1447800"/>
            <a:ext cx="6400800" cy="4114800"/>
          </a:xfrm>
          <a:prstGeom prst="rect">
            <a:avLst/>
          </a:prstGeom>
          <a:noFill/>
          <a:ln w="9525">
            <a:solidFill>
              <a:schemeClr val="accent1">
                <a:lumMod val="50000"/>
              </a:schemeClr>
            </a:solidFill>
            <a:miter lim="800000"/>
            <a:headEnd/>
            <a:tailEnd/>
          </a:ln>
        </p:spPr>
      </p:pic>
      <p:pic>
        <p:nvPicPr>
          <p:cNvPr id="8196" name="Picture 4"/>
          <p:cNvPicPr>
            <a:picLocks noChangeAspect="1" noChangeArrowheads="1"/>
          </p:cNvPicPr>
          <p:nvPr/>
        </p:nvPicPr>
        <p:blipFill>
          <a:blip r:embed="rId4" cstate="print"/>
          <a:srcRect l="30625" t="26042" r="13125" b="19792"/>
          <a:stretch>
            <a:fillRect/>
          </a:stretch>
        </p:blipFill>
        <p:spPr bwMode="auto">
          <a:xfrm>
            <a:off x="228600" y="3200400"/>
            <a:ext cx="5934808" cy="3429000"/>
          </a:xfrm>
          <a:prstGeom prst="rect">
            <a:avLst/>
          </a:prstGeom>
          <a:noFill/>
          <a:ln w="9525">
            <a:solidFill>
              <a:schemeClr val="accent1">
                <a:lumMod val="50000"/>
              </a:schemeClr>
            </a:solid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Social attitudes and behaviors: family, community, health, finance, work and leisure</a:t>
            </a:r>
          </a:p>
          <a:p>
            <a:r>
              <a:rPr lang="en-US" dirty="0" smtClean="0"/>
              <a:t>Reports, data</a:t>
            </a:r>
          </a:p>
          <a:p>
            <a:r>
              <a:rPr lang="en-US" dirty="0" smtClean="0"/>
              <a:t>Chart gallery, topic index, key word search</a:t>
            </a:r>
          </a:p>
          <a:p>
            <a:r>
              <a:rPr lang="en-US" dirty="0" smtClean="0"/>
              <a:t>Question search can be displayed with a chart</a:t>
            </a:r>
          </a:p>
          <a:p>
            <a:r>
              <a:rPr lang="en-US" dirty="0" smtClean="0"/>
              <a:t>Charts can be browsed by topic </a:t>
            </a:r>
            <a:endParaRPr lang="en-US" dirty="0"/>
          </a:p>
        </p:txBody>
      </p:sp>
      <p:pic>
        <p:nvPicPr>
          <p:cNvPr id="9218" name="Picture 2"/>
          <p:cNvPicPr>
            <a:picLocks noChangeAspect="1" noChangeArrowheads="1"/>
          </p:cNvPicPr>
          <p:nvPr/>
        </p:nvPicPr>
        <p:blipFill>
          <a:blip r:embed="rId3" cstate="print"/>
          <a:srcRect l="12500" t="25000" r="13750" b="58333"/>
          <a:stretch>
            <a:fillRect/>
          </a:stretch>
        </p:blipFill>
        <p:spPr bwMode="auto">
          <a:xfrm>
            <a:off x="457200" y="762000"/>
            <a:ext cx="8305800" cy="1126210"/>
          </a:xfrm>
          <a:prstGeom prst="rect">
            <a:avLst/>
          </a:prstGeom>
          <a:noFill/>
          <a:ln w="9525">
            <a:noFill/>
            <a:miter lim="800000"/>
            <a:headEnd/>
            <a:tailEnd/>
          </a:ln>
        </p:spPr>
      </p:pic>
      <p:sp>
        <p:nvSpPr>
          <p:cNvPr id="4" name="TextBox 3"/>
          <p:cNvSpPr txBox="1"/>
          <p:nvPr/>
        </p:nvSpPr>
        <p:spPr>
          <a:xfrm>
            <a:off x="762000" y="5791200"/>
            <a:ext cx="3048000" cy="381000"/>
          </a:xfrm>
          <a:prstGeom prst="rect">
            <a:avLst/>
          </a:prstGeom>
          <a:noFill/>
          <a:ln>
            <a:solidFill>
              <a:schemeClr val="accent2"/>
            </a:solidFill>
          </a:ln>
        </p:spPr>
        <p:txBody>
          <a:bodyPr wrap="square" rtlCol="0">
            <a:spAutoFit/>
          </a:bodyPr>
          <a:lstStyle/>
          <a:p>
            <a:r>
              <a:rPr lang="en-US" dirty="0" smtClean="0">
                <a:hlinkClick r:id="rId4"/>
              </a:rPr>
              <a:t>http://pewsocialtrends.org/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l="12500" t="25000" r="12500" b="7292"/>
          <a:stretch>
            <a:fillRect/>
          </a:stretch>
        </p:blipFill>
        <p:spPr bwMode="auto">
          <a:xfrm>
            <a:off x="0" y="1600200"/>
            <a:ext cx="9144000" cy="4953000"/>
          </a:xfrm>
          <a:prstGeom prst="rect">
            <a:avLst/>
          </a:prstGeom>
          <a:noFill/>
          <a:ln w="9525">
            <a:noFill/>
            <a:miter lim="800000"/>
            <a:headEnd/>
            <a:tailEnd/>
          </a:ln>
        </p:spPr>
      </p:pic>
      <p:pic>
        <p:nvPicPr>
          <p:cNvPr id="7" name="Picture 2"/>
          <p:cNvPicPr>
            <a:picLocks noChangeAspect="1" noChangeArrowheads="1"/>
          </p:cNvPicPr>
          <p:nvPr/>
        </p:nvPicPr>
        <p:blipFill>
          <a:blip r:embed="rId4" cstate="print"/>
          <a:srcRect l="11250" t="28125" r="31875" b="63542"/>
          <a:stretch>
            <a:fillRect/>
          </a:stretch>
        </p:blipFill>
        <p:spPr bwMode="auto">
          <a:xfrm>
            <a:off x="228600" y="762000"/>
            <a:ext cx="8667750" cy="762000"/>
          </a:xfrm>
          <a:prstGeom prst="rect">
            <a:avLst/>
          </a:prstGeom>
          <a:noFill/>
          <a:ln w="28575">
            <a:solidFill>
              <a:schemeClr val="accent1"/>
            </a:solid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811</TotalTime>
  <Words>1611</Words>
  <Application>Microsoft Office PowerPoint</Application>
  <PresentationFormat>On-screen Show (4:3)</PresentationFormat>
  <Paragraphs>140</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Urban</vt:lpstr>
      <vt:lpstr> ICPSR Data Fair ~ Small Data Archives: Data from the Pew Research Centers </vt:lpstr>
      <vt:lpstr>Slide 2</vt:lpstr>
      <vt:lpstr>Pew Research Themes</vt:lpstr>
      <vt:lpstr>Slide 4</vt:lpstr>
      <vt:lpstr>Pew Question Search</vt:lpstr>
      <vt:lpstr>Datasets from People and the Press</vt:lpstr>
      <vt:lpstr>Slide 7</vt:lpstr>
      <vt:lpstr>Slide 8</vt:lpstr>
      <vt:lpstr>Slide 9</vt:lpstr>
      <vt:lpstr>Slide 10</vt:lpstr>
      <vt:lpstr>Global Attitudes – Key Indicators</vt:lpstr>
      <vt:lpstr>Slide 12</vt:lpstr>
      <vt:lpstr>Slide 13</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Elizabeth Stephenson</dc:creator>
  <cp:lastModifiedBy>lindamd</cp:lastModifiedBy>
  <cp:revision>70</cp:revision>
  <dcterms:created xsi:type="dcterms:W3CDTF">2010-10-29T16:50:15Z</dcterms:created>
  <dcterms:modified xsi:type="dcterms:W3CDTF">2010-11-04T12:21:09Z</dcterms:modified>
</cp:coreProperties>
</file>