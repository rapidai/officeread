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Lst>
  <p:notesMasterIdLst>
    <p:notesMasterId r:id="rId113"/>
  </p:notesMasterIdLst>
  <p:handoutMasterIdLst>
    <p:handoutMasterId r:id="rId114"/>
  </p:handoutMasterIdLst>
  <p:sldIdLst>
    <p:sldId id="2691" r:id="rId2"/>
    <p:sldId id="2710" r:id="rId3"/>
    <p:sldId id="2447" r:id="rId4"/>
    <p:sldId id="2403" r:id="rId5"/>
    <p:sldId id="2406" r:id="rId6"/>
    <p:sldId id="2446" r:id="rId7"/>
    <p:sldId id="2817" r:id="rId8"/>
    <p:sldId id="2418" r:id="rId9"/>
    <p:sldId id="2375" r:id="rId10"/>
    <p:sldId id="2780" r:id="rId11"/>
    <p:sldId id="2466" r:id="rId12"/>
    <p:sldId id="2462" r:id="rId13"/>
    <p:sldId id="2463" r:id="rId14"/>
    <p:sldId id="2464" r:id="rId15"/>
    <p:sldId id="2415" r:id="rId16"/>
    <p:sldId id="2407" r:id="rId17"/>
    <p:sldId id="2408" r:id="rId18"/>
    <p:sldId id="2409" r:id="rId19"/>
    <p:sldId id="2809" r:id="rId20"/>
    <p:sldId id="2813" r:id="rId21"/>
    <p:sldId id="2815" r:id="rId22"/>
    <p:sldId id="2693" r:id="rId23"/>
    <p:sldId id="2204" r:id="rId24"/>
    <p:sldId id="2695" r:id="rId25"/>
    <p:sldId id="2707" r:id="rId26"/>
    <p:sldId id="2265" r:id="rId27"/>
    <p:sldId id="2820" r:id="rId28"/>
    <p:sldId id="2821" r:id="rId29"/>
    <p:sldId id="2822" r:id="rId30"/>
    <p:sldId id="2823" r:id="rId31"/>
    <p:sldId id="2824" r:id="rId32"/>
    <p:sldId id="2825" r:id="rId33"/>
    <p:sldId id="2830" r:id="rId34"/>
    <p:sldId id="2794" r:id="rId35"/>
    <p:sldId id="2795" r:id="rId36"/>
    <p:sldId id="2796" r:id="rId37"/>
    <p:sldId id="2808" r:id="rId38"/>
    <p:sldId id="2797" r:id="rId39"/>
    <p:sldId id="2819" r:id="rId40"/>
    <p:sldId id="2798" r:id="rId41"/>
    <p:sldId id="2268" r:id="rId42"/>
    <p:sldId id="2419" r:id="rId43"/>
    <p:sldId id="2378" r:id="rId44"/>
    <p:sldId id="2314" r:id="rId45"/>
    <p:sldId id="2800" r:id="rId46"/>
    <p:sldId id="2836" r:id="rId47"/>
    <p:sldId id="2381" r:id="rId48"/>
    <p:sldId id="2448" r:id="rId49"/>
    <p:sldId id="2761" r:id="rId50"/>
    <p:sldId id="2397" r:id="rId51"/>
    <p:sldId id="2398" r:id="rId52"/>
    <p:sldId id="2814" r:id="rId53"/>
    <p:sldId id="2831" r:id="rId54"/>
    <p:sldId id="2832" r:id="rId55"/>
    <p:sldId id="2837" r:id="rId56"/>
    <p:sldId id="2449" r:id="rId57"/>
    <p:sldId id="2269" r:id="rId58"/>
    <p:sldId id="2599" r:id="rId59"/>
    <p:sldId id="2787" r:id="rId60"/>
    <p:sldId id="2788" r:id="rId61"/>
    <p:sldId id="2839" r:id="rId62"/>
    <p:sldId id="2840" r:id="rId63"/>
    <p:sldId id="2841" r:id="rId64"/>
    <p:sldId id="2842" r:id="rId65"/>
    <p:sldId id="2843" r:id="rId66"/>
    <p:sldId id="2844" r:id="rId67"/>
    <p:sldId id="2816" r:id="rId68"/>
    <p:sldId id="2810" r:id="rId69"/>
    <p:sldId id="2852" r:id="rId70"/>
    <p:sldId id="2450" r:id="rId71"/>
    <p:sldId id="2270" r:id="rId72"/>
    <p:sldId id="2383" r:id="rId73"/>
    <p:sldId id="2790" r:id="rId74"/>
    <p:sldId id="2791" r:id="rId75"/>
    <p:sldId id="2804" r:id="rId76"/>
    <p:sldId id="2793" r:id="rId77"/>
    <p:sldId id="2860" r:id="rId78"/>
    <p:sldId id="2861" r:id="rId79"/>
    <p:sldId id="2451" r:id="rId80"/>
    <p:sldId id="2271" r:id="rId81"/>
    <p:sldId id="2799" r:id="rId82"/>
    <p:sldId id="2864" r:id="rId83"/>
    <p:sldId id="2452" r:id="rId84"/>
    <p:sldId id="2272" r:id="rId85"/>
    <p:sldId id="2404" r:id="rId86"/>
    <p:sldId id="2454" r:id="rId87"/>
    <p:sldId id="2866" r:id="rId88"/>
    <p:sldId id="2639" r:id="rId89"/>
    <p:sldId id="2640" r:id="rId90"/>
    <p:sldId id="2641" r:id="rId91"/>
    <p:sldId id="2643" r:id="rId92"/>
    <p:sldId id="2644" r:id="rId93"/>
    <p:sldId id="2645" r:id="rId94"/>
    <p:sldId id="2807" r:id="rId95"/>
    <p:sldId id="2456" r:id="rId96"/>
    <p:sldId id="2284" r:id="rId97"/>
    <p:sldId id="2789" r:id="rId98"/>
    <p:sldId id="2803" r:id="rId99"/>
    <p:sldId id="2457" r:id="rId100"/>
    <p:sldId id="2285" r:id="rId101"/>
    <p:sldId id="2607" r:id="rId102"/>
    <p:sldId id="2867" r:id="rId103"/>
    <p:sldId id="2802" r:id="rId104"/>
    <p:sldId id="2812" r:id="rId105"/>
    <p:sldId id="2801" r:id="rId106"/>
    <p:sldId id="2811" r:id="rId107"/>
    <p:sldId id="2786" r:id="rId108"/>
    <p:sldId id="2441" r:id="rId109"/>
    <p:sldId id="2442" r:id="rId110"/>
    <p:sldId id="2390" r:id="rId111"/>
    <p:sldId id="2440" r:id="rId112"/>
  </p:sldIdLst>
  <p:sldSz cx="9144000" cy="6858000" type="letter"/>
  <p:notesSz cx="6858000" cy="9296400"/>
  <p:defaultTextStyle>
    <a:defPPr>
      <a:defRPr lang="en-US"/>
    </a:defPPr>
    <a:lvl1pPr algn="l" rtl="0" fontAlgn="base">
      <a:spcBef>
        <a:spcPct val="0"/>
      </a:spcBef>
      <a:spcAft>
        <a:spcPct val="0"/>
      </a:spcAft>
      <a:defRPr sz="6600" b="1" kern="1200">
        <a:solidFill>
          <a:schemeClr val="tx1"/>
        </a:solidFill>
        <a:latin typeface="Tahoma" pitchFamily="34" charset="0"/>
        <a:ea typeface="+mn-ea"/>
        <a:cs typeface="Arial" charset="0"/>
      </a:defRPr>
    </a:lvl1pPr>
    <a:lvl2pPr marL="457200" algn="l" rtl="0" fontAlgn="base">
      <a:spcBef>
        <a:spcPct val="0"/>
      </a:spcBef>
      <a:spcAft>
        <a:spcPct val="0"/>
      </a:spcAft>
      <a:defRPr sz="6600" b="1" kern="1200">
        <a:solidFill>
          <a:schemeClr val="tx1"/>
        </a:solidFill>
        <a:latin typeface="Tahoma" pitchFamily="34" charset="0"/>
        <a:ea typeface="+mn-ea"/>
        <a:cs typeface="Arial" charset="0"/>
      </a:defRPr>
    </a:lvl2pPr>
    <a:lvl3pPr marL="914400" algn="l" rtl="0" fontAlgn="base">
      <a:spcBef>
        <a:spcPct val="0"/>
      </a:spcBef>
      <a:spcAft>
        <a:spcPct val="0"/>
      </a:spcAft>
      <a:defRPr sz="6600" b="1" kern="1200">
        <a:solidFill>
          <a:schemeClr val="tx1"/>
        </a:solidFill>
        <a:latin typeface="Tahoma" pitchFamily="34" charset="0"/>
        <a:ea typeface="+mn-ea"/>
        <a:cs typeface="Arial" charset="0"/>
      </a:defRPr>
    </a:lvl3pPr>
    <a:lvl4pPr marL="1371600" algn="l" rtl="0" fontAlgn="base">
      <a:spcBef>
        <a:spcPct val="0"/>
      </a:spcBef>
      <a:spcAft>
        <a:spcPct val="0"/>
      </a:spcAft>
      <a:defRPr sz="6600" b="1" kern="1200">
        <a:solidFill>
          <a:schemeClr val="tx1"/>
        </a:solidFill>
        <a:latin typeface="Tahoma" pitchFamily="34" charset="0"/>
        <a:ea typeface="+mn-ea"/>
        <a:cs typeface="Arial" charset="0"/>
      </a:defRPr>
    </a:lvl4pPr>
    <a:lvl5pPr marL="1828800" algn="l" rtl="0" fontAlgn="base">
      <a:spcBef>
        <a:spcPct val="0"/>
      </a:spcBef>
      <a:spcAft>
        <a:spcPct val="0"/>
      </a:spcAft>
      <a:defRPr sz="6600" b="1" kern="1200">
        <a:solidFill>
          <a:schemeClr val="tx1"/>
        </a:solidFill>
        <a:latin typeface="Tahoma" pitchFamily="34" charset="0"/>
        <a:ea typeface="+mn-ea"/>
        <a:cs typeface="Arial" charset="0"/>
      </a:defRPr>
    </a:lvl5pPr>
    <a:lvl6pPr marL="2286000" algn="l" defTabSz="914400" rtl="0" eaLnBrk="1" latinLnBrk="0" hangingPunct="1">
      <a:defRPr sz="6600" b="1" kern="1200">
        <a:solidFill>
          <a:schemeClr val="tx1"/>
        </a:solidFill>
        <a:latin typeface="Tahoma" pitchFamily="34" charset="0"/>
        <a:ea typeface="+mn-ea"/>
        <a:cs typeface="Arial" charset="0"/>
      </a:defRPr>
    </a:lvl6pPr>
    <a:lvl7pPr marL="2743200" algn="l" defTabSz="914400" rtl="0" eaLnBrk="1" latinLnBrk="0" hangingPunct="1">
      <a:defRPr sz="6600" b="1" kern="1200">
        <a:solidFill>
          <a:schemeClr val="tx1"/>
        </a:solidFill>
        <a:latin typeface="Tahoma" pitchFamily="34" charset="0"/>
        <a:ea typeface="+mn-ea"/>
        <a:cs typeface="Arial" charset="0"/>
      </a:defRPr>
    </a:lvl7pPr>
    <a:lvl8pPr marL="3200400" algn="l" defTabSz="914400" rtl="0" eaLnBrk="1" latinLnBrk="0" hangingPunct="1">
      <a:defRPr sz="6600" b="1" kern="1200">
        <a:solidFill>
          <a:schemeClr val="tx1"/>
        </a:solidFill>
        <a:latin typeface="Tahoma" pitchFamily="34" charset="0"/>
        <a:ea typeface="+mn-ea"/>
        <a:cs typeface="Arial" charset="0"/>
      </a:defRPr>
    </a:lvl8pPr>
    <a:lvl9pPr marL="3657600" algn="l" defTabSz="914400" rtl="0" eaLnBrk="1" latinLnBrk="0" hangingPunct="1">
      <a:defRPr sz="6600" b="1" kern="1200">
        <a:solidFill>
          <a:schemeClr val="tx1"/>
        </a:solidFill>
        <a:latin typeface="Tahoma"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699"/>
    <a:srgbClr val="0000FF"/>
    <a:srgbClr val="FF66FF"/>
    <a:srgbClr val="FFFF00"/>
    <a:srgbClr val="800000"/>
    <a:srgbClr val="FFCC99"/>
    <a:srgbClr val="04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15640" autoAdjust="0"/>
    <p:restoredTop sz="98451" autoAdjust="0"/>
  </p:normalViewPr>
  <p:slideViewPr>
    <p:cSldViewPr>
      <p:cViewPr>
        <p:scale>
          <a:sx n="66" d="100"/>
          <a:sy n="66" d="100"/>
        </p:scale>
        <p:origin x="-672" y="-2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75" d="100"/>
          <a:sy n="75" d="100"/>
        </p:scale>
        <p:origin x="-1320" y="-72"/>
      </p:cViewPr>
      <p:guideLst>
        <p:guide orient="horz" pos="2929"/>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276" tIns="45639" rIns="91276" bIns="45639" numCol="1" anchor="t" anchorCtr="0" compatLnSpc="1">
            <a:prstTxWarp prst="textNoShape">
              <a:avLst/>
            </a:prstTxWarp>
          </a:bodyPr>
          <a:lstStyle>
            <a:lvl1pPr algn="l" defTabSz="912813" eaLnBrk="1" hangingPunct="1">
              <a:defRPr sz="1200" b="0">
                <a:latin typeface="Arial" charset="0"/>
                <a:cs typeface="+mn-cs"/>
              </a:defRPr>
            </a:lvl1pPr>
          </a:lstStyle>
          <a:p>
            <a:pPr>
              <a:defRPr/>
            </a:pPr>
            <a:endParaRPr lang="en-US"/>
          </a:p>
        </p:txBody>
      </p:sp>
      <p:sp>
        <p:nvSpPr>
          <p:cNvPr id="16387" name="Rectangle 3"/>
          <p:cNvSpPr>
            <a:spLocks noGrp="1" noChangeArrowheads="1"/>
          </p:cNvSpPr>
          <p:nvPr>
            <p:ph type="dt" sz="quarter" idx="1"/>
          </p:nvPr>
        </p:nvSpPr>
        <p:spPr bwMode="auto">
          <a:xfrm>
            <a:off x="3884613" y="0"/>
            <a:ext cx="2971800" cy="465138"/>
          </a:xfrm>
          <a:prstGeom prst="rect">
            <a:avLst/>
          </a:prstGeom>
          <a:noFill/>
          <a:ln w="9525">
            <a:noFill/>
            <a:miter lim="800000"/>
            <a:headEnd/>
            <a:tailEnd/>
          </a:ln>
          <a:effectLst/>
        </p:spPr>
        <p:txBody>
          <a:bodyPr vert="horz" wrap="square" lIns="91276" tIns="45639" rIns="91276" bIns="45639" numCol="1" anchor="t" anchorCtr="0" compatLnSpc="1">
            <a:prstTxWarp prst="textNoShape">
              <a:avLst/>
            </a:prstTxWarp>
          </a:bodyPr>
          <a:lstStyle>
            <a:lvl1pPr algn="r" defTabSz="912813" eaLnBrk="1" hangingPunct="1">
              <a:defRPr sz="1200" b="0">
                <a:latin typeface="Arial" charset="0"/>
                <a:cs typeface="+mn-cs"/>
              </a:defRPr>
            </a:lvl1pPr>
          </a:lstStyle>
          <a:p>
            <a:pPr>
              <a:defRPr/>
            </a:pPr>
            <a:endParaRPr lang="en-US"/>
          </a:p>
        </p:txBody>
      </p:sp>
      <p:sp>
        <p:nvSpPr>
          <p:cNvPr id="16388" name="Rectangle 4"/>
          <p:cNvSpPr>
            <a:spLocks noGrp="1" noChangeArrowheads="1"/>
          </p:cNvSpPr>
          <p:nvPr>
            <p:ph type="ftr" sz="quarter" idx="2"/>
          </p:nvPr>
        </p:nvSpPr>
        <p:spPr bwMode="auto">
          <a:xfrm>
            <a:off x="0" y="8829675"/>
            <a:ext cx="2971800" cy="465138"/>
          </a:xfrm>
          <a:prstGeom prst="rect">
            <a:avLst/>
          </a:prstGeom>
          <a:noFill/>
          <a:ln w="9525">
            <a:noFill/>
            <a:miter lim="800000"/>
            <a:headEnd/>
            <a:tailEnd/>
          </a:ln>
          <a:effectLst/>
        </p:spPr>
        <p:txBody>
          <a:bodyPr vert="horz" wrap="square" lIns="91276" tIns="45639" rIns="91276" bIns="45639" numCol="1" anchor="b" anchorCtr="0" compatLnSpc="1">
            <a:prstTxWarp prst="textNoShape">
              <a:avLst/>
            </a:prstTxWarp>
          </a:bodyPr>
          <a:lstStyle>
            <a:lvl1pPr algn="l" defTabSz="912813" eaLnBrk="1" hangingPunct="1">
              <a:defRPr sz="1200" b="0">
                <a:latin typeface="Arial" charset="0"/>
                <a:cs typeface="+mn-cs"/>
              </a:defRPr>
            </a:lvl1pPr>
          </a:lstStyle>
          <a:p>
            <a:pPr>
              <a:defRPr/>
            </a:pPr>
            <a:r>
              <a:rPr lang="en-US"/>
              <a:t>Georgia Professional Standards Commission</a:t>
            </a:r>
          </a:p>
        </p:txBody>
      </p:sp>
      <p:sp>
        <p:nvSpPr>
          <p:cNvPr id="16389" name="Rectangle 5"/>
          <p:cNvSpPr>
            <a:spLocks noGrp="1" noChangeArrowheads="1"/>
          </p:cNvSpPr>
          <p:nvPr>
            <p:ph type="sldNum" sz="quarter" idx="3"/>
          </p:nvPr>
        </p:nvSpPr>
        <p:spPr bwMode="auto">
          <a:xfrm>
            <a:off x="3884613" y="8829675"/>
            <a:ext cx="2971800" cy="465138"/>
          </a:xfrm>
          <a:prstGeom prst="rect">
            <a:avLst/>
          </a:prstGeom>
          <a:noFill/>
          <a:ln w="9525">
            <a:noFill/>
            <a:miter lim="800000"/>
            <a:headEnd/>
            <a:tailEnd/>
          </a:ln>
          <a:effectLst/>
        </p:spPr>
        <p:txBody>
          <a:bodyPr vert="horz" wrap="square" lIns="91276" tIns="45639" rIns="91276" bIns="45639" numCol="1" anchor="b" anchorCtr="0" compatLnSpc="1">
            <a:prstTxWarp prst="textNoShape">
              <a:avLst/>
            </a:prstTxWarp>
          </a:bodyPr>
          <a:lstStyle>
            <a:lvl1pPr algn="r" defTabSz="912813" eaLnBrk="1" hangingPunct="1">
              <a:defRPr sz="1200" b="0">
                <a:latin typeface="Arial" charset="0"/>
                <a:cs typeface="+mn-cs"/>
              </a:defRPr>
            </a:lvl1pPr>
          </a:lstStyle>
          <a:p>
            <a:pPr>
              <a:defRPr/>
            </a:pPr>
            <a:fld id="{3434AE09-024B-4380-AEB2-5B73AF6733EB}"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276" tIns="45639" rIns="91276" bIns="45639" numCol="1" anchor="t" anchorCtr="0" compatLnSpc="1">
            <a:prstTxWarp prst="textNoShape">
              <a:avLst/>
            </a:prstTxWarp>
          </a:bodyPr>
          <a:lstStyle>
            <a:lvl1pPr algn="l" defTabSz="912813" eaLnBrk="1" hangingPunct="1">
              <a:defRPr sz="1200" b="0">
                <a:latin typeface="Arial" charset="0"/>
                <a:cs typeface="+mn-cs"/>
              </a:defRPr>
            </a:lvl1pPr>
          </a:lstStyle>
          <a:p>
            <a:pPr>
              <a:defRPr/>
            </a:pPr>
            <a:endParaRPr lang="en-US"/>
          </a:p>
        </p:txBody>
      </p:sp>
      <p:sp>
        <p:nvSpPr>
          <p:cNvPr id="21507" name="Rectangle 3"/>
          <p:cNvSpPr>
            <a:spLocks noGrp="1" noChangeArrowheads="1"/>
          </p:cNvSpPr>
          <p:nvPr>
            <p:ph type="dt" idx="1"/>
          </p:nvPr>
        </p:nvSpPr>
        <p:spPr bwMode="auto">
          <a:xfrm>
            <a:off x="3884613" y="0"/>
            <a:ext cx="2971800" cy="465138"/>
          </a:xfrm>
          <a:prstGeom prst="rect">
            <a:avLst/>
          </a:prstGeom>
          <a:noFill/>
          <a:ln w="9525">
            <a:noFill/>
            <a:miter lim="800000"/>
            <a:headEnd/>
            <a:tailEnd/>
          </a:ln>
          <a:effectLst/>
        </p:spPr>
        <p:txBody>
          <a:bodyPr vert="horz" wrap="square" lIns="91276" tIns="45639" rIns="91276" bIns="45639" numCol="1" anchor="t" anchorCtr="0" compatLnSpc="1">
            <a:prstTxWarp prst="textNoShape">
              <a:avLst/>
            </a:prstTxWarp>
          </a:bodyPr>
          <a:lstStyle>
            <a:lvl1pPr algn="r" defTabSz="912813" eaLnBrk="1" hangingPunct="1">
              <a:defRPr sz="1200" b="0">
                <a:latin typeface="Arial" charset="0"/>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06488" y="696913"/>
            <a:ext cx="4648200" cy="3486150"/>
          </a:xfrm>
          <a:prstGeom prst="rect">
            <a:avLst/>
          </a:prstGeom>
          <a:noFill/>
          <a:ln w="9525">
            <a:solidFill>
              <a:srgbClr val="000000"/>
            </a:solidFill>
            <a:miter lim="800000"/>
            <a:headEnd/>
            <a:tailEnd/>
          </a:ln>
        </p:spPr>
      </p:sp>
      <p:sp>
        <p:nvSpPr>
          <p:cNvPr id="21509" name="Rectangle 5"/>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91276" tIns="45639" rIns="91276" bIns="4563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1510" name="Rectangle 6"/>
          <p:cNvSpPr>
            <a:spLocks noGrp="1" noChangeArrowheads="1"/>
          </p:cNvSpPr>
          <p:nvPr>
            <p:ph type="ftr" sz="quarter" idx="4"/>
          </p:nvPr>
        </p:nvSpPr>
        <p:spPr bwMode="auto">
          <a:xfrm>
            <a:off x="0" y="8829675"/>
            <a:ext cx="2971800" cy="465138"/>
          </a:xfrm>
          <a:prstGeom prst="rect">
            <a:avLst/>
          </a:prstGeom>
          <a:noFill/>
          <a:ln w="9525">
            <a:noFill/>
            <a:miter lim="800000"/>
            <a:headEnd/>
            <a:tailEnd/>
          </a:ln>
          <a:effectLst/>
        </p:spPr>
        <p:txBody>
          <a:bodyPr vert="horz" wrap="square" lIns="91276" tIns="45639" rIns="91276" bIns="45639" numCol="1" anchor="b" anchorCtr="0" compatLnSpc="1">
            <a:prstTxWarp prst="textNoShape">
              <a:avLst/>
            </a:prstTxWarp>
          </a:bodyPr>
          <a:lstStyle>
            <a:lvl1pPr algn="l" defTabSz="912813" eaLnBrk="1" hangingPunct="1">
              <a:defRPr sz="1200" b="0">
                <a:latin typeface="Arial" charset="0"/>
                <a:cs typeface="+mn-cs"/>
              </a:defRPr>
            </a:lvl1pPr>
          </a:lstStyle>
          <a:p>
            <a:pPr>
              <a:defRPr/>
            </a:pPr>
            <a:r>
              <a:rPr lang="en-US"/>
              <a:t>Georgia Professional Standards Commission</a:t>
            </a:r>
          </a:p>
        </p:txBody>
      </p:sp>
      <p:sp>
        <p:nvSpPr>
          <p:cNvPr id="21511" name="Rectangle 7"/>
          <p:cNvSpPr>
            <a:spLocks noGrp="1" noChangeArrowheads="1"/>
          </p:cNvSpPr>
          <p:nvPr>
            <p:ph type="sldNum" sz="quarter" idx="5"/>
          </p:nvPr>
        </p:nvSpPr>
        <p:spPr bwMode="auto">
          <a:xfrm>
            <a:off x="3884613" y="8829675"/>
            <a:ext cx="2971800" cy="465138"/>
          </a:xfrm>
          <a:prstGeom prst="rect">
            <a:avLst/>
          </a:prstGeom>
          <a:noFill/>
          <a:ln w="9525">
            <a:noFill/>
            <a:miter lim="800000"/>
            <a:headEnd/>
            <a:tailEnd/>
          </a:ln>
          <a:effectLst/>
        </p:spPr>
        <p:txBody>
          <a:bodyPr vert="horz" wrap="square" lIns="91276" tIns="45639" rIns="91276" bIns="45639" numCol="1" anchor="b" anchorCtr="0" compatLnSpc="1">
            <a:prstTxWarp prst="textNoShape">
              <a:avLst/>
            </a:prstTxWarp>
          </a:bodyPr>
          <a:lstStyle>
            <a:lvl1pPr algn="r" defTabSz="912813" eaLnBrk="1" hangingPunct="1">
              <a:defRPr sz="1200" b="0">
                <a:latin typeface="Arial" charset="0"/>
                <a:cs typeface="+mn-cs"/>
              </a:defRPr>
            </a:lvl1pPr>
          </a:lstStyle>
          <a:p>
            <a:pPr>
              <a:defRPr/>
            </a:pPr>
            <a:fld id="{D7217708-5BC3-4063-837D-81421904F481}" type="slidenum">
              <a:rPr lang="en-US"/>
              <a:pPr>
                <a:defRPr/>
              </a:pPr>
              <a:t>‹#›</a:t>
            </a:fld>
            <a:endParaRPr 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8434" name="Rectangle 7"/>
          <p:cNvSpPr>
            <a:spLocks noGrp="1" noChangeArrowheads="1"/>
          </p:cNvSpPr>
          <p:nvPr>
            <p:ph type="sldNum" sz="quarter" idx="5"/>
          </p:nvPr>
        </p:nvSpPr>
        <p:spPr>
          <a:noFill/>
        </p:spPr>
        <p:txBody>
          <a:bodyPr/>
          <a:lstStyle/>
          <a:p>
            <a:fld id="{ABE0F227-498E-4FF7-B10B-F6AE22C5D135}" type="slidenum">
              <a:rPr lang="en-US" smtClean="0">
                <a:cs typeface="Arial" charset="0"/>
              </a:rPr>
              <a:pPr/>
              <a:t>1</a:t>
            </a:fld>
            <a:endParaRPr lang="en-US" smtClean="0">
              <a:cs typeface="Arial" charset="0"/>
            </a:endParaRPr>
          </a:p>
        </p:txBody>
      </p:sp>
      <p:sp>
        <p:nvSpPr>
          <p:cNvPr id="18435" name="Rectangle 2"/>
          <p:cNvSpPr>
            <a:spLocks noGrp="1" noRot="1" noChangeAspect="1" noChangeArrowheads="1" noTextEdit="1"/>
          </p:cNvSpPr>
          <p:nvPr>
            <p:ph type="sldImg"/>
          </p:nvPr>
        </p:nvSpPr>
        <p:spPr>
          <a:xfrm>
            <a:off x="1103313" y="695325"/>
            <a:ext cx="4651375" cy="3487738"/>
          </a:xfrm>
          <a:ln/>
        </p:spPr>
      </p:sp>
      <p:sp>
        <p:nvSpPr>
          <p:cNvPr id="18436" name="Rectangle 3"/>
          <p:cNvSpPr>
            <a:spLocks noGrp="1" noChangeArrowheads="1"/>
          </p:cNvSpPr>
          <p:nvPr>
            <p:ph type="body" idx="1"/>
          </p:nvPr>
        </p:nvSpPr>
        <p:spPr>
          <a:xfrm>
            <a:off x="914400" y="4416425"/>
            <a:ext cx="5029200" cy="4184650"/>
          </a:xfrm>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21506" name="Rectangle 7"/>
          <p:cNvSpPr>
            <a:spLocks noGrp="1" noChangeArrowheads="1"/>
          </p:cNvSpPr>
          <p:nvPr>
            <p:ph type="sldNum" sz="quarter" idx="5"/>
          </p:nvPr>
        </p:nvSpPr>
        <p:spPr>
          <a:noFill/>
        </p:spPr>
        <p:txBody>
          <a:bodyPr/>
          <a:lstStyle/>
          <a:p>
            <a:fld id="{FD208FD9-8CE8-450E-9D28-F0BF63FCA184}" type="slidenum">
              <a:rPr lang="en-US" smtClean="0">
                <a:cs typeface="Arial" charset="0"/>
              </a:rPr>
              <a:pPr/>
              <a:t>3</a:t>
            </a:fld>
            <a:endParaRPr lang="en-US" smtClean="0">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26626" name="Rectangle 7"/>
          <p:cNvSpPr>
            <a:spLocks noGrp="1" noChangeArrowheads="1"/>
          </p:cNvSpPr>
          <p:nvPr>
            <p:ph type="sldNum" sz="quarter" idx="5"/>
          </p:nvPr>
        </p:nvSpPr>
        <p:spPr>
          <a:noFill/>
        </p:spPr>
        <p:txBody>
          <a:bodyPr/>
          <a:lstStyle/>
          <a:p>
            <a:fld id="{2E08143D-8BAF-4222-A40B-44DD2BA6B1A5}" type="slidenum">
              <a:rPr lang="en-US" smtClean="0">
                <a:cs typeface="Arial" charset="0"/>
              </a:rPr>
              <a:pPr/>
              <a:t>7</a:t>
            </a:fld>
            <a:endParaRPr lang="en-US" smtClean="0">
              <a:cs typeface="Arial" charset="0"/>
            </a:endParaRPr>
          </a:p>
        </p:txBody>
      </p:sp>
      <p:sp>
        <p:nvSpPr>
          <p:cNvPr id="26627" name="Rectangle 6"/>
          <p:cNvSpPr txBox="1">
            <a:spLocks noGrp="1" noChangeArrowheads="1"/>
          </p:cNvSpPr>
          <p:nvPr/>
        </p:nvSpPr>
        <p:spPr bwMode="auto">
          <a:xfrm>
            <a:off x="0" y="8829675"/>
            <a:ext cx="2971800" cy="465138"/>
          </a:xfrm>
          <a:prstGeom prst="rect">
            <a:avLst/>
          </a:prstGeom>
          <a:noFill/>
          <a:ln w="9525">
            <a:noFill/>
            <a:miter lim="800000"/>
            <a:headEnd/>
            <a:tailEnd/>
          </a:ln>
        </p:spPr>
        <p:txBody>
          <a:bodyPr lIns="91276" tIns="45639" rIns="91276" bIns="45639" anchor="b"/>
          <a:lstStyle/>
          <a:p>
            <a:pPr defTabSz="912813"/>
            <a:r>
              <a:rPr lang="en-US" sz="1200">
                <a:latin typeface="Arial" charset="0"/>
              </a:rPr>
              <a:t>Georgia Professional Standards Commission</a:t>
            </a:r>
          </a:p>
        </p:txBody>
      </p:sp>
      <p:sp>
        <p:nvSpPr>
          <p:cNvPr id="26628" name="Rectangle 7"/>
          <p:cNvSpPr txBox="1">
            <a:spLocks noGrp="1" noChangeArrowheads="1"/>
          </p:cNvSpPr>
          <p:nvPr/>
        </p:nvSpPr>
        <p:spPr bwMode="auto">
          <a:xfrm>
            <a:off x="3884613" y="8829675"/>
            <a:ext cx="2971800" cy="465138"/>
          </a:xfrm>
          <a:prstGeom prst="rect">
            <a:avLst/>
          </a:prstGeom>
          <a:noFill/>
          <a:ln w="9525">
            <a:noFill/>
            <a:miter lim="800000"/>
            <a:headEnd/>
            <a:tailEnd/>
          </a:ln>
        </p:spPr>
        <p:txBody>
          <a:bodyPr lIns="91276" tIns="45639" rIns="91276" bIns="45639" anchor="b"/>
          <a:lstStyle/>
          <a:p>
            <a:pPr algn="r" defTabSz="912813"/>
            <a:fld id="{6BC4E0FF-C5C9-4533-8F05-14C1C2ABCFB9}" type="slidenum">
              <a:rPr lang="en-US" sz="1200">
                <a:latin typeface="Arial" charset="0"/>
              </a:rPr>
              <a:pPr algn="r" defTabSz="912813"/>
              <a:t>7</a:t>
            </a:fld>
            <a:endParaRPr lang="en-US" sz="1200">
              <a:latin typeface="Arial" charset="0"/>
            </a:endParaRPr>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28674" name="Rectangle 7"/>
          <p:cNvSpPr>
            <a:spLocks noGrp="1" noChangeArrowheads="1"/>
          </p:cNvSpPr>
          <p:nvPr>
            <p:ph type="sldNum" sz="quarter" idx="5"/>
          </p:nvPr>
        </p:nvSpPr>
        <p:spPr>
          <a:noFill/>
        </p:spPr>
        <p:txBody>
          <a:bodyPr/>
          <a:lstStyle/>
          <a:p>
            <a:fld id="{87A2570D-1B06-45B3-BB01-59F490B93330}" type="slidenum">
              <a:rPr lang="en-US" smtClean="0">
                <a:cs typeface="Arial" charset="0"/>
              </a:rPr>
              <a:pPr/>
              <a:t>8</a:t>
            </a:fld>
            <a:endParaRPr lang="en-US" smtClean="0">
              <a:cs typeface="Arial"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44034" name="Rectangle 7"/>
          <p:cNvSpPr>
            <a:spLocks noGrp="1" noChangeArrowheads="1"/>
          </p:cNvSpPr>
          <p:nvPr>
            <p:ph type="sldNum" sz="quarter" idx="5"/>
          </p:nvPr>
        </p:nvSpPr>
        <p:spPr>
          <a:noFill/>
        </p:spPr>
        <p:txBody>
          <a:bodyPr/>
          <a:lstStyle/>
          <a:p>
            <a:fld id="{460583CA-E05D-440C-B47E-BA5EA3804E86}" type="slidenum">
              <a:rPr lang="en-US" smtClean="0">
                <a:cs typeface="Arial" charset="0"/>
              </a:rPr>
              <a:pPr/>
              <a:t>22</a:t>
            </a:fld>
            <a:endParaRPr lang="en-US" smtClean="0">
              <a:cs typeface="Arial" charset="0"/>
            </a:endParaRPr>
          </a:p>
        </p:txBody>
      </p:sp>
      <p:sp>
        <p:nvSpPr>
          <p:cNvPr id="44035" name="Rectangle 6"/>
          <p:cNvSpPr txBox="1">
            <a:spLocks noGrp="1" noChangeArrowheads="1"/>
          </p:cNvSpPr>
          <p:nvPr/>
        </p:nvSpPr>
        <p:spPr bwMode="auto">
          <a:xfrm>
            <a:off x="0" y="8829675"/>
            <a:ext cx="2971800" cy="465138"/>
          </a:xfrm>
          <a:prstGeom prst="rect">
            <a:avLst/>
          </a:prstGeom>
          <a:noFill/>
          <a:ln w="9525">
            <a:noFill/>
            <a:miter lim="800000"/>
            <a:headEnd/>
            <a:tailEnd/>
          </a:ln>
        </p:spPr>
        <p:txBody>
          <a:bodyPr lIns="91276" tIns="45639" rIns="91276" bIns="45639" anchor="b"/>
          <a:lstStyle/>
          <a:p>
            <a:pPr defTabSz="912813"/>
            <a:r>
              <a:rPr lang="en-US" sz="1200">
                <a:latin typeface="Arial" charset="0"/>
              </a:rPr>
              <a:t>Georgia Professional Standards Commission</a:t>
            </a:r>
          </a:p>
        </p:txBody>
      </p:sp>
      <p:sp>
        <p:nvSpPr>
          <p:cNvPr id="44036" name="Rectangle 7"/>
          <p:cNvSpPr txBox="1">
            <a:spLocks noGrp="1" noChangeArrowheads="1"/>
          </p:cNvSpPr>
          <p:nvPr/>
        </p:nvSpPr>
        <p:spPr bwMode="auto">
          <a:xfrm>
            <a:off x="3884613" y="8829675"/>
            <a:ext cx="2971800" cy="465138"/>
          </a:xfrm>
          <a:prstGeom prst="rect">
            <a:avLst/>
          </a:prstGeom>
          <a:noFill/>
          <a:ln w="9525">
            <a:noFill/>
            <a:miter lim="800000"/>
            <a:headEnd/>
            <a:tailEnd/>
          </a:ln>
        </p:spPr>
        <p:txBody>
          <a:bodyPr lIns="91276" tIns="45639" rIns="91276" bIns="45639" anchor="b"/>
          <a:lstStyle/>
          <a:p>
            <a:pPr algn="r" defTabSz="912813"/>
            <a:fld id="{9F515FB8-6D8F-44E1-BFDF-1381550F1716}" type="slidenum">
              <a:rPr lang="en-US" sz="1200">
                <a:latin typeface="Arial" charset="0"/>
              </a:rPr>
              <a:pPr algn="r" defTabSz="912813"/>
              <a:t>22</a:t>
            </a:fld>
            <a:endParaRPr lang="en-US" sz="1200">
              <a:latin typeface="Arial" charset="0"/>
            </a:endParaRPr>
          </a:p>
        </p:txBody>
      </p:sp>
      <p:sp>
        <p:nvSpPr>
          <p:cNvPr id="44037" name="Rectangle 2"/>
          <p:cNvSpPr>
            <a:spLocks noGrp="1" noRot="1" noChangeAspect="1" noChangeArrowheads="1" noTextEdit="1"/>
          </p:cNvSpPr>
          <p:nvPr>
            <p:ph type="sldImg"/>
          </p:nvPr>
        </p:nvSpPr>
        <p:spPr>
          <a:ln/>
        </p:spPr>
      </p:sp>
      <p:sp>
        <p:nvSpPr>
          <p:cNvPr id="44038"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46082" name="Rectangle 7"/>
          <p:cNvSpPr>
            <a:spLocks noGrp="1" noChangeArrowheads="1"/>
          </p:cNvSpPr>
          <p:nvPr>
            <p:ph type="sldNum" sz="quarter" idx="5"/>
          </p:nvPr>
        </p:nvSpPr>
        <p:spPr>
          <a:noFill/>
        </p:spPr>
        <p:txBody>
          <a:bodyPr/>
          <a:lstStyle/>
          <a:p>
            <a:fld id="{BBBF5D05-AB37-47D9-BF7C-5282F4D43535}" type="slidenum">
              <a:rPr lang="en-US" smtClean="0">
                <a:cs typeface="Arial" charset="0"/>
              </a:rPr>
              <a:pPr/>
              <a:t>23</a:t>
            </a:fld>
            <a:endParaRPr lang="en-US" smtClean="0">
              <a:cs typeface="Arial"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48130" name="Rectangle 7"/>
          <p:cNvSpPr>
            <a:spLocks noGrp="1" noChangeArrowheads="1"/>
          </p:cNvSpPr>
          <p:nvPr>
            <p:ph type="sldNum" sz="quarter" idx="5"/>
          </p:nvPr>
        </p:nvSpPr>
        <p:spPr>
          <a:noFill/>
        </p:spPr>
        <p:txBody>
          <a:bodyPr/>
          <a:lstStyle/>
          <a:p>
            <a:fld id="{3332281B-955B-4499-81ED-6A0FE396AC78}" type="slidenum">
              <a:rPr lang="en-US" smtClean="0">
                <a:cs typeface="Arial" charset="0"/>
              </a:rPr>
              <a:pPr/>
              <a:t>24</a:t>
            </a:fld>
            <a:endParaRPr lang="en-US" smtClean="0">
              <a:cs typeface="Arial" charset="0"/>
            </a:endParaRPr>
          </a:p>
        </p:txBody>
      </p:sp>
      <p:sp>
        <p:nvSpPr>
          <p:cNvPr id="48131" name="Rectangle 6"/>
          <p:cNvSpPr txBox="1">
            <a:spLocks noGrp="1" noChangeArrowheads="1"/>
          </p:cNvSpPr>
          <p:nvPr/>
        </p:nvSpPr>
        <p:spPr bwMode="auto">
          <a:xfrm>
            <a:off x="0" y="8829675"/>
            <a:ext cx="2971800" cy="465138"/>
          </a:xfrm>
          <a:prstGeom prst="rect">
            <a:avLst/>
          </a:prstGeom>
          <a:noFill/>
          <a:ln w="9525">
            <a:noFill/>
            <a:miter lim="800000"/>
            <a:headEnd/>
            <a:tailEnd/>
          </a:ln>
        </p:spPr>
        <p:txBody>
          <a:bodyPr lIns="91276" tIns="45639" rIns="91276" bIns="45639" anchor="b"/>
          <a:lstStyle/>
          <a:p>
            <a:pPr defTabSz="912813"/>
            <a:r>
              <a:rPr lang="en-US" sz="1200">
                <a:latin typeface="Arial" charset="0"/>
              </a:rPr>
              <a:t>Georgia Professional Standards Commission</a:t>
            </a:r>
          </a:p>
        </p:txBody>
      </p:sp>
      <p:sp>
        <p:nvSpPr>
          <p:cNvPr id="48132" name="Rectangle 7"/>
          <p:cNvSpPr txBox="1">
            <a:spLocks noGrp="1" noChangeArrowheads="1"/>
          </p:cNvSpPr>
          <p:nvPr/>
        </p:nvSpPr>
        <p:spPr bwMode="auto">
          <a:xfrm>
            <a:off x="3884613" y="8829675"/>
            <a:ext cx="2971800" cy="465138"/>
          </a:xfrm>
          <a:prstGeom prst="rect">
            <a:avLst/>
          </a:prstGeom>
          <a:noFill/>
          <a:ln w="9525">
            <a:noFill/>
            <a:miter lim="800000"/>
            <a:headEnd/>
            <a:tailEnd/>
          </a:ln>
        </p:spPr>
        <p:txBody>
          <a:bodyPr lIns="91276" tIns="45639" rIns="91276" bIns="45639" anchor="b"/>
          <a:lstStyle/>
          <a:p>
            <a:pPr algn="r" defTabSz="912813"/>
            <a:fld id="{C50CB864-2532-4617-95BF-F00C0E34596D}" type="slidenum">
              <a:rPr lang="en-US" sz="1200">
                <a:latin typeface="Arial" charset="0"/>
              </a:rPr>
              <a:pPr algn="r" defTabSz="912813"/>
              <a:t>24</a:t>
            </a:fld>
            <a:endParaRPr lang="en-US" sz="1200">
              <a:latin typeface="Arial" charset="0"/>
            </a:endParaRPr>
          </a:p>
        </p:txBody>
      </p:sp>
      <p:sp>
        <p:nvSpPr>
          <p:cNvPr id="48133" name="Rectangle 2"/>
          <p:cNvSpPr>
            <a:spLocks noGrp="1" noRot="1" noChangeAspect="1" noChangeArrowheads="1" noTextEdit="1"/>
          </p:cNvSpPr>
          <p:nvPr>
            <p:ph type="sldImg"/>
          </p:nvPr>
        </p:nvSpPr>
        <p:spPr>
          <a:ln/>
        </p:spPr>
      </p:sp>
      <p:sp>
        <p:nvSpPr>
          <p:cNvPr id="48134" name="Rectangle 3"/>
          <p:cNvSpPr>
            <a:spLocks noGrp="1" noChangeArrowheads="1"/>
          </p:cNvSpPr>
          <p:nvPr>
            <p:ph type="body" idx="1"/>
          </p:nvPr>
        </p:nvSpPr>
        <p:spPr>
          <a:noFill/>
          <a:ln/>
        </p:spPr>
        <p:txBody>
          <a:bodyPr/>
          <a:lstStyle/>
          <a:p>
            <a:pPr eaLnBrk="1" hangingPunct="1"/>
            <a:r>
              <a:rPr lang="en-US" smtClean="0"/>
              <a:t>There are several definitions at the beginning of the code.</a:t>
            </a:r>
          </a:p>
          <a:p>
            <a:pPr eaLnBrk="1" hangingPunct="1"/>
            <a:endParaRPr lang="en-US" smtClean="0"/>
          </a:p>
          <a:p>
            <a:pPr eaLnBrk="1" hangingPunct="1"/>
            <a:r>
              <a:rPr lang="en-US" smtClean="0"/>
              <a:t>A student is any individual enrolled in GA’s private or public schools from preschool through grade 12 or any individual between and including the ages of 3 and 17.  An 18-year-old who is enrolled in school is a student.  A 17-year old who has graduated is a student. </a:t>
            </a:r>
          </a:p>
          <a:p>
            <a:pPr eaLnBrk="1" hangingPunct="1"/>
            <a:endParaRPr lang="en-US" smtClean="0"/>
          </a:p>
          <a:p>
            <a:pPr eaLnBrk="1" hangingPunct="1"/>
            <a:r>
              <a:rPr lang="en-US" smtClean="0"/>
              <a:t>Please emphasize with educators that it is not permissible to have a relationship with any student anywhere.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50178" name="Rectangle 7"/>
          <p:cNvSpPr>
            <a:spLocks noGrp="1" noChangeArrowheads="1"/>
          </p:cNvSpPr>
          <p:nvPr>
            <p:ph type="sldNum" sz="quarter" idx="5"/>
          </p:nvPr>
        </p:nvSpPr>
        <p:spPr>
          <a:noFill/>
        </p:spPr>
        <p:txBody>
          <a:bodyPr/>
          <a:lstStyle/>
          <a:p>
            <a:fld id="{B72ABB53-4F9D-430B-BDB1-52E7173035C9}" type="slidenum">
              <a:rPr lang="en-US" smtClean="0">
                <a:cs typeface="Arial" charset="0"/>
              </a:rPr>
              <a:pPr/>
              <a:t>25</a:t>
            </a:fld>
            <a:endParaRPr lang="en-US" smtClean="0">
              <a:cs typeface="Arial" charset="0"/>
            </a:endParaRPr>
          </a:p>
        </p:txBody>
      </p:sp>
      <p:sp>
        <p:nvSpPr>
          <p:cNvPr id="50179" name="Rectangle 6"/>
          <p:cNvSpPr txBox="1">
            <a:spLocks noGrp="1" noChangeArrowheads="1"/>
          </p:cNvSpPr>
          <p:nvPr/>
        </p:nvSpPr>
        <p:spPr bwMode="auto">
          <a:xfrm>
            <a:off x="0" y="8829675"/>
            <a:ext cx="2971800" cy="465138"/>
          </a:xfrm>
          <a:prstGeom prst="rect">
            <a:avLst/>
          </a:prstGeom>
          <a:noFill/>
          <a:ln w="9525">
            <a:noFill/>
            <a:miter lim="800000"/>
            <a:headEnd/>
            <a:tailEnd/>
          </a:ln>
        </p:spPr>
        <p:txBody>
          <a:bodyPr lIns="91276" tIns="45639" rIns="91276" bIns="45639" anchor="b"/>
          <a:lstStyle/>
          <a:p>
            <a:pPr defTabSz="912813"/>
            <a:r>
              <a:rPr lang="en-US" sz="1200">
                <a:latin typeface="Arial" charset="0"/>
              </a:rPr>
              <a:t>Georgia Professional Standards Commission</a:t>
            </a:r>
          </a:p>
        </p:txBody>
      </p:sp>
      <p:sp>
        <p:nvSpPr>
          <p:cNvPr id="50180" name="Rectangle 7"/>
          <p:cNvSpPr txBox="1">
            <a:spLocks noGrp="1" noChangeArrowheads="1"/>
          </p:cNvSpPr>
          <p:nvPr/>
        </p:nvSpPr>
        <p:spPr bwMode="auto">
          <a:xfrm>
            <a:off x="3884613" y="8829675"/>
            <a:ext cx="2971800" cy="465138"/>
          </a:xfrm>
          <a:prstGeom prst="rect">
            <a:avLst/>
          </a:prstGeom>
          <a:noFill/>
          <a:ln w="9525">
            <a:noFill/>
            <a:miter lim="800000"/>
            <a:headEnd/>
            <a:tailEnd/>
          </a:ln>
        </p:spPr>
        <p:txBody>
          <a:bodyPr lIns="91276" tIns="45639" rIns="91276" bIns="45639" anchor="b"/>
          <a:lstStyle/>
          <a:p>
            <a:pPr algn="r" defTabSz="912813"/>
            <a:fld id="{A3D080CB-F41A-4E5E-A40C-7FB84DD74637}" type="slidenum">
              <a:rPr lang="en-US" sz="1200">
                <a:latin typeface="Arial" charset="0"/>
              </a:rPr>
              <a:pPr algn="r" defTabSz="912813"/>
              <a:t>25</a:t>
            </a:fld>
            <a:endParaRPr lang="en-US" sz="1200">
              <a:latin typeface="Arial" charset="0"/>
            </a:endParaRPr>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noFill/>
          <a:ln/>
        </p:spPr>
        <p:txBody>
          <a:bodyPr/>
          <a:lstStyle/>
          <a:p>
            <a:pPr eaLnBrk="1" hangingPunct="1"/>
            <a:r>
              <a:rPr lang="en-US" smtClean="0"/>
              <a:t>There are several definitions at the beginning of the code.</a:t>
            </a:r>
          </a:p>
          <a:p>
            <a:pPr eaLnBrk="1" hangingPunct="1"/>
            <a:endParaRPr lang="en-US" smtClean="0"/>
          </a:p>
          <a:p>
            <a:pPr eaLnBrk="1" hangingPunct="1"/>
            <a:r>
              <a:rPr lang="en-US" smtClean="0"/>
              <a:t>A student is any individual enrolled in GA’s private or public schools from preschool through grade 12 or any individual between and including the ages of 3 and 17.  An 18-year-old who is enrolled in school is a student.  A 17-year old who has graduated is a student. </a:t>
            </a:r>
          </a:p>
          <a:p>
            <a:pPr eaLnBrk="1" hangingPunct="1"/>
            <a:endParaRPr lang="en-US" smtClean="0"/>
          </a:p>
          <a:p>
            <a:pPr eaLnBrk="1" hangingPunct="1"/>
            <a:r>
              <a:rPr lang="en-US" smtClean="0"/>
              <a:t>Please emphasize with educators that it is not permissible to have a relationship with any student anywhere.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72706" name="Rectangle 7"/>
          <p:cNvSpPr>
            <a:spLocks noGrp="1" noChangeArrowheads="1"/>
          </p:cNvSpPr>
          <p:nvPr>
            <p:ph type="sldNum" sz="quarter" idx="5"/>
          </p:nvPr>
        </p:nvSpPr>
        <p:spPr>
          <a:noFill/>
        </p:spPr>
        <p:txBody>
          <a:bodyPr/>
          <a:lstStyle/>
          <a:p>
            <a:fld id="{51B36D6F-A25B-4345-AEE9-52A23F2DF6B3}" type="slidenum">
              <a:rPr lang="en-US" smtClean="0">
                <a:cs typeface="Arial" charset="0"/>
              </a:rPr>
              <a:pPr/>
              <a:t>41</a:t>
            </a:fld>
            <a:endParaRPr lang="en-US" smtClean="0">
              <a:cs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74754" name="Rectangle 7"/>
          <p:cNvSpPr>
            <a:spLocks noGrp="1" noChangeArrowheads="1"/>
          </p:cNvSpPr>
          <p:nvPr>
            <p:ph type="sldNum" sz="quarter" idx="5"/>
          </p:nvPr>
        </p:nvSpPr>
        <p:spPr>
          <a:noFill/>
        </p:spPr>
        <p:txBody>
          <a:bodyPr/>
          <a:lstStyle/>
          <a:p>
            <a:fld id="{7FD5C230-D9F2-4CDF-A649-D5F70C5AA74C}" type="slidenum">
              <a:rPr lang="en-US" smtClean="0">
                <a:cs typeface="Arial" charset="0"/>
              </a:rPr>
              <a:pPr/>
              <a:t>42</a:t>
            </a:fld>
            <a:endParaRPr lang="en-US" smtClean="0">
              <a:cs typeface="Arial"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77826" name="Rectangle 7"/>
          <p:cNvSpPr>
            <a:spLocks noGrp="1" noChangeArrowheads="1"/>
          </p:cNvSpPr>
          <p:nvPr>
            <p:ph type="sldNum" sz="quarter" idx="5"/>
          </p:nvPr>
        </p:nvSpPr>
        <p:spPr>
          <a:noFill/>
        </p:spPr>
        <p:txBody>
          <a:bodyPr/>
          <a:lstStyle/>
          <a:p>
            <a:fld id="{7B592212-A8BF-4FE0-B776-C32ADEFC02BF}" type="slidenum">
              <a:rPr lang="en-US" smtClean="0">
                <a:cs typeface="Arial" charset="0"/>
              </a:rPr>
              <a:pPr/>
              <a:t>44</a:t>
            </a:fld>
            <a:endParaRPr lang="en-US" smtClean="0">
              <a:cs typeface="Arial"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Georgia Professional Standards Commission</a:t>
            </a:r>
          </a:p>
        </p:txBody>
      </p:sp>
      <p:sp>
        <p:nvSpPr>
          <p:cNvPr id="5" name="Rectangle 7"/>
          <p:cNvSpPr>
            <a:spLocks noGrp="1" noChangeArrowheads="1"/>
          </p:cNvSpPr>
          <p:nvPr>
            <p:ph type="sldNum" sz="quarter" idx="5"/>
          </p:nvPr>
        </p:nvSpPr>
        <p:spPr/>
        <p:txBody>
          <a:bodyPr/>
          <a:lstStyle/>
          <a:p>
            <a:pPr>
              <a:defRPr/>
            </a:pPr>
            <a:fld id="{7F67B9AE-4E58-4CBC-9FCE-A9125DF013E2}" type="slidenum">
              <a:rPr lang="en-US"/>
              <a:pPr>
                <a:defRPr/>
              </a:pPr>
              <a:t>55</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98306" name="Rectangle 7"/>
          <p:cNvSpPr>
            <a:spLocks noGrp="1" noChangeArrowheads="1"/>
          </p:cNvSpPr>
          <p:nvPr>
            <p:ph type="sldNum" sz="quarter" idx="5"/>
          </p:nvPr>
        </p:nvSpPr>
        <p:spPr>
          <a:noFill/>
        </p:spPr>
        <p:txBody>
          <a:bodyPr/>
          <a:lstStyle/>
          <a:p>
            <a:fld id="{12DD6B16-8A20-49D0-A3BC-05CD70CE5237}" type="slidenum">
              <a:rPr lang="en-US" smtClean="0">
                <a:cs typeface="Arial" charset="0"/>
              </a:rPr>
              <a:pPr/>
              <a:t>56</a:t>
            </a:fld>
            <a:endParaRPr lang="en-US" smtClean="0">
              <a:cs typeface="Arial"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00354" name="Rectangle 7"/>
          <p:cNvSpPr>
            <a:spLocks noGrp="1" noChangeArrowheads="1"/>
          </p:cNvSpPr>
          <p:nvPr>
            <p:ph type="sldNum" sz="quarter" idx="5"/>
          </p:nvPr>
        </p:nvSpPr>
        <p:spPr>
          <a:noFill/>
        </p:spPr>
        <p:txBody>
          <a:bodyPr/>
          <a:lstStyle/>
          <a:p>
            <a:fld id="{01F4C7EA-D735-40C9-B1DA-D0912E336D79}" type="slidenum">
              <a:rPr lang="en-US" smtClean="0">
                <a:cs typeface="Arial" charset="0"/>
              </a:rPr>
              <a:pPr/>
              <a:t>57</a:t>
            </a:fld>
            <a:endParaRPr lang="en-US" smtClean="0">
              <a:cs typeface="Arial"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24930" name="Rectangle 7"/>
          <p:cNvSpPr>
            <a:spLocks noGrp="1" noChangeArrowheads="1"/>
          </p:cNvSpPr>
          <p:nvPr>
            <p:ph type="sldNum" sz="quarter" idx="5"/>
          </p:nvPr>
        </p:nvSpPr>
        <p:spPr>
          <a:noFill/>
        </p:spPr>
        <p:txBody>
          <a:bodyPr/>
          <a:lstStyle/>
          <a:p>
            <a:fld id="{A27D54FA-263B-4D6B-8BF6-FD6C669A0DF3}" type="slidenum">
              <a:rPr lang="en-US" smtClean="0">
                <a:cs typeface="Arial" charset="0"/>
              </a:rPr>
              <a:pPr/>
              <a:t>70</a:t>
            </a:fld>
            <a:endParaRPr lang="en-US" smtClean="0">
              <a:cs typeface="Arial"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26978" name="Rectangle 7"/>
          <p:cNvSpPr>
            <a:spLocks noGrp="1" noChangeArrowheads="1"/>
          </p:cNvSpPr>
          <p:nvPr>
            <p:ph type="sldNum" sz="quarter" idx="5"/>
          </p:nvPr>
        </p:nvSpPr>
        <p:spPr>
          <a:noFill/>
        </p:spPr>
        <p:txBody>
          <a:bodyPr/>
          <a:lstStyle/>
          <a:p>
            <a:fld id="{8AD4DBEB-299F-4C60-BAA2-B66F170398AD}" type="slidenum">
              <a:rPr lang="en-US" smtClean="0">
                <a:cs typeface="Arial" charset="0"/>
              </a:rPr>
              <a:pPr/>
              <a:t>71</a:t>
            </a:fld>
            <a:endParaRPr lang="en-US" smtClean="0">
              <a:cs typeface="Arial"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46434" name="Rectangle 7"/>
          <p:cNvSpPr>
            <a:spLocks noGrp="1" noChangeArrowheads="1"/>
          </p:cNvSpPr>
          <p:nvPr>
            <p:ph type="sldNum" sz="quarter" idx="5"/>
          </p:nvPr>
        </p:nvSpPr>
        <p:spPr>
          <a:noFill/>
        </p:spPr>
        <p:txBody>
          <a:bodyPr/>
          <a:lstStyle/>
          <a:p>
            <a:fld id="{BF2BBDEF-C903-42E7-AA43-27A792D8D2EF}" type="slidenum">
              <a:rPr lang="en-US" smtClean="0">
                <a:cs typeface="Arial" charset="0"/>
              </a:rPr>
              <a:pPr/>
              <a:t>79</a:t>
            </a:fld>
            <a:endParaRPr lang="en-US" smtClean="0">
              <a:cs typeface="Arial"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48482" name="Rectangle 7"/>
          <p:cNvSpPr>
            <a:spLocks noGrp="1" noChangeArrowheads="1"/>
          </p:cNvSpPr>
          <p:nvPr>
            <p:ph type="sldNum" sz="quarter" idx="5"/>
          </p:nvPr>
        </p:nvSpPr>
        <p:spPr>
          <a:noFill/>
        </p:spPr>
        <p:txBody>
          <a:bodyPr/>
          <a:lstStyle/>
          <a:p>
            <a:fld id="{BE3B3D3B-107C-45A6-9B47-A3464C55970C}" type="slidenum">
              <a:rPr lang="en-US" smtClean="0">
                <a:cs typeface="Arial" charset="0"/>
              </a:rPr>
              <a:pPr/>
              <a:t>80</a:t>
            </a:fld>
            <a:endParaRPr lang="en-US" smtClean="0">
              <a:cs typeface="Arial" charset="0"/>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Georgia Professional Standards Commission</a:t>
            </a:r>
          </a:p>
        </p:txBody>
      </p:sp>
      <p:sp>
        <p:nvSpPr>
          <p:cNvPr id="5" name="Rectangle 7"/>
          <p:cNvSpPr>
            <a:spLocks noGrp="1" noChangeArrowheads="1"/>
          </p:cNvSpPr>
          <p:nvPr>
            <p:ph type="sldNum" sz="quarter" idx="5"/>
          </p:nvPr>
        </p:nvSpPr>
        <p:spPr/>
        <p:txBody>
          <a:bodyPr/>
          <a:lstStyle/>
          <a:p>
            <a:pPr>
              <a:defRPr/>
            </a:pPr>
            <a:fld id="{40BA05A1-7A80-4E35-B6E9-0F6B7FD7FF8B}" type="slidenum">
              <a:rPr lang="en-US"/>
              <a:pPr>
                <a:defRPr/>
              </a:pPr>
              <a:t>82</a:t>
            </a:fld>
            <a:endParaRPr lang="en-US"/>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53602" name="Rectangle 7"/>
          <p:cNvSpPr>
            <a:spLocks noGrp="1" noChangeArrowheads="1"/>
          </p:cNvSpPr>
          <p:nvPr>
            <p:ph type="sldNum" sz="quarter" idx="5"/>
          </p:nvPr>
        </p:nvSpPr>
        <p:spPr>
          <a:noFill/>
        </p:spPr>
        <p:txBody>
          <a:bodyPr/>
          <a:lstStyle/>
          <a:p>
            <a:fld id="{FC1F5B3C-FB92-4974-8340-168B0BA15C73}" type="slidenum">
              <a:rPr lang="en-US" smtClean="0">
                <a:cs typeface="Arial" charset="0"/>
              </a:rPr>
              <a:pPr/>
              <a:t>83</a:t>
            </a:fld>
            <a:endParaRPr lang="en-US" smtClean="0">
              <a:cs typeface="Arial"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55650" name="Rectangle 7"/>
          <p:cNvSpPr>
            <a:spLocks noGrp="1" noChangeArrowheads="1"/>
          </p:cNvSpPr>
          <p:nvPr>
            <p:ph type="sldNum" sz="quarter" idx="5"/>
          </p:nvPr>
        </p:nvSpPr>
        <p:spPr>
          <a:noFill/>
        </p:spPr>
        <p:txBody>
          <a:bodyPr/>
          <a:lstStyle/>
          <a:p>
            <a:fld id="{73DDC2DA-6D66-4E98-B94C-BEDE9759F29B}" type="slidenum">
              <a:rPr lang="en-US" smtClean="0">
                <a:cs typeface="Arial" charset="0"/>
              </a:rPr>
              <a:pPr/>
              <a:t>84</a:t>
            </a:fld>
            <a:endParaRPr lang="en-US" smtClean="0">
              <a:cs typeface="Arial"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58722" name="Rectangle 7"/>
          <p:cNvSpPr>
            <a:spLocks noGrp="1" noChangeArrowheads="1"/>
          </p:cNvSpPr>
          <p:nvPr>
            <p:ph type="sldNum" sz="quarter" idx="5"/>
          </p:nvPr>
        </p:nvSpPr>
        <p:spPr>
          <a:noFill/>
        </p:spPr>
        <p:txBody>
          <a:bodyPr/>
          <a:lstStyle/>
          <a:p>
            <a:fld id="{C0E00D3D-7CC4-4B5C-85C5-2CEE3AA2B98B}" type="slidenum">
              <a:rPr lang="en-US" smtClean="0">
                <a:cs typeface="Arial" charset="0"/>
              </a:rPr>
              <a:pPr/>
              <a:t>86</a:t>
            </a:fld>
            <a:endParaRPr lang="en-US" smtClean="0">
              <a:cs typeface="Arial" charset="0"/>
            </a:endParaRP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6"/>
          <p:cNvSpPr txBox="1">
            <a:spLocks noGrp="1" noChangeArrowheads="1"/>
          </p:cNvSpPr>
          <p:nvPr/>
        </p:nvSpPr>
        <p:spPr bwMode="auto">
          <a:xfrm>
            <a:off x="0" y="8829675"/>
            <a:ext cx="2971800" cy="465138"/>
          </a:xfrm>
          <a:prstGeom prst="rect">
            <a:avLst/>
          </a:prstGeom>
          <a:noFill/>
          <a:ln w="9525">
            <a:noFill/>
            <a:miter lim="800000"/>
            <a:headEnd/>
            <a:tailEnd/>
          </a:ln>
        </p:spPr>
        <p:txBody>
          <a:bodyPr lIns="91276" tIns="45639" rIns="91276" bIns="45639" anchor="b"/>
          <a:lstStyle/>
          <a:p>
            <a:pPr defTabSz="912813"/>
            <a:r>
              <a:rPr lang="en-US" sz="1200" b="0">
                <a:latin typeface="Arial" charset="0"/>
              </a:rPr>
              <a:t>Georgia Professional Standards Commission</a:t>
            </a:r>
          </a:p>
        </p:txBody>
      </p:sp>
      <p:sp>
        <p:nvSpPr>
          <p:cNvPr id="196611" name="Rectangle 7"/>
          <p:cNvSpPr txBox="1">
            <a:spLocks noGrp="1" noChangeArrowheads="1"/>
          </p:cNvSpPr>
          <p:nvPr/>
        </p:nvSpPr>
        <p:spPr bwMode="auto">
          <a:xfrm>
            <a:off x="3884613" y="8829675"/>
            <a:ext cx="2971800" cy="465138"/>
          </a:xfrm>
          <a:prstGeom prst="rect">
            <a:avLst/>
          </a:prstGeom>
          <a:noFill/>
          <a:ln w="9525">
            <a:noFill/>
            <a:miter lim="800000"/>
            <a:headEnd/>
            <a:tailEnd/>
          </a:ln>
        </p:spPr>
        <p:txBody>
          <a:bodyPr lIns="91276" tIns="45639" rIns="91276" bIns="45639" anchor="b"/>
          <a:lstStyle/>
          <a:p>
            <a:pPr algn="r" defTabSz="912813"/>
            <a:fld id="{80DAE7E6-3F0F-45CA-8E40-6858027ADF78}" type="slidenum">
              <a:rPr lang="en-US" sz="1200" b="0">
                <a:latin typeface="Arial" charset="0"/>
              </a:rPr>
              <a:pPr algn="r" defTabSz="912813"/>
              <a:t>87</a:t>
            </a:fld>
            <a:endParaRPr lang="en-US" sz="1200" b="0">
              <a:latin typeface="Arial" charset="0"/>
            </a:endParaRPr>
          </a:p>
        </p:txBody>
      </p:sp>
      <p:sp>
        <p:nvSpPr>
          <p:cNvPr id="196612" name="Rectangle 2"/>
          <p:cNvSpPr>
            <a:spLocks noGrp="1" noRot="1" noChangeAspect="1" noChangeArrowheads="1" noTextEdit="1"/>
          </p:cNvSpPr>
          <p:nvPr>
            <p:ph type="sldImg"/>
          </p:nvPr>
        </p:nvSpPr>
        <p:spPr>
          <a:ln/>
        </p:spPr>
      </p:sp>
      <p:sp>
        <p:nvSpPr>
          <p:cNvPr id="196613"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60770" name="Rectangle 7"/>
          <p:cNvSpPr>
            <a:spLocks noGrp="1" noChangeArrowheads="1"/>
          </p:cNvSpPr>
          <p:nvPr>
            <p:ph type="sldNum" sz="quarter" idx="5"/>
          </p:nvPr>
        </p:nvSpPr>
        <p:spPr>
          <a:noFill/>
        </p:spPr>
        <p:txBody>
          <a:bodyPr/>
          <a:lstStyle/>
          <a:p>
            <a:fld id="{2E385ABD-1AE8-409B-91CF-2A41641F227C}" type="slidenum">
              <a:rPr lang="en-US" smtClean="0">
                <a:cs typeface="Arial" charset="0"/>
              </a:rPr>
              <a:pPr/>
              <a:t>88</a:t>
            </a:fld>
            <a:endParaRPr lang="en-US" smtClean="0">
              <a:cs typeface="Arial"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62818" name="Rectangle 7"/>
          <p:cNvSpPr>
            <a:spLocks noGrp="1" noChangeArrowheads="1"/>
          </p:cNvSpPr>
          <p:nvPr>
            <p:ph type="sldNum" sz="quarter" idx="5"/>
          </p:nvPr>
        </p:nvSpPr>
        <p:spPr>
          <a:noFill/>
        </p:spPr>
        <p:txBody>
          <a:bodyPr/>
          <a:lstStyle/>
          <a:p>
            <a:fld id="{C390980A-97DE-4A1C-84BC-B991CF9E5FF6}" type="slidenum">
              <a:rPr lang="en-US" smtClean="0">
                <a:cs typeface="Arial" charset="0"/>
              </a:rPr>
              <a:pPr/>
              <a:t>89</a:t>
            </a:fld>
            <a:endParaRPr lang="en-US" smtClean="0">
              <a:cs typeface="Arial" charset="0"/>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p:cNvSpPr>
            <a:spLocks noGrp="1" noRot="1" noChangeAspect="1" noChangeArrowheads="1" noTextEdit="1"/>
          </p:cNvSpPr>
          <p:nvPr>
            <p:ph type="sldImg"/>
          </p:nvPr>
        </p:nvSpPr>
        <p:spPr>
          <a:ln/>
        </p:spPr>
      </p:sp>
      <p:sp>
        <p:nvSpPr>
          <p:cNvPr id="16486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68962" name="Rectangle 7"/>
          <p:cNvSpPr>
            <a:spLocks noGrp="1" noChangeArrowheads="1"/>
          </p:cNvSpPr>
          <p:nvPr>
            <p:ph type="sldNum" sz="quarter" idx="5"/>
          </p:nvPr>
        </p:nvSpPr>
        <p:spPr>
          <a:noFill/>
        </p:spPr>
        <p:txBody>
          <a:bodyPr/>
          <a:lstStyle/>
          <a:p>
            <a:fld id="{B5D12DB0-D21A-493A-B1E9-3FF4EE41B68A}" type="slidenum">
              <a:rPr lang="en-US" smtClean="0">
                <a:cs typeface="Arial" charset="0"/>
              </a:rPr>
              <a:pPr/>
              <a:t>93</a:t>
            </a:fld>
            <a:endParaRPr lang="en-US" smtClean="0">
              <a:cs typeface="Arial" charset="0"/>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72034" name="Rectangle 7"/>
          <p:cNvSpPr>
            <a:spLocks noGrp="1" noChangeArrowheads="1"/>
          </p:cNvSpPr>
          <p:nvPr>
            <p:ph type="sldNum" sz="quarter" idx="5"/>
          </p:nvPr>
        </p:nvSpPr>
        <p:spPr>
          <a:noFill/>
        </p:spPr>
        <p:txBody>
          <a:bodyPr/>
          <a:lstStyle/>
          <a:p>
            <a:fld id="{CC21B134-EE58-40A8-B25F-BDA3C29F2F32}" type="slidenum">
              <a:rPr lang="en-US" smtClean="0">
                <a:cs typeface="Arial" charset="0"/>
              </a:rPr>
              <a:pPr/>
              <a:t>95</a:t>
            </a:fld>
            <a:endParaRPr lang="en-US" smtClean="0">
              <a:cs typeface="Arial"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74082" name="Rectangle 7"/>
          <p:cNvSpPr>
            <a:spLocks noGrp="1" noChangeArrowheads="1"/>
          </p:cNvSpPr>
          <p:nvPr>
            <p:ph type="sldNum" sz="quarter" idx="5"/>
          </p:nvPr>
        </p:nvSpPr>
        <p:spPr>
          <a:noFill/>
        </p:spPr>
        <p:txBody>
          <a:bodyPr/>
          <a:lstStyle/>
          <a:p>
            <a:fld id="{5A558CD0-C01E-4C31-B8B2-E3628E9A6E01}" type="slidenum">
              <a:rPr lang="en-US" smtClean="0">
                <a:cs typeface="Arial" charset="0"/>
              </a:rPr>
              <a:pPr/>
              <a:t>96</a:t>
            </a:fld>
            <a:endParaRPr lang="en-US" smtClean="0">
              <a:cs typeface="Arial" charset="0"/>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78178" name="Rectangle 7"/>
          <p:cNvSpPr>
            <a:spLocks noGrp="1" noChangeArrowheads="1"/>
          </p:cNvSpPr>
          <p:nvPr>
            <p:ph type="sldNum" sz="quarter" idx="5"/>
          </p:nvPr>
        </p:nvSpPr>
        <p:spPr>
          <a:noFill/>
        </p:spPr>
        <p:txBody>
          <a:bodyPr/>
          <a:lstStyle/>
          <a:p>
            <a:fld id="{4510669C-BF20-4AB6-B14D-254929AE382E}" type="slidenum">
              <a:rPr lang="en-US" smtClean="0">
                <a:cs typeface="Arial" charset="0"/>
              </a:rPr>
              <a:pPr/>
              <a:t>99</a:t>
            </a:fld>
            <a:endParaRPr lang="en-US" smtClean="0">
              <a:cs typeface="Arial" charset="0"/>
            </a:endParaRPr>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80226" name="Rectangle 7"/>
          <p:cNvSpPr>
            <a:spLocks noGrp="1" noChangeArrowheads="1"/>
          </p:cNvSpPr>
          <p:nvPr>
            <p:ph type="sldNum" sz="quarter" idx="5"/>
          </p:nvPr>
        </p:nvSpPr>
        <p:spPr>
          <a:noFill/>
        </p:spPr>
        <p:txBody>
          <a:bodyPr/>
          <a:lstStyle/>
          <a:p>
            <a:fld id="{F3CDBEF4-E271-43FF-BB02-5F714B2CFEA0}" type="slidenum">
              <a:rPr lang="en-US" smtClean="0">
                <a:cs typeface="Arial" charset="0"/>
              </a:rPr>
              <a:pPr/>
              <a:t>100</a:t>
            </a:fld>
            <a:endParaRPr lang="en-US" smtClean="0">
              <a:cs typeface="Arial" charset="0"/>
            </a:endParaRPr>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xfrm>
            <a:off x="685800" y="4416425"/>
            <a:ext cx="5575300" cy="4346575"/>
          </a:xfrm>
          <a:noFill/>
          <a:ln/>
        </p:spPr>
        <p:txBody>
          <a:bodyPr/>
          <a:lstStyle/>
          <a:p>
            <a:pPr eaLnBrk="1" hangingPunct="1"/>
            <a:r>
              <a:rPr lang="en-US" smtClean="0"/>
              <a:t>Standard Two states that an educator should always maintain a professional relationship with all students, both in and outside the classroom.</a:t>
            </a:r>
          </a:p>
          <a:p>
            <a:pPr eaLnBrk="1" hangingPunct="1"/>
            <a:endParaRPr lang="en-US" smtClean="0"/>
          </a:p>
          <a:p>
            <a:pPr eaLnBrk="1" hangingPunct="1"/>
            <a:r>
              <a:rPr lang="en-US" smtClean="0"/>
              <a:t>The first three examples in this standard would also be criminal acts and would require reporting under the statute concerning child abuse.</a:t>
            </a:r>
          </a:p>
          <a:p>
            <a:pPr eaLnBrk="1" hangingPunct="1"/>
            <a:r>
              <a:rPr lang="en-US" smtClean="0"/>
              <a:t>The fourth example relates to harassment.  Educators should never harass a student on the basis of race, gender, national origin, religion or disability.</a:t>
            </a:r>
          </a:p>
          <a:p>
            <a:pPr eaLnBrk="1" hangingPunct="1"/>
            <a:r>
              <a:rPr lang="en-US" smtClean="0"/>
              <a:t>Sarcasm is usually a deadly weapon in the hands of a teacher who has great influence in a student’s sense of self-worth.</a:t>
            </a:r>
          </a:p>
          <a:p>
            <a:pPr eaLnBrk="1" hangingPunct="1"/>
            <a:endParaRPr lang="en-US" smtClean="0"/>
          </a:p>
          <a:p>
            <a:pPr eaLnBrk="1" hangingPunct="1"/>
            <a:r>
              <a:rPr lang="en-US" smtClean="0"/>
              <a:t>The fifth example involves personal relationships with students.</a:t>
            </a:r>
          </a:p>
          <a:p>
            <a:pPr eaLnBrk="1" hangingPunct="1"/>
            <a:r>
              <a:rPr lang="en-US" smtClean="0"/>
              <a:t>Teachers should be warned about encouraging an inappropriate relationship by means of email, telephone, written messages (notes, letters, cards, etc.)</a:t>
            </a:r>
          </a:p>
          <a:p>
            <a:pPr eaLnBrk="1" hangingPunct="1"/>
            <a:r>
              <a:rPr lang="en-US" smtClean="0"/>
              <a:t>Educators should not date students .</a:t>
            </a:r>
          </a:p>
          <a:p>
            <a:pPr eaLnBrk="1" hangingPunct="1"/>
            <a:r>
              <a:rPr lang="en-US" smtClean="0"/>
              <a:t>Educators should not develop a personal relationship with students that creates an emotional dependency on the educator.</a:t>
            </a:r>
          </a:p>
          <a:p>
            <a:pPr eaLnBrk="1" hangingPunct="1"/>
            <a:endParaRPr lang="en-US" smtClean="0"/>
          </a:p>
          <a:p>
            <a:pPr eaLnBrk="1" hangingPunct="1"/>
            <a:r>
              <a:rPr lang="en-US" smtClean="0"/>
              <a:t>Educators should not furnish or allow a student to consume alcohol, illegal or unauthorized drugs.  Educators should not furnish tobacco to students. </a:t>
            </a:r>
          </a:p>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6"/>
          <p:cNvSpPr>
            <a:spLocks noGrp="1" noChangeArrowheads="1"/>
          </p:cNvSpPr>
          <p:nvPr>
            <p:ph type="ftr" sz="quarter" idx="4"/>
          </p:nvPr>
        </p:nvSpPr>
        <p:spPr>
          <a:noFill/>
        </p:spPr>
        <p:txBody>
          <a:bodyPr/>
          <a:lstStyle/>
          <a:p>
            <a:r>
              <a:rPr lang="en-US" smtClean="0">
                <a:cs typeface="Arial" charset="0"/>
              </a:rPr>
              <a:t>Georgia Professional Standards Commission</a:t>
            </a:r>
          </a:p>
        </p:txBody>
      </p:sp>
      <p:sp>
        <p:nvSpPr>
          <p:cNvPr id="192514" name="Rectangle 7"/>
          <p:cNvSpPr>
            <a:spLocks noGrp="1" noChangeArrowheads="1"/>
          </p:cNvSpPr>
          <p:nvPr>
            <p:ph type="sldNum" sz="quarter" idx="5"/>
          </p:nvPr>
        </p:nvSpPr>
        <p:spPr>
          <a:noFill/>
        </p:spPr>
        <p:txBody>
          <a:bodyPr/>
          <a:lstStyle/>
          <a:p>
            <a:fld id="{6A2669C0-BFB1-4251-A0DD-AA27DE650ACC}" type="slidenum">
              <a:rPr lang="en-US" smtClean="0">
                <a:cs typeface="Arial" charset="0"/>
              </a:rPr>
              <a:pPr/>
              <a:t>111</a:t>
            </a:fld>
            <a:endParaRPr lang="en-US" smtClean="0">
              <a:cs typeface="Arial" charset="0"/>
            </a:endParaRPr>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xfrm>
            <a:off x="685800" y="4416425"/>
            <a:ext cx="5486400" cy="277813"/>
          </a:xfrm>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458200" cy="5943600"/>
            <a:chOff x="0" y="0"/>
            <a:chExt cx="5328" cy="3744"/>
          </a:xfrm>
        </p:grpSpPr>
        <p:sp>
          <p:nvSpPr>
            <p:cNvPr id="5" name="Freeform 3"/>
            <p:cNvSpPr>
              <a:spLocks/>
            </p:cNvSpPr>
            <p:nvPr/>
          </p:nvSpPr>
          <p:spPr bwMode="hidden">
            <a:xfrm>
              <a:off x="0" y="1440"/>
              <a:ext cx="5155" cy="2304"/>
            </a:xfrm>
            <a:custGeom>
              <a:avLst/>
              <a:gdLst/>
              <a:ahLst/>
              <a:cxnLst>
                <a:cxn ang="0">
                  <a:pos x="5154" y="1769"/>
                </a:cxn>
                <a:cxn ang="0">
                  <a:pos x="0" y="2304"/>
                </a:cxn>
                <a:cxn ang="0">
                  <a:pos x="0" y="1252"/>
                </a:cxn>
                <a:cxn ang="0">
                  <a:pos x="5155" y="0"/>
                </a:cxn>
                <a:cxn ang="0">
                  <a:pos x="5155" y="1416"/>
                </a:cxn>
                <a:cxn ang="0">
                  <a:pos x="5154" y="1769"/>
                </a:cxn>
              </a:cxnLst>
              <a:rect l="0" t="0" r="r" b="b"/>
              <a:pathLst>
                <a:path w="5155" h="2304">
                  <a:moveTo>
                    <a:pt x="5154" y="1769"/>
                  </a:moveTo>
                  <a:lnTo>
                    <a:pt x="0" y="2304"/>
                  </a:lnTo>
                  <a:lnTo>
                    <a:pt x="0" y="1252"/>
                  </a:lnTo>
                  <a:lnTo>
                    <a:pt x="5155" y="0"/>
                  </a:lnTo>
                  <a:lnTo>
                    <a:pt x="5155" y="1416"/>
                  </a:lnTo>
                  <a:lnTo>
                    <a:pt x="5154" y="1769"/>
                  </a:lnTo>
                  <a:close/>
                </a:path>
              </a:pathLst>
            </a:custGeom>
            <a:gradFill rotWithShape="1">
              <a:gsLst>
                <a:gs pos="0">
                  <a:schemeClr val="bg1">
                    <a:gamma/>
                    <a:shade val="84706"/>
                    <a:invGamma/>
                  </a:schemeClr>
                </a:gs>
                <a:gs pos="100000">
                  <a:schemeClr val="bg1"/>
                </a:gs>
              </a:gsLst>
              <a:lin ang="0" scaled="1"/>
            </a:gradFill>
            <a:ln w="9525">
              <a:noFill/>
              <a:round/>
              <a:headEnd/>
              <a:tailEnd/>
            </a:ln>
          </p:spPr>
          <p:txBody>
            <a:bodyPr/>
            <a:lstStyle/>
            <a:p>
              <a:pPr algn="ctr" eaLnBrk="0" hangingPunct="0">
                <a:defRPr/>
              </a:pPr>
              <a:endParaRPr lang="en-US">
                <a:cs typeface="+mn-cs"/>
              </a:endParaRPr>
            </a:p>
          </p:txBody>
        </p:sp>
        <p:sp>
          <p:nvSpPr>
            <p:cNvPr id="6" name="Freeform 4"/>
            <p:cNvSpPr>
              <a:spLocks/>
            </p:cNvSpPr>
            <p:nvPr/>
          </p:nvSpPr>
          <p:spPr bwMode="hidden">
            <a:xfrm>
              <a:off x="0" y="0"/>
              <a:ext cx="5328" cy="3689"/>
            </a:xfrm>
            <a:custGeom>
              <a:avLst/>
              <a:gdLst/>
              <a:ahLst/>
              <a:cxnLst>
                <a:cxn ang="0">
                  <a:pos x="5311" y="3209"/>
                </a:cxn>
                <a:cxn ang="0">
                  <a:pos x="0" y="3689"/>
                </a:cxn>
                <a:cxn ang="0">
                  <a:pos x="0" y="9"/>
                </a:cxn>
                <a:cxn ang="0">
                  <a:pos x="5328" y="0"/>
                </a:cxn>
                <a:cxn ang="0">
                  <a:pos x="5311" y="3209"/>
                </a:cxn>
              </a:cxnLst>
              <a:rect l="0" t="0" r="r" b="b"/>
              <a:pathLst>
                <a:path w="5328" h="3689">
                  <a:moveTo>
                    <a:pt x="5311" y="3209"/>
                  </a:moveTo>
                  <a:lnTo>
                    <a:pt x="0" y="3689"/>
                  </a:lnTo>
                  <a:lnTo>
                    <a:pt x="0" y="9"/>
                  </a:lnTo>
                  <a:lnTo>
                    <a:pt x="5328" y="0"/>
                  </a:lnTo>
                  <a:lnTo>
                    <a:pt x="5311" y="3209"/>
                  </a:lnTo>
                  <a:close/>
                </a:path>
              </a:pathLst>
            </a:custGeom>
            <a:gradFill rotWithShape="1">
              <a:gsLst>
                <a:gs pos="0">
                  <a:schemeClr val="bg2"/>
                </a:gs>
                <a:gs pos="100000">
                  <a:schemeClr val="bg1"/>
                </a:gs>
              </a:gsLst>
              <a:lin ang="0" scaled="1"/>
            </a:gradFill>
            <a:ln w="9525">
              <a:noFill/>
              <a:round/>
              <a:headEnd/>
              <a:tailEnd/>
            </a:ln>
          </p:spPr>
          <p:txBody>
            <a:bodyPr/>
            <a:lstStyle/>
            <a:p>
              <a:pPr algn="ctr" eaLnBrk="0" hangingPunct="0">
                <a:defRPr/>
              </a:pPr>
              <a:endParaRPr lang="en-US">
                <a:cs typeface="+mn-cs"/>
              </a:endParaRPr>
            </a:p>
          </p:txBody>
        </p:sp>
      </p:grpSp>
      <p:sp>
        <p:nvSpPr>
          <p:cNvPr id="1421317" name="Rectangle 5"/>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21321" name="Rectangle 9"/>
          <p:cNvSpPr>
            <a:spLocks noGrp="1" noChangeArrowheads="1"/>
          </p:cNvSpPr>
          <p:nvPr>
            <p:ph type="ctrTitle" sz="quarter"/>
          </p:nvPr>
        </p:nvSpPr>
        <p:spPr>
          <a:xfrm>
            <a:off x="685800" y="1768475"/>
            <a:ext cx="7772400" cy="1736725"/>
          </a:xfrm>
        </p:spPr>
        <p:txBody>
          <a:bodyPr anchor="b" anchorCtr="1"/>
          <a:lstStyle>
            <a:lvl1pPr>
              <a:defRPr sz="5400"/>
            </a:lvl1pPr>
          </a:lstStyle>
          <a:p>
            <a:r>
              <a:rPr lang="en-US"/>
              <a:t>Click to edit Master title style</a:t>
            </a:r>
          </a:p>
        </p:txBody>
      </p:sp>
      <p:sp>
        <p:nvSpPr>
          <p:cNvPr id="7" name="Rectangle 6"/>
          <p:cNvSpPr>
            <a:spLocks noGrp="1" noChangeArrowheads="1"/>
          </p:cNvSpPr>
          <p:nvPr>
            <p:ph type="dt" sz="quarter" idx="10"/>
          </p:nvPr>
        </p:nvSpPr>
        <p:spPr/>
        <p:txBody>
          <a:bodyPr/>
          <a:lstStyle>
            <a:lvl1pPr>
              <a:defRPr/>
            </a:lvl1pPr>
          </a:lstStyle>
          <a:p>
            <a:pPr>
              <a:defRPr/>
            </a:pPr>
            <a:endParaRPr lang="en-US"/>
          </a:p>
        </p:txBody>
      </p:sp>
      <p:sp>
        <p:nvSpPr>
          <p:cNvPr id="8" name="Rectangle 7"/>
          <p:cNvSpPr>
            <a:spLocks noGrp="1" noChangeArrowheads="1"/>
          </p:cNvSpPr>
          <p:nvPr>
            <p:ph type="ftr" sz="quarter" idx="11"/>
          </p:nvPr>
        </p:nvSpPr>
        <p:spPr/>
        <p:txBody>
          <a:bodyPr/>
          <a:lstStyle>
            <a:lvl1pPr>
              <a:defRPr/>
            </a:lvl1pPr>
          </a:lstStyle>
          <a:p>
            <a:pPr>
              <a:defRPr/>
            </a:pPr>
            <a:endParaRPr lang="en-US"/>
          </a:p>
        </p:txBody>
      </p:sp>
      <p:sp>
        <p:nvSpPr>
          <p:cNvPr id="9" name="Rectangle 8"/>
          <p:cNvSpPr>
            <a:spLocks noGrp="1" noChangeArrowheads="1"/>
          </p:cNvSpPr>
          <p:nvPr>
            <p:ph type="sldNum" sz="quarter" idx="12"/>
          </p:nvPr>
        </p:nvSpPr>
        <p:spPr/>
        <p:txBody>
          <a:bodyPr/>
          <a:lstStyle>
            <a:lvl1pPr>
              <a:defRPr/>
            </a:lvl1pPr>
          </a:lstStyle>
          <a:p>
            <a:pPr>
              <a:defRPr/>
            </a:pPr>
            <a:fld id="{CD50D276-5955-4933-B625-32CB4EBDB3C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559DD998-D8ED-4934-9CFA-6C71C8FB448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002553E4-808B-4513-903E-F09BCCA39FF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1B452368-E299-4AE0-BA06-7073278F97E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7"/>
          <p:cNvSpPr>
            <a:spLocks noGrp="1" noChangeArrowheads="1"/>
          </p:cNvSpPr>
          <p:nvPr>
            <p:ph type="dt" sz="half" idx="10"/>
          </p:nvPr>
        </p:nvSpPr>
        <p:spPr>
          <a:ln/>
        </p:spPr>
        <p:txBody>
          <a:bodyPr/>
          <a:lstStyle>
            <a:lvl1pPr>
              <a:defRPr/>
            </a:lvl1pPr>
          </a:lstStyle>
          <a:p>
            <a:pPr>
              <a:defRPr/>
            </a:pPr>
            <a:endParaRPr lang="en-US"/>
          </a:p>
        </p:txBody>
      </p:sp>
      <p:sp>
        <p:nvSpPr>
          <p:cNvPr id="8" name="Rectangle 8"/>
          <p:cNvSpPr>
            <a:spLocks noGrp="1" noChangeArrowheads="1"/>
          </p:cNvSpPr>
          <p:nvPr>
            <p:ph type="ftr" sz="quarter" idx="11"/>
          </p:nvPr>
        </p:nvSpPr>
        <p:spPr>
          <a:ln/>
        </p:spPr>
        <p:txBody>
          <a:bodyPr/>
          <a:lstStyle>
            <a:lvl1pPr>
              <a:defRPr/>
            </a:lvl1pPr>
          </a:lstStyle>
          <a:p>
            <a:pPr>
              <a:defRPr/>
            </a:pPr>
            <a:endParaRPr lang="en-US"/>
          </a:p>
        </p:txBody>
      </p:sp>
      <p:sp>
        <p:nvSpPr>
          <p:cNvPr id="9" name="Rectangle 9"/>
          <p:cNvSpPr>
            <a:spLocks noGrp="1" noChangeArrowheads="1"/>
          </p:cNvSpPr>
          <p:nvPr>
            <p:ph type="sldNum" sz="quarter" idx="12"/>
          </p:nvPr>
        </p:nvSpPr>
        <p:spPr>
          <a:ln/>
        </p:spPr>
        <p:txBody>
          <a:bodyPr/>
          <a:lstStyle>
            <a:lvl1pPr>
              <a:defRPr/>
            </a:lvl1pPr>
          </a:lstStyle>
          <a:p>
            <a:pPr>
              <a:defRPr/>
            </a:pPr>
            <a:fld id="{DBD04A0D-F1B5-46AE-9C65-8F99864C9F3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7"/>
          <p:cNvSpPr>
            <a:spLocks noGrp="1" noChangeArrowheads="1"/>
          </p:cNvSpPr>
          <p:nvPr>
            <p:ph type="dt" sz="half" idx="10"/>
          </p:nvPr>
        </p:nvSpPr>
        <p:spPr>
          <a:ln/>
        </p:spPr>
        <p:txBody>
          <a:bodyPr/>
          <a:lstStyle>
            <a:lvl1pPr>
              <a:defRPr/>
            </a:lvl1pPr>
          </a:lstStyle>
          <a:p>
            <a:pPr>
              <a:defRPr/>
            </a:pPr>
            <a:endParaRPr lang="en-US"/>
          </a:p>
        </p:txBody>
      </p:sp>
      <p:sp>
        <p:nvSpPr>
          <p:cNvPr id="4" name="Rectangle 8"/>
          <p:cNvSpPr>
            <a:spLocks noGrp="1" noChangeArrowheads="1"/>
          </p:cNvSpPr>
          <p:nvPr>
            <p:ph type="ftr" sz="quarter" idx="11"/>
          </p:nvPr>
        </p:nvSpPr>
        <p:spPr>
          <a:ln/>
        </p:spPr>
        <p:txBody>
          <a:bodyPr/>
          <a:lstStyle>
            <a:lvl1pPr>
              <a:defRPr/>
            </a:lvl1pPr>
          </a:lstStyle>
          <a:p>
            <a:pPr>
              <a:defRPr/>
            </a:pPr>
            <a:endParaRPr lang="en-US"/>
          </a:p>
        </p:txBody>
      </p:sp>
      <p:sp>
        <p:nvSpPr>
          <p:cNvPr id="5" name="Rectangle 9"/>
          <p:cNvSpPr>
            <a:spLocks noGrp="1" noChangeArrowheads="1"/>
          </p:cNvSpPr>
          <p:nvPr>
            <p:ph type="sldNum" sz="quarter" idx="12"/>
          </p:nvPr>
        </p:nvSpPr>
        <p:spPr>
          <a:ln/>
        </p:spPr>
        <p:txBody>
          <a:bodyPr/>
          <a:lstStyle>
            <a:lvl1pPr>
              <a:defRPr/>
            </a:lvl1pPr>
          </a:lstStyle>
          <a:p>
            <a:pPr>
              <a:defRPr/>
            </a:pPr>
            <a:fld id="{E4316013-7B34-437B-8E97-D6550201E1E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endParaRPr lang="en-US"/>
          </a:p>
        </p:txBody>
      </p:sp>
      <p:sp>
        <p:nvSpPr>
          <p:cNvPr id="3" name="Rectangle 8"/>
          <p:cNvSpPr>
            <a:spLocks noGrp="1" noChangeArrowheads="1"/>
          </p:cNvSpPr>
          <p:nvPr>
            <p:ph type="ftr" sz="quarter" idx="11"/>
          </p:nvPr>
        </p:nvSpPr>
        <p:spPr>
          <a:ln/>
        </p:spPr>
        <p:txBody>
          <a:bodyPr/>
          <a:lstStyle>
            <a:lvl1pPr>
              <a:defRPr/>
            </a:lvl1pPr>
          </a:lstStyle>
          <a:p>
            <a:pPr>
              <a:defRPr/>
            </a:pPr>
            <a:endParaRPr lang="en-US"/>
          </a:p>
        </p:txBody>
      </p:sp>
      <p:sp>
        <p:nvSpPr>
          <p:cNvPr id="4" name="Rectangle 9"/>
          <p:cNvSpPr>
            <a:spLocks noGrp="1" noChangeArrowheads="1"/>
          </p:cNvSpPr>
          <p:nvPr>
            <p:ph type="sldNum" sz="quarter" idx="12"/>
          </p:nvPr>
        </p:nvSpPr>
        <p:spPr>
          <a:ln/>
        </p:spPr>
        <p:txBody>
          <a:bodyPr/>
          <a:lstStyle>
            <a:lvl1pPr>
              <a:defRPr/>
            </a:lvl1pPr>
          </a:lstStyle>
          <a:p>
            <a:pPr>
              <a:defRPr/>
            </a:pPr>
            <a:fld id="{EF3CE179-BCAC-4ADE-BEDD-C9AE387AF9E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5E6D6CD3-A988-40A4-A520-407A05AD9EE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6E173100-420B-4728-BF69-A2E496AC65F1}"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868B20B6-1BB7-4A1E-8ECD-3AD198A58A8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213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21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7EF5AFA0-375A-4B47-BD7D-1EA2426DEF71}"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600200"/>
            <a:ext cx="4038600" cy="4495800"/>
          </a:xfrm>
        </p:spPr>
        <p:txBody>
          <a:bodyPr/>
          <a:lstStyle/>
          <a:p>
            <a:pPr lvl="0"/>
            <a:endParaRPr lang="en-US" noProof="0" smtClean="0"/>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D42247C2-47F9-4581-9EB3-999E642FA37F}"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495800"/>
          </a:xfrm>
        </p:spPr>
        <p:txBody>
          <a:bodyPr/>
          <a:lstStyle/>
          <a:p>
            <a:pPr lvl="0"/>
            <a:endParaRPr lang="en-US" noProof="0"/>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56BF8A20-608A-48D0-AE65-66AB464069A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grpSp>
        <p:nvGrpSpPr>
          <p:cNvPr id="191490" name="Group 2"/>
          <p:cNvGrpSpPr>
            <a:grpSpLocks/>
          </p:cNvGrpSpPr>
          <p:nvPr/>
        </p:nvGrpSpPr>
        <p:grpSpPr bwMode="auto">
          <a:xfrm>
            <a:off x="0" y="0"/>
            <a:ext cx="7242175" cy="1981200"/>
            <a:chOff x="0" y="0"/>
            <a:chExt cx="4562" cy="1248"/>
          </a:xfrm>
        </p:grpSpPr>
        <p:sp>
          <p:nvSpPr>
            <p:cNvPr id="1420291" name="Freeform 3"/>
            <p:cNvSpPr>
              <a:spLocks/>
            </p:cNvSpPr>
            <p:nvPr/>
          </p:nvSpPr>
          <p:spPr bwMode="hidden">
            <a:xfrm>
              <a:off x="0" y="583"/>
              <a:ext cx="4487" cy="665"/>
            </a:xfrm>
            <a:custGeom>
              <a:avLst/>
              <a:gdLst/>
              <a:ahLst/>
              <a:cxnLst>
                <a:cxn ang="0">
                  <a:pos x="4800" y="299"/>
                </a:cxn>
                <a:cxn ang="0">
                  <a:pos x="0" y="665"/>
                </a:cxn>
                <a:cxn ang="0">
                  <a:pos x="0" y="0"/>
                </a:cxn>
                <a:cxn ang="0">
                  <a:pos x="4806" y="1"/>
                </a:cxn>
                <a:cxn ang="0">
                  <a:pos x="4800" y="153"/>
                </a:cxn>
                <a:cxn ang="0">
                  <a:pos x="4800" y="299"/>
                </a:cxn>
              </a:cxnLst>
              <a:rect l="0" t="0" r="r" b="b"/>
              <a:pathLst>
                <a:path w="4806" h="665">
                  <a:moveTo>
                    <a:pt x="4800" y="299"/>
                  </a:moveTo>
                  <a:lnTo>
                    <a:pt x="0" y="665"/>
                  </a:lnTo>
                  <a:lnTo>
                    <a:pt x="0" y="0"/>
                  </a:lnTo>
                  <a:lnTo>
                    <a:pt x="4806" y="1"/>
                  </a:lnTo>
                  <a:lnTo>
                    <a:pt x="4800" y="153"/>
                  </a:lnTo>
                  <a:lnTo>
                    <a:pt x="4800" y="299"/>
                  </a:lnTo>
                  <a:close/>
                </a:path>
              </a:pathLst>
            </a:custGeom>
            <a:gradFill rotWithShape="1">
              <a:gsLst>
                <a:gs pos="0">
                  <a:schemeClr val="bg1">
                    <a:gamma/>
                    <a:shade val="94118"/>
                    <a:invGamma/>
                  </a:schemeClr>
                </a:gs>
                <a:gs pos="100000">
                  <a:schemeClr val="bg1"/>
                </a:gs>
              </a:gsLst>
              <a:lin ang="0" scaled="1"/>
            </a:gradFill>
            <a:ln w="9525">
              <a:noFill/>
              <a:round/>
              <a:headEnd/>
              <a:tailEnd/>
            </a:ln>
          </p:spPr>
          <p:txBody>
            <a:bodyPr/>
            <a:lstStyle/>
            <a:p>
              <a:pPr algn="ctr" eaLnBrk="0" hangingPunct="0">
                <a:defRPr/>
              </a:pPr>
              <a:endParaRPr lang="en-US">
                <a:cs typeface="+mn-cs"/>
              </a:endParaRPr>
            </a:p>
          </p:txBody>
        </p:sp>
        <p:sp>
          <p:nvSpPr>
            <p:cNvPr id="1420292" name="Freeform 4"/>
            <p:cNvSpPr>
              <a:spLocks/>
            </p:cNvSpPr>
            <p:nvPr/>
          </p:nvSpPr>
          <p:spPr bwMode="hidden">
            <a:xfrm>
              <a:off x="0" y="0"/>
              <a:ext cx="4562" cy="1199"/>
            </a:xfrm>
            <a:custGeom>
              <a:avLst/>
              <a:gdLst/>
              <a:ahLst/>
              <a:cxnLst>
                <a:cxn ang="0">
                  <a:pos x="4560" y="932"/>
                </a:cxn>
                <a:cxn ang="0">
                  <a:pos x="0" y="1199"/>
                </a:cxn>
                <a:cxn ang="0">
                  <a:pos x="0" y="0"/>
                </a:cxn>
                <a:cxn ang="0">
                  <a:pos x="4562" y="0"/>
                </a:cxn>
                <a:cxn ang="0">
                  <a:pos x="4560" y="932"/>
                </a:cxn>
                <a:cxn ang="0">
                  <a:pos x="4560" y="932"/>
                </a:cxn>
              </a:cxnLst>
              <a:rect l="0" t="0" r="r" b="b"/>
              <a:pathLst>
                <a:path w="4562" h="1199">
                  <a:moveTo>
                    <a:pt x="4560" y="932"/>
                  </a:moveTo>
                  <a:lnTo>
                    <a:pt x="0" y="1199"/>
                  </a:lnTo>
                  <a:lnTo>
                    <a:pt x="0" y="0"/>
                  </a:lnTo>
                  <a:lnTo>
                    <a:pt x="4562" y="0"/>
                  </a:lnTo>
                  <a:lnTo>
                    <a:pt x="4560" y="932"/>
                  </a:lnTo>
                  <a:lnTo>
                    <a:pt x="4560" y="932"/>
                  </a:lnTo>
                  <a:close/>
                </a:path>
              </a:pathLst>
            </a:custGeom>
            <a:gradFill rotWithShape="0">
              <a:gsLst>
                <a:gs pos="0">
                  <a:schemeClr val="bg2"/>
                </a:gs>
                <a:gs pos="100000">
                  <a:schemeClr val="bg1"/>
                </a:gs>
              </a:gsLst>
              <a:lin ang="0" scaled="1"/>
            </a:gradFill>
            <a:ln w="9525">
              <a:noFill/>
              <a:round/>
              <a:headEnd/>
              <a:tailEnd/>
            </a:ln>
          </p:spPr>
          <p:txBody>
            <a:bodyPr/>
            <a:lstStyle/>
            <a:p>
              <a:pPr algn="ctr" eaLnBrk="0" hangingPunct="0">
                <a:defRPr/>
              </a:pPr>
              <a:endParaRPr lang="en-US">
                <a:cs typeface="+mn-cs"/>
              </a:endParaRPr>
            </a:p>
          </p:txBody>
        </p:sp>
      </p:grpSp>
      <p:sp>
        <p:nvSpPr>
          <p:cNvPr id="1420293" name="Rectangle 5"/>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420294" name="Rectangle 6"/>
          <p:cNvSpPr>
            <a:spLocks noGrp="1" noChangeArrowheads="1"/>
          </p:cNvSpPr>
          <p:nvPr>
            <p:ph type="body" idx="1"/>
          </p:nvPr>
        </p:nvSpPr>
        <p:spPr bwMode="auto">
          <a:xfrm>
            <a:off x="457200" y="1600200"/>
            <a:ext cx="8229600"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20295" name="Rectangle 7"/>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effectLst>
                  <a:outerShdw blurRad="38100" dist="38100" dir="2700000" algn="tl">
                    <a:srgbClr val="000000"/>
                  </a:outerShdw>
                </a:effectLst>
                <a:cs typeface="+mn-cs"/>
              </a:defRPr>
            </a:lvl1pPr>
          </a:lstStyle>
          <a:p>
            <a:pPr>
              <a:defRPr/>
            </a:pPr>
            <a:endParaRPr lang="en-US"/>
          </a:p>
        </p:txBody>
      </p:sp>
      <p:sp>
        <p:nvSpPr>
          <p:cNvPr id="1420296" name="Rectangle 8"/>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b="0">
                <a:effectLst>
                  <a:outerShdw blurRad="38100" dist="38100" dir="2700000" algn="tl">
                    <a:srgbClr val="000000"/>
                  </a:outerShdw>
                </a:effectLst>
                <a:cs typeface="+mn-cs"/>
              </a:defRPr>
            </a:lvl1pPr>
          </a:lstStyle>
          <a:p>
            <a:pPr>
              <a:defRPr/>
            </a:pPr>
            <a:endParaRPr lang="en-US"/>
          </a:p>
        </p:txBody>
      </p:sp>
      <p:sp>
        <p:nvSpPr>
          <p:cNvPr id="1420297" name="Rectangle 9"/>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effectLst>
                  <a:outerShdw blurRad="38100" dist="38100" dir="2700000" algn="tl">
                    <a:srgbClr val="000000"/>
                  </a:outerShdw>
                </a:effectLst>
                <a:cs typeface="+mn-cs"/>
              </a:defRPr>
            </a:lvl1pPr>
          </a:lstStyle>
          <a:p>
            <a:pPr>
              <a:defRPr/>
            </a:pPr>
            <a:fld id="{EDCA8E85-0C27-4F21-BD15-4BFD59756182}"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705" r:id="rId1"/>
    <p:sldLayoutId id="2147483704" r:id="rId2"/>
    <p:sldLayoutId id="2147483703" r:id="rId3"/>
    <p:sldLayoutId id="2147483702" r:id="rId4"/>
    <p:sldLayoutId id="2147483701" r:id="rId5"/>
    <p:sldLayoutId id="2147483700" r:id="rId6"/>
    <p:sldLayoutId id="2147483699" r:id="rId7"/>
    <p:sldLayoutId id="2147483698" r:id="rId8"/>
    <p:sldLayoutId id="2147483697" r:id="rId9"/>
    <p:sldLayoutId id="2147483696" r:id="rId10"/>
    <p:sldLayoutId id="2147483695" r:id="rId11"/>
    <p:sldLayoutId id="2147483694" r:id="rId12"/>
    <p:sldLayoutId id="2147483693" r:id="rId1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Text Box 2"/>
          <p:cNvSpPr txBox="1">
            <a:spLocks noChangeArrowheads="1"/>
          </p:cNvSpPr>
          <p:nvPr/>
        </p:nvSpPr>
        <p:spPr bwMode="auto">
          <a:xfrm>
            <a:off x="457200" y="609600"/>
            <a:ext cx="8305800" cy="595313"/>
          </a:xfrm>
          <a:prstGeom prst="rect">
            <a:avLst/>
          </a:prstGeom>
          <a:noFill/>
          <a:ln w="9525">
            <a:noFill/>
            <a:miter lim="800000"/>
            <a:headEnd/>
            <a:tailEnd/>
          </a:ln>
        </p:spPr>
        <p:txBody>
          <a:bodyPr lIns="91427" tIns="45714" rIns="91427" bIns="45714">
            <a:spAutoFit/>
          </a:bodyPr>
          <a:lstStyle/>
          <a:p>
            <a:pPr algn="ctr" eaLnBrk="0" hangingPunct="0">
              <a:spcBef>
                <a:spcPct val="50000"/>
              </a:spcBef>
            </a:pPr>
            <a:r>
              <a:rPr lang="en-US" sz="3300">
                <a:latin typeface="Times New Roman" pitchFamily="18" charset="0"/>
              </a:rPr>
              <a:t>Georgia Professional Standards Commission</a:t>
            </a:r>
            <a:endParaRPr lang="en-US" sz="2800">
              <a:latin typeface="Times New Roman" pitchFamily="18" charset="0"/>
            </a:endParaRPr>
          </a:p>
        </p:txBody>
      </p:sp>
      <p:sp>
        <p:nvSpPr>
          <p:cNvPr id="17410" name="Text Box 3"/>
          <p:cNvSpPr txBox="1">
            <a:spLocks noChangeArrowheads="1"/>
          </p:cNvSpPr>
          <p:nvPr/>
        </p:nvSpPr>
        <p:spPr bwMode="auto">
          <a:xfrm>
            <a:off x="1524000" y="5105400"/>
            <a:ext cx="6172200" cy="1190625"/>
          </a:xfrm>
          <a:prstGeom prst="rect">
            <a:avLst/>
          </a:prstGeom>
          <a:noFill/>
          <a:ln w="9525">
            <a:noFill/>
            <a:miter lim="800000"/>
            <a:headEnd/>
            <a:tailEnd/>
          </a:ln>
        </p:spPr>
        <p:txBody>
          <a:bodyPr lIns="91427" tIns="45714" rIns="91427" bIns="45714">
            <a:spAutoFit/>
          </a:bodyPr>
          <a:lstStyle/>
          <a:p>
            <a:pPr algn="ctr" eaLnBrk="0" hangingPunct="0">
              <a:spcBef>
                <a:spcPct val="50000"/>
              </a:spcBef>
            </a:pPr>
            <a:r>
              <a:rPr lang="en-US" sz="3600">
                <a:latin typeface="Times New Roman" pitchFamily="18" charset="0"/>
              </a:rPr>
              <a:t>The Code of Ethics for Georgia Educators</a:t>
            </a:r>
          </a:p>
        </p:txBody>
      </p:sp>
      <p:pic>
        <p:nvPicPr>
          <p:cNvPr id="17411" name="Picture 6" descr="GaPSC_Logo_V Blue"/>
          <p:cNvPicPr>
            <a:picLocks noChangeAspect="1" noChangeArrowheads="1"/>
          </p:cNvPicPr>
          <p:nvPr/>
        </p:nvPicPr>
        <p:blipFill>
          <a:blip r:embed="rId3"/>
          <a:srcRect/>
          <a:stretch>
            <a:fillRect/>
          </a:stretch>
        </p:blipFill>
        <p:spPr bwMode="auto">
          <a:xfrm>
            <a:off x="3505200" y="1447800"/>
            <a:ext cx="2139950"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47202" name="Rectangle 2"/>
          <p:cNvSpPr>
            <a:spLocks noGrp="1" noChangeArrowheads="1"/>
          </p:cNvSpPr>
          <p:nvPr>
            <p:ph type="title"/>
          </p:nvPr>
        </p:nvSpPr>
        <p:spPr>
          <a:xfrm>
            <a:off x="457200" y="381000"/>
            <a:ext cx="8229600" cy="868363"/>
          </a:xfrm>
        </p:spPr>
        <p:txBody>
          <a:bodyPr/>
          <a:lstStyle/>
          <a:p>
            <a:pPr eaLnBrk="1" hangingPunct="1">
              <a:defRPr/>
            </a:pPr>
            <a:r>
              <a:rPr lang="en-US" sz="3600" b="1" dirty="0" smtClean="0">
                <a:solidFill>
                  <a:srgbClr val="FFFF00"/>
                </a:solidFill>
              </a:rPr>
              <a:t>Sanctions for Cases Closed by Year</a:t>
            </a:r>
            <a:endParaRPr lang="en-US" sz="3600" b="1" dirty="0">
              <a:solidFill>
                <a:srgbClr val="FFFF00"/>
              </a:solidFill>
            </a:endParaRPr>
          </a:p>
        </p:txBody>
      </p:sp>
      <p:sp>
        <p:nvSpPr>
          <p:cNvPr id="4147203" name="Rectangle 3"/>
          <p:cNvSpPr>
            <a:spLocks noGrp="1" noChangeArrowheads="1"/>
          </p:cNvSpPr>
          <p:nvPr>
            <p:ph type="body" idx="1"/>
          </p:nvPr>
        </p:nvSpPr>
        <p:spPr>
          <a:xfrm>
            <a:off x="609600" y="1371600"/>
            <a:ext cx="8001000" cy="4648200"/>
          </a:xfrm>
        </p:spPr>
        <p:txBody>
          <a:bodyPr/>
          <a:lstStyle/>
          <a:p>
            <a:pPr eaLnBrk="1" hangingPunct="1">
              <a:buFont typeface="Wingdings" pitchFamily="2" charset="2"/>
              <a:buNone/>
              <a:tabLst>
                <a:tab pos="2176463" algn="l"/>
                <a:tab pos="3208338" algn="l"/>
                <a:tab pos="4456113" algn="l"/>
                <a:tab pos="5718175" algn="l"/>
                <a:tab pos="7662863" algn="r"/>
              </a:tabLst>
              <a:defRPr/>
            </a:pPr>
            <a:r>
              <a:rPr lang="en-US" sz="2000" dirty="0">
                <a:solidFill>
                  <a:srgbClr val="FFFF00"/>
                </a:solidFill>
              </a:rPr>
              <a:t>        </a:t>
            </a:r>
            <a:r>
              <a:rPr lang="en-US" sz="2000" b="1" dirty="0">
                <a:solidFill>
                  <a:srgbClr val="FFFF00"/>
                </a:solidFill>
              </a:rPr>
              <a:t>Year           Deny    Suspend   Revoke    </a:t>
            </a:r>
            <a:r>
              <a:rPr lang="en-US" sz="2000" b="1" dirty="0" smtClean="0">
                <a:solidFill>
                  <a:srgbClr val="FFFF00"/>
                </a:solidFill>
              </a:rPr>
              <a:t>    Rep.       Warn</a:t>
            </a:r>
            <a:endParaRPr lang="en-US" sz="2000" b="1" dirty="0">
              <a:solidFill>
                <a:srgbClr val="FFFF00"/>
              </a:solidFill>
            </a:endParaRPr>
          </a:p>
          <a:p>
            <a:pPr eaLnBrk="1" hangingPunct="1">
              <a:buFont typeface="Wingdings" pitchFamily="2" charset="2"/>
              <a:buNone/>
              <a:tabLst>
                <a:tab pos="2176463" algn="l"/>
                <a:tab pos="3208338" algn="l"/>
                <a:tab pos="4630738" algn="l"/>
                <a:tab pos="5718175" algn="l"/>
                <a:tab pos="7662863" algn="r"/>
              </a:tabLst>
              <a:defRPr/>
            </a:pPr>
            <a:r>
              <a:rPr lang="en-US" b="1" dirty="0" smtClean="0"/>
              <a:t>FY </a:t>
            </a:r>
            <a:r>
              <a:rPr lang="en-US" b="1" dirty="0"/>
              <a:t>2005	</a:t>
            </a:r>
            <a:r>
              <a:rPr lang="en-US" b="1" dirty="0" smtClean="0"/>
              <a:t>17</a:t>
            </a:r>
            <a:r>
              <a:rPr lang="en-US" b="1" dirty="0"/>
              <a:t>	</a:t>
            </a:r>
            <a:r>
              <a:rPr lang="en-US" b="1" dirty="0" smtClean="0"/>
              <a:t>173</a:t>
            </a:r>
            <a:r>
              <a:rPr lang="en-US" b="1" dirty="0"/>
              <a:t>	</a:t>
            </a:r>
            <a:r>
              <a:rPr lang="en-US" b="1" dirty="0" smtClean="0"/>
              <a:t>75</a:t>
            </a:r>
            <a:r>
              <a:rPr lang="en-US" b="1" dirty="0"/>
              <a:t>	</a:t>
            </a:r>
            <a:r>
              <a:rPr lang="en-US" b="1" dirty="0" smtClean="0"/>
              <a:t>149</a:t>
            </a:r>
            <a:r>
              <a:rPr lang="en-US" b="1" dirty="0"/>
              <a:t>	</a:t>
            </a:r>
            <a:r>
              <a:rPr lang="en-US" b="1" dirty="0" smtClean="0"/>
              <a:t>126</a:t>
            </a:r>
            <a:endParaRPr lang="en-US" b="1" dirty="0"/>
          </a:p>
          <a:p>
            <a:pPr eaLnBrk="1" hangingPunct="1">
              <a:buFont typeface="Wingdings" pitchFamily="2" charset="2"/>
              <a:buNone/>
              <a:tabLst>
                <a:tab pos="2176463" algn="l"/>
                <a:tab pos="3208338" algn="l"/>
                <a:tab pos="4630738" algn="l"/>
                <a:tab pos="5718175" algn="l"/>
                <a:tab pos="7662863" algn="r"/>
              </a:tabLst>
              <a:defRPr/>
            </a:pPr>
            <a:r>
              <a:rPr lang="en-US" b="1" dirty="0"/>
              <a:t>FY 2006	</a:t>
            </a:r>
            <a:r>
              <a:rPr lang="en-US" b="1" dirty="0" smtClean="0"/>
              <a:t>19</a:t>
            </a:r>
            <a:r>
              <a:rPr lang="en-US" b="1" dirty="0"/>
              <a:t>	</a:t>
            </a:r>
            <a:r>
              <a:rPr lang="en-US" b="1" dirty="0" smtClean="0"/>
              <a:t>177 </a:t>
            </a:r>
            <a:r>
              <a:rPr lang="en-US" b="1" dirty="0"/>
              <a:t>	</a:t>
            </a:r>
            <a:r>
              <a:rPr lang="en-US" b="1" dirty="0" smtClean="0"/>
              <a:t>71</a:t>
            </a:r>
            <a:r>
              <a:rPr lang="en-US" b="1" dirty="0"/>
              <a:t>	</a:t>
            </a:r>
            <a:r>
              <a:rPr lang="en-US" b="1" dirty="0" smtClean="0"/>
              <a:t>116</a:t>
            </a:r>
            <a:r>
              <a:rPr lang="en-US" b="1" dirty="0"/>
              <a:t>	</a:t>
            </a:r>
            <a:r>
              <a:rPr lang="en-US" b="1" dirty="0" smtClean="0"/>
              <a:t> 64</a:t>
            </a:r>
            <a:endParaRPr lang="en-US" b="1" dirty="0"/>
          </a:p>
          <a:p>
            <a:pPr eaLnBrk="1" hangingPunct="1">
              <a:buFont typeface="Wingdings" pitchFamily="2" charset="2"/>
              <a:buNone/>
              <a:tabLst>
                <a:tab pos="2176463" algn="l"/>
                <a:tab pos="3208338" algn="l"/>
                <a:tab pos="4630738" algn="l"/>
                <a:tab pos="5718175" algn="l"/>
                <a:tab pos="7662863" algn="r"/>
              </a:tabLst>
              <a:defRPr/>
            </a:pPr>
            <a:r>
              <a:rPr lang="en-US" b="1" dirty="0"/>
              <a:t>FY 2007	</a:t>
            </a:r>
            <a:r>
              <a:rPr lang="en-US" b="1" dirty="0" smtClean="0"/>
              <a:t>25</a:t>
            </a:r>
            <a:r>
              <a:rPr lang="en-US" b="1" dirty="0"/>
              <a:t>	</a:t>
            </a:r>
            <a:r>
              <a:rPr lang="en-US" b="1" dirty="0" smtClean="0"/>
              <a:t>180 </a:t>
            </a:r>
            <a:r>
              <a:rPr lang="en-US" b="1" dirty="0"/>
              <a:t>	</a:t>
            </a:r>
            <a:r>
              <a:rPr lang="en-US" b="1" dirty="0" smtClean="0"/>
              <a:t>83</a:t>
            </a:r>
            <a:r>
              <a:rPr lang="en-US" b="1" dirty="0"/>
              <a:t>	</a:t>
            </a:r>
            <a:r>
              <a:rPr lang="en-US" b="1" dirty="0" smtClean="0"/>
              <a:t>140</a:t>
            </a:r>
            <a:r>
              <a:rPr lang="en-US" b="1" dirty="0"/>
              <a:t>	</a:t>
            </a:r>
            <a:r>
              <a:rPr lang="en-US" b="1" dirty="0" smtClean="0"/>
              <a:t>30</a:t>
            </a:r>
            <a:endParaRPr lang="en-US" b="1" dirty="0"/>
          </a:p>
          <a:p>
            <a:pPr eaLnBrk="1" hangingPunct="1">
              <a:buFont typeface="Wingdings" pitchFamily="2" charset="2"/>
              <a:buNone/>
              <a:tabLst>
                <a:tab pos="2176463" algn="l"/>
                <a:tab pos="3208338" algn="l"/>
                <a:tab pos="4630738" algn="l"/>
                <a:tab pos="5718175" algn="l"/>
                <a:tab pos="7662863" algn="r"/>
              </a:tabLst>
              <a:defRPr/>
            </a:pPr>
            <a:r>
              <a:rPr lang="en-US" b="1" dirty="0"/>
              <a:t>FY 2008	</a:t>
            </a:r>
            <a:r>
              <a:rPr lang="en-US" b="1" dirty="0" smtClean="0"/>
              <a:t>15</a:t>
            </a:r>
            <a:r>
              <a:rPr lang="en-US" b="1" dirty="0"/>
              <a:t>	</a:t>
            </a:r>
            <a:r>
              <a:rPr lang="en-US" b="1" dirty="0" smtClean="0"/>
              <a:t>181 </a:t>
            </a:r>
            <a:r>
              <a:rPr lang="en-US" b="1" dirty="0"/>
              <a:t>	</a:t>
            </a:r>
            <a:r>
              <a:rPr lang="en-US" b="1" dirty="0" smtClean="0"/>
              <a:t>64</a:t>
            </a:r>
            <a:r>
              <a:rPr lang="en-US" b="1" dirty="0"/>
              <a:t>	</a:t>
            </a:r>
            <a:r>
              <a:rPr lang="en-US" b="1" dirty="0" smtClean="0"/>
              <a:t>140</a:t>
            </a:r>
            <a:r>
              <a:rPr lang="en-US" b="1" dirty="0"/>
              <a:t>	</a:t>
            </a:r>
            <a:r>
              <a:rPr lang="en-US" b="1" dirty="0" smtClean="0"/>
              <a:t>11</a:t>
            </a:r>
            <a:endParaRPr lang="en-US" b="1" dirty="0"/>
          </a:p>
          <a:p>
            <a:pPr eaLnBrk="1" hangingPunct="1">
              <a:buFont typeface="Wingdings" pitchFamily="2" charset="2"/>
              <a:buNone/>
              <a:tabLst>
                <a:tab pos="2176463" algn="l"/>
                <a:tab pos="3208338" algn="l"/>
                <a:tab pos="4630738" algn="l"/>
                <a:tab pos="5718175" algn="l"/>
                <a:tab pos="7662863" algn="r"/>
              </a:tabLst>
              <a:defRPr/>
            </a:pPr>
            <a:r>
              <a:rPr lang="en-US" b="1" dirty="0"/>
              <a:t>FY 2009	</a:t>
            </a:r>
            <a:r>
              <a:rPr lang="en-US" b="1" dirty="0" smtClean="0"/>
              <a:t>20</a:t>
            </a:r>
            <a:r>
              <a:rPr lang="en-US" b="1" dirty="0"/>
              <a:t>	</a:t>
            </a:r>
            <a:r>
              <a:rPr lang="en-US" b="1" dirty="0" smtClean="0"/>
              <a:t>250 </a:t>
            </a:r>
            <a:r>
              <a:rPr lang="en-US" b="1" dirty="0"/>
              <a:t>	</a:t>
            </a:r>
            <a:r>
              <a:rPr lang="en-US" b="1" dirty="0" smtClean="0"/>
              <a:t>87</a:t>
            </a:r>
            <a:r>
              <a:rPr lang="en-US" b="1" dirty="0"/>
              <a:t>	</a:t>
            </a:r>
            <a:r>
              <a:rPr lang="en-US" b="1" dirty="0" smtClean="0"/>
              <a:t>146</a:t>
            </a:r>
            <a:r>
              <a:rPr lang="en-US" b="1" dirty="0"/>
              <a:t>	</a:t>
            </a:r>
            <a:r>
              <a:rPr lang="en-US" b="1" dirty="0" smtClean="0"/>
              <a:t>11</a:t>
            </a:r>
            <a:endParaRPr lang="en-US" b="1" dirty="0"/>
          </a:p>
          <a:p>
            <a:pPr eaLnBrk="1" hangingPunct="1">
              <a:buFont typeface="Wingdings" pitchFamily="2" charset="2"/>
              <a:buNone/>
              <a:tabLst>
                <a:tab pos="2176463" algn="l"/>
                <a:tab pos="3208338" algn="l"/>
                <a:tab pos="4630738" algn="l"/>
                <a:tab pos="5718175" algn="l"/>
                <a:tab pos="7662863" algn="r"/>
              </a:tabLst>
              <a:defRPr/>
            </a:pPr>
            <a:r>
              <a:rPr lang="en-US" b="1" dirty="0"/>
              <a:t>FY 2010	</a:t>
            </a:r>
            <a:r>
              <a:rPr lang="en-US" b="1" dirty="0" smtClean="0"/>
              <a:t>15</a:t>
            </a:r>
            <a:r>
              <a:rPr lang="en-US" b="1" dirty="0"/>
              <a:t>	</a:t>
            </a:r>
            <a:r>
              <a:rPr lang="en-US" b="1" dirty="0" smtClean="0"/>
              <a:t>219</a:t>
            </a:r>
            <a:r>
              <a:rPr lang="en-US" b="1" dirty="0"/>
              <a:t>	</a:t>
            </a:r>
            <a:r>
              <a:rPr lang="en-US" b="1" dirty="0" smtClean="0"/>
              <a:t>73</a:t>
            </a:r>
            <a:r>
              <a:rPr lang="en-US" b="1" dirty="0"/>
              <a:t>	</a:t>
            </a:r>
            <a:r>
              <a:rPr lang="en-US" b="1" dirty="0" smtClean="0"/>
              <a:t>  75</a:t>
            </a:r>
            <a:r>
              <a:rPr lang="en-US" b="1" dirty="0"/>
              <a:t>	</a:t>
            </a:r>
            <a:r>
              <a:rPr lang="en-US" b="1" dirty="0" smtClean="0"/>
              <a:t>9</a:t>
            </a:r>
          </a:p>
          <a:p>
            <a:pPr eaLnBrk="1" hangingPunct="1">
              <a:buFont typeface="Wingdings" pitchFamily="2" charset="2"/>
              <a:buNone/>
              <a:tabLst>
                <a:tab pos="2176463" algn="l"/>
                <a:tab pos="3208338" algn="l"/>
                <a:tab pos="4630738" algn="l"/>
                <a:tab pos="5718175" algn="l"/>
                <a:tab pos="7662863" algn="r"/>
              </a:tabLst>
              <a:defRPr/>
            </a:pPr>
            <a:r>
              <a:rPr lang="en-US" b="1" dirty="0" smtClean="0"/>
              <a:t>FY 2011	  6	265	61	  79	3</a:t>
            </a:r>
          </a:p>
          <a:p>
            <a:pPr eaLnBrk="1" hangingPunct="1">
              <a:buFont typeface="Wingdings" pitchFamily="2" charset="2"/>
              <a:buNone/>
              <a:tabLst>
                <a:tab pos="2176463" algn="l"/>
                <a:tab pos="3208338" algn="l"/>
                <a:tab pos="4456113" algn="l"/>
                <a:tab pos="5718175" algn="l"/>
                <a:tab pos="7662863" algn="r"/>
              </a:tabLst>
              <a:defRPr/>
            </a:pPr>
            <a:endParaRPr lang="en-US"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6323" name="Rectangle 3"/>
          <p:cNvSpPr>
            <a:spLocks noChangeArrowheads="1"/>
          </p:cNvSpPr>
          <p:nvPr/>
        </p:nvSpPr>
        <p:spPr bwMode="auto">
          <a:xfrm>
            <a:off x="1219200" y="1295400"/>
            <a:ext cx="6629400" cy="4114800"/>
          </a:xfrm>
          <a:prstGeom prst="rect">
            <a:avLst/>
          </a:prstGeom>
          <a:noFill/>
          <a:ln w="9525">
            <a:noFill/>
            <a:miter lim="800000"/>
            <a:headEnd/>
            <a:tailEnd/>
          </a:ln>
          <a:effectLst/>
        </p:spPr>
        <p:txBody>
          <a:bodyPr/>
          <a:lstStyle/>
          <a:p>
            <a:pPr algn="ctr">
              <a:lnSpc>
                <a:spcPct val="135000"/>
              </a:lnSpc>
              <a:spcBef>
                <a:spcPct val="20000"/>
              </a:spcBef>
              <a:buClr>
                <a:schemeClr val="hlink"/>
              </a:buClr>
              <a:buSzPct val="80000"/>
              <a:buFont typeface="Wingdings" pitchFamily="2" charset="2"/>
              <a:buNone/>
              <a:defRPr/>
            </a:pPr>
            <a:r>
              <a:rPr lang="en-US" sz="6000" dirty="0">
                <a:solidFill>
                  <a:srgbClr val="FFFF00"/>
                </a:solidFill>
                <a:effectLst>
                  <a:outerShdw blurRad="38100" dist="38100" dir="2700000" algn="tl">
                    <a:srgbClr val="000000"/>
                  </a:outerShdw>
                </a:effectLst>
                <a:cs typeface="+mn-cs"/>
              </a:rPr>
              <a:t>Legal Authority of the PSC Ethics Division</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5122" name="Rectangle 2"/>
          <p:cNvSpPr>
            <a:spLocks noGrp="1" noChangeArrowheads="1"/>
          </p:cNvSpPr>
          <p:nvPr>
            <p:ph type="title"/>
          </p:nvPr>
        </p:nvSpPr>
        <p:spPr>
          <a:xfrm>
            <a:off x="457200" y="533400"/>
            <a:ext cx="8229600" cy="533400"/>
          </a:xfrm>
        </p:spPr>
        <p:txBody>
          <a:bodyPr/>
          <a:lstStyle/>
          <a:p>
            <a:pPr eaLnBrk="1" hangingPunct="1">
              <a:defRPr/>
            </a:pPr>
            <a:r>
              <a:rPr lang="en-US" sz="2800" b="1" dirty="0" smtClean="0"/>
              <a:t>20-2-984.1. Adoption of a Code of Ethics.</a:t>
            </a:r>
          </a:p>
        </p:txBody>
      </p:sp>
      <p:sp>
        <p:nvSpPr>
          <p:cNvPr id="3845123" name="Rectangle 3"/>
          <p:cNvSpPr>
            <a:spLocks noGrp="1" noChangeArrowheads="1"/>
          </p:cNvSpPr>
          <p:nvPr>
            <p:ph type="body" idx="1"/>
          </p:nvPr>
        </p:nvSpPr>
        <p:spPr>
          <a:xfrm>
            <a:off x="838200" y="1447800"/>
            <a:ext cx="7543800" cy="4495800"/>
          </a:xfrm>
        </p:spPr>
        <p:txBody>
          <a:bodyPr/>
          <a:lstStyle/>
          <a:p>
            <a:pPr marL="0" indent="0" eaLnBrk="1" hangingPunct="1">
              <a:buFont typeface="Wingdings" pitchFamily="2" charset="2"/>
              <a:buNone/>
              <a:defRPr/>
            </a:pPr>
            <a:r>
              <a:rPr lang="en-US" sz="4000" dirty="0" smtClean="0"/>
              <a:t>(a)  It shall be the duty of the commission to adopt standards of performance and a code of ethics for educators… </a:t>
            </a:r>
            <a:r>
              <a:rPr lang="en-US" sz="4000" b="1" dirty="0" smtClean="0">
                <a:solidFill>
                  <a:srgbClr val="FFFF00"/>
                </a:solidFill>
              </a:rPr>
              <a:t>which are generally accepted by educators of this state.</a:t>
            </a:r>
            <a:r>
              <a:rPr lang="en-US" dirty="0" smtClean="0"/>
              <a:t>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8194" name="Rectangle 2"/>
          <p:cNvSpPr>
            <a:spLocks noGrp="1" noChangeArrowheads="1"/>
          </p:cNvSpPr>
          <p:nvPr>
            <p:ph type="title"/>
          </p:nvPr>
        </p:nvSpPr>
        <p:spPr>
          <a:xfrm>
            <a:off x="457200" y="533400"/>
            <a:ext cx="8229600" cy="533400"/>
          </a:xfrm>
        </p:spPr>
        <p:txBody>
          <a:bodyPr/>
          <a:lstStyle/>
          <a:p>
            <a:pPr eaLnBrk="1" hangingPunct="1">
              <a:defRPr/>
            </a:pPr>
            <a:r>
              <a:rPr lang="en-US" sz="2800" b="1" dirty="0" smtClean="0"/>
              <a:t>20-2-984.1. Adoption of a Code of Ethics.</a:t>
            </a:r>
          </a:p>
        </p:txBody>
      </p:sp>
      <p:sp>
        <p:nvSpPr>
          <p:cNvPr id="3848195" name="Rectangle 3"/>
          <p:cNvSpPr>
            <a:spLocks noGrp="1" noChangeArrowheads="1"/>
          </p:cNvSpPr>
          <p:nvPr>
            <p:ph type="body" idx="1"/>
          </p:nvPr>
        </p:nvSpPr>
        <p:spPr>
          <a:xfrm>
            <a:off x="762000" y="1524000"/>
            <a:ext cx="7696200" cy="4495800"/>
          </a:xfrm>
        </p:spPr>
        <p:txBody>
          <a:bodyPr/>
          <a:lstStyle/>
          <a:p>
            <a:pPr marL="0" indent="0" eaLnBrk="1" hangingPunct="1">
              <a:buFont typeface="Wingdings" pitchFamily="2" charset="2"/>
              <a:buNone/>
              <a:defRPr/>
            </a:pPr>
            <a:r>
              <a:rPr lang="en-US" sz="4400" dirty="0" smtClean="0"/>
              <a:t>The standards of performance and code of ethics adopted by the commission</a:t>
            </a:r>
            <a:r>
              <a:rPr lang="en-US" sz="4400" b="1" dirty="0" smtClean="0"/>
              <a:t> </a:t>
            </a:r>
            <a:r>
              <a:rPr lang="en-US" sz="4800" b="1" dirty="0" smtClean="0">
                <a:solidFill>
                  <a:srgbClr val="FFFF00"/>
                </a:solidFill>
              </a:rPr>
              <a:t>shall be limited to</a:t>
            </a:r>
            <a:r>
              <a:rPr lang="en-US" sz="4800" b="1" dirty="0" smtClean="0"/>
              <a:t> </a:t>
            </a:r>
            <a:r>
              <a:rPr lang="en-US" sz="4800" b="1" dirty="0" smtClean="0">
                <a:solidFill>
                  <a:srgbClr val="FFFF00"/>
                </a:solidFill>
              </a:rPr>
              <a:t>professional performance and professional ethics</a:t>
            </a:r>
            <a:r>
              <a:rPr lang="en-US" sz="4800" b="1" dirty="0" smtClean="0"/>
              <a:t>.</a:t>
            </a:r>
            <a:r>
              <a:rPr lang="en-US" sz="4800" dirty="0" smtClean="0"/>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5298" name="Rectangle 2"/>
          <p:cNvSpPr>
            <a:spLocks noGrp="1" noChangeArrowheads="1"/>
          </p:cNvSpPr>
          <p:nvPr>
            <p:ph type="title"/>
          </p:nvPr>
        </p:nvSpPr>
        <p:spPr/>
        <p:txBody>
          <a:bodyPr/>
          <a:lstStyle/>
          <a:p>
            <a:pPr eaLnBrk="1" hangingPunct="1">
              <a:defRPr/>
            </a:pPr>
            <a:r>
              <a:rPr lang="en-US" b="1" dirty="0" smtClean="0"/>
              <a:t>Definition of Educator</a:t>
            </a:r>
          </a:p>
        </p:txBody>
      </p:sp>
      <p:sp>
        <p:nvSpPr>
          <p:cNvPr id="3895299" name="Rectangle 3"/>
          <p:cNvSpPr>
            <a:spLocks noGrp="1" noChangeArrowheads="1"/>
          </p:cNvSpPr>
          <p:nvPr>
            <p:ph type="body" idx="1"/>
          </p:nvPr>
        </p:nvSpPr>
        <p:spPr/>
        <p:txBody>
          <a:bodyPr/>
          <a:lstStyle/>
          <a:p>
            <a:pPr marL="0" indent="0" eaLnBrk="1" hangingPunct="1">
              <a:buFont typeface="Wingdings" pitchFamily="2" charset="2"/>
              <a:buNone/>
            </a:pPr>
            <a:r>
              <a:rPr lang="en-US" sz="3600" b="1" smtClean="0"/>
              <a:t>20-2-982.1.(2)</a:t>
            </a:r>
            <a:r>
              <a:rPr lang="en-US" sz="3600" smtClean="0"/>
              <a:t> </a:t>
            </a:r>
            <a:r>
              <a:rPr lang="en-US" sz="3600" b="1" smtClean="0">
                <a:solidFill>
                  <a:srgbClr val="FFFF00"/>
                </a:solidFill>
              </a:rPr>
              <a:t>"Educator"</a:t>
            </a:r>
            <a:r>
              <a:rPr lang="en-US" sz="3600" smtClean="0"/>
              <a:t> </a:t>
            </a:r>
            <a:r>
              <a:rPr lang="en-US" sz="3600" b="1" smtClean="0"/>
              <a:t>means education personnel who hold, have applied for, or been denied certificates, permits, or other certification documents issued by the Georgia Professional Standards Commission.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19907" name="Rectangle 3"/>
          <p:cNvSpPr>
            <a:spLocks noGrp="1" noChangeArrowheads="1"/>
          </p:cNvSpPr>
          <p:nvPr>
            <p:ph type="title" idx="4294967295"/>
          </p:nvPr>
        </p:nvSpPr>
        <p:spPr>
          <a:xfrm>
            <a:off x="1219200" y="1219200"/>
            <a:ext cx="6781800" cy="4038600"/>
          </a:xfrm>
        </p:spPr>
        <p:txBody>
          <a:bodyPr/>
          <a:lstStyle/>
          <a:p>
            <a:pPr eaLnBrk="1" hangingPunct="1">
              <a:defRPr/>
            </a:pPr>
            <a:r>
              <a:rPr lang="en-US" sz="8000" b="1" dirty="0" smtClean="0">
                <a:solidFill>
                  <a:srgbClr val="FFFF00"/>
                </a:solidFill>
              </a:rPr>
              <a:t>Legal Compliance</a:t>
            </a:r>
            <a:endParaRPr lang="en-US" sz="8000" b="1" dirty="0">
              <a:solidFill>
                <a:srgbClr val="FFFF00"/>
              </a:solidFill>
            </a:endParaRPr>
          </a:p>
        </p:txBody>
      </p:sp>
      <p:sp>
        <p:nvSpPr>
          <p:cNvPr id="3" name="Rectangle 3"/>
          <p:cNvSpPr txBox="1">
            <a:spLocks noChangeArrowheads="1"/>
          </p:cNvSpPr>
          <p:nvPr/>
        </p:nvSpPr>
        <p:spPr>
          <a:xfrm>
            <a:off x="381000" y="381000"/>
            <a:ext cx="8382000" cy="609600"/>
          </a:xfrm>
          <a:prstGeom prst="rect">
            <a:avLst/>
          </a:prstGeom>
        </p:spPr>
        <p:txBody>
          <a:bodyPr/>
          <a:lstStyle/>
          <a:p>
            <a:pPr algn="ctr">
              <a:defRPr/>
            </a:pPr>
            <a:r>
              <a:rPr lang="en-US" sz="2800" kern="0" dirty="0">
                <a:effectLst>
                  <a:outerShdw blurRad="38100" dist="38100" dir="2700000" algn="tl">
                    <a:srgbClr val="000000"/>
                  </a:outerShdw>
                </a:effectLst>
                <a:latin typeface="+mj-lt"/>
                <a:ea typeface="+mj-ea"/>
                <a:cs typeface="+mj-cs"/>
              </a:rPr>
              <a:t>Standard 1</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61507"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1</a:t>
            </a:r>
          </a:p>
        </p:txBody>
      </p:sp>
      <p:sp>
        <p:nvSpPr>
          <p:cNvPr id="3861508" name="Rectangle 4"/>
          <p:cNvSpPr>
            <a:spLocks noChangeArrowheads="1"/>
          </p:cNvSpPr>
          <p:nvPr/>
        </p:nvSpPr>
        <p:spPr bwMode="auto">
          <a:xfrm>
            <a:off x="990600" y="1676400"/>
            <a:ext cx="73152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6000" dirty="0">
                <a:solidFill>
                  <a:srgbClr val="FFFF00"/>
                </a:solidFill>
                <a:effectLst>
                  <a:outerShdw blurRad="38100" dist="38100" dir="2700000" algn="tl">
                    <a:srgbClr val="000000"/>
                  </a:outerShdw>
                </a:effectLst>
                <a:cs typeface="+mn-cs"/>
              </a:rPr>
              <a:t>An educator shall abide by federal, state, and local laws and statutes.</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13378" name="Rectangle 2"/>
          <p:cNvSpPr>
            <a:spLocks noGrp="1" noChangeArrowheads="1"/>
          </p:cNvSpPr>
          <p:nvPr>
            <p:ph type="title"/>
          </p:nvPr>
        </p:nvSpPr>
        <p:spPr>
          <a:xfrm>
            <a:off x="457200" y="381000"/>
            <a:ext cx="8229600" cy="762000"/>
          </a:xfrm>
        </p:spPr>
        <p:txBody>
          <a:bodyPr/>
          <a:lstStyle/>
          <a:p>
            <a:pPr eaLnBrk="1" hangingPunct="1"/>
            <a:r>
              <a:rPr lang="en-US" sz="3600" b="1" smtClean="0">
                <a:solidFill>
                  <a:srgbClr val="FFFF00"/>
                </a:solidFill>
              </a:rPr>
              <a:t>Legal Compliance</a:t>
            </a:r>
          </a:p>
        </p:txBody>
      </p:sp>
      <p:sp>
        <p:nvSpPr>
          <p:cNvPr id="3813379" name="Rectangle 3"/>
          <p:cNvSpPr>
            <a:spLocks noGrp="1" noChangeArrowheads="1"/>
          </p:cNvSpPr>
          <p:nvPr>
            <p:ph type="body" idx="1"/>
          </p:nvPr>
        </p:nvSpPr>
        <p:spPr>
          <a:xfrm>
            <a:off x="533400" y="1295400"/>
            <a:ext cx="8229600" cy="4495800"/>
          </a:xfrm>
        </p:spPr>
        <p:txBody>
          <a:bodyPr/>
          <a:lstStyle/>
          <a:p>
            <a:pPr marL="347663" indent="-347663" eaLnBrk="1" hangingPunct="1">
              <a:lnSpc>
                <a:spcPct val="90000"/>
              </a:lnSpc>
              <a:buFont typeface="Wingdings" pitchFamily="2" charset="2"/>
              <a:buNone/>
            </a:pPr>
            <a:r>
              <a:rPr lang="en-US" smtClean="0"/>
              <a:t>Unethical conduct includes but is not limited to the </a:t>
            </a:r>
            <a:r>
              <a:rPr lang="en-US" b="1" smtClean="0">
                <a:solidFill>
                  <a:srgbClr val="FFFF00"/>
                </a:solidFill>
              </a:rPr>
              <a:t>commission or conviction</a:t>
            </a:r>
            <a:r>
              <a:rPr lang="en-US" smtClean="0"/>
              <a:t> of: </a:t>
            </a:r>
          </a:p>
          <a:p>
            <a:pPr marL="347663" indent="-347663" eaLnBrk="1" hangingPunct="1">
              <a:lnSpc>
                <a:spcPct val="90000"/>
              </a:lnSpc>
              <a:buClr>
                <a:schemeClr val="tx1"/>
              </a:buClr>
              <a:buFontTx/>
              <a:buChar char="•"/>
            </a:pPr>
            <a:r>
              <a:rPr lang="en-US" b="1" smtClean="0"/>
              <a:t>a felony or any crime involving moral turpitude.</a:t>
            </a:r>
          </a:p>
          <a:p>
            <a:pPr marL="347663" indent="-347663" eaLnBrk="1" hangingPunct="1">
              <a:lnSpc>
                <a:spcPct val="90000"/>
              </a:lnSpc>
              <a:buClr>
                <a:schemeClr val="tx1"/>
              </a:buClr>
              <a:buFontTx/>
              <a:buChar char="•"/>
            </a:pPr>
            <a:r>
              <a:rPr lang="en-US" b="1" smtClean="0"/>
              <a:t>any criminal offense involving a controlled substance or marijuana. </a:t>
            </a:r>
          </a:p>
          <a:p>
            <a:pPr marL="347663" indent="-347663" eaLnBrk="1" hangingPunct="1">
              <a:lnSpc>
                <a:spcPct val="90000"/>
              </a:lnSpc>
              <a:buClr>
                <a:schemeClr val="tx1"/>
              </a:buClr>
              <a:buFontTx/>
              <a:buChar char="•"/>
            </a:pPr>
            <a:r>
              <a:rPr lang="en-US" b="1" smtClean="0"/>
              <a:t>any sexual offense specified in Code Section 16.</a:t>
            </a:r>
            <a:endParaRPr lang="en-US" smtClean="0"/>
          </a:p>
          <a:p>
            <a:pPr marL="347663" indent="-347663" eaLnBrk="1" hangingPunct="1">
              <a:lnSpc>
                <a:spcPct val="90000"/>
              </a:lnSpc>
              <a:buClr>
                <a:schemeClr val="tx1"/>
              </a:buClr>
              <a:buFontTx/>
              <a:buChar char="•"/>
            </a:pPr>
            <a:r>
              <a:rPr lang="en-US" b="1" smtClean="0"/>
              <a:t>any laws applicable to the profession.</a:t>
            </a:r>
            <a:r>
              <a:rPr lang="en-US" sz="2400" smtClean="0"/>
              <a:t>  </a:t>
            </a:r>
          </a:p>
          <a:p>
            <a:pPr marL="347663" indent="-347663" eaLnBrk="1" hangingPunct="1">
              <a:lnSpc>
                <a:spcPct val="90000"/>
              </a:lnSpc>
              <a:buClr>
                <a:schemeClr val="tx1"/>
              </a:buClr>
              <a:buFontTx/>
              <a:buChar char="•"/>
            </a:pPr>
            <a:endParaRPr lang="en-US" sz="240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57410" name="Rectangle 2"/>
          <p:cNvSpPr>
            <a:spLocks noGrp="1" noChangeArrowheads="1"/>
          </p:cNvSpPr>
          <p:nvPr>
            <p:ph type="title"/>
          </p:nvPr>
        </p:nvSpPr>
        <p:spPr>
          <a:xfrm>
            <a:off x="1066800" y="1066800"/>
            <a:ext cx="7239000" cy="4419600"/>
          </a:xfrm>
        </p:spPr>
        <p:txBody>
          <a:bodyPr/>
          <a:lstStyle/>
          <a:p>
            <a:pPr eaLnBrk="1" hangingPunct="1">
              <a:defRPr/>
            </a:pPr>
            <a:r>
              <a:rPr lang="en-US" sz="6000" b="1" dirty="0" smtClean="0"/>
              <a:t>Reporting the </a:t>
            </a:r>
            <a:r>
              <a:rPr lang="en-US" sz="7200" b="1" dirty="0" smtClean="0">
                <a:solidFill>
                  <a:srgbClr val="FFFF00"/>
                </a:solidFill>
              </a:rPr>
              <a:t>Conviction</a:t>
            </a:r>
            <a:r>
              <a:rPr lang="en-US" sz="7200" b="1" dirty="0" smtClean="0"/>
              <a:t> </a:t>
            </a:r>
            <a:r>
              <a:rPr lang="en-US" sz="6000" b="1" dirty="0" smtClean="0"/>
              <a:t>of a                          Criminal Offense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9330" name="Rectangle 2"/>
          <p:cNvSpPr>
            <a:spLocks noGrp="1" noChangeArrowheads="1"/>
          </p:cNvSpPr>
          <p:nvPr>
            <p:ph type="body" idx="1"/>
          </p:nvPr>
        </p:nvSpPr>
        <p:spPr>
          <a:xfrm>
            <a:off x="457200" y="1752600"/>
            <a:ext cx="8229600" cy="4495800"/>
          </a:xfrm>
        </p:spPr>
        <p:txBody>
          <a:bodyPr/>
          <a:lstStyle/>
          <a:p>
            <a:pPr marL="855663" indent="-855663" eaLnBrk="1" hangingPunct="1">
              <a:buClr>
                <a:schemeClr val="tx1"/>
              </a:buClr>
              <a:buFont typeface="Wingdings" pitchFamily="2" charset="2"/>
              <a:buNone/>
              <a:defRPr/>
            </a:pPr>
            <a:r>
              <a:rPr lang="en-US" sz="3600" b="1" dirty="0" smtClean="0"/>
              <a:t>(5) Complaints alleging that an </a:t>
            </a:r>
            <a:r>
              <a:rPr lang="en-US" sz="3600" b="1" u="sng" dirty="0" smtClean="0">
                <a:solidFill>
                  <a:srgbClr val="FFFF00"/>
                </a:solidFill>
              </a:rPr>
              <a:t>educator</a:t>
            </a:r>
            <a:r>
              <a:rPr lang="en-US" sz="3600" b="1" dirty="0" smtClean="0"/>
              <a:t> has been </a:t>
            </a:r>
            <a:r>
              <a:rPr lang="en-US" sz="3600" b="1" u="sng" dirty="0" smtClean="0">
                <a:solidFill>
                  <a:srgbClr val="FFFF00"/>
                </a:solidFill>
              </a:rPr>
              <a:t>convicted</a:t>
            </a:r>
            <a:r>
              <a:rPr lang="en-US" sz="3600" b="1" dirty="0" smtClean="0"/>
              <a:t>… in the courts of this state or any other state, territory, or country or in the courts of the United States.</a:t>
            </a:r>
          </a:p>
        </p:txBody>
      </p:sp>
      <p:sp>
        <p:nvSpPr>
          <p:cNvPr id="3939331" name="Rectangle 3"/>
          <p:cNvSpPr>
            <a:spLocks noGrp="1" noChangeArrowheads="1"/>
          </p:cNvSpPr>
          <p:nvPr>
            <p:ph type="title"/>
          </p:nvPr>
        </p:nvSpPr>
        <p:spPr>
          <a:xfrm>
            <a:off x="457200" y="304800"/>
            <a:ext cx="8229600" cy="1143000"/>
          </a:xfrm>
        </p:spPr>
        <p:txBody>
          <a:bodyPr/>
          <a:lstStyle/>
          <a:p>
            <a:pPr eaLnBrk="1" hangingPunct="1">
              <a:defRPr/>
            </a:pPr>
            <a:r>
              <a:rPr lang="en-US" sz="2800" b="1" dirty="0" smtClean="0">
                <a:solidFill>
                  <a:schemeClr val="tx1"/>
                </a:solidFill>
              </a:rPr>
              <a:t>20-2-984.3.</a:t>
            </a:r>
            <a:r>
              <a:rPr lang="en-US" sz="2800" dirty="0" smtClean="0"/>
              <a:t> </a:t>
            </a:r>
            <a:r>
              <a:rPr lang="en-US" sz="3200" b="1" dirty="0" smtClean="0">
                <a:solidFill>
                  <a:schemeClr val="tx1"/>
                </a:solidFill>
                <a:latin typeface="Times New Roman" pitchFamily="18" charset="0"/>
              </a:rPr>
              <a:t>…</a:t>
            </a:r>
            <a:r>
              <a:rPr lang="en-US" sz="3200" b="1" i="1" dirty="0" smtClean="0">
                <a:solidFill>
                  <a:schemeClr val="tx1"/>
                </a:solidFill>
                <a:latin typeface="Times New Roman" pitchFamily="18" charset="0"/>
              </a:rPr>
              <a:t>the commission shall be authorized to investigate: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5234" name="Rectangle 2"/>
          <p:cNvSpPr>
            <a:spLocks noGrp="1" noChangeArrowheads="1"/>
          </p:cNvSpPr>
          <p:nvPr>
            <p:ph type="title"/>
          </p:nvPr>
        </p:nvSpPr>
        <p:spPr/>
        <p:txBody>
          <a:bodyPr/>
          <a:lstStyle/>
          <a:p>
            <a:pPr eaLnBrk="1" hangingPunct="1">
              <a:defRPr/>
            </a:pPr>
            <a:r>
              <a:rPr lang="en-US" sz="3200" b="1" dirty="0" smtClean="0"/>
              <a:t>20-2-984.3.(5)</a:t>
            </a:r>
            <a:r>
              <a:rPr lang="en-US" sz="3200" dirty="0" smtClean="0"/>
              <a:t> …</a:t>
            </a:r>
            <a:r>
              <a:rPr lang="en-US" sz="3200" b="1" dirty="0" smtClean="0"/>
              <a:t>the commission </a:t>
            </a:r>
            <a:r>
              <a:rPr lang="en-US" sz="3200" b="1" u="sng" dirty="0" smtClean="0"/>
              <a:t>shall be authorized</a:t>
            </a:r>
            <a:r>
              <a:rPr lang="en-US" sz="3200" b="1" dirty="0" smtClean="0"/>
              <a:t> to investigate:</a:t>
            </a:r>
          </a:p>
        </p:txBody>
      </p:sp>
      <p:sp>
        <p:nvSpPr>
          <p:cNvPr id="3935235" name="Rectangle 3"/>
          <p:cNvSpPr>
            <a:spLocks noGrp="1" noChangeArrowheads="1"/>
          </p:cNvSpPr>
          <p:nvPr>
            <p:ph type="body" idx="1"/>
          </p:nvPr>
        </p:nvSpPr>
        <p:spPr>
          <a:xfrm>
            <a:off x="609600" y="1600200"/>
            <a:ext cx="7620000" cy="990600"/>
          </a:xfrm>
        </p:spPr>
        <p:txBody>
          <a:bodyPr/>
          <a:lstStyle/>
          <a:p>
            <a:pPr marL="0" indent="0" eaLnBrk="1" hangingPunct="1">
              <a:lnSpc>
                <a:spcPct val="90000"/>
              </a:lnSpc>
              <a:buClr>
                <a:schemeClr val="tx1"/>
              </a:buClr>
              <a:buFont typeface="Wingdings" pitchFamily="2" charset="2"/>
              <a:buNone/>
              <a:defRPr/>
            </a:pPr>
            <a:r>
              <a:rPr lang="en-US" sz="3600" b="1" dirty="0" smtClean="0"/>
              <a:t>Complaints alleging that an </a:t>
            </a:r>
            <a:r>
              <a:rPr lang="en-US" sz="3600" b="1" u="sng" dirty="0" smtClean="0"/>
              <a:t>educator</a:t>
            </a:r>
            <a:r>
              <a:rPr lang="en-US" sz="3600" b="1" dirty="0" smtClean="0"/>
              <a:t> has been convicted: </a:t>
            </a:r>
          </a:p>
        </p:txBody>
      </p:sp>
      <p:sp>
        <p:nvSpPr>
          <p:cNvPr id="3935236" name="Rectangle 4"/>
          <p:cNvSpPr>
            <a:spLocks noChangeArrowheads="1"/>
          </p:cNvSpPr>
          <p:nvPr/>
        </p:nvSpPr>
        <p:spPr bwMode="auto">
          <a:xfrm>
            <a:off x="685800" y="2743200"/>
            <a:ext cx="7696200" cy="1752600"/>
          </a:xfrm>
          <a:prstGeom prst="rect">
            <a:avLst/>
          </a:prstGeom>
          <a:noFill/>
          <a:ln w="9525">
            <a:noFill/>
            <a:miter lim="800000"/>
            <a:headEnd/>
            <a:tailEnd/>
          </a:ln>
        </p:spPr>
        <p:txBody>
          <a:bodyPr/>
          <a:lstStyle/>
          <a:p>
            <a:pPr marL="457200" indent="-457200">
              <a:spcBef>
                <a:spcPct val="20000"/>
              </a:spcBef>
              <a:buClr>
                <a:schemeClr val="tx1"/>
              </a:buClr>
              <a:buSzPct val="80000"/>
              <a:buFont typeface="Wingdings" pitchFamily="2" charset="2"/>
              <a:buChar char="n"/>
              <a:defRPr/>
            </a:pPr>
            <a:r>
              <a:rPr lang="en-US" sz="3600" dirty="0">
                <a:effectLst>
                  <a:outerShdw blurRad="38100" dist="38100" dir="2700000" algn="tl">
                    <a:srgbClr val="000000"/>
                  </a:outerShdw>
                </a:effectLst>
                <a:cs typeface="+mn-cs"/>
              </a:rPr>
              <a:t>of any felony, </a:t>
            </a:r>
          </a:p>
          <a:p>
            <a:pPr marL="457200" indent="-457200">
              <a:spcBef>
                <a:spcPct val="20000"/>
              </a:spcBef>
              <a:buClr>
                <a:schemeClr val="tx1"/>
              </a:buClr>
              <a:buSzPct val="80000"/>
              <a:buFont typeface="Wingdings" pitchFamily="2" charset="2"/>
              <a:buChar char="n"/>
              <a:defRPr/>
            </a:pPr>
            <a:r>
              <a:rPr lang="en-US" sz="3600" dirty="0">
                <a:effectLst>
                  <a:outerShdw blurRad="38100" dist="38100" dir="2700000" algn="tl">
                    <a:srgbClr val="000000"/>
                  </a:outerShdw>
                </a:effectLst>
                <a:cs typeface="+mn-cs"/>
              </a:rPr>
              <a:t>of any crime involving moral turpitude,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6258" name="Rectangle 2"/>
          <p:cNvSpPr>
            <a:spLocks noGrp="1" noChangeArrowheads="1"/>
          </p:cNvSpPr>
          <p:nvPr>
            <p:ph type="title"/>
          </p:nvPr>
        </p:nvSpPr>
        <p:spPr/>
        <p:txBody>
          <a:bodyPr/>
          <a:lstStyle/>
          <a:p>
            <a:pPr eaLnBrk="1" hangingPunct="1">
              <a:defRPr/>
            </a:pPr>
            <a:r>
              <a:rPr lang="en-US" sz="3200" b="1" dirty="0" smtClean="0"/>
              <a:t>20-2-984.3.(5)</a:t>
            </a:r>
            <a:r>
              <a:rPr lang="en-US" sz="3200" dirty="0" smtClean="0"/>
              <a:t> …</a:t>
            </a:r>
            <a:r>
              <a:rPr lang="en-US" sz="3200" b="1" dirty="0" smtClean="0"/>
              <a:t>the commission </a:t>
            </a:r>
            <a:r>
              <a:rPr lang="en-US" sz="3200" b="1" u="sng" dirty="0" smtClean="0"/>
              <a:t>shall be authorized</a:t>
            </a:r>
            <a:r>
              <a:rPr lang="en-US" sz="3200" b="1" dirty="0" smtClean="0"/>
              <a:t> to investigate:</a:t>
            </a:r>
          </a:p>
        </p:txBody>
      </p:sp>
      <p:sp>
        <p:nvSpPr>
          <p:cNvPr id="3936259" name="Rectangle 3"/>
          <p:cNvSpPr>
            <a:spLocks noGrp="1" noChangeArrowheads="1"/>
          </p:cNvSpPr>
          <p:nvPr>
            <p:ph type="body" idx="1"/>
          </p:nvPr>
        </p:nvSpPr>
        <p:spPr>
          <a:xfrm>
            <a:off x="457200" y="1600200"/>
            <a:ext cx="8229600" cy="990600"/>
          </a:xfrm>
        </p:spPr>
        <p:txBody>
          <a:bodyPr/>
          <a:lstStyle/>
          <a:p>
            <a:pPr marL="0" indent="0" eaLnBrk="1" hangingPunct="1">
              <a:lnSpc>
                <a:spcPct val="90000"/>
              </a:lnSpc>
              <a:buClr>
                <a:schemeClr val="tx1"/>
              </a:buClr>
              <a:buFont typeface="Wingdings" pitchFamily="2" charset="2"/>
              <a:buNone/>
              <a:defRPr/>
            </a:pPr>
            <a:r>
              <a:rPr lang="en-US" b="1" dirty="0" smtClean="0"/>
              <a:t>Complaints alleging that an </a:t>
            </a:r>
            <a:r>
              <a:rPr lang="en-US" b="1" u="sng" dirty="0" smtClean="0"/>
              <a:t>educator</a:t>
            </a:r>
            <a:r>
              <a:rPr lang="en-US" b="1" dirty="0" smtClean="0"/>
              <a:t> has been convicted:</a:t>
            </a:r>
            <a:r>
              <a:rPr lang="en-US" sz="1400" b="1" dirty="0" smtClean="0"/>
              <a:t> </a:t>
            </a:r>
          </a:p>
        </p:txBody>
      </p:sp>
      <p:sp>
        <p:nvSpPr>
          <p:cNvPr id="3936260" name="Rectangle 4"/>
          <p:cNvSpPr>
            <a:spLocks noChangeArrowheads="1"/>
          </p:cNvSpPr>
          <p:nvPr/>
        </p:nvSpPr>
        <p:spPr bwMode="auto">
          <a:xfrm>
            <a:off x="457200" y="2590800"/>
            <a:ext cx="8229600" cy="3048000"/>
          </a:xfrm>
          <a:prstGeom prst="rect">
            <a:avLst/>
          </a:prstGeom>
          <a:noFill/>
          <a:ln w="9525">
            <a:noFill/>
            <a:miter lim="800000"/>
            <a:headEnd/>
            <a:tailEnd/>
          </a:ln>
        </p:spPr>
        <p:txBody>
          <a:bodyPr/>
          <a:lstStyle/>
          <a:p>
            <a:pPr marL="457200" indent="-457200">
              <a:spcBef>
                <a:spcPct val="20000"/>
              </a:spcBef>
              <a:buClr>
                <a:schemeClr val="tx1"/>
              </a:buClr>
              <a:buSzPct val="80000"/>
              <a:buFont typeface="Wingdings" pitchFamily="2" charset="2"/>
              <a:buChar char="n"/>
              <a:defRPr/>
            </a:pPr>
            <a:r>
              <a:rPr lang="en-US" sz="3600" dirty="0">
                <a:effectLst>
                  <a:outerShdw blurRad="38100" dist="38100" dir="2700000" algn="tl">
                    <a:srgbClr val="000000"/>
                  </a:outerShdw>
                </a:effectLst>
                <a:cs typeface="+mn-cs"/>
              </a:rPr>
              <a:t>of any other criminal offense involving the manufacture, distribution, trafficking, sale, or possession of a controlled substance or marijuana, or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7282" name="Rectangle 2"/>
          <p:cNvSpPr>
            <a:spLocks noGrp="1" noChangeArrowheads="1"/>
          </p:cNvSpPr>
          <p:nvPr>
            <p:ph type="title"/>
          </p:nvPr>
        </p:nvSpPr>
        <p:spPr/>
        <p:txBody>
          <a:bodyPr/>
          <a:lstStyle/>
          <a:p>
            <a:pPr eaLnBrk="1" hangingPunct="1">
              <a:defRPr/>
            </a:pPr>
            <a:r>
              <a:rPr lang="en-US" sz="3200" b="1" dirty="0" smtClean="0"/>
              <a:t>20-2-984.3.(5)</a:t>
            </a:r>
            <a:r>
              <a:rPr lang="en-US" sz="3200" dirty="0" smtClean="0"/>
              <a:t> …</a:t>
            </a:r>
            <a:r>
              <a:rPr lang="en-US" sz="3200" b="1" dirty="0" smtClean="0"/>
              <a:t>the commission </a:t>
            </a:r>
            <a:r>
              <a:rPr lang="en-US" sz="3200" b="1" u="sng" dirty="0" smtClean="0"/>
              <a:t>shall be authorized</a:t>
            </a:r>
            <a:r>
              <a:rPr lang="en-US" sz="3200" b="1" dirty="0" smtClean="0"/>
              <a:t> to investigate:</a:t>
            </a:r>
          </a:p>
        </p:txBody>
      </p:sp>
      <p:sp>
        <p:nvSpPr>
          <p:cNvPr id="3937283" name="Rectangle 3"/>
          <p:cNvSpPr>
            <a:spLocks noGrp="1" noChangeArrowheads="1"/>
          </p:cNvSpPr>
          <p:nvPr>
            <p:ph type="body" idx="1"/>
          </p:nvPr>
        </p:nvSpPr>
        <p:spPr>
          <a:xfrm>
            <a:off x="457200" y="1600200"/>
            <a:ext cx="8229600" cy="990600"/>
          </a:xfrm>
        </p:spPr>
        <p:txBody>
          <a:bodyPr/>
          <a:lstStyle/>
          <a:p>
            <a:pPr marL="0" indent="0" eaLnBrk="1" hangingPunct="1">
              <a:lnSpc>
                <a:spcPct val="90000"/>
              </a:lnSpc>
              <a:buClr>
                <a:schemeClr val="tx1"/>
              </a:buClr>
              <a:buFont typeface="Wingdings" pitchFamily="2" charset="2"/>
              <a:buNone/>
              <a:defRPr/>
            </a:pPr>
            <a:r>
              <a:rPr lang="en-US" b="1" dirty="0" smtClean="0"/>
              <a:t>Complaints alleging that an </a:t>
            </a:r>
            <a:r>
              <a:rPr lang="en-US" b="1" u="sng" dirty="0" smtClean="0"/>
              <a:t>educator</a:t>
            </a:r>
            <a:r>
              <a:rPr lang="en-US" b="1" dirty="0" smtClean="0"/>
              <a:t> has been convicted:</a:t>
            </a:r>
            <a:r>
              <a:rPr lang="en-US" sz="1400" b="1" dirty="0" smtClean="0"/>
              <a:t> </a:t>
            </a:r>
          </a:p>
        </p:txBody>
      </p:sp>
      <p:sp>
        <p:nvSpPr>
          <p:cNvPr id="3937284" name="Rectangle 4"/>
          <p:cNvSpPr>
            <a:spLocks noChangeArrowheads="1"/>
          </p:cNvSpPr>
          <p:nvPr/>
        </p:nvSpPr>
        <p:spPr bwMode="auto">
          <a:xfrm>
            <a:off x="533400" y="2667000"/>
            <a:ext cx="8077200" cy="3505200"/>
          </a:xfrm>
          <a:prstGeom prst="rect">
            <a:avLst/>
          </a:prstGeom>
          <a:noFill/>
          <a:ln w="9525">
            <a:noFill/>
            <a:miter lim="800000"/>
            <a:headEnd/>
            <a:tailEnd/>
          </a:ln>
        </p:spPr>
        <p:txBody>
          <a:bodyPr/>
          <a:lstStyle/>
          <a:p>
            <a:pPr marL="457200" indent="-457200">
              <a:spcBef>
                <a:spcPct val="20000"/>
              </a:spcBef>
              <a:buClr>
                <a:schemeClr val="tx1"/>
              </a:buClr>
              <a:buSzPct val="80000"/>
              <a:buFont typeface="Wingdings" pitchFamily="2" charset="2"/>
              <a:buChar char="n"/>
              <a:defRPr/>
            </a:pPr>
            <a:r>
              <a:rPr lang="en-US" sz="3600" dirty="0">
                <a:effectLst>
                  <a:outerShdw blurRad="38100" dist="38100" dir="2700000" algn="tl">
                    <a:srgbClr val="000000"/>
                  </a:outerShdw>
                </a:effectLst>
                <a:cs typeface="+mn-cs"/>
              </a:rPr>
              <a:t>any sexual offense </a:t>
            </a:r>
            <a:r>
              <a:rPr lang="en-US" sz="3200" b="0" dirty="0">
                <a:effectLst>
                  <a:outerShdw blurRad="38100" dist="38100" dir="2700000" algn="tl">
                    <a:srgbClr val="000000"/>
                  </a:outerShdw>
                </a:effectLst>
                <a:cs typeface="+mn-cs"/>
              </a:rPr>
              <a:t>as provided for in Code Sections 16-6-1 through 16-6-17 or Code Section 16-6-20, 16-6-22.2, or 16-12-100…</a:t>
            </a:r>
            <a:endParaRPr lang="en-US" sz="3200" dirty="0">
              <a:effectLst>
                <a:outerShdw blurRad="38100" dist="38100" dir="2700000" algn="tl">
                  <a:srgbClr val="000000"/>
                </a:outerShdw>
              </a:effectLst>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57410" name="Rectangle 2"/>
          <p:cNvSpPr>
            <a:spLocks noGrp="1" noChangeArrowheads="1"/>
          </p:cNvSpPr>
          <p:nvPr>
            <p:ph type="title"/>
          </p:nvPr>
        </p:nvSpPr>
        <p:spPr>
          <a:xfrm>
            <a:off x="1066800" y="1066800"/>
            <a:ext cx="7239000" cy="4419600"/>
          </a:xfrm>
        </p:spPr>
        <p:txBody>
          <a:bodyPr/>
          <a:lstStyle/>
          <a:p>
            <a:pPr eaLnBrk="1" hangingPunct="1">
              <a:defRPr/>
            </a:pPr>
            <a:r>
              <a:rPr lang="en-US" sz="6000" b="1" dirty="0" smtClean="0"/>
              <a:t>Reporting the </a:t>
            </a:r>
            <a:r>
              <a:rPr lang="en-US" sz="7200" b="1" dirty="0" smtClean="0">
                <a:solidFill>
                  <a:srgbClr val="FFFF00"/>
                </a:solidFill>
              </a:rPr>
              <a:t>COMMISSION</a:t>
            </a:r>
            <a:r>
              <a:rPr lang="en-US" sz="7200" b="1" dirty="0" smtClean="0"/>
              <a:t> </a:t>
            </a:r>
            <a:r>
              <a:rPr lang="en-US" sz="6000" b="1" dirty="0" smtClean="0"/>
              <a:t>    of a                          Criminal Offense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9218" name="Rectangle 2"/>
          <p:cNvSpPr>
            <a:spLocks noGrp="1" noChangeArrowheads="1"/>
          </p:cNvSpPr>
          <p:nvPr>
            <p:ph type="title"/>
          </p:nvPr>
        </p:nvSpPr>
        <p:spPr/>
        <p:txBody>
          <a:bodyPr/>
          <a:lstStyle/>
          <a:p>
            <a:pPr eaLnBrk="1" hangingPunct="1">
              <a:defRPr/>
            </a:pPr>
            <a:r>
              <a:rPr lang="en-US" sz="2800" b="1" dirty="0" smtClean="0">
                <a:solidFill>
                  <a:srgbClr val="FFFF00"/>
                </a:solidFill>
              </a:rPr>
              <a:t>20-2-984.2.</a:t>
            </a:r>
            <a:r>
              <a:rPr lang="en-US" sz="2800" b="1" dirty="0" smtClean="0">
                <a:solidFill>
                  <a:schemeClr val="tx1"/>
                </a:solidFill>
              </a:rPr>
              <a:t> Requests by Local Boards for Investigation of Criminal Offenses</a:t>
            </a:r>
          </a:p>
        </p:txBody>
      </p:sp>
      <p:sp>
        <p:nvSpPr>
          <p:cNvPr id="3849219" name="Rectangle 3"/>
          <p:cNvSpPr>
            <a:spLocks noGrp="1" noChangeArrowheads="1"/>
          </p:cNvSpPr>
          <p:nvPr>
            <p:ph type="body" idx="1"/>
          </p:nvPr>
        </p:nvSpPr>
        <p:spPr>
          <a:xfrm>
            <a:off x="533400" y="1600200"/>
            <a:ext cx="8077200" cy="4495800"/>
          </a:xfrm>
        </p:spPr>
        <p:txBody>
          <a:bodyPr/>
          <a:lstStyle/>
          <a:p>
            <a:pPr marL="0" indent="0" eaLnBrk="1" hangingPunct="1">
              <a:lnSpc>
                <a:spcPct val="80000"/>
              </a:lnSpc>
              <a:buFont typeface="Wingdings" pitchFamily="2" charset="2"/>
              <a:buNone/>
              <a:defRPr/>
            </a:pPr>
            <a:r>
              <a:rPr lang="en-US" sz="2800" dirty="0" smtClean="0"/>
              <a:t>(a)  </a:t>
            </a:r>
            <a:r>
              <a:rPr lang="en-US" sz="3600" dirty="0" smtClean="0"/>
              <a:t>Superintendents, associate or assistant superintendents, or directors of personnel shall</a:t>
            </a:r>
            <a:r>
              <a:rPr lang="en-US" sz="3600" b="1" dirty="0" smtClean="0">
                <a:solidFill>
                  <a:srgbClr val="FFFF00"/>
                </a:solidFill>
              </a:rPr>
              <a:t> make an immediate written report to the local board of education</a:t>
            </a:r>
            <a:r>
              <a:rPr lang="en-US" sz="3600" dirty="0" smtClean="0"/>
              <a:t> upon receiving a </a:t>
            </a:r>
            <a:r>
              <a:rPr lang="en-US" sz="3600" b="1" dirty="0" smtClean="0">
                <a:solidFill>
                  <a:srgbClr val="FFFF00"/>
                </a:solidFill>
              </a:rPr>
              <a:t>written report</a:t>
            </a:r>
            <a:r>
              <a:rPr lang="en-US" sz="3600" dirty="0" smtClean="0"/>
              <a:t> … that any school system educator employed by the local unit of administration has committed any of the following specifically identified crimes:</a:t>
            </a:r>
            <a:r>
              <a:rPr lang="en-US" sz="2800" dirty="0" smtClean="0"/>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50242" name="Rectangle 2"/>
          <p:cNvSpPr>
            <a:spLocks noGrp="1" noChangeArrowheads="1"/>
          </p:cNvSpPr>
          <p:nvPr>
            <p:ph type="title"/>
          </p:nvPr>
        </p:nvSpPr>
        <p:spPr/>
        <p:txBody>
          <a:bodyPr/>
          <a:lstStyle/>
          <a:p>
            <a:pPr eaLnBrk="1" hangingPunct="1">
              <a:defRPr/>
            </a:pPr>
            <a:r>
              <a:rPr lang="en-US" sz="2800" b="1" dirty="0" smtClean="0">
                <a:solidFill>
                  <a:schemeClr val="tx1"/>
                </a:solidFill>
              </a:rPr>
              <a:t>20-2-984.2. Requests by Local Boards for Investigation of Criminal Offenses</a:t>
            </a:r>
          </a:p>
        </p:txBody>
      </p:sp>
      <p:sp>
        <p:nvSpPr>
          <p:cNvPr id="3850243" name="Rectangle 3"/>
          <p:cNvSpPr>
            <a:spLocks noGrp="1" noChangeArrowheads="1"/>
          </p:cNvSpPr>
          <p:nvPr>
            <p:ph type="body" idx="1"/>
          </p:nvPr>
        </p:nvSpPr>
        <p:spPr/>
        <p:txBody>
          <a:bodyPr/>
          <a:lstStyle/>
          <a:p>
            <a:pPr marL="609600" indent="-609600" eaLnBrk="1" hangingPunct="1">
              <a:lnSpc>
                <a:spcPct val="90000"/>
              </a:lnSpc>
              <a:buClr>
                <a:schemeClr val="tx1"/>
              </a:buClr>
              <a:defRPr/>
            </a:pPr>
            <a:r>
              <a:rPr lang="en-US" sz="2800" b="1" dirty="0" smtClean="0"/>
              <a:t>Murder, voluntary manslaughter, aggravated assault, aggravated battery, or kidnapping,</a:t>
            </a:r>
          </a:p>
          <a:p>
            <a:pPr marL="609600" indent="-609600" eaLnBrk="1" hangingPunct="1">
              <a:lnSpc>
                <a:spcPct val="90000"/>
              </a:lnSpc>
              <a:buClr>
                <a:schemeClr val="tx1"/>
              </a:buClr>
              <a:defRPr/>
            </a:pPr>
            <a:r>
              <a:rPr lang="en-US" sz="2800" b="1" dirty="0" smtClean="0"/>
              <a:t>Any sexual offense, </a:t>
            </a:r>
          </a:p>
          <a:p>
            <a:pPr marL="609600" indent="-609600" eaLnBrk="1" hangingPunct="1">
              <a:lnSpc>
                <a:spcPct val="90000"/>
              </a:lnSpc>
              <a:buClr>
                <a:schemeClr val="tx1"/>
              </a:buClr>
              <a:defRPr/>
            </a:pPr>
            <a:r>
              <a:rPr lang="en-US" sz="2800" b="1" dirty="0" smtClean="0"/>
              <a:t>Any sexual exploitation of a minor </a:t>
            </a:r>
          </a:p>
          <a:p>
            <a:pPr marL="609600" indent="-609600" eaLnBrk="1" hangingPunct="1">
              <a:lnSpc>
                <a:spcPct val="90000"/>
              </a:lnSpc>
              <a:buClr>
                <a:schemeClr val="tx1"/>
              </a:buClr>
              <a:defRPr/>
            </a:pPr>
            <a:r>
              <a:rPr lang="en-US" sz="2800" b="1" dirty="0" smtClean="0"/>
              <a:t>Any offense involving marijuana or a controlled substance</a:t>
            </a:r>
          </a:p>
          <a:p>
            <a:pPr marL="609600" indent="-609600" eaLnBrk="1" hangingPunct="1">
              <a:lnSpc>
                <a:spcPct val="90000"/>
              </a:lnSpc>
              <a:buClr>
                <a:schemeClr val="tx1"/>
              </a:buClr>
              <a:defRPr/>
            </a:pPr>
            <a:r>
              <a:rPr lang="en-US" sz="2800" b="1" dirty="0" smtClean="0"/>
              <a:t>Any offense involving theft</a:t>
            </a:r>
          </a:p>
          <a:p>
            <a:pPr marL="609600" indent="-609600" eaLnBrk="1" hangingPunct="1">
              <a:lnSpc>
                <a:spcPct val="90000"/>
              </a:lnSpc>
              <a:buClr>
                <a:schemeClr val="tx1"/>
              </a:buClr>
              <a:defRPr/>
            </a:pPr>
            <a:r>
              <a:rPr lang="en-US" sz="2800" b="1" dirty="0" smtClean="0"/>
              <a:t>Unlawfully operating a motor vehicle after being declared a habitual violator</a:t>
            </a:r>
            <a:r>
              <a:rPr lang="en-US" sz="2800" dirty="0" smtClean="0"/>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51266" name="Rectangle 2"/>
          <p:cNvSpPr>
            <a:spLocks noGrp="1" noChangeArrowheads="1"/>
          </p:cNvSpPr>
          <p:nvPr>
            <p:ph type="title"/>
          </p:nvPr>
        </p:nvSpPr>
        <p:spPr/>
        <p:txBody>
          <a:bodyPr/>
          <a:lstStyle/>
          <a:p>
            <a:pPr eaLnBrk="1" hangingPunct="1">
              <a:defRPr/>
            </a:pPr>
            <a:r>
              <a:rPr lang="en-US" sz="2800" b="1" dirty="0" smtClean="0">
                <a:solidFill>
                  <a:schemeClr val="tx1"/>
                </a:solidFill>
              </a:rPr>
              <a:t>20-2-984.2. Requests by Local Boards for Investigation of Criminal Offenses</a:t>
            </a:r>
          </a:p>
        </p:txBody>
      </p:sp>
      <p:sp>
        <p:nvSpPr>
          <p:cNvPr id="3851267" name="Rectangle 3"/>
          <p:cNvSpPr>
            <a:spLocks noGrp="1" noChangeArrowheads="1"/>
          </p:cNvSpPr>
          <p:nvPr>
            <p:ph type="body" idx="1"/>
          </p:nvPr>
        </p:nvSpPr>
        <p:spPr>
          <a:xfrm>
            <a:off x="457200" y="1600200"/>
            <a:ext cx="8229600" cy="4724400"/>
          </a:xfrm>
        </p:spPr>
        <p:txBody>
          <a:bodyPr/>
          <a:lstStyle/>
          <a:p>
            <a:pPr marL="682625" indent="-682625" eaLnBrk="1" hangingPunct="1">
              <a:buFont typeface="Wingdings" pitchFamily="2" charset="2"/>
              <a:buNone/>
              <a:defRPr/>
            </a:pPr>
            <a:r>
              <a:rPr lang="en-US" dirty="0" smtClean="0"/>
              <a:t>(b) </a:t>
            </a:r>
            <a:r>
              <a:rPr lang="en-US" sz="3600" b="1" dirty="0" smtClean="0">
                <a:solidFill>
                  <a:srgbClr val="FFFF00"/>
                </a:solidFill>
              </a:rPr>
              <a:t>If the local board of education determines that</a:t>
            </a:r>
            <a:r>
              <a:rPr lang="en-US" sz="3600" dirty="0" smtClean="0">
                <a:solidFill>
                  <a:srgbClr val="FFFF00"/>
                </a:solidFill>
              </a:rPr>
              <a:t> </a:t>
            </a:r>
            <a:r>
              <a:rPr lang="en-US" sz="3600" b="1" dirty="0" smtClean="0">
                <a:solidFill>
                  <a:srgbClr val="FFFF00"/>
                </a:solidFill>
              </a:rPr>
              <a:t>the matters</a:t>
            </a:r>
            <a:r>
              <a:rPr lang="en-US" sz="3600" dirty="0" smtClean="0">
                <a:solidFill>
                  <a:srgbClr val="FFFF00"/>
                </a:solidFill>
              </a:rPr>
              <a:t> … </a:t>
            </a:r>
            <a:r>
              <a:rPr lang="en-US" sz="3600" b="1" dirty="0" smtClean="0">
                <a:solidFill>
                  <a:srgbClr val="FFFF00"/>
                </a:solidFill>
              </a:rPr>
              <a:t>warrant investigation</a:t>
            </a:r>
            <a:r>
              <a:rPr lang="en-US" sz="3600" dirty="0" smtClean="0">
                <a:solidFill>
                  <a:srgbClr val="FFFF00"/>
                </a:solidFill>
              </a:rPr>
              <a:t>, </a:t>
            </a:r>
            <a:r>
              <a:rPr lang="en-US" sz="3600" b="1" u="sng" dirty="0" smtClean="0">
                <a:solidFill>
                  <a:srgbClr val="FFFF00"/>
                </a:solidFill>
              </a:rPr>
              <a:t>then</a:t>
            </a:r>
            <a:r>
              <a:rPr lang="en-US" sz="3600" dirty="0" smtClean="0">
                <a:solidFill>
                  <a:srgbClr val="FFFF00"/>
                </a:solidFill>
              </a:rPr>
              <a:t> </a:t>
            </a:r>
            <a:r>
              <a:rPr lang="en-US" sz="3600" b="1" dirty="0" smtClean="0">
                <a:solidFill>
                  <a:srgbClr val="FFFF00"/>
                </a:solidFill>
              </a:rPr>
              <a:t>the local board of education shall … transmit such report to the commission with a request for investigation.</a:t>
            </a:r>
            <a:r>
              <a:rPr lang="en-US" sz="4000" b="1" dirty="0" smtClean="0">
                <a:solidFill>
                  <a:srgbClr val="FFFF00"/>
                </a:solidFill>
              </a:rPr>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8291" name="Rectangle 3"/>
          <p:cNvSpPr>
            <a:spLocks noGrp="1" noChangeArrowheads="1"/>
          </p:cNvSpPr>
          <p:nvPr>
            <p:ph type="body" idx="1"/>
          </p:nvPr>
        </p:nvSpPr>
        <p:spPr>
          <a:xfrm>
            <a:off x="838200" y="838200"/>
            <a:ext cx="7467600" cy="4191000"/>
          </a:xfrm>
        </p:spPr>
        <p:txBody>
          <a:bodyPr/>
          <a:lstStyle/>
          <a:p>
            <a:pPr marL="0" indent="0" algn="ctr">
              <a:buFont typeface="Wingdings" pitchFamily="2" charset="2"/>
              <a:buNone/>
              <a:defRPr/>
            </a:pPr>
            <a:r>
              <a:rPr lang="en-US" sz="4400" b="1" dirty="0" smtClean="0"/>
              <a:t>The educator pled guilty to two counts of Theft by Taking for stealing gasoline from the school system valued at $1,032.75. </a:t>
            </a:r>
          </a:p>
        </p:txBody>
      </p:sp>
      <p:sp>
        <p:nvSpPr>
          <p:cNvPr id="4"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One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6259" name="Rectangle 3"/>
          <p:cNvSpPr>
            <a:spLocks noGrp="1" noChangeArrowheads="1"/>
          </p:cNvSpPr>
          <p:nvPr>
            <p:ph type="body" idx="1"/>
          </p:nvPr>
        </p:nvSpPr>
        <p:spPr>
          <a:xfrm>
            <a:off x="914400" y="1143000"/>
            <a:ext cx="7467600" cy="3962400"/>
          </a:xfrm>
        </p:spPr>
        <p:txBody>
          <a:bodyPr/>
          <a:lstStyle/>
          <a:p>
            <a:pPr marL="0" indent="0" algn="ctr" eaLnBrk="1" hangingPunct="1">
              <a:buFont typeface="Wingdings" pitchFamily="2" charset="2"/>
              <a:buNone/>
              <a:defRPr/>
            </a:pPr>
            <a:r>
              <a:rPr lang="en-US" sz="4400" b="1" dirty="0" smtClean="0"/>
              <a:t>The educator was convicted of criminal offenses pertaining to the forging and passing of prescriptions for drugs. </a:t>
            </a:r>
          </a:p>
        </p:txBody>
      </p:sp>
      <p:sp>
        <p:nvSpPr>
          <p:cNvPr id="4" name="Text Box 3"/>
          <p:cNvSpPr txBox="1">
            <a:spLocks noChangeArrowheads="1"/>
          </p:cNvSpPr>
          <p:nvPr/>
        </p:nvSpPr>
        <p:spPr bwMode="auto">
          <a:xfrm>
            <a:off x="1143000" y="5410200"/>
            <a:ext cx="68580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8291" name="Rectangle 3"/>
          <p:cNvSpPr>
            <a:spLocks noGrp="1" noChangeArrowheads="1"/>
          </p:cNvSpPr>
          <p:nvPr>
            <p:ph type="body" idx="1"/>
          </p:nvPr>
        </p:nvSpPr>
        <p:spPr>
          <a:xfrm>
            <a:off x="685800" y="914400"/>
            <a:ext cx="7696200" cy="3581400"/>
          </a:xfrm>
        </p:spPr>
        <p:txBody>
          <a:bodyPr/>
          <a:lstStyle/>
          <a:p>
            <a:pPr marL="0" indent="0" algn="ctr">
              <a:buFont typeface="Wingdings" pitchFamily="2" charset="2"/>
              <a:buNone/>
            </a:pPr>
            <a:r>
              <a:rPr lang="en-US" sz="4400" b="1" smtClean="0"/>
              <a:t>The educator surrendered his certificate after being charged with distributing child pornography.</a:t>
            </a:r>
          </a:p>
        </p:txBody>
      </p:sp>
      <p:sp>
        <p:nvSpPr>
          <p:cNvPr id="4" name="Text Box 3"/>
          <p:cNvSpPr txBox="1">
            <a:spLocks noChangeArrowheads="1"/>
          </p:cNvSpPr>
          <p:nvPr/>
        </p:nvSpPr>
        <p:spPr bwMode="auto">
          <a:xfrm>
            <a:off x="685800" y="53340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19907" name="Rectangle 3"/>
          <p:cNvSpPr>
            <a:spLocks noGrp="1" noChangeArrowheads="1"/>
          </p:cNvSpPr>
          <p:nvPr>
            <p:ph type="title" idx="4294967295"/>
          </p:nvPr>
        </p:nvSpPr>
        <p:spPr>
          <a:xfrm>
            <a:off x="1219200" y="1219200"/>
            <a:ext cx="6781800" cy="4038600"/>
          </a:xfrm>
        </p:spPr>
        <p:txBody>
          <a:bodyPr/>
          <a:lstStyle/>
          <a:p>
            <a:pPr eaLnBrk="1" hangingPunct="1">
              <a:defRPr/>
            </a:pPr>
            <a:r>
              <a:rPr lang="en-US" sz="8000" b="1" dirty="0" smtClean="0">
                <a:solidFill>
                  <a:srgbClr val="FFFF00"/>
                </a:solidFill>
              </a:rPr>
              <a:t>Conduct with Students</a:t>
            </a:r>
            <a:endParaRPr lang="en-US" sz="8000" b="1" dirty="0">
              <a:solidFill>
                <a:srgbClr val="FFFF00"/>
              </a:solidFill>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99012" name="Rectangle 4"/>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2</a:t>
            </a:r>
          </a:p>
        </p:txBody>
      </p:sp>
      <p:sp>
        <p:nvSpPr>
          <p:cNvPr id="3499015" name="Rectangle 7"/>
          <p:cNvSpPr>
            <a:spLocks noChangeArrowheads="1"/>
          </p:cNvSpPr>
          <p:nvPr/>
        </p:nvSpPr>
        <p:spPr bwMode="auto">
          <a:xfrm>
            <a:off x="685800" y="1219200"/>
            <a:ext cx="78486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800" dirty="0">
                <a:effectLst>
                  <a:outerShdw blurRad="38100" dist="38100" dir="2700000" algn="tl">
                    <a:srgbClr val="000000"/>
                  </a:outerShdw>
                </a:effectLst>
                <a:cs typeface="+mn-cs"/>
              </a:rPr>
              <a:t>An educator  shall always maintain a </a:t>
            </a:r>
            <a:r>
              <a:rPr lang="en-US" dirty="0">
                <a:solidFill>
                  <a:srgbClr val="FFFF00"/>
                </a:solidFill>
                <a:effectLst>
                  <a:outerShdw blurRad="38100" dist="38100" dir="2700000" algn="tl">
                    <a:srgbClr val="000000"/>
                  </a:outerShdw>
                </a:effectLst>
                <a:cs typeface="+mn-cs"/>
              </a:rPr>
              <a:t>professional </a:t>
            </a:r>
            <a:r>
              <a:rPr lang="en-US" sz="4800" dirty="0">
                <a:effectLst>
                  <a:outerShdw blurRad="38100" dist="38100" dir="2700000" algn="tl">
                    <a:srgbClr val="000000"/>
                  </a:outerShdw>
                </a:effectLst>
                <a:cs typeface="+mn-cs"/>
              </a:rPr>
              <a:t>relationship with all students, both in and outside the classroom.</a:t>
            </a:r>
            <a:endParaRPr lang="en-US" sz="4800" b="0" dirty="0">
              <a:effectLst>
                <a:outerShdw blurRad="38100" dist="38100" dir="2700000" algn="tl">
                  <a:srgbClr val="000000"/>
                </a:outerShdw>
              </a:effectLst>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99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9015"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21954" name="Rectangle 2"/>
          <p:cNvSpPr>
            <a:spLocks noGrp="1" noChangeArrowheads="1"/>
          </p:cNvSpPr>
          <p:nvPr>
            <p:ph type="body" sz="half" idx="4294967295"/>
          </p:nvPr>
        </p:nvSpPr>
        <p:spPr>
          <a:xfrm>
            <a:off x="1447800" y="914400"/>
            <a:ext cx="6248400" cy="4724400"/>
          </a:xfrm>
        </p:spPr>
        <p:txBody>
          <a:bodyPr/>
          <a:lstStyle/>
          <a:p>
            <a:pPr marL="0" indent="0" algn="ctr" eaLnBrk="1" hangingPunct="1">
              <a:buFont typeface="Wingdings" pitchFamily="2" charset="2"/>
              <a:buNone/>
              <a:defRPr/>
            </a:pPr>
            <a:r>
              <a:rPr lang="en-US" sz="6600" b="1" smtClean="0">
                <a:solidFill>
                  <a:srgbClr val="FFFF00"/>
                </a:solidFill>
              </a:rPr>
              <a:t>A student is</a:t>
            </a:r>
            <a:r>
              <a:rPr lang="en-US" sz="6600" b="1" smtClean="0"/>
              <a:t> </a:t>
            </a:r>
            <a:r>
              <a:rPr lang="en-US" sz="6600" b="1" smtClean="0">
                <a:solidFill>
                  <a:srgbClr val="FFFF00"/>
                </a:solidFill>
              </a:rPr>
              <a:t>anyone under the age of      </a:t>
            </a:r>
            <a:r>
              <a:rPr lang="en-US" sz="8800" b="1" smtClean="0">
                <a:solidFill>
                  <a:srgbClr val="FFFF00"/>
                </a:solidFill>
              </a:rPr>
              <a:t>18</a:t>
            </a:r>
            <a:r>
              <a:rPr lang="en-US" sz="6600" b="1" smtClean="0">
                <a:solidFill>
                  <a:srgbClr val="FFFF00"/>
                </a:solidFill>
              </a:rPr>
              <a:t>.</a:t>
            </a:r>
            <a:endParaRPr lang="en-US" sz="6600" smtClean="0">
              <a:solidFill>
                <a:srgbClr val="FFFF00"/>
              </a:solidFill>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21954" name="Rectangle 2"/>
          <p:cNvSpPr>
            <a:spLocks noGrp="1" noChangeArrowheads="1"/>
          </p:cNvSpPr>
          <p:nvPr>
            <p:ph type="body" sz="half" idx="4294967295"/>
          </p:nvPr>
        </p:nvSpPr>
        <p:spPr>
          <a:xfrm>
            <a:off x="609600" y="838200"/>
            <a:ext cx="7772400" cy="4038600"/>
          </a:xfrm>
        </p:spPr>
        <p:txBody>
          <a:bodyPr/>
          <a:lstStyle/>
          <a:p>
            <a:pPr marL="0" indent="0" algn="ctr" eaLnBrk="1" hangingPunct="1">
              <a:lnSpc>
                <a:spcPct val="90000"/>
              </a:lnSpc>
              <a:buFont typeface="Wingdings" pitchFamily="2" charset="2"/>
              <a:buNone/>
              <a:defRPr/>
            </a:pPr>
            <a:r>
              <a:rPr lang="en-US" sz="7200" b="1" dirty="0" smtClean="0">
                <a:solidFill>
                  <a:srgbClr val="FFFF00"/>
                </a:solidFill>
              </a:rPr>
              <a:t>OR, a </a:t>
            </a:r>
            <a:r>
              <a:rPr lang="en-US" sz="7200" b="1" dirty="0">
                <a:solidFill>
                  <a:srgbClr val="FFFF00"/>
                </a:solidFill>
              </a:rPr>
              <a:t>student </a:t>
            </a:r>
            <a:r>
              <a:rPr lang="en-US" sz="7200" b="1" dirty="0" smtClean="0">
                <a:solidFill>
                  <a:srgbClr val="FFFF00"/>
                </a:solidFill>
              </a:rPr>
              <a:t>enrolled in grades Pre-K to 12 in a public or private school.</a:t>
            </a:r>
            <a:endParaRPr lang="en-US" sz="7200" dirty="0">
              <a:solidFill>
                <a:srgbClr val="FFFF00"/>
              </a:solidFill>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0146" name="Rectangle 2"/>
          <p:cNvSpPr>
            <a:spLocks noGrp="1" noChangeArrowheads="1"/>
          </p:cNvSpPr>
          <p:nvPr>
            <p:ph type="title"/>
          </p:nvPr>
        </p:nvSpPr>
        <p:spPr>
          <a:xfrm>
            <a:off x="990600" y="457200"/>
            <a:ext cx="7239000" cy="5668963"/>
          </a:xfrm>
        </p:spPr>
        <p:txBody>
          <a:bodyPr/>
          <a:lstStyle/>
          <a:p>
            <a:pPr eaLnBrk="1" hangingPunct="1">
              <a:defRPr/>
            </a:pPr>
            <a:r>
              <a:rPr lang="en-US" sz="4800" b="1" dirty="0" smtClean="0">
                <a:solidFill>
                  <a:schemeClr val="tx1"/>
                </a:solidFill>
              </a:rPr>
              <a:t>For the purposes of the Code of Ethics,</a:t>
            </a:r>
            <a:r>
              <a:rPr lang="en-US" sz="4800" b="1" dirty="0" smtClean="0">
                <a:solidFill>
                  <a:srgbClr val="FFFF00"/>
                </a:solidFill>
              </a:rPr>
              <a:t>      the enrollment period for a graduating student ends on August 31 of the year of graduation.</a:t>
            </a:r>
            <a:r>
              <a:rPr lang="en-US" sz="4000" dirty="0" smtClean="0"/>
              <a:t>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12355" name="Rectangle 3"/>
          <p:cNvSpPr>
            <a:spLocks noGrp="1" noChangeArrowheads="1"/>
          </p:cNvSpPr>
          <p:nvPr>
            <p:ph type="body" idx="1"/>
          </p:nvPr>
        </p:nvSpPr>
        <p:spPr>
          <a:xfrm>
            <a:off x="609600" y="1295400"/>
            <a:ext cx="7924800" cy="4495800"/>
          </a:xfrm>
        </p:spPr>
        <p:txBody>
          <a:bodyPr/>
          <a:lstStyle/>
          <a:p>
            <a:pPr marL="465138" indent="-465138">
              <a:buClr>
                <a:schemeClr val="tx1"/>
              </a:buClr>
              <a:buFontTx/>
              <a:buAutoNum type="arabicPeriod"/>
              <a:defRPr/>
            </a:pPr>
            <a:r>
              <a:rPr lang="en-US" sz="3600" b="1"/>
              <a:t>committing any act of child abuse, including physical and verbal abuse;</a:t>
            </a:r>
          </a:p>
          <a:p>
            <a:pPr marL="465138" indent="-465138">
              <a:buClr>
                <a:schemeClr val="tx1"/>
              </a:buClr>
              <a:buFontTx/>
              <a:buAutoNum type="arabicPeriod"/>
              <a:defRPr/>
            </a:pPr>
            <a:r>
              <a:rPr lang="en-US" sz="3600" b="1"/>
              <a:t>committing any act of cruelty to children or any act of child endangerment;</a:t>
            </a:r>
          </a:p>
        </p:txBody>
      </p:sp>
      <p:sp>
        <p:nvSpPr>
          <p:cNvPr id="3812356" name="Rectangle 4"/>
          <p:cNvSpPr>
            <a:spLocks noGrp="1" noChangeArrowheads="1"/>
          </p:cNvSpPr>
          <p:nvPr>
            <p:ph type="title"/>
          </p:nvPr>
        </p:nvSpPr>
        <p:spPr>
          <a:xfrm>
            <a:off x="457200" y="304800"/>
            <a:ext cx="8229600" cy="715963"/>
          </a:xfrm>
        </p:spPr>
        <p:txBody>
          <a:bodyPr/>
          <a:lstStyle/>
          <a:p>
            <a:pPr>
              <a:defRPr/>
            </a:pPr>
            <a:r>
              <a:rPr lang="en-US" sz="2800" b="1">
                <a:solidFill>
                  <a:srgbClr val="FFFF00"/>
                </a:solidFill>
              </a:rPr>
              <a:t>Unethical Conduct with Students Includes:</a:t>
            </a:r>
            <a:r>
              <a:rPr lang="en-US" sz="3600" b="1"/>
              <a:t>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81986" name="Rectangle 2"/>
          <p:cNvSpPr>
            <a:spLocks noGrp="1" noChangeArrowheads="1"/>
          </p:cNvSpPr>
          <p:nvPr>
            <p:ph type="body" idx="1"/>
          </p:nvPr>
        </p:nvSpPr>
        <p:spPr>
          <a:xfrm>
            <a:off x="457200" y="1143000"/>
            <a:ext cx="8229600" cy="4495800"/>
          </a:xfrm>
        </p:spPr>
        <p:txBody>
          <a:bodyPr/>
          <a:lstStyle/>
          <a:p>
            <a:pPr marL="609600" indent="-609600">
              <a:buClr>
                <a:schemeClr val="tx1"/>
              </a:buClr>
              <a:buFontTx/>
              <a:buAutoNum type="arabicPeriod" startAt="3"/>
              <a:defRPr/>
            </a:pPr>
            <a:r>
              <a:rPr lang="en-US" sz="3600" b="1"/>
              <a:t>committing any sexual act with a student or soliciting such from a student;</a:t>
            </a:r>
          </a:p>
        </p:txBody>
      </p:sp>
      <p:sp>
        <p:nvSpPr>
          <p:cNvPr id="3881989" name="Rectangle 5"/>
          <p:cNvSpPr>
            <a:spLocks noGrp="1" noChangeArrowheads="1"/>
          </p:cNvSpPr>
          <p:nvPr>
            <p:ph type="title"/>
          </p:nvPr>
        </p:nvSpPr>
        <p:spPr>
          <a:xfrm>
            <a:off x="457200" y="304800"/>
            <a:ext cx="8229600" cy="715963"/>
          </a:xfrm>
        </p:spPr>
        <p:txBody>
          <a:bodyPr/>
          <a:lstStyle/>
          <a:p>
            <a:pPr>
              <a:defRPr/>
            </a:pPr>
            <a:r>
              <a:rPr lang="en-US" sz="2800" b="1">
                <a:solidFill>
                  <a:srgbClr val="FFFF00"/>
                </a:solidFill>
              </a:rPr>
              <a:t>Unethical Conduct with Students Includes:</a:t>
            </a:r>
            <a:r>
              <a:rPr lang="en-US"/>
              <a:t>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0354" name="Rectangle 2"/>
          <p:cNvSpPr>
            <a:spLocks noGrp="1" noChangeArrowheads="1"/>
          </p:cNvSpPr>
          <p:nvPr>
            <p:ph type="body" idx="1"/>
          </p:nvPr>
        </p:nvSpPr>
        <p:spPr>
          <a:xfrm>
            <a:off x="457200" y="1143000"/>
            <a:ext cx="8229600" cy="4495800"/>
          </a:xfrm>
        </p:spPr>
        <p:txBody>
          <a:bodyPr/>
          <a:lstStyle/>
          <a:p>
            <a:pPr marL="609600" indent="-609600">
              <a:buClr>
                <a:schemeClr val="tx1"/>
              </a:buClr>
              <a:buFontTx/>
              <a:buNone/>
              <a:defRPr/>
            </a:pPr>
            <a:r>
              <a:rPr lang="en-US" sz="3600" b="1"/>
              <a:t>4.	engaging in or permitting harassment of a student on the basis of race, gender, sex, national origin, religion or disability;</a:t>
            </a:r>
          </a:p>
          <a:p>
            <a:pPr marL="609600" indent="-609600">
              <a:buClr>
                <a:schemeClr val="tx1"/>
              </a:buClr>
              <a:buFontTx/>
              <a:buNone/>
              <a:defRPr/>
            </a:pPr>
            <a:endParaRPr lang="en-US" sz="3600" b="1"/>
          </a:p>
        </p:txBody>
      </p:sp>
      <p:sp>
        <p:nvSpPr>
          <p:cNvPr id="3940355" name="Rectangle 3"/>
          <p:cNvSpPr>
            <a:spLocks noGrp="1" noChangeArrowheads="1"/>
          </p:cNvSpPr>
          <p:nvPr>
            <p:ph type="title"/>
          </p:nvPr>
        </p:nvSpPr>
        <p:spPr>
          <a:xfrm>
            <a:off x="457200" y="304800"/>
            <a:ext cx="8229600" cy="715963"/>
          </a:xfrm>
        </p:spPr>
        <p:txBody>
          <a:bodyPr/>
          <a:lstStyle/>
          <a:p>
            <a:pPr>
              <a:defRPr/>
            </a:pPr>
            <a:r>
              <a:rPr lang="en-US" sz="2800" b="1">
                <a:solidFill>
                  <a:srgbClr val="FFFF00"/>
                </a:solidFill>
              </a:rPr>
              <a:t>Unethical Conduct with Students Includes:</a:t>
            </a:r>
            <a:r>
              <a:rPr lang="en-US"/>
              <a:t>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15426" name="Rectangle 2"/>
          <p:cNvSpPr>
            <a:spLocks noGrp="1" noChangeArrowheads="1"/>
          </p:cNvSpPr>
          <p:nvPr>
            <p:ph type="body" idx="1"/>
          </p:nvPr>
        </p:nvSpPr>
        <p:spPr>
          <a:xfrm>
            <a:off x="533400" y="1143000"/>
            <a:ext cx="8229600" cy="4495800"/>
          </a:xfrm>
        </p:spPr>
        <p:txBody>
          <a:bodyPr/>
          <a:lstStyle/>
          <a:p>
            <a:pPr marL="609600" indent="-609600">
              <a:buClr>
                <a:schemeClr val="tx1"/>
              </a:buClr>
              <a:buFontTx/>
              <a:buAutoNum type="arabicPeriod" startAt="5"/>
              <a:defRPr/>
            </a:pPr>
            <a:r>
              <a:rPr lang="en-US" sz="3600" b="1"/>
              <a:t>soliciting, encouraging, or consummating an inappropriate written, verbal, electronic, or physical relationship with a student; </a:t>
            </a:r>
          </a:p>
        </p:txBody>
      </p:sp>
      <p:sp>
        <p:nvSpPr>
          <p:cNvPr id="3815430" name="Rectangle 6"/>
          <p:cNvSpPr>
            <a:spLocks noGrp="1" noChangeArrowheads="1"/>
          </p:cNvSpPr>
          <p:nvPr>
            <p:ph type="title"/>
          </p:nvPr>
        </p:nvSpPr>
        <p:spPr>
          <a:xfrm>
            <a:off x="457200" y="304800"/>
            <a:ext cx="8229600" cy="715963"/>
          </a:xfrm>
        </p:spPr>
        <p:txBody>
          <a:bodyPr/>
          <a:lstStyle/>
          <a:p>
            <a:pPr>
              <a:defRPr/>
            </a:pPr>
            <a:r>
              <a:rPr lang="en-US" sz="2800" b="1">
                <a:solidFill>
                  <a:srgbClr val="FFFF00"/>
                </a:solidFill>
              </a:rPr>
              <a:t>Unethical Conduct with Students Includes:</a:t>
            </a:r>
            <a:r>
              <a:rPr lang="en-US"/>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1378" name="Rectangle 2"/>
          <p:cNvSpPr>
            <a:spLocks noGrp="1" noChangeArrowheads="1"/>
          </p:cNvSpPr>
          <p:nvPr>
            <p:ph type="body" idx="1"/>
          </p:nvPr>
        </p:nvSpPr>
        <p:spPr>
          <a:xfrm>
            <a:off x="533400" y="1143000"/>
            <a:ext cx="8229600" cy="4495800"/>
          </a:xfrm>
        </p:spPr>
        <p:txBody>
          <a:bodyPr/>
          <a:lstStyle/>
          <a:p>
            <a:pPr marL="609600" indent="-609600">
              <a:buClr>
                <a:schemeClr val="tx1"/>
              </a:buClr>
              <a:buFontTx/>
              <a:buNone/>
              <a:defRPr/>
            </a:pPr>
            <a:r>
              <a:rPr lang="en-US" sz="3600" b="1"/>
              <a:t>6.	furnishing tobacco, alcohol, or drugs to any student, or</a:t>
            </a:r>
            <a:r>
              <a:rPr lang="en-US" sz="3600"/>
              <a:t> </a:t>
            </a:r>
          </a:p>
        </p:txBody>
      </p:sp>
      <p:sp>
        <p:nvSpPr>
          <p:cNvPr id="3941379" name="Rectangle 3"/>
          <p:cNvSpPr>
            <a:spLocks noGrp="1" noChangeArrowheads="1"/>
          </p:cNvSpPr>
          <p:nvPr>
            <p:ph type="title"/>
          </p:nvPr>
        </p:nvSpPr>
        <p:spPr>
          <a:xfrm>
            <a:off x="457200" y="304800"/>
            <a:ext cx="8229600" cy="715963"/>
          </a:xfrm>
        </p:spPr>
        <p:txBody>
          <a:bodyPr/>
          <a:lstStyle/>
          <a:p>
            <a:pPr>
              <a:defRPr/>
            </a:pPr>
            <a:r>
              <a:rPr lang="en-US" sz="2800" b="1">
                <a:solidFill>
                  <a:srgbClr val="FFFF00"/>
                </a:solidFill>
              </a:rPr>
              <a:t>Unethical Conduct with Students Includes:</a:t>
            </a:r>
            <a:r>
              <a:rPr lang="en-US"/>
              <a: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65603" name="Rectangle 3"/>
          <p:cNvSpPr>
            <a:spLocks noGrp="1" noChangeArrowheads="1"/>
          </p:cNvSpPr>
          <p:nvPr>
            <p:ph type="body" idx="1"/>
          </p:nvPr>
        </p:nvSpPr>
        <p:spPr>
          <a:xfrm>
            <a:off x="457200" y="1295400"/>
            <a:ext cx="8229600" cy="5029200"/>
          </a:xfrm>
        </p:spPr>
        <p:txBody>
          <a:bodyPr/>
          <a:lstStyle/>
          <a:p>
            <a:pPr marL="609600" indent="-609600">
              <a:buClr>
                <a:srgbClr val="FFFF00"/>
              </a:buClr>
              <a:buFont typeface="Wingdings" pitchFamily="2" charset="2"/>
              <a:buAutoNum type="arabicPeriod" startAt="7"/>
              <a:defRPr/>
            </a:pPr>
            <a:r>
              <a:rPr lang="en-US" sz="3600" b="1">
                <a:solidFill>
                  <a:srgbClr val="FFFF00"/>
                </a:solidFill>
              </a:rPr>
              <a:t>failing to prevent the use of alcohol or illegal/unauthorized drugs by students who are under the educator’s supervision </a:t>
            </a:r>
            <a:r>
              <a:rPr lang="en-US" sz="3600" b="1" i="1">
                <a:solidFill>
                  <a:srgbClr val="FFFF00"/>
                </a:solidFill>
                <a:latin typeface="Times New Roman" pitchFamily="18" charset="0"/>
              </a:rPr>
              <a:t>(including but not limited to at the educator’s residence or any other private setting).</a:t>
            </a:r>
          </a:p>
          <a:p>
            <a:pPr marL="609600" indent="-609600">
              <a:defRPr/>
            </a:pPr>
            <a:endParaRPr lang="en-US" sz="3600" b="1" i="1">
              <a:solidFill>
                <a:srgbClr val="FFFF00"/>
              </a:solidFill>
              <a:latin typeface="Times New Roman" pitchFamily="18" charset="0"/>
            </a:endParaRPr>
          </a:p>
        </p:txBody>
      </p:sp>
      <p:sp>
        <p:nvSpPr>
          <p:cNvPr id="3865605" name="Rectangle 5"/>
          <p:cNvSpPr>
            <a:spLocks noGrp="1" noChangeArrowheads="1"/>
          </p:cNvSpPr>
          <p:nvPr>
            <p:ph type="title"/>
          </p:nvPr>
        </p:nvSpPr>
        <p:spPr>
          <a:xfrm>
            <a:off x="457200" y="304800"/>
            <a:ext cx="8229600" cy="715963"/>
          </a:xfrm>
        </p:spPr>
        <p:txBody>
          <a:bodyPr/>
          <a:lstStyle/>
          <a:p>
            <a:pPr>
              <a:defRPr/>
            </a:pPr>
            <a:r>
              <a:rPr lang="en-US" sz="2800" b="1">
                <a:solidFill>
                  <a:srgbClr val="FFFF00"/>
                </a:solidFill>
              </a:rPr>
              <a:t>Unethical Conduct with Students Includes:</a:t>
            </a:r>
            <a:r>
              <a:rPr lang="en-US"/>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28419" name="Rectangle 3"/>
          <p:cNvSpPr>
            <a:spLocks noGrp="1" noChangeArrowheads="1"/>
          </p:cNvSpPr>
          <p:nvPr>
            <p:ph type="body" idx="4294967295"/>
          </p:nvPr>
        </p:nvSpPr>
        <p:spPr>
          <a:xfrm>
            <a:off x="762000" y="838200"/>
            <a:ext cx="7620000" cy="3505200"/>
          </a:xfrm>
        </p:spPr>
        <p:txBody>
          <a:bodyPr/>
          <a:lstStyle/>
          <a:p>
            <a:pPr marL="0" indent="0">
              <a:buFont typeface="Wingdings" pitchFamily="2" charset="2"/>
              <a:buNone/>
            </a:pPr>
            <a:r>
              <a:rPr lang="en-US" sz="3600" b="1" smtClean="0"/>
              <a:t>The educator failed to properly supervise her  3rd grade class during the showing of a movie, resulting in a female student being molested by male students. </a:t>
            </a:r>
          </a:p>
        </p:txBody>
      </p:sp>
      <p:sp>
        <p:nvSpPr>
          <p:cNvPr id="4"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One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70082" name="Rectangle 2"/>
          <p:cNvSpPr>
            <a:spLocks noGrp="1" noChangeArrowheads="1"/>
          </p:cNvSpPr>
          <p:nvPr>
            <p:ph type="body" idx="1"/>
          </p:nvPr>
        </p:nvSpPr>
        <p:spPr>
          <a:xfrm>
            <a:off x="914400" y="685800"/>
            <a:ext cx="7467600" cy="4419600"/>
          </a:xfrm>
        </p:spPr>
        <p:txBody>
          <a:bodyPr/>
          <a:lstStyle/>
          <a:p>
            <a:pPr marL="0" indent="0" algn="ctr" eaLnBrk="1" hangingPunct="1">
              <a:lnSpc>
                <a:spcPct val="90000"/>
              </a:lnSpc>
              <a:buFont typeface="Wingdings" pitchFamily="2" charset="2"/>
              <a:buNone/>
              <a:defRPr/>
            </a:pPr>
            <a:r>
              <a:rPr lang="en-US" sz="4400" b="1" dirty="0"/>
              <a:t>The Superintendent failed to report that </a:t>
            </a:r>
            <a:r>
              <a:rPr lang="en-US" sz="4400" b="1" dirty="0" smtClean="0"/>
              <a:t>her daughter, a school counselor</a:t>
            </a:r>
            <a:r>
              <a:rPr lang="en-US" sz="4400" b="1" dirty="0"/>
              <a:t>, </a:t>
            </a:r>
            <a:r>
              <a:rPr lang="en-US" sz="4400" b="1" dirty="0" smtClean="0"/>
              <a:t>was </a:t>
            </a:r>
            <a:r>
              <a:rPr lang="en-US" sz="4400" b="1" dirty="0"/>
              <a:t>involved in an inappropriate relationship with a student. </a:t>
            </a:r>
          </a:p>
        </p:txBody>
      </p:sp>
      <p:sp>
        <p:nvSpPr>
          <p:cNvPr id="4270083" name="Text Box 3"/>
          <p:cNvSpPr txBox="1">
            <a:spLocks noChangeArrowheads="1"/>
          </p:cNvSpPr>
          <p:nvPr/>
        </p:nvSpPr>
        <p:spPr bwMode="auto">
          <a:xfrm>
            <a:off x="1143000" y="5257800"/>
            <a:ext cx="68580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7008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6259" name="Rectangle 3"/>
          <p:cNvSpPr>
            <a:spLocks noGrp="1" noChangeArrowheads="1"/>
          </p:cNvSpPr>
          <p:nvPr>
            <p:ph type="body" idx="1"/>
          </p:nvPr>
        </p:nvSpPr>
        <p:spPr>
          <a:xfrm>
            <a:off x="457200" y="685800"/>
            <a:ext cx="8153400" cy="3962400"/>
          </a:xfrm>
        </p:spPr>
        <p:txBody>
          <a:bodyPr/>
          <a:lstStyle/>
          <a:p>
            <a:pPr marL="0" indent="0" algn="ctr" eaLnBrk="1" hangingPunct="1">
              <a:buFont typeface="Wingdings" pitchFamily="2" charset="2"/>
              <a:buNone/>
              <a:defRPr/>
            </a:pPr>
            <a:r>
              <a:rPr lang="en-US" sz="4400" b="1" dirty="0" smtClean="0"/>
              <a:t>The Principal was advised that a student had a cell phone video of a female student performing a sex act on a male student .  She waited 3 days to confiscate the cell phone. </a:t>
            </a:r>
          </a:p>
        </p:txBody>
      </p:sp>
      <p:sp>
        <p:nvSpPr>
          <p:cNvPr id="4" name="Text Box 3"/>
          <p:cNvSpPr txBox="1">
            <a:spLocks noChangeArrowheads="1"/>
          </p:cNvSpPr>
          <p:nvPr/>
        </p:nvSpPr>
        <p:spPr bwMode="auto">
          <a:xfrm>
            <a:off x="1143000" y="5410200"/>
            <a:ext cx="68580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8291" name="Rectangle 3"/>
          <p:cNvSpPr>
            <a:spLocks noGrp="1" noChangeArrowheads="1"/>
          </p:cNvSpPr>
          <p:nvPr>
            <p:ph type="body" idx="1"/>
          </p:nvPr>
        </p:nvSpPr>
        <p:spPr>
          <a:xfrm>
            <a:off x="685800" y="609600"/>
            <a:ext cx="7772400" cy="4191000"/>
          </a:xfrm>
        </p:spPr>
        <p:txBody>
          <a:bodyPr/>
          <a:lstStyle/>
          <a:p>
            <a:pPr marL="0" indent="0" algn="ctr">
              <a:buFont typeface="Wingdings" pitchFamily="2" charset="2"/>
              <a:buNone/>
              <a:defRPr/>
            </a:pPr>
            <a:r>
              <a:rPr lang="en-US" sz="4400" b="1" dirty="0" smtClean="0"/>
              <a:t>The Principal exchanged over 1,100 text messages with two female students in a 2-month time period that contained discussions of alcohol, drugs, and sex. </a:t>
            </a:r>
          </a:p>
        </p:txBody>
      </p:sp>
      <p:sp>
        <p:nvSpPr>
          <p:cNvPr id="4"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Two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8291" name="Rectangle 3"/>
          <p:cNvSpPr>
            <a:spLocks noGrp="1" noChangeArrowheads="1"/>
          </p:cNvSpPr>
          <p:nvPr>
            <p:ph type="body" idx="1"/>
          </p:nvPr>
        </p:nvSpPr>
        <p:spPr>
          <a:xfrm>
            <a:off x="838200" y="838200"/>
            <a:ext cx="7467600" cy="4191000"/>
          </a:xfrm>
        </p:spPr>
        <p:txBody>
          <a:bodyPr/>
          <a:lstStyle/>
          <a:p>
            <a:pPr marL="0" indent="0" algn="ctr">
              <a:buFont typeface="Wingdings" pitchFamily="2" charset="2"/>
              <a:buNone/>
              <a:defRPr/>
            </a:pPr>
            <a:r>
              <a:rPr lang="en-US" sz="4400" b="1" dirty="0" smtClean="0"/>
              <a:t>The educator’s failure to properly supervise students resulted in the sexual assault of a kindergarten student by a third grade student.</a:t>
            </a:r>
          </a:p>
        </p:txBody>
      </p:sp>
      <p:sp>
        <p:nvSpPr>
          <p:cNvPr id="4"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One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255746" name="Group 2"/>
          <p:cNvGraphicFramePr>
            <a:graphicFrameLocks noGrp="1"/>
          </p:cNvGraphicFramePr>
          <p:nvPr>
            <p:ph idx="1"/>
          </p:nvPr>
        </p:nvGraphicFramePr>
        <p:xfrm>
          <a:off x="609600" y="838200"/>
          <a:ext cx="8001000" cy="4114800"/>
        </p:xfrm>
        <a:graphic>
          <a:graphicData uri="http://schemas.openxmlformats.org/drawingml/2006/table">
            <a:tbl>
              <a:tblPr/>
              <a:tblGrid>
                <a:gridCol w="8001000"/>
              </a:tblGrid>
              <a:tr h="411480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lang="en-US" sz="3600" b="1" kern="1200" dirty="0" smtClean="0">
                          <a:solidFill>
                            <a:schemeClr val="tx1"/>
                          </a:solidFill>
                          <a:effectLst>
                            <a:outerShdw blurRad="38100" dist="38100" dir="2700000" algn="tl">
                              <a:srgbClr val="000000">
                                <a:alpha val="43137"/>
                              </a:srgbClr>
                            </a:outerShdw>
                          </a:effectLst>
                          <a:latin typeface="+mn-lt"/>
                          <a:ea typeface="+mn-ea"/>
                          <a:cs typeface="+mn-cs"/>
                        </a:rPr>
                        <a:t>The Educator sent students text messages asking about their sexual orientation or other student’s sexual orientation. He pled guilty to two counts of Electronically Furnishing Obscene Material to Minors.</a:t>
                      </a:r>
                      <a:endParaRPr kumimoji="0" lang="en-US" sz="3600" b="1"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itchFamily="34" charset="0"/>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4255752" name="Text Box 8"/>
          <p:cNvSpPr txBox="1">
            <a:spLocks noChangeArrowheads="1"/>
          </p:cNvSpPr>
          <p:nvPr/>
        </p:nvSpPr>
        <p:spPr bwMode="auto">
          <a:xfrm>
            <a:off x="838200" y="51816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255746" name="Group 2"/>
          <p:cNvGraphicFramePr>
            <a:graphicFrameLocks noGrp="1"/>
          </p:cNvGraphicFramePr>
          <p:nvPr>
            <p:ph idx="1"/>
          </p:nvPr>
        </p:nvGraphicFramePr>
        <p:xfrm>
          <a:off x="609600" y="838200"/>
          <a:ext cx="8001000" cy="4114800"/>
        </p:xfrm>
        <a:graphic>
          <a:graphicData uri="http://schemas.openxmlformats.org/drawingml/2006/table">
            <a:tbl>
              <a:tblPr/>
              <a:tblGrid>
                <a:gridCol w="8001000"/>
              </a:tblGrid>
              <a:tr h="4114800">
                <a:tc>
                  <a:txBody>
                    <a:bodyPr/>
                    <a:lstStyle/>
                    <a:p>
                      <a:pPr algn="ctr" eaLnBrk="1" hangingPunct="1">
                        <a:spcBef>
                          <a:spcPct val="50000"/>
                        </a:spcBef>
                        <a:defRPr/>
                      </a:pPr>
                      <a:r>
                        <a:rPr lang="en-US" sz="4800" b="1" dirty="0" smtClean="0">
                          <a:effectLst>
                            <a:outerShdw blurRad="38100" dist="38100" dir="2700000" algn="tl">
                              <a:srgbClr val="000000"/>
                            </a:outerShdw>
                          </a:effectLst>
                        </a:rPr>
                        <a:t>The educator engaged in a sexual relationship with a thirteen year old male student that her daughter was dating.</a:t>
                      </a:r>
                      <a:endParaRPr lang="en-US" sz="4800" b="1" dirty="0">
                        <a:effectLst>
                          <a:outerShdw blurRad="38100" dist="38100" dir="2700000" algn="tl">
                            <a:srgbClr val="000000"/>
                          </a:outerShdw>
                        </a:effectLst>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4255752" name="Text Box 8"/>
          <p:cNvSpPr txBox="1">
            <a:spLocks noChangeArrowheads="1"/>
          </p:cNvSpPr>
          <p:nvPr/>
        </p:nvSpPr>
        <p:spPr bwMode="auto">
          <a:xfrm>
            <a:off x="838200" y="51816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2674" name="Rectangle 2"/>
          <p:cNvSpPr>
            <a:spLocks noGrp="1" noChangeArrowheads="1"/>
          </p:cNvSpPr>
          <p:nvPr>
            <p:ph type="body" idx="1"/>
          </p:nvPr>
        </p:nvSpPr>
        <p:spPr>
          <a:xfrm>
            <a:off x="762000" y="990600"/>
            <a:ext cx="7696200" cy="3352800"/>
          </a:xfrm>
        </p:spPr>
        <p:txBody>
          <a:bodyPr/>
          <a:lstStyle/>
          <a:p>
            <a:pPr marL="0" indent="0" algn="ctr" eaLnBrk="1" hangingPunct="1">
              <a:lnSpc>
                <a:spcPct val="90000"/>
              </a:lnSpc>
              <a:buFont typeface="Wingdings" pitchFamily="2" charset="2"/>
              <a:buNone/>
              <a:defRPr/>
            </a:pPr>
            <a:r>
              <a:rPr lang="en-US" sz="4400" b="1" dirty="0"/>
              <a:t>The educator provided </a:t>
            </a:r>
            <a:r>
              <a:rPr lang="en-US" sz="4400" b="1" dirty="0" smtClean="0"/>
              <a:t>alcoholic </a:t>
            </a:r>
            <a:r>
              <a:rPr lang="en-US" sz="4400" b="1" dirty="0"/>
              <a:t>beverages </a:t>
            </a:r>
            <a:r>
              <a:rPr lang="en-US" sz="4400" b="1" dirty="0" smtClean="0"/>
              <a:t>that were consumed </a:t>
            </a:r>
            <a:r>
              <a:rPr lang="en-US" sz="4400" b="1" dirty="0"/>
              <a:t>by students at a party </a:t>
            </a:r>
            <a:r>
              <a:rPr lang="en-US" sz="4400" b="1" dirty="0" smtClean="0"/>
              <a:t>at </a:t>
            </a:r>
            <a:r>
              <a:rPr lang="en-US" sz="4400" b="1" dirty="0"/>
              <a:t>her residence. </a:t>
            </a:r>
          </a:p>
        </p:txBody>
      </p:sp>
      <p:sp>
        <p:nvSpPr>
          <p:cNvPr id="4252675" name="Text Box 3"/>
          <p:cNvSpPr txBox="1">
            <a:spLocks noChangeArrowheads="1"/>
          </p:cNvSpPr>
          <p:nvPr/>
        </p:nvSpPr>
        <p:spPr bwMode="auto">
          <a:xfrm>
            <a:off x="838200" y="5334000"/>
            <a:ext cx="73914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One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2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2675"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27010" name="Rectangle 2"/>
          <p:cNvSpPr>
            <a:spLocks noGrp="1" noChangeArrowheads="1"/>
          </p:cNvSpPr>
          <p:nvPr>
            <p:ph type="body" sz="half" idx="1"/>
          </p:nvPr>
        </p:nvSpPr>
        <p:spPr>
          <a:xfrm>
            <a:off x="2057400" y="1524000"/>
            <a:ext cx="4953000" cy="914400"/>
          </a:xfrm>
        </p:spPr>
        <p:txBody>
          <a:bodyPr/>
          <a:lstStyle/>
          <a:p>
            <a:pPr marL="0" indent="0" algn="ctr" eaLnBrk="1" hangingPunct="1">
              <a:buFont typeface="Wingdings" pitchFamily="2" charset="2"/>
              <a:buNone/>
              <a:defRPr/>
            </a:pPr>
            <a:r>
              <a:rPr lang="en-US" sz="8000" b="1" dirty="0" smtClean="0">
                <a:solidFill>
                  <a:srgbClr val="FFFF00"/>
                </a:solidFill>
              </a:rPr>
              <a:t>Alcohol or                        Drugs</a:t>
            </a:r>
          </a:p>
        </p:txBody>
      </p:sp>
      <p:sp>
        <p:nvSpPr>
          <p:cNvPr id="3627011"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3</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63555"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3</a:t>
            </a:r>
          </a:p>
        </p:txBody>
      </p:sp>
      <p:sp>
        <p:nvSpPr>
          <p:cNvPr id="3863556" name="Rectangle 4"/>
          <p:cNvSpPr>
            <a:spLocks noChangeArrowheads="1"/>
          </p:cNvSpPr>
          <p:nvPr/>
        </p:nvSpPr>
        <p:spPr bwMode="auto">
          <a:xfrm>
            <a:off x="838200" y="1447800"/>
            <a:ext cx="74676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800" dirty="0">
                <a:solidFill>
                  <a:srgbClr val="FFFF00"/>
                </a:solidFill>
                <a:effectLst>
                  <a:outerShdw blurRad="38100" dist="38100" dir="2700000" algn="tl">
                    <a:srgbClr val="000000"/>
                  </a:outerShdw>
                </a:effectLst>
                <a:cs typeface="+mn-cs"/>
              </a:rPr>
              <a:t>An educator shall refrain from the use of alcohol or illegal or unauthorized drugs during the course of professional practice.</a:t>
            </a:r>
            <a:r>
              <a:rPr lang="en-US" sz="4800" b="0" dirty="0">
                <a:effectLst>
                  <a:outerShdw blurRad="38100" dist="38100" dir="2700000" algn="tl">
                    <a:srgbClr val="000000"/>
                  </a:outerShdw>
                </a:effectLst>
                <a:cs typeface="+mn-cs"/>
              </a:rPr>
              <a:t> </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16450" name="Rectangle 2"/>
          <p:cNvSpPr>
            <a:spLocks noGrp="1" noChangeArrowheads="1"/>
          </p:cNvSpPr>
          <p:nvPr>
            <p:ph type="title"/>
          </p:nvPr>
        </p:nvSpPr>
        <p:spPr>
          <a:xfrm>
            <a:off x="457200" y="609600"/>
            <a:ext cx="8229600" cy="639763"/>
          </a:xfrm>
        </p:spPr>
        <p:txBody>
          <a:bodyPr/>
          <a:lstStyle/>
          <a:p>
            <a:pPr eaLnBrk="1" hangingPunct="1">
              <a:defRPr/>
            </a:pPr>
            <a:r>
              <a:rPr lang="en-US" b="1" dirty="0" smtClean="0">
                <a:solidFill>
                  <a:srgbClr val="FFFF00"/>
                </a:solidFill>
              </a:rPr>
              <a:t>Drugs</a:t>
            </a:r>
          </a:p>
        </p:txBody>
      </p:sp>
      <p:sp>
        <p:nvSpPr>
          <p:cNvPr id="3816451" name="Rectangle 3"/>
          <p:cNvSpPr>
            <a:spLocks noGrp="1" noChangeArrowheads="1"/>
          </p:cNvSpPr>
          <p:nvPr>
            <p:ph type="body" idx="1"/>
          </p:nvPr>
        </p:nvSpPr>
        <p:spPr>
          <a:xfrm>
            <a:off x="457200" y="1295400"/>
            <a:ext cx="8229600" cy="5029200"/>
          </a:xfrm>
        </p:spPr>
        <p:txBody>
          <a:bodyPr/>
          <a:lstStyle/>
          <a:p>
            <a:pPr marL="566738" indent="-566738" eaLnBrk="1" hangingPunct="1">
              <a:buFont typeface="Wingdings" pitchFamily="2" charset="2"/>
              <a:buNone/>
              <a:defRPr/>
            </a:pPr>
            <a:r>
              <a:rPr lang="en-US" sz="3000" smtClean="0"/>
              <a:t>Unethical conduct includes but is not limited to:</a:t>
            </a:r>
          </a:p>
          <a:p>
            <a:pPr marL="566738" indent="-566738" eaLnBrk="1" hangingPunct="1">
              <a:buClr>
                <a:schemeClr val="tx1"/>
              </a:buClr>
              <a:buFont typeface="Wingdings" pitchFamily="2" charset="2"/>
              <a:buAutoNum type="arabicPeriod"/>
              <a:defRPr/>
            </a:pPr>
            <a:r>
              <a:rPr lang="en-US" sz="4200" b="1" smtClean="0"/>
              <a:t>being on school premises or at a school-related activity while under the influence of, possessing, using, or consuming illegal or unauthorized drugs;</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05858" name="Text Box 2"/>
          <p:cNvSpPr txBox="1">
            <a:spLocks noChangeArrowheads="1"/>
          </p:cNvSpPr>
          <p:nvPr/>
        </p:nvSpPr>
        <p:spPr bwMode="auto">
          <a:xfrm>
            <a:off x="762000" y="990600"/>
            <a:ext cx="7543800" cy="4664075"/>
          </a:xfrm>
          <a:prstGeom prst="rect">
            <a:avLst/>
          </a:prstGeom>
          <a:noFill/>
          <a:ln w="9525">
            <a:noFill/>
            <a:miter lim="800000"/>
            <a:headEnd/>
            <a:tailEnd/>
          </a:ln>
          <a:effectLst/>
        </p:spPr>
        <p:txBody>
          <a:bodyPr>
            <a:spAutoFit/>
          </a:bodyPr>
          <a:lstStyle/>
          <a:p>
            <a:pPr algn="ctr" eaLnBrk="0" hangingPunct="0">
              <a:spcBef>
                <a:spcPct val="50000"/>
              </a:spcBef>
              <a:defRPr/>
            </a:pPr>
            <a:r>
              <a:rPr lang="en-US" sz="6000" dirty="0">
                <a:effectLst>
                  <a:outerShdw blurRad="38100" dist="38100" dir="2700000" algn="tl">
                    <a:srgbClr val="000000"/>
                  </a:outerShdw>
                </a:effectLst>
                <a:cs typeface="+mn-cs"/>
              </a:rPr>
              <a:t>Illegal and Unauthorized Drugs</a:t>
            </a:r>
            <a:r>
              <a:rPr lang="en-US" sz="6000" b="0" dirty="0">
                <a:cs typeface="+mn-cs"/>
              </a:rPr>
              <a:t> </a:t>
            </a:r>
            <a:r>
              <a:rPr lang="en-US" sz="6000" dirty="0">
                <a:effectLst>
                  <a:outerShdw blurRad="38100" dist="38100" dir="2700000" algn="tl">
                    <a:srgbClr val="000000"/>
                  </a:outerShdw>
                </a:effectLst>
                <a:cs typeface="+mn-cs"/>
              </a:rPr>
              <a:t>are </a:t>
            </a:r>
            <a:r>
              <a:rPr lang="en-US" sz="6000" dirty="0">
                <a:solidFill>
                  <a:srgbClr val="FFFF00"/>
                </a:solidFill>
                <a:effectLst>
                  <a:outerShdw blurRad="38100" dist="38100" dir="2700000" algn="tl">
                    <a:srgbClr val="000000"/>
                  </a:outerShdw>
                </a:effectLst>
                <a:cs typeface="+mn-cs"/>
              </a:rPr>
              <a:t>Always </a:t>
            </a:r>
            <a:r>
              <a:rPr lang="en-US" sz="6000" dirty="0">
                <a:effectLst>
                  <a:outerShdw blurRad="38100" dist="38100" dir="2700000" algn="tl">
                    <a:srgbClr val="000000"/>
                  </a:outerShdw>
                </a:effectLst>
                <a:cs typeface="+mn-cs"/>
              </a:rPr>
              <a:t>Illegal and Unauthorized.</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255746" name="Group 2"/>
          <p:cNvGraphicFramePr>
            <a:graphicFrameLocks noGrp="1"/>
          </p:cNvGraphicFramePr>
          <p:nvPr>
            <p:ph idx="1"/>
          </p:nvPr>
        </p:nvGraphicFramePr>
        <p:xfrm>
          <a:off x="609600" y="838200"/>
          <a:ext cx="8001000" cy="4480560"/>
        </p:xfrm>
        <a:graphic>
          <a:graphicData uri="http://schemas.openxmlformats.org/drawingml/2006/table">
            <a:tbl>
              <a:tblPr/>
              <a:tblGrid>
                <a:gridCol w="8001000"/>
              </a:tblGrid>
              <a:tr h="4114800">
                <a:tc>
                  <a:txBody>
                    <a:bodyPr/>
                    <a:lstStyle/>
                    <a:p>
                      <a:r>
                        <a:rPr lang="en-US" sz="3600" b="1" kern="1200" dirty="0" smtClean="0">
                          <a:solidFill>
                            <a:schemeClr val="tx1"/>
                          </a:solidFill>
                          <a:effectLst>
                            <a:outerShdw blurRad="38100" dist="38100" dir="2700000" algn="tl">
                              <a:srgbClr val="000000">
                                <a:alpha val="43137"/>
                              </a:srgbClr>
                            </a:outerShdw>
                          </a:effectLst>
                          <a:latin typeface="+mn-lt"/>
                          <a:ea typeface="+mn-ea"/>
                          <a:cs typeface="+mn-cs"/>
                        </a:rPr>
                        <a:t>The educator was involved in the manufacture, use and distribution of methamphetamine at her residence. The educator took methamphetamine onto school system property and provided methamphetamine to student aged individuals.  </a:t>
                      </a:r>
                      <a:endParaRPr lang="en-US" sz="3600" b="1" kern="1200" dirty="0">
                        <a:solidFill>
                          <a:schemeClr val="tx1"/>
                        </a:solidFill>
                        <a:effectLst>
                          <a:outerShdw blurRad="38100" dist="38100" dir="2700000" algn="tl">
                            <a:srgbClr val="000000">
                              <a:alpha val="43137"/>
                            </a:srgbClr>
                          </a:outerShdw>
                        </a:effectLst>
                        <a:latin typeface="+mn-lt"/>
                        <a:ea typeface="+mn-ea"/>
                        <a:cs typeface="+mn-cs"/>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4255752" name="Text Box 8"/>
          <p:cNvSpPr txBox="1">
            <a:spLocks noChangeArrowheads="1"/>
          </p:cNvSpPr>
          <p:nvPr/>
        </p:nvSpPr>
        <p:spPr bwMode="auto">
          <a:xfrm>
            <a:off x="838200" y="51816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37634" name="Text Box 2"/>
          <p:cNvSpPr txBox="1">
            <a:spLocks noChangeArrowheads="1"/>
          </p:cNvSpPr>
          <p:nvPr/>
        </p:nvSpPr>
        <p:spPr bwMode="auto">
          <a:xfrm>
            <a:off x="838200" y="685800"/>
            <a:ext cx="7467600" cy="4486275"/>
          </a:xfrm>
          <a:prstGeom prst="rect">
            <a:avLst/>
          </a:prstGeom>
          <a:noFill/>
          <a:ln w="9525">
            <a:noFill/>
            <a:miter lim="800000"/>
            <a:headEnd/>
            <a:tailEnd/>
          </a:ln>
          <a:effectLst/>
        </p:spPr>
        <p:txBody>
          <a:bodyPr>
            <a:spAutoFit/>
          </a:bodyPr>
          <a:lstStyle/>
          <a:p>
            <a:pPr>
              <a:spcBef>
                <a:spcPct val="50000"/>
              </a:spcBef>
              <a:defRPr/>
            </a:pPr>
            <a:r>
              <a:rPr lang="en-US" sz="3600">
                <a:effectLst>
                  <a:outerShdw blurRad="38100" dist="38100" dir="2700000" algn="tl">
                    <a:srgbClr val="000000"/>
                  </a:outerShdw>
                </a:effectLst>
              </a:rPr>
              <a:t>The educator was arrested for trafficking marijuana. Fifty pounds of marijuana was found in the educator's home. The home "reeked" of the smell of smoked and fresh marijuana. Three children were in the home at the time of the arrest.</a:t>
            </a:r>
          </a:p>
        </p:txBody>
      </p:sp>
      <p:sp>
        <p:nvSpPr>
          <p:cNvPr id="4255752" name="Text Box 8"/>
          <p:cNvSpPr txBox="1">
            <a:spLocks noChangeArrowheads="1"/>
          </p:cNvSpPr>
          <p:nvPr/>
        </p:nvSpPr>
        <p:spPr bwMode="auto">
          <a:xfrm>
            <a:off x="838200" y="51816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19522" name="Rectangle 2"/>
          <p:cNvSpPr>
            <a:spLocks noGrp="1" noChangeArrowheads="1"/>
          </p:cNvSpPr>
          <p:nvPr>
            <p:ph type="title"/>
          </p:nvPr>
        </p:nvSpPr>
        <p:spPr>
          <a:xfrm>
            <a:off x="457200" y="533400"/>
            <a:ext cx="8229600" cy="715963"/>
          </a:xfrm>
        </p:spPr>
        <p:txBody>
          <a:bodyPr/>
          <a:lstStyle/>
          <a:p>
            <a:pPr eaLnBrk="1" hangingPunct="1">
              <a:defRPr/>
            </a:pPr>
            <a:r>
              <a:rPr lang="en-US" b="1" dirty="0" smtClean="0">
                <a:solidFill>
                  <a:srgbClr val="FFFF00"/>
                </a:solidFill>
              </a:rPr>
              <a:t>Alcohol</a:t>
            </a:r>
          </a:p>
        </p:txBody>
      </p:sp>
      <p:sp>
        <p:nvSpPr>
          <p:cNvPr id="3819523" name="Rectangle 3"/>
          <p:cNvSpPr>
            <a:spLocks noGrp="1" noChangeArrowheads="1"/>
          </p:cNvSpPr>
          <p:nvPr>
            <p:ph type="body" idx="1"/>
          </p:nvPr>
        </p:nvSpPr>
        <p:spPr>
          <a:xfrm>
            <a:off x="457200" y="1295400"/>
            <a:ext cx="8001000" cy="5029200"/>
          </a:xfrm>
        </p:spPr>
        <p:txBody>
          <a:bodyPr/>
          <a:lstStyle/>
          <a:p>
            <a:pPr marL="609600" indent="-609600" eaLnBrk="1" hangingPunct="1">
              <a:buFont typeface="Wingdings" pitchFamily="2" charset="2"/>
              <a:buNone/>
              <a:defRPr/>
            </a:pPr>
            <a:r>
              <a:rPr lang="en-US" sz="2600" dirty="0" smtClean="0"/>
              <a:t>Unethical conduct includes but is not limited to:</a:t>
            </a:r>
          </a:p>
          <a:p>
            <a:pPr marL="609600" indent="-609600" eaLnBrk="1" hangingPunct="1">
              <a:buClr>
                <a:schemeClr val="tx1"/>
              </a:buClr>
              <a:buFont typeface="Wingdings" pitchFamily="2" charset="2"/>
              <a:buAutoNum type="arabicPeriod" startAt="2"/>
              <a:defRPr/>
            </a:pPr>
            <a:r>
              <a:rPr lang="en-US" sz="4000" b="1" dirty="0" smtClean="0"/>
              <a:t>being on </a:t>
            </a:r>
            <a:r>
              <a:rPr lang="en-US" sz="4000" b="1" u="sng" dirty="0" smtClean="0">
                <a:solidFill>
                  <a:srgbClr val="FFFF00"/>
                </a:solidFill>
              </a:rPr>
              <a:t>school premises</a:t>
            </a:r>
            <a:r>
              <a:rPr lang="en-US" sz="4000" b="1" dirty="0" smtClean="0">
                <a:solidFill>
                  <a:srgbClr val="FFFF00"/>
                </a:solidFill>
              </a:rPr>
              <a:t> or at a </a:t>
            </a:r>
            <a:r>
              <a:rPr lang="en-US" sz="4000" b="1" u="sng" dirty="0" smtClean="0">
                <a:solidFill>
                  <a:srgbClr val="FFFF00"/>
                </a:solidFill>
              </a:rPr>
              <a:t>school-related activity</a:t>
            </a:r>
            <a:r>
              <a:rPr lang="en-US" sz="4000" b="1" dirty="0" smtClean="0"/>
              <a:t> </a:t>
            </a:r>
            <a:r>
              <a:rPr lang="en-US" sz="4800" b="1" u="sng" dirty="0" smtClean="0">
                <a:solidFill>
                  <a:srgbClr val="FFFF00"/>
                </a:solidFill>
              </a:rPr>
              <a:t>involving students</a:t>
            </a:r>
            <a:r>
              <a:rPr lang="en-US" sz="4000" b="1" dirty="0" smtClean="0"/>
              <a:t> while </a:t>
            </a:r>
            <a:r>
              <a:rPr lang="en-US" sz="4000" b="1" dirty="0" smtClean="0">
                <a:solidFill>
                  <a:srgbClr val="FFFF00"/>
                </a:solidFill>
              </a:rPr>
              <a:t>under the influence</a:t>
            </a:r>
            <a:r>
              <a:rPr lang="en-US" sz="4000" b="1" dirty="0" smtClean="0"/>
              <a:t> of, </a:t>
            </a:r>
            <a:r>
              <a:rPr lang="en-US" sz="4000" b="1" dirty="0" smtClean="0">
                <a:solidFill>
                  <a:srgbClr val="FFFF00"/>
                </a:solidFill>
              </a:rPr>
              <a:t>possessing</a:t>
            </a:r>
            <a:r>
              <a:rPr lang="en-US" sz="4000" b="1" dirty="0" smtClean="0"/>
              <a:t>, or </a:t>
            </a:r>
            <a:r>
              <a:rPr lang="en-US" sz="4000" b="1" dirty="0" smtClean="0">
                <a:solidFill>
                  <a:srgbClr val="FFFF00"/>
                </a:solidFill>
              </a:rPr>
              <a:t>consuming</a:t>
            </a:r>
            <a:r>
              <a:rPr lang="en-US" sz="4000" b="1" dirty="0" smtClean="0"/>
              <a:t> alcoholic beverages.</a:t>
            </a:r>
          </a:p>
        </p:txBody>
      </p:sp>
      <p:sp>
        <p:nvSpPr>
          <p:cNvPr id="79875" name="Line 27"/>
          <p:cNvSpPr>
            <a:spLocks noChangeShapeType="1"/>
          </p:cNvSpPr>
          <p:nvPr/>
        </p:nvSpPr>
        <p:spPr bwMode="auto">
          <a:xfrm>
            <a:off x="1371600" y="4114800"/>
            <a:ext cx="0" cy="0"/>
          </a:xfrm>
          <a:prstGeom prst="line">
            <a:avLst/>
          </a:prstGeom>
          <a:noFill/>
          <a:ln w="9525">
            <a:solidFill>
              <a:schemeClr val="tx1"/>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8371" name="Rectangle 3"/>
          <p:cNvSpPr>
            <a:spLocks noGrp="1" noChangeArrowheads="1"/>
          </p:cNvSpPr>
          <p:nvPr>
            <p:ph type="body" idx="1"/>
          </p:nvPr>
        </p:nvSpPr>
        <p:spPr>
          <a:xfrm>
            <a:off x="762000" y="1295400"/>
            <a:ext cx="7543800" cy="3810000"/>
          </a:xfrm>
        </p:spPr>
        <p:txBody>
          <a:bodyPr/>
          <a:lstStyle/>
          <a:p>
            <a:pPr marL="0" indent="0" eaLnBrk="1" hangingPunct="1">
              <a:buFont typeface="Wingdings" pitchFamily="2" charset="2"/>
              <a:buNone/>
              <a:defRPr/>
            </a:pPr>
            <a:r>
              <a:rPr lang="en-US" sz="4400" b="1" dirty="0" smtClean="0"/>
              <a:t>20-2-984.1.  </a:t>
            </a:r>
            <a:r>
              <a:rPr lang="en-US" sz="4400" dirty="0" smtClean="0"/>
              <a:t>The … code of ethics …</a:t>
            </a:r>
            <a:r>
              <a:rPr lang="en-US" sz="4400" b="1" dirty="0" smtClean="0"/>
              <a:t> </a:t>
            </a:r>
            <a:r>
              <a:rPr lang="en-US" sz="4400" b="1" dirty="0" smtClean="0">
                <a:solidFill>
                  <a:srgbClr val="FFFF00"/>
                </a:solidFill>
              </a:rPr>
              <a:t>shall be limited to</a:t>
            </a:r>
            <a:r>
              <a:rPr lang="en-US" sz="4400" b="1" dirty="0" smtClean="0"/>
              <a:t> </a:t>
            </a:r>
            <a:r>
              <a:rPr lang="en-US" sz="4400" b="1" dirty="0" smtClean="0">
                <a:solidFill>
                  <a:srgbClr val="FFFF00"/>
                </a:solidFill>
              </a:rPr>
              <a:t>professional performance and professional ethics</a:t>
            </a:r>
            <a:r>
              <a:rPr lang="en-US" sz="4400" b="1" dirty="0" smtClean="0"/>
              <a:t>.</a:t>
            </a:r>
            <a:r>
              <a:rPr lang="en-US" sz="4800" dirty="0" smtClean="0"/>
              <a:t>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a:xfrm>
            <a:off x="838200" y="5105400"/>
            <a:ext cx="1905000" cy="1143000"/>
          </a:xfrm>
        </p:spPr>
        <p:txBody>
          <a:bodyPr/>
          <a:lstStyle/>
          <a:p>
            <a:pPr>
              <a:defRPr/>
            </a:pPr>
            <a:r>
              <a:rPr lang="en-US" sz="6000" b="1" dirty="0" smtClean="0">
                <a:solidFill>
                  <a:srgbClr val="FFFF00"/>
                </a:solidFill>
              </a:rPr>
              <a:t>NPC</a:t>
            </a:r>
            <a:r>
              <a:rPr lang="en-US" b="1" dirty="0" smtClean="0">
                <a:solidFill>
                  <a:srgbClr val="FFFF00"/>
                </a:solidFill>
              </a:rPr>
              <a:t> </a:t>
            </a:r>
          </a:p>
        </p:txBody>
      </p:sp>
      <p:sp>
        <p:nvSpPr>
          <p:cNvPr id="775171" name="Rectangle 3"/>
          <p:cNvSpPr>
            <a:spLocks noGrp="1" noChangeArrowheads="1"/>
          </p:cNvSpPr>
          <p:nvPr>
            <p:ph type="body" idx="1"/>
          </p:nvPr>
        </p:nvSpPr>
        <p:spPr>
          <a:xfrm>
            <a:off x="762000" y="685800"/>
            <a:ext cx="7848600" cy="4191000"/>
          </a:xfrm>
        </p:spPr>
        <p:txBody>
          <a:bodyPr/>
          <a:lstStyle/>
          <a:p>
            <a:pPr marL="0" indent="0">
              <a:buFont typeface="Wingdings" pitchFamily="2" charset="2"/>
              <a:buNone/>
            </a:pPr>
            <a:r>
              <a:rPr lang="en-US" b="1" smtClean="0"/>
              <a:t>The educator admits consuming two glasses of wine prior to attending a middle school talent show. She exhibited glassy red eyes, slightly slurred speech, giddy behavior and the odor of an alcoholic beverage on her person. The principal asked another teacher to  take her home.</a:t>
            </a:r>
            <a:r>
              <a:rPr lang="en-US" smtClean="0">
                <a:effectLst/>
              </a:rPr>
              <a:t> </a:t>
            </a:r>
          </a:p>
        </p:txBody>
      </p:sp>
      <p:sp>
        <p:nvSpPr>
          <p:cNvPr id="4" name="Rectangle 2"/>
          <p:cNvSpPr txBox="1">
            <a:spLocks noChangeArrowheads="1"/>
          </p:cNvSpPr>
          <p:nvPr/>
        </p:nvSpPr>
        <p:spPr bwMode="auto">
          <a:xfrm>
            <a:off x="2590800" y="5105400"/>
            <a:ext cx="6172200" cy="1143000"/>
          </a:xfrm>
          <a:prstGeom prst="rect">
            <a:avLst/>
          </a:prstGeom>
          <a:noFill/>
          <a:ln w="9525">
            <a:noFill/>
            <a:miter lim="800000"/>
            <a:headEnd/>
            <a:tailEnd/>
          </a:ln>
          <a:effectLst/>
        </p:spPr>
        <p:txBody>
          <a:bodyPr anchor="ctr"/>
          <a:lstStyle/>
          <a:p>
            <a:pPr algn="ctr" eaLnBrk="0" hangingPunct="0">
              <a:defRPr/>
            </a:pPr>
            <a:r>
              <a:rPr lang="en-US" sz="4000" kern="0" dirty="0">
                <a:solidFill>
                  <a:srgbClr val="FFFF00"/>
                </a:solidFill>
                <a:effectLst>
                  <a:outerShdw blurRad="38100" dist="38100" dir="2700000" algn="tl">
                    <a:srgbClr val="000000"/>
                  </a:outerShdw>
                </a:effectLst>
                <a:latin typeface="+mj-lt"/>
                <a:ea typeface="+mj-ea"/>
                <a:cs typeface="+mj-cs"/>
              </a:rPr>
              <a:t>No Breath or Blood Alcohol Test Results!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5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0"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36930" name="Rectangle 2"/>
          <p:cNvSpPr>
            <a:spLocks noGrp="1" noChangeArrowheads="1"/>
          </p:cNvSpPr>
          <p:nvPr>
            <p:ph type="title"/>
          </p:nvPr>
        </p:nvSpPr>
        <p:spPr>
          <a:xfrm>
            <a:off x="533400" y="457200"/>
            <a:ext cx="8229600" cy="868363"/>
          </a:xfrm>
        </p:spPr>
        <p:txBody>
          <a:bodyPr/>
          <a:lstStyle/>
          <a:p>
            <a:pPr eaLnBrk="1" hangingPunct="1">
              <a:tabLst>
                <a:tab pos="4005263" algn="l"/>
              </a:tabLst>
              <a:defRPr/>
            </a:pPr>
            <a:r>
              <a:rPr lang="en-US" sz="3600" b="1" dirty="0" smtClean="0"/>
              <a:t>Georgia's Legal Definitions for </a:t>
            </a:r>
            <a:r>
              <a:rPr lang="en-US" sz="3600" b="1" dirty="0" smtClean="0">
                <a:solidFill>
                  <a:srgbClr val="FFFF00"/>
                </a:solidFill>
              </a:rPr>
              <a:t>"Under the Influence"</a:t>
            </a:r>
            <a:endParaRPr lang="en-US" sz="3600" u="sng" dirty="0" smtClean="0">
              <a:solidFill>
                <a:srgbClr val="FFFF00"/>
              </a:solidFill>
            </a:endParaRPr>
          </a:p>
        </p:txBody>
      </p:sp>
      <p:sp>
        <p:nvSpPr>
          <p:cNvPr id="3836931" name="Rectangle 3"/>
          <p:cNvSpPr>
            <a:spLocks noGrp="1" noChangeArrowheads="1"/>
          </p:cNvSpPr>
          <p:nvPr>
            <p:ph type="body" idx="1"/>
          </p:nvPr>
        </p:nvSpPr>
        <p:spPr/>
        <p:txBody>
          <a:bodyPr/>
          <a:lstStyle/>
          <a:p>
            <a:pPr marL="0" indent="0" eaLnBrk="1" hangingPunct="1">
              <a:buFont typeface="Wingdings" pitchFamily="2" charset="2"/>
              <a:buNone/>
              <a:defRPr/>
            </a:pPr>
            <a:r>
              <a:rPr lang="en-US" dirty="0" smtClean="0">
                <a:solidFill>
                  <a:srgbClr val="FFFF00"/>
                </a:solidFill>
              </a:rPr>
              <a:t>An alcohol concentration of </a:t>
            </a:r>
            <a:r>
              <a:rPr lang="en-US" sz="3600" b="1" dirty="0" smtClean="0">
                <a:solidFill>
                  <a:srgbClr val="FFFF00"/>
                </a:solidFill>
              </a:rPr>
              <a:t>0.08 grams</a:t>
            </a:r>
            <a:r>
              <a:rPr lang="en-US" dirty="0" smtClean="0">
                <a:solidFill>
                  <a:srgbClr val="FFFF00"/>
                </a:solidFill>
              </a:rPr>
              <a:t> </a:t>
            </a:r>
            <a:r>
              <a:rPr lang="en-US" dirty="0" smtClean="0"/>
              <a:t>or more at any time within three hours.</a:t>
            </a:r>
            <a:endParaRPr lang="en-US" b="1" dirty="0" smtClean="0"/>
          </a:p>
          <a:p>
            <a:pPr marL="0" indent="0" algn="ctr" eaLnBrk="1" hangingPunct="1">
              <a:buFont typeface="Wingdings" pitchFamily="2" charset="2"/>
              <a:buNone/>
              <a:defRPr/>
            </a:pPr>
            <a:r>
              <a:rPr lang="en-US" sz="1800" i="1" dirty="0" smtClean="0"/>
              <a:t>Driving - O.C.G.A. § 40-6-391 and Discharging Firearm - O.C.G.A. § 16-11-134</a:t>
            </a:r>
            <a:endParaRPr lang="en-US" sz="1800" i="1" u="sng" dirty="0" smtClean="0"/>
          </a:p>
          <a:p>
            <a:pPr marL="0" indent="0" eaLnBrk="1" hangingPunct="1">
              <a:buFont typeface="Wingdings" pitchFamily="2" charset="2"/>
              <a:buNone/>
              <a:defRPr/>
            </a:pPr>
            <a:r>
              <a:rPr lang="en-US" dirty="0" smtClean="0">
                <a:solidFill>
                  <a:srgbClr val="FFFF00"/>
                </a:solidFill>
              </a:rPr>
              <a:t>An alcohol concentration of </a:t>
            </a:r>
            <a:r>
              <a:rPr lang="en-US" sz="3600" b="1" dirty="0" smtClean="0">
                <a:solidFill>
                  <a:srgbClr val="FFFF00"/>
                </a:solidFill>
              </a:rPr>
              <a:t>0.10 grams</a:t>
            </a:r>
            <a:r>
              <a:rPr lang="en-US" dirty="0" smtClean="0">
                <a:solidFill>
                  <a:srgbClr val="FFFF00"/>
                </a:solidFill>
              </a:rPr>
              <a:t> </a:t>
            </a:r>
            <a:r>
              <a:rPr lang="en-US" dirty="0" smtClean="0"/>
              <a:t>or more at any time within three hours.</a:t>
            </a:r>
            <a:endParaRPr lang="en-US" b="1" dirty="0" smtClean="0"/>
          </a:p>
          <a:p>
            <a:pPr marL="0" indent="0" algn="ctr" eaLnBrk="1" hangingPunct="1">
              <a:buFont typeface="Wingdings" pitchFamily="2" charset="2"/>
              <a:buNone/>
              <a:defRPr/>
            </a:pPr>
            <a:r>
              <a:rPr lang="en-US" sz="1800" i="1" dirty="0" smtClean="0"/>
              <a:t>Operation of Watercraft - O.C.G.A. § 52-7-12 and Hunting - O.C.G.A. § 27-3-7</a:t>
            </a:r>
            <a:endParaRPr lang="en-US" sz="1800" i="1" u="sng" dirty="0" smtClean="0"/>
          </a:p>
          <a:p>
            <a:pPr marL="0" indent="0" eaLnBrk="1" hangingPunct="1">
              <a:buFont typeface="Wingdings" pitchFamily="2" charset="2"/>
              <a:buNone/>
              <a:defRPr/>
            </a:pPr>
            <a:r>
              <a:rPr lang="en-US" sz="3600" b="1" dirty="0" smtClean="0">
                <a:solidFill>
                  <a:srgbClr val="FFFF00"/>
                </a:solidFill>
              </a:rPr>
              <a:t>0.04 </a:t>
            </a:r>
            <a:r>
              <a:rPr lang="en-US" b="1" dirty="0" smtClean="0">
                <a:solidFill>
                  <a:srgbClr val="FFFF00"/>
                </a:solidFill>
              </a:rPr>
              <a:t>percent</a:t>
            </a:r>
            <a:r>
              <a:rPr lang="en-US" dirty="0" smtClean="0">
                <a:solidFill>
                  <a:srgbClr val="FFFF00"/>
                </a:solidFill>
              </a:rPr>
              <a:t> or more by weight of alcohol </a:t>
            </a:r>
            <a:r>
              <a:rPr lang="en-US" dirty="0" smtClean="0"/>
              <a:t>in a person's blood, breath, or urine.</a:t>
            </a:r>
            <a:r>
              <a:rPr lang="en-US" b="1" dirty="0" smtClean="0"/>
              <a:t> </a:t>
            </a:r>
          </a:p>
          <a:p>
            <a:pPr marL="0" indent="0" eaLnBrk="1" hangingPunct="1">
              <a:buFont typeface="Wingdings" pitchFamily="2" charset="2"/>
              <a:buNone/>
              <a:defRPr/>
            </a:pPr>
            <a:r>
              <a:rPr lang="en-US" sz="1800" i="1" dirty="0" smtClean="0"/>
              <a:t>Driving a Commercial Vehicle - O.C.G.A. § 40-6-391</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37954" name="Rectangle 2"/>
          <p:cNvSpPr>
            <a:spLocks noGrp="1" noChangeArrowheads="1"/>
          </p:cNvSpPr>
          <p:nvPr>
            <p:ph type="title"/>
          </p:nvPr>
        </p:nvSpPr>
        <p:spPr>
          <a:xfrm>
            <a:off x="457200" y="457200"/>
            <a:ext cx="8229600" cy="1143000"/>
          </a:xfrm>
        </p:spPr>
        <p:txBody>
          <a:bodyPr/>
          <a:lstStyle/>
          <a:p>
            <a:pPr eaLnBrk="1" hangingPunct="1">
              <a:defRPr/>
            </a:pPr>
            <a:r>
              <a:rPr lang="en-US" sz="3600" b="1" dirty="0" smtClean="0"/>
              <a:t>Georgia's Legal Definitions for </a:t>
            </a:r>
            <a:r>
              <a:rPr lang="en-US" sz="3600" b="1" dirty="0" smtClean="0">
                <a:solidFill>
                  <a:srgbClr val="FFFF00"/>
                </a:solidFill>
              </a:rPr>
              <a:t>"NOT Under the Influence"</a:t>
            </a:r>
          </a:p>
        </p:txBody>
      </p:sp>
      <p:sp>
        <p:nvSpPr>
          <p:cNvPr id="3837955" name="Rectangle 3"/>
          <p:cNvSpPr>
            <a:spLocks noGrp="1" noChangeArrowheads="1"/>
          </p:cNvSpPr>
          <p:nvPr>
            <p:ph type="body" idx="1"/>
          </p:nvPr>
        </p:nvSpPr>
        <p:spPr>
          <a:xfrm>
            <a:off x="457200" y="2057400"/>
            <a:ext cx="8229600" cy="4495800"/>
          </a:xfrm>
        </p:spPr>
        <p:txBody>
          <a:bodyPr/>
          <a:lstStyle/>
          <a:p>
            <a:pPr marL="0" indent="0" algn="ctr" eaLnBrk="1" hangingPunct="1">
              <a:buFont typeface="Wingdings" pitchFamily="2" charset="2"/>
              <a:buNone/>
              <a:tabLst>
                <a:tab pos="1422400" algn="l"/>
                <a:tab pos="4165600" algn="l"/>
              </a:tabLst>
              <a:defRPr/>
            </a:pPr>
            <a:r>
              <a:rPr lang="en-US" sz="2800" dirty="0" smtClean="0"/>
              <a:t>If there was a blood alcohol concentration of</a:t>
            </a:r>
            <a:r>
              <a:rPr lang="en-US" sz="3600" dirty="0" smtClean="0">
                <a:solidFill>
                  <a:srgbClr val="FFFF00"/>
                </a:solidFill>
              </a:rPr>
              <a:t> </a:t>
            </a:r>
            <a:r>
              <a:rPr lang="en-US" sz="3600" b="1" dirty="0" smtClean="0">
                <a:solidFill>
                  <a:srgbClr val="FFFF00"/>
                </a:solidFill>
              </a:rPr>
              <a:t>0.05 grams or less</a:t>
            </a:r>
            <a:r>
              <a:rPr lang="en-US" sz="3600" dirty="0" smtClean="0">
                <a:solidFill>
                  <a:srgbClr val="FFFF00"/>
                </a:solidFill>
              </a:rPr>
              <a:t>, </a:t>
            </a:r>
            <a:r>
              <a:rPr lang="en-US" sz="3600" b="1" dirty="0" smtClean="0">
                <a:solidFill>
                  <a:srgbClr val="FFFF00"/>
                </a:solidFill>
              </a:rPr>
              <a:t>it shall be presumed that the person was not under the influence</a:t>
            </a:r>
            <a:r>
              <a:rPr lang="en-US" sz="3600" dirty="0" smtClean="0">
                <a:solidFill>
                  <a:srgbClr val="FFFF00"/>
                </a:solidFill>
              </a:rPr>
              <a:t> of alcohol.</a:t>
            </a:r>
          </a:p>
          <a:p>
            <a:pPr marL="0" indent="0" eaLnBrk="1" hangingPunct="1">
              <a:buFont typeface="Wingdings" pitchFamily="2" charset="2"/>
              <a:buNone/>
              <a:tabLst>
                <a:tab pos="1422400" algn="l"/>
                <a:tab pos="4165600" algn="l"/>
              </a:tabLst>
              <a:defRPr/>
            </a:pPr>
            <a:endParaRPr lang="en-US" sz="1200" dirty="0" smtClean="0">
              <a:solidFill>
                <a:srgbClr val="FFFF00"/>
              </a:solidFill>
            </a:endParaRPr>
          </a:p>
          <a:p>
            <a:pPr marL="0" indent="0" eaLnBrk="1" hangingPunct="1">
              <a:buFont typeface="Wingdings" pitchFamily="2" charset="2"/>
              <a:buNone/>
              <a:tabLst>
                <a:tab pos="1422400" algn="l"/>
                <a:tab pos="4165600" algn="l"/>
              </a:tabLst>
              <a:defRPr/>
            </a:pPr>
            <a:r>
              <a:rPr lang="en-US" sz="2000" dirty="0" smtClean="0"/>
              <a:t>	O.C.G.A. § 40-6-392	</a:t>
            </a:r>
            <a:r>
              <a:rPr lang="en-US" sz="2000" i="1" dirty="0" smtClean="0"/>
              <a:t>Driving</a:t>
            </a:r>
          </a:p>
          <a:p>
            <a:pPr marL="0" indent="0" eaLnBrk="1" hangingPunct="1">
              <a:buFont typeface="Wingdings" pitchFamily="2" charset="2"/>
              <a:buNone/>
              <a:tabLst>
                <a:tab pos="1422400" algn="l"/>
                <a:tab pos="4165600" algn="l"/>
              </a:tabLst>
              <a:defRPr/>
            </a:pPr>
            <a:r>
              <a:rPr lang="en-US" sz="2000" dirty="0" smtClean="0"/>
              <a:t>	O.C.G.A. § 52-7-12. 	</a:t>
            </a:r>
            <a:r>
              <a:rPr lang="en-US" sz="2000" i="1" dirty="0" smtClean="0"/>
              <a:t>Operation of Watercraft</a:t>
            </a:r>
          </a:p>
          <a:p>
            <a:pPr marL="0" indent="0" eaLnBrk="1" hangingPunct="1">
              <a:buFont typeface="Wingdings" pitchFamily="2" charset="2"/>
              <a:buNone/>
              <a:tabLst>
                <a:tab pos="1422400" algn="l"/>
                <a:tab pos="4165600" algn="l"/>
              </a:tabLst>
              <a:defRPr/>
            </a:pPr>
            <a:r>
              <a:rPr lang="en-US" sz="2000" dirty="0" smtClean="0"/>
              <a:t>	O.C.G.A. § 27-3-7	</a:t>
            </a:r>
            <a:r>
              <a:rPr lang="en-US" sz="2000" i="1" dirty="0" smtClean="0"/>
              <a:t>Hunting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8291" name="Rectangle 3"/>
          <p:cNvSpPr>
            <a:spLocks noGrp="1" noChangeArrowheads="1"/>
          </p:cNvSpPr>
          <p:nvPr>
            <p:ph type="body" idx="1"/>
          </p:nvPr>
        </p:nvSpPr>
        <p:spPr>
          <a:xfrm>
            <a:off x="685800" y="838200"/>
            <a:ext cx="7848600" cy="4191000"/>
          </a:xfrm>
        </p:spPr>
        <p:txBody>
          <a:bodyPr/>
          <a:lstStyle/>
          <a:p>
            <a:pPr marL="0" indent="0" algn="ctr">
              <a:buFont typeface="Wingdings" pitchFamily="2" charset="2"/>
              <a:buNone/>
              <a:defRPr/>
            </a:pPr>
            <a:r>
              <a:rPr lang="en-US" sz="4400" b="1" dirty="0" smtClean="0"/>
              <a:t>The educator was under the influence of alcoholic beverages while on school campus. Breath test readings were .160gms and.167gms.   </a:t>
            </a:r>
          </a:p>
        </p:txBody>
      </p:sp>
      <p:sp>
        <p:nvSpPr>
          <p:cNvPr id="4"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One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7283" name="Rectangle 3"/>
          <p:cNvSpPr>
            <a:spLocks noGrp="1" noChangeArrowheads="1"/>
          </p:cNvSpPr>
          <p:nvPr>
            <p:ph type="body" idx="4294967295"/>
          </p:nvPr>
        </p:nvSpPr>
        <p:spPr>
          <a:xfrm>
            <a:off x="762000" y="685800"/>
            <a:ext cx="7772400" cy="4724400"/>
          </a:xfrm>
        </p:spPr>
        <p:txBody>
          <a:bodyPr/>
          <a:lstStyle/>
          <a:p>
            <a:pPr marL="0" indent="0">
              <a:buFont typeface="Wingdings" pitchFamily="2" charset="2"/>
              <a:buNone/>
            </a:pPr>
            <a:r>
              <a:rPr lang="en-US" sz="3000" b="1" smtClean="0"/>
              <a:t>The educator admits to using alcohol before coming to school and leaving school, without permission, to obtain and drink more alcohol. He vomited and became disoriented in the classroom.  He had been arrested and charged with Sexual Battery of a high school student and Furnishing Alcohol to a Minor the previous day.</a:t>
            </a:r>
            <a:r>
              <a:rPr lang="en-US" sz="2800" b="1" smtClean="0">
                <a:solidFill>
                  <a:schemeClr val="bg1"/>
                </a:solidFill>
              </a:rPr>
              <a:t> </a:t>
            </a:r>
          </a:p>
        </p:txBody>
      </p:sp>
      <p:sp>
        <p:nvSpPr>
          <p:cNvPr id="4255752" name="Text Box 8"/>
          <p:cNvSpPr txBox="1">
            <a:spLocks noChangeArrowheads="1"/>
          </p:cNvSpPr>
          <p:nvPr/>
        </p:nvSpPr>
        <p:spPr bwMode="auto">
          <a:xfrm>
            <a:off x="762000" y="54102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69027" name="Rectangle 3"/>
          <p:cNvSpPr>
            <a:spLocks noGrp="1" noChangeArrowheads="1"/>
          </p:cNvSpPr>
          <p:nvPr>
            <p:ph type="body" idx="4294967295"/>
          </p:nvPr>
        </p:nvSpPr>
        <p:spPr>
          <a:xfrm>
            <a:off x="762000" y="762000"/>
            <a:ext cx="7848600" cy="3124200"/>
          </a:xfrm>
        </p:spPr>
        <p:txBody>
          <a:bodyPr/>
          <a:lstStyle/>
          <a:p>
            <a:pPr marL="0" indent="0" algn="ctr">
              <a:buFont typeface="Wingdings" pitchFamily="2" charset="2"/>
              <a:buNone/>
            </a:pPr>
            <a:r>
              <a:rPr lang="en-US" sz="3600" b="1" smtClean="0"/>
              <a:t>The educator admitted that he consumed one alcoholic beverage after hours on three nights while serving as a chaperone on an eight-day school-sponsored trip to Italy. </a:t>
            </a:r>
          </a:p>
        </p:txBody>
      </p:sp>
      <p:sp>
        <p:nvSpPr>
          <p:cNvPr id="4255752" name="Text Box 8"/>
          <p:cNvSpPr txBox="1">
            <a:spLocks noChangeArrowheads="1"/>
          </p:cNvSpPr>
          <p:nvPr/>
        </p:nvSpPr>
        <p:spPr bwMode="auto">
          <a:xfrm>
            <a:off x="762000" y="5410200"/>
            <a:ext cx="7543800" cy="914400"/>
          </a:xfrm>
          <a:prstGeom prst="rect">
            <a:avLst/>
          </a:prstGeom>
          <a:noFill/>
          <a:ln w="9525">
            <a:noFill/>
            <a:miter lim="800000"/>
            <a:headEnd/>
            <a:tailEnd/>
          </a:ln>
          <a:effectLst/>
        </p:spPr>
        <p:txBody>
          <a:bodyPr>
            <a:spAutoFit/>
          </a:bodyPr>
          <a:lstStyle/>
          <a:p>
            <a:pPr algn="ctr" eaLnBrk="0" hangingPunct="0">
              <a:spcBef>
                <a:spcPct val="50000"/>
              </a:spcBef>
            </a:pPr>
            <a:r>
              <a:rPr lang="en-US" sz="5400">
                <a:solidFill>
                  <a:srgbClr val="FFFF00"/>
                </a:solidFill>
                <a:effectLst>
                  <a:outerShdw blurRad="38100" dist="38100" dir="2700000" algn="tl">
                    <a:srgbClr val="000000"/>
                  </a:outerShdw>
                </a:effectLst>
              </a:rPr>
              <a:t>Suspended 20 Days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42754" name="Text Box 2"/>
          <p:cNvSpPr txBox="1">
            <a:spLocks noChangeArrowheads="1"/>
          </p:cNvSpPr>
          <p:nvPr/>
        </p:nvSpPr>
        <p:spPr bwMode="auto">
          <a:xfrm>
            <a:off x="838200" y="914400"/>
            <a:ext cx="7543800" cy="3387725"/>
          </a:xfrm>
          <a:prstGeom prst="rect">
            <a:avLst/>
          </a:prstGeom>
          <a:noFill/>
          <a:ln w="9525">
            <a:noFill/>
            <a:miter lim="800000"/>
            <a:headEnd/>
            <a:tailEnd/>
          </a:ln>
          <a:effectLst/>
        </p:spPr>
        <p:txBody>
          <a:bodyPr>
            <a:spAutoFit/>
          </a:bodyPr>
          <a:lstStyle/>
          <a:p>
            <a:pPr>
              <a:spcBef>
                <a:spcPct val="50000"/>
              </a:spcBef>
              <a:defRPr/>
            </a:pPr>
            <a:r>
              <a:rPr lang="en-US" sz="3600">
                <a:effectLst>
                  <a:outerShdw blurRad="38100" dist="38100" dir="2700000" algn="tl">
                    <a:srgbClr val="000000"/>
                  </a:outerShdw>
                </a:effectLst>
              </a:rPr>
              <a:t>The educator fell asleep in class and failed to supervise two of his students engaged in oral sex during class time.  On a required drug test the educator tested positive for cocaine. </a:t>
            </a:r>
          </a:p>
        </p:txBody>
      </p:sp>
      <p:sp>
        <p:nvSpPr>
          <p:cNvPr id="4255752" name="Text Box 8"/>
          <p:cNvSpPr txBox="1">
            <a:spLocks noChangeArrowheads="1"/>
          </p:cNvSpPr>
          <p:nvPr/>
        </p:nvSpPr>
        <p:spPr bwMode="auto">
          <a:xfrm>
            <a:off x="762000" y="54102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Revoked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9394" name="Rectangle 2"/>
          <p:cNvSpPr>
            <a:spLocks noGrp="1" noChangeArrowheads="1"/>
          </p:cNvSpPr>
          <p:nvPr>
            <p:ph type="body" sz="half" idx="1"/>
          </p:nvPr>
        </p:nvSpPr>
        <p:spPr>
          <a:xfrm>
            <a:off x="2133600" y="2514600"/>
            <a:ext cx="5029200" cy="1371600"/>
          </a:xfrm>
        </p:spPr>
        <p:txBody>
          <a:bodyPr/>
          <a:lstStyle/>
          <a:p>
            <a:pPr marL="0" indent="0" algn="ctr" eaLnBrk="1" hangingPunct="1">
              <a:buFont typeface="Wingdings" pitchFamily="2" charset="2"/>
              <a:buNone/>
              <a:defRPr/>
            </a:pPr>
            <a:r>
              <a:rPr lang="en-US" sz="8000" b="1" dirty="0" smtClean="0">
                <a:solidFill>
                  <a:srgbClr val="FFFF00"/>
                </a:solidFill>
              </a:rPr>
              <a:t>Honesty</a:t>
            </a:r>
          </a:p>
        </p:txBody>
      </p:sp>
      <p:sp>
        <p:nvSpPr>
          <p:cNvPr id="3899395"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4</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29059"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4</a:t>
            </a:r>
          </a:p>
        </p:txBody>
      </p:sp>
      <p:sp>
        <p:nvSpPr>
          <p:cNvPr id="3629060" name="Rectangle 4"/>
          <p:cNvSpPr>
            <a:spLocks noChangeArrowheads="1"/>
          </p:cNvSpPr>
          <p:nvPr/>
        </p:nvSpPr>
        <p:spPr bwMode="auto">
          <a:xfrm>
            <a:off x="685800" y="1447800"/>
            <a:ext cx="78486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5400" dirty="0">
                <a:solidFill>
                  <a:srgbClr val="FFFF00"/>
                </a:solidFill>
                <a:effectLst>
                  <a:outerShdw blurRad="38100" dist="38100" dir="2700000" algn="tl">
                    <a:srgbClr val="000000"/>
                  </a:outerShdw>
                </a:effectLst>
                <a:cs typeface="+mn-cs"/>
              </a:rPr>
              <a:t>An educator shall exemplify honesty and integrity in the course of professional practice.</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21602" name="Rectangle 2"/>
          <p:cNvSpPr>
            <a:spLocks noGrp="1" noChangeArrowheads="1"/>
          </p:cNvSpPr>
          <p:nvPr>
            <p:ph type="body" idx="1"/>
          </p:nvPr>
        </p:nvSpPr>
        <p:spPr>
          <a:xfrm>
            <a:off x="762000" y="990600"/>
            <a:ext cx="7696200" cy="4495800"/>
          </a:xfrm>
        </p:spPr>
        <p:txBody>
          <a:bodyPr/>
          <a:lstStyle/>
          <a:p>
            <a:pPr marL="0" indent="0" algn="ctr" eaLnBrk="1" hangingPunct="1">
              <a:buFont typeface="Wingdings" pitchFamily="2" charset="2"/>
              <a:buNone/>
              <a:defRPr/>
            </a:pPr>
            <a:r>
              <a:rPr lang="en-US" sz="6600" b="1" dirty="0" smtClean="0">
                <a:solidFill>
                  <a:srgbClr val="FFFF00"/>
                </a:solidFill>
              </a:rPr>
              <a:t>Honesty is the Fundamental Value of an Ethical Person.</a:t>
            </a:r>
            <a:r>
              <a:rPr lang="en-US" dirty="0" smtClean="0"/>
              <a:t>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82018" name="Rectangle 2"/>
          <p:cNvSpPr>
            <a:spLocks noGrp="1" noChangeArrowheads="1"/>
          </p:cNvSpPr>
          <p:nvPr>
            <p:ph type="body" idx="4294967295"/>
          </p:nvPr>
        </p:nvSpPr>
        <p:spPr>
          <a:xfrm>
            <a:off x="685800" y="1981200"/>
            <a:ext cx="7848600" cy="3429000"/>
          </a:xfrm>
        </p:spPr>
        <p:txBody>
          <a:bodyPr/>
          <a:lstStyle/>
          <a:p>
            <a:pPr marL="0" indent="0" algn="ctr" eaLnBrk="1" hangingPunct="1">
              <a:buFont typeface="Wingdings" pitchFamily="2" charset="2"/>
              <a:buNone/>
              <a:defRPr/>
            </a:pPr>
            <a:r>
              <a:rPr lang="en-US" sz="5400" b="1" dirty="0" smtClean="0"/>
              <a:t>Honest People Tell The Truth, The Whole Truth, and Nothing But The Truth!</a:t>
            </a:r>
            <a:endParaRPr lang="en-US" sz="5400" dirty="0" smtClean="0">
              <a:solidFill>
                <a:srgbClr val="FFFF00"/>
              </a:solidFill>
            </a:endParaRPr>
          </a:p>
        </p:txBody>
      </p:sp>
      <p:sp>
        <p:nvSpPr>
          <p:cNvPr id="4182019" name="Rectangle 3"/>
          <p:cNvSpPr>
            <a:spLocks noGrp="1" noChangeArrowheads="1"/>
          </p:cNvSpPr>
          <p:nvPr>
            <p:ph type="title" idx="4294967295"/>
          </p:nvPr>
        </p:nvSpPr>
        <p:spPr>
          <a:xfrm>
            <a:off x="457200" y="685800"/>
            <a:ext cx="8229600" cy="1143000"/>
          </a:xfrm>
        </p:spPr>
        <p:txBody>
          <a:bodyPr/>
          <a:lstStyle/>
          <a:p>
            <a:pPr eaLnBrk="1" hangingPunct="1">
              <a:defRPr/>
            </a:pPr>
            <a:r>
              <a:rPr lang="en-US" b="1" dirty="0" smtClean="0">
                <a:solidFill>
                  <a:srgbClr val="FFFF00"/>
                </a:solidFill>
              </a:rPr>
              <a:t>Honesty in Communications</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3826" name="Rectangle 2"/>
          <p:cNvSpPr>
            <a:spLocks noGrp="1" noChangeArrowheads="1"/>
          </p:cNvSpPr>
          <p:nvPr>
            <p:ph type="title" idx="4294967295"/>
          </p:nvPr>
        </p:nvSpPr>
        <p:spPr/>
        <p:txBody>
          <a:bodyPr/>
          <a:lstStyle/>
          <a:p>
            <a:pPr eaLnBrk="1" hangingPunct="1">
              <a:defRPr/>
            </a:pPr>
            <a:r>
              <a:rPr lang="en-US" b="1" dirty="0" smtClean="0">
                <a:solidFill>
                  <a:srgbClr val="FFFF00"/>
                </a:solidFill>
              </a:rPr>
              <a:t>Honesty in Conduct</a:t>
            </a:r>
          </a:p>
        </p:txBody>
      </p:sp>
      <p:sp>
        <p:nvSpPr>
          <p:cNvPr id="4173827" name="Rectangle 3"/>
          <p:cNvSpPr>
            <a:spLocks noGrp="1" noChangeArrowheads="1"/>
          </p:cNvSpPr>
          <p:nvPr>
            <p:ph type="body" idx="4294967295"/>
          </p:nvPr>
        </p:nvSpPr>
        <p:spPr>
          <a:xfrm>
            <a:off x="685800" y="1600200"/>
            <a:ext cx="7696200" cy="4495800"/>
          </a:xfrm>
        </p:spPr>
        <p:txBody>
          <a:bodyPr/>
          <a:lstStyle/>
          <a:p>
            <a:pPr marL="0" indent="0" algn="ctr" eaLnBrk="1" hangingPunct="1">
              <a:buFont typeface="Wingdings" pitchFamily="2" charset="2"/>
              <a:buNone/>
              <a:defRPr/>
            </a:pPr>
            <a:r>
              <a:rPr lang="en-US" sz="5400" b="1" dirty="0" smtClean="0"/>
              <a:t>Honest People Play by the Rules, without Stealing, Cheating, Fraud, Subterfuge and Other Trickery.</a:t>
            </a:r>
            <a:r>
              <a:rPr lang="en-US" dirty="0" smtClean="0"/>
              <a:t>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20546" name="Rectangle 2"/>
          <p:cNvSpPr>
            <a:spLocks noGrp="1" noChangeArrowheads="1"/>
          </p:cNvSpPr>
          <p:nvPr>
            <p:ph type="title"/>
          </p:nvPr>
        </p:nvSpPr>
        <p:spPr>
          <a:xfrm>
            <a:off x="457200" y="381000"/>
            <a:ext cx="8229600" cy="685800"/>
          </a:xfrm>
        </p:spPr>
        <p:txBody>
          <a:bodyPr/>
          <a:lstStyle/>
          <a:p>
            <a:pPr>
              <a:defRPr/>
            </a:pPr>
            <a:r>
              <a:rPr lang="en-US" sz="3600" b="1">
                <a:solidFill>
                  <a:srgbClr val="FFFF00"/>
                </a:solidFill>
              </a:rPr>
              <a:t>Honesty</a:t>
            </a:r>
          </a:p>
        </p:txBody>
      </p:sp>
      <p:sp>
        <p:nvSpPr>
          <p:cNvPr id="3820547" name="Rectangle 3"/>
          <p:cNvSpPr>
            <a:spLocks noGrp="1" noChangeArrowheads="1"/>
          </p:cNvSpPr>
          <p:nvPr>
            <p:ph type="body" idx="1"/>
          </p:nvPr>
        </p:nvSpPr>
        <p:spPr>
          <a:xfrm>
            <a:off x="457200" y="1295400"/>
            <a:ext cx="8229600" cy="4495800"/>
          </a:xfrm>
        </p:spPr>
        <p:txBody>
          <a:bodyPr/>
          <a:lstStyle/>
          <a:p>
            <a:pPr marL="381000" indent="-381000">
              <a:lnSpc>
                <a:spcPct val="90000"/>
              </a:lnSpc>
              <a:buFont typeface="Wingdings" pitchFamily="2" charset="2"/>
              <a:buNone/>
              <a:defRPr/>
            </a:pPr>
            <a:r>
              <a:rPr lang="en-US" sz="2800"/>
              <a:t>Unethical conduct includes but is not limited to falsifying, misrepresenting, or omitting:</a:t>
            </a:r>
          </a:p>
          <a:p>
            <a:pPr marL="381000" indent="-381000">
              <a:lnSpc>
                <a:spcPct val="90000"/>
              </a:lnSpc>
              <a:buClr>
                <a:schemeClr val="tx1"/>
              </a:buClr>
              <a:buFontTx/>
              <a:buAutoNum type="arabicPeriod"/>
              <a:defRPr/>
            </a:pPr>
            <a:r>
              <a:rPr lang="en-US" sz="4000" b="1"/>
              <a:t>professional qualifications, criminal history, college or staff development credit and/or degrees, academic award, and employment history;</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2402" name="Rectangle 2"/>
          <p:cNvSpPr>
            <a:spLocks noGrp="1" noChangeArrowheads="1"/>
          </p:cNvSpPr>
          <p:nvPr>
            <p:ph type="title"/>
          </p:nvPr>
        </p:nvSpPr>
        <p:spPr>
          <a:xfrm>
            <a:off x="457200" y="274638"/>
            <a:ext cx="8229600" cy="792162"/>
          </a:xfrm>
        </p:spPr>
        <p:txBody>
          <a:bodyPr/>
          <a:lstStyle/>
          <a:p>
            <a:pPr>
              <a:defRPr/>
            </a:pPr>
            <a:r>
              <a:rPr lang="en-US" sz="3600" b="1">
                <a:solidFill>
                  <a:srgbClr val="FFFF00"/>
                </a:solidFill>
              </a:rPr>
              <a:t>Honesty</a:t>
            </a:r>
          </a:p>
        </p:txBody>
      </p:sp>
      <p:sp>
        <p:nvSpPr>
          <p:cNvPr id="3942403" name="Rectangle 3"/>
          <p:cNvSpPr>
            <a:spLocks noGrp="1" noChangeArrowheads="1"/>
          </p:cNvSpPr>
          <p:nvPr>
            <p:ph type="body" idx="1"/>
          </p:nvPr>
        </p:nvSpPr>
        <p:spPr>
          <a:xfrm>
            <a:off x="457200" y="1295400"/>
            <a:ext cx="8229600" cy="4953000"/>
          </a:xfrm>
        </p:spPr>
        <p:txBody>
          <a:bodyPr/>
          <a:lstStyle/>
          <a:p>
            <a:pPr marL="609600" indent="-609600">
              <a:buFont typeface="Wingdings" pitchFamily="2" charset="2"/>
              <a:buNone/>
              <a:defRPr/>
            </a:pPr>
            <a:r>
              <a:rPr lang="en-US" sz="2800"/>
              <a:t>Unethical conduct includes but is not limited to</a:t>
            </a:r>
            <a:r>
              <a:rPr lang="en-US" sz="2800" u="sng"/>
              <a:t>, </a:t>
            </a:r>
            <a:r>
              <a:rPr lang="en-US" sz="2800"/>
              <a:t>falsifying, misrepresenting, or omitting:</a:t>
            </a:r>
          </a:p>
          <a:p>
            <a:pPr marL="609600" indent="-609600">
              <a:buClr>
                <a:schemeClr val="tx1"/>
              </a:buClr>
              <a:buFontTx/>
              <a:buAutoNum type="arabicPeriod" startAt="2"/>
              <a:defRPr/>
            </a:pPr>
            <a:r>
              <a:rPr lang="en-US" sz="4000" b="1"/>
              <a:t>information submitted to federal, state, local school districts and other governmental agencies;</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29762" name="Rectangle 2"/>
          <p:cNvSpPr>
            <a:spLocks noGrp="1" noChangeArrowheads="1"/>
          </p:cNvSpPr>
          <p:nvPr>
            <p:ph type="title"/>
          </p:nvPr>
        </p:nvSpPr>
        <p:spPr>
          <a:xfrm>
            <a:off x="457200" y="274638"/>
            <a:ext cx="8229600" cy="792162"/>
          </a:xfrm>
        </p:spPr>
        <p:txBody>
          <a:bodyPr/>
          <a:lstStyle/>
          <a:p>
            <a:pPr>
              <a:defRPr/>
            </a:pPr>
            <a:r>
              <a:rPr lang="en-US" sz="3600" b="1">
                <a:solidFill>
                  <a:srgbClr val="FFFF00"/>
                </a:solidFill>
              </a:rPr>
              <a:t>Honesty</a:t>
            </a:r>
          </a:p>
        </p:txBody>
      </p:sp>
      <p:sp>
        <p:nvSpPr>
          <p:cNvPr id="3829763" name="Rectangle 3"/>
          <p:cNvSpPr>
            <a:spLocks noGrp="1" noChangeArrowheads="1"/>
          </p:cNvSpPr>
          <p:nvPr>
            <p:ph type="body" idx="1"/>
          </p:nvPr>
        </p:nvSpPr>
        <p:spPr>
          <a:xfrm>
            <a:off x="457200" y="1295400"/>
            <a:ext cx="8229600" cy="4953000"/>
          </a:xfrm>
        </p:spPr>
        <p:txBody>
          <a:bodyPr/>
          <a:lstStyle/>
          <a:p>
            <a:pPr marL="609600" indent="-609600">
              <a:buFont typeface="Wingdings" pitchFamily="2" charset="2"/>
              <a:buNone/>
              <a:defRPr/>
            </a:pPr>
            <a:r>
              <a:rPr lang="en-US" sz="2800"/>
              <a:t>Unethical conduct includes but is not limited to</a:t>
            </a:r>
            <a:r>
              <a:rPr lang="en-US" sz="2800" u="sng"/>
              <a:t>, </a:t>
            </a:r>
            <a:r>
              <a:rPr lang="en-US" sz="2800"/>
              <a:t>falsifying, misrepresenting, or omitting:</a:t>
            </a:r>
          </a:p>
          <a:p>
            <a:pPr marL="609600" indent="-609600">
              <a:buClr>
                <a:schemeClr val="tx1"/>
              </a:buClr>
              <a:buFontTx/>
              <a:buNone/>
              <a:defRPr/>
            </a:pPr>
            <a:r>
              <a:rPr lang="en-US" sz="4000" b="1"/>
              <a:t>3.	information regarding the evaluation of students and/or personnel; </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3426" name="Rectangle 2"/>
          <p:cNvSpPr>
            <a:spLocks noGrp="1" noChangeArrowheads="1"/>
          </p:cNvSpPr>
          <p:nvPr>
            <p:ph type="title"/>
          </p:nvPr>
        </p:nvSpPr>
        <p:spPr>
          <a:xfrm>
            <a:off x="457200" y="274638"/>
            <a:ext cx="8229600" cy="792162"/>
          </a:xfrm>
        </p:spPr>
        <p:txBody>
          <a:bodyPr/>
          <a:lstStyle/>
          <a:p>
            <a:pPr>
              <a:defRPr/>
            </a:pPr>
            <a:r>
              <a:rPr lang="en-US" sz="3600" b="1">
                <a:solidFill>
                  <a:srgbClr val="FFFF00"/>
                </a:solidFill>
              </a:rPr>
              <a:t>Honesty</a:t>
            </a:r>
          </a:p>
        </p:txBody>
      </p:sp>
      <p:sp>
        <p:nvSpPr>
          <p:cNvPr id="3943427" name="Rectangle 3"/>
          <p:cNvSpPr>
            <a:spLocks noGrp="1" noChangeArrowheads="1"/>
          </p:cNvSpPr>
          <p:nvPr>
            <p:ph type="body" idx="1"/>
          </p:nvPr>
        </p:nvSpPr>
        <p:spPr>
          <a:xfrm>
            <a:off x="457200" y="1295400"/>
            <a:ext cx="8229600" cy="4953000"/>
          </a:xfrm>
        </p:spPr>
        <p:txBody>
          <a:bodyPr/>
          <a:lstStyle/>
          <a:p>
            <a:pPr marL="609600" indent="-609600">
              <a:buFont typeface="Wingdings" pitchFamily="2" charset="2"/>
              <a:buNone/>
              <a:defRPr/>
            </a:pPr>
            <a:r>
              <a:rPr lang="en-US" sz="2800"/>
              <a:t>Unethical conduct includes but is not limited to,</a:t>
            </a:r>
            <a:r>
              <a:rPr lang="en-US" sz="2800" b="1" u="sng"/>
              <a:t> </a:t>
            </a:r>
            <a:r>
              <a:rPr lang="en-US" sz="2800"/>
              <a:t>falsifying, misrepresenting, or omitting:</a:t>
            </a:r>
          </a:p>
          <a:p>
            <a:pPr marL="609600" indent="-609600">
              <a:buClr>
                <a:schemeClr val="tx1"/>
              </a:buClr>
              <a:buFontTx/>
              <a:buAutoNum type="arabicPeriod" startAt="4"/>
              <a:defRPr/>
            </a:pPr>
            <a:r>
              <a:rPr lang="en-US" sz="4000" b="1"/>
              <a:t>reasons for absences or leaves; </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71746" name="Rectangle 2"/>
          <p:cNvSpPr>
            <a:spLocks noGrp="1" noChangeArrowheads="1"/>
          </p:cNvSpPr>
          <p:nvPr>
            <p:ph type="title"/>
          </p:nvPr>
        </p:nvSpPr>
        <p:spPr>
          <a:xfrm>
            <a:off x="457200" y="274638"/>
            <a:ext cx="8229600" cy="792162"/>
          </a:xfrm>
        </p:spPr>
        <p:txBody>
          <a:bodyPr/>
          <a:lstStyle/>
          <a:p>
            <a:pPr>
              <a:defRPr/>
            </a:pPr>
            <a:r>
              <a:rPr lang="en-US" sz="3600" b="1">
                <a:solidFill>
                  <a:srgbClr val="FFFF00"/>
                </a:solidFill>
              </a:rPr>
              <a:t>Honesty</a:t>
            </a:r>
          </a:p>
        </p:txBody>
      </p:sp>
      <p:sp>
        <p:nvSpPr>
          <p:cNvPr id="3871747" name="Rectangle 3"/>
          <p:cNvSpPr>
            <a:spLocks noGrp="1" noChangeArrowheads="1"/>
          </p:cNvSpPr>
          <p:nvPr>
            <p:ph type="body" idx="1"/>
          </p:nvPr>
        </p:nvSpPr>
        <p:spPr>
          <a:xfrm>
            <a:off x="457200" y="1295400"/>
            <a:ext cx="8229600" cy="4953000"/>
          </a:xfrm>
        </p:spPr>
        <p:txBody>
          <a:bodyPr/>
          <a:lstStyle/>
          <a:p>
            <a:pPr marL="609600" indent="-609600">
              <a:buFont typeface="Wingdings" pitchFamily="2" charset="2"/>
              <a:buNone/>
              <a:defRPr/>
            </a:pPr>
            <a:r>
              <a:rPr lang="en-US" sz="2800"/>
              <a:t>Unethical conduct includes but is not limited to,</a:t>
            </a:r>
            <a:r>
              <a:rPr lang="en-US" sz="2800" b="1" u="sng"/>
              <a:t> </a:t>
            </a:r>
            <a:r>
              <a:rPr lang="en-US" sz="2800"/>
              <a:t>falsifying, misrepresenting, or omitting:</a:t>
            </a:r>
          </a:p>
          <a:p>
            <a:pPr marL="609600" indent="-609600">
              <a:buClr>
                <a:schemeClr val="tx1"/>
              </a:buClr>
              <a:buFontTx/>
              <a:buNone/>
              <a:defRPr/>
            </a:pPr>
            <a:r>
              <a:rPr lang="en-US" sz="4000" b="1"/>
              <a:t>5.	information submitted in the course of an official inquiry/investigation; and</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80962" name="Rectangle 2"/>
          <p:cNvSpPr>
            <a:spLocks noGrp="1" noChangeArrowheads="1"/>
          </p:cNvSpPr>
          <p:nvPr>
            <p:ph type="title"/>
          </p:nvPr>
        </p:nvSpPr>
        <p:spPr>
          <a:xfrm>
            <a:off x="457200" y="274638"/>
            <a:ext cx="8229600" cy="792162"/>
          </a:xfrm>
        </p:spPr>
        <p:txBody>
          <a:bodyPr/>
          <a:lstStyle/>
          <a:p>
            <a:pPr>
              <a:defRPr/>
            </a:pPr>
            <a:r>
              <a:rPr lang="en-US" sz="3600" b="1">
                <a:solidFill>
                  <a:srgbClr val="FFFF00"/>
                </a:solidFill>
              </a:rPr>
              <a:t>Honesty</a:t>
            </a:r>
          </a:p>
        </p:txBody>
      </p:sp>
      <p:sp>
        <p:nvSpPr>
          <p:cNvPr id="3880963" name="Rectangle 3"/>
          <p:cNvSpPr>
            <a:spLocks noGrp="1" noChangeArrowheads="1"/>
          </p:cNvSpPr>
          <p:nvPr>
            <p:ph type="body" idx="1"/>
          </p:nvPr>
        </p:nvSpPr>
        <p:spPr>
          <a:xfrm>
            <a:off x="457200" y="1295400"/>
            <a:ext cx="8229600" cy="4953000"/>
          </a:xfrm>
        </p:spPr>
        <p:txBody>
          <a:bodyPr/>
          <a:lstStyle/>
          <a:p>
            <a:pPr marL="609600" indent="-609600">
              <a:buFont typeface="Wingdings" pitchFamily="2" charset="2"/>
              <a:buNone/>
              <a:defRPr/>
            </a:pPr>
            <a:r>
              <a:rPr lang="en-US" sz="2800"/>
              <a:t>Unethical conduct includes but is not limited to,</a:t>
            </a:r>
            <a:r>
              <a:rPr lang="en-US" sz="2800" u="sng"/>
              <a:t> </a:t>
            </a:r>
            <a:r>
              <a:rPr lang="en-US" sz="2800"/>
              <a:t>falsifying, misrepresenting, or omitting:</a:t>
            </a:r>
          </a:p>
          <a:p>
            <a:pPr marL="609600" indent="-609600">
              <a:buClr>
                <a:srgbClr val="FFFF00"/>
              </a:buClr>
              <a:buFontTx/>
              <a:buNone/>
              <a:defRPr/>
            </a:pPr>
            <a:r>
              <a:rPr lang="en-US" sz="3600" b="1"/>
              <a:t>6.</a:t>
            </a:r>
            <a:r>
              <a:rPr lang="en-US" sz="4000" b="1"/>
              <a:t>	information submitted in the course of professional practice. </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1650" name="Rectangle 2"/>
          <p:cNvSpPr>
            <a:spLocks noGrp="1" noChangeArrowheads="1"/>
          </p:cNvSpPr>
          <p:nvPr>
            <p:ph type="body" idx="1"/>
          </p:nvPr>
        </p:nvSpPr>
        <p:spPr>
          <a:xfrm>
            <a:off x="685800" y="685800"/>
            <a:ext cx="7772400" cy="3886200"/>
          </a:xfrm>
        </p:spPr>
        <p:txBody>
          <a:bodyPr/>
          <a:lstStyle/>
          <a:p>
            <a:pPr marL="0" indent="0" algn="ctr" eaLnBrk="1" hangingPunct="1">
              <a:buFont typeface="Wingdings" pitchFamily="2" charset="2"/>
              <a:buNone/>
              <a:defRPr/>
            </a:pPr>
            <a:r>
              <a:rPr lang="en-US" sz="4400" b="1" dirty="0" smtClean="0"/>
              <a:t>The educator provided the system with a doctor’s excuse for the days that she attended an out of state event with her daughter and husband.</a:t>
            </a:r>
            <a:endParaRPr lang="en-US" sz="4400" b="1" dirty="0"/>
          </a:p>
        </p:txBody>
      </p:sp>
      <p:sp>
        <p:nvSpPr>
          <p:cNvPr id="4251651" name="Text Box 3"/>
          <p:cNvSpPr txBox="1">
            <a:spLocks noChangeArrowheads="1"/>
          </p:cNvSpPr>
          <p:nvPr/>
        </p:nvSpPr>
        <p:spPr bwMode="auto">
          <a:xfrm>
            <a:off x="1143000" y="5181600"/>
            <a:ext cx="6858000" cy="83026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5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1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1650" name="Rectangle 2"/>
          <p:cNvSpPr>
            <a:spLocks noGrp="1" noChangeArrowheads="1"/>
          </p:cNvSpPr>
          <p:nvPr>
            <p:ph type="body" idx="1"/>
          </p:nvPr>
        </p:nvSpPr>
        <p:spPr>
          <a:xfrm>
            <a:off x="685800" y="685800"/>
            <a:ext cx="7772400" cy="3886200"/>
          </a:xfrm>
        </p:spPr>
        <p:txBody>
          <a:bodyPr/>
          <a:lstStyle/>
          <a:p>
            <a:pPr marL="0" indent="0" algn="ctr" eaLnBrk="1" hangingPunct="1">
              <a:buFont typeface="Wingdings" pitchFamily="2" charset="2"/>
              <a:buNone/>
              <a:defRPr/>
            </a:pPr>
            <a:r>
              <a:rPr lang="en-US" sz="3800" b="1" dirty="0" smtClean="0"/>
              <a:t> The educator admitted to changing the grades of 12 students in four subjects with no documentation supporting the grade changes.  The educator stated it was done for the benefit of the students. </a:t>
            </a:r>
            <a:endParaRPr lang="en-US" sz="3800" b="1" dirty="0"/>
          </a:p>
        </p:txBody>
      </p:sp>
      <p:sp>
        <p:nvSpPr>
          <p:cNvPr id="4251651" name="Text Box 3"/>
          <p:cNvSpPr txBox="1">
            <a:spLocks noChangeArrowheads="1"/>
          </p:cNvSpPr>
          <p:nvPr/>
        </p:nvSpPr>
        <p:spPr bwMode="auto">
          <a:xfrm>
            <a:off x="1143000" y="5181600"/>
            <a:ext cx="6858000" cy="83026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10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1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27395" name="Rectangle 3"/>
          <p:cNvSpPr>
            <a:spLocks noGrp="1" noChangeArrowheads="1"/>
          </p:cNvSpPr>
          <p:nvPr>
            <p:ph type="body" idx="1"/>
          </p:nvPr>
        </p:nvSpPr>
        <p:spPr>
          <a:xfrm>
            <a:off x="609600" y="762000"/>
            <a:ext cx="7924800" cy="4495800"/>
          </a:xfrm>
        </p:spPr>
        <p:txBody>
          <a:bodyPr/>
          <a:lstStyle/>
          <a:p>
            <a:pPr marL="0" indent="0">
              <a:buFont typeface="Wingdings" pitchFamily="2" charset="2"/>
              <a:buNone/>
            </a:pPr>
            <a:r>
              <a:rPr lang="en-US" sz="3400" b="1" smtClean="0"/>
              <a:t>The educator fabricated her IEP paperwork by cutting signatures from other documents, pasting them on the required paperwork, and photocopying the paperwork to conceal the cut and paste. She submitted the fabricated documents to the school system. </a:t>
            </a:r>
            <a:endParaRPr lang="en-US" smtClean="0"/>
          </a:p>
        </p:txBody>
      </p:sp>
      <p:sp>
        <p:nvSpPr>
          <p:cNvPr id="4251651" name="Text Box 3"/>
          <p:cNvSpPr txBox="1">
            <a:spLocks noChangeArrowheads="1"/>
          </p:cNvSpPr>
          <p:nvPr/>
        </p:nvSpPr>
        <p:spPr bwMode="auto">
          <a:xfrm>
            <a:off x="1143000" y="5181600"/>
            <a:ext cx="6858000" cy="823913"/>
          </a:xfrm>
          <a:prstGeom prst="rect">
            <a:avLst/>
          </a:prstGeom>
          <a:noFill/>
          <a:ln w="9525">
            <a:noFill/>
            <a:miter lim="800000"/>
            <a:headEnd/>
            <a:tailEnd/>
          </a:ln>
          <a:effectLst/>
        </p:spPr>
        <p:txBody>
          <a:bodyPr>
            <a:spAutoFit/>
          </a:bodyPr>
          <a:lstStyle/>
          <a:p>
            <a:pPr algn="ctr" eaLnBrk="0" hangingPunct="0">
              <a:spcBef>
                <a:spcPct val="50000"/>
              </a:spcBef>
            </a:pPr>
            <a:r>
              <a:rPr lang="en-US" sz="4800">
                <a:solidFill>
                  <a:srgbClr val="FFFF00"/>
                </a:solidFill>
                <a:effectLst>
                  <a:outerShdw blurRad="38100" dist="38100" dir="2700000" algn="tl">
                    <a:srgbClr val="000000"/>
                  </a:outerShdw>
                </a:effectLst>
              </a:rPr>
              <a:t>90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1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01442" name="Rectangle 2"/>
          <p:cNvSpPr>
            <a:spLocks noGrp="1" noChangeArrowheads="1"/>
          </p:cNvSpPr>
          <p:nvPr>
            <p:ph type="body" sz="half" idx="1"/>
          </p:nvPr>
        </p:nvSpPr>
        <p:spPr>
          <a:xfrm>
            <a:off x="1143000" y="1981200"/>
            <a:ext cx="6934200" cy="2895600"/>
          </a:xfrm>
        </p:spPr>
        <p:txBody>
          <a:bodyPr/>
          <a:lstStyle/>
          <a:p>
            <a:pPr marL="0" indent="0" algn="ctr" eaLnBrk="1" hangingPunct="1">
              <a:buFont typeface="Wingdings" pitchFamily="2" charset="2"/>
              <a:buNone/>
              <a:defRPr/>
            </a:pPr>
            <a:r>
              <a:rPr lang="en-US" sz="8000" b="1" dirty="0" smtClean="0">
                <a:solidFill>
                  <a:srgbClr val="FFFF00"/>
                </a:solidFill>
              </a:rPr>
              <a:t>Public Funds &amp; Property</a:t>
            </a:r>
          </a:p>
        </p:txBody>
      </p:sp>
      <p:sp>
        <p:nvSpPr>
          <p:cNvPr id="3901443"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5</a:t>
            </a: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31107"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5</a:t>
            </a:r>
          </a:p>
        </p:txBody>
      </p:sp>
      <p:sp>
        <p:nvSpPr>
          <p:cNvPr id="3631108" name="Rectangle 4"/>
          <p:cNvSpPr>
            <a:spLocks noChangeArrowheads="1"/>
          </p:cNvSpPr>
          <p:nvPr/>
        </p:nvSpPr>
        <p:spPr bwMode="auto">
          <a:xfrm>
            <a:off x="838200" y="1371600"/>
            <a:ext cx="74676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400" dirty="0">
                <a:solidFill>
                  <a:srgbClr val="FFFF00"/>
                </a:solidFill>
                <a:effectLst>
                  <a:outerShdw blurRad="38100" dist="38100" dir="2700000" algn="tl">
                    <a:srgbClr val="000000"/>
                  </a:outerShdw>
                </a:effectLst>
                <a:cs typeface="+mn-cs"/>
              </a:rPr>
              <a:t>An educator entrusted with public funds and property shall honor that trust with a high level of honesty, accuracy, and responsibility.</a:t>
            </a:r>
            <a:r>
              <a:rPr lang="en-US" sz="2800" b="0" dirty="0">
                <a:effectLst>
                  <a:outerShdw blurRad="38100" dist="38100" dir="2700000" algn="tl">
                    <a:srgbClr val="000000"/>
                  </a:outerShdw>
                </a:effectLst>
                <a:cs typeface="+mn-cs"/>
              </a:rPr>
              <a:t> </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21570" name="Rectangle 2"/>
          <p:cNvSpPr>
            <a:spLocks noGrp="1" noChangeArrowheads="1"/>
          </p:cNvSpPr>
          <p:nvPr>
            <p:ph type="title"/>
          </p:nvPr>
        </p:nvSpPr>
        <p:spPr>
          <a:xfrm>
            <a:off x="457200" y="274638"/>
            <a:ext cx="8229600" cy="715962"/>
          </a:xfrm>
        </p:spPr>
        <p:txBody>
          <a:bodyPr/>
          <a:lstStyle/>
          <a:p>
            <a:pPr eaLnBrk="1" hangingPunct="1">
              <a:defRPr/>
            </a:pPr>
            <a:r>
              <a:rPr lang="en-US" sz="3600" b="1" dirty="0" smtClean="0">
                <a:solidFill>
                  <a:srgbClr val="FFFF00"/>
                </a:solidFill>
              </a:rPr>
              <a:t>Public Funds &amp; Property</a:t>
            </a:r>
          </a:p>
        </p:txBody>
      </p:sp>
      <p:sp>
        <p:nvSpPr>
          <p:cNvPr id="3821571" name="Rectangle 3"/>
          <p:cNvSpPr>
            <a:spLocks noGrp="1" noChangeArrowheads="1"/>
          </p:cNvSpPr>
          <p:nvPr>
            <p:ph type="body" idx="1"/>
          </p:nvPr>
        </p:nvSpPr>
        <p:spPr>
          <a:xfrm>
            <a:off x="609600" y="1143000"/>
            <a:ext cx="8229600" cy="5486400"/>
          </a:xfrm>
        </p:spPr>
        <p:txBody>
          <a:bodyPr/>
          <a:lstStyle/>
          <a:p>
            <a:pPr marL="533400" indent="-533400" eaLnBrk="1" hangingPunct="1">
              <a:buFont typeface="Wingdings" pitchFamily="2" charset="2"/>
              <a:buNone/>
              <a:defRPr/>
            </a:pPr>
            <a:r>
              <a:rPr lang="en-US" sz="2800" dirty="0" smtClean="0"/>
              <a:t>Unethical conduct includes but is not limited to:</a:t>
            </a:r>
          </a:p>
          <a:p>
            <a:pPr marL="533400" indent="-533400" eaLnBrk="1" hangingPunct="1">
              <a:buClr>
                <a:schemeClr val="tx1"/>
              </a:buClr>
              <a:buFont typeface="Wingdings" pitchFamily="2" charset="2"/>
              <a:buAutoNum type="arabicPeriod"/>
              <a:defRPr/>
            </a:pPr>
            <a:r>
              <a:rPr lang="en-US" sz="2400" b="1" dirty="0" smtClean="0"/>
              <a:t>misusing public or school-related funds; </a:t>
            </a:r>
          </a:p>
          <a:p>
            <a:pPr marL="533400" indent="-533400" eaLnBrk="1" hangingPunct="1">
              <a:buClr>
                <a:schemeClr val="tx1"/>
              </a:buClr>
              <a:buFont typeface="Wingdings" pitchFamily="2" charset="2"/>
              <a:buAutoNum type="arabicPeriod"/>
              <a:defRPr/>
            </a:pPr>
            <a:r>
              <a:rPr lang="en-US" sz="2400" b="1" dirty="0" smtClean="0"/>
              <a:t>failing to account for funds collected from students or parents;</a:t>
            </a:r>
          </a:p>
          <a:p>
            <a:pPr marL="533400" indent="-533400" eaLnBrk="1" hangingPunct="1">
              <a:buClr>
                <a:schemeClr val="tx1"/>
              </a:buClr>
              <a:buFont typeface="Wingdings" pitchFamily="2" charset="2"/>
              <a:buAutoNum type="arabicPeriod"/>
              <a:defRPr/>
            </a:pPr>
            <a:r>
              <a:rPr lang="en-US" sz="2400" b="1" dirty="0" smtClean="0"/>
              <a:t>submitting fraudulent requests or documentation for reimbursement of expenses or for pay;</a:t>
            </a:r>
            <a:endParaRPr lang="en-US" sz="2400" i="1" dirty="0" smtClean="0">
              <a:solidFill>
                <a:srgbClr val="FFFF00"/>
              </a:solidFill>
              <a:latin typeface="Times New Roman" pitchFamily="18" charset="0"/>
            </a:endParaRPr>
          </a:p>
          <a:p>
            <a:pPr marL="533400" indent="-533400" eaLnBrk="1" hangingPunct="1">
              <a:buClr>
                <a:schemeClr val="tx1"/>
              </a:buClr>
              <a:buFont typeface="Wingdings" pitchFamily="2" charset="2"/>
              <a:buAutoNum type="arabicPeriod"/>
              <a:defRPr/>
            </a:pPr>
            <a:r>
              <a:rPr lang="en-US" sz="2400" b="1" dirty="0" smtClean="0"/>
              <a:t>co-mingling public or school-related funds with personal funds or checking accounts; and</a:t>
            </a:r>
          </a:p>
          <a:p>
            <a:pPr marL="533400" indent="-533400" eaLnBrk="1" hangingPunct="1">
              <a:buClr>
                <a:schemeClr val="tx1"/>
              </a:buClr>
              <a:buFont typeface="Wingdings" pitchFamily="2" charset="2"/>
              <a:buAutoNum type="arabicPeriod"/>
              <a:defRPr/>
            </a:pPr>
            <a:r>
              <a:rPr lang="en-US" sz="2400" b="1" dirty="0" smtClean="0"/>
              <a:t>using school property without the approval of the local board of education/governing board or </a:t>
            </a:r>
            <a:r>
              <a:rPr lang="en-US" sz="2400" b="1" dirty="0" smtClean="0">
                <a:solidFill>
                  <a:srgbClr val="FFFF00"/>
                </a:solidFill>
              </a:rPr>
              <a:t>authorized designee</a:t>
            </a:r>
            <a:r>
              <a:rPr lang="en-US" sz="2400" b="1" dirty="0" smtClean="0"/>
              <a:t>.</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0626" name="Rectangle 2"/>
          <p:cNvSpPr>
            <a:spLocks noGrp="1" noChangeArrowheads="1"/>
          </p:cNvSpPr>
          <p:nvPr>
            <p:ph type="body" idx="1"/>
          </p:nvPr>
        </p:nvSpPr>
        <p:spPr>
          <a:xfrm>
            <a:off x="457200" y="914400"/>
            <a:ext cx="8229600" cy="4267200"/>
          </a:xfrm>
        </p:spPr>
        <p:txBody>
          <a:bodyPr/>
          <a:lstStyle/>
          <a:p>
            <a:pPr marL="0" indent="0" algn="ctr" eaLnBrk="1" hangingPunct="1">
              <a:buFont typeface="Wingdings" pitchFamily="2" charset="2"/>
              <a:buNone/>
              <a:defRPr/>
            </a:pPr>
            <a:r>
              <a:rPr lang="en-US" sz="3600" b="1" dirty="0"/>
              <a:t>The DOE Academic Coach Program Manager authorized payment of funds to employ her relatives, to fund unallowable expenditures for herself and a subordinate DOE employee, and to further her pursuit of a doctorate degree.</a:t>
            </a:r>
          </a:p>
        </p:txBody>
      </p:sp>
      <p:sp>
        <p:nvSpPr>
          <p:cNvPr id="4250627"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Three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06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1650" name="Rectangle 2"/>
          <p:cNvSpPr>
            <a:spLocks noGrp="1" noChangeArrowheads="1"/>
          </p:cNvSpPr>
          <p:nvPr>
            <p:ph type="body" idx="1"/>
          </p:nvPr>
        </p:nvSpPr>
        <p:spPr>
          <a:xfrm>
            <a:off x="762000" y="685800"/>
            <a:ext cx="7467600" cy="3886200"/>
          </a:xfrm>
        </p:spPr>
        <p:txBody>
          <a:bodyPr/>
          <a:lstStyle/>
          <a:p>
            <a:pPr marL="0" indent="0" algn="ctr" eaLnBrk="1" hangingPunct="1">
              <a:buFont typeface="Wingdings" pitchFamily="2" charset="2"/>
              <a:buNone/>
              <a:defRPr/>
            </a:pPr>
            <a:r>
              <a:rPr lang="en-US" sz="4800" b="1" dirty="0"/>
              <a:t>The Superintendent wrote and approved a check to his wife for time that she did not actually work.</a:t>
            </a:r>
            <a:r>
              <a:rPr lang="en-US" sz="4000" b="1" dirty="0"/>
              <a:t> </a:t>
            </a:r>
          </a:p>
        </p:txBody>
      </p:sp>
      <p:sp>
        <p:nvSpPr>
          <p:cNvPr id="4251651" name="Text Box 3"/>
          <p:cNvSpPr txBox="1">
            <a:spLocks noChangeArrowheads="1"/>
          </p:cNvSpPr>
          <p:nvPr/>
        </p:nvSpPr>
        <p:spPr bwMode="auto">
          <a:xfrm>
            <a:off x="1143000" y="4724400"/>
            <a:ext cx="6858000" cy="1555750"/>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90 Contract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1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1650" name="Rectangle 2"/>
          <p:cNvSpPr>
            <a:spLocks noGrp="1" noChangeArrowheads="1"/>
          </p:cNvSpPr>
          <p:nvPr>
            <p:ph type="body" idx="1"/>
          </p:nvPr>
        </p:nvSpPr>
        <p:spPr>
          <a:xfrm>
            <a:off x="685800" y="685800"/>
            <a:ext cx="7772400" cy="3886200"/>
          </a:xfrm>
        </p:spPr>
        <p:txBody>
          <a:bodyPr/>
          <a:lstStyle/>
          <a:p>
            <a:pPr marL="0" indent="0" algn="ctr" eaLnBrk="1" hangingPunct="1">
              <a:buFont typeface="Wingdings" pitchFamily="2" charset="2"/>
              <a:buNone/>
              <a:defRPr/>
            </a:pPr>
            <a:r>
              <a:rPr lang="en-US" sz="3600" b="1" dirty="0" smtClean="0"/>
              <a:t>The Educator used school system computer equipment to exchange emails of a sexual nature with another educator. The emails were obtained by an Open Records Request and published in local newspapers. </a:t>
            </a:r>
            <a:endParaRPr lang="en-US" sz="3600" b="1" dirty="0"/>
          </a:p>
        </p:txBody>
      </p:sp>
      <p:sp>
        <p:nvSpPr>
          <p:cNvPr id="4251651" name="Text Box 3"/>
          <p:cNvSpPr txBox="1">
            <a:spLocks noChangeArrowheads="1"/>
          </p:cNvSpPr>
          <p:nvPr/>
        </p:nvSpPr>
        <p:spPr bwMode="auto">
          <a:xfrm>
            <a:off x="1143000" y="5181600"/>
            <a:ext cx="6858000" cy="83026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90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1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7924800" cy="4267200"/>
          </a:xfrm>
        </p:spPr>
        <p:txBody>
          <a:bodyPr/>
          <a:lstStyle/>
          <a:p>
            <a:r>
              <a:rPr lang="en-US" sz="4800" b="1" smtClean="0">
                <a:solidFill>
                  <a:schemeClr val="tx1"/>
                </a:solidFill>
              </a:rPr>
              <a:t>The educator rented the school auditorium to community members and kept the money for his personal use.</a:t>
            </a:r>
          </a:p>
        </p:txBody>
      </p:sp>
      <p:sp>
        <p:nvSpPr>
          <p:cNvPr id="4" name="Slide Number Placeholder 3"/>
          <p:cNvSpPr>
            <a:spLocks noGrp="1"/>
          </p:cNvSpPr>
          <p:nvPr>
            <p:ph type="sldNum" sz="quarter" idx="12"/>
          </p:nvPr>
        </p:nvSpPr>
        <p:spPr>
          <a:xfrm>
            <a:off x="6324600" y="6400800"/>
            <a:ext cx="2133600" cy="457200"/>
          </a:xfrm>
        </p:spPr>
        <p:txBody>
          <a:bodyPr/>
          <a:lstStyle/>
          <a:p>
            <a:pPr>
              <a:defRPr/>
            </a:pPr>
            <a:fld id="{71CBB939-F328-47A0-AC95-07D910C351BC}" type="slidenum">
              <a:rPr lang="en-US" smtClean="0"/>
              <a:pPr>
                <a:defRPr/>
              </a:pPr>
              <a:t>76</a:t>
            </a:fld>
            <a:endParaRPr lang="en-US" dirty="0"/>
          </a:p>
        </p:txBody>
      </p:sp>
      <p:sp>
        <p:nvSpPr>
          <p:cNvPr id="6" name="Text Box 3"/>
          <p:cNvSpPr txBox="1">
            <a:spLocks noChangeArrowheads="1"/>
          </p:cNvSpPr>
          <p:nvPr/>
        </p:nvSpPr>
        <p:spPr bwMode="auto">
          <a:xfrm>
            <a:off x="1143000" y="5181600"/>
            <a:ext cx="68580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73123" name="Rectangle 3"/>
          <p:cNvSpPr>
            <a:spLocks noGrp="1" noChangeArrowheads="1"/>
          </p:cNvSpPr>
          <p:nvPr>
            <p:ph type="body" idx="4294967295"/>
          </p:nvPr>
        </p:nvSpPr>
        <p:spPr>
          <a:xfrm>
            <a:off x="685800" y="533400"/>
            <a:ext cx="7772400" cy="5029200"/>
          </a:xfrm>
        </p:spPr>
        <p:txBody>
          <a:bodyPr/>
          <a:lstStyle/>
          <a:p>
            <a:pPr marL="0" indent="0" algn="ctr">
              <a:buFont typeface="Wingdings" pitchFamily="2" charset="2"/>
              <a:buNone/>
            </a:pPr>
            <a:r>
              <a:rPr lang="en-US" sz="3600" b="1" smtClean="0"/>
              <a:t>The educator forged the superintendent’s signature to obtain unauthorized equipment to use for the creation and distribution of pornographic material to further his private business </a:t>
            </a:r>
            <a:r>
              <a:rPr lang="en-US" sz="3600" b="1" i="1" smtClean="0">
                <a:latin typeface="Times New Roman" pitchFamily="18" charset="0"/>
              </a:rPr>
              <a:t>(the production and distribution of pornography)</a:t>
            </a:r>
            <a:r>
              <a:rPr lang="en-US" sz="3600" b="1" smtClean="0"/>
              <a:t>.</a:t>
            </a:r>
            <a:r>
              <a:rPr lang="en-US" smtClean="0"/>
              <a:t> </a:t>
            </a:r>
          </a:p>
        </p:txBody>
      </p:sp>
      <p:sp>
        <p:nvSpPr>
          <p:cNvPr id="6" name="Text Box 3"/>
          <p:cNvSpPr txBox="1">
            <a:spLocks noChangeArrowheads="1"/>
          </p:cNvSpPr>
          <p:nvPr/>
        </p:nvSpPr>
        <p:spPr bwMode="auto">
          <a:xfrm>
            <a:off x="1143000" y="5638800"/>
            <a:ext cx="68580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5235" name="Rectangle 3"/>
          <p:cNvSpPr>
            <a:spLocks noGrp="1" noChangeArrowheads="1"/>
          </p:cNvSpPr>
          <p:nvPr>
            <p:ph type="body" idx="4294967295"/>
          </p:nvPr>
        </p:nvSpPr>
        <p:spPr/>
        <p:txBody>
          <a:bodyPr/>
          <a:lstStyle/>
          <a:p>
            <a:pPr marL="0" indent="0" algn="ctr">
              <a:buFont typeface="Wingdings" pitchFamily="2" charset="2"/>
              <a:buNone/>
            </a:pPr>
            <a:r>
              <a:rPr lang="en-US" sz="3600" b="1" smtClean="0"/>
              <a:t>The educator used her school system computer to access dating and singles websites soliciting relationships with men during instructional time and CRCT test administration. This included arranging meetings for the purpose of having sex.</a:t>
            </a:r>
            <a:r>
              <a:rPr lang="en-US" sz="3600" b="1" smtClean="0">
                <a:solidFill>
                  <a:schemeClr val="bg1"/>
                </a:solidFill>
              </a:rPr>
              <a:t>  </a:t>
            </a:r>
            <a:endParaRPr lang="en-US" sz="3600" smtClean="0"/>
          </a:p>
        </p:txBody>
      </p:sp>
      <p:sp>
        <p:nvSpPr>
          <p:cNvPr id="4250627"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pPr>
            <a:r>
              <a:rPr lang="en-US" sz="4800">
                <a:solidFill>
                  <a:srgbClr val="FFFF00"/>
                </a:solidFill>
                <a:effectLst>
                  <a:outerShdw blurRad="38100" dist="38100" dir="2700000" algn="tl">
                    <a:srgbClr val="000000"/>
                  </a:outerShdw>
                </a:effectLst>
              </a:rPr>
              <a:t>One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06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03490" name="Rectangle 2"/>
          <p:cNvSpPr>
            <a:spLocks noGrp="1" noChangeArrowheads="1"/>
          </p:cNvSpPr>
          <p:nvPr>
            <p:ph type="body" sz="half" idx="1"/>
          </p:nvPr>
        </p:nvSpPr>
        <p:spPr>
          <a:xfrm>
            <a:off x="838200" y="1981200"/>
            <a:ext cx="7467600" cy="2819400"/>
          </a:xfrm>
        </p:spPr>
        <p:txBody>
          <a:bodyPr/>
          <a:lstStyle/>
          <a:p>
            <a:pPr marL="0" indent="0" algn="ctr" eaLnBrk="1" hangingPunct="1">
              <a:buFont typeface="Wingdings" pitchFamily="2" charset="2"/>
              <a:buNone/>
              <a:defRPr/>
            </a:pPr>
            <a:r>
              <a:rPr lang="en-US" sz="8000" b="1" dirty="0" smtClean="0">
                <a:solidFill>
                  <a:srgbClr val="FFFF00"/>
                </a:solidFill>
              </a:rPr>
              <a:t>Remunerative Conduct</a:t>
            </a:r>
          </a:p>
        </p:txBody>
      </p:sp>
      <p:sp>
        <p:nvSpPr>
          <p:cNvPr id="3903491"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6</a:t>
            </a: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33155"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6</a:t>
            </a:r>
          </a:p>
        </p:txBody>
      </p:sp>
      <p:sp>
        <p:nvSpPr>
          <p:cNvPr id="3633156" name="Rectangle 4"/>
          <p:cNvSpPr>
            <a:spLocks noChangeArrowheads="1"/>
          </p:cNvSpPr>
          <p:nvPr/>
        </p:nvSpPr>
        <p:spPr bwMode="auto">
          <a:xfrm>
            <a:off x="609600" y="1295400"/>
            <a:ext cx="80010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400" dirty="0">
                <a:solidFill>
                  <a:srgbClr val="FFFF00"/>
                </a:solidFill>
                <a:effectLst>
                  <a:outerShdw blurRad="38100" dist="38100" dir="2700000" algn="tl">
                    <a:srgbClr val="000000"/>
                  </a:outerShdw>
                </a:effectLst>
                <a:cs typeface="+mn-cs"/>
              </a:rPr>
              <a:t>An educator shall maintain integrity with students, colleagues, parents, patrons, or businesses when accepting gifts, gratuities, favors, and additional compensation.</a:t>
            </a:r>
            <a:r>
              <a:rPr lang="en-US" sz="2800" b="0" dirty="0">
                <a:effectLst>
                  <a:outerShdw blurRad="38100" dist="38100" dir="2700000" algn="tl">
                    <a:srgbClr val="000000"/>
                  </a:outerShdw>
                </a:effectLst>
                <a:cs typeface="+mn-cs"/>
              </a:rPr>
              <a:t> </a:t>
            </a: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48578" name="Rectangle 2"/>
          <p:cNvSpPr>
            <a:spLocks noGrp="1" noChangeArrowheads="1"/>
          </p:cNvSpPr>
          <p:nvPr>
            <p:ph type="body" idx="1"/>
          </p:nvPr>
        </p:nvSpPr>
        <p:spPr>
          <a:xfrm>
            <a:off x="381000" y="762000"/>
            <a:ext cx="8382000" cy="4267200"/>
          </a:xfrm>
        </p:spPr>
        <p:txBody>
          <a:bodyPr/>
          <a:lstStyle/>
          <a:p>
            <a:pPr marL="0" indent="0" algn="ctr" eaLnBrk="1" hangingPunct="1">
              <a:buFont typeface="Wingdings" pitchFamily="2" charset="2"/>
              <a:buNone/>
              <a:defRPr/>
            </a:pPr>
            <a:r>
              <a:rPr lang="en-US" sz="4000" b="1" dirty="0" smtClean="0"/>
              <a:t>A Coach </a:t>
            </a:r>
            <a:r>
              <a:rPr lang="en-US" sz="4000" b="1" dirty="0"/>
              <a:t>opened multiple bank accounts with school funds without the school's </a:t>
            </a:r>
            <a:r>
              <a:rPr lang="en-US" sz="4000" b="1" dirty="0" smtClean="0"/>
              <a:t>approval. Checks </a:t>
            </a:r>
            <a:r>
              <a:rPr lang="en-US" sz="4000" b="1" dirty="0"/>
              <a:t>totaling </a:t>
            </a:r>
            <a:r>
              <a:rPr lang="en-US" sz="4000" b="1" dirty="0" smtClean="0"/>
              <a:t>thousands </a:t>
            </a:r>
            <a:r>
              <a:rPr lang="en-US" sz="4000" b="1" dirty="0"/>
              <a:t>of dollars were written to "cash" or to the Educator. </a:t>
            </a:r>
            <a:r>
              <a:rPr lang="en-US" sz="3600" b="1" dirty="0"/>
              <a:t>This left the school over $27,000 in debt.</a:t>
            </a:r>
          </a:p>
        </p:txBody>
      </p:sp>
      <p:sp>
        <p:nvSpPr>
          <p:cNvPr id="4248579" name="Text Box 3"/>
          <p:cNvSpPr txBox="1">
            <a:spLocks noChangeArrowheads="1"/>
          </p:cNvSpPr>
          <p:nvPr/>
        </p:nvSpPr>
        <p:spPr bwMode="auto">
          <a:xfrm>
            <a:off x="685800" y="53340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Three Year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4857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0529" name="Text Box 2"/>
          <p:cNvSpPr txBox="1">
            <a:spLocks noChangeArrowheads="1"/>
          </p:cNvSpPr>
          <p:nvPr/>
        </p:nvSpPr>
        <p:spPr bwMode="auto">
          <a:xfrm>
            <a:off x="457200" y="457200"/>
            <a:ext cx="8229600" cy="579438"/>
          </a:xfrm>
          <a:prstGeom prst="rect">
            <a:avLst/>
          </a:prstGeom>
          <a:noFill/>
          <a:ln w="9525">
            <a:noFill/>
            <a:miter lim="800000"/>
            <a:headEnd/>
            <a:tailEnd/>
          </a:ln>
        </p:spPr>
        <p:txBody>
          <a:bodyPr>
            <a:spAutoFit/>
          </a:bodyPr>
          <a:lstStyle/>
          <a:p>
            <a:pPr algn="ctr"/>
            <a:r>
              <a:rPr lang="en-US" sz="3200">
                <a:solidFill>
                  <a:srgbClr val="FFFF00"/>
                </a:solidFill>
              </a:rPr>
              <a:t>Other Remunerative Conduct Cases</a:t>
            </a:r>
          </a:p>
        </p:txBody>
      </p:sp>
      <p:sp>
        <p:nvSpPr>
          <p:cNvPr id="150530" name="Text Box 3"/>
          <p:cNvSpPr txBox="1">
            <a:spLocks noChangeArrowheads="1"/>
          </p:cNvSpPr>
          <p:nvPr/>
        </p:nvSpPr>
        <p:spPr bwMode="auto">
          <a:xfrm>
            <a:off x="533400" y="1219200"/>
            <a:ext cx="8077200" cy="4362450"/>
          </a:xfrm>
          <a:prstGeom prst="rect">
            <a:avLst/>
          </a:prstGeom>
          <a:noFill/>
          <a:ln w="9525">
            <a:noFill/>
            <a:miter lim="800000"/>
            <a:headEnd/>
            <a:tailEnd/>
          </a:ln>
        </p:spPr>
        <p:txBody>
          <a:bodyPr>
            <a:spAutoFit/>
          </a:bodyPr>
          <a:lstStyle/>
          <a:p>
            <a:pPr marL="228600" indent="-228600">
              <a:buFontTx/>
              <a:buChar char="•"/>
            </a:pPr>
            <a:r>
              <a:rPr lang="en-US" sz="2800">
                <a:latin typeface="Arial" charset="0"/>
              </a:rPr>
              <a:t>Solicited parents to pay for private music lessons</a:t>
            </a:r>
          </a:p>
          <a:p>
            <a:pPr marL="228600" indent="-228600">
              <a:buFontTx/>
              <a:buChar char="•"/>
            </a:pPr>
            <a:r>
              <a:rPr lang="en-US" sz="2800">
                <a:latin typeface="Arial" charset="0"/>
              </a:rPr>
              <a:t>Accepted gifts in exchange for extra credit points or starting positions on teams</a:t>
            </a:r>
          </a:p>
          <a:p>
            <a:pPr marL="228600" indent="-228600">
              <a:buFontTx/>
              <a:buChar char="•"/>
            </a:pPr>
            <a:r>
              <a:rPr lang="en-US" sz="2800">
                <a:latin typeface="Arial" charset="0"/>
              </a:rPr>
              <a:t>Promoted a personal business to students, teachers and parents </a:t>
            </a:r>
            <a:r>
              <a:rPr lang="en-US" sz="2800" i="1">
                <a:latin typeface="Arial" charset="0"/>
              </a:rPr>
              <a:t>(Private Coaching)</a:t>
            </a:r>
          </a:p>
          <a:p>
            <a:pPr marL="228600" indent="-228600">
              <a:buFontTx/>
              <a:buChar char="•"/>
            </a:pPr>
            <a:r>
              <a:rPr lang="en-US" sz="2800">
                <a:latin typeface="Arial" charset="0"/>
              </a:rPr>
              <a:t>Collected fees for participation in marching band and paid himself to conduct band camp</a:t>
            </a:r>
          </a:p>
          <a:p>
            <a:pPr marL="228600" indent="-228600">
              <a:buFontTx/>
              <a:buChar char="•"/>
            </a:pPr>
            <a:r>
              <a:rPr lang="en-US" sz="2800">
                <a:latin typeface="Arial" charset="0"/>
              </a:rPr>
              <a:t>Requested a ocean fishing trip from a vendor after a large purchase with no bid.</a:t>
            </a: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05538" name="Rectangle 2"/>
          <p:cNvSpPr>
            <a:spLocks noGrp="1" noChangeArrowheads="1"/>
          </p:cNvSpPr>
          <p:nvPr>
            <p:ph type="body" sz="half" idx="1"/>
          </p:nvPr>
        </p:nvSpPr>
        <p:spPr>
          <a:xfrm>
            <a:off x="1371600" y="2286000"/>
            <a:ext cx="6400800" cy="2590800"/>
          </a:xfrm>
        </p:spPr>
        <p:txBody>
          <a:bodyPr/>
          <a:lstStyle/>
          <a:p>
            <a:pPr marL="0" indent="0" algn="ctr" eaLnBrk="1" hangingPunct="1">
              <a:buFont typeface="Wingdings" pitchFamily="2" charset="2"/>
              <a:buNone/>
              <a:defRPr/>
            </a:pPr>
            <a:r>
              <a:rPr lang="en-US" sz="8000" b="1" dirty="0" smtClean="0">
                <a:solidFill>
                  <a:srgbClr val="FFFF00"/>
                </a:solidFill>
              </a:rPr>
              <a:t>Confidential Information</a:t>
            </a:r>
          </a:p>
        </p:txBody>
      </p:sp>
      <p:sp>
        <p:nvSpPr>
          <p:cNvPr id="3905539"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7</a:t>
            </a: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35203"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7</a:t>
            </a:r>
          </a:p>
        </p:txBody>
      </p:sp>
      <p:sp>
        <p:nvSpPr>
          <p:cNvPr id="3635204" name="Rectangle 4"/>
          <p:cNvSpPr>
            <a:spLocks noChangeArrowheads="1"/>
          </p:cNvSpPr>
          <p:nvPr/>
        </p:nvSpPr>
        <p:spPr bwMode="auto">
          <a:xfrm>
            <a:off x="609600" y="1219200"/>
            <a:ext cx="80010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000" dirty="0">
                <a:solidFill>
                  <a:srgbClr val="FFFF00"/>
                </a:solidFill>
                <a:effectLst>
                  <a:outerShdw blurRad="38100" dist="38100" dir="2700000" algn="tl">
                    <a:srgbClr val="000000"/>
                  </a:outerShdw>
                </a:effectLst>
                <a:cs typeface="+mn-cs"/>
              </a:rPr>
              <a:t>An educator shall comply with state and federal laws and state school board policies relating to the confidentiality of student and personnel records, standardized test material and other information.</a:t>
            </a:r>
            <a:r>
              <a:rPr lang="en-US" sz="3600" b="0" dirty="0">
                <a:effectLst>
                  <a:outerShdw blurRad="38100" dist="38100" dir="2700000" algn="tl">
                    <a:srgbClr val="000000"/>
                  </a:outerShdw>
                </a:effectLst>
                <a:cs typeface="+mn-cs"/>
              </a:rPr>
              <a:t> </a:t>
            </a: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6146" name="Rectangle 2"/>
          <p:cNvSpPr>
            <a:spLocks noGrp="1" noChangeArrowheads="1"/>
          </p:cNvSpPr>
          <p:nvPr>
            <p:ph type="title"/>
          </p:nvPr>
        </p:nvSpPr>
        <p:spPr>
          <a:xfrm>
            <a:off x="457200" y="228600"/>
            <a:ext cx="8229600" cy="914400"/>
          </a:xfrm>
        </p:spPr>
        <p:txBody>
          <a:bodyPr/>
          <a:lstStyle/>
          <a:p>
            <a:pPr eaLnBrk="1" hangingPunct="1">
              <a:defRPr/>
            </a:pPr>
            <a:r>
              <a:rPr lang="en-US" sz="3600" b="1" dirty="0" smtClean="0">
                <a:solidFill>
                  <a:srgbClr val="FFFF00"/>
                </a:solidFill>
              </a:rPr>
              <a:t>Confidential Information</a:t>
            </a:r>
          </a:p>
        </p:txBody>
      </p:sp>
      <p:sp>
        <p:nvSpPr>
          <p:cNvPr id="3846147" name="Rectangle 3"/>
          <p:cNvSpPr>
            <a:spLocks noGrp="1" noChangeArrowheads="1"/>
          </p:cNvSpPr>
          <p:nvPr>
            <p:ph type="body" idx="1"/>
          </p:nvPr>
        </p:nvSpPr>
        <p:spPr>
          <a:xfrm>
            <a:off x="609600" y="990600"/>
            <a:ext cx="8229600" cy="1143000"/>
          </a:xfrm>
        </p:spPr>
        <p:txBody>
          <a:bodyPr/>
          <a:lstStyle/>
          <a:p>
            <a:pPr eaLnBrk="1" hangingPunct="1">
              <a:buClr>
                <a:schemeClr val="tx1"/>
              </a:buClr>
              <a:buFontTx/>
              <a:buChar char="•"/>
              <a:defRPr/>
            </a:pPr>
            <a:r>
              <a:rPr lang="en-US" sz="3600" b="1" dirty="0" smtClean="0"/>
              <a:t>Annual performance evaluation records of school personnel</a:t>
            </a:r>
          </a:p>
        </p:txBody>
      </p:sp>
      <p:sp>
        <p:nvSpPr>
          <p:cNvPr id="3846148" name="Rectangle 4"/>
          <p:cNvSpPr>
            <a:spLocks noChangeArrowheads="1"/>
          </p:cNvSpPr>
          <p:nvPr/>
        </p:nvSpPr>
        <p:spPr bwMode="auto">
          <a:xfrm>
            <a:off x="609600" y="2133600"/>
            <a:ext cx="8229600" cy="1143000"/>
          </a:xfrm>
          <a:prstGeom prst="rect">
            <a:avLst/>
          </a:prstGeom>
          <a:noFill/>
          <a:ln w="9525">
            <a:noFill/>
            <a:miter lim="800000"/>
            <a:headEnd/>
            <a:tailEnd/>
          </a:ln>
          <a:effectLst/>
        </p:spPr>
        <p:txBody>
          <a:bodyPr/>
          <a:lstStyle/>
          <a:p>
            <a:pPr marL="342900" indent="-342900">
              <a:spcBef>
                <a:spcPct val="20000"/>
              </a:spcBef>
              <a:buClr>
                <a:schemeClr val="tx1"/>
              </a:buClr>
              <a:buSzPct val="80000"/>
              <a:buFontTx/>
              <a:buChar char="•"/>
              <a:defRPr/>
            </a:pPr>
            <a:r>
              <a:rPr lang="en-US" sz="3600" dirty="0">
                <a:effectLst>
                  <a:outerShdw blurRad="38100" dist="38100" dir="2700000" algn="tl">
                    <a:srgbClr val="000000"/>
                  </a:outerShdw>
                </a:effectLst>
                <a:cs typeface="+mn-cs"/>
              </a:rPr>
              <a:t>Health services provided to an insured</a:t>
            </a:r>
          </a:p>
        </p:txBody>
      </p:sp>
      <p:sp>
        <p:nvSpPr>
          <p:cNvPr id="3846149" name="Rectangle 5"/>
          <p:cNvSpPr>
            <a:spLocks noChangeArrowheads="1"/>
          </p:cNvSpPr>
          <p:nvPr/>
        </p:nvSpPr>
        <p:spPr bwMode="auto">
          <a:xfrm>
            <a:off x="609600" y="3276600"/>
            <a:ext cx="8229600" cy="1295400"/>
          </a:xfrm>
          <a:prstGeom prst="rect">
            <a:avLst/>
          </a:prstGeom>
          <a:noFill/>
          <a:ln w="9525">
            <a:noFill/>
            <a:miter lim="800000"/>
            <a:headEnd/>
            <a:tailEnd/>
          </a:ln>
          <a:effectLst/>
        </p:spPr>
        <p:txBody>
          <a:bodyPr/>
          <a:lstStyle/>
          <a:p>
            <a:pPr marL="342900" indent="-342900">
              <a:spcBef>
                <a:spcPct val="20000"/>
              </a:spcBef>
              <a:buClr>
                <a:schemeClr val="tx1"/>
              </a:buClr>
              <a:buSzPct val="80000"/>
              <a:buFontTx/>
              <a:buChar char="•"/>
              <a:defRPr/>
            </a:pPr>
            <a:r>
              <a:rPr lang="en-US" sz="3600" dirty="0">
                <a:effectLst>
                  <a:outerShdw blurRad="38100" dist="38100" dir="2700000" algn="tl">
                    <a:srgbClr val="000000"/>
                  </a:outerShdw>
                </a:effectLst>
                <a:cs typeface="+mn-cs"/>
              </a:rPr>
              <a:t>Individual student performance data, information and reports</a:t>
            </a:r>
          </a:p>
        </p:txBody>
      </p:sp>
      <p:sp>
        <p:nvSpPr>
          <p:cNvPr id="3846150" name="Rectangle 6"/>
          <p:cNvSpPr>
            <a:spLocks noChangeArrowheads="1"/>
          </p:cNvSpPr>
          <p:nvPr/>
        </p:nvSpPr>
        <p:spPr bwMode="auto">
          <a:xfrm>
            <a:off x="609600" y="4419600"/>
            <a:ext cx="8229600" cy="1219200"/>
          </a:xfrm>
          <a:prstGeom prst="rect">
            <a:avLst/>
          </a:prstGeom>
          <a:noFill/>
          <a:ln w="9525">
            <a:noFill/>
            <a:miter lim="800000"/>
            <a:headEnd/>
            <a:tailEnd/>
          </a:ln>
          <a:effectLst/>
        </p:spPr>
        <p:txBody>
          <a:bodyPr/>
          <a:lstStyle/>
          <a:p>
            <a:pPr marL="342900" indent="-342900">
              <a:spcBef>
                <a:spcPct val="20000"/>
              </a:spcBef>
              <a:buClr>
                <a:schemeClr val="tx1"/>
              </a:buClr>
              <a:buSzPct val="80000"/>
              <a:buFontTx/>
              <a:buChar char="•"/>
              <a:defRPr/>
            </a:pPr>
            <a:r>
              <a:rPr lang="en-US" sz="3600" dirty="0">
                <a:effectLst>
                  <a:outerShdw blurRad="38100" dist="38100" dir="2700000" algn="tl">
                    <a:srgbClr val="000000"/>
                  </a:outerShdw>
                </a:effectLst>
                <a:cs typeface="+mn-cs"/>
              </a:rPr>
              <a:t>School records of students with disabilities </a:t>
            </a:r>
          </a:p>
        </p:txBody>
      </p:sp>
      <p:sp>
        <p:nvSpPr>
          <p:cNvPr id="3846151" name="Rectangle 7"/>
          <p:cNvSpPr>
            <a:spLocks noChangeArrowheads="1"/>
          </p:cNvSpPr>
          <p:nvPr/>
        </p:nvSpPr>
        <p:spPr bwMode="auto">
          <a:xfrm>
            <a:off x="609600" y="5562600"/>
            <a:ext cx="8229600" cy="762000"/>
          </a:xfrm>
          <a:prstGeom prst="rect">
            <a:avLst/>
          </a:prstGeom>
          <a:noFill/>
          <a:ln w="9525">
            <a:noFill/>
            <a:miter lim="800000"/>
            <a:headEnd/>
            <a:tailEnd/>
          </a:ln>
          <a:effectLst/>
        </p:spPr>
        <p:txBody>
          <a:bodyPr/>
          <a:lstStyle/>
          <a:p>
            <a:pPr marL="342900" indent="-342900">
              <a:spcBef>
                <a:spcPct val="20000"/>
              </a:spcBef>
              <a:buClr>
                <a:schemeClr val="tx1"/>
              </a:buClr>
              <a:buSzPct val="80000"/>
              <a:buFontTx/>
              <a:buChar char="•"/>
              <a:defRPr/>
            </a:pPr>
            <a:r>
              <a:rPr lang="en-US" sz="3600" dirty="0">
                <a:effectLst>
                  <a:outerShdw blurRad="38100" dist="38100" dir="2700000" algn="tl">
                    <a:srgbClr val="000000"/>
                  </a:outerShdw>
                </a:effectLst>
                <a:cs typeface="+mn-cs"/>
              </a:rPr>
              <a:t>A student's education record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46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461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461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4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6148" grpId="0"/>
      <p:bldP spid="3846149" grpId="0"/>
      <p:bldP spid="3846150" grpId="0"/>
      <p:bldP spid="3846151" grpId="0"/>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09634" name="Rectangle 2"/>
          <p:cNvSpPr>
            <a:spLocks noGrp="1" noChangeArrowheads="1"/>
          </p:cNvSpPr>
          <p:nvPr>
            <p:ph type="body" sz="half" idx="1"/>
          </p:nvPr>
        </p:nvSpPr>
        <p:spPr>
          <a:xfrm>
            <a:off x="990600" y="1524000"/>
            <a:ext cx="7086600" cy="3429000"/>
          </a:xfrm>
        </p:spPr>
        <p:txBody>
          <a:bodyPr/>
          <a:lstStyle/>
          <a:p>
            <a:pPr marL="0" indent="0" algn="ctr" eaLnBrk="1" hangingPunct="1">
              <a:buFont typeface="Wingdings" pitchFamily="2" charset="2"/>
              <a:buNone/>
              <a:defRPr/>
            </a:pPr>
            <a:r>
              <a:rPr lang="en-US" sz="7200" b="1" dirty="0" smtClean="0">
                <a:solidFill>
                  <a:srgbClr val="FFFF00"/>
                </a:solidFill>
              </a:rPr>
              <a:t>Abandonment of                        Contract</a:t>
            </a:r>
          </a:p>
        </p:txBody>
      </p:sp>
      <p:sp>
        <p:nvSpPr>
          <p:cNvPr id="3909635"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8</a:t>
            </a: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35587" name="Rectangle 3"/>
          <p:cNvSpPr>
            <a:spLocks noChangeArrowheads="1"/>
          </p:cNvSpPr>
          <p:nvPr/>
        </p:nvSpPr>
        <p:spPr bwMode="auto">
          <a:xfrm>
            <a:off x="838200" y="1066800"/>
            <a:ext cx="74676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000" dirty="0">
                <a:effectLst>
                  <a:outerShdw blurRad="38100" dist="38100" dir="2700000" algn="tl">
                    <a:srgbClr val="000000"/>
                  </a:outerShdw>
                </a:effectLst>
                <a:cs typeface="+mn-cs"/>
              </a:rPr>
              <a:t>An educator shall fulfill all of the terms and obligations detailed in the contract with the local board of education or education agency for the duration of the contract. </a:t>
            </a: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39298" name="Rectangle 2"/>
          <p:cNvSpPr>
            <a:spLocks noGrp="1" noChangeArrowheads="1"/>
          </p:cNvSpPr>
          <p:nvPr>
            <p:ph type="body" sz="half" idx="1"/>
          </p:nvPr>
        </p:nvSpPr>
        <p:spPr>
          <a:xfrm>
            <a:off x="838200" y="2057400"/>
            <a:ext cx="7467600" cy="914400"/>
          </a:xfrm>
        </p:spPr>
        <p:txBody>
          <a:bodyPr/>
          <a:lstStyle/>
          <a:p>
            <a:pPr marL="0" indent="0" algn="ctr" eaLnBrk="1" hangingPunct="1">
              <a:buFont typeface="Wingdings" pitchFamily="2" charset="2"/>
              <a:buNone/>
              <a:defRPr/>
            </a:pPr>
            <a:r>
              <a:rPr lang="en-US" sz="8000" b="1" dirty="0" smtClean="0">
                <a:solidFill>
                  <a:srgbClr val="FFFF00"/>
                </a:solidFill>
              </a:rPr>
              <a:t>Required Reports</a:t>
            </a:r>
            <a:endParaRPr lang="en-US" sz="8000" dirty="0" smtClean="0">
              <a:solidFill>
                <a:srgbClr val="FFFF00"/>
              </a:solidFill>
            </a:endParaRPr>
          </a:p>
        </p:txBody>
      </p:sp>
      <p:sp>
        <p:nvSpPr>
          <p:cNvPr id="4"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9</a:t>
            </a: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37635" name="Rectangle 3"/>
          <p:cNvSpPr>
            <a:spLocks noChangeArrowheads="1"/>
          </p:cNvSpPr>
          <p:nvPr/>
        </p:nvSpPr>
        <p:spPr bwMode="auto">
          <a:xfrm>
            <a:off x="914400" y="1143000"/>
            <a:ext cx="73152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000" dirty="0">
                <a:effectLst>
                  <a:outerShdw blurRad="38100" dist="38100" dir="2700000" algn="tl">
                    <a:srgbClr val="000000"/>
                  </a:outerShdw>
                </a:effectLst>
                <a:cs typeface="+mn-cs"/>
              </a:rPr>
              <a:t>An educator shall file reports of a breach of one or more of the standards in the Code of Ethics for Educators, child abuse, or any other required report.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37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7635" grpId="0"/>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8386" name="Text Box 2"/>
          <p:cNvSpPr txBox="1">
            <a:spLocks noChangeArrowheads="1"/>
          </p:cNvSpPr>
          <p:nvPr/>
        </p:nvSpPr>
        <p:spPr bwMode="auto">
          <a:xfrm>
            <a:off x="609600" y="685800"/>
            <a:ext cx="7924800" cy="5307013"/>
          </a:xfrm>
          <a:prstGeom prst="rect">
            <a:avLst/>
          </a:prstGeom>
          <a:noFill/>
          <a:ln w="9525">
            <a:noFill/>
            <a:miter lim="800000"/>
            <a:headEnd/>
            <a:tailEnd/>
          </a:ln>
          <a:effectLst/>
        </p:spPr>
        <p:txBody>
          <a:bodyPr>
            <a:spAutoFit/>
          </a:bodyPr>
          <a:lstStyle/>
          <a:p>
            <a:pPr algn="ctr">
              <a:defRPr/>
            </a:pPr>
            <a:r>
              <a:rPr lang="en-US" sz="3600" dirty="0">
                <a:effectLst>
                  <a:outerShdw blurRad="38100" dist="38100" dir="2700000" algn="tl">
                    <a:srgbClr val="000000"/>
                  </a:outerShdw>
                </a:effectLst>
                <a:latin typeface="Arial" charset="0"/>
                <a:cs typeface="+mn-cs"/>
              </a:rPr>
              <a:t>O.C.G.A. § 19-7-5</a:t>
            </a:r>
            <a:endParaRPr lang="en-US" sz="1800" dirty="0">
              <a:solidFill>
                <a:schemeClr val="folHlink"/>
              </a:solidFill>
              <a:effectLst>
                <a:outerShdw blurRad="38100" dist="38100" dir="2700000" algn="tl">
                  <a:srgbClr val="000000"/>
                </a:outerShdw>
              </a:effectLst>
              <a:latin typeface="Arial" charset="0"/>
              <a:cs typeface="+mn-cs"/>
            </a:endParaRPr>
          </a:p>
          <a:p>
            <a:pPr>
              <a:defRPr/>
            </a:pPr>
            <a:endParaRPr lang="en-US" sz="900" dirty="0">
              <a:solidFill>
                <a:schemeClr val="folHlink"/>
              </a:solidFill>
              <a:effectLst>
                <a:outerShdw blurRad="38100" dist="38100" dir="2700000" algn="tl">
                  <a:srgbClr val="000000"/>
                </a:outerShdw>
              </a:effectLst>
              <a:latin typeface="Arial" charset="0"/>
              <a:cs typeface="+mn-cs"/>
            </a:endParaRPr>
          </a:p>
          <a:p>
            <a:pPr>
              <a:defRPr/>
            </a:pPr>
            <a:r>
              <a:rPr lang="en-US" sz="3600" dirty="0">
                <a:solidFill>
                  <a:srgbClr val="FFFF00"/>
                </a:solidFill>
                <a:effectLst>
                  <a:outerShdw blurRad="38100" dist="38100" dir="2700000" algn="tl">
                    <a:srgbClr val="000000"/>
                  </a:outerShdw>
                </a:effectLst>
                <a:cs typeface="+mn-cs"/>
              </a:rPr>
              <a:t>‘Child abuse’</a:t>
            </a:r>
            <a:r>
              <a:rPr lang="en-US" sz="2800" dirty="0">
                <a:cs typeface="+mn-cs"/>
              </a:rPr>
              <a:t> includes the following conduct by a child’s parent or caretaker:</a:t>
            </a:r>
          </a:p>
          <a:p>
            <a:pPr>
              <a:defRPr/>
            </a:pPr>
            <a:endParaRPr lang="en-US" sz="900" dirty="0">
              <a:cs typeface="+mn-cs"/>
            </a:endParaRPr>
          </a:p>
          <a:p>
            <a:pPr marL="511175" lvl="2" indent="-228600">
              <a:buFont typeface="Wingdings" pitchFamily="2" charset="2"/>
              <a:buChar char="§"/>
              <a:defRPr/>
            </a:pPr>
            <a:r>
              <a:rPr lang="en-US" sz="2800" dirty="0">
                <a:solidFill>
                  <a:srgbClr val="FFFF00"/>
                </a:solidFill>
                <a:effectLst>
                  <a:outerShdw blurRad="38100" dist="38100" dir="2700000" algn="tl">
                    <a:srgbClr val="000000"/>
                  </a:outerShdw>
                </a:effectLst>
                <a:cs typeface="+mn-cs"/>
              </a:rPr>
              <a:t>Physical injury or death</a:t>
            </a:r>
            <a:r>
              <a:rPr lang="en-US" sz="2800" dirty="0">
                <a:cs typeface="+mn-cs"/>
              </a:rPr>
              <a:t> </a:t>
            </a:r>
            <a:r>
              <a:rPr lang="en-US" sz="2800" i="1" dirty="0">
                <a:latin typeface="Times New Roman" pitchFamily="18" charset="0"/>
                <a:cs typeface="+mn-cs"/>
              </a:rPr>
              <a:t>(by other than accidental means)</a:t>
            </a:r>
          </a:p>
          <a:p>
            <a:pPr marL="511175" lvl="2" indent="-228600">
              <a:buFont typeface="Wingdings" pitchFamily="2" charset="2"/>
              <a:buChar char="§"/>
              <a:defRPr/>
            </a:pPr>
            <a:r>
              <a:rPr lang="en-US" sz="2800" dirty="0">
                <a:solidFill>
                  <a:srgbClr val="FFFF00"/>
                </a:solidFill>
                <a:effectLst>
                  <a:outerShdw blurRad="38100" dist="38100" dir="2700000" algn="tl">
                    <a:srgbClr val="000000"/>
                  </a:outerShdw>
                </a:effectLst>
                <a:cs typeface="+mn-cs"/>
              </a:rPr>
              <a:t>Neglect or exploitation of a child</a:t>
            </a:r>
            <a:endParaRPr lang="en-US" sz="2800" dirty="0">
              <a:effectLst>
                <a:outerShdw blurRad="38100" dist="38100" dir="2700000" algn="tl">
                  <a:srgbClr val="000000"/>
                </a:outerShdw>
              </a:effectLst>
              <a:cs typeface="+mn-cs"/>
            </a:endParaRPr>
          </a:p>
          <a:p>
            <a:pPr marL="511175" lvl="2" indent="-228600">
              <a:buFont typeface="Wingdings" pitchFamily="2" charset="2"/>
              <a:buChar char="§"/>
              <a:defRPr/>
            </a:pPr>
            <a:r>
              <a:rPr lang="en-US" sz="2800" dirty="0">
                <a:solidFill>
                  <a:srgbClr val="FFFF00"/>
                </a:solidFill>
                <a:effectLst>
                  <a:outerShdw blurRad="38100" dist="38100" dir="2700000" algn="tl">
                    <a:srgbClr val="000000"/>
                  </a:outerShdw>
                </a:effectLst>
                <a:cs typeface="+mn-cs"/>
              </a:rPr>
              <a:t>Sexual abuse</a:t>
            </a:r>
            <a:r>
              <a:rPr lang="en-US" sz="2800" dirty="0">
                <a:cs typeface="+mn-cs"/>
              </a:rPr>
              <a:t> - </a:t>
            </a:r>
            <a:r>
              <a:rPr lang="en-US" sz="2800" i="1" dirty="0">
                <a:latin typeface="Times New Roman" pitchFamily="18" charset="0"/>
                <a:cs typeface="+mn-cs"/>
              </a:rPr>
              <a:t>an act of apparent sexual stimulation or gratification ...</a:t>
            </a:r>
            <a:r>
              <a:rPr lang="en-US" sz="2800" dirty="0">
                <a:cs typeface="+mn-cs"/>
              </a:rPr>
              <a:t>  </a:t>
            </a:r>
          </a:p>
          <a:p>
            <a:pPr marL="511175" lvl="2" indent="-228600">
              <a:buFont typeface="Wingdings" pitchFamily="2" charset="2"/>
              <a:buChar char="§"/>
              <a:defRPr/>
            </a:pPr>
            <a:r>
              <a:rPr lang="en-US" sz="2800" dirty="0">
                <a:solidFill>
                  <a:srgbClr val="FFFF00"/>
                </a:solidFill>
                <a:effectLst>
                  <a:outerShdw blurRad="38100" dist="38100" dir="2700000" algn="tl">
                    <a:srgbClr val="000000"/>
                  </a:outerShdw>
                </a:effectLst>
                <a:cs typeface="+mn-cs"/>
              </a:rPr>
              <a:t>Sexual exploitation</a:t>
            </a:r>
            <a:r>
              <a:rPr lang="en-US" sz="2800" dirty="0">
                <a:cs typeface="+mn-cs"/>
              </a:rPr>
              <a:t> - </a:t>
            </a:r>
            <a:r>
              <a:rPr lang="en-US" sz="2800" dirty="0">
                <a:latin typeface="Times New Roman" pitchFamily="18" charset="0"/>
                <a:cs typeface="+mn-cs"/>
              </a:rPr>
              <a:t>allows, permits, encourages, or requires a child to engage in prostitution or sexually explicit conduct ….</a:t>
            </a: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304800"/>
            <a:ext cx="8229600" cy="685800"/>
          </a:xfrm>
        </p:spPr>
        <p:txBody>
          <a:bodyPr/>
          <a:lstStyle/>
          <a:p>
            <a:pPr eaLnBrk="1" hangingPunct="1">
              <a:defRPr/>
            </a:pPr>
            <a:r>
              <a:rPr lang="en-US" sz="3600" b="1" dirty="0" smtClean="0">
                <a:solidFill>
                  <a:srgbClr val="FFFF00"/>
                </a:solidFill>
              </a:rPr>
              <a:t>20-2-1184</a:t>
            </a:r>
          </a:p>
        </p:txBody>
      </p:sp>
      <p:sp>
        <p:nvSpPr>
          <p:cNvPr id="164867" name="Rectangle 3"/>
          <p:cNvSpPr>
            <a:spLocks noGrp="1" noChangeArrowheads="1"/>
          </p:cNvSpPr>
          <p:nvPr>
            <p:ph type="body" idx="1"/>
          </p:nvPr>
        </p:nvSpPr>
        <p:spPr>
          <a:xfrm>
            <a:off x="533400" y="914400"/>
            <a:ext cx="8458200" cy="5257800"/>
          </a:xfrm>
        </p:spPr>
        <p:txBody>
          <a:bodyPr/>
          <a:lstStyle/>
          <a:p>
            <a:pPr marL="0" indent="0" eaLnBrk="1" hangingPunct="1">
              <a:buFont typeface="Wingdings" pitchFamily="2" charset="2"/>
              <a:buNone/>
              <a:defRPr/>
            </a:pPr>
            <a:r>
              <a:rPr lang="en-US" sz="1800" b="1" dirty="0" smtClean="0">
                <a:solidFill>
                  <a:srgbClr val="FFFF00"/>
                </a:solidFill>
              </a:rPr>
              <a:t>Any employee</a:t>
            </a:r>
            <a:r>
              <a:rPr lang="en-US" sz="1800" b="1" dirty="0" smtClean="0"/>
              <a:t> of a public or private elementary or secondary school ... who has </a:t>
            </a:r>
            <a:r>
              <a:rPr lang="en-US" sz="1800" b="1" dirty="0" smtClean="0">
                <a:solidFill>
                  <a:srgbClr val="FFFF00"/>
                </a:solidFill>
              </a:rPr>
              <a:t>reasonable cause to believe that a student</a:t>
            </a:r>
            <a:r>
              <a:rPr lang="en-US" sz="1800" b="1" dirty="0" smtClean="0"/>
              <a:t> at that school has </a:t>
            </a:r>
            <a:r>
              <a:rPr lang="en-US" sz="1800" b="1" dirty="0" smtClean="0">
                <a:solidFill>
                  <a:srgbClr val="FFFF00"/>
                </a:solidFill>
              </a:rPr>
              <a:t>committed any of the following acts</a:t>
            </a:r>
            <a:r>
              <a:rPr lang="en-US" sz="1800" b="1" dirty="0" smtClean="0"/>
              <a:t> upon school property or at any school function, shall immediately report the act and the name of the student to the principal or the principal's designee.</a:t>
            </a:r>
            <a:r>
              <a:rPr lang="en-US" sz="1200" dirty="0" smtClean="0"/>
              <a:t> </a:t>
            </a:r>
          </a:p>
          <a:p>
            <a:pPr lvl="1" eaLnBrk="1" hangingPunct="1">
              <a:defRPr/>
            </a:pPr>
            <a:r>
              <a:rPr lang="en-US" sz="1400" b="1" dirty="0" smtClean="0"/>
              <a:t> </a:t>
            </a:r>
            <a:r>
              <a:rPr lang="en-US" sz="1600" b="1" dirty="0" smtClean="0"/>
              <a:t>Aggravated assault involving a firearm; </a:t>
            </a:r>
          </a:p>
          <a:p>
            <a:pPr lvl="1" eaLnBrk="1" hangingPunct="1">
              <a:defRPr/>
            </a:pPr>
            <a:r>
              <a:rPr lang="en-US" sz="1600" b="1" dirty="0" smtClean="0"/>
              <a:t> Aggravated battery; </a:t>
            </a:r>
          </a:p>
          <a:p>
            <a:pPr lvl="1" eaLnBrk="1" hangingPunct="1">
              <a:defRPr/>
            </a:pPr>
            <a:r>
              <a:rPr lang="en-US" sz="1600" b="1" dirty="0" smtClean="0"/>
              <a:t> Sexual offenses; </a:t>
            </a:r>
          </a:p>
          <a:p>
            <a:pPr lvl="1" eaLnBrk="1" hangingPunct="1">
              <a:defRPr/>
            </a:pPr>
            <a:r>
              <a:rPr lang="en-US" sz="1600" b="1" dirty="0" smtClean="0"/>
              <a:t> Carrying a deadly weapons at public gatherings; </a:t>
            </a:r>
          </a:p>
          <a:p>
            <a:pPr lvl="1" eaLnBrk="1" hangingPunct="1">
              <a:defRPr/>
            </a:pPr>
            <a:r>
              <a:rPr lang="en-US" sz="1600" b="1" dirty="0" smtClean="0"/>
              <a:t> Carrying weapons at school;</a:t>
            </a:r>
          </a:p>
          <a:p>
            <a:pPr lvl="1" eaLnBrk="1" hangingPunct="1">
              <a:defRPr/>
            </a:pPr>
            <a:r>
              <a:rPr lang="en-US" sz="1600" b="1" dirty="0" smtClean="0"/>
              <a:t>  Illegal possession of a pistol or revolver by a person under 18</a:t>
            </a:r>
          </a:p>
          <a:p>
            <a:pPr lvl="1" eaLnBrk="1" hangingPunct="1">
              <a:defRPr/>
            </a:pPr>
            <a:r>
              <a:rPr lang="en-US" sz="1600" b="1" dirty="0" smtClean="0"/>
              <a:t>  Possession or any use of marijuana and controlled substances,</a:t>
            </a:r>
            <a:r>
              <a:rPr lang="en-US" sz="1000" dirty="0" smtClean="0"/>
              <a:t> </a:t>
            </a:r>
          </a:p>
          <a:p>
            <a:pPr marL="0" indent="0" eaLnBrk="1" hangingPunct="1">
              <a:defRPr/>
            </a:pPr>
            <a:endParaRPr lang="en-US" sz="800" dirty="0" smtClean="0"/>
          </a:p>
          <a:p>
            <a:pPr marL="0" indent="0" eaLnBrk="1" hangingPunct="1">
              <a:buFont typeface="Wingdings" pitchFamily="2" charset="2"/>
              <a:buNone/>
              <a:defRPr/>
            </a:pPr>
            <a:r>
              <a:rPr lang="en-US" sz="1800" b="1" dirty="0" smtClean="0">
                <a:solidFill>
                  <a:srgbClr val="FFFF00"/>
                </a:solidFill>
              </a:rPr>
              <a:t>The principal ... shall make an oral report</a:t>
            </a:r>
            <a:r>
              <a:rPr lang="en-US" sz="1800" b="1" dirty="0" smtClean="0"/>
              <a:t> thereof </a:t>
            </a:r>
            <a:r>
              <a:rPr lang="en-US" sz="1800" b="1" dirty="0" smtClean="0">
                <a:solidFill>
                  <a:srgbClr val="FFFF00"/>
                </a:solidFill>
              </a:rPr>
              <a:t>immediately</a:t>
            </a:r>
            <a:r>
              <a:rPr lang="en-US" sz="1800" b="1" dirty="0" smtClean="0"/>
              <a:t> by telephone or otherwise to the appropriate school system </a:t>
            </a:r>
            <a:r>
              <a:rPr lang="en-US" sz="1800" b="1" dirty="0" smtClean="0">
                <a:solidFill>
                  <a:srgbClr val="FFFF00"/>
                </a:solidFill>
              </a:rPr>
              <a:t>superintendent</a:t>
            </a:r>
            <a:r>
              <a:rPr lang="en-US" sz="1800" b="1" dirty="0" smtClean="0"/>
              <a:t> and to the </a:t>
            </a:r>
            <a:r>
              <a:rPr lang="en-US" sz="1800" b="1" dirty="0" smtClean="0">
                <a:solidFill>
                  <a:srgbClr val="FFFF00"/>
                </a:solidFill>
              </a:rPr>
              <a:t>appropriate police authority and district attorney</a:t>
            </a:r>
            <a:r>
              <a:rPr lang="en-US" sz="1800" b="1" dirty="0" smtClean="0"/>
              <a:t>.</a:t>
            </a:r>
            <a:r>
              <a:rPr lang="en-US" sz="1600" b="1" dirty="0" smtClean="0"/>
              <a:t> </a:t>
            </a:r>
          </a:p>
          <a:p>
            <a:pPr marL="0" indent="0" eaLnBrk="1" hangingPunct="1">
              <a:buFont typeface="Wingdings" pitchFamily="2" charset="2"/>
              <a:buNone/>
              <a:defRPr/>
            </a:pPr>
            <a:endParaRPr lang="en-US" sz="800" b="1" dirty="0" smtClean="0"/>
          </a:p>
          <a:p>
            <a:pPr marL="0" indent="0" eaLnBrk="1" hangingPunct="1">
              <a:buFont typeface="Wingdings" pitchFamily="2" charset="2"/>
              <a:buNone/>
              <a:defRPr/>
            </a:pPr>
            <a:r>
              <a:rPr lang="en-US" sz="1600" b="1" dirty="0" smtClean="0">
                <a:effectLst/>
              </a:rPr>
              <a:t>Any person </a:t>
            </a:r>
            <a:r>
              <a:rPr lang="en-US" sz="1600" b="1" i="1" dirty="0" smtClean="0">
                <a:effectLst/>
              </a:rPr>
              <a:t>who fails to make a report</a:t>
            </a:r>
            <a:r>
              <a:rPr lang="en-US" sz="1600" b="1" dirty="0" smtClean="0">
                <a:effectLst/>
              </a:rPr>
              <a:t> shall be guilty of a </a:t>
            </a:r>
            <a:r>
              <a:rPr lang="en-US" sz="1600" b="1" dirty="0" smtClean="0">
                <a:solidFill>
                  <a:srgbClr val="FFFF00"/>
                </a:solidFill>
                <a:effectLst/>
              </a:rPr>
              <a:t>misdemeanor</a:t>
            </a:r>
            <a:r>
              <a:rPr lang="en-US" sz="1600" b="1" dirty="0" smtClean="0">
                <a:effectLst/>
              </a:rPr>
              <a:t>.</a:t>
            </a:r>
            <a:endParaRPr lang="en-US" sz="1200" dirty="0" smtClean="0">
              <a:effectLst/>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05218" name="Rectangle 2"/>
          <p:cNvSpPr>
            <a:spLocks noGrp="1" noChangeArrowheads="1"/>
          </p:cNvSpPr>
          <p:nvPr>
            <p:ph type="body" idx="1"/>
          </p:nvPr>
        </p:nvSpPr>
        <p:spPr>
          <a:xfrm>
            <a:off x="457200" y="1295400"/>
            <a:ext cx="7848600" cy="4267200"/>
          </a:xfrm>
        </p:spPr>
        <p:txBody>
          <a:bodyPr/>
          <a:lstStyle/>
          <a:p>
            <a:pPr algn="ctr" eaLnBrk="1" hangingPunct="1">
              <a:buFont typeface="Wingdings" pitchFamily="2" charset="2"/>
              <a:buNone/>
              <a:defRPr/>
            </a:pPr>
            <a:r>
              <a:rPr lang="en-US" sz="6000" b="1" dirty="0" smtClean="0">
                <a:solidFill>
                  <a:srgbClr val="FFFF00"/>
                </a:solidFill>
              </a:rPr>
              <a:t>What is “reasonable cause to believe?”</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762000" y="609600"/>
            <a:ext cx="7772400" cy="4010025"/>
          </a:xfrm>
          <a:prstGeom prst="rect">
            <a:avLst/>
          </a:prstGeom>
          <a:noFill/>
          <a:ln w="9525">
            <a:noFill/>
            <a:miter lim="800000"/>
            <a:headEnd/>
            <a:tailEnd/>
          </a:ln>
        </p:spPr>
        <p:txBody>
          <a:bodyPr>
            <a:spAutoFit/>
          </a:bodyPr>
          <a:lstStyle/>
          <a:p>
            <a:pPr algn="ctr">
              <a:lnSpc>
                <a:spcPct val="120000"/>
              </a:lnSpc>
              <a:defRPr/>
            </a:pPr>
            <a:r>
              <a:rPr lang="en-US" sz="3600" dirty="0">
                <a:effectLst>
                  <a:outerShdw blurRad="38100" dist="38100" dir="2700000" algn="tl">
                    <a:srgbClr val="000000"/>
                  </a:outerShdw>
                </a:effectLst>
                <a:cs typeface="+mn-cs"/>
              </a:rPr>
              <a:t>The High School Principal failed to report rumors that a female student was involved with a male teacher until after the teacher was arrested and charged Sexual Assault.</a:t>
            </a:r>
            <a:r>
              <a:rPr lang="en-US" sz="3600" dirty="0">
                <a:cs typeface="+mn-cs"/>
              </a:rPr>
              <a:t>  </a:t>
            </a:r>
          </a:p>
        </p:txBody>
      </p:sp>
      <p:sp>
        <p:nvSpPr>
          <p:cNvPr id="167938" name="Text Box 3"/>
          <p:cNvSpPr txBox="1">
            <a:spLocks noChangeArrowheads="1"/>
          </p:cNvSpPr>
          <p:nvPr/>
        </p:nvSpPr>
        <p:spPr bwMode="auto">
          <a:xfrm>
            <a:off x="1447800" y="1066800"/>
            <a:ext cx="5867400" cy="396875"/>
          </a:xfrm>
          <a:prstGeom prst="rect">
            <a:avLst/>
          </a:prstGeom>
          <a:noFill/>
          <a:ln w="9525">
            <a:noFill/>
            <a:miter lim="800000"/>
            <a:headEnd/>
            <a:tailEnd/>
          </a:ln>
        </p:spPr>
        <p:txBody>
          <a:bodyPr>
            <a:spAutoFit/>
          </a:bodyPr>
          <a:lstStyle/>
          <a:p>
            <a:pPr>
              <a:spcBef>
                <a:spcPct val="50000"/>
              </a:spcBef>
            </a:pPr>
            <a:endParaRPr lang="en-US" sz="1600">
              <a:latin typeface="Arial" charset="0"/>
            </a:endParaRPr>
          </a:p>
        </p:txBody>
      </p:sp>
      <p:sp>
        <p:nvSpPr>
          <p:cNvPr id="5" name="Text Box 3"/>
          <p:cNvSpPr txBox="1">
            <a:spLocks noChangeArrowheads="1"/>
          </p:cNvSpPr>
          <p:nvPr/>
        </p:nvSpPr>
        <p:spPr bwMode="auto">
          <a:xfrm>
            <a:off x="685800" y="5181600"/>
            <a:ext cx="7696200" cy="823913"/>
          </a:xfrm>
          <a:prstGeom prst="rect">
            <a:avLst/>
          </a:prstGeom>
          <a:noFill/>
          <a:ln w="9525">
            <a:noFill/>
            <a:miter lim="800000"/>
            <a:headEnd/>
            <a:tailEnd/>
          </a:ln>
          <a:effectLst/>
        </p:spPr>
        <p:txBody>
          <a:bodyPr>
            <a:spAutoFit/>
          </a:bodyPr>
          <a:lstStyle/>
          <a:p>
            <a:pPr algn="ctr" eaLnBrk="0" hangingPunct="0">
              <a:spcBef>
                <a:spcPct val="50000"/>
              </a:spcBef>
              <a:defRPr/>
            </a:pPr>
            <a:r>
              <a:rPr lang="en-US" sz="4800" dirty="0">
                <a:solidFill>
                  <a:srgbClr val="FFFF00"/>
                </a:solidFill>
                <a:effectLst>
                  <a:outerShdw blurRad="38100" dist="38100" dir="2700000" algn="tl">
                    <a:srgbClr val="000000"/>
                  </a:outerShdw>
                </a:effectLst>
                <a:cs typeface="+mn-cs"/>
              </a:rPr>
              <a:t>One Year Suspension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153400" cy="4449763"/>
          </a:xfrm>
        </p:spPr>
        <p:txBody>
          <a:bodyPr/>
          <a:lstStyle/>
          <a:p>
            <a:pPr>
              <a:defRPr/>
            </a:pPr>
            <a:r>
              <a:rPr lang="en-US" sz="3600" b="1" dirty="0" smtClean="0"/>
              <a:t>The Educator failed to disclose the revocation of a Florida certificate in 1976 for providing alcohol to students, consuming alcohol in the presence of students, and engaging in an inappropriate physical relationship with a student.</a:t>
            </a:r>
            <a:endParaRPr lang="en-US" sz="3600" b="1" dirty="0"/>
          </a:p>
        </p:txBody>
      </p:sp>
      <p:sp>
        <p:nvSpPr>
          <p:cNvPr id="4" name="Slide Number Placeholder 3"/>
          <p:cNvSpPr>
            <a:spLocks noGrp="1"/>
          </p:cNvSpPr>
          <p:nvPr>
            <p:ph type="sldNum" sz="quarter" idx="12"/>
          </p:nvPr>
        </p:nvSpPr>
        <p:spPr/>
        <p:txBody>
          <a:bodyPr/>
          <a:lstStyle/>
          <a:p>
            <a:pPr>
              <a:defRPr/>
            </a:pPr>
            <a:fld id="{C670CE2B-3297-48A7-AC90-B89FB5D98A0A}" type="slidenum">
              <a:rPr lang="en-US" smtClean="0"/>
              <a:pPr>
                <a:defRPr/>
              </a:pPr>
              <a:t>94</a:t>
            </a:fld>
            <a:endParaRPr lang="en-US"/>
          </a:p>
        </p:txBody>
      </p:sp>
      <p:sp>
        <p:nvSpPr>
          <p:cNvPr id="5" name="TextBox 4"/>
          <p:cNvSpPr txBox="1"/>
          <p:nvPr/>
        </p:nvSpPr>
        <p:spPr>
          <a:xfrm>
            <a:off x="1143000" y="5486400"/>
            <a:ext cx="6858000" cy="823913"/>
          </a:xfrm>
          <a:prstGeom prst="rect">
            <a:avLst/>
          </a:prstGeom>
          <a:noFill/>
        </p:spPr>
        <p:txBody>
          <a:bodyPr>
            <a:spAutoFit/>
          </a:bodyPr>
          <a:lstStyle/>
          <a:p>
            <a:pPr algn="ctr" eaLnBrk="0" hangingPunct="0"/>
            <a:r>
              <a:rPr lang="en-US" sz="4800">
                <a:solidFill>
                  <a:srgbClr val="FFFF00"/>
                </a:solidFill>
                <a:effectLst>
                  <a:outerShdw blurRad="38100" dist="38100" dir="2700000" algn="tl">
                    <a:srgbClr val="000000"/>
                  </a:outerShdw>
                </a:effectLst>
              </a:rPr>
              <a:t>Revoked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13730" name="Rectangle 2"/>
          <p:cNvSpPr>
            <a:spLocks noGrp="1" noChangeArrowheads="1"/>
          </p:cNvSpPr>
          <p:nvPr>
            <p:ph type="body" sz="half" idx="1"/>
          </p:nvPr>
        </p:nvSpPr>
        <p:spPr>
          <a:xfrm>
            <a:off x="1371600" y="1981200"/>
            <a:ext cx="6477000" cy="2895600"/>
          </a:xfrm>
        </p:spPr>
        <p:txBody>
          <a:bodyPr/>
          <a:lstStyle/>
          <a:p>
            <a:pPr marL="0" indent="0" algn="ctr" eaLnBrk="1" hangingPunct="1">
              <a:buFont typeface="Wingdings" pitchFamily="2" charset="2"/>
              <a:buNone/>
              <a:defRPr/>
            </a:pPr>
            <a:r>
              <a:rPr lang="en-US" sz="8000" b="1" dirty="0" smtClean="0">
                <a:solidFill>
                  <a:srgbClr val="FFFF00"/>
                </a:solidFill>
              </a:rPr>
              <a:t>Professional Conduct</a:t>
            </a:r>
          </a:p>
        </p:txBody>
      </p:sp>
      <p:sp>
        <p:nvSpPr>
          <p:cNvPr id="3913731"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10</a:t>
            </a: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54659"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10</a:t>
            </a:r>
          </a:p>
        </p:txBody>
      </p:sp>
      <p:sp>
        <p:nvSpPr>
          <p:cNvPr id="3654660" name="Rectangle 4"/>
          <p:cNvSpPr>
            <a:spLocks noChangeArrowheads="1"/>
          </p:cNvSpPr>
          <p:nvPr/>
        </p:nvSpPr>
        <p:spPr bwMode="auto">
          <a:xfrm>
            <a:off x="762000" y="1371600"/>
            <a:ext cx="76962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000" dirty="0">
                <a:solidFill>
                  <a:srgbClr val="FFFF00"/>
                </a:solidFill>
                <a:effectLst>
                  <a:outerShdw blurRad="38100" dist="38100" dir="2700000" algn="tl">
                    <a:srgbClr val="000000"/>
                  </a:outerShdw>
                </a:effectLst>
                <a:cs typeface="+mn-cs"/>
              </a:rPr>
              <a:t>An educator shall demonstrate conduct that follows generally recognized professional standards and preserves the dignity and integrity of the teaching profession.</a:t>
            </a:r>
            <a:r>
              <a:rPr lang="en-US" sz="4000" dirty="0">
                <a:effectLst>
                  <a:outerShdw blurRad="38100" dist="38100" dir="2700000" algn="tl">
                    <a:srgbClr val="000000"/>
                  </a:outerShdw>
                </a:effectLst>
                <a:cs typeface="+mn-cs"/>
              </a:rPr>
              <a:t> </a:t>
            </a: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255746" name="Group 2"/>
          <p:cNvGraphicFramePr>
            <a:graphicFrameLocks noGrp="1"/>
          </p:cNvGraphicFramePr>
          <p:nvPr>
            <p:ph idx="1"/>
          </p:nvPr>
        </p:nvGraphicFramePr>
        <p:xfrm>
          <a:off x="609600" y="762000"/>
          <a:ext cx="8001000" cy="4114800"/>
        </p:xfrm>
        <a:graphic>
          <a:graphicData uri="http://schemas.openxmlformats.org/drawingml/2006/table">
            <a:tbl>
              <a:tblPr/>
              <a:tblGrid>
                <a:gridCol w="8001000"/>
              </a:tblGrid>
              <a:tr h="4114800">
                <a:tc>
                  <a:txBody>
                    <a:bodyPr/>
                    <a:lstStyle/>
                    <a:p>
                      <a:pPr algn="ctr"/>
                      <a:r>
                        <a:rPr lang="en-US" sz="3600" b="1" kern="1200" dirty="0" smtClean="0">
                          <a:solidFill>
                            <a:schemeClr val="tx1"/>
                          </a:solidFill>
                          <a:effectLst>
                            <a:outerShdw blurRad="38100" dist="38100" dir="2700000" algn="tl">
                              <a:srgbClr val="000000">
                                <a:alpha val="43137"/>
                              </a:srgbClr>
                            </a:outerShdw>
                          </a:effectLst>
                          <a:latin typeface="+mn-lt"/>
                          <a:ea typeface="+mn-ea"/>
                          <a:cs typeface="+mn-cs"/>
                        </a:rPr>
                        <a:t>The educators admit leaving 17 students unsupervised at a hotel to attend a theater performance. The students obtained and consumed alcoholic beverages and participated in sexual acts while the educators were away.</a:t>
                      </a:r>
                      <a:endParaRPr lang="en-US" sz="3600" b="1" kern="1200" dirty="0">
                        <a:solidFill>
                          <a:schemeClr val="tx1"/>
                        </a:solidFill>
                        <a:effectLst>
                          <a:outerShdw blurRad="38100" dist="38100" dir="2700000" algn="tl">
                            <a:srgbClr val="000000">
                              <a:alpha val="43137"/>
                            </a:srgbClr>
                          </a:outerShdw>
                        </a:effectLst>
                        <a:latin typeface="+mn-lt"/>
                        <a:ea typeface="+mn-ea"/>
                        <a:cs typeface="+mn-cs"/>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4255752" name="Text Box 8"/>
          <p:cNvSpPr txBox="1">
            <a:spLocks noChangeArrowheads="1"/>
          </p:cNvSpPr>
          <p:nvPr/>
        </p:nvSpPr>
        <p:spPr bwMode="auto">
          <a:xfrm>
            <a:off x="838200" y="53340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Suspend 2 Years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255746" name="Group 2"/>
          <p:cNvGraphicFramePr>
            <a:graphicFrameLocks noGrp="1"/>
          </p:cNvGraphicFramePr>
          <p:nvPr>
            <p:ph idx="1"/>
          </p:nvPr>
        </p:nvGraphicFramePr>
        <p:xfrm>
          <a:off x="609600" y="762000"/>
          <a:ext cx="8001000" cy="4480560"/>
        </p:xfrm>
        <a:graphic>
          <a:graphicData uri="http://schemas.openxmlformats.org/drawingml/2006/table">
            <a:tbl>
              <a:tblPr/>
              <a:tblGrid>
                <a:gridCol w="8001000"/>
              </a:tblGrid>
              <a:tr h="4114800">
                <a:tc>
                  <a:txBody>
                    <a:bodyPr/>
                    <a:lstStyle/>
                    <a:p>
                      <a:pPr algn="ctr"/>
                      <a:r>
                        <a:rPr lang="en-US" sz="3600" b="1" kern="1200" dirty="0" smtClean="0">
                          <a:solidFill>
                            <a:schemeClr val="tx1"/>
                          </a:solidFill>
                          <a:effectLst>
                            <a:outerShdw blurRad="38100" dist="38100" dir="2700000" algn="tl">
                              <a:srgbClr val="000000">
                                <a:alpha val="43137"/>
                              </a:srgbClr>
                            </a:outerShdw>
                          </a:effectLst>
                          <a:latin typeface="+mn-lt"/>
                          <a:ea typeface="+mn-ea"/>
                          <a:cs typeface="+mn-cs"/>
                        </a:rPr>
                        <a:t>The Educator admitted carrying a yard stick and hitting a student on her leg, allowing students in the gym when they are not supposed to be there, and allowing a student to watch his son in his office instead of attending gym class.</a:t>
                      </a:r>
                      <a:endParaRPr lang="en-US" sz="3600" b="1" kern="1200" dirty="0">
                        <a:solidFill>
                          <a:schemeClr val="tx1"/>
                        </a:solidFill>
                        <a:effectLst>
                          <a:outerShdw blurRad="38100" dist="38100" dir="2700000" algn="tl">
                            <a:srgbClr val="000000">
                              <a:alpha val="43137"/>
                            </a:srgbClr>
                          </a:outerShdw>
                        </a:effectLst>
                        <a:latin typeface="+mn-lt"/>
                        <a:ea typeface="+mn-ea"/>
                        <a:cs typeface="+mn-cs"/>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4255752" name="Text Box 8"/>
          <p:cNvSpPr txBox="1">
            <a:spLocks noChangeArrowheads="1"/>
          </p:cNvSpPr>
          <p:nvPr/>
        </p:nvSpPr>
        <p:spPr bwMode="auto">
          <a:xfrm>
            <a:off x="838200" y="53340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Suspend 30 Days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15778" name="Rectangle 2"/>
          <p:cNvSpPr>
            <a:spLocks noGrp="1" noChangeArrowheads="1"/>
          </p:cNvSpPr>
          <p:nvPr>
            <p:ph type="body" sz="half" idx="1"/>
          </p:nvPr>
        </p:nvSpPr>
        <p:spPr>
          <a:xfrm>
            <a:off x="2057400" y="2514600"/>
            <a:ext cx="4953000" cy="1524000"/>
          </a:xfrm>
        </p:spPr>
        <p:txBody>
          <a:bodyPr/>
          <a:lstStyle/>
          <a:p>
            <a:pPr marL="0" indent="0" algn="ctr" eaLnBrk="1" hangingPunct="1">
              <a:buFont typeface="Wingdings" pitchFamily="2" charset="2"/>
              <a:buNone/>
              <a:defRPr/>
            </a:pPr>
            <a:r>
              <a:rPr lang="en-US" sz="8000" b="1" dirty="0" smtClean="0">
                <a:solidFill>
                  <a:srgbClr val="FFFF00"/>
                </a:solidFill>
              </a:rPr>
              <a:t>Testing</a:t>
            </a:r>
          </a:p>
        </p:txBody>
      </p:sp>
      <p:sp>
        <p:nvSpPr>
          <p:cNvPr id="3915779"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11</a:t>
            </a: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58755" name="Rectangle 3"/>
          <p:cNvSpPr>
            <a:spLocks noGrp="1" noChangeArrowheads="1"/>
          </p:cNvSpPr>
          <p:nvPr>
            <p:ph type="title"/>
          </p:nvPr>
        </p:nvSpPr>
        <p:spPr>
          <a:xfrm>
            <a:off x="381000" y="381000"/>
            <a:ext cx="8382000" cy="609600"/>
          </a:xfrm>
        </p:spPr>
        <p:txBody>
          <a:bodyPr/>
          <a:lstStyle/>
          <a:p>
            <a:pPr eaLnBrk="1" hangingPunct="1">
              <a:defRPr/>
            </a:pPr>
            <a:r>
              <a:rPr lang="en-US" sz="2800" b="1" dirty="0" smtClean="0">
                <a:solidFill>
                  <a:schemeClr val="tx1"/>
                </a:solidFill>
              </a:rPr>
              <a:t>Standard 11</a:t>
            </a:r>
          </a:p>
        </p:txBody>
      </p:sp>
      <p:sp>
        <p:nvSpPr>
          <p:cNvPr id="3658756" name="Rectangle 4"/>
          <p:cNvSpPr>
            <a:spLocks noChangeArrowheads="1"/>
          </p:cNvSpPr>
          <p:nvPr/>
        </p:nvSpPr>
        <p:spPr bwMode="auto">
          <a:xfrm>
            <a:off x="838200" y="1524000"/>
            <a:ext cx="7696200" cy="4114800"/>
          </a:xfrm>
          <a:prstGeom prst="rect">
            <a:avLst/>
          </a:prstGeom>
          <a:noFill/>
          <a:ln w="9525">
            <a:noFill/>
            <a:miter lim="800000"/>
            <a:headEnd/>
            <a:tailEnd/>
          </a:ln>
          <a:effectLst/>
        </p:spPr>
        <p:txBody>
          <a:bodyPr/>
          <a:lstStyle/>
          <a:p>
            <a:pPr algn="ctr">
              <a:spcBef>
                <a:spcPct val="20000"/>
              </a:spcBef>
              <a:buClr>
                <a:schemeClr val="hlink"/>
              </a:buClr>
              <a:buSzPct val="80000"/>
              <a:buFont typeface="Wingdings" pitchFamily="2" charset="2"/>
              <a:buNone/>
              <a:defRPr/>
            </a:pPr>
            <a:r>
              <a:rPr lang="en-US" sz="4800" dirty="0">
                <a:solidFill>
                  <a:srgbClr val="FFFF00"/>
                </a:solidFill>
                <a:effectLst>
                  <a:outerShdw blurRad="38100" dist="38100" dir="2700000" algn="tl">
                    <a:srgbClr val="000000"/>
                  </a:outerShdw>
                </a:effectLst>
                <a:cs typeface="+mn-cs"/>
              </a:rPr>
              <a:t>An educator shall administer state mandated assessments fairly and ethically.</a:t>
            </a:r>
            <a:r>
              <a:rPr lang="en-US" sz="4400" dirty="0">
                <a:effectLst>
                  <a:outerShdw blurRad="38100" dist="38100" dir="2700000" algn="tl">
                    <a:srgbClr val="000000"/>
                  </a:outerShdw>
                </a:effectLst>
                <a:cs typeface="+mn-cs"/>
              </a:rPr>
              <a:t> </a:t>
            </a: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30818" name="Rectangle 2"/>
          <p:cNvSpPr>
            <a:spLocks noGrp="1" noChangeArrowheads="1"/>
          </p:cNvSpPr>
          <p:nvPr>
            <p:ph type="title"/>
          </p:nvPr>
        </p:nvSpPr>
        <p:spPr>
          <a:xfrm>
            <a:off x="457200" y="381000"/>
            <a:ext cx="8229600" cy="1143000"/>
          </a:xfrm>
        </p:spPr>
        <p:txBody>
          <a:bodyPr/>
          <a:lstStyle/>
          <a:p>
            <a:pPr eaLnBrk="1" hangingPunct="1">
              <a:tabLst>
                <a:tab pos="4224338" algn="l"/>
              </a:tabLst>
              <a:defRPr/>
            </a:pPr>
            <a:r>
              <a:rPr lang="en-US" sz="8000" b="1" dirty="0" smtClean="0">
                <a:solidFill>
                  <a:srgbClr val="FF0000"/>
                </a:solidFill>
              </a:rPr>
              <a:t>ERASURES!</a:t>
            </a:r>
          </a:p>
        </p:txBody>
      </p:sp>
      <p:sp>
        <p:nvSpPr>
          <p:cNvPr id="4130819" name="Rectangle 3"/>
          <p:cNvSpPr>
            <a:spLocks noGrp="1" noChangeArrowheads="1"/>
          </p:cNvSpPr>
          <p:nvPr>
            <p:ph type="body" idx="1"/>
          </p:nvPr>
        </p:nvSpPr>
        <p:spPr>
          <a:xfrm>
            <a:off x="533400" y="1828800"/>
            <a:ext cx="8229600" cy="3276600"/>
          </a:xfrm>
        </p:spPr>
        <p:txBody>
          <a:bodyPr/>
          <a:lstStyle/>
          <a:p>
            <a:pPr marL="0" indent="0" algn="ctr" eaLnBrk="1" hangingPunct="1">
              <a:lnSpc>
                <a:spcPct val="90000"/>
              </a:lnSpc>
              <a:buFont typeface="Wingdings" pitchFamily="2" charset="2"/>
              <a:buNone/>
              <a:defRPr/>
            </a:pPr>
            <a:r>
              <a:rPr lang="en-US" sz="7200" b="1" dirty="0" smtClean="0"/>
              <a:t>Are erasures on state test answer sheets unethical?</a:t>
            </a:r>
          </a:p>
        </p:txBody>
      </p:sp>
      <p:sp>
        <p:nvSpPr>
          <p:cNvPr id="4130820" name="Text Box 4"/>
          <p:cNvSpPr txBox="1">
            <a:spLocks noChangeArrowheads="1"/>
          </p:cNvSpPr>
          <p:nvPr/>
        </p:nvSpPr>
        <p:spPr bwMode="auto">
          <a:xfrm>
            <a:off x="3568700" y="4827588"/>
            <a:ext cx="2117725" cy="1433512"/>
          </a:xfrm>
          <a:prstGeom prst="rect">
            <a:avLst/>
          </a:prstGeom>
          <a:noFill/>
          <a:ln w="9525">
            <a:noFill/>
            <a:miter lim="800000"/>
            <a:headEnd/>
            <a:tailEnd/>
          </a:ln>
        </p:spPr>
        <p:txBody>
          <a:bodyPr wrap="none">
            <a:spAutoFit/>
          </a:bodyPr>
          <a:lstStyle/>
          <a:p>
            <a:pPr algn="ctr" eaLnBrk="0" hangingPunct="0"/>
            <a:r>
              <a:rPr lang="en-US" sz="8800">
                <a:solidFill>
                  <a:srgbClr val="FFFF00"/>
                </a:solidFill>
              </a:rPr>
              <a:t>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30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30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0819" grpId="0" build="p"/>
      <p:bldP spid="4130820" grpId="0"/>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02" name="Rectangle 2"/>
          <p:cNvSpPr>
            <a:spLocks noGrp="1" noChangeArrowheads="1"/>
          </p:cNvSpPr>
          <p:nvPr>
            <p:ph type="body" idx="4294967295"/>
          </p:nvPr>
        </p:nvSpPr>
        <p:spPr>
          <a:xfrm>
            <a:off x="1066800" y="762000"/>
            <a:ext cx="7391400" cy="3581400"/>
          </a:xfrm>
        </p:spPr>
        <p:txBody>
          <a:bodyPr/>
          <a:lstStyle/>
          <a:p>
            <a:pPr marL="0" indent="0" algn="ctr">
              <a:lnSpc>
                <a:spcPct val="90000"/>
              </a:lnSpc>
              <a:buFont typeface="Wingdings" pitchFamily="2" charset="2"/>
              <a:buNone/>
            </a:pPr>
            <a:r>
              <a:rPr lang="en-US" sz="6000" b="1" smtClean="0"/>
              <a:t>Erasures on Student Answer Sheets are NOT Unethical!</a:t>
            </a:r>
          </a:p>
        </p:txBody>
      </p:sp>
      <p:sp>
        <p:nvSpPr>
          <p:cNvPr id="197635" name="Text Box 3"/>
          <p:cNvSpPr txBox="1">
            <a:spLocks noChangeArrowheads="1"/>
          </p:cNvSpPr>
          <p:nvPr/>
        </p:nvSpPr>
        <p:spPr bwMode="auto">
          <a:xfrm>
            <a:off x="609600" y="4495800"/>
            <a:ext cx="7924800" cy="1830388"/>
          </a:xfrm>
          <a:prstGeom prst="rect">
            <a:avLst/>
          </a:prstGeom>
          <a:noFill/>
          <a:ln w="9525">
            <a:noFill/>
            <a:miter lim="800000"/>
            <a:headEnd/>
            <a:tailEnd/>
          </a:ln>
          <a:effectLst/>
        </p:spPr>
        <p:txBody>
          <a:bodyPr>
            <a:spAutoFit/>
          </a:bodyPr>
          <a:lstStyle/>
          <a:p>
            <a:pPr algn="ctr">
              <a:spcBef>
                <a:spcPct val="50000"/>
              </a:spcBef>
            </a:pPr>
            <a:r>
              <a:rPr lang="en-US" sz="3800">
                <a:solidFill>
                  <a:srgbClr val="FFFF00"/>
                </a:solidFill>
                <a:effectLst>
                  <a:outerShdw blurRad="38100" dist="38100" dir="2700000" algn="tl">
                    <a:srgbClr val="000000"/>
                  </a:outerShdw>
                </a:effectLst>
              </a:rPr>
              <a:t>Clean up of stray marks and smudges is a requirement for accurate scoring!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924800" cy="4449763"/>
          </a:xfrm>
        </p:spPr>
        <p:txBody>
          <a:bodyPr/>
          <a:lstStyle/>
          <a:p>
            <a:pPr>
              <a:defRPr/>
            </a:pPr>
            <a:r>
              <a:rPr lang="en-US" sz="3800" b="1" dirty="0" smtClean="0"/>
              <a:t>The educator was in and out of the classroom, leaving student CRCT test booklets unsecured in the classroom.  Students were present in the classroom at the time and CRCT material was compromised during the time frame in question.</a:t>
            </a:r>
            <a:endParaRPr lang="en-US" sz="3800" b="1" dirty="0"/>
          </a:p>
        </p:txBody>
      </p:sp>
      <p:sp>
        <p:nvSpPr>
          <p:cNvPr id="4" name="Slide Number Placeholder 3"/>
          <p:cNvSpPr>
            <a:spLocks noGrp="1"/>
          </p:cNvSpPr>
          <p:nvPr>
            <p:ph type="sldNum" sz="quarter" idx="12"/>
          </p:nvPr>
        </p:nvSpPr>
        <p:spPr/>
        <p:txBody>
          <a:bodyPr/>
          <a:lstStyle/>
          <a:p>
            <a:pPr>
              <a:defRPr/>
            </a:pPr>
            <a:fld id="{B8C8AEB0-B21D-4551-B832-B56669AAB09A}" type="slidenum">
              <a:rPr lang="en-US" smtClean="0"/>
              <a:pPr>
                <a:defRPr/>
              </a:pPr>
              <a:t>103</a:t>
            </a:fld>
            <a:endParaRPr lang="en-US"/>
          </a:p>
        </p:txBody>
      </p:sp>
      <p:sp>
        <p:nvSpPr>
          <p:cNvPr id="5" name="TextBox 4"/>
          <p:cNvSpPr txBox="1"/>
          <p:nvPr/>
        </p:nvSpPr>
        <p:spPr>
          <a:xfrm>
            <a:off x="1143000" y="5486400"/>
            <a:ext cx="6858000" cy="923925"/>
          </a:xfrm>
          <a:prstGeom prst="rect">
            <a:avLst/>
          </a:prstGeom>
          <a:noFill/>
        </p:spPr>
        <p:txBody>
          <a:bodyPr>
            <a:spAutoFit/>
          </a:bodyPr>
          <a:lstStyle/>
          <a:p>
            <a:pPr algn="ctr" eaLnBrk="0" hangingPunct="0">
              <a:defRPr/>
            </a:pPr>
            <a:r>
              <a:rPr lang="en-US" sz="5400" dirty="0">
                <a:solidFill>
                  <a:srgbClr val="FFFF00"/>
                </a:solidFill>
                <a:effectLst>
                  <a:outerShdw blurRad="38100" dist="38100" dir="2700000" algn="tl">
                    <a:srgbClr val="000000">
                      <a:alpha val="43137"/>
                    </a:srgbClr>
                  </a:outerShdw>
                </a:effectLst>
                <a:cs typeface="+mn-cs"/>
              </a:rPr>
              <a:t>20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924800" cy="4449763"/>
          </a:xfrm>
        </p:spPr>
        <p:txBody>
          <a:bodyPr/>
          <a:lstStyle/>
          <a:p>
            <a:pPr>
              <a:defRPr/>
            </a:pPr>
            <a:r>
              <a:rPr lang="en-US" sz="3800" b="1" dirty="0" smtClean="0"/>
              <a:t>The Educator deviated from the script when she administered the CRCT Reading exam to 2nd grade students. The Educator reread each test question more times than was authorized, paraphrased the script, and at provided hints to the students.</a:t>
            </a:r>
            <a:endParaRPr lang="en-US" sz="3800" b="1" dirty="0"/>
          </a:p>
        </p:txBody>
      </p:sp>
      <p:sp>
        <p:nvSpPr>
          <p:cNvPr id="4" name="Slide Number Placeholder 3"/>
          <p:cNvSpPr>
            <a:spLocks noGrp="1"/>
          </p:cNvSpPr>
          <p:nvPr>
            <p:ph type="sldNum" sz="quarter" idx="12"/>
          </p:nvPr>
        </p:nvSpPr>
        <p:spPr/>
        <p:txBody>
          <a:bodyPr/>
          <a:lstStyle/>
          <a:p>
            <a:pPr>
              <a:defRPr/>
            </a:pPr>
            <a:fld id="{E246DB33-CC48-4A7F-BF65-3B14FFC568BF}" type="slidenum">
              <a:rPr lang="en-US" smtClean="0"/>
              <a:pPr>
                <a:defRPr/>
              </a:pPr>
              <a:t>104</a:t>
            </a:fld>
            <a:endParaRPr lang="en-US"/>
          </a:p>
        </p:txBody>
      </p:sp>
      <p:sp>
        <p:nvSpPr>
          <p:cNvPr id="5" name="TextBox 4"/>
          <p:cNvSpPr txBox="1"/>
          <p:nvPr/>
        </p:nvSpPr>
        <p:spPr>
          <a:xfrm>
            <a:off x="1143000" y="5486400"/>
            <a:ext cx="6858000" cy="923925"/>
          </a:xfrm>
          <a:prstGeom prst="rect">
            <a:avLst/>
          </a:prstGeom>
          <a:noFill/>
        </p:spPr>
        <p:txBody>
          <a:bodyPr>
            <a:spAutoFit/>
          </a:bodyPr>
          <a:lstStyle/>
          <a:p>
            <a:pPr algn="ctr" eaLnBrk="0" hangingPunct="0">
              <a:defRPr/>
            </a:pPr>
            <a:r>
              <a:rPr lang="en-US" sz="5400" dirty="0">
                <a:solidFill>
                  <a:srgbClr val="FFFF00"/>
                </a:solidFill>
                <a:effectLst>
                  <a:outerShdw blurRad="38100" dist="38100" dir="2700000" algn="tl">
                    <a:srgbClr val="000000">
                      <a:alpha val="43137"/>
                    </a:srgbClr>
                  </a:outerShdw>
                </a:effectLst>
                <a:cs typeface="+mn-cs"/>
              </a:rPr>
              <a:t>30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924800" cy="4449763"/>
          </a:xfrm>
        </p:spPr>
        <p:txBody>
          <a:bodyPr/>
          <a:lstStyle/>
          <a:p>
            <a:pPr>
              <a:defRPr/>
            </a:pPr>
            <a:r>
              <a:rPr lang="en-US" sz="3800" b="1" dirty="0" smtClean="0"/>
              <a:t>The educator administered the CRCT to special education students improperly by reading passages as well as questions and answers, and then falsified the students' IEP reports to convince others that he was supposed to read the passages. </a:t>
            </a:r>
            <a:endParaRPr lang="en-US" sz="3800" b="1" dirty="0"/>
          </a:p>
        </p:txBody>
      </p:sp>
      <p:sp>
        <p:nvSpPr>
          <p:cNvPr id="4" name="Slide Number Placeholder 3"/>
          <p:cNvSpPr>
            <a:spLocks noGrp="1"/>
          </p:cNvSpPr>
          <p:nvPr>
            <p:ph type="sldNum" sz="quarter" idx="12"/>
          </p:nvPr>
        </p:nvSpPr>
        <p:spPr/>
        <p:txBody>
          <a:bodyPr/>
          <a:lstStyle/>
          <a:p>
            <a:pPr>
              <a:defRPr/>
            </a:pPr>
            <a:fld id="{0C05FBC0-F387-460B-B77A-1D3E0D7B456F}" type="slidenum">
              <a:rPr lang="en-US" smtClean="0"/>
              <a:pPr>
                <a:defRPr/>
              </a:pPr>
              <a:t>105</a:t>
            </a:fld>
            <a:endParaRPr lang="en-US"/>
          </a:p>
        </p:txBody>
      </p:sp>
      <p:sp>
        <p:nvSpPr>
          <p:cNvPr id="5" name="TextBox 4"/>
          <p:cNvSpPr txBox="1"/>
          <p:nvPr/>
        </p:nvSpPr>
        <p:spPr>
          <a:xfrm>
            <a:off x="1143000" y="5486400"/>
            <a:ext cx="6858000" cy="923925"/>
          </a:xfrm>
          <a:prstGeom prst="rect">
            <a:avLst/>
          </a:prstGeom>
          <a:noFill/>
        </p:spPr>
        <p:txBody>
          <a:bodyPr>
            <a:spAutoFit/>
          </a:bodyPr>
          <a:lstStyle/>
          <a:p>
            <a:pPr algn="ctr" eaLnBrk="0" hangingPunct="0">
              <a:defRPr/>
            </a:pPr>
            <a:r>
              <a:rPr lang="en-US" sz="5400" dirty="0">
                <a:solidFill>
                  <a:srgbClr val="FFFF00"/>
                </a:solidFill>
                <a:effectLst>
                  <a:outerShdw blurRad="38100" dist="38100" dir="2700000" algn="tl">
                    <a:srgbClr val="000000">
                      <a:alpha val="43137"/>
                    </a:srgbClr>
                  </a:outerShdw>
                </a:effectLst>
                <a:cs typeface="+mn-cs"/>
              </a:rPr>
              <a:t>90 Day Suspension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5752" name="Text Box 8"/>
          <p:cNvSpPr txBox="1">
            <a:spLocks noChangeArrowheads="1"/>
          </p:cNvSpPr>
          <p:nvPr/>
        </p:nvSpPr>
        <p:spPr bwMode="auto">
          <a:xfrm>
            <a:off x="838200" y="5334000"/>
            <a:ext cx="7543800" cy="914400"/>
          </a:xfrm>
          <a:prstGeom prst="rect">
            <a:avLst/>
          </a:prstGeom>
          <a:noFill/>
          <a:ln w="9525">
            <a:noFill/>
            <a:miter lim="800000"/>
            <a:headEnd/>
            <a:tailEnd/>
          </a:ln>
          <a:effectLst/>
        </p:spPr>
        <p:txBody>
          <a:bodyPr>
            <a:spAutoFit/>
          </a:bodyPr>
          <a:lstStyle/>
          <a:p>
            <a:pPr algn="ctr" eaLnBrk="0" hangingPunct="0">
              <a:spcBef>
                <a:spcPct val="50000"/>
              </a:spcBef>
              <a:defRPr/>
            </a:pPr>
            <a:r>
              <a:rPr lang="en-US" sz="5400" dirty="0">
                <a:solidFill>
                  <a:srgbClr val="FFFF00"/>
                </a:solidFill>
                <a:effectLst>
                  <a:outerShdw blurRad="38100" dist="38100" dir="2700000" algn="tl">
                    <a:srgbClr val="000000"/>
                  </a:outerShdw>
                </a:effectLst>
                <a:cs typeface="+mn-cs"/>
              </a:rPr>
              <a:t>One Year Suspension</a:t>
            </a:r>
          </a:p>
        </p:txBody>
      </p:sp>
      <p:sp>
        <p:nvSpPr>
          <p:cNvPr id="5" name="TextBox 4"/>
          <p:cNvSpPr txBox="1"/>
          <p:nvPr/>
        </p:nvSpPr>
        <p:spPr>
          <a:xfrm>
            <a:off x="762000" y="762000"/>
            <a:ext cx="7772400" cy="4800600"/>
          </a:xfrm>
          <a:prstGeom prst="rect">
            <a:avLst/>
          </a:prstGeom>
          <a:noFill/>
        </p:spPr>
        <p:txBody>
          <a:bodyPr>
            <a:spAutoFit/>
          </a:bodyPr>
          <a:lstStyle/>
          <a:p>
            <a:pPr algn="ctr" eaLnBrk="0" hangingPunct="0">
              <a:defRPr/>
            </a:pPr>
            <a:r>
              <a:rPr lang="en-US" sz="3800" dirty="0">
                <a:effectLst>
                  <a:outerShdw blurRad="38100" dist="38100" dir="2700000" algn="tl">
                    <a:srgbClr val="000000">
                      <a:alpha val="43137"/>
                    </a:srgbClr>
                  </a:outerShdw>
                </a:effectLst>
                <a:cs typeface="+mn-cs"/>
              </a:rPr>
              <a:t>The educator provided a study guide to students was just like the CRCT.  DOE confirmed that the study guide matched the test.  Witnesses’ statements confirmed that the educator copied testing material.</a:t>
            </a:r>
          </a:p>
          <a:p>
            <a:pPr algn="ctr" eaLnBrk="0" hangingPunct="0">
              <a:defRPr/>
            </a:pPr>
            <a:endParaRPr lang="en-US" sz="4000" dirty="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5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5752" grpId="0"/>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0178" name="Rectangle 2"/>
          <p:cNvSpPr>
            <a:spLocks noGrp="1" noChangeArrowheads="1"/>
          </p:cNvSpPr>
          <p:nvPr>
            <p:ph type="title"/>
          </p:nvPr>
        </p:nvSpPr>
        <p:spPr>
          <a:xfrm>
            <a:off x="838200" y="914400"/>
            <a:ext cx="7467600" cy="4449763"/>
          </a:xfrm>
        </p:spPr>
        <p:txBody>
          <a:bodyPr/>
          <a:lstStyle/>
          <a:p>
            <a:pPr eaLnBrk="1" hangingPunct="1">
              <a:defRPr/>
            </a:pPr>
            <a:r>
              <a:rPr lang="en-US" sz="7200" b="1" dirty="0" smtClean="0">
                <a:solidFill>
                  <a:srgbClr val="FFFF00"/>
                </a:solidFill>
              </a:rPr>
              <a:t>Other Grounds for Disciplinary Action against a Certificate</a:t>
            </a:r>
            <a:endParaRPr lang="en-US" sz="7200" dirty="0" smtClean="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0178" name="Rectangle 2"/>
          <p:cNvSpPr>
            <a:spLocks noGrp="1" noChangeArrowheads="1"/>
          </p:cNvSpPr>
          <p:nvPr>
            <p:ph type="title"/>
          </p:nvPr>
        </p:nvSpPr>
        <p:spPr/>
        <p:txBody>
          <a:bodyPr/>
          <a:lstStyle/>
          <a:p>
            <a:pPr eaLnBrk="1" hangingPunct="1">
              <a:defRPr/>
            </a:pPr>
            <a:r>
              <a:rPr lang="en-US" sz="3200" b="1" dirty="0" smtClean="0">
                <a:solidFill>
                  <a:srgbClr val="FFFF00"/>
                </a:solidFill>
              </a:rPr>
              <a:t>Other Grounds for Disciplinary Action:</a:t>
            </a:r>
            <a:r>
              <a:rPr lang="en-US" sz="3200" dirty="0" smtClean="0"/>
              <a:t> </a:t>
            </a:r>
          </a:p>
        </p:txBody>
      </p:sp>
      <p:sp>
        <p:nvSpPr>
          <p:cNvPr id="3890179" name="Rectangle 3"/>
          <p:cNvSpPr>
            <a:spLocks noGrp="1" noChangeArrowheads="1"/>
          </p:cNvSpPr>
          <p:nvPr>
            <p:ph type="body" idx="1"/>
          </p:nvPr>
        </p:nvSpPr>
        <p:spPr>
          <a:xfrm>
            <a:off x="533400" y="1295400"/>
            <a:ext cx="8229600" cy="4648200"/>
          </a:xfrm>
        </p:spPr>
        <p:txBody>
          <a:bodyPr/>
          <a:lstStyle/>
          <a:p>
            <a:pPr marL="508000" indent="-508000" eaLnBrk="1" hangingPunct="1">
              <a:lnSpc>
                <a:spcPct val="80000"/>
              </a:lnSpc>
              <a:defRPr/>
            </a:pPr>
            <a:r>
              <a:rPr lang="en-US" b="1" dirty="0" smtClean="0"/>
              <a:t>Disciplinary action against a certificate in another state on grounds consistent with those specified in the Code of Ethics for Educators.</a:t>
            </a:r>
          </a:p>
          <a:p>
            <a:pPr marL="508000" indent="-508000" eaLnBrk="1" hangingPunct="1">
              <a:lnSpc>
                <a:spcPct val="80000"/>
              </a:lnSpc>
              <a:defRPr/>
            </a:pPr>
            <a:endParaRPr lang="en-US" sz="1100" b="1" dirty="0" smtClean="0"/>
          </a:p>
          <a:p>
            <a:pPr marL="508000" indent="-508000" eaLnBrk="1" hangingPunct="1">
              <a:lnSpc>
                <a:spcPct val="80000"/>
              </a:lnSpc>
              <a:defRPr/>
            </a:pPr>
            <a:r>
              <a:rPr lang="en-US" b="1" dirty="0" smtClean="0"/>
              <a:t>Order from a court or a request from DHR that a certificate be suspended or denied for non-payment of child support.</a:t>
            </a:r>
            <a:endParaRPr lang="en-US" dirty="0" smtClean="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202" name="Rectangle 2"/>
          <p:cNvSpPr>
            <a:spLocks noGrp="1" noChangeArrowheads="1"/>
          </p:cNvSpPr>
          <p:nvPr>
            <p:ph type="title"/>
          </p:nvPr>
        </p:nvSpPr>
        <p:spPr/>
        <p:txBody>
          <a:bodyPr/>
          <a:lstStyle/>
          <a:p>
            <a:pPr eaLnBrk="1" hangingPunct="1">
              <a:defRPr/>
            </a:pPr>
            <a:r>
              <a:rPr lang="en-US" sz="3200" b="1" dirty="0" smtClean="0">
                <a:solidFill>
                  <a:srgbClr val="FFFF00"/>
                </a:solidFill>
              </a:rPr>
              <a:t>Other Grounds for Disciplinary Action:</a:t>
            </a:r>
            <a:r>
              <a:rPr lang="en-US" sz="3200" dirty="0" smtClean="0"/>
              <a:t> </a:t>
            </a:r>
          </a:p>
        </p:txBody>
      </p:sp>
      <p:sp>
        <p:nvSpPr>
          <p:cNvPr id="3891203" name="Rectangle 3"/>
          <p:cNvSpPr>
            <a:spLocks noGrp="1" noChangeArrowheads="1"/>
          </p:cNvSpPr>
          <p:nvPr>
            <p:ph type="body" idx="1"/>
          </p:nvPr>
        </p:nvSpPr>
        <p:spPr>
          <a:xfrm>
            <a:off x="457200" y="1600200"/>
            <a:ext cx="8229600" cy="4648200"/>
          </a:xfrm>
        </p:spPr>
        <p:txBody>
          <a:bodyPr/>
          <a:lstStyle/>
          <a:p>
            <a:pPr marL="465138" indent="-465138" eaLnBrk="1" hangingPunct="1">
              <a:lnSpc>
                <a:spcPct val="80000"/>
              </a:lnSpc>
              <a:defRPr/>
            </a:pPr>
            <a:r>
              <a:rPr lang="en-US" sz="3000" b="1" dirty="0" smtClean="0"/>
              <a:t>Default on or unsatisfactory repayment status on a student loan. </a:t>
            </a:r>
          </a:p>
          <a:p>
            <a:pPr marL="465138" indent="-465138" eaLnBrk="1" hangingPunct="1">
              <a:lnSpc>
                <a:spcPct val="80000"/>
              </a:lnSpc>
              <a:defRPr/>
            </a:pPr>
            <a:endParaRPr lang="en-US" sz="800" b="1" dirty="0" smtClean="0"/>
          </a:p>
          <a:p>
            <a:pPr marL="465138" indent="-465138" eaLnBrk="1" hangingPunct="1">
              <a:lnSpc>
                <a:spcPct val="80000"/>
              </a:lnSpc>
              <a:defRPr/>
            </a:pPr>
            <a:r>
              <a:rPr lang="en-US" sz="3000" b="1" dirty="0" smtClean="0"/>
              <a:t>Suspension or revocation of any professional license or certificate.</a:t>
            </a:r>
          </a:p>
          <a:p>
            <a:pPr marL="465138" indent="-465138" eaLnBrk="1" hangingPunct="1">
              <a:lnSpc>
                <a:spcPct val="80000"/>
              </a:lnSpc>
              <a:buFont typeface="Wingdings" pitchFamily="2" charset="2"/>
              <a:buNone/>
              <a:defRPr/>
            </a:pPr>
            <a:r>
              <a:rPr lang="en-US" sz="800" b="1" dirty="0" smtClean="0"/>
              <a:t> </a:t>
            </a:r>
          </a:p>
          <a:p>
            <a:pPr marL="465138" indent="-465138" eaLnBrk="1" hangingPunct="1">
              <a:lnSpc>
                <a:spcPct val="80000"/>
              </a:lnSpc>
              <a:defRPr/>
            </a:pPr>
            <a:r>
              <a:rPr lang="en-US" sz="3000" b="1" dirty="0" smtClean="0"/>
              <a:t>Violation of laws and rules applicable to the profession.</a:t>
            </a:r>
          </a:p>
          <a:p>
            <a:pPr marL="465138" indent="-465138" eaLnBrk="1" hangingPunct="1">
              <a:lnSpc>
                <a:spcPct val="80000"/>
              </a:lnSpc>
              <a:defRPr/>
            </a:pPr>
            <a:endParaRPr lang="en-US" sz="800" b="1" dirty="0" smtClean="0"/>
          </a:p>
          <a:p>
            <a:pPr marL="465138" indent="-465138" eaLnBrk="1" hangingPunct="1">
              <a:lnSpc>
                <a:spcPct val="80000"/>
              </a:lnSpc>
              <a:defRPr/>
            </a:pPr>
            <a:r>
              <a:rPr lang="en-US" sz="3000" b="1" dirty="0" smtClean="0"/>
              <a:t>Any other good and sufficient cause that renders an educator unfit for employment as an educator</a:t>
            </a:r>
            <a:r>
              <a:rPr lang="en-US" sz="2000" dirty="0" smtClean="0"/>
              <a:t>.</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28738" name="Rectangle 2"/>
          <p:cNvSpPr>
            <a:spLocks noGrp="1" noChangeArrowheads="1"/>
          </p:cNvSpPr>
          <p:nvPr>
            <p:ph type="title"/>
          </p:nvPr>
        </p:nvSpPr>
        <p:spPr/>
        <p:txBody>
          <a:bodyPr/>
          <a:lstStyle/>
          <a:p>
            <a:pPr eaLnBrk="1" hangingPunct="1">
              <a:defRPr/>
            </a:pPr>
            <a:r>
              <a:rPr lang="en-US" b="1" dirty="0" smtClean="0">
                <a:solidFill>
                  <a:srgbClr val="FFFF00"/>
                </a:solidFill>
              </a:rPr>
              <a:t>Enforcing Sanctions</a:t>
            </a:r>
          </a:p>
        </p:txBody>
      </p:sp>
      <p:sp>
        <p:nvSpPr>
          <p:cNvPr id="3828739" name="Rectangle 3"/>
          <p:cNvSpPr>
            <a:spLocks noGrp="1" noChangeArrowheads="1"/>
          </p:cNvSpPr>
          <p:nvPr>
            <p:ph type="body" idx="1"/>
          </p:nvPr>
        </p:nvSpPr>
        <p:spPr>
          <a:xfrm>
            <a:off x="685800" y="1371600"/>
            <a:ext cx="7848600" cy="4953000"/>
          </a:xfrm>
        </p:spPr>
        <p:txBody>
          <a:bodyPr/>
          <a:lstStyle/>
          <a:p>
            <a:pPr marL="0" indent="0" algn="ctr" eaLnBrk="1" hangingPunct="1">
              <a:lnSpc>
                <a:spcPct val="90000"/>
              </a:lnSpc>
              <a:buFont typeface="Wingdings" pitchFamily="2" charset="2"/>
              <a:buNone/>
              <a:defRPr/>
            </a:pPr>
            <a:r>
              <a:rPr lang="en-US" b="1" dirty="0" smtClean="0"/>
              <a:t>The superintendent and the superintendent’s designee for certification shall be responsible for assuring that an individual whose certificate has been revoked, denied, or suspended is not employed or serving in any capacity in their district.  Both the superintendent and the superintendent’s designee must hold GAPSC certification.</a:t>
            </a:r>
            <a:r>
              <a:rPr lang="en-US" dirty="0" smtClean="0"/>
              <a:t> </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2209800" y="609600"/>
          <a:ext cx="4873625" cy="5029200"/>
        </p:xfrm>
        <a:graphic>
          <a:graphicData uri="http://schemas.openxmlformats.org/presentationml/2006/ole">
            <p:oleObj spid="_x0000_s1026" name="Clip" r:id="rId4" imgW="3360240" imgH="3468960" progId="">
              <p:embed/>
            </p:oleObj>
          </a:graphicData>
        </a:graphic>
      </p:graphicFrame>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Slit">
  <a:themeElements>
    <a:clrScheme name="Slit 1">
      <a:dk1>
        <a:srgbClr val="8C0000"/>
      </a:dk1>
      <a:lt1>
        <a:srgbClr val="FFFFFF"/>
      </a:lt1>
      <a:dk2>
        <a:srgbClr val="720000"/>
      </a:dk2>
      <a:lt2>
        <a:srgbClr val="FFFFCC"/>
      </a:lt2>
      <a:accent1>
        <a:srgbClr val="FF3300"/>
      </a:accent1>
      <a:accent2>
        <a:srgbClr val="BE7960"/>
      </a:accent2>
      <a:accent3>
        <a:srgbClr val="BCAAAA"/>
      </a:accent3>
      <a:accent4>
        <a:srgbClr val="DADADA"/>
      </a:accent4>
      <a:accent5>
        <a:srgbClr val="FFADAA"/>
      </a:accent5>
      <a:accent6>
        <a:srgbClr val="AC6D56"/>
      </a:accent6>
      <a:hlink>
        <a:srgbClr val="FFCC66"/>
      </a:hlink>
      <a:folHlink>
        <a:srgbClr val="FF9900"/>
      </a:folHlink>
    </a:clrScheme>
    <a:fontScheme name="Sli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66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66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Slit 1">
        <a:dk1>
          <a:srgbClr val="8C0000"/>
        </a:dk1>
        <a:lt1>
          <a:srgbClr val="FFFFFF"/>
        </a:lt1>
        <a:dk2>
          <a:srgbClr val="720000"/>
        </a:dk2>
        <a:lt2>
          <a:srgbClr val="FFFFCC"/>
        </a:lt2>
        <a:accent1>
          <a:srgbClr val="FF3300"/>
        </a:accent1>
        <a:accent2>
          <a:srgbClr val="BE7960"/>
        </a:accent2>
        <a:accent3>
          <a:srgbClr val="BCAAAA"/>
        </a:accent3>
        <a:accent4>
          <a:srgbClr val="DADADA"/>
        </a:accent4>
        <a:accent5>
          <a:srgbClr val="FFADAA"/>
        </a:accent5>
        <a:accent6>
          <a:srgbClr val="AC6D56"/>
        </a:accent6>
        <a:hlink>
          <a:srgbClr val="FFCC66"/>
        </a:hlink>
        <a:folHlink>
          <a:srgbClr val="FF9900"/>
        </a:folHlink>
      </a:clrScheme>
      <a:clrMap bg1="dk2" tx1="lt1" bg2="dk1" tx2="lt2" accent1="accent1" accent2="accent2" accent3="accent3" accent4="accent4" accent5="accent5" accent6="accent6" hlink="hlink" folHlink="folHlink"/>
    </a:extraClrScheme>
    <a:extraClrScheme>
      <a:clrScheme name="Slit 2">
        <a:dk1>
          <a:srgbClr val="674E2F"/>
        </a:dk1>
        <a:lt1>
          <a:srgbClr val="FFFFFF"/>
        </a:lt1>
        <a:dk2>
          <a:srgbClr val="533F27"/>
        </a:dk2>
        <a:lt2>
          <a:srgbClr val="D8B274"/>
        </a:lt2>
        <a:accent1>
          <a:srgbClr val="CC9900"/>
        </a:accent1>
        <a:accent2>
          <a:srgbClr val="8F5F2F"/>
        </a:accent2>
        <a:accent3>
          <a:srgbClr val="B3AFAC"/>
        </a:accent3>
        <a:accent4>
          <a:srgbClr val="DADADA"/>
        </a:accent4>
        <a:accent5>
          <a:srgbClr val="E2CAAA"/>
        </a:accent5>
        <a:accent6>
          <a:srgbClr val="81552A"/>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lit 3">
        <a:dk1>
          <a:srgbClr val="646464"/>
        </a:dk1>
        <a:lt1>
          <a:srgbClr val="FFFFFF"/>
        </a:lt1>
        <a:dk2>
          <a:srgbClr val="545454"/>
        </a:dk2>
        <a:lt2>
          <a:srgbClr val="D4D4CE"/>
        </a:lt2>
        <a:accent1>
          <a:srgbClr val="49747D"/>
        </a:accent1>
        <a:accent2>
          <a:srgbClr val="8F9699"/>
        </a:accent2>
        <a:accent3>
          <a:srgbClr val="B3B3B3"/>
        </a:accent3>
        <a:accent4>
          <a:srgbClr val="DADADA"/>
        </a:accent4>
        <a:accent5>
          <a:srgbClr val="B1BCBF"/>
        </a:accent5>
        <a:accent6>
          <a:srgbClr val="81878A"/>
        </a:accent6>
        <a:hlink>
          <a:srgbClr val="8DC4D7"/>
        </a:hlink>
        <a:folHlink>
          <a:srgbClr val="7FB97F"/>
        </a:folHlink>
      </a:clrScheme>
      <a:clrMap bg1="dk2" tx1="lt1" bg2="dk1" tx2="lt2" accent1="accent1" accent2="accent2" accent3="accent3" accent4="accent4" accent5="accent5" accent6="accent6" hlink="hlink" folHlink="folHlink"/>
    </a:extraClrScheme>
    <a:extraClrScheme>
      <a:clrScheme name="Slit 4">
        <a:dk1>
          <a:srgbClr val="3A7400"/>
        </a:dk1>
        <a:lt1>
          <a:srgbClr val="FFFFFF"/>
        </a:lt1>
        <a:dk2>
          <a:srgbClr val="2E5C00"/>
        </a:dk2>
        <a:lt2>
          <a:srgbClr val="FFFFFF"/>
        </a:lt2>
        <a:accent1>
          <a:srgbClr val="79CA02"/>
        </a:accent1>
        <a:accent2>
          <a:srgbClr val="008080"/>
        </a:accent2>
        <a:accent3>
          <a:srgbClr val="ADB5AA"/>
        </a:accent3>
        <a:accent4>
          <a:srgbClr val="DADADA"/>
        </a:accent4>
        <a:accent5>
          <a:srgbClr val="BEE1AA"/>
        </a:accent5>
        <a:accent6>
          <a:srgbClr val="007373"/>
        </a:accent6>
        <a:hlink>
          <a:srgbClr val="A8DE0E"/>
        </a:hlink>
        <a:folHlink>
          <a:srgbClr val="00CC66"/>
        </a:folHlink>
      </a:clrScheme>
      <a:clrMap bg1="dk2" tx1="lt1" bg2="dk1" tx2="lt2" accent1="accent1" accent2="accent2" accent3="accent3" accent4="accent4" accent5="accent5" accent6="accent6" hlink="hlink" folHlink="folHlink"/>
    </a:extraClrScheme>
    <a:extraClrScheme>
      <a:clrScheme name="Slit 5">
        <a:dk1>
          <a:srgbClr val="008885"/>
        </a:dk1>
        <a:lt1>
          <a:srgbClr val="FFFFFF"/>
        </a:lt1>
        <a:dk2>
          <a:srgbClr val="007572"/>
        </a:dk2>
        <a:lt2>
          <a:srgbClr val="FFFF99"/>
        </a:lt2>
        <a:accent1>
          <a:srgbClr val="33CCCC"/>
        </a:accent1>
        <a:accent2>
          <a:srgbClr val="6D6FC7"/>
        </a:accent2>
        <a:accent3>
          <a:srgbClr val="AABDBC"/>
        </a:accent3>
        <a:accent4>
          <a:srgbClr val="DADADA"/>
        </a:accent4>
        <a:accent5>
          <a:srgbClr val="ADE2E2"/>
        </a:accent5>
        <a:accent6>
          <a:srgbClr val="6264B4"/>
        </a:accent6>
        <a:hlink>
          <a:srgbClr val="FFFFCC"/>
        </a:hlink>
        <a:folHlink>
          <a:srgbClr val="00FF00"/>
        </a:folHlink>
      </a:clrScheme>
      <a:clrMap bg1="dk2" tx1="lt1" bg2="dk1" tx2="lt2" accent1="accent1" accent2="accent2" accent3="accent3" accent4="accent4" accent5="accent5" accent6="accent6" hlink="hlink" folHlink="folHlink"/>
    </a:extraClrScheme>
    <a:extraClrScheme>
      <a:clrScheme name="Slit 6">
        <a:dk1>
          <a:srgbClr val="0000AC"/>
        </a:dk1>
        <a:lt1>
          <a:srgbClr val="FFFFFF"/>
        </a:lt1>
        <a:dk2>
          <a:srgbClr val="000086"/>
        </a:dk2>
        <a:lt2>
          <a:srgbClr val="CCFFFF"/>
        </a:lt2>
        <a:accent1>
          <a:srgbClr val="0099FF"/>
        </a:accent1>
        <a:accent2>
          <a:srgbClr val="00B000"/>
        </a:accent2>
        <a:accent3>
          <a:srgbClr val="AAAAC3"/>
        </a:accent3>
        <a:accent4>
          <a:srgbClr val="DADADA"/>
        </a:accent4>
        <a:accent5>
          <a:srgbClr val="AACAFF"/>
        </a:accent5>
        <a:accent6>
          <a:srgbClr val="009F00"/>
        </a:accent6>
        <a:hlink>
          <a:srgbClr val="FFE701"/>
        </a:hlink>
        <a:folHlink>
          <a:srgbClr val="FF9900"/>
        </a:folHlink>
      </a:clrScheme>
      <a:clrMap bg1="dk2" tx1="lt1" bg2="dk1" tx2="lt2" accent1="accent1" accent2="accent2" accent3="accent3" accent4="accent4" accent5="accent5" accent6="accent6" hlink="hlink" folHlink="folHlink"/>
    </a:extraClrScheme>
    <a:extraClrScheme>
      <a:clrScheme name="Slit 7">
        <a:dk1>
          <a:srgbClr val="7474A2"/>
        </a:dk1>
        <a:lt1>
          <a:srgbClr val="FFFFFF"/>
        </a:lt1>
        <a:dk2>
          <a:srgbClr val="5E5E8E"/>
        </a:dk2>
        <a:lt2>
          <a:srgbClr val="D1D1DF"/>
        </a:lt2>
        <a:accent1>
          <a:srgbClr val="CC66FF"/>
        </a:accent1>
        <a:accent2>
          <a:srgbClr val="6666FF"/>
        </a:accent2>
        <a:accent3>
          <a:srgbClr val="B6B6C6"/>
        </a:accent3>
        <a:accent4>
          <a:srgbClr val="DADADA"/>
        </a:accent4>
        <a:accent5>
          <a:srgbClr val="E2B8FF"/>
        </a:accent5>
        <a:accent6>
          <a:srgbClr val="5C5CE7"/>
        </a:accent6>
        <a:hlink>
          <a:srgbClr val="FFCC99"/>
        </a:hlink>
        <a:folHlink>
          <a:srgbClr val="CCCCFF"/>
        </a:folHlink>
      </a:clrScheme>
      <a:clrMap bg1="dk2" tx1="lt1" bg2="dk1" tx2="lt2" accent1="accent1" accent2="accent2" accent3="accent3" accent4="accent4" accent5="accent5" accent6="accent6" hlink="hlink" folHlink="folHlink"/>
    </a:extraClrScheme>
    <a:extraClrScheme>
      <a:clrScheme name="Slit 8">
        <a:dk1>
          <a:srgbClr val="000000"/>
        </a:dk1>
        <a:lt1>
          <a:srgbClr val="D0DAE2"/>
        </a:lt1>
        <a:dk2>
          <a:srgbClr val="000000"/>
        </a:dk2>
        <a:lt2>
          <a:srgbClr val="E7EDF1"/>
        </a:lt2>
        <a:accent1>
          <a:srgbClr val="33CCCC"/>
        </a:accent1>
        <a:accent2>
          <a:srgbClr val="0099CC"/>
        </a:accent2>
        <a:accent3>
          <a:srgbClr val="E4EAEE"/>
        </a:accent3>
        <a:accent4>
          <a:srgbClr val="000000"/>
        </a:accent4>
        <a:accent5>
          <a:srgbClr val="ADE2E2"/>
        </a:accent5>
        <a:accent6>
          <a:srgbClr val="008AB9"/>
        </a:accent6>
        <a:hlink>
          <a:srgbClr val="3333CC"/>
        </a:hlink>
        <a:folHlink>
          <a:srgbClr val="008080"/>
        </a:folHlink>
      </a:clrScheme>
      <a:clrMap bg1="lt1" tx1="dk1" bg2="lt2" tx2="dk2" accent1="accent1" accent2="accent2" accent3="accent3" accent4="accent4" accent5="accent5" accent6="accent6" hlink="hlink" folHlink="folHlink"/>
    </a:extraClrScheme>
    <a:extraClrScheme>
      <a:clrScheme name="Slit 9">
        <a:dk1>
          <a:srgbClr val="000000"/>
        </a:dk1>
        <a:lt1>
          <a:srgbClr val="FFFFFF"/>
        </a:lt1>
        <a:dk2>
          <a:srgbClr val="000000"/>
        </a:dk2>
        <a:lt2>
          <a:srgbClr val="E6E6E6"/>
        </a:lt2>
        <a:accent1>
          <a:srgbClr val="66CCFF"/>
        </a:accent1>
        <a:accent2>
          <a:srgbClr val="9999FF"/>
        </a:accent2>
        <a:accent3>
          <a:srgbClr val="FFFFFF"/>
        </a:accent3>
        <a:accent4>
          <a:srgbClr val="000000"/>
        </a:accent4>
        <a:accent5>
          <a:srgbClr val="B8E2FF"/>
        </a:accent5>
        <a:accent6>
          <a:srgbClr val="8A8AE7"/>
        </a:accent6>
        <a:hlink>
          <a:srgbClr val="3333CC"/>
        </a:hlink>
        <a:folHlink>
          <a:srgbClr val="0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11247</TotalTime>
  <Words>7713</Words>
  <Application>Microsoft Office PowerPoint</Application>
  <PresentationFormat>Letter Paper (8.5x11 in)</PresentationFormat>
  <Paragraphs>645</Paragraphs>
  <Slides>111</Slides>
  <Notes>32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111</vt:i4>
      </vt:variant>
    </vt:vector>
  </HeadingPairs>
  <TitlesOfParts>
    <vt:vector size="113" baseType="lpstr">
      <vt:lpstr>Slit</vt:lpstr>
      <vt:lpstr>Clip</vt:lpstr>
      <vt:lpstr>Slide 1</vt:lpstr>
      <vt:lpstr>Sanctions for Cases Closed by Year</vt:lpstr>
      <vt:lpstr>Slide 3</vt:lpstr>
      <vt:lpstr>20-2-984.1. Adoption of a Code of Ethics.</vt:lpstr>
      <vt:lpstr>20-2-984.1. Adoption of a Code of Ethics.</vt:lpstr>
      <vt:lpstr>Definition of Educator</vt:lpstr>
      <vt:lpstr>Legal Compliance</vt:lpstr>
      <vt:lpstr>Standard 1</vt:lpstr>
      <vt:lpstr>Legal Compliance</vt:lpstr>
      <vt:lpstr>Reporting the Conviction of a                          Criminal Offense</vt:lpstr>
      <vt:lpstr>20-2-984.3. …the commission shall be authorized to investigate:</vt:lpstr>
      <vt:lpstr>20-2-984.3.(5) …the commission shall be authorized to investigate:</vt:lpstr>
      <vt:lpstr>20-2-984.3.(5) …the commission shall be authorized to investigate:</vt:lpstr>
      <vt:lpstr>20-2-984.3.(5) …the commission shall be authorized to investigate:</vt:lpstr>
      <vt:lpstr>Reporting the COMMISSION     of a                          Criminal Offense</vt:lpstr>
      <vt:lpstr>20-2-984.2. Requests by Local Boards for Investigation of Criminal Offenses</vt:lpstr>
      <vt:lpstr>20-2-984.2. Requests by Local Boards for Investigation of Criminal Offenses</vt:lpstr>
      <vt:lpstr>20-2-984.2. Requests by Local Boards for Investigation of Criminal Offenses</vt:lpstr>
      <vt:lpstr>Slide 19</vt:lpstr>
      <vt:lpstr>Slide 20</vt:lpstr>
      <vt:lpstr>Slide 21</vt:lpstr>
      <vt:lpstr>Conduct with Students</vt:lpstr>
      <vt:lpstr>Standard 2</vt:lpstr>
      <vt:lpstr>Slide 24</vt:lpstr>
      <vt:lpstr>Slide 25</vt:lpstr>
      <vt:lpstr>For the purposes of the Code of Ethics,      the enrollment period for a graduating student ends on August 31 of the year of graduation. </vt:lpstr>
      <vt:lpstr>Unethical Conduct with Students Includes: </vt:lpstr>
      <vt:lpstr>Unethical Conduct with Students Includes: </vt:lpstr>
      <vt:lpstr>Unethical Conduct with Students Includes: </vt:lpstr>
      <vt:lpstr>Unethical Conduct with Students Includes: </vt:lpstr>
      <vt:lpstr>Unethical Conduct with Students Includes: </vt:lpstr>
      <vt:lpstr>Unethical Conduct with Students Includes: </vt:lpstr>
      <vt:lpstr>Slide 33</vt:lpstr>
      <vt:lpstr>Slide 34</vt:lpstr>
      <vt:lpstr>Slide 35</vt:lpstr>
      <vt:lpstr>Slide 36</vt:lpstr>
      <vt:lpstr>Slide 37</vt:lpstr>
      <vt:lpstr>Slide 38</vt:lpstr>
      <vt:lpstr>Slide 39</vt:lpstr>
      <vt:lpstr>Slide 40</vt:lpstr>
      <vt:lpstr>Standard 3</vt:lpstr>
      <vt:lpstr>Standard 3</vt:lpstr>
      <vt:lpstr>Drugs</vt:lpstr>
      <vt:lpstr>Slide 44</vt:lpstr>
      <vt:lpstr>Slide 45</vt:lpstr>
      <vt:lpstr>Slide 46</vt:lpstr>
      <vt:lpstr>Alcohol</vt:lpstr>
      <vt:lpstr>Slide 48</vt:lpstr>
      <vt:lpstr>NPC </vt:lpstr>
      <vt:lpstr>Georgia's Legal Definitions for "Under the Influence"</vt:lpstr>
      <vt:lpstr>Georgia's Legal Definitions for "NOT Under the Influence"</vt:lpstr>
      <vt:lpstr>Slide 52</vt:lpstr>
      <vt:lpstr>Slide 53</vt:lpstr>
      <vt:lpstr>Slide 54</vt:lpstr>
      <vt:lpstr>Slide 55</vt:lpstr>
      <vt:lpstr>Standard 4</vt:lpstr>
      <vt:lpstr>Standard 4</vt:lpstr>
      <vt:lpstr>Slide 58</vt:lpstr>
      <vt:lpstr>Honesty in Communications</vt:lpstr>
      <vt:lpstr>Honesty in Conduct</vt:lpstr>
      <vt:lpstr>Honesty</vt:lpstr>
      <vt:lpstr>Honesty</vt:lpstr>
      <vt:lpstr>Honesty</vt:lpstr>
      <vt:lpstr>Honesty</vt:lpstr>
      <vt:lpstr>Honesty</vt:lpstr>
      <vt:lpstr>Honesty</vt:lpstr>
      <vt:lpstr>Slide 67</vt:lpstr>
      <vt:lpstr>Slide 68</vt:lpstr>
      <vt:lpstr>Slide 69</vt:lpstr>
      <vt:lpstr>Standard 5</vt:lpstr>
      <vt:lpstr>Standard 5</vt:lpstr>
      <vt:lpstr>Public Funds &amp; Property</vt:lpstr>
      <vt:lpstr>Slide 73</vt:lpstr>
      <vt:lpstr>Slide 74</vt:lpstr>
      <vt:lpstr>Slide 75</vt:lpstr>
      <vt:lpstr>The educator rented the school auditorium to community members and kept the money for his personal use.</vt:lpstr>
      <vt:lpstr>Slide 77</vt:lpstr>
      <vt:lpstr>Slide 78</vt:lpstr>
      <vt:lpstr>Standard 6</vt:lpstr>
      <vt:lpstr>Standard 6</vt:lpstr>
      <vt:lpstr>Slide 81</vt:lpstr>
      <vt:lpstr>Slide 82</vt:lpstr>
      <vt:lpstr>Standard 7</vt:lpstr>
      <vt:lpstr>Standard 7</vt:lpstr>
      <vt:lpstr>Confidential Information</vt:lpstr>
      <vt:lpstr>Standard 8</vt:lpstr>
      <vt:lpstr>Slide 87</vt:lpstr>
      <vt:lpstr>Standard 9</vt:lpstr>
      <vt:lpstr>Slide 89</vt:lpstr>
      <vt:lpstr>Slide 90</vt:lpstr>
      <vt:lpstr>20-2-1184</vt:lpstr>
      <vt:lpstr>Slide 92</vt:lpstr>
      <vt:lpstr>Slide 93</vt:lpstr>
      <vt:lpstr>The Educator failed to disclose the revocation of a Florida certificate in 1976 for providing alcohol to students, consuming alcohol in the presence of students, and engaging in an inappropriate physical relationship with a student.</vt:lpstr>
      <vt:lpstr>Standard 10</vt:lpstr>
      <vt:lpstr>Standard 10</vt:lpstr>
      <vt:lpstr>Slide 97</vt:lpstr>
      <vt:lpstr>Slide 98</vt:lpstr>
      <vt:lpstr>Standard 11</vt:lpstr>
      <vt:lpstr>Standard 11</vt:lpstr>
      <vt:lpstr>ERASURES!</vt:lpstr>
      <vt:lpstr>Slide 102</vt:lpstr>
      <vt:lpstr>The educator was in and out of the classroom, leaving student CRCT test booklets unsecured in the classroom.  Students were present in the classroom at the time and CRCT material was compromised during the time frame in question.</vt:lpstr>
      <vt:lpstr>The Educator deviated from the script when she administered the CRCT Reading exam to 2nd grade students. The Educator reread each test question more times than was authorized, paraphrased the script, and at provided hints to the students.</vt:lpstr>
      <vt:lpstr>The educator administered the CRCT to special education students improperly by reading passages as well as questions and answers, and then falsified the students' IEP reports to convince others that he was supposed to read the passages. </vt:lpstr>
      <vt:lpstr>Slide 106</vt:lpstr>
      <vt:lpstr>Other Grounds for Disciplinary Action against a Certificate</vt:lpstr>
      <vt:lpstr>Other Grounds for Disciplinary Action: </vt:lpstr>
      <vt:lpstr>Other Grounds for Disciplinary Action: </vt:lpstr>
      <vt:lpstr>Enforcing Sanctions</vt:lpstr>
      <vt:lpstr>Slide 111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Leadership</dc:title>
  <dc:subject>Ethics</dc:subject>
  <dc:creator>Gary Walker</dc:creator>
  <cp:lastModifiedBy>Vince</cp:lastModifiedBy>
  <cp:revision>1029</cp:revision>
  <cp:lastPrinted>2003-11-06T15:33:10Z</cp:lastPrinted>
  <dcterms:created xsi:type="dcterms:W3CDTF">2002-03-12T00:37:29Z</dcterms:created>
  <dcterms:modified xsi:type="dcterms:W3CDTF">2011-07-20T16:56:59Z</dcterms:modified>
</cp:coreProperties>
</file>