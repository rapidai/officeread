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17"/>
  </p:notesMasterIdLst>
  <p:sldIdLst>
    <p:sldId id="294" r:id="rId2"/>
    <p:sldId id="289" r:id="rId3"/>
    <p:sldId id="290" r:id="rId4"/>
    <p:sldId id="257" r:id="rId5"/>
    <p:sldId id="286" r:id="rId6"/>
    <p:sldId id="269" r:id="rId7"/>
    <p:sldId id="292" r:id="rId8"/>
    <p:sldId id="291" r:id="rId9"/>
    <p:sldId id="271" r:id="rId10"/>
    <p:sldId id="280" r:id="rId11"/>
    <p:sldId id="282" r:id="rId12"/>
    <p:sldId id="283" r:id="rId13"/>
    <p:sldId id="284" r:id="rId14"/>
    <p:sldId id="293" r:id="rId15"/>
    <p:sldId id="279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5383"/>
    <a:srgbClr val="0B0B2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68765" autoAdjust="0"/>
  </p:normalViewPr>
  <p:slideViewPr>
    <p:cSldViewPr>
      <p:cViewPr>
        <p:scale>
          <a:sx n="75" d="100"/>
          <a:sy n="75" d="100"/>
        </p:scale>
        <p:origin x="-614" y="-58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18" y="0"/>
    </p:cViewPr>
  </p:notesTextViewPr>
  <p:notesViewPr>
    <p:cSldViewPr>
      <p:cViewPr>
        <p:scale>
          <a:sx n="75" d="100"/>
          <a:sy n="75" d="100"/>
        </p:scale>
        <p:origin x="-1656" y="-58"/>
      </p:cViewPr>
      <p:guideLst>
        <p:guide orient="horz" pos="2928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73200" y="228600"/>
            <a:ext cx="4064000" cy="3048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7200" y="3352800"/>
            <a:ext cx="61722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C06962A-D3C3-4CA1-B2CC-95A017ABFD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ts val="12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indent="-228600" algn="l" rtl="0" eaLnBrk="0" fontAlgn="base" hangingPunct="0">
      <a:spcBef>
        <a:spcPts val="600"/>
      </a:spcBef>
      <a:spcAft>
        <a:spcPct val="0"/>
      </a:spcAft>
      <a:buFont typeface="Arial" charset="0"/>
      <a:buChar char="•"/>
      <a:defRPr sz="1400" kern="1200">
        <a:solidFill>
          <a:schemeClr val="tx1"/>
        </a:solidFill>
        <a:latin typeface="Arial Narrow" pitchFamily="34" charset="0"/>
        <a:ea typeface="+mn-ea"/>
        <a:cs typeface="Arial" pitchFamily="34" charset="0"/>
      </a:defRPr>
    </a:lvl2pPr>
    <a:lvl3pPr marL="685800" indent="-228600" algn="l" rtl="0" eaLnBrk="0" fontAlgn="base" hangingPunct="0">
      <a:spcBef>
        <a:spcPts val="300"/>
      </a:spcBef>
      <a:spcAft>
        <a:spcPct val="0"/>
      </a:spcAft>
      <a:buFont typeface="Arial" charset="0"/>
      <a:buChar char="•"/>
      <a:defRPr sz="1400" kern="1200">
        <a:solidFill>
          <a:schemeClr val="tx1"/>
        </a:solidFill>
        <a:latin typeface="Arial Narrow" pitchFamily="34" charset="0"/>
        <a:ea typeface="+mn-ea"/>
        <a:cs typeface="Arial" pitchFamily="34" charset="0"/>
      </a:defRPr>
    </a:lvl3pPr>
    <a:lvl4pPr marL="914400" indent="-228600" algn="l" rtl="0" eaLnBrk="0" fontAlgn="base" hangingPunct="0">
      <a:spcBef>
        <a:spcPts val="300"/>
      </a:spcBef>
      <a:spcAft>
        <a:spcPct val="0"/>
      </a:spcAft>
      <a:buFont typeface="Arial" charset="0"/>
      <a:buChar char="•"/>
      <a:defRPr sz="1400" kern="1200">
        <a:solidFill>
          <a:schemeClr val="tx1"/>
        </a:solidFill>
        <a:latin typeface="Arial Narrow" pitchFamily="34" charset="0"/>
        <a:ea typeface="+mn-ea"/>
        <a:cs typeface="Arial" pitchFamily="34" charset="0"/>
      </a:defRPr>
    </a:lvl4pPr>
    <a:lvl5pPr marL="1143000" indent="-228600" algn="l" rtl="0" eaLnBrk="0" fontAlgn="base" hangingPunct="0">
      <a:spcBef>
        <a:spcPts val="300"/>
      </a:spcBef>
      <a:spcAft>
        <a:spcPct val="0"/>
      </a:spcAft>
      <a:buFont typeface="Arial" charset="0"/>
      <a:buChar char="•"/>
      <a:defRPr sz="1400" kern="1200">
        <a:solidFill>
          <a:schemeClr val="tx1"/>
        </a:solidFill>
        <a:latin typeface="Arial Narrow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E7C089-35C7-4C37-8EC8-D5FD9D149245}" type="slidenum">
              <a:rPr lang="en-US" smtClean="0">
                <a:latin typeface="Arial" charset="0"/>
                <a:cs typeface="Arial" charset="0"/>
              </a:rPr>
              <a:pPr/>
              <a:t>1</a:t>
            </a:fld>
            <a:endParaRPr lang="en-US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Picture of El Nino Event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30C25A-2A3A-4D1B-82E8-8D36ABA3F2A6}" type="slidenum">
              <a:rPr lang="en-US" smtClean="0">
                <a:latin typeface="Arial" charset="0"/>
                <a:cs typeface="Arial" charset="0"/>
              </a:rPr>
              <a:pPr/>
              <a:t>2</a:t>
            </a:fld>
            <a:endParaRPr lang="en-US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173567-A27C-4E5E-AF8E-2F88907A6B5E}" type="slidenum">
              <a:rPr lang="en-US" smtClean="0">
                <a:latin typeface="Arial" charset="0"/>
                <a:cs typeface="Arial" charset="0"/>
              </a:rPr>
              <a:pPr/>
              <a:t>3</a:t>
            </a:fld>
            <a:endParaRPr lang="en-US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4FADCF-76D5-436A-B32B-0268D6E1A70C}" type="slidenum">
              <a:rPr lang="en-US" smtClean="0">
                <a:latin typeface="Arial" charset="0"/>
                <a:cs typeface="Arial" charset="0"/>
              </a:rPr>
              <a:pPr/>
              <a:t>4</a:t>
            </a:fld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0483" name="Slide Image Placeholder 6"/>
          <p:cNvSpPr>
            <a:spLocks noGrp="1" noRot="1" noChangeAspec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22530" name="Slide Image Placeholder 4"/>
          <p:cNvSpPr>
            <a:spLocks noGrp="1" noRot="1" noChangeAspec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F23A46-C608-4CFB-A056-65EA4816FA89}" type="slidenum">
              <a:rPr lang="en-US" smtClean="0">
                <a:latin typeface="Arial" charset="0"/>
                <a:cs typeface="Arial" charset="0"/>
              </a:rPr>
              <a:pPr/>
              <a:t>6</a:t>
            </a:fld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67" tIns="46584" rIns="93167" bIns="46584" anchor="b"/>
          <a:lstStyle/>
          <a:p>
            <a:pPr algn="r" defTabSz="920750"/>
            <a:fld id="{E3C1441C-5A0C-4193-A93E-B69F4E83AE03}" type="slidenum">
              <a:rPr lang="en-US" sz="1200"/>
              <a:pPr algn="r" defTabSz="920750"/>
              <a:t>6</a:t>
            </a:fld>
            <a:endParaRPr lang="en-US" sz="120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24580" name="Slide Image Placeholder 7"/>
          <p:cNvSpPr>
            <a:spLocks noGrp="1" noRot="1" noChangeAspec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2662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42B8C6-04E3-4D7D-A700-74896C16DC48}" type="slidenum">
              <a:rPr lang="en-US" smtClean="0">
                <a:latin typeface="Arial" charset="0"/>
                <a:cs typeface="Arial" charset="0"/>
              </a:rPr>
              <a:pPr/>
              <a:t>7</a:t>
            </a:fld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26627" name="Slide Image Placeholder 6"/>
          <p:cNvSpPr>
            <a:spLocks noGrp="1" noRot="1" noChangeAspec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2867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9EA192-B09E-4D14-BB44-D18528A1EEE7}" type="slidenum">
              <a:rPr lang="en-US" smtClean="0">
                <a:latin typeface="Arial" charset="0"/>
                <a:cs typeface="Arial" charset="0"/>
              </a:rPr>
              <a:pPr/>
              <a:t>8</a:t>
            </a:fld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28675" name="Slide Image Placeholder 9"/>
          <p:cNvSpPr>
            <a:spLocks noGrp="1" noRot="1" noChangeAspec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386E75-332F-4BEF-81F8-EB0E4D77D66E}" type="slidenum">
              <a:rPr lang="en-US" smtClean="0">
                <a:latin typeface="Arial" charset="0"/>
                <a:cs typeface="Arial" charset="0"/>
              </a:rPr>
              <a:pPr/>
              <a:t>9</a:t>
            </a:fld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30722" name="Rectangle 7"/>
          <p:cNvSpPr txBox="1">
            <a:spLocks noGrp="1" noChangeArrowheads="1"/>
          </p:cNvSpPr>
          <p:nvPr/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02" tIns="45801" rIns="91602" bIns="45801" anchor="b"/>
          <a:lstStyle/>
          <a:p>
            <a:pPr algn="r"/>
            <a:fld id="{B9AA6067-6435-46B9-A896-BDB57EC04C49}" type="slidenum">
              <a:rPr lang="en-US" sz="1200">
                <a:latin typeface="Webdings" pitchFamily="18" charset="2"/>
              </a:rPr>
              <a:pPr algn="r"/>
              <a:t>9</a:t>
            </a:fld>
            <a:endParaRPr lang="en-US" sz="1200">
              <a:latin typeface="Webdings" pitchFamily="18" charset="2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30724" name="Slide Image Placeholder 7"/>
          <p:cNvSpPr>
            <a:spLocks noGrp="1" noRot="1" noChangeAspec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charset="0"/>
              <a:cs typeface="Arial" charset="0"/>
            </a:endParaRPr>
          </a:p>
          <a:p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3277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F54E2C-791F-4E40-A469-6C4EBC058C13}" type="slidenum">
              <a:rPr lang="en-US" smtClean="0">
                <a:latin typeface="Arial" charset="0"/>
                <a:cs typeface="Arial" charset="0"/>
              </a:rPr>
              <a:pPr/>
              <a:t>10</a:t>
            </a:fld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32771" name="Slide Image Placeholder 6"/>
          <p:cNvSpPr>
            <a:spLocks noGrp="1" noRot="1" noChangeAspec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3481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9EC278-E7AC-494E-9B6C-B9499D4577F2}" type="slidenum">
              <a:rPr lang="en-US" smtClean="0">
                <a:latin typeface="Arial" charset="0"/>
                <a:cs typeface="Arial" charset="0"/>
              </a:rPr>
              <a:pPr/>
              <a:t>11</a:t>
            </a:fld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34819" name="Slide Image Placeholder 6"/>
          <p:cNvSpPr>
            <a:spLocks noGrp="1" noRot="1" noChangeAspec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C21122-DEA2-45DA-A544-F02D99357E82}" type="slidenum">
              <a:rPr lang="en-US" smtClean="0">
                <a:latin typeface="Arial" charset="0"/>
                <a:cs typeface="Arial" charset="0"/>
              </a:rPr>
              <a:pPr/>
              <a:t>12</a:t>
            </a:fld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819400"/>
            <a:ext cx="6400800" cy="6172200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endParaRPr lang="en-US" sz="1300" smtClean="0">
              <a:latin typeface="Arial" charset="0"/>
              <a:cs typeface="Arial" charset="0"/>
            </a:endParaRPr>
          </a:p>
        </p:txBody>
      </p:sp>
      <p:sp>
        <p:nvSpPr>
          <p:cNvPr id="3686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879600" y="228600"/>
            <a:ext cx="3251200" cy="2438400"/>
          </a:xfrm>
          <a:ln/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61B289-0831-44C6-87CA-3B23D8816843}" type="slidenum">
              <a:rPr lang="en-US" smtClean="0">
                <a:latin typeface="Arial" charset="0"/>
                <a:cs typeface="Arial" charset="0"/>
              </a:rPr>
              <a:pPr/>
              <a:t>13</a:t>
            </a:fld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endParaRPr lang="en-US" sz="1200" smtClean="0">
              <a:latin typeface="Arial" charset="0"/>
              <a:cs typeface="Arial" charset="0"/>
            </a:endParaRPr>
          </a:p>
        </p:txBody>
      </p:sp>
      <p:sp>
        <p:nvSpPr>
          <p:cNvPr id="38915" name="Slide Image Placeholder 6"/>
          <p:cNvSpPr>
            <a:spLocks noGrp="1" noRot="1" noChangeAspec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40962" name="Slide Number Placeholder 3"/>
          <p:cNvSpPr txBox="1">
            <a:spLocks noGrp="1"/>
          </p:cNvSpPr>
          <p:nvPr/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608" tIns="45805" rIns="91608" bIns="45805" anchor="b"/>
          <a:lstStyle/>
          <a:p>
            <a:pPr algn="r"/>
            <a:fld id="{CA055920-6710-4E13-98A9-2896CAF8BEE2}" type="slidenum">
              <a:rPr lang="en-US" sz="1200">
                <a:latin typeface="Franklin Gothic Book" pitchFamily="34" charset="0"/>
              </a:rPr>
              <a:pPr algn="r"/>
              <a:t>14</a:t>
            </a:fld>
            <a:endParaRPr lang="en-US" sz="1200">
              <a:latin typeface="Franklin Gothic Book" pitchFamily="34" charset="0"/>
            </a:endParaRPr>
          </a:p>
        </p:txBody>
      </p:sp>
      <p:sp>
        <p:nvSpPr>
          <p:cNvPr id="40963" name="Slide Image Placeholder 5"/>
          <p:cNvSpPr>
            <a:spLocks noGrp="1" noRot="1" noChangeAspec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4301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AD5BCE-4C6D-4B6F-82AB-6FFF73D8A10E}" type="slidenum">
              <a:rPr lang="en-US" smtClean="0">
                <a:latin typeface="Arial" charset="0"/>
                <a:cs typeface="Arial" charset="0"/>
              </a:rPr>
              <a:pPr/>
              <a:t>15</a:t>
            </a:fld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43011" name="Slide Image Placeholder 6"/>
          <p:cNvSpPr>
            <a:spLocks noGrp="1" noRot="1" noChangeAspec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209800"/>
            <a:ext cx="9144000" cy="2971800"/>
          </a:xfrm>
          <a:prstGeom prst="rect">
            <a:avLst/>
          </a:prstGeom>
          <a:solidFill>
            <a:schemeClr val="tx1">
              <a:alpha val="70000"/>
            </a:schemeClr>
          </a:solidFill>
          <a:effectLst>
            <a:innerShdw blurRad="114300">
              <a:prstClr val="black"/>
            </a:inn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22"/>
          <p:cNvSpPr/>
          <p:nvPr/>
        </p:nvSpPr>
        <p:spPr>
          <a:xfrm>
            <a:off x="152400" y="2286000"/>
            <a:ext cx="3429000" cy="280511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25"/>
          <p:cNvSpPr/>
          <p:nvPr/>
        </p:nvSpPr>
        <p:spPr>
          <a:xfrm>
            <a:off x="3733800" y="2286000"/>
            <a:ext cx="3429000" cy="280511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28"/>
          <p:cNvSpPr/>
          <p:nvPr/>
        </p:nvSpPr>
        <p:spPr>
          <a:xfrm>
            <a:off x="7315200" y="2286000"/>
            <a:ext cx="1676400" cy="13716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33"/>
          <p:cNvSpPr/>
          <p:nvPr/>
        </p:nvSpPr>
        <p:spPr>
          <a:xfrm>
            <a:off x="7315200" y="3733800"/>
            <a:ext cx="1676400" cy="137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1034"/>
          <p:cNvSpPr>
            <a:spLocks noChangeArrowheads="1"/>
          </p:cNvSpPr>
          <p:nvPr/>
        </p:nvSpPr>
        <p:spPr bwMode="auto">
          <a:xfrm>
            <a:off x="2514600" y="0"/>
            <a:ext cx="4648200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en-US" sz="1400" b="1">
              <a:solidFill>
                <a:srgbClr val="CC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 Box 1038"/>
          <p:cNvSpPr txBox="1">
            <a:spLocks noChangeArrowheads="1"/>
          </p:cNvSpPr>
          <p:nvPr/>
        </p:nvSpPr>
        <p:spPr bwMode="auto">
          <a:xfrm>
            <a:off x="4632325" y="265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b="1" i="1">
              <a:latin typeface="Arial" pitchFamily="34" charset="0"/>
              <a:cs typeface="Arial" pitchFamily="34" charset="0"/>
            </a:endParaRPr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2209800"/>
          </a:xfrm>
          <a:ln/>
        </p:spPr>
        <p:txBody>
          <a:bodyPr/>
          <a:lstStyle>
            <a:lvl1pPr algn="l">
              <a:lnSpc>
                <a:spcPct val="100000"/>
              </a:lnSpc>
              <a:defRPr sz="5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181600"/>
            <a:ext cx="7696200" cy="1676400"/>
          </a:xfrm>
        </p:spPr>
        <p:txBody>
          <a:bodyPr tIns="182880" rIns="182880"/>
          <a:lstStyle>
            <a:lvl1pPr algn="l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CC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________  _____  ______  _________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2008 Satellite Direct Readout Conference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884D5C-25A7-4632-8D7A-98C280C6DD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E3283-E077-448C-8D1C-27642A76E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800" y="1600200"/>
            <a:ext cx="37719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2100" y="1600200"/>
            <a:ext cx="37719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________  _____  ______  _________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2008 Satellite Direct Readout Conference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89D654-D271-4E35-96F9-CF2EAA4DEA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D23B97-10C9-4ADD-9DDD-00B159E9C0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535113"/>
            <a:ext cx="4419600" cy="639762"/>
          </a:xfrm>
        </p:spPr>
        <p:txBody>
          <a:bodyPr anchor="b"/>
          <a:lstStyle>
            <a:lvl1pPr marL="0" indent="0">
              <a:buNone/>
              <a:defRPr lang="en-US" sz="2000" b="0" dirty="0" smtClean="0">
                <a:solidFill>
                  <a:schemeClr val="accent5">
                    <a:lumMod val="75000"/>
                  </a:schemeClr>
                </a:solidFill>
                <a:latin typeface="Franklin Gothic Demi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400" y="2174875"/>
            <a:ext cx="44196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35113"/>
            <a:ext cx="4343400" cy="639762"/>
          </a:xfrm>
        </p:spPr>
        <p:txBody>
          <a:bodyPr anchor="b"/>
          <a:lstStyle>
            <a:lvl1pPr marL="0" indent="0" algn="l" rtl="0" eaLnBrk="1" fontAlgn="base" hangingPunct="1">
              <a:lnSpc>
                <a:spcPct val="90000"/>
              </a:lnSpc>
              <a:spcBef>
                <a:spcPct val="75000"/>
              </a:spcBef>
              <a:spcAft>
                <a:spcPct val="0"/>
              </a:spcAft>
              <a:buNone/>
              <a:defRPr lang="en-US" sz="2000" b="0" dirty="0" smtClean="0">
                <a:solidFill>
                  <a:schemeClr val="accent2">
                    <a:lumMod val="75000"/>
                  </a:schemeClr>
                </a:solidFill>
                <a:latin typeface="Franklin Gothic Demi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74875"/>
            <a:ext cx="43434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________  _____  ______  _________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2008 Satellite Direct Readout Conference</a:t>
            </a:r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546E28-5E83-46DA-ABE5-8AEF15ADAA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245B7-2CC4-483C-9B31-7D38526D47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________  _____  ______  _________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2008 Satellite Direct Readout Conference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6CCDE6-A984-4874-ABB8-02E3E7B824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8CD353-C47A-41EF-BF01-C10A10B786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________  _____  ______  _________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2008 Satellite Direct Readout Conference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76522-CABD-4D50-8FCA-6BECFB5B2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BA3980-3D08-4D05-B20F-6F2C9E9798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/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2"/>
          <p:cNvSpPr txBox="1"/>
          <p:nvPr/>
        </p:nvSpPr>
        <p:spPr>
          <a:xfrm>
            <a:off x="957263" y="1447800"/>
            <a:ext cx="33686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600" dirty="0">
                <a:solidFill>
                  <a:srgbClr val="000066"/>
                </a:solidFill>
                <a:latin typeface="Franklin Gothic Heavy" pitchFamily="34" charset="0"/>
                <a:cs typeface="+mn-cs"/>
              </a:rPr>
              <a:t>MISSION</a:t>
            </a:r>
          </a:p>
        </p:txBody>
      </p:sp>
      <p:sp>
        <p:nvSpPr>
          <p:cNvPr id="9" name="TextBox 17"/>
          <p:cNvSpPr txBox="1"/>
          <p:nvPr/>
        </p:nvSpPr>
        <p:spPr>
          <a:xfrm>
            <a:off x="4565650" y="1447800"/>
            <a:ext cx="35179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Franklin Gothic Heavy" pitchFamily="34" charset="0"/>
                <a:cs typeface="+mn-cs"/>
              </a:rPr>
              <a:t>VISION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12800" y="1447800"/>
            <a:ext cx="3657600" cy="5093208"/>
          </a:xfr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274320" tIns="2560320" rIns="274320" rtlCol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1800" dirty="0" smtClean="0">
                <a:solidFill>
                  <a:schemeClr val="accent1">
                    <a:lumMod val="75000"/>
                  </a:schemeClr>
                </a:solidFill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495800" y="1447800"/>
            <a:ext cx="3657600" cy="5093208"/>
          </a:xfrm>
          <a:gradFill>
            <a:gsLst>
              <a:gs pos="0">
                <a:schemeClr val="accent5">
                  <a:tint val="50000"/>
                  <a:satMod val="300000"/>
                </a:schemeClr>
              </a:gs>
              <a:gs pos="35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274320" tIns="2560320" rIns="274320" rtlCol="0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lang="en-US" sz="1800" dirty="0" smtClean="0">
                <a:solidFill>
                  <a:srgbClr val="008000"/>
                </a:solidFill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965200" y="2057400"/>
            <a:ext cx="3352800" cy="1828800"/>
          </a:xfr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17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4648200" y="2057400"/>
            <a:ext cx="3352800" cy="1828800"/>
          </a:xfr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2008 Satellite Direct Readout Conference</a:t>
            </a:r>
            <a:endParaRPr lang="en-US" dirty="0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99347-4852-479F-B886-F031713847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ot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676400"/>
            <a:ext cx="41529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10100" y="1676400"/>
            <a:ext cx="4152900" cy="4876800"/>
          </a:xfrm>
        </p:spPr>
        <p:txBody>
          <a:bodyPr/>
          <a:lstStyle/>
          <a:p>
            <a:pPr lvl="0"/>
            <a:r>
              <a:rPr lang="en-US" noProof="0" smtClean="0"/>
              <a:t>Click icon to add clip art</a:t>
            </a:r>
            <a:endParaRPr lang="en-US" noProof="0" dirty="0" smtClean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     ________  _____  ______  _________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2008 Satellite Direct Readout Conference</a:t>
            </a: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5EBE8-B4E5-42B3-8699-9521AE9F63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43968-446F-41B6-9E44-B2DB6746F5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letely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371600"/>
            <a:ext cx="9144000" cy="518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28" name="Picture 8" descr="luxtonEarth_FullPage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0"/>
            <a:ext cx="7620000" cy="137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18288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7640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701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4008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FFFFCC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      ________  _____  ______  _________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701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4008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FFFFCC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2008 Satellite Direct Readout Conference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None/>
              <a:defRPr sz="1400" b="1" smtClean="0">
                <a:solidFill>
                  <a:srgbClr val="FFFFCC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fld id="{6585DE68-A602-4B99-B5D5-C2D9265681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None/>
              <a:defRPr sz="1400" b="1" smtClean="0">
                <a:solidFill>
                  <a:srgbClr val="FFFFCC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fld id="{62F2FDC4-2EE1-4784-B348-A59BEEF53A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3" name="Picture 7" descr="Dept of Commerce Seal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117475" y="6588125"/>
            <a:ext cx="236538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8" descr="NOAA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346075" y="6591300"/>
            <a:ext cx="228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4632325" y="265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b="1" i="1">
              <a:latin typeface="Arial" pitchFamily="34" charset="0"/>
              <a:cs typeface="Arial" pitchFamily="34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2" r:id="rId7"/>
    <p:sldLayoutId id="2147483703" r:id="rId8"/>
    <p:sldLayoutId id="2147483700" r:id="rId9"/>
    <p:sldLayoutId id="2147483704" r:id="rId10"/>
  </p:sldLayoutIdLst>
  <p:timing>
    <p:tnLst>
      <p:par>
        <p:cTn id="1" dur="indefinite" restart="never" nodeType="tmRoot"/>
      </p:par>
    </p:tnLst>
  </p:timing>
  <p:hf hdr="0" dt="0"/>
  <p:txStyles>
    <p:titleStyle>
      <a:lvl1pPr algn="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+mj-lt"/>
          <a:ea typeface="+mj-ea"/>
          <a:cs typeface="+mj-cs"/>
        </a:defRPr>
      </a:lvl1pPr>
      <a:lvl2pPr algn="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Arial Black" pitchFamily="34" charset="0"/>
        </a:defRPr>
      </a:lvl2pPr>
      <a:lvl3pPr algn="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Arial Black" pitchFamily="34" charset="0"/>
        </a:defRPr>
      </a:lvl3pPr>
      <a:lvl4pPr algn="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Arial Black" pitchFamily="34" charset="0"/>
        </a:defRPr>
      </a:lvl4pPr>
      <a:lvl5pPr algn="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Arial Black" pitchFamily="34" charset="0"/>
        </a:defRPr>
      </a:lvl5pPr>
      <a:lvl6pPr marL="4572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6pPr>
      <a:lvl7pPr marL="9144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7pPr>
      <a:lvl8pPr marL="13716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8pPr>
      <a:lvl9pPr marL="18288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9pPr>
    </p:titleStyle>
    <p:bodyStyle>
      <a:lvl1pPr marL="342900" indent="-342900" algn="l" rtl="0" fontAlgn="base">
        <a:lnSpc>
          <a:spcPct val="90000"/>
        </a:lnSpc>
        <a:spcBef>
          <a:spcPct val="75000"/>
        </a:spcBef>
        <a:spcAft>
          <a:spcPct val="0"/>
        </a:spcAft>
        <a:buChar char="•"/>
        <a:defRPr sz="2800">
          <a:solidFill>
            <a:srgbClr val="083763"/>
          </a:solidFill>
          <a:latin typeface="+mn-lt"/>
          <a:ea typeface="+mn-ea"/>
          <a:cs typeface="+mn-cs"/>
        </a:defRPr>
      </a:lvl1pPr>
      <a:lvl2pPr marL="514350" indent="-285750" algn="l" rtl="0" fontAlgn="base">
        <a:spcBef>
          <a:spcPct val="5000"/>
        </a:spcBef>
        <a:spcAft>
          <a:spcPct val="0"/>
        </a:spcAft>
        <a:buBlip>
          <a:blip r:embed="rId15"/>
        </a:buBlip>
        <a:defRPr sz="2000">
          <a:solidFill>
            <a:srgbClr val="083763"/>
          </a:solidFill>
          <a:latin typeface="+mn-lt"/>
        </a:defRPr>
      </a:lvl2pPr>
      <a:lvl3pPr marL="914400" indent="-228600" algn="l" rtl="0" fontAlgn="base">
        <a:spcBef>
          <a:spcPct val="5000"/>
        </a:spcBef>
        <a:spcAft>
          <a:spcPct val="0"/>
        </a:spcAft>
        <a:buBlip>
          <a:blip r:embed="rId16"/>
        </a:buBlip>
        <a:defRPr>
          <a:solidFill>
            <a:srgbClr val="083763"/>
          </a:solidFill>
          <a:latin typeface="+mn-lt"/>
        </a:defRPr>
      </a:lvl3pPr>
      <a:lvl4pPr marL="1257300" indent="-228600" algn="l" rtl="0" fontAlgn="base">
        <a:spcBef>
          <a:spcPct val="5000"/>
        </a:spcBef>
        <a:spcAft>
          <a:spcPct val="0"/>
        </a:spcAft>
        <a:buBlip>
          <a:blip r:embed="rId17"/>
        </a:buBlip>
        <a:defRPr sz="1600">
          <a:solidFill>
            <a:srgbClr val="083763"/>
          </a:solidFill>
          <a:latin typeface="+mn-lt"/>
        </a:defRPr>
      </a:lvl4pPr>
      <a:lvl5pPr marL="1600200" indent="-228600" algn="l" rtl="0" fontAlgn="base">
        <a:spcBef>
          <a:spcPct val="5000"/>
        </a:spcBef>
        <a:spcAft>
          <a:spcPct val="0"/>
        </a:spcAft>
        <a:buChar char="»"/>
        <a:defRPr sz="1600">
          <a:solidFill>
            <a:schemeClr val="accent2"/>
          </a:solidFill>
          <a:latin typeface="Franklin Gothic Medium Cond" pitchFamily="34" charset="0"/>
        </a:defRPr>
      </a:lvl5pPr>
      <a:lvl6pPr marL="20574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6pPr>
      <a:lvl7pPr marL="25146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7pPr>
      <a:lvl8pPr marL="29718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8pPr>
      <a:lvl9pPr marL="34290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10" Type="http://schemas.openxmlformats.org/officeDocument/2006/relationships/image" Target="../media/image23.jpeg"/><Relationship Id="rId4" Type="http://schemas.openxmlformats.org/officeDocument/2006/relationships/image" Target="../media/image17.jpe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13" Type="http://schemas.openxmlformats.org/officeDocument/2006/relationships/image" Target="../media/image33.png"/><Relationship Id="rId3" Type="http://schemas.openxmlformats.org/officeDocument/2006/relationships/image" Target="../media/image25.jpeg"/><Relationship Id="rId7" Type="http://schemas.openxmlformats.org/officeDocument/2006/relationships/image" Target="../media/image28.png"/><Relationship Id="rId12" Type="http://schemas.openxmlformats.org/officeDocument/2006/relationships/image" Target="../media/image3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www.goes.noaa.gov/WINDS/windsNHIRE.html" TargetMode="External"/><Relationship Id="rId11" Type="http://schemas.openxmlformats.org/officeDocument/2006/relationships/hyperlink" Target="http://www.ssd.noaa.gov/PS/TROP/DATA/RT/nwatl-ssrr-loop.html" TargetMode="External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5.png"/><Relationship Id="rId21" Type="http://schemas.openxmlformats.org/officeDocument/2006/relationships/image" Target="../media/image53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8.jpe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jpe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Documents%20and%20Settings\Latecia.Reeves\Desktop\Direct%20Readout%202008%20Presentations\Session1_Welcome\globe.wmv" TargetMode="External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2008 Satellite Direct Readout Conference</a:t>
            </a:r>
            <a:endParaRPr lang="en-US" dirty="0"/>
          </a:p>
        </p:txBody>
      </p:sp>
      <p:sp>
        <p:nvSpPr>
          <p:cNvPr id="1331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spcBef>
                <a:spcPct val="0"/>
              </a:spcBef>
              <a:buFontTx/>
              <a:buNone/>
            </a:pPr>
            <a:r>
              <a:rPr lang="en-US" b="1" smtClean="0"/>
              <a:t>Mary M. Glackin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sz="2000" smtClean="0"/>
              <a:t>Deputy Under Secretary for Oceans and Atmosphere</a:t>
            </a:r>
            <a:br>
              <a:rPr lang="en-US" sz="2000" smtClean="0"/>
            </a:br>
            <a:r>
              <a:rPr lang="en-US" sz="2000" smtClean="0"/>
              <a:t>NOAA</a:t>
            </a:r>
            <a:br>
              <a:rPr lang="en-US" sz="2000" smtClean="0"/>
            </a:br>
            <a:r>
              <a:rPr lang="en-US" sz="2000" smtClean="0"/>
              <a:t>December 8, 2008</a:t>
            </a:r>
          </a:p>
        </p:txBody>
      </p:sp>
      <p:pic>
        <p:nvPicPr>
          <p:cNvPr id="7" name="Picture 9" descr="Dept of Commerce Sea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53200" y="5486400"/>
            <a:ext cx="977900" cy="973138"/>
          </a:xfrm>
          <a:prstGeom prst="rect">
            <a:avLst/>
          </a:prstGeom>
          <a:noFill/>
          <a:effectLst>
            <a:outerShdw dist="35921" dir="8100000" algn="ctr" rotWithShape="0">
              <a:schemeClr val="bg2">
                <a:alpha val="50000"/>
              </a:schemeClr>
            </a:outerShdw>
          </a:effectLst>
        </p:spPr>
      </p:pic>
      <p:pic>
        <p:nvPicPr>
          <p:cNvPr id="8" name="Picture 10" descr="NOA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543800" y="5478463"/>
            <a:ext cx="990600" cy="990600"/>
          </a:xfrm>
          <a:prstGeom prst="rect">
            <a:avLst/>
          </a:prstGeom>
          <a:noFill/>
          <a:effectLst>
            <a:outerShdw dist="35921" dir="81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6675" y="1981200"/>
            <a:ext cx="7696200" cy="22098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2600" dirty="0"/>
              <a:t>To understand and predict changes in Earth’s </a:t>
            </a:r>
            <a:br>
              <a:rPr lang="en-US" sz="2600" dirty="0"/>
            </a:br>
            <a:r>
              <a:rPr lang="en-US" sz="2600" dirty="0"/>
              <a:t>environment and conserve and manage </a:t>
            </a:r>
            <a:br>
              <a:rPr lang="en-US" sz="2600" dirty="0"/>
            </a:br>
            <a:r>
              <a:rPr lang="en-US" sz="2600" dirty="0"/>
              <a:t>coastal and marine resources to meet </a:t>
            </a:r>
            <a:br>
              <a:rPr lang="en-US" sz="2600" dirty="0"/>
            </a:br>
            <a:r>
              <a:rPr lang="en-US" sz="2600" dirty="0"/>
              <a:t>our nation’s economic, social, and </a:t>
            </a:r>
            <a:br>
              <a:rPr lang="en-US" sz="2600" dirty="0"/>
            </a:br>
            <a:r>
              <a:rPr lang="en-US" sz="2600" dirty="0"/>
              <a:t>environmental needs</a:t>
            </a:r>
          </a:p>
        </p:txBody>
      </p:sp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NOAA’s Mission</a:t>
            </a:r>
          </a:p>
        </p:txBody>
      </p:sp>
      <p:sp>
        <p:nvSpPr>
          <p:cNvPr id="5127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2008 Satellite Direct Readout Conference</a:t>
            </a:r>
            <a:endParaRPr lang="en-US"/>
          </a:p>
        </p:txBody>
      </p:sp>
      <p:sp>
        <p:nvSpPr>
          <p:cNvPr id="51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9A210F-475D-4B69-9DCF-989EC24609E4}" type="slidenum">
              <a:rPr lang="en-US"/>
              <a:pPr>
                <a:defRPr/>
              </a:pPr>
              <a:t>2</a:t>
            </a:fld>
            <a:endParaRPr lang="en-US"/>
          </a:p>
        </p:txBody>
      </p:sp>
      <p:pic>
        <p:nvPicPr>
          <p:cNvPr id="1026" name="Picture 2" descr="W:\Movies, Images and Sounds\Climate\Nino Full Earth.png"/>
          <p:cNvPicPr>
            <a:picLocks noChangeAspect="1" noChangeArrowheads="1"/>
          </p:cNvPicPr>
          <p:nvPr/>
        </p:nvPicPr>
        <p:blipFill>
          <a:blip r:embed="rId3"/>
          <a:srcRect r="22613" b="23338"/>
          <a:stretch>
            <a:fillRect/>
          </a:stretch>
        </p:blipFill>
        <p:spPr bwMode="auto">
          <a:xfrm>
            <a:off x="4416846" y="1905000"/>
            <a:ext cx="4727154" cy="4691743"/>
          </a:xfrm>
          <a:prstGeom prst="rect">
            <a:avLst/>
          </a:prstGeom>
          <a:noFill/>
          <a:ln>
            <a:noFill/>
          </a:ln>
          <a:effectLst>
            <a:glow rad="101600">
              <a:schemeClr val="bg2"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2400" y="1905000"/>
            <a:ext cx="7696200" cy="25146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2600" dirty="0"/>
              <a:t>An informed society that uses a </a:t>
            </a:r>
            <a:br>
              <a:rPr lang="en-US" sz="2600" dirty="0"/>
            </a:br>
            <a:r>
              <a:rPr lang="en-US" sz="2600" dirty="0"/>
              <a:t>comprehensive understanding of the </a:t>
            </a:r>
            <a:br>
              <a:rPr lang="en-US" sz="2600" dirty="0"/>
            </a:br>
            <a:r>
              <a:rPr lang="en-US" sz="2600" dirty="0"/>
              <a:t>role of the oceans, coasts, and </a:t>
            </a:r>
            <a:br>
              <a:rPr lang="en-US" sz="2600" dirty="0"/>
            </a:br>
            <a:r>
              <a:rPr lang="en-US" sz="2600" dirty="0"/>
              <a:t>atmosphere in the global </a:t>
            </a:r>
            <a:br>
              <a:rPr lang="en-US" sz="2600" dirty="0"/>
            </a:br>
            <a:r>
              <a:rPr lang="en-US" sz="2600" dirty="0"/>
              <a:t>ecosystem to make the best </a:t>
            </a:r>
            <a:br>
              <a:rPr lang="en-US" sz="2600" dirty="0"/>
            </a:br>
            <a:r>
              <a:rPr lang="en-US" sz="2600" dirty="0"/>
              <a:t>social and economic decisions</a:t>
            </a:r>
          </a:p>
        </p:txBody>
      </p:sp>
      <p:pic>
        <p:nvPicPr>
          <p:cNvPr id="2050" name="Picture 2" descr="W:\Movies, Images and Sounds\Satellites\GOES Full Disk IR Biggie.png"/>
          <p:cNvPicPr>
            <a:picLocks noChangeAspect="1" noChangeArrowheads="1"/>
          </p:cNvPicPr>
          <p:nvPr/>
        </p:nvPicPr>
        <p:blipFill>
          <a:blip r:embed="rId3"/>
          <a:srcRect r="28930" b="23198"/>
          <a:stretch>
            <a:fillRect/>
          </a:stretch>
        </p:blipFill>
        <p:spPr bwMode="auto">
          <a:xfrm>
            <a:off x="3413436" y="1752600"/>
            <a:ext cx="5730564" cy="4876800"/>
          </a:xfrm>
          <a:prstGeom prst="rect">
            <a:avLst/>
          </a:prstGeom>
          <a:noFill/>
          <a:effectLst>
            <a:glow rad="101600">
              <a:schemeClr val="bg2">
                <a:alpha val="40000"/>
              </a:schemeClr>
            </a:glow>
          </a:effectLst>
        </p:spPr>
      </p:pic>
      <p:sp>
        <p:nvSpPr>
          <p:cNvPr id="174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NOAA’s Vision</a:t>
            </a:r>
          </a:p>
        </p:txBody>
      </p:sp>
      <p:sp>
        <p:nvSpPr>
          <p:cNvPr id="6152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2008 Satellite Direct Readout Conference</a:t>
            </a:r>
            <a:endParaRPr lang="en-US"/>
          </a:p>
        </p:txBody>
      </p:sp>
      <p:sp>
        <p:nvSpPr>
          <p:cNvPr id="615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BDFA34-DA88-42BF-9923-A70718F858B6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0" y="5105400"/>
            <a:ext cx="7924800" cy="104495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68000">
                <a:schemeClr val="accent5">
                  <a:lumMod val="75000"/>
                </a:schemeClr>
              </a:gs>
              <a:gs pos="100000">
                <a:schemeClr val="accent1">
                  <a:tint val="50000"/>
                  <a:satMod val="15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FFFFFF">
                <a:alpha val="50196"/>
              </a:srgbClr>
            </a:solidFill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Ins="182880" anchor="ctr"/>
          <a:lstStyle/>
          <a:p>
            <a:pPr algn="r">
              <a:defRPr/>
            </a:pPr>
            <a:r>
              <a:rPr lang="en-US" sz="2800" dirty="0">
                <a:latin typeface="+mj-lt"/>
              </a:rPr>
              <a:t>NOAA Touches The Lives Of </a:t>
            </a:r>
          </a:p>
          <a:p>
            <a:pPr algn="r">
              <a:defRPr/>
            </a:pPr>
            <a:r>
              <a:rPr lang="en-US" sz="2800" dirty="0">
                <a:latin typeface="+mj-lt"/>
              </a:rPr>
              <a:t>Every American Every 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21"/>
          <p:cNvPicPr>
            <a:picLocks noChangeAspect="1" noChangeArrowheads="1"/>
          </p:cNvPicPr>
          <p:nvPr/>
        </p:nvPicPr>
        <p:blipFill>
          <a:blip r:embed="rId3"/>
          <a:srcRect r="15901"/>
          <a:stretch>
            <a:fillRect/>
          </a:stretch>
        </p:blipFill>
        <p:spPr bwMode="auto">
          <a:xfrm>
            <a:off x="4572000" y="4140200"/>
            <a:ext cx="2324100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4"/>
          <a:srcRect l="12000" r="16000"/>
          <a:stretch>
            <a:fillRect/>
          </a:stretch>
        </p:blipFill>
        <p:spPr bwMode="auto">
          <a:xfrm>
            <a:off x="2286000" y="4140200"/>
            <a:ext cx="2311400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5"/>
          <a:srcRect r="37572"/>
          <a:stretch>
            <a:fillRect/>
          </a:stretch>
        </p:blipFill>
        <p:spPr bwMode="auto">
          <a:xfrm>
            <a:off x="4572000" y="2006600"/>
            <a:ext cx="2297113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unsetClouds"/>
          <p:cNvPicPr>
            <a:picLocks noChangeAspect="1" noChangeArrowheads="1"/>
          </p:cNvPicPr>
          <p:nvPr/>
        </p:nvPicPr>
        <p:blipFill>
          <a:blip r:embed="rId6"/>
          <a:srcRect r="36169" b="10159"/>
          <a:stretch>
            <a:fillRect/>
          </a:stretch>
        </p:blipFill>
        <p:spPr bwMode="auto">
          <a:xfrm>
            <a:off x="2286000" y="2006600"/>
            <a:ext cx="2286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smtClean="0"/>
              <a:t>NOAA Data &amp; Information are Essential for…</a:t>
            </a:r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2008 Satellite Direct Readout Conference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88610C-9BDF-4ACE-A5B0-32427C430E04}" type="slidenum">
              <a:rPr lang="en-US"/>
              <a:pPr>
                <a:defRPr/>
              </a:pPr>
              <a:t>4</a:t>
            </a:fld>
            <a:endParaRPr lang="en-US"/>
          </a:p>
        </p:txBody>
      </p:sp>
      <p:pic>
        <p:nvPicPr>
          <p:cNvPr id="19464" name="Picture 6"/>
          <p:cNvPicPr>
            <a:picLocks noChangeAspect="1" noChangeArrowheads="1"/>
          </p:cNvPicPr>
          <p:nvPr/>
        </p:nvPicPr>
        <p:blipFill>
          <a:blip r:embed="rId7"/>
          <a:srcRect r="11926" b="23375"/>
          <a:stretch>
            <a:fillRect/>
          </a:stretch>
        </p:blipFill>
        <p:spPr bwMode="auto">
          <a:xfrm>
            <a:off x="0" y="2006600"/>
            <a:ext cx="2286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0" y="2006600"/>
            <a:ext cx="22860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altLang="en-US" sz="1400" dirty="0">
                <a:latin typeface="+mj-lt"/>
                <a:cs typeface="Arial" pitchFamily="34" charset="0"/>
              </a:rPr>
              <a:t>Hazards, Severe Weather, Watches, Warnings</a:t>
            </a:r>
          </a:p>
        </p:txBody>
      </p:sp>
      <p:pic>
        <p:nvPicPr>
          <p:cNvPr id="19466" name="Picture 8"/>
          <p:cNvPicPr>
            <a:picLocks noChangeAspect="1" noChangeArrowheads="1"/>
          </p:cNvPicPr>
          <p:nvPr/>
        </p:nvPicPr>
        <p:blipFill>
          <a:blip r:embed="rId8"/>
          <a:srcRect r="21053"/>
          <a:stretch>
            <a:fillRect/>
          </a:stretch>
        </p:blipFill>
        <p:spPr bwMode="auto">
          <a:xfrm>
            <a:off x="0" y="4140200"/>
            <a:ext cx="2324100" cy="216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0" y="5969000"/>
            <a:ext cx="12906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1400">
                <a:latin typeface="+mj-lt"/>
                <a:cs typeface="Arial" pitchFamily="34" charset="0"/>
              </a:rPr>
              <a:t>Agriculture</a:t>
            </a:r>
          </a:p>
        </p:txBody>
      </p:sp>
      <p:pic>
        <p:nvPicPr>
          <p:cNvPr id="19468" name="Picture 10"/>
          <p:cNvPicPr>
            <a:picLocks noChangeAspect="1" noChangeArrowheads="1"/>
          </p:cNvPicPr>
          <p:nvPr/>
        </p:nvPicPr>
        <p:blipFill>
          <a:blip r:embed="rId9"/>
          <a:srcRect l="31644"/>
          <a:stretch>
            <a:fillRect/>
          </a:stretch>
        </p:blipFill>
        <p:spPr bwMode="auto">
          <a:xfrm>
            <a:off x="6858000" y="2006600"/>
            <a:ext cx="23050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6858000" y="2006600"/>
            <a:ext cx="16462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1400" dirty="0">
                <a:latin typeface="+mj-lt"/>
                <a:cs typeface="Arial" pitchFamily="34" charset="0"/>
              </a:rPr>
              <a:t>Transportation</a:t>
            </a:r>
          </a:p>
        </p:txBody>
      </p:sp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2286000" y="2006600"/>
            <a:ext cx="939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1400" dirty="0">
                <a:latin typeface="+mj-lt"/>
                <a:cs typeface="Arial" pitchFamily="34" charset="0"/>
              </a:rPr>
              <a:t>Climate</a:t>
            </a:r>
          </a:p>
        </p:txBody>
      </p:sp>
      <p:pic>
        <p:nvPicPr>
          <p:cNvPr id="19471" name="Picture 16" descr="industry"/>
          <p:cNvPicPr>
            <a:picLocks noChangeAspect="1" noChangeArrowheads="1"/>
          </p:cNvPicPr>
          <p:nvPr/>
        </p:nvPicPr>
        <p:blipFill>
          <a:blip r:embed="rId10"/>
          <a:srcRect t="21440"/>
          <a:stretch>
            <a:fillRect/>
          </a:stretch>
        </p:blipFill>
        <p:spPr bwMode="auto">
          <a:xfrm>
            <a:off x="6858000" y="4140200"/>
            <a:ext cx="2286000" cy="215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9" name="Text Box 17"/>
          <p:cNvSpPr txBox="1">
            <a:spLocks noChangeArrowheads="1"/>
          </p:cNvSpPr>
          <p:nvPr/>
        </p:nvSpPr>
        <p:spPr bwMode="auto">
          <a:xfrm>
            <a:off x="6940550" y="4291013"/>
            <a:ext cx="1841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wrap="none">
            <a:spAutoFit/>
          </a:bodyPr>
          <a:lstStyle/>
          <a:p>
            <a:pPr eaLnBrk="0" hangingPunct="0">
              <a:defRPr/>
            </a:pPr>
            <a:endParaRPr lang="en-US" altLang="en-US" sz="2400" b="1">
              <a:latin typeface="Technical" pitchFamily="66" charset="0"/>
              <a:cs typeface="Arial" pitchFamily="34" charset="0"/>
            </a:endParaRPr>
          </a:p>
        </p:txBody>
      </p:sp>
      <p:sp>
        <p:nvSpPr>
          <p:cNvPr id="3090" name="Text Box 18"/>
          <p:cNvSpPr txBox="1">
            <a:spLocks noChangeArrowheads="1"/>
          </p:cNvSpPr>
          <p:nvPr/>
        </p:nvSpPr>
        <p:spPr bwMode="auto">
          <a:xfrm>
            <a:off x="2286000" y="5969000"/>
            <a:ext cx="12477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1400" dirty="0">
                <a:latin typeface="+mj-lt"/>
                <a:cs typeface="Arial" pitchFamily="34" charset="0"/>
              </a:rPr>
              <a:t>Commerce</a:t>
            </a:r>
          </a:p>
        </p:txBody>
      </p:sp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6858000" y="5969000"/>
            <a:ext cx="100488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1400" dirty="0">
                <a:latin typeface="+mj-lt"/>
                <a:cs typeface="Arial" pitchFamily="34" charset="0"/>
              </a:rPr>
              <a:t>Industry</a:t>
            </a:r>
          </a:p>
        </p:txBody>
      </p:sp>
      <p:sp>
        <p:nvSpPr>
          <p:cNvPr id="3092" name="Text Box 20"/>
          <p:cNvSpPr txBox="1">
            <a:spLocks noChangeArrowheads="1"/>
          </p:cNvSpPr>
          <p:nvPr/>
        </p:nvSpPr>
        <p:spPr bwMode="auto">
          <a:xfrm>
            <a:off x="4572000" y="2006600"/>
            <a:ext cx="81438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1400" dirty="0">
                <a:latin typeface="+mj-lt"/>
                <a:cs typeface="Arial" pitchFamily="34" charset="0"/>
              </a:rPr>
              <a:t>Ocean</a:t>
            </a:r>
          </a:p>
        </p:txBody>
      </p:sp>
      <p:sp>
        <p:nvSpPr>
          <p:cNvPr id="3094" name="Text Box 22"/>
          <p:cNvSpPr txBox="1">
            <a:spLocks noChangeArrowheads="1"/>
          </p:cNvSpPr>
          <p:nvPr/>
        </p:nvSpPr>
        <p:spPr bwMode="auto">
          <a:xfrm>
            <a:off x="4572000" y="5753100"/>
            <a:ext cx="16017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1400" dirty="0">
                <a:latin typeface="+mj-lt"/>
                <a:cs typeface="Arial" pitchFamily="34" charset="0"/>
              </a:rPr>
              <a:t>Environmental</a:t>
            </a:r>
          </a:p>
          <a:p>
            <a:pPr eaLnBrk="0" hangingPunct="0">
              <a:defRPr/>
            </a:pPr>
            <a:r>
              <a:rPr lang="en-US" altLang="en-US" sz="1400" dirty="0">
                <a:latin typeface="+mj-lt"/>
                <a:cs typeface="Arial" pitchFamily="34" charset="0"/>
              </a:rPr>
              <a:t>Monitoring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 smtClean="0"/>
              <a:t>Supporting NOAA’s Mission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latin typeface="+mn-lt"/>
              </a:rPr>
              <a:t>Why are satellite-based observations key?</a:t>
            </a:r>
          </a:p>
        </p:txBody>
      </p:sp>
      <p:sp>
        <p:nvSpPr>
          <p:cNvPr id="21506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z="2400" smtClean="0"/>
              <a:t>Satellite data allow for medium and long-range weather forecasting and climate analysis </a:t>
            </a:r>
          </a:p>
          <a:p>
            <a:pPr marL="0" indent="0">
              <a:buFontTx/>
              <a:buNone/>
            </a:pPr>
            <a:r>
              <a:rPr lang="en-US" sz="2400" smtClean="0"/>
              <a:t>Save lives and minimize property damage from </a:t>
            </a:r>
            <a:br>
              <a:rPr lang="en-US" sz="2400" smtClean="0"/>
            </a:br>
            <a:r>
              <a:rPr lang="en-US" sz="2400" smtClean="0"/>
              <a:t>severe weather</a:t>
            </a:r>
          </a:p>
          <a:p>
            <a:pPr marL="0" indent="0">
              <a:buFontTx/>
              <a:buNone/>
            </a:pPr>
            <a:r>
              <a:rPr lang="en-US" sz="2400" smtClean="0"/>
              <a:t>Assist with disaster mitigation</a:t>
            </a:r>
          </a:p>
          <a:p>
            <a:pPr marL="0" indent="0">
              <a:buFontTx/>
              <a:buNone/>
            </a:pPr>
            <a:r>
              <a:rPr lang="en-US" sz="2400" smtClean="0"/>
              <a:t>Support a broad range of environmental monitoring</a:t>
            </a:r>
          </a:p>
          <a:p>
            <a:pPr lvl="1"/>
            <a:r>
              <a:rPr lang="en-US" sz="1800" smtClean="0"/>
              <a:t>Weather, climate, oceans, coasts, and ecosystems</a:t>
            </a:r>
          </a:p>
          <a:p>
            <a:pPr marL="0" indent="0">
              <a:buFontTx/>
              <a:buNone/>
            </a:pPr>
            <a:r>
              <a:rPr lang="en-US" sz="2400" smtClean="0"/>
              <a:t>Allow the general public to make informed decisions	</a:t>
            </a:r>
          </a:p>
          <a:p>
            <a:pPr lvl="1"/>
            <a:r>
              <a:rPr lang="en-US" sz="1800" smtClean="0"/>
              <a:t>NOAA satellite images are on TV every day</a:t>
            </a:r>
          </a:p>
        </p:txBody>
      </p:sp>
      <p:sp>
        <p:nvSpPr>
          <p:cNvPr id="7174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2008 Satellite Direct Readout Conference</a:t>
            </a:r>
            <a:endParaRPr lang="en-US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C23B16-59AF-427A-89D9-0C64E94714BA}" type="slidenum">
              <a:rPr lang="en-US"/>
              <a:pPr>
                <a:defRPr/>
              </a:pPr>
              <a:t>5</a:t>
            </a:fld>
            <a:endParaRPr lang="en-US"/>
          </a:p>
        </p:txBody>
      </p:sp>
      <p:pic>
        <p:nvPicPr>
          <p:cNvPr id="21509" name="Picture 7" descr="GOES-N-01_lowRes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00800" y="2286000"/>
            <a:ext cx="2590800" cy="389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NOAA Products </a:t>
            </a:r>
            <a:br>
              <a:rPr lang="en-US" smtClean="0"/>
            </a:br>
            <a:r>
              <a:rPr lang="en-US" smtClean="0"/>
              <a:t>and Services</a:t>
            </a: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2008 Satellite Direct Readout Conference</a:t>
            </a:r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81E7B6-39E7-4E8E-BF2D-5F206BECF595}" type="slidenum">
              <a:rPr lang="en-US"/>
              <a:pPr>
                <a:defRPr/>
              </a:pPr>
              <a:t>6</a:t>
            </a:fld>
            <a:endParaRPr lang="en-US"/>
          </a:p>
        </p:txBody>
      </p:sp>
      <p:grpSp>
        <p:nvGrpSpPr>
          <p:cNvPr id="23556" name="Group 16"/>
          <p:cNvGrpSpPr>
            <a:grpSpLocks/>
          </p:cNvGrpSpPr>
          <p:nvPr/>
        </p:nvGrpSpPr>
        <p:grpSpPr bwMode="auto">
          <a:xfrm>
            <a:off x="228600" y="3235325"/>
            <a:ext cx="8763000" cy="1454150"/>
            <a:chOff x="228600" y="3263598"/>
            <a:chExt cx="8763000" cy="1454150"/>
          </a:xfrm>
        </p:grpSpPr>
        <p:sp>
          <p:nvSpPr>
            <p:cNvPr id="1037" name="Text Box 25"/>
            <p:cNvSpPr txBox="1">
              <a:spLocks noChangeArrowheads="1"/>
            </p:cNvSpPr>
            <p:nvPr/>
          </p:nvSpPr>
          <p:spPr bwMode="auto">
            <a:xfrm>
              <a:off x="228600" y="3263598"/>
              <a:ext cx="8763000" cy="1454150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tint val="50000"/>
                    <a:satMod val="300000"/>
                  </a:schemeClr>
                </a:gs>
                <a:gs pos="35000">
                  <a:schemeClr val="dk1">
                    <a:tint val="37000"/>
                    <a:satMod val="300000"/>
                  </a:schemeClr>
                </a:gs>
                <a:gs pos="100000">
                  <a:schemeClr val="dk1">
                    <a:tint val="15000"/>
                    <a:satMod val="350000"/>
                  </a:schemeClr>
                </a:gs>
              </a:gsLst>
              <a:lin ang="0" scaled="1"/>
              <a:tileRect/>
            </a:gra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r">
                <a:defRPr/>
              </a:pPr>
              <a:r>
                <a:rPr lang="en-US" b="1" i="1" dirty="0"/>
                <a:t>Ocean </a:t>
              </a:r>
              <a:r>
                <a:rPr lang="en-US" b="1" i="1" dirty="0"/>
                <a:t>Products</a:t>
              </a:r>
              <a:r>
                <a:rPr lang="en-US" sz="1400" b="1" i="1" dirty="0"/>
                <a:t/>
              </a:r>
              <a:br>
                <a:rPr lang="en-US" sz="1400" b="1" i="1" dirty="0"/>
              </a:br>
              <a:r>
                <a:rPr lang="en-US" sz="1400" dirty="0"/>
                <a:t>Coral </a:t>
              </a:r>
              <a:r>
                <a:rPr lang="en-US" sz="1400" dirty="0"/>
                <a:t>Bleaching, </a:t>
              </a:r>
              <a:r>
                <a:rPr lang="en-US" sz="1400" dirty="0"/>
                <a:t>Ocean </a:t>
              </a:r>
              <a:r>
                <a:rPr lang="en-US" sz="1400" dirty="0"/>
                <a:t>Color, </a:t>
              </a:r>
              <a:r>
                <a:rPr lang="en-US" sz="1400" dirty="0"/>
                <a:t/>
              </a:r>
              <a:br>
                <a:rPr lang="en-US" sz="1400" dirty="0"/>
              </a:br>
              <a:r>
                <a:rPr lang="en-US" sz="1400" dirty="0"/>
                <a:t>Sea </a:t>
              </a:r>
              <a:r>
                <a:rPr lang="en-US" sz="1400" dirty="0"/>
                <a:t>&amp; Lake Ice, </a:t>
              </a:r>
              <a:r>
                <a:rPr lang="en-US" sz="1400" dirty="0"/>
                <a:t>Sea </a:t>
              </a:r>
              <a:r>
                <a:rPr lang="en-US" sz="1400" dirty="0"/>
                <a:t>Surface </a:t>
              </a:r>
              <a:r>
                <a:rPr lang="en-US" sz="1400" dirty="0"/>
                <a:t>Height, </a:t>
              </a:r>
              <a:br>
                <a:rPr lang="en-US" sz="1400" dirty="0"/>
              </a:br>
              <a:r>
                <a:rPr lang="en-US" sz="1400" dirty="0"/>
                <a:t>Sea </a:t>
              </a:r>
              <a:r>
                <a:rPr lang="en-US" sz="1400" dirty="0"/>
                <a:t>Surface Temperatures, </a:t>
              </a:r>
              <a:r>
                <a:rPr lang="en-US" sz="1400" dirty="0"/>
                <a:t/>
              </a:r>
              <a:br>
                <a:rPr lang="en-US" sz="1400" dirty="0"/>
              </a:br>
              <a:r>
                <a:rPr lang="en-US" sz="1400" dirty="0"/>
                <a:t>Harmful </a:t>
              </a:r>
              <a:r>
                <a:rPr lang="en-US" sz="1400" dirty="0"/>
                <a:t>Algal Blooms, Chlorophyll, </a:t>
              </a:r>
              <a:r>
                <a:rPr lang="en-US" sz="1400" dirty="0"/>
                <a:t/>
              </a:r>
              <a:br>
                <a:rPr lang="en-US" sz="1400" dirty="0"/>
              </a:br>
              <a:r>
                <a:rPr lang="en-US" sz="1400" dirty="0"/>
                <a:t>Ocean </a:t>
              </a:r>
              <a:r>
                <a:rPr lang="en-US" sz="1400" dirty="0"/>
                <a:t>Surface Wind Speed and Direction.</a:t>
              </a:r>
            </a:p>
          </p:txBody>
        </p:sp>
        <p:pic>
          <p:nvPicPr>
            <p:cNvPr id="23567" name="Picture 21"/>
            <p:cNvPicPr>
              <a:picLocks noChangeAspect="1" noChangeArrowheads="1"/>
            </p:cNvPicPr>
            <p:nvPr/>
          </p:nvPicPr>
          <p:blipFill>
            <a:blip r:embed="rId3"/>
            <a:srcRect r="12195"/>
            <a:stretch>
              <a:fillRect/>
            </a:stretch>
          </p:blipFill>
          <p:spPr bwMode="auto">
            <a:xfrm>
              <a:off x="251114" y="3285599"/>
              <a:ext cx="2037612" cy="14164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568" name="Picture 39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229098" y="3285671"/>
              <a:ext cx="1724028" cy="14230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569" name="Picture 40" descr="SST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306901" y="3285576"/>
              <a:ext cx="1891772" cy="1414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3557" name="Group 17"/>
          <p:cNvGrpSpPr>
            <a:grpSpLocks/>
          </p:cNvGrpSpPr>
          <p:nvPr/>
        </p:nvGrpSpPr>
        <p:grpSpPr bwMode="auto">
          <a:xfrm>
            <a:off x="228600" y="1752600"/>
            <a:ext cx="8763000" cy="1371600"/>
            <a:chOff x="228600" y="1447800"/>
            <a:chExt cx="8763000" cy="1371600"/>
          </a:xfrm>
        </p:grpSpPr>
        <p:sp>
          <p:nvSpPr>
            <p:cNvPr id="1036" name="Text Box 24"/>
            <p:cNvSpPr txBox="1">
              <a:spLocks noChangeArrowheads="1"/>
            </p:cNvSpPr>
            <p:nvPr/>
          </p:nvSpPr>
          <p:spPr bwMode="auto">
            <a:xfrm>
              <a:off x="228600" y="1447800"/>
              <a:ext cx="8763000" cy="1371600"/>
            </a:xfrm>
            <a:prstGeom prst="rect">
              <a:avLst/>
            </a:prstGeom>
            <a:gradFill flip="none" rotWithShape="1">
              <a:gsLst>
                <a:gs pos="0">
                  <a:schemeClr val="dk1">
                    <a:tint val="50000"/>
                    <a:satMod val="300000"/>
                  </a:schemeClr>
                </a:gs>
                <a:gs pos="35000">
                  <a:schemeClr val="dk1">
                    <a:tint val="37000"/>
                    <a:satMod val="300000"/>
                  </a:schemeClr>
                </a:gs>
                <a:gs pos="100000">
                  <a:schemeClr val="dk1">
                    <a:tint val="15000"/>
                    <a:satMod val="350000"/>
                  </a:schemeClr>
                </a:gs>
              </a:gsLst>
              <a:lin ang="10800000" scaled="1"/>
              <a:tileRect/>
            </a:gra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b="1" i="1" dirty="0"/>
                <a:t>Atmospheric </a:t>
              </a:r>
              <a:r>
                <a:rPr lang="en-US" b="1" i="1" dirty="0"/>
                <a:t>Products</a:t>
              </a:r>
              <a:r>
                <a:rPr lang="en-US" sz="1400" b="1" i="1" dirty="0"/>
                <a:t/>
              </a:r>
              <a:br>
                <a:rPr lang="en-US" sz="1400" b="1" i="1" dirty="0"/>
              </a:br>
              <a:r>
                <a:rPr lang="en-US" sz="1400" dirty="0"/>
                <a:t>Aerosols</a:t>
              </a:r>
              <a:r>
                <a:rPr lang="en-US" sz="1400" dirty="0"/>
                <a:t>, Clouds, </a:t>
              </a:r>
              <a:r>
                <a:rPr lang="en-US" sz="1400" dirty="0"/>
                <a:t>Fire </a:t>
              </a:r>
              <a:r>
                <a:rPr lang="en-US" sz="1400" dirty="0"/>
                <a:t>&amp; Smoke, </a:t>
              </a:r>
              <a:r>
                <a:rPr lang="en-US" sz="1400" dirty="0"/>
                <a:t/>
              </a:r>
              <a:br>
                <a:rPr lang="en-US" sz="1400" dirty="0"/>
              </a:br>
              <a:r>
                <a:rPr lang="en-US" sz="1400" dirty="0"/>
                <a:t>Ozone </a:t>
              </a:r>
              <a:r>
                <a:rPr lang="en-US" sz="1400" dirty="0"/>
                <a:t>and Atmospheric Chemistry, </a:t>
              </a:r>
              <a:r>
                <a:rPr lang="en-US" sz="1400" dirty="0"/>
                <a:t/>
              </a:r>
              <a:br>
                <a:rPr lang="en-US" sz="1400" dirty="0"/>
              </a:br>
              <a:r>
                <a:rPr lang="en-US" sz="1400" dirty="0"/>
                <a:t>Precipitation</a:t>
              </a:r>
              <a:r>
                <a:rPr lang="en-US" sz="1400" dirty="0"/>
                <a:t>, </a:t>
              </a:r>
              <a:r>
                <a:rPr lang="en-US" sz="1400" dirty="0"/>
                <a:t>Radiation </a:t>
              </a:r>
              <a:r>
                <a:rPr lang="en-US" sz="1400" dirty="0"/>
                <a:t>Budget, Soundings, </a:t>
              </a:r>
              <a:r>
                <a:rPr lang="en-US" sz="1400" dirty="0"/>
                <a:t/>
              </a:r>
              <a:br>
                <a:rPr lang="en-US" sz="1400" dirty="0"/>
              </a:br>
              <a:r>
                <a:rPr lang="en-US" sz="1400" dirty="0"/>
                <a:t>Volcanic </a:t>
              </a:r>
              <a:r>
                <a:rPr lang="en-US" sz="1400" dirty="0"/>
                <a:t>Ash, Winds </a:t>
              </a:r>
            </a:p>
          </p:txBody>
        </p:sp>
        <p:pic>
          <p:nvPicPr>
            <p:cNvPr id="23563" name="Picture 22" descr="winds-ir-12z0827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276600" y="1466849"/>
              <a:ext cx="1795567" cy="1346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564" name="Picture 29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6972300" y="1466849"/>
              <a:ext cx="2014538" cy="1343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565" name="Picture 4" descr="rain rate.jp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073932" y="1466849"/>
              <a:ext cx="1888843" cy="1346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38" name="Text Box 26"/>
          <p:cNvSpPr txBox="1">
            <a:spLocks noChangeArrowheads="1"/>
          </p:cNvSpPr>
          <p:nvPr/>
        </p:nvSpPr>
        <p:spPr bwMode="auto">
          <a:xfrm>
            <a:off x="228600" y="4800600"/>
            <a:ext cx="8763000" cy="1200150"/>
          </a:xfrm>
          <a:prstGeom prst="rect">
            <a:avLst/>
          </a:prstGeom>
          <a:gradFill flip="none" rotWithShape="1"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0800000" scaled="1"/>
            <a:tileRect/>
          </a:gra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b="1" i="1" dirty="0"/>
              <a:t>Land </a:t>
            </a:r>
            <a:r>
              <a:rPr lang="en-US" b="1" i="1" dirty="0"/>
              <a:t>Products</a:t>
            </a:r>
          </a:p>
          <a:p>
            <a:pPr>
              <a:defRPr/>
            </a:pPr>
            <a:r>
              <a:rPr lang="en-US" sz="1400" dirty="0"/>
              <a:t>Fire &amp; Smoke, Rain, Snow &amp; Ice, </a:t>
            </a:r>
            <a:r>
              <a:rPr lang="en-US" sz="1400" dirty="0"/>
              <a:t>Surface </a:t>
            </a:r>
            <a:r>
              <a:rPr lang="en-US" sz="1400" dirty="0"/>
              <a:t>&amp; </a:t>
            </a:r>
            <a:r>
              <a:rPr lang="en-US" sz="1400" dirty="0"/>
              <a:t>Hydrology</a:t>
            </a:r>
            <a:r>
              <a:rPr lang="en-US" sz="1400" dirty="0"/>
              <a:t>, 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Vegetation</a:t>
            </a:r>
            <a:endParaRPr lang="en-US" sz="1400" dirty="0"/>
          </a:p>
        </p:txBody>
      </p:sp>
      <p:pic>
        <p:nvPicPr>
          <p:cNvPr id="23559" name="Picture 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913188" y="4800600"/>
            <a:ext cx="1871662" cy="121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0" name="Picture 65" descr="SSMI-RR">
            <a:hlinkClick r:id="rId11"/>
          </p:cNvPr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381875" y="4800600"/>
            <a:ext cx="1600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1" name="Picture 64" descr="30624HE~24HR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5810250" y="4800600"/>
            <a:ext cx="1552575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transitionTeam_Map.png"/>
          <p:cNvPicPr>
            <a:picLocks noChangeAspect="1"/>
          </p:cNvPicPr>
          <p:nvPr/>
        </p:nvPicPr>
        <p:blipFill>
          <a:blip r:embed="rId3"/>
          <a:srcRect t="25052" b="4759"/>
          <a:stretch>
            <a:fillRect/>
          </a:stretch>
        </p:blipFill>
        <p:spPr bwMode="auto">
          <a:xfrm>
            <a:off x="0" y="1828800"/>
            <a:ext cx="9144000" cy="470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mtClean="0"/>
              <a:t>NOAA is Vital to the Economy and Lives</a:t>
            </a:r>
          </a:p>
        </p:txBody>
      </p:sp>
      <p:sp>
        <p:nvSpPr>
          <p:cNvPr id="9228" name="Footer Placeholder 2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2008 Satellite Direct Readout Conference</a:t>
            </a:r>
            <a:endParaRPr lang="en-US"/>
          </a:p>
        </p:txBody>
      </p:sp>
      <p:sp>
        <p:nvSpPr>
          <p:cNvPr id="9227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DDFBA9-233E-4E1D-8E61-4389D03158D3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15" name="Snip Single Corner Rectangle 14"/>
          <p:cNvSpPr/>
          <p:nvPr/>
        </p:nvSpPr>
        <p:spPr>
          <a:xfrm>
            <a:off x="228600" y="1981200"/>
            <a:ext cx="3581400" cy="1600200"/>
          </a:xfrm>
          <a:prstGeom prst="snip1Rect">
            <a:avLst/>
          </a:prstGeom>
          <a:solidFill>
            <a:srgbClr val="CC9900">
              <a:alpha val="74902"/>
            </a:srgb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82880" rIns="182880" bIns="182880" anchor="b"/>
          <a:lstStyle/>
          <a:p>
            <a:pPr>
              <a:defRPr/>
            </a:pPr>
            <a:r>
              <a:rPr lang="en-US" sz="1600" b="1" u="sng" dirty="0">
                <a:solidFill>
                  <a:srgbClr val="FFFFFF"/>
                </a:solidFill>
              </a:rPr>
              <a:t>Tornado Warnings 1992-2004 </a:t>
            </a:r>
          </a:p>
          <a:p>
            <a:pPr marL="342900" lvl="1" indent="-228600">
              <a:buFont typeface="Arial" pitchFamily="34" charset="0"/>
              <a:buChar char="•"/>
              <a:defRPr/>
            </a:pPr>
            <a:r>
              <a:rPr lang="en-US" sz="1600" b="1" dirty="0">
                <a:solidFill>
                  <a:srgbClr val="FFFFFF"/>
                </a:solidFill>
              </a:rPr>
              <a:t>prevented </a:t>
            </a:r>
            <a:r>
              <a:rPr lang="en-US" sz="1600" b="1" dirty="0">
                <a:solidFill>
                  <a:srgbClr val="FFFFFF"/>
                </a:solidFill>
              </a:rPr>
              <a:t>over 330 </a:t>
            </a:r>
            <a:r>
              <a:rPr lang="en-US" sz="1600" b="1" dirty="0">
                <a:solidFill>
                  <a:srgbClr val="FFFFFF"/>
                </a:solidFill>
              </a:rPr>
              <a:t>fatalities</a:t>
            </a:r>
          </a:p>
          <a:p>
            <a:pPr marL="342900" lvl="1" indent="-228600">
              <a:buFont typeface="Arial" pitchFamily="34" charset="0"/>
              <a:buChar char="•"/>
              <a:defRPr/>
            </a:pPr>
            <a:r>
              <a:rPr lang="en-US" sz="1600" b="1" dirty="0">
                <a:solidFill>
                  <a:srgbClr val="FFFFFF"/>
                </a:solidFill>
              </a:rPr>
              <a:t>prevented 7800 injuries</a:t>
            </a:r>
          </a:p>
          <a:p>
            <a:pPr marL="342900" lvl="1" indent="-228600">
              <a:buFont typeface="Arial" pitchFamily="34" charset="0"/>
              <a:buChar char="•"/>
              <a:defRPr/>
            </a:pPr>
            <a:r>
              <a:rPr lang="en-US" sz="1600" b="1" dirty="0">
                <a:solidFill>
                  <a:srgbClr val="FFFFFF"/>
                </a:solidFill>
              </a:rPr>
              <a:t>socioeconomic benefit of over $3 billion</a:t>
            </a:r>
          </a:p>
        </p:txBody>
      </p:sp>
      <p:sp>
        <p:nvSpPr>
          <p:cNvPr id="22" name="Snip Single Corner Rectangle 21"/>
          <p:cNvSpPr/>
          <p:nvPr/>
        </p:nvSpPr>
        <p:spPr>
          <a:xfrm>
            <a:off x="4267200" y="2057400"/>
            <a:ext cx="4614863" cy="1371600"/>
          </a:xfrm>
          <a:prstGeom prst="snip1Rect">
            <a:avLst/>
          </a:prstGeom>
          <a:solidFill>
            <a:srgbClr val="03495C">
              <a:alpha val="74902"/>
            </a:srgb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82880" rIns="182880" bIns="182880" anchor="b"/>
          <a:lstStyle/>
          <a:p>
            <a:pPr>
              <a:defRPr/>
            </a:pPr>
            <a:r>
              <a:rPr lang="en-US" sz="1600" b="1" u="sng" dirty="0">
                <a:solidFill>
                  <a:srgbClr val="FFFFFF"/>
                </a:solidFill>
              </a:rPr>
              <a:t>Healthy coastal ecosystems provide clean beaches </a:t>
            </a:r>
            <a:endParaRPr lang="en-US" sz="1600" b="1" dirty="0">
              <a:solidFill>
                <a:srgbClr val="FFFFFF"/>
              </a:solidFill>
            </a:endParaRPr>
          </a:p>
          <a:p>
            <a:pPr marL="342900" lvl="1" indent="-228600">
              <a:buFont typeface="Arial" pitchFamily="34" charset="0"/>
              <a:buChar char="•"/>
              <a:defRPr/>
            </a:pPr>
            <a:r>
              <a:rPr lang="en-US" sz="1600" b="1" dirty="0">
                <a:solidFill>
                  <a:srgbClr val="FFFFFF"/>
                </a:solidFill>
              </a:rPr>
              <a:t>host </a:t>
            </a:r>
            <a:r>
              <a:rPr lang="en-US" sz="1600" b="1" dirty="0">
                <a:solidFill>
                  <a:srgbClr val="FFFFFF"/>
                </a:solidFill>
              </a:rPr>
              <a:t>over 910 million trips/year </a:t>
            </a:r>
            <a:endParaRPr lang="en-US" sz="1600" b="1" dirty="0">
              <a:solidFill>
                <a:srgbClr val="FFFFFF"/>
              </a:solidFill>
            </a:endParaRPr>
          </a:p>
          <a:p>
            <a:pPr marL="342900" lvl="1" indent="-228600">
              <a:buFont typeface="Arial" pitchFamily="34" charset="0"/>
              <a:buChar char="•"/>
              <a:defRPr/>
            </a:pPr>
            <a:r>
              <a:rPr lang="en-US" sz="1600" b="1" dirty="0">
                <a:solidFill>
                  <a:srgbClr val="FFFFFF"/>
                </a:solidFill>
              </a:rPr>
              <a:t>support </a:t>
            </a:r>
            <a:r>
              <a:rPr lang="en-US" sz="1600" b="1" dirty="0">
                <a:solidFill>
                  <a:srgbClr val="FFFFFF"/>
                </a:solidFill>
              </a:rPr>
              <a:t>millions of jobs </a:t>
            </a:r>
            <a:endParaRPr lang="en-US" sz="1600" b="1" dirty="0">
              <a:solidFill>
                <a:srgbClr val="FFFFFF"/>
              </a:solidFill>
            </a:endParaRPr>
          </a:p>
          <a:p>
            <a:pPr marL="342900" lvl="1" indent="-228600">
              <a:buFont typeface="Arial" pitchFamily="34" charset="0"/>
              <a:buChar char="•"/>
              <a:defRPr/>
            </a:pPr>
            <a:r>
              <a:rPr lang="en-US" sz="1600" b="1" dirty="0">
                <a:solidFill>
                  <a:srgbClr val="FFFFFF"/>
                </a:solidFill>
              </a:rPr>
              <a:t>generate </a:t>
            </a:r>
            <a:r>
              <a:rPr lang="en-US" sz="1600" b="1" dirty="0">
                <a:solidFill>
                  <a:srgbClr val="FFFFFF"/>
                </a:solidFill>
              </a:rPr>
              <a:t>$44 billion in spending</a:t>
            </a:r>
          </a:p>
        </p:txBody>
      </p:sp>
      <p:sp>
        <p:nvSpPr>
          <p:cNvPr id="24" name="Snip Single Corner Rectangle 23"/>
          <p:cNvSpPr/>
          <p:nvPr/>
        </p:nvSpPr>
        <p:spPr>
          <a:xfrm>
            <a:off x="5105400" y="4953000"/>
            <a:ext cx="3429000" cy="1143000"/>
          </a:xfrm>
          <a:prstGeom prst="snip1Rect">
            <a:avLst/>
          </a:prstGeom>
          <a:solidFill>
            <a:srgbClr val="008080">
              <a:alpha val="74902"/>
            </a:srgb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82880" rIns="182880" bIns="182880" anchor="b"/>
          <a:lstStyle/>
          <a:p>
            <a:pPr>
              <a:defRPr/>
            </a:pPr>
            <a:r>
              <a:rPr lang="en-US" sz="1600" b="1" u="sng" dirty="0">
                <a:solidFill>
                  <a:srgbClr val="FFFFFF"/>
                </a:solidFill>
              </a:rPr>
              <a:t>Tsunami </a:t>
            </a:r>
            <a:r>
              <a:rPr lang="en-US" sz="1600" b="1" u="sng" dirty="0">
                <a:solidFill>
                  <a:srgbClr val="FFFFFF"/>
                </a:solidFill>
              </a:rPr>
              <a:t>detection buoys </a:t>
            </a:r>
            <a:r>
              <a:rPr lang="en-US" sz="1600" b="1" u="sng" dirty="0">
                <a:solidFill>
                  <a:srgbClr val="FFFFFF"/>
                </a:solidFill>
              </a:rPr>
              <a:t/>
            </a:r>
            <a:br>
              <a:rPr lang="en-US" sz="1600" b="1" u="sng" dirty="0">
                <a:solidFill>
                  <a:srgbClr val="FFFFFF"/>
                </a:solidFill>
              </a:rPr>
            </a:br>
            <a:r>
              <a:rPr lang="en-US" sz="1600" b="1" dirty="0">
                <a:solidFill>
                  <a:srgbClr val="FFFFFF"/>
                </a:solidFill>
              </a:rPr>
              <a:t>faster </a:t>
            </a:r>
            <a:r>
              <a:rPr lang="en-US" sz="1600" b="1" dirty="0">
                <a:solidFill>
                  <a:srgbClr val="FFFFFF"/>
                </a:solidFill>
              </a:rPr>
              <a:t>and more accurate </a:t>
            </a:r>
            <a:r>
              <a:rPr lang="en-US" sz="1600" b="1" dirty="0">
                <a:solidFill>
                  <a:srgbClr val="FFFFFF"/>
                </a:solidFill>
              </a:rPr>
              <a:t>warnings protect </a:t>
            </a:r>
            <a:r>
              <a:rPr lang="en-US" sz="1600" b="1" dirty="0">
                <a:solidFill>
                  <a:srgbClr val="FFFFFF"/>
                </a:solidFill>
              </a:rPr>
              <a:t>lives and </a:t>
            </a:r>
            <a:r>
              <a:rPr lang="en-US" sz="1600" b="1" dirty="0">
                <a:solidFill>
                  <a:srgbClr val="FFFFFF"/>
                </a:solidFill>
              </a:rPr>
              <a:t>property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7" name="Snip Single Corner Rectangle 16"/>
          <p:cNvSpPr/>
          <p:nvPr/>
        </p:nvSpPr>
        <p:spPr>
          <a:xfrm>
            <a:off x="3124200" y="3810000"/>
            <a:ext cx="2057400" cy="1066800"/>
          </a:xfrm>
          <a:prstGeom prst="snip1Rect">
            <a:avLst/>
          </a:prstGeom>
          <a:solidFill>
            <a:srgbClr val="800000">
              <a:alpha val="74902"/>
            </a:srgb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82880" rIns="182880" bIns="182880" anchor="b"/>
          <a:lstStyle/>
          <a:p>
            <a:pPr>
              <a:defRPr/>
            </a:pPr>
            <a:r>
              <a:rPr lang="en-US" sz="1600" b="1" u="sng" dirty="0">
                <a:solidFill>
                  <a:srgbClr val="FFFFFF"/>
                </a:solidFill>
              </a:rPr>
              <a:t>Aviation Forecasts</a:t>
            </a:r>
            <a:br>
              <a:rPr lang="en-US" sz="1600" b="1" u="sng" dirty="0">
                <a:solidFill>
                  <a:srgbClr val="FFFFFF"/>
                </a:solidFill>
              </a:rPr>
            </a:br>
            <a:r>
              <a:rPr lang="en-US" sz="1600" b="1" dirty="0">
                <a:solidFill>
                  <a:srgbClr val="FFFFFF"/>
                </a:solidFill>
              </a:rPr>
              <a:t>$580 </a:t>
            </a:r>
            <a:r>
              <a:rPr lang="en-US" sz="1600" b="1" dirty="0">
                <a:solidFill>
                  <a:srgbClr val="FFFFFF"/>
                </a:solidFill>
              </a:rPr>
              <a:t>million per </a:t>
            </a:r>
            <a:r>
              <a:rPr lang="en-US" sz="1600" b="1" dirty="0">
                <a:solidFill>
                  <a:srgbClr val="FFFFFF"/>
                </a:solidFill>
              </a:rPr>
              <a:t>year savings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25" name="Snip Single Corner Rectangle 24"/>
          <p:cNvSpPr/>
          <p:nvPr/>
        </p:nvSpPr>
        <p:spPr>
          <a:xfrm>
            <a:off x="6172200" y="3810000"/>
            <a:ext cx="2438400" cy="889000"/>
          </a:xfrm>
          <a:prstGeom prst="snip1Rect">
            <a:avLst/>
          </a:prstGeom>
          <a:solidFill>
            <a:srgbClr val="03495C">
              <a:alpha val="74902"/>
            </a:srgb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82880" rIns="182880" bIns="182880" anchor="b"/>
          <a:lstStyle/>
          <a:p>
            <a:pPr>
              <a:defRPr/>
            </a:pPr>
            <a:r>
              <a:rPr lang="en-US" sz="1600" b="1" u="sng" dirty="0">
                <a:solidFill>
                  <a:srgbClr val="FFFFFF"/>
                </a:solidFill>
              </a:rPr>
              <a:t>Hurricane forecasts</a:t>
            </a:r>
          </a:p>
          <a:p>
            <a:pPr>
              <a:defRPr/>
            </a:pPr>
            <a:r>
              <a:rPr lang="en-US" sz="1600" b="1" dirty="0">
                <a:solidFill>
                  <a:srgbClr val="FFFFFF"/>
                </a:solidFill>
              </a:rPr>
              <a:t>Save $640,000 </a:t>
            </a:r>
            <a:r>
              <a:rPr lang="en-US" sz="1600" b="1" dirty="0">
                <a:solidFill>
                  <a:srgbClr val="FFFFFF"/>
                </a:solidFill>
              </a:rPr>
              <a:t>per mile 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9" name="Snip Single Corner Rectangle 18"/>
          <p:cNvSpPr/>
          <p:nvPr/>
        </p:nvSpPr>
        <p:spPr>
          <a:xfrm>
            <a:off x="228600" y="4495800"/>
            <a:ext cx="2514600" cy="1117600"/>
          </a:xfrm>
          <a:prstGeom prst="snip1Rect">
            <a:avLst/>
          </a:prstGeom>
          <a:solidFill>
            <a:srgbClr val="002060">
              <a:alpha val="74902"/>
            </a:srgb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002">
            <a:schemeClr val="dk2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82880" rIns="182880" bIns="182880" anchor="b"/>
          <a:lstStyle/>
          <a:p>
            <a:pPr>
              <a:defRPr/>
            </a:pPr>
            <a:endParaRPr lang="en-US" sz="1600" b="1" dirty="0">
              <a:solidFill>
                <a:srgbClr val="FFFFFF"/>
              </a:solidFill>
            </a:endParaRPr>
          </a:p>
          <a:p>
            <a:pPr>
              <a:defRPr/>
            </a:pPr>
            <a:endParaRPr lang="en-US" sz="1600" b="1" dirty="0">
              <a:solidFill>
                <a:srgbClr val="FFFFFF"/>
              </a:solidFill>
            </a:endParaRPr>
          </a:p>
          <a:p>
            <a:pPr>
              <a:defRPr/>
            </a:pPr>
            <a:r>
              <a:rPr lang="en-US" sz="1600" b="1" u="sng" dirty="0">
                <a:solidFill>
                  <a:srgbClr val="FFFFFF"/>
                </a:solidFill>
              </a:rPr>
              <a:t>Flood losses</a:t>
            </a:r>
          </a:p>
          <a:p>
            <a:pPr>
              <a:defRPr/>
            </a:pPr>
            <a:r>
              <a:rPr lang="en-US" sz="1600" b="1" dirty="0">
                <a:solidFill>
                  <a:srgbClr val="FFFFFF"/>
                </a:solidFill>
              </a:rPr>
              <a:t>$240 million in economic benefits </a:t>
            </a:r>
            <a:r>
              <a:rPr lang="en-US" sz="1600" b="1" dirty="0">
                <a:solidFill>
                  <a:srgbClr val="FFFFFF"/>
                </a:solidFill>
              </a:rPr>
              <a:t>per </a:t>
            </a:r>
            <a:r>
              <a:rPr lang="en-US" sz="1600" b="1" dirty="0">
                <a:solidFill>
                  <a:srgbClr val="FFFFFF"/>
                </a:solidFill>
              </a:rPr>
              <a:t>year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2" grpId="0" animBg="1"/>
      <p:bldP spid="24" grpId="0" animBg="1"/>
      <p:bldP spid="17" grpId="0" animBg="1"/>
      <p:bldP spid="25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4916488" y="2840038"/>
            <a:ext cx="2189162" cy="1084262"/>
            <a:chOff x="4917266" y="2611652"/>
            <a:chExt cx="2189114" cy="1084327"/>
          </a:xfrm>
        </p:grpSpPr>
        <p:sp>
          <p:nvSpPr>
            <p:cNvPr id="19" name="Down Arrow 18"/>
            <p:cNvSpPr/>
            <p:nvPr/>
          </p:nvSpPr>
          <p:spPr>
            <a:xfrm rot="17145451">
              <a:off x="5469660" y="2059259"/>
              <a:ext cx="1084327" cy="2189114"/>
            </a:xfrm>
            <a:prstGeom prst="downArrow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 rot="900000">
              <a:off x="5299845" y="3011726"/>
              <a:ext cx="1635089" cy="33974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+mn-lt"/>
                  <a:cs typeface="Arial" pitchFamily="34" charset="0"/>
                </a:rPr>
                <a:t>PRIVATE SECTOR</a:t>
              </a:r>
            </a:p>
          </p:txBody>
        </p:sp>
      </p:grp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4414838" y="3502025"/>
            <a:ext cx="2189162" cy="1084263"/>
            <a:chOff x="4414580" y="3273199"/>
            <a:chExt cx="2189114" cy="1084327"/>
          </a:xfrm>
        </p:grpSpPr>
        <p:sp>
          <p:nvSpPr>
            <p:cNvPr id="22" name="Down Arrow 21"/>
            <p:cNvSpPr/>
            <p:nvPr/>
          </p:nvSpPr>
          <p:spPr>
            <a:xfrm rot="18823541">
              <a:off x="4966973" y="2720806"/>
              <a:ext cx="1084327" cy="2189114"/>
            </a:xfrm>
            <a:prstGeom prst="downArrow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 rot="2615168">
              <a:off x="4779697" y="3595481"/>
              <a:ext cx="1460468" cy="43023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en-US" sz="1100" b="1" dirty="0">
                  <a:solidFill>
                    <a:schemeClr val="accent5">
                      <a:lumMod val="75000"/>
                    </a:schemeClr>
                  </a:solidFill>
                  <a:latin typeface="+mn-lt"/>
                  <a:cs typeface="Arial" pitchFamily="34" charset="0"/>
                </a:rPr>
                <a:t>Non-GOVERNMENTAL </a:t>
              </a:r>
              <a:br>
                <a:rPr lang="en-US" sz="1100" b="1" dirty="0">
                  <a:solidFill>
                    <a:schemeClr val="accent5">
                      <a:lumMod val="75000"/>
                    </a:schemeClr>
                  </a:solidFill>
                  <a:latin typeface="+mn-lt"/>
                  <a:cs typeface="Arial" pitchFamily="34" charset="0"/>
                </a:rPr>
              </a:br>
              <a:r>
                <a:rPr lang="en-US" sz="1100" b="1" dirty="0">
                  <a:solidFill>
                    <a:schemeClr val="accent5">
                      <a:lumMod val="75000"/>
                    </a:schemeClr>
                  </a:solidFill>
                  <a:latin typeface="+mn-lt"/>
                  <a:cs typeface="Arial" pitchFamily="34" charset="0"/>
                </a:rPr>
                <a:t>ORGANIZATIONS</a:t>
              </a:r>
            </a:p>
          </p:txBody>
        </p:sp>
      </p:grpSp>
      <p:grpSp>
        <p:nvGrpSpPr>
          <p:cNvPr id="8" name="Group 39"/>
          <p:cNvGrpSpPr>
            <a:grpSpLocks/>
          </p:cNvGrpSpPr>
          <p:nvPr/>
        </p:nvGrpSpPr>
        <p:grpSpPr bwMode="auto">
          <a:xfrm>
            <a:off x="4029075" y="3124200"/>
            <a:ext cx="1085850" cy="2286000"/>
            <a:chOff x="4029836" y="2895600"/>
            <a:chExt cx="1084327" cy="2286000"/>
          </a:xfrm>
        </p:grpSpPr>
        <p:sp>
          <p:nvSpPr>
            <p:cNvPr id="23" name="Down Arrow 22"/>
            <p:cNvSpPr/>
            <p:nvPr/>
          </p:nvSpPr>
          <p:spPr>
            <a:xfrm>
              <a:off x="4029836" y="2895600"/>
              <a:ext cx="1084327" cy="2286000"/>
            </a:xfrm>
            <a:prstGeom prst="downArrow">
              <a:avLst>
                <a:gd name="adj1" fmla="val 50000"/>
                <a:gd name="adj2" fmla="val 50000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 rot="5400000">
              <a:off x="4025900" y="4076938"/>
              <a:ext cx="1092200" cy="3392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+mn-lt"/>
                  <a:cs typeface="Arial" pitchFamily="34" charset="0"/>
                </a:rPr>
                <a:t>ACADEMIA</a:t>
              </a:r>
            </a:p>
          </p:txBody>
        </p:sp>
      </p:grpSp>
      <p:grpSp>
        <p:nvGrpSpPr>
          <p:cNvPr id="9" name="Group 40"/>
          <p:cNvGrpSpPr>
            <a:grpSpLocks/>
          </p:cNvGrpSpPr>
          <p:nvPr/>
        </p:nvGrpSpPr>
        <p:grpSpPr bwMode="auto">
          <a:xfrm>
            <a:off x="2540000" y="3502025"/>
            <a:ext cx="2189163" cy="1084263"/>
            <a:chOff x="2540306" y="3273199"/>
            <a:chExt cx="2189114" cy="1084327"/>
          </a:xfrm>
        </p:grpSpPr>
        <p:sp>
          <p:nvSpPr>
            <p:cNvPr id="24" name="Down Arrow 23"/>
            <p:cNvSpPr/>
            <p:nvPr/>
          </p:nvSpPr>
          <p:spPr>
            <a:xfrm rot="2776459" flipH="1">
              <a:off x="3092700" y="2720806"/>
              <a:ext cx="1084327" cy="2189114"/>
            </a:xfrm>
            <a:prstGeom prst="downArrow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 rot="18900000">
              <a:off x="2851449" y="3647871"/>
              <a:ext cx="1547778" cy="3381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+mn-lt"/>
                  <a:cs typeface="Arial" pitchFamily="34" charset="0"/>
                </a:rPr>
                <a:t>INTERNATIONAL</a:t>
              </a:r>
            </a:p>
          </p:txBody>
        </p:sp>
      </p:grpSp>
      <p:grpSp>
        <p:nvGrpSpPr>
          <p:cNvPr id="10" name="Group 41"/>
          <p:cNvGrpSpPr>
            <a:grpSpLocks/>
          </p:cNvGrpSpPr>
          <p:nvPr/>
        </p:nvGrpSpPr>
        <p:grpSpPr bwMode="auto">
          <a:xfrm>
            <a:off x="2047875" y="2840038"/>
            <a:ext cx="2189163" cy="1084262"/>
            <a:chOff x="2048186" y="2611652"/>
            <a:chExt cx="2189114" cy="1084327"/>
          </a:xfrm>
        </p:grpSpPr>
        <p:sp>
          <p:nvSpPr>
            <p:cNvPr id="25" name="Down Arrow 24"/>
            <p:cNvSpPr/>
            <p:nvPr/>
          </p:nvSpPr>
          <p:spPr>
            <a:xfrm rot="4454549" flipH="1">
              <a:off x="2600580" y="2059258"/>
              <a:ext cx="1084327" cy="2189114"/>
            </a:xfrm>
            <a:prstGeom prst="downArrow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 dirty="0">
                <a:solidFill>
                  <a:srgbClr val="FFFFFF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 rot="20700000" flipH="1">
              <a:off x="2399016" y="2975211"/>
              <a:ext cx="1390619" cy="3381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+mn-lt"/>
                  <a:cs typeface="Arial" pitchFamily="34" charset="0"/>
                </a:rPr>
                <a:t>GOVERNMENT</a:t>
              </a:r>
            </a:p>
          </p:txBody>
        </p:sp>
      </p:grpSp>
      <p:sp>
        <p:nvSpPr>
          <p:cNvPr id="2765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NOAA’s Partnerships</a:t>
            </a:r>
          </a:p>
        </p:txBody>
      </p:sp>
      <p:sp>
        <p:nvSpPr>
          <p:cNvPr id="1024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2008 Satellite Direct Readout Conference</a:t>
            </a:r>
            <a:endParaRPr lang="en-US"/>
          </a:p>
        </p:txBody>
      </p:sp>
      <p:sp>
        <p:nvSpPr>
          <p:cNvPr id="10248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1DB66C-F1C9-47BA-9862-1410FCA61802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85800" y="1524000"/>
            <a:ext cx="7772400" cy="838200"/>
          </a:xfrm>
          <a:prstGeom prst="leftRightArrow">
            <a:avLst>
              <a:gd name="adj1" fmla="val 100000"/>
              <a:gd name="adj2" fmla="val 5000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/>
              <a:t>To meet today’s and tomorrow’s challenges, </a:t>
            </a:r>
            <a:br>
              <a:rPr lang="en-US" sz="2000" b="1" dirty="0"/>
            </a:br>
            <a:r>
              <a:rPr lang="en-US" sz="2000" b="1" dirty="0"/>
              <a:t>NOAA relies on active partnerships</a:t>
            </a:r>
          </a:p>
        </p:txBody>
      </p:sp>
      <p:pic>
        <p:nvPicPr>
          <p:cNvPr id="3074" name="Picture 2" descr="W:\Movies, Images and Sounds\Logos\The_Weather_Chann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15175" y="3429000"/>
            <a:ext cx="1004888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 descr="W:\Movies, Images and Sounds\Ships\PISCES_AnnetteShelby_Champagne.jpg"/>
          <p:cNvPicPr>
            <a:picLocks noChangeAspect="1" noChangeArrowheads="1"/>
          </p:cNvPicPr>
          <p:nvPr/>
        </p:nvPicPr>
        <p:blipFill>
          <a:blip r:embed="rId4"/>
          <a:srcRect t="14285"/>
          <a:stretch>
            <a:fillRect/>
          </a:stretch>
        </p:blipFill>
        <p:spPr bwMode="auto">
          <a:xfrm>
            <a:off x="8105775" y="2895600"/>
            <a:ext cx="8858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 descr="W:\Movies, Images and Sounds\Logos\amsseal-blue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200900" y="5105400"/>
            <a:ext cx="118110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 descr="W:\Movies, Images and Sounds\Logos\CoOL LogoColor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981700" y="5562600"/>
            <a:ext cx="1577975" cy="96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 descr="W:\Movies, Images and Sounds\Logos\AccuWeather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705600" y="4267200"/>
            <a:ext cx="1392238" cy="14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Picture 8" descr="W:\Movies, Images and Sounds\Computing\RS-6000 SP system.jpg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EFEFC"/>
              </a:clrFrom>
              <a:clrTo>
                <a:srgbClr val="FEFEF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7200" y="4038600"/>
            <a:ext cx="63817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2" name="Picture 10" descr="W:\Movies, Images and Sounds\Logos\MSI.pn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851275" y="4800600"/>
            <a:ext cx="1593850" cy="159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1" name="Picture 9" descr="W:\Movies, Images and Sounds\Logos\Sea_Grant_National.png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298950" y="5753100"/>
            <a:ext cx="118745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4" name="Picture 12" descr="W:\Movies, Images and Sounds\Logos\NMSF Primary Logo.png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735638" y="4572000"/>
            <a:ext cx="1503362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5" name="Picture 13" descr="W:\Movies, Images and Sounds\Logos\cimss_logo_trans3.gif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3308350" y="5753100"/>
            <a:ext cx="81915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6" name="noaaLogo" descr="W:\Movies, Images and Sounds\Logos\NOAA\NOAALil.png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886200" y="2286000"/>
            <a:ext cx="1371600" cy="137160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087" name="Picture 15" descr="W:\Movies, Images and Sounds\Logos\OFCM.png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47625" y="2895600"/>
            <a:ext cx="112395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9" name="Picture 17" descr="W:\Movies, Images and Sounds\Logos\Department of the Navy -- Science and Technology.png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990600" y="3429000"/>
            <a:ext cx="1144588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0" name="Picture 18" descr="W:\Movies, Images and Sounds\Logos\ccsp.jpg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228600" y="4267200"/>
            <a:ext cx="17859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OceanLeadershipLogoCS2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76200" y="3505200"/>
            <a:ext cx="91440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3" name="Picture 21" descr="W:\Movies, Images and Sounds\Logos\japaneseMeteorological.gif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2219325" y="5105400"/>
            <a:ext cx="13620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4" name="Picture 22" descr="W:\Movies, Images and Sounds\Logos\ICCAT logo.gif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1981200" y="5715000"/>
            <a:ext cx="1066800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5" name="Picture 23" descr="W:\Movies, Images and Sounds\Logos\ioc_logo.gif"/>
          <p:cNvPicPr>
            <a:picLocks noChangeAspect="1" noChangeArrowheads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3000" y="5791200"/>
            <a:ext cx="8096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8" name="Picture 26" descr="W:\Movies, Images and Sounds\Logos\International Whaling Commission.gif"/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14400" y="4876800"/>
            <a:ext cx="1047750" cy="87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00" name="Picture 28" descr="W:\Movies, Images and Sounds\Logos\ICES.png"/>
          <p:cNvPicPr>
            <a:picLocks noChangeAspect="1" noChangeArrowheads="1"/>
          </p:cNvPicPr>
          <p:nvPr/>
        </p:nvPicPr>
        <p:blipFill>
          <a:blip r:embed="rId22"/>
          <a:srcRect/>
          <a:stretch>
            <a:fillRect/>
          </a:stretch>
        </p:blipFill>
        <p:spPr bwMode="auto">
          <a:xfrm>
            <a:off x="304800" y="5562600"/>
            <a:ext cx="919163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0"/>
                            </p:stCondLst>
                            <p:childTnLst>
                              <p:par>
                                <p:cTn id="6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00"/>
                            </p:stCondLst>
                            <p:childTnLst>
                              <p:par>
                                <p:cTn id="8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0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0"/>
                            </p:stCondLst>
                            <p:childTnLst>
                              <p:par>
                                <p:cTn id="9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500"/>
                            </p:stCondLst>
                            <p:childTnLst>
                              <p:par>
                                <p:cTn id="9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3000"/>
                            </p:stCondLst>
                            <p:childTnLst>
                              <p:par>
                                <p:cTn id="12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3500"/>
                            </p:stCondLst>
                            <p:childTnLst>
                              <p:par>
                                <p:cTn id="13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3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4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Content Placeholder 11"/>
          <p:cNvSpPr>
            <a:spLocks noGrp="1"/>
          </p:cNvSpPr>
          <p:nvPr>
            <p:ph idx="4294967295"/>
          </p:nvPr>
        </p:nvSpPr>
        <p:spPr>
          <a:xfrm>
            <a:off x="304800" y="1600200"/>
            <a:ext cx="8534400" cy="1282700"/>
          </a:xfrm>
        </p:spPr>
        <p:txBody>
          <a:bodyPr anchor="ctr"/>
          <a:lstStyle/>
          <a:p>
            <a:pPr marL="0" indent="0">
              <a:buFontTx/>
              <a:buNone/>
            </a:pPr>
            <a:r>
              <a:rPr lang="en-US" sz="2400" b="1" smtClean="0"/>
              <a:t>GEO is coordinating international efforts to build a comprehensive, coordinated and sustained GEOSS</a:t>
            </a:r>
          </a:p>
        </p:txBody>
      </p:sp>
      <p:pic>
        <p:nvPicPr>
          <p:cNvPr id="29698" name="Picture 3" descr="W:\Movies, Images and Sounds\Earth Obs\GEO\GEOArtwork\Diagrams\illu_Systems_lowhre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2681288"/>
            <a:ext cx="6096000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Group on Earth Observations (GEO)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2008 Satellite Direct Readout Conference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1AAE7-70B4-4D1B-A9BF-918C37A545FE}" type="slidenum">
              <a:rPr lang="en-US"/>
              <a:pPr>
                <a:defRPr/>
              </a:pPr>
              <a:t>9</a:t>
            </a:fld>
            <a:endParaRPr lang="en-US"/>
          </a:p>
        </p:txBody>
      </p:sp>
      <p:pic>
        <p:nvPicPr>
          <p:cNvPr id="29702" name="Picture 4" descr="GEO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10000"/>
            <a:ext cx="3048000" cy="60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smtClean="0"/>
              <a:t>Global Earth Observation System of Systems (GEOSS)</a:t>
            </a:r>
          </a:p>
        </p:txBody>
      </p:sp>
      <p:sp>
        <p:nvSpPr>
          <p:cNvPr id="1229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2008 Satellite Direct Readout Conference</a:t>
            </a:r>
            <a:endParaRPr lang="en-US"/>
          </a:p>
        </p:txBody>
      </p:sp>
      <p:sp>
        <p:nvSpPr>
          <p:cNvPr id="12291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0D2356-5D69-44E5-AA0F-297222C0E16D}" type="slidenum">
              <a:rPr lang="en-US"/>
              <a:pPr>
                <a:defRPr/>
              </a:pPr>
              <a:t>10</a:t>
            </a:fld>
            <a:endParaRPr lang="en-US"/>
          </a:p>
        </p:txBody>
      </p:sp>
      <p:grpSp>
        <p:nvGrpSpPr>
          <p:cNvPr id="31748" name="Group 5"/>
          <p:cNvGrpSpPr>
            <a:grpSpLocks/>
          </p:cNvGrpSpPr>
          <p:nvPr/>
        </p:nvGrpSpPr>
        <p:grpSpPr bwMode="auto">
          <a:xfrm>
            <a:off x="685800" y="1752600"/>
            <a:ext cx="7772400" cy="4495800"/>
            <a:chOff x="2688" y="1776"/>
            <a:chExt cx="2928" cy="1776"/>
          </a:xfrm>
        </p:grpSpPr>
        <p:pic>
          <p:nvPicPr>
            <p:cNvPr id="31749" name="Picture 6" descr="dataManagement_Intl_shortText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688" y="1776"/>
              <a:ext cx="2928" cy="1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Oval 7"/>
            <p:cNvSpPr/>
            <p:nvPr/>
          </p:nvSpPr>
          <p:spPr>
            <a:xfrm>
              <a:off x="3337" y="2397"/>
              <a:ext cx="1646" cy="412"/>
            </a:xfrm>
            <a:prstGeom prst="ellipse">
              <a:avLst/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0"/>
            </a:gradFill>
          </p:spPr>
          <p:style>
            <a:lnRef idx="2">
              <a:schemeClr val="accent1">
                <a:shade val="50000"/>
              </a:schemeClr>
            </a:lnRef>
            <a:fillRef idx="1003">
              <a:schemeClr val="l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2"/>
                  </a:solidFill>
                </a:rPr>
                <a:t>Environmental Information Systems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4" descr="nasa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1473200"/>
            <a:ext cx="4572000" cy="501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4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Predicting, Preventing, Preparing</a:t>
            </a:r>
          </a:p>
        </p:txBody>
      </p:sp>
      <p:sp>
        <p:nvSpPr>
          <p:cNvPr id="13317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2008 Satellite Direct Readout Conference</a:t>
            </a:r>
            <a:endParaRPr lang="en-US"/>
          </a:p>
        </p:txBody>
      </p:sp>
      <p:sp>
        <p:nvSpPr>
          <p:cNvPr id="13316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3C204-41DB-4CB3-8D61-E04C45EE0854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3797" name="Rectangle 3"/>
          <p:cNvSpPr>
            <a:spLocks noChangeArrowheads="1"/>
          </p:cNvSpPr>
          <p:nvPr/>
        </p:nvSpPr>
        <p:spPr bwMode="auto">
          <a:xfrm>
            <a:off x="5248275" y="6248400"/>
            <a:ext cx="1530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chemeClr val="bg1"/>
                </a:solidFill>
                <a:latin typeface="Arial Narrow" pitchFamily="34" charset="0"/>
              </a:rPr>
              <a:t>NASA/USGS/NOAA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Visualizing Movement of Polluted Air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2008 Satellite Direct Readout Conference</a:t>
            </a:r>
            <a:endParaRPr lang="en-US"/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8490B7-DD72-40BF-823F-6F642A1F903E}" type="slidenum">
              <a:rPr lang="en-US"/>
              <a:pPr>
                <a:defRPr/>
              </a:pPr>
              <a:t>12</a:t>
            </a:fld>
            <a:endParaRPr lang="en-US"/>
          </a:p>
        </p:txBody>
      </p:sp>
      <p:pic>
        <p:nvPicPr>
          <p:cNvPr id="6" name="globe.wmv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524000" y="1676400"/>
            <a:ext cx="6096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5" descr="newOrleansFloodMap.png"/>
          <p:cNvPicPr>
            <a:picLocks noChangeAspect="1"/>
          </p:cNvPicPr>
          <p:nvPr/>
        </p:nvPicPr>
        <p:blipFill>
          <a:blip r:embed="rId3"/>
          <a:srcRect b="16451"/>
          <a:stretch>
            <a:fillRect/>
          </a:stretch>
        </p:blipFill>
        <p:spPr bwMode="auto">
          <a:xfrm>
            <a:off x="533400" y="1676400"/>
            <a:ext cx="80772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0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New Orleans </a:t>
            </a:r>
            <a:br>
              <a:rPr lang="en-US" smtClean="0"/>
            </a:br>
            <a:r>
              <a:rPr lang="en-US" smtClean="0"/>
              <a:t>Flood Map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2008 Satellite Direct Readout Conference</a:t>
            </a:r>
            <a:endParaRPr lang="en-US"/>
          </a:p>
        </p:txBody>
      </p:sp>
      <p:sp>
        <p:nvSpPr>
          <p:cNvPr id="15364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1BD6F-ACB9-4A40-8E0C-C84A01CCF5EF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GEONetCast &amp; SERVIR</a:t>
            </a:r>
          </a:p>
        </p:txBody>
      </p:sp>
      <p:sp>
        <p:nvSpPr>
          <p:cNvPr id="16394" name="Footer Placeholder 1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2008 Satellite Direct Readout Conference</a:t>
            </a:r>
            <a:endParaRPr lang="en-US"/>
          </a:p>
        </p:txBody>
      </p:sp>
      <p:sp>
        <p:nvSpPr>
          <p:cNvPr id="1639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C51B72-9314-4BD4-A350-D983DD2F7143}" type="slidenum">
              <a:rPr lang="en-US"/>
              <a:pPr>
                <a:defRPr/>
              </a:pPr>
              <a:t>14</a:t>
            </a:fld>
            <a:endParaRPr lang="en-US"/>
          </a:p>
        </p:txBody>
      </p:sp>
      <p:pic>
        <p:nvPicPr>
          <p:cNvPr id="39940" name="Picture 2" descr="W:\Movies, Images and Sounds\Earth Obs\geonetcast_coverag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041525"/>
            <a:ext cx="5715000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41" name="TextBox 5"/>
          <p:cNvSpPr txBox="1">
            <a:spLocks noChangeArrowheads="1"/>
          </p:cNvSpPr>
          <p:nvPr/>
        </p:nvSpPr>
        <p:spPr bwMode="auto">
          <a:xfrm>
            <a:off x="825500" y="1660525"/>
            <a:ext cx="4064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  <a:latin typeface="Arial Black" pitchFamily="34" charset="0"/>
              </a:rPr>
              <a:t>Current GEONetCast Coverage</a:t>
            </a:r>
          </a:p>
        </p:txBody>
      </p:sp>
      <p:pic>
        <p:nvPicPr>
          <p:cNvPr id="39942" name="Picture 3" descr="W:\Movies, Images and Sounds\Earth Obs\SERVIR-Viz-Snap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8763" y="3048000"/>
            <a:ext cx="3729037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43" name="TextBox 7"/>
          <p:cNvSpPr txBox="1">
            <a:spLocks noChangeArrowheads="1"/>
          </p:cNvSpPr>
          <p:nvPr/>
        </p:nvSpPr>
        <p:spPr bwMode="auto">
          <a:xfrm>
            <a:off x="6135688" y="2667000"/>
            <a:ext cx="21351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  <a:latin typeface="Arial Black" pitchFamily="34" charset="0"/>
              </a:rPr>
              <a:t>SERVIR Project</a:t>
            </a:r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7745413" y="6248400"/>
            <a:ext cx="132238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>
                <a:latin typeface="Franklin Gothic Demi Cond" pitchFamily="34" charset="0"/>
              </a:rPr>
              <a:t>SERVIR Viz (IAGT </a:t>
            </a:r>
            <a:r>
              <a:rPr lang="en-US" sz="1200" baseline="30000">
                <a:latin typeface="Franklin Gothic Demi Cond" pitchFamily="34" charset="0"/>
              </a:rPr>
              <a:t>©</a:t>
            </a:r>
            <a:r>
              <a:rPr lang="en-US" sz="1200">
                <a:latin typeface="Franklin Gothic Demi Cond" pitchFamily="34" charset="0"/>
              </a:rPr>
              <a:t>)</a:t>
            </a:r>
          </a:p>
        </p:txBody>
      </p:sp>
      <p:sp>
        <p:nvSpPr>
          <p:cNvPr id="39945" name="Rectangle 9"/>
          <p:cNvSpPr>
            <a:spLocks noChangeArrowheads="1"/>
          </p:cNvSpPr>
          <p:nvPr/>
        </p:nvSpPr>
        <p:spPr bwMode="auto">
          <a:xfrm>
            <a:off x="381000" y="4927600"/>
            <a:ext cx="45720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solidFill>
                  <a:schemeClr val="bg2"/>
                </a:solidFill>
                <a:latin typeface="Arial Narrow" pitchFamily="34" charset="0"/>
              </a:rPr>
              <a:t>GEONETCast and SERVIR address key issues — data access and utilization — which are critical to every member of GEO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endParaRPr lang="en-US" dirty="0" smtClean="0"/>
          </a:p>
        </p:txBody>
      </p:sp>
      <p:sp>
        <p:nvSpPr>
          <p:cNvPr id="4198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spcBef>
                <a:spcPct val="0"/>
              </a:spcBef>
              <a:buFontTx/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uxton_EnergyBriefing">
  <a:themeElements>
    <a:clrScheme name="Edited Multis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B5394"/>
      </a:hlink>
      <a:folHlink>
        <a:srgbClr val="85DFD0"/>
      </a:folHlink>
    </a:clrScheme>
    <a:fontScheme name="Office Classic 3">
      <a:majorFont>
        <a:latin typeface="Arial Black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None/>
          <a:defRPr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OEd</Template>
  <TotalTime>1508</TotalTime>
  <Words>489</Words>
  <Application>Microsoft Office PowerPoint</Application>
  <PresentationFormat>On-screen Show (4:3)</PresentationFormat>
  <Paragraphs>112</Paragraphs>
  <Slides>15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Design Template</vt:lpstr>
      </vt:variant>
      <vt:variant>
        <vt:i4>5</vt:i4>
      </vt:variant>
      <vt:variant>
        <vt:lpstr>Slide Titles</vt:lpstr>
      </vt:variant>
      <vt:variant>
        <vt:i4>15</vt:i4>
      </vt:variant>
    </vt:vector>
  </HeadingPairs>
  <TitlesOfParts>
    <vt:vector size="30" baseType="lpstr">
      <vt:lpstr>Arial</vt:lpstr>
      <vt:lpstr>Arial Black</vt:lpstr>
      <vt:lpstr>Arial Narrow</vt:lpstr>
      <vt:lpstr>Franklin Gothic Medium Cond</vt:lpstr>
      <vt:lpstr>Franklin Gothic Heavy</vt:lpstr>
      <vt:lpstr>Technical</vt:lpstr>
      <vt:lpstr>Franklin Gothic Demi Cond</vt:lpstr>
      <vt:lpstr>Webdings</vt:lpstr>
      <vt:lpstr>ＭＳ Ｐゴシック</vt:lpstr>
      <vt:lpstr>Franklin Gothic Book</vt:lpstr>
      <vt:lpstr>luxton_EnergyBriefing</vt:lpstr>
      <vt:lpstr>luxton_EnergyBriefing</vt:lpstr>
      <vt:lpstr>luxton_EnergyBriefing</vt:lpstr>
      <vt:lpstr>luxton_EnergyBriefing</vt:lpstr>
      <vt:lpstr>luxton_EnergyBriefing</vt:lpstr>
      <vt:lpstr>2008 Satellite Direct Readout Conference</vt:lpstr>
      <vt:lpstr>NOAA’s Mission</vt:lpstr>
      <vt:lpstr>NOAA’s Vision</vt:lpstr>
      <vt:lpstr>NOAA Data &amp; Information are Essential for…</vt:lpstr>
      <vt:lpstr>Supporting NOAA’s Mission  Why are satellite-based observations key?</vt:lpstr>
      <vt:lpstr>NOAA Products  and Services</vt:lpstr>
      <vt:lpstr>NOAA is Vital to the Economy and Lives</vt:lpstr>
      <vt:lpstr>NOAA’s Partnerships</vt:lpstr>
      <vt:lpstr>Group on Earth Observations (GEO)</vt:lpstr>
      <vt:lpstr>Global Earth Observation System of Systems (GEOSS)</vt:lpstr>
      <vt:lpstr>Predicting, Preventing, Preparing</vt:lpstr>
      <vt:lpstr>Visualizing Movement of Polluted Air</vt:lpstr>
      <vt:lpstr>New Orleans  Flood Map</vt:lpstr>
      <vt:lpstr>GEONetCast &amp; SERVIR</vt:lpstr>
      <vt:lpstr>Slide 15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 Huff</dc:creator>
  <cp:lastModifiedBy>Letecia.Reeves</cp:lastModifiedBy>
  <cp:revision>105</cp:revision>
  <dcterms:created xsi:type="dcterms:W3CDTF">2008-11-25T16:20:19Z</dcterms:created>
  <dcterms:modified xsi:type="dcterms:W3CDTF">2008-12-08T14:21:36Z</dcterms:modified>
</cp:coreProperties>
</file>