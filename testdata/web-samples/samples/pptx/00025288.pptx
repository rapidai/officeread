
<file path=[Content_Types].xml><?xml version="1.0" encoding="utf-8"?>
<Types xmlns="http://schemas.openxmlformats.org/package/2006/content-types">
  <Default Extension="xml" ContentType="application/xml"/>
  <Default Extension="jpeg" ContentType="image/jpeg"/>
  <Default Extension="jpg" ContentType="image/jpeg"/>
  <Default Extension="rels" ContentType="application/vnd.openxmlformats-package.relationships+xml"/>
  <Default Extension="wdp" ContentType="image/vnd.ms-photo"/>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537" r:id="rId1"/>
    <p:sldMasterId id="2147484549" r:id="rId2"/>
    <p:sldMasterId id="2147484561" r:id="rId3"/>
    <p:sldMasterId id="2147484573" r:id="rId4"/>
    <p:sldMasterId id="2147484585" r:id="rId5"/>
  </p:sldMasterIdLst>
  <p:sldIdLst>
    <p:sldId id="256" r:id="rId6"/>
    <p:sldId id="257" r:id="rId7"/>
    <p:sldId id="258" r:id="rId8"/>
    <p:sldId id="259" r:id="rId9"/>
    <p:sldId id="260" r:id="rId10"/>
    <p:sldId id="262" r:id="rId11"/>
    <p:sldId id="287" r:id="rId12"/>
    <p:sldId id="289" r:id="rId13"/>
    <p:sldId id="290" r:id="rId14"/>
    <p:sldId id="291" r:id="rId15"/>
    <p:sldId id="293" r:id="rId16"/>
    <p:sldId id="294" r:id="rId17"/>
    <p:sldId id="295" r:id="rId18"/>
    <p:sldId id="298" r:id="rId19"/>
    <p:sldId id="296" r:id="rId20"/>
    <p:sldId id="297" r:id="rId21"/>
    <p:sldId id="263" r:id="rId22"/>
    <p:sldId id="264" r:id="rId23"/>
    <p:sldId id="285" r:id="rId24"/>
    <p:sldId id="265" r:id="rId25"/>
    <p:sldId id="266" r:id="rId26"/>
    <p:sldId id="267" r:id="rId27"/>
    <p:sldId id="286" r:id="rId28"/>
    <p:sldId id="270" r:id="rId29"/>
    <p:sldId id="271" r:id="rId30"/>
    <p:sldId id="268" r:id="rId31"/>
    <p:sldId id="269" r:id="rId32"/>
    <p:sldId id="272" r:id="rId33"/>
    <p:sldId id="273" r:id="rId34"/>
    <p:sldId id="274" r:id="rId35"/>
    <p:sldId id="275" r:id="rId36"/>
    <p:sldId id="283" r:id="rId37"/>
    <p:sldId id="284" r:id="rId38"/>
    <p:sldId id="278" r:id="rId39"/>
    <p:sldId id="276" r:id="rId40"/>
    <p:sldId id="277" r:id="rId41"/>
    <p:sldId id="279" r:id="rId42"/>
    <p:sldId id="280" r:id="rId43"/>
    <p:sldId id="281" r:id="rId44"/>
    <p:sldId id="282"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D9E142"/>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7" autoAdjust="0"/>
  </p:normalViewPr>
  <p:slideViewPr>
    <p:cSldViewPr snapToGrid="0" snapToObjects="1">
      <p:cViewPr>
        <p:scale>
          <a:sx n="95" d="100"/>
          <a:sy n="95" d="100"/>
        </p:scale>
        <p:origin x="-1776" y="-40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46" Type="http://schemas.openxmlformats.org/officeDocument/2006/relationships/printerSettings" Target="printerSettings/printerSettings1.bin"/><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5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9" Type="http://schemas.openxmlformats.org/officeDocument/2006/relationships/slide" Target="slides/slide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8E80666-FB37-4B36-9149-507F3B0178E3}" type="datetimeFigureOut">
              <a:rPr lang="en-US" smtClean="0"/>
              <a:pPr/>
              <a:t>12-04-12</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739C4FB-7D33-419B-8833-D1372BFD11C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28E80666-FB37-4B36-9149-507F3B0178E3}" type="datetimeFigureOut">
              <a:rPr lang="en-US" smtClean="0"/>
              <a:pPr/>
              <a:t>12-04-12</a:t>
            </a:fld>
            <a:endParaRPr lang="en-US"/>
          </a:p>
        </p:txBody>
      </p:sp>
      <p:sp>
        <p:nvSpPr>
          <p:cNvPr id="8" name="Slide Number Placeholder 7"/>
          <p:cNvSpPr>
            <a:spLocks noGrp="1"/>
          </p:cNvSpPr>
          <p:nvPr>
            <p:ph type="sldNum" sz="quarter" idx="11"/>
          </p:nvPr>
        </p:nvSpPr>
        <p:spPr/>
        <p:txBody>
          <a:bodyPr/>
          <a:lstStyle/>
          <a:p>
            <a:fld id="{D7E63A33-8271-4DD0-9C48-789913D7C115}"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EE1ED5D-F858-CF4C-9794-134BC5F9C65B}" type="datetimeFigureOut">
              <a:rPr lang="en-US" smtClean="0"/>
              <a:t>12-04-12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E1ED5D-F858-CF4C-9794-134BC5F9C65B}" type="datetimeFigureOut">
              <a:rPr lang="en-US" smtClean="0"/>
              <a:t>12-04-12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E1ED5D-F858-CF4C-9794-134BC5F9C65B}" type="datetimeFigureOut">
              <a:rPr lang="en-US" smtClean="0"/>
              <a:t>12-04-12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9A01B3B-B159-2A4C-81FE-51D39E36B5CF}" type="slidenum">
              <a:rPr lang="en-US" smtClean="0"/>
              <a:t>‹#›</a:t>
            </a:fld>
            <a:endParaRPr 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en-US" smtClean="0"/>
              <a:t>Click to edit Master title style</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8E80666-FB37-4B36-9149-507F3B0178E3}" type="datetimeFigureOut">
              <a:rPr lang="en-US" smtClean="0"/>
              <a:pPr/>
              <a:t>12-04-12</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739C4FB-7D33-419B-8833-D1372BFD11C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28E80666-FB37-4B36-9149-507F3B0178E3}" type="datetimeFigureOut">
              <a:rPr lang="en-US" smtClean="0"/>
              <a:pPr/>
              <a:t>12-04-12</a:t>
            </a:fld>
            <a:endParaRPr lang="en-US"/>
          </a:p>
        </p:txBody>
      </p:sp>
      <p:sp>
        <p:nvSpPr>
          <p:cNvPr id="8" name="Slide Number Placeholder 7"/>
          <p:cNvSpPr>
            <a:spLocks noGrp="1"/>
          </p:cNvSpPr>
          <p:nvPr>
            <p:ph type="sldNum" sz="quarter" idx="11"/>
          </p:nvPr>
        </p:nvSpPr>
        <p:spPr/>
        <p:txBody>
          <a:bodyPr/>
          <a:lstStyle/>
          <a:p>
            <a:fld id="{D7E63A33-8271-4DD0-9C48-789913D7C115}"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EE1ED5D-F858-CF4C-9794-134BC5F9C65B}" type="datetimeFigureOut">
              <a:rPr lang="en-US" smtClean="0"/>
              <a:t>12-04-12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E1ED5D-F858-CF4C-9794-134BC5F9C65B}" type="datetimeFigureOut">
              <a:rPr lang="en-US" smtClean="0"/>
              <a:t>12-04-12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E1ED5D-F858-CF4C-9794-134BC5F9C65B}" type="datetimeFigureOut">
              <a:rPr lang="en-US" smtClean="0"/>
              <a:t>12-04-12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9A01B3B-B159-2A4C-81FE-51D39E36B5CF}" type="slidenum">
              <a:rPr lang="en-US" smtClean="0"/>
              <a:t>‹#›</a:t>
            </a:fld>
            <a:endParaRPr 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en-US" smtClean="0"/>
              <a:t>Click to edit Master title style</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8E80666-FB37-4B36-9149-507F3B0178E3}" type="datetimeFigureOut">
              <a:rPr lang="en-US" smtClean="0"/>
              <a:pPr/>
              <a:t>12-04-12</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739C4FB-7D33-419B-8833-D1372BFD11C8}"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28E80666-FB37-4B36-9149-507F3B0178E3}" type="datetimeFigureOut">
              <a:rPr lang="en-US" smtClean="0"/>
              <a:pPr/>
              <a:t>12-04-12</a:t>
            </a:fld>
            <a:endParaRPr lang="en-US"/>
          </a:p>
        </p:txBody>
      </p:sp>
      <p:sp>
        <p:nvSpPr>
          <p:cNvPr id="8" name="Slide Number Placeholder 7"/>
          <p:cNvSpPr>
            <a:spLocks noGrp="1"/>
          </p:cNvSpPr>
          <p:nvPr>
            <p:ph type="sldNum" sz="quarter" idx="11"/>
          </p:nvPr>
        </p:nvSpPr>
        <p:spPr/>
        <p:txBody>
          <a:bodyPr/>
          <a:lstStyle/>
          <a:p>
            <a:fld id="{D7E63A33-8271-4DD0-9C48-789913D7C115}"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EE1ED5D-F858-CF4C-9794-134BC5F9C65B}" type="datetimeFigureOut">
              <a:rPr lang="en-US" smtClean="0"/>
              <a:t>12-04-12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E1ED5D-F858-CF4C-9794-134BC5F9C65B}" type="datetimeFigureOut">
              <a:rPr lang="en-US" smtClean="0"/>
              <a:t>12-04-12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E1ED5D-F858-CF4C-9794-134BC5F9C65B}" type="datetimeFigureOut">
              <a:rPr lang="en-US" smtClean="0"/>
              <a:t>12-04-12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9A01B3B-B159-2A4C-81FE-51D39E36B5CF}" type="slidenum">
              <a:rPr lang="en-US" smtClean="0"/>
              <a:t>‹#›</a:t>
            </a:fld>
            <a:endParaRPr 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en-US" smtClean="0"/>
              <a:t>Click to edit Master title style</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8E80666-FB37-4B36-9149-507F3B0178E3}" type="datetimeFigureOut">
              <a:rPr lang="en-US" smtClean="0"/>
              <a:pPr/>
              <a:t>12-04-12</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739C4FB-7D33-419B-8833-D1372BFD11C8}"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28E80666-FB37-4B36-9149-507F3B0178E3}" type="datetimeFigureOut">
              <a:rPr lang="en-US" smtClean="0"/>
              <a:pPr/>
              <a:t>12-04-12</a:t>
            </a:fld>
            <a:endParaRPr lang="en-US"/>
          </a:p>
        </p:txBody>
      </p:sp>
      <p:sp>
        <p:nvSpPr>
          <p:cNvPr id="8" name="Slide Number Placeholder 7"/>
          <p:cNvSpPr>
            <a:spLocks noGrp="1"/>
          </p:cNvSpPr>
          <p:nvPr>
            <p:ph type="sldNum" sz="quarter" idx="11"/>
          </p:nvPr>
        </p:nvSpPr>
        <p:spPr/>
        <p:txBody>
          <a:bodyPr/>
          <a:lstStyle/>
          <a:p>
            <a:fld id="{D7E63A33-8271-4DD0-9C48-789913D7C115}"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EE1ED5D-F858-CF4C-9794-134BC5F9C65B}" type="datetimeFigureOut">
              <a:rPr lang="en-US" smtClean="0"/>
              <a:t>12-04-12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E1ED5D-F858-CF4C-9794-134BC5F9C65B}" type="datetimeFigureOut">
              <a:rPr lang="en-US" smtClean="0"/>
              <a:t>12-04-12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E1ED5D-F858-CF4C-9794-134BC5F9C65B}" type="datetimeFigureOut">
              <a:rPr lang="en-US" smtClean="0"/>
              <a:t>12-04-12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9A01B3B-B159-2A4C-81FE-51D39E36B5CF}" type="slidenum">
              <a:rPr lang="en-US" smtClean="0"/>
              <a:t>‹#›</a:t>
            </a:fld>
            <a:endParaRPr 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en-US" smtClean="0"/>
              <a:t>Click to edit Master title style</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8E80666-FB37-4B36-9149-507F3B0178E3}" type="datetimeFigureOut">
              <a:rPr lang="en-US" smtClean="0"/>
              <a:pPr/>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39C4FB-7D33-419B-8833-D1372BFD11C8}" type="slidenum">
              <a:rPr lang="en-US" smtClean="0"/>
              <a:t>‹#›</a:t>
            </a:fld>
            <a:endParaRPr lang="en-US"/>
          </a:p>
        </p:txBody>
      </p:sp>
    </p:spTree>
    <p:extLst>
      <p:ext uri="{BB962C8B-B14F-4D97-AF65-F5344CB8AC3E}">
        <p14:creationId xmlns:p14="http://schemas.microsoft.com/office/powerpoint/2010/main" val="27020199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extLst>
      <p:ext uri="{BB962C8B-B14F-4D97-AF65-F5344CB8AC3E}">
        <p14:creationId xmlns:p14="http://schemas.microsoft.com/office/powerpoint/2010/main" val="22759333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E80666-FB37-4B36-9149-507F3B0178E3}" type="datetimeFigureOut">
              <a:rPr lang="en-US" smtClean="0"/>
              <a:pPr/>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63A33-8271-4DD0-9C48-789913D7C115}" type="slidenum">
              <a:rPr lang="en-US" smtClean="0"/>
              <a:pPr/>
              <a:t>‹#›</a:t>
            </a:fld>
            <a:endParaRPr lang="en-US"/>
          </a:p>
        </p:txBody>
      </p:sp>
    </p:spTree>
    <p:extLst>
      <p:ext uri="{BB962C8B-B14F-4D97-AF65-F5344CB8AC3E}">
        <p14:creationId xmlns:p14="http://schemas.microsoft.com/office/powerpoint/2010/main" val="17989526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A01B3B-B159-2A4C-81FE-51D39E36B5CF}" type="slidenum">
              <a:rPr lang="en-US" smtClean="0"/>
              <a:t>‹#›</a:t>
            </a:fld>
            <a:endParaRPr lang="en-US"/>
          </a:p>
        </p:txBody>
      </p:sp>
    </p:spTree>
    <p:extLst>
      <p:ext uri="{BB962C8B-B14F-4D97-AF65-F5344CB8AC3E}">
        <p14:creationId xmlns:p14="http://schemas.microsoft.com/office/powerpoint/2010/main" val="10343016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EE1ED5D-F858-CF4C-9794-134BC5F9C65B}" type="datetimeFigureOut">
              <a:rPr lang="en-US" smtClean="0"/>
              <a:t>12-04-12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A01B3B-B159-2A4C-81FE-51D39E36B5CF}" type="slidenum">
              <a:rPr lang="en-US" smtClean="0"/>
              <a:t>‹#›</a:t>
            </a:fld>
            <a:endParaRPr lang="en-US"/>
          </a:p>
        </p:txBody>
      </p:sp>
    </p:spTree>
    <p:extLst>
      <p:ext uri="{BB962C8B-B14F-4D97-AF65-F5344CB8AC3E}">
        <p14:creationId xmlns:p14="http://schemas.microsoft.com/office/powerpoint/2010/main" val="14179409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E1ED5D-F858-CF4C-9794-134BC5F9C65B}" type="datetimeFigureOut">
              <a:rPr lang="en-US" smtClean="0"/>
              <a:t>12-04-12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A01B3B-B159-2A4C-81FE-51D39E36B5CF}" type="slidenum">
              <a:rPr lang="en-US" smtClean="0"/>
              <a:t>‹#›</a:t>
            </a:fld>
            <a:endParaRPr lang="en-US"/>
          </a:p>
        </p:txBody>
      </p:sp>
    </p:spTree>
    <p:extLst>
      <p:ext uri="{BB962C8B-B14F-4D97-AF65-F5344CB8AC3E}">
        <p14:creationId xmlns:p14="http://schemas.microsoft.com/office/powerpoint/2010/main" val="6560677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E1ED5D-F858-CF4C-9794-134BC5F9C65B}" type="datetimeFigureOut">
              <a:rPr lang="en-US" smtClean="0"/>
              <a:t>12-04-12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A01B3B-B159-2A4C-81FE-51D39E36B5CF}" type="slidenum">
              <a:rPr lang="en-US" smtClean="0"/>
              <a:t>‹#›</a:t>
            </a:fld>
            <a:endParaRPr lang="en-US"/>
          </a:p>
        </p:txBody>
      </p:sp>
    </p:spTree>
    <p:extLst>
      <p:ext uri="{BB962C8B-B14F-4D97-AF65-F5344CB8AC3E}">
        <p14:creationId xmlns:p14="http://schemas.microsoft.com/office/powerpoint/2010/main" val="12491287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p14="http://schemas.microsoft.com/office/powerpoint/2010/main" val="273011619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E1ED5D-F858-CF4C-9794-134BC5F9C65B}" type="datetimeFigureOut">
              <a:rPr lang="en-US" smtClean="0"/>
              <a:t>12-04-12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A01B3B-B159-2A4C-81FE-51D39E36B5CF}" type="slidenum">
              <a:rPr lang="en-US" smtClean="0"/>
              <a:t>‹#›</a:t>
            </a:fld>
            <a:endParaRPr lang="en-US"/>
          </a:p>
        </p:txBody>
      </p:sp>
    </p:spTree>
    <p:extLst>
      <p:ext uri="{BB962C8B-B14F-4D97-AF65-F5344CB8AC3E}">
        <p14:creationId xmlns:p14="http://schemas.microsoft.com/office/powerpoint/2010/main" val="5065745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extLst>
      <p:ext uri="{BB962C8B-B14F-4D97-AF65-F5344CB8AC3E}">
        <p14:creationId xmlns:p14="http://schemas.microsoft.com/office/powerpoint/2010/main" val="29494982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E1ED5D-F858-CF4C-9794-134BC5F9C65B}" type="datetimeFigureOut">
              <a:rPr lang="en-US" smtClean="0"/>
              <a:t>12-04-12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A01B3B-B159-2A4C-81FE-51D39E36B5CF}" type="slidenum">
              <a:rPr lang="en-US" smtClean="0"/>
              <a:t>‹#›</a:t>
            </a:fld>
            <a:endParaRPr lang="en-US"/>
          </a:p>
        </p:txBody>
      </p:sp>
    </p:spTree>
    <p:extLst>
      <p:ext uri="{BB962C8B-B14F-4D97-AF65-F5344CB8AC3E}">
        <p14:creationId xmlns:p14="http://schemas.microsoft.com/office/powerpoint/2010/main" val="142794122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2" Type="http://schemas.openxmlformats.org/officeDocument/2006/relationships/theme" Target="../theme/theme3.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4.xml"/><Relationship Id="rId12" Type="http://schemas.openxmlformats.org/officeDocument/2006/relationships/theme" Target="../theme/theme4.xml"/><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5.xml"/><Relationship Id="rId12" Type="http://schemas.openxmlformats.org/officeDocument/2006/relationships/theme" Target="../theme/theme5.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4EE1ED5D-F858-CF4C-9794-134BC5F9C65B}" type="datetimeFigureOut">
              <a:rPr lang="en-US" smtClean="0"/>
              <a:t>12-04-12</a:t>
            </a:fld>
            <a:endParaRPr 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C9A01B3B-B159-2A4C-81FE-51D39E36B5CF}" type="slidenum">
              <a:rPr lang="en-US" smtClean="0"/>
              <a:t>‹#›</a:t>
            </a:fld>
            <a:endParaRPr lang="en-US"/>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dk1" tx1="lt1" bg2="dk2" tx2="lt2" accent1="accent1" accent2="accent2" accent3="accent3" accent4="accent4" accent5="accent5" accent6="accent6" hlink="hlink" folHlink="folHlink"/>
  <p:sldLayoutIdLst>
    <p:sldLayoutId id="2147484538" r:id="rId1"/>
    <p:sldLayoutId id="2147484539" r:id="rId2"/>
    <p:sldLayoutId id="2147484540" r:id="rId3"/>
    <p:sldLayoutId id="2147484541" r:id="rId4"/>
    <p:sldLayoutId id="2147484542" r:id="rId5"/>
    <p:sldLayoutId id="2147484543" r:id="rId6"/>
    <p:sldLayoutId id="2147484544" r:id="rId7"/>
    <p:sldLayoutId id="2147484545" r:id="rId8"/>
    <p:sldLayoutId id="2147484546" r:id="rId9"/>
    <p:sldLayoutId id="2147484547" r:id="rId10"/>
    <p:sldLayoutId id="2147484548"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342900" indent="-342900" algn="l" defTabSz="914400" rtl="0" eaLnBrk="1" latinLnBrk="0" hangingPunct="1">
        <a:spcBef>
          <a:spcPct val="20000"/>
        </a:spcBef>
        <a:spcAft>
          <a:spcPts val="600"/>
        </a:spcAft>
        <a:buFont typeface="Wingdings" charset="2"/>
        <a:buChar char="q"/>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4EE1ED5D-F858-CF4C-9794-134BC5F9C65B}" type="datetimeFigureOut">
              <a:rPr lang="en-US" smtClean="0"/>
              <a:t>12-04-12</a:t>
            </a:fld>
            <a:endParaRPr 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C9A01B3B-B159-2A4C-81FE-51D39E36B5CF}" type="slidenum">
              <a:rPr lang="en-US" smtClean="0"/>
              <a:t>‹#›</a:t>
            </a:fld>
            <a:endParaRPr lang="en-US"/>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4550" r:id="rId1"/>
    <p:sldLayoutId id="2147484551" r:id="rId2"/>
    <p:sldLayoutId id="2147484552" r:id="rId3"/>
    <p:sldLayoutId id="2147484553" r:id="rId4"/>
    <p:sldLayoutId id="2147484554" r:id="rId5"/>
    <p:sldLayoutId id="2147484555" r:id="rId6"/>
    <p:sldLayoutId id="2147484556" r:id="rId7"/>
    <p:sldLayoutId id="2147484557" r:id="rId8"/>
    <p:sldLayoutId id="2147484558" r:id="rId9"/>
    <p:sldLayoutId id="2147484559" r:id="rId10"/>
    <p:sldLayoutId id="2147484560"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342900" indent="-342900" algn="l" defTabSz="914400" rtl="0" eaLnBrk="1" latinLnBrk="0" hangingPunct="1">
        <a:spcBef>
          <a:spcPct val="20000"/>
        </a:spcBef>
        <a:spcAft>
          <a:spcPts val="600"/>
        </a:spcAft>
        <a:buFont typeface="Wingdings" charset="2"/>
        <a:buChar char="q"/>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4EE1ED5D-F858-CF4C-9794-134BC5F9C65B}" type="datetimeFigureOut">
              <a:rPr lang="en-US" smtClean="0"/>
              <a:t>12-04-12</a:t>
            </a:fld>
            <a:endParaRPr 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C9A01B3B-B159-2A4C-81FE-51D39E36B5CF}" type="slidenum">
              <a:rPr lang="en-US" smtClean="0"/>
              <a:t>‹#›</a:t>
            </a:fld>
            <a:endParaRPr lang="en-US"/>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dk1" tx1="lt1" bg2="dk2" tx2="lt2" accent1="accent1" accent2="accent2" accent3="accent3" accent4="accent4" accent5="accent5" accent6="accent6" hlink="hlink" folHlink="folHlink"/>
  <p:sldLayoutIdLst>
    <p:sldLayoutId id="2147484562" r:id="rId1"/>
    <p:sldLayoutId id="2147484563" r:id="rId2"/>
    <p:sldLayoutId id="2147484564" r:id="rId3"/>
    <p:sldLayoutId id="2147484565" r:id="rId4"/>
    <p:sldLayoutId id="2147484566" r:id="rId5"/>
    <p:sldLayoutId id="2147484567" r:id="rId6"/>
    <p:sldLayoutId id="2147484568" r:id="rId7"/>
    <p:sldLayoutId id="2147484569" r:id="rId8"/>
    <p:sldLayoutId id="2147484570" r:id="rId9"/>
    <p:sldLayoutId id="2147484571" r:id="rId10"/>
    <p:sldLayoutId id="2147484572"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342900" indent="-342900" algn="l" defTabSz="914400" rtl="0" eaLnBrk="1" latinLnBrk="0" hangingPunct="1">
        <a:spcBef>
          <a:spcPct val="20000"/>
        </a:spcBef>
        <a:spcAft>
          <a:spcPts val="600"/>
        </a:spcAft>
        <a:buFont typeface="Wingdings" charset="2"/>
        <a:buChar char="q"/>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4EE1ED5D-F858-CF4C-9794-134BC5F9C65B}" type="datetimeFigureOut">
              <a:rPr lang="en-US" smtClean="0"/>
              <a:t>12-04-12</a:t>
            </a:fld>
            <a:endParaRPr 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C9A01B3B-B159-2A4C-81FE-51D39E36B5CF}" type="slidenum">
              <a:rPr lang="en-US" smtClean="0"/>
              <a:t>‹#›</a:t>
            </a:fld>
            <a:endParaRPr lang="en-US"/>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dk1" tx1="lt1" bg2="dk2" tx2="lt2" accent1="accent1" accent2="accent2" accent3="accent3" accent4="accent4" accent5="accent5" accent6="accent6" hlink="hlink" folHlink="folHlink"/>
  <p:sldLayoutIdLst>
    <p:sldLayoutId id="2147484574" r:id="rId1"/>
    <p:sldLayoutId id="2147484575" r:id="rId2"/>
    <p:sldLayoutId id="2147484576" r:id="rId3"/>
    <p:sldLayoutId id="2147484577" r:id="rId4"/>
    <p:sldLayoutId id="2147484578" r:id="rId5"/>
    <p:sldLayoutId id="2147484579" r:id="rId6"/>
    <p:sldLayoutId id="2147484580" r:id="rId7"/>
    <p:sldLayoutId id="2147484581" r:id="rId8"/>
    <p:sldLayoutId id="2147484582" r:id="rId9"/>
    <p:sldLayoutId id="2147484583" r:id="rId10"/>
    <p:sldLayoutId id="2147484584"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342900" indent="-342900" algn="l" defTabSz="914400" rtl="0" eaLnBrk="1" latinLnBrk="0" hangingPunct="1">
        <a:spcBef>
          <a:spcPct val="20000"/>
        </a:spcBef>
        <a:spcAft>
          <a:spcPts val="600"/>
        </a:spcAft>
        <a:buFont typeface="Wingdings" charset="2"/>
        <a:buChar char="q"/>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E1ED5D-F858-CF4C-9794-134BC5F9C65B}" type="datetimeFigureOut">
              <a:rPr lang="en-US" smtClean="0"/>
              <a:t>12-04-12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A01B3B-B159-2A4C-81FE-51D39E36B5CF}" type="slidenum">
              <a:rPr lang="en-US" smtClean="0"/>
              <a:t>‹#›</a:t>
            </a:fld>
            <a:endParaRPr lang="en-US"/>
          </a:p>
        </p:txBody>
      </p:sp>
    </p:spTree>
    <p:extLst>
      <p:ext uri="{BB962C8B-B14F-4D97-AF65-F5344CB8AC3E}">
        <p14:creationId xmlns:p14="http://schemas.microsoft.com/office/powerpoint/2010/main" val="2557711237"/>
      </p:ext>
    </p:extLst>
  </p:cSld>
  <p:clrMap bg1="dk1" tx1="lt1" bg2="dk2" tx2="lt2" accent1="accent1" accent2="accent2" accent3="accent3" accent4="accent4" accent5="accent5" accent6="accent6" hlink="hlink" folHlink="folHlink"/>
  <p:sldLayoutIdLst>
    <p:sldLayoutId id="2147484586" r:id="rId1"/>
    <p:sldLayoutId id="2147484587" r:id="rId2"/>
    <p:sldLayoutId id="2147484588" r:id="rId3"/>
    <p:sldLayoutId id="2147484589" r:id="rId4"/>
    <p:sldLayoutId id="2147484590" r:id="rId5"/>
    <p:sldLayoutId id="2147484591" r:id="rId6"/>
    <p:sldLayoutId id="2147484592" r:id="rId7"/>
    <p:sldLayoutId id="2147484593" r:id="rId8"/>
    <p:sldLayoutId id="2147484594" r:id="rId9"/>
    <p:sldLayoutId id="2147484595" r:id="rId10"/>
    <p:sldLayoutId id="214748459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4" Type="http://schemas.microsoft.com/office/2007/relationships/hdphoto" Target="../media/hdphoto1.wdp"/><Relationship Id="rId5" Type="http://schemas.openxmlformats.org/officeDocument/2006/relationships/image" Target="../media/image8.jpeg"/><Relationship Id="rId6" Type="http://schemas.microsoft.com/office/2007/relationships/hdphoto" Target="../media/hdphoto2.wdp"/><Relationship Id="rId7" Type="http://schemas.openxmlformats.org/officeDocument/2006/relationships/image" Target="../media/image9.jpeg"/><Relationship Id="rId8" Type="http://schemas.microsoft.com/office/2007/relationships/hdphoto" Target="../media/hdphoto3.wdp"/><Relationship Id="rId9" Type="http://schemas.openxmlformats.org/officeDocument/2006/relationships/image" Target="../media/image10.jpeg"/><Relationship Id="rId10" Type="http://schemas.microsoft.com/office/2007/relationships/hdphoto" Target="../media/hdphoto4.wdp"/><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4" Type="http://schemas.microsoft.com/office/2007/relationships/hdphoto" Target="../media/hdphoto5.wdp"/><Relationship Id="rId5" Type="http://schemas.openxmlformats.org/officeDocument/2006/relationships/image" Target="../media/image8.jpeg"/><Relationship Id="rId6" Type="http://schemas.microsoft.com/office/2007/relationships/hdphoto" Target="../media/hdphoto6.wdp"/><Relationship Id="rId7" Type="http://schemas.openxmlformats.org/officeDocument/2006/relationships/image" Target="../media/image9.jpeg"/><Relationship Id="rId8" Type="http://schemas.microsoft.com/office/2007/relationships/hdphoto" Target="../media/hdphoto7.wdp"/><Relationship Id="rId9" Type="http://schemas.openxmlformats.org/officeDocument/2006/relationships/image" Target="../media/image10.jpeg"/><Relationship Id="rId10" Type="http://schemas.microsoft.com/office/2007/relationships/hdphoto" Target="../media/hdphoto8.wdp"/><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gif"/></Relationships>
</file>

<file path=ppt/slides/_rels/slide16.xml.rels><?xml version="1.0" encoding="UTF-8" standalone="yes"?>
<Relationships xmlns="http://schemas.openxmlformats.org/package/2006/relationships"><Relationship Id="rId3" Type="http://schemas.microsoft.com/office/2007/relationships/hdphoto" Target="../media/hdphoto9.wdp"/><Relationship Id="rId4" Type="http://schemas.openxmlformats.org/officeDocument/2006/relationships/image" Target="../media/image14.jpeg"/><Relationship Id="rId5" Type="http://schemas.microsoft.com/office/2007/relationships/hdphoto" Target="../media/hdphoto10.wdp"/><Relationship Id="rId1" Type="http://schemas.openxmlformats.org/officeDocument/2006/relationships/slideLayout" Target="../slideLayouts/slideLayout46.xml"/><Relationship Id="rId2" Type="http://schemas.openxmlformats.org/officeDocument/2006/relationships/image" Target="../media/image1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Out of this world</a:t>
            </a:r>
            <a:endParaRPr lang="en-US" dirty="0"/>
          </a:p>
        </p:txBody>
      </p:sp>
      <p:sp>
        <p:nvSpPr>
          <p:cNvPr id="3" name="Subtitle 2"/>
          <p:cNvSpPr>
            <a:spLocks noGrp="1"/>
          </p:cNvSpPr>
          <p:nvPr>
            <p:ph type="subTitle" idx="1"/>
          </p:nvPr>
        </p:nvSpPr>
        <p:spPr/>
        <p:txBody>
          <a:bodyPr>
            <a:normAutofit/>
          </a:bodyPr>
          <a:lstStyle/>
          <a:p>
            <a:r>
              <a:rPr lang="en-US" dirty="0" err="1" smtClean="0"/>
              <a:t>Benj</a:t>
            </a:r>
            <a:r>
              <a:rPr lang="en-US" dirty="0" smtClean="0"/>
              <a:t> </a:t>
            </a:r>
            <a:r>
              <a:rPr lang="en-US" dirty="0" err="1" smtClean="0"/>
              <a:t>Hellie</a:t>
            </a:r>
            <a:endParaRPr lang="en-US" dirty="0" smtClean="0"/>
          </a:p>
          <a:p>
            <a:r>
              <a:rPr lang="en-US" dirty="0" smtClean="0"/>
              <a:t>Tucson 2012</a:t>
            </a:r>
            <a:endParaRPr lang="en-US" dirty="0"/>
          </a:p>
        </p:txBody>
      </p:sp>
    </p:spTree>
    <p:extLst>
      <p:ext uri="{BB962C8B-B14F-4D97-AF65-F5344CB8AC3E}">
        <p14:creationId xmlns:p14="http://schemas.microsoft.com/office/powerpoint/2010/main" val="2971292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dualism?</a:t>
            </a:r>
            <a:endParaRPr lang="en-US" dirty="0"/>
          </a:p>
        </p:txBody>
      </p:sp>
      <p:sp>
        <p:nvSpPr>
          <p:cNvPr id="3" name="Content Placeholder 2"/>
          <p:cNvSpPr>
            <a:spLocks noGrp="1"/>
          </p:cNvSpPr>
          <p:nvPr>
            <p:ph idx="1"/>
          </p:nvPr>
        </p:nvSpPr>
        <p:spPr/>
        <p:txBody>
          <a:bodyPr/>
          <a:lstStyle/>
          <a:p>
            <a:r>
              <a:rPr lang="en-US" dirty="0" smtClean="0"/>
              <a:t>The objective world:</a:t>
            </a:r>
          </a:p>
          <a:p>
            <a:pPr lvl="1"/>
            <a:r>
              <a:rPr lang="en-US" dirty="0" smtClean="0"/>
              <a:t>Is it purely physical?</a:t>
            </a:r>
          </a:p>
          <a:p>
            <a:pPr lvl="1"/>
            <a:r>
              <a:rPr lang="en-US" dirty="0" smtClean="0"/>
              <a:t>Or is the consciousness within it something beyond the physical?</a:t>
            </a:r>
          </a:p>
          <a:p>
            <a:r>
              <a:rPr lang="en-US" dirty="0" smtClean="0"/>
              <a:t>I say this question is ill-posed:</a:t>
            </a:r>
          </a:p>
          <a:p>
            <a:pPr lvl="1"/>
            <a:r>
              <a:rPr lang="en-US" dirty="0" smtClean="0"/>
              <a:t>A physical story exhausts the objective world;</a:t>
            </a:r>
          </a:p>
          <a:p>
            <a:pPr lvl="1"/>
            <a:r>
              <a:rPr lang="en-US" dirty="0" smtClean="0"/>
              <a:t>But a story about consciousness is not an objective story</a:t>
            </a:r>
          </a:p>
          <a:p>
            <a:endParaRPr lang="en-US" dirty="0"/>
          </a:p>
          <a:p>
            <a:endParaRPr lang="en-US" dirty="0" smtClean="0"/>
          </a:p>
          <a:p>
            <a:endParaRPr lang="en-US" dirty="0" smtClean="0"/>
          </a:p>
        </p:txBody>
      </p:sp>
    </p:spTree>
    <p:extLst>
      <p:ext uri="{BB962C8B-B14F-4D97-AF65-F5344CB8AC3E}">
        <p14:creationId xmlns:p14="http://schemas.microsoft.com/office/powerpoint/2010/main" val="2849650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Chalmers </a:t>
            </a:r>
            <a:r>
              <a:rPr lang="en-US" dirty="0" smtClean="0"/>
              <a:t/>
            </a:r>
            <a:br>
              <a:rPr lang="en-US" dirty="0" smtClean="0"/>
            </a:br>
            <a:r>
              <a:rPr lang="en-US" dirty="0" smtClean="0"/>
              <a:t>Cliff </a:t>
            </a:r>
            <a:r>
              <a:rPr lang="en-US" dirty="0" smtClean="0"/>
              <a:t>Note Cliff Note</a:t>
            </a:r>
            <a:endParaRPr lang="en-US" dirty="0"/>
          </a:p>
        </p:txBody>
      </p:sp>
      <p:sp>
        <p:nvSpPr>
          <p:cNvPr id="3" name="Content Placeholder 2"/>
          <p:cNvSpPr>
            <a:spLocks noGrp="1"/>
          </p:cNvSpPr>
          <p:nvPr>
            <p:ph idx="1"/>
          </p:nvPr>
        </p:nvSpPr>
        <p:spPr/>
        <p:txBody>
          <a:bodyPr/>
          <a:lstStyle/>
          <a:p>
            <a:r>
              <a:rPr lang="en-US" dirty="0" smtClean="0"/>
              <a:t>We implicitly regard consciousness as </a:t>
            </a:r>
            <a:r>
              <a:rPr lang="en-US" dirty="0" smtClean="0"/>
              <a:t>an objective phenomenon revealed </a:t>
            </a:r>
            <a:r>
              <a:rPr lang="en-US" dirty="0" smtClean="0"/>
              <a:t>to </a:t>
            </a:r>
            <a:r>
              <a:rPr lang="en-US" dirty="0" smtClean="0"/>
              <a:t>us </a:t>
            </a:r>
            <a:r>
              <a:rPr lang="en-US" dirty="0" smtClean="0"/>
              <a:t>in a way nothing physical could </a:t>
            </a:r>
            <a:r>
              <a:rPr lang="en-US" dirty="0" smtClean="0"/>
              <a:t>be</a:t>
            </a:r>
          </a:p>
          <a:p>
            <a:pPr lvl="1"/>
            <a:r>
              <a:rPr lang="en-US" dirty="0" smtClean="0"/>
              <a:t>Revealed: there it is: </a:t>
            </a:r>
            <a:r>
              <a:rPr lang="en-US" dirty="0" err="1" smtClean="0"/>
              <a:t>pow</a:t>
            </a:r>
            <a:r>
              <a:rPr lang="en-US" dirty="0" smtClean="0"/>
              <a:t>! I ‘know which’ property I focused on — but I don’t know it’s physical — so it </a:t>
            </a:r>
            <a:r>
              <a:rPr lang="en-US" dirty="0" err="1" smtClean="0"/>
              <a:t>ain’t</a:t>
            </a:r>
            <a:endParaRPr lang="en-US" dirty="0" smtClean="0"/>
          </a:p>
          <a:p>
            <a:r>
              <a:rPr lang="en-US" dirty="0" smtClean="0"/>
              <a:t>So our implicit view is dualism</a:t>
            </a:r>
            <a:endParaRPr lang="en-US" dirty="0" smtClean="0"/>
          </a:p>
          <a:p>
            <a:r>
              <a:rPr lang="en-US" dirty="0" smtClean="0"/>
              <a:t>So — lest we contradict ourselves — in systematic theory, our </a:t>
            </a:r>
            <a:r>
              <a:rPr lang="en-US" dirty="0" smtClean="0"/>
              <a:t>explicit view should be </a:t>
            </a:r>
            <a:r>
              <a:rPr lang="en-US" dirty="0" smtClean="0"/>
              <a:t>dualism</a:t>
            </a:r>
            <a:endParaRPr lang="en-US" dirty="0" smtClean="0"/>
          </a:p>
          <a:p>
            <a:endParaRPr lang="en-US" dirty="0"/>
          </a:p>
        </p:txBody>
      </p:sp>
    </p:spTree>
    <p:extLst>
      <p:ext uri="{BB962C8B-B14F-4D97-AF65-F5344CB8AC3E}">
        <p14:creationId xmlns:p14="http://schemas.microsoft.com/office/powerpoint/2010/main" val="107705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 say:</a:t>
            </a:r>
            <a:br>
              <a:rPr lang="en-US" dirty="0" smtClean="0"/>
            </a:br>
            <a:r>
              <a:rPr lang="en-US" dirty="0" smtClean="0"/>
              <a:t>yes and no</a:t>
            </a:r>
            <a:endParaRPr lang="en-US" dirty="0"/>
          </a:p>
        </p:txBody>
      </p:sp>
      <p:sp>
        <p:nvSpPr>
          <p:cNvPr id="3" name="Content Placeholder 2"/>
          <p:cNvSpPr>
            <a:spLocks noGrp="1"/>
          </p:cNvSpPr>
          <p:nvPr>
            <p:ph idx="1"/>
          </p:nvPr>
        </p:nvSpPr>
        <p:spPr/>
        <p:txBody>
          <a:bodyPr/>
          <a:lstStyle/>
          <a:p>
            <a:r>
              <a:rPr lang="en-US" dirty="0" smtClean="0"/>
              <a:t>Systematic theory should at some stage register our implicit commitments (perhaps eventually to affirm, perhaps to revise)</a:t>
            </a:r>
          </a:p>
          <a:p>
            <a:r>
              <a:rPr lang="en-US" dirty="0" smtClean="0"/>
              <a:t>But we do not </a:t>
            </a:r>
            <a:r>
              <a:rPr lang="en-US" dirty="0" smtClean="0"/>
              <a:t>implicitly think </a:t>
            </a:r>
            <a:r>
              <a:rPr lang="en-US" dirty="0" smtClean="0"/>
              <a:t>of consciousness </a:t>
            </a:r>
            <a:r>
              <a:rPr lang="en-US" dirty="0" smtClean="0"/>
              <a:t>as an objective phenomenon, </a:t>
            </a:r>
            <a:r>
              <a:rPr lang="en-US" dirty="0" smtClean="0"/>
              <a:t>‘revealed</a:t>
            </a:r>
            <a:r>
              <a:rPr lang="en-US" dirty="0" smtClean="0"/>
              <a:t>’ or otherwise</a:t>
            </a:r>
            <a:endParaRPr lang="en-US" dirty="0"/>
          </a:p>
        </p:txBody>
      </p:sp>
    </p:spTree>
    <p:extLst>
      <p:ext uri="{BB962C8B-B14F-4D97-AF65-F5344CB8AC3E}">
        <p14:creationId xmlns:p14="http://schemas.microsoft.com/office/powerpoint/2010/main" val="3594040218"/>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questions</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Why </a:t>
            </a:r>
            <a:r>
              <a:rPr lang="en-US" dirty="0" smtClean="0"/>
              <a:t>not?</a:t>
            </a:r>
          </a:p>
          <a:p>
            <a:pPr marL="457200" indent="-457200">
              <a:buFont typeface="+mj-lt"/>
              <a:buAutoNum type="arabicPeriod"/>
            </a:pPr>
            <a:r>
              <a:rPr lang="en-US" dirty="0" smtClean="0"/>
              <a:t>Objective?</a:t>
            </a:r>
            <a:endParaRPr lang="en-US" dirty="0"/>
          </a:p>
        </p:txBody>
      </p:sp>
    </p:spTree>
    <p:extLst>
      <p:ext uri="{BB962C8B-B14F-4D97-AF65-F5344CB8AC3E}">
        <p14:creationId xmlns:p14="http://schemas.microsoft.com/office/powerpoint/2010/main" val="3186480454"/>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not?</a:t>
            </a:r>
            <a:endParaRPr lang="en-US" dirty="0"/>
          </a:p>
        </p:txBody>
      </p:sp>
      <p:sp>
        <p:nvSpPr>
          <p:cNvPr id="3" name="Content Placeholder 2"/>
          <p:cNvSpPr>
            <a:spLocks noGrp="1"/>
          </p:cNvSpPr>
          <p:nvPr>
            <p:ph idx="1"/>
          </p:nvPr>
        </p:nvSpPr>
        <p:spPr/>
        <p:txBody>
          <a:bodyPr/>
          <a:lstStyle/>
          <a:p>
            <a:r>
              <a:rPr lang="en-US" dirty="0" smtClean="0"/>
              <a:t>Given the hour, let’s do some picture thinking</a:t>
            </a:r>
          </a:p>
          <a:p>
            <a:pPr lvl="1"/>
            <a:r>
              <a:rPr lang="en-US" dirty="0" smtClean="0"/>
              <a:t>We can be more finicky in Q&amp;A;</a:t>
            </a:r>
            <a:endParaRPr lang="en-US" dirty="0" smtClean="0"/>
          </a:p>
          <a:p>
            <a:pPr lvl="1"/>
            <a:r>
              <a:rPr lang="en-US" dirty="0" smtClean="0"/>
              <a:t>For now, a parable …</a:t>
            </a:r>
          </a:p>
          <a:p>
            <a:pPr marL="274320" lvl="1" indent="0">
              <a:buNone/>
            </a:pPr>
            <a:endParaRPr lang="en-US" dirty="0"/>
          </a:p>
        </p:txBody>
      </p:sp>
    </p:spTree>
    <p:extLst>
      <p:ext uri="{BB962C8B-B14F-4D97-AF65-F5344CB8AC3E}">
        <p14:creationId xmlns:p14="http://schemas.microsoft.com/office/powerpoint/2010/main" val="2300742874"/>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 name="Content Placeholder 8"/>
          <p:cNvPicPr>
            <a:picLocks noGrp="1" noChangeAspect="1"/>
          </p:cNvPicPr>
          <p:nvPr>
            <p:ph idx="1"/>
          </p:nvPr>
        </p:nvPicPr>
        <p:blipFill>
          <a:blip r:embed="rId2"/>
          <a:srcRect/>
          <a:stretch>
            <a:fillRect/>
          </a:stretch>
        </p:blipFill>
        <p:spPr>
          <a:xfrm>
            <a:off x="0" y="0"/>
            <a:ext cx="9144000" cy="6858000"/>
          </a:xfrm>
        </p:spPr>
      </p:pic>
    </p:spTree>
    <p:extLst>
      <p:ext uri="{BB962C8B-B14F-4D97-AF65-F5344CB8AC3E}">
        <p14:creationId xmlns:p14="http://schemas.microsoft.com/office/powerpoint/2010/main" val="2767202564"/>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rcRect l="2425" r="2425"/>
          <a:stretch>
            <a:fillRect/>
          </a:stretch>
        </p:blipFill>
        <p:spPr>
          <a:xfrm>
            <a:off x="0" y="0"/>
            <a:ext cx="9144000" cy="6858000"/>
          </a:xfrm>
        </p:spPr>
      </p:pic>
    </p:spTree>
    <p:extLst>
      <p:ext uri="{BB962C8B-B14F-4D97-AF65-F5344CB8AC3E}">
        <p14:creationId xmlns:p14="http://schemas.microsoft.com/office/powerpoint/2010/main" val="2945392183"/>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 name="Content Placeholder 8"/>
          <p:cNvPicPr>
            <a:picLocks noGrp="1" noChangeAspect="1"/>
          </p:cNvPicPr>
          <p:nvPr>
            <p:ph idx="1"/>
          </p:nvPr>
        </p:nvPicPr>
        <p:blipFill rotWithShape="1">
          <a:blip r:embed="rId2">
            <a:extLst>
              <a:ext uri="{28A0092B-C50C-407E-A947-70E740481C1C}">
                <a14:useLocalDpi xmlns:a14="http://schemas.microsoft.com/office/drawing/2010/main" val="0"/>
              </a:ext>
            </a:extLst>
          </a:blip>
          <a:srcRect l="3320" t="2227" r="2692" b="1755"/>
          <a:stretch/>
        </p:blipFill>
        <p:spPr>
          <a:xfrm>
            <a:off x="1590842" y="152718"/>
            <a:ext cx="6002421" cy="6584966"/>
          </a:xfrm>
        </p:spPr>
      </p:pic>
    </p:spTree>
    <p:extLst>
      <p:ext uri="{BB962C8B-B14F-4D97-AF65-F5344CB8AC3E}">
        <p14:creationId xmlns:p14="http://schemas.microsoft.com/office/powerpoint/2010/main" val="1691714754"/>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Tucson_az_from_space.jpg"/>
          <p:cNvPicPr>
            <a:picLocks noGrp="1" noChangeAspect="1"/>
          </p:cNvPicPr>
          <p:nvPr>
            <p:ph idx="1"/>
          </p:nvPr>
        </p:nvPicPr>
        <p:blipFill>
          <a:blip r:embed="rId2">
            <a:extLst>
              <a:ext uri="{28A0092B-C50C-407E-A947-70E740481C1C}">
                <a14:useLocalDpi xmlns:a14="http://schemas.microsoft.com/office/drawing/2010/main" val="0"/>
              </a:ext>
            </a:extLst>
          </a:blip>
          <a:srcRect l="13017" r="13017"/>
          <a:stretch>
            <a:fillRect/>
          </a:stretch>
        </p:blipFill>
        <p:spPr>
          <a:xfrm>
            <a:off x="0" y="0"/>
            <a:ext cx="9144000" cy="6858000"/>
          </a:xfrm>
        </p:spPr>
      </p:pic>
    </p:spTree>
    <p:extLst>
      <p:ext uri="{BB962C8B-B14F-4D97-AF65-F5344CB8AC3E}">
        <p14:creationId xmlns:p14="http://schemas.microsoft.com/office/powerpoint/2010/main" val="141338398"/>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Tucson_az_from_space.jpg"/>
          <p:cNvPicPr>
            <a:picLocks noGrp="1" noChangeAspect="1"/>
          </p:cNvPicPr>
          <p:nvPr>
            <p:ph idx="1"/>
          </p:nvPr>
        </p:nvPicPr>
        <p:blipFill>
          <a:blip r:embed="rId2">
            <a:extLst>
              <a:ext uri="{28A0092B-C50C-407E-A947-70E740481C1C}">
                <a14:useLocalDpi xmlns:a14="http://schemas.microsoft.com/office/drawing/2010/main" val="0"/>
              </a:ext>
            </a:extLst>
          </a:blip>
          <a:srcRect l="13017" r="13017"/>
          <a:stretch>
            <a:fillRect/>
          </a:stretch>
        </p:blipFill>
        <p:spPr>
          <a:xfrm>
            <a:off x="0" y="0"/>
            <a:ext cx="9144000" cy="6858000"/>
          </a:xfrm>
        </p:spPr>
      </p:pic>
      <p:sp>
        <p:nvSpPr>
          <p:cNvPr id="3" name="Oval 2"/>
          <p:cNvSpPr/>
          <p:nvPr/>
        </p:nvSpPr>
        <p:spPr>
          <a:xfrm>
            <a:off x="5213684" y="681789"/>
            <a:ext cx="935790" cy="842529"/>
          </a:xfrm>
          <a:prstGeom prst="ellipse">
            <a:avLst/>
          </a:prstGeom>
          <a:solidFill>
            <a:schemeClr val="bg2">
              <a:alpha val="13000"/>
            </a:schemeClr>
          </a:solidFill>
          <a:ln w="127000">
            <a:solidFill>
              <a:schemeClr val="bg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997679"/>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descr="Professional-Consultants-@-Seminar-Presentation-pic2.jpg"/>
          <p:cNvPicPr>
            <a:picLocks noGrp="1" noChangeAspect="1"/>
          </p:cNvPicPr>
          <p:nvPr>
            <p:ph idx="1"/>
          </p:nvPr>
        </p:nvPicPr>
        <p:blipFill>
          <a:blip r:embed="rId2">
            <a:extLst>
              <a:ext uri="{28A0092B-C50C-407E-A947-70E740481C1C}">
                <a14:useLocalDpi xmlns:a14="http://schemas.microsoft.com/office/drawing/2010/main" val="0"/>
              </a:ext>
            </a:extLst>
          </a:blip>
          <a:srcRect l="17048" r="17048"/>
          <a:stretch>
            <a:fillRect/>
          </a:stretch>
        </p:blipFill>
        <p:spPr>
          <a:xfrm>
            <a:off x="0" y="0"/>
            <a:ext cx="9144000" cy="6858000"/>
          </a:xfrm>
        </p:spPr>
      </p:pic>
      <p:pic>
        <p:nvPicPr>
          <p:cNvPr id="6" name="Content Placeholder 4" descr="Professional-Consultants-@-Seminar-Presentation-pic2.jpg"/>
          <p:cNvPicPr>
            <a:picLocks noChangeAspect="1"/>
          </p:cNvPicPr>
          <p:nvPr/>
        </p:nvPicPr>
        <p:blipFill>
          <a:blip r:embed="rId3">
            <a:extLst>
              <a:ext uri="{BEBA8EAE-BF5A-486C-A8C5-ECC9F3942E4B}">
                <a14:imgProps xmlns:a14="http://schemas.microsoft.com/office/drawing/2010/main">
                  <a14:imgLayer r:embed="rId4">
                    <a14:imgEffect>
                      <a14:artisticGlowDiffused trans="60000" intensity="10"/>
                    </a14:imgEffect>
                  </a14:imgLayer>
                </a14:imgProps>
              </a:ext>
              <a:ext uri="{28A0092B-C50C-407E-A947-70E740481C1C}">
                <a14:useLocalDpi xmlns:a14="http://schemas.microsoft.com/office/drawing/2010/main" val="0"/>
              </a:ext>
            </a:extLst>
          </a:blip>
          <a:srcRect l="17048" r="17048"/>
          <a:stretch>
            <a:fillRect/>
          </a:stretch>
        </p:blipFill>
        <p:spPr>
          <a:xfrm>
            <a:off x="0" y="0"/>
            <a:ext cx="4518526" cy="3388894"/>
          </a:xfrm>
          <a:prstGeom prst="rect">
            <a:avLst/>
          </a:prstGeom>
          <a:effectLst>
            <a:glow rad="101600">
              <a:schemeClr val="tx1">
                <a:alpha val="75000"/>
              </a:schemeClr>
            </a:glow>
          </a:effectLst>
          <a:scene3d>
            <a:camera prst="orthographicFront">
              <a:rot lat="248094" lon="21301679" rev="120014"/>
            </a:camera>
            <a:lightRig rig="threePt" dir="t"/>
          </a:scene3d>
        </p:spPr>
      </p:pic>
      <p:pic>
        <p:nvPicPr>
          <p:cNvPr id="7" name="Content Placeholder 4" descr="Professional-Consultants-@-Seminar-Presentation-pic2.jpg"/>
          <p:cNvPicPr>
            <a:picLocks noChangeAspect="1"/>
          </p:cNvPicPr>
          <p:nvPr/>
        </p:nvPicPr>
        <p:blipFill>
          <a:blip r:embed="rId5">
            <a:grayscl/>
            <a:extLst>
              <a:ext uri="{BEBA8EAE-BF5A-486C-A8C5-ECC9F3942E4B}">
                <a14:imgProps xmlns:a14="http://schemas.microsoft.com/office/drawing/2010/main">
                  <a14:imgLayer r:embed="rId6">
                    <a14:imgEffect>
                      <a14:artisticGlowDiffused trans="60000" intensity="10"/>
                    </a14:imgEffect>
                    <a14:imgEffect>
                      <a14:brightnessContrast bright="20000" contrast="-20000"/>
                    </a14:imgEffect>
                  </a14:imgLayer>
                </a14:imgProps>
              </a:ext>
              <a:ext uri="{28A0092B-C50C-407E-A947-70E740481C1C}">
                <a14:useLocalDpi xmlns:a14="http://schemas.microsoft.com/office/drawing/2010/main" val="0"/>
              </a:ext>
            </a:extLst>
          </a:blip>
          <a:srcRect l="17048" r="17048"/>
          <a:stretch>
            <a:fillRect/>
          </a:stretch>
        </p:blipFill>
        <p:spPr>
          <a:xfrm>
            <a:off x="0" y="2"/>
            <a:ext cx="2173705" cy="1782996"/>
          </a:xfrm>
          <a:prstGeom prst="rect">
            <a:avLst/>
          </a:prstGeom>
          <a:effectLst>
            <a:glow rad="101600">
              <a:schemeClr val="tx1">
                <a:alpha val="75000"/>
              </a:schemeClr>
            </a:glow>
          </a:effectLst>
          <a:scene3d>
            <a:camera prst="orthographicFront">
              <a:rot lat="248094" lon="21301679" rev="120014"/>
            </a:camera>
            <a:lightRig rig="threePt" dir="t"/>
          </a:scene3d>
        </p:spPr>
      </p:pic>
      <p:pic>
        <p:nvPicPr>
          <p:cNvPr id="8" name="Content Placeholder 4" descr="Professional-Consultants-@-Seminar-Presentation-pic2.jpg"/>
          <p:cNvPicPr>
            <a:picLocks noChangeAspect="1"/>
          </p:cNvPicPr>
          <p:nvPr/>
        </p:nvPicPr>
        <p:blipFill>
          <a:blip r:embed="rId7">
            <a:extLst>
              <a:ext uri="{BEBA8EAE-BF5A-486C-A8C5-ECC9F3942E4B}">
                <a14:imgProps xmlns:a14="http://schemas.microsoft.com/office/drawing/2010/main">
                  <a14:imgLayer r:embed="rId8">
                    <a14:imgEffect>
                      <a14:artisticGlowDiffused trans="60000" intensity="10"/>
                    </a14:imgEffect>
                    <a14:imgEffect>
                      <a14:brightnessContrast bright="40000"/>
                    </a14:imgEffect>
                  </a14:imgLayer>
                </a14:imgProps>
              </a:ext>
              <a:ext uri="{28A0092B-C50C-407E-A947-70E740481C1C}">
                <a14:useLocalDpi xmlns:a14="http://schemas.microsoft.com/office/drawing/2010/main" val="0"/>
              </a:ext>
            </a:extLst>
          </a:blip>
          <a:srcRect l="17048" r="17048"/>
          <a:stretch>
            <a:fillRect/>
          </a:stretch>
        </p:blipFill>
        <p:spPr>
          <a:xfrm>
            <a:off x="1" y="0"/>
            <a:ext cx="1212070" cy="909053"/>
          </a:xfrm>
          <a:prstGeom prst="rect">
            <a:avLst/>
          </a:prstGeom>
          <a:effectLst>
            <a:glow rad="101600">
              <a:schemeClr val="tx1">
                <a:alpha val="75000"/>
              </a:schemeClr>
            </a:glow>
          </a:effectLst>
          <a:scene3d>
            <a:camera prst="orthographicFront">
              <a:rot lat="248094" lon="21301679" rev="120014"/>
            </a:camera>
            <a:lightRig rig="threePt" dir="t"/>
          </a:scene3d>
        </p:spPr>
      </p:pic>
      <p:pic>
        <p:nvPicPr>
          <p:cNvPr id="9" name="Content Placeholder 4" descr="Professional-Consultants-@-Seminar-Presentation-pic2.jpg"/>
          <p:cNvPicPr>
            <a:picLocks noChangeAspect="1"/>
          </p:cNvPicPr>
          <p:nvPr/>
        </p:nvPicPr>
        <p:blipFill>
          <a:blip r:embed="rId9">
            <a:extLst>
              <a:ext uri="{BEBA8EAE-BF5A-486C-A8C5-ECC9F3942E4B}">
                <a14:imgProps xmlns:a14="http://schemas.microsoft.com/office/drawing/2010/main">
                  <a14:imgLayer r:embed="rId10">
                    <a14:imgEffect>
                      <a14:artisticGlowDiffused trans="60000" intensity="10"/>
                    </a14:imgEffect>
                    <a14:imgEffect>
                      <a14:brightnessContrast bright="40000" contrast="20000"/>
                    </a14:imgEffect>
                  </a14:imgLayer>
                </a14:imgProps>
              </a:ext>
              <a:ext uri="{28A0092B-C50C-407E-A947-70E740481C1C}">
                <a14:useLocalDpi xmlns:a14="http://schemas.microsoft.com/office/drawing/2010/main" val="0"/>
              </a:ext>
            </a:extLst>
          </a:blip>
          <a:srcRect l="17048" r="17048"/>
          <a:stretch>
            <a:fillRect/>
          </a:stretch>
        </p:blipFill>
        <p:spPr>
          <a:xfrm>
            <a:off x="0" y="1"/>
            <a:ext cx="588210" cy="441158"/>
          </a:xfrm>
          <a:prstGeom prst="rect">
            <a:avLst/>
          </a:prstGeom>
          <a:effectLst>
            <a:glow rad="101600">
              <a:schemeClr val="tx1">
                <a:alpha val="75000"/>
              </a:schemeClr>
            </a:glow>
          </a:effectLst>
          <a:scene3d>
            <a:camera prst="orthographicFront">
              <a:rot lat="248094" lon="21301679" rev="120014"/>
            </a:camera>
            <a:lightRig rig="threePt" dir="t"/>
          </a:scene3d>
        </p:spPr>
      </p:pic>
    </p:spTree>
    <p:extLst>
      <p:ext uri="{BB962C8B-B14F-4D97-AF65-F5344CB8AC3E}">
        <p14:creationId xmlns:p14="http://schemas.microsoft.com/office/powerpoint/2010/main" val="1170233901"/>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descr="Professional-Consultants-@-Seminar-Presentation-pic2.jpg"/>
          <p:cNvPicPr>
            <a:picLocks noGrp="1" noChangeAspect="1"/>
          </p:cNvPicPr>
          <p:nvPr>
            <p:ph idx="1"/>
          </p:nvPr>
        </p:nvPicPr>
        <p:blipFill>
          <a:blip r:embed="rId2">
            <a:extLst>
              <a:ext uri="{28A0092B-C50C-407E-A947-70E740481C1C}">
                <a14:useLocalDpi xmlns:a14="http://schemas.microsoft.com/office/drawing/2010/main" val="0"/>
              </a:ext>
            </a:extLst>
          </a:blip>
          <a:srcRect l="17048" r="17048"/>
          <a:stretch>
            <a:fillRect/>
          </a:stretch>
        </p:blipFill>
        <p:spPr>
          <a:xfrm>
            <a:off x="0" y="0"/>
            <a:ext cx="9144000" cy="6858000"/>
          </a:xfrm>
        </p:spPr>
      </p:pic>
      <p:pic>
        <p:nvPicPr>
          <p:cNvPr id="6" name="Content Placeholder 4" descr="Professional-Consultants-@-Seminar-Presentation-pic2.jpg"/>
          <p:cNvPicPr>
            <a:picLocks noChangeAspect="1"/>
          </p:cNvPicPr>
          <p:nvPr/>
        </p:nvPicPr>
        <p:blipFill>
          <a:blip r:embed="rId3">
            <a:extLst>
              <a:ext uri="{BEBA8EAE-BF5A-486C-A8C5-ECC9F3942E4B}">
                <a14:imgProps xmlns:a14="http://schemas.microsoft.com/office/drawing/2010/main">
                  <a14:imgLayer r:embed="rId4">
                    <a14:imgEffect>
                      <a14:artisticGlowDiffused trans="60000" intensity="10"/>
                    </a14:imgEffect>
                  </a14:imgLayer>
                </a14:imgProps>
              </a:ext>
              <a:ext uri="{28A0092B-C50C-407E-A947-70E740481C1C}">
                <a14:useLocalDpi xmlns:a14="http://schemas.microsoft.com/office/drawing/2010/main" val="0"/>
              </a:ext>
            </a:extLst>
          </a:blip>
          <a:srcRect l="17048" r="17048"/>
          <a:stretch>
            <a:fillRect/>
          </a:stretch>
        </p:blipFill>
        <p:spPr>
          <a:xfrm>
            <a:off x="0" y="0"/>
            <a:ext cx="4518526" cy="3388894"/>
          </a:xfrm>
          <a:prstGeom prst="rect">
            <a:avLst/>
          </a:prstGeom>
          <a:effectLst>
            <a:glow rad="101600">
              <a:schemeClr val="tx1">
                <a:alpha val="75000"/>
              </a:schemeClr>
            </a:glow>
          </a:effectLst>
          <a:scene3d>
            <a:camera prst="orthographicFront">
              <a:rot lat="248094" lon="21301679" rev="120014"/>
            </a:camera>
            <a:lightRig rig="threePt" dir="t"/>
          </a:scene3d>
        </p:spPr>
      </p:pic>
      <p:pic>
        <p:nvPicPr>
          <p:cNvPr id="7" name="Content Placeholder 4" descr="Professional-Consultants-@-Seminar-Presentation-pic2.jpg"/>
          <p:cNvPicPr>
            <a:picLocks noChangeAspect="1"/>
          </p:cNvPicPr>
          <p:nvPr/>
        </p:nvPicPr>
        <p:blipFill>
          <a:blip r:embed="rId5">
            <a:grayscl/>
            <a:extLst>
              <a:ext uri="{BEBA8EAE-BF5A-486C-A8C5-ECC9F3942E4B}">
                <a14:imgProps xmlns:a14="http://schemas.microsoft.com/office/drawing/2010/main">
                  <a14:imgLayer r:embed="rId6">
                    <a14:imgEffect>
                      <a14:artisticGlowDiffused trans="60000" intensity="10"/>
                    </a14:imgEffect>
                    <a14:imgEffect>
                      <a14:brightnessContrast bright="20000" contrast="-20000"/>
                    </a14:imgEffect>
                  </a14:imgLayer>
                </a14:imgProps>
              </a:ext>
              <a:ext uri="{28A0092B-C50C-407E-A947-70E740481C1C}">
                <a14:useLocalDpi xmlns:a14="http://schemas.microsoft.com/office/drawing/2010/main" val="0"/>
              </a:ext>
            </a:extLst>
          </a:blip>
          <a:srcRect l="17048" r="17048"/>
          <a:stretch>
            <a:fillRect/>
          </a:stretch>
        </p:blipFill>
        <p:spPr>
          <a:xfrm>
            <a:off x="0" y="2"/>
            <a:ext cx="2173705" cy="1782996"/>
          </a:xfrm>
          <a:prstGeom prst="rect">
            <a:avLst/>
          </a:prstGeom>
          <a:effectLst>
            <a:glow rad="101600">
              <a:schemeClr val="tx1">
                <a:alpha val="75000"/>
              </a:schemeClr>
            </a:glow>
          </a:effectLst>
          <a:scene3d>
            <a:camera prst="orthographicFront">
              <a:rot lat="248094" lon="21301679" rev="120014"/>
            </a:camera>
            <a:lightRig rig="threePt" dir="t"/>
          </a:scene3d>
        </p:spPr>
      </p:pic>
      <p:pic>
        <p:nvPicPr>
          <p:cNvPr id="8" name="Content Placeholder 4" descr="Professional-Consultants-@-Seminar-Presentation-pic2.jpg"/>
          <p:cNvPicPr>
            <a:picLocks noChangeAspect="1"/>
          </p:cNvPicPr>
          <p:nvPr/>
        </p:nvPicPr>
        <p:blipFill>
          <a:blip r:embed="rId7">
            <a:extLst>
              <a:ext uri="{BEBA8EAE-BF5A-486C-A8C5-ECC9F3942E4B}">
                <a14:imgProps xmlns:a14="http://schemas.microsoft.com/office/drawing/2010/main">
                  <a14:imgLayer r:embed="rId8">
                    <a14:imgEffect>
                      <a14:artisticGlowDiffused trans="60000" intensity="10"/>
                    </a14:imgEffect>
                    <a14:imgEffect>
                      <a14:brightnessContrast bright="40000"/>
                    </a14:imgEffect>
                  </a14:imgLayer>
                </a14:imgProps>
              </a:ext>
              <a:ext uri="{28A0092B-C50C-407E-A947-70E740481C1C}">
                <a14:useLocalDpi xmlns:a14="http://schemas.microsoft.com/office/drawing/2010/main" val="0"/>
              </a:ext>
            </a:extLst>
          </a:blip>
          <a:srcRect l="17048" r="17048"/>
          <a:stretch>
            <a:fillRect/>
          </a:stretch>
        </p:blipFill>
        <p:spPr>
          <a:xfrm>
            <a:off x="1" y="0"/>
            <a:ext cx="1212070" cy="909053"/>
          </a:xfrm>
          <a:prstGeom prst="rect">
            <a:avLst/>
          </a:prstGeom>
          <a:effectLst>
            <a:glow rad="101600">
              <a:schemeClr val="tx1">
                <a:alpha val="75000"/>
              </a:schemeClr>
            </a:glow>
          </a:effectLst>
          <a:scene3d>
            <a:camera prst="orthographicFront">
              <a:rot lat="248094" lon="21301679" rev="120014"/>
            </a:camera>
            <a:lightRig rig="threePt" dir="t"/>
          </a:scene3d>
        </p:spPr>
      </p:pic>
      <p:pic>
        <p:nvPicPr>
          <p:cNvPr id="9" name="Content Placeholder 4" descr="Professional-Consultants-@-Seminar-Presentation-pic2.jpg"/>
          <p:cNvPicPr>
            <a:picLocks noChangeAspect="1"/>
          </p:cNvPicPr>
          <p:nvPr/>
        </p:nvPicPr>
        <p:blipFill>
          <a:blip r:embed="rId9">
            <a:extLst>
              <a:ext uri="{BEBA8EAE-BF5A-486C-A8C5-ECC9F3942E4B}">
                <a14:imgProps xmlns:a14="http://schemas.microsoft.com/office/drawing/2010/main">
                  <a14:imgLayer r:embed="rId10">
                    <a14:imgEffect>
                      <a14:artisticGlowDiffused trans="60000" intensity="10"/>
                    </a14:imgEffect>
                    <a14:imgEffect>
                      <a14:brightnessContrast bright="40000" contrast="20000"/>
                    </a14:imgEffect>
                  </a14:imgLayer>
                </a14:imgProps>
              </a:ext>
              <a:ext uri="{28A0092B-C50C-407E-A947-70E740481C1C}">
                <a14:useLocalDpi xmlns:a14="http://schemas.microsoft.com/office/drawing/2010/main" val="0"/>
              </a:ext>
            </a:extLst>
          </a:blip>
          <a:srcRect l="17048" r="17048"/>
          <a:stretch>
            <a:fillRect/>
          </a:stretch>
        </p:blipFill>
        <p:spPr>
          <a:xfrm>
            <a:off x="0" y="1"/>
            <a:ext cx="588210" cy="441158"/>
          </a:xfrm>
          <a:prstGeom prst="rect">
            <a:avLst/>
          </a:prstGeom>
          <a:effectLst>
            <a:glow rad="101600">
              <a:schemeClr val="tx1">
                <a:alpha val="75000"/>
              </a:schemeClr>
            </a:glow>
          </a:effectLst>
          <a:scene3d>
            <a:camera prst="orthographicFront">
              <a:rot lat="248094" lon="21301679" rev="120014"/>
            </a:camera>
            <a:lightRig rig="threePt" dir="t"/>
          </a:scene3d>
        </p:spPr>
      </p:pic>
      <p:sp>
        <p:nvSpPr>
          <p:cNvPr id="10" name="TextBox 9"/>
          <p:cNvSpPr txBox="1"/>
          <p:nvPr/>
        </p:nvSpPr>
        <p:spPr>
          <a:xfrm>
            <a:off x="4866104" y="641684"/>
            <a:ext cx="4090737" cy="830997"/>
          </a:xfrm>
          <a:prstGeom prst="rect">
            <a:avLst/>
          </a:prstGeom>
          <a:noFill/>
        </p:spPr>
        <p:txBody>
          <a:bodyPr wrap="square" rtlCol="0">
            <a:spAutoFit/>
          </a:bodyPr>
          <a:lstStyle/>
          <a:p>
            <a:r>
              <a:rPr lang="en-US" sz="4800" dirty="0" smtClean="0"/>
              <a:t>QUALIA!</a:t>
            </a:r>
            <a:endParaRPr lang="en-US" sz="4800" dirty="0"/>
          </a:p>
        </p:txBody>
      </p:sp>
      <p:grpSp>
        <p:nvGrpSpPr>
          <p:cNvPr id="17" name="Group 16"/>
          <p:cNvGrpSpPr/>
          <p:nvPr/>
        </p:nvGrpSpPr>
        <p:grpSpPr>
          <a:xfrm>
            <a:off x="1028254" y="3621504"/>
            <a:ext cx="7153220" cy="1338181"/>
            <a:chOff x="1028254" y="3621504"/>
            <a:chExt cx="7153220" cy="1338181"/>
          </a:xfrm>
        </p:grpSpPr>
        <p:sp>
          <p:nvSpPr>
            <p:cNvPr id="4" name="Oval 3"/>
            <p:cNvSpPr/>
            <p:nvPr/>
          </p:nvSpPr>
          <p:spPr>
            <a:xfrm>
              <a:off x="7954211" y="3823368"/>
              <a:ext cx="227263" cy="207210"/>
            </a:xfrm>
            <a:prstGeom prst="ellipse">
              <a:avLst/>
            </a:prstGeom>
            <a:solidFill>
              <a:schemeClr val="bg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p:cNvSpPr/>
            <p:nvPr/>
          </p:nvSpPr>
          <p:spPr>
            <a:xfrm>
              <a:off x="7478296" y="4510505"/>
              <a:ext cx="475915" cy="395706"/>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p:cNvSpPr/>
            <p:nvPr/>
          </p:nvSpPr>
          <p:spPr>
            <a:xfrm>
              <a:off x="5251117" y="4563979"/>
              <a:ext cx="475915" cy="395706"/>
            </a:xfrm>
            <a:prstGeom prst="ellipse">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p:cNvSpPr/>
            <p:nvPr/>
          </p:nvSpPr>
          <p:spPr>
            <a:xfrm>
              <a:off x="6010443" y="3621504"/>
              <a:ext cx="237958" cy="201864"/>
            </a:xfrm>
            <a:prstGeom prst="ellipse">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p:cNvSpPr/>
            <p:nvPr/>
          </p:nvSpPr>
          <p:spPr>
            <a:xfrm>
              <a:off x="4747125" y="3874836"/>
              <a:ext cx="237958" cy="201864"/>
            </a:xfrm>
            <a:prstGeom prst="ellipse">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p:cNvSpPr/>
            <p:nvPr/>
          </p:nvSpPr>
          <p:spPr>
            <a:xfrm>
              <a:off x="3268577" y="3672972"/>
              <a:ext cx="367634" cy="357606"/>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p:cNvSpPr/>
            <p:nvPr/>
          </p:nvSpPr>
          <p:spPr>
            <a:xfrm>
              <a:off x="1028254" y="4331702"/>
              <a:ext cx="367634" cy="357606"/>
            </a:xfrm>
            <a:prstGeom prst="ellipse">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8" name="Group 17"/>
          <p:cNvGrpSpPr/>
          <p:nvPr/>
        </p:nvGrpSpPr>
        <p:grpSpPr>
          <a:xfrm>
            <a:off x="457200" y="1740317"/>
            <a:ext cx="3580063" cy="889001"/>
            <a:chOff x="1028254" y="3621504"/>
            <a:chExt cx="7153220" cy="1338181"/>
          </a:xfrm>
        </p:grpSpPr>
        <p:sp>
          <p:nvSpPr>
            <p:cNvPr id="19" name="Oval 18"/>
            <p:cNvSpPr/>
            <p:nvPr/>
          </p:nvSpPr>
          <p:spPr>
            <a:xfrm>
              <a:off x="7954211" y="3823368"/>
              <a:ext cx="227263" cy="207210"/>
            </a:xfrm>
            <a:prstGeom prst="ellipse">
              <a:avLst/>
            </a:prstGeom>
            <a:solidFill>
              <a:schemeClr val="bg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7478296" y="4510505"/>
              <a:ext cx="475915" cy="395706"/>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p:cNvSpPr/>
            <p:nvPr/>
          </p:nvSpPr>
          <p:spPr>
            <a:xfrm>
              <a:off x="5251117" y="4563979"/>
              <a:ext cx="475915" cy="395706"/>
            </a:xfrm>
            <a:prstGeom prst="ellipse">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p:cNvSpPr/>
            <p:nvPr/>
          </p:nvSpPr>
          <p:spPr>
            <a:xfrm>
              <a:off x="6010443" y="3621504"/>
              <a:ext cx="237958" cy="201864"/>
            </a:xfrm>
            <a:prstGeom prst="ellipse">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p:cNvSpPr/>
            <p:nvPr/>
          </p:nvSpPr>
          <p:spPr>
            <a:xfrm>
              <a:off x="4747125" y="3874836"/>
              <a:ext cx="237958" cy="201864"/>
            </a:xfrm>
            <a:prstGeom prst="ellipse">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p:cNvSpPr/>
            <p:nvPr/>
          </p:nvSpPr>
          <p:spPr>
            <a:xfrm>
              <a:off x="3268577" y="3672972"/>
              <a:ext cx="367634" cy="357606"/>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p:cNvSpPr/>
            <p:nvPr/>
          </p:nvSpPr>
          <p:spPr>
            <a:xfrm>
              <a:off x="1028254" y="4331702"/>
              <a:ext cx="367634" cy="357606"/>
            </a:xfrm>
            <a:prstGeom prst="ellipse">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6" name="Group 25"/>
          <p:cNvGrpSpPr/>
          <p:nvPr/>
        </p:nvGrpSpPr>
        <p:grpSpPr>
          <a:xfrm>
            <a:off x="186942" y="860352"/>
            <a:ext cx="1736417" cy="570095"/>
            <a:chOff x="1028254" y="3621504"/>
            <a:chExt cx="7153220" cy="1338181"/>
          </a:xfrm>
        </p:grpSpPr>
        <p:sp>
          <p:nvSpPr>
            <p:cNvPr id="27" name="Oval 26"/>
            <p:cNvSpPr/>
            <p:nvPr/>
          </p:nvSpPr>
          <p:spPr>
            <a:xfrm>
              <a:off x="7954211" y="3823368"/>
              <a:ext cx="227263" cy="207210"/>
            </a:xfrm>
            <a:prstGeom prst="ellipse">
              <a:avLst/>
            </a:prstGeom>
            <a:solidFill>
              <a:schemeClr val="bg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p:cNvSpPr/>
            <p:nvPr/>
          </p:nvSpPr>
          <p:spPr>
            <a:xfrm>
              <a:off x="7478296" y="4510505"/>
              <a:ext cx="475915" cy="395706"/>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p:cNvSpPr/>
            <p:nvPr/>
          </p:nvSpPr>
          <p:spPr>
            <a:xfrm>
              <a:off x="5251117" y="4563979"/>
              <a:ext cx="475915" cy="395706"/>
            </a:xfrm>
            <a:prstGeom prst="ellipse">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p:cNvSpPr/>
            <p:nvPr/>
          </p:nvSpPr>
          <p:spPr>
            <a:xfrm>
              <a:off x="6010443" y="3621504"/>
              <a:ext cx="237958" cy="201864"/>
            </a:xfrm>
            <a:prstGeom prst="ellipse">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4747125" y="3874836"/>
              <a:ext cx="237958" cy="201864"/>
            </a:xfrm>
            <a:prstGeom prst="ellipse">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3268577" y="3672972"/>
              <a:ext cx="367634" cy="357606"/>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1028254" y="4331702"/>
              <a:ext cx="367634" cy="357606"/>
            </a:xfrm>
            <a:prstGeom prst="ellipse">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47793000"/>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descr="alienated.jpeg"/>
          <p:cNvPicPr>
            <a:picLocks noGrp="1" noChangeAspect="1"/>
          </p:cNvPicPr>
          <p:nvPr>
            <p:ph idx="1"/>
          </p:nvPr>
        </p:nvPicPr>
        <p:blipFill>
          <a:blip r:embed="rId2">
            <a:extLst>
              <a:ext uri="{28A0092B-C50C-407E-A947-70E740481C1C}">
                <a14:useLocalDpi xmlns:a14="http://schemas.microsoft.com/office/drawing/2010/main" val="0"/>
              </a:ext>
            </a:extLst>
          </a:blip>
          <a:srcRect l="5062" r="5062"/>
          <a:stretch>
            <a:fillRect/>
          </a:stretch>
        </p:blipFill>
        <p:spPr>
          <a:xfrm>
            <a:off x="0" y="0"/>
            <a:ext cx="9144000" cy="6858000"/>
          </a:xfrm>
        </p:spPr>
      </p:pic>
    </p:spTree>
    <p:extLst>
      <p:ext uri="{BB962C8B-B14F-4D97-AF65-F5344CB8AC3E}">
        <p14:creationId xmlns:p14="http://schemas.microsoft.com/office/powerpoint/2010/main" val="3134501652"/>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eels.gif"/>
          <p:cNvPicPr>
            <a:picLocks noGrp="1" noChangeAspect="1"/>
          </p:cNvPicPr>
          <p:nvPr>
            <p:ph idx="1"/>
          </p:nvPr>
        </p:nvPicPr>
        <p:blipFill>
          <a:blip r:embed="rId2">
            <a:extLst>
              <a:ext uri="{28A0092B-C50C-407E-A947-70E740481C1C}">
                <a14:useLocalDpi xmlns:a14="http://schemas.microsoft.com/office/drawing/2010/main" val="0"/>
              </a:ext>
            </a:extLst>
          </a:blip>
          <a:srcRect t="11736" b="11736"/>
          <a:stretch>
            <a:fillRect/>
          </a:stretch>
        </p:blipFill>
        <p:spPr/>
      </p:pic>
    </p:spTree>
    <p:extLst>
      <p:ext uri="{BB962C8B-B14F-4D97-AF65-F5344CB8AC3E}">
        <p14:creationId xmlns:p14="http://schemas.microsoft.com/office/powerpoint/2010/main" val="2828163244"/>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akeUpCall1-700.jpg"/>
          <p:cNvPicPr>
            <a:picLocks noGrp="1" noChangeAspect="1"/>
          </p:cNvPicPr>
          <p:nvPr>
            <p:ph idx="1"/>
          </p:nvPr>
        </p:nvPicPr>
        <p:blipFill>
          <a:blip r:embed="rId2">
            <a:extLst>
              <a:ext uri="{BEBA8EAE-BF5A-486C-A8C5-ECC9F3942E4B}">
                <a14:imgProps xmlns:a14="http://schemas.microsoft.com/office/drawing/2010/main">
                  <a14:imgLayer r:embed="rId3">
                    <a14:imgEffect>
                      <a14:artisticGlowEdges/>
                    </a14:imgEffect>
                    <a14:imgEffect>
                      <a14:sharpenSoften amount="50000"/>
                    </a14:imgEffect>
                  </a14:imgLayer>
                </a14:imgProps>
              </a:ext>
              <a:ext uri="{28A0092B-C50C-407E-A947-70E740481C1C}">
                <a14:useLocalDpi xmlns:a14="http://schemas.microsoft.com/office/drawing/2010/main" val="0"/>
              </a:ext>
            </a:extLst>
          </a:blip>
          <a:srcRect l="1313" r="1313"/>
          <a:stretch>
            <a:fillRect/>
          </a:stretch>
        </p:blipFill>
        <p:spPr>
          <a:xfrm>
            <a:off x="-13367" y="-25400"/>
            <a:ext cx="9144000" cy="6883400"/>
          </a:xfrm>
          <a:gradFill flip="none" rotWithShape="1">
            <a:gsLst>
              <a:gs pos="0">
                <a:srgbClr val="D9E142"/>
              </a:gs>
              <a:gs pos="100000">
                <a:srgbClr val="FFFFFF"/>
              </a:gs>
            </a:gsLst>
            <a:path path="circle">
              <a:fillToRect l="50000" t="50000" r="50000" b="50000"/>
            </a:path>
            <a:tileRect/>
          </a:gradFill>
        </p:spPr>
      </p:pic>
      <p:pic>
        <p:nvPicPr>
          <p:cNvPr id="5" name="Picture 4" descr="zoom burst.jpg"/>
          <p:cNvPicPr>
            <a:picLocks noChangeAspect="1"/>
          </p:cNvPicPr>
          <p:nvPr/>
        </p:nvPicPr>
        <p:blipFill rotWithShape="1">
          <a:blip r:embed="rId4">
            <a:alphaModFix amt="37000"/>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r="7517" b="33728"/>
          <a:stretch/>
        </p:blipFill>
        <p:spPr>
          <a:xfrm>
            <a:off x="-16923" y="0"/>
            <a:ext cx="9147556" cy="6858000"/>
          </a:xfrm>
          <a:prstGeom prst="rect">
            <a:avLst/>
          </a:prstGeom>
        </p:spPr>
      </p:pic>
    </p:spTree>
    <p:extLst>
      <p:ext uri="{BB962C8B-B14F-4D97-AF65-F5344CB8AC3E}">
        <p14:creationId xmlns:p14="http://schemas.microsoft.com/office/powerpoint/2010/main" val="366482885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Moral</a:t>
            </a:r>
            <a:endParaRPr lang="en-US" dirty="0"/>
          </a:p>
        </p:txBody>
      </p:sp>
      <p:sp>
        <p:nvSpPr>
          <p:cNvPr id="3" name="Content Placeholder 2"/>
          <p:cNvSpPr>
            <a:spLocks noGrp="1"/>
          </p:cNvSpPr>
          <p:nvPr>
            <p:ph idx="1"/>
          </p:nvPr>
        </p:nvSpPr>
        <p:spPr/>
        <p:txBody>
          <a:bodyPr>
            <a:normAutofit/>
          </a:bodyPr>
          <a:lstStyle/>
          <a:p>
            <a:r>
              <a:rPr lang="en-US" dirty="0" smtClean="0"/>
              <a:t>Treating my conscious life as an object to </a:t>
            </a:r>
            <a:r>
              <a:rPr lang="en-US" dirty="0" smtClean="0"/>
              <a:t>itself in the manner of a patch of color </a:t>
            </a:r>
            <a:r>
              <a:rPr lang="en-US" dirty="0" smtClean="0"/>
              <a:t>requires an alienated stance that is not true to the stance I genuinely </a:t>
            </a:r>
            <a:r>
              <a:rPr lang="en-US" dirty="0" smtClean="0"/>
              <a:t>adopt — as in the ‘Before’ phase</a:t>
            </a:r>
            <a:endParaRPr lang="en-US" dirty="0" smtClean="0"/>
          </a:p>
          <a:p>
            <a:r>
              <a:rPr lang="en-US" dirty="0" smtClean="0"/>
              <a:t>Instead we should say something like: my conscious </a:t>
            </a:r>
            <a:r>
              <a:rPr lang="en-US" dirty="0" smtClean="0"/>
              <a:t>life is ‘embedded in the world’; in regard to itself, it </a:t>
            </a:r>
            <a:r>
              <a:rPr lang="en-US" dirty="0" smtClean="0"/>
              <a:t>is ‘reflected within itself’ or ‘self-permeates with self-knowledge</a:t>
            </a:r>
            <a:r>
              <a:rPr lang="en-US" dirty="0" smtClean="0"/>
              <a:t>’ — as in the ‘After’ phase</a:t>
            </a:r>
            <a:endParaRPr lang="en-US" dirty="0" smtClean="0"/>
          </a:p>
          <a:p>
            <a:r>
              <a:rPr lang="en-US" dirty="0" smtClean="0"/>
              <a:t>This </a:t>
            </a:r>
            <a:r>
              <a:rPr lang="en-US" dirty="0" smtClean="0"/>
              <a:t>red is an object of my conscious life; that it is an object of my conscious life is reflected within my conscious </a:t>
            </a:r>
            <a:r>
              <a:rPr lang="en-US" dirty="0" smtClean="0"/>
              <a:t>life</a:t>
            </a:r>
          </a:p>
          <a:p>
            <a:r>
              <a:rPr lang="en-US" dirty="0" smtClean="0"/>
              <a:t>This sort of reflection is </a:t>
            </a:r>
            <a:r>
              <a:rPr lang="en-US" i="1" dirty="0" smtClean="0"/>
              <a:t>a stance of non-objectivity</a:t>
            </a:r>
            <a:endParaRPr lang="en-US" i="1" dirty="0" smtClean="0"/>
          </a:p>
          <a:p>
            <a:endParaRPr lang="en-US" dirty="0" smtClean="0"/>
          </a:p>
        </p:txBody>
      </p:sp>
    </p:spTree>
    <p:extLst>
      <p:ext uri="{BB962C8B-B14F-4D97-AF65-F5344CB8AC3E}">
        <p14:creationId xmlns:p14="http://schemas.microsoft.com/office/powerpoint/2010/main" val="2906470714"/>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expressivism</a:t>
            </a:r>
            <a:endParaRPr lang="en-US" dirty="0"/>
          </a:p>
        </p:txBody>
      </p:sp>
      <p:sp>
        <p:nvSpPr>
          <p:cNvPr id="3" name="Content Placeholder 2"/>
          <p:cNvSpPr>
            <a:spLocks noGrp="1"/>
          </p:cNvSpPr>
          <p:nvPr>
            <p:ph idx="1"/>
          </p:nvPr>
        </p:nvSpPr>
        <p:spPr/>
        <p:txBody>
          <a:bodyPr>
            <a:normAutofit/>
          </a:bodyPr>
          <a:lstStyle/>
          <a:p>
            <a:r>
              <a:rPr lang="en-US" dirty="0" smtClean="0"/>
              <a:t>A bit more sharply: </a:t>
            </a:r>
            <a:r>
              <a:rPr lang="en-US" dirty="0" smtClean="0"/>
              <a:t>my implicit theory </a:t>
            </a:r>
            <a:r>
              <a:rPr lang="en-US" dirty="0" smtClean="0"/>
              <a:t>of the world </a:t>
            </a:r>
            <a:r>
              <a:rPr lang="en-US" dirty="0" smtClean="0"/>
              <a:t>contains these sentences:</a:t>
            </a:r>
            <a:endParaRPr lang="en-US" dirty="0" smtClean="0"/>
          </a:p>
          <a:p>
            <a:pPr marL="457200" indent="-457200">
              <a:buFont typeface="+mj-lt"/>
              <a:buAutoNum type="alphaUcPeriod"/>
            </a:pPr>
            <a:r>
              <a:rPr lang="en-US" dirty="0" smtClean="0"/>
              <a:t>Tucson is warm, electrons repel protons, …</a:t>
            </a:r>
          </a:p>
          <a:p>
            <a:pPr marL="457200" indent="-457200">
              <a:buFont typeface="+mj-lt"/>
              <a:buAutoNum type="alphaUcPeriod"/>
            </a:pPr>
            <a:r>
              <a:rPr lang="en-US" dirty="0" smtClean="0"/>
              <a:t>It is within my conscious life that: </a:t>
            </a:r>
            <a:r>
              <a:rPr lang="en-US" dirty="0"/>
              <a:t>Tucson is warm, electrons repel protons, …</a:t>
            </a:r>
          </a:p>
          <a:p>
            <a:r>
              <a:rPr lang="en-US" dirty="0" smtClean="0"/>
              <a:t>In making the </a:t>
            </a:r>
            <a:r>
              <a:rPr lang="en-US" dirty="0" smtClean="0"/>
              <a:t>statements in (A</a:t>
            </a:r>
            <a:r>
              <a:rPr lang="en-US" dirty="0" smtClean="0"/>
              <a:t>), I treat the objective world as containing Tucson (as warm) and electrons </a:t>
            </a:r>
            <a:r>
              <a:rPr lang="en-US" dirty="0" smtClean="0"/>
              <a:t>and protons </a:t>
            </a:r>
            <a:r>
              <a:rPr lang="en-US" dirty="0" smtClean="0"/>
              <a:t>(as repelling </a:t>
            </a:r>
            <a:r>
              <a:rPr lang="en-US" dirty="0" smtClean="0"/>
              <a:t>one another);</a:t>
            </a:r>
          </a:p>
          <a:p>
            <a:r>
              <a:rPr lang="en-US" dirty="0" smtClean="0"/>
              <a:t>In making t</a:t>
            </a:r>
            <a:r>
              <a:rPr lang="en-US" dirty="0" smtClean="0"/>
              <a:t>he </a:t>
            </a:r>
            <a:r>
              <a:rPr lang="en-US" dirty="0" smtClean="0"/>
              <a:t>statement in (B</a:t>
            </a:r>
            <a:r>
              <a:rPr lang="en-US" dirty="0" smtClean="0"/>
              <a:t>), I do not treat the objective world in any way at all, but rather</a:t>
            </a:r>
            <a:r>
              <a:rPr lang="en-US" i="1" dirty="0"/>
              <a:t> </a:t>
            </a:r>
            <a:r>
              <a:rPr lang="en-US" i="1" dirty="0" smtClean="0"/>
              <a:t>express</a:t>
            </a:r>
            <a:r>
              <a:rPr lang="en-US" dirty="0" smtClean="0"/>
              <a:t> its being within my conscious life that the objective world is a certain way</a:t>
            </a:r>
            <a:endParaRPr lang="en-US" dirty="0"/>
          </a:p>
        </p:txBody>
      </p:sp>
    </p:spTree>
    <p:extLst>
      <p:ext uri="{BB962C8B-B14F-4D97-AF65-F5344CB8AC3E}">
        <p14:creationId xmlns:p14="http://schemas.microsoft.com/office/powerpoint/2010/main" val="4206979990"/>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metaphysics?</a:t>
            </a:r>
            <a:endParaRPr lang="en-US" dirty="0"/>
          </a:p>
        </p:txBody>
      </p:sp>
      <p:sp>
        <p:nvSpPr>
          <p:cNvPr id="3" name="Content Placeholder 2"/>
          <p:cNvSpPr>
            <a:spLocks noGrp="1"/>
          </p:cNvSpPr>
          <p:nvPr>
            <p:ph idx="1"/>
          </p:nvPr>
        </p:nvSpPr>
        <p:spPr/>
        <p:txBody>
          <a:bodyPr/>
          <a:lstStyle/>
          <a:p>
            <a:r>
              <a:rPr lang="en-US" dirty="0" smtClean="0"/>
              <a:t>If we wanted to read something metaphysics-looking off of this story, we could say that ‘the world for me’ is composed of two parts:</a:t>
            </a:r>
          </a:p>
          <a:p>
            <a:pPr lvl="1"/>
            <a:r>
              <a:rPr lang="en-US" dirty="0" smtClean="0"/>
              <a:t>The objective world, which is also a part of ‘the world for you’</a:t>
            </a:r>
          </a:p>
          <a:p>
            <a:pPr lvl="1"/>
            <a:r>
              <a:rPr lang="en-US" dirty="0" smtClean="0"/>
              <a:t>My conscious life (which is no more a part of ‘the world for you’ than is your conscious life part of ‘the world for me’)</a:t>
            </a:r>
          </a:p>
          <a:p>
            <a:r>
              <a:rPr lang="en-US" dirty="0" smtClean="0"/>
              <a:t>So in that sense I am out of </a:t>
            </a:r>
            <a:r>
              <a:rPr lang="en-US" i="1" dirty="0" smtClean="0"/>
              <a:t>this</a:t>
            </a:r>
            <a:r>
              <a:rPr lang="en-US" dirty="0" smtClean="0"/>
              <a:t> world</a:t>
            </a:r>
            <a:endParaRPr lang="en-US" dirty="0"/>
          </a:p>
        </p:txBody>
      </p:sp>
    </p:spTree>
    <p:extLst>
      <p:ext uri="{BB962C8B-B14F-4D97-AF65-F5344CB8AC3E}">
        <p14:creationId xmlns:p14="http://schemas.microsoft.com/office/powerpoint/2010/main" val="1042839177"/>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minds</a:t>
            </a:r>
            <a:endParaRPr lang="en-US" dirty="0"/>
          </a:p>
        </p:txBody>
      </p:sp>
      <p:sp>
        <p:nvSpPr>
          <p:cNvPr id="3" name="Content Placeholder 2"/>
          <p:cNvSpPr>
            <a:spLocks noGrp="1"/>
          </p:cNvSpPr>
          <p:nvPr>
            <p:ph idx="1"/>
          </p:nvPr>
        </p:nvSpPr>
        <p:spPr/>
        <p:txBody>
          <a:bodyPr/>
          <a:lstStyle/>
          <a:p>
            <a:r>
              <a:rPr lang="en-US" dirty="0" smtClean="0"/>
              <a:t>That creature over there:</a:t>
            </a:r>
          </a:p>
          <a:p>
            <a:pPr lvl="1"/>
            <a:r>
              <a:rPr lang="en-US" dirty="0" smtClean="0"/>
              <a:t>Clearly it has a conscious life</a:t>
            </a:r>
          </a:p>
          <a:p>
            <a:pPr lvl="1"/>
            <a:r>
              <a:rPr lang="en-US" dirty="0" smtClean="0"/>
              <a:t>Which clearly manifests to me radically differently to my own</a:t>
            </a:r>
          </a:p>
          <a:p>
            <a:r>
              <a:rPr lang="en-US" dirty="0" smtClean="0"/>
              <a:t>Simulation:</a:t>
            </a:r>
          </a:p>
          <a:p>
            <a:pPr lvl="1"/>
            <a:r>
              <a:rPr lang="en-US" dirty="0" smtClean="0"/>
              <a:t>Given full physical information and perfect sympathetic capacity, I can simulate in a way that cannot be improved upon</a:t>
            </a:r>
          </a:p>
          <a:p>
            <a:pPr lvl="1"/>
            <a:r>
              <a:rPr lang="en-US" dirty="0" smtClean="0"/>
              <a:t>Doing so is rationally mandatory</a:t>
            </a:r>
          </a:p>
          <a:p>
            <a:pPr lvl="1"/>
            <a:r>
              <a:rPr lang="en-US" dirty="0" smtClean="0"/>
              <a:t>This simulation is what my treating the other as having consciousness consists in</a:t>
            </a:r>
            <a:endParaRPr lang="en-US" dirty="0"/>
          </a:p>
        </p:txBody>
      </p:sp>
    </p:spTree>
    <p:extLst>
      <p:ext uri="{BB962C8B-B14F-4D97-AF65-F5344CB8AC3E}">
        <p14:creationId xmlns:p14="http://schemas.microsoft.com/office/powerpoint/2010/main" val="1800715904"/>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 the zombie hypothesis?</a:t>
            </a:r>
            <a:endParaRPr lang="en-US" dirty="0"/>
          </a:p>
        </p:txBody>
      </p:sp>
      <p:sp>
        <p:nvSpPr>
          <p:cNvPr id="3" name="Content Placeholder 2"/>
          <p:cNvSpPr>
            <a:spLocks noGrp="1"/>
          </p:cNvSpPr>
          <p:nvPr>
            <p:ph idx="1"/>
          </p:nvPr>
        </p:nvSpPr>
        <p:spPr/>
        <p:txBody>
          <a:bodyPr/>
          <a:lstStyle/>
          <a:p>
            <a:r>
              <a:rPr lang="en-US" dirty="0" smtClean="0"/>
              <a:t>It </a:t>
            </a:r>
            <a:r>
              <a:rPr lang="en-US" dirty="0" smtClean="0"/>
              <a:t>wins the battle</a:t>
            </a:r>
            <a:endParaRPr lang="en-US" dirty="0" smtClean="0"/>
          </a:p>
          <a:p>
            <a:pPr lvl="1"/>
            <a:r>
              <a:rPr lang="en-US" dirty="0" smtClean="0"/>
              <a:t>There </a:t>
            </a:r>
            <a:r>
              <a:rPr lang="en-US" dirty="0" smtClean="0"/>
              <a:t>is no rational mandate to </a:t>
            </a:r>
            <a:r>
              <a:rPr lang="en-US" i="1" dirty="0" smtClean="0"/>
              <a:t>conceive</a:t>
            </a:r>
            <a:r>
              <a:rPr lang="en-US" dirty="0" smtClean="0"/>
              <a:t> of someone as having consciousness given full physical knowledge of them</a:t>
            </a:r>
          </a:p>
          <a:p>
            <a:r>
              <a:rPr lang="en-US" dirty="0" smtClean="0"/>
              <a:t>But loses the war</a:t>
            </a:r>
          </a:p>
          <a:p>
            <a:pPr lvl="1"/>
            <a:r>
              <a:rPr lang="en-US" dirty="0" smtClean="0"/>
              <a:t>Because </a:t>
            </a:r>
            <a:r>
              <a:rPr lang="en-US" dirty="0" smtClean="0"/>
              <a:t>that is irrelevant to whether we must </a:t>
            </a:r>
            <a:r>
              <a:rPr lang="en-US" i="1" dirty="0" smtClean="0"/>
              <a:t>regard</a:t>
            </a:r>
            <a:r>
              <a:rPr lang="en-US" dirty="0" smtClean="0"/>
              <a:t> them as having consciousness: </a:t>
            </a:r>
            <a:endParaRPr lang="en-US" dirty="0" smtClean="0"/>
          </a:p>
          <a:p>
            <a:pPr lvl="1"/>
            <a:r>
              <a:rPr lang="en-US" dirty="0" smtClean="0"/>
              <a:t>Consciousness </a:t>
            </a:r>
            <a:r>
              <a:rPr lang="en-US" dirty="0" smtClean="0"/>
              <a:t>is not objective, </a:t>
            </a:r>
            <a:r>
              <a:rPr lang="en-US" dirty="0" smtClean="0"/>
              <a:t>so we </a:t>
            </a:r>
            <a:r>
              <a:rPr lang="en-US" dirty="0" smtClean="0"/>
              <a:t>do not think about consciousness by conceiving of </a:t>
            </a:r>
            <a:r>
              <a:rPr lang="en-US" dirty="0" smtClean="0"/>
              <a:t>it</a:t>
            </a:r>
            <a:endParaRPr lang="en-US" dirty="0" smtClean="0"/>
          </a:p>
          <a:p>
            <a:endParaRPr lang="en-US" dirty="0"/>
          </a:p>
        </p:txBody>
      </p:sp>
    </p:spTree>
    <p:extLst>
      <p:ext uri="{BB962C8B-B14F-4D97-AF65-F5344CB8AC3E}">
        <p14:creationId xmlns:p14="http://schemas.microsoft.com/office/powerpoint/2010/main" val="1121401436"/>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dualism?</a:t>
            </a:r>
            <a:endParaRPr lang="en-US" dirty="0"/>
          </a:p>
        </p:txBody>
      </p:sp>
      <p:sp>
        <p:nvSpPr>
          <p:cNvPr id="3" name="Content Placeholder 2"/>
          <p:cNvSpPr>
            <a:spLocks noGrp="1"/>
          </p:cNvSpPr>
          <p:nvPr>
            <p:ph idx="1"/>
          </p:nvPr>
        </p:nvSpPr>
        <p:spPr/>
        <p:txBody>
          <a:bodyPr/>
          <a:lstStyle/>
          <a:p>
            <a:r>
              <a:rPr lang="en-US" dirty="0" smtClean="0"/>
              <a:t>The </a:t>
            </a:r>
            <a:r>
              <a:rPr lang="en-US" dirty="0" err="1" smtClean="0"/>
              <a:t>physicalist</a:t>
            </a:r>
            <a:r>
              <a:rPr lang="en-US" dirty="0" smtClean="0"/>
              <a:t> and the dualist are each part right:</a:t>
            </a:r>
            <a:endParaRPr lang="en-US" dirty="0" smtClean="0"/>
          </a:p>
          <a:p>
            <a:pPr lvl="1"/>
            <a:r>
              <a:rPr lang="en-US" dirty="0" smtClean="0"/>
              <a:t>The </a:t>
            </a:r>
            <a:r>
              <a:rPr lang="en-US" dirty="0" smtClean="0"/>
              <a:t>objective world is entirely physical</a:t>
            </a:r>
          </a:p>
          <a:p>
            <a:pPr lvl="1"/>
            <a:r>
              <a:rPr lang="en-US" dirty="0" smtClean="0"/>
              <a:t>But a physical story remains radically incomplete</a:t>
            </a:r>
          </a:p>
          <a:p>
            <a:r>
              <a:rPr lang="en-US" dirty="0" smtClean="0"/>
              <a:t>But each are part wrong:</a:t>
            </a:r>
          </a:p>
          <a:p>
            <a:pPr lvl="1"/>
            <a:r>
              <a:rPr lang="en-US" dirty="0" smtClean="0"/>
              <a:t>Their dispute presupposes that consciousness is objective</a:t>
            </a:r>
          </a:p>
          <a:p>
            <a:pPr lvl="1"/>
            <a:r>
              <a:rPr lang="en-US" dirty="0" smtClean="0"/>
              <a:t>And consciousness is not objective</a:t>
            </a:r>
            <a:endParaRPr lang="en-US" dirty="0"/>
          </a:p>
        </p:txBody>
      </p:sp>
    </p:spTree>
    <p:extLst>
      <p:ext uri="{BB962C8B-B14F-4D97-AF65-F5344CB8AC3E}">
        <p14:creationId xmlns:p14="http://schemas.microsoft.com/office/powerpoint/2010/main" val="2871596763"/>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That’s it!</a:t>
            </a:r>
            <a:endParaRPr lang="en-US" dirty="0"/>
          </a:p>
        </p:txBody>
      </p:sp>
      <p:pic>
        <p:nvPicPr>
          <p:cNvPr id="5" name="Content Placeholder 4"/>
          <p:cNvPicPr>
            <a:picLocks noGrp="1" noChangeAspect="1"/>
          </p:cNvPicPr>
          <p:nvPr>
            <p:ph idx="1"/>
          </p:nvPr>
        </p:nvPicPr>
        <p:blipFill>
          <a:blip r:embed="rId2"/>
          <a:srcRect l="-37114" r="-37114"/>
          <a:stretch>
            <a:fillRect/>
          </a:stretch>
        </p:blipFill>
        <p:spPr/>
      </p:pic>
    </p:spTree>
    <p:extLst>
      <p:ext uri="{BB962C8B-B14F-4D97-AF65-F5344CB8AC3E}">
        <p14:creationId xmlns:p14="http://schemas.microsoft.com/office/powerpoint/2010/main" val="2399234220"/>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Mindset semantics</a:t>
            </a:r>
            <a:endParaRPr lang="en-US" dirty="0"/>
          </a:p>
        </p:txBody>
      </p:sp>
      <p:sp>
        <p:nvSpPr>
          <p:cNvPr id="3" name="Content Placeholder 2"/>
          <p:cNvSpPr>
            <a:spLocks noGrp="1"/>
          </p:cNvSpPr>
          <p:nvPr>
            <p:ph idx="1"/>
          </p:nvPr>
        </p:nvSpPr>
        <p:spPr/>
        <p:txBody>
          <a:bodyPr/>
          <a:lstStyle/>
          <a:p>
            <a:r>
              <a:rPr lang="en-US" dirty="0" smtClean="0"/>
              <a:t>Semantics represents the meanings one attaches to the ‘sentences’ through which one draws up a picture of the world</a:t>
            </a:r>
          </a:p>
          <a:p>
            <a:r>
              <a:rPr lang="en-US" dirty="0" smtClean="0"/>
              <a:t>It does so by representing the mindsets which suffice for implicit acceptance of that sentence</a:t>
            </a:r>
          </a:p>
          <a:p>
            <a:r>
              <a:rPr lang="en-US" dirty="0" smtClean="0"/>
              <a:t>Mindset includes at least …</a:t>
            </a:r>
          </a:p>
          <a:p>
            <a:pPr lvl="1"/>
            <a:r>
              <a:rPr lang="en-US" dirty="0" smtClean="0"/>
              <a:t>One’s conscious sense for how the world is (where this typically includes but is not exhausted by at least some of ‘perception’)</a:t>
            </a:r>
          </a:p>
          <a:p>
            <a:pPr lvl="1"/>
            <a:r>
              <a:rPr lang="en-US" dirty="0" smtClean="0"/>
              <a:t>One’s selection of some aspect of one’s sense-perceptual condition as ‘the momentary center of one’s world’</a:t>
            </a:r>
          </a:p>
          <a:p>
            <a:endParaRPr lang="en-US" dirty="0"/>
          </a:p>
        </p:txBody>
      </p:sp>
    </p:spTree>
    <p:extLst>
      <p:ext uri="{BB962C8B-B14F-4D97-AF65-F5344CB8AC3E}">
        <p14:creationId xmlns:p14="http://schemas.microsoft.com/office/powerpoint/2010/main" val="2374149759"/>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formally</a:t>
            </a:r>
            <a:endParaRPr lang="en-US" dirty="0"/>
          </a:p>
        </p:txBody>
      </p:sp>
      <p:sp>
        <p:nvSpPr>
          <p:cNvPr id="3" name="Content Placeholder 2"/>
          <p:cNvSpPr>
            <a:spLocks noGrp="1"/>
          </p:cNvSpPr>
          <p:nvPr>
            <p:ph idx="1"/>
          </p:nvPr>
        </p:nvSpPr>
        <p:spPr/>
        <p:txBody>
          <a:bodyPr/>
          <a:lstStyle/>
          <a:p>
            <a:r>
              <a:rPr lang="en-US" dirty="0" smtClean="0"/>
              <a:t>One’s total mindset at a time is represented by an abstract entity </a:t>
            </a:r>
            <a:r>
              <a:rPr lang="en-US" i="1" dirty="0" smtClean="0"/>
              <a:t>c</a:t>
            </a:r>
            <a:r>
              <a:rPr lang="en-US" dirty="0" smtClean="0"/>
              <a:t> (for ‘context’):</a:t>
            </a:r>
          </a:p>
          <a:p>
            <a:pPr lvl="1"/>
            <a:r>
              <a:rPr lang="en-US" dirty="0" smtClean="0"/>
              <a:t>One’s conscious sense for what the world is like by a set of possible worlds </a:t>
            </a:r>
            <a:r>
              <a:rPr lang="en-US" i="1" dirty="0" err="1" smtClean="0"/>
              <a:t>i</a:t>
            </a:r>
            <a:r>
              <a:rPr lang="en-US" i="1" baseline="-25000" dirty="0" err="1" smtClean="0"/>
              <a:t>c</a:t>
            </a:r>
            <a:r>
              <a:rPr lang="en-US" dirty="0" smtClean="0"/>
              <a:t> (for ‘information’)</a:t>
            </a:r>
          </a:p>
          <a:p>
            <a:pPr lvl="1"/>
            <a:r>
              <a:rPr lang="en-US" dirty="0"/>
              <a:t>One’s conscious </a:t>
            </a:r>
            <a:r>
              <a:rPr lang="en-US" dirty="0" smtClean="0"/>
              <a:t>selection of an entity as the temporary center of the world by a token state </a:t>
            </a:r>
            <a:r>
              <a:rPr lang="en-US" i="1" dirty="0" smtClean="0"/>
              <a:t>a</a:t>
            </a:r>
            <a:r>
              <a:rPr lang="en-US" i="1" baseline="-25000" dirty="0" smtClean="0"/>
              <a:t>c</a:t>
            </a:r>
            <a:r>
              <a:rPr lang="en-US" dirty="0" smtClean="0"/>
              <a:t> </a:t>
            </a:r>
            <a:r>
              <a:rPr lang="en-US" dirty="0"/>
              <a:t>(for </a:t>
            </a:r>
            <a:r>
              <a:rPr lang="en-US" dirty="0" smtClean="0"/>
              <a:t>‘attention’)</a:t>
            </a:r>
          </a:p>
          <a:p>
            <a:pPr lvl="1"/>
            <a:r>
              <a:rPr lang="en-US" dirty="0" smtClean="0"/>
              <a:t>Where </a:t>
            </a:r>
            <a:r>
              <a:rPr lang="en-US" i="1" dirty="0" smtClean="0"/>
              <a:t>a</a:t>
            </a:r>
            <a:r>
              <a:rPr lang="en-US" i="1" baseline="-25000" dirty="0" smtClean="0"/>
              <a:t>c</a:t>
            </a:r>
            <a:r>
              <a:rPr lang="en-US" dirty="0" smtClean="0"/>
              <a:t> exists at all </a:t>
            </a:r>
            <a:r>
              <a:rPr lang="en-US" i="1" dirty="0" smtClean="0"/>
              <a:t>w</a:t>
            </a:r>
            <a:r>
              <a:rPr lang="en-US" dirty="0" smtClean="0"/>
              <a:t> in </a:t>
            </a:r>
            <a:r>
              <a:rPr lang="en-US" i="1" dirty="0" err="1" smtClean="0"/>
              <a:t>i</a:t>
            </a:r>
            <a:r>
              <a:rPr lang="en-US" i="1" baseline="-25000" dirty="0" err="1" smtClean="0"/>
              <a:t>c</a:t>
            </a:r>
            <a:endParaRPr lang="en-US" dirty="0" smtClean="0"/>
          </a:p>
          <a:p>
            <a:r>
              <a:rPr lang="en-US" dirty="0" smtClean="0"/>
              <a:t>So to understand the meaning S has to one is to know which </a:t>
            </a:r>
            <a:r>
              <a:rPr lang="en-US" i="1" dirty="0" smtClean="0"/>
              <a:t>c</a:t>
            </a:r>
            <a:r>
              <a:rPr lang="en-US" dirty="0" smtClean="0"/>
              <a:t> = (</a:t>
            </a:r>
            <a:r>
              <a:rPr lang="en-US" i="1" dirty="0" err="1" smtClean="0"/>
              <a:t>i</a:t>
            </a:r>
            <a:r>
              <a:rPr lang="en-US" i="1" baseline="-25000" dirty="0" err="1" smtClean="0"/>
              <a:t>c</a:t>
            </a:r>
            <a:r>
              <a:rPr lang="en-US" dirty="0" smtClean="0"/>
              <a:t>, </a:t>
            </a:r>
            <a:r>
              <a:rPr lang="en-US" i="1" dirty="0" smtClean="0"/>
              <a:t>a</a:t>
            </a:r>
            <a:r>
              <a:rPr lang="en-US" i="1" baseline="-25000" dirty="0" smtClean="0"/>
              <a:t>c</a:t>
            </a:r>
            <a:r>
              <a:rPr lang="en-US" dirty="0" smtClean="0"/>
              <a:t>) ‘support’ S — we write </a:t>
            </a:r>
            <a:r>
              <a:rPr lang="en-US" i="1" dirty="0" smtClean="0"/>
              <a:t>c</a:t>
            </a:r>
            <a:r>
              <a:rPr lang="en-US" dirty="0" smtClean="0"/>
              <a:t> ||– S.</a:t>
            </a:r>
          </a:p>
          <a:p>
            <a:pPr lvl="1"/>
            <a:r>
              <a:rPr lang="en-US" dirty="0" smtClean="0"/>
              <a:t>Then validity is characterized as ‘support-preservation’: S |– T just if for any </a:t>
            </a:r>
            <a:r>
              <a:rPr lang="en-US" i="1" dirty="0" smtClean="0"/>
              <a:t>c</a:t>
            </a:r>
            <a:r>
              <a:rPr lang="en-US" dirty="0" smtClean="0"/>
              <a:t> ||– S, </a:t>
            </a:r>
            <a:r>
              <a:rPr lang="en-US" i="1" dirty="0" smtClean="0"/>
              <a:t>c</a:t>
            </a:r>
            <a:r>
              <a:rPr lang="en-US" dirty="0" smtClean="0"/>
              <a:t> ||– T.</a:t>
            </a:r>
            <a:endParaRPr lang="en-US" dirty="0"/>
          </a:p>
          <a:p>
            <a:pPr lvl="1"/>
            <a:endParaRPr lang="en-US" dirty="0" smtClean="0"/>
          </a:p>
        </p:txBody>
      </p:sp>
    </p:spTree>
    <p:extLst>
      <p:ext uri="{BB962C8B-B14F-4D97-AF65-F5344CB8AC3E}">
        <p14:creationId xmlns:p14="http://schemas.microsoft.com/office/powerpoint/2010/main" val="4277029372"/>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Purport to objectivity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Our semantics represents the purport to objectivity of my sentence S by assigning S a possible-worlds truth-condition as its content:</a:t>
            </a:r>
          </a:p>
          <a:p>
            <a:pPr lvl="1"/>
            <a:r>
              <a:rPr lang="en-US" dirty="0" smtClean="0"/>
              <a:t>When we speak with maximal disengagement and generality, we presuppose the ‘actual world’ as a neutral arbiter of truth for everyone and at all times;</a:t>
            </a:r>
          </a:p>
          <a:p>
            <a:pPr lvl="1"/>
            <a:r>
              <a:rPr lang="en-US" dirty="0" smtClean="0"/>
              <a:t>A sentence is more or less determinate just when it places a stronger or weaker demand on the actual world — just when a smaller or greater range of possible worlds are compatible with how it depicts things as being</a:t>
            </a:r>
          </a:p>
          <a:p>
            <a:pPr lvl="1"/>
            <a:r>
              <a:rPr lang="en-US" dirty="0" smtClean="0"/>
              <a:t>A false sentence is one depicting things as being a way that is </a:t>
            </a:r>
            <a:r>
              <a:rPr lang="en-US" i="1" dirty="0" smtClean="0"/>
              <a:t>merely</a:t>
            </a:r>
            <a:r>
              <a:rPr lang="en-US" dirty="0" smtClean="0"/>
              <a:t> possible</a:t>
            </a:r>
          </a:p>
          <a:p>
            <a:r>
              <a:rPr lang="en-US" dirty="0" smtClean="0"/>
              <a:t>Conversely, our semantics represents the absence of such a purport by assigning content to S so as to depict that its truth-condition is unimportant as part of its meaning</a:t>
            </a:r>
            <a:endParaRPr lang="en-US" dirty="0"/>
          </a:p>
        </p:txBody>
      </p:sp>
    </p:spTree>
    <p:extLst>
      <p:ext uri="{BB962C8B-B14F-4D97-AF65-F5344CB8AC3E}">
        <p14:creationId xmlns:p14="http://schemas.microsoft.com/office/powerpoint/2010/main" val="2349027057"/>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formally</a:t>
            </a:r>
            <a:endParaRPr lang="en-US" dirty="0"/>
          </a:p>
        </p:txBody>
      </p:sp>
      <p:sp>
        <p:nvSpPr>
          <p:cNvPr id="3" name="Content Placeholder 2"/>
          <p:cNvSpPr>
            <a:spLocks noGrp="1"/>
          </p:cNvSpPr>
          <p:nvPr>
            <p:ph idx="1"/>
          </p:nvPr>
        </p:nvSpPr>
        <p:spPr/>
        <p:txBody>
          <a:bodyPr>
            <a:normAutofit lnSpcReduction="10000"/>
          </a:bodyPr>
          <a:lstStyle/>
          <a:p>
            <a:r>
              <a:rPr lang="en-US" dirty="0" smtClean="0"/>
              <a:t>[[S</a:t>
            </a:r>
            <a:r>
              <a:rPr lang="en-US" dirty="0"/>
              <a:t>]]</a:t>
            </a:r>
            <a:r>
              <a:rPr lang="en-US" i="1" baseline="30000" dirty="0" smtClean="0"/>
              <a:t>c</a:t>
            </a:r>
            <a:r>
              <a:rPr lang="en-US" dirty="0" smtClean="0"/>
              <a:t> abbreviates ‘the content of S relative to </a:t>
            </a:r>
            <a:r>
              <a:rPr lang="en-US" i="1" dirty="0" smtClean="0"/>
              <a:t>c’</a:t>
            </a:r>
            <a:endParaRPr lang="en-US" dirty="0" smtClean="0"/>
          </a:p>
          <a:p>
            <a:r>
              <a:rPr lang="en-US" dirty="0" smtClean="0"/>
              <a:t>[[Bertrand Russell lived exactly 35,986 days]]</a:t>
            </a:r>
            <a:r>
              <a:rPr lang="en-US" i="1" baseline="30000" dirty="0" smtClean="0"/>
              <a:t>c</a:t>
            </a:r>
            <a:r>
              <a:rPr lang="en-US" dirty="0" smtClean="0"/>
              <a:t> = {w : at w, Bertrand Russell lived exactly 35,986 days}</a:t>
            </a:r>
          </a:p>
          <a:p>
            <a:r>
              <a:rPr lang="en-US" dirty="0" smtClean="0"/>
              <a:t>Accordingly, </a:t>
            </a:r>
            <a:r>
              <a:rPr lang="en-US" i="1" dirty="0" smtClean="0"/>
              <a:t>c</a:t>
            </a:r>
            <a:r>
              <a:rPr lang="en-US" dirty="0" smtClean="0"/>
              <a:t> ||– ‘Bertrand Russell lived exactly 35,986 days’ just when </a:t>
            </a:r>
            <a:r>
              <a:rPr lang="en-US" i="1" dirty="0" err="1" smtClean="0"/>
              <a:t>i</a:t>
            </a:r>
            <a:r>
              <a:rPr lang="en-US" i="1" baseline="-25000" dirty="0" err="1" smtClean="0"/>
              <a:t>c</a:t>
            </a:r>
            <a:r>
              <a:rPr lang="en-US" i="1" baseline="-25000" dirty="0" smtClean="0"/>
              <a:t> </a:t>
            </a:r>
            <a:r>
              <a:rPr lang="en-US" dirty="0"/>
              <a:t>≤</a:t>
            </a:r>
            <a:r>
              <a:rPr lang="en-US" dirty="0" smtClean="0"/>
              <a:t> [[</a:t>
            </a:r>
            <a:r>
              <a:rPr lang="en-US" dirty="0"/>
              <a:t>Bertrand Russell lived exactly 35,986 </a:t>
            </a:r>
            <a:r>
              <a:rPr lang="en-US" dirty="0" smtClean="0"/>
              <a:t>days]]</a:t>
            </a:r>
            <a:r>
              <a:rPr lang="en-US" i="1" baseline="30000" dirty="0" smtClean="0"/>
              <a:t>c</a:t>
            </a:r>
            <a:r>
              <a:rPr lang="en-US" dirty="0" smtClean="0"/>
              <a:t> — just when the person in </a:t>
            </a:r>
            <a:r>
              <a:rPr lang="en-US" i="1" dirty="0" smtClean="0"/>
              <a:t>c</a:t>
            </a:r>
            <a:r>
              <a:rPr lang="en-US" dirty="0" smtClean="0"/>
              <a:t> has as part of their conscious sense for how the world is</a:t>
            </a:r>
          </a:p>
          <a:p>
            <a:r>
              <a:rPr lang="en-US" dirty="0" smtClean="0"/>
              <a:t>But ‘it is within my conscious life that: Bertrand Russell lived exactly 35,986 days</a:t>
            </a:r>
            <a:r>
              <a:rPr lang="en-US" dirty="0"/>
              <a:t>]]</a:t>
            </a:r>
            <a:r>
              <a:rPr lang="en-US" i="1" baseline="30000" dirty="0"/>
              <a:t>c</a:t>
            </a:r>
            <a:r>
              <a:rPr lang="en-US" dirty="0"/>
              <a:t> </a:t>
            </a:r>
            <a:r>
              <a:rPr lang="en-US" dirty="0" smtClean="0"/>
              <a:t>≠ </a:t>
            </a:r>
            <a:r>
              <a:rPr lang="en-US" dirty="0"/>
              <a:t>{w : at w</a:t>
            </a:r>
            <a:r>
              <a:rPr lang="en-US" dirty="0" smtClean="0"/>
              <a:t>, it is within my conscious life that: </a:t>
            </a:r>
            <a:r>
              <a:rPr lang="en-US" dirty="0"/>
              <a:t>Bertrand Russell lived exactly 35,986 days</a:t>
            </a:r>
            <a:r>
              <a:rPr lang="en-US" dirty="0" smtClean="0"/>
              <a:t>}</a:t>
            </a:r>
          </a:p>
          <a:p>
            <a:r>
              <a:rPr lang="en-US" dirty="0" smtClean="0"/>
              <a:t>What then?</a:t>
            </a:r>
          </a:p>
          <a:p>
            <a:endParaRPr lang="en-US" dirty="0"/>
          </a:p>
        </p:txBody>
      </p:sp>
    </p:spTree>
    <p:extLst>
      <p:ext uri="{BB962C8B-B14F-4D97-AF65-F5344CB8AC3E}">
        <p14:creationId xmlns:p14="http://schemas.microsoft.com/office/powerpoint/2010/main" val="3719914422"/>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semantics</a:t>
            </a:r>
            <a:endParaRPr lang="en-US" dirty="0"/>
          </a:p>
        </p:txBody>
      </p:sp>
      <p:sp>
        <p:nvSpPr>
          <p:cNvPr id="3" name="Content Placeholder 2"/>
          <p:cNvSpPr>
            <a:spLocks noGrp="1"/>
          </p:cNvSpPr>
          <p:nvPr>
            <p:ph idx="1"/>
          </p:nvPr>
        </p:nvSpPr>
        <p:spPr/>
        <p:txBody>
          <a:bodyPr/>
          <a:lstStyle/>
          <a:p>
            <a:r>
              <a:rPr lang="en-US" dirty="0" smtClean="0"/>
              <a:t>[[C(Bertrand Russell lived exactly 35,986 days)]]</a:t>
            </a:r>
            <a:r>
              <a:rPr lang="en-US" i="1" baseline="30000" dirty="0" smtClean="0"/>
              <a:t>c</a:t>
            </a:r>
            <a:r>
              <a:rPr lang="en-US" dirty="0" smtClean="0"/>
              <a:t> = …</a:t>
            </a:r>
          </a:p>
          <a:p>
            <a:pPr lvl="1"/>
            <a:r>
              <a:rPr lang="en-US" i="1" dirty="0" smtClean="0"/>
              <a:t>W</a:t>
            </a:r>
            <a:r>
              <a:rPr lang="en-US" dirty="0" smtClean="0"/>
              <a:t> just if </a:t>
            </a:r>
            <a:r>
              <a:rPr lang="en-US" i="1" dirty="0" err="1" smtClean="0"/>
              <a:t>i</a:t>
            </a:r>
            <a:r>
              <a:rPr lang="en-US" i="1" baseline="-25000" dirty="0" err="1" smtClean="0"/>
              <a:t>c</a:t>
            </a:r>
            <a:r>
              <a:rPr lang="en-US" dirty="0" smtClean="0"/>
              <a:t> ≤ </a:t>
            </a:r>
            <a:r>
              <a:rPr lang="en-US" dirty="0"/>
              <a:t>[</a:t>
            </a:r>
            <a:r>
              <a:rPr lang="en-US" dirty="0" smtClean="0"/>
              <a:t>[Bertrand </a:t>
            </a:r>
            <a:r>
              <a:rPr lang="en-US" dirty="0"/>
              <a:t>Russell lived exactly 35,986 </a:t>
            </a:r>
            <a:r>
              <a:rPr lang="en-US" dirty="0" smtClean="0"/>
              <a:t>days]</a:t>
            </a:r>
            <a:r>
              <a:rPr lang="en-US" dirty="0"/>
              <a:t>]</a:t>
            </a:r>
            <a:r>
              <a:rPr lang="en-US" i="1" baseline="30000" dirty="0" smtClean="0"/>
              <a:t>c</a:t>
            </a:r>
            <a:r>
              <a:rPr lang="en-US" dirty="0" smtClean="0"/>
              <a:t>;</a:t>
            </a:r>
            <a:endParaRPr lang="en-US" dirty="0"/>
          </a:p>
          <a:p>
            <a:pPr lvl="1"/>
            <a:r>
              <a:rPr lang="en-US" i="1" dirty="0" smtClean="0"/>
              <a:t>W</a:t>
            </a:r>
            <a:r>
              <a:rPr lang="en-US" dirty="0" smtClean="0"/>
              <a:t> \ </a:t>
            </a:r>
            <a:r>
              <a:rPr lang="en-US" i="1" dirty="0" smtClean="0"/>
              <a:t>W</a:t>
            </a:r>
            <a:r>
              <a:rPr lang="en-US" dirty="0" smtClean="0"/>
              <a:t>, otherwise </a:t>
            </a:r>
          </a:p>
          <a:p>
            <a:r>
              <a:rPr lang="en-US" dirty="0" smtClean="0"/>
              <a:t>That is to say, C(S) ‘tests’ </a:t>
            </a:r>
            <a:r>
              <a:rPr lang="en-US" i="1" dirty="0" smtClean="0"/>
              <a:t>c</a:t>
            </a:r>
            <a:r>
              <a:rPr lang="en-US" dirty="0" smtClean="0"/>
              <a:t> for whether </a:t>
            </a:r>
            <a:r>
              <a:rPr lang="en-US" i="1" dirty="0" smtClean="0"/>
              <a:t>c</a:t>
            </a:r>
            <a:r>
              <a:rPr lang="en-US" dirty="0" smtClean="0"/>
              <a:t> accepts S: if so, thumbs up; if not, thumbs down:</a:t>
            </a:r>
          </a:p>
          <a:p>
            <a:pPr lvl="1"/>
            <a:r>
              <a:rPr lang="en-US" dirty="0" smtClean="0"/>
              <a:t>Thumbs up and the content is the trivially true proposition; thumbs down and it is the trivially false proposition</a:t>
            </a:r>
          </a:p>
          <a:p>
            <a:pPr lvl="1"/>
            <a:r>
              <a:rPr lang="en-US" dirty="0" smtClean="0"/>
              <a:t>This depicts the ‘reflection within itself’ of consciousness: although whether C(S) is ‘contingent’, whether it is true is something I cannot be uncertain about</a:t>
            </a:r>
          </a:p>
          <a:p>
            <a:pPr lvl="1"/>
            <a:r>
              <a:rPr lang="en-US" dirty="0" smtClean="0"/>
              <a:t>There is no distance between me and myself; by contrast the possibility of uncertainty is the hallmark of objectivity</a:t>
            </a:r>
            <a:endParaRPr lang="en-US" dirty="0"/>
          </a:p>
        </p:txBody>
      </p:sp>
    </p:spTree>
    <p:extLst>
      <p:ext uri="{BB962C8B-B14F-4D97-AF65-F5344CB8AC3E}">
        <p14:creationId xmlns:p14="http://schemas.microsoft.com/office/powerpoint/2010/main" val="1244138049"/>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reflection within itself</a:t>
            </a:r>
            <a:endParaRPr lang="en-US" dirty="0"/>
          </a:p>
        </p:txBody>
      </p:sp>
      <p:sp>
        <p:nvSpPr>
          <p:cNvPr id="3" name="Content Placeholder 2"/>
          <p:cNvSpPr>
            <a:spLocks noGrp="1"/>
          </p:cNvSpPr>
          <p:nvPr>
            <p:ph idx="1"/>
          </p:nvPr>
        </p:nvSpPr>
        <p:spPr/>
        <p:txBody>
          <a:bodyPr/>
          <a:lstStyle/>
          <a:p>
            <a:r>
              <a:rPr lang="en-US" dirty="0" smtClean="0"/>
              <a:t>S –||– C(S)</a:t>
            </a:r>
          </a:p>
          <a:p>
            <a:pPr lvl="1"/>
            <a:r>
              <a:rPr lang="en-US" dirty="0" smtClean="0"/>
              <a:t>In one’s conscious view, Bertrand Russell lived exactly 35,689 days just if in </a:t>
            </a:r>
            <a:r>
              <a:rPr lang="en-US" dirty="0"/>
              <a:t>one’s conscious view, in one’s conscious view, </a:t>
            </a:r>
            <a:r>
              <a:rPr lang="en-US" dirty="0" smtClean="0"/>
              <a:t>Bertrand </a:t>
            </a:r>
            <a:r>
              <a:rPr lang="en-US" dirty="0"/>
              <a:t>Russell lived exactly 35,689 </a:t>
            </a:r>
            <a:r>
              <a:rPr lang="en-US" dirty="0" smtClean="0"/>
              <a:t>days</a:t>
            </a:r>
          </a:p>
          <a:p>
            <a:r>
              <a:rPr lang="en-US" dirty="0" smtClean="0"/>
              <a:t>C(S) –||– CC(S)</a:t>
            </a:r>
          </a:p>
          <a:p>
            <a:pPr lvl="1"/>
            <a:r>
              <a:rPr lang="en-US" dirty="0" smtClean="0"/>
              <a:t>It is our sense that consciousness reflects within itself</a:t>
            </a:r>
          </a:p>
          <a:p>
            <a:r>
              <a:rPr lang="en-US" dirty="0" smtClean="0"/>
              <a:t>~S |– ~C(S)</a:t>
            </a:r>
          </a:p>
          <a:p>
            <a:pPr lvl="1"/>
            <a:r>
              <a:rPr lang="en-US" dirty="0" smtClean="0"/>
              <a:t>I can’t regard myself as being right now mistaken about </a:t>
            </a:r>
            <a:r>
              <a:rPr lang="en-US" i="1" dirty="0" smtClean="0"/>
              <a:t>this</a:t>
            </a:r>
            <a:endParaRPr lang="en-US" dirty="0" smtClean="0"/>
          </a:p>
          <a:p>
            <a:r>
              <a:rPr lang="en-US" dirty="0" smtClean="0"/>
              <a:t>~C(S) |/– ~S</a:t>
            </a:r>
          </a:p>
          <a:p>
            <a:pPr lvl="1"/>
            <a:r>
              <a:rPr lang="en-US" dirty="0" smtClean="0"/>
              <a:t>I do not regard myself as omniscient: uncertainty is the middle way between certainty yes and certainty no</a:t>
            </a:r>
          </a:p>
          <a:p>
            <a:pPr lvl="1"/>
            <a:endParaRPr lang="en-US" dirty="0"/>
          </a:p>
        </p:txBody>
      </p:sp>
    </p:spTree>
    <p:extLst>
      <p:ext uri="{BB962C8B-B14F-4D97-AF65-F5344CB8AC3E}">
        <p14:creationId xmlns:p14="http://schemas.microsoft.com/office/powerpoint/2010/main" val="556762194"/>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object of attention </a:t>
            </a:r>
            <a:endParaRPr lang="en-US" dirty="0"/>
          </a:p>
        </p:txBody>
      </p:sp>
      <p:sp>
        <p:nvSpPr>
          <p:cNvPr id="3" name="Content Placeholder 2"/>
          <p:cNvSpPr>
            <a:spLocks noGrp="1"/>
          </p:cNvSpPr>
          <p:nvPr>
            <p:ph idx="1"/>
          </p:nvPr>
        </p:nvSpPr>
        <p:spPr/>
        <p:txBody>
          <a:bodyPr>
            <a:normAutofit fontScale="92500"/>
          </a:bodyPr>
          <a:lstStyle/>
          <a:p>
            <a:r>
              <a:rPr lang="en-US" dirty="0" smtClean="0"/>
              <a:t>Since </a:t>
            </a:r>
            <a:r>
              <a:rPr lang="en-US" i="1" dirty="0" smtClean="0"/>
              <a:t>a</a:t>
            </a:r>
            <a:r>
              <a:rPr lang="en-US" i="1" baseline="-25000" dirty="0" smtClean="0"/>
              <a:t>c</a:t>
            </a:r>
            <a:r>
              <a:rPr lang="en-US" dirty="0" smtClean="0"/>
              <a:t> is genuine and exists at all worlds in </a:t>
            </a:r>
            <a:r>
              <a:rPr lang="en-US" i="1" dirty="0" err="1" smtClean="0"/>
              <a:t>i</a:t>
            </a:r>
            <a:r>
              <a:rPr lang="en-US" i="1" baseline="-25000" dirty="0" err="1" smtClean="0"/>
              <a:t>c</a:t>
            </a:r>
            <a:r>
              <a:rPr lang="en-US" dirty="0" smtClean="0"/>
              <a:t>, ‘this exists’ is ‘analytic’ in the sense of true whenever endorsed and manifestly so, yet contingent and </a:t>
            </a:r>
            <a:r>
              <a:rPr lang="en-US" dirty="0" err="1" smtClean="0"/>
              <a:t>nonindexical</a:t>
            </a:r>
            <a:endParaRPr lang="en-US" dirty="0" smtClean="0"/>
          </a:p>
          <a:p>
            <a:pPr lvl="1"/>
            <a:r>
              <a:rPr lang="en-US" dirty="0" smtClean="0"/>
              <a:t>If </a:t>
            </a:r>
            <a:r>
              <a:rPr lang="en-US" i="1" dirty="0" smtClean="0"/>
              <a:t>a</a:t>
            </a:r>
            <a:r>
              <a:rPr lang="en-US" i="1" baseline="-25000" dirty="0" smtClean="0"/>
              <a:t>c</a:t>
            </a:r>
            <a:r>
              <a:rPr lang="en-US" dirty="0" smtClean="0"/>
              <a:t> has its qualitative kind essentially, then ‘this is thus’ is analytic (and contingent and </a:t>
            </a:r>
            <a:r>
              <a:rPr lang="en-US" dirty="0" err="1" smtClean="0"/>
              <a:t>nonindexical</a:t>
            </a:r>
            <a:r>
              <a:rPr lang="en-US" dirty="0" smtClean="0"/>
              <a:t>);</a:t>
            </a:r>
          </a:p>
          <a:p>
            <a:pPr lvl="1"/>
            <a:r>
              <a:rPr lang="en-US" dirty="0" smtClean="0"/>
              <a:t>When I make no relevant mistakes, ‘this red tomato exists’ is something about which I can be certain</a:t>
            </a:r>
          </a:p>
          <a:p>
            <a:pPr lvl="2"/>
            <a:r>
              <a:rPr lang="en-US" dirty="0" smtClean="0"/>
              <a:t>Suppose I adopt a soberly neutral stance about whether I am  dreaming: then ‘this red patch exists’ is something about which I can be certain if I make no mistakes; since I can’t regard myself as mistaken, I am certain about it — as per Price</a:t>
            </a:r>
          </a:p>
          <a:p>
            <a:pPr lvl="1"/>
            <a:r>
              <a:rPr lang="en-US" dirty="0" smtClean="0"/>
              <a:t>If ‘I’ refers to the creature who perceives this, ‘I exist’ is something about which I am always certain — as per Descartes</a:t>
            </a:r>
          </a:p>
          <a:p>
            <a:pPr lvl="1"/>
            <a:endParaRPr lang="en-US" dirty="0"/>
          </a:p>
        </p:txBody>
      </p:sp>
    </p:spTree>
    <p:extLst>
      <p:ext uri="{BB962C8B-B14F-4D97-AF65-F5344CB8AC3E}">
        <p14:creationId xmlns:p14="http://schemas.microsoft.com/office/powerpoint/2010/main" val="2236126397"/>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Affinity with Higher-order views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fundamental case for these views has attractive aspects:</a:t>
            </a:r>
          </a:p>
          <a:p>
            <a:pPr lvl="1"/>
            <a:r>
              <a:rPr lang="en-US" dirty="0" smtClean="0"/>
              <a:t>Not all qualities of perception or sensation are phenomenologically manifest: only those targeted by attention</a:t>
            </a:r>
          </a:p>
          <a:p>
            <a:pPr lvl="1"/>
            <a:r>
              <a:rPr lang="en-US" dirty="0" smtClean="0"/>
              <a:t>They then exist not just in reality but as part of what the world is consciously like for me; and claims like ‘it is within consciousness that this tingle in my toe exists’ are a significant part of the story of my conscious life</a:t>
            </a:r>
          </a:p>
          <a:p>
            <a:r>
              <a:rPr lang="en-US" dirty="0" smtClean="0"/>
              <a:t>Maybe a higher-order view could be true in the following attenuated sense:</a:t>
            </a:r>
          </a:p>
          <a:p>
            <a:pPr lvl="1"/>
            <a:r>
              <a:rPr lang="en-US" dirty="0" smtClean="0"/>
              <a:t>Perhaps some tracking-like relation is such that knowing that some bit of some brain bears it to some qualitative state would demand treating the conscious life of the creature encasing that brain as presenting that state</a:t>
            </a:r>
          </a:p>
          <a:p>
            <a:pPr lvl="1"/>
            <a:r>
              <a:rPr lang="en-US" dirty="0" smtClean="0"/>
              <a:t>If so, then two objective and therefore ‘non-conscious’ things would ‘add up’ to consciousness</a:t>
            </a:r>
          </a:p>
          <a:p>
            <a:pPr lvl="2"/>
            <a:r>
              <a:rPr lang="en-US" dirty="0" smtClean="0"/>
              <a:t>Certainly </a:t>
            </a:r>
            <a:r>
              <a:rPr lang="en-US" i="1" dirty="0" smtClean="0"/>
              <a:t>some</a:t>
            </a:r>
            <a:r>
              <a:rPr lang="en-US" dirty="0" smtClean="0"/>
              <a:t> number of objective and therefore non-conscious things add up to consciousness. One? Two? Many? Since consciousness is not within the objective world but is ‘grounded’ in it, everyone has to say something like this</a:t>
            </a:r>
          </a:p>
        </p:txBody>
      </p:sp>
    </p:spTree>
    <p:extLst>
      <p:ext uri="{BB962C8B-B14F-4D97-AF65-F5344CB8AC3E}">
        <p14:creationId xmlns:p14="http://schemas.microsoft.com/office/powerpoint/2010/main" val="828455157"/>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Divergence from Higher-order views</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It is an odd and confusing way of speaking to say that a certain objective qualitative state has the extrinsic property of ‘being conscious’ under certain circumstances;</a:t>
            </a:r>
          </a:p>
          <a:p>
            <a:pPr marL="457200" indent="-457200">
              <a:buFont typeface="+mj-lt"/>
              <a:buAutoNum type="arabicPeriod"/>
            </a:pPr>
            <a:r>
              <a:rPr lang="en-US" dirty="0" smtClean="0"/>
              <a:t>Friends of higher-order positions all to my knowledge treat consciousness as an objective aggregate of quality and pointer — a mistake, because consciousness isn’t objective</a:t>
            </a:r>
          </a:p>
          <a:p>
            <a:pPr marL="457200" indent="-457200">
              <a:buFont typeface="+mj-lt"/>
              <a:buAutoNum type="arabicPeriod"/>
            </a:pPr>
            <a:r>
              <a:rPr lang="en-US" dirty="0" smtClean="0"/>
              <a:t>Clearly there is more to conscious life than presentation of sensation: thinking and other actions, affect, imagination, interpretation of what is perceived, other things I know …</a:t>
            </a:r>
            <a:endParaRPr lang="en-US" dirty="0"/>
          </a:p>
        </p:txBody>
      </p:sp>
    </p:spTree>
    <p:extLst>
      <p:ext uri="{BB962C8B-B14F-4D97-AF65-F5344CB8AC3E}">
        <p14:creationId xmlns:p14="http://schemas.microsoft.com/office/powerpoint/2010/main" val="3555060021"/>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‘phenomenal’ v ‘access’</a:t>
            </a:r>
            <a:endParaRPr lang="en-US" dirty="0"/>
          </a:p>
        </p:txBody>
      </p:sp>
      <p:sp>
        <p:nvSpPr>
          <p:cNvPr id="3" name="Content Placeholder 2"/>
          <p:cNvSpPr>
            <a:spLocks noGrp="1"/>
          </p:cNvSpPr>
          <p:nvPr>
            <p:ph idx="1"/>
          </p:nvPr>
        </p:nvSpPr>
        <p:spPr/>
        <p:txBody>
          <a:bodyPr/>
          <a:lstStyle/>
          <a:p>
            <a:r>
              <a:rPr lang="en-US" dirty="0" smtClean="0"/>
              <a:t>Allegedly: the former concerns qualities and is ‘hard’; the latter concerns function and is ‘easy’</a:t>
            </a:r>
          </a:p>
          <a:p>
            <a:pPr lvl="1"/>
            <a:r>
              <a:rPr lang="en-US" dirty="0" smtClean="0"/>
              <a:t>Maybe it is a hard question how qualities emerge from the physical, but qualit</a:t>
            </a:r>
            <a:r>
              <a:rPr lang="en-US" dirty="0"/>
              <a:t>i</a:t>
            </a:r>
            <a:r>
              <a:rPr lang="en-US" dirty="0" smtClean="0"/>
              <a:t>es are neither necessary (agentive flow; live knowledge beyond perception) nor sufficient (unattended sensation; Eden) for consciousness — so that question is not about consciousness</a:t>
            </a:r>
          </a:p>
          <a:p>
            <a:pPr lvl="1"/>
            <a:r>
              <a:rPr lang="en-US" dirty="0" smtClean="0"/>
              <a:t>Maybe something objective and functional pertaining to transmission of vehicles pertaining to quality underlies the bringing of qualities within conscious life, but because the rational constraints connecting opinion about consciousness to opinion about the objective are </a:t>
            </a:r>
            <a:r>
              <a:rPr lang="en-US" dirty="0" err="1" smtClean="0"/>
              <a:t>simulational</a:t>
            </a:r>
            <a:r>
              <a:rPr lang="en-US" dirty="0" smtClean="0"/>
              <a:t> rather than conceptual, the problem of how it does so must remain ‘hard’</a:t>
            </a:r>
            <a:endParaRPr lang="en-US" dirty="0"/>
          </a:p>
        </p:txBody>
      </p:sp>
    </p:spTree>
    <p:extLst>
      <p:ext uri="{BB962C8B-B14F-4D97-AF65-F5344CB8AC3E}">
        <p14:creationId xmlns:p14="http://schemas.microsoft.com/office/powerpoint/2010/main" val="436723884"/>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squeezing arguments from pictures</a:t>
            </a:r>
            <a:endParaRPr lang="en-US" dirty="0"/>
          </a:p>
        </p:txBody>
      </p:sp>
      <p:sp>
        <p:nvSpPr>
          <p:cNvPr id="3" name="Content Placeholder 2"/>
          <p:cNvSpPr>
            <a:spLocks noGrp="1"/>
          </p:cNvSpPr>
          <p:nvPr>
            <p:ph idx="1"/>
          </p:nvPr>
        </p:nvSpPr>
        <p:spPr/>
        <p:txBody>
          <a:bodyPr/>
          <a:lstStyle/>
          <a:p>
            <a:r>
              <a:rPr lang="en-US" dirty="0" smtClean="0"/>
              <a:t>Supposing that consciousness is objective, a range of unattractive consequences follow …</a:t>
            </a:r>
            <a:endParaRPr lang="en-US" dirty="0"/>
          </a:p>
        </p:txBody>
      </p:sp>
    </p:spTree>
    <p:extLst>
      <p:ext uri="{BB962C8B-B14F-4D97-AF65-F5344CB8AC3E}">
        <p14:creationId xmlns:p14="http://schemas.microsoft.com/office/powerpoint/2010/main" val="212346941"/>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a:t>
            </a:r>
            <a:br>
              <a:rPr lang="en-US" dirty="0" smtClean="0"/>
            </a:br>
            <a:r>
              <a:rPr lang="en-US" dirty="0" smtClean="0"/>
              <a:t>soul-pellets</a:t>
            </a:r>
            <a:endParaRPr lang="en-US" dirty="0"/>
          </a:p>
        </p:txBody>
      </p:sp>
      <p:sp>
        <p:nvSpPr>
          <p:cNvPr id="3" name="Content Placeholder 2"/>
          <p:cNvSpPr>
            <a:spLocks noGrp="1"/>
          </p:cNvSpPr>
          <p:nvPr>
            <p:ph idx="1"/>
          </p:nvPr>
        </p:nvSpPr>
        <p:spPr/>
        <p:txBody>
          <a:bodyPr/>
          <a:lstStyle/>
          <a:p>
            <a:r>
              <a:rPr lang="en-US" dirty="0" smtClean="0"/>
              <a:t>Keeping my conscious life separate from yours requires distinct ‘subjects of experience’;</a:t>
            </a:r>
          </a:p>
          <a:p>
            <a:r>
              <a:rPr lang="en-US" dirty="0" smtClean="0"/>
              <a:t>Dualism </a:t>
            </a:r>
            <a:r>
              <a:rPr lang="en-US" dirty="0"/>
              <a:t>is </a:t>
            </a:r>
            <a:r>
              <a:rPr lang="en-US" dirty="0" smtClean="0"/>
              <a:t>true;</a:t>
            </a:r>
          </a:p>
          <a:p>
            <a:r>
              <a:rPr lang="en-US" dirty="0" smtClean="0"/>
              <a:t>So ‘subjects of experience’ are nonphysical ‘soul-pellets’</a:t>
            </a:r>
          </a:p>
          <a:p>
            <a:r>
              <a:rPr lang="en-US" dirty="0" smtClean="0"/>
              <a:t>But as Hume pointed out, we find no soul-pellets</a:t>
            </a:r>
          </a:p>
          <a:p>
            <a:endParaRPr lang="en-US" dirty="0"/>
          </a:p>
          <a:p>
            <a:endParaRPr lang="en-US" dirty="0" smtClean="0"/>
          </a:p>
          <a:p>
            <a:endParaRPr lang="en-US" dirty="0"/>
          </a:p>
        </p:txBody>
      </p:sp>
    </p:spTree>
    <p:extLst>
      <p:ext uri="{BB962C8B-B14F-4D97-AF65-F5344CB8AC3E}">
        <p14:creationId xmlns:p14="http://schemas.microsoft.com/office/powerpoint/2010/main" val="2938958130"/>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2: </a:t>
            </a:r>
            <a:br>
              <a:rPr lang="en-US" dirty="0" smtClean="0"/>
            </a:br>
            <a:r>
              <a:rPr lang="en-US" dirty="0" smtClean="0"/>
              <a:t>It was phenomenal!</a:t>
            </a:r>
            <a:endParaRPr lang="en-US" dirty="0"/>
          </a:p>
        </p:txBody>
      </p:sp>
      <p:sp>
        <p:nvSpPr>
          <p:cNvPr id="3" name="Content Placeholder 2"/>
          <p:cNvSpPr>
            <a:spLocks noGrp="1"/>
          </p:cNvSpPr>
          <p:nvPr>
            <p:ph idx="1"/>
          </p:nvPr>
        </p:nvSpPr>
        <p:spPr/>
        <p:txBody>
          <a:bodyPr/>
          <a:lstStyle/>
          <a:p>
            <a:r>
              <a:rPr lang="en-US" dirty="0" smtClean="0"/>
              <a:t>These soul-pellets differ in what it is like for them</a:t>
            </a:r>
          </a:p>
          <a:p>
            <a:pPr lvl="1"/>
            <a:r>
              <a:rPr lang="en-US" dirty="0" smtClean="0"/>
              <a:t>That has to be a difference in their properties</a:t>
            </a:r>
          </a:p>
          <a:p>
            <a:pPr lvl="1"/>
            <a:r>
              <a:rPr lang="en-US" dirty="0" smtClean="0"/>
              <a:t>‘Phenomenal properties’ like …</a:t>
            </a:r>
          </a:p>
          <a:p>
            <a:pPr lvl="2"/>
            <a:r>
              <a:rPr lang="en-US" dirty="0" smtClean="0"/>
              <a:t>‘Phenomenal red’, ‘phenomenally representing that something red is before me’, ‘being phenomenally acquainted with red’</a:t>
            </a:r>
          </a:p>
          <a:p>
            <a:r>
              <a:rPr lang="en-US" dirty="0" smtClean="0"/>
              <a:t>But ‘what was that like’ is not answered with an adjective but with a narrative</a:t>
            </a:r>
          </a:p>
          <a:p>
            <a:r>
              <a:rPr lang="en-US" dirty="0" smtClean="0"/>
              <a:t>I don’t say how the soul-pellet driving around in this body is phenomenally but how the world is for me in consciousness</a:t>
            </a:r>
          </a:p>
          <a:p>
            <a:endParaRPr lang="en-US" dirty="0"/>
          </a:p>
        </p:txBody>
      </p:sp>
    </p:spTree>
    <p:extLst>
      <p:ext uri="{BB962C8B-B14F-4D97-AF65-F5344CB8AC3E}">
        <p14:creationId xmlns:p14="http://schemas.microsoft.com/office/powerpoint/2010/main" val="1283847937"/>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3: </a:t>
            </a:r>
            <a:br>
              <a:rPr lang="en-US" dirty="0" smtClean="0"/>
            </a:br>
            <a:r>
              <a:rPr lang="en-US" dirty="0" smtClean="0"/>
              <a:t>Why this pellet?</a:t>
            </a:r>
            <a:endParaRPr lang="en-US" dirty="0"/>
          </a:p>
        </p:txBody>
      </p:sp>
      <p:sp>
        <p:nvSpPr>
          <p:cNvPr id="3" name="Content Placeholder 2"/>
          <p:cNvSpPr>
            <a:spLocks noGrp="1"/>
          </p:cNvSpPr>
          <p:nvPr>
            <p:ph idx="1"/>
          </p:nvPr>
        </p:nvSpPr>
        <p:spPr/>
        <p:txBody>
          <a:bodyPr/>
          <a:lstStyle/>
          <a:p>
            <a:r>
              <a:rPr lang="en-US" dirty="0" smtClean="0"/>
              <a:t>Looking down into the objective world, a vertiginous question:</a:t>
            </a:r>
          </a:p>
          <a:p>
            <a:pPr lvl="1"/>
            <a:r>
              <a:rPr lang="en-US" dirty="0" smtClean="0"/>
              <a:t>Why am I this one rather than that one? </a:t>
            </a:r>
          </a:p>
          <a:p>
            <a:pPr lvl="1"/>
            <a:r>
              <a:rPr lang="en-US" dirty="0" smtClean="0"/>
              <a:t>After all, that pellet is presented under a different mode than I (in here) am</a:t>
            </a:r>
          </a:p>
          <a:p>
            <a:r>
              <a:rPr lang="en-US" dirty="0" smtClean="0"/>
              <a:t>That’s a bad question; so consciousness is not objective</a:t>
            </a:r>
          </a:p>
          <a:p>
            <a:r>
              <a:rPr lang="en-US" dirty="0" smtClean="0"/>
              <a:t>Response: I (in here) am not presented at all because self-</a:t>
            </a:r>
            <a:r>
              <a:rPr lang="en-US" dirty="0" err="1" smtClean="0"/>
              <a:t>ascriptive</a:t>
            </a:r>
            <a:r>
              <a:rPr lang="en-US" dirty="0" smtClean="0"/>
              <a:t> content is de se</a:t>
            </a:r>
          </a:p>
          <a:p>
            <a:r>
              <a:rPr lang="en-US" dirty="0" smtClean="0"/>
              <a:t>Rebuttal: the theory of the de se is incompatible with the theory of acquaintance (to follow)</a:t>
            </a:r>
          </a:p>
        </p:txBody>
      </p:sp>
    </p:spTree>
    <p:extLst>
      <p:ext uri="{BB962C8B-B14F-4D97-AF65-F5344CB8AC3E}">
        <p14:creationId xmlns:p14="http://schemas.microsoft.com/office/powerpoint/2010/main" val="940012315"/>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a:t>
            </a:r>
            <a:br>
              <a:rPr lang="en-US" dirty="0" smtClean="0"/>
            </a:br>
            <a:r>
              <a:rPr lang="en-US" dirty="0" smtClean="0"/>
              <a:t>acquaintance</a:t>
            </a:r>
            <a:endParaRPr lang="en-US" dirty="0"/>
          </a:p>
        </p:txBody>
      </p:sp>
      <p:sp>
        <p:nvSpPr>
          <p:cNvPr id="3" name="Content Placeholder 2"/>
          <p:cNvSpPr>
            <a:spLocks noGrp="1"/>
          </p:cNvSpPr>
          <p:nvPr>
            <p:ph idx="1"/>
          </p:nvPr>
        </p:nvSpPr>
        <p:spPr/>
        <p:txBody>
          <a:bodyPr/>
          <a:lstStyle/>
          <a:p>
            <a:r>
              <a:rPr lang="en-US" dirty="0" smtClean="0"/>
              <a:t>Why are only these properties (my current phenomenal properties) revealed — rather than my future phenomenal properties, or your phenomenal properties, or properties of my desk?</a:t>
            </a:r>
          </a:p>
          <a:p>
            <a:r>
              <a:rPr lang="en-US" dirty="0" smtClean="0"/>
              <a:t>Answer: a relation of acquaintance metaphysically binds me to their instances and delimits the scope of targets of revelatory concepts</a:t>
            </a:r>
          </a:p>
          <a:p>
            <a:pPr marL="457200" indent="-457200">
              <a:buFont typeface="+mj-lt"/>
              <a:buAutoNum type="arabicPeriod"/>
            </a:pPr>
            <a:r>
              <a:rPr lang="en-US" dirty="0" smtClean="0"/>
              <a:t>This is a metaphysically necessary connection fitting uncomfortably with modal rationalism</a:t>
            </a:r>
          </a:p>
          <a:p>
            <a:pPr marL="457200" indent="-457200">
              <a:buFont typeface="+mj-lt"/>
              <a:buAutoNum type="arabicPeriod"/>
            </a:pPr>
            <a:r>
              <a:rPr lang="en-US" dirty="0" smtClean="0"/>
              <a:t>This is incompatible with transparency: the only intrinsic qualities revealed to me are colors, sounds, qualities of my body like pain</a:t>
            </a:r>
            <a:endParaRPr lang="en-US" dirty="0"/>
          </a:p>
        </p:txBody>
      </p:sp>
    </p:spTree>
    <p:extLst>
      <p:ext uri="{BB962C8B-B14F-4D97-AF65-F5344CB8AC3E}">
        <p14:creationId xmlns:p14="http://schemas.microsoft.com/office/powerpoint/2010/main" val="2836323712"/>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a:t>
            </a:r>
            <a:br>
              <a:rPr lang="en-US" dirty="0" smtClean="0"/>
            </a:br>
            <a:r>
              <a:rPr lang="en-US" dirty="0" smtClean="0"/>
              <a:t>Other minds</a:t>
            </a:r>
            <a:endParaRPr lang="en-US" dirty="0"/>
          </a:p>
        </p:txBody>
      </p:sp>
      <p:sp>
        <p:nvSpPr>
          <p:cNvPr id="3" name="Content Placeholder 2"/>
          <p:cNvSpPr>
            <a:spLocks noGrp="1"/>
          </p:cNvSpPr>
          <p:nvPr>
            <p:ph idx="1"/>
          </p:nvPr>
        </p:nvSpPr>
        <p:spPr/>
        <p:txBody>
          <a:bodyPr/>
          <a:lstStyle/>
          <a:p>
            <a:r>
              <a:rPr lang="en-US" dirty="0" smtClean="0"/>
              <a:t>My justification for believing you are not a zombie is an </a:t>
            </a:r>
            <a:r>
              <a:rPr lang="en-US" dirty="0" err="1" smtClean="0"/>
              <a:t>ampliative</a:t>
            </a:r>
            <a:r>
              <a:rPr lang="en-US" dirty="0" smtClean="0"/>
              <a:t> inference from physical evidence, going by ignoring that prospect as too weird to consider pending further discoveries</a:t>
            </a:r>
          </a:p>
          <a:p>
            <a:r>
              <a:rPr lang="en-US" dirty="0" smtClean="0"/>
              <a:t>But since whether you are a zombie is evidence-transcendent, the further discoveries never come in;</a:t>
            </a:r>
          </a:p>
          <a:p>
            <a:r>
              <a:rPr lang="en-US" dirty="0" smtClean="0"/>
              <a:t>So I am absolutely certain you are not a zombie on the basis of physical evidence;</a:t>
            </a:r>
          </a:p>
          <a:p>
            <a:r>
              <a:rPr lang="en-US" dirty="0" smtClean="0"/>
              <a:t>So the physical evidence entails a priori that you are not a zombie </a:t>
            </a:r>
            <a:endParaRPr lang="en-US" dirty="0"/>
          </a:p>
        </p:txBody>
      </p:sp>
    </p:spTree>
    <p:extLst>
      <p:ext uri="{BB962C8B-B14F-4D97-AF65-F5344CB8AC3E}">
        <p14:creationId xmlns:p14="http://schemas.microsoft.com/office/powerpoint/2010/main" val="3452793470"/>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a:t>
            </a:r>
            <a:br>
              <a:rPr lang="en-US" dirty="0" smtClean="0"/>
            </a:br>
            <a:r>
              <a:rPr lang="en-US" dirty="0" smtClean="0"/>
              <a:t>Dualism</a:t>
            </a:r>
            <a:endParaRPr lang="en-US" dirty="0"/>
          </a:p>
        </p:txBody>
      </p:sp>
      <p:sp>
        <p:nvSpPr>
          <p:cNvPr id="3" name="Content Placeholder 2"/>
          <p:cNvSpPr>
            <a:spLocks noGrp="1"/>
          </p:cNvSpPr>
          <p:nvPr>
            <p:ph idx="1"/>
          </p:nvPr>
        </p:nvSpPr>
        <p:spPr/>
        <p:txBody>
          <a:bodyPr/>
          <a:lstStyle/>
          <a:p>
            <a:r>
              <a:rPr lang="en-US" dirty="0" smtClean="0"/>
              <a:t>It follows from the claim that consciousness is objective as a doctrine we all implicitly accept</a:t>
            </a:r>
          </a:p>
          <a:p>
            <a:r>
              <a:rPr lang="en-US" dirty="0" smtClean="0"/>
              <a:t>But (surveys show!) dualism is obviously false</a:t>
            </a:r>
          </a:p>
          <a:p>
            <a:r>
              <a:rPr lang="en-US" dirty="0" smtClean="0"/>
              <a:t>So pending some explanation of how we all live with this unnoticed contradiction, we do not implicitly accept it, so consciousness is not objective</a:t>
            </a:r>
            <a:endParaRPr lang="en-US" dirty="0"/>
          </a:p>
        </p:txBody>
      </p:sp>
    </p:spTree>
    <p:extLst>
      <p:ext uri="{BB962C8B-B14F-4D97-AF65-F5344CB8AC3E}">
        <p14:creationId xmlns:p14="http://schemas.microsoft.com/office/powerpoint/2010/main" val="3869198546"/>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ed-brigade">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grey-brigade">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3.xml><?xml version="1.0" encoding="utf-8"?>
<a:theme xmlns:a="http://schemas.openxmlformats.org/drawingml/2006/main" name="2_red-brigade">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4.xml><?xml version="1.0" encoding="utf-8"?>
<a:theme xmlns:a="http://schemas.openxmlformats.org/drawingml/2006/main" name="3_red-brigade">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5.xml><?xml version="1.0" encoding="utf-8"?>
<a:theme xmlns:a="http://schemas.openxmlformats.org/drawingml/2006/main" name="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1799</TotalTime>
  <Words>2518</Words>
  <Application>Microsoft Macintosh PowerPoint</Application>
  <PresentationFormat>On-screen Show (4:3)</PresentationFormat>
  <Paragraphs>165</Paragraphs>
  <Slides>40</Slides>
  <Notes>0</Notes>
  <HiddenSlides>0</HiddenSlides>
  <MMClips>0</MMClips>
  <ScaleCrop>false</ScaleCrop>
  <HeadingPairs>
    <vt:vector size="4" baseType="variant">
      <vt:variant>
        <vt:lpstr>Theme</vt:lpstr>
      </vt:variant>
      <vt:variant>
        <vt:i4>5</vt:i4>
      </vt:variant>
      <vt:variant>
        <vt:lpstr>Slide Titles</vt:lpstr>
      </vt:variant>
      <vt:variant>
        <vt:i4>40</vt:i4>
      </vt:variant>
    </vt:vector>
  </HeadingPairs>
  <TitlesOfParts>
    <vt:vector size="45" baseType="lpstr">
      <vt:lpstr>red-brigade</vt:lpstr>
      <vt:lpstr>grey-brigade</vt:lpstr>
      <vt:lpstr>2_red-brigade</vt:lpstr>
      <vt:lpstr>3_red-brigade</vt:lpstr>
      <vt:lpstr>Black</vt:lpstr>
      <vt:lpstr>Out of this world</vt:lpstr>
      <vt:lpstr>dualism?</vt:lpstr>
      <vt:lpstr>Chalmers  Cliff Note Cliff Note</vt:lpstr>
      <vt:lpstr>I say: yes and no</vt:lpstr>
      <vt:lpstr>Two questions</vt:lpstr>
      <vt:lpstr>why not?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Moral</vt:lpstr>
      <vt:lpstr>expressivism</vt:lpstr>
      <vt:lpstr>metaphysics?</vt:lpstr>
      <vt:lpstr>other minds</vt:lpstr>
      <vt:lpstr>And the zombie hypothesis?</vt:lpstr>
      <vt:lpstr>dualism?</vt:lpstr>
      <vt:lpstr>That’s it!</vt:lpstr>
      <vt:lpstr>Mindset semantics</vt:lpstr>
      <vt:lpstr>More formally</vt:lpstr>
      <vt:lpstr>The Purport to objectivity</vt:lpstr>
      <vt:lpstr>More formally</vt:lpstr>
      <vt:lpstr>Test semantics</vt:lpstr>
      <vt:lpstr>reflection within itself</vt:lpstr>
      <vt:lpstr>The object of attention </vt:lpstr>
      <vt:lpstr>Affinity with Higher-order views</vt:lpstr>
      <vt:lpstr>Divergence from Higher-order views</vt:lpstr>
      <vt:lpstr>‘phenomenal’ v ‘access’</vt:lpstr>
      <vt:lpstr>squeezing arguments from pictures</vt:lpstr>
      <vt:lpstr>1:  soul-pellets</vt:lpstr>
      <vt:lpstr>2:  It was phenomenal!</vt:lpstr>
      <vt:lpstr>3:  Why this pellet?</vt:lpstr>
      <vt:lpstr>4: acquaintance</vt:lpstr>
      <vt:lpstr>5: Other minds</vt:lpstr>
      <vt:lpstr>6: Dualism</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 of this world</dc:title>
  <dc:creator>Daddy</dc:creator>
  <cp:lastModifiedBy>Daddy</cp:lastModifiedBy>
  <cp:revision>54</cp:revision>
  <cp:lastPrinted>2012-04-12T06:32:16Z</cp:lastPrinted>
  <dcterms:created xsi:type="dcterms:W3CDTF">2012-04-12T05:32:24Z</dcterms:created>
  <dcterms:modified xsi:type="dcterms:W3CDTF">2012-04-13T20:06:02Z</dcterms:modified>
</cp:coreProperties>
</file>