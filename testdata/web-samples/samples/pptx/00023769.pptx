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0" r:id="rId2"/>
    <p:sldMasterId id="2147483664" r:id="rId3"/>
  </p:sldMasterIdLst>
  <p:notesMasterIdLst>
    <p:notesMasterId r:id="rId25"/>
  </p:notesMasterIdLst>
  <p:sldIdLst>
    <p:sldId id="263" r:id="rId4"/>
    <p:sldId id="301" r:id="rId5"/>
    <p:sldId id="281" r:id="rId6"/>
    <p:sldId id="275" r:id="rId7"/>
    <p:sldId id="270" r:id="rId8"/>
    <p:sldId id="304" r:id="rId9"/>
    <p:sldId id="264" r:id="rId10"/>
    <p:sldId id="267" r:id="rId11"/>
    <p:sldId id="273" r:id="rId12"/>
    <p:sldId id="299" r:id="rId13"/>
    <p:sldId id="300" r:id="rId14"/>
    <p:sldId id="285" r:id="rId15"/>
    <p:sldId id="306" r:id="rId16"/>
    <p:sldId id="312" r:id="rId17"/>
    <p:sldId id="274" r:id="rId18"/>
    <p:sldId id="311" r:id="rId19"/>
    <p:sldId id="314" r:id="rId20"/>
    <p:sldId id="313" r:id="rId21"/>
    <p:sldId id="315" r:id="rId22"/>
    <p:sldId id="316" r:id="rId23"/>
    <p:sldId id="286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9900"/>
    <a:srgbClr val="008000"/>
    <a:srgbClr val="000000"/>
    <a:srgbClr val="336600"/>
    <a:srgbClr val="009900"/>
    <a:srgbClr val="549C4E"/>
    <a:srgbClr val="EFB01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7950" autoAdjust="0"/>
  </p:normalViewPr>
  <p:slideViewPr>
    <p:cSldViewPr>
      <p:cViewPr varScale="1">
        <p:scale>
          <a:sx n="82" d="100"/>
          <a:sy n="82" d="100"/>
        </p:scale>
        <p:origin x="-480" y="-84"/>
      </p:cViewPr>
      <p:guideLst>
        <p:guide orient="horz" pos="4128"/>
        <p:guide pos="384"/>
      </p:guideLst>
    </p:cSldViewPr>
  </p:slideViewPr>
  <p:outlineViewPr>
    <p:cViewPr>
      <p:scale>
        <a:sx n="100" d="100"/>
        <a:sy n="100" d="100"/>
      </p:scale>
      <p:origin x="0" y="389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28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9F362C4-D5C2-4711-BFC4-0C5F47489050}" type="datetimeFigureOut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A5E3A07-AD2B-44C5-8356-47D116F24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3D019-AC8B-4CD5-9CBA-4FAA1965B7F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F112C3-2600-4FEE-B163-097D1076A0F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012F91-819E-4C1F-BDFE-D6D591C13159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lIns="91430" tIns="45715" rIns="91430" bIns="45715"/>
          <a:lstStyle/>
          <a:p>
            <a:endParaRPr lang="en-US" smtClean="0"/>
          </a:p>
        </p:txBody>
      </p:sp>
      <p:sp>
        <p:nvSpPr>
          <p:cNvPr id="3686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0" tIns="45715" rIns="91430" bIns="45715" anchor="b"/>
          <a:lstStyle/>
          <a:p>
            <a:pPr algn="r"/>
            <a:fld id="{DF445459-9006-4444-ACCC-56D1C1962633}" type="slidenum">
              <a:rPr lang="en-US" sz="1200">
                <a:cs typeface="Arial" charset="0"/>
              </a:rPr>
              <a:pPr algn="r"/>
              <a:t>3</a:t>
            </a:fld>
            <a:endParaRPr lang="en-US" sz="1200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lIns="91430" tIns="45715" rIns="91430" bIns="45715"/>
          <a:lstStyle/>
          <a:p>
            <a:pPr eaLnBrk="1" hangingPunct="1"/>
            <a:endParaRPr lang="en-US" smtClean="0"/>
          </a:p>
        </p:txBody>
      </p:sp>
      <p:sp>
        <p:nvSpPr>
          <p:cNvPr id="3891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0" tIns="45715" rIns="91430" bIns="45715" anchor="b"/>
          <a:lstStyle/>
          <a:p>
            <a:pPr algn="r"/>
            <a:fld id="{7BBED279-24FC-4597-B4F1-F9378E1EB53C}" type="slidenum">
              <a:rPr lang="en-US" sz="1200">
                <a:cs typeface="Arial" charset="0"/>
              </a:rPr>
              <a:pPr algn="r"/>
              <a:t>4</a:t>
            </a:fld>
            <a:endParaRPr lang="en-US" sz="1200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7ED5AB-9BA1-45C8-81F0-283D6E9DCCF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C730AB-C8AE-480D-9B8A-DA94D07984C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36D0511-F77E-4B5A-9006-50F87303401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74835D0-DF8C-4D74-B339-7B83B5E339B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CFF535-1444-4A75-AB99-7EDFDEE8925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2A1A24-EE2A-47BE-9F91-D115E0722B4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7AB9C8-C149-404C-A6AE-C5E3B27894F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DDE996-EA9A-47D1-84D7-4C545CC70F1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24FD37-2989-4672-85CA-4DFE1653399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3BBB53-E805-4F96-820C-D3CC7D6CC7D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984612-F931-45EE-9FA8-D7BECD3B41C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985402-84B7-47F2-9B55-BD7DFC215F7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CD3948-EB59-4F1D-AE09-E4B78B7CA24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F713D2-E4D6-47C6-A0F1-FCCD657F2ED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0F4927-326E-4F01-B9BD-AE22F9B4214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2C6CC9-8891-427F-9A72-A8E6E56933C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A9EE66-CCC1-4EBA-8BEB-578585623371}" type="slidenum">
              <a:rPr lang="en-US" smtClean="0"/>
              <a:pPr>
                <a:defRPr/>
              </a:pPr>
              <a:t>21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kg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ornl_leafLogo-01.png"/>
          <p:cNvPicPr>
            <a:picLocks noChangeAspect="1"/>
          </p:cNvPicPr>
          <p:nvPr userDrawn="1"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Title Placeholder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388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z="1200">
                <a:solidFill>
                  <a:srgbClr val="898989"/>
                </a:solidFill>
                <a:latin typeface="+mn-lt"/>
                <a:ea typeface="+mn-ea"/>
                <a:cs typeface="ＭＳ Ｐゴシック"/>
              </a:defRPr>
            </a:lvl1pPr>
          </a:lstStyle>
          <a:p>
            <a:pPr>
              <a:defRPr/>
            </a:pPr>
            <a:fld id="{DF4BA284-3033-4211-8C13-8D30B3A96012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algn="ctr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algn="r">
              <a:defRPr sz="1200">
                <a:solidFill>
                  <a:srgbClr val="898989"/>
                </a:solidFill>
                <a:latin typeface="+mn-lt"/>
                <a:ea typeface="+mn-ea"/>
                <a:cs typeface="ＭＳ Ｐゴシック"/>
              </a:defRPr>
            </a:lvl1pPr>
          </a:lstStyle>
          <a:p>
            <a:pPr>
              <a:defRPr/>
            </a:pPr>
            <a:fld id="{905F58DA-B626-43E7-8F75-3C9FCA6094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A3324-D736-4DA0-A4B5-2EFE4C7A3492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6AECF-A9F7-4293-A006-0E09664801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56B86-2020-4880-A2F1-60E8CA8CC571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145D8-5E26-44A4-869D-8A798B1500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8B343-4636-4729-ACBB-91C58161CD83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7C67E-1C3B-4726-9589-F0BAA5C519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CE02D-39EB-4E81-9FFC-2D535412B315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7A080-D548-48ED-861D-6BB908FDE2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3AA3F-B69C-4F91-A6C8-858A685F1867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A554-37BC-4F48-9310-211D9A4900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9C818-1B4B-4A05-9ABA-E613B9975C7F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5E56F-22FB-42D2-97E1-27A5D8DCD9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4BED3-9926-418C-A585-D7EE44EBB040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568B7-3AD6-421B-8480-E65E50917C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24696-CCED-4DD7-84AF-06EB2247FADF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9694A-3B0B-4642-99B8-8A861BFCDC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9700D-9656-4039-B554-B0F59FBFE258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68902-4BFA-460E-AB78-90FA05E005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985B9F-98E9-4FF8-B06B-9A8A5A688CA5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6E961-E5D5-45DE-9BFA-42BB64BF34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731125" cy="4810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44613"/>
            <a:ext cx="3789363" cy="19240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1363" y="1344613"/>
            <a:ext cx="3789362" cy="19240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kg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New_DOE_Logo_Color_042808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28600" y="6238875"/>
            <a:ext cx="17430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0" descr="ORNL_managed by.pn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5646738" y="6202363"/>
            <a:ext cx="3505200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itle Placeholder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>
                <a:ea typeface="ＭＳ Ｐゴシック" pitchFamily="34" charset="-128"/>
              </a:defRPr>
            </a:lvl1pPr>
          </a:lstStyle>
          <a:p>
            <a:r>
              <a:rPr lang="en-US" smtClean="0"/>
              <a:t>Click to edit Master title style</a:t>
            </a:r>
          </a:p>
        </p:txBody>
      </p:sp>
      <p:sp>
        <p:nvSpPr>
          <p:cNvPr id="14340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 smtClean="0">
                <a:ea typeface="ＭＳ Ｐゴシック" pitchFamily="34" charset="-128"/>
              </a:defRPr>
            </a:lvl1pPr>
          </a:lstStyle>
          <a:p>
            <a:r>
              <a:rPr lang="en-US" smtClean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z="1200">
                <a:solidFill>
                  <a:srgbClr val="898989"/>
                </a:solidFill>
                <a:latin typeface="Calibri" pitchFamily="34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fld id="{F3223ECC-B704-4613-B95D-6E18617D1641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fld id="{0C23C9A6-EB79-414E-889A-775158E30D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kg.png"/>
          <p:cNvPicPr>
            <a:picLocks noChangeAspect="1"/>
          </p:cNvPicPr>
          <p:nvPr userDrawn="1"/>
        </p:nvPicPr>
        <p:blipFill>
          <a:blip r:embed="rId2">
            <a:lum bright="10000"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  <a:cs typeface="+mn-cs"/>
              </a:defRPr>
            </a:lvl1pPr>
          </a:lstStyle>
          <a:p>
            <a:pPr>
              <a:defRPr/>
            </a:pPr>
            <a:fld id="{A91AD003-D244-4D27-A0A6-499AA8F821AA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  <a:cs typeface="+mn-cs"/>
              </a:defRPr>
            </a:lvl1pPr>
          </a:lstStyle>
          <a:p>
            <a:pPr>
              <a:defRPr/>
            </a:pPr>
            <a:fld id="{CF91D4E9-202D-41F1-9889-6BA8EC7471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D80E5-0B9F-4076-9E56-AC89F4C8D77D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CA377-3DEC-4253-A557-E3F7C7A315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35A45-CA94-4C6A-9B3D-C12BA9D0F7B1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EF741B-3DC9-4975-A569-3AEB6A77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10CD4-26DD-4473-B02F-4D217301DC6F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5BB71-B0B7-4DA2-A7E3-7AD7A6D77D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12542-0BED-49F7-9318-9D5B3CD1A385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2FA657-A19D-4324-BB50-49FDB89107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84A09-8805-4AE6-BB2A-57FF9716869E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6F711C-A4EB-4D9D-9ADE-3737BB7C5C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50BEE0-93C6-4493-869D-EFA2B520CDC5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16638-ED06-4512-8D43-1D66058A4A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334B57-A442-42F6-8B4C-D796534A874D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0C240-8ED4-48E1-8016-81CEE61CEA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1F65AE-AA61-46AC-9C65-62B8746999C1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B15CA-30C3-46C5-960A-85A8895EA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21775-4E30-4E58-81E5-4C5CB4BDFBC6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5D0E3-8D35-410F-A737-E113011259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C96025-9161-41E1-8F1F-CE69D4B7ACD0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D4CAA0-CCEE-442B-B817-862B477AE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8EB16-0647-4A8C-9A6B-E111F9353C8D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AF99A-E6F5-43BD-9399-5ECA208CA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FFBADC-0442-4C7C-B039-A39C4B14D6EA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D5CD88-34FF-44EC-9381-193996E09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bkg.png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+mn-lt"/>
                <a:ea typeface="+mn-ea"/>
                <a:cs typeface="ＭＳ Ｐゴシック"/>
              </a:defRPr>
            </a:lvl1pPr>
          </a:lstStyle>
          <a:p>
            <a:pPr>
              <a:defRPr/>
            </a:pPr>
            <a:fld id="{27EFA39A-C621-49E9-A6E4-EED3AB355791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+mn-lt"/>
                <a:ea typeface="+mn-ea"/>
                <a:cs typeface="ＭＳ Ｐゴシック"/>
              </a:defRPr>
            </a:lvl1pPr>
          </a:lstStyle>
          <a:p>
            <a:pPr>
              <a:defRPr/>
            </a:pPr>
            <a:fld id="{01A87A9C-39AE-45B5-B8FE-455295F6CC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78" r:id="rId2"/>
    <p:sldLayoutId id="2147483677" r:id="rId3"/>
    <p:sldLayoutId id="2147483676" r:id="rId4"/>
    <p:sldLayoutId id="2147483675" r:id="rId5"/>
    <p:sldLayoutId id="2147483674" r:id="rId6"/>
    <p:sldLayoutId id="2147483673" r:id="rId7"/>
    <p:sldLayoutId id="2147483672" r:id="rId8"/>
    <p:sldLayoutId id="2147483671" r:id="rId9"/>
    <p:sldLayoutId id="2147483670" r:id="rId10"/>
    <p:sldLayoutId id="2147483669" r:id="rId11"/>
    <p:sldLayoutId id="2147483692" r:id="rId12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6" descr="bkg.png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43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fld id="{8FCDE2E8-E8EA-492A-B581-6A8E8A7F5B67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fld id="{9661F137-F300-4173-9585-8A11D3F8C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344" name="Picture 8" descr="New_DOE_Logo_Color_042808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228600" y="6238875"/>
            <a:ext cx="17430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10" descr="ORNL_managed by.png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5646738" y="6202363"/>
            <a:ext cx="3505200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79" r:id="rId3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>
              <a:defRPr/>
            </a:pPr>
            <a:fld id="{E3C9B472-1744-4948-A112-D8B83A36AA7B}" type="datetime1">
              <a:rPr lang="en-US"/>
              <a:pPr>
                <a:defRPr/>
              </a:pPr>
              <a:t>4/14/2010</a:t>
            </a:fld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>
              <a:defRPr/>
            </a:pPr>
            <a:fld id="{D84F63B6-13DA-4CAF-8952-483B834504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9" r:id="rId2"/>
    <p:sldLayoutId id="2147483688" r:id="rId3"/>
    <p:sldLayoutId id="2147483687" r:id="rId4"/>
    <p:sldLayoutId id="2147483686" r:id="rId5"/>
    <p:sldLayoutId id="2147483685" r:id="rId6"/>
    <p:sldLayoutId id="2147483684" r:id="rId7"/>
    <p:sldLayoutId id="2147483683" r:id="rId8"/>
    <p:sldLayoutId id="2147483682" r:id="rId9"/>
    <p:sldLayoutId id="2147483681" r:id="rId10"/>
    <p:sldLayoutId id="214748368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google.com/imgres?imgurl=http://projects.ischool.washington.edu/tabrooks/343INFOAutumn09/SilverlightTextFont/SilverlightTextFont.Web/ClientBin/river.jpg&amp;imgrefurl=http://projects.ischool.washington.edu/tabrooks/343INFOAutumn09/SilverlightTextFont/SilverlightTextFont.Web/SilverlightTextFontTestPage.html&amp;h=292&amp;w=393&amp;sz=113&amp;tbnid=CtJha1gm36LtPM:&amp;tbnh=92&amp;tbnw=124&amp;prev=/images?q=river+picture&amp;hl=en&amp;usg=__TlG1BSRNbxSlwNvu47yoTSgwwTQ=&amp;ei=mJD8StPTBtGNnQeup8SDBw&amp;sa=X&amp;oi=image_result&amp;resnum=2&amp;ct=image&amp;ved=0CAkQ9QEwAQ" TargetMode="External"/><Relationship Id="rId5" Type="http://schemas.openxmlformats.org/officeDocument/2006/relationships/image" Target="../media/image7.jpeg"/><Relationship Id="rId10" Type="http://schemas.openxmlformats.org/officeDocument/2006/relationships/image" Target="../media/image11.jpe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2.wmf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jpeg"/><Relationship Id="rId5" Type="http://schemas.openxmlformats.org/officeDocument/2006/relationships/image" Target="../media/image2.png"/><Relationship Id="rId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.png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20.emf"/><Relationship Id="rId7" Type="http://schemas.openxmlformats.org/officeDocument/2006/relationships/image" Target="../media/image2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.png"/><Relationship Id="rId9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25.jpeg"/><Relationship Id="rId7" Type="http://schemas.openxmlformats.org/officeDocument/2006/relationships/image" Target="../media/image2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wmf"/><Relationship Id="rId5" Type="http://schemas.openxmlformats.org/officeDocument/2006/relationships/image" Target="../media/image22.emf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wmf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mailto:JagerHI@ornl.gov" TargetMode="External"/><Relationship Id="rId4" Type="http://schemas.openxmlformats.org/officeDocument/2006/relationships/hyperlink" Target="mailto:SchweizerPE@ornl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6"/>
          <p:cNvSpPr>
            <a:spLocks noGrp="1"/>
          </p:cNvSpPr>
          <p:nvPr>
            <p:ph type="ctrTitle" idx="4294967295"/>
          </p:nvPr>
        </p:nvSpPr>
        <p:spPr>
          <a:xfrm>
            <a:off x="0" y="381000"/>
            <a:ext cx="9144000" cy="2286000"/>
          </a:xfrm>
          <a:gradFill rotWithShape="1">
            <a:gsLst>
              <a:gs pos="0">
                <a:srgbClr val="006600"/>
              </a:gs>
              <a:gs pos="100000">
                <a:srgbClr val="009900"/>
              </a:gs>
            </a:gsLst>
            <a:lin ang="5400000" scaled="1"/>
          </a:gradFill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ＭＳ Ｐゴシック" pitchFamily="34" charset="-128"/>
              </a:rPr>
              <a:t>Forecasting changes in water quality and </a:t>
            </a:r>
            <a:b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ＭＳ Ｐゴシック" pitchFamily="34" charset="-128"/>
              </a:rPr>
            </a:b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ＭＳ Ｐゴシック" pitchFamily="34" charset="-128"/>
              </a:rPr>
              <a:t>aquatic biodiversity in response to </a:t>
            </a:r>
            <a:b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ＭＳ Ｐゴシック" pitchFamily="34" charset="-128"/>
              </a:rPr>
            </a:b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ＭＳ Ｐゴシック" pitchFamily="34" charset="-128"/>
              </a:rPr>
              <a:t>future bioenergy landscapes </a:t>
            </a:r>
            <a:b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ＭＳ Ｐゴシック" pitchFamily="34" charset="-128"/>
              </a:rPr>
            </a:b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ＭＳ Ｐゴシック" pitchFamily="34" charset="-128"/>
              </a:rPr>
              <a:t>in the Arkansas-White-Red River basin</a:t>
            </a:r>
          </a:p>
        </p:txBody>
      </p:sp>
      <p:sp>
        <p:nvSpPr>
          <p:cNvPr id="31746" name="Rectangle 7"/>
          <p:cNvSpPr>
            <a:spLocks noGrp="1"/>
          </p:cNvSpPr>
          <p:nvPr>
            <p:ph type="subTitle" idx="4294967295"/>
          </p:nvPr>
        </p:nvSpPr>
        <p:spPr>
          <a:xfrm>
            <a:off x="1143000" y="3048000"/>
            <a:ext cx="6858000" cy="1371600"/>
          </a:xfrm>
        </p:spPr>
        <p:txBody>
          <a:bodyPr/>
          <a:lstStyle/>
          <a:p>
            <a:pPr marL="0" indent="0" algn="ctr">
              <a:buFont typeface="Arial" charset="0"/>
              <a:buNone/>
            </a:pPr>
            <a:r>
              <a:rPr lang="en-US" sz="2800" smtClean="0">
                <a:ea typeface="ＭＳ Ｐゴシック" pitchFamily="34" charset="-128"/>
              </a:rPr>
              <a:t>Peter E. Schweizer, Henriette I. Jager, and Latha M. Baskaran</a:t>
            </a:r>
          </a:p>
        </p:txBody>
      </p:sp>
      <p:sp>
        <p:nvSpPr>
          <p:cNvPr id="31747" name="Text Box 8"/>
          <p:cNvSpPr txBox="1">
            <a:spLocks noChangeArrowheads="1"/>
          </p:cNvSpPr>
          <p:nvPr/>
        </p:nvSpPr>
        <p:spPr bwMode="auto">
          <a:xfrm>
            <a:off x="2498725" y="4386263"/>
            <a:ext cx="4148138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>
                <a:latin typeface="Calibri" pitchFamily="34" charset="0"/>
              </a:rPr>
              <a:t>April 8, 2010</a:t>
            </a:r>
          </a:p>
          <a:p>
            <a:pPr algn="ctr">
              <a:lnSpc>
                <a:spcPct val="130000"/>
              </a:lnSpc>
            </a:pPr>
            <a:r>
              <a:rPr lang="en-US">
                <a:latin typeface="Calibri" pitchFamily="34" charset="0"/>
              </a:rPr>
              <a:t>2010 US-IALE 25</a:t>
            </a:r>
            <a:r>
              <a:rPr lang="en-US" baseline="30000">
                <a:latin typeface="Calibri" pitchFamily="34" charset="0"/>
              </a:rPr>
              <a:t>th</a:t>
            </a:r>
            <a:r>
              <a:rPr lang="en-US">
                <a:latin typeface="Calibri" pitchFamily="34" charset="0"/>
              </a:rPr>
              <a:t> Anniversary Symposium</a:t>
            </a:r>
          </a:p>
          <a:p>
            <a:pPr algn="ctr">
              <a:lnSpc>
                <a:spcPct val="130000"/>
              </a:lnSpc>
            </a:pPr>
            <a:r>
              <a:rPr lang="en-US" sz="1400">
                <a:latin typeface="Calibri" pitchFamily="34" charset="0"/>
              </a:rPr>
              <a:t>Athens, Georgia USA </a:t>
            </a:r>
          </a:p>
          <a:p>
            <a:pPr algn="ctr"/>
            <a:endParaRPr lang="en-US" sz="1400">
              <a:latin typeface="Calibri" pitchFamily="34" charset="0"/>
            </a:endParaRPr>
          </a:p>
        </p:txBody>
      </p:sp>
      <p:pic>
        <p:nvPicPr>
          <p:cNvPr id="31748" name="Picture 10" descr="ORNL_managed b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8975" y="5832475"/>
            <a:ext cx="42560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9" name="Picture 8" descr="New_DOE_Logo_Color_042808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1650" y="5761038"/>
            <a:ext cx="254635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OUTLINE</a:t>
            </a:r>
          </a:p>
        </p:txBody>
      </p:sp>
      <p:sp>
        <p:nvSpPr>
          <p:cNvPr id="33794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6600"/>
              </a:buClr>
            </a:pPr>
            <a:r>
              <a:rPr lang="en-US" sz="2800" smtClean="0"/>
              <a:t>Context and assumptions</a:t>
            </a:r>
          </a:p>
          <a:p>
            <a:pPr lvl="1">
              <a:buClr>
                <a:srgbClr val="006600"/>
              </a:buClr>
              <a:buFont typeface="Arial" charset="0"/>
              <a:buChar char="•"/>
            </a:pPr>
            <a:r>
              <a:rPr lang="en-US" sz="2400" smtClean="0"/>
              <a:t>Hypotheses</a:t>
            </a:r>
          </a:p>
          <a:p>
            <a:pPr lvl="1">
              <a:buClr>
                <a:srgbClr val="006600"/>
              </a:buClr>
              <a:buFont typeface="Arial" charset="0"/>
              <a:buChar char="•"/>
            </a:pPr>
            <a:r>
              <a:rPr lang="en-US" sz="2400" smtClean="0"/>
              <a:t>Data sources</a:t>
            </a:r>
          </a:p>
          <a:p>
            <a:pPr lvl="1">
              <a:buClr>
                <a:srgbClr val="006600"/>
              </a:buClr>
              <a:buFont typeface="Arial" charset="0"/>
              <a:buChar char="•"/>
            </a:pPr>
            <a:r>
              <a:rPr lang="en-US" sz="2400" smtClean="0"/>
              <a:t>Study area</a:t>
            </a:r>
          </a:p>
          <a:p>
            <a:pPr>
              <a:buClr>
                <a:srgbClr val="006600"/>
              </a:buClr>
            </a:pPr>
            <a:r>
              <a:rPr lang="en-US" sz="2800" smtClean="0"/>
              <a:t>Modeling approach</a:t>
            </a:r>
          </a:p>
          <a:p>
            <a:pPr lvl="1">
              <a:buClr>
                <a:srgbClr val="006600"/>
              </a:buClr>
              <a:buFont typeface="Arial" charset="0"/>
              <a:buChar char="•"/>
            </a:pPr>
            <a:r>
              <a:rPr lang="en-US" sz="2400" smtClean="0"/>
              <a:t>Results</a:t>
            </a:r>
          </a:p>
          <a:p>
            <a:pPr lvl="1">
              <a:buClr>
                <a:srgbClr val="006600"/>
              </a:buClr>
              <a:buFont typeface="Arial" charset="0"/>
              <a:buChar char="•"/>
            </a:pPr>
            <a:r>
              <a:rPr lang="en-US" sz="2400" smtClean="0"/>
              <a:t>Limitations</a:t>
            </a:r>
          </a:p>
          <a:p>
            <a:pPr>
              <a:buClr>
                <a:srgbClr val="006600"/>
              </a:buClr>
            </a:pPr>
            <a:r>
              <a:rPr lang="en-US" sz="2800" smtClean="0"/>
              <a:t>Implications  and future direction</a:t>
            </a:r>
          </a:p>
        </p:txBody>
      </p:sp>
      <p:pic>
        <p:nvPicPr>
          <p:cNvPr id="33795" name="Picture 7" descr="ornl_leafLogo-01.png"/>
          <p:cNvPicPr>
            <a:picLocks noChangeAspect="1"/>
          </p:cNvPicPr>
          <p:nvPr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/>
          </p:cNvSpPr>
          <p:nvPr>
            <p:ph type="title" idx="4294967295"/>
          </p:nvPr>
        </p:nvSpPr>
        <p:spPr>
          <a:xfrm>
            <a:off x="484188" y="457200"/>
            <a:ext cx="7731125" cy="506413"/>
          </a:xfrm>
        </p:spPr>
        <p:txBody>
          <a:bodyPr anchor="t">
            <a:noAutofit/>
          </a:bodyPr>
          <a:lstStyle/>
          <a:p>
            <a:pPr algn="l">
              <a:defRPr/>
            </a:pPr>
            <a:r>
              <a:rPr lang="en-US" sz="30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Sustainability</a:t>
            </a:r>
          </a:p>
        </p:txBody>
      </p:sp>
      <p:sp>
        <p:nvSpPr>
          <p:cNvPr id="35842" name="Rectangle 3"/>
          <p:cNvSpPr>
            <a:spLocks noGrp="1"/>
          </p:cNvSpPr>
          <p:nvPr>
            <p:ph idx="4294967295"/>
          </p:nvPr>
        </p:nvSpPr>
        <p:spPr>
          <a:xfrm>
            <a:off x="584200" y="1295400"/>
            <a:ext cx="5562600" cy="2892425"/>
          </a:xfrm>
        </p:spPr>
        <p:txBody>
          <a:bodyPr>
            <a:spAutoFit/>
          </a:bodyPr>
          <a:lstStyle/>
          <a:p>
            <a:pPr marL="230188" indent="-230188">
              <a:buClr>
                <a:srgbClr val="006600"/>
              </a:buClr>
            </a:pPr>
            <a:r>
              <a:rPr lang="en-US" sz="2000" smtClean="0"/>
              <a:t>Humans change landscapes</a:t>
            </a:r>
          </a:p>
          <a:p>
            <a:pPr marL="230188" indent="-230188">
              <a:buClr>
                <a:srgbClr val="006600"/>
              </a:buClr>
            </a:pPr>
            <a:r>
              <a:rPr lang="en-US" sz="2000" smtClean="0"/>
              <a:t>Bioenergy industry and public concerns</a:t>
            </a:r>
          </a:p>
          <a:p>
            <a:pPr marL="230188" indent="-230188">
              <a:buClr>
                <a:srgbClr val="006600"/>
              </a:buClr>
            </a:pPr>
            <a:endParaRPr lang="en-US" sz="2000" smtClean="0"/>
          </a:p>
          <a:p>
            <a:pPr marL="230188" indent="-230188">
              <a:buClr>
                <a:srgbClr val="006600"/>
              </a:buClr>
            </a:pPr>
            <a:r>
              <a:rPr lang="en-US" sz="2000" smtClean="0"/>
              <a:t>Aspects of sustainability</a:t>
            </a:r>
          </a:p>
          <a:p>
            <a:pPr marL="625475" lvl="1" indent="-279400">
              <a:buClr>
                <a:srgbClr val="006600"/>
              </a:buClr>
            </a:pPr>
            <a:r>
              <a:rPr lang="en-US" sz="2000" smtClean="0"/>
              <a:t>Long-term profitability of bioenergy production (switchgrass yield)</a:t>
            </a:r>
          </a:p>
          <a:p>
            <a:pPr marL="625475" lvl="1" indent="-279400">
              <a:buClr>
                <a:srgbClr val="006600"/>
              </a:buClr>
            </a:pPr>
            <a:r>
              <a:rPr lang="en-US" sz="2000" smtClean="0"/>
              <a:t>Long-term water quality</a:t>
            </a:r>
          </a:p>
          <a:p>
            <a:pPr marL="625475" lvl="1" indent="-279400">
              <a:buClr>
                <a:srgbClr val="006600"/>
              </a:buClr>
            </a:pPr>
            <a:r>
              <a:rPr lang="en-US" sz="2000" smtClean="0"/>
              <a:t>Aquatic biodiversity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 l="12396" r="12396"/>
          <a:stretch>
            <a:fillRect/>
          </a:stretch>
        </p:blipFill>
        <p:spPr bwMode="auto">
          <a:xfrm>
            <a:off x="914400" y="4267200"/>
            <a:ext cx="19050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63500"/>
          </a:effec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5715000"/>
            <a:ext cx="1905000" cy="97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63500"/>
          </a:effec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62600" y="685800"/>
            <a:ext cx="149701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6" name="AutoShape 7" descr="Z">
            <a:hlinkClick r:id="rId6"/>
          </p:cNvPr>
          <p:cNvSpPr>
            <a:spLocks noChangeAspect="1" noChangeArrowheads="1"/>
          </p:cNvSpPr>
          <p:nvPr/>
        </p:nvSpPr>
        <p:spPr bwMode="auto">
          <a:xfrm>
            <a:off x="6629400" y="5065713"/>
            <a:ext cx="12001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cs typeface="Arial" charset="0"/>
            </a:endParaRPr>
          </a:p>
        </p:txBody>
      </p:sp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971800" y="5538788"/>
            <a:ext cx="129540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63500"/>
          </a:effectLst>
        </p:spPr>
      </p:pic>
      <p:pic>
        <p:nvPicPr>
          <p:cNvPr id="7179" name="Picture 11" descr="MPj04434530000[1]"/>
          <p:cNvPicPr>
            <a:picLocks noChangeAspect="1" noChangeArrowheads="1"/>
          </p:cNvPicPr>
          <p:nvPr/>
        </p:nvPicPr>
        <p:blipFill>
          <a:blip r:embed="rId8" cstate="print"/>
          <a:srcRect l="16962" t="37381" r="10176" b="5098"/>
          <a:stretch>
            <a:fillRect/>
          </a:stretch>
        </p:blipFill>
        <p:spPr bwMode="auto">
          <a:xfrm>
            <a:off x="6248400" y="3733800"/>
            <a:ext cx="2227263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63500"/>
          </a:effectLst>
        </p:spPr>
      </p:pic>
      <p:sp>
        <p:nvSpPr>
          <p:cNvPr id="35849" name="Text Box 12"/>
          <p:cNvSpPr txBox="1">
            <a:spLocks noChangeArrowheads="1"/>
          </p:cNvSpPr>
          <p:nvPr/>
        </p:nvSpPr>
        <p:spPr bwMode="auto">
          <a:xfrm>
            <a:off x="6705600" y="3348038"/>
            <a:ext cx="985838" cy="336550"/>
          </a:xfrm>
          <a:prstGeom prst="rect">
            <a:avLst/>
          </a:prstGeom>
          <a:noFill/>
          <a:ln w="508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1600">
                <a:cs typeface="Arial" charset="0"/>
              </a:rPr>
              <a:t>Products</a:t>
            </a:r>
          </a:p>
        </p:txBody>
      </p:sp>
      <p:sp>
        <p:nvSpPr>
          <p:cNvPr id="35850" name="Text Box 13"/>
          <p:cNvSpPr txBox="1">
            <a:spLocks noChangeArrowheads="1"/>
          </p:cNvSpPr>
          <p:nvPr/>
        </p:nvSpPr>
        <p:spPr bwMode="auto">
          <a:xfrm rot="-5400000">
            <a:off x="5428457" y="4229894"/>
            <a:ext cx="1096962" cy="336550"/>
          </a:xfrm>
          <a:prstGeom prst="rect">
            <a:avLst/>
          </a:prstGeom>
          <a:noFill/>
          <a:ln w="508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1600">
                <a:cs typeface="Arial" charset="0"/>
              </a:rPr>
              <a:t>Bioenergy</a:t>
            </a:r>
          </a:p>
        </p:txBody>
      </p:sp>
      <p:sp>
        <p:nvSpPr>
          <p:cNvPr id="35851" name="Text Box 14"/>
          <p:cNvSpPr txBox="1">
            <a:spLocks noChangeArrowheads="1"/>
          </p:cNvSpPr>
          <p:nvPr/>
        </p:nvSpPr>
        <p:spPr bwMode="auto">
          <a:xfrm rot="-5400000">
            <a:off x="5343525" y="5748338"/>
            <a:ext cx="1266825" cy="336550"/>
          </a:xfrm>
          <a:prstGeom prst="rect">
            <a:avLst/>
          </a:prstGeom>
          <a:noFill/>
          <a:ln w="508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1600">
                <a:cs typeface="Arial" charset="0"/>
              </a:rPr>
              <a:t>Clean rivers</a:t>
            </a:r>
          </a:p>
        </p:txBody>
      </p:sp>
      <p:pic>
        <p:nvPicPr>
          <p:cNvPr id="7183" name="Picture 15"/>
          <p:cNvPicPr>
            <a:picLocks noChangeAspect="1" noChangeArrowheads="1"/>
          </p:cNvPicPr>
          <p:nvPr/>
        </p:nvPicPr>
        <p:blipFill>
          <a:blip r:embed="rId9" cstate="print"/>
          <a:srcRect t="9862"/>
          <a:stretch>
            <a:fillRect/>
          </a:stretch>
        </p:blipFill>
        <p:spPr bwMode="auto">
          <a:xfrm>
            <a:off x="6248400" y="5154613"/>
            <a:ext cx="22193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63500"/>
          </a:effectLst>
        </p:spPr>
      </p:pic>
      <p:pic>
        <p:nvPicPr>
          <p:cNvPr id="35853" name="Picture 16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907213" y="1066800"/>
            <a:ext cx="1550987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23"/>
          <p:cNvPicPr>
            <a:picLocks noChangeAspect="1" noChangeArrowheads="1"/>
          </p:cNvPicPr>
          <p:nvPr/>
        </p:nvPicPr>
        <p:blipFill>
          <a:blip r:embed="rId3"/>
          <a:srcRect l="2747" r="2747" b="10152"/>
          <a:stretch>
            <a:fillRect/>
          </a:stretch>
        </p:blipFill>
        <p:spPr bwMode="auto">
          <a:xfrm>
            <a:off x="376238" y="1065213"/>
            <a:ext cx="1990725" cy="129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0" name="Group 45"/>
          <p:cNvGrpSpPr>
            <a:grpSpLocks/>
          </p:cNvGrpSpPr>
          <p:nvPr/>
        </p:nvGrpSpPr>
        <p:grpSpPr bwMode="auto">
          <a:xfrm>
            <a:off x="1905000" y="1714500"/>
            <a:ext cx="6553200" cy="4343400"/>
            <a:chOff x="1056" y="1056"/>
            <a:chExt cx="4128" cy="2736"/>
          </a:xfrm>
        </p:grpSpPr>
        <p:pic>
          <p:nvPicPr>
            <p:cNvPr id="37905" name="Picture 27"/>
            <p:cNvPicPr>
              <a:picLocks noChangeAspect="1" noChangeArrowheads="1"/>
            </p:cNvPicPr>
            <p:nvPr/>
          </p:nvPicPr>
          <p:blipFill>
            <a:blip r:embed="rId4">
              <a:lum contrast="10000"/>
            </a:blip>
            <a:srcRect l="20232" t="27133" r="1453" b="1318"/>
            <a:stretch>
              <a:fillRect/>
            </a:stretch>
          </p:blipFill>
          <p:spPr bwMode="auto">
            <a:xfrm>
              <a:off x="1194" y="1056"/>
              <a:ext cx="3990" cy="27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06" name="Text Box 6"/>
            <p:cNvSpPr txBox="1">
              <a:spLocks noChangeArrowheads="1"/>
            </p:cNvSpPr>
            <p:nvPr/>
          </p:nvSpPr>
          <p:spPr bwMode="auto">
            <a:xfrm>
              <a:off x="2316" y="1467"/>
              <a:ext cx="58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Calibri" pitchFamily="34" charset="0"/>
                </a:rPr>
                <a:t>Arkansas River</a:t>
              </a:r>
            </a:p>
          </p:txBody>
        </p:sp>
        <p:sp>
          <p:nvSpPr>
            <p:cNvPr id="37907" name="Text Box 7"/>
            <p:cNvSpPr txBox="1">
              <a:spLocks noChangeArrowheads="1"/>
            </p:cNvSpPr>
            <p:nvPr/>
          </p:nvSpPr>
          <p:spPr bwMode="auto">
            <a:xfrm>
              <a:off x="3020" y="2692"/>
              <a:ext cx="7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Calibri" pitchFamily="34" charset="0"/>
                </a:rPr>
                <a:t>Red River Drainages</a:t>
              </a:r>
            </a:p>
          </p:txBody>
        </p:sp>
        <p:sp>
          <p:nvSpPr>
            <p:cNvPr id="37908" name="Text Box 8"/>
            <p:cNvSpPr txBox="1">
              <a:spLocks noChangeArrowheads="1"/>
            </p:cNvSpPr>
            <p:nvPr/>
          </p:nvSpPr>
          <p:spPr bwMode="auto">
            <a:xfrm>
              <a:off x="1972" y="2078"/>
              <a:ext cx="80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Calibri" pitchFamily="34" charset="0"/>
                </a:rPr>
                <a:t>North Canadian River</a:t>
              </a:r>
            </a:p>
          </p:txBody>
        </p:sp>
        <p:sp>
          <p:nvSpPr>
            <p:cNvPr id="37909" name="Text Box 9"/>
            <p:cNvSpPr txBox="1">
              <a:spLocks noChangeArrowheads="1"/>
            </p:cNvSpPr>
            <p:nvPr/>
          </p:nvSpPr>
          <p:spPr bwMode="auto">
            <a:xfrm>
              <a:off x="4276" y="1834"/>
              <a:ext cx="7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Calibri" pitchFamily="34" charset="0"/>
                </a:rPr>
                <a:t>Upper White River </a:t>
              </a:r>
            </a:p>
            <a:p>
              <a:r>
                <a:rPr lang="en-US" sz="1000">
                  <a:solidFill>
                    <a:srgbClr val="0000FF"/>
                  </a:solidFill>
                  <a:latin typeface="Calibri" pitchFamily="34" charset="0"/>
                </a:rPr>
                <a:t>&amp; Black River</a:t>
              </a:r>
            </a:p>
          </p:txBody>
        </p:sp>
        <p:sp>
          <p:nvSpPr>
            <p:cNvPr id="37910" name="Text Box 20"/>
            <p:cNvSpPr txBox="1">
              <a:spLocks noChangeArrowheads="1"/>
            </p:cNvSpPr>
            <p:nvPr/>
          </p:nvSpPr>
          <p:spPr bwMode="auto">
            <a:xfrm>
              <a:off x="2367" y="2292"/>
              <a:ext cx="6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Calibri" pitchFamily="34" charset="0"/>
                </a:rPr>
                <a:t>Canadian River</a:t>
              </a:r>
            </a:p>
          </p:txBody>
        </p:sp>
        <p:sp>
          <p:nvSpPr>
            <p:cNvPr id="37911" name="Text Box 21"/>
            <p:cNvSpPr txBox="1">
              <a:spLocks noChangeArrowheads="1"/>
            </p:cNvSpPr>
            <p:nvPr/>
          </p:nvSpPr>
          <p:spPr bwMode="auto">
            <a:xfrm>
              <a:off x="3839" y="2496"/>
              <a:ext cx="62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>
                  <a:solidFill>
                    <a:srgbClr val="0000FF"/>
                  </a:solidFill>
                  <a:latin typeface="Calibri" pitchFamily="34" charset="0"/>
                </a:rPr>
                <a:t>Lower Arkansas</a:t>
              </a:r>
            </a:p>
          </p:txBody>
        </p:sp>
        <p:sp>
          <p:nvSpPr>
            <p:cNvPr id="37912" name="Text Box 18"/>
            <p:cNvSpPr txBox="1">
              <a:spLocks noChangeArrowheads="1"/>
            </p:cNvSpPr>
            <p:nvPr/>
          </p:nvSpPr>
          <p:spPr bwMode="auto">
            <a:xfrm>
              <a:off x="1776" y="1804"/>
              <a:ext cx="624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60000"/>
                </a:lnSpc>
              </a:pPr>
              <a:r>
                <a:rPr lang="en-US" sz="1000">
                  <a:solidFill>
                    <a:srgbClr val="0000FF"/>
                  </a:solidFill>
                  <a:latin typeface="Calibri" pitchFamily="34" charset="0"/>
                </a:rPr>
                <a:t>Cimarron River</a:t>
              </a:r>
              <a:r>
                <a:rPr lang="en-US" sz="1000"/>
                <a:t> </a:t>
              </a:r>
            </a:p>
          </p:txBody>
        </p:sp>
        <p:sp>
          <p:nvSpPr>
            <p:cNvPr id="37913" name="Text Box 35"/>
            <p:cNvSpPr txBox="1">
              <a:spLocks noChangeArrowheads="1"/>
            </p:cNvSpPr>
            <p:nvPr/>
          </p:nvSpPr>
          <p:spPr bwMode="auto">
            <a:xfrm>
              <a:off x="2699" y="3120"/>
              <a:ext cx="22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2"/>
                  </a:solidFill>
                  <a:latin typeface="Calibri" pitchFamily="34" charset="0"/>
                </a:rPr>
                <a:t>TX</a:t>
              </a:r>
            </a:p>
          </p:txBody>
        </p:sp>
        <p:sp>
          <p:nvSpPr>
            <p:cNvPr id="37914" name="Text Box 36"/>
            <p:cNvSpPr txBox="1">
              <a:spLocks noChangeArrowheads="1"/>
            </p:cNvSpPr>
            <p:nvPr/>
          </p:nvSpPr>
          <p:spPr bwMode="auto">
            <a:xfrm>
              <a:off x="1350" y="2581"/>
              <a:ext cx="28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2"/>
                  </a:solidFill>
                  <a:latin typeface="Calibri" pitchFamily="34" charset="0"/>
                </a:rPr>
                <a:t>NM</a:t>
              </a:r>
            </a:p>
          </p:txBody>
        </p:sp>
        <p:sp>
          <p:nvSpPr>
            <p:cNvPr id="37915" name="Text Box 37"/>
            <p:cNvSpPr txBox="1">
              <a:spLocks noChangeArrowheads="1"/>
            </p:cNvSpPr>
            <p:nvPr/>
          </p:nvSpPr>
          <p:spPr bwMode="auto">
            <a:xfrm>
              <a:off x="4500" y="3333"/>
              <a:ext cx="22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2"/>
                  </a:solidFill>
                  <a:latin typeface="Calibri" pitchFamily="34" charset="0"/>
                </a:rPr>
                <a:t>LA</a:t>
              </a:r>
            </a:p>
          </p:txBody>
        </p:sp>
        <p:sp>
          <p:nvSpPr>
            <p:cNvPr id="37916" name="Text Box 38"/>
            <p:cNvSpPr txBox="1">
              <a:spLocks noChangeArrowheads="1"/>
            </p:cNvSpPr>
            <p:nvPr/>
          </p:nvSpPr>
          <p:spPr bwMode="auto">
            <a:xfrm>
              <a:off x="1056" y="1580"/>
              <a:ext cx="25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2"/>
                  </a:solidFill>
                  <a:latin typeface="Calibri" pitchFamily="34" charset="0"/>
                </a:rPr>
                <a:t>CO</a:t>
              </a:r>
            </a:p>
          </p:txBody>
        </p:sp>
        <p:sp>
          <p:nvSpPr>
            <p:cNvPr id="37917" name="Text Box 39"/>
            <p:cNvSpPr txBox="1">
              <a:spLocks noChangeArrowheads="1"/>
            </p:cNvSpPr>
            <p:nvPr/>
          </p:nvSpPr>
          <p:spPr bwMode="auto">
            <a:xfrm>
              <a:off x="4654" y="2496"/>
              <a:ext cx="24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2"/>
                  </a:solidFill>
                  <a:latin typeface="Calibri" pitchFamily="34" charset="0"/>
                </a:rPr>
                <a:t>AR</a:t>
              </a:r>
            </a:p>
          </p:txBody>
        </p:sp>
        <p:sp>
          <p:nvSpPr>
            <p:cNvPr id="37918" name="Text Box 40"/>
            <p:cNvSpPr txBox="1">
              <a:spLocks noChangeArrowheads="1"/>
            </p:cNvSpPr>
            <p:nvPr/>
          </p:nvSpPr>
          <p:spPr bwMode="auto">
            <a:xfrm>
              <a:off x="2880" y="1248"/>
              <a:ext cx="22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2"/>
                  </a:solidFill>
                  <a:latin typeface="Calibri" pitchFamily="34" charset="0"/>
                </a:rPr>
                <a:t>KS</a:t>
              </a:r>
            </a:p>
          </p:txBody>
        </p:sp>
        <p:sp>
          <p:nvSpPr>
            <p:cNvPr id="37919" name="Text Box 41"/>
            <p:cNvSpPr txBox="1">
              <a:spLocks noChangeArrowheads="1"/>
            </p:cNvSpPr>
            <p:nvPr/>
          </p:nvSpPr>
          <p:spPr bwMode="auto">
            <a:xfrm>
              <a:off x="3401" y="2289"/>
              <a:ext cx="24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2"/>
                  </a:solidFill>
                  <a:latin typeface="Calibri" pitchFamily="34" charset="0"/>
                </a:rPr>
                <a:t>OK</a:t>
              </a:r>
            </a:p>
          </p:txBody>
        </p:sp>
        <p:sp>
          <p:nvSpPr>
            <p:cNvPr id="37920" name="Text Box 42"/>
            <p:cNvSpPr txBox="1">
              <a:spLocks noChangeArrowheads="1"/>
            </p:cNvSpPr>
            <p:nvPr/>
          </p:nvSpPr>
          <p:spPr bwMode="auto">
            <a:xfrm>
              <a:off x="4274" y="1632"/>
              <a:ext cx="28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2"/>
                  </a:solidFill>
                  <a:latin typeface="Calibri" pitchFamily="34" charset="0"/>
                </a:rPr>
                <a:t>MO</a:t>
              </a:r>
            </a:p>
          </p:txBody>
        </p:sp>
      </p:grpSp>
      <p:sp>
        <p:nvSpPr>
          <p:cNvPr id="353288" name="Text Box 8"/>
          <p:cNvSpPr txBox="1">
            <a:spLocks noChangeArrowheads="1"/>
          </p:cNvSpPr>
          <p:nvPr/>
        </p:nvSpPr>
        <p:spPr bwMode="auto">
          <a:xfrm>
            <a:off x="914400" y="2670175"/>
            <a:ext cx="24384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Arial" charset="0"/>
              </a:rPr>
              <a:t>642,000 km</a:t>
            </a:r>
            <a:r>
              <a:rPr lang="en-US" sz="20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Arial" charset="0"/>
              </a:rPr>
              <a:t>2</a:t>
            </a:r>
          </a:p>
          <a:p>
            <a:pPr>
              <a:defRPr/>
            </a:pPr>
            <a:endParaRPr lang="en-US" sz="2000" baseline="3000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Arial" charset="0"/>
            </a:endParaRPr>
          </a:p>
          <a:p>
            <a:pPr>
              <a:defRPr/>
            </a:pPr>
            <a:endParaRPr lang="en-US" sz="2000" baseline="3000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Arial" charset="0"/>
            </a:endParaRPr>
          </a:p>
          <a:p>
            <a:pPr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Arial" charset="0"/>
              </a:rPr>
              <a:t>173  HUC-8</a:t>
            </a:r>
          </a:p>
          <a:p>
            <a:pPr>
              <a:defRPr/>
            </a:pPr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Arial" charset="0"/>
            </a:endParaRPr>
          </a:p>
          <a:p>
            <a:pPr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Arial" charset="0"/>
              </a:rPr>
              <a:t>Tributary to  Mississippi River</a:t>
            </a:r>
            <a:r>
              <a:rPr lang="en-US" sz="2000" baseline="30000" dirty="0">
                <a:latin typeface="+mn-lt"/>
                <a:ea typeface="+mn-ea"/>
                <a:cs typeface="Arial" charset="0"/>
              </a:rPr>
              <a:t>	</a:t>
            </a:r>
          </a:p>
          <a:p>
            <a:pPr>
              <a:defRPr/>
            </a:pPr>
            <a:endParaRPr lang="en-US" sz="2000" baseline="30000" dirty="0">
              <a:latin typeface="+mn-lt"/>
              <a:ea typeface="+mn-ea"/>
              <a:cs typeface="Arial" charset="0"/>
            </a:endParaRPr>
          </a:p>
          <a:p>
            <a:pPr>
              <a:defRPr/>
            </a:pPr>
            <a:endParaRPr lang="en-US" sz="2000" baseline="30000" dirty="0">
              <a:latin typeface="+mn-lt"/>
              <a:ea typeface="+mn-ea"/>
              <a:cs typeface="Arial" charset="0"/>
            </a:endParaRPr>
          </a:p>
          <a:p>
            <a:pPr>
              <a:defRPr/>
            </a:pPr>
            <a:r>
              <a:rPr lang="en-US" sz="2000" dirty="0">
                <a:latin typeface="+mn-lt"/>
                <a:ea typeface="+mn-ea"/>
                <a:cs typeface="Arial" charset="0"/>
              </a:rPr>
              <a:t>Gulf of Mexico</a:t>
            </a:r>
            <a:r>
              <a:rPr lang="en-US" sz="2400" baseline="30000" dirty="0">
                <a:ea typeface="+mn-ea"/>
                <a:cs typeface="Arial" charset="0"/>
              </a:rPr>
              <a:t>	</a:t>
            </a:r>
          </a:p>
          <a:p>
            <a:pPr>
              <a:defRPr/>
            </a:pPr>
            <a:endParaRPr lang="en-US" sz="2400" dirty="0">
              <a:ea typeface="+mn-ea"/>
              <a:cs typeface="Arial" charset="0"/>
            </a:endParaRPr>
          </a:p>
        </p:txBody>
      </p:sp>
      <p:pic>
        <p:nvPicPr>
          <p:cNvPr id="37892" name="Picture 7" descr="ornl_leafLogo-01.png"/>
          <p:cNvPicPr>
            <a:picLocks noChangeAspect="1"/>
          </p:cNvPicPr>
          <p:nvPr/>
        </p:nvPicPr>
        <p:blipFill>
          <a:blip r:embed="rId5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" descr="Wheat fields, golden on American Horse Road, CR E0940 north Near Geary .jpg"/>
          <p:cNvPicPr>
            <a:picLocks noChangeAspect="1" noChangeArrowheads="1"/>
          </p:cNvPicPr>
          <p:nvPr/>
        </p:nvPicPr>
        <p:blipFill>
          <a:blip r:embed="rId6" cstate="print"/>
          <a:srcRect l="61000" t="33333" r="2000" b="46667"/>
          <a:stretch>
            <a:fillRect/>
          </a:stretch>
        </p:blipFill>
        <p:spPr bwMode="auto">
          <a:xfrm>
            <a:off x="4754881" y="1071846"/>
            <a:ext cx="2255519" cy="914400"/>
          </a:xfrm>
          <a:prstGeom prst="rect">
            <a:avLst/>
          </a:prstGeom>
          <a:noFill/>
          <a:effectLst>
            <a:softEdge rad="127000"/>
          </a:effectLst>
        </p:spPr>
      </p:pic>
      <p:pic>
        <p:nvPicPr>
          <p:cNvPr id="25" name="Picture 6" descr="http://legalcon.files.wordpress.com/2009/04/corn.jpg"/>
          <p:cNvPicPr>
            <a:picLocks noChangeAspect="1" noChangeArrowheads="1"/>
          </p:cNvPicPr>
          <p:nvPr/>
        </p:nvPicPr>
        <p:blipFill>
          <a:blip r:embed="rId7" cstate="print">
            <a:lum bright="15000"/>
          </a:blip>
          <a:srcRect t="38000" r="50000" b="6000"/>
          <a:stretch>
            <a:fillRect/>
          </a:stretch>
        </p:blipFill>
        <p:spPr bwMode="auto">
          <a:xfrm>
            <a:off x="7310355" y="1066800"/>
            <a:ext cx="1224045" cy="914400"/>
          </a:xfrm>
          <a:prstGeom prst="rect">
            <a:avLst/>
          </a:prstGeom>
          <a:noFill/>
          <a:effectLst>
            <a:softEdge rad="127000"/>
          </a:effectLst>
        </p:spPr>
      </p:pic>
      <p:pic>
        <p:nvPicPr>
          <p:cNvPr id="26" name="Picture 2" descr="http://ecolibrary.org/images/full_image/Grasslands_National_Bison_Range_Montana_DP21.jpg"/>
          <p:cNvPicPr>
            <a:picLocks noChangeAspect="1" noChangeArrowheads="1"/>
          </p:cNvPicPr>
          <p:nvPr/>
        </p:nvPicPr>
        <p:blipFill>
          <a:blip r:embed="rId8" cstate="print">
            <a:lum bright="15000"/>
          </a:blip>
          <a:srcRect l="30682" t="10269" r="35156" b="67868"/>
          <a:stretch>
            <a:fillRect/>
          </a:stretch>
        </p:blipFill>
        <p:spPr bwMode="auto">
          <a:xfrm>
            <a:off x="2468881" y="1072953"/>
            <a:ext cx="1905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</p:pic>
      <p:sp>
        <p:nvSpPr>
          <p:cNvPr id="37896" name="Text Box 35"/>
          <p:cNvSpPr txBox="1">
            <a:spLocks noChangeArrowheads="1"/>
          </p:cNvSpPr>
          <p:nvPr/>
        </p:nvSpPr>
        <p:spPr bwMode="auto">
          <a:xfrm>
            <a:off x="4894263" y="4991100"/>
            <a:ext cx="3635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Calibri" pitchFamily="34" charset="0"/>
              </a:rPr>
              <a:t>TX</a:t>
            </a:r>
          </a:p>
        </p:txBody>
      </p:sp>
      <p:sp>
        <p:nvSpPr>
          <p:cNvPr id="37897" name="Text Box 36"/>
          <p:cNvSpPr txBox="1">
            <a:spLocks noChangeArrowheads="1"/>
          </p:cNvSpPr>
          <p:nvPr/>
        </p:nvSpPr>
        <p:spPr bwMode="auto">
          <a:xfrm>
            <a:off x="2825750" y="3352800"/>
            <a:ext cx="4508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Calibri" pitchFamily="34" charset="0"/>
              </a:rPr>
              <a:t>NM</a:t>
            </a:r>
          </a:p>
        </p:txBody>
      </p:sp>
      <p:sp>
        <p:nvSpPr>
          <p:cNvPr id="37898" name="Text Box 37"/>
          <p:cNvSpPr txBox="1">
            <a:spLocks noChangeArrowheads="1"/>
          </p:cNvSpPr>
          <p:nvPr/>
        </p:nvSpPr>
        <p:spPr bwMode="auto">
          <a:xfrm>
            <a:off x="7448550" y="5329238"/>
            <a:ext cx="3619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Calibri" pitchFamily="34" charset="0"/>
              </a:rPr>
              <a:t>LA</a:t>
            </a:r>
          </a:p>
        </p:txBody>
      </p:sp>
      <p:sp>
        <p:nvSpPr>
          <p:cNvPr id="37899" name="Text Box 38"/>
          <p:cNvSpPr txBox="1">
            <a:spLocks noChangeArrowheads="1"/>
          </p:cNvSpPr>
          <p:nvPr/>
        </p:nvSpPr>
        <p:spPr bwMode="auto">
          <a:xfrm>
            <a:off x="2803525" y="2546350"/>
            <a:ext cx="396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Calibri" pitchFamily="34" charset="0"/>
              </a:rPr>
              <a:t>CO</a:t>
            </a:r>
          </a:p>
        </p:txBody>
      </p:sp>
      <p:sp>
        <p:nvSpPr>
          <p:cNvPr id="37900" name="Text Box 39"/>
          <p:cNvSpPr txBox="1">
            <a:spLocks noChangeArrowheads="1"/>
          </p:cNvSpPr>
          <p:nvPr/>
        </p:nvSpPr>
        <p:spPr bwMode="auto">
          <a:xfrm>
            <a:off x="7086600" y="4267200"/>
            <a:ext cx="384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Calibri" pitchFamily="34" charset="0"/>
              </a:rPr>
              <a:t>AR</a:t>
            </a:r>
          </a:p>
        </p:txBody>
      </p:sp>
      <p:sp>
        <p:nvSpPr>
          <p:cNvPr id="37901" name="Text Box 40"/>
          <p:cNvSpPr txBox="1">
            <a:spLocks noChangeArrowheads="1"/>
          </p:cNvSpPr>
          <p:nvPr/>
        </p:nvSpPr>
        <p:spPr bwMode="auto">
          <a:xfrm>
            <a:off x="5662613" y="2590800"/>
            <a:ext cx="3571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Calibri" pitchFamily="34" charset="0"/>
              </a:rPr>
              <a:t>KS</a:t>
            </a:r>
          </a:p>
        </p:txBody>
      </p:sp>
      <p:sp>
        <p:nvSpPr>
          <p:cNvPr id="37902" name="Text Box 41"/>
          <p:cNvSpPr txBox="1">
            <a:spLocks noChangeArrowheads="1"/>
          </p:cNvSpPr>
          <p:nvPr/>
        </p:nvSpPr>
        <p:spPr bwMode="auto">
          <a:xfrm>
            <a:off x="5778500" y="3671888"/>
            <a:ext cx="393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Calibri" pitchFamily="34" charset="0"/>
              </a:rPr>
              <a:t>OK</a:t>
            </a:r>
          </a:p>
        </p:txBody>
      </p:sp>
      <p:sp>
        <p:nvSpPr>
          <p:cNvPr id="37903" name="Text Box 42"/>
          <p:cNvSpPr txBox="1">
            <a:spLocks noChangeArrowheads="1"/>
          </p:cNvSpPr>
          <p:nvPr/>
        </p:nvSpPr>
        <p:spPr bwMode="auto">
          <a:xfrm>
            <a:off x="7089775" y="2628900"/>
            <a:ext cx="4540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Calibri" pitchFamily="34" charset="0"/>
              </a:rPr>
              <a:t>MO</a:t>
            </a:r>
          </a:p>
        </p:txBody>
      </p:sp>
      <p:sp>
        <p:nvSpPr>
          <p:cNvPr id="38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30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The Arkansas-White-Red River (AWR) basin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7" descr="ornl_leafLogo-01.png"/>
          <p:cNvPicPr>
            <a:picLocks noChangeAspect="1"/>
          </p:cNvPicPr>
          <p:nvPr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8" name="Picture 5"/>
          <p:cNvPicPr>
            <a:picLocks noChangeAspect="1" noChangeArrowheads="1"/>
          </p:cNvPicPr>
          <p:nvPr/>
        </p:nvPicPr>
        <p:blipFill>
          <a:blip r:embed="rId4"/>
          <a:srcRect l="20232" t="27133" r="1453" b="1318"/>
          <a:stretch>
            <a:fillRect/>
          </a:stretch>
        </p:blipFill>
        <p:spPr bwMode="auto">
          <a:xfrm>
            <a:off x="2120900" y="1714500"/>
            <a:ext cx="6324600" cy="432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914400" y="685800"/>
            <a:ext cx="4378325" cy="5016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r>
              <a:rPr lang="en-US" sz="2000" dirty="0">
                <a:latin typeface="+mn-lt"/>
              </a:rPr>
              <a:t>Grasslands, pasture and hay	45 %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Forest				21 %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Agriculture 			15 %</a:t>
            </a: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r>
              <a:rPr lang="en-US" sz="2000" dirty="0">
                <a:latin typeface="+mn-lt"/>
              </a:rPr>
              <a:t>Future energy landscape(s)</a:t>
            </a: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sym typeface="Wingdings" pitchFamily="2" charset="2"/>
              </a:rPr>
              <a:t> LULC where ?</a:t>
            </a: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sym typeface="Wingdings" pitchFamily="2" charset="2"/>
              </a:rPr>
              <a:t> w</a:t>
            </a:r>
            <a:r>
              <a:rPr lang="en-US" sz="2000" dirty="0">
                <a:latin typeface="+mn-lt"/>
              </a:rPr>
              <a:t>ater quality </a:t>
            </a: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sym typeface="Wingdings" pitchFamily="2" charset="2"/>
              </a:rPr>
              <a:t> fish biodiversity </a:t>
            </a:r>
            <a:endParaRPr lang="en-US" sz="2000" dirty="0">
              <a:latin typeface="+mn-lt"/>
            </a:endParaRPr>
          </a:p>
        </p:txBody>
      </p:sp>
      <p:sp>
        <p:nvSpPr>
          <p:cNvPr id="8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30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EISA 2007</a:t>
            </a: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4525963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sz="280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Assumptions </a:t>
            </a:r>
          </a:p>
          <a:p>
            <a:pPr>
              <a:buClr>
                <a:srgbClr val="006600"/>
              </a:buClr>
              <a:defRPr/>
            </a:pPr>
            <a:r>
              <a:rPr lang="en-US" sz="2400" dirty="0" err="1" smtClean="0"/>
              <a:t>switchgrass</a:t>
            </a:r>
            <a:r>
              <a:rPr lang="en-US" sz="2400" dirty="0" smtClean="0"/>
              <a:t> as bioenergy crop</a:t>
            </a:r>
          </a:p>
          <a:p>
            <a:pPr>
              <a:buClr>
                <a:srgbClr val="006600"/>
              </a:buClr>
              <a:defRPr/>
            </a:pPr>
            <a:r>
              <a:rPr lang="en-US" sz="2400" dirty="0" smtClean="0"/>
              <a:t>limited to existing agriculture and pasture land</a:t>
            </a:r>
          </a:p>
          <a:p>
            <a:pPr>
              <a:buClr>
                <a:srgbClr val="006600"/>
              </a:buClr>
              <a:defRPr/>
            </a:pPr>
            <a:r>
              <a:rPr lang="en-US" sz="2400" dirty="0" smtClean="0"/>
              <a:t>total area of cultivated land static   2010 - 2030</a:t>
            </a:r>
          </a:p>
          <a:p>
            <a:pPr>
              <a:defRPr/>
            </a:pPr>
            <a:endParaRPr lang="en-US" sz="2400" dirty="0" smtClean="0"/>
          </a:p>
          <a:p>
            <a:pPr>
              <a:buFont typeface="Arial" charset="0"/>
              <a:buNone/>
              <a:defRPr/>
            </a:pPr>
            <a:r>
              <a:rPr lang="en-US" sz="2800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Hypotheses </a:t>
            </a:r>
          </a:p>
          <a:p>
            <a:pPr>
              <a:buFont typeface="Arial" charset="0"/>
              <a:buNone/>
              <a:defRPr/>
            </a:pPr>
            <a:r>
              <a:rPr lang="en-US" sz="2400" dirty="0" smtClean="0"/>
              <a:t>Where </a:t>
            </a:r>
            <a:r>
              <a:rPr lang="en-US" sz="2400" dirty="0" err="1" smtClean="0"/>
              <a:t>switchgrass</a:t>
            </a:r>
            <a:r>
              <a:rPr lang="en-US" sz="2400" dirty="0" smtClean="0"/>
              <a:t> replaces agriculture</a:t>
            </a:r>
          </a:p>
          <a:p>
            <a:pPr>
              <a:buClr>
                <a:srgbClr val="006600"/>
              </a:buClr>
              <a:defRPr/>
            </a:pPr>
            <a:r>
              <a:rPr lang="en-US" sz="2400" dirty="0" smtClean="0"/>
              <a:t>nutrients in streams decrease</a:t>
            </a:r>
          </a:p>
          <a:p>
            <a:pPr>
              <a:buClr>
                <a:srgbClr val="006600"/>
              </a:buClr>
              <a:defRPr/>
            </a:pPr>
            <a:r>
              <a:rPr lang="en-US" sz="2400" dirty="0" smtClean="0"/>
              <a:t>perennial crops decrease sediment loads</a:t>
            </a:r>
          </a:p>
          <a:p>
            <a:pPr>
              <a:buClr>
                <a:srgbClr val="006600"/>
              </a:buClr>
              <a:defRPr/>
            </a:pPr>
            <a:r>
              <a:rPr lang="en-US" sz="2400" dirty="0" smtClean="0"/>
              <a:t>increase in fish diversity </a:t>
            </a:r>
          </a:p>
          <a:p>
            <a:pPr>
              <a:buFont typeface="Arial" charset="0"/>
              <a:buNone/>
              <a:defRPr/>
            </a:pPr>
            <a:endParaRPr lang="en-US" dirty="0" smtClean="0"/>
          </a:p>
          <a:p>
            <a:pPr>
              <a:buFont typeface="Arial" charset="0"/>
              <a:buNone/>
              <a:defRPr/>
            </a:pPr>
            <a:r>
              <a:rPr lang="en-US" dirty="0" smtClean="0"/>
              <a:t>	</a:t>
            </a:r>
          </a:p>
        </p:txBody>
      </p:sp>
      <p:pic>
        <p:nvPicPr>
          <p:cNvPr id="41986" name="Picture 7" descr="ornl_leafLogo-01.png"/>
          <p:cNvPicPr>
            <a:picLocks noChangeAspect="1"/>
          </p:cNvPicPr>
          <p:nvPr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7" descr="ornl_leafLogo-01.png"/>
          <p:cNvPicPr>
            <a:picLocks noChangeAspect="1"/>
          </p:cNvPicPr>
          <p:nvPr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METHODS</a:t>
            </a:r>
            <a:r>
              <a:rPr lang="en-US" sz="30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:  </a:t>
            </a:r>
            <a:r>
              <a:rPr lang="en-US" sz="30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conceptual approach</a:t>
            </a:r>
          </a:p>
        </p:txBody>
      </p:sp>
      <p:sp>
        <p:nvSpPr>
          <p:cNvPr id="44035" name="TextBox 5"/>
          <p:cNvSpPr txBox="1">
            <a:spLocks noChangeArrowheads="1"/>
          </p:cNvSpPr>
          <p:nvPr/>
        </p:nvSpPr>
        <p:spPr bwMode="auto">
          <a:xfrm>
            <a:off x="762000" y="1306513"/>
            <a:ext cx="2879725" cy="280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latin typeface="Calibri" pitchFamily="34" charset="0"/>
              </a:rPr>
              <a:t>Existing landscape</a:t>
            </a:r>
          </a:p>
          <a:p>
            <a:endParaRPr lang="en-US" sz="2000"/>
          </a:p>
          <a:p>
            <a:r>
              <a:rPr lang="en-US" sz="2000">
                <a:latin typeface="Calibri" pitchFamily="34" charset="0"/>
              </a:rPr>
              <a:t>Watershed characteristics</a:t>
            </a:r>
          </a:p>
          <a:p>
            <a:r>
              <a:rPr lang="en-US" sz="2000">
                <a:latin typeface="Calibri" pitchFamily="34" charset="0"/>
              </a:rPr>
              <a:t>Land cover (CDL &amp; NLCD)</a:t>
            </a:r>
          </a:p>
          <a:p>
            <a:r>
              <a:rPr lang="en-US" sz="2000">
                <a:latin typeface="Calibri" pitchFamily="34" charset="0"/>
              </a:rPr>
              <a:t>Slope and elevation</a:t>
            </a:r>
          </a:p>
          <a:p>
            <a:r>
              <a:rPr lang="en-US" sz="2000">
                <a:latin typeface="Calibri" pitchFamily="34" charset="0"/>
              </a:rPr>
              <a:t>Soils</a:t>
            </a:r>
          </a:p>
          <a:p>
            <a:r>
              <a:rPr lang="en-US" sz="2000">
                <a:latin typeface="Calibri" pitchFamily="34" charset="0"/>
              </a:rPr>
              <a:t>Stream layers</a:t>
            </a:r>
          </a:p>
          <a:p>
            <a:pPr lvl="2"/>
            <a:endParaRPr lang="en-US" sz="1600"/>
          </a:p>
          <a:p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403600" y="1295400"/>
            <a:ext cx="27384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b="1">
                <a:latin typeface="Calibri" pitchFamily="34" charset="0"/>
              </a:rPr>
              <a:t>Projected landscape</a:t>
            </a:r>
          </a:p>
          <a:p>
            <a:pPr algn="ctr"/>
            <a:r>
              <a:rPr lang="en-US" sz="2400">
                <a:latin typeface="Calibri" pitchFamily="34" charset="0"/>
              </a:rPr>
              <a:t> (POLYSYS)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05000" y="3602038"/>
            <a:ext cx="304800" cy="3048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0" name="Down Arrow 9"/>
          <p:cNvSpPr/>
          <p:nvPr/>
        </p:nvSpPr>
        <p:spPr>
          <a:xfrm>
            <a:off x="4562475" y="2209800"/>
            <a:ext cx="304800" cy="3048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970338" y="2625725"/>
            <a:ext cx="15525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>
                <a:latin typeface="Calibri" pitchFamily="34" charset="0"/>
              </a:rPr>
              <a:t>Projected </a:t>
            </a:r>
          </a:p>
          <a:p>
            <a:pPr algn="ctr"/>
            <a:r>
              <a:rPr lang="en-US" sz="2000">
                <a:latin typeface="Calibri" pitchFamily="34" charset="0"/>
              </a:rPr>
              <a:t>water quality</a:t>
            </a:r>
          </a:p>
          <a:p>
            <a:pPr algn="ctr"/>
            <a:r>
              <a:rPr lang="en-US" sz="2000">
                <a:latin typeface="Calibri" pitchFamily="34" charset="0"/>
              </a:rPr>
              <a:t>(SWAT)</a:t>
            </a:r>
          </a:p>
        </p:txBody>
      </p:sp>
      <p:sp>
        <p:nvSpPr>
          <p:cNvPr id="44040" name="TextBox 12"/>
          <p:cNvSpPr txBox="1">
            <a:spLocks noChangeArrowheads="1"/>
          </p:cNvSpPr>
          <p:nvPr/>
        </p:nvSpPr>
        <p:spPr bwMode="auto">
          <a:xfrm>
            <a:off x="1235075" y="3921125"/>
            <a:ext cx="16541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>
                <a:latin typeface="Calibri" pitchFamily="34" charset="0"/>
              </a:rPr>
              <a:t>SWAT</a:t>
            </a:r>
            <a:endParaRPr lang="en-US" sz="2000" baseline="-25000">
              <a:latin typeface="Calibri" pitchFamily="34" charset="0"/>
            </a:endParaRPr>
          </a:p>
          <a:p>
            <a:pPr algn="ctr"/>
            <a:r>
              <a:rPr lang="en-US" sz="2000">
                <a:latin typeface="Calibri" pitchFamily="34" charset="0"/>
              </a:rPr>
              <a:t>Discharge</a:t>
            </a:r>
          </a:p>
          <a:p>
            <a:pPr algn="ctr"/>
            <a:r>
              <a:rPr lang="en-US" sz="2000">
                <a:latin typeface="Calibri" pitchFamily="34" charset="0"/>
              </a:rPr>
              <a:t>Water quality 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905000" y="5029200"/>
            <a:ext cx="304800" cy="3048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15" name="TextBox 14"/>
          <p:cNvSpPr txBox="1"/>
          <p:nvPr/>
        </p:nvSpPr>
        <p:spPr>
          <a:xfrm>
            <a:off x="712788" y="5341938"/>
            <a:ext cx="2598737" cy="7064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n-lt"/>
              </a:rPr>
              <a:t>Species richness model</a:t>
            </a:r>
          </a:p>
          <a:p>
            <a:pPr algn="ctr">
              <a:defRPr/>
            </a:pPr>
            <a:r>
              <a:rPr lang="en-US" sz="2000" dirty="0">
                <a:latin typeface="+mn-lt"/>
              </a:rPr>
              <a:t>(Native fish species)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4288" y="4114800"/>
            <a:ext cx="1862137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n-lt"/>
              </a:rPr>
              <a:t>Projected </a:t>
            </a:r>
          </a:p>
          <a:p>
            <a:pPr algn="ctr">
              <a:defRPr/>
            </a:pPr>
            <a:r>
              <a:rPr lang="en-US" sz="2000" dirty="0">
                <a:latin typeface="+mn-lt"/>
              </a:rPr>
              <a:t>species richness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572000" y="3733800"/>
            <a:ext cx="304800" cy="3048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1" name="Bent-Up Arrow 20"/>
          <p:cNvSpPr/>
          <p:nvPr/>
        </p:nvSpPr>
        <p:spPr>
          <a:xfrm>
            <a:off x="3840163" y="4999038"/>
            <a:ext cx="1066800" cy="533400"/>
          </a:xfrm>
          <a:prstGeom prst="bent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4" name="Right Arrow 23"/>
          <p:cNvSpPr/>
          <p:nvPr/>
        </p:nvSpPr>
        <p:spPr>
          <a:xfrm>
            <a:off x="6019800" y="2971800"/>
            <a:ext cx="381000" cy="228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5" name="Right Arrow 24"/>
          <p:cNvSpPr/>
          <p:nvPr/>
        </p:nvSpPr>
        <p:spPr>
          <a:xfrm>
            <a:off x="6019800" y="4343400"/>
            <a:ext cx="381000" cy="228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6" name="TextBox 25"/>
          <p:cNvSpPr txBox="1"/>
          <p:nvPr/>
        </p:nvSpPr>
        <p:spPr>
          <a:xfrm>
            <a:off x="6589713" y="2667000"/>
            <a:ext cx="1866900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n-lt"/>
              </a:rPr>
              <a:t>Changes </a:t>
            </a:r>
          </a:p>
          <a:p>
            <a:pPr algn="ctr">
              <a:defRPr/>
            </a:pPr>
            <a:r>
              <a:rPr lang="en-US" sz="2000" dirty="0">
                <a:latin typeface="+mn-lt"/>
              </a:rPr>
              <a:t>in water quality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8438" y="4114800"/>
            <a:ext cx="1784350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n-lt"/>
              </a:rPr>
              <a:t>Changes</a:t>
            </a:r>
          </a:p>
          <a:p>
            <a:pPr algn="ctr">
              <a:defRPr/>
            </a:pPr>
            <a:r>
              <a:rPr lang="en-US" sz="2000" dirty="0">
                <a:latin typeface="+mn-lt"/>
              </a:rPr>
              <a:t> in fish richness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2" grpId="0"/>
      <p:bldP spid="19" grpId="0"/>
      <p:bldP spid="20" grpId="0" animBg="1"/>
      <p:bldP spid="24" grpId="0" animBg="1"/>
      <p:bldP spid="25" grpId="0" animBg="1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2"/>
          <p:cNvPicPr>
            <a:picLocks noChangeAspect="1" noChangeArrowheads="1"/>
          </p:cNvPicPr>
          <p:nvPr/>
        </p:nvPicPr>
        <p:blipFill>
          <a:blip r:embed="rId3"/>
          <a:srcRect t="3284" r="2872" b="9595"/>
          <a:stretch>
            <a:fillRect/>
          </a:stretch>
        </p:blipFill>
        <p:spPr bwMode="auto">
          <a:xfrm>
            <a:off x="685800" y="3557588"/>
            <a:ext cx="3657600" cy="2478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4953000" y="1219200"/>
            <a:ext cx="3824288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POLYSYS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		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01673E"/>
              </a:buClr>
              <a:buSzPts val="2000"/>
              <a:buFont typeface="Arial" charset="0"/>
              <a:buChar char="•"/>
              <a:defRPr/>
            </a:pPr>
            <a:r>
              <a:rPr lang="en-US" sz="2000">
                <a:latin typeface="Calibri" pitchFamily="34" charset="0"/>
              </a:rPr>
              <a:t>Agro-economic model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01673E"/>
              </a:buClr>
              <a:buSzPts val="2000"/>
              <a:buFont typeface="Arial" charset="0"/>
              <a:buChar char="•"/>
              <a:defRPr/>
            </a:pPr>
            <a:r>
              <a:rPr lang="en-US" sz="2000">
                <a:latin typeface="Calibri" pitchFamily="34" charset="0"/>
              </a:rPr>
              <a:t>Land change projections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rgbClr val="01673E"/>
              </a:buClr>
              <a:buSzPts val="2000"/>
              <a:buFontTx/>
              <a:buChar char="–"/>
              <a:defRPr/>
            </a:pPr>
            <a:r>
              <a:rPr lang="en-US">
                <a:latin typeface="Calibri" pitchFamily="34" charset="0"/>
              </a:rPr>
              <a:t>% area agriculture replaced by switchgrass</a:t>
            </a:r>
            <a:endParaRPr lang="en-US" sz="2400">
              <a:latin typeface="Calibri" pitchFamily="34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801688" y="1219200"/>
            <a:ext cx="3825875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SWAT</a:t>
            </a:r>
            <a:endParaRPr lang="en-US" sz="2400" baseline="-2500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01673E"/>
              </a:buClr>
              <a:buSzPts val="2000"/>
              <a:buFont typeface="Arial" charset="0"/>
              <a:buChar char="•"/>
            </a:pPr>
            <a:r>
              <a:rPr lang="en-US" sz="2000">
                <a:latin typeface="Calibri" pitchFamily="34" charset="0"/>
              </a:rPr>
              <a:t>Basin-scale hydrologic model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01673E"/>
              </a:buClr>
              <a:buSzPts val="2000"/>
              <a:buFont typeface="Arial" charset="0"/>
              <a:buChar char="•"/>
            </a:pPr>
            <a:r>
              <a:rPr lang="en-US" sz="2000">
                <a:latin typeface="Calibri" pitchFamily="34" charset="0"/>
              </a:rPr>
              <a:t> Integrates land change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rgbClr val="01673E"/>
              </a:buClr>
              <a:buSzPts val="2000"/>
              <a:buFontTx/>
              <a:buChar char="–"/>
            </a:pPr>
            <a:r>
              <a:rPr lang="en-US">
                <a:latin typeface="Calibri" pitchFamily="34" charset="0"/>
              </a:rPr>
              <a:t>Project water quality 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rgbClr val="01673E"/>
              </a:buClr>
              <a:buSzPts val="2000"/>
              <a:buFontTx/>
              <a:buChar char="–"/>
            </a:pPr>
            <a:r>
              <a:rPr lang="en-US">
                <a:latin typeface="Calibri" pitchFamily="34" charset="0"/>
              </a:rPr>
              <a:t>Stream discharge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rgbClr val="01673E"/>
              </a:buClr>
              <a:buSzPts val="2000"/>
              <a:buFontTx/>
              <a:buChar char="–"/>
            </a:pPr>
            <a:r>
              <a:rPr lang="en-US">
                <a:latin typeface="Calibri" pitchFamily="34" charset="0"/>
              </a:rPr>
              <a:t>Sediment loads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rgbClr val="01673E"/>
              </a:buClr>
              <a:buSzPts val="2000"/>
              <a:buFontTx/>
              <a:buChar char="–"/>
            </a:pPr>
            <a:r>
              <a:rPr lang="en-US">
                <a:latin typeface="Calibri" pitchFamily="34" charset="0"/>
              </a:rPr>
              <a:t>Nutrient levels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</a:pPr>
            <a:endParaRPr lang="en-US" sz="2800"/>
          </a:p>
        </p:txBody>
      </p:sp>
      <p:pic>
        <p:nvPicPr>
          <p:cNvPr id="46084" name="Picture 9"/>
          <p:cNvPicPr>
            <a:picLocks noChangeAspect="1" noChangeArrowheads="1"/>
          </p:cNvPicPr>
          <p:nvPr/>
        </p:nvPicPr>
        <p:blipFill>
          <a:blip r:embed="rId4"/>
          <a:srcRect b="3871"/>
          <a:stretch>
            <a:fillRect/>
          </a:stretch>
        </p:blipFill>
        <p:spPr bwMode="auto">
          <a:xfrm>
            <a:off x="4724400" y="3592513"/>
            <a:ext cx="3667125" cy="242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30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Tools</a:t>
            </a:r>
          </a:p>
        </p:txBody>
      </p:sp>
      <p:pic>
        <p:nvPicPr>
          <p:cNvPr id="46086" name="Picture 7" descr="ornl_leafLogo-01.png"/>
          <p:cNvPicPr>
            <a:picLocks noChangeAspect="1"/>
          </p:cNvPicPr>
          <p:nvPr/>
        </p:nvPicPr>
        <p:blipFill>
          <a:blip r:embed="rId5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20" name="Picture 4"/>
          <p:cNvPicPr>
            <a:picLocks noChangeAspect="1" noChangeArrowheads="1"/>
          </p:cNvPicPr>
          <p:nvPr/>
        </p:nvPicPr>
        <p:blipFill>
          <a:blip r:embed="rId3" cstate="print"/>
          <a:srcRect l="1436" t="5359" r="3003" b="9594"/>
          <a:stretch>
            <a:fillRect/>
          </a:stretch>
        </p:blipFill>
        <p:spPr bwMode="auto">
          <a:xfrm>
            <a:off x="5562600" y="4572000"/>
            <a:ext cx="23622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>
              <a:rot lat="2400000" lon="600000" rev="600000"/>
            </a:camera>
            <a:lightRig rig="threePt" dir="t"/>
          </a:scene3d>
        </p:spPr>
      </p:pic>
      <p:pic>
        <p:nvPicPr>
          <p:cNvPr id="48130" name="Picture 7" descr="ornl_leafLogo-01.png"/>
          <p:cNvPicPr>
            <a:picLocks noChangeAspect="1"/>
          </p:cNvPicPr>
          <p:nvPr/>
        </p:nvPicPr>
        <p:blipFill>
          <a:blip r:embed="rId4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Data sources</a:t>
            </a: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  <a:p>
            <a:pPr defTabSz="457200" eaLnBrk="0" hangingPunct="0">
              <a:defRPr/>
            </a:pPr>
            <a:endParaRPr 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2000" y="685800"/>
            <a:ext cx="4800600" cy="5940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CDL and NLCD	</a:t>
            </a:r>
            <a:r>
              <a:rPr lang="en-US" dirty="0">
                <a:latin typeface="+mn-lt"/>
              </a:rPr>
              <a:t>land cover  </a:t>
            </a:r>
            <a:r>
              <a:rPr lang="en-US" sz="2000" dirty="0">
                <a:latin typeface="+mn-lt"/>
              </a:rPr>
              <a:t>	</a:t>
            </a: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STATSGO	</a:t>
            </a:r>
            <a:r>
              <a:rPr lang="en-US" dirty="0">
                <a:latin typeface="+mn-lt"/>
              </a:rPr>
              <a:t>soils </a:t>
            </a:r>
            <a:r>
              <a:rPr lang="en-US" sz="2000" dirty="0">
                <a:latin typeface="+mn-lt"/>
              </a:rPr>
              <a:t>		</a:t>
            </a: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USGS		</a:t>
            </a:r>
            <a:r>
              <a:rPr lang="en-US" dirty="0">
                <a:latin typeface="+mn-lt"/>
              </a:rPr>
              <a:t>elevation and slope</a:t>
            </a:r>
          </a:p>
          <a:p>
            <a:pPr>
              <a:buClr>
                <a:srgbClr val="006600"/>
              </a:buClr>
              <a:defRPr/>
            </a:pPr>
            <a:endParaRPr lang="en-US" sz="2000" dirty="0">
              <a:latin typeface="+mn-lt"/>
            </a:endParaRPr>
          </a:p>
          <a:p>
            <a:pPr>
              <a:buClr>
                <a:srgbClr val="006600"/>
              </a:buClr>
              <a:defRPr/>
            </a:pPr>
            <a:endParaRPr lang="en-US" sz="2000" dirty="0">
              <a:latin typeface="+mn-lt"/>
            </a:endParaRP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000" dirty="0" err="1">
                <a:latin typeface="+mn-lt"/>
              </a:rPr>
              <a:t>NHDplus</a:t>
            </a:r>
            <a:r>
              <a:rPr lang="en-US" sz="2000" dirty="0">
                <a:latin typeface="+mn-lt"/>
              </a:rPr>
              <a:t>	</a:t>
            </a:r>
            <a:r>
              <a:rPr lang="en-US" dirty="0">
                <a:latin typeface="+mn-lt"/>
              </a:rPr>
              <a:t>streams	and </a:t>
            </a:r>
          </a:p>
          <a:p>
            <a:pPr>
              <a:buClr>
                <a:srgbClr val="006600"/>
              </a:buClr>
              <a:defRPr/>
            </a:pPr>
            <a:r>
              <a:rPr lang="en-US" dirty="0">
                <a:latin typeface="+mn-lt"/>
              </a:rPr>
              <a:t>		watershed boundaries </a:t>
            </a:r>
            <a:r>
              <a:rPr lang="en-US" sz="2000" dirty="0">
                <a:latin typeface="+mn-lt"/>
              </a:rPr>
              <a:t>	</a:t>
            </a: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000" dirty="0" err="1">
                <a:latin typeface="+mn-lt"/>
              </a:rPr>
              <a:t>NatureServe</a:t>
            </a:r>
            <a:r>
              <a:rPr lang="en-US" sz="2000" dirty="0">
                <a:latin typeface="+mn-lt"/>
              </a:rPr>
              <a:t>	</a:t>
            </a:r>
            <a:r>
              <a:rPr lang="en-US" dirty="0">
                <a:latin typeface="+mn-lt"/>
              </a:rPr>
              <a:t>fish and mussel data</a:t>
            </a: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r>
              <a:rPr lang="en-US" sz="2000" dirty="0">
                <a:latin typeface="+mn-lt"/>
              </a:rPr>
              <a:t>	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		</a:t>
            </a:r>
            <a:endParaRPr lang="en-US" dirty="0">
              <a:latin typeface="+mn-lt"/>
            </a:endParaRPr>
          </a:p>
        </p:txBody>
      </p:sp>
      <p:pic>
        <p:nvPicPr>
          <p:cNvPr id="38" name="Picture 2"/>
          <p:cNvPicPr>
            <a:picLocks noChangeArrowheads="1"/>
          </p:cNvPicPr>
          <p:nvPr/>
        </p:nvPicPr>
        <p:blipFill>
          <a:blip r:embed="rId5" cstate="print"/>
          <a:srcRect l="469" t="4762" b="5952"/>
          <a:stretch>
            <a:fillRect/>
          </a:stretch>
        </p:blipFill>
        <p:spPr bwMode="auto">
          <a:xfrm>
            <a:off x="5562600" y="3977640"/>
            <a:ext cx="2286000" cy="12801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>
              <a:rot lat="2400000" lon="600000" rev="600000"/>
            </a:camera>
            <a:lightRig rig="threePt" dir="t"/>
          </a:scene3d>
        </p:spPr>
      </p:pic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6" cstate="print"/>
          <a:srcRect t="4167" r="2451" b="8333"/>
          <a:stretch>
            <a:fillRect/>
          </a:stretch>
        </p:blipFill>
        <p:spPr bwMode="auto">
          <a:xfrm>
            <a:off x="5562600" y="3276600"/>
            <a:ext cx="2285998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>
              <a:rot lat="2400000" lon="600000" rev="600000"/>
            </a:camera>
            <a:lightRig rig="threePt" dir="t"/>
          </a:scene3d>
        </p:spPr>
      </p:pic>
      <p:pic>
        <p:nvPicPr>
          <p:cNvPr id="40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62600" y="2651418"/>
            <a:ext cx="2276967" cy="1280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>
              <a:rot lat="2400000" lon="600000" rev="600000"/>
            </a:camera>
            <a:lightRig rig="threePt" dir="t"/>
          </a:scene3d>
        </p:spPr>
      </p:pic>
      <p:pic>
        <p:nvPicPr>
          <p:cNvPr id="41" name="Picture 8"/>
          <p:cNvPicPr>
            <a:picLocks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562600" y="1935822"/>
            <a:ext cx="2286000" cy="1280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>
              <a:rot lat="2400000" lon="600000" rev="600000"/>
            </a:camera>
            <a:lightRig rig="threePt" dir="t"/>
          </a:scene3d>
        </p:spPr>
      </p:pic>
      <p:pic>
        <p:nvPicPr>
          <p:cNvPr id="42" name="Picture 9"/>
          <p:cNvPicPr>
            <a:picLocks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562600" y="1166723"/>
            <a:ext cx="2286000" cy="1292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>
              <a:rot lat="2400000" lon="600000" rev="600000"/>
            </a:camera>
            <a:lightRig rig="threePt" dir="t"/>
          </a:scene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/>
            <a:r>
              <a:rPr lang="en-US" sz="28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SWAT modeling</a:t>
            </a:r>
          </a:p>
        </p:txBody>
      </p:sp>
      <p:pic>
        <p:nvPicPr>
          <p:cNvPr id="89092" name="Picture 4" descr="Studentized Residuals_small is dark color"/>
          <p:cNvPicPr>
            <a:picLocks noChangeAspect="1" noChangeArrowheads="1"/>
          </p:cNvPicPr>
          <p:nvPr/>
        </p:nvPicPr>
        <p:blipFill>
          <a:blip r:embed="rId3"/>
          <a:srcRect l="2197" t="2844" r="2197" b="4703"/>
          <a:stretch>
            <a:fillRect/>
          </a:stretch>
        </p:blipFill>
        <p:spPr bwMode="auto">
          <a:xfrm>
            <a:off x="2895600" y="1600200"/>
            <a:ext cx="581342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9" name="Picture 7" descr="ornl_leafLogo-01.png"/>
          <p:cNvPicPr>
            <a:picLocks noChangeAspect="1"/>
          </p:cNvPicPr>
          <p:nvPr/>
        </p:nvPicPr>
        <p:blipFill>
          <a:blip r:embed="rId4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0" name="Content Placeholder 12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1981-2003 model run</a:t>
            </a:r>
          </a:p>
          <a:p>
            <a:pPr marL="342900" indent="-342900" defTabSz="457200" eaLnBrk="0" hangingPunct="0">
              <a:spcBef>
                <a:spcPct val="20000"/>
              </a:spcBef>
            </a:pPr>
            <a:r>
              <a:rPr lang="en-US">
                <a:latin typeface="Calibri" pitchFamily="34" charset="0"/>
              </a:rPr>
              <a:t>Alamo switchgrass</a:t>
            </a:r>
          </a:p>
          <a:p>
            <a:pPr marL="342900" indent="-342900" defTabSz="457200" eaLnBrk="0" hangingPunct="0">
              <a:spcBef>
                <a:spcPct val="20000"/>
              </a:spcBef>
            </a:pPr>
            <a:r>
              <a:rPr lang="en-US">
                <a:latin typeface="Calibri" pitchFamily="34" charset="0"/>
              </a:rPr>
              <a:t>Tiles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Calibration 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Agricultural watershed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Forest watershed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Nash-Sutcliffe &gt; 0.75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 cstate="print"/>
          <a:srcRect t="4167" r="2451" b="8333"/>
          <a:stretch>
            <a:fillRect/>
          </a:stretch>
        </p:blipFill>
        <p:spPr bwMode="auto">
          <a:xfrm>
            <a:off x="609600" y="2438400"/>
            <a:ext cx="2285998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>
              <a:rot lat="3600000" lon="600000" rev="600000"/>
            </a:camera>
            <a:lightRig rig="threePt" dir="t"/>
          </a:scene3d>
        </p:spPr>
      </p:pic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" y="1996440"/>
            <a:ext cx="2276967" cy="1280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>
              <a:rot lat="3600000" lon="600000" rev="600000"/>
            </a:camera>
            <a:lightRig rig="threePt" dir="t"/>
          </a:scene3d>
        </p:spPr>
      </p:pic>
      <p:pic>
        <p:nvPicPr>
          <p:cNvPr id="13" name="Picture 8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1539240"/>
            <a:ext cx="2286000" cy="1280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>
              <a:rot lat="3600000" lon="600000" rev="600000"/>
            </a:camera>
            <a:lightRig rig="threePt" dir="t"/>
          </a:scene3d>
        </p:spPr>
      </p:pic>
      <p:pic>
        <p:nvPicPr>
          <p:cNvPr id="14" name="Picture 9"/>
          <p:cNvPicPr>
            <a:picLocks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9600" y="1069975"/>
            <a:ext cx="2286000" cy="1292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>
              <a:rot lat="3600000" lon="600000" rev="600000"/>
            </a:camera>
            <a:lightRig rig="threePt" dir="t"/>
          </a:scene3d>
        </p:spPr>
      </p:pic>
      <p:sp>
        <p:nvSpPr>
          <p:cNvPr id="15" name="TextBox 14"/>
          <p:cNvSpPr txBox="1"/>
          <p:nvPr/>
        </p:nvSpPr>
        <p:spPr>
          <a:xfrm>
            <a:off x="3352800" y="1295400"/>
            <a:ext cx="53736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Validation: discharge,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nutrients and sediment load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2"/>
          <p:cNvPicPr>
            <a:picLocks noChangeAspect="1" noChangeArrowheads="1"/>
          </p:cNvPicPr>
          <p:nvPr/>
        </p:nvPicPr>
        <p:blipFill>
          <a:blip r:embed="rId3"/>
          <a:srcRect l="1099" t="6366" r="2335" b="10699"/>
          <a:stretch>
            <a:fillRect/>
          </a:stretch>
        </p:blipFill>
        <p:spPr bwMode="auto">
          <a:xfrm>
            <a:off x="1565275" y="1371600"/>
            <a:ext cx="6994525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Fish species richness in the AWR</a:t>
            </a:r>
          </a:p>
        </p:txBody>
      </p:sp>
      <p:sp>
        <p:nvSpPr>
          <p:cNvPr id="90116" name="Text Box 10"/>
          <p:cNvSpPr txBox="1">
            <a:spLocks noChangeArrowheads="1"/>
          </p:cNvSpPr>
          <p:nvPr/>
        </p:nvSpPr>
        <p:spPr bwMode="auto">
          <a:xfrm>
            <a:off x="792163" y="3733800"/>
            <a:ext cx="19145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latin typeface="+mn-lt"/>
              </a:rPr>
              <a:t>Precipitation</a:t>
            </a:r>
          </a:p>
          <a:p>
            <a:pPr>
              <a:defRPr/>
            </a:pPr>
            <a:r>
              <a:rPr lang="en-US" sz="1600" dirty="0">
                <a:latin typeface="+mn-lt"/>
              </a:rPr>
              <a:t>Elevation</a:t>
            </a:r>
          </a:p>
          <a:p>
            <a:pPr>
              <a:defRPr/>
            </a:pPr>
            <a:r>
              <a:rPr lang="en-US" sz="1600" dirty="0">
                <a:latin typeface="+mn-lt"/>
              </a:rPr>
              <a:t>Regional biodiversity</a:t>
            </a:r>
          </a:p>
        </p:txBody>
      </p:sp>
      <p:pic>
        <p:nvPicPr>
          <p:cNvPr id="52228" name="Picture 7" descr="ornl_leafLogo-01.png"/>
          <p:cNvPicPr>
            <a:picLocks noChangeAspect="1"/>
          </p:cNvPicPr>
          <p:nvPr/>
        </p:nvPicPr>
        <p:blipFill>
          <a:blip r:embed="rId4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2229" name="Group 16"/>
          <p:cNvGrpSpPr>
            <a:grpSpLocks/>
          </p:cNvGrpSpPr>
          <p:nvPr/>
        </p:nvGrpSpPr>
        <p:grpSpPr bwMode="auto">
          <a:xfrm>
            <a:off x="796925" y="4953000"/>
            <a:ext cx="3517900" cy="838200"/>
            <a:chOff x="797616" y="4953000"/>
            <a:chExt cx="3516677" cy="838200"/>
          </a:xfrm>
        </p:grpSpPr>
        <p:pic>
          <p:nvPicPr>
            <p:cNvPr id="52230" name="Picture 3"/>
            <p:cNvPicPr>
              <a:picLocks noChangeAspect="1" noChangeArrowheads="1"/>
            </p:cNvPicPr>
            <p:nvPr/>
          </p:nvPicPr>
          <p:blipFill>
            <a:blip r:embed="rId5"/>
            <a:srcRect r="18605" b="-9349"/>
            <a:stretch>
              <a:fillRect/>
            </a:stretch>
          </p:blipFill>
          <p:spPr bwMode="auto">
            <a:xfrm>
              <a:off x="914399" y="5268075"/>
              <a:ext cx="2667001" cy="523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231" name="TextBox 8"/>
            <p:cNvSpPr txBox="1">
              <a:spLocks noChangeArrowheads="1"/>
            </p:cNvSpPr>
            <p:nvPr/>
          </p:nvSpPr>
          <p:spPr bwMode="auto">
            <a:xfrm>
              <a:off x="797616" y="4953000"/>
              <a:ext cx="343876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Number of native fish species per HUC-8</a:t>
              </a:r>
            </a:p>
          </p:txBody>
        </p:sp>
        <p:sp>
          <p:nvSpPr>
            <p:cNvPr id="52232" name="TextBox 15"/>
            <p:cNvSpPr txBox="1">
              <a:spLocks noChangeArrowheads="1"/>
            </p:cNvSpPr>
            <p:nvPr/>
          </p:nvSpPr>
          <p:spPr bwMode="auto">
            <a:xfrm>
              <a:off x="3581400" y="5231150"/>
              <a:ext cx="732893" cy="528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100"/>
                <a:t>76 – 100</a:t>
              </a:r>
            </a:p>
            <a:p>
              <a:pPr>
                <a:lnSpc>
                  <a:spcPts val="1800"/>
                </a:lnSpc>
              </a:pPr>
              <a:r>
                <a:rPr lang="en-US" sz="1100"/>
                <a:t>&gt; 100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Modeling current fish species richness</a:t>
            </a:r>
          </a:p>
        </p:txBody>
      </p:sp>
      <p:grpSp>
        <p:nvGrpSpPr>
          <p:cNvPr id="81925" name="Group 17"/>
          <p:cNvGrpSpPr>
            <a:grpSpLocks/>
          </p:cNvGrpSpPr>
          <p:nvPr/>
        </p:nvGrpSpPr>
        <p:grpSpPr bwMode="auto">
          <a:xfrm>
            <a:off x="3810000" y="914400"/>
            <a:ext cx="5105400" cy="4648200"/>
            <a:chOff x="3733800" y="2057400"/>
            <a:chExt cx="4755459" cy="4191000"/>
          </a:xfrm>
        </p:grpSpPr>
        <p:graphicFrame>
          <p:nvGraphicFramePr>
            <p:cNvPr id="81923" name="Object 3"/>
            <p:cNvGraphicFramePr>
              <a:graphicFrameLocks noChangeAspect="1"/>
            </p:cNvGraphicFramePr>
            <p:nvPr/>
          </p:nvGraphicFramePr>
          <p:xfrm>
            <a:off x="3733800" y="2057400"/>
            <a:ext cx="4755459" cy="4191000"/>
          </p:xfrm>
          <a:graphic>
            <a:graphicData uri="http://schemas.openxmlformats.org/presentationml/2006/ole">
              <p:oleObj spid="_x0000_s81923" name="Chart" r:id="rId4" imgW="6076884" imgH="6286407" progId="Excel.Sheet.8">
                <p:embed followColorScheme="full"/>
              </p:oleObj>
            </a:graphicData>
          </a:graphic>
        </p:graphicFrame>
        <p:sp>
          <p:nvSpPr>
            <p:cNvPr id="81929" name="TextBox 16"/>
            <p:cNvSpPr txBox="1">
              <a:spLocks noChangeArrowheads="1"/>
            </p:cNvSpPr>
            <p:nvPr/>
          </p:nvSpPr>
          <p:spPr bwMode="auto">
            <a:xfrm>
              <a:off x="6705600" y="2221468"/>
              <a:ext cx="1752600" cy="3693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R</a:t>
              </a:r>
              <a:r>
                <a:rPr lang="en-US" baseline="30000"/>
                <a:t>2</a:t>
              </a:r>
              <a:r>
                <a:rPr lang="en-US"/>
                <a:t> adj. = 0.86</a:t>
              </a:r>
            </a:p>
          </p:txBody>
        </p:sp>
      </p:grpSp>
      <p:sp>
        <p:nvSpPr>
          <p:cNvPr id="81926" name="Content Placeholder 1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1800" smtClean="0"/>
              <a:t>Stratified data 70/30, by subregion</a:t>
            </a:r>
          </a:p>
          <a:p>
            <a:pPr>
              <a:buFont typeface="Arial" charset="0"/>
              <a:buNone/>
            </a:pPr>
            <a:r>
              <a:rPr lang="en-US" sz="1800" smtClean="0"/>
              <a:t>Poisson regression with log-link function</a:t>
            </a:r>
          </a:p>
          <a:p>
            <a:pPr>
              <a:buFont typeface="Arial" charset="0"/>
              <a:buNone/>
            </a:pPr>
            <a:endParaRPr lang="en-US" sz="1800" smtClean="0"/>
          </a:p>
          <a:p>
            <a:pPr>
              <a:buFont typeface="Arial" charset="0"/>
              <a:buNone/>
            </a:pPr>
            <a:r>
              <a:rPr lang="en-US" sz="1800" smtClean="0"/>
              <a:t>Number Species </a:t>
            </a:r>
          </a:p>
          <a:p>
            <a:pPr lvl="1">
              <a:buFont typeface="Arial" charset="0"/>
              <a:buNone/>
            </a:pPr>
            <a:r>
              <a:rPr lang="en-US" sz="1800" smtClean="0"/>
              <a:t>discharge</a:t>
            </a:r>
          </a:p>
          <a:p>
            <a:pPr lvl="1">
              <a:buFont typeface="Arial" charset="0"/>
              <a:buNone/>
            </a:pPr>
            <a:r>
              <a:rPr lang="en-US" sz="1800" smtClean="0"/>
              <a:t>number of dams</a:t>
            </a:r>
          </a:p>
          <a:p>
            <a:pPr lvl="1">
              <a:buFont typeface="Arial" charset="0"/>
              <a:buNone/>
            </a:pPr>
            <a:r>
              <a:rPr lang="en-US" sz="1800" smtClean="0"/>
              <a:t>elevation</a:t>
            </a:r>
          </a:p>
          <a:p>
            <a:pPr lvl="1">
              <a:buFont typeface="Arial" charset="0"/>
              <a:buNone/>
            </a:pPr>
            <a:r>
              <a:rPr lang="en-US" sz="1800" smtClean="0"/>
              <a:t>sediment concentration </a:t>
            </a:r>
          </a:p>
          <a:p>
            <a:pPr lvl="1">
              <a:buFont typeface="Arial" charset="0"/>
              <a:buNone/>
            </a:pPr>
            <a:r>
              <a:rPr lang="en-US" sz="1800" smtClean="0">
                <a:solidFill>
                  <a:srgbClr val="7F7F7F"/>
                </a:solidFill>
              </a:rPr>
              <a:t>number upstream HUC</a:t>
            </a:r>
          </a:p>
          <a:p>
            <a:pPr lvl="1">
              <a:buFont typeface="Arial" charset="0"/>
              <a:buNone/>
            </a:pPr>
            <a:r>
              <a:rPr lang="en-US" sz="1800" smtClean="0">
                <a:solidFill>
                  <a:srgbClr val="7F7F7F"/>
                </a:solidFill>
              </a:rPr>
              <a:t>percent water</a:t>
            </a:r>
          </a:p>
          <a:p>
            <a:pPr lvl="1">
              <a:buFont typeface="Arial" charset="0"/>
              <a:buNone/>
            </a:pPr>
            <a:r>
              <a:rPr lang="en-US" sz="1800" smtClean="0">
                <a:solidFill>
                  <a:srgbClr val="7F7F7F"/>
                </a:solidFill>
              </a:rPr>
              <a:t>nitrate nitrogen </a:t>
            </a:r>
          </a:p>
          <a:p>
            <a:pPr lvl="1">
              <a:buFont typeface="Arial" charset="0"/>
              <a:buNone/>
            </a:pPr>
            <a:r>
              <a:rPr lang="en-US" sz="1800" smtClean="0">
                <a:solidFill>
                  <a:srgbClr val="7F7F7F"/>
                </a:solidFill>
              </a:rPr>
              <a:t>total phosphorus</a:t>
            </a:r>
          </a:p>
          <a:p>
            <a:pPr lvl="1">
              <a:buFont typeface="Arial" charset="0"/>
              <a:buNone/>
            </a:pPr>
            <a:endParaRPr lang="en-US" smtClean="0"/>
          </a:p>
        </p:txBody>
      </p:sp>
      <p:pic>
        <p:nvPicPr>
          <p:cNvPr id="81927" name="Picture 7" descr="ornl_leafLogo-01.png"/>
          <p:cNvPicPr>
            <a:picLocks noChangeAspect="1"/>
          </p:cNvPicPr>
          <p:nvPr/>
        </p:nvPicPr>
        <p:blipFill>
          <a:blip r:embed="rId5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533400" y="5527675"/>
            <a:ext cx="8382000" cy="522288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1600" i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Species </a:t>
            </a:r>
            <a:r>
              <a:rPr lang="en-US" sz="16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exp(4.32 + 0.0003 flow – 0.0163 dams – 0.002 elevation – 0.04 sediments)</a:t>
            </a:r>
          </a:p>
          <a:p>
            <a:pPr>
              <a:defRPr/>
            </a:pPr>
            <a:r>
              <a:rPr lang="en-US" sz="1200" i="1" dirty="0"/>
              <a:t>p </a:t>
            </a:r>
            <a:r>
              <a:rPr lang="en-US" sz="1200" dirty="0"/>
              <a:t>&lt; 0.001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POLYSYS </a:t>
            </a:r>
          </a:p>
        </p:txBody>
      </p:sp>
      <p:pic>
        <p:nvPicPr>
          <p:cNvPr id="83970" name="Picture 7" descr="ornl_leafLogo-01.png"/>
          <p:cNvPicPr>
            <a:picLocks noChangeAspect="1"/>
          </p:cNvPicPr>
          <p:nvPr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3971" name="Group 12"/>
          <p:cNvGrpSpPr>
            <a:grpSpLocks/>
          </p:cNvGrpSpPr>
          <p:nvPr/>
        </p:nvGrpSpPr>
        <p:grpSpPr bwMode="auto">
          <a:xfrm>
            <a:off x="457200" y="1447800"/>
            <a:ext cx="7924800" cy="4572000"/>
            <a:chOff x="457200" y="1447800"/>
            <a:chExt cx="7924800" cy="4572000"/>
          </a:xfrm>
        </p:grpSpPr>
        <p:pic>
          <p:nvPicPr>
            <p:cNvPr id="91138" name="Picture 2" descr="R11_newlanduse"/>
            <p:cNvPicPr>
              <a:picLocks noChangeAspect="1" noChangeArrowheads="1"/>
            </p:cNvPicPr>
            <p:nvPr/>
          </p:nvPicPr>
          <p:blipFill>
            <a:blip r:embed="rId4" cstate="print">
              <a:lum bright="-30000" contrast="60000"/>
            </a:blip>
            <a:srcRect l="2576" t="3333" r="2093" b="13303"/>
            <a:stretch>
              <a:fillRect/>
            </a:stretch>
          </p:blipFill>
          <p:spPr bwMode="auto">
            <a:xfrm>
              <a:off x="1615440" y="1447800"/>
              <a:ext cx="6766560" cy="457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softEdge rad="127000"/>
            </a:effectLst>
          </p:spPr>
        </p:pic>
        <p:pic>
          <p:nvPicPr>
            <p:cNvPr id="83974" name="Picture 2" descr="R11_newlanduse"/>
            <p:cNvPicPr>
              <a:picLocks noChangeAspect="1" noChangeArrowheads="1"/>
            </p:cNvPicPr>
            <p:nvPr/>
          </p:nvPicPr>
          <p:blipFill>
            <a:blip r:embed="rId4">
              <a:lum bright="-30000" contrast="60000"/>
            </a:blip>
            <a:srcRect l="41010" t="74191" r="46107" b="18861"/>
            <a:stretch>
              <a:fillRect/>
            </a:stretch>
          </p:blipFill>
          <p:spPr bwMode="auto">
            <a:xfrm>
              <a:off x="3810000" y="5012934"/>
              <a:ext cx="2133600" cy="889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ctangle 10"/>
            <p:cNvSpPr/>
            <p:nvPr/>
          </p:nvSpPr>
          <p:spPr>
            <a:xfrm>
              <a:off x="533400" y="1828800"/>
              <a:ext cx="3048000" cy="3657600"/>
            </a:xfrm>
            <a:prstGeom prst="rect">
              <a:avLst/>
            </a:prstGeom>
            <a:solidFill>
              <a:schemeClr val="bg1">
                <a:alpha val="5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57200" y="1828800"/>
              <a:ext cx="3124200" cy="304800"/>
            </a:xfrm>
            <a:prstGeom prst="rect">
              <a:avLst/>
            </a:prstGeom>
            <a:solidFill>
              <a:schemeClr val="bg1"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83972" name="Content Placeholder 12"/>
          <p:cNvSpPr txBox="1">
            <a:spLocks/>
          </p:cNvSpPr>
          <p:nvPr/>
        </p:nvSpPr>
        <p:spPr bwMode="auto">
          <a:xfrm>
            <a:off x="457200" y="10668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 sz="2000">
                <a:latin typeface="Calibri" pitchFamily="34" charset="0"/>
              </a:rPr>
              <a:t>Landscape 2030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Conversion to switchgrass (9.7%)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>
              <a:latin typeface="Calibri" pitchFamily="34" charset="0"/>
            </a:endParaRPr>
          </a:p>
          <a:p>
            <a:pPr marL="800100" lvl="1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60 % from pasture</a:t>
            </a:r>
          </a:p>
          <a:p>
            <a:pPr marL="800100" lvl="1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28 % from wheat</a:t>
            </a:r>
          </a:p>
          <a:p>
            <a:pPr marL="800100" lvl="1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  4 % from soybean</a:t>
            </a:r>
          </a:p>
          <a:p>
            <a:pPr marL="800100" lvl="1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  4 % from sorghum</a:t>
            </a:r>
          </a:p>
          <a:p>
            <a:pPr marL="800100" lvl="1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  3 % from corn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Economic regions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- Upper Midwest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- Lower Midwest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>
              <a:solidFill>
                <a:srgbClr val="7F7F7F"/>
              </a:solidFill>
              <a:latin typeface="Calibri" pitchFamily="34" charset="0"/>
            </a:endParaRPr>
          </a:p>
          <a:p>
            <a:pPr marL="800100" lvl="1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8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3" cstate="print"/>
          <a:srcRect l="972" t="3863" r="2755" b="8578"/>
          <a:stretch>
            <a:fillRect/>
          </a:stretch>
        </p:blipFill>
        <p:spPr bwMode="auto">
          <a:xfrm>
            <a:off x="1000874" y="1295400"/>
            <a:ext cx="6767232" cy="4648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63500"/>
          </a:effectLst>
        </p:spPr>
      </p:pic>
      <p:sp>
        <p:nvSpPr>
          <p:cNvPr id="3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RESULTS</a:t>
            </a:r>
            <a:r>
              <a:rPr lang="en-US" sz="28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: changes in stream discharge</a:t>
            </a:r>
          </a:p>
        </p:txBody>
      </p:sp>
      <p:pic>
        <p:nvPicPr>
          <p:cNvPr id="86019" name="Picture 7" descr="ornl_leafLogo-01.png"/>
          <p:cNvPicPr>
            <a:picLocks noChangeAspect="1"/>
          </p:cNvPicPr>
          <p:nvPr/>
        </p:nvPicPr>
        <p:blipFill>
          <a:blip r:embed="rId4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7" descr="ornl_leafLogo-01.png"/>
          <p:cNvPicPr>
            <a:picLocks noChangeAspect="1"/>
          </p:cNvPicPr>
          <p:nvPr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066" name="Text Box 35"/>
          <p:cNvSpPr txBox="1">
            <a:spLocks noChangeArrowheads="1"/>
          </p:cNvSpPr>
          <p:nvPr/>
        </p:nvSpPr>
        <p:spPr bwMode="auto">
          <a:xfrm>
            <a:off x="4437063" y="5143500"/>
            <a:ext cx="3635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TX</a:t>
            </a:r>
          </a:p>
        </p:txBody>
      </p:sp>
      <p:sp>
        <p:nvSpPr>
          <p:cNvPr id="88067" name="Text Box 36"/>
          <p:cNvSpPr txBox="1">
            <a:spLocks noChangeArrowheads="1"/>
          </p:cNvSpPr>
          <p:nvPr/>
        </p:nvSpPr>
        <p:spPr bwMode="auto">
          <a:xfrm>
            <a:off x="2295525" y="4287838"/>
            <a:ext cx="4508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NM</a:t>
            </a:r>
          </a:p>
        </p:txBody>
      </p:sp>
      <p:sp>
        <p:nvSpPr>
          <p:cNvPr id="88068" name="Text Box 37"/>
          <p:cNvSpPr txBox="1">
            <a:spLocks noChangeArrowheads="1"/>
          </p:cNvSpPr>
          <p:nvPr/>
        </p:nvSpPr>
        <p:spPr bwMode="auto">
          <a:xfrm>
            <a:off x="7296150" y="5481638"/>
            <a:ext cx="3619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LA</a:t>
            </a:r>
          </a:p>
        </p:txBody>
      </p:sp>
      <p:sp>
        <p:nvSpPr>
          <p:cNvPr id="88069" name="Text Box 38"/>
          <p:cNvSpPr txBox="1">
            <a:spLocks noChangeArrowheads="1"/>
          </p:cNvSpPr>
          <p:nvPr/>
        </p:nvSpPr>
        <p:spPr bwMode="auto">
          <a:xfrm>
            <a:off x="1828800" y="2698750"/>
            <a:ext cx="396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CO</a:t>
            </a:r>
          </a:p>
        </p:txBody>
      </p:sp>
      <p:sp>
        <p:nvSpPr>
          <p:cNvPr id="88070" name="Text Box 39"/>
          <p:cNvSpPr txBox="1">
            <a:spLocks noChangeArrowheads="1"/>
          </p:cNvSpPr>
          <p:nvPr/>
        </p:nvSpPr>
        <p:spPr bwMode="auto">
          <a:xfrm>
            <a:off x="7540625" y="4152900"/>
            <a:ext cx="384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AR</a:t>
            </a:r>
          </a:p>
        </p:txBody>
      </p:sp>
      <p:sp>
        <p:nvSpPr>
          <p:cNvPr id="88071" name="Text Box 40"/>
          <p:cNvSpPr txBox="1">
            <a:spLocks noChangeArrowheads="1"/>
          </p:cNvSpPr>
          <p:nvPr/>
        </p:nvSpPr>
        <p:spPr bwMode="auto">
          <a:xfrm>
            <a:off x="4724400" y="2171700"/>
            <a:ext cx="3571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KS</a:t>
            </a:r>
          </a:p>
        </p:txBody>
      </p:sp>
      <p:sp>
        <p:nvSpPr>
          <p:cNvPr id="88072" name="Text Box 41"/>
          <p:cNvSpPr txBox="1">
            <a:spLocks noChangeArrowheads="1"/>
          </p:cNvSpPr>
          <p:nvPr/>
        </p:nvSpPr>
        <p:spPr bwMode="auto">
          <a:xfrm>
            <a:off x="5551488" y="3824288"/>
            <a:ext cx="393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OK</a:t>
            </a:r>
          </a:p>
        </p:txBody>
      </p:sp>
      <p:sp>
        <p:nvSpPr>
          <p:cNvPr id="88073" name="Text Box 42"/>
          <p:cNvSpPr txBox="1">
            <a:spLocks noChangeArrowheads="1"/>
          </p:cNvSpPr>
          <p:nvPr/>
        </p:nvSpPr>
        <p:spPr bwMode="auto">
          <a:xfrm>
            <a:off x="6937375" y="2781300"/>
            <a:ext cx="4540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MO</a:t>
            </a:r>
          </a:p>
        </p:txBody>
      </p:sp>
      <p:sp>
        <p:nvSpPr>
          <p:cNvPr id="30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Sediment loads</a:t>
            </a:r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 r:embed="rId4" cstate="print"/>
          <a:srcRect t="3759" r="1861" b="9391"/>
          <a:stretch>
            <a:fillRect/>
          </a:stretch>
        </p:blipFill>
        <p:spPr bwMode="auto">
          <a:xfrm>
            <a:off x="904126" y="1295400"/>
            <a:ext cx="6949440" cy="464465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3" cstate="print"/>
          <a:srcRect l="1436" t="5359" r="3003" b="8557"/>
          <a:stretch>
            <a:fillRect/>
          </a:stretch>
        </p:blipFill>
        <p:spPr bwMode="auto">
          <a:xfrm>
            <a:off x="1027281" y="1396430"/>
            <a:ext cx="6720289" cy="457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sp>
        <p:nvSpPr>
          <p:cNvPr id="6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Total phosphorus</a:t>
            </a:r>
          </a:p>
        </p:txBody>
      </p:sp>
      <p:pic>
        <p:nvPicPr>
          <p:cNvPr id="90115" name="Picture 6" descr="ornl_leafLogo-01.png"/>
          <p:cNvPicPr>
            <a:picLocks noChangeAspect="1"/>
          </p:cNvPicPr>
          <p:nvPr/>
        </p:nvPicPr>
        <p:blipFill>
          <a:blip r:embed="rId4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1" name="Picture 7" descr="ornl_leafLogo-01.png"/>
          <p:cNvPicPr>
            <a:picLocks noChangeAspect="1"/>
          </p:cNvPicPr>
          <p:nvPr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62" name="Text Box 35"/>
          <p:cNvSpPr txBox="1">
            <a:spLocks noChangeArrowheads="1"/>
          </p:cNvSpPr>
          <p:nvPr/>
        </p:nvSpPr>
        <p:spPr bwMode="auto">
          <a:xfrm>
            <a:off x="4437063" y="5143500"/>
            <a:ext cx="3635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TX</a:t>
            </a:r>
          </a:p>
        </p:txBody>
      </p:sp>
      <p:sp>
        <p:nvSpPr>
          <p:cNvPr id="92163" name="Text Box 36"/>
          <p:cNvSpPr txBox="1">
            <a:spLocks noChangeArrowheads="1"/>
          </p:cNvSpPr>
          <p:nvPr/>
        </p:nvSpPr>
        <p:spPr bwMode="auto">
          <a:xfrm>
            <a:off x="2295525" y="4287838"/>
            <a:ext cx="4508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NM</a:t>
            </a:r>
          </a:p>
        </p:txBody>
      </p:sp>
      <p:sp>
        <p:nvSpPr>
          <p:cNvPr id="92164" name="Text Box 37"/>
          <p:cNvSpPr txBox="1">
            <a:spLocks noChangeArrowheads="1"/>
          </p:cNvSpPr>
          <p:nvPr/>
        </p:nvSpPr>
        <p:spPr bwMode="auto">
          <a:xfrm>
            <a:off x="7296150" y="5481638"/>
            <a:ext cx="3619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LA</a:t>
            </a:r>
          </a:p>
        </p:txBody>
      </p:sp>
      <p:sp>
        <p:nvSpPr>
          <p:cNvPr id="92165" name="Text Box 38"/>
          <p:cNvSpPr txBox="1">
            <a:spLocks noChangeArrowheads="1"/>
          </p:cNvSpPr>
          <p:nvPr/>
        </p:nvSpPr>
        <p:spPr bwMode="auto">
          <a:xfrm>
            <a:off x="1828800" y="2698750"/>
            <a:ext cx="396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CO</a:t>
            </a:r>
          </a:p>
        </p:txBody>
      </p:sp>
      <p:sp>
        <p:nvSpPr>
          <p:cNvPr id="92166" name="Text Box 39"/>
          <p:cNvSpPr txBox="1">
            <a:spLocks noChangeArrowheads="1"/>
          </p:cNvSpPr>
          <p:nvPr/>
        </p:nvSpPr>
        <p:spPr bwMode="auto">
          <a:xfrm>
            <a:off x="7540625" y="4152900"/>
            <a:ext cx="384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AR</a:t>
            </a:r>
          </a:p>
        </p:txBody>
      </p:sp>
      <p:sp>
        <p:nvSpPr>
          <p:cNvPr id="92167" name="Text Box 40"/>
          <p:cNvSpPr txBox="1">
            <a:spLocks noChangeArrowheads="1"/>
          </p:cNvSpPr>
          <p:nvPr/>
        </p:nvSpPr>
        <p:spPr bwMode="auto">
          <a:xfrm>
            <a:off x="4724400" y="2171700"/>
            <a:ext cx="3571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KS</a:t>
            </a:r>
          </a:p>
        </p:txBody>
      </p:sp>
      <p:sp>
        <p:nvSpPr>
          <p:cNvPr id="92168" name="Text Box 41"/>
          <p:cNvSpPr txBox="1">
            <a:spLocks noChangeArrowheads="1"/>
          </p:cNvSpPr>
          <p:nvPr/>
        </p:nvSpPr>
        <p:spPr bwMode="auto">
          <a:xfrm>
            <a:off x="5551488" y="3824288"/>
            <a:ext cx="393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OK</a:t>
            </a:r>
          </a:p>
        </p:txBody>
      </p:sp>
      <p:sp>
        <p:nvSpPr>
          <p:cNvPr id="92169" name="Text Box 42"/>
          <p:cNvSpPr txBox="1">
            <a:spLocks noChangeArrowheads="1"/>
          </p:cNvSpPr>
          <p:nvPr/>
        </p:nvSpPr>
        <p:spPr bwMode="auto">
          <a:xfrm>
            <a:off x="6937375" y="2781300"/>
            <a:ext cx="4540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  <a:latin typeface="Calibri" pitchFamily="34" charset="0"/>
              </a:rPr>
              <a:t>MO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/>
          <a:srcRect t="4354" r="1216" b="8146"/>
          <a:stretch>
            <a:fillRect/>
          </a:stretch>
        </p:blipFill>
        <p:spPr bwMode="auto">
          <a:xfrm>
            <a:off x="899844" y="1295400"/>
            <a:ext cx="7024956" cy="4800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</p:pic>
      <p:sp>
        <p:nvSpPr>
          <p:cNvPr id="13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NO3-nitrogen concentrations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 b="6661"/>
          <a:stretch>
            <a:fillRect/>
          </a:stretch>
        </p:blipFill>
        <p:spPr bwMode="auto">
          <a:xfrm>
            <a:off x="904126" y="1090291"/>
            <a:ext cx="7086600" cy="499543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</p:pic>
      <p:sp>
        <p:nvSpPr>
          <p:cNvPr id="4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Changes in fish species richness in the AWR</a:t>
            </a:r>
          </a:p>
        </p:txBody>
      </p:sp>
      <p:pic>
        <p:nvPicPr>
          <p:cNvPr id="94211" name="Picture 4" descr="ornl_leafLogo-01.png"/>
          <p:cNvPicPr>
            <a:picLocks noChangeAspect="1"/>
          </p:cNvPicPr>
          <p:nvPr/>
        </p:nvPicPr>
        <p:blipFill>
          <a:blip r:embed="rId4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/>
            <a:r>
              <a:rPr lang="en-US" sz="28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SWAT projections for bioenergy scenarios</a:t>
            </a:r>
          </a:p>
          <a:p>
            <a:pPr defTabSz="457200" eaLnBrk="0" hangingPunct="0"/>
            <a:r>
              <a:rPr lang="en-US" sz="28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 </a:t>
            </a:r>
          </a:p>
        </p:txBody>
      </p:sp>
      <p:pic>
        <p:nvPicPr>
          <p:cNvPr id="96258" name="Picture 7" descr="ornl_leafLogo-01.png"/>
          <p:cNvPicPr>
            <a:picLocks noChangeAspect="1"/>
          </p:cNvPicPr>
          <p:nvPr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59" name="Content Placeholder 12"/>
          <p:cNvSpPr txBox="1">
            <a:spLocks/>
          </p:cNvSpPr>
          <p:nvPr/>
        </p:nvSpPr>
        <p:spPr bwMode="auto">
          <a:xfrm>
            <a:off x="457200" y="11128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 sz="2400">
                <a:latin typeface="Calibri" pitchFamily="34" charset="0"/>
              </a:rPr>
              <a:t>Discharge</a:t>
            </a:r>
            <a:r>
              <a:rPr lang="en-US" sz="2000">
                <a:latin typeface="Calibri" pitchFamily="34" charset="0"/>
              </a:rPr>
              <a:t>				overall decrease	</a:t>
            </a:r>
          </a:p>
          <a:p>
            <a:pPr marL="342900" indent="-342900" defTabSz="457200" eaLnBrk="0" hangingPunct="0">
              <a:lnSpc>
                <a:spcPts val="2163"/>
              </a:lnSpc>
              <a:spcBef>
                <a:spcPct val="20000"/>
              </a:spcBef>
              <a:buFont typeface="Arial" charset="0"/>
              <a:buNone/>
            </a:pPr>
            <a:r>
              <a:rPr lang="en-US" sz="2000">
                <a:latin typeface="Calibri" pitchFamily="34" charset="0"/>
              </a:rPr>
              <a:t>							    </a:t>
            </a:r>
            <a:r>
              <a:rPr lang="en-US">
                <a:latin typeface="Calibri" pitchFamily="34" charset="0"/>
              </a:rPr>
              <a:t>- increase where replacing intensive agriculture</a:t>
            </a:r>
          </a:p>
          <a:p>
            <a:pPr marL="342900" indent="-342900" defTabSz="457200" eaLnBrk="0" hangingPunct="0">
              <a:lnSpc>
                <a:spcPts val="2163"/>
              </a:lnSpc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							    - decrease where pasture/hay is replaced</a:t>
            </a:r>
            <a:r>
              <a:rPr lang="en-US" sz="2000">
                <a:latin typeface="Calibri" pitchFamily="34" charset="0"/>
              </a:rPr>
              <a:t>	 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 sz="2400">
                <a:latin typeface="Calibri" pitchFamily="34" charset="0"/>
              </a:rPr>
              <a:t>Sediment load</a:t>
            </a:r>
            <a:r>
              <a:rPr lang="en-US" sz="2000">
                <a:latin typeface="Calibri" pitchFamily="34" charset="0"/>
              </a:rPr>
              <a:t>			overall decrease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 sz="2000">
                <a:latin typeface="Calibri" pitchFamily="34" charset="0"/>
              </a:rPr>
              <a:t>							    </a:t>
            </a:r>
            <a:r>
              <a:rPr lang="en-US">
                <a:latin typeface="Calibri" pitchFamily="34" charset="0"/>
              </a:rPr>
              <a:t>- increase from former pasture/hay?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 sz="2400">
                <a:latin typeface="Calibri" pitchFamily="34" charset="0"/>
              </a:rPr>
              <a:t>Nitrate nitrogen		</a:t>
            </a:r>
            <a:r>
              <a:rPr lang="en-US" sz="2000">
                <a:latin typeface="Calibri" pitchFamily="34" charset="0"/>
              </a:rPr>
              <a:t>increase where pasture/hay is replaced</a:t>
            </a:r>
            <a:endParaRPr lang="en-US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>
                <a:latin typeface="Calibri" pitchFamily="34" charset="0"/>
              </a:rPr>
              <a:t>							    - less input than from corn 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 sz="2400">
                <a:latin typeface="Calibri" pitchFamily="34" charset="0"/>
              </a:rPr>
              <a:t>Total phosphorus</a:t>
            </a:r>
            <a:r>
              <a:rPr lang="en-US" sz="2000">
                <a:latin typeface="Calibri" pitchFamily="34" charset="0"/>
              </a:rPr>
              <a:t>		overall decrease 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 sz="2000">
                <a:latin typeface="Calibri" pitchFamily="34" charset="0"/>
              </a:rPr>
              <a:t>							</a:t>
            </a:r>
            <a:r>
              <a:rPr lang="en-US">
                <a:latin typeface="Calibri" pitchFamily="34" charset="0"/>
              </a:rPr>
              <a:t>(correlated with sediment loads)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r>
              <a:rPr lang="en-US" sz="2400">
                <a:latin typeface="Calibri" pitchFamily="34" charset="0"/>
              </a:rPr>
              <a:t>Fish diversity</a:t>
            </a:r>
            <a:r>
              <a:rPr lang="en-US" sz="2000">
                <a:latin typeface="Calibri" pitchFamily="34" charset="0"/>
              </a:rPr>
              <a:t> 			benefits in former agro-intensive areas									    - </a:t>
            </a:r>
            <a:r>
              <a:rPr lang="en-US">
                <a:latin typeface="Calibri" pitchFamily="34" charset="0"/>
              </a:rPr>
              <a:t>suggested decreases  where replacing pasture/hay</a:t>
            </a: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000">
              <a:latin typeface="Calibri" pitchFamily="34" charset="0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>
              <a:solidFill>
                <a:srgbClr val="7F7F7F"/>
              </a:solidFill>
              <a:latin typeface="Calibri" pitchFamily="34" charset="0"/>
            </a:endParaRPr>
          </a:p>
          <a:p>
            <a:pPr marL="742950" lvl="1" indent="-285750" defTabSz="457200" eaLnBrk="0" hangingPunct="0">
              <a:spcBef>
                <a:spcPct val="20000"/>
              </a:spcBef>
              <a:buFont typeface="Arial" charset="0"/>
              <a:buNone/>
            </a:pPr>
            <a:endParaRPr lang="en-US" sz="28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>
              <a:defRPr/>
            </a:pPr>
            <a:r>
              <a:rPr lang="en-US" sz="2400" kern="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LIMITATIONS</a:t>
            </a:r>
          </a:p>
          <a:p>
            <a:pPr defTabSz="457200" eaLnBrk="0" hangingPunct="0">
              <a:defRPr/>
            </a:pPr>
            <a:r>
              <a:rPr lang="en-US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-128"/>
                <a:cs typeface="ＭＳ Ｐゴシック" charset="-128"/>
              </a:rPr>
              <a:t> </a:t>
            </a:r>
          </a:p>
        </p:txBody>
      </p:sp>
      <p:pic>
        <p:nvPicPr>
          <p:cNvPr id="98306" name="Picture 7" descr="ornl_leafLogo-01.png"/>
          <p:cNvPicPr>
            <a:picLocks noChangeAspect="1"/>
          </p:cNvPicPr>
          <p:nvPr/>
        </p:nvPicPr>
        <p:blipFill>
          <a:blip r:embed="rId3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12"/>
          <p:cNvSpPr txBox="1">
            <a:spLocks/>
          </p:cNvSpPr>
          <p:nvPr/>
        </p:nvSpPr>
        <p:spPr>
          <a:xfrm>
            <a:off x="457200" y="10668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indent="-342900" defTabSz="457200" eaLnBrk="0" hangingPunct="0">
              <a:spcBef>
                <a:spcPct val="20000"/>
              </a:spcBef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  <a:ea typeface="+mn-ea"/>
              </a:rPr>
              <a:t>Replications with alternate transition scenarios needed</a:t>
            </a:r>
          </a:p>
          <a:p>
            <a:pPr marL="342900" indent="-342900" defTabSz="457200" eaLnBrk="0" hangingPunct="0">
              <a:spcBef>
                <a:spcPct val="20000"/>
              </a:spcBef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  <a:ea typeface="+mn-ea"/>
              </a:rPr>
              <a:t>Multiple scenarios for % replacement needed</a:t>
            </a:r>
          </a:p>
          <a:p>
            <a:pPr marL="342900" indent="-342900" defTabSz="457200" eaLnBrk="0" hangingPunct="0">
              <a:spcBef>
                <a:spcPct val="20000"/>
              </a:spcBef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  <a:ea typeface="+mn-ea"/>
              </a:rPr>
              <a:t>Spatial resolution at county scale</a:t>
            </a:r>
          </a:p>
          <a:p>
            <a:pPr marL="342900" indent="-342900" defTabSz="457200" eaLnBrk="0" hangingPunct="0">
              <a:spcBef>
                <a:spcPct val="20000"/>
              </a:spcBef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  <a:ea typeface="+mn-ea"/>
              </a:rPr>
              <a:t>Spatial context  important, current  scenarios are not spatially explicit</a:t>
            </a:r>
          </a:p>
          <a:p>
            <a:pPr marL="342900" indent="-342900" defTabSz="457200" eaLnBrk="0" hangingPunct="0">
              <a:spcBef>
                <a:spcPct val="20000"/>
              </a:spcBef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  <a:ea typeface="+mn-ea"/>
              </a:rPr>
              <a:t>Biotic data  0/1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  <a:defRPr/>
            </a:pPr>
            <a:endParaRPr lang="en-US" sz="2000" kern="0" dirty="0">
              <a:latin typeface="+mn-lt"/>
              <a:ea typeface="+mn-ea"/>
            </a:endParaRP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  <a:defRPr/>
            </a:pPr>
            <a:r>
              <a:rPr lang="en-US" sz="2400" kern="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FUTURE DIRECTION </a:t>
            </a:r>
          </a:p>
          <a:p>
            <a:pPr marL="342900" indent="-342900" defTabSz="457200" eaLnBrk="0" hangingPunct="0">
              <a:spcBef>
                <a:spcPct val="20000"/>
              </a:spcBef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  <a:ea typeface="+mn-ea"/>
              </a:rPr>
              <a:t>Include spatial context  </a:t>
            </a:r>
            <a:r>
              <a:rPr lang="en-US" sz="2000" kern="0" dirty="0">
                <a:latin typeface="+mn-lt"/>
                <a:ea typeface="+mn-ea"/>
              </a:rPr>
              <a:t>(buffer zones, conservation practice,  BMP’s) </a:t>
            </a:r>
          </a:p>
          <a:p>
            <a:pPr marL="342900" indent="-342900" defTabSz="457200" eaLnBrk="0" hangingPunct="0">
              <a:spcBef>
                <a:spcPct val="20000"/>
              </a:spcBef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  <a:ea typeface="+mn-ea"/>
              </a:rPr>
              <a:t>Include upland varieties</a:t>
            </a:r>
          </a:p>
          <a:p>
            <a:pPr marL="342900" indent="-342900" defTabSz="457200" eaLnBrk="0" hangingPunct="0">
              <a:spcBef>
                <a:spcPct val="20000"/>
              </a:spcBef>
              <a:buClr>
                <a:srgbClr val="0066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  <a:ea typeface="+mn-ea"/>
              </a:rPr>
              <a:t>Species traits and empirical data for biotic component	</a:t>
            </a:r>
          </a:p>
          <a:p>
            <a:pPr marL="342900" indent="-342900" defTabSz="457200" eaLnBrk="0" hangingPunct="0">
              <a:spcBef>
                <a:spcPct val="20000"/>
              </a:spcBef>
              <a:buFont typeface="Arial" charset="0"/>
              <a:buNone/>
              <a:defRPr/>
            </a:pPr>
            <a:r>
              <a:rPr lang="en-US" sz="2000" kern="0" dirty="0">
                <a:latin typeface="+mn-lt"/>
                <a:ea typeface="+mn-ea"/>
              </a:rPr>
              <a:t>	</a:t>
            </a:r>
            <a:endParaRPr lang="en-US" sz="2800" kern="0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3"/>
          <p:cNvSpPr>
            <a:spLocks noGrp="1"/>
          </p:cNvSpPr>
          <p:nvPr>
            <p:ph type="body" sz="half" idx="1"/>
          </p:nvPr>
        </p:nvSpPr>
        <p:spPr>
          <a:xfrm>
            <a:off x="762000" y="1108075"/>
            <a:ext cx="3962400" cy="1584325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z="2400" smtClean="0"/>
              <a:t>U.S. Department of Energy </a:t>
            </a:r>
          </a:p>
          <a:p>
            <a:pPr eaLnBrk="1" hangingPunct="1">
              <a:buFont typeface="Arial" charset="0"/>
              <a:buNone/>
            </a:pPr>
            <a:r>
              <a:rPr lang="en-US" sz="2400" smtClean="0"/>
              <a:t>ORNL                            Laboratory directed Research and Development</a:t>
            </a:r>
          </a:p>
        </p:txBody>
      </p:sp>
      <p:pic>
        <p:nvPicPr>
          <p:cNvPr id="29700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41850" y="838200"/>
            <a:ext cx="3054350" cy="2290762"/>
          </a:xfrm>
          <a:effectLst>
            <a:softEdge rad="127000"/>
          </a:effectLst>
        </p:spPr>
      </p:pic>
      <p:sp>
        <p:nvSpPr>
          <p:cNvPr id="29701" name="Rectangle 18"/>
          <p:cNvSpPr>
            <a:spLocks/>
          </p:cNvSpPr>
          <p:nvPr/>
        </p:nvSpPr>
        <p:spPr bwMode="auto">
          <a:xfrm>
            <a:off x="762000" y="3124200"/>
            <a:ext cx="7239000" cy="323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0188" indent="-230188">
              <a:lnSpc>
                <a:spcPct val="90000"/>
              </a:lnSpc>
              <a:spcBef>
                <a:spcPts val="1400"/>
              </a:spcBef>
              <a:buClr>
                <a:srgbClr val="006C3A"/>
              </a:buClr>
              <a:buFont typeface="Arial" charset="0"/>
              <a:buNone/>
            </a:pPr>
            <a:r>
              <a:rPr 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Acknowledgements</a:t>
            </a:r>
          </a:p>
          <a:p>
            <a:pPr marL="230188" indent="-230188">
              <a:lnSpc>
                <a:spcPct val="80000"/>
              </a:lnSpc>
              <a:spcBef>
                <a:spcPts val="1400"/>
              </a:spcBef>
              <a:buClr>
                <a:srgbClr val="006C3A"/>
              </a:buClr>
              <a:buFont typeface="Arial" charset="0"/>
              <a:buNone/>
            </a:pPr>
            <a:r>
              <a:rPr lang="en-US" sz="2400">
                <a:latin typeface="Calibri" pitchFamily="34" charset="0"/>
              </a:rPr>
              <a:t>Bob Perlack </a:t>
            </a:r>
            <a:r>
              <a:rPr lang="en-US" sz="2000">
                <a:latin typeface="Calibri" pitchFamily="34" charset="0"/>
              </a:rPr>
              <a:t>and</a:t>
            </a:r>
            <a:r>
              <a:rPr lang="en-US" sz="2400">
                <a:latin typeface="Calibri" pitchFamily="34" charset="0"/>
              </a:rPr>
              <a:t> Craig Brandt (POLYSYS)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 </a:t>
            </a:r>
          </a:p>
          <a:p>
            <a:pPr marL="230188" indent="-230188">
              <a:lnSpc>
                <a:spcPct val="80000"/>
              </a:lnSpc>
              <a:spcBef>
                <a:spcPts val="1400"/>
              </a:spcBef>
              <a:buClr>
                <a:srgbClr val="006C3A"/>
              </a:buClr>
              <a:buFont typeface="Arial" charset="0"/>
              <a:buNone/>
            </a:pPr>
            <a:r>
              <a:rPr lang="en-US" sz="2000">
                <a:latin typeface="Calibri" pitchFamily="34" charset="0"/>
              </a:rPr>
              <a:t>Oak Ridge Associate Universities (ORAU) ORISE Program</a:t>
            </a:r>
          </a:p>
          <a:p>
            <a:pPr marL="230188" indent="-230188">
              <a:lnSpc>
                <a:spcPct val="60000"/>
              </a:lnSpc>
              <a:spcBef>
                <a:spcPts val="1400"/>
              </a:spcBef>
              <a:buClr>
                <a:srgbClr val="006C3A"/>
              </a:buClr>
              <a:buFont typeface="Arial" charset="0"/>
              <a:buNone/>
            </a:pPr>
            <a:endParaRPr lang="en-US" sz="1000"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  <a:p>
            <a:pPr marL="230188" indent="-230188">
              <a:lnSpc>
                <a:spcPct val="50000"/>
              </a:lnSpc>
              <a:spcBef>
                <a:spcPts val="1400"/>
              </a:spcBef>
              <a:buClr>
                <a:srgbClr val="006C3A"/>
              </a:buClr>
              <a:buFont typeface="Arial" charset="0"/>
              <a:buNone/>
            </a:pPr>
            <a:r>
              <a:rPr 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Contacts</a:t>
            </a:r>
          </a:p>
          <a:p>
            <a:pPr marL="230188" indent="-230188">
              <a:lnSpc>
                <a:spcPct val="50000"/>
              </a:lnSpc>
              <a:spcBef>
                <a:spcPts val="1400"/>
              </a:spcBef>
              <a:buClr>
                <a:srgbClr val="006C3A"/>
              </a:buClr>
              <a:buFont typeface="Arial" charset="0"/>
              <a:buNone/>
            </a:pPr>
            <a:r>
              <a:rPr lang="en-US" sz="2400">
                <a:latin typeface="Calibri" pitchFamily="34" charset="0"/>
                <a:hlinkClick r:id="rId4"/>
              </a:rPr>
              <a:t>SchweizerPE@ornl.gov</a:t>
            </a:r>
            <a:r>
              <a:rPr lang="en-US" sz="2400">
                <a:latin typeface="Calibri" pitchFamily="34" charset="0"/>
              </a:rPr>
              <a:t>	</a:t>
            </a:r>
            <a:r>
              <a:rPr lang="en-US" sz="2400">
                <a:latin typeface="Calibri" pitchFamily="34" charset="0"/>
                <a:hlinkClick r:id="rId5"/>
              </a:rPr>
              <a:t>JagerHI@ornl.gov</a:t>
            </a:r>
            <a:endParaRPr lang="en-US" sz="2400">
              <a:latin typeface="Calibri" pitchFamily="34" charset="0"/>
            </a:endParaRPr>
          </a:p>
          <a:p>
            <a:pPr marL="230188" indent="-230188">
              <a:lnSpc>
                <a:spcPct val="90000"/>
              </a:lnSpc>
              <a:spcBef>
                <a:spcPts val="1400"/>
              </a:spcBef>
              <a:buClr>
                <a:srgbClr val="006C3A"/>
              </a:buClr>
              <a:buFont typeface="Arial" charset="0"/>
              <a:buNone/>
            </a:pPr>
            <a:endParaRPr lang="en-US"/>
          </a:p>
          <a:p>
            <a:pPr marL="230188" indent="-230188">
              <a:lnSpc>
                <a:spcPct val="90000"/>
              </a:lnSpc>
              <a:spcBef>
                <a:spcPts val="1400"/>
              </a:spcBef>
              <a:buClr>
                <a:srgbClr val="006C3A"/>
              </a:buClr>
              <a:buFont typeface="Arial" charset="0"/>
              <a:buNone/>
            </a:pPr>
            <a:endParaRPr lang="en-US" sz="2400"/>
          </a:p>
        </p:txBody>
      </p:sp>
      <p:sp>
        <p:nvSpPr>
          <p:cNvPr id="6" name="Rectangle 2"/>
          <p:cNvSpPr txBox="1">
            <a:spLocks/>
          </p:cNvSpPr>
          <p:nvPr/>
        </p:nvSpPr>
        <p:spPr bwMode="auto">
          <a:xfrm>
            <a:off x="484188" y="457200"/>
            <a:ext cx="77311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 eaLnBrk="0" hangingPunct="0"/>
            <a:r>
              <a:rPr 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FUNDING</a:t>
            </a:r>
          </a:p>
        </p:txBody>
      </p:sp>
      <p:pic>
        <p:nvPicPr>
          <p:cNvPr id="100357" name="Picture 7" descr="ornl_leafLogo-01.png"/>
          <p:cNvPicPr>
            <a:picLocks noChangeAspect="1"/>
          </p:cNvPicPr>
          <p:nvPr/>
        </p:nvPicPr>
        <p:blipFill>
          <a:blip r:embed="rId6"/>
          <a:srcRect l="47063" t="45457" r="23531" b="27275"/>
          <a:stretch>
            <a:fillRect/>
          </a:stretch>
        </p:blipFill>
        <p:spPr bwMode="auto">
          <a:xfrm>
            <a:off x="7740650" y="5962650"/>
            <a:ext cx="1290638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359" name="Picture 8" descr="New_DOE_Logo_Color_042808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20713" y="5902325"/>
            <a:ext cx="254635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BES master I">
  <a:themeElements>
    <a:clrScheme name="CBES master I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CBES master I">
      <a:majorFont>
        <a:latin typeface="Calibri"/>
        <a:ea typeface="ＭＳ Ｐゴシック"/>
        <a:cs typeface=""/>
      </a:majorFont>
      <a:minorFont>
        <a:latin typeface="Calibri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BES master I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BES master I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10108</TotalTime>
  <Words>601</Words>
  <Application>Microsoft Office PowerPoint</Application>
  <PresentationFormat>On-screen Show (4:3)</PresentationFormat>
  <Paragraphs>312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Arial</vt:lpstr>
      <vt:lpstr>ＭＳ Ｐゴシック</vt:lpstr>
      <vt:lpstr>Calibri</vt:lpstr>
      <vt:lpstr>Garamond</vt:lpstr>
      <vt:lpstr>Wingdings</vt:lpstr>
      <vt:lpstr>CBES master I</vt:lpstr>
      <vt:lpstr>CBES master II</vt:lpstr>
      <vt:lpstr>Custom Design</vt:lpstr>
      <vt:lpstr>CBES master I</vt:lpstr>
      <vt:lpstr>CBES master I</vt:lpstr>
      <vt:lpstr>CBES master II</vt:lpstr>
      <vt:lpstr>CBES master II</vt:lpstr>
      <vt:lpstr>Chart</vt:lpstr>
      <vt:lpstr>Forecasting changes in water quality and  aquatic biodiversity in response to  future bioenergy landscapes  in the Arkansas-White-Red River basin</vt:lpstr>
      <vt:lpstr>OUTLINE</vt:lpstr>
      <vt:lpstr>Sustainability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2010 US-IALE 25th Symposium Schweizer et al. @ ORNL</dc:title>
  <dc:creator>Peter E Schweizer</dc:creator>
  <cp:lastModifiedBy>Peter E. Schweizer</cp:lastModifiedBy>
  <cp:revision>111</cp:revision>
  <dcterms:created xsi:type="dcterms:W3CDTF">2010-01-26T19:44:57Z</dcterms:created>
  <dcterms:modified xsi:type="dcterms:W3CDTF">2010-04-14T17:33:38Z</dcterms:modified>
</cp:coreProperties>
</file>