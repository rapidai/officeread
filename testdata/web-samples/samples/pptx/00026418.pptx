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1" r:id="rId4"/>
    <p:sldId id="295" r:id="rId5"/>
    <p:sldId id="301" r:id="rId6"/>
    <p:sldId id="290" r:id="rId7"/>
    <p:sldId id="302" r:id="rId8"/>
    <p:sldId id="304" r:id="rId9"/>
    <p:sldId id="303" r:id="rId10"/>
    <p:sldId id="305" r:id="rId11"/>
  </p:sldIdLst>
  <p:sldSz cx="9144000" cy="6858000" type="screen4x3"/>
  <p:notesSz cx="6858000" cy="9144000"/>
  <p:defaultTextStyle>
    <a:defPPr>
      <a:defRPr lang="en-GB"/>
    </a:defPPr>
    <a:lvl1pPr algn="l" rtl="0" fontAlgn="base">
      <a:spcBef>
        <a:spcPct val="0"/>
      </a:spcBef>
      <a:spcAft>
        <a:spcPct val="0"/>
      </a:spcAft>
      <a:defRPr sz="3600" kern="1200">
        <a:solidFill>
          <a:schemeClr val="tx1"/>
        </a:solidFill>
        <a:latin typeface="Arial" charset="0"/>
        <a:ea typeface="+mn-ea"/>
        <a:cs typeface="Arial" charset="0"/>
      </a:defRPr>
    </a:lvl1pPr>
    <a:lvl2pPr marL="457200" algn="l" rtl="0" fontAlgn="base">
      <a:spcBef>
        <a:spcPct val="0"/>
      </a:spcBef>
      <a:spcAft>
        <a:spcPct val="0"/>
      </a:spcAft>
      <a:defRPr sz="3600" kern="1200">
        <a:solidFill>
          <a:schemeClr val="tx1"/>
        </a:solidFill>
        <a:latin typeface="Arial" charset="0"/>
        <a:ea typeface="+mn-ea"/>
        <a:cs typeface="Arial" charset="0"/>
      </a:defRPr>
    </a:lvl2pPr>
    <a:lvl3pPr marL="914400" algn="l" rtl="0" fontAlgn="base">
      <a:spcBef>
        <a:spcPct val="0"/>
      </a:spcBef>
      <a:spcAft>
        <a:spcPct val="0"/>
      </a:spcAft>
      <a:defRPr sz="3600" kern="1200">
        <a:solidFill>
          <a:schemeClr val="tx1"/>
        </a:solidFill>
        <a:latin typeface="Arial" charset="0"/>
        <a:ea typeface="+mn-ea"/>
        <a:cs typeface="Arial" charset="0"/>
      </a:defRPr>
    </a:lvl3pPr>
    <a:lvl4pPr marL="1371600" algn="l" rtl="0" fontAlgn="base">
      <a:spcBef>
        <a:spcPct val="0"/>
      </a:spcBef>
      <a:spcAft>
        <a:spcPct val="0"/>
      </a:spcAft>
      <a:defRPr sz="3600" kern="1200">
        <a:solidFill>
          <a:schemeClr val="tx1"/>
        </a:solidFill>
        <a:latin typeface="Arial" charset="0"/>
        <a:ea typeface="+mn-ea"/>
        <a:cs typeface="Arial" charset="0"/>
      </a:defRPr>
    </a:lvl4pPr>
    <a:lvl5pPr marL="1828800" algn="l" rtl="0" fontAlgn="base">
      <a:spcBef>
        <a:spcPct val="0"/>
      </a:spcBef>
      <a:spcAft>
        <a:spcPct val="0"/>
      </a:spcAft>
      <a:defRPr sz="3600" kern="1200">
        <a:solidFill>
          <a:schemeClr val="tx1"/>
        </a:solidFill>
        <a:latin typeface="Arial" charset="0"/>
        <a:ea typeface="+mn-ea"/>
        <a:cs typeface="Arial" charset="0"/>
      </a:defRPr>
    </a:lvl5pPr>
    <a:lvl6pPr marL="2286000" algn="l" defTabSz="914400" rtl="0" eaLnBrk="1" latinLnBrk="0" hangingPunct="1">
      <a:defRPr sz="3600" kern="1200">
        <a:solidFill>
          <a:schemeClr val="tx1"/>
        </a:solidFill>
        <a:latin typeface="Arial" charset="0"/>
        <a:ea typeface="+mn-ea"/>
        <a:cs typeface="Arial" charset="0"/>
      </a:defRPr>
    </a:lvl6pPr>
    <a:lvl7pPr marL="2743200" algn="l" defTabSz="914400" rtl="0" eaLnBrk="1" latinLnBrk="0" hangingPunct="1">
      <a:defRPr sz="3600" kern="1200">
        <a:solidFill>
          <a:schemeClr val="tx1"/>
        </a:solidFill>
        <a:latin typeface="Arial" charset="0"/>
        <a:ea typeface="+mn-ea"/>
        <a:cs typeface="Arial" charset="0"/>
      </a:defRPr>
    </a:lvl7pPr>
    <a:lvl8pPr marL="3200400" algn="l" defTabSz="914400" rtl="0" eaLnBrk="1" latinLnBrk="0" hangingPunct="1">
      <a:defRPr sz="3600" kern="1200">
        <a:solidFill>
          <a:schemeClr val="tx1"/>
        </a:solidFill>
        <a:latin typeface="Arial" charset="0"/>
        <a:ea typeface="+mn-ea"/>
        <a:cs typeface="Arial" charset="0"/>
      </a:defRPr>
    </a:lvl8pPr>
    <a:lvl9pPr marL="3657600" algn="l" defTabSz="914400" rtl="0" eaLnBrk="1" latinLnBrk="0" hangingPunct="1">
      <a:defRPr sz="3600"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FF3300"/>
    <a:srgbClr val="FF9900"/>
    <a:srgbClr val="EAEAEA"/>
    <a:srgbClr val="DDDDDD"/>
    <a:srgbClr val="FF0066"/>
    <a:srgbClr val="00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0"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68313" y="2565400"/>
            <a:ext cx="4032250" cy="360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52963" y="2565400"/>
            <a:ext cx="4033837" cy="360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lvl1pPr>
              <a:defRPr/>
            </a:lvl1pPr>
          </a:lstStyle>
          <a:p>
            <a:endParaRPr lang="en-GB"/>
          </a:p>
        </p:txBody>
      </p:sp>
      <p:sp>
        <p:nvSpPr>
          <p:cNvPr id="8" name="Footer Placeholder 7"/>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lvl1pPr>
              <a:defRPr/>
            </a:lvl1pPr>
          </a:lstStyle>
          <a:p>
            <a:endParaRPr lang="en-GB"/>
          </a:p>
        </p:txBody>
      </p:sp>
      <p:sp>
        <p:nvSpPr>
          <p:cNvPr id="4" name="Footer Placeholder 3"/>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p>
        </p:txBody>
      </p:sp>
      <p:sp>
        <p:nvSpPr>
          <p:cNvPr id="3" name="Footer Placeholder 2"/>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1341438"/>
            <a:ext cx="2286000" cy="4824412"/>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0" y="1341438"/>
            <a:ext cx="6705600" cy="48244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41" name="Picture 17" descr="2813063592_d99a959591_o"/>
          <p:cNvPicPr>
            <a:picLocks noChangeAspect="1" noChangeArrowheads="1"/>
          </p:cNvPicPr>
          <p:nvPr userDrawn="1"/>
        </p:nvPicPr>
        <p:blipFill>
          <a:blip r:embed="rId13" cstate="print"/>
          <a:srcRect/>
          <a:stretch>
            <a:fillRect/>
          </a:stretch>
        </p:blipFill>
        <p:spPr bwMode="auto">
          <a:xfrm>
            <a:off x="0" y="1268413"/>
            <a:ext cx="9144000" cy="5589587"/>
          </a:xfrm>
          <a:prstGeom prst="rect">
            <a:avLst/>
          </a:prstGeom>
          <a:noFill/>
        </p:spPr>
      </p:pic>
      <p:sp>
        <p:nvSpPr>
          <p:cNvPr id="1026" name="Rectangle 2"/>
          <p:cNvSpPr>
            <a:spLocks noGrp="1" noChangeArrowheads="1"/>
          </p:cNvSpPr>
          <p:nvPr>
            <p:ph type="title"/>
          </p:nvPr>
        </p:nvSpPr>
        <p:spPr bwMode="auto">
          <a:xfrm>
            <a:off x="0" y="1341438"/>
            <a:ext cx="91440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7" name="Rectangle 3"/>
          <p:cNvSpPr>
            <a:spLocks noGrp="1" noChangeArrowheads="1"/>
          </p:cNvSpPr>
          <p:nvPr>
            <p:ph type="body" idx="1"/>
          </p:nvPr>
        </p:nvSpPr>
        <p:spPr bwMode="auto">
          <a:xfrm>
            <a:off x="468313" y="2565400"/>
            <a:ext cx="8218487" cy="36004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smtClean="0"/>
              <a:t>Research</a:t>
            </a:r>
          </a:p>
          <a:p>
            <a:pPr lvl="1"/>
            <a:endParaRPr lang="en-GB" smtClean="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endParaRPr lang="en-GB"/>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endParaRPr lang="en-GB"/>
          </a:p>
        </p:txBody>
      </p:sp>
      <p:sp>
        <p:nvSpPr>
          <p:cNvPr id="1038" name="Rectangle 14"/>
          <p:cNvSpPr>
            <a:spLocks noChangeArrowheads="1"/>
          </p:cNvSpPr>
          <p:nvPr userDrawn="1"/>
        </p:nvSpPr>
        <p:spPr bwMode="auto">
          <a:xfrm>
            <a:off x="0" y="1052513"/>
            <a:ext cx="9144000" cy="431800"/>
          </a:xfrm>
          <a:prstGeom prst="rect">
            <a:avLst/>
          </a:prstGeom>
          <a:solidFill>
            <a:srgbClr val="969696"/>
          </a:solidFill>
          <a:ln w="9525">
            <a:noFill/>
            <a:miter lim="800000"/>
            <a:headEnd/>
            <a:tailEnd/>
          </a:ln>
          <a:effectLst/>
        </p:spPr>
        <p:txBody>
          <a:bodyPr wrap="none" anchor="ct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rtl="0" fontAlgn="base">
        <a:spcBef>
          <a:spcPct val="0"/>
        </a:spcBef>
        <a:spcAft>
          <a:spcPct val="0"/>
        </a:spcAft>
        <a:defRPr sz="4400" b="1">
          <a:solidFill>
            <a:schemeClr val="bg1"/>
          </a:solidFill>
          <a:latin typeface="+mj-lt"/>
          <a:ea typeface="+mj-ea"/>
          <a:cs typeface="+mj-cs"/>
        </a:defRPr>
      </a:lvl1pPr>
      <a:lvl2pPr algn="ctr" rtl="0" fontAlgn="base">
        <a:spcBef>
          <a:spcPct val="0"/>
        </a:spcBef>
        <a:spcAft>
          <a:spcPct val="0"/>
        </a:spcAft>
        <a:defRPr sz="4400" b="1">
          <a:solidFill>
            <a:schemeClr val="bg1"/>
          </a:solidFill>
          <a:latin typeface="Tw Cen MT" pitchFamily="34" charset="0"/>
          <a:cs typeface="Arial" charset="0"/>
        </a:defRPr>
      </a:lvl2pPr>
      <a:lvl3pPr algn="ctr" rtl="0" fontAlgn="base">
        <a:spcBef>
          <a:spcPct val="0"/>
        </a:spcBef>
        <a:spcAft>
          <a:spcPct val="0"/>
        </a:spcAft>
        <a:defRPr sz="4400" b="1">
          <a:solidFill>
            <a:schemeClr val="bg1"/>
          </a:solidFill>
          <a:latin typeface="Tw Cen MT" pitchFamily="34" charset="0"/>
          <a:cs typeface="Arial" charset="0"/>
        </a:defRPr>
      </a:lvl3pPr>
      <a:lvl4pPr algn="ctr" rtl="0" fontAlgn="base">
        <a:spcBef>
          <a:spcPct val="0"/>
        </a:spcBef>
        <a:spcAft>
          <a:spcPct val="0"/>
        </a:spcAft>
        <a:defRPr sz="4400" b="1">
          <a:solidFill>
            <a:schemeClr val="bg1"/>
          </a:solidFill>
          <a:latin typeface="Tw Cen MT" pitchFamily="34" charset="0"/>
          <a:cs typeface="Arial" charset="0"/>
        </a:defRPr>
      </a:lvl4pPr>
      <a:lvl5pPr algn="ctr" rtl="0" fontAlgn="base">
        <a:spcBef>
          <a:spcPct val="0"/>
        </a:spcBef>
        <a:spcAft>
          <a:spcPct val="0"/>
        </a:spcAft>
        <a:defRPr sz="4400" b="1">
          <a:solidFill>
            <a:schemeClr val="bg1"/>
          </a:solidFill>
          <a:latin typeface="Tw Cen MT" pitchFamily="34" charset="0"/>
          <a:cs typeface="Arial" charset="0"/>
        </a:defRPr>
      </a:lvl5pPr>
      <a:lvl6pPr marL="457200" algn="ctr" rtl="0" fontAlgn="base">
        <a:spcBef>
          <a:spcPct val="0"/>
        </a:spcBef>
        <a:spcAft>
          <a:spcPct val="0"/>
        </a:spcAft>
        <a:defRPr sz="4400" b="1">
          <a:solidFill>
            <a:schemeClr val="bg1"/>
          </a:solidFill>
          <a:latin typeface="Tw Cen MT" pitchFamily="34" charset="0"/>
          <a:cs typeface="Arial" charset="0"/>
        </a:defRPr>
      </a:lvl6pPr>
      <a:lvl7pPr marL="914400" algn="ctr" rtl="0" fontAlgn="base">
        <a:spcBef>
          <a:spcPct val="0"/>
        </a:spcBef>
        <a:spcAft>
          <a:spcPct val="0"/>
        </a:spcAft>
        <a:defRPr sz="4400" b="1">
          <a:solidFill>
            <a:schemeClr val="bg1"/>
          </a:solidFill>
          <a:latin typeface="Tw Cen MT" pitchFamily="34" charset="0"/>
          <a:cs typeface="Arial" charset="0"/>
        </a:defRPr>
      </a:lvl7pPr>
      <a:lvl8pPr marL="1371600" algn="ctr" rtl="0" fontAlgn="base">
        <a:spcBef>
          <a:spcPct val="0"/>
        </a:spcBef>
        <a:spcAft>
          <a:spcPct val="0"/>
        </a:spcAft>
        <a:defRPr sz="4400" b="1">
          <a:solidFill>
            <a:schemeClr val="bg1"/>
          </a:solidFill>
          <a:latin typeface="Tw Cen MT" pitchFamily="34" charset="0"/>
          <a:cs typeface="Arial" charset="0"/>
        </a:defRPr>
      </a:lvl8pPr>
      <a:lvl9pPr marL="1828800" algn="ctr" rtl="0" fontAlgn="base">
        <a:spcBef>
          <a:spcPct val="0"/>
        </a:spcBef>
        <a:spcAft>
          <a:spcPct val="0"/>
        </a:spcAft>
        <a:defRPr sz="4400" b="1">
          <a:solidFill>
            <a:schemeClr val="bg1"/>
          </a:solidFill>
          <a:latin typeface="Tw Cen MT" pitchFamily="34" charset="0"/>
          <a:cs typeface="Arial" charset="0"/>
        </a:defRPr>
      </a:lvl9pPr>
    </p:titleStyle>
    <p:bodyStyle>
      <a:lvl1pPr marL="342900" indent="-342900" algn="l" rtl="0" fontAlgn="base">
        <a:spcBef>
          <a:spcPct val="20000"/>
        </a:spcBef>
        <a:spcAft>
          <a:spcPct val="0"/>
        </a:spcAft>
        <a:buClr>
          <a:srgbClr val="FF9900"/>
        </a:buClr>
        <a:buFont typeface="Wingdings" pitchFamily="2" charset="2"/>
        <a:buChar char="q"/>
        <a:defRPr sz="2400">
          <a:solidFill>
            <a:schemeClr val="tx2"/>
          </a:solidFill>
          <a:latin typeface="+mn-lt"/>
          <a:ea typeface="+mn-ea"/>
          <a:cs typeface="+mn-cs"/>
        </a:defRPr>
      </a:lvl1pPr>
      <a:lvl2pPr marL="742950" indent="-285750" algn="l" rtl="0" fontAlgn="base">
        <a:spcBef>
          <a:spcPct val="20000"/>
        </a:spcBef>
        <a:spcAft>
          <a:spcPct val="0"/>
        </a:spcAft>
        <a:buClr>
          <a:srgbClr val="FF9900"/>
        </a:buClr>
        <a:buFont typeface="Wingdings" pitchFamily="2" charset="2"/>
        <a:defRPr sz="2400">
          <a:solidFill>
            <a:schemeClr val="tx2"/>
          </a:solidFill>
          <a:latin typeface="+mn-lt"/>
          <a:cs typeface="+mn-cs"/>
        </a:defRPr>
      </a:lvl2pPr>
      <a:lvl3pPr marL="1143000" indent="-228600" algn="l" rtl="0" fontAlgn="base">
        <a:spcBef>
          <a:spcPct val="20000"/>
        </a:spcBef>
        <a:spcAft>
          <a:spcPct val="0"/>
        </a:spcAft>
        <a:buClr>
          <a:srgbClr val="FF9900"/>
        </a:buClr>
        <a:buFont typeface="Wingdings" pitchFamily="2" charset="2"/>
        <a:buChar char="q"/>
        <a:defRPr sz="2400">
          <a:solidFill>
            <a:schemeClr val="tx2"/>
          </a:solidFill>
          <a:latin typeface="+mn-lt"/>
          <a:cs typeface="+mn-cs"/>
        </a:defRPr>
      </a:lvl3pPr>
      <a:lvl4pPr marL="1600200" indent="-228600" algn="l" rtl="0" fontAlgn="base">
        <a:spcBef>
          <a:spcPct val="20000"/>
        </a:spcBef>
        <a:spcAft>
          <a:spcPct val="0"/>
        </a:spcAft>
        <a:buClr>
          <a:srgbClr val="FF9900"/>
        </a:buClr>
        <a:buFont typeface="Wingdings" pitchFamily="2" charset="2"/>
        <a:buChar char="q"/>
        <a:defRPr sz="2400">
          <a:solidFill>
            <a:schemeClr val="tx2"/>
          </a:solidFill>
          <a:latin typeface="+mn-lt"/>
          <a:cs typeface="+mn-cs"/>
        </a:defRPr>
      </a:lvl4pPr>
      <a:lvl5pPr marL="2057400" indent="-228600" algn="l" rtl="0" fontAlgn="base">
        <a:spcBef>
          <a:spcPct val="20000"/>
        </a:spcBef>
        <a:spcAft>
          <a:spcPct val="0"/>
        </a:spcAft>
        <a:buClr>
          <a:srgbClr val="FF9900"/>
        </a:buClr>
        <a:buFont typeface="Wingdings" pitchFamily="2" charset="2"/>
        <a:buChar char="q"/>
        <a:defRPr sz="2400">
          <a:solidFill>
            <a:schemeClr val="tx2"/>
          </a:solidFill>
          <a:latin typeface="+mn-lt"/>
          <a:cs typeface="+mn-cs"/>
        </a:defRPr>
      </a:lvl5pPr>
      <a:lvl6pPr marL="2514600" indent="-228600" algn="l" rtl="0" fontAlgn="base">
        <a:spcBef>
          <a:spcPct val="20000"/>
        </a:spcBef>
        <a:spcAft>
          <a:spcPct val="0"/>
        </a:spcAft>
        <a:buClr>
          <a:srgbClr val="FF9900"/>
        </a:buClr>
        <a:buFont typeface="Wingdings" pitchFamily="2" charset="2"/>
        <a:buChar char="q"/>
        <a:defRPr sz="2400">
          <a:solidFill>
            <a:schemeClr val="tx2"/>
          </a:solidFill>
          <a:latin typeface="+mn-lt"/>
          <a:cs typeface="+mn-cs"/>
        </a:defRPr>
      </a:lvl6pPr>
      <a:lvl7pPr marL="2971800" indent="-228600" algn="l" rtl="0" fontAlgn="base">
        <a:spcBef>
          <a:spcPct val="20000"/>
        </a:spcBef>
        <a:spcAft>
          <a:spcPct val="0"/>
        </a:spcAft>
        <a:buClr>
          <a:srgbClr val="FF9900"/>
        </a:buClr>
        <a:buFont typeface="Wingdings" pitchFamily="2" charset="2"/>
        <a:buChar char="q"/>
        <a:defRPr sz="2400">
          <a:solidFill>
            <a:schemeClr val="tx2"/>
          </a:solidFill>
          <a:latin typeface="+mn-lt"/>
          <a:cs typeface="+mn-cs"/>
        </a:defRPr>
      </a:lvl7pPr>
      <a:lvl8pPr marL="3429000" indent="-228600" algn="l" rtl="0" fontAlgn="base">
        <a:spcBef>
          <a:spcPct val="20000"/>
        </a:spcBef>
        <a:spcAft>
          <a:spcPct val="0"/>
        </a:spcAft>
        <a:buClr>
          <a:srgbClr val="FF9900"/>
        </a:buClr>
        <a:buFont typeface="Wingdings" pitchFamily="2" charset="2"/>
        <a:buChar char="q"/>
        <a:defRPr sz="2400">
          <a:solidFill>
            <a:schemeClr val="tx2"/>
          </a:solidFill>
          <a:latin typeface="+mn-lt"/>
          <a:cs typeface="+mn-cs"/>
        </a:defRPr>
      </a:lvl8pPr>
      <a:lvl9pPr marL="3886200" indent="-228600" algn="l" rtl="0" fontAlgn="base">
        <a:spcBef>
          <a:spcPct val="20000"/>
        </a:spcBef>
        <a:spcAft>
          <a:spcPct val="0"/>
        </a:spcAft>
        <a:buClr>
          <a:srgbClr val="FF9900"/>
        </a:buClr>
        <a:buFont typeface="Wingdings" pitchFamily="2" charset="2"/>
        <a:buChar char="q"/>
        <a:defRPr sz="24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7" name="Picture 9" descr="wmin2"/>
          <p:cNvPicPr>
            <a:picLocks noChangeAspect="1" noChangeArrowheads="1"/>
          </p:cNvPicPr>
          <p:nvPr/>
        </p:nvPicPr>
        <p:blipFill>
          <a:blip r:embed="rId2" cstate="print"/>
          <a:srcRect/>
          <a:stretch>
            <a:fillRect/>
          </a:stretch>
        </p:blipFill>
        <p:spPr bwMode="auto">
          <a:xfrm>
            <a:off x="0" y="1557338"/>
            <a:ext cx="9144000" cy="5300662"/>
          </a:xfrm>
          <a:prstGeom prst="rect">
            <a:avLst/>
          </a:prstGeom>
          <a:noFill/>
        </p:spPr>
      </p:pic>
      <p:pic>
        <p:nvPicPr>
          <p:cNvPr id="2052" name="Picture 4" descr="new-web-banners_2"/>
          <p:cNvPicPr>
            <a:picLocks noChangeAspect="1" noChangeArrowheads="1"/>
          </p:cNvPicPr>
          <p:nvPr/>
        </p:nvPicPr>
        <p:blipFill>
          <a:blip r:embed="rId3" cstate="print"/>
          <a:srcRect/>
          <a:stretch>
            <a:fillRect/>
          </a:stretch>
        </p:blipFill>
        <p:spPr bwMode="auto">
          <a:xfrm>
            <a:off x="0" y="0"/>
            <a:ext cx="9144000" cy="1371600"/>
          </a:xfrm>
          <a:prstGeom prst="rect">
            <a:avLst/>
          </a:prstGeom>
          <a:noFill/>
        </p:spPr>
      </p:pic>
      <p:sp>
        <p:nvSpPr>
          <p:cNvPr id="2055" name="Rectangle 7"/>
          <p:cNvSpPr>
            <a:spLocks noGrp="1" noChangeArrowheads="1"/>
          </p:cNvSpPr>
          <p:nvPr>
            <p:ph type="ctrTitle"/>
          </p:nvPr>
        </p:nvSpPr>
        <p:spPr>
          <a:xfrm>
            <a:off x="0" y="1484313"/>
            <a:ext cx="5867400" cy="2736850"/>
          </a:xfrm>
        </p:spPr>
        <p:txBody>
          <a:bodyPr/>
          <a:lstStyle/>
          <a:p>
            <a:pPr algn="l">
              <a:lnSpc>
                <a:spcPct val="75000"/>
              </a:lnSpc>
            </a:pPr>
            <a:r>
              <a:rPr lang="en-US" sz="2400" b="0"/>
              <a:t/>
            </a:r>
            <a:br>
              <a:rPr lang="en-US" sz="2400" b="0"/>
            </a:br>
            <a:r>
              <a:rPr lang="en-US" sz="2400" b="0"/>
              <a:t/>
            </a:r>
            <a:br>
              <a:rPr lang="en-US" sz="2400" b="0"/>
            </a:br>
            <a:r>
              <a:rPr lang="en-GB" altLang="zh-CN" sz="2400" b="0">
                <a:ea typeface="宋体" pitchFamily="2" charset="-122"/>
              </a:rPr>
              <a:t>Selective memory: channelling the past in post-GDR society</a:t>
            </a:r>
            <a:br>
              <a:rPr lang="en-GB" altLang="zh-CN" sz="2400" b="0">
                <a:ea typeface="宋体" pitchFamily="2" charset="-122"/>
              </a:rPr>
            </a:br>
            <a:r>
              <a:rPr lang="en-US" sz="2400" b="0"/>
              <a:t>Patricia Hogwood, University of Westminster</a:t>
            </a:r>
            <a:r>
              <a:rPr lang="en-US"/>
              <a:t> </a:t>
            </a:r>
            <a:r>
              <a:rPr lang="en-GB" sz="3200" b="0"/>
              <a:t/>
            </a:r>
            <a:br>
              <a:rPr lang="en-GB" sz="3200" b="0"/>
            </a:br>
            <a:r>
              <a:rPr lang="en-GB" sz="4000"/>
              <a:t/>
            </a:r>
            <a:br>
              <a:rPr lang="en-GB" sz="4000"/>
            </a:br>
            <a:endParaRPr lang="en-GB" sz="4000"/>
          </a:p>
        </p:txBody>
      </p:sp>
      <p:sp>
        <p:nvSpPr>
          <p:cNvPr id="2058" name="Rectangle 10"/>
          <p:cNvSpPr>
            <a:spLocks noChangeArrowheads="1"/>
          </p:cNvSpPr>
          <p:nvPr/>
        </p:nvSpPr>
        <p:spPr bwMode="auto">
          <a:xfrm>
            <a:off x="179388" y="1125538"/>
            <a:ext cx="184150" cy="1190625"/>
          </a:xfrm>
          <a:prstGeom prst="rect">
            <a:avLst/>
          </a:prstGeom>
          <a:noFill/>
          <a:ln w="9525">
            <a:noFill/>
            <a:miter lim="800000"/>
            <a:headEnd/>
            <a:tailEnd/>
          </a:ln>
          <a:effectLst/>
        </p:spPr>
        <p:txBody>
          <a:bodyPr wrap="none">
            <a:spAutoFit/>
          </a:bodyPr>
          <a:lstStyle/>
          <a:p>
            <a:r>
              <a:rPr lang="en-GB">
                <a:solidFill>
                  <a:schemeClr val="bg1"/>
                </a:solidFill>
              </a:rPr>
              <a:t/>
            </a:r>
            <a:br>
              <a:rPr lang="en-GB">
                <a:solidFill>
                  <a:schemeClr val="bg1"/>
                </a:solidFill>
              </a:rPr>
            </a:br>
            <a:endParaRPr lang="en-GB">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0" y="1557338"/>
            <a:ext cx="9144000" cy="1223962"/>
          </a:xfrm>
        </p:spPr>
        <p:txBody>
          <a:bodyPr/>
          <a:lstStyle/>
          <a:p>
            <a:pPr algn="l">
              <a:lnSpc>
                <a:spcPct val="75000"/>
              </a:lnSpc>
            </a:pPr>
            <a:r>
              <a:rPr lang="en-GB" altLang="zh-CN" sz="3600" b="0">
                <a:ea typeface="宋体" pitchFamily="2" charset="-122"/>
              </a:rPr>
              <a:t>Selective memory: channelling the past in post-GDR society</a:t>
            </a:r>
            <a:r>
              <a:rPr lang="en-GB" sz="3200" b="0"/>
              <a:t/>
            </a:r>
            <a:br>
              <a:rPr lang="en-GB" sz="3200" b="0"/>
            </a:br>
            <a:endParaRPr lang="en-GB" sz="3200" b="0"/>
          </a:p>
        </p:txBody>
      </p:sp>
      <p:pic>
        <p:nvPicPr>
          <p:cNvPr id="3076" name="Picture 4" descr="new-web-banners_3"/>
          <p:cNvPicPr>
            <a:picLocks noChangeAspect="1" noChangeArrowheads="1"/>
          </p:cNvPicPr>
          <p:nvPr/>
        </p:nvPicPr>
        <p:blipFill>
          <a:blip r:embed="rId2" cstate="print"/>
          <a:srcRect/>
          <a:stretch>
            <a:fillRect/>
          </a:stretch>
        </p:blipFill>
        <p:spPr bwMode="auto">
          <a:xfrm>
            <a:off x="0" y="0"/>
            <a:ext cx="9144000" cy="1371600"/>
          </a:xfrm>
          <a:prstGeom prst="rect">
            <a:avLst/>
          </a:prstGeom>
          <a:noFill/>
        </p:spPr>
      </p:pic>
      <p:sp>
        <p:nvSpPr>
          <p:cNvPr id="3077" name="Rectangle 5"/>
          <p:cNvSpPr>
            <a:spLocks noGrp="1" noChangeArrowheads="1"/>
          </p:cNvSpPr>
          <p:nvPr>
            <p:ph type="body" idx="1"/>
          </p:nvPr>
        </p:nvSpPr>
        <p:spPr>
          <a:xfrm>
            <a:off x="468313" y="3068638"/>
            <a:ext cx="8218487" cy="3600450"/>
          </a:xfrm>
        </p:spPr>
        <p:txBody>
          <a:bodyPr/>
          <a:lstStyle/>
          <a:p>
            <a:r>
              <a:rPr lang="en-GB" sz="2000"/>
              <a:t>Beyond the classic ‘trauma’ studies </a:t>
            </a:r>
          </a:p>
          <a:p>
            <a:r>
              <a:rPr lang="en-GB" sz="2000"/>
              <a:t>New research agendas</a:t>
            </a:r>
          </a:p>
          <a:p>
            <a:r>
              <a:rPr lang="en-GB" sz="2000"/>
              <a:t>Case study: ‘selective memory’ in post-GDR consumer behaviour:</a:t>
            </a:r>
          </a:p>
          <a:p>
            <a:pPr>
              <a:buFont typeface="Wingdings" pitchFamily="2" charset="2"/>
              <a:buNone/>
            </a:pPr>
            <a:r>
              <a:rPr lang="en-GB" sz="2000"/>
              <a:t>	- findings</a:t>
            </a:r>
          </a:p>
          <a:p>
            <a:pPr>
              <a:buFont typeface="Wingdings" pitchFamily="2" charset="2"/>
              <a:buNone/>
            </a:pPr>
            <a:r>
              <a:rPr lang="en-GB" sz="2000"/>
              <a:t>	- implications for memory research</a:t>
            </a:r>
            <a:endParaRPr lang="en-US" sz="20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1557338"/>
            <a:ext cx="9144000" cy="1223962"/>
          </a:xfrm>
        </p:spPr>
        <p:txBody>
          <a:bodyPr/>
          <a:lstStyle/>
          <a:p>
            <a:pPr algn="l">
              <a:lnSpc>
                <a:spcPct val="80000"/>
              </a:lnSpc>
            </a:pPr>
            <a:r>
              <a:rPr lang="en-GB" sz="3600" b="0"/>
              <a:t>Beyond the classic ‘trauma’ studies</a:t>
            </a:r>
            <a:r>
              <a:rPr lang="en-GB" sz="4000" b="0"/>
              <a:t> </a:t>
            </a:r>
            <a:r>
              <a:rPr lang="en-GB" sz="3600" b="0"/>
              <a:t/>
            </a:r>
            <a:br>
              <a:rPr lang="en-GB" sz="3600" b="0"/>
            </a:br>
            <a:endParaRPr lang="en-GB" sz="3600" b="0"/>
          </a:p>
        </p:txBody>
      </p:sp>
      <p:pic>
        <p:nvPicPr>
          <p:cNvPr id="43011" name="Picture 3" descr="new-web-banners_3"/>
          <p:cNvPicPr>
            <a:picLocks noChangeAspect="1" noChangeArrowheads="1"/>
          </p:cNvPicPr>
          <p:nvPr/>
        </p:nvPicPr>
        <p:blipFill>
          <a:blip r:embed="rId2" cstate="print"/>
          <a:srcRect/>
          <a:stretch>
            <a:fillRect/>
          </a:stretch>
        </p:blipFill>
        <p:spPr bwMode="auto">
          <a:xfrm>
            <a:off x="0" y="0"/>
            <a:ext cx="9144000" cy="1371600"/>
          </a:xfrm>
          <a:prstGeom prst="rect">
            <a:avLst/>
          </a:prstGeom>
          <a:noFill/>
        </p:spPr>
      </p:pic>
      <p:sp>
        <p:nvSpPr>
          <p:cNvPr id="43012" name="Rectangle 4"/>
          <p:cNvSpPr>
            <a:spLocks noGrp="1" noChangeArrowheads="1"/>
          </p:cNvSpPr>
          <p:nvPr>
            <p:ph type="body" idx="1"/>
          </p:nvPr>
        </p:nvSpPr>
        <p:spPr>
          <a:xfrm>
            <a:off x="0" y="2420938"/>
            <a:ext cx="9144000" cy="4679950"/>
          </a:xfrm>
        </p:spPr>
        <p:txBody>
          <a:bodyPr/>
          <a:lstStyle/>
          <a:p>
            <a:pPr>
              <a:lnSpc>
                <a:spcPct val="80000"/>
              </a:lnSpc>
              <a:spcBef>
                <a:spcPct val="25000"/>
              </a:spcBef>
            </a:pPr>
            <a:r>
              <a:rPr lang="en-US" altLang="zh-CN" sz="2000">
                <a:ea typeface="宋体" pitchFamily="2" charset="-122"/>
              </a:rPr>
              <a:t>Contributions of German ‘trauma’ studies of the National Socialist period include:</a:t>
            </a:r>
          </a:p>
          <a:p>
            <a:pPr>
              <a:lnSpc>
                <a:spcPct val="80000"/>
              </a:lnSpc>
              <a:spcBef>
                <a:spcPct val="25000"/>
              </a:spcBef>
              <a:buFont typeface="Wingdings" pitchFamily="2" charset="2"/>
              <a:buNone/>
            </a:pPr>
            <a:r>
              <a:rPr lang="en-US" altLang="zh-CN" sz="2000">
                <a:ea typeface="宋体" pitchFamily="2" charset="-122"/>
              </a:rPr>
              <a:t>	- understanding family and institutional channels for collective memory</a:t>
            </a:r>
          </a:p>
          <a:p>
            <a:pPr>
              <a:lnSpc>
                <a:spcPct val="80000"/>
              </a:lnSpc>
              <a:spcBef>
                <a:spcPct val="25000"/>
              </a:spcBef>
              <a:buFont typeface="Wingdings" pitchFamily="2" charset="2"/>
              <a:buNone/>
            </a:pPr>
            <a:r>
              <a:rPr lang="en-US" altLang="zh-CN" sz="2000">
                <a:ea typeface="宋体" pitchFamily="2" charset="-122"/>
              </a:rPr>
              <a:t>	- the development of key concepts including ‘victimhood’ and ‘normalisation’ </a:t>
            </a:r>
          </a:p>
          <a:p>
            <a:pPr>
              <a:lnSpc>
                <a:spcPct val="80000"/>
              </a:lnSpc>
              <a:spcBef>
                <a:spcPct val="25000"/>
              </a:spcBef>
            </a:pPr>
            <a:r>
              <a:rPr lang="en-US" altLang="zh-CN" sz="2000">
                <a:ea typeface="宋体" pitchFamily="2" charset="-122"/>
              </a:rPr>
              <a:t>Need to reconsider findings in application to post-GDR transition studies. </a:t>
            </a:r>
          </a:p>
          <a:p>
            <a:pPr>
              <a:lnSpc>
                <a:spcPct val="80000"/>
              </a:lnSpc>
              <a:spcBef>
                <a:spcPct val="25000"/>
              </a:spcBef>
            </a:pPr>
            <a:r>
              <a:rPr lang="en-GB" altLang="zh-CN" sz="2000">
                <a:ea typeface="宋体" pitchFamily="2" charset="-122"/>
              </a:rPr>
              <a:t>‘Victimhood’:</a:t>
            </a:r>
          </a:p>
          <a:p>
            <a:pPr>
              <a:lnSpc>
                <a:spcPct val="80000"/>
              </a:lnSpc>
              <a:spcBef>
                <a:spcPct val="25000"/>
              </a:spcBef>
              <a:buFont typeface="Wingdings" pitchFamily="2" charset="2"/>
              <a:buNone/>
            </a:pPr>
            <a:r>
              <a:rPr lang="en-GB" altLang="zh-CN" sz="2000">
                <a:ea typeface="宋体" pitchFamily="2" charset="-122"/>
              </a:rPr>
              <a:t>	- self-perceptions of ‘victimhood’ not necessarily universal; may be differentiated.</a:t>
            </a:r>
          </a:p>
          <a:p>
            <a:pPr>
              <a:lnSpc>
                <a:spcPct val="80000"/>
              </a:lnSpc>
              <a:spcBef>
                <a:spcPct val="25000"/>
              </a:spcBef>
              <a:buFont typeface="Wingdings" pitchFamily="2" charset="2"/>
              <a:buNone/>
            </a:pPr>
            <a:r>
              <a:rPr lang="en-GB" altLang="zh-CN" sz="2000">
                <a:ea typeface="宋体" pitchFamily="2" charset="-122"/>
              </a:rPr>
              <a:t>	- perceptions of ‘the perpetrator’ may differ (e.g. SED state, FRG government). </a:t>
            </a:r>
          </a:p>
          <a:p>
            <a:pPr>
              <a:lnSpc>
                <a:spcPct val="80000"/>
              </a:lnSpc>
              <a:spcBef>
                <a:spcPct val="25000"/>
              </a:spcBef>
              <a:buFont typeface="Wingdings" pitchFamily="2" charset="2"/>
              <a:buNone/>
            </a:pPr>
            <a:r>
              <a:rPr lang="en-GB" altLang="zh-CN" sz="2000">
                <a:ea typeface="宋体" pitchFamily="2" charset="-122"/>
              </a:rPr>
              <a:t>	- ‘victimisation’ may be experienced as a temporal phenomenon rather than a group phenomenon. </a:t>
            </a:r>
          </a:p>
          <a:p>
            <a:pPr>
              <a:lnSpc>
                <a:spcPct val="80000"/>
              </a:lnSpc>
              <a:spcBef>
                <a:spcPct val="25000"/>
              </a:spcBef>
              <a:buFont typeface="Wingdings" pitchFamily="2" charset="2"/>
              <a:buNone/>
            </a:pPr>
            <a:r>
              <a:rPr lang="en-GB" sz="2000"/>
              <a:t>	- differentiated memories of victimhood may prompt different collective responses.  </a:t>
            </a:r>
          </a:p>
          <a:p>
            <a:pPr>
              <a:lnSpc>
                <a:spcPct val="80000"/>
              </a:lnSpc>
              <a:spcBef>
                <a:spcPct val="25000"/>
              </a:spcBef>
            </a:pPr>
            <a:r>
              <a:rPr lang="en-GB" sz="2000"/>
              <a:t>‘Normalisation’:</a:t>
            </a:r>
          </a:p>
          <a:p>
            <a:pPr>
              <a:lnSpc>
                <a:spcPct val="80000"/>
              </a:lnSpc>
              <a:spcBef>
                <a:spcPct val="25000"/>
              </a:spcBef>
              <a:buFont typeface="Wingdings" pitchFamily="2" charset="2"/>
              <a:buNone/>
            </a:pPr>
            <a:r>
              <a:rPr lang="en-GB" altLang="zh-CN" sz="2000">
                <a:ea typeface="宋体" pitchFamily="2" charset="-122"/>
              </a:rPr>
              <a:t>	- important to avoid linear and essentialist accounts that assume a developmental ‘progression’ to a western ideal (Smith and Jehli</a:t>
            </a:r>
            <a:r>
              <a:rPr lang="en-GB" altLang="zh-CN" sz="1800">
                <a:ea typeface="宋体" pitchFamily="2" charset="-122"/>
              </a:rPr>
              <a:t>č</a:t>
            </a:r>
            <a:r>
              <a:rPr lang="en-GB" altLang="zh-CN" sz="2000">
                <a:ea typeface="宋体" pitchFamily="2" charset="-122"/>
              </a:rPr>
              <a:t>ka, 2007).  East Germany may adopt internal or external benchmarks for ‘normality’.</a:t>
            </a:r>
          </a:p>
          <a:p>
            <a:pPr>
              <a:lnSpc>
                <a:spcPct val="70000"/>
              </a:lnSpc>
              <a:buFont typeface="Wingdings" pitchFamily="2" charset="2"/>
              <a:buNone/>
            </a:pPr>
            <a:r>
              <a:rPr lang="en-US" sz="1800"/>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1557338"/>
            <a:ext cx="9144000" cy="1223962"/>
          </a:xfrm>
        </p:spPr>
        <p:txBody>
          <a:bodyPr/>
          <a:lstStyle/>
          <a:p>
            <a:pPr algn="l">
              <a:lnSpc>
                <a:spcPct val="80000"/>
              </a:lnSpc>
            </a:pPr>
            <a:r>
              <a:rPr lang="en-GB" sz="3600" b="0"/>
              <a:t>New research agendas</a:t>
            </a:r>
            <a:endParaRPr lang="en-GB" sz="3200" b="0"/>
          </a:p>
        </p:txBody>
      </p:sp>
      <p:pic>
        <p:nvPicPr>
          <p:cNvPr id="47107" name="Picture 3" descr="new-web-banners_3"/>
          <p:cNvPicPr>
            <a:picLocks noChangeAspect="1" noChangeArrowheads="1"/>
          </p:cNvPicPr>
          <p:nvPr/>
        </p:nvPicPr>
        <p:blipFill>
          <a:blip r:embed="rId2" cstate="print"/>
          <a:srcRect/>
          <a:stretch>
            <a:fillRect/>
          </a:stretch>
        </p:blipFill>
        <p:spPr bwMode="auto">
          <a:xfrm>
            <a:off x="0" y="0"/>
            <a:ext cx="9144000" cy="1371600"/>
          </a:xfrm>
          <a:prstGeom prst="rect">
            <a:avLst/>
          </a:prstGeom>
          <a:noFill/>
        </p:spPr>
      </p:pic>
      <p:sp>
        <p:nvSpPr>
          <p:cNvPr id="47108" name="Rectangle 4"/>
          <p:cNvSpPr>
            <a:spLocks noGrp="1" noChangeArrowheads="1"/>
          </p:cNvSpPr>
          <p:nvPr>
            <p:ph type="body" idx="1"/>
          </p:nvPr>
        </p:nvSpPr>
        <p:spPr>
          <a:xfrm>
            <a:off x="0" y="2492375"/>
            <a:ext cx="9144000" cy="3887788"/>
          </a:xfrm>
        </p:spPr>
        <p:txBody>
          <a:bodyPr/>
          <a:lstStyle/>
          <a:p>
            <a:pPr>
              <a:lnSpc>
                <a:spcPct val="80000"/>
              </a:lnSpc>
              <a:buFont typeface="Wingdings" pitchFamily="2" charset="2"/>
              <a:buNone/>
            </a:pPr>
            <a:r>
              <a:rPr lang="en-GB"/>
              <a:t>	</a:t>
            </a:r>
            <a:endParaRPr lang="en-GB" altLang="zh-CN" sz="2000">
              <a:ea typeface="宋体" pitchFamily="2" charset="-122"/>
            </a:endParaRPr>
          </a:p>
          <a:p>
            <a:pPr>
              <a:lnSpc>
                <a:spcPct val="80000"/>
              </a:lnSpc>
              <a:spcBef>
                <a:spcPct val="30000"/>
              </a:spcBef>
            </a:pPr>
            <a:r>
              <a:rPr lang="en-GB" altLang="zh-CN" sz="2000">
                <a:ea typeface="宋体" pitchFamily="2" charset="-122"/>
              </a:rPr>
              <a:t>Insights from cognate disciplines may be useful in determining new research concepts and agendas for transition societies such as east Germany.  </a:t>
            </a:r>
          </a:p>
          <a:p>
            <a:pPr>
              <a:lnSpc>
                <a:spcPct val="80000"/>
              </a:lnSpc>
              <a:spcBef>
                <a:spcPct val="30000"/>
              </a:spcBef>
            </a:pPr>
            <a:r>
              <a:rPr lang="en-GB" altLang="zh-CN" sz="2000">
                <a:ea typeface="宋体" pitchFamily="2" charset="-122"/>
              </a:rPr>
              <a:t>Memory research on the GDR has imported historians’ preoccupation with the validity and integrity of recounted memory.</a:t>
            </a:r>
          </a:p>
          <a:p>
            <a:pPr>
              <a:lnSpc>
                <a:spcPct val="80000"/>
              </a:lnSpc>
              <a:spcBef>
                <a:spcPct val="30000"/>
              </a:spcBef>
            </a:pPr>
            <a:r>
              <a:rPr lang="en-GB" altLang="zh-CN" sz="2000">
                <a:ea typeface="宋体" pitchFamily="2" charset="-122"/>
              </a:rPr>
              <a:t>Political science sees greater significance in the </a:t>
            </a:r>
            <a:r>
              <a:rPr lang="en-GB" altLang="zh-CN" sz="2000" u="sng">
                <a:ea typeface="宋体" pitchFamily="2" charset="-122"/>
              </a:rPr>
              <a:t>influence</a:t>
            </a:r>
            <a:r>
              <a:rPr lang="en-GB" altLang="zh-CN" sz="2000">
                <a:ea typeface="宋体" pitchFamily="2" charset="-122"/>
              </a:rPr>
              <a:t> of memory on political identity, social values, modes of participation and institutional and policy design. </a:t>
            </a:r>
          </a:p>
          <a:p>
            <a:pPr>
              <a:lnSpc>
                <a:spcPct val="80000"/>
              </a:lnSpc>
              <a:spcBef>
                <a:spcPct val="30000"/>
              </a:spcBef>
            </a:pPr>
            <a:r>
              <a:rPr lang="en-GB" sz="2000"/>
              <a:t>In mediating between historical experience and contemporary behaviours, </a:t>
            </a:r>
            <a:r>
              <a:rPr lang="en-GB" altLang="zh-CN" sz="2000">
                <a:ea typeface="宋体" pitchFamily="2" charset="-122"/>
              </a:rPr>
              <a:t>memory can be simultaneously unreliable and yet potentially significant in social development. </a:t>
            </a:r>
          </a:p>
          <a:p>
            <a:pPr>
              <a:lnSpc>
                <a:spcPct val="80000"/>
              </a:lnSpc>
              <a:spcBef>
                <a:spcPct val="30000"/>
              </a:spcBef>
            </a:pPr>
            <a:r>
              <a:rPr lang="en-GB" sz="2000"/>
              <a:t>It is not memory preserved intact that drives social development, but ‘selective’ memory: </a:t>
            </a:r>
            <a:r>
              <a:rPr lang="en-GB" altLang="zh-CN" sz="2000">
                <a:ea typeface="宋体" pitchFamily="2" charset="-122"/>
              </a:rPr>
              <a:t>a distillation of perceptions and constructs that might correspond to a greater or lesser extent to lived experience. </a:t>
            </a:r>
            <a:endParaRPr lang="en-US" sz="2000"/>
          </a:p>
          <a:p>
            <a:pPr>
              <a:lnSpc>
                <a:spcPct val="70000"/>
              </a:lnSpc>
            </a:pPr>
            <a:endParaRPr lang="en-US" sz="2000"/>
          </a:p>
          <a:p>
            <a:pPr>
              <a:lnSpc>
                <a:spcPct val="70000"/>
              </a:lnSpc>
              <a:buFont typeface="Wingdings" pitchFamily="2" charset="2"/>
              <a:buNone/>
            </a:pPr>
            <a:endParaRPr lang="en-US" sz="200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0" y="1557338"/>
            <a:ext cx="9144000" cy="576262"/>
          </a:xfrm>
        </p:spPr>
        <p:txBody>
          <a:bodyPr/>
          <a:lstStyle/>
          <a:p>
            <a:pPr algn="l">
              <a:lnSpc>
                <a:spcPct val="80000"/>
              </a:lnSpc>
            </a:pPr>
            <a:r>
              <a:rPr lang="en-GB" sz="3600" b="0"/>
              <a:t>…</a:t>
            </a:r>
            <a:endParaRPr lang="en-GB" sz="3200" b="0"/>
          </a:p>
        </p:txBody>
      </p:sp>
      <p:pic>
        <p:nvPicPr>
          <p:cNvPr id="53251" name="Picture 3" descr="new-web-banners_3"/>
          <p:cNvPicPr>
            <a:picLocks noChangeAspect="1" noChangeArrowheads="1"/>
          </p:cNvPicPr>
          <p:nvPr/>
        </p:nvPicPr>
        <p:blipFill>
          <a:blip r:embed="rId2" cstate="print"/>
          <a:srcRect/>
          <a:stretch>
            <a:fillRect/>
          </a:stretch>
        </p:blipFill>
        <p:spPr bwMode="auto">
          <a:xfrm>
            <a:off x="0" y="0"/>
            <a:ext cx="9144000" cy="1371600"/>
          </a:xfrm>
          <a:prstGeom prst="rect">
            <a:avLst/>
          </a:prstGeom>
          <a:noFill/>
        </p:spPr>
      </p:pic>
      <p:sp>
        <p:nvSpPr>
          <p:cNvPr id="53252" name="Rectangle 4"/>
          <p:cNvSpPr>
            <a:spLocks noGrp="1" noChangeArrowheads="1"/>
          </p:cNvSpPr>
          <p:nvPr>
            <p:ph type="body" idx="1"/>
          </p:nvPr>
        </p:nvSpPr>
        <p:spPr>
          <a:xfrm>
            <a:off x="0" y="2205038"/>
            <a:ext cx="9144000" cy="4652962"/>
          </a:xfrm>
        </p:spPr>
        <p:txBody>
          <a:bodyPr/>
          <a:lstStyle/>
          <a:p>
            <a:pPr>
              <a:lnSpc>
                <a:spcPct val="80000"/>
              </a:lnSpc>
              <a:spcBef>
                <a:spcPct val="30000"/>
              </a:spcBef>
            </a:pPr>
            <a:r>
              <a:rPr lang="en-GB" altLang="zh-CN" sz="2000">
                <a:ea typeface="宋体" pitchFamily="2" charset="-122"/>
              </a:rPr>
              <a:t>Implies a shift in methodological focus from collecting and evaluating recounted memory to tracing and evaluating evidenced behaviour.</a:t>
            </a:r>
          </a:p>
          <a:p>
            <a:pPr>
              <a:lnSpc>
                <a:spcPct val="80000"/>
              </a:lnSpc>
              <a:spcBef>
                <a:spcPct val="30000"/>
              </a:spcBef>
            </a:pPr>
            <a:r>
              <a:rPr lang="en-GB" altLang="zh-CN" sz="2000">
                <a:ea typeface="宋体" pitchFamily="2" charset="-122"/>
              </a:rPr>
              <a:t>A focus on evidenced behaviour helps to strengthen contextualisation and the potential for the wider application of findings.</a:t>
            </a:r>
          </a:p>
          <a:p>
            <a:pPr>
              <a:lnSpc>
                <a:spcPct val="80000"/>
              </a:lnSpc>
              <a:spcBef>
                <a:spcPct val="30000"/>
              </a:spcBef>
            </a:pPr>
            <a:r>
              <a:rPr lang="en-GB" altLang="zh-CN" sz="2000">
                <a:ea typeface="宋体" pitchFamily="2" charset="-122"/>
              </a:rPr>
              <a:t>The importance of context: e.g. Ostalgie consumerism may be confused with more common, cross-cultural experiences of ‘lifecycle’ nostalgia.  What distinguishes Ostalgie is the political context in which it operates: the ambivalence of the social and political relationship between east and west Germany; and the fact of the formal dissolution of the GDR, leaving Ostalgie items as relics of a past with a finite end point. </a:t>
            </a:r>
          </a:p>
          <a:p>
            <a:pPr>
              <a:lnSpc>
                <a:spcPct val="80000"/>
              </a:lnSpc>
              <a:spcBef>
                <a:spcPct val="30000"/>
              </a:spcBef>
            </a:pPr>
            <a:r>
              <a:rPr lang="en-GB" altLang="zh-CN" sz="2000">
                <a:ea typeface="宋体" pitchFamily="2" charset="-122"/>
              </a:rPr>
              <a:t>Application of findings: </a:t>
            </a:r>
          </a:p>
          <a:p>
            <a:pPr>
              <a:lnSpc>
                <a:spcPct val="80000"/>
              </a:lnSpc>
              <a:spcBef>
                <a:spcPct val="30000"/>
              </a:spcBef>
              <a:buFont typeface="Wingdings" pitchFamily="2" charset="2"/>
              <a:buNone/>
            </a:pPr>
            <a:r>
              <a:rPr lang="en-US" altLang="zh-CN" sz="2000">
                <a:ea typeface="宋体" pitchFamily="2" charset="-122"/>
              </a:rPr>
              <a:t>	- the relevance of the post-GDR experience for transitions to democracy in other central and eastern European countries; </a:t>
            </a:r>
            <a:r>
              <a:rPr lang="en-GB" altLang="zh-CN" sz="2000">
                <a:ea typeface="宋体" pitchFamily="2" charset="-122"/>
              </a:rPr>
              <a:t> </a:t>
            </a:r>
          </a:p>
          <a:p>
            <a:pPr>
              <a:lnSpc>
                <a:spcPct val="80000"/>
              </a:lnSpc>
              <a:spcBef>
                <a:spcPct val="30000"/>
              </a:spcBef>
              <a:buFont typeface="Wingdings" pitchFamily="2" charset="2"/>
              <a:buNone/>
            </a:pPr>
            <a:r>
              <a:rPr lang="en-GB" altLang="zh-CN" sz="2000">
                <a:ea typeface="宋体" pitchFamily="2" charset="-122"/>
              </a:rPr>
              <a:t>	- working not only with representational practitioners (heritage sector, writers and artists) but also with those involved with the </a:t>
            </a:r>
            <a:r>
              <a:rPr lang="en-GB" altLang="zh-CN" sz="2000" i="1">
                <a:ea typeface="宋体" pitchFamily="2" charset="-122"/>
              </a:rPr>
              <a:t>impacts </a:t>
            </a:r>
            <a:r>
              <a:rPr lang="en-GB" altLang="zh-CN" sz="2000">
                <a:ea typeface="宋体" pitchFamily="2" charset="-122"/>
              </a:rPr>
              <a:t>or</a:t>
            </a:r>
            <a:r>
              <a:rPr lang="en-GB" altLang="zh-CN" sz="2000" i="1">
                <a:ea typeface="宋体" pitchFamily="2" charset="-122"/>
              </a:rPr>
              <a:t> uses </a:t>
            </a:r>
            <a:r>
              <a:rPr lang="en-GB" altLang="zh-CN" sz="2000">
                <a:ea typeface="宋体" pitchFamily="2" charset="-122"/>
              </a:rPr>
              <a:t>of memory  representation – media, politics, education, psychology etc.</a:t>
            </a:r>
            <a:r>
              <a:rPr lang="en-US" altLang="zh-CN" sz="2000">
                <a:ea typeface="宋体" pitchFamily="2" charset="-122"/>
              </a:rPr>
              <a:t> </a:t>
            </a:r>
            <a:r>
              <a:rPr lang="en-GB" altLang="zh-CN" sz="2000">
                <a:ea typeface="宋体" pitchFamily="2" charset="-122"/>
              </a:rPr>
              <a:t> </a:t>
            </a:r>
            <a:endParaRPr lang="en-US" sz="2000"/>
          </a:p>
          <a:p>
            <a:pPr>
              <a:lnSpc>
                <a:spcPct val="70000"/>
              </a:lnSpc>
              <a:buFont typeface="Wingdings" pitchFamily="2" charset="2"/>
              <a:buNone/>
            </a:pPr>
            <a:endParaRPr lang="en-US" sz="20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l">
              <a:lnSpc>
                <a:spcPct val="80000"/>
              </a:lnSpc>
            </a:pPr>
            <a:r>
              <a:rPr lang="en-GB" sz="3600" b="0"/>
              <a:t>Case study: ‘selective memory’ in post-GDR consumer behaviour: findings</a:t>
            </a:r>
          </a:p>
        </p:txBody>
      </p:sp>
      <p:sp>
        <p:nvSpPr>
          <p:cNvPr id="41987" name="Rectangle 3"/>
          <p:cNvSpPr>
            <a:spLocks noGrp="1" noChangeArrowheads="1"/>
          </p:cNvSpPr>
          <p:nvPr>
            <p:ph type="body" idx="1"/>
          </p:nvPr>
        </p:nvSpPr>
        <p:spPr>
          <a:xfrm>
            <a:off x="179388" y="2420938"/>
            <a:ext cx="8964612" cy="4437062"/>
          </a:xfrm>
        </p:spPr>
        <p:txBody>
          <a:bodyPr/>
          <a:lstStyle/>
          <a:p>
            <a:pPr>
              <a:lnSpc>
                <a:spcPct val="80000"/>
              </a:lnSpc>
              <a:spcBef>
                <a:spcPct val="25000"/>
              </a:spcBef>
            </a:pPr>
            <a:r>
              <a:rPr lang="en-GB" altLang="zh-CN" sz="2000">
                <a:ea typeface="宋体" pitchFamily="2" charset="-122"/>
              </a:rPr>
              <a:t>Since unification, east German households have approximated their private consumption with westerners’ in a series of spending waves: food, household goods, basic white goods, luxury white goods, electronic goods for home entertainment. </a:t>
            </a:r>
          </a:p>
          <a:p>
            <a:pPr>
              <a:lnSpc>
                <a:spcPct val="80000"/>
              </a:lnSpc>
              <a:spcBef>
                <a:spcPct val="25000"/>
              </a:spcBef>
            </a:pPr>
            <a:r>
              <a:rPr lang="en-GB" altLang="zh-CN" sz="2000">
                <a:ea typeface="宋体" pitchFamily="2" charset="-122"/>
              </a:rPr>
              <a:t>However, differences in brand preferences between eastern and western consumers can be </a:t>
            </a:r>
            <a:r>
              <a:rPr lang="en-US" altLang="zh-CN" sz="2000">
                <a:ea typeface="宋体" pitchFamily="2" charset="-122"/>
              </a:rPr>
              <a:t>found in every branch of the retail industry: consumer goods, investment products, services, and media. </a:t>
            </a:r>
          </a:p>
          <a:p>
            <a:pPr>
              <a:lnSpc>
                <a:spcPct val="80000"/>
              </a:lnSpc>
              <a:spcBef>
                <a:spcPct val="25000"/>
              </a:spcBef>
            </a:pPr>
            <a:r>
              <a:rPr lang="en-US" altLang="zh-CN" sz="2000">
                <a:ea typeface="宋体" pitchFamily="2" charset="-122"/>
              </a:rPr>
              <a:t>Also, eastern and western Germans respond very differently to advertising messages. </a:t>
            </a:r>
          </a:p>
          <a:p>
            <a:pPr>
              <a:lnSpc>
                <a:spcPct val="80000"/>
              </a:lnSpc>
              <a:spcBef>
                <a:spcPct val="25000"/>
              </a:spcBef>
            </a:pPr>
            <a:r>
              <a:rPr lang="en-GB" altLang="zh-CN" sz="2000">
                <a:ea typeface="宋体" pitchFamily="2" charset="-122"/>
              </a:rPr>
              <a:t>The previously dominant ‘practical-acquisitive’ usage of consumer goods is being displaced by their ‘symbolic-communicative’ (or status-conferring) usage typical of capitalist societies (see Merkel, 1999). However, east Germans still prefer the acquisition of these objects to be justified in practical-acquisitive terms and/or with reference to GDR traditional values.</a:t>
            </a:r>
            <a:r>
              <a:rPr lang="en-GB" altLang="zh-CN">
                <a:ea typeface="宋体" pitchFamily="2" charset="-122"/>
              </a:rPr>
              <a:t> </a:t>
            </a:r>
          </a:p>
          <a:p>
            <a:pPr>
              <a:lnSpc>
                <a:spcPct val="80000"/>
              </a:lnSpc>
              <a:spcBef>
                <a:spcPct val="25000"/>
              </a:spcBef>
            </a:pPr>
            <a:r>
              <a:rPr lang="en-GB" altLang="zh-CN" sz="2000">
                <a:ea typeface="宋体" pitchFamily="2" charset="-122"/>
              </a:rPr>
              <a:t>East Germans cope with a cognitive dissonance between socialist and capitalist frames. They retain emotional attachments to ‘old’ values, but at a cognitive level, adopt behaviours that ensure individual survival under capitalist economic structures. </a:t>
            </a:r>
            <a:endParaRPr lang="en-GB" sz="2000"/>
          </a:p>
        </p:txBody>
      </p:sp>
      <p:pic>
        <p:nvPicPr>
          <p:cNvPr id="41988" name="Picture 4" descr="new-web-banners_3"/>
          <p:cNvPicPr>
            <a:picLocks noChangeAspect="1" noChangeArrowheads="1"/>
          </p:cNvPicPr>
          <p:nvPr/>
        </p:nvPicPr>
        <p:blipFill>
          <a:blip r:embed="rId2" cstate="print"/>
          <a:srcRect/>
          <a:stretch>
            <a:fillRect/>
          </a:stretch>
        </p:blipFill>
        <p:spPr bwMode="auto">
          <a:xfrm>
            <a:off x="0" y="0"/>
            <a:ext cx="9144000" cy="13716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lgn="l">
              <a:lnSpc>
                <a:spcPct val="80000"/>
              </a:lnSpc>
            </a:pPr>
            <a:r>
              <a:rPr lang="en-GB" sz="3600" b="0"/>
              <a:t>Case study: implications for memory research</a:t>
            </a:r>
          </a:p>
        </p:txBody>
      </p:sp>
      <p:sp>
        <p:nvSpPr>
          <p:cNvPr id="54275" name="Rectangle 3"/>
          <p:cNvSpPr>
            <a:spLocks noGrp="1" noChangeArrowheads="1"/>
          </p:cNvSpPr>
          <p:nvPr>
            <p:ph type="body" idx="1"/>
          </p:nvPr>
        </p:nvSpPr>
        <p:spPr>
          <a:xfrm>
            <a:off x="179388" y="2420938"/>
            <a:ext cx="8964612" cy="4437062"/>
          </a:xfrm>
        </p:spPr>
        <p:txBody>
          <a:bodyPr/>
          <a:lstStyle/>
          <a:p>
            <a:pPr>
              <a:lnSpc>
                <a:spcPct val="80000"/>
              </a:lnSpc>
              <a:spcBef>
                <a:spcPct val="25000"/>
              </a:spcBef>
            </a:pPr>
            <a:r>
              <a:rPr lang="en-GB" altLang="zh-CN" sz="2000">
                <a:ea typeface="宋体" pitchFamily="2" charset="-122"/>
              </a:rPr>
              <a:t>Under the GDR, east Germans were used to operating under cognitive dissonance. State identity had largely failed to assert itself, leading to increasing mistrust of the SED leadership. Self-legitimation and positive identification had developed largely at the popular level, where socialist values had a strong resonance (Hogwood, 2000). </a:t>
            </a:r>
          </a:p>
          <a:p>
            <a:pPr>
              <a:lnSpc>
                <a:spcPct val="80000"/>
              </a:lnSpc>
              <a:spcBef>
                <a:spcPct val="25000"/>
              </a:spcBef>
            </a:pPr>
            <a:r>
              <a:rPr lang="en-GB" altLang="zh-CN" sz="2000">
                <a:ea typeface="宋体" pitchFamily="2" charset="-122"/>
              </a:rPr>
              <a:t>Since unification, lasting values associated with popular culture have helped East Germans to adapt to a new compromise at state level, this time with the late capitalist values embodied by the unified FRG.  Here memories of popular culture, while not entirely consistent, are sufficiently recognisable to individuals to link them within a values collective (see Nünning, 2009, point 4).</a:t>
            </a:r>
            <a:r>
              <a:rPr lang="en-US" altLang="zh-CN" sz="2000">
                <a:ea typeface="宋体" pitchFamily="2" charset="-122"/>
              </a:rPr>
              <a:t> </a:t>
            </a:r>
            <a:endParaRPr lang="en-GB" altLang="zh-CN" sz="2000">
              <a:ea typeface="宋体" pitchFamily="2" charset="-122"/>
            </a:endParaRPr>
          </a:p>
          <a:p>
            <a:pPr>
              <a:lnSpc>
                <a:spcPct val="80000"/>
              </a:lnSpc>
              <a:spcBef>
                <a:spcPct val="25000"/>
              </a:spcBef>
            </a:pPr>
            <a:r>
              <a:rPr lang="en-GB" altLang="zh-CN" sz="2000">
                <a:ea typeface="宋体" pitchFamily="2" charset="-122"/>
              </a:rPr>
              <a:t>This illustrates the importance of the relationship of memory to forgetting (Sturken, 2008).  In undergoing their transition experience, east Germans have arguably selected the most appropriate balance of collective remembering and forgetting to secure social integrity, stability and adaptability (Connerton, 2008).  </a:t>
            </a:r>
            <a:endParaRPr lang="en-US" altLang="zh-CN" sz="2000">
              <a:ea typeface="宋体" pitchFamily="2" charset="-122"/>
            </a:endParaRPr>
          </a:p>
          <a:p>
            <a:pPr>
              <a:lnSpc>
                <a:spcPct val="80000"/>
              </a:lnSpc>
              <a:spcBef>
                <a:spcPct val="25000"/>
              </a:spcBef>
            </a:pPr>
            <a:r>
              <a:rPr lang="en-GB" altLang="zh-CN" sz="2000">
                <a:ea typeface="宋体" pitchFamily="2" charset="-122"/>
              </a:rPr>
              <a:t>Re ‘normalisation’: east German transition is linked to west German references, but does not follow a linear trajectory towards a west German model.  </a:t>
            </a:r>
            <a:endParaRPr lang="en-GB" sz="2000"/>
          </a:p>
        </p:txBody>
      </p:sp>
      <p:pic>
        <p:nvPicPr>
          <p:cNvPr id="54276" name="Picture 4" descr="new-web-banners_3"/>
          <p:cNvPicPr>
            <a:picLocks noChangeAspect="1" noChangeArrowheads="1"/>
          </p:cNvPicPr>
          <p:nvPr/>
        </p:nvPicPr>
        <p:blipFill>
          <a:blip r:embed="rId2" cstate="print"/>
          <a:srcRect/>
          <a:stretch>
            <a:fillRect/>
          </a:stretch>
        </p:blipFill>
        <p:spPr bwMode="auto">
          <a:xfrm>
            <a:off x="0" y="0"/>
            <a:ext cx="9144000" cy="13716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algn="l">
              <a:lnSpc>
                <a:spcPct val="80000"/>
              </a:lnSpc>
            </a:pPr>
            <a:r>
              <a:rPr lang="en-GB" sz="3600" b="0"/>
              <a:t>Case study: implications for memory research</a:t>
            </a:r>
          </a:p>
        </p:txBody>
      </p:sp>
      <p:sp>
        <p:nvSpPr>
          <p:cNvPr id="56323" name="Rectangle 3"/>
          <p:cNvSpPr>
            <a:spLocks noGrp="1" noChangeArrowheads="1"/>
          </p:cNvSpPr>
          <p:nvPr>
            <p:ph type="body" idx="1"/>
          </p:nvPr>
        </p:nvSpPr>
        <p:spPr>
          <a:xfrm>
            <a:off x="179388" y="2420938"/>
            <a:ext cx="8964612" cy="4437062"/>
          </a:xfrm>
        </p:spPr>
        <p:txBody>
          <a:bodyPr/>
          <a:lstStyle/>
          <a:p>
            <a:pPr>
              <a:lnSpc>
                <a:spcPct val="80000"/>
              </a:lnSpc>
              <a:spcBef>
                <a:spcPct val="25000"/>
              </a:spcBef>
            </a:pPr>
            <a:r>
              <a:rPr lang="en-GB" altLang="zh-CN" sz="2000">
                <a:ea typeface="宋体" pitchFamily="2" charset="-122"/>
              </a:rPr>
              <a:t>The synthesis of ‘old’ and new’ values in east German culture came about because of the ‘second Wende’, the disillusionment following the initial unification euphoria (Mackat, 2007).</a:t>
            </a:r>
            <a:r>
              <a:rPr lang="en-GB" altLang="zh-CN">
                <a:ea typeface="宋体" pitchFamily="2" charset="-122"/>
              </a:rPr>
              <a:t> </a:t>
            </a:r>
            <a:r>
              <a:rPr lang="en-GB" altLang="zh-CN" sz="2000">
                <a:ea typeface="宋体" pitchFamily="2" charset="-122"/>
              </a:rPr>
              <a:t>However, the channels of remembering and forgetting were embedded in the structures of the GDR past which made cognitive dissonance and the forging of identity through popular culture such fundamentals of life in the GDR (McFalls, 1999: 6-7).</a:t>
            </a:r>
          </a:p>
          <a:p>
            <a:pPr>
              <a:lnSpc>
                <a:spcPct val="80000"/>
              </a:lnSpc>
              <a:spcBef>
                <a:spcPct val="25000"/>
              </a:spcBef>
            </a:pPr>
            <a:r>
              <a:rPr lang="en-GB" altLang="zh-CN" sz="2000">
                <a:ea typeface="宋体" pitchFamily="2" charset="-122"/>
              </a:rPr>
              <a:t>Potential for generalisation: contributes to understanding ‘normalisation’ and identity formation under the liminal experience of regime transition</a:t>
            </a:r>
          </a:p>
          <a:p>
            <a:pPr>
              <a:lnSpc>
                <a:spcPct val="80000"/>
              </a:lnSpc>
              <a:spcBef>
                <a:spcPct val="25000"/>
              </a:spcBef>
            </a:pPr>
            <a:r>
              <a:rPr lang="en-GB" altLang="zh-CN" sz="2000">
                <a:ea typeface="宋体" pitchFamily="2" charset="-122"/>
              </a:rPr>
              <a:t>Potential for understanding of popular/collective identities (between individual and state identities)</a:t>
            </a:r>
          </a:p>
          <a:p>
            <a:pPr>
              <a:lnSpc>
                <a:spcPct val="80000"/>
              </a:lnSpc>
              <a:spcBef>
                <a:spcPct val="25000"/>
              </a:spcBef>
            </a:pPr>
            <a:r>
              <a:rPr lang="en-GB" altLang="zh-CN" sz="2000">
                <a:ea typeface="宋体" pitchFamily="2" charset="-122"/>
              </a:rPr>
              <a:t>Path dependence theory, first elaborated within economics but now also being adapted by political scientists, provides some useful analytical tools for understanding these relationships, particularly through its concepts of ‘positive feedback’ and the importance of timing and sequencing in social and political developments </a:t>
            </a:r>
            <a:r>
              <a:rPr lang="en-US" sz="2000"/>
              <a:t>(Arthur, 1994; Levi, 1997; David, 2000; Pierson, 2004).</a:t>
            </a:r>
          </a:p>
          <a:p>
            <a:pPr>
              <a:lnSpc>
                <a:spcPct val="80000"/>
              </a:lnSpc>
              <a:spcBef>
                <a:spcPct val="25000"/>
              </a:spcBef>
              <a:buFont typeface="Wingdings" pitchFamily="2" charset="2"/>
              <a:buNone/>
            </a:pPr>
            <a:endParaRPr lang="en-GB" sz="2000"/>
          </a:p>
        </p:txBody>
      </p:sp>
      <p:pic>
        <p:nvPicPr>
          <p:cNvPr id="56324" name="Picture 4" descr="new-web-banners_3"/>
          <p:cNvPicPr>
            <a:picLocks noChangeAspect="1" noChangeArrowheads="1"/>
          </p:cNvPicPr>
          <p:nvPr/>
        </p:nvPicPr>
        <p:blipFill>
          <a:blip r:embed="rId2" cstate="print"/>
          <a:srcRect/>
          <a:stretch>
            <a:fillRect/>
          </a:stretch>
        </p:blipFill>
        <p:spPr bwMode="auto">
          <a:xfrm>
            <a:off x="0" y="0"/>
            <a:ext cx="9144000" cy="13716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algn="l">
              <a:lnSpc>
                <a:spcPct val="80000"/>
              </a:lnSpc>
              <a:spcBef>
                <a:spcPct val="20000"/>
              </a:spcBef>
            </a:pPr>
            <a:r>
              <a:rPr lang="en-GB" sz="3600" b="0"/>
              <a:t>References </a:t>
            </a:r>
          </a:p>
        </p:txBody>
      </p:sp>
      <p:sp>
        <p:nvSpPr>
          <p:cNvPr id="55299" name="Rectangle 3"/>
          <p:cNvSpPr>
            <a:spLocks noGrp="1" noChangeArrowheads="1"/>
          </p:cNvSpPr>
          <p:nvPr>
            <p:ph type="body" idx="1"/>
          </p:nvPr>
        </p:nvSpPr>
        <p:spPr>
          <a:xfrm>
            <a:off x="179388" y="2420938"/>
            <a:ext cx="8964612" cy="4437062"/>
          </a:xfrm>
        </p:spPr>
        <p:txBody>
          <a:bodyPr/>
          <a:lstStyle/>
          <a:p>
            <a:pPr>
              <a:lnSpc>
                <a:spcPct val="80000"/>
              </a:lnSpc>
              <a:spcBef>
                <a:spcPct val="25000"/>
              </a:spcBef>
              <a:buFont typeface="Wingdings" pitchFamily="2" charset="2"/>
              <a:buNone/>
            </a:pPr>
            <a:r>
              <a:rPr lang="en-US" sz="2000"/>
              <a:t>W. B. Arthur (1994) </a:t>
            </a:r>
            <a:r>
              <a:rPr lang="en-US" sz="2000" i="1"/>
              <a:t>Increasing Returns and Path Dependence in the Economy </a:t>
            </a:r>
            <a:r>
              <a:rPr lang="en-US" sz="2000"/>
              <a:t>(Ann Arbor, University of Michigan Press).</a:t>
            </a:r>
          </a:p>
          <a:p>
            <a:pPr>
              <a:lnSpc>
                <a:spcPct val="80000"/>
              </a:lnSpc>
              <a:spcBef>
                <a:spcPct val="25000"/>
              </a:spcBef>
              <a:buFont typeface="Wingdings" pitchFamily="2" charset="2"/>
              <a:buNone/>
            </a:pPr>
            <a:r>
              <a:rPr lang="en-US" altLang="zh-CN" sz="2000">
                <a:ea typeface="宋体" pitchFamily="2" charset="-122"/>
              </a:rPr>
              <a:t>P. Connerton (2008) ‘Seven types of forgetting’ </a:t>
            </a:r>
            <a:r>
              <a:rPr lang="en-US" altLang="zh-CN" sz="2000" i="1">
                <a:ea typeface="宋体" pitchFamily="2" charset="-122"/>
              </a:rPr>
              <a:t>Memory Studies </a:t>
            </a:r>
            <a:r>
              <a:rPr lang="en-US" altLang="zh-CN" sz="2000">
                <a:ea typeface="宋体" pitchFamily="2" charset="-122"/>
              </a:rPr>
              <a:t>2008 1(1): 59-71.</a:t>
            </a:r>
          </a:p>
          <a:p>
            <a:pPr>
              <a:lnSpc>
                <a:spcPct val="80000"/>
              </a:lnSpc>
              <a:spcBef>
                <a:spcPct val="25000"/>
              </a:spcBef>
              <a:buFont typeface="Wingdings" pitchFamily="2" charset="2"/>
              <a:buNone/>
            </a:pPr>
            <a:r>
              <a:rPr lang="en-US" sz="2000"/>
              <a:t>P. David (2000) ‘Path dependence, its critics and the quest for ‘historical economics’’ in P. Garrouste and S. Ioannides (eds) </a:t>
            </a:r>
            <a:r>
              <a:rPr lang="en-US" sz="2000" i="1"/>
              <a:t>Evolution and Path Dependence in Economic Ideas: Past and Present </a:t>
            </a:r>
            <a:r>
              <a:rPr lang="en-US" sz="2000"/>
              <a:t>(Cheltenham, Edward Elgar).</a:t>
            </a:r>
          </a:p>
          <a:p>
            <a:pPr>
              <a:lnSpc>
                <a:spcPct val="80000"/>
              </a:lnSpc>
              <a:spcBef>
                <a:spcPct val="25000"/>
              </a:spcBef>
              <a:buFont typeface="Wingdings" pitchFamily="2" charset="2"/>
              <a:buNone/>
            </a:pPr>
            <a:r>
              <a:rPr lang="en-US" sz="2000"/>
              <a:t>P. Hogwood (2009) ‘Consuming ambition: consumption and East-West differentiation in post-unification politics and society’ PSA GPSG Annual Workshop 2009, ‘Germany 20 years after reunification: Still in search of ‘inner unity’?’ Technische Universität Chemnitz, 12 November 2009.</a:t>
            </a:r>
          </a:p>
          <a:p>
            <a:pPr>
              <a:lnSpc>
                <a:spcPct val="80000"/>
              </a:lnSpc>
              <a:spcBef>
                <a:spcPct val="25000"/>
              </a:spcBef>
              <a:buFont typeface="Wingdings" pitchFamily="2" charset="2"/>
              <a:buNone/>
            </a:pPr>
            <a:r>
              <a:rPr lang="en-GB" sz="2000"/>
              <a:t>P. Hogwood (2010) ‘Political learning and consumer behaviour in post-GDR society’ Workshop ‘New Directions in Political Socialization Research’ ECPR Joint Sessions of Workshops, Münster 2010 </a:t>
            </a:r>
            <a:endParaRPr lang="en-US" sz="2000"/>
          </a:p>
          <a:p>
            <a:pPr>
              <a:lnSpc>
                <a:spcPct val="80000"/>
              </a:lnSpc>
              <a:spcBef>
                <a:spcPct val="25000"/>
              </a:spcBef>
              <a:buFont typeface="Wingdings" pitchFamily="2" charset="2"/>
              <a:buNone/>
            </a:pPr>
            <a:r>
              <a:rPr lang="en-US" sz="2000"/>
              <a:t>M. Levi (1997) ‘A model, a method, and a map: rational choice in comparative and historical analysis’ in M. I, Lichbach and A. S. Zuckerman (eds) </a:t>
            </a:r>
            <a:r>
              <a:rPr lang="en-US" sz="2000" i="1"/>
              <a:t>Comparative Politics: Rationality, Culture and Structure </a:t>
            </a:r>
            <a:r>
              <a:rPr lang="en-US" sz="2000"/>
              <a:t>(Cambridge, Cambridge University Press: 19-41).</a:t>
            </a:r>
          </a:p>
        </p:txBody>
      </p:sp>
      <p:pic>
        <p:nvPicPr>
          <p:cNvPr id="55300" name="Picture 4" descr="new-web-banners_1"/>
          <p:cNvPicPr>
            <a:picLocks noChangeAspect="1" noChangeArrowheads="1"/>
          </p:cNvPicPr>
          <p:nvPr/>
        </p:nvPicPr>
        <p:blipFill>
          <a:blip r:embed="rId2" cstate="print"/>
          <a:srcRect/>
          <a:stretch>
            <a:fillRect/>
          </a:stretch>
        </p:blipFill>
        <p:spPr bwMode="auto">
          <a:xfrm>
            <a:off x="0" y="0"/>
            <a:ext cx="9144000" cy="1362075"/>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0" y="1412875"/>
            <a:ext cx="9394825" cy="1143000"/>
          </a:xfrm>
        </p:spPr>
        <p:txBody>
          <a:bodyPr/>
          <a:lstStyle/>
          <a:p>
            <a:pPr algn="l">
              <a:lnSpc>
                <a:spcPct val="80000"/>
              </a:lnSpc>
              <a:spcBef>
                <a:spcPct val="20000"/>
              </a:spcBef>
            </a:pPr>
            <a:r>
              <a:rPr lang="en-GB" sz="3600" b="0"/>
              <a:t>References </a:t>
            </a:r>
          </a:p>
        </p:txBody>
      </p:sp>
      <p:sp>
        <p:nvSpPr>
          <p:cNvPr id="58371" name="Rectangle 3"/>
          <p:cNvSpPr>
            <a:spLocks noGrp="1" noChangeArrowheads="1"/>
          </p:cNvSpPr>
          <p:nvPr>
            <p:ph type="body" idx="1"/>
          </p:nvPr>
        </p:nvSpPr>
        <p:spPr>
          <a:xfrm>
            <a:off x="179388" y="2420938"/>
            <a:ext cx="8964612" cy="4437062"/>
          </a:xfrm>
        </p:spPr>
        <p:txBody>
          <a:bodyPr/>
          <a:lstStyle/>
          <a:p>
            <a:pPr>
              <a:lnSpc>
                <a:spcPct val="80000"/>
              </a:lnSpc>
              <a:spcBef>
                <a:spcPct val="25000"/>
              </a:spcBef>
              <a:buFont typeface="Wingdings" pitchFamily="2" charset="2"/>
              <a:buNone/>
            </a:pPr>
            <a:r>
              <a:rPr lang="en-US" sz="2000"/>
              <a:t>L. McFalls (1999) ‘Eastern Germany Transformed. From Postcommunist to Late Capitalist Political Culture’ </a:t>
            </a:r>
            <a:r>
              <a:rPr lang="en-US" sz="2000" i="1"/>
              <a:t>German Politics and Society</a:t>
            </a:r>
            <a:r>
              <a:rPr lang="en-US" sz="2000"/>
              <a:t> 17, 51(2): 1-24.</a:t>
            </a:r>
          </a:p>
          <a:p>
            <a:pPr>
              <a:lnSpc>
                <a:spcPct val="80000"/>
              </a:lnSpc>
              <a:spcBef>
                <a:spcPct val="25000"/>
              </a:spcBef>
              <a:buFont typeface="Wingdings" pitchFamily="2" charset="2"/>
              <a:buNone/>
            </a:pPr>
            <a:r>
              <a:rPr lang="de-DE" sz="2000"/>
              <a:t>A. Mackat (2007) </a:t>
            </a:r>
            <a:r>
              <a:rPr lang="de-DE" sz="2000" i="1"/>
              <a:t>Das Deutsch-Deutsche Geheimnis </a:t>
            </a:r>
            <a:r>
              <a:rPr lang="de-DE" sz="2000"/>
              <a:t>(Superillu Verlag).</a:t>
            </a:r>
            <a:endParaRPr lang="en-US" sz="2000"/>
          </a:p>
          <a:p>
            <a:pPr>
              <a:lnSpc>
                <a:spcPct val="80000"/>
              </a:lnSpc>
              <a:spcBef>
                <a:spcPct val="25000"/>
              </a:spcBef>
              <a:buFont typeface="Wingdings" pitchFamily="2" charset="2"/>
              <a:buNone/>
            </a:pPr>
            <a:r>
              <a:rPr lang="de-DE" sz="2000"/>
              <a:t>I. Merkel (1999) </a:t>
            </a:r>
            <a:r>
              <a:rPr lang="de-DE" sz="2000" i="1"/>
              <a:t>Utopie und Bedürfnis: Die Geschichte der Konsumkultur in der DDR</a:t>
            </a:r>
            <a:r>
              <a:rPr lang="de-DE" sz="2000"/>
              <a:t>  (Cologne Böhlau)</a:t>
            </a:r>
            <a:r>
              <a:rPr lang="de-DE"/>
              <a:t> </a:t>
            </a:r>
          </a:p>
          <a:p>
            <a:pPr>
              <a:lnSpc>
                <a:spcPct val="80000"/>
              </a:lnSpc>
              <a:spcBef>
                <a:spcPct val="25000"/>
              </a:spcBef>
              <a:buFont typeface="Wingdings" pitchFamily="2" charset="2"/>
              <a:buNone/>
            </a:pPr>
            <a:r>
              <a:rPr lang="en-US" sz="2000"/>
              <a:t>P. Pierson (2004) </a:t>
            </a:r>
            <a:r>
              <a:rPr lang="en-US" sz="2000" i="1"/>
              <a:t>Politics in Time.  History, Institutions and Social Analysis </a:t>
            </a:r>
            <a:r>
              <a:rPr lang="en-US" sz="2000"/>
              <a:t>(Princeton University Press, Princeton and Oxford).</a:t>
            </a:r>
          </a:p>
          <a:p>
            <a:pPr>
              <a:lnSpc>
                <a:spcPct val="80000"/>
              </a:lnSpc>
              <a:spcBef>
                <a:spcPct val="25000"/>
              </a:spcBef>
              <a:buFont typeface="Wingdings" pitchFamily="2" charset="2"/>
              <a:buNone/>
            </a:pPr>
            <a:r>
              <a:rPr lang="en-US" sz="2000"/>
              <a:t>J. Smith and P. Jehlička (2007) ‘Stories around food, politics and change in Poland and the Czech Republic’ </a:t>
            </a:r>
            <a:r>
              <a:rPr lang="en-US" sz="2000" i="1"/>
              <a:t>Transactions of the Institute of British Geographers </a:t>
            </a:r>
            <a:r>
              <a:rPr lang="en-US" sz="2000"/>
              <a:t>32: 395-410.</a:t>
            </a:r>
          </a:p>
          <a:p>
            <a:pPr>
              <a:lnSpc>
                <a:spcPct val="80000"/>
              </a:lnSpc>
              <a:spcBef>
                <a:spcPct val="25000"/>
              </a:spcBef>
              <a:buFont typeface="Wingdings" pitchFamily="2" charset="2"/>
              <a:buNone/>
            </a:pPr>
            <a:r>
              <a:rPr lang="en-US" sz="2000"/>
              <a:t>M. Sturken (2008) ‘Memory, consumerism and media: reflections on the emergence of the field’ </a:t>
            </a:r>
            <a:r>
              <a:rPr lang="en-US" sz="2000" i="1"/>
              <a:t>Memory Studies </a:t>
            </a:r>
            <a:r>
              <a:rPr lang="en-US" sz="2000"/>
              <a:t>2008 1(1): 73-8</a:t>
            </a:r>
          </a:p>
          <a:p>
            <a:pPr>
              <a:lnSpc>
                <a:spcPct val="80000"/>
              </a:lnSpc>
              <a:buFont typeface="Wingdings" pitchFamily="2" charset="2"/>
              <a:buNone/>
            </a:pPr>
            <a:r>
              <a:rPr lang="en-GB" altLang="zh-CN" sz="2000">
                <a:ea typeface="宋体" pitchFamily="2" charset="-122"/>
              </a:rPr>
              <a:t>J. E. Twark (2007) </a:t>
            </a:r>
            <a:r>
              <a:rPr lang="en-GB" altLang="zh-CN" sz="2000" i="1">
                <a:ea typeface="宋体" pitchFamily="2" charset="-122"/>
              </a:rPr>
              <a:t>Humor, Satire and Identity</a:t>
            </a:r>
            <a:r>
              <a:rPr lang="en-GB" altLang="zh-CN" sz="2000">
                <a:ea typeface="宋体" pitchFamily="2" charset="-122"/>
              </a:rPr>
              <a:t>. </a:t>
            </a:r>
            <a:r>
              <a:rPr lang="en-GB" altLang="zh-CN" sz="2000" i="1">
                <a:ea typeface="宋体" pitchFamily="2" charset="-122"/>
              </a:rPr>
              <a:t>Eastern German Literature in the 1990s</a:t>
            </a:r>
            <a:r>
              <a:rPr lang="en-GB" altLang="zh-CN" sz="2000">
                <a:ea typeface="宋体" pitchFamily="2" charset="-122"/>
              </a:rPr>
              <a:t>  (Berlin, New York, Walter de Gruyter).</a:t>
            </a:r>
            <a:endParaRPr lang="en-US" sz="2000">
              <a:ea typeface="宋体" pitchFamily="2" charset="-122"/>
            </a:endParaRPr>
          </a:p>
        </p:txBody>
      </p:sp>
      <p:pic>
        <p:nvPicPr>
          <p:cNvPr id="58372" name="Picture 4" descr="new-web-banners_1"/>
          <p:cNvPicPr>
            <a:picLocks noChangeAspect="1" noChangeArrowheads="1"/>
          </p:cNvPicPr>
          <p:nvPr/>
        </p:nvPicPr>
        <p:blipFill>
          <a:blip r:embed="rId2" cstate="print"/>
          <a:srcRect/>
          <a:stretch>
            <a:fillRect/>
          </a:stretch>
        </p:blipFill>
        <p:spPr bwMode="auto">
          <a:xfrm>
            <a:off x="0" y="0"/>
            <a:ext cx="9144000" cy="1362075"/>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w Cen MT"/>
        <a:ea typeface=""/>
        <a:cs typeface="Arial"/>
      </a:majorFont>
      <a:minorFont>
        <a:latin typeface="Tw Cen MT"/>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1478</TotalTime>
  <Words>1174</Words>
  <Application>Microsoft Office PowerPoint</Application>
  <PresentationFormat>On-screen Show (4:3)</PresentationFormat>
  <Paragraphs>66</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Tw Cen MT</vt:lpstr>
      <vt:lpstr>Wingdings</vt:lpstr>
      <vt:lpstr>宋体</vt:lpstr>
      <vt:lpstr>Default Design</vt:lpstr>
      <vt:lpstr>  Selective memory: channelling the past in post-GDR society Patricia Hogwood, University of Westminster   </vt:lpstr>
      <vt:lpstr>Selective memory: channelling the past in post-GDR society </vt:lpstr>
      <vt:lpstr>Beyond the classic ‘trauma’ studies  </vt:lpstr>
      <vt:lpstr>New research agendas</vt:lpstr>
      <vt:lpstr>…</vt:lpstr>
      <vt:lpstr>Case study: ‘selective memory’ in post-GDR consumer behaviour: findings</vt:lpstr>
      <vt:lpstr>Case study: implications for memory research</vt:lpstr>
      <vt:lpstr>Case study: implications for memory research</vt:lpstr>
      <vt:lpstr>References </vt:lpstr>
      <vt:lpstr>References </vt:lpstr>
    </vt:vector>
  </TitlesOfParts>
  <Company>University of Westminster</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University of Westminster</dc:creator>
  <cp:lastModifiedBy>hcxd03</cp:lastModifiedBy>
  <cp:revision>62</cp:revision>
  <dcterms:created xsi:type="dcterms:W3CDTF">2009-09-17T12:29:44Z</dcterms:created>
  <dcterms:modified xsi:type="dcterms:W3CDTF">2010-09-10T14:39:46Z</dcterms:modified>
</cp:coreProperties>
</file>