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70" r:id="rId6"/>
    <p:sldId id="258" r:id="rId7"/>
    <p:sldId id="269" r:id="rId8"/>
    <p:sldId id="259" r:id="rId9"/>
    <p:sldId id="271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827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966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91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19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583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9465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7028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668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8640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440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9756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61F1-CA4C-4C85-9E9E-36147795E923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728E4-2D7E-4030-BF68-B3E63D22EC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452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ncer.gov/cancertopics/types/ovarian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ncer.gov/cancertopics/types/ovarian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ncer.gov/cancertopics/types/ovarian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cosupport.org/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osupport.org/" TargetMode="External"/><Relationship Id="rId2" Type="http://schemas.openxmlformats.org/officeDocument/2006/relationships/hyperlink" Target="http://www.cancer.gov/cancertopics/types/ovarian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Ravie" pitchFamily="82" charset="0"/>
              </a:rPr>
              <a:t>All Our Ovaries</a:t>
            </a:r>
            <a:br>
              <a:rPr lang="en-US" dirty="0" smtClean="0">
                <a:latin typeface="Ravie" pitchFamily="82" charset="0"/>
              </a:rPr>
            </a:br>
            <a:r>
              <a:rPr lang="en-US" sz="2000" dirty="0" smtClean="0">
                <a:latin typeface="Ravie" pitchFamily="82" charset="0"/>
              </a:rPr>
              <a:t>Ovarian Health Bulletin Board</a:t>
            </a:r>
            <a:endParaRPr lang="en-US" dirty="0">
              <a:latin typeface="Ravie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Submitted by Abby Hargreaves, RA, </a:t>
            </a:r>
            <a:r>
              <a:rPr lang="en-US" dirty="0" err="1" smtClean="0">
                <a:solidFill>
                  <a:schemeClr val="tx1"/>
                </a:solidFill>
              </a:rPr>
              <a:t>Hollins</a:t>
            </a:r>
            <a:r>
              <a:rPr lang="en-US" dirty="0" smtClean="0">
                <a:solidFill>
                  <a:schemeClr val="tx1"/>
                </a:solidFill>
              </a:rPr>
              <a:t> University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364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421" t="2112" r="5004"/>
          <a:stretch/>
        </p:blipFill>
        <p:spPr bwMode="auto">
          <a:xfrm>
            <a:off x="0" y="-1"/>
            <a:ext cx="9144000" cy="686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5145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avie" pitchFamily="82" charset="0"/>
              </a:rPr>
              <a:t>Ovarian Cancer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US" sz="17600" dirty="0" smtClean="0">
              <a:latin typeface="Cambria" pitchFamily="18" charset="0"/>
            </a:endParaRPr>
          </a:p>
          <a:p>
            <a:pPr marL="0" indent="0" algn="ctr">
              <a:buNone/>
            </a:pPr>
            <a:r>
              <a:rPr lang="en-US" sz="17600" dirty="0" smtClean="0">
                <a:latin typeface="Cambria" pitchFamily="18" charset="0"/>
              </a:rPr>
              <a:t>Ovarian </a:t>
            </a:r>
            <a:r>
              <a:rPr lang="en-US" sz="17600" dirty="0" smtClean="0">
                <a:latin typeface="Cambria" pitchFamily="18" charset="0"/>
              </a:rPr>
              <a:t>cancer is the fifth most common cause of cancer death in women.</a:t>
            </a:r>
          </a:p>
          <a:p>
            <a:pPr marL="0" indent="0">
              <a:buNone/>
            </a:pPr>
            <a:endParaRPr lang="en-US" sz="9600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5600" dirty="0" smtClean="0">
                <a:latin typeface="Cambria" pitchFamily="18" charset="0"/>
              </a:rPr>
              <a:t>For more information about ovarian cancer, visit </a:t>
            </a:r>
            <a:r>
              <a:rPr lang="en-US" sz="5600" dirty="0" smtClean="0">
                <a:latin typeface="Cambria" pitchFamily="18" charset="0"/>
                <a:hlinkClick r:id="rId2"/>
              </a:rPr>
              <a:t>www.cancer.gov/cancertopics/types/ovarian</a:t>
            </a:r>
            <a:r>
              <a:rPr lang="en-US" sz="5600" dirty="0" smtClean="0">
                <a:latin typeface="Cambria" pitchFamily="18" charset="0"/>
              </a:rPr>
              <a:t>.</a:t>
            </a:r>
          </a:p>
          <a:p>
            <a:endParaRPr lang="en-US" sz="43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Cambria" pitchFamily="18" charset="0"/>
              </a:rPr>
              <a:t> </a:t>
            </a:r>
            <a:endParaRPr lang="en-US" sz="11200" dirty="0" smtClean="0">
              <a:latin typeface="Cambria" pitchFamily="18" charset="0"/>
            </a:endParaRPr>
          </a:p>
          <a:p>
            <a:pPr marL="0" indent="0" algn="ctr">
              <a:buNone/>
            </a:pPr>
            <a:r>
              <a:rPr lang="en-US" sz="7000" dirty="0" smtClean="0">
                <a:latin typeface="Cambria" pitchFamily="18" charset="0"/>
              </a:rPr>
              <a:t> </a:t>
            </a:r>
            <a:r>
              <a:rPr lang="en-US" sz="17600" dirty="0" smtClean="0">
                <a:latin typeface="Cambria" pitchFamily="18" charset="0"/>
              </a:rPr>
              <a:t>Ovarian cancer can occur in one or both ovaries.</a:t>
            </a:r>
          </a:p>
          <a:p>
            <a:pPr marL="0" indent="0">
              <a:buNone/>
            </a:pPr>
            <a:endParaRPr lang="en-US" sz="176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sz="176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sz="176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r>
              <a:rPr lang="en-US" b="1" dirty="0" smtClean="0">
                <a:latin typeface="Ravie" pitchFamily="82" charset="0"/>
                <a:cs typeface="Raavi" pitchFamily="2" charset="0"/>
              </a:rPr>
              <a:t>There </a:t>
            </a:r>
            <a:r>
              <a:rPr lang="en-US" b="1" dirty="0" smtClean="0">
                <a:latin typeface="Ravie" pitchFamily="82" charset="0"/>
                <a:cs typeface="Raavi" pitchFamily="2" charset="0"/>
              </a:rPr>
              <a:t>are three types of ovarian cancer</a:t>
            </a:r>
            <a:r>
              <a:rPr lang="en-US" b="1" dirty="0" smtClean="0">
                <a:latin typeface="Raavi" pitchFamily="2" charset="0"/>
                <a:cs typeface="Raavi" pitchFamily="2" charset="0"/>
              </a:rPr>
              <a:t>.</a:t>
            </a:r>
            <a:r>
              <a:rPr lang="en-US" b="1" dirty="0" smtClean="0">
                <a:latin typeface="Cambria" pitchFamily="18" charset="0"/>
              </a:rPr>
              <a:t/>
            </a:r>
            <a:br>
              <a:rPr lang="en-US" b="1" dirty="0" smtClean="0">
                <a:latin typeface="Cambria" pitchFamily="18" charset="0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3600" b="1" dirty="0" smtClean="0">
                <a:latin typeface="Cambria" pitchFamily="18" charset="0"/>
              </a:rPr>
              <a:t>Epithelial cancer </a:t>
            </a:r>
            <a:r>
              <a:rPr lang="en-US" sz="3600" dirty="0" smtClean="0">
                <a:latin typeface="Cambria" pitchFamily="18" charset="0"/>
              </a:rPr>
              <a:t>“develops in the cells on the surface of the ovary.”  Epithelial cancer accounts for 90% of all ovarian cancer.</a:t>
            </a:r>
          </a:p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3400" b="1" dirty="0" smtClean="0">
                <a:latin typeface="Cambria" pitchFamily="18" charset="0"/>
              </a:rPr>
              <a:t>Germ </a:t>
            </a:r>
            <a:r>
              <a:rPr lang="en-US" sz="3400" b="1" dirty="0" smtClean="0">
                <a:latin typeface="Cambria" pitchFamily="18" charset="0"/>
              </a:rPr>
              <a:t>cell cancer </a:t>
            </a:r>
            <a:r>
              <a:rPr lang="en-US" sz="3400" dirty="0" smtClean="0">
                <a:latin typeface="Cambria" pitchFamily="18" charset="0"/>
              </a:rPr>
              <a:t>“develops in an egg cell produced in the ovary.”  Germ cell cancer accounts for less than 5% of all ovarian cancer and “most typically occurs in girls and young women.”</a:t>
            </a:r>
          </a:p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sz="3500" b="1" dirty="0" err="1" smtClean="0">
                <a:latin typeface="Cambria" pitchFamily="18" charset="0"/>
              </a:rPr>
              <a:t>Stromal</a:t>
            </a:r>
            <a:r>
              <a:rPr lang="en-US" sz="3500" b="1" dirty="0" smtClean="0">
                <a:latin typeface="Cambria" pitchFamily="18" charset="0"/>
              </a:rPr>
              <a:t> </a:t>
            </a:r>
            <a:r>
              <a:rPr lang="en-US" sz="3500" b="1" dirty="0" smtClean="0">
                <a:latin typeface="Cambria" pitchFamily="18" charset="0"/>
              </a:rPr>
              <a:t>cell cancer </a:t>
            </a:r>
            <a:r>
              <a:rPr lang="en-US" sz="3500" dirty="0" smtClean="0">
                <a:latin typeface="Cambria" pitchFamily="18" charset="0"/>
              </a:rPr>
              <a:t>“develops in the deeper supportive tissue of the ovary.”  </a:t>
            </a:r>
            <a:r>
              <a:rPr lang="en-US" sz="3500" dirty="0" err="1" smtClean="0">
                <a:latin typeface="Cambria" pitchFamily="18" charset="0"/>
              </a:rPr>
              <a:t>Stromal</a:t>
            </a:r>
            <a:r>
              <a:rPr lang="en-US" sz="3500" dirty="0" smtClean="0">
                <a:latin typeface="Cambria" pitchFamily="18" charset="0"/>
              </a:rPr>
              <a:t> Cell cancer accounts for 5-8% </a:t>
            </a:r>
            <a:r>
              <a:rPr lang="en-US" sz="3500" dirty="0" smtClean="0">
                <a:latin typeface="Cambria" pitchFamily="18" charset="0"/>
              </a:rPr>
              <a:t>of </a:t>
            </a:r>
            <a:r>
              <a:rPr lang="en-US" sz="3500" dirty="0" smtClean="0">
                <a:latin typeface="Cambria" pitchFamily="18" charset="0"/>
              </a:rPr>
              <a:t>all ovarian cancer</a:t>
            </a:r>
            <a:r>
              <a:rPr lang="en-US" sz="35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35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3500" dirty="0" smtClean="0">
                <a:latin typeface="Cambria" pitchFamily="18" charset="0"/>
              </a:rPr>
              <a:t>    </a:t>
            </a:r>
            <a:r>
              <a:rPr lang="en-US" dirty="0" smtClean="0">
                <a:latin typeface="Cambria" pitchFamily="18" charset="0"/>
              </a:rPr>
              <a:t>For more information about ovarian cancer, visit </a:t>
            </a:r>
            <a:r>
              <a:rPr lang="en-US" dirty="0" smtClean="0">
                <a:latin typeface="Cambria" pitchFamily="18" charset="0"/>
                <a:hlinkClick r:id="rId2"/>
              </a:rPr>
              <a:t>www.cancer.gov/cancertopics/types/ovarian</a:t>
            </a:r>
            <a:r>
              <a:rPr lang="en-US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3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>
                <a:latin typeface="Ravie" pitchFamily="82" charset="0"/>
              </a:rPr>
              <a:t>Symptoms of ovarian cancer include:</a:t>
            </a:r>
            <a:endParaRPr lang="en-US" sz="4000" b="1" dirty="0">
              <a:latin typeface="Ravie" pitchFamily="8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Cambria" pitchFamily="18" charset="0"/>
              </a:rPr>
              <a:t>frequent bloating </a:t>
            </a:r>
          </a:p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Cambria" pitchFamily="18" charset="0"/>
              </a:rPr>
              <a:t>pain </a:t>
            </a:r>
            <a:r>
              <a:rPr lang="en-US" sz="3600" dirty="0" smtClean="0">
                <a:latin typeface="Cambria" pitchFamily="18" charset="0"/>
              </a:rPr>
              <a:t>in belly or </a:t>
            </a:r>
            <a:r>
              <a:rPr lang="en-US" sz="3600" dirty="0" smtClean="0">
                <a:latin typeface="Cambria" pitchFamily="18" charset="0"/>
              </a:rPr>
              <a:t>pelvis </a:t>
            </a:r>
          </a:p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Cambria" pitchFamily="18" charset="0"/>
              </a:rPr>
              <a:t>difficulty </a:t>
            </a:r>
            <a:r>
              <a:rPr lang="en-US" sz="3600" dirty="0" smtClean="0">
                <a:latin typeface="Cambria" pitchFamily="18" charset="0"/>
              </a:rPr>
              <a:t>eating or feeling full </a:t>
            </a:r>
            <a:r>
              <a:rPr lang="en-US" sz="3600" dirty="0" smtClean="0">
                <a:latin typeface="Cambria" pitchFamily="18" charset="0"/>
              </a:rPr>
              <a:t>quickly </a:t>
            </a:r>
          </a:p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Cambria" pitchFamily="18" charset="0"/>
              </a:rPr>
              <a:t>urinary problems </a:t>
            </a:r>
          </a:p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Cambria" pitchFamily="18" charset="0"/>
              </a:rPr>
              <a:t>fatigue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29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3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12300" dirty="0" smtClean="0">
                <a:latin typeface="Cambria" pitchFamily="18" charset="0"/>
              </a:rPr>
              <a:t>indigestion </a:t>
            </a:r>
          </a:p>
          <a:p>
            <a:pPr>
              <a:buFont typeface="Wingdings" pitchFamily="2" charset="2"/>
              <a:buChar char="§"/>
            </a:pPr>
            <a:r>
              <a:rPr lang="en-US" sz="12300" dirty="0" smtClean="0">
                <a:latin typeface="Cambria" pitchFamily="18" charset="0"/>
              </a:rPr>
              <a:t>back pain</a:t>
            </a:r>
          </a:p>
          <a:p>
            <a:pPr>
              <a:buFont typeface="Wingdings" pitchFamily="2" charset="2"/>
              <a:buChar char="§"/>
            </a:pPr>
            <a:r>
              <a:rPr lang="en-US" sz="12300" dirty="0" smtClean="0">
                <a:latin typeface="Cambria" pitchFamily="18" charset="0"/>
              </a:rPr>
              <a:t>pain with intercourse</a:t>
            </a:r>
          </a:p>
          <a:p>
            <a:pPr>
              <a:buFont typeface="Wingdings" pitchFamily="2" charset="2"/>
              <a:buChar char="§"/>
            </a:pPr>
            <a:r>
              <a:rPr lang="en-US" sz="12300" dirty="0" smtClean="0">
                <a:latin typeface="Cambria" pitchFamily="18" charset="0"/>
              </a:rPr>
              <a:t>Constipation</a:t>
            </a:r>
          </a:p>
          <a:p>
            <a:pPr>
              <a:buFont typeface="Wingdings" pitchFamily="2" charset="2"/>
              <a:buChar char="§"/>
            </a:pPr>
            <a:r>
              <a:rPr lang="en-US" sz="12300" dirty="0" smtClean="0">
                <a:latin typeface="Cambria" pitchFamily="18" charset="0"/>
              </a:rPr>
              <a:t>changes in the menstrual cycles</a:t>
            </a:r>
            <a:endParaRPr lang="en-US" sz="123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Ravie" pitchFamily="82" charset="0"/>
              </a:rPr>
              <a:t>Doctors </a:t>
            </a:r>
            <a:r>
              <a:rPr lang="en-US" dirty="0" smtClean="0">
                <a:latin typeface="Ravie" pitchFamily="82" charset="0"/>
              </a:rPr>
              <a:t>Test for and Treat Ovarian Cancer…</a:t>
            </a:r>
            <a:endParaRPr lang="en-US" dirty="0">
              <a:latin typeface="Ravie" pitchFamily="82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57200" y="1752599"/>
            <a:ext cx="4040188" cy="422275"/>
          </a:xfrm>
          <a:solidFill>
            <a:srgbClr val="FF0000"/>
          </a:solidFill>
        </p:spPr>
        <p:txBody>
          <a:bodyPr>
            <a:normAutofit lnSpcReduction="10000"/>
          </a:bodyPr>
          <a:lstStyle/>
          <a:p>
            <a:r>
              <a:rPr lang="en-US" dirty="0" smtClean="0"/>
              <a:t>To test for ovarian cancers…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dirty="0" smtClean="0">
                <a:latin typeface="Cambria" pitchFamily="18" charset="0"/>
              </a:rPr>
              <a:t>To </a:t>
            </a:r>
            <a:r>
              <a:rPr lang="en-US" sz="3600" dirty="0">
                <a:latin typeface="Cambria" pitchFamily="18" charset="0"/>
              </a:rPr>
              <a:t>test for ovarian cancers, doctors may check for lumps (which are not always cancer) or conduct a biopsy.</a:t>
            </a:r>
          </a:p>
          <a:p>
            <a:pPr marL="0" indent="0">
              <a:buNone/>
            </a:pPr>
            <a:r>
              <a:rPr lang="en-US" sz="3600" dirty="0">
                <a:latin typeface="Cambria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600" dirty="0" smtClean="0">
                <a:latin typeface="Cambria" pitchFamily="18" charset="0"/>
              </a:rPr>
              <a:t>For more information about ovarian cancer, visit </a:t>
            </a:r>
            <a:r>
              <a:rPr lang="en-US" sz="3600" dirty="0" smtClean="0">
                <a:latin typeface="Cambria" pitchFamily="18" charset="0"/>
                <a:hlinkClick r:id="rId2"/>
              </a:rPr>
              <a:t>www.cancer.gov/cancertopics/types/ovarian</a:t>
            </a:r>
            <a:r>
              <a:rPr lang="en-US" sz="3600" dirty="0" smtClean="0">
                <a:latin typeface="Cambria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ambria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45025" y="1752599"/>
            <a:ext cx="4041775" cy="422275"/>
          </a:xfrm>
          <a:solidFill>
            <a:srgbClr val="FF0000"/>
          </a:solidFill>
        </p:spPr>
        <p:txBody>
          <a:bodyPr>
            <a:normAutofit lnSpcReduction="10000"/>
          </a:bodyPr>
          <a:lstStyle/>
          <a:p>
            <a:r>
              <a:rPr lang="en-US" dirty="0" smtClean="0"/>
              <a:t>To treat ovarian cancer…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700" dirty="0" smtClean="0">
                <a:latin typeface="Cambria" pitchFamily="18" charset="0"/>
              </a:rPr>
              <a:t>To treat ovarian cancer, removal of the ovaries is often necessary.  This sometimes includes the fallopian tubes and uterus as well.  Surgery is commonly followed by chemotherapy.</a:t>
            </a:r>
          </a:p>
          <a:p>
            <a:pPr marL="0" indent="0">
              <a:buNone/>
            </a:pPr>
            <a:endParaRPr lang="en-US" sz="2700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2700" dirty="0" smtClean="0">
                <a:latin typeface="Cambria" pitchFamily="18" charset="0"/>
              </a:rPr>
              <a:t>It is not uncommon for ovarian cancer to return, but many women survive.</a:t>
            </a:r>
          </a:p>
          <a:p>
            <a:pPr marL="0" indent="0">
              <a:buNone/>
            </a:pPr>
            <a:endParaRPr lang="en-US" dirty="0">
              <a:latin typeface="Cambria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" pitchFamily="18" charset="0"/>
              </a:rPr>
              <a:t> </a:t>
            </a:r>
          </a:p>
          <a:p>
            <a:pPr marL="0" indent="0">
              <a:buNone/>
            </a:pPr>
            <a:endParaRPr lang="en-US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dirty="0">
              <a:latin typeface="Cambria" pitchFamily="18" charset="0"/>
            </a:endParaRPr>
          </a:p>
          <a:p>
            <a:endParaRPr lang="en-US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005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Ravie" pitchFamily="82" charset="0"/>
              </a:rPr>
              <a:t>Polycystic Ovarian </a:t>
            </a:r>
            <a:r>
              <a:rPr lang="en-US" dirty="0" smtClean="0">
                <a:latin typeface="Ravie" pitchFamily="82" charset="0"/>
              </a:rPr>
              <a:t>Syndrome (PCOS)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400" dirty="0" smtClean="0">
                <a:latin typeface="Cambria" pitchFamily="18" charset="0"/>
              </a:rPr>
              <a:t>PCOS </a:t>
            </a:r>
            <a:r>
              <a:rPr lang="en-US" sz="4400" dirty="0" smtClean="0">
                <a:latin typeface="Cambria" pitchFamily="18" charset="0"/>
              </a:rPr>
              <a:t>stands for polycystic ovarian syndrome</a:t>
            </a:r>
            <a:r>
              <a:rPr lang="en-US" sz="4400" dirty="0" smtClean="0">
                <a:latin typeface="Cambria" pitchFamily="18" charset="0"/>
              </a:rPr>
              <a:t>.</a:t>
            </a:r>
            <a:r>
              <a:rPr lang="en-US" sz="4400" dirty="0" smtClean="0">
                <a:latin typeface="Cambria" pitchFamily="18" charset="0"/>
              </a:rPr>
              <a:t> </a:t>
            </a:r>
            <a:endParaRPr lang="en-US" sz="44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sz="4400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Cambria" pitchFamily="18" charset="0"/>
              </a:rPr>
              <a:t>PCOS </a:t>
            </a:r>
            <a:r>
              <a:rPr lang="en-US" sz="4400" dirty="0" smtClean="0">
                <a:latin typeface="Cambria" pitchFamily="18" charset="0"/>
              </a:rPr>
              <a:t>effects one out of fifteen women.</a:t>
            </a:r>
          </a:p>
          <a:p>
            <a:pPr marL="0" indent="0">
              <a:buNone/>
            </a:pPr>
            <a:r>
              <a:rPr lang="en-US" sz="4400" dirty="0" smtClean="0">
                <a:latin typeface="Cambria" pitchFamily="18" charset="0"/>
              </a:rPr>
              <a:t> </a:t>
            </a:r>
          </a:p>
          <a:p>
            <a:pPr>
              <a:buNone/>
            </a:pPr>
            <a:endParaRPr lang="en-US" sz="4400" dirty="0" smtClean="0">
              <a:latin typeface="Cambria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sz="3800" dirty="0" smtClean="0">
                <a:latin typeface="Cambria" pitchFamily="18" charset="0"/>
              </a:rPr>
              <a:t>PCOS </a:t>
            </a:r>
            <a:r>
              <a:rPr lang="en-US" sz="3800" dirty="0" smtClean="0">
                <a:latin typeface="Cambria" pitchFamily="18" charset="0"/>
              </a:rPr>
              <a:t>“is a common hormonal disorder in women that interferes with the growth and release of eggs from the ovaries, or ovulation.”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Ravie" pitchFamily="82" charset="0"/>
              </a:rPr>
              <a:t>Polycystic </a:t>
            </a:r>
            <a:r>
              <a:rPr lang="en-US" dirty="0" smtClean="0">
                <a:latin typeface="Ravie" pitchFamily="82" charset="0"/>
              </a:rPr>
              <a:t>Ovarian Syndrome</a:t>
            </a:r>
            <a:endParaRPr lang="en-US" dirty="0">
              <a:latin typeface="Ravie" pitchFamily="8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dirty="0" smtClean="0"/>
              <a:t>Symptoms of PCOS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3951288"/>
          </a:xfrm>
          <a:ln>
            <a:solidFill>
              <a:srgbClr val="FF0000"/>
            </a:solidFill>
          </a:ln>
        </p:spPr>
        <p:txBody>
          <a:bodyPr>
            <a:normAutofit fontScale="92500"/>
          </a:bodyPr>
          <a:lstStyle/>
          <a:p>
            <a:endParaRPr lang="en-US" sz="13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missed periods </a:t>
            </a: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acne</a:t>
            </a:r>
            <a:r>
              <a:rPr lang="en-US" dirty="0">
                <a:latin typeface="Cambria" pitchFamily="18" charset="0"/>
              </a:rPr>
              <a:t>, </a:t>
            </a:r>
            <a:endParaRPr lang="en-US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weight gain </a:t>
            </a: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depression </a:t>
            </a:r>
            <a:r>
              <a:rPr lang="en-US" dirty="0" smtClean="0">
                <a:latin typeface="Cambria" pitchFamily="18" charset="0"/>
              </a:rPr>
              <a:t>and </a:t>
            </a:r>
            <a:r>
              <a:rPr lang="en-US" dirty="0">
                <a:latin typeface="Cambria" pitchFamily="18" charset="0"/>
              </a:rPr>
              <a:t>mood </a:t>
            </a:r>
            <a:r>
              <a:rPr lang="en-US" dirty="0" smtClean="0">
                <a:latin typeface="Cambria" pitchFamily="18" charset="0"/>
              </a:rPr>
              <a:t>swings</a:t>
            </a: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male-pattern baldness</a:t>
            </a: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 infertility</a:t>
            </a:r>
          </a:p>
          <a:p>
            <a:pPr marL="0" indent="0">
              <a:buFont typeface="Wingdings" pitchFamily="2" charset="2"/>
              <a:buChar char="§"/>
            </a:pPr>
            <a:r>
              <a:rPr lang="en-US" dirty="0" smtClean="0">
                <a:latin typeface="Cambria" pitchFamily="18" charset="0"/>
              </a:rPr>
              <a:t>abnormal </a:t>
            </a:r>
            <a:r>
              <a:rPr lang="en-US" dirty="0">
                <a:latin typeface="Cambria" pitchFamily="18" charset="0"/>
              </a:rPr>
              <a:t>facial and body hair </a:t>
            </a:r>
            <a:r>
              <a:rPr lang="en-US" dirty="0" smtClean="0">
                <a:latin typeface="Cambria" pitchFamily="18" charset="0"/>
              </a:rPr>
              <a:t>growth</a:t>
            </a:r>
            <a:endParaRPr lang="en-US" dirty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1300" dirty="0">
                <a:latin typeface="Cambria" pitchFamily="18" charset="0"/>
              </a:rPr>
              <a:t> </a:t>
            </a:r>
          </a:p>
          <a:p>
            <a:pPr marL="0" indent="0">
              <a:buNone/>
            </a:pPr>
            <a:endParaRPr lang="en-US" sz="1300" dirty="0" smtClean="0">
              <a:latin typeface="Cambria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dirty="0" smtClean="0"/>
              <a:t>To Diagnose PCOS…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 smtClean="0">
                <a:latin typeface="Cambria" pitchFamily="18" charset="0"/>
              </a:rPr>
              <a:t>To </a:t>
            </a:r>
            <a:r>
              <a:rPr lang="en-US" sz="2200" dirty="0" smtClean="0">
                <a:latin typeface="Cambria" pitchFamily="18" charset="0"/>
              </a:rPr>
              <a:t>determine whether a woman has PCOS, a doctor </a:t>
            </a:r>
            <a:r>
              <a:rPr lang="en-US" sz="2200" dirty="0" smtClean="0">
                <a:latin typeface="Cambria" pitchFamily="18" charset="0"/>
              </a:rPr>
              <a:t>will: </a:t>
            </a:r>
          </a:p>
          <a:p>
            <a:pPr marL="0" indent="0">
              <a:buNone/>
            </a:pPr>
            <a:endParaRPr lang="en-US" sz="22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sz="2200" dirty="0" smtClean="0">
                <a:latin typeface="Cambria" pitchFamily="18" charset="0"/>
              </a:rPr>
              <a:t>go </a:t>
            </a:r>
            <a:r>
              <a:rPr lang="en-US" sz="2200" dirty="0" smtClean="0">
                <a:latin typeface="Cambria" pitchFamily="18" charset="0"/>
              </a:rPr>
              <a:t>over her medical history; </a:t>
            </a:r>
            <a:endParaRPr lang="en-US" sz="22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sz="2200" dirty="0" smtClean="0">
                <a:latin typeface="Cambria" pitchFamily="18" charset="0"/>
              </a:rPr>
              <a:t>check </a:t>
            </a:r>
            <a:r>
              <a:rPr lang="en-US" sz="2200" dirty="0" smtClean="0">
                <a:latin typeface="Cambria" pitchFamily="18" charset="0"/>
              </a:rPr>
              <a:t>her thyroid, </a:t>
            </a:r>
            <a:endParaRPr lang="en-US" sz="22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sz="2200" dirty="0" smtClean="0">
                <a:latin typeface="Cambria" pitchFamily="18" charset="0"/>
              </a:rPr>
              <a:t>Check her skin</a:t>
            </a:r>
            <a:r>
              <a:rPr lang="en-US" sz="2200" dirty="0" smtClean="0">
                <a:latin typeface="Cambria" pitchFamily="18" charset="0"/>
              </a:rPr>
              <a:t>, </a:t>
            </a:r>
            <a:endParaRPr lang="en-US" sz="22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sz="2200" dirty="0" smtClean="0">
                <a:latin typeface="Cambria" pitchFamily="18" charset="0"/>
              </a:rPr>
              <a:t>Check her hair</a:t>
            </a:r>
            <a:r>
              <a:rPr lang="en-US" sz="2200" dirty="0" smtClean="0">
                <a:latin typeface="Cambria" pitchFamily="18" charset="0"/>
              </a:rPr>
              <a:t>, </a:t>
            </a:r>
            <a:endParaRPr lang="en-US" sz="2200" dirty="0" smtClean="0">
              <a:latin typeface="Cambria" pitchFamily="18" charset="0"/>
            </a:endParaRPr>
          </a:p>
          <a:p>
            <a:pPr marL="0" indent="0">
              <a:buFont typeface="Wingdings" pitchFamily="2" charset="2"/>
              <a:buChar char="§"/>
            </a:pPr>
            <a:r>
              <a:rPr lang="en-US" sz="2200" dirty="0" smtClean="0">
                <a:latin typeface="Cambria" pitchFamily="18" charset="0"/>
              </a:rPr>
              <a:t>Check her breasts</a:t>
            </a:r>
            <a:r>
              <a:rPr lang="en-US" sz="2200" dirty="0" smtClean="0">
                <a:latin typeface="Cambria" pitchFamily="18" charset="0"/>
              </a:rPr>
              <a:t>, belly, and blood </a:t>
            </a:r>
            <a:r>
              <a:rPr lang="en-US" sz="2200" dirty="0" smtClean="0">
                <a:latin typeface="Cambria" pitchFamily="18" charset="0"/>
              </a:rPr>
              <a:t>pressure</a:t>
            </a:r>
          </a:p>
          <a:p>
            <a:pPr marL="0" indent="0"/>
            <a:r>
              <a:rPr lang="en-US" sz="2200" dirty="0" smtClean="0">
                <a:latin typeface="Cambria" pitchFamily="18" charset="0"/>
              </a:rPr>
              <a:t>Perform </a:t>
            </a:r>
            <a:r>
              <a:rPr lang="en-US" sz="2200" dirty="0" smtClean="0">
                <a:latin typeface="Cambria" pitchFamily="18" charset="0"/>
              </a:rPr>
              <a:t>a pelvic exam and/or </a:t>
            </a:r>
            <a:r>
              <a:rPr lang="en-US" sz="2200" dirty="0" smtClean="0">
                <a:latin typeface="Cambria" pitchFamily="18" charset="0"/>
              </a:rPr>
              <a:t>ultrasound</a:t>
            </a:r>
            <a:endParaRPr lang="en-US" sz="22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en-US" sz="1300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en-US" sz="1300" dirty="0">
                <a:latin typeface="Cambria" pitchFamily="18" charset="0"/>
              </a:rPr>
              <a:t> </a:t>
            </a:r>
          </a:p>
          <a:p>
            <a:endParaRPr lang="en-US" sz="13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4956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Ravie" pitchFamily="82" charset="0"/>
              </a:rPr>
              <a:t>Polycystic Ovarian Syndrome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sz="3200" dirty="0" smtClean="0">
                <a:latin typeface="Cambria" pitchFamily="18" charset="0"/>
              </a:rPr>
              <a:t>Women </a:t>
            </a:r>
            <a:r>
              <a:rPr lang="en-US" sz="3200" dirty="0" smtClean="0">
                <a:latin typeface="Cambria" pitchFamily="18" charset="0"/>
              </a:rPr>
              <a:t>with PCOS are at a higher risk for diabetes, heart disease, and uterine cancer.</a:t>
            </a:r>
          </a:p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dirty="0" smtClean="0">
                <a:latin typeface="Cambria" pitchFamily="18" charset="0"/>
              </a:rPr>
              <a:t>For </a:t>
            </a:r>
            <a:r>
              <a:rPr lang="en-US" dirty="0" smtClean="0">
                <a:latin typeface="Cambria" pitchFamily="18" charset="0"/>
              </a:rPr>
              <a:t>more information about PCOS, visit </a:t>
            </a:r>
            <a:r>
              <a:rPr lang="en-US" dirty="0" smtClean="0">
                <a:latin typeface="Cambria" pitchFamily="18" charset="0"/>
                <a:hlinkClick r:id="rId2"/>
              </a:rPr>
              <a:t>www.pcosupport.org</a:t>
            </a:r>
            <a:r>
              <a:rPr lang="en-US" dirty="0" smtClean="0">
                <a:latin typeface="Cambria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3600" dirty="0" smtClean="0">
                <a:latin typeface="Cambria" pitchFamily="18" charset="0"/>
              </a:rPr>
              <a:t>There is no cure for PCOS, but exercise, losing weight, eating a balanced diet, birth control, </a:t>
            </a:r>
            <a:r>
              <a:rPr lang="en-US" sz="3600" dirty="0" err="1" smtClean="0">
                <a:latin typeface="Cambria" pitchFamily="18" charset="0"/>
              </a:rPr>
              <a:t>spironolactone</a:t>
            </a:r>
            <a:r>
              <a:rPr lang="en-US" sz="3600" dirty="0" smtClean="0">
                <a:latin typeface="Cambria" pitchFamily="18" charset="0"/>
              </a:rPr>
              <a:t>, and </a:t>
            </a:r>
            <a:r>
              <a:rPr lang="en-US" sz="3600" dirty="0" err="1" smtClean="0">
                <a:latin typeface="Cambria" pitchFamily="18" charset="0"/>
              </a:rPr>
              <a:t>metformin</a:t>
            </a:r>
            <a:r>
              <a:rPr lang="en-US" sz="3600" dirty="0" smtClean="0">
                <a:latin typeface="Cambria" pitchFamily="18" charset="0"/>
              </a:rPr>
              <a:t> can help.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400" y="304800"/>
            <a:ext cx="7620000" cy="610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301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400" y="685800"/>
            <a:ext cx="773038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9186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28875" y="409575"/>
            <a:ext cx="42862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1889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8800" y="68580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3695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57400" y="1752600"/>
            <a:ext cx="5309886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877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00400" y="304800"/>
            <a:ext cx="2779839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3338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09800" y="990599"/>
            <a:ext cx="4724400" cy="489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263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avie" pitchFamily="82" charset="0"/>
              </a:rPr>
              <a:t>Resources</a:t>
            </a:r>
            <a:endParaRPr lang="en-US" dirty="0">
              <a:latin typeface="Ravie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dirty="0" smtClean="0"/>
              <a:t>Ovarian Cancer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dirty="0" smtClean="0">
                <a:latin typeface="Cambria" pitchFamily="18" charset="0"/>
              </a:rPr>
              <a:t>For </a:t>
            </a:r>
            <a:r>
              <a:rPr lang="en-US" dirty="0" smtClean="0">
                <a:latin typeface="Cambria" pitchFamily="18" charset="0"/>
              </a:rPr>
              <a:t>more information about ovarian cancer, visit </a:t>
            </a:r>
            <a:r>
              <a:rPr lang="en-US" dirty="0" smtClean="0">
                <a:latin typeface="Cambria" pitchFamily="18" charset="0"/>
                <a:hlinkClick r:id="rId2"/>
              </a:rPr>
              <a:t>www.cancer.gov/cancertopics/types/ovarian</a:t>
            </a:r>
            <a:r>
              <a:rPr lang="en-US" dirty="0" smtClean="0">
                <a:latin typeface="Cambria" pitchFamily="18" charset="0"/>
              </a:rPr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dirty="0" smtClean="0"/>
              <a:t>Polycystic Ovarian Cancer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dirty="0" smtClean="0">
                <a:latin typeface="Cambria" pitchFamily="18" charset="0"/>
              </a:rPr>
              <a:t>	</a:t>
            </a:r>
            <a:r>
              <a:rPr lang="en-US" dirty="0" smtClean="0">
                <a:latin typeface="Cambria" pitchFamily="18" charset="0"/>
              </a:rPr>
              <a:t>For </a:t>
            </a:r>
            <a:r>
              <a:rPr lang="en-US" dirty="0" smtClean="0">
                <a:latin typeface="Cambria" pitchFamily="18" charset="0"/>
              </a:rPr>
              <a:t>more information about PCOS, visit </a:t>
            </a:r>
            <a:r>
              <a:rPr lang="en-US" dirty="0" smtClean="0">
                <a:latin typeface="Cambria" pitchFamily="18" charset="0"/>
                <a:hlinkClick r:id="rId3"/>
              </a:rPr>
              <a:t>www.pcosupport.org</a:t>
            </a:r>
            <a:r>
              <a:rPr lang="en-US" dirty="0" smtClean="0">
                <a:latin typeface="Cambria" pitchFamily="18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356</Words>
  <Application>Microsoft Office PowerPoint</Application>
  <PresentationFormat>On-screen Show (4:3)</PresentationFormat>
  <Paragraphs>84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All Our Ovaries Ovarian Health Bulletin Board</vt:lpstr>
      <vt:lpstr>Slide 2</vt:lpstr>
      <vt:lpstr>Ovarian Cancer</vt:lpstr>
      <vt:lpstr> There are three types of ovarian cancer. </vt:lpstr>
      <vt:lpstr>Symptoms of ovarian cancer include:</vt:lpstr>
      <vt:lpstr>Doctors Test for and Treat Ovarian Cancer…</vt:lpstr>
      <vt:lpstr>Polycystic Ovarian Syndrome (PCOS)</vt:lpstr>
      <vt:lpstr>Polycystic Ovarian Syndrome</vt:lpstr>
      <vt:lpstr>Polycystic Ovarian Syndrome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Our Ovaries Ovarian Health Bulletin Board</dc:title>
  <dc:creator>Mark Hargreaves</dc:creator>
  <cp:lastModifiedBy>owner</cp:lastModifiedBy>
  <cp:revision>21</cp:revision>
  <dcterms:created xsi:type="dcterms:W3CDTF">2011-10-15T17:37:45Z</dcterms:created>
  <dcterms:modified xsi:type="dcterms:W3CDTF">2011-10-28T02:32:58Z</dcterms:modified>
</cp:coreProperties>
</file>