
<file path=[Content_Types].xml><?xml version="1.0" encoding="utf-8"?>
<Types xmlns="http://schemas.openxmlformats.org/package/2006/content-types">
  <Default Extension="xml" ContentType="application/xml"/>
  <Default Extension="jpeg" ContentType="image/jpeg"/>
  <Default Extension="rels" ContentType="application/vnd.openxmlformats-package.relationships+xml"/>
  <Default Extension="emf" ContentType="image/x-emf"/>
  <Default Extension="gif" ContentType="image/gif"/>
  <Default Extension="bin" ContentType="application/vnd.openxmlformats-officedocument.presentationml.printerSettings"/>
  <Default Extension="png" ContentType="image/png"/>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4" Type="http://schemas.openxmlformats.org/officeDocument/2006/relationships/extended-properties" Target="docProps/app.xml"/><Relationship Id="rId1" Type="http://schemas.openxmlformats.org/officeDocument/2006/relationships/officeDocument" Target="ppt/presentation.xml"/><Relationship Id="rId2" Type="http://schemas.openxmlformats.org/package/2006/relationships/metadata/thumbnail" Target="docProps/thumbnail.jpeg"/></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1"/>
  </p:sldMasterIdLst>
  <p:notesMasterIdLst>
    <p:notesMasterId r:id="rId11"/>
  </p:notesMasterIdLst>
  <p:sldIdLst>
    <p:sldId id="257" r:id="rId2"/>
    <p:sldId id="258" r:id="rId3"/>
    <p:sldId id="259" r:id="rId4"/>
    <p:sldId id="260" r:id="rId5"/>
    <p:sldId id="262" r:id="rId6"/>
    <p:sldId id="263" r:id="rId7"/>
    <p:sldId id="264" r:id="rId8"/>
    <p:sldId id="265" r:id="rId9"/>
    <p:sldId id="261" r:id="rId10"/>
  </p:sldIdLst>
  <p:sldSz cx="9144000" cy="6858000" type="screen4x3"/>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prnPr/>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71" d="100"/>
          <a:sy n="71" d="100"/>
        </p:scale>
        <p:origin x="-1032" y="-120"/>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1" Type="http://schemas.openxmlformats.org/officeDocument/2006/relationships/notesMaster" Target="notesMasters/notesMaster1.xml"/><Relationship Id="rId12" Type="http://schemas.openxmlformats.org/officeDocument/2006/relationships/printerSettings" Target="printerSettings/printerSettings1.bin"/><Relationship Id="rId13" Type="http://schemas.openxmlformats.org/officeDocument/2006/relationships/presProps" Target="presProps.xml"/><Relationship Id="rId14" Type="http://schemas.openxmlformats.org/officeDocument/2006/relationships/viewProps" Target="viewProps.xml"/><Relationship Id="rId15" Type="http://schemas.openxmlformats.org/officeDocument/2006/relationships/theme" Target="theme/theme1.xml"/><Relationship Id="rId16" Type="http://schemas.openxmlformats.org/officeDocument/2006/relationships/tableStyles" Target="tableStyles.xml"/><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D562EA95-8219-544C-B417-0041BE9A0154}" type="datetimeFigureOut">
              <a:rPr lang="en-US" smtClean="0"/>
              <a:t>8/15/12</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20A0A9-F42C-1941-B407-93BA13152274}" type="slidenum">
              <a:rPr lang="en-US" smtClean="0"/>
              <a:t>‹#›</a:t>
            </a:fld>
            <a:endParaRPr lang="en-US"/>
          </a:p>
        </p:txBody>
      </p:sp>
    </p:spTree>
    <p:extLst>
      <p:ext uri="{BB962C8B-B14F-4D97-AF65-F5344CB8AC3E}">
        <p14:creationId xmlns:p14="http://schemas.microsoft.com/office/powerpoint/2010/main" val="428917700"/>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434" name="Slide Image Placeholder 1"/>
          <p:cNvSpPr>
            <a:spLocks noGrp="1" noRot="1" noChangeAspect="1" noTextEdit="1"/>
          </p:cNvSpPr>
          <p:nvPr>
            <p:ph type="sldImg"/>
          </p:nvPr>
        </p:nvSpPr>
        <p:spPr>
          <a:ln/>
        </p:spPr>
      </p:sp>
      <p:sp>
        <p:nvSpPr>
          <p:cNvPr id="18435" name="Notes Placeholder 2"/>
          <p:cNvSpPr>
            <a:spLocks noGrp="1"/>
          </p:cNvSpPr>
          <p:nvPr>
            <p:ph type="body" idx="1"/>
          </p:nvPr>
        </p:nvSpPr>
        <p:spPr>
          <a:noFill/>
          <a:ln/>
        </p:spPr>
        <p:txBody>
          <a:bodyPr/>
          <a:lstStyle/>
          <a:p>
            <a:pPr eaLnBrk="1" hangingPunct="1">
              <a:spcBef>
                <a:spcPct val="0"/>
              </a:spcBef>
            </a:pPr>
            <a:endParaRPr lang="en-US" smtClean="0"/>
          </a:p>
        </p:txBody>
      </p:sp>
      <p:sp>
        <p:nvSpPr>
          <p:cNvPr id="18436" name="Slide Number Placeholder 3"/>
          <p:cNvSpPr>
            <a:spLocks noGrp="1"/>
          </p:cNvSpPr>
          <p:nvPr>
            <p:ph type="sldNum" sz="quarter" idx="5"/>
          </p:nvPr>
        </p:nvSpPr>
        <p:spPr>
          <a:noFill/>
        </p:spPr>
        <p:txBody>
          <a:bodyPr/>
          <a:lstStyle/>
          <a:p>
            <a:fld id="{A7682A58-D0E4-034C-83FB-05E0DFE76586}" type="slidenum">
              <a:rPr lang="en-US" smtClean="0"/>
              <a:pPr/>
              <a:t>5</a:t>
            </a:fld>
            <a:endParaRPr lang="en-US" smtClean="0"/>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6BFECD78-3C8E-49F2-8FAB-59489D168ABB}" type="datetimeFigureOut">
              <a:rPr lang="en-US" smtClean="0"/>
              <a:t>8/15/12</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0FB56013-B943-42BA-886F-6F9D4EB85E9D}" type="slidenum">
              <a:rPr lang="en-US" smtClean="0"/>
              <a:t>‹#›</a:t>
            </a:fld>
            <a:endParaRPr lang="en-US"/>
          </a:p>
        </p:txBody>
      </p:sp>
    </p:spTree>
    <p:extLst>
      <p:ext uri="{BB962C8B-B14F-4D97-AF65-F5344CB8AC3E}">
        <p14:creationId xmlns:p14="http://schemas.microsoft.com/office/powerpoint/2010/main" val="1287263606"/>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6BFECD78-3C8E-49F2-8FAB-59489D168ABB}" type="datetimeFigureOut">
              <a:rPr lang="en-US" smtClean="0"/>
              <a:t>8/15/12</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0FB56013-B943-42BA-886F-6F9D4EB85E9D}" type="slidenum">
              <a:rPr lang="en-US" smtClean="0"/>
              <a:t>‹#›</a:t>
            </a:fld>
            <a:endParaRPr lang="en-US"/>
          </a:p>
        </p:txBody>
      </p:sp>
    </p:spTree>
    <p:extLst>
      <p:ext uri="{BB962C8B-B14F-4D97-AF65-F5344CB8AC3E}">
        <p14:creationId xmlns:p14="http://schemas.microsoft.com/office/powerpoint/2010/main" val="1492754274"/>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6BFECD78-3C8E-49F2-8FAB-59489D168ABB}" type="datetimeFigureOut">
              <a:rPr lang="en-US" smtClean="0"/>
              <a:t>8/15/12</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0FB56013-B943-42BA-886F-6F9D4EB85E9D}" type="slidenum">
              <a:rPr lang="en-US" smtClean="0"/>
              <a:t>‹#›</a:t>
            </a:fld>
            <a:endParaRPr lang="en-US"/>
          </a:p>
        </p:txBody>
      </p:sp>
    </p:spTree>
    <p:extLst>
      <p:ext uri="{BB962C8B-B14F-4D97-AF65-F5344CB8AC3E}">
        <p14:creationId xmlns:p14="http://schemas.microsoft.com/office/powerpoint/2010/main" val="4122987892"/>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6BFECD78-3C8E-49F2-8FAB-59489D168ABB}" type="datetimeFigureOut">
              <a:rPr lang="en-US" smtClean="0"/>
              <a:t>8/15/12</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0FB56013-B943-42BA-886F-6F9D4EB85E9D}" type="slidenum">
              <a:rPr lang="en-US" smtClean="0"/>
              <a:t>‹#›</a:t>
            </a:fld>
            <a:endParaRPr lang="en-US"/>
          </a:p>
        </p:txBody>
      </p:sp>
    </p:spTree>
    <p:extLst>
      <p:ext uri="{BB962C8B-B14F-4D97-AF65-F5344CB8AC3E}">
        <p14:creationId xmlns:p14="http://schemas.microsoft.com/office/powerpoint/2010/main" val="921199382"/>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6BFECD78-3C8E-49F2-8FAB-59489D168ABB}" type="datetimeFigureOut">
              <a:rPr lang="en-US" smtClean="0"/>
              <a:t>8/15/12</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0FB56013-B943-42BA-886F-6F9D4EB85E9D}" type="slidenum">
              <a:rPr lang="en-US" smtClean="0"/>
              <a:t>‹#›</a:t>
            </a:fld>
            <a:endParaRPr lang="en-US"/>
          </a:p>
        </p:txBody>
      </p:sp>
    </p:spTree>
    <p:extLst>
      <p:ext uri="{BB962C8B-B14F-4D97-AF65-F5344CB8AC3E}">
        <p14:creationId xmlns:p14="http://schemas.microsoft.com/office/powerpoint/2010/main" val="1804641380"/>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6BFECD78-3C8E-49F2-8FAB-59489D168ABB}" type="datetimeFigureOut">
              <a:rPr lang="en-US" smtClean="0"/>
              <a:t>8/15/12</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0FB56013-B943-42BA-886F-6F9D4EB85E9D}" type="slidenum">
              <a:rPr lang="en-US" smtClean="0"/>
              <a:t>‹#›</a:t>
            </a:fld>
            <a:endParaRPr lang="en-US"/>
          </a:p>
        </p:txBody>
      </p:sp>
    </p:spTree>
    <p:extLst>
      <p:ext uri="{BB962C8B-B14F-4D97-AF65-F5344CB8AC3E}">
        <p14:creationId xmlns:p14="http://schemas.microsoft.com/office/powerpoint/2010/main" val="2416896743"/>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6BFECD78-3C8E-49F2-8FAB-59489D168ABB}" type="datetimeFigureOut">
              <a:rPr lang="en-US" smtClean="0"/>
              <a:t>8/15/12</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0FB56013-B943-42BA-886F-6F9D4EB85E9D}" type="slidenum">
              <a:rPr lang="en-US" smtClean="0"/>
              <a:t>‹#›</a:t>
            </a:fld>
            <a:endParaRPr lang="en-US"/>
          </a:p>
        </p:txBody>
      </p:sp>
    </p:spTree>
    <p:extLst>
      <p:ext uri="{BB962C8B-B14F-4D97-AF65-F5344CB8AC3E}">
        <p14:creationId xmlns:p14="http://schemas.microsoft.com/office/powerpoint/2010/main" val="3517023339"/>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6BFECD78-3C8E-49F2-8FAB-59489D168ABB}" type="datetimeFigureOut">
              <a:rPr lang="en-US" smtClean="0"/>
              <a:t>8/15/12</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0FB56013-B943-42BA-886F-6F9D4EB85E9D}" type="slidenum">
              <a:rPr lang="en-US" smtClean="0"/>
              <a:t>‹#›</a:t>
            </a:fld>
            <a:endParaRPr lang="en-US"/>
          </a:p>
        </p:txBody>
      </p:sp>
    </p:spTree>
    <p:extLst>
      <p:ext uri="{BB962C8B-B14F-4D97-AF65-F5344CB8AC3E}">
        <p14:creationId xmlns:p14="http://schemas.microsoft.com/office/powerpoint/2010/main" val="2120934328"/>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6BFECD78-3C8E-49F2-8FAB-59489D168ABB}" type="datetimeFigureOut">
              <a:rPr lang="en-US" smtClean="0"/>
              <a:t>8/15/12</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0FB56013-B943-42BA-886F-6F9D4EB85E9D}" type="slidenum">
              <a:rPr lang="en-US" smtClean="0"/>
              <a:t>‹#›</a:t>
            </a:fld>
            <a:endParaRPr lang="en-US"/>
          </a:p>
        </p:txBody>
      </p:sp>
    </p:spTree>
    <p:extLst>
      <p:ext uri="{BB962C8B-B14F-4D97-AF65-F5344CB8AC3E}">
        <p14:creationId xmlns:p14="http://schemas.microsoft.com/office/powerpoint/2010/main" val="3195554071"/>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6BFECD78-3C8E-49F2-8FAB-59489D168ABB}" type="datetimeFigureOut">
              <a:rPr lang="en-US" smtClean="0"/>
              <a:t>8/15/12</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0FB56013-B943-42BA-886F-6F9D4EB85E9D}" type="slidenum">
              <a:rPr lang="en-US" smtClean="0"/>
              <a:t>‹#›</a:t>
            </a:fld>
            <a:endParaRPr lang="en-US"/>
          </a:p>
        </p:txBody>
      </p:sp>
    </p:spTree>
    <p:extLst>
      <p:ext uri="{BB962C8B-B14F-4D97-AF65-F5344CB8AC3E}">
        <p14:creationId xmlns:p14="http://schemas.microsoft.com/office/powerpoint/2010/main" val="2972592601"/>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6BFECD78-3C8E-49F2-8FAB-59489D168ABB}" type="datetimeFigureOut">
              <a:rPr lang="en-US" smtClean="0"/>
              <a:t>8/15/12</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0FB56013-B943-42BA-886F-6F9D4EB85E9D}" type="slidenum">
              <a:rPr lang="en-US" smtClean="0"/>
              <a:t>‹#›</a:t>
            </a:fld>
            <a:endParaRPr lang="en-US"/>
          </a:p>
        </p:txBody>
      </p:sp>
    </p:spTree>
    <p:extLst>
      <p:ext uri="{BB962C8B-B14F-4D97-AF65-F5344CB8AC3E}">
        <p14:creationId xmlns:p14="http://schemas.microsoft.com/office/powerpoint/2010/main" val="1606327022"/>
      </p:ext>
    </p:extLst>
  </p:cSld>
  <p:clrMapOvr>
    <a:masterClrMapping/>
  </p:clrMapOvr>
</p:sldLayout>
</file>

<file path=ppt/slideMasters/_rels/slideMaster1.xml.rels><?xml version="1.0" encoding="UTF-8" standalone="yes"?>
<Relationships xmlns="http://schemas.openxmlformats.org/package/2006/relationships"><Relationship Id="rId11" Type="http://schemas.openxmlformats.org/officeDocument/2006/relationships/slideLayout" Target="../slideLayouts/slideLayout11.xml"/><Relationship Id="rId12" Type="http://schemas.openxmlformats.org/officeDocument/2006/relationships/theme" Target="../theme/theme1.xml"/><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6BFECD78-3C8E-49F2-8FAB-59489D168ABB}" type="datetimeFigureOut">
              <a:rPr lang="en-US" smtClean="0"/>
              <a:t>8/15/12</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0FB56013-B943-42BA-886F-6F9D4EB85E9D}" type="slidenum">
              <a:rPr lang="en-US" smtClean="0"/>
              <a:t>‹#›</a:t>
            </a:fld>
            <a:endParaRPr lang="en-US"/>
          </a:p>
        </p:txBody>
      </p:sp>
    </p:spTree>
    <p:extLst>
      <p:ext uri="{BB962C8B-B14F-4D97-AF65-F5344CB8AC3E}">
        <p14:creationId xmlns:p14="http://schemas.microsoft.com/office/powerpoint/2010/main" val="1261573400"/>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gif"/><Relationship Id="rId4" Type="http://schemas.openxmlformats.org/officeDocument/2006/relationships/image" Target="../media/image2.png"/><Relationship Id="rId5" Type="http://schemas.openxmlformats.org/officeDocument/2006/relationships/image" Target="../media/image3.png"/><Relationship Id="rId1" Type="http://schemas.openxmlformats.org/officeDocument/2006/relationships/slideLayout" Target="../slideLayouts/slideLayout2.xml"/><Relationship Id="rId2" Type="http://schemas.openxmlformats.org/officeDocument/2006/relationships/hyperlink" Target="http://prediccs.sr.unh.edu/" TargetMode="External"/></Relationships>
</file>

<file path=ppt/slides/_rels/slide2.xml.rels><?xml version="1.0" encoding="UTF-8" standalone="yes"?>
<Relationships xmlns="http://schemas.openxmlformats.org/package/2006/relationships"><Relationship Id="rId3" Type="http://schemas.openxmlformats.org/officeDocument/2006/relationships/hyperlink" Target="http://prediccs.sr.unh.edu/" TargetMode="External"/><Relationship Id="rId4" Type="http://schemas.openxmlformats.org/officeDocument/2006/relationships/image" Target="../media/image4.png"/><Relationship Id="rId5" Type="http://schemas.openxmlformats.org/officeDocument/2006/relationships/image" Target="../media/image3.png"/><Relationship Id="rId1" Type="http://schemas.openxmlformats.org/officeDocument/2006/relationships/slideLayout" Target="../slideLayouts/slideLayout2.xml"/><Relationship Id="rId2" Type="http://schemas.openxmlformats.org/officeDocument/2006/relationships/image" Target="../media/image1.gif"/></Relationships>
</file>

<file path=ppt/slides/_rels/slide3.xml.rels><?xml version="1.0" encoding="UTF-8" standalone="yes"?>
<Relationships xmlns="http://schemas.openxmlformats.org/package/2006/relationships"><Relationship Id="rId3" Type="http://schemas.openxmlformats.org/officeDocument/2006/relationships/image" Target="../media/image5.png"/><Relationship Id="rId4" Type="http://schemas.openxmlformats.org/officeDocument/2006/relationships/image" Target="../media/image6.png"/><Relationship Id="rId5" Type="http://schemas.openxmlformats.org/officeDocument/2006/relationships/image" Target="../media/image7.png"/><Relationship Id="rId1" Type="http://schemas.openxmlformats.org/officeDocument/2006/relationships/slideLayout" Target="../slideLayouts/slideLayout2.xml"/><Relationship Id="rId2" Type="http://schemas.openxmlformats.org/officeDocument/2006/relationships/image" Target="../media/image1.gif"/></Relationships>
</file>

<file path=ppt/slides/_rels/slide4.xml.rels><?xml version="1.0" encoding="UTF-8" standalone="yes"?>
<Relationships xmlns="http://schemas.openxmlformats.org/package/2006/relationships"><Relationship Id="rId3" Type="http://schemas.openxmlformats.org/officeDocument/2006/relationships/image" Target="../media/image9.jpeg"/><Relationship Id="rId4" Type="http://schemas.openxmlformats.org/officeDocument/2006/relationships/image" Target="../media/image10.png"/><Relationship Id="rId5" Type="http://schemas.openxmlformats.org/officeDocument/2006/relationships/image" Target="../media/image11.emf"/><Relationship Id="rId6" Type="http://schemas.openxmlformats.org/officeDocument/2006/relationships/image" Target="../media/image12.emf"/><Relationship Id="rId7" Type="http://schemas.openxmlformats.org/officeDocument/2006/relationships/image" Target="../media/image1.gif"/><Relationship Id="rId1" Type="http://schemas.openxmlformats.org/officeDocument/2006/relationships/slideLayout" Target="../slideLayouts/slideLayout1.xml"/><Relationship Id="rId2" Type="http://schemas.openxmlformats.org/officeDocument/2006/relationships/image" Target="../media/image8.png"/></Relationships>
</file>

<file path=ppt/slides/_rels/slide5.xml.rels><?xml version="1.0" encoding="UTF-8" standalone="yes"?>
<Relationships xmlns="http://schemas.openxmlformats.org/package/2006/relationships"><Relationship Id="rId3" Type="http://schemas.openxmlformats.org/officeDocument/2006/relationships/image" Target="../media/image13.png"/><Relationship Id="rId4" Type="http://schemas.openxmlformats.org/officeDocument/2006/relationships/image" Target="../media/image14.png"/><Relationship Id="rId1" Type="http://schemas.openxmlformats.org/officeDocument/2006/relationships/slideLayout" Target="../slideLayouts/slideLayout4.xml"/><Relationship Id="rId2" Type="http://schemas.openxmlformats.org/officeDocument/2006/relationships/notesSlide" Target="../notesSlides/notesSlide1.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image" Target="../media/image15.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image" Target="../media/image16.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image" Target="../media/image17.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1.gif"/></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Rectangle 9"/>
          <p:cNvSpPr/>
          <p:nvPr/>
        </p:nvSpPr>
        <p:spPr>
          <a:xfrm>
            <a:off x="0" y="0"/>
            <a:ext cx="9144000" cy="6858000"/>
          </a:xfrm>
          <a:prstGeom prst="rect">
            <a:avLst/>
          </a:prstGeom>
          <a:solidFill>
            <a:schemeClr val="tx1"/>
          </a:solidFill>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2" name="Title 1"/>
          <p:cNvSpPr>
            <a:spLocks noGrp="1"/>
          </p:cNvSpPr>
          <p:nvPr>
            <p:ph type="title"/>
          </p:nvPr>
        </p:nvSpPr>
        <p:spPr/>
        <p:txBody>
          <a:bodyPr/>
          <a:lstStyle/>
          <a:p>
            <a:endParaRPr lang="en-US"/>
          </a:p>
        </p:txBody>
      </p:sp>
      <p:sp>
        <p:nvSpPr>
          <p:cNvPr id="3" name="Content Placeholder 2"/>
          <p:cNvSpPr>
            <a:spLocks noGrp="1"/>
          </p:cNvSpPr>
          <p:nvPr>
            <p:ph idx="1"/>
          </p:nvPr>
        </p:nvSpPr>
        <p:spPr>
          <a:xfrm>
            <a:off x="0" y="1694517"/>
            <a:ext cx="3291674" cy="5163483"/>
          </a:xfrm>
        </p:spPr>
        <p:txBody>
          <a:bodyPr>
            <a:normAutofit fontScale="70000" lnSpcReduction="20000"/>
          </a:bodyPr>
          <a:lstStyle/>
          <a:p>
            <a:r>
              <a:rPr lang="en-US" dirty="0" smtClean="0">
                <a:solidFill>
                  <a:srgbClr val="FFFFFF"/>
                </a:solidFill>
              </a:rPr>
              <a:t>System for Radiation Environment characterization (fluxes, doses, dose equivalents at Earth, Moon and Mars) on hourly thru yearly time frame</a:t>
            </a:r>
          </a:p>
          <a:p>
            <a:r>
              <a:rPr lang="en-US" dirty="0" smtClean="0">
                <a:solidFill>
                  <a:srgbClr val="FFFFFF"/>
                </a:solidFill>
              </a:rPr>
              <a:t>Example: Snapshots of Current Yearly Doses at Earth and Mars</a:t>
            </a:r>
          </a:p>
          <a:p>
            <a:r>
              <a:rPr lang="en-US" dirty="0" smtClean="0">
                <a:solidFill>
                  <a:srgbClr val="FFFFFF"/>
                </a:solidFill>
              </a:rPr>
              <a:t>Note: Exceeding 1-yr Free Space Dose Limits at Earth and Moon for &lt; 1 g/cm</a:t>
            </a:r>
            <a:r>
              <a:rPr lang="en-US" baseline="30000" dirty="0" smtClean="0">
                <a:solidFill>
                  <a:srgbClr val="FFFFFF"/>
                </a:solidFill>
              </a:rPr>
              <a:t>2</a:t>
            </a:r>
            <a:r>
              <a:rPr lang="en-US" dirty="0" smtClean="0">
                <a:solidFill>
                  <a:srgbClr val="FFFFFF"/>
                </a:solidFill>
              </a:rPr>
              <a:t> Al Shielding</a:t>
            </a:r>
          </a:p>
          <a:p>
            <a:r>
              <a:rPr lang="en-US" dirty="0" smtClean="0">
                <a:solidFill>
                  <a:srgbClr val="FFFFFF"/>
                </a:solidFill>
              </a:rPr>
              <a:t>See more </a:t>
            </a:r>
            <a:r>
              <a:rPr lang="en-US" dirty="0">
                <a:solidFill>
                  <a:srgbClr val="FFFFFF"/>
                </a:solidFill>
              </a:rPr>
              <a:t>at </a:t>
            </a:r>
            <a:r>
              <a:rPr lang="en-US" dirty="0">
                <a:solidFill>
                  <a:srgbClr val="FFFFFF"/>
                </a:solidFill>
                <a:hlinkClick r:id="rId2"/>
              </a:rPr>
              <a:t>http://prediccs.sr.unh.edu</a:t>
            </a:r>
            <a:r>
              <a:rPr lang="en-US" dirty="0" smtClean="0">
                <a:solidFill>
                  <a:srgbClr val="FFFFFF"/>
                </a:solidFill>
                <a:hlinkClick r:id="rId2"/>
              </a:rPr>
              <a:t>/</a:t>
            </a:r>
            <a:endParaRPr lang="en-US" dirty="0" smtClean="0">
              <a:solidFill>
                <a:srgbClr val="FFFFFF"/>
              </a:solidFill>
            </a:endParaRPr>
          </a:p>
          <a:p>
            <a:pPr marL="0" indent="0">
              <a:buNone/>
            </a:pPr>
            <a:endParaRPr lang="en-US" dirty="0">
              <a:solidFill>
                <a:srgbClr val="FFFFFF"/>
              </a:solidFill>
            </a:endParaRPr>
          </a:p>
        </p:txBody>
      </p:sp>
      <p:pic>
        <p:nvPicPr>
          <p:cNvPr id="4" name="Picture 3" descr="banner.gif"/>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16963" y="43350"/>
            <a:ext cx="8910074" cy="1651167"/>
          </a:xfrm>
          <a:prstGeom prst="rect">
            <a:avLst/>
          </a:prstGeom>
        </p:spPr>
      </p:pic>
      <p:pic>
        <p:nvPicPr>
          <p:cNvPr id="7" name="Picture 6" descr="366daysEarthDataAccumulated.png"/>
          <p:cNvPicPr>
            <a:picLocks noChangeAspect="1"/>
          </p:cNvPicPr>
          <p:nvPr/>
        </p:nvPicPr>
        <p:blipFill rotWithShape="1">
          <a:blip r:embed="rId4">
            <a:extLst>
              <a:ext uri="{28A0092B-C50C-407E-A947-70E740481C1C}">
                <a14:useLocalDpi xmlns:a14="http://schemas.microsoft.com/office/drawing/2010/main" val="0"/>
              </a:ext>
            </a:extLst>
          </a:blip>
          <a:srcRect t="7810" r="8309"/>
          <a:stretch/>
        </p:blipFill>
        <p:spPr>
          <a:xfrm>
            <a:off x="3291674" y="1694517"/>
            <a:ext cx="5735363" cy="5163483"/>
          </a:xfrm>
          <a:prstGeom prst="rect">
            <a:avLst/>
          </a:prstGeom>
        </p:spPr>
      </p:pic>
      <p:pic>
        <p:nvPicPr>
          <p:cNvPr id="8" name="Picture 7" descr="legend-2.png"/>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5714478" y="4008386"/>
            <a:ext cx="3128760" cy="1546933"/>
          </a:xfrm>
          <a:prstGeom prst="rect">
            <a:avLst/>
          </a:prstGeom>
        </p:spPr>
      </p:pic>
      <p:sp>
        <p:nvSpPr>
          <p:cNvPr id="9" name="TextBox 8"/>
          <p:cNvSpPr txBox="1"/>
          <p:nvPr/>
        </p:nvSpPr>
        <p:spPr>
          <a:xfrm>
            <a:off x="4361049" y="1870014"/>
            <a:ext cx="4296819" cy="523220"/>
          </a:xfrm>
          <a:prstGeom prst="rect">
            <a:avLst/>
          </a:prstGeom>
          <a:noFill/>
        </p:spPr>
        <p:txBody>
          <a:bodyPr wrap="none" rtlCol="0">
            <a:spAutoFit/>
          </a:bodyPr>
          <a:lstStyle/>
          <a:p>
            <a:r>
              <a:rPr lang="en-US" sz="2800" b="1" dirty="0" smtClean="0">
                <a:solidFill>
                  <a:srgbClr val="0000FF"/>
                </a:solidFill>
              </a:rPr>
              <a:t>Free Space Dose Near Earth</a:t>
            </a:r>
            <a:endParaRPr lang="en-US" sz="2800" b="1" dirty="0">
              <a:solidFill>
                <a:srgbClr val="0000FF"/>
              </a:solidFill>
            </a:endParaRPr>
          </a:p>
        </p:txBody>
      </p:sp>
    </p:spTree>
    <p:extLst>
      <p:ext uri="{BB962C8B-B14F-4D97-AF65-F5344CB8AC3E}">
        <p14:creationId xmlns:p14="http://schemas.microsoft.com/office/powerpoint/2010/main" val="887501025"/>
      </p:ext>
    </p:extLst>
  </p:cSld>
  <p:clrMapOvr>
    <a:masterClrMapping/>
  </p:clrMapOvr>
  <p:timing>
    <p:tnLst>
      <p:par>
        <p:cTn xmlns:p14="http://schemas.microsoft.com/office/powerpoint/2010/mai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Rectangle 8"/>
          <p:cNvSpPr/>
          <p:nvPr/>
        </p:nvSpPr>
        <p:spPr>
          <a:xfrm>
            <a:off x="0" y="0"/>
            <a:ext cx="9144000" cy="6858000"/>
          </a:xfrm>
          <a:prstGeom prst="rect">
            <a:avLst/>
          </a:prstGeom>
          <a:solidFill>
            <a:schemeClr val="tx1"/>
          </a:solidFill>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2" name="Title 1"/>
          <p:cNvSpPr>
            <a:spLocks noGrp="1"/>
          </p:cNvSpPr>
          <p:nvPr>
            <p:ph type="title"/>
          </p:nvPr>
        </p:nvSpPr>
        <p:spPr/>
        <p:txBody>
          <a:bodyPr/>
          <a:lstStyle/>
          <a:p>
            <a:endParaRPr lang="en-US"/>
          </a:p>
        </p:txBody>
      </p:sp>
      <p:pic>
        <p:nvPicPr>
          <p:cNvPr id="4" name="Picture 3" descr="banner.gif"/>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16963" y="43350"/>
            <a:ext cx="8910074" cy="1651167"/>
          </a:xfrm>
          <a:prstGeom prst="rect">
            <a:avLst/>
          </a:prstGeom>
        </p:spPr>
      </p:pic>
      <p:sp>
        <p:nvSpPr>
          <p:cNvPr id="5" name="Content Placeholder 2"/>
          <p:cNvSpPr txBox="1">
            <a:spLocks/>
          </p:cNvSpPr>
          <p:nvPr/>
        </p:nvSpPr>
        <p:spPr>
          <a:xfrm>
            <a:off x="0" y="1694517"/>
            <a:ext cx="3291674" cy="5163483"/>
          </a:xfrm>
          <a:prstGeom prst="rect">
            <a:avLst/>
          </a:prstGeom>
        </p:spPr>
        <p:txBody>
          <a:bodyPr vert="horz" lIns="91440" tIns="45720" rIns="91440" bIns="45720" rtlCol="0">
            <a:normAutofit/>
          </a:bodyPr>
          <a:lst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r>
              <a:rPr lang="en-US" dirty="0" smtClean="0">
                <a:solidFill>
                  <a:srgbClr val="FFFFFF"/>
                </a:solidFill>
              </a:rPr>
              <a:t>Approaching 1-yr Free Space Dose Limits at Mars</a:t>
            </a:r>
          </a:p>
          <a:p>
            <a:r>
              <a:rPr lang="en-US" dirty="0" smtClean="0">
                <a:solidFill>
                  <a:srgbClr val="FFFFFF"/>
                </a:solidFill>
              </a:rPr>
              <a:t>See more at </a:t>
            </a:r>
            <a:r>
              <a:rPr lang="en-US" dirty="0" smtClean="0">
                <a:solidFill>
                  <a:srgbClr val="FFFFFF"/>
                </a:solidFill>
                <a:hlinkClick r:id="rId3"/>
              </a:rPr>
              <a:t>http://prediccs.sr.unh.edu/</a:t>
            </a:r>
            <a:endParaRPr lang="en-US" dirty="0" smtClean="0">
              <a:solidFill>
                <a:srgbClr val="FFFFFF"/>
              </a:solidFill>
            </a:endParaRPr>
          </a:p>
          <a:p>
            <a:pPr marL="0" indent="0">
              <a:buFont typeface="Arial" pitchFamily="34" charset="0"/>
              <a:buNone/>
            </a:pPr>
            <a:endParaRPr lang="en-US" dirty="0">
              <a:solidFill>
                <a:srgbClr val="FFFFFF"/>
              </a:solidFill>
            </a:endParaRPr>
          </a:p>
        </p:txBody>
      </p:sp>
      <p:pic>
        <p:nvPicPr>
          <p:cNvPr id="6" name="Picture 5" descr="366daysMarsAccumulated.png"/>
          <p:cNvPicPr>
            <a:picLocks noChangeAspect="1"/>
          </p:cNvPicPr>
          <p:nvPr/>
        </p:nvPicPr>
        <p:blipFill rotWithShape="1">
          <a:blip r:embed="rId4">
            <a:extLst>
              <a:ext uri="{28A0092B-C50C-407E-A947-70E740481C1C}">
                <a14:useLocalDpi xmlns:a14="http://schemas.microsoft.com/office/drawing/2010/main" val="0"/>
              </a:ext>
            </a:extLst>
          </a:blip>
          <a:srcRect t="8322" r="7809"/>
          <a:stretch/>
        </p:blipFill>
        <p:spPr>
          <a:xfrm>
            <a:off x="3289479" y="1694517"/>
            <a:ext cx="5696068" cy="4939966"/>
          </a:xfrm>
          <a:prstGeom prst="rect">
            <a:avLst/>
          </a:prstGeom>
        </p:spPr>
      </p:pic>
      <p:pic>
        <p:nvPicPr>
          <p:cNvPr id="7" name="Picture 6" descr="legend-2.png"/>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5697769" y="3874690"/>
            <a:ext cx="3128760" cy="1546933"/>
          </a:xfrm>
          <a:prstGeom prst="rect">
            <a:avLst/>
          </a:prstGeom>
        </p:spPr>
      </p:pic>
      <p:sp>
        <p:nvSpPr>
          <p:cNvPr id="8" name="TextBox 7"/>
          <p:cNvSpPr txBox="1"/>
          <p:nvPr/>
        </p:nvSpPr>
        <p:spPr>
          <a:xfrm>
            <a:off x="4361049" y="1870014"/>
            <a:ext cx="4261578" cy="523220"/>
          </a:xfrm>
          <a:prstGeom prst="rect">
            <a:avLst/>
          </a:prstGeom>
          <a:noFill/>
        </p:spPr>
        <p:txBody>
          <a:bodyPr wrap="none" rtlCol="0">
            <a:spAutoFit/>
          </a:bodyPr>
          <a:lstStyle/>
          <a:p>
            <a:r>
              <a:rPr lang="en-US" sz="2800" b="1" dirty="0" smtClean="0">
                <a:solidFill>
                  <a:srgbClr val="FF0000"/>
                </a:solidFill>
              </a:rPr>
              <a:t>Free Space Dose Near Mars</a:t>
            </a:r>
            <a:endParaRPr lang="en-US" sz="2800" b="1" dirty="0">
              <a:solidFill>
                <a:srgbClr val="FF0000"/>
              </a:solidFill>
            </a:endParaRPr>
          </a:p>
        </p:txBody>
      </p:sp>
    </p:spTree>
    <p:extLst>
      <p:ext uri="{BB962C8B-B14F-4D97-AF65-F5344CB8AC3E}">
        <p14:creationId xmlns:p14="http://schemas.microsoft.com/office/powerpoint/2010/main" val="877010963"/>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 name="Rectangle 11"/>
          <p:cNvSpPr/>
          <p:nvPr/>
        </p:nvSpPr>
        <p:spPr>
          <a:xfrm>
            <a:off x="0" y="0"/>
            <a:ext cx="9144000" cy="6858000"/>
          </a:xfrm>
          <a:prstGeom prst="rect">
            <a:avLst/>
          </a:prstGeom>
          <a:solidFill>
            <a:schemeClr val="tx1"/>
          </a:solidFill>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2" name="Title 1"/>
          <p:cNvSpPr>
            <a:spLocks noGrp="1"/>
          </p:cNvSpPr>
          <p:nvPr>
            <p:ph type="title"/>
          </p:nvPr>
        </p:nvSpPr>
        <p:spPr/>
        <p:txBody>
          <a:bodyPr/>
          <a:lstStyle/>
          <a:p>
            <a:endParaRPr lang="en-US" dirty="0"/>
          </a:p>
        </p:txBody>
      </p:sp>
      <p:pic>
        <p:nvPicPr>
          <p:cNvPr id="4" name="Picture 3" descr="banner.gif"/>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16963" y="43350"/>
            <a:ext cx="8910074" cy="1651167"/>
          </a:xfrm>
          <a:prstGeom prst="rect">
            <a:avLst/>
          </a:prstGeom>
        </p:spPr>
      </p:pic>
      <p:sp>
        <p:nvSpPr>
          <p:cNvPr id="5" name="Content Placeholder 2"/>
          <p:cNvSpPr txBox="1">
            <a:spLocks/>
          </p:cNvSpPr>
          <p:nvPr/>
        </p:nvSpPr>
        <p:spPr>
          <a:xfrm>
            <a:off x="1" y="1694517"/>
            <a:ext cx="3408636" cy="5163483"/>
          </a:xfrm>
          <a:prstGeom prst="rect">
            <a:avLst/>
          </a:prstGeom>
        </p:spPr>
        <p:txBody>
          <a:bodyPr vert="horz" lIns="91440" tIns="45720" rIns="91440" bIns="45720" rtlCol="0">
            <a:normAutofit fontScale="92500" lnSpcReduction="10000"/>
          </a:bodyPr>
          <a:lst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r>
              <a:rPr lang="en-US" dirty="0" smtClean="0">
                <a:solidFill>
                  <a:srgbClr val="FFFFFF"/>
                </a:solidFill>
              </a:rPr>
              <a:t>Hourly updates (Earth, Moon, Mars) give time-critical updates on space radiation at Earth, Moon &amp; Mars </a:t>
            </a:r>
          </a:p>
          <a:p>
            <a:r>
              <a:rPr lang="en-US" dirty="0" smtClean="0">
                <a:solidFill>
                  <a:srgbClr val="FFFFFF"/>
                </a:solidFill>
              </a:rPr>
              <a:t>Shown Here recent 7/12 and 7/15 events at Moon and Mars</a:t>
            </a:r>
          </a:p>
          <a:p>
            <a:pPr marL="0" indent="0">
              <a:buFont typeface="Arial" pitchFamily="34" charset="0"/>
              <a:buNone/>
            </a:pPr>
            <a:endParaRPr lang="en-US" dirty="0">
              <a:solidFill>
                <a:srgbClr val="FFFFFF"/>
              </a:solidFill>
            </a:endParaRPr>
          </a:p>
        </p:txBody>
      </p:sp>
      <p:pic>
        <p:nvPicPr>
          <p:cNvPr id="9" name="Picture 8" descr="5daysMarsFluxes.png"/>
          <p:cNvPicPr>
            <a:picLocks noChangeAspect="1"/>
          </p:cNvPicPr>
          <p:nvPr/>
        </p:nvPicPr>
        <p:blipFill rotWithShape="1">
          <a:blip r:embed="rId3">
            <a:extLst>
              <a:ext uri="{28A0092B-C50C-407E-A947-70E740481C1C}">
                <a14:useLocalDpi xmlns:a14="http://schemas.microsoft.com/office/drawing/2010/main" val="0"/>
              </a:ext>
            </a:extLst>
          </a:blip>
          <a:srcRect t="8425" r="9147"/>
          <a:stretch/>
        </p:blipFill>
        <p:spPr>
          <a:xfrm>
            <a:off x="3517025" y="3247706"/>
            <a:ext cx="5069522" cy="3576876"/>
          </a:xfrm>
          <a:prstGeom prst="rect">
            <a:avLst/>
          </a:prstGeom>
        </p:spPr>
      </p:pic>
      <p:pic>
        <p:nvPicPr>
          <p:cNvPr id="8" name="Picture 7" descr="5daysEarthFluxes.png"/>
          <p:cNvPicPr>
            <a:picLocks noChangeAspect="1"/>
          </p:cNvPicPr>
          <p:nvPr/>
        </p:nvPicPr>
        <p:blipFill rotWithShape="1">
          <a:blip r:embed="rId4">
            <a:extLst>
              <a:ext uri="{28A0092B-C50C-407E-A947-70E740481C1C}">
                <a14:useLocalDpi xmlns:a14="http://schemas.microsoft.com/office/drawing/2010/main" val="0"/>
              </a:ext>
            </a:extLst>
          </a:blip>
          <a:srcRect t="7718" r="7858"/>
          <a:stretch/>
        </p:blipFill>
        <p:spPr>
          <a:xfrm>
            <a:off x="3517024" y="317528"/>
            <a:ext cx="5069522" cy="3554042"/>
          </a:xfrm>
          <a:prstGeom prst="rect">
            <a:avLst/>
          </a:prstGeom>
        </p:spPr>
      </p:pic>
      <p:pic>
        <p:nvPicPr>
          <p:cNvPr id="6" name="Picture 5" descr="legendFluxes-1.png"/>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6429816" y="-50152"/>
            <a:ext cx="2714184" cy="1270469"/>
          </a:xfrm>
          <a:prstGeom prst="rect">
            <a:avLst/>
          </a:prstGeom>
        </p:spPr>
      </p:pic>
      <p:sp>
        <p:nvSpPr>
          <p:cNvPr id="10" name="TextBox 9"/>
          <p:cNvSpPr txBox="1"/>
          <p:nvPr/>
        </p:nvSpPr>
        <p:spPr>
          <a:xfrm>
            <a:off x="4177250" y="349272"/>
            <a:ext cx="2489641" cy="954107"/>
          </a:xfrm>
          <a:prstGeom prst="rect">
            <a:avLst/>
          </a:prstGeom>
          <a:noFill/>
        </p:spPr>
        <p:txBody>
          <a:bodyPr wrap="square" rtlCol="0">
            <a:spAutoFit/>
          </a:bodyPr>
          <a:lstStyle/>
          <a:p>
            <a:r>
              <a:rPr lang="en-US" sz="2800" b="1" dirty="0" smtClean="0">
                <a:solidFill>
                  <a:schemeClr val="tx1">
                    <a:lumMod val="50000"/>
                  </a:schemeClr>
                </a:solidFill>
              </a:rPr>
              <a:t>Fluxes Near Moon</a:t>
            </a:r>
            <a:endParaRPr lang="en-US" sz="2800" b="1" dirty="0">
              <a:solidFill>
                <a:schemeClr val="tx1">
                  <a:lumMod val="50000"/>
                </a:schemeClr>
              </a:solidFill>
            </a:endParaRPr>
          </a:p>
        </p:txBody>
      </p:sp>
      <p:sp>
        <p:nvSpPr>
          <p:cNvPr id="11" name="TextBox 10"/>
          <p:cNvSpPr txBox="1"/>
          <p:nvPr/>
        </p:nvSpPr>
        <p:spPr>
          <a:xfrm>
            <a:off x="4057138" y="3610018"/>
            <a:ext cx="2489641" cy="954107"/>
          </a:xfrm>
          <a:prstGeom prst="rect">
            <a:avLst/>
          </a:prstGeom>
          <a:noFill/>
        </p:spPr>
        <p:txBody>
          <a:bodyPr wrap="square" rtlCol="0">
            <a:spAutoFit/>
          </a:bodyPr>
          <a:lstStyle/>
          <a:p>
            <a:r>
              <a:rPr lang="en-US" sz="2800" b="1" dirty="0" smtClean="0">
                <a:solidFill>
                  <a:srgbClr val="FF0000"/>
                </a:solidFill>
              </a:rPr>
              <a:t>Fluxes Near Mars</a:t>
            </a:r>
            <a:endParaRPr lang="en-US" sz="2800" b="1" dirty="0">
              <a:solidFill>
                <a:srgbClr val="FF0000"/>
              </a:solidFill>
            </a:endParaRPr>
          </a:p>
        </p:txBody>
      </p:sp>
    </p:spTree>
    <p:extLst>
      <p:ext uri="{BB962C8B-B14F-4D97-AF65-F5344CB8AC3E}">
        <p14:creationId xmlns:p14="http://schemas.microsoft.com/office/powerpoint/2010/main" val="275377453"/>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 name="Rectangle 26"/>
          <p:cNvSpPr/>
          <p:nvPr/>
        </p:nvSpPr>
        <p:spPr>
          <a:xfrm>
            <a:off x="0" y="0"/>
            <a:ext cx="9144000" cy="883227"/>
          </a:xfrm>
          <a:prstGeom prst="rect">
            <a:avLst/>
          </a:prstGeom>
          <a:solidFill>
            <a:schemeClr val="bg1">
              <a:lumMod val="6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lIns="91429" tIns="45715" rIns="91429" bIns="45715" spcCol="0" rtlCol="0" anchor="ctr"/>
          <a:lstStyle/>
          <a:p>
            <a:pPr algn="ctr"/>
            <a:endParaRPr lang="en-US" sz="3200" dirty="0"/>
          </a:p>
        </p:txBody>
      </p:sp>
      <p:sp>
        <p:nvSpPr>
          <p:cNvPr id="1024" name="Rectangle 1023"/>
          <p:cNvSpPr/>
          <p:nvPr/>
        </p:nvSpPr>
        <p:spPr>
          <a:xfrm>
            <a:off x="4485173" y="0"/>
            <a:ext cx="2865887" cy="954097"/>
          </a:xfrm>
          <a:prstGeom prst="rect">
            <a:avLst/>
          </a:prstGeom>
        </p:spPr>
        <p:txBody>
          <a:bodyPr wrap="square" lIns="91429" tIns="45715" rIns="91429" bIns="45715">
            <a:spAutoFit/>
          </a:bodyPr>
          <a:lstStyle/>
          <a:p>
            <a:pPr algn="ctr"/>
            <a:r>
              <a:rPr lang="en-US" sz="2800" b="1" dirty="0" smtClean="0">
                <a:solidFill>
                  <a:schemeClr val="bg1"/>
                </a:solidFill>
                <a:ea typeface="ヒラギノ角ゴ Pro W3" pitchFamily="-110" charset="-128"/>
              </a:rPr>
              <a:t>Validation with </a:t>
            </a:r>
            <a:r>
              <a:rPr lang="en-US" sz="2800" b="1" dirty="0" err="1" smtClean="0">
                <a:solidFill>
                  <a:schemeClr val="bg1"/>
                </a:solidFill>
                <a:ea typeface="ヒラギノ角ゴ Pro W3" pitchFamily="-110" charset="-128"/>
              </a:rPr>
              <a:t>CRaTER</a:t>
            </a:r>
            <a:r>
              <a:rPr lang="en-US" sz="2800" b="1" dirty="0" smtClean="0">
                <a:solidFill>
                  <a:schemeClr val="bg1"/>
                </a:solidFill>
                <a:ea typeface="ヒラギノ角ゴ Pro W3" pitchFamily="-110" charset="-128"/>
              </a:rPr>
              <a:t>!</a:t>
            </a:r>
            <a:endParaRPr lang="en-US" sz="2800" b="1" dirty="0">
              <a:solidFill>
                <a:schemeClr val="bg1"/>
              </a:solidFill>
              <a:ea typeface="ヒラギノ角ゴ Pro W3" pitchFamily="-110" charset="-128"/>
            </a:endParaRPr>
          </a:p>
        </p:txBody>
      </p:sp>
      <p:sp>
        <p:nvSpPr>
          <p:cNvPr id="26" name="TextBox 12"/>
          <p:cNvSpPr txBox="1">
            <a:spLocks noChangeArrowheads="1"/>
          </p:cNvSpPr>
          <p:nvPr/>
        </p:nvSpPr>
        <p:spPr bwMode="auto">
          <a:xfrm>
            <a:off x="173902" y="1113367"/>
            <a:ext cx="4697505" cy="2754462"/>
          </a:xfrm>
          <a:prstGeom prst="rect">
            <a:avLst/>
          </a:prstGeom>
          <a:noFill/>
          <a:ln w="9525">
            <a:noFill/>
            <a:miter lim="800000"/>
            <a:headEnd/>
            <a:tailEnd/>
          </a:ln>
        </p:spPr>
        <p:txBody>
          <a:bodyPr wrap="square" lIns="91429" tIns="45715" rIns="91429" bIns="45715">
            <a:spAutoFit/>
          </a:bodyPr>
          <a:lstStyle/>
          <a:p>
            <a:pPr>
              <a:spcAft>
                <a:spcPts val="599"/>
              </a:spcAft>
            </a:pPr>
            <a:r>
              <a:rPr lang="en-US" sz="2400" b="1" dirty="0" smtClean="0">
                <a:solidFill>
                  <a:srgbClr val="2B50A0"/>
                </a:solidFill>
                <a:ea typeface="ヒラギノ角ゴ Pro W3" pitchFamily="-110" charset="-128"/>
              </a:rPr>
              <a:t>SEP Events During 2012: Indicators of Larger SEP Events in the New Cycle (24)</a:t>
            </a:r>
            <a:endParaRPr lang="en-US" sz="1600" b="1" dirty="0">
              <a:solidFill>
                <a:srgbClr val="2B50A0"/>
              </a:solidFill>
              <a:ea typeface="ヒラギノ角ゴ Pro W3" pitchFamily="-110" charset="-128"/>
            </a:endParaRPr>
          </a:p>
          <a:p>
            <a:pPr marL="285750" indent="-285750">
              <a:buFont typeface="Arial"/>
              <a:buChar char="•"/>
            </a:pPr>
            <a:r>
              <a:rPr lang="en-US" sz="1600" b="1" dirty="0" smtClean="0"/>
              <a:t>Shown here are the major SEP events of 2012</a:t>
            </a:r>
            <a:r>
              <a:rPr lang="en-US" sz="1600" b="1" dirty="0"/>
              <a:t> </a:t>
            </a:r>
            <a:r>
              <a:rPr lang="en-US" sz="1600" b="1" dirty="0" smtClean="0"/>
              <a:t>and the comparisons between </a:t>
            </a:r>
            <a:r>
              <a:rPr lang="en-US" sz="1600" b="1" dirty="0" err="1" smtClean="0"/>
              <a:t>CRaTER</a:t>
            </a:r>
            <a:r>
              <a:rPr lang="en-US" sz="1600" b="1" dirty="0" smtClean="0"/>
              <a:t> observations (blue) and </a:t>
            </a:r>
            <a:r>
              <a:rPr lang="en-US" sz="1600" b="1" dirty="0" err="1" smtClean="0"/>
              <a:t>prediccs</a:t>
            </a:r>
            <a:r>
              <a:rPr lang="en-US" sz="1600" b="1" dirty="0" smtClean="0"/>
              <a:t> predictions (red and green). </a:t>
            </a:r>
          </a:p>
          <a:p>
            <a:pPr marL="285750" indent="-285750">
              <a:buFont typeface="Arial"/>
              <a:buChar char="•"/>
            </a:pPr>
            <a:r>
              <a:rPr lang="en-US" sz="1600" b="1" dirty="0" smtClean="0"/>
              <a:t>Agreement reveals overall accuracy of models, while deviations likely reveal heavy ion contributions to dose observed by </a:t>
            </a:r>
            <a:r>
              <a:rPr lang="en-US" sz="1600" b="1" dirty="0" err="1" smtClean="0"/>
              <a:t>CRaTER</a:t>
            </a:r>
            <a:r>
              <a:rPr lang="en-US" sz="1600" b="1" dirty="0" smtClean="0"/>
              <a:t>  </a:t>
            </a:r>
            <a:endParaRPr lang="en-US" sz="1600" dirty="0"/>
          </a:p>
        </p:txBody>
      </p:sp>
      <p:pic>
        <p:nvPicPr>
          <p:cNvPr id="1026" name="Picture 2" descr="C:\Users\tonycase\Pictures\LogosAndSuch\CRaTER_Logo_Transparent.png"/>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7450545" y="921402"/>
            <a:ext cx="1529793" cy="758094"/>
          </a:xfrm>
          <a:prstGeom prst="rect">
            <a:avLst/>
          </a:prstGeom>
          <a:noFill/>
          <a:extLst>
            <a:ext uri="{909E8E84-426E-40dd-AFC4-6F175D3DCCD1}">
              <a14:hiddenFill xmlns:a14="http://schemas.microsoft.com/office/drawing/2010/main">
                <a:solidFill>
                  <a:srgbClr val="FFFFFF"/>
                </a:solidFill>
              </a14:hiddenFill>
            </a:ext>
          </a:extLst>
        </p:spPr>
      </p:pic>
      <p:grpSp>
        <p:nvGrpSpPr>
          <p:cNvPr id="13" name="Group 12"/>
          <p:cNvGrpSpPr/>
          <p:nvPr/>
        </p:nvGrpSpPr>
        <p:grpSpPr>
          <a:xfrm>
            <a:off x="7525677" y="27109"/>
            <a:ext cx="1453062" cy="864200"/>
            <a:chOff x="3797140" y="-107576"/>
            <a:chExt cx="5024131" cy="5155880"/>
          </a:xfrm>
        </p:grpSpPr>
        <p:sp>
          <p:nvSpPr>
            <p:cNvPr id="14" name="Oval 13"/>
            <p:cNvSpPr/>
            <p:nvPr/>
          </p:nvSpPr>
          <p:spPr>
            <a:xfrm>
              <a:off x="3998259" y="62753"/>
              <a:ext cx="4419600" cy="4419600"/>
            </a:xfrm>
            <a:prstGeom prst="ellips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5" name="Picture 2" descr="http://crater.unh.edu/graphics/gallery/lro_logo_lg.jpg"/>
            <p:cNvPicPr>
              <a:picLocks noChangeAspect="1" noChangeArrowheads="1"/>
            </p:cNvPicPr>
            <p:nvPr/>
          </p:nvPicPr>
          <p:blipFill rotWithShape="1">
            <a:blip r:embed="rId3" cstate="print">
              <a:clrChange>
                <a:clrFrom>
                  <a:srgbClr val="FFFEFD"/>
                </a:clrFrom>
                <a:clrTo>
                  <a:srgbClr val="FFFEFD">
                    <a:alpha val="0"/>
                  </a:srgbClr>
                </a:clrTo>
              </a:clrChange>
              <a:extLst>
                <a:ext uri="{28A0092B-C50C-407E-A947-70E740481C1C}">
                  <a14:useLocalDpi xmlns:a14="http://schemas.microsoft.com/office/drawing/2010/main" val="0"/>
                </a:ext>
              </a:extLst>
            </a:blip>
            <a:srcRect l="7724" t="8727" r="4947" b="1654"/>
            <a:stretch/>
          </p:blipFill>
          <p:spPr bwMode="auto">
            <a:xfrm>
              <a:off x="3797140" y="-107576"/>
              <a:ext cx="5024131" cy="5155880"/>
            </a:xfrm>
            <a:prstGeom prst="rect">
              <a:avLst/>
            </a:prstGeom>
            <a:noFill/>
            <a:ln>
              <a:noFill/>
            </a:ln>
            <a:extLst>
              <a:ext uri="{909E8E84-426E-40dd-AFC4-6F175D3DCCD1}">
                <a14:hiddenFill xmlns:a14="http://schemas.microsoft.com/office/drawing/2010/main">
                  <a:solidFill>
                    <a:srgbClr val="FFFFFF"/>
                  </a:solidFill>
                </a14:hiddenFill>
              </a:ext>
            </a:extLst>
          </p:spPr>
        </p:pic>
      </p:grpSp>
      <p:pic>
        <p:nvPicPr>
          <p:cNvPr id="11" name="Picture 10" descr="sep_pl4.pdf"/>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173902" y="3980944"/>
            <a:ext cx="4148665" cy="2904065"/>
          </a:xfrm>
          <a:prstGeom prst="rect">
            <a:avLst/>
          </a:prstGeom>
        </p:spPr>
      </p:pic>
      <p:sp>
        <p:nvSpPr>
          <p:cNvPr id="2" name="TextBox 1"/>
          <p:cNvSpPr txBox="1"/>
          <p:nvPr/>
        </p:nvSpPr>
        <p:spPr>
          <a:xfrm rot="16200000">
            <a:off x="-909705" y="5022741"/>
            <a:ext cx="2185214" cy="369332"/>
          </a:xfrm>
          <a:prstGeom prst="rect">
            <a:avLst/>
          </a:prstGeom>
          <a:noFill/>
        </p:spPr>
        <p:txBody>
          <a:bodyPr wrap="none" rtlCol="0">
            <a:spAutoFit/>
          </a:bodyPr>
          <a:lstStyle/>
          <a:p>
            <a:r>
              <a:rPr lang="en-US" dirty="0" smtClean="0"/>
              <a:t>Jan. 23</a:t>
            </a:r>
            <a:r>
              <a:rPr lang="en-US" baseline="30000" dirty="0" smtClean="0"/>
              <a:t>rd</a:t>
            </a:r>
            <a:r>
              <a:rPr lang="en-US" dirty="0" smtClean="0"/>
              <a:t> , 2012 Event</a:t>
            </a:r>
            <a:endParaRPr lang="en-US" dirty="0"/>
          </a:p>
        </p:txBody>
      </p:sp>
      <p:sp>
        <p:nvSpPr>
          <p:cNvPr id="16" name="TextBox 15"/>
          <p:cNvSpPr txBox="1"/>
          <p:nvPr/>
        </p:nvSpPr>
        <p:spPr>
          <a:xfrm rot="16200000">
            <a:off x="7842530" y="2950594"/>
            <a:ext cx="1903085" cy="369332"/>
          </a:xfrm>
          <a:prstGeom prst="rect">
            <a:avLst/>
          </a:prstGeom>
          <a:noFill/>
        </p:spPr>
        <p:txBody>
          <a:bodyPr wrap="none" rtlCol="0">
            <a:spAutoFit/>
          </a:bodyPr>
          <a:lstStyle/>
          <a:p>
            <a:r>
              <a:rPr lang="en-US" dirty="0" smtClean="0"/>
              <a:t>Mar 7, 2012 Event</a:t>
            </a:r>
            <a:endParaRPr lang="en-US" dirty="0"/>
          </a:p>
        </p:txBody>
      </p:sp>
      <p:pic>
        <p:nvPicPr>
          <p:cNvPr id="4" name="Picture 3" descr="DosePlot_March.pdf"/>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4088135" y="1113367"/>
            <a:ext cx="5031125" cy="6510867"/>
          </a:xfrm>
          <a:prstGeom prst="rect">
            <a:avLst/>
          </a:prstGeom>
        </p:spPr>
      </p:pic>
      <p:pic>
        <p:nvPicPr>
          <p:cNvPr id="5" name="Picture 4" descr="DosePlot_May.pdf"/>
          <p:cNvPicPr>
            <a:picLocks noChangeAspect="1"/>
          </p:cNvPicPr>
          <p:nvPr/>
        </p:nvPicPr>
        <p:blipFill rotWithShape="1">
          <a:blip r:embed="rId6">
            <a:extLst>
              <a:ext uri="{28A0092B-C50C-407E-A947-70E740481C1C}">
                <a14:useLocalDpi xmlns:a14="http://schemas.microsoft.com/office/drawing/2010/main" val="0"/>
              </a:ext>
            </a:extLst>
          </a:blip>
          <a:srcRect l="2282" t="9832" r="-2282"/>
          <a:stretch/>
        </p:blipFill>
        <p:spPr>
          <a:xfrm>
            <a:off x="4273268" y="4440768"/>
            <a:ext cx="4955400" cy="5071532"/>
          </a:xfrm>
          <a:prstGeom prst="rect">
            <a:avLst/>
          </a:prstGeom>
        </p:spPr>
      </p:pic>
      <p:sp>
        <p:nvSpPr>
          <p:cNvPr id="17" name="TextBox 16"/>
          <p:cNvSpPr txBox="1"/>
          <p:nvPr/>
        </p:nvSpPr>
        <p:spPr>
          <a:xfrm rot="16200000">
            <a:off x="7773597" y="5333407"/>
            <a:ext cx="2044149" cy="369332"/>
          </a:xfrm>
          <a:prstGeom prst="rect">
            <a:avLst/>
          </a:prstGeom>
          <a:noFill/>
        </p:spPr>
        <p:txBody>
          <a:bodyPr wrap="none" rtlCol="0">
            <a:spAutoFit/>
          </a:bodyPr>
          <a:lstStyle/>
          <a:p>
            <a:r>
              <a:rPr lang="en-US" dirty="0" smtClean="0"/>
              <a:t>May 16, 2012 Event</a:t>
            </a:r>
            <a:endParaRPr lang="en-US" dirty="0"/>
          </a:p>
        </p:txBody>
      </p:sp>
      <p:pic>
        <p:nvPicPr>
          <p:cNvPr id="18" name="Picture 17" descr="banner.gif"/>
          <p:cNvPicPr>
            <a:picLocks noChangeAspect="1"/>
          </p:cNvPicPr>
          <p:nvPr/>
        </p:nvPicPr>
        <p:blipFill>
          <a:blip r:embed="rId7">
            <a:extLst>
              <a:ext uri="{28A0092B-C50C-407E-A947-70E740481C1C}">
                <a14:useLocalDpi xmlns:a14="http://schemas.microsoft.com/office/drawing/2010/main" val="0"/>
              </a:ext>
            </a:extLst>
          </a:blip>
          <a:stretch>
            <a:fillRect/>
          </a:stretch>
        </p:blipFill>
        <p:spPr>
          <a:xfrm>
            <a:off x="-4255" y="25526"/>
            <a:ext cx="4628349" cy="857701"/>
          </a:xfrm>
          <a:prstGeom prst="rect">
            <a:avLst/>
          </a:prstGeom>
        </p:spPr>
      </p:pic>
    </p:spTree>
    <p:extLst>
      <p:ext uri="{BB962C8B-B14F-4D97-AF65-F5344CB8AC3E}">
        <p14:creationId xmlns:p14="http://schemas.microsoft.com/office/powerpoint/2010/main" val="2331697576"/>
      </p:ext>
    </p:extLst>
  </p:cSld>
  <p:clrMapOvr>
    <a:masterClrMapping/>
  </p:clrMapOvr>
  <p:timing>
    <p:tnLst>
      <p:par>
        <p:cTn xmlns:p14="http://schemas.microsoft.com/office/powerpoint/2010/mai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411" name="Title 1"/>
          <p:cNvSpPr>
            <a:spLocks noGrp="1"/>
          </p:cNvSpPr>
          <p:nvPr>
            <p:ph type="title"/>
          </p:nvPr>
        </p:nvSpPr>
        <p:spPr>
          <a:xfrm>
            <a:off x="88900" y="317500"/>
            <a:ext cx="9144000" cy="1828800"/>
          </a:xfrm>
          <a:solidFill>
            <a:srgbClr val="FFFFFF"/>
          </a:solidFill>
        </p:spPr>
        <p:txBody>
          <a:bodyPr>
            <a:normAutofit/>
          </a:bodyPr>
          <a:lstStyle/>
          <a:p>
            <a:pPr eaLnBrk="1" hangingPunct="1"/>
            <a:r>
              <a:rPr lang="en-US" sz="1600" dirty="0" smtClean="0">
                <a:solidFill>
                  <a:srgbClr val="000000"/>
                </a:solidFill>
              </a:rPr>
              <a:t>EMMREM has proved very successful at predicting SEP spectra and radiation dose estimates at different distances in the inner </a:t>
            </a:r>
            <a:r>
              <a:rPr lang="en-US" sz="1600" dirty="0" err="1" smtClean="0">
                <a:solidFill>
                  <a:srgbClr val="000000"/>
                </a:solidFill>
              </a:rPr>
              <a:t>heliosphere</a:t>
            </a:r>
            <a:r>
              <a:rPr lang="en-US" sz="1600" dirty="0" smtClean="0">
                <a:solidFill>
                  <a:srgbClr val="000000"/>
                </a:solidFill>
              </a:rPr>
              <a:t>. Figures below show two recent papers by which SEP time profiles, onset, and radiation estimates were successfully predicted at Mars (Odyssey) and Ulysses located at 1.44 AU and 4.91 AU, respectively. 1 AU measurement from ACE, </a:t>
            </a:r>
            <a:r>
              <a:rPr lang="en-US" sz="1600" dirty="0" err="1" smtClean="0">
                <a:solidFill>
                  <a:srgbClr val="000000"/>
                </a:solidFill>
              </a:rPr>
              <a:t>SoHO</a:t>
            </a:r>
            <a:r>
              <a:rPr lang="en-US" sz="1600" dirty="0" smtClean="0">
                <a:solidFill>
                  <a:srgbClr val="000000"/>
                </a:solidFill>
              </a:rPr>
              <a:t>, and GOES.</a:t>
            </a:r>
          </a:p>
        </p:txBody>
      </p:sp>
      <p:pic>
        <p:nvPicPr>
          <p:cNvPr id="17412" name="Picture 5"/>
          <p:cNvPicPr>
            <a:picLocks noChangeAspect="1"/>
          </p:cNvPicPr>
          <p:nvPr/>
        </p:nvPicPr>
        <p:blipFill>
          <a:blip r:embed="rId3"/>
          <a:srcRect b="37775"/>
          <a:stretch>
            <a:fillRect/>
          </a:stretch>
        </p:blipFill>
        <p:spPr bwMode="auto">
          <a:xfrm>
            <a:off x="128588" y="1717675"/>
            <a:ext cx="5256212" cy="4441825"/>
          </a:xfrm>
          <a:prstGeom prst="rect">
            <a:avLst/>
          </a:prstGeom>
          <a:noFill/>
          <a:ln w="9525">
            <a:noFill/>
            <a:miter lim="800000"/>
            <a:headEnd/>
            <a:tailEnd/>
          </a:ln>
        </p:spPr>
      </p:pic>
      <p:pic>
        <p:nvPicPr>
          <p:cNvPr id="17413" name="Picture 8"/>
          <p:cNvPicPr>
            <a:picLocks noChangeAspect="1"/>
          </p:cNvPicPr>
          <p:nvPr/>
        </p:nvPicPr>
        <p:blipFill>
          <a:blip r:embed="rId4"/>
          <a:srcRect/>
          <a:stretch>
            <a:fillRect/>
          </a:stretch>
        </p:blipFill>
        <p:spPr bwMode="auto">
          <a:xfrm>
            <a:off x="5486400" y="1731963"/>
            <a:ext cx="3429000" cy="4897437"/>
          </a:xfrm>
          <a:prstGeom prst="rect">
            <a:avLst/>
          </a:prstGeom>
          <a:noFill/>
          <a:ln w="9525">
            <a:noFill/>
            <a:miter lim="800000"/>
            <a:headEnd/>
            <a:tailEnd/>
          </a:ln>
        </p:spPr>
      </p:pic>
      <p:sp>
        <p:nvSpPr>
          <p:cNvPr id="17414" name="Title 1"/>
          <p:cNvSpPr txBox="1">
            <a:spLocks/>
          </p:cNvSpPr>
          <p:nvPr/>
        </p:nvSpPr>
        <p:spPr bwMode="auto">
          <a:xfrm>
            <a:off x="228600" y="6032500"/>
            <a:ext cx="5410200" cy="533400"/>
          </a:xfrm>
          <a:prstGeom prst="rect">
            <a:avLst/>
          </a:prstGeom>
          <a:noFill/>
          <a:ln w="9525">
            <a:noFill/>
            <a:miter lim="800000"/>
            <a:headEnd/>
            <a:tailEnd/>
          </a:ln>
        </p:spPr>
        <p:txBody>
          <a:bodyPr>
            <a:prstTxWarp prst="textNoShape">
              <a:avLst/>
            </a:prstTxWarp>
          </a:bodyPr>
          <a:lstStyle/>
          <a:p>
            <a:pPr algn="just"/>
            <a:r>
              <a:rPr lang="en-US" sz="1200" dirty="0" err="1">
                <a:solidFill>
                  <a:srgbClr val="000000"/>
                </a:solidFill>
                <a:ea typeface="Arial" charset="0"/>
                <a:cs typeface="Arial" charset="0"/>
              </a:rPr>
              <a:t>Dayeh</a:t>
            </a:r>
            <a:r>
              <a:rPr lang="en-US" sz="1200" dirty="0">
                <a:solidFill>
                  <a:srgbClr val="000000"/>
                </a:solidFill>
                <a:ea typeface="Arial" charset="0"/>
                <a:cs typeface="Arial" charset="0"/>
              </a:rPr>
              <a:t>, M. A., et al, Space Weather, 8, S00E07, doi:10.1029/2009SW000566</a:t>
            </a:r>
            <a:endParaRPr lang="en-US" sz="1200" dirty="0" smtClean="0">
              <a:solidFill>
                <a:srgbClr val="000000"/>
              </a:solidFill>
              <a:ea typeface="Arial" charset="0"/>
              <a:cs typeface="Arial" charset="0"/>
            </a:endParaRPr>
          </a:p>
          <a:p>
            <a:pPr algn="just"/>
            <a:r>
              <a:rPr lang="en-US" sz="1200" dirty="0" err="1" smtClean="0">
                <a:solidFill>
                  <a:srgbClr val="000000"/>
                </a:solidFill>
                <a:ea typeface="Arial" charset="0"/>
                <a:cs typeface="Arial" charset="0"/>
              </a:rPr>
              <a:t>Zeitlin</a:t>
            </a:r>
            <a:r>
              <a:rPr lang="en-US" sz="1200" dirty="0">
                <a:solidFill>
                  <a:srgbClr val="000000"/>
                </a:solidFill>
                <a:ea typeface="Arial" charset="0"/>
                <a:cs typeface="Arial" charset="0"/>
              </a:rPr>
              <a:t>, C., et al., Space Weather, 8, S00E06, doi:10.1029/2009SW000563.</a:t>
            </a:r>
          </a:p>
        </p:txBody>
      </p:sp>
      <p:cxnSp>
        <p:nvCxnSpPr>
          <p:cNvPr id="8" name="Straight Connector 7"/>
          <p:cNvCxnSpPr/>
          <p:nvPr/>
        </p:nvCxnSpPr>
        <p:spPr>
          <a:xfrm>
            <a:off x="6273800" y="2679700"/>
            <a:ext cx="2501900" cy="25400"/>
          </a:xfrm>
          <a:prstGeom prst="line">
            <a:avLst/>
          </a:prstGeom>
        </p:spPr>
        <p:style>
          <a:lnRef idx="2">
            <a:schemeClr val="accent1"/>
          </a:lnRef>
          <a:fillRef idx="0">
            <a:schemeClr val="accent1"/>
          </a:fillRef>
          <a:effectRef idx="1">
            <a:schemeClr val="accent1"/>
          </a:effectRef>
          <a:fontRef idx="minor">
            <a:schemeClr val="tx1"/>
          </a:fontRef>
        </p:style>
      </p:cxnSp>
      <p:sp>
        <p:nvSpPr>
          <p:cNvPr id="9" name="TextBox 8"/>
          <p:cNvSpPr txBox="1"/>
          <p:nvPr/>
        </p:nvSpPr>
        <p:spPr>
          <a:xfrm>
            <a:off x="7683500" y="2870200"/>
            <a:ext cx="860163" cy="430887"/>
          </a:xfrm>
          <a:prstGeom prst="rect">
            <a:avLst/>
          </a:prstGeom>
          <a:noFill/>
          <a:ln>
            <a:solidFill>
              <a:srgbClr val="0000FF"/>
            </a:solidFill>
          </a:ln>
        </p:spPr>
        <p:txBody>
          <a:bodyPr wrap="none" rtlCol="0">
            <a:spAutoFit/>
          </a:bodyPr>
          <a:lstStyle/>
          <a:p>
            <a:r>
              <a:rPr lang="en-US" sz="1100" dirty="0" smtClean="0"/>
              <a:t>GCR</a:t>
            </a:r>
          </a:p>
          <a:p>
            <a:r>
              <a:rPr lang="en-US" sz="1100" dirty="0" smtClean="0"/>
              <a:t>background</a:t>
            </a:r>
            <a:endParaRPr lang="en-US" sz="1100" dirty="0"/>
          </a:p>
        </p:txBody>
      </p:sp>
      <p:cxnSp>
        <p:nvCxnSpPr>
          <p:cNvPr id="11" name="Straight Arrow Connector 10"/>
          <p:cNvCxnSpPr>
            <a:stCxn id="9" idx="0"/>
          </p:cNvCxnSpPr>
          <p:nvPr/>
        </p:nvCxnSpPr>
        <p:spPr>
          <a:xfrm rot="5400000" flipH="1" flipV="1">
            <a:off x="8050941" y="2742341"/>
            <a:ext cx="190500" cy="65218"/>
          </a:xfrm>
          <a:prstGeom prst="straightConnector1">
            <a:avLst/>
          </a:prstGeom>
          <a:ln>
            <a:tailEnd type="arrow"/>
          </a:ln>
        </p:spPr>
        <p:style>
          <a:lnRef idx="2">
            <a:schemeClr val="accent1"/>
          </a:lnRef>
          <a:fillRef idx="0">
            <a:schemeClr val="accent1"/>
          </a:fillRef>
          <a:effectRef idx="1">
            <a:schemeClr val="accent1"/>
          </a:effectRef>
          <a:fontRef idx="minor">
            <a:schemeClr val="tx1"/>
          </a:fontRef>
        </p:style>
      </p:cxnSp>
      <p:sp>
        <p:nvSpPr>
          <p:cNvPr id="13" name="Title 1"/>
          <p:cNvSpPr txBox="1">
            <a:spLocks/>
          </p:cNvSpPr>
          <p:nvPr/>
        </p:nvSpPr>
        <p:spPr>
          <a:xfrm>
            <a:off x="457200" y="-152400"/>
            <a:ext cx="8229600" cy="1143000"/>
          </a:xfrm>
          <a:prstGeom prst="rect">
            <a:avLst/>
          </a:prstGeom>
        </p:spPr>
        <p:txBody>
          <a:bodyPr vert="horz" lIns="91440" tIns="45720" rIns="91440" bIns="45720" rtlCol="0" anchor="ctr">
            <a:noAutofit/>
          </a:bodyPr>
          <a:lstStyle/>
          <a:p>
            <a:pPr marL="0" marR="0" lvl="0" indent="0" algn="ctr" defTabSz="914400" rtl="0" eaLnBrk="1" fontAlgn="auto" latinLnBrk="0" hangingPunct="1">
              <a:lnSpc>
                <a:spcPct val="100000"/>
              </a:lnSpc>
              <a:spcBef>
                <a:spcPct val="0"/>
              </a:spcBef>
              <a:spcAft>
                <a:spcPts val="0"/>
              </a:spcAft>
              <a:buClrTx/>
              <a:buSzTx/>
              <a:buFontTx/>
              <a:buNone/>
              <a:tabLst/>
              <a:defRPr/>
            </a:pPr>
            <a:r>
              <a:rPr kumimoji="0" lang="en-US" sz="3200" b="1" i="0" u="none" strike="noStrike" kern="1200" cap="none" spc="0" normalizeH="0" baseline="0" noProof="0" dirty="0" smtClean="0">
                <a:ln>
                  <a:noFill/>
                </a:ln>
                <a:solidFill>
                  <a:srgbClr val="FF0000"/>
                </a:solidFill>
                <a:effectLst/>
                <a:uLnTx/>
                <a:uFillTx/>
                <a:latin typeface="Calibri (Headings)"/>
                <a:ea typeface="+mj-ea"/>
                <a:cs typeface="Calibri (Headings)"/>
              </a:rPr>
              <a:t>SEP Modeling — EMMREM</a:t>
            </a:r>
            <a:endParaRPr kumimoji="0" lang="en-US" sz="3200" b="1" i="0" u="none" strike="noStrike" kern="1200" cap="none" spc="0" normalizeH="0" baseline="0" noProof="0" dirty="0">
              <a:ln>
                <a:noFill/>
              </a:ln>
              <a:solidFill>
                <a:srgbClr val="FF0000"/>
              </a:solidFill>
              <a:effectLst/>
              <a:uLnTx/>
              <a:uFillTx/>
              <a:latin typeface="Calibri (Headings)"/>
              <a:ea typeface="+mj-ea"/>
              <a:cs typeface="Calibri (Headings)"/>
            </a:endParaRPr>
          </a:p>
        </p:txBody>
      </p:sp>
    </p:spTree>
    <p:extLst>
      <p:ext uri="{BB962C8B-B14F-4D97-AF65-F5344CB8AC3E}">
        <p14:creationId xmlns:p14="http://schemas.microsoft.com/office/powerpoint/2010/main" val="141896383"/>
      </p:ext>
    </p:extLst>
  </p:cSld>
  <p:clrMapOvr>
    <a:masterClrMapping/>
  </p:clrMapOvr>
  <p:timing>
    <p:tnLst>
      <p:par>
        <p:cTn xmlns:p14="http://schemas.microsoft.com/office/powerpoint/2010/mai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9" name="Picture 8"/>
          <p:cNvPicPr>
            <a:picLocks noChangeAspect="1"/>
          </p:cNvPicPr>
          <p:nvPr/>
        </p:nvPicPr>
        <p:blipFill>
          <a:blip r:embed="rId2"/>
          <a:stretch>
            <a:fillRect/>
          </a:stretch>
        </p:blipFill>
        <p:spPr>
          <a:xfrm>
            <a:off x="0" y="51818"/>
            <a:ext cx="7824557" cy="5064290"/>
          </a:xfrm>
          <a:prstGeom prst="rect">
            <a:avLst/>
          </a:prstGeom>
        </p:spPr>
      </p:pic>
      <p:sp>
        <p:nvSpPr>
          <p:cNvPr id="6" name="Content Placeholder 5"/>
          <p:cNvSpPr>
            <a:spLocks noGrp="1"/>
          </p:cNvSpPr>
          <p:nvPr>
            <p:ph sz="half" idx="1"/>
          </p:nvPr>
        </p:nvSpPr>
        <p:spPr>
          <a:xfrm>
            <a:off x="5097389" y="2003507"/>
            <a:ext cx="3921412" cy="4693493"/>
          </a:xfrm>
        </p:spPr>
        <p:txBody>
          <a:bodyPr>
            <a:noAutofit/>
          </a:bodyPr>
          <a:lstStyle/>
          <a:p>
            <a:pPr marL="0" indent="0" algn="just">
              <a:buNone/>
            </a:pPr>
            <a:r>
              <a:rPr lang="en-US" sz="1300" dirty="0" smtClean="0"/>
              <a:t>[</a:t>
            </a:r>
            <a:r>
              <a:rPr lang="en-US" sz="1300" b="1" dirty="0" smtClean="0"/>
              <a:t>From Schwadron et al., JGR Planets, 2011]</a:t>
            </a:r>
            <a:r>
              <a:rPr lang="en-US" sz="1300" dirty="0" smtClean="0"/>
              <a:t> </a:t>
            </a:r>
            <a:r>
              <a:rPr lang="en-US" sz="1300" dirty="0"/>
              <a:t>The modulation parameter based on observations of neutrons using McMurdo data (red)</a:t>
            </a:r>
            <a:r>
              <a:rPr lang="en-US" sz="1300" dirty="0" smtClean="0"/>
              <a:t>,interplanetary </a:t>
            </a:r>
            <a:r>
              <a:rPr lang="en-US" sz="1300" dirty="0"/>
              <a:t>magnetic field (green) and based on the Advanced Composition Explorer (ACE) </a:t>
            </a:r>
            <a:r>
              <a:rPr lang="en-US" sz="1300" dirty="0" smtClean="0"/>
              <a:t>Cosmic Ray </a:t>
            </a:r>
            <a:r>
              <a:rPr lang="en-US" sz="1300" dirty="0"/>
              <a:t>Isotope Spectrometer (CRIS) measurements (blue [see O’Neill, 2006]). The modulation </a:t>
            </a:r>
            <a:r>
              <a:rPr lang="en-US" sz="1300" dirty="0" smtClean="0"/>
              <a:t>potentials are </a:t>
            </a:r>
            <a:r>
              <a:rPr lang="en-US" sz="1300" dirty="0"/>
              <a:t>used via EMMREM to infer GCR lens dose rates. (a) Dose rates deduced from EMMREM are </a:t>
            </a:r>
            <a:r>
              <a:rPr lang="en-US" sz="1300" dirty="0" smtClean="0"/>
              <a:t>shown as </a:t>
            </a:r>
            <a:r>
              <a:rPr lang="en-US" sz="1300" dirty="0"/>
              <a:t>well as measurements from </a:t>
            </a:r>
            <a:r>
              <a:rPr lang="en-US" sz="1300" dirty="0" err="1"/>
              <a:t>CRaTER’s</a:t>
            </a:r>
            <a:r>
              <a:rPr lang="en-US" sz="1300" dirty="0"/>
              <a:t> D1-D2 detectors (black curve). The </a:t>
            </a:r>
            <a:r>
              <a:rPr lang="en-US" sz="1300" dirty="0" err="1"/>
              <a:t>CRaTER</a:t>
            </a:r>
            <a:r>
              <a:rPr lang="en-US" sz="1300" dirty="0"/>
              <a:t> D1-D2 dose </a:t>
            </a:r>
            <a:r>
              <a:rPr lang="en-US" sz="1300" dirty="0" smtClean="0"/>
              <a:t>rates were </a:t>
            </a:r>
            <a:r>
              <a:rPr lang="en-US" sz="1300" dirty="0"/>
              <a:t>altitude adjusted to the lunar surface, have been adjusted for dose deposition in water (these </a:t>
            </a:r>
            <a:r>
              <a:rPr lang="en-US" sz="1300" dirty="0" smtClean="0"/>
              <a:t>dose rates</a:t>
            </a:r>
            <a:r>
              <a:rPr lang="en-US" sz="1300" dirty="0"/>
              <a:t>), and represent two-week averages with SEP events removed. The polarity of the large-scale </a:t>
            </a:r>
            <a:r>
              <a:rPr lang="en-US" sz="1300" dirty="0" smtClean="0"/>
              <a:t>solar magnetic </a:t>
            </a:r>
            <a:r>
              <a:rPr lang="en-US" sz="1300" dirty="0"/>
              <a:t>field is indicated by A: for A &gt; 0 the Sun’s large-scale northern polarity is positive. The </a:t>
            </a:r>
            <a:r>
              <a:rPr lang="en-US" sz="1300" dirty="0" smtClean="0"/>
              <a:t>periods indicated </a:t>
            </a:r>
            <a:r>
              <a:rPr lang="en-US" sz="1300" dirty="0"/>
              <a:t>by r show when field reversals occurred. Dose rates observed by </a:t>
            </a:r>
            <a:r>
              <a:rPr lang="en-US" sz="1300" dirty="0" err="1"/>
              <a:t>CRaTER</a:t>
            </a:r>
            <a:r>
              <a:rPr lang="en-US" sz="1300" dirty="0"/>
              <a:t> (black points </a:t>
            </a:r>
            <a:r>
              <a:rPr lang="en-US" sz="1300" dirty="0" smtClean="0"/>
              <a:t>in Figures </a:t>
            </a:r>
            <a:r>
              <a:rPr lang="en-US" sz="1300" dirty="0"/>
              <a:t>2a and 2c) near the highest dose levels during the space age. (d–g) The solar images </a:t>
            </a:r>
            <a:r>
              <a:rPr lang="en-US" sz="1300" dirty="0" err="1" smtClean="0"/>
              <a:t>showconditions</a:t>
            </a:r>
            <a:r>
              <a:rPr lang="en-US" sz="1300" dirty="0" smtClean="0"/>
              <a:t> </a:t>
            </a:r>
            <a:r>
              <a:rPr lang="en-US" sz="1300" dirty="0"/>
              <a:t>of the corona (Figures 2d and 2f) and photosphere (Figures 2e and 2g) near solar </a:t>
            </a:r>
            <a:r>
              <a:rPr lang="en-US" sz="1300" dirty="0" smtClean="0"/>
              <a:t>maximum (</a:t>
            </a:r>
            <a:r>
              <a:rPr lang="en-US" sz="1300" dirty="0"/>
              <a:t>Figures 2d and 2e) and solar minimum (Figures 2f and 2g)</a:t>
            </a:r>
            <a:endParaRPr lang="en-US" sz="1300" dirty="0"/>
          </a:p>
        </p:txBody>
      </p:sp>
    </p:spTree>
    <p:extLst>
      <p:ext uri="{BB962C8B-B14F-4D97-AF65-F5344CB8AC3E}">
        <p14:creationId xmlns:p14="http://schemas.microsoft.com/office/powerpoint/2010/main" val="2471149752"/>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Content Placeholder 4"/>
          <p:cNvPicPr>
            <a:picLocks noGrp="1" noChangeAspect="1"/>
          </p:cNvPicPr>
          <p:nvPr>
            <p:ph sz="half" idx="1"/>
          </p:nvPr>
        </p:nvPicPr>
        <p:blipFill>
          <a:blip r:embed="rId2"/>
          <a:srcRect t="-20307" b="-20307"/>
          <a:stretch>
            <a:fillRect/>
          </a:stretch>
        </p:blipFill>
        <p:spPr>
          <a:xfrm>
            <a:off x="1262051" y="-1025419"/>
            <a:ext cx="6840114" cy="7665553"/>
          </a:xfrm>
        </p:spPr>
      </p:pic>
      <p:sp>
        <p:nvSpPr>
          <p:cNvPr id="4" name="Content Placeholder 3"/>
          <p:cNvSpPr>
            <a:spLocks noGrp="1"/>
          </p:cNvSpPr>
          <p:nvPr>
            <p:ph sz="half" idx="2"/>
          </p:nvPr>
        </p:nvSpPr>
        <p:spPr>
          <a:xfrm>
            <a:off x="160970" y="5420211"/>
            <a:ext cx="8983029" cy="1509341"/>
          </a:xfrm>
        </p:spPr>
        <p:txBody>
          <a:bodyPr>
            <a:normAutofit fontScale="55000" lnSpcReduction="20000"/>
          </a:bodyPr>
          <a:lstStyle/>
          <a:p>
            <a:pPr marL="0" indent="0">
              <a:buNone/>
            </a:pPr>
            <a:r>
              <a:rPr lang="en-US" dirty="0"/>
              <a:t>[</a:t>
            </a:r>
            <a:r>
              <a:rPr lang="en-US" b="1" dirty="0"/>
              <a:t>From Schwadron et al., JGR Planets, 2011</a:t>
            </a:r>
            <a:r>
              <a:rPr lang="en-US" b="1" dirty="0" smtClean="0"/>
              <a:t>] </a:t>
            </a:r>
            <a:r>
              <a:rPr lang="en-US" dirty="0" smtClean="0"/>
              <a:t>Comparison </a:t>
            </a:r>
            <a:r>
              <a:rPr lang="en-US" dirty="0"/>
              <a:t>between EMMREM and </a:t>
            </a:r>
            <a:r>
              <a:rPr lang="en-US" dirty="0" err="1" smtClean="0"/>
              <a:t>CRaTER</a:t>
            </a:r>
            <a:r>
              <a:rPr lang="en-US" dirty="0"/>
              <a:t> </a:t>
            </a:r>
            <a:r>
              <a:rPr lang="en-US" dirty="0" smtClean="0"/>
              <a:t>showing </a:t>
            </a:r>
            <a:r>
              <a:rPr lang="en-US" dirty="0"/>
              <a:t>excellent agreement for dose rate. </a:t>
            </a:r>
            <a:r>
              <a:rPr lang="en-US" dirty="0" smtClean="0"/>
              <a:t>Observations from </a:t>
            </a:r>
            <a:r>
              <a:rPr lang="en-US" dirty="0"/>
              <a:t>GOES at energy levels [0.74–4.2, 4.2–8.7, 8.7–</a:t>
            </a:r>
            <a:r>
              <a:rPr lang="en-US" dirty="0" smtClean="0"/>
              <a:t>14.5,15</a:t>
            </a:r>
            <a:r>
              <a:rPr lang="en-US" dirty="0"/>
              <a:t>–40, 38–82, 84–200, 110–900] MeV are fed </a:t>
            </a:r>
            <a:r>
              <a:rPr lang="en-US" dirty="0" smtClean="0"/>
              <a:t>into BRYNTRN </a:t>
            </a:r>
            <a:r>
              <a:rPr lang="en-US" dirty="0"/>
              <a:t>on a 5-min basis and used as the boundary </a:t>
            </a:r>
            <a:r>
              <a:rPr lang="en-US" dirty="0" smtClean="0"/>
              <a:t>conditions for </a:t>
            </a:r>
            <a:r>
              <a:rPr lang="en-US" dirty="0"/>
              <a:t>characterizing the radiation environment </a:t>
            </a:r>
            <a:r>
              <a:rPr lang="en-US" dirty="0" smtClean="0"/>
              <a:t>throughout the </a:t>
            </a:r>
            <a:r>
              <a:rPr lang="en-US" dirty="0"/>
              <a:t>inner </a:t>
            </a:r>
            <a:r>
              <a:rPr lang="en-US" dirty="0" err="1"/>
              <a:t>heliosphere</a:t>
            </a:r>
            <a:r>
              <a:rPr lang="en-US" dirty="0"/>
              <a:t> [Schwadron et al., 2010a]</a:t>
            </a:r>
            <a:r>
              <a:rPr lang="en-US" dirty="0" smtClean="0"/>
              <a:t>. Observations </a:t>
            </a:r>
            <a:r>
              <a:rPr lang="en-US" dirty="0"/>
              <a:t>are both fed directly into BRYNTRN (</a:t>
            </a:r>
            <a:r>
              <a:rPr lang="en-US" dirty="0" smtClean="0"/>
              <a:t>red curves</a:t>
            </a:r>
            <a:r>
              <a:rPr lang="en-US" dirty="0"/>
              <a:t>) and utilized as input within the EMMREM </a:t>
            </a:r>
            <a:r>
              <a:rPr lang="en-US" dirty="0" smtClean="0"/>
              <a:t>framework (</a:t>
            </a:r>
            <a:r>
              <a:rPr lang="en-US" dirty="0"/>
              <a:t>blue curves) allowing propagation throughout </a:t>
            </a:r>
            <a:r>
              <a:rPr lang="en-US" dirty="0" smtClean="0"/>
              <a:t>the inner </a:t>
            </a:r>
            <a:r>
              <a:rPr lang="en-US" dirty="0" err="1"/>
              <a:t>heliosphere</a:t>
            </a:r>
            <a:r>
              <a:rPr lang="en-US" dirty="0"/>
              <a:t>. We show both the progression of </a:t>
            </a:r>
            <a:r>
              <a:rPr lang="en-US" dirty="0" smtClean="0"/>
              <a:t>the doses </a:t>
            </a:r>
            <a:r>
              <a:rPr lang="en-US" dirty="0"/>
              <a:t>over (top) a month and (bottom) a 5-day </a:t>
            </a:r>
            <a:r>
              <a:rPr lang="en-US" dirty="0" smtClean="0"/>
              <a:t>period focused </a:t>
            </a:r>
            <a:r>
              <a:rPr lang="en-US" dirty="0"/>
              <a:t>on the June 7 event.</a:t>
            </a:r>
            <a:endParaRPr lang="en-US" dirty="0"/>
          </a:p>
        </p:txBody>
      </p:sp>
    </p:spTree>
    <p:extLst>
      <p:ext uri="{BB962C8B-B14F-4D97-AF65-F5344CB8AC3E}">
        <p14:creationId xmlns:p14="http://schemas.microsoft.com/office/powerpoint/2010/main" val="531958144"/>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Content Placeholder 4"/>
          <p:cNvPicPr>
            <a:picLocks noGrp="1" noChangeAspect="1"/>
          </p:cNvPicPr>
          <p:nvPr>
            <p:ph sz="half" idx="1"/>
          </p:nvPr>
        </p:nvPicPr>
        <p:blipFill>
          <a:blip r:embed="rId2"/>
          <a:srcRect t="-84346" b="-84346"/>
          <a:stretch>
            <a:fillRect/>
          </a:stretch>
        </p:blipFill>
        <p:spPr>
          <a:xfrm>
            <a:off x="523153" y="-2665387"/>
            <a:ext cx="8163647" cy="9148805"/>
          </a:xfrm>
        </p:spPr>
      </p:pic>
      <p:sp>
        <p:nvSpPr>
          <p:cNvPr id="4" name="Content Placeholder 3"/>
          <p:cNvSpPr>
            <a:spLocks noGrp="1"/>
          </p:cNvSpPr>
          <p:nvPr>
            <p:ph sz="half" idx="2"/>
          </p:nvPr>
        </p:nvSpPr>
        <p:spPr>
          <a:xfrm>
            <a:off x="523153" y="4042284"/>
            <a:ext cx="8229600" cy="2441134"/>
          </a:xfrm>
        </p:spPr>
        <p:txBody>
          <a:bodyPr>
            <a:normAutofit fontScale="85000" lnSpcReduction="10000"/>
          </a:bodyPr>
          <a:lstStyle/>
          <a:p>
            <a:pPr marL="0" indent="0">
              <a:buNone/>
            </a:pPr>
            <a:r>
              <a:rPr lang="en-US" dirty="0"/>
              <a:t>[</a:t>
            </a:r>
            <a:r>
              <a:rPr lang="en-US" b="1" dirty="0"/>
              <a:t>From Schwadron et al., JGR Planets, 2011] </a:t>
            </a:r>
            <a:r>
              <a:rPr lang="en-US" b="1" dirty="0" smtClean="0"/>
              <a:t> </a:t>
            </a:r>
            <a:r>
              <a:rPr lang="en-US" dirty="0" smtClean="0"/>
              <a:t>The </a:t>
            </a:r>
            <a:r>
              <a:rPr lang="en-US" dirty="0"/>
              <a:t>accumulated dose during the June 7, </a:t>
            </a:r>
            <a:r>
              <a:rPr lang="en-US" dirty="0" smtClean="0"/>
              <a:t>2011 </a:t>
            </a:r>
            <a:r>
              <a:rPr lang="en-US" dirty="0" err="1" smtClean="0"/>
              <a:t>CRaTER</a:t>
            </a:r>
            <a:r>
              <a:rPr lang="en-US" dirty="0" smtClean="0"/>
              <a:t> </a:t>
            </a:r>
            <a:r>
              <a:rPr lang="en-US" dirty="0"/>
              <a:t>event. The final dose for the June 7, 2011 </a:t>
            </a:r>
            <a:r>
              <a:rPr lang="en-US" dirty="0" smtClean="0"/>
              <a:t>event is </a:t>
            </a:r>
            <a:r>
              <a:rPr lang="en-US" dirty="0"/>
              <a:t>2 </a:t>
            </a:r>
            <a:r>
              <a:rPr lang="en-US" dirty="0" err="1"/>
              <a:t>cGy</a:t>
            </a:r>
            <a:r>
              <a:rPr lang="en-US" dirty="0"/>
              <a:t>, much smaller than historic events that </a:t>
            </a:r>
            <a:r>
              <a:rPr lang="en-US" dirty="0" smtClean="0"/>
              <a:t>typically reveal </a:t>
            </a:r>
            <a:r>
              <a:rPr lang="en-US" dirty="0"/>
              <a:t>100 s of </a:t>
            </a:r>
            <a:r>
              <a:rPr lang="en-US" dirty="0" err="1"/>
              <a:t>cGy</a:t>
            </a:r>
            <a:r>
              <a:rPr lang="en-US" dirty="0"/>
              <a:t>. The agreement between modeled </a:t>
            </a:r>
            <a:r>
              <a:rPr lang="en-US" dirty="0" smtClean="0"/>
              <a:t>and observed </a:t>
            </a:r>
            <a:r>
              <a:rPr lang="en-US" dirty="0"/>
              <a:t>doses is excellent. The small offsets between </a:t>
            </a:r>
            <a:r>
              <a:rPr lang="en-US" dirty="0" smtClean="0"/>
              <a:t>data values </a:t>
            </a:r>
            <a:r>
              <a:rPr lang="en-US" dirty="0"/>
              <a:t>at the start of DOY 156 are due to differences in </a:t>
            </a:r>
            <a:r>
              <a:rPr lang="en-US" dirty="0" smtClean="0"/>
              <a:t>the resolution </a:t>
            </a:r>
            <a:r>
              <a:rPr lang="en-US" dirty="0"/>
              <a:t>of the different data sources.</a:t>
            </a:r>
            <a:endParaRPr lang="en-US" dirty="0"/>
          </a:p>
        </p:txBody>
      </p:sp>
    </p:spTree>
    <p:extLst>
      <p:ext uri="{BB962C8B-B14F-4D97-AF65-F5344CB8AC3E}">
        <p14:creationId xmlns:p14="http://schemas.microsoft.com/office/powerpoint/2010/main" val="891359061"/>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angle 4"/>
          <p:cNvSpPr/>
          <p:nvPr/>
        </p:nvSpPr>
        <p:spPr>
          <a:xfrm>
            <a:off x="-8239" y="-10301"/>
            <a:ext cx="9144000" cy="6858000"/>
          </a:xfrm>
          <a:prstGeom prst="rect">
            <a:avLst/>
          </a:prstGeom>
          <a:solidFill>
            <a:schemeClr val="tx1"/>
          </a:solidFill>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pic>
        <p:nvPicPr>
          <p:cNvPr id="4" name="Picture 3" descr="banner.gif"/>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16963" y="43350"/>
            <a:ext cx="8910074" cy="1651167"/>
          </a:xfrm>
          <a:prstGeom prst="rect">
            <a:avLst/>
          </a:prstGeom>
        </p:spPr>
      </p:pic>
      <p:sp>
        <p:nvSpPr>
          <p:cNvPr id="3" name="Content Placeholder 2"/>
          <p:cNvSpPr>
            <a:spLocks noGrp="1"/>
          </p:cNvSpPr>
          <p:nvPr>
            <p:ph idx="1"/>
          </p:nvPr>
        </p:nvSpPr>
        <p:spPr>
          <a:xfrm>
            <a:off x="116963" y="1161100"/>
            <a:ext cx="8833539" cy="5722901"/>
          </a:xfrm>
        </p:spPr>
        <p:txBody>
          <a:bodyPr>
            <a:noAutofit/>
          </a:bodyPr>
          <a:lstStyle/>
          <a:p>
            <a:r>
              <a:rPr lang="en-US" sz="1800" dirty="0">
                <a:solidFill>
                  <a:srgbClr val="FFFFFF"/>
                </a:solidFill>
              </a:rPr>
              <a:t>PREDICCS - Predictions of radiation from </a:t>
            </a:r>
            <a:r>
              <a:rPr lang="en-US" sz="1800" dirty="0" err="1">
                <a:solidFill>
                  <a:srgbClr val="FFFFFF"/>
                </a:solidFill>
              </a:rPr>
              <a:t>REleASE</a:t>
            </a:r>
            <a:r>
              <a:rPr lang="en-US" sz="1800" dirty="0">
                <a:solidFill>
                  <a:srgbClr val="FFFFFF"/>
                </a:solidFill>
              </a:rPr>
              <a:t>, EMMREM, and Data Incorporating </a:t>
            </a:r>
            <a:r>
              <a:rPr lang="en-US" sz="1800" dirty="0" err="1">
                <a:solidFill>
                  <a:srgbClr val="FFFFFF"/>
                </a:solidFill>
              </a:rPr>
              <a:t>CRaTER</a:t>
            </a:r>
            <a:r>
              <a:rPr lang="en-US" sz="1800" dirty="0">
                <a:solidFill>
                  <a:srgbClr val="FFFFFF"/>
                </a:solidFill>
              </a:rPr>
              <a:t>, COSTEP, and other SEP measurements - is an on-line system to predict and forecast the radiation environment through interplanetary space. PREDICCS uses SEP (Solar Energetic Particle) measurements from the Cosmic Ray Telescope for the Effects of Radiation (</a:t>
            </a:r>
            <a:r>
              <a:rPr lang="en-US" sz="1800" dirty="0" err="1">
                <a:solidFill>
                  <a:srgbClr val="FFFFFF"/>
                </a:solidFill>
              </a:rPr>
              <a:t>CRaTER</a:t>
            </a:r>
            <a:r>
              <a:rPr lang="en-US" sz="1800" dirty="0">
                <a:solidFill>
                  <a:srgbClr val="FFFFFF"/>
                </a:solidFill>
              </a:rPr>
              <a:t>) instrument currently on the Lunar Reconnaissance Orbiter (LRO) and data from the Comprehensive </a:t>
            </a:r>
            <a:r>
              <a:rPr lang="en-US" sz="1800" dirty="0" err="1">
                <a:solidFill>
                  <a:srgbClr val="FFFFFF"/>
                </a:solidFill>
              </a:rPr>
              <a:t>Suprathermal</a:t>
            </a:r>
            <a:r>
              <a:rPr lang="en-US" sz="1800" dirty="0">
                <a:solidFill>
                  <a:srgbClr val="FFFFFF"/>
                </a:solidFill>
              </a:rPr>
              <a:t> and Energetic Particle Analyzer (COSTEP) and integrates two radiation environment models: The Earth-Moon-Mars Radiation Environment Module (EMMREM) and the Relativistic Electron Alert System for Exploration (</a:t>
            </a:r>
            <a:r>
              <a:rPr lang="en-US" sz="1800" dirty="0" err="1">
                <a:solidFill>
                  <a:srgbClr val="FFFFFF"/>
                </a:solidFill>
              </a:rPr>
              <a:t>REleASE</a:t>
            </a:r>
            <a:r>
              <a:rPr lang="en-US" sz="1800" dirty="0">
                <a:solidFill>
                  <a:srgbClr val="FFFFFF"/>
                </a:solidFill>
              </a:rPr>
              <a:t>). </a:t>
            </a:r>
            <a:r>
              <a:rPr lang="en-US" sz="1800" dirty="0" err="1">
                <a:solidFill>
                  <a:srgbClr val="FFFFFF"/>
                </a:solidFill>
              </a:rPr>
              <a:t>REleASE</a:t>
            </a:r>
            <a:r>
              <a:rPr lang="en-US" sz="1800" dirty="0">
                <a:solidFill>
                  <a:srgbClr val="FFFFFF"/>
                </a:solidFill>
              </a:rPr>
              <a:t> very accurately forecasts SEP events up to one and a half hours ahead of the event. The EMMREM model predicts the real-time radiation environment using Energetic Particle Radiation Environment Module (EPREM) and the Baryon Transport Module (BRYNTRN). We combine these two models to </a:t>
            </a:r>
            <a:r>
              <a:rPr lang="en-US" sz="1800" dirty="0" err="1">
                <a:solidFill>
                  <a:srgbClr val="FFFFFF"/>
                </a:solidFill>
              </a:rPr>
              <a:t>nowcast</a:t>
            </a:r>
            <a:r>
              <a:rPr lang="en-US" sz="1800" dirty="0">
                <a:solidFill>
                  <a:srgbClr val="FFFFFF"/>
                </a:solidFill>
              </a:rPr>
              <a:t> and forecast the radiation environment at various observers - including the Earth, Moon, Mars, and at specific target observers such as comets and asteroids - and for future SEP events</a:t>
            </a:r>
            <a:r>
              <a:rPr lang="en-US" sz="1800" dirty="0" smtClean="0">
                <a:solidFill>
                  <a:srgbClr val="FFFFFF"/>
                </a:solidFill>
              </a:rPr>
              <a:t>.</a:t>
            </a:r>
          </a:p>
          <a:p>
            <a:r>
              <a:rPr lang="en-US" sz="1800" dirty="0" smtClean="0">
                <a:solidFill>
                  <a:srgbClr val="FFFFFF"/>
                </a:solidFill>
              </a:rPr>
              <a:t>Support for the Project:</a:t>
            </a:r>
          </a:p>
          <a:p>
            <a:pPr lvl="1"/>
            <a:r>
              <a:rPr lang="en-US" sz="1400" dirty="0" smtClean="0">
                <a:solidFill>
                  <a:srgbClr val="FFFFFF"/>
                </a:solidFill>
              </a:rPr>
              <a:t>THE </a:t>
            </a:r>
            <a:r>
              <a:rPr lang="en-US" sz="1400" dirty="0">
                <a:solidFill>
                  <a:srgbClr val="FFFFFF"/>
                </a:solidFill>
              </a:rPr>
              <a:t>NASA-NSF/LWS/EMMREM PROJECT  (GRANT NUMBER NNX07AC14G) </a:t>
            </a:r>
            <a:endParaRPr lang="en-US" sz="1400" dirty="0" smtClean="0">
              <a:solidFill>
                <a:srgbClr val="FFFFFF"/>
              </a:solidFill>
            </a:endParaRPr>
          </a:p>
          <a:p>
            <a:pPr lvl="1"/>
            <a:r>
              <a:rPr lang="en-US" sz="1400" dirty="0" smtClean="0">
                <a:solidFill>
                  <a:srgbClr val="FFFFFF"/>
                </a:solidFill>
              </a:rPr>
              <a:t>NASA </a:t>
            </a:r>
            <a:r>
              <a:rPr lang="en-US" sz="1400" dirty="0">
                <a:solidFill>
                  <a:srgbClr val="FFFFFF"/>
                </a:solidFill>
              </a:rPr>
              <a:t>LRO/CRATER/PREDICCS PROJECT (CONTRACT NUMBER NNG11PA03C</a:t>
            </a:r>
            <a:r>
              <a:rPr lang="en-US" sz="1400" dirty="0" smtClean="0">
                <a:solidFill>
                  <a:srgbClr val="FFFFFF"/>
                </a:solidFill>
              </a:rPr>
              <a:t>)</a:t>
            </a:r>
          </a:p>
          <a:p>
            <a:pPr lvl="1"/>
            <a:r>
              <a:rPr lang="en-US" sz="1400" dirty="0">
                <a:solidFill>
                  <a:schemeClr val="bg1"/>
                </a:solidFill>
              </a:rPr>
              <a:t>NSF/FESD SUN-TO-ICE PROJECT (GRANT NUMBER AGS1135432)</a:t>
            </a:r>
            <a:endParaRPr lang="en-US" sz="1400" dirty="0" smtClean="0">
              <a:solidFill>
                <a:schemeClr val="bg1"/>
              </a:solidFill>
            </a:endParaRPr>
          </a:p>
          <a:p>
            <a:pPr lvl="1"/>
            <a:r>
              <a:rPr lang="en-US" sz="1400" dirty="0"/>
              <a:t>NSF/FESD SUN-TO-ICE PROJECT (GRANT NUMBER AGS1135432)</a:t>
            </a:r>
            <a:endParaRPr lang="en-US" sz="1400" dirty="0" smtClean="0">
              <a:solidFill>
                <a:srgbClr val="FFFFFF"/>
              </a:solidFill>
            </a:endParaRPr>
          </a:p>
          <a:p>
            <a:pPr lvl="1"/>
            <a:endParaRPr lang="en-US" sz="1400" dirty="0">
              <a:solidFill>
                <a:srgbClr val="FFFFFF"/>
              </a:solidFill>
            </a:endParaRPr>
          </a:p>
        </p:txBody>
      </p:sp>
    </p:spTree>
    <p:extLst>
      <p:ext uri="{BB962C8B-B14F-4D97-AF65-F5344CB8AC3E}">
        <p14:creationId xmlns:p14="http://schemas.microsoft.com/office/powerpoint/2010/main" val="1161345573"/>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emplate/>
  <TotalTime>88</TotalTime>
  <Words>1045</Words>
  <Application>Microsoft Macintosh PowerPoint</Application>
  <PresentationFormat>On-screen Show (4:3)</PresentationFormat>
  <Paragraphs>35</Paragraphs>
  <Slides>9</Slides>
  <Notes>1</Notes>
  <HiddenSlides>0</HiddenSlides>
  <MMClips>0</MMClips>
  <ScaleCrop>false</ScaleCrop>
  <HeadingPairs>
    <vt:vector size="4" baseType="variant">
      <vt:variant>
        <vt:lpstr>Theme</vt:lpstr>
      </vt:variant>
      <vt:variant>
        <vt:i4>1</vt:i4>
      </vt:variant>
      <vt:variant>
        <vt:lpstr>Slide Titles</vt:lpstr>
      </vt:variant>
      <vt:variant>
        <vt:i4>9</vt:i4>
      </vt:variant>
    </vt:vector>
  </HeadingPairs>
  <TitlesOfParts>
    <vt:vector size="10" baseType="lpstr">
      <vt:lpstr>Office Theme</vt:lpstr>
      <vt:lpstr>PowerPoint Presentation</vt:lpstr>
      <vt:lpstr>PowerPoint Presentation</vt:lpstr>
      <vt:lpstr>PowerPoint Presentation</vt:lpstr>
      <vt:lpstr>PowerPoint Presentation</vt:lpstr>
      <vt:lpstr>EMMREM has proved very successful at predicting SEP spectra and radiation dose estimates at different distances in the inner heliosphere. Figures below show two recent papers by which SEP time profiles, onset, and radiation estimates were successfully predicted at Mars (Odyssey) and Ulysses located at 1.44 AU and 4.91 AU, respectively. 1 AU measurement from ACE, SoHO, and GOES.</vt:lpstr>
      <vt:lpstr>PowerPoint Presentation</vt:lpstr>
      <vt:lpstr>PowerPoint Presentation</vt:lpstr>
      <vt:lpstr>PowerPoint Presentation</vt:lpstr>
      <vt:lpstr>PowerPoint Presentation</vt:lpstr>
    </vt:vector>
  </TitlesOfParts>
  <Company>University of New Hampshire</Company>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Nathan Schwadron</dc:creator>
  <cp:lastModifiedBy>Nathan Schwadron</cp:lastModifiedBy>
  <cp:revision>11</cp:revision>
  <cp:lastPrinted>2012-08-15T13:29:03Z</cp:lastPrinted>
  <dcterms:created xsi:type="dcterms:W3CDTF">2012-07-17T15:01:50Z</dcterms:created>
  <dcterms:modified xsi:type="dcterms:W3CDTF">2012-08-15T14:03:59Z</dcterms:modified>
</cp:coreProperties>
</file>