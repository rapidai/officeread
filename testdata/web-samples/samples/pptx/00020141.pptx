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76" r:id="rId2"/>
    <p:sldId id="277" r:id="rId3"/>
    <p:sldId id="262" r:id="rId4"/>
    <p:sldId id="263" r:id="rId5"/>
    <p:sldId id="264" r:id="rId6"/>
    <p:sldId id="265" r:id="rId7"/>
    <p:sldId id="266" r:id="rId8"/>
    <p:sldId id="306" r:id="rId9"/>
    <p:sldId id="267" r:id="rId10"/>
    <p:sldId id="268" r:id="rId11"/>
    <p:sldId id="259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302" r:id="rId20"/>
    <p:sldId id="296" r:id="rId21"/>
    <p:sldId id="298" r:id="rId22"/>
    <p:sldId id="299" r:id="rId23"/>
    <p:sldId id="301" r:id="rId24"/>
    <p:sldId id="316" r:id="rId25"/>
    <p:sldId id="278" r:id="rId26"/>
    <p:sldId id="279" r:id="rId27"/>
    <p:sldId id="315" r:id="rId28"/>
    <p:sldId id="260" r:id="rId29"/>
    <p:sldId id="280" r:id="rId30"/>
    <p:sldId id="310" r:id="rId31"/>
    <p:sldId id="311" r:id="rId32"/>
    <p:sldId id="312" r:id="rId33"/>
    <p:sldId id="313" r:id="rId34"/>
    <p:sldId id="257" r:id="rId35"/>
    <p:sldId id="314" r:id="rId36"/>
  </p:sldIdLst>
  <p:sldSz cx="9144000" cy="6858000" type="screen4x3"/>
  <p:notesSz cx="68580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FFFF99"/>
    <a:srgbClr val="008000"/>
    <a:srgbClr val="FF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46" autoAdjust="0"/>
    <p:restoredTop sz="94660"/>
  </p:normalViewPr>
  <p:slideViewPr>
    <p:cSldViewPr>
      <p:cViewPr varScale="1">
        <p:scale>
          <a:sx n="68" d="100"/>
          <a:sy n="68" d="100"/>
        </p:scale>
        <p:origin x="-79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4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049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16425"/>
            <a:ext cx="548640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593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829675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DEE0FC6-5967-4DF4-BBBA-F4ED964366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091544F-E136-4EFB-805D-875D08CD9BA9}" type="slidenum">
              <a:rPr lang="en-US" smtClean="0"/>
              <a:pPr/>
              <a:t>20</a:t>
            </a:fld>
            <a:endParaRPr lang="en-US" smtClean="0"/>
          </a:p>
        </p:txBody>
      </p:sp>
      <p:sp>
        <p:nvSpPr>
          <p:cNvPr id="368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      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2F5A03B-AE5E-4898-8B28-72EADF6AC0C5}" type="slidenum">
              <a:rPr lang="en-US" smtClean="0"/>
              <a:pPr/>
              <a:t>21</a:t>
            </a:fld>
            <a:endParaRPr lang="en-US" smtClean="0"/>
          </a:p>
        </p:txBody>
      </p:sp>
      <p:sp>
        <p:nvSpPr>
          <p:cNvPr id="378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       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D88EA73-AF72-4A52-8289-51260F79A4AE}" type="slidenum">
              <a:rPr lang="en-US" smtClean="0"/>
              <a:pPr/>
              <a:t>22</a:t>
            </a:fld>
            <a:endParaRPr lang="en-US" smtClean="0"/>
          </a:p>
        </p:txBody>
      </p:sp>
      <p:sp>
        <p:nvSpPr>
          <p:cNvPr id="389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       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6BA20FD-8517-4095-A75C-5275B4B2D617}" type="slidenum">
              <a:rPr lang="en-US" smtClean="0"/>
              <a:pPr/>
              <a:t>23</a:t>
            </a:fld>
            <a:endParaRPr lang="en-US" smtClean="0"/>
          </a:p>
        </p:txBody>
      </p:sp>
      <p:sp>
        <p:nvSpPr>
          <p:cNvPr id="399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      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F182EA-A964-4C4C-9EED-176D0D082C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11EC0D-A645-46B6-941B-7A8D2A220B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4A6A7A-1A1D-4EDE-9DEC-DFC8B68B01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36D843-FB59-4A9D-917E-B7C3100E2D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F958A1-6B9E-477C-9ACF-29185D8D3D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90D3DF-EDD4-48B3-A7EF-270943B870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FA6EF0-46BD-4D26-98CE-4BAAD51245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01B9DE-23ED-4825-AA8D-8B753163D4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3BF4BE-1A58-423A-9714-0CFB710467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17E37-6EF8-497E-87D3-510B460E7C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82920E-06AC-4979-B37D-0484330676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9E5B57-0716-407F-8FF4-49EEB3A29F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3522D3D-C87A-4065-8581-CD6ABCD268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493838"/>
            <a:ext cx="6477000" cy="2925762"/>
          </a:xfrm>
        </p:spPr>
        <p:txBody>
          <a:bodyPr/>
          <a:lstStyle/>
          <a:p>
            <a:pPr eaLnBrk="1" hangingPunct="1"/>
            <a:r>
              <a:rPr lang="en-US" sz="6600" dirty="0" smtClean="0">
                <a:latin typeface="Meiryo" pitchFamily="34" charset="-128"/>
                <a:ea typeface="Meiryo" pitchFamily="34" charset="-128"/>
                <a:cs typeface="Meiryo" pitchFamily="34" charset="-128"/>
              </a:rPr>
              <a:t>Forming Ionic Compounds</a:t>
            </a:r>
            <a:br>
              <a:rPr lang="en-US" sz="6600" dirty="0" smtClean="0">
                <a:latin typeface="Meiryo" pitchFamily="34" charset="-128"/>
                <a:ea typeface="Meiryo" pitchFamily="34" charset="-128"/>
                <a:cs typeface="Meiryo" pitchFamily="34" charset="-128"/>
              </a:rPr>
            </a:br>
            <a:r>
              <a:rPr lang="en-US" sz="2400" dirty="0" smtClean="0">
                <a:latin typeface="Meiryo" pitchFamily="34" charset="-128"/>
                <a:ea typeface="Meiryo" pitchFamily="34" charset="-128"/>
                <a:cs typeface="Meiryo" pitchFamily="34" charset="-128"/>
              </a:rPr>
              <a:t> </a:t>
            </a:r>
            <a:br>
              <a:rPr lang="en-US" sz="2400" dirty="0" smtClean="0">
                <a:latin typeface="Meiryo" pitchFamily="34" charset="-128"/>
                <a:ea typeface="Meiryo" pitchFamily="34" charset="-128"/>
                <a:cs typeface="Meiryo" pitchFamily="34" charset="-128"/>
              </a:rPr>
            </a:br>
            <a:r>
              <a:rPr lang="en-US" sz="2400" dirty="0" err="1" smtClean="0">
                <a:latin typeface="Meiryo" pitchFamily="34" charset="-128"/>
                <a:ea typeface="Meiryo" pitchFamily="34" charset="-128"/>
                <a:cs typeface="Meiryo" pitchFamily="34" charset="-128"/>
              </a:rPr>
              <a:t>A</a:t>
            </a:r>
            <a:r>
              <a:rPr lang="en-US" sz="2400" dirty="0" err="1" smtClean="0">
                <a:latin typeface="Meiryo" pitchFamily="34" charset="-128"/>
                <a:ea typeface="Meiryo" pitchFamily="34" charset="-128"/>
                <a:cs typeface="Meiryo" pitchFamily="34" charset="-128"/>
              </a:rPr>
              <a:t>drena</a:t>
            </a:r>
            <a:r>
              <a:rPr lang="en-US" sz="2400" dirty="0" smtClean="0">
                <a:latin typeface="Meiryo" pitchFamily="34" charset="-128"/>
                <a:ea typeface="Meiryo" pitchFamily="34" charset="-128"/>
                <a:cs typeface="Meiryo" pitchFamily="34" charset="-128"/>
              </a:rPr>
              <a:t> McDonald</a:t>
            </a:r>
            <a:br>
              <a:rPr lang="en-US" sz="2400" dirty="0" smtClean="0">
                <a:latin typeface="Meiryo" pitchFamily="34" charset="-128"/>
                <a:ea typeface="Meiryo" pitchFamily="34" charset="-128"/>
                <a:cs typeface="Meiryo" pitchFamily="34" charset="-128"/>
              </a:rPr>
            </a:br>
            <a:r>
              <a:rPr lang="en-US" sz="2400" dirty="0" smtClean="0">
                <a:latin typeface="Meiryo" pitchFamily="34" charset="-128"/>
                <a:ea typeface="Meiryo" pitchFamily="34" charset="-128"/>
                <a:cs typeface="Meiryo" pitchFamily="34" charset="-128"/>
              </a:rPr>
              <a:t>Venture Alternative High School</a:t>
            </a:r>
            <a:endParaRPr lang="en-US" sz="6600" dirty="0" smtClean="0">
              <a:latin typeface="Meiryo" pitchFamily="34" charset="-128"/>
              <a:ea typeface="Meiryo" pitchFamily="34" charset="-128"/>
              <a:cs typeface="Meiryo" pitchFamily="34" charset="-128"/>
            </a:endParaRPr>
          </a:p>
        </p:txBody>
      </p:sp>
      <p:pic>
        <p:nvPicPr>
          <p:cNvPr id="3077" name="Picture 5" descr="C:\Users\Adrena\AppData\Local\Microsoft\Windows\Temporary Internet Files\Content.IE5\V03TKW28\MCj02379450000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53200" y="4648200"/>
            <a:ext cx="2203010" cy="1824273"/>
          </a:xfrm>
          <a:prstGeom prst="rect">
            <a:avLst/>
          </a:prstGeom>
          <a:noFill/>
        </p:spPr>
      </p:pic>
      <p:pic>
        <p:nvPicPr>
          <p:cNvPr id="3078" name="Picture 6" descr="C:\Users\Adrena\AppData\Local\Microsoft\Windows\Temporary Internet Files\Content.IE5\G32O4RP6\MCj0280813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4419600"/>
            <a:ext cx="1946495" cy="2023450"/>
          </a:xfrm>
          <a:prstGeom prst="rect">
            <a:avLst/>
          </a:prstGeom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Meiryo" pitchFamily="34" charset="-128"/>
                <a:ea typeface="Meiryo" pitchFamily="34" charset="-128"/>
                <a:cs typeface="Meiryo" pitchFamily="34" charset="-128"/>
              </a:rPr>
              <a:t>Before We Begin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Meiryo" pitchFamily="34" charset="-128"/>
                <a:ea typeface="Meiryo" pitchFamily="34" charset="-128"/>
                <a:cs typeface="Meiryo" pitchFamily="34" charset="-128"/>
              </a:rPr>
              <a:t>Cut out the ions from your student worksheets.</a:t>
            </a:r>
          </a:p>
          <a:p>
            <a:pPr eaLnBrk="1" hangingPunct="1"/>
            <a:r>
              <a:rPr lang="en-US" smtClean="0">
                <a:latin typeface="Meiryo" pitchFamily="34" charset="-128"/>
                <a:ea typeface="Meiryo" pitchFamily="34" charset="-128"/>
                <a:cs typeface="Meiryo" pitchFamily="34" charset="-128"/>
              </a:rPr>
              <a:t>Have a glue stick ready to attach the ions to your compound worksheet.</a:t>
            </a:r>
          </a:p>
          <a:p>
            <a:pPr eaLnBrk="1" hangingPunct="1"/>
            <a:r>
              <a:rPr lang="en-US" smtClean="0">
                <a:latin typeface="Meiryo" pitchFamily="34" charset="-128"/>
                <a:ea typeface="Meiryo" pitchFamily="34" charset="-128"/>
                <a:cs typeface="Meiryo" pitchFamily="34" charset="-128"/>
              </a:rPr>
              <a:t>Now, let’s do the first few together.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2"/>
          <p:cNvGrpSpPr>
            <a:grpSpLocks/>
          </p:cNvGrpSpPr>
          <p:nvPr/>
        </p:nvGrpSpPr>
        <p:grpSpPr bwMode="auto">
          <a:xfrm>
            <a:off x="5334000" y="4038600"/>
            <a:ext cx="1981200" cy="457200"/>
            <a:chOff x="1995268" y="0"/>
            <a:chExt cx="1967132" cy="457200"/>
          </a:xfrm>
        </p:grpSpPr>
        <p:sp>
          <p:nvSpPr>
            <p:cNvPr id="5154" name="Rectangle 3" descr="5%"/>
            <p:cNvSpPr>
              <a:spLocks noChangeArrowheads="1"/>
            </p:cNvSpPr>
            <p:nvPr/>
          </p:nvSpPr>
          <p:spPr bwMode="auto">
            <a:xfrm>
              <a:off x="2362200" y="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Cl</a:t>
              </a:r>
              <a:r>
                <a:rPr lang="en-US" sz="3600" baseline="30000"/>
                <a:t>-1</a:t>
              </a:r>
              <a:endParaRPr lang="en-US" sz="3600"/>
            </a:p>
          </p:txBody>
        </p:sp>
        <p:grpSp>
          <p:nvGrpSpPr>
            <p:cNvPr id="5155" name="Group 273"/>
            <p:cNvGrpSpPr>
              <a:grpSpLocks/>
            </p:cNvGrpSpPr>
            <p:nvPr/>
          </p:nvGrpSpPr>
          <p:grpSpPr bwMode="auto">
            <a:xfrm rot="10800000">
              <a:off x="1995268" y="0"/>
              <a:ext cx="366932" cy="457200"/>
              <a:chOff x="-762000" y="0"/>
              <a:chExt cx="366932" cy="457200"/>
            </a:xfrm>
          </p:grpSpPr>
          <p:cxnSp>
            <p:nvCxnSpPr>
              <p:cNvPr id="56" name="Straight Connector 55"/>
              <p:cNvCxnSpPr/>
              <p:nvPr/>
            </p:nvCxnSpPr>
            <p:spPr>
              <a:xfrm>
                <a:off x="-760753" y="0"/>
                <a:ext cx="367261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>
              <a:xfrm>
                <a:off x="-760753" y="457200"/>
                <a:ext cx="367261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/>
              <p:nvPr/>
            </p:nvCxnSpPr>
            <p:spPr>
              <a:xfrm flipV="1">
                <a:off x="-760753" y="0"/>
                <a:ext cx="367261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rot="5400000">
                <a:off x="-990930" y="228600"/>
                <a:ext cx="4572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-760753" y="228600"/>
                <a:ext cx="367261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" name="Group 44"/>
          <p:cNvGrpSpPr>
            <a:grpSpLocks/>
          </p:cNvGrpSpPr>
          <p:nvPr/>
        </p:nvGrpSpPr>
        <p:grpSpPr bwMode="auto">
          <a:xfrm>
            <a:off x="5257800" y="3048000"/>
            <a:ext cx="1966913" cy="457200"/>
            <a:chOff x="1995268" y="0"/>
            <a:chExt cx="1967132" cy="457200"/>
          </a:xfrm>
        </p:grpSpPr>
        <p:sp>
          <p:nvSpPr>
            <p:cNvPr id="5147" name="Rectangle 3" descr="5%"/>
            <p:cNvSpPr>
              <a:spLocks noChangeArrowheads="1"/>
            </p:cNvSpPr>
            <p:nvPr/>
          </p:nvSpPr>
          <p:spPr bwMode="auto">
            <a:xfrm>
              <a:off x="2362200" y="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Cl</a:t>
              </a:r>
              <a:r>
                <a:rPr lang="en-US" sz="3600" baseline="30000"/>
                <a:t>-1</a:t>
              </a:r>
              <a:endParaRPr lang="en-US" sz="3600"/>
            </a:p>
          </p:txBody>
        </p:sp>
        <p:grpSp>
          <p:nvGrpSpPr>
            <p:cNvPr id="5148" name="Group 273"/>
            <p:cNvGrpSpPr>
              <a:grpSpLocks/>
            </p:cNvGrpSpPr>
            <p:nvPr/>
          </p:nvGrpSpPr>
          <p:grpSpPr bwMode="auto">
            <a:xfrm rot="10800000">
              <a:off x="1995268" y="0"/>
              <a:ext cx="366932" cy="457200"/>
              <a:chOff x="-762000" y="0"/>
              <a:chExt cx="366932" cy="457200"/>
            </a:xfrm>
          </p:grpSpPr>
          <p:cxnSp>
            <p:nvCxnSpPr>
              <p:cNvPr id="48" name="Straight Connector 47"/>
              <p:cNvCxnSpPr/>
              <p:nvPr/>
            </p:nvCxnSpPr>
            <p:spPr>
              <a:xfrm>
                <a:off x="-760234" y="0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>
              <a:xfrm>
                <a:off x="-760234" y="457200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 flipV="1">
                <a:off x="-760234" y="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>
              <a:xfrm rot="5400000">
                <a:off x="-990422" y="228600"/>
                <a:ext cx="4572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>
              <a:xfrm>
                <a:off x="-760234" y="2286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Group 36"/>
          <p:cNvGrpSpPr>
            <a:grpSpLocks/>
          </p:cNvGrpSpPr>
          <p:nvPr/>
        </p:nvGrpSpPr>
        <p:grpSpPr bwMode="auto">
          <a:xfrm>
            <a:off x="5257800" y="1981200"/>
            <a:ext cx="1966913" cy="457200"/>
            <a:chOff x="1995268" y="0"/>
            <a:chExt cx="1967132" cy="457200"/>
          </a:xfrm>
        </p:grpSpPr>
        <p:sp>
          <p:nvSpPr>
            <p:cNvPr id="5140" name="Rectangle 3" descr="5%"/>
            <p:cNvSpPr>
              <a:spLocks noChangeArrowheads="1"/>
            </p:cNvSpPr>
            <p:nvPr/>
          </p:nvSpPr>
          <p:spPr bwMode="auto">
            <a:xfrm>
              <a:off x="2362200" y="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Cl</a:t>
              </a:r>
              <a:r>
                <a:rPr lang="en-US" sz="3600" baseline="30000"/>
                <a:t>-1</a:t>
              </a:r>
              <a:endParaRPr lang="en-US" sz="3600"/>
            </a:p>
          </p:txBody>
        </p:sp>
        <p:grpSp>
          <p:nvGrpSpPr>
            <p:cNvPr id="5141" name="Group 273"/>
            <p:cNvGrpSpPr>
              <a:grpSpLocks/>
            </p:cNvGrpSpPr>
            <p:nvPr/>
          </p:nvGrpSpPr>
          <p:grpSpPr bwMode="auto">
            <a:xfrm rot="10800000">
              <a:off x="1995268" y="0"/>
              <a:ext cx="366932" cy="457200"/>
              <a:chOff x="-762000" y="0"/>
              <a:chExt cx="366932" cy="457200"/>
            </a:xfrm>
          </p:grpSpPr>
          <p:cxnSp>
            <p:nvCxnSpPr>
              <p:cNvPr id="40" name="Straight Connector 39"/>
              <p:cNvCxnSpPr/>
              <p:nvPr/>
            </p:nvCxnSpPr>
            <p:spPr>
              <a:xfrm>
                <a:off x="-761822" y="0"/>
                <a:ext cx="366754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>
                <a:off x="-761822" y="457200"/>
                <a:ext cx="366754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>
              <a:xfrm flipV="1">
                <a:off x="-761822" y="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 rot="5400000">
                <a:off x="-992009" y="228600"/>
                <a:ext cx="4572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>
                <a:off x="-761822" y="22860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" name="Group 31"/>
          <p:cNvGrpSpPr>
            <a:grpSpLocks/>
          </p:cNvGrpSpPr>
          <p:nvPr/>
        </p:nvGrpSpPr>
        <p:grpSpPr bwMode="auto">
          <a:xfrm>
            <a:off x="685800" y="2209800"/>
            <a:ext cx="1981200" cy="1371600"/>
            <a:chOff x="0" y="0"/>
            <a:chExt cx="1981201" cy="1371600"/>
          </a:xfrm>
        </p:grpSpPr>
        <p:sp>
          <p:nvSpPr>
            <p:cNvPr id="5136" name="Rectangle 35" descr="10%"/>
            <p:cNvSpPr>
              <a:spLocks noChangeArrowheads="1"/>
            </p:cNvSpPr>
            <p:nvPr/>
          </p:nvSpPr>
          <p:spPr bwMode="auto">
            <a:xfrm>
              <a:off x="0" y="0"/>
              <a:ext cx="1600200" cy="1371600"/>
            </a:xfrm>
            <a:prstGeom prst="rect">
              <a:avLst/>
            </a:prstGeom>
            <a:pattFill prst="pct10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B</a:t>
              </a:r>
              <a:r>
                <a:rPr lang="en-US" sz="3600" baseline="30000"/>
                <a:t>+3</a:t>
              </a:r>
              <a:endParaRPr lang="en-US" sz="3600"/>
            </a:p>
          </p:txBody>
        </p:sp>
        <p:sp>
          <p:nvSpPr>
            <p:cNvPr id="5137" name="AutoShape 70" descr="5%"/>
            <p:cNvSpPr>
              <a:spLocks noChangeArrowheads="1"/>
            </p:cNvSpPr>
            <p:nvPr/>
          </p:nvSpPr>
          <p:spPr bwMode="auto">
            <a:xfrm rot="5400000">
              <a:off x="1562101" y="9525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8" name="AutoShape 72" descr="5%"/>
            <p:cNvSpPr>
              <a:spLocks noChangeArrowheads="1"/>
            </p:cNvSpPr>
            <p:nvPr/>
          </p:nvSpPr>
          <p:spPr bwMode="auto">
            <a:xfrm rot="5400000">
              <a:off x="1562101" y="381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9" name="AutoShape 73" descr="5%"/>
            <p:cNvSpPr>
              <a:spLocks noChangeArrowheads="1"/>
            </p:cNvSpPr>
            <p:nvPr/>
          </p:nvSpPr>
          <p:spPr bwMode="auto">
            <a:xfrm rot="5400000">
              <a:off x="1562101" y="4953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228" name="Text Box 36"/>
          <p:cNvSpPr txBox="1">
            <a:spLocks noChangeArrowheads="1"/>
          </p:cNvSpPr>
          <p:nvPr/>
        </p:nvSpPr>
        <p:spPr bwMode="auto">
          <a:xfrm>
            <a:off x="0" y="0"/>
            <a:ext cx="5181600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AutoNum type="arabicPeriod"/>
            </a:pPr>
            <a:endParaRPr lang="en-US" dirty="0" smtClean="0"/>
          </a:p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en-US" dirty="0" smtClean="0"/>
              <a:t>Boron </a:t>
            </a:r>
            <a:r>
              <a:rPr lang="en-US" dirty="0"/>
              <a:t>(B</a:t>
            </a:r>
            <a:r>
              <a:rPr lang="en-US" baseline="30000" dirty="0"/>
              <a:t>+3</a:t>
            </a:r>
            <a:r>
              <a:rPr lang="en-US" dirty="0"/>
              <a:t>) + Chlorine (Cl</a:t>
            </a:r>
            <a:r>
              <a:rPr lang="en-US" baseline="30000" dirty="0"/>
              <a:t>-1</a:t>
            </a:r>
            <a:r>
              <a:rPr lang="en-US" dirty="0"/>
              <a:t>)</a:t>
            </a:r>
          </a:p>
          <a:p>
            <a:pPr marL="342900" indent="-342900">
              <a:spcBef>
                <a:spcPct val="50000"/>
              </a:spcBef>
            </a:pPr>
            <a:r>
              <a:rPr lang="en-US" dirty="0"/>
              <a:t>     1 boron atom for every 3 chlorine atoms</a:t>
            </a:r>
          </a:p>
          <a:p>
            <a:pPr marL="342900" indent="-342900">
              <a:spcBef>
                <a:spcPct val="50000"/>
              </a:spcBef>
            </a:pPr>
            <a:r>
              <a:rPr lang="en-US" sz="3600" dirty="0"/>
              <a:t>1. BCl</a:t>
            </a:r>
            <a:r>
              <a:rPr lang="en-US" sz="3600" baseline="-25000" dirty="0"/>
              <a:t>3</a:t>
            </a:r>
          </a:p>
        </p:txBody>
      </p:sp>
      <p:sp>
        <p:nvSpPr>
          <p:cNvPr id="8231" name="Oval 39"/>
          <p:cNvSpPr>
            <a:spLocks noChangeArrowheads="1"/>
          </p:cNvSpPr>
          <p:nvPr/>
        </p:nvSpPr>
        <p:spPr bwMode="auto">
          <a:xfrm>
            <a:off x="338138" y="838200"/>
            <a:ext cx="228600" cy="3048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235" name="Oval 43"/>
          <p:cNvSpPr>
            <a:spLocks noChangeArrowheads="1"/>
          </p:cNvSpPr>
          <p:nvPr/>
        </p:nvSpPr>
        <p:spPr bwMode="auto">
          <a:xfrm>
            <a:off x="2700338" y="838200"/>
            <a:ext cx="228600" cy="304800"/>
          </a:xfrm>
          <a:prstGeom prst="ellips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236" name="Line 44"/>
          <p:cNvSpPr>
            <a:spLocks noChangeShapeType="1"/>
          </p:cNvSpPr>
          <p:nvPr/>
        </p:nvSpPr>
        <p:spPr bwMode="auto">
          <a:xfrm>
            <a:off x="609600" y="1143000"/>
            <a:ext cx="304800" cy="685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237" name="Line 45"/>
          <p:cNvSpPr>
            <a:spLocks noChangeShapeType="1"/>
          </p:cNvSpPr>
          <p:nvPr/>
        </p:nvSpPr>
        <p:spPr bwMode="auto">
          <a:xfrm flipH="1">
            <a:off x="1524000" y="1143000"/>
            <a:ext cx="1295400" cy="609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247" name="Text Box 55"/>
          <p:cNvSpPr txBox="1">
            <a:spLocks noChangeArrowheads="1"/>
          </p:cNvSpPr>
          <p:nvPr/>
        </p:nvSpPr>
        <p:spPr bwMode="auto">
          <a:xfrm>
            <a:off x="0" y="4343400"/>
            <a:ext cx="9144000" cy="2185988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5400"/>
              <a:t>boron chloride</a:t>
            </a:r>
          </a:p>
          <a:p>
            <a:pPr algn="ctr">
              <a:spcBef>
                <a:spcPct val="50000"/>
              </a:spcBef>
            </a:pPr>
            <a:r>
              <a:rPr lang="en-US" sz="5400"/>
              <a:t>BCl</a:t>
            </a:r>
            <a:r>
              <a:rPr lang="en-US" sz="5400" baseline="-25000"/>
              <a:t>3</a:t>
            </a:r>
          </a:p>
        </p:txBody>
      </p:sp>
      <p:sp>
        <p:nvSpPr>
          <p:cNvPr id="8248" name="Rectangle 56"/>
          <p:cNvSpPr>
            <a:spLocks noChangeArrowheads="1"/>
          </p:cNvSpPr>
          <p:nvPr/>
        </p:nvSpPr>
        <p:spPr bwMode="auto">
          <a:xfrm>
            <a:off x="685800" y="2209800"/>
            <a:ext cx="1600200" cy="13716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249" name="Rectangle 57"/>
          <p:cNvSpPr>
            <a:spLocks noChangeArrowheads="1"/>
          </p:cNvSpPr>
          <p:nvPr/>
        </p:nvSpPr>
        <p:spPr bwMode="auto">
          <a:xfrm>
            <a:off x="2681288" y="3124200"/>
            <a:ext cx="1600200" cy="457200"/>
          </a:xfrm>
          <a:prstGeom prst="rect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250" name="Rectangle 58"/>
          <p:cNvSpPr>
            <a:spLocks noChangeArrowheads="1"/>
          </p:cNvSpPr>
          <p:nvPr/>
        </p:nvSpPr>
        <p:spPr bwMode="auto">
          <a:xfrm>
            <a:off x="2681288" y="2667000"/>
            <a:ext cx="1600200" cy="457200"/>
          </a:xfrm>
          <a:prstGeom prst="rect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251" name="Rectangle 59"/>
          <p:cNvSpPr>
            <a:spLocks noChangeArrowheads="1"/>
          </p:cNvSpPr>
          <p:nvPr/>
        </p:nvSpPr>
        <p:spPr bwMode="auto">
          <a:xfrm>
            <a:off x="2681288" y="2209800"/>
            <a:ext cx="1600200" cy="457200"/>
          </a:xfrm>
          <a:prstGeom prst="rect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0156 -4.14431E-6 L -0.32257 0.03331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" y="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0"/>
                            </p:stCondLst>
                            <p:childTnLst>
                              <p:par>
                                <p:cTn id="20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0156 4.19981E-6 L -0.32257 -0.05551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" y="-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9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0"/>
                            </p:stCondLst>
                            <p:childTnLst>
                              <p:par>
                                <p:cTn id="26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0156 0.00208 L -0.3309 -0.13321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6" y="-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4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6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7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8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9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1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2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3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31" grpId="0" animBg="1"/>
      <p:bldP spid="8235" grpId="0" animBg="1"/>
      <p:bldP spid="8236" grpId="0" animBg="1"/>
      <p:bldP spid="8237" grpId="0" animBg="1"/>
      <p:bldP spid="8247" grpId="0" animBg="1"/>
      <p:bldP spid="8248" grpId="0" animBg="1"/>
      <p:bldP spid="8249" grpId="0" animBg="1"/>
      <p:bldP spid="8250" grpId="0" animBg="1"/>
      <p:bldP spid="825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0" y="0"/>
            <a:ext cx="5181600" cy="201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</a:pPr>
            <a:endParaRPr lang="en-US" dirty="0" smtClean="0"/>
          </a:p>
          <a:p>
            <a:pPr marL="342900" indent="-342900">
              <a:spcBef>
                <a:spcPct val="50000"/>
              </a:spcBef>
            </a:pPr>
            <a:r>
              <a:rPr lang="en-US" dirty="0" smtClean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. Magnesium (Mg</a:t>
            </a:r>
            <a:r>
              <a:rPr lang="en-US" baseline="30000" dirty="0">
                <a:sym typeface="Wingdings" pitchFamily="2" charset="2"/>
              </a:rPr>
              <a:t>+2</a:t>
            </a:r>
            <a:r>
              <a:rPr lang="en-US" dirty="0">
                <a:sym typeface="Wingdings" pitchFamily="2" charset="2"/>
              </a:rPr>
              <a:t>) + Chlorine </a:t>
            </a:r>
            <a:r>
              <a:rPr lang="en-US" dirty="0"/>
              <a:t>(Cl</a:t>
            </a:r>
            <a:r>
              <a:rPr lang="en-US" baseline="30000" dirty="0"/>
              <a:t>-1</a:t>
            </a:r>
            <a:r>
              <a:rPr lang="en-US" dirty="0"/>
              <a:t>)</a:t>
            </a:r>
          </a:p>
          <a:p>
            <a:pPr marL="342900" indent="-342900">
              <a:spcBef>
                <a:spcPct val="50000"/>
              </a:spcBef>
            </a:pPr>
            <a:r>
              <a:rPr lang="en-US" dirty="0"/>
              <a:t>     1 magnesium atom for every 2 chlorine atoms</a:t>
            </a:r>
          </a:p>
          <a:p>
            <a:pPr marL="342900" indent="-342900">
              <a:spcBef>
                <a:spcPct val="50000"/>
              </a:spcBef>
            </a:pPr>
            <a:r>
              <a:rPr lang="en-US" sz="3600" dirty="0"/>
              <a:t>2. MgCl</a:t>
            </a:r>
            <a:r>
              <a:rPr lang="en-US" sz="3600" baseline="-25000" dirty="0"/>
              <a:t>2</a:t>
            </a: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338138" y="838200"/>
            <a:ext cx="228600" cy="3048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295650" y="838200"/>
            <a:ext cx="228600" cy="304800"/>
          </a:xfrm>
          <a:prstGeom prst="ellips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2" name="Line 16"/>
          <p:cNvSpPr>
            <a:spLocks noChangeShapeType="1"/>
          </p:cNvSpPr>
          <p:nvPr/>
        </p:nvSpPr>
        <p:spPr bwMode="auto">
          <a:xfrm>
            <a:off x="609600" y="1143000"/>
            <a:ext cx="685800" cy="762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33" name="Line 17"/>
          <p:cNvSpPr>
            <a:spLocks noChangeShapeType="1"/>
          </p:cNvSpPr>
          <p:nvPr/>
        </p:nvSpPr>
        <p:spPr bwMode="auto">
          <a:xfrm flipH="1">
            <a:off x="1905000" y="1143000"/>
            <a:ext cx="1447800" cy="685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0" y="4343400"/>
            <a:ext cx="9144000" cy="2185988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5400"/>
              <a:t>magnesium chloride</a:t>
            </a:r>
          </a:p>
          <a:p>
            <a:pPr algn="ctr">
              <a:spcBef>
                <a:spcPct val="50000"/>
              </a:spcBef>
            </a:pPr>
            <a:r>
              <a:rPr lang="en-US" sz="5400"/>
              <a:t>MgCl</a:t>
            </a:r>
            <a:r>
              <a:rPr lang="en-US" sz="5400" baseline="-25000"/>
              <a:t>2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838200" y="2133600"/>
            <a:ext cx="1981200" cy="914400"/>
            <a:chOff x="0" y="3657600"/>
            <a:chExt cx="1981200" cy="914400"/>
          </a:xfrm>
        </p:grpSpPr>
        <p:sp>
          <p:nvSpPr>
            <p:cNvPr id="6169" name="Rectangle 62" descr="5%"/>
            <p:cNvSpPr>
              <a:spLocks noChangeArrowheads="1"/>
            </p:cNvSpPr>
            <p:nvPr/>
          </p:nvSpPr>
          <p:spPr bwMode="auto">
            <a:xfrm>
              <a:off x="0" y="3657600"/>
              <a:ext cx="1600200" cy="9144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Mg</a:t>
              </a:r>
              <a:r>
                <a:rPr lang="en-US" sz="3600" baseline="30000"/>
                <a:t>+2</a:t>
              </a:r>
              <a:endParaRPr lang="en-US" sz="3600"/>
            </a:p>
          </p:txBody>
        </p:sp>
        <p:sp>
          <p:nvSpPr>
            <p:cNvPr id="6170" name="AutoShape 70" descr="5%"/>
            <p:cNvSpPr>
              <a:spLocks noChangeArrowheads="1"/>
            </p:cNvSpPr>
            <p:nvPr/>
          </p:nvSpPr>
          <p:spPr bwMode="auto">
            <a:xfrm rot="5400000">
              <a:off x="1562100" y="36957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1" name="AutoShape 72" descr="5%"/>
            <p:cNvSpPr>
              <a:spLocks noChangeArrowheads="1"/>
            </p:cNvSpPr>
            <p:nvPr/>
          </p:nvSpPr>
          <p:spPr bwMode="auto">
            <a:xfrm rot="5400000">
              <a:off x="1562100" y="41529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5257800" y="1981200"/>
            <a:ext cx="1966913" cy="457200"/>
            <a:chOff x="1995268" y="0"/>
            <a:chExt cx="1967132" cy="457200"/>
          </a:xfrm>
        </p:grpSpPr>
        <p:sp>
          <p:nvSpPr>
            <p:cNvPr id="6162" name="Rectangle 3" descr="5%"/>
            <p:cNvSpPr>
              <a:spLocks noChangeArrowheads="1"/>
            </p:cNvSpPr>
            <p:nvPr/>
          </p:nvSpPr>
          <p:spPr bwMode="auto">
            <a:xfrm>
              <a:off x="2362200" y="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 dirty="0"/>
                <a:t>Cl</a:t>
              </a:r>
              <a:r>
                <a:rPr lang="en-US" sz="3600" baseline="30000" dirty="0"/>
                <a:t>-1</a:t>
              </a:r>
              <a:endParaRPr lang="en-US" sz="3600" dirty="0"/>
            </a:p>
          </p:txBody>
        </p:sp>
        <p:grpSp>
          <p:nvGrpSpPr>
            <p:cNvPr id="6163" name="Group 273"/>
            <p:cNvGrpSpPr>
              <a:grpSpLocks/>
            </p:cNvGrpSpPr>
            <p:nvPr/>
          </p:nvGrpSpPr>
          <p:grpSpPr bwMode="auto">
            <a:xfrm rot="10800000">
              <a:off x="1995268" y="0"/>
              <a:ext cx="366932" cy="457200"/>
              <a:chOff x="-762000" y="0"/>
              <a:chExt cx="366932" cy="457200"/>
            </a:xfrm>
          </p:grpSpPr>
          <p:cxnSp>
            <p:nvCxnSpPr>
              <p:cNvPr id="29" name="Straight Connector 28"/>
              <p:cNvCxnSpPr/>
              <p:nvPr/>
            </p:nvCxnSpPr>
            <p:spPr>
              <a:xfrm>
                <a:off x="-761822" y="0"/>
                <a:ext cx="366754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-761822" y="457200"/>
                <a:ext cx="366754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 flipV="1">
                <a:off x="-761822" y="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 rot="5400000">
                <a:off x="-992009" y="228600"/>
                <a:ext cx="4572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>
                <a:off x="-761822" y="22860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" name="Group 33"/>
          <p:cNvGrpSpPr>
            <a:grpSpLocks/>
          </p:cNvGrpSpPr>
          <p:nvPr/>
        </p:nvGrpSpPr>
        <p:grpSpPr bwMode="auto">
          <a:xfrm>
            <a:off x="5257800" y="3124200"/>
            <a:ext cx="1966913" cy="457200"/>
            <a:chOff x="1995268" y="0"/>
            <a:chExt cx="1967132" cy="457200"/>
          </a:xfrm>
        </p:grpSpPr>
        <p:sp>
          <p:nvSpPr>
            <p:cNvPr id="6155" name="Rectangle 3" descr="5%"/>
            <p:cNvSpPr>
              <a:spLocks noChangeArrowheads="1"/>
            </p:cNvSpPr>
            <p:nvPr/>
          </p:nvSpPr>
          <p:spPr bwMode="auto">
            <a:xfrm>
              <a:off x="2362200" y="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Cl</a:t>
              </a:r>
              <a:r>
                <a:rPr lang="en-US" sz="3600" baseline="30000"/>
                <a:t>-1</a:t>
              </a:r>
              <a:endParaRPr lang="en-US" sz="3600"/>
            </a:p>
          </p:txBody>
        </p:sp>
        <p:grpSp>
          <p:nvGrpSpPr>
            <p:cNvPr id="6156" name="Group 273"/>
            <p:cNvGrpSpPr>
              <a:grpSpLocks/>
            </p:cNvGrpSpPr>
            <p:nvPr/>
          </p:nvGrpSpPr>
          <p:grpSpPr bwMode="auto">
            <a:xfrm rot="10800000">
              <a:off x="1995268" y="0"/>
              <a:ext cx="366932" cy="457200"/>
              <a:chOff x="-762000" y="0"/>
              <a:chExt cx="366932" cy="457200"/>
            </a:xfrm>
          </p:grpSpPr>
          <p:cxnSp>
            <p:nvCxnSpPr>
              <p:cNvPr id="37" name="Straight Connector 36"/>
              <p:cNvCxnSpPr/>
              <p:nvPr/>
            </p:nvCxnSpPr>
            <p:spPr>
              <a:xfrm>
                <a:off x="-760234" y="0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>
              <a:xfrm>
                <a:off x="-760234" y="457200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 flipV="1">
                <a:off x="-760234" y="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 rot="5400000">
                <a:off x="-990422" y="228600"/>
                <a:ext cx="4572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>
                <a:off x="-760234" y="2286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4.72222E-6 -4.14431E-6 L -0.30747 0.02221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" y="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000"/>
                            </p:stCondLst>
                            <p:childTnLst>
                              <p:par>
                                <p:cTn id="20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4.72222E-6 3.36725E-6 L -0.30747 -0.07771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" y="-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1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30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6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0" grpId="0" animBg="1"/>
      <p:bldP spid="9231" grpId="0" animBg="1"/>
      <p:bldP spid="9232" grpId="0" animBg="1"/>
      <p:bldP spid="9233" grpId="0" animBg="1"/>
      <p:bldP spid="925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0" y="0"/>
            <a:ext cx="5181600" cy="201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</a:pPr>
            <a:endParaRPr lang="en-US" dirty="0" smtClean="0"/>
          </a:p>
          <a:p>
            <a:pPr marL="342900" indent="-342900">
              <a:spcBef>
                <a:spcPct val="50000"/>
              </a:spcBef>
            </a:pPr>
            <a:r>
              <a:rPr lang="en-US" dirty="0" smtClean="0">
                <a:sym typeface="Wingdings" pitchFamily="2" charset="2"/>
              </a:rPr>
              <a:t>3</a:t>
            </a:r>
            <a:r>
              <a:rPr lang="en-US" dirty="0">
                <a:sym typeface="Wingdings" pitchFamily="2" charset="2"/>
              </a:rPr>
              <a:t>.  Sodium (Na</a:t>
            </a:r>
            <a:r>
              <a:rPr lang="en-US" baseline="30000" dirty="0">
                <a:sym typeface="Wingdings" pitchFamily="2" charset="2"/>
              </a:rPr>
              <a:t>+1</a:t>
            </a:r>
            <a:r>
              <a:rPr lang="en-US" dirty="0">
                <a:sym typeface="Wingdings" pitchFamily="2" charset="2"/>
              </a:rPr>
              <a:t>) + Chlorine </a:t>
            </a:r>
            <a:r>
              <a:rPr lang="en-US" dirty="0"/>
              <a:t>(Cl</a:t>
            </a:r>
            <a:r>
              <a:rPr lang="en-US" baseline="30000" dirty="0"/>
              <a:t>-1</a:t>
            </a:r>
            <a:r>
              <a:rPr lang="en-US" dirty="0"/>
              <a:t>)</a:t>
            </a:r>
          </a:p>
          <a:p>
            <a:pPr marL="342900" indent="-342900">
              <a:spcBef>
                <a:spcPct val="50000"/>
              </a:spcBef>
            </a:pPr>
            <a:r>
              <a:rPr lang="en-US" dirty="0"/>
              <a:t>     1 sodium atom for every 1 chlorine atom</a:t>
            </a:r>
          </a:p>
          <a:p>
            <a:pPr marL="342900" indent="-342900">
              <a:spcBef>
                <a:spcPct val="50000"/>
              </a:spcBef>
            </a:pPr>
            <a:r>
              <a:rPr lang="en-US" sz="3600" dirty="0"/>
              <a:t>3. </a:t>
            </a:r>
            <a:r>
              <a:rPr lang="en-US" sz="3600" dirty="0" err="1"/>
              <a:t>NaCl</a:t>
            </a:r>
            <a:endParaRPr lang="en-US" sz="3600" dirty="0"/>
          </a:p>
        </p:txBody>
      </p:sp>
      <p:sp>
        <p:nvSpPr>
          <p:cNvPr id="10243" name="Oval 3"/>
          <p:cNvSpPr>
            <a:spLocks noChangeArrowheads="1"/>
          </p:cNvSpPr>
          <p:nvPr/>
        </p:nvSpPr>
        <p:spPr bwMode="auto">
          <a:xfrm>
            <a:off x="338138" y="838200"/>
            <a:ext cx="228600" cy="3048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4" name="Oval 4"/>
          <p:cNvSpPr>
            <a:spLocks noChangeArrowheads="1"/>
          </p:cNvSpPr>
          <p:nvPr/>
        </p:nvSpPr>
        <p:spPr bwMode="auto">
          <a:xfrm>
            <a:off x="2852738" y="838200"/>
            <a:ext cx="228600" cy="304800"/>
          </a:xfrm>
          <a:prstGeom prst="ellips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5" name="Line 5"/>
          <p:cNvSpPr>
            <a:spLocks noChangeShapeType="1"/>
          </p:cNvSpPr>
          <p:nvPr/>
        </p:nvSpPr>
        <p:spPr bwMode="auto">
          <a:xfrm>
            <a:off x="609600" y="1143000"/>
            <a:ext cx="609600" cy="685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246" name="Line 6"/>
          <p:cNvSpPr>
            <a:spLocks noChangeShapeType="1"/>
          </p:cNvSpPr>
          <p:nvPr/>
        </p:nvSpPr>
        <p:spPr bwMode="auto">
          <a:xfrm flipH="1">
            <a:off x="1600200" y="1143000"/>
            <a:ext cx="1447800" cy="685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266" name="Text Box 26"/>
          <p:cNvSpPr txBox="1">
            <a:spLocks noChangeArrowheads="1"/>
          </p:cNvSpPr>
          <p:nvPr/>
        </p:nvSpPr>
        <p:spPr bwMode="auto">
          <a:xfrm>
            <a:off x="0" y="4343400"/>
            <a:ext cx="9144000" cy="2185988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5400"/>
              <a:t>sodium chloride</a:t>
            </a:r>
          </a:p>
          <a:p>
            <a:pPr algn="ctr">
              <a:spcBef>
                <a:spcPct val="50000"/>
              </a:spcBef>
            </a:pPr>
            <a:r>
              <a:rPr lang="en-US" sz="5400"/>
              <a:t>NaCl</a:t>
            </a:r>
            <a:endParaRPr lang="en-US" sz="5400" baseline="-25000"/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762000" y="2209800"/>
            <a:ext cx="1981200" cy="457200"/>
            <a:chOff x="0" y="4572000"/>
            <a:chExt cx="1981200" cy="457200"/>
          </a:xfrm>
        </p:grpSpPr>
        <p:sp>
          <p:nvSpPr>
            <p:cNvPr id="7185" name="Rectangle 103" descr="5%"/>
            <p:cNvSpPr>
              <a:spLocks noChangeArrowheads="1"/>
            </p:cNvSpPr>
            <p:nvPr/>
          </p:nvSpPr>
          <p:spPr bwMode="auto">
            <a:xfrm flipH="1">
              <a:off x="0" y="457200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Na</a:t>
              </a:r>
              <a:r>
                <a:rPr lang="en-US" sz="3600" baseline="30000"/>
                <a:t>+1</a:t>
              </a:r>
              <a:endParaRPr lang="en-US" sz="3600"/>
            </a:p>
          </p:txBody>
        </p:sp>
        <p:sp>
          <p:nvSpPr>
            <p:cNvPr id="7186" name="AutoShape 73" descr="5%"/>
            <p:cNvSpPr>
              <a:spLocks noChangeArrowheads="1"/>
            </p:cNvSpPr>
            <p:nvPr/>
          </p:nvSpPr>
          <p:spPr bwMode="auto">
            <a:xfrm rot="5400000">
              <a:off x="1562100" y="46101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5202238" y="2051050"/>
            <a:ext cx="1966912" cy="457200"/>
            <a:chOff x="1995268" y="0"/>
            <a:chExt cx="1967132" cy="457200"/>
          </a:xfrm>
        </p:grpSpPr>
        <p:sp>
          <p:nvSpPr>
            <p:cNvPr id="7178" name="Rectangle 3" descr="5%"/>
            <p:cNvSpPr>
              <a:spLocks noChangeArrowheads="1"/>
            </p:cNvSpPr>
            <p:nvPr/>
          </p:nvSpPr>
          <p:spPr bwMode="auto">
            <a:xfrm>
              <a:off x="2362200" y="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Cl</a:t>
              </a:r>
              <a:r>
                <a:rPr lang="en-US" sz="3600" baseline="30000"/>
                <a:t>-1</a:t>
              </a:r>
              <a:endParaRPr lang="en-US" sz="3600"/>
            </a:p>
          </p:txBody>
        </p:sp>
        <p:grpSp>
          <p:nvGrpSpPr>
            <p:cNvPr id="7179" name="Group 273"/>
            <p:cNvGrpSpPr>
              <a:grpSpLocks/>
            </p:cNvGrpSpPr>
            <p:nvPr/>
          </p:nvGrpSpPr>
          <p:grpSpPr bwMode="auto">
            <a:xfrm rot="10800000">
              <a:off x="1995268" y="0"/>
              <a:ext cx="366932" cy="457200"/>
              <a:chOff x="-762000" y="0"/>
              <a:chExt cx="366932" cy="457200"/>
            </a:xfrm>
          </p:grpSpPr>
          <p:cxnSp>
            <p:nvCxnSpPr>
              <p:cNvPr id="22" name="Straight Connector 21"/>
              <p:cNvCxnSpPr/>
              <p:nvPr/>
            </p:nvCxnSpPr>
            <p:spPr>
              <a:xfrm>
                <a:off x="-761821" y="0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-761821" y="457200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 flipV="1">
                <a:off x="-761821" y="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 rot="5400000">
                <a:off x="-992009" y="228600"/>
                <a:ext cx="4572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-761821" y="2286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4.72222E-6 -4.14431E-6 L -0.30747 0.02221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" y="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1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animBg="1"/>
      <p:bldP spid="10244" grpId="0" animBg="1"/>
      <p:bldP spid="10245" grpId="0" animBg="1"/>
      <p:bldP spid="10246" grpId="0" animBg="1"/>
      <p:bldP spid="1026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0" y="0"/>
            <a:ext cx="5181600" cy="201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</a:pPr>
            <a:endParaRPr lang="en-US" dirty="0" smtClean="0"/>
          </a:p>
          <a:p>
            <a:pPr marL="342900" indent="-342900">
              <a:spcBef>
                <a:spcPct val="50000"/>
              </a:spcBef>
            </a:pPr>
            <a:r>
              <a:rPr lang="en-US" dirty="0" smtClean="0">
                <a:sym typeface="Wingdings" pitchFamily="2" charset="2"/>
              </a:rPr>
              <a:t>4</a:t>
            </a:r>
            <a:r>
              <a:rPr lang="en-US" dirty="0">
                <a:sym typeface="Wingdings" pitchFamily="2" charset="2"/>
              </a:rPr>
              <a:t>. Calcium (Ca</a:t>
            </a:r>
            <a:r>
              <a:rPr lang="en-US" baseline="30000" dirty="0">
                <a:sym typeface="Wingdings" pitchFamily="2" charset="2"/>
              </a:rPr>
              <a:t>+2</a:t>
            </a:r>
            <a:r>
              <a:rPr lang="en-US" dirty="0">
                <a:sym typeface="Wingdings" pitchFamily="2" charset="2"/>
              </a:rPr>
              <a:t>) + Sulfur (S</a:t>
            </a:r>
            <a:r>
              <a:rPr lang="en-US" baseline="30000" dirty="0">
                <a:sym typeface="Wingdings" pitchFamily="2" charset="2"/>
              </a:rPr>
              <a:t>-2</a:t>
            </a:r>
            <a:r>
              <a:rPr lang="en-US" dirty="0">
                <a:sym typeface="Wingdings" pitchFamily="2" charset="2"/>
              </a:rPr>
              <a:t>)</a:t>
            </a:r>
            <a:endParaRPr lang="en-US" dirty="0"/>
          </a:p>
          <a:p>
            <a:pPr marL="342900" indent="-342900">
              <a:spcBef>
                <a:spcPct val="50000"/>
              </a:spcBef>
            </a:pPr>
            <a:r>
              <a:rPr lang="en-US" dirty="0"/>
              <a:t>     1 calcium atom for every 1 sulfur atom</a:t>
            </a:r>
          </a:p>
          <a:p>
            <a:pPr marL="342900" indent="-342900">
              <a:spcBef>
                <a:spcPct val="50000"/>
              </a:spcBef>
            </a:pPr>
            <a:r>
              <a:rPr lang="en-US" sz="3600" dirty="0"/>
              <a:t>4. </a:t>
            </a:r>
            <a:r>
              <a:rPr lang="en-US" sz="3600" dirty="0" err="1"/>
              <a:t>CaS</a:t>
            </a:r>
            <a:endParaRPr lang="en-US" sz="3600" dirty="0"/>
          </a:p>
        </p:txBody>
      </p:sp>
      <p:sp>
        <p:nvSpPr>
          <p:cNvPr id="11267" name="Oval 3"/>
          <p:cNvSpPr>
            <a:spLocks noChangeArrowheads="1"/>
          </p:cNvSpPr>
          <p:nvPr/>
        </p:nvSpPr>
        <p:spPr bwMode="auto">
          <a:xfrm>
            <a:off x="338138" y="838200"/>
            <a:ext cx="228600" cy="3048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68" name="Oval 4"/>
          <p:cNvSpPr>
            <a:spLocks noChangeArrowheads="1"/>
          </p:cNvSpPr>
          <p:nvPr/>
        </p:nvSpPr>
        <p:spPr bwMode="auto">
          <a:xfrm>
            <a:off x="2887663" y="852488"/>
            <a:ext cx="228600" cy="304800"/>
          </a:xfrm>
          <a:prstGeom prst="ellips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69" name="Line 5"/>
          <p:cNvSpPr>
            <a:spLocks noChangeShapeType="1"/>
          </p:cNvSpPr>
          <p:nvPr/>
        </p:nvSpPr>
        <p:spPr bwMode="auto">
          <a:xfrm>
            <a:off x="533400" y="1143000"/>
            <a:ext cx="652463" cy="685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270" name="Line 6"/>
          <p:cNvSpPr>
            <a:spLocks noChangeShapeType="1"/>
          </p:cNvSpPr>
          <p:nvPr/>
        </p:nvSpPr>
        <p:spPr bwMode="auto">
          <a:xfrm flipH="1">
            <a:off x="1524000" y="1143000"/>
            <a:ext cx="1524000" cy="685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291" name="Text Box 27"/>
          <p:cNvSpPr txBox="1">
            <a:spLocks noChangeArrowheads="1"/>
          </p:cNvSpPr>
          <p:nvPr/>
        </p:nvSpPr>
        <p:spPr bwMode="auto">
          <a:xfrm>
            <a:off x="0" y="4343400"/>
            <a:ext cx="9144000" cy="2185988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5400"/>
              <a:t>calcium sulfide</a:t>
            </a:r>
          </a:p>
          <a:p>
            <a:pPr algn="ctr">
              <a:spcBef>
                <a:spcPct val="50000"/>
              </a:spcBef>
            </a:pPr>
            <a:r>
              <a:rPr lang="en-US" sz="5400"/>
              <a:t>CaS</a:t>
            </a:r>
            <a:endParaRPr lang="en-US" sz="5400" baseline="-25000"/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685800" y="2209800"/>
            <a:ext cx="1981200" cy="914400"/>
            <a:chOff x="0" y="1371600"/>
            <a:chExt cx="1981200" cy="914400"/>
          </a:xfrm>
        </p:grpSpPr>
        <p:sp>
          <p:nvSpPr>
            <p:cNvPr id="8211" name="Rectangle 181" descr="5%"/>
            <p:cNvSpPr>
              <a:spLocks noChangeArrowheads="1"/>
            </p:cNvSpPr>
            <p:nvPr/>
          </p:nvSpPr>
          <p:spPr bwMode="auto">
            <a:xfrm>
              <a:off x="0" y="1371600"/>
              <a:ext cx="1600200" cy="9144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Ca</a:t>
              </a:r>
              <a:r>
                <a:rPr lang="en-US" sz="3600" baseline="30000"/>
                <a:t>+2</a:t>
              </a:r>
              <a:endParaRPr lang="en-US" sz="3600"/>
            </a:p>
          </p:txBody>
        </p:sp>
        <p:sp>
          <p:nvSpPr>
            <p:cNvPr id="8212" name="AutoShape 72" descr="5%"/>
            <p:cNvSpPr>
              <a:spLocks noChangeArrowheads="1"/>
            </p:cNvSpPr>
            <p:nvPr/>
          </p:nvSpPr>
          <p:spPr bwMode="auto">
            <a:xfrm rot="5400000">
              <a:off x="1562100" y="14097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3" name="AutoShape 73" descr="5%"/>
            <p:cNvSpPr>
              <a:spLocks noChangeArrowheads="1"/>
            </p:cNvSpPr>
            <p:nvPr/>
          </p:nvSpPr>
          <p:spPr bwMode="auto">
            <a:xfrm rot="5400000">
              <a:off x="1562100" y="18669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31"/>
          <p:cNvGrpSpPr>
            <a:grpSpLocks/>
          </p:cNvGrpSpPr>
          <p:nvPr/>
        </p:nvGrpSpPr>
        <p:grpSpPr bwMode="auto">
          <a:xfrm>
            <a:off x="5257800" y="2438400"/>
            <a:ext cx="1966913" cy="914400"/>
            <a:chOff x="1995268" y="5486400"/>
            <a:chExt cx="1967132" cy="914400"/>
          </a:xfrm>
        </p:grpSpPr>
        <p:sp>
          <p:nvSpPr>
            <p:cNvPr id="8202" name="Rectangle 120" descr="5%"/>
            <p:cNvSpPr>
              <a:spLocks noChangeArrowheads="1"/>
            </p:cNvSpPr>
            <p:nvPr/>
          </p:nvSpPr>
          <p:spPr bwMode="auto">
            <a:xfrm>
              <a:off x="2362200" y="5486400"/>
              <a:ext cx="1600200" cy="9144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S</a:t>
              </a:r>
              <a:r>
                <a:rPr lang="en-US" sz="3600" baseline="30000"/>
                <a:t>-2</a:t>
              </a:r>
              <a:endParaRPr lang="en-US" sz="3600"/>
            </a:p>
          </p:txBody>
        </p:sp>
        <p:grpSp>
          <p:nvGrpSpPr>
            <p:cNvPr id="8203" name="Group 339"/>
            <p:cNvGrpSpPr>
              <a:grpSpLocks/>
            </p:cNvGrpSpPr>
            <p:nvPr/>
          </p:nvGrpSpPr>
          <p:grpSpPr bwMode="auto">
            <a:xfrm rot="10800000">
              <a:off x="1995268" y="5486400"/>
              <a:ext cx="366932" cy="914400"/>
              <a:chOff x="-762000" y="2743200"/>
              <a:chExt cx="366932" cy="914400"/>
            </a:xfrm>
          </p:grpSpPr>
          <p:cxnSp>
            <p:nvCxnSpPr>
              <p:cNvPr id="35" name="Straight Connector 34"/>
              <p:cNvCxnSpPr/>
              <p:nvPr/>
            </p:nvCxnSpPr>
            <p:spPr>
              <a:xfrm>
                <a:off x="-761822" y="2743200"/>
                <a:ext cx="366754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>
                <a:off x="-760234" y="3657600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 flipV="1">
                <a:off x="-760234" y="32004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>
              <a:xfrm rot="5400000">
                <a:off x="-1220609" y="3200400"/>
                <a:ext cx="9144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>
                <a:off x="-761822" y="297180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>
                <a:off x="-760234" y="34290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 flipV="1">
                <a:off x="-761822" y="274320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4.72222E-6 -1.63737E-6 L -0.32414 -0.0333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" y="-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9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1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animBg="1"/>
      <p:bldP spid="11268" grpId="0" animBg="1"/>
      <p:bldP spid="11269" grpId="0" animBg="1"/>
      <p:bldP spid="11270" grpId="0" animBg="1"/>
      <p:bldP spid="1129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0" y="0"/>
            <a:ext cx="5181600" cy="201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</a:pPr>
            <a:endParaRPr lang="en-US" dirty="0" smtClean="0"/>
          </a:p>
          <a:p>
            <a:pPr marL="342900" indent="-342900">
              <a:spcBef>
                <a:spcPct val="50000"/>
              </a:spcBef>
            </a:pPr>
            <a:r>
              <a:rPr lang="en-US" dirty="0" smtClean="0">
                <a:sym typeface="Wingdings" pitchFamily="2" charset="2"/>
              </a:rPr>
              <a:t>5</a:t>
            </a:r>
            <a:r>
              <a:rPr lang="en-US" dirty="0">
                <a:sym typeface="Wingdings" pitchFamily="2" charset="2"/>
              </a:rPr>
              <a:t>. Aluminum (Al</a:t>
            </a:r>
            <a:r>
              <a:rPr lang="en-US" baseline="30000" dirty="0">
                <a:sym typeface="Wingdings" pitchFamily="2" charset="2"/>
              </a:rPr>
              <a:t>+3</a:t>
            </a:r>
            <a:r>
              <a:rPr lang="en-US" dirty="0">
                <a:sym typeface="Wingdings" pitchFamily="2" charset="2"/>
              </a:rPr>
              <a:t>) + Nitrogen (N</a:t>
            </a:r>
            <a:r>
              <a:rPr lang="en-US" baseline="30000" dirty="0">
                <a:sym typeface="Wingdings" pitchFamily="2" charset="2"/>
              </a:rPr>
              <a:t>-3</a:t>
            </a:r>
            <a:r>
              <a:rPr lang="en-US" dirty="0">
                <a:sym typeface="Wingdings" pitchFamily="2" charset="2"/>
              </a:rPr>
              <a:t>)</a:t>
            </a:r>
            <a:endParaRPr lang="en-US" dirty="0"/>
          </a:p>
          <a:p>
            <a:pPr marL="342900" indent="-342900">
              <a:spcBef>
                <a:spcPct val="50000"/>
              </a:spcBef>
            </a:pPr>
            <a:r>
              <a:rPr lang="en-US" dirty="0"/>
              <a:t>     1 aluminum atom for every 1 nitrogen atom</a:t>
            </a:r>
          </a:p>
          <a:p>
            <a:pPr marL="342900" indent="-342900">
              <a:spcBef>
                <a:spcPct val="50000"/>
              </a:spcBef>
            </a:pPr>
            <a:r>
              <a:rPr lang="en-US" sz="3600" dirty="0"/>
              <a:t>5. </a:t>
            </a:r>
            <a:r>
              <a:rPr lang="en-US" sz="3600" dirty="0" err="1"/>
              <a:t>AlN</a:t>
            </a:r>
            <a:endParaRPr lang="en-US" sz="3600" dirty="0"/>
          </a:p>
        </p:txBody>
      </p:sp>
      <p:sp>
        <p:nvSpPr>
          <p:cNvPr id="12291" name="Oval 3"/>
          <p:cNvSpPr>
            <a:spLocks noChangeArrowheads="1"/>
          </p:cNvSpPr>
          <p:nvPr/>
        </p:nvSpPr>
        <p:spPr bwMode="auto">
          <a:xfrm>
            <a:off x="338138" y="838200"/>
            <a:ext cx="228600" cy="3048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292" name="Oval 4"/>
          <p:cNvSpPr>
            <a:spLocks noChangeArrowheads="1"/>
          </p:cNvSpPr>
          <p:nvPr/>
        </p:nvSpPr>
        <p:spPr bwMode="auto">
          <a:xfrm>
            <a:off x="3109913" y="838200"/>
            <a:ext cx="228600" cy="304800"/>
          </a:xfrm>
          <a:prstGeom prst="ellips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293" name="Line 5"/>
          <p:cNvSpPr>
            <a:spLocks noChangeShapeType="1"/>
          </p:cNvSpPr>
          <p:nvPr/>
        </p:nvSpPr>
        <p:spPr bwMode="auto">
          <a:xfrm>
            <a:off x="457200" y="1143000"/>
            <a:ext cx="533400" cy="762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294" name="Line 6"/>
          <p:cNvSpPr>
            <a:spLocks noChangeShapeType="1"/>
          </p:cNvSpPr>
          <p:nvPr/>
        </p:nvSpPr>
        <p:spPr bwMode="auto">
          <a:xfrm flipH="1">
            <a:off x="1295400" y="1143000"/>
            <a:ext cx="1905000" cy="762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323" name="Text Box 35"/>
          <p:cNvSpPr txBox="1">
            <a:spLocks noChangeArrowheads="1"/>
          </p:cNvSpPr>
          <p:nvPr/>
        </p:nvSpPr>
        <p:spPr bwMode="auto">
          <a:xfrm>
            <a:off x="0" y="4419600"/>
            <a:ext cx="9144000" cy="2185988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5400"/>
              <a:t>aluminum nitride</a:t>
            </a:r>
          </a:p>
          <a:p>
            <a:pPr algn="ctr">
              <a:spcBef>
                <a:spcPct val="50000"/>
              </a:spcBef>
            </a:pPr>
            <a:r>
              <a:rPr lang="en-US" sz="5400">
                <a:latin typeface="Constantia" pitchFamily="18" charset="0"/>
              </a:rPr>
              <a:t>AlN</a:t>
            </a:r>
            <a:endParaRPr lang="en-US" sz="5400" baseline="-25000">
              <a:latin typeface="Constantia" pitchFamily="18" charset="0"/>
            </a:endParaRPr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762000" y="2286000"/>
            <a:ext cx="1981200" cy="1371600"/>
            <a:chOff x="3962400" y="1828800"/>
            <a:chExt cx="1981200" cy="1371600"/>
          </a:xfrm>
        </p:grpSpPr>
        <p:sp>
          <p:nvSpPr>
            <p:cNvPr id="9237" name="Rectangle 134" descr="10%"/>
            <p:cNvSpPr>
              <a:spLocks noChangeArrowheads="1"/>
            </p:cNvSpPr>
            <p:nvPr/>
          </p:nvSpPr>
          <p:spPr bwMode="auto">
            <a:xfrm>
              <a:off x="3962400" y="1828800"/>
              <a:ext cx="1600200" cy="1371600"/>
            </a:xfrm>
            <a:prstGeom prst="rect">
              <a:avLst/>
            </a:prstGeom>
            <a:pattFill prst="pct10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Al</a:t>
              </a:r>
              <a:r>
                <a:rPr lang="en-US" sz="3600" baseline="30000"/>
                <a:t>+3</a:t>
              </a:r>
              <a:endParaRPr lang="en-US" sz="3600"/>
            </a:p>
          </p:txBody>
        </p:sp>
        <p:sp>
          <p:nvSpPr>
            <p:cNvPr id="9238" name="AutoShape 70" descr="5%"/>
            <p:cNvSpPr>
              <a:spLocks noChangeArrowheads="1"/>
            </p:cNvSpPr>
            <p:nvPr/>
          </p:nvSpPr>
          <p:spPr bwMode="auto">
            <a:xfrm rot="5400000">
              <a:off x="5524500" y="23241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9" name="AutoShape 73" descr="5%"/>
            <p:cNvSpPr>
              <a:spLocks noChangeArrowheads="1"/>
            </p:cNvSpPr>
            <p:nvPr/>
          </p:nvSpPr>
          <p:spPr bwMode="auto">
            <a:xfrm rot="5400000">
              <a:off x="5524500" y="18669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0" name="AutoShape 72" descr="5%"/>
            <p:cNvSpPr>
              <a:spLocks noChangeArrowheads="1"/>
            </p:cNvSpPr>
            <p:nvPr/>
          </p:nvSpPr>
          <p:spPr bwMode="auto">
            <a:xfrm rot="5400000">
              <a:off x="5524500" y="27813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5181600" y="2743200"/>
            <a:ext cx="1966913" cy="1371600"/>
            <a:chOff x="7176868" y="0"/>
            <a:chExt cx="1967132" cy="1371600"/>
          </a:xfrm>
        </p:grpSpPr>
        <p:sp>
          <p:nvSpPr>
            <p:cNvPr id="9226" name="Rectangle 71" descr="10%"/>
            <p:cNvSpPr>
              <a:spLocks noChangeArrowheads="1"/>
            </p:cNvSpPr>
            <p:nvPr/>
          </p:nvSpPr>
          <p:spPr bwMode="auto">
            <a:xfrm flipH="1">
              <a:off x="7543800" y="0"/>
              <a:ext cx="1600200" cy="1371600"/>
            </a:xfrm>
            <a:prstGeom prst="rect">
              <a:avLst/>
            </a:prstGeom>
            <a:pattFill prst="pct10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N</a:t>
              </a:r>
              <a:r>
                <a:rPr lang="en-US" sz="3600" baseline="30000"/>
                <a:t>-3</a:t>
              </a:r>
              <a:endParaRPr lang="en-US" sz="3600"/>
            </a:p>
          </p:txBody>
        </p:sp>
        <p:grpSp>
          <p:nvGrpSpPr>
            <p:cNvPr id="9227" name="Group 416"/>
            <p:cNvGrpSpPr>
              <a:grpSpLocks/>
            </p:cNvGrpSpPr>
            <p:nvPr/>
          </p:nvGrpSpPr>
          <p:grpSpPr bwMode="auto">
            <a:xfrm rot="10800000">
              <a:off x="7176868" y="0"/>
              <a:ext cx="366932" cy="1371600"/>
              <a:chOff x="-762000" y="4114800"/>
              <a:chExt cx="366932" cy="1371600"/>
            </a:xfrm>
          </p:grpSpPr>
          <p:cxnSp>
            <p:nvCxnSpPr>
              <p:cNvPr id="32" name="Straight Connector 31"/>
              <p:cNvCxnSpPr/>
              <p:nvPr/>
            </p:nvCxnSpPr>
            <p:spPr>
              <a:xfrm>
                <a:off x="-761822" y="4114800"/>
                <a:ext cx="366754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>
                <a:off x="-760234" y="5486400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 flipV="1">
                <a:off x="-760234" y="45720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>
              <a:xfrm rot="5400000">
                <a:off x="-1447622" y="4800600"/>
                <a:ext cx="13716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>
                <a:off x="-760234" y="43434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>
                <a:off x="-760234" y="48006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>
              <a:xfrm flipV="1">
                <a:off x="-761822" y="411480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 flipV="1">
                <a:off x="-760234" y="50292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>
                <a:off x="-760234" y="52578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5.55556E-7 2.53469E-6 L -0.3059 -0.06661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3" y="-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9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1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animBg="1"/>
      <p:bldP spid="12292" grpId="0" animBg="1"/>
      <p:bldP spid="12293" grpId="0" animBg="1"/>
      <p:bldP spid="12294" grpId="0" animBg="1"/>
      <p:bldP spid="123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j043472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228600"/>
            <a:ext cx="32004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0" y="3429000"/>
            <a:ext cx="9144000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5400"/>
              <a:t>Now, it’s your turn.</a:t>
            </a:r>
          </a:p>
          <a:p>
            <a:pPr algn="ctr">
              <a:spcBef>
                <a:spcPct val="50000"/>
              </a:spcBef>
            </a:pPr>
            <a:r>
              <a:rPr lang="en-US" sz="5400"/>
              <a:t>Do the remaining questions on your own.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0" y="0"/>
            <a:ext cx="5181600" cy="201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</a:pPr>
            <a:endParaRPr lang="en-US" dirty="0" smtClean="0"/>
          </a:p>
          <a:p>
            <a:pPr marL="342900" indent="-342900">
              <a:spcBef>
                <a:spcPct val="50000"/>
              </a:spcBef>
            </a:pPr>
            <a:r>
              <a:rPr lang="en-US" dirty="0" smtClean="0">
                <a:sym typeface="Wingdings" pitchFamily="2" charset="2"/>
              </a:rPr>
              <a:t>6</a:t>
            </a:r>
            <a:r>
              <a:rPr lang="en-US" dirty="0">
                <a:sym typeface="Wingdings" pitchFamily="2" charset="2"/>
              </a:rPr>
              <a:t>. Calcium (Ca</a:t>
            </a:r>
            <a:r>
              <a:rPr lang="en-US" baseline="30000" dirty="0">
                <a:sym typeface="Wingdings" pitchFamily="2" charset="2"/>
              </a:rPr>
              <a:t>+2</a:t>
            </a:r>
            <a:r>
              <a:rPr lang="en-US" dirty="0">
                <a:sym typeface="Wingdings" pitchFamily="2" charset="2"/>
              </a:rPr>
              <a:t>) + Bromine (Br</a:t>
            </a:r>
            <a:r>
              <a:rPr lang="en-US" baseline="30000" dirty="0">
                <a:sym typeface="Wingdings" pitchFamily="2" charset="2"/>
              </a:rPr>
              <a:t>-1</a:t>
            </a:r>
            <a:r>
              <a:rPr lang="en-US" dirty="0">
                <a:sym typeface="Wingdings" pitchFamily="2" charset="2"/>
              </a:rPr>
              <a:t>)</a:t>
            </a:r>
            <a:endParaRPr lang="en-US" dirty="0"/>
          </a:p>
          <a:p>
            <a:pPr marL="342900" indent="-342900">
              <a:spcBef>
                <a:spcPct val="50000"/>
              </a:spcBef>
            </a:pPr>
            <a:r>
              <a:rPr lang="en-US" dirty="0"/>
              <a:t>     1 calcium atom for every 2 bromine atoms</a:t>
            </a:r>
          </a:p>
          <a:p>
            <a:pPr marL="342900" indent="-342900">
              <a:spcBef>
                <a:spcPct val="50000"/>
              </a:spcBef>
            </a:pPr>
            <a:r>
              <a:rPr lang="en-US" sz="3600" dirty="0"/>
              <a:t>6. CaBr</a:t>
            </a:r>
            <a:r>
              <a:rPr lang="en-US" sz="3600" baseline="-25000" dirty="0"/>
              <a:t>2</a:t>
            </a:r>
          </a:p>
        </p:txBody>
      </p:sp>
      <p:sp>
        <p:nvSpPr>
          <p:cNvPr id="13315" name="Oval 3"/>
          <p:cNvSpPr>
            <a:spLocks noChangeArrowheads="1"/>
          </p:cNvSpPr>
          <p:nvPr/>
        </p:nvSpPr>
        <p:spPr bwMode="auto">
          <a:xfrm>
            <a:off x="338138" y="838200"/>
            <a:ext cx="228600" cy="3048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16" name="Oval 4"/>
          <p:cNvSpPr>
            <a:spLocks noChangeArrowheads="1"/>
          </p:cNvSpPr>
          <p:nvPr/>
        </p:nvSpPr>
        <p:spPr bwMode="auto">
          <a:xfrm>
            <a:off x="2887663" y="852488"/>
            <a:ext cx="228600" cy="304800"/>
          </a:xfrm>
          <a:prstGeom prst="ellips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17" name="Line 5"/>
          <p:cNvSpPr>
            <a:spLocks noChangeShapeType="1"/>
          </p:cNvSpPr>
          <p:nvPr/>
        </p:nvSpPr>
        <p:spPr bwMode="auto">
          <a:xfrm>
            <a:off x="471268" y="1114864"/>
            <a:ext cx="685800" cy="685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318" name="Line 6"/>
          <p:cNvSpPr>
            <a:spLocks noChangeShapeType="1"/>
          </p:cNvSpPr>
          <p:nvPr/>
        </p:nvSpPr>
        <p:spPr bwMode="auto">
          <a:xfrm flipH="1">
            <a:off x="1828800" y="1143000"/>
            <a:ext cx="1219200" cy="609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349" name="Text Box 37"/>
          <p:cNvSpPr txBox="1">
            <a:spLocks noChangeArrowheads="1"/>
          </p:cNvSpPr>
          <p:nvPr/>
        </p:nvSpPr>
        <p:spPr bwMode="auto">
          <a:xfrm>
            <a:off x="0" y="4495800"/>
            <a:ext cx="9144000" cy="2185988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5400"/>
              <a:t>calcium bromide</a:t>
            </a:r>
          </a:p>
          <a:p>
            <a:pPr algn="ctr">
              <a:spcBef>
                <a:spcPct val="50000"/>
              </a:spcBef>
            </a:pPr>
            <a:r>
              <a:rPr lang="en-US" sz="5400"/>
              <a:t>CaBr</a:t>
            </a:r>
            <a:r>
              <a:rPr lang="en-US" sz="5400" baseline="-25000"/>
              <a:t>2</a:t>
            </a:r>
          </a:p>
        </p:txBody>
      </p:sp>
      <p:grpSp>
        <p:nvGrpSpPr>
          <p:cNvPr id="22" name="Group 348"/>
          <p:cNvGrpSpPr>
            <a:grpSpLocks/>
          </p:cNvGrpSpPr>
          <p:nvPr/>
        </p:nvGrpSpPr>
        <p:grpSpPr bwMode="auto">
          <a:xfrm>
            <a:off x="838200" y="2209800"/>
            <a:ext cx="1981200" cy="914400"/>
            <a:chOff x="0" y="1371600"/>
            <a:chExt cx="1981200" cy="914400"/>
          </a:xfrm>
        </p:grpSpPr>
        <p:sp>
          <p:nvSpPr>
            <p:cNvPr id="23" name="Rectangle 181" descr="5%"/>
            <p:cNvSpPr>
              <a:spLocks noChangeArrowheads="1"/>
            </p:cNvSpPr>
            <p:nvPr/>
          </p:nvSpPr>
          <p:spPr bwMode="auto">
            <a:xfrm>
              <a:off x="0" y="1371600"/>
              <a:ext cx="1600200" cy="9144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Ca</a:t>
              </a:r>
              <a:r>
                <a:rPr lang="en-US" sz="3600" baseline="30000"/>
                <a:t>+2</a:t>
              </a:r>
              <a:endParaRPr lang="en-US" sz="3600"/>
            </a:p>
          </p:txBody>
        </p:sp>
        <p:sp>
          <p:nvSpPr>
            <p:cNvPr id="24" name="AutoShape 72" descr="5%"/>
            <p:cNvSpPr>
              <a:spLocks noChangeArrowheads="1"/>
            </p:cNvSpPr>
            <p:nvPr/>
          </p:nvSpPr>
          <p:spPr bwMode="auto">
            <a:xfrm rot="5400000">
              <a:off x="1562100" y="14097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AutoShape 73" descr="5%"/>
            <p:cNvSpPr>
              <a:spLocks noChangeArrowheads="1"/>
            </p:cNvSpPr>
            <p:nvPr/>
          </p:nvSpPr>
          <p:spPr bwMode="auto">
            <a:xfrm rot="5400000">
              <a:off x="1562100" y="18669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6" name="Group 25"/>
          <p:cNvGrpSpPr>
            <a:grpSpLocks/>
          </p:cNvGrpSpPr>
          <p:nvPr/>
        </p:nvGrpSpPr>
        <p:grpSpPr bwMode="auto">
          <a:xfrm>
            <a:off x="5257800" y="2057400"/>
            <a:ext cx="1966913" cy="457200"/>
            <a:chOff x="1995268" y="0"/>
            <a:chExt cx="1967132" cy="457200"/>
          </a:xfrm>
        </p:grpSpPr>
        <p:sp>
          <p:nvSpPr>
            <p:cNvPr id="27" name="Rectangle 3" descr="5%"/>
            <p:cNvSpPr>
              <a:spLocks noChangeArrowheads="1"/>
            </p:cNvSpPr>
            <p:nvPr/>
          </p:nvSpPr>
          <p:spPr bwMode="auto">
            <a:xfrm>
              <a:off x="2362200" y="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 dirty="0" smtClean="0"/>
                <a:t>Br</a:t>
              </a:r>
              <a:r>
                <a:rPr lang="en-US" sz="3600" baseline="30000" dirty="0" smtClean="0"/>
                <a:t>-1</a:t>
              </a:r>
              <a:endParaRPr lang="en-US" sz="3600" dirty="0"/>
            </a:p>
          </p:txBody>
        </p:sp>
        <p:grpSp>
          <p:nvGrpSpPr>
            <p:cNvPr id="28" name="Group 273"/>
            <p:cNvGrpSpPr>
              <a:grpSpLocks/>
            </p:cNvGrpSpPr>
            <p:nvPr/>
          </p:nvGrpSpPr>
          <p:grpSpPr bwMode="auto">
            <a:xfrm rot="10800000">
              <a:off x="1995268" y="0"/>
              <a:ext cx="368341" cy="457200"/>
              <a:chOff x="-763409" y="0"/>
              <a:chExt cx="368341" cy="457200"/>
            </a:xfrm>
          </p:grpSpPr>
          <p:cxnSp>
            <p:nvCxnSpPr>
              <p:cNvPr id="29" name="Straight Connector 28"/>
              <p:cNvCxnSpPr/>
              <p:nvPr/>
            </p:nvCxnSpPr>
            <p:spPr>
              <a:xfrm>
                <a:off x="-761822" y="0"/>
                <a:ext cx="366754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-761822" y="457200"/>
                <a:ext cx="366754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 flipV="1">
                <a:off x="-761822" y="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 rot="5400000">
                <a:off x="-992009" y="228600"/>
                <a:ext cx="4572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>
                <a:off x="-761822" y="22860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4" name="Group 25"/>
          <p:cNvGrpSpPr>
            <a:grpSpLocks/>
          </p:cNvGrpSpPr>
          <p:nvPr/>
        </p:nvGrpSpPr>
        <p:grpSpPr bwMode="auto">
          <a:xfrm>
            <a:off x="5105400" y="2895600"/>
            <a:ext cx="1966913" cy="457200"/>
            <a:chOff x="1995268" y="0"/>
            <a:chExt cx="1967132" cy="457200"/>
          </a:xfrm>
        </p:grpSpPr>
        <p:sp>
          <p:nvSpPr>
            <p:cNvPr id="35" name="Rectangle 3" descr="5%"/>
            <p:cNvSpPr>
              <a:spLocks noChangeArrowheads="1"/>
            </p:cNvSpPr>
            <p:nvPr/>
          </p:nvSpPr>
          <p:spPr bwMode="auto">
            <a:xfrm>
              <a:off x="2362200" y="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 dirty="0" smtClean="0"/>
                <a:t>Br</a:t>
              </a:r>
              <a:r>
                <a:rPr lang="en-US" sz="3600" baseline="30000" dirty="0" smtClean="0"/>
                <a:t>-1</a:t>
              </a:r>
              <a:endParaRPr lang="en-US" sz="3600" dirty="0"/>
            </a:p>
          </p:txBody>
        </p:sp>
        <p:grpSp>
          <p:nvGrpSpPr>
            <p:cNvPr id="36" name="Group 273"/>
            <p:cNvGrpSpPr>
              <a:grpSpLocks/>
            </p:cNvGrpSpPr>
            <p:nvPr/>
          </p:nvGrpSpPr>
          <p:grpSpPr bwMode="auto">
            <a:xfrm rot="10800000">
              <a:off x="1995268" y="0"/>
              <a:ext cx="368341" cy="457200"/>
              <a:chOff x="-763409" y="0"/>
              <a:chExt cx="368341" cy="457200"/>
            </a:xfrm>
          </p:grpSpPr>
          <p:cxnSp>
            <p:nvCxnSpPr>
              <p:cNvPr id="37" name="Straight Connector 36"/>
              <p:cNvCxnSpPr/>
              <p:nvPr/>
            </p:nvCxnSpPr>
            <p:spPr>
              <a:xfrm>
                <a:off x="-761822" y="0"/>
                <a:ext cx="366754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>
              <a:xfrm>
                <a:off x="-761822" y="457200"/>
                <a:ext cx="366754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 flipV="1">
                <a:off x="-761822" y="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 rot="5400000">
                <a:off x="-992009" y="228600"/>
                <a:ext cx="4572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>
                <a:off x="-761822" y="22860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4.72222E-6 -4.14431E-6 L -0.30747 0.02221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" y="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000"/>
                            </p:stCondLst>
                            <p:childTnLst>
                              <p:par>
                                <p:cTn id="20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1.38889E-6 -4.96762E-6 L -0.2908 -0.0333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5" y="-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1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3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6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animBg="1"/>
      <p:bldP spid="13316" grpId="0" animBg="1"/>
      <p:bldP spid="13317" grpId="0" animBg="1"/>
      <p:bldP spid="13318" grpId="0" animBg="1"/>
      <p:bldP spid="1334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0" y="0"/>
            <a:ext cx="5181600" cy="201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</a:pPr>
            <a:endParaRPr lang="en-US" dirty="0" smtClean="0"/>
          </a:p>
          <a:p>
            <a:pPr marL="342900" indent="-342900">
              <a:spcBef>
                <a:spcPct val="50000"/>
              </a:spcBef>
            </a:pPr>
            <a:r>
              <a:rPr lang="en-US" dirty="0" smtClean="0">
                <a:sym typeface="Wingdings" pitchFamily="2" charset="2"/>
              </a:rPr>
              <a:t>7</a:t>
            </a:r>
            <a:r>
              <a:rPr lang="en-US" dirty="0">
                <a:sym typeface="Wingdings" pitchFamily="2" charset="2"/>
              </a:rPr>
              <a:t>. Potassium (K</a:t>
            </a:r>
            <a:r>
              <a:rPr lang="en-US" baseline="30000" dirty="0">
                <a:sym typeface="Wingdings" pitchFamily="2" charset="2"/>
              </a:rPr>
              <a:t>+1</a:t>
            </a:r>
            <a:r>
              <a:rPr lang="en-US" dirty="0">
                <a:sym typeface="Wingdings" pitchFamily="2" charset="2"/>
              </a:rPr>
              <a:t>) + Chlorine </a:t>
            </a:r>
            <a:r>
              <a:rPr lang="en-US" dirty="0"/>
              <a:t>(Cl</a:t>
            </a:r>
            <a:r>
              <a:rPr lang="en-US" baseline="30000" dirty="0"/>
              <a:t>-1</a:t>
            </a:r>
            <a:r>
              <a:rPr lang="en-US" dirty="0"/>
              <a:t>)</a:t>
            </a:r>
          </a:p>
          <a:p>
            <a:pPr marL="342900" indent="-342900">
              <a:spcBef>
                <a:spcPct val="50000"/>
              </a:spcBef>
            </a:pPr>
            <a:r>
              <a:rPr lang="en-US" dirty="0"/>
              <a:t>     1 potassium atom for every 1 chlorine atom</a:t>
            </a:r>
          </a:p>
          <a:p>
            <a:pPr marL="342900" indent="-342900">
              <a:spcBef>
                <a:spcPct val="50000"/>
              </a:spcBef>
            </a:pPr>
            <a:r>
              <a:rPr lang="en-US" sz="3600" dirty="0"/>
              <a:t>7. </a:t>
            </a:r>
            <a:r>
              <a:rPr lang="en-US" sz="3600" dirty="0" err="1"/>
              <a:t>KCl</a:t>
            </a:r>
            <a:endParaRPr lang="en-US" sz="3600" dirty="0"/>
          </a:p>
        </p:txBody>
      </p:sp>
      <p:sp>
        <p:nvSpPr>
          <p:cNvPr id="14339" name="Oval 3"/>
          <p:cNvSpPr>
            <a:spLocks noChangeArrowheads="1"/>
          </p:cNvSpPr>
          <p:nvPr/>
        </p:nvSpPr>
        <p:spPr bwMode="auto">
          <a:xfrm>
            <a:off x="338357" y="838200"/>
            <a:ext cx="228600" cy="3048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0" name="Oval 4"/>
          <p:cNvSpPr>
            <a:spLocks noChangeArrowheads="1"/>
          </p:cNvSpPr>
          <p:nvPr/>
        </p:nvSpPr>
        <p:spPr bwMode="auto">
          <a:xfrm>
            <a:off x="3157757" y="838200"/>
            <a:ext cx="228600" cy="304800"/>
          </a:xfrm>
          <a:prstGeom prst="ellips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1" name="Line 5"/>
          <p:cNvSpPr>
            <a:spLocks noChangeShapeType="1"/>
          </p:cNvSpPr>
          <p:nvPr/>
        </p:nvSpPr>
        <p:spPr bwMode="auto">
          <a:xfrm>
            <a:off x="533400" y="1143000"/>
            <a:ext cx="457200" cy="762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342" name="Line 6"/>
          <p:cNvSpPr>
            <a:spLocks noChangeShapeType="1"/>
          </p:cNvSpPr>
          <p:nvPr/>
        </p:nvSpPr>
        <p:spPr bwMode="auto">
          <a:xfrm flipH="1">
            <a:off x="1371600" y="1143000"/>
            <a:ext cx="1905000" cy="762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351" name="Text Box 15"/>
          <p:cNvSpPr txBox="1">
            <a:spLocks noChangeArrowheads="1"/>
          </p:cNvSpPr>
          <p:nvPr/>
        </p:nvSpPr>
        <p:spPr bwMode="auto">
          <a:xfrm>
            <a:off x="0" y="4343400"/>
            <a:ext cx="9144000" cy="2185988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5400"/>
              <a:t>potassium chloride</a:t>
            </a:r>
          </a:p>
          <a:p>
            <a:pPr algn="ctr">
              <a:spcBef>
                <a:spcPct val="50000"/>
              </a:spcBef>
            </a:pPr>
            <a:r>
              <a:rPr lang="en-US" sz="5400"/>
              <a:t>KCl</a:t>
            </a:r>
            <a:endParaRPr lang="en-US" sz="5400" baseline="-25000"/>
          </a:p>
        </p:txBody>
      </p:sp>
      <p:grpSp>
        <p:nvGrpSpPr>
          <p:cNvPr id="16" name="Group 15"/>
          <p:cNvGrpSpPr>
            <a:grpSpLocks/>
          </p:cNvGrpSpPr>
          <p:nvPr/>
        </p:nvGrpSpPr>
        <p:grpSpPr bwMode="auto">
          <a:xfrm>
            <a:off x="838200" y="2133600"/>
            <a:ext cx="1981200" cy="457200"/>
            <a:chOff x="0" y="4572000"/>
            <a:chExt cx="1981200" cy="457200"/>
          </a:xfrm>
        </p:grpSpPr>
        <p:sp>
          <p:nvSpPr>
            <p:cNvPr id="17" name="Rectangle 103" descr="5%"/>
            <p:cNvSpPr>
              <a:spLocks noChangeArrowheads="1"/>
            </p:cNvSpPr>
            <p:nvPr/>
          </p:nvSpPr>
          <p:spPr bwMode="auto">
            <a:xfrm flipH="1">
              <a:off x="0" y="457200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 dirty="0"/>
                <a:t>K</a:t>
              </a:r>
              <a:r>
                <a:rPr lang="en-US" sz="3600" baseline="30000" dirty="0" smtClean="0"/>
                <a:t>+1</a:t>
              </a:r>
              <a:endParaRPr lang="en-US" sz="3600" dirty="0"/>
            </a:p>
          </p:txBody>
        </p:sp>
        <p:sp>
          <p:nvSpPr>
            <p:cNvPr id="18" name="AutoShape 73" descr="5%"/>
            <p:cNvSpPr>
              <a:spLocks noChangeArrowheads="1"/>
            </p:cNvSpPr>
            <p:nvPr/>
          </p:nvSpPr>
          <p:spPr bwMode="auto">
            <a:xfrm rot="5400000">
              <a:off x="1562100" y="46101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9" name="Group 18"/>
          <p:cNvGrpSpPr>
            <a:grpSpLocks/>
          </p:cNvGrpSpPr>
          <p:nvPr/>
        </p:nvGrpSpPr>
        <p:grpSpPr bwMode="auto">
          <a:xfrm>
            <a:off x="5264370" y="1974850"/>
            <a:ext cx="1966912" cy="457200"/>
            <a:chOff x="1995268" y="0"/>
            <a:chExt cx="1967132" cy="457200"/>
          </a:xfrm>
        </p:grpSpPr>
        <p:sp>
          <p:nvSpPr>
            <p:cNvPr id="20" name="Rectangle 3" descr="5%"/>
            <p:cNvSpPr>
              <a:spLocks noChangeArrowheads="1"/>
            </p:cNvSpPr>
            <p:nvPr/>
          </p:nvSpPr>
          <p:spPr bwMode="auto">
            <a:xfrm>
              <a:off x="2362200" y="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Cl</a:t>
              </a:r>
              <a:r>
                <a:rPr lang="en-US" sz="3600" baseline="30000"/>
                <a:t>-1</a:t>
              </a:r>
              <a:endParaRPr lang="en-US" sz="3600"/>
            </a:p>
          </p:txBody>
        </p:sp>
        <p:grpSp>
          <p:nvGrpSpPr>
            <p:cNvPr id="21" name="Group 273"/>
            <p:cNvGrpSpPr>
              <a:grpSpLocks/>
            </p:cNvGrpSpPr>
            <p:nvPr/>
          </p:nvGrpSpPr>
          <p:grpSpPr bwMode="auto">
            <a:xfrm rot="10800000">
              <a:off x="1995268" y="0"/>
              <a:ext cx="368341" cy="457200"/>
              <a:chOff x="-763409" y="0"/>
              <a:chExt cx="368341" cy="457200"/>
            </a:xfrm>
          </p:grpSpPr>
          <p:cxnSp>
            <p:nvCxnSpPr>
              <p:cNvPr id="22" name="Straight Connector 21"/>
              <p:cNvCxnSpPr/>
              <p:nvPr/>
            </p:nvCxnSpPr>
            <p:spPr>
              <a:xfrm>
                <a:off x="-761821" y="0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-761821" y="457200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 flipV="1">
                <a:off x="-761821" y="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 rot="5400000">
                <a:off x="-992009" y="228600"/>
                <a:ext cx="4572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-761821" y="2286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4.72222E-6 -4.14431E-6 L -0.30747 0.02221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" y="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1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animBg="1"/>
      <p:bldP spid="14340" grpId="0" animBg="1"/>
      <p:bldP spid="14341" grpId="0" animBg="1"/>
      <p:bldP spid="14342" grpId="0" animBg="1"/>
      <p:bldP spid="1435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6"/>
          <p:cNvGrpSpPr>
            <a:grpSpLocks/>
          </p:cNvGrpSpPr>
          <p:nvPr/>
        </p:nvGrpSpPr>
        <p:grpSpPr bwMode="auto">
          <a:xfrm>
            <a:off x="6553200" y="4648200"/>
            <a:ext cx="1966913" cy="914400"/>
            <a:chOff x="1995268" y="1828800"/>
            <a:chExt cx="1967132" cy="914400"/>
          </a:xfrm>
        </p:grpSpPr>
        <p:sp>
          <p:nvSpPr>
            <p:cNvPr id="13356" name="Rectangle 24" descr="5%"/>
            <p:cNvSpPr>
              <a:spLocks noChangeArrowheads="1"/>
            </p:cNvSpPr>
            <p:nvPr/>
          </p:nvSpPr>
          <p:spPr bwMode="auto">
            <a:xfrm>
              <a:off x="2362200" y="1828800"/>
              <a:ext cx="1600200" cy="9144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O</a:t>
              </a:r>
              <a:r>
                <a:rPr lang="en-US" sz="3600" baseline="30000"/>
                <a:t>-2</a:t>
              </a:r>
              <a:endParaRPr lang="en-US" sz="3600"/>
            </a:p>
          </p:txBody>
        </p:sp>
        <p:grpSp>
          <p:nvGrpSpPr>
            <p:cNvPr id="13357" name="Group 315"/>
            <p:cNvGrpSpPr>
              <a:grpSpLocks/>
            </p:cNvGrpSpPr>
            <p:nvPr/>
          </p:nvGrpSpPr>
          <p:grpSpPr bwMode="auto">
            <a:xfrm rot="10800000">
              <a:off x="1995268" y="1828800"/>
              <a:ext cx="366932" cy="914400"/>
              <a:chOff x="-762000" y="2743200"/>
              <a:chExt cx="366932" cy="914400"/>
            </a:xfrm>
          </p:grpSpPr>
          <p:cxnSp>
            <p:nvCxnSpPr>
              <p:cNvPr id="90" name="Straight Connector 89"/>
              <p:cNvCxnSpPr/>
              <p:nvPr/>
            </p:nvCxnSpPr>
            <p:spPr>
              <a:xfrm>
                <a:off x="-761822" y="2743200"/>
                <a:ext cx="366754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>
                <a:off x="-761822" y="3657600"/>
                <a:ext cx="366754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 flipV="1">
                <a:off x="-761822" y="320040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 rot="5400000">
                <a:off x="-1220609" y="3200400"/>
                <a:ext cx="9144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>
                <a:off x="-761822" y="297180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>
              <a:xfrm>
                <a:off x="-761822" y="342900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 flipV="1">
                <a:off x="-761822" y="274320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" name="Group 76"/>
          <p:cNvGrpSpPr>
            <a:grpSpLocks/>
          </p:cNvGrpSpPr>
          <p:nvPr/>
        </p:nvGrpSpPr>
        <p:grpSpPr bwMode="auto">
          <a:xfrm>
            <a:off x="6338888" y="3124200"/>
            <a:ext cx="1966912" cy="914400"/>
            <a:chOff x="1995268" y="1828800"/>
            <a:chExt cx="1967132" cy="914400"/>
          </a:xfrm>
        </p:grpSpPr>
        <p:sp>
          <p:nvSpPr>
            <p:cNvPr id="13347" name="Rectangle 24" descr="5%"/>
            <p:cNvSpPr>
              <a:spLocks noChangeArrowheads="1"/>
            </p:cNvSpPr>
            <p:nvPr/>
          </p:nvSpPr>
          <p:spPr bwMode="auto">
            <a:xfrm>
              <a:off x="2362200" y="1828800"/>
              <a:ext cx="1600200" cy="9144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O</a:t>
              </a:r>
              <a:r>
                <a:rPr lang="en-US" sz="3600" baseline="30000"/>
                <a:t>-2</a:t>
              </a:r>
              <a:endParaRPr lang="en-US" sz="3600"/>
            </a:p>
          </p:txBody>
        </p:sp>
        <p:grpSp>
          <p:nvGrpSpPr>
            <p:cNvPr id="13348" name="Group 315"/>
            <p:cNvGrpSpPr>
              <a:grpSpLocks/>
            </p:cNvGrpSpPr>
            <p:nvPr/>
          </p:nvGrpSpPr>
          <p:grpSpPr bwMode="auto">
            <a:xfrm rot="10800000">
              <a:off x="1995268" y="1828800"/>
              <a:ext cx="366932" cy="914400"/>
              <a:chOff x="-762000" y="2743200"/>
              <a:chExt cx="366932" cy="914400"/>
            </a:xfrm>
          </p:grpSpPr>
          <p:cxnSp>
            <p:nvCxnSpPr>
              <p:cNvPr id="80" name="Straight Connector 79"/>
              <p:cNvCxnSpPr/>
              <p:nvPr/>
            </p:nvCxnSpPr>
            <p:spPr>
              <a:xfrm>
                <a:off x="-761821" y="2743200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>
                <a:off x="-761821" y="3657600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/>
            </p:nvCxnSpPr>
            <p:spPr>
              <a:xfrm flipV="1">
                <a:off x="-761821" y="32004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rot="5400000">
                <a:off x="-1220609" y="3200400"/>
                <a:ext cx="9144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>
                <a:off x="-761821" y="29718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>
                <a:off x="-761821" y="34290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flipV="1">
                <a:off x="-761821" y="27432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Group 56"/>
          <p:cNvGrpSpPr>
            <a:grpSpLocks/>
          </p:cNvGrpSpPr>
          <p:nvPr/>
        </p:nvGrpSpPr>
        <p:grpSpPr bwMode="auto">
          <a:xfrm>
            <a:off x="5791200" y="1524000"/>
            <a:ext cx="1966913" cy="914400"/>
            <a:chOff x="1995268" y="1828800"/>
            <a:chExt cx="1967132" cy="914400"/>
          </a:xfrm>
        </p:grpSpPr>
        <p:sp>
          <p:nvSpPr>
            <p:cNvPr id="13338" name="Rectangle 24" descr="5%"/>
            <p:cNvSpPr>
              <a:spLocks noChangeArrowheads="1"/>
            </p:cNvSpPr>
            <p:nvPr/>
          </p:nvSpPr>
          <p:spPr bwMode="auto">
            <a:xfrm>
              <a:off x="2362200" y="1828800"/>
              <a:ext cx="1600200" cy="9144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O</a:t>
              </a:r>
              <a:r>
                <a:rPr lang="en-US" sz="3600" baseline="30000"/>
                <a:t>-2</a:t>
              </a:r>
              <a:endParaRPr lang="en-US" sz="3600"/>
            </a:p>
          </p:txBody>
        </p:sp>
        <p:grpSp>
          <p:nvGrpSpPr>
            <p:cNvPr id="13339" name="Group 315"/>
            <p:cNvGrpSpPr>
              <a:grpSpLocks/>
            </p:cNvGrpSpPr>
            <p:nvPr/>
          </p:nvGrpSpPr>
          <p:grpSpPr bwMode="auto">
            <a:xfrm rot="10800000">
              <a:off x="1995268" y="1828800"/>
              <a:ext cx="366932" cy="914400"/>
              <a:chOff x="-762000" y="2743200"/>
              <a:chExt cx="366932" cy="914400"/>
            </a:xfrm>
          </p:grpSpPr>
          <p:cxnSp>
            <p:nvCxnSpPr>
              <p:cNvPr id="60" name="Straight Connector 59"/>
              <p:cNvCxnSpPr/>
              <p:nvPr/>
            </p:nvCxnSpPr>
            <p:spPr>
              <a:xfrm>
                <a:off x="-761822" y="2743200"/>
                <a:ext cx="366754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>
                <a:off x="-761822" y="3657600"/>
                <a:ext cx="366754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>
              <a:xfrm flipV="1">
                <a:off x="-761822" y="320040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>
              <a:xfrm rot="5400000">
                <a:off x="-1220609" y="3200400"/>
                <a:ext cx="9144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>
              <a:xfrm>
                <a:off x="-761822" y="297180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>
                <a:off x="-761822" y="342900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 flipV="1">
                <a:off x="-761822" y="274320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" name="Group 51"/>
          <p:cNvGrpSpPr>
            <a:grpSpLocks/>
          </p:cNvGrpSpPr>
          <p:nvPr/>
        </p:nvGrpSpPr>
        <p:grpSpPr bwMode="auto">
          <a:xfrm>
            <a:off x="4495800" y="5486400"/>
            <a:ext cx="1981200" cy="1371600"/>
            <a:chOff x="0" y="0"/>
            <a:chExt cx="1981201" cy="1371600"/>
          </a:xfrm>
        </p:grpSpPr>
        <p:sp>
          <p:nvSpPr>
            <p:cNvPr id="13334" name="Rectangle 35" descr="10%"/>
            <p:cNvSpPr>
              <a:spLocks noChangeArrowheads="1"/>
            </p:cNvSpPr>
            <p:nvPr/>
          </p:nvSpPr>
          <p:spPr bwMode="auto">
            <a:xfrm>
              <a:off x="0" y="0"/>
              <a:ext cx="1600200" cy="1371600"/>
            </a:xfrm>
            <a:prstGeom prst="rect">
              <a:avLst/>
            </a:prstGeom>
            <a:pattFill prst="pct10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B</a:t>
              </a:r>
              <a:r>
                <a:rPr lang="en-US" sz="3600" baseline="30000"/>
                <a:t>+3</a:t>
              </a:r>
              <a:endParaRPr lang="en-US" sz="3600"/>
            </a:p>
          </p:txBody>
        </p:sp>
        <p:sp>
          <p:nvSpPr>
            <p:cNvPr id="13335" name="AutoShape 70" descr="5%"/>
            <p:cNvSpPr>
              <a:spLocks noChangeArrowheads="1"/>
            </p:cNvSpPr>
            <p:nvPr/>
          </p:nvSpPr>
          <p:spPr bwMode="auto">
            <a:xfrm rot="5400000">
              <a:off x="1562101" y="9525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6" name="AutoShape 72" descr="5%"/>
            <p:cNvSpPr>
              <a:spLocks noChangeArrowheads="1"/>
            </p:cNvSpPr>
            <p:nvPr/>
          </p:nvSpPr>
          <p:spPr bwMode="auto">
            <a:xfrm rot="5400000">
              <a:off x="1562101" y="381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7" name="AutoShape 73" descr="5%"/>
            <p:cNvSpPr>
              <a:spLocks noChangeArrowheads="1"/>
            </p:cNvSpPr>
            <p:nvPr/>
          </p:nvSpPr>
          <p:spPr bwMode="auto">
            <a:xfrm rot="5400000">
              <a:off x="1562101" y="4953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" name="Group 46"/>
          <p:cNvGrpSpPr>
            <a:grpSpLocks/>
          </p:cNvGrpSpPr>
          <p:nvPr/>
        </p:nvGrpSpPr>
        <p:grpSpPr bwMode="auto">
          <a:xfrm>
            <a:off x="685800" y="2209800"/>
            <a:ext cx="1981200" cy="1371600"/>
            <a:chOff x="0" y="0"/>
            <a:chExt cx="1981201" cy="1371600"/>
          </a:xfrm>
        </p:grpSpPr>
        <p:sp>
          <p:nvSpPr>
            <p:cNvPr id="13330" name="Rectangle 35" descr="10%"/>
            <p:cNvSpPr>
              <a:spLocks noChangeArrowheads="1"/>
            </p:cNvSpPr>
            <p:nvPr/>
          </p:nvSpPr>
          <p:spPr bwMode="auto">
            <a:xfrm>
              <a:off x="0" y="0"/>
              <a:ext cx="1600200" cy="1371600"/>
            </a:xfrm>
            <a:prstGeom prst="rect">
              <a:avLst/>
            </a:prstGeom>
            <a:pattFill prst="pct10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B</a:t>
              </a:r>
              <a:r>
                <a:rPr lang="en-US" sz="3600" baseline="30000"/>
                <a:t>+3</a:t>
              </a:r>
              <a:endParaRPr lang="en-US" sz="3600"/>
            </a:p>
          </p:txBody>
        </p:sp>
        <p:sp>
          <p:nvSpPr>
            <p:cNvPr id="13331" name="AutoShape 70" descr="5%"/>
            <p:cNvSpPr>
              <a:spLocks noChangeArrowheads="1"/>
            </p:cNvSpPr>
            <p:nvPr/>
          </p:nvSpPr>
          <p:spPr bwMode="auto">
            <a:xfrm rot="5400000">
              <a:off x="1562101" y="9525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2" name="AutoShape 72" descr="5%"/>
            <p:cNvSpPr>
              <a:spLocks noChangeArrowheads="1"/>
            </p:cNvSpPr>
            <p:nvPr/>
          </p:nvSpPr>
          <p:spPr bwMode="auto">
            <a:xfrm rot="5400000">
              <a:off x="1562101" y="381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3" name="AutoShape 73" descr="5%"/>
            <p:cNvSpPr>
              <a:spLocks noChangeArrowheads="1"/>
            </p:cNvSpPr>
            <p:nvPr/>
          </p:nvSpPr>
          <p:spPr bwMode="auto">
            <a:xfrm rot="5400000">
              <a:off x="1562101" y="4953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58" name="Text Box 38"/>
          <p:cNvSpPr txBox="1">
            <a:spLocks noChangeArrowheads="1"/>
          </p:cNvSpPr>
          <p:nvPr/>
        </p:nvSpPr>
        <p:spPr bwMode="auto">
          <a:xfrm>
            <a:off x="0" y="0"/>
            <a:ext cx="5181600" cy="201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</a:pPr>
            <a:endParaRPr lang="en-US" dirty="0" smtClean="0"/>
          </a:p>
          <a:p>
            <a:pPr marL="342900" indent="-342900">
              <a:spcBef>
                <a:spcPct val="50000"/>
              </a:spcBef>
            </a:pPr>
            <a:r>
              <a:rPr lang="en-US" dirty="0" smtClean="0">
                <a:sym typeface="Wingdings" pitchFamily="2" charset="2"/>
              </a:rPr>
              <a:t>8</a:t>
            </a:r>
            <a:r>
              <a:rPr lang="en-US" dirty="0">
                <a:sym typeface="Wingdings" pitchFamily="2" charset="2"/>
              </a:rPr>
              <a:t>. Boron </a:t>
            </a:r>
            <a:r>
              <a:rPr lang="en-US" dirty="0"/>
              <a:t>(B</a:t>
            </a:r>
            <a:r>
              <a:rPr lang="en-US" baseline="30000" dirty="0"/>
              <a:t>+3</a:t>
            </a:r>
            <a:r>
              <a:rPr lang="en-US" dirty="0"/>
              <a:t>)</a:t>
            </a:r>
            <a:r>
              <a:rPr lang="en-US" dirty="0">
                <a:sym typeface="Wingdings" pitchFamily="2" charset="2"/>
              </a:rPr>
              <a:t> + Oxygen (O</a:t>
            </a:r>
            <a:r>
              <a:rPr lang="en-US" baseline="30000" dirty="0">
                <a:sym typeface="Wingdings" pitchFamily="2" charset="2"/>
              </a:rPr>
              <a:t>-2</a:t>
            </a:r>
            <a:r>
              <a:rPr lang="en-US" dirty="0">
                <a:sym typeface="Wingdings" pitchFamily="2" charset="2"/>
              </a:rPr>
              <a:t>)</a:t>
            </a:r>
            <a:endParaRPr lang="en-US" dirty="0"/>
          </a:p>
          <a:p>
            <a:pPr marL="342900" indent="-342900">
              <a:spcBef>
                <a:spcPct val="50000"/>
              </a:spcBef>
            </a:pPr>
            <a:r>
              <a:rPr lang="en-US" dirty="0"/>
              <a:t>     2 boron atoms for every 3 oxygen atoms</a:t>
            </a:r>
          </a:p>
          <a:p>
            <a:pPr marL="342900" indent="-342900">
              <a:spcBef>
                <a:spcPct val="50000"/>
              </a:spcBef>
            </a:pPr>
            <a:r>
              <a:rPr lang="en-US" sz="3600" dirty="0"/>
              <a:t>8. B</a:t>
            </a:r>
            <a:r>
              <a:rPr lang="en-US" sz="3600" baseline="-25000" dirty="0"/>
              <a:t>2</a:t>
            </a:r>
            <a:r>
              <a:rPr lang="en-US" sz="3600" dirty="0"/>
              <a:t>O</a:t>
            </a:r>
            <a:r>
              <a:rPr lang="en-US" sz="3600" baseline="-25000" dirty="0"/>
              <a:t>3</a:t>
            </a:r>
          </a:p>
        </p:txBody>
      </p:sp>
      <p:sp>
        <p:nvSpPr>
          <p:cNvPr id="5161" name="Oval 41"/>
          <p:cNvSpPr>
            <a:spLocks noChangeArrowheads="1"/>
          </p:cNvSpPr>
          <p:nvPr/>
        </p:nvSpPr>
        <p:spPr bwMode="auto">
          <a:xfrm>
            <a:off x="338138" y="838200"/>
            <a:ext cx="228600" cy="3048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65" name="Oval 45"/>
          <p:cNvSpPr>
            <a:spLocks noChangeArrowheads="1"/>
          </p:cNvSpPr>
          <p:nvPr/>
        </p:nvSpPr>
        <p:spPr bwMode="auto">
          <a:xfrm>
            <a:off x="2825750" y="838200"/>
            <a:ext cx="228600" cy="304800"/>
          </a:xfrm>
          <a:prstGeom prst="ellips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66" name="Line 46"/>
          <p:cNvSpPr>
            <a:spLocks noChangeShapeType="1"/>
          </p:cNvSpPr>
          <p:nvPr/>
        </p:nvSpPr>
        <p:spPr bwMode="auto">
          <a:xfrm>
            <a:off x="533400" y="1143000"/>
            <a:ext cx="381000" cy="533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167" name="Line 47"/>
          <p:cNvSpPr>
            <a:spLocks noChangeShapeType="1"/>
          </p:cNvSpPr>
          <p:nvPr/>
        </p:nvSpPr>
        <p:spPr bwMode="auto">
          <a:xfrm flipH="1">
            <a:off x="1600200" y="1143000"/>
            <a:ext cx="1295400" cy="609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168" name="Text Box 48"/>
          <p:cNvSpPr txBox="1">
            <a:spLocks noChangeArrowheads="1"/>
          </p:cNvSpPr>
          <p:nvPr/>
        </p:nvSpPr>
        <p:spPr bwMode="auto">
          <a:xfrm>
            <a:off x="0" y="5181600"/>
            <a:ext cx="9144000" cy="1503363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/>
              <a:t>boron oxide</a:t>
            </a:r>
          </a:p>
          <a:p>
            <a:pPr algn="ctr">
              <a:spcBef>
                <a:spcPct val="50000"/>
              </a:spcBef>
            </a:pPr>
            <a:r>
              <a:rPr lang="en-US" sz="3600" b="1"/>
              <a:t>B</a:t>
            </a:r>
            <a:r>
              <a:rPr lang="en-US" sz="3600" b="1" baseline="-25000"/>
              <a:t>2</a:t>
            </a:r>
            <a:r>
              <a:rPr lang="en-US" sz="3600" b="1"/>
              <a:t>O</a:t>
            </a:r>
            <a:r>
              <a:rPr lang="en-US" sz="3600" b="1" baseline="-25000"/>
              <a:t>3</a:t>
            </a:r>
          </a:p>
        </p:txBody>
      </p:sp>
      <p:sp>
        <p:nvSpPr>
          <p:cNvPr id="5160" name="Rectangle 40"/>
          <p:cNvSpPr>
            <a:spLocks noChangeArrowheads="1"/>
          </p:cNvSpPr>
          <p:nvPr/>
        </p:nvSpPr>
        <p:spPr bwMode="auto">
          <a:xfrm>
            <a:off x="685800" y="3581400"/>
            <a:ext cx="1600200" cy="1371600"/>
          </a:xfrm>
          <a:prstGeom prst="rect">
            <a:avLst/>
          </a:prstGeom>
          <a:noFill/>
          <a:ln w="762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59" name="Rectangle 39"/>
          <p:cNvSpPr>
            <a:spLocks noChangeArrowheads="1"/>
          </p:cNvSpPr>
          <p:nvPr/>
        </p:nvSpPr>
        <p:spPr bwMode="auto">
          <a:xfrm>
            <a:off x="685800" y="2209800"/>
            <a:ext cx="1600200" cy="1371600"/>
          </a:xfrm>
          <a:prstGeom prst="rect">
            <a:avLst/>
          </a:prstGeom>
          <a:noFill/>
          <a:ln w="762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64" name="Rectangle 44"/>
          <p:cNvSpPr>
            <a:spLocks noChangeArrowheads="1"/>
          </p:cNvSpPr>
          <p:nvPr/>
        </p:nvSpPr>
        <p:spPr bwMode="auto">
          <a:xfrm>
            <a:off x="2667000" y="2209800"/>
            <a:ext cx="1600200" cy="914400"/>
          </a:xfrm>
          <a:prstGeom prst="rect">
            <a:avLst/>
          </a:prstGeom>
          <a:noFill/>
          <a:ln w="57150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63" name="Rectangle 43"/>
          <p:cNvSpPr>
            <a:spLocks noChangeArrowheads="1"/>
          </p:cNvSpPr>
          <p:nvPr/>
        </p:nvSpPr>
        <p:spPr bwMode="auto">
          <a:xfrm>
            <a:off x="2667000" y="3124200"/>
            <a:ext cx="1600200" cy="914400"/>
          </a:xfrm>
          <a:prstGeom prst="rect">
            <a:avLst/>
          </a:prstGeom>
          <a:noFill/>
          <a:ln w="57150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62" name="Rectangle 42"/>
          <p:cNvSpPr>
            <a:spLocks noChangeArrowheads="1"/>
          </p:cNvSpPr>
          <p:nvPr/>
        </p:nvSpPr>
        <p:spPr bwMode="auto">
          <a:xfrm>
            <a:off x="2667000" y="4038600"/>
            <a:ext cx="1600200" cy="914400"/>
          </a:xfrm>
          <a:prstGeom prst="rect">
            <a:avLst/>
          </a:prstGeom>
          <a:noFill/>
          <a:ln w="57150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88889E-6 -1.64662E-6 L -0.38091 0.09991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0" y="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000"/>
                            </p:stCondLst>
                            <p:childTnLst>
                              <p:par>
                                <p:cTn id="20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0157 8.69565E-7 L -0.44079 8.69565E-7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1000"/>
                            </p:stCondLst>
                            <p:childTnLst>
                              <p:par>
                                <p:cTn id="26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1.11022E-16 0.00208 L -0.41667 -0.27544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4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0"/>
                            </p:stCondLst>
                            <p:childTnLst>
                              <p:par>
                                <p:cTn id="32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0156 4.21832E-6 L -0.46423 -0.08881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3" y="-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80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9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1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2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3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4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60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7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8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9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61" grpId="0" animBg="1"/>
      <p:bldP spid="5165" grpId="0" animBg="1"/>
      <p:bldP spid="5166" grpId="0" animBg="1"/>
      <p:bldP spid="5167" grpId="0" animBg="1"/>
      <p:bldP spid="5168" grpId="0" animBg="1"/>
      <p:bldP spid="5160" grpId="0" animBg="1"/>
      <p:bldP spid="5159" grpId="0" animBg="1"/>
      <p:bldP spid="5164" grpId="0" animBg="1"/>
      <p:bldP spid="5163" grpId="0" animBg="1"/>
      <p:bldP spid="516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0" y="0"/>
            <a:ext cx="5181600" cy="201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</a:pPr>
            <a:endParaRPr lang="en-US" dirty="0" smtClean="0"/>
          </a:p>
          <a:p>
            <a:pPr marL="342900" indent="-342900">
              <a:spcBef>
                <a:spcPct val="50000"/>
              </a:spcBef>
            </a:pPr>
            <a:r>
              <a:rPr lang="en-US" dirty="0" smtClean="0">
                <a:sym typeface="Wingdings" pitchFamily="2" charset="2"/>
              </a:rPr>
              <a:t>9</a:t>
            </a:r>
            <a:r>
              <a:rPr lang="en-US" dirty="0">
                <a:sym typeface="Wingdings" pitchFamily="2" charset="2"/>
              </a:rPr>
              <a:t>. Magnesium (Mg</a:t>
            </a:r>
            <a:r>
              <a:rPr lang="en-US" baseline="30000" dirty="0">
                <a:sym typeface="Wingdings" pitchFamily="2" charset="2"/>
              </a:rPr>
              <a:t>+2</a:t>
            </a:r>
            <a:r>
              <a:rPr lang="en-US" dirty="0">
                <a:sym typeface="Wingdings" pitchFamily="2" charset="2"/>
              </a:rPr>
              <a:t>) + Oxygen (O</a:t>
            </a:r>
            <a:r>
              <a:rPr lang="en-US" baseline="30000" dirty="0">
                <a:sym typeface="Wingdings" pitchFamily="2" charset="2"/>
              </a:rPr>
              <a:t>-2</a:t>
            </a:r>
            <a:r>
              <a:rPr lang="en-US" dirty="0">
                <a:sym typeface="Wingdings" pitchFamily="2" charset="2"/>
              </a:rPr>
              <a:t>)</a:t>
            </a:r>
            <a:endParaRPr lang="en-US" dirty="0"/>
          </a:p>
          <a:p>
            <a:pPr marL="342900" indent="-342900">
              <a:spcBef>
                <a:spcPct val="50000"/>
              </a:spcBef>
            </a:pPr>
            <a:r>
              <a:rPr lang="en-US" dirty="0"/>
              <a:t>     1 magnesium atom for every 1 oxygen atom</a:t>
            </a:r>
          </a:p>
          <a:p>
            <a:pPr marL="342900" indent="-342900">
              <a:spcBef>
                <a:spcPct val="50000"/>
              </a:spcBef>
            </a:pPr>
            <a:r>
              <a:rPr lang="en-US" sz="3600" dirty="0"/>
              <a:t>9. </a:t>
            </a:r>
            <a:r>
              <a:rPr lang="en-US" sz="3600" dirty="0" err="1"/>
              <a:t>MgO</a:t>
            </a:r>
            <a:endParaRPr lang="en-US" sz="3600" dirty="0"/>
          </a:p>
        </p:txBody>
      </p:sp>
      <p:sp>
        <p:nvSpPr>
          <p:cNvPr id="15363" name="Oval 3"/>
          <p:cNvSpPr>
            <a:spLocks noChangeArrowheads="1"/>
          </p:cNvSpPr>
          <p:nvPr/>
        </p:nvSpPr>
        <p:spPr bwMode="auto">
          <a:xfrm>
            <a:off x="338357" y="838200"/>
            <a:ext cx="228600" cy="3048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4" name="Oval 4"/>
          <p:cNvSpPr>
            <a:spLocks noChangeArrowheads="1"/>
          </p:cNvSpPr>
          <p:nvPr/>
        </p:nvSpPr>
        <p:spPr bwMode="auto">
          <a:xfrm>
            <a:off x="3295870" y="838200"/>
            <a:ext cx="228600" cy="304800"/>
          </a:xfrm>
          <a:prstGeom prst="ellips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5" name="Line 5"/>
          <p:cNvSpPr>
            <a:spLocks noChangeShapeType="1"/>
          </p:cNvSpPr>
          <p:nvPr/>
        </p:nvSpPr>
        <p:spPr bwMode="auto">
          <a:xfrm>
            <a:off x="609600" y="1143000"/>
            <a:ext cx="609600" cy="685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66" name="Line 6"/>
          <p:cNvSpPr>
            <a:spLocks noChangeShapeType="1"/>
          </p:cNvSpPr>
          <p:nvPr/>
        </p:nvSpPr>
        <p:spPr bwMode="auto">
          <a:xfrm flipH="1">
            <a:off x="1600200" y="1143000"/>
            <a:ext cx="1828800" cy="685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79" name="Text Box 19"/>
          <p:cNvSpPr txBox="1">
            <a:spLocks noChangeArrowheads="1"/>
          </p:cNvSpPr>
          <p:nvPr/>
        </p:nvSpPr>
        <p:spPr bwMode="auto">
          <a:xfrm>
            <a:off x="0" y="4343400"/>
            <a:ext cx="9144000" cy="2185988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5400"/>
              <a:t>magnesium oxide</a:t>
            </a:r>
          </a:p>
          <a:p>
            <a:pPr algn="ctr">
              <a:spcBef>
                <a:spcPct val="50000"/>
              </a:spcBef>
            </a:pPr>
            <a:r>
              <a:rPr lang="en-US" sz="5400"/>
              <a:t>MgO</a:t>
            </a:r>
            <a:endParaRPr lang="en-US" sz="5400" baseline="-25000"/>
          </a:p>
        </p:txBody>
      </p:sp>
      <p:grpSp>
        <p:nvGrpSpPr>
          <p:cNvPr id="20" name="Group 22"/>
          <p:cNvGrpSpPr>
            <a:grpSpLocks/>
          </p:cNvGrpSpPr>
          <p:nvPr/>
        </p:nvGrpSpPr>
        <p:grpSpPr bwMode="auto">
          <a:xfrm>
            <a:off x="838200" y="2209800"/>
            <a:ext cx="1981200" cy="914400"/>
            <a:chOff x="0" y="1371600"/>
            <a:chExt cx="1981200" cy="914400"/>
          </a:xfrm>
        </p:grpSpPr>
        <p:sp>
          <p:nvSpPr>
            <p:cNvPr id="21" name="Rectangle 181" descr="5%"/>
            <p:cNvSpPr>
              <a:spLocks noChangeArrowheads="1"/>
            </p:cNvSpPr>
            <p:nvPr/>
          </p:nvSpPr>
          <p:spPr bwMode="auto">
            <a:xfrm>
              <a:off x="0" y="1371600"/>
              <a:ext cx="1600200" cy="9144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 dirty="0" smtClean="0"/>
                <a:t>Mg</a:t>
              </a:r>
              <a:r>
                <a:rPr lang="en-US" sz="3600" baseline="30000" dirty="0" smtClean="0"/>
                <a:t>+2</a:t>
              </a:r>
              <a:endParaRPr lang="en-US" sz="3600" dirty="0"/>
            </a:p>
          </p:txBody>
        </p:sp>
        <p:sp>
          <p:nvSpPr>
            <p:cNvPr id="22" name="AutoShape 72" descr="5%"/>
            <p:cNvSpPr>
              <a:spLocks noChangeArrowheads="1"/>
            </p:cNvSpPr>
            <p:nvPr/>
          </p:nvSpPr>
          <p:spPr bwMode="auto">
            <a:xfrm rot="5400000">
              <a:off x="1562100" y="14097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AutoShape 73" descr="5%"/>
            <p:cNvSpPr>
              <a:spLocks noChangeArrowheads="1"/>
            </p:cNvSpPr>
            <p:nvPr/>
          </p:nvSpPr>
          <p:spPr bwMode="auto">
            <a:xfrm rot="5400000">
              <a:off x="1562100" y="18669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4" name="Group 31"/>
          <p:cNvGrpSpPr>
            <a:grpSpLocks/>
          </p:cNvGrpSpPr>
          <p:nvPr/>
        </p:nvGrpSpPr>
        <p:grpSpPr bwMode="auto">
          <a:xfrm>
            <a:off x="5410200" y="2438400"/>
            <a:ext cx="1966913" cy="914400"/>
            <a:chOff x="1995268" y="5486400"/>
            <a:chExt cx="1967132" cy="914400"/>
          </a:xfrm>
        </p:grpSpPr>
        <p:sp>
          <p:nvSpPr>
            <p:cNvPr id="25" name="Rectangle 120" descr="5%"/>
            <p:cNvSpPr>
              <a:spLocks noChangeArrowheads="1"/>
            </p:cNvSpPr>
            <p:nvPr/>
          </p:nvSpPr>
          <p:spPr bwMode="auto">
            <a:xfrm>
              <a:off x="2362200" y="5486400"/>
              <a:ext cx="1600200" cy="9144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 dirty="0" smtClean="0"/>
                <a:t>O</a:t>
              </a:r>
              <a:r>
                <a:rPr lang="en-US" sz="3600" baseline="30000" dirty="0" smtClean="0"/>
                <a:t>-2</a:t>
              </a:r>
              <a:endParaRPr lang="en-US" sz="3600" dirty="0"/>
            </a:p>
          </p:txBody>
        </p:sp>
        <p:grpSp>
          <p:nvGrpSpPr>
            <p:cNvPr id="26" name="Group 339"/>
            <p:cNvGrpSpPr>
              <a:grpSpLocks/>
            </p:cNvGrpSpPr>
            <p:nvPr/>
          </p:nvGrpSpPr>
          <p:grpSpPr bwMode="auto">
            <a:xfrm rot="10800000">
              <a:off x="1993681" y="5486400"/>
              <a:ext cx="369928" cy="914400"/>
              <a:chOff x="-763409" y="2743200"/>
              <a:chExt cx="369928" cy="914400"/>
            </a:xfrm>
          </p:grpSpPr>
          <p:cxnSp>
            <p:nvCxnSpPr>
              <p:cNvPr id="27" name="Straight Connector 26"/>
              <p:cNvCxnSpPr/>
              <p:nvPr/>
            </p:nvCxnSpPr>
            <p:spPr>
              <a:xfrm>
                <a:off x="-761822" y="2743200"/>
                <a:ext cx="366754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-760234" y="3657600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flipV="1">
                <a:off x="-760234" y="32004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 rot="5400000">
                <a:off x="-1220609" y="3200400"/>
                <a:ext cx="9144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>
                <a:off x="-761822" y="297180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>
                <a:off x="-760234" y="34290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 flipV="1">
                <a:off x="-761822" y="274320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1.94444E-6 -1.63737E-6 L -0.32413 -0.0333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" y="-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9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1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animBg="1"/>
      <p:bldP spid="15364" grpId="0" animBg="1"/>
      <p:bldP spid="15365" grpId="0" animBg="1"/>
      <p:bldP spid="15366" grpId="0" animBg="1"/>
      <p:bldP spid="1537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7" name="Text Box 13"/>
          <p:cNvSpPr txBox="1">
            <a:spLocks noChangeArrowheads="1"/>
          </p:cNvSpPr>
          <p:nvPr/>
        </p:nvSpPr>
        <p:spPr bwMode="auto">
          <a:xfrm>
            <a:off x="0" y="0"/>
            <a:ext cx="5181600" cy="201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</a:pPr>
            <a:endParaRPr lang="en-US" dirty="0" smtClean="0"/>
          </a:p>
          <a:p>
            <a:pPr marL="342900" indent="-342900">
              <a:spcBef>
                <a:spcPct val="50000"/>
              </a:spcBef>
            </a:pPr>
            <a:r>
              <a:rPr lang="en-US" dirty="0" smtClean="0">
                <a:sym typeface="Wingdings" pitchFamily="2" charset="2"/>
              </a:rPr>
              <a:t>10</a:t>
            </a:r>
            <a:r>
              <a:rPr lang="en-US" dirty="0">
                <a:sym typeface="Wingdings" pitchFamily="2" charset="2"/>
              </a:rPr>
              <a:t>. Aluminum (Al</a:t>
            </a:r>
            <a:r>
              <a:rPr lang="en-US" baseline="30000" dirty="0">
                <a:sym typeface="Wingdings" pitchFamily="2" charset="2"/>
              </a:rPr>
              <a:t>+3</a:t>
            </a:r>
            <a:r>
              <a:rPr lang="en-US" dirty="0">
                <a:sym typeface="Wingdings" pitchFamily="2" charset="2"/>
              </a:rPr>
              <a:t>) + Fluorine (F</a:t>
            </a:r>
            <a:r>
              <a:rPr lang="en-US" baseline="30000" dirty="0">
                <a:sym typeface="Wingdings" pitchFamily="2" charset="2"/>
              </a:rPr>
              <a:t>-1</a:t>
            </a:r>
            <a:r>
              <a:rPr lang="en-US" dirty="0">
                <a:sym typeface="Wingdings" pitchFamily="2" charset="2"/>
              </a:rPr>
              <a:t>)</a:t>
            </a:r>
            <a:endParaRPr lang="en-US" dirty="0"/>
          </a:p>
          <a:p>
            <a:pPr marL="342900" indent="-342900">
              <a:spcBef>
                <a:spcPct val="50000"/>
              </a:spcBef>
            </a:pPr>
            <a:r>
              <a:rPr lang="en-US" dirty="0"/>
              <a:t>     1 aluminum atom for every 3 fluoride atoms</a:t>
            </a:r>
          </a:p>
          <a:p>
            <a:pPr marL="342900" indent="-342900">
              <a:spcBef>
                <a:spcPct val="50000"/>
              </a:spcBef>
            </a:pPr>
            <a:r>
              <a:rPr lang="en-US" sz="3600" dirty="0"/>
              <a:t>10. AlF</a:t>
            </a:r>
            <a:r>
              <a:rPr lang="en-US" sz="3600" baseline="-25000" dirty="0"/>
              <a:t>3</a:t>
            </a:r>
          </a:p>
        </p:txBody>
      </p:sp>
      <p:sp>
        <p:nvSpPr>
          <p:cNvPr id="16398" name="Oval 14"/>
          <p:cNvSpPr>
            <a:spLocks noChangeArrowheads="1"/>
          </p:cNvSpPr>
          <p:nvPr/>
        </p:nvSpPr>
        <p:spPr bwMode="auto">
          <a:xfrm>
            <a:off x="338796" y="838200"/>
            <a:ext cx="228600" cy="3048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9" name="Oval 15"/>
          <p:cNvSpPr>
            <a:spLocks noChangeArrowheads="1"/>
          </p:cNvSpPr>
          <p:nvPr/>
        </p:nvSpPr>
        <p:spPr bwMode="auto">
          <a:xfrm>
            <a:off x="3095845" y="838200"/>
            <a:ext cx="228600" cy="304800"/>
          </a:xfrm>
          <a:prstGeom prst="ellips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00" name="Line 16"/>
          <p:cNvSpPr>
            <a:spLocks noChangeShapeType="1"/>
          </p:cNvSpPr>
          <p:nvPr/>
        </p:nvSpPr>
        <p:spPr bwMode="auto">
          <a:xfrm>
            <a:off x="533400" y="1143000"/>
            <a:ext cx="685800" cy="685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401" name="Line 17"/>
          <p:cNvSpPr>
            <a:spLocks noChangeShapeType="1"/>
          </p:cNvSpPr>
          <p:nvPr/>
        </p:nvSpPr>
        <p:spPr bwMode="auto">
          <a:xfrm flipH="1">
            <a:off x="1676400" y="1066800"/>
            <a:ext cx="1752600" cy="685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411" name="Text Box 27"/>
          <p:cNvSpPr txBox="1">
            <a:spLocks noChangeArrowheads="1"/>
          </p:cNvSpPr>
          <p:nvPr/>
        </p:nvSpPr>
        <p:spPr bwMode="auto">
          <a:xfrm>
            <a:off x="0" y="4343400"/>
            <a:ext cx="9144000" cy="2185988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5400"/>
              <a:t>aluminum fluoride</a:t>
            </a:r>
          </a:p>
          <a:p>
            <a:pPr algn="ctr">
              <a:spcBef>
                <a:spcPct val="50000"/>
              </a:spcBef>
            </a:pPr>
            <a:r>
              <a:rPr lang="en-US" sz="5400"/>
              <a:t>AlF</a:t>
            </a:r>
            <a:r>
              <a:rPr lang="en-US" sz="5400" baseline="-25000"/>
              <a:t>3</a:t>
            </a:r>
          </a:p>
        </p:txBody>
      </p:sp>
      <p:grpSp>
        <p:nvGrpSpPr>
          <p:cNvPr id="62" name="Group 61"/>
          <p:cNvGrpSpPr/>
          <p:nvPr/>
        </p:nvGrpSpPr>
        <p:grpSpPr>
          <a:xfrm>
            <a:off x="5360549" y="4052668"/>
            <a:ext cx="1968719" cy="457200"/>
            <a:chOff x="5346481" y="4052668"/>
            <a:chExt cx="1968719" cy="457200"/>
          </a:xfrm>
        </p:grpSpPr>
        <p:sp>
          <p:nvSpPr>
            <p:cNvPr id="29" name="Rectangle 3" descr="5%"/>
            <p:cNvSpPr>
              <a:spLocks noChangeArrowheads="1"/>
            </p:cNvSpPr>
            <p:nvPr/>
          </p:nvSpPr>
          <p:spPr bwMode="auto">
            <a:xfrm>
              <a:off x="5717624" y="4052668"/>
              <a:ext cx="1597576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 dirty="0"/>
                <a:t>F</a:t>
              </a:r>
              <a:r>
                <a:rPr lang="en-US" sz="3600" baseline="30000" dirty="0" smtClean="0"/>
                <a:t>-1</a:t>
              </a:r>
              <a:endParaRPr lang="en-US" sz="3600" dirty="0"/>
            </a:p>
          </p:txBody>
        </p:sp>
        <p:grpSp>
          <p:nvGrpSpPr>
            <p:cNvPr id="30" name="Group 273"/>
            <p:cNvGrpSpPr>
              <a:grpSpLocks/>
            </p:cNvGrpSpPr>
            <p:nvPr/>
          </p:nvGrpSpPr>
          <p:grpSpPr bwMode="auto">
            <a:xfrm rot="10800000">
              <a:off x="5346481" y="4052668"/>
              <a:ext cx="371476" cy="457200"/>
              <a:chOff x="-762330" y="0"/>
              <a:chExt cx="368838" cy="457200"/>
            </a:xfrm>
          </p:grpSpPr>
          <p:cxnSp>
            <p:nvCxnSpPr>
              <p:cNvPr id="31" name="Straight Connector 30"/>
              <p:cNvCxnSpPr/>
              <p:nvPr/>
            </p:nvCxnSpPr>
            <p:spPr>
              <a:xfrm>
                <a:off x="-760753" y="0"/>
                <a:ext cx="367261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>
                <a:off x="-760753" y="457200"/>
                <a:ext cx="367261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 flipV="1">
                <a:off x="-760753" y="0"/>
                <a:ext cx="367261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 rot="5400000">
                <a:off x="-990930" y="228600"/>
                <a:ext cx="4572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>
              <a:xfrm>
                <a:off x="-760753" y="228600"/>
                <a:ext cx="367261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6" name="Group 44"/>
          <p:cNvGrpSpPr>
            <a:grpSpLocks/>
          </p:cNvGrpSpPr>
          <p:nvPr/>
        </p:nvGrpSpPr>
        <p:grpSpPr bwMode="auto">
          <a:xfrm>
            <a:off x="5257800" y="3048000"/>
            <a:ext cx="1966913" cy="457200"/>
            <a:chOff x="1995268" y="0"/>
            <a:chExt cx="1967132" cy="457200"/>
          </a:xfrm>
        </p:grpSpPr>
        <p:sp>
          <p:nvSpPr>
            <p:cNvPr id="37" name="Rectangle 3" descr="5%"/>
            <p:cNvSpPr>
              <a:spLocks noChangeArrowheads="1"/>
            </p:cNvSpPr>
            <p:nvPr/>
          </p:nvSpPr>
          <p:spPr bwMode="auto">
            <a:xfrm>
              <a:off x="2362200" y="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 dirty="0"/>
                <a:t>F</a:t>
              </a:r>
              <a:r>
                <a:rPr lang="en-US" sz="3600" baseline="30000" dirty="0" smtClean="0"/>
                <a:t>-1</a:t>
              </a:r>
              <a:endParaRPr lang="en-US" sz="3600" dirty="0"/>
            </a:p>
          </p:txBody>
        </p:sp>
        <p:grpSp>
          <p:nvGrpSpPr>
            <p:cNvPr id="38" name="Group 273"/>
            <p:cNvGrpSpPr>
              <a:grpSpLocks/>
            </p:cNvGrpSpPr>
            <p:nvPr/>
          </p:nvGrpSpPr>
          <p:grpSpPr bwMode="auto">
            <a:xfrm rot="10800000">
              <a:off x="1993681" y="0"/>
              <a:ext cx="368341" cy="457200"/>
              <a:chOff x="-761822" y="0"/>
              <a:chExt cx="368341" cy="457200"/>
            </a:xfrm>
          </p:grpSpPr>
          <p:cxnSp>
            <p:nvCxnSpPr>
              <p:cNvPr id="39" name="Straight Connector 38"/>
              <p:cNvCxnSpPr/>
              <p:nvPr/>
            </p:nvCxnSpPr>
            <p:spPr>
              <a:xfrm>
                <a:off x="-760234" y="0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>
                <a:off x="-760234" y="457200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 flipV="1">
                <a:off x="-760234" y="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>
              <a:xfrm rot="5400000">
                <a:off x="-990422" y="228600"/>
                <a:ext cx="4572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>
                <a:off x="-760234" y="2286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4" name="Group 36"/>
          <p:cNvGrpSpPr>
            <a:grpSpLocks/>
          </p:cNvGrpSpPr>
          <p:nvPr/>
        </p:nvGrpSpPr>
        <p:grpSpPr bwMode="auto">
          <a:xfrm>
            <a:off x="5257800" y="1981200"/>
            <a:ext cx="1966913" cy="457200"/>
            <a:chOff x="1995268" y="0"/>
            <a:chExt cx="1967132" cy="457200"/>
          </a:xfrm>
        </p:grpSpPr>
        <p:sp>
          <p:nvSpPr>
            <p:cNvPr id="45" name="Rectangle 3" descr="5%"/>
            <p:cNvSpPr>
              <a:spLocks noChangeArrowheads="1"/>
            </p:cNvSpPr>
            <p:nvPr/>
          </p:nvSpPr>
          <p:spPr bwMode="auto">
            <a:xfrm>
              <a:off x="2362200" y="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 dirty="0"/>
                <a:t>F</a:t>
              </a:r>
              <a:r>
                <a:rPr lang="en-US" sz="3600" baseline="30000" dirty="0" smtClean="0"/>
                <a:t>-1</a:t>
              </a:r>
              <a:endParaRPr lang="en-US" sz="3600" dirty="0"/>
            </a:p>
          </p:txBody>
        </p:sp>
        <p:grpSp>
          <p:nvGrpSpPr>
            <p:cNvPr id="46" name="Group 273"/>
            <p:cNvGrpSpPr>
              <a:grpSpLocks/>
            </p:cNvGrpSpPr>
            <p:nvPr/>
          </p:nvGrpSpPr>
          <p:grpSpPr bwMode="auto">
            <a:xfrm rot="10800000">
              <a:off x="1995268" y="0"/>
              <a:ext cx="368341" cy="457200"/>
              <a:chOff x="-763409" y="0"/>
              <a:chExt cx="368341" cy="457200"/>
            </a:xfrm>
          </p:grpSpPr>
          <p:cxnSp>
            <p:nvCxnSpPr>
              <p:cNvPr id="47" name="Straight Connector 46"/>
              <p:cNvCxnSpPr/>
              <p:nvPr/>
            </p:nvCxnSpPr>
            <p:spPr>
              <a:xfrm>
                <a:off x="-761822" y="0"/>
                <a:ext cx="366754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>
                <a:off x="-761822" y="457200"/>
                <a:ext cx="366754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>
              <a:xfrm flipV="1">
                <a:off x="-761822" y="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 rot="5400000">
                <a:off x="-992009" y="228600"/>
                <a:ext cx="4572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>
              <a:xfrm>
                <a:off x="-761822" y="22860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2" name="Group 31"/>
          <p:cNvGrpSpPr>
            <a:grpSpLocks/>
          </p:cNvGrpSpPr>
          <p:nvPr/>
        </p:nvGrpSpPr>
        <p:grpSpPr bwMode="auto">
          <a:xfrm>
            <a:off x="685800" y="2209800"/>
            <a:ext cx="1981200" cy="1371600"/>
            <a:chOff x="0" y="0"/>
            <a:chExt cx="1981201" cy="1371600"/>
          </a:xfrm>
        </p:grpSpPr>
        <p:sp>
          <p:nvSpPr>
            <p:cNvPr id="53" name="Rectangle 35" descr="10%"/>
            <p:cNvSpPr>
              <a:spLocks noChangeArrowheads="1"/>
            </p:cNvSpPr>
            <p:nvPr/>
          </p:nvSpPr>
          <p:spPr bwMode="auto">
            <a:xfrm>
              <a:off x="0" y="0"/>
              <a:ext cx="1600200" cy="1371600"/>
            </a:xfrm>
            <a:prstGeom prst="rect">
              <a:avLst/>
            </a:prstGeom>
            <a:pattFill prst="pct10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 dirty="0" smtClean="0"/>
                <a:t>Al</a:t>
              </a:r>
              <a:r>
                <a:rPr lang="en-US" sz="3600" baseline="30000" dirty="0" smtClean="0"/>
                <a:t>+3</a:t>
              </a:r>
              <a:endParaRPr lang="en-US" sz="3600" dirty="0"/>
            </a:p>
          </p:txBody>
        </p:sp>
        <p:sp>
          <p:nvSpPr>
            <p:cNvPr id="54" name="AutoShape 70" descr="5%"/>
            <p:cNvSpPr>
              <a:spLocks noChangeArrowheads="1"/>
            </p:cNvSpPr>
            <p:nvPr/>
          </p:nvSpPr>
          <p:spPr bwMode="auto">
            <a:xfrm rot="5400000">
              <a:off x="1562101" y="9525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AutoShape 72" descr="5%"/>
            <p:cNvSpPr>
              <a:spLocks noChangeArrowheads="1"/>
            </p:cNvSpPr>
            <p:nvPr/>
          </p:nvSpPr>
          <p:spPr bwMode="auto">
            <a:xfrm rot="5400000">
              <a:off x="1562101" y="381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AutoShape 73" descr="5%"/>
            <p:cNvSpPr>
              <a:spLocks noChangeArrowheads="1"/>
            </p:cNvSpPr>
            <p:nvPr/>
          </p:nvSpPr>
          <p:spPr bwMode="auto">
            <a:xfrm rot="5400000">
              <a:off x="1562101" y="4953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0156 -4.14431E-6 L -0.32257 0.03331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" y="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000"/>
                            </p:stCondLst>
                            <p:childTnLst>
                              <p:par>
                                <p:cTn id="20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0156 4.19981E-6 L -0.32257 -0.05551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" y="-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1000"/>
                            </p:stCondLst>
                            <p:childTnLst>
                              <p:par>
                                <p:cTn id="26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1.11111E-6 1.40611E-6 L -0.33333 -0.13321 " pathEditMode="relative" ptsTypes="AA">
                                      <p:cBhvr>
                                        <p:cTn id="27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4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70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8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9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8" grpId="0" animBg="1"/>
      <p:bldP spid="16399" grpId="0" animBg="1"/>
      <p:bldP spid="16400" grpId="0" animBg="1"/>
      <p:bldP spid="16401" grpId="0" animBg="1"/>
      <p:bldP spid="164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0" y="0"/>
            <a:ext cx="5181600" cy="201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</a:pPr>
            <a:endParaRPr lang="en-US" dirty="0" smtClean="0"/>
          </a:p>
          <a:p>
            <a:pPr marL="342900" indent="-342900">
              <a:spcBef>
                <a:spcPct val="50000"/>
              </a:spcBef>
            </a:pPr>
            <a:r>
              <a:rPr lang="en-US" dirty="0" smtClean="0">
                <a:sym typeface="Wingdings" pitchFamily="2" charset="2"/>
              </a:rPr>
              <a:t>11</a:t>
            </a:r>
            <a:r>
              <a:rPr lang="en-US" dirty="0">
                <a:sym typeface="Wingdings" pitchFamily="2" charset="2"/>
              </a:rPr>
              <a:t>. Potassium (K</a:t>
            </a:r>
            <a:r>
              <a:rPr lang="en-US" baseline="30000" dirty="0">
                <a:sym typeface="Wingdings" pitchFamily="2" charset="2"/>
              </a:rPr>
              <a:t>+1</a:t>
            </a:r>
            <a:r>
              <a:rPr lang="en-US" dirty="0">
                <a:sym typeface="Wingdings" pitchFamily="2" charset="2"/>
              </a:rPr>
              <a:t>) + Iodine (I</a:t>
            </a:r>
            <a:r>
              <a:rPr lang="en-US" baseline="30000" dirty="0">
                <a:sym typeface="Wingdings" pitchFamily="2" charset="2"/>
              </a:rPr>
              <a:t>-1</a:t>
            </a:r>
            <a:r>
              <a:rPr lang="en-US" dirty="0">
                <a:sym typeface="Wingdings" pitchFamily="2" charset="2"/>
              </a:rPr>
              <a:t>)</a:t>
            </a:r>
            <a:endParaRPr lang="en-US" dirty="0"/>
          </a:p>
          <a:p>
            <a:pPr marL="342900" indent="-342900">
              <a:spcBef>
                <a:spcPct val="50000"/>
              </a:spcBef>
            </a:pPr>
            <a:r>
              <a:rPr lang="en-US" dirty="0"/>
              <a:t>     </a:t>
            </a:r>
            <a:r>
              <a:rPr lang="en-US" dirty="0" smtClean="0"/>
              <a:t>1 potassium </a:t>
            </a:r>
            <a:r>
              <a:rPr lang="en-US" dirty="0"/>
              <a:t>atom for every 1 iodine atom</a:t>
            </a:r>
          </a:p>
          <a:p>
            <a:pPr marL="342900" indent="-342900">
              <a:spcBef>
                <a:spcPct val="50000"/>
              </a:spcBef>
            </a:pPr>
            <a:r>
              <a:rPr lang="en-US" sz="3600" dirty="0"/>
              <a:t>11. KI</a:t>
            </a:r>
          </a:p>
        </p:txBody>
      </p:sp>
      <p:sp>
        <p:nvSpPr>
          <p:cNvPr id="17411" name="Oval 3"/>
          <p:cNvSpPr>
            <a:spLocks noChangeArrowheads="1"/>
          </p:cNvSpPr>
          <p:nvPr/>
        </p:nvSpPr>
        <p:spPr bwMode="auto">
          <a:xfrm>
            <a:off x="338138" y="838200"/>
            <a:ext cx="228600" cy="3048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2" name="Oval 4"/>
          <p:cNvSpPr>
            <a:spLocks noChangeArrowheads="1"/>
          </p:cNvSpPr>
          <p:nvPr/>
        </p:nvSpPr>
        <p:spPr bwMode="auto">
          <a:xfrm>
            <a:off x="3158028" y="838200"/>
            <a:ext cx="228600" cy="304800"/>
          </a:xfrm>
          <a:prstGeom prst="ellips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3" name="Line 5"/>
          <p:cNvSpPr>
            <a:spLocks noChangeShapeType="1"/>
          </p:cNvSpPr>
          <p:nvPr/>
        </p:nvSpPr>
        <p:spPr bwMode="auto">
          <a:xfrm>
            <a:off x="519332" y="1128932"/>
            <a:ext cx="609600" cy="685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7414" name="Line 6"/>
          <p:cNvSpPr>
            <a:spLocks noChangeShapeType="1"/>
          </p:cNvSpPr>
          <p:nvPr/>
        </p:nvSpPr>
        <p:spPr bwMode="auto">
          <a:xfrm flipH="1">
            <a:off x="1219200" y="1143000"/>
            <a:ext cx="2057400" cy="685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7423" name="Text Box 15"/>
          <p:cNvSpPr txBox="1">
            <a:spLocks noChangeArrowheads="1"/>
          </p:cNvSpPr>
          <p:nvPr/>
        </p:nvSpPr>
        <p:spPr bwMode="auto">
          <a:xfrm>
            <a:off x="0" y="4343400"/>
            <a:ext cx="9144000" cy="2185988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5400"/>
              <a:t>potassium iodide</a:t>
            </a:r>
          </a:p>
          <a:p>
            <a:pPr algn="ctr">
              <a:spcBef>
                <a:spcPct val="50000"/>
              </a:spcBef>
            </a:pPr>
            <a:r>
              <a:rPr lang="en-US" sz="5400">
                <a:latin typeface="Constantia" pitchFamily="18" charset="0"/>
              </a:rPr>
              <a:t>KI</a:t>
            </a:r>
            <a:endParaRPr lang="en-US" sz="5400" baseline="-25000">
              <a:latin typeface="Constantia" pitchFamily="18" charset="0"/>
            </a:endParaRPr>
          </a:p>
        </p:txBody>
      </p:sp>
      <p:grpSp>
        <p:nvGrpSpPr>
          <p:cNvPr id="16" name="Group 15"/>
          <p:cNvGrpSpPr>
            <a:grpSpLocks/>
          </p:cNvGrpSpPr>
          <p:nvPr/>
        </p:nvGrpSpPr>
        <p:grpSpPr bwMode="auto">
          <a:xfrm>
            <a:off x="838200" y="2133600"/>
            <a:ext cx="1981200" cy="457200"/>
            <a:chOff x="0" y="4572000"/>
            <a:chExt cx="1981200" cy="457200"/>
          </a:xfrm>
        </p:grpSpPr>
        <p:sp>
          <p:nvSpPr>
            <p:cNvPr id="17" name="Rectangle 103" descr="5%"/>
            <p:cNvSpPr>
              <a:spLocks noChangeArrowheads="1"/>
            </p:cNvSpPr>
            <p:nvPr/>
          </p:nvSpPr>
          <p:spPr bwMode="auto">
            <a:xfrm flipH="1">
              <a:off x="0" y="457200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 dirty="0"/>
                <a:t>K</a:t>
              </a:r>
              <a:r>
                <a:rPr lang="en-US" sz="3600" baseline="30000" dirty="0" smtClean="0"/>
                <a:t>+1</a:t>
              </a:r>
              <a:endParaRPr lang="en-US" sz="3600" dirty="0"/>
            </a:p>
          </p:txBody>
        </p:sp>
        <p:sp>
          <p:nvSpPr>
            <p:cNvPr id="18" name="AutoShape 73" descr="5%"/>
            <p:cNvSpPr>
              <a:spLocks noChangeArrowheads="1"/>
            </p:cNvSpPr>
            <p:nvPr/>
          </p:nvSpPr>
          <p:spPr bwMode="auto">
            <a:xfrm rot="5400000">
              <a:off x="1562100" y="46101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9" name="Group 18"/>
          <p:cNvGrpSpPr>
            <a:grpSpLocks/>
          </p:cNvGrpSpPr>
          <p:nvPr/>
        </p:nvGrpSpPr>
        <p:grpSpPr bwMode="auto">
          <a:xfrm>
            <a:off x="5264370" y="1974850"/>
            <a:ext cx="1966912" cy="457200"/>
            <a:chOff x="1995268" y="0"/>
            <a:chExt cx="1967132" cy="457200"/>
          </a:xfrm>
        </p:grpSpPr>
        <p:sp>
          <p:nvSpPr>
            <p:cNvPr id="20" name="Rectangle 3" descr="5%"/>
            <p:cNvSpPr>
              <a:spLocks noChangeArrowheads="1"/>
            </p:cNvSpPr>
            <p:nvPr/>
          </p:nvSpPr>
          <p:spPr bwMode="auto">
            <a:xfrm>
              <a:off x="2362200" y="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 dirty="0"/>
                <a:t>I</a:t>
              </a:r>
              <a:r>
                <a:rPr lang="en-US" sz="3600" baseline="30000" dirty="0" smtClean="0"/>
                <a:t>-1</a:t>
              </a:r>
              <a:endParaRPr lang="en-US" sz="3600" dirty="0"/>
            </a:p>
          </p:txBody>
        </p:sp>
        <p:grpSp>
          <p:nvGrpSpPr>
            <p:cNvPr id="21" name="Group 273"/>
            <p:cNvGrpSpPr>
              <a:grpSpLocks/>
            </p:cNvGrpSpPr>
            <p:nvPr/>
          </p:nvGrpSpPr>
          <p:grpSpPr bwMode="auto">
            <a:xfrm rot="10800000">
              <a:off x="1995268" y="0"/>
              <a:ext cx="368341" cy="457200"/>
              <a:chOff x="-763409" y="0"/>
              <a:chExt cx="368341" cy="457200"/>
            </a:xfrm>
          </p:grpSpPr>
          <p:cxnSp>
            <p:nvCxnSpPr>
              <p:cNvPr id="22" name="Straight Connector 21"/>
              <p:cNvCxnSpPr/>
              <p:nvPr/>
            </p:nvCxnSpPr>
            <p:spPr>
              <a:xfrm>
                <a:off x="-761821" y="0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-761821" y="457200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 flipV="1">
                <a:off x="-761821" y="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 rot="5400000">
                <a:off x="-992009" y="228600"/>
                <a:ext cx="4572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-761821" y="2286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4.72222E-6 -4.14431E-6 L -0.30747 0.02221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" y="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1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animBg="1"/>
      <p:bldP spid="17412" grpId="0" animBg="1"/>
      <p:bldP spid="17413" grpId="0" animBg="1"/>
      <p:bldP spid="17414" grpId="0" animBg="1"/>
      <p:bldP spid="174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5" name="Text Box 13"/>
          <p:cNvSpPr txBox="1">
            <a:spLocks noChangeArrowheads="1"/>
          </p:cNvSpPr>
          <p:nvPr/>
        </p:nvSpPr>
        <p:spPr bwMode="auto">
          <a:xfrm>
            <a:off x="0" y="0"/>
            <a:ext cx="5181600" cy="201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</a:pPr>
            <a:endParaRPr lang="en-US" dirty="0" smtClean="0"/>
          </a:p>
          <a:p>
            <a:pPr marL="342900" indent="-342900">
              <a:spcBef>
                <a:spcPct val="50000"/>
              </a:spcBef>
            </a:pPr>
            <a:r>
              <a:rPr lang="en-US" dirty="0" smtClean="0">
                <a:sym typeface="Wingdings" pitchFamily="2" charset="2"/>
              </a:rPr>
              <a:t>12</a:t>
            </a:r>
            <a:r>
              <a:rPr lang="en-US" dirty="0">
                <a:sym typeface="Wingdings" pitchFamily="2" charset="2"/>
              </a:rPr>
              <a:t>. Sodium (Na</a:t>
            </a:r>
            <a:r>
              <a:rPr lang="en-US" baseline="30000" dirty="0">
                <a:sym typeface="Wingdings" pitchFamily="2" charset="2"/>
              </a:rPr>
              <a:t>+1</a:t>
            </a:r>
            <a:r>
              <a:rPr lang="en-US" dirty="0">
                <a:sym typeface="Wingdings" pitchFamily="2" charset="2"/>
              </a:rPr>
              <a:t>) + Nitrogen (N</a:t>
            </a:r>
            <a:r>
              <a:rPr lang="en-US" baseline="30000" dirty="0">
                <a:sym typeface="Wingdings" pitchFamily="2" charset="2"/>
              </a:rPr>
              <a:t>-3</a:t>
            </a:r>
            <a:r>
              <a:rPr lang="en-US" dirty="0">
                <a:sym typeface="Wingdings" pitchFamily="2" charset="2"/>
              </a:rPr>
              <a:t>)</a:t>
            </a:r>
            <a:endParaRPr lang="en-US" dirty="0"/>
          </a:p>
          <a:p>
            <a:pPr marL="342900" indent="-342900">
              <a:spcBef>
                <a:spcPct val="50000"/>
              </a:spcBef>
            </a:pPr>
            <a:r>
              <a:rPr lang="en-US" dirty="0"/>
              <a:t>      3 sodium atoms for every 1 nitrogen atom</a:t>
            </a:r>
          </a:p>
          <a:p>
            <a:pPr marL="342900" indent="-342900">
              <a:spcBef>
                <a:spcPct val="50000"/>
              </a:spcBef>
            </a:pPr>
            <a:r>
              <a:rPr lang="en-US" sz="3600" dirty="0"/>
              <a:t>12. Na</a:t>
            </a:r>
            <a:r>
              <a:rPr lang="en-US" sz="3600" baseline="-25000" dirty="0"/>
              <a:t>3</a:t>
            </a:r>
            <a:r>
              <a:rPr lang="en-US" sz="3600" dirty="0"/>
              <a:t>N</a:t>
            </a:r>
          </a:p>
        </p:txBody>
      </p:sp>
      <p:sp>
        <p:nvSpPr>
          <p:cNvPr id="18446" name="Oval 14"/>
          <p:cNvSpPr>
            <a:spLocks noChangeArrowheads="1"/>
          </p:cNvSpPr>
          <p:nvPr/>
        </p:nvSpPr>
        <p:spPr bwMode="auto">
          <a:xfrm>
            <a:off x="395288" y="838200"/>
            <a:ext cx="228600" cy="3048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47" name="Oval 15"/>
          <p:cNvSpPr>
            <a:spLocks noChangeArrowheads="1"/>
          </p:cNvSpPr>
          <p:nvPr/>
        </p:nvSpPr>
        <p:spPr bwMode="auto">
          <a:xfrm>
            <a:off x="3033932" y="838200"/>
            <a:ext cx="228600" cy="304800"/>
          </a:xfrm>
          <a:prstGeom prst="ellips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48" name="Line 16"/>
          <p:cNvSpPr>
            <a:spLocks noChangeShapeType="1"/>
          </p:cNvSpPr>
          <p:nvPr/>
        </p:nvSpPr>
        <p:spPr bwMode="auto">
          <a:xfrm>
            <a:off x="609600" y="1143000"/>
            <a:ext cx="838200" cy="533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8449" name="Line 17"/>
          <p:cNvSpPr>
            <a:spLocks noChangeShapeType="1"/>
          </p:cNvSpPr>
          <p:nvPr/>
        </p:nvSpPr>
        <p:spPr bwMode="auto">
          <a:xfrm flipH="1">
            <a:off x="1981200" y="1143000"/>
            <a:ext cx="1066800" cy="609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8459" name="Text Box 27"/>
          <p:cNvSpPr txBox="1">
            <a:spLocks noChangeArrowheads="1"/>
          </p:cNvSpPr>
          <p:nvPr/>
        </p:nvSpPr>
        <p:spPr bwMode="auto">
          <a:xfrm>
            <a:off x="0" y="4343400"/>
            <a:ext cx="9144000" cy="2185988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5400"/>
              <a:t>sodium nitride</a:t>
            </a:r>
          </a:p>
          <a:p>
            <a:pPr algn="ctr">
              <a:spcBef>
                <a:spcPct val="50000"/>
              </a:spcBef>
            </a:pPr>
            <a:r>
              <a:rPr lang="en-US" sz="5400"/>
              <a:t>Na</a:t>
            </a:r>
            <a:r>
              <a:rPr lang="en-US" sz="5400" baseline="-25000"/>
              <a:t>3</a:t>
            </a:r>
            <a:r>
              <a:rPr lang="en-US" sz="5400"/>
              <a:t>N</a:t>
            </a:r>
            <a:endParaRPr lang="en-US" sz="5400" baseline="-25000"/>
          </a:p>
        </p:txBody>
      </p:sp>
      <p:grpSp>
        <p:nvGrpSpPr>
          <p:cNvPr id="28" name="Group 27"/>
          <p:cNvGrpSpPr>
            <a:grpSpLocks/>
          </p:cNvGrpSpPr>
          <p:nvPr/>
        </p:nvGrpSpPr>
        <p:grpSpPr bwMode="auto">
          <a:xfrm>
            <a:off x="1066800" y="2209800"/>
            <a:ext cx="1981200" cy="457200"/>
            <a:chOff x="0" y="4572000"/>
            <a:chExt cx="1981200" cy="457200"/>
          </a:xfrm>
        </p:grpSpPr>
        <p:sp>
          <p:nvSpPr>
            <p:cNvPr id="29" name="Rectangle 103" descr="5%"/>
            <p:cNvSpPr>
              <a:spLocks noChangeArrowheads="1"/>
            </p:cNvSpPr>
            <p:nvPr/>
          </p:nvSpPr>
          <p:spPr bwMode="auto">
            <a:xfrm flipH="1">
              <a:off x="0" y="457200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 dirty="0" smtClean="0"/>
                <a:t>Na</a:t>
              </a:r>
              <a:r>
                <a:rPr lang="en-US" sz="3600" baseline="30000" dirty="0" smtClean="0"/>
                <a:t>+1</a:t>
              </a:r>
              <a:endParaRPr lang="en-US" sz="3600" dirty="0"/>
            </a:p>
          </p:txBody>
        </p:sp>
        <p:sp>
          <p:nvSpPr>
            <p:cNvPr id="30" name="AutoShape 73" descr="5%"/>
            <p:cNvSpPr>
              <a:spLocks noChangeArrowheads="1"/>
            </p:cNvSpPr>
            <p:nvPr/>
          </p:nvSpPr>
          <p:spPr bwMode="auto">
            <a:xfrm rot="5400000">
              <a:off x="1562100" y="46101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1" name="Group 28"/>
          <p:cNvGrpSpPr>
            <a:grpSpLocks/>
          </p:cNvGrpSpPr>
          <p:nvPr/>
        </p:nvGrpSpPr>
        <p:grpSpPr bwMode="auto">
          <a:xfrm>
            <a:off x="5500687" y="2667000"/>
            <a:ext cx="1966913" cy="1371600"/>
            <a:chOff x="7176868" y="0"/>
            <a:chExt cx="1967132" cy="1371600"/>
          </a:xfrm>
        </p:grpSpPr>
        <p:sp>
          <p:nvSpPr>
            <p:cNvPr id="32" name="Rectangle 71" descr="10%"/>
            <p:cNvSpPr>
              <a:spLocks noChangeArrowheads="1"/>
            </p:cNvSpPr>
            <p:nvPr/>
          </p:nvSpPr>
          <p:spPr bwMode="auto">
            <a:xfrm flipH="1">
              <a:off x="7543800" y="0"/>
              <a:ext cx="1600200" cy="1371600"/>
            </a:xfrm>
            <a:prstGeom prst="rect">
              <a:avLst/>
            </a:prstGeom>
            <a:pattFill prst="pct10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N</a:t>
              </a:r>
              <a:r>
                <a:rPr lang="en-US" sz="3600" baseline="30000"/>
                <a:t>-3</a:t>
              </a:r>
              <a:endParaRPr lang="en-US" sz="3600"/>
            </a:p>
          </p:txBody>
        </p:sp>
        <p:grpSp>
          <p:nvGrpSpPr>
            <p:cNvPr id="33" name="Group 416"/>
            <p:cNvGrpSpPr>
              <a:grpSpLocks/>
            </p:cNvGrpSpPr>
            <p:nvPr/>
          </p:nvGrpSpPr>
          <p:grpSpPr bwMode="auto">
            <a:xfrm rot="10800000">
              <a:off x="7175281" y="0"/>
              <a:ext cx="368341" cy="1371600"/>
              <a:chOff x="-761822" y="4114800"/>
              <a:chExt cx="368341" cy="1371600"/>
            </a:xfrm>
          </p:grpSpPr>
          <p:cxnSp>
            <p:nvCxnSpPr>
              <p:cNvPr id="34" name="Straight Connector 33"/>
              <p:cNvCxnSpPr/>
              <p:nvPr/>
            </p:nvCxnSpPr>
            <p:spPr>
              <a:xfrm>
                <a:off x="-761822" y="4114800"/>
                <a:ext cx="366754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>
              <a:xfrm>
                <a:off x="-760234" y="5486400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 flipV="1">
                <a:off x="-760234" y="45720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 rot="5400000">
                <a:off x="-1447622" y="4800600"/>
                <a:ext cx="13716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>
              <a:xfrm>
                <a:off x="-760234" y="43434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>
                <a:off x="-760234" y="48006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 flipV="1">
                <a:off x="-761822" y="411480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 flipV="1">
                <a:off x="-760234" y="50292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>
              <a:xfrm>
                <a:off x="-760234" y="52578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3" name="Group 42"/>
          <p:cNvGrpSpPr>
            <a:grpSpLocks/>
          </p:cNvGrpSpPr>
          <p:nvPr/>
        </p:nvGrpSpPr>
        <p:grpSpPr bwMode="auto">
          <a:xfrm>
            <a:off x="609600" y="3581400"/>
            <a:ext cx="1981200" cy="471268"/>
            <a:chOff x="0" y="4557932"/>
            <a:chExt cx="1967132" cy="471268"/>
          </a:xfrm>
        </p:grpSpPr>
        <p:sp>
          <p:nvSpPr>
            <p:cNvPr id="44" name="Rectangle 103" descr="5%"/>
            <p:cNvSpPr>
              <a:spLocks noChangeArrowheads="1"/>
            </p:cNvSpPr>
            <p:nvPr/>
          </p:nvSpPr>
          <p:spPr bwMode="auto">
            <a:xfrm flipH="1">
              <a:off x="0" y="457200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 dirty="0" smtClean="0"/>
                <a:t>Na</a:t>
              </a:r>
              <a:r>
                <a:rPr lang="en-US" sz="3600" baseline="30000" dirty="0" smtClean="0"/>
                <a:t>+1</a:t>
              </a:r>
              <a:endParaRPr lang="en-US" sz="3600" dirty="0"/>
            </a:p>
          </p:txBody>
        </p:sp>
        <p:sp>
          <p:nvSpPr>
            <p:cNvPr id="45" name="AutoShape 73" descr="5%"/>
            <p:cNvSpPr>
              <a:spLocks noChangeArrowheads="1"/>
            </p:cNvSpPr>
            <p:nvPr/>
          </p:nvSpPr>
          <p:spPr bwMode="auto">
            <a:xfrm rot="5400000">
              <a:off x="1548032" y="4596032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6" name="Group 45"/>
          <p:cNvGrpSpPr>
            <a:grpSpLocks/>
          </p:cNvGrpSpPr>
          <p:nvPr/>
        </p:nvGrpSpPr>
        <p:grpSpPr bwMode="auto">
          <a:xfrm>
            <a:off x="381000" y="4953000"/>
            <a:ext cx="1981200" cy="457200"/>
            <a:chOff x="0" y="4572000"/>
            <a:chExt cx="1981200" cy="457200"/>
          </a:xfrm>
        </p:grpSpPr>
        <p:sp>
          <p:nvSpPr>
            <p:cNvPr id="47" name="Rectangle 103" descr="5%"/>
            <p:cNvSpPr>
              <a:spLocks noChangeArrowheads="1"/>
            </p:cNvSpPr>
            <p:nvPr/>
          </p:nvSpPr>
          <p:spPr bwMode="auto">
            <a:xfrm flipH="1">
              <a:off x="0" y="457200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 dirty="0" smtClean="0"/>
                <a:t>Na</a:t>
              </a:r>
              <a:r>
                <a:rPr lang="en-US" sz="3600" baseline="30000" dirty="0" smtClean="0"/>
                <a:t>+1</a:t>
              </a:r>
              <a:endParaRPr lang="en-US" sz="3600" dirty="0"/>
            </a:p>
          </p:txBody>
        </p:sp>
        <p:sp>
          <p:nvSpPr>
            <p:cNvPr id="48" name="AutoShape 73" descr="5%"/>
            <p:cNvSpPr>
              <a:spLocks noChangeArrowheads="1"/>
            </p:cNvSpPr>
            <p:nvPr/>
          </p:nvSpPr>
          <p:spPr bwMode="auto">
            <a:xfrm rot="5400000">
              <a:off x="1562100" y="46101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5.55556E-7 2.53469E-6 L -0.3059 -0.06661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3" y="-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000"/>
                            </p:stCondLst>
                            <p:childTnLst>
                              <p:par>
                                <p:cTn id="20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33333E-6 2.49769E-6 L 0.05 -0.13321 " pathEditMode="relative" ptsTypes="AA">
                                      <p:cBhvr>
                                        <p:cTn id="21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1000"/>
                            </p:stCondLst>
                            <p:childTnLst>
                              <p:par>
                                <p:cTn id="26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33333E-6 -7.50231E-6 L 0.075 -0.26643 " pathEditMode="relative" ptsTypes="AA">
                                      <p:cBhvr>
                                        <p:cTn id="27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4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70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8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9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6" grpId="0" animBg="1"/>
      <p:bldP spid="18447" grpId="0" animBg="1"/>
      <p:bldP spid="18448" grpId="0" animBg="1"/>
      <p:bldP spid="18449" grpId="0" animBg="1"/>
      <p:bldP spid="1845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0" y="0"/>
            <a:ext cx="5181600" cy="206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</a:pPr>
            <a:endParaRPr lang="en-US" dirty="0" smtClean="0"/>
          </a:p>
          <a:p>
            <a:pPr marL="342900" indent="-342900">
              <a:buFontTx/>
              <a:buAutoNum type="arabicPeriod"/>
            </a:pPr>
            <a:endParaRPr lang="en-US" sz="1000" dirty="0">
              <a:sym typeface="Wingdings" pitchFamily="2" charset="2"/>
            </a:endParaRPr>
          </a:p>
          <a:p>
            <a:pPr marL="342900" indent="-342900"/>
            <a:r>
              <a:rPr lang="en-US" dirty="0">
                <a:sym typeface="Wingdings" pitchFamily="2" charset="2"/>
              </a:rPr>
              <a:t>13. Potassium (K</a:t>
            </a:r>
            <a:r>
              <a:rPr lang="en-US" baseline="30000" dirty="0">
                <a:sym typeface="Wingdings" pitchFamily="2" charset="2"/>
              </a:rPr>
              <a:t>+1</a:t>
            </a:r>
            <a:r>
              <a:rPr lang="en-US" dirty="0">
                <a:sym typeface="Wingdings" pitchFamily="2" charset="2"/>
              </a:rPr>
              <a:t>) + Bromine (Br</a:t>
            </a:r>
            <a:r>
              <a:rPr lang="en-US" baseline="30000" dirty="0">
                <a:sym typeface="Wingdings" pitchFamily="2" charset="2"/>
              </a:rPr>
              <a:t>-1</a:t>
            </a:r>
            <a:r>
              <a:rPr lang="en-US" dirty="0">
                <a:sym typeface="Wingdings" pitchFamily="2" charset="2"/>
              </a:rPr>
              <a:t>) </a:t>
            </a:r>
          </a:p>
          <a:p>
            <a:pPr marL="342900" indent="-342900"/>
            <a:endParaRPr lang="en-US" sz="1000" dirty="0"/>
          </a:p>
          <a:p>
            <a:pPr marL="342900" indent="-342900"/>
            <a:r>
              <a:rPr lang="en-US" dirty="0"/>
              <a:t>     1 potassium atom for every 1 bromine atom</a:t>
            </a:r>
          </a:p>
          <a:p>
            <a:pPr marL="342900" indent="-342900">
              <a:spcBef>
                <a:spcPct val="50000"/>
              </a:spcBef>
            </a:pPr>
            <a:r>
              <a:rPr lang="en-US" sz="3600" dirty="0"/>
              <a:t>13. </a:t>
            </a:r>
            <a:r>
              <a:rPr lang="en-US" sz="3600" dirty="0" err="1"/>
              <a:t>KBr</a:t>
            </a:r>
            <a:endParaRPr lang="en-US" sz="3600" dirty="0"/>
          </a:p>
        </p:txBody>
      </p:sp>
      <p:sp>
        <p:nvSpPr>
          <p:cNvPr id="19459" name="Oval 3"/>
          <p:cNvSpPr>
            <a:spLocks noChangeArrowheads="1"/>
          </p:cNvSpPr>
          <p:nvPr/>
        </p:nvSpPr>
        <p:spPr bwMode="auto">
          <a:xfrm>
            <a:off x="338138" y="866775"/>
            <a:ext cx="228600" cy="3048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0" name="Oval 4"/>
          <p:cNvSpPr>
            <a:spLocks noChangeArrowheads="1"/>
          </p:cNvSpPr>
          <p:nvPr/>
        </p:nvSpPr>
        <p:spPr bwMode="auto">
          <a:xfrm>
            <a:off x="3157757" y="889000"/>
            <a:ext cx="228600" cy="304800"/>
          </a:xfrm>
          <a:prstGeom prst="ellips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1" name="Line 5"/>
          <p:cNvSpPr>
            <a:spLocks noChangeShapeType="1"/>
          </p:cNvSpPr>
          <p:nvPr/>
        </p:nvSpPr>
        <p:spPr bwMode="auto">
          <a:xfrm>
            <a:off x="490538" y="1095375"/>
            <a:ext cx="652462" cy="7334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9462" name="Line 6"/>
          <p:cNvSpPr>
            <a:spLocks noChangeShapeType="1"/>
          </p:cNvSpPr>
          <p:nvPr/>
        </p:nvSpPr>
        <p:spPr bwMode="auto">
          <a:xfrm flipH="1">
            <a:off x="1676400" y="1143000"/>
            <a:ext cx="1524000" cy="685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9471" name="Text Box 15"/>
          <p:cNvSpPr txBox="1">
            <a:spLocks noChangeArrowheads="1"/>
          </p:cNvSpPr>
          <p:nvPr/>
        </p:nvSpPr>
        <p:spPr bwMode="auto">
          <a:xfrm>
            <a:off x="0" y="4343400"/>
            <a:ext cx="9144000" cy="2185988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5400"/>
              <a:t>potassium bromide</a:t>
            </a:r>
          </a:p>
          <a:p>
            <a:pPr algn="ctr">
              <a:spcBef>
                <a:spcPct val="50000"/>
              </a:spcBef>
            </a:pPr>
            <a:r>
              <a:rPr lang="en-US" sz="5400"/>
              <a:t>KBr</a:t>
            </a:r>
            <a:endParaRPr lang="en-US" sz="5400" baseline="-25000"/>
          </a:p>
        </p:txBody>
      </p:sp>
      <p:grpSp>
        <p:nvGrpSpPr>
          <p:cNvPr id="16" name="Group 15"/>
          <p:cNvGrpSpPr>
            <a:grpSpLocks/>
          </p:cNvGrpSpPr>
          <p:nvPr/>
        </p:nvGrpSpPr>
        <p:grpSpPr bwMode="auto">
          <a:xfrm>
            <a:off x="922118" y="2216150"/>
            <a:ext cx="1981200" cy="457200"/>
            <a:chOff x="0" y="4572000"/>
            <a:chExt cx="1981200" cy="457200"/>
          </a:xfrm>
        </p:grpSpPr>
        <p:sp>
          <p:nvSpPr>
            <p:cNvPr id="17" name="Rectangle 103" descr="5%"/>
            <p:cNvSpPr>
              <a:spLocks noChangeArrowheads="1"/>
            </p:cNvSpPr>
            <p:nvPr/>
          </p:nvSpPr>
          <p:spPr bwMode="auto">
            <a:xfrm flipH="1">
              <a:off x="0" y="457200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 dirty="0"/>
                <a:t>K</a:t>
              </a:r>
              <a:r>
                <a:rPr lang="en-US" sz="3600" baseline="30000" dirty="0" smtClean="0"/>
                <a:t>+1</a:t>
              </a:r>
              <a:endParaRPr lang="en-US" sz="3600" dirty="0"/>
            </a:p>
          </p:txBody>
        </p:sp>
        <p:sp>
          <p:nvSpPr>
            <p:cNvPr id="18" name="AutoShape 73" descr="5%"/>
            <p:cNvSpPr>
              <a:spLocks noChangeArrowheads="1"/>
            </p:cNvSpPr>
            <p:nvPr/>
          </p:nvSpPr>
          <p:spPr bwMode="auto">
            <a:xfrm rot="5400000">
              <a:off x="1562100" y="46101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9" name="Group 18"/>
          <p:cNvGrpSpPr>
            <a:grpSpLocks/>
          </p:cNvGrpSpPr>
          <p:nvPr/>
        </p:nvGrpSpPr>
        <p:grpSpPr bwMode="auto">
          <a:xfrm>
            <a:off x="5348288" y="2057400"/>
            <a:ext cx="1966912" cy="457200"/>
            <a:chOff x="1995268" y="0"/>
            <a:chExt cx="1967132" cy="457200"/>
          </a:xfrm>
        </p:grpSpPr>
        <p:sp>
          <p:nvSpPr>
            <p:cNvPr id="20" name="Rectangle 3" descr="5%"/>
            <p:cNvSpPr>
              <a:spLocks noChangeArrowheads="1"/>
            </p:cNvSpPr>
            <p:nvPr/>
          </p:nvSpPr>
          <p:spPr bwMode="auto">
            <a:xfrm>
              <a:off x="2362200" y="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 dirty="0" smtClean="0"/>
                <a:t>Br</a:t>
              </a:r>
              <a:r>
                <a:rPr lang="en-US" sz="3600" baseline="30000" dirty="0" smtClean="0"/>
                <a:t>-1</a:t>
              </a:r>
              <a:endParaRPr lang="en-US" sz="3600" dirty="0"/>
            </a:p>
          </p:txBody>
        </p:sp>
        <p:grpSp>
          <p:nvGrpSpPr>
            <p:cNvPr id="21" name="Group 273"/>
            <p:cNvGrpSpPr>
              <a:grpSpLocks/>
            </p:cNvGrpSpPr>
            <p:nvPr/>
          </p:nvGrpSpPr>
          <p:grpSpPr bwMode="auto">
            <a:xfrm rot="10800000">
              <a:off x="1995268" y="0"/>
              <a:ext cx="368341" cy="457200"/>
              <a:chOff x="-763409" y="0"/>
              <a:chExt cx="368341" cy="457200"/>
            </a:xfrm>
          </p:grpSpPr>
          <p:cxnSp>
            <p:nvCxnSpPr>
              <p:cNvPr id="22" name="Straight Connector 21"/>
              <p:cNvCxnSpPr/>
              <p:nvPr/>
            </p:nvCxnSpPr>
            <p:spPr>
              <a:xfrm>
                <a:off x="-761821" y="0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-761821" y="457200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 flipV="1">
                <a:off x="-761821" y="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 rot="5400000">
                <a:off x="-992009" y="228600"/>
                <a:ext cx="4572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-761821" y="2286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4.72222E-6 -4.14431E-6 L -0.30747 0.02221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" y="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1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animBg="1"/>
      <p:bldP spid="19460" grpId="0" animBg="1"/>
      <p:bldP spid="19461" grpId="0" animBg="1"/>
      <p:bldP spid="19462" grpId="0" animBg="1"/>
      <p:bldP spid="1947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0" y="0"/>
            <a:ext cx="5181600" cy="201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</a:pPr>
            <a:endParaRPr lang="en-US" dirty="0" smtClean="0"/>
          </a:p>
          <a:p>
            <a:pPr marL="342900" indent="-342900">
              <a:spcBef>
                <a:spcPct val="50000"/>
              </a:spcBef>
            </a:pPr>
            <a:r>
              <a:rPr lang="en-US" dirty="0" smtClean="0">
                <a:sym typeface="Wingdings" pitchFamily="2" charset="2"/>
              </a:rPr>
              <a:t>14</a:t>
            </a:r>
            <a:r>
              <a:rPr lang="en-US" dirty="0">
                <a:sym typeface="Wingdings" pitchFamily="2" charset="2"/>
              </a:rPr>
              <a:t>. Lithium (Li</a:t>
            </a:r>
            <a:r>
              <a:rPr lang="en-US" baseline="30000" dirty="0">
                <a:sym typeface="Wingdings" pitchFamily="2" charset="2"/>
              </a:rPr>
              <a:t>+1</a:t>
            </a:r>
            <a:r>
              <a:rPr lang="en-US" dirty="0">
                <a:sym typeface="Wingdings" pitchFamily="2" charset="2"/>
              </a:rPr>
              <a:t>) + Fluorine (F</a:t>
            </a:r>
            <a:r>
              <a:rPr lang="en-US" baseline="30000" dirty="0">
                <a:sym typeface="Wingdings" pitchFamily="2" charset="2"/>
              </a:rPr>
              <a:t>-1</a:t>
            </a:r>
            <a:r>
              <a:rPr lang="en-US" dirty="0">
                <a:sym typeface="Wingdings" pitchFamily="2" charset="2"/>
              </a:rPr>
              <a:t>)</a:t>
            </a:r>
            <a:endParaRPr lang="en-US" dirty="0"/>
          </a:p>
          <a:p>
            <a:pPr marL="342900" indent="-342900">
              <a:spcBef>
                <a:spcPct val="50000"/>
              </a:spcBef>
            </a:pPr>
            <a:r>
              <a:rPr lang="en-US" dirty="0"/>
              <a:t>     1 lithium atom for every 1 fluorine atom</a:t>
            </a:r>
          </a:p>
          <a:p>
            <a:pPr marL="342900" indent="-342900">
              <a:spcBef>
                <a:spcPct val="50000"/>
              </a:spcBef>
            </a:pPr>
            <a:r>
              <a:rPr lang="en-US" sz="3600" dirty="0"/>
              <a:t>14. </a:t>
            </a:r>
            <a:r>
              <a:rPr lang="en-US" sz="3600" dirty="0" err="1"/>
              <a:t>LiF</a:t>
            </a:r>
            <a:endParaRPr lang="en-US" sz="3600" dirty="0"/>
          </a:p>
        </p:txBody>
      </p:sp>
      <p:sp>
        <p:nvSpPr>
          <p:cNvPr id="20483" name="Oval 3"/>
          <p:cNvSpPr>
            <a:spLocks noChangeArrowheads="1"/>
          </p:cNvSpPr>
          <p:nvPr/>
        </p:nvSpPr>
        <p:spPr bwMode="auto">
          <a:xfrm>
            <a:off x="338138" y="838200"/>
            <a:ext cx="228600" cy="3048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84" name="Oval 4"/>
          <p:cNvSpPr>
            <a:spLocks noChangeArrowheads="1"/>
          </p:cNvSpPr>
          <p:nvPr/>
        </p:nvSpPr>
        <p:spPr bwMode="auto">
          <a:xfrm>
            <a:off x="2779713" y="839788"/>
            <a:ext cx="228600" cy="304800"/>
          </a:xfrm>
          <a:prstGeom prst="ellips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85" name="Line 5"/>
          <p:cNvSpPr>
            <a:spLocks noChangeShapeType="1"/>
          </p:cNvSpPr>
          <p:nvPr/>
        </p:nvSpPr>
        <p:spPr bwMode="auto">
          <a:xfrm>
            <a:off x="457200" y="1143000"/>
            <a:ext cx="762000" cy="685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486" name="Line 6"/>
          <p:cNvSpPr>
            <a:spLocks noChangeShapeType="1"/>
          </p:cNvSpPr>
          <p:nvPr/>
        </p:nvSpPr>
        <p:spPr bwMode="auto">
          <a:xfrm flipH="1">
            <a:off x="1371600" y="1143000"/>
            <a:ext cx="1524000" cy="685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495" name="Text Box 15"/>
          <p:cNvSpPr txBox="1">
            <a:spLocks noChangeArrowheads="1"/>
          </p:cNvSpPr>
          <p:nvPr/>
        </p:nvSpPr>
        <p:spPr bwMode="auto">
          <a:xfrm>
            <a:off x="0" y="4343400"/>
            <a:ext cx="9144000" cy="2185988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5400"/>
              <a:t>lithium fluoride</a:t>
            </a:r>
          </a:p>
          <a:p>
            <a:pPr algn="ctr">
              <a:spcBef>
                <a:spcPct val="50000"/>
              </a:spcBef>
            </a:pPr>
            <a:r>
              <a:rPr lang="en-US" sz="5400"/>
              <a:t>LiF</a:t>
            </a:r>
            <a:endParaRPr lang="en-US" sz="5400" baseline="-25000"/>
          </a:p>
        </p:txBody>
      </p:sp>
      <p:grpSp>
        <p:nvGrpSpPr>
          <p:cNvPr id="16" name="Group 15"/>
          <p:cNvGrpSpPr>
            <a:grpSpLocks/>
          </p:cNvGrpSpPr>
          <p:nvPr/>
        </p:nvGrpSpPr>
        <p:grpSpPr bwMode="auto">
          <a:xfrm>
            <a:off x="922118" y="2209800"/>
            <a:ext cx="1981200" cy="457200"/>
            <a:chOff x="0" y="4572000"/>
            <a:chExt cx="1981200" cy="457200"/>
          </a:xfrm>
        </p:grpSpPr>
        <p:sp>
          <p:nvSpPr>
            <p:cNvPr id="17" name="Rectangle 103" descr="5%"/>
            <p:cNvSpPr>
              <a:spLocks noChangeArrowheads="1"/>
            </p:cNvSpPr>
            <p:nvPr/>
          </p:nvSpPr>
          <p:spPr bwMode="auto">
            <a:xfrm flipH="1">
              <a:off x="0" y="457200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 dirty="0" smtClean="0"/>
                <a:t>Li</a:t>
              </a:r>
              <a:r>
                <a:rPr lang="en-US" sz="3600" baseline="30000" dirty="0" smtClean="0"/>
                <a:t>+1</a:t>
              </a:r>
              <a:endParaRPr lang="en-US" sz="3600" dirty="0"/>
            </a:p>
          </p:txBody>
        </p:sp>
        <p:sp>
          <p:nvSpPr>
            <p:cNvPr id="18" name="AutoShape 73" descr="5%"/>
            <p:cNvSpPr>
              <a:spLocks noChangeArrowheads="1"/>
            </p:cNvSpPr>
            <p:nvPr/>
          </p:nvSpPr>
          <p:spPr bwMode="auto">
            <a:xfrm rot="5400000">
              <a:off x="1562100" y="46101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9" name="Group 18"/>
          <p:cNvGrpSpPr>
            <a:grpSpLocks/>
          </p:cNvGrpSpPr>
          <p:nvPr/>
        </p:nvGrpSpPr>
        <p:grpSpPr bwMode="auto">
          <a:xfrm>
            <a:off x="5348288" y="2051050"/>
            <a:ext cx="1966912" cy="457200"/>
            <a:chOff x="1995268" y="0"/>
            <a:chExt cx="1967132" cy="457200"/>
          </a:xfrm>
        </p:grpSpPr>
        <p:sp>
          <p:nvSpPr>
            <p:cNvPr id="20" name="Rectangle 3" descr="5%"/>
            <p:cNvSpPr>
              <a:spLocks noChangeArrowheads="1"/>
            </p:cNvSpPr>
            <p:nvPr/>
          </p:nvSpPr>
          <p:spPr bwMode="auto">
            <a:xfrm>
              <a:off x="2362200" y="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 dirty="0" smtClean="0"/>
                <a:t>F</a:t>
              </a:r>
              <a:r>
                <a:rPr lang="en-US" sz="3600" baseline="30000" dirty="0" smtClean="0"/>
                <a:t>-1</a:t>
              </a:r>
              <a:endParaRPr lang="en-US" sz="3600" dirty="0"/>
            </a:p>
          </p:txBody>
        </p:sp>
        <p:grpSp>
          <p:nvGrpSpPr>
            <p:cNvPr id="21" name="Group 273"/>
            <p:cNvGrpSpPr>
              <a:grpSpLocks/>
            </p:cNvGrpSpPr>
            <p:nvPr/>
          </p:nvGrpSpPr>
          <p:grpSpPr bwMode="auto">
            <a:xfrm rot="10800000">
              <a:off x="1995268" y="0"/>
              <a:ext cx="368341" cy="457200"/>
              <a:chOff x="-763409" y="0"/>
              <a:chExt cx="368341" cy="457200"/>
            </a:xfrm>
          </p:grpSpPr>
          <p:cxnSp>
            <p:nvCxnSpPr>
              <p:cNvPr id="22" name="Straight Connector 21"/>
              <p:cNvCxnSpPr/>
              <p:nvPr/>
            </p:nvCxnSpPr>
            <p:spPr>
              <a:xfrm>
                <a:off x="-761821" y="0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-761821" y="457200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 flipV="1">
                <a:off x="-761821" y="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 rot="5400000">
                <a:off x="-992009" y="228600"/>
                <a:ext cx="4572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-761821" y="2286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4.72222E-6 -4.14431E-6 L -0.30747 0.02221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" y="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1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animBg="1"/>
      <p:bldP spid="20484" grpId="0" animBg="1"/>
      <p:bldP spid="20485" grpId="0" animBg="1"/>
      <p:bldP spid="20486" grpId="0" animBg="1"/>
      <p:bldP spid="2049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0" y="0"/>
            <a:ext cx="5867400" cy="206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</a:pPr>
            <a:endParaRPr lang="en-US" dirty="0" smtClean="0"/>
          </a:p>
          <a:p>
            <a:pPr marL="342900" indent="-342900"/>
            <a:endParaRPr lang="en-US" sz="1000" dirty="0"/>
          </a:p>
          <a:p>
            <a:pPr marL="342900" indent="-342900"/>
            <a:r>
              <a:rPr lang="en-US" dirty="0"/>
              <a:t>15. Magnesium </a:t>
            </a:r>
            <a:r>
              <a:rPr lang="en-US" dirty="0">
                <a:sym typeface="Wingdings" pitchFamily="2" charset="2"/>
              </a:rPr>
              <a:t>(Mg</a:t>
            </a:r>
            <a:r>
              <a:rPr lang="en-US" baseline="30000" dirty="0">
                <a:sym typeface="Wingdings" pitchFamily="2" charset="2"/>
              </a:rPr>
              <a:t>+2</a:t>
            </a:r>
            <a:r>
              <a:rPr lang="en-US" dirty="0">
                <a:sym typeface="Wingdings" pitchFamily="2" charset="2"/>
              </a:rPr>
              <a:t>) </a:t>
            </a:r>
            <a:r>
              <a:rPr lang="en-US" dirty="0"/>
              <a:t>+ Nitrogen </a:t>
            </a:r>
            <a:r>
              <a:rPr lang="en-US" dirty="0">
                <a:sym typeface="Wingdings" pitchFamily="2" charset="2"/>
              </a:rPr>
              <a:t>(N</a:t>
            </a:r>
            <a:r>
              <a:rPr lang="en-US" baseline="30000" dirty="0">
                <a:sym typeface="Wingdings" pitchFamily="2" charset="2"/>
              </a:rPr>
              <a:t>-3</a:t>
            </a:r>
            <a:r>
              <a:rPr lang="en-US" dirty="0">
                <a:sym typeface="Wingdings" pitchFamily="2" charset="2"/>
              </a:rPr>
              <a:t>)</a:t>
            </a:r>
            <a:r>
              <a:rPr lang="en-US" dirty="0"/>
              <a:t> </a:t>
            </a:r>
          </a:p>
          <a:p>
            <a:pPr marL="342900" indent="-342900"/>
            <a:endParaRPr lang="en-US" sz="1000" dirty="0"/>
          </a:p>
          <a:p>
            <a:pPr marL="342900" indent="-342900"/>
            <a:r>
              <a:rPr lang="en-US" dirty="0"/>
              <a:t>     3 magnesium atoms for every 2 nitrogen atoms</a:t>
            </a:r>
          </a:p>
          <a:p>
            <a:pPr marL="342900" indent="-342900">
              <a:spcBef>
                <a:spcPts val="1800"/>
              </a:spcBef>
            </a:pPr>
            <a:r>
              <a:rPr lang="en-US" sz="3600" dirty="0"/>
              <a:t>15. Mg</a:t>
            </a:r>
            <a:r>
              <a:rPr lang="en-US" sz="3600" baseline="-25000" dirty="0"/>
              <a:t>3</a:t>
            </a:r>
            <a:r>
              <a:rPr lang="en-US" sz="3600" dirty="0"/>
              <a:t>N</a:t>
            </a:r>
            <a:r>
              <a:rPr lang="en-US" sz="3600" baseline="-25000" dirty="0"/>
              <a:t>2</a:t>
            </a:r>
          </a:p>
        </p:txBody>
      </p:sp>
      <p:sp>
        <p:nvSpPr>
          <p:cNvPr id="21507" name="Oval 3"/>
          <p:cNvSpPr>
            <a:spLocks noChangeArrowheads="1"/>
          </p:cNvSpPr>
          <p:nvPr/>
        </p:nvSpPr>
        <p:spPr bwMode="auto">
          <a:xfrm>
            <a:off x="338138" y="866775"/>
            <a:ext cx="228600" cy="3048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08" name="Oval 4"/>
          <p:cNvSpPr>
            <a:spLocks noChangeArrowheads="1"/>
          </p:cNvSpPr>
          <p:nvPr/>
        </p:nvSpPr>
        <p:spPr bwMode="auto">
          <a:xfrm>
            <a:off x="3414713" y="866775"/>
            <a:ext cx="228600" cy="304800"/>
          </a:xfrm>
          <a:prstGeom prst="ellips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09" name="Line 5"/>
          <p:cNvSpPr>
            <a:spLocks noChangeShapeType="1"/>
          </p:cNvSpPr>
          <p:nvPr/>
        </p:nvSpPr>
        <p:spPr bwMode="auto">
          <a:xfrm>
            <a:off x="609600" y="1143000"/>
            <a:ext cx="914400" cy="533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1510" name="Line 6"/>
          <p:cNvSpPr>
            <a:spLocks noChangeShapeType="1"/>
          </p:cNvSpPr>
          <p:nvPr/>
        </p:nvSpPr>
        <p:spPr bwMode="auto">
          <a:xfrm flipH="1">
            <a:off x="2133600" y="1143000"/>
            <a:ext cx="1295400" cy="5334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1519" name="Text Box 15"/>
          <p:cNvSpPr txBox="1">
            <a:spLocks noChangeArrowheads="1"/>
          </p:cNvSpPr>
          <p:nvPr/>
        </p:nvSpPr>
        <p:spPr bwMode="auto">
          <a:xfrm>
            <a:off x="0" y="4672013"/>
            <a:ext cx="9144000" cy="2185987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5400"/>
              <a:t>magnesium nitride</a:t>
            </a:r>
          </a:p>
          <a:p>
            <a:pPr algn="ctr">
              <a:spcBef>
                <a:spcPct val="50000"/>
              </a:spcBef>
            </a:pPr>
            <a:r>
              <a:rPr lang="en-US" sz="5400"/>
              <a:t>Mg</a:t>
            </a:r>
            <a:r>
              <a:rPr lang="en-US" sz="5400" baseline="-25000"/>
              <a:t>3</a:t>
            </a:r>
            <a:r>
              <a:rPr lang="en-US" sz="5400"/>
              <a:t>N</a:t>
            </a:r>
            <a:r>
              <a:rPr lang="en-US" sz="5400" baseline="-25000"/>
              <a:t>2</a:t>
            </a:r>
          </a:p>
        </p:txBody>
      </p:sp>
      <p:grpSp>
        <p:nvGrpSpPr>
          <p:cNvPr id="87" name="Group 351"/>
          <p:cNvGrpSpPr>
            <a:grpSpLocks/>
          </p:cNvGrpSpPr>
          <p:nvPr/>
        </p:nvGrpSpPr>
        <p:grpSpPr bwMode="auto">
          <a:xfrm>
            <a:off x="2895600" y="1524000"/>
            <a:ext cx="1981200" cy="914400"/>
            <a:chOff x="0" y="3657600"/>
            <a:chExt cx="1981200" cy="914400"/>
          </a:xfrm>
        </p:grpSpPr>
        <p:sp>
          <p:nvSpPr>
            <p:cNvPr id="88" name="Rectangle 62" descr="5%"/>
            <p:cNvSpPr>
              <a:spLocks noChangeArrowheads="1"/>
            </p:cNvSpPr>
            <p:nvPr/>
          </p:nvSpPr>
          <p:spPr bwMode="auto">
            <a:xfrm>
              <a:off x="0" y="3657600"/>
              <a:ext cx="1600200" cy="9144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 dirty="0"/>
                <a:t>Mg</a:t>
              </a:r>
              <a:r>
                <a:rPr lang="en-US" sz="3600" baseline="30000" dirty="0"/>
                <a:t>+2</a:t>
              </a:r>
              <a:endParaRPr lang="en-US" sz="3600" dirty="0"/>
            </a:p>
          </p:txBody>
        </p:sp>
        <p:sp>
          <p:nvSpPr>
            <p:cNvPr id="89" name="AutoShape 70" descr="5%"/>
            <p:cNvSpPr>
              <a:spLocks noChangeArrowheads="1"/>
            </p:cNvSpPr>
            <p:nvPr/>
          </p:nvSpPr>
          <p:spPr bwMode="auto">
            <a:xfrm rot="5400000">
              <a:off x="1562100" y="36957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" name="AutoShape 72" descr="5%"/>
            <p:cNvSpPr>
              <a:spLocks noChangeArrowheads="1"/>
            </p:cNvSpPr>
            <p:nvPr/>
          </p:nvSpPr>
          <p:spPr bwMode="auto">
            <a:xfrm rot="5400000">
              <a:off x="1562100" y="41529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1" name="Group 351"/>
          <p:cNvGrpSpPr>
            <a:grpSpLocks/>
          </p:cNvGrpSpPr>
          <p:nvPr/>
        </p:nvGrpSpPr>
        <p:grpSpPr bwMode="auto">
          <a:xfrm>
            <a:off x="1219200" y="3276600"/>
            <a:ext cx="1981200" cy="914400"/>
            <a:chOff x="0" y="3657600"/>
            <a:chExt cx="1981200" cy="914400"/>
          </a:xfrm>
        </p:grpSpPr>
        <p:sp>
          <p:nvSpPr>
            <p:cNvPr id="92" name="Rectangle 62" descr="5%"/>
            <p:cNvSpPr>
              <a:spLocks noChangeArrowheads="1"/>
            </p:cNvSpPr>
            <p:nvPr/>
          </p:nvSpPr>
          <p:spPr bwMode="auto">
            <a:xfrm>
              <a:off x="0" y="3657600"/>
              <a:ext cx="1600200" cy="9144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 dirty="0"/>
                <a:t>Mg</a:t>
              </a:r>
              <a:r>
                <a:rPr lang="en-US" sz="3600" baseline="30000" dirty="0"/>
                <a:t>+2</a:t>
              </a:r>
              <a:endParaRPr lang="en-US" sz="3600" dirty="0"/>
            </a:p>
          </p:txBody>
        </p:sp>
        <p:sp>
          <p:nvSpPr>
            <p:cNvPr id="93" name="AutoShape 70" descr="5%"/>
            <p:cNvSpPr>
              <a:spLocks noChangeArrowheads="1"/>
            </p:cNvSpPr>
            <p:nvPr/>
          </p:nvSpPr>
          <p:spPr bwMode="auto">
            <a:xfrm rot="5400000">
              <a:off x="1562100" y="36957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" name="AutoShape 72" descr="5%"/>
            <p:cNvSpPr>
              <a:spLocks noChangeArrowheads="1"/>
            </p:cNvSpPr>
            <p:nvPr/>
          </p:nvSpPr>
          <p:spPr bwMode="auto">
            <a:xfrm rot="5400000">
              <a:off x="1562100" y="41529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9" name="Group 490"/>
          <p:cNvGrpSpPr>
            <a:grpSpLocks/>
          </p:cNvGrpSpPr>
          <p:nvPr/>
        </p:nvGrpSpPr>
        <p:grpSpPr bwMode="auto">
          <a:xfrm>
            <a:off x="6781800" y="1905000"/>
            <a:ext cx="1966912" cy="1371600"/>
            <a:chOff x="7176868" y="0"/>
            <a:chExt cx="1967132" cy="1371600"/>
          </a:xfrm>
        </p:grpSpPr>
        <p:sp>
          <p:nvSpPr>
            <p:cNvPr id="100" name="Rectangle 71" descr="10%"/>
            <p:cNvSpPr>
              <a:spLocks noChangeArrowheads="1"/>
            </p:cNvSpPr>
            <p:nvPr/>
          </p:nvSpPr>
          <p:spPr bwMode="auto">
            <a:xfrm flipH="1">
              <a:off x="7543800" y="0"/>
              <a:ext cx="1600200" cy="1371600"/>
            </a:xfrm>
            <a:prstGeom prst="rect">
              <a:avLst/>
            </a:prstGeom>
            <a:pattFill prst="pct10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N</a:t>
              </a:r>
              <a:r>
                <a:rPr lang="en-US" sz="3600" baseline="30000"/>
                <a:t>-3</a:t>
              </a:r>
              <a:endParaRPr lang="en-US" sz="3600"/>
            </a:p>
          </p:txBody>
        </p:sp>
        <p:grpSp>
          <p:nvGrpSpPr>
            <p:cNvPr id="101" name="Group 416"/>
            <p:cNvGrpSpPr>
              <a:grpSpLocks/>
            </p:cNvGrpSpPr>
            <p:nvPr/>
          </p:nvGrpSpPr>
          <p:grpSpPr bwMode="auto">
            <a:xfrm rot="10800000">
              <a:off x="7176868" y="-1588"/>
              <a:ext cx="368341" cy="1373188"/>
              <a:chOff x="-763409" y="4114800"/>
              <a:chExt cx="368341" cy="1373188"/>
            </a:xfrm>
          </p:grpSpPr>
          <p:cxnSp>
            <p:nvCxnSpPr>
              <p:cNvPr id="102" name="Straight Connector 101"/>
              <p:cNvCxnSpPr/>
              <p:nvPr/>
            </p:nvCxnSpPr>
            <p:spPr>
              <a:xfrm>
                <a:off x="-761821" y="4114800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/>
              <p:cNvCxnSpPr/>
              <p:nvPr/>
            </p:nvCxnSpPr>
            <p:spPr>
              <a:xfrm>
                <a:off x="-761821" y="5487988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/>
              <p:cNvCxnSpPr/>
              <p:nvPr/>
            </p:nvCxnSpPr>
            <p:spPr>
              <a:xfrm flipV="1">
                <a:off x="-761821" y="45720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/>
              <p:cNvCxnSpPr/>
              <p:nvPr/>
            </p:nvCxnSpPr>
            <p:spPr>
              <a:xfrm rot="5400000">
                <a:off x="-1449209" y="4800600"/>
                <a:ext cx="13716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>
                <a:off x="-761821" y="43434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>
                <a:off x="-761821" y="48006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V="1">
                <a:off x="-761821" y="41148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/>
              <p:cNvCxnSpPr/>
              <p:nvPr/>
            </p:nvCxnSpPr>
            <p:spPr>
              <a:xfrm flipV="1">
                <a:off x="-761821" y="50292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>
                <a:off x="-761821" y="52578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1" name="Group 490"/>
          <p:cNvGrpSpPr>
            <a:grpSpLocks/>
          </p:cNvGrpSpPr>
          <p:nvPr/>
        </p:nvGrpSpPr>
        <p:grpSpPr bwMode="auto">
          <a:xfrm>
            <a:off x="6781800" y="3276600"/>
            <a:ext cx="1966912" cy="1371600"/>
            <a:chOff x="7176868" y="0"/>
            <a:chExt cx="1967132" cy="1371600"/>
          </a:xfrm>
        </p:grpSpPr>
        <p:sp>
          <p:nvSpPr>
            <p:cNvPr id="112" name="Rectangle 71" descr="10%"/>
            <p:cNvSpPr>
              <a:spLocks noChangeArrowheads="1"/>
            </p:cNvSpPr>
            <p:nvPr/>
          </p:nvSpPr>
          <p:spPr bwMode="auto">
            <a:xfrm flipH="1">
              <a:off x="7543800" y="0"/>
              <a:ext cx="1600200" cy="1371600"/>
            </a:xfrm>
            <a:prstGeom prst="rect">
              <a:avLst/>
            </a:prstGeom>
            <a:pattFill prst="pct10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N</a:t>
              </a:r>
              <a:r>
                <a:rPr lang="en-US" sz="3600" baseline="30000"/>
                <a:t>-3</a:t>
              </a:r>
              <a:endParaRPr lang="en-US" sz="3600"/>
            </a:p>
          </p:txBody>
        </p:sp>
        <p:grpSp>
          <p:nvGrpSpPr>
            <p:cNvPr id="113" name="Group 416"/>
            <p:cNvGrpSpPr>
              <a:grpSpLocks/>
            </p:cNvGrpSpPr>
            <p:nvPr/>
          </p:nvGrpSpPr>
          <p:grpSpPr bwMode="auto">
            <a:xfrm rot="10800000">
              <a:off x="7176868" y="-1588"/>
              <a:ext cx="368341" cy="1373188"/>
              <a:chOff x="-763409" y="4114800"/>
              <a:chExt cx="368341" cy="1373188"/>
            </a:xfrm>
          </p:grpSpPr>
          <p:cxnSp>
            <p:nvCxnSpPr>
              <p:cNvPr id="114" name="Straight Connector 113"/>
              <p:cNvCxnSpPr/>
              <p:nvPr/>
            </p:nvCxnSpPr>
            <p:spPr>
              <a:xfrm>
                <a:off x="-761821" y="4114800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-761821" y="5487988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 flipV="1">
                <a:off x="-761821" y="45720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>
              <a:xfrm rot="5400000">
                <a:off x="-1449209" y="4800600"/>
                <a:ext cx="13716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>
              <a:xfrm>
                <a:off x="-761821" y="43434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>
              <a:xfrm>
                <a:off x="-761821" y="48006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/>
              <p:cNvCxnSpPr/>
              <p:nvPr/>
            </p:nvCxnSpPr>
            <p:spPr>
              <a:xfrm flipV="1">
                <a:off x="-761821" y="41148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/>
              <p:cNvCxnSpPr/>
              <p:nvPr/>
            </p:nvCxnSpPr>
            <p:spPr>
              <a:xfrm flipV="1">
                <a:off x="-761821" y="50292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>
              <a:xfrm>
                <a:off x="-761821" y="52578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3" name="Group 351"/>
          <p:cNvGrpSpPr>
            <a:grpSpLocks/>
          </p:cNvGrpSpPr>
          <p:nvPr/>
        </p:nvGrpSpPr>
        <p:grpSpPr bwMode="auto">
          <a:xfrm>
            <a:off x="1219200" y="4191000"/>
            <a:ext cx="1981200" cy="914400"/>
            <a:chOff x="0" y="3657600"/>
            <a:chExt cx="1981200" cy="914400"/>
          </a:xfrm>
        </p:grpSpPr>
        <p:sp>
          <p:nvSpPr>
            <p:cNvPr id="124" name="Rectangle 62" descr="5%"/>
            <p:cNvSpPr>
              <a:spLocks noChangeArrowheads="1"/>
            </p:cNvSpPr>
            <p:nvPr/>
          </p:nvSpPr>
          <p:spPr bwMode="auto">
            <a:xfrm>
              <a:off x="0" y="3657600"/>
              <a:ext cx="1600200" cy="9144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 dirty="0"/>
                <a:t>Mg</a:t>
              </a:r>
              <a:r>
                <a:rPr lang="en-US" sz="3600" baseline="30000" dirty="0"/>
                <a:t>+2</a:t>
              </a:r>
              <a:endParaRPr lang="en-US" sz="3600" dirty="0"/>
            </a:p>
          </p:txBody>
        </p:sp>
        <p:sp>
          <p:nvSpPr>
            <p:cNvPr id="125" name="AutoShape 70" descr="5%"/>
            <p:cNvSpPr>
              <a:spLocks noChangeArrowheads="1"/>
            </p:cNvSpPr>
            <p:nvPr/>
          </p:nvSpPr>
          <p:spPr bwMode="auto">
            <a:xfrm rot="5400000">
              <a:off x="1562100" y="36957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6" name="AutoShape 72" descr="5%"/>
            <p:cNvSpPr>
              <a:spLocks noChangeArrowheads="1"/>
            </p:cNvSpPr>
            <p:nvPr/>
          </p:nvSpPr>
          <p:spPr bwMode="auto">
            <a:xfrm rot="5400000">
              <a:off x="1562100" y="41529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1.38889E-6 -5.00463E-6 L -0.25 -0.05551 " pathEditMode="relative" ptsTypes="AA">
                                      <p:cBhvr>
                                        <p:cTn id="15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000"/>
                            </p:stCondLst>
                            <p:childTnLst>
                              <p:par>
                                <p:cTn id="20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6.66667E-6 4.99537E-6 L 0.18333 -0.12211 " pathEditMode="relative" ptsTypes="AA">
                                      <p:cBhvr>
                                        <p:cTn id="21" dur="2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1000"/>
                            </p:stCondLst>
                            <p:childTnLst>
                              <p:par>
                                <p:cTn id="26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1.38889E-6 -5.00463E-6 L -0.25 -0.05551 " pathEditMode="relative" ptsTypes="AA">
                                      <p:cBhvr>
                                        <p:cTn id="27" dur="2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4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0"/>
                            </p:stCondLst>
                            <p:childTnLst>
                              <p:par>
                                <p:cTn id="32" presetID="0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6.66667E-6 4.99537E-6 L 0.18333 -0.12211 " pathEditMode="relative" ptsTypes="AA">
                                      <p:cBhvr>
                                        <p:cTn id="33" dur="2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80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9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10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2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3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4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animBg="1"/>
      <p:bldP spid="21508" grpId="0" animBg="1"/>
      <p:bldP spid="21509" grpId="0" animBg="1"/>
      <p:bldP spid="21510" grpId="0" animBg="1"/>
      <p:bldP spid="215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Questions?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/>
          <p:cNvSpPr txBox="1">
            <a:spLocks noChangeArrowheads="1"/>
          </p:cNvSpPr>
          <p:nvPr/>
        </p:nvSpPr>
        <p:spPr bwMode="auto">
          <a:xfrm>
            <a:off x="914400" y="2133600"/>
            <a:ext cx="42672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8000"/>
              <a:t>B</a:t>
            </a:r>
            <a:r>
              <a:rPr lang="en-US" sz="8000" baseline="30000"/>
              <a:t>+3</a:t>
            </a:r>
            <a:r>
              <a:rPr lang="en-US" sz="8000"/>
              <a:t> Cl</a:t>
            </a:r>
            <a:r>
              <a:rPr lang="en-US" sz="8000" baseline="30000"/>
              <a:t>-1</a:t>
            </a:r>
          </a:p>
        </p:txBody>
      </p:sp>
      <p:sp>
        <p:nvSpPr>
          <p:cNvPr id="61445" name="Line 5"/>
          <p:cNvSpPr>
            <a:spLocks noChangeShapeType="1"/>
          </p:cNvSpPr>
          <p:nvPr/>
        </p:nvSpPr>
        <p:spPr bwMode="auto">
          <a:xfrm>
            <a:off x="2133600" y="2667000"/>
            <a:ext cx="1600200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1446" name="Line 6"/>
          <p:cNvSpPr>
            <a:spLocks noChangeShapeType="1"/>
          </p:cNvSpPr>
          <p:nvPr/>
        </p:nvSpPr>
        <p:spPr bwMode="auto">
          <a:xfrm flipH="1">
            <a:off x="1828800" y="2743200"/>
            <a:ext cx="1905000" cy="457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1451" name="Text Box 11"/>
          <p:cNvSpPr txBox="1">
            <a:spLocks noChangeArrowheads="1"/>
          </p:cNvSpPr>
          <p:nvPr/>
        </p:nvSpPr>
        <p:spPr bwMode="auto">
          <a:xfrm>
            <a:off x="914400" y="3810000"/>
            <a:ext cx="42672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8000"/>
              <a:t>B    Cl</a:t>
            </a:r>
            <a:endParaRPr lang="en-US" sz="8000" baseline="30000"/>
          </a:p>
        </p:txBody>
      </p:sp>
      <p:sp>
        <p:nvSpPr>
          <p:cNvPr id="61453" name="Oval 13"/>
          <p:cNvSpPr>
            <a:spLocks noChangeArrowheads="1"/>
          </p:cNvSpPr>
          <p:nvPr/>
        </p:nvSpPr>
        <p:spPr bwMode="auto">
          <a:xfrm>
            <a:off x="1676400" y="4572000"/>
            <a:ext cx="914400" cy="6096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/>
              <a:t>1</a:t>
            </a:r>
          </a:p>
        </p:txBody>
      </p:sp>
      <p:sp>
        <p:nvSpPr>
          <p:cNvPr id="61454" name="Oval 14"/>
          <p:cNvSpPr>
            <a:spLocks noChangeArrowheads="1"/>
          </p:cNvSpPr>
          <p:nvPr/>
        </p:nvSpPr>
        <p:spPr bwMode="auto">
          <a:xfrm>
            <a:off x="3733800" y="4495800"/>
            <a:ext cx="914400" cy="6858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/>
              <a:t>3</a:t>
            </a:r>
          </a:p>
        </p:txBody>
      </p:sp>
      <p:sp>
        <p:nvSpPr>
          <p:cNvPr id="61455" name="Text Box 15"/>
          <p:cNvSpPr txBox="1">
            <a:spLocks noChangeArrowheads="1"/>
          </p:cNvSpPr>
          <p:nvPr/>
        </p:nvSpPr>
        <p:spPr bwMode="auto">
          <a:xfrm>
            <a:off x="0" y="0"/>
            <a:ext cx="8991600" cy="249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Char char="•"/>
            </a:pPr>
            <a:r>
              <a:rPr lang="en-US" sz="2400" dirty="0"/>
              <a:t>  Boron (B</a:t>
            </a:r>
            <a:r>
              <a:rPr lang="en-US" sz="2400" baseline="30000" dirty="0"/>
              <a:t>+3</a:t>
            </a:r>
            <a:r>
              <a:rPr lang="en-US" sz="2400" dirty="0"/>
              <a:t>) + Chlorine (Cl</a:t>
            </a:r>
            <a:r>
              <a:rPr lang="en-US" sz="2400" baseline="30000" dirty="0"/>
              <a:t>-1</a:t>
            </a:r>
            <a:r>
              <a:rPr lang="en-US" sz="2400" dirty="0"/>
              <a:t>) </a:t>
            </a:r>
            <a:r>
              <a:rPr lang="en-US" sz="2400" dirty="0">
                <a:sym typeface="Wingdings" pitchFamily="2" charset="2"/>
              </a:rPr>
              <a:t> boron chloride</a:t>
            </a:r>
          </a:p>
          <a:p>
            <a:pPr marL="342900" indent="-342900">
              <a:spcBef>
                <a:spcPct val="50000"/>
              </a:spcBef>
            </a:pPr>
            <a:r>
              <a:rPr lang="en-US" sz="2400" dirty="0"/>
              <a:t>You can also determine the formula for a compound using the “</a:t>
            </a:r>
            <a:r>
              <a:rPr lang="en-US" sz="2400" dirty="0" err="1"/>
              <a:t>criss</a:t>
            </a:r>
            <a:r>
              <a:rPr lang="en-US" sz="2400" dirty="0"/>
              <a:t>-cross” method.  Take the numbers from the </a:t>
            </a:r>
            <a:r>
              <a:rPr lang="en-US" sz="2400" dirty="0" smtClean="0"/>
              <a:t>ions’ superscripts </a:t>
            </a:r>
            <a:r>
              <a:rPr lang="en-US" sz="2400" dirty="0"/>
              <a:t>and cross them to become the subscripts in the compound.  Look at question #1.</a:t>
            </a:r>
          </a:p>
          <a:p>
            <a:pPr marL="342900" indent="-342900">
              <a:spcBef>
                <a:spcPct val="50000"/>
              </a:spcBef>
            </a:pPr>
            <a:endParaRPr lang="en-US" sz="2400" baseline="-25000" dirty="0"/>
          </a:p>
        </p:txBody>
      </p:sp>
      <p:sp>
        <p:nvSpPr>
          <p:cNvPr id="61448" name="Oval 8"/>
          <p:cNvSpPr>
            <a:spLocks noChangeArrowheads="1"/>
          </p:cNvSpPr>
          <p:nvPr/>
        </p:nvSpPr>
        <p:spPr bwMode="auto">
          <a:xfrm>
            <a:off x="3657600" y="2286000"/>
            <a:ext cx="914400" cy="6096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/>
              <a:t>1</a:t>
            </a:r>
          </a:p>
        </p:txBody>
      </p:sp>
      <p:sp>
        <p:nvSpPr>
          <p:cNvPr id="61444" name="Oval 4"/>
          <p:cNvSpPr>
            <a:spLocks noChangeArrowheads="1"/>
          </p:cNvSpPr>
          <p:nvPr/>
        </p:nvSpPr>
        <p:spPr bwMode="auto">
          <a:xfrm>
            <a:off x="1676400" y="2286000"/>
            <a:ext cx="914400" cy="6096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/>
              <a:t>3</a:t>
            </a:r>
          </a:p>
        </p:txBody>
      </p:sp>
      <p:sp>
        <p:nvSpPr>
          <p:cNvPr id="61456" name="Rectangle 16"/>
          <p:cNvSpPr>
            <a:spLocks noChangeArrowheads="1"/>
          </p:cNvSpPr>
          <p:nvPr/>
        </p:nvSpPr>
        <p:spPr bwMode="auto">
          <a:xfrm>
            <a:off x="457200" y="2057400"/>
            <a:ext cx="8153400" cy="3200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52" name="Text Box 12"/>
          <p:cNvSpPr txBox="1">
            <a:spLocks noChangeArrowheads="1"/>
          </p:cNvSpPr>
          <p:nvPr/>
        </p:nvSpPr>
        <p:spPr bwMode="auto">
          <a:xfrm>
            <a:off x="381000" y="5257800"/>
            <a:ext cx="4267200" cy="1368425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8000">
                <a:solidFill>
                  <a:srgbClr val="FF0000"/>
                </a:solidFill>
              </a:rPr>
              <a:t>    BCl</a:t>
            </a:r>
            <a:r>
              <a:rPr lang="en-US" sz="8000" baseline="-25000">
                <a:solidFill>
                  <a:srgbClr val="FF0000"/>
                </a:solidFill>
              </a:rPr>
              <a:t>3</a:t>
            </a:r>
            <a:endParaRPr lang="en-US" sz="8000" baseline="300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1" presetClass="entr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1" presetClass="entr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0"/>
                            </p:stCondLst>
                            <p:childTnLst>
                              <p:par>
                                <p:cTn id="33" presetID="0" presetClass="path" presetSubtype="0" accel="50000" decel="50000" fill="hold" grpId="2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33333E-6 -1.90751E-6 L 0.21667 0.09434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614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" y="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9000"/>
                            </p:stCondLst>
                            <p:childTnLst>
                              <p:par>
                                <p:cTn id="36" presetID="0" presetClass="path" presetSubtype="0" accel="50000" decel="50000" fill="hold" grpId="2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-1.04046E-6 L -0.20833 0.08879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614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" y="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20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3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40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60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0"/>
                            </p:stCondLst>
                            <p:childTnLst>
                              <p:par>
                                <p:cTn id="54" presetID="0" presetClass="path" presetSubtype="0" accel="50000" decel="5000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4167 -1.15607E-7 C 0.13073 -0.05341 0.3033 -0.10613 0.34652 -0.1741 C 0.38993 -0.24185 0.30399 -0.32486 0.21823 -0.40694 " pathEditMode="relative" rAng="0" ptsTypes="aaA">
                                      <p:cBhvr>
                                        <p:cTn id="55" dur="2000" fill="hold"/>
                                        <p:tgtEl>
                                          <p:spTgt spid="614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6" y="-2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2" grpId="0"/>
      <p:bldP spid="61445" grpId="0" animBg="1"/>
      <p:bldP spid="61446" grpId="0" animBg="1"/>
      <p:bldP spid="61451" grpId="0"/>
      <p:bldP spid="61453" grpId="0" animBg="1"/>
      <p:bldP spid="61454" grpId="0" animBg="1"/>
      <p:bldP spid="61448" grpId="0" animBg="1"/>
      <p:bldP spid="61448" grpId="1" animBg="1"/>
      <p:bldP spid="61448" grpId="2" animBg="1"/>
      <p:bldP spid="61444" grpId="0" animBg="1"/>
      <p:bldP spid="61444" grpId="1" animBg="1"/>
      <p:bldP spid="61444" grpId="2" animBg="1"/>
      <p:bldP spid="61456" grpId="0" animBg="1"/>
      <p:bldP spid="61452" grpId="0" animBg="1"/>
      <p:bldP spid="61452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914400" y="2133600"/>
            <a:ext cx="42672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8000"/>
              <a:t>Mg</a:t>
            </a:r>
            <a:r>
              <a:rPr lang="en-US" sz="8000" baseline="30000"/>
              <a:t>+2</a:t>
            </a:r>
            <a:r>
              <a:rPr lang="en-US" sz="8000"/>
              <a:t> N</a:t>
            </a:r>
            <a:r>
              <a:rPr lang="en-US" sz="8000" baseline="30000"/>
              <a:t>-3</a:t>
            </a:r>
          </a:p>
        </p:txBody>
      </p:sp>
      <p:sp>
        <p:nvSpPr>
          <p:cNvPr id="64516" name="Line 4"/>
          <p:cNvSpPr>
            <a:spLocks noChangeShapeType="1"/>
          </p:cNvSpPr>
          <p:nvPr/>
        </p:nvSpPr>
        <p:spPr bwMode="auto">
          <a:xfrm>
            <a:off x="3352800" y="2743200"/>
            <a:ext cx="1066800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4517" name="Line 5"/>
          <p:cNvSpPr>
            <a:spLocks noChangeShapeType="1"/>
          </p:cNvSpPr>
          <p:nvPr/>
        </p:nvSpPr>
        <p:spPr bwMode="auto">
          <a:xfrm flipH="1">
            <a:off x="2514600" y="2743200"/>
            <a:ext cx="1600200" cy="381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4515" name="Oval 3"/>
          <p:cNvSpPr>
            <a:spLocks noChangeArrowheads="1"/>
          </p:cNvSpPr>
          <p:nvPr/>
        </p:nvSpPr>
        <p:spPr bwMode="auto">
          <a:xfrm>
            <a:off x="2438400" y="2286000"/>
            <a:ext cx="914400" cy="6858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/>
              <a:t>2</a:t>
            </a:r>
          </a:p>
        </p:txBody>
      </p:sp>
      <p:sp>
        <p:nvSpPr>
          <p:cNvPr id="64518" name="Oval 6"/>
          <p:cNvSpPr>
            <a:spLocks noChangeArrowheads="1"/>
          </p:cNvSpPr>
          <p:nvPr/>
        </p:nvSpPr>
        <p:spPr bwMode="auto">
          <a:xfrm>
            <a:off x="4191000" y="2286000"/>
            <a:ext cx="914400" cy="6858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/>
              <a:t>3</a:t>
            </a:r>
          </a:p>
        </p:txBody>
      </p:sp>
      <p:sp>
        <p:nvSpPr>
          <p:cNvPr id="64519" name="Text Box 7"/>
          <p:cNvSpPr txBox="1">
            <a:spLocks noChangeArrowheads="1"/>
          </p:cNvSpPr>
          <p:nvPr/>
        </p:nvSpPr>
        <p:spPr bwMode="auto">
          <a:xfrm>
            <a:off x="914400" y="3581400"/>
            <a:ext cx="42672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8000"/>
              <a:t>Mg    N</a:t>
            </a:r>
            <a:endParaRPr lang="en-US" sz="8000" baseline="30000"/>
          </a:p>
        </p:txBody>
      </p:sp>
      <p:sp>
        <p:nvSpPr>
          <p:cNvPr id="64520" name="Oval 8"/>
          <p:cNvSpPr>
            <a:spLocks noChangeArrowheads="1"/>
          </p:cNvSpPr>
          <p:nvPr/>
        </p:nvSpPr>
        <p:spPr bwMode="auto">
          <a:xfrm>
            <a:off x="2438400" y="4419600"/>
            <a:ext cx="914400" cy="6858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/>
              <a:t>3</a:t>
            </a:r>
          </a:p>
        </p:txBody>
      </p:sp>
      <p:sp>
        <p:nvSpPr>
          <p:cNvPr id="64521" name="Oval 9"/>
          <p:cNvSpPr>
            <a:spLocks noChangeArrowheads="1"/>
          </p:cNvSpPr>
          <p:nvPr/>
        </p:nvSpPr>
        <p:spPr bwMode="auto">
          <a:xfrm>
            <a:off x="4267200" y="4343400"/>
            <a:ext cx="914400" cy="6858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/>
              <a:t>2</a:t>
            </a:r>
          </a:p>
        </p:txBody>
      </p:sp>
      <p:sp>
        <p:nvSpPr>
          <p:cNvPr id="64522" name="Text Box 10"/>
          <p:cNvSpPr txBox="1">
            <a:spLocks noChangeArrowheads="1"/>
          </p:cNvSpPr>
          <p:nvPr/>
        </p:nvSpPr>
        <p:spPr bwMode="auto">
          <a:xfrm>
            <a:off x="0" y="0"/>
            <a:ext cx="89916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Char char="•"/>
            </a:pPr>
            <a:r>
              <a:rPr lang="en-US" sz="2400"/>
              <a:t> </a:t>
            </a:r>
            <a:r>
              <a:rPr lang="en-US" sz="2400" b="1"/>
              <a:t>Magnesium </a:t>
            </a:r>
            <a:r>
              <a:rPr lang="en-US" sz="2400" b="1">
                <a:sym typeface="Wingdings" pitchFamily="2" charset="2"/>
              </a:rPr>
              <a:t>(Mg</a:t>
            </a:r>
            <a:r>
              <a:rPr lang="en-US" sz="2400" b="1" baseline="30000">
                <a:sym typeface="Wingdings" pitchFamily="2" charset="2"/>
              </a:rPr>
              <a:t>2+</a:t>
            </a:r>
            <a:r>
              <a:rPr lang="en-US" sz="2400" b="1">
                <a:sym typeface="Wingdings" pitchFamily="2" charset="2"/>
              </a:rPr>
              <a:t>) </a:t>
            </a:r>
            <a:r>
              <a:rPr lang="en-US" sz="2400" b="1"/>
              <a:t>+ Nitrogen </a:t>
            </a:r>
            <a:r>
              <a:rPr lang="en-US" sz="2400" b="1">
                <a:sym typeface="Wingdings" pitchFamily="2" charset="2"/>
              </a:rPr>
              <a:t>(N</a:t>
            </a:r>
            <a:r>
              <a:rPr lang="en-US" sz="2400" b="1" baseline="30000">
                <a:sym typeface="Wingdings" pitchFamily="2" charset="2"/>
              </a:rPr>
              <a:t>-3</a:t>
            </a:r>
            <a:r>
              <a:rPr lang="en-US" sz="2400" b="1">
                <a:sym typeface="Wingdings" pitchFamily="2" charset="2"/>
              </a:rPr>
              <a:t>) Magnesium nitride</a:t>
            </a:r>
          </a:p>
          <a:p>
            <a:pPr marL="342900" indent="-342900">
              <a:spcBef>
                <a:spcPct val="50000"/>
              </a:spcBef>
              <a:buFontTx/>
              <a:buChar char="•"/>
            </a:pPr>
            <a:r>
              <a:rPr lang="en-US" sz="2400">
                <a:sym typeface="Wingdings" pitchFamily="2" charset="2"/>
              </a:rPr>
              <a:t>Look at #15 to practice the “criss-cross” method again.</a:t>
            </a:r>
            <a:endParaRPr lang="en-US" sz="2400"/>
          </a:p>
        </p:txBody>
      </p:sp>
      <p:sp>
        <p:nvSpPr>
          <p:cNvPr id="64523" name="Rectangle 11"/>
          <p:cNvSpPr>
            <a:spLocks noChangeArrowheads="1"/>
          </p:cNvSpPr>
          <p:nvPr/>
        </p:nvSpPr>
        <p:spPr bwMode="auto">
          <a:xfrm>
            <a:off x="457200" y="2209800"/>
            <a:ext cx="8153400" cy="3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4524" name="Text Box 12"/>
          <p:cNvSpPr txBox="1">
            <a:spLocks noChangeArrowheads="1"/>
          </p:cNvSpPr>
          <p:nvPr/>
        </p:nvSpPr>
        <p:spPr bwMode="auto">
          <a:xfrm>
            <a:off x="533400" y="5334000"/>
            <a:ext cx="4724400" cy="1368425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0">
                <a:solidFill>
                  <a:srgbClr val="FF0000"/>
                </a:solidFill>
              </a:rPr>
              <a:t>Mg</a:t>
            </a:r>
            <a:r>
              <a:rPr lang="en-US" sz="8000" baseline="-25000">
                <a:solidFill>
                  <a:srgbClr val="FF0000"/>
                </a:solidFill>
              </a:rPr>
              <a:t>3</a:t>
            </a:r>
            <a:r>
              <a:rPr lang="en-US" sz="8000">
                <a:solidFill>
                  <a:srgbClr val="FF0000"/>
                </a:solidFill>
              </a:rPr>
              <a:t>N</a:t>
            </a:r>
            <a:r>
              <a:rPr lang="en-US" sz="8000" baseline="-25000">
                <a:solidFill>
                  <a:srgbClr val="FF0000"/>
                </a:solidFill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1" presetClass="entr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1" presetClass="entr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0"/>
                            </p:stCondLst>
                            <p:childTnLst>
                              <p:par>
                                <p:cTn id="33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7341E-7 L 0.19166 0.09434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645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" y="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8000"/>
                            </p:stCondLst>
                            <p:childTnLst>
                              <p:par>
                                <p:cTn id="36" presetID="0" presetClass="path" presetSubtype="0" accel="50000" decel="50000" fill="hold" grpId="2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33333E-6 -1.7341E-7 L -0.19166 0.09434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645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6" y="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10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2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3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4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70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1000"/>
                            </p:stCondLst>
                            <p:childTnLst>
                              <p:par>
                                <p:cTn id="54" presetID="0" presetClass="path" presetSubtype="0" accel="50000" decel="5000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13334 -1.79191E-6 C 0.07534 -0.0541 0.28472 -0.10728 0.33715 -0.17572 C 0.38975 -0.24416 0.28559 -0.32786 0.18159 -0.4104 " pathEditMode="relative" rAng="0" ptsTypes="aaA">
                                      <p:cBhvr>
                                        <p:cTn id="55" dur="2000" fill="hold"/>
                                        <p:tgtEl>
                                          <p:spTgt spid="645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1" y="-2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4" grpId="0"/>
      <p:bldP spid="64516" grpId="0" animBg="1"/>
      <p:bldP spid="64517" grpId="0" animBg="1"/>
      <p:bldP spid="64515" grpId="0" animBg="1"/>
      <p:bldP spid="64515" grpId="1" animBg="1"/>
      <p:bldP spid="64515" grpId="2" animBg="1"/>
      <p:bldP spid="64518" grpId="0" animBg="1"/>
      <p:bldP spid="64518" grpId="1" animBg="1"/>
      <p:bldP spid="64518" grpId="2" animBg="1"/>
      <p:bldP spid="64519" grpId="0"/>
      <p:bldP spid="64520" grpId="0" animBg="1"/>
      <p:bldP spid="64521" grpId="0" animBg="1"/>
      <p:bldP spid="64523" grpId="0" animBg="1"/>
      <p:bldP spid="64524" grpId="0" animBg="1"/>
      <p:bldP spid="64524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2"/>
          <p:cNvSpPr txBox="1">
            <a:spLocks noChangeArrowheads="1"/>
          </p:cNvSpPr>
          <p:nvPr/>
        </p:nvSpPr>
        <p:spPr bwMode="auto">
          <a:xfrm>
            <a:off x="914400" y="2133600"/>
            <a:ext cx="51816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8000"/>
              <a:t>K</a:t>
            </a:r>
            <a:r>
              <a:rPr lang="en-US" sz="8000" baseline="30000"/>
              <a:t>+1</a:t>
            </a:r>
            <a:r>
              <a:rPr lang="en-US" sz="8000"/>
              <a:t> (SO</a:t>
            </a:r>
            <a:r>
              <a:rPr lang="en-US" sz="8000" baseline="-25000"/>
              <a:t>4</a:t>
            </a:r>
            <a:r>
              <a:rPr lang="en-US" sz="8000"/>
              <a:t>)</a:t>
            </a:r>
            <a:r>
              <a:rPr lang="en-US" sz="8000" baseline="30000"/>
              <a:t>-2</a:t>
            </a:r>
          </a:p>
        </p:txBody>
      </p:sp>
      <p:sp>
        <p:nvSpPr>
          <p:cNvPr id="66564" name="Line 4"/>
          <p:cNvSpPr>
            <a:spLocks noChangeShapeType="1"/>
          </p:cNvSpPr>
          <p:nvPr/>
        </p:nvSpPr>
        <p:spPr bwMode="auto">
          <a:xfrm>
            <a:off x="2514600" y="2971800"/>
            <a:ext cx="3048000" cy="1676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6565" name="Line 5"/>
          <p:cNvSpPr>
            <a:spLocks noChangeShapeType="1"/>
          </p:cNvSpPr>
          <p:nvPr/>
        </p:nvSpPr>
        <p:spPr bwMode="auto">
          <a:xfrm flipH="1">
            <a:off x="2133600" y="2971800"/>
            <a:ext cx="3124200" cy="16764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6563" name="Oval 3"/>
          <p:cNvSpPr>
            <a:spLocks noChangeArrowheads="1"/>
          </p:cNvSpPr>
          <p:nvPr/>
        </p:nvSpPr>
        <p:spPr bwMode="auto">
          <a:xfrm>
            <a:off x="1676400" y="2286000"/>
            <a:ext cx="914400" cy="6858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/>
              <a:t>1</a:t>
            </a:r>
          </a:p>
        </p:txBody>
      </p:sp>
      <p:sp>
        <p:nvSpPr>
          <p:cNvPr id="66566" name="Oval 6"/>
          <p:cNvSpPr>
            <a:spLocks noChangeArrowheads="1"/>
          </p:cNvSpPr>
          <p:nvPr/>
        </p:nvSpPr>
        <p:spPr bwMode="auto">
          <a:xfrm>
            <a:off x="5257800" y="2286000"/>
            <a:ext cx="914400" cy="6858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dirty="0"/>
              <a:t>2</a:t>
            </a:r>
          </a:p>
        </p:txBody>
      </p:sp>
      <p:sp>
        <p:nvSpPr>
          <p:cNvPr id="66567" name="Text Box 7"/>
          <p:cNvSpPr txBox="1">
            <a:spLocks noChangeArrowheads="1"/>
          </p:cNvSpPr>
          <p:nvPr/>
        </p:nvSpPr>
        <p:spPr bwMode="auto">
          <a:xfrm>
            <a:off x="838200" y="3810000"/>
            <a:ext cx="52578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8000"/>
              <a:t>K    (SO</a:t>
            </a:r>
            <a:r>
              <a:rPr lang="en-US" sz="8000" baseline="-25000"/>
              <a:t>4</a:t>
            </a:r>
            <a:r>
              <a:rPr lang="en-US" sz="8000"/>
              <a:t>)</a:t>
            </a:r>
            <a:endParaRPr lang="en-US" sz="8000" baseline="-25000"/>
          </a:p>
        </p:txBody>
      </p:sp>
      <p:sp>
        <p:nvSpPr>
          <p:cNvPr id="66570" name="Text Box 10"/>
          <p:cNvSpPr txBox="1">
            <a:spLocks noChangeArrowheads="1"/>
          </p:cNvSpPr>
          <p:nvPr/>
        </p:nvSpPr>
        <p:spPr bwMode="auto">
          <a:xfrm>
            <a:off x="0" y="0"/>
            <a:ext cx="89916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Char char="•"/>
            </a:pPr>
            <a:r>
              <a:rPr lang="en-US" sz="2400"/>
              <a:t> </a:t>
            </a:r>
            <a:r>
              <a:rPr lang="en-US" sz="2000" b="1"/>
              <a:t>Potassium </a:t>
            </a:r>
            <a:r>
              <a:rPr lang="en-US" sz="2000" b="1">
                <a:sym typeface="Wingdings" pitchFamily="2" charset="2"/>
              </a:rPr>
              <a:t>(K</a:t>
            </a:r>
            <a:r>
              <a:rPr lang="en-US" sz="2000" b="1" baseline="30000">
                <a:sym typeface="Wingdings" pitchFamily="2" charset="2"/>
              </a:rPr>
              <a:t>+1</a:t>
            </a:r>
            <a:r>
              <a:rPr lang="en-US" sz="2000" b="1">
                <a:sym typeface="Wingdings" pitchFamily="2" charset="2"/>
              </a:rPr>
              <a:t>) </a:t>
            </a:r>
            <a:r>
              <a:rPr lang="en-US" sz="2000" b="1"/>
              <a:t>+ Sulfate </a:t>
            </a:r>
            <a:r>
              <a:rPr lang="en-US" sz="2000" b="1">
                <a:sym typeface="Wingdings" pitchFamily="2" charset="2"/>
              </a:rPr>
              <a:t>(SO</a:t>
            </a:r>
            <a:r>
              <a:rPr lang="en-US" sz="2000" b="1" baseline="-25000">
                <a:sym typeface="Wingdings" pitchFamily="2" charset="2"/>
              </a:rPr>
              <a:t>4</a:t>
            </a:r>
            <a:r>
              <a:rPr lang="en-US" sz="2000" b="1" baseline="30000">
                <a:sym typeface="Wingdings" pitchFamily="2" charset="2"/>
              </a:rPr>
              <a:t>-2</a:t>
            </a:r>
            <a:r>
              <a:rPr lang="en-US" sz="2000" b="1">
                <a:sym typeface="Wingdings" pitchFamily="2" charset="2"/>
              </a:rPr>
              <a:t>)  potassium sulfate</a:t>
            </a:r>
            <a:endParaRPr lang="en-US" sz="2000" b="1"/>
          </a:p>
          <a:p>
            <a:pPr marL="342900" indent="-342900">
              <a:spcBef>
                <a:spcPct val="50000"/>
              </a:spcBef>
              <a:buFontTx/>
              <a:buChar char="•"/>
            </a:pPr>
            <a:r>
              <a:rPr lang="en-US" sz="2400"/>
              <a:t> This also works for polyatomic ions.</a:t>
            </a:r>
            <a:endParaRPr lang="en-US" sz="2400" baseline="-25000"/>
          </a:p>
        </p:txBody>
      </p:sp>
      <p:sp>
        <p:nvSpPr>
          <p:cNvPr id="66571" name="Rectangle 11"/>
          <p:cNvSpPr>
            <a:spLocks noChangeArrowheads="1"/>
          </p:cNvSpPr>
          <p:nvPr/>
        </p:nvSpPr>
        <p:spPr bwMode="auto">
          <a:xfrm>
            <a:off x="838200" y="2057400"/>
            <a:ext cx="6934200" cy="3200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2" name="Text Box 12"/>
          <p:cNvSpPr txBox="1">
            <a:spLocks noChangeArrowheads="1"/>
          </p:cNvSpPr>
          <p:nvPr/>
        </p:nvSpPr>
        <p:spPr bwMode="auto">
          <a:xfrm>
            <a:off x="1371600" y="5334000"/>
            <a:ext cx="3886200" cy="1368425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0">
                <a:solidFill>
                  <a:srgbClr val="FF0000"/>
                </a:solidFill>
              </a:rPr>
              <a:t>K</a:t>
            </a:r>
            <a:r>
              <a:rPr lang="en-US" sz="8000" baseline="-25000">
                <a:solidFill>
                  <a:srgbClr val="FF0000"/>
                </a:solidFill>
              </a:rPr>
              <a:t>2</a:t>
            </a:r>
            <a:r>
              <a:rPr lang="en-US" sz="8000">
                <a:solidFill>
                  <a:srgbClr val="FF0000"/>
                </a:solidFill>
              </a:rPr>
              <a:t>SO</a:t>
            </a:r>
            <a:r>
              <a:rPr lang="en-US" sz="8000" baseline="-2500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4587" name="Text Box 14"/>
          <p:cNvSpPr txBox="1">
            <a:spLocks noChangeArrowheads="1"/>
          </p:cNvSpPr>
          <p:nvPr/>
        </p:nvSpPr>
        <p:spPr bwMode="auto">
          <a:xfrm>
            <a:off x="3108325" y="61325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pic>
        <p:nvPicPr>
          <p:cNvPr id="66575" name="Picture 1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52400" y="2209800"/>
            <a:ext cx="2971800" cy="2154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1752600" y="4419600"/>
            <a:ext cx="52578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Parentheses are not used unless a subscript is needed after the polyatomic ion, as you will see in the next example.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000"/>
                            </p:stCondLst>
                            <p:childTnLst>
                              <p:par>
                                <p:cTn id="29" presetID="1" presetClass="entr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9000"/>
                            </p:stCondLst>
                            <p:childTnLst>
                              <p:par>
                                <p:cTn id="32" presetID="1" presetClass="entr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0"/>
                            </p:stCondLst>
                            <p:childTnLst>
                              <p:par>
                                <p:cTn id="35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33333E-6 L 0.38334 0.30556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665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" y="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2000"/>
                            </p:stCondLst>
                            <p:childTnLst>
                              <p:par>
                                <p:cTn id="38" presetID="0" presetClass="path" presetSubtype="0" accel="50000" decel="50000" fill="hold" grpId="2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4167 0.03889 L -0.39167 0.29445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665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5" y="1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7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1500"/>
                            </p:stCondLst>
                            <p:childTnLst>
                              <p:par>
                                <p:cTn id="47" presetID="0" presetClass="path" presetSubtype="0" accel="50000" decel="5000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17917 3.7037E-6 C 0.05017 -0.0544 0.28021 -0.10741 0.33785 -0.17593 C 0.39583 -0.24468 0.28125 -0.32824 0.16701 -0.41088 " pathEditMode="relative" rAng="0" ptsTypes="aaA">
                                      <p:cBhvr>
                                        <p:cTn id="48" dur="2000" fill="hold"/>
                                        <p:tgtEl>
                                          <p:spTgt spid="665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7" y="-2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45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6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2" grpId="0"/>
      <p:bldP spid="66564" grpId="0" animBg="1"/>
      <p:bldP spid="66565" grpId="0" animBg="1"/>
      <p:bldP spid="66563" grpId="0" animBg="1"/>
      <p:bldP spid="66563" grpId="1" animBg="1"/>
      <p:bldP spid="66563" grpId="2" animBg="1"/>
      <p:bldP spid="66566" grpId="0" animBg="1"/>
      <p:bldP spid="66566" grpId="1" animBg="1"/>
      <p:bldP spid="66566" grpId="2" animBg="1"/>
      <p:bldP spid="66567" grpId="0"/>
      <p:bldP spid="66571" grpId="0" animBg="1"/>
      <p:bldP spid="66572" grpId="0" animBg="1"/>
      <p:bldP spid="66572" grpId="1" animBg="1"/>
      <p:bldP spid="1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2"/>
          <p:cNvSpPr txBox="1">
            <a:spLocks noChangeArrowheads="1"/>
          </p:cNvSpPr>
          <p:nvPr/>
        </p:nvSpPr>
        <p:spPr bwMode="auto">
          <a:xfrm>
            <a:off x="914400" y="2133600"/>
            <a:ext cx="57150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8000"/>
              <a:t>Al</a:t>
            </a:r>
            <a:r>
              <a:rPr lang="en-US" sz="8000" baseline="30000"/>
              <a:t>+3</a:t>
            </a:r>
            <a:r>
              <a:rPr lang="en-US" sz="8000"/>
              <a:t> (SO</a:t>
            </a:r>
            <a:r>
              <a:rPr lang="en-US" sz="8000" baseline="-25000"/>
              <a:t>4</a:t>
            </a:r>
            <a:r>
              <a:rPr lang="en-US" sz="8000"/>
              <a:t>)</a:t>
            </a:r>
            <a:r>
              <a:rPr lang="en-US" sz="8000" baseline="30000"/>
              <a:t>-2</a:t>
            </a:r>
          </a:p>
        </p:txBody>
      </p:sp>
      <p:sp>
        <p:nvSpPr>
          <p:cNvPr id="69636" name="Line 4"/>
          <p:cNvSpPr>
            <a:spLocks noChangeShapeType="1"/>
          </p:cNvSpPr>
          <p:nvPr/>
        </p:nvSpPr>
        <p:spPr bwMode="auto">
          <a:xfrm>
            <a:off x="2514600" y="2971800"/>
            <a:ext cx="3352800" cy="1752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9637" name="Line 5"/>
          <p:cNvSpPr>
            <a:spLocks noChangeShapeType="1"/>
          </p:cNvSpPr>
          <p:nvPr/>
        </p:nvSpPr>
        <p:spPr bwMode="auto">
          <a:xfrm flipH="1">
            <a:off x="2133600" y="2895600"/>
            <a:ext cx="350520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9635" name="Oval 3"/>
          <p:cNvSpPr>
            <a:spLocks noChangeArrowheads="1"/>
          </p:cNvSpPr>
          <p:nvPr/>
        </p:nvSpPr>
        <p:spPr bwMode="auto">
          <a:xfrm>
            <a:off x="1905000" y="2286000"/>
            <a:ext cx="914400" cy="6858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/>
              <a:t>3</a:t>
            </a:r>
          </a:p>
        </p:txBody>
      </p:sp>
      <p:sp>
        <p:nvSpPr>
          <p:cNvPr id="69638" name="Oval 6"/>
          <p:cNvSpPr>
            <a:spLocks noChangeArrowheads="1"/>
          </p:cNvSpPr>
          <p:nvPr/>
        </p:nvSpPr>
        <p:spPr bwMode="auto">
          <a:xfrm>
            <a:off x="5410200" y="2286000"/>
            <a:ext cx="914400" cy="6858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/>
              <a:t>2</a:t>
            </a:r>
          </a:p>
        </p:txBody>
      </p:sp>
      <p:sp>
        <p:nvSpPr>
          <p:cNvPr id="69639" name="Text Box 7"/>
          <p:cNvSpPr txBox="1">
            <a:spLocks noChangeArrowheads="1"/>
          </p:cNvSpPr>
          <p:nvPr/>
        </p:nvSpPr>
        <p:spPr bwMode="auto">
          <a:xfrm>
            <a:off x="838200" y="3810000"/>
            <a:ext cx="52578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8000"/>
              <a:t>Al    (SO</a:t>
            </a:r>
            <a:r>
              <a:rPr lang="en-US" sz="8000" baseline="-25000"/>
              <a:t>4</a:t>
            </a:r>
            <a:r>
              <a:rPr lang="en-US" sz="8000"/>
              <a:t>)</a:t>
            </a:r>
            <a:endParaRPr lang="en-US" sz="8000" baseline="-25000"/>
          </a:p>
        </p:txBody>
      </p:sp>
      <p:sp>
        <p:nvSpPr>
          <p:cNvPr id="69640" name="Text Box 8"/>
          <p:cNvSpPr txBox="1">
            <a:spLocks noChangeArrowheads="1"/>
          </p:cNvSpPr>
          <p:nvPr/>
        </p:nvSpPr>
        <p:spPr bwMode="auto">
          <a:xfrm>
            <a:off x="0" y="0"/>
            <a:ext cx="8991600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Char char="•"/>
            </a:pPr>
            <a:r>
              <a:rPr lang="en-US" sz="2400" dirty="0"/>
              <a:t> </a:t>
            </a:r>
            <a:r>
              <a:rPr lang="en-US" sz="2000" b="1" dirty="0"/>
              <a:t>Aluminum </a:t>
            </a:r>
            <a:r>
              <a:rPr lang="en-US" sz="2000" b="1" dirty="0">
                <a:sym typeface="Wingdings" pitchFamily="2" charset="2"/>
              </a:rPr>
              <a:t>(Al</a:t>
            </a:r>
            <a:r>
              <a:rPr lang="en-US" sz="2000" b="1" baseline="30000" dirty="0">
                <a:sym typeface="Wingdings" pitchFamily="2" charset="2"/>
              </a:rPr>
              <a:t>+3</a:t>
            </a:r>
            <a:r>
              <a:rPr lang="en-US" sz="2000" b="1" dirty="0">
                <a:sym typeface="Wingdings" pitchFamily="2" charset="2"/>
              </a:rPr>
              <a:t>) </a:t>
            </a:r>
            <a:r>
              <a:rPr lang="en-US" sz="2000" b="1" dirty="0"/>
              <a:t>+ Sulfate </a:t>
            </a:r>
            <a:r>
              <a:rPr lang="en-US" sz="2000" b="1" dirty="0">
                <a:sym typeface="Wingdings" pitchFamily="2" charset="2"/>
              </a:rPr>
              <a:t>(SO</a:t>
            </a:r>
            <a:r>
              <a:rPr lang="en-US" sz="2000" b="1" baseline="-25000" dirty="0">
                <a:sym typeface="Wingdings" pitchFamily="2" charset="2"/>
              </a:rPr>
              <a:t>4</a:t>
            </a:r>
            <a:r>
              <a:rPr lang="en-US" sz="2000" b="1" baseline="30000" dirty="0">
                <a:sym typeface="Wingdings" pitchFamily="2" charset="2"/>
              </a:rPr>
              <a:t>-2</a:t>
            </a:r>
            <a:r>
              <a:rPr lang="en-US" sz="2000" b="1" dirty="0">
                <a:sym typeface="Wingdings" pitchFamily="2" charset="2"/>
              </a:rPr>
              <a:t>) aluminum sulfate</a:t>
            </a:r>
            <a:endParaRPr lang="en-US" sz="2000" b="1" dirty="0"/>
          </a:p>
          <a:p>
            <a:pPr marL="342900" indent="-342900">
              <a:spcBef>
                <a:spcPct val="50000"/>
              </a:spcBef>
              <a:buFontTx/>
              <a:buChar char="•"/>
            </a:pPr>
            <a:r>
              <a:rPr lang="en-US" sz="2400" dirty="0"/>
              <a:t>Use parentheses to indicate that more than one of the same polyatomic ion is included in the compound.</a:t>
            </a:r>
            <a:endParaRPr lang="en-US" sz="2400" baseline="-25000" dirty="0"/>
          </a:p>
        </p:txBody>
      </p:sp>
      <p:sp>
        <p:nvSpPr>
          <p:cNvPr id="69641" name="Rectangle 9"/>
          <p:cNvSpPr>
            <a:spLocks noChangeArrowheads="1"/>
          </p:cNvSpPr>
          <p:nvPr/>
        </p:nvSpPr>
        <p:spPr bwMode="auto">
          <a:xfrm>
            <a:off x="-152400" y="1905000"/>
            <a:ext cx="6934200" cy="3200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9642" name="Text Box 10"/>
          <p:cNvSpPr txBox="1">
            <a:spLocks noChangeArrowheads="1"/>
          </p:cNvSpPr>
          <p:nvPr/>
        </p:nvSpPr>
        <p:spPr bwMode="auto">
          <a:xfrm>
            <a:off x="1371600" y="5334000"/>
            <a:ext cx="4724400" cy="1368425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0">
                <a:solidFill>
                  <a:srgbClr val="FF0000"/>
                </a:solidFill>
              </a:rPr>
              <a:t>Al</a:t>
            </a:r>
            <a:r>
              <a:rPr lang="en-US" sz="8000" baseline="-25000">
                <a:solidFill>
                  <a:srgbClr val="FF0000"/>
                </a:solidFill>
              </a:rPr>
              <a:t>2</a:t>
            </a:r>
            <a:r>
              <a:rPr lang="en-US" sz="8000">
                <a:solidFill>
                  <a:srgbClr val="FF0000"/>
                </a:solidFill>
              </a:rPr>
              <a:t>(SO</a:t>
            </a:r>
            <a:r>
              <a:rPr lang="en-US" sz="8000" baseline="-25000">
                <a:solidFill>
                  <a:srgbClr val="FF0000"/>
                </a:solidFill>
              </a:rPr>
              <a:t>4</a:t>
            </a:r>
            <a:r>
              <a:rPr lang="en-US" sz="8000">
                <a:solidFill>
                  <a:srgbClr val="FF0000"/>
                </a:solidFill>
              </a:rPr>
              <a:t>)</a:t>
            </a:r>
            <a:r>
              <a:rPr lang="en-US" sz="8000" baseline="-2500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036" name="Text Box 11"/>
          <p:cNvSpPr txBox="1">
            <a:spLocks noChangeArrowheads="1"/>
          </p:cNvSpPr>
          <p:nvPr/>
        </p:nvSpPr>
        <p:spPr bwMode="auto">
          <a:xfrm>
            <a:off x="3108325" y="61325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69650" name="Object 18"/>
          <p:cNvGraphicFramePr>
            <a:graphicFrameLocks noChangeAspect="1"/>
          </p:cNvGraphicFramePr>
          <p:nvPr>
            <p:ph/>
          </p:nvPr>
        </p:nvGraphicFramePr>
        <p:xfrm>
          <a:off x="-101600" y="2209800"/>
          <a:ext cx="2379663" cy="4114800"/>
        </p:xfrm>
        <a:graphic>
          <a:graphicData uri="http://schemas.openxmlformats.org/presentationml/2006/ole">
            <p:oleObj spid="_x0000_s1026" name="Image" r:id="rId4" imgW="4047619" imgH="7000000" progId="PhotoshopElements.Image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9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1000"/>
                            </p:stCondLst>
                            <p:childTnLst>
                              <p:par>
                                <p:cTn id="29" presetID="1" presetClass="entr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000"/>
                            </p:stCondLst>
                            <p:childTnLst>
                              <p:par>
                                <p:cTn id="32" presetID="1" presetClass="entr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3000"/>
                            </p:stCondLst>
                            <p:childTnLst>
                              <p:par>
                                <p:cTn id="35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2766E-6 L 0.40834 0.30527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696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4" y="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0"/>
                            </p:stCondLst>
                            <p:childTnLst>
                              <p:par>
                                <p:cTn id="38" presetID="0" presetClass="path" presetSubtype="0" accel="50000" decel="50000" fill="hold" grpId="2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6632 0.08325 L -0.39167 0.30527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696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3" y="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8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4500"/>
                            </p:stCondLst>
                            <p:childTnLst>
                              <p:par>
                                <p:cTn id="47" presetID="0" presetClass="path" presetSubtype="0" accel="50000" decel="5000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17916 3.7037E-6 C 0.00469 -0.0544 0.18976 -0.10741 0.23611 -0.17593 C 0.28334 -0.24468 0.19063 -0.32824 0.09879 -0.41088 " pathEditMode="relative" rAng="0" ptsTypes="aaA">
                                      <p:cBhvr>
                                        <p:cTn id="48" dur="2000" fill="hold"/>
                                        <p:tgtEl>
                                          <p:spTgt spid="696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1" y="-2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75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4" grpId="0"/>
      <p:bldP spid="69636" grpId="0" animBg="1"/>
      <p:bldP spid="69637" grpId="0" animBg="1"/>
      <p:bldP spid="69635" grpId="0" animBg="1"/>
      <p:bldP spid="69635" grpId="1" animBg="1"/>
      <p:bldP spid="69635" grpId="2" animBg="1"/>
      <p:bldP spid="69638" grpId="0" animBg="1"/>
      <p:bldP spid="69638" grpId="1" animBg="1"/>
      <p:bldP spid="69638" grpId="2" animBg="1"/>
      <p:bldP spid="69639" grpId="0"/>
      <p:bldP spid="69641" grpId="0" animBg="1"/>
      <p:bldP spid="69642" grpId="0" animBg="1"/>
      <p:bldP spid="69642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dirty="0" smtClean="0"/>
              <a:t>If the superscript charges add to zero, DO NOT </a:t>
            </a:r>
            <a:r>
              <a:rPr lang="en-US" dirty="0" err="1" smtClean="0"/>
              <a:t>criss</a:t>
            </a:r>
            <a:r>
              <a:rPr lang="en-US" dirty="0" smtClean="0"/>
              <a:t>-cross.  All compounds have a zero charge, so it takes one of each ion to make the compound:</a:t>
            </a:r>
          </a:p>
          <a:p>
            <a:endParaRPr lang="en-US" dirty="0" smtClean="0"/>
          </a:p>
          <a:p>
            <a:r>
              <a:rPr lang="en-US" dirty="0" smtClean="0"/>
              <a:t>Ca</a:t>
            </a:r>
            <a:r>
              <a:rPr lang="en-US" baseline="30000" dirty="0" smtClean="0"/>
              <a:t>+2</a:t>
            </a:r>
            <a:r>
              <a:rPr lang="en-US" dirty="0" smtClean="0"/>
              <a:t> + O</a:t>
            </a:r>
            <a:r>
              <a:rPr lang="en-US" baseline="30000" dirty="0" smtClean="0"/>
              <a:t>-2</a:t>
            </a:r>
            <a:r>
              <a:rPr lang="en-US" dirty="0" smtClean="0"/>
              <a:t>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</a:t>
            </a:r>
            <a:r>
              <a:rPr lang="en-US" dirty="0" err="1" smtClean="0"/>
              <a:t>CaO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B</a:t>
            </a:r>
            <a:r>
              <a:rPr lang="en-US" baseline="30000" dirty="0" smtClean="0"/>
              <a:t>+3</a:t>
            </a:r>
            <a:r>
              <a:rPr lang="en-US" dirty="0" smtClean="0"/>
              <a:t> + N</a:t>
            </a:r>
            <a:r>
              <a:rPr lang="en-US" baseline="30000" dirty="0" smtClean="0"/>
              <a:t>-3</a:t>
            </a:r>
            <a:r>
              <a:rPr lang="en-US" dirty="0" smtClean="0"/>
              <a:t>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BN </a:t>
            </a:r>
            <a:endParaRPr lang="en-US" dirty="0"/>
          </a:p>
        </p:txBody>
      </p:sp>
      <p:sp>
        <p:nvSpPr>
          <p:cNvPr id="3" name="Oval 14"/>
          <p:cNvSpPr>
            <a:spLocks noChangeArrowheads="1"/>
          </p:cNvSpPr>
          <p:nvPr/>
        </p:nvSpPr>
        <p:spPr bwMode="auto">
          <a:xfrm>
            <a:off x="1371600" y="2943664"/>
            <a:ext cx="381000" cy="3810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sz="3600" dirty="0"/>
          </a:p>
        </p:txBody>
      </p:sp>
      <p:sp>
        <p:nvSpPr>
          <p:cNvPr id="4" name="Oval 14"/>
          <p:cNvSpPr>
            <a:spLocks noChangeArrowheads="1"/>
          </p:cNvSpPr>
          <p:nvPr/>
        </p:nvSpPr>
        <p:spPr bwMode="auto">
          <a:xfrm>
            <a:off x="2438400" y="2943664"/>
            <a:ext cx="381000" cy="3810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0" y="2906357"/>
            <a:ext cx="2971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(+2 and -2 = 0)</a:t>
            </a:r>
            <a:endParaRPr lang="en-US" sz="3200" dirty="0"/>
          </a:p>
        </p:txBody>
      </p:sp>
      <p:sp>
        <p:nvSpPr>
          <p:cNvPr id="6" name="Oval 14"/>
          <p:cNvSpPr>
            <a:spLocks noChangeArrowheads="1"/>
          </p:cNvSpPr>
          <p:nvPr/>
        </p:nvSpPr>
        <p:spPr bwMode="auto">
          <a:xfrm>
            <a:off x="1143000" y="4100732"/>
            <a:ext cx="381000" cy="3810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sz="3600" dirty="0"/>
          </a:p>
        </p:txBody>
      </p:sp>
      <p:sp>
        <p:nvSpPr>
          <p:cNvPr id="7" name="Oval 14"/>
          <p:cNvSpPr>
            <a:spLocks noChangeArrowheads="1"/>
          </p:cNvSpPr>
          <p:nvPr/>
        </p:nvSpPr>
        <p:spPr bwMode="auto">
          <a:xfrm>
            <a:off x="2147668" y="4100732"/>
            <a:ext cx="381000" cy="3810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sz="3600" dirty="0"/>
          </a:p>
        </p:txBody>
      </p:sp>
      <p:sp>
        <p:nvSpPr>
          <p:cNvPr id="8" name="TextBox 7"/>
          <p:cNvSpPr txBox="1"/>
          <p:nvPr/>
        </p:nvSpPr>
        <p:spPr>
          <a:xfrm>
            <a:off x="4572000" y="4080804"/>
            <a:ext cx="2971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(+3 and -3 = 0)</a:t>
            </a:r>
            <a:endParaRPr lang="en-US" sz="320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3352800" y="3429000"/>
            <a:ext cx="838200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48000" y="4572000"/>
            <a:ext cx="609600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35" presetClass="emph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1" presetClass="entr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0"/>
                            </p:stCondLst>
                            <p:childTnLst>
                              <p:par>
                                <p:cTn id="20" presetID="35" presetClass="emph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000"/>
                            </p:stCondLst>
                            <p:childTnLst>
                              <p:par>
                                <p:cTn id="23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35" presetClass="emph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1" presetClass="entr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35" presetClass="emph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7000"/>
                            </p:stCondLst>
                            <p:childTnLst>
                              <p:par>
                                <p:cTn id="50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  <p:bldP spid="4" grpId="0" animBg="1"/>
      <p:bldP spid="4" grpId="1" animBg="1"/>
      <p:bldP spid="4" grpId="2" animBg="1"/>
      <p:bldP spid="5" grpId="0"/>
      <p:bldP spid="6" grpId="0" animBg="1"/>
      <p:bldP spid="6" grpId="1" animBg="1"/>
      <p:bldP spid="6" grpId="2" animBg="1"/>
      <p:bldP spid="7" grpId="0" animBg="1"/>
      <p:bldP spid="7" grpId="1" animBg="1"/>
      <p:bldP spid="7" grpId="2" animBg="1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Released </a:t>
            </a:r>
            <a:r>
              <a:rPr lang="en-US" dirty="0" smtClean="0"/>
              <a:t>TAKS Question</a:t>
            </a:r>
            <a:endParaRPr lang="en-US" dirty="0" smtClean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None/>
            </a:pPr>
            <a:r>
              <a:rPr lang="en-US" sz="2400" dirty="0" smtClean="0"/>
              <a:t>calcium </a:t>
            </a:r>
            <a:r>
              <a:rPr lang="en-US" sz="2400" dirty="0" smtClean="0"/>
              <a:t>(</a:t>
            </a:r>
            <a:r>
              <a:rPr lang="en-US" sz="2400" dirty="0" smtClean="0"/>
              <a:t>Ca</a:t>
            </a:r>
            <a:r>
              <a:rPr lang="en-US" sz="2400" baseline="30000" dirty="0" smtClean="0"/>
              <a:t>+2</a:t>
            </a:r>
            <a:r>
              <a:rPr lang="en-US" sz="2400" dirty="0" smtClean="0"/>
              <a:t>) </a:t>
            </a:r>
            <a:r>
              <a:rPr lang="en-US" sz="2400" dirty="0" smtClean="0"/>
              <a:t>+ </a:t>
            </a:r>
            <a:r>
              <a:rPr lang="en-US" sz="2400" dirty="0" smtClean="0"/>
              <a:t>chlorine </a:t>
            </a:r>
            <a:r>
              <a:rPr lang="en-US" sz="2400" dirty="0" smtClean="0"/>
              <a:t>(Cl</a:t>
            </a:r>
            <a:r>
              <a:rPr lang="en-US" sz="2400" baseline="30000" dirty="0" smtClean="0"/>
              <a:t>-1</a:t>
            </a:r>
            <a:r>
              <a:rPr lang="en-US" sz="2400" dirty="0" smtClean="0"/>
              <a:t>) </a:t>
            </a:r>
            <a:r>
              <a:rPr lang="en-US" sz="2400" dirty="0" smtClean="0">
                <a:sym typeface="Wingdings" pitchFamily="2" charset="2"/>
              </a:rPr>
              <a:t> </a:t>
            </a:r>
            <a:r>
              <a:rPr lang="en-US" sz="2400" dirty="0" smtClean="0">
                <a:sym typeface="Wingdings" pitchFamily="2" charset="2"/>
              </a:rPr>
              <a:t>calcium </a:t>
            </a:r>
            <a:r>
              <a:rPr lang="en-US" sz="2400" dirty="0" smtClean="0">
                <a:sym typeface="Wingdings" pitchFamily="2" charset="2"/>
              </a:rPr>
              <a:t>chloride</a:t>
            </a:r>
          </a:p>
          <a:p>
            <a:pPr eaLnBrk="1" hangingPunct="1"/>
            <a:endParaRPr lang="en-US" sz="2400" dirty="0" smtClean="0">
              <a:sym typeface="Wingdings" pitchFamily="2" charset="2"/>
            </a:endParaRPr>
          </a:p>
          <a:p>
            <a:pPr eaLnBrk="1" hangingPunct="1">
              <a:buNone/>
            </a:pPr>
            <a:r>
              <a:rPr lang="en-US" sz="2400" dirty="0" smtClean="0">
                <a:sym typeface="Wingdings" pitchFamily="2" charset="2"/>
              </a:rPr>
              <a:t>The </a:t>
            </a:r>
            <a:r>
              <a:rPr lang="en-US" sz="2400" dirty="0" smtClean="0">
                <a:sym typeface="Wingdings" pitchFamily="2" charset="2"/>
              </a:rPr>
              <a:t>chemical formula for calcium chloride is ---</a:t>
            </a:r>
          </a:p>
          <a:p>
            <a:pPr eaLnBrk="1" hangingPunct="1"/>
            <a:endParaRPr lang="en-US" sz="2400" dirty="0" smtClean="0">
              <a:sym typeface="Wingdings" pitchFamily="2" charset="2"/>
            </a:endParaRPr>
          </a:p>
          <a:p>
            <a:pPr lvl="1" eaLnBrk="1" hangingPunct="1">
              <a:buNone/>
            </a:pPr>
            <a:r>
              <a:rPr lang="en-US" sz="2000" dirty="0" smtClean="0">
                <a:sym typeface="Wingdings" pitchFamily="2" charset="2"/>
              </a:rPr>
              <a:t>A)  Ca</a:t>
            </a:r>
            <a:r>
              <a:rPr lang="en-US" sz="2000" baseline="-25000" dirty="0" smtClean="0">
                <a:sym typeface="Wingdings" pitchFamily="2" charset="2"/>
              </a:rPr>
              <a:t>2</a:t>
            </a:r>
            <a:r>
              <a:rPr lang="en-US" sz="2000" dirty="0" smtClean="0">
                <a:sym typeface="Wingdings" pitchFamily="2" charset="2"/>
              </a:rPr>
              <a:t>Cl</a:t>
            </a:r>
          </a:p>
          <a:p>
            <a:pPr lvl="1" eaLnBrk="1" hangingPunct="1">
              <a:buNone/>
            </a:pPr>
            <a:r>
              <a:rPr lang="en-US" sz="2000" dirty="0" smtClean="0">
                <a:sym typeface="Wingdings" pitchFamily="2" charset="2"/>
              </a:rPr>
              <a:t>B)  </a:t>
            </a:r>
            <a:r>
              <a:rPr lang="en-US" sz="2000" dirty="0" err="1" smtClean="0">
                <a:sym typeface="Wingdings" pitchFamily="2" charset="2"/>
              </a:rPr>
              <a:t>CaCl</a:t>
            </a:r>
            <a:endParaRPr lang="en-US" sz="2000" dirty="0" smtClean="0">
              <a:sym typeface="Wingdings" pitchFamily="2" charset="2"/>
            </a:endParaRPr>
          </a:p>
          <a:p>
            <a:pPr lvl="1" eaLnBrk="1" hangingPunct="1">
              <a:buNone/>
            </a:pPr>
            <a:r>
              <a:rPr lang="en-US" sz="2000" dirty="0" smtClean="0">
                <a:sym typeface="Wingdings" pitchFamily="2" charset="2"/>
              </a:rPr>
              <a:t>C) </a:t>
            </a:r>
            <a:r>
              <a:rPr lang="en-US" sz="2000" dirty="0" smtClean="0">
                <a:sym typeface="Wingdings" pitchFamily="2" charset="2"/>
              </a:rPr>
              <a:t> CaCl</a:t>
            </a:r>
            <a:r>
              <a:rPr lang="en-US" sz="2000" baseline="-25000" dirty="0" smtClean="0">
                <a:sym typeface="Wingdings" pitchFamily="2" charset="2"/>
              </a:rPr>
              <a:t>2</a:t>
            </a:r>
            <a:endParaRPr lang="en-US" sz="2000" baseline="-25000" dirty="0" smtClean="0">
              <a:sym typeface="Wingdings" pitchFamily="2" charset="2"/>
            </a:endParaRPr>
          </a:p>
          <a:p>
            <a:pPr lvl="1" eaLnBrk="1" hangingPunct="1">
              <a:buNone/>
            </a:pPr>
            <a:r>
              <a:rPr lang="en-US" sz="2000" dirty="0" smtClean="0">
                <a:sym typeface="Wingdings" pitchFamily="2" charset="2"/>
              </a:rPr>
              <a:t>D) </a:t>
            </a:r>
            <a:r>
              <a:rPr lang="en-US" sz="2000" dirty="0" smtClean="0">
                <a:sym typeface="Wingdings" pitchFamily="2" charset="2"/>
              </a:rPr>
              <a:t> Ca</a:t>
            </a:r>
            <a:r>
              <a:rPr lang="en-US" sz="2000" baseline="-25000" dirty="0" smtClean="0">
                <a:sym typeface="Wingdings" pitchFamily="2" charset="2"/>
              </a:rPr>
              <a:t>2</a:t>
            </a:r>
            <a:r>
              <a:rPr lang="en-US" sz="2000" dirty="0" smtClean="0">
                <a:sym typeface="Wingdings" pitchFamily="2" charset="2"/>
              </a:rPr>
              <a:t>Cl</a:t>
            </a:r>
            <a:r>
              <a:rPr lang="en-US" sz="2000" baseline="-25000" dirty="0" smtClean="0">
                <a:sym typeface="Wingdings" pitchFamily="2" charset="2"/>
              </a:rPr>
              <a:t>3</a:t>
            </a:r>
            <a:endParaRPr lang="en-US" sz="2000" baseline="-25000" dirty="0" smtClean="0">
              <a:sym typeface="Wingdings" pitchFamily="2" charset="2"/>
            </a:endParaRPr>
          </a:p>
          <a:p>
            <a:pPr eaLnBrk="1" hangingPunct="1"/>
            <a:endParaRPr lang="en-US" sz="2400" dirty="0" smtClean="0"/>
          </a:p>
        </p:txBody>
      </p:sp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3657600" y="2727325"/>
            <a:ext cx="48768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8000" dirty="0" smtClean="0"/>
              <a:t>Ca</a:t>
            </a:r>
            <a:r>
              <a:rPr lang="en-US" sz="8000" baseline="30000" dirty="0" smtClean="0"/>
              <a:t>+2</a:t>
            </a:r>
            <a:r>
              <a:rPr lang="en-US" sz="8000" dirty="0" smtClean="0"/>
              <a:t> </a:t>
            </a:r>
            <a:r>
              <a:rPr lang="en-US" sz="8000" dirty="0"/>
              <a:t>Cl</a:t>
            </a:r>
            <a:r>
              <a:rPr lang="en-US" sz="8000" baseline="30000" dirty="0"/>
              <a:t>-1</a:t>
            </a:r>
          </a:p>
        </p:txBody>
      </p:sp>
      <p:sp>
        <p:nvSpPr>
          <p:cNvPr id="13" name="Line 5"/>
          <p:cNvSpPr>
            <a:spLocks noChangeShapeType="1"/>
          </p:cNvSpPr>
          <p:nvPr/>
        </p:nvSpPr>
        <p:spPr bwMode="auto">
          <a:xfrm>
            <a:off x="5486400" y="3260725"/>
            <a:ext cx="1600200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" name="Line 6"/>
          <p:cNvSpPr>
            <a:spLocks noChangeShapeType="1"/>
          </p:cNvSpPr>
          <p:nvPr/>
        </p:nvSpPr>
        <p:spPr bwMode="auto">
          <a:xfrm flipH="1">
            <a:off x="5181600" y="3336925"/>
            <a:ext cx="1905000" cy="457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3581400" y="3962400"/>
            <a:ext cx="49530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8000" dirty="0" smtClean="0"/>
              <a:t>Ca    </a:t>
            </a:r>
            <a:r>
              <a:rPr lang="en-US" sz="8000" dirty="0" err="1"/>
              <a:t>Cl</a:t>
            </a:r>
            <a:endParaRPr lang="en-US" sz="8000" baseline="30000" dirty="0"/>
          </a:p>
        </p:txBody>
      </p:sp>
      <p:sp>
        <p:nvSpPr>
          <p:cNvPr id="16" name="Oval 13"/>
          <p:cNvSpPr>
            <a:spLocks noChangeArrowheads="1"/>
          </p:cNvSpPr>
          <p:nvPr/>
        </p:nvSpPr>
        <p:spPr bwMode="auto">
          <a:xfrm>
            <a:off x="5029200" y="4724400"/>
            <a:ext cx="914400" cy="6096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/>
              <a:t>1</a:t>
            </a:r>
          </a:p>
        </p:txBody>
      </p:sp>
      <p:sp>
        <p:nvSpPr>
          <p:cNvPr id="17" name="Oval 14"/>
          <p:cNvSpPr>
            <a:spLocks noChangeArrowheads="1"/>
          </p:cNvSpPr>
          <p:nvPr/>
        </p:nvSpPr>
        <p:spPr bwMode="auto">
          <a:xfrm>
            <a:off x="7086600" y="4648200"/>
            <a:ext cx="914400" cy="6858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dirty="0" smtClean="0"/>
              <a:t>2</a:t>
            </a:r>
            <a:endParaRPr lang="en-US" sz="3600" dirty="0"/>
          </a:p>
        </p:txBody>
      </p:sp>
      <p:sp>
        <p:nvSpPr>
          <p:cNvPr id="18" name="Oval 8"/>
          <p:cNvSpPr>
            <a:spLocks noChangeArrowheads="1"/>
          </p:cNvSpPr>
          <p:nvPr/>
        </p:nvSpPr>
        <p:spPr bwMode="auto">
          <a:xfrm>
            <a:off x="7010400" y="2879725"/>
            <a:ext cx="914400" cy="6096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/>
              <a:t>1</a:t>
            </a:r>
          </a:p>
        </p:txBody>
      </p:sp>
      <p:sp>
        <p:nvSpPr>
          <p:cNvPr id="19" name="Oval 4"/>
          <p:cNvSpPr>
            <a:spLocks noChangeArrowheads="1"/>
          </p:cNvSpPr>
          <p:nvPr/>
        </p:nvSpPr>
        <p:spPr bwMode="auto">
          <a:xfrm>
            <a:off x="5029200" y="2879725"/>
            <a:ext cx="914400" cy="6096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dirty="0" smtClean="0"/>
              <a:t>2</a:t>
            </a:r>
            <a:endParaRPr lang="en-US" sz="3600" dirty="0"/>
          </a:p>
        </p:txBody>
      </p:sp>
      <p:sp>
        <p:nvSpPr>
          <p:cNvPr id="20" name="Text Box 12"/>
          <p:cNvSpPr txBox="1">
            <a:spLocks noChangeArrowheads="1"/>
          </p:cNvSpPr>
          <p:nvPr/>
        </p:nvSpPr>
        <p:spPr bwMode="auto">
          <a:xfrm>
            <a:off x="3733800" y="5410200"/>
            <a:ext cx="4267200" cy="1368425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8000" dirty="0">
                <a:solidFill>
                  <a:srgbClr val="FF0000"/>
                </a:solidFill>
              </a:rPr>
              <a:t>  </a:t>
            </a:r>
            <a:r>
              <a:rPr lang="en-US" sz="8000" dirty="0" smtClean="0">
                <a:solidFill>
                  <a:srgbClr val="FF0000"/>
                </a:solidFill>
              </a:rPr>
              <a:t> CaCl</a:t>
            </a:r>
            <a:r>
              <a:rPr lang="en-US" sz="8000" baseline="-25000" dirty="0" smtClean="0">
                <a:solidFill>
                  <a:srgbClr val="FF0000"/>
                </a:solidFill>
              </a:rPr>
              <a:t>2</a:t>
            </a:r>
            <a:endParaRPr lang="en-US" sz="8000" baseline="30000" dirty="0">
              <a:solidFill>
                <a:srgbClr val="FF0000"/>
              </a:solidFill>
            </a:endParaRPr>
          </a:p>
        </p:txBody>
      </p:sp>
      <p:sp>
        <p:nvSpPr>
          <p:cNvPr id="21" name="Oval 14"/>
          <p:cNvSpPr>
            <a:spLocks noChangeArrowheads="1"/>
          </p:cNvSpPr>
          <p:nvPr/>
        </p:nvSpPr>
        <p:spPr bwMode="auto">
          <a:xfrm>
            <a:off x="886264" y="4052668"/>
            <a:ext cx="457200" cy="4572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" presetClass="entr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0"/>
                            </p:stCondLst>
                            <p:childTnLst>
                              <p:par>
                                <p:cTn id="26" presetID="0" presetClass="path" presetSubtype="0" accel="50000" decel="50000" fill="hold" grpId="2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33333E-6 -1.90751E-6 L 0.21667 0.09434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" y="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9000"/>
                            </p:stCondLst>
                            <p:childTnLst>
                              <p:par>
                                <p:cTn id="29" presetID="0" presetClass="path" presetSubtype="0" accel="50000" decel="50000" fill="hold" grpId="2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-1.04046E-6 L -0.20833 0.08879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" y="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3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4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6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7000"/>
                            </p:stCondLst>
                            <p:childTnLst>
                              <p:par>
                                <p:cTn id="47" presetID="1" presetClass="entr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4" grpId="0" animBg="1"/>
      <p:bldP spid="15" grpId="0"/>
      <p:bldP spid="16" grpId="0" animBg="1"/>
      <p:bldP spid="17" grpId="0" animBg="1"/>
      <p:bldP spid="18" grpId="0" animBg="1"/>
      <p:bldP spid="18" grpId="1" animBg="1"/>
      <p:bldP spid="18" grpId="2" animBg="1"/>
      <p:bldP spid="19" grpId="0" animBg="1"/>
      <p:bldP spid="19" grpId="1" animBg="1"/>
      <p:bldP spid="19" grpId="2" animBg="1"/>
      <p:bldP spid="20" grpId="0" animBg="1"/>
      <p:bldP spid="21" grpId="0" animBg="1"/>
      <p:bldP spid="21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Released </a:t>
            </a:r>
            <a:r>
              <a:rPr lang="en-US" dirty="0" smtClean="0"/>
              <a:t>TAKS Question</a:t>
            </a:r>
            <a:endParaRPr lang="en-US" dirty="0" smtClean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4525963"/>
          </a:xfrm>
        </p:spPr>
        <p:txBody>
          <a:bodyPr/>
          <a:lstStyle/>
          <a:p>
            <a:pPr eaLnBrk="1" hangingPunct="1"/>
            <a:endParaRPr lang="en-US" sz="2400" dirty="0" smtClean="0">
              <a:sym typeface="Wingdings" pitchFamily="2" charset="2"/>
            </a:endParaRPr>
          </a:p>
          <a:p>
            <a:pPr eaLnBrk="1" hangingPunct="1"/>
            <a:endParaRPr lang="en-US" sz="2400" dirty="0" smtClean="0">
              <a:sym typeface="Wingdings" pitchFamily="2" charset="2"/>
            </a:endParaRPr>
          </a:p>
          <a:p>
            <a:pPr eaLnBrk="1" hangingPunct="1">
              <a:buNone/>
            </a:pPr>
            <a:r>
              <a:rPr lang="en-US" sz="2400" dirty="0" smtClean="0">
                <a:sym typeface="Wingdings" pitchFamily="2" charset="2"/>
              </a:rPr>
              <a:t>According </a:t>
            </a:r>
            <a:r>
              <a:rPr lang="en-US" sz="2400" dirty="0" smtClean="0">
                <a:sym typeface="Wingdings" pitchFamily="2" charset="2"/>
              </a:rPr>
              <a:t>to this information, what is the chemical </a:t>
            </a:r>
            <a:r>
              <a:rPr lang="en-US" sz="2400" dirty="0" smtClean="0">
                <a:sym typeface="Wingdings" pitchFamily="2" charset="2"/>
              </a:rPr>
              <a:t>formula for </a:t>
            </a:r>
            <a:r>
              <a:rPr lang="en-US" sz="2400" dirty="0" smtClean="0">
                <a:sym typeface="Wingdings" pitchFamily="2" charset="2"/>
              </a:rPr>
              <a:t>aluminum sulfate?</a:t>
            </a:r>
          </a:p>
          <a:p>
            <a:pPr eaLnBrk="1" hangingPunct="1"/>
            <a:endParaRPr lang="en-US" sz="2400" dirty="0" smtClean="0">
              <a:sym typeface="Wingdings" pitchFamily="2" charset="2"/>
            </a:endParaRPr>
          </a:p>
          <a:p>
            <a:pPr lvl="1" eaLnBrk="1" hangingPunct="1">
              <a:buNone/>
            </a:pPr>
            <a:r>
              <a:rPr lang="en-US" sz="2000" dirty="0" smtClean="0">
                <a:sym typeface="Wingdings" pitchFamily="2" charset="2"/>
              </a:rPr>
              <a:t>A)  AlSO</a:t>
            </a:r>
            <a:r>
              <a:rPr lang="en-US" sz="2000" baseline="-25000" dirty="0" smtClean="0">
                <a:sym typeface="Wingdings" pitchFamily="2" charset="2"/>
              </a:rPr>
              <a:t>4</a:t>
            </a:r>
          </a:p>
          <a:p>
            <a:pPr lvl="1" eaLnBrk="1" hangingPunct="1">
              <a:buNone/>
            </a:pPr>
            <a:r>
              <a:rPr lang="en-US" sz="2000" dirty="0" smtClean="0">
                <a:sym typeface="Wingdings" pitchFamily="2" charset="2"/>
              </a:rPr>
              <a:t>B)  Al</a:t>
            </a:r>
            <a:r>
              <a:rPr lang="en-US" sz="2000" baseline="-25000" dirty="0" smtClean="0">
                <a:sym typeface="Wingdings" pitchFamily="2" charset="2"/>
              </a:rPr>
              <a:t>2</a:t>
            </a:r>
            <a:r>
              <a:rPr lang="en-US" sz="2000" dirty="0" smtClean="0">
                <a:sym typeface="Wingdings" pitchFamily="2" charset="2"/>
              </a:rPr>
              <a:t>(SO</a:t>
            </a:r>
            <a:r>
              <a:rPr lang="en-US" sz="2000" baseline="-25000" dirty="0" smtClean="0">
                <a:sym typeface="Wingdings" pitchFamily="2" charset="2"/>
              </a:rPr>
              <a:t>4</a:t>
            </a:r>
            <a:r>
              <a:rPr lang="en-US" sz="2000" dirty="0" smtClean="0">
                <a:sym typeface="Wingdings" pitchFamily="2" charset="2"/>
              </a:rPr>
              <a:t>)</a:t>
            </a:r>
            <a:r>
              <a:rPr lang="en-US" sz="2000" baseline="-25000" dirty="0" smtClean="0">
                <a:sym typeface="Wingdings" pitchFamily="2" charset="2"/>
              </a:rPr>
              <a:t>3</a:t>
            </a:r>
          </a:p>
          <a:p>
            <a:pPr lvl="1" eaLnBrk="1" hangingPunct="1">
              <a:buNone/>
            </a:pPr>
            <a:r>
              <a:rPr lang="en-US" sz="2000" dirty="0" smtClean="0">
                <a:sym typeface="Wingdings" pitchFamily="2" charset="2"/>
              </a:rPr>
              <a:t>C) </a:t>
            </a:r>
            <a:r>
              <a:rPr lang="en-US" sz="2000" dirty="0" smtClean="0">
                <a:sym typeface="Wingdings" pitchFamily="2" charset="2"/>
              </a:rPr>
              <a:t> Al</a:t>
            </a:r>
            <a:r>
              <a:rPr lang="en-US" sz="2000" baseline="-25000" dirty="0" smtClean="0">
                <a:sym typeface="Wingdings" pitchFamily="2" charset="2"/>
              </a:rPr>
              <a:t>3</a:t>
            </a:r>
            <a:r>
              <a:rPr lang="en-US" sz="2000" dirty="0" smtClean="0">
                <a:sym typeface="Wingdings" pitchFamily="2" charset="2"/>
              </a:rPr>
              <a:t>(SO</a:t>
            </a:r>
            <a:r>
              <a:rPr lang="en-US" sz="2000" baseline="-25000" dirty="0" smtClean="0">
                <a:sym typeface="Wingdings" pitchFamily="2" charset="2"/>
              </a:rPr>
              <a:t>4</a:t>
            </a:r>
            <a:r>
              <a:rPr lang="en-US" sz="2000" dirty="0" smtClean="0">
                <a:sym typeface="Wingdings" pitchFamily="2" charset="2"/>
              </a:rPr>
              <a:t>)</a:t>
            </a:r>
            <a:r>
              <a:rPr lang="en-US" sz="2000" baseline="-25000" dirty="0" smtClean="0">
                <a:sym typeface="Wingdings" pitchFamily="2" charset="2"/>
              </a:rPr>
              <a:t>2</a:t>
            </a:r>
            <a:endParaRPr lang="en-US" sz="2000" baseline="-25000" dirty="0" smtClean="0">
              <a:sym typeface="Wingdings" pitchFamily="2" charset="2"/>
            </a:endParaRPr>
          </a:p>
          <a:p>
            <a:pPr lvl="1" eaLnBrk="1" hangingPunct="1">
              <a:buNone/>
            </a:pPr>
            <a:r>
              <a:rPr lang="en-US" sz="2000" dirty="0" smtClean="0">
                <a:sym typeface="Wingdings" pitchFamily="2" charset="2"/>
              </a:rPr>
              <a:t>D</a:t>
            </a:r>
            <a:r>
              <a:rPr lang="en-US" sz="2000" dirty="0" smtClean="0">
                <a:sym typeface="Wingdings" pitchFamily="2" charset="2"/>
              </a:rPr>
              <a:t>)  </a:t>
            </a:r>
            <a:r>
              <a:rPr lang="en-US" sz="2000" dirty="0" smtClean="0">
                <a:sym typeface="Wingdings" pitchFamily="2" charset="2"/>
              </a:rPr>
              <a:t>Al</a:t>
            </a:r>
            <a:r>
              <a:rPr lang="en-US" sz="2000" baseline="-25000" dirty="0" smtClean="0">
                <a:sym typeface="Wingdings" pitchFamily="2" charset="2"/>
              </a:rPr>
              <a:t>6</a:t>
            </a:r>
            <a:r>
              <a:rPr lang="en-US" sz="2000" dirty="0" smtClean="0">
                <a:sym typeface="Wingdings" pitchFamily="2" charset="2"/>
              </a:rPr>
              <a:t>SO</a:t>
            </a:r>
            <a:r>
              <a:rPr lang="en-US" sz="2000" baseline="-25000" dirty="0" smtClean="0">
                <a:sym typeface="Wingdings" pitchFamily="2" charset="2"/>
              </a:rPr>
              <a:t>4</a:t>
            </a:r>
          </a:p>
          <a:p>
            <a:pPr eaLnBrk="1" hangingPunct="1"/>
            <a:endParaRPr lang="en-US" sz="2400" dirty="0" smtClean="0"/>
          </a:p>
        </p:txBody>
      </p:sp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2514600" y="1143000"/>
            <a:ext cx="3124200" cy="838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800"/>
              <a:t>Al</a:t>
            </a:r>
            <a:r>
              <a:rPr lang="en-US" sz="2800" baseline="30000"/>
              <a:t>3+</a:t>
            </a:r>
            <a:r>
              <a:rPr lang="en-US" sz="2800"/>
              <a:t> SO</a:t>
            </a:r>
            <a:r>
              <a:rPr lang="en-US" sz="2800" baseline="-25000"/>
              <a:t>4</a:t>
            </a:r>
            <a:r>
              <a:rPr lang="en-US" sz="2800" baseline="30000"/>
              <a:t>2-</a:t>
            </a:r>
          </a:p>
        </p:txBody>
      </p:sp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3276600" y="2498725"/>
            <a:ext cx="57150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8000"/>
              <a:t>Al</a:t>
            </a:r>
            <a:r>
              <a:rPr lang="en-US" sz="8000" baseline="30000"/>
              <a:t>+3</a:t>
            </a:r>
            <a:r>
              <a:rPr lang="en-US" sz="8000"/>
              <a:t> (SO</a:t>
            </a:r>
            <a:r>
              <a:rPr lang="en-US" sz="8000" baseline="-25000"/>
              <a:t>4</a:t>
            </a:r>
            <a:r>
              <a:rPr lang="en-US" sz="8000"/>
              <a:t>)</a:t>
            </a:r>
            <a:r>
              <a:rPr lang="en-US" sz="8000" baseline="30000"/>
              <a:t>-2</a:t>
            </a:r>
          </a:p>
        </p:txBody>
      </p:sp>
      <p:sp>
        <p:nvSpPr>
          <p:cNvPr id="13" name="Line 4"/>
          <p:cNvSpPr>
            <a:spLocks noChangeShapeType="1"/>
          </p:cNvSpPr>
          <p:nvPr/>
        </p:nvSpPr>
        <p:spPr bwMode="auto">
          <a:xfrm>
            <a:off x="4876800" y="3051175"/>
            <a:ext cx="3352800" cy="1752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" name="Line 5"/>
          <p:cNvSpPr>
            <a:spLocks noChangeShapeType="1"/>
          </p:cNvSpPr>
          <p:nvPr/>
        </p:nvSpPr>
        <p:spPr bwMode="auto">
          <a:xfrm flipH="1">
            <a:off x="4572000" y="3124200"/>
            <a:ext cx="350520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3"/>
          <p:cNvSpPr>
            <a:spLocks noChangeArrowheads="1"/>
          </p:cNvSpPr>
          <p:nvPr/>
        </p:nvSpPr>
        <p:spPr bwMode="auto">
          <a:xfrm>
            <a:off x="4267200" y="2651125"/>
            <a:ext cx="914400" cy="68580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/>
              <a:t>3</a:t>
            </a:r>
          </a:p>
        </p:txBody>
      </p:sp>
      <p:sp>
        <p:nvSpPr>
          <p:cNvPr id="16" name="Oval 6"/>
          <p:cNvSpPr>
            <a:spLocks noChangeArrowheads="1"/>
          </p:cNvSpPr>
          <p:nvPr/>
        </p:nvSpPr>
        <p:spPr bwMode="auto">
          <a:xfrm>
            <a:off x="7800536" y="2651125"/>
            <a:ext cx="914400" cy="6858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/>
              <a:t>2</a:t>
            </a:r>
          </a:p>
        </p:txBody>
      </p:sp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3200400" y="3962400"/>
            <a:ext cx="52578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8000"/>
              <a:t>Al    (SO</a:t>
            </a:r>
            <a:r>
              <a:rPr lang="en-US" sz="8000" baseline="-25000"/>
              <a:t>4</a:t>
            </a:r>
            <a:r>
              <a:rPr lang="en-US" sz="8000"/>
              <a:t>)</a:t>
            </a:r>
            <a:endParaRPr lang="en-US" sz="8000" baseline="-25000"/>
          </a:p>
        </p:txBody>
      </p:sp>
      <p:sp>
        <p:nvSpPr>
          <p:cNvPr id="18" name="Text Box 10"/>
          <p:cNvSpPr txBox="1">
            <a:spLocks noChangeArrowheads="1"/>
          </p:cNvSpPr>
          <p:nvPr/>
        </p:nvSpPr>
        <p:spPr bwMode="auto">
          <a:xfrm>
            <a:off x="3733800" y="5413375"/>
            <a:ext cx="4724400" cy="1368425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0">
                <a:solidFill>
                  <a:srgbClr val="FF0000"/>
                </a:solidFill>
              </a:rPr>
              <a:t>Al</a:t>
            </a:r>
            <a:r>
              <a:rPr lang="en-US" sz="8000" baseline="-25000">
                <a:solidFill>
                  <a:srgbClr val="FF0000"/>
                </a:solidFill>
              </a:rPr>
              <a:t>2</a:t>
            </a:r>
            <a:r>
              <a:rPr lang="en-US" sz="8000">
                <a:solidFill>
                  <a:srgbClr val="FF0000"/>
                </a:solidFill>
              </a:rPr>
              <a:t>(SO</a:t>
            </a:r>
            <a:r>
              <a:rPr lang="en-US" sz="8000" baseline="-25000">
                <a:solidFill>
                  <a:srgbClr val="FF0000"/>
                </a:solidFill>
              </a:rPr>
              <a:t>4</a:t>
            </a:r>
            <a:r>
              <a:rPr lang="en-US" sz="8000">
                <a:solidFill>
                  <a:srgbClr val="FF0000"/>
                </a:solidFill>
              </a:rPr>
              <a:t>)</a:t>
            </a:r>
            <a:r>
              <a:rPr lang="en-US" sz="8000" baseline="-2500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5470525" y="621188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0" name="Oval 14"/>
          <p:cNvSpPr>
            <a:spLocks noChangeArrowheads="1"/>
          </p:cNvSpPr>
          <p:nvPr/>
        </p:nvSpPr>
        <p:spPr bwMode="auto">
          <a:xfrm>
            <a:off x="886264" y="3519268"/>
            <a:ext cx="457200" cy="4572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" presetClass="entr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" presetClass="entr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0"/>
                            </p:stCondLst>
                            <p:childTnLst>
                              <p:par>
                                <p:cTn id="29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46994E-6 L 0.40833 0.28862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4" y="1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9000"/>
                            </p:stCondLst>
                            <p:childTnLst>
                              <p:par>
                                <p:cTn id="32" presetID="0" presetClass="path" presetSubtype="0" accel="50000" decel="50000" fill="hold" grpId="2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6145 0.07447 L -0.39167 0.28538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5" y="1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3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4" grpId="0" animBg="1"/>
      <p:bldP spid="15" grpId="0" animBg="1"/>
      <p:bldP spid="15" grpId="1" animBg="1"/>
      <p:bldP spid="15" grpId="2" animBg="1"/>
      <p:bldP spid="16" grpId="0" animBg="1"/>
      <p:bldP spid="16" grpId="1" animBg="1"/>
      <p:bldP spid="16" grpId="2" animBg="1"/>
      <p:bldP spid="17" grpId="0"/>
      <p:bldP spid="18" grpId="0" animBg="1"/>
      <p:bldP spid="2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Questions?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Good job!!!</a:t>
            </a:r>
          </a:p>
          <a:p>
            <a:pPr eaLnBrk="1" hangingPunct="1"/>
            <a:r>
              <a:rPr lang="en-US" dirty="0" smtClean="0"/>
              <a:t>Don’t forget to put your name on your paper before you turn it in.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0" name="Group 494"/>
          <p:cNvGrpSpPr>
            <a:grpSpLocks/>
          </p:cNvGrpSpPr>
          <p:nvPr/>
        </p:nvGrpSpPr>
        <p:grpSpPr bwMode="auto">
          <a:xfrm>
            <a:off x="6172200" y="0"/>
            <a:ext cx="457200" cy="1981200"/>
            <a:chOff x="6172200" y="0"/>
            <a:chExt cx="457200" cy="1981200"/>
          </a:xfrm>
        </p:grpSpPr>
        <p:sp>
          <p:nvSpPr>
            <p:cNvPr id="27927" name="Rectangle 108" descr="5%"/>
            <p:cNvSpPr>
              <a:spLocks noChangeArrowheads="1"/>
            </p:cNvSpPr>
            <p:nvPr/>
          </p:nvSpPr>
          <p:spPr bwMode="auto">
            <a:xfrm rot="5400000" flipH="1">
              <a:off x="5600700" y="57150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K</a:t>
              </a:r>
              <a:r>
                <a:rPr lang="en-US" sz="3600" baseline="30000"/>
                <a:t>+1</a:t>
              </a:r>
              <a:endParaRPr lang="en-US" sz="3600"/>
            </a:p>
          </p:txBody>
        </p:sp>
        <p:sp>
          <p:nvSpPr>
            <p:cNvPr id="27928" name="AutoShape 210" descr="5%"/>
            <p:cNvSpPr>
              <a:spLocks noChangeArrowheads="1"/>
            </p:cNvSpPr>
            <p:nvPr/>
          </p:nvSpPr>
          <p:spPr bwMode="auto">
            <a:xfrm rot="10800000">
              <a:off x="6172200" y="16002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7651" name="Group 495"/>
          <p:cNvGrpSpPr>
            <a:grpSpLocks/>
          </p:cNvGrpSpPr>
          <p:nvPr/>
        </p:nvGrpSpPr>
        <p:grpSpPr bwMode="auto">
          <a:xfrm>
            <a:off x="0" y="0"/>
            <a:ext cx="1981200" cy="1371600"/>
            <a:chOff x="0" y="0"/>
            <a:chExt cx="1981201" cy="1371600"/>
          </a:xfrm>
        </p:grpSpPr>
        <p:sp>
          <p:nvSpPr>
            <p:cNvPr id="27923" name="Rectangle 35" descr="10%"/>
            <p:cNvSpPr>
              <a:spLocks noChangeArrowheads="1"/>
            </p:cNvSpPr>
            <p:nvPr/>
          </p:nvSpPr>
          <p:spPr bwMode="auto">
            <a:xfrm>
              <a:off x="0" y="0"/>
              <a:ext cx="1600200" cy="1371600"/>
            </a:xfrm>
            <a:prstGeom prst="rect">
              <a:avLst/>
            </a:prstGeom>
            <a:pattFill prst="pct10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B</a:t>
              </a:r>
              <a:r>
                <a:rPr lang="en-US" sz="3600" baseline="30000"/>
                <a:t>+3</a:t>
              </a:r>
              <a:endParaRPr lang="en-US" sz="3600"/>
            </a:p>
          </p:txBody>
        </p:sp>
        <p:sp>
          <p:nvSpPr>
            <p:cNvPr id="27924" name="AutoShape 70" descr="5%"/>
            <p:cNvSpPr>
              <a:spLocks noChangeArrowheads="1"/>
            </p:cNvSpPr>
            <p:nvPr/>
          </p:nvSpPr>
          <p:spPr bwMode="auto">
            <a:xfrm rot="5400000">
              <a:off x="1562101" y="9525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925" name="AutoShape 72" descr="5%"/>
            <p:cNvSpPr>
              <a:spLocks noChangeArrowheads="1"/>
            </p:cNvSpPr>
            <p:nvPr/>
          </p:nvSpPr>
          <p:spPr bwMode="auto">
            <a:xfrm rot="5400000">
              <a:off x="1562101" y="381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926" name="AutoShape 73" descr="5%"/>
            <p:cNvSpPr>
              <a:spLocks noChangeArrowheads="1"/>
            </p:cNvSpPr>
            <p:nvPr/>
          </p:nvSpPr>
          <p:spPr bwMode="auto">
            <a:xfrm rot="5400000">
              <a:off x="1562101" y="4953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7655" name="Group 348"/>
          <p:cNvGrpSpPr>
            <a:grpSpLocks/>
          </p:cNvGrpSpPr>
          <p:nvPr/>
        </p:nvGrpSpPr>
        <p:grpSpPr bwMode="auto">
          <a:xfrm>
            <a:off x="0" y="1371600"/>
            <a:ext cx="1981200" cy="914400"/>
            <a:chOff x="0" y="1371600"/>
            <a:chExt cx="1981200" cy="914400"/>
          </a:xfrm>
        </p:grpSpPr>
        <p:sp>
          <p:nvSpPr>
            <p:cNvPr id="27899" name="Rectangle 181" descr="5%"/>
            <p:cNvSpPr>
              <a:spLocks noChangeArrowheads="1"/>
            </p:cNvSpPr>
            <p:nvPr/>
          </p:nvSpPr>
          <p:spPr bwMode="auto">
            <a:xfrm>
              <a:off x="0" y="1371600"/>
              <a:ext cx="1600200" cy="9144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Ca</a:t>
              </a:r>
              <a:r>
                <a:rPr lang="en-US" sz="3600" baseline="30000"/>
                <a:t>+2</a:t>
              </a:r>
              <a:endParaRPr lang="en-US" sz="3600"/>
            </a:p>
          </p:txBody>
        </p:sp>
        <p:sp>
          <p:nvSpPr>
            <p:cNvPr id="27900" name="AutoShape 72" descr="5%"/>
            <p:cNvSpPr>
              <a:spLocks noChangeArrowheads="1"/>
            </p:cNvSpPr>
            <p:nvPr/>
          </p:nvSpPr>
          <p:spPr bwMode="auto">
            <a:xfrm rot="5400000">
              <a:off x="1562100" y="14097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901" name="AutoShape 73" descr="5%"/>
            <p:cNvSpPr>
              <a:spLocks noChangeArrowheads="1"/>
            </p:cNvSpPr>
            <p:nvPr/>
          </p:nvSpPr>
          <p:spPr bwMode="auto">
            <a:xfrm rot="5400000">
              <a:off x="1562100" y="18669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7656" name="Group 349"/>
          <p:cNvGrpSpPr>
            <a:grpSpLocks/>
          </p:cNvGrpSpPr>
          <p:nvPr/>
        </p:nvGrpSpPr>
        <p:grpSpPr bwMode="auto">
          <a:xfrm>
            <a:off x="0" y="2286000"/>
            <a:ext cx="1981200" cy="914400"/>
            <a:chOff x="0" y="2286000"/>
            <a:chExt cx="1981200" cy="914400"/>
          </a:xfrm>
        </p:grpSpPr>
        <p:sp>
          <p:nvSpPr>
            <p:cNvPr id="27896" name="Rectangle 154" descr="5%"/>
            <p:cNvSpPr>
              <a:spLocks noChangeArrowheads="1"/>
            </p:cNvSpPr>
            <p:nvPr/>
          </p:nvSpPr>
          <p:spPr bwMode="auto">
            <a:xfrm>
              <a:off x="0" y="2286000"/>
              <a:ext cx="1600200" cy="9144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Ca</a:t>
              </a:r>
              <a:r>
                <a:rPr lang="en-US" sz="3600" baseline="30000"/>
                <a:t>+2</a:t>
              </a:r>
              <a:endParaRPr lang="en-US" sz="3600"/>
            </a:p>
          </p:txBody>
        </p:sp>
        <p:sp>
          <p:nvSpPr>
            <p:cNvPr id="27897" name="AutoShape 70" descr="5%"/>
            <p:cNvSpPr>
              <a:spLocks noChangeArrowheads="1"/>
            </p:cNvSpPr>
            <p:nvPr/>
          </p:nvSpPr>
          <p:spPr bwMode="auto">
            <a:xfrm rot="5400000">
              <a:off x="1562100" y="23241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898" name="AutoShape 72" descr="5%"/>
            <p:cNvSpPr>
              <a:spLocks noChangeArrowheads="1"/>
            </p:cNvSpPr>
            <p:nvPr/>
          </p:nvSpPr>
          <p:spPr bwMode="auto">
            <a:xfrm rot="5400000">
              <a:off x="1562100" y="27813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7657" name="Group 350"/>
          <p:cNvGrpSpPr>
            <a:grpSpLocks/>
          </p:cNvGrpSpPr>
          <p:nvPr/>
        </p:nvGrpSpPr>
        <p:grpSpPr bwMode="auto">
          <a:xfrm>
            <a:off x="0" y="3200400"/>
            <a:ext cx="1981200" cy="457200"/>
            <a:chOff x="0" y="3200400"/>
            <a:chExt cx="1981200" cy="457200"/>
          </a:xfrm>
        </p:grpSpPr>
        <p:sp>
          <p:nvSpPr>
            <p:cNvPr id="27894" name="Rectangle 174" descr="5%"/>
            <p:cNvSpPr>
              <a:spLocks noChangeArrowheads="1"/>
            </p:cNvSpPr>
            <p:nvPr/>
          </p:nvSpPr>
          <p:spPr bwMode="auto">
            <a:xfrm flipH="1">
              <a:off x="0" y="320040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Li</a:t>
              </a:r>
              <a:r>
                <a:rPr lang="en-US" sz="3600" baseline="30000"/>
                <a:t>+1</a:t>
              </a:r>
              <a:endParaRPr lang="en-US" sz="3600"/>
            </a:p>
          </p:txBody>
        </p:sp>
        <p:sp>
          <p:nvSpPr>
            <p:cNvPr id="27895" name="AutoShape 73" descr="5%"/>
            <p:cNvSpPr>
              <a:spLocks noChangeArrowheads="1"/>
            </p:cNvSpPr>
            <p:nvPr/>
          </p:nvSpPr>
          <p:spPr bwMode="auto">
            <a:xfrm rot="5400000">
              <a:off x="1562100" y="32385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7658" name="Group 351"/>
          <p:cNvGrpSpPr>
            <a:grpSpLocks/>
          </p:cNvGrpSpPr>
          <p:nvPr/>
        </p:nvGrpSpPr>
        <p:grpSpPr bwMode="auto">
          <a:xfrm>
            <a:off x="0" y="3657600"/>
            <a:ext cx="1981200" cy="914400"/>
            <a:chOff x="0" y="3657600"/>
            <a:chExt cx="1981200" cy="914400"/>
          </a:xfrm>
        </p:grpSpPr>
        <p:sp>
          <p:nvSpPr>
            <p:cNvPr id="27891" name="Rectangle 62" descr="5%"/>
            <p:cNvSpPr>
              <a:spLocks noChangeArrowheads="1"/>
            </p:cNvSpPr>
            <p:nvPr/>
          </p:nvSpPr>
          <p:spPr bwMode="auto">
            <a:xfrm>
              <a:off x="0" y="3657600"/>
              <a:ext cx="1600200" cy="9144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 dirty="0"/>
                <a:t>Mg</a:t>
              </a:r>
              <a:r>
                <a:rPr lang="en-US" sz="3600" baseline="30000" dirty="0"/>
                <a:t>+2</a:t>
              </a:r>
              <a:endParaRPr lang="en-US" sz="3600" dirty="0"/>
            </a:p>
          </p:txBody>
        </p:sp>
        <p:sp>
          <p:nvSpPr>
            <p:cNvPr id="27892" name="AutoShape 70" descr="5%"/>
            <p:cNvSpPr>
              <a:spLocks noChangeArrowheads="1"/>
            </p:cNvSpPr>
            <p:nvPr/>
          </p:nvSpPr>
          <p:spPr bwMode="auto">
            <a:xfrm rot="5400000">
              <a:off x="1562100" y="36957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893" name="AutoShape 72" descr="5%"/>
            <p:cNvSpPr>
              <a:spLocks noChangeArrowheads="1"/>
            </p:cNvSpPr>
            <p:nvPr/>
          </p:nvSpPr>
          <p:spPr bwMode="auto">
            <a:xfrm rot="5400000">
              <a:off x="1562100" y="41529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7659" name="Group 352"/>
          <p:cNvGrpSpPr>
            <a:grpSpLocks/>
          </p:cNvGrpSpPr>
          <p:nvPr/>
        </p:nvGrpSpPr>
        <p:grpSpPr bwMode="auto">
          <a:xfrm>
            <a:off x="0" y="4572000"/>
            <a:ext cx="1981200" cy="457200"/>
            <a:chOff x="0" y="4572000"/>
            <a:chExt cx="1981200" cy="457200"/>
          </a:xfrm>
        </p:grpSpPr>
        <p:sp>
          <p:nvSpPr>
            <p:cNvPr id="27889" name="Rectangle 103" descr="5%"/>
            <p:cNvSpPr>
              <a:spLocks noChangeArrowheads="1"/>
            </p:cNvSpPr>
            <p:nvPr/>
          </p:nvSpPr>
          <p:spPr bwMode="auto">
            <a:xfrm flipH="1">
              <a:off x="0" y="457200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Na</a:t>
              </a:r>
              <a:r>
                <a:rPr lang="en-US" sz="3600" baseline="30000"/>
                <a:t>+1</a:t>
              </a:r>
              <a:endParaRPr lang="en-US" sz="3600"/>
            </a:p>
          </p:txBody>
        </p:sp>
        <p:sp>
          <p:nvSpPr>
            <p:cNvPr id="27890" name="AutoShape 73" descr="5%"/>
            <p:cNvSpPr>
              <a:spLocks noChangeArrowheads="1"/>
            </p:cNvSpPr>
            <p:nvPr/>
          </p:nvSpPr>
          <p:spPr bwMode="auto">
            <a:xfrm rot="5400000">
              <a:off x="1562100" y="46101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7660" name="Group 355"/>
          <p:cNvGrpSpPr>
            <a:grpSpLocks/>
          </p:cNvGrpSpPr>
          <p:nvPr/>
        </p:nvGrpSpPr>
        <p:grpSpPr bwMode="auto">
          <a:xfrm>
            <a:off x="0" y="6400800"/>
            <a:ext cx="1981200" cy="457200"/>
            <a:chOff x="0" y="6400800"/>
            <a:chExt cx="1981200" cy="457200"/>
          </a:xfrm>
        </p:grpSpPr>
        <p:sp>
          <p:nvSpPr>
            <p:cNvPr id="27887" name="Rectangle 88" descr="5%"/>
            <p:cNvSpPr>
              <a:spLocks noChangeArrowheads="1"/>
            </p:cNvSpPr>
            <p:nvPr/>
          </p:nvSpPr>
          <p:spPr bwMode="auto">
            <a:xfrm flipH="1">
              <a:off x="0" y="640080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K</a:t>
              </a:r>
              <a:r>
                <a:rPr lang="en-US" sz="3600" baseline="30000"/>
                <a:t>+1</a:t>
              </a:r>
              <a:endParaRPr lang="en-US" sz="3600"/>
            </a:p>
          </p:txBody>
        </p:sp>
        <p:sp>
          <p:nvSpPr>
            <p:cNvPr id="27888" name="AutoShape 70" descr="5%"/>
            <p:cNvSpPr>
              <a:spLocks noChangeArrowheads="1"/>
            </p:cNvSpPr>
            <p:nvPr/>
          </p:nvSpPr>
          <p:spPr bwMode="auto">
            <a:xfrm rot="5400000">
              <a:off x="1562100" y="64389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7661" name="Group 353"/>
          <p:cNvGrpSpPr>
            <a:grpSpLocks/>
          </p:cNvGrpSpPr>
          <p:nvPr/>
        </p:nvGrpSpPr>
        <p:grpSpPr bwMode="auto">
          <a:xfrm>
            <a:off x="0" y="5029200"/>
            <a:ext cx="1981200" cy="914400"/>
            <a:chOff x="0" y="5029200"/>
            <a:chExt cx="1981200" cy="914400"/>
          </a:xfrm>
        </p:grpSpPr>
        <p:sp>
          <p:nvSpPr>
            <p:cNvPr id="27884" name="Rectangle 189" descr="5%"/>
            <p:cNvSpPr>
              <a:spLocks noChangeArrowheads="1"/>
            </p:cNvSpPr>
            <p:nvPr/>
          </p:nvSpPr>
          <p:spPr bwMode="auto">
            <a:xfrm>
              <a:off x="0" y="5029200"/>
              <a:ext cx="1600200" cy="9144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Ca</a:t>
              </a:r>
              <a:r>
                <a:rPr lang="en-US" sz="3600" baseline="30000"/>
                <a:t>+2</a:t>
              </a:r>
              <a:endParaRPr lang="en-US" sz="3600"/>
            </a:p>
          </p:txBody>
        </p:sp>
        <p:sp>
          <p:nvSpPr>
            <p:cNvPr id="27885" name="AutoShape 70" descr="5%"/>
            <p:cNvSpPr>
              <a:spLocks noChangeArrowheads="1"/>
            </p:cNvSpPr>
            <p:nvPr/>
          </p:nvSpPr>
          <p:spPr bwMode="auto">
            <a:xfrm rot="5400000">
              <a:off x="1562100" y="50673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886" name="AutoShape 72" descr="5%"/>
            <p:cNvSpPr>
              <a:spLocks noChangeArrowheads="1"/>
            </p:cNvSpPr>
            <p:nvPr/>
          </p:nvSpPr>
          <p:spPr bwMode="auto">
            <a:xfrm rot="5400000">
              <a:off x="1562100" y="55245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7662" name="Group 354"/>
          <p:cNvGrpSpPr>
            <a:grpSpLocks/>
          </p:cNvGrpSpPr>
          <p:nvPr/>
        </p:nvGrpSpPr>
        <p:grpSpPr bwMode="auto">
          <a:xfrm>
            <a:off x="0" y="5943600"/>
            <a:ext cx="1981200" cy="457200"/>
            <a:chOff x="0" y="5943600"/>
            <a:chExt cx="1981200" cy="457200"/>
          </a:xfrm>
        </p:grpSpPr>
        <p:sp>
          <p:nvSpPr>
            <p:cNvPr id="27882" name="Rectangle 93" descr="5%"/>
            <p:cNvSpPr>
              <a:spLocks noChangeArrowheads="1"/>
            </p:cNvSpPr>
            <p:nvPr/>
          </p:nvSpPr>
          <p:spPr bwMode="auto">
            <a:xfrm flipH="1">
              <a:off x="0" y="594360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Na</a:t>
              </a:r>
              <a:r>
                <a:rPr lang="en-US" sz="3600" baseline="30000"/>
                <a:t>+1</a:t>
              </a:r>
              <a:endParaRPr lang="en-US" sz="3600"/>
            </a:p>
          </p:txBody>
        </p:sp>
        <p:sp>
          <p:nvSpPr>
            <p:cNvPr id="27883" name="AutoShape 73" descr="5%"/>
            <p:cNvSpPr>
              <a:spLocks noChangeArrowheads="1"/>
            </p:cNvSpPr>
            <p:nvPr/>
          </p:nvSpPr>
          <p:spPr bwMode="auto">
            <a:xfrm rot="5400000">
              <a:off x="1562100" y="59817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7663" name="Group 356"/>
          <p:cNvGrpSpPr>
            <a:grpSpLocks/>
          </p:cNvGrpSpPr>
          <p:nvPr/>
        </p:nvGrpSpPr>
        <p:grpSpPr bwMode="auto">
          <a:xfrm>
            <a:off x="1995488" y="0"/>
            <a:ext cx="1966912" cy="457200"/>
            <a:chOff x="1995268" y="0"/>
            <a:chExt cx="1967132" cy="457200"/>
          </a:xfrm>
        </p:grpSpPr>
        <p:sp>
          <p:nvSpPr>
            <p:cNvPr id="27875" name="Rectangle 3" descr="5%"/>
            <p:cNvSpPr>
              <a:spLocks noChangeArrowheads="1"/>
            </p:cNvSpPr>
            <p:nvPr/>
          </p:nvSpPr>
          <p:spPr bwMode="auto">
            <a:xfrm>
              <a:off x="2362200" y="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Cl</a:t>
              </a:r>
              <a:r>
                <a:rPr lang="en-US" sz="3600" baseline="30000"/>
                <a:t>-1</a:t>
              </a:r>
              <a:endParaRPr lang="en-US" sz="3600"/>
            </a:p>
          </p:txBody>
        </p:sp>
        <p:grpSp>
          <p:nvGrpSpPr>
            <p:cNvPr id="27876" name="Group 273"/>
            <p:cNvGrpSpPr>
              <a:grpSpLocks/>
            </p:cNvGrpSpPr>
            <p:nvPr/>
          </p:nvGrpSpPr>
          <p:grpSpPr bwMode="auto">
            <a:xfrm rot="10800000">
              <a:off x="1995268" y="0"/>
              <a:ext cx="366932" cy="457200"/>
              <a:chOff x="-762000" y="0"/>
              <a:chExt cx="366932" cy="457200"/>
            </a:xfrm>
          </p:grpSpPr>
          <p:cxnSp>
            <p:nvCxnSpPr>
              <p:cNvPr id="275" name="Straight Connector 274"/>
              <p:cNvCxnSpPr/>
              <p:nvPr/>
            </p:nvCxnSpPr>
            <p:spPr>
              <a:xfrm>
                <a:off x="-761821" y="0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Straight Connector 275"/>
              <p:cNvCxnSpPr/>
              <p:nvPr/>
            </p:nvCxnSpPr>
            <p:spPr>
              <a:xfrm>
                <a:off x="-761821" y="458788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Straight Connector 276"/>
              <p:cNvCxnSpPr/>
              <p:nvPr/>
            </p:nvCxnSpPr>
            <p:spPr>
              <a:xfrm flipV="1">
                <a:off x="-761821" y="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Straight Connector 277"/>
              <p:cNvCxnSpPr/>
              <p:nvPr/>
            </p:nvCxnSpPr>
            <p:spPr>
              <a:xfrm rot="5400000">
                <a:off x="-992009" y="230187"/>
                <a:ext cx="457201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Straight Connector 278"/>
              <p:cNvCxnSpPr/>
              <p:nvPr/>
            </p:nvCxnSpPr>
            <p:spPr>
              <a:xfrm>
                <a:off x="-761821" y="2286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664" name="Group 357"/>
          <p:cNvGrpSpPr>
            <a:grpSpLocks/>
          </p:cNvGrpSpPr>
          <p:nvPr/>
        </p:nvGrpSpPr>
        <p:grpSpPr bwMode="auto">
          <a:xfrm>
            <a:off x="1995488" y="457200"/>
            <a:ext cx="1966912" cy="457200"/>
            <a:chOff x="1995268" y="457200"/>
            <a:chExt cx="1967132" cy="457200"/>
          </a:xfrm>
        </p:grpSpPr>
        <p:sp>
          <p:nvSpPr>
            <p:cNvPr id="27868" name="Rectangle 6" descr="5%"/>
            <p:cNvSpPr>
              <a:spLocks noChangeArrowheads="1"/>
            </p:cNvSpPr>
            <p:nvPr/>
          </p:nvSpPr>
          <p:spPr bwMode="auto">
            <a:xfrm>
              <a:off x="2362200" y="45720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Cl</a:t>
              </a:r>
              <a:r>
                <a:rPr lang="en-US" sz="3600" baseline="30000"/>
                <a:t>-1</a:t>
              </a:r>
              <a:endParaRPr lang="en-US" sz="3600"/>
            </a:p>
          </p:txBody>
        </p:sp>
        <p:grpSp>
          <p:nvGrpSpPr>
            <p:cNvPr id="27869" name="Group 279"/>
            <p:cNvGrpSpPr>
              <a:grpSpLocks/>
            </p:cNvGrpSpPr>
            <p:nvPr/>
          </p:nvGrpSpPr>
          <p:grpSpPr bwMode="auto">
            <a:xfrm rot="10800000">
              <a:off x="1995268" y="457200"/>
              <a:ext cx="366932" cy="457200"/>
              <a:chOff x="-762000" y="0"/>
              <a:chExt cx="366932" cy="457200"/>
            </a:xfrm>
          </p:grpSpPr>
          <p:cxnSp>
            <p:nvCxnSpPr>
              <p:cNvPr id="281" name="Straight Connector 280"/>
              <p:cNvCxnSpPr/>
              <p:nvPr/>
            </p:nvCxnSpPr>
            <p:spPr>
              <a:xfrm>
                <a:off x="-761821" y="1587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Straight Connector 281"/>
              <p:cNvCxnSpPr/>
              <p:nvPr/>
            </p:nvCxnSpPr>
            <p:spPr>
              <a:xfrm>
                <a:off x="-761821" y="458787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Straight Connector 282"/>
              <p:cNvCxnSpPr/>
              <p:nvPr/>
            </p:nvCxnSpPr>
            <p:spPr>
              <a:xfrm flipV="1">
                <a:off x="-761821" y="1587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4" name="Straight Connector 283"/>
              <p:cNvCxnSpPr/>
              <p:nvPr/>
            </p:nvCxnSpPr>
            <p:spPr>
              <a:xfrm rot="5400000">
                <a:off x="-992009" y="230187"/>
                <a:ext cx="4572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5" name="Straight Connector 284"/>
              <p:cNvCxnSpPr/>
              <p:nvPr/>
            </p:nvCxnSpPr>
            <p:spPr>
              <a:xfrm>
                <a:off x="-761821" y="230187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665" name="Group 358"/>
          <p:cNvGrpSpPr>
            <a:grpSpLocks/>
          </p:cNvGrpSpPr>
          <p:nvPr/>
        </p:nvGrpSpPr>
        <p:grpSpPr bwMode="auto">
          <a:xfrm>
            <a:off x="1995488" y="914400"/>
            <a:ext cx="1966912" cy="457200"/>
            <a:chOff x="1995268" y="914400"/>
            <a:chExt cx="1967132" cy="457200"/>
          </a:xfrm>
        </p:grpSpPr>
        <p:sp>
          <p:nvSpPr>
            <p:cNvPr id="27861" name="Rectangle 9" descr="5%"/>
            <p:cNvSpPr>
              <a:spLocks noChangeArrowheads="1"/>
            </p:cNvSpPr>
            <p:nvPr/>
          </p:nvSpPr>
          <p:spPr bwMode="auto">
            <a:xfrm>
              <a:off x="2362200" y="91440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Cl</a:t>
              </a:r>
              <a:r>
                <a:rPr lang="en-US" sz="3600" baseline="30000"/>
                <a:t>-1</a:t>
              </a:r>
              <a:endParaRPr lang="en-US" sz="3600"/>
            </a:p>
          </p:txBody>
        </p:sp>
        <p:grpSp>
          <p:nvGrpSpPr>
            <p:cNvPr id="27862" name="Group 285"/>
            <p:cNvGrpSpPr>
              <a:grpSpLocks/>
            </p:cNvGrpSpPr>
            <p:nvPr/>
          </p:nvGrpSpPr>
          <p:grpSpPr bwMode="auto">
            <a:xfrm rot="10800000">
              <a:off x="1995268" y="914400"/>
              <a:ext cx="366932" cy="457200"/>
              <a:chOff x="-762000" y="0"/>
              <a:chExt cx="366932" cy="457200"/>
            </a:xfrm>
          </p:grpSpPr>
          <p:cxnSp>
            <p:nvCxnSpPr>
              <p:cNvPr id="287" name="Straight Connector 286"/>
              <p:cNvCxnSpPr/>
              <p:nvPr/>
            </p:nvCxnSpPr>
            <p:spPr>
              <a:xfrm>
                <a:off x="-761821" y="0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Straight Connector 287"/>
              <p:cNvCxnSpPr/>
              <p:nvPr/>
            </p:nvCxnSpPr>
            <p:spPr>
              <a:xfrm>
                <a:off x="-761821" y="457200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Straight Connector 288"/>
              <p:cNvCxnSpPr/>
              <p:nvPr/>
            </p:nvCxnSpPr>
            <p:spPr>
              <a:xfrm flipV="1">
                <a:off x="-761821" y="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Connector 289"/>
              <p:cNvCxnSpPr/>
              <p:nvPr/>
            </p:nvCxnSpPr>
            <p:spPr>
              <a:xfrm rot="5400000">
                <a:off x="-992009" y="228600"/>
                <a:ext cx="4572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Straight Connector 290"/>
              <p:cNvCxnSpPr/>
              <p:nvPr/>
            </p:nvCxnSpPr>
            <p:spPr>
              <a:xfrm>
                <a:off x="-761821" y="2286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666" name="Group 359"/>
          <p:cNvGrpSpPr>
            <a:grpSpLocks/>
          </p:cNvGrpSpPr>
          <p:nvPr/>
        </p:nvGrpSpPr>
        <p:grpSpPr bwMode="auto">
          <a:xfrm>
            <a:off x="1995488" y="1371600"/>
            <a:ext cx="1966912" cy="457200"/>
            <a:chOff x="1995268" y="1371599"/>
            <a:chExt cx="1967132" cy="457201"/>
          </a:xfrm>
        </p:grpSpPr>
        <p:sp>
          <p:nvSpPr>
            <p:cNvPr id="27854" name="Rectangle 148" descr="5%"/>
            <p:cNvSpPr>
              <a:spLocks noChangeArrowheads="1"/>
            </p:cNvSpPr>
            <p:nvPr/>
          </p:nvSpPr>
          <p:spPr bwMode="auto">
            <a:xfrm>
              <a:off x="2362200" y="137160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F</a:t>
              </a:r>
              <a:r>
                <a:rPr lang="en-US" sz="3600" baseline="30000"/>
                <a:t>-1</a:t>
              </a:r>
              <a:endParaRPr lang="en-US" sz="3600"/>
            </a:p>
          </p:txBody>
        </p:sp>
        <p:grpSp>
          <p:nvGrpSpPr>
            <p:cNvPr id="27855" name="Group 291"/>
            <p:cNvGrpSpPr>
              <a:grpSpLocks/>
            </p:cNvGrpSpPr>
            <p:nvPr/>
          </p:nvGrpSpPr>
          <p:grpSpPr bwMode="auto">
            <a:xfrm rot="10800000">
              <a:off x="1995268" y="1371599"/>
              <a:ext cx="366932" cy="457200"/>
              <a:chOff x="-762000" y="0"/>
              <a:chExt cx="366932" cy="457200"/>
            </a:xfrm>
          </p:grpSpPr>
          <p:cxnSp>
            <p:nvCxnSpPr>
              <p:cNvPr id="293" name="Straight Connector 292"/>
              <p:cNvCxnSpPr/>
              <p:nvPr/>
            </p:nvCxnSpPr>
            <p:spPr>
              <a:xfrm>
                <a:off x="-761821" y="-1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Straight Connector 293"/>
              <p:cNvCxnSpPr/>
              <p:nvPr/>
            </p:nvCxnSpPr>
            <p:spPr>
              <a:xfrm>
                <a:off x="-760234" y="457200"/>
                <a:ext cx="366754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Straight Connector 294"/>
              <p:cNvCxnSpPr/>
              <p:nvPr/>
            </p:nvCxnSpPr>
            <p:spPr>
              <a:xfrm flipV="1">
                <a:off x="-760234" y="-1"/>
                <a:ext cx="366754" cy="228601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Straight Connector 295"/>
              <p:cNvCxnSpPr/>
              <p:nvPr/>
            </p:nvCxnSpPr>
            <p:spPr>
              <a:xfrm rot="5400000">
                <a:off x="-990421" y="228599"/>
                <a:ext cx="457201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Straight Connector 296"/>
              <p:cNvCxnSpPr/>
              <p:nvPr/>
            </p:nvCxnSpPr>
            <p:spPr>
              <a:xfrm>
                <a:off x="-760234" y="228599"/>
                <a:ext cx="366754" cy="228601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667" name="Group 362"/>
          <p:cNvGrpSpPr>
            <a:grpSpLocks/>
          </p:cNvGrpSpPr>
          <p:nvPr/>
        </p:nvGrpSpPr>
        <p:grpSpPr bwMode="auto">
          <a:xfrm>
            <a:off x="1995488" y="3657600"/>
            <a:ext cx="1966912" cy="457200"/>
            <a:chOff x="1995269" y="3657600"/>
            <a:chExt cx="1967131" cy="457200"/>
          </a:xfrm>
        </p:grpSpPr>
        <p:sp>
          <p:nvSpPr>
            <p:cNvPr id="27847" name="Rectangle 145" descr="5%"/>
            <p:cNvSpPr>
              <a:spLocks noChangeArrowheads="1"/>
            </p:cNvSpPr>
            <p:nvPr/>
          </p:nvSpPr>
          <p:spPr bwMode="auto">
            <a:xfrm>
              <a:off x="2362200" y="365760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F</a:t>
              </a:r>
              <a:r>
                <a:rPr lang="en-US" sz="3600" baseline="30000"/>
                <a:t>-1</a:t>
              </a:r>
              <a:endParaRPr lang="en-US" sz="3600"/>
            </a:p>
          </p:txBody>
        </p:sp>
        <p:grpSp>
          <p:nvGrpSpPr>
            <p:cNvPr id="27848" name="Group 297"/>
            <p:cNvGrpSpPr>
              <a:grpSpLocks/>
            </p:cNvGrpSpPr>
            <p:nvPr/>
          </p:nvGrpSpPr>
          <p:grpSpPr bwMode="auto">
            <a:xfrm rot="10800000">
              <a:off x="1995269" y="3657600"/>
              <a:ext cx="366932" cy="457200"/>
              <a:chOff x="-762000" y="0"/>
              <a:chExt cx="366932" cy="457200"/>
            </a:xfrm>
          </p:grpSpPr>
          <p:cxnSp>
            <p:nvCxnSpPr>
              <p:cNvPr id="299" name="Straight Connector 298"/>
              <p:cNvCxnSpPr/>
              <p:nvPr/>
            </p:nvCxnSpPr>
            <p:spPr>
              <a:xfrm>
                <a:off x="-760234" y="0"/>
                <a:ext cx="366754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Straight Connector 299"/>
              <p:cNvCxnSpPr/>
              <p:nvPr/>
            </p:nvCxnSpPr>
            <p:spPr>
              <a:xfrm>
                <a:off x="-760234" y="457200"/>
                <a:ext cx="366754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Straight Connector 300"/>
              <p:cNvCxnSpPr/>
              <p:nvPr/>
            </p:nvCxnSpPr>
            <p:spPr>
              <a:xfrm flipV="1">
                <a:off x="-760234" y="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Straight Connector 301"/>
              <p:cNvCxnSpPr/>
              <p:nvPr/>
            </p:nvCxnSpPr>
            <p:spPr>
              <a:xfrm rot="5400000">
                <a:off x="-990421" y="228600"/>
                <a:ext cx="4572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Straight Connector 302"/>
              <p:cNvCxnSpPr/>
              <p:nvPr/>
            </p:nvCxnSpPr>
            <p:spPr>
              <a:xfrm>
                <a:off x="-760234" y="22860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668" name="Group 364"/>
          <p:cNvGrpSpPr>
            <a:grpSpLocks/>
          </p:cNvGrpSpPr>
          <p:nvPr/>
        </p:nvGrpSpPr>
        <p:grpSpPr bwMode="auto">
          <a:xfrm>
            <a:off x="1995488" y="5029200"/>
            <a:ext cx="1966912" cy="457200"/>
            <a:chOff x="1995269" y="5029200"/>
            <a:chExt cx="1967131" cy="457200"/>
          </a:xfrm>
        </p:grpSpPr>
        <p:sp>
          <p:nvSpPr>
            <p:cNvPr id="27840" name="Rectangle 151" descr="5%"/>
            <p:cNvSpPr>
              <a:spLocks noChangeArrowheads="1"/>
            </p:cNvSpPr>
            <p:nvPr/>
          </p:nvSpPr>
          <p:spPr bwMode="auto">
            <a:xfrm>
              <a:off x="2362200" y="502920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F</a:t>
              </a:r>
              <a:r>
                <a:rPr lang="en-US" sz="3600" baseline="30000"/>
                <a:t>-1</a:t>
              </a:r>
              <a:endParaRPr lang="en-US" sz="3600"/>
            </a:p>
          </p:txBody>
        </p:sp>
        <p:grpSp>
          <p:nvGrpSpPr>
            <p:cNvPr id="27841" name="Group 303"/>
            <p:cNvGrpSpPr>
              <a:grpSpLocks/>
            </p:cNvGrpSpPr>
            <p:nvPr/>
          </p:nvGrpSpPr>
          <p:grpSpPr bwMode="auto">
            <a:xfrm rot="10800000">
              <a:off x="1995269" y="5029200"/>
              <a:ext cx="366932" cy="457200"/>
              <a:chOff x="-762000" y="0"/>
              <a:chExt cx="366932" cy="457200"/>
            </a:xfrm>
          </p:grpSpPr>
          <p:cxnSp>
            <p:nvCxnSpPr>
              <p:cNvPr id="305" name="Straight Connector 304"/>
              <p:cNvCxnSpPr/>
              <p:nvPr/>
            </p:nvCxnSpPr>
            <p:spPr>
              <a:xfrm>
                <a:off x="-761821" y="0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Straight Connector 305"/>
              <p:cNvCxnSpPr/>
              <p:nvPr/>
            </p:nvCxnSpPr>
            <p:spPr>
              <a:xfrm>
                <a:off x="-761821" y="457200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" name="Straight Connector 306"/>
              <p:cNvCxnSpPr/>
              <p:nvPr/>
            </p:nvCxnSpPr>
            <p:spPr>
              <a:xfrm flipV="1">
                <a:off x="-761821" y="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8" name="Straight Connector 307"/>
              <p:cNvCxnSpPr/>
              <p:nvPr/>
            </p:nvCxnSpPr>
            <p:spPr>
              <a:xfrm rot="5400000">
                <a:off x="-992009" y="228600"/>
                <a:ext cx="4572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Straight Connector 308"/>
              <p:cNvCxnSpPr/>
              <p:nvPr/>
            </p:nvCxnSpPr>
            <p:spPr>
              <a:xfrm>
                <a:off x="-761821" y="2286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669" name="Group 366"/>
          <p:cNvGrpSpPr>
            <a:grpSpLocks/>
          </p:cNvGrpSpPr>
          <p:nvPr/>
        </p:nvGrpSpPr>
        <p:grpSpPr bwMode="auto">
          <a:xfrm>
            <a:off x="1995488" y="6400800"/>
            <a:ext cx="1966912" cy="457200"/>
            <a:chOff x="1995268" y="6400800"/>
            <a:chExt cx="1967132" cy="457200"/>
          </a:xfrm>
        </p:grpSpPr>
        <p:sp>
          <p:nvSpPr>
            <p:cNvPr id="27833" name="Rectangle 168" descr="5%"/>
            <p:cNvSpPr>
              <a:spLocks noChangeArrowheads="1"/>
            </p:cNvSpPr>
            <p:nvPr/>
          </p:nvSpPr>
          <p:spPr bwMode="auto">
            <a:xfrm>
              <a:off x="2362200" y="640080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Br</a:t>
              </a:r>
              <a:r>
                <a:rPr lang="en-US" sz="3600" baseline="30000"/>
                <a:t>-1</a:t>
              </a:r>
              <a:endParaRPr lang="en-US" sz="3600"/>
            </a:p>
          </p:txBody>
        </p:sp>
        <p:grpSp>
          <p:nvGrpSpPr>
            <p:cNvPr id="27834" name="Group 309"/>
            <p:cNvGrpSpPr>
              <a:grpSpLocks/>
            </p:cNvGrpSpPr>
            <p:nvPr/>
          </p:nvGrpSpPr>
          <p:grpSpPr bwMode="auto">
            <a:xfrm rot="10800000">
              <a:off x="1995268" y="6400800"/>
              <a:ext cx="366932" cy="457200"/>
              <a:chOff x="-762000" y="0"/>
              <a:chExt cx="366932" cy="457200"/>
            </a:xfrm>
          </p:grpSpPr>
          <p:cxnSp>
            <p:nvCxnSpPr>
              <p:cNvPr id="311" name="Straight Connector 310"/>
              <p:cNvCxnSpPr/>
              <p:nvPr/>
            </p:nvCxnSpPr>
            <p:spPr>
              <a:xfrm>
                <a:off x="-761821" y="0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2" name="Straight Connector 311"/>
              <p:cNvCxnSpPr/>
              <p:nvPr/>
            </p:nvCxnSpPr>
            <p:spPr>
              <a:xfrm>
                <a:off x="-761821" y="457200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3" name="Straight Connector 312"/>
              <p:cNvCxnSpPr/>
              <p:nvPr/>
            </p:nvCxnSpPr>
            <p:spPr>
              <a:xfrm flipV="1">
                <a:off x="-761821" y="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" name="Straight Connector 313"/>
              <p:cNvCxnSpPr/>
              <p:nvPr/>
            </p:nvCxnSpPr>
            <p:spPr>
              <a:xfrm rot="5400000">
                <a:off x="-992009" y="228600"/>
                <a:ext cx="4572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5" name="Straight Connector 314"/>
              <p:cNvCxnSpPr/>
              <p:nvPr/>
            </p:nvCxnSpPr>
            <p:spPr>
              <a:xfrm>
                <a:off x="-761821" y="2286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670" name="Group 360"/>
          <p:cNvGrpSpPr>
            <a:grpSpLocks/>
          </p:cNvGrpSpPr>
          <p:nvPr/>
        </p:nvGrpSpPr>
        <p:grpSpPr bwMode="auto">
          <a:xfrm>
            <a:off x="1995488" y="1828800"/>
            <a:ext cx="1966912" cy="914400"/>
            <a:chOff x="1995268" y="1828800"/>
            <a:chExt cx="1967132" cy="914400"/>
          </a:xfrm>
        </p:grpSpPr>
        <p:sp>
          <p:nvSpPr>
            <p:cNvPr id="27824" name="Rectangle 24" descr="5%"/>
            <p:cNvSpPr>
              <a:spLocks noChangeArrowheads="1"/>
            </p:cNvSpPr>
            <p:nvPr/>
          </p:nvSpPr>
          <p:spPr bwMode="auto">
            <a:xfrm>
              <a:off x="2362200" y="1828800"/>
              <a:ext cx="1600200" cy="9144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O</a:t>
              </a:r>
              <a:r>
                <a:rPr lang="en-US" sz="3600" baseline="30000"/>
                <a:t>-2</a:t>
              </a:r>
              <a:endParaRPr lang="en-US" sz="3600"/>
            </a:p>
          </p:txBody>
        </p:sp>
        <p:grpSp>
          <p:nvGrpSpPr>
            <p:cNvPr id="27825" name="Group 315"/>
            <p:cNvGrpSpPr>
              <a:grpSpLocks/>
            </p:cNvGrpSpPr>
            <p:nvPr/>
          </p:nvGrpSpPr>
          <p:grpSpPr bwMode="auto">
            <a:xfrm rot="10800000">
              <a:off x="1995268" y="1828800"/>
              <a:ext cx="366932" cy="914400"/>
              <a:chOff x="-762000" y="2743200"/>
              <a:chExt cx="366932" cy="914400"/>
            </a:xfrm>
          </p:grpSpPr>
          <p:cxnSp>
            <p:nvCxnSpPr>
              <p:cNvPr id="317" name="Straight Connector 316"/>
              <p:cNvCxnSpPr/>
              <p:nvPr/>
            </p:nvCxnSpPr>
            <p:spPr>
              <a:xfrm>
                <a:off x="-760234" y="2743200"/>
                <a:ext cx="366754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" name="Straight Connector 317"/>
              <p:cNvCxnSpPr/>
              <p:nvPr/>
            </p:nvCxnSpPr>
            <p:spPr>
              <a:xfrm>
                <a:off x="-760234" y="3657600"/>
                <a:ext cx="366754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Straight Connector 318"/>
              <p:cNvCxnSpPr/>
              <p:nvPr/>
            </p:nvCxnSpPr>
            <p:spPr>
              <a:xfrm flipV="1">
                <a:off x="-760234" y="320040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0" name="Straight Connector 319"/>
              <p:cNvCxnSpPr/>
              <p:nvPr/>
            </p:nvCxnSpPr>
            <p:spPr>
              <a:xfrm rot="5400000">
                <a:off x="-1219021" y="3200400"/>
                <a:ext cx="9144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Straight Connector 320"/>
              <p:cNvCxnSpPr/>
              <p:nvPr/>
            </p:nvCxnSpPr>
            <p:spPr>
              <a:xfrm>
                <a:off x="-760234" y="297180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Straight Connector 321"/>
              <p:cNvCxnSpPr/>
              <p:nvPr/>
            </p:nvCxnSpPr>
            <p:spPr>
              <a:xfrm>
                <a:off x="-760234" y="342900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Straight Connector 322"/>
              <p:cNvCxnSpPr/>
              <p:nvPr/>
            </p:nvCxnSpPr>
            <p:spPr>
              <a:xfrm flipV="1">
                <a:off x="-760234" y="274320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671" name="Group 361"/>
          <p:cNvGrpSpPr>
            <a:grpSpLocks/>
          </p:cNvGrpSpPr>
          <p:nvPr/>
        </p:nvGrpSpPr>
        <p:grpSpPr bwMode="auto">
          <a:xfrm>
            <a:off x="1995488" y="2743200"/>
            <a:ext cx="1966912" cy="914400"/>
            <a:chOff x="1995268" y="2743200"/>
            <a:chExt cx="1967132" cy="914400"/>
          </a:xfrm>
        </p:grpSpPr>
        <p:sp>
          <p:nvSpPr>
            <p:cNvPr id="27815" name="Rectangle 32" descr="5%"/>
            <p:cNvSpPr>
              <a:spLocks noChangeArrowheads="1"/>
            </p:cNvSpPr>
            <p:nvPr/>
          </p:nvSpPr>
          <p:spPr bwMode="auto">
            <a:xfrm>
              <a:off x="2362200" y="2743200"/>
              <a:ext cx="1600200" cy="9144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O</a:t>
              </a:r>
              <a:r>
                <a:rPr lang="en-US" sz="3600" baseline="30000"/>
                <a:t>-2</a:t>
              </a:r>
              <a:endParaRPr lang="en-US" sz="3600"/>
            </a:p>
          </p:txBody>
        </p:sp>
        <p:grpSp>
          <p:nvGrpSpPr>
            <p:cNvPr id="27816" name="Group 323"/>
            <p:cNvGrpSpPr>
              <a:grpSpLocks/>
            </p:cNvGrpSpPr>
            <p:nvPr/>
          </p:nvGrpSpPr>
          <p:grpSpPr bwMode="auto">
            <a:xfrm rot="10800000">
              <a:off x="1995268" y="2743200"/>
              <a:ext cx="366932" cy="914400"/>
              <a:chOff x="-762000" y="2743200"/>
              <a:chExt cx="366932" cy="914400"/>
            </a:xfrm>
          </p:grpSpPr>
          <p:cxnSp>
            <p:nvCxnSpPr>
              <p:cNvPr id="325" name="Straight Connector 324"/>
              <p:cNvCxnSpPr/>
              <p:nvPr/>
            </p:nvCxnSpPr>
            <p:spPr>
              <a:xfrm>
                <a:off x="-760234" y="2743200"/>
                <a:ext cx="366754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Straight Connector 325"/>
              <p:cNvCxnSpPr/>
              <p:nvPr/>
            </p:nvCxnSpPr>
            <p:spPr>
              <a:xfrm>
                <a:off x="-760234" y="3657600"/>
                <a:ext cx="366754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Straight Connector 326"/>
              <p:cNvCxnSpPr/>
              <p:nvPr/>
            </p:nvCxnSpPr>
            <p:spPr>
              <a:xfrm flipV="1">
                <a:off x="-760234" y="320040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Straight Connector 327"/>
              <p:cNvCxnSpPr/>
              <p:nvPr/>
            </p:nvCxnSpPr>
            <p:spPr>
              <a:xfrm rot="5400000">
                <a:off x="-1219021" y="3200400"/>
                <a:ext cx="9144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Straight Connector 328"/>
              <p:cNvCxnSpPr/>
              <p:nvPr/>
            </p:nvCxnSpPr>
            <p:spPr>
              <a:xfrm>
                <a:off x="-760234" y="297180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0" name="Straight Connector 329"/>
              <p:cNvCxnSpPr/>
              <p:nvPr/>
            </p:nvCxnSpPr>
            <p:spPr>
              <a:xfrm>
                <a:off x="-760234" y="342900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Straight Connector 330"/>
              <p:cNvCxnSpPr/>
              <p:nvPr/>
            </p:nvCxnSpPr>
            <p:spPr>
              <a:xfrm flipV="1">
                <a:off x="-760234" y="274320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672" name="Group 363"/>
          <p:cNvGrpSpPr>
            <a:grpSpLocks/>
          </p:cNvGrpSpPr>
          <p:nvPr/>
        </p:nvGrpSpPr>
        <p:grpSpPr bwMode="auto">
          <a:xfrm>
            <a:off x="1995488" y="4114800"/>
            <a:ext cx="1966912" cy="914400"/>
            <a:chOff x="1995268" y="4114800"/>
            <a:chExt cx="1967132" cy="914400"/>
          </a:xfrm>
        </p:grpSpPr>
        <p:sp>
          <p:nvSpPr>
            <p:cNvPr id="27806" name="Rectangle 28" descr="5%"/>
            <p:cNvSpPr>
              <a:spLocks noChangeArrowheads="1"/>
            </p:cNvSpPr>
            <p:nvPr/>
          </p:nvSpPr>
          <p:spPr bwMode="auto">
            <a:xfrm>
              <a:off x="2362200" y="4114800"/>
              <a:ext cx="1600200" cy="9144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O</a:t>
              </a:r>
              <a:r>
                <a:rPr lang="en-US" sz="3600" baseline="30000"/>
                <a:t>-2</a:t>
              </a:r>
              <a:endParaRPr lang="en-US" sz="3600"/>
            </a:p>
          </p:txBody>
        </p:sp>
        <p:grpSp>
          <p:nvGrpSpPr>
            <p:cNvPr id="27807" name="Group 331"/>
            <p:cNvGrpSpPr>
              <a:grpSpLocks/>
            </p:cNvGrpSpPr>
            <p:nvPr/>
          </p:nvGrpSpPr>
          <p:grpSpPr bwMode="auto">
            <a:xfrm rot="10800000">
              <a:off x="1995268" y="4114800"/>
              <a:ext cx="366932" cy="914400"/>
              <a:chOff x="-762000" y="2743200"/>
              <a:chExt cx="366932" cy="914400"/>
            </a:xfrm>
          </p:grpSpPr>
          <p:cxnSp>
            <p:nvCxnSpPr>
              <p:cNvPr id="333" name="Straight Connector 332"/>
              <p:cNvCxnSpPr/>
              <p:nvPr/>
            </p:nvCxnSpPr>
            <p:spPr>
              <a:xfrm>
                <a:off x="-761821" y="2743200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Straight Connector 333"/>
              <p:cNvCxnSpPr/>
              <p:nvPr/>
            </p:nvCxnSpPr>
            <p:spPr>
              <a:xfrm>
                <a:off x="-761821" y="3657600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Straight Connector 334"/>
              <p:cNvCxnSpPr/>
              <p:nvPr/>
            </p:nvCxnSpPr>
            <p:spPr>
              <a:xfrm flipV="1">
                <a:off x="-761821" y="32004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Straight Connector 335"/>
              <p:cNvCxnSpPr/>
              <p:nvPr/>
            </p:nvCxnSpPr>
            <p:spPr>
              <a:xfrm rot="5400000">
                <a:off x="-1220609" y="3200400"/>
                <a:ext cx="9144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" name="Straight Connector 336"/>
              <p:cNvCxnSpPr/>
              <p:nvPr/>
            </p:nvCxnSpPr>
            <p:spPr>
              <a:xfrm>
                <a:off x="-761821" y="29718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Straight Connector 337"/>
              <p:cNvCxnSpPr/>
              <p:nvPr/>
            </p:nvCxnSpPr>
            <p:spPr>
              <a:xfrm>
                <a:off x="-761821" y="34290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Straight Connector 338"/>
              <p:cNvCxnSpPr/>
              <p:nvPr/>
            </p:nvCxnSpPr>
            <p:spPr>
              <a:xfrm flipV="1">
                <a:off x="-761821" y="27432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673" name="Group 365"/>
          <p:cNvGrpSpPr>
            <a:grpSpLocks/>
          </p:cNvGrpSpPr>
          <p:nvPr/>
        </p:nvGrpSpPr>
        <p:grpSpPr bwMode="auto">
          <a:xfrm>
            <a:off x="1995488" y="5486400"/>
            <a:ext cx="1966912" cy="914400"/>
            <a:chOff x="1995268" y="5486400"/>
            <a:chExt cx="1967132" cy="914400"/>
          </a:xfrm>
        </p:grpSpPr>
        <p:sp>
          <p:nvSpPr>
            <p:cNvPr id="27797" name="Rectangle 120" descr="5%"/>
            <p:cNvSpPr>
              <a:spLocks noChangeArrowheads="1"/>
            </p:cNvSpPr>
            <p:nvPr/>
          </p:nvSpPr>
          <p:spPr bwMode="auto">
            <a:xfrm>
              <a:off x="2362200" y="5486400"/>
              <a:ext cx="1600200" cy="9144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S</a:t>
              </a:r>
              <a:r>
                <a:rPr lang="en-US" sz="3600" baseline="30000"/>
                <a:t>-2</a:t>
              </a:r>
              <a:endParaRPr lang="en-US" sz="3600"/>
            </a:p>
          </p:txBody>
        </p:sp>
        <p:grpSp>
          <p:nvGrpSpPr>
            <p:cNvPr id="27798" name="Group 339"/>
            <p:cNvGrpSpPr>
              <a:grpSpLocks/>
            </p:cNvGrpSpPr>
            <p:nvPr/>
          </p:nvGrpSpPr>
          <p:grpSpPr bwMode="auto">
            <a:xfrm rot="10800000">
              <a:off x="1995268" y="5486400"/>
              <a:ext cx="366932" cy="914400"/>
              <a:chOff x="-762000" y="2743200"/>
              <a:chExt cx="366932" cy="914400"/>
            </a:xfrm>
          </p:grpSpPr>
          <p:cxnSp>
            <p:nvCxnSpPr>
              <p:cNvPr id="341" name="Straight Connector 340"/>
              <p:cNvCxnSpPr/>
              <p:nvPr/>
            </p:nvCxnSpPr>
            <p:spPr>
              <a:xfrm>
                <a:off x="-761821" y="2743200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2" name="Straight Connector 341"/>
              <p:cNvCxnSpPr/>
              <p:nvPr/>
            </p:nvCxnSpPr>
            <p:spPr>
              <a:xfrm>
                <a:off x="-761821" y="3657600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3" name="Straight Connector 342"/>
              <p:cNvCxnSpPr/>
              <p:nvPr/>
            </p:nvCxnSpPr>
            <p:spPr>
              <a:xfrm flipV="1">
                <a:off x="-761821" y="32004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4" name="Straight Connector 343"/>
              <p:cNvCxnSpPr/>
              <p:nvPr/>
            </p:nvCxnSpPr>
            <p:spPr>
              <a:xfrm rot="5400000">
                <a:off x="-1220609" y="3200400"/>
                <a:ext cx="9144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5" name="Straight Connector 344"/>
              <p:cNvCxnSpPr/>
              <p:nvPr/>
            </p:nvCxnSpPr>
            <p:spPr>
              <a:xfrm>
                <a:off x="-761821" y="29718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Straight Connector 345"/>
              <p:cNvCxnSpPr/>
              <p:nvPr/>
            </p:nvCxnSpPr>
            <p:spPr>
              <a:xfrm>
                <a:off x="-761821" y="34290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" name="Straight Connector 346"/>
              <p:cNvCxnSpPr/>
              <p:nvPr/>
            </p:nvCxnSpPr>
            <p:spPr>
              <a:xfrm flipV="1">
                <a:off x="-761821" y="27432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674" name="Group 388"/>
          <p:cNvGrpSpPr>
            <a:grpSpLocks/>
          </p:cNvGrpSpPr>
          <p:nvPr/>
        </p:nvGrpSpPr>
        <p:grpSpPr bwMode="auto">
          <a:xfrm>
            <a:off x="3962400" y="0"/>
            <a:ext cx="1981200" cy="914400"/>
            <a:chOff x="3962400" y="0"/>
            <a:chExt cx="1981200" cy="914400"/>
          </a:xfrm>
        </p:grpSpPr>
        <p:sp>
          <p:nvSpPr>
            <p:cNvPr id="27794" name="Rectangle 46" descr="5%"/>
            <p:cNvSpPr>
              <a:spLocks noChangeArrowheads="1"/>
            </p:cNvSpPr>
            <p:nvPr/>
          </p:nvSpPr>
          <p:spPr bwMode="auto">
            <a:xfrm>
              <a:off x="3962400" y="0"/>
              <a:ext cx="1600200" cy="9144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Mg</a:t>
              </a:r>
              <a:r>
                <a:rPr lang="en-US" sz="3600" baseline="30000"/>
                <a:t>+2</a:t>
              </a:r>
              <a:endParaRPr lang="en-US" sz="3600"/>
            </a:p>
          </p:txBody>
        </p:sp>
        <p:sp>
          <p:nvSpPr>
            <p:cNvPr id="27795" name="AutoShape 72" descr="5%"/>
            <p:cNvSpPr>
              <a:spLocks noChangeArrowheads="1"/>
            </p:cNvSpPr>
            <p:nvPr/>
          </p:nvSpPr>
          <p:spPr bwMode="auto">
            <a:xfrm rot="5400000">
              <a:off x="5524500" y="381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96" name="AutoShape 73" descr="5%"/>
            <p:cNvSpPr>
              <a:spLocks noChangeArrowheads="1"/>
            </p:cNvSpPr>
            <p:nvPr/>
          </p:nvSpPr>
          <p:spPr bwMode="auto">
            <a:xfrm rot="5400000">
              <a:off x="5524500" y="4953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7675" name="Group 387"/>
          <p:cNvGrpSpPr>
            <a:grpSpLocks/>
          </p:cNvGrpSpPr>
          <p:nvPr/>
        </p:nvGrpSpPr>
        <p:grpSpPr bwMode="auto">
          <a:xfrm>
            <a:off x="3962400" y="914400"/>
            <a:ext cx="1981200" cy="914400"/>
            <a:chOff x="3962400" y="914400"/>
            <a:chExt cx="1981200" cy="914400"/>
          </a:xfrm>
        </p:grpSpPr>
        <p:sp>
          <p:nvSpPr>
            <p:cNvPr id="27791" name="Rectangle 54" descr="5%"/>
            <p:cNvSpPr>
              <a:spLocks noChangeArrowheads="1"/>
            </p:cNvSpPr>
            <p:nvPr/>
          </p:nvSpPr>
          <p:spPr bwMode="auto">
            <a:xfrm>
              <a:off x="3962400" y="914400"/>
              <a:ext cx="1600200" cy="9144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Mg</a:t>
              </a:r>
              <a:r>
                <a:rPr lang="en-US" sz="3600" baseline="30000"/>
                <a:t>+2</a:t>
              </a:r>
              <a:endParaRPr lang="en-US" sz="3600"/>
            </a:p>
          </p:txBody>
        </p:sp>
        <p:sp>
          <p:nvSpPr>
            <p:cNvPr id="27792" name="AutoShape 70" descr="5%"/>
            <p:cNvSpPr>
              <a:spLocks noChangeArrowheads="1"/>
            </p:cNvSpPr>
            <p:nvPr/>
          </p:nvSpPr>
          <p:spPr bwMode="auto">
            <a:xfrm rot="5400000">
              <a:off x="5524500" y="9525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93" name="AutoShape 72" descr="5%"/>
            <p:cNvSpPr>
              <a:spLocks noChangeArrowheads="1"/>
            </p:cNvSpPr>
            <p:nvPr/>
          </p:nvSpPr>
          <p:spPr bwMode="auto">
            <a:xfrm rot="5400000">
              <a:off x="5524500" y="14097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7676" name="Group 386"/>
          <p:cNvGrpSpPr>
            <a:grpSpLocks/>
          </p:cNvGrpSpPr>
          <p:nvPr/>
        </p:nvGrpSpPr>
        <p:grpSpPr bwMode="auto">
          <a:xfrm>
            <a:off x="3962400" y="1828800"/>
            <a:ext cx="1981200" cy="1371600"/>
            <a:chOff x="3962400" y="1828800"/>
            <a:chExt cx="1981200" cy="1371600"/>
          </a:xfrm>
        </p:grpSpPr>
        <p:sp>
          <p:nvSpPr>
            <p:cNvPr id="27787" name="Rectangle 134" descr="10%"/>
            <p:cNvSpPr>
              <a:spLocks noChangeArrowheads="1"/>
            </p:cNvSpPr>
            <p:nvPr/>
          </p:nvSpPr>
          <p:spPr bwMode="auto">
            <a:xfrm>
              <a:off x="3962400" y="1828800"/>
              <a:ext cx="1600200" cy="1371600"/>
            </a:xfrm>
            <a:prstGeom prst="rect">
              <a:avLst/>
            </a:prstGeom>
            <a:pattFill prst="pct10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Al</a:t>
              </a:r>
              <a:r>
                <a:rPr lang="en-US" sz="3600" baseline="30000"/>
                <a:t>+3</a:t>
              </a:r>
              <a:endParaRPr lang="en-US" sz="3600"/>
            </a:p>
          </p:txBody>
        </p:sp>
        <p:sp>
          <p:nvSpPr>
            <p:cNvPr id="27788" name="AutoShape 70" descr="5%"/>
            <p:cNvSpPr>
              <a:spLocks noChangeArrowheads="1"/>
            </p:cNvSpPr>
            <p:nvPr/>
          </p:nvSpPr>
          <p:spPr bwMode="auto">
            <a:xfrm rot="5400000">
              <a:off x="5524500" y="23241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89" name="AutoShape 73" descr="5%"/>
            <p:cNvSpPr>
              <a:spLocks noChangeArrowheads="1"/>
            </p:cNvSpPr>
            <p:nvPr/>
          </p:nvSpPr>
          <p:spPr bwMode="auto">
            <a:xfrm rot="5400000">
              <a:off x="5524500" y="18669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90" name="AutoShape 72" descr="5%"/>
            <p:cNvSpPr>
              <a:spLocks noChangeArrowheads="1"/>
            </p:cNvSpPr>
            <p:nvPr/>
          </p:nvSpPr>
          <p:spPr bwMode="auto">
            <a:xfrm rot="5400000">
              <a:off x="5524500" y="27813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7677" name="Group 385"/>
          <p:cNvGrpSpPr>
            <a:grpSpLocks/>
          </p:cNvGrpSpPr>
          <p:nvPr/>
        </p:nvGrpSpPr>
        <p:grpSpPr bwMode="auto">
          <a:xfrm>
            <a:off x="3962400" y="3200400"/>
            <a:ext cx="1981200" cy="457200"/>
            <a:chOff x="3962400" y="3200400"/>
            <a:chExt cx="1981200" cy="457200"/>
          </a:xfrm>
        </p:grpSpPr>
        <p:sp>
          <p:nvSpPr>
            <p:cNvPr id="27785" name="Rectangle 98" descr="5%"/>
            <p:cNvSpPr>
              <a:spLocks noChangeArrowheads="1"/>
            </p:cNvSpPr>
            <p:nvPr/>
          </p:nvSpPr>
          <p:spPr bwMode="auto">
            <a:xfrm flipH="1">
              <a:off x="3962400" y="320040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Na</a:t>
              </a:r>
              <a:r>
                <a:rPr lang="en-US" sz="3600" baseline="30000"/>
                <a:t>+1</a:t>
              </a:r>
              <a:endParaRPr lang="en-US" sz="3600"/>
            </a:p>
          </p:txBody>
        </p:sp>
        <p:sp>
          <p:nvSpPr>
            <p:cNvPr id="27786" name="AutoShape 73" descr="5%"/>
            <p:cNvSpPr>
              <a:spLocks noChangeArrowheads="1"/>
            </p:cNvSpPr>
            <p:nvPr/>
          </p:nvSpPr>
          <p:spPr bwMode="auto">
            <a:xfrm rot="5400000">
              <a:off x="5524500" y="32385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7678" name="Group 383"/>
          <p:cNvGrpSpPr>
            <a:grpSpLocks/>
          </p:cNvGrpSpPr>
          <p:nvPr/>
        </p:nvGrpSpPr>
        <p:grpSpPr bwMode="auto">
          <a:xfrm>
            <a:off x="3962400" y="5029200"/>
            <a:ext cx="1981200" cy="457200"/>
            <a:chOff x="3962400" y="5029200"/>
            <a:chExt cx="1981200" cy="457200"/>
          </a:xfrm>
        </p:grpSpPr>
        <p:sp>
          <p:nvSpPr>
            <p:cNvPr id="27783" name="Rectangle 113" descr="5%"/>
            <p:cNvSpPr>
              <a:spLocks noChangeArrowheads="1"/>
            </p:cNvSpPr>
            <p:nvPr/>
          </p:nvSpPr>
          <p:spPr bwMode="auto">
            <a:xfrm flipH="1">
              <a:off x="3962400" y="502920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K</a:t>
              </a:r>
              <a:r>
                <a:rPr lang="en-US" sz="3600" baseline="30000"/>
                <a:t>+1</a:t>
              </a:r>
              <a:endParaRPr lang="en-US" sz="3600"/>
            </a:p>
          </p:txBody>
        </p:sp>
        <p:sp>
          <p:nvSpPr>
            <p:cNvPr id="27784" name="AutoShape 70" descr="5%"/>
            <p:cNvSpPr>
              <a:spLocks noChangeArrowheads="1"/>
            </p:cNvSpPr>
            <p:nvPr/>
          </p:nvSpPr>
          <p:spPr bwMode="auto">
            <a:xfrm rot="5400000">
              <a:off x="5524500" y="50673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7679" name="Group 384"/>
          <p:cNvGrpSpPr>
            <a:grpSpLocks/>
          </p:cNvGrpSpPr>
          <p:nvPr/>
        </p:nvGrpSpPr>
        <p:grpSpPr bwMode="auto">
          <a:xfrm>
            <a:off x="3962400" y="3657600"/>
            <a:ext cx="1981200" cy="1371600"/>
            <a:chOff x="3962400" y="3657600"/>
            <a:chExt cx="1981200" cy="1371600"/>
          </a:xfrm>
        </p:grpSpPr>
        <p:sp>
          <p:nvSpPr>
            <p:cNvPr id="27779" name="Rectangle 123" descr="10%"/>
            <p:cNvSpPr>
              <a:spLocks noChangeArrowheads="1"/>
            </p:cNvSpPr>
            <p:nvPr/>
          </p:nvSpPr>
          <p:spPr bwMode="auto">
            <a:xfrm>
              <a:off x="3962400" y="3657600"/>
              <a:ext cx="1600200" cy="1371600"/>
            </a:xfrm>
            <a:prstGeom prst="rect">
              <a:avLst/>
            </a:prstGeom>
            <a:pattFill prst="pct10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Al</a:t>
              </a:r>
              <a:r>
                <a:rPr lang="en-US" sz="3600" baseline="30000"/>
                <a:t>+3</a:t>
              </a:r>
              <a:endParaRPr lang="en-US" sz="3600"/>
            </a:p>
          </p:txBody>
        </p:sp>
        <p:sp>
          <p:nvSpPr>
            <p:cNvPr id="27780" name="AutoShape 70" descr="5%"/>
            <p:cNvSpPr>
              <a:spLocks noChangeArrowheads="1"/>
            </p:cNvSpPr>
            <p:nvPr/>
          </p:nvSpPr>
          <p:spPr bwMode="auto">
            <a:xfrm rot="5400000">
              <a:off x="5524500" y="36957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81" name="AutoShape 72" descr="5%"/>
            <p:cNvSpPr>
              <a:spLocks noChangeArrowheads="1"/>
            </p:cNvSpPr>
            <p:nvPr/>
          </p:nvSpPr>
          <p:spPr bwMode="auto">
            <a:xfrm rot="5400000">
              <a:off x="5524500" y="41529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82" name="AutoShape 73" descr="5%"/>
            <p:cNvSpPr>
              <a:spLocks noChangeArrowheads="1"/>
            </p:cNvSpPr>
            <p:nvPr/>
          </p:nvSpPr>
          <p:spPr bwMode="auto">
            <a:xfrm rot="5400000">
              <a:off x="5524500" y="46101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7680" name="Group 382"/>
          <p:cNvGrpSpPr>
            <a:grpSpLocks/>
          </p:cNvGrpSpPr>
          <p:nvPr/>
        </p:nvGrpSpPr>
        <p:grpSpPr bwMode="auto">
          <a:xfrm>
            <a:off x="3962400" y="5486400"/>
            <a:ext cx="1981200" cy="1371600"/>
            <a:chOff x="3962400" y="5486400"/>
            <a:chExt cx="1981200" cy="1371600"/>
          </a:xfrm>
        </p:grpSpPr>
        <p:sp>
          <p:nvSpPr>
            <p:cNvPr id="27775" name="Rectangle 12" descr="10%"/>
            <p:cNvSpPr>
              <a:spLocks noChangeArrowheads="1"/>
            </p:cNvSpPr>
            <p:nvPr/>
          </p:nvSpPr>
          <p:spPr bwMode="auto">
            <a:xfrm>
              <a:off x="3962400" y="5486400"/>
              <a:ext cx="1600200" cy="1371600"/>
            </a:xfrm>
            <a:prstGeom prst="rect">
              <a:avLst/>
            </a:prstGeom>
            <a:pattFill prst="pct10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B</a:t>
              </a:r>
              <a:r>
                <a:rPr lang="en-US" sz="3600" baseline="30000"/>
                <a:t>+3</a:t>
              </a:r>
              <a:endParaRPr lang="en-US" sz="3600"/>
            </a:p>
          </p:txBody>
        </p:sp>
        <p:sp>
          <p:nvSpPr>
            <p:cNvPr id="27776" name="AutoShape 70" descr="5%"/>
            <p:cNvSpPr>
              <a:spLocks noChangeArrowheads="1"/>
            </p:cNvSpPr>
            <p:nvPr/>
          </p:nvSpPr>
          <p:spPr bwMode="auto">
            <a:xfrm rot="5400000">
              <a:off x="5524500" y="64389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77" name="AutoShape 72" descr="5%"/>
            <p:cNvSpPr>
              <a:spLocks noChangeArrowheads="1"/>
            </p:cNvSpPr>
            <p:nvPr/>
          </p:nvSpPr>
          <p:spPr bwMode="auto">
            <a:xfrm rot="5400000">
              <a:off x="5524500" y="55245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78" name="AutoShape 73" descr="5%"/>
            <p:cNvSpPr>
              <a:spLocks noChangeArrowheads="1"/>
            </p:cNvSpPr>
            <p:nvPr/>
          </p:nvSpPr>
          <p:spPr bwMode="auto">
            <a:xfrm rot="5400000">
              <a:off x="5524500" y="5981700"/>
              <a:ext cx="457200" cy="381000"/>
            </a:xfrm>
            <a:prstGeom prst="triangle">
              <a:avLst>
                <a:gd name="adj" fmla="val 50000"/>
              </a:avLst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7681" name="Group 395"/>
          <p:cNvGrpSpPr>
            <a:grpSpLocks/>
          </p:cNvGrpSpPr>
          <p:nvPr/>
        </p:nvGrpSpPr>
        <p:grpSpPr bwMode="auto">
          <a:xfrm>
            <a:off x="6629400" y="0"/>
            <a:ext cx="457200" cy="1966913"/>
            <a:chOff x="6629400" y="0"/>
            <a:chExt cx="457200" cy="1967132"/>
          </a:xfrm>
        </p:grpSpPr>
        <p:sp>
          <p:nvSpPr>
            <p:cNvPr id="27768" name="Rectangle 209" descr="5%"/>
            <p:cNvSpPr>
              <a:spLocks noChangeArrowheads="1"/>
            </p:cNvSpPr>
            <p:nvPr/>
          </p:nvSpPr>
          <p:spPr bwMode="auto">
            <a:xfrm rot="-5400000">
              <a:off x="6057900" y="57150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I</a:t>
              </a:r>
              <a:r>
                <a:rPr lang="en-US" sz="3600" baseline="30000"/>
                <a:t>-1</a:t>
              </a:r>
              <a:endParaRPr lang="en-US" sz="3600"/>
            </a:p>
          </p:txBody>
        </p:sp>
        <p:grpSp>
          <p:nvGrpSpPr>
            <p:cNvPr id="27769" name="Group 389"/>
            <p:cNvGrpSpPr>
              <a:grpSpLocks/>
            </p:cNvGrpSpPr>
            <p:nvPr/>
          </p:nvGrpSpPr>
          <p:grpSpPr bwMode="auto">
            <a:xfrm rot="5400000">
              <a:off x="6674534" y="1555066"/>
              <a:ext cx="366932" cy="457200"/>
              <a:chOff x="-762000" y="0"/>
              <a:chExt cx="366932" cy="457200"/>
            </a:xfrm>
          </p:grpSpPr>
          <p:cxnSp>
            <p:nvCxnSpPr>
              <p:cNvPr id="391" name="Straight Connector 390"/>
              <p:cNvCxnSpPr/>
              <p:nvPr/>
            </p:nvCxnSpPr>
            <p:spPr>
              <a:xfrm>
                <a:off x="-761821" y="0"/>
                <a:ext cx="366754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2" name="Straight Connector 391"/>
              <p:cNvCxnSpPr/>
              <p:nvPr/>
            </p:nvCxnSpPr>
            <p:spPr>
              <a:xfrm>
                <a:off x="-761821" y="457200"/>
                <a:ext cx="366754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3" name="Straight Connector 392"/>
              <p:cNvCxnSpPr/>
              <p:nvPr/>
            </p:nvCxnSpPr>
            <p:spPr>
              <a:xfrm flipV="1">
                <a:off x="-761821" y="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4" name="Straight Connector 393"/>
              <p:cNvCxnSpPr/>
              <p:nvPr/>
            </p:nvCxnSpPr>
            <p:spPr>
              <a:xfrm rot="5400000">
                <a:off x="-990421" y="228600"/>
                <a:ext cx="4572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5" name="Straight Connector 394"/>
              <p:cNvCxnSpPr/>
              <p:nvPr/>
            </p:nvCxnSpPr>
            <p:spPr>
              <a:xfrm>
                <a:off x="-761821" y="22860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682" name="Group 396"/>
          <p:cNvGrpSpPr>
            <a:grpSpLocks/>
          </p:cNvGrpSpPr>
          <p:nvPr/>
        </p:nvGrpSpPr>
        <p:grpSpPr bwMode="auto">
          <a:xfrm>
            <a:off x="6629400" y="4495800"/>
            <a:ext cx="457200" cy="1966913"/>
            <a:chOff x="6629400" y="0"/>
            <a:chExt cx="457200" cy="1967132"/>
          </a:xfrm>
        </p:grpSpPr>
        <p:sp>
          <p:nvSpPr>
            <p:cNvPr id="27761" name="Rectangle 209" descr="5%"/>
            <p:cNvSpPr>
              <a:spLocks noChangeArrowheads="1"/>
            </p:cNvSpPr>
            <p:nvPr/>
          </p:nvSpPr>
          <p:spPr bwMode="auto">
            <a:xfrm rot="-5400000">
              <a:off x="6057900" y="57150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Br</a:t>
              </a:r>
              <a:r>
                <a:rPr lang="en-US" sz="3600" baseline="30000"/>
                <a:t>-1</a:t>
              </a:r>
              <a:endParaRPr lang="en-US" sz="3600"/>
            </a:p>
          </p:txBody>
        </p:sp>
        <p:grpSp>
          <p:nvGrpSpPr>
            <p:cNvPr id="27762" name="Group 389"/>
            <p:cNvGrpSpPr>
              <a:grpSpLocks/>
            </p:cNvGrpSpPr>
            <p:nvPr/>
          </p:nvGrpSpPr>
          <p:grpSpPr bwMode="auto">
            <a:xfrm rot="5400000">
              <a:off x="6674534" y="1555066"/>
              <a:ext cx="366932" cy="457200"/>
              <a:chOff x="-762000" y="0"/>
              <a:chExt cx="366932" cy="457200"/>
            </a:xfrm>
          </p:grpSpPr>
          <p:cxnSp>
            <p:nvCxnSpPr>
              <p:cNvPr id="400" name="Straight Connector 399"/>
              <p:cNvCxnSpPr/>
              <p:nvPr/>
            </p:nvCxnSpPr>
            <p:spPr>
              <a:xfrm>
                <a:off x="-761821" y="0"/>
                <a:ext cx="366754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1" name="Straight Connector 400"/>
              <p:cNvCxnSpPr/>
              <p:nvPr/>
            </p:nvCxnSpPr>
            <p:spPr>
              <a:xfrm>
                <a:off x="-761821" y="457200"/>
                <a:ext cx="366754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2" name="Straight Connector 401"/>
              <p:cNvCxnSpPr/>
              <p:nvPr/>
            </p:nvCxnSpPr>
            <p:spPr>
              <a:xfrm flipV="1">
                <a:off x="-761821" y="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3" name="Straight Connector 402"/>
              <p:cNvCxnSpPr/>
              <p:nvPr/>
            </p:nvCxnSpPr>
            <p:spPr>
              <a:xfrm rot="5400000">
                <a:off x="-990421" y="228600"/>
                <a:ext cx="4572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4" name="Straight Connector 403"/>
              <p:cNvCxnSpPr/>
              <p:nvPr/>
            </p:nvCxnSpPr>
            <p:spPr>
              <a:xfrm>
                <a:off x="-761821" y="22860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683" name="Group 404"/>
          <p:cNvGrpSpPr>
            <a:grpSpLocks/>
          </p:cNvGrpSpPr>
          <p:nvPr/>
        </p:nvGrpSpPr>
        <p:grpSpPr bwMode="auto">
          <a:xfrm>
            <a:off x="6172200" y="4495800"/>
            <a:ext cx="457200" cy="1966913"/>
            <a:chOff x="6629400" y="0"/>
            <a:chExt cx="457200" cy="1967132"/>
          </a:xfrm>
        </p:grpSpPr>
        <p:sp>
          <p:nvSpPr>
            <p:cNvPr id="27754" name="Rectangle 209" descr="5%"/>
            <p:cNvSpPr>
              <a:spLocks noChangeArrowheads="1"/>
            </p:cNvSpPr>
            <p:nvPr/>
          </p:nvSpPr>
          <p:spPr bwMode="auto">
            <a:xfrm rot="-5400000">
              <a:off x="6057900" y="57150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Br</a:t>
              </a:r>
              <a:r>
                <a:rPr lang="en-US" sz="3600" baseline="30000"/>
                <a:t>-1</a:t>
              </a:r>
              <a:endParaRPr lang="en-US" sz="3600"/>
            </a:p>
          </p:txBody>
        </p:sp>
        <p:grpSp>
          <p:nvGrpSpPr>
            <p:cNvPr id="27755" name="Group 389"/>
            <p:cNvGrpSpPr>
              <a:grpSpLocks/>
            </p:cNvGrpSpPr>
            <p:nvPr/>
          </p:nvGrpSpPr>
          <p:grpSpPr bwMode="auto">
            <a:xfrm rot="5400000">
              <a:off x="6674534" y="1555066"/>
              <a:ext cx="366932" cy="457200"/>
              <a:chOff x="-762000" y="0"/>
              <a:chExt cx="366932" cy="457200"/>
            </a:xfrm>
          </p:grpSpPr>
          <p:cxnSp>
            <p:nvCxnSpPr>
              <p:cNvPr id="408" name="Straight Connector 407"/>
              <p:cNvCxnSpPr/>
              <p:nvPr/>
            </p:nvCxnSpPr>
            <p:spPr>
              <a:xfrm>
                <a:off x="-761821" y="0"/>
                <a:ext cx="366754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" name="Straight Connector 408"/>
              <p:cNvCxnSpPr/>
              <p:nvPr/>
            </p:nvCxnSpPr>
            <p:spPr>
              <a:xfrm>
                <a:off x="-761821" y="457200"/>
                <a:ext cx="366754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" name="Straight Connector 409"/>
              <p:cNvCxnSpPr/>
              <p:nvPr/>
            </p:nvCxnSpPr>
            <p:spPr>
              <a:xfrm flipV="1">
                <a:off x="-761821" y="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" name="Straight Connector 410"/>
              <p:cNvCxnSpPr/>
              <p:nvPr/>
            </p:nvCxnSpPr>
            <p:spPr>
              <a:xfrm rot="5400000">
                <a:off x="-990421" y="228600"/>
                <a:ext cx="4572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2" name="Straight Connector 411"/>
              <p:cNvCxnSpPr/>
              <p:nvPr/>
            </p:nvCxnSpPr>
            <p:spPr>
              <a:xfrm>
                <a:off x="-761821" y="22860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684" name="Group 415"/>
          <p:cNvGrpSpPr>
            <a:grpSpLocks/>
          </p:cNvGrpSpPr>
          <p:nvPr/>
        </p:nvGrpSpPr>
        <p:grpSpPr bwMode="auto">
          <a:xfrm>
            <a:off x="6172200" y="2133600"/>
            <a:ext cx="914400" cy="1981200"/>
            <a:chOff x="6172200" y="2133600"/>
            <a:chExt cx="914400" cy="1981200"/>
          </a:xfrm>
        </p:grpSpPr>
        <p:sp>
          <p:nvSpPr>
            <p:cNvPr id="27750" name="Rectangle 197" descr="5%"/>
            <p:cNvSpPr>
              <a:spLocks noChangeArrowheads="1"/>
            </p:cNvSpPr>
            <p:nvPr/>
          </p:nvSpPr>
          <p:spPr bwMode="auto">
            <a:xfrm rot="5400000">
              <a:off x="5829300" y="2476500"/>
              <a:ext cx="1600200" cy="9144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Mg</a:t>
              </a:r>
              <a:r>
                <a:rPr lang="en-US" sz="3600" baseline="30000"/>
                <a:t>+2</a:t>
              </a:r>
              <a:endParaRPr lang="en-US" sz="3600"/>
            </a:p>
          </p:txBody>
        </p:sp>
        <p:grpSp>
          <p:nvGrpSpPr>
            <p:cNvPr id="27751" name="Group 414"/>
            <p:cNvGrpSpPr>
              <a:grpSpLocks/>
            </p:cNvGrpSpPr>
            <p:nvPr/>
          </p:nvGrpSpPr>
          <p:grpSpPr bwMode="auto">
            <a:xfrm rot="5400000">
              <a:off x="6438900" y="3467100"/>
              <a:ext cx="381000" cy="914400"/>
              <a:chOff x="9982200" y="1676400"/>
              <a:chExt cx="381000" cy="914400"/>
            </a:xfrm>
          </p:grpSpPr>
          <p:sp>
            <p:nvSpPr>
              <p:cNvPr id="27752" name="AutoShape 72" descr="5%"/>
              <p:cNvSpPr>
                <a:spLocks noChangeArrowheads="1"/>
              </p:cNvSpPr>
              <p:nvPr/>
            </p:nvSpPr>
            <p:spPr bwMode="auto">
              <a:xfrm rot="5400000">
                <a:off x="9944100" y="1714500"/>
                <a:ext cx="457200" cy="381000"/>
              </a:xfrm>
              <a:prstGeom prst="triangle">
                <a:avLst>
                  <a:gd name="adj" fmla="val 50000"/>
                </a:avLst>
              </a:prstGeom>
              <a:pattFill prst="pct5">
                <a:fgClr>
                  <a:schemeClr val="accent1"/>
                </a:fgClr>
                <a:bgClr>
                  <a:schemeClr val="bg1"/>
                </a:bgClr>
              </a:pattFill>
              <a:ln w="349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53" name="AutoShape 73" descr="5%"/>
              <p:cNvSpPr>
                <a:spLocks noChangeArrowheads="1"/>
              </p:cNvSpPr>
              <p:nvPr/>
            </p:nvSpPr>
            <p:spPr bwMode="auto">
              <a:xfrm rot="5400000">
                <a:off x="9944100" y="2171700"/>
                <a:ext cx="457200" cy="381000"/>
              </a:xfrm>
              <a:prstGeom prst="triangle">
                <a:avLst>
                  <a:gd name="adj" fmla="val 50000"/>
                </a:avLst>
              </a:prstGeom>
              <a:pattFill prst="pct5">
                <a:fgClr>
                  <a:schemeClr val="accent1"/>
                </a:fgClr>
                <a:bgClr>
                  <a:schemeClr val="bg1"/>
                </a:bgClr>
              </a:pattFill>
              <a:ln w="349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27685" name="Group 490"/>
          <p:cNvGrpSpPr>
            <a:grpSpLocks/>
          </p:cNvGrpSpPr>
          <p:nvPr/>
        </p:nvGrpSpPr>
        <p:grpSpPr bwMode="auto">
          <a:xfrm>
            <a:off x="7177088" y="0"/>
            <a:ext cx="1966912" cy="1371600"/>
            <a:chOff x="7176868" y="0"/>
            <a:chExt cx="1967132" cy="1371600"/>
          </a:xfrm>
        </p:grpSpPr>
        <p:sp>
          <p:nvSpPr>
            <p:cNvPr id="27739" name="Rectangle 71" descr="10%"/>
            <p:cNvSpPr>
              <a:spLocks noChangeArrowheads="1"/>
            </p:cNvSpPr>
            <p:nvPr/>
          </p:nvSpPr>
          <p:spPr bwMode="auto">
            <a:xfrm flipH="1">
              <a:off x="7543800" y="0"/>
              <a:ext cx="1600200" cy="1371600"/>
            </a:xfrm>
            <a:prstGeom prst="rect">
              <a:avLst/>
            </a:prstGeom>
            <a:pattFill prst="pct10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N</a:t>
              </a:r>
              <a:r>
                <a:rPr lang="en-US" sz="3600" baseline="30000"/>
                <a:t>-3</a:t>
              </a:r>
              <a:endParaRPr lang="en-US" sz="3600"/>
            </a:p>
          </p:txBody>
        </p:sp>
        <p:grpSp>
          <p:nvGrpSpPr>
            <p:cNvPr id="27740" name="Group 416"/>
            <p:cNvGrpSpPr>
              <a:grpSpLocks/>
            </p:cNvGrpSpPr>
            <p:nvPr/>
          </p:nvGrpSpPr>
          <p:grpSpPr bwMode="auto">
            <a:xfrm rot="10800000">
              <a:off x="7176868" y="0"/>
              <a:ext cx="366932" cy="1371600"/>
              <a:chOff x="-762000" y="4114800"/>
              <a:chExt cx="366932" cy="1371600"/>
            </a:xfrm>
          </p:grpSpPr>
          <p:cxnSp>
            <p:nvCxnSpPr>
              <p:cNvPr id="418" name="Straight Connector 417"/>
              <p:cNvCxnSpPr/>
              <p:nvPr/>
            </p:nvCxnSpPr>
            <p:spPr>
              <a:xfrm>
                <a:off x="-761821" y="4114800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" name="Straight Connector 418"/>
              <p:cNvCxnSpPr/>
              <p:nvPr/>
            </p:nvCxnSpPr>
            <p:spPr>
              <a:xfrm>
                <a:off x="-761821" y="5487988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" name="Straight Connector 419"/>
              <p:cNvCxnSpPr/>
              <p:nvPr/>
            </p:nvCxnSpPr>
            <p:spPr>
              <a:xfrm flipV="1">
                <a:off x="-761821" y="45720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1" name="Straight Connector 420"/>
              <p:cNvCxnSpPr/>
              <p:nvPr/>
            </p:nvCxnSpPr>
            <p:spPr>
              <a:xfrm rot="5400000">
                <a:off x="-1449209" y="4800600"/>
                <a:ext cx="13716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2" name="Straight Connector 421"/>
              <p:cNvCxnSpPr/>
              <p:nvPr/>
            </p:nvCxnSpPr>
            <p:spPr>
              <a:xfrm>
                <a:off x="-761821" y="43434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3" name="Straight Connector 422"/>
              <p:cNvCxnSpPr/>
              <p:nvPr/>
            </p:nvCxnSpPr>
            <p:spPr>
              <a:xfrm>
                <a:off x="-761821" y="48006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4" name="Straight Connector 423"/>
              <p:cNvCxnSpPr/>
              <p:nvPr/>
            </p:nvCxnSpPr>
            <p:spPr>
              <a:xfrm flipV="1">
                <a:off x="-761821" y="41148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5" name="Straight Connector 424"/>
              <p:cNvCxnSpPr/>
              <p:nvPr/>
            </p:nvCxnSpPr>
            <p:spPr>
              <a:xfrm flipV="1">
                <a:off x="-761821" y="50292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6" name="Straight Connector 425"/>
              <p:cNvCxnSpPr/>
              <p:nvPr/>
            </p:nvCxnSpPr>
            <p:spPr>
              <a:xfrm>
                <a:off x="-761821" y="52578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686" name="Group 491"/>
          <p:cNvGrpSpPr>
            <a:grpSpLocks/>
          </p:cNvGrpSpPr>
          <p:nvPr/>
        </p:nvGrpSpPr>
        <p:grpSpPr bwMode="auto">
          <a:xfrm>
            <a:off x="7177088" y="1371600"/>
            <a:ext cx="1966912" cy="1371600"/>
            <a:chOff x="7176868" y="1371600"/>
            <a:chExt cx="1967132" cy="1371600"/>
          </a:xfrm>
        </p:grpSpPr>
        <p:sp>
          <p:nvSpPr>
            <p:cNvPr id="27728" name="Rectangle 76" descr="10%"/>
            <p:cNvSpPr>
              <a:spLocks noChangeArrowheads="1"/>
            </p:cNvSpPr>
            <p:nvPr/>
          </p:nvSpPr>
          <p:spPr bwMode="auto">
            <a:xfrm flipH="1">
              <a:off x="7543800" y="1371600"/>
              <a:ext cx="1600200" cy="1371600"/>
            </a:xfrm>
            <a:prstGeom prst="rect">
              <a:avLst/>
            </a:prstGeom>
            <a:pattFill prst="pct10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N</a:t>
              </a:r>
              <a:r>
                <a:rPr lang="en-US" sz="3600" baseline="30000"/>
                <a:t>-3</a:t>
              </a:r>
              <a:endParaRPr lang="en-US" sz="3600"/>
            </a:p>
          </p:txBody>
        </p:sp>
        <p:grpSp>
          <p:nvGrpSpPr>
            <p:cNvPr id="27729" name="Group 426"/>
            <p:cNvGrpSpPr>
              <a:grpSpLocks/>
            </p:cNvGrpSpPr>
            <p:nvPr/>
          </p:nvGrpSpPr>
          <p:grpSpPr bwMode="auto">
            <a:xfrm rot="10800000">
              <a:off x="7176868" y="1371600"/>
              <a:ext cx="366932" cy="1371600"/>
              <a:chOff x="-762000" y="4114800"/>
              <a:chExt cx="366932" cy="1371600"/>
            </a:xfrm>
          </p:grpSpPr>
          <p:cxnSp>
            <p:nvCxnSpPr>
              <p:cNvPr id="428" name="Straight Connector 427"/>
              <p:cNvCxnSpPr/>
              <p:nvPr/>
            </p:nvCxnSpPr>
            <p:spPr>
              <a:xfrm>
                <a:off x="-761821" y="4114800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" name="Straight Connector 428"/>
              <p:cNvCxnSpPr/>
              <p:nvPr/>
            </p:nvCxnSpPr>
            <p:spPr>
              <a:xfrm>
                <a:off x="-761821" y="5486400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Straight Connector 429"/>
              <p:cNvCxnSpPr/>
              <p:nvPr/>
            </p:nvCxnSpPr>
            <p:spPr>
              <a:xfrm flipV="1">
                <a:off x="-761821" y="45720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1" name="Straight Connector 430"/>
              <p:cNvCxnSpPr/>
              <p:nvPr/>
            </p:nvCxnSpPr>
            <p:spPr>
              <a:xfrm rot="5400000">
                <a:off x="-1449209" y="4800600"/>
                <a:ext cx="13716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2" name="Straight Connector 431"/>
              <p:cNvCxnSpPr/>
              <p:nvPr/>
            </p:nvCxnSpPr>
            <p:spPr>
              <a:xfrm>
                <a:off x="-761821" y="43434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3" name="Straight Connector 432"/>
              <p:cNvCxnSpPr/>
              <p:nvPr/>
            </p:nvCxnSpPr>
            <p:spPr>
              <a:xfrm>
                <a:off x="-761821" y="48006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4" name="Straight Connector 433"/>
              <p:cNvCxnSpPr/>
              <p:nvPr/>
            </p:nvCxnSpPr>
            <p:spPr>
              <a:xfrm flipV="1">
                <a:off x="-761821" y="41148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5" name="Straight Connector 434"/>
              <p:cNvCxnSpPr/>
              <p:nvPr/>
            </p:nvCxnSpPr>
            <p:spPr>
              <a:xfrm flipV="1">
                <a:off x="-761821" y="50292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6" name="Straight Connector 435"/>
              <p:cNvCxnSpPr/>
              <p:nvPr/>
            </p:nvCxnSpPr>
            <p:spPr>
              <a:xfrm>
                <a:off x="-761821" y="52578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38" name="Straight Connector 437"/>
          <p:cNvCxnSpPr/>
          <p:nvPr/>
        </p:nvCxnSpPr>
        <p:spPr>
          <a:xfrm rot="10800000">
            <a:off x="7177088" y="4114800"/>
            <a:ext cx="366712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1" name="Straight Connector 440"/>
          <p:cNvCxnSpPr/>
          <p:nvPr/>
        </p:nvCxnSpPr>
        <p:spPr>
          <a:xfrm rot="16200000">
            <a:off x="6858000" y="3429000"/>
            <a:ext cx="1371600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Connector 441"/>
          <p:cNvCxnSpPr/>
          <p:nvPr/>
        </p:nvCxnSpPr>
        <p:spPr>
          <a:xfrm rot="10800000">
            <a:off x="7177088" y="3657600"/>
            <a:ext cx="366712" cy="22860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Straight Connector 442"/>
          <p:cNvCxnSpPr/>
          <p:nvPr/>
        </p:nvCxnSpPr>
        <p:spPr>
          <a:xfrm rot="10800000">
            <a:off x="7177088" y="3200400"/>
            <a:ext cx="366712" cy="22860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691" name="Group 492"/>
          <p:cNvGrpSpPr>
            <a:grpSpLocks/>
          </p:cNvGrpSpPr>
          <p:nvPr/>
        </p:nvGrpSpPr>
        <p:grpSpPr bwMode="auto">
          <a:xfrm>
            <a:off x="7177088" y="5029200"/>
            <a:ext cx="1966912" cy="1371600"/>
            <a:chOff x="7176868" y="5029199"/>
            <a:chExt cx="1967132" cy="1371601"/>
          </a:xfrm>
        </p:grpSpPr>
        <p:sp>
          <p:nvSpPr>
            <p:cNvPr id="27717" name="Rectangle 177" descr="10%"/>
            <p:cNvSpPr>
              <a:spLocks noChangeArrowheads="1"/>
            </p:cNvSpPr>
            <p:nvPr/>
          </p:nvSpPr>
          <p:spPr bwMode="auto">
            <a:xfrm flipH="1">
              <a:off x="7543800" y="5029200"/>
              <a:ext cx="1600200" cy="1371600"/>
            </a:xfrm>
            <a:prstGeom prst="rect">
              <a:avLst/>
            </a:prstGeom>
            <a:pattFill prst="pct10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P</a:t>
              </a:r>
              <a:r>
                <a:rPr lang="en-US" sz="3600" baseline="30000"/>
                <a:t>-3</a:t>
              </a:r>
              <a:endParaRPr lang="en-US" sz="3600"/>
            </a:p>
          </p:txBody>
        </p:sp>
        <p:grpSp>
          <p:nvGrpSpPr>
            <p:cNvPr id="27718" name="Group 446"/>
            <p:cNvGrpSpPr>
              <a:grpSpLocks/>
            </p:cNvGrpSpPr>
            <p:nvPr/>
          </p:nvGrpSpPr>
          <p:grpSpPr bwMode="auto">
            <a:xfrm rot="10800000">
              <a:off x="7176868" y="5029199"/>
              <a:ext cx="366932" cy="1371600"/>
              <a:chOff x="-762000" y="4114800"/>
              <a:chExt cx="366932" cy="1371600"/>
            </a:xfrm>
          </p:grpSpPr>
          <p:cxnSp>
            <p:nvCxnSpPr>
              <p:cNvPr id="448" name="Straight Connector 447"/>
              <p:cNvCxnSpPr/>
              <p:nvPr/>
            </p:nvCxnSpPr>
            <p:spPr>
              <a:xfrm>
                <a:off x="-761821" y="4114799"/>
                <a:ext cx="366753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9" name="Straight Connector 448"/>
              <p:cNvCxnSpPr/>
              <p:nvPr/>
            </p:nvCxnSpPr>
            <p:spPr>
              <a:xfrm>
                <a:off x="-760234" y="5486400"/>
                <a:ext cx="366754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" name="Straight Connector 449"/>
              <p:cNvCxnSpPr/>
              <p:nvPr/>
            </p:nvCxnSpPr>
            <p:spPr>
              <a:xfrm flipV="1">
                <a:off x="-761821" y="4571999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" name="Straight Connector 450"/>
              <p:cNvCxnSpPr/>
              <p:nvPr/>
            </p:nvCxnSpPr>
            <p:spPr>
              <a:xfrm rot="5400000">
                <a:off x="-1449210" y="4800599"/>
                <a:ext cx="1371601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2" name="Straight Connector 451"/>
              <p:cNvCxnSpPr/>
              <p:nvPr/>
            </p:nvCxnSpPr>
            <p:spPr>
              <a:xfrm>
                <a:off x="-761821" y="4343399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3" name="Straight Connector 452"/>
              <p:cNvCxnSpPr/>
              <p:nvPr/>
            </p:nvCxnSpPr>
            <p:spPr>
              <a:xfrm>
                <a:off x="-761821" y="4800599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4" name="Straight Connector 453"/>
              <p:cNvCxnSpPr/>
              <p:nvPr/>
            </p:nvCxnSpPr>
            <p:spPr>
              <a:xfrm flipV="1">
                <a:off x="-761821" y="4114799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5" name="Straight Connector 454"/>
              <p:cNvCxnSpPr/>
              <p:nvPr/>
            </p:nvCxnSpPr>
            <p:spPr>
              <a:xfrm flipV="1">
                <a:off x="-760234" y="502920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6" name="Straight Connector 455"/>
              <p:cNvCxnSpPr/>
              <p:nvPr/>
            </p:nvCxnSpPr>
            <p:spPr>
              <a:xfrm>
                <a:off x="-760234" y="525780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78" name="Straight Connector 477"/>
          <p:cNvCxnSpPr/>
          <p:nvPr/>
        </p:nvCxnSpPr>
        <p:spPr>
          <a:xfrm rot="10800000">
            <a:off x="7177088" y="5029200"/>
            <a:ext cx="366712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693" name="Group 497"/>
          <p:cNvGrpSpPr>
            <a:grpSpLocks/>
          </p:cNvGrpSpPr>
          <p:nvPr/>
        </p:nvGrpSpPr>
        <p:grpSpPr bwMode="auto">
          <a:xfrm>
            <a:off x="7177088" y="2743200"/>
            <a:ext cx="1966912" cy="1371600"/>
            <a:chOff x="7176868" y="2743200"/>
            <a:chExt cx="1967132" cy="1371600"/>
          </a:xfrm>
        </p:grpSpPr>
        <p:sp>
          <p:nvSpPr>
            <p:cNvPr id="27710" name="Rectangle 81" descr="10%"/>
            <p:cNvSpPr>
              <a:spLocks noChangeArrowheads="1"/>
            </p:cNvSpPr>
            <p:nvPr/>
          </p:nvSpPr>
          <p:spPr bwMode="auto">
            <a:xfrm flipH="1">
              <a:off x="7543800" y="2743200"/>
              <a:ext cx="1600200" cy="1371600"/>
            </a:xfrm>
            <a:prstGeom prst="rect">
              <a:avLst/>
            </a:prstGeom>
            <a:pattFill prst="pct10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P</a:t>
              </a:r>
              <a:r>
                <a:rPr lang="en-US" sz="3600" baseline="30000"/>
                <a:t>-3</a:t>
              </a:r>
              <a:endParaRPr lang="en-US" sz="3600"/>
            </a:p>
          </p:txBody>
        </p:sp>
        <p:cxnSp>
          <p:nvCxnSpPr>
            <p:cNvPr id="439" name="Straight Connector 438"/>
            <p:cNvCxnSpPr/>
            <p:nvPr/>
          </p:nvCxnSpPr>
          <p:spPr>
            <a:xfrm rot="10800000">
              <a:off x="7176868" y="2743200"/>
              <a:ext cx="366753" cy="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/>
            <p:cNvCxnSpPr/>
            <p:nvPr/>
          </p:nvCxnSpPr>
          <p:spPr>
            <a:xfrm rot="10800000" flipV="1">
              <a:off x="7176868" y="3429000"/>
              <a:ext cx="366753" cy="22860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43"/>
            <p:cNvCxnSpPr/>
            <p:nvPr/>
          </p:nvCxnSpPr>
          <p:spPr>
            <a:xfrm rot="10800000" flipV="1">
              <a:off x="7176868" y="3886200"/>
              <a:ext cx="366753" cy="22860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44"/>
            <p:cNvCxnSpPr/>
            <p:nvPr/>
          </p:nvCxnSpPr>
          <p:spPr>
            <a:xfrm rot="10800000" flipV="1">
              <a:off x="7176868" y="2971800"/>
              <a:ext cx="366753" cy="22860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45"/>
            <p:cNvCxnSpPr/>
            <p:nvPr/>
          </p:nvCxnSpPr>
          <p:spPr>
            <a:xfrm rot="10800000">
              <a:off x="7176868" y="2743200"/>
              <a:ext cx="366753" cy="22860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78"/>
            <p:cNvCxnSpPr/>
            <p:nvPr/>
          </p:nvCxnSpPr>
          <p:spPr>
            <a:xfrm rot="10800000">
              <a:off x="7176868" y="4114800"/>
              <a:ext cx="366753" cy="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1" name="Straight Connector 480"/>
          <p:cNvCxnSpPr/>
          <p:nvPr/>
        </p:nvCxnSpPr>
        <p:spPr>
          <a:xfrm rot="16200000">
            <a:off x="7086600" y="4572000"/>
            <a:ext cx="914400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695" name="Group 498"/>
          <p:cNvGrpSpPr>
            <a:grpSpLocks/>
          </p:cNvGrpSpPr>
          <p:nvPr/>
        </p:nvGrpSpPr>
        <p:grpSpPr bwMode="auto">
          <a:xfrm>
            <a:off x="7177088" y="4114800"/>
            <a:ext cx="1966912" cy="914400"/>
            <a:chOff x="7176869" y="4114800"/>
            <a:chExt cx="1967131" cy="914400"/>
          </a:xfrm>
        </p:grpSpPr>
        <p:cxnSp>
          <p:nvCxnSpPr>
            <p:cNvPr id="482" name="Straight Connector 481"/>
            <p:cNvCxnSpPr/>
            <p:nvPr/>
          </p:nvCxnSpPr>
          <p:spPr>
            <a:xfrm rot="10800000">
              <a:off x="7176869" y="4572000"/>
              <a:ext cx="366753" cy="22860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705" name="Group 496"/>
            <p:cNvGrpSpPr>
              <a:grpSpLocks/>
            </p:cNvGrpSpPr>
            <p:nvPr/>
          </p:nvGrpSpPr>
          <p:grpSpPr bwMode="auto">
            <a:xfrm>
              <a:off x="7176869" y="4114800"/>
              <a:ext cx="1967131" cy="914400"/>
              <a:chOff x="7176869" y="4114800"/>
              <a:chExt cx="1967131" cy="914400"/>
            </a:xfrm>
          </p:grpSpPr>
          <p:sp>
            <p:nvSpPr>
              <p:cNvPr id="27706" name="Rectangle 116" descr="5%"/>
              <p:cNvSpPr>
                <a:spLocks noChangeArrowheads="1"/>
              </p:cNvSpPr>
              <p:nvPr/>
            </p:nvSpPr>
            <p:spPr bwMode="auto">
              <a:xfrm>
                <a:off x="7543800" y="4114800"/>
                <a:ext cx="1600200" cy="914400"/>
              </a:xfrm>
              <a:prstGeom prst="rect">
                <a:avLst/>
              </a:prstGeom>
              <a:pattFill prst="pct5">
                <a:fgClr>
                  <a:schemeClr val="accent1"/>
                </a:fgClr>
                <a:bgClr>
                  <a:schemeClr val="bg1"/>
                </a:bgClr>
              </a:pattFill>
              <a:ln w="349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3600"/>
                  <a:t>S</a:t>
                </a:r>
                <a:r>
                  <a:rPr lang="en-US" sz="3600" baseline="30000"/>
                  <a:t>-2</a:t>
                </a:r>
                <a:endParaRPr lang="en-US" sz="3600"/>
              </a:p>
            </p:txBody>
          </p:sp>
          <p:cxnSp>
            <p:nvCxnSpPr>
              <p:cNvPr id="480" name="Straight Connector 479"/>
              <p:cNvCxnSpPr/>
              <p:nvPr/>
            </p:nvCxnSpPr>
            <p:spPr>
              <a:xfrm rot="10800000" flipV="1">
                <a:off x="7176869" y="43434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3" name="Straight Connector 482"/>
              <p:cNvCxnSpPr/>
              <p:nvPr/>
            </p:nvCxnSpPr>
            <p:spPr>
              <a:xfrm rot="10800000">
                <a:off x="7176869" y="41148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4" name="Straight Connector 483"/>
              <p:cNvCxnSpPr/>
              <p:nvPr/>
            </p:nvCxnSpPr>
            <p:spPr>
              <a:xfrm rot="10800000" flipV="1">
                <a:off x="7176869" y="4800600"/>
                <a:ext cx="366753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696" name="Group 493"/>
          <p:cNvGrpSpPr>
            <a:grpSpLocks/>
          </p:cNvGrpSpPr>
          <p:nvPr/>
        </p:nvGrpSpPr>
        <p:grpSpPr bwMode="auto">
          <a:xfrm>
            <a:off x="7177088" y="6400800"/>
            <a:ext cx="1966912" cy="457200"/>
            <a:chOff x="7176868" y="6400800"/>
            <a:chExt cx="1967132" cy="457200"/>
          </a:xfrm>
        </p:grpSpPr>
        <p:sp>
          <p:nvSpPr>
            <p:cNvPr id="27697" name="Rectangle 165" descr="5%"/>
            <p:cNvSpPr>
              <a:spLocks noChangeArrowheads="1"/>
            </p:cNvSpPr>
            <p:nvPr/>
          </p:nvSpPr>
          <p:spPr bwMode="auto">
            <a:xfrm>
              <a:off x="7543800" y="6400800"/>
              <a:ext cx="1600200" cy="457200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3600"/>
                <a:t>Cl</a:t>
              </a:r>
              <a:r>
                <a:rPr lang="en-US" sz="3600" baseline="30000"/>
                <a:t>-1</a:t>
              </a:r>
              <a:endParaRPr lang="en-US" sz="3600"/>
            </a:p>
          </p:txBody>
        </p:sp>
        <p:grpSp>
          <p:nvGrpSpPr>
            <p:cNvPr id="27698" name="Group 484"/>
            <p:cNvGrpSpPr>
              <a:grpSpLocks/>
            </p:cNvGrpSpPr>
            <p:nvPr/>
          </p:nvGrpSpPr>
          <p:grpSpPr bwMode="auto">
            <a:xfrm rot="10800000">
              <a:off x="7176868" y="6400800"/>
              <a:ext cx="366932" cy="457200"/>
              <a:chOff x="-762000" y="0"/>
              <a:chExt cx="366932" cy="457200"/>
            </a:xfrm>
          </p:grpSpPr>
          <p:cxnSp>
            <p:nvCxnSpPr>
              <p:cNvPr id="486" name="Straight Connector 485"/>
              <p:cNvCxnSpPr/>
              <p:nvPr/>
            </p:nvCxnSpPr>
            <p:spPr>
              <a:xfrm>
                <a:off x="-760234" y="0"/>
                <a:ext cx="366754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Connector 486"/>
              <p:cNvCxnSpPr/>
              <p:nvPr/>
            </p:nvCxnSpPr>
            <p:spPr>
              <a:xfrm>
                <a:off x="-760234" y="457200"/>
                <a:ext cx="366754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Connector 487"/>
              <p:cNvCxnSpPr/>
              <p:nvPr/>
            </p:nvCxnSpPr>
            <p:spPr>
              <a:xfrm flipV="1">
                <a:off x="-760234" y="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Connector 488"/>
              <p:cNvCxnSpPr/>
              <p:nvPr/>
            </p:nvCxnSpPr>
            <p:spPr>
              <a:xfrm rot="5400000">
                <a:off x="-990421" y="228600"/>
                <a:ext cx="45720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Connector 489"/>
              <p:cNvCxnSpPr/>
              <p:nvPr/>
            </p:nvCxnSpPr>
            <p:spPr>
              <a:xfrm>
                <a:off x="-760234" y="228600"/>
                <a:ext cx="366754" cy="22860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0" y="685800"/>
            <a:ext cx="9144000" cy="6186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en-US"/>
              <a:t>Boron (B</a:t>
            </a:r>
            <a:r>
              <a:rPr lang="en-US" baseline="30000"/>
              <a:t>+3</a:t>
            </a:r>
            <a:r>
              <a:rPr lang="en-US"/>
              <a:t>) + Chlorine (Cl</a:t>
            </a:r>
            <a:r>
              <a:rPr lang="en-US" baseline="30000"/>
              <a:t>-1</a:t>
            </a:r>
            <a:r>
              <a:rPr lang="en-US"/>
              <a:t>) </a:t>
            </a:r>
            <a:r>
              <a:rPr lang="en-US">
                <a:sym typeface="Wingdings" pitchFamily="2" charset="2"/>
              </a:rPr>
              <a:t> boron chloride 	      	____________</a:t>
            </a:r>
          </a:p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en-US">
                <a:sym typeface="Wingdings" pitchFamily="2" charset="2"/>
              </a:rPr>
              <a:t>Magnesium (Mg</a:t>
            </a:r>
            <a:r>
              <a:rPr lang="en-US" baseline="30000">
                <a:sym typeface="Wingdings" pitchFamily="2" charset="2"/>
              </a:rPr>
              <a:t>+2</a:t>
            </a:r>
            <a:r>
              <a:rPr lang="en-US">
                <a:sym typeface="Wingdings" pitchFamily="2" charset="2"/>
              </a:rPr>
              <a:t>) + Chlorine </a:t>
            </a:r>
            <a:r>
              <a:rPr lang="en-US"/>
              <a:t>(Cl</a:t>
            </a:r>
            <a:r>
              <a:rPr lang="en-US" baseline="30000"/>
              <a:t>-1</a:t>
            </a:r>
            <a:r>
              <a:rPr lang="en-US"/>
              <a:t>)</a:t>
            </a:r>
            <a:r>
              <a:rPr lang="en-US">
                <a:sym typeface="Wingdings" pitchFamily="2" charset="2"/>
              </a:rPr>
              <a:t>  magnesium chloride 	____________</a:t>
            </a:r>
          </a:p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en-US">
                <a:sym typeface="Wingdings" pitchFamily="2" charset="2"/>
              </a:rPr>
              <a:t>Sodium (Na</a:t>
            </a:r>
            <a:r>
              <a:rPr lang="en-US" baseline="30000">
                <a:sym typeface="Wingdings" pitchFamily="2" charset="2"/>
              </a:rPr>
              <a:t>+1</a:t>
            </a:r>
            <a:r>
              <a:rPr lang="en-US">
                <a:sym typeface="Wingdings" pitchFamily="2" charset="2"/>
              </a:rPr>
              <a:t>) + Chlorine </a:t>
            </a:r>
            <a:r>
              <a:rPr lang="en-US"/>
              <a:t>(Cl</a:t>
            </a:r>
            <a:r>
              <a:rPr lang="en-US" baseline="30000"/>
              <a:t>-1</a:t>
            </a:r>
            <a:r>
              <a:rPr lang="en-US"/>
              <a:t>)</a:t>
            </a:r>
            <a:r>
              <a:rPr lang="en-US">
                <a:sym typeface="Wingdings" pitchFamily="2" charset="2"/>
              </a:rPr>
              <a:t>   sodium chloride 	____________</a:t>
            </a:r>
          </a:p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en-US">
                <a:sym typeface="Wingdings" pitchFamily="2" charset="2"/>
              </a:rPr>
              <a:t>Calcium (Ca</a:t>
            </a:r>
            <a:r>
              <a:rPr lang="en-US" baseline="30000">
                <a:sym typeface="Wingdings" pitchFamily="2" charset="2"/>
              </a:rPr>
              <a:t>+2</a:t>
            </a:r>
            <a:r>
              <a:rPr lang="en-US">
                <a:sym typeface="Wingdings" pitchFamily="2" charset="2"/>
              </a:rPr>
              <a:t>) + Sulfur (S</a:t>
            </a:r>
            <a:r>
              <a:rPr lang="en-US" baseline="30000">
                <a:sym typeface="Wingdings" pitchFamily="2" charset="2"/>
              </a:rPr>
              <a:t>-2</a:t>
            </a:r>
            <a:r>
              <a:rPr lang="en-US">
                <a:sym typeface="Wingdings" pitchFamily="2" charset="2"/>
              </a:rPr>
              <a:t>)  calcium sulfide 		____________</a:t>
            </a:r>
          </a:p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en-US">
                <a:sym typeface="Wingdings" pitchFamily="2" charset="2"/>
              </a:rPr>
              <a:t>Aluminum (Al</a:t>
            </a:r>
            <a:r>
              <a:rPr lang="en-US" baseline="30000">
                <a:sym typeface="Wingdings" pitchFamily="2" charset="2"/>
              </a:rPr>
              <a:t>+3</a:t>
            </a:r>
            <a:r>
              <a:rPr lang="en-US">
                <a:sym typeface="Wingdings" pitchFamily="2" charset="2"/>
              </a:rPr>
              <a:t>) + Nitrogen (N</a:t>
            </a:r>
            <a:r>
              <a:rPr lang="en-US" baseline="30000">
                <a:sym typeface="Wingdings" pitchFamily="2" charset="2"/>
              </a:rPr>
              <a:t>-3</a:t>
            </a:r>
            <a:r>
              <a:rPr lang="en-US">
                <a:sym typeface="Wingdings" pitchFamily="2" charset="2"/>
              </a:rPr>
              <a:t>)	 aluminum nitride 	____________</a:t>
            </a:r>
          </a:p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en-US">
                <a:sym typeface="Wingdings" pitchFamily="2" charset="2"/>
              </a:rPr>
              <a:t>Calcium (Ca</a:t>
            </a:r>
            <a:r>
              <a:rPr lang="en-US" baseline="30000">
                <a:sym typeface="Wingdings" pitchFamily="2" charset="2"/>
              </a:rPr>
              <a:t>+2</a:t>
            </a:r>
            <a:r>
              <a:rPr lang="en-US">
                <a:sym typeface="Wingdings" pitchFamily="2" charset="2"/>
              </a:rPr>
              <a:t>) + Bromine (Br</a:t>
            </a:r>
            <a:r>
              <a:rPr lang="en-US" baseline="30000">
                <a:sym typeface="Wingdings" pitchFamily="2" charset="2"/>
              </a:rPr>
              <a:t>-1</a:t>
            </a:r>
            <a:r>
              <a:rPr lang="en-US">
                <a:sym typeface="Wingdings" pitchFamily="2" charset="2"/>
              </a:rPr>
              <a:t>)   calcium bromide 	____________</a:t>
            </a:r>
          </a:p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en-US">
                <a:sym typeface="Wingdings" pitchFamily="2" charset="2"/>
              </a:rPr>
              <a:t>Potassium (K</a:t>
            </a:r>
            <a:r>
              <a:rPr lang="en-US" baseline="30000">
                <a:sym typeface="Wingdings" pitchFamily="2" charset="2"/>
              </a:rPr>
              <a:t>+1</a:t>
            </a:r>
            <a:r>
              <a:rPr lang="en-US">
                <a:sym typeface="Wingdings" pitchFamily="2" charset="2"/>
              </a:rPr>
              <a:t>) + Chlorine </a:t>
            </a:r>
            <a:r>
              <a:rPr lang="en-US"/>
              <a:t>(Cl</a:t>
            </a:r>
            <a:r>
              <a:rPr lang="en-US" baseline="30000"/>
              <a:t>-1</a:t>
            </a:r>
            <a:r>
              <a:rPr lang="en-US"/>
              <a:t>)</a:t>
            </a:r>
            <a:r>
              <a:rPr lang="en-US">
                <a:sym typeface="Wingdings" pitchFamily="2" charset="2"/>
              </a:rPr>
              <a:t>  potassium chloride 	____________</a:t>
            </a:r>
          </a:p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en-US">
                <a:sym typeface="Wingdings" pitchFamily="2" charset="2"/>
              </a:rPr>
              <a:t>Boron </a:t>
            </a:r>
            <a:r>
              <a:rPr lang="en-US"/>
              <a:t>(B</a:t>
            </a:r>
            <a:r>
              <a:rPr lang="en-US" baseline="30000"/>
              <a:t>+3</a:t>
            </a:r>
            <a:r>
              <a:rPr lang="en-US"/>
              <a:t>)</a:t>
            </a:r>
            <a:r>
              <a:rPr lang="en-US">
                <a:sym typeface="Wingdings" pitchFamily="2" charset="2"/>
              </a:rPr>
              <a:t> + Oxygen (O</a:t>
            </a:r>
            <a:r>
              <a:rPr lang="en-US" baseline="30000">
                <a:sym typeface="Wingdings" pitchFamily="2" charset="2"/>
              </a:rPr>
              <a:t>-2</a:t>
            </a:r>
            <a:r>
              <a:rPr lang="en-US">
                <a:sym typeface="Wingdings" pitchFamily="2" charset="2"/>
              </a:rPr>
              <a:t>)  boron oxide 		____________</a:t>
            </a:r>
          </a:p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en-US">
                <a:sym typeface="Wingdings" pitchFamily="2" charset="2"/>
              </a:rPr>
              <a:t>Magnesium (Mg</a:t>
            </a:r>
            <a:r>
              <a:rPr lang="en-US" baseline="30000">
                <a:sym typeface="Wingdings" pitchFamily="2" charset="2"/>
              </a:rPr>
              <a:t>+2</a:t>
            </a:r>
            <a:r>
              <a:rPr lang="en-US">
                <a:sym typeface="Wingdings" pitchFamily="2" charset="2"/>
              </a:rPr>
              <a:t>) + Oxygen (O</a:t>
            </a:r>
            <a:r>
              <a:rPr lang="en-US" baseline="30000">
                <a:sym typeface="Wingdings" pitchFamily="2" charset="2"/>
              </a:rPr>
              <a:t>-2</a:t>
            </a:r>
            <a:r>
              <a:rPr lang="en-US">
                <a:sym typeface="Wingdings" pitchFamily="2" charset="2"/>
              </a:rPr>
              <a:t>)  magnesium oxide 	____________</a:t>
            </a:r>
          </a:p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en-US">
                <a:sym typeface="Wingdings" pitchFamily="2" charset="2"/>
              </a:rPr>
              <a:t>Aluminum (Al</a:t>
            </a:r>
            <a:r>
              <a:rPr lang="en-US" baseline="30000">
                <a:sym typeface="Wingdings" pitchFamily="2" charset="2"/>
              </a:rPr>
              <a:t>+3</a:t>
            </a:r>
            <a:r>
              <a:rPr lang="en-US">
                <a:sym typeface="Wingdings" pitchFamily="2" charset="2"/>
              </a:rPr>
              <a:t>) + Fluorine (F</a:t>
            </a:r>
            <a:r>
              <a:rPr lang="en-US" baseline="30000">
                <a:sym typeface="Wingdings" pitchFamily="2" charset="2"/>
              </a:rPr>
              <a:t>-1</a:t>
            </a:r>
            <a:r>
              <a:rPr lang="en-US">
                <a:sym typeface="Wingdings" pitchFamily="2" charset="2"/>
              </a:rPr>
              <a:t>)  aluminum fluoride 	____________</a:t>
            </a:r>
          </a:p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en-US">
                <a:sym typeface="Wingdings" pitchFamily="2" charset="2"/>
              </a:rPr>
              <a:t>Potassium (K</a:t>
            </a:r>
            <a:r>
              <a:rPr lang="en-US" baseline="30000">
                <a:sym typeface="Wingdings" pitchFamily="2" charset="2"/>
              </a:rPr>
              <a:t>+1</a:t>
            </a:r>
            <a:r>
              <a:rPr lang="en-US">
                <a:sym typeface="Wingdings" pitchFamily="2" charset="2"/>
              </a:rPr>
              <a:t>) + Iodine (I</a:t>
            </a:r>
            <a:r>
              <a:rPr lang="en-US" baseline="30000">
                <a:sym typeface="Wingdings" pitchFamily="2" charset="2"/>
              </a:rPr>
              <a:t>-1</a:t>
            </a:r>
            <a:r>
              <a:rPr lang="en-US">
                <a:sym typeface="Wingdings" pitchFamily="2" charset="2"/>
              </a:rPr>
              <a:t>)   potassium iodide 		____________</a:t>
            </a:r>
            <a:endParaRPr lang="en-US" baseline="-25000">
              <a:sym typeface="Wingdings" pitchFamily="2" charset="2"/>
            </a:endParaRPr>
          </a:p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en-US">
                <a:sym typeface="Wingdings" pitchFamily="2" charset="2"/>
              </a:rPr>
              <a:t>Sodium (Na</a:t>
            </a:r>
            <a:r>
              <a:rPr lang="en-US" baseline="30000">
                <a:sym typeface="Wingdings" pitchFamily="2" charset="2"/>
              </a:rPr>
              <a:t>+1</a:t>
            </a:r>
            <a:r>
              <a:rPr lang="en-US">
                <a:sym typeface="Wingdings" pitchFamily="2" charset="2"/>
              </a:rPr>
              <a:t>) + Nitrogen (N</a:t>
            </a:r>
            <a:r>
              <a:rPr lang="en-US" baseline="30000">
                <a:sym typeface="Wingdings" pitchFamily="2" charset="2"/>
              </a:rPr>
              <a:t>-3</a:t>
            </a:r>
            <a:r>
              <a:rPr lang="en-US">
                <a:sym typeface="Wingdings" pitchFamily="2" charset="2"/>
              </a:rPr>
              <a:t>)   sodium nitride 		____________</a:t>
            </a:r>
          </a:p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en-US">
                <a:sym typeface="Wingdings" pitchFamily="2" charset="2"/>
              </a:rPr>
              <a:t>Potassium (K</a:t>
            </a:r>
            <a:r>
              <a:rPr lang="en-US" baseline="30000">
                <a:sym typeface="Wingdings" pitchFamily="2" charset="2"/>
              </a:rPr>
              <a:t>+1</a:t>
            </a:r>
            <a:r>
              <a:rPr lang="en-US">
                <a:sym typeface="Wingdings" pitchFamily="2" charset="2"/>
              </a:rPr>
              <a:t>) + Bromine (Br</a:t>
            </a:r>
            <a:r>
              <a:rPr lang="en-US" baseline="30000">
                <a:sym typeface="Wingdings" pitchFamily="2" charset="2"/>
              </a:rPr>
              <a:t>-1</a:t>
            </a:r>
            <a:r>
              <a:rPr lang="en-US">
                <a:sym typeface="Wingdings" pitchFamily="2" charset="2"/>
              </a:rPr>
              <a:t>)  potassium bromide 	____________</a:t>
            </a:r>
          </a:p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en-US">
                <a:sym typeface="Wingdings" pitchFamily="2" charset="2"/>
              </a:rPr>
              <a:t>Lithium (Li</a:t>
            </a:r>
            <a:r>
              <a:rPr lang="en-US" baseline="30000">
                <a:sym typeface="Wingdings" pitchFamily="2" charset="2"/>
              </a:rPr>
              <a:t>+1</a:t>
            </a:r>
            <a:r>
              <a:rPr lang="en-US">
                <a:sym typeface="Wingdings" pitchFamily="2" charset="2"/>
              </a:rPr>
              <a:t>) + Fluorine (F</a:t>
            </a:r>
            <a:r>
              <a:rPr lang="en-US" baseline="30000">
                <a:sym typeface="Wingdings" pitchFamily="2" charset="2"/>
              </a:rPr>
              <a:t>-1</a:t>
            </a:r>
            <a:r>
              <a:rPr lang="en-US">
                <a:sym typeface="Wingdings" pitchFamily="2" charset="2"/>
              </a:rPr>
              <a:t>)   lithium fluoride	 	____________</a:t>
            </a:r>
          </a:p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en-US"/>
              <a:t>Magnesium </a:t>
            </a:r>
            <a:r>
              <a:rPr lang="en-US">
                <a:sym typeface="Wingdings" pitchFamily="2" charset="2"/>
              </a:rPr>
              <a:t>(Mg</a:t>
            </a:r>
            <a:r>
              <a:rPr lang="en-US" baseline="30000">
                <a:sym typeface="Wingdings" pitchFamily="2" charset="2"/>
              </a:rPr>
              <a:t>+2</a:t>
            </a:r>
            <a:r>
              <a:rPr lang="en-US">
                <a:sym typeface="Wingdings" pitchFamily="2" charset="2"/>
              </a:rPr>
              <a:t>) </a:t>
            </a:r>
            <a:r>
              <a:rPr lang="en-US"/>
              <a:t>+ Nitrogen </a:t>
            </a:r>
            <a:r>
              <a:rPr lang="en-US">
                <a:sym typeface="Wingdings" pitchFamily="2" charset="2"/>
              </a:rPr>
              <a:t>(N</a:t>
            </a:r>
            <a:r>
              <a:rPr lang="en-US" baseline="30000">
                <a:sym typeface="Wingdings" pitchFamily="2" charset="2"/>
              </a:rPr>
              <a:t>-3</a:t>
            </a:r>
            <a:r>
              <a:rPr lang="en-US">
                <a:sym typeface="Wingdings" pitchFamily="2" charset="2"/>
              </a:rPr>
              <a:t>)  magnesium nitride 	____________</a:t>
            </a:r>
            <a:endParaRPr lang="en-US" baseline="-25000">
              <a:sym typeface="Wingdings" pitchFamily="2" charset="2"/>
            </a:endParaRP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714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b="1" dirty="0"/>
              <a:t>Write the chemical formula for the following compounds</a:t>
            </a:r>
            <a:r>
              <a:rPr lang="en-US" b="1" dirty="0" smtClean="0"/>
              <a:t>.  </a:t>
            </a:r>
            <a:r>
              <a:rPr lang="en-US" b="1" dirty="0"/>
              <a:t>Place the cutouts in the corresponding boxes on the following pages.</a:t>
            </a:r>
            <a:endParaRPr lang="en-US" sz="4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 rot="5400000">
            <a:off x="1143000" y="3429000"/>
            <a:ext cx="6858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0" y="3429000"/>
            <a:ext cx="9144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01" name="TextBox 8"/>
          <p:cNvSpPr txBox="1">
            <a:spLocks noChangeArrowheads="1"/>
          </p:cNvSpPr>
          <p:nvPr/>
        </p:nvSpPr>
        <p:spPr bwMode="auto">
          <a:xfrm>
            <a:off x="0" y="0"/>
            <a:ext cx="4572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1. B</a:t>
            </a:r>
            <a:r>
              <a:rPr lang="en-US" baseline="30000"/>
              <a:t>+3</a:t>
            </a:r>
            <a:r>
              <a:rPr lang="en-US"/>
              <a:t> + Cl</a:t>
            </a:r>
            <a:r>
              <a:rPr lang="en-US" baseline="30000"/>
              <a:t>-1</a:t>
            </a:r>
            <a:r>
              <a:rPr lang="en-US"/>
              <a:t> </a:t>
            </a:r>
          </a:p>
        </p:txBody>
      </p:sp>
      <p:sp>
        <p:nvSpPr>
          <p:cNvPr id="29702" name="TextBox 10"/>
          <p:cNvSpPr txBox="1">
            <a:spLocks noChangeArrowheads="1"/>
          </p:cNvSpPr>
          <p:nvPr/>
        </p:nvSpPr>
        <p:spPr bwMode="auto">
          <a:xfrm>
            <a:off x="4572000" y="0"/>
            <a:ext cx="3048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2. Mg</a:t>
            </a:r>
            <a:r>
              <a:rPr lang="en-US" baseline="30000"/>
              <a:t>+2</a:t>
            </a:r>
            <a:r>
              <a:rPr lang="en-US"/>
              <a:t> + Cl</a:t>
            </a:r>
            <a:r>
              <a:rPr lang="en-US" baseline="30000"/>
              <a:t>-1</a:t>
            </a:r>
            <a:r>
              <a:rPr lang="en-US"/>
              <a:t> </a:t>
            </a:r>
          </a:p>
        </p:txBody>
      </p:sp>
      <p:sp>
        <p:nvSpPr>
          <p:cNvPr id="29703" name="TextBox 11"/>
          <p:cNvSpPr txBox="1">
            <a:spLocks noChangeArrowheads="1"/>
          </p:cNvSpPr>
          <p:nvPr/>
        </p:nvSpPr>
        <p:spPr bwMode="auto">
          <a:xfrm>
            <a:off x="0" y="3440113"/>
            <a:ext cx="30480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3. Na</a:t>
            </a:r>
            <a:r>
              <a:rPr lang="en-US" baseline="30000"/>
              <a:t>+1</a:t>
            </a:r>
            <a:r>
              <a:rPr lang="en-US"/>
              <a:t> + Cl</a:t>
            </a:r>
            <a:r>
              <a:rPr lang="en-US" baseline="30000"/>
              <a:t>-1</a:t>
            </a:r>
            <a:r>
              <a:rPr lang="en-US"/>
              <a:t> </a:t>
            </a:r>
          </a:p>
        </p:txBody>
      </p:sp>
      <p:sp>
        <p:nvSpPr>
          <p:cNvPr id="29704" name="TextBox 14"/>
          <p:cNvSpPr txBox="1">
            <a:spLocks noChangeArrowheads="1"/>
          </p:cNvSpPr>
          <p:nvPr/>
        </p:nvSpPr>
        <p:spPr bwMode="auto">
          <a:xfrm>
            <a:off x="4572000" y="3440113"/>
            <a:ext cx="30480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4. Ca</a:t>
            </a:r>
            <a:r>
              <a:rPr lang="en-US" baseline="30000"/>
              <a:t>+2</a:t>
            </a:r>
            <a:r>
              <a:rPr lang="en-US"/>
              <a:t> + S</a:t>
            </a:r>
            <a:r>
              <a:rPr lang="en-US" baseline="30000"/>
              <a:t>-2</a:t>
            </a:r>
            <a:r>
              <a:rPr lang="en-US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 rot="5400000">
            <a:off x="1143000" y="3429000"/>
            <a:ext cx="6858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0" y="3429000"/>
            <a:ext cx="9144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25" name="TextBox 15"/>
          <p:cNvSpPr txBox="1">
            <a:spLocks noChangeArrowheads="1"/>
          </p:cNvSpPr>
          <p:nvPr/>
        </p:nvSpPr>
        <p:spPr bwMode="auto">
          <a:xfrm>
            <a:off x="0" y="0"/>
            <a:ext cx="3048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5. Al</a:t>
            </a:r>
            <a:r>
              <a:rPr lang="en-US" baseline="30000"/>
              <a:t>+3</a:t>
            </a:r>
            <a:r>
              <a:rPr lang="en-US"/>
              <a:t> + N</a:t>
            </a:r>
            <a:r>
              <a:rPr lang="en-US" baseline="30000"/>
              <a:t>-3</a:t>
            </a:r>
            <a:r>
              <a:rPr lang="en-US"/>
              <a:t> </a:t>
            </a:r>
          </a:p>
        </p:txBody>
      </p:sp>
      <p:sp>
        <p:nvSpPr>
          <p:cNvPr id="30726" name="TextBox 16"/>
          <p:cNvSpPr txBox="1">
            <a:spLocks noChangeArrowheads="1"/>
          </p:cNvSpPr>
          <p:nvPr/>
        </p:nvSpPr>
        <p:spPr bwMode="auto">
          <a:xfrm>
            <a:off x="4572000" y="0"/>
            <a:ext cx="3048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6. Ca</a:t>
            </a:r>
            <a:r>
              <a:rPr lang="en-US" baseline="30000"/>
              <a:t>+2</a:t>
            </a:r>
            <a:r>
              <a:rPr lang="en-US"/>
              <a:t> + Br</a:t>
            </a:r>
            <a:r>
              <a:rPr lang="en-US" baseline="30000"/>
              <a:t>-1</a:t>
            </a:r>
            <a:r>
              <a:rPr lang="en-US"/>
              <a:t> </a:t>
            </a:r>
          </a:p>
        </p:txBody>
      </p:sp>
      <p:sp>
        <p:nvSpPr>
          <p:cNvPr id="30727" name="TextBox 17"/>
          <p:cNvSpPr txBox="1">
            <a:spLocks noChangeArrowheads="1"/>
          </p:cNvSpPr>
          <p:nvPr/>
        </p:nvSpPr>
        <p:spPr bwMode="auto">
          <a:xfrm>
            <a:off x="0" y="3429000"/>
            <a:ext cx="30480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7. K</a:t>
            </a:r>
            <a:r>
              <a:rPr lang="en-US" baseline="30000"/>
              <a:t>+1</a:t>
            </a:r>
            <a:r>
              <a:rPr lang="en-US"/>
              <a:t> + Cl</a:t>
            </a:r>
            <a:r>
              <a:rPr lang="en-US" baseline="30000"/>
              <a:t>-1</a:t>
            </a:r>
            <a:r>
              <a:rPr lang="en-US"/>
              <a:t> </a:t>
            </a:r>
          </a:p>
        </p:txBody>
      </p:sp>
      <p:sp>
        <p:nvSpPr>
          <p:cNvPr id="30728" name="TextBox 18"/>
          <p:cNvSpPr txBox="1">
            <a:spLocks noChangeArrowheads="1"/>
          </p:cNvSpPr>
          <p:nvPr/>
        </p:nvSpPr>
        <p:spPr bwMode="auto">
          <a:xfrm>
            <a:off x="4572000" y="3440113"/>
            <a:ext cx="30480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8. B</a:t>
            </a:r>
            <a:r>
              <a:rPr lang="en-US" baseline="30000"/>
              <a:t>+3</a:t>
            </a:r>
            <a:r>
              <a:rPr lang="en-US"/>
              <a:t> + O</a:t>
            </a:r>
            <a:r>
              <a:rPr lang="en-US" baseline="30000"/>
              <a:t>-2</a:t>
            </a:r>
            <a:r>
              <a:rPr lang="en-US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 rot="5400000">
            <a:off x="1143000" y="3429000"/>
            <a:ext cx="6858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0" y="3429000"/>
            <a:ext cx="9144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49" name="TextBox 12"/>
          <p:cNvSpPr txBox="1">
            <a:spLocks noChangeArrowheads="1"/>
          </p:cNvSpPr>
          <p:nvPr/>
        </p:nvSpPr>
        <p:spPr bwMode="auto">
          <a:xfrm>
            <a:off x="0" y="0"/>
            <a:ext cx="3048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9. Mg</a:t>
            </a:r>
            <a:r>
              <a:rPr lang="en-US" baseline="30000"/>
              <a:t>+2</a:t>
            </a:r>
            <a:r>
              <a:rPr lang="en-US"/>
              <a:t> + O</a:t>
            </a:r>
            <a:r>
              <a:rPr lang="en-US" baseline="30000"/>
              <a:t>-2</a:t>
            </a:r>
            <a:r>
              <a:rPr lang="en-US"/>
              <a:t> </a:t>
            </a:r>
          </a:p>
        </p:txBody>
      </p:sp>
      <p:sp>
        <p:nvSpPr>
          <p:cNvPr id="31750" name="TextBox 8"/>
          <p:cNvSpPr txBox="1">
            <a:spLocks noChangeArrowheads="1"/>
          </p:cNvSpPr>
          <p:nvPr/>
        </p:nvSpPr>
        <p:spPr bwMode="auto">
          <a:xfrm>
            <a:off x="4572000" y="0"/>
            <a:ext cx="3048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10. Al</a:t>
            </a:r>
            <a:r>
              <a:rPr lang="en-US" baseline="30000"/>
              <a:t>+3</a:t>
            </a:r>
            <a:r>
              <a:rPr lang="en-US"/>
              <a:t> + F</a:t>
            </a:r>
            <a:r>
              <a:rPr lang="en-US" baseline="30000"/>
              <a:t>-1</a:t>
            </a:r>
            <a:r>
              <a:rPr lang="en-US"/>
              <a:t> </a:t>
            </a:r>
          </a:p>
        </p:txBody>
      </p:sp>
      <p:sp>
        <p:nvSpPr>
          <p:cNvPr id="31751" name="TextBox 10"/>
          <p:cNvSpPr txBox="1">
            <a:spLocks noChangeArrowheads="1"/>
          </p:cNvSpPr>
          <p:nvPr/>
        </p:nvSpPr>
        <p:spPr bwMode="auto">
          <a:xfrm>
            <a:off x="0" y="3440113"/>
            <a:ext cx="30480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11. K</a:t>
            </a:r>
            <a:r>
              <a:rPr lang="en-US" baseline="30000"/>
              <a:t>+1</a:t>
            </a:r>
            <a:r>
              <a:rPr lang="en-US"/>
              <a:t> + I</a:t>
            </a:r>
            <a:r>
              <a:rPr lang="en-US" baseline="30000"/>
              <a:t>-1</a:t>
            </a:r>
            <a:r>
              <a:rPr lang="en-US"/>
              <a:t> </a:t>
            </a:r>
          </a:p>
        </p:txBody>
      </p:sp>
      <p:sp>
        <p:nvSpPr>
          <p:cNvPr id="31752" name="TextBox 11"/>
          <p:cNvSpPr txBox="1">
            <a:spLocks noChangeArrowheads="1"/>
          </p:cNvSpPr>
          <p:nvPr/>
        </p:nvSpPr>
        <p:spPr bwMode="auto">
          <a:xfrm>
            <a:off x="4572000" y="3440113"/>
            <a:ext cx="30480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12. Na</a:t>
            </a:r>
            <a:r>
              <a:rPr lang="en-US" baseline="30000"/>
              <a:t>+1</a:t>
            </a:r>
            <a:r>
              <a:rPr lang="en-US"/>
              <a:t> + N</a:t>
            </a:r>
            <a:r>
              <a:rPr lang="en-US" baseline="30000"/>
              <a:t>-3</a:t>
            </a:r>
            <a:r>
              <a:rPr lang="en-US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 rot="5400000">
            <a:off x="1143000" y="3429000"/>
            <a:ext cx="6858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0" y="3429000"/>
            <a:ext cx="9144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73" name="TextBox 14"/>
          <p:cNvSpPr txBox="1">
            <a:spLocks noChangeArrowheads="1"/>
          </p:cNvSpPr>
          <p:nvPr/>
        </p:nvSpPr>
        <p:spPr bwMode="auto">
          <a:xfrm>
            <a:off x="0" y="0"/>
            <a:ext cx="3048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13. K</a:t>
            </a:r>
            <a:r>
              <a:rPr lang="en-US" baseline="30000"/>
              <a:t>+1</a:t>
            </a:r>
            <a:r>
              <a:rPr lang="en-US"/>
              <a:t> + Br</a:t>
            </a:r>
            <a:r>
              <a:rPr lang="en-US" baseline="30000"/>
              <a:t>-1</a:t>
            </a:r>
            <a:r>
              <a:rPr lang="en-US"/>
              <a:t> </a:t>
            </a:r>
          </a:p>
        </p:txBody>
      </p:sp>
      <p:sp>
        <p:nvSpPr>
          <p:cNvPr id="32774" name="TextBox 15"/>
          <p:cNvSpPr txBox="1">
            <a:spLocks noChangeArrowheads="1"/>
          </p:cNvSpPr>
          <p:nvPr/>
        </p:nvSpPr>
        <p:spPr bwMode="auto">
          <a:xfrm>
            <a:off x="4572000" y="0"/>
            <a:ext cx="3048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14. Li</a:t>
            </a:r>
            <a:r>
              <a:rPr lang="en-US" baseline="30000"/>
              <a:t>+1</a:t>
            </a:r>
            <a:r>
              <a:rPr lang="en-US"/>
              <a:t> + F</a:t>
            </a:r>
            <a:r>
              <a:rPr lang="en-US" baseline="30000"/>
              <a:t>-1</a:t>
            </a:r>
            <a:r>
              <a:rPr lang="en-US"/>
              <a:t> </a:t>
            </a:r>
          </a:p>
        </p:txBody>
      </p:sp>
      <p:sp>
        <p:nvSpPr>
          <p:cNvPr id="32775" name="TextBox 16"/>
          <p:cNvSpPr txBox="1">
            <a:spLocks noChangeArrowheads="1"/>
          </p:cNvSpPr>
          <p:nvPr/>
        </p:nvSpPr>
        <p:spPr bwMode="auto">
          <a:xfrm>
            <a:off x="0" y="3440113"/>
            <a:ext cx="30480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15. Mg</a:t>
            </a:r>
            <a:r>
              <a:rPr lang="en-US" baseline="30000"/>
              <a:t>+2</a:t>
            </a:r>
            <a:r>
              <a:rPr lang="en-US"/>
              <a:t> + N</a:t>
            </a:r>
            <a:r>
              <a:rPr lang="en-US" baseline="30000"/>
              <a:t>-3</a:t>
            </a:r>
            <a:r>
              <a:rPr lang="en-US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4"/>
          <p:cNvSpPr txBox="1">
            <a:spLocks noChangeArrowheads="1"/>
          </p:cNvSpPr>
          <p:nvPr/>
        </p:nvSpPr>
        <p:spPr bwMode="auto">
          <a:xfrm>
            <a:off x="0" y="712788"/>
            <a:ext cx="9144000" cy="6186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en-US"/>
              <a:t>Boron (B</a:t>
            </a:r>
            <a:r>
              <a:rPr lang="en-US" baseline="30000"/>
              <a:t>+3</a:t>
            </a:r>
            <a:r>
              <a:rPr lang="en-US"/>
              <a:t>) + Chlorine (Cl</a:t>
            </a:r>
            <a:r>
              <a:rPr lang="en-US" baseline="30000"/>
              <a:t>-1</a:t>
            </a:r>
            <a:r>
              <a:rPr lang="en-US"/>
              <a:t>) </a:t>
            </a:r>
            <a:r>
              <a:rPr lang="en-US">
                <a:sym typeface="Wingdings" pitchFamily="2" charset="2"/>
              </a:rPr>
              <a:t> boron chloride       		_____BCl</a:t>
            </a:r>
            <a:r>
              <a:rPr lang="en-US" baseline="-25000">
                <a:sym typeface="Wingdings" pitchFamily="2" charset="2"/>
              </a:rPr>
              <a:t>3 </a:t>
            </a:r>
            <a:r>
              <a:rPr lang="en-US">
                <a:sym typeface="Wingdings" pitchFamily="2" charset="2"/>
              </a:rPr>
              <a:t>_____</a:t>
            </a:r>
          </a:p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en-US">
                <a:sym typeface="Wingdings" pitchFamily="2" charset="2"/>
              </a:rPr>
              <a:t>Magnesium (Mg</a:t>
            </a:r>
            <a:r>
              <a:rPr lang="en-US" baseline="30000">
                <a:sym typeface="Wingdings" pitchFamily="2" charset="2"/>
              </a:rPr>
              <a:t>+2</a:t>
            </a:r>
            <a:r>
              <a:rPr lang="en-US">
                <a:sym typeface="Wingdings" pitchFamily="2" charset="2"/>
              </a:rPr>
              <a:t>) + Chlorine </a:t>
            </a:r>
            <a:r>
              <a:rPr lang="en-US"/>
              <a:t>(Cl</a:t>
            </a:r>
            <a:r>
              <a:rPr lang="en-US" baseline="30000"/>
              <a:t>-1</a:t>
            </a:r>
            <a:r>
              <a:rPr lang="en-US"/>
              <a:t>)</a:t>
            </a:r>
            <a:r>
              <a:rPr lang="en-US">
                <a:sym typeface="Wingdings" pitchFamily="2" charset="2"/>
              </a:rPr>
              <a:t>  magnesium chloride 	____ MgCl</a:t>
            </a:r>
            <a:r>
              <a:rPr lang="en-US" baseline="-25000">
                <a:sym typeface="Wingdings" pitchFamily="2" charset="2"/>
              </a:rPr>
              <a:t>2 </a:t>
            </a:r>
            <a:r>
              <a:rPr lang="en-US">
                <a:sym typeface="Wingdings" pitchFamily="2" charset="2"/>
              </a:rPr>
              <a:t>_____</a:t>
            </a:r>
            <a:endParaRPr lang="en-US" baseline="-25000">
              <a:sym typeface="Wingdings" pitchFamily="2" charset="2"/>
            </a:endParaRPr>
          </a:p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en-US">
                <a:sym typeface="Wingdings" pitchFamily="2" charset="2"/>
              </a:rPr>
              <a:t>Sodium (Na</a:t>
            </a:r>
            <a:r>
              <a:rPr lang="en-US" baseline="30000">
                <a:sym typeface="Wingdings" pitchFamily="2" charset="2"/>
              </a:rPr>
              <a:t>+1</a:t>
            </a:r>
            <a:r>
              <a:rPr lang="en-US">
                <a:sym typeface="Wingdings" pitchFamily="2" charset="2"/>
              </a:rPr>
              <a:t>) + Chlorine </a:t>
            </a:r>
            <a:r>
              <a:rPr lang="en-US"/>
              <a:t>(Cl</a:t>
            </a:r>
            <a:r>
              <a:rPr lang="en-US" baseline="30000"/>
              <a:t>-1</a:t>
            </a:r>
            <a:r>
              <a:rPr lang="en-US"/>
              <a:t>)</a:t>
            </a:r>
            <a:r>
              <a:rPr lang="en-US">
                <a:sym typeface="Wingdings" pitchFamily="2" charset="2"/>
              </a:rPr>
              <a:t>  sodium chloride 	_____NaCl _____</a:t>
            </a:r>
          </a:p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en-US">
                <a:sym typeface="Wingdings" pitchFamily="2" charset="2"/>
              </a:rPr>
              <a:t>Calcium (Ca</a:t>
            </a:r>
            <a:r>
              <a:rPr lang="en-US" baseline="30000">
                <a:sym typeface="Wingdings" pitchFamily="2" charset="2"/>
              </a:rPr>
              <a:t>+2</a:t>
            </a:r>
            <a:r>
              <a:rPr lang="en-US">
                <a:sym typeface="Wingdings" pitchFamily="2" charset="2"/>
              </a:rPr>
              <a:t>) + Sulfur (S</a:t>
            </a:r>
            <a:r>
              <a:rPr lang="en-US" baseline="30000">
                <a:sym typeface="Wingdings" pitchFamily="2" charset="2"/>
              </a:rPr>
              <a:t>-2</a:t>
            </a:r>
            <a:r>
              <a:rPr lang="en-US">
                <a:sym typeface="Wingdings" pitchFamily="2" charset="2"/>
              </a:rPr>
              <a:t>)  calcium sulfide 		_____CaS _____</a:t>
            </a:r>
          </a:p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en-US">
                <a:sym typeface="Wingdings" pitchFamily="2" charset="2"/>
              </a:rPr>
              <a:t>Aluminum (Al</a:t>
            </a:r>
            <a:r>
              <a:rPr lang="en-US" baseline="30000">
                <a:sym typeface="Wingdings" pitchFamily="2" charset="2"/>
              </a:rPr>
              <a:t>+3</a:t>
            </a:r>
            <a:r>
              <a:rPr lang="en-US">
                <a:sym typeface="Wingdings" pitchFamily="2" charset="2"/>
              </a:rPr>
              <a:t>) + Nitrogen (N</a:t>
            </a:r>
            <a:r>
              <a:rPr lang="en-US" baseline="30000">
                <a:sym typeface="Wingdings" pitchFamily="2" charset="2"/>
              </a:rPr>
              <a:t>-3</a:t>
            </a:r>
            <a:r>
              <a:rPr lang="en-US">
                <a:sym typeface="Wingdings" pitchFamily="2" charset="2"/>
              </a:rPr>
              <a:t>)	 aluminum nitride 	_____AlN ______</a:t>
            </a:r>
          </a:p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en-US">
                <a:sym typeface="Wingdings" pitchFamily="2" charset="2"/>
              </a:rPr>
              <a:t>Calcium (Ca</a:t>
            </a:r>
            <a:r>
              <a:rPr lang="en-US" baseline="30000">
                <a:sym typeface="Wingdings" pitchFamily="2" charset="2"/>
              </a:rPr>
              <a:t>+2</a:t>
            </a:r>
            <a:r>
              <a:rPr lang="en-US">
                <a:sym typeface="Wingdings" pitchFamily="2" charset="2"/>
              </a:rPr>
              <a:t>) + Bromine (Br</a:t>
            </a:r>
            <a:r>
              <a:rPr lang="en-US" baseline="30000">
                <a:sym typeface="Wingdings" pitchFamily="2" charset="2"/>
              </a:rPr>
              <a:t>-1</a:t>
            </a:r>
            <a:r>
              <a:rPr lang="en-US">
                <a:sym typeface="Wingdings" pitchFamily="2" charset="2"/>
              </a:rPr>
              <a:t>)  calcium bromide 	____CaBr</a:t>
            </a:r>
            <a:r>
              <a:rPr lang="en-US" baseline="-25000">
                <a:sym typeface="Wingdings" pitchFamily="2" charset="2"/>
              </a:rPr>
              <a:t>2 </a:t>
            </a:r>
            <a:r>
              <a:rPr lang="en-US">
                <a:sym typeface="Wingdings" pitchFamily="2" charset="2"/>
              </a:rPr>
              <a:t>______</a:t>
            </a:r>
            <a:endParaRPr lang="en-US" baseline="-25000">
              <a:sym typeface="Wingdings" pitchFamily="2" charset="2"/>
            </a:endParaRPr>
          </a:p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en-US">
                <a:sym typeface="Wingdings" pitchFamily="2" charset="2"/>
              </a:rPr>
              <a:t>Potassium (K</a:t>
            </a:r>
            <a:r>
              <a:rPr lang="en-US" baseline="30000">
                <a:sym typeface="Wingdings" pitchFamily="2" charset="2"/>
              </a:rPr>
              <a:t>+1</a:t>
            </a:r>
            <a:r>
              <a:rPr lang="en-US">
                <a:sym typeface="Wingdings" pitchFamily="2" charset="2"/>
              </a:rPr>
              <a:t>) + Chlorine </a:t>
            </a:r>
            <a:r>
              <a:rPr lang="en-US"/>
              <a:t>(Cl</a:t>
            </a:r>
            <a:r>
              <a:rPr lang="en-US" baseline="30000"/>
              <a:t>-1</a:t>
            </a:r>
            <a:r>
              <a:rPr lang="en-US"/>
              <a:t>)</a:t>
            </a:r>
            <a:r>
              <a:rPr lang="en-US">
                <a:sym typeface="Wingdings" pitchFamily="2" charset="2"/>
              </a:rPr>
              <a:t>  potassium chloride 	_____KCl _______</a:t>
            </a:r>
          </a:p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en-US">
                <a:sym typeface="Wingdings" pitchFamily="2" charset="2"/>
              </a:rPr>
              <a:t>Boron </a:t>
            </a:r>
            <a:r>
              <a:rPr lang="en-US"/>
              <a:t>(B</a:t>
            </a:r>
            <a:r>
              <a:rPr lang="en-US" baseline="30000"/>
              <a:t>+3</a:t>
            </a:r>
            <a:r>
              <a:rPr lang="en-US"/>
              <a:t>)</a:t>
            </a:r>
            <a:r>
              <a:rPr lang="en-US">
                <a:sym typeface="Wingdings" pitchFamily="2" charset="2"/>
              </a:rPr>
              <a:t> + Oxygen (O</a:t>
            </a:r>
            <a:r>
              <a:rPr lang="en-US" baseline="30000">
                <a:sym typeface="Wingdings" pitchFamily="2" charset="2"/>
              </a:rPr>
              <a:t>-2</a:t>
            </a:r>
            <a:r>
              <a:rPr lang="en-US">
                <a:sym typeface="Wingdings" pitchFamily="2" charset="2"/>
              </a:rPr>
              <a:t>)  boron oxide 		____ B</a:t>
            </a:r>
            <a:r>
              <a:rPr lang="en-US" baseline="-25000">
                <a:sym typeface="Wingdings" pitchFamily="2" charset="2"/>
              </a:rPr>
              <a:t>2</a:t>
            </a:r>
            <a:r>
              <a:rPr lang="en-US">
                <a:sym typeface="Wingdings" pitchFamily="2" charset="2"/>
              </a:rPr>
              <a:t>O</a:t>
            </a:r>
            <a:r>
              <a:rPr lang="en-US" baseline="-25000">
                <a:sym typeface="Wingdings" pitchFamily="2" charset="2"/>
              </a:rPr>
              <a:t>3 </a:t>
            </a:r>
            <a:r>
              <a:rPr lang="en-US">
                <a:sym typeface="Wingdings" pitchFamily="2" charset="2"/>
              </a:rPr>
              <a:t>_______</a:t>
            </a:r>
          </a:p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en-US">
                <a:sym typeface="Wingdings" pitchFamily="2" charset="2"/>
              </a:rPr>
              <a:t>Magnesium (Mg</a:t>
            </a:r>
            <a:r>
              <a:rPr lang="en-US" baseline="30000">
                <a:sym typeface="Wingdings" pitchFamily="2" charset="2"/>
              </a:rPr>
              <a:t>+2</a:t>
            </a:r>
            <a:r>
              <a:rPr lang="en-US">
                <a:sym typeface="Wingdings" pitchFamily="2" charset="2"/>
              </a:rPr>
              <a:t>) + Oxygen (O</a:t>
            </a:r>
            <a:r>
              <a:rPr lang="en-US" baseline="30000">
                <a:sym typeface="Wingdings" pitchFamily="2" charset="2"/>
              </a:rPr>
              <a:t>-2</a:t>
            </a:r>
            <a:r>
              <a:rPr lang="en-US">
                <a:sym typeface="Wingdings" pitchFamily="2" charset="2"/>
              </a:rPr>
              <a:t>)  magnesium oxide 	_____MgO ______</a:t>
            </a:r>
          </a:p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en-US">
                <a:sym typeface="Wingdings" pitchFamily="2" charset="2"/>
              </a:rPr>
              <a:t>Aluminum (Al</a:t>
            </a:r>
            <a:r>
              <a:rPr lang="en-US" baseline="30000">
                <a:sym typeface="Wingdings" pitchFamily="2" charset="2"/>
              </a:rPr>
              <a:t>+3</a:t>
            </a:r>
            <a:r>
              <a:rPr lang="en-US">
                <a:sym typeface="Wingdings" pitchFamily="2" charset="2"/>
              </a:rPr>
              <a:t>) + Fluorine (F</a:t>
            </a:r>
            <a:r>
              <a:rPr lang="en-US" baseline="30000">
                <a:sym typeface="Wingdings" pitchFamily="2" charset="2"/>
              </a:rPr>
              <a:t>-1</a:t>
            </a:r>
            <a:r>
              <a:rPr lang="en-US">
                <a:sym typeface="Wingdings" pitchFamily="2" charset="2"/>
              </a:rPr>
              <a:t>)  aluminum fluoride 	_____AlF</a:t>
            </a:r>
            <a:r>
              <a:rPr lang="en-US" baseline="-25000">
                <a:sym typeface="Wingdings" pitchFamily="2" charset="2"/>
              </a:rPr>
              <a:t>3 </a:t>
            </a:r>
            <a:r>
              <a:rPr lang="en-US">
                <a:sym typeface="Wingdings" pitchFamily="2" charset="2"/>
              </a:rPr>
              <a:t>______</a:t>
            </a:r>
            <a:endParaRPr lang="en-US" baseline="-25000">
              <a:sym typeface="Wingdings" pitchFamily="2" charset="2"/>
            </a:endParaRPr>
          </a:p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en-US">
                <a:sym typeface="Wingdings" pitchFamily="2" charset="2"/>
              </a:rPr>
              <a:t>Potassium (K</a:t>
            </a:r>
            <a:r>
              <a:rPr lang="en-US" baseline="30000">
                <a:sym typeface="Wingdings" pitchFamily="2" charset="2"/>
              </a:rPr>
              <a:t>+1</a:t>
            </a:r>
            <a:r>
              <a:rPr lang="en-US">
                <a:sym typeface="Wingdings" pitchFamily="2" charset="2"/>
              </a:rPr>
              <a:t>) + Iodine (I</a:t>
            </a:r>
            <a:r>
              <a:rPr lang="en-US" baseline="30000">
                <a:sym typeface="Wingdings" pitchFamily="2" charset="2"/>
              </a:rPr>
              <a:t>-1</a:t>
            </a:r>
            <a:r>
              <a:rPr lang="en-US">
                <a:sym typeface="Wingdings" pitchFamily="2" charset="2"/>
              </a:rPr>
              <a:t>)   potassium iodide 		_____ KI_______</a:t>
            </a:r>
            <a:endParaRPr lang="en-US" baseline="-25000">
              <a:sym typeface="Wingdings" pitchFamily="2" charset="2"/>
            </a:endParaRPr>
          </a:p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en-US">
                <a:sym typeface="Wingdings" pitchFamily="2" charset="2"/>
              </a:rPr>
              <a:t>Sodium (Na</a:t>
            </a:r>
            <a:r>
              <a:rPr lang="en-US" baseline="30000">
                <a:sym typeface="Wingdings" pitchFamily="2" charset="2"/>
              </a:rPr>
              <a:t>+1</a:t>
            </a:r>
            <a:r>
              <a:rPr lang="en-US">
                <a:sym typeface="Wingdings" pitchFamily="2" charset="2"/>
              </a:rPr>
              <a:t>) + Nitrogen (N</a:t>
            </a:r>
            <a:r>
              <a:rPr lang="en-US" baseline="30000">
                <a:sym typeface="Wingdings" pitchFamily="2" charset="2"/>
              </a:rPr>
              <a:t>-3</a:t>
            </a:r>
            <a:r>
              <a:rPr lang="en-US">
                <a:sym typeface="Wingdings" pitchFamily="2" charset="2"/>
              </a:rPr>
              <a:t>)  sodium nitride 		____Na</a:t>
            </a:r>
            <a:r>
              <a:rPr lang="en-US" baseline="-25000">
                <a:sym typeface="Wingdings" pitchFamily="2" charset="2"/>
              </a:rPr>
              <a:t>3</a:t>
            </a:r>
            <a:r>
              <a:rPr lang="en-US">
                <a:sym typeface="Wingdings" pitchFamily="2" charset="2"/>
              </a:rPr>
              <a:t>N ______</a:t>
            </a:r>
          </a:p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en-US">
                <a:sym typeface="Wingdings" pitchFamily="2" charset="2"/>
              </a:rPr>
              <a:t>Potassium (K</a:t>
            </a:r>
            <a:r>
              <a:rPr lang="en-US" baseline="30000">
                <a:sym typeface="Wingdings" pitchFamily="2" charset="2"/>
              </a:rPr>
              <a:t>+1</a:t>
            </a:r>
            <a:r>
              <a:rPr lang="en-US">
                <a:sym typeface="Wingdings" pitchFamily="2" charset="2"/>
              </a:rPr>
              <a:t>) + Bromine (Br</a:t>
            </a:r>
            <a:r>
              <a:rPr lang="en-US" baseline="30000">
                <a:sym typeface="Wingdings" pitchFamily="2" charset="2"/>
              </a:rPr>
              <a:t>-1</a:t>
            </a:r>
            <a:r>
              <a:rPr lang="en-US">
                <a:sym typeface="Wingdings" pitchFamily="2" charset="2"/>
              </a:rPr>
              <a:t>)  potassium bromide 	_____KBr _______</a:t>
            </a:r>
          </a:p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en-US">
                <a:sym typeface="Wingdings" pitchFamily="2" charset="2"/>
              </a:rPr>
              <a:t>Lithium (Li</a:t>
            </a:r>
            <a:r>
              <a:rPr lang="en-US" baseline="30000">
                <a:sym typeface="Wingdings" pitchFamily="2" charset="2"/>
              </a:rPr>
              <a:t>+1</a:t>
            </a:r>
            <a:r>
              <a:rPr lang="en-US">
                <a:sym typeface="Wingdings" pitchFamily="2" charset="2"/>
              </a:rPr>
              <a:t>) + Fluorine (F</a:t>
            </a:r>
            <a:r>
              <a:rPr lang="en-US" baseline="30000">
                <a:sym typeface="Wingdings" pitchFamily="2" charset="2"/>
              </a:rPr>
              <a:t>-1</a:t>
            </a:r>
            <a:r>
              <a:rPr lang="en-US">
                <a:sym typeface="Wingdings" pitchFamily="2" charset="2"/>
              </a:rPr>
              <a:t>)  lithium fluoride 		_____ LiF ________</a:t>
            </a:r>
          </a:p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en-US"/>
              <a:t>Magnesium </a:t>
            </a:r>
            <a:r>
              <a:rPr lang="en-US">
                <a:sym typeface="Wingdings" pitchFamily="2" charset="2"/>
              </a:rPr>
              <a:t>(Mg</a:t>
            </a:r>
            <a:r>
              <a:rPr lang="en-US" baseline="30000">
                <a:sym typeface="Wingdings" pitchFamily="2" charset="2"/>
              </a:rPr>
              <a:t>+2</a:t>
            </a:r>
            <a:r>
              <a:rPr lang="en-US">
                <a:sym typeface="Wingdings" pitchFamily="2" charset="2"/>
              </a:rPr>
              <a:t>) </a:t>
            </a:r>
            <a:r>
              <a:rPr lang="en-US"/>
              <a:t>+ Nitrogen </a:t>
            </a:r>
            <a:r>
              <a:rPr lang="en-US">
                <a:sym typeface="Wingdings" pitchFamily="2" charset="2"/>
              </a:rPr>
              <a:t>(N</a:t>
            </a:r>
            <a:r>
              <a:rPr lang="en-US" baseline="30000">
                <a:sym typeface="Wingdings" pitchFamily="2" charset="2"/>
              </a:rPr>
              <a:t>-3</a:t>
            </a:r>
            <a:r>
              <a:rPr lang="en-US">
                <a:sym typeface="Wingdings" pitchFamily="2" charset="2"/>
              </a:rPr>
              <a:t>)  magnesium nitride 	____Mg</a:t>
            </a:r>
            <a:r>
              <a:rPr lang="en-US" baseline="-25000">
                <a:sym typeface="Wingdings" pitchFamily="2" charset="2"/>
              </a:rPr>
              <a:t>3</a:t>
            </a:r>
            <a:r>
              <a:rPr lang="en-US">
                <a:sym typeface="Wingdings" pitchFamily="2" charset="2"/>
              </a:rPr>
              <a:t>N</a:t>
            </a:r>
            <a:r>
              <a:rPr lang="en-US" baseline="-25000">
                <a:sym typeface="Wingdings" pitchFamily="2" charset="2"/>
              </a:rPr>
              <a:t>2 </a:t>
            </a:r>
            <a:r>
              <a:rPr lang="en-US">
                <a:sym typeface="Wingdings" pitchFamily="2" charset="2"/>
              </a:rPr>
              <a:t>______</a:t>
            </a:r>
            <a:endParaRPr lang="en-US" baseline="-25000">
              <a:sym typeface="Wingdings" pitchFamily="2" charset="2"/>
            </a:endParaRPr>
          </a:p>
        </p:txBody>
      </p:sp>
      <p:sp>
        <p:nvSpPr>
          <p:cNvPr id="33795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400" b="1">
                <a:solidFill>
                  <a:srgbClr val="FF0000"/>
                </a:solidFill>
              </a:rPr>
              <a:t>Key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838200"/>
            <a:ext cx="533400" cy="6019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smtClean="0"/>
              <a:t>Notes to Teacher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458200" cy="5181600"/>
          </a:xfrm>
        </p:spPr>
        <p:txBody>
          <a:bodyPr/>
          <a:lstStyle/>
          <a:p>
            <a:r>
              <a:rPr lang="en-US" sz="2000" dirty="0" smtClean="0"/>
              <a:t>If you want to have the students cut out the ions themselves, they will need two copies of the ion </a:t>
            </a:r>
            <a:r>
              <a:rPr lang="en-US" sz="2000" dirty="0" smtClean="0"/>
              <a:t>sheet </a:t>
            </a:r>
            <a:r>
              <a:rPr lang="en-US" sz="2000" dirty="0" smtClean="0"/>
              <a:t>to complete the assignment.</a:t>
            </a:r>
          </a:p>
          <a:p>
            <a:r>
              <a:rPr lang="en-US" sz="2000" dirty="0" smtClean="0"/>
              <a:t>In order to save time you may want to try having the students cut out the ions as homework.</a:t>
            </a:r>
          </a:p>
          <a:p>
            <a:r>
              <a:rPr lang="en-US" sz="2000" dirty="0" smtClean="0"/>
              <a:t>If you are a paper-saving type, you can make class sets of </a:t>
            </a:r>
            <a:r>
              <a:rPr lang="en-US" sz="2000" dirty="0" smtClean="0"/>
              <a:t>ions (just one sheet per student since they can reuse ions) </a:t>
            </a:r>
            <a:r>
              <a:rPr lang="en-US" sz="2000" dirty="0" smtClean="0"/>
              <a:t>and not have the students actually paste them on the answer sheets.  Instead, you can:</a:t>
            </a:r>
          </a:p>
          <a:p>
            <a:pPr lvl="1"/>
            <a:r>
              <a:rPr lang="en-US" sz="2000" dirty="0" smtClean="0"/>
              <a:t>Have a class set of ions premade and laminated.  Put them in </a:t>
            </a:r>
            <a:r>
              <a:rPr lang="en-US" sz="2000" dirty="0" err="1" smtClean="0"/>
              <a:t>ziploc</a:t>
            </a:r>
            <a:r>
              <a:rPr lang="en-US" sz="2000" dirty="0" smtClean="0"/>
              <a:t> bags to keep them separate.  You can also laminate a class set of answer sheets if you want the students to have a reusable place to work out their solutions.</a:t>
            </a:r>
          </a:p>
          <a:p>
            <a:pPr lvl="1"/>
            <a:r>
              <a:rPr lang="en-US" sz="2000" dirty="0" smtClean="0"/>
              <a:t>Print the ion pages on magnetic paper and cover it with adhesive laminate prior to cutting out the pieces.  Then place these sets in </a:t>
            </a:r>
            <a:r>
              <a:rPr lang="en-US" sz="2000" dirty="0" err="1" smtClean="0"/>
              <a:t>ziploc</a:t>
            </a:r>
            <a:r>
              <a:rPr lang="en-US" sz="2000" dirty="0" smtClean="0"/>
              <a:t> bags.   Students can rearrange the ions on whiteboards or cheap cookie tins (which can be purchased at most dollar stores) before writing down their answers.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13174</TotalTime>
  <Words>1213</Words>
  <Application>Microsoft Office PowerPoint</Application>
  <PresentationFormat>On-screen Show (4:3)</PresentationFormat>
  <Paragraphs>319</Paragraphs>
  <Slides>35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Monotype Corsiva</vt:lpstr>
      <vt:lpstr>Meiryo</vt:lpstr>
      <vt:lpstr>Wingdings</vt:lpstr>
      <vt:lpstr>Constantia</vt:lpstr>
      <vt:lpstr>Default Design</vt:lpstr>
      <vt:lpstr>Adobe Photoshop Elements Image</vt:lpstr>
      <vt:lpstr>Forming Ionic Compounds   Adrena McDonald Venture Alternative High School</vt:lpstr>
      <vt:lpstr>Before We Begin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Questions?</vt:lpstr>
      <vt:lpstr>Slide 20</vt:lpstr>
      <vt:lpstr>Slide 21</vt:lpstr>
      <vt:lpstr>Slide 22</vt:lpstr>
      <vt:lpstr>Slide 23</vt:lpstr>
      <vt:lpstr>Slide 24</vt:lpstr>
      <vt:lpstr>Released TAKS Question</vt:lpstr>
      <vt:lpstr>Released TAKS Question</vt:lpstr>
      <vt:lpstr>Questions?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Notes to Teacher</vt:lpstr>
    </vt:vector>
  </TitlesOfParts>
  <Company>AISD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myandell</dc:creator>
  <cp:lastModifiedBy>Adrena</cp:lastModifiedBy>
  <cp:revision>208</cp:revision>
  <dcterms:created xsi:type="dcterms:W3CDTF">2007-11-19T20:06:30Z</dcterms:created>
  <dcterms:modified xsi:type="dcterms:W3CDTF">2010-02-13T06:32:18Z</dcterms:modified>
</cp:coreProperties>
</file>