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sldIdLst>
    <p:sldId id="259" r:id="rId2"/>
    <p:sldId id="260" r:id="rId3"/>
    <p:sldId id="261" r:id="rId4"/>
    <p:sldId id="262" r:id="rId5"/>
    <p:sldId id="263" r:id="rId6"/>
    <p:sldId id="264" r:id="rId7"/>
    <p:sldId id="265" r:id="rId8"/>
    <p:sldId id="271" r:id="rId9"/>
    <p:sldId id="272" r:id="rId10"/>
    <p:sldId id="273" r:id="rId11"/>
    <p:sldId id="274" r:id="rId12"/>
    <p:sldId id="275" r:id="rId13"/>
    <p:sldId id="276" r:id="rId14"/>
    <p:sldId id="277" r:id="rId15"/>
    <p:sldId id="278" r:id="rId16"/>
    <p:sldId id="279" r:id="rId17"/>
    <p:sldId id="280" r:id="rId18"/>
    <p:sldId id="281" r:id="rId19"/>
    <p:sldId id="282" r:id="rId20"/>
    <p:sldId id="283" r:id="rId21"/>
    <p:sldId id="284" r:id="rId22"/>
    <p:sldId id="285" r:id="rId23"/>
    <p:sldId id="286" r:id="rId24"/>
    <p:sldId id="287" r:id="rId25"/>
    <p:sldId id="288" r:id="rId26"/>
    <p:sldId id="289" r:id="rId27"/>
    <p:sldId id="290" r:id="rId28"/>
    <p:sldId id="291" r:id="rId29"/>
    <p:sldId id="293" r:id="rId30"/>
    <p:sldId id="292"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4" d="100"/>
          <a:sy n="74" d="100"/>
        </p:scale>
        <p:origin x="-1050"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9FDA53-EC20-4F83-977B-3DDF1DE9D4B3}" type="datetimeFigureOut">
              <a:rPr lang="en-US" smtClean="0"/>
              <a:pPr/>
              <a:t>11/23/2010</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AEE0FA2-A860-4795-A354-EED01C6C41AE}" type="slidenum">
              <a:rPr lang="en-US" smtClean="0"/>
              <a:pPr/>
              <a:t>‹#›</a:t>
            </a:fld>
            <a:endParaRPr lang="en-US" dirty="0"/>
          </a:p>
        </p:txBody>
      </p:sp>
    </p:spTree>
    <p:extLst>
      <p:ext uri="{BB962C8B-B14F-4D97-AF65-F5344CB8AC3E}">
        <p14:creationId xmlns:p14="http://schemas.microsoft.com/office/powerpoint/2010/main" xmlns="" val="15930675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2CE6DD0D-6575-423B-A61F-B4B182953CF3}" type="slidenum">
              <a:rPr lang="en-US" smtClean="0"/>
              <a:pPr/>
              <a:t>30</a:t>
            </a:fld>
            <a:endParaRPr lang="en-US" dirty="0" smtClean="0"/>
          </a:p>
        </p:txBody>
      </p:sp>
      <p:sp>
        <p:nvSpPr>
          <p:cNvPr id="12697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698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BE96D9D-5A3C-4A88-842B-2EF8EEA4BB1B}" type="datetimeFigureOut">
              <a:rPr lang="en-US" smtClean="0"/>
              <a:pPr/>
              <a:t>11/23/2010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DE50F6-067D-4F17-A4E5-94453E5E0B51}"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E96D9D-5A3C-4A88-842B-2EF8EEA4BB1B}" type="datetimeFigureOut">
              <a:rPr lang="en-US" smtClean="0"/>
              <a:pPr/>
              <a:t>11/23/2010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DE50F6-067D-4F17-A4E5-94453E5E0B51}"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BE96D9D-5A3C-4A88-842B-2EF8EEA4BB1B}" type="datetimeFigureOut">
              <a:rPr lang="en-US" smtClean="0"/>
              <a:pPr/>
              <a:t>11/23/2010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DE50F6-067D-4F17-A4E5-94453E5E0B51}"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BE96D9D-5A3C-4A88-842B-2EF8EEA4BB1B}" type="datetimeFigureOut">
              <a:rPr lang="en-US" smtClean="0"/>
              <a:pPr/>
              <a:t>11/23/2010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DE50F6-067D-4F17-A4E5-94453E5E0B51}"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BE96D9D-5A3C-4A88-842B-2EF8EEA4BB1B}" type="datetimeFigureOut">
              <a:rPr lang="en-US" smtClean="0"/>
              <a:pPr/>
              <a:t>11/23/2010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2DE50F6-067D-4F17-A4E5-94453E5E0B51}"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BE96D9D-5A3C-4A88-842B-2EF8EEA4BB1B}" type="datetimeFigureOut">
              <a:rPr lang="en-US" smtClean="0"/>
              <a:pPr/>
              <a:t>11/23/2010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2DE50F6-067D-4F17-A4E5-94453E5E0B51}"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BE96D9D-5A3C-4A88-842B-2EF8EEA4BB1B}" type="datetimeFigureOut">
              <a:rPr lang="en-US" smtClean="0"/>
              <a:pPr/>
              <a:t>11/23/2010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2DE50F6-067D-4F17-A4E5-94453E5E0B51}"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E96D9D-5A3C-4A88-842B-2EF8EEA4BB1B}" type="datetimeFigureOut">
              <a:rPr lang="en-US" smtClean="0"/>
              <a:pPr/>
              <a:t>11/23/2010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DE50F6-067D-4F17-A4E5-94453E5E0B51}"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BE96D9D-5A3C-4A88-842B-2EF8EEA4BB1B}" type="datetimeFigureOut">
              <a:rPr lang="en-US" smtClean="0"/>
              <a:pPr/>
              <a:t>11/23/2010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2DE50F6-067D-4F17-A4E5-94453E5E0B51}"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E96D9D-5A3C-4A88-842B-2EF8EEA4BB1B}" type="datetimeFigureOut">
              <a:rPr lang="en-US" smtClean="0"/>
              <a:pPr/>
              <a:t>11/23/2010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DE50F6-067D-4F17-A4E5-94453E5E0B51}"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BE96D9D-5A3C-4A88-842B-2EF8EEA4BB1B}" type="datetimeFigureOut">
              <a:rPr lang="en-US" smtClean="0"/>
              <a:pPr/>
              <a:t>11/23/2010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2DE50F6-067D-4F17-A4E5-94453E5E0B51}"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cstate="print">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BE96D9D-5A3C-4A88-842B-2EF8EEA4BB1B}" type="datetimeFigureOut">
              <a:rPr lang="en-US" smtClean="0"/>
              <a:pPr/>
              <a:t>11/23/2010</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2DE50F6-067D-4F17-A4E5-94453E5E0B51}"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itunes.apple.com/us/app/nyc-subway-maps-for-iphone/id282796383?mt=8" TargetMode="External"/><Relationship Id="rId2" Type="http://schemas.openxmlformats.org/officeDocument/2006/relationships/hyperlink" Target="http://www.mta.info/nyct/maps/submap.htm"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www.fgdc.gov/" TargetMode="External"/><Relationship Id="rId2" Type="http://schemas.openxmlformats.org/officeDocument/2006/relationships/hyperlink" Target="mailto:gdc@fgdc.gov"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www.swisstrains.ch/"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hyperlink" Target="http://www.uml.org/" TargetMode="Externa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www.uml.org/"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www.vre.org/vremap/app?action=ovmap" TargetMode="External"/><Relationship Id="rId2" Type="http://schemas.openxmlformats.org/officeDocument/2006/relationships/hyperlink" Target="http://www.vre.org/service/systmmp.htm"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1.xml"/><Relationship Id="rId5" Type="http://schemas.openxmlformats.org/officeDocument/2006/relationships/hyperlink" Target="http://www.adobe.com/products/acrobat/readstep2.html" TargetMode="External"/><Relationship Id="rId4" Type="http://schemas.openxmlformats.org/officeDocument/2006/relationships/hyperlink" Target="http://www.wygisc.uwyo.edu/fgdc/certificate.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4"/>
          <p:cNvSpPr>
            <a:spLocks noChangeArrowheads="1"/>
          </p:cNvSpPr>
          <p:nvPr/>
        </p:nvSpPr>
        <p:spPr bwMode="auto">
          <a:xfrm>
            <a:off x="304800" y="1998663"/>
            <a:ext cx="5867400" cy="2308324"/>
          </a:xfrm>
          <a:prstGeom prst="rect">
            <a:avLst/>
          </a:prstGeom>
          <a:noFill/>
          <a:ln w="9525">
            <a:noFill/>
            <a:miter lim="800000"/>
            <a:headEnd/>
            <a:tailEnd/>
          </a:ln>
        </p:spPr>
        <p:txBody>
          <a:bodyPr>
            <a:spAutoFit/>
          </a:bodyPr>
          <a:lstStyle/>
          <a:p>
            <a:r>
              <a:rPr lang="en-US" sz="1200" b="1" dirty="0"/>
              <a:t>The National Spatial Data Infrastructure (NSDI) Framework is a collaborative initiative to develop </a:t>
            </a:r>
            <a:r>
              <a:rPr lang="en-US" sz="1200" b="1" dirty="0" smtClean="0"/>
              <a:t>a set of commonly used geographic </a:t>
            </a:r>
            <a:r>
              <a:rPr lang="en-US" sz="1200" b="1" dirty="0"/>
              <a:t>datasets that are compatible based upon spatial location and content.  The Framework approach allows data collected for variety of reasons and agencies to work together seamlessly; which can ultimately reduce project costs and increase interagency cooperation.  The Framework Data Content Base Standards Suite dictates the requirements for Framework data.</a:t>
            </a:r>
          </a:p>
          <a:p>
            <a:endParaRPr lang="en-US" sz="1200" b="1" dirty="0"/>
          </a:p>
          <a:p>
            <a:r>
              <a:rPr lang="en-US" sz="1200" b="1" dirty="0"/>
              <a:t>This course covers the fundamentals of the Framework Data </a:t>
            </a:r>
            <a:r>
              <a:rPr lang="en-US" sz="1200" b="1" dirty="0" smtClean="0"/>
              <a:t>Theme: Transportation: Transit as </a:t>
            </a:r>
            <a:r>
              <a:rPr lang="en-US" sz="1200" b="1" dirty="0"/>
              <a:t>developed by the Framework Data Content Standard. It is designed for users who are both interested in an overview of the Framework Data Content Standard </a:t>
            </a:r>
            <a:r>
              <a:rPr lang="en-US" sz="1200" b="1" dirty="0" smtClean="0"/>
              <a:t>Transportation: Transit theme </a:t>
            </a:r>
            <a:r>
              <a:rPr lang="en-US" sz="1200" b="1" dirty="0"/>
              <a:t>as well as designers and developers implementing Framework data, and associated </a:t>
            </a:r>
            <a:r>
              <a:rPr lang="en-US" sz="1200" b="1" dirty="0" smtClean="0"/>
              <a:t>tools specific to Transportation: Transit  data.</a:t>
            </a:r>
            <a:endParaRPr lang="en-US" sz="1200" b="1" dirty="0"/>
          </a:p>
        </p:txBody>
      </p:sp>
      <p:sp>
        <p:nvSpPr>
          <p:cNvPr id="2053" name="Text Box 5"/>
          <p:cNvSpPr txBox="1">
            <a:spLocks noChangeArrowheads="1"/>
          </p:cNvSpPr>
          <p:nvPr/>
        </p:nvSpPr>
        <p:spPr bwMode="auto">
          <a:xfrm>
            <a:off x="228600" y="1617663"/>
            <a:ext cx="3048000" cy="336550"/>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Course Information</a:t>
            </a:r>
          </a:p>
        </p:txBody>
      </p:sp>
      <p:sp>
        <p:nvSpPr>
          <p:cNvPr id="2054" name="Text Box 6"/>
          <p:cNvSpPr txBox="1">
            <a:spLocks noChangeArrowheads="1"/>
          </p:cNvSpPr>
          <p:nvPr/>
        </p:nvSpPr>
        <p:spPr bwMode="auto">
          <a:xfrm>
            <a:off x="228600" y="4840288"/>
            <a:ext cx="3048000" cy="336550"/>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Prerequisites</a:t>
            </a:r>
          </a:p>
        </p:txBody>
      </p:sp>
      <p:sp>
        <p:nvSpPr>
          <p:cNvPr id="4101" name="Text Box 7"/>
          <p:cNvSpPr txBox="1">
            <a:spLocks noChangeArrowheads="1"/>
          </p:cNvSpPr>
          <p:nvPr/>
        </p:nvSpPr>
        <p:spPr bwMode="auto">
          <a:xfrm>
            <a:off x="441325" y="5151438"/>
            <a:ext cx="6027612" cy="1015663"/>
          </a:xfrm>
          <a:prstGeom prst="rect">
            <a:avLst/>
          </a:prstGeom>
          <a:noFill/>
          <a:ln w="9525">
            <a:noFill/>
            <a:miter lim="800000"/>
            <a:headEnd/>
            <a:tailEnd/>
          </a:ln>
        </p:spPr>
        <p:txBody>
          <a:bodyPr wrap="none">
            <a:spAutoFit/>
          </a:bodyPr>
          <a:lstStyle/>
          <a:p>
            <a:pPr>
              <a:buClr>
                <a:srgbClr val="33338C"/>
              </a:buClr>
              <a:buFontTx/>
              <a:buChar char="•"/>
            </a:pPr>
            <a:r>
              <a:rPr lang="en-US" sz="1200" b="1" dirty="0"/>
              <a:t> General Understanding of GIS, Geospatial Data and Metadata</a:t>
            </a:r>
          </a:p>
          <a:p>
            <a:pPr>
              <a:buClr>
                <a:srgbClr val="33338C"/>
              </a:buClr>
              <a:buFontTx/>
              <a:buChar char="•"/>
            </a:pPr>
            <a:r>
              <a:rPr lang="en-US" sz="1200" b="1" dirty="0"/>
              <a:t> </a:t>
            </a:r>
            <a:r>
              <a:rPr lang="en-US" sz="1200" b="1" dirty="0" smtClean="0"/>
              <a:t>Familiarity with the Federal Geographic Data Committee (FGDC)</a:t>
            </a:r>
          </a:p>
          <a:p>
            <a:pPr>
              <a:buClr>
                <a:srgbClr val="33338C"/>
              </a:buClr>
              <a:buFontTx/>
              <a:buChar char="•"/>
            </a:pPr>
            <a:r>
              <a:rPr lang="en-US" sz="1200" b="1" dirty="0" smtClean="0"/>
              <a:t> Familiarity with the National Spatial Data Infrastructure (NSDI)</a:t>
            </a:r>
          </a:p>
          <a:p>
            <a:pPr>
              <a:buClr>
                <a:srgbClr val="33338C"/>
              </a:buClr>
              <a:buFontTx/>
              <a:buChar char="•"/>
            </a:pPr>
            <a:r>
              <a:rPr lang="en-US" sz="1200" b="1" dirty="0" smtClean="0"/>
              <a:t> </a:t>
            </a:r>
            <a:r>
              <a:rPr lang="en-US" sz="1200" b="1" dirty="0"/>
              <a:t>Basic knowledge of Geographic Data Standards (specifically ISO 19100 series)</a:t>
            </a:r>
          </a:p>
          <a:p>
            <a:pPr>
              <a:buClr>
                <a:srgbClr val="33338C"/>
              </a:buClr>
              <a:buFontTx/>
              <a:buChar char="•"/>
            </a:pPr>
            <a:r>
              <a:rPr lang="en-US" sz="1200" b="1" dirty="0"/>
              <a:t> Completion of Framework Data Content Base Standard </a:t>
            </a:r>
            <a:r>
              <a:rPr lang="en-US" sz="1200" b="1" dirty="0" smtClean="0"/>
              <a:t>Course</a:t>
            </a:r>
            <a:endParaRPr lang="en-US" sz="1200" b="1" dirty="0"/>
          </a:p>
        </p:txBody>
      </p:sp>
      <p:sp>
        <p:nvSpPr>
          <p:cNvPr id="2056" name="Text Box 8"/>
          <p:cNvSpPr txBox="1">
            <a:spLocks noChangeArrowheads="1"/>
          </p:cNvSpPr>
          <p:nvPr/>
        </p:nvSpPr>
        <p:spPr bwMode="auto">
          <a:xfrm>
            <a:off x="228600" y="914400"/>
            <a:ext cx="7162800" cy="338554"/>
          </a:xfrm>
          <a:prstGeom prst="rect">
            <a:avLst/>
          </a:prstGeom>
          <a:noFill/>
          <a:ln w="9525">
            <a:noFill/>
            <a:miter lim="800000"/>
            <a:headEnd/>
            <a:tailEnd/>
          </a:ln>
          <a:effectLst/>
        </p:spPr>
        <p:txBody>
          <a:bodyPr wrap="square">
            <a:spAutoFit/>
          </a:bodyPr>
          <a:lstStyle/>
          <a:p>
            <a:pPr>
              <a:defRPr/>
            </a:pPr>
            <a:r>
              <a:rPr lang="en-US" sz="1600" b="1" dirty="0">
                <a:effectLst>
                  <a:outerShdw blurRad="38100" dist="38100" dir="2700000" algn="tl">
                    <a:srgbClr val="C0C0C0"/>
                  </a:outerShdw>
                </a:effectLst>
                <a:latin typeface="Arial Black" pitchFamily="34" charset="0"/>
              </a:rPr>
              <a:t>Framework Data Content </a:t>
            </a:r>
            <a:r>
              <a:rPr lang="en-US" sz="1600" b="1" dirty="0" smtClean="0">
                <a:effectLst>
                  <a:outerShdw blurRad="38100" dist="38100" dir="2700000" algn="tl">
                    <a:srgbClr val="C0C0C0"/>
                  </a:outerShdw>
                </a:effectLst>
                <a:latin typeface="Arial Black" pitchFamily="34" charset="0"/>
              </a:rPr>
              <a:t>Standard – Transportation: Transit</a:t>
            </a:r>
            <a:endParaRPr lang="en-US" sz="1600" b="1" dirty="0">
              <a:effectLst>
                <a:outerShdw blurRad="38100" dist="38100" dir="2700000" algn="tl">
                  <a:srgbClr val="C0C0C0"/>
                </a:outerShdw>
              </a:effectLst>
              <a:latin typeface="Arial Black" pitchFamily="34" charset="0"/>
            </a:endParaRPr>
          </a:p>
        </p:txBody>
      </p:sp>
      <p:sp>
        <p:nvSpPr>
          <p:cNvPr id="7" name="Text Box 5"/>
          <p:cNvSpPr txBox="1">
            <a:spLocks noChangeArrowheads="1"/>
          </p:cNvSpPr>
          <p:nvPr/>
        </p:nvSpPr>
        <p:spPr bwMode="auto">
          <a:xfrm>
            <a:off x="7648575" y="962025"/>
            <a:ext cx="1398588" cy="260350"/>
          </a:xfrm>
          <a:prstGeom prst="rect">
            <a:avLst/>
          </a:prstGeom>
          <a:noFill/>
          <a:ln w="9525">
            <a:noFill/>
            <a:miter lim="800000"/>
            <a:headEnd/>
            <a:tailEnd/>
          </a:ln>
          <a:effectLst/>
        </p:spPr>
        <p:txBody>
          <a:bodyPr>
            <a:spAutoFit/>
          </a:bodyPr>
          <a:lstStyle/>
          <a:p>
            <a:pPr>
              <a:defRPr/>
            </a:pPr>
            <a:r>
              <a:rPr lang="en-US" sz="1100" dirty="0">
                <a:solidFill>
                  <a:srgbClr val="33338C"/>
                </a:solidFill>
                <a:effectLst>
                  <a:outerShdw blurRad="38100" dist="38100" dir="2700000" algn="tl">
                    <a:srgbClr val="C0C0C0"/>
                  </a:outerShdw>
                </a:effectLst>
                <a:latin typeface="Arial Black" pitchFamily="34" charset="0"/>
              </a:rPr>
              <a:t>Related Topics</a:t>
            </a:r>
          </a:p>
        </p:txBody>
      </p:sp>
      <p:sp>
        <p:nvSpPr>
          <p:cNvPr id="8" name="Text Box 10"/>
          <p:cNvSpPr txBox="1">
            <a:spLocks noChangeArrowheads="1"/>
          </p:cNvSpPr>
          <p:nvPr/>
        </p:nvSpPr>
        <p:spPr bwMode="auto">
          <a:xfrm>
            <a:off x="6953250" y="1287463"/>
            <a:ext cx="2063750" cy="2835275"/>
          </a:xfrm>
          <a:prstGeom prst="rect">
            <a:avLst/>
          </a:prstGeom>
          <a:solidFill>
            <a:schemeClr val="bg1">
              <a:lumMod val="85000"/>
            </a:schemeClr>
          </a:solidFill>
          <a:ln w="9525">
            <a:noFill/>
            <a:miter lim="800000"/>
            <a:headEnd/>
            <a:tailEnd/>
          </a:ln>
          <a:effectLst/>
        </p:spPr>
        <p:txBody>
          <a:bodyPr>
            <a:spAutoFit/>
          </a:bodyPr>
          <a:lstStyle/>
          <a:p>
            <a:pPr>
              <a:defRPr/>
            </a:pPr>
            <a:r>
              <a:rPr lang="en-US" sz="1000" dirty="0">
                <a:latin typeface="Arial Rounded MT Bold" pitchFamily="34" charset="0"/>
              </a:rPr>
              <a:t>NSDI Training Tracks:</a:t>
            </a:r>
          </a:p>
          <a:p>
            <a:pPr>
              <a:defRPr/>
            </a:pPr>
            <a:r>
              <a:rPr lang="en-US" sz="1000" dirty="0">
                <a:solidFill>
                  <a:srgbClr val="4D4D4D"/>
                </a:solidFill>
                <a:latin typeface="Arial Rounded MT Bold" pitchFamily="34" charset="0"/>
              </a:rPr>
              <a:t>    An initiative to define areas, </a:t>
            </a:r>
            <a:br>
              <a:rPr lang="en-US" sz="1000" dirty="0">
                <a:solidFill>
                  <a:srgbClr val="4D4D4D"/>
                </a:solidFill>
                <a:latin typeface="Arial Rounded MT Bold" pitchFamily="34" charset="0"/>
              </a:rPr>
            </a:br>
            <a:r>
              <a:rPr lang="en-US" sz="1000" dirty="0">
                <a:solidFill>
                  <a:srgbClr val="4D4D4D"/>
                </a:solidFill>
                <a:latin typeface="Arial Rounded MT Bold" pitchFamily="34" charset="0"/>
              </a:rPr>
              <a:t>    topics, and materials for</a:t>
            </a:r>
            <a:br>
              <a:rPr lang="en-US" sz="1000" dirty="0">
                <a:solidFill>
                  <a:srgbClr val="4D4D4D"/>
                </a:solidFill>
                <a:latin typeface="Arial Rounded MT Bold" pitchFamily="34" charset="0"/>
              </a:rPr>
            </a:br>
            <a:r>
              <a:rPr lang="en-US" sz="1000" dirty="0">
                <a:solidFill>
                  <a:srgbClr val="4D4D4D"/>
                </a:solidFill>
                <a:latin typeface="Arial Rounded MT Bold" pitchFamily="34" charset="0"/>
              </a:rPr>
              <a:t>    training within the NSDI.</a:t>
            </a:r>
            <a:br>
              <a:rPr lang="en-US" sz="1000" dirty="0">
                <a:solidFill>
                  <a:srgbClr val="4D4D4D"/>
                </a:solidFill>
                <a:latin typeface="Arial Rounded MT Bold" pitchFamily="34" charset="0"/>
              </a:rPr>
            </a:br>
            <a:endParaRPr lang="en-US" sz="1000" dirty="0">
              <a:solidFill>
                <a:srgbClr val="4D4D4D"/>
              </a:solidFill>
              <a:latin typeface="Arial Rounded MT Bold" pitchFamily="34" charset="0"/>
            </a:endParaRPr>
          </a:p>
          <a:p>
            <a:pPr>
              <a:defRPr/>
            </a:pPr>
            <a:r>
              <a:rPr lang="en-US" sz="1000" dirty="0">
                <a:latin typeface="Arial Rounded MT Bold" pitchFamily="34" charset="0"/>
              </a:rPr>
              <a:t>ISO 19100 Series:</a:t>
            </a:r>
          </a:p>
          <a:p>
            <a:pPr>
              <a:defRPr/>
            </a:pPr>
            <a:r>
              <a:rPr lang="en-US" sz="1000" dirty="0">
                <a:solidFill>
                  <a:srgbClr val="4D4D4D"/>
                </a:solidFill>
                <a:latin typeface="Arial Rounded MT Bold" pitchFamily="34" charset="0"/>
              </a:rPr>
              <a:t>    Suite of standards </a:t>
            </a:r>
            <a:br>
              <a:rPr lang="en-US" sz="1000" dirty="0">
                <a:solidFill>
                  <a:srgbClr val="4D4D4D"/>
                </a:solidFill>
                <a:latin typeface="Arial Rounded MT Bold" pitchFamily="34" charset="0"/>
              </a:rPr>
            </a:br>
            <a:r>
              <a:rPr lang="en-US" sz="1000" dirty="0">
                <a:solidFill>
                  <a:srgbClr val="4D4D4D"/>
                </a:solidFill>
                <a:latin typeface="Arial Rounded MT Bold" pitchFamily="34" charset="0"/>
              </a:rPr>
              <a:t>    developed for geographic</a:t>
            </a:r>
            <a:br>
              <a:rPr lang="en-US" sz="1000" dirty="0">
                <a:solidFill>
                  <a:srgbClr val="4D4D4D"/>
                </a:solidFill>
                <a:latin typeface="Arial Rounded MT Bold" pitchFamily="34" charset="0"/>
              </a:rPr>
            </a:br>
            <a:r>
              <a:rPr lang="en-US" sz="1000" dirty="0">
                <a:solidFill>
                  <a:srgbClr val="4D4D4D"/>
                </a:solidFill>
                <a:latin typeface="Arial Rounded MT Bold" pitchFamily="34" charset="0"/>
              </a:rPr>
              <a:t>    data and datasets. The</a:t>
            </a:r>
            <a:br>
              <a:rPr lang="en-US" sz="1000" dirty="0">
                <a:solidFill>
                  <a:srgbClr val="4D4D4D"/>
                </a:solidFill>
                <a:latin typeface="Arial Rounded MT Bold" pitchFamily="34" charset="0"/>
              </a:rPr>
            </a:br>
            <a:r>
              <a:rPr lang="en-US" sz="1000" dirty="0">
                <a:solidFill>
                  <a:srgbClr val="4D4D4D"/>
                </a:solidFill>
                <a:latin typeface="Arial Rounded MT Bold" pitchFamily="34" charset="0"/>
              </a:rPr>
              <a:t>    most notable is ISO 19135</a:t>
            </a:r>
            <a:br>
              <a:rPr lang="en-US" sz="1000" dirty="0">
                <a:solidFill>
                  <a:srgbClr val="4D4D4D"/>
                </a:solidFill>
                <a:latin typeface="Arial Rounded MT Bold" pitchFamily="34" charset="0"/>
              </a:rPr>
            </a:br>
            <a:r>
              <a:rPr lang="en-US" sz="1000" dirty="0">
                <a:solidFill>
                  <a:srgbClr val="4D4D4D"/>
                </a:solidFill>
                <a:latin typeface="Arial Rounded MT Bold" pitchFamily="34" charset="0"/>
              </a:rPr>
              <a:t>    which pertains to metadata.</a:t>
            </a:r>
            <a:br>
              <a:rPr lang="en-US" sz="1000" dirty="0">
                <a:solidFill>
                  <a:srgbClr val="4D4D4D"/>
                </a:solidFill>
                <a:latin typeface="Arial Rounded MT Bold" pitchFamily="34" charset="0"/>
              </a:rPr>
            </a:br>
            <a:endParaRPr lang="en-US" sz="1000" dirty="0">
              <a:latin typeface="Arial Rounded MT Bold" pitchFamily="34" charset="0"/>
            </a:endParaRPr>
          </a:p>
          <a:p>
            <a:pPr>
              <a:defRPr/>
            </a:pPr>
            <a:r>
              <a:rPr lang="en-US" sz="1000" dirty="0">
                <a:latin typeface="Arial Rounded MT Bold" pitchFamily="34" charset="0"/>
              </a:rPr>
              <a:t>ANSI Standards:</a:t>
            </a:r>
          </a:p>
          <a:p>
            <a:pPr>
              <a:defRPr/>
            </a:pPr>
            <a:r>
              <a:rPr lang="en-US" sz="1000" dirty="0">
                <a:solidFill>
                  <a:srgbClr val="4D4D4D"/>
                </a:solidFill>
                <a:latin typeface="Arial Rounded MT Bold" pitchFamily="34" charset="0"/>
              </a:rPr>
              <a:t>    Similar work to ISO, but  </a:t>
            </a:r>
            <a:br>
              <a:rPr lang="en-US" sz="1000" dirty="0">
                <a:solidFill>
                  <a:srgbClr val="4D4D4D"/>
                </a:solidFill>
                <a:latin typeface="Arial Rounded MT Bold" pitchFamily="34" charset="0"/>
              </a:rPr>
            </a:br>
            <a:r>
              <a:rPr lang="en-US" sz="1000" dirty="0">
                <a:solidFill>
                  <a:srgbClr val="4D4D4D"/>
                </a:solidFill>
                <a:latin typeface="Arial Rounded MT Bold" pitchFamily="34" charset="0"/>
              </a:rPr>
              <a:t>    standards directly apply to </a:t>
            </a:r>
          </a:p>
          <a:p>
            <a:pPr>
              <a:defRPr/>
            </a:pPr>
            <a:r>
              <a:rPr lang="en-US" sz="1000" dirty="0">
                <a:solidFill>
                  <a:srgbClr val="4D4D4D"/>
                </a:solidFill>
                <a:latin typeface="Arial Rounded MT Bold" pitchFamily="34" charset="0"/>
              </a:rPr>
              <a:t>    data created within the</a:t>
            </a:r>
            <a:br>
              <a:rPr lang="en-US" sz="1000" dirty="0">
                <a:solidFill>
                  <a:srgbClr val="4D4D4D"/>
                </a:solidFill>
                <a:latin typeface="Arial Rounded MT Bold" pitchFamily="34" charset="0"/>
              </a:rPr>
            </a:br>
            <a:r>
              <a:rPr lang="en-US" sz="1000" dirty="0">
                <a:solidFill>
                  <a:srgbClr val="4D4D4D"/>
                </a:solidFill>
                <a:latin typeface="Arial Rounded MT Bold" pitchFamily="34" charset="0"/>
              </a:rPr>
              <a:t>    United States.</a:t>
            </a:r>
          </a:p>
          <a:p>
            <a:pPr>
              <a:defRPr/>
            </a:pPr>
            <a:endParaRPr lang="en-US" sz="1000" dirty="0">
              <a:solidFill>
                <a:srgbClr val="4D4D4D"/>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Text Box 4"/>
          <p:cNvSpPr txBox="1">
            <a:spLocks noChangeArrowheads="1"/>
          </p:cNvSpPr>
          <p:nvPr/>
        </p:nvSpPr>
        <p:spPr bwMode="auto">
          <a:xfrm>
            <a:off x="228600" y="1447800"/>
            <a:ext cx="3048000" cy="336550"/>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Course modules</a:t>
            </a:r>
          </a:p>
        </p:txBody>
      </p:sp>
      <p:sp>
        <p:nvSpPr>
          <p:cNvPr id="6147" name="Text Box 5"/>
          <p:cNvSpPr txBox="1">
            <a:spLocks noChangeArrowheads="1"/>
          </p:cNvSpPr>
          <p:nvPr/>
        </p:nvSpPr>
        <p:spPr bwMode="auto">
          <a:xfrm>
            <a:off x="381000" y="1752600"/>
            <a:ext cx="6553200" cy="1421928"/>
          </a:xfrm>
          <a:prstGeom prst="rect">
            <a:avLst/>
          </a:prstGeom>
          <a:noFill/>
          <a:ln w="9525">
            <a:noFill/>
            <a:miter lim="800000"/>
            <a:headEnd/>
            <a:tailEnd/>
          </a:ln>
        </p:spPr>
        <p:txBody>
          <a:bodyPr wrap="square">
            <a:spAutoFit/>
          </a:bodyPr>
          <a:lstStyle/>
          <a:p>
            <a:pPr>
              <a:lnSpc>
                <a:spcPct val="180000"/>
              </a:lnSpc>
              <a:buClr>
                <a:srgbClr val="33338C"/>
              </a:buClr>
              <a:buFontTx/>
              <a:buChar char="•"/>
            </a:pPr>
            <a:r>
              <a:rPr lang="en-US" sz="1200" b="1" dirty="0"/>
              <a:t> Understanding </a:t>
            </a:r>
            <a:r>
              <a:rPr lang="en-US" sz="1200" b="1" dirty="0" smtClean="0"/>
              <a:t>Transportation: Transit Data</a:t>
            </a:r>
            <a:endParaRPr lang="en-US" sz="1200" b="1" dirty="0"/>
          </a:p>
          <a:p>
            <a:pPr>
              <a:lnSpc>
                <a:spcPct val="180000"/>
              </a:lnSpc>
              <a:buClr>
                <a:srgbClr val="33338C"/>
              </a:buClr>
              <a:buFontTx/>
              <a:buChar char="•"/>
            </a:pPr>
            <a:r>
              <a:rPr lang="en-US" sz="1200" b="1" dirty="0"/>
              <a:t> </a:t>
            </a:r>
            <a:r>
              <a:rPr lang="en-US" sz="1200" b="1" dirty="0" smtClean="0"/>
              <a:t>Transportation: Transit (Part 7d) </a:t>
            </a:r>
            <a:r>
              <a:rPr lang="en-US" sz="1200" b="1" dirty="0"/>
              <a:t>of the Framework Data Content Standard</a:t>
            </a:r>
          </a:p>
          <a:p>
            <a:pPr>
              <a:lnSpc>
                <a:spcPct val="180000"/>
              </a:lnSpc>
              <a:buClr>
                <a:srgbClr val="33338C"/>
              </a:buClr>
              <a:buFontTx/>
              <a:buChar char="•"/>
            </a:pPr>
            <a:r>
              <a:rPr lang="en-US" sz="1200" b="1" dirty="0"/>
              <a:t> Implementing the </a:t>
            </a:r>
            <a:r>
              <a:rPr lang="en-US" sz="1200" b="1" dirty="0" smtClean="0"/>
              <a:t>Transportation: Transit Standard</a:t>
            </a:r>
            <a:endParaRPr lang="en-US" sz="1200" b="1" dirty="0"/>
          </a:p>
          <a:p>
            <a:pPr>
              <a:lnSpc>
                <a:spcPct val="180000"/>
              </a:lnSpc>
              <a:buClr>
                <a:srgbClr val="33338C"/>
              </a:buClr>
              <a:buFontTx/>
              <a:buChar char="•"/>
            </a:pPr>
            <a:r>
              <a:rPr lang="en-US" sz="1200" b="1" dirty="0"/>
              <a:t> Course </a:t>
            </a:r>
            <a:r>
              <a:rPr lang="en-US" sz="1200" b="1" dirty="0" smtClean="0"/>
              <a:t>Review</a:t>
            </a:r>
            <a:endParaRPr lang="en-US" sz="1200" b="1" dirty="0"/>
          </a:p>
        </p:txBody>
      </p:sp>
      <p:sp>
        <p:nvSpPr>
          <p:cNvPr id="4102" name="Text Box 6"/>
          <p:cNvSpPr txBox="1">
            <a:spLocks noChangeArrowheads="1"/>
          </p:cNvSpPr>
          <p:nvPr/>
        </p:nvSpPr>
        <p:spPr bwMode="auto">
          <a:xfrm>
            <a:off x="228600" y="3803650"/>
            <a:ext cx="3048000" cy="336550"/>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Estimated Time</a:t>
            </a:r>
          </a:p>
        </p:txBody>
      </p:sp>
      <p:sp>
        <p:nvSpPr>
          <p:cNvPr id="6149" name="Text Box 7"/>
          <p:cNvSpPr txBox="1">
            <a:spLocks noChangeArrowheads="1"/>
          </p:cNvSpPr>
          <p:nvPr/>
        </p:nvSpPr>
        <p:spPr bwMode="auto">
          <a:xfrm>
            <a:off x="441325" y="4191000"/>
            <a:ext cx="4041775" cy="276225"/>
          </a:xfrm>
          <a:prstGeom prst="rect">
            <a:avLst/>
          </a:prstGeom>
          <a:noFill/>
          <a:ln w="9525">
            <a:noFill/>
            <a:miter lim="800000"/>
            <a:headEnd/>
            <a:tailEnd/>
          </a:ln>
        </p:spPr>
        <p:txBody>
          <a:bodyPr wrap="none">
            <a:spAutoFit/>
          </a:bodyPr>
          <a:lstStyle/>
          <a:p>
            <a:pPr>
              <a:buClr>
                <a:srgbClr val="526666"/>
              </a:buClr>
            </a:pPr>
            <a:r>
              <a:rPr lang="en-US" sz="1200" b="1" dirty="0"/>
              <a:t>Estimated time for the entire course is </a:t>
            </a:r>
            <a:r>
              <a:rPr lang="en-US" sz="1200" b="1" dirty="0" smtClean="0"/>
              <a:t>100 </a:t>
            </a:r>
            <a:r>
              <a:rPr lang="en-US" sz="1200" b="1" dirty="0"/>
              <a:t>minutes.  </a:t>
            </a:r>
          </a:p>
        </p:txBody>
      </p:sp>
      <p:sp>
        <p:nvSpPr>
          <p:cNvPr id="4104" name="Text Box 8"/>
          <p:cNvSpPr txBox="1">
            <a:spLocks noChangeArrowheads="1"/>
          </p:cNvSpPr>
          <p:nvPr/>
        </p:nvSpPr>
        <p:spPr bwMode="auto">
          <a:xfrm>
            <a:off x="7142163" y="857250"/>
            <a:ext cx="1895475" cy="260350"/>
          </a:xfrm>
          <a:prstGeom prst="rect">
            <a:avLst/>
          </a:prstGeom>
          <a:noFill/>
          <a:ln w="9525">
            <a:noFill/>
            <a:miter lim="800000"/>
            <a:headEnd/>
            <a:tailEnd/>
          </a:ln>
          <a:effectLst/>
        </p:spPr>
        <p:txBody>
          <a:bodyPr>
            <a:spAutoFit/>
          </a:bodyPr>
          <a:lstStyle/>
          <a:p>
            <a:pPr algn="r">
              <a:defRPr/>
            </a:pPr>
            <a:r>
              <a:rPr lang="en-US" sz="1100" b="1" dirty="0">
                <a:solidFill>
                  <a:srgbClr val="33338C"/>
                </a:solidFill>
                <a:effectLst>
                  <a:outerShdw blurRad="38100" dist="38100" dir="2700000" algn="tl">
                    <a:srgbClr val="C0C0C0"/>
                  </a:outerShdw>
                </a:effectLst>
                <a:latin typeface="Arial Black" pitchFamily="34" charset="0"/>
              </a:rPr>
              <a:t>Learning Objectives</a:t>
            </a:r>
          </a:p>
        </p:txBody>
      </p:sp>
      <p:sp>
        <p:nvSpPr>
          <p:cNvPr id="4103" name="Text Box 9"/>
          <p:cNvSpPr txBox="1">
            <a:spLocks noChangeArrowheads="1"/>
          </p:cNvSpPr>
          <p:nvPr/>
        </p:nvSpPr>
        <p:spPr bwMode="auto">
          <a:xfrm>
            <a:off x="6972300" y="1144588"/>
            <a:ext cx="2063750" cy="1615827"/>
          </a:xfrm>
          <a:prstGeom prst="rect">
            <a:avLst/>
          </a:prstGeom>
          <a:solidFill>
            <a:schemeClr val="bg1">
              <a:lumMod val="85000"/>
            </a:schemeClr>
          </a:solidFill>
          <a:ln w="9525">
            <a:noFill/>
            <a:miter lim="800000"/>
            <a:headEnd/>
            <a:tailEnd/>
          </a:ln>
        </p:spPr>
        <p:txBody>
          <a:bodyPr>
            <a:spAutoFit/>
          </a:bodyPr>
          <a:lstStyle/>
          <a:p>
            <a:pPr>
              <a:defRPr/>
            </a:pPr>
            <a:r>
              <a:rPr lang="en-US" sz="1000" b="1" dirty="0" smtClean="0">
                <a:solidFill>
                  <a:srgbClr val="4D4D4D"/>
                </a:solidFill>
                <a:latin typeface="Arial Rounded MT Bold" pitchFamily="34" charset="0"/>
              </a:rPr>
              <a:t>Understand Transportation: Transit Data</a:t>
            </a:r>
            <a:endParaRPr lang="en-US" sz="1000" b="1" dirty="0">
              <a:solidFill>
                <a:srgbClr val="4D4D4D"/>
              </a:solidFill>
              <a:latin typeface="Arial Rounded MT Bold" pitchFamily="34" charset="0"/>
            </a:endParaRPr>
          </a:p>
          <a:p>
            <a:pPr>
              <a:defRPr/>
            </a:pPr>
            <a:endParaRPr lang="en-US" sz="1000" b="1" dirty="0">
              <a:solidFill>
                <a:srgbClr val="4D4D4D"/>
              </a:solidFill>
              <a:latin typeface="Arial Rounded MT Bold" pitchFamily="34" charset="0"/>
            </a:endParaRPr>
          </a:p>
          <a:p>
            <a:pPr>
              <a:defRPr/>
            </a:pPr>
            <a:r>
              <a:rPr lang="en-US" sz="1000" b="1" dirty="0">
                <a:solidFill>
                  <a:srgbClr val="4D4D4D"/>
                </a:solidFill>
                <a:latin typeface="Arial Rounded MT Bold" pitchFamily="34" charset="0"/>
              </a:rPr>
              <a:t>Comprehend </a:t>
            </a:r>
            <a:r>
              <a:rPr lang="en-US" sz="1000" b="1" dirty="0" smtClean="0">
                <a:solidFill>
                  <a:srgbClr val="4D4D4D"/>
                </a:solidFill>
                <a:latin typeface="Arial Rounded MT Bold" pitchFamily="34" charset="0"/>
              </a:rPr>
              <a:t>Basics </a:t>
            </a:r>
            <a:r>
              <a:rPr lang="en-US" sz="1000" b="1" dirty="0">
                <a:solidFill>
                  <a:srgbClr val="4D4D4D"/>
                </a:solidFill>
                <a:latin typeface="Arial Rounded MT Bold" pitchFamily="34" charset="0"/>
              </a:rPr>
              <a:t>of </a:t>
            </a:r>
            <a:r>
              <a:rPr lang="en-US" sz="1000" b="1" dirty="0" smtClean="0">
                <a:solidFill>
                  <a:srgbClr val="4D4D4D"/>
                </a:solidFill>
                <a:latin typeface="Arial Rounded MT Bold" pitchFamily="34" charset="0"/>
              </a:rPr>
              <a:t>Transportation: Transit Framework Standard</a:t>
            </a:r>
            <a:endParaRPr lang="en-US" sz="1000" b="1" dirty="0">
              <a:solidFill>
                <a:srgbClr val="4D4D4D"/>
              </a:solidFill>
              <a:latin typeface="Arial Rounded MT Bold" pitchFamily="34" charset="0"/>
            </a:endParaRPr>
          </a:p>
          <a:p>
            <a:pPr>
              <a:defRPr/>
            </a:pPr>
            <a:endParaRPr lang="en-US" sz="1000" b="1" dirty="0">
              <a:solidFill>
                <a:srgbClr val="4D4D4D"/>
              </a:solidFill>
              <a:latin typeface="Arial Rounded MT Bold" pitchFamily="34" charset="0"/>
            </a:endParaRPr>
          </a:p>
          <a:p>
            <a:pPr>
              <a:defRPr/>
            </a:pPr>
            <a:r>
              <a:rPr lang="en-US" sz="1000" b="1" dirty="0">
                <a:solidFill>
                  <a:srgbClr val="4D4D4D"/>
                </a:solidFill>
                <a:latin typeface="Arial Rounded MT Bold" pitchFamily="34" charset="0"/>
              </a:rPr>
              <a:t>Understand </a:t>
            </a:r>
            <a:r>
              <a:rPr lang="en-US" sz="1000" b="1" dirty="0" smtClean="0">
                <a:solidFill>
                  <a:srgbClr val="4D4D4D"/>
                </a:solidFill>
                <a:latin typeface="Arial Rounded MT Bold" pitchFamily="34" charset="0"/>
              </a:rPr>
              <a:t>How </a:t>
            </a:r>
            <a:r>
              <a:rPr lang="en-US" sz="1000" b="1" dirty="0">
                <a:solidFill>
                  <a:srgbClr val="4D4D4D"/>
                </a:solidFill>
                <a:latin typeface="Arial Rounded MT Bold" pitchFamily="34" charset="0"/>
              </a:rPr>
              <a:t>to </a:t>
            </a:r>
            <a:r>
              <a:rPr lang="en-US" sz="1000" b="1" dirty="0" smtClean="0">
                <a:solidFill>
                  <a:srgbClr val="4D4D4D"/>
                </a:solidFill>
                <a:latin typeface="Arial Rounded MT Bold" pitchFamily="34" charset="0"/>
              </a:rPr>
              <a:t>Implement </a:t>
            </a:r>
            <a:r>
              <a:rPr lang="en-US" sz="1000" b="1" dirty="0">
                <a:solidFill>
                  <a:srgbClr val="4D4D4D"/>
                </a:solidFill>
                <a:latin typeface="Arial Rounded MT Bold" pitchFamily="34" charset="0"/>
              </a:rPr>
              <a:t>the </a:t>
            </a:r>
            <a:r>
              <a:rPr lang="en-US" sz="1000" b="1" dirty="0" smtClean="0">
                <a:solidFill>
                  <a:srgbClr val="4D4D4D"/>
                </a:solidFill>
                <a:latin typeface="Arial Rounded MT Bold" pitchFamily="34" charset="0"/>
              </a:rPr>
              <a:t>Standard</a:t>
            </a:r>
            <a:endParaRPr lang="en-US" sz="900" b="1" dirty="0">
              <a:solidFill>
                <a:srgbClr val="4D4D4D"/>
              </a:solidFill>
              <a:latin typeface="Arial Rounded MT Bold" pitchFamily="34" charset="0"/>
            </a:endParaRPr>
          </a:p>
          <a:p>
            <a:pPr>
              <a:defRPr/>
            </a:pPr>
            <a:endParaRPr lang="en-US" sz="900" b="1" dirty="0">
              <a:solidFill>
                <a:srgbClr val="4D4D4D"/>
              </a:solidFill>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4"/>
          <p:cNvSpPr txBox="1">
            <a:spLocks noChangeArrowheads="1"/>
          </p:cNvSpPr>
          <p:nvPr/>
        </p:nvSpPr>
        <p:spPr bwMode="auto">
          <a:xfrm>
            <a:off x="152400" y="838200"/>
            <a:ext cx="5638800" cy="584775"/>
          </a:xfrm>
          <a:prstGeom prst="rect">
            <a:avLst/>
          </a:prstGeom>
          <a:noFill/>
          <a:ln w="9525">
            <a:noFill/>
            <a:miter lim="800000"/>
            <a:headEnd/>
            <a:tailEnd/>
          </a:ln>
          <a:effectLst/>
        </p:spPr>
        <p:txBody>
          <a:bodyPr>
            <a:spAutoFit/>
          </a:bodyPr>
          <a:lstStyle/>
          <a:p>
            <a:pPr>
              <a:defRPr/>
            </a:pPr>
            <a:r>
              <a:rPr lang="en-US" sz="1600" b="1" dirty="0">
                <a:effectLst>
                  <a:outerShdw blurRad="38100" dist="38100" dir="2700000" algn="tl">
                    <a:srgbClr val="C0C0C0"/>
                  </a:outerShdw>
                </a:effectLst>
                <a:latin typeface="Arial Black" pitchFamily="34" charset="0"/>
              </a:rPr>
              <a:t>Module 1: Understanding </a:t>
            </a:r>
            <a:r>
              <a:rPr lang="en-US" sz="1600" b="1" dirty="0" smtClean="0">
                <a:effectLst>
                  <a:outerShdw blurRad="38100" dist="38100" dir="2700000" algn="tl">
                    <a:srgbClr val="C0C0C0"/>
                  </a:outerShdw>
                </a:effectLst>
                <a:latin typeface="Arial Black" pitchFamily="34" charset="0"/>
              </a:rPr>
              <a:t>Transportation: Transit Data </a:t>
            </a:r>
            <a:endParaRPr lang="en-US" sz="1600" b="1" dirty="0">
              <a:effectLst>
                <a:outerShdw blurRad="38100" dist="38100" dir="2700000" algn="tl">
                  <a:srgbClr val="C0C0C0"/>
                </a:outerShdw>
              </a:effectLst>
              <a:latin typeface="Arial Black" pitchFamily="34" charset="0"/>
            </a:endParaRPr>
          </a:p>
        </p:txBody>
      </p:sp>
      <p:sp>
        <p:nvSpPr>
          <p:cNvPr id="5125" name="Text Box 5"/>
          <p:cNvSpPr txBox="1">
            <a:spLocks noChangeArrowheads="1"/>
          </p:cNvSpPr>
          <p:nvPr/>
        </p:nvSpPr>
        <p:spPr bwMode="auto">
          <a:xfrm>
            <a:off x="228600" y="1447800"/>
            <a:ext cx="3048000" cy="336550"/>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Topics</a:t>
            </a:r>
          </a:p>
        </p:txBody>
      </p:sp>
      <p:sp>
        <p:nvSpPr>
          <p:cNvPr id="7172" name="Text Box 6"/>
          <p:cNvSpPr txBox="1">
            <a:spLocks noChangeArrowheads="1"/>
          </p:cNvSpPr>
          <p:nvPr/>
        </p:nvSpPr>
        <p:spPr bwMode="auto">
          <a:xfrm>
            <a:off x="381000" y="1677988"/>
            <a:ext cx="6172200" cy="1754326"/>
          </a:xfrm>
          <a:prstGeom prst="rect">
            <a:avLst/>
          </a:prstGeom>
          <a:noFill/>
          <a:ln w="9525">
            <a:noFill/>
            <a:miter lim="800000"/>
            <a:headEnd/>
            <a:tailEnd/>
          </a:ln>
        </p:spPr>
        <p:txBody>
          <a:bodyPr>
            <a:spAutoFit/>
          </a:bodyPr>
          <a:lstStyle/>
          <a:p>
            <a:pPr>
              <a:lnSpc>
                <a:spcPct val="180000"/>
              </a:lnSpc>
              <a:buClr>
                <a:srgbClr val="33338C"/>
              </a:buClr>
              <a:buFontTx/>
              <a:buChar char="•"/>
            </a:pPr>
            <a:r>
              <a:rPr lang="en-US" sz="1200" b="1" dirty="0"/>
              <a:t> What is </a:t>
            </a:r>
            <a:r>
              <a:rPr lang="en-US" sz="1200" b="1" dirty="0" smtClean="0"/>
              <a:t>Transportation: Transit Data?</a:t>
            </a:r>
            <a:endParaRPr lang="en-US" sz="1200" b="1" dirty="0"/>
          </a:p>
          <a:p>
            <a:pPr>
              <a:lnSpc>
                <a:spcPct val="180000"/>
              </a:lnSpc>
              <a:buClr>
                <a:srgbClr val="33338C"/>
              </a:buClr>
              <a:buFontTx/>
              <a:buChar char="•"/>
            </a:pPr>
            <a:r>
              <a:rPr lang="en-US" sz="1200" b="1" dirty="0"/>
              <a:t> Types of </a:t>
            </a:r>
            <a:r>
              <a:rPr lang="en-US" sz="1200" b="1" dirty="0" smtClean="0"/>
              <a:t>Transportation: Transit Data</a:t>
            </a:r>
          </a:p>
          <a:p>
            <a:pPr>
              <a:lnSpc>
                <a:spcPct val="180000"/>
              </a:lnSpc>
              <a:buClr>
                <a:srgbClr val="33338C"/>
              </a:buClr>
              <a:buFontTx/>
              <a:buChar char="•"/>
            </a:pPr>
            <a:r>
              <a:rPr lang="en-US" sz="1200" b="1" dirty="0" smtClean="0"/>
              <a:t> Transportation: Transit in Action Module Exercise</a:t>
            </a:r>
            <a:endParaRPr lang="en-US" sz="1200" b="1" dirty="0"/>
          </a:p>
          <a:p>
            <a:pPr>
              <a:lnSpc>
                <a:spcPct val="180000"/>
              </a:lnSpc>
              <a:buClr>
                <a:srgbClr val="33338C"/>
              </a:buClr>
              <a:buFontTx/>
              <a:buChar char="•"/>
            </a:pPr>
            <a:r>
              <a:rPr lang="en-US" sz="1200" b="1" dirty="0" smtClean="0"/>
              <a:t> Summary</a:t>
            </a:r>
            <a:endParaRPr lang="en-US" sz="1200" b="1" dirty="0"/>
          </a:p>
          <a:p>
            <a:pPr>
              <a:lnSpc>
                <a:spcPct val="180000"/>
              </a:lnSpc>
              <a:buClr>
                <a:srgbClr val="526666"/>
              </a:buClr>
              <a:buFontTx/>
              <a:buChar char="•"/>
            </a:pPr>
            <a:endParaRPr lang="en-US" sz="1200" b="1" dirty="0"/>
          </a:p>
        </p:txBody>
      </p:sp>
      <p:sp>
        <p:nvSpPr>
          <p:cNvPr id="5127" name="Text Box 7"/>
          <p:cNvSpPr txBox="1">
            <a:spLocks noChangeArrowheads="1"/>
          </p:cNvSpPr>
          <p:nvPr/>
        </p:nvSpPr>
        <p:spPr bwMode="auto">
          <a:xfrm>
            <a:off x="228600" y="4945876"/>
            <a:ext cx="3048000" cy="336550"/>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First Topic</a:t>
            </a:r>
          </a:p>
        </p:txBody>
      </p:sp>
      <p:sp>
        <p:nvSpPr>
          <p:cNvPr id="7174" name="Text Box 8"/>
          <p:cNvSpPr txBox="1">
            <a:spLocks noChangeArrowheads="1"/>
          </p:cNvSpPr>
          <p:nvPr/>
        </p:nvSpPr>
        <p:spPr bwMode="auto">
          <a:xfrm>
            <a:off x="441325" y="5285601"/>
            <a:ext cx="2561022" cy="276999"/>
          </a:xfrm>
          <a:prstGeom prst="rect">
            <a:avLst/>
          </a:prstGeom>
          <a:noFill/>
          <a:ln w="9525">
            <a:noFill/>
            <a:miter lim="800000"/>
            <a:headEnd/>
            <a:tailEnd/>
          </a:ln>
        </p:spPr>
        <p:txBody>
          <a:bodyPr wrap="none">
            <a:spAutoFit/>
          </a:bodyPr>
          <a:lstStyle/>
          <a:p>
            <a:pPr>
              <a:buClr>
                <a:srgbClr val="526666"/>
              </a:buClr>
            </a:pPr>
            <a:r>
              <a:rPr lang="en-US" sz="1200" b="1" dirty="0"/>
              <a:t>What is </a:t>
            </a:r>
            <a:r>
              <a:rPr lang="en-US" sz="1200" b="1" dirty="0" smtClean="0"/>
              <a:t>Transportation: Transit Data?</a:t>
            </a:r>
            <a:endParaRPr lang="en-US" sz="1200" b="1" dirty="0"/>
          </a:p>
        </p:txBody>
      </p:sp>
      <p:sp>
        <p:nvSpPr>
          <p:cNvPr id="5129" name="Text Box 9"/>
          <p:cNvSpPr txBox="1">
            <a:spLocks noChangeArrowheads="1"/>
          </p:cNvSpPr>
          <p:nvPr/>
        </p:nvSpPr>
        <p:spPr bwMode="auto">
          <a:xfrm>
            <a:off x="7491413" y="1435100"/>
            <a:ext cx="1622425" cy="260350"/>
          </a:xfrm>
          <a:prstGeom prst="rect">
            <a:avLst/>
          </a:prstGeom>
          <a:noFill/>
          <a:ln w="9525">
            <a:noFill/>
            <a:miter lim="800000"/>
            <a:headEnd/>
            <a:tailEnd/>
          </a:ln>
          <a:effectLst/>
        </p:spPr>
        <p:txBody>
          <a:bodyPr>
            <a:spAutoFit/>
          </a:bodyPr>
          <a:lstStyle/>
          <a:p>
            <a:pPr algn="r">
              <a:defRPr/>
            </a:pPr>
            <a:r>
              <a:rPr lang="en-US" sz="1100" b="1" dirty="0">
                <a:solidFill>
                  <a:srgbClr val="33338C"/>
                </a:solidFill>
                <a:effectLst>
                  <a:outerShdw blurRad="38100" dist="38100" dir="2700000" algn="tl">
                    <a:srgbClr val="C0C0C0"/>
                  </a:outerShdw>
                </a:effectLst>
                <a:latin typeface="Arial Black" pitchFamily="34" charset="0"/>
              </a:rPr>
              <a:t>Time Requirement</a:t>
            </a:r>
          </a:p>
        </p:txBody>
      </p:sp>
      <p:sp>
        <p:nvSpPr>
          <p:cNvPr id="7176" name="Text Box 10"/>
          <p:cNvSpPr txBox="1">
            <a:spLocks noChangeArrowheads="1"/>
          </p:cNvSpPr>
          <p:nvPr/>
        </p:nvSpPr>
        <p:spPr bwMode="auto">
          <a:xfrm>
            <a:off x="6103938" y="1703388"/>
            <a:ext cx="2982912" cy="396875"/>
          </a:xfrm>
          <a:prstGeom prst="rect">
            <a:avLst/>
          </a:prstGeom>
          <a:noFill/>
          <a:ln w="9525">
            <a:noFill/>
            <a:miter lim="800000"/>
            <a:headEnd/>
            <a:tailEnd/>
          </a:ln>
        </p:spPr>
        <p:txBody>
          <a:bodyPr>
            <a:spAutoFit/>
          </a:bodyPr>
          <a:lstStyle/>
          <a:p>
            <a:pPr algn="r"/>
            <a:r>
              <a:rPr lang="en-US" sz="1000" b="1" dirty="0">
                <a:solidFill>
                  <a:srgbClr val="4D4D4D"/>
                </a:solidFill>
              </a:rPr>
              <a:t>Estimated time for this module is 30 minutes</a:t>
            </a:r>
          </a:p>
          <a:p>
            <a:endParaRPr lang="en-US" sz="1000" b="1" dirty="0">
              <a:solidFill>
                <a:srgbClr val="4D4D4D"/>
              </a:solidFill>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876800" y="2988179"/>
            <a:ext cx="3760489" cy="2113395"/>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228600" y="950913"/>
            <a:ext cx="5105400" cy="338554"/>
          </a:xfrm>
          <a:prstGeom prst="rect">
            <a:avLst/>
          </a:prstGeom>
          <a:noFill/>
          <a:ln w="9525">
            <a:noFill/>
            <a:miter lim="800000"/>
            <a:headEnd/>
            <a:tailEnd/>
          </a:ln>
          <a:effectLst/>
        </p:spPr>
        <p:txBody>
          <a:bodyPr wrap="square">
            <a:spAutoFit/>
          </a:bodyPr>
          <a:lstStyle/>
          <a:p>
            <a:pPr>
              <a:defRPr/>
            </a:pPr>
            <a:r>
              <a:rPr lang="en-US" sz="1600" b="1" u="sng" dirty="0">
                <a:effectLst>
                  <a:outerShdw blurRad="38100" dist="38100" dir="2700000" algn="tl">
                    <a:srgbClr val="C0C0C0"/>
                  </a:outerShdw>
                </a:effectLst>
                <a:latin typeface="Arial Black" pitchFamily="34" charset="0"/>
              </a:rPr>
              <a:t>What </a:t>
            </a:r>
            <a:r>
              <a:rPr lang="en-US" sz="1600" b="1" u="sng" dirty="0" smtClean="0">
                <a:effectLst>
                  <a:outerShdw blurRad="38100" dist="38100" dir="2700000" algn="tl">
                    <a:srgbClr val="C0C0C0"/>
                  </a:outerShdw>
                </a:effectLst>
                <a:latin typeface="Arial Black" pitchFamily="34" charset="0"/>
              </a:rPr>
              <a:t>Are Transportation: Transit Data?</a:t>
            </a:r>
            <a:endParaRPr lang="en-US" sz="1600" b="1" u="sng" dirty="0">
              <a:effectLst>
                <a:outerShdw blurRad="38100" dist="38100" dir="2700000" algn="tl">
                  <a:srgbClr val="C0C0C0"/>
                </a:outerShdw>
              </a:effectLst>
              <a:latin typeface="Arial Black" pitchFamily="34" charset="0"/>
            </a:endParaRPr>
          </a:p>
        </p:txBody>
      </p:sp>
      <p:sp>
        <p:nvSpPr>
          <p:cNvPr id="8195" name="Rectangle 5"/>
          <p:cNvSpPr>
            <a:spLocks noChangeArrowheads="1"/>
          </p:cNvSpPr>
          <p:nvPr/>
        </p:nvSpPr>
        <p:spPr bwMode="auto">
          <a:xfrm>
            <a:off x="-4308475" y="3108325"/>
            <a:ext cx="184150" cy="366713"/>
          </a:xfrm>
          <a:prstGeom prst="rect">
            <a:avLst/>
          </a:prstGeom>
          <a:noFill/>
          <a:ln w="9525">
            <a:noFill/>
            <a:miter lim="800000"/>
            <a:headEnd/>
            <a:tailEnd/>
          </a:ln>
        </p:spPr>
        <p:txBody>
          <a:bodyPr wrap="none">
            <a:spAutoFit/>
          </a:bodyPr>
          <a:lstStyle/>
          <a:p>
            <a:endParaRPr lang="en-US" dirty="0"/>
          </a:p>
        </p:txBody>
      </p:sp>
      <p:sp>
        <p:nvSpPr>
          <p:cNvPr id="8196" name="Rectangle 7"/>
          <p:cNvSpPr>
            <a:spLocks noChangeArrowheads="1"/>
          </p:cNvSpPr>
          <p:nvPr/>
        </p:nvSpPr>
        <p:spPr bwMode="auto">
          <a:xfrm>
            <a:off x="304800" y="1447800"/>
            <a:ext cx="5791200" cy="3970318"/>
          </a:xfrm>
          <a:prstGeom prst="rect">
            <a:avLst/>
          </a:prstGeom>
          <a:noFill/>
          <a:ln w="9525">
            <a:noFill/>
            <a:miter lim="800000"/>
            <a:headEnd/>
            <a:tailEnd/>
          </a:ln>
        </p:spPr>
        <p:txBody>
          <a:bodyPr wrap="square">
            <a:spAutoFit/>
          </a:bodyPr>
          <a:lstStyle/>
          <a:p>
            <a:r>
              <a:rPr lang="en-US" sz="1200" dirty="0" smtClean="0"/>
              <a:t>Transportation: Transit data are defined as spatial data, as well as related attributes and metadata, which can be used to depict the most broadly used elements of the public transportation system.   As </a:t>
            </a:r>
            <a:r>
              <a:rPr lang="en-US" sz="1200" dirty="0"/>
              <a:t>a transportation mode, transit differs substantially from other modes such as rail and road </a:t>
            </a:r>
            <a:r>
              <a:rPr lang="en-US" sz="1200" dirty="0" smtClean="0"/>
              <a:t>in that </a:t>
            </a:r>
            <a:r>
              <a:rPr lang="en-US" sz="1200" dirty="0"/>
              <a:t>core operational features of the transit system consist of spatial and temporal elements </a:t>
            </a:r>
            <a:r>
              <a:rPr lang="en-US" sz="1200" dirty="0" smtClean="0"/>
              <a:t>that rest </a:t>
            </a:r>
            <a:r>
              <a:rPr lang="en-US" sz="1200" dirty="0"/>
              <a:t>upon the transportation infrastructure.</a:t>
            </a:r>
            <a:endParaRPr lang="en-US" sz="1200" dirty="0" smtClean="0"/>
          </a:p>
          <a:p>
            <a:endParaRPr lang="en-US" sz="1200" dirty="0" smtClean="0"/>
          </a:p>
          <a:p>
            <a:r>
              <a:rPr lang="en-US" sz="1200" dirty="0" smtClean="0"/>
              <a:t>Additionally, Transportation: Transit data can include each of the following types of data:</a:t>
            </a:r>
          </a:p>
          <a:p>
            <a:endParaRPr lang="en-US" sz="1200" dirty="0"/>
          </a:p>
          <a:p>
            <a:pPr lvl="1">
              <a:buFont typeface="Arial" pitchFamily="34" charset="0"/>
              <a:buChar char="•"/>
            </a:pPr>
            <a:r>
              <a:rPr lang="en-US" sz="1200" b="1" dirty="0" smtClean="0"/>
              <a:t>  Transportation Mode</a:t>
            </a:r>
          </a:p>
          <a:p>
            <a:pPr lvl="1">
              <a:buFont typeface="Arial" pitchFamily="34" charset="0"/>
              <a:buChar char="•"/>
            </a:pPr>
            <a:endParaRPr lang="en-US" sz="1200" b="1" dirty="0"/>
          </a:p>
          <a:p>
            <a:pPr lvl="1">
              <a:buFont typeface="Arial" pitchFamily="34" charset="0"/>
              <a:buChar char="•"/>
            </a:pPr>
            <a:r>
              <a:rPr lang="en-US" sz="1200" b="1" dirty="0" smtClean="0"/>
              <a:t>  Stops</a:t>
            </a:r>
          </a:p>
          <a:p>
            <a:pPr lvl="1">
              <a:buFont typeface="Arial" pitchFamily="34" charset="0"/>
              <a:buChar char="•"/>
            </a:pPr>
            <a:endParaRPr lang="en-US" sz="1200" b="1" dirty="0"/>
          </a:p>
          <a:p>
            <a:pPr lvl="1">
              <a:buFont typeface="Arial" pitchFamily="34" charset="0"/>
              <a:buChar char="•"/>
            </a:pPr>
            <a:r>
              <a:rPr lang="en-US" sz="1200" b="1" dirty="0"/>
              <a:t> </a:t>
            </a:r>
            <a:r>
              <a:rPr lang="en-US" sz="1200" b="1" dirty="0" smtClean="0"/>
              <a:t> Interconnections</a:t>
            </a:r>
          </a:p>
          <a:p>
            <a:pPr lvl="1">
              <a:buFont typeface="Arial" pitchFamily="34" charset="0"/>
              <a:buChar char="•"/>
            </a:pPr>
            <a:endParaRPr lang="en-US" sz="1200" b="1" dirty="0" smtClean="0"/>
          </a:p>
          <a:p>
            <a:pPr marL="628650" lvl="1" indent="-171450">
              <a:buFont typeface="Arial" pitchFamily="34" charset="0"/>
              <a:buChar char="•"/>
            </a:pPr>
            <a:r>
              <a:rPr lang="en-US" sz="1200" b="1" dirty="0" smtClean="0"/>
              <a:t>Facilities</a:t>
            </a:r>
            <a:br>
              <a:rPr lang="en-US" sz="1200" b="1" dirty="0" smtClean="0"/>
            </a:br>
            <a:endParaRPr lang="en-US" sz="1200" b="1" dirty="0" smtClean="0"/>
          </a:p>
          <a:p>
            <a:pPr marL="628650" lvl="1" indent="-171450">
              <a:buFont typeface="Arial" pitchFamily="34" charset="0"/>
              <a:buChar char="•"/>
            </a:pPr>
            <a:r>
              <a:rPr lang="en-US" sz="1200" b="1" dirty="0" smtClean="0"/>
              <a:t>Routes</a:t>
            </a:r>
            <a:br>
              <a:rPr lang="en-US" sz="1200" b="1" dirty="0" smtClean="0"/>
            </a:br>
            <a:endParaRPr lang="en-US" sz="1200" b="1" dirty="0" smtClean="0"/>
          </a:p>
          <a:p>
            <a:pPr marL="628650" lvl="1" indent="-171450">
              <a:buFont typeface="Arial" pitchFamily="34" charset="0"/>
              <a:buChar char="•"/>
            </a:pPr>
            <a:r>
              <a:rPr lang="en-US" sz="1200" b="1" dirty="0" smtClean="0"/>
              <a:t>And Many Others</a:t>
            </a:r>
            <a:br>
              <a:rPr lang="en-US" sz="1200" b="1" dirty="0" smtClean="0"/>
            </a:br>
            <a:r>
              <a:rPr lang="en-US" sz="1200" b="1" dirty="0"/>
              <a:t/>
            </a:r>
            <a:br>
              <a:rPr lang="en-US" sz="1200" b="1" dirty="0"/>
            </a:br>
            <a:endParaRPr lang="en-US" sz="1200" b="1" dirty="0"/>
          </a:p>
        </p:txBody>
      </p:sp>
      <p:sp>
        <p:nvSpPr>
          <p:cNvPr id="11274" name="Text Box 10"/>
          <p:cNvSpPr txBox="1">
            <a:spLocks noChangeArrowheads="1"/>
          </p:cNvSpPr>
          <p:nvPr/>
        </p:nvSpPr>
        <p:spPr bwMode="auto">
          <a:xfrm>
            <a:off x="228600" y="5860276"/>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8199" name="Text Box 11"/>
          <p:cNvSpPr txBox="1">
            <a:spLocks noChangeArrowheads="1"/>
          </p:cNvSpPr>
          <p:nvPr/>
        </p:nvSpPr>
        <p:spPr bwMode="auto">
          <a:xfrm>
            <a:off x="441325" y="6200001"/>
            <a:ext cx="2538387" cy="276999"/>
          </a:xfrm>
          <a:prstGeom prst="rect">
            <a:avLst/>
          </a:prstGeom>
          <a:noFill/>
          <a:ln w="9525">
            <a:noFill/>
            <a:miter lim="800000"/>
            <a:headEnd/>
            <a:tailEnd/>
          </a:ln>
        </p:spPr>
        <p:txBody>
          <a:bodyPr wrap="none">
            <a:spAutoFit/>
          </a:bodyPr>
          <a:lstStyle/>
          <a:p>
            <a:pPr>
              <a:buClr>
                <a:srgbClr val="526666"/>
              </a:buClr>
            </a:pPr>
            <a:r>
              <a:rPr lang="en-US" sz="1200" b="1" dirty="0" smtClean="0"/>
              <a:t>Types of Transportation: Transit Data</a:t>
            </a:r>
            <a:endParaRPr lang="en-US" sz="1200" b="1" dirty="0"/>
          </a:p>
        </p:txBody>
      </p:sp>
      <p:sp>
        <p:nvSpPr>
          <p:cNvPr id="12" name="Text Box 9"/>
          <p:cNvSpPr txBox="1">
            <a:spLocks noChangeArrowheads="1"/>
          </p:cNvSpPr>
          <p:nvPr/>
        </p:nvSpPr>
        <p:spPr bwMode="auto">
          <a:xfrm>
            <a:off x="7162800" y="1447800"/>
            <a:ext cx="1873250" cy="3893374"/>
          </a:xfrm>
          <a:prstGeom prst="rect">
            <a:avLst/>
          </a:prstGeom>
          <a:solidFill>
            <a:schemeClr val="bg1">
              <a:lumMod val="85000"/>
            </a:schemeClr>
          </a:solidFill>
          <a:ln w="9525">
            <a:noFill/>
            <a:miter lim="800000"/>
            <a:headEnd/>
            <a:tailEnd/>
          </a:ln>
        </p:spPr>
        <p:txBody>
          <a:bodyPr wrap="square">
            <a:spAutoFit/>
          </a:bodyPr>
          <a:lstStyle/>
          <a:p>
            <a:pPr>
              <a:defRPr/>
            </a:pPr>
            <a:r>
              <a:rPr lang="en-US" sz="1000" b="1" dirty="0" smtClean="0">
                <a:solidFill>
                  <a:srgbClr val="4D4D4D"/>
                </a:solidFill>
                <a:latin typeface="Arial Rounded MT Bold" pitchFamily="34" charset="0"/>
              </a:rPr>
              <a:t>More About Public Transportation:</a:t>
            </a:r>
          </a:p>
          <a:p>
            <a:pPr>
              <a:defRPr/>
            </a:pPr>
            <a:endParaRPr lang="en-US" sz="900" b="1" dirty="0" smtClean="0">
              <a:solidFill>
                <a:srgbClr val="4D4D4D"/>
              </a:solidFill>
              <a:latin typeface="Arial Rounded MT Bold" pitchFamily="34" charset="0"/>
            </a:endParaRPr>
          </a:p>
          <a:p>
            <a:pPr>
              <a:defRPr/>
            </a:pPr>
            <a:r>
              <a:rPr lang="en-US" sz="800" dirty="0">
                <a:solidFill>
                  <a:srgbClr val="4D4D4D"/>
                </a:solidFill>
                <a:latin typeface="Arial Rounded MT Bold" pitchFamily="34" charset="0"/>
              </a:rPr>
              <a:t>Public transport (also public transportation, public transit, or mass transit) is a shared passenger transportation service which are available for use by the general public, as distinct from modes such as Taxicab, car pooling which are not shared by strangers without private arrangement</a:t>
            </a:r>
            <a:r>
              <a:rPr lang="en-US" sz="800" dirty="0" smtClean="0">
                <a:solidFill>
                  <a:srgbClr val="4D4D4D"/>
                </a:solidFill>
                <a:latin typeface="Arial Rounded MT Bold" pitchFamily="34" charset="0"/>
              </a:rPr>
              <a:t>.</a:t>
            </a:r>
          </a:p>
          <a:p>
            <a:pPr>
              <a:defRPr/>
            </a:pPr>
            <a:endParaRPr lang="en-US" sz="800" dirty="0">
              <a:solidFill>
                <a:srgbClr val="4D4D4D"/>
              </a:solidFill>
              <a:latin typeface="Arial Rounded MT Bold" pitchFamily="34" charset="0"/>
            </a:endParaRPr>
          </a:p>
          <a:p>
            <a:pPr>
              <a:defRPr/>
            </a:pPr>
            <a:r>
              <a:rPr lang="en-US" sz="800" dirty="0">
                <a:solidFill>
                  <a:srgbClr val="4D4D4D"/>
                </a:solidFill>
                <a:latin typeface="Arial Rounded MT Bold" pitchFamily="34" charset="0"/>
              </a:rPr>
              <a:t>Public transport modes include buses, trolleybuses, trams and trains, 'rapid transit' (metro/subways/undergrounds </a:t>
            </a:r>
            <a:r>
              <a:rPr lang="en-US" sz="800" dirty="0" smtClean="0">
                <a:solidFill>
                  <a:srgbClr val="4D4D4D"/>
                </a:solidFill>
                <a:latin typeface="Arial Rounded MT Bold" pitchFamily="34" charset="0"/>
              </a:rPr>
              <a:t>etc.) </a:t>
            </a:r>
            <a:r>
              <a:rPr lang="en-US" sz="800" dirty="0">
                <a:solidFill>
                  <a:srgbClr val="4D4D4D"/>
                </a:solidFill>
                <a:latin typeface="Arial Rounded MT Bold" pitchFamily="34" charset="0"/>
              </a:rPr>
              <a:t>and, ferries. Intercity public transport is dominated by airlines, coaches, and intercity rail. High-speed rail networks are being developed in a many parts of the world</a:t>
            </a:r>
            <a:r>
              <a:rPr lang="en-US" sz="800" dirty="0" smtClean="0">
                <a:solidFill>
                  <a:srgbClr val="4D4D4D"/>
                </a:solidFill>
                <a:latin typeface="Arial Rounded MT Bold" pitchFamily="34" charset="0"/>
              </a:rPr>
              <a:t>.</a:t>
            </a:r>
          </a:p>
          <a:p>
            <a:pPr>
              <a:defRPr/>
            </a:pPr>
            <a:endParaRPr lang="en-US" sz="800" dirty="0">
              <a:solidFill>
                <a:srgbClr val="4D4D4D"/>
              </a:solidFill>
              <a:latin typeface="Arial Rounded MT Bold" pitchFamily="34" charset="0"/>
            </a:endParaRPr>
          </a:p>
          <a:p>
            <a:pPr>
              <a:defRPr/>
            </a:pPr>
            <a:r>
              <a:rPr lang="en-US" sz="800" dirty="0">
                <a:solidFill>
                  <a:srgbClr val="4D4D4D"/>
                </a:solidFill>
                <a:latin typeface="Arial Rounded MT Bold" pitchFamily="34" charset="0"/>
              </a:rPr>
              <a:t>Most public transport runs to a scheduled timetable with the most frequent services running to a </a:t>
            </a:r>
            <a:r>
              <a:rPr lang="en-US" sz="800" dirty="0" smtClean="0">
                <a:solidFill>
                  <a:srgbClr val="4D4D4D"/>
                </a:solidFill>
                <a:latin typeface="Arial Rounded MT Bold" pitchFamily="34" charset="0"/>
              </a:rPr>
              <a:t>headway.</a:t>
            </a:r>
            <a:r>
              <a:rPr lang="en-US" sz="1000" dirty="0" smtClean="0">
                <a:solidFill>
                  <a:srgbClr val="4D4D4D"/>
                </a:solidFill>
                <a:latin typeface="Berlin Sans FB" pitchFamily="34" charset="0"/>
              </a:rPr>
              <a:t/>
            </a:r>
            <a:br>
              <a:rPr lang="en-US" sz="1000" dirty="0" smtClean="0">
                <a:solidFill>
                  <a:srgbClr val="4D4D4D"/>
                </a:solidFill>
                <a:latin typeface="Berlin Sans FB" pitchFamily="34" charset="0"/>
              </a:rPr>
            </a:br>
            <a:endParaRPr lang="en-US" sz="1000" dirty="0" smtClean="0">
              <a:latin typeface="Berlin Sans FB"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228600" y="950913"/>
            <a:ext cx="5105400" cy="338554"/>
          </a:xfrm>
          <a:prstGeom prst="rect">
            <a:avLst/>
          </a:prstGeom>
          <a:noFill/>
          <a:ln w="9525">
            <a:noFill/>
            <a:miter lim="800000"/>
            <a:headEnd/>
            <a:tailEnd/>
          </a:ln>
          <a:effectLst/>
        </p:spPr>
        <p:txBody>
          <a:bodyPr wrap="square">
            <a:spAutoFit/>
          </a:bodyPr>
          <a:lstStyle/>
          <a:p>
            <a:pPr>
              <a:defRPr/>
            </a:pPr>
            <a:r>
              <a:rPr lang="en-US" sz="1600" b="1" u="sng" dirty="0" smtClean="0">
                <a:effectLst>
                  <a:outerShdw blurRad="38100" dist="38100" dir="2700000" algn="tl">
                    <a:srgbClr val="C0C0C0"/>
                  </a:outerShdw>
                </a:effectLst>
                <a:latin typeface="Arial Black" pitchFamily="34" charset="0"/>
              </a:rPr>
              <a:t>Types of Transportation: Transit Data </a:t>
            </a:r>
            <a:endParaRPr lang="en-US" sz="1600" b="1" u="sng" dirty="0">
              <a:effectLst>
                <a:outerShdw blurRad="38100" dist="38100" dir="2700000" algn="tl">
                  <a:srgbClr val="C0C0C0"/>
                </a:outerShdw>
              </a:effectLst>
              <a:latin typeface="Arial Black" pitchFamily="34" charset="0"/>
            </a:endParaRPr>
          </a:p>
        </p:txBody>
      </p:sp>
      <p:sp>
        <p:nvSpPr>
          <p:cNvPr id="8195" name="Rectangle 5"/>
          <p:cNvSpPr>
            <a:spLocks noChangeArrowheads="1"/>
          </p:cNvSpPr>
          <p:nvPr/>
        </p:nvSpPr>
        <p:spPr bwMode="auto">
          <a:xfrm>
            <a:off x="-4308475" y="3108325"/>
            <a:ext cx="184150" cy="366713"/>
          </a:xfrm>
          <a:prstGeom prst="rect">
            <a:avLst/>
          </a:prstGeom>
          <a:noFill/>
          <a:ln w="9525">
            <a:noFill/>
            <a:miter lim="800000"/>
            <a:headEnd/>
            <a:tailEnd/>
          </a:ln>
        </p:spPr>
        <p:txBody>
          <a:bodyPr wrap="none">
            <a:spAutoFit/>
          </a:bodyPr>
          <a:lstStyle/>
          <a:p>
            <a:endParaRPr lang="en-US" dirty="0"/>
          </a:p>
        </p:txBody>
      </p:sp>
      <p:sp>
        <p:nvSpPr>
          <p:cNvPr id="8196" name="Rectangle 7"/>
          <p:cNvSpPr>
            <a:spLocks noChangeArrowheads="1"/>
          </p:cNvSpPr>
          <p:nvPr/>
        </p:nvSpPr>
        <p:spPr bwMode="auto">
          <a:xfrm>
            <a:off x="304800" y="1828800"/>
            <a:ext cx="3124200" cy="2554545"/>
          </a:xfrm>
          <a:prstGeom prst="rect">
            <a:avLst/>
          </a:prstGeom>
          <a:noFill/>
          <a:ln w="9525">
            <a:noFill/>
            <a:miter lim="800000"/>
            <a:headEnd/>
            <a:tailEnd/>
          </a:ln>
        </p:spPr>
        <p:txBody>
          <a:bodyPr wrap="square">
            <a:spAutoFit/>
          </a:bodyPr>
          <a:lstStyle/>
          <a:p>
            <a:r>
              <a:rPr lang="en-US" sz="1600" dirty="0" smtClean="0"/>
              <a:t>Transportation: Transit Data can be include many different types of data as previously mentioned.  It can be simply a point location of an Train Depot, or more complex as the diagram to the right indicates.</a:t>
            </a:r>
          </a:p>
          <a:p>
            <a:endParaRPr lang="en-US" sz="1600" dirty="0"/>
          </a:p>
          <a:p>
            <a:r>
              <a:rPr lang="en-US" sz="1600" dirty="0" smtClean="0"/>
              <a:t>The diagram to the right shows a portion of the Chicago Transit Authority Map.</a:t>
            </a:r>
          </a:p>
        </p:txBody>
      </p:sp>
      <p:sp>
        <p:nvSpPr>
          <p:cNvPr id="11274" name="Text Box 10"/>
          <p:cNvSpPr txBox="1">
            <a:spLocks noChangeArrowheads="1"/>
          </p:cNvSpPr>
          <p:nvPr/>
        </p:nvSpPr>
        <p:spPr bwMode="auto">
          <a:xfrm>
            <a:off x="228600" y="5860276"/>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8199" name="Text Box 11"/>
          <p:cNvSpPr txBox="1">
            <a:spLocks noChangeArrowheads="1"/>
          </p:cNvSpPr>
          <p:nvPr/>
        </p:nvSpPr>
        <p:spPr bwMode="auto">
          <a:xfrm>
            <a:off x="441325" y="6200001"/>
            <a:ext cx="2538387" cy="276999"/>
          </a:xfrm>
          <a:prstGeom prst="rect">
            <a:avLst/>
          </a:prstGeom>
          <a:noFill/>
          <a:ln w="9525">
            <a:noFill/>
            <a:miter lim="800000"/>
            <a:headEnd/>
            <a:tailEnd/>
          </a:ln>
        </p:spPr>
        <p:txBody>
          <a:bodyPr wrap="none">
            <a:spAutoFit/>
          </a:bodyPr>
          <a:lstStyle/>
          <a:p>
            <a:pPr>
              <a:buClr>
                <a:srgbClr val="526666"/>
              </a:buClr>
            </a:pPr>
            <a:r>
              <a:rPr lang="en-US" sz="1200" b="1" dirty="0" smtClean="0"/>
              <a:t>Types of Transportation: Transit Data</a:t>
            </a:r>
            <a:endParaRPr lang="en-US" sz="1200" b="1" dirty="0"/>
          </a:p>
        </p:txBody>
      </p:sp>
      <p:sp>
        <p:nvSpPr>
          <p:cNvPr id="8" name="Rectangle 7"/>
          <p:cNvSpPr/>
          <p:nvPr/>
        </p:nvSpPr>
        <p:spPr>
          <a:xfrm>
            <a:off x="4114800" y="6477000"/>
            <a:ext cx="4419600" cy="246221"/>
          </a:xfrm>
          <a:prstGeom prst="rect">
            <a:avLst/>
          </a:prstGeom>
        </p:spPr>
        <p:txBody>
          <a:bodyPr wrap="square">
            <a:spAutoFit/>
          </a:bodyPr>
          <a:lstStyle/>
          <a:p>
            <a:pPr algn="ctr"/>
            <a:r>
              <a:rPr lang="en-US" sz="1000" dirty="0"/>
              <a:t>http://www.transitchicago.com/assets/1/clickable_system_map/200806N.gif</a:t>
            </a:r>
          </a:p>
        </p:txBody>
      </p:sp>
      <p:pic>
        <p:nvPicPr>
          <p:cNvPr id="3" name="Picture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536141" y="862545"/>
            <a:ext cx="4097357" cy="5628804"/>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228600" y="950913"/>
            <a:ext cx="5105400" cy="338554"/>
          </a:xfrm>
          <a:prstGeom prst="rect">
            <a:avLst/>
          </a:prstGeom>
          <a:noFill/>
          <a:ln w="9525">
            <a:noFill/>
            <a:miter lim="800000"/>
            <a:headEnd/>
            <a:tailEnd/>
          </a:ln>
          <a:effectLst/>
        </p:spPr>
        <p:txBody>
          <a:bodyPr wrap="square">
            <a:spAutoFit/>
          </a:bodyPr>
          <a:lstStyle/>
          <a:p>
            <a:pPr>
              <a:defRPr/>
            </a:pPr>
            <a:r>
              <a:rPr lang="en-US" sz="1600" b="1" u="sng" dirty="0" smtClean="0">
                <a:effectLst>
                  <a:outerShdw blurRad="38100" dist="38100" dir="2700000" algn="tl">
                    <a:srgbClr val="C0C0C0"/>
                  </a:outerShdw>
                </a:effectLst>
                <a:latin typeface="Arial Black" pitchFamily="34" charset="0"/>
              </a:rPr>
              <a:t>Types of Transportation: Transit Data</a:t>
            </a:r>
            <a:endParaRPr lang="en-US" sz="1600" b="1" u="sng" dirty="0">
              <a:effectLst>
                <a:outerShdw blurRad="38100" dist="38100" dir="2700000" algn="tl">
                  <a:srgbClr val="C0C0C0"/>
                </a:outerShdw>
              </a:effectLst>
              <a:latin typeface="Arial Black" pitchFamily="34" charset="0"/>
            </a:endParaRPr>
          </a:p>
        </p:txBody>
      </p:sp>
      <p:sp>
        <p:nvSpPr>
          <p:cNvPr id="8195" name="Rectangle 5"/>
          <p:cNvSpPr>
            <a:spLocks noChangeArrowheads="1"/>
          </p:cNvSpPr>
          <p:nvPr/>
        </p:nvSpPr>
        <p:spPr bwMode="auto">
          <a:xfrm>
            <a:off x="-4308475" y="3108325"/>
            <a:ext cx="184150" cy="366713"/>
          </a:xfrm>
          <a:prstGeom prst="rect">
            <a:avLst/>
          </a:prstGeom>
          <a:noFill/>
          <a:ln w="9525">
            <a:noFill/>
            <a:miter lim="800000"/>
            <a:headEnd/>
            <a:tailEnd/>
          </a:ln>
        </p:spPr>
        <p:txBody>
          <a:bodyPr wrap="none">
            <a:spAutoFit/>
          </a:bodyPr>
          <a:lstStyle/>
          <a:p>
            <a:endParaRPr lang="en-US" dirty="0"/>
          </a:p>
        </p:txBody>
      </p:sp>
      <p:sp>
        <p:nvSpPr>
          <p:cNvPr id="8196" name="Rectangle 7"/>
          <p:cNvSpPr>
            <a:spLocks noChangeArrowheads="1"/>
          </p:cNvSpPr>
          <p:nvPr/>
        </p:nvSpPr>
        <p:spPr bwMode="auto">
          <a:xfrm>
            <a:off x="304800" y="1828800"/>
            <a:ext cx="3124200" cy="2308324"/>
          </a:xfrm>
          <a:prstGeom prst="rect">
            <a:avLst/>
          </a:prstGeom>
          <a:noFill/>
          <a:ln w="9525">
            <a:noFill/>
            <a:miter lim="800000"/>
            <a:headEnd/>
            <a:tailEnd/>
          </a:ln>
        </p:spPr>
        <p:txBody>
          <a:bodyPr wrap="square">
            <a:spAutoFit/>
          </a:bodyPr>
          <a:lstStyle/>
          <a:p>
            <a:r>
              <a:rPr lang="en-US" sz="1600" dirty="0" smtClean="0"/>
              <a:t>This picture shows another Transit map, this one from Cairns, AU, but highlights different features and symbolizes them in a different manner; however the key Transit features are all present and show another way in which Transportation: Transit data can be represented.</a:t>
            </a:r>
          </a:p>
        </p:txBody>
      </p:sp>
      <p:sp>
        <p:nvSpPr>
          <p:cNvPr id="11274" name="Text Box 10"/>
          <p:cNvSpPr txBox="1">
            <a:spLocks noChangeArrowheads="1"/>
          </p:cNvSpPr>
          <p:nvPr/>
        </p:nvSpPr>
        <p:spPr bwMode="auto">
          <a:xfrm>
            <a:off x="228600" y="5860276"/>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8199" name="Text Box 11"/>
          <p:cNvSpPr txBox="1">
            <a:spLocks noChangeArrowheads="1"/>
          </p:cNvSpPr>
          <p:nvPr/>
        </p:nvSpPr>
        <p:spPr bwMode="auto">
          <a:xfrm>
            <a:off x="441325" y="6200001"/>
            <a:ext cx="2538387" cy="276999"/>
          </a:xfrm>
          <a:prstGeom prst="rect">
            <a:avLst/>
          </a:prstGeom>
          <a:noFill/>
          <a:ln w="9525">
            <a:noFill/>
            <a:miter lim="800000"/>
            <a:headEnd/>
            <a:tailEnd/>
          </a:ln>
        </p:spPr>
        <p:txBody>
          <a:bodyPr wrap="none">
            <a:spAutoFit/>
          </a:bodyPr>
          <a:lstStyle/>
          <a:p>
            <a:pPr>
              <a:buClr>
                <a:srgbClr val="526666"/>
              </a:buClr>
            </a:pPr>
            <a:r>
              <a:rPr lang="en-US" sz="1200" b="1" dirty="0" smtClean="0"/>
              <a:t>Types of Transportation: Transit Data</a:t>
            </a:r>
            <a:endParaRPr lang="en-US" sz="1200" b="1" dirty="0"/>
          </a:p>
        </p:txBody>
      </p:sp>
      <p:sp>
        <p:nvSpPr>
          <p:cNvPr id="8" name="Rectangle 7"/>
          <p:cNvSpPr/>
          <p:nvPr/>
        </p:nvSpPr>
        <p:spPr>
          <a:xfrm>
            <a:off x="4116977" y="6196826"/>
            <a:ext cx="4419600" cy="246221"/>
          </a:xfrm>
          <a:prstGeom prst="rect">
            <a:avLst/>
          </a:prstGeom>
        </p:spPr>
        <p:txBody>
          <a:bodyPr wrap="square">
            <a:spAutoFit/>
          </a:bodyPr>
          <a:lstStyle/>
          <a:p>
            <a:pPr algn="ctr"/>
            <a:r>
              <a:rPr lang="en-US" sz="1000" dirty="0"/>
              <a:t>http://www.aussieinteract.com.au/images/cairns_bus_map.gif</a:t>
            </a:r>
          </a:p>
        </p:txBody>
      </p:sp>
      <p:pic>
        <p:nvPicPr>
          <p:cNvPr id="2" name="Picture 1"/>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495800" y="884238"/>
            <a:ext cx="3661954" cy="5181600"/>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ext Box 2"/>
          <p:cNvSpPr txBox="1">
            <a:spLocks noChangeArrowheads="1"/>
          </p:cNvSpPr>
          <p:nvPr/>
        </p:nvSpPr>
        <p:spPr bwMode="auto">
          <a:xfrm>
            <a:off x="228600" y="950913"/>
            <a:ext cx="5105400" cy="338554"/>
          </a:xfrm>
          <a:prstGeom prst="rect">
            <a:avLst/>
          </a:prstGeom>
          <a:noFill/>
          <a:ln w="9525">
            <a:noFill/>
            <a:miter lim="800000"/>
            <a:headEnd/>
            <a:tailEnd/>
          </a:ln>
          <a:effectLst/>
        </p:spPr>
        <p:txBody>
          <a:bodyPr wrap="square">
            <a:spAutoFit/>
          </a:bodyPr>
          <a:lstStyle/>
          <a:p>
            <a:pPr>
              <a:defRPr/>
            </a:pPr>
            <a:r>
              <a:rPr lang="en-US" sz="1600" b="1" u="sng" dirty="0" smtClean="0">
                <a:effectLst>
                  <a:outerShdw blurRad="38100" dist="38100" dir="2700000" algn="tl">
                    <a:srgbClr val="C0C0C0"/>
                  </a:outerShdw>
                </a:effectLst>
                <a:latin typeface="Arial Black" pitchFamily="34" charset="0"/>
              </a:rPr>
              <a:t>Types of Transportation: Transit Data</a:t>
            </a:r>
            <a:endParaRPr lang="en-US" sz="1600" b="1" u="sng" dirty="0">
              <a:effectLst>
                <a:outerShdw blurRad="38100" dist="38100" dir="2700000" algn="tl">
                  <a:srgbClr val="C0C0C0"/>
                </a:outerShdw>
              </a:effectLst>
              <a:latin typeface="Arial Black" pitchFamily="34" charset="0"/>
            </a:endParaRPr>
          </a:p>
        </p:txBody>
      </p:sp>
      <p:sp>
        <p:nvSpPr>
          <p:cNvPr id="8195" name="Rectangle 5"/>
          <p:cNvSpPr>
            <a:spLocks noChangeArrowheads="1"/>
          </p:cNvSpPr>
          <p:nvPr/>
        </p:nvSpPr>
        <p:spPr bwMode="auto">
          <a:xfrm>
            <a:off x="-4308475" y="3108325"/>
            <a:ext cx="184150" cy="366713"/>
          </a:xfrm>
          <a:prstGeom prst="rect">
            <a:avLst/>
          </a:prstGeom>
          <a:noFill/>
          <a:ln w="9525">
            <a:noFill/>
            <a:miter lim="800000"/>
            <a:headEnd/>
            <a:tailEnd/>
          </a:ln>
        </p:spPr>
        <p:txBody>
          <a:bodyPr wrap="none">
            <a:spAutoFit/>
          </a:bodyPr>
          <a:lstStyle/>
          <a:p>
            <a:endParaRPr lang="en-US" dirty="0"/>
          </a:p>
        </p:txBody>
      </p:sp>
      <p:sp>
        <p:nvSpPr>
          <p:cNvPr id="8196" name="Rectangle 7"/>
          <p:cNvSpPr>
            <a:spLocks noChangeArrowheads="1"/>
          </p:cNvSpPr>
          <p:nvPr/>
        </p:nvSpPr>
        <p:spPr bwMode="auto">
          <a:xfrm>
            <a:off x="304800" y="1828800"/>
            <a:ext cx="3124200" cy="2308324"/>
          </a:xfrm>
          <a:prstGeom prst="rect">
            <a:avLst/>
          </a:prstGeom>
          <a:noFill/>
          <a:ln w="9525">
            <a:noFill/>
            <a:miter lim="800000"/>
            <a:headEnd/>
            <a:tailEnd/>
          </a:ln>
        </p:spPr>
        <p:txBody>
          <a:bodyPr wrap="square">
            <a:spAutoFit/>
          </a:bodyPr>
          <a:lstStyle/>
          <a:p>
            <a:r>
              <a:rPr lang="en-US" sz="1600" dirty="0" smtClean="0"/>
              <a:t>So far we have mainly looked at line and polygon features, but as this map indicates, Transportation: Transit data can also be represented by simple point features.  The map to the right indicates different types and locations of train depots within downtown section of Chicago.</a:t>
            </a:r>
          </a:p>
        </p:txBody>
      </p:sp>
      <p:sp>
        <p:nvSpPr>
          <p:cNvPr id="11274" name="Text Box 10"/>
          <p:cNvSpPr txBox="1">
            <a:spLocks noChangeArrowheads="1"/>
          </p:cNvSpPr>
          <p:nvPr/>
        </p:nvSpPr>
        <p:spPr bwMode="auto">
          <a:xfrm>
            <a:off x="228600" y="5860276"/>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8199" name="Text Box 11"/>
          <p:cNvSpPr txBox="1">
            <a:spLocks noChangeArrowheads="1"/>
          </p:cNvSpPr>
          <p:nvPr/>
        </p:nvSpPr>
        <p:spPr bwMode="auto">
          <a:xfrm>
            <a:off x="441325" y="6200001"/>
            <a:ext cx="2538387" cy="276999"/>
          </a:xfrm>
          <a:prstGeom prst="rect">
            <a:avLst/>
          </a:prstGeom>
          <a:noFill/>
          <a:ln w="9525">
            <a:noFill/>
            <a:miter lim="800000"/>
            <a:headEnd/>
            <a:tailEnd/>
          </a:ln>
        </p:spPr>
        <p:txBody>
          <a:bodyPr wrap="none">
            <a:spAutoFit/>
          </a:bodyPr>
          <a:lstStyle/>
          <a:p>
            <a:pPr>
              <a:buClr>
                <a:srgbClr val="526666"/>
              </a:buClr>
            </a:pPr>
            <a:r>
              <a:rPr lang="en-US" sz="1200" b="1" dirty="0" smtClean="0"/>
              <a:t>Types of Transportation: Transit Data</a:t>
            </a:r>
            <a:endParaRPr lang="en-US" sz="1200" b="1" dirty="0"/>
          </a:p>
        </p:txBody>
      </p:sp>
      <p:sp>
        <p:nvSpPr>
          <p:cNvPr id="8" name="Rectangle 7"/>
          <p:cNvSpPr/>
          <p:nvPr/>
        </p:nvSpPr>
        <p:spPr>
          <a:xfrm>
            <a:off x="4953000" y="5772090"/>
            <a:ext cx="3352800" cy="400110"/>
          </a:xfrm>
          <a:prstGeom prst="rect">
            <a:avLst/>
          </a:prstGeom>
        </p:spPr>
        <p:txBody>
          <a:bodyPr wrap="square">
            <a:spAutoFit/>
          </a:bodyPr>
          <a:lstStyle/>
          <a:p>
            <a:pPr algn="ctr"/>
            <a:r>
              <a:rPr lang="en-US" sz="1000" dirty="0"/>
              <a:t>http://www.235vanburen.com/site/template/assets/home_template_235VanBuren_658/images/map/map.gif</a:t>
            </a:r>
          </a:p>
        </p:txBody>
      </p:sp>
      <p:pic>
        <p:nvPicPr>
          <p:cNvPr id="3" name="Picture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572000" y="892968"/>
            <a:ext cx="4462721" cy="4797425"/>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228600" y="950913"/>
            <a:ext cx="5638800" cy="338554"/>
          </a:xfrm>
          <a:prstGeom prst="rect">
            <a:avLst/>
          </a:prstGeom>
          <a:noFill/>
          <a:ln w="9525">
            <a:noFill/>
            <a:miter lim="800000"/>
            <a:headEnd/>
            <a:tailEnd/>
          </a:ln>
          <a:effectLst/>
        </p:spPr>
        <p:txBody>
          <a:bodyPr wrap="square">
            <a:spAutoFit/>
          </a:bodyPr>
          <a:lstStyle/>
          <a:p>
            <a:pPr>
              <a:defRPr/>
            </a:pPr>
            <a:r>
              <a:rPr lang="en-US" sz="1600" b="1" u="sng" dirty="0" smtClean="0">
                <a:effectLst>
                  <a:outerShdw blurRad="38100" dist="38100" dir="2700000" algn="tl">
                    <a:srgbClr val="C0C0C0"/>
                  </a:outerShdw>
                </a:effectLst>
                <a:latin typeface="Arial Black" pitchFamily="34" charset="0"/>
              </a:rPr>
              <a:t>Transportation: Transit  Module </a:t>
            </a:r>
            <a:r>
              <a:rPr lang="en-US" sz="1600" b="1" u="sng" dirty="0">
                <a:effectLst>
                  <a:outerShdw blurRad="38100" dist="38100" dir="2700000" algn="tl">
                    <a:srgbClr val="C0C0C0"/>
                  </a:outerShdw>
                </a:effectLst>
                <a:latin typeface="Arial Black" pitchFamily="34" charset="0"/>
              </a:rPr>
              <a:t>1 </a:t>
            </a:r>
            <a:r>
              <a:rPr lang="en-US" sz="1600" b="1" u="sng" dirty="0" smtClean="0">
                <a:effectLst>
                  <a:outerShdw blurRad="38100" dist="38100" dir="2700000" algn="tl">
                    <a:srgbClr val="C0C0C0"/>
                  </a:outerShdw>
                </a:effectLst>
                <a:latin typeface="Arial Black" pitchFamily="34" charset="0"/>
              </a:rPr>
              <a:t>Exercise</a:t>
            </a:r>
            <a:endParaRPr lang="en-US" sz="1600" b="1" u="sng" dirty="0">
              <a:effectLst>
                <a:outerShdw blurRad="38100" dist="38100" dir="2700000" algn="tl">
                  <a:srgbClr val="C0C0C0"/>
                </a:outerShdw>
              </a:effectLst>
              <a:latin typeface="Arial Black" pitchFamily="34" charset="0"/>
            </a:endParaRPr>
          </a:p>
        </p:txBody>
      </p:sp>
      <p:sp>
        <p:nvSpPr>
          <p:cNvPr id="7171" name="Text Box 3"/>
          <p:cNvSpPr txBox="1">
            <a:spLocks noChangeArrowheads="1"/>
          </p:cNvSpPr>
          <p:nvPr/>
        </p:nvSpPr>
        <p:spPr bwMode="auto">
          <a:xfrm>
            <a:off x="304800" y="5867400"/>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11268" name="Text Box 4"/>
          <p:cNvSpPr txBox="1">
            <a:spLocks noChangeArrowheads="1"/>
          </p:cNvSpPr>
          <p:nvPr/>
        </p:nvSpPr>
        <p:spPr bwMode="auto">
          <a:xfrm>
            <a:off x="533400" y="6248400"/>
            <a:ext cx="1454150" cy="274638"/>
          </a:xfrm>
          <a:prstGeom prst="rect">
            <a:avLst/>
          </a:prstGeom>
          <a:noFill/>
          <a:ln w="9525">
            <a:noFill/>
            <a:miter lim="800000"/>
            <a:headEnd/>
            <a:tailEnd/>
          </a:ln>
        </p:spPr>
        <p:txBody>
          <a:bodyPr wrap="none">
            <a:spAutoFit/>
          </a:bodyPr>
          <a:lstStyle/>
          <a:p>
            <a:pPr>
              <a:buClr>
                <a:srgbClr val="526666"/>
              </a:buClr>
            </a:pPr>
            <a:r>
              <a:rPr lang="en-US" sz="1200" b="1" dirty="0"/>
              <a:t>Module Summary</a:t>
            </a:r>
          </a:p>
        </p:txBody>
      </p:sp>
      <p:sp>
        <p:nvSpPr>
          <p:cNvPr id="9" name="Text Box 6"/>
          <p:cNvSpPr txBox="1">
            <a:spLocks noChangeArrowheads="1"/>
          </p:cNvSpPr>
          <p:nvPr/>
        </p:nvSpPr>
        <p:spPr bwMode="auto">
          <a:xfrm>
            <a:off x="433388" y="1784350"/>
            <a:ext cx="6958012" cy="3231654"/>
          </a:xfrm>
          <a:prstGeom prst="rect">
            <a:avLst/>
          </a:prstGeom>
          <a:noFill/>
          <a:ln w="9525">
            <a:noFill/>
            <a:miter lim="800000"/>
            <a:headEnd/>
            <a:tailEnd/>
          </a:ln>
        </p:spPr>
        <p:txBody>
          <a:bodyPr wrap="square">
            <a:spAutoFit/>
          </a:bodyPr>
          <a:lstStyle/>
          <a:p>
            <a:pPr>
              <a:buClr>
                <a:srgbClr val="526666"/>
              </a:buClr>
              <a:tabLst>
                <a:tab pos="574675" algn="l"/>
              </a:tabLst>
            </a:pPr>
            <a:r>
              <a:rPr lang="en-US" sz="1200" b="1" dirty="0" smtClean="0"/>
              <a:t>Transportation: Transit data is </a:t>
            </a:r>
            <a:r>
              <a:rPr lang="en-US" sz="1200" b="1" dirty="0"/>
              <a:t>being applied and used in real world projects by many different agencies.  </a:t>
            </a:r>
            <a:r>
              <a:rPr lang="en-US" sz="1200" b="1" dirty="0" smtClean="0"/>
              <a:t>These agencies use Transportation: Transit data for a variety of reasons.  Now </a:t>
            </a:r>
            <a:r>
              <a:rPr lang="en-US" sz="1200" b="1" dirty="0"/>
              <a:t>that you have some basic </a:t>
            </a:r>
            <a:r>
              <a:rPr lang="en-US" sz="1200" b="1" dirty="0" smtClean="0"/>
              <a:t>Transportation: Transit knowledge </a:t>
            </a:r>
            <a:r>
              <a:rPr lang="en-US" sz="1200" b="1" dirty="0"/>
              <a:t>let’s see some </a:t>
            </a:r>
            <a:r>
              <a:rPr lang="en-US" sz="1200" b="1" dirty="0" smtClean="0"/>
              <a:t>Transportation: Transit data sets </a:t>
            </a:r>
            <a:r>
              <a:rPr lang="en-US" sz="1200" b="1" dirty="0"/>
              <a:t>in action.  </a:t>
            </a:r>
          </a:p>
          <a:p>
            <a:pPr>
              <a:buClr>
                <a:srgbClr val="526666"/>
              </a:buClr>
              <a:tabLst>
                <a:tab pos="574675" algn="l"/>
              </a:tabLst>
            </a:pPr>
            <a:endParaRPr lang="en-US" sz="1200" b="1" dirty="0"/>
          </a:p>
          <a:p>
            <a:pPr>
              <a:buClr>
                <a:srgbClr val="526666"/>
              </a:buClr>
              <a:tabLst>
                <a:tab pos="574675" algn="l"/>
              </a:tabLst>
            </a:pPr>
            <a:r>
              <a:rPr lang="en-US" sz="1200" b="1" dirty="0">
                <a:solidFill>
                  <a:srgbClr val="33338C"/>
                </a:solidFill>
              </a:rPr>
              <a:t>Step 1)</a:t>
            </a:r>
            <a:r>
              <a:rPr lang="en-US" sz="1200" b="1" dirty="0"/>
              <a:t> Open an Internet Browser and proceed to: </a:t>
            </a:r>
            <a:r>
              <a:rPr lang="en-US" sz="1200" b="1" dirty="0" smtClean="0"/>
              <a:t>	 	</a:t>
            </a:r>
            <a:r>
              <a:rPr lang="en-US" sz="1200" dirty="0">
                <a:hlinkClick r:id="rId2"/>
              </a:rPr>
              <a:t>http://</a:t>
            </a:r>
            <a:r>
              <a:rPr lang="en-US" sz="1200" dirty="0" smtClean="0">
                <a:hlinkClick r:id="rId2"/>
              </a:rPr>
              <a:t>www.mta.info/nyct/maps/submap.htm</a:t>
            </a:r>
            <a:endParaRPr lang="en-US" sz="1200" dirty="0" smtClean="0"/>
          </a:p>
          <a:p>
            <a:pPr>
              <a:buClr>
                <a:srgbClr val="526666"/>
              </a:buClr>
              <a:tabLst>
                <a:tab pos="574675" algn="l"/>
              </a:tabLst>
            </a:pPr>
            <a:endParaRPr lang="en-US" sz="1200" b="1" dirty="0"/>
          </a:p>
          <a:p>
            <a:pPr>
              <a:buClr>
                <a:srgbClr val="526666"/>
              </a:buClr>
              <a:tabLst>
                <a:tab pos="574675" algn="l"/>
              </a:tabLst>
            </a:pPr>
            <a:r>
              <a:rPr lang="en-US" sz="1200" b="1" dirty="0">
                <a:solidFill>
                  <a:srgbClr val="33338C"/>
                </a:solidFill>
              </a:rPr>
              <a:t>Step 2)</a:t>
            </a:r>
            <a:r>
              <a:rPr lang="en-US" sz="1200" b="1" dirty="0"/>
              <a:t> </a:t>
            </a:r>
            <a:r>
              <a:rPr lang="en-US" sz="1200" b="1" dirty="0" smtClean="0"/>
              <a:t>Click on several different stations</a:t>
            </a:r>
            <a:endParaRPr lang="en-US" sz="1200" b="1" dirty="0"/>
          </a:p>
          <a:p>
            <a:pPr>
              <a:spcBef>
                <a:spcPct val="40000"/>
              </a:spcBef>
              <a:buClr>
                <a:srgbClr val="526666"/>
              </a:buClr>
              <a:tabLst>
                <a:tab pos="574675" algn="l"/>
              </a:tabLst>
            </a:pPr>
            <a:r>
              <a:rPr lang="en-US" sz="1200" b="1" dirty="0">
                <a:solidFill>
                  <a:srgbClr val="33338C"/>
                </a:solidFill>
              </a:rPr>
              <a:t>Step 3)</a:t>
            </a:r>
            <a:r>
              <a:rPr lang="en-US" sz="1200" b="1" dirty="0"/>
              <a:t> </a:t>
            </a:r>
            <a:r>
              <a:rPr lang="en-US" sz="1200" b="1" dirty="0" smtClean="0"/>
              <a:t>What information can you glean from the map and station locations?</a:t>
            </a:r>
            <a:endParaRPr lang="en-US" sz="1200" b="1" dirty="0"/>
          </a:p>
          <a:p>
            <a:pPr>
              <a:spcBef>
                <a:spcPct val="40000"/>
              </a:spcBef>
              <a:buClr>
                <a:srgbClr val="526666"/>
              </a:buClr>
              <a:tabLst>
                <a:tab pos="574675" algn="l"/>
              </a:tabLst>
            </a:pPr>
            <a:r>
              <a:rPr lang="en-US" sz="1200" b="1" dirty="0">
                <a:solidFill>
                  <a:srgbClr val="33338C"/>
                </a:solidFill>
              </a:rPr>
              <a:t>Step 4)</a:t>
            </a:r>
            <a:r>
              <a:rPr lang="en-US" sz="1200" b="1" dirty="0"/>
              <a:t> </a:t>
            </a:r>
            <a:r>
              <a:rPr lang="en-US" sz="1200" b="1" dirty="0" smtClean="0"/>
              <a:t>Is there other information that would be useful to have?</a:t>
            </a:r>
          </a:p>
          <a:p>
            <a:pPr>
              <a:spcBef>
                <a:spcPct val="40000"/>
              </a:spcBef>
              <a:buClr>
                <a:srgbClr val="526666"/>
              </a:buClr>
              <a:tabLst>
                <a:tab pos="574675" algn="l"/>
              </a:tabLst>
            </a:pPr>
            <a:r>
              <a:rPr lang="en-US" sz="1200" b="1" dirty="0" smtClean="0">
                <a:solidFill>
                  <a:srgbClr val="33338C"/>
                </a:solidFill>
              </a:rPr>
              <a:t>Step </a:t>
            </a:r>
            <a:r>
              <a:rPr lang="en-US" sz="1200" b="1" dirty="0">
                <a:solidFill>
                  <a:srgbClr val="33338C"/>
                </a:solidFill>
              </a:rPr>
              <a:t>5)</a:t>
            </a:r>
            <a:r>
              <a:rPr lang="en-US" sz="1200" b="1" dirty="0"/>
              <a:t> </a:t>
            </a:r>
            <a:r>
              <a:rPr lang="en-US" sz="1200" b="1" dirty="0" smtClean="0"/>
              <a:t>If you have an apple iphone/itouch/ipad click on the following link and compare it to the map you 	have been viewing online</a:t>
            </a:r>
          </a:p>
          <a:p>
            <a:pPr>
              <a:spcBef>
                <a:spcPct val="40000"/>
              </a:spcBef>
              <a:buClr>
                <a:srgbClr val="526666"/>
              </a:buClr>
              <a:tabLst>
                <a:tab pos="574675" algn="l"/>
              </a:tabLst>
            </a:pPr>
            <a:r>
              <a:rPr lang="en-US" sz="1200" b="1" dirty="0"/>
              <a:t>	</a:t>
            </a:r>
            <a:r>
              <a:rPr lang="en-US" sz="1200" dirty="0">
                <a:hlinkClick r:id="rId3"/>
              </a:rPr>
              <a:t> http://itunes.apple.com/us/app/nyc-subway-maps-for-iphone/id282796383?mt=8</a:t>
            </a:r>
            <a:endParaRPr lang="en-US" sz="1200" b="1" dirty="0" smtClean="0"/>
          </a:p>
          <a:p>
            <a:pPr>
              <a:spcBef>
                <a:spcPct val="40000"/>
              </a:spcBef>
              <a:buClr>
                <a:srgbClr val="526666"/>
              </a:buClr>
              <a:tabLst>
                <a:tab pos="574675" algn="l"/>
              </a:tabLst>
            </a:pPr>
            <a:r>
              <a:rPr lang="en-US" sz="1200" b="1" dirty="0">
                <a:solidFill>
                  <a:srgbClr val="33338C"/>
                </a:solidFill>
              </a:rPr>
              <a:t>Step </a:t>
            </a:r>
            <a:r>
              <a:rPr lang="en-US" sz="1200" b="1" dirty="0" smtClean="0">
                <a:solidFill>
                  <a:srgbClr val="33338C"/>
                </a:solidFill>
              </a:rPr>
              <a:t>6)</a:t>
            </a:r>
            <a:r>
              <a:rPr lang="en-US" sz="1200" b="1" dirty="0" smtClean="0"/>
              <a:t> </a:t>
            </a:r>
            <a:r>
              <a:rPr lang="en-US" sz="1200" b="1" dirty="0"/>
              <a:t>Close all Internet windows and proceed with </a:t>
            </a:r>
            <a:br>
              <a:rPr lang="en-US" sz="1200" b="1" dirty="0"/>
            </a:br>
            <a:r>
              <a:rPr lang="en-US" sz="1200" b="1" dirty="0"/>
              <a:t>            </a:t>
            </a:r>
            <a:r>
              <a:rPr lang="en-US" sz="1200" b="1" dirty="0" smtClean="0"/>
              <a:t>  the </a:t>
            </a:r>
            <a:r>
              <a:rPr lang="en-US" sz="1200" b="1" dirty="0"/>
              <a:t>course </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ext Box 2"/>
          <p:cNvSpPr txBox="1">
            <a:spLocks noChangeArrowheads="1"/>
          </p:cNvSpPr>
          <p:nvPr/>
        </p:nvSpPr>
        <p:spPr bwMode="auto">
          <a:xfrm>
            <a:off x="228600" y="950913"/>
            <a:ext cx="5638800" cy="338554"/>
          </a:xfrm>
          <a:prstGeom prst="rect">
            <a:avLst/>
          </a:prstGeom>
          <a:noFill/>
          <a:ln w="9525">
            <a:noFill/>
            <a:miter lim="800000"/>
            <a:headEnd/>
            <a:tailEnd/>
          </a:ln>
          <a:effectLst/>
        </p:spPr>
        <p:txBody>
          <a:bodyPr wrap="square">
            <a:spAutoFit/>
          </a:bodyPr>
          <a:lstStyle/>
          <a:p>
            <a:pPr>
              <a:defRPr/>
            </a:pPr>
            <a:r>
              <a:rPr lang="en-US" sz="1600" b="1" u="sng" dirty="0" smtClean="0">
                <a:effectLst>
                  <a:outerShdw blurRad="38100" dist="38100" dir="2700000" algn="tl">
                    <a:srgbClr val="C0C0C0"/>
                  </a:outerShdw>
                </a:effectLst>
                <a:latin typeface="Arial Black" pitchFamily="34" charset="0"/>
              </a:rPr>
              <a:t>Transportation: Transit  Module </a:t>
            </a:r>
            <a:r>
              <a:rPr lang="en-US" sz="1600" b="1" u="sng" dirty="0">
                <a:effectLst>
                  <a:outerShdw blurRad="38100" dist="38100" dir="2700000" algn="tl">
                    <a:srgbClr val="C0C0C0"/>
                  </a:outerShdw>
                </a:effectLst>
                <a:latin typeface="Arial Black" pitchFamily="34" charset="0"/>
              </a:rPr>
              <a:t>1 </a:t>
            </a:r>
            <a:r>
              <a:rPr lang="en-US" sz="1600" b="1" u="sng" dirty="0" smtClean="0">
                <a:effectLst>
                  <a:outerShdw blurRad="38100" dist="38100" dir="2700000" algn="tl">
                    <a:srgbClr val="C0C0C0"/>
                  </a:outerShdw>
                </a:effectLst>
                <a:latin typeface="Arial Black" pitchFamily="34" charset="0"/>
              </a:rPr>
              <a:t>Summary</a:t>
            </a:r>
            <a:endParaRPr lang="en-US" sz="1600" b="1" u="sng" dirty="0">
              <a:effectLst>
                <a:outerShdw blurRad="38100" dist="38100" dir="2700000" algn="tl">
                  <a:srgbClr val="C0C0C0"/>
                </a:outerShdw>
              </a:effectLst>
              <a:latin typeface="Arial Black" pitchFamily="34" charset="0"/>
            </a:endParaRPr>
          </a:p>
        </p:txBody>
      </p:sp>
      <p:sp>
        <p:nvSpPr>
          <p:cNvPr id="7171" name="Text Box 3"/>
          <p:cNvSpPr txBox="1">
            <a:spLocks noChangeArrowheads="1"/>
          </p:cNvSpPr>
          <p:nvPr/>
        </p:nvSpPr>
        <p:spPr bwMode="auto">
          <a:xfrm>
            <a:off x="304800" y="5486400"/>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11268" name="Text Box 4"/>
          <p:cNvSpPr txBox="1">
            <a:spLocks noChangeArrowheads="1"/>
          </p:cNvSpPr>
          <p:nvPr/>
        </p:nvSpPr>
        <p:spPr bwMode="auto">
          <a:xfrm>
            <a:off x="533400" y="5867400"/>
            <a:ext cx="5500288" cy="276999"/>
          </a:xfrm>
          <a:prstGeom prst="rect">
            <a:avLst/>
          </a:prstGeom>
          <a:noFill/>
          <a:ln w="9525">
            <a:noFill/>
            <a:miter lim="800000"/>
            <a:headEnd/>
            <a:tailEnd/>
          </a:ln>
        </p:spPr>
        <p:txBody>
          <a:bodyPr wrap="none">
            <a:spAutoFit/>
          </a:bodyPr>
          <a:lstStyle/>
          <a:p>
            <a:pPr>
              <a:buClr>
                <a:srgbClr val="526666"/>
              </a:buClr>
            </a:pPr>
            <a:r>
              <a:rPr lang="en-US" sz="1200" b="1" dirty="0"/>
              <a:t>Module </a:t>
            </a:r>
            <a:r>
              <a:rPr lang="en-US" sz="1200" b="1" dirty="0" smtClean="0"/>
              <a:t>2: Transportation: Transit (Part 1) of the Framework Data Content Standard</a:t>
            </a:r>
            <a:endParaRPr lang="en-US" sz="1200" b="1" dirty="0"/>
          </a:p>
        </p:txBody>
      </p:sp>
      <p:sp>
        <p:nvSpPr>
          <p:cNvPr id="9" name="Text Box 6"/>
          <p:cNvSpPr txBox="1">
            <a:spLocks noChangeArrowheads="1"/>
          </p:cNvSpPr>
          <p:nvPr/>
        </p:nvSpPr>
        <p:spPr bwMode="auto">
          <a:xfrm>
            <a:off x="457200" y="1828800"/>
            <a:ext cx="5205412" cy="2308324"/>
          </a:xfrm>
          <a:prstGeom prst="rect">
            <a:avLst/>
          </a:prstGeom>
          <a:noFill/>
          <a:ln w="9525">
            <a:noFill/>
            <a:miter lim="800000"/>
            <a:headEnd/>
            <a:tailEnd/>
          </a:ln>
        </p:spPr>
        <p:txBody>
          <a:bodyPr wrap="square">
            <a:spAutoFit/>
          </a:bodyPr>
          <a:lstStyle/>
          <a:p>
            <a:pPr>
              <a:buClr>
                <a:srgbClr val="526666"/>
              </a:buClr>
              <a:tabLst>
                <a:tab pos="574675" algn="l"/>
              </a:tabLst>
            </a:pPr>
            <a:r>
              <a:rPr lang="en-US" sz="1200" dirty="0" smtClean="0"/>
              <a:t>In this module we have explored Transportation: Transit Data, the different types and why it is important.</a:t>
            </a:r>
          </a:p>
          <a:p>
            <a:pPr>
              <a:buClr>
                <a:srgbClr val="526666"/>
              </a:buClr>
              <a:tabLst>
                <a:tab pos="574675" algn="l"/>
              </a:tabLst>
            </a:pPr>
            <a:endParaRPr lang="en-US" sz="1200" dirty="0"/>
          </a:p>
          <a:p>
            <a:pPr>
              <a:buClr>
                <a:srgbClr val="526666"/>
              </a:buClr>
              <a:buFont typeface="Arial" pitchFamily="34" charset="0"/>
              <a:buChar char="•"/>
              <a:tabLst>
                <a:tab pos="574675" algn="l"/>
              </a:tabLst>
            </a:pPr>
            <a:r>
              <a:rPr lang="en-US" sz="1200" dirty="0" smtClean="0"/>
              <a:t> </a:t>
            </a:r>
            <a:r>
              <a:rPr lang="en-US" sz="1200" dirty="0"/>
              <a:t>Transit data are defined as spatial data, as well as related attributes and metadata, which can be used to depict the most broadly used elements of the public transportation system.   </a:t>
            </a:r>
          </a:p>
          <a:p>
            <a:pPr>
              <a:buClr>
                <a:srgbClr val="526666"/>
              </a:buClr>
              <a:buFont typeface="Arial" pitchFamily="34" charset="0"/>
              <a:buChar char="•"/>
              <a:tabLst>
                <a:tab pos="574675" algn="l"/>
              </a:tabLst>
            </a:pPr>
            <a:endParaRPr lang="en-US" sz="1200" b="1" dirty="0"/>
          </a:p>
          <a:p>
            <a:pPr>
              <a:buClr>
                <a:srgbClr val="526666"/>
              </a:buClr>
              <a:buFont typeface="Arial" pitchFamily="34" charset="0"/>
              <a:buChar char="•"/>
              <a:tabLst>
                <a:tab pos="574675" algn="l"/>
              </a:tabLst>
            </a:pPr>
            <a:r>
              <a:rPr lang="en-US" sz="1200" dirty="0" smtClean="0"/>
              <a:t> Transportation </a:t>
            </a:r>
            <a:r>
              <a:rPr lang="en-US" sz="1200" dirty="0"/>
              <a:t>mode, transit differs substantially from other modes such as rail and road in that core operational features of the transit system consist of spatial and temporal elements that rest upon the transportation infrastructure.</a:t>
            </a:r>
          </a:p>
          <a:p>
            <a:pPr>
              <a:buClr>
                <a:srgbClr val="526666"/>
              </a:buClr>
              <a:buFont typeface="Arial" pitchFamily="34" charset="0"/>
              <a:buChar char="•"/>
              <a:tabLst>
                <a:tab pos="574675" algn="l"/>
              </a:tabLst>
            </a:pPr>
            <a:endParaRPr lang="en-US" sz="1200" b="1" dirty="0"/>
          </a:p>
          <a:p>
            <a:pPr>
              <a:buClr>
                <a:srgbClr val="526666"/>
              </a:buClr>
              <a:buFont typeface="Arial" pitchFamily="34" charset="0"/>
              <a:buChar char="•"/>
              <a:tabLst>
                <a:tab pos="574675" algn="l"/>
              </a:tabLst>
            </a:pPr>
            <a:endParaRPr lang="en-US" sz="1200" b="1"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2" name="Text Box 4"/>
          <p:cNvSpPr txBox="1">
            <a:spLocks noChangeArrowheads="1"/>
          </p:cNvSpPr>
          <p:nvPr/>
        </p:nvSpPr>
        <p:spPr bwMode="auto">
          <a:xfrm>
            <a:off x="228600" y="1693863"/>
            <a:ext cx="3048000" cy="336550"/>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Topics</a:t>
            </a:r>
          </a:p>
        </p:txBody>
      </p:sp>
      <p:sp>
        <p:nvSpPr>
          <p:cNvPr id="13315" name="Text Box 5"/>
          <p:cNvSpPr txBox="1">
            <a:spLocks noChangeArrowheads="1"/>
          </p:cNvSpPr>
          <p:nvPr/>
        </p:nvSpPr>
        <p:spPr bwMode="auto">
          <a:xfrm>
            <a:off x="381000" y="1924050"/>
            <a:ext cx="6172200" cy="2086725"/>
          </a:xfrm>
          <a:prstGeom prst="rect">
            <a:avLst/>
          </a:prstGeom>
          <a:noFill/>
          <a:ln w="9525">
            <a:noFill/>
            <a:miter lim="800000"/>
            <a:headEnd/>
            <a:tailEnd/>
          </a:ln>
        </p:spPr>
        <p:txBody>
          <a:bodyPr>
            <a:spAutoFit/>
          </a:bodyPr>
          <a:lstStyle/>
          <a:p>
            <a:pPr>
              <a:lnSpc>
                <a:spcPct val="180000"/>
              </a:lnSpc>
              <a:buClr>
                <a:srgbClr val="33338C"/>
              </a:buClr>
              <a:buFontTx/>
              <a:buChar char="•"/>
            </a:pPr>
            <a:r>
              <a:rPr lang="en-US" sz="1200" b="1" dirty="0"/>
              <a:t> What is the </a:t>
            </a:r>
            <a:r>
              <a:rPr lang="en-US" sz="1200" b="1" dirty="0" smtClean="0"/>
              <a:t>Transportation: Transit Standard?</a:t>
            </a:r>
            <a:endParaRPr lang="en-US" sz="1200" b="1" dirty="0"/>
          </a:p>
          <a:p>
            <a:pPr>
              <a:lnSpc>
                <a:spcPct val="180000"/>
              </a:lnSpc>
              <a:buClr>
                <a:srgbClr val="33338C"/>
              </a:buClr>
              <a:buFontTx/>
              <a:buChar char="•"/>
            </a:pPr>
            <a:r>
              <a:rPr lang="en-US" sz="1200" b="1" dirty="0"/>
              <a:t> Purpose for Standard</a:t>
            </a:r>
          </a:p>
          <a:p>
            <a:pPr>
              <a:lnSpc>
                <a:spcPct val="180000"/>
              </a:lnSpc>
              <a:buClr>
                <a:srgbClr val="33338C"/>
              </a:buClr>
              <a:buFontTx/>
              <a:buChar char="•"/>
            </a:pPr>
            <a:r>
              <a:rPr lang="en-US" sz="1200" b="1" dirty="0"/>
              <a:t> Goals of the Standard </a:t>
            </a:r>
          </a:p>
          <a:p>
            <a:pPr>
              <a:lnSpc>
                <a:spcPct val="180000"/>
              </a:lnSpc>
              <a:buClr>
                <a:srgbClr val="33338C"/>
              </a:buClr>
              <a:buFontTx/>
              <a:buChar char="•"/>
            </a:pPr>
            <a:r>
              <a:rPr lang="en-US" sz="1200" b="1" dirty="0"/>
              <a:t> Capacities of the Standard</a:t>
            </a:r>
          </a:p>
          <a:p>
            <a:pPr>
              <a:lnSpc>
                <a:spcPct val="180000"/>
              </a:lnSpc>
              <a:buClr>
                <a:srgbClr val="33338C"/>
              </a:buClr>
              <a:buFontTx/>
              <a:buChar char="•"/>
            </a:pPr>
            <a:r>
              <a:rPr lang="en-US" sz="1200" b="1" dirty="0"/>
              <a:t> Standard Related Contact Information </a:t>
            </a:r>
          </a:p>
          <a:p>
            <a:pPr>
              <a:lnSpc>
                <a:spcPct val="180000"/>
              </a:lnSpc>
              <a:buClr>
                <a:srgbClr val="33338C"/>
              </a:buClr>
              <a:buFontTx/>
              <a:buChar char="•"/>
            </a:pPr>
            <a:r>
              <a:rPr lang="en-US" sz="1200" b="1" dirty="0"/>
              <a:t> Module Exercise and Summary</a:t>
            </a:r>
          </a:p>
        </p:txBody>
      </p:sp>
      <p:sp>
        <p:nvSpPr>
          <p:cNvPr id="32774" name="Text Box 6"/>
          <p:cNvSpPr txBox="1">
            <a:spLocks noChangeArrowheads="1"/>
          </p:cNvSpPr>
          <p:nvPr/>
        </p:nvSpPr>
        <p:spPr bwMode="auto">
          <a:xfrm>
            <a:off x="152400" y="838200"/>
            <a:ext cx="8229600" cy="584775"/>
          </a:xfrm>
          <a:prstGeom prst="rect">
            <a:avLst/>
          </a:prstGeom>
          <a:noFill/>
          <a:ln w="9525">
            <a:noFill/>
            <a:miter lim="800000"/>
            <a:headEnd/>
            <a:tailEnd/>
          </a:ln>
          <a:effectLst/>
        </p:spPr>
        <p:txBody>
          <a:bodyPr wrap="square">
            <a:spAutoFit/>
          </a:bodyPr>
          <a:lstStyle/>
          <a:p>
            <a:pPr>
              <a:defRPr/>
            </a:pPr>
            <a:r>
              <a:rPr lang="en-US" sz="1600" b="1" dirty="0">
                <a:effectLst>
                  <a:outerShdw blurRad="38100" dist="38100" dir="2700000" algn="tl">
                    <a:srgbClr val="C0C0C0"/>
                  </a:outerShdw>
                </a:effectLst>
                <a:latin typeface="Arial Black" pitchFamily="34" charset="0"/>
              </a:rPr>
              <a:t>Module 2: </a:t>
            </a:r>
            <a:r>
              <a:rPr lang="en-US" sz="1600" b="1" dirty="0" smtClean="0">
                <a:latin typeface="Arial Black" pitchFamily="34" charset="0"/>
              </a:rPr>
              <a:t>The </a:t>
            </a:r>
            <a:r>
              <a:rPr lang="en-US" sz="1600" b="1" dirty="0">
                <a:latin typeface="Arial Black" pitchFamily="34" charset="0"/>
              </a:rPr>
              <a:t>Framework Data Content </a:t>
            </a:r>
            <a:r>
              <a:rPr lang="en-US" sz="1600" b="1" dirty="0" smtClean="0">
                <a:latin typeface="Arial Black" pitchFamily="34" charset="0"/>
              </a:rPr>
              <a:t>Standard: Transportation: Transit</a:t>
            </a:r>
            <a:endParaRPr lang="en-US" sz="1600" b="1" dirty="0">
              <a:latin typeface="Arial Black" pitchFamily="34" charset="0"/>
            </a:endParaRPr>
          </a:p>
        </p:txBody>
      </p:sp>
      <p:sp>
        <p:nvSpPr>
          <p:cNvPr id="5" name="Text Box 9"/>
          <p:cNvSpPr txBox="1">
            <a:spLocks noChangeArrowheads="1"/>
          </p:cNvSpPr>
          <p:nvPr/>
        </p:nvSpPr>
        <p:spPr bwMode="auto">
          <a:xfrm>
            <a:off x="7491413" y="1435100"/>
            <a:ext cx="1622425" cy="260350"/>
          </a:xfrm>
          <a:prstGeom prst="rect">
            <a:avLst/>
          </a:prstGeom>
          <a:noFill/>
          <a:ln w="9525">
            <a:noFill/>
            <a:miter lim="800000"/>
            <a:headEnd/>
            <a:tailEnd/>
          </a:ln>
          <a:effectLst/>
        </p:spPr>
        <p:txBody>
          <a:bodyPr>
            <a:spAutoFit/>
          </a:bodyPr>
          <a:lstStyle/>
          <a:p>
            <a:pPr algn="r">
              <a:defRPr/>
            </a:pPr>
            <a:r>
              <a:rPr lang="en-US" sz="1100" b="1" dirty="0">
                <a:solidFill>
                  <a:srgbClr val="33338C"/>
                </a:solidFill>
                <a:effectLst>
                  <a:outerShdw blurRad="38100" dist="38100" dir="2700000" algn="tl">
                    <a:srgbClr val="C0C0C0"/>
                  </a:outerShdw>
                </a:effectLst>
                <a:latin typeface="Arial Black" pitchFamily="34" charset="0"/>
              </a:rPr>
              <a:t>Time Requirement</a:t>
            </a:r>
          </a:p>
        </p:txBody>
      </p:sp>
      <p:sp>
        <p:nvSpPr>
          <p:cNvPr id="13318" name="Text Box 10"/>
          <p:cNvSpPr txBox="1">
            <a:spLocks noChangeArrowheads="1"/>
          </p:cNvSpPr>
          <p:nvPr/>
        </p:nvSpPr>
        <p:spPr bwMode="auto">
          <a:xfrm>
            <a:off x="6103938" y="1703388"/>
            <a:ext cx="2982912" cy="396875"/>
          </a:xfrm>
          <a:prstGeom prst="rect">
            <a:avLst/>
          </a:prstGeom>
          <a:noFill/>
          <a:ln w="9525">
            <a:noFill/>
            <a:miter lim="800000"/>
            <a:headEnd/>
            <a:tailEnd/>
          </a:ln>
        </p:spPr>
        <p:txBody>
          <a:bodyPr>
            <a:spAutoFit/>
          </a:bodyPr>
          <a:lstStyle/>
          <a:p>
            <a:pPr algn="r"/>
            <a:r>
              <a:rPr lang="en-US" sz="1000" b="1" dirty="0">
                <a:solidFill>
                  <a:srgbClr val="4D4D4D"/>
                </a:solidFill>
              </a:rPr>
              <a:t>Estimated time for this module is </a:t>
            </a:r>
            <a:r>
              <a:rPr lang="en-US" sz="1000" b="1" dirty="0" smtClean="0">
                <a:solidFill>
                  <a:srgbClr val="4D4D4D"/>
                </a:solidFill>
              </a:rPr>
              <a:t>30 </a:t>
            </a:r>
            <a:r>
              <a:rPr lang="en-US" sz="1000" b="1" dirty="0">
                <a:solidFill>
                  <a:srgbClr val="4D4D4D"/>
                </a:solidFill>
              </a:rPr>
              <a:t>minutes</a:t>
            </a:r>
          </a:p>
          <a:p>
            <a:endParaRPr lang="en-US" sz="1000" b="1" dirty="0">
              <a:solidFill>
                <a:srgbClr val="4D4D4D"/>
              </a:solidFill>
            </a:endParaRPr>
          </a:p>
        </p:txBody>
      </p:sp>
      <p:sp>
        <p:nvSpPr>
          <p:cNvPr id="7" name="Text Box 11"/>
          <p:cNvSpPr txBox="1">
            <a:spLocks noChangeArrowheads="1"/>
          </p:cNvSpPr>
          <p:nvPr/>
        </p:nvSpPr>
        <p:spPr bwMode="auto">
          <a:xfrm>
            <a:off x="7467600" y="2635250"/>
            <a:ext cx="1557338" cy="260350"/>
          </a:xfrm>
          <a:prstGeom prst="rect">
            <a:avLst/>
          </a:prstGeom>
          <a:noFill/>
          <a:ln w="9525">
            <a:noFill/>
            <a:miter lim="800000"/>
            <a:headEnd/>
            <a:tailEnd/>
          </a:ln>
          <a:effectLst/>
        </p:spPr>
        <p:txBody>
          <a:bodyPr>
            <a:spAutoFit/>
          </a:bodyPr>
          <a:lstStyle/>
          <a:p>
            <a:pPr algn="r">
              <a:defRPr/>
            </a:pPr>
            <a:r>
              <a:rPr lang="en-US" sz="1100" b="1" dirty="0">
                <a:solidFill>
                  <a:srgbClr val="33338C"/>
                </a:solidFill>
                <a:effectLst>
                  <a:outerShdw blurRad="38100" dist="38100" dir="2700000" algn="tl">
                    <a:srgbClr val="C0C0C0"/>
                  </a:outerShdw>
                </a:effectLst>
                <a:latin typeface="Arial Black" pitchFamily="34" charset="0"/>
              </a:rPr>
              <a:t>Key Terms</a:t>
            </a:r>
          </a:p>
        </p:txBody>
      </p:sp>
      <p:sp>
        <p:nvSpPr>
          <p:cNvPr id="8" name="Text Box 12"/>
          <p:cNvSpPr txBox="1">
            <a:spLocks noChangeArrowheads="1"/>
          </p:cNvSpPr>
          <p:nvPr/>
        </p:nvSpPr>
        <p:spPr bwMode="auto">
          <a:xfrm>
            <a:off x="6389615" y="3124200"/>
            <a:ext cx="2560316" cy="954107"/>
          </a:xfrm>
          <a:prstGeom prst="rect">
            <a:avLst/>
          </a:prstGeom>
          <a:solidFill>
            <a:schemeClr val="bg1">
              <a:lumMod val="85000"/>
            </a:schemeClr>
          </a:solidFill>
          <a:ln w="9525">
            <a:noFill/>
            <a:miter lim="800000"/>
            <a:headEnd/>
            <a:tailEnd/>
          </a:ln>
        </p:spPr>
        <p:txBody>
          <a:bodyPr wrap="none">
            <a:spAutoFit/>
          </a:bodyPr>
          <a:lstStyle/>
          <a:p>
            <a:pPr algn="r">
              <a:lnSpc>
                <a:spcPct val="140000"/>
              </a:lnSpc>
              <a:defRPr/>
            </a:pPr>
            <a:r>
              <a:rPr lang="en-US" sz="1000" b="1" dirty="0" smtClean="0">
                <a:solidFill>
                  <a:srgbClr val="4D4D4D"/>
                </a:solidFill>
              </a:rPr>
              <a:t>Transportation: Transit Framework </a:t>
            </a:r>
            <a:r>
              <a:rPr lang="en-US" sz="1000" b="1" dirty="0">
                <a:solidFill>
                  <a:srgbClr val="4D4D4D"/>
                </a:solidFill>
              </a:rPr>
              <a:t>Standard</a:t>
            </a:r>
          </a:p>
          <a:p>
            <a:pPr algn="r">
              <a:lnSpc>
                <a:spcPct val="140000"/>
              </a:lnSpc>
              <a:defRPr/>
            </a:pPr>
            <a:r>
              <a:rPr lang="en-US" sz="1000" b="1" dirty="0" smtClean="0">
                <a:solidFill>
                  <a:srgbClr val="4D4D4D"/>
                </a:solidFill>
              </a:rPr>
              <a:t>Framework</a:t>
            </a:r>
          </a:p>
          <a:p>
            <a:pPr algn="r">
              <a:lnSpc>
                <a:spcPct val="140000"/>
              </a:lnSpc>
              <a:defRPr/>
            </a:pPr>
            <a:r>
              <a:rPr lang="en-US" sz="1000" b="1" dirty="0" smtClean="0">
                <a:solidFill>
                  <a:srgbClr val="4D4D4D"/>
                </a:solidFill>
              </a:rPr>
              <a:t>Transit model</a:t>
            </a:r>
          </a:p>
          <a:p>
            <a:pPr>
              <a:lnSpc>
                <a:spcPct val="140000"/>
              </a:lnSpc>
              <a:defRPr/>
            </a:pPr>
            <a:endParaRPr lang="en-US" sz="1000" b="1" dirty="0">
              <a:solidFill>
                <a:srgbClr val="4D4D4D"/>
              </a:solidFill>
            </a:endParaRPr>
          </a:p>
        </p:txBody>
      </p:sp>
      <p:sp>
        <p:nvSpPr>
          <p:cNvPr id="9" name="Text Box 3"/>
          <p:cNvSpPr txBox="1">
            <a:spLocks noChangeArrowheads="1"/>
          </p:cNvSpPr>
          <p:nvPr/>
        </p:nvSpPr>
        <p:spPr bwMode="auto">
          <a:xfrm>
            <a:off x="304800" y="5562600"/>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10" name="Text Box 4"/>
          <p:cNvSpPr txBox="1">
            <a:spLocks noChangeArrowheads="1"/>
          </p:cNvSpPr>
          <p:nvPr/>
        </p:nvSpPr>
        <p:spPr bwMode="auto">
          <a:xfrm>
            <a:off x="533400" y="5971401"/>
            <a:ext cx="3087961" cy="276999"/>
          </a:xfrm>
          <a:prstGeom prst="rect">
            <a:avLst/>
          </a:prstGeom>
          <a:noFill/>
          <a:ln w="9525">
            <a:noFill/>
            <a:miter lim="800000"/>
            <a:headEnd/>
            <a:tailEnd/>
          </a:ln>
        </p:spPr>
        <p:txBody>
          <a:bodyPr wrap="none">
            <a:spAutoFit/>
          </a:bodyPr>
          <a:lstStyle/>
          <a:p>
            <a:pPr>
              <a:buClr>
                <a:srgbClr val="526666"/>
              </a:buClr>
            </a:pPr>
            <a:r>
              <a:rPr lang="en-US" sz="1200" b="1" dirty="0" smtClean="0"/>
              <a:t>What is the Transportation: Transit Standard?</a:t>
            </a:r>
            <a:endParaRPr lang="en-US" sz="1200" b="1"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ext Box 4"/>
          <p:cNvSpPr txBox="1">
            <a:spLocks noChangeArrowheads="1"/>
          </p:cNvSpPr>
          <p:nvPr/>
        </p:nvSpPr>
        <p:spPr bwMode="auto">
          <a:xfrm>
            <a:off x="228600" y="969963"/>
            <a:ext cx="5715000" cy="338554"/>
          </a:xfrm>
          <a:prstGeom prst="rect">
            <a:avLst/>
          </a:prstGeom>
          <a:noFill/>
          <a:ln w="9525">
            <a:noFill/>
            <a:miter lim="800000"/>
            <a:headEnd/>
            <a:tailEnd/>
          </a:ln>
          <a:effectLst/>
        </p:spPr>
        <p:txBody>
          <a:bodyPr wrap="square">
            <a:spAutoFit/>
          </a:bodyPr>
          <a:lstStyle/>
          <a:p>
            <a:pPr>
              <a:defRPr/>
            </a:pPr>
            <a:r>
              <a:rPr lang="en-US" sz="1600" b="1" u="sng" dirty="0">
                <a:effectLst>
                  <a:outerShdw blurRad="38100" dist="38100" dir="2700000" algn="tl">
                    <a:srgbClr val="C0C0C0"/>
                  </a:outerShdw>
                </a:effectLst>
                <a:latin typeface="Arial Black" pitchFamily="34" charset="0"/>
              </a:rPr>
              <a:t>What is the </a:t>
            </a:r>
            <a:r>
              <a:rPr lang="en-US" sz="1600" b="1" u="sng" dirty="0" smtClean="0">
                <a:effectLst>
                  <a:outerShdw blurRad="38100" dist="38100" dir="2700000" algn="tl">
                    <a:srgbClr val="C0C0C0"/>
                  </a:outerShdw>
                </a:effectLst>
                <a:latin typeface="Arial Black" pitchFamily="34" charset="0"/>
              </a:rPr>
              <a:t>Transportation: Transit Standard</a:t>
            </a:r>
            <a:endParaRPr lang="en-US" sz="1600" b="1" u="sng" dirty="0">
              <a:effectLst>
                <a:outerShdw blurRad="38100" dist="38100" dir="2700000" algn="tl">
                  <a:srgbClr val="C0C0C0"/>
                </a:outerShdw>
              </a:effectLst>
              <a:latin typeface="Arial Black" pitchFamily="34" charset="0"/>
            </a:endParaRPr>
          </a:p>
        </p:txBody>
      </p:sp>
      <p:sp>
        <p:nvSpPr>
          <p:cNvPr id="14339" name="Text Box 5"/>
          <p:cNvSpPr txBox="1">
            <a:spLocks noChangeArrowheads="1"/>
          </p:cNvSpPr>
          <p:nvPr/>
        </p:nvSpPr>
        <p:spPr bwMode="auto">
          <a:xfrm>
            <a:off x="381000" y="1600200"/>
            <a:ext cx="6013450" cy="2769989"/>
          </a:xfrm>
          <a:prstGeom prst="rect">
            <a:avLst/>
          </a:prstGeom>
          <a:noFill/>
          <a:ln w="9525">
            <a:noFill/>
            <a:miter lim="800000"/>
            <a:headEnd/>
            <a:tailEnd/>
          </a:ln>
        </p:spPr>
        <p:txBody>
          <a:bodyPr>
            <a:spAutoFit/>
          </a:bodyPr>
          <a:lstStyle/>
          <a:p>
            <a:pPr>
              <a:buClr>
                <a:srgbClr val="526666"/>
              </a:buClr>
            </a:pPr>
            <a:r>
              <a:rPr lang="en-US" sz="1200" b="1" dirty="0"/>
              <a:t>The </a:t>
            </a:r>
            <a:r>
              <a:rPr lang="en-US" sz="1200" b="1" dirty="0" smtClean="0"/>
              <a:t>Transportation: Transit Framework </a:t>
            </a:r>
            <a:r>
              <a:rPr lang="en-US" sz="1200" b="1" dirty="0"/>
              <a:t>Data Content </a:t>
            </a:r>
            <a:r>
              <a:rPr lang="en-US" sz="1200" b="1" dirty="0" smtClean="0"/>
              <a:t>Standard is:</a:t>
            </a:r>
            <a:r>
              <a:rPr lang="en-US" sz="1200" b="1" dirty="0"/>
              <a:t/>
            </a:r>
            <a:br>
              <a:rPr lang="en-US" sz="1200" b="1" dirty="0"/>
            </a:br>
            <a:endParaRPr lang="en-US" sz="1200" b="1" dirty="0"/>
          </a:p>
          <a:p>
            <a:pPr>
              <a:buClr>
                <a:srgbClr val="526666"/>
              </a:buClr>
            </a:pPr>
            <a:endParaRPr lang="en-US" sz="800" b="1" dirty="0"/>
          </a:p>
          <a:p>
            <a:pPr>
              <a:buClr>
                <a:srgbClr val="526666"/>
              </a:buClr>
              <a:buFont typeface="Arial" pitchFamily="34" charset="0"/>
              <a:buChar char="•"/>
            </a:pPr>
            <a:r>
              <a:rPr lang="en-US" sz="1200" b="1" dirty="0"/>
              <a:t> One of the </a:t>
            </a:r>
            <a:r>
              <a:rPr lang="en-US" sz="1200" b="1" dirty="0" smtClean="0"/>
              <a:t>seven themes defined by the FGDC as </a:t>
            </a:r>
            <a:r>
              <a:rPr lang="en-US" sz="1200" b="1" dirty="0"/>
              <a:t>Framework </a:t>
            </a:r>
            <a:r>
              <a:rPr lang="en-US" sz="1200" b="1" dirty="0" smtClean="0"/>
              <a:t>data</a:t>
            </a:r>
            <a:br>
              <a:rPr lang="en-US" sz="1200" b="1" dirty="0" smtClean="0"/>
            </a:br>
            <a:endParaRPr lang="en-US" dirty="0" smtClean="0"/>
          </a:p>
          <a:p>
            <a:pPr>
              <a:buClr>
                <a:srgbClr val="526666"/>
              </a:buClr>
              <a:buFont typeface="Arial" pitchFamily="34" charset="0"/>
              <a:buChar char="•"/>
            </a:pPr>
            <a:r>
              <a:rPr lang="en-US" sz="1200" dirty="0" smtClean="0"/>
              <a:t> </a:t>
            </a:r>
            <a:r>
              <a:rPr lang="en-US" sz="1200" b="1" dirty="0" smtClean="0"/>
              <a:t> Establishes </a:t>
            </a:r>
            <a:r>
              <a:rPr lang="en-US" sz="1200" b="1" dirty="0"/>
              <a:t>a baseline for </a:t>
            </a:r>
            <a:r>
              <a:rPr lang="en-US" sz="1200" b="1" dirty="0" smtClean="0"/>
              <a:t>Transportation: Transit  data </a:t>
            </a:r>
            <a:r>
              <a:rPr lang="en-US" sz="1200" b="1" dirty="0"/>
              <a:t>collection </a:t>
            </a:r>
            <a:r>
              <a:rPr lang="en-US" sz="1200" b="1" dirty="0" smtClean="0"/>
              <a:t>and </a:t>
            </a:r>
            <a:br>
              <a:rPr lang="en-US" sz="1200" b="1" dirty="0" smtClean="0"/>
            </a:br>
            <a:r>
              <a:rPr lang="en-US" sz="1200" b="1" dirty="0" smtClean="0"/>
              <a:t>  distribution</a:t>
            </a:r>
            <a:br>
              <a:rPr lang="en-US" sz="1200" b="1" dirty="0" smtClean="0"/>
            </a:br>
            <a:endParaRPr lang="en-US" sz="1200" b="1" dirty="0" smtClean="0"/>
          </a:p>
          <a:p>
            <a:pPr>
              <a:buClr>
                <a:srgbClr val="526666"/>
              </a:buClr>
              <a:buFont typeface="Arial" pitchFamily="34" charset="0"/>
              <a:buChar char="•"/>
            </a:pPr>
            <a:r>
              <a:rPr lang="en-US" sz="1200" b="1" dirty="0" smtClean="0"/>
              <a:t> </a:t>
            </a:r>
            <a:r>
              <a:rPr lang="en-US" sz="1200" b="1" dirty="0"/>
              <a:t>Builds on the Framework Data Content Base </a:t>
            </a:r>
            <a:r>
              <a:rPr lang="en-US" sz="1200" b="1" dirty="0" smtClean="0"/>
              <a:t>Standard and Framework </a:t>
            </a:r>
            <a:br>
              <a:rPr lang="en-US" sz="1200" b="1" dirty="0" smtClean="0"/>
            </a:br>
            <a:r>
              <a:rPr lang="en-US" sz="1200" b="1" dirty="0" smtClean="0"/>
              <a:t>  Transportation: Transit Standard.  </a:t>
            </a:r>
            <a:r>
              <a:rPr lang="en-US" sz="1200" b="1" dirty="0"/>
              <a:t/>
            </a:r>
            <a:br>
              <a:rPr lang="en-US" sz="1200" b="1" dirty="0"/>
            </a:br>
            <a:r>
              <a:rPr lang="en-US" sz="1200" b="1" dirty="0"/>
              <a:t/>
            </a:r>
            <a:br>
              <a:rPr lang="en-US" sz="1200" b="1" dirty="0"/>
            </a:br>
            <a:endParaRPr lang="en-US" sz="400" b="1" dirty="0"/>
          </a:p>
          <a:p>
            <a:pPr lvl="1">
              <a:buClr>
                <a:srgbClr val="526666"/>
              </a:buClr>
              <a:buFontTx/>
              <a:buChar char="•"/>
            </a:pPr>
            <a:r>
              <a:rPr lang="en-US" sz="1200" b="1" dirty="0"/>
              <a:t> </a:t>
            </a:r>
            <a:r>
              <a:rPr lang="en-US" sz="1200" i="1" dirty="0"/>
              <a:t>Only when a dataset meets </a:t>
            </a:r>
            <a:r>
              <a:rPr lang="en-US" sz="1200" i="1" dirty="0" smtClean="0"/>
              <a:t>the </a:t>
            </a:r>
            <a:r>
              <a:rPr lang="en-US" sz="1200" i="1" dirty="0"/>
              <a:t>requirements set forth in </a:t>
            </a:r>
            <a:r>
              <a:rPr lang="en-US" sz="1200" i="1" dirty="0" smtClean="0"/>
              <a:t>its thematic </a:t>
            </a:r>
            <a:r>
              <a:rPr lang="en-US" sz="1200" i="1" dirty="0"/>
              <a:t/>
            </a:r>
            <a:br>
              <a:rPr lang="en-US" sz="1200" i="1" dirty="0"/>
            </a:br>
            <a:r>
              <a:rPr lang="en-US" sz="1200" i="1" dirty="0"/>
              <a:t>  standard </a:t>
            </a:r>
            <a:r>
              <a:rPr lang="en-US" sz="1200" i="1" dirty="0" smtClean="0"/>
              <a:t>part and </a:t>
            </a:r>
            <a:r>
              <a:rPr lang="en-US" sz="1200" i="1" dirty="0"/>
              <a:t>the Framework Base Standard can it be considered </a:t>
            </a:r>
            <a:br>
              <a:rPr lang="en-US" sz="1200" i="1" dirty="0"/>
            </a:br>
            <a:r>
              <a:rPr lang="en-US" sz="1200" i="1" dirty="0"/>
              <a:t>  Framework data.</a:t>
            </a:r>
          </a:p>
        </p:txBody>
      </p:sp>
      <p:grpSp>
        <p:nvGrpSpPr>
          <p:cNvPr id="2" name="Group 6"/>
          <p:cNvGrpSpPr>
            <a:grpSpLocks/>
          </p:cNvGrpSpPr>
          <p:nvPr/>
        </p:nvGrpSpPr>
        <p:grpSpPr bwMode="auto">
          <a:xfrm>
            <a:off x="228600" y="5416550"/>
            <a:ext cx="3048000" cy="603250"/>
            <a:chOff x="144" y="2959"/>
            <a:chExt cx="1920" cy="380"/>
          </a:xfrm>
        </p:grpSpPr>
        <p:sp>
          <p:nvSpPr>
            <p:cNvPr id="33799" name="Text Box 7"/>
            <p:cNvSpPr txBox="1">
              <a:spLocks noChangeArrowheads="1"/>
            </p:cNvSpPr>
            <p:nvPr/>
          </p:nvSpPr>
          <p:spPr bwMode="auto">
            <a:xfrm>
              <a:off x="144" y="2959"/>
              <a:ext cx="1920" cy="212"/>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Next Topic</a:t>
              </a:r>
            </a:p>
          </p:txBody>
        </p:sp>
        <p:sp>
          <p:nvSpPr>
            <p:cNvPr id="14342" name="Text Box 8"/>
            <p:cNvSpPr txBox="1">
              <a:spLocks noChangeArrowheads="1"/>
            </p:cNvSpPr>
            <p:nvPr/>
          </p:nvSpPr>
          <p:spPr bwMode="auto">
            <a:xfrm>
              <a:off x="278" y="3166"/>
              <a:ext cx="1269" cy="173"/>
            </a:xfrm>
            <a:prstGeom prst="rect">
              <a:avLst/>
            </a:prstGeom>
            <a:noFill/>
            <a:ln w="9525">
              <a:noFill/>
              <a:miter lim="800000"/>
              <a:headEnd/>
              <a:tailEnd/>
            </a:ln>
          </p:spPr>
          <p:txBody>
            <a:bodyPr wrap="none">
              <a:spAutoFit/>
            </a:bodyPr>
            <a:lstStyle/>
            <a:p>
              <a:pPr>
                <a:buClr>
                  <a:srgbClr val="526666"/>
                </a:buClr>
              </a:pPr>
              <a:r>
                <a:rPr lang="en-US" sz="1200" b="1" dirty="0"/>
                <a:t>Purpose for the Standard</a:t>
              </a:r>
            </a:p>
          </p:txBody>
        </p:sp>
      </p:grpSp>
      <p:sp>
        <p:nvSpPr>
          <p:cNvPr id="7" name="Text Box 7"/>
          <p:cNvSpPr txBox="1">
            <a:spLocks noChangeArrowheads="1"/>
          </p:cNvSpPr>
          <p:nvPr/>
        </p:nvSpPr>
        <p:spPr bwMode="auto">
          <a:xfrm>
            <a:off x="5915025" y="1104900"/>
            <a:ext cx="3122613" cy="260350"/>
          </a:xfrm>
          <a:prstGeom prst="rect">
            <a:avLst/>
          </a:prstGeom>
          <a:noFill/>
          <a:ln w="9525">
            <a:noFill/>
            <a:miter lim="800000"/>
            <a:headEnd/>
            <a:tailEnd/>
          </a:ln>
          <a:effectLst/>
        </p:spPr>
        <p:txBody>
          <a:bodyPr>
            <a:spAutoFit/>
          </a:bodyPr>
          <a:lstStyle/>
          <a:p>
            <a:pPr algn="r">
              <a:defRPr/>
            </a:pPr>
            <a:r>
              <a:rPr lang="en-US" sz="1100" b="1" dirty="0">
                <a:solidFill>
                  <a:srgbClr val="33338C"/>
                </a:solidFill>
                <a:effectLst>
                  <a:outerShdw blurRad="38100" dist="38100" dir="2700000" algn="tl">
                    <a:srgbClr val="C0C0C0"/>
                  </a:outerShdw>
                </a:effectLst>
                <a:latin typeface="Arial Black" pitchFamily="34" charset="0"/>
              </a:rPr>
              <a:t>Quick Facts</a:t>
            </a:r>
          </a:p>
        </p:txBody>
      </p:sp>
      <p:sp>
        <p:nvSpPr>
          <p:cNvPr id="8" name="Text Box 8"/>
          <p:cNvSpPr txBox="1">
            <a:spLocks noChangeArrowheads="1"/>
          </p:cNvSpPr>
          <p:nvPr/>
        </p:nvSpPr>
        <p:spPr bwMode="auto">
          <a:xfrm>
            <a:off x="6858000" y="1373188"/>
            <a:ext cx="2193925" cy="2246769"/>
          </a:xfrm>
          <a:prstGeom prst="rect">
            <a:avLst/>
          </a:prstGeom>
          <a:solidFill>
            <a:schemeClr val="bg1">
              <a:lumMod val="85000"/>
            </a:schemeClr>
          </a:solidFill>
          <a:ln w="9525">
            <a:noFill/>
            <a:miter lim="800000"/>
            <a:headEnd/>
            <a:tailEnd/>
          </a:ln>
        </p:spPr>
        <p:txBody>
          <a:bodyPr>
            <a:spAutoFit/>
          </a:bodyPr>
          <a:lstStyle/>
          <a:p>
            <a:pPr>
              <a:defRPr/>
            </a:pPr>
            <a:r>
              <a:rPr lang="en-US" sz="1000" dirty="0">
                <a:latin typeface="Bookman Old Style" pitchFamily="18" charset="0"/>
              </a:rPr>
              <a:t>Each </a:t>
            </a:r>
            <a:r>
              <a:rPr lang="en-US" sz="1000" dirty="0" smtClean="0">
                <a:latin typeface="Bookman Old Style" pitchFamily="18" charset="0"/>
              </a:rPr>
              <a:t>Framework standard </a:t>
            </a:r>
            <a:r>
              <a:rPr lang="en-US" sz="1000" dirty="0">
                <a:latin typeface="Bookman Old Style" pitchFamily="18" charset="0"/>
              </a:rPr>
              <a:t>part was developed and edited by thematic experts</a:t>
            </a:r>
          </a:p>
          <a:p>
            <a:pPr>
              <a:defRPr/>
            </a:pPr>
            <a:endParaRPr lang="en-US" sz="1000" dirty="0">
              <a:latin typeface="Bookman Old Style" pitchFamily="18" charset="0"/>
            </a:endParaRPr>
          </a:p>
          <a:p>
            <a:pPr>
              <a:defRPr/>
            </a:pPr>
            <a:r>
              <a:rPr lang="en-US" sz="1000" dirty="0" smtClean="0">
                <a:latin typeface="Bookman Old Style" pitchFamily="18" charset="0"/>
              </a:rPr>
              <a:t>Transportation: Transit is one of the seven themes of Framework data.  Each has a separate standard, some including subparts.</a:t>
            </a:r>
          </a:p>
          <a:p>
            <a:pPr>
              <a:defRPr/>
            </a:pPr>
            <a:endParaRPr lang="en-US" sz="1000" dirty="0" smtClean="0">
              <a:latin typeface="Bookman Old Style" pitchFamily="18" charset="0"/>
            </a:endParaRPr>
          </a:p>
          <a:p>
            <a:pPr>
              <a:defRPr/>
            </a:pPr>
            <a:r>
              <a:rPr lang="en-US" sz="1000" dirty="0" smtClean="0">
                <a:latin typeface="Bookman Old Style" pitchFamily="18" charset="0"/>
              </a:rPr>
              <a:t>All standards use the Framework Data Content Base Standard as the baseline for this data.</a:t>
            </a:r>
            <a:endParaRPr lang="en-US" sz="1000" dirty="0">
              <a:latin typeface="Bookman Old Style"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4"/>
          <p:cNvSpPr>
            <a:spLocks noChangeArrowheads="1"/>
          </p:cNvSpPr>
          <p:nvPr/>
        </p:nvSpPr>
        <p:spPr bwMode="auto">
          <a:xfrm>
            <a:off x="304800" y="1600200"/>
            <a:ext cx="5562600" cy="2462213"/>
          </a:xfrm>
          <a:prstGeom prst="rect">
            <a:avLst/>
          </a:prstGeom>
          <a:noFill/>
          <a:ln w="9525">
            <a:noFill/>
            <a:miter lim="800000"/>
            <a:headEnd/>
            <a:tailEnd/>
          </a:ln>
        </p:spPr>
        <p:txBody>
          <a:bodyPr wrap="square">
            <a:spAutoFit/>
          </a:bodyPr>
          <a:lstStyle/>
          <a:p>
            <a:r>
              <a:rPr lang="en-US" sz="1400" b="1" dirty="0"/>
              <a:t>The primary purpose of the Geographic Information Framework Data Content Standard, Part </a:t>
            </a:r>
            <a:r>
              <a:rPr lang="en-US" sz="1400" b="1" dirty="0" smtClean="0"/>
              <a:t>7d: </a:t>
            </a:r>
            <a:r>
              <a:rPr lang="en-US" sz="1400" b="1" dirty="0"/>
              <a:t>Transit is to support the exchange of transportation data related to transit systems. This part </a:t>
            </a:r>
            <a:r>
              <a:rPr lang="en-US" sz="1400" b="1" dirty="0" smtClean="0"/>
              <a:t>of </a:t>
            </a:r>
            <a:r>
              <a:rPr lang="en-US" sz="1400" b="1" dirty="0"/>
              <a:t>the standard also seeks to establish a common baseline for the content of transit databases </a:t>
            </a:r>
            <a:r>
              <a:rPr lang="en-US" sz="1400" b="1" dirty="0" smtClean="0"/>
              <a:t>for </a:t>
            </a:r>
            <a:r>
              <a:rPr lang="en-US" sz="1400" b="1" dirty="0"/>
              <a:t>public agencies and private enterprises. It seeks to decrease the costs of acquiring </a:t>
            </a:r>
            <a:r>
              <a:rPr lang="en-US" sz="1400" b="1" dirty="0" smtClean="0"/>
              <a:t>and </a:t>
            </a:r>
            <a:r>
              <a:rPr lang="en-US" sz="1400" b="1" dirty="0"/>
              <a:t>exchanging transit data for Federal, State, Tribal, local, and other governmental and local </a:t>
            </a:r>
            <a:r>
              <a:rPr lang="en-US" sz="1400" b="1" dirty="0" smtClean="0"/>
              <a:t>users </a:t>
            </a:r>
            <a:r>
              <a:rPr lang="en-US" sz="1400" b="1" dirty="0"/>
              <a:t>and creators of transit data. Benefits of adopting the part also include the long-term </a:t>
            </a:r>
            <a:r>
              <a:rPr lang="en-US" sz="1400" b="1" dirty="0" smtClean="0"/>
              <a:t>improvement of </a:t>
            </a:r>
            <a:r>
              <a:rPr lang="en-US" sz="1400" b="1" dirty="0"/>
              <a:t>the geospatial transportation base data, improved integration of safety, emergency response</a:t>
            </a:r>
            <a:r>
              <a:rPr lang="en-US" sz="1400" b="1" dirty="0" smtClean="0"/>
              <a:t>, and </a:t>
            </a:r>
            <a:r>
              <a:rPr lang="en-US" sz="1400" b="1" dirty="0"/>
              <a:t>enforcement data, and streamlined maintenance procedures</a:t>
            </a:r>
            <a:endParaRPr lang="en-US" sz="1400" b="1" dirty="0" smtClean="0"/>
          </a:p>
        </p:txBody>
      </p:sp>
      <p:sp>
        <p:nvSpPr>
          <p:cNvPr id="31750" name="Text Box 6"/>
          <p:cNvSpPr txBox="1">
            <a:spLocks noChangeArrowheads="1"/>
          </p:cNvSpPr>
          <p:nvPr/>
        </p:nvSpPr>
        <p:spPr bwMode="auto">
          <a:xfrm>
            <a:off x="220662" y="979488"/>
            <a:ext cx="4732337" cy="584775"/>
          </a:xfrm>
          <a:prstGeom prst="rect">
            <a:avLst/>
          </a:prstGeom>
          <a:noFill/>
          <a:ln w="9525">
            <a:noFill/>
            <a:miter lim="800000"/>
            <a:headEnd/>
            <a:tailEnd/>
          </a:ln>
          <a:effectLst/>
        </p:spPr>
        <p:txBody>
          <a:bodyPr wrap="square">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Purpose for </a:t>
            </a:r>
            <a:r>
              <a:rPr lang="en-US" sz="1600" b="1" dirty="0" smtClean="0">
                <a:solidFill>
                  <a:srgbClr val="33338C"/>
                </a:solidFill>
                <a:effectLst>
                  <a:outerShdw blurRad="38100" dist="38100" dir="2700000" algn="tl">
                    <a:srgbClr val="C0C0C0"/>
                  </a:outerShdw>
                </a:effectLst>
                <a:latin typeface="Arial Black" pitchFamily="34" charset="0"/>
              </a:rPr>
              <a:t>the Transportation: Transit </a:t>
            </a:r>
            <a:r>
              <a:rPr lang="en-US" sz="1600" b="1" dirty="0">
                <a:solidFill>
                  <a:srgbClr val="33338C"/>
                </a:solidFill>
                <a:effectLst>
                  <a:outerShdw blurRad="38100" dist="38100" dir="2700000" algn="tl">
                    <a:srgbClr val="C0C0C0"/>
                  </a:outerShdw>
                </a:effectLst>
                <a:latin typeface="Arial Black" pitchFamily="34" charset="0"/>
              </a:rPr>
              <a:t>Standard</a:t>
            </a:r>
          </a:p>
        </p:txBody>
      </p:sp>
      <p:grpSp>
        <p:nvGrpSpPr>
          <p:cNvPr id="2" name="Group 9"/>
          <p:cNvGrpSpPr>
            <a:grpSpLocks/>
          </p:cNvGrpSpPr>
          <p:nvPr/>
        </p:nvGrpSpPr>
        <p:grpSpPr bwMode="auto">
          <a:xfrm>
            <a:off x="228600" y="5257800"/>
            <a:ext cx="3048000" cy="603250"/>
            <a:chOff x="144" y="2959"/>
            <a:chExt cx="1920" cy="380"/>
          </a:xfrm>
        </p:grpSpPr>
        <p:sp>
          <p:nvSpPr>
            <p:cNvPr id="31754" name="Text Box 10"/>
            <p:cNvSpPr txBox="1">
              <a:spLocks noChangeArrowheads="1"/>
            </p:cNvSpPr>
            <p:nvPr/>
          </p:nvSpPr>
          <p:spPr bwMode="auto">
            <a:xfrm>
              <a:off x="144" y="2959"/>
              <a:ext cx="1920" cy="212"/>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Next Topic</a:t>
              </a:r>
            </a:p>
          </p:txBody>
        </p:sp>
        <p:sp>
          <p:nvSpPr>
            <p:cNvPr id="15368" name="Text Box 11"/>
            <p:cNvSpPr txBox="1">
              <a:spLocks noChangeArrowheads="1"/>
            </p:cNvSpPr>
            <p:nvPr/>
          </p:nvSpPr>
          <p:spPr bwMode="auto">
            <a:xfrm>
              <a:off x="278" y="3166"/>
              <a:ext cx="1115" cy="173"/>
            </a:xfrm>
            <a:prstGeom prst="rect">
              <a:avLst/>
            </a:prstGeom>
            <a:noFill/>
            <a:ln w="9525">
              <a:noFill/>
              <a:miter lim="800000"/>
              <a:headEnd/>
              <a:tailEnd/>
            </a:ln>
          </p:spPr>
          <p:txBody>
            <a:bodyPr wrap="none">
              <a:spAutoFit/>
            </a:bodyPr>
            <a:lstStyle/>
            <a:p>
              <a:pPr>
                <a:buClr>
                  <a:srgbClr val="526666"/>
                </a:buClr>
              </a:pPr>
              <a:r>
                <a:rPr lang="en-US" sz="1200" b="1" dirty="0"/>
                <a:t>Goals of the Standard</a:t>
              </a:r>
            </a:p>
          </p:txBody>
        </p:sp>
      </p:grpSp>
      <p:sp>
        <p:nvSpPr>
          <p:cNvPr id="7" name="Text Box 7"/>
          <p:cNvSpPr txBox="1">
            <a:spLocks noChangeArrowheads="1"/>
          </p:cNvSpPr>
          <p:nvPr/>
        </p:nvSpPr>
        <p:spPr bwMode="auto">
          <a:xfrm>
            <a:off x="6781800" y="1379538"/>
            <a:ext cx="2203450" cy="2092881"/>
          </a:xfrm>
          <a:prstGeom prst="rect">
            <a:avLst/>
          </a:prstGeom>
          <a:solidFill>
            <a:schemeClr val="bg1">
              <a:lumMod val="85000"/>
            </a:schemeClr>
          </a:solidFill>
          <a:ln w="9525">
            <a:noFill/>
            <a:miter lim="800000"/>
            <a:headEnd/>
            <a:tailEnd/>
          </a:ln>
        </p:spPr>
        <p:txBody>
          <a:bodyPr wrap="square">
            <a:spAutoFit/>
          </a:bodyPr>
          <a:lstStyle/>
          <a:p>
            <a:r>
              <a:rPr lang="en-US" sz="1000" b="1" dirty="0" smtClean="0">
                <a:latin typeface="Bookman Old Style" pitchFamily="18" charset="0"/>
              </a:rPr>
              <a:t>More about the Standard:</a:t>
            </a:r>
          </a:p>
          <a:p>
            <a:endParaRPr lang="en-US" sz="800" dirty="0">
              <a:latin typeface="Bookman Old Style" pitchFamily="18" charset="0"/>
            </a:endParaRPr>
          </a:p>
          <a:p>
            <a:r>
              <a:rPr lang="en-US" sz="800" dirty="0">
                <a:latin typeface="Bookman Old Style" pitchFamily="18" charset="0"/>
              </a:rPr>
              <a:t>This part of the standard is a companion to the Transportation Base (Part 7). It is also one of </a:t>
            </a:r>
            <a:r>
              <a:rPr lang="en-US" sz="800" dirty="0" smtClean="0">
                <a:latin typeface="Bookman Old Style" pitchFamily="18" charset="0"/>
              </a:rPr>
              <a:t>five </a:t>
            </a:r>
            <a:r>
              <a:rPr lang="en-US" sz="800" dirty="0">
                <a:latin typeface="Bookman Old Style" pitchFamily="18" charset="0"/>
              </a:rPr>
              <a:t>thematic parts devoted to one of five primary modes of transportation: Air (Part 7a), Rail (Part 7b</a:t>
            </a:r>
            <a:r>
              <a:rPr lang="en-US" sz="800" dirty="0" smtClean="0">
                <a:latin typeface="Bookman Old Style" pitchFamily="18" charset="0"/>
              </a:rPr>
              <a:t>), </a:t>
            </a:r>
            <a:r>
              <a:rPr lang="en-US" sz="800" dirty="0">
                <a:latin typeface="Bookman Old Style" pitchFamily="18" charset="0"/>
              </a:rPr>
              <a:t>Roads (Part 7c), Transit (Part 7d), and Inland Waterways (Part 7e). There are a number </a:t>
            </a:r>
            <a:r>
              <a:rPr lang="en-US" sz="800" dirty="0" smtClean="0">
                <a:latin typeface="Bookman Old Style" pitchFamily="18" charset="0"/>
              </a:rPr>
              <a:t>of </a:t>
            </a:r>
            <a:r>
              <a:rPr lang="en-US" sz="800" dirty="0">
                <a:latin typeface="Bookman Old Style" pitchFamily="18" charset="0"/>
              </a:rPr>
              <a:t>issues common to the transportation domain that, because of their broader applications </a:t>
            </a:r>
            <a:r>
              <a:rPr lang="en-US" sz="800" dirty="0" smtClean="0">
                <a:latin typeface="Bookman Old Style" pitchFamily="18" charset="0"/>
              </a:rPr>
              <a:t>are </a:t>
            </a:r>
            <a:r>
              <a:rPr lang="en-US" sz="800" dirty="0">
                <a:latin typeface="Bookman Old Style" pitchFamily="18" charset="0"/>
              </a:rPr>
              <a:t>covered in the Transportation Base (Part 7). Other issues, specific to transit, are discussed in </a:t>
            </a:r>
            <a:r>
              <a:rPr lang="en-US" sz="800" dirty="0" smtClean="0">
                <a:latin typeface="Bookman Old Style" pitchFamily="18" charset="0"/>
              </a:rPr>
              <a:t>the </a:t>
            </a:r>
            <a:r>
              <a:rPr lang="en-US" sz="800" dirty="0">
                <a:latin typeface="Bookman Old Style" pitchFamily="18" charset="0"/>
              </a:rPr>
              <a:t>informative annexes.</a:t>
            </a:r>
            <a:endParaRPr lang="en-US" sz="800" b="1" dirty="0">
              <a:solidFill>
                <a:srgbClr val="4D4D4D"/>
              </a:solidFill>
              <a:latin typeface="Bookman Old Style"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381000" y="1524000"/>
            <a:ext cx="6553200" cy="3600986"/>
          </a:xfrm>
          <a:prstGeom prst="rect">
            <a:avLst/>
          </a:prstGeom>
          <a:noFill/>
          <a:ln w="9525">
            <a:noFill/>
            <a:miter lim="800000"/>
            <a:headEnd/>
            <a:tailEnd/>
          </a:ln>
        </p:spPr>
        <p:txBody>
          <a:bodyPr>
            <a:spAutoFit/>
          </a:bodyPr>
          <a:lstStyle/>
          <a:p>
            <a:r>
              <a:rPr lang="en-US" sz="1200" dirty="0" smtClean="0"/>
              <a:t>The goal of the Transportation: Transit standard is </a:t>
            </a:r>
            <a:r>
              <a:rPr lang="en-US" sz="1200" dirty="0" smtClean="0">
                <a:latin typeface="Arial"/>
              </a:rPr>
              <a:t>defines components </a:t>
            </a:r>
            <a:r>
              <a:rPr lang="en-US" sz="1200" dirty="0">
                <a:latin typeface="Arial"/>
              </a:rPr>
              <a:t>of a model for describing public transportation (transit) systems, which is one of </a:t>
            </a:r>
            <a:r>
              <a:rPr lang="en-US" sz="1200" dirty="0" smtClean="0">
                <a:latin typeface="Arial"/>
              </a:rPr>
              <a:t>five modes </a:t>
            </a:r>
            <a:r>
              <a:rPr lang="en-US" sz="1200" dirty="0">
                <a:latin typeface="Arial"/>
              </a:rPr>
              <a:t>that compose the Transportation theme of the digital geospatial data framework. </a:t>
            </a:r>
            <a:r>
              <a:rPr lang="en-US" sz="1200" dirty="0" smtClean="0">
                <a:latin typeface="Arial"/>
              </a:rPr>
              <a:t>The </a:t>
            </a:r>
            <a:r>
              <a:rPr lang="en-US" sz="1200" dirty="0">
                <a:latin typeface="Arial"/>
              </a:rPr>
              <a:t>primary purpose of the Transit part of the standard is to support the exchange of spatial </a:t>
            </a:r>
            <a:r>
              <a:rPr lang="en-US" sz="1200" dirty="0" smtClean="0">
                <a:latin typeface="Arial"/>
              </a:rPr>
              <a:t>and </a:t>
            </a:r>
            <a:r>
              <a:rPr lang="en-US" sz="1200" dirty="0">
                <a:latin typeface="Arial"/>
              </a:rPr>
              <a:t>temporal data related to public transportation. The emphasis in developing this part has been </a:t>
            </a:r>
            <a:r>
              <a:rPr lang="en-US" sz="1200" dirty="0" smtClean="0">
                <a:latin typeface="Arial"/>
              </a:rPr>
              <a:t>on </a:t>
            </a:r>
            <a:r>
              <a:rPr lang="en-US" sz="1200" dirty="0">
                <a:latin typeface="Arial"/>
              </a:rPr>
              <a:t>supporting data exchange on a regional level to support itinerary planning, </a:t>
            </a:r>
            <a:r>
              <a:rPr lang="en-US" sz="1200" dirty="0" smtClean="0">
                <a:latin typeface="Arial"/>
              </a:rPr>
              <a:t>infrastructure inventories</a:t>
            </a:r>
            <a:r>
              <a:rPr lang="en-US" sz="1200" dirty="0">
                <a:latin typeface="Arial"/>
              </a:rPr>
              <a:t>, and re-routing applications. It is the intent of this part to develop a consensus </a:t>
            </a:r>
            <a:r>
              <a:rPr lang="en-US" sz="1200" dirty="0" smtClean="0">
                <a:latin typeface="Arial"/>
              </a:rPr>
              <a:t>around a </a:t>
            </a:r>
            <a:r>
              <a:rPr lang="en-US" sz="1200" dirty="0">
                <a:latin typeface="Arial"/>
              </a:rPr>
              <a:t>set of common definitions for real world transportation features to advance the goals of </a:t>
            </a:r>
            <a:r>
              <a:rPr lang="en-US" sz="1200" dirty="0" smtClean="0">
                <a:latin typeface="Arial"/>
              </a:rPr>
              <a:t>the NSDI</a:t>
            </a:r>
            <a:r>
              <a:rPr lang="en-US" sz="1200" dirty="0">
                <a:latin typeface="Arial"/>
              </a:rPr>
              <a:t>. It is the intent of the part to set a common baseline that will foster the widest possible </a:t>
            </a:r>
            <a:r>
              <a:rPr lang="en-US" sz="1200" dirty="0" smtClean="0">
                <a:latin typeface="Arial"/>
              </a:rPr>
              <a:t>set of </a:t>
            </a:r>
            <a:r>
              <a:rPr lang="en-US" sz="1200" dirty="0">
                <a:latin typeface="Arial"/>
              </a:rPr>
              <a:t>applications of public transportation data for both user and producer. It is also intended </a:t>
            </a:r>
            <a:r>
              <a:rPr lang="en-US" sz="1200" dirty="0" smtClean="0">
                <a:latin typeface="Arial"/>
              </a:rPr>
              <a:t>to foster </a:t>
            </a:r>
            <a:r>
              <a:rPr lang="en-US" sz="1200" dirty="0">
                <a:latin typeface="Arial"/>
              </a:rPr>
              <a:t>improvements in the common spatial data infrastructure through enhanced data sharing</a:t>
            </a:r>
          </a:p>
          <a:p>
            <a:r>
              <a:rPr lang="en-US" sz="1200" dirty="0" smtClean="0">
                <a:latin typeface="Arial"/>
              </a:rPr>
              <a:t>and </a:t>
            </a:r>
            <a:r>
              <a:rPr lang="en-US" sz="1200" dirty="0">
                <a:latin typeface="Arial"/>
              </a:rPr>
              <a:t>the reduction of redundant data production.</a:t>
            </a:r>
            <a:endParaRPr lang="en-US" sz="1200" dirty="0" smtClean="0"/>
          </a:p>
          <a:p>
            <a:endParaRPr lang="en-US" sz="1200" dirty="0" smtClean="0"/>
          </a:p>
          <a:p>
            <a:r>
              <a:rPr lang="en-US" sz="1200" dirty="0" smtClean="0"/>
              <a:t>Further, the </a:t>
            </a:r>
            <a:r>
              <a:rPr lang="en-US" sz="1200" dirty="0"/>
              <a:t>classes, features, and characteristics included </a:t>
            </a:r>
            <a:r>
              <a:rPr lang="en-US" sz="1200" dirty="0" smtClean="0"/>
              <a:t>in Transit </a:t>
            </a:r>
            <a:r>
              <a:rPr lang="en-US" sz="1200" dirty="0"/>
              <a:t>(Part 7d) were developed as part of a comprehensive review of several use cases </a:t>
            </a:r>
            <a:r>
              <a:rPr lang="en-US" sz="1200" dirty="0" smtClean="0"/>
              <a:t>that have </a:t>
            </a:r>
            <a:r>
              <a:rPr lang="en-US" sz="1200" dirty="0"/>
              <a:t>been documented here. Although these use cases addressed the operational </a:t>
            </a:r>
            <a:r>
              <a:rPr lang="en-US" sz="1200" dirty="0" smtClean="0"/>
              <a:t>requirements of </a:t>
            </a:r>
            <a:r>
              <a:rPr lang="en-US" sz="1200" dirty="0"/>
              <a:t>a broad selection of transit business scenarios, they did not provide sufficient input to </a:t>
            </a:r>
            <a:r>
              <a:rPr lang="en-US" sz="1200" dirty="0" smtClean="0"/>
              <a:t>design an </a:t>
            </a:r>
            <a:r>
              <a:rPr lang="en-US" sz="1200" dirty="0"/>
              <a:t>all-inclusive transit model. Additional use cases will be required to identify the universe </a:t>
            </a:r>
            <a:r>
              <a:rPr lang="en-US" sz="1200" dirty="0" smtClean="0"/>
              <a:t>of classes</a:t>
            </a:r>
            <a:r>
              <a:rPr lang="en-US" sz="1200" dirty="0"/>
              <a:t>, features, and characteristics necessary to fully describe transit geographic base data.</a:t>
            </a:r>
          </a:p>
        </p:txBody>
      </p:sp>
      <p:sp>
        <p:nvSpPr>
          <p:cNvPr id="30723" name="Text Box 3"/>
          <p:cNvSpPr txBox="1">
            <a:spLocks noChangeArrowheads="1"/>
          </p:cNvSpPr>
          <p:nvPr/>
        </p:nvSpPr>
        <p:spPr bwMode="auto">
          <a:xfrm>
            <a:off x="220663" y="979488"/>
            <a:ext cx="6027737" cy="338554"/>
          </a:xfrm>
          <a:prstGeom prst="rect">
            <a:avLst/>
          </a:prstGeom>
          <a:noFill/>
          <a:ln w="9525">
            <a:noFill/>
            <a:miter lim="800000"/>
            <a:headEnd/>
            <a:tailEnd/>
          </a:ln>
          <a:effectLst/>
        </p:spPr>
        <p:txBody>
          <a:bodyPr wrap="square">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Goals for </a:t>
            </a:r>
            <a:r>
              <a:rPr lang="en-US" sz="1600" b="1" dirty="0" smtClean="0">
                <a:solidFill>
                  <a:srgbClr val="33338C"/>
                </a:solidFill>
                <a:effectLst>
                  <a:outerShdw blurRad="38100" dist="38100" dir="2700000" algn="tl">
                    <a:srgbClr val="C0C0C0"/>
                  </a:outerShdw>
                </a:effectLst>
                <a:latin typeface="Arial Black" pitchFamily="34" charset="0"/>
              </a:rPr>
              <a:t>the Transportation: Transit Standard</a:t>
            </a:r>
            <a:endParaRPr lang="en-US" sz="1600" b="1" dirty="0">
              <a:solidFill>
                <a:srgbClr val="33338C"/>
              </a:solidFill>
              <a:effectLst>
                <a:outerShdw blurRad="38100" dist="38100" dir="2700000" algn="tl">
                  <a:srgbClr val="C0C0C0"/>
                </a:outerShdw>
              </a:effectLst>
              <a:latin typeface="Arial Black" pitchFamily="34" charset="0"/>
            </a:endParaRPr>
          </a:p>
        </p:txBody>
      </p:sp>
      <p:grpSp>
        <p:nvGrpSpPr>
          <p:cNvPr id="2" name="Group 4"/>
          <p:cNvGrpSpPr>
            <a:grpSpLocks/>
          </p:cNvGrpSpPr>
          <p:nvPr/>
        </p:nvGrpSpPr>
        <p:grpSpPr bwMode="auto">
          <a:xfrm>
            <a:off x="228600" y="5715000"/>
            <a:ext cx="3048000" cy="687388"/>
            <a:chOff x="144" y="2503"/>
            <a:chExt cx="1920" cy="433"/>
          </a:xfrm>
        </p:grpSpPr>
        <p:sp>
          <p:nvSpPr>
            <p:cNvPr id="30725" name="Text Box 5"/>
            <p:cNvSpPr txBox="1">
              <a:spLocks noChangeArrowheads="1"/>
            </p:cNvSpPr>
            <p:nvPr/>
          </p:nvSpPr>
          <p:spPr bwMode="auto">
            <a:xfrm>
              <a:off x="144" y="2503"/>
              <a:ext cx="1920" cy="212"/>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Next Topic</a:t>
              </a:r>
            </a:p>
          </p:txBody>
        </p:sp>
        <p:sp>
          <p:nvSpPr>
            <p:cNvPr id="16390" name="Text Box 6"/>
            <p:cNvSpPr txBox="1">
              <a:spLocks noChangeArrowheads="1"/>
            </p:cNvSpPr>
            <p:nvPr/>
          </p:nvSpPr>
          <p:spPr bwMode="auto">
            <a:xfrm>
              <a:off x="288" y="2763"/>
              <a:ext cx="1327" cy="173"/>
            </a:xfrm>
            <a:prstGeom prst="rect">
              <a:avLst/>
            </a:prstGeom>
            <a:noFill/>
            <a:ln w="9525">
              <a:noFill/>
              <a:miter lim="800000"/>
              <a:headEnd/>
              <a:tailEnd/>
            </a:ln>
          </p:spPr>
          <p:txBody>
            <a:bodyPr wrap="none">
              <a:spAutoFit/>
            </a:bodyPr>
            <a:lstStyle/>
            <a:p>
              <a:pPr>
                <a:buClr>
                  <a:srgbClr val="526666"/>
                </a:buClr>
              </a:pPr>
              <a:r>
                <a:rPr lang="en-US" sz="1200" b="1" dirty="0"/>
                <a:t>Capacities of the Standard</a:t>
              </a:r>
            </a:p>
          </p:txBody>
        </p:sp>
      </p:gr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5"/>
          <p:cNvSpPr>
            <a:spLocks noChangeArrowheads="1"/>
          </p:cNvSpPr>
          <p:nvPr/>
        </p:nvSpPr>
        <p:spPr bwMode="auto">
          <a:xfrm>
            <a:off x="304800" y="1524000"/>
            <a:ext cx="5562600" cy="2400657"/>
          </a:xfrm>
          <a:prstGeom prst="rect">
            <a:avLst/>
          </a:prstGeom>
          <a:noFill/>
          <a:ln w="9525">
            <a:noFill/>
            <a:miter lim="800000"/>
            <a:headEnd/>
            <a:tailEnd/>
          </a:ln>
        </p:spPr>
        <p:txBody>
          <a:bodyPr>
            <a:spAutoFit/>
          </a:bodyPr>
          <a:lstStyle/>
          <a:p>
            <a:r>
              <a:rPr lang="en-US" sz="1200" b="1" dirty="0"/>
              <a:t>The development of this part of the Framework Data Content </a:t>
            </a:r>
            <a:r>
              <a:rPr lang="en-US" sz="1200" b="1" dirty="0" smtClean="0"/>
              <a:t>Standard, used in conjunction with the Transportation: Transit Data Content Standard </a:t>
            </a:r>
            <a:r>
              <a:rPr lang="en-US" sz="1200" b="1" dirty="0"/>
              <a:t>will greatly assist in mitigating the following issues:</a:t>
            </a:r>
          </a:p>
          <a:p>
            <a:endParaRPr lang="en-US" sz="1200" b="1" dirty="0"/>
          </a:p>
          <a:p>
            <a:pPr lvl="1">
              <a:lnSpc>
                <a:spcPct val="75000"/>
              </a:lnSpc>
              <a:buFontTx/>
              <a:buChar char="•"/>
            </a:pPr>
            <a:r>
              <a:rPr lang="en-US" sz="1200" b="1" dirty="0"/>
              <a:t> Duplication of data and application development </a:t>
            </a:r>
          </a:p>
          <a:p>
            <a:pPr lvl="1">
              <a:lnSpc>
                <a:spcPct val="75000"/>
              </a:lnSpc>
              <a:buFontTx/>
              <a:buChar char="•"/>
            </a:pPr>
            <a:endParaRPr lang="en-US" sz="1200" b="1" dirty="0"/>
          </a:p>
          <a:p>
            <a:pPr lvl="1">
              <a:lnSpc>
                <a:spcPct val="75000"/>
              </a:lnSpc>
              <a:buFontTx/>
              <a:buChar char="•"/>
            </a:pPr>
            <a:r>
              <a:rPr lang="en-US" sz="1200" b="1" dirty="0"/>
              <a:t> Complications exchanging </a:t>
            </a:r>
            <a:r>
              <a:rPr lang="en-US" sz="1200" b="1" dirty="0" smtClean="0"/>
              <a:t>Transportation: Transit data </a:t>
            </a:r>
            <a:r>
              <a:rPr lang="en-US" sz="1200" b="1" dirty="0"/>
              <a:t>and information</a:t>
            </a:r>
          </a:p>
          <a:p>
            <a:pPr lvl="1">
              <a:lnSpc>
                <a:spcPct val="75000"/>
              </a:lnSpc>
              <a:buFontTx/>
              <a:buChar char="•"/>
            </a:pPr>
            <a:endParaRPr lang="en-US" sz="1200" b="1" dirty="0"/>
          </a:p>
          <a:p>
            <a:pPr lvl="1">
              <a:lnSpc>
                <a:spcPct val="75000"/>
              </a:lnSpc>
              <a:buFontTx/>
              <a:buChar char="•"/>
            </a:pPr>
            <a:r>
              <a:rPr lang="en-US" sz="1200" b="1" dirty="0"/>
              <a:t> Difficulties </a:t>
            </a:r>
            <a:r>
              <a:rPr lang="en-US" sz="1200" b="1" dirty="0" smtClean="0"/>
              <a:t>in integrating </a:t>
            </a:r>
            <a:r>
              <a:rPr lang="en-US" sz="1200" b="1" dirty="0"/>
              <a:t>data </a:t>
            </a:r>
            <a:r>
              <a:rPr lang="en-US" sz="1200" b="1" dirty="0" smtClean="0"/>
              <a:t/>
            </a:r>
            <a:br>
              <a:rPr lang="en-US" sz="1200" b="1" dirty="0" smtClean="0"/>
            </a:br>
            <a:endParaRPr lang="en-US" sz="1200" b="1" dirty="0" smtClean="0"/>
          </a:p>
          <a:p>
            <a:pPr lvl="1">
              <a:lnSpc>
                <a:spcPct val="75000"/>
              </a:lnSpc>
              <a:buFontTx/>
              <a:buChar char="•"/>
            </a:pPr>
            <a:r>
              <a:rPr lang="en-US" sz="1200" b="1" dirty="0"/>
              <a:t> </a:t>
            </a:r>
            <a:r>
              <a:rPr lang="en-US" sz="1200" b="1" dirty="0" smtClean="0"/>
              <a:t>Define characteristics to fully describe transit geographic base data</a:t>
            </a:r>
            <a:endParaRPr lang="en-US" sz="1200" b="1" dirty="0"/>
          </a:p>
          <a:p>
            <a:pPr lvl="1">
              <a:lnSpc>
                <a:spcPct val="75000"/>
              </a:lnSpc>
              <a:buFontTx/>
              <a:buChar char="•"/>
            </a:pPr>
            <a:endParaRPr lang="en-US" sz="1200" b="1" dirty="0"/>
          </a:p>
          <a:p>
            <a:pPr lvl="1">
              <a:lnSpc>
                <a:spcPct val="75000"/>
              </a:lnSpc>
              <a:buFontTx/>
              <a:buChar char="•"/>
            </a:pPr>
            <a:r>
              <a:rPr lang="en-US" sz="1200" b="1" dirty="0"/>
              <a:t> Difficulties managing multiple representations of features </a:t>
            </a:r>
            <a:r>
              <a:rPr lang="en-US" sz="1200" b="1" dirty="0" smtClean="0"/>
              <a:t>including data 	with and without geographic feature representations</a:t>
            </a:r>
            <a:endParaRPr lang="en-US" sz="1200" b="1" dirty="0"/>
          </a:p>
          <a:p>
            <a:endParaRPr lang="en-US" sz="1200" b="1" dirty="0"/>
          </a:p>
        </p:txBody>
      </p:sp>
      <p:sp>
        <p:nvSpPr>
          <p:cNvPr id="29702" name="Text Box 6"/>
          <p:cNvSpPr txBox="1">
            <a:spLocks noChangeArrowheads="1"/>
          </p:cNvSpPr>
          <p:nvPr/>
        </p:nvSpPr>
        <p:spPr bwMode="auto">
          <a:xfrm>
            <a:off x="220663" y="979488"/>
            <a:ext cx="6484937" cy="338554"/>
          </a:xfrm>
          <a:prstGeom prst="rect">
            <a:avLst/>
          </a:prstGeom>
          <a:noFill/>
          <a:ln w="9525">
            <a:noFill/>
            <a:miter lim="800000"/>
            <a:headEnd/>
            <a:tailEnd/>
          </a:ln>
          <a:effectLst/>
        </p:spPr>
        <p:txBody>
          <a:bodyPr wrap="square">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Capacities  for the </a:t>
            </a:r>
            <a:r>
              <a:rPr lang="en-US" sz="1600" b="1" dirty="0" smtClean="0">
                <a:solidFill>
                  <a:srgbClr val="33338C"/>
                </a:solidFill>
                <a:effectLst>
                  <a:outerShdw blurRad="38100" dist="38100" dir="2700000" algn="tl">
                    <a:srgbClr val="C0C0C0"/>
                  </a:outerShdw>
                </a:effectLst>
                <a:latin typeface="Arial Black" pitchFamily="34" charset="0"/>
              </a:rPr>
              <a:t>Transportation: Transit Standard</a:t>
            </a:r>
            <a:endParaRPr lang="en-US" sz="1600" b="1" dirty="0">
              <a:solidFill>
                <a:srgbClr val="33338C"/>
              </a:solidFill>
              <a:effectLst>
                <a:outerShdw blurRad="38100" dist="38100" dir="2700000" algn="tl">
                  <a:srgbClr val="C0C0C0"/>
                </a:outerShdw>
              </a:effectLst>
              <a:latin typeface="Arial Black" pitchFamily="34" charset="0"/>
            </a:endParaRPr>
          </a:p>
        </p:txBody>
      </p:sp>
      <p:sp>
        <p:nvSpPr>
          <p:cNvPr id="29704" name="Text Box 8"/>
          <p:cNvSpPr txBox="1">
            <a:spLocks noChangeArrowheads="1"/>
          </p:cNvSpPr>
          <p:nvPr/>
        </p:nvSpPr>
        <p:spPr bwMode="auto">
          <a:xfrm>
            <a:off x="5895975" y="1096963"/>
            <a:ext cx="3122613" cy="260350"/>
          </a:xfrm>
          <a:prstGeom prst="rect">
            <a:avLst/>
          </a:prstGeom>
          <a:noFill/>
          <a:ln w="9525">
            <a:noFill/>
            <a:miter lim="800000"/>
            <a:headEnd/>
            <a:tailEnd/>
          </a:ln>
          <a:effectLst/>
        </p:spPr>
        <p:txBody>
          <a:bodyPr>
            <a:spAutoFit/>
          </a:bodyPr>
          <a:lstStyle/>
          <a:p>
            <a:pPr algn="r">
              <a:defRPr/>
            </a:pPr>
            <a:r>
              <a:rPr lang="en-US" sz="1100" b="1" dirty="0">
                <a:solidFill>
                  <a:srgbClr val="33338C"/>
                </a:solidFill>
                <a:effectLst>
                  <a:outerShdw blurRad="38100" dist="38100" dir="2700000" algn="tl">
                    <a:srgbClr val="C0C0C0"/>
                  </a:outerShdw>
                </a:effectLst>
                <a:latin typeface="Arial Black" pitchFamily="34" charset="0"/>
              </a:rPr>
              <a:t>More Information</a:t>
            </a:r>
          </a:p>
        </p:txBody>
      </p:sp>
      <p:sp>
        <p:nvSpPr>
          <p:cNvPr id="15365" name="Text Box 9"/>
          <p:cNvSpPr txBox="1">
            <a:spLocks noChangeArrowheads="1"/>
          </p:cNvSpPr>
          <p:nvPr/>
        </p:nvSpPr>
        <p:spPr bwMode="auto">
          <a:xfrm>
            <a:off x="7239000" y="1379538"/>
            <a:ext cx="1828800" cy="1631216"/>
          </a:xfrm>
          <a:prstGeom prst="rect">
            <a:avLst/>
          </a:prstGeom>
          <a:solidFill>
            <a:schemeClr val="bg1">
              <a:lumMod val="85000"/>
            </a:schemeClr>
          </a:solidFill>
          <a:ln w="9525">
            <a:noFill/>
            <a:miter lim="800000"/>
            <a:headEnd/>
            <a:tailEnd/>
          </a:ln>
        </p:spPr>
        <p:txBody>
          <a:bodyPr wrap="square">
            <a:spAutoFit/>
          </a:bodyPr>
          <a:lstStyle/>
          <a:p>
            <a:pPr algn="r">
              <a:defRPr/>
            </a:pPr>
            <a:r>
              <a:rPr lang="en-US" sz="1000" b="1" dirty="0" smtClean="0">
                <a:latin typeface="Bookman Old Style" pitchFamily="18" charset="0"/>
              </a:rPr>
              <a:t>The FGDC is the responsible organization for coordinating work on all parts of the Geographic Information Framework Data Content Standard including the Transportation: Transit Theme.</a:t>
            </a:r>
            <a:endParaRPr lang="en-US" sz="1000" b="1" dirty="0">
              <a:solidFill>
                <a:srgbClr val="4D4D4D"/>
              </a:solidFill>
              <a:latin typeface="Bookman Old Style" pitchFamily="18" charset="0"/>
            </a:endParaRPr>
          </a:p>
        </p:txBody>
      </p:sp>
      <p:sp>
        <p:nvSpPr>
          <p:cNvPr id="29706" name="Text Box 10"/>
          <p:cNvSpPr txBox="1">
            <a:spLocks noChangeArrowheads="1"/>
          </p:cNvSpPr>
          <p:nvPr/>
        </p:nvSpPr>
        <p:spPr bwMode="auto">
          <a:xfrm>
            <a:off x="304800" y="5334000"/>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17415" name="Text Box 11"/>
          <p:cNvSpPr txBox="1">
            <a:spLocks noChangeArrowheads="1"/>
          </p:cNvSpPr>
          <p:nvPr/>
        </p:nvSpPr>
        <p:spPr bwMode="auto">
          <a:xfrm>
            <a:off x="533400" y="5715000"/>
            <a:ext cx="1475660" cy="276999"/>
          </a:xfrm>
          <a:prstGeom prst="rect">
            <a:avLst/>
          </a:prstGeom>
          <a:noFill/>
          <a:ln w="9525">
            <a:noFill/>
            <a:miter lim="800000"/>
            <a:headEnd/>
            <a:tailEnd/>
          </a:ln>
        </p:spPr>
        <p:txBody>
          <a:bodyPr wrap="none">
            <a:spAutoFit/>
          </a:bodyPr>
          <a:lstStyle/>
          <a:p>
            <a:pPr>
              <a:buClr>
                <a:srgbClr val="526666"/>
              </a:buClr>
            </a:pPr>
            <a:r>
              <a:rPr lang="en-US" sz="1200" b="1" dirty="0"/>
              <a:t>Contact </a:t>
            </a:r>
            <a:r>
              <a:rPr lang="en-US" sz="1200" b="1" dirty="0" smtClean="0"/>
              <a:t>Information</a:t>
            </a:r>
            <a:endParaRPr lang="en-US" sz="1200" b="1"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304800" y="152400"/>
            <a:ext cx="6553200" cy="1603375"/>
          </a:xfrm>
          <a:prstGeom prst="rect">
            <a:avLst/>
          </a:prstGeom>
          <a:noFill/>
          <a:ln w="9525">
            <a:noFill/>
            <a:miter lim="800000"/>
            <a:headEnd/>
            <a:tailEnd/>
          </a:ln>
        </p:spPr>
        <p:txBody>
          <a:bodyPr>
            <a:spAutoFit/>
          </a:bodyPr>
          <a:lstStyle/>
          <a:p>
            <a:endParaRPr lang="en-US" dirty="0"/>
          </a:p>
          <a:p>
            <a:endParaRPr lang="en-US" dirty="0"/>
          </a:p>
          <a:p>
            <a:pPr lvl="1"/>
            <a:endParaRPr lang="en-US" dirty="0"/>
          </a:p>
          <a:p>
            <a:endParaRPr lang="en-US" dirty="0"/>
          </a:p>
          <a:p>
            <a:pPr>
              <a:spcBef>
                <a:spcPct val="50000"/>
              </a:spcBef>
            </a:pPr>
            <a:endParaRPr lang="en-US" dirty="0"/>
          </a:p>
        </p:txBody>
      </p:sp>
      <p:sp>
        <p:nvSpPr>
          <p:cNvPr id="27651" name="Text Box 3"/>
          <p:cNvSpPr txBox="1">
            <a:spLocks noChangeArrowheads="1"/>
          </p:cNvSpPr>
          <p:nvPr/>
        </p:nvSpPr>
        <p:spPr bwMode="auto">
          <a:xfrm>
            <a:off x="228600" y="969963"/>
            <a:ext cx="5410200" cy="584775"/>
          </a:xfrm>
          <a:prstGeom prst="rect">
            <a:avLst/>
          </a:prstGeom>
          <a:noFill/>
          <a:ln w="9525">
            <a:noFill/>
            <a:miter lim="800000"/>
            <a:headEnd/>
            <a:tailEnd/>
          </a:ln>
          <a:effectLst/>
        </p:spPr>
        <p:txBody>
          <a:bodyPr wrap="square">
            <a:spAutoFit/>
          </a:bodyPr>
          <a:lstStyle/>
          <a:p>
            <a:pPr>
              <a:defRPr/>
            </a:pPr>
            <a:r>
              <a:rPr lang="en-US" sz="1600" b="1" u="sng" dirty="0">
                <a:effectLst>
                  <a:outerShdw blurRad="38100" dist="38100" dir="2700000" algn="tl">
                    <a:srgbClr val="C0C0C0"/>
                  </a:outerShdw>
                </a:effectLst>
                <a:latin typeface="Arial Black" pitchFamily="34" charset="0"/>
              </a:rPr>
              <a:t>Who to Contact for Questions about the </a:t>
            </a:r>
            <a:r>
              <a:rPr lang="en-US" sz="1600" b="1" u="sng" dirty="0" smtClean="0">
                <a:effectLst>
                  <a:outerShdw blurRad="38100" dist="38100" dir="2700000" algn="tl">
                    <a:srgbClr val="C0C0C0"/>
                  </a:outerShdw>
                </a:effectLst>
                <a:latin typeface="Arial Black" pitchFamily="34" charset="0"/>
              </a:rPr>
              <a:t>Transportation: Transit Standard </a:t>
            </a:r>
            <a:r>
              <a:rPr lang="en-US" sz="1600" b="1" u="sng" dirty="0">
                <a:effectLst>
                  <a:outerShdw blurRad="38100" dist="38100" dir="2700000" algn="tl">
                    <a:srgbClr val="C0C0C0"/>
                  </a:outerShdw>
                </a:effectLst>
                <a:latin typeface="Arial Black" pitchFamily="34" charset="0"/>
              </a:rPr>
              <a:t>Part</a:t>
            </a:r>
          </a:p>
        </p:txBody>
      </p:sp>
      <p:sp>
        <p:nvSpPr>
          <p:cNvPr id="18436" name="Text Box 4"/>
          <p:cNvSpPr txBox="1">
            <a:spLocks noChangeArrowheads="1"/>
          </p:cNvSpPr>
          <p:nvPr/>
        </p:nvSpPr>
        <p:spPr bwMode="auto">
          <a:xfrm>
            <a:off x="533400" y="1981200"/>
            <a:ext cx="6013450" cy="1917700"/>
          </a:xfrm>
          <a:prstGeom prst="rect">
            <a:avLst/>
          </a:prstGeom>
          <a:noFill/>
          <a:ln w="9525">
            <a:noFill/>
            <a:miter lim="800000"/>
            <a:headEnd/>
            <a:tailEnd/>
          </a:ln>
        </p:spPr>
        <p:txBody>
          <a:bodyPr>
            <a:spAutoFit/>
          </a:bodyPr>
          <a:lstStyle/>
          <a:p>
            <a:pPr>
              <a:buClr>
                <a:srgbClr val="526666"/>
              </a:buClr>
            </a:pPr>
            <a:r>
              <a:rPr lang="en-US" sz="1200" b="1" dirty="0"/>
              <a:t>Federal Geographic Data Committee Secretariat</a:t>
            </a:r>
          </a:p>
          <a:p>
            <a:pPr>
              <a:buClr>
                <a:srgbClr val="526666"/>
              </a:buClr>
            </a:pPr>
            <a:r>
              <a:rPr lang="en-US" sz="1200" b="1" dirty="0"/>
              <a:t>c/o U.S. Geological Survey</a:t>
            </a:r>
          </a:p>
          <a:p>
            <a:pPr>
              <a:buClr>
                <a:srgbClr val="526666"/>
              </a:buClr>
            </a:pPr>
            <a:r>
              <a:rPr lang="en-US" sz="1200" b="1" dirty="0"/>
              <a:t>590 National Center</a:t>
            </a:r>
          </a:p>
          <a:p>
            <a:pPr>
              <a:buClr>
                <a:srgbClr val="526666"/>
              </a:buClr>
            </a:pPr>
            <a:r>
              <a:rPr lang="en-US" sz="1200" b="1" dirty="0"/>
              <a:t>Reston, Virginia  20192 USA</a:t>
            </a:r>
          </a:p>
          <a:p>
            <a:pPr>
              <a:buClr>
                <a:srgbClr val="526666"/>
              </a:buClr>
            </a:pPr>
            <a:r>
              <a:rPr lang="en-US" sz="1200" b="1" dirty="0"/>
              <a:t>Telephone: (703) 648-5514</a:t>
            </a:r>
          </a:p>
          <a:p>
            <a:pPr>
              <a:buClr>
                <a:srgbClr val="526666"/>
              </a:buClr>
            </a:pPr>
            <a:r>
              <a:rPr lang="en-US" sz="1200" b="1" dirty="0"/>
              <a:t>Facsimile: (703) 648-5755</a:t>
            </a:r>
          </a:p>
          <a:p>
            <a:pPr>
              <a:buClr>
                <a:srgbClr val="526666"/>
              </a:buClr>
            </a:pPr>
            <a:r>
              <a:rPr lang="en-US" sz="1200" b="1" dirty="0"/>
              <a:t>Internet (electronic mail): </a:t>
            </a:r>
            <a:r>
              <a:rPr lang="en-US" sz="1200" b="1" dirty="0">
                <a:hlinkClick r:id="rId2"/>
              </a:rPr>
              <a:t>gdc@fgdc.gov</a:t>
            </a:r>
            <a:r>
              <a:rPr lang="en-US" sz="1200" b="1" dirty="0"/>
              <a:t> </a:t>
            </a:r>
          </a:p>
          <a:p>
            <a:pPr>
              <a:buClr>
                <a:srgbClr val="526666"/>
              </a:buClr>
            </a:pPr>
            <a:r>
              <a:rPr lang="en-US" sz="1200" b="1" dirty="0"/>
              <a:t>WWW Home Page:  </a:t>
            </a:r>
            <a:r>
              <a:rPr lang="en-US" sz="1200" b="1" dirty="0">
                <a:hlinkClick r:id="rId3"/>
              </a:rPr>
              <a:t>http://www.fgdc.gov</a:t>
            </a:r>
            <a:r>
              <a:rPr lang="en-US" sz="1200" b="1" dirty="0"/>
              <a:t> </a:t>
            </a:r>
          </a:p>
          <a:p>
            <a:pPr>
              <a:buClr>
                <a:srgbClr val="526666"/>
              </a:buClr>
            </a:pPr>
            <a:endParaRPr lang="en-US" sz="1200" b="1" dirty="0"/>
          </a:p>
          <a:p>
            <a:pPr>
              <a:buClr>
                <a:srgbClr val="526666"/>
              </a:buClr>
            </a:pPr>
            <a:endParaRPr lang="en-US" sz="1200" b="1" dirty="0"/>
          </a:p>
        </p:txBody>
      </p:sp>
      <p:sp>
        <p:nvSpPr>
          <p:cNvPr id="16389" name="Text Box 7"/>
          <p:cNvSpPr txBox="1">
            <a:spLocks noChangeArrowheads="1"/>
          </p:cNvSpPr>
          <p:nvPr/>
        </p:nvSpPr>
        <p:spPr bwMode="auto">
          <a:xfrm>
            <a:off x="6781800" y="1379538"/>
            <a:ext cx="2203450" cy="3477875"/>
          </a:xfrm>
          <a:prstGeom prst="rect">
            <a:avLst/>
          </a:prstGeom>
          <a:solidFill>
            <a:schemeClr val="bg1">
              <a:lumMod val="85000"/>
            </a:schemeClr>
          </a:solidFill>
          <a:ln w="9525">
            <a:noFill/>
            <a:miter lim="800000"/>
            <a:headEnd/>
            <a:tailEnd/>
          </a:ln>
        </p:spPr>
        <p:txBody>
          <a:bodyPr wrap="square">
            <a:spAutoFit/>
          </a:bodyPr>
          <a:lstStyle/>
          <a:p>
            <a:pPr>
              <a:defRPr/>
            </a:pPr>
            <a:r>
              <a:rPr lang="en-US" sz="1000" b="1" dirty="0">
                <a:solidFill>
                  <a:srgbClr val="4D4D4D"/>
                </a:solidFill>
                <a:latin typeface="Bookman Old Style" pitchFamily="18" charset="0"/>
              </a:rPr>
              <a:t>The FGDC is the responsible organization for coordinating work on all parts of the Geographic Information Framework Data Content Standard. The development and maintenance authority for Part </a:t>
            </a:r>
            <a:r>
              <a:rPr lang="en-US" sz="1000" b="1" dirty="0" smtClean="0">
                <a:solidFill>
                  <a:srgbClr val="4D4D4D"/>
                </a:solidFill>
                <a:latin typeface="Bookman Old Style" pitchFamily="18" charset="0"/>
              </a:rPr>
              <a:t>1: Transportation: Transit </a:t>
            </a:r>
            <a:r>
              <a:rPr lang="en-US" sz="1000" b="1" dirty="0">
                <a:solidFill>
                  <a:srgbClr val="4D4D4D"/>
                </a:solidFill>
                <a:latin typeface="Bookman Old Style" pitchFamily="18" charset="0"/>
              </a:rPr>
              <a:t>is held jointly by the U.S. Geological Survey and U.S. Environmental Protection Agency. </a:t>
            </a:r>
          </a:p>
          <a:p>
            <a:pPr>
              <a:defRPr/>
            </a:pPr>
            <a:r>
              <a:rPr lang="en-US" sz="1000" b="1" dirty="0">
                <a:solidFill>
                  <a:srgbClr val="4D4D4D"/>
                </a:solidFill>
                <a:latin typeface="Bookman Old Style" pitchFamily="18" charset="0"/>
              </a:rPr>
              <a:t>The FGDC shall be the sole organization responsible for direct coordination with the InterNational Committee for Information Technology Standards (INCITS) concerning any maintenance or any other requirements mandated by INCITS or ANSI.</a:t>
            </a:r>
          </a:p>
          <a:p>
            <a:pPr>
              <a:defRPr/>
            </a:pPr>
            <a:endParaRPr lang="en-US" sz="1000" b="1" dirty="0">
              <a:solidFill>
                <a:srgbClr val="4D4D4D"/>
              </a:solidFill>
            </a:endParaRPr>
          </a:p>
        </p:txBody>
      </p:sp>
      <p:sp>
        <p:nvSpPr>
          <p:cNvPr id="27656" name="Text Box 8"/>
          <p:cNvSpPr txBox="1">
            <a:spLocks noChangeArrowheads="1"/>
          </p:cNvSpPr>
          <p:nvPr/>
        </p:nvSpPr>
        <p:spPr bwMode="auto">
          <a:xfrm>
            <a:off x="5895975" y="1096963"/>
            <a:ext cx="3122613" cy="260350"/>
          </a:xfrm>
          <a:prstGeom prst="rect">
            <a:avLst/>
          </a:prstGeom>
          <a:noFill/>
          <a:ln w="9525">
            <a:noFill/>
            <a:miter lim="800000"/>
            <a:headEnd/>
            <a:tailEnd/>
          </a:ln>
          <a:effectLst/>
        </p:spPr>
        <p:txBody>
          <a:bodyPr>
            <a:spAutoFit/>
          </a:bodyPr>
          <a:lstStyle/>
          <a:p>
            <a:pPr algn="r">
              <a:defRPr/>
            </a:pPr>
            <a:r>
              <a:rPr lang="en-US" sz="1100" b="1" dirty="0">
                <a:solidFill>
                  <a:srgbClr val="33338C"/>
                </a:solidFill>
                <a:effectLst>
                  <a:outerShdw blurRad="38100" dist="38100" dir="2700000" algn="tl">
                    <a:srgbClr val="C0C0C0"/>
                  </a:outerShdw>
                </a:effectLst>
                <a:latin typeface="Arial Black" pitchFamily="34" charset="0"/>
              </a:rPr>
              <a:t>Standard Coordination</a:t>
            </a:r>
          </a:p>
        </p:txBody>
      </p:sp>
      <p:sp>
        <p:nvSpPr>
          <p:cNvPr id="27658" name="Text Box 10"/>
          <p:cNvSpPr txBox="1">
            <a:spLocks noChangeArrowheads="1"/>
          </p:cNvSpPr>
          <p:nvPr/>
        </p:nvSpPr>
        <p:spPr bwMode="auto">
          <a:xfrm>
            <a:off x="304800" y="5867400"/>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18440" name="Text Box 11"/>
          <p:cNvSpPr txBox="1">
            <a:spLocks noChangeArrowheads="1"/>
          </p:cNvSpPr>
          <p:nvPr/>
        </p:nvSpPr>
        <p:spPr bwMode="auto">
          <a:xfrm>
            <a:off x="533400" y="6248400"/>
            <a:ext cx="1525588" cy="276225"/>
          </a:xfrm>
          <a:prstGeom prst="rect">
            <a:avLst/>
          </a:prstGeom>
          <a:noFill/>
          <a:ln w="9525">
            <a:noFill/>
            <a:miter lim="800000"/>
            <a:headEnd/>
            <a:tailEnd/>
          </a:ln>
        </p:spPr>
        <p:txBody>
          <a:bodyPr wrap="none">
            <a:spAutoFit/>
          </a:bodyPr>
          <a:lstStyle/>
          <a:p>
            <a:pPr>
              <a:buClr>
                <a:srgbClr val="526666"/>
              </a:buClr>
            </a:pPr>
            <a:r>
              <a:rPr lang="en-US" sz="1200" b="1" dirty="0"/>
              <a:t>Module 2 Exercise</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ext Box 2"/>
          <p:cNvSpPr txBox="1">
            <a:spLocks noChangeArrowheads="1"/>
          </p:cNvSpPr>
          <p:nvPr/>
        </p:nvSpPr>
        <p:spPr bwMode="auto">
          <a:xfrm>
            <a:off x="228600" y="950913"/>
            <a:ext cx="5791200" cy="338554"/>
          </a:xfrm>
          <a:prstGeom prst="rect">
            <a:avLst/>
          </a:prstGeom>
          <a:noFill/>
          <a:ln w="9525">
            <a:noFill/>
            <a:miter lim="800000"/>
            <a:headEnd/>
            <a:tailEnd/>
          </a:ln>
          <a:effectLst/>
        </p:spPr>
        <p:txBody>
          <a:bodyPr wrap="square">
            <a:spAutoFit/>
          </a:bodyPr>
          <a:lstStyle/>
          <a:p>
            <a:pPr>
              <a:defRPr/>
            </a:pPr>
            <a:r>
              <a:rPr lang="en-US" sz="1600" b="1" u="sng" dirty="0" smtClean="0">
                <a:effectLst>
                  <a:outerShdw blurRad="38100" dist="38100" dir="2700000" algn="tl">
                    <a:srgbClr val="C0C0C0"/>
                  </a:outerShdw>
                </a:effectLst>
                <a:latin typeface="Arial Black" pitchFamily="34" charset="0"/>
              </a:rPr>
              <a:t>Transportation: Transit Module Exercise</a:t>
            </a:r>
            <a:endParaRPr lang="en-US" sz="1600" b="1" u="sng" dirty="0">
              <a:effectLst>
                <a:outerShdw blurRad="38100" dist="38100" dir="2700000" algn="tl">
                  <a:srgbClr val="C0C0C0"/>
                </a:outerShdw>
              </a:effectLst>
              <a:latin typeface="Arial Black" pitchFamily="34" charset="0"/>
            </a:endParaRPr>
          </a:p>
        </p:txBody>
      </p:sp>
      <p:sp>
        <p:nvSpPr>
          <p:cNvPr id="19462" name="Text Box 18"/>
          <p:cNvSpPr txBox="1">
            <a:spLocks noChangeArrowheads="1"/>
          </p:cNvSpPr>
          <p:nvPr/>
        </p:nvSpPr>
        <p:spPr bwMode="auto">
          <a:xfrm>
            <a:off x="304800" y="1905000"/>
            <a:ext cx="6172200" cy="2456057"/>
          </a:xfrm>
          <a:prstGeom prst="rect">
            <a:avLst/>
          </a:prstGeom>
          <a:noFill/>
          <a:ln w="9525">
            <a:noFill/>
            <a:miter lim="800000"/>
            <a:headEnd/>
            <a:tailEnd/>
          </a:ln>
        </p:spPr>
        <p:txBody>
          <a:bodyPr wrap="square">
            <a:spAutoFit/>
          </a:bodyPr>
          <a:lstStyle/>
          <a:p>
            <a:pPr marL="228600" indent="-228600">
              <a:buClr>
                <a:srgbClr val="526666"/>
              </a:buClr>
              <a:buFont typeface="+mj-lt"/>
              <a:buAutoNum type="arabicPeriod"/>
            </a:pPr>
            <a:r>
              <a:rPr lang="en-US" sz="1200" b="1" dirty="0" smtClean="0"/>
              <a:t>Open </a:t>
            </a:r>
            <a:r>
              <a:rPr lang="en-US" sz="1200" b="1" dirty="0" smtClean="0"/>
              <a:t> an </a:t>
            </a:r>
            <a:r>
              <a:rPr lang="en-US" sz="1200" b="1" dirty="0" smtClean="0"/>
              <a:t>Internet browser</a:t>
            </a:r>
          </a:p>
          <a:p>
            <a:pPr>
              <a:buClr>
                <a:srgbClr val="526666"/>
              </a:buClr>
            </a:pPr>
            <a:endParaRPr lang="en-US" sz="1200" b="1" dirty="0" smtClean="0"/>
          </a:p>
          <a:p>
            <a:pPr marL="228600" indent="-228600">
              <a:buClr>
                <a:srgbClr val="526666"/>
              </a:buClr>
              <a:buAutoNum type="arabicPeriod" startAt="2"/>
            </a:pPr>
            <a:r>
              <a:rPr lang="en-US" sz="1200" b="1" dirty="0" smtClean="0"/>
              <a:t>Open the following application:</a:t>
            </a:r>
            <a:br>
              <a:rPr lang="en-US" sz="1200" b="1" dirty="0" smtClean="0"/>
            </a:br>
            <a:r>
              <a:rPr lang="en-US" sz="1200" b="1" dirty="0" smtClean="0"/>
              <a:t>	</a:t>
            </a:r>
            <a:r>
              <a:rPr lang="en-US" sz="1200" dirty="0">
                <a:hlinkClick r:id="rId2"/>
              </a:rPr>
              <a:t>http://www.swisstrains.ch/</a:t>
            </a:r>
            <a:endParaRPr lang="en-US" sz="1200" b="1" dirty="0" smtClean="0"/>
          </a:p>
          <a:p>
            <a:pPr marL="228600" indent="-228600">
              <a:buClr>
                <a:srgbClr val="526666"/>
              </a:buClr>
              <a:buAutoNum type="arabicPeriod" startAt="2"/>
            </a:pPr>
            <a:endParaRPr lang="en-US" sz="1200" b="1" dirty="0" smtClean="0"/>
          </a:p>
          <a:p>
            <a:pPr marL="228600" indent="-228600">
              <a:buClr>
                <a:srgbClr val="526666"/>
              </a:buClr>
              <a:buAutoNum type="arabicPeriod" startAt="2"/>
            </a:pPr>
            <a:r>
              <a:rPr lang="en-US" sz="1200" b="1" dirty="0" smtClean="0"/>
              <a:t>How is GIS being used for this specific Transportation: Transit need?</a:t>
            </a:r>
          </a:p>
          <a:p>
            <a:pPr lvl="1">
              <a:buClr>
                <a:srgbClr val="526666"/>
              </a:buClr>
            </a:pPr>
            <a:r>
              <a:rPr lang="en-US" sz="1200" b="1" dirty="0" smtClean="0"/>
              <a:t>Besides static locations of stations, etc. what additional information is provided by this application?</a:t>
            </a:r>
          </a:p>
          <a:p>
            <a:pPr marL="228600" indent="-228600">
              <a:buClr>
                <a:srgbClr val="526666"/>
              </a:buClr>
              <a:buAutoNum type="arabicPeriod" startAt="2"/>
            </a:pPr>
            <a:endParaRPr lang="en-US" sz="1200" b="1" dirty="0" smtClean="0"/>
          </a:p>
          <a:p>
            <a:pPr marL="228600" indent="-228600">
              <a:buClr>
                <a:srgbClr val="526666"/>
              </a:buClr>
              <a:buAutoNum type="arabicPeriod" startAt="2"/>
            </a:pPr>
            <a:r>
              <a:rPr lang="en-US" sz="1200" b="1" dirty="0" smtClean="0"/>
              <a:t>Close web browser and continue on with the next part of the module</a:t>
            </a:r>
          </a:p>
          <a:p>
            <a:pPr marL="228600" indent="-228600">
              <a:buClr>
                <a:srgbClr val="526666"/>
              </a:buClr>
              <a:buAutoNum type="arabicPeriod" startAt="2"/>
            </a:pPr>
            <a:endParaRPr lang="en-US" sz="1200" b="1" dirty="0"/>
          </a:p>
          <a:p>
            <a:pPr>
              <a:lnSpc>
                <a:spcPct val="180000"/>
              </a:lnSpc>
              <a:buClr>
                <a:srgbClr val="526666"/>
              </a:buClr>
            </a:pPr>
            <a:endParaRPr lang="en-US" sz="1200" dirty="0"/>
          </a:p>
        </p:txBody>
      </p:sp>
      <p:sp>
        <p:nvSpPr>
          <p:cNvPr id="7" name="Text Box 3"/>
          <p:cNvSpPr txBox="1">
            <a:spLocks noChangeArrowheads="1"/>
          </p:cNvSpPr>
          <p:nvPr/>
        </p:nvSpPr>
        <p:spPr bwMode="auto">
          <a:xfrm>
            <a:off x="304800" y="5029200"/>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8" name="Text Box 4"/>
          <p:cNvSpPr txBox="1">
            <a:spLocks noChangeArrowheads="1"/>
          </p:cNvSpPr>
          <p:nvPr/>
        </p:nvSpPr>
        <p:spPr bwMode="auto">
          <a:xfrm>
            <a:off x="533400" y="5410200"/>
            <a:ext cx="1454150" cy="274638"/>
          </a:xfrm>
          <a:prstGeom prst="rect">
            <a:avLst/>
          </a:prstGeom>
          <a:noFill/>
          <a:ln w="9525">
            <a:noFill/>
            <a:miter lim="800000"/>
            <a:headEnd/>
            <a:tailEnd/>
          </a:ln>
        </p:spPr>
        <p:txBody>
          <a:bodyPr wrap="none">
            <a:spAutoFit/>
          </a:bodyPr>
          <a:lstStyle/>
          <a:p>
            <a:pPr>
              <a:buClr>
                <a:srgbClr val="526666"/>
              </a:buClr>
            </a:pPr>
            <a:r>
              <a:rPr lang="en-US" sz="1200" b="1" dirty="0"/>
              <a:t>Module Summary</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ext Box 2"/>
          <p:cNvSpPr txBox="1">
            <a:spLocks noChangeArrowheads="1"/>
          </p:cNvSpPr>
          <p:nvPr/>
        </p:nvSpPr>
        <p:spPr bwMode="auto">
          <a:xfrm>
            <a:off x="228600" y="969963"/>
            <a:ext cx="6889750" cy="336550"/>
          </a:xfrm>
          <a:prstGeom prst="rect">
            <a:avLst/>
          </a:prstGeom>
          <a:noFill/>
          <a:ln w="9525">
            <a:noFill/>
            <a:miter lim="800000"/>
            <a:headEnd/>
            <a:tailEnd/>
          </a:ln>
          <a:effectLst/>
        </p:spPr>
        <p:txBody>
          <a:bodyPr>
            <a:spAutoFit/>
          </a:bodyPr>
          <a:lstStyle/>
          <a:p>
            <a:pPr>
              <a:defRPr/>
            </a:pPr>
            <a:r>
              <a:rPr lang="en-US" sz="1600" b="1" u="sng" dirty="0">
                <a:effectLst>
                  <a:outerShdw blurRad="38100" dist="38100" dir="2700000" algn="tl">
                    <a:srgbClr val="C0C0C0"/>
                  </a:outerShdw>
                </a:effectLst>
                <a:latin typeface="Arial Black" pitchFamily="34" charset="0"/>
              </a:rPr>
              <a:t>Module summary </a:t>
            </a:r>
          </a:p>
        </p:txBody>
      </p:sp>
      <p:sp>
        <p:nvSpPr>
          <p:cNvPr id="24579" name="Text Box 3"/>
          <p:cNvSpPr txBox="1">
            <a:spLocks noChangeArrowheads="1"/>
          </p:cNvSpPr>
          <p:nvPr/>
        </p:nvSpPr>
        <p:spPr bwMode="auto">
          <a:xfrm>
            <a:off x="381000" y="1905000"/>
            <a:ext cx="7162800" cy="2123658"/>
          </a:xfrm>
          <a:prstGeom prst="rect">
            <a:avLst/>
          </a:prstGeom>
          <a:noFill/>
          <a:ln w="9525">
            <a:noFill/>
            <a:miter lim="800000"/>
            <a:headEnd/>
            <a:tailEnd/>
          </a:ln>
        </p:spPr>
        <p:txBody>
          <a:bodyPr wrap="square">
            <a:spAutoFit/>
          </a:bodyPr>
          <a:lstStyle/>
          <a:p>
            <a:pPr>
              <a:buClr>
                <a:srgbClr val="526666"/>
              </a:buClr>
              <a:buFontTx/>
              <a:buChar char="•"/>
              <a:tabLst>
                <a:tab pos="174625" algn="l"/>
              </a:tabLst>
            </a:pPr>
            <a:r>
              <a:rPr lang="en-US" sz="1200" b="1" dirty="0"/>
              <a:t>   The goal of the </a:t>
            </a:r>
            <a:r>
              <a:rPr lang="en-US" sz="1200" b="1" dirty="0" smtClean="0"/>
              <a:t>Transportation: Transit part </a:t>
            </a:r>
            <a:r>
              <a:rPr lang="en-US" sz="1200" b="1" dirty="0"/>
              <a:t>of the Framework Data Content </a:t>
            </a:r>
            <a:r>
              <a:rPr lang="en-US" sz="1200" b="1" dirty="0" smtClean="0"/>
              <a:t>Standard is </a:t>
            </a:r>
            <a:r>
              <a:rPr lang="en-US" sz="1200" b="1" dirty="0"/>
              <a:t>to </a:t>
            </a:r>
            <a:r>
              <a:rPr lang="en-US" sz="1200" b="1" dirty="0" smtClean="0"/>
              <a:t>provide common 	definitions </a:t>
            </a:r>
            <a:r>
              <a:rPr lang="en-US" sz="1200" b="1" dirty="0"/>
              <a:t>and </a:t>
            </a:r>
            <a:r>
              <a:rPr lang="en-US" sz="1200" b="1" dirty="0" smtClean="0"/>
              <a:t>model to </a:t>
            </a:r>
            <a:r>
              <a:rPr lang="en-US" sz="1200" b="1" dirty="0"/>
              <a:t>enable </a:t>
            </a:r>
            <a:r>
              <a:rPr lang="en-US" sz="1200" b="1" dirty="0" smtClean="0"/>
              <a:t>collaborative development</a:t>
            </a:r>
            <a:r>
              <a:rPr lang="en-US" sz="1200" b="1" dirty="0"/>
              <a:t>, use, and exchange </a:t>
            </a:r>
            <a:r>
              <a:rPr lang="en-US" sz="1200" b="1" dirty="0" smtClean="0"/>
              <a:t>of Transportation: Transit 	data</a:t>
            </a:r>
            <a:r>
              <a:rPr lang="en-US" sz="1200" b="1" dirty="0"/>
              <a:t>. </a:t>
            </a:r>
          </a:p>
          <a:p>
            <a:pPr>
              <a:buClr>
                <a:srgbClr val="526666"/>
              </a:buClr>
              <a:buFontTx/>
              <a:buChar char="•"/>
              <a:tabLst>
                <a:tab pos="174625" algn="l"/>
              </a:tabLst>
            </a:pPr>
            <a:endParaRPr lang="en-US" sz="1200" dirty="0" smtClean="0"/>
          </a:p>
          <a:p>
            <a:pPr>
              <a:buClr>
                <a:srgbClr val="526666"/>
              </a:buClr>
              <a:buFontTx/>
              <a:buChar char="•"/>
              <a:tabLst>
                <a:tab pos="174625" algn="l"/>
              </a:tabLst>
            </a:pPr>
            <a:r>
              <a:rPr lang="en-US" sz="1200" dirty="0"/>
              <a:t> </a:t>
            </a:r>
            <a:r>
              <a:rPr lang="en-US" sz="1200" dirty="0" smtClean="0"/>
              <a:t>  </a:t>
            </a:r>
            <a:r>
              <a:rPr lang="en-US" sz="1200" b="1" dirty="0" smtClean="0"/>
              <a:t>Transportation: Transit establishes common data requirements for the exchange of National Spatial Data 	Infrastructure (NSDI) framework data for the Transportation: Transit theme</a:t>
            </a:r>
          </a:p>
          <a:p>
            <a:pPr>
              <a:buClr>
                <a:srgbClr val="526666"/>
              </a:buClr>
              <a:buFontTx/>
              <a:buChar char="•"/>
              <a:tabLst>
                <a:tab pos="174625" algn="l"/>
              </a:tabLst>
            </a:pPr>
            <a:endParaRPr lang="en-US" sz="1200" b="1" dirty="0" smtClean="0"/>
          </a:p>
          <a:p>
            <a:pPr>
              <a:buClr>
                <a:srgbClr val="526666"/>
              </a:buClr>
              <a:buFontTx/>
              <a:buChar char="•"/>
              <a:tabLst>
                <a:tab pos="174625" algn="l"/>
              </a:tabLst>
            </a:pPr>
            <a:r>
              <a:rPr lang="en-US" sz="1200" b="1" dirty="0" smtClean="0"/>
              <a:t>   The Transportation: Transit part is just one piece of the seven themes of Framework Data that collectively 	in unison with the Base Standard comprise the Framework Data Content Standards</a:t>
            </a:r>
          </a:p>
          <a:p>
            <a:pPr>
              <a:buClr>
                <a:srgbClr val="526666"/>
              </a:buClr>
              <a:buFontTx/>
              <a:buChar char="•"/>
              <a:tabLst>
                <a:tab pos="174625" algn="l"/>
              </a:tabLst>
            </a:pPr>
            <a:endParaRPr lang="en-US" sz="1200" b="1" dirty="0"/>
          </a:p>
          <a:p>
            <a:pPr>
              <a:buClr>
                <a:srgbClr val="526666"/>
              </a:buClr>
              <a:buFontTx/>
              <a:buChar char="•"/>
              <a:tabLst>
                <a:tab pos="174625" algn="l"/>
              </a:tabLst>
            </a:pPr>
            <a:endParaRPr lang="en-US" sz="1200" b="1" dirty="0"/>
          </a:p>
        </p:txBody>
      </p:sp>
      <p:sp>
        <p:nvSpPr>
          <p:cNvPr id="25604" name="Text Box 4"/>
          <p:cNvSpPr txBox="1">
            <a:spLocks noChangeArrowheads="1"/>
          </p:cNvSpPr>
          <p:nvPr/>
        </p:nvSpPr>
        <p:spPr bwMode="auto">
          <a:xfrm>
            <a:off x="304800" y="4876800"/>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18437" name="Text Box 5"/>
          <p:cNvSpPr txBox="1">
            <a:spLocks noChangeArrowheads="1"/>
          </p:cNvSpPr>
          <p:nvPr/>
        </p:nvSpPr>
        <p:spPr bwMode="auto">
          <a:xfrm>
            <a:off x="533400" y="5257800"/>
            <a:ext cx="3869457" cy="276999"/>
          </a:xfrm>
          <a:prstGeom prst="rect">
            <a:avLst/>
          </a:prstGeom>
          <a:noFill/>
          <a:ln w="9525">
            <a:noFill/>
            <a:miter lim="800000"/>
            <a:headEnd/>
            <a:tailEnd/>
          </a:ln>
        </p:spPr>
        <p:txBody>
          <a:bodyPr wrap="none">
            <a:spAutoFit/>
          </a:bodyPr>
          <a:lstStyle/>
          <a:p>
            <a:pPr>
              <a:defRPr/>
            </a:pPr>
            <a:r>
              <a:rPr lang="en-US" sz="1200" b="1" dirty="0">
                <a:effectLst>
                  <a:outerShdw blurRad="38100" dist="38100" dir="2700000" algn="tl">
                    <a:srgbClr val="C0C0C0"/>
                  </a:outerShdw>
                </a:effectLst>
                <a:latin typeface="+mn-lt"/>
              </a:rPr>
              <a:t>Module 3: </a:t>
            </a:r>
            <a:r>
              <a:rPr lang="en-US" sz="1200" b="1" dirty="0" smtClean="0">
                <a:effectLst>
                  <a:outerShdw blurRad="38100" dist="38100" dir="2700000" algn="tl">
                    <a:srgbClr val="C0C0C0"/>
                  </a:outerShdw>
                </a:effectLst>
                <a:latin typeface="+mn-lt"/>
              </a:rPr>
              <a:t>Transportation: Transit Standard Requirements</a:t>
            </a:r>
            <a:endParaRPr lang="en-US" sz="1200" b="1" dirty="0">
              <a:effectLst>
                <a:outerShdw blurRad="38100" dist="38100" dir="2700000" algn="tl">
                  <a:srgbClr val="C0C0C0"/>
                </a:outerShdw>
              </a:effectLst>
              <a:latin typeface="+mn-lt"/>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152400" y="838200"/>
            <a:ext cx="5638800" cy="338554"/>
          </a:xfrm>
          <a:prstGeom prst="rect">
            <a:avLst/>
          </a:prstGeom>
          <a:noFill/>
          <a:ln w="9525">
            <a:noFill/>
            <a:miter lim="800000"/>
            <a:headEnd/>
            <a:tailEnd/>
          </a:ln>
          <a:effectLst/>
        </p:spPr>
        <p:txBody>
          <a:bodyPr>
            <a:spAutoFit/>
          </a:bodyPr>
          <a:lstStyle/>
          <a:p>
            <a:pPr>
              <a:defRPr/>
            </a:pPr>
            <a:r>
              <a:rPr lang="en-US" sz="1600" b="1" dirty="0">
                <a:effectLst>
                  <a:outerShdw blurRad="38100" dist="38100" dir="2700000" algn="tl">
                    <a:srgbClr val="C0C0C0"/>
                  </a:outerShdw>
                </a:effectLst>
                <a:latin typeface="Arial Black" pitchFamily="34" charset="0"/>
              </a:rPr>
              <a:t>Module 3: </a:t>
            </a:r>
            <a:r>
              <a:rPr lang="en-US" sz="1600" b="1" dirty="0" smtClean="0">
                <a:effectLst>
                  <a:outerShdw blurRad="38100" dist="38100" dir="2700000" algn="tl">
                    <a:srgbClr val="C0C0C0"/>
                  </a:outerShdw>
                </a:effectLst>
                <a:latin typeface="Arial Black" pitchFamily="34" charset="0"/>
              </a:rPr>
              <a:t>Transportation: Transit Requirements</a:t>
            </a:r>
            <a:endParaRPr lang="en-US" sz="1600" b="1" dirty="0">
              <a:effectLst>
                <a:outerShdw blurRad="38100" dist="38100" dir="2700000" algn="tl">
                  <a:srgbClr val="C0C0C0"/>
                </a:outerShdw>
              </a:effectLst>
              <a:latin typeface="Arial Black" pitchFamily="34" charset="0"/>
            </a:endParaRPr>
          </a:p>
        </p:txBody>
      </p:sp>
      <p:sp>
        <p:nvSpPr>
          <p:cNvPr id="24580" name="Text Box 4"/>
          <p:cNvSpPr txBox="1">
            <a:spLocks noChangeArrowheads="1"/>
          </p:cNvSpPr>
          <p:nvPr/>
        </p:nvSpPr>
        <p:spPr bwMode="auto">
          <a:xfrm>
            <a:off x="228600" y="1693863"/>
            <a:ext cx="3048000" cy="336550"/>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Topics</a:t>
            </a:r>
          </a:p>
        </p:txBody>
      </p:sp>
      <p:sp>
        <p:nvSpPr>
          <p:cNvPr id="25604" name="Text Box 5"/>
          <p:cNvSpPr txBox="1">
            <a:spLocks noChangeArrowheads="1"/>
          </p:cNvSpPr>
          <p:nvPr/>
        </p:nvSpPr>
        <p:spPr bwMode="auto">
          <a:xfrm>
            <a:off x="381000" y="1924050"/>
            <a:ext cx="6172200" cy="1089529"/>
          </a:xfrm>
          <a:prstGeom prst="rect">
            <a:avLst/>
          </a:prstGeom>
          <a:noFill/>
          <a:ln w="9525">
            <a:noFill/>
            <a:miter lim="800000"/>
            <a:headEnd/>
            <a:tailEnd/>
          </a:ln>
        </p:spPr>
        <p:txBody>
          <a:bodyPr>
            <a:spAutoFit/>
          </a:bodyPr>
          <a:lstStyle/>
          <a:p>
            <a:pPr>
              <a:lnSpc>
                <a:spcPct val="180000"/>
              </a:lnSpc>
              <a:buClr>
                <a:srgbClr val="526666"/>
              </a:buClr>
              <a:buFontTx/>
              <a:buChar char="•"/>
            </a:pPr>
            <a:r>
              <a:rPr lang="en-US" sz="1200" b="1" dirty="0"/>
              <a:t> Framework Data Content </a:t>
            </a:r>
            <a:r>
              <a:rPr lang="en-US" sz="1200" b="1" dirty="0" smtClean="0"/>
              <a:t>Transportation: Transit Standard </a:t>
            </a:r>
            <a:r>
              <a:rPr lang="en-US" sz="1200" b="1" dirty="0"/>
              <a:t>Requirements</a:t>
            </a:r>
          </a:p>
          <a:p>
            <a:pPr>
              <a:lnSpc>
                <a:spcPct val="180000"/>
              </a:lnSpc>
              <a:buClr>
                <a:srgbClr val="526666"/>
              </a:buClr>
              <a:buFontTx/>
              <a:buChar char="•"/>
            </a:pPr>
            <a:r>
              <a:rPr lang="en-US" sz="1200" b="1" dirty="0"/>
              <a:t> Encoding and Implementing the Standard</a:t>
            </a:r>
          </a:p>
          <a:p>
            <a:pPr>
              <a:lnSpc>
                <a:spcPct val="180000"/>
              </a:lnSpc>
              <a:buClr>
                <a:srgbClr val="526666"/>
              </a:buClr>
              <a:buFontTx/>
              <a:buChar char="•"/>
            </a:pPr>
            <a:r>
              <a:rPr lang="en-US" sz="1200" b="1" dirty="0"/>
              <a:t> Module Summary</a:t>
            </a:r>
          </a:p>
        </p:txBody>
      </p:sp>
      <p:sp>
        <p:nvSpPr>
          <p:cNvPr id="24582" name="Text Box 6"/>
          <p:cNvSpPr txBox="1">
            <a:spLocks noChangeArrowheads="1"/>
          </p:cNvSpPr>
          <p:nvPr/>
        </p:nvSpPr>
        <p:spPr bwMode="auto">
          <a:xfrm>
            <a:off x="228600" y="4011613"/>
            <a:ext cx="3048000" cy="336550"/>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First Topic</a:t>
            </a:r>
          </a:p>
        </p:txBody>
      </p:sp>
      <p:sp>
        <p:nvSpPr>
          <p:cNvPr id="25606" name="Text Box 7"/>
          <p:cNvSpPr txBox="1">
            <a:spLocks noChangeArrowheads="1"/>
          </p:cNvSpPr>
          <p:nvPr/>
        </p:nvSpPr>
        <p:spPr bwMode="auto">
          <a:xfrm>
            <a:off x="441325" y="4351338"/>
            <a:ext cx="3178562" cy="276999"/>
          </a:xfrm>
          <a:prstGeom prst="rect">
            <a:avLst/>
          </a:prstGeom>
          <a:noFill/>
          <a:ln w="9525">
            <a:noFill/>
            <a:miter lim="800000"/>
            <a:headEnd/>
            <a:tailEnd/>
          </a:ln>
        </p:spPr>
        <p:txBody>
          <a:bodyPr wrap="none">
            <a:spAutoFit/>
          </a:bodyPr>
          <a:lstStyle/>
          <a:p>
            <a:pPr>
              <a:buClr>
                <a:srgbClr val="526666"/>
              </a:buClr>
            </a:pPr>
            <a:r>
              <a:rPr lang="en-US" sz="1200" b="1" dirty="0" smtClean="0"/>
              <a:t>Transportation: Transit Standard </a:t>
            </a:r>
            <a:r>
              <a:rPr lang="en-US" sz="1200" b="1" dirty="0"/>
              <a:t>Requirements</a:t>
            </a:r>
          </a:p>
        </p:txBody>
      </p:sp>
      <p:sp>
        <p:nvSpPr>
          <p:cNvPr id="7" name="Text Box 9"/>
          <p:cNvSpPr txBox="1">
            <a:spLocks noChangeArrowheads="1"/>
          </p:cNvSpPr>
          <p:nvPr/>
        </p:nvSpPr>
        <p:spPr bwMode="auto">
          <a:xfrm>
            <a:off x="7491413" y="1435100"/>
            <a:ext cx="1622425" cy="260350"/>
          </a:xfrm>
          <a:prstGeom prst="rect">
            <a:avLst/>
          </a:prstGeom>
          <a:noFill/>
          <a:ln w="9525">
            <a:noFill/>
            <a:miter lim="800000"/>
            <a:headEnd/>
            <a:tailEnd/>
          </a:ln>
          <a:effectLst/>
        </p:spPr>
        <p:txBody>
          <a:bodyPr>
            <a:spAutoFit/>
          </a:bodyPr>
          <a:lstStyle/>
          <a:p>
            <a:pPr algn="r">
              <a:defRPr/>
            </a:pPr>
            <a:r>
              <a:rPr lang="en-US" sz="1100" b="1" dirty="0">
                <a:solidFill>
                  <a:srgbClr val="33338C"/>
                </a:solidFill>
                <a:effectLst>
                  <a:outerShdw blurRad="38100" dist="38100" dir="2700000" algn="tl">
                    <a:srgbClr val="C0C0C0"/>
                  </a:outerShdw>
                </a:effectLst>
                <a:latin typeface="Arial Black" pitchFamily="34" charset="0"/>
              </a:rPr>
              <a:t>Time Requirement</a:t>
            </a:r>
          </a:p>
        </p:txBody>
      </p:sp>
      <p:sp>
        <p:nvSpPr>
          <p:cNvPr id="25608" name="Text Box 10"/>
          <p:cNvSpPr txBox="1">
            <a:spLocks noChangeArrowheads="1"/>
          </p:cNvSpPr>
          <p:nvPr/>
        </p:nvSpPr>
        <p:spPr bwMode="auto">
          <a:xfrm>
            <a:off x="6103938" y="1703388"/>
            <a:ext cx="2982912" cy="396875"/>
          </a:xfrm>
          <a:prstGeom prst="rect">
            <a:avLst/>
          </a:prstGeom>
          <a:noFill/>
          <a:ln w="9525">
            <a:noFill/>
            <a:miter lim="800000"/>
            <a:headEnd/>
            <a:tailEnd/>
          </a:ln>
        </p:spPr>
        <p:txBody>
          <a:bodyPr>
            <a:spAutoFit/>
          </a:bodyPr>
          <a:lstStyle/>
          <a:p>
            <a:pPr algn="r"/>
            <a:r>
              <a:rPr lang="en-US" sz="1000" b="1" dirty="0">
                <a:solidFill>
                  <a:srgbClr val="4D4D4D"/>
                </a:solidFill>
                <a:latin typeface="Arial Rounded MT Bold" pitchFamily="34" charset="0"/>
              </a:rPr>
              <a:t>Estimated time for this module is 60 minutes</a:t>
            </a:r>
          </a:p>
          <a:p>
            <a:endParaRPr lang="en-US" sz="1000" b="1" dirty="0">
              <a:solidFill>
                <a:srgbClr val="4D4D4D"/>
              </a:solidFill>
            </a:endParaRPr>
          </a:p>
        </p:txBody>
      </p:sp>
      <p:sp>
        <p:nvSpPr>
          <p:cNvPr id="9" name="Text Box 11"/>
          <p:cNvSpPr txBox="1">
            <a:spLocks noChangeArrowheads="1"/>
          </p:cNvSpPr>
          <p:nvPr/>
        </p:nvSpPr>
        <p:spPr bwMode="auto">
          <a:xfrm>
            <a:off x="7467600" y="2635250"/>
            <a:ext cx="1557338" cy="260350"/>
          </a:xfrm>
          <a:prstGeom prst="rect">
            <a:avLst/>
          </a:prstGeom>
          <a:noFill/>
          <a:ln w="9525">
            <a:noFill/>
            <a:miter lim="800000"/>
            <a:headEnd/>
            <a:tailEnd/>
          </a:ln>
          <a:effectLst/>
        </p:spPr>
        <p:txBody>
          <a:bodyPr>
            <a:spAutoFit/>
          </a:bodyPr>
          <a:lstStyle/>
          <a:p>
            <a:pPr algn="r">
              <a:defRPr/>
            </a:pPr>
            <a:r>
              <a:rPr lang="en-US" sz="1100" b="1" dirty="0">
                <a:solidFill>
                  <a:srgbClr val="33338C"/>
                </a:solidFill>
                <a:effectLst>
                  <a:outerShdw blurRad="38100" dist="38100" dir="2700000" algn="tl">
                    <a:srgbClr val="C0C0C0"/>
                  </a:outerShdw>
                </a:effectLst>
                <a:latin typeface="Arial Black" pitchFamily="34" charset="0"/>
              </a:rPr>
              <a:t>Key Terms</a:t>
            </a:r>
          </a:p>
        </p:txBody>
      </p:sp>
      <p:sp>
        <p:nvSpPr>
          <p:cNvPr id="10" name="Text Box 12"/>
          <p:cNvSpPr txBox="1">
            <a:spLocks noChangeArrowheads="1"/>
          </p:cNvSpPr>
          <p:nvPr/>
        </p:nvSpPr>
        <p:spPr bwMode="auto">
          <a:xfrm>
            <a:off x="7467600" y="2895600"/>
            <a:ext cx="1651414" cy="715132"/>
          </a:xfrm>
          <a:prstGeom prst="rect">
            <a:avLst/>
          </a:prstGeom>
          <a:solidFill>
            <a:schemeClr val="bg1">
              <a:lumMod val="85000"/>
            </a:schemeClr>
          </a:solidFill>
          <a:ln w="9525">
            <a:noFill/>
            <a:miter lim="800000"/>
            <a:headEnd/>
            <a:tailEnd/>
          </a:ln>
        </p:spPr>
        <p:txBody>
          <a:bodyPr wrap="none">
            <a:spAutoFit/>
          </a:bodyPr>
          <a:lstStyle/>
          <a:p>
            <a:pPr algn="r">
              <a:lnSpc>
                <a:spcPct val="140000"/>
              </a:lnSpc>
              <a:defRPr/>
            </a:pPr>
            <a:r>
              <a:rPr lang="en-US" sz="1000" b="1" dirty="0">
                <a:solidFill>
                  <a:srgbClr val="4D4D4D"/>
                </a:solidFill>
                <a:latin typeface="Bookman Old Style" pitchFamily="18" charset="0"/>
              </a:rPr>
              <a:t>UML</a:t>
            </a:r>
          </a:p>
          <a:p>
            <a:pPr algn="r">
              <a:lnSpc>
                <a:spcPct val="140000"/>
              </a:lnSpc>
              <a:defRPr/>
            </a:pPr>
            <a:r>
              <a:rPr lang="en-US" sz="1000" b="1" dirty="0">
                <a:solidFill>
                  <a:srgbClr val="4D4D4D"/>
                </a:solidFill>
                <a:latin typeface="Bookman Old Style" pitchFamily="18" charset="0"/>
              </a:rPr>
              <a:t>Coding Elements</a:t>
            </a:r>
          </a:p>
          <a:p>
            <a:pPr algn="r">
              <a:lnSpc>
                <a:spcPct val="140000"/>
              </a:lnSpc>
              <a:defRPr/>
            </a:pPr>
            <a:r>
              <a:rPr lang="en-US" sz="1000" b="1" dirty="0">
                <a:solidFill>
                  <a:srgbClr val="4D4D4D"/>
                </a:solidFill>
                <a:latin typeface="Bookman Old Style" pitchFamily="18" charset="0"/>
              </a:rPr>
              <a:t>Feature Relationships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ChangeArrowheads="1"/>
          </p:cNvSpPr>
          <p:nvPr/>
        </p:nvSpPr>
        <p:spPr bwMode="auto">
          <a:xfrm>
            <a:off x="2286000" y="2078038"/>
            <a:ext cx="4572000" cy="366712"/>
          </a:xfrm>
          <a:prstGeom prst="rect">
            <a:avLst/>
          </a:prstGeom>
          <a:noFill/>
          <a:ln w="9525">
            <a:noFill/>
            <a:miter lim="800000"/>
            <a:headEnd/>
            <a:tailEnd/>
          </a:ln>
        </p:spPr>
        <p:txBody>
          <a:bodyPr>
            <a:spAutoFit/>
          </a:bodyPr>
          <a:lstStyle/>
          <a:p>
            <a:pPr>
              <a:spcBef>
                <a:spcPct val="50000"/>
              </a:spcBef>
            </a:pPr>
            <a:endParaRPr lang="en-US" dirty="0"/>
          </a:p>
        </p:txBody>
      </p:sp>
      <p:sp>
        <p:nvSpPr>
          <p:cNvPr id="12291" name="Text Box 3"/>
          <p:cNvSpPr txBox="1">
            <a:spLocks noChangeArrowheads="1"/>
          </p:cNvSpPr>
          <p:nvPr/>
        </p:nvSpPr>
        <p:spPr bwMode="auto">
          <a:xfrm>
            <a:off x="228600" y="950913"/>
            <a:ext cx="7543800" cy="338554"/>
          </a:xfrm>
          <a:prstGeom prst="rect">
            <a:avLst/>
          </a:prstGeom>
          <a:noFill/>
          <a:ln w="9525">
            <a:noFill/>
            <a:miter lim="800000"/>
            <a:headEnd/>
            <a:tailEnd/>
          </a:ln>
          <a:effectLst/>
        </p:spPr>
        <p:txBody>
          <a:bodyPr wrap="square">
            <a:spAutoFit/>
          </a:bodyPr>
          <a:lstStyle/>
          <a:p>
            <a:pPr>
              <a:defRPr/>
            </a:pPr>
            <a:r>
              <a:rPr lang="en-US" sz="1600" b="1" u="sng" dirty="0">
                <a:effectLst>
                  <a:outerShdw blurRad="38100" dist="38100" dir="2700000" algn="tl">
                    <a:srgbClr val="C0C0C0"/>
                  </a:outerShdw>
                </a:effectLst>
                <a:latin typeface="Arial Black" pitchFamily="34" charset="0"/>
              </a:rPr>
              <a:t>Framework Data Standard </a:t>
            </a:r>
            <a:r>
              <a:rPr lang="en-US" sz="1600" b="1" u="sng" dirty="0" smtClean="0">
                <a:effectLst>
                  <a:outerShdw blurRad="38100" dist="38100" dir="2700000" algn="tl">
                    <a:srgbClr val="C0C0C0"/>
                  </a:outerShdw>
                </a:effectLst>
                <a:latin typeface="Arial Black" pitchFamily="34" charset="0"/>
              </a:rPr>
              <a:t>Transportation: Transit Requirements</a:t>
            </a:r>
            <a:endParaRPr lang="en-US" sz="1600" b="1" u="sng" dirty="0">
              <a:effectLst>
                <a:outerShdw blurRad="38100" dist="38100" dir="2700000" algn="tl">
                  <a:srgbClr val="C0C0C0"/>
                </a:outerShdw>
              </a:effectLst>
              <a:latin typeface="Arial Black" pitchFamily="34" charset="0"/>
            </a:endParaRPr>
          </a:p>
        </p:txBody>
      </p:sp>
      <p:sp>
        <p:nvSpPr>
          <p:cNvPr id="26628" name="Text Box 4"/>
          <p:cNvSpPr txBox="1">
            <a:spLocks noChangeArrowheads="1"/>
          </p:cNvSpPr>
          <p:nvPr/>
        </p:nvSpPr>
        <p:spPr bwMode="auto">
          <a:xfrm>
            <a:off x="304800" y="1828800"/>
            <a:ext cx="6248400" cy="3600986"/>
          </a:xfrm>
          <a:prstGeom prst="rect">
            <a:avLst/>
          </a:prstGeom>
          <a:noFill/>
          <a:ln w="9525">
            <a:noFill/>
            <a:miter lim="800000"/>
            <a:headEnd/>
            <a:tailEnd/>
          </a:ln>
        </p:spPr>
        <p:txBody>
          <a:bodyPr wrap="square">
            <a:spAutoFit/>
          </a:bodyPr>
          <a:lstStyle/>
          <a:p>
            <a:pPr>
              <a:buClr>
                <a:srgbClr val="526666"/>
              </a:buClr>
            </a:pPr>
            <a:r>
              <a:rPr lang="en-US" sz="1200" b="1" dirty="0"/>
              <a:t>In this module you will learn about the </a:t>
            </a:r>
            <a:r>
              <a:rPr lang="en-US" sz="1200" b="1" dirty="0" smtClean="0"/>
              <a:t>three main requirements for </a:t>
            </a:r>
            <a:r>
              <a:rPr lang="en-US" sz="1200" b="1" dirty="0"/>
              <a:t>Framework </a:t>
            </a:r>
            <a:r>
              <a:rPr lang="en-US" sz="1200" b="1" dirty="0" smtClean="0"/>
              <a:t>Transportation: Transit data</a:t>
            </a:r>
            <a:r>
              <a:rPr lang="en-US" sz="1200" b="1" dirty="0"/>
              <a:t>, as specified in the standard.  Each requirement is addressed as a separate topic, however more attention may be given to certain requirements as they are the most crucial requirements for creating Framework quality </a:t>
            </a:r>
            <a:r>
              <a:rPr lang="en-US" sz="1200" b="1" dirty="0" smtClean="0"/>
              <a:t>Transportation: Transit data.  The three main requirements are:</a:t>
            </a:r>
          </a:p>
          <a:p>
            <a:pPr>
              <a:buClr>
                <a:srgbClr val="526666"/>
              </a:buClr>
            </a:pPr>
            <a:endParaRPr lang="en-US" sz="1200" b="1" dirty="0"/>
          </a:p>
          <a:p>
            <a:pPr marL="228600" indent="-228600">
              <a:buClr>
                <a:srgbClr val="526666"/>
              </a:buClr>
              <a:buFont typeface="+mj-lt"/>
              <a:buAutoNum type="arabicPeriod"/>
            </a:pPr>
            <a:r>
              <a:rPr lang="en-US" sz="1200" b="1" dirty="0" smtClean="0"/>
              <a:t>Application Schema</a:t>
            </a:r>
          </a:p>
          <a:p>
            <a:pPr marL="228600" indent="-228600">
              <a:buClr>
                <a:srgbClr val="526666"/>
              </a:buClr>
              <a:buFont typeface="+mj-lt"/>
              <a:buAutoNum type="arabicPeriod"/>
            </a:pPr>
            <a:endParaRPr lang="en-US" sz="1200" b="1" dirty="0"/>
          </a:p>
          <a:p>
            <a:pPr marL="228600" indent="-228600">
              <a:buClr>
                <a:srgbClr val="526666"/>
              </a:buClr>
              <a:buFont typeface="+mj-lt"/>
              <a:buAutoNum type="arabicPeriod"/>
            </a:pPr>
            <a:r>
              <a:rPr lang="en-US" sz="1200" b="1" dirty="0" smtClean="0"/>
              <a:t>Data Dictionary</a:t>
            </a:r>
          </a:p>
          <a:p>
            <a:pPr marL="228600" indent="-228600">
              <a:buClr>
                <a:srgbClr val="526666"/>
              </a:buClr>
              <a:buFont typeface="+mj-lt"/>
              <a:buAutoNum type="arabicPeriod"/>
            </a:pPr>
            <a:endParaRPr lang="en-US" sz="1200" b="1" dirty="0"/>
          </a:p>
          <a:p>
            <a:pPr marL="228600" indent="-228600">
              <a:buClr>
                <a:srgbClr val="526666"/>
              </a:buClr>
              <a:buFont typeface="+mj-lt"/>
              <a:buAutoNum type="arabicPeriod"/>
            </a:pPr>
            <a:r>
              <a:rPr lang="en-US" sz="1200" b="1" dirty="0" smtClean="0"/>
              <a:t>Code List  </a:t>
            </a:r>
          </a:p>
          <a:p>
            <a:pPr marL="228600" indent="-228600">
              <a:buClr>
                <a:srgbClr val="526666"/>
              </a:buClr>
              <a:buFont typeface="+mj-lt"/>
              <a:buAutoNum type="arabicPeriod"/>
            </a:pPr>
            <a:endParaRPr lang="en-US" sz="1200" b="1" dirty="0"/>
          </a:p>
          <a:p>
            <a:pPr marL="228600" indent="-228600">
              <a:buClr>
                <a:srgbClr val="526666"/>
              </a:buClr>
            </a:pPr>
            <a:r>
              <a:rPr lang="en-US" sz="1200" b="1" dirty="0" smtClean="0"/>
              <a:t>These materials assume a basic understanding of UML diagrams and flow charts, if you need more information about these topics please visit </a:t>
            </a:r>
            <a:r>
              <a:rPr lang="en-US" sz="1200" b="1" dirty="0" smtClean="0">
                <a:hlinkClick r:id="rId2"/>
              </a:rPr>
              <a:t>http://www.uml.org</a:t>
            </a:r>
            <a:endParaRPr lang="en-US" sz="1200" b="1" dirty="0" smtClean="0"/>
          </a:p>
          <a:p>
            <a:pPr marL="228600" indent="-228600">
              <a:buClr>
                <a:srgbClr val="526666"/>
              </a:buClr>
            </a:pPr>
            <a:endParaRPr lang="en-US" sz="1200" b="1" dirty="0"/>
          </a:p>
          <a:p>
            <a:pPr>
              <a:buClr>
                <a:srgbClr val="526666"/>
              </a:buClr>
            </a:pPr>
            <a:endParaRPr lang="en-US" sz="1200" b="1" dirty="0"/>
          </a:p>
          <a:p>
            <a:pPr>
              <a:buClr>
                <a:srgbClr val="526666"/>
              </a:buClr>
            </a:pPr>
            <a:endParaRPr lang="en-US" sz="1200" b="1" dirty="0"/>
          </a:p>
          <a:p>
            <a:pPr>
              <a:buClr>
                <a:srgbClr val="526666"/>
              </a:buClr>
            </a:pPr>
            <a:endParaRPr lang="en-US" sz="1200" b="1" dirty="0"/>
          </a:p>
          <a:p>
            <a:pPr>
              <a:buClr>
                <a:srgbClr val="526666"/>
              </a:buClr>
            </a:pPr>
            <a:endParaRPr lang="en-US" sz="1200" b="1" dirty="0"/>
          </a:p>
        </p:txBody>
      </p:sp>
      <p:sp>
        <p:nvSpPr>
          <p:cNvPr id="6" name="Text Box 4"/>
          <p:cNvSpPr txBox="1">
            <a:spLocks noChangeArrowheads="1"/>
          </p:cNvSpPr>
          <p:nvPr/>
        </p:nvSpPr>
        <p:spPr bwMode="auto">
          <a:xfrm>
            <a:off x="304800" y="4876800"/>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7" name="Text Box 5"/>
          <p:cNvSpPr txBox="1">
            <a:spLocks noChangeArrowheads="1"/>
          </p:cNvSpPr>
          <p:nvPr/>
        </p:nvSpPr>
        <p:spPr bwMode="auto">
          <a:xfrm>
            <a:off x="533400" y="5257800"/>
            <a:ext cx="3267048" cy="276999"/>
          </a:xfrm>
          <a:prstGeom prst="rect">
            <a:avLst/>
          </a:prstGeom>
          <a:noFill/>
          <a:ln w="9525">
            <a:noFill/>
            <a:miter lim="800000"/>
            <a:headEnd/>
            <a:tailEnd/>
          </a:ln>
        </p:spPr>
        <p:txBody>
          <a:bodyPr wrap="none">
            <a:spAutoFit/>
          </a:bodyPr>
          <a:lstStyle/>
          <a:p>
            <a:pPr>
              <a:defRPr/>
            </a:pPr>
            <a:r>
              <a:rPr lang="en-US" sz="1200" b="1" dirty="0" smtClean="0">
                <a:effectLst>
                  <a:outerShdw blurRad="38100" dist="38100" dir="2700000" algn="tl">
                    <a:srgbClr val="C0C0C0"/>
                  </a:outerShdw>
                </a:effectLst>
                <a:latin typeface="+mn-lt"/>
              </a:rPr>
              <a:t>Transportation: Transit Requirements </a:t>
            </a:r>
            <a:r>
              <a:rPr lang="en-US" sz="1200" b="1" dirty="0">
                <a:effectLst>
                  <a:outerShdw blurRad="38100" dist="38100" dir="2700000" algn="tl">
                    <a:srgbClr val="C0C0C0"/>
                  </a:outerShdw>
                </a:effectLst>
                <a:latin typeface="+mn-lt"/>
              </a:rPr>
              <a:t>Continued</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3"/>
          <p:cNvSpPr txBox="1">
            <a:spLocks noChangeArrowheads="1"/>
          </p:cNvSpPr>
          <p:nvPr/>
        </p:nvSpPr>
        <p:spPr bwMode="auto">
          <a:xfrm>
            <a:off x="228600" y="950913"/>
            <a:ext cx="8534400" cy="338554"/>
          </a:xfrm>
          <a:prstGeom prst="rect">
            <a:avLst/>
          </a:prstGeom>
          <a:noFill/>
          <a:ln w="9525">
            <a:noFill/>
            <a:miter lim="800000"/>
            <a:headEnd/>
            <a:tailEnd/>
          </a:ln>
          <a:effectLst/>
        </p:spPr>
        <p:txBody>
          <a:bodyPr wrap="square">
            <a:spAutoFit/>
          </a:bodyPr>
          <a:lstStyle/>
          <a:p>
            <a:pPr>
              <a:defRPr/>
            </a:pPr>
            <a:r>
              <a:rPr lang="en-US" sz="1600" b="1" u="sng" dirty="0">
                <a:effectLst>
                  <a:outerShdw blurRad="38100" dist="38100" dir="2700000" algn="tl">
                    <a:srgbClr val="C0C0C0"/>
                  </a:outerShdw>
                </a:effectLst>
                <a:latin typeface="Arial Black" pitchFamily="34" charset="0"/>
              </a:rPr>
              <a:t>Framework Data Standard </a:t>
            </a:r>
            <a:r>
              <a:rPr lang="en-US" sz="1600" b="1" u="sng" dirty="0" smtClean="0">
                <a:effectLst>
                  <a:outerShdw blurRad="38100" dist="38100" dir="2700000" algn="tl">
                    <a:srgbClr val="C0C0C0"/>
                  </a:outerShdw>
                </a:effectLst>
                <a:latin typeface="Arial Black" pitchFamily="34" charset="0"/>
              </a:rPr>
              <a:t>Transportation: Transit </a:t>
            </a:r>
            <a:r>
              <a:rPr lang="en-US" sz="1600" b="1" u="sng" dirty="0">
                <a:effectLst>
                  <a:outerShdw blurRad="38100" dist="38100" dir="2700000" algn="tl">
                    <a:srgbClr val="C0C0C0"/>
                  </a:outerShdw>
                </a:effectLst>
                <a:latin typeface="Arial Black" pitchFamily="34" charset="0"/>
              </a:rPr>
              <a:t>Requirements</a:t>
            </a:r>
          </a:p>
        </p:txBody>
      </p:sp>
      <p:sp>
        <p:nvSpPr>
          <p:cNvPr id="3" name="Text Box 4"/>
          <p:cNvSpPr txBox="1">
            <a:spLocks noChangeArrowheads="1"/>
          </p:cNvSpPr>
          <p:nvPr/>
        </p:nvSpPr>
        <p:spPr bwMode="auto">
          <a:xfrm>
            <a:off x="304800" y="5486400"/>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4" name="Text Box 5"/>
          <p:cNvSpPr txBox="1">
            <a:spLocks noChangeArrowheads="1"/>
          </p:cNvSpPr>
          <p:nvPr/>
        </p:nvSpPr>
        <p:spPr bwMode="auto">
          <a:xfrm>
            <a:off x="533400" y="5867400"/>
            <a:ext cx="3302314" cy="276999"/>
          </a:xfrm>
          <a:prstGeom prst="rect">
            <a:avLst/>
          </a:prstGeom>
          <a:noFill/>
          <a:ln w="9525">
            <a:noFill/>
            <a:miter lim="800000"/>
            <a:headEnd/>
            <a:tailEnd/>
          </a:ln>
        </p:spPr>
        <p:txBody>
          <a:bodyPr wrap="none">
            <a:spAutoFit/>
          </a:bodyPr>
          <a:lstStyle/>
          <a:p>
            <a:pPr>
              <a:defRPr/>
            </a:pPr>
            <a:r>
              <a:rPr lang="en-US" sz="1200" b="1" dirty="0" smtClean="0">
                <a:effectLst>
                  <a:outerShdw blurRad="38100" dist="38100" dir="2700000" algn="tl">
                    <a:srgbClr val="C0C0C0"/>
                  </a:outerShdw>
                </a:effectLst>
                <a:latin typeface="+mn-lt"/>
              </a:rPr>
              <a:t>Transportation: Transit  </a:t>
            </a:r>
            <a:r>
              <a:rPr lang="en-US" sz="1200" b="1" dirty="0">
                <a:effectLst>
                  <a:outerShdw blurRad="38100" dist="38100" dir="2700000" algn="tl">
                    <a:srgbClr val="C0C0C0"/>
                  </a:outerShdw>
                </a:effectLst>
                <a:latin typeface="+mn-lt"/>
              </a:rPr>
              <a:t>Requirements Continued</a:t>
            </a:r>
          </a:p>
        </p:txBody>
      </p:sp>
      <p:sp>
        <p:nvSpPr>
          <p:cNvPr id="27654" name="Text Box 4"/>
          <p:cNvSpPr txBox="1">
            <a:spLocks noChangeArrowheads="1"/>
          </p:cNvSpPr>
          <p:nvPr/>
        </p:nvSpPr>
        <p:spPr bwMode="auto">
          <a:xfrm>
            <a:off x="304800" y="1524000"/>
            <a:ext cx="2286000" cy="3785652"/>
          </a:xfrm>
          <a:prstGeom prst="rect">
            <a:avLst/>
          </a:prstGeom>
          <a:noFill/>
          <a:ln w="9525">
            <a:noFill/>
            <a:miter lim="800000"/>
            <a:headEnd/>
            <a:tailEnd/>
          </a:ln>
        </p:spPr>
        <p:txBody>
          <a:bodyPr wrap="square">
            <a:spAutoFit/>
          </a:bodyPr>
          <a:lstStyle/>
          <a:p>
            <a:pPr>
              <a:buClr>
                <a:srgbClr val="526666"/>
              </a:buClr>
            </a:pPr>
            <a:r>
              <a:rPr lang="en-US" sz="1200" b="1" dirty="0"/>
              <a:t>The diagram to the right is the UML flow chart for the Framework </a:t>
            </a:r>
            <a:r>
              <a:rPr lang="en-US" sz="1200" b="1" dirty="0" smtClean="0"/>
              <a:t>Transportation: Transit </a:t>
            </a:r>
            <a:r>
              <a:rPr lang="en-US" sz="1200" b="1" dirty="0"/>
              <a:t>Standard.  This diagram shows the components and relationships that comprise the Framework </a:t>
            </a:r>
            <a:r>
              <a:rPr lang="en-US" sz="1200" b="1" dirty="0" smtClean="0"/>
              <a:t>Transportation: Transit </a:t>
            </a:r>
            <a:r>
              <a:rPr lang="en-US" sz="1200" b="1" dirty="0"/>
              <a:t>Standard.  UML is designed to show these relationships in a generic manner without specifying a coding language or specific software needed to complete the task.  For more information about UML </a:t>
            </a:r>
            <a:r>
              <a:rPr lang="en-US" sz="1200" b="1" dirty="0" smtClean="0"/>
              <a:t>visit: </a:t>
            </a:r>
            <a:r>
              <a:rPr lang="en-US" sz="1200" b="1" dirty="0" smtClean="0">
                <a:hlinkClick r:id="rId2"/>
              </a:rPr>
              <a:t>http</a:t>
            </a:r>
            <a:r>
              <a:rPr lang="en-US" sz="1200" b="1" dirty="0">
                <a:hlinkClick r:id="rId2"/>
              </a:rPr>
              <a:t>://www.uml.org</a:t>
            </a:r>
            <a:endParaRPr lang="en-US" sz="1200" b="1" dirty="0"/>
          </a:p>
          <a:p>
            <a:pPr>
              <a:buClr>
                <a:srgbClr val="526666"/>
              </a:buClr>
            </a:pPr>
            <a:endParaRPr lang="en-US" sz="1200" b="1" dirty="0"/>
          </a:p>
          <a:p>
            <a:pPr>
              <a:buClr>
                <a:srgbClr val="526666"/>
              </a:buClr>
            </a:pPr>
            <a:endParaRPr lang="en-US" sz="1200" b="1" dirty="0"/>
          </a:p>
          <a:p>
            <a:pPr>
              <a:buClr>
                <a:srgbClr val="526666"/>
              </a:buClr>
            </a:pPr>
            <a:endParaRPr lang="en-US" sz="1200" b="1" dirty="0"/>
          </a:p>
          <a:p>
            <a:pPr>
              <a:buClr>
                <a:srgbClr val="526666"/>
              </a:buClr>
            </a:pPr>
            <a:endParaRPr lang="en-US" sz="1200" b="1" dirty="0"/>
          </a:p>
        </p:txBody>
      </p:sp>
      <p:pic>
        <p:nvPicPr>
          <p:cNvPr id="5" name="Picture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2514600" y="1296125"/>
            <a:ext cx="6324600" cy="4412512"/>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48" name="Rectangle 188"/>
          <p:cNvSpPr>
            <a:spLocks noChangeArrowheads="1"/>
          </p:cNvSpPr>
          <p:nvPr/>
        </p:nvSpPr>
        <p:spPr bwMode="auto">
          <a:xfrm>
            <a:off x="457200" y="1609158"/>
            <a:ext cx="5295530" cy="3877985"/>
          </a:xfrm>
          <a:prstGeom prst="rect">
            <a:avLst/>
          </a:prstGeom>
          <a:noFill/>
          <a:ln w="9525">
            <a:noFill/>
            <a:miter lim="800000"/>
            <a:headEnd/>
            <a:tailEnd/>
          </a:ln>
        </p:spPr>
        <p:txBody>
          <a:bodyPr wrap="square">
            <a:spAutoFit/>
          </a:bodyPr>
          <a:lstStyle/>
          <a:p>
            <a:pPr>
              <a:spcBef>
                <a:spcPct val="50000"/>
              </a:spcBef>
              <a:spcAft>
                <a:spcPts val="600"/>
              </a:spcAft>
              <a:defRPr/>
            </a:pPr>
            <a:r>
              <a:rPr lang="en-US" sz="800" b="1" dirty="0"/>
              <a:t>The following </a:t>
            </a:r>
            <a:r>
              <a:rPr lang="en-US" sz="800" b="1" dirty="0" smtClean="0"/>
              <a:t>is </a:t>
            </a:r>
            <a:r>
              <a:rPr lang="en-US" sz="800" b="1" dirty="0"/>
              <a:t>a </a:t>
            </a:r>
            <a:r>
              <a:rPr lang="en-US" sz="800" b="1" dirty="0" smtClean="0"/>
              <a:t>list </a:t>
            </a:r>
            <a:r>
              <a:rPr lang="en-US" sz="800" b="1" dirty="0"/>
              <a:t>of </a:t>
            </a:r>
            <a:r>
              <a:rPr lang="en-US" sz="800" b="1" dirty="0" smtClean="0"/>
              <a:t>the main components to the Transportation: Transit Standard Application Schema:</a:t>
            </a:r>
          </a:p>
          <a:p>
            <a:pPr>
              <a:spcBef>
                <a:spcPct val="50000"/>
              </a:spcBef>
              <a:spcAft>
                <a:spcPts val="600"/>
              </a:spcAft>
              <a:defRPr/>
            </a:pPr>
            <a:r>
              <a:rPr lang="en-US" sz="800" b="1" dirty="0" smtClean="0"/>
              <a:t>TransitFeature</a:t>
            </a:r>
            <a:r>
              <a:rPr lang="en-US" sz="800" dirty="0"/>
              <a:t> - TransitFeatures are objects that represent real world public transport </a:t>
            </a:r>
            <a:r>
              <a:rPr lang="en-US" sz="800" dirty="0" smtClean="0"/>
              <a:t>phenomena.TransitFeature </a:t>
            </a:r>
            <a:r>
              <a:rPr lang="en-US" sz="800" dirty="0"/>
              <a:t>is shown in Figure 2 and is a subtype of TranFeature. TimePoint, </a:t>
            </a:r>
            <a:r>
              <a:rPr lang="en-US" sz="800" dirty="0" smtClean="0"/>
              <a:t>Facility, </a:t>
            </a:r>
            <a:r>
              <a:rPr lang="en-US" sz="800" dirty="0"/>
              <a:t>Amenity, and TransitStop are all subtypes of TransitFeature.</a:t>
            </a:r>
          </a:p>
          <a:p>
            <a:pPr>
              <a:spcBef>
                <a:spcPct val="50000"/>
              </a:spcBef>
              <a:spcAft>
                <a:spcPts val="600"/>
              </a:spcAft>
              <a:defRPr/>
            </a:pPr>
            <a:r>
              <a:rPr lang="en-US" sz="800" b="1" dirty="0" smtClean="0"/>
              <a:t>TransitStop - </a:t>
            </a:r>
            <a:r>
              <a:rPr lang="en-US" sz="800" dirty="0"/>
              <a:t>TransitStop is a Facility and may optionally be represented by its geometry.</a:t>
            </a:r>
            <a:endParaRPr lang="en-US" sz="800" b="1" dirty="0" smtClean="0"/>
          </a:p>
          <a:p>
            <a:pPr>
              <a:spcBef>
                <a:spcPct val="50000"/>
              </a:spcBef>
              <a:spcAft>
                <a:spcPts val="600"/>
              </a:spcAft>
              <a:defRPr/>
            </a:pPr>
            <a:r>
              <a:rPr lang="en-US" sz="800" b="1" dirty="0" smtClean="0"/>
              <a:t>ConnectionSeg - </a:t>
            </a:r>
            <a:r>
              <a:rPr lang="en-US" sz="800" dirty="0"/>
              <a:t>A ConnectionSeg is a linear path allowing transit riders to move from one TransitStop to another</a:t>
            </a:r>
            <a:endParaRPr lang="en-US" sz="800" b="1" dirty="0" smtClean="0"/>
          </a:p>
          <a:p>
            <a:r>
              <a:rPr lang="en-US" sz="800" b="1" dirty="0" smtClean="0"/>
              <a:t>TransitPath - </a:t>
            </a:r>
            <a:r>
              <a:rPr lang="en-US" sz="800" dirty="0"/>
              <a:t>TransitPath is a linear section of the transit network, which is designed for the movement </a:t>
            </a:r>
            <a:r>
              <a:rPr lang="en-US" sz="800" dirty="0" smtClean="0"/>
              <a:t>of  </a:t>
            </a:r>
            <a:r>
              <a:rPr lang="en-US" sz="800" dirty="0"/>
              <a:t>PTVehicles</a:t>
            </a:r>
            <a:endParaRPr lang="en-US" sz="800" b="1" dirty="0" smtClean="0"/>
          </a:p>
          <a:p>
            <a:pPr>
              <a:spcBef>
                <a:spcPct val="50000"/>
              </a:spcBef>
              <a:spcAft>
                <a:spcPts val="600"/>
              </a:spcAft>
              <a:defRPr/>
            </a:pPr>
            <a:r>
              <a:rPr lang="en-US" sz="800" b="1" dirty="0" smtClean="0"/>
              <a:t>TimePoint - </a:t>
            </a:r>
            <a:r>
              <a:rPr lang="en-US" sz="800" dirty="0"/>
              <a:t>TimePoint is a location where trips are assigned arrival, dwell, or departure time </a:t>
            </a:r>
            <a:r>
              <a:rPr lang="en-US" sz="800" dirty="0" smtClean="0"/>
              <a:t>periods</a:t>
            </a:r>
            <a:endParaRPr lang="en-US" sz="800" b="1" dirty="0" smtClean="0"/>
          </a:p>
          <a:p>
            <a:r>
              <a:rPr lang="en-US" sz="800" b="1" dirty="0" smtClean="0"/>
              <a:t>Pattern - </a:t>
            </a:r>
            <a:r>
              <a:rPr lang="en-US" sz="800" dirty="0"/>
              <a:t>as an ordered sequence of TransitStops or </a:t>
            </a:r>
            <a:r>
              <a:rPr lang="en-US" sz="800" dirty="0" smtClean="0"/>
              <a:t>TransitPaths that </a:t>
            </a:r>
            <a:r>
              <a:rPr lang="en-US" sz="800" dirty="0"/>
              <a:t>is followed by a transit vehicle in scheduled service</a:t>
            </a:r>
            <a:endParaRPr lang="en-US" sz="800" b="1" dirty="0" smtClean="0"/>
          </a:p>
          <a:p>
            <a:pPr>
              <a:spcBef>
                <a:spcPct val="50000"/>
              </a:spcBef>
              <a:spcAft>
                <a:spcPts val="600"/>
              </a:spcAft>
              <a:defRPr/>
            </a:pPr>
            <a:r>
              <a:rPr lang="en-US" sz="800" b="1" dirty="0" smtClean="0"/>
              <a:t>TransitRoute - </a:t>
            </a:r>
            <a:r>
              <a:rPr lang="en-US" sz="800" dirty="0"/>
              <a:t>TransitRoute is a collection of patterns in revenue service with a common identifier</a:t>
            </a:r>
            <a:endParaRPr lang="en-US" sz="800" b="1" dirty="0" smtClean="0"/>
          </a:p>
          <a:p>
            <a:r>
              <a:rPr lang="en-US" sz="800" b="1" dirty="0" smtClean="0"/>
              <a:t>Block - </a:t>
            </a:r>
            <a:r>
              <a:rPr lang="en-US" sz="800" dirty="0"/>
              <a:t>Block is a sequence of trips over which a PTVehicle is assigned from pull out time to pull </a:t>
            </a:r>
            <a:r>
              <a:rPr lang="en-US" sz="800" dirty="0" smtClean="0"/>
              <a:t>in </a:t>
            </a:r>
            <a:r>
              <a:rPr lang="en-US" sz="800" dirty="0"/>
              <a:t>time</a:t>
            </a:r>
            <a:endParaRPr lang="en-US" sz="800" b="1" dirty="0" smtClean="0"/>
          </a:p>
          <a:p>
            <a:r>
              <a:rPr lang="en-US" sz="800" b="1" dirty="0" smtClean="0"/>
              <a:t>PTVVehicle - </a:t>
            </a:r>
            <a:r>
              <a:rPr lang="en-US" sz="800" dirty="0"/>
              <a:t>PTVehicle is the data type that contains the public transportation vehicle, and PTVehicle refers </a:t>
            </a:r>
            <a:r>
              <a:rPr lang="en-US" sz="800" dirty="0" smtClean="0"/>
              <a:t>to any </a:t>
            </a:r>
            <a:r>
              <a:rPr lang="en-US" sz="800" dirty="0"/>
              <a:t>public transit </a:t>
            </a:r>
            <a:r>
              <a:rPr lang="en-US" sz="800" dirty="0" smtClean="0"/>
              <a:t>conveyance</a:t>
            </a:r>
          </a:p>
          <a:p>
            <a:endParaRPr lang="en-US" sz="800" b="1" dirty="0"/>
          </a:p>
          <a:p>
            <a:r>
              <a:rPr lang="en-US" sz="800" b="1" dirty="0" smtClean="0"/>
              <a:t>TransferCluster</a:t>
            </a:r>
            <a:r>
              <a:rPr lang="en-US" sz="800" dirty="0" smtClean="0"/>
              <a:t> - </a:t>
            </a:r>
            <a:r>
              <a:rPr lang="en-US" sz="800" dirty="0"/>
              <a:t>TransferCluster is closely related to TransitStop since it is a collection of TransitStops </a:t>
            </a:r>
            <a:r>
              <a:rPr lang="en-US" sz="800" dirty="0" smtClean="0"/>
              <a:t>where </a:t>
            </a:r>
            <a:r>
              <a:rPr lang="en-US" sz="800" dirty="0"/>
              <a:t>transit passengers can change routes</a:t>
            </a:r>
            <a:endParaRPr lang="en-US" sz="800" b="1" dirty="0" smtClean="0"/>
          </a:p>
          <a:p>
            <a:pPr>
              <a:spcBef>
                <a:spcPct val="50000"/>
              </a:spcBef>
              <a:spcAft>
                <a:spcPts val="600"/>
              </a:spcAft>
              <a:defRPr/>
            </a:pPr>
            <a:r>
              <a:rPr lang="en-US" sz="800" b="1" dirty="0" smtClean="0"/>
              <a:t>Landmark - </a:t>
            </a:r>
            <a:r>
              <a:rPr lang="en-US" sz="800" dirty="0"/>
              <a:t>Landmark is a point of interest</a:t>
            </a:r>
            <a:endParaRPr lang="en-US" sz="800" b="1" dirty="0" smtClean="0"/>
          </a:p>
          <a:p>
            <a:pPr>
              <a:spcBef>
                <a:spcPct val="50000"/>
              </a:spcBef>
              <a:spcAft>
                <a:spcPts val="600"/>
              </a:spcAft>
              <a:defRPr/>
            </a:pPr>
            <a:r>
              <a:rPr lang="en-US" sz="800" b="1" dirty="0"/>
              <a:t>Facility - </a:t>
            </a:r>
            <a:r>
              <a:rPr lang="en-US" sz="800" dirty="0"/>
              <a:t>Facility is a physical place that is used by a transit agency</a:t>
            </a:r>
            <a:endParaRPr lang="en-US" sz="800" dirty="0" smtClean="0"/>
          </a:p>
          <a:p>
            <a:pPr>
              <a:spcBef>
                <a:spcPct val="50000"/>
              </a:spcBef>
              <a:spcAft>
                <a:spcPts val="600"/>
              </a:spcAft>
              <a:defRPr/>
            </a:pPr>
            <a:r>
              <a:rPr lang="en-US" sz="800" b="1" dirty="0" smtClean="0"/>
              <a:t>Amenity - </a:t>
            </a:r>
            <a:r>
              <a:rPr lang="en-US" sz="800" dirty="0"/>
              <a:t>Amenity refers to the elements of a physical feature, a fixed location, or a transit facility</a:t>
            </a:r>
            <a:endParaRPr lang="en-US" sz="800" b="1" dirty="0" smtClean="0"/>
          </a:p>
          <a:p>
            <a:pPr>
              <a:spcBef>
                <a:spcPct val="50000"/>
              </a:spcBef>
              <a:spcAft>
                <a:spcPts val="600"/>
              </a:spcAft>
              <a:defRPr/>
            </a:pPr>
            <a:r>
              <a:rPr lang="en-US" sz="800" b="1" dirty="0"/>
              <a:t>Fare - </a:t>
            </a:r>
            <a:r>
              <a:rPr lang="en-US" sz="800" dirty="0"/>
              <a:t>Fare is a data type that describes the cost for riding a transit vehicle.</a:t>
            </a:r>
          </a:p>
          <a:p>
            <a:r>
              <a:rPr lang="en-US" sz="800" b="1" dirty="0" smtClean="0"/>
              <a:t>Trip - </a:t>
            </a:r>
            <a:r>
              <a:rPr lang="en-US" sz="800" dirty="0"/>
              <a:t>Trip is a one-way scheduled movement of a transit vehicle between starting and </a:t>
            </a:r>
            <a:r>
              <a:rPr lang="en-US" sz="800" dirty="0" smtClean="0"/>
              <a:t>ending  </a:t>
            </a:r>
            <a:r>
              <a:rPr lang="en-US" sz="800" dirty="0"/>
              <a:t>TimePoints</a:t>
            </a:r>
            <a:endParaRPr lang="en-US" sz="800" b="1" dirty="0" smtClean="0"/>
          </a:p>
        </p:txBody>
      </p:sp>
      <p:sp>
        <p:nvSpPr>
          <p:cNvPr id="4" name="Text Box 4"/>
          <p:cNvSpPr txBox="1">
            <a:spLocks noChangeArrowheads="1"/>
          </p:cNvSpPr>
          <p:nvPr/>
        </p:nvSpPr>
        <p:spPr bwMode="auto">
          <a:xfrm>
            <a:off x="304800" y="5715000"/>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5" name="Text Box 3"/>
          <p:cNvSpPr txBox="1">
            <a:spLocks noChangeArrowheads="1"/>
          </p:cNvSpPr>
          <p:nvPr/>
        </p:nvSpPr>
        <p:spPr bwMode="auto">
          <a:xfrm>
            <a:off x="228600" y="950913"/>
            <a:ext cx="8534400" cy="584775"/>
          </a:xfrm>
          <a:prstGeom prst="rect">
            <a:avLst/>
          </a:prstGeom>
          <a:noFill/>
          <a:ln w="9525">
            <a:noFill/>
            <a:miter lim="800000"/>
            <a:headEnd/>
            <a:tailEnd/>
          </a:ln>
          <a:effectLst/>
        </p:spPr>
        <p:txBody>
          <a:bodyPr wrap="square">
            <a:spAutoFit/>
          </a:bodyPr>
          <a:lstStyle/>
          <a:p>
            <a:pPr>
              <a:defRPr/>
            </a:pPr>
            <a:r>
              <a:rPr lang="en-US" sz="1600" b="1" u="sng" dirty="0">
                <a:effectLst>
                  <a:outerShdw blurRad="38100" dist="38100" dir="2700000" algn="tl">
                    <a:srgbClr val="C0C0C0"/>
                  </a:outerShdw>
                </a:effectLst>
                <a:latin typeface="Arial Black" pitchFamily="34" charset="0"/>
              </a:rPr>
              <a:t>Framework Data Standard </a:t>
            </a:r>
            <a:r>
              <a:rPr lang="en-US" sz="1600" b="1" u="sng" dirty="0" smtClean="0">
                <a:effectLst>
                  <a:outerShdw blurRad="38100" dist="38100" dir="2700000" algn="tl">
                    <a:srgbClr val="C0C0C0"/>
                  </a:outerShdw>
                </a:effectLst>
                <a:latin typeface="Arial Black" pitchFamily="34" charset="0"/>
              </a:rPr>
              <a:t>Transportation: Transit Requirements: Application Schema</a:t>
            </a:r>
            <a:endParaRPr lang="en-US" sz="1600" b="1" u="sng" dirty="0">
              <a:effectLst>
                <a:outerShdw blurRad="38100" dist="38100" dir="2700000" algn="tl">
                  <a:srgbClr val="C0C0C0"/>
                </a:outerShdw>
              </a:effectLst>
              <a:latin typeface="Arial Black" pitchFamily="34" charset="0"/>
            </a:endParaRPr>
          </a:p>
        </p:txBody>
      </p:sp>
      <p:sp>
        <p:nvSpPr>
          <p:cNvPr id="6" name="Text Box 5"/>
          <p:cNvSpPr txBox="1">
            <a:spLocks noChangeArrowheads="1"/>
          </p:cNvSpPr>
          <p:nvPr/>
        </p:nvSpPr>
        <p:spPr bwMode="auto">
          <a:xfrm>
            <a:off x="488950" y="6096000"/>
            <a:ext cx="3302314" cy="276999"/>
          </a:xfrm>
          <a:prstGeom prst="rect">
            <a:avLst/>
          </a:prstGeom>
          <a:noFill/>
          <a:ln w="9525">
            <a:noFill/>
            <a:miter lim="800000"/>
            <a:headEnd/>
            <a:tailEnd/>
          </a:ln>
        </p:spPr>
        <p:txBody>
          <a:bodyPr wrap="none">
            <a:spAutoFit/>
          </a:bodyPr>
          <a:lstStyle/>
          <a:p>
            <a:pPr>
              <a:defRPr/>
            </a:pPr>
            <a:r>
              <a:rPr lang="en-US" sz="1200" b="1" dirty="0" smtClean="0">
                <a:effectLst>
                  <a:outerShdw blurRad="38100" dist="38100" dir="2700000" algn="tl">
                    <a:srgbClr val="C0C0C0"/>
                  </a:outerShdw>
                </a:effectLst>
                <a:latin typeface="+mn-lt"/>
              </a:rPr>
              <a:t>Transportation: Transit  Requirements </a:t>
            </a:r>
            <a:r>
              <a:rPr lang="en-US" sz="1200" b="1" dirty="0">
                <a:effectLst>
                  <a:outerShdw blurRad="38100" dist="38100" dir="2700000" algn="tl">
                    <a:srgbClr val="C0C0C0"/>
                  </a:outerShdw>
                </a:effectLst>
                <a:latin typeface="+mn-lt"/>
              </a:rPr>
              <a:t>Continued</a:t>
            </a:r>
          </a:p>
        </p:txBody>
      </p:sp>
      <p:sp>
        <p:nvSpPr>
          <p:cNvPr id="7" name="Text Box 6"/>
          <p:cNvSpPr txBox="1">
            <a:spLocks noChangeArrowheads="1"/>
          </p:cNvSpPr>
          <p:nvPr/>
        </p:nvSpPr>
        <p:spPr bwMode="auto">
          <a:xfrm>
            <a:off x="6769223" y="1654286"/>
            <a:ext cx="2203450" cy="2616101"/>
          </a:xfrm>
          <a:prstGeom prst="rect">
            <a:avLst/>
          </a:prstGeom>
          <a:solidFill>
            <a:schemeClr val="bg1">
              <a:lumMod val="85000"/>
            </a:schemeClr>
          </a:solidFill>
          <a:ln w="9525">
            <a:noFill/>
            <a:miter lim="800000"/>
            <a:headEnd/>
            <a:tailEnd/>
          </a:ln>
          <a:effectLst/>
        </p:spPr>
        <p:txBody>
          <a:bodyPr>
            <a:spAutoFit/>
          </a:bodyPr>
          <a:lstStyle/>
          <a:p>
            <a:r>
              <a:rPr lang="en-US" sz="1200" b="1" dirty="0" smtClean="0">
                <a:latin typeface="Bookman Old Style" pitchFamily="18" charset="0"/>
              </a:rPr>
              <a:t>More Information</a:t>
            </a:r>
          </a:p>
          <a:p>
            <a:endParaRPr lang="en-US" sz="1200" b="1" dirty="0" smtClean="0">
              <a:latin typeface="Bookman Old Style" pitchFamily="18" charset="0"/>
            </a:endParaRPr>
          </a:p>
          <a:p>
            <a:r>
              <a:rPr lang="en-US" sz="1000" b="1" dirty="0">
                <a:solidFill>
                  <a:schemeClr val="bg1">
                    <a:lumMod val="50000"/>
                  </a:schemeClr>
                </a:solidFill>
                <a:latin typeface="Bookman Old Style" pitchFamily="18" charset="0"/>
              </a:rPr>
              <a:t>This version of the Transit part is closely related to the Transportation Base (see Figure 2 in </a:t>
            </a:r>
            <a:r>
              <a:rPr lang="en-US" sz="1000" b="1" dirty="0" smtClean="0">
                <a:solidFill>
                  <a:schemeClr val="bg1">
                    <a:lumMod val="50000"/>
                  </a:schemeClr>
                </a:solidFill>
                <a:latin typeface="Bookman Old Style" pitchFamily="18" charset="0"/>
              </a:rPr>
              <a:t>the Transportation </a:t>
            </a:r>
            <a:r>
              <a:rPr lang="en-US" sz="1000" b="1" dirty="0">
                <a:solidFill>
                  <a:schemeClr val="bg1">
                    <a:lumMod val="50000"/>
                  </a:schemeClr>
                </a:solidFill>
                <a:latin typeface="Bookman Old Style" pitchFamily="18" charset="0"/>
              </a:rPr>
              <a:t>Base). To ensure maximum utility in a variety of contexts, this transit model </a:t>
            </a:r>
            <a:r>
              <a:rPr lang="en-US" sz="1000" b="1" dirty="0" smtClean="0">
                <a:solidFill>
                  <a:schemeClr val="bg1">
                    <a:lumMod val="50000"/>
                  </a:schemeClr>
                </a:solidFill>
                <a:latin typeface="Bookman Old Style" pitchFamily="18" charset="0"/>
              </a:rPr>
              <a:t>does </a:t>
            </a:r>
            <a:r>
              <a:rPr lang="en-US" sz="1000" b="1" dirty="0">
                <a:solidFill>
                  <a:schemeClr val="bg1">
                    <a:lumMod val="50000"/>
                  </a:schemeClr>
                </a:solidFill>
                <a:latin typeface="Bookman Old Style" pitchFamily="18" charset="0"/>
              </a:rPr>
              <a:t>not prescribe any specific business rules for the segmentation of the </a:t>
            </a:r>
            <a:r>
              <a:rPr lang="en-US" sz="1000" b="1" dirty="0" smtClean="0">
                <a:solidFill>
                  <a:schemeClr val="bg1">
                    <a:lumMod val="50000"/>
                  </a:schemeClr>
                </a:solidFill>
                <a:latin typeface="Bookman Old Style" pitchFamily="18" charset="0"/>
              </a:rPr>
              <a:t>transportation </a:t>
            </a:r>
            <a:r>
              <a:rPr lang="en-US" sz="1000" b="1" dirty="0">
                <a:solidFill>
                  <a:schemeClr val="bg1">
                    <a:lumMod val="50000"/>
                  </a:schemeClr>
                </a:solidFill>
                <a:latin typeface="Bookman Old Style" pitchFamily="18" charset="0"/>
              </a:rPr>
              <a:t>network. </a:t>
            </a:r>
            <a:r>
              <a:rPr lang="en-US" sz="1000" b="1" dirty="0" smtClean="0">
                <a:solidFill>
                  <a:schemeClr val="bg1">
                    <a:lumMod val="50000"/>
                  </a:schemeClr>
                </a:solidFill>
                <a:latin typeface="Bookman Old Style" pitchFamily="18" charset="0"/>
              </a:rPr>
              <a:t>The </a:t>
            </a:r>
            <a:r>
              <a:rPr lang="en-US" sz="1000" b="1" dirty="0">
                <a:solidFill>
                  <a:schemeClr val="bg1">
                    <a:lumMod val="50000"/>
                  </a:schemeClr>
                </a:solidFill>
                <a:latin typeface="Bookman Old Style" pitchFamily="18" charset="0"/>
              </a:rPr>
              <a:t>focus of this part is to define a way to encode transit features and their attributes.</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48" name="Rectangle 188"/>
          <p:cNvSpPr>
            <a:spLocks noChangeArrowheads="1"/>
          </p:cNvSpPr>
          <p:nvPr/>
        </p:nvSpPr>
        <p:spPr bwMode="auto">
          <a:xfrm>
            <a:off x="346229" y="1274078"/>
            <a:ext cx="6324600" cy="2092881"/>
          </a:xfrm>
          <a:prstGeom prst="rect">
            <a:avLst/>
          </a:prstGeom>
          <a:noFill/>
          <a:ln w="9525">
            <a:noFill/>
            <a:miter lim="800000"/>
            <a:headEnd/>
            <a:tailEnd/>
          </a:ln>
        </p:spPr>
        <p:txBody>
          <a:bodyPr wrap="square">
            <a:spAutoFit/>
          </a:bodyPr>
          <a:lstStyle/>
          <a:p>
            <a:pPr marL="228600" indent="-228600"/>
            <a:r>
              <a:rPr lang="en-US" sz="1200" dirty="0" smtClean="0"/>
              <a:t>	A data dictionary is a collection </a:t>
            </a:r>
            <a:r>
              <a:rPr lang="en-US" sz="1200" dirty="0"/>
              <a:t>of definitions, rules and advisories of data, designed to be used as a guide or reference with the data warehouse. The directory includes definitions, examples, relations, functions and equivalents in other environments</a:t>
            </a:r>
            <a:r>
              <a:rPr lang="en-US" sz="1200" dirty="0" smtClean="0"/>
              <a:t>.  Each Framework Data Content Standard Part has its own data dictionary that describes the necessary elements  needed to define that theme as Framework.  Below is a portion of the Transportation: Transit Data Dictionary, for the full table please consult the standard itself.</a:t>
            </a:r>
          </a:p>
          <a:p>
            <a:pPr marL="228600" indent="-228600"/>
            <a:endParaRPr lang="en-US" sz="1000" dirty="0" smtClean="0"/>
          </a:p>
          <a:p>
            <a:pPr marL="228600" indent="-228600">
              <a:buAutoNum type="arabicPeriod" startAt="2"/>
            </a:pPr>
            <a:endParaRPr lang="en-US" sz="1000" b="1" dirty="0" smtClean="0"/>
          </a:p>
          <a:p>
            <a:pPr marL="228600" indent="-228600"/>
            <a:endParaRPr lang="en-US" sz="1000" dirty="0" smtClean="0"/>
          </a:p>
          <a:p>
            <a:pPr>
              <a:tabLst>
                <a:tab pos="457200" algn="l"/>
              </a:tabLst>
            </a:pPr>
            <a:r>
              <a:rPr lang="en-US" sz="1000" dirty="0" smtClean="0"/>
              <a:t> </a:t>
            </a:r>
          </a:p>
          <a:p>
            <a:pPr>
              <a:spcBef>
                <a:spcPct val="50000"/>
              </a:spcBef>
              <a:defRPr/>
            </a:pPr>
            <a:endParaRPr lang="en-US" sz="1200" b="1" dirty="0"/>
          </a:p>
        </p:txBody>
      </p:sp>
      <p:sp>
        <p:nvSpPr>
          <p:cNvPr id="4" name="Text Box 4"/>
          <p:cNvSpPr txBox="1">
            <a:spLocks noChangeArrowheads="1"/>
          </p:cNvSpPr>
          <p:nvPr/>
        </p:nvSpPr>
        <p:spPr bwMode="auto">
          <a:xfrm>
            <a:off x="304800" y="5911850"/>
            <a:ext cx="3048000" cy="336550"/>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N</a:t>
            </a:r>
            <a:r>
              <a:rPr lang="en-US" sz="1600" b="1" dirty="0" smtClean="0">
                <a:solidFill>
                  <a:srgbClr val="33338C"/>
                </a:solidFill>
                <a:effectLst>
                  <a:outerShdw blurRad="38100" dist="38100" dir="2700000" algn="tl">
                    <a:srgbClr val="C0C0C0"/>
                  </a:outerShdw>
                </a:effectLst>
                <a:latin typeface="Arial Black" pitchFamily="34" charset="0"/>
              </a:rPr>
              <a:t>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5" name="Text Box 3"/>
          <p:cNvSpPr txBox="1">
            <a:spLocks noChangeArrowheads="1"/>
          </p:cNvSpPr>
          <p:nvPr/>
        </p:nvSpPr>
        <p:spPr bwMode="auto">
          <a:xfrm>
            <a:off x="228600" y="950913"/>
            <a:ext cx="8686800" cy="323165"/>
          </a:xfrm>
          <a:prstGeom prst="rect">
            <a:avLst/>
          </a:prstGeom>
          <a:noFill/>
          <a:ln w="9525">
            <a:noFill/>
            <a:miter lim="800000"/>
            <a:headEnd/>
            <a:tailEnd/>
          </a:ln>
          <a:effectLst/>
        </p:spPr>
        <p:txBody>
          <a:bodyPr wrap="square">
            <a:spAutoFit/>
          </a:bodyPr>
          <a:lstStyle/>
          <a:p>
            <a:pPr>
              <a:defRPr/>
            </a:pPr>
            <a:r>
              <a:rPr lang="en-US" sz="1500" b="1" u="sng" dirty="0">
                <a:effectLst>
                  <a:outerShdw blurRad="38100" dist="38100" dir="2700000" algn="tl">
                    <a:srgbClr val="C0C0C0"/>
                  </a:outerShdw>
                </a:effectLst>
                <a:latin typeface="Arial Black" pitchFamily="34" charset="0"/>
              </a:rPr>
              <a:t>Framework Data Standard </a:t>
            </a:r>
            <a:r>
              <a:rPr lang="en-US" sz="1500" b="1" u="sng" dirty="0" smtClean="0">
                <a:effectLst>
                  <a:outerShdw blurRad="38100" dist="38100" dir="2700000" algn="tl">
                    <a:srgbClr val="C0C0C0"/>
                  </a:outerShdw>
                </a:effectLst>
                <a:latin typeface="Arial Black" pitchFamily="34" charset="0"/>
              </a:rPr>
              <a:t>Transportation: Transit Requirements: Data Dictionary</a:t>
            </a:r>
            <a:endParaRPr lang="en-US" sz="1500" b="1" u="sng" dirty="0">
              <a:effectLst>
                <a:outerShdw blurRad="38100" dist="38100" dir="2700000" algn="tl">
                  <a:srgbClr val="C0C0C0"/>
                </a:outerShdw>
              </a:effectLst>
              <a:latin typeface="Arial Black" pitchFamily="34" charset="0"/>
            </a:endParaRPr>
          </a:p>
        </p:txBody>
      </p:sp>
      <p:sp>
        <p:nvSpPr>
          <p:cNvPr id="6" name="Text Box 5"/>
          <p:cNvSpPr txBox="1">
            <a:spLocks noChangeArrowheads="1"/>
          </p:cNvSpPr>
          <p:nvPr/>
        </p:nvSpPr>
        <p:spPr bwMode="auto">
          <a:xfrm>
            <a:off x="488950" y="6276201"/>
            <a:ext cx="3267048" cy="276999"/>
          </a:xfrm>
          <a:prstGeom prst="rect">
            <a:avLst/>
          </a:prstGeom>
          <a:noFill/>
          <a:ln w="9525">
            <a:noFill/>
            <a:miter lim="800000"/>
            <a:headEnd/>
            <a:tailEnd/>
          </a:ln>
        </p:spPr>
        <p:txBody>
          <a:bodyPr wrap="none">
            <a:spAutoFit/>
          </a:bodyPr>
          <a:lstStyle/>
          <a:p>
            <a:pPr>
              <a:defRPr/>
            </a:pPr>
            <a:r>
              <a:rPr lang="en-US" sz="1200" b="1" dirty="0" smtClean="0">
                <a:effectLst>
                  <a:outerShdw blurRad="38100" dist="38100" dir="2700000" algn="tl">
                    <a:srgbClr val="C0C0C0"/>
                  </a:outerShdw>
                </a:effectLst>
                <a:latin typeface="+mn-lt"/>
              </a:rPr>
              <a:t>Transportation: Transit </a:t>
            </a:r>
            <a:r>
              <a:rPr lang="en-US" sz="1200" b="1" dirty="0">
                <a:effectLst>
                  <a:outerShdw blurRad="38100" dist="38100" dir="2700000" algn="tl">
                    <a:srgbClr val="C0C0C0"/>
                  </a:outerShdw>
                </a:effectLst>
                <a:latin typeface="+mn-lt"/>
              </a:rPr>
              <a:t>Requirements Continued</a:t>
            </a:r>
          </a:p>
        </p:txBody>
      </p:sp>
      <p:pic>
        <p:nvPicPr>
          <p:cNvPr id="3" name="Picture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905000" y="2432439"/>
            <a:ext cx="6019800" cy="3815961"/>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48" name="Rectangle 188"/>
          <p:cNvSpPr>
            <a:spLocks noChangeArrowheads="1"/>
          </p:cNvSpPr>
          <p:nvPr/>
        </p:nvSpPr>
        <p:spPr bwMode="auto">
          <a:xfrm>
            <a:off x="457200" y="1371600"/>
            <a:ext cx="7848600" cy="1508105"/>
          </a:xfrm>
          <a:prstGeom prst="rect">
            <a:avLst/>
          </a:prstGeom>
          <a:noFill/>
          <a:ln w="9525">
            <a:noFill/>
            <a:miter lim="800000"/>
            <a:headEnd/>
            <a:tailEnd/>
          </a:ln>
        </p:spPr>
        <p:txBody>
          <a:bodyPr wrap="square">
            <a:spAutoFit/>
          </a:bodyPr>
          <a:lstStyle/>
          <a:p>
            <a:endParaRPr lang="en-US" sz="1000" dirty="0" smtClean="0"/>
          </a:p>
          <a:p>
            <a:r>
              <a:rPr lang="en-US" sz="1200" dirty="0" smtClean="0"/>
              <a:t>A Code List is a list of the most common used elements for a certain class.  It normally has the name of the feature as well as a definition to help a user determine the appropriate choice.  It is not necessarily an exhaustive list, rather a list of the most common and expected values for a given element.  Below is on of the 9 code lists associated with the Transportation: Transit Standard for a complete collection of the code lists please refer to the standard itself.  This code list applies to the element: FacilityType, and as you can see it lists possible values for the possible types of facilities that are possible for transit data.</a:t>
            </a:r>
            <a:endParaRPr lang="en-US" sz="1000" dirty="0" smtClean="0"/>
          </a:p>
          <a:p>
            <a:pPr>
              <a:tabLst>
                <a:tab pos="457200" algn="l"/>
              </a:tabLst>
            </a:pPr>
            <a:r>
              <a:rPr lang="en-US" sz="1000" dirty="0" smtClean="0"/>
              <a:t>	</a:t>
            </a:r>
            <a:endParaRPr lang="en-US" sz="1200" b="1" dirty="0"/>
          </a:p>
        </p:txBody>
      </p:sp>
      <p:sp>
        <p:nvSpPr>
          <p:cNvPr id="4" name="Text Box 4"/>
          <p:cNvSpPr txBox="1">
            <a:spLocks noChangeArrowheads="1"/>
          </p:cNvSpPr>
          <p:nvPr/>
        </p:nvSpPr>
        <p:spPr bwMode="auto">
          <a:xfrm>
            <a:off x="304800" y="5715000"/>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5" name="Text Box 3"/>
          <p:cNvSpPr txBox="1">
            <a:spLocks noChangeArrowheads="1"/>
          </p:cNvSpPr>
          <p:nvPr/>
        </p:nvSpPr>
        <p:spPr bwMode="auto">
          <a:xfrm>
            <a:off x="228600" y="950913"/>
            <a:ext cx="8458200" cy="584775"/>
          </a:xfrm>
          <a:prstGeom prst="rect">
            <a:avLst/>
          </a:prstGeom>
          <a:noFill/>
          <a:ln w="9525">
            <a:noFill/>
            <a:miter lim="800000"/>
            <a:headEnd/>
            <a:tailEnd/>
          </a:ln>
          <a:effectLst/>
        </p:spPr>
        <p:txBody>
          <a:bodyPr wrap="square">
            <a:spAutoFit/>
          </a:bodyPr>
          <a:lstStyle/>
          <a:p>
            <a:pPr>
              <a:defRPr/>
            </a:pPr>
            <a:r>
              <a:rPr lang="en-US" sz="1600" b="1" u="sng" dirty="0">
                <a:effectLst>
                  <a:outerShdw blurRad="38100" dist="38100" dir="2700000" algn="tl">
                    <a:srgbClr val="C0C0C0"/>
                  </a:outerShdw>
                </a:effectLst>
                <a:latin typeface="Arial Black" pitchFamily="34" charset="0"/>
              </a:rPr>
              <a:t>Framework Data Standard </a:t>
            </a:r>
            <a:r>
              <a:rPr lang="en-US" sz="1600" b="1" u="sng" dirty="0" smtClean="0">
                <a:effectLst>
                  <a:outerShdw blurRad="38100" dist="38100" dir="2700000" algn="tl">
                    <a:srgbClr val="C0C0C0"/>
                  </a:outerShdw>
                </a:effectLst>
                <a:latin typeface="Arial Black" pitchFamily="34" charset="0"/>
              </a:rPr>
              <a:t>Transportation: Transit Requirements: Code List</a:t>
            </a:r>
            <a:endParaRPr lang="en-US" sz="1600" b="1" u="sng" dirty="0">
              <a:effectLst>
                <a:outerShdw blurRad="38100" dist="38100" dir="2700000" algn="tl">
                  <a:srgbClr val="C0C0C0"/>
                </a:outerShdw>
              </a:effectLst>
              <a:latin typeface="Arial Black" pitchFamily="34" charset="0"/>
            </a:endParaRPr>
          </a:p>
        </p:txBody>
      </p:sp>
      <p:sp>
        <p:nvSpPr>
          <p:cNvPr id="6" name="Text Box 5"/>
          <p:cNvSpPr txBox="1">
            <a:spLocks noChangeArrowheads="1"/>
          </p:cNvSpPr>
          <p:nvPr/>
        </p:nvSpPr>
        <p:spPr bwMode="auto">
          <a:xfrm>
            <a:off x="488950" y="6096000"/>
            <a:ext cx="2387192" cy="276999"/>
          </a:xfrm>
          <a:prstGeom prst="rect">
            <a:avLst/>
          </a:prstGeom>
          <a:noFill/>
          <a:ln w="9525">
            <a:noFill/>
            <a:miter lim="800000"/>
            <a:headEnd/>
            <a:tailEnd/>
          </a:ln>
        </p:spPr>
        <p:txBody>
          <a:bodyPr wrap="none">
            <a:spAutoFit/>
          </a:bodyPr>
          <a:lstStyle/>
          <a:p>
            <a:pPr>
              <a:defRPr/>
            </a:pPr>
            <a:r>
              <a:rPr lang="en-US" sz="1200" b="1" dirty="0" smtClean="0">
                <a:effectLst>
                  <a:outerShdw blurRad="38100" dist="38100" dir="2700000" algn="tl">
                    <a:srgbClr val="C0C0C0"/>
                  </a:outerShdw>
                </a:effectLst>
                <a:latin typeface="+mn-lt"/>
              </a:rPr>
              <a:t>Encoding and Implementation</a:t>
            </a:r>
            <a:endParaRPr lang="en-US" sz="1200" b="1" dirty="0">
              <a:effectLst>
                <a:outerShdw blurRad="38100" dist="38100" dir="2700000" algn="tl">
                  <a:srgbClr val="C0C0C0"/>
                </a:outerShdw>
              </a:effectLst>
              <a:latin typeface="+mn-lt"/>
            </a:endParaRPr>
          </a:p>
        </p:txBody>
      </p:sp>
      <p:pic>
        <p:nvPicPr>
          <p:cNvPr id="3" name="Picture 2"/>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600200" y="2569963"/>
            <a:ext cx="6619875" cy="3305175"/>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5"/>
          <p:cNvSpPr txBox="1">
            <a:spLocks noChangeArrowheads="1"/>
          </p:cNvSpPr>
          <p:nvPr/>
        </p:nvSpPr>
        <p:spPr bwMode="auto">
          <a:xfrm>
            <a:off x="5867400" y="990600"/>
            <a:ext cx="3122613" cy="260350"/>
          </a:xfrm>
          <a:prstGeom prst="rect">
            <a:avLst/>
          </a:prstGeom>
          <a:noFill/>
          <a:ln w="9525">
            <a:noFill/>
            <a:miter lim="800000"/>
            <a:headEnd/>
            <a:tailEnd/>
          </a:ln>
          <a:effectLst/>
        </p:spPr>
        <p:txBody>
          <a:bodyPr>
            <a:spAutoFit/>
          </a:bodyPr>
          <a:lstStyle/>
          <a:p>
            <a:pPr algn="r">
              <a:defRPr/>
            </a:pPr>
            <a:r>
              <a:rPr lang="en-US" sz="1100" dirty="0">
                <a:solidFill>
                  <a:srgbClr val="33338C"/>
                </a:solidFill>
                <a:effectLst>
                  <a:outerShdw blurRad="38100" dist="38100" dir="2700000" algn="tl">
                    <a:srgbClr val="C0C0C0"/>
                  </a:outerShdw>
                </a:effectLst>
                <a:latin typeface="Arial Black" pitchFamily="34" charset="0"/>
              </a:rPr>
              <a:t>The Bigger Picture</a:t>
            </a:r>
          </a:p>
        </p:txBody>
      </p:sp>
      <p:sp>
        <p:nvSpPr>
          <p:cNvPr id="3" name="Text Box 6"/>
          <p:cNvSpPr txBox="1">
            <a:spLocks noChangeArrowheads="1"/>
          </p:cNvSpPr>
          <p:nvPr/>
        </p:nvSpPr>
        <p:spPr bwMode="auto">
          <a:xfrm>
            <a:off x="6781800" y="1336675"/>
            <a:ext cx="2203450" cy="2400657"/>
          </a:xfrm>
          <a:prstGeom prst="rect">
            <a:avLst/>
          </a:prstGeom>
          <a:solidFill>
            <a:schemeClr val="bg1">
              <a:lumMod val="85000"/>
            </a:schemeClr>
          </a:solidFill>
          <a:ln w="9525">
            <a:noFill/>
            <a:miter lim="800000"/>
            <a:headEnd/>
            <a:tailEnd/>
          </a:ln>
          <a:effectLst/>
        </p:spPr>
        <p:txBody>
          <a:bodyPr>
            <a:spAutoFit/>
          </a:bodyPr>
          <a:lstStyle/>
          <a:p>
            <a:pPr>
              <a:defRPr/>
            </a:pPr>
            <a:r>
              <a:rPr lang="en-US" sz="1000" dirty="0">
                <a:solidFill>
                  <a:srgbClr val="4D4D4D"/>
                </a:solidFill>
                <a:latin typeface="Bookman Old Style" pitchFamily="18" charset="0"/>
              </a:rPr>
              <a:t>The Framework Standards do not have a specific application schema that can be implemented.  Implementation of the Framework Standards in relation to data and tool creation occurs at the thematic level.  Each thematic part complies with the Framework Base Standard.  As such a </a:t>
            </a:r>
            <a:r>
              <a:rPr lang="en-US" sz="1000" dirty="0" smtClean="0">
                <a:solidFill>
                  <a:srgbClr val="4D4D4D"/>
                </a:solidFill>
                <a:latin typeface="Bookman Old Style" pitchFamily="18" charset="0"/>
              </a:rPr>
              <a:t>layer </a:t>
            </a:r>
            <a:r>
              <a:rPr lang="en-US" sz="1000" dirty="0">
                <a:solidFill>
                  <a:srgbClr val="4D4D4D"/>
                </a:solidFill>
                <a:latin typeface="Bookman Old Style" pitchFamily="18" charset="0"/>
              </a:rPr>
              <a:t>(for example) created in accordance with the Framework </a:t>
            </a:r>
            <a:r>
              <a:rPr lang="en-US" sz="1000" dirty="0" smtClean="0">
                <a:solidFill>
                  <a:srgbClr val="4D4D4D"/>
                </a:solidFill>
                <a:latin typeface="Bookman Old Style" pitchFamily="18" charset="0"/>
              </a:rPr>
              <a:t>Transportation: Transit part </a:t>
            </a:r>
            <a:r>
              <a:rPr lang="en-US" sz="1000" dirty="0">
                <a:solidFill>
                  <a:srgbClr val="4D4D4D"/>
                </a:solidFill>
                <a:latin typeface="Bookman Old Style" pitchFamily="18" charset="0"/>
              </a:rPr>
              <a:t>meets all Framework requirements.</a:t>
            </a:r>
          </a:p>
        </p:txBody>
      </p:sp>
      <p:sp>
        <p:nvSpPr>
          <p:cNvPr id="35844" name="Text Box 12"/>
          <p:cNvSpPr txBox="1">
            <a:spLocks noChangeArrowheads="1"/>
          </p:cNvSpPr>
          <p:nvPr/>
        </p:nvSpPr>
        <p:spPr bwMode="auto">
          <a:xfrm>
            <a:off x="433388" y="1730375"/>
            <a:ext cx="6013450" cy="2308225"/>
          </a:xfrm>
          <a:prstGeom prst="rect">
            <a:avLst/>
          </a:prstGeom>
          <a:noFill/>
          <a:ln w="9525">
            <a:noFill/>
            <a:miter lim="800000"/>
            <a:headEnd/>
            <a:tailEnd/>
          </a:ln>
        </p:spPr>
        <p:txBody>
          <a:bodyPr>
            <a:spAutoFit/>
          </a:bodyPr>
          <a:lstStyle/>
          <a:p>
            <a:pPr>
              <a:buClr>
                <a:srgbClr val="526666"/>
              </a:buClr>
            </a:pPr>
            <a:r>
              <a:rPr lang="en-US" sz="1200" b="1" dirty="0"/>
              <a:t>The process of encoding is simply formatting or structuring data in a regulated manner.  The Framework standards are encoded by applying the application schemas through the use of several different modeling and markup languages:</a:t>
            </a:r>
          </a:p>
          <a:p>
            <a:pPr>
              <a:buClr>
                <a:srgbClr val="526666"/>
              </a:buClr>
            </a:pPr>
            <a:endParaRPr lang="en-US" sz="1200" b="1" dirty="0"/>
          </a:p>
          <a:p>
            <a:pPr>
              <a:buClr>
                <a:srgbClr val="526666"/>
              </a:buClr>
              <a:buFontTx/>
              <a:buChar char="•"/>
            </a:pPr>
            <a:r>
              <a:rPr lang="en-US" sz="1200" b="1" dirty="0"/>
              <a:t> Unified Modeling Language (UML)</a:t>
            </a:r>
            <a:br>
              <a:rPr lang="en-US" sz="1200" b="1" dirty="0"/>
            </a:br>
            <a:endParaRPr lang="en-US" sz="1200" b="1" dirty="0"/>
          </a:p>
          <a:p>
            <a:pPr>
              <a:buClr>
                <a:srgbClr val="526666"/>
              </a:buClr>
              <a:buFontTx/>
              <a:buChar char="•"/>
            </a:pPr>
            <a:r>
              <a:rPr lang="en-US" sz="1200" b="1" dirty="0"/>
              <a:t> Extensible Markup Language (XML)</a:t>
            </a:r>
            <a:br>
              <a:rPr lang="en-US" sz="1200" b="1" dirty="0"/>
            </a:br>
            <a:endParaRPr lang="en-US" sz="1200" b="1" dirty="0"/>
          </a:p>
          <a:p>
            <a:pPr>
              <a:buClr>
                <a:srgbClr val="526666"/>
              </a:buClr>
              <a:buFontTx/>
              <a:buChar char="•"/>
            </a:pPr>
            <a:r>
              <a:rPr lang="en-US" sz="1200" b="1" dirty="0"/>
              <a:t> Geographic Markup Language (GML)</a:t>
            </a:r>
          </a:p>
          <a:p>
            <a:pPr>
              <a:buClr>
                <a:srgbClr val="526666"/>
              </a:buClr>
            </a:pPr>
            <a:endParaRPr lang="en-US" sz="1200" b="1" dirty="0"/>
          </a:p>
          <a:p>
            <a:pPr>
              <a:buClr>
                <a:srgbClr val="526666"/>
              </a:buClr>
            </a:pPr>
            <a:r>
              <a:rPr lang="en-US" sz="1200" b="1" dirty="0"/>
              <a:t>Specific knowledge of each language is important for data and tool designers; for more information see the Framework Base Standard Training Materials.</a:t>
            </a:r>
          </a:p>
        </p:txBody>
      </p:sp>
      <p:sp>
        <p:nvSpPr>
          <p:cNvPr id="5" name="Text Box 17"/>
          <p:cNvSpPr txBox="1">
            <a:spLocks noChangeArrowheads="1"/>
          </p:cNvSpPr>
          <p:nvPr/>
        </p:nvSpPr>
        <p:spPr bwMode="auto">
          <a:xfrm>
            <a:off x="228600" y="950913"/>
            <a:ext cx="6954838" cy="369332"/>
          </a:xfrm>
          <a:prstGeom prst="rect">
            <a:avLst/>
          </a:prstGeom>
          <a:noFill/>
          <a:ln w="9525">
            <a:noFill/>
            <a:miter lim="800000"/>
            <a:headEnd/>
            <a:tailEnd/>
          </a:ln>
          <a:effectLst/>
        </p:spPr>
        <p:txBody>
          <a:bodyPr>
            <a:spAutoFit/>
          </a:bodyPr>
          <a:lstStyle/>
          <a:p>
            <a:pPr>
              <a:defRPr/>
            </a:pPr>
            <a:r>
              <a:rPr lang="en-US" u="sng" dirty="0">
                <a:effectLst>
                  <a:outerShdw blurRad="38100" dist="38100" dir="2700000" algn="tl">
                    <a:srgbClr val="C0C0C0"/>
                  </a:outerShdw>
                </a:effectLst>
                <a:latin typeface="Arial Black" pitchFamily="34" charset="0"/>
              </a:rPr>
              <a:t>Encoding and </a:t>
            </a:r>
            <a:r>
              <a:rPr lang="en-US" u="sng" dirty="0" smtClean="0">
                <a:effectLst>
                  <a:outerShdw blurRad="38100" dist="38100" dir="2700000" algn="tl">
                    <a:srgbClr val="C0C0C0"/>
                  </a:outerShdw>
                </a:effectLst>
                <a:latin typeface="Arial Black" pitchFamily="34" charset="0"/>
              </a:rPr>
              <a:t>Implementation</a:t>
            </a:r>
            <a:endParaRPr lang="en-US" u="sng" dirty="0">
              <a:effectLst>
                <a:outerShdw blurRad="38100" dist="38100" dir="2700000" algn="tl">
                  <a:srgbClr val="C0C0C0"/>
                </a:outerShdw>
              </a:effectLst>
              <a:latin typeface="Arial Black" pitchFamily="34" charset="0"/>
            </a:endParaRPr>
          </a:p>
        </p:txBody>
      </p:sp>
      <p:sp>
        <p:nvSpPr>
          <p:cNvPr id="6" name="Text Box 4"/>
          <p:cNvSpPr txBox="1">
            <a:spLocks noChangeArrowheads="1"/>
          </p:cNvSpPr>
          <p:nvPr/>
        </p:nvSpPr>
        <p:spPr bwMode="auto">
          <a:xfrm>
            <a:off x="304800" y="4905375"/>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7" name="Text Box 5"/>
          <p:cNvSpPr txBox="1">
            <a:spLocks noChangeArrowheads="1"/>
          </p:cNvSpPr>
          <p:nvPr/>
        </p:nvSpPr>
        <p:spPr bwMode="auto">
          <a:xfrm>
            <a:off x="457200" y="5286375"/>
            <a:ext cx="1296988" cy="276225"/>
          </a:xfrm>
          <a:prstGeom prst="rect">
            <a:avLst/>
          </a:prstGeom>
          <a:noFill/>
          <a:ln w="9525">
            <a:noFill/>
            <a:miter lim="800000"/>
            <a:headEnd/>
            <a:tailEnd/>
          </a:ln>
        </p:spPr>
        <p:txBody>
          <a:bodyPr wrap="none">
            <a:spAutoFit/>
          </a:bodyPr>
          <a:lstStyle/>
          <a:p>
            <a:pPr>
              <a:defRPr/>
            </a:pPr>
            <a:r>
              <a:rPr lang="en-US" sz="1200" b="1" dirty="0">
                <a:effectLst>
                  <a:outerShdw blurRad="38100" dist="38100" dir="2700000" algn="tl">
                    <a:srgbClr val="C0C0C0"/>
                  </a:outerShdw>
                </a:effectLst>
                <a:latin typeface="+mn-lt"/>
              </a:rPr>
              <a:t>Module Review</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228600" y="950913"/>
            <a:ext cx="6954838" cy="338554"/>
          </a:xfrm>
          <a:prstGeom prst="rect">
            <a:avLst/>
          </a:prstGeom>
          <a:noFill/>
          <a:ln w="9525">
            <a:noFill/>
            <a:miter lim="800000"/>
            <a:headEnd/>
            <a:tailEnd/>
          </a:ln>
          <a:effectLst/>
        </p:spPr>
        <p:txBody>
          <a:bodyPr>
            <a:spAutoFit/>
          </a:bodyPr>
          <a:lstStyle/>
          <a:p>
            <a:pPr>
              <a:defRPr/>
            </a:pPr>
            <a:r>
              <a:rPr lang="en-US" sz="1600" b="1" u="sng" dirty="0">
                <a:effectLst>
                  <a:outerShdw blurRad="38100" dist="38100" dir="2700000" algn="tl">
                    <a:srgbClr val="C0C0C0"/>
                  </a:outerShdw>
                </a:effectLst>
                <a:latin typeface="Arial Black" pitchFamily="34" charset="0"/>
              </a:rPr>
              <a:t>Module 3: </a:t>
            </a:r>
            <a:r>
              <a:rPr lang="en-US" sz="1600" b="1" u="sng" dirty="0" smtClean="0">
                <a:effectLst>
                  <a:outerShdw blurRad="38100" dist="38100" dir="2700000" algn="tl">
                    <a:srgbClr val="C0C0C0"/>
                  </a:outerShdw>
                </a:effectLst>
                <a:latin typeface="Arial Black" pitchFamily="34" charset="0"/>
              </a:rPr>
              <a:t>Transportation: Transit Requirements </a:t>
            </a:r>
            <a:r>
              <a:rPr lang="en-US" sz="1600" b="1" u="sng" dirty="0">
                <a:effectLst>
                  <a:outerShdw blurRad="38100" dist="38100" dir="2700000" algn="tl">
                    <a:srgbClr val="C0C0C0"/>
                  </a:outerShdw>
                </a:effectLst>
                <a:latin typeface="Arial Black" pitchFamily="34" charset="0"/>
              </a:rPr>
              <a:t>Summary</a:t>
            </a:r>
          </a:p>
        </p:txBody>
      </p:sp>
      <p:sp>
        <p:nvSpPr>
          <p:cNvPr id="36867" name="Text Box 3"/>
          <p:cNvSpPr txBox="1">
            <a:spLocks noChangeArrowheads="1"/>
          </p:cNvSpPr>
          <p:nvPr/>
        </p:nvSpPr>
        <p:spPr bwMode="auto">
          <a:xfrm>
            <a:off x="433388" y="1774825"/>
            <a:ext cx="8253412" cy="3046988"/>
          </a:xfrm>
          <a:prstGeom prst="rect">
            <a:avLst/>
          </a:prstGeom>
          <a:noFill/>
          <a:ln w="9525">
            <a:noFill/>
            <a:miter lim="800000"/>
            <a:headEnd/>
            <a:tailEnd/>
          </a:ln>
        </p:spPr>
        <p:txBody>
          <a:bodyPr wrap="square">
            <a:spAutoFit/>
          </a:bodyPr>
          <a:lstStyle/>
          <a:p>
            <a:pPr>
              <a:buClr>
                <a:srgbClr val="526666"/>
              </a:buClr>
              <a:buFontTx/>
              <a:buChar char="•"/>
              <a:tabLst>
                <a:tab pos="112713" algn="l"/>
              </a:tabLst>
            </a:pPr>
            <a:r>
              <a:rPr lang="en-US" sz="1200" b="1" dirty="0"/>
              <a:t> </a:t>
            </a:r>
            <a:r>
              <a:rPr lang="en-US" sz="1200" b="1" dirty="0" smtClean="0"/>
              <a:t>Transportation: Transit Data is available in many different formats</a:t>
            </a:r>
            <a:r>
              <a:rPr lang="en-US" sz="1200" b="1" dirty="0"/>
              <a:t> </a:t>
            </a:r>
            <a:r>
              <a:rPr lang="en-US" sz="1200" b="1" dirty="0" smtClean="0"/>
              <a:t>however the standard dictates the specific requirements to ensure it is Framework</a:t>
            </a:r>
          </a:p>
          <a:p>
            <a:pPr>
              <a:buClr>
                <a:srgbClr val="526666"/>
              </a:buClr>
              <a:buFontTx/>
              <a:buChar char="•"/>
              <a:tabLst>
                <a:tab pos="112713" algn="l"/>
              </a:tabLst>
            </a:pPr>
            <a:endParaRPr lang="en-US" sz="1200" b="1" dirty="0" smtClean="0"/>
          </a:p>
          <a:p>
            <a:pPr>
              <a:buClr>
                <a:srgbClr val="526666"/>
              </a:buClr>
              <a:buFontTx/>
              <a:buChar char="•"/>
              <a:tabLst>
                <a:tab pos="112713" algn="l"/>
              </a:tabLst>
            </a:pPr>
            <a:r>
              <a:rPr lang="en-US" sz="1200" b="1" dirty="0" smtClean="0"/>
              <a:t> There are 14 context diagrams associated with the model flow, including associated data dictionaries, and 9 lists associated with this standard.</a:t>
            </a:r>
          </a:p>
          <a:p>
            <a:pPr>
              <a:buClr>
                <a:srgbClr val="526666"/>
              </a:buClr>
              <a:buFontTx/>
              <a:buChar char="•"/>
              <a:tabLst>
                <a:tab pos="112713" algn="l"/>
              </a:tabLst>
            </a:pPr>
            <a:endParaRPr lang="en-US" sz="1200" b="1" dirty="0"/>
          </a:p>
          <a:p>
            <a:pPr>
              <a:buClr>
                <a:srgbClr val="526666"/>
              </a:buClr>
              <a:buFontTx/>
              <a:buChar char="•"/>
              <a:tabLst>
                <a:tab pos="112713" algn="l"/>
              </a:tabLst>
            </a:pPr>
            <a:r>
              <a:rPr lang="en-US" sz="1200" b="1" dirty="0"/>
              <a:t> This module covers the specifications </a:t>
            </a:r>
            <a:r>
              <a:rPr lang="en-US" sz="1200" b="1" dirty="0" smtClean="0"/>
              <a:t>for Transportation: Transit framework data implementation</a:t>
            </a:r>
          </a:p>
          <a:p>
            <a:pPr lvl="1">
              <a:buClr>
                <a:srgbClr val="526666"/>
              </a:buClr>
              <a:buFontTx/>
              <a:buChar char="•"/>
              <a:tabLst>
                <a:tab pos="112713" algn="l"/>
              </a:tabLst>
            </a:pPr>
            <a:r>
              <a:rPr lang="en-US" sz="1200" b="1" dirty="0" smtClean="0"/>
              <a:t>Application Schema</a:t>
            </a:r>
          </a:p>
          <a:p>
            <a:pPr lvl="1">
              <a:buClr>
                <a:srgbClr val="526666"/>
              </a:buClr>
              <a:buFontTx/>
              <a:buChar char="•"/>
              <a:tabLst>
                <a:tab pos="112713" algn="l"/>
              </a:tabLst>
            </a:pPr>
            <a:r>
              <a:rPr lang="en-US" sz="1200" b="1" dirty="0" smtClean="0"/>
              <a:t>Data Dictionary</a:t>
            </a:r>
          </a:p>
          <a:p>
            <a:pPr lvl="1">
              <a:buClr>
                <a:srgbClr val="526666"/>
              </a:buClr>
              <a:buFontTx/>
              <a:buChar char="•"/>
              <a:tabLst>
                <a:tab pos="112713" algn="l"/>
              </a:tabLst>
            </a:pPr>
            <a:r>
              <a:rPr lang="en-US" sz="1200" b="1" dirty="0" smtClean="0"/>
              <a:t>Code List</a:t>
            </a:r>
            <a:endParaRPr lang="en-US" sz="1200" b="1" dirty="0"/>
          </a:p>
          <a:p>
            <a:pPr>
              <a:buClr>
                <a:srgbClr val="526666"/>
              </a:buClr>
              <a:buFontTx/>
              <a:buChar char="•"/>
              <a:tabLst>
                <a:tab pos="112713" algn="l"/>
              </a:tabLst>
            </a:pPr>
            <a:endParaRPr lang="en-US" sz="1200" b="1" dirty="0"/>
          </a:p>
          <a:p>
            <a:pPr>
              <a:buClr>
                <a:srgbClr val="526666"/>
              </a:buClr>
              <a:buFontTx/>
              <a:buChar char="•"/>
              <a:tabLst>
                <a:tab pos="112713" algn="l"/>
              </a:tabLst>
            </a:pPr>
            <a:r>
              <a:rPr lang="en-US" sz="1200" b="1" dirty="0"/>
              <a:t> Provides rigid requirements to ensure proper structure and documentation </a:t>
            </a:r>
            <a:r>
              <a:rPr lang="en-US" sz="1200" b="1" dirty="0" smtClean="0"/>
              <a:t>for Transportation: Transit data</a:t>
            </a:r>
            <a:endParaRPr lang="en-US" sz="1200" b="1" dirty="0"/>
          </a:p>
          <a:p>
            <a:pPr>
              <a:buClr>
                <a:srgbClr val="526666"/>
              </a:buClr>
              <a:buFontTx/>
              <a:buChar char="•"/>
              <a:tabLst>
                <a:tab pos="112713" algn="l"/>
              </a:tabLst>
            </a:pPr>
            <a:endParaRPr lang="en-US" sz="1200" b="1" dirty="0"/>
          </a:p>
          <a:p>
            <a:pPr>
              <a:buClr>
                <a:srgbClr val="526666"/>
              </a:buClr>
              <a:buFontTx/>
              <a:buChar char="•"/>
              <a:tabLst>
                <a:tab pos="112713" algn="l"/>
              </a:tabLst>
            </a:pPr>
            <a:r>
              <a:rPr lang="en-US" sz="1200" b="1" dirty="0"/>
              <a:t> UML diagrams and data dictionaries provide specifics for programmers and </a:t>
            </a:r>
            <a:r>
              <a:rPr lang="en-US" sz="1200" b="1" dirty="0" smtClean="0"/>
              <a:t>data </a:t>
            </a:r>
            <a:r>
              <a:rPr lang="en-US" sz="1200" b="1" dirty="0"/>
              <a:t>creators to develop </a:t>
            </a:r>
            <a:r>
              <a:rPr lang="en-US" sz="1200" b="1" dirty="0" smtClean="0"/>
              <a:t>Transportation: Transit data </a:t>
            </a:r>
            <a:r>
              <a:rPr lang="en-US" sz="1200" b="1" dirty="0"/>
              <a:t>that meets Framework </a:t>
            </a:r>
            <a:r>
              <a:rPr lang="en-US" sz="1200" b="1" dirty="0" smtClean="0"/>
              <a:t>specifications</a:t>
            </a:r>
            <a:endParaRPr lang="en-US" sz="1200" b="1" dirty="0"/>
          </a:p>
          <a:p>
            <a:pPr>
              <a:buClr>
                <a:srgbClr val="526666"/>
              </a:buClr>
              <a:tabLst>
                <a:tab pos="112713" algn="l"/>
              </a:tabLst>
            </a:pPr>
            <a:endParaRPr lang="en-US" sz="1200" b="1" dirty="0"/>
          </a:p>
        </p:txBody>
      </p:sp>
      <p:sp>
        <p:nvSpPr>
          <p:cNvPr id="4" name="Text Box 4"/>
          <p:cNvSpPr txBox="1">
            <a:spLocks noChangeArrowheads="1"/>
          </p:cNvSpPr>
          <p:nvPr/>
        </p:nvSpPr>
        <p:spPr bwMode="auto">
          <a:xfrm>
            <a:off x="304800" y="4876800"/>
            <a:ext cx="3048000" cy="336550"/>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N</a:t>
            </a:r>
            <a:r>
              <a:rPr lang="en-US" sz="1600" b="1" dirty="0" smtClean="0">
                <a:solidFill>
                  <a:srgbClr val="33338C"/>
                </a:solidFill>
                <a:effectLst>
                  <a:outerShdw blurRad="38100" dist="38100" dir="2700000" algn="tl">
                    <a:srgbClr val="C0C0C0"/>
                  </a:outerShdw>
                </a:effectLst>
                <a:latin typeface="Arial Black" pitchFamily="34" charset="0"/>
              </a:rPr>
              <a:t>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5" name="Text Box 5"/>
          <p:cNvSpPr txBox="1">
            <a:spLocks noChangeArrowheads="1"/>
          </p:cNvSpPr>
          <p:nvPr/>
        </p:nvSpPr>
        <p:spPr bwMode="auto">
          <a:xfrm>
            <a:off x="457200" y="5286375"/>
            <a:ext cx="2795588" cy="276225"/>
          </a:xfrm>
          <a:prstGeom prst="rect">
            <a:avLst/>
          </a:prstGeom>
          <a:noFill/>
          <a:ln w="9525">
            <a:noFill/>
            <a:miter lim="800000"/>
            <a:headEnd/>
            <a:tailEnd/>
          </a:ln>
        </p:spPr>
        <p:txBody>
          <a:bodyPr wrap="none">
            <a:spAutoFit/>
          </a:bodyPr>
          <a:lstStyle/>
          <a:p>
            <a:pPr>
              <a:defRPr/>
            </a:pPr>
            <a:r>
              <a:rPr lang="en-US" sz="1200" b="1" dirty="0">
                <a:effectLst>
                  <a:outerShdw blurRad="38100" dist="38100" dir="2700000" algn="tl">
                    <a:srgbClr val="C0C0C0"/>
                  </a:outerShdw>
                </a:effectLst>
                <a:latin typeface="+mn-lt"/>
              </a:rPr>
              <a:t>Module 4: Standard Implementation</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ext Box 2"/>
          <p:cNvSpPr txBox="1">
            <a:spLocks noChangeArrowheads="1"/>
          </p:cNvSpPr>
          <p:nvPr/>
        </p:nvSpPr>
        <p:spPr bwMode="auto">
          <a:xfrm>
            <a:off x="152400" y="838200"/>
            <a:ext cx="7864475" cy="338138"/>
          </a:xfrm>
          <a:prstGeom prst="rect">
            <a:avLst/>
          </a:prstGeom>
          <a:noFill/>
          <a:ln w="9525">
            <a:noFill/>
            <a:miter lim="800000"/>
            <a:headEnd/>
            <a:tailEnd/>
          </a:ln>
          <a:effectLst/>
        </p:spPr>
        <p:txBody>
          <a:bodyPr>
            <a:spAutoFit/>
          </a:bodyPr>
          <a:lstStyle/>
          <a:p>
            <a:pPr>
              <a:defRPr/>
            </a:pPr>
            <a:r>
              <a:rPr lang="en-US" sz="1600" b="1" dirty="0">
                <a:effectLst>
                  <a:outerShdw blurRad="38100" dist="38100" dir="2700000" algn="tl">
                    <a:srgbClr val="C0C0C0"/>
                  </a:outerShdw>
                </a:effectLst>
                <a:latin typeface="Arial Black" pitchFamily="34" charset="0"/>
              </a:rPr>
              <a:t>Module </a:t>
            </a:r>
            <a:r>
              <a:rPr lang="en-US" sz="1600" b="1" dirty="0" smtClean="0">
                <a:effectLst>
                  <a:outerShdw blurRad="38100" dist="38100" dir="2700000" algn="tl">
                    <a:srgbClr val="C0C0C0"/>
                  </a:outerShdw>
                </a:effectLst>
                <a:latin typeface="Arial Black" pitchFamily="34" charset="0"/>
              </a:rPr>
              <a:t>4: Examples, Exercise, and Certificate</a:t>
            </a:r>
            <a:endParaRPr lang="en-US" sz="1600" b="1" dirty="0">
              <a:effectLst>
                <a:outerShdw blurRad="38100" dist="38100" dir="2700000" algn="tl">
                  <a:srgbClr val="C0C0C0"/>
                </a:outerShdw>
              </a:effectLst>
              <a:latin typeface="Arial Black" pitchFamily="34" charset="0"/>
            </a:endParaRPr>
          </a:p>
        </p:txBody>
      </p:sp>
      <p:sp>
        <p:nvSpPr>
          <p:cNvPr id="41987" name="Text Box 3"/>
          <p:cNvSpPr txBox="1">
            <a:spLocks noChangeArrowheads="1"/>
          </p:cNvSpPr>
          <p:nvPr/>
        </p:nvSpPr>
        <p:spPr bwMode="auto">
          <a:xfrm>
            <a:off x="228600" y="1512888"/>
            <a:ext cx="3048000" cy="336550"/>
          </a:xfrm>
          <a:prstGeom prst="rect">
            <a:avLst/>
          </a:prstGeom>
          <a:noFill/>
          <a:ln w="9525">
            <a:noFill/>
            <a:miter lim="800000"/>
            <a:headEnd/>
            <a:tailEnd/>
          </a:ln>
          <a:effectLst/>
        </p:spPr>
        <p:txBody>
          <a:bodyPr>
            <a:spAutoFit/>
          </a:bodyPr>
          <a:lstStyle/>
          <a:p>
            <a:pPr>
              <a:defRPr/>
            </a:pPr>
            <a:r>
              <a:rPr lang="en-US" sz="1600" b="1" dirty="0">
                <a:solidFill>
                  <a:srgbClr val="33338C"/>
                </a:solidFill>
                <a:effectLst>
                  <a:outerShdw blurRad="38100" dist="38100" dir="2700000" algn="tl">
                    <a:srgbClr val="C0C0C0"/>
                  </a:outerShdw>
                </a:effectLst>
                <a:latin typeface="Arial Black" pitchFamily="34" charset="0"/>
              </a:rPr>
              <a:t>Topics</a:t>
            </a:r>
          </a:p>
        </p:txBody>
      </p:sp>
      <p:sp>
        <p:nvSpPr>
          <p:cNvPr id="45060" name="Text Box 4"/>
          <p:cNvSpPr txBox="1">
            <a:spLocks noChangeArrowheads="1"/>
          </p:cNvSpPr>
          <p:nvPr/>
        </p:nvSpPr>
        <p:spPr bwMode="auto">
          <a:xfrm>
            <a:off x="381000" y="2034671"/>
            <a:ext cx="6172200" cy="1421928"/>
          </a:xfrm>
          <a:prstGeom prst="rect">
            <a:avLst/>
          </a:prstGeom>
          <a:noFill/>
          <a:ln w="9525">
            <a:noFill/>
            <a:miter lim="800000"/>
            <a:headEnd/>
            <a:tailEnd/>
          </a:ln>
        </p:spPr>
        <p:txBody>
          <a:bodyPr>
            <a:spAutoFit/>
          </a:bodyPr>
          <a:lstStyle/>
          <a:p>
            <a:pPr>
              <a:lnSpc>
                <a:spcPct val="180000"/>
              </a:lnSpc>
              <a:buClr>
                <a:srgbClr val="33338C"/>
              </a:buClr>
              <a:buFontTx/>
              <a:buChar char="•"/>
            </a:pPr>
            <a:r>
              <a:rPr lang="en-US" sz="1200" b="1" dirty="0" smtClean="0"/>
              <a:t> Transportation: Transit Implementation Example</a:t>
            </a:r>
          </a:p>
          <a:p>
            <a:pPr>
              <a:lnSpc>
                <a:spcPct val="180000"/>
              </a:lnSpc>
              <a:buClr>
                <a:srgbClr val="33338C"/>
              </a:buClr>
              <a:buFontTx/>
              <a:buChar char="•"/>
            </a:pPr>
            <a:r>
              <a:rPr lang="en-US" sz="1200" b="1" dirty="0" smtClean="0"/>
              <a:t> Transportation: Transit Review </a:t>
            </a:r>
            <a:r>
              <a:rPr lang="en-US" sz="1200" b="1" dirty="0"/>
              <a:t>Exercise </a:t>
            </a:r>
            <a:endParaRPr lang="en-US" sz="1200" b="1" dirty="0" smtClean="0"/>
          </a:p>
          <a:p>
            <a:pPr>
              <a:lnSpc>
                <a:spcPct val="180000"/>
              </a:lnSpc>
              <a:buClr>
                <a:srgbClr val="33338C"/>
              </a:buClr>
              <a:buFontTx/>
              <a:buChar char="•"/>
            </a:pPr>
            <a:r>
              <a:rPr lang="en-US" sz="1200" b="1" dirty="0" smtClean="0"/>
              <a:t> Additional </a:t>
            </a:r>
            <a:r>
              <a:rPr lang="en-US" sz="1200" b="1" dirty="0" smtClean="0"/>
              <a:t>Information</a:t>
            </a:r>
            <a:endParaRPr lang="en-US" sz="1200" b="1" dirty="0"/>
          </a:p>
          <a:p>
            <a:pPr>
              <a:lnSpc>
                <a:spcPct val="180000"/>
              </a:lnSpc>
              <a:buClr>
                <a:srgbClr val="33338C"/>
              </a:buClr>
              <a:buFontTx/>
              <a:buChar char="•"/>
            </a:pPr>
            <a:r>
              <a:rPr lang="en-US" sz="1200" b="1" dirty="0" smtClean="0"/>
              <a:t> Certificate </a:t>
            </a:r>
            <a:r>
              <a:rPr lang="en-US" sz="1200" b="1" dirty="0"/>
              <a:t>of Completion</a:t>
            </a:r>
          </a:p>
        </p:txBody>
      </p:sp>
      <p:sp>
        <p:nvSpPr>
          <p:cNvPr id="5" name="Text Box 4"/>
          <p:cNvSpPr txBox="1">
            <a:spLocks noChangeArrowheads="1"/>
          </p:cNvSpPr>
          <p:nvPr/>
        </p:nvSpPr>
        <p:spPr bwMode="auto">
          <a:xfrm>
            <a:off x="304800" y="4876800"/>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First Topic</a:t>
            </a:r>
            <a:endParaRPr lang="en-US" sz="1600" b="1" dirty="0">
              <a:solidFill>
                <a:srgbClr val="33338C"/>
              </a:solidFill>
              <a:effectLst>
                <a:outerShdw blurRad="38100" dist="38100" dir="2700000" algn="tl">
                  <a:srgbClr val="C0C0C0"/>
                </a:outerShdw>
              </a:effectLst>
              <a:latin typeface="Arial Black" pitchFamily="34" charset="0"/>
            </a:endParaRPr>
          </a:p>
        </p:txBody>
      </p:sp>
      <p:sp>
        <p:nvSpPr>
          <p:cNvPr id="45062" name="Rectangle 5"/>
          <p:cNvSpPr>
            <a:spLocks noChangeArrowheads="1"/>
          </p:cNvSpPr>
          <p:nvPr/>
        </p:nvSpPr>
        <p:spPr bwMode="auto">
          <a:xfrm>
            <a:off x="520700" y="5105400"/>
            <a:ext cx="1795363" cy="382284"/>
          </a:xfrm>
          <a:prstGeom prst="rect">
            <a:avLst/>
          </a:prstGeom>
          <a:noFill/>
          <a:ln w="9525">
            <a:noFill/>
            <a:miter lim="800000"/>
            <a:headEnd/>
            <a:tailEnd/>
          </a:ln>
        </p:spPr>
        <p:txBody>
          <a:bodyPr wrap="none">
            <a:spAutoFit/>
          </a:bodyPr>
          <a:lstStyle/>
          <a:p>
            <a:pPr>
              <a:lnSpc>
                <a:spcPct val="180000"/>
              </a:lnSpc>
              <a:buClr>
                <a:srgbClr val="526666"/>
              </a:buClr>
            </a:pPr>
            <a:r>
              <a:rPr lang="en-US" sz="1200" b="1" dirty="0" smtClean="0"/>
              <a:t>Implementation Example</a:t>
            </a:r>
            <a:endParaRPr lang="en-US" sz="1200" b="1" dirty="0"/>
          </a:p>
        </p:txBody>
      </p:sp>
      <p:pic>
        <p:nvPicPr>
          <p:cNvPr id="2" name="Picture 1"/>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302124" y="1879600"/>
            <a:ext cx="4079875" cy="3661426"/>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304800" y="5490694"/>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a:t>
            </a:r>
            <a:r>
              <a:rPr lang="en-US" sz="1600" b="1" dirty="0">
                <a:solidFill>
                  <a:srgbClr val="33338C"/>
                </a:solidFill>
                <a:effectLst>
                  <a:outerShdw blurRad="38100" dist="38100" dir="2700000" algn="tl">
                    <a:srgbClr val="C0C0C0"/>
                  </a:outerShdw>
                </a:effectLst>
                <a:latin typeface="Arial Black" pitchFamily="34" charset="0"/>
              </a:rPr>
              <a:t>Topic</a:t>
            </a:r>
          </a:p>
        </p:txBody>
      </p:sp>
      <p:sp>
        <p:nvSpPr>
          <p:cNvPr id="3" name="Rectangle 5"/>
          <p:cNvSpPr>
            <a:spLocks noChangeArrowheads="1"/>
          </p:cNvSpPr>
          <p:nvPr/>
        </p:nvSpPr>
        <p:spPr bwMode="auto">
          <a:xfrm>
            <a:off x="520700" y="5719294"/>
            <a:ext cx="2525820" cy="424732"/>
          </a:xfrm>
          <a:prstGeom prst="rect">
            <a:avLst/>
          </a:prstGeom>
          <a:noFill/>
          <a:ln w="9525">
            <a:noFill/>
            <a:miter lim="800000"/>
            <a:headEnd/>
            <a:tailEnd/>
          </a:ln>
        </p:spPr>
        <p:txBody>
          <a:bodyPr wrap="none">
            <a:spAutoFit/>
          </a:bodyPr>
          <a:lstStyle/>
          <a:p>
            <a:pPr>
              <a:lnSpc>
                <a:spcPct val="180000"/>
              </a:lnSpc>
              <a:buClr>
                <a:srgbClr val="526666"/>
              </a:buClr>
            </a:pPr>
            <a:r>
              <a:rPr lang="en-US" sz="1200" b="1" dirty="0" smtClean="0"/>
              <a:t>Transportation: Transit Final Exercise</a:t>
            </a:r>
            <a:endParaRPr lang="en-US" sz="1200" b="1" dirty="0"/>
          </a:p>
        </p:txBody>
      </p:sp>
      <p:sp>
        <p:nvSpPr>
          <p:cNvPr id="4" name="Text Box 2"/>
          <p:cNvSpPr txBox="1">
            <a:spLocks noChangeArrowheads="1"/>
          </p:cNvSpPr>
          <p:nvPr/>
        </p:nvSpPr>
        <p:spPr bwMode="auto">
          <a:xfrm>
            <a:off x="228600" y="950913"/>
            <a:ext cx="4953000" cy="338554"/>
          </a:xfrm>
          <a:prstGeom prst="rect">
            <a:avLst/>
          </a:prstGeom>
          <a:noFill/>
          <a:ln w="9525">
            <a:noFill/>
            <a:miter lim="800000"/>
            <a:headEnd/>
            <a:tailEnd/>
          </a:ln>
          <a:effectLst/>
        </p:spPr>
        <p:txBody>
          <a:bodyPr wrap="square">
            <a:spAutoFit/>
          </a:bodyPr>
          <a:lstStyle/>
          <a:p>
            <a:pPr>
              <a:defRPr/>
            </a:pPr>
            <a:r>
              <a:rPr lang="en-US" sz="1600" b="1" u="sng" dirty="0" smtClean="0">
                <a:effectLst>
                  <a:outerShdw blurRad="38100" dist="38100" dir="2700000" algn="tl">
                    <a:srgbClr val="C0C0C0"/>
                  </a:outerShdw>
                </a:effectLst>
                <a:latin typeface="Arial Black" pitchFamily="34" charset="0"/>
              </a:rPr>
              <a:t>Implementation Example</a:t>
            </a:r>
            <a:endParaRPr lang="en-US" sz="1600" b="1" u="sng" dirty="0">
              <a:effectLst>
                <a:outerShdw blurRad="38100" dist="38100" dir="2700000" algn="tl">
                  <a:srgbClr val="C0C0C0"/>
                </a:outerShdw>
              </a:effectLst>
              <a:latin typeface="Arial Black" pitchFamily="34" charset="0"/>
            </a:endParaRPr>
          </a:p>
        </p:txBody>
      </p:sp>
      <p:sp>
        <p:nvSpPr>
          <p:cNvPr id="18" name="TextBox 17"/>
          <p:cNvSpPr txBox="1"/>
          <p:nvPr/>
        </p:nvSpPr>
        <p:spPr>
          <a:xfrm>
            <a:off x="220462" y="2286000"/>
            <a:ext cx="3581400" cy="2062103"/>
          </a:xfrm>
          <a:prstGeom prst="rect">
            <a:avLst/>
          </a:prstGeom>
          <a:noFill/>
        </p:spPr>
        <p:txBody>
          <a:bodyPr wrap="square" rtlCol="0">
            <a:spAutoFit/>
          </a:bodyPr>
          <a:lstStyle/>
          <a:p>
            <a:r>
              <a:rPr lang="en-US" sz="1600" dirty="0" smtClean="0"/>
              <a:t>This example illustrates how Transportation: Transit data can be implemented in a real world example.  This diagram shows the data requirements for the Washington Metro Area Transit Authority.  The bold items are the minimum requirements for this specific application.</a:t>
            </a:r>
            <a:endParaRPr lang="en-US" sz="1600" dirty="0"/>
          </a:p>
        </p:txBody>
      </p:sp>
      <p:pic>
        <p:nvPicPr>
          <p:cNvPr id="5" name="Picture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4648200" y="862681"/>
            <a:ext cx="4400550" cy="5814344"/>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304800" y="5490694"/>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Topic</a:t>
            </a:r>
            <a:endParaRPr lang="en-US" sz="1600" b="1" dirty="0">
              <a:solidFill>
                <a:srgbClr val="33338C"/>
              </a:solidFill>
              <a:effectLst>
                <a:outerShdw blurRad="38100" dist="38100" dir="2700000" algn="tl">
                  <a:srgbClr val="C0C0C0"/>
                </a:outerShdw>
              </a:effectLst>
              <a:latin typeface="Arial Black" pitchFamily="34" charset="0"/>
            </a:endParaRPr>
          </a:p>
        </p:txBody>
      </p:sp>
      <p:sp>
        <p:nvSpPr>
          <p:cNvPr id="3" name="Rectangle 5"/>
          <p:cNvSpPr>
            <a:spLocks noChangeArrowheads="1"/>
          </p:cNvSpPr>
          <p:nvPr/>
        </p:nvSpPr>
        <p:spPr bwMode="auto">
          <a:xfrm>
            <a:off x="520700" y="5719294"/>
            <a:ext cx="1654877" cy="382284"/>
          </a:xfrm>
          <a:prstGeom prst="rect">
            <a:avLst/>
          </a:prstGeom>
          <a:noFill/>
          <a:ln w="9525">
            <a:noFill/>
            <a:miter lim="800000"/>
            <a:headEnd/>
            <a:tailEnd/>
          </a:ln>
        </p:spPr>
        <p:txBody>
          <a:bodyPr wrap="none">
            <a:spAutoFit/>
          </a:bodyPr>
          <a:lstStyle/>
          <a:p>
            <a:pPr>
              <a:lnSpc>
                <a:spcPct val="180000"/>
              </a:lnSpc>
              <a:buClr>
                <a:srgbClr val="526666"/>
              </a:buClr>
            </a:pPr>
            <a:r>
              <a:rPr lang="en-US" sz="1200" b="1" dirty="0" smtClean="0"/>
              <a:t>Additional Information</a:t>
            </a:r>
            <a:endParaRPr lang="en-US" sz="1200" b="1" dirty="0"/>
          </a:p>
        </p:txBody>
      </p:sp>
      <p:sp>
        <p:nvSpPr>
          <p:cNvPr id="4" name="Text Box 2"/>
          <p:cNvSpPr txBox="1">
            <a:spLocks noChangeArrowheads="1"/>
          </p:cNvSpPr>
          <p:nvPr/>
        </p:nvSpPr>
        <p:spPr bwMode="auto">
          <a:xfrm>
            <a:off x="228600" y="950913"/>
            <a:ext cx="4953000" cy="338554"/>
          </a:xfrm>
          <a:prstGeom prst="rect">
            <a:avLst/>
          </a:prstGeom>
          <a:noFill/>
          <a:ln w="9525">
            <a:noFill/>
            <a:miter lim="800000"/>
            <a:headEnd/>
            <a:tailEnd/>
          </a:ln>
          <a:effectLst/>
        </p:spPr>
        <p:txBody>
          <a:bodyPr wrap="square">
            <a:spAutoFit/>
          </a:bodyPr>
          <a:lstStyle/>
          <a:p>
            <a:pPr>
              <a:defRPr/>
            </a:pPr>
            <a:r>
              <a:rPr lang="en-US" sz="1600" b="1" u="sng" dirty="0" smtClean="0">
                <a:effectLst>
                  <a:outerShdw blurRad="38100" dist="38100" dir="2700000" algn="tl">
                    <a:srgbClr val="C0C0C0"/>
                  </a:outerShdw>
                </a:effectLst>
                <a:latin typeface="Arial Black" pitchFamily="34" charset="0"/>
              </a:rPr>
              <a:t>Transportation: Transit Final Exercise</a:t>
            </a:r>
            <a:endParaRPr lang="en-US" sz="1600" b="1" u="sng" dirty="0">
              <a:effectLst>
                <a:outerShdw blurRad="38100" dist="38100" dir="2700000" algn="tl">
                  <a:srgbClr val="C0C0C0"/>
                </a:outerShdw>
              </a:effectLst>
              <a:latin typeface="Arial Black" pitchFamily="34" charset="0"/>
            </a:endParaRPr>
          </a:p>
        </p:txBody>
      </p:sp>
      <p:sp>
        <p:nvSpPr>
          <p:cNvPr id="5" name="Rectangle 7"/>
          <p:cNvSpPr>
            <a:spLocks noChangeArrowheads="1"/>
          </p:cNvSpPr>
          <p:nvPr/>
        </p:nvSpPr>
        <p:spPr bwMode="auto">
          <a:xfrm>
            <a:off x="304800" y="1752600"/>
            <a:ext cx="5257800" cy="3046988"/>
          </a:xfrm>
          <a:prstGeom prst="rect">
            <a:avLst/>
          </a:prstGeom>
          <a:noFill/>
          <a:ln w="9525">
            <a:noFill/>
            <a:miter lim="800000"/>
            <a:headEnd/>
            <a:tailEnd/>
          </a:ln>
        </p:spPr>
        <p:txBody>
          <a:bodyPr>
            <a:spAutoFit/>
          </a:bodyPr>
          <a:lstStyle/>
          <a:p>
            <a:pPr marL="228600" indent="-228600">
              <a:buFont typeface="+mj-lt"/>
              <a:buAutoNum type="arabicPeriod"/>
            </a:pPr>
            <a:r>
              <a:rPr lang="en-US" sz="1200" b="1" dirty="0" smtClean="0"/>
              <a:t>Click on the following hyperlink:</a:t>
            </a:r>
            <a:br>
              <a:rPr lang="en-US" sz="1200" b="1" dirty="0" smtClean="0"/>
            </a:br>
            <a:r>
              <a:rPr lang="en-US" sz="1200" b="1" dirty="0" smtClean="0"/>
              <a:t/>
            </a:r>
            <a:br>
              <a:rPr lang="en-US" sz="1200" b="1" dirty="0" smtClean="0"/>
            </a:br>
            <a:r>
              <a:rPr lang="en-US" sz="1200" dirty="0">
                <a:hlinkClick r:id="rId2"/>
              </a:rPr>
              <a:t>http://www.vre.org/service/systmmp.htm</a:t>
            </a:r>
            <a:r>
              <a:rPr lang="en-US" sz="1200" dirty="0" smtClean="0"/>
              <a:t/>
            </a:r>
            <a:br>
              <a:rPr lang="en-US" sz="1200" dirty="0" smtClean="0"/>
            </a:br>
            <a:endParaRPr lang="en-US" sz="1200" b="1" dirty="0" smtClean="0"/>
          </a:p>
          <a:p>
            <a:pPr marL="228600" indent="-228600">
              <a:buFont typeface="+mj-lt"/>
              <a:buAutoNum type="arabicPeriod"/>
            </a:pPr>
            <a:r>
              <a:rPr lang="en-US" sz="1200" b="1" dirty="0" smtClean="0"/>
              <a:t>Review the website and explore the different service information provided by the Virginia Railway Express</a:t>
            </a:r>
          </a:p>
          <a:p>
            <a:pPr marL="228600" indent="-228600">
              <a:buFont typeface="+mj-lt"/>
              <a:buAutoNum type="arabicPeriod"/>
            </a:pPr>
            <a:endParaRPr lang="en-US" sz="1200" b="1" dirty="0" smtClean="0"/>
          </a:p>
          <a:p>
            <a:pPr marL="228600" indent="-228600">
              <a:buFont typeface="+mj-lt"/>
              <a:buAutoNum type="arabicPeriod"/>
            </a:pPr>
            <a:r>
              <a:rPr lang="en-US" sz="1200" b="1" dirty="0" smtClean="0"/>
              <a:t>After reviewing all the site, click on the following link:</a:t>
            </a:r>
            <a:br>
              <a:rPr lang="en-US" sz="1200" b="1" dirty="0" smtClean="0"/>
            </a:br>
            <a:r>
              <a:rPr lang="en-US" sz="1200" dirty="0">
                <a:hlinkClick r:id="rId3"/>
              </a:rPr>
              <a:t>http://www.vre.org/vremap/app?action=ovmap</a:t>
            </a:r>
            <a:r>
              <a:rPr lang="en-US" sz="1200" b="1" dirty="0" smtClean="0"/>
              <a:t/>
            </a:r>
            <a:br>
              <a:rPr lang="en-US" sz="1200" b="1" dirty="0" smtClean="0"/>
            </a:br>
            <a:endParaRPr lang="en-US" sz="1200" b="1" dirty="0" smtClean="0"/>
          </a:p>
          <a:p>
            <a:pPr marL="228600" indent="-228600">
              <a:buFont typeface="+mj-lt"/>
              <a:buAutoNum type="arabicPeriod"/>
            </a:pPr>
            <a:r>
              <a:rPr lang="en-US" sz="1200" b="1" dirty="0" smtClean="0"/>
              <a:t>Explore the application and click on one or more of the different trains that are currently displayed.</a:t>
            </a:r>
            <a:br>
              <a:rPr lang="en-US" sz="1200" b="1" dirty="0" smtClean="0"/>
            </a:br>
            <a:endParaRPr lang="en-US" sz="1200" b="1" dirty="0" smtClean="0"/>
          </a:p>
          <a:p>
            <a:pPr marL="228600" indent="-228600">
              <a:buFont typeface="+mj-lt"/>
              <a:buAutoNum type="arabicPeriod"/>
            </a:pPr>
            <a:r>
              <a:rPr lang="en-US" sz="1200" b="1" dirty="0" smtClean="0"/>
              <a:t>Notice how this site shows data at multiple different levels but incorporates all of the key aspects of Framework Transit Data. </a:t>
            </a:r>
            <a:br>
              <a:rPr lang="en-US" sz="1200" b="1" dirty="0" smtClean="0"/>
            </a:br>
            <a:endParaRPr lang="en-US" sz="1200" b="1"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p:cNvSpPr txBox="1">
            <a:spLocks noChangeArrowheads="1"/>
          </p:cNvSpPr>
          <p:nvPr/>
        </p:nvSpPr>
        <p:spPr bwMode="auto">
          <a:xfrm>
            <a:off x="304800" y="5490694"/>
            <a:ext cx="3048000" cy="336550"/>
          </a:xfrm>
          <a:prstGeom prst="rect">
            <a:avLst/>
          </a:prstGeom>
          <a:noFill/>
          <a:ln w="9525">
            <a:noFill/>
            <a:miter lim="800000"/>
            <a:headEnd/>
            <a:tailEnd/>
          </a:ln>
          <a:effectLst/>
        </p:spPr>
        <p:txBody>
          <a:bodyPr>
            <a:spAutoFit/>
          </a:bodyPr>
          <a:lstStyle/>
          <a:p>
            <a:pPr>
              <a:defRPr/>
            </a:pPr>
            <a:r>
              <a:rPr lang="en-US" sz="1600" b="1" dirty="0" smtClean="0">
                <a:solidFill>
                  <a:srgbClr val="33338C"/>
                </a:solidFill>
                <a:effectLst>
                  <a:outerShdw blurRad="38100" dist="38100" dir="2700000" algn="tl">
                    <a:srgbClr val="C0C0C0"/>
                  </a:outerShdw>
                </a:effectLst>
                <a:latin typeface="Arial Black" pitchFamily="34" charset="0"/>
              </a:rPr>
              <a:t>Next Topic</a:t>
            </a:r>
            <a:endParaRPr lang="en-US" sz="1600" b="1" dirty="0">
              <a:solidFill>
                <a:srgbClr val="33338C"/>
              </a:solidFill>
              <a:effectLst>
                <a:outerShdw blurRad="38100" dist="38100" dir="2700000" algn="tl">
                  <a:srgbClr val="C0C0C0"/>
                </a:outerShdw>
              </a:effectLst>
              <a:latin typeface="Arial Black" pitchFamily="34" charset="0"/>
            </a:endParaRPr>
          </a:p>
        </p:txBody>
      </p:sp>
      <p:sp>
        <p:nvSpPr>
          <p:cNvPr id="3" name="Rectangle 5"/>
          <p:cNvSpPr>
            <a:spLocks noChangeArrowheads="1"/>
          </p:cNvSpPr>
          <p:nvPr/>
        </p:nvSpPr>
        <p:spPr bwMode="auto">
          <a:xfrm>
            <a:off x="520700" y="5719294"/>
            <a:ext cx="1579278" cy="376706"/>
          </a:xfrm>
          <a:prstGeom prst="rect">
            <a:avLst/>
          </a:prstGeom>
          <a:noFill/>
          <a:ln w="9525">
            <a:noFill/>
            <a:miter lim="800000"/>
            <a:headEnd/>
            <a:tailEnd/>
          </a:ln>
        </p:spPr>
        <p:txBody>
          <a:bodyPr wrap="none">
            <a:spAutoFit/>
          </a:bodyPr>
          <a:lstStyle/>
          <a:p>
            <a:pPr>
              <a:lnSpc>
                <a:spcPct val="180000"/>
              </a:lnSpc>
              <a:buClr>
                <a:srgbClr val="526666"/>
              </a:buClr>
            </a:pPr>
            <a:r>
              <a:rPr lang="en-US" sz="1200" b="1" dirty="0" smtClean="0"/>
              <a:t>Course completion</a:t>
            </a:r>
            <a:endParaRPr lang="en-US" sz="1200" b="1" dirty="0"/>
          </a:p>
        </p:txBody>
      </p:sp>
      <p:sp>
        <p:nvSpPr>
          <p:cNvPr id="4" name="Text Box 2"/>
          <p:cNvSpPr txBox="1">
            <a:spLocks noChangeArrowheads="1"/>
          </p:cNvSpPr>
          <p:nvPr/>
        </p:nvSpPr>
        <p:spPr bwMode="auto">
          <a:xfrm>
            <a:off x="228600" y="950913"/>
            <a:ext cx="4953000" cy="338554"/>
          </a:xfrm>
          <a:prstGeom prst="rect">
            <a:avLst/>
          </a:prstGeom>
          <a:noFill/>
          <a:ln w="9525">
            <a:noFill/>
            <a:miter lim="800000"/>
            <a:headEnd/>
            <a:tailEnd/>
          </a:ln>
          <a:effectLst/>
        </p:spPr>
        <p:txBody>
          <a:bodyPr wrap="square">
            <a:spAutoFit/>
          </a:bodyPr>
          <a:lstStyle/>
          <a:p>
            <a:pPr>
              <a:defRPr/>
            </a:pPr>
            <a:r>
              <a:rPr lang="en-US" sz="1600" b="1" u="sng" dirty="0" smtClean="0">
                <a:effectLst>
                  <a:outerShdw blurRad="38100" dist="38100" dir="2700000" algn="tl">
                    <a:srgbClr val="C0C0C0"/>
                  </a:outerShdw>
                </a:effectLst>
                <a:latin typeface="Arial Black" pitchFamily="34" charset="0"/>
              </a:rPr>
              <a:t>Transportation: Additional Information</a:t>
            </a:r>
            <a:endParaRPr lang="en-US" sz="1600" b="1" u="sng" dirty="0">
              <a:effectLst>
                <a:outerShdw blurRad="38100" dist="38100" dir="2700000" algn="tl">
                  <a:srgbClr val="C0C0C0"/>
                </a:outerShdw>
              </a:effectLst>
              <a:latin typeface="Arial Black" pitchFamily="34" charset="0"/>
            </a:endParaRPr>
          </a:p>
        </p:txBody>
      </p:sp>
      <p:sp>
        <p:nvSpPr>
          <p:cNvPr id="5" name="Rectangle 7"/>
          <p:cNvSpPr>
            <a:spLocks noChangeArrowheads="1"/>
          </p:cNvSpPr>
          <p:nvPr/>
        </p:nvSpPr>
        <p:spPr bwMode="auto">
          <a:xfrm>
            <a:off x="304800" y="1752600"/>
            <a:ext cx="5257800" cy="461665"/>
          </a:xfrm>
          <a:prstGeom prst="rect">
            <a:avLst/>
          </a:prstGeom>
          <a:noFill/>
          <a:ln w="9525">
            <a:noFill/>
            <a:miter lim="800000"/>
            <a:headEnd/>
            <a:tailEnd/>
          </a:ln>
        </p:spPr>
        <p:txBody>
          <a:bodyPr>
            <a:spAutoFit/>
          </a:bodyPr>
          <a:lstStyle/>
          <a:p>
            <a:r>
              <a:rPr lang="en-US" sz="1200" b="1" dirty="0" smtClean="0"/>
              <a:t/>
            </a:r>
            <a:br>
              <a:rPr lang="en-US" sz="1200" b="1" dirty="0" smtClean="0"/>
            </a:br>
            <a:endParaRPr lang="en-US" sz="1200" b="1" dirty="0"/>
          </a:p>
        </p:txBody>
      </p:sp>
      <p:sp>
        <p:nvSpPr>
          <p:cNvPr id="6" name="Rectangle 5"/>
          <p:cNvSpPr/>
          <p:nvPr/>
        </p:nvSpPr>
        <p:spPr>
          <a:xfrm>
            <a:off x="419100" y="1441622"/>
            <a:ext cx="3086100" cy="4154984"/>
          </a:xfrm>
          <a:prstGeom prst="rect">
            <a:avLst/>
          </a:prstGeom>
        </p:spPr>
        <p:txBody>
          <a:bodyPr wrap="square">
            <a:spAutoFit/>
          </a:bodyPr>
          <a:lstStyle/>
          <a:p>
            <a:r>
              <a:rPr lang="en-US" sz="1200" dirty="0"/>
              <a:t>In developing </a:t>
            </a:r>
            <a:r>
              <a:rPr lang="en-US" sz="1200" dirty="0" smtClean="0"/>
              <a:t>the Transit part of </a:t>
            </a:r>
            <a:r>
              <a:rPr lang="en-US" sz="1200" dirty="0"/>
              <a:t>the Framework Data Content Standard, specific transit use cases </a:t>
            </a:r>
            <a:r>
              <a:rPr lang="en-US" sz="1200" dirty="0" smtClean="0"/>
              <a:t>were </a:t>
            </a:r>
            <a:r>
              <a:rPr lang="en-US" sz="1200" dirty="0"/>
              <a:t>utilized to assist in defining the transit model. While these use cases are not comprehensive </a:t>
            </a:r>
            <a:r>
              <a:rPr lang="en-US" sz="1200" dirty="0" smtClean="0"/>
              <a:t>in </a:t>
            </a:r>
            <a:r>
              <a:rPr lang="en-US" sz="1200" dirty="0"/>
              <a:t>defining all the potential uses of transit data, they were critical in providing focus for </a:t>
            </a:r>
            <a:r>
              <a:rPr lang="en-US" sz="1200" dirty="0" smtClean="0"/>
              <a:t>the </a:t>
            </a:r>
            <a:r>
              <a:rPr lang="en-US" sz="1200" dirty="0"/>
              <a:t>development team. In future versions of the Transit part, additional use cases will be </a:t>
            </a:r>
            <a:r>
              <a:rPr lang="en-US" sz="1200" dirty="0" smtClean="0"/>
              <a:t>developed </a:t>
            </a:r>
            <a:r>
              <a:rPr lang="en-US" sz="1200" dirty="0"/>
              <a:t>to facilitate expansion of the transit model</a:t>
            </a:r>
            <a:r>
              <a:rPr lang="en-US" sz="1200" dirty="0" smtClean="0"/>
              <a:t>.</a:t>
            </a:r>
          </a:p>
          <a:p>
            <a:endParaRPr lang="en-US" sz="1200" dirty="0"/>
          </a:p>
          <a:p>
            <a:r>
              <a:rPr lang="en-US" sz="1200" dirty="0" smtClean="0"/>
              <a:t>The use cases are provided in the Annexes of the standard and include:</a:t>
            </a:r>
          </a:p>
          <a:p>
            <a:endParaRPr lang="en-US" sz="1200" dirty="0"/>
          </a:p>
          <a:p>
            <a:pPr marL="285750" indent="-285750">
              <a:buFont typeface="Arial" pitchFamily="34" charset="0"/>
              <a:buChar char="•"/>
            </a:pPr>
            <a:r>
              <a:rPr lang="en-US" sz="1200" b="1" dirty="0" smtClean="0"/>
              <a:t>Trip Itinerary</a:t>
            </a:r>
          </a:p>
          <a:p>
            <a:pPr marL="285750" indent="-285750">
              <a:buFont typeface="Arial" pitchFamily="34" charset="0"/>
              <a:buChar char="•"/>
            </a:pPr>
            <a:r>
              <a:rPr lang="en-US" sz="1200" b="1" dirty="0" smtClean="0"/>
              <a:t>Public Transportation Stop Inventory</a:t>
            </a:r>
          </a:p>
          <a:p>
            <a:pPr marL="285750" indent="-285750">
              <a:buFont typeface="Arial" pitchFamily="34" charset="0"/>
              <a:buChar char="•"/>
            </a:pPr>
            <a:r>
              <a:rPr lang="en-US" sz="1200" b="1" dirty="0" smtClean="0"/>
              <a:t>Unplanned Rerouting</a:t>
            </a:r>
          </a:p>
          <a:p>
            <a:endParaRPr lang="en-US" sz="1200" dirty="0"/>
          </a:p>
          <a:p>
            <a:r>
              <a:rPr lang="en-US" sz="1200" dirty="0" smtClean="0"/>
              <a:t>Additionally address information is not implicit to the Transportation: Transit standard, however a general approach to using addresses is included as Appendix D.</a:t>
            </a:r>
            <a:endParaRPr lang="en-US" sz="1200" dirty="0"/>
          </a:p>
        </p:txBody>
      </p:sp>
      <p:pic>
        <p:nvPicPr>
          <p:cNvPr id="7" name="Picture 6"/>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3733800" y="1410550"/>
            <a:ext cx="5102424" cy="3826818"/>
          </a:xfrm>
          <a:prstGeom prst="rect">
            <a:avLst/>
          </a:prstGeom>
        </p:spPr>
      </p:pic>
    </p:spTree>
    <p:extLst>
      <p:ext uri="{BB962C8B-B14F-4D97-AF65-F5344CB8AC3E}">
        <p14:creationId xmlns:p14="http://schemas.microsoft.com/office/powerpoint/2010/main" xmlns="" val="299104525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90" name="Text Box 2"/>
          <p:cNvSpPr txBox="1">
            <a:spLocks noChangeArrowheads="1"/>
          </p:cNvSpPr>
          <p:nvPr/>
        </p:nvSpPr>
        <p:spPr bwMode="auto">
          <a:xfrm>
            <a:off x="228600" y="969963"/>
            <a:ext cx="5080000" cy="369332"/>
          </a:xfrm>
          <a:prstGeom prst="rect">
            <a:avLst/>
          </a:prstGeom>
          <a:noFill/>
          <a:ln w="9525">
            <a:noFill/>
            <a:miter lim="800000"/>
            <a:headEnd/>
            <a:tailEnd/>
          </a:ln>
          <a:effectLst/>
        </p:spPr>
        <p:txBody>
          <a:bodyPr>
            <a:spAutoFit/>
          </a:bodyPr>
          <a:lstStyle/>
          <a:p>
            <a:pPr>
              <a:defRPr/>
            </a:pPr>
            <a:r>
              <a:rPr lang="en-US" u="sng" dirty="0">
                <a:effectLst>
                  <a:outerShdw blurRad="38100" dist="38100" dir="2700000" algn="tl">
                    <a:srgbClr val="C0C0C0"/>
                  </a:outerShdw>
                </a:effectLst>
                <a:latin typeface="Arial Black" pitchFamily="34" charset="0"/>
              </a:rPr>
              <a:t>Course Certificate</a:t>
            </a:r>
          </a:p>
        </p:txBody>
      </p:sp>
      <p:sp>
        <p:nvSpPr>
          <p:cNvPr id="108547" name="Text Box 5"/>
          <p:cNvSpPr txBox="1">
            <a:spLocks noChangeArrowheads="1"/>
          </p:cNvSpPr>
          <p:nvPr/>
        </p:nvSpPr>
        <p:spPr bwMode="auto">
          <a:xfrm>
            <a:off x="457200" y="2819400"/>
            <a:ext cx="2965450" cy="274638"/>
          </a:xfrm>
          <a:prstGeom prst="rect">
            <a:avLst/>
          </a:prstGeom>
          <a:noFill/>
          <a:ln w="9525">
            <a:noFill/>
            <a:miter lim="800000"/>
            <a:headEnd/>
            <a:tailEnd/>
          </a:ln>
        </p:spPr>
        <p:txBody>
          <a:bodyPr wrap="none">
            <a:spAutoFit/>
          </a:bodyPr>
          <a:lstStyle/>
          <a:p>
            <a:pPr>
              <a:buClr>
                <a:srgbClr val="526666"/>
              </a:buClr>
            </a:pPr>
            <a:r>
              <a:rPr lang="en-US" sz="1200" dirty="0">
                <a:hlinkClick r:id="rId4"/>
              </a:rPr>
              <a:t>Click here to receive course certificate</a:t>
            </a:r>
            <a:endParaRPr lang="en-US" sz="1200" dirty="0"/>
          </a:p>
        </p:txBody>
      </p:sp>
      <p:sp>
        <p:nvSpPr>
          <p:cNvPr id="108548" name="Text Box 13"/>
          <p:cNvSpPr txBox="1">
            <a:spLocks noChangeArrowheads="1"/>
          </p:cNvSpPr>
          <p:nvPr/>
        </p:nvSpPr>
        <p:spPr bwMode="auto">
          <a:xfrm>
            <a:off x="433388" y="1457325"/>
            <a:ext cx="6013450" cy="1200329"/>
          </a:xfrm>
          <a:prstGeom prst="rect">
            <a:avLst/>
          </a:prstGeom>
          <a:noFill/>
          <a:ln w="9525">
            <a:noFill/>
            <a:miter lim="800000"/>
            <a:headEnd/>
            <a:tailEnd/>
          </a:ln>
        </p:spPr>
        <p:txBody>
          <a:bodyPr>
            <a:spAutoFit/>
          </a:bodyPr>
          <a:lstStyle/>
          <a:p>
            <a:pPr>
              <a:buClr>
                <a:srgbClr val="526666"/>
              </a:buClr>
            </a:pPr>
            <a:r>
              <a:rPr lang="en-US" sz="1200" dirty="0"/>
              <a:t>Congratulations, you have successfully completed the Framework </a:t>
            </a:r>
            <a:r>
              <a:rPr lang="en-US" sz="1200" dirty="0" smtClean="0"/>
              <a:t>Transportation: Transit Standard </a:t>
            </a:r>
            <a:r>
              <a:rPr lang="en-US" sz="1200" dirty="0"/>
              <a:t>Training!  In order to print the certificate below you will need a copy of Adobe Acrobat Reader, </a:t>
            </a:r>
            <a:r>
              <a:rPr lang="en-US" sz="1200" dirty="0">
                <a:hlinkClick r:id="rId5"/>
              </a:rPr>
              <a:t>http://www.adobe.com/products/acrobat/readstep2.html</a:t>
            </a:r>
            <a:r>
              <a:rPr lang="en-US" sz="1200" dirty="0"/>
              <a:t>.</a:t>
            </a:r>
          </a:p>
          <a:p>
            <a:pPr>
              <a:buClr>
                <a:srgbClr val="526666"/>
              </a:buClr>
            </a:pPr>
            <a:endParaRPr lang="en-US" sz="1200" dirty="0"/>
          </a:p>
          <a:p>
            <a:pPr>
              <a:buClr>
                <a:srgbClr val="526666"/>
              </a:buClr>
            </a:pPr>
            <a:r>
              <a:rPr lang="en-US" sz="1200" dirty="0"/>
              <a:t>After you open the certificate file, type your name and today’s date on the name/date line and print.  </a:t>
            </a:r>
          </a:p>
        </p:txBody>
      </p:sp>
    </p:spTree>
    <p:custDataLst>
      <p:tags r:id="rId1"/>
    </p:custDataLst>
  </p:cSld>
  <p:clrMapOvr>
    <a:masterClrMapping/>
  </p:clrMapOvr>
  <p:transition advClick="0"/>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PPSNARRATION" val="1,-2066783466,E:\Workspace\FGDC\Hydro\Hydro_August07.ppc"/>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1860</TotalTime>
  <Words>3249</Words>
  <Application>Microsoft Office PowerPoint</Application>
  <PresentationFormat>On-screen Show (4:3)</PresentationFormat>
  <Paragraphs>337</Paragraphs>
  <Slides>30</Slides>
  <Notes>1</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University of Wyoming</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sgl55</dc:creator>
  <cp:lastModifiedBy>Sharon Shin</cp:lastModifiedBy>
  <cp:revision>70</cp:revision>
  <dcterms:created xsi:type="dcterms:W3CDTF">2010-03-03T16:00:29Z</dcterms:created>
  <dcterms:modified xsi:type="dcterms:W3CDTF">2010-11-23T17:29:26Z</dcterms:modified>
</cp:coreProperties>
</file>