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9" r:id="rId1"/>
  </p:sldMasterIdLst>
  <p:notesMasterIdLst>
    <p:notesMasterId r:id="rId60"/>
  </p:notesMasterIdLst>
  <p:sldIdLst>
    <p:sldId id="256" r:id="rId2"/>
    <p:sldId id="257" r:id="rId3"/>
    <p:sldId id="258" r:id="rId4"/>
    <p:sldId id="314" r:id="rId5"/>
    <p:sldId id="317" r:id="rId6"/>
    <p:sldId id="268" r:id="rId7"/>
    <p:sldId id="270" r:id="rId8"/>
    <p:sldId id="272" r:id="rId9"/>
    <p:sldId id="320" r:id="rId10"/>
    <p:sldId id="403" r:id="rId11"/>
    <p:sldId id="277" r:id="rId12"/>
    <p:sldId id="419" r:id="rId13"/>
    <p:sldId id="418" r:id="rId14"/>
    <p:sldId id="279" r:id="rId15"/>
    <p:sldId id="275" r:id="rId16"/>
    <p:sldId id="363" r:id="rId17"/>
    <p:sldId id="401" r:id="rId18"/>
    <p:sldId id="364" r:id="rId19"/>
    <p:sldId id="365" r:id="rId20"/>
    <p:sldId id="366" r:id="rId21"/>
    <p:sldId id="411" r:id="rId22"/>
    <p:sldId id="367" r:id="rId23"/>
    <p:sldId id="410" r:id="rId24"/>
    <p:sldId id="412" r:id="rId25"/>
    <p:sldId id="413" r:id="rId26"/>
    <p:sldId id="414" r:id="rId27"/>
    <p:sldId id="368" r:id="rId28"/>
    <p:sldId id="369" r:id="rId29"/>
    <p:sldId id="404" r:id="rId30"/>
    <p:sldId id="373" r:id="rId31"/>
    <p:sldId id="374" r:id="rId32"/>
    <p:sldId id="375" r:id="rId33"/>
    <p:sldId id="376" r:id="rId34"/>
    <p:sldId id="377" r:id="rId35"/>
    <p:sldId id="378" r:id="rId36"/>
    <p:sldId id="379" r:id="rId37"/>
    <p:sldId id="382" r:id="rId38"/>
    <p:sldId id="409" r:id="rId39"/>
    <p:sldId id="384" r:id="rId40"/>
    <p:sldId id="385" r:id="rId41"/>
    <p:sldId id="383" r:id="rId42"/>
    <p:sldId id="420" r:id="rId43"/>
    <p:sldId id="386" r:id="rId44"/>
    <p:sldId id="417" r:id="rId45"/>
    <p:sldId id="388" r:id="rId46"/>
    <p:sldId id="400" r:id="rId47"/>
    <p:sldId id="408" r:id="rId48"/>
    <p:sldId id="387" r:id="rId49"/>
    <p:sldId id="399" r:id="rId50"/>
    <p:sldId id="393" r:id="rId51"/>
    <p:sldId id="391" r:id="rId52"/>
    <p:sldId id="392" r:id="rId53"/>
    <p:sldId id="295" r:id="rId54"/>
    <p:sldId id="398" r:id="rId55"/>
    <p:sldId id="397" r:id="rId56"/>
    <p:sldId id="357" r:id="rId57"/>
    <p:sldId id="406" r:id="rId58"/>
    <p:sldId id="407" r:id="rId59"/>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7423"/>
    <a:srgbClr val="FFC9C9"/>
    <a:srgbClr val="9933FF"/>
    <a:srgbClr val="FF0000"/>
    <a:srgbClr val="7D7DFF"/>
    <a:srgbClr val="C4E1E6"/>
    <a:srgbClr val="008000"/>
    <a:srgbClr val="BDB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00" autoAdjust="0"/>
    <p:restoredTop sz="67598" autoAdjust="0"/>
  </p:normalViewPr>
  <p:slideViewPr>
    <p:cSldViewPr snapToGrid="0">
      <p:cViewPr>
        <p:scale>
          <a:sx n="66" d="100"/>
          <a:sy n="66" d="100"/>
        </p:scale>
        <p:origin x="-438" y="-3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450"/>
    </p:cViewPr>
  </p:sorterViewPr>
  <p:notesViewPr>
    <p:cSldViewPr snapToGrid="0">
      <p:cViewPr varScale="1">
        <p:scale>
          <a:sx n="86" d="100"/>
          <a:sy n="86" d="100"/>
        </p:scale>
        <p:origin x="-171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8C8726-D8F1-41E5-8A06-39D7BF24E7AA}" type="doc">
      <dgm:prSet loTypeId="urn:microsoft.com/office/officeart/2005/8/layout/default#1" loCatId="list" qsTypeId="urn:microsoft.com/office/officeart/2005/8/quickstyle/simple3" qsCatId="simple" csTypeId="urn:microsoft.com/office/officeart/2005/8/colors/accent6_2" csCatId="accent6" phldr="1"/>
      <dgm:spPr/>
      <dgm:t>
        <a:bodyPr/>
        <a:lstStyle/>
        <a:p>
          <a:endParaRPr lang="en-US"/>
        </a:p>
      </dgm:t>
    </dgm:pt>
    <dgm:pt modelId="{8D8613F3-B732-4B43-B638-83CE759037AF}">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2000" dirty="0" smtClean="0">
              <a:latin typeface="Rockwell" pitchFamily="18" charset="0"/>
            </a:rPr>
            <a:t>Documenting</a:t>
          </a:r>
          <a:endParaRPr lang="en-US" sz="2000" dirty="0">
            <a:latin typeface="Rockwell" pitchFamily="18" charset="0"/>
          </a:endParaRPr>
        </a:p>
      </dgm:t>
    </dgm:pt>
    <dgm:pt modelId="{68736250-B60C-4BE4-AE87-39ACFE864027}" type="parTrans" cxnId="{EDF4C7A8-9ECA-44F5-BCD1-0FA1B24EB4E2}">
      <dgm:prSet/>
      <dgm:spPr/>
      <dgm:t>
        <a:bodyPr/>
        <a:lstStyle/>
        <a:p>
          <a:endParaRPr lang="en-US"/>
        </a:p>
      </dgm:t>
    </dgm:pt>
    <dgm:pt modelId="{7BF176A6-5CDF-4AA8-AA7B-163CF2310887}" type="sibTrans" cxnId="{EDF4C7A8-9ECA-44F5-BCD1-0FA1B24EB4E2}">
      <dgm:prSet/>
      <dgm:spPr/>
      <dgm:t>
        <a:bodyPr/>
        <a:lstStyle/>
        <a:p>
          <a:endParaRPr lang="en-US"/>
        </a:p>
      </dgm:t>
    </dgm:pt>
    <dgm:pt modelId="{39C4539F-AAB4-4F19-AB65-5FC314EFD3ED}">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2000" dirty="0" smtClean="0">
              <a:latin typeface="Rockwell" pitchFamily="18" charset="0"/>
            </a:rPr>
            <a:t>Expanding</a:t>
          </a:r>
          <a:endParaRPr lang="en-US" sz="2000" dirty="0">
            <a:latin typeface="Rockwell" pitchFamily="18" charset="0"/>
          </a:endParaRPr>
        </a:p>
      </dgm:t>
    </dgm:pt>
    <dgm:pt modelId="{B5E1926D-C2F9-41D8-87AA-7F005984E7AF}" type="parTrans" cxnId="{EB0F3B43-025F-4752-AB05-6EC064AEC2ED}">
      <dgm:prSet/>
      <dgm:spPr/>
      <dgm:t>
        <a:bodyPr/>
        <a:lstStyle/>
        <a:p>
          <a:endParaRPr lang="en-US"/>
        </a:p>
      </dgm:t>
    </dgm:pt>
    <dgm:pt modelId="{0B2DBAAE-E35D-4FB1-98EE-38F4C484F095}" type="sibTrans" cxnId="{EB0F3B43-025F-4752-AB05-6EC064AEC2ED}">
      <dgm:prSet/>
      <dgm:spPr/>
      <dgm:t>
        <a:bodyPr/>
        <a:lstStyle/>
        <a:p>
          <a:endParaRPr lang="en-US"/>
        </a:p>
      </dgm:t>
    </dgm:pt>
    <dgm:pt modelId="{53F79FBF-14A9-421C-BD8E-C91175C138BE}">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2000" dirty="0" smtClean="0">
              <a:latin typeface="Rockwell" pitchFamily="18" charset="0"/>
            </a:rPr>
            <a:t>Promoting</a:t>
          </a:r>
          <a:endParaRPr lang="en-US" sz="2000" dirty="0">
            <a:latin typeface="Rockwell" pitchFamily="18" charset="0"/>
          </a:endParaRPr>
        </a:p>
      </dgm:t>
    </dgm:pt>
    <dgm:pt modelId="{2EF7A4CE-5C55-42AC-929C-B423976E371E}" type="parTrans" cxnId="{0618721A-A433-4B8B-9DC6-8281F4BD0A94}">
      <dgm:prSet/>
      <dgm:spPr/>
      <dgm:t>
        <a:bodyPr/>
        <a:lstStyle/>
        <a:p>
          <a:endParaRPr lang="en-US"/>
        </a:p>
      </dgm:t>
    </dgm:pt>
    <dgm:pt modelId="{3AC020C4-96A0-43F7-8060-999C4EDC0014}" type="sibTrans" cxnId="{0618721A-A433-4B8B-9DC6-8281F4BD0A94}">
      <dgm:prSet/>
      <dgm:spPr/>
      <dgm:t>
        <a:bodyPr/>
        <a:lstStyle/>
        <a:p>
          <a:endParaRPr lang="en-US"/>
        </a:p>
      </dgm:t>
    </dgm:pt>
    <dgm:pt modelId="{C1C68D1B-11EA-4D4A-96CB-43014B5BB15C}">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2000" dirty="0" smtClean="0">
              <a:latin typeface="Rockwell" pitchFamily="18" charset="0"/>
            </a:rPr>
            <a:t>Advancing</a:t>
          </a:r>
          <a:endParaRPr lang="en-US" sz="2000" dirty="0">
            <a:latin typeface="Rockwell" pitchFamily="18" charset="0"/>
          </a:endParaRPr>
        </a:p>
      </dgm:t>
    </dgm:pt>
    <dgm:pt modelId="{E95F5E53-9151-4E84-84F6-C981B96BBFEB}" type="parTrans" cxnId="{59C3E104-52F6-488B-8243-183D4A380F00}">
      <dgm:prSet/>
      <dgm:spPr/>
      <dgm:t>
        <a:bodyPr/>
        <a:lstStyle/>
        <a:p>
          <a:endParaRPr lang="en-US"/>
        </a:p>
      </dgm:t>
    </dgm:pt>
    <dgm:pt modelId="{02D52C73-1115-4577-BC3E-0A56E0ED3465}" type="sibTrans" cxnId="{59C3E104-52F6-488B-8243-183D4A380F00}">
      <dgm:prSet/>
      <dgm:spPr/>
      <dgm:t>
        <a:bodyPr/>
        <a:lstStyle/>
        <a:p>
          <a:endParaRPr lang="en-US"/>
        </a:p>
      </dgm:t>
    </dgm:pt>
    <dgm:pt modelId="{5BABC636-DB9E-4F61-9B0C-B0DF7365F9DF}">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2000" dirty="0" smtClean="0">
              <a:latin typeface="Rockwell" pitchFamily="18" charset="0"/>
            </a:rPr>
            <a:t>Implementing</a:t>
          </a:r>
          <a:endParaRPr lang="en-US" sz="2000" dirty="0">
            <a:latin typeface="Rockwell" pitchFamily="18" charset="0"/>
          </a:endParaRPr>
        </a:p>
      </dgm:t>
    </dgm:pt>
    <dgm:pt modelId="{85FE610F-B5F9-4061-B318-F4DF0DD44ED7}" type="parTrans" cxnId="{34B9B63B-F47D-4CFD-9B31-ECCA56434F7A}">
      <dgm:prSet/>
      <dgm:spPr/>
      <dgm:t>
        <a:bodyPr/>
        <a:lstStyle/>
        <a:p>
          <a:endParaRPr lang="en-US"/>
        </a:p>
      </dgm:t>
    </dgm:pt>
    <dgm:pt modelId="{4484DE98-6F6A-4EA4-BA13-B868D6C651E7}" type="sibTrans" cxnId="{34B9B63B-F47D-4CFD-9B31-ECCA56434F7A}">
      <dgm:prSet/>
      <dgm:spPr/>
      <dgm:t>
        <a:bodyPr/>
        <a:lstStyle/>
        <a:p>
          <a:endParaRPr lang="en-US"/>
        </a:p>
      </dgm:t>
    </dgm:pt>
    <dgm:pt modelId="{3ABB7E22-14FE-48A9-9340-01A8198022DB}" type="pres">
      <dgm:prSet presAssocID="{2B8C8726-D8F1-41E5-8A06-39D7BF24E7AA}" presName="diagram" presStyleCnt="0">
        <dgm:presLayoutVars>
          <dgm:dir/>
          <dgm:resizeHandles val="exact"/>
        </dgm:presLayoutVars>
      </dgm:prSet>
      <dgm:spPr/>
      <dgm:t>
        <a:bodyPr/>
        <a:lstStyle/>
        <a:p>
          <a:endParaRPr lang="en-US"/>
        </a:p>
      </dgm:t>
    </dgm:pt>
    <dgm:pt modelId="{17701804-D5B3-455B-9C09-24563C78DFB9}" type="pres">
      <dgm:prSet presAssocID="{8D8613F3-B732-4B43-B638-83CE759037AF}" presName="node" presStyleLbl="node1" presStyleIdx="0" presStyleCnt="5">
        <dgm:presLayoutVars>
          <dgm:bulletEnabled val="1"/>
        </dgm:presLayoutVars>
      </dgm:prSet>
      <dgm:spPr>
        <a:prstGeom prst="roundRect">
          <a:avLst/>
        </a:prstGeom>
      </dgm:spPr>
      <dgm:t>
        <a:bodyPr/>
        <a:lstStyle/>
        <a:p>
          <a:endParaRPr lang="en-US"/>
        </a:p>
      </dgm:t>
    </dgm:pt>
    <dgm:pt modelId="{8056F9FA-098E-4966-8F5B-29F2D41E1BB1}" type="pres">
      <dgm:prSet presAssocID="{7BF176A6-5CDF-4AA8-AA7B-163CF2310887}" presName="sibTrans" presStyleCnt="0"/>
      <dgm:spPr/>
      <dgm:t>
        <a:bodyPr/>
        <a:lstStyle/>
        <a:p>
          <a:endParaRPr lang="en-US"/>
        </a:p>
      </dgm:t>
    </dgm:pt>
    <dgm:pt modelId="{ED1FCEF0-3F03-486B-B2A7-3043FD78C226}" type="pres">
      <dgm:prSet presAssocID="{39C4539F-AAB4-4F19-AB65-5FC314EFD3ED}" presName="node" presStyleLbl="node1" presStyleIdx="1" presStyleCnt="5">
        <dgm:presLayoutVars>
          <dgm:bulletEnabled val="1"/>
        </dgm:presLayoutVars>
      </dgm:prSet>
      <dgm:spPr>
        <a:prstGeom prst="roundRect">
          <a:avLst/>
        </a:prstGeom>
      </dgm:spPr>
      <dgm:t>
        <a:bodyPr/>
        <a:lstStyle/>
        <a:p>
          <a:endParaRPr lang="en-US"/>
        </a:p>
      </dgm:t>
    </dgm:pt>
    <dgm:pt modelId="{2A89EE64-7032-40EC-9D98-B34348074B7A}" type="pres">
      <dgm:prSet presAssocID="{0B2DBAAE-E35D-4FB1-98EE-38F4C484F095}" presName="sibTrans" presStyleCnt="0"/>
      <dgm:spPr/>
      <dgm:t>
        <a:bodyPr/>
        <a:lstStyle/>
        <a:p>
          <a:endParaRPr lang="en-US"/>
        </a:p>
      </dgm:t>
    </dgm:pt>
    <dgm:pt modelId="{7173A5C4-8D57-478C-A1BC-3B88CDD849E3}" type="pres">
      <dgm:prSet presAssocID="{53F79FBF-14A9-421C-BD8E-C91175C138BE}" presName="node" presStyleLbl="node1" presStyleIdx="2" presStyleCnt="5">
        <dgm:presLayoutVars>
          <dgm:bulletEnabled val="1"/>
        </dgm:presLayoutVars>
      </dgm:prSet>
      <dgm:spPr>
        <a:prstGeom prst="roundRect">
          <a:avLst/>
        </a:prstGeom>
      </dgm:spPr>
      <dgm:t>
        <a:bodyPr/>
        <a:lstStyle/>
        <a:p>
          <a:endParaRPr lang="en-US"/>
        </a:p>
      </dgm:t>
    </dgm:pt>
    <dgm:pt modelId="{7732CCA1-DA25-47C0-BC55-0A10B58DF847}" type="pres">
      <dgm:prSet presAssocID="{3AC020C4-96A0-43F7-8060-999C4EDC0014}" presName="sibTrans" presStyleCnt="0"/>
      <dgm:spPr/>
      <dgm:t>
        <a:bodyPr/>
        <a:lstStyle/>
        <a:p>
          <a:endParaRPr lang="en-US"/>
        </a:p>
      </dgm:t>
    </dgm:pt>
    <dgm:pt modelId="{DC63B79A-09DF-4D6C-B515-525B9EE96A7D}" type="pres">
      <dgm:prSet presAssocID="{C1C68D1B-11EA-4D4A-96CB-43014B5BB15C}" presName="node" presStyleLbl="node1" presStyleIdx="3" presStyleCnt="5">
        <dgm:presLayoutVars>
          <dgm:bulletEnabled val="1"/>
        </dgm:presLayoutVars>
      </dgm:prSet>
      <dgm:spPr>
        <a:prstGeom prst="roundRect">
          <a:avLst/>
        </a:prstGeom>
      </dgm:spPr>
      <dgm:t>
        <a:bodyPr/>
        <a:lstStyle/>
        <a:p>
          <a:endParaRPr lang="en-US"/>
        </a:p>
      </dgm:t>
    </dgm:pt>
    <dgm:pt modelId="{ADD56DC7-B326-42BC-8644-8FDDB511082E}" type="pres">
      <dgm:prSet presAssocID="{02D52C73-1115-4577-BC3E-0A56E0ED3465}" presName="sibTrans" presStyleCnt="0"/>
      <dgm:spPr/>
      <dgm:t>
        <a:bodyPr/>
        <a:lstStyle/>
        <a:p>
          <a:endParaRPr lang="en-US"/>
        </a:p>
      </dgm:t>
    </dgm:pt>
    <dgm:pt modelId="{7B75E8BB-5C2E-4933-9014-35306F4D9FB5}" type="pres">
      <dgm:prSet presAssocID="{5BABC636-DB9E-4F61-9B0C-B0DF7365F9DF}" presName="node" presStyleLbl="node1" presStyleIdx="4" presStyleCnt="5">
        <dgm:presLayoutVars>
          <dgm:bulletEnabled val="1"/>
        </dgm:presLayoutVars>
      </dgm:prSet>
      <dgm:spPr>
        <a:prstGeom prst="roundRect">
          <a:avLst/>
        </a:prstGeom>
      </dgm:spPr>
      <dgm:t>
        <a:bodyPr/>
        <a:lstStyle/>
        <a:p>
          <a:endParaRPr lang="en-US"/>
        </a:p>
      </dgm:t>
    </dgm:pt>
  </dgm:ptLst>
  <dgm:cxnLst>
    <dgm:cxn modelId="{0EAE497B-F0C1-4F0C-BA4B-DCE6C5E0C7D8}" type="presOf" srcId="{39C4539F-AAB4-4F19-AB65-5FC314EFD3ED}" destId="{ED1FCEF0-3F03-486B-B2A7-3043FD78C226}" srcOrd="0" destOrd="0" presId="urn:microsoft.com/office/officeart/2005/8/layout/default#1"/>
    <dgm:cxn modelId="{59C3E104-52F6-488B-8243-183D4A380F00}" srcId="{2B8C8726-D8F1-41E5-8A06-39D7BF24E7AA}" destId="{C1C68D1B-11EA-4D4A-96CB-43014B5BB15C}" srcOrd="3" destOrd="0" parTransId="{E95F5E53-9151-4E84-84F6-C981B96BBFEB}" sibTransId="{02D52C73-1115-4577-BC3E-0A56E0ED3465}"/>
    <dgm:cxn modelId="{EDF4C7A8-9ECA-44F5-BCD1-0FA1B24EB4E2}" srcId="{2B8C8726-D8F1-41E5-8A06-39D7BF24E7AA}" destId="{8D8613F3-B732-4B43-B638-83CE759037AF}" srcOrd="0" destOrd="0" parTransId="{68736250-B60C-4BE4-AE87-39ACFE864027}" sibTransId="{7BF176A6-5CDF-4AA8-AA7B-163CF2310887}"/>
    <dgm:cxn modelId="{0618721A-A433-4B8B-9DC6-8281F4BD0A94}" srcId="{2B8C8726-D8F1-41E5-8A06-39D7BF24E7AA}" destId="{53F79FBF-14A9-421C-BD8E-C91175C138BE}" srcOrd="2" destOrd="0" parTransId="{2EF7A4CE-5C55-42AC-929C-B423976E371E}" sibTransId="{3AC020C4-96A0-43F7-8060-999C4EDC0014}"/>
    <dgm:cxn modelId="{34B9B63B-F47D-4CFD-9B31-ECCA56434F7A}" srcId="{2B8C8726-D8F1-41E5-8A06-39D7BF24E7AA}" destId="{5BABC636-DB9E-4F61-9B0C-B0DF7365F9DF}" srcOrd="4" destOrd="0" parTransId="{85FE610F-B5F9-4061-B318-F4DF0DD44ED7}" sibTransId="{4484DE98-6F6A-4EA4-BA13-B868D6C651E7}"/>
    <dgm:cxn modelId="{EB0F3B43-025F-4752-AB05-6EC064AEC2ED}" srcId="{2B8C8726-D8F1-41E5-8A06-39D7BF24E7AA}" destId="{39C4539F-AAB4-4F19-AB65-5FC314EFD3ED}" srcOrd="1" destOrd="0" parTransId="{B5E1926D-C2F9-41D8-87AA-7F005984E7AF}" sibTransId="{0B2DBAAE-E35D-4FB1-98EE-38F4C484F095}"/>
    <dgm:cxn modelId="{1DA458FE-82A5-4C25-BE45-4B3CB8B610B1}" type="presOf" srcId="{5BABC636-DB9E-4F61-9B0C-B0DF7365F9DF}" destId="{7B75E8BB-5C2E-4933-9014-35306F4D9FB5}" srcOrd="0" destOrd="0" presId="urn:microsoft.com/office/officeart/2005/8/layout/default#1"/>
    <dgm:cxn modelId="{4DC784CA-9FF2-4D46-B965-1B3DEEAF0B6B}" type="presOf" srcId="{2B8C8726-D8F1-41E5-8A06-39D7BF24E7AA}" destId="{3ABB7E22-14FE-48A9-9340-01A8198022DB}" srcOrd="0" destOrd="0" presId="urn:microsoft.com/office/officeart/2005/8/layout/default#1"/>
    <dgm:cxn modelId="{35D4FFFB-B9D4-4009-A372-C6DAFB671A12}" type="presOf" srcId="{8D8613F3-B732-4B43-B638-83CE759037AF}" destId="{17701804-D5B3-455B-9C09-24563C78DFB9}" srcOrd="0" destOrd="0" presId="urn:microsoft.com/office/officeart/2005/8/layout/default#1"/>
    <dgm:cxn modelId="{BFBC5275-E467-4B6E-AAEB-C4A21042F94F}" type="presOf" srcId="{53F79FBF-14A9-421C-BD8E-C91175C138BE}" destId="{7173A5C4-8D57-478C-A1BC-3B88CDD849E3}" srcOrd="0" destOrd="0" presId="urn:microsoft.com/office/officeart/2005/8/layout/default#1"/>
    <dgm:cxn modelId="{2ED76026-9756-4D2B-87C7-F33A6A3B3C6B}" type="presOf" srcId="{C1C68D1B-11EA-4D4A-96CB-43014B5BB15C}" destId="{DC63B79A-09DF-4D6C-B515-525B9EE96A7D}" srcOrd="0" destOrd="0" presId="urn:microsoft.com/office/officeart/2005/8/layout/default#1"/>
    <dgm:cxn modelId="{74A1BDA2-1D97-462D-8621-0AACDA60B752}" type="presParOf" srcId="{3ABB7E22-14FE-48A9-9340-01A8198022DB}" destId="{17701804-D5B3-455B-9C09-24563C78DFB9}" srcOrd="0" destOrd="0" presId="urn:microsoft.com/office/officeart/2005/8/layout/default#1"/>
    <dgm:cxn modelId="{80CB8106-F013-445F-8CA9-02BE39CC1081}" type="presParOf" srcId="{3ABB7E22-14FE-48A9-9340-01A8198022DB}" destId="{8056F9FA-098E-4966-8F5B-29F2D41E1BB1}" srcOrd="1" destOrd="0" presId="urn:microsoft.com/office/officeart/2005/8/layout/default#1"/>
    <dgm:cxn modelId="{BC520C54-C629-4935-9930-53AE07DD856A}" type="presParOf" srcId="{3ABB7E22-14FE-48A9-9340-01A8198022DB}" destId="{ED1FCEF0-3F03-486B-B2A7-3043FD78C226}" srcOrd="2" destOrd="0" presId="urn:microsoft.com/office/officeart/2005/8/layout/default#1"/>
    <dgm:cxn modelId="{924FFB99-C1D1-4D70-8A57-53F20205A761}" type="presParOf" srcId="{3ABB7E22-14FE-48A9-9340-01A8198022DB}" destId="{2A89EE64-7032-40EC-9D98-B34348074B7A}" srcOrd="3" destOrd="0" presId="urn:microsoft.com/office/officeart/2005/8/layout/default#1"/>
    <dgm:cxn modelId="{62BD86DB-11D7-4134-B98A-750DCB933CF7}" type="presParOf" srcId="{3ABB7E22-14FE-48A9-9340-01A8198022DB}" destId="{7173A5C4-8D57-478C-A1BC-3B88CDD849E3}" srcOrd="4" destOrd="0" presId="urn:microsoft.com/office/officeart/2005/8/layout/default#1"/>
    <dgm:cxn modelId="{BF6DFD64-A4CE-4C1C-A39F-ABDBF510F65C}" type="presParOf" srcId="{3ABB7E22-14FE-48A9-9340-01A8198022DB}" destId="{7732CCA1-DA25-47C0-BC55-0A10B58DF847}" srcOrd="5" destOrd="0" presId="urn:microsoft.com/office/officeart/2005/8/layout/default#1"/>
    <dgm:cxn modelId="{3168545E-E0A6-4DCF-9640-A39A2C2600F5}" type="presParOf" srcId="{3ABB7E22-14FE-48A9-9340-01A8198022DB}" destId="{DC63B79A-09DF-4D6C-B515-525B9EE96A7D}" srcOrd="6" destOrd="0" presId="urn:microsoft.com/office/officeart/2005/8/layout/default#1"/>
    <dgm:cxn modelId="{7F7C17F9-9CC9-4DC8-A1E0-A708319DD9F9}" type="presParOf" srcId="{3ABB7E22-14FE-48A9-9340-01A8198022DB}" destId="{ADD56DC7-B326-42BC-8644-8FDDB511082E}" srcOrd="7" destOrd="0" presId="urn:microsoft.com/office/officeart/2005/8/layout/default#1"/>
    <dgm:cxn modelId="{2CB5B0C2-F30C-417D-B008-094C6EE2944D}" type="presParOf" srcId="{3ABB7E22-14FE-48A9-9340-01A8198022DB}" destId="{7B75E8BB-5C2E-4933-9014-35306F4D9FB5}" srcOrd="8"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724FA-EC90-4DA7-A498-32264364A687}" type="doc">
      <dgm:prSet loTypeId="urn:microsoft.com/office/officeart/2005/8/layout/cycle6" loCatId="cycle" qsTypeId="urn:microsoft.com/office/officeart/2005/8/quickstyle/simple3" qsCatId="simple" csTypeId="urn:microsoft.com/office/officeart/2005/8/colors/accent2_2" csCatId="accent2" phldr="1"/>
      <dgm:spPr/>
      <dgm:t>
        <a:bodyPr/>
        <a:lstStyle/>
        <a:p>
          <a:endParaRPr lang="en-US"/>
        </a:p>
      </dgm:t>
    </dgm:pt>
    <dgm:pt modelId="{09F9C9CA-6EAE-422D-9796-6B46F475FB89}">
      <dgm:prSet phldrT="[Text]"/>
      <dgm:spPr/>
      <dgm:t>
        <a:bodyPr/>
        <a:lstStyle/>
        <a:p>
          <a:r>
            <a:rPr lang="en-US" b="1" dirty="0" smtClean="0"/>
            <a:t>Support</a:t>
          </a:r>
          <a:endParaRPr lang="en-US" b="1" dirty="0"/>
        </a:p>
      </dgm:t>
    </dgm:pt>
    <dgm:pt modelId="{7B04161E-1EEE-408A-9B93-F524F0E518C0}" type="parTrans" cxnId="{5986084F-1C6B-448B-9369-AA1C0D8DC3B0}">
      <dgm:prSet/>
      <dgm:spPr/>
      <dgm:t>
        <a:bodyPr/>
        <a:lstStyle/>
        <a:p>
          <a:endParaRPr lang="en-US"/>
        </a:p>
      </dgm:t>
    </dgm:pt>
    <dgm:pt modelId="{DDEC575B-010D-406B-92C3-924892CEB79A}" type="sibTrans" cxnId="{5986084F-1C6B-448B-9369-AA1C0D8DC3B0}">
      <dgm:prSet/>
      <dgm:spPr/>
      <dgm:t>
        <a:bodyPr/>
        <a:lstStyle/>
        <a:p>
          <a:endParaRPr lang="en-US"/>
        </a:p>
      </dgm:t>
    </dgm:pt>
    <dgm:pt modelId="{9A402062-EA1A-4510-BC83-F8F8D8D46D58}">
      <dgm:prSet phldrT="[Text]"/>
      <dgm:spPr/>
      <dgm:t>
        <a:bodyPr/>
        <a:lstStyle/>
        <a:p>
          <a:r>
            <a:rPr lang="en-US" b="1" dirty="0" smtClean="0"/>
            <a:t>Market</a:t>
          </a:r>
          <a:endParaRPr lang="en-US" b="1" dirty="0"/>
        </a:p>
      </dgm:t>
    </dgm:pt>
    <dgm:pt modelId="{DB38B19A-4AC4-4DB4-859F-6B5E56A8D5A1}" type="parTrans" cxnId="{1E75A270-092A-49BD-9547-6A105C35E9F6}">
      <dgm:prSet/>
      <dgm:spPr/>
      <dgm:t>
        <a:bodyPr/>
        <a:lstStyle/>
        <a:p>
          <a:endParaRPr lang="en-US"/>
        </a:p>
      </dgm:t>
    </dgm:pt>
    <dgm:pt modelId="{FC3A785B-F761-4EB8-9AC4-353600A32444}" type="sibTrans" cxnId="{1E75A270-092A-49BD-9547-6A105C35E9F6}">
      <dgm:prSet/>
      <dgm:spPr/>
      <dgm:t>
        <a:bodyPr/>
        <a:lstStyle/>
        <a:p>
          <a:endParaRPr lang="en-US"/>
        </a:p>
      </dgm:t>
    </dgm:pt>
    <dgm:pt modelId="{7B257DC3-DBC1-4799-B8D2-9C0FFC273D1C}">
      <dgm:prSet phldrT="[Text]"/>
      <dgm:spPr/>
      <dgm:t>
        <a:bodyPr/>
        <a:lstStyle/>
        <a:p>
          <a:r>
            <a:rPr lang="en-US" b="1" dirty="0" smtClean="0"/>
            <a:t>Outreach</a:t>
          </a:r>
          <a:endParaRPr lang="en-US" b="1" dirty="0"/>
        </a:p>
      </dgm:t>
    </dgm:pt>
    <dgm:pt modelId="{6DDC8DB8-D844-4F3D-B8A3-10B4E969F26E}" type="parTrans" cxnId="{48B4AE0F-9133-4E2D-B8C3-E27F578E1DB0}">
      <dgm:prSet/>
      <dgm:spPr/>
      <dgm:t>
        <a:bodyPr/>
        <a:lstStyle/>
        <a:p>
          <a:endParaRPr lang="en-US"/>
        </a:p>
      </dgm:t>
    </dgm:pt>
    <dgm:pt modelId="{A529E9B3-B63D-4130-895B-DF18B293F28D}" type="sibTrans" cxnId="{48B4AE0F-9133-4E2D-B8C3-E27F578E1DB0}">
      <dgm:prSet/>
      <dgm:spPr/>
      <dgm:t>
        <a:bodyPr/>
        <a:lstStyle/>
        <a:p>
          <a:endParaRPr lang="en-US"/>
        </a:p>
      </dgm:t>
    </dgm:pt>
    <dgm:pt modelId="{AD1604BB-D3DE-4FB1-A334-D9AB6D35AEEB}">
      <dgm:prSet phldrT="[Text]"/>
      <dgm:spPr/>
      <dgm:t>
        <a:bodyPr/>
        <a:lstStyle/>
        <a:p>
          <a:r>
            <a:rPr lang="en-US" b="1" dirty="0" smtClean="0"/>
            <a:t>Implement</a:t>
          </a:r>
          <a:endParaRPr lang="en-US" b="1" dirty="0"/>
        </a:p>
      </dgm:t>
    </dgm:pt>
    <dgm:pt modelId="{6A9A4C4D-00E1-44A2-B8EC-AEED1F8201D2}" type="parTrans" cxnId="{9EA029D1-8A00-4908-AC55-A1DFAB4568BC}">
      <dgm:prSet/>
      <dgm:spPr/>
      <dgm:t>
        <a:bodyPr/>
        <a:lstStyle/>
        <a:p>
          <a:endParaRPr lang="en-US"/>
        </a:p>
      </dgm:t>
    </dgm:pt>
    <dgm:pt modelId="{2390F0CD-E2B1-4C0D-AD96-83777B00754B}" type="sibTrans" cxnId="{9EA029D1-8A00-4908-AC55-A1DFAB4568BC}">
      <dgm:prSet/>
      <dgm:spPr/>
      <dgm:t>
        <a:bodyPr/>
        <a:lstStyle/>
        <a:p>
          <a:endParaRPr lang="en-US"/>
        </a:p>
      </dgm:t>
    </dgm:pt>
    <dgm:pt modelId="{507F9ACA-AD6C-469C-A78D-F74B167199CC}">
      <dgm:prSet phldrT="[Text]"/>
      <dgm:spPr/>
      <dgm:t>
        <a:bodyPr/>
        <a:lstStyle/>
        <a:p>
          <a:r>
            <a:rPr lang="en-US" b="1" dirty="0" smtClean="0"/>
            <a:t>Institutionalize</a:t>
          </a:r>
          <a:endParaRPr lang="en-US" b="1" dirty="0"/>
        </a:p>
      </dgm:t>
    </dgm:pt>
    <dgm:pt modelId="{A059A3B9-E90B-4C40-B264-A9DD0A4C1608}" type="parTrans" cxnId="{6CED7815-9D22-4E59-AA7E-007F0A106536}">
      <dgm:prSet/>
      <dgm:spPr/>
      <dgm:t>
        <a:bodyPr/>
        <a:lstStyle/>
        <a:p>
          <a:endParaRPr lang="en-US"/>
        </a:p>
      </dgm:t>
    </dgm:pt>
    <dgm:pt modelId="{9D787AF9-ABD2-4AA1-B717-3922F5864294}" type="sibTrans" cxnId="{6CED7815-9D22-4E59-AA7E-007F0A106536}">
      <dgm:prSet/>
      <dgm:spPr/>
      <dgm:t>
        <a:bodyPr/>
        <a:lstStyle/>
        <a:p>
          <a:endParaRPr lang="en-US"/>
        </a:p>
      </dgm:t>
    </dgm:pt>
    <dgm:pt modelId="{027D80BA-C1BC-4D96-BB6D-C2632B031AEC}">
      <dgm:prSet phldrT="[Text]"/>
      <dgm:spPr/>
      <dgm:t>
        <a:bodyPr/>
        <a:lstStyle/>
        <a:p>
          <a:r>
            <a:rPr lang="en-US" b="1" dirty="0" smtClean="0"/>
            <a:t>Seed Effort</a:t>
          </a:r>
          <a:endParaRPr lang="en-US" b="1" dirty="0"/>
        </a:p>
      </dgm:t>
    </dgm:pt>
    <dgm:pt modelId="{C5913DA7-8DCB-45C0-9D7B-933676D7561F}" type="parTrans" cxnId="{5411C23B-024F-4CA7-90AF-8F30BA07E90D}">
      <dgm:prSet/>
      <dgm:spPr/>
      <dgm:t>
        <a:bodyPr/>
        <a:lstStyle/>
        <a:p>
          <a:endParaRPr lang="en-US"/>
        </a:p>
      </dgm:t>
    </dgm:pt>
    <dgm:pt modelId="{89F9B790-7C39-4D58-9AAA-1D8C9F69AEE2}" type="sibTrans" cxnId="{5411C23B-024F-4CA7-90AF-8F30BA07E90D}">
      <dgm:prSet/>
      <dgm:spPr/>
      <dgm:t>
        <a:bodyPr/>
        <a:lstStyle/>
        <a:p>
          <a:endParaRPr lang="en-US"/>
        </a:p>
      </dgm:t>
    </dgm:pt>
    <dgm:pt modelId="{7355455B-BAD1-4622-A9A6-579388022809}" type="pres">
      <dgm:prSet presAssocID="{A66724FA-EC90-4DA7-A498-32264364A687}" presName="cycle" presStyleCnt="0">
        <dgm:presLayoutVars>
          <dgm:dir/>
          <dgm:resizeHandles val="exact"/>
        </dgm:presLayoutVars>
      </dgm:prSet>
      <dgm:spPr/>
      <dgm:t>
        <a:bodyPr/>
        <a:lstStyle/>
        <a:p>
          <a:endParaRPr lang="en-US"/>
        </a:p>
      </dgm:t>
    </dgm:pt>
    <dgm:pt modelId="{1104E40E-5993-4C02-83D8-17E1459212AE}" type="pres">
      <dgm:prSet presAssocID="{09F9C9CA-6EAE-422D-9796-6B46F475FB89}" presName="node" presStyleLbl="node1" presStyleIdx="0" presStyleCnt="6" custScaleX="116048" custScaleY="107839">
        <dgm:presLayoutVars>
          <dgm:bulletEnabled val="1"/>
        </dgm:presLayoutVars>
      </dgm:prSet>
      <dgm:spPr/>
      <dgm:t>
        <a:bodyPr/>
        <a:lstStyle/>
        <a:p>
          <a:endParaRPr lang="en-US"/>
        </a:p>
      </dgm:t>
    </dgm:pt>
    <dgm:pt modelId="{DF3E8B8B-5B6A-4416-B115-5E7CE458BD2C}" type="pres">
      <dgm:prSet presAssocID="{09F9C9CA-6EAE-422D-9796-6B46F475FB89}" presName="spNode" presStyleCnt="0"/>
      <dgm:spPr/>
      <dgm:t>
        <a:bodyPr/>
        <a:lstStyle/>
        <a:p>
          <a:endParaRPr lang="en-US"/>
        </a:p>
      </dgm:t>
    </dgm:pt>
    <dgm:pt modelId="{12249751-ACC4-42B0-96B5-81CC5E256F52}" type="pres">
      <dgm:prSet presAssocID="{DDEC575B-010D-406B-92C3-924892CEB79A}" presName="sibTrans" presStyleLbl="sibTrans1D1" presStyleIdx="0" presStyleCnt="6"/>
      <dgm:spPr/>
      <dgm:t>
        <a:bodyPr/>
        <a:lstStyle/>
        <a:p>
          <a:endParaRPr lang="en-US"/>
        </a:p>
      </dgm:t>
    </dgm:pt>
    <dgm:pt modelId="{32F06E1F-E1C5-4F90-8D15-6FA2367F32C5}" type="pres">
      <dgm:prSet presAssocID="{9A402062-EA1A-4510-BC83-F8F8D8D46D58}" presName="node" presStyleLbl="node1" presStyleIdx="1" presStyleCnt="6" custScaleX="125061" custScaleY="110301">
        <dgm:presLayoutVars>
          <dgm:bulletEnabled val="1"/>
        </dgm:presLayoutVars>
      </dgm:prSet>
      <dgm:spPr/>
      <dgm:t>
        <a:bodyPr/>
        <a:lstStyle/>
        <a:p>
          <a:endParaRPr lang="en-US"/>
        </a:p>
      </dgm:t>
    </dgm:pt>
    <dgm:pt modelId="{CFD8322E-A48F-4AA5-8E24-6247E63A39B8}" type="pres">
      <dgm:prSet presAssocID="{9A402062-EA1A-4510-BC83-F8F8D8D46D58}" presName="spNode" presStyleCnt="0"/>
      <dgm:spPr/>
      <dgm:t>
        <a:bodyPr/>
        <a:lstStyle/>
        <a:p>
          <a:endParaRPr lang="en-US"/>
        </a:p>
      </dgm:t>
    </dgm:pt>
    <dgm:pt modelId="{885FD896-2E86-4A58-A61E-A14115057B6A}" type="pres">
      <dgm:prSet presAssocID="{FC3A785B-F761-4EB8-9AC4-353600A32444}" presName="sibTrans" presStyleLbl="sibTrans1D1" presStyleIdx="1" presStyleCnt="6"/>
      <dgm:spPr/>
      <dgm:t>
        <a:bodyPr/>
        <a:lstStyle/>
        <a:p>
          <a:endParaRPr lang="en-US"/>
        </a:p>
      </dgm:t>
    </dgm:pt>
    <dgm:pt modelId="{A6C110D1-E12D-4D1A-B1FE-D86EE6B834F5}" type="pres">
      <dgm:prSet presAssocID="{7B257DC3-DBC1-4799-B8D2-9C0FFC273D1C}" presName="node" presStyleLbl="node1" presStyleIdx="2" presStyleCnt="6" custScaleX="119468" custScaleY="105535">
        <dgm:presLayoutVars>
          <dgm:bulletEnabled val="1"/>
        </dgm:presLayoutVars>
      </dgm:prSet>
      <dgm:spPr/>
      <dgm:t>
        <a:bodyPr/>
        <a:lstStyle/>
        <a:p>
          <a:endParaRPr lang="en-US"/>
        </a:p>
      </dgm:t>
    </dgm:pt>
    <dgm:pt modelId="{384CD8E0-7C4F-4149-9290-431090C7EF94}" type="pres">
      <dgm:prSet presAssocID="{7B257DC3-DBC1-4799-B8D2-9C0FFC273D1C}" presName="spNode" presStyleCnt="0"/>
      <dgm:spPr/>
      <dgm:t>
        <a:bodyPr/>
        <a:lstStyle/>
        <a:p>
          <a:endParaRPr lang="en-US"/>
        </a:p>
      </dgm:t>
    </dgm:pt>
    <dgm:pt modelId="{F9CDA784-6704-4063-B36B-ABB4B47F1ADC}" type="pres">
      <dgm:prSet presAssocID="{A529E9B3-B63D-4130-895B-DF18B293F28D}" presName="sibTrans" presStyleLbl="sibTrans1D1" presStyleIdx="2" presStyleCnt="6"/>
      <dgm:spPr/>
      <dgm:t>
        <a:bodyPr/>
        <a:lstStyle/>
        <a:p>
          <a:endParaRPr lang="en-US"/>
        </a:p>
      </dgm:t>
    </dgm:pt>
    <dgm:pt modelId="{9C482C99-64B9-4EF2-9940-151B198BED7F}" type="pres">
      <dgm:prSet presAssocID="{AD1604BB-D3DE-4FB1-A334-D9AB6D35AEEB}" presName="node" presStyleLbl="node1" presStyleIdx="3" presStyleCnt="6" custScaleX="114800" custScaleY="101538">
        <dgm:presLayoutVars>
          <dgm:bulletEnabled val="1"/>
        </dgm:presLayoutVars>
      </dgm:prSet>
      <dgm:spPr/>
      <dgm:t>
        <a:bodyPr/>
        <a:lstStyle/>
        <a:p>
          <a:endParaRPr lang="en-US"/>
        </a:p>
      </dgm:t>
    </dgm:pt>
    <dgm:pt modelId="{DDC289A6-44F2-49F6-ADEC-83CE3EAAA5AA}" type="pres">
      <dgm:prSet presAssocID="{AD1604BB-D3DE-4FB1-A334-D9AB6D35AEEB}" presName="spNode" presStyleCnt="0"/>
      <dgm:spPr/>
      <dgm:t>
        <a:bodyPr/>
        <a:lstStyle/>
        <a:p>
          <a:endParaRPr lang="en-US"/>
        </a:p>
      </dgm:t>
    </dgm:pt>
    <dgm:pt modelId="{7000CBB2-8D8F-4447-81A0-E4A7CAC5D82F}" type="pres">
      <dgm:prSet presAssocID="{2390F0CD-E2B1-4C0D-AD96-83777B00754B}" presName="sibTrans" presStyleLbl="sibTrans1D1" presStyleIdx="3" presStyleCnt="6"/>
      <dgm:spPr/>
      <dgm:t>
        <a:bodyPr/>
        <a:lstStyle/>
        <a:p>
          <a:endParaRPr lang="en-US"/>
        </a:p>
      </dgm:t>
    </dgm:pt>
    <dgm:pt modelId="{B13DE85A-CEDF-45B1-9ED5-04A5B06D43D8}" type="pres">
      <dgm:prSet presAssocID="{507F9ACA-AD6C-469C-A78D-F74B167199CC}" presName="node" presStyleLbl="node1" presStyleIdx="4" presStyleCnt="6" custScaleX="130079" custScaleY="112734">
        <dgm:presLayoutVars>
          <dgm:bulletEnabled val="1"/>
        </dgm:presLayoutVars>
      </dgm:prSet>
      <dgm:spPr/>
      <dgm:t>
        <a:bodyPr/>
        <a:lstStyle/>
        <a:p>
          <a:endParaRPr lang="en-US"/>
        </a:p>
      </dgm:t>
    </dgm:pt>
    <dgm:pt modelId="{0A848954-C8FF-4B75-9BA9-38556DE34351}" type="pres">
      <dgm:prSet presAssocID="{507F9ACA-AD6C-469C-A78D-F74B167199CC}" presName="spNode" presStyleCnt="0"/>
      <dgm:spPr/>
      <dgm:t>
        <a:bodyPr/>
        <a:lstStyle/>
        <a:p>
          <a:endParaRPr lang="en-US"/>
        </a:p>
      </dgm:t>
    </dgm:pt>
    <dgm:pt modelId="{0574A2DC-C43E-4BAC-A615-DD4DACA549F8}" type="pres">
      <dgm:prSet presAssocID="{9D787AF9-ABD2-4AA1-B717-3922F5864294}" presName="sibTrans" presStyleLbl="sibTrans1D1" presStyleIdx="4" presStyleCnt="6"/>
      <dgm:spPr/>
      <dgm:t>
        <a:bodyPr/>
        <a:lstStyle/>
        <a:p>
          <a:endParaRPr lang="en-US"/>
        </a:p>
      </dgm:t>
    </dgm:pt>
    <dgm:pt modelId="{815A771F-C897-4856-8790-A97AF59F3EEC}" type="pres">
      <dgm:prSet presAssocID="{027D80BA-C1BC-4D96-BB6D-C2632B031AEC}" presName="node" presStyleLbl="node1" presStyleIdx="5" presStyleCnt="6" custScaleX="126403" custScaleY="115210">
        <dgm:presLayoutVars>
          <dgm:bulletEnabled val="1"/>
        </dgm:presLayoutVars>
      </dgm:prSet>
      <dgm:spPr/>
      <dgm:t>
        <a:bodyPr/>
        <a:lstStyle/>
        <a:p>
          <a:endParaRPr lang="en-US"/>
        </a:p>
      </dgm:t>
    </dgm:pt>
    <dgm:pt modelId="{182EF57E-6629-4052-ACC7-D7DD3A8C894C}" type="pres">
      <dgm:prSet presAssocID="{027D80BA-C1BC-4D96-BB6D-C2632B031AEC}" presName="spNode" presStyleCnt="0"/>
      <dgm:spPr/>
      <dgm:t>
        <a:bodyPr/>
        <a:lstStyle/>
        <a:p>
          <a:endParaRPr lang="en-US"/>
        </a:p>
      </dgm:t>
    </dgm:pt>
    <dgm:pt modelId="{94EF2E28-0DDC-421B-B596-83A9CCB14E5B}" type="pres">
      <dgm:prSet presAssocID="{89F9B790-7C39-4D58-9AAA-1D8C9F69AEE2}" presName="sibTrans" presStyleLbl="sibTrans1D1" presStyleIdx="5" presStyleCnt="6"/>
      <dgm:spPr/>
      <dgm:t>
        <a:bodyPr/>
        <a:lstStyle/>
        <a:p>
          <a:endParaRPr lang="en-US"/>
        </a:p>
      </dgm:t>
    </dgm:pt>
  </dgm:ptLst>
  <dgm:cxnLst>
    <dgm:cxn modelId="{DECCA455-8426-444B-84E8-FACC98F0D3E8}" type="presOf" srcId="{507F9ACA-AD6C-469C-A78D-F74B167199CC}" destId="{B13DE85A-CEDF-45B1-9ED5-04A5B06D43D8}" srcOrd="0" destOrd="0" presId="urn:microsoft.com/office/officeart/2005/8/layout/cycle6"/>
    <dgm:cxn modelId="{8170A207-BFE8-4BC9-8E5B-B99BBD745C0D}" type="presOf" srcId="{9D787AF9-ABD2-4AA1-B717-3922F5864294}" destId="{0574A2DC-C43E-4BAC-A615-DD4DACA549F8}" srcOrd="0" destOrd="0" presId="urn:microsoft.com/office/officeart/2005/8/layout/cycle6"/>
    <dgm:cxn modelId="{5411C23B-024F-4CA7-90AF-8F30BA07E90D}" srcId="{A66724FA-EC90-4DA7-A498-32264364A687}" destId="{027D80BA-C1BC-4D96-BB6D-C2632B031AEC}" srcOrd="5" destOrd="0" parTransId="{C5913DA7-8DCB-45C0-9D7B-933676D7561F}" sibTransId="{89F9B790-7C39-4D58-9AAA-1D8C9F69AEE2}"/>
    <dgm:cxn modelId="{5986084F-1C6B-448B-9369-AA1C0D8DC3B0}" srcId="{A66724FA-EC90-4DA7-A498-32264364A687}" destId="{09F9C9CA-6EAE-422D-9796-6B46F475FB89}" srcOrd="0" destOrd="0" parTransId="{7B04161E-1EEE-408A-9B93-F524F0E518C0}" sibTransId="{DDEC575B-010D-406B-92C3-924892CEB79A}"/>
    <dgm:cxn modelId="{1E75A270-092A-49BD-9547-6A105C35E9F6}" srcId="{A66724FA-EC90-4DA7-A498-32264364A687}" destId="{9A402062-EA1A-4510-BC83-F8F8D8D46D58}" srcOrd="1" destOrd="0" parTransId="{DB38B19A-4AC4-4DB4-859F-6B5E56A8D5A1}" sibTransId="{FC3A785B-F761-4EB8-9AC4-353600A32444}"/>
    <dgm:cxn modelId="{F7DD78E7-9451-4C5A-9BC3-E4E402032D62}" type="presOf" srcId="{027D80BA-C1BC-4D96-BB6D-C2632B031AEC}" destId="{815A771F-C897-4856-8790-A97AF59F3EEC}" srcOrd="0" destOrd="0" presId="urn:microsoft.com/office/officeart/2005/8/layout/cycle6"/>
    <dgm:cxn modelId="{9EA029D1-8A00-4908-AC55-A1DFAB4568BC}" srcId="{A66724FA-EC90-4DA7-A498-32264364A687}" destId="{AD1604BB-D3DE-4FB1-A334-D9AB6D35AEEB}" srcOrd="3" destOrd="0" parTransId="{6A9A4C4D-00E1-44A2-B8EC-AEED1F8201D2}" sibTransId="{2390F0CD-E2B1-4C0D-AD96-83777B00754B}"/>
    <dgm:cxn modelId="{5F510DE1-D7B9-452A-8CCD-F1E42BC6576F}" type="presOf" srcId="{89F9B790-7C39-4D58-9AAA-1D8C9F69AEE2}" destId="{94EF2E28-0DDC-421B-B596-83A9CCB14E5B}" srcOrd="0" destOrd="0" presId="urn:microsoft.com/office/officeart/2005/8/layout/cycle6"/>
    <dgm:cxn modelId="{73A0E0C0-BD7C-4777-B9AC-6AD2F78261E1}" type="presOf" srcId="{AD1604BB-D3DE-4FB1-A334-D9AB6D35AEEB}" destId="{9C482C99-64B9-4EF2-9940-151B198BED7F}" srcOrd="0" destOrd="0" presId="urn:microsoft.com/office/officeart/2005/8/layout/cycle6"/>
    <dgm:cxn modelId="{70FECE0F-2368-4B92-9C48-745ADCEA7D3E}" type="presOf" srcId="{FC3A785B-F761-4EB8-9AC4-353600A32444}" destId="{885FD896-2E86-4A58-A61E-A14115057B6A}" srcOrd="0" destOrd="0" presId="urn:microsoft.com/office/officeart/2005/8/layout/cycle6"/>
    <dgm:cxn modelId="{EA12F753-A88D-41DD-B6AD-CD0B59DDD5FD}" type="presOf" srcId="{A66724FA-EC90-4DA7-A498-32264364A687}" destId="{7355455B-BAD1-4622-A9A6-579388022809}" srcOrd="0" destOrd="0" presId="urn:microsoft.com/office/officeart/2005/8/layout/cycle6"/>
    <dgm:cxn modelId="{48B4AE0F-9133-4E2D-B8C3-E27F578E1DB0}" srcId="{A66724FA-EC90-4DA7-A498-32264364A687}" destId="{7B257DC3-DBC1-4799-B8D2-9C0FFC273D1C}" srcOrd="2" destOrd="0" parTransId="{6DDC8DB8-D844-4F3D-B8A3-10B4E969F26E}" sibTransId="{A529E9B3-B63D-4130-895B-DF18B293F28D}"/>
    <dgm:cxn modelId="{D1768D0D-328B-418E-B830-8C2531BF5486}" type="presOf" srcId="{2390F0CD-E2B1-4C0D-AD96-83777B00754B}" destId="{7000CBB2-8D8F-4447-81A0-E4A7CAC5D82F}" srcOrd="0" destOrd="0" presId="urn:microsoft.com/office/officeart/2005/8/layout/cycle6"/>
    <dgm:cxn modelId="{3ED29F35-3347-4714-93A4-44B6C249A5AD}" type="presOf" srcId="{A529E9B3-B63D-4130-895B-DF18B293F28D}" destId="{F9CDA784-6704-4063-B36B-ABB4B47F1ADC}" srcOrd="0" destOrd="0" presId="urn:microsoft.com/office/officeart/2005/8/layout/cycle6"/>
    <dgm:cxn modelId="{6CED7815-9D22-4E59-AA7E-007F0A106536}" srcId="{A66724FA-EC90-4DA7-A498-32264364A687}" destId="{507F9ACA-AD6C-469C-A78D-F74B167199CC}" srcOrd="4" destOrd="0" parTransId="{A059A3B9-E90B-4C40-B264-A9DD0A4C1608}" sibTransId="{9D787AF9-ABD2-4AA1-B717-3922F5864294}"/>
    <dgm:cxn modelId="{6C44D921-6D85-4A5E-B382-4354018C5306}" type="presOf" srcId="{DDEC575B-010D-406B-92C3-924892CEB79A}" destId="{12249751-ACC4-42B0-96B5-81CC5E256F52}" srcOrd="0" destOrd="0" presId="urn:microsoft.com/office/officeart/2005/8/layout/cycle6"/>
    <dgm:cxn modelId="{3B2F908B-1BC4-4866-A0EF-EFD8A3716509}" type="presOf" srcId="{9A402062-EA1A-4510-BC83-F8F8D8D46D58}" destId="{32F06E1F-E1C5-4F90-8D15-6FA2367F32C5}" srcOrd="0" destOrd="0" presId="urn:microsoft.com/office/officeart/2005/8/layout/cycle6"/>
    <dgm:cxn modelId="{CAB596C8-04DE-4A13-A16C-6E0ED98482BD}" type="presOf" srcId="{7B257DC3-DBC1-4799-B8D2-9C0FFC273D1C}" destId="{A6C110D1-E12D-4D1A-B1FE-D86EE6B834F5}" srcOrd="0" destOrd="0" presId="urn:microsoft.com/office/officeart/2005/8/layout/cycle6"/>
    <dgm:cxn modelId="{B41DA695-3897-4369-9E27-77A87EDBEE19}" type="presOf" srcId="{09F9C9CA-6EAE-422D-9796-6B46F475FB89}" destId="{1104E40E-5993-4C02-83D8-17E1459212AE}" srcOrd="0" destOrd="0" presId="urn:microsoft.com/office/officeart/2005/8/layout/cycle6"/>
    <dgm:cxn modelId="{961B045C-822A-4018-B30A-05AB23E5C5E3}" type="presParOf" srcId="{7355455B-BAD1-4622-A9A6-579388022809}" destId="{1104E40E-5993-4C02-83D8-17E1459212AE}" srcOrd="0" destOrd="0" presId="urn:microsoft.com/office/officeart/2005/8/layout/cycle6"/>
    <dgm:cxn modelId="{839EEA3D-860F-48E4-97C7-5F93E625A852}" type="presParOf" srcId="{7355455B-BAD1-4622-A9A6-579388022809}" destId="{DF3E8B8B-5B6A-4416-B115-5E7CE458BD2C}" srcOrd="1" destOrd="0" presId="urn:microsoft.com/office/officeart/2005/8/layout/cycle6"/>
    <dgm:cxn modelId="{E77E75AD-89D5-4067-9BC3-1C85A8A7AC97}" type="presParOf" srcId="{7355455B-BAD1-4622-A9A6-579388022809}" destId="{12249751-ACC4-42B0-96B5-81CC5E256F52}" srcOrd="2" destOrd="0" presId="urn:microsoft.com/office/officeart/2005/8/layout/cycle6"/>
    <dgm:cxn modelId="{E781F131-0266-4BCD-BC46-B7B9564371CD}" type="presParOf" srcId="{7355455B-BAD1-4622-A9A6-579388022809}" destId="{32F06E1F-E1C5-4F90-8D15-6FA2367F32C5}" srcOrd="3" destOrd="0" presId="urn:microsoft.com/office/officeart/2005/8/layout/cycle6"/>
    <dgm:cxn modelId="{DF6008A8-116E-4BF7-8394-28E79627EDAF}" type="presParOf" srcId="{7355455B-BAD1-4622-A9A6-579388022809}" destId="{CFD8322E-A48F-4AA5-8E24-6247E63A39B8}" srcOrd="4" destOrd="0" presId="urn:microsoft.com/office/officeart/2005/8/layout/cycle6"/>
    <dgm:cxn modelId="{BECBC8F0-7E6A-47E0-924A-6713396B6FAD}" type="presParOf" srcId="{7355455B-BAD1-4622-A9A6-579388022809}" destId="{885FD896-2E86-4A58-A61E-A14115057B6A}" srcOrd="5" destOrd="0" presId="urn:microsoft.com/office/officeart/2005/8/layout/cycle6"/>
    <dgm:cxn modelId="{ABCDE97B-4BBE-49D2-AFB3-53950D098578}" type="presParOf" srcId="{7355455B-BAD1-4622-A9A6-579388022809}" destId="{A6C110D1-E12D-4D1A-B1FE-D86EE6B834F5}" srcOrd="6" destOrd="0" presId="urn:microsoft.com/office/officeart/2005/8/layout/cycle6"/>
    <dgm:cxn modelId="{42C1A06D-7179-46F8-81D2-8C3E44522F49}" type="presParOf" srcId="{7355455B-BAD1-4622-A9A6-579388022809}" destId="{384CD8E0-7C4F-4149-9290-431090C7EF94}" srcOrd="7" destOrd="0" presId="urn:microsoft.com/office/officeart/2005/8/layout/cycle6"/>
    <dgm:cxn modelId="{2CD68F96-62AE-49FC-A907-E81964E25999}" type="presParOf" srcId="{7355455B-BAD1-4622-A9A6-579388022809}" destId="{F9CDA784-6704-4063-B36B-ABB4B47F1ADC}" srcOrd="8" destOrd="0" presId="urn:microsoft.com/office/officeart/2005/8/layout/cycle6"/>
    <dgm:cxn modelId="{05B8DE21-D1F9-4B7C-9F6E-B760F1C67241}" type="presParOf" srcId="{7355455B-BAD1-4622-A9A6-579388022809}" destId="{9C482C99-64B9-4EF2-9940-151B198BED7F}" srcOrd="9" destOrd="0" presId="urn:microsoft.com/office/officeart/2005/8/layout/cycle6"/>
    <dgm:cxn modelId="{CAF12C6C-2F42-4F98-BF9D-D7C7959B5D57}" type="presParOf" srcId="{7355455B-BAD1-4622-A9A6-579388022809}" destId="{DDC289A6-44F2-49F6-ADEC-83CE3EAAA5AA}" srcOrd="10" destOrd="0" presId="urn:microsoft.com/office/officeart/2005/8/layout/cycle6"/>
    <dgm:cxn modelId="{AD744429-4472-4531-A544-FEE62641E905}" type="presParOf" srcId="{7355455B-BAD1-4622-A9A6-579388022809}" destId="{7000CBB2-8D8F-4447-81A0-E4A7CAC5D82F}" srcOrd="11" destOrd="0" presId="urn:microsoft.com/office/officeart/2005/8/layout/cycle6"/>
    <dgm:cxn modelId="{311B3E53-7624-412F-978E-A9B410B9340F}" type="presParOf" srcId="{7355455B-BAD1-4622-A9A6-579388022809}" destId="{B13DE85A-CEDF-45B1-9ED5-04A5B06D43D8}" srcOrd="12" destOrd="0" presId="urn:microsoft.com/office/officeart/2005/8/layout/cycle6"/>
    <dgm:cxn modelId="{45F4EE65-1E32-492A-A3DD-F3A5F14570B1}" type="presParOf" srcId="{7355455B-BAD1-4622-A9A6-579388022809}" destId="{0A848954-C8FF-4B75-9BA9-38556DE34351}" srcOrd="13" destOrd="0" presId="urn:microsoft.com/office/officeart/2005/8/layout/cycle6"/>
    <dgm:cxn modelId="{3920C9A6-FCC7-4D9F-9337-10611E1B5F9E}" type="presParOf" srcId="{7355455B-BAD1-4622-A9A6-579388022809}" destId="{0574A2DC-C43E-4BAC-A615-DD4DACA549F8}" srcOrd="14" destOrd="0" presId="urn:microsoft.com/office/officeart/2005/8/layout/cycle6"/>
    <dgm:cxn modelId="{C4FF3653-9FBE-45B6-B648-8E54253F9114}" type="presParOf" srcId="{7355455B-BAD1-4622-A9A6-579388022809}" destId="{815A771F-C897-4856-8790-A97AF59F3EEC}" srcOrd="15" destOrd="0" presId="urn:microsoft.com/office/officeart/2005/8/layout/cycle6"/>
    <dgm:cxn modelId="{C2A029AC-D133-4531-A5D8-7BE9E8891EA9}" type="presParOf" srcId="{7355455B-BAD1-4622-A9A6-579388022809}" destId="{182EF57E-6629-4052-ACC7-D7DD3A8C894C}" srcOrd="16" destOrd="0" presId="urn:microsoft.com/office/officeart/2005/8/layout/cycle6"/>
    <dgm:cxn modelId="{0D1334F4-3F84-41C8-8E76-5B232B656A80}" type="presParOf" srcId="{7355455B-BAD1-4622-A9A6-579388022809}" destId="{94EF2E28-0DDC-421B-B596-83A9CCB14E5B}" srcOrd="17"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B8C8726-D8F1-41E5-8A06-39D7BF24E7AA}" type="doc">
      <dgm:prSet loTypeId="urn:microsoft.com/office/officeart/2005/8/layout/default#1" loCatId="list" qsTypeId="urn:microsoft.com/office/officeart/2005/8/quickstyle/3d2" qsCatId="3D" csTypeId="urn:microsoft.com/office/officeart/2005/8/colors/accent2_2" csCatId="accent2" phldr="1"/>
      <dgm:spPr/>
      <dgm:t>
        <a:bodyPr/>
        <a:lstStyle/>
        <a:p>
          <a:endParaRPr lang="en-US"/>
        </a:p>
      </dgm:t>
    </dgm:pt>
    <dgm:pt modelId="{8D8613F3-B732-4B43-B638-83CE759037AF}">
      <dgm:prSet phldrT="[Text]"/>
      <dgm:spPr/>
      <dgm:t>
        <a:bodyPr/>
        <a:lstStyle/>
        <a:p>
          <a:r>
            <a:rPr lang="en-US" dirty="0" smtClean="0">
              <a:latin typeface="Rockwell" pitchFamily="18" charset="0"/>
            </a:rPr>
            <a:t>Lead to sustainable projects</a:t>
          </a:r>
          <a:endParaRPr lang="en-US" dirty="0">
            <a:latin typeface="Rockwell" pitchFamily="18" charset="0"/>
          </a:endParaRPr>
        </a:p>
      </dgm:t>
    </dgm:pt>
    <dgm:pt modelId="{68736250-B60C-4BE4-AE87-39ACFE864027}" type="parTrans" cxnId="{EDF4C7A8-9ECA-44F5-BCD1-0FA1B24EB4E2}">
      <dgm:prSet/>
      <dgm:spPr/>
      <dgm:t>
        <a:bodyPr/>
        <a:lstStyle/>
        <a:p>
          <a:endParaRPr lang="en-US">
            <a:latin typeface="Rockwell" pitchFamily="18" charset="0"/>
          </a:endParaRPr>
        </a:p>
      </dgm:t>
    </dgm:pt>
    <dgm:pt modelId="{7BF176A6-5CDF-4AA8-AA7B-163CF2310887}" type="sibTrans" cxnId="{EDF4C7A8-9ECA-44F5-BCD1-0FA1B24EB4E2}">
      <dgm:prSet/>
      <dgm:spPr/>
      <dgm:t>
        <a:bodyPr/>
        <a:lstStyle/>
        <a:p>
          <a:endParaRPr lang="en-US">
            <a:latin typeface="Rockwell" pitchFamily="18" charset="0"/>
          </a:endParaRPr>
        </a:p>
      </dgm:t>
    </dgm:pt>
    <dgm:pt modelId="{39C4539F-AAB4-4F19-AB65-5FC314EFD3ED}">
      <dgm:prSet phldrT="[Text]"/>
      <dgm:spPr/>
      <dgm:t>
        <a:bodyPr/>
        <a:lstStyle/>
        <a:p>
          <a:r>
            <a:rPr lang="en-US" dirty="0" smtClean="0">
              <a:latin typeface="Rockwell" pitchFamily="18" charset="0"/>
            </a:rPr>
            <a:t>Introduce and extend the NSDI</a:t>
          </a:r>
          <a:endParaRPr lang="en-US" dirty="0">
            <a:latin typeface="Rockwell" pitchFamily="18" charset="0"/>
          </a:endParaRPr>
        </a:p>
      </dgm:t>
    </dgm:pt>
    <dgm:pt modelId="{B5E1926D-C2F9-41D8-87AA-7F005984E7AF}" type="parTrans" cxnId="{EB0F3B43-025F-4752-AB05-6EC064AEC2ED}">
      <dgm:prSet/>
      <dgm:spPr/>
      <dgm:t>
        <a:bodyPr/>
        <a:lstStyle/>
        <a:p>
          <a:endParaRPr lang="en-US">
            <a:latin typeface="Rockwell" pitchFamily="18" charset="0"/>
          </a:endParaRPr>
        </a:p>
      </dgm:t>
    </dgm:pt>
    <dgm:pt modelId="{0B2DBAAE-E35D-4FB1-98EE-38F4C484F095}" type="sibTrans" cxnId="{EB0F3B43-025F-4752-AB05-6EC064AEC2ED}">
      <dgm:prSet/>
      <dgm:spPr/>
      <dgm:t>
        <a:bodyPr/>
        <a:lstStyle/>
        <a:p>
          <a:endParaRPr lang="en-US">
            <a:latin typeface="Rockwell" pitchFamily="18" charset="0"/>
          </a:endParaRPr>
        </a:p>
      </dgm:t>
    </dgm:pt>
    <dgm:pt modelId="{53F79FBF-14A9-421C-BD8E-C91175C138BE}">
      <dgm:prSet phldrT="[Text]"/>
      <dgm:spPr/>
      <dgm:t>
        <a:bodyPr/>
        <a:lstStyle/>
        <a:p>
          <a:r>
            <a:rPr lang="en-US" dirty="0" smtClean="0">
              <a:latin typeface="Rockwell" pitchFamily="18" charset="0"/>
            </a:rPr>
            <a:t>Implement proven solutions</a:t>
          </a:r>
          <a:endParaRPr lang="en-US" dirty="0">
            <a:latin typeface="Rockwell" pitchFamily="18" charset="0"/>
          </a:endParaRPr>
        </a:p>
      </dgm:t>
    </dgm:pt>
    <dgm:pt modelId="{2EF7A4CE-5C55-42AC-929C-B423976E371E}" type="parTrans" cxnId="{0618721A-A433-4B8B-9DC6-8281F4BD0A94}">
      <dgm:prSet/>
      <dgm:spPr/>
      <dgm:t>
        <a:bodyPr/>
        <a:lstStyle/>
        <a:p>
          <a:endParaRPr lang="en-US">
            <a:latin typeface="Rockwell" pitchFamily="18" charset="0"/>
          </a:endParaRPr>
        </a:p>
      </dgm:t>
    </dgm:pt>
    <dgm:pt modelId="{3AC020C4-96A0-43F7-8060-999C4EDC0014}" type="sibTrans" cxnId="{0618721A-A433-4B8B-9DC6-8281F4BD0A94}">
      <dgm:prSet/>
      <dgm:spPr/>
      <dgm:t>
        <a:bodyPr/>
        <a:lstStyle/>
        <a:p>
          <a:endParaRPr lang="en-US">
            <a:latin typeface="Rockwell" pitchFamily="18" charset="0"/>
          </a:endParaRPr>
        </a:p>
      </dgm:t>
    </dgm:pt>
    <dgm:pt modelId="{C1C68D1B-11EA-4D4A-96CB-43014B5BB15C}">
      <dgm:prSet phldrT="[Text]"/>
      <dgm:spPr/>
      <dgm:t>
        <a:bodyPr/>
        <a:lstStyle/>
        <a:p>
          <a:r>
            <a:rPr lang="en-US" dirty="0" smtClean="0">
              <a:latin typeface="Rockwell" pitchFamily="18" charset="0"/>
            </a:rPr>
            <a:t>Encourage partnerships </a:t>
          </a:r>
          <a:endParaRPr lang="en-US" dirty="0">
            <a:latin typeface="Rockwell" pitchFamily="18" charset="0"/>
          </a:endParaRPr>
        </a:p>
      </dgm:t>
    </dgm:pt>
    <dgm:pt modelId="{E95F5E53-9151-4E84-84F6-C981B96BBFEB}" type="parTrans" cxnId="{59C3E104-52F6-488B-8243-183D4A380F00}">
      <dgm:prSet/>
      <dgm:spPr/>
      <dgm:t>
        <a:bodyPr/>
        <a:lstStyle/>
        <a:p>
          <a:endParaRPr lang="en-US">
            <a:latin typeface="Rockwell" pitchFamily="18" charset="0"/>
          </a:endParaRPr>
        </a:p>
      </dgm:t>
    </dgm:pt>
    <dgm:pt modelId="{02D52C73-1115-4577-BC3E-0A56E0ED3465}" type="sibTrans" cxnId="{59C3E104-52F6-488B-8243-183D4A380F00}">
      <dgm:prSet/>
      <dgm:spPr/>
      <dgm:t>
        <a:bodyPr/>
        <a:lstStyle/>
        <a:p>
          <a:endParaRPr lang="en-US">
            <a:latin typeface="Rockwell" pitchFamily="18" charset="0"/>
          </a:endParaRPr>
        </a:p>
      </dgm:t>
    </dgm:pt>
    <dgm:pt modelId="{5BABC636-DB9E-4F61-9B0C-B0DF7365F9DF}">
      <dgm:prSet phldrT="[Text]"/>
      <dgm:spPr/>
      <dgm:t>
        <a:bodyPr/>
        <a:lstStyle/>
        <a:p>
          <a:r>
            <a:rPr lang="en-US" dirty="0" smtClean="0">
              <a:latin typeface="Rockwell" pitchFamily="18" charset="0"/>
            </a:rPr>
            <a:t>Focus on infrastructure development</a:t>
          </a:r>
          <a:endParaRPr lang="en-US" dirty="0">
            <a:latin typeface="Rockwell" pitchFamily="18" charset="0"/>
          </a:endParaRPr>
        </a:p>
      </dgm:t>
    </dgm:pt>
    <dgm:pt modelId="{85FE610F-B5F9-4061-B318-F4DF0DD44ED7}" type="parTrans" cxnId="{34B9B63B-F47D-4CFD-9B31-ECCA56434F7A}">
      <dgm:prSet/>
      <dgm:spPr/>
      <dgm:t>
        <a:bodyPr/>
        <a:lstStyle/>
        <a:p>
          <a:endParaRPr lang="en-US">
            <a:latin typeface="Rockwell" pitchFamily="18" charset="0"/>
          </a:endParaRPr>
        </a:p>
      </dgm:t>
    </dgm:pt>
    <dgm:pt modelId="{4484DE98-6F6A-4EA4-BA13-B868D6C651E7}" type="sibTrans" cxnId="{34B9B63B-F47D-4CFD-9B31-ECCA56434F7A}">
      <dgm:prSet/>
      <dgm:spPr/>
      <dgm:t>
        <a:bodyPr/>
        <a:lstStyle/>
        <a:p>
          <a:endParaRPr lang="en-US">
            <a:latin typeface="Rockwell" pitchFamily="18" charset="0"/>
          </a:endParaRPr>
        </a:p>
      </dgm:t>
    </dgm:pt>
    <dgm:pt modelId="{3ABB7E22-14FE-48A9-9340-01A8198022DB}" type="pres">
      <dgm:prSet presAssocID="{2B8C8726-D8F1-41E5-8A06-39D7BF24E7AA}" presName="diagram" presStyleCnt="0">
        <dgm:presLayoutVars>
          <dgm:dir/>
          <dgm:resizeHandles val="exact"/>
        </dgm:presLayoutVars>
      </dgm:prSet>
      <dgm:spPr/>
      <dgm:t>
        <a:bodyPr/>
        <a:lstStyle/>
        <a:p>
          <a:endParaRPr lang="en-US"/>
        </a:p>
      </dgm:t>
    </dgm:pt>
    <dgm:pt modelId="{17701804-D5B3-455B-9C09-24563C78DFB9}" type="pres">
      <dgm:prSet presAssocID="{8D8613F3-B732-4B43-B638-83CE759037AF}" presName="node" presStyleLbl="node1" presStyleIdx="0" presStyleCnt="5" custLinFactNeighborX="-34133" custLinFactNeighborY="2646">
        <dgm:presLayoutVars>
          <dgm:bulletEnabled val="1"/>
        </dgm:presLayoutVars>
      </dgm:prSet>
      <dgm:spPr>
        <a:prstGeom prst="roundRect">
          <a:avLst/>
        </a:prstGeom>
      </dgm:spPr>
      <dgm:t>
        <a:bodyPr/>
        <a:lstStyle/>
        <a:p>
          <a:endParaRPr lang="en-US"/>
        </a:p>
      </dgm:t>
    </dgm:pt>
    <dgm:pt modelId="{8056F9FA-098E-4966-8F5B-29F2D41E1BB1}" type="pres">
      <dgm:prSet presAssocID="{7BF176A6-5CDF-4AA8-AA7B-163CF2310887}" presName="sibTrans" presStyleCnt="0"/>
      <dgm:spPr/>
      <dgm:t>
        <a:bodyPr/>
        <a:lstStyle/>
        <a:p>
          <a:endParaRPr lang="en-US"/>
        </a:p>
      </dgm:t>
    </dgm:pt>
    <dgm:pt modelId="{ED1FCEF0-3F03-486B-B2A7-3043FD78C226}" type="pres">
      <dgm:prSet presAssocID="{39C4539F-AAB4-4F19-AB65-5FC314EFD3ED}" presName="node" presStyleLbl="node1" presStyleIdx="1" presStyleCnt="5">
        <dgm:presLayoutVars>
          <dgm:bulletEnabled val="1"/>
        </dgm:presLayoutVars>
      </dgm:prSet>
      <dgm:spPr>
        <a:prstGeom prst="roundRect">
          <a:avLst/>
        </a:prstGeom>
      </dgm:spPr>
      <dgm:t>
        <a:bodyPr/>
        <a:lstStyle/>
        <a:p>
          <a:endParaRPr lang="en-US"/>
        </a:p>
      </dgm:t>
    </dgm:pt>
    <dgm:pt modelId="{2A89EE64-7032-40EC-9D98-B34348074B7A}" type="pres">
      <dgm:prSet presAssocID="{0B2DBAAE-E35D-4FB1-98EE-38F4C484F095}" presName="sibTrans" presStyleCnt="0"/>
      <dgm:spPr/>
      <dgm:t>
        <a:bodyPr/>
        <a:lstStyle/>
        <a:p>
          <a:endParaRPr lang="en-US"/>
        </a:p>
      </dgm:t>
    </dgm:pt>
    <dgm:pt modelId="{7173A5C4-8D57-478C-A1BC-3B88CDD849E3}" type="pres">
      <dgm:prSet presAssocID="{53F79FBF-14A9-421C-BD8E-C91175C138BE}" presName="node" presStyleLbl="node1" presStyleIdx="2" presStyleCnt="5">
        <dgm:presLayoutVars>
          <dgm:bulletEnabled val="1"/>
        </dgm:presLayoutVars>
      </dgm:prSet>
      <dgm:spPr>
        <a:prstGeom prst="roundRect">
          <a:avLst/>
        </a:prstGeom>
      </dgm:spPr>
      <dgm:t>
        <a:bodyPr/>
        <a:lstStyle/>
        <a:p>
          <a:endParaRPr lang="en-US"/>
        </a:p>
      </dgm:t>
    </dgm:pt>
    <dgm:pt modelId="{7732CCA1-DA25-47C0-BC55-0A10B58DF847}" type="pres">
      <dgm:prSet presAssocID="{3AC020C4-96A0-43F7-8060-999C4EDC0014}" presName="sibTrans" presStyleCnt="0"/>
      <dgm:spPr/>
      <dgm:t>
        <a:bodyPr/>
        <a:lstStyle/>
        <a:p>
          <a:endParaRPr lang="en-US"/>
        </a:p>
      </dgm:t>
    </dgm:pt>
    <dgm:pt modelId="{DC63B79A-09DF-4D6C-B515-525B9EE96A7D}" type="pres">
      <dgm:prSet presAssocID="{C1C68D1B-11EA-4D4A-96CB-43014B5BB15C}" presName="node" presStyleLbl="node1" presStyleIdx="3" presStyleCnt="5">
        <dgm:presLayoutVars>
          <dgm:bulletEnabled val="1"/>
        </dgm:presLayoutVars>
      </dgm:prSet>
      <dgm:spPr>
        <a:prstGeom prst="roundRect">
          <a:avLst/>
        </a:prstGeom>
      </dgm:spPr>
      <dgm:t>
        <a:bodyPr/>
        <a:lstStyle/>
        <a:p>
          <a:endParaRPr lang="en-US"/>
        </a:p>
      </dgm:t>
    </dgm:pt>
    <dgm:pt modelId="{ADD56DC7-B326-42BC-8644-8FDDB511082E}" type="pres">
      <dgm:prSet presAssocID="{02D52C73-1115-4577-BC3E-0A56E0ED3465}" presName="sibTrans" presStyleCnt="0"/>
      <dgm:spPr/>
      <dgm:t>
        <a:bodyPr/>
        <a:lstStyle/>
        <a:p>
          <a:endParaRPr lang="en-US"/>
        </a:p>
      </dgm:t>
    </dgm:pt>
    <dgm:pt modelId="{7B75E8BB-5C2E-4933-9014-35306F4D9FB5}" type="pres">
      <dgm:prSet presAssocID="{5BABC636-DB9E-4F61-9B0C-B0DF7365F9DF}" presName="node" presStyleLbl="node1" presStyleIdx="4" presStyleCnt="5">
        <dgm:presLayoutVars>
          <dgm:bulletEnabled val="1"/>
        </dgm:presLayoutVars>
      </dgm:prSet>
      <dgm:spPr>
        <a:prstGeom prst="roundRect">
          <a:avLst/>
        </a:prstGeom>
      </dgm:spPr>
      <dgm:t>
        <a:bodyPr/>
        <a:lstStyle/>
        <a:p>
          <a:endParaRPr lang="en-US"/>
        </a:p>
      </dgm:t>
    </dgm:pt>
  </dgm:ptLst>
  <dgm:cxnLst>
    <dgm:cxn modelId="{D367C6A7-7E1A-4715-9370-E99287BA9470}" type="presOf" srcId="{8D8613F3-B732-4B43-B638-83CE759037AF}" destId="{17701804-D5B3-455B-9C09-24563C78DFB9}" srcOrd="0" destOrd="0" presId="urn:microsoft.com/office/officeart/2005/8/layout/default#1"/>
    <dgm:cxn modelId="{0AF9187B-4F2E-4277-964D-C775235F8B86}" type="presOf" srcId="{5BABC636-DB9E-4F61-9B0C-B0DF7365F9DF}" destId="{7B75E8BB-5C2E-4933-9014-35306F4D9FB5}" srcOrd="0" destOrd="0" presId="urn:microsoft.com/office/officeart/2005/8/layout/default#1"/>
    <dgm:cxn modelId="{59C3E104-52F6-488B-8243-183D4A380F00}" srcId="{2B8C8726-D8F1-41E5-8A06-39D7BF24E7AA}" destId="{C1C68D1B-11EA-4D4A-96CB-43014B5BB15C}" srcOrd="3" destOrd="0" parTransId="{E95F5E53-9151-4E84-84F6-C981B96BBFEB}" sibTransId="{02D52C73-1115-4577-BC3E-0A56E0ED3465}"/>
    <dgm:cxn modelId="{EDF4C7A8-9ECA-44F5-BCD1-0FA1B24EB4E2}" srcId="{2B8C8726-D8F1-41E5-8A06-39D7BF24E7AA}" destId="{8D8613F3-B732-4B43-B638-83CE759037AF}" srcOrd="0" destOrd="0" parTransId="{68736250-B60C-4BE4-AE87-39ACFE864027}" sibTransId="{7BF176A6-5CDF-4AA8-AA7B-163CF2310887}"/>
    <dgm:cxn modelId="{0618721A-A433-4B8B-9DC6-8281F4BD0A94}" srcId="{2B8C8726-D8F1-41E5-8A06-39D7BF24E7AA}" destId="{53F79FBF-14A9-421C-BD8E-C91175C138BE}" srcOrd="2" destOrd="0" parTransId="{2EF7A4CE-5C55-42AC-929C-B423976E371E}" sibTransId="{3AC020C4-96A0-43F7-8060-999C4EDC0014}"/>
    <dgm:cxn modelId="{34B9B63B-F47D-4CFD-9B31-ECCA56434F7A}" srcId="{2B8C8726-D8F1-41E5-8A06-39D7BF24E7AA}" destId="{5BABC636-DB9E-4F61-9B0C-B0DF7365F9DF}" srcOrd="4" destOrd="0" parTransId="{85FE610F-B5F9-4061-B318-F4DF0DD44ED7}" sibTransId="{4484DE98-6F6A-4EA4-BA13-B868D6C651E7}"/>
    <dgm:cxn modelId="{EB0F3B43-025F-4752-AB05-6EC064AEC2ED}" srcId="{2B8C8726-D8F1-41E5-8A06-39D7BF24E7AA}" destId="{39C4539F-AAB4-4F19-AB65-5FC314EFD3ED}" srcOrd="1" destOrd="0" parTransId="{B5E1926D-C2F9-41D8-87AA-7F005984E7AF}" sibTransId="{0B2DBAAE-E35D-4FB1-98EE-38F4C484F095}"/>
    <dgm:cxn modelId="{F29F5BB0-6A9B-4529-B41C-A559BF75726A}" type="presOf" srcId="{39C4539F-AAB4-4F19-AB65-5FC314EFD3ED}" destId="{ED1FCEF0-3F03-486B-B2A7-3043FD78C226}" srcOrd="0" destOrd="0" presId="urn:microsoft.com/office/officeart/2005/8/layout/default#1"/>
    <dgm:cxn modelId="{EBA77510-2749-4C4E-8963-FF79C26B0369}" type="presOf" srcId="{53F79FBF-14A9-421C-BD8E-C91175C138BE}" destId="{7173A5C4-8D57-478C-A1BC-3B88CDD849E3}" srcOrd="0" destOrd="0" presId="urn:microsoft.com/office/officeart/2005/8/layout/default#1"/>
    <dgm:cxn modelId="{5452919A-647B-47DB-8E2E-1B46F396D71B}" type="presOf" srcId="{C1C68D1B-11EA-4D4A-96CB-43014B5BB15C}" destId="{DC63B79A-09DF-4D6C-B515-525B9EE96A7D}" srcOrd="0" destOrd="0" presId="urn:microsoft.com/office/officeart/2005/8/layout/default#1"/>
    <dgm:cxn modelId="{9307385E-18CD-4976-97F0-74823DD9A56B}" type="presOf" srcId="{2B8C8726-D8F1-41E5-8A06-39D7BF24E7AA}" destId="{3ABB7E22-14FE-48A9-9340-01A8198022DB}" srcOrd="0" destOrd="0" presId="urn:microsoft.com/office/officeart/2005/8/layout/default#1"/>
    <dgm:cxn modelId="{C35DC741-960C-47F2-8D93-78D3E2813FC5}" type="presParOf" srcId="{3ABB7E22-14FE-48A9-9340-01A8198022DB}" destId="{17701804-D5B3-455B-9C09-24563C78DFB9}" srcOrd="0" destOrd="0" presId="urn:microsoft.com/office/officeart/2005/8/layout/default#1"/>
    <dgm:cxn modelId="{E0314ECC-DBB1-40E9-BB56-534CE0BEA8F6}" type="presParOf" srcId="{3ABB7E22-14FE-48A9-9340-01A8198022DB}" destId="{8056F9FA-098E-4966-8F5B-29F2D41E1BB1}" srcOrd="1" destOrd="0" presId="urn:microsoft.com/office/officeart/2005/8/layout/default#1"/>
    <dgm:cxn modelId="{C7ED4F96-23CD-4225-BF70-54C9250ABEBE}" type="presParOf" srcId="{3ABB7E22-14FE-48A9-9340-01A8198022DB}" destId="{ED1FCEF0-3F03-486B-B2A7-3043FD78C226}" srcOrd="2" destOrd="0" presId="urn:microsoft.com/office/officeart/2005/8/layout/default#1"/>
    <dgm:cxn modelId="{1A2FC639-C984-481E-B285-C5268A3D4C9A}" type="presParOf" srcId="{3ABB7E22-14FE-48A9-9340-01A8198022DB}" destId="{2A89EE64-7032-40EC-9D98-B34348074B7A}" srcOrd="3" destOrd="0" presId="urn:microsoft.com/office/officeart/2005/8/layout/default#1"/>
    <dgm:cxn modelId="{31C280D8-7F86-420E-8D72-8056AE6C35FC}" type="presParOf" srcId="{3ABB7E22-14FE-48A9-9340-01A8198022DB}" destId="{7173A5C4-8D57-478C-A1BC-3B88CDD849E3}" srcOrd="4" destOrd="0" presId="urn:microsoft.com/office/officeart/2005/8/layout/default#1"/>
    <dgm:cxn modelId="{DB9C938D-2DF8-47DB-B5DA-D49379FA3677}" type="presParOf" srcId="{3ABB7E22-14FE-48A9-9340-01A8198022DB}" destId="{7732CCA1-DA25-47C0-BC55-0A10B58DF847}" srcOrd="5" destOrd="0" presId="urn:microsoft.com/office/officeart/2005/8/layout/default#1"/>
    <dgm:cxn modelId="{715F958A-EC22-4408-BB17-B095E376A9D5}" type="presParOf" srcId="{3ABB7E22-14FE-48A9-9340-01A8198022DB}" destId="{DC63B79A-09DF-4D6C-B515-525B9EE96A7D}" srcOrd="6" destOrd="0" presId="urn:microsoft.com/office/officeart/2005/8/layout/default#1"/>
    <dgm:cxn modelId="{E58CAAE5-54EC-4B16-8D10-77E7A5A8B1AB}" type="presParOf" srcId="{3ABB7E22-14FE-48A9-9340-01A8198022DB}" destId="{ADD56DC7-B326-42BC-8644-8FDDB511082E}" srcOrd="7" destOrd="0" presId="urn:microsoft.com/office/officeart/2005/8/layout/default#1"/>
    <dgm:cxn modelId="{4064B59B-B17F-4CA8-8BC1-50BF2C84AE96}" type="presParOf" srcId="{3ABB7E22-14FE-48A9-9340-01A8198022DB}" destId="{7B75E8BB-5C2E-4933-9014-35306F4D9FB5}" srcOrd="8"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01804-D5B3-455B-9C09-24563C78DFB9}">
      <dsp:nvSpPr>
        <dsp:cNvPr id="0" name=""/>
        <dsp:cNvSpPr/>
      </dsp:nvSpPr>
      <dsp:spPr>
        <a:xfrm>
          <a:off x="0" y="421368"/>
          <a:ext cx="2168071" cy="1300842"/>
        </a:xfrm>
        <a:prstGeom prst="round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latin typeface="Rockwell" pitchFamily="18" charset="0"/>
            </a:rPr>
            <a:t>Documenting</a:t>
          </a:r>
          <a:endParaRPr lang="en-US" sz="2000" kern="1200" dirty="0">
            <a:latin typeface="Rockwell" pitchFamily="18" charset="0"/>
          </a:endParaRPr>
        </a:p>
      </dsp:txBody>
      <dsp:txXfrm>
        <a:off x="63502" y="484870"/>
        <a:ext cx="2041067" cy="1173838"/>
      </dsp:txXfrm>
    </dsp:sp>
    <dsp:sp modelId="{ED1FCEF0-3F03-486B-B2A7-3043FD78C226}">
      <dsp:nvSpPr>
        <dsp:cNvPr id="0" name=""/>
        <dsp:cNvSpPr/>
      </dsp:nvSpPr>
      <dsp:spPr>
        <a:xfrm>
          <a:off x="2384878" y="421368"/>
          <a:ext cx="2168071" cy="1300842"/>
        </a:xfrm>
        <a:prstGeom prst="round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latin typeface="Rockwell" pitchFamily="18" charset="0"/>
            </a:rPr>
            <a:t>Expanding</a:t>
          </a:r>
          <a:endParaRPr lang="en-US" sz="2000" kern="1200" dirty="0">
            <a:latin typeface="Rockwell" pitchFamily="18" charset="0"/>
          </a:endParaRPr>
        </a:p>
      </dsp:txBody>
      <dsp:txXfrm>
        <a:off x="2448380" y="484870"/>
        <a:ext cx="2041067" cy="1173838"/>
      </dsp:txXfrm>
    </dsp:sp>
    <dsp:sp modelId="{7173A5C4-8D57-478C-A1BC-3B88CDD849E3}">
      <dsp:nvSpPr>
        <dsp:cNvPr id="0" name=""/>
        <dsp:cNvSpPr/>
      </dsp:nvSpPr>
      <dsp:spPr>
        <a:xfrm>
          <a:off x="4769756" y="421368"/>
          <a:ext cx="2168071" cy="1300842"/>
        </a:xfrm>
        <a:prstGeom prst="round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latin typeface="Rockwell" pitchFamily="18" charset="0"/>
            </a:rPr>
            <a:t>Promoting</a:t>
          </a:r>
          <a:endParaRPr lang="en-US" sz="2000" kern="1200" dirty="0">
            <a:latin typeface="Rockwell" pitchFamily="18" charset="0"/>
          </a:endParaRPr>
        </a:p>
      </dsp:txBody>
      <dsp:txXfrm>
        <a:off x="4833258" y="484870"/>
        <a:ext cx="2041067" cy="1173838"/>
      </dsp:txXfrm>
    </dsp:sp>
    <dsp:sp modelId="{DC63B79A-09DF-4D6C-B515-525B9EE96A7D}">
      <dsp:nvSpPr>
        <dsp:cNvPr id="0" name=""/>
        <dsp:cNvSpPr/>
      </dsp:nvSpPr>
      <dsp:spPr>
        <a:xfrm>
          <a:off x="1192439" y="1939018"/>
          <a:ext cx="2168071" cy="1300842"/>
        </a:xfrm>
        <a:prstGeom prst="round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latin typeface="Rockwell" pitchFamily="18" charset="0"/>
            </a:rPr>
            <a:t>Advancing</a:t>
          </a:r>
          <a:endParaRPr lang="en-US" sz="2000" kern="1200" dirty="0">
            <a:latin typeface="Rockwell" pitchFamily="18" charset="0"/>
          </a:endParaRPr>
        </a:p>
      </dsp:txBody>
      <dsp:txXfrm>
        <a:off x="1255941" y="2002520"/>
        <a:ext cx="2041067" cy="1173838"/>
      </dsp:txXfrm>
    </dsp:sp>
    <dsp:sp modelId="{7B75E8BB-5C2E-4933-9014-35306F4D9FB5}">
      <dsp:nvSpPr>
        <dsp:cNvPr id="0" name=""/>
        <dsp:cNvSpPr/>
      </dsp:nvSpPr>
      <dsp:spPr>
        <a:xfrm>
          <a:off x="3577317" y="1939018"/>
          <a:ext cx="2168071" cy="1300842"/>
        </a:xfrm>
        <a:prstGeom prst="round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latin typeface="Rockwell" pitchFamily="18" charset="0"/>
            </a:rPr>
            <a:t>Implementing</a:t>
          </a:r>
          <a:endParaRPr lang="en-US" sz="2000" kern="1200" dirty="0">
            <a:latin typeface="Rockwell" pitchFamily="18" charset="0"/>
          </a:endParaRPr>
        </a:p>
      </dsp:txBody>
      <dsp:txXfrm>
        <a:off x="3640819" y="2002520"/>
        <a:ext cx="2041067" cy="11738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4E40E-5993-4C02-83D8-17E1459212AE}">
      <dsp:nvSpPr>
        <dsp:cNvPr id="0" name=""/>
        <dsp:cNvSpPr/>
      </dsp:nvSpPr>
      <dsp:spPr>
        <a:xfrm>
          <a:off x="2643744" y="-16844"/>
          <a:ext cx="1301097" cy="785889"/>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t>Support</a:t>
          </a:r>
          <a:endParaRPr lang="en-US" sz="1400" b="1" kern="1200" dirty="0"/>
        </a:p>
      </dsp:txBody>
      <dsp:txXfrm>
        <a:off x="2682108" y="21520"/>
        <a:ext cx="1224369" cy="709161"/>
      </dsp:txXfrm>
    </dsp:sp>
    <dsp:sp modelId="{12249751-ACC4-42B0-96B5-81CC5E256F52}">
      <dsp:nvSpPr>
        <dsp:cNvPr id="0" name=""/>
        <dsp:cNvSpPr/>
      </dsp:nvSpPr>
      <dsp:spPr>
        <a:xfrm>
          <a:off x="1576114" y="376100"/>
          <a:ext cx="3436357" cy="3436357"/>
        </a:xfrm>
        <a:custGeom>
          <a:avLst/>
          <a:gdLst/>
          <a:ahLst/>
          <a:cxnLst/>
          <a:rect l="0" t="0" r="0" b="0"/>
          <a:pathLst>
            <a:path>
              <a:moveTo>
                <a:pt x="2374392" y="130248"/>
              </a:moveTo>
              <a:arcTo wR="1718178" hR="1718178" stAng="17547174" swAng="1207610"/>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2F06E1F-E1C5-4F90-8D15-6FA2367F32C5}">
      <dsp:nvSpPr>
        <dsp:cNvPr id="0" name=""/>
        <dsp:cNvSpPr/>
      </dsp:nvSpPr>
      <dsp:spPr>
        <a:xfrm>
          <a:off x="4081205" y="833274"/>
          <a:ext cx="1402148" cy="803831"/>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t>Market</a:t>
          </a:r>
          <a:endParaRPr lang="en-US" sz="1400" b="1" kern="1200" dirty="0"/>
        </a:p>
      </dsp:txBody>
      <dsp:txXfrm>
        <a:off x="4120445" y="872514"/>
        <a:ext cx="1323668" cy="725351"/>
      </dsp:txXfrm>
    </dsp:sp>
    <dsp:sp modelId="{885FD896-2E86-4A58-A61E-A14115057B6A}">
      <dsp:nvSpPr>
        <dsp:cNvPr id="0" name=""/>
        <dsp:cNvSpPr/>
      </dsp:nvSpPr>
      <dsp:spPr>
        <a:xfrm>
          <a:off x="1576114" y="376100"/>
          <a:ext cx="3436357" cy="3436357"/>
        </a:xfrm>
        <a:custGeom>
          <a:avLst/>
          <a:gdLst/>
          <a:ahLst/>
          <a:cxnLst/>
          <a:rect l="0" t="0" r="0" b="0"/>
          <a:pathLst>
            <a:path>
              <a:moveTo>
                <a:pt x="3376873" y="1269993"/>
              </a:moveTo>
              <a:arcTo wR="1718178" hR="1718178" stAng="20692772" swAng="1850555"/>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6C110D1-E12D-4D1A-B1FE-D86EE6B834F5}">
      <dsp:nvSpPr>
        <dsp:cNvPr id="0" name=""/>
        <dsp:cNvSpPr/>
      </dsp:nvSpPr>
      <dsp:spPr>
        <a:xfrm>
          <a:off x="4112559" y="2568819"/>
          <a:ext cx="1339441" cy="769098"/>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t>Outreach</a:t>
          </a:r>
          <a:endParaRPr lang="en-US" sz="1400" b="1" kern="1200" dirty="0"/>
        </a:p>
      </dsp:txBody>
      <dsp:txXfrm>
        <a:off x="4150103" y="2606363"/>
        <a:ext cx="1264353" cy="694010"/>
      </dsp:txXfrm>
    </dsp:sp>
    <dsp:sp modelId="{F9CDA784-6704-4063-B36B-ABB4B47F1ADC}">
      <dsp:nvSpPr>
        <dsp:cNvPr id="0" name=""/>
        <dsp:cNvSpPr/>
      </dsp:nvSpPr>
      <dsp:spPr>
        <a:xfrm>
          <a:off x="1576114" y="376100"/>
          <a:ext cx="3436357" cy="3436357"/>
        </a:xfrm>
        <a:custGeom>
          <a:avLst/>
          <a:gdLst/>
          <a:ahLst/>
          <a:cxnLst/>
          <a:rect l="0" t="0" r="0" b="0"/>
          <a:pathLst>
            <a:path>
              <a:moveTo>
                <a:pt x="2899041" y="2966258"/>
              </a:moveTo>
              <a:arcTo wR="1718178" hR="1718178" stAng="2795110" swAng="1272178"/>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C482C99-64B9-4EF2-9940-151B198BED7F}">
      <dsp:nvSpPr>
        <dsp:cNvPr id="0" name=""/>
        <dsp:cNvSpPr/>
      </dsp:nvSpPr>
      <dsp:spPr>
        <a:xfrm>
          <a:off x="2650740" y="3442473"/>
          <a:ext cx="1287105" cy="739969"/>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t>Implement</a:t>
          </a:r>
          <a:endParaRPr lang="en-US" sz="1400" b="1" kern="1200" dirty="0"/>
        </a:p>
      </dsp:txBody>
      <dsp:txXfrm>
        <a:off x="2686862" y="3478595"/>
        <a:ext cx="1214861" cy="667725"/>
      </dsp:txXfrm>
    </dsp:sp>
    <dsp:sp modelId="{7000CBB2-8D8F-4447-81A0-E4A7CAC5D82F}">
      <dsp:nvSpPr>
        <dsp:cNvPr id="0" name=""/>
        <dsp:cNvSpPr/>
      </dsp:nvSpPr>
      <dsp:spPr>
        <a:xfrm>
          <a:off x="1576114" y="376100"/>
          <a:ext cx="3436357" cy="3436357"/>
        </a:xfrm>
        <a:custGeom>
          <a:avLst/>
          <a:gdLst/>
          <a:ahLst/>
          <a:cxnLst/>
          <a:rect l="0" t="0" r="0" b="0"/>
          <a:pathLst>
            <a:path>
              <a:moveTo>
                <a:pt x="1069001" y="3308998"/>
              </a:moveTo>
              <a:arcTo wR="1718178" hR="1718178" stAng="6731955" swAng="1196716"/>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13DE85A-CEDF-45B1-9ED5-04A5B06D43D8}">
      <dsp:nvSpPr>
        <dsp:cNvPr id="0" name=""/>
        <dsp:cNvSpPr/>
      </dsp:nvSpPr>
      <dsp:spPr>
        <a:xfrm>
          <a:off x="1077102" y="2542587"/>
          <a:ext cx="1458408" cy="82156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t>Institutionalize</a:t>
          </a:r>
          <a:endParaRPr lang="en-US" sz="1400" b="1" kern="1200" dirty="0"/>
        </a:p>
      </dsp:txBody>
      <dsp:txXfrm>
        <a:off x="1117207" y="2582692"/>
        <a:ext cx="1378198" cy="741352"/>
      </dsp:txXfrm>
    </dsp:sp>
    <dsp:sp modelId="{0574A2DC-C43E-4BAC-A615-DD4DACA549F8}">
      <dsp:nvSpPr>
        <dsp:cNvPr id="0" name=""/>
        <dsp:cNvSpPr/>
      </dsp:nvSpPr>
      <dsp:spPr>
        <a:xfrm>
          <a:off x="1576114" y="376100"/>
          <a:ext cx="3436357" cy="3436357"/>
        </a:xfrm>
        <a:custGeom>
          <a:avLst/>
          <a:gdLst/>
          <a:ahLst/>
          <a:cxnLst/>
          <a:rect l="0" t="0" r="0" b="0"/>
          <a:pathLst>
            <a:path>
              <a:moveTo>
                <a:pt x="57223" y="2157912"/>
              </a:moveTo>
              <a:arcTo wR="1718178" hR="1718178" stAng="9910277" swAng="1760760"/>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5A771F-C897-4856-8790-A97AF59F3EEC}">
      <dsp:nvSpPr>
        <dsp:cNvPr id="0" name=""/>
        <dsp:cNvSpPr/>
      </dsp:nvSpPr>
      <dsp:spPr>
        <a:xfrm>
          <a:off x="1097709" y="815386"/>
          <a:ext cx="1417194" cy="839606"/>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t>Seed Effort</a:t>
          </a:r>
          <a:endParaRPr lang="en-US" sz="1400" b="1" kern="1200" dirty="0"/>
        </a:p>
      </dsp:txBody>
      <dsp:txXfrm>
        <a:off x="1138695" y="856372"/>
        <a:ext cx="1335222" cy="757634"/>
      </dsp:txXfrm>
    </dsp:sp>
    <dsp:sp modelId="{94EF2E28-0DDC-421B-B596-83A9CCB14E5B}">
      <dsp:nvSpPr>
        <dsp:cNvPr id="0" name=""/>
        <dsp:cNvSpPr/>
      </dsp:nvSpPr>
      <dsp:spPr>
        <a:xfrm>
          <a:off x="1576114" y="376100"/>
          <a:ext cx="3436357" cy="3436357"/>
        </a:xfrm>
        <a:custGeom>
          <a:avLst/>
          <a:gdLst/>
          <a:ahLst/>
          <a:cxnLst/>
          <a:rect l="0" t="0" r="0" b="0"/>
          <a:pathLst>
            <a:path>
              <a:moveTo>
                <a:pt x="575130" y="435377"/>
              </a:moveTo>
              <a:arcTo wR="1718178" hR="1718178" stAng="13697828" swAng="1155520"/>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01804-D5B3-455B-9C09-24563C78DFB9}">
      <dsp:nvSpPr>
        <dsp:cNvPr id="0" name=""/>
        <dsp:cNvSpPr/>
      </dsp:nvSpPr>
      <dsp:spPr>
        <a:xfrm>
          <a:off x="0" y="431231"/>
          <a:ext cx="2249714" cy="134982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Rockwell" pitchFamily="18" charset="0"/>
            </a:rPr>
            <a:t>Lead to sustainable projects</a:t>
          </a:r>
          <a:endParaRPr lang="en-US" sz="2400" kern="1200" dirty="0">
            <a:latin typeface="Rockwell" pitchFamily="18" charset="0"/>
          </a:endParaRPr>
        </a:p>
      </dsp:txBody>
      <dsp:txXfrm>
        <a:off x="65893" y="497124"/>
        <a:ext cx="2117928" cy="1218042"/>
      </dsp:txXfrm>
    </dsp:sp>
    <dsp:sp modelId="{ED1FCEF0-3F03-486B-B2A7-3043FD78C226}">
      <dsp:nvSpPr>
        <dsp:cNvPr id="0" name=""/>
        <dsp:cNvSpPr/>
      </dsp:nvSpPr>
      <dsp:spPr>
        <a:xfrm>
          <a:off x="2474685" y="395514"/>
          <a:ext cx="2249714" cy="134982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Rockwell" pitchFamily="18" charset="0"/>
            </a:rPr>
            <a:t>Introduce and extend the NSDI</a:t>
          </a:r>
          <a:endParaRPr lang="en-US" sz="2400" kern="1200" dirty="0">
            <a:latin typeface="Rockwell" pitchFamily="18" charset="0"/>
          </a:endParaRPr>
        </a:p>
      </dsp:txBody>
      <dsp:txXfrm>
        <a:off x="2540578" y="461407"/>
        <a:ext cx="2117928" cy="1218042"/>
      </dsp:txXfrm>
    </dsp:sp>
    <dsp:sp modelId="{7173A5C4-8D57-478C-A1BC-3B88CDD849E3}">
      <dsp:nvSpPr>
        <dsp:cNvPr id="0" name=""/>
        <dsp:cNvSpPr/>
      </dsp:nvSpPr>
      <dsp:spPr>
        <a:xfrm>
          <a:off x="4949371" y="395514"/>
          <a:ext cx="2249714" cy="134982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Rockwell" pitchFamily="18" charset="0"/>
            </a:rPr>
            <a:t>Implement proven solutions</a:t>
          </a:r>
          <a:endParaRPr lang="en-US" sz="2400" kern="1200" dirty="0">
            <a:latin typeface="Rockwell" pitchFamily="18" charset="0"/>
          </a:endParaRPr>
        </a:p>
      </dsp:txBody>
      <dsp:txXfrm>
        <a:off x="5015264" y="461407"/>
        <a:ext cx="2117928" cy="1218042"/>
      </dsp:txXfrm>
    </dsp:sp>
    <dsp:sp modelId="{DC63B79A-09DF-4D6C-B515-525B9EE96A7D}">
      <dsp:nvSpPr>
        <dsp:cNvPr id="0" name=""/>
        <dsp:cNvSpPr/>
      </dsp:nvSpPr>
      <dsp:spPr>
        <a:xfrm>
          <a:off x="1237342" y="1970314"/>
          <a:ext cx="2249714" cy="134982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Rockwell" pitchFamily="18" charset="0"/>
            </a:rPr>
            <a:t>Encourage partnerships </a:t>
          </a:r>
          <a:endParaRPr lang="en-US" sz="2400" kern="1200" dirty="0">
            <a:latin typeface="Rockwell" pitchFamily="18" charset="0"/>
          </a:endParaRPr>
        </a:p>
      </dsp:txBody>
      <dsp:txXfrm>
        <a:off x="1303235" y="2036207"/>
        <a:ext cx="2117928" cy="1218042"/>
      </dsp:txXfrm>
    </dsp:sp>
    <dsp:sp modelId="{7B75E8BB-5C2E-4933-9014-35306F4D9FB5}">
      <dsp:nvSpPr>
        <dsp:cNvPr id="0" name=""/>
        <dsp:cNvSpPr/>
      </dsp:nvSpPr>
      <dsp:spPr>
        <a:xfrm>
          <a:off x="3712028" y="1970314"/>
          <a:ext cx="2249714" cy="134982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Rockwell" pitchFamily="18" charset="0"/>
            </a:rPr>
            <a:t>Focus on infrastructure development</a:t>
          </a:r>
          <a:endParaRPr lang="en-US" sz="2400" kern="1200" dirty="0">
            <a:latin typeface="Rockwell" pitchFamily="18" charset="0"/>
          </a:endParaRPr>
        </a:p>
      </dsp:txBody>
      <dsp:txXfrm>
        <a:off x="3777921" y="2036207"/>
        <a:ext cx="2117928" cy="1218042"/>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pPr>
              <a:defRPr/>
            </a:pPr>
            <a:endParaRPr lang="en-US"/>
          </a:p>
        </p:txBody>
      </p:sp>
      <p:sp>
        <p:nvSpPr>
          <p:cNvPr id="2051"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pPr>
              <a:defRPr/>
            </a:pPr>
            <a:endParaRPr lang="en-US"/>
          </a:p>
        </p:txBody>
      </p:sp>
      <p:sp>
        <p:nvSpPr>
          <p:cNvPr id="3584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2053"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54"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pPr>
              <a:defRPr/>
            </a:pPr>
            <a:endParaRPr lang="en-US"/>
          </a:p>
        </p:txBody>
      </p:sp>
      <p:sp>
        <p:nvSpPr>
          <p:cNvPr id="2055"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pPr>
              <a:defRPr/>
            </a:pPr>
            <a:fld id="{8302B51C-E6C8-4B50-9C65-B1EDBB634F1B}" type="slidenum">
              <a:rPr lang="en-US"/>
              <a:pPr>
                <a:defRPr/>
              </a:pPr>
              <a:t>‹#›</a:t>
            </a:fld>
            <a:endParaRPr lang="en-US"/>
          </a:p>
        </p:txBody>
      </p:sp>
    </p:spTree>
    <p:extLst>
      <p:ext uri="{BB962C8B-B14F-4D97-AF65-F5344CB8AC3E}">
        <p14:creationId xmlns:p14="http://schemas.microsoft.com/office/powerpoint/2010/main" val="1945966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14CC1301-25A6-4E5F-AC39-BA9F16569D8C}" type="slidenum">
              <a:rPr lang="en-US" smtClean="0"/>
              <a:pPr/>
              <a:t>0</a:t>
            </a:fld>
            <a:endParaRPr lang="en-US"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r>
              <a:rPr lang="en-US" sz="800" b="1" i="1" dirty="0" smtClean="0"/>
              <a:t>Webinars held November</a:t>
            </a:r>
            <a:r>
              <a:rPr lang="en-US" sz="800" b="1" i="1" baseline="0" dirty="0" smtClean="0"/>
              <a:t> 14 and December 1</a:t>
            </a:r>
          </a:p>
          <a:p>
            <a:endParaRPr lang="en-US" sz="800" b="1" i="1" baseline="0" dirty="0" smtClean="0"/>
          </a:p>
          <a:p>
            <a:r>
              <a:rPr lang="en-US" sz="1200" kern="1200" dirty="0" smtClean="0">
                <a:solidFill>
                  <a:schemeClr val="tx1"/>
                </a:solidFill>
                <a:effectLst/>
                <a:latin typeface="Arial" charset="0"/>
                <a:ea typeface="+mn-ea"/>
                <a:cs typeface="+mn-cs"/>
              </a:rPr>
              <a:t>Thank you for joining this Webinar that will provide an introduction to the National Spatial Data Infrastructure Cooperative Agreements Program or NSDI CAP for short.  I am Gita Urban-</a:t>
            </a:r>
            <a:r>
              <a:rPr lang="en-US" sz="1200" kern="1200" dirty="0" err="1" smtClean="0">
                <a:solidFill>
                  <a:schemeClr val="tx1"/>
                </a:solidFill>
                <a:effectLst/>
                <a:latin typeface="Arial" charset="0"/>
                <a:ea typeface="+mn-ea"/>
                <a:cs typeface="+mn-cs"/>
              </a:rPr>
              <a:t>Mathieux</a:t>
            </a:r>
            <a:r>
              <a:rPr lang="en-US" sz="1200" kern="1200" dirty="0" smtClean="0">
                <a:solidFill>
                  <a:schemeClr val="tx1"/>
                </a:solidFill>
                <a:effectLst/>
                <a:latin typeface="Arial" charset="0"/>
                <a:ea typeface="+mn-ea"/>
                <a:cs typeface="+mn-cs"/>
              </a:rPr>
              <a:t>, the coordinator for the program.  Also with me is </a:t>
            </a:r>
            <a:r>
              <a:rPr lang="en-US" sz="1200" kern="1200" dirty="0" err="1" smtClean="0">
                <a:solidFill>
                  <a:schemeClr val="tx1"/>
                </a:solidFill>
                <a:effectLst/>
                <a:latin typeface="Arial" charset="0"/>
                <a:ea typeface="+mn-ea"/>
                <a:cs typeface="+mn-cs"/>
              </a:rPr>
              <a:t>Vaishal</a:t>
            </a:r>
            <a:r>
              <a:rPr lang="en-US" sz="1200" kern="1200" dirty="0" smtClean="0">
                <a:solidFill>
                  <a:schemeClr val="tx1"/>
                </a:solidFill>
                <a:effectLst/>
                <a:latin typeface="Arial" charset="0"/>
                <a:ea typeface="+mn-ea"/>
                <a:cs typeface="+mn-cs"/>
              </a:rPr>
              <a:t> </a:t>
            </a:r>
            <a:r>
              <a:rPr lang="en-US" sz="1200" kern="1200" dirty="0" err="1" smtClean="0">
                <a:solidFill>
                  <a:schemeClr val="tx1"/>
                </a:solidFill>
                <a:effectLst/>
                <a:latin typeface="Arial" charset="0"/>
                <a:ea typeface="+mn-ea"/>
                <a:cs typeface="+mn-cs"/>
              </a:rPr>
              <a:t>Sheth</a:t>
            </a:r>
            <a:r>
              <a:rPr lang="en-US" sz="1200" kern="1200" dirty="0" smtClean="0">
                <a:solidFill>
                  <a:schemeClr val="tx1"/>
                </a:solidFill>
                <a:effectLst/>
                <a:latin typeface="Arial" charset="0"/>
                <a:ea typeface="+mn-ea"/>
                <a:cs typeface="+mn-cs"/>
              </a:rPr>
              <a:t> who will be running to slides as well as other technical aspects of the presentation.  We are both members of the Federal Geographic Data Committee Office of the Secretariat or FGDC Secretariat located in Reston, Virginia.  I expect the presentation to last about an hour with some time for questions at the end.  If you have a question during the presentation you may send it in at any time using the chat feature. We will try to get to as many of these as we can at the end.  I will be posting these slides on the FGDC web site.</a:t>
            </a:r>
          </a:p>
          <a:p>
            <a:endParaRPr lang="en-US" sz="800" b="0" i="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51247FD2-9925-43DF-BB10-F49A6E9B3BA9}" type="slidenum">
              <a:rPr lang="en-US" smtClean="0"/>
              <a:pPr/>
              <a:t>1</a:t>
            </a:fld>
            <a:endParaRPr lang="en-US"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Here are the topics that I will cover during this Webinar. It includes the what, the why, the who, and the how of the program.  So let’s get started.</a:t>
            </a:r>
            <a:endParaRPr lang="en-US" sz="1200" kern="1200" dirty="0">
              <a:solidFill>
                <a:schemeClr val="tx1"/>
              </a:solidFill>
              <a:effectLst/>
              <a:latin typeface="Arial" charset="0"/>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911053C1-B5FC-43C2-8006-9DB16C95F501}" type="slidenum">
              <a:rPr lang="en-US" smtClean="0"/>
              <a:pPr/>
              <a:t>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First, what is the NSDI Cooperative Agreements Program? It is an annual program with the purpose of assisting the geospatial community in implementing the components of the NSDI through funding and support services from FGDC personnel.  It is sponsored by the FGDC which is hosted by the U.S. Geological Survey.  It is intended to benefit both the Federal agencies as well as the overall geospatial community.  Now you may be asking what the NSDI is. A simple definition is that it is a physical, organizational, and virtual network designed to enable the development and sharing of U.S. digital geographic information resources.</a:t>
            </a:r>
          </a:p>
          <a:p>
            <a:endParaRPr lang="en-US"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51C3F45C-EEA8-403A-9E35-05A3B01598AF}" type="slidenum">
              <a:rPr lang="en-US" smtClean="0"/>
              <a:pPr/>
              <a:t>3</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r>
              <a:rPr lang="en-US" sz="1200" kern="1200" dirty="0" smtClean="0">
                <a:solidFill>
                  <a:schemeClr val="tx1"/>
                </a:solidFill>
                <a:effectLst/>
                <a:latin typeface="Arial" charset="0"/>
                <a:ea typeface="+mn-ea"/>
                <a:cs typeface="+mn-cs"/>
              </a:rPr>
              <a:t>The NSDI CAP program has been around since 1994 and over this time the type of projects funded has varied as the concept of the NSDI matures.  The areas of emphasis have included documenting, implementing, and providing outreach for metadata and other standards, expanding geographic information coordination across and between organizations, promoting geospatial best practices, advancing geospatial related Web services, advancing NSDI framework data, and creating online applications to support geospatial data discovery and exchange. </a:t>
            </a:r>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956C8522-4F8D-44AA-B015-F0D847B73FF7}" type="slidenum">
              <a:rPr lang="en-US" smtClean="0"/>
              <a:pPr/>
              <a:t>4</a:t>
            </a:fld>
            <a:endParaRPr lang="en-US"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program does not fund data collection, data purchases, or GIS start-ups.    In addition, since the purpose of the NSDI CAP is to build partnerships the CAP does not fund projects that benefit only a single agency or are of limited value to other stakeholders.</a:t>
            </a:r>
          </a:p>
          <a:p>
            <a:endParaRPr lang="en-US"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48A923E7-07D2-402D-89E5-56293954DA8B}" type="slidenum">
              <a:rPr lang="en-US" smtClean="0"/>
              <a:pPr/>
              <a:t>5</a:t>
            </a:fld>
            <a:endParaRPr lang="en-US"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Why does the FGDC sponsor the program?  Well – for a variety of reasons.  Among them are supporting outreach and communications, getting the word out about the NSDI, providing a helping hand to small organizations that may have trouble getting the funding to do NSDI related work, reaching new organizations that would benefit by participating in the NSDI, and helping to create a network of NSDI partners and contacts.</a:t>
            </a:r>
          </a:p>
          <a:p>
            <a:endParaRPr lang="en-US"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D0EF94BF-5713-4346-883E-58D0DBE3BEAF}" type="slidenum">
              <a:rPr lang="en-US" smtClean="0"/>
              <a:pPr/>
              <a:t>6</a:t>
            </a:fld>
            <a:endParaRPr lang="en-US"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So what is a Cooperative Agreement and how is it different from a traditional grant?  The Federal Government’s definition of cooperative agreement is that there is </a:t>
            </a:r>
            <a:r>
              <a:rPr lang="en-US" sz="1200" b="1" kern="1200" dirty="0" smtClean="0">
                <a:solidFill>
                  <a:schemeClr val="tx1"/>
                </a:solidFill>
                <a:effectLst/>
                <a:latin typeface="Arial" charset="0"/>
                <a:ea typeface="+mn-ea"/>
                <a:cs typeface="+mn-cs"/>
              </a:rPr>
              <a:t>substantial</a:t>
            </a:r>
            <a:r>
              <a:rPr lang="en-US" sz="1200" kern="1200" dirty="0" smtClean="0">
                <a:solidFill>
                  <a:schemeClr val="tx1"/>
                </a:solidFill>
                <a:effectLst/>
                <a:latin typeface="Arial" charset="0"/>
                <a:ea typeface="+mn-ea"/>
                <a:cs typeface="+mn-cs"/>
              </a:rPr>
              <a:t> Federal Government involvement in the funded project.  This means that the FGDC works with the CAP recipient by hosting regular teleconferences, providing technical support, and providing administrative assistance in resolving issues.  With a grant the recipient is left on their own to accomplish the work.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In a Cooperative Agreement the Federal Government is not involved in the day to day business of the project.</a:t>
            </a:r>
          </a:p>
          <a:p>
            <a:endParaRPr lang="en-US" sz="13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A5A36026-CAEB-4A60-A40A-942412D0607D}" type="slidenum">
              <a:rPr lang="en-US" smtClean="0"/>
              <a:pPr/>
              <a:t>7</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 NSDI CAP is open to any organization except the Federal Government and foreign organizations.  Through the years the FGDC has made awards to State governments, local governments, Tribal governments, consortia of organizations, educational institutions, and organizations in the commercial and nonprofit sector. Federal agencies can be partners in a project but they cannot use funds from this program.  The FGDC encourages you to include Federal partners in your projects. </a:t>
            </a:r>
            <a:endParaRPr lang="en-US" sz="1200" kern="1200" dirty="0">
              <a:solidFill>
                <a:schemeClr val="tx1"/>
              </a:solidFill>
              <a:effectLst/>
              <a:latin typeface="Arial" charset="0"/>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3354E25-94EC-43EA-A320-96C626F7C04A}" type="slidenum">
              <a:rPr lang="en-US" smtClean="0"/>
              <a:pPr/>
              <a:t>8</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Every year the NSDI CAP makes awards in a variety of categories depending on the areas of emphasis for a particular year.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Suggestions for the CAP categories come from the FGDC Coordination Group which is the Federal interagency group that advises the day-to-day business of the FGDC and the implementation of the NSDI.</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suggestions are evaluated against several criteria.  These include</a:t>
            </a:r>
          </a:p>
          <a:p>
            <a:pPr lvl="1"/>
            <a:r>
              <a:rPr lang="en-US" sz="1200" kern="1200" dirty="0" smtClean="0">
                <a:solidFill>
                  <a:schemeClr val="tx1"/>
                </a:solidFill>
                <a:effectLst/>
                <a:latin typeface="Arial" charset="0"/>
                <a:ea typeface="+mn-ea"/>
                <a:cs typeface="+mn-cs"/>
              </a:rPr>
              <a:t>alignment with FGDC and NSDI strategic goals</a:t>
            </a:r>
          </a:p>
          <a:p>
            <a:pPr lvl="1"/>
            <a:r>
              <a:rPr lang="en-US" sz="1200" kern="1200" dirty="0" smtClean="0">
                <a:solidFill>
                  <a:schemeClr val="tx1"/>
                </a:solidFill>
                <a:effectLst/>
                <a:latin typeface="Arial" charset="0"/>
                <a:ea typeface="+mn-ea"/>
                <a:cs typeface="+mn-cs"/>
              </a:rPr>
              <a:t>appropriateness with respect to the funding authority and cooperative agreements requirements</a:t>
            </a:r>
          </a:p>
          <a:p>
            <a:pPr lvl="1"/>
            <a:r>
              <a:rPr lang="en-US" sz="1200" kern="1200" dirty="0" smtClean="0">
                <a:solidFill>
                  <a:schemeClr val="tx1"/>
                </a:solidFill>
                <a:effectLst/>
                <a:latin typeface="Arial" charset="0"/>
                <a:ea typeface="+mn-ea"/>
                <a:cs typeface="+mn-cs"/>
              </a:rPr>
              <a:t>alignment with existing categories</a:t>
            </a:r>
          </a:p>
          <a:p>
            <a:pPr lvl="1"/>
            <a:r>
              <a:rPr lang="en-US" sz="1200" kern="1200" dirty="0" smtClean="0">
                <a:solidFill>
                  <a:schemeClr val="tx1"/>
                </a:solidFill>
                <a:effectLst/>
                <a:latin typeface="Arial" charset="0"/>
                <a:ea typeface="+mn-ea"/>
                <a:cs typeface="+mn-cs"/>
              </a:rPr>
              <a:t>potential to seed on-going activities beyond the initial effort</a:t>
            </a:r>
          </a:p>
          <a:p>
            <a:pPr lvl="1"/>
            <a:r>
              <a:rPr lang="en-US" sz="1200" kern="1200" dirty="0" smtClean="0">
                <a:solidFill>
                  <a:schemeClr val="tx1"/>
                </a:solidFill>
                <a:effectLst/>
                <a:latin typeface="Arial" charset="0"/>
                <a:ea typeface="+mn-ea"/>
                <a:cs typeface="+mn-cs"/>
              </a:rPr>
              <a:t>supporting or implementing standards, and </a:t>
            </a:r>
          </a:p>
          <a:p>
            <a:pPr lvl="1"/>
            <a:r>
              <a:rPr lang="en-US" sz="1200" kern="1200" dirty="0" smtClean="0">
                <a:solidFill>
                  <a:schemeClr val="tx1"/>
                </a:solidFill>
                <a:effectLst/>
                <a:latin typeface="Arial" charset="0"/>
                <a:ea typeface="+mn-ea"/>
                <a:cs typeface="+mn-cs"/>
              </a:rPr>
              <a:t>the success of previous category efforts.</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After discussions are held with the appropriate folks, recommendations are made to FGDC management and the final categories are approved by the FGDC Executive Director.</a:t>
            </a:r>
          </a:p>
          <a:p>
            <a:endParaRPr lang="en-US" sz="13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47F356E0-77B8-4D1C-8F46-474964655AA9}" type="slidenum">
              <a:rPr lang="en-US" smtClean="0"/>
              <a:pPr/>
              <a:t>9</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This year there are seven award categories.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1 is Metadata Trainer and Outreach Assistance and it has been around for the past several years.  This category provides assistance to organizations with NSDI expertise and experience in helping other organizations with the training and implementation of metadata.  Up to 3 awards may be made with each project getting up to $25,000.</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2 is new and is for ISO Geospatial Metadata Standards Implementation. Projects in this category are intended to explore and test the process and procedures involved in transitioning from the FGDC Content Standard for Digital Geospatial Metadata (CSDGM) to the international geospatial metadata standard, ISO 19115 Geographic Information – Metadata. Projects in this category can focus on technical and (or) organizational issues. Up to 3 awards may be made with each project getting up to $30,000.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3 is also new this year and is directed toward State and regional governments. The goal for these projects is to populate the National States Geographic Information Council’s GIS Inventory System (also known as Ramona) with metadata that will be available for harvesting by the NSDI Clearinghouse Catalog. There will be up to 20 awards made, ranging from $7,500 to $15,000 each. The award amount will depend on the level of effort.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4 is part of the FGDC’s Fifty States Initiative and is focused on development and implementation of statewide business plans. The awarded projects in this category will develop and implementation state business plans that advance the state’s spatial data infrastructure or the NSDI while increasing Federal involvement in statewide geospatial planning and implementation activities. This year the FGDC is looking for projects focused on business plans for cadastral, elevation, or </a:t>
            </a:r>
            <a:r>
              <a:rPr lang="en-US" sz="1200" kern="1200" dirty="0" err="1" smtClean="0">
                <a:solidFill>
                  <a:schemeClr val="tx1"/>
                </a:solidFill>
                <a:effectLst/>
                <a:latin typeface="Arial" charset="0"/>
                <a:ea typeface="+mn-ea"/>
                <a:cs typeface="+mn-cs"/>
              </a:rPr>
              <a:t>orthoimagery</a:t>
            </a:r>
            <a:r>
              <a:rPr lang="en-US" sz="1200" kern="1200" dirty="0" smtClean="0">
                <a:solidFill>
                  <a:schemeClr val="tx1"/>
                </a:solidFill>
                <a:effectLst/>
                <a:latin typeface="Arial" charset="0"/>
                <a:ea typeface="+mn-ea"/>
                <a:cs typeface="+mn-cs"/>
              </a:rPr>
              <a:t> data.   I expect up to 8 awards may be made with each project getting up to $40,000.</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5 this year is Implementation Training and Outreach for FGDC-endorsed Standards.  It is similar to Category 1.  The goal of these projects is to facilitate implementation of an FGDC-endorsed standard in user communities.  There may be 2 awards made with each project getting up to $25,000.</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6 will make awards to projects that will assist organizations in the development of standards registered in the FGDC standards program of work which are list on the FGDC web site.  Up to 2 awards may be made with each project getting up to $25,000.</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Lastly is another new category - category 7 is for the Geospatial Platform Cloud Service </a:t>
            </a:r>
            <a:r>
              <a:rPr lang="en-US" sz="1200" kern="1200" dirty="0" err="1" smtClean="0">
                <a:solidFill>
                  <a:schemeClr val="tx1"/>
                </a:solidFill>
                <a:effectLst/>
                <a:latin typeface="Arial" charset="0"/>
                <a:ea typeface="+mn-ea"/>
                <a:cs typeface="+mn-cs"/>
              </a:rPr>
              <a:t>Testbed</a:t>
            </a:r>
            <a:r>
              <a:rPr lang="en-US" sz="1200" kern="1200" dirty="0" smtClean="0">
                <a:solidFill>
                  <a:schemeClr val="tx1"/>
                </a:solidFill>
                <a:effectLst/>
                <a:latin typeface="Arial" charset="0"/>
                <a:ea typeface="+mn-ea"/>
                <a:cs typeface="+mn-cs"/>
              </a:rPr>
              <a:t>.  This category will support State, local, and/or Tribal governments who have formal data exchange agreements with Federal agencies for the collection and local management of nationally significant geospatial data and seek to deploy geospatial cloud services. The result of each award in this category will be an operational geospatial Cloud service whose deployment costs and performance characteristics are known and documented. There will be up to 3 awards made with each project getting up to $25,000.</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recipient organizations will need to contribute either 30 to 50 percent or at least 50 percent of the award amount as an in-kind match.  I will discuss in-kind matches later.</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Complete information about the categories are in 2012 NSDI CAP announcement that is posted on Grants.gov.  A copy is also available via the FGDC Web site.</a:t>
            </a:r>
          </a:p>
          <a:p>
            <a:pPr marL="124183" indent="-293676" eaLnBrk="1" hangingPunct="1">
              <a:lnSpc>
                <a:spcPct val="90000"/>
              </a:lnSpc>
              <a:spcBef>
                <a:spcPts val="634"/>
              </a:spcBef>
            </a:pPr>
            <a:endParaRPr lang="en-US" sz="13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019368A6-FA2A-47EF-A9B4-2304AC41361C}" type="slidenum">
              <a:rPr lang="en-US" smtClean="0"/>
              <a:pPr/>
              <a:t>10</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As I mentioned in a previous slide all entities but the Federal Government are eligible to apply.  Within each category there are specific eligibility requirements.  This table and the table on the next slide summarize the particulars for each category.  This information is listed in the CAP announcement for each category.</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You may apply for category 1 if you have not received a metadata training and outreach award within the past 3 years, which is 2011, 2010, or 2009. In addition, the organization applying needs to demonstrate their metadata expertise.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For category 2 the applicant organization should own and publish a significant number of metadata records and demonstrate their metadata expertise.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3 is for State and regional government organizations that participate in statewide GIS coordination activities and it is necessary for the applicant to provide a letter of support from their statewide GIS Council.</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Category 4 is related to the 50 States Initiative business plan development and implementation.  Coordinated multi-sector responses are strongly encouraged. If the applicant is a regional entity a letter of support from the State’s geospatial coordination council is required.</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sz="1300" b="1" i="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019368A6-FA2A-47EF-A9B4-2304AC41361C}" type="slidenum">
              <a:rPr lang="en-US" smtClean="0"/>
              <a:pPr/>
              <a:t>11</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For the FGDC standards categories, 5 and 6, you are eligible if you organization has not received an award in related to FGDC standards within the past 3 years, which is 2011, 2010, or 2009.</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Geospatial Platform Cloud Service </a:t>
            </a:r>
            <a:r>
              <a:rPr lang="en-US" sz="1200" kern="1200" dirty="0" err="1" smtClean="0">
                <a:solidFill>
                  <a:schemeClr val="tx1"/>
                </a:solidFill>
                <a:effectLst/>
                <a:latin typeface="Arial" charset="0"/>
                <a:ea typeface="+mn-ea"/>
                <a:cs typeface="+mn-cs"/>
              </a:rPr>
              <a:t>Testbed</a:t>
            </a:r>
            <a:r>
              <a:rPr lang="en-US" sz="1200" kern="1200" dirty="0" smtClean="0">
                <a:solidFill>
                  <a:schemeClr val="tx1"/>
                </a:solidFill>
                <a:effectLst/>
                <a:latin typeface="Arial" charset="0"/>
                <a:ea typeface="+mn-ea"/>
                <a:cs typeface="+mn-cs"/>
              </a:rPr>
              <a:t> category is for State, local, and/or Tribal governments who have formal data exchange agreements with a Federal agency for the collection and local management of nationally significant geospatial data that are listed in OMB Circular A-16. The applicant organization must be the entity officially responsible for the collection and/or dissemination of the geospatial data layer. Preference will be given to projects that already operate public-facing Web services.</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sz="1300" b="1" i="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019368A6-FA2A-47EF-A9B4-2304AC41361C}" type="slidenum">
              <a:rPr lang="en-US" smtClean="0"/>
              <a:pPr/>
              <a:t>12</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CAP award funds can be used to for salaries and wages of the project personnel, training, travel, hardware and software that are dedicated to the project and its sustainability, fees for consultants, facilitators, or recorders, and publication costs.  If there are any restrictions they are described in the CAP announcement.  </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sz="1300" b="1" i="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1253EC3-3119-41D8-BD83-84620CB34F86}" type="slidenum">
              <a:rPr lang="en-US" smtClean="0"/>
              <a:pPr/>
              <a:t>13</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CAP dollars cannot be used to support data collection or data purchases. If equipment, hardware, or software is to be purchased it needs to be dedicated to the project both during the project and in the follow on work.  Category 7 specifically states that funding cannot be used for hardware purchases.</a:t>
            </a:r>
          </a:p>
          <a:p>
            <a:endParaRPr lang="en-US" sz="13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6B13F1D3-6968-4109-8C99-AD3E19D88053}" type="slidenum">
              <a:rPr lang="en-US" smtClean="0"/>
              <a:pPr/>
              <a:t>14</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performance period for all projects is limited to one year.  It would be great if the performance period were longer but USGS regulations don’t allow this. Fortunately, no cost extensions are a possibility.</a:t>
            </a:r>
          </a:p>
          <a:p>
            <a:endParaRPr lang="en-US" sz="13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CE3C247-1443-4C60-BB3E-52BC3FBEBD0C}" type="slidenum">
              <a:rPr lang="en-US" smtClean="0"/>
              <a:pPr/>
              <a:t>15</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Now I will begin the discussion of how to submit  a CAP proposal.  The 2012 NSDI CAP announcement can be found on Grants.gov and on the FGDC Web site.  </a:t>
            </a:r>
          </a:p>
          <a:p>
            <a:endParaRPr lang="en-US" sz="1300" dirty="0">
              <a:solidFill>
                <a:srgbClr val="FF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CE3C247-1443-4C60-BB3E-52BC3FBEBD0C}" type="slidenum">
              <a:rPr lang="en-US" smtClean="0"/>
              <a:pPr/>
              <a:t>16</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All proposals must be submitted electronically via Grants.gov by the closing date which is </a:t>
            </a:r>
            <a:r>
              <a:rPr lang="en-US" sz="1200" b="1" i="1" kern="1200" dirty="0" smtClean="0">
                <a:solidFill>
                  <a:schemeClr val="tx1"/>
                </a:solidFill>
                <a:effectLst/>
                <a:latin typeface="Arial" charset="0"/>
                <a:ea typeface="+mn-ea"/>
                <a:cs typeface="+mn-cs"/>
              </a:rPr>
              <a:t>January 24, 2012</a:t>
            </a:r>
            <a:r>
              <a:rPr lang="en-US" sz="1200" i="1" kern="1200" dirty="0" smtClean="0">
                <a:solidFill>
                  <a:schemeClr val="tx1"/>
                </a:solidFill>
                <a:effectLst/>
                <a:latin typeface="Arial" charset="0"/>
                <a:ea typeface="+mn-ea"/>
                <a:cs typeface="+mn-cs"/>
              </a:rPr>
              <a:t>.</a:t>
            </a:r>
            <a:r>
              <a:rPr lang="en-US" sz="1200" kern="1200" dirty="0" smtClean="0">
                <a:solidFill>
                  <a:schemeClr val="tx1"/>
                </a:solidFill>
                <a:effectLst/>
                <a:latin typeface="Arial" charset="0"/>
                <a:ea typeface="+mn-ea"/>
                <a:cs typeface="+mn-cs"/>
              </a:rPr>
              <a:t>  Please do not send any hardcopies or softcopies via email.  There is help on the USGS Web site.  You can find this link and other links that I will mention during the presentation on the CAP FAQ page.  </a:t>
            </a:r>
          </a:p>
          <a:p>
            <a:endParaRPr lang="en-US" sz="13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9430068F-B15E-4FCF-983A-CE195AFBEAEE}" type="slidenum">
              <a:rPr lang="en-US" smtClean="0"/>
              <a:pPr/>
              <a:t>17</a:t>
            </a:fld>
            <a:endParaRPr lang="en-US"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There are 3 basic procedures for submitting a proposal application package.  </a:t>
            </a:r>
          </a:p>
          <a:p>
            <a:pPr marL="228600" lvl="0" indent="-228600">
              <a:buFont typeface="+mj-lt"/>
              <a:buAutoNum type="arabicPeriod"/>
            </a:pPr>
            <a:r>
              <a:rPr lang="en-US" sz="1200" kern="1200" dirty="0" smtClean="0">
                <a:solidFill>
                  <a:schemeClr val="tx1"/>
                </a:solidFill>
                <a:effectLst/>
                <a:latin typeface="Arial" charset="0"/>
                <a:ea typeface="+mn-ea"/>
                <a:cs typeface="+mn-cs"/>
              </a:rPr>
              <a:t>Register with Grants.gov.  Registration takes between 1 to 4 weeks so </a:t>
            </a:r>
            <a:r>
              <a:rPr lang="en-US" sz="1200" b="1" kern="1200" dirty="0" smtClean="0">
                <a:solidFill>
                  <a:schemeClr val="tx1"/>
                </a:solidFill>
                <a:effectLst/>
                <a:latin typeface="Arial" charset="0"/>
                <a:ea typeface="+mn-ea"/>
                <a:cs typeface="+mn-cs"/>
              </a:rPr>
              <a:t>start</a:t>
            </a:r>
            <a:r>
              <a:rPr lang="en-US" sz="1200" kern="1200" dirty="0" smtClean="0">
                <a:solidFill>
                  <a:schemeClr val="tx1"/>
                </a:solidFill>
                <a:effectLst/>
                <a:latin typeface="Arial" charset="0"/>
                <a:ea typeface="+mn-ea"/>
                <a:cs typeface="+mn-cs"/>
              </a:rPr>
              <a:t> early. Once registered, your organization can use the same information for all other Grants.gov applications.  So if your organization has already submitted applications in the past to Grants.gov you may be able to skip this step.</a:t>
            </a:r>
          </a:p>
          <a:p>
            <a:pPr marL="228600" lvl="0" indent="-228600">
              <a:buFont typeface="+mj-lt"/>
              <a:buAutoNum type="arabicPeriod"/>
            </a:pPr>
            <a:r>
              <a:rPr lang="en-US" sz="1200" kern="1200" dirty="0" smtClean="0">
                <a:solidFill>
                  <a:schemeClr val="tx1"/>
                </a:solidFill>
                <a:effectLst/>
                <a:latin typeface="Arial" charset="0"/>
                <a:ea typeface="+mn-ea"/>
                <a:cs typeface="+mn-cs"/>
              </a:rPr>
              <a:t>Prepare the proposal application package.  Make sure to pay close attention to category specific requirements.</a:t>
            </a:r>
          </a:p>
          <a:p>
            <a:pPr marL="228600" lvl="0" indent="-228600">
              <a:buFont typeface="+mj-lt"/>
              <a:buAutoNum type="arabicPeriod"/>
            </a:pPr>
            <a:r>
              <a:rPr lang="en-US" sz="1200" kern="1200" dirty="0" smtClean="0">
                <a:solidFill>
                  <a:schemeClr val="tx1"/>
                </a:solidFill>
                <a:effectLst/>
                <a:latin typeface="Arial" charset="0"/>
                <a:ea typeface="+mn-ea"/>
                <a:cs typeface="+mn-cs"/>
              </a:rPr>
              <a:t>Submit the proposal application package electronically via Grants.gov.</a:t>
            </a:r>
          </a:p>
          <a:p>
            <a:pPr eaLnBrk="1" hangingPunct="1"/>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FC63011F-5E84-43D1-8FA3-420AC7766031}" type="slidenum">
              <a:rPr lang="en-US" smtClean="0"/>
              <a:pPr/>
              <a:t>18</a:t>
            </a:fld>
            <a:endParaRPr lang="en-US"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If you do not already know -- Grants.gov is a centralized location to explore, access, and apply to U.S. Federal Government grant and cooperative agreement opportunities.  Now I will explain in more detail the procedures for using Grants.gov to submit your CAP application.  </a:t>
            </a:r>
          </a:p>
          <a:p>
            <a:endParaRPr lang="en-US" sz="13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59329C3C-28BB-49C3-88A4-2F07500F6DC1}" type="slidenum">
              <a:rPr lang="en-US" smtClean="0"/>
              <a:pPr/>
              <a:t>19</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There are five steps to registering on Grants.gov.  These steps are not necessary done by you. They need to be completed by the person who is considered an authorized representative for your organization.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Step 1 is obtaining a DUNS Number. Step 2 is registering with CCR.  Step 3 is completing the Authorized Organization Representative or AOR profile on Grants.gov and creating a username and password.  Step 4 is the confirmation by your organization’s E-Business Point of Contact for who is an AOR.  This is the person who will submit the proposal.  The final step is tracking the AOR status.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Details about these steps are on the Grants.gov web site and now I will review some of the details.</a:t>
            </a:r>
          </a:p>
          <a:p>
            <a:endParaRPr lang="en-US" sz="13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59329C3C-28BB-49C3-88A4-2F07500F6DC1}" type="slidenum">
              <a:rPr lang="en-US" smtClean="0"/>
              <a:pPr/>
              <a:t>20</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Step 1 in the registration process is obtaining a Data Universal Number System number or DUNS number.  A DUNS Number is a unique nine-digit sequence recognized as the universal standard for identifying and keeping track of businesses worldwide.  If your organization does not already have a DUNS Number the appropriate person in your office will need to request one from the Dun and Bradstreet web site. </a:t>
            </a:r>
          </a:p>
          <a:p>
            <a:endParaRPr lang="en-US" sz="13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4C57B7C-D3FA-4243-9BC3-B714015B9CDB}" type="slidenum">
              <a:rPr lang="en-US" smtClean="0"/>
              <a:pPr/>
              <a:t>21</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next step is to register with the Federal Central Contract Registry or CCR.  The CCR is a Web-enabled government wide application that collects, validates, stores, and disseminates business information about the federal government's trading partners in support of the contract award, grants, and the electronic payment processes. Your organization must be registered and an E-Business Point of Contact designated.  You should check with your organization’s grant administrator, chief financial officer or authorizing official and ask if your organization is already registered and who is your E-Business Point of Contact.  CCR registration must be renewed yearly.</a:t>
            </a:r>
          </a:p>
          <a:p>
            <a:endParaRPr lang="en-US" sz="1300"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4C57B7C-D3FA-4243-9BC3-B714015B9CDB}" type="slidenum">
              <a:rPr lang="en-US" smtClean="0"/>
              <a:pPr/>
              <a:t>22</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 E-Business Point of Contact uses a Marketing Personal Identification Number or MPIN given by the CCR to login to Grants.gov and to designate who in your organization may submit applications electronically through Grants.gov. Staff members from your organization designated to submit applications to Grants.gov are called Authorized Organization Representatives or AOR.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CCR web site has more detailed information.</a:t>
            </a:r>
          </a:p>
          <a:p>
            <a:endParaRPr lang="en-US" sz="13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4C57B7C-D3FA-4243-9BC3-B714015B9CDB}" type="slidenum">
              <a:rPr lang="en-US" smtClean="0"/>
              <a:pPr/>
              <a:t>23</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Step 3 is completing the Authorized Organization Representative or AOR profile on Grants.gov and creating a username and password. The AOR may or may not be you. The organization’s DUNS Number is necessary to complete this step.</a:t>
            </a:r>
          </a:p>
          <a:p>
            <a:endParaRPr lang="en-US" sz="13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4C57B7C-D3FA-4243-9BC3-B714015B9CDB}" type="slidenum">
              <a:rPr lang="en-US" smtClean="0"/>
              <a:pPr/>
              <a:t>24</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In step 4 the E-Business Point of Contact or E-Biz POC in your organization must login to Grants.gov and confirm who the AOR are for the organization. There can be more than one AOR within an organization. Sometimes the E-Biz POC is also the AOR for an organization. </a:t>
            </a:r>
          </a:p>
          <a:p>
            <a:endParaRPr lang="en-US" sz="13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4C57B7C-D3FA-4243-9BC3-B714015B9CDB}" type="slidenum">
              <a:rPr lang="en-US" smtClean="0"/>
              <a:pPr/>
              <a:t>25</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final step in the Grants.gov registration is tracking the AOR status by logging in with the username and password that was set up in Step 3. </a:t>
            </a:r>
          </a:p>
          <a:p>
            <a:endParaRPr lang="en-US" sz="13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B949AF95-E09D-4C85-855F-D54D353172D5}" type="slidenum">
              <a:rPr lang="en-US" smtClean="0"/>
              <a:pPr/>
              <a:t>26</a:t>
            </a:fld>
            <a:endParaRPr lang="en-US"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While you are waiting for all the Grants.gov registration steps to be completed you can download the NSDI CAP Application Package from Grants.gov.  Downloading an application package allows you to complete it offline and route it through your organization for review before submitting it.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Please note that you will need the correct version of Adobe Reader to complete the forms.   On the Grants.gov web site there is an app that can test your version Adobe Reader. A link to this app is on the CAP FAQ page.  You can use Adobe Acrobat Standard or Professional if they are installed on your computer.  If you are collaborating with others to complete the package make sure their Adobe software is compatible.</a:t>
            </a:r>
          </a:p>
          <a:p>
            <a:endParaRPr lang="en-US" b="0" baseline="0"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9531F35E-91CC-4BAB-93B3-335F67720981}" type="slidenum">
              <a:rPr lang="en-US" smtClean="0"/>
              <a:pPr/>
              <a:t>27</a:t>
            </a:fld>
            <a:endParaRPr lang="en-US"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 instructions on how to open and use the forms in the package are on the application package cover sheet.  All your application edits are saved to your local system.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There is a narrated, animated, tutorial on how to complete an application package on the Grants.gov web site.  I highly recommend you view this tutorial.</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package cannot be submitted until all required fields have been completed.</a:t>
            </a:r>
          </a:p>
          <a:p>
            <a:endParaRPr lang="en-US" sz="13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9531F35E-91CC-4BAB-93B3-335F67720981}" type="slidenum">
              <a:rPr lang="en-US" smtClean="0"/>
              <a:pPr/>
              <a:t>28</a:t>
            </a:fld>
            <a:endParaRPr lang="en-US"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Here is an example of the application package cover sheet.  </a:t>
            </a:r>
          </a:p>
          <a:p>
            <a:endParaRPr lang="en-US" sz="13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8A801C8-B70E-460C-AE50-E70643E68F6D}" type="slidenum">
              <a:rPr lang="en-US" smtClean="0"/>
              <a:pPr/>
              <a:t>29</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Now I will go over the required documents that make up NSDI CAP application package.  There are 3 standards forms - SF 424, SF 424A, and SF 424B. Next is the Proposal Narrative.  Then there is a detailed budget breakdown.  And finally there may be other category-specific requirements that are specified in the CAP announcement.  </a:t>
            </a:r>
          </a:p>
          <a:p>
            <a:pPr eaLnBrk="1" hangingPunct="1"/>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8C4A69D4-8B4F-4AE1-9529-F498937E2D8B}" type="slidenum">
              <a:rPr lang="en-US" smtClean="0"/>
              <a:pPr/>
              <a:t>30</a:t>
            </a:fld>
            <a:endParaRPr lang="en-US"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There are optional documents that you may provide such as Letters of Support or Commitment, related reports, other supporting documents, or resumes.  It is helpful if these are in a PDF format. If there is a scanned document it can be in TIFF or JPEG format.  It is best not to overwhelm the reviewers with too many supporting documents.</a:t>
            </a:r>
          </a:p>
          <a:p>
            <a:pPr eaLnBrk="1" hangingPunct="1"/>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FE9F9FE8-29E4-48B8-9DF6-12FCA77668A6}" type="slidenum">
              <a:rPr lang="en-US" smtClean="0"/>
              <a:pPr/>
              <a:t>31</a:t>
            </a:fld>
            <a:endParaRPr lang="en-US"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SF-424 or Application for Federal Assistance form is the core government-wide form for grant and cooperative agreement application packages.  This is where you record general information such as contact information for the submitting organization, CAP category to which the proposal is submitted, project title, project duration, geographic impact of the project, and funding amount requested.</a:t>
            </a:r>
          </a:p>
          <a:p>
            <a:endParaRPr lang="en-US" sz="13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D261ED5F-0933-4ACA-8897-145BBD7DFFE4}" type="slidenum">
              <a:rPr lang="en-US" smtClean="0"/>
              <a:pPr/>
              <a:t>32</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I would like to highlight a few of the fields in the 424 form.</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name and contact information in Item 8f should be the person that will be the project lead or primary investigator.  Whoever is listed here will receive all the project correspondence that comes from me, CAP coordinator, and the USGS grants office.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Under Item 15 be sure to preface your project title with the NSDI CAP Category number.  An example would be Category 4: Implementing a Business Plan for the Commonwealth of Virginia.</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project start and end dates are listed in Item 17 and can be modified after the award is granted. The project period should not be more than one year and the start date should be no later than September 30, 2012.</a:t>
            </a:r>
          </a:p>
          <a:p>
            <a:pPr eaLnBrk="1" hangingPunct="1"/>
            <a:endParaRPr lang="en-US"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9522A07B-9CCA-4252-B8A6-1B3DE6B51764}" type="slidenum">
              <a:rPr lang="en-US" smtClean="0"/>
              <a:pPr/>
              <a:t>33</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In addition to the SF 424 there is the SF 424-A budget information form and SF 424-B called the Assurances for Non-Construction Programs form.   The budget form is for a summary of the project budget by tasks and expense categories such as salary, travel, and supplies.  This is in addition to the detailed budget information the USGS grants office requires.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form SF 424-B only requires a signature and is a listing of varied assurances that the applicant must make with regard to eligibility for funding and compliance with Federal laws.</a:t>
            </a:r>
          </a:p>
          <a:p>
            <a:endParaRPr lang="en-US" sz="13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117A8EB8-F05D-40C6-BF96-CA14A46AA316}" type="slidenum">
              <a:rPr lang="en-US" smtClean="0"/>
              <a:pPr/>
              <a:t>34</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 next required component is the Proposal Narrative.  This is the primary document that will be evaluated by the review panel and describes all aspects of the project.  What goes into this is described fully in the CAP announcement.  It contains the project scope, expected benefits, technical approach, deliverables, experience, commitment to effort, organizational capacity, and resources. It is very important to read the CAP announcement to find the format to use and details that are required. If all the applications follow the same format they can be scored equitably which really aids the review process.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CAP announcement contains the evaluation criteria for each category that will be used during the review.</a:t>
            </a:r>
          </a:p>
          <a:p>
            <a:endParaRPr lang="en-US" b="0" i="0"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035021B0-8E56-4A04-8A75-414B1346098A}" type="slidenum">
              <a:rPr lang="en-US" smtClean="0"/>
              <a:pPr/>
              <a:t>35</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Part of the Proposal Narrative is the detailed budget breakdown and it is required.  This breakdown is in addition to the SF-424A budget form since it contains more details and explanations about the specific individuals, events, and materials that are needed for the project.  The USGS requires this before an award can be made.  The items include salaries, travel expenses, other direct costs such as supplies, equipment, and contracted services, and finally, indirect or overhead charges.  Contracted services will need to be explained.  The CAP Announcement contains an explanation and an example budget.</a:t>
            </a:r>
          </a:p>
          <a:p>
            <a:endParaRPr lang="en-US" sz="13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873E3291-994F-4026-BB21-30EE687482C1}" type="slidenum">
              <a:rPr lang="en-US" smtClean="0"/>
              <a:pPr/>
              <a:t>36</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An important part of the budget breakdown is the in-kind match by the applicant.  The ‘In kind’ match demonstrates the cooperative spirit of the program. This year the match is between 30% to 50%.  To find the required match check the category in which you are applying. For a 50% match you will need to provide $20,000 for $40,000 requested in federal funding.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match should be what is necessary and reasonable for the proper and efficient accomplishment of project objectives. A good test for this is to ask yourself: "Would it be necessary to buy the service or property in order to accomplish the project objectives, and is the cost or value reasonable for this purpose?"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match should be verifiable from your records.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Funding that </a:t>
            </a:r>
            <a:r>
              <a:rPr lang="en-US" sz="1200" b="1" kern="1200" dirty="0" smtClean="0">
                <a:solidFill>
                  <a:schemeClr val="tx1"/>
                </a:solidFill>
                <a:effectLst/>
                <a:latin typeface="Arial" charset="0"/>
                <a:ea typeface="+mn-ea"/>
                <a:cs typeface="+mn-cs"/>
              </a:rPr>
              <a:t>cannot</a:t>
            </a:r>
            <a:r>
              <a:rPr lang="en-US" sz="1200" kern="1200" dirty="0" smtClean="0">
                <a:solidFill>
                  <a:schemeClr val="tx1"/>
                </a:solidFill>
                <a:effectLst/>
                <a:latin typeface="Arial" charset="0"/>
                <a:ea typeface="+mn-ea"/>
                <a:cs typeface="+mn-cs"/>
              </a:rPr>
              <a:t> be used as in-kind match includes funding from other Federal agencies and the value of geospatial data holdings.</a:t>
            </a:r>
          </a:p>
          <a:p>
            <a:endParaRPr lang="en-US" sz="13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873E3291-994F-4026-BB21-30EE687482C1}" type="slidenum">
              <a:rPr lang="en-US" smtClean="0"/>
              <a:pPr/>
              <a:t>37</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Allowable expenses that can be used as in-kind match include salaries, cash from non-federal contributors, contract support, equipment or software dedicated to the project, computer servers hosting data, student assistance fees, travel expenses, venue costs, production of outreach materials, and indirect costs or overhead charges.</a:t>
            </a:r>
          </a:p>
          <a:p>
            <a:endParaRPr lang="en-US" sz="13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ECDE1A25-0237-49F5-BE5D-0BDB60C15BFD}" type="slidenum">
              <a:rPr lang="en-US" smtClean="0"/>
              <a:pPr/>
              <a:t>38</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There may be additional proposal components that are required. These will be noted in the CAP announcement – generally under the Commitment to Effort section. Common elements that may be required are Letters of Support and Memoranda of Understanding.  These can come from project partners, collaborators, or stakeholders.  Federal employees may not provide letters of support.</a:t>
            </a:r>
          </a:p>
          <a:p>
            <a:r>
              <a:rPr lang="en-US" sz="1200" kern="1200" dirty="0" smtClean="0">
                <a:solidFill>
                  <a:schemeClr val="tx1"/>
                </a:solidFill>
                <a:effectLst/>
                <a:latin typeface="Arial" charset="0"/>
                <a:ea typeface="+mn-ea"/>
                <a:cs typeface="+mn-cs"/>
              </a:rPr>
              <a:t> </a:t>
            </a:r>
          </a:p>
          <a:p>
            <a:r>
              <a:rPr lang="en-US" sz="1200" kern="1200" dirty="0" smtClean="0">
                <a:solidFill>
                  <a:schemeClr val="tx1"/>
                </a:solidFill>
                <a:effectLst/>
                <a:latin typeface="Arial" charset="0"/>
                <a:ea typeface="+mn-ea"/>
                <a:cs typeface="+mn-cs"/>
              </a:rPr>
              <a:t>State and university applicants will need to provide their negotiated rate agreement which has do with indirect costs.</a:t>
            </a:r>
          </a:p>
          <a:p>
            <a:pPr eaLnBrk="1" hangingPunct="1"/>
            <a:endParaRPr lang="en-US"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D01812E-FB83-44C4-B836-896CD76D5965}" type="slidenum">
              <a:rPr lang="en-US" smtClean="0"/>
              <a:pPr/>
              <a:t>39</a:t>
            </a:fld>
            <a:endParaRPr lang="en-US"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There are other items you can include with your proposal package if they directly support the proposal narrative.  These could be organizational documents that affirm leadership role or level of support and commitment. In addition, resumes or Curriculum Vitae for the principal investigator or other key technical personnel can be included.</a:t>
            </a:r>
          </a:p>
          <a:p>
            <a:pPr eaLnBrk="1" hangingPunct="1"/>
            <a:endParaRPr 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9FC6FEFF-F1BB-4ECE-9FD8-D8695867A344}" type="slidenum">
              <a:rPr lang="en-US" smtClean="0"/>
              <a:pPr/>
              <a:t>40</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Recently I spoke with the USGS Ethics Officer and he confirmed that USGS Geospatial Liaisons and any other Federal employee may not provide letters of support or commitment.  During the review period the FGDC is able to ask the liaisons and other appropriate Federal authorities to assess the proposals.</a:t>
            </a:r>
          </a:p>
          <a:p>
            <a:endParaRPr lang="en-US" sz="13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9FC6FEFF-F1BB-4ECE-9FD8-D8695867A344}" type="slidenum">
              <a:rPr lang="en-US" smtClean="0"/>
              <a:pPr/>
              <a:t>41</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Now I will demonstrate downloading the application package and we will look at the CAP announcement. </a:t>
            </a:r>
          </a:p>
          <a:p>
            <a:r>
              <a:rPr lang="en-US" sz="1200" kern="1200" dirty="0" smtClean="0">
                <a:solidFill>
                  <a:schemeClr val="tx1"/>
                </a:solidFill>
                <a:effectLst/>
                <a:latin typeface="Arial" charset="0"/>
                <a:ea typeface="+mn-ea"/>
                <a:cs typeface="+mn-cs"/>
              </a:rPr>
              <a:t>&lt;Demo – downloading grants.gov application package&gt;</a:t>
            </a:r>
          </a:p>
          <a:p>
            <a:pPr marL="342900" lvl="0" indent="-342900">
              <a:buFont typeface="+mj-lt"/>
              <a:buAutoNum type="arabicPeriod"/>
            </a:pPr>
            <a:r>
              <a:rPr lang="en-US" sz="1400" dirty="0" smtClean="0">
                <a:effectLst/>
              </a:rPr>
              <a:t>Go to grants.gov</a:t>
            </a:r>
          </a:p>
          <a:p>
            <a:pPr marL="342900" lvl="0" indent="-342900">
              <a:buFont typeface="+mj-lt"/>
              <a:buAutoNum type="arabicPeriod"/>
            </a:pPr>
            <a:r>
              <a:rPr lang="en-US" sz="1400" dirty="0" smtClean="0">
                <a:effectLst/>
              </a:rPr>
              <a:t>Click Find Grant Opportunities on the left side of the page </a:t>
            </a:r>
          </a:p>
          <a:p>
            <a:pPr marL="342900" lvl="0" indent="-342900">
              <a:buFont typeface="+mj-lt"/>
              <a:buAutoNum type="arabicPeriod"/>
            </a:pPr>
            <a:r>
              <a:rPr lang="en-US" sz="1400" dirty="0" smtClean="0">
                <a:effectLst/>
              </a:rPr>
              <a:t>Click Basic Search</a:t>
            </a:r>
          </a:p>
          <a:p>
            <a:pPr marL="342900" lvl="0" indent="-342900">
              <a:buFont typeface="+mj-lt"/>
              <a:buAutoNum type="arabicPeriod"/>
            </a:pPr>
            <a:r>
              <a:rPr lang="en-US" sz="1400" dirty="0" smtClean="0">
                <a:effectLst/>
              </a:rPr>
              <a:t>Find in the keyword search type NSDI CAP</a:t>
            </a:r>
          </a:p>
          <a:p>
            <a:pPr marL="342900" lvl="0" indent="-342900">
              <a:buFont typeface="+mj-lt"/>
              <a:buAutoNum type="arabicPeriod"/>
            </a:pPr>
            <a:r>
              <a:rPr lang="en-US" sz="1400" dirty="0" smtClean="0">
                <a:effectLst/>
              </a:rPr>
              <a:t>Select the NSDI CAP which will display the synopsis page.  You can select Full Announcement to see it. But now I will</a:t>
            </a:r>
          </a:p>
          <a:p>
            <a:pPr marL="342900" lvl="0" indent="-342900">
              <a:buFont typeface="+mj-lt"/>
              <a:buAutoNum type="arabicPeriod"/>
            </a:pPr>
            <a:r>
              <a:rPr lang="en-US" sz="1400" dirty="0" smtClean="0">
                <a:effectLst/>
              </a:rPr>
              <a:t>Click Application button on the right</a:t>
            </a:r>
          </a:p>
          <a:p>
            <a:pPr marL="342900" lvl="0" indent="-342900">
              <a:buFont typeface="+mj-lt"/>
              <a:buAutoNum type="arabicPeriod"/>
            </a:pPr>
            <a:r>
              <a:rPr lang="en-US" sz="1400" dirty="0" smtClean="0">
                <a:effectLst/>
              </a:rPr>
              <a:t>Click Download in the table</a:t>
            </a:r>
          </a:p>
          <a:p>
            <a:pPr marL="342900" lvl="0" indent="-342900">
              <a:buFont typeface="+mj-lt"/>
              <a:buAutoNum type="arabicPeriod"/>
            </a:pPr>
            <a:r>
              <a:rPr lang="en-US" sz="1400" dirty="0" smtClean="0">
                <a:effectLst/>
              </a:rPr>
              <a:t>Then click and save application instructions and package to your computer	</a:t>
            </a:r>
          </a:p>
          <a:p>
            <a:pPr marL="342900" lvl="0" indent="-342900">
              <a:buFont typeface="+mj-lt"/>
              <a:buAutoNum type="arabicPeriod"/>
            </a:pPr>
            <a:r>
              <a:rPr lang="en-US" sz="1400" dirty="0" smtClean="0">
                <a:effectLst/>
              </a:rPr>
              <a:t>Now you are ready to start filling in the package.</a:t>
            </a:r>
          </a:p>
          <a:p>
            <a:r>
              <a:rPr lang="en-US" sz="1400" dirty="0" smtClean="0">
                <a:effectLst/>
              </a:rPr>
              <a:t> </a:t>
            </a:r>
          </a:p>
          <a:p>
            <a:r>
              <a:rPr lang="en-US" sz="1200" kern="1200" dirty="0" smtClean="0">
                <a:solidFill>
                  <a:schemeClr val="tx1"/>
                </a:solidFill>
                <a:effectLst/>
                <a:latin typeface="Arial" charset="0"/>
                <a:ea typeface="+mn-ea"/>
                <a:cs typeface="+mn-cs"/>
              </a:rPr>
              <a:t>&lt;Demo open file oppG12AS20000-cfda15.809-cidG12AS20000.pdf &gt;</a:t>
            </a:r>
          </a:p>
          <a:p>
            <a:r>
              <a:rPr lang="en-US" sz="1200" kern="1200" dirty="0" smtClean="0">
                <a:solidFill>
                  <a:schemeClr val="tx1"/>
                </a:solidFill>
                <a:effectLst/>
                <a:latin typeface="Arial" charset="0"/>
                <a:ea typeface="+mn-ea"/>
                <a:cs typeface="+mn-cs"/>
              </a:rPr>
              <a:t>Show buttons	</a:t>
            </a:r>
          </a:p>
          <a:p>
            <a:pPr marL="285750" lvl="0" indent="-285750">
              <a:buFont typeface="Arial" pitchFamily="34" charset="0"/>
              <a:buChar char="•"/>
            </a:pPr>
            <a:r>
              <a:rPr lang="en-US" sz="1400" i="1" dirty="0" smtClean="0">
                <a:effectLst/>
              </a:rPr>
              <a:t>Save &amp; Submit</a:t>
            </a:r>
            <a:endParaRPr lang="en-US" sz="1400" dirty="0" smtClean="0">
              <a:effectLst/>
            </a:endParaRPr>
          </a:p>
          <a:p>
            <a:pPr marL="285750" lvl="0" indent="-285750">
              <a:buFont typeface="Arial" pitchFamily="34" charset="0"/>
              <a:buChar char="•"/>
            </a:pPr>
            <a:r>
              <a:rPr lang="en-US" sz="1400" i="1" dirty="0" smtClean="0">
                <a:effectLst/>
              </a:rPr>
              <a:t>Save</a:t>
            </a:r>
            <a:endParaRPr lang="en-US" sz="1400" dirty="0" smtClean="0">
              <a:effectLst/>
            </a:endParaRPr>
          </a:p>
          <a:p>
            <a:pPr marL="285750" lvl="0" indent="-285750">
              <a:buFont typeface="Arial" pitchFamily="34" charset="0"/>
              <a:buChar char="•"/>
            </a:pPr>
            <a:r>
              <a:rPr lang="en-US" sz="1400" i="1" dirty="0" smtClean="0">
                <a:effectLst/>
              </a:rPr>
              <a:t>Check Package for Errors</a:t>
            </a:r>
            <a:endParaRPr lang="en-US" sz="1400" dirty="0" smtClean="0">
              <a:effectLst/>
            </a:endParaRPr>
          </a:p>
          <a:p>
            <a:r>
              <a:rPr lang="en-US" sz="1400" dirty="0" smtClean="0">
                <a:effectLst/>
              </a:rPr>
              <a:t> </a:t>
            </a:r>
          </a:p>
          <a:p>
            <a:r>
              <a:rPr lang="en-US" sz="1200" b="1" kern="1200" dirty="0" smtClean="0">
                <a:solidFill>
                  <a:schemeClr val="tx1"/>
                </a:solidFill>
                <a:effectLst/>
                <a:latin typeface="Arial" charset="0"/>
                <a:ea typeface="+mn-ea"/>
                <a:cs typeface="+mn-cs"/>
              </a:rPr>
              <a:t>In SF 424</a:t>
            </a:r>
            <a:r>
              <a:rPr lang="en-US" sz="1200" kern="1200" dirty="0" smtClean="0">
                <a:solidFill>
                  <a:schemeClr val="tx1"/>
                </a:solidFill>
                <a:effectLst/>
                <a:latin typeface="Arial" charset="0"/>
                <a:ea typeface="+mn-ea"/>
                <a:cs typeface="+mn-cs"/>
              </a:rPr>
              <a:t> - Show field 8F, 15 and 17</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Show </a:t>
            </a:r>
            <a:r>
              <a:rPr lang="en-US" sz="1200" b="1" kern="1200" dirty="0" smtClean="0">
                <a:solidFill>
                  <a:schemeClr val="tx1"/>
                </a:solidFill>
                <a:effectLst/>
                <a:latin typeface="Arial" charset="0"/>
                <a:ea typeface="+mn-ea"/>
                <a:cs typeface="+mn-cs"/>
              </a:rPr>
              <a:t>Project Narrative Attachment Form</a:t>
            </a:r>
            <a:r>
              <a:rPr lang="en-US" sz="1200" kern="1200" dirty="0" smtClean="0">
                <a:solidFill>
                  <a:schemeClr val="tx1"/>
                </a:solidFill>
                <a:effectLst/>
                <a:latin typeface="Arial" charset="0"/>
                <a:ea typeface="+mn-ea"/>
                <a:cs typeface="+mn-cs"/>
              </a:rPr>
              <a:t> – how to attach proposal and other supporting documents.</a:t>
            </a:r>
          </a:p>
          <a:p>
            <a:endParaRPr lang="en-US" sz="1200" b="1" kern="1200" dirty="0" smtClean="0">
              <a:solidFill>
                <a:schemeClr val="tx1"/>
              </a:solidFill>
              <a:effectLst/>
              <a:latin typeface="Arial" charset="0"/>
              <a:ea typeface="+mn-ea"/>
              <a:cs typeface="+mn-cs"/>
            </a:endParaRPr>
          </a:p>
          <a:p>
            <a:r>
              <a:rPr lang="en-US" sz="1200" b="1" kern="1200" dirty="0" smtClean="0">
                <a:solidFill>
                  <a:schemeClr val="tx1"/>
                </a:solidFill>
                <a:effectLst/>
                <a:latin typeface="Arial" charset="0"/>
                <a:ea typeface="+mn-ea"/>
                <a:cs typeface="+mn-cs"/>
              </a:rPr>
              <a:t>Show SF 424-A – </a:t>
            </a:r>
            <a:r>
              <a:rPr lang="en-US" sz="1200" kern="1200" dirty="0" smtClean="0">
                <a:solidFill>
                  <a:schemeClr val="tx1"/>
                </a:solidFill>
                <a:effectLst/>
                <a:latin typeface="Arial" charset="0"/>
                <a:ea typeface="+mn-ea"/>
                <a:cs typeface="+mn-cs"/>
              </a:rPr>
              <a:t>Please, on page 2 use Column 1 for the Federal funds allocation and column 2 for the your in-kind match allocation.</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Show </a:t>
            </a:r>
            <a:r>
              <a:rPr lang="en-US" sz="1200" b="1" kern="1200" dirty="0" smtClean="0">
                <a:solidFill>
                  <a:schemeClr val="tx1"/>
                </a:solidFill>
                <a:effectLst/>
                <a:latin typeface="Arial" charset="0"/>
                <a:ea typeface="+mn-ea"/>
                <a:cs typeface="+mn-cs"/>
              </a:rPr>
              <a:t>SF 424-B</a:t>
            </a:r>
            <a:endParaRPr lang="en-US" sz="1200" kern="1200" dirty="0" smtClean="0">
              <a:solidFill>
                <a:schemeClr val="tx1"/>
              </a:solidFill>
              <a:effectLst/>
              <a:latin typeface="Arial" charset="0"/>
              <a:ea typeface="+mn-ea"/>
              <a:cs typeface="+mn-cs"/>
            </a:endParaRP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&lt;Demo open file 2011_NSDI_CAP_Announcement.pdf&gt;</a:t>
            </a:r>
          </a:p>
          <a:p>
            <a:r>
              <a:rPr lang="en-US" sz="1200" kern="1200" dirty="0" smtClean="0">
                <a:solidFill>
                  <a:schemeClr val="tx1"/>
                </a:solidFill>
                <a:effectLst/>
                <a:latin typeface="Arial" charset="0"/>
                <a:ea typeface="+mn-ea"/>
                <a:cs typeface="+mn-cs"/>
              </a:rPr>
              <a:t>Now let us take a look at the CAP announcement.  You can use the </a:t>
            </a:r>
            <a:r>
              <a:rPr lang="en-US" sz="1200" b="1" kern="1200" dirty="0" smtClean="0">
                <a:solidFill>
                  <a:schemeClr val="tx1"/>
                </a:solidFill>
                <a:effectLst/>
                <a:latin typeface="Arial" charset="0"/>
                <a:ea typeface="+mn-ea"/>
                <a:cs typeface="+mn-cs"/>
              </a:rPr>
              <a:t>table of contents</a:t>
            </a:r>
            <a:r>
              <a:rPr lang="en-US" sz="1200" kern="1200" dirty="0" smtClean="0">
                <a:solidFill>
                  <a:schemeClr val="tx1"/>
                </a:solidFill>
                <a:effectLst/>
                <a:latin typeface="Arial" charset="0"/>
                <a:ea typeface="+mn-ea"/>
                <a:cs typeface="+mn-cs"/>
              </a:rPr>
              <a:t> to find your way around the document.  Everyone should read the </a:t>
            </a:r>
            <a:r>
              <a:rPr lang="en-US" sz="1200" b="1" kern="1200" dirty="0" smtClean="0">
                <a:solidFill>
                  <a:schemeClr val="tx1"/>
                </a:solidFill>
                <a:effectLst/>
                <a:latin typeface="Arial" charset="0"/>
                <a:ea typeface="+mn-ea"/>
                <a:cs typeface="+mn-cs"/>
              </a:rPr>
              <a:t>General Information</a:t>
            </a:r>
            <a:r>
              <a:rPr lang="en-US" sz="1200" kern="1200" dirty="0" smtClean="0">
                <a:solidFill>
                  <a:schemeClr val="tx1"/>
                </a:solidFill>
                <a:effectLst/>
                <a:latin typeface="Arial" charset="0"/>
                <a:ea typeface="+mn-ea"/>
                <a:cs typeface="+mn-cs"/>
              </a:rPr>
              <a:t> section and the category that you will be applying to.  The details for the </a:t>
            </a:r>
            <a:r>
              <a:rPr lang="en-US" sz="1200" b="1" kern="1200" dirty="0" smtClean="0">
                <a:solidFill>
                  <a:schemeClr val="tx1"/>
                </a:solidFill>
                <a:effectLst/>
                <a:latin typeface="Arial" charset="0"/>
                <a:ea typeface="+mn-ea"/>
                <a:cs typeface="+mn-cs"/>
              </a:rPr>
              <a:t>budget breakdown are on page 9</a:t>
            </a:r>
            <a:r>
              <a:rPr lang="en-US" sz="1200" kern="1200" dirty="0" smtClean="0">
                <a:solidFill>
                  <a:schemeClr val="tx1"/>
                </a:solidFill>
                <a:effectLst/>
                <a:latin typeface="Arial" charset="0"/>
                <a:ea typeface="+mn-ea"/>
                <a:cs typeface="+mn-cs"/>
              </a:rPr>
              <a:t>.  The format for the Proposal Narrative is given at the end of each category section and the scoring criteria for the reviews is included here.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On </a:t>
            </a:r>
            <a:r>
              <a:rPr lang="en-US" sz="1200" b="1" kern="1200" dirty="0" smtClean="0">
                <a:solidFill>
                  <a:schemeClr val="tx1"/>
                </a:solidFill>
                <a:effectLst/>
                <a:latin typeface="Arial" charset="0"/>
                <a:ea typeface="+mn-ea"/>
                <a:cs typeface="+mn-cs"/>
              </a:rPr>
              <a:t>page 77</a:t>
            </a:r>
            <a:r>
              <a:rPr lang="en-US" sz="1200" kern="1200" dirty="0" smtClean="0">
                <a:solidFill>
                  <a:schemeClr val="tx1"/>
                </a:solidFill>
                <a:effectLst/>
                <a:latin typeface="Arial" charset="0"/>
                <a:ea typeface="+mn-ea"/>
                <a:cs typeface="+mn-cs"/>
              </a:rPr>
              <a:t> there is a blank budget breakdown form you can use.  This is the form required by USGS.  An example budget is on page78.  You can see how the breakdown can be done.  When there is a large budget item like in this example for $19,000 contract services -- it need to be explained as it is here in the example.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Now back to the slides.</a:t>
            </a:r>
          </a:p>
          <a:p>
            <a:endParaRPr lang="en-US" sz="1200" kern="1200" dirty="0">
              <a:solidFill>
                <a:schemeClr val="tx1"/>
              </a:solidFill>
              <a:effectLst/>
              <a:latin typeface="Arial" charset="0"/>
              <a:ea typeface="+mn-ea"/>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2298FEE9-173D-47EE-A372-FA54175A51EA}" type="slidenum">
              <a:rPr lang="en-US" smtClean="0"/>
              <a:pPr/>
              <a:t>42</a:t>
            </a:fld>
            <a:endParaRPr lang="en-US"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We have covered a lot of information.  Here is a summary of the documents that make up an NSDI CAP application package.  </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SF-424 Application for Federal Assistance form</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SF-424A Budget Information form</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SF-424B Assurances form</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Proposal Narrative</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Budget Breakdown</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Other required documents described in the announcement </a:t>
            </a:r>
          </a:p>
          <a:p>
            <a:pPr marL="171450" lvl="0" indent="-171450">
              <a:buFont typeface="Arial" pitchFamily="34" charset="0"/>
              <a:buChar char="•"/>
            </a:pPr>
            <a:r>
              <a:rPr lang="en-US" sz="1200" kern="1200" dirty="0" smtClean="0">
                <a:solidFill>
                  <a:schemeClr val="tx1"/>
                </a:solidFill>
                <a:effectLst/>
                <a:latin typeface="Arial" charset="0"/>
                <a:ea typeface="+mn-ea"/>
                <a:cs typeface="+mn-cs"/>
              </a:rPr>
              <a:t>and optional supporting documents</a:t>
            </a:r>
          </a:p>
          <a:p>
            <a:pPr marL="0" indent="0">
              <a:buFont typeface="Arial" pitchFamily="34" charset="0"/>
              <a:buNone/>
            </a:pPr>
            <a:endParaRPr lang="en-US" sz="1200" kern="1200" dirty="0" smtClean="0">
              <a:solidFill>
                <a:schemeClr val="tx1"/>
              </a:solidFill>
              <a:effectLst/>
              <a:latin typeface="Arial" charset="0"/>
              <a:ea typeface="+mn-ea"/>
              <a:cs typeface="+mn-cs"/>
            </a:endParaRPr>
          </a:p>
          <a:p>
            <a:pPr marL="0" indent="0">
              <a:buFont typeface="Arial" pitchFamily="34" charset="0"/>
              <a:buNone/>
            </a:pPr>
            <a:r>
              <a:rPr lang="en-US" sz="1200" kern="1200" dirty="0" smtClean="0">
                <a:solidFill>
                  <a:schemeClr val="tx1"/>
                </a:solidFill>
                <a:effectLst/>
                <a:latin typeface="Arial" charset="0"/>
                <a:ea typeface="+mn-ea"/>
                <a:cs typeface="+mn-cs"/>
              </a:rPr>
              <a:t>And as I have said before please read the CAP Announcement carefully to determine specific category requirements.</a:t>
            </a:r>
          </a:p>
          <a:p>
            <a:pPr marL="0" indent="0">
              <a:buFont typeface="Arial" pitchFamily="34" charset="0"/>
              <a:buNone/>
            </a:pPr>
            <a:endParaRPr lang="en-US" sz="1200" kern="1200" dirty="0" smtClean="0">
              <a:solidFill>
                <a:schemeClr val="tx1"/>
              </a:solidFill>
              <a:effectLst/>
              <a:latin typeface="Arial" charset="0"/>
              <a:ea typeface="+mn-ea"/>
              <a:cs typeface="+mn-cs"/>
            </a:endParaRPr>
          </a:p>
          <a:p>
            <a:pPr marL="0" indent="0">
              <a:buFont typeface="Arial" pitchFamily="34" charset="0"/>
              <a:buNone/>
            </a:pPr>
            <a:r>
              <a:rPr lang="en-US" sz="1200" kern="1200" dirty="0" smtClean="0">
                <a:solidFill>
                  <a:schemeClr val="tx1"/>
                </a:solidFill>
                <a:effectLst/>
                <a:latin typeface="Arial" charset="0"/>
                <a:ea typeface="+mn-ea"/>
                <a:cs typeface="+mn-cs"/>
              </a:rPr>
              <a:t>Finally if possible please try to put the Narrative, budget breakdown, other required documents, and optional documents into a single PDF file and attach that to the application.</a:t>
            </a:r>
          </a:p>
          <a:p>
            <a:pPr eaLnBrk="1" hangingPunct="1"/>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2EB930E9-B57D-43CC-A528-5651BDB1F5F4}" type="slidenum">
              <a:rPr lang="en-US" smtClean="0">
                <a:solidFill>
                  <a:prstClr val="black"/>
                </a:solidFill>
              </a:rPr>
              <a:pPr/>
              <a:t>43</a:t>
            </a:fld>
            <a:endParaRPr lang="en-US" smtClean="0">
              <a:solidFill>
                <a:prstClr val="black"/>
              </a:solidFill>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Once you have completed the application package and you or your office have registered on Grants.gov you are ready to submit your NSDI CAP Application Package.  First use the </a:t>
            </a:r>
            <a:r>
              <a:rPr lang="en-US" sz="1200" i="1" kern="1200" dirty="0" smtClean="0">
                <a:solidFill>
                  <a:schemeClr val="tx1"/>
                </a:solidFill>
                <a:effectLst/>
                <a:latin typeface="Arial" charset="0"/>
                <a:ea typeface="+mn-ea"/>
                <a:cs typeface="+mn-cs"/>
              </a:rPr>
              <a:t>Check Package for Errors</a:t>
            </a:r>
            <a:r>
              <a:rPr lang="en-US" sz="1200" kern="1200" dirty="0" smtClean="0">
                <a:solidFill>
                  <a:schemeClr val="tx1"/>
                </a:solidFill>
                <a:effectLst/>
                <a:latin typeface="Arial" charset="0"/>
                <a:ea typeface="+mn-ea"/>
                <a:cs typeface="+mn-cs"/>
              </a:rPr>
              <a:t> button and if no errors are returned use the submit button is located at the top of the application package cover page. This button will not work until you have completed all required forms, attached all required documents, and saved your application package.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After clicking the submit button a grants.gov login window will appear. This is where the AOR username and password is entered. Then click the "Sign and Submit" button on the summary page.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You will be given a Grants.gov tracking number at the bottom of this screen, as well as the submission's official date and time.  You need to record the tracking number since this is the number that is used to track your application and I use this number too.  Make sure to check for errors in the submission.  If there are no errors then NSDI CAP application process is complete on your end.</a:t>
            </a:r>
          </a:p>
          <a:p>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C87D0AD0-63CD-486E-8BE2-4F21AE909550}" type="slidenum">
              <a:rPr lang="en-US" smtClean="0"/>
              <a:pPr/>
              <a:t>44</a:t>
            </a:fld>
            <a:endParaRPr lang="en-US"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You use the tracking number provided by Grants.gov to check on the proposal status on the Grants.gov web site. Grants.gov will provide emails when the submission is received, when submission is validated or if there are errors, and when USGS retrieves the proposal.  It is critical that you make sure there were no errors in the submission.</a:t>
            </a:r>
          </a:p>
          <a:p>
            <a:pPr eaLnBrk="1" hangingPunct="1"/>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C87D0AD0-63CD-486E-8BE2-4F21AE909550}" type="slidenum">
              <a:rPr lang="en-US" smtClean="0"/>
              <a:pPr/>
              <a:t>45</a:t>
            </a:fld>
            <a:endParaRPr lang="en-US"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After the closing date of the NSDI CAP announcement on Grants.gov which is January 24, 2012.  I can provide status information.</a:t>
            </a:r>
          </a:p>
          <a:p>
            <a:pPr eaLnBrk="1" hangingPunct="1"/>
            <a:endParaRPr lang="en-US"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b="1">
                <a:solidFill>
                  <a:schemeClr val="tx1"/>
                </a:solidFill>
                <a:latin typeface="Arial" charset="0"/>
              </a:defRPr>
            </a:lvl1pPr>
            <a:lvl2pPr marL="742950" indent="-285750" defTabSz="966788" eaLnBrk="0" hangingPunct="0">
              <a:defRPr b="1">
                <a:solidFill>
                  <a:schemeClr val="tx1"/>
                </a:solidFill>
                <a:latin typeface="Arial" charset="0"/>
              </a:defRPr>
            </a:lvl2pPr>
            <a:lvl3pPr marL="1143000" indent="-228600" defTabSz="966788" eaLnBrk="0" hangingPunct="0">
              <a:defRPr b="1">
                <a:solidFill>
                  <a:schemeClr val="tx1"/>
                </a:solidFill>
                <a:latin typeface="Arial" charset="0"/>
              </a:defRPr>
            </a:lvl3pPr>
            <a:lvl4pPr marL="1600200" indent="-228600" defTabSz="966788" eaLnBrk="0" hangingPunct="0">
              <a:defRPr b="1">
                <a:solidFill>
                  <a:schemeClr val="tx1"/>
                </a:solidFill>
                <a:latin typeface="Arial" charset="0"/>
              </a:defRPr>
            </a:lvl4pPr>
            <a:lvl5pPr marL="2057400" indent="-228600" defTabSz="966788" eaLnBrk="0" hangingPunct="0">
              <a:defRPr b="1">
                <a:solidFill>
                  <a:schemeClr val="tx1"/>
                </a:solidFill>
                <a:latin typeface="Arial" charset="0"/>
              </a:defRPr>
            </a:lvl5pPr>
            <a:lvl6pPr marL="2514600" indent="-228600" defTabSz="966788" eaLnBrk="0" fontAlgn="base" hangingPunct="0">
              <a:spcBef>
                <a:spcPct val="0"/>
              </a:spcBef>
              <a:spcAft>
                <a:spcPct val="0"/>
              </a:spcAft>
              <a:defRPr b="1">
                <a:solidFill>
                  <a:schemeClr val="tx1"/>
                </a:solidFill>
                <a:latin typeface="Arial" charset="0"/>
              </a:defRPr>
            </a:lvl6pPr>
            <a:lvl7pPr marL="2971800" indent="-228600" defTabSz="966788" eaLnBrk="0" fontAlgn="base" hangingPunct="0">
              <a:spcBef>
                <a:spcPct val="0"/>
              </a:spcBef>
              <a:spcAft>
                <a:spcPct val="0"/>
              </a:spcAft>
              <a:defRPr b="1">
                <a:solidFill>
                  <a:schemeClr val="tx1"/>
                </a:solidFill>
                <a:latin typeface="Arial" charset="0"/>
              </a:defRPr>
            </a:lvl7pPr>
            <a:lvl8pPr marL="3429000" indent="-228600" defTabSz="966788" eaLnBrk="0" fontAlgn="base" hangingPunct="0">
              <a:spcBef>
                <a:spcPct val="0"/>
              </a:spcBef>
              <a:spcAft>
                <a:spcPct val="0"/>
              </a:spcAft>
              <a:defRPr b="1">
                <a:solidFill>
                  <a:schemeClr val="tx1"/>
                </a:solidFill>
                <a:latin typeface="Arial" charset="0"/>
              </a:defRPr>
            </a:lvl8pPr>
            <a:lvl9pPr marL="3886200" indent="-228600" defTabSz="966788" eaLnBrk="0" fontAlgn="base" hangingPunct="0">
              <a:spcBef>
                <a:spcPct val="0"/>
              </a:spcBef>
              <a:spcAft>
                <a:spcPct val="0"/>
              </a:spcAft>
              <a:defRPr b="1">
                <a:solidFill>
                  <a:schemeClr val="tx1"/>
                </a:solidFill>
                <a:latin typeface="Arial" charset="0"/>
              </a:defRPr>
            </a:lvl9pPr>
          </a:lstStyle>
          <a:p>
            <a:pPr eaLnBrk="1" hangingPunct="1"/>
            <a:fld id="{DB91D9AC-F9BE-45B2-8BCA-3174EC9A7C6E}" type="slidenum">
              <a:rPr lang="en-US" b="0" smtClean="0"/>
              <a:pPr eaLnBrk="1" hangingPunct="1"/>
              <a:t>46</a:t>
            </a:fld>
            <a:endParaRPr lang="en-US" b="0"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kern="1200" dirty="0" smtClean="0">
                <a:solidFill>
                  <a:schemeClr val="tx1"/>
                </a:solidFill>
                <a:effectLst/>
                <a:latin typeface="Arial" charset="0"/>
                <a:ea typeface="+mn-ea"/>
                <a:cs typeface="+mn-cs"/>
              </a:rPr>
              <a:t>Your organization may submit proposals for more than one category but you will need to submit a complete and separate application package for each category submission.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If you receive awards in more than one category the projects will be combined into a single assistance award and the funding will be a combined total of all the awards. This will, hopefully, ease the burden of managing the awards on your end.  </a:t>
            </a:r>
          </a:p>
          <a:p>
            <a:pPr eaLnBrk="1" hangingPunct="1"/>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6CDC273-CAE8-4388-8CAB-235476BF3096}" type="slidenum">
              <a:rPr lang="en-US" smtClean="0"/>
              <a:pPr/>
              <a:t>47</a:t>
            </a:fld>
            <a:endParaRPr lang="en-US"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At this point I bet you are wondering what help is available.  A great place to start is with your USGS State Geospatial Liaison.  They can be found via this link. Select “Partnership Contact List” from upper banner to find the liaison for your State.</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Next you can check reports from past CAP recipients. They contain information that describes the work accomplished. These can be found on FGDC grants web pages.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You can also contact the CAP category lead who in listed on 2012 CAP description web page and in the announcement.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In addition, you could review a successful, past proposal. The best way to do this is to make direct contact with the CAP award recipient.  Their contact information is included with their project information on the FGDC grants web site.</a:t>
            </a:r>
          </a:p>
          <a:p>
            <a:endParaRPr lang="en-US" sz="13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C87D0AD0-63CD-486E-8BE2-4F21AE909550}" type="slidenum">
              <a:rPr lang="en-US" smtClean="0"/>
              <a:pPr/>
              <a:t>48</a:t>
            </a:fld>
            <a:endParaRPr lang="en-US"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Once the NSDI CAP announcement closes all the application packages come to me and the Category Leads for the review process.  They are reviewed to ensure compliance with all the requirements.  The Category Leads set up the review panels that are comprised of subject matter experts.  The proposals are reviewed individually using a score sheet.  The scoring is based on the criteria and point allotment specified in the CAP Announcement under the Proposal Narrative.  This is why it is important to follow the format given in the CAP announcement.  The completed score sheets are preserved so that during and after the selection process they can be revisited at any time.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scored and ranked proposals are given to FGDC Executive Director to make the final selections.  The award announcements are made as soon as they are known and on a category by category basis.  The review process takes 4 to 8 weeks and I expect the 2012 CAP awards to be announced in March 2012.</a:t>
            </a:r>
          </a:p>
          <a:p>
            <a:pPr eaLnBrk="1" hangingPunct="1"/>
            <a:endParaRPr lang="en-US"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2EA30F72-74B0-4A5C-8115-05D1588808DD}" type="slidenum">
              <a:rPr lang="en-US" smtClean="0"/>
              <a:pPr/>
              <a:t>49</a:t>
            </a:fld>
            <a:endParaRPr lang="en-US"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Once the awards are determined I send letters to both the successful and unsuccessful applicants.  For those that are not getting an award, the letter will provide some information about why the proposal was not accepted.  I will post on the FDGC Web site a list of all the selected proposals.</a:t>
            </a:r>
          </a:p>
          <a:p>
            <a:pPr eaLnBrk="1" hangingPunct="1"/>
            <a:endParaRPr lang="en-US" dirty="0" smtClean="0"/>
          </a:p>
          <a:p>
            <a:pPr eaLnBrk="1" hangingPunct="1"/>
            <a:endParaRPr lang="en-US"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9B2B3154-6EC2-442F-9829-10C6DE3EC8C5}" type="slidenum">
              <a:rPr lang="en-US" smtClean="0"/>
              <a:pPr/>
              <a:t>50</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Now for some hints for a successful proposal.  First address all criteria in the CAP announcement and provide all the requested items and information.  Comply with proposal narrative size and length limitations – 5 pages or 3000 words. Observe CAP and category-specific funding restrictions – no data collection or purchases. Check that your budget meets both project objectives and funding limits.  Clearly state the source and value of your in-kind match.  </a:t>
            </a:r>
          </a:p>
          <a:p>
            <a:pPr eaLnBrk="1" hangingPunct="1"/>
            <a:endParaRPr lang="en-US" dirty="0" smtClean="0"/>
          </a:p>
          <a:p>
            <a:pPr eaLnBrk="1" hangingPunct="1"/>
            <a:endParaRPr lang="en-US" dirty="0"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B1B01290-900B-4780-9843-6484DF09249A}" type="slidenum">
              <a:rPr lang="en-US" smtClean="0"/>
              <a:pPr/>
              <a:t>51</a:t>
            </a:fld>
            <a:endParaRPr lang="en-US"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marL="0" marR="0" indent="0" algn="l" defTabSz="966612"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Include Letters of Support or Commitment from organizations that are listed as project collaborators or prime benefactors.  In your proposal narrative you should discuss how your organization will sustain the projects outcomes after the CAP project ends.  Project sustainability is critical. Demonstrate your partnerships with other organizations. And finally, include information about plans to share the outcomes of the project at conferences, online, or through other venues.</a:t>
            </a:r>
          </a:p>
          <a:p>
            <a:pPr defTabSz="966612" eaLnBrk="1" hangingPunct="1">
              <a:defRPr/>
            </a:pPr>
            <a:endParaRPr lang="en-US" sz="1300" dirty="0"/>
          </a:p>
          <a:p>
            <a:pPr eaLnBrk="1" hangingPunct="1"/>
            <a:endParaRPr lang="en-US" dirty="0" smtClean="0"/>
          </a:p>
          <a:p>
            <a:pPr eaLnBrk="1" hangingPunct="1"/>
            <a:endParaRPr lang="en-US" dirty="0" smtClean="0"/>
          </a:p>
          <a:p>
            <a:pPr eaLnBrk="1" hangingPunct="1"/>
            <a:endParaRPr lang="en-US" dirty="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752C0F2-9EAE-4C11-8BB5-090580EAB0F0}" type="slidenum">
              <a:rPr lang="en-US" smtClean="0"/>
              <a:pPr/>
              <a:t>52</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Now we are coming to the end of my presentation.  To summarize the purpose of the NSDI CAP is to support geospatial programs that lead to sustainable State/regional/community projects, introduce and extend the NSDI, implement proven solutions for metadata, standards, and Web services; encourage partnerships and leveraged resources; and focus on infrastructure development. It is not for data collection or GIS start-ups.</a:t>
            </a:r>
          </a:p>
          <a:p>
            <a:endParaRPr lang="en-US" sz="13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350156C3-F7A8-4B35-923C-C269C6D2AEB6}" type="slidenum">
              <a:rPr lang="en-US" smtClean="0"/>
              <a:pPr/>
              <a:t>53</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Throughout the presentation I have mentioned several useful web sites.  This is a summary of them.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first is the NSDI CAP Web site.  It contains contact information for me and the Category Leads, current and past CAP announcements, CAP administration guidance, information about previous awards, and schedules for proposal submissions.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Next is the Grants.gov Web site that is the centralized site for Federal Government grant and cooperative agreements programs.</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3</a:t>
            </a:r>
            <a:r>
              <a:rPr lang="en-US" sz="1200" kern="1200" baseline="30000" dirty="0" smtClean="0">
                <a:solidFill>
                  <a:schemeClr val="tx1"/>
                </a:solidFill>
                <a:effectLst/>
                <a:latin typeface="Arial" charset="0"/>
                <a:ea typeface="+mn-ea"/>
                <a:cs typeface="+mn-cs"/>
              </a:rPr>
              <a:t>rd</a:t>
            </a:r>
            <a:r>
              <a:rPr lang="en-US" sz="1200" kern="1200" dirty="0" smtClean="0">
                <a:solidFill>
                  <a:schemeClr val="tx1"/>
                </a:solidFill>
                <a:effectLst/>
                <a:latin typeface="Arial" charset="0"/>
                <a:ea typeface="+mn-ea"/>
                <a:cs typeface="+mn-cs"/>
              </a:rPr>
              <a:t> site is applicant resources located on Grants.gov. It includes links for animated tutorials, FAQs, user guides, and check lists.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USGS via the 4</a:t>
            </a:r>
            <a:r>
              <a:rPr lang="en-US" sz="1200" kern="1200" baseline="30000" dirty="0" smtClean="0">
                <a:solidFill>
                  <a:schemeClr val="tx1"/>
                </a:solidFill>
                <a:effectLst/>
                <a:latin typeface="Arial" charset="0"/>
                <a:ea typeface="+mn-ea"/>
                <a:cs typeface="+mn-cs"/>
              </a:rPr>
              <a:t>th</a:t>
            </a:r>
            <a:r>
              <a:rPr lang="en-US" sz="1200" kern="1200" dirty="0" smtClean="0">
                <a:solidFill>
                  <a:schemeClr val="tx1"/>
                </a:solidFill>
                <a:effectLst/>
                <a:latin typeface="Arial" charset="0"/>
                <a:ea typeface="+mn-ea"/>
                <a:cs typeface="+mn-cs"/>
              </a:rPr>
              <a:t> link provides help for getting started with Grants.gov.</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These and other helpful links are posted on the FGDC web site under the 2012 NSDI CAP FAQ page.</a:t>
            </a:r>
          </a:p>
          <a:p>
            <a:endParaRPr lang="en-US" sz="1300"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D88C9B7-AF01-4714-8C29-392A7D4451EB}" type="slidenum">
              <a:rPr lang="en-US" smtClean="0"/>
              <a:pPr/>
              <a:t>54</a:t>
            </a:fld>
            <a:endParaRPr lang="en-US"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So in conclusion the successful submittal of an NSDI CAP proposal requires advanced planning and registration on Grants.gov, careful review of the CAP Announcement, proof of collaborations and partnerships, and demonstration of capabilities.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As the NSDI CAP Coordinator I am available to help you as much as I can in the process.  I appreciate your attention to this presentation.</a:t>
            </a:r>
          </a:p>
          <a:p>
            <a:endParaRPr lang="en-US" sz="1300"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72D1782C-13F8-4262-8102-1B4FF99A0C2E}" type="slidenum">
              <a:rPr lang="en-US" smtClean="0"/>
              <a:pPr/>
              <a:t>55</a:t>
            </a:fld>
            <a:endParaRPr lang="en-US"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Now I hope you are ready to start your NSDI CAP application.  But before we end, I have a simple poll question and then we will respond to some of your questions.</a:t>
            </a:r>
          </a:p>
          <a:p>
            <a:pPr eaLnBrk="1" hangingPunct="1"/>
            <a:endParaRPr lang="en-US" dirty="0" smtClean="0"/>
          </a:p>
          <a:p>
            <a:pPr eaLnBrk="1" hangingPunct="1"/>
            <a:r>
              <a:rPr lang="en-US" i="1" dirty="0" smtClean="0"/>
              <a:t>A Man Writing a Letter</a:t>
            </a:r>
            <a:r>
              <a:rPr lang="en-US" dirty="0" smtClean="0"/>
              <a:t>, c. 1664–1666, Gabriel </a:t>
            </a:r>
            <a:r>
              <a:rPr lang="en-US" dirty="0" err="1" smtClean="0"/>
              <a:t>Metsu</a:t>
            </a:r>
            <a:r>
              <a:rPr lang="en-US" dirty="0" smtClean="0"/>
              <a:t> from http://www.nga.gov/exhibitions/2011/metsu/fullscreen.shtm</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72D1782C-13F8-4262-8102-1B4FF99A0C2E}" type="slidenum">
              <a:rPr lang="en-US" smtClean="0"/>
              <a:pPr/>
              <a:t>56</a:t>
            </a:fld>
            <a:endParaRPr lang="en-US"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r>
              <a:rPr lang="en-US" sz="1200" kern="1200" dirty="0" err="1" smtClean="0">
                <a:solidFill>
                  <a:schemeClr val="tx1"/>
                </a:solidFill>
                <a:effectLst/>
                <a:latin typeface="Arial" charset="0"/>
                <a:ea typeface="+mn-ea"/>
                <a:cs typeface="+mn-cs"/>
              </a:rPr>
              <a:t>Vaishal</a:t>
            </a:r>
            <a:r>
              <a:rPr lang="en-US" sz="1200" kern="1200" dirty="0" smtClean="0">
                <a:solidFill>
                  <a:schemeClr val="tx1"/>
                </a:solidFill>
                <a:effectLst/>
                <a:latin typeface="Arial" charset="0"/>
                <a:ea typeface="+mn-ea"/>
                <a:cs typeface="+mn-cs"/>
              </a:rPr>
              <a:t> are you ready with the poll question?  Please response to this statement “The overall experience of this webinar training was positive. 1 is strongly disagree, 2 is Disagree, 3 is Neutral, 4 is Agree, and 5 is strongly agree.  We will give you a minute or so to respond.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poll is now closed.  I will be glad to get any comments or suggestions you have about this webinar, so please send me an email.  Now we can move to questions and answers.  </a:t>
            </a:r>
          </a:p>
          <a:p>
            <a:pPr eaLnBrk="1" hangingPunct="1"/>
            <a:endParaRPr lang="en-US" dirty="0"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72D1782C-13F8-4262-8102-1B4FF99A0C2E}" type="slidenum">
              <a:rPr lang="en-US" smtClean="0"/>
              <a:pPr/>
              <a:t>57</a:t>
            </a:fld>
            <a:endParaRPr lang="en-US"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r>
              <a:rPr lang="en-US" sz="1200" kern="1200" dirty="0" smtClean="0">
                <a:solidFill>
                  <a:schemeClr val="tx1"/>
                </a:solidFill>
                <a:effectLst/>
                <a:latin typeface="Arial" charset="0"/>
                <a:ea typeface="+mn-ea"/>
                <a:cs typeface="+mn-cs"/>
              </a:rPr>
              <a:t>I will try to respond to as many as I can.  If there are any we cannot get to or need to do further research I will post these on the web site later under FAQ.</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Thanks to </a:t>
            </a:r>
            <a:r>
              <a:rPr lang="en-US" sz="1200" kern="1200" dirty="0" err="1" smtClean="0">
                <a:solidFill>
                  <a:schemeClr val="tx1"/>
                </a:solidFill>
                <a:effectLst/>
                <a:latin typeface="Arial" charset="0"/>
                <a:ea typeface="+mn-ea"/>
                <a:cs typeface="+mn-cs"/>
              </a:rPr>
              <a:t>Vaishal</a:t>
            </a:r>
            <a:r>
              <a:rPr lang="en-US" sz="1200" kern="1200" dirty="0" smtClean="0">
                <a:solidFill>
                  <a:schemeClr val="tx1"/>
                </a:solidFill>
                <a:effectLst/>
                <a:latin typeface="Arial" charset="0"/>
                <a:ea typeface="+mn-ea"/>
                <a:cs typeface="+mn-cs"/>
              </a:rPr>
              <a:t> </a:t>
            </a:r>
            <a:r>
              <a:rPr lang="en-US" sz="1200" kern="1200" dirty="0" err="1" smtClean="0">
                <a:solidFill>
                  <a:schemeClr val="tx1"/>
                </a:solidFill>
                <a:effectLst/>
                <a:latin typeface="Arial" charset="0"/>
                <a:ea typeface="+mn-ea"/>
                <a:cs typeface="+mn-cs"/>
              </a:rPr>
              <a:t>Sheth</a:t>
            </a:r>
            <a:r>
              <a:rPr lang="en-US" sz="1200" kern="1200" dirty="0" smtClean="0">
                <a:solidFill>
                  <a:schemeClr val="tx1"/>
                </a:solidFill>
                <a:effectLst/>
                <a:latin typeface="Arial" charset="0"/>
                <a:ea typeface="+mn-ea"/>
                <a:cs typeface="+mn-cs"/>
              </a:rPr>
              <a:t> for his support running this webinar and thank you for your time and attention.</a:t>
            </a:r>
          </a:p>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AutoShape 5"/>
          <p:cNvSpPr>
            <a:spLocks noChangeArrowheads="1"/>
          </p:cNvSpPr>
          <p:nvPr/>
        </p:nvSpPr>
        <p:spPr bwMode="auto">
          <a:xfrm rot="5400000">
            <a:off x="-228600" y="228600"/>
            <a:ext cx="3124200" cy="2667000"/>
          </a:xfrm>
          <a:prstGeom prst="rtTriangle">
            <a:avLst/>
          </a:prstGeom>
          <a:solidFill>
            <a:srgbClr val="BDBDFF"/>
          </a:solidFill>
          <a:ln w="9525">
            <a:noFill/>
            <a:miter lim="800000"/>
            <a:headEnd/>
            <a:tailEnd/>
          </a:ln>
          <a:effectLst/>
        </p:spPr>
        <p:txBody>
          <a:bodyPr wrap="none" anchor="ctr"/>
          <a:lstStyle/>
          <a:p>
            <a:pPr>
              <a:defRPr/>
            </a:pPr>
            <a:endParaRPr lang="en-US"/>
          </a:p>
        </p:txBody>
      </p:sp>
      <p:sp>
        <p:nvSpPr>
          <p:cNvPr id="4" name="Rectangle 3"/>
          <p:cNvSpPr>
            <a:spLocks noChangeArrowheads="1"/>
          </p:cNvSpPr>
          <p:nvPr/>
        </p:nvSpPr>
        <p:spPr bwMode="auto">
          <a:xfrm>
            <a:off x="-7938" y="6276975"/>
            <a:ext cx="9151938" cy="588963"/>
          </a:xfrm>
          <a:prstGeom prst="rect">
            <a:avLst/>
          </a:prstGeom>
          <a:solidFill>
            <a:srgbClr val="BDBDFF"/>
          </a:solidFill>
          <a:ln w="9525">
            <a:noFill/>
            <a:miter lim="800000"/>
            <a:headEnd/>
            <a:tailEnd/>
          </a:ln>
          <a:effectLst/>
        </p:spPr>
        <p:txBody>
          <a:bodyPr wrap="none" anchor="ctr"/>
          <a:lstStyle/>
          <a:p>
            <a:pPr algn="r">
              <a:defRPr/>
            </a:pPr>
            <a:endParaRPr lang="en-US" sz="1600" i="1" dirty="0"/>
          </a:p>
        </p:txBody>
      </p:sp>
      <p:sp>
        <p:nvSpPr>
          <p:cNvPr id="5" name="AutoShape 4"/>
          <p:cNvSpPr>
            <a:spLocks noChangeArrowheads="1"/>
          </p:cNvSpPr>
          <p:nvPr/>
        </p:nvSpPr>
        <p:spPr bwMode="auto">
          <a:xfrm>
            <a:off x="-4763" y="0"/>
            <a:ext cx="3352801" cy="6858000"/>
          </a:xfrm>
          <a:prstGeom prst="moon">
            <a:avLst>
              <a:gd name="adj" fmla="val 36079"/>
            </a:avLst>
          </a:prstGeom>
          <a:solidFill>
            <a:srgbClr val="BDBDFF"/>
          </a:solidFill>
          <a:ln w="9525">
            <a:noFill/>
            <a:miter lim="800000"/>
            <a:headEnd/>
            <a:tailEnd/>
          </a:ln>
          <a:effectLst/>
        </p:spPr>
        <p:txBody>
          <a:bodyPr wrap="none" anchor="ctr"/>
          <a:lstStyle/>
          <a:p>
            <a:pPr>
              <a:defRPr/>
            </a:pPr>
            <a:endParaRPr lang="en-US"/>
          </a:p>
        </p:txBody>
      </p:sp>
      <p:sp>
        <p:nvSpPr>
          <p:cNvPr id="6" name="Rectangle 6"/>
          <p:cNvSpPr>
            <a:spLocks noChangeArrowheads="1"/>
          </p:cNvSpPr>
          <p:nvPr/>
        </p:nvSpPr>
        <p:spPr bwMode="auto">
          <a:xfrm>
            <a:off x="0" y="0"/>
            <a:ext cx="9144000" cy="588963"/>
          </a:xfrm>
          <a:prstGeom prst="rect">
            <a:avLst/>
          </a:prstGeom>
          <a:solidFill>
            <a:srgbClr val="BDBDFF"/>
          </a:solidFill>
          <a:ln w="9525">
            <a:noFill/>
            <a:miter lim="800000"/>
            <a:headEnd/>
            <a:tailEnd/>
          </a:ln>
          <a:effectLst/>
        </p:spPr>
        <p:txBody>
          <a:bodyPr wrap="none" anchor="ctr"/>
          <a:lstStyle/>
          <a:p>
            <a:pPr>
              <a:defRPr/>
            </a:pPr>
            <a:r>
              <a:rPr lang="en-US" sz="2000">
                <a:latin typeface="Bookman Old Style" pitchFamily="18" charset="0"/>
              </a:rPr>
              <a:t>national spatial data infrastructure training program</a:t>
            </a:r>
          </a:p>
        </p:txBody>
      </p:sp>
      <p:sp>
        <p:nvSpPr>
          <p:cNvPr id="7" name="AutoShape 7"/>
          <p:cNvSpPr>
            <a:spLocks noChangeArrowheads="1"/>
          </p:cNvSpPr>
          <p:nvPr/>
        </p:nvSpPr>
        <p:spPr bwMode="auto">
          <a:xfrm rot="5400000" flipH="1">
            <a:off x="-76200" y="3810000"/>
            <a:ext cx="3124200" cy="2971800"/>
          </a:xfrm>
          <a:prstGeom prst="rtTriangle">
            <a:avLst/>
          </a:prstGeom>
          <a:solidFill>
            <a:srgbClr val="BDBDFF"/>
          </a:solidFill>
          <a:ln w="9525">
            <a:noFill/>
            <a:miter lim="800000"/>
            <a:headEnd/>
            <a:tailEnd/>
          </a:ln>
          <a:effectLst/>
        </p:spPr>
        <p:txBody>
          <a:bodyPr wrap="none" anchor="ctr"/>
          <a:lstStyle/>
          <a:p>
            <a:pPr>
              <a:defRPr/>
            </a:pPr>
            <a:endParaRPr lang="en-US"/>
          </a:p>
        </p:txBody>
      </p:sp>
      <p:pic>
        <p:nvPicPr>
          <p:cNvPr id="8" name="Picture 8" descr="FGDClogo_trans"/>
          <p:cNvPicPr>
            <a:picLocks noChangeAspect="1" noChangeArrowheads="1"/>
          </p:cNvPicPr>
          <p:nvPr/>
        </p:nvPicPr>
        <p:blipFill>
          <a:blip r:embed="rId2" cstate="print"/>
          <a:srcRect/>
          <a:stretch>
            <a:fillRect/>
          </a:stretch>
        </p:blipFill>
        <p:spPr bwMode="auto">
          <a:xfrm>
            <a:off x="14288" y="5303838"/>
            <a:ext cx="2244725" cy="1525587"/>
          </a:xfrm>
          <a:prstGeom prst="rect">
            <a:avLst/>
          </a:prstGeom>
          <a:noFill/>
          <a:ln w="9525">
            <a:noFill/>
            <a:miter lim="800000"/>
            <a:headEnd/>
            <a:tailEnd/>
          </a:ln>
        </p:spPr>
      </p:pic>
      <p:sp>
        <p:nvSpPr>
          <p:cNvPr id="9" name="Rectangle 9"/>
          <p:cNvSpPr>
            <a:spLocks noChangeArrowheads="1"/>
          </p:cNvSpPr>
          <p:nvPr/>
        </p:nvSpPr>
        <p:spPr bwMode="auto">
          <a:xfrm>
            <a:off x="952500" y="987879"/>
            <a:ext cx="7810500" cy="1828800"/>
          </a:xfrm>
          <a:prstGeom prst="rect">
            <a:avLst/>
          </a:prstGeom>
          <a:solidFill>
            <a:srgbClr val="6666FF"/>
          </a:solidFill>
          <a:ln w="9525">
            <a:noFill/>
            <a:miter lim="800000"/>
            <a:headEnd/>
            <a:tailEnd/>
          </a:ln>
          <a:effectLst/>
        </p:spPr>
        <p:txBody>
          <a:bodyPr anchor="ctr"/>
          <a:lstStyle/>
          <a:p>
            <a:pPr>
              <a:defRPr/>
            </a:pPr>
            <a:r>
              <a:rPr lang="en-US" sz="3200" b="1" u="none" dirty="0" smtClean="0">
                <a:solidFill>
                  <a:schemeClr val="bg1"/>
                </a:solidFill>
              </a:rPr>
              <a:t>National Spatial Data Infrastructure </a:t>
            </a:r>
            <a:br>
              <a:rPr lang="en-US" sz="3200" b="1" u="none" dirty="0" smtClean="0">
                <a:solidFill>
                  <a:schemeClr val="bg1"/>
                </a:solidFill>
              </a:rPr>
            </a:br>
            <a:r>
              <a:rPr lang="en-US" sz="3200" b="1" u="none" dirty="0" smtClean="0">
                <a:solidFill>
                  <a:schemeClr val="bg1"/>
                </a:solidFill>
              </a:rPr>
              <a:t>Cooperative Agreements Program </a:t>
            </a:r>
            <a:endParaRPr lang="en-US" sz="3200" b="1" u="none" dirty="0"/>
          </a:p>
        </p:txBody>
      </p:sp>
      <p:sp>
        <p:nvSpPr>
          <p:cNvPr id="10" name="Rectangle 2"/>
          <p:cNvSpPr txBox="1">
            <a:spLocks noChangeArrowheads="1"/>
          </p:cNvSpPr>
          <p:nvPr userDrawn="1"/>
        </p:nvSpPr>
        <p:spPr bwMode="auto">
          <a:xfrm>
            <a:off x="4963887" y="4571094"/>
            <a:ext cx="3802742" cy="14087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defRPr sz="2800" baseline="0"/>
            </a:lvl1pPr>
          </a:lstStyle>
          <a:p>
            <a:pPr marL="0" marR="0" lvl="0" indent="0" algn="l" defTabSz="914400" rtl="0" eaLnBrk="0" fontAlgn="base" latinLnBrk="0" hangingPunct="0">
              <a:lnSpc>
                <a:spcPct val="100000"/>
              </a:lnSpc>
              <a:spcBef>
                <a:spcPts val="0"/>
              </a:spcBef>
              <a:spcAft>
                <a:spcPct val="0"/>
              </a:spcAft>
              <a:buClrTx/>
              <a:buSzTx/>
              <a:buFontTx/>
              <a:buNone/>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2011 Webinar</a:t>
            </a:r>
          </a:p>
          <a:p>
            <a:pPr marL="0" marR="0" lvl="0" indent="0" algn="l" defTabSz="914400" rtl="0" eaLnBrk="0" fontAlgn="base" latinLnBrk="0" hangingPunct="0">
              <a:lnSpc>
                <a:spcPct val="100000"/>
              </a:lnSpc>
              <a:spcBef>
                <a:spcPts val="0"/>
              </a:spcBef>
              <a:spcAft>
                <a:spcPct val="0"/>
              </a:spcAft>
              <a:buClrTx/>
              <a:buSzTx/>
              <a:buFontTx/>
              <a:buNone/>
              <a:tabLst/>
              <a:defRPr/>
            </a:pPr>
            <a:r>
              <a:rPr kumimoji="0" lang="en-US" sz="2400" b="0" i="0" u="none" strike="noStrike" kern="0" cap="none" spc="0" normalizeH="0" baseline="0" noProof="0" dirty="0" err="1" smtClean="0">
                <a:ln>
                  <a:noFill/>
                </a:ln>
                <a:solidFill>
                  <a:schemeClr val="tx1"/>
                </a:solidFill>
                <a:effectLst/>
                <a:uLnTx/>
                <a:uFillTx/>
                <a:latin typeface="+mn-lt"/>
                <a:ea typeface="+mn-ea"/>
                <a:cs typeface="+mn-cs"/>
              </a:rPr>
              <a:t>Gita</a:t>
            </a:r>
            <a:r>
              <a:rPr kumimoji="0" lang="en-US" sz="2400" b="0" i="0" u="none" strike="noStrike" kern="0" cap="none" spc="0" normalizeH="0" baseline="0" noProof="0" dirty="0" smtClean="0">
                <a:ln>
                  <a:noFill/>
                </a:ln>
                <a:solidFill>
                  <a:schemeClr val="tx1"/>
                </a:solidFill>
                <a:effectLst/>
                <a:uLnTx/>
                <a:uFillTx/>
                <a:latin typeface="+mn-lt"/>
                <a:ea typeface="+mn-ea"/>
                <a:cs typeface="+mn-cs"/>
              </a:rPr>
              <a:t> Urban-</a:t>
            </a:r>
            <a:r>
              <a:rPr kumimoji="0" lang="en-US" sz="2400" b="0" i="0" u="none" strike="noStrike" kern="0" cap="none" spc="0" normalizeH="0" baseline="0" noProof="0" dirty="0" err="1" smtClean="0">
                <a:ln>
                  <a:noFill/>
                </a:ln>
                <a:solidFill>
                  <a:schemeClr val="tx1"/>
                </a:solidFill>
                <a:effectLst/>
                <a:uLnTx/>
                <a:uFillTx/>
                <a:latin typeface="+mn-lt"/>
                <a:ea typeface="+mn-ea"/>
                <a:cs typeface="+mn-cs"/>
              </a:rPr>
              <a:t>Mathieux</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0"/>
              </a:spcBef>
              <a:spcAft>
                <a:spcPct val="0"/>
              </a:spcAft>
              <a:buClrTx/>
              <a:buSzTx/>
              <a:buFontTx/>
              <a:buNone/>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FGDC Grants Coordinator</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8"/>
          <p:cNvSpPr>
            <a:spLocks noGrp="1" noChangeArrowheads="1"/>
          </p:cNvSpPr>
          <p:nvPr>
            <p:ph type="sldNum" sz="quarter" idx="10"/>
          </p:nvPr>
        </p:nvSpPr>
        <p:spPr>
          <a:ln/>
        </p:spPr>
        <p:txBody>
          <a:bodyPr/>
          <a:lstStyle>
            <a:lvl1pPr>
              <a:defRPr/>
            </a:lvl1pPr>
          </a:lstStyle>
          <a:p>
            <a:pPr>
              <a:defRPr/>
            </a:pPr>
            <a:fld id="{2675615C-132F-4807-8C6B-AEB174D2108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8"/>
          <p:cNvSpPr>
            <a:spLocks noGrp="1" noChangeArrowheads="1"/>
          </p:cNvSpPr>
          <p:nvPr>
            <p:ph type="sldNum" sz="quarter" idx="10"/>
          </p:nvPr>
        </p:nvSpPr>
        <p:spPr>
          <a:ln/>
        </p:spPr>
        <p:txBody>
          <a:bodyPr/>
          <a:lstStyle>
            <a:lvl1pPr>
              <a:defRPr/>
            </a:lvl1pPr>
          </a:lstStyle>
          <a:p>
            <a:pPr>
              <a:defRPr/>
            </a:pPr>
            <a:fld id="{2EF71CED-76C8-4E65-9D75-206087F6BAF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1371600"/>
            <a:ext cx="4114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1371600"/>
            <a:ext cx="4114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8"/>
          <p:cNvSpPr>
            <a:spLocks noGrp="1" noChangeArrowheads="1"/>
          </p:cNvSpPr>
          <p:nvPr>
            <p:ph type="sldNum" sz="quarter" idx="10"/>
          </p:nvPr>
        </p:nvSpPr>
        <p:spPr>
          <a:ln/>
        </p:spPr>
        <p:txBody>
          <a:bodyPr/>
          <a:lstStyle>
            <a:lvl1pPr>
              <a:defRPr/>
            </a:lvl1pPr>
          </a:lstStyle>
          <a:p>
            <a:pPr>
              <a:defRPr/>
            </a:pPr>
            <a:fld id="{53AF56BF-909B-4AC4-AAD6-FE594E5794D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8"/>
          <p:cNvSpPr>
            <a:spLocks noGrp="1" noChangeArrowheads="1"/>
          </p:cNvSpPr>
          <p:nvPr>
            <p:ph type="sldNum" sz="quarter" idx="10"/>
          </p:nvPr>
        </p:nvSpPr>
        <p:spPr>
          <a:ln/>
        </p:spPr>
        <p:txBody>
          <a:bodyPr/>
          <a:lstStyle>
            <a:lvl1pPr>
              <a:defRPr/>
            </a:lvl1pPr>
          </a:lstStyle>
          <a:p>
            <a:pPr>
              <a:defRPr/>
            </a:pPr>
            <a:fld id="{9CBA3D58-15F1-460A-B73F-1F3530DE8A2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8"/>
          <p:cNvSpPr>
            <a:spLocks noGrp="1" noChangeArrowheads="1"/>
          </p:cNvSpPr>
          <p:nvPr>
            <p:ph type="sldNum" sz="quarter" idx="10"/>
          </p:nvPr>
        </p:nvSpPr>
        <p:spPr>
          <a:ln/>
        </p:spPr>
        <p:txBody>
          <a:bodyPr/>
          <a:lstStyle>
            <a:lvl1pPr>
              <a:defRPr/>
            </a:lvl1pPr>
          </a:lstStyle>
          <a:p>
            <a:pPr>
              <a:defRPr/>
            </a:pPr>
            <a:fld id="{2156A5C8-8384-4D22-B8F0-F279CD5B7B7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ED1D0EAF-8EBC-4655-88C8-BF83A80C83A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8"/>
          <p:cNvSpPr>
            <a:spLocks noGrp="1" noChangeArrowheads="1"/>
          </p:cNvSpPr>
          <p:nvPr>
            <p:ph type="sldNum" sz="quarter" idx="10"/>
          </p:nvPr>
        </p:nvSpPr>
        <p:spPr>
          <a:ln/>
        </p:spPr>
        <p:txBody>
          <a:bodyPr/>
          <a:lstStyle>
            <a:lvl1pPr>
              <a:defRPr/>
            </a:lvl1pPr>
          </a:lstStyle>
          <a:p>
            <a:pPr>
              <a:defRPr/>
            </a:pPr>
            <a:fld id="{45A8E1F9-CB54-41D0-BACC-3D2F371F2B0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8"/>
          <p:cNvSpPr>
            <a:spLocks noGrp="1" noChangeArrowheads="1"/>
          </p:cNvSpPr>
          <p:nvPr>
            <p:ph type="sldNum" sz="quarter" idx="10"/>
          </p:nvPr>
        </p:nvSpPr>
        <p:spPr>
          <a:ln/>
        </p:spPr>
        <p:txBody>
          <a:bodyPr/>
          <a:lstStyle>
            <a:lvl1pPr>
              <a:defRPr/>
            </a:lvl1pPr>
          </a:lstStyle>
          <a:p>
            <a:pPr>
              <a:defRPr/>
            </a:pPr>
            <a:fld id="{3CA24B05-E214-4DC2-833B-CAFCBD9F5F3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8"/>
          <p:cNvSpPr>
            <a:spLocks noGrp="1" noChangeArrowheads="1"/>
          </p:cNvSpPr>
          <p:nvPr>
            <p:ph type="sldNum" sz="quarter" idx="10"/>
          </p:nvPr>
        </p:nvSpPr>
        <p:spPr>
          <a:ln/>
        </p:spPr>
        <p:txBody>
          <a:bodyPr/>
          <a:lstStyle>
            <a:lvl1pPr>
              <a:defRPr/>
            </a:lvl1pPr>
          </a:lstStyle>
          <a:p>
            <a:pPr>
              <a:defRPr/>
            </a:pPr>
            <a:fld id="{E970268E-528F-4343-BE82-83D122BE2B1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48500" y="381000"/>
            <a:ext cx="2095500" cy="5867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381000"/>
            <a:ext cx="61341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8"/>
          <p:cNvSpPr>
            <a:spLocks noGrp="1" noChangeArrowheads="1"/>
          </p:cNvSpPr>
          <p:nvPr>
            <p:ph type="sldNum" sz="quarter" idx="10"/>
          </p:nvPr>
        </p:nvSpPr>
        <p:spPr>
          <a:ln/>
        </p:spPr>
        <p:txBody>
          <a:bodyPr/>
          <a:lstStyle>
            <a:lvl1pPr>
              <a:defRPr/>
            </a:lvl1pPr>
          </a:lstStyle>
          <a:p>
            <a:pPr>
              <a:defRPr/>
            </a:pPr>
            <a:fld id="{92D4D9EA-0A50-4062-8A12-01292EC3E94E}"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73914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762000" y="1371600"/>
            <a:ext cx="41148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1371600"/>
            <a:ext cx="41148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8"/>
          <p:cNvSpPr>
            <a:spLocks noGrp="1" noChangeArrowheads="1"/>
          </p:cNvSpPr>
          <p:nvPr>
            <p:ph type="sldNum" sz="quarter" idx="10"/>
          </p:nvPr>
        </p:nvSpPr>
        <p:spPr>
          <a:ln/>
        </p:spPr>
        <p:txBody>
          <a:bodyPr/>
          <a:lstStyle>
            <a:lvl1pPr>
              <a:defRPr/>
            </a:lvl1pPr>
          </a:lstStyle>
          <a:p>
            <a:pPr>
              <a:defRPr/>
            </a:pPr>
            <a:fld id="{8A204580-EF72-4E8A-A4CB-CB4E747E978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0" y="0"/>
            <a:ext cx="9144000" cy="1417638"/>
          </a:xfrm>
          <a:prstGeom prst="rect">
            <a:avLst/>
          </a:prstGeom>
          <a:solidFill>
            <a:srgbClr val="BDBDFF"/>
          </a:solidFill>
          <a:ln w="9525">
            <a:noFill/>
            <a:miter lim="800000"/>
            <a:headEnd/>
            <a:tailEnd/>
          </a:ln>
          <a:effectLst/>
        </p:spPr>
        <p:txBody>
          <a:bodyPr wrap="none" anchor="ctr"/>
          <a:lstStyle/>
          <a:p>
            <a:pPr>
              <a:defRPr/>
            </a:pPr>
            <a:endParaRPr lang="en-US" sz="2400"/>
          </a:p>
        </p:txBody>
      </p:sp>
      <p:sp>
        <p:nvSpPr>
          <p:cNvPr id="33795" name="Rectangle 3"/>
          <p:cNvSpPr>
            <a:spLocks noChangeArrowheads="1"/>
          </p:cNvSpPr>
          <p:nvPr/>
        </p:nvSpPr>
        <p:spPr bwMode="auto">
          <a:xfrm>
            <a:off x="0" y="1119188"/>
            <a:ext cx="784225" cy="5486400"/>
          </a:xfrm>
          <a:prstGeom prst="rect">
            <a:avLst/>
          </a:prstGeom>
          <a:solidFill>
            <a:srgbClr val="BDBDFF"/>
          </a:solidFill>
          <a:ln w="9525">
            <a:noFill/>
            <a:miter lim="800000"/>
            <a:headEnd/>
            <a:tailEnd/>
          </a:ln>
          <a:effectLst/>
        </p:spPr>
        <p:txBody>
          <a:bodyPr wrap="none" anchor="ctr"/>
          <a:lstStyle/>
          <a:p>
            <a:pPr>
              <a:defRPr/>
            </a:pPr>
            <a:endParaRPr lang="en-US"/>
          </a:p>
        </p:txBody>
      </p:sp>
      <p:sp>
        <p:nvSpPr>
          <p:cNvPr id="33796" name="Rectangle 4"/>
          <p:cNvSpPr>
            <a:spLocks noChangeArrowheads="1"/>
          </p:cNvSpPr>
          <p:nvPr/>
        </p:nvSpPr>
        <p:spPr bwMode="auto">
          <a:xfrm>
            <a:off x="0" y="6275388"/>
            <a:ext cx="9144000" cy="588962"/>
          </a:xfrm>
          <a:prstGeom prst="rect">
            <a:avLst/>
          </a:prstGeom>
          <a:solidFill>
            <a:srgbClr val="BDBDFF"/>
          </a:solidFill>
          <a:ln w="9525">
            <a:noFill/>
            <a:miter lim="800000"/>
            <a:headEnd/>
            <a:tailEnd/>
          </a:ln>
          <a:effectLst/>
        </p:spPr>
        <p:txBody>
          <a:bodyPr wrap="none" anchor="ctr"/>
          <a:lstStyle/>
          <a:p>
            <a:pPr>
              <a:defRPr/>
            </a:pPr>
            <a:endParaRPr lang="en-US" sz="1400">
              <a:latin typeface="Bookman Old Style" pitchFamily="18" charset="0"/>
            </a:endParaRPr>
          </a:p>
        </p:txBody>
      </p:sp>
      <p:pic>
        <p:nvPicPr>
          <p:cNvPr id="1029" name="Picture 5" descr="FGDClogo_trans"/>
          <p:cNvPicPr>
            <a:picLocks noChangeAspect="1" noChangeArrowheads="1"/>
          </p:cNvPicPr>
          <p:nvPr/>
        </p:nvPicPr>
        <p:blipFill>
          <a:blip r:embed="rId14" cstate="print"/>
          <a:srcRect/>
          <a:stretch>
            <a:fillRect/>
          </a:stretch>
        </p:blipFill>
        <p:spPr bwMode="auto">
          <a:xfrm>
            <a:off x="123825" y="112713"/>
            <a:ext cx="1376363" cy="935037"/>
          </a:xfrm>
          <a:prstGeom prst="rect">
            <a:avLst/>
          </a:prstGeom>
          <a:noFill/>
          <a:ln w="9525">
            <a:noFill/>
            <a:miter lim="800000"/>
            <a:headEnd/>
            <a:tailEnd/>
          </a:ln>
        </p:spPr>
      </p:pic>
      <p:sp>
        <p:nvSpPr>
          <p:cNvPr id="1030" name="Rectangle 6"/>
          <p:cNvSpPr>
            <a:spLocks noGrp="1" noChangeArrowheads="1"/>
          </p:cNvSpPr>
          <p:nvPr>
            <p:ph type="title"/>
          </p:nvPr>
        </p:nvSpPr>
        <p:spPr bwMode="auto">
          <a:xfrm>
            <a:off x="1752600" y="381000"/>
            <a:ext cx="7391400" cy="609600"/>
          </a:xfrm>
          <a:prstGeom prst="rect">
            <a:avLst/>
          </a:prstGeom>
          <a:solidFill>
            <a:srgbClr val="6666FF"/>
          </a:solidFill>
          <a:ln w="9525">
            <a:noFill/>
            <a:miter lim="800000"/>
            <a:headEnd/>
            <a:tailEnd/>
          </a:ln>
        </p:spPr>
        <p:txBody>
          <a:bodyPr vert="horz" wrap="square" lIns="91440" tIns="45720" rIns="91440" bIns="45720" numCol="1" anchor="ctr" anchorCtr="0" compatLnSpc="1">
            <a:prstTxWarp prst="textNoShape">
              <a:avLst/>
            </a:prstTxWarp>
          </a:bodyPr>
          <a:lstStyle/>
          <a:p>
            <a:pPr lvl="0"/>
            <a:endParaRPr lang="en-US" dirty="0" smtClean="0"/>
          </a:p>
        </p:txBody>
      </p:sp>
      <p:sp>
        <p:nvSpPr>
          <p:cNvPr id="1031" name="Rectangle 7"/>
          <p:cNvSpPr>
            <a:spLocks noGrp="1" noChangeArrowheads="1"/>
          </p:cNvSpPr>
          <p:nvPr>
            <p:ph type="body" idx="1"/>
          </p:nvPr>
        </p:nvSpPr>
        <p:spPr bwMode="auto">
          <a:xfrm>
            <a:off x="762000" y="1371600"/>
            <a:ext cx="83820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3800" name="Rectangle 8"/>
          <p:cNvSpPr>
            <a:spLocks noGrp="1" noChangeArrowheads="1"/>
          </p:cNvSpPr>
          <p:nvPr>
            <p:ph type="sldNum" sz="quarter" idx="4"/>
          </p:nvPr>
        </p:nvSpPr>
        <p:spPr bwMode="auto">
          <a:xfrm>
            <a:off x="70104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183FD0E-3734-43D9-8ECB-C0F221C2098E}" type="slidenum">
              <a:rPr lang="en-US"/>
              <a:pPr>
                <a:defRPr/>
              </a:pPr>
              <a:t>‹#›</a:t>
            </a:fld>
            <a:endParaRPr lang="en-US"/>
          </a:p>
        </p:txBody>
      </p:sp>
      <p:sp>
        <p:nvSpPr>
          <p:cNvPr id="33801" name="Text Box 9"/>
          <p:cNvSpPr txBox="1">
            <a:spLocks noChangeArrowheads="1"/>
          </p:cNvSpPr>
          <p:nvPr/>
        </p:nvSpPr>
        <p:spPr bwMode="auto">
          <a:xfrm>
            <a:off x="0" y="6427788"/>
            <a:ext cx="5373688" cy="304800"/>
          </a:xfrm>
          <a:prstGeom prst="rect">
            <a:avLst/>
          </a:prstGeom>
          <a:solidFill>
            <a:srgbClr val="7D7DFF"/>
          </a:solidFill>
          <a:ln w="9525">
            <a:noFill/>
            <a:miter lim="800000"/>
            <a:headEnd/>
            <a:tailEnd/>
          </a:ln>
          <a:effectLst/>
        </p:spPr>
        <p:txBody>
          <a:bodyPr>
            <a:spAutoFit/>
          </a:bodyPr>
          <a:lstStyle/>
          <a:p>
            <a:pPr>
              <a:defRPr/>
            </a:pPr>
            <a:r>
              <a:rPr lang="en-US" sz="1400">
                <a:latin typeface="Bookman Old Style" pitchFamily="18" charset="0"/>
              </a:rPr>
              <a:t>national spatial data infrastructure training program</a:t>
            </a:r>
          </a:p>
        </p:txBody>
      </p:sp>
      <p:sp>
        <p:nvSpPr>
          <p:cNvPr id="33802" name="Text Box 10"/>
          <p:cNvSpPr txBox="1">
            <a:spLocks noChangeArrowheads="1"/>
          </p:cNvSpPr>
          <p:nvPr/>
        </p:nvSpPr>
        <p:spPr bwMode="auto">
          <a:xfrm>
            <a:off x="1676400" y="76200"/>
            <a:ext cx="7391400" cy="779463"/>
          </a:xfrm>
          <a:prstGeom prst="rect">
            <a:avLst/>
          </a:prstGeom>
          <a:noFill/>
          <a:ln w="9525">
            <a:noFill/>
            <a:miter lim="800000"/>
            <a:headEnd/>
            <a:tailEnd/>
          </a:ln>
          <a:effectLst/>
        </p:spPr>
        <p:txBody>
          <a:bodyPr>
            <a:spAutoFit/>
          </a:bodyPr>
          <a:lstStyle/>
          <a:p>
            <a:pPr>
              <a:spcBef>
                <a:spcPct val="50000"/>
              </a:spcBef>
              <a:defRPr/>
            </a:pPr>
            <a:r>
              <a:rPr lang="en-US" i="1" dirty="0" smtClean="0"/>
              <a:t>NSDI </a:t>
            </a:r>
            <a:r>
              <a:rPr lang="en-US" i="1" dirty="0"/>
              <a:t>Cooperative Agreements </a:t>
            </a:r>
            <a:r>
              <a:rPr lang="en-US" i="1" dirty="0" smtClean="0"/>
              <a:t>Program Webinar</a:t>
            </a:r>
            <a:endParaRPr lang="en-US" i="1" dirty="0"/>
          </a:p>
          <a:p>
            <a:pPr>
              <a:spcBef>
                <a:spcPct val="50000"/>
              </a:spcBef>
              <a:defRPr/>
            </a:pPr>
            <a:endParaRPr lang="en-US" dirty="0"/>
          </a:p>
        </p:txBody>
      </p:sp>
    </p:spTree>
  </p:cSld>
  <p:clrMap bg1="lt1" tx1="dk1" bg2="lt2" tx2="dk2" accent1="accent1" accent2="accent2" accent3="accent3" accent4="accent4" accent5="accent5" accent6="accent6" hlink="hlink" folHlink="folHlink"/>
  <p:sldLayoutIdLst>
    <p:sldLayoutId id="2147483687"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r" rtl="0" eaLnBrk="0" fontAlgn="base" hangingPunct="0">
        <a:spcBef>
          <a:spcPct val="0"/>
        </a:spcBef>
        <a:spcAft>
          <a:spcPct val="0"/>
        </a:spcAft>
        <a:defRPr sz="3200">
          <a:solidFill>
            <a:schemeClr val="bg1"/>
          </a:solidFill>
          <a:latin typeface="+mj-lt"/>
          <a:ea typeface="+mj-ea"/>
          <a:cs typeface="+mj-cs"/>
        </a:defRPr>
      </a:lvl1pPr>
      <a:lvl2pPr algn="r" rtl="0" eaLnBrk="0" fontAlgn="base" hangingPunct="0">
        <a:spcBef>
          <a:spcPct val="0"/>
        </a:spcBef>
        <a:spcAft>
          <a:spcPct val="0"/>
        </a:spcAft>
        <a:defRPr sz="3200">
          <a:solidFill>
            <a:schemeClr val="bg1"/>
          </a:solidFill>
          <a:latin typeface="Arial" charset="0"/>
        </a:defRPr>
      </a:lvl2pPr>
      <a:lvl3pPr algn="r" rtl="0" eaLnBrk="0" fontAlgn="base" hangingPunct="0">
        <a:spcBef>
          <a:spcPct val="0"/>
        </a:spcBef>
        <a:spcAft>
          <a:spcPct val="0"/>
        </a:spcAft>
        <a:defRPr sz="3200">
          <a:solidFill>
            <a:schemeClr val="bg1"/>
          </a:solidFill>
          <a:latin typeface="Arial" charset="0"/>
        </a:defRPr>
      </a:lvl3pPr>
      <a:lvl4pPr algn="r" rtl="0" eaLnBrk="0" fontAlgn="base" hangingPunct="0">
        <a:spcBef>
          <a:spcPct val="0"/>
        </a:spcBef>
        <a:spcAft>
          <a:spcPct val="0"/>
        </a:spcAft>
        <a:defRPr sz="3200">
          <a:solidFill>
            <a:schemeClr val="bg1"/>
          </a:solidFill>
          <a:latin typeface="Arial" charset="0"/>
        </a:defRPr>
      </a:lvl4pPr>
      <a:lvl5pPr algn="r" rtl="0" eaLnBrk="0" fontAlgn="base" hangingPunct="0">
        <a:spcBef>
          <a:spcPct val="0"/>
        </a:spcBef>
        <a:spcAft>
          <a:spcPct val="0"/>
        </a:spcAft>
        <a:defRPr sz="3200">
          <a:solidFill>
            <a:schemeClr val="bg1"/>
          </a:solidFill>
          <a:latin typeface="Arial" charset="0"/>
        </a:defRPr>
      </a:lvl5pPr>
      <a:lvl6pPr marL="457200" algn="r" rtl="0" fontAlgn="base">
        <a:spcBef>
          <a:spcPct val="0"/>
        </a:spcBef>
        <a:spcAft>
          <a:spcPct val="0"/>
        </a:spcAft>
        <a:defRPr sz="3200">
          <a:solidFill>
            <a:schemeClr val="bg1"/>
          </a:solidFill>
          <a:latin typeface="Arial" charset="0"/>
        </a:defRPr>
      </a:lvl6pPr>
      <a:lvl7pPr marL="914400" algn="r" rtl="0" fontAlgn="base">
        <a:spcBef>
          <a:spcPct val="0"/>
        </a:spcBef>
        <a:spcAft>
          <a:spcPct val="0"/>
        </a:spcAft>
        <a:defRPr sz="3200">
          <a:solidFill>
            <a:schemeClr val="bg1"/>
          </a:solidFill>
          <a:latin typeface="Arial" charset="0"/>
        </a:defRPr>
      </a:lvl7pPr>
      <a:lvl8pPr marL="1371600" algn="r" rtl="0" fontAlgn="base">
        <a:spcBef>
          <a:spcPct val="0"/>
        </a:spcBef>
        <a:spcAft>
          <a:spcPct val="0"/>
        </a:spcAft>
        <a:defRPr sz="3200">
          <a:solidFill>
            <a:schemeClr val="bg1"/>
          </a:solidFill>
          <a:latin typeface="Arial" charset="0"/>
        </a:defRPr>
      </a:lvl8pPr>
      <a:lvl9pPr marL="1828800" algn="r" rtl="0" fontAlgn="base">
        <a:spcBef>
          <a:spcPct val="0"/>
        </a:spcBef>
        <a:spcAft>
          <a:spcPct val="0"/>
        </a:spcAft>
        <a:defRPr sz="3200">
          <a:solidFill>
            <a:schemeClr val="bg1"/>
          </a:solidFill>
          <a:latin typeface="Arial" charset="0"/>
        </a:defRPr>
      </a:lvl9pPr>
    </p:titleStyle>
    <p:body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15"/>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www.fgdc.gov/grants/2012CAP/2012CAPDescription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usgs.gov/contracts/grants/grantsgov.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grants.gov/"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grants.gov/"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hyperlink" Target="http://www07.grants.gov/applicants/organization_registration.jsp"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hyperlink" Target="http://www.dnb.com/"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2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3.xml.rels><?xml version="1.0" encoding="UTF-8" standalone="yes"?>
<Relationships xmlns="http://schemas.openxmlformats.org/package/2006/relationships"><Relationship Id="rId3" Type="http://schemas.openxmlformats.org/officeDocument/2006/relationships/hyperlink" Target="http://www.ccr.gov/"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0.gif"/><Relationship Id="rId4" Type="http://schemas.openxmlformats.org/officeDocument/2006/relationships/image" Target="../media/image9.gif"/></Relationships>
</file>

<file path=ppt/slides/_rels/slide24.xml.rels><?xml version="1.0" encoding="UTF-8" standalone="yes"?>
<Relationships xmlns="http://schemas.openxmlformats.org/package/2006/relationships"><Relationship Id="rId3" Type="http://schemas.openxmlformats.org/officeDocument/2006/relationships/hyperlink" Target="https://apply07.grants.gov/apply/OrcRegister"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07.grants.gov/applicants/applicant_profile.jsp"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grants.gov/applicants/apply_for_grants.jsp"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www.grants.gov/applicants/AdobeVersioningTestOnly.jsp"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www.grants.gov/applicants/apply_for_grants.jsp"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hyperlink" Target="http://grants.gov/" TargetMode="External"/><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apply07.grants.gov/apply/checkApplStatus.faces"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www.grants.gov/assets/TrackingYourApplicationPackage.pdf"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liaisons.usgs.gov/geospatial"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www.fgdc.gov/grants/2012CAP/2012CAPDescriptions" TargetMode="External"/><Relationship Id="rId4" Type="http://schemas.openxmlformats.org/officeDocument/2006/relationships/hyperlink" Target="http://www.fgdc.gov/grants"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4.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hyperlink" Target="http://www.fgdc.gov/grants" TargetMode="External"/><Relationship Id="rId7" Type="http://schemas.openxmlformats.org/officeDocument/2006/relationships/hyperlink" Target="http://www.fgdc.gov/grants/2012CAP/FAQ_2012NSDICAP"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hyperlink" Target="http://www.usgs.gov/contracts/grants/grantsgov.html" TargetMode="External"/><Relationship Id="rId5" Type="http://schemas.openxmlformats.org/officeDocument/2006/relationships/hyperlink" Target="http://www.grants.gov/applicants/app_help_reso.jsp" TargetMode="External"/><Relationship Id="rId4" Type="http://schemas.openxmlformats.org/officeDocument/2006/relationships/hyperlink" Target="http://www.grants.gov/"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mailto:burbanma@fgdc.gov"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hyperlink" Target="http://www.usda.gov/oc/photo/00di0877.htm"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2.png"/><Relationship Id="rId7" Type="http://schemas.openxmlformats.org/officeDocument/2006/relationships/image" Target="../media/image21.wmf"/><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hyperlink" Target="http://www.fgdc.gov/grants/2012CAP/FAQ_2012NSDICAP" TargetMode="External"/><Relationship Id="rId4" Type="http://schemas.openxmlformats.org/officeDocument/2006/relationships/hyperlink" Target="mailto:burbanma@fgdc.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944915" y="3068864"/>
            <a:ext cx="5950858" cy="1067707"/>
          </a:xfrm>
          <a:prstGeom prst="rect">
            <a:avLst/>
          </a:prstGeom>
        </p:spPr>
        <p:txBody>
          <a:bodyPr/>
          <a:lstStyle>
            <a:lvl1pPr marL="0" indent="0" algn="l" rtl="0" eaLnBrk="0" fontAlgn="base" hangingPunct="0">
              <a:spcBef>
                <a:spcPct val="20000"/>
              </a:spcBef>
              <a:spcAft>
                <a:spcPct val="0"/>
              </a:spcAft>
              <a:defRPr sz="2800" baseline="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r>
              <a:rPr lang="en-US" smtClean="0"/>
              <a:t>An introduction to the program and how to submit a proposal</a:t>
            </a:r>
          </a:p>
          <a:p>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0"/>
          </p:nvPr>
        </p:nvSpPr>
        <p:spPr>
          <a:noFill/>
        </p:spPr>
        <p:txBody>
          <a:bodyPr/>
          <a:lstStyle/>
          <a:p>
            <a:fld id="{0DBCE575-40A7-4D83-82E0-5894B557E604}" type="slidenum">
              <a:rPr lang="en-US" smtClean="0"/>
              <a:pPr/>
              <a:t>1</a:t>
            </a:fld>
            <a:endParaRPr lang="en-US" smtClean="0"/>
          </a:p>
        </p:txBody>
      </p:sp>
      <p:sp>
        <p:nvSpPr>
          <p:cNvPr id="4099" name="Rectangle 2"/>
          <p:cNvSpPr>
            <a:spLocks noGrp="1" noChangeArrowheads="1"/>
          </p:cNvSpPr>
          <p:nvPr>
            <p:ph type="title"/>
          </p:nvPr>
        </p:nvSpPr>
        <p:spPr/>
        <p:txBody>
          <a:bodyPr/>
          <a:lstStyle/>
          <a:p>
            <a:pPr eaLnBrk="1" hangingPunct="1"/>
            <a:r>
              <a:rPr lang="en-US" dirty="0" smtClean="0"/>
              <a:t>Objectives</a:t>
            </a:r>
          </a:p>
        </p:txBody>
      </p:sp>
      <p:sp>
        <p:nvSpPr>
          <p:cNvPr id="4100" name="Rectangle 3"/>
          <p:cNvSpPr>
            <a:spLocks noGrp="1" noChangeArrowheads="1"/>
          </p:cNvSpPr>
          <p:nvPr>
            <p:ph type="body" idx="1"/>
          </p:nvPr>
        </p:nvSpPr>
        <p:spPr>
          <a:xfrm>
            <a:off x="784225" y="1566863"/>
            <a:ext cx="8359775" cy="4708525"/>
          </a:xfrm>
        </p:spPr>
        <p:txBody>
          <a:bodyPr/>
          <a:lstStyle/>
          <a:p>
            <a:pPr marL="182563" indent="-182563" eaLnBrk="1" hangingPunct="1">
              <a:spcAft>
                <a:spcPts val="1200"/>
              </a:spcAft>
            </a:pPr>
            <a:r>
              <a:rPr lang="en-US" dirty="0" smtClean="0"/>
              <a:t>Webinar  Agenda</a:t>
            </a:r>
          </a:p>
          <a:p>
            <a:pPr lvl="3" eaLnBrk="1" hangingPunct="1">
              <a:buFont typeface="Arial" pitchFamily="34" charset="0"/>
              <a:buChar char="•"/>
            </a:pPr>
            <a:r>
              <a:rPr lang="en-US" dirty="0" smtClean="0"/>
              <a:t>What is the NSDI CAP?</a:t>
            </a:r>
          </a:p>
          <a:p>
            <a:pPr lvl="3" eaLnBrk="1" hangingPunct="1">
              <a:buFont typeface="Arial" pitchFamily="34" charset="0"/>
              <a:buChar char="•"/>
            </a:pPr>
            <a:r>
              <a:rPr lang="en-US" dirty="0" smtClean="0"/>
              <a:t>Why is there an NSDI CAP?</a:t>
            </a:r>
          </a:p>
          <a:p>
            <a:pPr lvl="3" eaLnBrk="1" hangingPunct="1">
              <a:buFont typeface="Arial" pitchFamily="34" charset="0"/>
              <a:buChar char="•"/>
            </a:pPr>
            <a:r>
              <a:rPr lang="en-US" dirty="0" smtClean="0"/>
              <a:t>Who can participate?</a:t>
            </a:r>
          </a:p>
          <a:p>
            <a:pPr lvl="3" eaLnBrk="1" hangingPunct="1">
              <a:buFont typeface="Arial" pitchFamily="34" charset="0"/>
              <a:buChar char="•"/>
            </a:pPr>
            <a:r>
              <a:rPr lang="en-US" dirty="0" smtClean="0"/>
              <a:t>NSDI CAP categories</a:t>
            </a:r>
          </a:p>
          <a:p>
            <a:pPr lvl="3" eaLnBrk="1" hangingPunct="1">
              <a:buFont typeface="Arial" pitchFamily="34" charset="0"/>
              <a:buChar char="•"/>
            </a:pPr>
            <a:r>
              <a:rPr lang="en-US" dirty="0" smtClean="0"/>
              <a:t>NSDI CAP funding</a:t>
            </a:r>
          </a:p>
          <a:p>
            <a:pPr lvl="3" eaLnBrk="1" hangingPunct="1">
              <a:buFont typeface="Arial" pitchFamily="34" charset="0"/>
              <a:buChar char="•"/>
            </a:pPr>
            <a:r>
              <a:rPr lang="en-US" dirty="0" smtClean="0"/>
              <a:t>Steps for proposal submission via Grants.gov</a:t>
            </a:r>
          </a:p>
          <a:p>
            <a:pPr lvl="3" eaLnBrk="1" hangingPunct="1">
              <a:buFont typeface="Arial" pitchFamily="34" charset="0"/>
              <a:buChar char="•"/>
            </a:pPr>
            <a:r>
              <a:rPr lang="en-US" dirty="0" smtClean="0"/>
              <a:t>Proposal components and forms</a:t>
            </a:r>
          </a:p>
          <a:p>
            <a:pPr lvl="3" eaLnBrk="1" hangingPunct="1">
              <a:buFont typeface="Arial" pitchFamily="34" charset="0"/>
              <a:buChar char="•"/>
            </a:pPr>
            <a:r>
              <a:rPr lang="en-US" dirty="0" smtClean="0"/>
              <a:t>Where to get help</a:t>
            </a:r>
          </a:p>
          <a:p>
            <a:pPr lvl="3" eaLnBrk="1" hangingPunct="1">
              <a:buFont typeface="Arial" pitchFamily="34" charset="0"/>
              <a:buChar char="•"/>
            </a:pPr>
            <a:r>
              <a:rPr lang="en-US" dirty="0" smtClean="0"/>
              <a:t>Proposal tracking</a:t>
            </a:r>
          </a:p>
          <a:p>
            <a:pPr lvl="3" eaLnBrk="1" hangingPunct="1">
              <a:buFont typeface="Arial" pitchFamily="34" charset="0"/>
              <a:buChar char="•"/>
            </a:pPr>
            <a:r>
              <a:rPr lang="en-US" dirty="0" smtClean="0"/>
              <a:t>Proposal review and selection</a:t>
            </a:r>
          </a:p>
          <a:p>
            <a:pPr marL="182563" indent="-182563" eaLnBrk="1" hangingPunct="1"/>
            <a:endParaRPr lang="en-US" dirty="0" smtClean="0"/>
          </a:p>
        </p:txBody>
      </p:sp>
      <p:pic>
        <p:nvPicPr>
          <p:cNvPr id="5" name="Picture 4" descr="NDSI Logo"/>
          <p:cNvPicPr/>
          <p:nvPr/>
        </p:nvPicPr>
        <p:blipFill>
          <a:blip r:embed="rId3" cstate="print"/>
          <a:srcRect/>
          <a:stretch>
            <a:fillRect/>
          </a:stretch>
        </p:blipFill>
        <p:spPr bwMode="auto">
          <a:xfrm>
            <a:off x="6865254" y="1614400"/>
            <a:ext cx="2072277" cy="20722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0"/>
          </p:nvPr>
        </p:nvSpPr>
        <p:spPr>
          <a:noFill/>
        </p:spPr>
        <p:txBody>
          <a:bodyPr/>
          <a:lstStyle/>
          <a:p>
            <a:fld id="{78DAAD72-E7C5-4DB6-B68C-BAE3FAF32BC1}" type="slidenum">
              <a:rPr lang="en-US" smtClean="0"/>
              <a:pPr/>
              <a:t>2</a:t>
            </a:fld>
            <a:endParaRPr lang="en-US" smtClean="0"/>
          </a:p>
        </p:txBody>
      </p:sp>
      <p:sp>
        <p:nvSpPr>
          <p:cNvPr id="5123" name="Rectangle 2"/>
          <p:cNvSpPr>
            <a:spLocks noGrp="1" noChangeArrowheads="1"/>
          </p:cNvSpPr>
          <p:nvPr>
            <p:ph type="title"/>
          </p:nvPr>
        </p:nvSpPr>
        <p:spPr/>
        <p:txBody>
          <a:bodyPr/>
          <a:lstStyle/>
          <a:p>
            <a:pPr eaLnBrk="1" hangingPunct="1"/>
            <a:r>
              <a:rPr lang="en-US" smtClean="0"/>
              <a:t>What is the NSDI CAP?</a:t>
            </a:r>
          </a:p>
        </p:txBody>
      </p:sp>
      <p:sp>
        <p:nvSpPr>
          <p:cNvPr id="5124" name="Rectangle 3"/>
          <p:cNvSpPr>
            <a:spLocks noGrp="1" noChangeArrowheads="1"/>
          </p:cNvSpPr>
          <p:nvPr>
            <p:ph type="body" idx="1"/>
          </p:nvPr>
        </p:nvSpPr>
        <p:spPr>
          <a:xfrm>
            <a:off x="784225" y="1566863"/>
            <a:ext cx="8359775" cy="4708525"/>
          </a:xfrm>
        </p:spPr>
        <p:txBody>
          <a:bodyPr/>
          <a:lstStyle/>
          <a:p>
            <a:pPr marL="182563" indent="-182563" eaLnBrk="1" hangingPunct="1">
              <a:lnSpc>
                <a:spcPct val="110000"/>
              </a:lnSpc>
            </a:pPr>
            <a:r>
              <a:rPr lang="en-US" sz="2600" dirty="0" smtClean="0"/>
              <a:t>The NSDI Cooperative Agreements Program (CAP) is:</a:t>
            </a:r>
          </a:p>
          <a:p>
            <a:pPr marL="574675" lvl="1" indent="-277813" eaLnBrk="1" hangingPunct="1">
              <a:lnSpc>
                <a:spcPct val="105000"/>
              </a:lnSpc>
              <a:spcBef>
                <a:spcPct val="50000"/>
              </a:spcBef>
            </a:pPr>
            <a:r>
              <a:rPr lang="en-US" sz="2000" dirty="0" smtClean="0"/>
              <a:t>an annual program to assist the geospatial data community in implementing the components of the NSDI by providing funding and other resources </a:t>
            </a:r>
          </a:p>
          <a:p>
            <a:pPr marL="574675" lvl="1" indent="-277813" eaLnBrk="1" hangingPunct="1">
              <a:lnSpc>
                <a:spcPct val="105000"/>
              </a:lnSpc>
              <a:spcBef>
                <a:spcPct val="50000"/>
              </a:spcBef>
            </a:pPr>
            <a:r>
              <a:rPr lang="en-US" sz="2000" dirty="0" smtClean="0"/>
              <a:t>Federal Geographic Data Committee (FGDC), U.S. Geological Survey</a:t>
            </a:r>
          </a:p>
          <a:p>
            <a:pPr marL="574675" lvl="1" indent="-277813" eaLnBrk="1" hangingPunct="1">
              <a:lnSpc>
                <a:spcPct val="105000"/>
              </a:lnSpc>
              <a:spcBef>
                <a:spcPct val="50000"/>
              </a:spcBef>
            </a:pPr>
            <a:r>
              <a:rPr lang="en-US" sz="2000" dirty="0" smtClean="0"/>
              <a:t>benefit the overall geospatial community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p>
            <a:fld id="{50B0CF25-D24C-47FC-8245-0D92475C7E57}" type="slidenum">
              <a:rPr lang="en-US" smtClean="0"/>
              <a:pPr/>
              <a:t>3</a:t>
            </a:fld>
            <a:endParaRPr lang="en-US" smtClean="0"/>
          </a:p>
        </p:txBody>
      </p:sp>
      <p:sp>
        <p:nvSpPr>
          <p:cNvPr id="6147" name="Rectangle 2"/>
          <p:cNvSpPr>
            <a:spLocks noGrp="1" noChangeArrowheads="1"/>
          </p:cNvSpPr>
          <p:nvPr>
            <p:ph type="title"/>
          </p:nvPr>
        </p:nvSpPr>
        <p:spPr/>
        <p:txBody>
          <a:bodyPr/>
          <a:lstStyle/>
          <a:p>
            <a:pPr eaLnBrk="1" hangingPunct="1"/>
            <a:r>
              <a:rPr lang="en-US" smtClean="0"/>
              <a:t>What is the NSDI CAP?</a:t>
            </a:r>
          </a:p>
        </p:txBody>
      </p:sp>
      <p:sp>
        <p:nvSpPr>
          <p:cNvPr id="6148" name="Rectangle 3"/>
          <p:cNvSpPr>
            <a:spLocks noGrp="1" noChangeArrowheads="1"/>
          </p:cNvSpPr>
          <p:nvPr>
            <p:ph type="body" idx="1"/>
          </p:nvPr>
        </p:nvSpPr>
        <p:spPr>
          <a:xfrm>
            <a:off x="784225" y="1566863"/>
            <a:ext cx="8359775" cy="4708525"/>
          </a:xfrm>
        </p:spPr>
        <p:txBody>
          <a:bodyPr/>
          <a:lstStyle/>
          <a:p>
            <a:pPr marL="182563" indent="-182563" eaLnBrk="1" hangingPunct="1">
              <a:lnSpc>
                <a:spcPct val="110000"/>
              </a:lnSpc>
            </a:pPr>
            <a:r>
              <a:rPr lang="en-US" dirty="0" smtClean="0"/>
              <a:t>NSDI CAP areas of emphasis </a:t>
            </a:r>
            <a:r>
              <a:rPr lang="en-US" sz="2600" dirty="0" smtClean="0"/>
              <a:t>:</a:t>
            </a:r>
          </a:p>
        </p:txBody>
      </p:sp>
      <p:graphicFrame>
        <p:nvGraphicFramePr>
          <p:cNvPr id="5" name="Diagram 4"/>
          <p:cNvGraphicFramePr/>
          <p:nvPr>
            <p:extLst>
              <p:ext uri="{D42A27DB-BD31-4B8C-83A1-F6EECF244321}">
                <p14:modId xmlns:p14="http://schemas.microsoft.com/office/powerpoint/2010/main" val="3351684044"/>
              </p:ext>
            </p:extLst>
          </p:nvPr>
        </p:nvGraphicFramePr>
        <p:xfrm>
          <a:off x="1306286" y="2278741"/>
          <a:ext cx="6937828" cy="3661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p>
            <a:fld id="{43C735AF-4394-43B2-A717-3899D9FA5DC9}" type="slidenum">
              <a:rPr lang="en-US" smtClean="0"/>
              <a:pPr/>
              <a:t>4</a:t>
            </a:fld>
            <a:endParaRPr lang="en-US" smtClean="0"/>
          </a:p>
        </p:txBody>
      </p:sp>
      <p:sp>
        <p:nvSpPr>
          <p:cNvPr id="7171" name="Rectangle 2"/>
          <p:cNvSpPr>
            <a:spLocks noGrp="1" noChangeArrowheads="1"/>
          </p:cNvSpPr>
          <p:nvPr>
            <p:ph type="title"/>
          </p:nvPr>
        </p:nvSpPr>
        <p:spPr/>
        <p:txBody>
          <a:bodyPr/>
          <a:lstStyle/>
          <a:p>
            <a:pPr eaLnBrk="1" hangingPunct="1"/>
            <a:r>
              <a:rPr lang="en-US" smtClean="0"/>
              <a:t>What NSDI CAP is Not</a:t>
            </a:r>
          </a:p>
        </p:txBody>
      </p:sp>
      <p:sp>
        <p:nvSpPr>
          <p:cNvPr id="7172" name="Rectangle 3"/>
          <p:cNvSpPr>
            <a:spLocks noGrp="1" noChangeArrowheads="1"/>
          </p:cNvSpPr>
          <p:nvPr>
            <p:ph type="body" idx="1"/>
          </p:nvPr>
        </p:nvSpPr>
        <p:spPr>
          <a:xfrm>
            <a:off x="784225" y="1566863"/>
            <a:ext cx="8359775" cy="4708525"/>
          </a:xfrm>
        </p:spPr>
        <p:txBody>
          <a:bodyPr/>
          <a:lstStyle/>
          <a:p>
            <a:pPr marL="182563" indent="-182563" eaLnBrk="1" hangingPunct="1">
              <a:spcBef>
                <a:spcPct val="50000"/>
              </a:spcBef>
            </a:pPr>
            <a:r>
              <a:rPr lang="en-US" dirty="0" smtClean="0"/>
              <a:t>The NSDI CAP does </a:t>
            </a:r>
            <a:r>
              <a:rPr lang="en-US" u="sng" dirty="0" smtClean="0"/>
              <a:t>not</a:t>
            </a:r>
            <a:r>
              <a:rPr lang="en-US" dirty="0" smtClean="0"/>
              <a:t> support projects that are:</a:t>
            </a:r>
          </a:p>
          <a:p>
            <a:pPr marL="574675" lvl="1" indent="-277813" eaLnBrk="1" hangingPunct="1">
              <a:spcBef>
                <a:spcPct val="50000"/>
              </a:spcBef>
            </a:pPr>
            <a:r>
              <a:rPr lang="en-US" dirty="0" smtClean="0"/>
              <a:t>data collection efforts</a:t>
            </a:r>
          </a:p>
          <a:p>
            <a:pPr marL="574675" lvl="1" indent="-277813" eaLnBrk="1" hangingPunct="1">
              <a:spcBef>
                <a:spcPct val="50000"/>
              </a:spcBef>
            </a:pPr>
            <a:r>
              <a:rPr lang="en-US" dirty="0" smtClean="0"/>
              <a:t>data purchases</a:t>
            </a:r>
          </a:p>
          <a:p>
            <a:pPr marL="574675" lvl="1" indent="-277813" eaLnBrk="1" hangingPunct="1">
              <a:spcBef>
                <a:spcPct val="50000"/>
              </a:spcBef>
            </a:pPr>
            <a:r>
              <a:rPr lang="en-US" dirty="0" smtClean="0"/>
              <a:t>GIS start-ups</a:t>
            </a:r>
          </a:p>
          <a:p>
            <a:pPr marL="574675" lvl="1" indent="-277813" eaLnBrk="1" hangingPunct="1">
              <a:spcBef>
                <a:spcPct val="50000"/>
              </a:spcBef>
            </a:pPr>
            <a:r>
              <a:rPr lang="en-US" dirty="0" smtClean="0"/>
              <a:t>agency specific or of limited value to other NSDI stakeholders</a:t>
            </a:r>
          </a:p>
          <a:p>
            <a:pPr marL="182563" indent="-182563" eaLnBrk="1" hangingPunct="1">
              <a:spcBef>
                <a:spcPct val="50000"/>
              </a:spcBef>
            </a:pPr>
            <a:endParaRPr lang="en-US" dirty="0" smtClean="0"/>
          </a:p>
        </p:txBody>
      </p:sp>
      <p:pic>
        <p:nvPicPr>
          <p:cNvPr id="5" name="Picture 2" descr="C:\Users\burbanma\AppData\Local\Microsoft\Windows\Temporary Internet Files\Content.IE5\7O0FO8M5\MC900030187[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2249" y="4826980"/>
            <a:ext cx="966117" cy="978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p:spPr>
        <p:txBody>
          <a:bodyPr/>
          <a:lstStyle/>
          <a:p>
            <a:fld id="{9C497665-BFAA-4FAF-B8D3-4E6EBB9F75AC}" type="slidenum">
              <a:rPr lang="en-US" smtClean="0"/>
              <a:pPr/>
              <a:t>5</a:t>
            </a:fld>
            <a:endParaRPr lang="en-US" smtClean="0"/>
          </a:p>
        </p:txBody>
      </p:sp>
      <p:sp>
        <p:nvSpPr>
          <p:cNvPr id="8195" name="Rectangle 2"/>
          <p:cNvSpPr>
            <a:spLocks noGrp="1" noChangeArrowheads="1"/>
          </p:cNvSpPr>
          <p:nvPr>
            <p:ph type="title"/>
          </p:nvPr>
        </p:nvSpPr>
        <p:spPr/>
        <p:txBody>
          <a:bodyPr/>
          <a:lstStyle/>
          <a:p>
            <a:pPr eaLnBrk="1" hangingPunct="1"/>
            <a:r>
              <a:rPr lang="en-US" smtClean="0"/>
              <a:t>Why is there an NSDI CAP?</a:t>
            </a:r>
          </a:p>
        </p:txBody>
      </p:sp>
      <p:sp>
        <p:nvSpPr>
          <p:cNvPr id="8196" name="Rectangle 3"/>
          <p:cNvSpPr>
            <a:spLocks noGrp="1" noChangeArrowheads="1"/>
          </p:cNvSpPr>
          <p:nvPr>
            <p:ph type="body" idx="1"/>
          </p:nvPr>
        </p:nvSpPr>
        <p:spPr>
          <a:xfrm>
            <a:off x="784225" y="1378857"/>
            <a:ext cx="8359775" cy="4896531"/>
          </a:xfrm>
        </p:spPr>
        <p:txBody>
          <a:bodyPr/>
          <a:lstStyle/>
          <a:p>
            <a:pPr marL="182563" indent="-182563" eaLnBrk="1" hangingPunct="1">
              <a:spcBef>
                <a:spcPct val="50000"/>
              </a:spcBef>
            </a:pPr>
            <a:r>
              <a:rPr lang="en-US" dirty="0" smtClean="0"/>
              <a:t>The NSDI CAP is intended to:</a:t>
            </a:r>
          </a:p>
        </p:txBody>
      </p:sp>
      <p:graphicFrame>
        <p:nvGraphicFramePr>
          <p:cNvPr id="5" name="Diagram 4"/>
          <p:cNvGraphicFramePr/>
          <p:nvPr>
            <p:extLst>
              <p:ext uri="{D42A27DB-BD31-4B8C-83A1-F6EECF244321}">
                <p14:modId xmlns:p14="http://schemas.microsoft.com/office/powerpoint/2010/main" val="3120480642"/>
              </p:ext>
            </p:extLst>
          </p:nvPr>
        </p:nvGraphicFramePr>
        <p:xfrm>
          <a:off x="1632857" y="1991697"/>
          <a:ext cx="6560456" cy="4165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3976914" y="3846282"/>
            <a:ext cx="1901372" cy="461665"/>
          </a:xfrm>
          <a:prstGeom prst="rect">
            <a:avLst/>
          </a:prstGeom>
          <a:solidFill>
            <a:schemeClr val="accent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400" b="1" dirty="0" smtClean="0">
                <a:latin typeface="Rockwell" pitchFamily="18" charset="0"/>
              </a:rPr>
              <a:t>SDI Model</a:t>
            </a:r>
            <a:endParaRPr lang="en-US" sz="2400" b="1" dirty="0">
              <a:latin typeface="Rockwell"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p>
            <a:fld id="{DD34543B-6A7D-4E67-B6B3-2CBCF95246D7}" type="slidenum">
              <a:rPr lang="en-US" smtClean="0"/>
              <a:pPr/>
              <a:t>6</a:t>
            </a:fld>
            <a:endParaRPr lang="en-US" smtClean="0"/>
          </a:p>
        </p:txBody>
      </p:sp>
      <p:sp>
        <p:nvSpPr>
          <p:cNvPr id="9219" name="Rectangle 2"/>
          <p:cNvSpPr>
            <a:spLocks noGrp="1" noChangeArrowheads="1"/>
          </p:cNvSpPr>
          <p:nvPr>
            <p:ph type="title"/>
          </p:nvPr>
        </p:nvSpPr>
        <p:spPr/>
        <p:txBody>
          <a:bodyPr/>
          <a:lstStyle/>
          <a:p>
            <a:pPr eaLnBrk="1" hangingPunct="1"/>
            <a:r>
              <a:rPr lang="en-US" smtClean="0"/>
              <a:t>What is a ‘Cooperative Agreement’?</a:t>
            </a:r>
          </a:p>
        </p:txBody>
      </p:sp>
      <p:sp>
        <p:nvSpPr>
          <p:cNvPr id="6" name="Rectangle 3"/>
          <p:cNvSpPr txBox="1">
            <a:spLocks noChangeArrowheads="1"/>
          </p:cNvSpPr>
          <p:nvPr/>
        </p:nvSpPr>
        <p:spPr bwMode="auto">
          <a:xfrm>
            <a:off x="784225" y="1566863"/>
            <a:ext cx="8359775" cy="4708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marL="182563" indent="-182563" eaLnBrk="1" hangingPunct="1">
              <a:spcBef>
                <a:spcPct val="50000"/>
              </a:spcBef>
            </a:pPr>
            <a:r>
              <a:rPr lang="en-US" dirty="0" smtClean="0"/>
              <a:t>Cooperative Agreement </a:t>
            </a:r>
          </a:p>
          <a:p>
            <a:pPr marL="574675" lvl="1" indent="-277813" eaLnBrk="1" hangingPunct="1">
              <a:spcBef>
                <a:spcPct val="50000"/>
              </a:spcBef>
            </a:pPr>
            <a:r>
              <a:rPr lang="en-US" dirty="0" smtClean="0"/>
              <a:t>Substantial involvement by the Federal Government </a:t>
            </a:r>
          </a:p>
          <a:p>
            <a:pPr marL="1031875" lvl="2" indent="-277813" eaLnBrk="1" hangingPunct="1">
              <a:spcBef>
                <a:spcPct val="50000"/>
              </a:spcBef>
            </a:pPr>
            <a:r>
              <a:rPr lang="en-US" dirty="0" smtClean="0"/>
              <a:t>regular teleconferences</a:t>
            </a:r>
          </a:p>
          <a:p>
            <a:pPr marL="1031875" lvl="2" indent="-277813" eaLnBrk="1" hangingPunct="1">
              <a:spcBef>
                <a:spcPct val="50000"/>
              </a:spcBef>
            </a:pPr>
            <a:r>
              <a:rPr lang="en-US" dirty="0" smtClean="0"/>
              <a:t>technical support</a:t>
            </a:r>
          </a:p>
          <a:p>
            <a:pPr marL="1031875" lvl="2" indent="-277813" eaLnBrk="1" hangingPunct="1">
              <a:spcBef>
                <a:spcPct val="50000"/>
              </a:spcBef>
            </a:pPr>
            <a:r>
              <a:rPr lang="en-US" dirty="0" smtClean="0"/>
              <a:t>administrative assistance in resolving issues</a:t>
            </a:r>
          </a:p>
          <a:p>
            <a:pPr marL="574675" lvl="1" indent="-277813" eaLnBrk="1" hangingPunct="1">
              <a:spcBef>
                <a:spcPct val="50000"/>
              </a:spcBef>
            </a:pPr>
            <a:r>
              <a:rPr lang="en-US" dirty="0" smtClean="0"/>
              <a:t>Not involved in day-to-day business</a:t>
            </a:r>
          </a:p>
          <a:p>
            <a:pPr marL="296862" lvl="1" indent="0" eaLnBrk="1" hangingPunct="1">
              <a:spcBef>
                <a:spcPct val="50000"/>
              </a:spcBef>
              <a:buFontTx/>
              <a:buNone/>
            </a:pPr>
            <a:endParaRPr lang="en-US" b="1" dirty="0" smtClean="0"/>
          </a:p>
          <a:p>
            <a:pPr marL="457200" lvl="1" indent="0" eaLnBrk="1" hangingPunct="1">
              <a:spcBef>
                <a:spcPct val="50000"/>
              </a:spcBef>
              <a:buFontTx/>
              <a:buNone/>
            </a:pPr>
            <a:endParaRPr lang="en-US" dirty="0" smtClean="0"/>
          </a:p>
        </p:txBody>
      </p:sp>
      <p:sp>
        <p:nvSpPr>
          <p:cNvPr id="3" name="Rounded Rectangle 2"/>
          <p:cNvSpPr/>
          <p:nvPr/>
        </p:nvSpPr>
        <p:spPr>
          <a:xfrm>
            <a:off x="2249716" y="4942115"/>
            <a:ext cx="1712685" cy="914400"/>
          </a:xfrm>
          <a:prstGeom prst="roundRect">
            <a:avLst/>
          </a:prstGeom>
          <a:gradFill>
            <a:gsLst>
              <a:gs pos="0">
                <a:srgbClr val="C00000"/>
              </a:gs>
              <a:gs pos="100000">
                <a:srgbClr val="FFC9C9"/>
              </a:gs>
            </a:gsLst>
            <a:lin ang="16200000" scaled="0"/>
          </a:gradFill>
          <a:effectLst>
            <a:outerShdw blurRad="76200" dist="12700" dir="8100000" sy="-23000" kx="800400" algn="br" rotWithShape="0">
              <a:prstClr val="black">
                <a:alpha val="2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smtClean="0">
                <a:solidFill>
                  <a:schemeClr val="tx1"/>
                </a:solidFill>
                <a:latin typeface="Rockwell" pitchFamily="18" charset="0"/>
              </a:rPr>
              <a:t>Cooperative Agreement</a:t>
            </a:r>
            <a:endParaRPr lang="en-US" b="1" dirty="0">
              <a:solidFill>
                <a:schemeClr val="tx1"/>
              </a:solidFill>
              <a:latin typeface="Rockwell" pitchFamily="18" charset="0"/>
            </a:endParaRPr>
          </a:p>
        </p:txBody>
      </p:sp>
      <p:cxnSp>
        <p:nvCxnSpPr>
          <p:cNvPr id="7" name="Straight Arrow Connector 6"/>
          <p:cNvCxnSpPr/>
          <p:nvPr/>
        </p:nvCxnSpPr>
        <p:spPr>
          <a:xfrm>
            <a:off x="4078516" y="5399315"/>
            <a:ext cx="1306286" cy="0"/>
          </a:xfrm>
          <a:prstGeom prst="straightConnector1">
            <a:avLst/>
          </a:prstGeom>
          <a:ln w="50800">
            <a:solidFill>
              <a:srgbClr val="C0000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5500918" y="4942115"/>
            <a:ext cx="1494970" cy="914400"/>
          </a:xfrm>
          <a:prstGeom prst="roundRect">
            <a:avLst/>
          </a:prstGeom>
          <a:gradFill>
            <a:gsLst>
              <a:gs pos="0">
                <a:srgbClr val="C00000"/>
              </a:gs>
              <a:gs pos="100000">
                <a:srgbClr val="FFC9C9"/>
              </a:gs>
            </a:gsLst>
            <a:lin ang="16200000" scaled="0"/>
          </a:gradFill>
          <a:effectLst>
            <a:outerShdw blurRad="76200" dist="12700" dir="8100000" sy="-23000" kx="800400" algn="br" rotWithShape="0">
              <a:prstClr val="black">
                <a:alpha val="2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smtClean="0">
                <a:solidFill>
                  <a:schemeClr val="tx1"/>
                </a:solidFill>
                <a:latin typeface="Rockwell" pitchFamily="18" charset="0"/>
              </a:rPr>
              <a:t>Grant</a:t>
            </a:r>
            <a:endParaRPr lang="en-US" b="1" dirty="0">
              <a:solidFill>
                <a:schemeClr val="tx1"/>
              </a:solidFill>
              <a:latin typeface="Rockwell"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p:spPr>
        <p:txBody>
          <a:bodyPr/>
          <a:lstStyle/>
          <a:p>
            <a:fld id="{5773CED9-A60B-442E-B6C5-591DB34E67CF}" type="slidenum">
              <a:rPr lang="en-US" smtClean="0"/>
              <a:pPr/>
              <a:t>7</a:t>
            </a:fld>
            <a:endParaRPr lang="en-US" smtClean="0"/>
          </a:p>
        </p:txBody>
      </p:sp>
      <p:sp>
        <p:nvSpPr>
          <p:cNvPr id="11267" name="Rectangle 2"/>
          <p:cNvSpPr>
            <a:spLocks noGrp="1" noChangeArrowheads="1"/>
          </p:cNvSpPr>
          <p:nvPr>
            <p:ph type="title"/>
          </p:nvPr>
        </p:nvSpPr>
        <p:spPr/>
        <p:txBody>
          <a:bodyPr/>
          <a:lstStyle/>
          <a:p>
            <a:pPr eaLnBrk="1" hangingPunct="1"/>
            <a:r>
              <a:rPr lang="en-US" smtClean="0"/>
              <a:t>Who can participate in the NSDI CAP?</a:t>
            </a:r>
          </a:p>
        </p:txBody>
      </p:sp>
      <p:sp>
        <p:nvSpPr>
          <p:cNvPr id="11268" name="Rectangle 3"/>
          <p:cNvSpPr>
            <a:spLocks noGrp="1" noChangeArrowheads="1"/>
          </p:cNvSpPr>
          <p:nvPr>
            <p:ph type="body" idx="1"/>
          </p:nvPr>
        </p:nvSpPr>
        <p:spPr>
          <a:xfrm>
            <a:off x="784225" y="1566863"/>
            <a:ext cx="8359775" cy="4708525"/>
          </a:xfrm>
        </p:spPr>
        <p:txBody>
          <a:bodyPr/>
          <a:lstStyle/>
          <a:p>
            <a:pPr marL="182563" indent="-182563" eaLnBrk="1" hangingPunct="1">
              <a:spcBef>
                <a:spcPct val="50000"/>
              </a:spcBef>
            </a:pPr>
            <a:r>
              <a:rPr lang="en-US" dirty="0" smtClean="0"/>
              <a:t>The NSDI CAP Program is open to all non-federal organizations</a:t>
            </a:r>
          </a:p>
          <a:p>
            <a:pPr marL="1031875" lvl="2" indent="-277813" eaLnBrk="1" hangingPunct="1"/>
            <a:r>
              <a:rPr lang="en-US" sz="2600" dirty="0"/>
              <a:t>State governments</a:t>
            </a:r>
          </a:p>
          <a:p>
            <a:pPr marL="1031875" lvl="2" indent="-277813" eaLnBrk="1" hangingPunct="1"/>
            <a:r>
              <a:rPr lang="en-US" sz="2600" dirty="0"/>
              <a:t>Local governments</a:t>
            </a:r>
          </a:p>
          <a:p>
            <a:pPr marL="1031875" lvl="2" indent="-277813" eaLnBrk="1" hangingPunct="1"/>
            <a:r>
              <a:rPr lang="en-US" sz="2600" dirty="0"/>
              <a:t>Tribal governments</a:t>
            </a:r>
          </a:p>
          <a:p>
            <a:pPr marL="1031875" lvl="2" indent="-277813" eaLnBrk="1" hangingPunct="1"/>
            <a:r>
              <a:rPr lang="en-US" sz="2600" dirty="0"/>
              <a:t>Academia</a:t>
            </a:r>
          </a:p>
          <a:p>
            <a:pPr marL="1031875" lvl="2" indent="-277813" eaLnBrk="1" hangingPunct="1"/>
            <a:r>
              <a:rPr lang="en-US" sz="2600" dirty="0"/>
              <a:t>Commercial businesses</a:t>
            </a:r>
          </a:p>
          <a:p>
            <a:pPr marL="1031875" lvl="2" indent="-277813" eaLnBrk="1" hangingPunct="1"/>
            <a:r>
              <a:rPr lang="en-US" sz="2600" dirty="0"/>
              <a:t>Nonprofit organizations</a:t>
            </a:r>
          </a:p>
          <a:p>
            <a:pPr marL="182563" indent="-182563" eaLnBrk="1" hangingPunct="1">
              <a:spcBef>
                <a:spcPct val="50000"/>
              </a:spcBef>
            </a:pPr>
            <a:endParaRPr lang="en-US" dirty="0" smtClean="0"/>
          </a:p>
          <a:p>
            <a:pPr marL="182563" indent="-182563" eaLnBrk="1" hangingPunct="1"/>
            <a:endParaRPr lang="en-US" sz="24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p:spPr>
        <p:txBody>
          <a:bodyPr/>
          <a:lstStyle/>
          <a:p>
            <a:fld id="{FB1E30CE-4859-4BB9-8E71-178F5A3E03DC}" type="slidenum">
              <a:rPr lang="en-US" smtClean="0"/>
              <a:pPr/>
              <a:t>8</a:t>
            </a:fld>
            <a:endParaRPr lang="en-US" smtClean="0"/>
          </a:p>
        </p:txBody>
      </p:sp>
      <p:sp>
        <p:nvSpPr>
          <p:cNvPr id="12291" name="Rectangle 2"/>
          <p:cNvSpPr>
            <a:spLocks noGrp="1" noChangeArrowheads="1"/>
          </p:cNvSpPr>
          <p:nvPr>
            <p:ph type="title"/>
          </p:nvPr>
        </p:nvSpPr>
        <p:spPr/>
        <p:txBody>
          <a:bodyPr/>
          <a:lstStyle/>
          <a:p>
            <a:pPr eaLnBrk="1" hangingPunct="1"/>
            <a:r>
              <a:rPr lang="en-US" smtClean="0"/>
              <a:t>NSDI CAP Categories</a:t>
            </a:r>
          </a:p>
        </p:txBody>
      </p:sp>
      <p:sp>
        <p:nvSpPr>
          <p:cNvPr id="12292" name="Rectangle 3"/>
          <p:cNvSpPr>
            <a:spLocks noGrp="1" noChangeArrowheads="1"/>
          </p:cNvSpPr>
          <p:nvPr>
            <p:ph type="body" idx="1"/>
          </p:nvPr>
        </p:nvSpPr>
        <p:spPr>
          <a:xfrm>
            <a:off x="784225" y="1566863"/>
            <a:ext cx="8054976" cy="4708525"/>
          </a:xfrm>
        </p:spPr>
        <p:txBody>
          <a:bodyPr/>
          <a:lstStyle/>
          <a:p>
            <a:pPr marL="182563" indent="-182563" eaLnBrk="1" hangingPunct="1">
              <a:lnSpc>
                <a:spcPct val="90000"/>
              </a:lnSpc>
            </a:pPr>
            <a:r>
              <a:rPr lang="en-US" dirty="0" smtClean="0"/>
              <a:t>CAP award categories are based upon FGDC/NSDI programs of work:</a:t>
            </a:r>
          </a:p>
          <a:p>
            <a:pPr marL="182563" indent="-182563" eaLnBrk="1" hangingPunct="1">
              <a:lnSpc>
                <a:spcPct val="90000"/>
              </a:lnSpc>
            </a:pPr>
            <a:endParaRPr lang="en-US" sz="900" dirty="0" smtClean="0"/>
          </a:p>
          <a:p>
            <a:pPr marL="574675" lvl="1" indent="-277813" eaLnBrk="1" hangingPunct="1">
              <a:lnSpc>
                <a:spcPct val="90000"/>
              </a:lnSpc>
            </a:pPr>
            <a:r>
              <a:rPr lang="en-US" dirty="0" smtClean="0"/>
              <a:t>standards implementation and outreach</a:t>
            </a:r>
          </a:p>
          <a:p>
            <a:pPr marL="574675" lvl="1" indent="-277813" eaLnBrk="1" hangingPunct="1">
              <a:lnSpc>
                <a:spcPct val="90000"/>
              </a:lnSpc>
            </a:pPr>
            <a:r>
              <a:rPr lang="en-US" dirty="0"/>
              <a:t>c</a:t>
            </a:r>
            <a:r>
              <a:rPr lang="en-US" dirty="0" smtClean="0"/>
              <a:t>ollaboration in geospatial communities</a:t>
            </a:r>
          </a:p>
          <a:p>
            <a:pPr marL="574675" lvl="1" indent="-277813" eaLnBrk="1" hangingPunct="1">
              <a:lnSpc>
                <a:spcPct val="90000"/>
              </a:lnSpc>
            </a:pPr>
            <a:r>
              <a:rPr lang="en-US" dirty="0" smtClean="0"/>
              <a:t>geo-enabling non-traditional data communities</a:t>
            </a:r>
          </a:p>
          <a:p>
            <a:pPr marL="574675" lvl="1" indent="-277813" eaLnBrk="1" hangingPunct="1">
              <a:lnSpc>
                <a:spcPct val="90000"/>
              </a:lnSpc>
            </a:pPr>
            <a:r>
              <a:rPr lang="en-US" dirty="0" smtClean="0"/>
              <a:t>integration of framework data</a:t>
            </a:r>
          </a:p>
          <a:p>
            <a:pPr marL="574675" lvl="1" indent="-277813" eaLnBrk="1" hangingPunct="1">
              <a:lnSpc>
                <a:spcPct val="90000"/>
              </a:lnSpc>
            </a:pPr>
            <a:r>
              <a:rPr lang="en-US" dirty="0" smtClean="0"/>
              <a:t>participation </a:t>
            </a:r>
            <a:r>
              <a:rPr lang="en-US" dirty="0"/>
              <a:t>in national initiatives like Geospatial </a:t>
            </a:r>
            <a:r>
              <a:rPr lang="en-US" dirty="0" smtClean="0"/>
              <a:t>Platform or </a:t>
            </a:r>
            <a:r>
              <a:rPr lang="en-US" i="1" dirty="0" smtClean="0"/>
              <a:t>The National Map </a:t>
            </a:r>
            <a:endParaRPr lang="en-US" dirty="0" smtClean="0"/>
          </a:p>
          <a:p>
            <a:pPr marL="296862" lvl="1" indent="0" algn="r" eaLnBrk="1" hangingPunct="1">
              <a:lnSpc>
                <a:spcPct val="90000"/>
              </a:lnSpc>
              <a:buNone/>
            </a:pPr>
            <a:endParaRPr lang="en-US" sz="2000" i="1" dirty="0" smtClean="0">
              <a:solidFill>
                <a:schemeClr val="accent2"/>
              </a:solidFill>
            </a:endParaRPr>
          </a:p>
          <a:p>
            <a:pPr marL="296862" lvl="1" indent="0" algn="r" eaLnBrk="1" hangingPunct="1">
              <a:lnSpc>
                <a:spcPct val="90000"/>
              </a:lnSpc>
              <a:buNone/>
            </a:pPr>
            <a:r>
              <a:rPr lang="en-US" sz="2000" i="1" dirty="0" smtClean="0">
                <a:solidFill>
                  <a:schemeClr val="accent2"/>
                </a:solidFill>
              </a:rPr>
              <a:t>Categories vary annually to support current </a:t>
            </a:r>
            <a:br>
              <a:rPr lang="en-US" sz="2000" i="1" dirty="0" smtClean="0">
                <a:solidFill>
                  <a:schemeClr val="accent2"/>
                </a:solidFill>
              </a:rPr>
            </a:br>
            <a:r>
              <a:rPr lang="en-US" sz="2000" i="1" dirty="0" smtClean="0">
                <a:solidFill>
                  <a:schemeClr val="accent2"/>
                </a:solidFill>
              </a:rPr>
              <a:t>NSDI priorities and initiatives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p>
            <a:fld id="{1B2FA142-1386-42A9-B181-49EBB055B149}" type="slidenum">
              <a:rPr lang="en-US" smtClean="0"/>
              <a:pPr/>
              <a:t>9</a:t>
            </a:fld>
            <a:endParaRPr lang="en-US" smtClean="0"/>
          </a:p>
        </p:txBody>
      </p:sp>
      <p:sp>
        <p:nvSpPr>
          <p:cNvPr id="15363" name="Rectangle 2"/>
          <p:cNvSpPr>
            <a:spLocks noGrp="1" noChangeArrowheads="1"/>
          </p:cNvSpPr>
          <p:nvPr>
            <p:ph type="title"/>
          </p:nvPr>
        </p:nvSpPr>
        <p:spPr/>
        <p:txBody>
          <a:bodyPr/>
          <a:lstStyle/>
          <a:p>
            <a:pPr eaLnBrk="1" hangingPunct="1"/>
            <a:r>
              <a:rPr lang="en-US" smtClean="0"/>
              <a:t>NSDI CAP Categories</a:t>
            </a:r>
          </a:p>
        </p:txBody>
      </p:sp>
      <p:sp>
        <p:nvSpPr>
          <p:cNvPr id="15364" name="Rectangle 3"/>
          <p:cNvSpPr>
            <a:spLocks noGrp="1" noChangeArrowheads="1"/>
          </p:cNvSpPr>
          <p:nvPr>
            <p:ph type="body" idx="1"/>
          </p:nvPr>
        </p:nvSpPr>
        <p:spPr>
          <a:xfrm>
            <a:off x="784225" y="1566863"/>
            <a:ext cx="8359775" cy="4708525"/>
          </a:xfrm>
        </p:spPr>
        <p:txBody>
          <a:bodyPr/>
          <a:lstStyle/>
          <a:p>
            <a:pPr marL="182563" indent="-182563" eaLnBrk="1" hangingPunct="1">
              <a:lnSpc>
                <a:spcPct val="90000"/>
              </a:lnSpc>
            </a:pPr>
            <a:r>
              <a:rPr lang="en-US" sz="1800" dirty="0" smtClean="0"/>
              <a:t>	</a:t>
            </a:r>
          </a:p>
        </p:txBody>
      </p:sp>
      <p:graphicFrame>
        <p:nvGraphicFramePr>
          <p:cNvPr id="6" name="Table 5"/>
          <p:cNvGraphicFramePr>
            <a:graphicFrameLocks noGrp="1"/>
          </p:cNvGraphicFramePr>
          <p:nvPr>
            <p:extLst>
              <p:ext uri="{D42A27DB-BD31-4B8C-83A1-F6EECF244321}">
                <p14:modId xmlns:p14="http://schemas.microsoft.com/office/powerpoint/2010/main" val="4292521929"/>
              </p:ext>
            </p:extLst>
          </p:nvPr>
        </p:nvGraphicFramePr>
        <p:xfrm>
          <a:off x="435429" y="1089025"/>
          <a:ext cx="8708571" cy="5328633"/>
        </p:xfrm>
        <a:graphic>
          <a:graphicData uri="http://schemas.openxmlformats.org/drawingml/2006/table">
            <a:tbl>
              <a:tblPr>
                <a:tableStyleId>{8A107856-5554-42FB-B03E-39F5DBC370BA}</a:tableStyleId>
              </a:tblPr>
              <a:tblGrid>
                <a:gridCol w="5404922"/>
                <a:gridCol w="1170832"/>
                <a:gridCol w="966432"/>
                <a:gridCol w="1166385"/>
              </a:tblGrid>
              <a:tr h="795392">
                <a:tc>
                  <a:txBody>
                    <a:bodyPr/>
                    <a:lstStyle/>
                    <a:p>
                      <a:pPr marL="182563" indent="-182563" eaLnBrk="1" hangingPunct="1">
                        <a:lnSpc>
                          <a:spcPct val="90000"/>
                        </a:lnSpc>
                      </a:pPr>
                      <a:r>
                        <a:rPr lang="en-US" sz="1800" b="1" dirty="0" smtClean="0"/>
                        <a:t>2012 NSDI CAP Categories </a:t>
                      </a:r>
                    </a:p>
                  </a:txBody>
                  <a:tcPr marL="7013" marR="7013" marT="7013" marB="0" anchor="ctr">
                    <a:solidFill>
                      <a:srgbClr val="FFFFCC"/>
                    </a:solidFill>
                  </a:tcPr>
                </a:tc>
                <a:tc>
                  <a:txBody>
                    <a:bodyPr/>
                    <a:lstStyle/>
                    <a:p>
                      <a:pPr algn="ctr" fontAlgn="ctr"/>
                      <a:r>
                        <a:rPr lang="en-US" sz="1600" b="1" u="none" strike="noStrike" dirty="0">
                          <a:effectLst/>
                        </a:rPr>
                        <a:t>Award Amount</a:t>
                      </a:r>
                      <a:endParaRPr lang="en-US" sz="1600" b="1"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b="1" u="none" strike="noStrike" dirty="0">
                          <a:effectLst/>
                        </a:rPr>
                        <a:t>In-kind Match</a:t>
                      </a:r>
                      <a:endParaRPr lang="en-US" sz="1600" b="1"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b="1" u="none" strike="noStrike" dirty="0" err="1" smtClean="0">
                          <a:effectLst/>
                        </a:rPr>
                        <a:t>Approx</a:t>
                      </a:r>
                      <a:r>
                        <a:rPr lang="en-US" sz="1600" b="1" u="none" strike="noStrike" dirty="0" smtClean="0">
                          <a:effectLst/>
                        </a:rPr>
                        <a:t> </a:t>
                      </a:r>
                      <a:r>
                        <a:rPr lang="en-US" sz="1600" b="1" u="none" strike="noStrike" dirty="0">
                          <a:effectLst/>
                        </a:rPr>
                        <a:t>Number of Awards</a:t>
                      </a:r>
                      <a:endParaRPr lang="en-US" sz="1600" b="1" i="0" u="none" strike="noStrike" dirty="0">
                        <a:solidFill>
                          <a:srgbClr val="000000"/>
                        </a:solidFill>
                        <a:effectLst/>
                        <a:latin typeface="Calibri"/>
                      </a:endParaRPr>
                    </a:p>
                  </a:txBody>
                  <a:tcPr marL="7013" marR="7013" marT="7013" marB="0" anchor="ctr">
                    <a:solidFill>
                      <a:srgbClr val="FFFFCC"/>
                    </a:solidFill>
                  </a:tcPr>
                </a:tc>
              </a:tr>
              <a:tr h="661886">
                <a:tc>
                  <a:txBody>
                    <a:bodyPr/>
                    <a:lstStyle/>
                    <a:p>
                      <a:pPr algn="l" fontAlgn="b"/>
                      <a:r>
                        <a:rPr lang="en-US" sz="1600" u="none" strike="noStrike" dirty="0">
                          <a:effectLst/>
                        </a:rPr>
                        <a:t>Category 1</a:t>
                      </a:r>
                      <a:r>
                        <a:rPr lang="en-US" sz="1600" u="none" strike="noStrike" dirty="0" smtClean="0">
                          <a:effectLst/>
                        </a:rPr>
                        <a:t>: Metadata Trainer</a:t>
                      </a:r>
                      <a:r>
                        <a:rPr lang="en-US" sz="1600" u="none" strike="noStrike" baseline="0" dirty="0" smtClean="0">
                          <a:effectLst/>
                        </a:rPr>
                        <a:t> and Outreach Assistance</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a:effectLst/>
                        </a:rPr>
                        <a:t>$25,000 </a:t>
                      </a:r>
                      <a:endParaRPr lang="en-US" sz="1600" b="0" i="0" u="none" strike="noStrike">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30-50</a:t>
                      </a:r>
                      <a:r>
                        <a:rPr lang="en-US" sz="1600" u="none" strike="noStrike" dirty="0">
                          <a:effectLst/>
                        </a:rPr>
                        <a:t>%</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a:t>
                      </a:r>
                      <a:endParaRPr lang="en-US" sz="1600" b="0" i="0" u="none" strike="noStrike" dirty="0">
                        <a:solidFill>
                          <a:srgbClr val="000000"/>
                        </a:solidFill>
                        <a:effectLst/>
                        <a:latin typeface="Calibri"/>
                      </a:endParaRPr>
                    </a:p>
                  </a:txBody>
                  <a:tcPr marL="7013" marR="7013" marT="7013" marB="0" anchor="ctr">
                    <a:solidFill>
                      <a:srgbClr val="FFFFCC"/>
                    </a:solidFill>
                  </a:tcPr>
                </a:tc>
              </a:tr>
              <a:tr h="718500">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u="none" strike="noStrike" dirty="0">
                          <a:effectLst/>
                        </a:rPr>
                        <a:t>Category 2</a:t>
                      </a:r>
                      <a:r>
                        <a:rPr lang="en-US" sz="1600" u="none" strike="noStrike" dirty="0" smtClean="0">
                          <a:effectLst/>
                        </a:rPr>
                        <a:t>: </a:t>
                      </a:r>
                      <a:r>
                        <a:rPr lang="en-US" sz="1600" kern="1200" dirty="0" smtClean="0">
                          <a:effectLst/>
                        </a:rPr>
                        <a:t>ISO Geospatial Metadata Standards Implementation</a:t>
                      </a:r>
                      <a:endParaRPr lang="en-US" sz="1600" b="0" i="0" u="none" strike="noStrike" dirty="0" smtClean="0">
                        <a:solidFill>
                          <a:srgbClr val="000000"/>
                        </a:solidFill>
                        <a:effectLst/>
                        <a:latin typeface="Calibri"/>
                      </a:endParaRPr>
                    </a:p>
                    <a:p>
                      <a:pPr algn="l" fontAlgn="b"/>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$30,000 </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30-50%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a:t>
                      </a:r>
                      <a:endParaRPr lang="en-US" sz="1600" b="0" i="0" u="none" strike="noStrike" dirty="0">
                        <a:solidFill>
                          <a:srgbClr val="000000"/>
                        </a:solidFill>
                        <a:effectLst/>
                        <a:latin typeface="Calibri"/>
                      </a:endParaRPr>
                    </a:p>
                  </a:txBody>
                  <a:tcPr marL="7013" marR="7013" marT="7013" marB="0" anchor="ctr">
                    <a:solidFill>
                      <a:srgbClr val="FFFFCC"/>
                    </a:solidFill>
                  </a:tcPr>
                </a:tc>
              </a:tr>
              <a:tr h="605345">
                <a:tc>
                  <a:txBody>
                    <a:bodyPr/>
                    <a:lstStyle/>
                    <a:p>
                      <a:pPr algn="l" fontAlgn="b"/>
                      <a:r>
                        <a:rPr lang="en-US" sz="1600" u="none" strike="noStrike" dirty="0">
                          <a:effectLst/>
                        </a:rPr>
                        <a:t>Category 3: </a:t>
                      </a:r>
                      <a:r>
                        <a:rPr lang="en-US" sz="1600" kern="1200" dirty="0" smtClean="0">
                          <a:effectLst/>
                        </a:rPr>
                        <a:t>Expanding Use of the GIS Inventory System</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$7,500</a:t>
                      </a:r>
                      <a:r>
                        <a:rPr lang="en-US" sz="1600" u="none" strike="noStrike" baseline="0" dirty="0" smtClean="0">
                          <a:effectLst/>
                        </a:rPr>
                        <a:t> to $15,000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a:effectLst/>
                        </a:rPr>
                        <a:t>50%</a:t>
                      </a:r>
                      <a:endParaRPr lang="en-US" sz="1600" b="0" i="0" u="none" strike="noStrike">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10-20</a:t>
                      </a:r>
                      <a:endParaRPr lang="en-US" sz="1600" b="0" i="0" u="none" strike="noStrike" dirty="0">
                        <a:solidFill>
                          <a:srgbClr val="000000"/>
                        </a:solidFill>
                        <a:effectLst/>
                        <a:latin typeface="Calibri"/>
                      </a:endParaRPr>
                    </a:p>
                  </a:txBody>
                  <a:tcPr marL="7013" marR="7013" marT="7013" marB="0" anchor="ctr">
                    <a:solidFill>
                      <a:srgbClr val="FFFFCC"/>
                    </a:solidFill>
                  </a:tcPr>
                </a:tc>
              </a:tr>
              <a:tr h="605345">
                <a:tc>
                  <a:txBody>
                    <a:bodyPr/>
                    <a:lstStyle/>
                    <a:p>
                      <a:pPr algn="l" fontAlgn="b"/>
                      <a:r>
                        <a:rPr lang="en-US" sz="1600" u="none" strike="noStrike" dirty="0">
                          <a:effectLst/>
                        </a:rPr>
                        <a:t>Category 4: Fifty States Initiative: Business Plan Development and </a:t>
                      </a:r>
                      <a:r>
                        <a:rPr lang="en-US" sz="1600" u="none" strike="noStrike" dirty="0" smtClean="0">
                          <a:effectLst/>
                        </a:rPr>
                        <a:t>Implementation</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a:effectLst/>
                        </a:rPr>
                        <a:t>$40,000 </a:t>
                      </a:r>
                      <a:endParaRPr lang="en-US" sz="1600" b="0" i="0" u="none" strike="noStrike">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a:effectLst/>
                        </a:rPr>
                        <a:t>50%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a:effectLst/>
                        </a:rPr>
                        <a:t>8</a:t>
                      </a:r>
                      <a:endParaRPr lang="en-US" sz="1600" b="0" i="0" u="none" strike="noStrike">
                        <a:solidFill>
                          <a:srgbClr val="000000"/>
                        </a:solidFill>
                        <a:effectLst/>
                        <a:latin typeface="Calibri"/>
                      </a:endParaRPr>
                    </a:p>
                  </a:txBody>
                  <a:tcPr marL="7013" marR="7013" marT="7013" marB="0" anchor="ctr">
                    <a:solidFill>
                      <a:srgbClr val="FFFFCC"/>
                    </a:solidFill>
                  </a:tcPr>
                </a:tc>
              </a:tr>
              <a:tr h="711442">
                <a:tc>
                  <a:txBody>
                    <a:bodyPr/>
                    <a:lstStyle/>
                    <a:p>
                      <a:pPr algn="l" fontAlgn="b"/>
                      <a:r>
                        <a:rPr lang="en-US" sz="1600" u="none" strike="noStrike" dirty="0">
                          <a:effectLst/>
                        </a:rPr>
                        <a:t>Category 5: </a:t>
                      </a:r>
                      <a:r>
                        <a:rPr lang="en-US" sz="1600" kern="1200" dirty="0" smtClean="0">
                          <a:effectLst/>
                        </a:rPr>
                        <a:t>FGDC-endorsed Standards Implementation Training and Outreach </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$25,000 </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30-50%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2</a:t>
                      </a:r>
                      <a:endParaRPr lang="en-US" sz="1600" b="0" i="0" u="none" strike="noStrike" dirty="0">
                        <a:solidFill>
                          <a:srgbClr val="000000"/>
                        </a:solidFill>
                        <a:effectLst/>
                        <a:latin typeface="Calibri"/>
                      </a:endParaRPr>
                    </a:p>
                  </a:txBody>
                  <a:tcPr marL="7013" marR="7013" marT="7013" marB="0" anchor="ctr">
                    <a:solidFill>
                      <a:srgbClr val="FFFFCC"/>
                    </a:solidFill>
                  </a:tcPr>
                </a:tc>
              </a:tr>
              <a:tr h="605345">
                <a:tc>
                  <a:txBody>
                    <a:bodyPr/>
                    <a:lstStyle/>
                    <a:p>
                      <a:pPr algn="l" fontAlgn="b"/>
                      <a:r>
                        <a:rPr lang="en-US" sz="1600" u="none" strike="noStrike" dirty="0">
                          <a:effectLst/>
                        </a:rPr>
                        <a:t>Category 6: FGDC Standards Development </a:t>
                      </a:r>
                      <a:r>
                        <a:rPr lang="en-US" sz="1600" u="none" strike="noStrike" dirty="0" smtClean="0">
                          <a:effectLst/>
                        </a:rPr>
                        <a:t>Assistance</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a:effectLst/>
                        </a:rPr>
                        <a:t>$25,000 </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30-50%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a:effectLst/>
                        </a:rPr>
                        <a:t>2</a:t>
                      </a:r>
                      <a:endParaRPr lang="en-US" sz="1600" b="0" i="0" u="none" strike="noStrike" dirty="0">
                        <a:solidFill>
                          <a:srgbClr val="000000"/>
                        </a:solidFill>
                        <a:effectLst/>
                        <a:latin typeface="Calibri"/>
                      </a:endParaRPr>
                    </a:p>
                  </a:txBody>
                  <a:tcPr marL="7013" marR="7013" marT="7013" marB="0" anchor="ctr">
                    <a:solidFill>
                      <a:srgbClr val="FFFFCC"/>
                    </a:solidFill>
                  </a:tcPr>
                </a:tc>
              </a:tr>
              <a:tr h="605345">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kern="1200" dirty="0" smtClean="0">
                          <a:effectLst/>
                        </a:rPr>
                        <a:t>Category 7: Geospatial Platform Cloud Service </a:t>
                      </a:r>
                      <a:r>
                        <a:rPr lang="en-US" sz="1600" kern="1200" dirty="0" err="1" smtClean="0">
                          <a:effectLst/>
                        </a:rPr>
                        <a:t>Testbed</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$25,000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600" u="none" strike="noStrike" dirty="0" smtClean="0">
                          <a:effectLst/>
                        </a:rPr>
                        <a:t>50%</a:t>
                      </a:r>
                      <a:endParaRPr lang="en-US" sz="1600" b="0" i="0" u="none" strike="noStrike" dirty="0">
                        <a:solidFill>
                          <a:srgbClr val="000000"/>
                        </a:solidFill>
                        <a:effectLst/>
                        <a:latin typeface="Calibri"/>
                      </a:endParaRPr>
                    </a:p>
                  </a:txBody>
                  <a:tcPr marL="7013" marR="7013" marT="7013" marB="0" anchor="ctr">
                    <a:solidFill>
                      <a:srgbClr val="FFFFCC"/>
                    </a:solidFill>
                  </a:tcPr>
                </a:tc>
                <a:tc>
                  <a:txBody>
                    <a:bodyPr/>
                    <a:lstStyle/>
                    <a:p>
                      <a:pPr algn="ctr" fontAlgn="ctr"/>
                      <a:r>
                        <a:rPr lang="en-US" sz="1600" u="none" strike="noStrike" dirty="0" smtClean="0">
                          <a:effectLst/>
                        </a:rPr>
                        <a:t>3</a:t>
                      </a:r>
                      <a:endParaRPr lang="en-US" sz="1600" b="0" i="0" u="none" strike="noStrike" dirty="0">
                        <a:solidFill>
                          <a:srgbClr val="000000"/>
                        </a:solidFill>
                        <a:effectLst/>
                        <a:latin typeface="Calibri"/>
                      </a:endParaRPr>
                    </a:p>
                  </a:txBody>
                  <a:tcPr marL="7013" marR="7013" marT="7013" marB="0" anchor="ctr">
                    <a:solidFill>
                      <a:srgbClr val="FFFFCC"/>
                    </a:solidFill>
                  </a:tcPr>
                </a:tc>
              </a:tr>
            </a:tbl>
          </a:graphicData>
        </a:graphic>
      </p:graphicFrame>
    </p:spTree>
    <p:extLst>
      <p:ext uri="{BB962C8B-B14F-4D97-AF65-F5344CB8AC3E}">
        <p14:creationId xmlns:p14="http://schemas.microsoft.com/office/powerpoint/2010/main" val="39461785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p>
            <a:fld id="{70A06A13-08B8-4AAC-A2CD-EFB9C958E8D1}" type="slidenum">
              <a:rPr lang="en-US" smtClean="0"/>
              <a:pPr/>
              <a:t>10</a:t>
            </a:fld>
            <a:endParaRPr lang="en-US" smtClean="0"/>
          </a:p>
        </p:txBody>
      </p:sp>
      <p:sp>
        <p:nvSpPr>
          <p:cNvPr id="19459" name="Rectangle 2"/>
          <p:cNvSpPr>
            <a:spLocks noGrp="1" noChangeArrowheads="1"/>
          </p:cNvSpPr>
          <p:nvPr>
            <p:ph type="title"/>
          </p:nvPr>
        </p:nvSpPr>
        <p:spPr/>
        <p:txBody>
          <a:bodyPr/>
          <a:lstStyle/>
          <a:p>
            <a:pPr eaLnBrk="1" hangingPunct="1"/>
            <a:r>
              <a:rPr lang="en-US" dirty="0" smtClean="0"/>
              <a:t>Eligibility</a:t>
            </a:r>
          </a:p>
        </p:txBody>
      </p:sp>
      <p:sp>
        <p:nvSpPr>
          <p:cNvPr id="19460" name="Rectangle 3"/>
          <p:cNvSpPr>
            <a:spLocks noGrp="1" noChangeArrowheads="1"/>
          </p:cNvSpPr>
          <p:nvPr>
            <p:ph type="body" idx="1"/>
          </p:nvPr>
        </p:nvSpPr>
        <p:spPr>
          <a:xfrm>
            <a:off x="784225" y="1756229"/>
            <a:ext cx="8359775" cy="4519159"/>
          </a:xfrm>
        </p:spPr>
        <p:txBody>
          <a:bodyPr/>
          <a:lstStyle/>
          <a:p>
            <a:pPr marL="182563" indent="-182563" eaLnBrk="1" hangingPunct="1">
              <a:spcBef>
                <a:spcPct val="50000"/>
              </a:spcBef>
            </a:pPr>
            <a:endParaRPr lang="en-US" sz="1200" dirty="0" smtClean="0"/>
          </a:p>
        </p:txBody>
      </p:sp>
      <p:graphicFrame>
        <p:nvGraphicFramePr>
          <p:cNvPr id="2" name="Table 1"/>
          <p:cNvGraphicFramePr>
            <a:graphicFrameLocks noGrp="1"/>
          </p:cNvGraphicFramePr>
          <p:nvPr>
            <p:extLst>
              <p:ext uri="{D42A27DB-BD31-4B8C-83A1-F6EECF244321}">
                <p14:modId xmlns:p14="http://schemas.microsoft.com/office/powerpoint/2010/main" val="1305588535"/>
              </p:ext>
            </p:extLst>
          </p:nvPr>
        </p:nvGraphicFramePr>
        <p:xfrm>
          <a:off x="464458" y="1378858"/>
          <a:ext cx="8679542" cy="4978556"/>
        </p:xfrm>
        <a:graphic>
          <a:graphicData uri="http://schemas.openxmlformats.org/drawingml/2006/table">
            <a:tbl>
              <a:tblPr firstRow="1" firstCol="1" bandRow="1">
                <a:tableStyleId>{9DCAF9ED-07DC-4A11-8D7F-57B35C25682E}</a:tableStyleId>
              </a:tblPr>
              <a:tblGrid>
                <a:gridCol w="2695736"/>
                <a:gridCol w="5983806"/>
              </a:tblGrid>
              <a:tr h="415756">
                <a:tc>
                  <a:txBody>
                    <a:bodyPr/>
                    <a:lstStyle/>
                    <a:p>
                      <a:pPr marL="0" marR="0">
                        <a:spcBef>
                          <a:spcPts val="0"/>
                        </a:spcBef>
                        <a:spcAft>
                          <a:spcPts val="0"/>
                        </a:spcAft>
                      </a:pPr>
                      <a:r>
                        <a:rPr lang="en-US" sz="1600" dirty="0" smtClean="0">
                          <a:effectLst/>
                        </a:rPr>
                        <a:t>Category</a:t>
                      </a:r>
                      <a:endParaRPr lang="en-US" sz="1600" dirty="0">
                        <a:effectLst/>
                        <a:latin typeface="+mn-lt"/>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a:spcBef>
                          <a:spcPts val="0"/>
                        </a:spcBef>
                        <a:spcAft>
                          <a:spcPts val="0"/>
                        </a:spcAft>
                        <a:buFont typeface="Symbol"/>
                        <a:buNone/>
                      </a:pPr>
                      <a:r>
                        <a:rPr lang="en-US" sz="1600" dirty="0" smtClean="0">
                          <a:effectLst/>
                        </a:rPr>
                        <a:t>Specific</a:t>
                      </a:r>
                      <a:r>
                        <a:rPr lang="en-US" sz="1600" baseline="0" dirty="0" smtClean="0">
                          <a:effectLst/>
                        </a:rPr>
                        <a:t> Eligibility Requirement</a:t>
                      </a:r>
                      <a:endParaRPr lang="en-US" sz="1600" dirty="0">
                        <a:effectLst/>
                        <a:latin typeface="+mn-lt"/>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02633">
                <a:tc>
                  <a:txBody>
                    <a:bodyPr/>
                    <a:lstStyle/>
                    <a:p>
                      <a:pPr marL="0" marR="0">
                        <a:spcBef>
                          <a:spcPts val="0"/>
                        </a:spcBef>
                        <a:spcAft>
                          <a:spcPts val="0"/>
                        </a:spcAft>
                      </a:pPr>
                      <a:r>
                        <a:rPr lang="en-US" sz="1600" b="0" dirty="0">
                          <a:effectLst/>
                        </a:rPr>
                        <a:t>Category </a:t>
                      </a:r>
                      <a:r>
                        <a:rPr lang="en-US" sz="1600" b="0" dirty="0" smtClean="0">
                          <a:effectLst/>
                        </a:rPr>
                        <a:t>1:</a:t>
                      </a:r>
                      <a:endParaRPr lang="en-US" sz="1600" b="0" dirty="0">
                        <a:effectLst/>
                      </a:endParaRPr>
                    </a:p>
                    <a:p>
                      <a:pPr algn="l" fontAlgn="b"/>
                      <a:r>
                        <a:rPr lang="en-US" sz="1600" b="0" u="none" strike="noStrike" dirty="0" smtClean="0">
                          <a:effectLst/>
                        </a:rPr>
                        <a:t>Metadata Trainer</a:t>
                      </a:r>
                      <a:r>
                        <a:rPr lang="en-US" sz="1600" b="0" u="none" strike="noStrike" baseline="0" dirty="0" smtClean="0">
                          <a:effectLst/>
                        </a:rPr>
                        <a:t> and Outreach Assistance</a:t>
                      </a:r>
                      <a:endParaRPr lang="en-US" sz="1600" b="0" i="0" u="none" strike="noStrike" dirty="0">
                        <a:solidFill>
                          <a:srgbClr val="000000"/>
                        </a:solidFill>
                        <a:effectLst/>
                        <a:latin typeface="Calibri"/>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Symbol"/>
                        <a:buChar char=""/>
                        <a:tabLst/>
                        <a:defRPr/>
                      </a:pPr>
                      <a:r>
                        <a:rPr lang="en-US" sz="1600" dirty="0">
                          <a:effectLst/>
                        </a:rPr>
                        <a:t>Not eligible if had </a:t>
                      </a:r>
                      <a:r>
                        <a:rPr lang="en-US" sz="1600" dirty="0" smtClean="0">
                          <a:effectLst/>
                        </a:rPr>
                        <a:t>a </a:t>
                      </a:r>
                      <a:r>
                        <a:rPr lang="en-US" sz="1600" b="0" u="none" strike="noStrike" dirty="0" smtClean="0">
                          <a:effectLst/>
                        </a:rPr>
                        <a:t>Metadata Trainer</a:t>
                      </a:r>
                      <a:r>
                        <a:rPr lang="en-US" sz="1600" b="0" u="none" strike="noStrike" baseline="0" dirty="0" smtClean="0">
                          <a:effectLst/>
                        </a:rPr>
                        <a:t> and Outreach Assistance </a:t>
                      </a:r>
                      <a:r>
                        <a:rPr lang="en-US" sz="1600" dirty="0" smtClean="0">
                          <a:effectLst/>
                        </a:rPr>
                        <a:t>award </a:t>
                      </a:r>
                      <a:r>
                        <a:rPr lang="en-US" sz="1600" dirty="0">
                          <a:effectLst/>
                        </a:rPr>
                        <a:t>within the past 3 years </a:t>
                      </a:r>
                    </a:p>
                    <a:p>
                      <a:pPr marL="342900" marR="0" lvl="0" indent="-342900">
                        <a:spcBef>
                          <a:spcPts val="0"/>
                        </a:spcBef>
                        <a:spcAft>
                          <a:spcPts val="0"/>
                        </a:spcAft>
                        <a:buFont typeface="Symbol"/>
                        <a:buChar char=""/>
                      </a:pPr>
                      <a:r>
                        <a:rPr lang="en-US" sz="1600" dirty="0">
                          <a:effectLst/>
                        </a:rPr>
                        <a:t>Organization should be skilled and resourceful in implementing metadata</a:t>
                      </a:r>
                      <a:endParaRPr lang="en-US" sz="16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03511">
                <a:tc>
                  <a:txBody>
                    <a:bodyPr/>
                    <a:lstStyle/>
                    <a:p>
                      <a:pPr marL="0" marR="0">
                        <a:spcBef>
                          <a:spcPts val="0"/>
                        </a:spcBef>
                        <a:spcAft>
                          <a:spcPts val="0"/>
                        </a:spcAft>
                      </a:pPr>
                      <a:r>
                        <a:rPr lang="en-US" sz="1600" b="0" dirty="0">
                          <a:effectLst/>
                        </a:rPr>
                        <a:t>Category </a:t>
                      </a:r>
                      <a:r>
                        <a:rPr lang="en-US" sz="1600" b="0" dirty="0" smtClean="0">
                          <a:effectLst/>
                        </a:rPr>
                        <a:t>2:</a:t>
                      </a:r>
                      <a:endParaRPr lang="en-US" sz="1600" b="0" dirty="0">
                        <a:effectLst/>
                      </a:endParaRPr>
                    </a:p>
                    <a:p>
                      <a:pPr marL="0" marR="0" indent="0" algn="l" defTabSz="914400" rtl="0" eaLnBrk="1" fontAlgn="b" latinLnBrk="0" hangingPunct="1">
                        <a:lnSpc>
                          <a:spcPct val="100000"/>
                        </a:lnSpc>
                        <a:spcBef>
                          <a:spcPts val="0"/>
                        </a:spcBef>
                        <a:spcAft>
                          <a:spcPts val="0"/>
                        </a:spcAft>
                        <a:buClrTx/>
                        <a:buSzTx/>
                        <a:buFontTx/>
                        <a:buNone/>
                        <a:tabLst/>
                        <a:defRPr/>
                      </a:pPr>
                      <a:r>
                        <a:rPr lang="en-US" sz="1600" b="0" kern="1200" dirty="0" smtClean="0">
                          <a:effectLst/>
                        </a:rPr>
                        <a:t>ISO Geospatial Metadata Standards Implementation</a:t>
                      </a:r>
                      <a:endParaRPr lang="en-US" sz="1600" b="0" i="0" u="none" strike="noStrike" dirty="0" smtClean="0">
                        <a:solidFill>
                          <a:srgbClr val="000000"/>
                        </a:solidFill>
                        <a:effectLst/>
                        <a:latin typeface="Calibri"/>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Symbol"/>
                        <a:buChar char=""/>
                      </a:pPr>
                      <a:r>
                        <a:rPr lang="en-US" sz="1600" dirty="0">
                          <a:effectLst/>
                        </a:rPr>
                        <a:t>Organization should own and publish significant numbers of geospatial metadata records </a:t>
                      </a:r>
                    </a:p>
                    <a:p>
                      <a:pPr marL="342900" marR="0" lvl="0" indent="-342900">
                        <a:spcBef>
                          <a:spcPts val="0"/>
                        </a:spcBef>
                        <a:spcAft>
                          <a:spcPts val="0"/>
                        </a:spcAft>
                        <a:buFont typeface="Symbol"/>
                        <a:buChar char=""/>
                      </a:pPr>
                      <a:r>
                        <a:rPr lang="en-US" sz="1600" dirty="0">
                          <a:effectLst/>
                        </a:rPr>
                        <a:t>Organization should be skilled and resourceful in implementing metadata </a:t>
                      </a:r>
                      <a:endParaRPr lang="en-US" sz="16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03511">
                <a:tc>
                  <a:txBody>
                    <a:bodyPr/>
                    <a:lstStyle/>
                    <a:p>
                      <a:pPr marL="0" marR="0">
                        <a:spcBef>
                          <a:spcPts val="0"/>
                        </a:spcBef>
                        <a:spcAft>
                          <a:spcPts val="0"/>
                        </a:spcAft>
                      </a:pPr>
                      <a:r>
                        <a:rPr lang="en-US" sz="1600" b="0" dirty="0">
                          <a:effectLst/>
                        </a:rPr>
                        <a:t>Category </a:t>
                      </a:r>
                      <a:r>
                        <a:rPr lang="en-US" sz="1600" b="0" dirty="0" smtClean="0">
                          <a:effectLst/>
                        </a:rPr>
                        <a:t>3:</a:t>
                      </a:r>
                      <a:endParaRPr lang="en-US" sz="1600" b="0" dirty="0">
                        <a:effectLst/>
                      </a:endParaRPr>
                    </a:p>
                    <a:p>
                      <a:pPr marL="0" marR="0">
                        <a:spcBef>
                          <a:spcPts val="0"/>
                        </a:spcBef>
                        <a:spcAft>
                          <a:spcPts val="0"/>
                        </a:spcAft>
                      </a:pPr>
                      <a:r>
                        <a:rPr lang="en-US" sz="1600" b="0" dirty="0">
                          <a:effectLst/>
                        </a:rPr>
                        <a:t>Expanding Use of the GIS Inventory System</a:t>
                      </a:r>
                      <a:endParaRPr lang="en-US" sz="1600" b="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Symbol"/>
                        <a:buChar char=""/>
                      </a:pPr>
                      <a:r>
                        <a:rPr lang="en-US" sz="1600" dirty="0">
                          <a:effectLst/>
                        </a:rPr>
                        <a:t>State and regional government organizations that participate in statewide GIS coordination activities </a:t>
                      </a:r>
                    </a:p>
                    <a:p>
                      <a:pPr marL="342900" marR="0" lvl="0" indent="-342900">
                        <a:spcBef>
                          <a:spcPts val="0"/>
                        </a:spcBef>
                        <a:spcAft>
                          <a:spcPts val="0"/>
                        </a:spcAft>
                        <a:buFont typeface="Symbol"/>
                        <a:buChar char=""/>
                      </a:pPr>
                      <a:r>
                        <a:rPr lang="en-US" sz="1600" dirty="0">
                          <a:effectLst/>
                        </a:rPr>
                        <a:t>Need obtain letters of support from their statewide GIS Council</a:t>
                      </a:r>
                      <a:endParaRPr lang="en-US" sz="16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80418">
                <a:tc>
                  <a:txBody>
                    <a:bodyPr/>
                    <a:lstStyle/>
                    <a:p>
                      <a:pPr marL="0" marR="0">
                        <a:spcBef>
                          <a:spcPts val="0"/>
                        </a:spcBef>
                        <a:spcAft>
                          <a:spcPts val="0"/>
                        </a:spcAft>
                      </a:pPr>
                      <a:r>
                        <a:rPr lang="en-US" sz="1600" b="0" dirty="0">
                          <a:effectLst/>
                        </a:rPr>
                        <a:t>Category </a:t>
                      </a:r>
                      <a:r>
                        <a:rPr lang="en-US" sz="1600" b="0" dirty="0" smtClean="0">
                          <a:effectLst/>
                        </a:rPr>
                        <a:t>4:</a:t>
                      </a:r>
                      <a:endParaRPr lang="en-US" sz="1600" b="0" dirty="0">
                        <a:effectLst/>
                      </a:endParaRPr>
                    </a:p>
                    <a:p>
                      <a:pPr marL="0" marR="0">
                        <a:spcBef>
                          <a:spcPts val="0"/>
                        </a:spcBef>
                        <a:spcAft>
                          <a:spcPts val="0"/>
                        </a:spcAft>
                      </a:pPr>
                      <a:r>
                        <a:rPr lang="en-US" sz="1600" b="0" dirty="0">
                          <a:effectLst/>
                        </a:rPr>
                        <a:t>Fifty States Initiative: Business Plan Development and Implementation</a:t>
                      </a:r>
                      <a:endParaRPr lang="en-US" sz="1600" b="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Symbol"/>
                        <a:buChar char=""/>
                      </a:pPr>
                      <a:r>
                        <a:rPr lang="en-US" sz="1600" dirty="0">
                          <a:effectLst/>
                        </a:rPr>
                        <a:t>Coordinated multi-sector responses are strongly </a:t>
                      </a:r>
                      <a:r>
                        <a:rPr lang="en-US" sz="1600" dirty="0" smtClean="0">
                          <a:effectLst/>
                        </a:rPr>
                        <a:t>encouraged</a:t>
                      </a:r>
                    </a:p>
                    <a:p>
                      <a:pPr marL="342900" marR="0" lvl="0" indent="-342900">
                        <a:spcBef>
                          <a:spcPts val="0"/>
                        </a:spcBef>
                        <a:spcAft>
                          <a:spcPts val="0"/>
                        </a:spcAft>
                        <a:buFont typeface="Symbol"/>
                        <a:buChar char=""/>
                      </a:pPr>
                      <a:r>
                        <a:rPr lang="en-US" sz="1600" dirty="0" smtClean="0">
                          <a:effectLst/>
                        </a:rPr>
                        <a:t>A </a:t>
                      </a:r>
                      <a:r>
                        <a:rPr lang="en-US" sz="1600" dirty="0">
                          <a:effectLst/>
                        </a:rPr>
                        <a:t>regional entity must have the support of the State’s geospatial coordination council</a:t>
                      </a:r>
                      <a:endParaRPr lang="en-US" sz="16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p>
            <a:fld id="{70A06A13-08B8-4AAC-A2CD-EFB9C958E8D1}" type="slidenum">
              <a:rPr lang="en-US" smtClean="0"/>
              <a:pPr/>
              <a:t>11</a:t>
            </a:fld>
            <a:endParaRPr lang="en-US" smtClean="0"/>
          </a:p>
        </p:txBody>
      </p:sp>
      <p:sp>
        <p:nvSpPr>
          <p:cNvPr id="19459" name="Rectangle 2"/>
          <p:cNvSpPr>
            <a:spLocks noGrp="1" noChangeArrowheads="1"/>
          </p:cNvSpPr>
          <p:nvPr>
            <p:ph type="title"/>
          </p:nvPr>
        </p:nvSpPr>
        <p:spPr/>
        <p:txBody>
          <a:bodyPr/>
          <a:lstStyle/>
          <a:p>
            <a:pPr eaLnBrk="1" hangingPunct="1"/>
            <a:r>
              <a:rPr lang="en-US" dirty="0" smtClean="0"/>
              <a:t>Eligibility</a:t>
            </a:r>
          </a:p>
        </p:txBody>
      </p:sp>
      <p:sp>
        <p:nvSpPr>
          <p:cNvPr id="19460" name="Rectangle 3"/>
          <p:cNvSpPr>
            <a:spLocks noGrp="1" noChangeArrowheads="1"/>
          </p:cNvSpPr>
          <p:nvPr>
            <p:ph type="body" idx="1"/>
          </p:nvPr>
        </p:nvSpPr>
        <p:spPr>
          <a:xfrm>
            <a:off x="784225" y="1756229"/>
            <a:ext cx="8359775" cy="4519159"/>
          </a:xfrm>
        </p:spPr>
        <p:txBody>
          <a:bodyPr/>
          <a:lstStyle/>
          <a:p>
            <a:pPr marL="182563" indent="-182563" eaLnBrk="1" hangingPunct="1">
              <a:spcBef>
                <a:spcPct val="50000"/>
              </a:spcBef>
            </a:pPr>
            <a:endParaRPr lang="en-US" sz="1200" dirty="0" smtClean="0"/>
          </a:p>
        </p:txBody>
      </p:sp>
      <p:graphicFrame>
        <p:nvGraphicFramePr>
          <p:cNvPr id="2" name="Table 1"/>
          <p:cNvGraphicFramePr>
            <a:graphicFrameLocks noGrp="1"/>
          </p:cNvGraphicFramePr>
          <p:nvPr>
            <p:extLst>
              <p:ext uri="{D42A27DB-BD31-4B8C-83A1-F6EECF244321}">
                <p14:modId xmlns:p14="http://schemas.microsoft.com/office/powerpoint/2010/main" val="2236569189"/>
              </p:ext>
            </p:extLst>
          </p:nvPr>
        </p:nvGraphicFramePr>
        <p:xfrm>
          <a:off x="464458" y="1393370"/>
          <a:ext cx="8679542" cy="4864375"/>
        </p:xfrm>
        <a:graphic>
          <a:graphicData uri="http://schemas.openxmlformats.org/drawingml/2006/table">
            <a:tbl>
              <a:tblPr firstRow="1" firstCol="1" bandRow="1">
                <a:tableStyleId>{9DCAF9ED-07DC-4A11-8D7F-57B35C25682E}</a:tableStyleId>
              </a:tblPr>
              <a:tblGrid>
                <a:gridCol w="2695736"/>
                <a:gridCol w="5983806"/>
              </a:tblGrid>
              <a:tr h="621589">
                <a:tc>
                  <a:txBody>
                    <a:bodyPr/>
                    <a:lstStyle/>
                    <a:p>
                      <a:pPr marL="0" marR="0">
                        <a:spcBef>
                          <a:spcPts val="0"/>
                        </a:spcBef>
                        <a:spcAft>
                          <a:spcPts val="0"/>
                        </a:spcAft>
                      </a:pPr>
                      <a:r>
                        <a:rPr lang="en-US" sz="1600" dirty="0" smtClean="0">
                          <a:effectLst/>
                        </a:rPr>
                        <a:t>Category</a:t>
                      </a:r>
                      <a:endParaRPr lang="en-US" sz="1600" dirty="0">
                        <a:effectLst/>
                        <a:latin typeface="+mn-lt"/>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a:spcBef>
                          <a:spcPts val="0"/>
                        </a:spcBef>
                        <a:spcAft>
                          <a:spcPts val="0"/>
                        </a:spcAft>
                        <a:buFont typeface="Symbol"/>
                        <a:buNone/>
                      </a:pPr>
                      <a:r>
                        <a:rPr lang="en-US" sz="1600" dirty="0" smtClean="0">
                          <a:effectLst/>
                        </a:rPr>
                        <a:t>Specific</a:t>
                      </a:r>
                      <a:r>
                        <a:rPr lang="en-US" sz="1600" baseline="0" dirty="0" smtClean="0">
                          <a:effectLst/>
                        </a:rPr>
                        <a:t> Eligibility Requirement</a:t>
                      </a:r>
                      <a:endParaRPr lang="en-US" sz="1600" dirty="0">
                        <a:effectLst/>
                        <a:latin typeface="+mn-lt"/>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62068">
                <a:tc>
                  <a:txBody>
                    <a:bodyPr/>
                    <a:lstStyle/>
                    <a:p>
                      <a:r>
                        <a:rPr lang="en-US" sz="1600" b="0" kern="1200" dirty="0" smtClean="0">
                          <a:solidFill>
                            <a:schemeClr val="dk1"/>
                          </a:solidFill>
                          <a:effectLst/>
                          <a:latin typeface="+mn-lt"/>
                          <a:ea typeface="+mn-ea"/>
                          <a:cs typeface="+mn-cs"/>
                        </a:rPr>
                        <a:t>Category 5:</a:t>
                      </a:r>
                    </a:p>
                    <a:p>
                      <a:r>
                        <a:rPr lang="en-US" sz="1600" b="0" kern="1200" dirty="0" smtClean="0">
                          <a:solidFill>
                            <a:schemeClr val="dk1"/>
                          </a:solidFill>
                          <a:effectLst/>
                          <a:latin typeface="+mn-lt"/>
                          <a:ea typeface="+mn-ea"/>
                          <a:cs typeface="+mn-cs"/>
                        </a:rPr>
                        <a:t>FGDC-endorsed Standards Implementation Training and Outreach</a:t>
                      </a:r>
                      <a:endParaRPr lang="en-US" sz="1600" b="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Symbol"/>
                        <a:buChar char=""/>
                        <a:tabLst/>
                        <a:defRPr/>
                      </a:pPr>
                      <a:r>
                        <a:rPr lang="en-US" sz="1600" kern="1200" dirty="0" smtClean="0">
                          <a:solidFill>
                            <a:schemeClr val="dk1"/>
                          </a:solidFill>
                          <a:effectLst/>
                          <a:latin typeface="+mn-lt"/>
                          <a:ea typeface="+mn-ea"/>
                          <a:cs typeface="+mn-cs"/>
                        </a:rPr>
                        <a:t>Not eligible if had an </a:t>
                      </a:r>
                      <a:r>
                        <a:rPr lang="en-US" sz="1600" b="0" kern="1200" dirty="0" smtClean="0">
                          <a:solidFill>
                            <a:schemeClr val="dk1"/>
                          </a:solidFill>
                          <a:effectLst/>
                          <a:latin typeface="+mn-lt"/>
                          <a:ea typeface="+mn-ea"/>
                          <a:cs typeface="+mn-cs"/>
                        </a:rPr>
                        <a:t>FGDC-endorsed Standards Implementation Training and Outreach</a:t>
                      </a:r>
                      <a:r>
                        <a:rPr lang="en-US" sz="1600" b="0" kern="1200" baseline="0" dirty="0" smtClean="0">
                          <a:solidFill>
                            <a:schemeClr val="dk1"/>
                          </a:solidFill>
                          <a:effectLst/>
                          <a:latin typeface="+mn-lt"/>
                          <a:ea typeface="+mn-ea"/>
                          <a:cs typeface="Times New Roman"/>
                        </a:rPr>
                        <a:t> </a:t>
                      </a:r>
                      <a:r>
                        <a:rPr lang="en-US" sz="1600" kern="1200" dirty="0" smtClean="0">
                          <a:solidFill>
                            <a:schemeClr val="dk1"/>
                          </a:solidFill>
                          <a:effectLst/>
                          <a:latin typeface="+mn-lt"/>
                          <a:ea typeface="+mn-ea"/>
                          <a:cs typeface="+mn-cs"/>
                        </a:rPr>
                        <a:t>award within the past 3 years </a:t>
                      </a:r>
                      <a:endParaRPr lang="en-US" sz="1600" dirty="0">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85371">
                <a:tc>
                  <a:txBody>
                    <a:bodyPr/>
                    <a:lstStyle/>
                    <a:p>
                      <a:pPr marL="0" marR="0">
                        <a:spcBef>
                          <a:spcPts val="0"/>
                        </a:spcBef>
                        <a:spcAft>
                          <a:spcPts val="0"/>
                        </a:spcAft>
                      </a:pPr>
                      <a:r>
                        <a:rPr lang="en-US" sz="1600" b="0" dirty="0">
                          <a:effectLst/>
                          <a:latin typeface="Arial"/>
                          <a:ea typeface="Calibri"/>
                          <a:cs typeface="Times New Roman"/>
                        </a:rPr>
                        <a:t>Category </a:t>
                      </a:r>
                      <a:r>
                        <a:rPr lang="en-US" sz="1600" b="0" dirty="0" smtClean="0">
                          <a:effectLst/>
                          <a:latin typeface="Arial"/>
                          <a:ea typeface="Calibri"/>
                          <a:cs typeface="Times New Roman"/>
                        </a:rPr>
                        <a:t>6:</a:t>
                      </a:r>
                      <a:endParaRPr lang="en-US" sz="1600" b="0" dirty="0">
                        <a:effectLst/>
                        <a:latin typeface="Arial"/>
                        <a:ea typeface="Calibri"/>
                        <a:cs typeface="Times New Roman"/>
                      </a:endParaRPr>
                    </a:p>
                    <a:p>
                      <a:pPr marL="0" marR="0">
                        <a:spcBef>
                          <a:spcPts val="0"/>
                        </a:spcBef>
                        <a:spcAft>
                          <a:spcPts val="0"/>
                        </a:spcAft>
                      </a:pPr>
                      <a:r>
                        <a:rPr lang="en-US" sz="1600" b="0" dirty="0">
                          <a:effectLst/>
                          <a:latin typeface="Arial"/>
                          <a:ea typeface="Calibri"/>
                          <a:cs typeface="Times New Roman"/>
                        </a:rPr>
                        <a:t>FGDC Standards Development Assistance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Symbol"/>
                        <a:buChar char=""/>
                        <a:tabLst/>
                        <a:defRPr/>
                      </a:pPr>
                      <a:r>
                        <a:rPr lang="en-US" sz="1600" kern="1200" dirty="0" smtClean="0">
                          <a:solidFill>
                            <a:schemeClr val="dk1"/>
                          </a:solidFill>
                          <a:effectLst/>
                          <a:latin typeface="+mn-lt"/>
                          <a:ea typeface="+mn-ea"/>
                          <a:cs typeface="+mn-cs"/>
                        </a:rPr>
                        <a:t>Not eligible if had an</a:t>
                      </a:r>
                      <a:r>
                        <a:rPr lang="en-US" sz="1600" kern="1200" baseline="0" dirty="0" smtClean="0">
                          <a:solidFill>
                            <a:schemeClr val="dk1"/>
                          </a:solidFill>
                          <a:effectLst/>
                          <a:latin typeface="+mn-lt"/>
                          <a:ea typeface="+mn-ea"/>
                          <a:cs typeface="+mn-cs"/>
                        </a:rPr>
                        <a:t> </a:t>
                      </a:r>
                      <a:r>
                        <a:rPr lang="en-US" sz="1600" b="0" dirty="0" smtClean="0">
                          <a:effectLst/>
                          <a:latin typeface="+mn-lt"/>
                          <a:ea typeface="Calibri"/>
                          <a:cs typeface="Times New Roman"/>
                        </a:rPr>
                        <a:t>FGDC Standards Development Assistance </a:t>
                      </a:r>
                      <a:r>
                        <a:rPr lang="en-US" sz="1600" kern="1200" dirty="0" smtClean="0">
                          <a:solidFill>
                            <a:schemeClr val="dk1"/>
                          </a:solidFill>
                          <a:effectLst/>
                          <a:latin typeface="+mn-lt"/>
                          <a:ea typeface="+mn-ea"/>
                          <a:cs typeface="+mn-cs"/>
                        </a:rPr>
                        <a:t>award within the past 3 years </a:t>
                      </a:r>
                      <a:r>
                        <a:rPr lang="en-US" sz="1600" dirty="0" smtClean="0">
                          <a:effectLst/>
                        </a:rPr>
                        <a:t> </a:t>
                      </a:r>
                      <a:endParaRPr lang="en-US" sz="16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95347">
                <a:tc>
                  <a:txBody>
                    <a:bodyPr/>
                    <a:lstStyle/>
                    <a:p>
                      <a:r>
                        <a:rPr lang="en-US" sz="1600" b="0" kern="1200" dirty="0" smtClean="0">
                          <a:solidFill>
                            <a:schemeClr val="dk1"/>
                          </a:solidFill>
                          <a:effectLst/>
                          <a:latin typeface="+mn-lt"/>
                          <a:ea typeface="+mn-ea"/>
                          <a:cs typeface="+mn-cs"/>
                        </a:rPr>
                        <a:t>Category 7:</a:t>
                      </a:r>
                    </a:p>
                    <a:p>
                      <a:r>
                        <a:rPr lang="en-US" sz="1600" b="0" kern="1200" dirty="0" smtClean="0">
                          <a:solidFill>
                            <a:schemeClr val="dk1"/>
                          </a:solidFill>
                          <a:effectLst/>
                          <a:latin typeface="+mn-lt"/>
                          <a:ea typeface="+mn-ea"/>
                          <a:cs typeface="+mn-cs"/>
                        </a:rPr>
                        <a:t>Geospatial Platform Cloud Service </a:t>
                      </a:r>
                      <a:r>
                        <a:rPr lang="en-US" sz="1600" b="0" kern="1200" dirty="0" err="1" smtClean="0">
                          <a:solidFill>
                            <a:schemeClr val="dk1"/>
                          </a:solidFill>
                          <a:effectLst/>
                          <a:latin typeface="+mn-lt"/>
                          <a:ea typeface="+mn-ea"/>
                          <a:cs typeface="+mn-cs"/>
                        </a:rPr>
                        <a:t>Testbed</a:t>
                      </a:r>
                      <a:endParaRPr lang="en-US" sz="1600" b="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Symbol"/>
                        <a:buChar char=""/>
                      </a:pPr>
                      <a:r>
                        <a:rPr lang="en-US" sz="1600" dirty="0" smtClean="0">
                          <a:effectLst/>
                        </a:rPr>
                        <a:t>State, local, and/or Tribal governments who have formal data exchange agreements with Federal agencies for the collection and local management of nationally significant geospatial data</a:t>
                      </a:r>
                    </a:p>
                    <a:p>
                      <a:pPr marL="342900" marR="0" lvl="0" indent="-342900">
                        <a:spcBef>
                          <a:spcPts val="0"/>
                        </a:spcBef>
                        <a:spcAft>
                          <a:spcPts val="0"/>
                        </a:spcAft>
                        <a:buFont typeface="Symbol"/>
                        <a:buChar char=""/>
                      </a:pPr>
                      <a:r>
                        <a:rPr lang="en-US" sz="1600" dirty="0" smtClean="0">
                          <a:effectLst/>
                        </a:rPr>
                        <a:t>Must be the entity officially responsible for the collection and/or dissemination of the geospatial data layer</a:t>
                      </a:r>
                    </a:p>
                    <a:p>
                      <a:pPr marL="342900" marR="0" lvl="0" indent="-342900">
                        <a:spcBef>
                          <a:spcPts val="0"/>
                        </a:spcBef>
                        <a:spcAft>
                          <a:spcPts val="0"/>
                        </a:spcAft>
                        <a:buFont typeface="Symbol"/>
                        <a:buChar char=""/>
                      </a:pPr>
                      <a:r>
                        <a:rPr lang="en-US" sz="1600" dirty="0" smtClean="0">
                          <a:effectLst/>
                        </a:rPr>
                        <a:t>Preference will be given to projects that already operate public-facing Web services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299404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p>
            <a:fld id="{70A06A13-08B8-4AAC-A2CD-EFB9C958E8D1}" type="slidenum">
              <a:rPr lang="en-US" smtClean="0"/>
              <a:pPr/>
              <a:t>12</a:t>
            </a:fld>
            <a:endParaRPr lang="en-US" smtClean="0"/>
          </a:p>
        </p:txBody>
      </p:sp>
      <p:sp>
        <p:nvSpPr>
          <p:cNvPr id="19459" name="Rectangle 2"/>
          <p:cNvSpPr>
            <a:spLocks noGrp="1" noChangeArrowheads="1"/>
          </p:cNvSpPr>
          <p:nvPr>
            <p:ph type="title"/>
          </p:nvPr>
        </p:nvSpPr>
        <p:spPr/>
        <p:txBody>
          <a:bodyPr/>
          <a:lstStyle/>
          <a:p>
            <a:pPr eaLnBrk="1" hangingPunct="1"/>
            <a:r>
              <a:rPr lang="en-US" smtClean="0"/>
              <a:t>CAP Funding</a:t>
            </a:r>
          </a:p>
        </p:txBody>
      </p:sp>
      <p:sp>
        <p:nvSpPr>
          <p:cNvPr id="19460" name="Rectangle 3"/>
          <p:cNvSpPr>
            <a:spLocks noGrp="1" noChangeArrowheads="1"/>
          </p:cNvSpPr>
          <p:nvPr>
            <p:ph type="body" idx="1"/>
          </p:nvPr>
        </p:nvSpPr>
        <p:spPr>
          <a:xfrm>
            <a:off x="784225" y="1756229"/>
            <a:ext cx="8359775" cy="4519159"/>
          </a:xfrm>
        </p:spPr>
        <p:txBody>
          <a:bodyPr/>
          <a:lstStyle/>
          <a:p>
            <a:pPr marL="182563" indent="-182563" eaLnBrk="1" hangingPunct="1">
              <a:spcBef>
                <a:spcPct val="50000"/>
              </a:spcBef>
            </a:pPr>
            <a:r>
              <a:rPr lang="en-US" dirty="0" smtClean="0"/>
              <a:t>CAP funds can be used to support:</a:t>
            </a:r>
          </a:p>
          <a:p>
            <a:pPr marL="574675" lvl="1" indent="-277813" eaLnBrk="1" hangingPunct="1"/>
            <a:r>
              <a:rPr lang="en-US" dirty="0" smtClean="0"/>
              <a:t>salaries and wages</a:t>
            </a:r>
          </a:p>
          <a:p>
            <a:pPr marL="574675" lvl="1" indent="-277813" eaLnBrk="1" hangingPunct="1"/>
            <a:r>
              <a:rPr lang="en-US" dirty="0" smtClean="0"/>
              <a:t>training</a:t>
            </a:r>
          </a:p>
          <a:p>
            <a:pPr marL="574675" lvl="1" indent="-277813" eaLnBrk="1" hangingPunct="1"/>
            <a:r>
              <a:rPr lang="en-US" dirty="0" smtClean="0"/>
              <a:t>travel</a:t>
            </a:r>
          </a:p>
          <a:p>
            <a:pPr marL="574675" lvl="1" indent="-277813" eaLnBrk="1" hangingPunct="1"/>
            <a:r>
              <a:rPr lang="en-US" dirty="0" smtClean="0"/>
              <a:t>labor</a:t>
            </a:r>
          </a:p>
          <a:p>
            <a:pPr marL="574675" lvl="1" indent="-277813" eaLnBrk="1" hangingPunct="1">
              <a:defRPr/>
            </a:pPr>
            <a:r>
              <a:rPr lang="en-US" dirty="0"/>
              <a:t>hardware and software that are dedicated to the project and its sustainability</a:t>
            </a:r>
          </a:p>
          <a:p>
            <a:pPr marL="574675" lvl="1" indent="-277813" eaLnBrk="1" hangingPunct="1"/>
            <a:r>
              <a:rPr lang="en-US" dirty="0" smtClean="0"/>
              <a:t>fees for consultants, facilitators or recorders</a:t>
            </a:r>
          </a:p>
          <a:p>
            <a:pPr marL="574675" lvl="1" indent="-277813" eaLnBrk="1" hangingPunct="1"/>
            <a:r>
              <a:rPr lang="en-US" dirty="0" smtClean="0"/>
              <a:t>publication costs  </a:t>
            </a:r>
            <a:endParaRPr lang="en-US" sz="1200" dirty="0" smtClean="0"/>
          </a:p>
        </p:txBody>
      </p:sp>
      <p:pic>
        <p:nvPicPr>
          <p:cNvPr id="3074" name="Picture 2" descr="C:\Users\burbanma\AppData\Local\Microsoft\Windows\Temporary Internet Files\Content.IE5\7O0FO8M5\MC90003706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2900" y="1550511"/>
            <a:ext cx="2164528" cy="1889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9085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0"/>
          </p:nvPr>
        </p:nvSpPr>
        <p:spPr>
          <a:noFill/>
        </p:spPr>
        <p:txBody>
          <a:bodyPr/>
          <a:lstStyle/>
          <a:p>
            <a:fld id="{E2D03B85-F685-45B6-8F32-FE3E9A48B54F}" type="slidenum">
              <a:rPr lang="en-US" smtClean="0"/>
              <a:pPr/>
              <a:t>13</a:t>
            </a:fld>
            <a:endParaRPr lang="en-US" smtClean="0"/>
          </a:p>
        </p:txBody>
      </p:sp>
      <p:sp>
        <p:nvSpPr>
          <p:cNvPr id="20483" name="Rectangle 2"/>
          <p:cNvSpPr>
            <a:spLocks noGrp="1" noChangeArrowheads="1"/>
          </p:cNvSpPr>
          <p:nvPr>
            <p:ph type="title"/>
          </p:nvPr>
        </p:nvSpPr>
        <p:spPr/>
        <p:txBody>
          <a:bodyPr/>
          <a:lstStyle/>
          <a:p>
            <a:pPr eaLnBrk="1" hangingPunct="1"/>
            <a:r>
              <a:rPr lang="en-US" smtClean="0"/>
              <a:t>CAP Funding</a:t>
            </a:r>
          </a:p>
        </p:txBody>
      </p:sp>
      <p:sp>
        <p:nvSpPr>
          <p:cNvPr id="20484" name="Rectangle 3"/>
          <p:cNvSpPr>
            <a:spLocks noGrp="1" noChangeArrowheads="1"/>
          </p:cNvSpPr>
          <p:nvPr>
            <p:ph type="body" idx="1"/>
          </p:nvPr>
        </p:nvSpPr>
        <p:spPr>
          <a:xfrm>
            <a:off x="2728685" y="2460917"/>
            <a:ext cx="6068787" cy="2588760"/>
          </a:xfrm>
        </p:spPr>
        <p:txBody>
          <a:bodyPr/>
          <a:lstStyle/>
          <a:p>
            <a:pPr marL="574675" lvl="1" indent="-460375" eaLnBrk="1" hangingPunct="1">
              <a:spcBef>
                <a:spcPct val="50000"/>
              </a:spcBef>
            </a:pPr>
            <a:r>
              <a:rPr lang="en-US" dirty="0" smtClean="0"/>
              <a:t>data collection</a:t>
            </a:r>
          </a:p>
          <a:p>
            <a:pPr marL="574675" lvl="1" indent="-460375" eaLnBrk="1" hangingPunct="1">
              <a:spcBef>
                <a:spcPct val="50000"/>
              </a:spcBef>
            </a:pPr>
            <a:r>
              <a:rPr lang="en-US" dirty="0" smtClean="0"/>
              <a:t>data purchases</a:t>
            </a:r>
          </a:p>
          <a:p>
            <a:pPr marL="574675" lvl="1" indent="-460375" eaLnBrk="1" hangingPunct="1">
              <a:spcBef>
                <a:spcPct val="50000"/>
              </a:spcBef>
            </a:pPr>
            <a:r>
              <a:rPr lang="en-US" dirty="0" smtClean="0"/>
              <a:t>equipment purchases that are not dedicated to the project</a:t>
            </a:r>
          </a:p>
          <a:p>
            <a:pPr marL="574675" lvl="1" indent="-460375" eaLnBrk="1" hangingPunct="1">
              <a:spcBef>
                <a:spcPct val="50000"/>
              </a:spcBef>
            </a:pPr>
            <a:endParaRPr lang="en-US" sz="2000" i="1" dirty="0" smtClean="0">
              <a:solidFill>
                <a:schemeClr val="accent2"/>
              </a:solidFill>
            </a:endParaRPr>
          </a:p>
          <a:p>
            <a:pPr marL="574675" lvl="1" indent="-460375" algn="r" eaLnBrk="1" hangingPunct="1">
              <a:spcBef>
                <a:spcPct val="50000"/>
              </a:spcBef>
              <a:buFontTx/>
              <a:buNone/>
            </a:pPr>
            <a:endParaRPr lang="en-US" sz="2000" i="1" dirty="0" smtClean="0">
              <a:solidFill>
                <a:schemeClr val="accent2"/>
              </a:solidFill>
            </a:endParaRPr>
          </a:p>
          <a:p>
            <a:pPr marL="574675" lvl="1" indent="-460375" algn="r" eaLnBrk="1" hangingPunct="1">
              <a:spcBef>
                <a:spcPct val="50000"/>
              </a:spcBef>
              <a:buFontTx/>
              <a:buNone/>
            </a:pPr>
            <a:endParaRPr lang="en-US" sz="2000" i="1" dirty="0" smtClean="0">
              <a:solidFill>
                <a:schemeClr val="accent2"/>
              </a:solidFill>
            </a:endParaRPr>
          </a:p>
        </p:txBody>
      </p:sp>
      <p:pic>
        <p:nvPicPr>
          <p:cNvPr id="4098" name="Picture 2" descr="C:\Users\burbanma\AppData\Local\Microsoft\Windows\Temporary Internet Files\Content.IE5\7O0FO8M5\MC900030187[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6453" y="2749552"/>
            <a:ext cx="966117" cy="9780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bwMode="auto">
          <a:xfrm>
            <a:off x="920740" y="1719939"/>
            <a:ext cx="8115300" cy="7474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4"/>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marL="0" indent="0" eaLnBrk="1" hangingPunct="1">
              <a:spcBef>
                <a:spcPct val="50000"/>
              </a:spcBef>
            </a:pPr>
            <a:r>
              <a:rPr lang="en-US" dirty="0" smtClean="0"/>
              <a:t>CAP funds cannot be used to support:</a:t>
            </a:r>
          </a:p>
          <a:p>
            <a:pPr marL="574675" lvl="1" indent="-460375" eaLnBrk="1" hangingPunct="1">
              <a:spcBef>
                <a:spcPct val="50000"/>
              </a:spcBef>
            </a:pPr>
            <a:endParaRPr lang="en-US" sz="2000" i="1" dirty="0" smtClean="0">
              <a:solidFill>
                <a:schemeClr val="accent2"/>
              </a:solidFill>
            </a:endParaRPr>
          </a:p>
          <a:p>
            <a:pPr marL="574675" lvl="1" indent="-460375" algn="r" eaLnBrk="1" hangingPunct="1">
              <a:spcBef>
                <a:spcPct val="50000"/>
              </a:spcBef>
              <a:buFontTx/>
              <a:buNone/>
            </a:pPr>
            <a:endParaRPr lang="en-US" sz="2000" i="1" dirty="0" smtClean="0">
              <a:solidFill>
                <a:schemeClr val="accent2"/>
              </a:solidFill>
            </a:endParaRPr>
          </a:p>
          <a:p>
            <a:pPr marL="574675" lvl="1" indent="-460375" algn="r" eaLnBrk="1" hangingPunct="1">
              <a:spcBef>
                <a:spcPct val="50000"/>
              </a:spcBef>
              <a:buFontTx/>
              <a:buNone/>
            </a:pPr>
            <a:endParaRPr lang="en-US" sz="2000" i="1" dirty="0" smtClean="0">
              <a:solidFill>
                <a:schemeClr val="accent2"/>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0"/>
          </p:nvPr>
        </p:nvSpPr>
        <p:spPr>
          <a:noFill/>
        </p:spPr>
        <p:txBody>
          <a:bodyPr/>
          <a:lstStyle/>
          <a:p>
            <a:fld id="{AE484887-8C96-44E0-9DEE-17BD187C61FC}" type="slidenum">
              <a:rPr lang="en-US" smtClean="0"/>
              <a:pPr/>
              <a:t>14</a:t>
            </a:fld>
            <a:endParaRPr lang="en-US" smtClean="0"/>
          </a:p>
        </p:txBody>
      </p:sp>
      <p:sp>
        <p:nvSpPr>
          <p:cNvPr id="18435" name="Rectangle 2"/>
          <p:cNvSpPr>
            <a:spLocks noGrp="1" noChangeArrowheads="1"/>
          </p:cNvSpPr>
          <p:nvPr>
            <p:ph type="title"/>
          </p:nvPr>
        </p:nvSpPr>
        <p:spPr/>
        <p:txBody>
          <a:bodyPr/>
          <a:lstStyle/>
          <a:p>
            <a:pPr eaLnBrk="1" hangingPunct="1"/>
            <a:r>
              <a:rPr lang="en-US" dirty="0" smtClean="0"/>
              <a:t>Project Time Frame</a:t>
            </a:r>
          </a:p>
        </p:txBody>
      </p:sp>
      <p:sp>
        <p:nvSpPr>
          <p:cNvPr id="18436" name="Rectangle 3"/>
          <p:cNvSpPr>
            <a:spLocks noGrp="1" noChangeArrowheads="1"/>
          </p:cNvSpPr>
          <p:nvPr>
            <p:ph type="body" sz="half" idx="1"/>
          </p:nvPr>
        </p:nvSpPr>
        <p:spPr>
          <a:xfrm>
            <a:off x="762000" y="1443038"/>
            <a:ext cx="7627257" cy="4591050"/>
          </a:xfrm>
        </p:spPr>
        <p:txBody>
          <a:bodyPr/>
          <a:lstStyle/>
          <a:p>
            <a:pPr marL="296862" lvl="1" indent="0" eaLnBrk="1" hangingPunct="1">
              <a:spcBef>
                <a:spcPts val="600"/>
              </a:spcBef>
              <a:buNone/>
            </a:pPr>
            <a:endParaRPr lang="en-US" dirty="0" smtClean="0"/>
          </a:p>
          <a:p>
            <a:pPr marL="296862" lvl="1" indent="0" algn="ctr" eaLnBrk="1" hangingPunct="1">
              <a:spcBef>
                <a:spcPts val="600"/>
              </a:spcBef>
              <a:buNone/>
            </a:pPr>
            <a:r>
              <a:rPr lang="en-US" sz="3600" b="1" dirty="0" smtClean="0"/>
              <a:t>Performance period and</a:t>
            </a:r>
          </a:p>
          <a:p>
            <a:pPr marL="296862" lvl="1" indent="0" algn="ctr" eaLnBrk="1" hangingPunct="1">
              <a:spcBef>
                <a:spcPts val="600"/>
              </a:spcBef>
              <a:buNone/>
            </a:pPr>
            <a:r>
              <a:rPr lang="en-US" sz="3600" b="1" dirty="0" smtClean="0"/>
              <a:t> expenditures are </a:t>
            </a:r>
            <a:endParaRPr lang="en-US" sz="3600" b="1" dirty="0"/>
          </a:p>
          <a:p>
            <a:pPr marL="296862" lvl="1" indent="0" algn="ctr" eaLnBrk="1" hangingPunct="1">
              <a:spcBef>
                <a:spcPts val="600"/>
              </a:spcBef>
              <a:buNone/>
            </a:pPr>
            <a:r>
              <a:rPr lang="en-US" sz="3600" b="1" dirty="0" smtClean="0"/>
              <a:t>limited to one year</a:t>
            </a:r>
          </a:p>
          <a:p>
            <a:pPr marL="914400" lvl="2" indent="0" eaLnBrk="1" hangingPunct="1">
              <a:spcBef>
                <a:spcPct val="50000"/>
              </a:spcBef>
              <a:buNone/>
            </a:pPr>
            <a:endParaRPr lang="en-US" sz="2000" dirty="0" smtClean="0"/>
          </a:p>
        </p:txBody>
      </p:sp>
      <p:pic>
        <p:nvPicPr>
          <p:cNvPr id="5" name="Picture 2" descr="C:\Documents and Settings\sshin.GS\Local Settings\Temporary Internet Files\Content.IE5\7FR0M1US\MC900434791[1].png"/>
          <p:cNvPicPr>
            <a:picLocks noChangeAspect="1" noChangeArrowheads="1"/>
          </p:cNvPicPr>
          <p:nvPr/>
        </p:nvPicPr>
        <p:blipFill>
          <a:blip r:embed="rId3" cstate="print"/>
          <a:srcRect/>
          <a:stretch>
            <a:fillRect/>
          </a:stretch>
        </p:blipFill>
        <p:spPr bwMode="auto">
          <a:xfrm>
            <a:off x="3715772" y="3879055"/>
            <a:ext cx="1828572" cy="1828572"/>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p>
            <a:fld id="{4B96ED76-6E5C-4662-94D2-2098C592ED20}" type="slidenum">
              <a:rPr lang="en-US" smtClean="0"/>
              <a:pPr/>
              <a:t>15</a:t>
            </a:fld>
            <a:endParaRPr lang="en-US" smtClean="0"/>
          </a:p>
        </p:txBody>
      </p:sp>
      <p:sp>
        <p:nvSpPr>
          <p:cNvPr id="6147" name="Rectangle 2"/>
          <p:cNvSpPr>
            <a:spLocks noGrp="1" noChangeArrowheads="1"/>
          </p:cNvSpPr>
          <p:nvPr>
            <p:ph type="title"/>
          </p:nvPr>
        </p:nvSpPr>
        <p:spPr/>
        <p:txBody>
          <a:bodyPr/>
          <a:lstStyle/>
          <a:p>
            <a:pPr eaLnBrk="1" hangingPunct="1"/>
            <a:r>
              <a:rPr lang="en-US" dirty="0" smtClean="0"/>
              <a:t>CAP Proposal Submission</a:t>
            </a:r>
          </a:p>
        </p:txBody>
      </p:sp>
      <p:sp>
        <p:nvSpPr>
          <p:cNvPr id="6148" name="Rectangle 3"/>
          <p:cNvSpPr>
            <a:spLocks noGrp="1" noChangeArrowheads="1"/>
          </p:cNvSpPr>
          <p:nvPr>
            <p:ph type="body" idx="1"/>
          </p:nvPr>
        </p:nvSpPr>
        <p:spPr>
          <a:xfrm>
            <a:off x="784225" y="1547813"/>
            <a:ext cx="8359775" cy="4708525"/>
          </a:xfrm>
        </p:spPr>
        <p:txBody>
          <a:bodyPr/>
          <a:lstStyle/>
          <a:p>
            <a:pPr marL="182563" indent="-182563" eaLnBrk="1" hangingPunct="1">
              <a:spcBef>
                <a:spcPct val="50000"/>
              </a:spcBef>
            </a:pPr>
            <a:r>
              <a:rPr lang="en-US" sz="2800" b="1" dirty="0" smtClean="0"/>
              <a:t>Where to view the 2012 announcement</a:t>
            </a:r>
            <a:endParaRPr lang="en-US" b="1" dirty="0" smtClean="0"/>
          </a:p>
          <a:p>
            <a:pPr lvl="1" indent="-388938" eaLnBrk="1" hangingPunct="1">
              <a:spcBef>
                <a:spcPct val="50000"/>
              </a:spcBef>
              <a:buNone/>
            </a:pPr>
            <a:endParaRPr lang="en-US" sz="1050" dirty="0" smtClean="0"/>
          </a:p>
          <a:p>
            <a:pPr lvl="1" indent="-388938" eaLnBrk="1" hangingPunct="1">
              <a:spcBef>
                <a:spcPct val="50000"/>
              </a:spcBef>
              <a:buNone/>
            </a:pPr>
            <a:r>
              <a:rPr lang="en-US" dirty="0" smtClean="0"/>
              <a:t>Grants.gov </a:t>
            </a:r>
          </a:p>
          <a:p>
            <a:pPr lvl="1" indent="-388938" eaLnBrk="1" hangingPunct="1">
              <a:spcBef>
                <a:spcPct val="50000"/>
              </a:spcBef>
            </a:pPr>
            <a:r>
              <a:rPr lang="en-US" sz="2000" dirty="0" smtClean="0"/>
              <a:t>“Find Grant Opportunities”, search Keyword NSDI CAP</a:t>
            </a:r>
          </a:p>
          <a:p>
            <a:pPr lvl="1" indent="-388938" eaLnBrk="1" hangingPunct="1">
              <a:spcBef>
                <a:spcPct val="50000"/>
              </a:spcBef>
              <a:buNone/>
            </a:pPr>
            <a:endParaRPr lang="en-US" dirty="0" smtClean="0"/>
          </a:p>
          <a:p>
            <a:pPr lvl="1" indent="-388938" eaLnBrk="1" hangingPunct="1">
              <a:spcBef>
                <a:spcPct val="50000"/>
              </a:spcBef>
              <a:buNone/>
            </a:pPr>
            <a:r>
              <a:rPr lang="en-US" dirty="0" smtClean="0"/>
              <a:t>FGDC Web site</a:t>
            </a:r>
          </a:p>
          <a:p>
            <a:pPr lvl="1" indent="-388938" eaLnBrk="1" hangingPunct="1">
              <a:spcBef>
                <a:spcPct val="50000"/>
              </a:spcBef>
            </a:pPr>
            <a:r>
              <a:rPr lang="en-US" sz="2000" dirty="0">
                <a:hlinkClick r:id="rId3"/>
              </a:rPr>
              <a:t>http://www.fgdc.gov/grants/2012CAP/2012CAPDescriptions</a:t>
            </a:r>
            <a:endParaRPr lang="en-US" sz="3200" dirty="0" smtClean="0"/>
          </a:p>
          <a:p>
            <a:pPr lvl="1" indent="-388938" eaLnBrk="1" hangingPunct="1">
              <a:lnSpc>
                <a:spcPct val="80000"/>
              </a:lnSpc>
              <a:spcBef>
                <a:spcPct val="50000"/>
              </a:spcBef>
            </a:pPr>
            <a:endParaRPr lang="en-US" sz="20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p>
            <a:fld id="{4B96ED76-6E5C-4662-94D2-2098C592ED20}" type="slidenum">
              <a:rPr lang="en-US" smtClean="0"/>
              <a:pPr/>
              <a:t>16</a:t>
            </a:fld>
            <a:endParaRPr lang="en-US" smtClean="0"/>
          </a:p>
        </p:txBody>
      </p:sp>
      <p:sp>
        <p:nvSpPr>
          <p:cNvPr id="6147" name="Rectangle 2"/>
          <p:cNvSpPr>
            <a:spLocks noGrp="1" noChangeArrowheads="1"/>
          </p:cNvSpPr>
          <p:nvPr>
            <p:ph type="title"/>
          </p:nvPr>
        </p:nvSpPr>
        <p:spPr/>
        <p:txBody>
          <a:bodyPr/>
          <a:lstStyle/>
          <a:p>
            <a:pPr eaLnBrk="1" hangingPunct="1"/>
            <a:r>
              <a:rPr lang="en-US" dirty="0" smtClean="0"/>
              <a:t>CAP Proposal Submission</a:t>
            </a:r>
          </a:p>
        </p:txBody>
      </p:sp>
      <p:sp>
        <p:nvSpPr>
          <p:cNvPr id="6148" name="Rectangle 3"/>
          <p:cNvSpPr>
            <a:spLocks noGrp="1" noChangeArrowheads="1"/>
          </p:cNvSpPr>
          <p:nvPr>
            <p:ph type="body" idx="1"/>
          </p:nvPr>
        </p:nvSpPr>
        <p:spPr>
          <a:xfrm>
            <a:off x="784225" y="1547813"/>
            <a:ext cx="8131175" cy="4708525"/>
          </a:xfrm>
        </p:spPr>
        <p:txBody>
          <a:bodyPr/>
          <a:lstStyle/>
          <a:p>
            <a:pPr marL="182563" indent="-182563" eaLnBrk="1" hangingPunct="1">
              <a:spcBef>
                <a:spcPct val="50000"/>
              </a:spcBef>
            </a:pPr>
            <a:r>
              <a:rPr lang="en-US" sz="2800" dirty="0" smtClean="0"/>
              <a:t>Proposal Submissions</a:t>
            </a:r>
            <a:endParaRPr lang="en-US" dirty="0" smtClean="0"/>
          </a:p>
          <a:p>
            <a:pPr lvl="1" indent="-388938" eaLnBrk="1" hangingPunct="1">
              <a:spcBef>
                <a:spcPct val="50000"/>
              </a:spcBef>
            </a:pPr>
            <a:r>
              <a:rPr lang="en-US" b="1" dirty="0" smtClean="0"/>
              <a:t>All</a:t>
            </a:r>
            <a:r>
              <a:rPr lang="en-US" dirty="0" smtClean="0"/>
              <a:t> proposals must be submitted electronically via </a:t>
            </a:r>
            <a:r>
              <a:rPr lang="en-US" b="1" dirty="0" smtClean="0"/>
              <a:t>Grants.gov</a:t>
            </a:r>
          </a:p>
          <a:p>
            <a:pPr lvl="1" indent="-388938" eaLnBrk="1" hangingPunct="1">
              <a:lnSpc>
                <a:spcPct val="80000"/>
              </a:lnSpc>
              <a:spcBef>
                <a:spcPct val="50000"/>
              </a:spcBef>
            </a:pPr>
            <a:r>
              <a:rPr lang="en-US" dirty="0" smtClean="0"/>
              <a:t>Submittal period ends</a:t>
            </a:r>
            <a:r>
              <a:rPr lang="en-US" dirty="0"/>
              <a:t> </a:t>
            </a:r>
            <a:r>
              <a:rPr lang="en-US" sz="2400" b="1" dirty="0" smtClean="0">
                <a:solidFill>
                  <a:srgbClr val="E17423"/>
                </a:solidFill>
              </a:rPr>
              <a:t>January 24, 2012</a:t>
            </a:r>
          </a:p>
          <a:p>
            <a:pPr lvl="1" indent="-388938" eaLnBrk="1" hangingPunct="1">
              <a:lnSpc>
                <a:spcPct val="80000"/>
              </a:lnSpc>
              <a:spcBef>
                <a:spcPct val="50000"/>
              </a:spcBef>
            </a:pPr>
            <a:r>
              <a:rPr lang="en-US" u="sng" dirty="0" smtClean="0"/>
              <a:t>No</a:t>
            </a:r>
            <a:r>
              <a:rPr lang="en-US" dirty="0" smtClean="0"/>
              <a:t> hardcopy proposals accepted</a:t>
            </a:r>
          </a:p>
          <a:p>
            <a:pPr lvl="1" indent="-388938" eaLnBrk="1" hangingPunct="1">
              <a:lnSpc>
                <a:spcPct val="80000"/>
              </a:lnSpc>
              <a:spcBef>
                <a:spcPct val="50000"/>
              </a:spcBef>
            </a:pPr>
            <a:r>
              <a:rPr lang="en-US" dirty="0" smtClean="0"/>
              <a:t>Do </a:t>
            </a:r>
            <a:r>
              <a:rPr lang="en-US" u="sng" dirty="0" smtClean="0"/>
              <a:t>not</a:t>
            </a:r>
            <a:r>
              <a:rPr lang="en-US" dirty="0" smtClean="0"/>
              <a:t> email softcopy proposals</a:t>
            </a:r>
          </a:p>
          <a:p>
            <a:pPr lvl="1" indent="-388938" eaLnBrk="1" hangingPunct="1">
              <a:lnSpc>
                <a:spcPct val="80000"/>
              </a:lnSpc>
              <a:spcBef>
                <a:spcPct val="50000"/>
              </a:spcBef>
            </a:pPr>
            <a:r>
              <a:rPr lang="en-US" dirty="0" smtClean="0"/>
              <a:t>help is available from </a:t>
            </a:r>
            <a:r>
              <a:rPr lang="en-US" dirty="0" smtClean="0">
                <a:hlinkClick r:id="rId3"/>
              </a:rPr>
              <a:t>http://www.usgs.gov/contracts/grants/grantsgov.html</a:t>
            </a:r>
            <a:endParaRPr lang="en-US" dirty="0" smtClean="0"/>
          </a:p>
          <a:p>
            <a:pPr lvl="1" indent="-388938" eaLnBrk="1" hangingPunct="1">
              <a:lnSpc>
                <a:spcPct val="80000"/>
              </a:lnSpc>
              <a:spcBef>
                <a:spcPct val="50000"/>
              </a:spcBef>
            </a:pPr>
            <a:endParaRPr lang="en-US" dirty="0" smtClean="0"/>
          </a:p>
          <a:p>
            <a:pPr marL="296862" lvl="1" indent="0" eaLnBrk="1" hangingPunct="1">
              <a:lnSpc>
                <a:spcPct val="80000"/>
              </a:lnSpc>
              <a:spcBef>
                <a:spcPct val="50000"/>
              </a:spcBef>
              <a:buNone/>
            </a:pPr>
            <a:endParaRPr lang="en-US" sz="20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p:spPr>
        <p:txBody>
          <a:bodyPr/>
          <a:lstStyle/>
          <a:p>
            <a:fld id="{7022144D-33A7-480E-9F00-2DAE6EC4DE9C}" type="slidenum">
              <a:rPr lang="en-US" smtClean="0"/>
              <a:pPr/>
              <a:t>17</a:t>
            </a:fld>
            <a:endParaRPr lang="en-US" smtClean="0"/>
          </a:p>
        </p:txBody>
      </p:sp>
      <p:sp>
        <p:nvSpPr>
          <p:cNvPr id="27651" name="Rectangle 2"/>
          <p:cNvSpPr>
            <a:spLocks noGrp="1" noChangeArrowheads="1"/>
          </p:cNvSpPr>
          <p:nvPr>
            <p:ph type="title"/>
          </p:nvPr>
        </p:nvSpPr>
        <p:spPr/>
        <p:txBody>
          <a:bodyPr/>
          <a:lstStyle/>
          <a:p>
            <a:pPr eaLnBrk="1" hangingPunct="1"/>
            <a:r>
              <a:rPr lang="en-US" dirty="0" smtClean="0"/>
              <a:t>CAP Proposal Submission</a:t>
            </a:r>
          </a:p>
        </p:txBody>
      </p:sp>
      <p:sp>
        <p:nvSpPr>
          <p:cNvPr id="27652" name="Rectangle 3"/>
          <p:cNvSpPr>
            <a:spLocks noGrp="1" noChangeArrowheads="1"/>
          </p:cNvSpPr>
          <p:nvPr>
            <p:ph type="body" idx="1"/>
          </p:nvPr>
        </p:nvSpPr>
        <p:spPr>
          <a:xfrm>
            <a:off x="696685" y="1407887"/>
            <a:ext cx="8447315" cy="4867502"/>
          </a:xfrm>
        </p:spPr>
        <p:txBody>
          <a:bodyPr/>
          <a:lstStyle/>
          <a:p>
            <a:pPr marL="533400" indent="-533400" eaLnBrk="1" hangingPunct="1"/>
            <a:r>
              <a:rPr lang="en-US" dirty="0"/>
              <a:t>S</a:t>
            </a:r>
            <a:r>
              <a:rPr lang="en-US" dirty="0" smtClean="0"/>
              <a:t>ubmitting a proposal application package:</a:t>
            </a:r>
          </a:p>
          <a:p>
            <a:pPr marL="754063" lvl="1" indent="-457200" eaLnBrk="1" hangingPunct="1">
              <a:buFontTx/>
              <a:buAutoNum type="arabicPeriod"/>
            </a:pPr>
            <a:r>
              <a:rPr lang="en-US" dirty="0" smtClean="0"/>
              <a:t>Register with Grants.gov</a:t>
            </a:r>
          </a:p>
          <a:p>
            <a:pPr marL="914400" lvl="2" indent="0" eaLnBrk="1" hangingPunct="1">
              <a:buFont typeface="Wingdings" pitchFamily="2" charset="2"/>
              <a:buNone/>
            </a:pPr>
            <a:r>
              <a:rPr lang="en-US" dirty="0" smtClean="0">
                <a:hlinkClick r:id="rId3"/>
              </a:rPr>
              <a:t>http://www.grants.gov/</a:t>
            </a:r>
            <a:endParaRPr lang="en-US" dirty="0" smtClean="0"/>
          </a:p>
          <a:p>
            <a:pPr marL="914400" lvl="2" indent="0" eaLnBrk="1" hangingPunct="1">
              <a:buFont typeface="Wingdings" pitchFamily="2" charset="2"/>
              <a:buNone/>
            </a:pPr>
            <a:r>
              <a:rPr lang="en-US" dirty="0" smtClean="0"/>
              <a:t>Registration takes 1 to 4 weeks </a:t>
            </a:r>
            <a:r>
              <a:rPr lang="en-US" b="1" i="1" dirty="0" smtClean="0"/>
              <a:t>so start early</a:t>
            </a:r>
            <a:r>
              <a:rPr lang="en-US" dirty="0" smtClean="0"/>
              <a:t>. Once registered, your organization can use the same information for all other Grant.gov applications</a:t>
            </a:r>
          </a:p>
          <a:p>
            <a:pPr marL="754063" lvl="1" indent="-457200" eaLnBrk="1" hangingPunct="1">
              <a:buFontTx/>
              <a:buAutoNum type="arabicPeriod"/>
            </a:pPr>
            <a:r>
              <a:rPr lang="en-US" dirty="0" smtClean="0"/>
              <a:t>Prepare proposal </a:t>
            </a:r>
          </a:p>
          <a:p>
            <a:pPr marL="754063" lvl="2" indent="0" eaLnBrk="1" hangingPunct="1">
              <a:buNone/>
            </a:pPr>
            <a:r>
              <a:rPr lang="en-US" dirty="0" smtClean="0"/>
              <a:t>Pay attention to CAP and category </a:t>
            </a:r>
            <a:r>
              <a:rPr lang="en-US" dirty="0"/>
              <a:t>specific </a:t>
            </a:r>
            <a:r>
              <a:rPr lang="en-US" dirty="0" smtClean="0"/>
              <a:t>requirements</a:t>
            </a:r>
          </a:p>
          <a:p>
            <a:pPr marL="754063" lvl="1" indent="-457200" eaLnBrk="1" hangingPunct="1">
              <a:buFontTx/>
              <a:buAutoNum type="arabicPeriod"/>
            </a:pPr>
            <a:r>
              <a:rPr lang="en-US" dirty="0" smtClean="0"/>
              <a:t>Submit package to Grants.gov</a:t>
            </a:r>
          </a:p>
          <a:p>
            <a:pPr marL="914400" lvl="2" indent="0" eaLnBrk="1" hangingPunct="1">
              <a:buFont typeface="Wingdings" pitchFamily="2" charset="2"/>
              <a:buNone/>
            </a:pPr>
            <a:r>
              <a:rPr lang="en-US" dirty="0" smtClean="0">
                <a:hlinkClick r:id="rId3"/>
              </a:rPr>
              <a:t>http://www.grants.gov/</a:t>
            </a:r>
            <a:endParaRPr lang="en-US" dirty="0" smtClean="0"/>
          </a:p>
          <a:p>
            <a:pPr marL="754063" lvl="1" indent="-457200" eaLnBrk="1" hangingPunct="1">
              <a:buFontTx/>
              <a:buNone/>
            </a:pPr>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0"/>
          </p:nvPr>
        </p:nvSpPr>
        <p:spPr>
          <a:noFill/>
        </p:spPr>
        <p:txBody>
          <a:bodyPr/>
          <a:lstStyle/>
          <a:p>
            <a:fld id="{9E1F5535-91D1-4AF0-AD7D-E53A8A49B804}" type="slidenum">
              <a:rPr lang="en-US" smtClean="0"/>
              <a:pPr/>
              <a:t>18</a:t>
            </a:fld>
            <a:endParaRPr lang="en-US" smtClean="0"/>
          </a:p>
        </p:txBody>
      </p:sp>
      <p:sp>
        <p:nvSpPr>
          <p:cNvPr id="24579" name="Rectangle 2"/>
          <p:cNvSpPr>
            <a:spLocks noGrp="1" noChangeArrowheads="1"/>
          </p:cNvSpPr>
          <p:nvPr>
            <p:ph type="title"/>
          </p:nvPr>
        </p:nvSpPr>
        <p:spPr/>
        <p:txBody>
          <a:bodyPr/>
          <a:lstStyle/>
          <a:p>
            <a:pPr eaLnBrk="1" hangingPunct="1"/>
            <a:r>
              <a:rPr lang="en-US" sz="2800" smtClean="0"/>
              <a:t>Submitting  Your Proposal via Grants.gov</a:t>
            </a:r>
          </a:p>
        </p:txBody>
      </p:sp>
      <p:sp>
        <p:nvSpPr>
          <p:cNvPr id="24580" name="Rectangle 3"/>
          <p:cNvSpPr>
            <a:spLocks noGrp="1" noChangeArrowheads="1"/>
          </p:cNvSpPr>
          <p:nvPr>
            <p:ph type="body" idx="1"/>
          </p:nvPr>
        </p:nvSpPr>
        <p:spPr>
          <a:xfrm>
            <a:off x="784225" y="1566863"/>
            <a:ext cx="8131175" cy="4708525"/>
          </a:xfrm>
        </p:spPr>
        <p:txBody>
          <a:bodyPr/>
          <a:lstStyle/>
          <a:p>
            <a:pPr marL="182563" indent="-182563" eaLnBrk="1" hangingPunct="1"/>
            <a:r>
              <a:rPr lang="en-US" sz="2800" dirty="0" smtClean="0"/>
              <a:t>Grants.gov</a:t>
            </a:r>
            <a:r>
              <a:rPr lang="en-US" dirty="0" smtClean="0"/>
              <a:t> </a:t>
            </a:r>
          </a:p>
          <a:p>
            <a:pPr lvl="1" indent="-388938" eaLnBrk="1" hangingPunct="1">
              <a:buFontTx/>
              <a:buNone/>
            </a:pPr>
            <a:endParaRPr lang="en-US" dirty="0" smtClean="0"/>
          </a:p>
          <a:p>
            <a:pPr lvl="1" indent="-388938" eaLnBrk="1" hangingPunct="1">
              <a:buFontTx/>
              <a:buNone/>
            </a:pPr>
            <a:r>
              <a:rPr lang="en-US" dirty="0" smtClean="0"/>
              <a:t>A centralized location to explore, access, and apply to U.S. Federal </a:t>
            </a:r>
            <a:r>
              <a:rPr lang="en-US" dirty="0"/>
              <a:t>G</a:t>
            </a:r>
            <a:r>
              <a:rPr lang="en-US" dirty="0" smtClean="0"/>
              <a:t>overnment grant </a:t>
            </a:r>
            <a:r>
              <a:rPr lang="en-US" dirty="0"/>
              <a:t>and cooperative agreement </a:t>
            </a:r>
            <a:r>
              <a:rPr lang="en-US" dirty="0" smtClean="0"/>
              <a:t>opportunities</a:t>
            </a:r>
          </a:p>
          <a:p>
            <a:pPr lvl="1" indent="-388938" eaLnBrk="1" hangingPunct="1">
              <a:buNone/>
            </a:pPr>
            <a:endParaRPr lang="en-US" sz="2200" dirty="0" smtClean="0"/>
          </a:p>
          <a:p>
            <a:pPr lvl="1" indent="-388938" eaLnBrk="1" hangingPunct="1">
              <a:buNone/>
            </a:pPr>
            <a:r>
              <a:rPr lang="en-US" sz="2200" dirty="0" smtClean="0"/>
              <a:t>More information is available at:</a:t>
            </a:r>
            <a:br>
              <a:rPr lang="en-US" sz="2200" dirty="0" smtClean="0"/>
            </a:br>
            <a:r>
              <a:rPr lang="en-US" dirty="0" smtClean="0">
                <a:hlinkClick r:id="rId3"/>
              </a:rPr>
              <a:t>http://www.grants.gov/</a:t>
            </a:r>
            <a:r>
              <a:rPr lang="en-US" dirty="0" smtClean="0"/>
              <a:t> </a:t>
            </a:r>
            <a:endParaRPr lang="en-US" sz="2200" dirty="0" smtClean="0"/>
          </a:p>
        </p:txBody>
      </p:sp>
      <p:pic>
        <p:nvPicPr>
          <p:cNvPr id="24581" name="Picture 5" descr="grants"/>
          <p:cNvPicPr>
            <a:picLocks noChangeAspect="1" noChangeArrowheads="1"/>
          </p:cNvPicPr>
          <p:nvPr/>
        </p:nvPicPr>
        <p:blipFill>
          <a:blip r:embed="rId4" cstate="print"/>
          <a:srcRect/>
          <a:stretch>
            <a:fillRect/>
          </a:stretch>
        </p:blipFill>
        <p:spPr bwMode="auto">
          <a:xfrm>
            <a:off x="4695825" y="5213350"/>
            <a:ext cx="4162425" cy="949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p:spPr>
        <p:txBody>
          <a:bodyPr/>
          <a:lstStyle/>
          <a:p>
            <a:fld id="{5522D753-9CA1-4DDB-A46C-82CD83948721}" type="slidenum">
              <a:rPr lang="en-US" smtClean="0"/>
              <a:pPr/>
              <a:t>19</a:t>
            </a:fld>
            <a:endParaRPr lang="en-US" smtClean="0"/>
          </a:p>
        </p:txBody>
      </p:sp>
      <p:sp>
        <p:nvSpPr>
          <p:cNvPr id="25603" name="Rectangle 2"/>
          <p:cNvSpPr>
            <a:spLocks noGrp="1" noChangeArrowheads="1"/>
          </p:cNvSpPr>
          <p:nvPr>
            <p:ph type="title"/>
          </p:nvPr>
        </p:nvSpPr>
        <p:spPr/>
        <p:txBody>
          <a:bodyPr/>
          <a:lstStyle/>
          <a:p>
            <a:pPr eaLnBrk="1" hangingPunct="1"/>
            <a:r>
              <a:rPr lang="en-US" sz="2800" dirty="0" smtClean="0"/>
              <a:t>Registration on Grants.gov</a:t>
            </a:r>
          </a:p>
        </p:txBody>
      </p:sp>
      <p:sp>
        <p:nvSpPr>
          <p:cNvPr id="25604" name="Rectangle 3"/>
          <p:cNvSpPr>
            <a:spLocks noGrp="1" noChangeArrowheads="1"/>
          </p:cNvSpPr>
          <p:nvPr>
            <p:ph type="body" idx="1"/>
          </p:nvPr>
        </p:nvSpPr>
        <p:spPr>
          <a:xfrm>
            <a:off x="784225" y="1566863"/>
            <a:ext cx="8131175" cy="4708525"/>
          </a:xfrm>
        </p:spPr>
        <p:txBody>
          <a:bodyPr/>
          <a:lstStyle/>
          <a:p>
            <a:pPr marL="182563" indent="-182563" eaLnBrk="1" hangingPunct="1"/>
            <a:r>
              <a:rPr lang="en-US" dirty="0"/>
              <a:t>Steps for registration on </a:t>
            </a:r>
            <a:r>
              <a:rPr lang="en-US" dirty="0" smtClean="0"/>
              <a:t>Grants.gov</a:t>
            </a:r>
          </a:p>
          <a:p>
            <a:pPr marL="754062" lvl="1" indent="-457200" eaLnBrk="1" hangingPunct="1">
              <a:buFont typeface="+mj-lt"/>
              <a:buAutoNum type="arabicPeriod"/>
            </a:pPr>
            <a:r>
              <a:rPr lang="en-US" dirty="0" smtClean="0"/>
              <a:t>Obtain </a:t>
            </a:r>
            <a:r>
              <a:rPr lang="en-US" dirty="0"/>
              <a:t>DUNS </a:t>
            </a:r>
            <a:r>
              <a:rPr lang="en-US" dirty="0" smtClean="0"/>
              <a:t>Number</a:t>
            </a:r>
          </a:p>
          <a:p>
            <a:pPr marL="754062" lvl="1" indent="-457200" eaLnBrk="1" hangingPunct="1">
              <a:buFont typeface="+mj-lt"/>
              <a:buAutoNum type="arabicPeriod"/>
            </a:pPr>
            <a:r>
              <a:rPr lang="en-US" sz="2400" dirty="0" smtClean="0"/>
              <a:t>Register </a:t>
            </a:r>
            <a:r>
              <a:rPr lang="en-US" sz="2400" dirty="0"/>
              <a:t>with </a:t>
            </a:r>
            <a:r>
              <a:rPr lang="en-US" sz="2400" dirty="0" smtClean="0"/>
              <a:t>CCR</a:t>
            </a:r>
          </a:p>
          <a:p>
            <a:pPr marL="754062" lvl="1" indent="-457200" eaLnBrk="1" hangingPunct="1">
              <a:buFont typeface="+mj-lt"/>
              <a:buAutoNum type="arabicPeriod"/>
            </a:pPr>
            <a:r>
              <a:rPr lang="en-US" sz="2400" dirty="0" smtClean="0"/>
              <a:t>Create AOR Username </a:t>
            </a:r>
            <a:r>
              <a:rPr lang="en-US" sz="2400" dirty="0"/>
              <a:t>&amp; </a:t>
            </a:r>
            <a:r>
              <a:rPr lang="en-US" sz="2400" dirty="0" smtClean="0"/>
              <a:t>Password</a:t>
            </a:r>
          </a:p>
          <a:p>
            <a:pPr marL="754062" lvl="1" indent="-457200" eaLnBrk="1" hangingPunct="1">
              <a:buFont typeface="+mj-lt"/>
              <a:buAutoNum type="arabicPeriod"/>
            </a:pPr>
            <a:r>
              <a:rPr lang="en-US" sz="2400" dirty="0" smtClean="0"/>
              <a:t>AOR Authorization</a:t>
            </a:r>
          </a:p>
          <a:p>
            <a:pPr marL="754062" lvl="1" indent="-457200" eaLnBrk="1" hangingPunct="1">
              <a:buFont typeface="+mj-lt"/>
              <a:buAutoNum type="arabicPeriod"/>
            </a:pPr>
            <a:r>
              <a:rPr lang="en-US" sz="2400" dirty="0" smtClean="0"/>
              <a:t>Track AOR status</a:t>
            </a:r>
          </a:p>
          <a:p>
            <a:pPr marL="296862" lvl="1" indent="0" eaLnBrk="1" hangingPunct="1">
              <a:buNone/>
            </a:pPr>
            <a:endParaRPr lang="en-US" sz="900" dirty="0"/>
          </a:p>
          <a:p>
            <a:pPr marL="0" indent="-160338" eaLnBrk="1" hangingPunct="1"/>
            <a:r>
              <a:rPr lang="en-US" sz="2400" dirty="0"/>
              <a:t>More information at </a:t>
            </a:r>
            <a:r>
              <a:rPr lang="en-US" sz="2000" dirty="0">
                <a:hlinkClick r:id="rId3"/>
              </a:rPr>
              <a:t>http://www07.grants.gov/applicants/organization_registration.jsp</a:t>
            </a:r>
            <a:endParaRPr lang="en-US" sz="2000" dirty="0" smtClean="0"/>
          </a:p>
          <a:p>
            <a:pPr marL="182563" indent="-182563" eaLnBrk="1" hangingPunct="1"/>
            <a:endParaRPr lang="en-US" sz="1000" dirty="0"/>
          </a:p>
          <a:p>
            <a:pPr marL="182563" indent="-182563" eaLnBrk="1" hangingPunct="1"/>
            <a:r>
              <a:rPr lang="en-US" sz="1000" dirty="0"/>
              <a:t> </a:t>
            </a:r>
            <a:endParaRPr lang="en-US" sz="1000" dirty="0" smtClean="0"/>
          </a:p>
        </p:txBody>
      </p:sp>
      <p:pic>
        <p:nvPicPr>
          <p:cNvPr id="7" name="Picture 5" descr="grants"/>
          <p:cNvPicPr>
            <a:picLocks noChangeAspect="1" noChangeArrowheads="1"/>
          </p:cNvPicPr>
          <p:nvPr/>
        </p:nvPicPr>
        <p:blipFill>
          <a:blip r:embed="rId4" cstate="print"/>
          <a:srcRect/>
          <a:stretch>
            <a:fillRect/>
          </a:stretch>
        </p:blipFill>
        <p:spPr bwMode="auto">
          <a:xfrm>
            <a:off x="4981575" y="5327875"/>
            <a:ext cx="4162425" cy="949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p:spPr>
        <p:txBody>
          <a:bodyPr/>
          <a:lstStyle/>
          <a:p>
            <a:fld id="{5522D753-9CA1-4DDB-A46C-82CD83948721}" type="slidenum">
              <a:rPr lang="en-US" smtClean="0"/>
              <a:pPr/>
              <a:t>20</a:t>
            </a:fld>
            <a:endParaRPr lang="en-US" smtClean="0"/>
          </a:p>
        </p:txBody>
      </p:sp>
      <p:sp>
        <p:nvSpPr>
          <p:cNvPr id="25603" name="Rectangle 2"/>
          <p:cNvSpPr>
            <a:spLocks noGrp="1" noChangeArrowheads="1"/>
          </p:cNvSpPr>
          <p:nvPr>
            <p:ph type="title"/>
          </p:nvPr>
        </p:nvSpPr>
        <p:spPr/>
        <p:txBody>
          <a:bodyPr/>
          <a:lstStyle/>
          <a:p>
            <a:pPr eaLnBrk="1" hangingPunct="1"/>
            <a:r>
              <a:rPr lang="en-US" sz="2800" dirty="0" smtClean="0"/>
              <a:t>Registration on Grants.gov</a:t>
            </a:r>
          </a:p>
        </p:txBody>
      </p:sp>
      <p:sp>
        <p:nvSpPr>
          <p:cNvPr id="25604" name="Rectangle 3"/>
          <p:cNvSpPr>
            <a:spLocks noGrp="1" noChangeArrowheads="1"/>
          </p:cNvSpPr>
          <p:nvPr>
            <p:ph type="body" idx="1"/>
          </p:nvPr>
        </p:nvSpPr>
        <p:spPr>
          <a:xfrm>
            <a:off x="784225" y="1566863"/>
            <a:ext cx="8131175" cy="4708525"/>
          </a:xfrm>
        </p:spPr>
        <p:txBody>
          <a:bodyPr/>
          <a:lstStyle/>
          <a:p>
            <a:pPr marL="182563" indent="-182563" eaLnBrk="1" hangingPunct="1"/>
            <a:r>
              <a:rPr lang="en-US" sz="2800" dirty="0" smtClean="0"/>
              <a:t>Step 1: DUNS Number</a:t>
            </a:r>
            <a:r>
              <a:rPr lang="en-US" dirty="0" smtClean="0"/>
              <a:t> </a:t>
            </a:r>
          </a:p>
          <a:p>
            <a:pPr lvl="1" indent="-388938" eaLnBrk="1" hangingPunct="1">
              <a:buFontTx/>
              <a:buNone/>
            </a:pPr>
            <a:r>
              <a:rPr lang="en-US" dirty="0" smtClean="0"/>
              <a:t>A Data Universal Number System (DUNS) Number is required to submit a CAP Proposal</a:t>
            </a:r>
          </a:p>
          <a:p>
            <a:pPr lvl="1" indent="-388938" eaLnBrk="1" hangingPunct="1"/>
            <a:r>
              <a:rPr lang="en-US" sz="2200" dirty="0" smtClean="0"/>
              <a:t>A universal standard for identifying businesses</a:t>
            </a:r>
            <a:endParaRPr lang="en-US" dirty="0" smtClean="0"/>
          </a:p>
          <a:p>
            <a:pPr lvl="1" indent="-388938" eaLnBrk="1" hangingPunct="1"/>
            <a:r>
              <a:rPr lang="en-US" sz="2200" dirty="0" smtClean="0"/>
              <a:t>If your organization does not have a DUNS Number request one from:</a:t>
            </a:r>
            <a:br>
              <a:rPr lang="en-US" sz="2200" dirty="0" smtClean="0"/>
            </a:br>
            <a:r>
              <a:rPr lang="en-US" dirty="0" smtClean="0">
                <a:hlinkClick r:id="rId3"/>
              </a:rPr>
              <a:t>http://www.dnb.com/</a:t>
            </a:r>
            <a:r>
              <a:rPr lang="en-US" dirty="0" smtClean="0"/>
              <a:t>  </a:t>
            </a:r>
            <a:endParaRPr lang="en-US" sz="2200"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3369" y="4999264"/>
            <a:ext cx="1552575" cy="952500"/>
          </a:xfrm>
          <a:prstGeom prst="rect">
            <a:avLst/>
          </a:prstGeom>
        </p:spPr>
      </p:pic>
    </p:spTree>
    <p:extLst>
      <p:ext uri="{BB962C8B-B14F-4D97-AF65-F5344CB8AC3E}">
        <p14:creationId xmlns:p14="http://schemas.microsoft.com/office/powerpoint/2010/main" val="16555703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p>
            <a:fld id="{4AB8DB21-8807-4E3E-874B-F7046F27E014}" type="slidenum">
              <a:rPr lang="en-US" smtClean="0"/>
              <a:pPr/>
              <a:t>21</a:t>
            </a:fld>
            <a:endParaRPr lang="en-US" smtClean="0"/>
          </a:p>
        </p:txBody>
      </p:sp>
      <p:sp>
        <p:nvSpPr>
          <p:cNvPr id="26627" name="Rectangle 2"/>
          <p:cNvSpPr>
            <a:spLocks noGrp="1" noChangeArrowheads="1"/>
          </p:cNvSpPr>
          <p:nvPr>
            <p:ph type="title"/>
          </p:nvPr>
        </p:nvSpPr>
        <p:spPr/>
        <p:txBody>
          <a:bodyPr/>
          <a:lstStyle/>
          <a:p>
            <a:pPr eaLnBrk="1" hangingPunct="1"/>
            <a:r>
              <a:rPr lang="en-US" sz="2800" dirty="0"/>
              <a:t>Registration on Grants.gov</a:t>
            </a:r>
            <a:endParaRPr lang="en-US" sz="2800" dirty="0" smtClean="0"/>
          </a:p>
        </p:txBody>
      </p:sp>
      <p:sp>
        <p:nvSpPr>
          <p:cNvPr id="26628" name="Rectangle 3"/>
          <p:cNvSpPr>
            <a:spLocks noGrp="1" noChangeArrowheads="1"/>
          </p:cNvSpPr>
          <p:nvPr>
            <p:ph type="body" idx="1"/>
          </p:nvPr>
        </p:nvSpPr>
        <p:spPr>
          <a:xfrm>
            <a:off x="784225" y="1566863"/>
            <a:ext cx="8131175" cy="4708525"/>
          </a:xfrm>
        </p:spPr>
        <p:txBody>
          <a:bodyPr/>
          <a:lstStyle/>
          <a:p>
            <a:pPr marL="400050" indent="-400050" eaLnBrk="1" hangingPunct="1"/>
            <a:r>
              <a:rPr lang="en-US" sz="2800" dirty="0" smtClean="0"/>
              <a:t>Step 2: Register with the Federal Central Contract Registry (CCR)</a:t>
            </a:r>
            <a:endParaRPr lang="en-US" dirty="0" smtClean="0"/>
          </a:p>
          <a:p>
            <a:pPr marL="960438" lvl="1" indent="-331788" eaLnBrk="1" hangingPunct="1"/>
            <a:r>
              <a:rPr lang="en-US" dirty="0" smtClean="0"/>
              <a:t>CCR </a:t>
            </a:r>
            <a:r>
              <a:rPr lang="en-US" dirty="0"/>
              <a:t>is a database containing business information about the Federal Gov’t trading partners</a:t>
            </a:r>
          </a:p>
          <a:p>
            <a:pPr marL="960438" lvl="1" indent="-331788" eaLnBrk="1" hangingPunct="1"/>
            <a:r>
              <a:rPr lang="en-US" dirty="0"/>
              <a:t>Your organization must be registered and an E-Business Point of Contact (E-Biz POC) designated</a:t>
            </a:r>
          </a:p>
          <a:p>
            <a:pPr marL="960438" lvl="1" indent="-331788" eaLnBrk="1" hangingPunct="1"/>
            <a:r>
              <a:rPr lang="en-US" dirty="0" smtClean="0"/>
              <a:t>Check </a:t>
            </a:r>
            <a:r>
              <a:rPr lang="en-US" dirty="0"/>
              <a:t>with </a:t>
            </a:r>
            <a:r>
              <a:rPr lang="en-US" dirty="0" smtClean="0"/>
              <a:t>organization’s </a:t>
            </a:r>
            <a:r>
              <a:rPr lang="en-US" dirty="0"/>
              <a:t>grant administrator, chief financial officer or authorizing official </a:t>
            </a:r>
            <a:r>
              <a:rPr lang="en-US" dirty="0" smtClean="0"/>
              <a:t>if </a:t>
            </a:r>
            <a:r>
              <a:rPr lang="en-US" dirty="0"/>
              <a:t>your organization </a:t>
            </a:r>
            <a:r>
              <a:rPr lang="en-US" dirty="0" smtClean="0"/>
              <a:t>is already registered</a:t>
            </a:r>
          </a:p>
          <a:p>
            <a:pPr marL="960438" lvl="1" indent="-331788" eaLnBrk="1" hangingPunct="1"/>
            <a:r>
              <a:rPr lang="en-US" dirty="0" smtClean="0"/>
              <a:t>Must </a:t>
            </a:r>
            <a:r>
              <a:rPr lang="en-US" dirty="0"/>
              <a:t>be renewed yearly</a:t>
            </a:r>
          </a:p>
          <a:p>
            <a:pPr marL="960438" lvl="1" indent="-331788" eaLnBrk="1" hangingPunct="1"/>
            <a:endParaRPr lang="en-US" dirty="0" smtClean="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7826" y="5499550"/>
            <a:ext cx="762000" cy="68580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8772" y="5006068"/>
            <a:ext cx="1225228" cy="117928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p>
            <a:fld id="{4AB8DB21-8807-4E3E-874B-F7046F27E014}" type="slidenum">
              <a:rPr lang="en-US" smtClean="0"/>
              <a:pPr/>
              <a:t>22</a:t>
            </a:fld>
            <a:endParaRPr lang="en-US" smtClean="0"/>
          </a:p>
        </p:txBody>
      </p:sp>
      <p:sp>
        <p:nvSpPr>
          <p:cNvPr id="26627" name="Rectangle 2"/>
          <p:cNvSpPr>
            <a:spLocks noGrp="1" noChangeArrowheads="1"/>
          </p:cNvSpPr>
          <p:nvPr>
            <p:ph type="title"/>
          </p:nvPr>
        </p:nvSpPr>
        <p:spPr/>
        <p:txBody>
          <a:bodyPr/>
          <a:lstStyle/>
          <a:p>
            <a:pPr eaLnBrk="1" hangingPunct="1"/>
            <a:r>
              <a:rPr lang="en-US" sz="2800" dirty="0"/>
              <a:t>Registration on Grants.gov</a:t>
            </a:r>
            <a:endParaRPr lang="en-US" sz="2800" dirty="0" smtClean="0"/>
          </a:p>
        </p:txBody>
      </p:sp>
      <p:sp>
        <p:nvSpPr>
          <p:cNvPr id="26628" name="Rectangle 3"/>
          <p:cNvSpPr>
            <a:spLocks noGrp="1" noChangeArrowheads="1"/>
          </p:cNvSpPr>
          <p:nvPr>
            <p:ph type="body" idx="1"/>
          </p:nvPr>
        </p:nvSpPr>
        <p:spPr>
          <a:xfrm>
            <a:off x="784225" y="1566863"/>
            <a:ext cx="8131175" cy="4708525"/>
          </a:xfrm>
        </p:spPr>
        <p:txBody>
          <a:bodyPr/>
          <a:lstStyle/>
          <a:p>
            <a:pPr marL="400050" indent="-400050" eaLnBrk="1" hangingPunct="1"/>
            <a:r>
              <a:rPr lang="en-US" sz="2800" dirty="0" smtClean="0"/>
              <a:t>Step 2 (</a:t>
            </a:r>
            <a:r>
              <a:rPr lang="en-US" sz="2800" dirty="0" err="1" smtClean="0"/>
              <a:t>con’t</a:t>
            </a:r>
            <a:r>
              <a:rPr lang="en-US" sz="2800" dirty="0" smtClean="0"/>
              <a:t>): Register with the Federal Central Contract Registry (CCR) </a:t>
            </a:r>
            <a:endParaRPr lang="en-US" dirty="0" smtClean="0"/>
          </a:p>
          <a:p>
            <a:pPr marL="960438" lvl="1" indent="-331788" eaLnBrk="1" hangingPunct="1"/>
            <a:r>
              <a:rPr lang="en-US" sz="2000" dirty="0"/>
              <a:t>E-Biz </a:t>
            </a:r>
            <a:r>
              <a:rPr lang="en-US" sz="2000" dirty="0" smtClean="0"/>
              <a:t>POC will have a Marketing </a:t>
            </a:r>
            <a:r>
              <a:rPr lang="en-US" sz="2000" dirty="0"/>
              <a:t>Personal Identification Number (MPIN) </a:t>
            </a:r>
            <a:r>
              <a:rPr lang="en-US" sz="2000" dirty="0" smtClean="0"/>
              <a:t>to login into Grants.gov</a:t>
            </a:r>
            <a:endParaRPr lang="en-US" sz="2200" dirty="0" smtClean="0"/>
          </a:p>
          <a:p>
            <a:pPr marL="960438" lvl="1" indent="-331788" eaLnBrk="1" hangingPunct="1"/>
            <a:r>
              <a:rPr lang="en-US" sz="2200" dirty="0"/>
              <a:t>E-Biz </a:t>
            </a:r>
            <a:r>
              <a:rPr lang="en-US" sz="2200" dirty="0" smtClean="0"/>
              <a:t>POC will identified who in your organization is an </a:t>
            </a:r>
            <a:r>
              <a:rPr lang="en-US" sz="2200" dirty="0"/>
              <a:t>Authorized Organization Representative (AOR) </a:t>
            </a:r>
            <a:r>
              <a:rPr lang="en-US" sz="2200" dirty="0" smtClean="0"/>
              <a:t>and may submit applications via Grants.gov</a:t>
            </a:r>
          </a:p>
          <a:p>
            <a:pPr marL="960438" lvl="1" indent="-331788" eaLnBrk="1" hangingPunct="1"/>
            <a:r>
              <a:rPr lang="en-US" sz="2200" dirty="0" smtClean="0"/>
              <a:t>More information is available from:</a:t>
            </a:r>
            <a:br>
              <a:rPr lang="en-US" sz="2200" dirty="0" smtClean="0"/>
            </a:br>
            <a:r>
              <a:rPr lang="en-US" sz="2200" dirty="0" smtClean="0">
                <a:hlinkClick r:id="rId3"/>
              </a:rPr>
              <a:t>http://www.ccr.gov</a:t>
            </a:r>
            <a:r>
              <a:rPr lang="en-US" sz="2200" dirty="0" smtClean="0"/>
              <a:t>  </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826" y="5499550"/>
            <a:ext cx="762000" cy="685800"/>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8772" y="5006068"/>
            <a:ext cx="1225228" cy="1179282"/>
          </a:xfrm>
          <a:prstGeom prst="rect">
            <a:avLst/>
          </a:prstGeom>
        </p:spPr>
      </p:pic>
    </p:spTree>
    <p:extLst>
      <p:ext uri="{BB962C8B-B14F-4D97-AF65-F5344CB8AC3E}">
        <p14:creationId xmlns:p14="http://schemas.microsoft.com/office/powerpoint/2010/main" val="40836535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p>
            <a:fld id="{4AB8DB21-8807-4E3E-874B-F7046F27E014}" type="slidenum">
              <a:rPr lang="en-US" smtClean="0"/>
              <a:pPr/>
              <a:t>23</a:t>
            </a:fld>
            <a:endParaRPr lang="en-US" smtClean="0"/>
          </a:p>
        </p:txBody>
      </p:sp>
      <p:sp>
        <p:nvSpPr>
          <p:cNvPr id="26627" name="Rectangle 2"/>
          <p:cNvSpPr>
            <a:spLocks noGrp="1" noChangeArrowheads="1"/>
          </p:cNvSpPr>
          <p:nvPr>
            <p:ph type="title"/>
          </p:nvPr>
        </p:nvSpPr>
        <p:spPr/>
        <p:txBody>
          <a:bodyPr/>
          <a:lstStyle/>
          <a:p>
            <a:pPr eaLnBrk="1" hangingPunct="1"/>
            <a:r>
              <a:rPr lang="en-US" sz="2800" dirty="0"/>
              <a:t>Registration on Grants.gov</a:t>
            </a:r>
            <a:endParaRPr lang="en-US" sz="2800" dirty="0" smtClean="0"/>
          </a:p>
        </p:txBody>
      </p:sp>
      <p:sp>
        <p:nvSpPr>
          <p:cNvPr id="26628" name="Rectangle 3"/>
          <p:cNvSpPr>
            <a:spLocks noGrp="1" noChangeArrowheads="1"/>
          </p:cNvSpPr>
          <p:nvPr>
            <p:ph type="body" idx="1"/>
          </p:nvPr>
        </p:nvSpPr>
        <p:spPr>
          <a:xfrm>
            <a:off x="784225" y="1566863"/>
            <a:ext cx="8131175" cy="4708525"/>
          </a:xfrm>
        </p:spPr>
        <p:txBody>
          <a:bodyPr/>
          <a:lstStyle/>
          <a:p>
            <a:pPr marL="400050" indent="-400050" eaLnBrk="1" hangingPunct="1"/>
            <a:r>
              <a:rPr lang="en-US" sz="2800" dirty="0" smtClean="0"/>
              <a:t>Step </a:t>
            </a:r>
            <a:r>
              <a:rPr lang="en-US" dirty="0" smtClean="0"/>
              <a:t>3: Username and password</a:t>
            </a:r>
          </a:p>
          <a:p>
            <a:pPr marL="400050" indent="-400050" eaLnBrk="1" hangingPunct="1"/>
            <a:endParaRPr lang="en-US" sz="1600" dirty="0" smtClean="0"/>
          </a:p>
          <a:p>
            <a:pPr marL="960438" lvl="1" indent="-331788" eaLnBrk="1" hangingPunct="1"/>
            <a:r>
              <a:rPr lang="en-US" sz="2800" dirty="0" smtClean="0"/>
              <a:t>Complete </a:t>
            </a:r>
            <a:r>
              <a:rPr lang="en-US" sz="2800" dirty="0"/>
              <a:t>your AOR profile on </a:t>
            </a:r>
            <a:r>
              <a:rPr lang="en-US" sz="2800" dirty="0" smtClean="0"/>
              <a:t>Grants.gov</a:t>
            </a:r>
          </a:p>
          <a:p>
            <a:pPr marL="960438" lvl="1" indent="-331788" eaLnBrk="1" hangingPunct="1"/>
            <a:r>
              <a:rPr lang="en-US" sz="2800" dirty="0" smtClean="0"/>
              <a:t>Create </a:t>
            </a:r>
            <a:r>
              <a:rPr lang="en-US" sz="2800" dirty="0"/>
              <a:t>your username and </a:t>
            </a:r>
            <a:r>
              <a:rPr lang="en-US" sz="2800" dirty="0" smtClean="0"/>
              <a:t>password</a:t>
            </a:r>
          </a:p>
          <a:p>
            <a:pPr marL="960438" lvl="1" indent="-331788" eaLnBrk="1" hangingPunct="1"/>
            <a:r>
              <a:rPr lang="en-US" sz="2800" dirty="0" smtClean="0"/>
              <a:t>Need your </a:t>
            </a:r>
            <a:r>
              <a:rPr lang="en-US" sz="2800" dirty="0"/>
              <a:t>organization’s DUNS Number </a:t>
            </a:r>
            <a:r>
              <a:rPr lang="en-US" dirty="0" smtClean="0">
                <a:hlinkClick r:id="rId3"/>
              </a:rPr>
              <a:t>https</a:t>
            </a:r>
            <a:r>
              <a:rPr lang="en-US" dirty="0">
                <a:hlinkClick r:id="rId3"/>
              </a:rPr>
              <a:t>://apply07.grants.gov/apply/OrcRegister</a:t>
            </a:r>
            <a:r>
              <a:rPr lang="en-US" dirty="0"/>
              <a:t>. </a:t>
            </a:r>
            <a:endParaRPr lang="en-US" dirty="0" smtClean="0"/>
          </a:p>
        </p:txBody>
      </p:sp>
    </p:spTree>
    <p:extLst>
      <p:ext uri="{BB962C8B-B14F-4D97-AF65-F5344CB8AC3E}">
        <p14:creationId xmlns:p14="http://schemas.microsoft.com/office/powerpoint/2010/main" val="36605809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p>
            <a:fld id="{4AB8DB21-8807-4E3E-874B-F7046F27E014}" type="slidenum">
              <a:rPr lang="en-US" smtClean="0"/>
              <a:pPr/>
              <a:t>24</a:t>
            </a:fld>
            <a:endParaRPr lang="en-US" smtClean="0"/>
          </a:p>
        </p:txBody>
      </p:sp>
      <p:sp>
        <p:nvSpPr>
          <p:cNvPr id="26627" name="Rectangle 2"/>
          <p:cNvSpPr>
            <a:spLocks noGrp="1" noChangeArrowheads="1"/>
          </p:cNvSpPr>
          <p:nvPr>
            <p:ph type="title"/>
          </p:nvPr>
        </p:nvSpPr>
        <p:spPr/>
        <p:txBody>
          <a:bodyPr/>
          <a:lstStyle/>
          <a:p>
            <a:pPr eaLnBrk="1" hangingPunct="1"/>
            <a:r>
              <a:rPr lang="en-US" sz="2800" dirty="0"/>
              <a:t>Registration on Grants.gov</a:t>
            </a:r>
            <a:endParaRPr lang="en-US" sz="2800" dirty="0" smtClean="0"/>
          </a:p>
        </p:txBody>
      </p:sp>
      <p:sp>
        <p:nvSpPr>
          <p:cNvPr id="26628" name="Rectangle 3"/>
          <p:cNvSpPr>
            <a:spLocks noGrp="1" noChangeArrowheads="1"/>
          </p:cNvSpPr>
          <p:nvPr>
            <p:ph type="body" idx="1"/>
          </p:nvPr>
        </p:nvSpPr>
        <p:spPr>
          <a:xfrm>
            <a:off x="784225" y="1566863"/>
            <a:ext cx="8131175" cy="4708525"/>
          </a:xfrm>
        </p:spPr>
        <p:txBody>
          <a:bodyPr/>
          <a:lstStyle/>
          <a:p>
            <a:pPr marL="400050" indent="-400050" eaLnBrk="1" hangingPunct="1"/>
            <a:r>
              <a:rPr lang="en-US" sz="2800" dirty="0" smtClean="0"/>
              <a:t>Step </a:t>
            </a:r>
            <a:r>
              <a:rPr lang="en-US" dirty="0"/>
              <a:t>4: AOR Authorization</a:t>
            </a:r>
          </a:p>
          <a:p>
            <a:pPr marL="400050" indent="-400050" eaLnBrk="1" hangingPunct="1"/>
            <a:endParaRPr lang="en-US" sz="1600" dirty="0" smtClean="0"/>
          </a:p>
          <a:p>
            <a:pPr marL="960438" lvl="1" indent="-331788" eaLnBrk="1" hangingPunct="1"/>
            <a:r>
              <a:rPr lang="en-US" dirty="0"/>
              <a:t>E-Business Point of Contact </a:t>
            </a:r>
            <a:r>
              <a:rPr lang="en-US" dirty="0" smtClean="0"/>
              <a:t>needs to confirm who is an AOR</a:t>
            </a:r>
          </a:p>
          <a:p>
            <a:pPr marL="960438" lvl="1" indent="-331788" eaLnBrk="1" hangingPunct="1"/>
            <a:r>
              <a:rPr lang="en-US" dirty="0" smtClean="0"/>
              <a:t>An organization have more </a:t>
            </a:r>
            <a:r>
              <a:rPr lang="en-US" dirty="0"/>
              <a:t>than one </a:t>
            </a:r>
            <a:r>
              <a:rPr lang="en-US" dirty="0" smtClean="0"/>
              <a:t>AOR</a:t>
            </a:r>
          </a:p>
          <a:p>
            <a:pPr marL="960438" lvl="1" indent="-331788" eaLnBrk="1" hangingPunct="1"/>
            <a:r>
              <a:rPr lang="en-US" dirty="0" smtClean="0"/>
              <a:t>The </a:t>
            </a:r>
            <a:r>
              <a:rPr lang="en-US" dirty="0"/>
              <a:t>E-Biz POC </a:t>
            </a:r>
            <a:r>
              <a:rPr lang="en-US" dirty="0" smtClean="0"/>
              <a:t>can be an AOR </a:t>
            </a:r>
            <a:endParaRPr lang="en-US" dirty="0"/>
          </a:p>
          <a:p>
            <a:pPr marL="628650" lvl="1" indent="0" eaLnBrk="1" hangingPunct="1">
              <a:buNone/>
            </a:pPr>
            <a:r>
              <a:rPr lang="en-US" dirty="0" smtClean="0"/>
              <a:t> </a:t>
            </a:r>
          </a:p>
        </p:txBody>
      </p:sp>
    </p:spTree>
    <p:extLst>
      <p:ext uri="{BB962C8B-B14F-4D97-AF65-F5344CB8AC3E}">
        <p14:creationId xmlns:p14="http://schemas.microsoft.com/office/powerpoint/2010/main" val="36282894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p>
            <a:fld id="{4AB8DB21-8807-4E3E-874B-F7046F27E014}" type="slidenum">
              <a:rPr lang="en-US" smtClean="0"/>
              <a:pPr/>
              <a:t>25</a:t>
            </a:fld>
            <a:endParaRPr lang="en-US" smtClean="0"/>
          </a:p>
        </p:txBody>
      </p:sp>
      <p:sp>
        <p:nvSpPr>
          <p:cNvPr id="26627" name="Rectangle 2"/>
          <p:cNvSpPr>
            <a:spLocks noGrp="1" noChangeArrowheads="1"/>
          </p:cNvSpPr>
          <p:nvPr>
            <p:ph type="title"/>
          </p:nvPr>
        </p:nvSpPr>
        <p:spPr/>
        <p:txBody>
          <a:bodyPr/>
          <a:lstStyle/>
          <a:p>
            <a:pPr eaLnBrk="1" hangingPunct="1"/>
            <a:r>
              <a:rPr lang="en-US" sz="2800" dirty="0"/>
              <a:t>Registration on Grants.gov</a:t>
            </a:r>
            <a:endParaRPr lang="en-US" sz="2800" dirty="0" smtClean="0"/>
          </a:p>
        </p:txBody>
      </p:sp>
      <p:sp>
        <p:nvSpPr>
          <p:cNvPr id="26628" name="Rectangle 3"/>
          <p:cNvSpPr>
            <a:spLocks noGrp="1" noChangeArrowheads="1"/>
          </p:cNvSpPr>
          <p:nvPr>
            <p:ph type="body" idx="1"/>
          </p:nvPr>
        </p:nvSpPr>
        <p:spPr>
          <a:xfrm>
            <a:off x="784225" y="1566863"/>
            <a:ext cx="8131175" cy="4708525"/>
          </a:xfrm>
        </p:spPr>
        <p:txBody>
          <a:bodyPr/>
          <a:lstStyle/>
          <a:p>
            <a:pPr marL="400050" lvl="1" indent="-400050" eaLnBrk="1" hangingPunct="1">
              <a:buClrTx/>
              <a:buNone/>
            </a:pPr>
            <a:r>
              <a:rPr lang="en-US" sz="2800" dirty="0" smtClean="0"/>
              <a:t>Step </a:t>
            </a:r>
            <a:r>
              <a:rPr lang="en-US" dirty="0" smtClean="0"/>
              <a:t>5: </a:t>
            </a:r>
            <a:r>
              <a:rPr lang="en-US" dirty="0"/>
              <a:t>Track AOR status</a:t>
            </a:r>
          </a:p>
          <a:p>
            <a:pPr marL="400050" indent="-400050" eaLnBrk="1" hangingPunct="1"/>
            <a:endParaRPr lang="en-US" sz="1600" dirty="0" smtClean="0"/>
          </a:p>
          <a:p>
            <a:pPr marL="960438" lvl="1" indent="-331788" eaLnBrk="1" hangingPunct="1"/>
            <a:r>
              <a:rPr lang="en-US" dirty="0" smtClean="0"/>
              <a:t>The link is </a:t>
            </a:r>
            <a:r>
              <a:rPr lang="en-US" sz="2000" dirty="0" smtClean="0">
                <a:hlinkClick r:id="rId3"/>
              </a:rPr>
              <a:t>http</a:t>
            </a:r>
            <a:r>
              <a:rPr lang="en-US" sz="2000" dirty="0">
                <a:hlinkClick r:id="rId3"/>
              </a:rPr>
              <a:t>://</a:t>
            </a:r>
            <a:r>
              <a:rPr lang="en-US" sz="2000" dirty="0" smtClean="0">
                <a:hlinkClick r:id="rId3"/>
              </a:rPr>
              <a:t>www07.grants.gov/applicants/applicant_profile.jsp</a:t>
            </a:r>
            <a:endParaRPr lang="en-US" sz="2000" dirty="0" smtClean="0"/>
          </a:p>
          <a:p>
            <a:pPr marL="960438" lvl="1" indent="-331788" eaLnBrk="1" hangingPunct="1"/>
            <a:r>
              <a:rPr lang="en-US" dirty="0" smtClean="0"/>
              <a:t>Login </a:t>
            </a:r>
            <a:r>
              <a:rPr lang="en-US" dirty="0"/>
              <a:t>as an Applicant </a:t>
            </a:r>
            <a:r>
              <a:rPr lang="en-US" dirty="0" smtClean="0"/>
              <a:t>using username </a:t>
            </a:r>
            <a:r>
              <a:rPr lang="en-US" dirty="0"/>
              <a:t>&amp; password you obtained in Step </a:t>
            </a:r>
            <a:r>
              <a:rPr lang="en-US" dirty="0" smtClean="0"/>
              <a:t>3</a:t>
            </a:r>
          </a:p>
        </p:txBody>
      </p:sp>
    </p:spTree>
    <p:extLst>
      <p:ext uri="{BB962C8B-B14F-4D97-AF65-F5344CB8AC3E}">
        <p14:creationId xmlns:p14="http://schemas.microsoft.com/office/powerpoint/2010/main" val="26850564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p:spPr>
        <p:txBody>
          <a:bodyPr/>
          <a:lstStyle/>
          <a:p>
            <a:fld id="{8FDFEA16-A504-480A-BE42-892F4C596D5D}" type="slidenum">
              <a:rPr lang="en-US" smtClean="0"/>
              <a:pPr/>
              <a:t>26</a:t>
            </a:fld>
            <a:endParaRPr lang="en-US" smtClean="0"/>
          </a:p>
        </p:txBody>
      </p:sp>
      <p:sp>
        <p:nvSpPr>
          <p:cNvPr id="27651" name="Rectangle 2"/>
          <p:cNvSpPr>
            <a:spLocks noGrp="1" noChangeArrowheads="1"/>
          </p:cNvSpPr>
          <p:nvPr>
            <p:ph type="title"/>
          </p:nvPr>
        </p:nvSpPr>
        <p:spPr/>
        <p:txBody>
          <a:bodyPr/>
          <a:lstStyle/>
          <a:p>
            <a:pPr marL="754063" lvl="1" indent="-457200" eaLnBrk="1" hangingPunct="1"/>
            <a:r>
              <a:rPr lang="en-US" dirty="0"/>
              <a:t>Prepare </a:t>
            </a:r>
            <a:r>
              <a:rPr lang="en-US" dirty="0" smtClean="0"/>
              <a:t>CAP Proposal </a:t>
            </a:r>
            <a:endParaRPr lang="en-US" dirty="0"/>
          </a:p>
        </p:txBody>
      </p:sp>
      <p:sp>
        <p:nvSpPr>
          <p:cNvPr id="27652" name="Rectangle 3"/>
          <p:cNvSpPr>
            <a:spLocks noGrp="1" noChangeArrowheads="1"/>
          </p:cNvSpPr>
          <p:nvPr>
            <p:ph type="body" idx="1"/>
          </p:nvPr>
        </p:nvSpPr>
        <p:spPr>
          <a:xfrm>
            <a:off x="784225" y="1422401"/>
            <a:ext cx="8359775" cy="4852988"/>
          </a:xfrm>
        </p:spPr>
        <p:txBody>
          <a:bodyPr/>
          <a:lstStyle/>
          <a:p>
            <a:pPr marL="400050" indent="-400050" eaLnBrk="1" hangingPunct="1"/>
            <a:r>
              <a:rPr lang="en-US" sz="2800" dirty="0" smtClean="0"/>
              <a:t>Download the NSDI CAP Application Package from Grants.gov</a:t>
            </a:r>
          </a:p>
          <a:p>
            <a:pPr marL="857250" lvl="1" eaLnBrk="1" hangingPunct="1">
              <a:buFontTx/>
              <a:buNone/>
            </a:pPr>
            <a:r>
              <a:rPr lang="en-US" dirty="0" smtClean="0"/>
              <a:t>Downloading a grant application package allows you to complete it offline and route it through your organization for review before submitting</a:t>
            </a:r>
          </a:p>
          <a:p>
            <a:pPr marL="857250" lvl="1" eaLnBrk="1" hangingPunct="1"/>
            <a:r>
              <a:rPr lang="en-US" sz="2200" dirty="0" smtClean="0"/>
              <a:t>Download the application package from:</a:t>
            </a:r>
            <a:br>
              <a:rPr lang="en-US" sz="2200" dirty="0" smtClean="0"/>
            </a:br>
            <a:r>
              <a:rPr lang="en-US" sz="2000" dirty="0" smtClean="0">
                <a:hlinkClick r:id="rId3"/>
              </a:rPr>
              <a:t>http://www.grants.gov/applicants/apply_for_grants.jsp</a:t>
            </a:r>
            <a:endParaRPr lang="en-US" sz="2000" dirty="0" smtClean="0"/>
          </a:p>
          <a:p>
            <a:pPr marL="857250" lvl="1" eaLnBrk="1" hangingPunct="1"/>
            <a:r>
              <a:rPr lang="en-US" sz="2200" dirty="0" smtClean="0"/>
              <a:t>Provide the CFDA Number, ‘</a:t>
            </a:r>
            <a:r>
              <a:rPr lang="en-US" sz="2200" b="1" dirty="0" smtClean="0"/>
              <a:t>15.809</a:t>
            </a:r>
            <a:r>
              <a:rPr lang="en-US" sz="2200" dirty="0" smtClean="0"/>
              <a:t>’ to access the NSDI CAP application package</a:t>
            </a:r>
            <a:r>
              <a:rPr lang="en-US" sz="2600" dirty="0" smtClean="0"/>
              <a:t> </a:t>
            </a:r>
          </a:p>
          <a:p>
            <a:pPr marL="857250" lvl="1" eaLnBrk="1" hangingPunct="1"/>
            <a:r>
              <a:rPr lang="en-US" dirty="0"/>
              <a:t>N</a:t>
            </a:r>
            <a:r>
              <a:rPr lang="en-US" dirty="0" smtClean="0"/>
              <a:t>eed </a:t>
            </a:r>
            <a:r>
              <a:rPr lang="en-US" dirty="0"/>
              <a:t>correct version of </a:t>
            </a:r>
            <a:r>
              <a:rPr lang="en-US" dirty="0" err="1"/>
              <a:t>Abobe</a:t>
            </a:r>
            <a:r>
              <a:rPr lang="en-US" dirty="0"/>
              <a:t> </a:t>
            </a:r>
            <a:r>
              <a:rPr lang="en-US" dirty="0" smtClean="0"/>
              <a:t>Reader</a:t>
            </a:r>
            <a:endParaRPr lang="en-US" dirty="0"/>
          </a:p>
          <a:p>
            <a:pPr marL="1314450" lvl="2" eaLnBrk="1" hangingPunct="1">
              <a:buFont typeface="Arial" pitchFamily="34" charset="0"/>
              <a:buChar char="•"/>
            </a:pPr>
            <a:r>
              <a:rPr lang="en-US" dirty="0" smtClean="0"/>
              <a:t>App </a:t>
            </a:r>
            <a:r>
              <a:rPr lang="en-US" dirty="0"/>
              <a:t>to test your version </a:t>
            </a:r>
            <a:r>
              <a:rPr lang="en-US" dirty="0" smtClean="0"/>
              <a:t>at </a:t>
            </a:r>
            <a:r>
              <a:rPr lang="en-US" sz="1600" b="1" dirty="0" smtClean="0">
                <a:hlinkClick r:id="rId4"/>
              </a:rPr>
              <a:t>http</a:t>
            </a:r>
            <a:r>
              <a:rPr lang="en-US" sz="1600" b="1" dirty="0">
                <a:hlinkClick r:id="rId4"/>
              </a:rPr>
              <a:t>://www.grants.gov/applicants/AdobeVersioningTestOnly.jsp</a:t>
            </a:r>
            <a:endParaRPr lang="en-US" sz="1600" b="1" dirty="0"/>
          </a:p>
          <a:p>
            <a:pPr marL="857250" lvl="1" eaLnBrk="1" hangingPunct="1"/>
            <a:endParaRPr lang="en-US" sz="2600" dirty="0" smtClean="0"/>
          </a:p>
          <a:p>
            <a:pPr marL="857250" lvl="1" eaLnBrk="1" hangingPunct="1"/>
            <a:endParaRPr lang="en-US" sz="26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p>
            <a:fld id="{5C82EB5C-3FF5-44AF-9D67-8B6744DC68B2}" type="slidenum">
              <a:rPr lang="en-US" smtClean="0"/>
              <a:pPr/>
              <a:t>27</a:t>
            </a:fld>
            <a:endParaRPr lang="en-US" smtClean="0"/>
          </a:p>
        </p:txBody>
      </p:sp>
      <p:sp>
        <p:nvSpPr>
          <p:cNvPr id="28675" name="Rectangle 2"/>
          <p:cNvSpPr>
            <a:spLocks noGrp="1" noChangeArrowheads="1"/>
          </p:cNvSpPr>
          <p:nvPr>
            <p:ph type="title"/>
          </p:nvPr>
        </p:nvSpPr>
        <p:spPr/>
        <p:txBody>
          <a:bodyPr/>
          <a:lstStyle/>
          <a:p>
            <a:pPr eaLnBrk="1" hangingPunct="1"/>
            <a:r>
              <a:rPr lang="en-US" sz="2800" dirty="0"/>
              <a:t>Prepare CAP Proposal </a:t>
            </a:r>
            <a:endParaRPr lang="en-US" sz="2800" dirty="0" smtClean="0"/>
          </a:p>
        </p:txBody>
      </p:sp>
      <p:sp>
        <p:nvSpPr>
          <p:cNvPr id="28676" name="Rectangle 3"/>
          <p:cNvSpPr>
            <a:spLocks noGrp="1" noChangeArrowheads="1"/>
          </p:cNvSpPr>
          <p:nvPr>
            <p:ph type="body" idx="1"/>
          </p:nvPr>
        </p:nvSpPr>
        <p:spPr>
          <a:xfrm>
            <a:off x="784225" y="1566863"/>
            <a:ext cx="8359775" cy="4708525"/>
          </a:xfrm>
        </p:spPr>
        <p:txBody>
          <a:bodyPr/>
          <a:lstStyle/>
          <a:p>
            <a:pPr marL="400050" indent="-400050" eaLnBrk="1" hangingPunct="1"/>
            <a:r>
              <a:rPr lang="en-US" sz="2800" dirty="0" smtClean="0"/>
              <a:t>Complete the NSDI CAP Application Package</a:t>
            </a:r>
            <a:endParaRPr lang="en-US" dirty="0" smtClean="0"/>
          </a:p>
          <a:p>
            <a:pPr marL="857250" lvl="1" eaLnBrk="1" hangingPunct="1">
              <a:buFontTx/>
              <a:buNone/>
            </a:pPr>
            <a:r>
              <a:rPr lang="en-US" dirty="0" smtClean="0"/>
              <a:t>Complete the application on your own computer</a:t>
            </a:r>
          </a:p>
          <a:p>
            <a:pPr marL="857250" lvl="1" eaLnBrk="1" hangingPunct="1"/>
            <a:r>
              <a:rPr lang="en-US" sz="2200" dirty="0" smtClean="0"/>
              <a:t>Instructions on how to open and use the forms in the package are on the application package cover sheet</a:t>
            </a:r>
          </a:p>
          <a:p>
            <a:pPr marL="857250" lvl="1" eaLnBrk="1" hangingPunct="1"/>
            <a:r>
              <a:rPr lang="en-US" sz="2200" dirty="0" smtClean="0"/>
              <a:t>Edits to your application are saved locally </a:t>
            </a:r>
          </a:p>
          <a:p>
            <a:pPr marL="857250" lvl="1" eaLnBrk="1" hangingPunct="1"/>
            <a:r>
              <a:rPr lang="en-US" sz="2200" dirty="0" smtClean="0"/>
              <a:t>A narrated tutorial on how to complete a application package is provided at:</a:t>
            </a:r>
            <a:br>
              <a:rPr lang="en-US" sz="2200" dirty="0" smtClean="0"/>
            </a:br>
            <a:r>
              <a:rPr lang="en-US" sz="2200" dirty="0" smtClean="0"/>
              <a:t> </a:t>
            </a:r>
            <a:r>
              <a:rPr lang="en-US" sz="2000" dirty="0" smtClean="0">
                <a:hlinkClick r:id="rId3"/>
              </a:rPr>
              <a:t>http://www.grants.gov/applicants/apply_for_grants.jsp</a:t>
            </a:r>
            <a:endParaRPr lang="en-US" sz="2000" dirty="0" smtClean="0"/>
          </a:p>
          <a:p>
            <a:pPr marL="857250" lvl="1" eaLnBrk="1" hangingPunct="1"/>
            <a:r>
              <a:rPr lang="en-US" sz="2000" dirty="0"/>
              <a:t>The package cannot be submitted until all required fields have been completed</a:t>
            </a:r>
          </a:p>
          <a:p>
            <a:pPr marL="857250" lvl="1" eaLnBrk="1" hangingPunct="1"/>
            <a:endParaRPr lang="en-US" sz="2000"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p>
            <a:fld id="{5C82EB5C-3FF5-44AF-9D67-8B6744DC68B2}" type="slidenum">
              <a:rPr lang="en-US" smtClean="0"/>
              <a:pPr/>
              <a:t>28</a:t>
            </a:fld>
            <a:endParaRPr lang="en-US" smtClean="0"/>
          </a:p>
        </p:txBody>
      </p:sp>
      <p:sp>
        <p:nvSpPr>
          <p:cNvPr id="28676" name="Rectangle 3"/>
          <p:cNvSpPr>
            <a:spLocks noGrp="1" noChangeArrowheads="1"/>
          </p:cNvSpPr>
          <p:nvPr>
            <p:ph type="body" idx="1"/>
          </p:nvPr>
        </p:nvSpPr>
        <p:spPr>
          <a:xfrm>
            <a:off x="784225" y="1566863"/>
            <a:ext cx="8359775" cy="4708525"/>
          </a:xfrm>
        </p:spPr>
        <p:txBody>
          <a:bodyPr/>
          <a:lstStyle/>
          <a:p>
            <a:pPr marL="514350" lvl="1" indent="0" eaLnBrk="1" hangingPunct="1">
              <a:buNone/>
            </a:pPr>
            <a:endParaRPr lang="en-US" sz="2000" dirty="0" smtClean="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252" y="492948"/>
            <a:ext cx="8326720" cy="6365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82483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p>
            <a:fld id="{DFAB4302-2B0F-464A-A938-4EA1A7C70F3E}" type="slidenum">
              <a:rPr lang="en-US" smtClean="0"/>
              <a:pPr/>
              <a:t>29</a:t>
            </a:fld>
            <a:endParaRPr lang="en-US" smtClean="0"/>
          </a:p>
        </p:txBody>
      </p:sp>
      <p:sp>
        <p:nvSpPr>
          <p:cNvPr id="9219" name="Rectangle 2"/>
          <p:cNvSpPr>
            <a:spLocks noGrp="1" noChangeArrowheads="1"/>
          </p:cNvSpPr>
          <p:nvPr>
            <p:ph type="title"/>
          </p:nvPr>
        </p:nvSpPr>
        <p:spPr/>
        <p:txBody>
          <a:bodyPr/>
          <a:lstStyle/>
          <a:p>
            <a:pPr eaLnBrk="1" hangingPunct="1"/>
            <a:r>
              <a:rPr lang="en-US" dirty="0" smtClean="0"/>
              <a:t> Proposal Components</a:t>
            </a:r>
          </a:p>
        </p:txBody>
      </p:sp>
      <p:sp>
        <p:nvSpPr>
          <p:cNvPr id="9220" name="Rectangle 3"/>
          <p:cNvSpPr>
            <a:spLocks noGrp="1" noChangeArrowheads="1"/>
          </p:cNvSpPr>
          <p:nvPr>
            <p:ph type="body" idx="1"/>
          </p:nvPr>
        </p:nvSpPr>
        <p:spPr>
          <a:xfrm>
            <a:off x="762000" y="1543050"/>
            <a:ext cx="8382000" cy="4876800"/>
          </a:xfrm>
        </p:spPr>
        <p:txBody>
          <a:bodyPr/>
          <a:lstStyle/>
          <a:p>
            <a:pPr eaLnBrk="1" hangingPunct="1">
              <a:lnSpc>
                <a:spcPct val="80000"/>
              </a:lnSpc>
            </a:pPr>
            <a:r>
              <a:rPr lang="en-US" sz="2800" dirty="0" smtClean="0"/>
              <a:t>Summary of Required Components </a:t>
            </a:r>
          </a:p>
          <a:p>
            <a:pPr lvl="1" eaLnBrk="1" hangingPunct="1">
              <a:lnSpc>
                <a:spcPct val="80000"/>
              </a:lnSpc>
            </a:pPr>
            <a:r>
              <a:rPr lang="en-US" dirty="0" smtClean="0"/>
              <a:t>Application for Federal Assistance - SF 424</a:t>
            </a:r>
          </a:p>
          <a:p>
            <a:pPr lvl="1" eaLnBrk="1" hangingPunct="1">
              <a:lnSpc>
                <a:spcPct val="80000"/>
              </a:lnSpc>
            </a:pPr>
            <a:r>
              <a:rPr lang="en-US" dirty="0" smtClean="0"/>
              <a:t>Budget Information - SF 424A</a:t>
            </a:r>
          </a:p>
          <a:p>
            <a:pPr lvl="1" eaLnBrk="1" hangingPunct="1">
              <a:lnSpc>
                <a:spcPct val="80000"/>
              </a:lnSpc>
            </a:pPr>
            <a:r>
              <a:rPr lang="en-US" dirty="0" smtClean="0"/>
              <a:t>Assurances – SF 424B</a:t>
            </a:r>
          </a:p>
          <a:p>
            <a:pPr lvl="1" eaLnBrk="1" hangingPunct="1">
              <a:lnSpc>
                <a:spcPct val="80000"/>
              </a:lnSpc>
            </a:pPr>
            <a:r>
              <a:rPr lang="en-US" dirty="0" smtClean="0"/>
              <a:t>Proposal Narrative </a:t>
            </a:r>
          </a:p>
          <a:p>
            <a:pPr lvl="1" eaLnBrk="1" hangingPunct="1">
              <a:lnSpc>
                <a:spcPct val="80000"/>
              </a:lnSpc>
            </a:pPr>
            <a:r>
              <a:rPr lang="en-US" dirty="0" smtClean="0"/>
              <a:t>Budget Breakdown</a:t>
            </a:r>
          </a:p>
          <a:p>
            <a:pPr lvl="1" eaLnBrk="1" hangingPunct="1">
              <a:lnSpc>
                <a:spcPct val="80000"/>
              </a:lnSpc>
            </a:pPr>
            <a:r>
              <a:rPr lang="en-US" dirty="0" smtClean="0"/>
              <a:t>Other category-specific requirements as specified in the CAP announcement</a:t>
            </a:r>
          </a:p>
          <a:p>
            <a:pPr lvl="1" eaLnBrk="1" hangingPunct="1">
              <a:lnSpc>
                <a:spcPct val="80000"/>
              </a:lnSpc>
              <a:buFontTx/>
              <a:buNone/>
            </a:pPr>
            <a:endParaRPr lang="en-US" sz="1400" dirty="0" smtClean="0"/>
          </a:p>
          <a:p>
            <a:pPr lvl="1" eaLnBrk="1" hangingPunct="1">
              <a:lnSpc>
                <a:spcPct val="80000"/>
              </a:lnSpc>
              <a:buFontTx/>
              <a:buNone/>
            </a:pPr>
            <a:r>
              <a:rPr lang="en-US" u="sng" dirty="0" smtClean="0"/>
              <a:t>Format for submittal</a:t>
            </a:r>
          </a:p>
          <a:p>
            <a:pPr lvl="2" eaLnBrk="1" hangingPunct="1">
              <a:lnSpc>
                <a:spcPct val="80000"/>
              </a:lnSpc>
            </a:pPr>
            <a:r>
              <a:rPr lang="en-US" dirty="0" smtClean="0"/>
              <a:t>Adobe Acrobat (.</a:t>
            </a:r>
            <a:r>
              <a:rPr lang="en-US" dirty="0" err="1" smtClean="0"/>
              <a:t>pdf</a:t>
            </a:r>
            <a:r>
              <a:rPr lang="en-US" dirty="0" smtClean="0"/>
              <a:t>)</a:t>
            </a:r>
          </a:p>
          <a:p>
            <a:pPr lvl="1" eaLnBrk="1" hangingPunct="1">
              <a:lnSpc>
                <a:spcPct val="80000"/>
              </a:lnSpc>
              <a:buFontTx/>
              <a:buNone/>
            </a:pPr>
            <a:endParaRPr lang="en-US" sz="2200" dirty="0" smtClean="0"/>
          </a:p>
        </p:txBody>
      </p:sp>
      <p:pic>
        <p:nvPicPr>
          <p:cNvPr id="1027" name="Picture 3" descr="C:\Users\burbanma\AppData\Local\Microsoft\Windows\Temporary Internet Files\Content.IE5\3YM8107S\MC900335726[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3562" y="4683863"/>
            <a:ext cx="1921525" cy="13714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p:spPr>
        <p:txBody>
          <a:bodyPr/>
          <a:lstStyle/>
          <a:p>
            <a:fld id="{4C7B0732-71DF-4262-B43A-90D3F10C135F}" type="slidenum">
              <a:rPr lang="en-US" smtClean="0"/>
              <a:pPr/>
              <a:t>30</a:t>
            </a:fld>
            <a:endParaRPr lang="en-US" smtClean="0"/>
          </a:p>
        </p:txBody>
      </p:sp>
      <p:sp>
        <p:nvSpPr>
          <p:cNvPr id="10243" name="Rectangle 2"/>
          <p:cNvSpPr>
            <a:spLocks noGrp="1" noChangeArrowheads="1"/>
          </p:cNvSpPr>
          <p:nvPr>
            <p:ph type="title"/>
          </p:nvPr>
        </p:nvSpPr>
        <p:spPr/>
        <p:txBody>
          <a:bodyPr/>
          <a:lstStyle/>
          <a:p>
            <a:pPr eaLnBrk="1" hangingPunct="1"/>
            <a:r>
              <a:rPr lang="en-US" smtClean="0"/>
              <a:t>Proposal Components</a:t>
            </a:r>
          </a:p>
        </p:txBody>
      </p:sp>
      <p:sp>
        <p:nvSpPr>
          <p:cNvPr id="10244" name="Rectangle 3"/>
          <p:cNvSpPr>
            <a:spLocks noGrp="1" noChangeArrowheads="1"/>
          </p:cNvSpPr>
          <p:nvPr>
            <p:ph type="body" idx="1"/>
          </p:nvPr>
        </p:nvSpPr>
        <p:spPr>
          <a:xfrm>
            <a:off x="762000" y="1543050"/>
            <a:ext cx="8382000" cy="4876800"/>
          </a:xfrm>
        </p:spPr>
        <p:txBody>
          <a:bodyPr/>
          <a:lstStyle/>
          <a:p>
            <a:pPr eaLnBrk="1" hangingPunct="1">
              <a:lnSpc>
                <a:spcPct val="80000"/>
              </a:lnSpc>
            </a:pPr>
            <a:r>
              <a:rPr lang="en-US" sz="2800" dirty="0" smtClean="0"/>
              <a:t>Summary of Optional Components </a:t>
            </a:r>
          </a:p>
          <a:p>
            <a:pPr lvl="1" eaLnBrk="1" hangingPunct="1">
              <a:lnSpc>
                <a:spcPct val="80000"/>
              </a:lnSpc>
            </a:pPr>
            <a:r>
              <a:rPr lang="en-US" dirty="0" smtClean="0"/>
              <a:t>Letters of Support or Commitment</a:t>
            </a:r>
          </a:p>
          <a:p>
            <a:pPr lvl="1" eaLnBrk="1" hangingPunct="1">
              <a:lnSpc>
                <a:spcPct val="80000"/>
              </a:lnSpc>
            </a:pPr>
            <a:r>
              <a:rPr lang="en-US" dirty="0" smtClean="0"/>
              <a:t>Memoranda of Understanding  </a:t>
            </a:r>
            <a:endParaRPr lang="en-US" sz="2200" dirty="0" smtClean="0"/>
          </a:p>
          <a:p>
            <a:pPr lvl="1" eaLnBrk="1" hangingPunct="1">
              <a:lnSpc>
                <a:spcPct val="80000"/>
              </a:lnSpc>
            </a:pPr>
            <a:r>
              <a:rPr lang="en-US" dirty="0" smtClean="0"/>
              <a:t>Related reports</a:t>
            </a:r>
          </a:p>
          <a:p>
            <a:pPr lvl="1" eaLnBrk="1" hangingPunct="1">
              <a:lnSpc>
                <a:spcPct val="80000"/>
              </a:lnSpc>
            </a:pPr>
            <a:r>
              <a:rPr lang="en-US" dirty="0" smtClean="0"/>
              <a:t>Other supporting documents</a:t>
            </a:r>
          </a:p>
          <a:p>
            <a:pPr lvl="1" eaLnBrk="1" hangingPunct="1">
              <a:lnSpc>
                <a:spcPct val="80000"/>
              </a:lnSpc>
            </a:pPr>
            <a:r>
              <a:rPr lang="en-US" dirty="0" smtClean="0"/>
              <a:t>Project personnel resumes or Curriculum Vitae</a:t>
            </a:r>
          </a:p>
          <a:p>
            <a:pPr lvl="1" eaLnBrk="1" hangingPunct="1">
              <a:lnSpc>
                <a:spcPct val="80000"/>
              </a:lnSpc>
              <a:buFontTx/>
              <a:buNone/>
            </a:pPr>
            <a:endParaRPr lang="en-US" sz="2000" dirty="0" smtClean="0"/>
          </a:p>
          <a:p>
            <a:pPr eaLnBrk="1" hangingPunct="1">
              <a:lnSpc>
                <a:spcPct val="80000"/>
              </a:lnSpc>
            </a:pPr>
            <a:endParaRPr lang="en-US" sz="1000" u="sng" dirty="0" smtClean="0"/>
          </a:p>
          <a:p>
            <a:pPr lvl="1" eaLnBrk="1" hangingPunct="1">
              <a:lnSpc>
                <a:spcPct val="80000"/>
              </a:lnSpc>
              <a:buFontTx/>
              <a:buNone/>
            </a:pPr>
            <a:r>
              <a:rPr lang="en-US" u="sng" dirty="0" smtClean="0"/>
              <a:t>Format for submittal</a:t>
            </a:r>
          </a:p>
          <a:p>
            <a:pPr lvl="2" eaLnBrk="1" hangingPunct="1">
              <a:lnSpc>
                <a:spcPct val="90000"/>
              </a:lnSpc>
            </a:pPr>
            <a:r>
              <a:rPr lang="en-US" dirty="0" smtClean="0"/>
              <a:t>Adobe Acrobat (.</a:t>
            </a:r>
            <a:r>
              <a:rPr lang="en-US" dirty="0" err="1" smtClean="0"/>
              <a:t>pdf</a:t>
            </a:r>
            <a:r>
              <a:rPr lang="en-US" dirty="0" smtClean="0"/>
              <a:t>) </a:t>
            </a:r>
          </a:p>
          <a:p>
            <a:pPr lvl="2" eaLnBrk="1" hangingPunct="1">
              <a:lnSpc>
                <a:spcPct val="90000"/>
              </a:lnSpc>
            </a:pPr>
            <a:r>
              <a:rPr lang="en-US" dirty="0" smtClean="0"/>
              <a:t>Tagged Image File Format (.</a:t>
            </a:r>
            <a:r>
              <a:rPr lang="en-US" dirty="0" err="1" smtClean="0"/>
              <a:t>tif</a:t>
            </a:r>
            <a:r>
              <a:rPr lang="en-US" dirty="0" smtClean="0"/>
              <a:t>) or other scanned document format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p:spPr>
        <p:txBody>
          <a:bodyPr/>
          <a:lstStyle/>
          <a:p>
            <a:fld id="{989F0B8E-F721-479F-94C0-5B38C54181C9}" type="slidenum">
              <a:rPr lang="en-US" smtClean="0"/>
              <a:pPr/>
              <a:t>31</a:t>
            </a:fld>
            <a:endParaRPr lang="en-US" smtClean="0"/>
          </a:p>
        </p:txBody>
      </p:sp>
      <p:sp>
        <p:nvSpPr>
          <p:cNvPr id="11267" name="Rectangle 2"/>
          <p:cNvSpPr>
            <a:spLocks noGrp="1" noChangeArrowheads="1"/>
          </p:cNvSpPr>
          <p:nvPr>
            <p:ph type="title"/>
          </p:nvPr>
        </p:nvSpPr>
        <p:spPr/>
        <p:txBody>
          <a:bodyPr/>
          <a:lstStyle/>
          <a:p>
            <a:pPr eaLnBrk="1" hangingPunct="1"/>
            <a:r>
              <a:rPr lang="en-US" smtClean="0"/>
              <a:t>Required Proposal Components</a:t>
            </a:r>
          </a:p>
        </p:txBody>
      </p:sp>
      <p:sp>
        <p:nvSpPr>
          <p:cNvPr id="11268" name="Rectangle 3"/>
          <p:cNvSpPr>
            <a:spLocks noGrp="1" noChangeArrowheads="1"/>
          </p:cNvSpPr>
          <p:nvPr>
            <p:ph type="body" idx="1"/>
          </p:nvPr>
        </p:nvSpPr>
        <p:spPr>
          <a:xfrm>
            <a:off x="762000" y="1543050"/>
            <a:ext cx="8153400" cy="4876800"/>
          </a:xfrm>
        </p:spPr>
        <p:txBody>
          <a:bodyPr/>
          <a:lstStyle/>
          <a:p>
            <a:pPr eaLnBrk="1" hangingPunct="1">
              <a:lnSpc>
                <a:spcPct val="90000"/>
              </a:lnSpc>
            </a:pPr>
            <a:r>
              <a:rPr lang="en-US" sz="2800" dirty="0" smtClean="0"/>
              <a:t>Application for Federal Assistance  SF-424</a:t>
            </a:r>
          </a:p>
          <a:p>
            <a:pPr marL="342900" lvl="1" indent="0" eaLnBrk="1" hangingPunct="1">
              <a:lnSpc>
                <a:spcPct val="90000"/>
              </a:lnSpc>
              <a:buFontTx/>
              <a:buNone/>
            </a:pPr>
            <a:r>
              <a:rPr lang="en-US" dirty="0" smtClean="0"/>
              <a:t>The government-wide form for grant application packages</a:t>
            </a:r>
          </a:p>
          <a:p>
            <a:pPr marL="342900" lvl="1" indent="0" eaLnBrk="1" hangingPunct="1">
              <a:lnSpc>
                <a:spcPct val="90000"/>
              </a:lnSpc>
              <a:buFontTx/>
              <a:buNone/>
            </a:pPr>
            <a:endParaRPr lang="en-US" dirty="0" smtClean="0"/>
          </a:p>
          <a:p>
            <a:pPr marL="857250" lvl="2" eaLnBrk="1" hangingPunct="1"/>
            <a:r>
              <a:rPr lang="en-US" dirty="0" smtClean="0"/>
              <a:t>contact information for submitting organization </a:t>
            </a:r>
          </a:p>
          <a:p>
            <a:pPr marL="857250" lvl="2" eaLnBrk="1" hangingPunct="1"/>
            <a:r>
              <a:rPr lang="en-US" dirty="0" smtClean="0"/>
              <a:t>CAP category to which the proposal is submitted</a:t>
            </a:r>
          </a:p>
          <a:p>
            <a:pPr marL="857250" lvl="2" eaLnBrk="1" hangingPunct="1"/>
            <a:r>
              <a:rPr lang="en-US" dirty="0" smtClean="0"/>
              <a:t>project title</a:t>
            </a:r>
          </a:p>
          <a:p>
            <a:pPr marL="857250" lvl="2" eaLnBrk="1" hangingPunct="1"/>
            <a:r>
              <a:rPr lang="en-US" dirty="0" smtClean="0"/>
              <a:t>project duration</a:t>
            </a:r>
          </a:p>
          <a:p>
            <a:pPr marL="857250" lvl="2" eaLnBrk="1" hangingPunct="1"/>
            <a:r>
              <a:rPr lang="en-US" dirty="0" smtClean="0"/>
              <a:t>geographic impact of the project</a:t>
            </a:r>
          </a:p>
          <a:p>
            <a:pPr marL="857250" lvl="2" eaLnBrk="1" hangingPunct="1"/>
            <a:r>
              <a:rPr lang="en-US" dirty="0" smtClean="0"/>
              <a:t>amount of funding requested</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p:spPr>
        <p:txBody>
          <a:bodyPr/>
          <a:lstStyle/>
          <a:p>
            <a:fld id="{FCE67857-7933-4377-BC8E-E9AF25B3C964}" type="slidenum">
              <a:rPr lang="en-US" smtClean="0"/>
              <a:pPr/>
              <a:t>32</a:t>
            </a:fld>
            <a:endParaRPr lang="en-US" smtClean="0"/>
          </a:p>
        </p:txBody>
      </p:sp>
      <p:sp>
        <p:nvSpPr>
          <p:cNvPr id="12291" name="Rectangle 2"/>
          <p:cNvSpPr>
            <a:spLocks noGrp="1" noChangeArrowheads="1"/>
          </p:cNvSpPr>
          <p:nvPr>
            <p:ph type="title"/>
          </p:nvPr>
        </p:nvSpPr>
        <p:spPr/>
        <p:txBody>
          <a:bodyPr/>
          <a:lstStyle/>
          <a:p>
            <a:pPr eaLnBrk="1" hangingPunct="1"/>
            <a:r>
              <a:rPr lang="en-US" smtClean="0"/>
              <a:t>Required Proposal Components</a:t>
            </a:r>
          </a:p>
        </p:txBody>
      </p:sp>
      <p:sp>
        <p:nvSpPr>
          <p:cNvPr id="12292" name="Rectangle 3"/>
          <p:cNvSpPr>
            <a:spLocks noGrp="1" noChangeArrowheads="1"/>
          </p:cNvSpPr>
          <p:nvPr>
            <p:ph type="body" idx="1"/>
          </p:nvPr>
        </p:nvSpPr>
        <p:spPr>
          <a:xfrm>
            <a:off x="762000" y="1543050"/>
            <a:ext cx="8382000" cy="4876800"/>
          </a:xfrm>
        </p:spPr>
        <p:txBody>
          <a:bodyPr/>
          <a:lstStyle/>
          <a:p>
            <a:pPr eaLnBrk="1" hangingPunct="1">
              <a:lnSpc>
                <a:spcPct val="90000"/>
              </a:lnSpc>
            </a:pPr>
            <a:r>
              <a:rPr lang="en-US" sz="2800" dirty="0" smtClean="0"/>
              <a:t>Application for Federal Assistance SF-424 </a:t>
            </a:r>
            <a:r>
              <a:rPr lang="en-US" dirty="0" smtClean="0"/>
              <a:t>(</a:t>
            </a:r>
            <a:r>
              <a:rPr lang="en-US" dirty="0"/>
              <a:t>cont’d) </a:t>
            </a:r>
            <a:endParaRPr lang="en-US" dirty="0" smtClean="0"/>
          </a:p>
          <a:p>
            <a:pPr lvl="2" eaLnBrk="1" hangingPunct="1">
              <a:lnSpc>
                <a:spcPct val="90000"/>
              </a:lnSpc>
            </a:pPr>
            <a:endParaRPr lang="en-US" dirty="0" smtClean="0"/>
          </a:p>
          <a:p>
            <a:pPr lvl="2" eaLnBrk="1" hangingPunct="1">
              <a:lnSpc>
                <a:spcPct val="90000"/>
              </a:lnSpc>
            </a:pPr>
            <a:r>
              <a:rPr lang="en-US" dirty="0" smtClean="0"/>
              <a:t>Item 8f: </a:t>
            </a:r>
            <a:r>
              <a:rPr lang="en-US" i="1" dirty="0" smtClean="0"/>
              <a:t>Name and Contact Information</a:t>
            </a:r>
          </a:p>
          <a:p>
            <a:pPr lvl="3" eaLnBrk="1" hangingPunct="1">
              <a:lnSpc>
                <a:spcPct val="90000"/>
              </a:lnSpc>
            </a:pPr>
            <a:r>
              <a:rPr lang="en-US" sz="1800" dirty="0" smtClean="0"/>
              <a:t>NSDI CAP project lead</a:t>
            </a:r>
          </a:p>
          <a:p>
            <a:pPr lvl="3" eaLnBrk="1" hangingPunct="1">
              <a:lnSpc>
                <a:spcPct val="90000"/>
              </a:lnSpc>
            </a:pPr>
            <a:r>
              <a:rPr lang="en-US" sz="1800" dirty="0" smtClean="0">
                <a:solidFill>
                  <a:srgbClr val="FF0000"/>
                </a:solidFill>
              </a:rPr>
              <a:t>all project correspondence will go to this person</a:t>
            </a:r>
          </a:p>
          <a:p>
            <a:pPr lvl="2" eaLnBrk="1" hangingPunct="1">
              <a:lnSpc>
                <a:spcPct val="90000"/>
              </a:lnSpc>
            </a:pPr>
            <a:r>
              <a:rPr lang="en-US" dirty="0" smtClean="0"/>
              <a:t>Item 15: </a:t>
            </a:r>
            <a:r>
              <a:rPr lang="en-US" i="1" dirty="0" smtClean="0"/>
              <a:t>Descriptive Title of Applicants Project</a:t>
            </a:r>
            <a:r>
              <a:rPr lang="en-US" dirty="0" smtClean="0"/>
              <a:t> </a:t>
            </a:r>
          </a:p>
          <a:p>
            <a:pPr marL="1371600" lvl="3" indent="0" eaLnBrk="1" hangingPunct="1">
              <a:lnSpc>
                <a:spcPct val="90000"/>
              </a:lnSpc>
              <a:buFontTx/>
              <a:buNone/>
            </a:pPr>
            <a:r>
              <a:rPr lang="en-US" sz="1800" dirty="0" smtClean="0"/>
              <a:t>Example: </a:t>
            </a:r>
            <a:r>
              <a:rPr lang="en-US" sz="1800" i="1" dirty="0" smtClean="0"/>
              <a:t>Category 4: Implementing a Business Plan for our State</a:t>
            </a:r>
          </a:p>
          <a:p>
            <a:pPr lvl="2" eaLnBrk="1" hangingPunct="1">
              <a:lnSpc>
                <a:spcPct val="90000"/>
              </a:lnSpc>
            </a:pPr>
            <a:r>
              <a:rPr lang="en-US" dirty="0" smtClean="0"/>
              <a:t>Item 17: </a:t>
            </a:r>
            <a:r>
              <a:rPr lang="en-US" i="1" dirty="0" smtClean="0"/>
              <a:t>Proposed Project</a:t>
            </a:r>
          </a:p>
          <a:p>
            <a:pPr lvl="3" eaLnBrk="1" hangingPunct="1">
              <a:lnSpc>
                <a:spcPct val="90000"/>
              </a:lnSpc>
            </a:pPr>
            <a:r>
              <a:rPr lang="en-US" sz="1800" dirty="0" smtClean="0"/>
              <a:t>the start and end date can be modified after the award is granted</a:t>
            </a:r>
          </a:p>
          <a:p>
            <a:pPr lvl="3" eaLnBrk="1" hangingPunct="1">
              <a:lnSpc>
                <a:spcPct val="90000"/>
              </a:lnSpc>
            </a:pPr>
            <a:r>
              <a:rPr lang="en-US" sz="1800" dirty="0" smtClean="0"/>
              <a:t>project period should not exceed one year</a:t>
            </a:r>
          </a:p>
          <a:p>
            <a:pPr lvl="3" eaLnBrk="1" hangingPunct="1">
              <a:lnSpc>
                <a:spcPct val="90000"/>
              </a:lnSpc>
            </a:pPr>
            <a:r>
              <a:rPr lang="en-US" sz="1800" dirty="0" smtClean="0"/>
              <a:t>end date should not be later than September 30, 2012</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p:spPr>
        <p:txBody>
          <a:bodyPr/>
          <a:lstStyle/>
          <a:p>
            <a:fld id="{FCDBD5D7-8306-44C7-B5BA-D64AFB066DC6}" type="slidenum">
              <a:rPr lang="en-US" smtClean="0"/>
              <a:pPr/>
              <a:t>33</a:t>
            </a:fld>
            <a:endParaRPr lang="en-US" smtClean="0"/>
          </a:p>
        </p:txBody>
      </p:sp>
      <p:sp>
        <p:nvSpPr>
          <p:cNvPr id="13315" name="Rectangle 2"/>
          <p:cNvSpPr>
            <a:spLocks noGrp="1" noChangeArrowheads="1"/>
          </p:cNvSpPr>
          <p:nvPr>
            <p:ph type="title"/>
          </p:nvPr>
        </p:nvSpPr>
        <p:spPr/>
        <p:txBody>
          <a:bodyPr/>
          <a:lstStyle/>
          <a:p>
            <a:pPr eaLnBrk="1" hangingPunct="1"/>
            <a:r>
              <a:rPr lang="en-US" smtClean="0"/>
              <a:t>Required Proposal Components</a:t>
            </a:r>
          </a:p>
        </p:txBody>
      </p:sp>
      <p:sp>
        <p:nvSpPr>
          <p:cNvPr id="13316" name="Rectangle 3"/>
          <p:cNvSpPr>
            <a:spLocks noGrp="1" noChangeArrowheads="1"/>
          </p:cNvSpPr>
          <p:nvPr>
            <p:ph type="body" idx="1"/>
          </p:nvPr>
        </p:nvSpPr>
        <p:spPr>
          <a:xfrm>
            <a:off x="762000" y="1543050"/>
            <a:ext cx="8153400" cy="4659313"/>
          </a:xfrm>
        </p:spPr>
        <p:txBody>
          <a:bodyPr/>
          <a:lstStyle/>
          <a:p>
            <a:pPr eaLnBrk="1" hangingPunct="1"/>
            <a:r>
              <a:rPr lang="en-US" sz="2400" dirty="0" smtClean="0"/>
              <a:t>Application for Federal Assistance SF-424 forms</a:t>
            </a:r>
            <a:endParaRPr lang="en-US" sz="2800" dirty="0" smtClean="0"/>
          </a:p>
          <a:p>
            <a:pPr lvl="1" eaLnBrk="1" hangingPunct="1"/>
            <a:endParaRPr lang="en-US" sz="2000" dirty="0" smtClean="0"/>
          </a:p>
          <a:p>
            <a:pPr lvl="1" eaLnBrk="1" hangingPunct="1"/>
            <a:r>
              <a:rPr lang="en-US" sz="2000" dirty="0" smtClean="0"/>
              <a:t>SF424-A: Budget Information for Non-Construction Programs</a:t>
            </a:r>
            <a:br>
              <a:rPr lang="en-US" sz="2000" dirty="0" smtClean="0"/>
            </a:br>
            <a:endParaRPr lang="en-US" dirty="0" smtClean="0"/>
          </a:p>
          <a:p>
            <a:pPr lvl="1" eaLnBrk="1" hangingPunct="1"/>
            <a:r>
              <a:rPr lang="en-US" sz="2000" dirty="0" smtClean="0"/>
              <a:t>SF424-B: Assurances for Non-Construction Programs</a:t>
            </a:r>
            <a:br>
              <a:rPr lang="en-US" sz="2000" dirty="0" smtClean="0"/>
            </a:br>
            <a:endParaRPr lang="en-US" sz="2000"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0"/>
          </p:nvPr>
        </p:nvSpPr>
        <p:spPr>
          <a:noFill/>
        </p:spPr>
        <p:txBody>
          <a:bodyPr/>
          <a:lstStyle/>
          <a:p>
            <a:fld id="{82C025CD-18DD-4BF2-995B-32768662D368}" type="slidenum">
              <a:rPr lang="en-US" smtClean="0"/>
              <a:pPr/>
              <a:t>34</a:t>
            </a:fld>
            <a:endParaRPr lang="en-US" smtClean="0"/>
          </a:p>
        </p:txBody>
      </p:sp>
      <p:sp>
        <p:nvSpPr>
          <p:cNvPr id="14339" name="Rectangle 2"/>
          <p:cNvSpPr>
            <a:spLocks noGrp="1" noChangeArrowheads="1"/>
          </p:cNvSpPr>
          <p:nvPr>
            <p:ph type="title"/>
          </p:nvPr>
        </p:nvSpPr>
        <p:spPr/>
        <p:txBody>
          <a:bodyPr/>
          <a:lstStyle/>
          <a:p>
            <a:pPr eaLnBrk="1" hangingPunct="1"/>
            <a:r>
              <a:rPr lang="en-US" smtClean="0"/>
              <a:t>Required Proposal Components</a:t>
            </a:r>
          </a:p>
        </p:txBody>
      </p:sp>
      <p:sp>
        <p:nvSpPr>
          <p:cNvPr id="14340" name="Rectangle 3"/>
          <p:cNvSpPr>
            <a:spLocks noGrp="1" noChangeArrowheads="1"/>
          </p:cNvSpPr>
          <p:nvPr>
            <p:ph type="body" idx="1"/>
          </p:nvPr>
        </p:nvSpPr>
        <p:spPr>
          <a:xfrm>
            <a:off x="762000" y="1436688"/>
            <a:ext cx="8382000" cy="4964112"/>
          </a:xfrm>
        </p:spPr>
        <p:txBody>
          <a:bodyPr/>
          <a:lstStyle/>
          <a:p>
            <a:pPr eaLnBrk="1" hangingPunct="1"/>
            <a:r>
              <a:rPr lang="en-US" sz="2800" dirty="0" smtClean="0"/>
              <a:t>Proposal Narrative</a:t>
            </a:r>
          </a:p>
          <a:p>
            <a:pPr marL="628650" lvl="1" indent="-285750" eaLnBrk="1" hangingPunct="1"/>
            <a:endParaRPr lang="en-US" sz="2200" dirty="0" smtClean="0"/>
          </a:p>
          <a:p>
            <a:pPr marL="628650" lvl="1" indent="-285750" eaLnBrk="1" hangingPunct="1"/>
            <a:r>
              <a:rPr lang="en-US" sz="2200" dirty="0" smtClean="0"/>
              <a:t>Primary document evaluated by the review panel</a:t>
            </a:r>
          </a:p>
          <a:p>
            <a:pPr marL="628650" lvl="1" indent="-285750" eaLnBrk="1" hangingPunct="1"/>
            <a:r>
              <a:rPr lang="en-US" sz="2200" dirty="0" smtClean="0"/>
              <a:t>Includes:</a:t>
            </a:r>
          </a:p>
          <a:p>
            <a:pPr marL="971550" lvl="2" eaLnBrk="1" hangingPunct="1">
              <a:lnSpc>
                <a:spcPct val="90000"/>
              </a:lnSpc>
            </a:pPr>
            <a:r>
              <a:rPr lang="en-US" sz="2000" dirty="0" smtClean="0"/>
              <a:t>project scope </a:t>
            </a:r>
          </a:p>
          <a:p>
            <a:pPr marL="971550" lvl="2" eaLnBrk="1" hangingPunct="1">
              <a:lnSpc>
                <a:spcPct val="90000"/>
              </a:lnSpc>
            </a:pPr>
            <a:r>
              <a:rPr lang="en-US" sz="2000" dirty="0" smtClean="0"/>
              <a:t>expected benefits</a:t>
            </a:r>
          </a:p>
          <a:p>
            <a:pPr marL="971550" lvl="2" eaLnBrk="1" hangingPunct="1">
              <a:lnSpc>
                <a:spcPct val="90000"/>
              </a:lnSpc>
            </a:pPr>
            <a:r>
              <a:rPr lang="en-US" sz="2000" dirty="0" smtClean="0"/>
              <a:t>technical approach</a:t>
            </a:r>
          </a:p>
          <a:p>
            <a:pPr marL="971550" lvl="2" eaLnBrk="1" hangingPunct="1">
              <a:lnSpc>
                <a:spcPct val="90000"/>
              </a:lnSpc>
            </a:pPr>
            <a:r>
              <a:rPr lang="en-US" sz="2000" dirty="0" smtClean="0"/>
              <a:t>deliverables</a:t>
            </a:r>
          </a:p>
          <a:p>
            <a:pPr marL="971550" lvl="2" eaLnBrk="1" hangingPunct="1">
              <a:lnSpc>
                <a:spcPct val="90000"/>
              </a:lnSpc>
            </a:pPr>
            <a:r>
              <a:rPr lang="en-US" sz="2000" dirty="0" smtClean="0"/>
              <a:t>project and/or NSDI-related experience</a:t>
            </a:r>
          </a:p>
          <a:p>
            <a:pPr marL="971550" lvl="2" eaLnBrk="1" hangingPunct="1">
              <a:lnSpc>
                <a:spcPct val="90000"/>
              </a:lnSpc>
            </a:pPr>
            <a:r>
              <a:rPr lang="en-US" sz="2000" dirty="0" smtClean="0"/>
              <a:t>commitment to effort</a:t>
            </a:r>
          </a:p>
          <a:p>
            <a:pPr marL="971550" lvl="2" eaLnBrk="1" hangingPunct="1">
              <a:lnSpc>
                <a:spcPct val="90000"/>
              </a:lnSpc>
            </a:pPr>
            <a:r>
              <a:rPr lang="en-US" sz="2000" dirty="0" smtClean="0"/>
              <a:t>organizational capacity</a:t>
            </a:r>
          </a:p>
          <a:p>
            <a:pPr marL="971550" lvl="2" eaLnBrk="1" hangingPunct="1">
              <a:lnSpc>
                <a:spcPct val="90000"/>
              </a:lnSpc>
            </a:pPr>
            <a:r>
              <a:rPr lang="en-US" sz="2000" dirty="0" smtClean="0"/>
              <a:t>resources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p>
            <a:fld id="{40F332B7-C809-42D3-B67D-C02BFD6312D0}" type="slidenum">
              <a:rPr lang="en-US" smtClean="0"/>
              <a:pPr/>
              <a:t>35</a:t>
            </a:fld>
            <a:endParaRPr lang="en-US" smtClean="0"/>
          </a:p>
        </p:txBody>
      </p:sp>
      <p:sp>
        <p:nvSpPr>
          <p:cNvPr id="15363" name="Rectangle 2"/>
          <p:cNvSpPr>
            <a:spLocks noGrp="1" noChangeArrowheads="1"/>
          </p:cNvSpPr>
          <p:nvPr>
            <p:ph type="title"/>
          </p:nvPr>
        </p:nvSpPr>
        <p:spPr/>
        <p:txBody>
          <a:bodyPr/>
          <a:lstStyle/>
          <a:p>
            <a:pPr eaLnBrk="1" hangingPunct="1"/>
            <a:r>
              <a:rPr lang="en-US" smtClean="0"/>
              <a:t>Required Proposal Components</a:t>
            </a:r>
          </a:p>
        </p:txBody>
      </p:sp>
      <p:sp>
        <p:nvSpPr>
          <p:cNvPr id="15364" name="Rectangle 3"/>
          <p:cNvSpPr>
            <a:spLocks noGrp="1" noChangeArrowheads="1"/>
          </p:cNvSpPr>
          <p:nvPr>
            <p:ph type="body" idx="1"/>
          </p:nvPr>
        </p:nvSpPr>
        <p:spPr>
          <a:xfrm>
            <a:off x="762000" y="1543050"/>
            <a:ext cx="8382000" cy="4876800"/>
          </a:xfrm>
        </p:spPr>
        <p:txBody>
          <a:bodyPr/>
          <a:lstStyle/>
          <a:p>
            <a:pPr marL="0" indent="0" eaLnBrk="1" hangingPunct="1">
              <a:lnSpc>
                <a:spcPct val="90000"/>
              </a:lnSpc>
            </a:pPr>
            <a:r>
              <a:rPr lang="en-US" sz="2800" dirty="0" smtClean="0"/>
              <a:t>Budget Breakdown</a:t>
            </a:r>
          </a:p>
          <a:p>
            <a:pPr marL="0" indent="0" eaLnBrk="1" hangingPunct="1">
              <a:lnSpc>
                <a:spcPct val="90000"/>
              </a:lnSpc>
            </a:pPr>
            <a:endParaRPr lang="en-US" sz="1000" dirty="0" smtClean="0"/>
          </a:p>
          <a:p>
            <a:pPr marL="114300" lvl="1" indent="0" eaLnBrk="1" hangingPunct="1">
              <a:lnSpc>
                <a:spcPct val="90000"/>
              </a:lnSpc>
              <a:buFontTx/>
              <a:buNone/>
            </a:pPr>
            <a:r>
              <a:rPr lang="en-US" dirty="0" smtClean="0"/>
              <a:t>This expands on the information provided in the SF-424A</a:t>
            </a:r>
          </a:p>
          <a:p>
            <a:pPr marL="114300" lvl="1" indent="0" eaLnBrk="1" hangingPunct="1">
              <a:lnSpc>
                <a:spcPct val="90000"/>
              </a:lnSpc>
              <a:buFontTx/>
              <a:buNone/>
            </a:pPr>
            <a:endParaRPr lang="en-US" sz="800" b="1" dirty="0" smtClean="0">
              <a:solidFill>
                <a:schemeClr val="accent2"/>
              </a:solidFill>
            </a:endParaRPr>
          </a:p>
          <a:p>
            <a:pPr marL="114300" lvl="1" indent="0" eaLnBrk="1" hangingPunct="1">
              <a:lnSpc>
                <a:spcPct val="90000"/>
              </a:lnSpc>
              <a:buFontTx/>
              <a:buNone/>
            </a:pPr>
            <a:r>
              <a:rPr lang="en-US" dirty="0" smtClean="0"/>
              <a:t>Budget </a:t>
            </a:r>
            <a:r>
              <a:rPr lang="en-US" dirty="0"/>
              <a:t>Items:</a:t>
            </a:r>
          </a:p>
          <a:p>
            <a:pPr marL="914400" lvl="2" indent="-342900" eaLnBrk="1" hangingPunct="1">
              <a:lnSpc>
                <a:spcPct val="80000"/>
              </a:lnSpc>
              <a:buFontTx/>
              <a:buBlip>
                <a:blip r:embed="rId3"/>
              </a:buBlip>
            </a:pPr>
            <a:r>
              <a:rPr lang="en-US" sz="2400" dirty="0"/>
              <a:t>Salaries and wages</a:t>
            </a:r>
          </a:p>
          <a:p>
            <a:pPr marL="914400" lvl="2" indent="-342900" eaLnBrk="1" hangingPunct="1">
              <a:lnSpc>
                <a:spcPct val="80000"/>
              </a:lnSpc>
              <a:buFontTx/>
              <a:buBlip>
                <a:blip r:embed="rId3"/>
              </a:buBlip>
            </a:pPr>
            <a:r>
              <a:rPr lang="en-US" sz="2400" dirty="0" smtClean="0"/>
              <a:t>Travel/field </a:t>
            </a:r>
            <a:r>
              <a:rPr lang="en-US" sz="2400" dirty="0"/>
              <a:t>expenses</a:t>
            </a:r>
          </a:p>
          <a:p>
            <a:pPr marL="914400" lvl="2" indent="-342900" eaLnBrk="1" hangingPunct="1">
              <a:lnSpc>
                <a:spcPct val="80000"/>
              </a:lnSpc>
              <a:buFontTx/>
              <a:buBlip>
                <a:blip r:embed="rId3"/>
              </a:buBlip>
            </a:pPr>
            <a:r>
              <a:rPr lang="en-US" sz="2400" dirty="0"/>
              <a:t>Other direct costs such as</a:t>
            </a:r>
            <a:r>
              <a:rPr lang="en-US" dirty="0"/>
              <a:t>:</a:t>
            </a:r>
          </a:p>
          <a:p>
            <a:pPr marL="1485900" lvl="3" indent="-457200" eaLnBrk="1" hangingPunct="1">
              <a:lnSpc>
                <a:spcPct val="80000"/>
              </a:lnSpc>
              <a:buFont typeface="Wingdings" pitchFamily="2" charset="2"/>
              <a:buChar char="§"/>
            </a:pPr>
            <a:r>
              <a:rPr lang="en-US" sz="2200" dirty="0"/>
              <a:t>supplies</a:t>
            </a:r>
          </a:p>
          <a:p>
            <a:pPr marL="1485900" lvl="3" indent="-457200" eaLnBrk="1" hangingPunct="1">
              <a:lnSpc>
                <a:spcPct val="80000"/>
              </a:lnSpc>
              <a:buFont typeface="Wingdings" pitchFamily="2" charset="2"/>
              <a:buChar char="§"/>
            </a:pPr>
            <a:r>
              <a:rPr lang="en-US" sz="2200" dirty="0"/>
              <a:t>equipment</a:t>
            </a:r>
          </a:p>
          <a:p>
            <a:pPr marL="1485900" lvl="3" indent="-457200" eaLnBrk="1" hangingPunct="1">
              <a:lnSpc>
                <a:spcPct val="80000"/>
              </a:lnSpc>
              <a:buFont typeface="Wingdings" pitchFamily="2" charset="2"/>
              <a:buChar char="§"/>
            </a:pPr>
            <a:r>
              <a:rPr lang="en-US" sz="2200" dirty="0"/>
              <a:t>contracted services</a:t>
            </a:r>
          </a:p>
          <a:p>
            <a:pPr marL="914400" lvl="2" indent="-342900" eaLnBrk="1" hangingPunct="1">
              <a:lnSpc>
                <a:spcPct val="80000"/>
              </a:lnSpc>
              <a:buFontTx/>
              <a:buBlip>
                <a:blip r:embed="rId3"/>
              </a:buBlip>
            </a:pPr>
            <a:r>
              <a:rPr lang="en-US" sz="2400" dirty="0"/>
              <a:t>Indirect / overhead </a:t>
            </a:r>
            <a:r>
              <a:rPr lang="en-US" sz="2400" dirty="0" smtClean="0"/>
              <a:t>charges</a:t>
            </a:r>
          </a:p>
          <a:p>
            <a:pPr marL="914400" lvl="2" indent="-342900" eaLnBrk="1" hangingPunct="1">
              <a:lnSpc>
                <a:spcPct val="80000"/>
              </a:lnSpc>
              <a:buFontTx/>
              <a:buBlip>
                <a:blip r:embed="rId3"/>
              </a:buBlip>
            </a:pPr>
            <a:endParaRPr lang="en-US" sz="800" dirty="0"/>
          </a:p>
          <a:p>
            <a:pPr marL="0" indent="0" algn="r" eaLnBrk="1" hangingPunct="1">
              <a:lnSpc>
                <a:spcPct val="90000"/>
              </a:lnSpc>
            </a:pPr>
            <a:r>
              <a:rPr lang="en-US" sz="2300" b="1" i="1" dirty="0" smtClean="0">
                <a:solidFill>
                  <a:schemeClr val="accent2"/>
                </a:solidFill>
              </a:rPr>
              <a:t>CAP </a:t>
            </a:r>
            <a:r>
              <a:rPr lang="en-US" sz="2300" b="1" i="1" dirty="0">
                <a:solidFill>
                  <a:schemeClr val="accent2"/>
                </a:solidFill>
              </a:rPr>
              <a:t>Announcement </a:t>
            </a:r>
            <a:r>
              <a:rPr lang="en-US" sz="2300" b="1" i="1" dirty="0" smtClean="0">
                <a:solidFill>
                  <a:schemeClr val="accent2"/>
                </a:solidFill>
              </a:rPr>
              <a:t>contains the details</a:t>
            </a:r>
            <a:endParaRPr lang="en-US" sz="2300" b="1" i="1" dirty="0">
              <a:solidFill>
                <a:schemeClr val="accent2"/>
              </a:solidFill>
            </a:endParaRPr>
          </a:p>
          <a:p>
            <a:pPr marL="0" indent="0" eaLnBrk="1" hangingPunct="1">
              <a:lnSpc>
                <a:spcPct val="90000"/>
              </a:lnSpc>
            </a:pPr>
            <a:endParaRPr lang="en-US" sz="2300" b="1" dirty="0" smtClean="0">
              <a:solidFill>
                <a:schemeClr val="accent2"/>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0"/>
          </p:nvPr>
        </p:nvSpPr>
        <p:spPr>
          <a:noFill/>
        </p:spPr>
        <p:txBody>
          <a:bodyPr/>
          <a:lstStyle/>
          <a:p>
            <a:fld id="{96607F32-BB42-4EBB-BE74-041F15C48F21}" type="slidenum">
              <a:rPr lang="en-US" smtClean="0"/>
              <a:pPr/>
              <a:t>36</a:t>
            </a:fld>
            <a:endParaRPr lang="en-US" smtClean="0"/>
          </a:p>
        </p:txBody>
      </p:sp>
      <p:sp>
        <p:nvSpPr>
          <p:cNvPr id="18435" name="Rectangle 2"/>
          <p:cNvSpPr>
            <a:spLocks noGrp="1" noChangeArrowheads="1"/>
          </p:cNvSpPr>
          <p:nvPr>
            <p:ph type="title"/>
          </p:nvPr>
        </p:nvSpPr>
        <p:spPr/>
        <p:txBody>
          <a:bodyPr/>
          <a:lstStyle/>
          <a:p>
            <a:pPr eaLnBrk="1" hangingPunct="1"/>
            <a:r>
              <a:rPr lang="en-US" smtClean="0"/>
              <a:t>Required Proposal Components</a:t>
            </a:r>
          </a:p>
        </p:txBody>
      </p:sp>
      <p:sp>
        <p:nvSpPr>
          <p:cNvPr id="18436" name="Rectangle 3"/>
          <p:cNvSpPr>
            <a:spLocks noGrp="1" noChangeArrowheads="1"/>
          </p:cNvSpPr>
          <p:nvPr>
            <p:ph type="body" idx="1"/>
          </p:nvPr>
        </p:nvSpPr>
        <p:spPr>
          <a:xfrm>
            <a:off x="762000" y="1543050"/>
            <a:ext cx="8153400" cy="4876800"/>
          </a:xfrm>
        </p:spPr>
        <p:txBody>
          <a:bodyPr/>
          <a:lstStyle/>
          <a:p>
            <a:pPr eaLnBrk="1" hangingPunct="1">
              <a:lnSpc>
                <a:spcPct val="90000"/>
              </a:lnSpc>
            </a:pPr>
            <a:r>
              <a:rPr lang="en-US" sz="2800" dirty="0" smtClean="0"/>
              <a:t>In-kind Resource Match</a:t>
            </a:r>
          </a:p>
          <a:p>
            <a:pPr eaLnBrk="1" hangingPunct="1">
              <a:lnSpc>
                <a:spcPct val="90000"/>
              </a:lnSpc>
            </a:pPr>
            <a:endParaRPr lang="en-US" sz="800" dirty="0" smtClean="0"/>
          </a:p>
          <a:p>
            <a:pPr lvl="1" eaLnBrk="1" hangingPunct="1">
              <a:lnSpc>
                <a:spcPct val="80000"/>
              </a:lnSpc>
            </a:pPr>
            <a:r>
              <a:rPr lang="en-US" dirty="0" smtClean="0"/>
              <a:t>In 2012 it varies from 30% to 50%</a:t>
            </a:r>
          </a:p>
          <a:p>
            <a:pPr lvl="1" eaLnBrk="1" hangingPunct="1">
              <a:lnSpc>
                <a:spcPct val="80000"/>
              </a:lnSpc>
            </a:pPr>
            <a:endParaRPr lang="en-US" sz="800" dirty="0" smtClean="0"/>
          </a:p>
          <a:p>
            <a:pPr lvl="1" eaLnBrk="1" hangingPunct="1">
              <a:lnSpc>
                <a:spcPct val="80000"/>
              </a:lnSpc>
            </a:pPr>
            <a:r>
              <a:rPr lang="en-US" dirty="0" smtClean="0"/>
              <a:t>Example:</a:t>
            </a:r>
          </a:p>
          <a:p>
            <a:pPr lvl="2" eaLnBrk="1" hangingPunct="1">
              <a:lnSpc>
                <a:spcPct val="80000"/>
              </a:lnSpc>
            </a:pPr>
            <a:r>
              <a:rPr lang="en-US" dirty="0" smtClean="0"/>
              <a:t>$40,000 Federal Funds = $20,000 In-kind Funds</a:t>
            </a:r>
            <a:endParaRPr lang="en-US" sz="800" dirty="0" smtClean="0"/>
          </a:p>
          <a:p>
            <a:pPr lvl="2" eaLnBrk="1" hangingPunct="1">
              <a:lnSpc>
                <a:spcPct val="80000"/>
              </a:lnSpc>
            </a:pPr>
            <a:endParaRPr lang="en-US" sz="800" dirty="0" smtClean="0"/>
          </a:p>
          <a:p>
            <a:pPr lvl="1" eaLnBrk="1" hangingPunct="1">
              <a:lnSpc>
                <a:spcPct val="80000"/>
              </a:lnSpc>
            </a:pPr>
            <a:r>
              <a:rPr lang="en-US" dirty="0" smtClean="0"/>
              <a:t>The match should be what is reasonable </a:t>
            </a:r>
            <a:r>
              <a:rPr lang="en-US" dirty="0"/>
              <a:t>for </a:t>
            </a:r>
            <a:r>
              <a:rPr lang="en-US" dirty="0" smtClean="0"/>
              <a:t>the accomplishment </a:t>
            </a:r>
            <a:r>
              <a:rPr lang="en-US" dirty="0"/>
              <a:t>of project </a:t>
            </a:r>
            <a:r>
              <a:rPr lang="en-US" dirty="0" smtClean="0"/>
              <a:t>objectives </a:t>
            </a:r>
          </a:p>
          <a:p>
            <a:pPr lvl="1" eaLnBrk="1" hangingPunct="1">
              <a:lnSpc>
                <a:spcPct val="80000"/>
              </a:lnSpc>
            </a:pPr>
            <a:endParaRPr lang="en-US" sz="800" dirty="0" smtClean="0"/>
          </a:p>
          <a:p>
            <a:pPr lvl="1" eaLnBrk="1" hangingPunct="1">
              <a:lnSpc>
                <a:spcPct val="80000"/>
              </a:lnSpc>
            </a:pPr>
            <a:r>
              <a:rPr lang="en-US" dirty="0" smtClean="0"/>
              <a:t>What </a:t>
            </a:r>
            <a:r>
              <a:rPr lang="en-US" b="1" dirty="0" smtClean="0"/>
              <a:t>cannot</a:t>
            </a:r>
            <a:r>
              <a:rPr lang="en-US" dirty="0" smtClean="0"/>
              <a:t> be used:</a:t>
            </a:r>
          </a:p>
          <a:p>
            <a:pPr lvl="2" eaLnBrk="1" hangingPunct="1">
              <a:lnSpc>
                <a:spcPct val="80000"/>
              </a:lnSpc>
            </a:pPr>
            <a:r>
              <a:rPr lang="en-US" dirty="0" smtClean="0"/>
              <a:t>funding from other Federal agencies </a:t>
            </a:r>
          </a:p>
          <a:p>
            <a:pPr lvl="2" eaLnBrk="1" hangingPunct="1">
              <a:lnSpc>
                <a:spcPct val="80000"/>
              </a:lnSpc>
            </a:pPr>
            <a:r>
              <a:rPr lang="en-US" dirty="0" smtClean="0"/>
              <a:t>value of geospatial data holdings</a:t>
            </a:r>
          </a:p>
          <a:p>
            <a:pPr lvl="1" algn="ctr" eaLnBrk="1" hangingPunct="1">
              <a:lnSpc>
                <a:spcPct val="90000"/>
              </a:lnSpc>
              <a:buFontTx/>
              <a:buNone/>
            </a:pPr>
            <a:endParaRPr lang="en-US" sz="800"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0"/>
          </p:nvPr>
        </p:nvSpPr>
        <p:spPr>
          <a:noFill/>
        </p:spPr>
        <p:txBody>
          <a:bodyPr/>
          <a:lstStyle/>
          <a:p>
            <a:fld id="{96607F32-BB42-4EBB-BE74-041F15C48F21}" type="slidenum">
              <a:rPr lang="en-US" smtClean="0"/>
              <a:pPr/>
              <a:t>37</a:t>
            </a:fld>
            <a:endParaRPr lang="en-US" smtClean="0"/>
          </a:p>
        </p:txBody>
      </p:sp>
      <p:sp>
        <p:nvSpPr>
          <p:cNvPr id="18435" name="Rectangle 2"/>
          <p:cNvSpPr>
            <a:spLocks noGrp="1" noChangeArrowheads="1"/>
          </p:cNvSpPr>
          <p:nvPr>
            <p:ph type="title"/>
          </p:nvPr>
        </p:nvSpPr>
        <p:spPr/>
        <p:txBody>
          <a:bodyPr/>
          <a:lstStyle/>
          <a:p>
            <a:pPr eaLnBrk="1" hangingPunct="1"/>
            <a:r>
              <a:rPr lang="en-US" smtClean="0"/>
              <a:t>Required Proposal Components</a:t>
            </a:r>
          </a:p>
        </p:txBody>
      </p:sp>
      <p:sp>
        <p:nvSpPr>
          <p:cNvPr id="18436" name="Rectangle 3"/>
          <p:cNvSpPr>
            <a:spLocks noGrp="1" noChangeArrowheads="1"/>
          </p:cNvSpPr>
          <p:nvPr>
            <p:ph type="body" idx="1"/>
          </p:nvPr>
        </p:nvSpPr>
        <p:spPr>
          <a:xfrm>
            <a:off x="762000" y="1543050"/>
            <a:ext cx="8153400" cy="4876800"/>
          </a:xfrm>
        </p:spPr>
        <p:txBody>
          <a:bodyPr/>
          <a:lstStyle/>
          <a:p>
            <a:pPr eaLnBrk="1" hangingPunct="1">
              <a:lnSpc>
                <a:spcPct val="90000"/>
              </a:lnSpc>
            </a:pPr>
            <a:r>
              <a:rPr lang="en-US" sz="2800" dirty="0" smtClean="0"/>
              <a:t>In-kind Resource Match (</a:t>
            </a:r>
            <a:r>
              <a:rPr lang="en-US" sz="2800" dirty="0" err="1" smtClean="0"/>
              <a:t>con’t</a:t>
            </a:r>
            <a:r>
              <a:rPr lang="en-US" sz="2800" dirty="0" smtClean="0"/>
              <a:t>)</a:t>
            </a:r>
          </a:p>
          <a:p>
            <a:pPr marL="342900" lvl="1" indent="0" eaLnBrk="1" hangingPunct="1">
              <a:lnSpc>
                <a:spcPct val="80000"/>
              </a:lnSpc>
              <a:buNone/>
            </a:pPr>
            <a:endParaRPr lang="en-US" sz="800" dirty="0" smtClean="0"/>
          </a:p>
          <a:p>
            <a:pPr lvl="1" eaLnBrk="1" hangingPunct="1">
              <a:lnSpc>
                <a:spcPct val="80000"/>
              </a:lnSpc>
            </a:pPr>
            <a:r>
              <a:rPr lang="en-US" dirty="0" smtClean="0"/>
              <a:t>What </a:t>
            </a:r>
            <a:r>
              <a:rPr lang="en-US" b="1" dirty="0" smtClean="0"/>
              <a:t>can</a:t>
            </a:r>
            <a:r>
              <a:rPr lang="en-US" dirty="0" smtClean="0"/>
              <a:t> be used:</a:t>
            </a:r>
          </a:p>
          <a:p>
            <a:pPr lvl="2" eaLnBrk="1" hangingPunct="1">
              <a:lnSpc>
                <a:spcPct val="80000"/>
              </a:lnSpc>
            </a:pPr>
            <a:r>
              <a:rPr lang="en-US" dirty="0" smtClean="0"/>
              <a:t>salaries</a:t>
            </a:r>
          </a:p>
          <a:p>
            <a:pPr lvl="2" eaLnBrk="1" hangingPunct="1">
              <a:lnSpc>
                <a:spcPct val="80000"/>
              </a:lnSpc>
            </a:pPr>
            <a:r>
              <a:rPr lang="en-US" dirty="0" smtClean="0"/>
              <a:t>cash/funds from non-federal contributors</a:t>
            </a:r>
          </a:p>
          <a:p>
            <a:pPr lvl="2" eaLnBrk="1" hangingPunct="1">
              <a:lnSpc>
                <a:spcPct val="80000"/>
              </a:lnSpc>
            </a:pPr>
            <a:r>
              <a:rPr lang="en-US" dirty="0" smtClean="0"/>
              <a:t>contract support</a:t>
            </a:r>
          </a:p>
          <a:p>
            <a:pPr lvl="2" eaLnBrk="1" hangingPunct="1">
              <a:lnSpc>
                <a:spcPct val="80000"/>
              </a:lnSpc>
            </a:pPr>
            <a:r>
              <a:rPr lang="en-US" dirty="0" smtClean="0"/>
              <a:t>equipment or software dedicated to the project</a:t>
            </a:r>
          </a:p>
          <a:p>
            <a:pPr lvl="2" eaLnBrk="1" hangingPunct="1">
              <a:lnSpc>
                <a:spcPct val="80000"/>
              </a:lnSpc>
            </a:pPr>
            <a:r>
              <a:rPr lang="en-US" dirty="0"/>
              <a:t>computer servers hosting data</a:t>
            </a:r>
          </a:p>
          <a:p>
            <a:pPr lvl="2" eaLnBrk="1" hangingPunct="1">
              <a:lnSpc>
                <a:spcPct val="80000"/>
              </a:lnSpc>
            </a:pPr>
            <a:r>
              <a:rPr lang="en-US" dirty="0" smtClean="0"/>
              <a:t>student </a:t>
            </a:r>
            <a:r>
              <a:rPr lang="en-US" dirty="0"/>
              <a:t>assistance </a:t>
            </a:r>
            <a:r>
              <a:rPr lang="en-US" dirty="0" smtClean="0"/>
              <a:t>fees</a:t>
            </a:r>
          </a:p>
          <a:p>
            <a:pPr lvl="2" eaLnBrk="1" hangingPunct="1">
              <a:lnSpc>
                <a:spcPct val="80000"/>
              </a:lnSpc>
            </a:pPr>
            <a:r>
              <a:rPr lang="en-US" dirty="0" smtClean="0"/>
              <a:t>travel expenses</a:t>
            </a:r>
          </a:p>
          <a:p>
            <a:pPr lvl="2" eaLnBrk="1" hangingPunct="1">
              <a:lnSpc>
                <a:spcPct val="80000"/>
              </a:lnSpc>
            </a:pPr>
            <a:r>
              <a:rPr lang="en-US" dirty="0" smtClean="0"/>
              <a:t>venue costs </a:t>
            </a:r>
          </a:p>
          <a:p>
            <a:pPr lvl="2" eaLnBrk="1" hangingPunct="1">
              <a:lnSpc>
                <a:spcPct val="80000"/>
              </a:lnSpc>
            </a:pPr>
            <a:r>
              <a:rPr lang="en-US" dirty="0" smtClean="0"/>
              <a:t>production of outreach materials</a:t>
            </a:r>
          </a:p>
          <a:p>
            <a:pPr lvl="2" eaLnBrk="1" hangingPunct="1">
              <a:lnSpc>
                <a:spcPct val="80000"/>
              </a:lnSpc>
              <a:buClr>
                <a:srgbClr val="333399"/>
              </a:buClr>
            </a:pPr>
            <a:r>
              <a:rPr lang="en-US" dirty="0">
                <a:solidFill>
                  <a:srgbClr val="000000"/>
                </a:solidFill>
              </a:rPr>
              <a:t>indirect costs or overhead charges</a:t>
            </a:r>
          </a:p>
          <a:p>
            <a:pPr lvl="2" eaLnBrk="1" hangingPunct="1">
              <a:lnSpc>
                <a:spcPct val="80000"/>
              </a:lnSpc>
            </a:pPr>
            <a:endParaRPr lang="en-US" sz="800" dirty="0" smtClean="0"/>
          </a:p>
        </p:txBody>
      </p:sp>
    </p:spTree>
    <p:extLst>
      <p:ext uri="{BB962C8B-B14F-4D97-AF65-F5344CB8AC3E}">
        <p14:creationId xmlns:p14="http://schemas.microsoft.com/office/powerpoint/2010/main" val="22549207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0"/>
          </p:nvPr>
        </p:nvSpPr>
        <p:spPr>
          <a:noFill/>
        </p:spPr>
        <p:txBody>
          <a:bodyPr/>
          <a:lstStyle/>
          <a:p>
            <a:fld id="{BCE1D3E3-78D6-45DE-8349-74C45EB6FAD3}" type="slidenum">
              <a:rPr lang="en-US" smtClean="0"/>
              <a:pPr/>
              <a:t>38</a:t>
            </a:fld>
            <a:endParaRPr lang="en-US" smtClean="0"/>
          </a:p>
        </p:txBody>
      </p:sp>
      <p:sp>
        <p:nvSpPr>
          <p:cNvPr id="20483" name="Rectangle 2"/>
          <p:cNvSpPr>
            <a:spLocks noGrp="1" noChangeArrowheads="1"/>
          </p:cNvSpPr>
          <p:nvPr>
            <p:ph type="title"/>
          </p:nvPr>
        </p:nvSpPr>
        <p:spPr/>
        <p:txBody>
          <a:bodyPr/>
          <a:lstStyle/>
          <a:p>
            <a:pPr eaLnBrk="1" hangingPunct="1"/>
            <a:r>
              <a:rPr lang="en-US" dirty="0" smtClean="0"/>
              <a:t>Proposal Components</a:t>
            </a:r>
          </a:p>
        </p:txBody>
      </p:sp>
      <p:sp>
        <p:nvSpPr>
          <p:cNvPr id="20484" name="Rectangle 3"/>
          <p:cNvSpPr>
            <a:spLocks noGrp="1" noChangeArrowheads="1"/>
          </p:cNvSpPr>
          <p:nvPr>
            <p:ph type="body" idx="1"/>
          </p:nvPr>
        </p:nvSpPr>
        <p:spPr>
          <a:xfrm>
            <a:off x="762000" y="1407886"/>
            <a:ext cx="8134350" cy="4973864"/>
          </a:xfrm>
        </p:spPr>
        <p:txBody>
          <a:bodyPr/>
          <a:lstStyle/>
          <a:p>
            <a:pPr eaLnBrk="1" hangingPunct="1"/>
            <a:r>
              <a:rPr lang="en-US" sz="2800" dirty="0" smtClean="0"/>
              <a:t>Additional Required Proposal Components</a:t>
            </a:r>
          </a:p>
          <a:p>
            <a:pPr eaLnBrk="1" hangingPunct="1"/>
            <a:endParaRPr lang="en-US" sz="800" dirty="0" smtClean="0"/>
          </a:p>
          <a:p>
            <a:pPr eaLnBrk="1" hangingPunct="1"/>
            <a:r>
              <a:rPr lang="en-US" sz="2400" dirty="0" smtClean="0"/>
              <a:t>The required components are noted in the CAP announcement</a:t>
            </a:r>
          </a:p>
          <a:p>
            <a:pPr eaLnBrk="1" hangingPunct="1"/>
            <a:endParaRPr lang="en-US" sz="800" dirty="0" smtClean="0"/>
          </a:p>
          <a:p>
            <a:pPr lvl="1" eaLnBrk="1" hangingPunct="1"/>
            <a:r>
              <a:rPr lang="en-US" sz="2000" dirty="0" smtClean="0"/>
              <a:t>Letters </a:t>
            </a:r>
            <a:r>
              <a:rPr lang="en-US" sz="2000" dirty="0"/>
              <a:t>of </a:t>
            </a:r>
            <a:r>
              <a:rPr lang="en-US" sz="2000" dirty="0" smtClean="0"/>
              <a:t>Support or Commitment</a:t>
            </a:r>
          </a:p>
          <a:p>
            <a:pPr lvl="2" eaLnBrk="1" hangingPunct="1"/>
            <a:r>
              <a:rPr lang="en-US" sz="2000" dirty="0" smtClean="0"/>
              <a:t>Partners, collaborators or project stakeholders</a:t>
            </a:r>
          </a:p>
          <a:p>
            <a:pPr lvl="2" eaLnBrk="1" hangingPunct="1"/>
            <a:r>
              <a:rPr lang="en-US" sz="2000" dirty="0" smtClean="0"/>
              <a:t>Geographic Information Council </a:t>
            </a:r>
            <a:endParaRPr lang="en-US" sz="2000" dirty="0"/>
          </a:p>
          <a:p>
            <a:pPr lvl="2" eaLnBrk="1" hangingPunct="1"/>
            <a:r>
              <a:rPr lang="en-US" sz="2000" dirty="0" smtClean="0"/>
              <a:t>GIS Coordinator</a:t>
            </a:r>
            <a:endParaRPr lang="en-US" sz="2000" dirty="0"/>
          </a:p>
          <a:p>
            <a:pPr lvl="1" eaLnBrk="1" hangingPunct="1"/>
            <a:r>
              <a:rPr lang="en-US" sz="2000" dirty="0" smtClean="0"/>
              <a:t>Memoranda of Understanding or other formal agreements</a:t>
            </a:r>
            <a:endParaRPr lang="en-US" sz="2000" dirty="0"/>
          </a:p>
          <a:p>
            <a:pPr lvl="1" eaLnBrk="1" hangingPunct="1"/>
            <a:r>
              <a:rPr lang="en-US" sz="2000" dirty="0" smtClean="0"/>
              <a:t>Negotiated </a:t>
            </a:r>
            <a:r>
              <a:rPr lang="en-US" sz="2000" dirty="0"/>
              <a:t>Rate Agreement – State and university applicants </a:t>
            </a:r>
            <a:endParaRPr lang="en-US" sz="2000" dirty="0" smtClean="0"/>
          </a:p>
          <a:p>
            <a:pPr marL="342900" lvl="1" indent="0" eaLnBrk="1" hangingPunct="1">
              <a:buNone/>
            </a:pPr>
            <a:endParaRPr lang="en-US" dirty="0"/>
          </a:p>
          <a:p>
            <a:pPr marL="342900" lvl="1" indent="0" eaLnBrk="1" hangingPunct="1">
              <a:buNone/>
            </a:pPr>
            <a:endParaRPr lang="en-US"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p:spPr>
        <p:txBody>
          <a:bodyPr/>
          <a:lstStyle/>
          <a:p>
            <a:fld id="{0F56B456-FA90-412D-90D2-5EDF37D442DD}" type="slidenum">
              <a:rPr lang="en-US" smtClean="0"/>
              <a:pPr/>
              <a:t>39</a:t>
            </a:fld>
            <a:endParaRPr lang="en-US" smtClean="0"/>
          </a:p>
        </p:txBody>
      </p:sp>
      <p:sp>
        <p:nvSpPr>
          <p:cNvPr id="21507" name="Rectangle 2"/>
          <p:cNvSpPr>
            <a:spLocks noGrp="1" noChangeArrowheads="1"/>
          </p:cNvSpPr>
          <p:nvPr>
            <p:ph type="title"/>
          </p:nvPr>
        </p:nvSpPr>
        <p:spPr/>
        <p:txBody>
          <a:bodyPr/>
          <a:lstStyle/>
          <a:p>
            <a:pPr eaLnBrk="1" hangingPunct="1"/>
            <a:r>
              <a:rPr lang="en-US" dirty="0" smtClean="0"/>
              <a:t>Proposal Components</a:t>
            </a:r>
          </a:p>
        </p:txBody>
      </p:sp>
      <p:sp>
        <p:nvSpPr>
          <p:cNvPr id="21508" name="Rectangle 3"/>
          <p:cNvSpPr>
            <a:spLocks noGrp="1" noChangeArrowheads="1"/>
          </p:cNvSpPr>
          <p:nvPr>
            <p:ph type="body" idx="1"/>
          </p:nvPr>
        </p:nvSpPr>
        <p:spPr>
          <a:xfrm>
            <a:off x="762000" y="1504950"/>
            <a:ext cx="8382000" cy="4876800"/>
          </a:xfrm>
        </p:spPr>
        <p:txBody>
          <a:bodyPr/>
          <a:lstStyle/>
          <a:p>
            <a:pPr eaLnBrk="1" hangingPunct="1"/>
            <a:r>
              <a:rPr lang="en-US" sz="2800" dirty="0" smtClean="0"/>
              <a:t>Optional Proposal Components</a:t>
            </a:r>
          </a:p>
          <a:p>
            <a:pPr eaLnBrk="1" hangingPunct="1"/>
            <a:endParaRPr lang="en-US" sz="1600" dirty="0" smtClean="0"/>
          </a:p>
          <a:p>
            <a:pPr lvl="1" eaLnBrk="1" hangingPunct="1"/>
            <a:r>
              <a:rPr lang="en-US" dirty="0" smtClean="0"/>
              <a:t>Other supporting documents</a:t>
            </a:r>
            <a:endParaRPr lang="en-US" sz="800" u="sng" dirty="0" smtClean="0"/>
          </a:p>
          <a:p>
            <a:pPr lvl="2" eaLnBrk="1" hangingPunct="1"/>
            <a:r>
              <a:rPr lang="en-US" dirty="0" smtClean="0"/>
              <a:t>Memoranda of Understanding</a:t>
            </a:r>
          </a:p>
          <a:p>
            <a:pPr lvl="2" eaLnBrk="1" hangingPunct="1"/>
            <a:r>
              <a:rPr lang="en-US" dirty="0" smtClean="0"/>
              <a:t>letters of support</a:t>
            </a:r>
          </a:p>
          <a:p>
            <a:pPr lvl="2" eaLnBrk="1" hangingPunct="1"/>
            <a:r>
              <a:rPr lang="en-US" dirty="0"/>
              <a:t>l</a:t>
            </a:r>
            <a:r>
              <a:rPr lang="en-US" dirty="0" smtClean="0"/>
              <a:t>etters of commitment </a:t>
            </a:r>
          </a:p>
          <a:p>
            <a:pPr lvl="2" eaLnBrk="1" hangingPunct="1"/>
            <a:r>
              <a:rPr lang="en-US" dirty="0" smtClean="0"/>
              <a:t>affirm leadership role</a:t>
            </a:r>
          </a:p>
          <a:p>
            <a:pPr lvl="2" eaLnBrk="1" hangingPunct="1"/>
            <a:r>
              <a:rPr lang="en-US" dirty="0" smtClean="0"/>
              <a:t>support statements made in the Proposal Narrative</a:t>
            </a:r>
          </a:p>
          <a:p>
            <a:pPr lvl="2" eaLnBrk="1" hangingPunct="1"/>
            <a:endParaRPr lang="en-US" dirty="0" smtClean="0"/>
          </a:p>
          <a:p>
            <a:pPr lvl="1" eaLnBrk="1" hangingPunct="1"/>
            <a:r>
              <a:rPr lang="en-US" dirty="0"/>
              <a:t>R</a:t>
            </a:r>
            <a:r>
              <a:rPr lang="en-US" dirty="0" smtClean="0"/>
              <a:t>esumes or Curriculum Vitae</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p>
            <a:fld id="{F0A52C7A-4B1C-4B09-ABE3-E5085A13C8FC}" type="slidenum">
              <a:rPr lang="en-US" smtClean="0"/>
              <a:pPr/>
              <a:t>40</a:t>
            </a:fld>
            <a:endParaRPr lang="en-US" smtClean="0"/>
          </a:p>
        </p:txBody>
      </p:sp>
      <p:sp>
        <p:nvSpPr>
          <p:cNvPr id="19459" name="Rectangle 2"/>
          <p:cNvSpPr>
            <a:spLocks noGrp="1" noChangeArrowheads="1"/>
          </p:cNvSpPr>
          <p:nvPr>
            <p:ph type="title"/>
          </p:nvPr>
        </p:nvSpPr>
        <p:spPr/>
        <p:txBody>
          <a:bodyPr/>
          <a:lstStyle/>
          <a:p>
            <a:pPr eaLnBrk="1" hangingPunct="1"/>
            <a:r>
              <a:rPr lang="en-US" dirty="0" smtClean="0"/>
              <a:t>Proposal Components</a:t>
            </a:r>
          </a:p>
        </p:txBody>
      </p:sp>
      <p:sp>
        <p:nvSpPr>
          <p:cNvPr id="19460" name="Rectangle 3"/>
          <p:cNvSpPr>
            <a:spLocks noGrp="1" noChangeArrowheads="1"/>
          </p:cNvSpPr>
          <p:nvPr>
            <p:ph type="body" idx="1"/>
          </p:nvPr>
        </p:nvSpPr>
        <p:spPr>
          <a:xfrm>
            <a:off x="762000" y="1543050"/>
            <a:ext cx="8153400" cy="4876800"/>
          </a:xfrm>
        </p:spPr>
        <p:txBody>
          <a:bodyPr/>
          <a:lstStyle/>
          <a:p>
            <a:pPr eaLnBrk="1" hangingPunct="1"/>
            <a:endParaRPr lang="en-US" sz="3200" dirty="0" smtClean="0"/>
          </a:p>
          <a:p>
            <a:pPr algn="ctr" eaLnBrk="1" hangingPunct="1">
              <a:lnSpc>
                <a:spcPct val="150000"/>
              </a:lnSpc>
            </a:pPr>
            <a:r>
              <a:rPr lang="en-US" sz="3200" dirty="0" smtClean="0"/>
              <a:t>Letters </a:t>
            </a:r>
            <a:r>
              <a:rPr lang="en-US" sz="3200" dirty="0"/>
              <a:t>of </a:t>
            </a:r>
            <a:r>
              <a:rPr lang="en-US" sz="3200" dirty="0" smtClean="0"/>
              <a:t>support or commitment </a:t>
            </a:r>
          </a:p>
          <a:p>
            <a:pPr algn="ctr" eaLnBrk="1" hangingPunct="1">
              <a:lnSpc>
                <a:spcPct val="150000"/>
              </a:lnSpc>
            </a:pPr>
            <a:r>
              <a:rPr lang="en-US" sz="3200" dirty="0" smtClean="0"/>
              <a:t>may </a:t>
            </a:r>
            <a:r>
              <a:rPr lang="en-US" sz="3200" b="1" dirty="0" smtClean="0"/>
              <a:t>not</a:t>
            </a:r>
            <a:r>
              <a:rPr lang="en-US" sz="3200" dirty="0" smtClean="0"/>
              <a:t> </a:t>
            </a:r>
          </a:p>
          <a:p>
            <a:pPr algn="ctr" eaLnBrk="1" hangingPunct="1">
              <a:lnSpc>
                <a:spcPct val="150000"/>
              </a:lnSpc>
            </a:pPr>
            <a:r>
              <a:rPr lang="en-US" sz="3200" dirty="0" smtClean="0"/>
              <a:t>be </a:t>
            </a:r>
            <a:r>
              <a:rPr lang="en-US" sz="3200" dirty="0"/>
              <a:t>provided by </a:t>
            </a:r>
            <a:r>
              <a:rPr lang="en-US" sz="3200" dirty="0" smtClean="0"/>
              <a:t>any Federal employee</a:t>
            </a:r>
            <a:endParaRPr lang="en-US" sz="2000" dirty="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896" y="2583543"/>
            <a:ext cx="4416104" cy="4100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00" y="1994352"/>
            <a:ext cx="5137273" cy="4065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8" name="Slide Number Placeholder 3"/>
          <p:cNvSpPr>
            <a:spLocks noGrp="1"/>
          </p:cNvSpPr>
          <p:nvPr>
            <p:ph type="sldNum" sz="quarter" idx="10"/>
          </p:nvPr>
        </p:nvSpPr>
        <p:spPr>
          <a:noFill/>
        </p:spPr>
        <p:txBody>
          <a:bodyPr/>
          <a:lstStyle/>
          <a:p>
            <a:fld id="{F0A52C7A-4B1C-4B09-ABE3-E5085A13C8FC}" type="slidenum">
              <a:rPr lang="en-US" smtClean="0"/>
              <a:pPr/>
              <a:t>41</a:t>
            </a:fld>
            <a:endParaRPr lang="en-US" smtClean="0"/>
          </a:p>
        </p:txBody>
      </p:sp>
      <p:sp>
        <p:nvSpPr>
          <p:cNvPr id="19459" name="Rectangle 2"/>
          <p:cNvSpPr>
            <a:spLocks noGrp="1" noChangeArrowheads="1"/>
          </p:cNvSpPr>
          <p:nvPr>
            <p:ph type="title"/>
          </p:nvPr>
        </p:nvSpPr>
        <p:spPr/>
        <p:txBody>
          <a:bodyPr/>
          <a:lstStyle/>
          <a:p>
            <a:pPr eaLnBrk="1" hangingPunct="1"/>
            <a:r>
              <a:rPr lang="en-US" dirty="0" smtClean="0"/>
              <a:t>Demonstration</a:t>
            </a:r>
          </a:p>
        </p:txBody>
      </p:sp>
      <p:sp>
        <p:nvSpPr>
          <p:cNvPr id="19460" name="Rectangle 3"/>
          <p:cNvSpPr>
            <a:spLocks noGrp="1" noChangeArrowheads="1"/>
          </p:cNvSpPr>
          <p:nvPr>
            <p:ph type="body" idx="1"/>
          </p:nvPr>
        </p:nvSpPr>
        <p:spPr>
          <a:xfrm>
            <a:off x="740229" y="1465943"/>
            <a:ext cx="8273142" cy="986290"/>
          </a:xfrm>
          <a:noFill/>
        </p:spPr>
        <p:txBody>
          <a:bodyPr/>
          <a:lstStyle/>
          <a:p>
            <a:pPr eaLnBrk="1" hangingPunct="1"/>
            <a:r>
              <a:rPr lang="en-US" sz="2400" dirty="0" smtClean="0"/>
              <a:t>Application package from </a:t>
            </a:r>
            <a:r>
              <a:rPr lang="en-US" sz="2400" dirty="0" smtClean="0">
                <a:hlinkClick r:id="rId5"/>
              </a:rPr>
              <a:t>Grant.gov</a:t>
            </a:r>
            <a:endParaRPr lang="en-US" sz="2400" dirty="0" smtClean="0"/>
          </a:p>
          <a:p>
            <a:pPr algn="r" eaLnBrk="1" hangingPunct="1"/>
            <a:r>
              <a:rPr lang="en-US" sz="2400" dirty="0" smtClean="0"/>
              <a:t>CAP Announcement</a:t>
            </a:r>
          </a:p>
        </p:txBody>
      </p:sp>
    </p:spTree>
    <p:extLst>
      <p:ext uri="{BB962C8B-B14F-4D97-AF65-F5344CB8AC3E}">
        <p14:creationId xmlns:p14="http://schemas.microsoft.com/office/powerpoint/2010/main" val="5493523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p:spPr>
        <p:txBody>
          <a:bodyPr/>
          <a:lstStyle/>
          <a:p>
            <a:fld id="{50BD2D12-B312-4905-98FA-165F520E0839}" type="slidenum">
              <a:rPr lang="en-US" smtClean="0"/>
              <a:pPr/>
              <a:t>42</a:t>
            </a:fld>
            <a:endParaRPr lang="en-US" smtClean="0"/>
          </a:p>
        </p:txBody>
      </p:sp>
      <p:sp>
        <p:nvSpPr>
          <p:cNvPr id="22531" name="Rectangle 2"/>
          <p:cNvSpPr>
            <a:spLocks noGrp="1" noChangeArrowheads="1"/>
          </p:cNvSpPr>
          <p:nvPr>
            <p:ph type="title"/>
          </p:nvPr>
        </p:nvSpPr>
        <p:spPr/>
        <p:txBody>
          <a:bodyPr/>
          <a:lstStyle/>
          <a:p>
            <a:pPr eaLnBrk="1" hangingPunct="1"/>
            <a:r>
              <a:rPr lang="en-US" dirty="0" smtClean="0"/>
              <a:t>Summary of What to Submit</a:t>
            </a:r>
          </a:p>
        </p:txBody>
      </p:sp>
      <p:sp>
        <p:nvSpPr>
          <p:cNvPr id="22532" name="Rectangle 3"/>
          <p:cNvSpPr>
            <a:spLocks noGrp="1" noChangeArrowheads="1"/>
          </p:cNvSpPr>
          <p:nvPr>
            <p:ph type="body" idx="1"/>
          </p:nvPr>
        </p:nvSpPr>
        <p:spPr>
          <a:xfrm>
            <a:off x="762000" y="1543050"/>
            <a:ext cx="8382000" cy="4876800"/>
          </a:xfrm>
        </p:spPr>
        <p:txBody>
          <a:bodyPr/>
          <a:lstStyle/>
          <a:p>
            <a:pPr eaLnBrk="1" hangingPunct="1">
              <a:lnSpc>
                <a:spcPct val="90000"/>
              </a:lnSpc>
            </a:pPr>
            <a:r>
              <a:rPr lang="en-US" sz="2800" dirty="0" smtClean="0"/>
              <a:t>Application Package</a:t>
            </a:r>
          </a:p>
          <a:p>
            <a:pPr eaLnBrk="1" hangingPunct="1">
              <a:lnSpc>
                <a:spcPct val="90000"/>
              </a:lnSpc>
            </a:pPr>
            <a:endParaRPr lang="en-US" sz="2800" dirty="0" smtClean="0"/>
          </a:p>
          <a:p>
            <a:pPr lvl="1" eaLnBrk="1" hangingPunct="1">
              <a:lnSpc>
                <a:spcPct val="90000"/>
              </a:lnSpc>
            </a:pPr>
            <a:r>
              <a:rPr lang="en-US" dirty="0" smtClean="0"/>
              <a:t>SF-424 Application for Federal Assistance</a:t>
            </a:r>
          </a:p>
          <a:p>
            <a:pPr lvl="1" eaLnBrk="1" hangingPunct="1">
              <a:lnSpc>
                <a:spcPct val="90000"/>
              </a:lnSpc>
            </a:pPr>
            <a:r>
              <a:rPr lang="en-US" dirty="0" smtClean="0"/>
              <a:t>SF-424A Budget Information</a:t>
            </a:r>
          </a:p>
          <a:p>
            <a:pPr lvl="1" eaLnBrk="1" hangingPunct="1">
              <a:lnSpc>
                <a:spcPct val="90000"/>
              </a:lnSpc>
            </a:pPr>
            <a:r>
              <a:rPr lang="en-US" dirty="0" smtClean="0"/>
              <a:t>S</a:t>
            </a:r>
            <a:r>
              <a:rPr lang="fr-FR" dirty="0" smtClean="0"/>
              <a:t>F-424B Assurances–Non-Construction Programs</a:t>
            </a:r>
          </a:p>
          <a:p>
            <a:pPr lvl="1" eaLnBrk="1" hangingPunct="1">
              <a:lnSpc>
                <a:spcPct val="90000"/>
              </a:lnSpc>
            </a:pPr>
            <a:r>
              <a:rPr lang="en-US" dirty="0" smtClean="0"/>
              <a:t>Proposal narrative</a:t>
            </a:r>
          </a:p>
          <a:p>
            <a:pPr lvl="1" eaLnBrk="1" hangingPunct="1">
              <a:lnSpc>
                <a:spcPct val="90000"/>
              </a:lnSpc>
            </a:pPr>
            <a:r>
              <a:rPr lang="en-US" dirty="0" smtClean="0"/>
              <a:t>Budget Breakdown</a:t>
            </a:r>
            <a:endParaRPr lang="fr-FR" dirty="0" smtClean="0"/>
          </a:p>
          <a:p>
            <a:pPr lvl="1" eaLnBrk="1" hangingPunct="1">
              <a:lnSpc>
                <a:spcPct val="90000"/>
              </a:lnSpc>
            </a:pPr>
            <a:r>
              <a:rPr lang="fr-FR" dirty="0" err="1" smtClean="0"/>
              <a:t>Other</a:t>
            </a:r>
            <a:r>
              <a:rPr lang="fr-FR" dirty="0"/>
              <a:t> </a:t>
            </a:r>
            <a:r>
              <a:rPr lang="fr-FR" dirty="0" err="1" smtClean="0"/>
              <a:t>required</a:t>
            </a:r>
            <a:r>
              <a:rPr lang="fr-FR" dirty="0" smtClean="0"/>
              <a:t> documents</a:t>
            </a:r>
          </a:p>
          <a:p>
            <a:pPr lvl="1" eaLnBrk="1" hangingPunct="1">
              <a:lnSpc>
                <a:spcPct val="90000"/>
              </a:lnSpc>
            </a:pPr>
            <a:r>
              <a:rPr lang="en-US" dirty="0" smtClean="0"/>
              <a:t>Optional documents</a:t>
            </a:r>
          </a:p>
          <a:p>
            <a:pPr lvl="1" eaLnBrk="1" hangingPunct="1">
              <a:lnSpc>
                <a:spcPct val="90000"/>
              </a:lnSpc>
              <a:buFontTx/>
              <a:buNone/>
            </a:pPr>
            <a:endParaRPr lang="en-US" sz="2800"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0"/>
          </p:nvPr>
        </p:nvSpPr>
        <p:spPr>
          <a:noFill/>
        </p:spPr>
        <p:txBody>
          <a:bodyPr/>
          <a:lstStyle/>
          <a:p>
            <a:fld id="{31BB97D4-B362-4D3C-B5CC-1F7111416B56}" type="slidenum">
              <a:rPr lang="en-US" smtClean="0">
                <a:solidFill>
                  <a:srgbClr val="000000"/>
                </a:solidFill>
              </a:rPr>
              <a:pPr/>
              <a:t>43</a:t>
            </a:fld>
            <a:endParaRPr lang="en-US" smtClean="0">
              <a:solidFill>
                <a:srgbClr val="000000"/>
              </a:solidFill>
            </a:endParaRPr>
          </a:p>
        </p:txBody>
      </p:sp>
      <p:sp>
        <p:nvSpPr>
          <p:cNvPr id="29699" name="Rectangle 2"/>
          <p:cNvSpPr>
            <a:spLocks noGrp="1" noChangeArrowheads="1"/>
          </p:cNvSpPr>
          <p:nvPr>
            <p:ph type="title"/>
          </p:nvPr>
        </p:nvSpPr>
        <p:spPr/>
        <p:txBody>
          <a:bodyPr/>
          <a:lstStyle/>
          <a:p>
            <a:pPr eaLnBrk="1" hangingPunct="1"/>
            <a:r>
              <a:rPr lang="en-US" sz="2800" smtClean="0"/>
              <a:t>Submitting  Your Proposal via Grants.gov</a:t>
            </a:r>
          </a:p>
        </p:txBody>
      </p:sp>
      <p:sp>
        <p:nvSpPr>
          <p:cNvPr id="29700" name="Rectangle 3"/>
          <p:cNvSpPr>
            <a:spLocks noGrp="1" noChangeArrowheads="1"/>
          </p:cNvSpPr>
          <p:nvPr>
            <p:ph type="body" idx="1"/>
          </p:nvPr>
        </p:nvSpPr>
        <p:spPr>
          <a:xfrm>
            <a:off x="784225" y="1566863"/>
            <a:ext cx="8359775" cy="4708525"/>
          </a:xfrm>
        </p:spPr>
        <p:txBody>
          <a:bodyPr/>
          <a:lstStyle/>
          <a:p>
            <a:pPr marL="400050" indent="-400050" eaLnBrk="1" hangingPunct="1"/>
            <a:r>
              <a:rPr lang="en-US" sz="2800" dirty="0" smtClean="0"/>
              <a:t>Submit the Completed NSDI CAP Application Package</a:t>
            </a:r>
          </a:p>
          <a:p>
            <a:pPr marL="400050" indent="-400050" eaLnBrk="1" hangingPunct="1"/>
            <a:endParaRPr lang="en-US" dirty="0" smtClean="0"/>
          </a:p>
          <a:p>
            <a:pPr marL="857250" lvl="1" eaLnBrk="1" hangingPunct="1"/>
            <a:r>
              <a:rPr lang="en-US" sz="2200" dirty="0" smtClean="0"/>
              <a:t>Click the submit button on the application package cover page</a:t>
            </a:r>
          </a:p>
          <a:p>
            <a:pPr marL="857250" lvl="1" eaLnBrk="1" hangingPunct="1"/>
            <a:r>
              <a:rPr lang="en-US" sz="2200" dirty="0" smtClean="0"/>
              <a:t>Log in to Grants.gov using your username and password. </a:t>
            </a:r>
          </a:p>
          <a:p>
            <a:pPr marL="857250" lvl="1" eaLnBrk="1" hangingPunct="1"/>
            <a:r>
              <a:rPr lang="en-US" sz="2200" dirty="0" smtClean="0"/>
              <a:t>Click the "Sign and Submit" button on the summary page</a:t>
            </a:r>
          </a:p>
          <a:p>
            <a:pPr marL="857250" lvl="1" eaLnBrk="1" hangingPunct="1"/>
            <a:r>
              <a:rPr lang="en-US" sz="2200" dirty="0" smtClean="0"/>
              <a:t>Grants.gov tracking number will be provided</a:t>
            </a:r>
          </a:p>
          <a:p>
            <a:pPr marL="857250" lvl="1" eaLnBrk="1" hangingPunct="1"/>
            <a:r>
              <a:rPr lang="en-US" sz="2200" dirty="0" smtClean="0"/>
              <a:t>Check for errors </a:t>
            </a:r>
          </a:p>
        </p:txBody>
      </p:sp>
    </p:spTree>
    <p:extLst>
      <p:ext uri="{BB962C8B-B14F-4D97-AF65-F5344CB8AC3E}">
        <p14:creationId xmlns:p14="http://schemas.microsoft.com/office/powerpoint/2010/main" val="305300888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p>
            <a:fld id="{51F98591-9EE5-455E-8243-5F579EE2E20E}" type="slidenum">
              <a:rPr lang="en-US" smtClean="0"/>
              <a:pPr/>
              <a:t>44</a:t>
            </a:fld>
            <a:endParaRPr lang="en-US" smtClean="0"/>
          </a:p>
        </p:txBody>
      </p:sp>
      <p:sp>
        <p:nvSpPr>
          <p:cNvPr id="30723" name="Rectangle 2"/>
          <p:cNvSpPr>
            <a:spLocks noGrp="1" noChangeArrowheads="1"/>
          </p:cNvSpPr>
          <p:nvPr>
            <p:ph type="title"/>
          </p:nvPr>
        </p:nvSpPr>
        <p:spPr/>
        <p:txBody>
          <a:bodyPr/>
          <a:lstStyle/>
          <a:p>
            <a:pPr eaLnBrk="1" hangingPunct="1"/>
            <a:r>
              <a:rPr lang="en-US" dirty="0" smtClean="0"/>
              <a:t>Proposal Tracking</a:t>
            </a:r>
          </a:p>
        </p:txBody>
      </p:sp>
      <p:sp>
        <p:nvSpPr>
          <p:cNvPr id="6" name="Rectangle 3"/>
          <p:cNvSpPr txBox="1">
            <a:spLocks noChangeArrowheads="1"/>
          </p:cNvSpPr>
          <p:nvPr/>
        </p:nvSpPr>
        <p:spPr bwMode="auto">
          <a:xfrm>
            <a:off x="682171" y="1566863"/>
            <a:ext cx="8461829" cy="4708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00050" indent="-342900">
              <a:spcBef>
                <a:spcPct val="20000"/>
              </a:spcBef>
              <a:buClr>
                <a:schemeClr val="accent2"/>
              </a:buClr>
            </a:pPr>
            <a:r>
              <a:rPr lang="en-US" sz="2400" dirty="0"/>
              <a:t>The status of a proposal can be checked in Grants.gov</a:t>
            </a:r>
          </a:p>
          <a:p>
            <a:pPr marL="400050" indent="-342900">
              <a:spcBef>
                <a:spcPct val="20000"/>
              </a:spcBef>
              <a:buClr>
                <a:schemeClr val="accent2"/>
              </a:buClr>
            </a:pPr>
            <a:r>
              <a:rPr lang="en-US" sz="2400" dirty="0"/>
              <a:t>	 </a:t>
            </a:r>
            <a:r>
              <a:rPr lang="en-US" sz="2400" dirty="0">
                <a:hlinkClick r:id="rId3"/>
              </a:rPr>
              <a:t>https://apply07.grants.gov/apply/checkApplStatus.faces</a:t>
            </a:r>
            <a:endParaRPr lang="en-US" sz="2400" dirty="0"/>
          </a:p>
          <a:p>
            <a:pPr marL="857250" lvl="1" indent="-342900">
              <a:spcBef>
                <a:spcPct val="20000"/>
              </a:spcBef>
              <a:buClr>
                <a:schemeClr val="accent2"/>
              </a:buClr>
            </a:pPr>
            <a:r>
              <a:rPr lang="en-US" dirty="0"/>
              <a:t>Help is at </a:t>
            </a:r>
            <a:r>
              <a:rPr lang="en-US" dirty="0">
                <a:hlinkClick r:id="rId4"/>
              </a:rPr>
              <a:t>http://www.grants.gov/assets/TrackingYourApplicationPackage.pdf</a:t>
            </a:r>
            <a:endParaRPr lang="en-US" dirty="0"/>
          </a:p>
          <a:p>
            <a:pPr marL="400050" indent="-342900">
              <a:spcBef>
                <a:spcPct val="20000"/>
              </a:spcBef>
              <a:buClr>
                <a:schemeClr val="accent2"/>
              </a:buClr>
            </a:pPr>
            <a:r>
              <a:rPr kumimoji="0" lang="en-US" sz="2400" b="0" i="0" u="none" strike="noStrike" kern="0" cap="none" spc="0" normalizeH="0" baseline="0" noProof="0" dirty="0" smtClean="0">
                <a:ln>
                  <a:noFill/>
                </a:ln>
                <a:solidFill>
                  <a:schemeClr val="tx1"/>
                </a:solidFill>
                <a:effectLst/>
                <a:uLnTx/>
                <a:uFillTx/>
                <a:latin typeface="+mn-lt"/>
              </a:rPr>
              <a:t>Each submitted</a:t>
            </a:r>
            <a:r>
              <a:rPr kumimoji="0" lang="en-US" sz="2400" b="0" i="0" u="none" strike="noStrike" kern="0" cap="none" spc="0" normalizeH="0" noProof="0" dirty="0" smtClean="0">
                <a:ln>
                  <a:noFill/>
                </a:ln>
                <a:solidFill>
                  <a:schemeClr val="tx1"/>
                </a:solidFill>
                <a:effectLst/>
                <a:uLnTx/>
                <a:uFillTx/>
                <a:latin typeface="+mn-lt"/>
              </a:rPr>
              <a:t> proposal receives a </a:t>
            </a:r>
            <a:r>
              <a:rPr kumimoji="0" lang="en-US" sz="2400" b="0" i="0" u="none" strike="noStrike" kern="0" cap="none" spc="0" normalizeH="0" baseline="0" noProof="0" dirty="0" smtClean="0">
                <a:ln>
                  <a:noFill/>
                </a:ln>
                <a:solidFill>
                  <a:schemeClr val="tx1"/>
                </a:solidFill>
                <a:effectLst/>
                <a:uLnTx/>
                <a:uFillTx/>
                <a:latin typeface="+mn-lt"/>
              </a:rPr>
              <a:t>tracking number from </a:t>
            </a:r>
            <a:r>
              <a:rPr lang="en-US" sz="2400" kern="0" dirty="0" smtClean="0"/>
              <a:t>Grants.gov </a:t>
            </a:r>
            <a:endParaRPr lang="en-US" sz="2400" kern="0" dirty="0" smtClean="0">
              <a:latin typeface="+mn-lt"/>
            </a:endParaRPr>
          </a:p>
          <a:p>
            <a:pPr marL="400050" indent="-342900">
              <a:spcBef>
                <a:spcPct val="20000"/>
              </a:spcBef>
              <a:buClr>
                <a:schemeClr val="accent2"/>
              </a:buClr>
            </a:pPr>
            <a:r>
              <a:rPr lang="en-US" sz="2400" kern="0" dirty="0" smtClean="0">
                <a:latin typeface="+mn-lt"/>
              </a:rPr>
              <a:t>Grants.gov will provide emails</a:t>
            </a:r>
          </a:p>
          <a:p>
            <a:pPr marL="857250" lvl="1" indent="-342900">
              <a:spcBef>
                <a:spcPct val="20000"/>
              </a:spcBef>
              <a:buClr>
                <a:schemeClr val="accent2"/>
              </a:buClr>
              <a:buFont typeface="Arial" pitchFamily="34" charset="0"/>
              <a:buChar char="•"/>
            </a:pPr>
            <a:r>
              <a:rPr lang="en-US" sz="2400" dirty="0" smtClean="0"/>
              <a:t>submission was received</a:t>
            </a:r>
          </a:p>
          <a:p>
            <a:pPr marL="857250" lvl="1" indent="-342900">
              <a:spcBef>
                <a:spcPct val="20000"/>
              </a:spcBef>
              <a:buClr>
                <a:schemeClr val="accent2"/>
              </a:buClr>
              <a:buFont typeface="Arial" pitchFamily="34" charset="0"/>
              <a:buChar char="•"/>
            </a:pPr>
            <a:r>
              <a:rPr lang="en-US" sz="2400" dirty="0" smtClean="0"/>
              <a:t>submission was validated or there were errors</a:t>
            </a:r>
          </a:p>
          <a:p>
            <a:pPr marL="857250" lvl="1" indent="-342900">
              <a:spcBef>
                <a:spcPct val="20000"/>
              </a:spcBef>
              <a:buClr>
                <a:schemeClr val="accent2"/>
              </a:buClr>
              <a:buFont typeface="Arial" pitchFamily="34" charset="0"/>
              <a:buChar char="•"/>
            </a:pPr>
            <a:r>
              <a:rPr lang="en-US" sz="2400" dirty="0" smtClean="0"/>
              <a:t>USGS retrieved proposal</a:t>
            </a:r>
          </a:p>
          <a:p>
            <a:pPr marL="400050" indent="-342900">
              <a:spcBef>
                <a:spcPct val="20000"/>
              </a:spcBef>
              <a:buClr>
                <a:schemeClr val="accent2"/>
              </a:buClr>
            </a:pPr>
            <a:endParaRPr lang="en-US" sz="2400" dirty="0" smtClean="0"/>
          </a:p>
        </p:txBody>
      </p:sp>
      <p:pic>
        <p:nvPicPr>
          <p:cNvPr id="5" name="Picture 5" descr="grants"/>
          <p:cNvPicPr>
            <a:picLocks noChangeAspect="1" noChangeArrowheads="1"/>
          </p:cNvPicPr>
          <p:nvPr/>
        </p:nvPicPr>
        <p:blipFill>
          <a:blip r:embed="rId5" cstate="print"/>
          <a:srcRect/>
          <a:stretch>
            <a:fillRect/>
          </a:stretch>
        </p:blipFill>
        <p:spPr bwMode="auto">
          <a:xfrm>
            <a:off x="4981575" y="5327875"/>
            <a:ext cx="4162425" cy="949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p>
            <a:fld id="{51F98591-9EE5-455E-8243-5F579EE2E20E}" type="slidenum">
              <a:rPr lang="en-US" smtClean="0"/>
              <a:pPr/>
              <a:t>45</a:t>
            </a:fld>
            <a:endParaRPr lang="en-US" smtClean="0"/>
          </a:p>
        </p:txBody>
      </p:sp>
      <p:sp>
        <p:nvSpPr>
          <p:cNvPr id="30723" name="Rectangle 2"/>
          <p:cNvSpPr>
            <a:spLocks noGrp="1" noChangeArrowheads="1"/>
          </p:cNvSpPr>
          <p:nvPr>
            <p:ph type="title"/>
          </p:nvPr>
        </p:nvSpPr>
        <p:spPr/>
        <p:txBody>
          <a:bodyPr/>
          <a:lstStyle/>
          <a:p>
            <a:pPr eaLnBrk="1" hangingPunct="1"/>
            <a:r>
              <a:rPr lang="en-US" dirty="0" smtClean="0"/>
              <a:t>Proposal Tracking</a:t>
            </a:r>
          </a:p>
        </p:txBody>
      </p:sp>
      <p:sp>
        <p:nvSpPr>
          <p:cNvPr id="6" name="Rectangle 3"/>
          <p:cNvSpPr txBox="1">
            <a:spLocks noChangeArrowheads="1"/>
          </p:cNvSpPr>
          <p:nvPr/>
        </p:nvSpPr>
        <p:spPr bwMode="auto">
          <a:xfrm>
            <a:off x="784225" y="1566863"/>
            <a:ext cx="8359775" cy="4708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00050" indent="-342900">
              <a:spcBef>
                <a:spcPct val="20000"/>
              </a:spcBef>
              <a:buClr>
                <a:schemeClr val="accent2"/>
              </a:buClr>
            </a:pPr>
            <a:endParaRPr kumimoji="0" lang="en-US" sz="2400" b="0" i="0" u="none" strike="noStrike" kern="0" cap="none" spc="0" normalizeH="0" baseline="0" noProof="0" dirty="0" smtClean="0">
              <a:ln>
                <a:noFill/>
              </a:ln>
              <a:solidFill>
                <a:schemeClr val="tx1"/>
              </a:solidFill>
              <a:effectLst/>
              <a:uLnTx/>
              <a:uFillTx/>
              <a:latin typeface="+mn-lt"/>
            </a:endParaRPr>
          </a:p>
          <a:p>
            <a:pPr marL="400050" indent="-342900">
              <a:spcBef>
                <a:spcPct val="20000"/>
              </a:spcBef>
              <a:buClr>
                <a:schemeClr val="accent2"/>
              </a:buClr>
            </a:pPr>
            <a:r>
              <a:rPr kumimoji="0" lang="en-US" sz="2400" b="0" i="0" u="none" strike="noStrike" kern="0" cap="none" spc="0" normalizeH="0" baseline="0" noProof="0" dirty="0" smtClean="0">
                <a:ln>
                  <a:noFill/>
                </a:ln>
                <a:solidFill>
                  <a:schemeClr val="tx1"/>
                </a:solidFill>
                <a:effectLst/>
                <a:uLnTx/>
                <a:uFillTx/>
                <a:latin typeface="+mn-lt"/>
              </a:rPr>
              <a:t>After the closing date of the CAP</a:t>
            </a:r>
            <a:r>
              <a:rPr kumimoji="0" lang="en-US" sz="2400" b="0" i="0" u="none" strike="noStrike" kern="0" cap="none" spc="0" normalizeH="0" noProof="0" dirty="0" smtClean="0">
                <a:ln>
                  <a:noFill/>
                </a:ln>
                <a:solidFill>
                  <a:schemeClr val="tx1"/>
                </a:solidFill>
                <a:effectLst/>
                <a:uLnTx/>
                <a:uFillTx/>
                <a:latin typeface="+mn-lt"/>
              </a:rPr>
              <a:t> announcement </a:t>
            </a:r>
            <a:r>
              <a:rPr lang="en-US" sz="2400" kern="0" dirty="0" smtClean="0">
                <a:latin typeface="+mn-lt"/>
              </a:rPr>
              <a:t>status information from</a:t>
            </a:r>
          </a:p>
          <a:p>
            <a:pPr marL="400050" indent="-342900">
              <a:spcBef>
                <a:spcPct val="20000"/>
              </a:spcBef>
              <a:buClr>
                <a:schemeClr val="accent2"/>
              </a:buClr>
            </a:pPr>
            <a:endParaRPr lang="en-US" sz="2400" kern="0" dirty="0" smtClean="0">
              <a:latin typeface="+mn-lt"/>
            </a:endParaRPr>
          </a:p>
          <a:p>
            <a:pPr marL="2686050" lvl="5" indent="-342900">
              <a:spcBef>
                <a:spcPct val="20000"/>
              </a:spcBef>
              <a:buClr>
                <a:schemeClr val="accent2"/>
              </a:buClr>
            </a:pPr>
            <a:r>
              <a:rPr lang="en-US" sz="2400" kern="0" dirty="0" err="1" smtClean="0">
                <a:latin typeface="+mn-lt"/>
              </a:rPr>
              <a:t>Gita</a:t>
            </a:r>
            <a:r>
              <a:rPr lang="en-US" sz="2400" kern="0" dirty="0" smtClean="0">
                <a:latin typeface="+mn-lt"/>
              </a:rPr>
              <a:t> Urban-</a:t>
            </a:r>
            <a:r>
              <a:rPr lang="en-US" sz="2400" kern="0" dirty="0" err="1" smtClean="0">
                <a:latin typeface="+mn-lt"/>
              </a:rPr>
              <a:t>Mathieux</a:t>
            </a:r>
            <a:endParaRPr lang="en-US" sz="2400" kern="0" dirty="0" smtClean="0">
              <a:latin typeface="+mn-lt"/>
            </a:endParaRPr>
          </a:p>
          <a:p>
            <a:pPr marL="2686050" lvl="5" indent="-342900">
              <a:spcBef>
                <a:spcPct val="20000"/>
              </a:spcBef>
              <a:buClr>
                <a:schemeClr val="accent2"/>
              </a:buClr>
            </a:pPr>
            <a:r>
              <a:rPr lang="en-US" sz="2400" kern="0" dirty="0" smtClean="0">
                <a:latin typeface="+mn-lt"/>
              </a:rPr>
              <a:t>burbanma@fgdc.gov</a:t>
            </a:r>
            <a:endParaRPr lang="en-US" sz="2400"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F06B717F-BE4E-413A-A66E-404E65143940}" type="slidenum">
              <a:rPr lang="en-US" b="0" smtClean="0"/>
              <a:pPr eaLnBrk="1" hangingPunct="1"/>
              <a:t>46</a:t>
            </a:fld>
            <a:endParaRPr lang="en-US" b="0" smtClean="0"/>
          </a:p>
        </p:txBody>
      </p:sp>
      <p:sp>
        <p:nvSpPr>
          <p:cNvPr id="33795" name="Rectangle 2"/>
          <p:cNvSpPr>
            <a:spLocks noGrp="1" noChangeArrowheads="1"/>
          </p:cNvSpPr>
          <p:nvPr>
            <p:ph type="title"/>
          </p:nvPr>
        </p:nvSpPr>
        <p:spPr/>
        <p:txBody>
          <a:bodyPr/>
          <a:lstStyle/>
          <a:p>
            <a:pPr eaLnBrk="1" hangingPunct="1"/>
            <a:r>
              <a:rPr lang="en-US" smtClean="0"/>
              <a:t>Submitting Multiple Proposals</a:t>
            </a:r>
          </a:p>
        </p:txBody>
      </p:sp>
      <p:sp>
        <p:nvSpPr>
          <p:cNvPr id="6" name="Rectangle 3"/>
          <p:cNvSpPr txBox="1">
            <a:spLocks noChangeArrowheads="1"/>
          </p:cNvSpPr>
          <p:nvPr/>
        </p:nvSpPr>
        <p:spPr bwMode="auto">
          <a:xfrm>
            <a:off x="784225" y="1422400"/>
            <a:ext cx="8359775"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rtl="0" eaLnBrk="0" fontAlgn="base" hangingPunct="0">
              <a:spcBef>
                <a:spcPct val="20000"/>
              </a:spcBef>
              <a:spcAft>
                <a:spcPct val="0"/>
              </a:spcAft>
              <a:defRPr sz="32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a:defRPr/>
            </a:pPr>
            <a:r>
              <a:rPr lang="en-US" sz="2800" dirty="0" smtClean="0"/>
              <a:t>Organizations </a:t>
            </a:r>
            <a:r>
              <a:rPr lang="en-US" sz="2800" dirty="0"/>
              <a:t>may submit proposals for more than one </a:t>
            </a:r>
            <a:r>
              <a:rPr lang="en-US" sz="2800" dirty="0" smtClean="0"/>
              <a:t>category. </a:t>
            </a:r>
          </a:p>
          <a:p>
            <a:pPr>
              <a:defRPr/>
            </a:pPr>
            <a:endParaRPr lang="en-US" sz="1200" u="sng" dirty="0" smtClean="0"/>
          </a:p>
          <a:p>
            <a:pPr marL="692150" lvl="1" indent="-395288" eaLnBrk="1" hangingPunct="1">
              <a:buClr>
                <a:srgbClr val="333399"/>
              </a:buClr>
              <a:defRPr/>
            </a:pPr>
            <a:r>
              <a:rPr lang="en-US" b="0" kern="0" dirty="0" smtClean="0">
                <a:solidFill>
                  <a:srgbClr val="000000"/>
                </a:solidFill>
              </a:rPr>
              <a:t>A separate </a:t>
            </a:r>
            <a:r>
              <a:rPr lang="en-US" b="0" kern="0" dirty="0">
                <a:solidFill>
                  <a:srgbClr val="000000"/>
                </a:solidFill>
              </a:rPr>
              <a:t>application package is required for each category </a:t>
            </a:r>
            <a:r>
              <a:rPr lang="en-US" b="0" kern="0" dirty="0" smtClean="0">
                <a:solidFill>
                  <a:srgbClr val="000000"/>
                </a:solidFill>
              </a:rPr>
              <a:t>submission </a:t>
            </a:r>
          </a:p>
          <a:p>
            <a:pPr marL="692150" lvl="1" indent="-395288" eaLnBrk="1" hangingPunct="1">
              <a:buClr>
                <a:srgbClr val="333399"/>
              </a:buClr>
              <a:defRPr/>
            </a:pPr>
            <a:endParaRPr lang="en-US" b="0" kern="0" dirty="0" smtClean="0">
              <a:solidFill>
                <a:srgbClr val="000000"/>
              </a:solidFill>
            </a:endParaRPr>
          </a:p>
          <a:p>
            <a:pPr marL="692150" lvl="1" indent="-395288" eaLnBrk="1" hangingPunct="1">
              <a:buClr>
                <a:srgbClr val="333399"/>
              </a:buClr>
              <a:defRPr/>
            </a:pPr>
            <a:r>
              <a:rPr lang="en-US" b="0" dirty="0" smtClean="0"/>
              <a:t>If an applicant receives awards in more than one category the projects will be combined into a single assistance award and the funding will be a combined total of all the awards.  </a:t>
            </a:r>
          </a:p>
          <a:p>
            <a:pPr marL="514350" lvl="1" indent="0" eaLnBrk="1" hangingPunct="1">
              <a:buFontTx/>
              <a:buNone/>
              <a:defRPr/>
            </a:pPr>
            <a:endParaRPr lang="en-US" sz="2200" dirty="0" smtClean="0"/>
          </a:p>
        </p:txBody>
      </p:sp>
    </p:spTree>
    <p:extLst>
      <p:ext uri="{BB962C8B-B14F-4D97-AF65-F5344CB8AC3E}">
        <p14:creationId xmlns:p14="http://schemas.microsoft.com/office/powerpoint/2010/main" val="6913609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0"/>
          </p:nvPr>
        </p:nvSpPr>
        <p:spPr>
          <a:noFill/>
        </p:spPr>
        <p:txBody>
          <a:bodyPr/>
          <a:lstStyle/>
          <a:p>
            <a:fld id="{3D77598A-BE0F-468C-A7E3-3F3760DD8B7A}" type="slidenum">
              <a:rPr lang="en-US" smtClean="0"/>
              <a:pPr/>
              <a:t>47</a:t>
            </a:fld>
            <a:endParaRPr lang="en-US" smtClean="0"/>
          </a:p>
        </p:txBody>
      </p:sp>
      <p:sp>
        <p:nvSpPr>
          <p:cNvPr id="23555" name="Rectangle 2"/>
          <p:cNvSpPr>
            <a:spLocks noGrp="1" noChangeArrowheads="1"/>
          </p:cNvSpPr>
          <p:nvPr>
            <p:ph type="title"/>
          </p:nvPr>
        </p:nvSpPr>
        <p:spPr/>
        <p:txBody>
          <a:bodyPr/>
          <a:lstStyle/>
          <a:p>
            <a:pPr eaLnBrk="1" hangingPunct="1"/>
            <a:r>
              <a:rPr lang="en-US" smtClean="0"/>
              <a:t>Help with Proposals</a:t>
            </a:r>
          </a:p>
        </p:txBody>
      </p:sp>
      <p:sp>
        <p:nvSpPr>
          <p:cNvPr id="23556" name="Rectangle 3"/>
          <p:cNvSpPr>
            <a:spLocks noGrp="1" noChangeArrowheads="1"/>
          </p:cNvSpPr>
          <p:nvPr>
            <p:ph type="body" idx="1"/>
          </p:nvPr>
        </p:nvSpPr>
        <p:spPr>
          <a:xfrm>
            <a:off x="784225" y="1547813"/>
            <a:ext cx="8359775" cy="4708525"/>
          </a:xfrm>
        </p:spPr>
        <p:txBody>
          <a:bodyPr/>
          <a:lstStyle/>
          <a:p>
            <a:pPr marL="533400" indent="-533400" eaLnBrk="1" hangingPunct="1"/>
            <a:r>
              <a:rPr lang="en-US" sz="2800" dirty="0" smtClean="0"/>
              <a:t>Topic Development and Collaborative Resources</a:t>
            </a:r>
          </a:p>
          <a:p>
            <a:pPr marL="533400" indent="-533400" eaLnBrk="1" hangingPunct="1"/>
            <a:endParaRPr lang="en-US" sz="800" dirty="0" smtClean="0"/>
          </a:p>
          <a:p>
            <a:pPr marL="677863" lvl="1" indent="-381000" eaLnBrk="1" hangingPunct="1"/>
            <a:r>
              <a:rPr lang="en-US" sz="2000" dirty="0" smtClean="0"/>
              <a:t>Contact your USGS State Geospatial Liaisons  </a:t>
            </a:r>
            <a:r>
              <a:rPr lang="en-US" sz="2000" dirty="0" smtClean="0">
                <a:hlinkClick r:id="rId3"/>
              </a:rPr>
              <a:t>http://liaisons.usgs.gov/geospatial</a:t>
            </a:r>
            <a:endParaRPr lang="en-US" sz="2000" dirty="0" smtClean="0"/>
          </a:p>
          <a:p>
            <a:pPr marL="296863" lvl="1" indent="0" eaLnBrk="1" hangingPunct="1">
              <a:buNone/>
            </a:pPr>
            <a:r>
              <a:rPr lang="en-US" sz="2000" i="1" dirty="0"/>
              <a:t> </a:t>
            </a:r>
            <a:r>
              <a:rPr lang="en-US" sz="2000" i="1" dirty="0" smtClean="0"/>
              <a:t>     select </a:t>
            </a:r>
            <a:r>
              <a:rPr lang="en-US" sz="2000" i="1" dirty="0"/>
              <a:t>‘Partnership </a:t>
            </a:r>
            <a:r>
              <a:rPr lang="en-US" sz="2000" i="1" dirty="0" smtClean="0"/>
              <a:t>Contact List’ </a:t>
            </a:r>
            <a:r>
              <a:rPr lang="en-US" sz="2000" i="1" dirty="0"/>
              <a:t>from </a:t>
            </a:r>
            <a:r>
              <a:rPr lang="en-US" sz="2000" i="1" dirty="0" smtClean="0"/>
              <a:t>upper banner</a:t>
            </a:r>
            <a:endParaRPr lang="en-US" sz="2000" i="1" dirty="0"/>
          </a:p>
          <a:p>
            <a:pPr marL="296863" lvl="1" indent="0" eaLnBrk="1" hangingPunct="1">
              <a:buNone/>
            </a:pPr>
            <a:endParaRPr lang="en-US" sz="2000" dirty="0" smtClean="0"/>
          </a:p>
          <a:p>
            <a:pPr marL="677863" lvl="1" indent="-381000" eaLnBrk="1" hangingPunct="1"/>
            <a:r>
              <a:rPr lang="en-US" sz="2000" dirty="0" smtClean="0"/>
              <a:t>Review reports from past CAP recipients </a:t>
            </a:r>
            <a:r>
              <a:rPr lang="en-US" sz="2000" dirty="0" smtClean="0">
                <a:hlinkClick r:id="rId4"/>
              </a:rPr>
              <a:t>http://www.fgdc.gov/grants</a:t>
            </a:r>
            <a:r>
              <a:rPr lang="en-US" sz="2000" dirty="0" smtClean="0"/>
              <a:t> </a:t>
            </a:r>
          </a:p>
          <a:p>
            <a:pPr marL="677863" lvl="1" indent="-381000" eaLnBrk="1" hangingPunct="1"/>
            <a:endParaRPr lang="en-US" sz="2000" dirty="0" smtClean="0"/>
          </a:p>
          <a:p>
            <a:pPr marL="677863" lvl="1" indent="-381000" eaLnBrk="1" hangingPunct="1"/>
            <a:r>
              <a:rPr lang="en-US" sz="2000" dirty="0" smtClean="0"/>
              <a:t>Contact the CAP category lead </a:t>
            </a:r>
            <a:r>
              <a:rPr lang="en-US" sz="2000" dirty="0">
                <a:hlinkClick r:id="rId5"/>
              </a:rPr>
              <a:t>http://</a:t>
            </a:r>
            <a:r>
              <a:rPr lang="en-US" sz="2000" dirty="0" smtClean="0">
                <a:hlinkClick r:id="rId5"/>
              </a:rPr>
              <a:t>www.fgdc.gov/grants/2012CAP/2012CAPDescriptions</a:t>
            </a:r>
            <a:endParaRPr lang="en-US" sz="2000" dirty="0" smtClean="0"/>
          </a:p>
          <a:p>
            <a:pPr marL="677863" lvl="1" indent="-381000" eaLnBrk="1" hangingPunct="1"/>
            <a:endParaRPr lang="en-US" sz="2000" dirty="0" smtClean="0"/>
          </a:p>
          <a:p>
            <a:pPr marL="677863" lvl="1" indent="-381000" eaLnBrk="1" hangingPunct="1"/>
            <a:r>
              <a:rPr lang="en-US" sz="2000" dirty="0" smtClean="0"/>
              <a:t>Review a successful, past proposal</a:t>
            </a:r>
          </a:p>
          <a:p>
            <a:pPr marL="1295400" lvl="2" indent="-381000" eaLnBrk="1" hangingPunct="1"/>
            <a:endParaRPr lang="en-US" sz="2000" dirty="0" smtClean="0"/>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4673" y="3159011"/>
            <a:ext cx="1337869" cy="1412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p>
            <a:fld id="{51F98591-9EE5-455E-8243-5F579EE2E20E}" type="slidenum">
              <a:rPr lang="en-US" smtClean="0"/>
              <a:pPr/>
              <a:t>48</a:t>
            </a:fld>
            <a:endParaRPr lang="en-US" smtClean="0"/>
          </a:p>
        </p:txBody>
      </p:sp>
      <p:sp>
        <p:nvSpPr>
          <p:cNvPr id="30723" name="Rectangle 2"/>
          <p:cNvSpPr>
            <a:spLocks noGrp="1" noChangeArrowheads="1"/>
          </p:cNvSpPr>
          <p:nvPr>
            <p:ph type="title"/>
          </p:nvPr>
        </p:nvSpPr>
        <p:spPr/>
        <p:txBody>
          <a:bodyPr/>
          <a:lstStyle/>
          <a:p>
            <a:pPr eaLnBrk="1" hangingPunct="1"/>
            <a:r>
              <a:rPr lang="en-US" dirty="0" smtClean="0"/>
              <a:t>Proposal Review and Selection</a:t>
            </a:r>
          </a:p>
        </p:txBody>
      </p:sp>
      <p:sp>
        <p:nvSpPr>
          <p:cNvPr id="6" name="Rectangle 3"/>
          <p:cNvSpPr txBox="1">
            <a:spLocks noChangeArrowheads="1"/>
          </p:cNvSpPr>
          <p:nvPr/>
        </p:nvSpPr>
        <p:spPr bwMode="auto">
          <a:xfrm>
            <a:off x="762000" y="1524000"/>
            <a:ext cx="83820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marL="457200" indent="-457200" eaLnBrk="1" hangingPunct="1">
              <a:buFontTx/>
              <a:buAutoNum type="arabicPeriod"/>
            </a:pPr>
            <a:r>
              <a:rPr lang="en-US" sz="2400" dirty="0" smtClean="0"/>
              <a:t>Review proposals to ensure compliance to all requirements </a:t>
            </a:r>
          </a:p>
          <a:p>
            <a:pPr marL="457200" indent="-457200" eaLnBrk="1" hangingPunct="1">
              <a:buFontTx/>
              <a:buAutoNum type="arabicPeriod"/>
            </a:pPr>
            <a:r>
              <a:rPr lang="en-US" sz="2400" dirty="0" smtClean="0"/>
              <a:t>Category Leads sets up Review Panels</a:t>
            </a:r>
          </a:p>
          <a:p>
            <a:pPr marL="457200" indent="-457200" eaLnBrk="1" hangingPunct="1">
              <a:buFontTx/>
              <a:buAutoNum type="arabicPeriod"/>
            </a:pPr>
            <a:r>
              <a:rPr lang="en-US" sz="2400" dirty="0" smtClean="0"/>
              <a:t>Review Panel member reviews the assigned proposals individually</a:t>
            </a:r>
          </a:p>
          <a:p>
            <a:pPr marL="457200" indent="-457200" eaLnBrk="1" hangingPunct="1">
              <a:buFontTx/>
              <a:buAutoNum type="arabicPeriod"/>
            </a:pPr>
            <a:r>
              <a:rPr lang="en-US" sz="2400" dirty="0" smtClean="0"/>
              <a:t>Scored proposals are given to FGDC Executive Director </a:t>
            </a:r>
          </a:p>
          <a:p>
            <a:pPr marL="457200" indent="-457200" eaLnBrk="1" hangingPunct="1">
              <a:buFontTx/>
              <a:buAutoNum type="arabicPeriod"/>
            </a:pPr>
            <a:r>
              <a:rPr lang="en-US" sz="2400" dirty="0" smtClean="0"/>
              <a:t>Awarded proposals are announced</a:t>
            </a:r>
          </a:p>
          <a:p>
            <a:pPr marL="457200" lvl="1" indent="-457200" eaLnBrk="1" hangingPunct="1">
              <a:buFontTx/>
              <a:buAutoNum type="arabicPeriod"/>
            </a:pPr>
            <a:endParaRPr lang="en-US" dirty="0" smtClean="0">
              <a:ea typeface="+mn-ea"/>
              <a:cs typeface="+mn-cs"/>
            </a:endParaRPr>
          </a:p>
          <a:p>
            <a:pPr marL="0" indent="-114300" algn="ctr" eaLnBrk="1" hangingPunct="1"/>
            <a:r>
              <a:rPr lang="en-US" sz="2400" b="1" dirty="0" smtClean="0">
                <a:solidFill>
                  <a:schemeClr val="accent6">
                    <a:lumMod val="75000"/>
                  </a:schemeClr>
                </a:solidFill>
              </a:rPr>
              <a:t>2012 CAP Awards will be announced in March 2012</a:t>
            </a:r>
          </a:p>
          <a:p>
            <a:pPr marL="800100" lvl="1" indent="-457200" eaLnBrk="1" hangingPunct="1">
              <a:buFontTx/>
              <a:buAutoNum type="arabicPeriod"/>
            </a:pPr>
            <a:endParaRPr lang="en-US" dirty="0"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a:spLocks noGrp="1"/>
          </p:cNvSpPr>
          <p:nvPr>
            <p:ph type="sldNum" sz="quarter" idx="10"/>
          </p:nvPr>
        </p:nvSpPr>
        <p:spPr>
          <a:noFill/>
        </p:spPr>
        <p:txBody>
          <a:bodyPr/>
          <a:lstStyle/>
          <a:p>
            <a:fld id="{D8037B96-AC74-4CCE-B82E-0C1B674FE3C4}" type="slidenum">
              <a:rPr lang="en-US" smtClean="0"/>
              <a:pPr/>
              <a:t>49</a:t>
            </a:fld>
            <a:endParaRPr lang="en-US" smtClean="0"/>
          </a:p>
        </p:txBody>
      </p:sp>
      <p:sp>
        <p:nvSpPr>
          <p:cNvPr id="35843" name="Rectangle 2"/>
          <p:cNvSpPr>
            <a:spLocks noGrp="1" noChangeArrowheads="1"/>
          </p:cNvSpPr>
          <p:nvPr>
            <p:ph type="title"/>
          </p:nvPr>
        </p:nvSpPr>
        <p:spPr/>
        <p:txBody>
          <a:bodyPr/>
          <a:lstStyle/>
          <a:p>
            <a:pPr eaLnBrk="1" hangingPunct="1"/>
            <a:r>
              <a:rPr lang="en-US" smtClean="0"/>
              <a:t>Proposal Selection Process</a:t>
            </a:r>
          </a:p>
        </p:txBody>
      </p:sp>
      <p:sp>
        <p:nvSpPr>
          <p:cNvPr id="35844" name="Rectangle 3"/>
          <p:cNvSpPr>
            <a:spLocks noGrp="1" noChangeArrowheads="1"/>
          </p:cNvSpPr>
          <p:nvPr>
            <p:ph type="body" idx="1"/>
          </p:nvPr>
        </p:nvSpPr>
        <p:spPr>
          <a:xfrm>
            <a:off x="762000" y="1524000"/>
            <a:ext cx="8382000" cy="4876800"/>
          </a:xfrm>
        </p:spPr>
        <p:txBody>
          <a:bodyPr/>
          <a:lstStyle/>
          <a:p>
            <a:pPr eaLnBrk="1" hangingPunct="1">
              <a:lnSpc>
                <a:spcPct val="90000"/>
              </a:lnSpc>
            </a:pPr>
            <a:r>
              <a:rPr lang="en-US" sz="2800" dirty="0" smtClean="0"/>
              <a:t>Notification of Awards</a:t>
            </a:r>
          </a:p>
          <a:p>
            <a:pPr eaLnBrk="1" hangingPunct="1">
              <a:lnSpc>
                <a:spcPct val="90000"/>
              </a:lnSpc>
            </a:pPr>
            <a:endParaRPr lang="en-US" sz="2800" dirty="0" smtClean="0"/>
          </a:p>
          <a:p>
            <a:pPr lvl="1" eaLnBrk="1" hangingPunct="1">
              <a:lnSpc>
                <a:spcPct val="90000"/>
              </a:lnSpc>
            </a:pPr>
            <a:r>
              <a:rPr lang="en-US" dirty="0" smtClean="0"/>
              <a:t>Both successful  and unsuccessful </a:t>
            </a:r>
          </a:p>
          <a:p>
            <a:pPr marL="342900" lvl="1" indent="0" eaLnBrk="1" hangingPunct="1">
              <a:lnSpc>
                <a:spcPct val="90000"/>
              </a:lnSpc>
              <a:buNone/>
            </a:pPr>
            <a:r>
              <a:rPr lang="en-US" dirty="0"/>
              <a:t>	</a:t>
            </a:r>
            <a:r>
              <a:rPr lang="en-US" dirty="0" smtClean="0"/>
              <a:t>applicants receive letters</a:t>
            </a:r>
          </a:p>
          <a:p>
            <a:pPr lvl="1" eaLnBrk="1" hangingPunct="1">
              <a:lnSpc>
                <a:spcPct val="90000"/>
              </a:lnSpc>
            </a:pPr>
            <a:endParaRPr lang="en-US" dirty="0" smtClean="0"/>
          </a:p>
          <a:p>
            <a:pPr lvl="1" eaLnBrk="1" hangingPunct="1">
              <a:lnSpc>
                <a:spcPct val="90000"/>
              </a:lnSpc>
            </a:pPr>
            <a:endParaRPr lang="en-US" dirty="0" smtClean="0"/>
          </a:p>
          <a:p>
            <a:pPr lvl="1" eaLnBrk="1" hangingPunct="1">
              <a:lnSpc>
                <a:spcPct val="90000"/>
              </a:lnSpc>
            </a:pPr>
            <a:r>
              <a:rPr lang="en-US" dirty="0" smtClean="0"/>
              <a:t>Selected projects are posted to the FDGC Web site</a:t>
            </a:r>
          </a:p>
        </p:txBody>
      </p:sp>
      <p:pic>
        <p:nvPicPr>
          <p:cNvPr id="1026" name="Picture 2" descr="C:\Users\burbanma\AppData\Local\Microsoft\Windows\Temporary Internet Files\Content.IE5\UG4RFKCA\MC90033118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684" y="1941752"/>
            <a:ext cx="1769952" cy="18152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p:spPr>
        <p:txBody>
          <a:bodyPr/>
          <a:lstStyle/>
          <a:p>
            <a:fld id="{F5E43F62-7C1C-4CF6-8B09-CB4E34013B95}" type="slidenum">
              <a:rPr lang="en-US" smtClean="0"/>
              <a:pPr/>
              <a:t>50</a:t>
            </a:fld>
            <a:endParaRPr lang="en-US" smtClean="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73900">
            <a:off x="7546232" y="1636123"/>
            <a:ext cx="1438112" cy="1393960"/>
          </a:xfrm>
          <a:prstGeom prst="rect">
            <a:avLst/>
          </a:prstGeom>
        </p:spPr>
      </p:pic>
      <p:sp>
        <p:nvSpPr>
          <p:cNvPr id="33795" name="Rectangle 2"/>
          <p:cNvSpPr>
            <a:spLocks noGrp="1" noChangeArrowheads="1"/>
          </p:cNvSpPr>
          <p:nvPr>
            <p:ph type="title"/>
          </p:nvPr>
        </p:nvSpPr>
        <p:spPr/>
        <p:txBody>
          <a:bodyPr/>
          <a:lstStyle/>
          <a:p>
            <a:pPr eaLnBrk="1" hangingPunct="1"/>
            <a:r>
              <a:rPr lang="en-US" dirty="0" smtClean="0"/>
              <a:t>Proposal Review and Selection</a:t>
            </a:r>
          </a:p>
        </p:txBody>
      </p:sp>
      <p:sp>
        <p:nvSpPr>
          <p:cNvPr id="33796" name="Rectangle 3"/>
          <p:cNvSpPr>
            <a:spLocks noGrp="1" noChangeArrowheads="1"/>
          </p:cNvSpPr>
          <p:nvPr>
            <p:ph type="body" idx="1"/>
          </p:nvPr>
        </p:nvSpPr>
        <p:spPr>
          <a:xfrm>
            <a:off x="762000" y="1988457"/>
            <a:ext cx="8382000" cy="4393292"/>
          </a:xfrm>
        </p:spPr>
        <p:txBody>
          <a:bodyPr/>
          <a:lstStyle/>
          <a:p>
            <a:pPr eaLnBrk="1" hangingPunct="1"/>
            <a:r>
              <a:rPr lang="en-US" sz="2800" dirty="0" smtClean="0"/>
              <a:t>Hints for Successful Proposals</a:t>
            </a:r>
          </a:p>
          <a:p>
            <a:pPr lvl="1" eaLnBrk="1" hangingPunct="1"/>
            <a:r>
              <a:rPr lang="en-US" dirty="0" smtClean="0"/>
              <a:t>Address all criteria </a:t>
            </a:r>
          </a:p>
          <a:p>
            <a:pPr lvl="1" eaLnBrk="1" hangingPunct="1"/>
            <a:r>
              <a:rPr lang="en-US" dirty="0" smtClean="0"/>
              <a:t>Provide all requested items and information</a:t>
            </a:r>
          </a:p>
          <a:p>
            <a:pPr lvl="1" eaLnBrk="1" hangingPunct="1"/>
            <a:r>
              <a:rPr lang="en-US" dirty="0" smtClean="0"/>
              <a:t>Comply with proposal size/length limitations</a:t>
            </a:r>
          </a:p>
          <a:p>
            <a:pPr lvl="1" eaLnBrk="1" hangingPunct="1"/>
            <a:r>
              <a:rPr lang="en-US" dirty="0" smtClean="0"/>
              <a:t>Observe CAP and category-specific funding restrictions </a:t>
            </a:r>
          </a:p>
          <a:p>
            <a:pPr lvl="1" eaLnBrk="1" hangingPunct="1"/>
            <a:r>
              <a:rPr lang="en-US" dirty="0" smtClean="0"/>
              <a:t>Budget meets both project objectives and funding limits</a:t>
            </a:r>
          </a:p>
          <a:p>
            <a:pPr lvl="1" eaLnBrk="1" hangingPunct="1"/>
            <a:r>
              <a:rPr lang="en-US" dirty="0" smtClean="0"/>
              <a:t>Clearly state the source and value of in-kind </a:t>
            </a:r>
            <a:r>
              <a:rPr lang="en-US" dirty="0"/>
              <a:t>m</a:t>
            </a:r>
            <a:r>
              <a:rPr lang="en-US" dirty="0" smtClean="0"/>
              <a:t>atch</a:t>
            </a:r>
          </a:p>
          <a:p>
            <a:pPr marL="342900" lvl="1" indent="0" algn="r" eaLnBrk="1" hangingPunct="1">
              <a:buNone/>
            </a:pPr>
            <a:endParaRPr lang="en-US" i="1" dirty="0" smtClean="0">
              <a:solidFill>
                <a:schemeClr val="accent2"/>
              </a:solidFill>
            </a:endParaRPr>
          </a:p>
          <a:p>
            <a:pPr marL="342900" lvl="1" indent="0" algn="r" eaLnBrk="1" hangingPunct="1">
              <a:buNone/>
            </a:pPr>
            <a:r>
              <a:rPr lang="en-US" i="1" dirty="0" smtClean="0">
                <a:solidFill>
                  <a:schemeClr val="accent2"/>
                </a:solidFill>
              </a:rPr>
              <a:t>Read </a:t>
            </a:r>
            <a:r>
              <a:rPr lang="en-US" i="1" dirty="0">
                <a:solidFill>
                  <a:schemeClr val="accent2"/>
                </a:solidFill>
              </a:rPr>
              <a:t>the CAP Announcement thoroughly</a:t>
            </a:r>
          </a:p>
          <a:p>
            <a:pPr marL="342900" lvl="1" indent="0" eaLnBrk="1" hangingPunct="1">
              <a:buNone/>
            </a:pPr>
            <a:endParaRPr lang="en-US" b="1" dirty="0" smtClean="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0"/>
          </p:nvPr>
        </p:nvSpPr>
        <p:spPr>
          <a:noFill/>
        </p:spPr>
        <p:txBody>
          <a:bodyPr/>
          <a:lstStyle/>
          <a:p>
            <a:fld id="{C2DFA5FC-129D-4BE5-8F45-973207772571}" type="slidenum">
              <a:rPr lang="en-US" smtClean="0"/>
              <a:pPr/>
              <a:t>51</a:t>
            </a:fld>
            <a:endParaRPr lang="en-US" smtClean="0"/>
          </a:p>
        </p:txBody>
      </p:sp>
      <p:sp>
        <p:nvSpPr>
          <p:cNvPr id="34819" name="Rectangle 2"/>
          <p:cNvSpPr>
            <a:spLocks noGrp="1" noChangeArrowheads="1"/>
          </p:cNvSpPr>
          <p:nvPr>
            <p:ph type="title"/>
          </p:nvPr>
        </p:nvSpPr>
        <p:spPr/>
        <p:txBody>
          <a:bodyPr/>
          <a:lstStyle/>
          <a:p>
            <a:pPr eaLnBrk="1" hangingPunct="1"/>
            <a:r>
              <a:rPr lang="en-US" dirty="0" smtClean="0"/>
              <a:t>Proposal Review and Selection</a:t>
            </a:r>
          </a:p>
        </p:txBody>
      </p:sp>
      <p:sp>
        <p:nvSpPr>
          <p:cNvPr id="34820" name="Rectangle 3"/>
          <p:cNvSpPr>
            <a:spLocks noGrp="1" noChangeArrowheads="1"/>
          </p:cNvSpPr>
          <p:nvPr>
            <p:ph type="body" idx="1"/>
          </p:nvPr>
        </p:nvSpPr>
        <p:spPr>
          <a:xfrm>
            <a:off x="762000" y="1625600"/>
            <a:ext cx="8382000" cy="4756150"/>
          </a:xfrm>
        </p:spPr>
        <p:txBody>
          <a:bodyPr/>
          <a:lstStyle/>
          <a:p>
            <a:pPr eaLnBrk="1" hangingPunct="1"/>
            <a:r>
              <a:rPr lang="en-US" sz="2800" dirty="0" smtClean="0"/>
              <a:t>Hints for Successful Proposals (</a:t>
            </a:r>
            <a:r>
              <a:rPr lang="en-US" sz="2800" dirty="0" err="1" smtClean="0"/>
              <a:t>con’t</a:t>
            </a:r>
            <a:r>
              <a:rPr lang="en-US" sz="2800" dirty="0" smtClean="0"/>
              <a:t>)</a:t>
            </a:r>
          </a:p>
          <a:p>
            <a:pPr lvl="1" eaLnBrk="1" hangingPunct="1"/>
            <a:r>
              <a:rPr lang="en-US" dirty="0"/>
              <a:t>Include Letters of Support </a:t>
            </a:r>
            <a:r>
              <a:rPr lang="en-US" dirty="0" smtClean="0"/>
              <a:t>from organizations </a:t>
            </a:r>
            <a:r>
              <a:rPr lang="en-US" dirty="0"/>
              <a:t>indicated as project collaborators or prime benefactors</a:t>
            </a:r>
          </a:p>
          <a:p>
            <a:pPr lvl="1" eaLnBrk="1" hangingPunct="1"/>
            <a:r>
              <a:rPr lang="en-US" dirty="0" smtClean="0"/>
              <a:t>Discuss how your organization will sustain the project outcomes after the CAP project ends</a:t>
            </a:r>
          </a:p>
          <a:p>
            <a:pPr lvl="1" eaLnBrk="1" hangingPunct="1"/>
            <a:r>
              <a:rPr lang="en-US" dirty="0" smtClean="0"/>
              <a:t>Focus on partnerships with other organizations</a:t>
            </a:r>
          </a:p>
          <a:p>
            <a:pPr lvl="1" eaLnBrk="1" hangingPunct="1"/>
            <a:r>
              <a:rPr lang="en-US" dirty="0" smtClean="0"/>
              <a:t>Discuss plans to share the project outcomes</a:t>
            </a:r>
          </a:p>
          <a:p>
            <a:pPr lvl="1" eaLnBrk="1" hangingPunct="1">
              <a:buFontTx/>
              <a:buNone/>
            </a:pPr>
            <a:endParaRPr lang="en-US" dirty="0" smtClean="0"/>
          </a:p>
          <a:p>
            <a:pPr lvl="1" eaLnBrk="1" hangingPunct="1">
              <a:buFontTx/>
              <a:buNone/>
            </a:pPr>
            <a:endParaRPr lang="en-US" dirty="0" smtClean="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73900">
            <a:off x="7431544" y="4582523"/>
            <a:ext cx="1438112" cy="139396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0"/>
          </p:nvPr>
        </p:nvSpPr>
        <p:spPr>
          <a:noFill/>
        </p:spPr>
        <p:txBody>
          <a:bodyPr/>
          <a:lstStyle/>
          <a:p>
            <a:fld id="{F845E058-FB36-4D88-89EC-64661A4BA466}" type="slidenum">
              <a:rPr lang="en-US" smtClean="0"/>
              <a:pPr/>
              <a:t>52</a:t>
            </a:fld>
            <a:endParaRPr lang="en-US" smtClean="0"/>
          </a:p>
        </p:txBody>
      </p:sp>
      <p:sp>
        <p:nvSpPr>
          <p:cNvPr id="31747" name="Rectangle 2"/>
          <p:cNvSpPr>
            <a:spLocks noGrp="1" noChangeArrowheads="1"/>
          </p:cNvSpPr>
          <p:nvPr>
            <p:ph type="title"/>
          </p:nvPr>
        </p:nvSpPr>
        <p:spPr/>
        <p:txBody>
          <a:bodyPr/>
          <a:lstStyle/>
          <a:p>
            <a:pPr eaLnBrk="1" hangingPunct="1"/>
            <a:r>
              <a:rPr lang="en-US" smtClean="0"/>
              <a:t>Summary</a:t>
            </a:r>
          </a:p>
        </p:txBody>
      </p:sp>
      <p:sp>
        <p:nvSpPr>
          <p:cNvPr id="31748" name="Rectangle 3"/>
          <p:cNvSpPr>
            <a:spLocks noGrp="1" noChangeArrowheads="1"/>
          </p:cNvSpPr>
          <p:nvPr>
            <p:ph type="body" idx="1"/>
          </p:nvPr>
        </p:nvSpPr>
        <p:spPr>
          <a:xfrm>
            <a:off x="784225" y="1566863"/>
            <a:ext cx="8359775" cy="4708525"/>
          </a:xfrm>
        </p:spPr>
        <p:txBody>
          <a:bodyPr/>
          <a:lstStyle/>
          <a:p>
            <a:pPr marL="182563" indent="-182563" eaLnBrk="1" hangingPunct="1">
              <a:lnSpc>
                <a:spcPct val="90000"/>
              </a:lnSpc>
            </a:pPr>
            <a:r>
              <a:rPr lang="en-US" dirty="0" smtClean="0"/>
              <a:t>The NSDI CAP supports programs that</a:t>
            </a:r>
          </a:p>
          <a:p>
            <a:pPr marL="182563" indent="-182563" eaLnBrk="1" hangingPunct="1">
              <a:lnSpc>
                <a:spcPct val="90000"/>
              </a:lnSpc>
            </a:pPr>
            <a:endParaRPr lang="en-US" sz="800" dirty="0" smtClean="0"/>
          </a:p>
        </p:txBody>
      </p:sp>
      <p:graphicFrame>
        <p:nvGraphicFramePr>
          <p:cNvPr id="5" name="Diagram 4"/>
          <p:cNvGraphicFramePr/>
          <p:nvPr>
            <p:extLst>
              <p:ext uri="{D42A27DB-BD31-4B8C-83A1-F6EECF244321}">
                <p14:modId xmlns:p14="http://schemas.microsoft.com/office/powerpoint/2010/main" val="1423163564"/>
              </p:ext>
            </p:extLst>
          </p:nvPr>
        </p:nvGraphicFramePr>
        <p:xfrm>
          <a:off x="1320797" y="2235200"/>
          <a:ext cx="7199086" cy="3715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0"/>
          </p:nvPr>
        </p:nvSpPr>
        <p:spPr>
          <a:noFill/>
        </p:spPr>
        <p:txBody>
          <a:bodyPr/>
          <a:lstStyle/>
          <a:p>
            <a:fld id="{E013F2C0-D097-431D-A5CC-6C792523E02F}" type="slidenum">
              <a:rPr lang="en-US" smtClean="0"/>
              <a:pPr/>
              <a:t>53</a:t>
            </a:fld>
            <a:endParaRPr lang="en-US" smtClean="0"/>
          </a:p>
        </p:txBody>
      </p:sp>
      <p:sp>
        <p:nvSpPr>
          <p:cNvPr id="5123" name="Rectangle 2"/>
          <p:cNvSpPr>
            <a:spLocks noGrp="1" noChangeArrowheads="1"/>
          </p:cNvSpPr>
          <p:nvPr>
            <p:ph type="title"/>
          </p:nvPr>
        </p:nvSpPr>
        <p:spPr/>
        <p:txBody>
          <a:bodyPr/>
          <a:lstStyle/>
          <a:p>
            <a:pPr eaLnBrk="1" hangingPunct="1"/>
            <a:r>
              <a:rPr lang="en-US" dirty="0" smtClean="0"/>
              <a:t>Important Web Sites</a:t>
            </a:r>
          </a:p>
        </p:txBody>
      </p:sp>
      <p:sp>
        <p:nvSpPr>
          <p:cNvPr id="5124" name="Rectangle 3"/>
          <p:cNvSpPr>
            <a:spLocks noGrp="1" noChangeArrowheads="1"/>
          </p:cNvSpPr>
          <p:nvPr>
            <p:ph type="body" idx="1"/>
          </p:nvPr>
        </p:nvSpPr>
        <p:spPr>
          <a:xfrm>
            <a:off x="784225" y="1451429"/>
            <a:ext cx="8359775" cy="4804909"/>
          </a:xfrm>
        </p:spPr>
        <p:txBody>
          <a:bodyPr/>
          <a:lstStyle/>
          <a:p>
            <a:pPr marL="754063" lvl="1" indent="-457200" eaLnBrk="1" hangingPunct="1">
              <a:buNone/>
            </a:pPr>
            <a:r>
              <a:rPr lang="en-US" sz="2000" b="1" dirty="0" smtClean="0"/>
              <a:t>NSDI CAP Web site </a:t>
            </a:r>
            <a:br>
              <a:rPr lang="en-US" sz="2000" b="1" dirty="0" smtClean="0"/>
            </a:br>
            <a:r>
              <a:rPr lang="en-US" sz="2000" b="1" dirty="0" smtClean="0">
                <a:solidFill>
                  <a:srgbClr val="7D7DFF"/>
                </a:solidFill>
                <a:hlinkClick r:id="rId3"/>
              </a:rPr>
              <a:t>http://www.fgdc.gov/grants</a:t>
            </a:r>
            <a:r>
              <a:rPr lang="en-US" sz="2000" b="1" dirty="0" smtClean="0">
                <a:solidFill>
                  <a:srgbClr val="7D7DFF"/>
                </a:solidFill>
              </a:rPr>
              <a:t> </a:t>
            </a:r>
            <a:r>
              <a:rPr lang="en-US" sz="2000" b="1" i="1" dirty="0" smtClean="0">
                <a:solidFill>
                  <a:srgbClr val="7D7DFF"/>
                </a:solidFill>
              </a:rPr>
              <a:t/>
            </a:r>
            <a:br>
              <a:rPr lang="en-US" sz="2000" b="1" i="1" dirty="0" smtClean="0">
                <a:solidFill>
                  <a:srgbClr val="7D7DFF"/>
                </a:solidFill>
              </a:rPr>
            </a:br>
            <a:endParaRPr lang="en-US" sz="2000" b="1" i="1" dirty="0" smtClean="0">
              <a:solidFill>
                <a:srgbClr val="7D7DFF"/>
              </a:solidFill>
            </a:endParaRPr>
          </a:p>
          <a:p>
            <a:pPr marL="754063" lvl="1" indent="-457200" eaLnBrk="1" hangingPunct="1">
              <a:buNone/>
            </a:pPr>
            <a:r>
              <a:rPr lang="en-US" sz="2000" b="1" dirty="0" smtClean="0"/>
              <a:t>Grants.gov Web site </a:t>
            </a:r>
            <a:br>
              <a:rPr lang="en-US" sz="2000" b="1" dirty="0" smtClean="0"/>
            </a:br>
            <a:r>
              <a:rPr lang="en-US" sz="2000" b="1" dirty="0" smtClean="0">
                <a:hlinkClick r:id="rId4"/>
              </a:rPr>
              <a:t>http://www.grants.gov/</a:t>
            </a:r>
            <a:r>
              <a:rPr lang="en-US" sz="2000" b="1" dirty="0" smtClean="0"/>
              <a:t/>
            </a:r>
            <a:br>
              <a:rPr lang="en-US" sz="2000" b="1" dirty="0" smtClean="0"/>
            </a:br>
            <a:endParaRPr lang="en-US" sz="2000" dirty="0" smtClean="0"/>
          </a:p>
          <a:p>
            <a:pPr marL="754063" lvl="1" indent="-457200" eaLnBrk="1" hangingPunct="1">
              <a:buNone/>
            </a:pPr>
            <a:r>
              <a:rPr lang="en-US" sz="2000" b="1" dirty="0">
                <a:solidFill>
                  <a:srgbClr val="000000"/>
                </a:solidFill>
              </a:rPr>
              <a:t>Grants.gov Applicant Resources</a:t>
            </a:r>
            <a:r>
              <a:rPr lang="en-US" sz="2000" b="1" dirty="0" smtClean="0">
                <a:solidFill>
                  <a:srgbClr val="000000"/>
                </a:solidFill>
              </a:rPr>
              <a:t/>
            </a:r>
            <a:br>
              <a:rPr lang="en-US" sz="2000" b="1" dirty="0" smtClean="0">
                <a:solidFill>
                  <a:srgbClr val="000000"/>
                </a:solidFill>
              </a:rPr>
            </a:br>
            <a:r>
              <a:rPr lang="en-US" sz="2000" b="1" dirty="0">
                <a:hlinkClick r:id="rId5"/>
              </a:rPr>
              <a:t>http://www.grants.gov/applicants/app_help_reso.jsp</a:t>
            </a:r>
            <a:r>
              <a:rPr lang="en-US" sz="2000" b="1" dirty="0" smtClean="0"/>
              <a:t/>
            </a:r>
            <a:br>
              <a:rPr lang="en-US" sz="2000" b="1" dirty="0" smtClean="0"/>
            </a:br>
            <a:endParaRPr lang="en-US" sz="2000" b="1" dirty="0" smtClean="0"/>
          </a:p>
          <a:p>
            <a:pPr marL="754063" lvl="1" indent="-457200" eaLnBrk="1" hangingPunct="1">
              <a:buNone/>
            </a:pPr>
            <a:r>
              <a:rPr lang="en-US" sz="2000" b="1" dirty="0" smtClean="0">
                <a:solidFill>
                  <a:srgbClr val="000000"/>
                </a:solidFill>
              </a:rPr>
              <a:t>USGS Help for Grants.gov </a:t>
            </a:r>
            <a:br>
              <a:rPr lang="en-US" sz="2000" b="1" dirty="0" smtClean="0">
                <a:solidFill>
                  <a:srgbClr val="000000"/>
                </a:solidFill>
              </a:rPr>
            </a:br>
            <a:r>
              <a:rPr lang="en-US" sz="2000" b="1" dirty="0" smtClean="0">
                <a:hlinkClick r:id="rId6"/>
              </a:rPr>
              <a:t>http://www.usgs.gov/contracts/grants/grantsgov.html</a:t>
            </a:r>
            <a:r>
              <a:rPr lang="en-US" sz="2000" b="1" dirty="0" smtClean="0"/>
              <a:t/>
            </a:r>
            <a:br>
              <a:rPr lang="en-US" sz="2000" b="1" dirty="0" smtClean="0"/>
            </a:br>
            <a:endParaRPr lang="en-US" sz="2000" dirty="0" smtClean="0"/>
          </a:p>
          <a:p>
            <a:pPr marL="296863" lvl="1" indent="0" eaLnBrk="1" hangingPunct="1">
              <a:buNone/>
            </a:pPr>
            <a:r>
              <a:rPr lang="en-US" sz="2000" b="1" dirty="0" smtClean="0"/>
              <a:t>2012 NSDI </a:t>
            </a:r>
            <a:r>
              <a:rPr lang="en-US" sz="2000" b="1" dirty="0"/>
              <a:t>CAP </a:t>
            </a:r>
            <a:r>
              <a:rPr lang="en-US" sz="2000" b="1" dirty="0" smtClean="0"/>
              <a:t>FAQ page</a:t>
            </a:r>
          </a:p>
          <a:p>
            <a:pPr marL="754063" lvl="2" indent="0" eaLnBrk="1" hangingPunct="1">
              <a:buNone/>
            </a:pPr>
            <a:r>
              <a:rPr lang="en-US" dirty="0">
                <a:hlinkClick r:id="rId7"/>
              </a:rPr>
              <a:t>http://www.fgdc.gov/grants/2012CAP/FAQ_2012NSDICAP</a:t>
            </a:r>
            <a:endParaRPr lang="en-US" dirty="0" smtClean="0"/>
          </a:p>
          <a:p>
            <a:pPr marL="754063" lvl="1" indent="-457200" eaLnBrk="1" hangingPunct="1">
              <a:buFontTx/>
              <a:buNone/>
            </a:pPr>
            <a:endParaRPr lang="en-US" b="1" dirty="0" smtClean="0"/>
          </a:p>
        </p:txBody>
      </p:sp>
      <p:pic>
        <p:nvPicPr>
          <p:cNvPr id="2050" name="Picture 2" descr="C:\Users\burbanma\AppData\Local\Microsoft\Windows\Temporary Internet Files\Content.IE5\UG4RFKCA\MC900078811[1].wmf"/>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47541" y="1683462"/>
            <a:ext cx="1823131" cy="17031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noFill/>
        </p:spPr>
        <p:txBody>
          <a:bodyPr/>
          <a:lstStyle/>
          <a:p>
            <a:fld id="{89875B0F-D9DA-42D5-9B28-F9EB2789C105}" type="slidenum">
              <a:rPr lang="en-US" smtClean="0"/>
              <a:pPr/>
              <a:t>54</a:t>
            </a:fld>
            <a:endParaRPr lang="en-US" smtClean="0"/>
          </a:p>
        </p:txBody>
      </p:sp>
      <p:sp>
        <p:nvSpPr>
          <p:cNvPr id="38915" name="Rectangle 2"/>
          <p:cNvSpPr>
            <a:spLocks noGrp="1" noChangeArrowheads="1"/>
          </p:cNvSpPr>
          <p:nvPr>
            <p:ph type="title"/>
          </p:nvPr>
        </p:nvSpPr>
        <p:spPr/>
        <p:txBody>
          <a:bodyPr/>
          <a:lstStyle/>
          <a:p>
            <a:pPr eaLnBrk="1" hangingPunct="1"/>
            <a:r>
              <a:rPr lang="en-US" smtClean="0"/>
              <a:t>Conclusion</a:t>
            </a:r>
          </a:p>
        </p:txBody>
      </p:sp>
      <p:sp>
        <p:nvSpPr>
          <p:cNvPr id="38916" name="Rectangle 3"/>
          <p:cNvSpPr>
            <a:spLocks noGrp="1" noChangeArrowheads="1"/>
          </p:cNvSpPr>
          <p:nvPr>
            <p:ph type="body" idx="1"/>
          </p:nvPr>
        </p:nvSpPr>
        <p:spPr/>
        <p:txBody>
          <a:bodyPr/>
          <a:lstStyle/>
          <a:p>
            <a:pPr marL="609600" indent="-609600" eaLnBrk="1" hangingPunct="1"/>
            <a:r>
              <a:rPr lang="en-US" sz="2800" dirty="0" smtClean="0"/>
              <a:t>Successful submittal of an NSDI CAP proposal requires</a:t>
            </a:r>
            <a:r>
              <a:rPr lang="en-US" dirty="0" smtClean="0"/>
              <a:t>:</a:t>
            </a:r>
          </a:p>
          <a:p>
            <a:pPr marL="800100" lvl="1" indent="-457200" eaLnBrk="1" hangingPunct="1"/>
            <a:r>
              <a:rPr lang="en-US" dirty="0" smtClean="0"/>
              <a:t>Advanced planning and registration</a:t>
            </a:r>
          </a:p>
          <a:p>
            <a:pPr marL="800100" lvl="1" indent="-457200" eaLnBrk="1" hangingPunct="1"/>
            <a:r>
              <a:rPr lang="en-US" dirty="0" smtClean="0"/>
              <a:t>Careful review of the CAP Announcement</a:t>
            </a:r>
          </a:p>
          <a:p>
            <a:pPr marL="800100" lvl="1" indent="-457200" eaLnBrk="1" hangingPunct="1"/>
            <a:r>
              <a:rPr lang="en-US" dirty="0" smtClean="0"/>
              <a:t>Collaboration and partnership</a:t>
            </a:r>
          </a:p>
          <a:p>
            <a:pPr marL="800100" lvl="1" indent="-457200" eaLnBrk="1" hangingPunct="1"/>
            <a:r>
              <a:rPr lang="en-US" dirty="0" smtClean="0"/>
              <a:t>Demonstrated capabilities</a:t>
            </a:r>
          </a:p>
          <a:p>
            <a:pPr marL="800100" lvl="1" indent="-457200" eaLnBrk="1" hangingPunct="1">
              <a:buFontTx/>
              <a:buNone/>
            </a:pPr>
            <a:endParaRPr lang="en-US" sz="1800" dirty="0" smtClean="0"/>
          </a:p>
          <a:p>
            <a:pPr marL="800100" lvl="1" indent="-457200" eaLnBrk="1" hangingPunct="1">
              <a:buNone/>
            </a:pPr>
            <a:r>
              <a:rPr lang="en-US" sz="2500" dirty="0" smtClean="0"/>
              <a:t>NSDI CAP Coordinator: </a:t>
            </a:r>
          </a:p>
          <a:p>
            <a:pPr marL="800100" lvl="1" indent="-457200" eaLnBrk="1" hangingPunct="1">
              <a:spcBef>
                <a:spcPts val="0"/>
              </a:spcBef>
              <a:buNone/>
            </a:pPr>
            <a:r>
              <a:rPr lang="en-US" dirty="0" smtClean="0"/>
              <a:t>			</a:t>
            </a:r>
            <a:r>
              <a:rPr lang="en-US" dirty="0" err="1" smtClean="0"/>
              <a:t>Gita</a:t>
            </a:r>
            <a:r>
              <a:rPr lang="en-US" dirty="0" smtClean="0"/>
              <a:t> Urban-</a:t>
            </a:r>
            <a:r>
              <a:rPr lang="en-US" dirty="0" err="1" smtClean="0"/>
              <a:t>Mathieux</a:t>
            </a:r>
            <a:endParaRPr lang="en-US" dirty="0" smtClean="0"/>
          </a:p>
          <a:p>
            <a:pPr marL="800100" lvl="1" indent="-457200" eaLnBrk="1" hangingPunct="1">
              <a:spcBef>
                <a:spcPts val="0"/>
              </a:spcBef>
              <a:buNone/>
            </a:pPr>
            <a:r>
              <a:rPr lang="en-US" dirty="0" smtClean="0"/>
              <a:t>			</a:t>
            </a:r>
            <a:r>
              <a:rPr lang="en-US" dirty="0" smtClean="0">
                <a:hlinkClick r:id="rId3"/>
              </a:rPr>
              <a:t>burbanma@fgdc.gov</a:t>
            </a:r>
            <a:r>
              <a:rPr lang="en-US" dirty="0" smtClean="0"/>
              <a:t>               </a:t>
            </a:r>
          </a:p>
          <a:p>
            <a:pPr marL="800100" lvl="1" indent="-457200" eaLnBrk="1" hangingPunct="1">
              <a:spcBef>
                <a:spcPts val="0"/>
              </a:spcBef>
              <a:buNone/>
            </a:pPr>
            <a:r>
              <a:rPr lang="en-US" dirty="0" smtClean="0"/>
              <a:t>			703-648-5175</a:t>
            </a:r>
            <a:endParaRPr lang="en-US" sz="2000" dirty="0" smtClean="0">
              <a:solidFill>
                <a:srgbClr val="FF0000"/>
              </a:solidFill>
            </a:endParaRPr>
          </a:p>
          <a:p>
            <a:pPr marL="800100" lvl="1" indent="-457200" eaLnBrk="1" hangingPunct="1">
              <a:buFontTx/>
              <a:buNone/>
            </a:pPr>
            <a:endParaRPr lang="en-US" b="1" dirty="0" smtClean="0">
              <a:solidFill>
                <a:srgbClr val="FF0000"/>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p:spPr>
        <p:txBody>
          <a:bodyPr/>
          <a:lstStyle/>
          <a:p>
            <a:fld id="{0D2B1C3C-4EA4-49D2-B8AB-FE79746A9EB2}" type="slidenum">
              <a:rPr lang="en-US" smtClean="0"/>
              <a:pPr/>
              <a:t>55</a:t>
            </a:fld>
            <a:endParaRPr lang="en-US" smtClean="0"/>
          </a:p>
        </p:txBody>
      </p:sp>
      <p:sp>
        <p:nvSpPr>
          <p:cNvPr id="37892" name="Rectangle 2"/>
          <p:cNvSpPr>
            <a:spLocks noGrp="1" noChangeArrowheads="1"/>
          </p:cNvSpPr>
          <p:nvPr>
            <p:ph type="title"/>
          </p:nvPr>
        </p:nvSpPr>
        <p:spPr/>
        <p:txBody>
          <a:bodyPr/>
          <a:lstStyle/>
          <a:p>
            <a:pPr eaLnBrk="1" hangingPunct="1"/>
            <a:r>
              <a:rPr lang="en-US" smtClean="0"/>
              <a:t>Finally .... </a:t>
            </a:r>
          </a:p>
        </p:txBody>
      </p:sp>
      <p:sp>
        <p:nvSpPr>
          <p:cNvPr id="7" name="Rectangle 3"/>
          <p:cNvSpPr txBox="1">
            <a:spLocks noChangeArrowheads="1"/>
          </p:cNvSpPr>
          <p:nvPr/>
        </p:nvSpPr>
        <p:spPr bwMode="auto">
          <a:xfrm>
            <a:off x="733425" y="3135313"/>
            <a:ext cx="3765550" cy="1044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algn="ctr" eaLnBrk="1" hangingPunct="1"/>
            <a:endParaRPr lang="en-US" sz="800" smtClean="0"/>
          </a:p>
          <a:p>
            <a:pPr algn="ctr" eaLnBrk="1" hangingPunct="1"/>
            <a:r>
              <a:rPr lang="en-US" smtClean="0"/>
              <a:t>Get to work!!!</a:t>
            </a:r>
          </a:p>
        </p:txBody>
      </p:sp>
      <p:pic>
        <p:nvPicPr>
          <p:cNvPr id="8" name="Picture 4">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128713"/>
            <a:ext cx="4141788" cy="531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p:spPr>
        <p:txBody>
          <a:bodyPr/>
          <a:lstStyle/>
          <a:p>
            <a:fld id="{0D2B1C3C-4EA4-49D2-B8AB-FE79746A9EB2}" type="slidenum">
              <a:rPr lang="en-US" smtClean="0"/>
              <a:pPr/>
              <a:t>56</a:t>
            </a:fld>
            <a:endParaRPr lang="en-US" smtClean="0"/>
          </a:p>
        </p:txBody>
      </p:sp>
      <p:sp>
        <p:nvSpPr>
          <p:cNvPr id="37892" name="Rectangle 2"/>
          <p:cNvSpPr>
            <a:spLocks noGrp="1" noChangeArrowheads="1"/>
          </p:cNvSpPr>
          <p:nvPr>
            <p:ph type="title"/>
          </p:nvPr>
        </p:nvSpPr>
        <p:spPr>
          <a:xfrm>
            <a:off x="1752600" y="381000"/>
            <a:ext cx="7391400" cy="609600"/>
          </a:xfrm>
        </p:spPr>
        <p:txBody>
          <a:bodyPr/>
          <a:lstStyle/>
          <a:p>
            <a:pPr eaLnBrk="1" hangingPunct="1"/>
            <a:r>
              <a:rPr lang="en-US" dirty="0" smtClean="0"/>
              <a:t>Poll Question    </a:t>
            </a:r>
          </a:p>
        </p:txBody>
      </p:sp>
      <p:sp>
        <p:nvSpPr>
          <p:cNvPr id="37893" name="Rectangle 3"/>
          <p:cNvSpPr>
            <a:spLocks noGrp="1" noChangeArrowheads="1"/>
          </p:cNvSpPr>
          <p:nvPr>
            <p:ph type="body" idx="1"/>
          </p:nvPr>
        </p:nvSpPr>
        <p:spPr>
          <a:xfrm>
            <a:off x="2815771" y="2902850"/>
            <a:ext cx="6168571" cy="3381830"/>
          </a:xfrm>
        </p:spPr>
        <p:txBody>
          <a:bodyPr/>
          <a:lstStyle/>
          <a:p>
            <a:pPr algn="ctr" eaLnBrk="1" hangingPunct="1"/>
            <a:endParaRPr lang="en-US" sz="800" dirty="0" smtClean="0"/>
          </a:p>
          <a:p>
            <a:pPr marL="514350" indent="-514350">
              <a:buFont typeface="+mj-lt"/>
              <a:buAutoNum type="arabicPeriod"/>
            </a:pPr>
            <a:r>
              <a:rPr lang="en-US" dirty="0" smtClean="0"/>
              <a:t>Strongly </a:t>
            </a:r>
            <a:r>
              <a:rPr lang="en-US" dirty="0"/>
              <a:t>Disagree 	</a:t>
            </a:r>
          </a:p>
          <a:p>
            <a:pPr marL="514350" indent="-514350">
              <a:buFont typeface="+mj-lt"/>
              <a:buAutoNum type="arabicPeriod"/>
            </a:pPr>
            <a:r>
              <a:rPr lang="en-US" dirty="0" smtClean="0"/>
              <a:t>Disagree</a:t>
            </a:r>
          </a:p>
          <a:p>
            <a:pPr marL="514350" indent="-514350">
              <a:buFont typeface="+mj-lt"/>
              <a:buAutoNum type="arabicPeriod"/>
            </a:pPr>
            <a:r>
              <a:rPr lang="en-US" dirty="0" smtClean="0"/>
              <a:t>Neutral</a:t>
            </a:r>
          </a:p>
          <a:p>
            <a:pPr marL="514350" indent="-514350">
              <a:buFont typeface="+mj-lt"/>
              <a:buAutoNum type="arabicPeriod"/>
            </a:pPr>
            <a:r>
              <a:rPr lang="en-US" dirty="0" smtClean="0"/>
              <a:t>Agree</a:t>
            </a:r>
            <a:endParaRPr lang="en-US" dirty="0"/>
          </a:p>
          <a:p>
            <a:pPr marL="514350" indent="-514350">
              <a:buFont typeface="+mj-lt"/>
              <a:buAutoNum type="arabicPeriod"/>
            </a:pPr>
            <a:r>
              <a:rPr lang="en-US" dirty="0" smtClean="0"/>
              <a:t>Strongly </a:t>
            </a:r>
            <a:r>
              <a:rPr lang="en-US" dirty="0"/>
              <a:t>agree 	</a:t>
            </a:r>
          </a:p>
          <a:p>
            <a:endParaRPr lang="en-US" dirty="0"/>
          </a:p>
        </p:txBody>
      </p:sp>
      <p:sp>
        <p:nvSpPr>
          <p:cNvPr id="6" name="Rectangle 3"/>
          <p:cNvSpPr txBox="1">
            <a:spLocks noChangeArrowheads="1"/>
          </p:cNvSpPr>
          <p:nvPr/>
        </p:nvSpPr>
        <p:spPr bwMode="auto">
          <a:xfrm>
            <a:off x="798287" y="1444175"/>
            <a:ext cx="8352970" cy="12990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algn="ctr" eaLnBrk="1" hangingPunct="1"/>
            <a:endParaRPr lang="en-US" sz="800" dirty="0" smtClean="0"/>
          </a:p>
          <a:p>
            <a:r>
              <a:rPr lang="en-US" dirty="0" smtClean="0"/>
              <a:t>The information presented in this webinar will help me develop and submit an NSDI CAP proposal. 	</a:t>
            </a:r>
          </a:p>
          <a:p>
            <a:endParaRPr lang="en-US" dirty="0"/>
          </a:p>
        </p:txBody>
      </p:sp>
    </p:spTree>
    <p:extLst>
      <p:ext uri="{BB962C8B-B14F-4D97-AF65-F5344CB8AC3E}">
        <p14:creationId xmlns:p14="http://schemas.microsoft.com/office/powerpoint/2010/main" val="294968908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p:spPr>
        <p:txBody>
          <a:bodyPr/>
          <a:lstStyle/>
          <a:p>
            <a:fld id="{0D2B1C3C-4EA4-49D2-B8AB-FE79746A9EB2}" type="slidenum">
              <a:rPr lang="en-US" smtClean="0"/>
              <a:pPr/>
              <a:t>57</a:t>
            </a:fld>
            <a:endParaRPr lang="en-US" smtClean="0"/>
          </a:p>
        </p:txBody>
      </p:sp>
      <p:sp>
        <p:nvSpPr>
          <p:cNvPr id="37892" name="Rectangle 2"/>
          <p:cNvSpPr>
            <a:spLocks noGrp="1" noChangeArrowheads="1"/>
          </p:cNvSpPr>
          <p:nvPr>
            <p:ph type="title"/>
          </p:nvPr>
        </p:nvSpPr>
        <p:spPr>
          <a:xfrm>
            <a:off x="1752600" y="381000"/>
            <a:ext cx="7391400" cy="609600"/>
          </a:xfrm>
        </p:spPr>
        <p:txBody>
          <a:bodyPr/>
          <a:lstStyle/>
          <a:p>
            <a:pPr eaLnBrk="1" hangingPunct="1"/>
            <a:r>
              <a:rPr lang="en-US" dirty="0" smtClean="0"/>
              <a:t>Questions    </a:t>
            </a:r>
          </a:p>
        </p:txBody>
      </p:sp>
      <p:sp>
        <p:nvSpPr>
          <p:cNvPr id="6" name="Rectangle 3"/>
          <p:cNvSpPr txBox="1">
            <a:spLocks noChangeArrowheads="1"/>
          </p:cNvSpPr>
          <p:nvPr/>
        </p:nvSpPr>
        <p:spPr bwMode="auto">
          <a:xfrm>
            <a:off x="769257" y="1444174"/>
            <a:ext cx="8273143" cy="44631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0000"/>
              </a:spcBef>
              <a:spcAft>
                <a:spcPct val="0"/>
              </a:spcAft>
              <a:defRPr sz="2800">
                <a:solidFill>
                  <a:schemeClr val="tx1"/>
                </a:solidFill>
                <a:latin typeface="+mn-lt"/>
                <a:ea typeface="+mn-ea"/>
                <a:cs typeface="+mn-cs"/>
              </a:defRPr>
            </a:lvl1pPr>
            <a:lvl2pPr marL="685800" indent="-342900" algn="l" rtl="0" eaLnBrk="0" fontAlgn="base" hangingPunct="0">
              <a:spcBef>
                <a:spcPct val="20000"/>
              </a:spcBef>
              <a:spcAft>
                <a:spcPct val="0"/>
              </a:spcAft>
              <a:buClr>
                <a:schemeClr val="accent2"/>
              </a:buClr>
              <a:buBlip>
                <a:blip r:embed="rId3"/>
              </a:buBlip>
              <a:defRPr sz="2400">
                <a:solidFill>
                  <a:schemeClr val="tx1"/>
                </a:solidFill>
                <a:latin typeface="+mn-lt"/>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79400" algn="l" rtl="0" eaLnBrk="0" fontAlgn="base" hangingPunct="0">
              <a:spcBef>
                <a:spcPct val="20000"/>
              </a:spcBef>
              <a:spcAft>
                <a:spcPct val="0"/>
              </a:spcAft>
              <a:buClr>
                <a:schemeClr val="accent2"/>
              </a:buClr>
              <a:buFont typeface="Courier New" pitchFamily="49" charset="0"/>
              <a:buChar char="-"/>
              <a:defRPr>
                <a:solidFill>
                  <a:schemeClr val="tx1"/>
                </a:solidFill>
                <a:latin typeface="+mn-lt"/>
              </a:defRPr>
            </a:lvl5pPr>
            <a:lvl6pPr marL="25146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6pPr>
            <a:lvl7pPr marL="29718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7pPr>
            <a:lvl8pPr marL="34290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8pPr>
            <a:lvl9pPr marL="3886200" indent="-279400" algn="l" rtl="0" fontAlgn="base">
              <a:spcBef>
                <a:spcPct val="20000"/>
              </a:spcBef>
              <a:spcAft>
                <a:spcPct val="0"/>
              </a:spcAft>
              <a:buClr>
                <a:schemeClr val="accent2"/>
              </a:buClr>
              <a:buFont typeface="Courier New" pitchFamily="49" charset="0"/>
              <a:buChar char="-"/>
              <a:defRPr>
                <a:solidFill>
                  <a:schemeClr val="tx1"/>
                </a:solidFill>
                <a:latin typeface="+mn-lt"/>
              </a:defRPr>
            </a:lvl9pPr>
          </a:lstStyle>
          <a:p>
            <a:pPr algn="ctr" eaLnBrk="1" hangingPunct="1"/>
            <a:endParaRPr lang="en-US" sz="800" dirty="0" smtClean="0"/>
          </a:p>
          <a:p>
            <a:pPr algn="ctr"/>
            <a:r>
              <a:rPr lang="en-US" b="1" dirty="0" smtClean="0"/>
              <a:t>Questions?</a:t>
            </a:r>
          </a:p>
          <a:p>
            <a:pPr algn="ctr"/>
            <a:endParaRPr lang="en-US" b="1" dirty="0"/>
          </a:p>
          <a:p>
            <a:pPr marL="800100" lvl="1" indent="-457200" eaLnBrk="1" hangingPunct="1">
              <a:spcBef>
                <a:spcPts val="0"/>
              </a:spcBef>
              <a:buNone/>
            </a:pPr>
            <a:r>
              <a:rPr lang="en-US" dirty="0"/>
              <a:t>		</a:t>
            </a:r>
            <a:r>
              <a:rPr lang="en-US" dirty="0" smtClean="0"/>
              <a:t>Gita Urban-</a:t>
            </a:r>
            <a:r>
              <a:rPr lang="en-US" dirty="0" err="1" smtClean="0"/>
              <a:t>Mathieux</a:t>
            </a:r>
            <a:r>
              <a:rPr lang="en-US" dirty="0"/>
              <a:t> </a:t>
            </a:r>
            <a:r>
              <a:rPr lang="en-US" dirty="0" smtClean="0"/>
              <a:t>- </a:t>
            </a:r>
            <a:r>
              <a:rPr lang="en-US" dirty="0" smtClean="0">
                <a:hlinkClick r:id="rId4"/>
              </a:rPr>
              <a:t>burbanma@fgdc.gov</a:t>
            </a:r>
            <a:r>
              <a:rPr lang="en-US" dirty="0" smtClean="0"/>
              <a:t>               </a:t>
            </a:r>
            <a:endParaRPr lang="en-US" dirty="0"/>
          </a:p>
          <a:p>
            <a:pPr marL="296863" lvl="1" indent="0" eaLnBrk="1" hangingPunct="1">
              <a:buNone/>
            </a:pPr>
            <a:r>
              <a:rPr lang="en-US" dirty="0"/>
              <a:t>		</a:t>
            </a:r>
            <a:r>
              <a:rPr lang="en-US" sz="2000" dirty="0"/>
              <a:t>	</a:t>
            </a:r>
            <a:endParaRPr lang="en-US" sz="2000" dirty="0" smtClean="0"/>
          </a:p>
          <a:p>
            <a:pPr marL="296863" lvl="1" indent="0" algn="ctr" eaLnBrk="1" hangingPunct="1">
              <a:buNone/>
            </a:pPr>
            <a:r>
              <a:rPr lang="en-US" b="1" dirty="0" smtClean="0"/>
              <a:t>2012 </a:t>
            </a:r>
            <a:r>
              <a:rPr lang="en-US" b="1" dirty="0"/>
              <a:t>NSDI CAP FAQ page</a:t>
            </a:r>
          </a:p>
          <a:p>
            <a:pPr marL="754063" lvl="2" indent="0" eaLnBrk="1" hangingPunct="1">
              <a:buNone/>
            </a:pPr>
            <a:r>
              <a:rPr lang="en-US" dirty="0">
                <a:hlinkClick r:id="rId5"/>
              </a:rPr>
              <a:t>http://www.fgdc.gov/grants/2012CAP/FAQ_2012NSDICAP</a:t>
            </a:r>
            <a:endParaRPr lang="en-US" dirty="0"/>
          </a:p>
          <a:p>
            <a:pPr marL="800100" lvl="1" indent="-457200" eaLnBrk="1" hangingPunct="1">
              <a:spcBef>
                <a:spcPts val="0"/>
              </a:spcBef>
              <a:buNone/>
            </a:pPr>
            <a:endParaRPr lang="en-US" dirty="0"/>
          </a:p>
        </p:txBody>
      </p:sp>
      <p:pic>
        <p:nvPicPr>
          <p:cNvPr id="5123" name="Picture 3" descr="C:\Users\burbanma\AppData\Local\Microsoft\Windows\Temporary Internet Files\Content.IE5\XA2NJFVE\MC900022569[1].wm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36056" y="4474098"/>
            <a:ext cx="1467716" cy="168363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burbanma\AppData\Local\Microsoft\Windows\Temporary Internet Files\Content.IE5\3YM8107S\MC900027345[1].wm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80265" y="4497855"/>
            <a:ext cx="1190362" cy="159763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C:\Users\burbanma\AppData\Local\Microsoft\Windows\Temporary Internet Files\Content.IE5\XA2NJFVE\MC900439384[1].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61971" y="4600954"/>
            <a:ext cx="1487714" cy="1398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122481"/>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NSDITrainingTemplate</Template>
  <TotalTime>12293</TotalTime>
  <Words>7752</Words>
  <Application>Microsoft Office PowerPoint</Application>
  <PresentationFormat>On-screen Show (4:3)</PresentationFormat>
  <Paragraphs>832</Paragraphs>
  <Slides>58</Slides>
  <Notes>58</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Custom Design</vt:lpstr>
      <vt:lpstr>PowerPoint Presentation</vt:lpstr>
      <vt:lpstr>Objectives</vt:lpstr>
      <vt:lpstr>What is the NSDI CAP?</vt:lpstr>
      <vt:lpstr>What is the NSDI CAP?</vt:lpstr>
      <vt:lpstr>What NSDI CAP is Not</vt:lpstr>
      <vt:lpstr>Why is there an NSDI CAP?</vt:lpstr>
      <vt:lpstr>What is a ‘Cooperative Agreement’?</vt:lpstr>
      <vt:lpstr>Who can participate in the NSDI CAP?</vt:lpstr>
      <vt:lpstr>NSDI CAP Categories</vt:lpstr>
      <vt:lpstr>NSDI CAP Categories</vt:lpstr>
      <vt:lpstr>Eligibility</vt:lpstr>
      <vt:lpstr>Eligibility</vt:lpstr>
      <vt:lpstr>CAP Funding</vt:lpstr>
      <vt:lpstr>CAP Funding</vt:lpstr>
      <vt:lpstr>Project Time Frame</vt:lpstr>
      <vt:lpstr>CAP Proposal Submission</vt:lpstr>
      <vt:lpstr>CAP Proposal Submission</vt:lpstr>
      <vt:lpstr>CAP Proposal Submission</vt:lpstr>
      <vt:lpstr>Submitting  Your Proposal via Grants.gov</vt:lpstr>
      <vt:lpstr>Registration on Grants.gov</vt:lpstr>
      <vt:lpstr>Registration on Grants.gov</vt:lpstr>
      <vt:lpstr>Registration on Grants.gov</vt:lpstr>
      <vt:lpstr>Registration on Grants.gov</vt:lpstr>
      <vt:lpstr>Registration on Grants.gov</vt:lpstr>
      <vt:lpstr>Registration on Grants.gov</vt:lpstr>
      <vt:lpstr>Registration on Grants.gov</vt:lpstr>
      <vt:lpstr>Prepare CAP Proposal </vt:lpstr>
      <vt:lpstr>Prepare CAP Proposal </vt:lpstr>
      <vt:lpstr>PowerPoint Presentation</vt:lpstr>
      <vt:lpstr> Proposal Components</vt:lpstr>
      <vt:lpstr>Proposal Components</vt:lpstr>
      <vt:lpstr>Required Proposal Components</vt:lpstr>
      <vt:lpstr>Required Proposal Components</vt:lpstr>
      <vt:lpstr>Required Proposal Components</vt:lpstr>
      <vt:lpstr>Required Proposal Components</vt:lpstr>
      <vt:lpstr>Required Proposal Components</vt:lpstr>
      <vt:lpstr>Required Proposal Components</vt:lpstr>
      <vt:lpstr>Required Proposal Components</vt:lpstr>
      <vt:lpstr>Proposal Components</vt:lpstr>
      <vt:lpstr>Proposal Components</vt:lpstr>
      <vt:lpstr>Proposal Components</vt:lpstr>
      <vt:lpstr>Demonstration</vt:lpstr>
      <vt:lpstr>Summary of What to Submit</vt:lpstr>
      <vt:lpstr>Submitting  Your Proposal via Grants.gov</vt:lpstr>
      <vt:lpstr>Proposal Tracking</vt:lpstr>
      <vt:lpstr>Proposal Tracking</vt:lpstr>
      <vt:lpstr>Submitting Multiple Proposals</vt:lpstr>
      <vt:lpstr>Help with Proposals</vt:lpstr>
      <vt:lpstr>Proposal Review and Selection</vt:lpstr>
      <vt:lpstr>Proposal Selection Process</vt:lpstr>
      <vt:lpstr>Proposal Review and Selection</vt:lpstr>
      <vt:lpstr>Proposal Review and Selection</vt:lpstr>
      <vt:lpstr>Summary</vt:lpstr>
      <vt:lpstr>Important Web Sites</vt:lpstr>
      <vt:lpstr>Conclusion</vt:lpstr>
      <vt:lpstr>Finally .... </vt:lpstr>
      <vt:lpstr>Poll Question    </vt:lpstr>
      <vt:lpstr>Questions    </vt:lpstr>
    </vt:vector>
  </TitlesOfParts>
  <Company>GeoMaxim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Lynda Wayne</dc:creator>
  <cp:lastModifiedBy>Brigitta Urban-Mathieux</cp:lastModifiedBy>
  <cp:revision>345</cp:revision>
  <dcterms:created xsi:type="dcterms:W3CDTF">2006-09-20T16:38:25Z</dcterms:created>
  <dcterms:modified xsi:type="dcterms:W3CDTF">2011-11-16T14:48:44Z</dcterms:modified>
</cp:coreProperties>
</file>