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handoutMasterIdLst>
    <p:handoutMasterId r:id="rId27"/>
  </p:handoutMasterIdLst>
  <p:sldIdLst>
    <p:sldId id="256" r:id="rId2"/>
    <p:sldId id="718" r:id="rId3"/>
    <p:sldId id="719" r:id="rId4"/>
    <p:sldId id="724" r:id="rId5"/>
    <p:sldId id="723" r:id="rId6"/>
    <p:sldId id="725" r:id="rId7"/>
    <p:sldId id="722" r:id="rId8"/>
    <p:sldId id="721" r:id="rId9"/>
    <p:sldId id="726" r:id="rId10"/>
    <p:sldId id="728" r:id="rId11"/>
    <p:sldId id="727" r:id="rId12"/>
    <p:sldId id="729" r:id="rId13"/>
    <p:sldId id="730" r:id="rId14"/>
    <p:sldId id="731" r:id="rId15"/>
    <p:sldId id="732" r:id="rId16"/>
    <p:sldId id="733" r:id="rId17"/>
    <p:sldId id="741" r:id="rId18"/>
    <p:sldId id="742" r:id="rId19"/>
    <p:sldId id="736" r:id="rId20"/>
    <p:sldId id="737" r:id="rId21"/>
    <p:sldId id="738" r:id="rId22"/>
    <p:sldId id="739" r:id="rId23"/>
    <p:sldId id="740" r:id="rId24"/>
    <p:sldId id="696" r:id="rId25"/>
  </p:sldIdLst>
  <p:sldSz cx="9144000" cy="6858000" type="screen4x3"/>
  <p:notesSz cx="6797675" cy="9874250"/>
  <p:custDataLst>
    <p:tags r:id="rId28"/>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109"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109"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109"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109"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109" charset="-128"/>
        <a:cs typeface="+mn-cs"/>
      </a:defRPr>
    </a:lvl5pPr>
    <a:lvl6pPr marL="2286000" algn="l" defTabSz="914400" rtl="0" eaLnBrk="1" latinLnBrk="0" hangingPunct="1">
      <a:defRPr kern="1200">
        <a:solidFill>
          <a:schemeClr val="tx1"/>
        </a:solidFill>
        <a:latin typeface="Arial" charset="0"/>
        <a:ea typeface="ＭＳ Ｐゴシック" pitchFamily="-109" charset="-128"/>
        <a:cs typeface="+mn-cs"/>
      </a:defRPr>
    </a:lvl6pPr>
    <a:lvl7pPr marL="2743200" algn="l" defTabSz="914400" rtl="0" eaLnBrk="1" latinLnBrk="0" hangingPunct="1">
      <a:defRPr kern="1200">
        <a:solidFill>
          <a:schemeClr val="tx1"/>
        </a:solidFill>
        <a:latin typeface="Arial" charset="0"/>
        <a:ea typeface="ＭＳ Ｐゴシック" pitchFamily="-109" charset="-128"/>
        <a:cs typeface="+mn-cs"/>
      </a:defRPr>
    </a:lvl7pPr>
    <a:lvl8pPr marL="3200400" algn="l" defTabSz="914400" rtl="0" eaLnBrk="1" latinLnBrk="0" hangingPunct="1">
      <a:defRPr kern="1200">
        <a:solidFill>
          <a:schemeClr val="tx1"/>
        </a:solidFill>
        <a:latin typeface="Arial" charset="0"/>
        <a:ea typeface="ＭＳ Ｐゴシック" pitchFamily="-109" charset="-128"/>
        <a:cs typeface="+mn-cs"/>
      </a:defRPr>
    </a:lvl8pPr>
    <a:lvl9pPr marL="3657600" algn="l" defTabSz="914400" rtl="0" eaLnBrk="1" latinLnBrk="0" hangingPunct="1">
      <a:defRPr kern="1200">
        <a:solidFill>
          <a:schemeClr val="tx1"/>
        </a:solidFill>
        <a:latin typeface="Arial" charset="0"/>
        <a:ea typeface="ＭＳ Ｐゴシック" pitchFamily="-109"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287"/>
    <a:srgbClr val="DE0000"/>
    <a:srgbClr val="CC0000"/>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945" autoAdjust="0"/>
    <p:restoredTop sz="87430" autoAdjust="0"/>
  </p:normalViewPr>
  <p:slideViewPr>
    <p:cSldViewPr snapToObjects="1">
      <p:cViewPr varScale="1">
        <p:scale>
          <a:sx n="102" d="100"/>
          <a:sy n="102" d="100"/>
        </p:scale>
        <p:origin x="-1884" y="-9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3713"/>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49688" y="0"/>
            <a:ext cx="2946400" cy="493713"/>
          </a:xfrm>
          <a:prstGeom prst="rect">
            <a:avLst/>
          </a:prstGeom>
        </p:spPr>
        <p:txBody>
          <a:bodyPr vert="horz" lIns="91440" tIns="45720" rIns="91440" bIns="45720" rtlCol="0"/>
          <a:lstStyle>
            <a:lvl1pPr algn="r">
              <a:defRPr sz="1200"/>
            </a:lvl1pPr>
          </a:lstStyle>
          <a:p>
            <a:fld id="{3A9CC49C-16A8-4BD2-8DEC-89485A0779F9}" type="datetimeFigureOut">
              <a:rPr lang="en-AU" smtClean="0"/>
              <a:pPr/>
              <a:t>18/05/2012</a:t>
            </a:fld>
            <a:endParaRPr lang="en-AU"/>
          </a:p>
        </p:txBody>
      </p:sp>
      <p:sp>
        <p:nvSpPr>
          <p:cNvPr id="4" name="Footer Placeholder 3"/>
          <p:cNvSpPr>
            <a:spLocks noGrp="1"/>
          </p:cNvSpPr>
          <p:nvPr>
            <p:ph type="ftr" sz="quarter" idx="2"/>
          </p:nvPr>
        </p:nvSpPr>
        <p:spPr>
          <a:xfrm>
            <a:off x="0" y="9378950"/>
            <a:ext cx="2946400" cy="493713"/>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49688" y="9378950"/>
            <a:ext cx="2946400" cy="493713"/>
          </a:xfrm>
          <a:prstGeom prst="rect">
            <a:avLst/>
          </a:prstGeom>
        </p:spPr>
        <p:txBody>
          <a:bodyPr vert="horz" lIns="91440" tIns="45720" rIns="91440" bIns="45720" rtlCol="0" anchor="b"/>
          <a:lstStyle>
            <a:lvl1pPr algn="r">
              <a:defRPr sz="1200"/>
            </a:lvl1pPr>
          </a:lstStyle>
          <a:p>
            <a:fld id="{E60E2839-59A2-40BE-ADF5-B497FD5DEBEF}" type="slidenum">
              <a:rPr lang="en-AU" smtClean="0"/>
              <a:pPr/>
              <a:t>‹#›</a:t>
            </a:fld>
            <a:endParaRPr lang="en-AU"/>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2945659"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smtClean="0"/>
            </a:lvl1pPr>
          </a:lstStyle>
          <a:p>
            <a:pPr>
              <a:defRPr/>
            </a:pPr>
            <a:endParaRPr lang="en-AU"/>
          </a:p>
        </p:txBody>
      </p:sp>
      <p:sp>
        <p:nvSpPr>
          <p:cNvPr id="16387" name="Rectangle 3"/>
          <p:cNvSpPr>
            <a:spLocks noGrp="1" noChangeArrowheads="1"/>
          </p:cNvSpPr>
          <p:nvPr>
            <p:ph type="dt" idx="1"/>
          </p:nvPr>
        </p:nvSpPr>
        <p:spPr bwMode="auto">
          <a:xfrm>
            <a:off x="3850443" y="0"/>
            <a:ext cx="2945659"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smtClean="0"/>
            </a:lvl1pPr>
          </a:lstStyle>
          <a:p>
            <a:pPr>
              <a:defRPr/>
            </a:pPr>
            <a:fld id="{332CBB68-A411-4F3A-A29A-C0DD2EC1C272}" type="datetime1">
              <a:rPr lang="en-AU"/>
              <a:pPr>
                <a:defRPr/>
              </a:pPr>
              <a:t>18/05/2012</a:t>
            </a:fld>
            <a:endParaRPr lang="en-AU"/>
          </a:p>
        </p:txBody>
      </p:sp>
      <p:sp>
        <p:nvSpPr>
          <p:cNvPr id="59396" name="Rectangle 4"/>
          <p:cNvSpPr>
            <a:spLocks noGrp="1" noRot="1" noChangeAspect="1" noChangeArrowheads="1" noTextEdit="1"/>
          </p:cNvSpPr>
          <p:nvPr>
            <p:ph type="sldImg" idx="2"/>
          </p:nvPr>
        </p:nvSpPr>
        <p:spPr bwMode="auto">
          <a:xfrm>
            <a:off x="931863" y="741363"/>
            <a:ext cx="4933950" cy="3702050"/>
          </a:xfrm>
          <a:prstGeom prst="rect">
            <a:avLst/>
          </a:prstGeom>
          <a:noFill/>
          <a:ln w="9525">
            <a:solidFill>
              <a:srgbClr val="000000"/>
            </a:solidFill>
            <a:miter lim="800000"/>
            <a:headEnd/>
            <a:tailEnd/>
          </a:ln>
        </p:spPr>
      </p:sp>
      <p:sp>
        <p:nvSpPr>
          <p:cNvPr id="16389" name="Rectangle 5"/>
          <p:cNvSpPr>
            <a:spLocks noGrp="1" noChangeArrowheads="1"/>
          </p:cNvSpPr>
          <p:nvPr>
            <p:ph type="body" sz="quarter" idx="3"/>
          </p:nvPr>
        </p:nvSpPr>
        <p:spPr bwMode="auto">
          <a:xfrm>
            <a:off x="679768" y="4690269"/>
            <a:ext cx="5438140" cy="44434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smtClean="0"/>
              <a:t>Click to edit Master text styles</a:t>
            </a:r>
          </a:p>
          <a:p>
            <a:pPr lvl="1"/>
            <a:r>
              <a:rPr lang="en-AU" noProof="0" smtClean="0"/>
              <a:t>Second level</a:t>
            </a:r>
          </a:p>
          <a:p>
            <a:pPr lvl="2"/>
            <a:r>
              <a:rPr lang="en-AU" noProof="0" smtClean="0"/>
              <a:t>Third level</a:t>
            </a:r>
          </a:p>
          <a:p>
            <a:pPr lvl="3"/>
            <a:r>
              <a:rPr lang="en-AU" noProof="0" smtClean="0"/>
              <a:t>Fourth level</a:t>
            </a:r>
          </a:p>
          <a:p>
            <a:pPr lvl="4"/>
            <a:r>
              <a:rPr lang="en-AU" noProof="0" smtClean="0"/>
              <a:t>Fifth level</a:t>
            </a:r>
          </a:p>
        </p:txBody>
      </p:sp>
      <p:sp>
        <p:nvSpPr>
          <p:cNvPr id="16390" name="Rectangle 6"/>
          <p:cNvSpPr>
            <a:spLocks noGrp="1" noChangeArrowheads="1"/>
          </p:cNvSpPr>
          <p:nvPr>
            <p:ph type="ftr" sz="quarter" idx="4"/>
          </p:nvPr>
        </p:nvSpPr>
        <p:spPr bwMode="auto">
          <a:xfrm>
            <a:off x="0" y="9378824"/>
            <a:ext cx="2945659" cy="4937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smtClean="0"/>
            </a:lvl1pPr>
          </a:lstStyle>
          <a:p>
            <a:pPr>
              <a:defRPr/>
            </a:pPr>
            <a:endParaRPr lang="en-AU"/>
          </a:p>
        </p:txBody>
      </p:sp>
      <p:sp>
        <p:nvSpPr>
          <p:cNvPr id="16391" name="Rectangle 7"/>
          <p:cNvSpPr>
            <a:spLocks noGrp="1" noChangeArrowheads="1"/>
          </p:cNvSpPr>
          <p:nvPr>
            <p:ph type="sldNum" sz="quarter" idx="5"/>
          </p:nvPr>
        </p:nvSpPr>
        <p:spPr bwMode="auto">
          <a:xfrm>
            <a:off x="3850443" y="9378824"/>
            <a:ext cx="2945659" cy="4937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smtClean="0"/>
            </a:lvl1pPr>
          </a:lstStyle>
          <a:p>
            <a:pPr>
              <a:defRPr/>
            </a:pPr>
            <a:fld id="{57279AF4-967D-4331-A131-E2063DD0E2EA}" type="slidenum">
              <a:rPr lang="en-AU"/>
              <a:pPr>
                <a:defRPr/>
              </a:pPr>
              <a:t>‹#›</a:t>
            </a:fld>
            <a:endParaRPr lang="en-AU"/>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Calibri" pitchFamily="34" charset="0"/>
        <a:ea typeface="ＭＳ Ｐゴシック" pitchFamily="-109" charset="-128"/>
        <a:cs typeface="+mn-cs"/>
      </a:defRPr>
    </a:lvl1pPr>
    <a:lvl2pPr marL="457200" algn="l" defTabSz="457200" rtl="0" eaLnBrk="0" fontAlgn="base" hangingPunct="0">
      <a:spcBef>
        <a:spcPct val="30000"/>
      </a:spcBef>
      <a:spcAft>
        <a:spcPct val="0"/>
      </a:spcAft>
      <a:defRPr sz="1200" kern="1200">
        <a:solidFill>
          <a:schemeClr val="tx1"/>
        </a:solidFill>
        <a:latin typeface="Calibri" pitchFamily="34" charset="0"/>
        <a:ea typeface="ＭＳ Ｐゴシック" pitchFamily="-109" charset="-128"/>
        <a:cs typeface="+mn-cs"/>
      </a:defRPr>
    </a:lvl2pPr>
    <a:lvl3pPr marL="914400" algn="l" defTabSz="457200" rtl="0" eaLnBrk="0" fontAlgn="base" hangingPunct="0">
      <a:spcBef>
        <a:spcPct val="30000"/>
      </a:spcBef>
      <a:spcAft>
        <a:spcPct val="0"/>
      </a:spcAft>
      <a:defRPr sz="1200" kern="1200">
        <a:solidFill>
          <a:schemeClr val="tx1"/>
        </a:solidFill>
        <a:latin typeface="Calibri" pitchFamily="34" charset="0"/>
        <a:ea typeface="ＭＳ Ｐゴシック" pitchFamily="-109" charset="-128"/>
        <a:cs typeface="+mn-cs"/>
      </a:defRPr>
    </a:lvl3pPr>
    <a:lvl4pPr marL="1371600" algn="l" defTabSz="457200" rtl="0" eaLnBrk="0" fontAlgn="base" hangingPunct="0">
      <a:spcBef>
        <a:spcPct val="30000"/>
      </a:spcBef>
      <a:spcAft>
        <a:spcPct val="0"/>
      </a:spcAft>
      <a:defRPr sz="1200" kern="1200">
        <a:solidFill>
          <a:schemeClr val="tx1"/>
        </a:solidFill>
        <a:latin typeface="Calibri" pitchFamily="34" charset="0"/>
        <a:ea typeface="ＭＳ Ｐゴシック" pitchFamily="-109" charset="-128"/>
        <a:cs typeface="+mn-cs"/>
      </a:defRPr>
    </a:lvl4pPr>
    <a:lvl5pPr marL="1828800" algn="l" defTabSz="457200" rtl="0" eaLnBrk="0" fontAlgn="base" hangingPunct="0">
      <a:spcBef>
        <a:spcPct val="30000"/>
      </a:spcBef>
      <a:spcAft>
        <a:spcPct val="0"/>
      </a:spcAft>
      <a:defRPr sz="1200" kern="1200">
        <a:solidFill>
          <a:schemeClr val="tx1"/>
        </a:solidFill>
        <a:latin typeface="Calibri" pitchFamily="34" charset="0"/>
        <a:ea typeface="ＭＳ Ｐゴシック" pitchFamily="-109"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pPr>
              <a:defRPr/>
            </a:pPr>
            <a:fld id="{57279AF4-967D-4331-A131-E2063DD0E2EA}" type="slidenum">
              <a:rPr lang="en-AU" smtClean="0"/>
              <a:pPr>
                <a:defRPr/>
              </a:pPr>
              <a:t>20</a:t>
            </a:fld>
            <a:endParaRPr lang="en-A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AU"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B3073646-6BD9-4E12-98D3-F5E3EE697DD0}" type="datetime1">
              <a:rPr lang="en-US"/>
              <a:pPr>
                <a:defRPr/>
              </a:pPr>
              <a:t>5/18/2012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FF16CF41-7AF0-48B7-B8AB-8E7B6178E062}" type="slidenum">
              <a:rPr lang="en-US"/>
              <a:pPr>
                <a:defRPr/>
              </a:pPr>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idx="1"/>
          </p:nvPr>
        </p:nvSpPr>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8765F0C4-C886-4C89-834F-9EA0FE8BEA70}" type="datetime1">
              <a:rPr lang="en-US"/>
              <a:pPr>
                <a:defRPr/>
              </a:pPr>
              <a:t>5/18/2012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2E9E7527-BECE-4A80-AE0F-4B83CF45AD97}" type="slidenum">
              <a:rPr lang="en-US"/>
              <a:pPr>
                <a:defRPr/>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AU"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24053480-2051-4535-946C-D3D2662BC814}" type="datetime1">
              <a:rPr lang="en-US"/>
              <a:pPr>
                <a:defRPr/>
              </a:pPr>
              <a:t>5/18/2012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64176199-BDDE-41F4-997D-F590E799ECF2}" type="slidenum">
              <a:rPr lang="en-US"/>
              <a:pPr>
                <a:defRPr/>
              </a:pPr>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7BC13613-D9CA-4DF0-BA11-2D1880A02D34}" type="datetime1">
              <a:rPr lang="en-US"/>
              <a:pPr>
                <a:defRPr/>
              </a:pPr>
              <a:t>5/18/2012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AU"/>
          </a:p>
        </p:txBody>
      </p:sp>
      <p:sp>
        <p:nvSpPr>
          <p:cNvPr id="7" name="Slide Number Placeholder 5"/>
          <p:cNvSpPr>
            <a:spLocks noGrp="1"/>
          </p:cNvSpPr>
          <p:nvPr>
            <p:ph type="sldNum" sz="quarter" idx="12"/>
          </p:nvPr>
        </p:nvSpPr>
        <p:spPr/>
        <p:txBody>
          <a:bodyPr/>
          <a:lstStyle>
            <a:lvl1pPr>
              <a:defRPr/>
            </a:lvl1pPr>
          </a:lstStyle>
          <a:p>
            <a:pPr>
              <a:defRPr/>
            </a:pPr>
            <a:fld id="{B5999849-F734-42BD-9D10-59C9F57CF86F}" type="slidenum">
              <a:rPr lang="en-US"/>
              <a:pPr>
                <a:defRPr/>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AU"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E71174B0-379B-4B2F-AC5F-F690E9091D46}" type="datetime1">
              <a:rPr lang="en-US"/>
              <a:pPr>
                <a:defRPr/>
              </a:pPr>
              <a:t>5/18/2012</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AU"/>
          </a:p>
        </p:txBody>
      </p:sp>
      <p:sp>
        <p:nvSpPr>
          <p:cNvPr id="9" name="Slide Number Placeholder 5"/>
          <p:cNvSpPr>
            <a:spLocks noGrp="1"/>
          </p:cNvSpPr>
          <p:nvPr>
            <p:ph type="sldNum" sz="quarter" idx="12"/>
          </p:nvPr>
        </p:nvSpPr>
        <p:spPr/>
        <p:txBody>
          <a:bodyPr/>
          <a:lstStyle>
            <a:lvl1pPr>
              <a:defRPr/>
            </a:lvl1pPr>
          </a:lstStyle>
          <a:p>
            <a:pPr>
              <a:defRPr/>
            </a:pPr>
            <a:fld id="{7ED90BDA-D402-492A-9581-3203D77E1ED7}" type="slidenum">
              <a:rPr lang="en-US"/>
              <a:pPr>
                <a:defRPr/>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25BC37FC-BE9B-45E1-A7A0-2C835C4A9B35}" type="datetime1">
              <a:rPr lang="en-US"/>
              <a:pPr>
                <a:defRPr/>
              </a:pPr>
              <a:t>5/18/2012</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AU"/>
          </a:p>
        </p:txBody>
      </p:sp>
      <p:sp>
        <p:nvSpPr>
          <p:cNvPr id="5" name="Slide Number Placeholder 5"/>
          <p:cNvSpPr>
            <a:spLocks noGrp="1"/>
          </p:cNvSpPr>
          <p:nvPr>
            <p:ph type="sldNum" sz="quarter" idx="12"/>
          </p:nvPr>
        </p:nvSpPr>
        <p:spPr/>
        <p:txBody>
          <a:bodyPr/>
          <a:lstStyle>
            <a:lvl1pPr>
              <a:defRPr/>
            </a:lvl1pPr>
          </a:lstStyle>
          <a:p>
            <a:pPr>
              <a:defRPr/>
            </a:pPr>
            <a:fld id="{C8EF0814-FBDB-4967-89B0-CB37A0F7141F}" type="slidenum">
              <a:rPr lang="en-US"/>
              <a:pPr>
                <a:defRPr/>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20F5078-53A1-405F-858F-DB5E613C6C88}" type="datetime1">
              <a:rPr lang="en-US"/>
              <a:pPr>
                <a:defRPr/>
              </a:pPr>
              <a:t>5/18/2012</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AU"/>
          </a:p>
        </p:txBody>
      </p:sp>
      <p:sp>
        <p:nvSpPr>
          <p:cNvPr id="4" name="Slide Number Placeholder 5"/>
          <p:cNvSpPr>
            <a:spLocks noGrp="1"/>
          </p:cNvSpPr>
          <p:nvPr>
            <p:ph type="sldNum" sz="quarter" idx="12"/>
          </p:nvPr>
        </p:nvSpPr>
        <p:spPr/>
        <p:txBody>
          <a:bodyPr/>
          <a:lstStyle>
            <a:lvl1pPr>
              <a:defRPr/>
            </a:lvl1pPr>
          </a:lstStyle>
          <a:p>
            <a:pPr>
              <a:defRPr/>
            </a:pPr>
            <a:fld id="{1DEEECB2-7B09-47B5-8265-ABD11D352E97}" type="slidenum">
              <a:rPr lang="en-US"/>
              <a:pPr>
                <a:defRPr/>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AU"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F2FC02CD-8A79-4D3F-985F-C12E939FCDA9}" type="datetime1">
              <a:rPr lang="en-US"/>
              <a:pPr>
                <a:defRPr/>
              </a:pPr>
              <a:t>5/18/2012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AU"/>
          </a:p>
        </p:txBody>
      </p:sp>
      <p:sp>
        <p:nvSpPr>
          <p:cNvPr id="7" name="Slide Number Placeholder 5"/>
          <p:cNvSpPr>
            <a:spLocks noGrp="1"/>
          </p:cNvSpPr>
          <p:nvPr>
            <p:ph type="sldNum" sz="quarter" idx="12"/>
          </p:nvPr>
        </p:nvSpPr>
        <p:spPr/>
        <p:txBody>
          <a:bodyPr/>
          <a:lstStyle>
            <a:lvl1pPr>
              <a:defRPr/>
            </a:lvl1pPr>
          </a:lstStyle>
          <a:p>
            <a:pPr>
              <a:defRPr/>
            </a:pPr>
            <a:fld id="{5DF63175-5742-4FE8-B75D-B7B1C9C2CEF7}" type="slidenum">
              <a:rPr lang="en-US"/>
              <a:pPr>
                <a:defRPr/>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D51172F6-1FCF-4FFA-A360-E4AEC9569479}" type="datetime1">
              <a:rPr lang="en-US"/>
              <a:pPr>
                <a:defRPr/>
              </a:pPr>
              <a:t>5/18/2012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AU"/>
          </a:p>
        </p:txBody>
      </p:sp>
      <p:sp>
        <p:nvSpPr>
          <p:cNvPr id="7" name="Slide Number Placeholder 5"/>
          <p:cNvSpPr>
            <a:spLocks noGrp="1"/>
          </p:cNvSpPr>
          <p:nvPr>
            <p:ph type="sldNum" sz="quarter" idx="12"/>
          </p:nvPr>
        </p:nvSpPr>
        <p:spPr/>
        <p:txBody>
          <a:bodyPr/>
          <a:lstStyle>
            <a:lvl1pPr>
              <a:defRPr/>
            </a:lvl1pPr>
          </a:lstStyle>
          <a:p>
            <a:pPr>
              <a:defRPr/>
            </a:pPr>
            <a:fld id="{35B32F09-1F06-48AC-B6F4-8583A89C50FE}" type="slidenum">
              <a:rPr lang="en-US"/>
              <a:pPr>
                <a:defRPr/>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3F7365BE-D772-41F5-8C75-1C83565230EB}" type="datetime1">
              <a:rPr lang="en-US"/>
              <a:pPr>
                <a:defRPr/>
              </a:pPr>
              <a:t>5/18/2012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68AD2B38-4ED0-4E4E-A52E-C4E07052D619}" type="slidenum">
              <a:rPr lang="en-US"/>
              <a:pPr>
                <a:defRPr/>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AU"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8A93F392-B25A-41C3-82EA-88788C38B045}" type="datetime1">
              <a:rPr lang="en-US"/>
              <a:pPr>
                <a:defRPr/>
              </a:pPr>
              <a:t>5/18/2012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2DB01C5D-A679-49AC-95BC-54286F5ECA62}" type="slidenum">
              <a:rPr lang="en-US"/>
              <a:pPr>
                <a:defRPr/>
              </a:pPr>
              <a:t>‹#›</a:t>
            </a:fld>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AU"/>
          </a:p>
        </p:txBody>
      </p:sp>
      <p:sp>
        <p:nvSpPr>
          <p:cNvPr id="3" name="Table Placeholder 2"/>
          <p:cNvSpPr>
            <a:spLocks noGrp="1"/>
          </p:cNvSpPr>
          <p:nvPr>
            <p:ph type="tbl" idx="1"/>
          </p:nvPr>
        </p:nvSpPr>
        <p:spPr>
          <a:xfrm>
            <a:off x="457200" y="1600200"/>
            <a:ext cx="8229600" cy="4525963"/>
          </a:xfrm>
        </p:spPr>
        <p:txBody>
          <a:bodyPr/>
          <a:lstStyle/>
          <a:p>
            <a:pPr lvl="0"/>
            <a:endParaRPr lang="en-AU" noProof="0"/>
          </a:p>
        </p:txBody>
      </p:sp>
      <p:sp>
        <p:nvSpPr>
          <p:cNvPr id="4" name="Date Placeholder 3"/>
          <p:cNvSpPr>
            <a:spLocks noGrp="1"/>
          </p:cNvSpPr>
          <p:nvPr>
            <p:ph type="dt" sz="half" idx="10"/>
          </p:nvPr>
        </p:nvSpPr>
        <p:spPr/>
        <p:txBody>
          <a:bodyPr/>
          <a:lstStyle>
            <a:lvl1pPr>
              <a:defRPr/>
            </a:lvl1pPr>
          </a:lstStyle>
          <a:p>
            <a:pPr>
              <a:defRPr/>
            </a:pPr>
            <a:fld id="{C35227C6-BE7E-467E-8E62-3D1E10A4FFB0}" type="datetime1">
              <a:rPr lang="en-US"/>
              <a:pPr>
                <a:defRPr/>
              </a:pPr>
              <a:t>5/18/2012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C8C8826E-CD24-46F1-989D-3A731B12DCD7}" type="slidenum">
              <a:rPr lang="en-US"/>
              <a:pPr>
                <a:defRPr/>
              </a:pPr>
              <a:t>‹#›</a:t>
            </a:fld>
            <a:endParaRPr 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AU"/>
          </a:p>
        </p:txBody>
      </p:sp>
      <p:sp>
        <p:nvSpPr>
          <p:cNvPr id="3" name="Chart Placeholder 2"/>
          <p:cNvSpPr>
            <a:spLocks noGrp="1"/>
          </p:cNvSpPr>
          <p:nvPr>
            <p:ph type="chart" idx="1"/>
          </p:nvPr>
        </p:nvSpPr>
        <p:spPr>
          <a:xfrm>
            <a:off x="457200" y="1600200"/>
            <a:ext cx="8229600" cy="4525963"/>
          </a:xfrm>
        </p:spPr>
        <p:txBody>
          <a:bodyPr/>
          <a:lstStyle/>
          <a:p>
            <a:pPr lvl="0"/>
            <a:endParaRPr lang="en-AU" noProof="0"/>
          </a:p>
        </p:txBody>
      </p:sp>
      <p:sp>
        <p:nvSpPr>
          <p:cNvPr id="4" name="Date Placeholder 3"/>
          <p:cNvSpPr>
            <a:spLocks noGrp="1"/>
          </p:cNvSpPr>
          <p:nvPr>
            <p:ph type="dt" sz="half" idx="10"/>
          </p:nvPr>
        </p:nvSpPr>
        <p:spPr/>
        <p:txBody>
          <a:bodyPr/>
          <a:lstStyle>
            <a:lvl1pPr>
              <a:defRPr/>
            </a:lvl1pPr>
          </a:lstStyle>
          <a:p>
            <a:pPr>
              <a:defRPr/>
            </a:pPr>
            <a:fld id="{8428297A-048C-4866-9384-1A37533F842C}" type="datetime1">
              <a:rPr lang="en-US"/>
              <a:pPr>
                <a:defRPr/>
              </a:pPr>
              <a:t>5/18/2012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071B3E2D-2D7C-4A73-AFEA-8ADFBE7BB18B}" type="slidenum">
              <a:rPr lang="en-US"/>
              <a:pPr>
                <a:defRPr/>
              </a:pPr>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3314"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AU" smtClean="0"/>
              <a:t>Click to edit Master title style</a:t>
            </a:r>
            <a:endParaRPr lang="en-US" smtClean="0"/>
          </a:p>
        </p:txBody>
      </p:sp>
      <p:sp>
        <p:nvSpPr>
          <p:cNvPr id="13315"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smtClean="0">
                <a:solidFill>
                  <a:srgbClr val="8998B0"/>
                </a:solidFill>
              </a:defRPr>
            </a:lvl1pPr>
          </a:lstStyle>
          <a:p>
            <a:pPr>
              <a:defRPr/>
            </a:pPr>
            <a:fld id="{C407D03E-50AC-4992-9A48-45EC052EDA73}" type="datetime1">
              <a:rPr lang="en-US"/>
              <a:pPr>
                <a:defRPr/>
              </a:pPr>
              <a:t>5/18/2012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smtClean="0">
                <a:solidFill>
                  <a:srgbClr val="8998B0"/>
                </a:solidFill>
              </a:defRPr>
            </a:lvl1pPr>
          </a:lstStyle>
          <a:p>
            <a:pPr>
              <a:defRPr/>
            </a:pPr>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smtClean="0">
                <a:solidFill>
                  <a:srgbClr val="8998B0"/>
                </a:solidFill>
              </a:defRPr>
            </a:lvl1pPr>
          </a:lstStyle>
          <a:p>
            <a:pPr>
              <a:defRPr/>
            </a:pPr>
            <a:fld id="{576C9C52-FAB9-4B85-B962-FBCE9E7513BB}"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txStyles>
    <p:titleStyle>
      <a:lvl1pPr algn="ctr" defTabSz="457200" rtl="0" eaLnBrk="0" fontAlgn="base" hangingPunct="0">
        <a:spcBef>
          <a:spcPct val="0"/>
        </a:spcBef>
        <a:spcAft>
          <a:spcPct val="0"/>
        </a:spcAft>
        <a:defRPr sz="4400" kern="1200">
          <a:solidFill>
            <a:schemeClr val="tx1"/>
          </a:solidFill>
          <a:latin typeface="+mj-lt"/>
          <a:ea typeface="ＭＳ Ｐゴシック" pitchFamily="-109" charset="-128"/>
          <a:cs typeface="ＭＳ Ｐゴシック" pitchFamily="-109" charset="-128"/>
        </a:defRPr>
      </a:lvl1pPr>
      <a:lvl2pPr algn="ctr" defTabSz="457200" rtl="0" eaLnBrk="0" fontAlgn="base" hangingPunct="0">
        <a:spcBef>
          <a:spcPct val="0"/>
        </a:spcBef>
        <a:spcAft>
          <a:spcPct val="0"/>
        </a:spcAft>
        <a:defRPr sz="4400">
          <a:solidFill>
            <a:schemeClr val="tx1"/>
          </a:solidFill>
          <a:latin typeface="Arial" charset="0"/>
          <a:ea typeface="ＭＳ Ｐゴシック" pitchFamily="-109" charset="-128"/>
          <a:cs typeface="ＭＳ Ｐゴシック" pitchFamily="-109" charset="-128"/>
        </a:defRPr>
      </a:lvl2pPr>
      <a:lvl3pPr algn="ctr" defTabSz="457200" rtl="0" eaLnBrk="0" fontAlgn="base" hangingPunct="0">
        <a:spcBef>
          <a:spcPct val="0"/>
        </a:spcBef>
        <a:spcAft>
          <a:spcPct val="0"/>
        </a:spcAft>
        <a:defRPr sz="4400">
          <a:solidFill>
            <a:schemeClr val="tx1"/>
          </a:solidFill>
          <a:latin typeface="Arial" charset="0"/>
          <a:ea typeface="ＭＳ Ｐゴシック" pitchFamily="-109" charset="-128"/>
          <a:cs typeface="ＭＳ Ｐゴシック" pitchFamily="-109" charset="-128"/>
        </a:defRPr>
      </a:lvl3pPr>
      <a:lvl4pPr algn="ctr" defTabSz="457200" rtl="0" eaLnBrk="0" fontAlgn="base" hangingPunct="0">
        <a:spcBef>
          <a:spcPct val="0"/>
        </a:spcBef>
        <a:spcAft>
          <a:spcPct val="0"/>
        </a:spcAft>
        <a:defRPr sz="4400">
          <a:solidFill>
            <a:schemeClr val="tx1"/>
          </a:solidFill>
          <a:latin typeface="Arial" charset="0"/>
          <a:ea typeface="ＭＳ Ｐゴシック" pitchFamily="-109" charset="-128"/>
          <a:cs typeface="ＭＳ Ｐゴシック" pitchFamily="-109" charset="-128"/>
        </a:defRPr>
      </a:lvl4pPr>
      <a:lvl5pPr algn="ctr" defTabSz="457200" rtl="0" eaLnBrk="0" fontAlgn="base" hangingPunct="0">
        <a:spcBef>
          <a:spcPct val="0"/>
        </a:spcBef>
        <a:spcAft>
          <a:spcPct val="0"/>
        </a:spcAft>
        <a:defRPr sz="4400">
          <a:solidFill>
            <a:schemeClr val="tx1"/>
          </a:solidFill>
          <a:latin typeface="Arial" charset="0"/>
          <a:ea typeface="ＭＳ Ｐゴシック" pitchFamily="-109" charset="-128"/>
          <a:cs typeface="ＭＳ Ｐゴシック" pitchFamily="-109" charset="-128"/>
        </a:defRPr>
      </a:lvl5pPr>
      <a:lvl6pPr marL="457200" algn="ctr" defTabSz="457200" rtl="0" fontAlgn="base">
        <a:spcBef>
          <a:spcPct val="0"/>
        </a:spcBef>
        <a:spcAft>
          <a:spcPct val="0"/>
        </a:spcAft>
        <a:defRPr sz="4400">
          <a:solidFill>
            <a:schemeClr val="tx1"/>
          </a:solidFill>
          <a:latin typeface="Calibri" pitchFamily="-109" charset="0"/>
          <a:ea typeface="ＭＳ Ｐゴシック" pitchFamily="-109" charset="-128"/>
          <a:cs typeface="ＭＳ Ｐゴシック" pitchFamily="-109" charset="-128"/>
        </a:defRPr>
      </a:lvl6pPr>
      <a:lvl7pPr marL="914400" algn="ctr" defTabSz="457200" rtl="0" fontAlgn="base">
        <a:spcBef>
          <a:spcPct val="0"/>
        </a:spcBef>
        <a:spcAft>
          <a:spcPct val="0"/>
        </a:spcAft>
        <a:defRPr sz="4400">
          <a:solidFill>
            <a:schemeClr val="tx1"/>
          </a:solidFill>
          <a:latin typeface="Calibri" pitchFamily="-109" charset="0"/>
          <a:ea typeface="ＭＳ Ｐゴシック" pitchFamily="-109" charset="-128"/>
          <a:cs typeface="ＭＳ Ｐゴシック" pitchFamily="-109" charset="-128"/>
        </a:defRPr>
      </a:lvl7pPr>
      <a:lvl8pPr marL="1371600" algn="ctr" defTabSz="457200" rtl="0" fontAlgn="base">
        <a:spcBef>
          <a:spcPct val="0"/>
        </a:spcBef>
        <a:spcAft>
          <a:spcPct val="0"/>
        </a:spcAft>
        <a:defRPr sz="4400">
          <a:solidFill>
            <a:schemeClr val="tx1"/>
          </a:solidFill>
          <a:latin typeface="Calibri" pitchFamily="-109" charset="0"/>
          <a:ea typeface="ＭＳ Ｐゴシック" pitchFamily="-109" charset="-128"/>
          <a:cs typeface="ＭＳ Ｐゴシック" pitchFamily="-109" charset="-128"/>
        </a:defRPr>
      </a:lvl8pPr>
      <a:lvl9pPr marL="1828800" algn="ctr" defTabSz="457200" rtl="0" fontAlgn="base">
        <a:spcBef>
          <a:spcPct val="0"/>
        </a:spcBef>
        <a:spcAft>
          <a:spcPct val="0"/>
        </a:spcAft>
        <a:defRPr sz="4400">
          <a:solidFill>
            <a:schemeClr val="tx1"/>
          </a:solidFill>
          <a:latin typeface="Calibri" pitchFamily="-109" charset="0"/>
          <a:ea typeface="ＭＳ Ｐゴシック" pitchFamily="-109" charset="-128"/>
          <a:cs typeface="ＭＳ Ｐゴシック" pitchFamily="-109" charset="-128"/>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pitchFamily="-109" charset="-128"/>
          <a:cs typeface="ＭＳ Ｐゴシック" pitchFamily="-109"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pitchFamily="-109" charset="-128"/>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pitchFamily="-109" charset="-128"/>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pitchFamily="-109"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pitchFamily="-109"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4338" name="Rectangle 4"/>
          <p:cNvSpPr>
            <a:spLocks noChangeArrowheads="1"/>
          </p:cNvSpPr>
          <p:nvPr/>
        </p:nvSpPr>
        <p:spPr bwMode="auto">
          <a:xfrm>
            <a:off x="251520" y="2996952"/>
            <a:ext cx="8640960" cy="1512118"/>
          </a:xfrm>
          <a:prstGeom prst="rect">
            <a:avLst/>
          </a:prstGeom>
          <a:noFill/>
          <a:ln w="9525">
            <a:noFill/>
            <a:miter lim="800000"/>
            <a:headEnd/>
            <a:tailEnd/>
          </a:ln>
        </p:spPr>
        <p:txBody>
          <a:bodyPr anchor="ctr"/>
          <a:lstStyle/>
          <a:p>
            <a:r>
              <a:rPr lang="en-US" sz="3200" dirty="0" smtClean="0"/>
              <a:t>The Role of Cultural Beliefs in Contributing to Risky Road Use Behaviour in </a:t>
            </a:r>
            <a:r>
              <a:rPr lang="en-AU" sz="3200" dirty="0" smtClean="0"/>
              <a:t>Pakistan</a:t>
            </a:r>
            <a:endParaRPr lang="en-AU" sz="1000" dirty="0" smtClean="0">
              <a:solidFill>
                <a:schemeClr val="tx2"/>
              </a:solidFill>
              <a:latin typeface="+mj-lt"/>
            </a:endParaRPr>
          </a:p>
          <a:p>
            <a:pPr eaLnBrk="0" hangingPunct="0">
              <a:tabLst>
                <a:tab pos="2070000" algn="l"/>
              </a:tabLst>
            </a:pPr>
            <a:endParaRPr lang="en-AU" sz="2200" dirty="0" smtClean="0">
              <a:solidFill>
                <a:schemeClr val="tx2"/>
              </a:solidFill>
              <a:latin typeface="+mj-lt"/>
            </a:endParaRPr>
          </a:p>
          <a:p>
            <a:pPr eaLnBrk="0" hangingPunct="0">
              <a:tabLst>
                <a:tab pos="2070000" algn="l"/>
              </a:tabLst>
            </a:pPr>
            <a:r>
              <a:rPr lang="en-AU" sz="2200" dirty="0" smtClean="0">
                <a:solidFill>
                  <a:srgbClr val="005287"/>
                </a:solidFill>
                <a:latin typeface="+mj-lt"/>
              </a:rPr>
              <a:t>Ahsan Kayani, Mark King and Judy Fleiter, CARRS-Q</a:t>
            </a:r>
            <a:endParaRPr lang="en-AU" sz="2200" b="1" dirty="0">
              <a:solidFill>
                <a:srgbClr val="005287"/>
              </a:solidFill>
              <a:latin typeface="+mj-lt"/>
            </a:endParaRPr>
          </a:p>
        </p:txBody>
      </p:sp>
      <p:sp>
        <p:nvSpPr>
          <p:cNvPr id="13317" name="Rectangle 5"/>
          <p:cNvSpPr>
            <a:spLocks noChangeArrowheads="1"/>
          </p:cNvSpPr>
          <p:nvPr/>
        </p:nvSpPr>
        <p:spPr bwMode="auto">
          <a:xfrm>
            <a:off x="251520" y="4797152"/>
            <a:ext cx="8424936" cy="849312"/>
          </a:xfrm>
          <a:prstGeom prst="rect">
            <a:avLst/>
          </a:prstGeom>
          <a:noFill/>
          <a:ln w="9525">
            <a:noFill/>
            <a:miter lim="800000"/>
            <a:headEnd/>
            <a:tailEnd/>
          </a:ln>
          <a:effectLst/>
        </p:spPr>
        <p:txBody>
          <a:bodyPr anchor="ctr"/>
          <a:lstStyle/>
          <a:p>
            <a:pPr defTabSz="914400">
              <a:defRPr/>
            </a:pPr>
            <a:r>
              <a:rPr lang="en-US" dirty="0" smtClean="0">
                <a:solidFill>
                  <a:schemeClr val="tx2"/>
                </a:solidFill>
                <a:latin typeface="+mj-lt"/>
              </a:rPr>
              <a:t>10th National Conference on Injury Prevention and Safety Promotion</a:t>
            </a:r>
          </a:p>
          <a:p>
            <a:pPr defTabSz="914400">
              <a:defRPr/>
            </a:pPr>
            <a:r>
              <a:rPr lang="en-US" dirty="0" smtClean="0">
                <a:solidFill>
                  <a:schemeClr val="tx2"/>
                </a:solidFill>
                <a:latin typeface="+mj-lt"/>
              </a:rPr>
              <a:t>Brisbane Convention and Exhibition Centre</a:t>
            </a:r>
          </a:p>
          <a:p>
            <a:pPr defTabSz="914400">
              <a:defRPr/>
            </a:pPr>
            <a:r>
              <a:rPr lang="en-AU" dirty="0" smtClean="0">
                <a:solidFill>
                  <a:schemeClr val="tx2"/>
                </a:solidFill>
                <a:latin typeface="+mj-lt"/>
              </a:rPr>
              <a:t>2</a:t>
            </a:r>
            <a:r>
              <a:rPr lang="en-AU" baseline="30000" dirty="0" smtClean="0">
                <a:solidFill>
                  <a:schemeClr val="tx2"/>
                </a:solidFill>
                <a:latin typeface="+mj-lt"/>
              </a:rPr>
              <a:t>nd</a:t>
            </a:r>
            <a:r>
              <a:rPr lang="en-AU" dirty="0" smtClean="0">
                <a:solidFill>
                  <a:schemeClr val="tx2"/>
                </a:solidFill>
                <a:latin typeface="+mj-lt"/>
              </a:rPr>
              <a:t>-4</a:t>
            </a:r>
            <a:r>
              <a:rPr lang="en-AU" baseline="30000" dirty="0" smtClean="0">
                <a:solidFill>
                  <a:schemeClr val="tx2"/>
                </a:solidFill>
                <a:latin typeface="+mj-lt"/>
              </a:rPr>
              <a:t>th</a:t>
            </a:r>
            <a:r>
              <a:rPr lang="en-AU" dirty="0" smtClean="0">
                <a:solidFill>
                  <a:schemeClr val="tx2"/>
                </a:solidFill>
                <a:latin typeface="+mj-lt"/>
              </a:rPr>
              <a:t> November 2011</a:t>
            </a:r>
          </a:p>
          <a:p>
            <a:pPr algn="ctr" defTabSz="914400">
              <a:defRPr/>
            </a:pPr>
            <a:endParaRPr lang="en-AU" sz="1000" b="1" dirty="0">
              <a:solidFill>
                <a:schemeClr val="tx2"/>
              </a:solidFill>
              <a:latin typeface="Trebuchet MS" pitchFamily="34" charset="0"/>
            </a:endParaRPr>
          </a:p>
        </p:txBody>
      </p:sp>
      <p:sp>
        <p:nvSpPr>
          <p:cNvPr id="14340" name="TextBox 3"/>
          <p:cNvSpPr txBox="1">
            <a:spLocks noChangeArrowheads="1"/>
          </p:cNvSpPr>
          <p:nvPr/>
        </p:nvSpPr>
        <p:spPr bwMode="auto">
          <a:xfrm>
            <a:off x="7429500" y="6611938"/>
            <a:ext cx="1714500" cy="246062"/>
          </a:xfrm>
          <a:prstGeom prst="rect">
            <a:avLst/>
          </a:prstGeom>
          <a:noFill/>
          <a:ln w="9525">
            <a:noFill/>
            <a:miter lim="800000"/>
            <a:headEnd/>
            <a:tailEnd/>
          </a:ln>
        </p:spPr>
        <p:txBody>
          <a:bodyPr>
            <a:spAutoFit/>
          </a:bodyPr>
          <a:lstStyle/>
          <a:p>
            <a:r>
              <a:rPr lang="en-AU" sz="1000">
                <a:solidFill>
                  <a:schemeClr val="bg1"/>
                </a:solidFill>
              </a:rPr>
              <a:t>CRICOS No. 00213J</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Overview</a:t>
            </a:r>
            <a:endParaRPr lang="en-AU" dirty="0"/>
          </a:p>
        </p:txBody>
      </p:sp>
      <p:sp>
        <p:nvSpPr>
          <p:cNvPr id="3" name="Content Placeholder 2"/>
          <p:cNvSpPr>
            <a:spLocks noGrp="1"/>
          </p:cNvSpPr>
          <p:nvPr>
            <p:ph idx="1"/>
          </p:nvPr>
        </p:nvSpPr>
        <p:spPr>
          <a:xfrm>
            <a:off x="457200" y="1417638"/>
            <a:ext cx="8229600" cy="4708525"/>
          </a:xfrm>
        </p:spPr>
        <p:txBody>
          <a:bodyPr/>
          <a:lstStyle/>
          <a:p>
            <a:r>
              <a:rPr lang="en-AU" dirty="0" smtClean="0"/>
              <a:t>Road crash statistics for Pakistan</a:t>
            </a:r>
          </a:p>
          <a:p>
            <a:r>
              <a:rPr lang="en-AU" dirty="0" smtClean="0"/>
              <a:t>Role of beliefs in risky road use</a:t>
            </a:r>
          </a:p>
          <a:p>
            <a:r>
              <a:rPr lang="en-AU" dirty="0" smtClean="0"/>
              <a:t>Description of research</a:t>
            </a:r>
          </a:p>
          <a:p>
            <a:r>
              <a:rPr lang="en-AU" dirty="0" smtClean="0"/>
              <a:t>Main findings:</a:t>
            </a:r>
          </a:p>
          <a:p>
            <a:pPr lvl="1"/>
            <a:r>
              <a:rPr lang="en-AU" dirty="0" smtClean="0"/>
              <a:t>Fatalism</a:t>
            </a:r>
          </a:p>
          <a:p>
            <a:pPr lvl="1"/>
            <a:r>
              <a:rPr lang="en-AU" dirty="0" smtClean="0"/>
              <a:t>Superstition</a:t>
            </a:r>
          </a:p>
          <a:p>
            <a:pPr lvl="1"/>
            <a:r>
              <a:rPr lang="en-AU" dirty="0" smtClean="0"/>
              <a:t>Popular conceptions of religion</a:t>
            </a:r>
          </a:p>
          <a:p>
            <a:pPr lvl="1"/>
            <a:r>
              <a:rPr lang="en-AU" dirty="0" smtClean="0"/>
              <a:t>Influences on prevention, behaviour &amp;practice</a:t>
            </a:r>
          </a:p>
          <a:p>
            <a:r>
              <a:rPr lang="en-AU" dirty="0" smtClean="0"/>
              <a:t>Implications</a:t>
            </a:r>
            <a:endParaRPr lang="en-AU"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51521" y="274638"/>
            <a:ext cx="8712967" cy="1143000"/>
          </a:xfrm>
        </p:spPr>
        <p:txBody>
          <a:bodyPr/>
          <a:lstStyle/>
          <a:p>
            <a:r>
              <a:rPr lang="en-US" sz="2400" dirty="0" smtClean="0"/>
              <a:t>South Asian countries vs Australia, 2007: estimated fatalities, population and fatality rate per 100,000 population</a:t>
            </a:r>
            <a:endParaRPr lang="en-AU" sz="2400" dirty="0"/>
          </a:p>
        </p:txBody>
      </p:sp>
      <p:graphicFrame>
        <p:nvGraphicFramePr>
          <p:cNvPr id="5" name="Table 4"/>
          <p:cNvGraphicFramePr>
            <a:graphicFrameLocks noGrp="1"/>
          </p:cNvGraphicFramePr>
          <p:nvPr/>
        </p:nvGraphicFramePr>
        <p:xfrm>
          <a:off x="251521" y="1700811"/>
          <a:ext cx="8712967" cy="4248467"/>
        </p:xfrm>
        <a:graphic>
          <a:graphicData uri="http://schemas.openxmlformats.org/drawingml/2006/table">
            <a:tbl>
              <a:tblPr/>
              <a:tblGrid>
                <a:gridCol w="2177578"/>
                <a:gridCol w="2178463"/>
                <a:gridCol w="2178463"/>
                <a:gridCol w="2178463"/>
              </a:tblGrid>
              <a:tr h="784333">
                <a:tc>
                  <a:txBody>
                    <a:bodyPr/>
                    <a:lstStyle/>
                    <a:p>
                      <a:pPr algn="ctr">
                        <a:spcAft>
                          <a:spcPts val="0"/>
                        </a:spcAft>
                      </a:pPr>
                      <a:r>
                        <a:rPr lang="en-GB" sz="1800" b="1" dirty="0">
                          <a:latin typeface="Times New Roman"/>
                          <a:ea typeface="Times New Roman"/>
                          <a:cs typeface="Times New Roman"/>
                        </a:rPr>
                        <a:t>Country</a:t>
                      </a:r>
                      <a:endParaRPr lang="en-AU" sz="1800" dirty="0">
                        <a:latin typeface="Arial"/>
                        <a:ea typeface="Times New Roman"/>
                        <a:cs typeface="Times New Roman"/>
                      </a:endParaRPr>
                    </a:p>
                  </a:txBody>
                  <a:tcPr marL="66805" marR="66805" marT="0" marB="0">
                    <a:lnL>
                      <a:noFill/>
                    </a:lnL>
                    <a:lnR>
                      <a:noFill/>
                    </a:lnR>
                    <a:lnT w="12700" cap="flat" cmpd="sng" algn="ctr">
                      <a:solidFill>
                        <a:srgbClr val="000000"/>
                      </a:solidFill>
                      <a:prstDash val="solid"/>
                      <a:round/>
                      <a:headEnd type="none" w="med" len="med"/>
                      <a:tailEnd type="none" w="med" len="med"/>
                    </a:lnT>
                    <a:lnB w="12700" cap="flat" cmpd="sng" algn="ctr">
                      <a:solidFill>
                        <a:srgbClr val="008000"/>
                      </a:solidFill>
                      <a:prstDash val="solid"/>
                      <a:round/>
                      <a:headEnd type="none" w="med" len="med"/>
                      <a:tailEnd type="none" w="med" len="med"/>
                    </a:lnB>
                  </a:tcPr>
                </a:tc>
                <a:tc>
                  <a:txBody>
                    <a:bodyPr/>
                    <a:lstStyle/>
                    <a:p>
                      <a:pPr algn="ctr">
                        <a:spcAft>
                          <a:spcPts val="0"/>
                        </a:spcAft>
                      </a:pPr>
                      <a:r>
                        <a:rPr lang="en-GB" sz="1800" b="1">
                          <a:latin typeface="Times New Roman"/>
                          <a:ea typeface="Times New Roman"/>
                          <a:cs typeface="Times New Roman"/>
                        </a:rPr>
                        <a:t>Estimated road crash fatalities 2007</a:t>
                      </a:r>
                      <a:endParaRPr lang="en-AU" sz="1800">
                        <a:latin typeface="Arial"/>
                        <a:ea typeface="Times New Roman"/>
                        <a:cs typeface="Times New Roman"/>
                      </a:endParaRPr>
                    </a:p>
                  </a:txBody>
                  <a:tcPr marL="66805" marR="66805" marT="0" marB="0">
                    <a:lnL>
                      <a:noFill/>
                    </a:lnL>
                    <a:lnR>
                      <a:noFill/>
                    </a:lnR>
                    <a:lnT w="12700" cap="flat" cmpd="sng" algn="ctr">
                      <a:solidFill>
                        <a:srgbClr val="000000"/>
                      </a:solidFill>
                      <a:prstDash val="solid"/>
                      <a:round/>
                      <a:headEnd type="none" w="med" len="med"/>
                      <a:tailEnd type="none" w="med" len="med"/>
                    </a:lnT>
                    <a:lnB w="12700" cap="flat" cmpd="sng" algn="ctr">
                      <a:solidFill>
                        <a:srgbClr val="008000"/>
                      </a:solidFill>
                      <a:prstDash val="solid"/>
                      <a:round/>
                      <a:headEnd type="none" w="med" len="med"/>
                      <a:tailEnd type="none" w="med" len="med"/>
                    </a:lnB>
                  </a:tcPr>
                </a:tc>
                <a:tc>
                  <a:txBody>
                    <a:bodyPr/>
                    <a:lstStyle/>
                    <a:p>
                      <a:pPr algn="ctr">
                        <a:spcAft>
                          <a:spcPts val="0"/>
                        </a:spcAft>
                      </a:pPr>
                      <a:r>
                        <a:rPr lang="en-GB" sz="1800" b="1">
                          <a:latin typeface="Times New Roman"/>
                          <a:ea typeface="Times New Roman"/>
                          <a:cs typeface="Times New Roman"/>
                        </a:rPr>
                        <a:t>Population 2007</a:t>
                      </a:r>
                      <a:endParaRPr lang="en-AU" sz="1800">
                        <a:latin typeface="Arial"/>
                        <a:ea typeface="Times New Roman"/>
                        <a:cs typeface="Times New Roman"/>
                      </a:endParaRPr>
                    </a:p>
                  </a:txBody>
                  <a:tcPr marL="66805" marR="66805" marT="0" marB="0">
                    <a:lnL>
                      <a:noFill/>
                    </a:lnL>
                    <a:lnR>
                      <a:noFill/>
                    </a:lnR>
                    <a:lnT w="12700" cap="flat" cmpd="sng" algn="ctr">
                      <a:solidFill>
                        <a:srgbClr val="000000"/>
                      </a:solidFill>
                      <a:prstDash val="solid"/>
                      <a:round/>
                      <a:headEnd type="none" w="med" len="med"/>
                      <a:tailEnd type="none" w="med" len="med"/>
                    </a:lnT>
                    <a:lnB w="12700" cap="flat" cmpd="sng" algn="ctr">
                      <a:solidFill>
                        <a:srgbClr val="008000"/>
                      </a:solidFill>
                      <a:prstDash val="solid"/>
                      <a:round/>
                      <a:headEnd type="none" w="med" len="med"/>
                      <a:tailEnd type="none" w="med" len="med"/>
                    </a:lnB>
                  </a:tcPr>
                </a:tc>
                <a:tc>
                  <a:txBody>
                    <a:bodyPr/>
                    <a:lstStyle/>
                    <a:p>
                      <a:pPr algn="ctr">
                        <a:spcAft>
                          <a:spcPts val="0"/>
                        </a:spcAft>
                      </a:pPr>
                      <a:r>
                        <a:rPr lang="en-GB" sz="1800" b="1">
                          <a:latin typeface="Times New Roman"/>
                          <a:ea typeface="Times New Roman"/>
                          <a:cs typeface="Times New Roman"/>
                        </a:rPr>
                        <a:t>Road fatalities per 100,000 population</a:t>
                      </a:r>
                      <a:endParaRPr lang="en-AU" sz="1800">
                        <a:latin typeface="Arial"/>
                        <a:ea typeface="Times New Roman"/>
                        <a:cs typeface="Times New Roman"/>
                      </a:endParaRPr>
                    </a:p>
                  </a:txBody>
                  <a:tcPr marL="66805" marR="66805" marT="0" marB="0">
                    <a:lnL>
                      <a:noFill/>
                    </a:lnL>
                    <a:lnR>
                      <a:noFill/>
                    </a:lnR>
                    <a:lnT w="12700" cap="flat" cmpd="sng" algn="ctr">
                      <a:solidFill>
                        <a:srgbClr val="000000"/>
                      </a:solidFill>
                      <a:prstDash val="solid"/>
                      <a:round/>
                      <a:headEnd type="none" w="med" len="med"/>
                      <a:tailEnd type="none" w="med" len="med"/>
                    </a:lnT>
                    <a:lnB w="12700" cap="flat" cmpd="sng" algn="ctr">
                      <a:solidFill>
                        <a:srgbClr val="008000"/>
                      </a:solidFill>
                      <a:prstDash val="solid"/>
                      <a:round/>
                      <a:headEnd type="none" w="med" len="med"/>
                      <a:tailEnd type="none" w="med" len="med"/>
                    </a:lnB>
                  </a:tcPr>
                </a:tc>
              </a:tr>
              <a:tr h="392166">
                <a:tc>
                  <a:txBody>
                    <a:bodyPr/>
                    <a:lstStyle/>
                    <a:p>
                      <a:pPr algn="l">
                        <a:spcAft>
                          <a:spcPts val="0"/>
                        </a:spcAft>
                      </a:pPr>
                      <a:r>
                        <a:rPr lang="en-GB" sz="1800" b="1" dirty="0">
                          <a:latin typeface="Times New Roman"/>
                          <a:ea typeface="Times New Roman"/>
                          <a:cs typeface="Times New Roman"/>
                        </a:rPr>
                        <a:t>Bangladesh</a:t>
                      </a:r>
                      <a:endParaRPr lang="en-AU" sz="1800" dirty="0">
                        <a:latin typeface="Arial"/>
                        <a:ea typeface="Times New Roman"/>
                        <a:cs typeface="Times New Roman"/>
                      </a:endParaRPr>
                    </a:p>
                  </a:txBody>
                  <a:tcPr marL="66805" marR="66805" marT="0" marB="0">
                    <a:lnL>
                      <a:noFill/>
                    </a:lnL>
                    <a:lnR>
                      <a:noFill/>
                    </a:lnR>
                    <a:lnT w="12700" cap="flat" cmpd="sng" algn="ctr">
                      <a:solidFill>
                        <a:srgbClr val="008000"/>
                      </a:solidFill>
                      <a:prstDash val="solid"/>
                      <a:round/>
                      <a:headEnd type="none" w="med" len="med"/>
                      <a:tailEnd type="none" w="med" len="med"/>
                    </a:lnT>
                    <a:lnB>
                      <a:noFill/>
                    </a:lnB>
                  </a:tcPr>
                </a:tc>
                <a:tc>
                  <a:txBody>
                    <a:bodyPr/>
                    <a:lstStyle/>
                    <a:p>
                      <a:pPr algn="r">
                        <a:spcAft>
                          <a:spcPts val="0"/>
                        </a:spcAft>
                      </a:pPr>
                      <a:r>
                        <a:rPr lang="en-GB" sz="1800">
                          <a:latin typeface="Times New Roman"/>
                          <a:ea typeface="Times New Roman"/>
                          <a:cs typeface="Times New Roman"/>
                        </a:rPr>
                        <a:t>20,038</a:t>
                      </a:r>
                      <a:endParaRPr lang="en-AU" sz="1800">
                        <a:latin typeface="Arial"/>
                        <a:ea typeface="Times New Roman"/>
                        <a:cs typeface="Times New Roman"/>
                      </a:endParaRPr>
                    </a:p>
                  </a:txBody>
                  <a:tcPr marL="66805" marR="66805" marT="0" marB="0">
                    <a:lnL>
                      <a:noFill/>
                    </a:lnL>
                    <a:lnR>
                      <a:noFill/>
                    </a:lnR>
                    <a:lnT w="12700" cap="flat" cmpd="sng" algn="ctr">
                      <a:solidFill>
                        <a:srgbClr val="008000"/>
                      </a:solidFill>
                      <a:prstDash val="solid"/>
                      <a:round/>
                      <a:headEnd type="none" w="med" len="med"/>
                      <a:tailEnd type="none" w="med" len="med"/>
                    </a:lnT>
                    <a:lnB>
                      <a:noFill/>
                    </a:lnB>
                  </a:tcPr>
                </a:tc>
                <a:tc>
                  <a:txBody>
                    <a:bodyPr/>
                    <a:lstStyle/>
                    <a:p>
                      <a:pPr algn="r">
                        <a:spcAft>
                          <a:spcPts val="0"/>
                        </a:spcAft>
                      </a:pPr>
                      <a:r>
                        <a:rPr lang="en-GB" sz="1800">
                          <a:latin typeface="Times New Roman"/>
                          <a:ea typeface="Times New Roman"/>
                          <a:cs typeface="Times New Roman"/>
                        </a:rPr>
                        <a:t>158,664,959</a:t>
                      </a:r>
                      <a:endParaRPr lang="en-AU" sz="1800">
                        <a:latin typeface="Arial"/>
                        <a:ea typeface="Times New Roman"/>
                        <a:cs typeface="Times New Roman"/>
                      </a:endParaRPr>
                    </a:p>
                  </a:txBody>
                  <a:tcPr marL="66805" marR="66805" marT="0" marB="0">
                    <a:lnL>
                      <a:noFill/>
                    </a:lnL>
                    <a:lnR>
                      <a:noFill/>
                    </a:lnR>
                    <a:lnT w="12700" cap="flat" cmpd="sng" algn="ctr">
                      <a:solidFill>
                        <a:srgbClr val="008000"/>
                      </a:solidFill>
                      <a:prstDash val="solid"/>
                      <a:round/>
                      <a:headEnd type="none" w="med" len="med"/>
                      <a:tailEnd type="none" w="med" len="med"/>
                    </a:lnT>
                    <a:lnB>
                      <a:noFill/>
                    </a:lnB>
                  </a:tcPr>
                </a:tc>
                <a:tc>
                  <a:txBody>
                    <a:bodyPr/>
                    <a:lstStyle/>
                    <a:p>
                      <a:pPr algn="r">
                        <a:spcAft>
                          <a:spcPts val="0"/>
                        </a:spcAft>
                      </a:pPr>
                      <a:r>
                        <a:rPr lang="en-GB" sz="1800">
                          <a:latin typeface="Times New Roman"/>
                          <a:ea typeface="Times New Roman"/>
                          <a:cs typeface="Times New Roman"/>
                        </a:rPr>
                        <a:t>12.6</a:t>
                      </a:r>
                      <a:endParaRPr lang="en-AU" sz="1800">
                        <a:latin typeface="Arial"/>
                        <a:ea typeface="Times New Roman"/>
                        <a:cs typeface="Times New Roman"/>
                      </a:endParaRPr>
                    </a:p>
                  </a:txBody>
                  <a:tcPr marL="66805" marR="66805" marT="0" marB="0">
                    <a:lnL>
                      <a:noFill/>
                    </a:lnL>
                    <a:lnR>
                      <a:noFill/>
                    </a:lnR>
                    <a:lnT w="12700" cap="flat" cmpd="sng" algn="ctr">
                      <a:solidFill>
                        <a:srgbClr val="008000"/>
                      </a:solidFill>
                      <a:prstDash val="solid"/>
                      <a:round/>
                      <a:headEnd type="none" w="med" len="med"/>
                      <a:tailEnd type="none" w="med" len="med"/>
                    </a:lnT>
                    <a:lnB>
                      <a:noFill/>
                    </a:lnB>
                  </a:tcPr>
                </a:tc>
              </a:tr>
              <a:tr h="392166">
                <a:tc>
                  <a:txBody>
                    <a:bodyPr/>
                    <a:lstStyle/>
                    <a:p>
                      <a:pPr algn="l">
                        <a:spcAft>
                          <a:spcPts val="0"/>
                        </a:spcAft>
                      </a:pPr>
                      <a:r>
                        <a:rPr lang="en-GB" sz="1800" b="1" dirty="0">
                          <a:latin typeface="Times New Roman"/>
                          <a:ea typeface="Times New Roman"/>
                          <a:cs typeface="Times New Roman"/>
                        </a:rPr>
                        <a:t>Bhutan </a:t>
                      </a:r>
                      <a:endParaRPr lang="en-AU" sz="1800" dirty="0">
                        <a:latin typeface="Arial"/>
                        <a:ea typeface="Times New Roman"/>
                        <a:cs typeface="Times New Roman"/>
                      </a:endParaRPr>
                    </a:p>
                  </a:txBody>
                  <a:tcPr marL="66805" marR="66805" marT="0" marB="0">
                    <a:lnL>
                      <a:noFill/>
                    </a:lnL>
                    <a:lnR>
                      <a:noFill/>
                    </a:lnR>
                    <a:lnT>
                      <a:noFill/>
                    </a:lnT>
                    <a:lnB>
                      <a:noFill/>
                    </a:lnB>
                  </a:tcPr>
                </a:tc>
                <a:tc>
                  <a:txBody>
                    <a:bodyPr/>
                    <a:lstStyle/>
                    <a:p>
                      <a:pPr algn="r">
                        <a:spcAft>
                          <a:spcPts val="0"/>
                        </a:spcAft>
                      </a:pPr>
                      <a:r>
                        <a:rPr lang="en-GB" sz="1800" dirty="0">
                          <a:latin typeface="Times New Roman"/>
                          <a:ea typeface="Times New Roman"/>
                          <a:cs typeface="Times New Roman"/>
                        </a:rPr>
                        <a:t>95</a:t>
                      </a:r>
                      <a:endParaRPr lang="en-AU" sz="1800" dirty="0">
                        <a:latin typeface="Arial"/>
                        <a:ea typeface="Times New Roman"/>
                        <a:cs typeface="Times New Roman"/>
                      </a:endParaRPr>
                    </a:p>
                  </a:txBody>
                  <a:tcPr marL="66805" marR="66805" marT="0" marB="0">
                    <a:lnL>
                      <a:noFill/>
                    </a:lnL>
                    <a:lnR>
                      <a:noFill/>
                    </a:lnR>
                    <a:lnT>
                      <a:noFill/>
                    </a:lnT>
                    <a:lnB>
                      <a:noFill/>
                    </a:lnB>
                  </a:tcPr>
                </a:tc>
                <a:tc>
                  <a:txBody>
                    <a:bodyPr/>
                    <a:lstStyle/>
                    <a:p>
                      <a:pPr algn="r">
                        <a:spcAft>
                          <a:spcPts val="0"/>
                        </a:spcAft>
                      </a:pPr>
                      <a:r>
                        <a:rPr lang="en-GB" sz="1800">
                          <a:latin typeface="Times New Roman"/>
                          <a:ea typeface="Times New Roman"/>
                          <a:cs typeface="Times New Roman"/>
                        </a:rPr>
                        <a:t>658,479</a:t>
                      </a:r>
                      <a:endParaRPr lang="en-AU" sz="1800">
                        <a:latin typeface="Arial"/>
                        <a:ea typeface="Times New Roman"/>
                        <a:cs typeface="Times New Roman"/>
                      </a:endParaRPr>
                    </a:p>
                  </a:txBody>
                  <a:tcPr marL="66805" marR="66805" marT="0" marB="0">
                    <a:lnL>
                      <a:noFill/>
                    </a:lnL>
                    <a:lnR>
                      <a:noFill/>
                    </a:lnR>
                    <a:lnT>
                      <a:noFill/>
                    </a:lnT>
                    <a:lnB>
                      <a:noFill/>
                    </a:lnB>
                  </a:tcPr>
                </a:tc>
                <a:tc>
                  <a:txBody>
                    <a:bodyPr/>
                    <a:lstStyle/>
                    <a:p>
                      <a:pPr algn="r">
                        <a:spcAft>
                          <a:spcPts val="0"/>
                        </a:spcAft>
                      </a:pPr>
                      <a:r>
                        <a:rPr lang="en-GB" sz="1800">
                          <a:latin typeface="Times New Roman"/>
                          <a:ea typeface="Times New Roman"/>
                          <a:cs typeface="Times New Roman"/>
                        </a:rPr>
                        <a:t>14.4</a:t>
                      </a:r>
                      <a:endParaRPr lang="en-AU" sz="1800">
                        <a:latin typeface="Arial"/>
                        <a:ea typeface="Times New Roman"/>
                        <a:cs typeface="Times New Roman"/>
                      </a:endParaRPr>
                    </a:p>
                  </a:txBody>
                  <a:tcPr marL="66805" marR="66805" marT="0" marB="0">
                    <a:lnL>
                      <a:noFill/>
                    </a:lnL>
                    <a:lnR>
                      <a:noFill/>
                    </a:lnR>
                    <a:lnT>
                      <a:noFill/>
                    </a:lnT>
                    <a:lnB>
                      <a:noFill/>
                    </a:lnB>
                  </a:tcPr>
                </a:tc>
              </a:tr>
              <a:tr h="392166">
                <a:tc>
                  <a:txBody>
                    <a:bodyPr/>
                    <a:lstStyle/>
                    <a:p>
                      <a:pPr algn="l">
                        <a:spcAft>
                          <a:spcPts val="0"/>
                        </a:spcAft>
                      </a:pPr>
                      <a:r>
                        <a:rPr lang="en-GB" sz="1800" b="1">
                          <a:latin typeface="Times New Roman"/>
                          <a:ea typeface="Times New Roman"/>
                          <a:cs typeface="Times New Roman"/>
                        </a:rPr>
                        <a:t>India</a:t>
                      </a:r>
                      <a:endParaRPr lang="en-AU" sz="1800">
                        <a:latin typeface="Arial"/>
                        <a:ea typeface="Times New Roman"/>
                        <a:cs typeface="Times New Roman"/>
                      </a:endParaRPr>
                    </a:p>
                  </a:txBody>
                  <a:tcPr marL="66805" marR="66805" marT="0" marB="0">
                    <a:lnL>
                      <a:noFill/>
                    </a:lnL>
                    <a:lnR>
                      <a:noFill/>
                    </a:lnR>
                    <a:lnT>
                      <a:noFill/>
                    </a:lnT>
                    <a:lnB>
                      <a:noFill/>
                    </a:lnB>
                  </a:tcPr>
                </a:tc>
                <a:tc>
                  <a:txBody>
                    <a:bodyPr/>
                    <a:lstStyle/>
                    <a:p>
                      <a:pPr algn="r">
                        <a:spcAft>
                          <a:spcPts val="0"/>
                        </a:spcAft>
                      </a:pPr>
                      <a:r>
                        <a:rPr lang="en-GB" sz="1800" dirty="0">
                          <a:latin typeface="Times New Roman"/>
                          <a:ea typeface="Times New Roman"/>
                          <a:cs typeface="Times New Roman"/>
                        </a:rPr>
                        <a:t>196,445</a:t>
                      </a:r>
                      <a:endParaRPr lang="en-AU" sz="1800" dirty="0">
                        <a:latin typeface="Arial"/>
                        <a:ea typeface="Times New Roman"/>
                        <a:cs typeface="Times New Roman"/>
                      </a:endParaRPr>
                    </a:p>
                  </a:txBody>
                  <a:tcPr marL="66805" marR="66805" marT="0" marB="0">
                    <a:lnL>
                      <a:noFill/>
                    </a:lnL>
                    <a:lnR>
                      <a:noFill/>
                    </a:lnR>
                    <a:lnT>
                      <a:noFill/>
                    </a:lnT>
                    <a:lnB>
                      <a:noFill/>
                    </a:lnB>
                  </a:tcPr>
                </a:tc>
                <a:tc>
                  <a:txBody>
                    <a:bodyPr/>
                    <a:lstStyle/>
                    <a:p>
                      <a:pPr algn="r">
                        <a:spcAft>
                          <a:spcPts val="0"/>
                        </a:spcAft>
                      </a:pPr>
                      <a:r>
                        <a:rPr lang="en-GB" sz="1800">
                          <a:latin typeface="Times New Roman"/>
                          <a:ea typeface="Times New Roman"/>
                          <a:cs typeface="Times New Roman"/>
                        </a:rPr>
                        <a:t>1,169,015,509</a:t>
                      </a:r>
                      <a:endParaRPr lang="en-AU" sz="1800">
                        <a:latin typeface="Arial"/>
                        <a:ea typeface="Times New Roman"/>
                        <a:cs typeface="Times New Roman"/>
                      </a:endParaRPr>
                    </a:p>
                  </a:txBody>
                  <a:tcPr marL="66805" marR="66805" marT="0" marB="0">
                    <a:lnL>
                      <a:noFill/>
                    </a:lnL>
                    <a:lnR>
                      <a:noFill/>
                    </a:lnR>
                    <a:lnT>
                      <a:noFill/>
                    </a:lnT>
                    <a:lnB>
                      <a:noFill/>
                    </a:lnB>
                  </a:tcPr>
                </a:tc>
                <a:tc>
                  <a:txBody>
                    <a:bodyPr/>
                    <a:lstStyle/>
                    <a:p>
                      <a:pPr algn="r">
                        <a:spcAft>
                          <a:spcPts val="0"/>
                        </a:spcAft>
                      </a:pPr>
                      <a:r>
                        <a:rPr lang="en-GB" sz="1800">
                          <a:latin typeface="Times New Roman"/>
                          <a:ea typeface="Times New Roman"/>
                          <a:cs typeface="Times New Roman"/>
                        </a:rPr>
                        <a:t>16.8</a:t>
                      </a:r>
                      <a:endParaRPr lang="en-AU" sz="1800">
                        <a:latin typeface="Arial"/>
                        <a:ea typeface="Times New Roman"/>
                        <a:cs typeface="Times New Roman"/>
                      </a:endParaRPr>
                    </a:p>
                  </a:txBody>
                  <a:tcPr marL="66805" marR="66805" marT="0" marB="0">
                    <a:lnL>
                      <a:noFill/>
                    </a:lnL>
                    <a:lnR>
                      <a:noFill/>
                    </a:lnR>
                    <a:lnT>
                      <a:noFill/>
                    </a:lnT>
                    <a:lnB>
                      <a:noFill/>
                    </a:lnB>
                  </a:tcPr>
                </a:tc>
              </a:tr>
              <a:tr h="392166">
                <a:tc>
                  <a:txBody>
                    <a:bodyPr/>
                    <a:lstStyle/>
                    <a:p>
                      <a:pPr algn="l">
                        <a:spcAft>
                          <a:spcPts val="0"/>
                        </a:spcAft>
                      </a:pPr>
                      <a:r>
                        <a:rPr lang="en-GB" sz="1800" b="1">
                          <a:latin typeface="Times New Roman"/>
                          <a:ea typeface="Times New Roman"/>
                          <a:cs typeface="Times New Roman"/>
                        </a:rPr>
                        <a:t>Maldives</a:t>
                      </a:r>
                      <a:endParaRPr lang="en-AU" sz="1800">
                        <a:latin typeface="Arial"/>
                        <a:ea typeface="Times New Roman"/>
                        <a:cs typeface="Times New Roman"/>
                      </a:endParaRPr>
                    </a:p>
                  </a:txBody>
                  <a:tcPr marL="66805" marR="66805" marT="0" marB="0">
                    <a:lnL>
                      <a:noFill/>
                    </a:lnL>
                    <a:lnR>
                      <a:noFill/>
                    </a:lnR>
                    <a:lnT>
                      <a:noFill/>
                    </a:lnT>
                    <a:lnB>
                      <a:noFill/>
                    </a:lnB>
                  </a:tcPr>
                </a:tc>
                <a:tc>
                  <a:txBody>
                    <a:bodyPr/>
                    <a:lstStyle/>
                    <a:p>
                      <a:pPr algn="r">
                        <a:spcAft>
                          <a:spcPts val="0"/>
                        </a:spcAft>
                      </a:pPr>
                      <a:r>
                        <a:rPr lang="en-GB" sz="1800" dirty="0">
                          <a:latin typeface="Times New Roman"/>
                          <a:ea typeface="Times New Roman"/>
                          <a:cs typeface="Times New Roman"/>
                        </a:rPr>
                        <a:t>56</a:t>
                      </a:r>
                      <a:endParaRPr lang="en-AU" sz="1800" dirty="0">
                        <a:latin typeface="Arial"/>
                        <a:ea typeface="Times New Roman"/>
                        <a:cs typeface="Times New Roman"/>
                      </a:endParaRPr>
                    </a:p>
                  </a:txBody>
                  <a:tcPr marL="66805" marR="66805" marT="0" marB="0">
                    <a:lnL>
                      <a:noFill/>
                    </a:lnL>
                    <a:lnR>
                      <a:noFill/>
                    </a:lnR>
                    <a:lnT>
                      <a:noFill/>
                    </a:lnT>
                    <a:lnB>
                      <a:noFill/>
                    </a:lnB>
                  </a:tcPr>
                </a:tc>
                <a:tc>
                  <a:txBody>
                    <a:bodyPr/>
                    <a:lstStyle/>
                    <a:p>
                      <a:pPr algn="r">
                        <a:spcAft>
                          <a:spcPts val="0"/>
                        </a:spcAft>
                      </a:pPr>
                      <a:r>
                        <a:rPr lang="en-GB" sz="1800" dirty="0">
                          <a:latin typeface="Times New Roman"/>
                          <a:ea typeface="Times New Roman"/>
                          <a:cs typeface="Times New Roman"/>
                        </a:rPr>
                        <a:t>305,556</a:t>
                      </a:r>
                      <a:endParaRPr lang="en-AU" sz="1800" dirty="0">
                        <a:latin typeface="Arial"/>
                        <a:ea typeface="Times New Roman"/>
                        <a:cs typeface="Times New Roman"/>
                      </a:endParaRPr>
                    </a:p>
                  </a:txBody>
                  <a:tcPr marL="66805" marR="66805" marT="0" marB="0">
                    <a:lnL>
                      <a:noFill/>
                    </a:lnL>
                    <a:lnR>
                      <a:noFill/>
                    </a:lnR>
                    <a:lnT>
                      <a:noFill/>
                    </a:lnT>
                    <a:lnB>
                      <a:noFill/>
                    </a:lnB>
                  </a:tcPr>
                </a:tc>
                <a:tc>
                  <a:txBody>
                    <a:bodyPr/>
                    <a:lstStyle/>
                    <a:p>
                      <a:pPr algn="r">
                        <a:spcAft>
                          <a:spcPts val="0"/>
                        </a:spcAft>
                      </a:pPr>
                      <a:r>
                        <a:rPr lang="en-GB" sz="1800">
                          <a:latin typeface="Times New Roman"/>
                          <a:ea typeface="Times New Roman"/>
                          <a:cs typeface="Times New Roman"/>
                        </a:rPr>
                        <a:t>18.3</a:t>
                      </a:r>
                      <a:endParaRPr lang="en-AU" sz="1800">
                        <a:latin typeface="Arial"/>
                        <a:ea typeface="Times New Roman"/>
                        <a:cs typeface="Times New Roman"/>
                      </a:endParaRPr>
                    </a:p>
                  </a:txBody>
                  <a:tcPr marL="66805" marR="66805" marT="0" marB="0">
                    <a:lnL>
                      <a:noFill/>
                    </a:lnL>
                    <a:lnR>
                      <a:noFill/>
                    </a:lnR>
                    <a:lnT>
                      <a:noFill/>
                    </a:lnT>
                    <a:lnB>
                      <a:noFill/>
                    </a:lnB>
                  </a:tcPr>
                </a:tc>
              </a:tr>
              <a:tr h="392166">
                <a:tc>
                  <a:txBody>
                    <a:bodyPr/>
                    <a:lstStyle/>
                    <a:p>
                      <a:pPr algn="l">
                        <a:spcAft>
                          <a:spcPts val="0"/>
                        </a:spcAft>
                      </a:pPr>
                      <a:r>
                        <a:rPr lang="en-GB" sz="1800" b="1">
                          <a:latin typeface="Times New Roman"/>
                          <a:ea typeface="Times New Roman"/>
                          <a:cs typeface="Times New Roman"/>
                        </a:rPr>
                        <a:t>Nepal</a:t>
                      </a:r>
                      <a:endParaRPr lang="en-AU" sz="1800">
                        <a:latin typeface="Arial"/>
                        <a:ea typeface="Times New Roman"/>
                        <a:cs typeface="Times New Roman"/>
                      </a:endParaRPr>
                    </a:p>
                  </a:txBody>
                  <a:tcPr marL="66805" marR="66805" marT="0" marB="0">
                    <a:lnL>
                      <a:noFill/>
                    </a:lnL>
                    <a:lnR>
                      <a:noFill/>
                    </a:lnR>
                    <a:lnT>
                      <a:noFill/>
                    </a:lnT>
                    <a:lnB>
                      <a:noFill/>
                    </a:lnB>
                  </a:tcPr>
                </a:tc>
                <a:tc>
                  <a:txBody>
                    <a:bodyPr/>
                    <a:lstStyle/>
                    <a:p>
                      <a:pPr algn="r">
                        <a:spcAft>
                          <a:spcPts val="0"/>
                        </a:spcAft>
                      </a:pPr>
                      <a:r>
                        <a:rPr lang="en-GB" sz="1800">
                          <a:latin typeface="Times New Roman"/>
                          <a:ea typeface="Times New Roman"/>
                          <a:cs typeface="Times New Roman"/>
                        </a:rPr>
                        <a:t>4,245</a:t>
                      </a:r>
                      <a:endParaRPr lang="en-AU" sz="1800">
                        <a:latin typeface="Arial"/>
                        <a:ea typeface="Times New Roman"/>
                        <a:cs typeface="Times New Roman"/>
                      </a:endParaRPr>
                    </a:p>
                  </a:txBody>
                  <a:tcPr marL="66805" marR="66805" marT="0" marB="0">
                    <a:lnL>
                      <a:noFill/>
                    </a:lnL>
                    <a:lnR>
                      <a:noFill/>
                    </a:lnR>
                    <a:lnT>
                      <a:noFill/>
                    </a:lnT>
                    <a:lnB>
                      <a:noFill/>
                    </a:lnB>
                  </a:tcPr>
                </a:tc>
                <a:tc>
                  <a:txBody>
                    <a:bodyPr/>
                    <a:lstStyle/>
                    <a:p>
                      <a:pPr algn="r">
                        <a:spcAft>
                          <a:spcPts val="0"/>
                        </a:spcAft>
                      </a:pPr>
                      <a:r>
                        <a:rPr lang="en-GB" sz="1800" dirty="0">
                          <a:latin typeface="Times New Roman"/>
                          <a:ea typeface="Times New Roman"/>
                          <a:cs typeface="Times New Roman"/>
                        </a:rPr>
                        <a:t>28,195,994</a:t>
                      </a:r>
                      <a:endParaRPr lang="en-AU" sz="1800" dirty="0">
                        <a:latin typeface="Arial"/>
                        <a:ea typeface="Times New Roman"/>
                        <a:cs typeface="Times New Roman"/>
                      </a:endParaRPr>
                    </a:p>
                  </a:txBody>
                  <a:tcPr marL="66805" marR="66805" marT="0" marB="0">
                    <a:lnL>
                      <a:noFill/>
                    </a:lnL>
                    <a:lnR>
                      <a:noFill/>
                    </a:lnR>
                    <a:lnT>
                      <a:noFill/>
                    </a:lnT>
                    <a:lnB>
                      <a:noFill/>
                    </a:lnB>
                  </a:tcPr>
                </a:tc>
                <a:tc>
                  <a:txBody>
                    <a:bodyPr/>
                    <a:lstStyle/>
                    <a:p>
                      <a:pPr algn="r">
                        <a:spcAft>
                          <a:spcPts val="0"/>
                        </a:spcAft>
                      </a:pPr>
                      <a:r>
                        <a:rPr lang="en-GB" sz="1800">
                          <a:latin typeface="Times New Roman"/>
                          <a:ea typeface="Times New Roman"/>
                          <a:cs typeface="Times New Roman"/>
                        </a:rPr>
                        <a:t>15.1</a:t>
                      </a:r>
                      <a:endParaRPr lang="en-AU" sz="1800">
                        <a:latin typeface="Arial"/>
                        <a:ea typeface="Times New Roman"/>
                        <a:cs typeface="Times New Roman"/>
                      </a:endParaRPr>
                    </a:p>
                  </a:txBody>
                  <a:tcPr marL="66805" marR="66805" marT="0" marB="0">
                    <a:lnL>
                      <a:noFill/>
                    </a:lnL>
                    <a:lnR>
                      <a:noFill/>
                    </a:lnR>
                    <a:lnT>
                      <a:noFill/>
                    </a:lnT>
                    <a:lnB>
                      <a:noFill/>
                    </a:lnB>
                  </a:tcPr>
                </a:tc>
              </a:tr>
              <a:tr h="392166">
                <a:tc>
                  <a:txBody>
                    <a:bodyPr/>
                    <a:lstStyle/>
                    <a:p>
                      <a:pPr algn="l">
                        <a:spcAft>
                          <a:spcPts val="0"/>
                        </a:spcAft>
                      </a:pPr>
                      <a:r>
                        <a:rPr lang="en-GB" sz="1800" b="1" i="1">
                          <a:latin typeface="Times New Roman"/>
                          <a:ea typeface="Times New Roman"/>
                          <a:cs typeface="Times New Roman"/>
                        </a:rPr>
                        <a:t>Pakistan</a:t>
                      </a:r>
                      <a:endParaRPr lang="en-AU" sz="1800">
                        <a:latin typeface="Arial"/>
                        <a:ea typeface="Times New Roman"/>
                        <a:cs typeface="Times New Roman"/>
                      </a:endParaRPr>
                    </a:p>
                  </a:txBody>
                  <a:tcPr marL="66805" marR="66805" marT="0" marB="0">
                    <a:lnL>
                      <a:noFill/>
                    </a:lnL>
                    <a:lnR>
                      <a:noFill/>
                    </a:lnR>
                    <a:lnT>
                      <a:noFill/>
                    </a:lnT>
                    <a:lnB>
                      <a:noFill/>
                    </a:lnB>
                  </a:tcPr>
                </a:tc>
                <a:tc>
                  <a:txBody>
                    <a:bodyPr/>
                    <a:lstStyle/>
                    <a:p>
                      <a:pPr algn="r">
                        <a:spcAft>
                          <a:spcPts val="0"/>
                        </a:spcAft>
                      </a:pPr>
                      <a:r>
                        <a:rPr lang="en-GB" sz="1800" i="1">
                          <a:latin typeface="Times New Roman"/>
                          <a:ea typeface="Times New Roman"/>
                          <a:cs typeface="Times New Roman"/>
                        </a:rPr>
                        <a:t>41,494</a:t>
                      </a:r>
                      <a:endParaRPr lang="en-AU" sz="1800">
                        <a:latin typeface="Arial"/>
                        <a:ea typeface="Times New Roman"/>
                        <a:cs typeface="Times New Roman"/>
                      </a:endParaRPr>
                    </a:p>
                  </a:txBody>
                  <a:tcPr marL="66805" marR="66805" marT="0" marB="0">
                    <a:lnL>
                      <a:noFill/>
                    </a:lnL>
                    <a:lnR>
                      <a:noFill/>
                    </a:lnR>
                    <a:lnT>
                      <a:noFill/>
                    </a:lnT>
                    <a:lnB>
                      <a:noFill/>
                    </a:lnB>
                  </a:tcPr>
                </a:tc>
                <a:tc>
                  <a:txBody>
                    <a:bodyPr/>
                    <a:lstStyle/>
                    <a:p>
                      <a:pPr algn="r">
                        <a:spcAft>
                          <a:spcPts val="0"/>
                        </a:spcAft>
                      </a:pPr>
                      <a:r>
                        <a:rPr lang="en-GB" sz="1800" i="1" dirty="0">
                          <a:latin typeface="Times New Roman"/>
                          <a:ea typeface="Times New Roman"/>
                          <a:cs typeface="Times New Roman"/>
                        </a:rPr>
                        <a:t>163,902,405</a:t>
                      </a:r>
                      <a:endParaRPr lang="en-AU" sz="1800" dirty="0">
                        <a:latin typeface="Arial"/>
                        <a:ea typeface="Times New Roman"/>
                        <a:cs typeface="Times New Roman"/>
                      </a:endParaRPr>
                    </a:p>
                  </a:txBody>
                  <a:tcPr marL="66805" marR="66805" marT="0" marB="0">
                    <a:lnL>
                      <a:noFill/>
                    </a:lnL>
                    <a:lnR>
                      <a:noFill/>
                    </a:lnR>
                    <a:lnT>
                      <a:noFill/>
                    </a:lnT>
                    <a:lnB>
                      <a:noFill/>
                    </a:lnB>
                  </a:tcPr>
                </a:tc>
                <a:tc>
                  <a:txBody>
                    <a:bodyPr/>
                    <a:lstStyle/>
                    <a:p>
                      <a:pPr algn="r">
                        <a:spcAft>
                          <a:spcPts val="0"/>
                        </a:spcAft>
                      </a:pPr>
                      <a:r>
                        <a:rPr lang="en-GB" sz="1800" i="1">
                          <a:latin typeface="Times New Roman"/>
                          <a:ea typeface="Times New Roman"/>
                          <a:cs typeface="Times New Roman"/>
                        </a:rPr>
                        <a:t>25.3</a:t>
                      </a:r>
                      <a:endParaRPr lang="en-AU" sz="1800">
                        <a:latin typeface="Arial"/>
                        <a:ea typeface="Times New Roman"/>
                        <a:cs typeface="Times New Roman"/>
                      </a:endParaRPr>
                    </a:p>
                  </a:txBody>
                  <a:tcPr marL="66805" marR="66805" marT="0" marB="0">
                    <a:lnL>
                      <a:noFill/>
                    </a:lnL>
                    <a:lnR>
                      <a:noFill/>
                    </a:lnR>
                    <a:lnT>
                      <a:noFill/>
                    </a:lnT>
                    <a:lnB>
                      <a:noFill/>
                    </a:lnB>
                  </a:tcPr>
                </a:tc>
              </a:tr>
              <a:tr h="392166">
                <a:tc>
                  <a:txBody>
                    <a:bodyPr/>
                    <a:lstStyle/>
                    <a:p>
                      <a:pPr algn="l">
                        <a:spcAft>
                          <a:spcPts val="0"/>
                        </a:spcAft>
                      </a:pPr>
                      <a:r>
                        <a:rPr lang="en-GB" sz="1800" b="1">
                          <a:latin typeface="Times New Roman"/>
                          <a:ea typeface="Times New Roman"/>
                          <a:cs typeface="Times New Roman"/>
                        </a:rPr>
                        <a:t>Sri Lanka</a:t>
                      </a:r>
                      <a:endParaRPr lang="en-AU" sz="1800">
                        <a:latin typeface="Arial"/>
                        <a:ea typeface="Times New Roman"/>
                        <a:cs typeface="Times New Roman"/>
                      </a:endParaRPr>
                    </a:p>
                  </a:txBody>
                  <a:tcPr marL="66805" marR="66805" marT="0" marB="0">
                    <a:lnL>
                      <a:noFill/>
                    </a:lnL>
                    <a:lnR>
                      <a:noFill/>
                    </a:lnR>
                    <a:lnT>
                      <a:noFill/>
                    </a:lnT>
                    <a:lnB>
                      <a:noFill/>
                    </a:lnB>
                  </a:tcPr>
                </a:tc>
                <a:tc>
                  <a:txBody>
                    <a:bodyPr/>
                    <a:lstStyle/>
                    <a:p>
                      <a:pPr algn="r">
                        <a:spcAft>
                          <a:spcPts val="0"/>
                        </a:spcAft>
                      </a:pPr>
                      <a:r>
                        <a:rPr lang="en-GB" sz="1800">
                          <a:latin typeface="Times New Roman"/>
                          <a:ea typeface="Times New Roman"/>
                          <a:cs typeface="Times New Roman"/>
                        </a:rPr>
                        <a:t>2,603</a:t>
                      </a:r>
                      <a:endParaRPr lang="en-AU" sz="1800">
                        <a:latin typeface="Arial"/>
                        <a:ea typeface="Times New Roman"/>
                        <a:cs typeface="Times New Roman"/>
                      </a:endParaRPr>
                    </a:p>
                  </a:txBody>
                  <a:tcPr marL="66805" marR="66805" marT="0" marB="0">
                    <a:lnL>
                      <a:noFill/>
                    </a:lnL>
                    <a:lnR>
                      <a:noFill/>
                    </a:lnR>
                    <a:lnT>
                      <a:noFill/>
                    </a:lnT>
                    <a:lnB>
                      <a:noFill/>
                    </a:lnB>
                  </a:tcPr>
                </a:tc>
                <a:tc>
                  <a:txBody>
                    <a:bodyPr/>
                    <a:lstStyle/>
                    <a:p>
                      <a:pPr algn="r">
                        <a:spcAft>
                          <a:spcPts val="0"/>
                        </a:spcAft>
                      </a:pPr>
                      <a:r>
                        <a:rPr lang="en-GB" sz="1800" dirty="0">
                          <a:latin typeface="Times New Roman"/>
                          <a:ea typeface="Times New Roman"/>
                          <a:cs typeface="Times New Roman"/>
                        </a:rPr>
                        <a:t>19,299,190</a:t>
                      </a:r>
                      <a:endParaRPr lang="en-AU" sz="1800" dirty="0">
                        <a:latin typeface="Arial"/>
                        <a:ea typeface="Times New Roman"/>
                        <a:cs typeface="Times New Roman"/>
                      </a:endParaRPr>
                    </a:p>
                  </a:txBody>
                  <a:tcPr marL="66805" marR="66805" marT="0" marB="0">
                    <a:lnL>
                      <a:noFill/>
                    </a:lnL>
                    <a:lnR>
                      <a:noFill/>
                    </a:lnR>
                    <a:lnT>
                      <a:noFill/>
                    </a:lnT>
                    <a:lnB>
                      <a:noFill/>
                    </a:lnB>
                  </a:tcPr>
                </a:tc>
                <a:tc>
                  <a:txBody>
                    <a:bodyPr/>
                    <a:lstStyle/>
                    <a:p>
                      <a:pPr algn="r">
                        <a:spcAft>
                          <a:spcPts val="0"/>
                        </a:spcAft>
                      </a:pPr>
                      <a:r>
                        <a:rPr lang="en-GB" sz="1800" dirty="0">
                          <a:latin typeface="Times New Roman"/>
                          <a:ea typeface="Times New Roman"/>
                          <a:cs typeface="Times New Roman"/>
                        </a:rPr>
                        <a:t>13.5</a:t>
                      </a:r>
                      <a:endParaRPr lang="en-AU" sz="1800" dirty="0">
                        <a:latin typeface="Arial"/>
                        <a:ea typeface="Times New Roman"/>
                        <a:cs typeface="Times New Roman"/>
                      </a:endParaRPr>
                    </a:p>
                  </a:txBody>
                  <a:tcPr marL="66805" marR="66805" marT="0" marB="0">
                    <a:lnL>
                      <a:noFill/>
                    </a:lnL>
                    <a:lnR>
                      <a:noFill/>
                    </a:lnR>
                    <a:lnT>
                      <a:noFill/>
                    </a:lnT>
                    <a:lnB>
                      <a:noFill/>
                    </a:lnB>
                  </a:tcPr>
                </a:tc>
              </a:tr>
              <a:tr h="326806">
                <a:tc gridSpan="4">
                  <a:txBody>
                    <a:bodyPr/>
                    <a:lstStyle/>
                    <a:p>
                      <a:pPr algn="r">
                        <a:spcAft>
                          <a:spcPts val="0"/>
                        </a:spcAft>
                      </a:pPr>
                      <a:endParaRPr lang="en-AU" sz="1800" dirty="0">
                        <a:latin typeface="Arial"/>
                        <a:ea typeface="Times New Roman"/>
                        <a:cs typeface="Times New Roman"/>
                      </a:endParaRPr>
                    </a:p>
                  </a:txBody>
                  <a:tcPr marL="66805" marR="66805" marT="0" marB="0">
                    <a:lnL>
                      <a:noFill/>
                    </a:lnL>
                    <a:lnR>
                      <a:noFill/>
                    </a:lnR>
                    <a:lnT>
                      <a:noFill/>
                    </a:lnT>
                    <a:lnB>
                      <a:noFill/>
                    </a:lnB>
                  </a:tcPr>
                </a:tc>
                <a:tc hMerge="1">
                  <a:txBody>
                    <a:bodyPr/>
                    <a:lstStyle/>
                    <a:p>
                      <a:endParaRPr lang="en-AU"/>
                    </a:p>
                  </a:txBody>
                  <a:tcPr/>
                </a:tc>
                <a:tc hMerge="1">
                  <a:txBody>
                    <a:bodyPr/>
                    <a:lstStyle/>
                    <a:p>
                      <a:endParaRPr lang="en-AU"/>
                    </a:p>
                  </a:txBody>
                  <a:tcPr/>
                </a:tc>
                <a:tc hMerge="1">
                  <a:txBody>
                    <a:bodyPr/>
                    <a:lstStyle/>
                    <a:p>
                      <a:endParaRPr lang="en-AU"/>
                    </a:p>
                  </a:txBody>
                  <a:tcPr/>
                </a:tc>
              </a:tr>
              <a:tr h="392166">
                <a:tc>
                  <a:txBody>
                    <a:bodyPr/>
                    <a:lstStyle/>
                    <a:p>
                      <a:pPr algn="l">
                        <a:spcAft>
                          <a:spcPts val="0"/>
                        </a:spcAft>
                      </a:pPr>
                      <a:r>
                        <a:rPr lang="en-GB" sz="1800" b="1">
                          <a:latin typeface="Times New Roman"/>
                          <a:ea typeface="Times New Roman"/>
                          <a:cs typeface="Times New Roman"/>
                        </a:rPr>
                        <a:t>Australia</a:t>
                      </a:r>
                      <a:endParaRPr lang="en-AU" sz="1800">
                        <a:latin typeface="Arial"/>
                        <a:ea typeface="Times New Roman"/>
                        <a:cs typeface="Times New Roman"/>
                      </a:endParaRPr>
                    </a:p>
                  </a:txBody>
                  <a:tcPr marL="66805" marR="66805"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r">
                        <a:spcAft>
                          <a:spcPts val="0"/>
                        </a:spcAft>
                      </a:pPr>
                      <a:r>
                        <a:rPr lang="en-GB" sz="1800">
                          <a:latin typeface="Times New Roman"/>
                          <a:ea typeface="Times New Roman"/>
                          <a:cs typeface="Times New Roman"/>
                        </a:rPr>
                        <a:t>1,616</a:t>
                      </a:r>
                      <a:endParaRPr lang="en-AU" sz="1800">
                        <a:latin typeface="Arial"/>
                        <a:ea typeface="Times New Roman"/>
                        <a:cs typeface="Times New Roman"/>
                      </a:endParaRPr>
                    </a:p>
                  </a:txBody>
                  <a:tcPr marL="66805" marR="66805"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r">
                        <a:spcAft>
                          <a:spcPts val="0"/>
                        </a:spcAft>
                      </a:pPr>
                      <a:r>
                        <a:rPr lang="en-GB" sz="1800">
                          <a:latin typeface="Times New Roman"/>
                          <a:ea typeface="Times New Roman"/>
                          <a:cs typeface="Times New Roman"/>
                        </a:rPr>
                        <a:t>20,743,179</a:t>
                      </a:r>
                      <a:endParaRPr lang="en-AU" sz="1800">
                        <a:latin typeface="Arial"/>
                        <a:ea typeface="Times New Roman"/>
                        <a:cs typeface="Times New Roman"/>
                      </a:endParaRPr>
                    </a:p>
                  </a:txBody>
                  <a:tcPr marL="66805" marR="66805"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r">
                        <a:spcAft>
                          <a:spcPts val="0"/>
                        </a:spcAft>
                      </a:pPr>
                      <a:r>
                        <a:rPr lang="en-GB" sz="1800" dirty="0">
                          <a:latin typeface="Times New Roman"/>
                          <a:ea typeface="Times New Roman"/>
                          <a:cs typeface="Times New Roman"/>
                        </a:rPr>
                        <a:t>7.8</a:t>
                      </a:r>
                      <a:endParaRPr lang="en-AU" sz="1800" dirty="0">
                        <a:latin typeface="Arial"/>
                        <a:ea typeface="Times New Roman"/>
                        <a:cs typeface="Times New Roman"/>
                      </a:endParaRPr>
                    </a:p>
                  </a:txBody>
                  <a:tcPr marL="66805" marR="66805" marT="0" marB="0">
                    <a:lnL>
                      <a:noFill/>
                    </a:lnL>
                    <a:lnR>
                      <a:noFill/>
                    </a:lnR>
                    <a:lnT>
                      <a:noFill/>
                    </a:lnT>
                    <a:lnB w="12700" cap="flat" cmpd="sng" algn="ctr">
                      <a:solidFill>
                        <a:srgbClr val="000000"/>
                      </a:solidFill>
                      <a:prstDash val="solid"/>
                      <a:round/>
                      <a:headEnd type="none" w="med" len="med"/>
                      <a:tailEnd type="none" w="med" len="med"/>
                    </a:lnB>
                  </a:tcPr>
                </a:tc>
              </a:tr>
            </a:tbl>
          </a:graphicData>
        </a:graphic>
      </p:graphicFrame>
      <p:sp>
        <p:nvSpPr>
          <p:cNvPr id="1025" name="Rectangle 1"/>
          <p:cNvSpPr>
            <a:spLocks noChangeArrowheads="1"/>
          </p:cNvSpPr>
          <p:nvPr/>
        </p:nvSpPr>
        <p:spPr bwMode="auto">
          <a:xfrm>
            <a:off x="395536" y="6087777"/>
            <a:ext cx="3761992" cy="27699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200" b="1" i="1"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Source: Table A.2, Global Status Report on Road Safety </a:t>
            </a:r>
            <a:endParaRPr kumimoji="0" lang="en-AU"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12"/>
          <p:cNvPicPr>
            <a:picLocks noChangeAspect="1" noChangeArrowheads="1"/>
          </p:cNvPicPr>
          <p:nvPr/>
        </p:nvPicPr>
        <p:blipFill>
          <a:blip r:embed="rId2"/>
          <a:srcRect/>
          <a:stretch>
            <a:fillRect/>
          </a:stretch>
        </p:blipFill>
        <p:spPr bwMode="auto">
          <a:xfrm>
            <a:off x="0" y="260648"/>
            <a:ext cx="9149118" cy="6237312"/>
          </a:xfrm>
          <a:prstGeom prst="rect">
            <a:avLst/>
          </a:prstGeom>
          <a:noFill/>
          <a:ln w="9525">
            <a:noFill/>
            <a:miter lim="800000"/>
            <a:headEnd/>
            <a:tailEnd/>
          </a:ln>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8" descr="DSCF2773"/>
          <p:cNvPicPr>
            <a:picLocks noChangeAspect="1" noChangeArrowheads="1"/>
          </p:cNvPicPr>
          <p:nvPr/>
        </p:nvPicPr>
        <p:blipFill>
          <a:blip r:embed="rId2"/>
          <a:srcRect/>
          <a:stretch>
            <a:fillRect/>
          </a:stretch>
        </p:blipFill>
        <p:spPr bwMode="auto">
          <a:xfrm>
            <a:off x="0" y="0"/>
            <a:ext cx="9144000" cy="6447901"/>
          </a:xfrm>
          <a:prstGeom prst="rect">
            <a:avLst/>
          </a:prstGeom>
          <a:noFill/>
          <a:ln w="9525">
            <a:noFill/>
            <a:miter lim="800000"/>
            <a:headEnd/>
            <a:tailEnd/>
          </a:ln>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p:cNvPicPr>
            <a:picLocks noChangeAspect="1" noChangeArrowheads="1"/>
          </p:cNvPicPr>
          <p:nvPr/>
        </p:nvPicPr>
        <p:blipFill>
          <a:blip r:embed="rId2">
            <a:lum contrast="12000"/>
          </a:blip>
          <a:srcRect/>
          <a:stretch>
            <a:fillRect/>
          </a:stretch>
        </p:blipFill>
        <p:spPr bwMode="auto">
          <a:xfrm>
            <a:off x="17276" y="620688"/>
            <a:ext cx="9126724" cy="5733256"/>
          </a:xfrm>
          <a:prstGeom prst="rect">
            <a:avLst/>
          </a:prstGeom>
          <a:noFill/>
          <a:ln w="9525">
            <a:noFill/>
            <a:miter lim="800000"/>
            <a:headEnd/>
            <a:tailEnd/>
          </a:ln>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1"/>
          <p:cNvSpPr>
            <a:spLocks noChangeArrowheads="1"/>
          </p:cNvSpPr>
          <p:nvPr/>
        </p:nvSpPr>
        <p:spPr bwMode="auto">
          <a:xfrm>
            <a:off x="539552" y="517944"/>
            <a:ext cx="8136904" cy="520142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1" u="none" strike="noStrike" cap="none" normalizeH="0" baseline="0" dirty="0" smtClean="0">
                <a:ln>
                  <a:noFill/>
                </a:ln>
                <a:solidFill>
                  <a:srgbClr val="005287"/>
                </a:solidFill>
                <a:effectLst/>
                <a:latin typeface="Times New Roman" pitchFamily="18" charset="0"/>
                <a:ea typeface="Times New Roman" pitchFamily="18" charset="0"/>
                <a:cs typeface="Times New Roman" pitchFamily="18" charset="0"/>
              </a:rPr>
              <a:t>If I die in Pakistan, it’ll be because of a traffic accident, not a bomb or bullet. The real danger over there is on the road.</a:t>
            </a:r>
            <a:endParaRPr kumimoji="0" lang="en-AU" sz="2800" b="0" i="0" u="none" strike="noStrike" cap="none" normalizeH="0" baseline="0" dirty="0" smtClean="0">
              <a:ln>
                <a:noFill/>
              </a:ln>
              <a:solidFill>
                <a:srgbClr val="005287"/>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0" i="1" u="none" strike="noStrike" cap="none" normalizeH="0" baseline="0" dirty="0" smtClean="0">
              <a:ln>
                <a:noFill/>
              </a:ln>
              <a:solidFill>
                <a:srgbClr val="005287"/>
              </a:solidFill>
              <a:effectLst/>
              <a:latin typeface="Times New Roman" pitchFamily="18" charset="0"/>
              <a:ea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1" u="none" strike="noStrike" cap="none" normalizeH="0" baseline="0" dirty="0" smtClean="0">
                <a:ln>
                  <a:noFill/>
                </a:ln>
                <a:solidFill>
                  <a:srgbClr val="005287"/>
                </a:solidFill>
                <a:effectLst/>
                <a:latin typeface="Times New Roman" pitchFamily="18" charset="0"/>
                <a:ea typeface="Times New Roman" pitchFamily="18" charset="0"/>
                <a:cs typeface="Times New Roman" pitchFamily="18" charset="0"/>
              </a:rPr>
              <a:t>A driver here must embrace fatalism otherwise he could never summon up enough courage to drive an overloaded, badly balanced, a mechanically imperfect jeep along a track where, for hours on end, one minor misjudgment could send the vehicle hurtling hundreds of feet into the Indus.</a:t>
            </a:r>
            <a:endParaRPr kumimoji="0" lang="en-AU" sz="2800" b="0" i="0" u="none" strike="noStrike" cap="none" normalizeH="0" baseline="0" dirty="0" smtClean="0">
              <a:ln>
                <a:noFill/>
              </a:ln>
              <a:solidFill>
                <a:srgbClr val="005287"/>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rgbClr val="005287"/>
              </a:solidFill>
              <a:effectLst/>
              <a:latin typeface="Tahoma" pitchFamily="34" charset="0"/>
              <a:ea typeface="Times New Roman" pitchFamily="18" charset="0"/>
              <a:cs typeface="Tahoma" pitchFamily="34" charset="0"/>
            </a:endParaRPr>
          </a:p>
          <a:p>
            <a:pPr lvl="0" defTabSz="914400" eaLnBrk="0" hangingPunct="0"/>
            <a:r>
              <a:rPr lang="en-US" sz="1600" dirty="0" smtClean="0">
                <a:solidFill>
                  <a:srgbClr val="005287"/>
                </a:solidFill>
                <a:latin typeface="Times New Roman" pitchFamily="18" charset="0"/>
                <a:ea typeface="Times New Roman" pitchFamily="18" charset="0"/>
                <a:cs typeface="Times New Roman" pitchFamily="18" charset="0"/>
              </a:rPr>
              <a:t>Q</a:t>
            </a:r>
            <a:r>
              <a:rPr kumimoji="0" lang="en-US" sz="1600" b="0" i="0" u="none" strike="noStrike" cap="none" normalizeH="0" baseline="0" dirty="0" smtClean="0">
                <a:ln>
                  <a:noFill/>
                </a:ln>
                <a:solidFill>
                  <a:srgbClr val="005287"/>
                </a:solidFill>
                <a:effectLst/>
                <a:latin typeface="Times New Roman" pitchFamily="18" charset="0"/>
                <a:ea typeface="Times New Roman" pitchFamily="18" charset="0"/>
                <a:cs typeface="Times New Roman" pitchFamily="18" charset="0"/>
              </a:rPr>
              <a:t>uotes from </a:t>
            </a:r>
            <a:r>
              <a:rPr lang="en-US" sz="1600" dirty="0" smtClean="0">
                <a:solidFill>
                  <a:srgbClr val="005287"/>
                </a:solidFill>
                <a:latin typeface="Times New Roman" pitchFamily="18" charset="0"/>
                <a:ea typeface="Times New Roman" pitchFamily="18" charset="0"/>
                <a:cs typeface="Times New Roman" pitchFamily="18" charset="0"/>
              </a:rPr>
              <a:t>Greg </a:t>
            </a:r>
            <a:r>
              <a:rPr lang="en-US" sz="1600" dirty="0" err="1" smtClean="0">
                <a:solidFill>
                  <a:srgbClr val="005287"/>
                </a:solidFill>
                <a:latin typeface="Times New Roman" pitchFamily="18" charset="0"/>
                <a:ea typeface="Times New Roman" pitchFamily="18" charset="0"/>
                <a:cs typeface="Times New Roman" pitchFamily="18" charset="0"/>
              </a:rPr>
              <a:t>Mortenson</a:t>
            </a:r>
            <a:r>
              <a:rPr lang="en-US" sz="1600" dirty="0" smtClean="0">
                <a:solidFill>
                  <a:srgbClr val="005287"/>
                </a:solidFill>
                <a:latin typeface="Times New Roman" pitchFamily="18" charset="0"/>
                <a:ea typeface="Times New Roman" pitchFamily="18" charset="0"/>
                <a:cs typeface="Times New Roman" pitchFamily="18" charset="0"/>
              </a:rPr>
              <a:t> and </a:t>
            </a:r>
            <a:r>
              <a:rPr kumimoji="0" lang="en-US" sz="1600" b="0" i="0" u="none" strike="noStrike" cap="none" normalizeH="0" baseline="0" dirty="0" err="1" smtClean="0">
                <a:ln>
                  <a:noFill/>
                </a:ln>
                <a:solidFill>
                  <a:srgbClr val="005287"/>
                </a:solidFill>
                <a:effectLst/>
                <a:latin typeface="Times New Roman" pitchFamily="18" charset="0"/>
                <a:ea typeface="Times New Roman" pitchFamily="18" charset="0"/>
                <a:cs typeface="Times New Roman" pitchFamily="18" charset="0"/>
              </a:rPr>
              <a:t>Devla</a:t>
            </a:r>
            <a:r>
              <a:rPr kumimoji="0" lang="en-US" sz="1600" b="0" i="0" u="none" strike="noStrike" cap="none" normalizeH="0" baseline="0" dirty="0" smtClean="0">
                <a:ln>
                  <a:noFill/>
                </a:ln>
                <a:solidFill>
                  <a:srgbClr val="005287"/>
                </a:solidFill>
                <a:effectLst/>
                <a:latin typeface="Times New Roman" pitchFamily="18" charset="0"/>
                <a:ea typeface="Times New Roman" pitchFamily="18" charset="0"/>
                <a:cs typeface="Times New Roman" pitchFamily="18" charset="0"/>
              </a:rPr>
              <a:t> Murphy, in ‘</a:t>
            </a:r>
            <a:r>
              <a:rPr kumimoji="0" lang="en-US" sz="1600" b="0" i="1" u="none" strike="noStrike" cap="none" normalizeH="0" baseline="0" dirty="0" smtClean="0">
                <a:ln>
                  <a:noFill/>
                </a:ln>
                <a:solidFill>
                  <a:srgbClr val="005287"/>
                </a:solidFill>
                <a:effectLst/>
                <a:latin typeface="Times New Roman" pitchFamily="18" charset="0"/>
                <a:ea typeface="Times New Roman" pitchFamily="18" charset="0"/>
                <a:cs typeface="Times New Roman" pitchFamily="18" charset="0"/>
              </a:rPr>
              <a:t>Three Cups of Tea, One Man’s Mission to Promote Peace … One School at a Time.’</a:t>
            </a:r>
            <a:endParaRPr kumimoji="0" lang="en-US" sz="1600" b="0" i="0" u="none" strike="noStrike" cap="none" normalizeH="0" baseline="0" dirty="0" smtClean="0">
              <a:ln>
                <a:noFill/>
              </a:ln>
              <a:solidFill>
                <a:srgbClr val="005287"/>
              </a:solidFill>
              <a:effectLst/>
              <a:latin typeface="Arial" pitchFamily="34" charset="0"/>
              <a:cs typeface="Arial" pitchFamily="34" charset="0"/>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AU" dirty="0" smtClean="0"/>
              <a:t>Role of beliefs in risky road use</a:t>
            </a:r>
            <a:endParaRPr lang="en-AU" dirty="0"/>
          </a:p>
        </p:txBody>
      </p:sp>
      <p:sp>
        <p:nvSpPr>
          <p:cNvPr id="4" name="Content Placeholder 3"/>
          <p:cNvSpPr>
            <a:spLocks noGrp="1"/>
          </p:cNvSpPr>
          <p:nvPr>
            <p:ph idx="1"/>
          </p:nvPr>
        </p:nvSpPr>
        <p:spPr/>
        <p:txBody>
          <a:bodyPr/>
          <a:lstStyle/>
          <a:p>
            <a:r>
              <a:rPr lang="en-AU" dirty="0" smtClean="0"/>
              <a:t>Beliefs influence behaviour and responses to interventions</a:t>
            </a:r>
          </a:p>
          <a:p>
            <a:r>
              <a:rPr lang="en-AU" dirty="0" smtClean="0"/>
              <a:t>Fatalism: “the belief that events are predetermined and inevitable, thus affecting the interpretation of crash events and leading people to take more risks and disregard safety measures” </a:t>
            </a:r>
            <a:r>
              <a:rPr lang="en-AU" sz="2000" dirty="0" smtClean="0"/>
              <a:t>(Hazen &amp; </a:t>
            </a:r>
            <a:r>
              <a:rPr lang="en-AU" sz="2000" dirty="0" err="1" smtClean="0"/>
              <a:t>Ehiri</a:t>
            </a:r>
            <a:r>
              <a:rPr lang="en-AU" sz="2000" dirty="0" smtClean="0"/>
              <a:t>, 2006)</a:t>
            </a:r>
          </a:p>
          <a:p>
            <a:r>
              <a:rPr lang="en-AU" dirty="0" smtClean="0"/>
              <a:t>Little research </a:t>
            </a:r>
            <a:endParaRPr lang="en-AU"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Conceptual framework</a:t>
            </a:r>
            <a:endParaRPr lang="en-AU" dirty="0"/>
          </a:p>
        </p:txBody>
      </p:sp>
      <p:sp>
        <p:nvSpPr>
          <p:cNvPr id="3" name="Content Placeholder 2"/>
          <p:cNvSpPr>
            <a:spLocks noGrp="1"/>
          </p:cNvSpPr>
          <p:nvPr>
            <p:ph idx="1"/>
          </p:nvPr>
        </p:nvSpPr>
        <p:spPr/>
        <p:txBody>
          <a:bodyPr/>
          <a:lstStyle/>
          <a:p>
            <a:r>
              <a:rPr lang="en-AU" dirty="0" smtClean="0"/>
              <a:t>Based on the literature:</a:t>
            </a:r>
          </a:p>
          <a:p>
            <a:pPr lvl="1"/>
            <a:r>
              <a:rPr lang="en-AU" dirty="0" smtClean="0"/>
              <a:t>Fatalism: theological vs empirical</a:t>
            </a:r>
          </a:p>
          <a:p>
            <a:pPr lvl="1"/>
            <a:r>
              <a:rPr lang="en-AU" dirty="0" smtClean="0"/>
              <a:t>Superstition</a:t>
            </a:r>
          </a:p>
          <a:p>
            <a:pPr lvl="1"/>
            <a:r>
              <a:rPr lang="en-AU" dirty="0" smtClean="0"/>
              <a:t>Religion</a:t>
            </a:r>
          </a:p>
          <a:p>
            <a:pPr lvl="1"/>
            <a:r>
              <a:rPr lang="en-AU" dirty="0" smtClean="0"/>
              <a:t>Culture</a:t>
            </a:r>
            <a:endParaRPr lang="en-AU"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Object 1"/>
          <p:cNvPicPr>
            <a:picLocks noChangeArrowheads="1"/>
          </p:cNvPicPr>
          <p:nvPr/>
        </p:nvPicPr>
        <p:blipFill>
          <a:blip r:embed="rId2"/>
          <a:srcRect/>
          <a:stretch>
            <a:fillRect/>
          </a:stretch>
        </p:blipFill>
        <p:spPr bwMode="auto">
          <a:xfrm>
            <a:off x="0" y="476672"/>
            <a:ext cx="4427984" cy="4392488"/>
          </a:xfrm>
          <a:prstGeom prst="rect">
            <a:avLst/>
          </a:prstGeom>
          <a:noFill/>
        </p:spPr>
      </p:pic>
      <p:pic>
        <p:nvPicPr>
          <p:cNvPr id="38915" name="Object 2"/>
          <p:cNvPicPr>
            <a:picLocks noChangeArrowheads="1"/>
          </p:cNvPicPr>
          <p:nvPr/>
        </p:nvPicPr>
        <p:blipFill>
          <a:blip r:embed="rId3"/>
          <a:srcRect l="-639" t="-229" r="-441" b="-963"/>
          <a:stretch>
            <a:fillRect/>
          </a:stretch>
        </p:blipFill>
        <p:spPr bwMode="auto">
          <a:xfrm>
            <a:off x="4427984" y="1772816"/>
            <a:ext cx="4716016" cy="4392488"/>
          </a:xfrm>
          <a:prstGeom prst="rect">
            <a:avLst/>
          </a:prstGeom>
          <a:noFill/>
          <a:ln w="9525">
            <a:noFill/>
            <a:miter lim="800000"/>
            <a:headEnd/>
            <a:tailEnd/>
          </a:ln>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1" descr="F:\ahsan data\data\copy1\cetificate\references\Road Safety Complete Data\accident vehicle\DSC00507.JPG"/>
          <p:cNvPicPr>
            <a:picLocks noChangeAspect="1" noChangeArrowheads="1"/>
          </p:cNvPicPr>
          <p:nvPr/>
        </p:nvPicPr>
        <p:blipFill>
          <a:blip r:embed="rId2"/>
          <a:srcRect/>
          <a:stretch>
            <a:fillRect/>
          </a:stretch>
        </p:blipFill>
        <p:spPr bwMode="auto">
          <a:xfrm>
            <a:off x="323528" y="0"/>
            <a:ext cx="8599265" cy="6453336"/>
          </a:xfrm>
          <a:prstGeom prst="rect">
            <a:avLst/>
          </a:prstGeom>
          <a:noFill/>
          <a:ln w="9525">
            <a:noFill/>
            <a:miter lim="800000"/>
            <a:headEnd/>
            <a:tailEnd/>
          </a:ln>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Description of research</a:t>
            </a:r>
            <a:endParaRPr lang="en-AU" dirty="0"/>
          </a:p>
        </p:txBody>
      </p:sp>
      <p:sp>
        <p:nvSpPr>
          <p:cNvPr id="3" name="Content Placeholder 2"/>
          <p:cNvSpPr>
            <a:spLocks noGrp="1"/>
          </p:cNvSpPr>
          <p:nvPr>
            <p:ph idx="1"/>
          </p:nvPr>
        </p:nvSpPr>
        <p:spPr>
          <a:xfrm>
            <a:off x="251520" y="1600200"/>
            <a:ext cx="8892480" cy="4525963"/>
          </a:xfrm>
        </p:spPr>
        <p:txBody>
          <a:bodyPr/>
          <a:lstStyle/>
          <a:p>
            <a:r>
              <a:rPr lang="en-AU" dirty="0" smtClean="0"/>
              <a:t>Qualitative research:</a:t>
            </a:r>
          </a:p>
          <a:p>
            <a:pPr lvl="1"/>
            <a:r>
              <a:rPr lang="en-AU" dirty="0" smtClean="0"/>
              <a:t>What are the perceptions of road crash causation in Pakistan, in particular the role of fatalism, superstition, religious and cultural beliefs?</a:t>
            </a:r>
          </a:p>
          <a:p>
            <a:pPr lvl="1"/>
            <a:r>
              <a:rPr lang="en-AU" dirty="0" smtClean="0"/>
              <a:t>How do fatalism, superstition, and religious and cultural beliefs influence road user behaviour in Pakistan?</a:t>
            </a:r>
          </a:p>
          <a:p>
            <a:pPr lvl="1"/>
            <a:r>
              <a:rPr lang="en-AU" dirty="0" smtClean="0"/>
              <a:t>Do fatalism, superstition, and religious and cultural beliefs work as obstacles to road safety interventions in Pakistan?</a:t>
            </a:r>
          </a:p>
          <a:p>
            <a:endParaRPr lang="en-AU"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lstStyle/>
          <a:p>
            <a:r>
              <a:rPr lang="en-AU" dirty="0" smtClean="0"/>
              <a:t>Methodology</a:t>
            </a:r>
            <a:endParaRPr lang="en-AU" dirty="0"/>
          </a:p>
        </p:txBody>
      </p:sp>
      <p:sp>
        <p:nvSpPr>
          <p:cNvPr id="3" name="Content Placeholder 2"/>
          <p:cNvSpPr>
            <a:spLocks noGrp="1"/>
          </p:cNvSpPr>
          <p:nvPr>
            <p:ph idx="1"/>
          </p:nvPr>
        </p:nvSpPr>
        <p:spPr>
          <a:xfrm>
            <a:off x="457200" y="1196752"/>
            <a:ext cx="8229600" cy="4525963"/>
          </a:xfrm>
        </p:spPr>
        <p:txBody>
          <a:bodyPr/>
          <a:lstStyle/>
          <a:p>
            <a:r>
              <a:rPr lang="en-AU" dirty="0" smtClean="0"/>
              <a:t>In-depth interviews in Lahore, Rawalpindi and Islamabad:</a:t>
            </a:r>
          </a:p>
          <a:p>
            <a:pPr lvl="1"/>
            <a:r>
              <a:rPr lang="en-AU" dirty="0" smtClean="0"/>
              <a:t>12 professional drivers (taxi, bus and truck)</a:t>
            </a:r>
          </a:p>
          <a:p>
            <a:pPr lvl="1"/>
            <a:r>
              <a:rPr lang="en-AU" dirty="0" smtClean="0"/>
              <a:t>4 car drivers</a:t>
            </a:r>
          </a:p>
          <a:p>
            <a:pPr lvl="1"/>
            <a:r>
              <a:rPr lang="en-AU" dirty="0" smtClean="0"/>
              <a:t>6 police officers</a:t>
            </a:r>
          </a:p>
          <a:p>
            <a:pPr lvl="1"/>
            <a:r>
              <a:rPr lang="en-AU" dirty="0" smtClean="0"/>
              <a:t>4 policy makers </a:t>
            </a:r>
          </a:p>
          <a:p>
            <a:pPr lvl="1"/>
            <a:r>
              <a:rPr lang="en-AU" dirty="0" smtClean="0"/>
              <a:t>2 religious orators</a:t>
            </a:r>
          </a:p>
          <a:p>
            <a:r>
              <a:rPr lang="en-AU" dirty="0" smtClean="0"/>
              <a:t>Wide range of ages and education</a:t>
            </a:r>
          </a:p>
          <a:p>
            <a:r>
              <a:rPr lang="en-AU" dirty="0" smtClean="0"/>
              <a:t>Interviews taped, transcribed, translated and analysed for themes</a:t>
            </a:r>
          </a:p>
          <a:p>
            <a:endParaRPr lang="en-AU"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Fatalism</a:t>
            </a:r>
            <a:endParaRPr lang="en-AU" dirty="0"/>
          </a:p>
        </p:txBody>
      </p:sp>
      <p:sp>
        <p:nvSpPr>
          <p:cNvPr id="3" name="Content Placeholder 2"/>
          <p:cNvSpPr>
            <a:spLocks noGrp="1"/>
          </p:cNvSpPr>
          <p:nvPr>
            <p:ph idx="1"/>
          </p:nvPr>
        </p:nvSpPr>
        <p:spPr/>
        <p:txBody>
          <a:bodyPr/>
          <a:lstStyle/>
          <a:p>
            <a:r>
              <a:rPr lang="en-AU" dirty="0" smtClean="0"/>
              <a:t>Pervasive</a:t>
            </a:r>
          </a:p>
          <a:p>
            <a:r>
              <a:rPr lang="en-AU" dirty="0" smtClean="0"/>
              <a:t>Religious underpinning (popular conceptions of religion)</a:t>
            </a:r>
          </a:p>
          <a:p>
            <a:r>
              <a:rPr lang="en-AU" dirty="0" smtClean="0"/>
              <a:t>Overlap with superstitious beliefs</a:t>
            </a:r>
            <a:endParaRPr lang="en-AU"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1"/>
          <p:cNvSpPr>
            <a:spLocks noChangeArrowheads="1"/>
          </p:cNvSpPr>
          <p:nvPr/>
        </p:nvSpPr>
        <p:spPr bwMode="auto">
          <a:xfrm>
            <a:off x="323528" y="135500"/>
            <a:ext cx="8640960" cy="63709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a:r>
              <a:rPr lang="en-AU" sz="2400" i="1" dirty="0" smtClean="0">
                <a:latin typeface="Times New Roman"/>
              </a:rPr>
              <a:t>The children who died in that accident would have died for some other reason anyway because death was their fate and that was their day. Death was fated for these children who were sitting on the top of bus. This was inevitable and the driver’s mistake just becomes the source of that accident. The sitting of the children on the top of the bus also became a source of death. If they had not had to face death they would not have sat there. It was also the driver’s destiny that it was in his fate to face difficulties of life in this way. </a:t>
            </a:r>
          </a:p>
          <a:p>
            <a:pPr algn="r"/>
            <a:r>
              <a:rPr lang="en-AU" sz="2400" dirty="0" smtClean="0">
                <a:latin typeface="Times New Roman"/>
              </a:rPr>
              <a:t>Male taxi driver, no education, aged 46</a:t>
            </a:r>
            <a:endParaRPr lang="en-AU" sz="2400" dirty="0" smtClean="0">
              <a:solidFill>
                <a:srgbClr val="005287"/>
              </a:solidFill>
              <a:latin typeface="Arial" pitchFamily="34" charset="0"/>
              <a:cs typeface="Arial" pitchFamily="34" charset="0"/>
            </a:endParaRPr>
          </a:p>
          <a:p>
            <a:pPr algn="r"/>
            <a:endParaRPr kumimoji="0" lang="en-AU" sz="2400" b="0" i="1" u="none" strike="noStrike" cap="none" normalizeH="0" baseline="0" dirty="0" smtClean="0">
              <a:ln>
                <a:noFill/>
              </a:ln>
              <a:solidFill>
                <a:srgbClr val="005287"/>
              </a:solidFill>
              <a:effectLst/>
              <a:latin typeface="Arial" pitchFamily="34" charset="0"/>
              <a:cs typeface="Arial" pitchFamily="34" charset="0"/>
            </a:endParaRPr>
          </a:p>
          <a:p>
            <a:pPr algn="r"/>
            <a:endParaRPr lang="en-AU" sz="2400" i="1" dirty="0" smtClean="0">
              <a:solidFill>
                <a:srgbClr val="005287"/>
              </a:solidFill>
              <a:latin typeface="Arial" pitchFamily="34" charset="0"/>
              <a:cs typeface="Arial" pitchFamily="34" charset="0"/>
            </a:endParaRPr>
          </a:p>
          <a:p>
            <a:pPr algn="just"/>
            <a:r>
              <a:rPr kumimoji="0" lang="en-AU" sz="2400" b="0" i="1" u="none" strike="noStrike" cap="none" normalizeH="0" baseline="0" dirty="0" smtClean="0">
                <a:ln>
                  <a:noFill/>
                </a:ln>
                <a:solidFill>
                  <a:srgbClr val="005287"/>
                </a:solidFill>
                <a:effectLst/>
                <a:latin typeface="Times New Roman" pitchFamily="18" charset="0"/>
                <a:cs typeface="Times New Roman" pitchFamily="18" charset="0"/>
              </a:rPr>
              <a:t>Interviewer:</a:t>
            </a:r>
            <a:r>
              <a:rPr kumimoji="0" lang="en-AU" sz="2400" b="1" i="1" u="none" strike="noStrike" cap="none" normalizeH="0" baseline="0" dirty="0" smtClean="0">
                <a:ln>
                  <a:noFill/>
                </a:ln>
                <a:solidFill>
                  <a:srgbClr val="005287"/>
                </a:solidFill>
                <a:effectLst/>
                <a:latin typeface="Times New Roman" pitchFamily="18" charset="0"/>
                <a:cs typeface="Times New Roman" pitchFamily="18" charset="0"/>
              </a:rPr>
              <a:t>  </a:t>
            </a:r>
            <a:r>
              <a:rPr kumimoji="0" lang="en-AU" sz="2400" b="0" i="1" u="none" strike="noStrike" cap="none" normalizeH="0" baseline="0" dirty="0" smtClean="0">
                <a:ln>
                  <a:noFill/>
                </a:ln>
                <a:solidFill>
                  <a:srgbClr val="005287"/>
                </a:solidFill>
                <a:effectLst/>
                <a:latin typeface="Times New Roman" pitchFamily="18" charset="0"/>
                <a:cs typeface="Times New Roman" pitchFamily="18" charset="0"/>
              </a:rPr>
              <a:t>Can a driver avoid a road accident?</a:t>
            </a:r>
            <a:endParaRPr kumimoji="0" lang="en-AU" sz="2400" b="0" i="0" u="none" strike="noStrike" cap="none" normalizeH="0" baseline="0" dirty="0" smtClean="0">
              <a:ln>
                <a:noFill/>
              </a:ln>
              <a:solidFill>
                <a:srgbClr val="005287"/>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AU" sz="2400" b="0" i="1" u="none" strike="noStrike" cap="none" normalizeH="0" baseline="0" dirty="0" smtClean="0">
                <a:ln>
                  <a:noFill/>
                </a:ln>
                <a:solidFill>
                  <a:srgbClr val="005287"/>
                </a:solidFill>
                <a:effectLst/>
                <a:latin typeface="Times New Roman" pitchFamily="18" charset="0"/>
                <a:cs typeface="Times New Roman" pitchFamily="18" charset="0"/>
              </a:rPr>
              <a:t>If it is in fate he can’t save [himself] and if it is not in fate then he can save himself. Even If someone is in a burning fire, if it is in his fate he will not be affected with it.</a:t>
            </a:r>
            <a:r>
              <a:rPr kumimoji="0" lang="en-AU" sz="2400" b="1" i="0" u="none" strike="noStrike" cap="none" normalizeH="0" baseline="0" dirty="0" smtClean="0">
                <a:ln>
                  <a:noFill/>
                </a:ln>
                <a:solidFill>
                  <a:srgbClr val="005287"/>
                </a:solidFill>
                <a:effectLst/>
                <a:latin typeface="Times New Roman" pitchFamily="18" charset="0"/>
                <a:cs typeface="Times New Roman" pitchFamily="18" charset="0"/>
              </a:rPr>
              <a:t> </a:t>
            </a:r>
          </a:p>
          <a:p>
            <a:pPr marL="0" marR="0" lvl="0" indent="0" algn="just" defTabSz="914400" rtl="0" eaLnBrk="0" fontAlgn="base" latinLnBrk="0" hangingPunct="0">
              <a:lnSpc>
                <a:spcPct val="100000"/>
              </a:lnSpc>
              <a:spcBef>
                <a:spcPct val="0"/>
              </a:spcBef>
              <a:spcAft>
                <a:spcPct val="0"/>
              </a:spcAft>
              <a:buClrTx/>
              <a:buSzTx/>
              <a:buFontTx/>
              <a:buNone/>
              <a:tabLst/>
            </a:pPr>
            <a:endParaRPr lang="en-AU" sz="2400" b="1" dirty="0" smtClean="0">
              <a:solidFill>
                <a:srgbClr val="005287"/>
              </a:solidFill>
              <a:latin typeface="Times New Roman" pitchFamily="18" charset="0"/>
              <a:cs typeface="Times New Roman" pitchFamily="18" charset="0"/>
            </a:endParaRPr>
          </a:p>
          <a:p>
            <a:pPr marL="0" marR="0" lvl="0" indent="0" algn="r" defTabSz="914400" rtl="0" eaLnBrk="0" fontAlgn="base" latinLnBrk="0" hangingPunct="0">
              <a:lnSpc>
                <a:spcPct val="100000"/>
              </a:lnSpc>
              <a:spcBef>
                <a:spcPct val="0"/>
              </a:spcBef>
              <a:spcAft>
                <a:spcPct val="0"/>
              </a:spcAft>
              <a:buClrTx/>
              <a:buSzTx/>
              <a:buFontTx/>
              <a:buNone/>
              <a:tabLst/>
            </a:pPr>
            <a:r>
              <a:rPr kumimoji="0" lang="en-AU" sz="2400" i="0" u="none" strike="noStrike" cap="none" normalizeH="0" baseline="0" dirty="0" smtClean="0">
                <a:ln>
                  <a:noFill/>
                </a:ln>
                <a:solidFill>
                  <a:srgbClr val="005287"/>
                </a:solidFill>
                <a:effectLst/>
                <a:latin typeface="Times New Roman" pitchFamily="18" charset="0"/>
                <a:cs typeface="Times New Roman" pitchFamily="18" charset="0"/>
              </a:rPr>
              <a:t>Male Bus driver, Middle </a:t>
            </a:r>
            <a:r>
              <a:rPr lang="en-AU" sz="2400" dirty="0" smtClean="0">
                <a:solidFill>
                  <a:srgbClr val="005287"/>
                </a:solidFill>
                <a:latin typeface="Times New Roman" pitchFamily="18" charset="0"/>
                <a:cs typeface="Times New Roman" pitchFamily="18" charset="0"/>
              </a:rPr>
              <a:t>S</a:t>
            </a:r>
            <a:r>
              <a:rPr kumimoji="0" lang="en-AU" sz="2400" i="0" u="none" strike="noStrike" cap="none" normalizeH="0" baseline="0" dirty="0" smtClean="0">
                <a:ln>
                  <a:noFill/>
                </a:ln>
                <a:solidFill>
                  <a:srgbClr val="005287"/>
                </a:solidFill>
                <a:effectLst/>
                <a:latin typeface="Times New Roman" pitchFamily="18" charset="0"/>
                <a:cs typeface="Times New Roman" pitchFamily="18" charset="0"/>
              </a:rPr>
              <a:t>chool, aged 55</a:t>
            </a:r>
            <a:endParaRPr kumimoji="0" lang="en-AU" sz="2400" i="0" u="none" strike="noStrike" cap="none" normalizeH="0" baseline="0" dirty="0" smtClean="0">
              <a:ln>
                <a:noFill/>
              </a:ln>
              <a:solidFill>
                <a:srgbClr val="005287"/>
              </a:solidFill>
              <a:effectLst/>
              <a:latin typeface="Arial" pitchFamily="34" charset="0"/>
              <a:cs typeface="Arial" pitchFamily="34" charset="0"/>
            </a:endParaRP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Superstition</a:t>
            </a:r>
            <a:endParaRPr lang="en-AU" dirty="0"/>
          </a:p>
        </p:txBody>
      </p:sp>
      <p:sp>
        <p:nvSpPr>
          <p:cNvPr id="3" name="Content Placeholder 2"/>
          <p:cNvSpPr>
            <a:spLocks noGrp="1"/>
          </p:cNvSpPr>
          <p:nvPr>
            <p:ph idx="1"/>
          </p:nvPr>
        </p:nvSpPr>
        <p:spPr/>
        <p:txBody>
          <a:bodyPr/>
          <a:lstStyle/>
          <a:p>
            <a:r>
              <a:rPr lang="en-AU" dirty="0" smtClean="0"/>
              <a:t>Includes attribution to malignant acts of others:</a:t>
            </a:r>
          </a:p>
          <a:p>
            <a:pPr lvl="1"/>
            <a:r>
              <a:rPr lang="en-AU" dirty="0" smtClean="0"/>
              <a:t>Evil eye</a:t>
            </a:r>
          </a:p>
          <a:p>
            <a:pPr lvl="1"/>
            <a:r>
              <a:rPr lang="en-AU" dirty="0" smtClean="0"/>
              <a:t>Black magic – link with religion</a:t>
            </a:r>
            <a:endParaRPr lang="en-AU" dirty="0"/>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Evil Eye</a:t>
            </a:r>
            <a:endParaRPr lang="en-AU" dirty="0"/>
          </a:p>
        </p:txBody>
      </p:sp>
      <p:sp>
        <p:nvSpPr>
          <p:cNvPr id="3" name="Content Placeholder 2"/>
          <p:cNvSpPr>
            <a:spLocks noGrp="1"/>
          </p:cNvSpPr>
          <p:nvPr>
            <p:ph idx="1"/>
          </p:nvPr>
        </p:nvSpPr>
        <p:spPr>
          <a:xfrm>
            <a:off x="457200" y="1600200"/>
            <a:ext cx="8229600" cy="4781128"/>
          </a:xfrm>
        </p:spPr>
        <p:txBody>
          <a:bodyPr/>
          <a:lstStyle/>
          <a:p>
            <a:pPr marL="0" lvl="0" indent="0" defTabSz="914400" eaLnBrk="1" hangingPunct="1">
              <a:spcBef>
                <a:spcPct val="0"/>
              </a:spcBef>
              <a:buNone/>
            </a:pPr>
            <a:r>
              <a:rPr lang="en-AU" sz="1600" i="1" dirty="0" smtClean="0">
                <a:latin typeface="Times New Roman" pitchFamily="18" charset="0"/>
                <a:cs typeface="Times New Roman" pitchFamily="18" charset="0"/>
              </a:rPr>
              <a:t>“I have personal experience [with evil eye]. I bought a coaster [29 seater bus] new model, with the latest shock system. I parked it at a petrol pump, the pump guy came and complimented us [saying] ‘What a nice coaster you have sir’. Then we started the vehicle and suddenly both rear shocks jammed. It was a zero meter [new] vehicle.”</a:t>
            </a:r>
          </a:p>
          <a:p>
            <a:pPr marL="0" lvl="0" indent="0" defTabSz="914400" eaLnBrk="1" hangingPunct="1">
              <a:spcBef>
                <a:spcPct val="0"/>
              </a:spcBef>
              <a:buNone/>
            </a:pPr>
            <a:r>
              <a:rPr lang="en-AU" sz="1600" i="1" dirty="0" smtClean="0">
                <a:latin typeface="Times New Roman" pitchFamily="18" charset="0"/>
                <a:cs typeface="Times New Roman" pitchFamily="18" charset="0"/>
              </a:rPr>
              <a:t> </a:t>
            </a:r>
            <a:endParaRPr lang="en-AU" sz="1600" dirty="0" smtClean="0">
              <a:latin typeface="Arial" pitchFamily="34" charset="0"/>
              <a:cs typeface="Arial" pitchFamily="34" charset="0"/>
            </a:endParaRPr>
          </a:p>
          <a:p>
            <a:pPr marL="0" lvl="0" indent="0" defTabSz="914400">
              <a:spcBef>
                <a:spcPct val="0"/>
              </a:spcBef>
              <a:buNone/>
            </a:pPr>
            <a:r>
              <a:rPr lang="en-AU" sz="1600" i="1" dirty="0" smtClean="0">
                <a:latin typeface="Times New Roman" pitchFamily="18" charset="0"/>
                <a:cs typeface="Times New Roman" pitchFamily="18" charset="0"/>
              </a:rPr>
              <a:t>Interviewer: Did the evil eye of that person cause the problem in the shocks?</a:t>
            </a:r>
          </a:p>
          <a:p>
            <a:pPr marL="0" lvl="0" indent="0" defTabSz="914400">
              <a:spcBef>
                <a:spcPct val="0"/>
              </a:spcBef>
              <a:buNone/>
            </a:pPr>
            <a:endParaRPr lang="en-AU" sz="1600" dirty="0" smtClean="0">
              <a:latin typeface="Arial" pitchFamily="34" charset="0"/>
              <a:cs typeface="Arial" pitchFamily="34" charset="0"/>
            </a:endParaRPr>
          </a:p>
          <a:p>
            <a:pPr marL="0" lvl="0" indent="0" defTabSz="914400">
              <a:spcBef>
                <a:spcPct val="0"/>
              </a:spcBef>
              <a:buNone/>
            </a:pPr>
            <a:r>
              <a:rPr lang="en-AU" sz="1600" i="1" dirty="0" smtClean="0">
                <a:latin typeface="Times New Roman" pitchFamily="18" charset="0"/>
                <a:cs typeface="Times New Roman" pitchFamily="18" charset="0"/>
              </a:rPr>
              <a:t>“Yes, I believe so.”</a:t>
            </a:r>
          </a:p>
          <a:p>
            <a:pPr marL="0" lvl="0" indent="0" defTabSz="914400">
              <a:spcBef>
                <a:spcPct val="0"/>
              </a:spcBef>
              <a:buNone/>
            </a:pPr>
            <a:endParaRPr lang="en-AU" sz="1600" dirty="0" smtClean="0">
              <a:latin typeface="Arial" pitchFamily="34" charset="0"/>
              <a:cs typeface="Arial" pitchFamily="34" charset="0"/>
            </a:endParaRPr>
          </a:p>
          <a:p>
            <a:pPr marL="0" lvl="0" indent="0" defTabSz="914400">
              <a:spcBef>
                <a:spcPct val="0"/>
              </a:spcBef>
              <a:buNone/>
            </a:pPr>
            <a:r>
              <a:rPr lang="en-AU" sz="1600" i="1" dirty="0" smtClean="0">
                <a:latin typeface="Times New Roman" pitchFamily="18" charset="0"/>
                <a:cs typeface="Times New Roman" pitchFamily="18" charset="0"/>
              </a:rPr>
              <a:t>Interviewer: Do you think it could have been a manufacturing fault or mechanical fault due to heavy jumping of the vehicle that caused the shocks break down?</a:t>
            </a:r>
          </a:p>
          <a:p>
            <a:pPr marL="0" lvl="0" indent="0" defTabSz="914400">
              <a:spcBef>
                <a:spcPct val="0"/>
              </a:spcBef>
              <a:buNone/>
            </a:pPr>
            <a:endParaRPr lang="en-AU" sz="1600" dirty="0" smtClean="0">
              <a:latin typeface="Arial" pitchFamily="34" charset="0"/>
              <a:cs typeface="Arial" pitchFamily="34" charset="0"/>
            </a:endParaRPr>
          </a:p>
          <a:p>
            <a:pPr marL="0" lvl="0" indent="0" defTabSz="914400">
              <a:spcBef>
                <a:spcPct val="0"/>
              </a:spcBef>
              <a:buNone/>
            </a:pPr>
            <a:r>
              <a:rPr lang="en-AU" sz="1600" i="1" dirty="0" smtClean="0">
                <a:latin typeface="Times New Roman" pitchFamily="18" charset="0"/>
                <a:cs typeface="Times New Roman" pitchFamily="18" charset="0"/>
              </a:rPr>
              <a:t>“No, it was absolutely right that it had been affected by evil eye. Just when I took it on the road from the petrol pumps it started giving shocks, I went back to the pump again, crawled under the vehicle to check it but couldn’t see anything wrong with it. A person came to me and asked me about the matter. He asked me if any other man had ridden in the vehicle in the last few hours. I indicated to him about the man at the petrol pump who praised the vehicle. The person told me that this man has evil eye and that is why my vehicle got a fault.”</a:t>
            </a:r>
            <a:endParaRPr lang="en-AU" sz="1600" dirty="0" smtClean="0">
              <a:latin typeface="Arial" pitchFamily="34" charset="0"/>
              <a:cs typeface="Arial" pitchFamily="34" charset="0"/>
            </a:endParaRPr>
          </a:p>
          <a:p>
            <a:pPr marL="0" lvl="0" indent="0" algn="r" defTabSz="914400">
              <a:spcBef>
                <a:spcPct val="0"/>
              </a:spcBef>
              <a:buNone/>
            </a:pPr>
            <a:r>
              <a:rPr lang="en-AU" sz="1600" dirty="0" smtClean="0">
                <a:latin typeface="Times New Roman" pitchFamily="18" charset="0"/>
                <a:ea typeface="Times New Roman" pitchFamily="18" charset="0"/>
                <a:cs typeface="Times New Roman" pitchFamily="18" charset="0"/>
              </a:rPr>
              <a:t>Male Truck Driver, Middle School, aged 40</a:t>
            </a:r>
            <a:endParaRPr lang="en-AU" sz="1600" dirty="0" smtClean="0">
              <a:latin typeface="Arial" pitchFamily="34" charset="0"/>
              <a:cs typeface="Arial" pitchFamily="34" charset="0"/>
            </a:endParaRP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Black Magic</a:t>
            </a:r>
            <a:endParaRPr lang="en-AU" dirty="0"/>
          </a:p>
        </p:txBody>
      </p:sp>
      <p:sp>
        <p:nvSpPr>
          <p:cNvPr id="3" name="Content Placeholder 2"/>
          <p:cNvSpPr>
            <a:spLocks noGrp="1"/>
          </p:cNvSpPr>
          <p:nvPr>
            <p:ph idx="1"/>
          </p:nvPr>
        </p:nvSpPr>
        <p:spPr>
          <a:xfrm>
            <a:off x="457200" y="2104256"/>
            <a:ext cx="8229600" cy="4133056"/>
          </a:xfrm>
        </p:spPr>
        <p:txBody>
          <a:bodyPr/>
          <a:lstStyle/>
          <a:p>
            <a:pPr marL="0" indent="0" defTabSz="914400" eaLnBrk="1" hangingPunct="1">
              <a:spcBef>
                <a:spcPct val="0"/>
              </a:spcBef>
              <a:buNone/>
            </a:pPr>
            <a:r>
              <a:rPr lang="en-AU" sz="2800" i="1" dirty="0" smtClean="0">
                <a:latin typeface="Times New Roman" pitchFamily="18" charset="0"/>
                <a:cs typeface="Times New Roman" pitchFamily="18" charset="0"/>
              </a:rPr>
              <a:t>Yes it [black magic] is used to give damage to people in their business, body, property. A vehicle is also a property. If someone does black magic on a vehicle, the people or driver inside the vehicle can face an accident. I believe in black magic and it also worked on the Prophet (Peace be upon Him).</a:t>
            </a:r>
          </a:p>
          <a:p>
            <a:pPr marL="0" indent="0" defTabSz="914400" eaLnBrk="1" hangingPunct="1">
              <a:spcBef>
                <a:spcPct val="0"/>
              </a:spcBef>
              <a:buNone/>
            </a:pPr>
            <a:endParaRPr lang="en-AU" sz="1600" b="1" i="1" dirty="0" smtClean="0">
              <a:latin typeface="Times New Roman" pitchFamily="18" charset="0"/>
              <a:cs typeface="Times New Roman" pitchFamily="18" charset="0"/>
            </a:endParaRPr>
          </a:p>
          <a:p>
            <a:pPr marL="0" indent="0" algn="r" defTabSz="914400" eaLnBrk="1" hangingPunct="1">
              <a:spcBef>
                <a:spcPct val="0"/>
              </a:spcBef>
              <a:buNone/>
            </a:pPr>
            <a:endParaRPr lang="en-AU" sz="1600" dirty="0" smtClean="0">
              <a:latin typeface="Times New Roman" pitchFamily="18" charset="0"/>
              <a:cs typeface="Times New Roman" pitchFamily="18" charset="0"/>
            </a:endParaRPr>
          </a:p>
          <a:p>
            <a:pPr marL="0" indent="0" algn="r" defTabSz="914400" eaLnBrk="1" hangingPunct="1">
              <a:spcBef>
                <a:spcPct val="0"/>
              </a:spcBef>
              <a:buNone/>
            </a:pPr>
            <a:r>
              <a:rPr lang="en-AU" sz="1600" dirty="0" smtClean="0">
                <a:latin typeface="Times New Roman" pitchFamily="18" charset="0"/>
                <a:cs typeface="Times New Roman" pitchFamily="18" charset="0"/>
              </a:rPr>
              <a:t> </a:t>
            </a:r>
            <a:r>
              <a:rPr lang="en-AU" sz="2400" dirty="0" smtClean="0">
                <a:latin typeface="Times New Roman" pitchFamily="18" charset="0"/>
                <a:cs typeface="Times New Roman" pitchFamily="18" charset="0"/>
              </a:rPr>
              <a:t>Male Police Officer, Bachelor degree, aged 30</a:t>
            </a:r>
            <a:endParaRPr lang="en-AU" sz="2400" i="1" dirty="0" smtClean="0">
              <a:latin typeface="Times New Roman" pitchFamily="18" charset="0"/>
              <a:cs typeface="Times New Roman" pitchFamily="18" charset="0"/>
            </a:endParaRPr>
          </a:p>
          <a:p>
            <a:pPr marL="0" lvl="0" indent="0" defTabSz="914400" eaLnBrk="1" hangingPunct="1">
              <a:spcBef>
                <a:spcPct val="0"/>
              </a:spcBef>
              <a:buNone/>
            </a:pPr>
            <a:endParaRPr lang="en-AU" sz="1600" i="1" dirty="0" smtClean="0">
              <a:latin typeface="Times New Roman" pitchFamily="18" charset="0"/>
              <a:ea typeface="Times New Roman" pitchFamily="18" charset="0"/>
              <a:cs typeface="Times New Roman" pitchFamily="18" charset="0"/>
            </a:endParaRPr>
          </a:p>
          <a:p>
            <a:pPr marL="0" lvl="0" indent="0" defTabSz="914400" eaLnBrk="1" hangingPunct="1">
              <a:spcBef>
                <a:spcPct val="0"/>
              </a:spcBef>
              <a:buNone/>
            </a:pPr>
            <a:endParaRPr lang="en-AU" sz="1600" i="1" dirty="0" smtClean="0">
              <a:latin typeface="Times New Roman" pitchFamily="18" charset="0"/>
              <a:ea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Popular concepts relating religion to crash causes</a:t>
            </a:r>
            <a:endParaRPr lang="en-AU" dirty="0"/>
          </a:p>
        </p:txBody>
      </p:sp>
      <p:sp>
        <p:nvSpPr>
          <p:cNvPr id="3" name="Content Placeholder 2"/>
          <p:cNvSpPr>
            <a:spLocks noGrp="1"/>
          </p:cNvSpPr>
          <p:nvPr>
            <p:ph idx="1"/>
          </p:nvPr>
        </p:nvSpPr>
        <p:spPr>
          <a:xfrm>
            <a:off x="457200" y="2464296"/>
            <a:ext cx="8229600" cy="3052936"/>
          </a:xfrm>
        </p:spPr>
        <p:txBody>
          <a:bodyPr/>
          <a:lstStyle/>
          <a:p>
            <a:r>
              <a:rPr lang="en-AU" dirty="0" smtClean="0"/>
              <a:t>“Test of life”</a:t>
            </a:r>
          </a:p>
          <a:p>
            <a:r>
              <a:rPr lang="en-AU" dirty="0" err="1" smtClean="0"/>
              <a:t>Shahadat</a:t>
            </a:r>
            <a:r>
              <a:rPr lang="en-AU" dirty="0" smtClean="0"/>
              <a:t> (martyrdom)</a:t>
            </a:r>
          </a:p>
          <a:p>
            <a:r>
              <a:rPr lang="en-AU" dirty="0" smtClean="0"/>
              <a:t>Punishment by God</a:t>
            </a:r>
          </a:p>
          <a:p>
            <a:r>
              <a:rPr lang="en-AU" dirty="0" smtClean="0"/>
              <a:t>Good deeds</a:t>
            </a:r>
          </a:p>
          <a:p>
            <a:r>
              <a:rPr lang="en-AU" dirty="0" smtClean="0"/>
              <a:t>Act of the devil</a:t>
            </a:r>
            <a:endParaRPr lang="en-AU" dirty="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1"/>
          <p:cNvSpPr>
            <a:spLocks noChangeArrowheads="1"/>
          </p:cNvSpPr>
          <p:nvPr/>
        </p:nvSpPr>
        <p:spPr bwMode="auto">
          <a:xfrm>
            <a:off x="467543" y="433405"/>
            <a:ext cx="8208913" cy="606319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AU" sz="2400" b="0" i="1" u="none" strike="noStrike" cap="none" normalizeH="0" baseline="0" dirty="0" smtClean="0">
                <a:ln>
                  <a:noFill/>
                </a:ln>
                <a:solidFill>
                  <a:schemeClr val="tx1"/>
                </a:solidFill>
                <a:effectLst/>
                <a:latin typeface="Times New Roman" pitchFamily="18" charset="0"/>
                <a:cs typeface="Times New Roman" pitchFamily="18" charset="0"/>
              </a:rPr>
              <a:t>I’ve asked various religious people [orators] and they told me that death in traffic accidents gain us </a:t>
            </a:r>
            <a:r>
              <a:rPr kumimoji="0" lang="en-AU" sz="2400" b="0" i="1" u="none" strike="noStrike" cap="none" normalizeH="0" baseline="0" dirty="0" err="1" smtClean="0">
                <a:ln>
                  <a:noFill/>
                </a:ln>
                <a:solidFill>
                  <a:schemeClr val="tx1"/>
                </a:solidFill>
                <a:effectLst/>
                <a:latin typeface="Times New Roman" pitchFamily="18" charset="0"/>
                <a:cs typeface="Times New Roman" pitchFamily="18" charset="0"/>
              </a:rPr>
              <a:t>Shahadat</a:t>
            </a:r>
            <a:r>
              <a:rPr kumimoji="0" lang="en-AU" sz="2400" b="0" i="1" u="none" strike="noStrike" cap="none" normalizeH="0" baseline="0" dirty="0" smtClean="0">
                <a:ln>
                  <a:noFill/>
                </a:ln>
                <a:solidFill>
                  <a:schemeClr val="tx1"/>
                </a:solidFill>
                <a:effectLst/>
                <a:latin typeface="Times New Roman" pitchFamily="18" charset="0"/>
                <a:cs typeface="Times New Roman" pitchFamily="18" charset="0"/>
              </a:rPr>
              <a:t>.</a:t>
            </a:r>
            <a:r>
              <a:rPr kumimoji="0" lang="en-AU" sz="2400" b="0" i="0" u="none" strike="noStrike" cap="none" normalizeH="0" baseline="0" dirty="0" smtClean="0">
                <a:ln>
                  <a:noFill/>
                </a:ln>
                <a:solidFill>
                  <a:schemeClr val="tx1"/>
                </a:solidFill>
                <a:effectLst/>
                <a:latin typeface="Times New Roman" pitchFamily="18" charset="0"/>
                <a:cs typeface="Times New Roman" pitchFamily="18" charset="0"/>
              </a:rPr>
              <a:t> </a:t>
            </a:r>
          </a:p>
          <a:p>
            <a:pPr marL="0" marR="0" lvl="0" indent="0" algn="r" defTabSz="914400" rtl="0" eaLnBrk="1" fontAlgn="base" latinLnBrk="0" hangingPunct="1">
              <a:lnSpc>
                <a:spcPct val="100000"/>
              </a:lnSpc>
              <a:spcBef>
                <a:spcPct val="0"/>
              </a:spcBef>
              <a:spcAft>
                <a:spcPct val="0"/>
              </a:spcAft>
              <a:buClrTx/>
              <a:buSzTx/>
              <a:buFontTx/>
              <a:buNone/>
              <a:tabLst/>
            </a:pPr>
            <a:r>
              <a:rPr kumimoji="0" lang="en-AU" sz="2400" i="0" u="none" strike="noStrike" cap="none" normalizeH="0" baseline="0" dirty="0" smtClean="0">
                <a:ln>
                  <a:noFill/>
                </a:ln>
                <a:solidFill>
                  <a:schemeClr val="tx1"/>
                </a:solidFill>
                <a:effectLst/>
                <a:latin typeface="Times New Roman" pitchFamily="18" charset="0"/>
                <a:cs typeface="Times New Roman" pitchFamily="18" charset="0"/>
              </a:rPr>
              <a:t>Male Truck Driver, Primary</a:t>
            </a:r>
            <a:r>
              <a:rPr kumimoji="0" lang="en-AU" sz="2400" i="0" u="none" strike="noStrike" cap="none" normalizeH="0" dirty="0" smtClean="0">
                <a:ln>
                  <a:noFill/>
                </a:ln>
                <a:solidFill>
                  <a:schemeClr val="tx1"/>
                </a:solidFill>
                <a:effectLst/>
                <a:latin typeface="Times New Roman" pitchFamily="18" charset="0"/>
                <a:cs typeface="Times New Roman" pitchFamily="18" charset="0"/>
              </a:rPr>
              <a:t> School, aged 60</a:t>
            </a:r>
            <a:endParaRPr kumimoji="0" lang="en-AU" sz="240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lang="en-AU" sz="2400" b="1" dirty="0" smtClean="0">
              <a:latin typeface="Times New Roman" pitchFamily="18" charset="0"/>
              <a:cs typeface="Times New Roman" pitchFamily="18" charset="0"/>
            </a:endParaRPr>
          </a:p>
          <a:p>
            <a:pPr lvl="0" defTabSz="914400"/>
            <a:endParaRPr lang="en-AU" sz="1400" i="1" dirty="0" smtClean="0">
              <a:latin typeface="Times New Roman" pitchFamily="18" charset="0"/>
              <a:cs typeface="Times New Roman" pitchFamily="18" charset="0"/>
            </a:endParaRPr>
          </a:p>
          <a:p>
            <a:pPr lvl="0" defTabSz="914400"/>
            <a:r>
              <a:rPr lang="en-AU" sz="2400" i="1" dirty="0" smtClean="0">
                <a:latin typeface="Times New Roman" pitchFamily="18" charset="0"/>
                <a:cs typeface="Times New Roman" pitchFamily="18" charset="0"/>
              </a:rPr>
              <a:t>If someone has good deeds in life he does not face an accident.”</a:t>
            </a:r>
            <a:endParaRPr lang="en-AU" sz="2400" dirty="0" smtClean="0">
              <a:latin typeface="Arial" pitchFamily="34" charset="0"/>
              <a:cs typeface="Arial" pitchFamily="34" charset="0"/>
            </a:endParaRPr>
          </a:p>
          <a:p>
            <a:pPr lvl="0" defTabSz="914400" eaLnBrk="0" hangingPunct="0"/>
            <a:r>
              <a:rPr lang="en-AU" sz="2400" i="1" dirty="0" err="1" smtClean="0">
                <a:latin typeface="Times New Roman" pitchFamily="18" charset="0"/>
                <a:cs typeface="Times New Roman" pitchFamily="18" charset="0"/>
              </a:rPr>
              <a:t>Int</a:t>
            </a:r>
            <a:r>
              <a:rPr lang="en-AU" sz="2400" i="1" dirty="0" smtClean="0">
                <a:latin typeface="Times New Roman" pitchFamily="18" charset="0"/>
                <a:cs typeface="Times New Roman" pitchFamily="18" charset="0"/>
              </a:rPr>
              <a:t>: Even if he is driving with mistakes?</a:t>
            </a:r>
            <a:endParaRPr lang="en-AU" sz="2400" dirty="0" smtClean="0">
              <a:latin typeface="Arial" pitchFamily="34" charset="0"/>
              <a:cs typeface="Arial" pitchFamily="34" charset="0"/>
            </a:endParaRPr>
          </a:p>
          <a:p>
            <a:pPr lvl="0" defTabSz="914400" eaLnBrk="0" hangingPunct="0"/>
            <a:r>
              <a:rPr lang="en-AU" sz="2400" i="1" dirty="0" smtClean="0">
                <a:latin typeface="Times New Roman" pitchFamily="18" charset="0"/>
                <a:cs typeface="Times New Roman" pitchFamily="18" charset="0"/>
              </a:rPr>
              <a:t>Yes. If he is doing well in life and he does not make a sin, he will not face an accident.</a:t>
            </a:r>
            <a:r>
              <a:rPr lang="en-AU" sz="2400" dirty="0" smtClean="0">
                <a:latin typeface="Times New Roman" pitchFamily="18" charset="0"/>
                <a:cs typeface="Times New Roman" pitchFamily="18" charset="0"/>
              </a:rPr>
              <a:t> </a:t>
            </a:r>
          </a:p>
          <a:p>
            <a:pPr lvl="0" algn="r" defTabSz="914400" eaLnBrk="0" hangingPunct="0"/>
            <a:r>
              <a:rPr lang="en-AU" sz="2400" dirty="0" smtClean="0">
                <a:latin typeface="Times New Roman" pitchFamily="18" charset="0"/>
                <a:cs typeface="Times New Roman" pitchFamily="18" charset="0"/>
              </a:rPr>
              <a:t>Male Bus Driver, Middle School, aged 55</a:t>
            </a:r>
            <a:endParaRPr lang="en-AU" sz="2400" dirty="0" smtClean="0">
              <a:latin typeface="Arial" pitchFamily="34" charset="0"/>
              <a:cs typeface="Arial"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AU" sz="2400" b="0" i="0" u="none" strike="noStrike" cap="none" normalizeH="0" baseline="0" dirty="0" smtClean="0">
              <a:ln>
                <a:noFill/>
              </a:ln>
              <a:solidFill>
                <a:schemeClr val="tx1"/>
              </a:solidFill>
              <a:effectLst/>
              <a:latin typeface="Arial" pitchFamily="34" charset="0"/>
              <a:cs typeface="Arial" pitchFamily="34" charset="0"/>
            </a:endParaRPr>
          </a:p>
          <a:p>
            <a:pPr algn="just" defTabSz="914400"/>
            <a:endParaRPr lang="en-AU" sz="1400" i="1" dirty="0" smtClean="0">
              <a:latin typeface="Times New Roman" pitchFamily="18" charset="0"/>
              <a:cs typeface="Times New Roman" pitchFamily="18" charset="0"/>
            </a:endParaRPr>
          </a:p>
          <a:p>
            <a:pPr algn="just" defTabSz="914400"/>
            <a:r>
              <a:rPr lang="en-AU" sz="2400" i="1" dirty="0" smtClean="0">
                <a:latin typeface="Times New Roman" pitchFamily="18" charset="0"/>
                <a:cs typeface="Times New Roman" pitchFamily="18" charset="0"/>
              </a:rPr>
              <a:t>Yes it’s from Satan when I make a violation. When I am driving carefully and an accident occurs, it’s natural [in fate]. When I violate the traffic rules and have an accident then it’s Satan [who is involved].</a:t>
            </a:r>
            <a:r>
              <a:rPr lang="en-AU" sz="2400" b="1" dirty="0" smtClean="0">
                <a:latin typeface="Times New Roman" pitchFamily="18" charset="0"/>
                <a:cs typeface="Times New Roman" pitchFamily="18" charset="0"/>
              </a:rPr>
              <a:t> </a:t>
            </a:r>
          </a:p>
          <a:p>
            <a:pPr algn="r" defTabSz="914400"/>
            <a:r>
              <a:rPr lang="en-AU" sz="2400" dirty="0" smtClean="0">
                <a:latin typeface="Times New Roman" pitchFamily="18" charset="0"/>
                <a:cs typeface="Times New Roman" pitchFamily="18" charset="0"/>
              </a:rPr>
              <a:t>Male Taxi Driver, Middle School aged 32</a:t>
            </a:r>
            <a:endParaRPr kumimoji="0" lang="en-AU"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r>
              <a:rPr lang="en-AU" dirty="0" smtClean="0"/>
              <a:t>Influences on prevention, behaviour &amp; practice</a:t>
            </a:r>
            <a:endParaRPr lang="en-AU" dirty="0"/>
          </a:p>
        </p:txBody>
      </p:sp>
      <p:sp>
        <p:nvSpPr>
          <p:cNvPr id="3" name="Content Placeholder 2"/>
          <p:cNvSpPr>
            <a:spLocks noGrp="1"/>
          </p:cNvSpPr>
          <p:nvPr>
            <p:ph idx="1"/>
          </p:nvPr>
        </p:nvSpPr>
        <p:spPr>
          <a:xfrm>
            <a:off x="457200" y="2176264"/>
            <a:ext cx="8229600" cy="3773016"/>
          </a:xfrm>
        </p:spPr>
        <p:txBody>
          <a:bodyPr/>
          <a:lstStyle/>
          <a:p>
            <a:r>
              <a:rPr lang="en-AU" dirty="0" err="1" smtClean="0"/>
              <a:t>Dua</a:t>
            </a:r>
            <a:r>
              <a:rPr lang="en-AU" dirty="0" smtClean="0"/>
              <a:t> (prayers) and other religious measures</a:t>
            </a:r>
          </a:p>
          <a:p>
            <a:r>
              <a:rPr lang="en-AU" dirty="0" smtClean="0"/>
              <a:t>Amulets, charms</a:t>
            </a:r>
          </a:p>
          <a:p>
            <a:r>
              <a:rPr lang="en-AU" dirty="0" smtClean="0"/>
              <a:t>Influence on driver behaviour</a:t>
            </a:r>
          </a:p>
          <a:p>
            <a:r>
              <a:rPr lang="en-AU" dirty="0" smtClean="0"/>
              <a:t>Influence on police activity</a:t>
            </a:r>
          </a:p>
          <a:p>
            <a:r>
              <a:rPr lang="en-AU" dirty="0" smtClean="0"/>
              <a:t>Under-reporting and pardoning</a:t>
            </a:r>
            <a:endParaRPr lang="en-AU" dirty="0"/>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1"/>
          <p:cNvSpPr>
            <a:spLocks noChangeArrowheads="1"/>
          </p:cNvSpPr>
          <p:nvPr/>
        </p:nvSpPr>
        <p:spPr bwMode="auto">
          <a:xfrm>
            <a:off x="323528" y="33297"/>
            <a:ext cx="8568952" cy="624786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2000" b="0" i="1" u="none" strike="noStrike" cap="none" normalizeH="0" baseline="0" dirty="0" smtClean="0">
                <a:ln>
                  <a:noFill/>
                </a:ln>
                <a:solidFill>
                  <a:schemeClr val="tx1"/>
                </a:solidFill>
                <a:effectLst/>
                <a:latin typeface="Times New Roman" pitchFamily="18" charset="0"/>
                <a:cs typeface="Times New Roman" pitchFamily="18" charset="0"/>
              </a:rPr>
              <a:t>“At night, I and other drivers usually don’t use seat belt because police are not watching us. I myself sometimes drive while feeling sleepy as it is God who saves us. It is destiny or nature [fate] that can save us. Human beings have no control on anything. I just depend on nature that can save us.</a:t>
            </a:r>
            <a:r>
              <a:rPr kumimoji="0" lang="en-AU" sz="2000" b="1" i="0" u="none" strike="noStrike" cap="none" normalizeH="0" baseline="0" dirty="0" smtClean="0">
                <a:ln>
                  <a:noFill/>
                </a:ln>
                <a:solidFill>
                  <a:schemeClr val="tx1"/>
                </a:solidFill>
                <a:effectLst/>
                <a:latin typeface="Times New Roman" pitchFamily="18" charset="0"/>
                <a:cs typeface="Times New Roman" pitchFamily="18" charset="0"/>
              </a:rPr>
              <a:t> </a:t>
            </a:r>
            <a:endParaRPr lang="en-AU" sz="2000" dirty="0" smtClean="0">
              <a:latin typeface="Times New Roman" pitchFamily="18" charset="0"/>
              <a:cs typeface="Times New Roman" pitchFamily="18" charset="0"/>
            </a:endParaRPr>
          </a:p>
          <a:p>
            <a:pPr marL="0" marR="0" lvl="0" indent="0" algn="r" defTabSz="914400" rtl="0" eaLnBrk="1" fontAlgn="base" latinLnBrk="0" hangingPunct="1">
              <a:lnSpc>
                <a:spcPct val="100000"/>
              </a:lnSpc>
              <a:spcBef>
                <a:spcPct val="0"/>
              </a:spcBef>
              <a:spcAft>
                <a:spcPct val="0"/>
              </a:spcAft>
              <a:buClrTx/>
              <a:buSzTx/>
              <a:buFontTx/>
              <a:buNone/>
              <a:tabLst/>
            </a:pPr>
            <a:r>
              <a:rPr kumimoji="0" lang="en-AU" sz="2000" i="0" u="none" strike="noStrike" cap="none" normalizeH="0" baseline="0" dirty="0" smtClean="0">
                <a:ln>
                  <a:noFill/>
                </a:ln>
                <a:solidFill>
                  <a:schemeClr val="tx1"/>
                </a:solidFill>
                <a:effectLst/>
                <a:latin typeface="Times New Roman" pitchFamily="18" charset="0"/>
                <a:cs typeface="Times New Roman" pitchFamily="18" charset="0"/>
              </a:rPr>
              <a:t>Male</a:t>
            </a:r>
            <a:r>
              <a:rPr kumimoji="0" lang="en-AU" sz="2000" i="0" u="none" strike="noStrike" cap="none" normalizeH="0" dirty="0" smtClean="0">
                <a:ln>
                  <a:noFill/>
                </a:ln>
                <a:solidFill>
                  <a:schemeClr val="tx1"/>
                </a:solidFill>
                <a:effectLst/>
                <a:latin typeface="Times New Roman" pitchFamily="18" charset="0"/>
                <a:cs typeface="Times New Roman" pitchFamily="18" charset="0"/>
              </a:rPr>
              <a:t> Taxi Driver, Middle School, aged 32</a:t>
            </a:r>
            <a:endParaRPr kumimoji="0" lang="en-AU" sz="200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lang="en-AU" sz="2000" b="1" dirty="0" smtClean="0">
              <a:latin typeface="Times New Roman" pitchFamily="18" charset="0"/>
              <a:cs typeface="Times New Roman" pitchFamily="18" charset="0"/>
            </a:endParaRPr>
          </a:p>
          <a:p>
            <a:endParaRPr lang="en-AU" sz="2000" i="1" dirty="0" smtClean="0">
              <a:latin typeface="Times New Roman"/>
            </a:endParaRPr>
          </a:p>
          <a:p>
            <a:r>
              <a:rPr lang="en-AU" sz="2000" i="1" dirty="0" smtClean="0">
                <a:latin typeface="Times New Roman"/>
              </a:rPr>
              <a:t>“In Pakistan it is very common that people think it is natural to have loss and that this is in their fate. Many times it happens if someone is injured or killed [in a road crash] he [the driver] gives a written statement on the spot that the case should not be registered because it was in their fate.”</a:t>
            </a:r>
            <a:r>
              <a:rPr lang="en-AU" sz="2000" dirty="0" smtClean="0">
                <a:latin typeface="Times New Roman"/>
              </a:rPr>
              <a:t> </a:t>
            </a:r>
          </a:p>
          <a:p>
            <a:pPr algn="r"/>
            <a:r>
              <a:rPr lang="en-AU" sz="2000" dirty="0" smtClean="0">
                <a:latin typeface="Times New Roman"/>
              </a:rPr>
              <a:t>Male Police Officer, Matriculation, aged 52</a:t>
            </a:r>
          </a:p>
          <a:p>
            <a:endParaRPr lang="en-AU" sz="2000" b="1" dirty="0" smtClean="0">
              <a:latin typeface="Times New Roman"/>
            </a:endParaRPr>
          </a:p>
          <a:p>
            <a:pPr>
              <a:spcAft>
                <a:spcPts val="0"/>
              </a:spcAft>
            </a:pPr>
            <a:endParaRPr lang="en-AU" sz="2000" i="1" dirty="0" smtClean="0">
              <a:latin typeface="Times New Roman"/>
              <a:ea typeface="Times New Roman"/>
              <a:cs typeface="Times New Roman"/>
            </a:endParaRPr>
          </a:p>
          <a:p>
            <a:pPr>
              <a:spcAft>
                <a:spcPts val="0"/>
              </a:spcAft>
            </a:pPr>
            <a:r>
              <a:rPr lang="en-AU" sz="2000" i="1" dirty="0" smtClean="0">
                <a:latin typeface="Times New Roman"/>
                <a:ea typeface="Times New Roman"/>
                <a:cs typeface="Times New Roman"/>
              </a:rPr>
              <a:t>Interviewer: “Do you think people give pardon even if the accident results in a death?”</a:t>
            </a:r>
            <a:endParaRPr lang="en-AU" sz="2000" dirty="0" smtClean="0">
              <a:latin typeface="Calibri"/>
              <a:ea typeface="Times New Roman"/>
              <a:cs typeface="Times New Roman"/>
            </a:endParaRPr>
          </a:p>
          <a:p>
            <a:pPr>
              <a:spcAft>
                <a:spcPts val="0"/>
              </a:spcAft>
            </a:pPr>
            <a:r>
              <a:rPr lang="en-AU" sz="2000" i="1" dirty="0" smtClean="0">
                <a:latin typeface="Times New Roman"/>
                <a:ea typeface="Times New Roman"/>
                <a:cs typeface="Times New Roman"/>
              </a:rPr>
              <a:t>“Yes, because people know that it’s [the crash occurred] because of fate so they give pardon.  They think it was sudden and fate and [so] why [would] they start legal procedures or take money over the dead body of their loved ones?”</a:t>
            </a:r>
            <a:r>
              <a:rPr lang="en-AU" sz="2000" b="1" dirty="0" smtClean="0">
                <a:latin typeface="Times New Roman"/>
                <a:ea typeface="Times New Roman"/>
                <a:cs typeface="Times New Roman"/>
              </a:rPr>
              <a:t> </a:t>
            </a:r>
          </a:p>
          <a:p>
            <a:pPr algn="r">
              <a:spcAft>
                <a:spcPts val="0"/>
              </a:spcAft>
            </a:pPr>
            <a:r>
              <a:rPr lang="en-AU" sz="2000" dirty="0" smtClean="0">
                <a:latin typeface="Times New Roman"/>
                <a:ea typeface="Times New Roman"/>
                <a:cs typeface="Times New Roman"/>
              </a:rPr>
              <a:t>Male Truck Driver, Primary School, aged 59</a:t>
            </a:r>
            <a:endParaRPr kumimoji="0" lang="en-AU"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Implications</a:t>
            </a:r>
            <a:endParaRPr lang="en-AU" dirty="0"/>
          </a:p>
        </p:txBody>
      </p:sp>
      <p:sp>
        <p:nvSpPr>
          <p:cNvPr id="3" name="Content Placeholder 2"/>
          <p:cNvSpPr>
            <a:spLocks noGrp="1"/>
          </p:cNvSpPr>
          <p:nvPr>
            <p:ph idx="1"/>
          </p:nvPr>
        </p:nvSpPr>
        <p:spPr/>
        <p:txBody>
          <a:bodyPr/>
          <a:lstStyle/>
          <a:p>
            <a:r>
              <a:rPr lang="en-AU" dirty="0" smtClean="0"/>
              <a:t>Further information about beliefs can enhance health promotion efforts</a:t>
            </a:r>
          </a:p>
          <a:p>
            <a:r>
              <a:rPr lang="en-AU" dirty="0" smtClean="0"/>
              <a:t>Need to shift towards scientifically-based understanding of crash causation</a:t>
            </a:r>
          </a:p>
          <a:p>
            <a:r>
              <a:rPr lang="en-AU" dirty="0" smtClean="0"/>
              <a:t>Incorporate an understanding of local beliefs into broader countermeasure approaches</a:t>
            </a:r>
          </a:p>
          <a:p>
            <a:r>
              <a:rPr lang="en-AU" dirty="0" smtClean="0"/>
              <a:t>Foster police role in professional evidence-based approach </a:t>
            </a:r>
            <a:endParaRPr lang="en-AU" dirty="0"/>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39552" y="5589240"/>
            <a:ext cx="8316416" cy="369332"/>
          </a:xfrm>
          <a:prstGeom prst="rect">
            <a:avLst/>
          </a:prstGeom>
          <a:noFill/>
        </p:spPr>
        <p:txBody>
          <a:bodyPr wrap="square" rtlCol="0">
            <a:spAutoFit/>
          </a:bodyPr>
          <a:lstStyle/>
          <a:p>
            <a:pPr marL="342900" lvl="0" indent="-342900" eaLnBrk="0" hangingPunct="0">
              <a:spcBef>
                <a:spcPts val="0"/>
              </a:spcBef>
              <a:spcAft>
                <a:spcPts val="600"/>
              </a:spcAft>
              <a:buFont typeface="Arial" charset="0"/>
              <a:buChar char="•"/>
            </a:pPr>
            <a:endParaRPr lang="en-AU" dirty="0"/>
          </a:p>
        </p:txBody>
      </p:sp>
      <p:pic>
        <p:nvPicPr>
          <p:cNvPr id="3076" name="Picture 4" descr="http://www.decadeofaction.org/images/web_button_silver_300dpi.jpg"/>
          <p:cNvPicPr>
            <a:picLocks noChangeAspect="1" noChangeArrowheads="1"/>
          </p:cNvPicPr>
          <p:nvPr/>
        </p:nvPicPr>
        <p:blipFill>
          <a:blip r:embed="rId2"/>
          <a:srcRect/>
          <a:stretch>
            <a:fillRect/>
          </a:stretch>
        </p:blipFill>
        <p:spPr bwMode="auto">
          <a:xfrm>
            <a:off x="1403648" y="0"/>
            <a:ext cx="6408711" cy="4483348"/>
          </a:xfrm>
          <a:prstGeom prst="rect">
            <a:avLst/>
          </a:prstGeom>
          <a:noFill/>
        </p:spPr>
      </p:pic>
      <p:sp>
        <p:nvSpPr>
          <p:cNvPr id="5" name="Rectangle 4"/>
          <p:cNvSpPr/>
          <p:nvPr/>
        </p:nvSpPr>
        <p:spPr>
          <a:xfrm>
            <a:off x="539552" y="4407729"/>
            <a:ext cx="7920880" cy="1717393"/>
          </a:xfrm>
          <a:prstGeom prst="rect">
            <a:avLst/>
          </a:prstGeom>
        </p:spPr>
        <p:txBody>
          <a:bodyPr wrap="square">
            <a:spAutoFit/>
          </a:bodyPr>
          <a:lstStyle/>
          <a:p>
            <a:pPr marL="342900" lvl="0" indent="-342900" algn="ctr" eaLnBrk="0" hangingPunct="0">
              <a:spcBef>
                <a:spcPct val="20000"/>
              </a:spcBef>
            </a:pPr>
            <a:r>
              <a:rPr lang="en-AU" sz="2400" b="1" i="1" dirty="0" smtClean="0">
                <a:solidFill>
                  <a:srgbClr val="005287"/>
                </a:solidFill>
                <a:latin typeface="Arial"/>
                <a:ea typeface="ＭＳ Ｐゴシック"/>
                <a:cs typeface="ＭＳ Ｐゴシック"/>
              </a:rPr>
              <a:t>Mark your Diaries!</a:t>
            </a:r>
          </a:p>
          <a:p>
            <a:pPr marL="342900" lvl="0" indent="-342900" algn="ctr" eaLnBrk="0" hangingPunct="0">
              <a:spcBef>
                <a:spcPct val="20000"/>
              </a:spcBef>
            </a:pPr>
            <a:r>
              <a:rPr lang="en-AU" sz="2400" i="1" dirty="0" smtClean="0">
                <a:solidFill>
                  <a:srgbClr val="005287"/>
                </a:solidFill>
                <a:latin typeface="Arial"/>
                <a:ea typeface="ＭＳ Ｐゴシック"/>
                <a:cs typeface="ＭＳ Ｐゴシック"/>
              </a:rPr>
              <a:t>International Council on Alcohol, Drugs and Traffic Safety Conference (ICADTS T2013)</a:t>
            </a:r>
          </a:p>
          <a:p>
            <a:pPr marL="342900" lvl="0" indent="-342900" algn="ctr" eaLnBrk="0" hangingPunct="0">
              <a:spcBef>
                <a:spcPct val="20000"/>
              </a:spcBef>
            </a:pPr>
            <a:r>
              <a:rPr lang="en-AU" sz="2400" i="1" dirty="0" smtClean="0">
                <a:solidFill>
                  <a:srgbClr val="005287"/>
                </a:solidFill>
                <a:latin typeface="Arial"/>
                <a:ea typeface="ＭＳ Ｐゴシック"/>
                <a:cs typeface="ＭＳ Ｐゴシック"/>
              </a:rPr>
              <a:t>August 2013, Brisbane Convention and Exhibition Centre</a:t>
            </a:r>
          </a:p>
        </p:txBody>
      </p:sp>
    </p:spTree>
  </p:cSld>
  <p:clrMapOvr>
    <a:masterClrMapping/>
  </p:clrMapOvr>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 val="8ce696e9412443ecc57c32ed4796326ae4778a"/>
</p:tagLst>
</file>

<file path=ppt/theme/theme1.xml><?xml version="1.0" encoding="utf-8"?>
<a:theme xmlns:a="http://schemas.openxmlformats.org/drawingml/2006/main" name="Office Theme">
  <a:themeElements>
    <a:clrScheme name="Custom 3">
      <a:dk1>
        <a:srgbClr val="005287"/>
      </a:dk1>
      <a:lt1>
        <a:sysClr val="window" lastClr="FFFFFF"/>
      </a:lt1>
      <a:dk2>
        <a:srgbClr val="CD1140"/>
      </a:dk2>
      <a:lt2>
        <a:srgbClr val="FFFFFF"/>
      </a:lt2>
      <a:accent1>
        <a:srgbClr val="CD1140"/>
      </a:accent1>
      <a:accent2>
        <a:srgbClr val="E2C54D"/>
      </a:accent2>
      <a:accent3>
        <a:srgbClr val="9BBB59"/>
      </a:accent3>
      <a:accent4>
        <a:srgbClr val="8064A2"/>
      </a:accent4>
      <a:accent5>
        <a:srgbClr val="4BACC6"/>
      </a:accent5>
      <a:accent6>
        <a:srgbClr val="F79646"/>
      </a:accent6>
      <a:hlink>
        <a:srgbClr val="CD1140"/>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3855</TotalTime>
  <Words>1458</Words>
  <Application>Microsoft Office PowerPoint</Application>
  <PresentationFormat>On-screen Show (4:3)</PresentationFormat>
  <Paragraphs>160</Paragraphs>
  <Slides>24</Slides>
  <Notes>1</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Slide 1</vt:lpstr>
      <vt:lpstr>Overview</vt:lpstr>
      <vt:lpstr>South Asian countries vs Australia, 2007: estimated fatalities, population and fatality rate per 100,000 population</vt:lpstr>
      <vt:lpstr>Slide 4</vt:lpstr>
      <vt:lpstr>Slide 5</vt:lpstr>
      <vt:lpstr>Slide 6</vt:lpstr>
      <vt:lpstr>Slide 7</vt:lpstr>
      <vt:lpstr>Role of beliefs in risky road use</vt:lpstr>
      <vt:lpstr>Conceptual framework</vt:lpstr>
      <vt:lpstr>Slide 10</vt:lpstr>
      <vt:lpstr>Slide 11</vt:lpstr>
      <vt:lpstr>Description of research</vt:lpstr>
      <vt:lpstr>Methodology</vt:lpstr>
      <vt:lpstr>Fatalism</vt:lpstr>
      <vt:lpstr>Slide 15</vt:lpstr>
      <vt:lpstr>Superstition</vt:lpstr>
      <vt:lpstr>Evil Eye</vt:lpstr>
      <vt:lpstr>Black Magic</vt:lpstr>
      <vt:lpstr>Popular concepts relating religion to crash causes</vt:lpstr>
      <vt:lpstr>Slide 20</vt:lpstr>
      <vt:lpstr>Influences on prevention, behaviour &amp; practice</vt:lpstr>
      <vt:lpstr>Slide 22</vt:lpstr>
      <vt:lpstr>Implications</vt:lpstr>
      <vt:lpstr>Slide 24</vt:lpstr>
    </vt:vector>
  </TitlesOfParts>
  <Company>Evans and Hartshorn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Meredith Evans</dc:creator>
  <cp:lastModifiedBy>smithk22</cp:lastModifiedBy>
  <cp:revision>175</cp:revision>
  <dcterms:created xsi:type="dcterms:W3CDTF">2009-02-16T00:16:40Z</dcterms:created>
  <dcterms:modified xsi:type="dcterms:W3CDTF">2012-05-17T23:01:16Z</dcterms:modified>
</cp:coreProperties>
</file>