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59" r:id="rId6"/>
    <p:sldId id="265" r:id="rId7"/>
    <p:sldId id="263" r:id="rId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-34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5B7C466-475C-4C57-9A7F-F9E9A5B61C91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 noProof="0" smtClean="0"/>
              <a:t>Click to edit Master text styles</a:t>
            </a:r>
          </a:p>
          <a:p>
            <a:pPr lvl="1"/>
            <a:r>
              <a:rPr lang="fr-CA" noProof="0" smtClean="0"/>
              <a:t>Second level</a:t>
            </a:r>
          </a:p>
          <a:p>
            <a:pPr lvl="2"/>
            <a:r>
              <a:rPr lang="fr-CA" noProof="0" smtClean="0"/>
              <a:t>Third level</a:t>
            </a:r>
          </a:p>
          <a:p>
            <a:pPr lvl="3"/>
            <a:r>
              <a:rPr lang="fr-CA" noProof="0" smtClean="0"/>
              <a:t>Fourth level</a:t>
            </a:r>
          </a:p>
          <a:p>
            <a:pPr lvl="4"/>
            <a:r>
              <a:rPr lang="fr-CA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511419D-BEA3-41FF-A948-E8A7998274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smtClean="0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2F8D9B-156C-426F-9B2F-D668086D71C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 eaLnBrk="1" hangingPunct="1">
              <a:spcBef>
                <a:spcPct val="0"/>
              </a:spcBef>
              <a:buFontTx/>
              <a:buChar char="-"/>
            </a:pPr>
            <a:endParaRPr lang="en-CA" smtClean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084AE5-9D69-4830-9BFA-1542185B077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6949-2E79-470E-B3F1-DA15C4D961C8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CDBA7-3E4C-4013-B911-BB9C9ACE8D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107CD-2E55-45E5-932B-0988088950D9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576D4-1FE0-4797-8273-6A38C393B5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75C17-2960-4758-A02F-2C9CA2A9379B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AE98C-87B7-4BA8-9693-AF56674C5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F56BE-C6DF-42E3-8614-72A1076A89DE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B91D9-FA35-40DC-B5F1-1AE49263D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E0B6E-DF07-47BC-B38D-8E7258901C22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67515-959D-41DB-B1AD-09FF7086F9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CAFB4-055C-40B1-9AA5-C564DEC93FD9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63AB8-0A76-496A-9FB0-DFB41A00F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0F5F9-8759-47ED-805A-53C199B7929F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062348-7E76-4087-B841-610C9B4AFA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347D2-2F7F-488B-B2D7-D5060EEDCD1C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14A14-F47C-4FAF-A731-58418DE42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B9115-528D-4B6E-BF1E-9BD172D0C9D6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9C5ED-C7B2-4271-ABD0-82D5D7685A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3E7E9-DDD1-4849-969B-C683965B34F0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2B781-C381-4421-8499-59F433453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A12BD-546E-4085-980D-A6F525BC58B4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574A9-2702-4EF1-8880-8FAD984D84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smtClean="0"/>
              <a:t>Click to edit Master text styles</a:t>
            </a:r>
          </a:p>
          <a:p>
            <a:pPr lvl="1"/>
            <a:r>
              <a:rPr lang="fr-CA" smtClean="0"/>
              <a:t>Second level</a:t>
            </a:r>
          </a:p>
          <a:p>
            <a:pPr lvl="2"/>
            <a:r>
              <a:rPr lang="fr-CA" smtClean="0"/>
              <a:t>Third level</a:t>
            </a:r>
          </a:p>
          <a:p>
            <a:pPr lvl="3"/>
            <a:r>
              <a:rPr lang="fr-CA" smtClean="0"/>
              <a:t>Fourth level</a:t>
            </a:r>
          </a:p>
          <a:p>
            <a:pPr lvl="4"/>
            <a:r>
              <a:rPr lang="fr-CA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96AFCD0-511A-4346-ADA9-B47F8446996B}" type="datetimeFigureOut">
              <a:rPr lang="en-US"/>
              <a:pPr>
                <a:defRPr/>
              </a:pPr>
              <a:t>3/24/2012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FEF6D1C-8093-44A0-B540-FBEF62E6E2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3" r:id="rId2"/>
    <p:sldLayoutId id="2147483742" r:id="rId3"/>
    <p:sldLayoutId id="2147483741" r:id="rId4"/>
    <p:sldLayoutId id="2147483740" r:id="rId5"/>
    <p:sldLayoutId id="2147483739" r:id="rId6"/>
    <p:sldLayoutId id="2147483738" r:id="rId7"/>
    <p:sldLayoutId id="2147483737" r:id="rId8"/>
    <p:sldLayoutId id="2147483736" r:id="rId9"/>
    <p:sldLayoutId id="2147483735" r:id="rId10"/>
    <p:sldLayoutId id="214748373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Sauvé v. Canada (Chief Electoral Officer), 2002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 smtClean="0"/>
              <a:t>Case 34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The right to vote lies at the heart of Canadian democracy. 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S. 3 of the </a:t>
            </a:r>
            <a:r>
              <a:rPr lang="en-US" i="1" dirty="0" smtClean="0"/>
              <a:t>Charter</a:t>
            </a:r>
            <a:r>
              <a:rPr lang="en-US" dirty="0" smtClean="0"/>
              <a:t> gives every Canada the right to vote.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However, s. 1 allows “reasonable limits” on this right as “can be demonstrably justified in a free and democratic society”.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Variety of disqualifications have existed in the past, and since have been abandoned. 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The case was originally brought forth in </a:t>
            </a:r>
            <a:r>
              <a:rPr lang="en-US" i="1" dirty="0" smtClean="0"/>
              <a:t>Sauvé</a:t>
            </a:r>
            <a:r>
              <a:rPr lang="en-US" dirty="0" smtClean="0"/>
              <a:t> (1993), where Sauvé argued that blanket disqualification disenfranchised prisoners on election day (of the right to vote).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The law was altered to disqualify only prisoners serving more than two year sentences.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The judges unanimously agree that conclusive scientific proof is not required to establish such a rational connection between means and ends; the logic and common sense of “reasonable person” will do. 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i="1" dirty="0" smtClean="0"/>
              <a:t>Sauvé </a:t>
            </a:r>
            <a:r>
              <a:rPr lang="en-US" dirty="0" smtClean="0"/>
              <a:t>(2002), narrowly, found that the tradition of disqualification of inmates from voting could not be maintained.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</a:t>
            </a:r>
            <a:r>
              <a:rPr lang="en-US" i="1" smtClean="0"/>
              <a:t>Sauvé</a:t>
            </a:r>
            <a:r>
              <a:rPr lang="en-US" smtClean="0"/>
              <a:t> (2002)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Justice </a:t>
            </a:r>
            <a:r>
              <a:rPr lang="en-US" dirty="0" err="1" smtClean="0"/>
              <a:t>McLachlin</a:t>
            </a:r>
            <a:r>
              <a:rPr lang="en-US" dirty="0" smtClean="0"/>
              <a:t>: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 smtClean="0"/>
              <a:t>“</a:t>
            </a:r>
            <a:r>
              <a:rPr lang="en-US" i="1" dirty="0" smtClean="0"/>
              <a:t>Charter</a:t>
            </a:r>
            <a:r>
              <a:rPr lang="en-US" dirty="0" smtClean="0"/>
              <a:t> </a:t>
            </a:r>
            <a:r>
              <a:rPr lang="en-US" dirty="0"/>
              <a:t>rights are not a matter of privilege or merit, but a function of membership in Canadian polity</a:t>
            </a:r>
            <a:r>
              <a:rPr lang="en-US" dirty="0" smtClean="0"/>
              <a:t>.” 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 smtClean="0"/>
              <a:t>Doubted that the prisoner disqualification met the “pressing and substantial purpose”.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But did not decide the case on this principle due to the precedent set in </a:t>
            </a:r>
            <a:r>
              <a:rPr lang="en-US" i="1" dirty="0" smtClean="0"/>
              <a:t>Sauvé</a:t>
            </a:r>
            <a:r>
              <a:rPr lang="en-US" dirty="0" smtClean="0"/>
              <a:t> (1993).   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 smtClean="0"/>
              <a:t>Instead the case was argued upon the “proportionality test”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1900" dirty="0" smtClean="0"/>
              <a:t>Government must show that the means chosen to effect this limit are “reasonable and demonstrably justified”.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1900" dirty="0" smtClean="0"/>
              <a:t>Government failed to demonstrate proportionality - </a:t>
            </a:r>
            <a:r>
              <a:rPr lang="en-US" sz="1900" dirty="0"/>
              <a:t>denying the vote to the penitentiary inmates and its stated goals</a:t>
            </a:r>
            <a:r>
              <a:rPr lang="en-US" sz="1900" dirty="0" smtClean="0"/>
              <a:t> 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1900" dirty="0" smtClean="0"/>
              <a:t>She argued that the blanket disqualification did not meet the rational-connection component of proportionality test. 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1900" dirty="0" smtClean="0"/>
              <a:t>Two year threshold is deemed inappropriate. She argued that no disqualification can be deemed constitutional.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1900" dirty="0" smtClean="0"/>
              <a:t>She followed by stating that a “reasonable person” could imagine no disqualification that achieves any compelling purpose.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</a:t>
            </a:r>
            <a:r>
              <a:rPr lang="en-US" i="1" smtClean="0"/>
              <a:t>Sauvé</a:t>
            </a:r>
            <a:r>
              <a:rPr lang="en-US" smtClean="0"/>
              <a:t> (2002)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Justice </a:t>
            </a:r>
            <a:r>
              <a:rPr lang="en-US" dirty="0" err="1" smtClean="0"/>
              <a:t>Gonthier</a:t>
            </a:r>
            <a:r>
              <a:rPr lang="en-US" dirty="0" smtClean="0"/>
              <a:t>: 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dirty="0" smtClean="0"/>
              <a:t>Argued that if the blanket disqualification in </a:t>
            </a:r>
            <a:r>
              <a:rPr lang="en-US" i="1" dirty="0" smtClean="0"/>
              <a:t>Sauvé </a:t>
            </a:r>
            <a:r>
              <a:rPr lang="en-US" dirty="0" smtClean="0"/>
              <a:t>(1993) failed “the minimal impairment component” of the </a:t>
            </a:r>
            <a:r>
              <a:rPr lang="en-US" i="1" dirty="0" smtClean="0"/>
              <a:t>Oakes</a:t>
            </a:r>
            <a:r>
              <a:rPr lang="en-US" dirty="0" smtClean="0"/>
              <a:t> test , the government is tasked to define the terms.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Promotion of “dialogue” between legislature and the courts.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Qualifying the length of incarceration needed for the disqualification. 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The government’s two-year threshold met the “minimal impairment” standard.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Social contract theory used as an important justification for disqualification.</a:t>
            </a:r>
          </a:p>
          <a:p>
            <a:pPr lvl="2"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Government claimed that depriving prisoners of this right was a useful teaching tool.</a:t>
            </a:r>
          </a:p>
          <a:p>
            <a:pPr marL="914400" lvl="2" indent="0"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Constitutional Principles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1400" b="1" smtClean="0"/>
              <a:t>Section 3</a:t>
            </a:r>
            <a:r>
              <a:rPr lang="en-US" sz="1400" smtClean="0"/>
              <a:t> </a:t>
            </a:r>
          </a:p>
          <a:p>
            <a:pPr lvl="1" eaLnBrk="1" hangingPunct="1"/>
            <a:r>
              <a:rPr lang="en-US" sz="1400" smtClean="0"/>
              <a:t>Right to vote for all Canadians</a:t>
            </a:r>
          </a:p>
          <a:p>
            <a:pPr lvl="1" eaLnBrk="1" hangingPunct="1"/>
            <a:r>
              <a:rPr lang="en-US" sz="1400" smtClean="0"/>
              <a:t>Right to vote is fundamental to democracy and the rule of law</a:t>
            </a:r>
          </a:p>
          <a:p>
            <a:pPr eaLnBrk="1" hangingPunct="1"/>
            <a:r>
              <a:rPr lang="en-US" sz="1400" b="1" smtClean="0"/>
              <a:t>Section 1</a:t>
            </a:r>
          </a:p>
          <a:p>
            <a:pPr lvl="1" eaLnBrk="1" hangingPunct="1"/>
            <a:r>
              <a:rPr lang="en-US" sz="1400" smtClean="0"/>
              <a:t>Reasonable limits clause and limitations clause</a:t>
            </a:r>
          </a:p>
          <a:p>
            <a:pPr lvl="1" eaLnBrk="1" hangingPunct="1"/>
            <a:r>
              <a:rPr lang="en-US" sz="1400" smtClean="0"/>
              <a:t>Legally allows the government to limit an individuals’ </a:t>
            </a:r>
            <a:r>
              <a:rPr lang="en-US" sz="1400" i="1" smtClean="0"/>
              <a:t>Charter</a:t>
            </a:r>
            <a:r>
              <a:rPr lang="en-US" sz="1400" smtClean="0"/>
              <a:t> rights</a:t>
            </a:r>
          </a:p>
          <a:p>
            <a:pPr eaLnBrk="1" hangingPunct="1"/>
            <a:r>
              <a:rPr lang="en-US" sz="1400" b="1" smtClean="0"/>
              <a:t>Section 12</a:t>
            </a:r>
          </a:p>
          <a:p>
            <a:pPr lvl="1" eaLnBrk="1" hangingPunct="1"/>
            <a:r>
              <a:rPr lang="en-US" sz="1400" smtClean="0"/>
              <a:t>Protects prisoners from “cruel and unusual treatment or punishment”</a:t>
            </a:r>
          </a:p>
          <a:p>
            <a:pPr eaLnBrk="1" hangingPunct="1"/>
            <a:r>
              <a:rPr lang="en-US" sz="1400" b="1" smtClean="0"/>
              <a:t>Section 51 (e)</a:t>
            </a:r>
          </a:p>
          <a:p>
            <a:pPr lvl="1" eaLnBrk="1" hangingPunct="1"/>
            <a:r>
              <a:rPr lang="en-US" sz="1400" smtClean="0"/>
              <a:t>Legitimate punishment does not meet the dual requirements that punishment must not be arbitrary and must serve a valid criminal law purpose.</a:t>
            </a:r>
          </a:p>
          <a:p>
            <a:pPr eaLnBrk="1" hangingPunct="1"/>
            <a:r>
              <a:rPr lang="en-US" sz="1400" b="1" smtClean="0"/>
              <a:t>Section 33</a:t>
            </a:r>
          </a:p>
          <a:p>
            <a:pPr lvl="1" eaLnBrk="1" hangingPunct="1"/>
            <a:r>
              <a:rPr lang="en-US" sz="1400" smtClean="0"/>
              <a:t>Pertains to the “notwithstanding clause” authorizing legislature to override certain portions of the </a:t>
            </a:r>
            <a:r>
              <a:rPr lang="en-US" sz="1400" i="1" smtClean="0"/>
              <a:t>Charter</a:t>
            </a:r>
          </a:p>
          <a:p>
            <a:pPr lvl="1" eaLnBrk="1" hangingPunct="1"/>
            <a:r>
              <a:rPr lang="en-US" sz="1400" smtClean="0"/>
              <a:t>Unlike other rights, the right of every citizen to vote cannot be suspended under the “notwithstanding clause”</a:t>
            </a:r>
          </a:p>
          <a:p>
            <a:pPr eaLnBrk="1" hangingPunct="1"/>
            <a:r>
              <a:rPr lang="en-US" sz="1400" smtClean="0"/>
              <a:t>Failed to meet “proportionality test” </a:t>
            </a:r>
          </a:p>
          <a:p>
            <a:pPr lvl="1" eaLnBrk="1" hangingPunct="1"/>
            <a:r>
              <a:rPr lang="en-US" sz="1400" smtClean="0"/>
              <a:t>Rational-connection</a:t>
            </a:r>
          </a:p>
          <a:p>
            <a:pPr eaLnBrk="1" hangingPunct="1"/>
            <a:r>
              <a:rPr lang="en-US" sz="1400" b="1" smtClean="0"/>
              <a:t>Section 15 </a:t>
            </a:r>
          </a:p>
          <a:p>
            <a:pPr lvl="1" eaLnBrk="1" hangingPunct="1"/>
            <a:r>
              <a:rPr lang="en-US" sz="1400" smtClean="0"/>
              <a:t>“equality-rights”</a:t>
            </a:r>
          </a:p>
          <a:p>
            <a:pPr lvl="1" eaLnBrk="1" hangingPunct="1"/>
            <a:r>
              <a:rPr lang="en-US" sz="1400" smtClean="0"/>
              <a:t>Not used in arguments, per 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i="1" dirty="0" smtClean="0"/>
              <a:t>Sauvé </a:t>
            </a:r>
            <a:r>
              <a:rPr lang="en-US" dirty="0" smtClean="0"/>
              <a:t>(2002), narrowly, found that the tradition of disqualification of inmates from voting could not be maintained.   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Strong argument proposed by Justice </a:t>
            </a:r>
            <a:r>
              <a:rPr lang="en-US" dirty="0" err="1" smtClean="0"/>
              <a:t>McLachlin</a:t>
            </a:r>
            <a:r>
              <a:rPr lang="en-US" dirty="0" smtClean="0"/>
              <a:t> that any disqualification is to be found unconstitutional. 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Government could not provide rational argument for the two year threshold imposed. 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Interesting argument presented drawing parallel between the role of penalty and disenfranchisement. 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dirty="0" smtClean="0"/>
              <a:t>Did not argue on the premise of equality; however, could have been incorporated.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i="1" dirty="0" smtClean="0"/>
              <a:t>“Charter</a:t>
            </a:r>
            <a:r>
              <a:rPr lang="en-US" dirty="0" smtClean="0"/>
              <a:t> rights are not a matter of privilege or merit, but a function of membership in Canadian polity.”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/>
              <a:buAutoNum type="arabicPeriod"/>
              <a:defRPr/>
            </a:pPr>
            <a:r>
              <a:rPr lang="en-US" dirty="0" smtClean="0"/>
              <a:t>What role those the legislation have to play when social and political policies are competing? How does the legislature and the courts maintain “dialogue”?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/>
              <a:buAutoNum type="arabicPeriod"/>
              <a:defRPr/>
            </a:pPr>
            <a:r>
              <a:rPr lang="en-US" dirty="0" smtClean="0"/>
              <a:t>What role those over-representation of certain subgroups of the population, including Aboriginals, play in the democratic process if disqualification were to be maintained?</a:t>
            </a:r>
          </a:p>
          <a:p>
            <a:pPr marL="0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 smtClean="0"/>
              <a:t> </a:t>
            </a:r>
          </a:p>
          <a:p>
            <a:pPr marL="0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 smtClean="0"/>
              <a:t>“Punishment must also fulfill a legitimate penal purpose, including deterrence, rehabilitation, retribution and denunciation (…).”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/>
              <a:buAutoNum type="arabicPeriod"/>
              <a:defRPr/>
            </a:pPr>
            <a:r>
              <a:rPr lang="en-US" dirty="0" smtClean="0"/>
              <a:t>What role do you see disenfranchisement play in rehabilitation of inmates, if any?</a:t>
            </a:r>
          </a:p>
          <a:p>
            <a:pPr marL="0" indent="0"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660</Words>
  <Application>Microsoft Macintosh PowerPoint</Application>
  <PresentationFormat>On-screen Show (4:3)</PresentationFormat>
  <Paragraphs>64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Sauvé v. Canada (Chief Electoral Officer), 2002</vt:lpstr>
      <vt:lpstr>Background</vt:lpstr>
      <vt:lpstr>Summary Sauvé (2002)</vt:lpstr>
      <vt:lpstr>Summary Sauvé (2002)</vt:lpstr>
      <vt:lpstr>Constitutional Principles</vt:lpstr>
      <vt:lpstr>Conclusion</vt:lpstr>
      <vt:lpstr>Questions</vt:lpstr>
    </vt:vector>
  </TitlesOfParts>
  <Company>York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Sauvé v. Canada (Chief Electoral Officer), 2002</dc:title>
  <dc:creator>Frances LeBlanc</dc:creator>
  <cp:lastModifiedBy>itc</cp:lastModifiedBy>
  <cp:revision>18</cp:revision>
  <dcterms:created xsi:type="dcterms:W3CDTF">2012-03-24T09:02:38Z</dcterms:created>
  <dcterms:modified xsi:type="dcterms:W3CDTF">2012-03-24T23:16:32Z</dcterms:modified>
</cp:coreProperties>
</file>