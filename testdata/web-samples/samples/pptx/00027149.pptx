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xlsx" ContentType="application/vnd.openxmlformats-officedocument.spreadsheetml.sheet"/>
  <Override PartName="/ppt/notesSlides/notesSlide6.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handoutMasterIdLst>
    <p:handoutMasterId r:id="rId15"/>
  </p:handoutMasterIdLst>
  <p:sldIdLst>
    <p:sldId id="256" r:id="rId2"/>
    <p:sldId id="274" r:id="rId3"/>
    <p:sldId id="269" r:id="rId4"/>
    <p:sldId id="264" r:id="rId5"/>
    <p:sldId id="262" r:id="rId6"/>
    <p:sldId id="263" r:id="rId7"/>
    <p:sldId id="265" r:id="rId8"/>
    <p:sldId id="272" r:id="rId9"/>
    <p:sldId id="271" r:id="rId10"/>
    <p:sldId id="268" r:id="rId11"/>
    <p:sldId id="267" r:id="rId12"/>
    <p:sldId id="260" r:id="rId13"/>
  </p:sldIdLst>
  <p:sldSz cx="9144000" cy="6858000" type="screen4x3"/>
  <p:notesSz cx="6797675" cy="9926638"/>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a:cs typeface="ＭＳ Ｐゴシック"/>
      </a:defRPr>
    </a:lvl1pPr>
    <a:lvl2pPr marL="457200" algn="l" defTabSz="457200" rtl="0" fontAlgn="base">
      <a:spcBef>
        <a:spcPct val="0"/>
      </a:spcBef>
      <a:spcAft>
        <a:spcPct val="0"/>
      </a:spcAft>
      <a:defRPr kern="1200">
        <a:solidFill>
          <a:schemeClr val="tx1"/>
        </a:solidFill>
        <a:latin typeface="Arial" charset="0"/>
        <a:ea typeface="ＭＳ Ｐゴシック"/>
        <a:cs typeface="ＭＳ Ｐゴシック"/>
      </a:defRPr>
    </a:lvl2pPr>
    <a:lvl3pPr marL="914400" algn="l" defTabSz="457200" rtl="0" fontAlgn="base">
      <a:spcBef>
        <a:spcPct val="0"/>
      </a:spcBef>
      <a:spcAft>
        <a:spcPct val="0"/>
      </a:spcAft>
      <a:defRPr kern="1200">
        <a:solidFill>
          <a:schemeClr val="tx1"/>
        </a:solidFill>
        <a:latin typeface="Arial" charset="0"/>
        <a:ea typeface="ＭＳ Ｐゴシック"/>
        <a:cs typeface="ＭＳ Ｐゴシック"/>
      </a:defRPr>
    </a:lvl3pPr>
    <a:lvl4pPr marL="1371600" algn="l" defTabSz="457200" rtl="0" fontAlgn="base">
      <a:spcBef>
        <a:spcPct val="0"/>
      </a:spcBef>
      <a:spcAft>
        <a:spcPct val="0"/>
      </a:spcAft>
      <a:defRPr kern="1200">
        <a:solidFill>
          <a:schemeClr val="tx1"/>
        </a:solidFill>
        <a:latin typeface="Arial" charset="0"/>
        <a:ea typeface="ＭＳ Ｐゴシック"/>
        <a:cs typeface="ＭＳ Ｐゴシック"/>
      </a:defRPr>
    </a:lvl4pPr>
    <a:lvl5pPr marL="1828800" algn="l" defTabSz="457200" rtl="0" fontAlgn="base">
      <a:spcBef>
        <a:spcPct val="0"/>
      </a:spcBef>
      <a:spcAft>
        <a:spcPct val="0"/>
      </a:spcAft>
      <a:defRPr kern="1200">
        <a:solidFill>
          <a:schemeClr val="tx1"/>
        </a:solidFill>
        <a:latin typeface="Arial" charset="0"/>
        <a:ea typeface="ＭＳ Ｐゴシック"/>
        <a:cs typeface="ＭＳ Ｐゴシック"/>
      </a:defRPr>
    </a:lvl5pPr>
    <a:lvl6pPr marL="2286000" algn="l" defTabSz="914400" rtl="0" eaLnBrk="1" latinLnBrk="0" hangingPunct="1">
      <a:defRPr kern="1200">
        <a:solidFill>
          <a:schemeClr val="tx1"/>
        </a:solidFill>
        <a:latin typeface="Arial" charset="0"/>
        <a:ea typeface="ＭＳ Ｐゴシック"/>
        <a:cs typeface="ＭＳ Ｐゴシック"/>
      </a:defRPr>
    </a:lvl6pPr>
    <a:lvl7pPr marL="2743200" algn="l" defTabSz="914400" rtl="0" eaLnBrk="1" latinLnBrk="0" hangingPunct="1">
      <a:defRPr kern="1200">
        <a:solidFill>
          <a:schemeClr val="tx1"/>
        </a:solidFill>
        <a:latin typeface="Arial" charset="0"/>
        <a:ea typeface="ＭＳ Ｐゴシック"/>
        <a:cs typeface="ＭＳ Ｐゴシック"/>
      </a:defRPr>
    </a:lvl7pPr>
    <a:lvl8pPr marL="3200400" algn="l" defTabSz="914400" rtl="0" eaLnBrk="1" latinLnBrk="0" hangingPunct="1">
      <a:defRPr kern="1200">
        <a:solidFill>
          <a:schemeClr val="tx1"/>
        </a:solidFill>
        <a:latin typeface="Arial" charset="0"/>
        <a:ea typeface="ＭＳ Ｐゴシック"/>
        <a:cs typeface="ＭＳ Ｐゴシック"/>
      </a:defRPr>
    </a:lvl8pPr>
    <a:lvl9pPr marL="3657600" algn="l" defTabSz="914400" rtl="0" eaLnBrk="1" latinLnBrk="0" hangingPunct="1">
      <a:defRPr kern="1200">
        <a:solidFill>
          <a:schemeClr val="tx1"/>
        </a:solidFill>
        <a:latin typeface="Arial" charset="0"/>
        <a:ea typeface="ＭＳ Ｐゴシック"/>
        <a:cs typeface="ＭＳ Ｐゴシック"/>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5287"/>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069" autoAdjust="0"/>
  </p:normalViewPr>
  <p:slideViewPr>
    <p:cSldViewPr snapToObjects="1">
      <p:cViewPr>
        <p:scale>
          <a:sx n="70" d="100"/>
          <a:sy n="70" d="100"/>
        </p:scale>
        <p:origin x="-1164" y="-51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Office_Excel_Worksheet1.xlsx"/></Relationships>
</file>

<file path=ppt/charts/chart1.xml><?xml version="1.0" encoding="utf-8"?>
<c:chartSpace xmlns:c="http://schemas.openxmlformats.org/drawingml/2006/chart" xmlns:a="http://schemas.openxmlformats.org/drawingml/2006/main" xmlns:r="http://schemas.openxmlformats.org/officeDocument/2006/relationships">
  <c:lang val="en-AU"/>
  <c:chart>
    <c:plotArea>
      <c:layout/>
      <c:barChart>
        <c:barDir val="col"/>
        <c:grouping val="clustered"/>
        <c:ser>
          <c:idx val="0"/>
          <c:order val="0"/>
          <c:tx>
            <c:strRef>
              <c:f>Sheet1!$B$1</c:f>
              <c:strCache>
                <c:ptCount val="1"/>
                <c:pt idx="0">
                  <c:v>1m</c:v>
                </c:pt>
              </c:strCache>
            </c:strRef>
          </c:tx>
          <c:cat>
            <c:strRef>
              <c:f>Sheet1!$A$2:$A$3</c:f>
              <c:strCache>
                <c:ptCount val="2"/>
                <c:pt idx="0">
                  <c:v>Footpath</c:v>
                </c:pt>
                <c:pt idx="1">
                  <c:v>Road</c:v>
                </c:pt>
              </c:strCache>
            </c:strRef>
          </c:cat>
          <c:val>
            <c:numRef>
              <c:f>Sheet1!$B$2:$B$3</c:f>
              <c:numCache>
                <c:formatCode>General</c:formatCode>
                <c:ptCount val="2"/>
                <c:pt idx="0">
                  <c:v>0.46543800000000002</c:v>
                </c:pt>
                <c:pt idx="1">
                  <c:v>0.103426</c:v>
                </c:pt>
              </c:numCache>
            </c:numRef>
          </c:val>
        </c:ser>
        <c:ser>
          <c:idx val="1"/>
          <c:order val="1"/>
          <c:tx>
            <c:strRef>
              <c:f>Sheet1!$C$1</c:f>
              <c:strCache>
                <c:ptCount val="1"/>
                <c:pt idx="0">
                  <c:v>5m</c:v>
                </c:pt>
              </c:strCache>
            </c:strRef>
          </c:tx>
          <c:spPr>
            <a:solidFill>
              <a:schemeClr val="tx1"/>
            </a:solidFill>
          </c:spPr>
          <c:cat>
            <c:strRef>
              <c:f>Sheet1!$A$2:$A$3</c:f>
              <c:strCache>
                <c:ptCount val="2"/>
                <c:pt idx="0">
                  <c:v>Footpath</c:v>
                </c:pt>
                <c:pt idx="1">
                  <c:v>Road</c:v>
                </c:pt>
              </c:strCache>
            </c:strRef>
          </c:cat>
          <c:val>
            <c:numRef>
              <c:f>Sheet1!$C$2:$C$3</c:f>
              <c:numCache>
                <c:formatCode>General</c:formatCode>
                <c:ptCount val="2"/>
                <c:pt idx="0">
                  <c:v>0.72580599999999995</c:v>
                </c:pt>
                <c:pt idx="1">
                  <c:v>0.34103600000000001</c:v>
                </c:pt>
              </c:numCache>
            </c:numRef>
          </c:val>
        </c:ser>
        <c:axId val="133958656"/>
        <c:axId val="118558720"/>
      </c:barChart>
      <c:catAx>
        <c:axId val="133958656"/>
        <c:scaling>
          <c:orientation val="minMax"/>
        </c:scaling>
        <c:axPos val="b"/>
        <c:tickLblPos val="nextTo"/>
        <c:crossAx val="118558720"/>
        <c:crosses val="autoZero"/>
        <c:auto val="1"/>
        <c:lblAlgn val="ctr"/>
        <c:lblOffset val="100"/>
      </c:catAx>
      <c:valAx>
        <c:axId val="118558720"/>
        <c:scaling>
          <c:orientation val="minMax"/>
        </c:scaling>
        <c:axPos val="l"/>
        <c:majorGridlines/>
        <c:numFmt formatCode="0%" sourceLinked="0"/>
        <c:tickLblPos val="nextTo"/>
        <c:crossAx val="133958656"/>
        <c:crosses val="autoZero"/>
        <c:crossBetween val="between"/>
      </c:valAx>
    </c:plotArea>
    <c:legend>
      <c:legendPos val="r"/>
      <c:layout/>
    </c:legend>
    <c:plotVisOnly val="1"/>
  </c:chart>
  <c:txPr>
    <a:bodyPr/>
    <a:lstStyle/>
    <a:p>
      <a:pPr>
        <a:defRPr sz="1800"/>
      </a:pPr>
      <a:endParaRPr lang="en-US"/>
    </a:p>
  </c:txPr>
  <c:externalData r:id="rId1"/>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Rectangle 2"/>
          <p:cNvSpPr>
            <a:spLocks noGrp="1" noChangeArrowheads="1"/>
          </p:cNvSpPr>
          <p:nvPr>
            <p:ph type="hdr" sz="quarter"/>
          </p:nvPr>
        </p:nvSpPr>
        <p:spPr bwMode="auto">
          <a:xfrm>
            <a:off x="0"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AU"/>
          </a:p>
        </p:txBody>
      </p:sp>
      <p:sp>
        <p:nvSpPr>
          <p:cNvPr id="30723" name="Rectangle 3"/>
          <p:cNvSpPr>
            <a:spLocks noGrp="1" noChangeArrowheads="1"/>
          </p:cNvSpPr>
          <p:nvPr>
            <p:ph type="dt" sz="quarter" idx="1"/>
          </p:nvPr>
        </p:nvSpPr>
        <p:spPr bwMode="auto">
          <a:xfrm>
            <a:off x="3849688"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fld id="{DC53DC41-766B-4B29-ADAD-DF790947F824}" type="datetimeFigureOut">
              <a:rPr lang="en-AU"/>
              <a:pPr>
                <a:defRPr/>
              </a:pPr>
              <a:t>16/09/2011</a:t>
            </a:fld>
            <a:endParaRPr lang="en-AU"/>
          </a:p>
        </p:txBody>
      </p:sp>
      <p:sp>
        <p:nvSpPr>
          <p:cNvPr id="30724" name="Rectangle 4"/>
          <p:cNvSpPr>
            <a:spLocks noGrp="1" noChangeArrowheads="1"/>
          </p:cNvSpPr>
          <p:nvPr>
            <p:ph type="ftr" sz="quarter" idx="2"/>
          </p:nvPr>
        </p:nvSpPr>
        <p:spPr bwMode="auto">
          <a:xfrm>
            <a:off x="0" y="9428163"/>
            <a:ext cx="2946400"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AU"/>
          </a:p>
        </p:txBody>
      </p:sp>
      <p:sp>
        <p:nvSpPr>
          <p:cNvPr id="30725" name="Rectangle 5"/>
          <p:cNvSpPr>
            <a:spLocks noGrp="1" noChangeArrowheads="1"/>
          </p:cNvSpPr>
          <p:nvPr>
            <p:ph type="sldNum" sz="quarter" idx="3"/>
          </p:nvPr>
        </p:nvSpPr>
        <p:spPr bwMode="auto">
          <a:xfrm>
            <a:off x="3849688" y="9428163"/>
            <a:ext cx="2946400"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DD3EC1E2-D03B-46D7-B054-48C258E9F56A}" type="slidenum">
              <a:rPr lang="en-AU"/>
              <a:pPr>
                <a:defRPr/>
              </a:pPr>
              <a:t>‹#›</a:t>
            </a:fld>
            <a:endParaRPr lang="en-AU"/>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ea typeface="ＭＳ Ｐゴシック" pitchFamily="-109" charset="-128"/>
                <a:cs typeface="+mn-cs"/>
              </a:defRPr>
            </a:lvl1pPr>
          </a:lstStyle>
          <a:p>
            <a:pPr>
              <a:defRPr/>
            </a:pPr>
            <a:endParaRPr lang="en-AU"/>
          </a:p>
        </p:txBody>
      </p:sp>
      <p:sp>
        <p:nvSpPr>
          <p:cNvPr id="3" name="Date Placeholder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ea typeface="ＭＳ Ｐゴシック" pitchFamily="-109" charset="-128"/>
                <a:cs typeface="+mn-cs"/>
              </a:defRPr>
            </a:lvl1pPr>
          </a:lstStyle>
          <a:p>
            <a:pPr>
              <a:defRPr/>
            </a:pPr>
            <a:fld id="{771141DF-262A-4073-BD9F-EF349C642F29}" type="datetimeFigureOut">
              <a:rPr lang="en-US"/>
              <a:pPr>
                <a:defRPr/>
              </a:pPr>
              <a:t>9/16/2011</a:t>
            </a:fld>
            <a:endParaRPr lang="en-AU"/>
          </a:p>
        </p:txBody>
      </p:sp>
      <p:sp>
        <p:nvSpPr>
          <p:cNvPr id="4" name="Slide Image Placeholder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pPr lvl="0"/>
            <a:endParaRPr lang="en-AU" noProof="0"/>
          </a:p>
        </p:txBody>
      </p:sp>
      <p:sp>
        <p:nvSpPr>
          <p:cNvPr id="5" name="Notes Placeholder 4"/>
          <p:cNvSpPr>
            <a:spLocks noGrp="1"/>
          </p:cNvSpPr>
          <p:nvPr>
            <p:ph type="body" sz="quarter" idx="3"/>
          </p:nvPr>
        </p:nvSpPr>
        <p:spPr>
          <a:xfrm>
            <a:off x="679450" y="4714875"/>
            <a:ext cx="5438775" cy="4467225"/>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AU" noProof="0"/>
          </a:p>
        </p:txBody>
      </p:sp>
      <p:sp>
        <p:nvSpPr>
          <p:cNvPr id="6" name="Footer Placeholder 5"/>
          <p:cNvSpPr>
            <a:spLocks noGrp="1"/>
          </p:cNvSpPr>
          <p:nvPr>
            <p:ph type="ftr" sz="quarter" idx="4"/>
          </p:nvPr>
        </p:nvSpPr>
        <p:spPr>
          <a:xfrm>
            <a:off x="0" y="9428163"/>
            <a:ext cx="2946400" cy="496887"/>
          </a:xfrm>
          <a:prstGeom prst="rect">
            <a:avLst/>
          </a:prstGeom>
        </p:spPr>
        <p:txBody>
          <a:bodyPr vert="horz" lIns="91440" tIns="45720" rIns="91440" bIns="45720" rtlCol="0" anchor="b"/>
          <a:lstStyle>
            <a:lvl1pPr algn="l">
              <a:defRPr sz="1200">
                <a:ea typeface="ＭＳ Ｐゴシック" pitchFamily="-109" charset="-128"/>
                <a:cs typeface="+mn-cs"/>
              </a:defRPr>
            </a:lvl1pPr>
          </a:lstStyle>
          <a:p>
            <a:pPr>
              <a:defRPr/>
            </a:pPr>
            <a:endParaRPr lang="en-AU"/>
          </a:p>
        </p:txBody>
      </p:sp>
      <p:sp>
        <p:nvSpPr>
          <p:cNvPr id="7" name="Slide Number Placeholder 6"/>
          <p:cNvSpPr>
            <a:spLocks noGrp="1"/>
          </p:cNvSpPr>
          <p:nvPr>
            <p:ph type="sldNum" sz="quarter" idx="5"/>
          </p:nvPr>
        </p:nvSpPr>
        <p:spPr>
          <a:xfrm>
            <a:off x="3849688" y="9428163"/>
            <a:ext cx="2946400" cy="496887"/>
          </a:xfrm>
          <a:prstGeom prst="rect">
            <a:avLst/>
          </a:prstGeom>
        </p:spPr>
        <p:txBody>
          <a:bodyPr vert="horz" lIns="91440" tIns="45720" rIns="91440" bIns="45720" rtlCol="0" anchor="b"/>
          <a:lstStyle>
            <a:lvl1pPr algn="r">
              <a:defRPr sz="1200">
                <a:ea typeface="ＭＳ Ｐゴシック" pitchFamily="-109" charset="-128"/>
                <a:cs typeface="+mn-cs"/>
              </a:defRPr>
            </a:lvl1pPr>
          </a:lstStyle>
          <a:p>
            <a:pPr>
              <a:defRPr/>
            </a:pPr>
            <a:fld id="{5CD5835F-5187-4AB3-9841-F8515DD065C1}" type="slidenum">
              <a:rPr lang="en-AU"/>
              <a:pPr>
                <a:defRPr/>
              </a:pPr>
              <a:t>‹#›</a:t>
            </a:fld>
            <a:endParaRPr lang="en-AU"/>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Slide Image Placeholder 1"/>
          <p:cNvSpPr>
            <a:spLocks noGrp="1" noRot="1" noChangeAspect="1"/>
          </p:cNvSpPr>
          <p:nvPr>
            <p:ph type="sldImg"/>
          </p:nvPr>
        </p:nvSpPr>
        <p:spPr bwMode="auto">
          <a:noFill/>
          <a:ln>
            <a:solidFill>
              <a:srgbClr val="000000"/>
            </a:solidFill>
            <a:miter lim="800000"/>
            <a:headEnd/>
            <a:tailEnd/>
          </a:ln>
        </p:spPr>
      </p:sp>
      <p:sp>
        <p:nvSpPr>
          <p:cNvPr id="17410"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AU" smtClean="0"/>
              <a:t>Participation has increased as a result of rising fuel costs, health and environmental concerns, increased traffic congestion and government initiatives.</a:t>
            </a:r>
          </a:p>
          <a:p>
            <a:pPr eaLnBrk="1" hangingPunct="1">
              <a:spcBef>
                <a:spcPct val="0"/>
              </a:spcBef>
            </a:pPr>
            <a:r>
              <a:rPr lang="en-AU" smtClean="0"/>
              <a:t>The introduction of the CityCycle scheme may increase the number of cyclists (particularly inexperienced cyclists), in an area where there is motor vehicle and pedestrian high density. </a:t>
            </a:r>
          </a:p>
        </p:txBody>
      </p:sp>
      <p:sp>
        <p:nvSpPr>
          <p:cNvPr id="17411" name="Slide Number Placeholder 3"/>
          <p:cNvSpPr txBox="1">
            <a:spLocks noGrp="1"/>
          </p:cNvSpPr>
          <p:nvPr/>
        </p:nvSpPr>
        <p:spPr bwMode="auto">
          <a:xfrm>
            <a:off x="3849688" y="9428163"/>
            <a:ext cx="2946400" cy="496887"/>
          </a:xfrm>
          <a:prstGeom prst="rect">
            <a:avLst/>
          </a:prstGeom>
          <a:noFill/>
          <a:ln w="9525">
            <a:noFill/>
            <a:miter lim="800000"/>
            <a:headEnd/>
            <a:tailEnd/>
          </a:ln>
        </p:spPr>
        <p:txBody>
          <a:bodyPr anchor="b"/>
          <a:lstStyle/>
          <a:p>
            <a:pPr algn="r"/>
            <a:fld id="{D3E5933F-BD76-4BFA-B9FB-E40EB0B7E226}" type="slidenum">
              <a:rPr lang="en-AU" sz="1200"/>
              <a:pPr algn="r"/>
              <a:t>2</a:t>
            </a:fld>
            <a:endParaRPr lang="en-AU"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noRot="1" noChangeAspect="1" noTextEdit="1"/>
          </p:cNvSpPr>
          <p:nvPr>
            <p:ph type="sldImg"/>
          </p:nvPr>
        </p:nvSpPr>
        <p:spPr bwMode="auto">
          <a:noFill/>
          <a:ln>
            <a:solidFill>
              <a:srgbClr val="000000"/>
            </a:solidFill>
            <a:miter lim="800000"/>
            <a:headEnd/>
            <a:tailEnd/>
          </a:ln>
        </p:spPr>
      </p:sp>
      <p:sp>
        <p:nvSpPr>
          <p:cNvPr id="20482" name="Rectangle 3"/>
          <p:cNvSpPr>
            <a:spLocks noGrp="1"/>
          </p:cNvSpPr>
          <p:nvPr>
            <p:ph type="body" idx="1"/>
          </p:nvPr>
        </p:nvSpPr>
        <p:spPr bwMode="auto">
          <a:noFill/>
        </p:spPr>
        <p:txBody>
          <a:bodyPr wrap="square" numCol="1" anchor="t" anchorCtr="0" compatLnSpc="1">
            <a:prstTxWarp prst="textNoShape">
              <a:avLst/>
            </a:prstTxWarp>
          </a:bodyPr>
          <a:lstStyle/>
          <a:p>
            <a:r>
              <a:rPr lang="en-GB" smtClean="0"/>
              <a:t>The observations were conducted on Monday 4 October to Thursday 7 October 2010</a:t>
            </a:r>
            <a:r>
              <a:rPr lang="en-AU" smtClean="0"/>
              <a:t> from 7-9am, 9-11am, 2-4pm, and 4-6pm to capture commuter cycling as well as the short trips that are the target of the CityCycle scheme.  </a:t>
            </a:r>
            <a:r>
              <a:rPr lang="en-GB" smtClean="0"/>
              <a:t>This period was during the school term and did not include any public holidays.  It was the first week of the introduction of the </a:t>
            </a:r>
            <a:r>
              <a:rPr lang="en-AU" smtClean="0"/>
              <a:t>CityCycle</a:t>
            </a:r>
            <a:r>
              <a:rPr lang="en-GB" smtClean="0"/>
              <a:t> scheme but relatively few pods and bicycles were operational.  The weather was fine on all days of the study.  </a:t>
            </a:r>
            <a:endParaRPr lang="en-AU"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Image Placeholder 1"/>
          <p:cNvSpPr>
            <a:spLocks noGrp="1" noRot="1" noChangeAspect="1"/>
          </p:cNvSpPr>
          <p:nvPr>
            <p:ph type="sldImg"/>
          </p:nvPr>
        </p:nvSpPr>
        <p:spPr bwMode="auto">
          <a:noFill/>
          <a:ln>
            <a:solidFill>
              <a:srgbClr val="000000"/>
            </a:solidFill>
            <a:miter lim="800000"/>
            <a:headEnd/>
            <a:tailEnd/>
          </a:ln>
        </p:spPr>
      </p:sp>
      <p:sp>
        <p:nvSpPr>
          <p:cNvPr id="22530" name="Notes Placeholder 2"/>
          <p:cNvSpPr>
            <a:spLocks noGrp="1"/>
          </p:cNvSpPr>
          <p:nvPr>
            <p:ph type="body" idx="1"/>
          </p:nvPr>
        </p:nvSpPr>
        <p:spPr bwMode="auto">
          <a:noFill/>
        </p:spPr>
        <p:txBody>
          <a:bodyPr wrap="square" numCol="1" anchor="t" anchorCtr="0" compatLnSpc="1">
            <a:prstTxWarp prst="textNoShape">
              <a:avLst/>
            </a:prstTxWarp>
          </a:bodyPr>
          <a:lstStyle/>
          <a:p>
            <a:pPr algn="just" eaLnBrk="1" hangingPunct="1">
              <a:spcBef>
                <a:spcPct val="0"/>
              </a:spcBef>
            </a:pPr>
            <a:r>
              <a:rPr lang="en-AU" smtClean="0"/>
              <a:t>Trained observers counted cyclists at six CBD locations selected in terms of width of footpath, presence or absence of on-road bicycle facilities, one-way or two-way traffic and pedestrian volumes. These locations were Ann St outside Central Railway Station, Eagle St opposite Riparian Plaza, Adelaide St outside City Hall, George St between Ann and Turbot Sts, William St outside the Old Treasury Building and Albert St between Margaret and Mary Sts.  All are near CityCycle stations, and considered to be routes to key points in the city. </a:t>
            </a:r>
          </a:p>
        </p:txBody>
      </p:sp>
      <p:sp>
        <p:nvSpPr>
          <p:cNvPr id="22531"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D514F887-D54C-4D49-8D4F-FE203616360D}" type="slidenum">
              <a:rPr lang="en-AU" smtClean="0">
                <a:ea typeface="ＭＳ Ｐゴシック"/>
                <a:cs typeface="ＭＳ Ｐゴシック"/>
              </a:rPr>
              <a:pPr/>
              <a:t>5</a:t>
            </a:fld>
            <a:endParaRPr lang="en-AU" smtClean="0">
              <a:ea typeface="ＭＳ Ｐゴシック"/>
              <a:cs typeface="ＭＳ Ｐゴシック"/>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Image Placeholder 1"/>
          <p:cNvSpPr>
            <a:spLocks noGrp="1" noRot="1" noChangeAspect="1"/>
          </p:cNvSpPr>
          <p:nvPr>
            <p:ph type="sldImg"/>
          </p:nvPr>
        </p:nvSpPr>
        <p:spPr bwMode="auto">
          <a:noFill/>
          <a:ln>
            <a:solidFill>
              <a:srgbClr val="000000"/>
            </a:solidFill>
            <a:miter lim="800000"/>
            <a:headEnd/>
            <a:tailEnd/>
          </a:ln>
        </p:spPr>
      </p:sp>
      <p:sp>
        <p:nvSpPr>
          <p:cNvPr id="24578" name="Notes Placeholder 2"/>
          <p:cNvSpPr>
            <a:spLocks noGrp="1"/>
          </p:cNvSpPr>
          <p:nvPr>
            <p:ph type="body" idx="1"/>
          </p:nvPr>
        </p:nvSpPr>
        <p:spPr bwMode="auto">
          <a:noFill/>
        </p:spPr>
        <p:txBody>
          <a:bodyPr wrap="square" numCol="1" anchor="t" anchorCtr="0" compatLnSpc="1">
            <a:prstTxWarp prst="textNoShape">
              <a:avLst/>
            </a:prstTxWarp>
          </a:bodyPr>
          <a:lstStyle/>
          <a:p>
            <a:r>
              <a:rPr lang="en-AU" smtClean="0"/>
              <a:t>A simple form was developed for recording observations (see Appendix). The variables collected for each cyclist included:  apparent gender, apparent age (child, adolescent, adult), helmet use; and location of cyclist (road or footpath).  The number of pedestrians within a 5 metre radius was estimated as a measure of pedestrian density and the number of pedestrians within 1 metre of the cyclist was counted as an indicator of potential for collision.  The number of cyclist conflicts with motor vehicles and pedestrians (e.g. evasive manoeuvres such as swerving or hard braking) was noted.  </a:t>
            </a:r>
          </a:p>
          <a:p>
            <a:r>
              <a:rPr lang="en-AU" smtClean="0"/>
              <a:t>Given that whether they were on the road or on the footpath and the presence of pedestrians could change as cyclists rode along, observers were instructed to draw an imaginary line across the footpath and street and only record data as cyclists passed that line.  Observers recorded only those cyclists who were riding at the time, no records were made of people walking bicycles. </a:t>
            </a:r>
          </a:p>
        </p:txBody>
      </p:sp>
      <p:sp>
        <p:nvSpPr>
          <p:cNvPr id="24579"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2E11C00F-A8FC-4E62-8E1B-CBAFEA58787B}" type="slidenum">
              <a:rPr lang="en-AU" smtClean="0">
                <a:ea typeface="ＭＳ Ｐゴシック"/>
                <a:cs typeface="ＭＳ Ｐゴシック"/>
              </a:rPr>
              <a:pPr/>
              <a:t>6</a:t>
            </a:fld>
            <a:endParaRPr lang="en-AU" smtClean="0">
              <a:ea typeface="ＭＳ Ｐゴシック"/>
              <a:cs typeface="ＭＳ Ｐゴシック"/>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Image Placeholder 1"/>
          <p:cNvSpPr>
            <a:spLocks noGrp="1" noRot="1" noChangeAspect="1"/>
          </p:cNvSpPr>
          <p:nvPr>
            <p:ph type="sldImg"/>
          </p:nvPr>
        </p:nvSpPr>
        <p:spPr bwMode="auto">
          <a:noFill/>
          <a:ln>
            <a:solidFill>
              <a:srgbClr val="000000"/>
            </a:solidFill>
            <a:miter lim="800000"/>
            <a:headEnd/>
            <a:tailEnd/>
          </a:ln>
        </p:spPr>
      </p:sp>
      <p:sp>
        <p:nvSpPr>
          <p:cNvPr id="26626" name="Notes Placeholder 2"/>
          <p:cNvSpPr>
            <a:spLocks noGrp="1"/>
          </p:cNvSpPr>
          <p:nvPr>
            <p:ph type="body" idx="1"/>
          </p:nvPr>
        </p:nvSpPr>
        <p:spPr bwMode="auto">
          <a:noFill/>
        </p:spPr>
        <p:txBody>
          <a:bodyPr wrap="square" numCol="1" anchor="t" anchorCtr="0" compatLnSpc="1">
            <a:prstTxWarp prst="textNoShape">
              <a:avLst/>
            </a:prstTxWarp>
          </a:bodyPr>
          <a:lstStyle/>
          <a:p>
            <a:r>
              <a:rPr lang="en-AU" smtClean="0"/>
              <a:t>Preliminary analysis of the data – yet to do site comparisons. </a:t>
            </a:r>
          </a:p>
        </p:txBody>
      </p:sp>
      <p:sp>
        <p:nvSpPr>
          <p:cNvPr id="4" name="Slide Number Placeholder 3"/>
          <p:cNvSpPr>
            <a:spLocks noGrp="1"/>
          </p:cNvSpPr>
          <p:nvPr>
            <p:ph type="sldNum" sz="quarter" idx="5"/>
          </p:nvPr>
        </p:nvSpPr>
        <p:spPr/>
        <p:txBody>
          <a:bodyPr/>
          <a:lstStyle/>
          <a:p>
            <a:pPr>
              <a:defRPr/>
            </a:pPr>
            <a:fld id="{7103FD00-442A-4BD5-B1D0-16A251919D1E}" type="slidenum">
              <a:rPr lang="en-AU" smtClean="0"/>
              <a:pPr>
                <a:defRPr/>
              </a:pPr>
              <a:t>7</a:t>
            </a:fld>
            <a:endParaRPr lang="en-AU"/>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noFill/>
          <a:ln>
            <a:solidFill>
              <a:srgbClr val="000000"/>
            </a:solidFill>
            <a:miter lim="800000"/>
            <a:headEnd/>
            <a:tailEnd/>
          </a:ln>
        </p:spPr>
      </p:sp>
      <p:sp>
        <p:nvSpPr>
          <p:cNvPr id="3174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AU" smtClean="0"/>
              <a:t>While not a category on the record, some enthusiastic observers noted if a bicycle was travelling against the traffic flow – indicating some cyclists use the footpath to continue along the most direct route, and negotiate the one-way streets in the CBD. </a:t>
            </a:r>
          </a:p>
          <a:p>
            <a:pPr eaLnBrk="1" hangingPunct="1"/>
            <a:r>
              <a:rPr lang="en-AU" smtClean="0"/>
              <a:t>The differences in gender may reinforce the idea of different perception of risk. Willingness to travel on the footpath may also reflect desired travel speed – research from Japan indicates that bicycles travelling on the footpath reduce speeds, dependent on pedestrian volume. </a:t>
            </a:r>
          </a:p>
        </p:txBody>
      </p:sp>
      <p:sp>
        <p:nvSpPr>
          <p:cNvPr id="4" name="Slide Number Placeholder 3"/>
          <p:cNvSpPr>
            <a:spLocks noGrp="1"/>
          </p:cNvSpPr>
          <p:nvPr>
            <p:ph type="sldNum" sz="quarter" idx="5"/>
          </p:nvPr>
        </p:nvSpPr>
        <p:spPr/>
        <p:txBody>
          <a:bodyPr/>
          <a:lstStyle/>
          <a:p>
            <a:pPr>
              <a:defRPr/>
            </a:pPr>
            <a:fld id="{9312BBB8-56F3-4E50-984B-F9344870EE9E}" type="slidenum">
              <a:rPr lang="en-AU" smtClean="0"/>
              <a:pPr>
                <a:defRPr/>
              </a:pPr>
              <a:t>10</a:t>
            </a:fld>
            <a:endParaRPr lang="en-AU"/>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AU"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AU"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54E0544C-FEC6-4E48-81C0-AC714198DF69}" type="datetime1">
              <a:rPr lang="en-US"/>
              <a:pPr>
                <a:defRPr/>
              </a:pPr>
              <a:t>9/16/2011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B1555F7F-4DEA-4EBE-9529-67B490DFBA03}" type="slidenum">
              <a:rPr lang="en-US"/>
              <a:pPr>
                <a:defRPr/>
              </a:pPr>
              <a:t>‹#›</a:t>
            </a:fld>
            <a:endParaRPr lang="en-US"/>
          </a:p>
        </p:txBody>
      </p:sp>
    </p:spTree>
  </p:cSld>
  <p:clrMapOvr>
    <a:masterClrMapping/>
  </p:clrMapOvr>
  <p:transition>
    <p:dissolv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idx="1"/>
          </p:nvPr>
        </p:nvSpPr>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0070DAAC-7FF9-44C8-BE4F-3FFB61FBFBDF}" type="datetime1">
              <a:rPr lang="en-US"/>
              <a:pPr>
                <a:defRPr/>
              </a:pPr>
              <a:t>9/16/2011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A2670EA-54B3-4E18-8A7D-B3435012CAFD}" type="slidenum">
              <a:rPr lang="en-US"/>
              <a:pPr>
                <a:defRPr/>
              </a:pPr>
              <a:t>‹#›</a:t>
            </a:fld>
            <a:endParaRPr lang="en-US"/>
          </a:p>
        </p:txBody>
      </p:sp>
    </p:spTree>
  </p:cSld>
  <p:clrMapOvr>
    <a:masterClrMapping/>
  </p:clrMapOvr>
  <p:transition>
    <p:dissolv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AU"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AU"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47582B32-221D-4B16-A4C4-20B2657BEE49}" type="datetime1">
              <a:rPr lang="en-US"/>
              <a:pPr>
                <a:defRPr/>
              </a:pPr>
              <a:t>9/16/2011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8CE6A55-235D-4B42-A93E-DEBFCB7D660B}" type="slidenum">
              <a:rPr lang="en-US"/>
              <a:pPr>
                <a:defRPr/>
              </a:pPr>
              <a:t>‹#›</a:t>
            </a:fld>
            <a:endParaRPr lang="en-US"/>
          </a:p>
        </p:txBody>
      </p:sp>
    </p:spTree>
  </p:cSld>
  <p:clrMapOvr>
    <a:masterClrMapping/>
  </p:clrMapOvr>
  <p:transition>
    <p:dissolv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3FEC086A-99B4-4BCA-BA98-8E8274F6B690}" type="datetime1">
              <a:rPr lang="en-US"/>
              <a:pPr>
                <a:defRPr/>
              </a:pPr>
              <a:t>9/16/2011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C114141-0B3D-44FD-8132-88A416A930C4}" type="slidenum">
              <a:rPr lang="en-US"/>
              <a:pPr>
                <a:defRPr/>
              </a:pPr>
              <a:t>‹#›</a:t>
            </a:fld>
            <a:endParaRPr lang="en-US"/>
          </a:p>
        </p:txBody>
      </p:sp>
    </p:spTree>
  </p:cSld>
  <p:clrMapOvr>
    <a:masterClrMapping/>
  </p:clrMapOvr>
  <p:transition>
    <p:dissolv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AU"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FF0292F0-2123-45E5-8D71-BED524F47E44}" type="datetime1">
              <a:rPr lang="en-US"/>
              <a:pPr>
                <a:defRPr/>
              </a:pPr>
              <a:t>9/16/2011</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CD57F8C4-4887-44A9-B989-09CDC2869E1C}" type="slidenum">
              <a:rPr lang="en-US"/>
              <a:pPr>
                <a:defRPr/>
              </a:pPr>
              <a:t>‹#›</a:t>
            </a:fld>
            <a:endParaRPr lang="en-US"/>
          </a:p>
        </p:txBody>
      </p:sp>
    </p:spTree>
  </p:cSld>
  <p:clrMapOvr>
    <a:masterClrMapping/>
  </p:clrMapOvr>
  <p:transition>
    <p:dissolv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433A447-4ABB-4770-BCB4-BD74ECC5113D}" type="datetime1">
              <a:rPr lang="en-US"/>
              <a:pPr>
                <a:defRPr/>
              </a:pPr>
              <a:t>9/16/2011</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39A8FE39-6803-4A90-B5DA-7C2C42AA3791}" type="slidenum">
              <a:rPr lang="en-US"/>
              <a:pPr>
                <a:defRPr/>
              </a:pPr>
              <a:t>‹#›</a:t>
            </a:fld>
            <a:endParaRPr lang="en-US"/>
          </a:p>
        </p:txBody>
      </p:sp>
    </p:spTree>
  </p:cSld>
  <p:clrMapOvr>
    <a:masterClrMapping/>
  </p:clrMapOvr>
  <p:transition>
    <p:dissolv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49F6A7F8-62D7-4A05-AAF4-80C7E28968E0}" type="datetime1">
              <a:rPr lang="en-US"/>
              <a:pPr>
                <a:defRPr/>
              </a:pPr>
              <a:t>9/16/2011</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667B0750-6694-4088-B9FC-09197AF2750F}" type="slidenum">
              <a:rPr lang="en-US"/>
              <a:pPr>
                <a:defRPr/>
              </a:pPr>
              <a:t>‹#›</a:t>
            </a:fld>
            <a:endParaRPr lang="en-US"/>
          </a:p>
        </p:txBody>
      </p:sp>
    </p:spTree>
  </p:cSld>
  <p:clrMapOvr>
    <a:masterClrMapping/>
  </p:clrMapOvr>
  <p:transition>
    <p:dissolv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AU"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FCF75003-EA7A-4D95-80AD-C4EC5A11B802}" type="datetime1">
              <a:rPr lang="en-US"/>
              <a:pPr>
                <a:defRPr/>
              </a:pPr>
              <a:t>9/16/2011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79FBAA1F-B08D-4262-905C-FE281D1ECD12}" type="slidenum">
              <a:rPr lang="en-US"/>
              <a:pPr>
                <a:defRPr/>
              </a:pPr>
              <a:t>‹#›</a:t>
            </a:fld>
            <a:endParaRPr lang="en-US"/>
          </a:p>
        </p:txBody>
      </p:sp>
    </p:spTree>
  </p:cSld>
  <p:clrMapOvr>
    <a:masterClrMapping/>
  </p:clrMapOvr>
  <p:transition>
    <p:dissolv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AU"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4AD89D88-3B0D-4E21-A51F-638A68746F4A}" type="datetime1">
              <a:rPr lang="en-US"/>
              <a:pPr>
                <a:defRPr/>
              </a:pPr>
              <a:t>9/16/2011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19FF0D64-872C-43C6-B0C3-0F16F84D4256}" type="slidenum">
              <a:rPr lang="en-US"/>
              <a:pPr>
                <a:defRPr/>
              </a:pPr>
              <a:t>‹#›</a:t>
            </a:fld>
            <a:endParaRPr lang="en-US"/>
          </a:p>
        </p:txBody>
      </p:sp>
    </p:spTree>
  </p:cSld>
  <p:clrMapOvr>
    <a:masterClrMapping/>
  </p:clrMapOvr>
  <p:transition>
    <p:dissolv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7EBFAF55-1014-4374-B78D-06550CAEDF2C}" type="datetime1">
              <a:rPr lang="en-US"/>
              <a:pPr>
                <a:defRPr/>
              </a:pPr>
              <a:t>9/16/2011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BF4E0F41-1FD3-4CA2-B2F3-2FB75EFD4E18}" type="slidenum">
              <a:rPr lang="en-US"/>
              <a:pPr>
                <a:defRPr/>
              </a:pPr>
              <a:t>‹#›</a:t>
            </a:fld>
            <a:endParaRPr lang="en-US"/>
          </a:p>
        </p:txBody>
      </p:sp>
    </p:spTree>
  </p:cSld>
  <p:clrMapOvr>
    <a:masterClrMapping/>
  </p:clrMapOvr>
  <p:transition>
    <p:dissolv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AU"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9D919440-12AA-47AC-A43F-8471D221ACCA}" type="datetime1">
              <a:rPr lang="en-US"/>
              <a:pPr>
                <a:defRPr/>
              </a:pPr>
              <a:t>9/16/2011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B3142FF-2B7A-4449-BC17-86BA6B21F055}" type="slidenum">
              <a:rPr lang="en-US"/>
              <a:pPr>
                <a:defRPr/>
              </a:pPr>
              <a:t>‹#›</a:t>
            </a:fld>
            <a:endParaRPr lang="en-US"/>
          </a:p>
        </p:txBody>
      </p:sp>
    </p:spTree>
  </p:cSld>
  <p:clrMapOvr>
    <a:masterClrMapping/>
  </p:clrMapOvr>
  <p:transition>
    <p:dissolv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AU" smtClean="0"/>
              <a:t>Click to edit Master title style</a:t>
            </a:r>
            <a:endParaRPr lang="en-US" smtClean="0"/>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98B0"/>
                </a:solidFill>
                <a:ea typeface="ＭＳ Ｐゴシック" pitchFamily="-109" charset="-128"/>
                <a:cs typeface="+mn-cs"/>
              </a:defRPr>
            </a:lvl1pPr>
          </a:lstStyle>
          <a:p>
            <a:pPr>
              <a:defRPr/>
            </a:pPr>
            <a:fld id="{1B87A987-4818-4088-8090-530ABF847C22}" type="datetime1">
              <a:rPr lang="en-US"/>
              <a:pPr>
                <a:defRPr/>
              </a:pPr>
              <a:t>9/16/2011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98B0"/>
                </a:solidFill>
                <a:ea typeface="ＭＳ Ｐゴシック" pitchFamily="-109" charset="-128"/>
                <a:cs typeface="+mn-cs"/>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98B0"/>
                </a:solidFill>
                <a:ea typeface="ＭＳ Ｐゴシック" pitchFamily="-109" charset="-128"/>
                <a:cs typeface="+mn-cs"/>
              </a:defRPr>
            </a:lvl1pPr>
          </a:lstStyle>
          <a:p>
            <a:pPr>
              <a:defRPr/>
            </a:pPr>
            <a:fld id="{AB29FDD2-B75F-483A-92E3-A76AE526A861}"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dissolve/>
  </p:transition>
  <p:txStyles>
    <p:titleStyle>
      <a:lvl1pPr algn="ctr" defTabSz="457200" rtl="0" eaLnBrk="0" fontAlgn="base" hangingPunct="0">
        <a:spcBef>
          <a:spcPct val="0"/>
        </a:spcBef>
        <a:spcAft>
          <a:spcPct val="0"/>
        </a:spcAft>
        <a:defRPr sz="4400" kern="1200">
          <a:solidFill>
            <a:schemeClr val="tx1"/>
          </a:solidFill>
          <a:latin typeface="+mj-lt"/>
          <a:ea typeface="ＭＳ Ｐゴシック" pitchFamily="-109" charset="-128"/>
          <a:cs typeface="ＭＳ Ｐゴシック" pitchFamily="-109" charset="-128"/>
        </a:defRPr>
      </a:lvl1pPr>
      <a:lvl2pPr algn="ctr" defTabSz="457200" rtl="0" eaLnBrk="0" fontAlgn="base" hangingPunct="0">
        <a:spcBef>
          <a:spcPct val="0"/>
        </a:spcBef>
        <a:spcAft>
          <a:spcPct val="0"/>
        </a:spcAft>
        <a:defRPr sz="4400">
          <a:solidFill>
            <a:schemeClr val="tx1"/>
          </a:solidFill>
          <a:latin typeface="Arial" charset="0"/>
          <a:ea typeface="ＭＳ Ｐゴシック" pitchFamily="-109" charset="-128"/>
          <a:cs typeface="ＭＳ Ｐゴシック" pitchFamily="-109" charset="-128"/>
        </a:defRPr>
      </a:lvl2pPr>
      <a:lvl3pPr algn="ctr" defTabSz="457200" rtl="0" eaLnBrk="0" fontAlgn="base" hangingPunct="0">
        <a:spcBef>
          <a:spcPct val="0"/>
        </a:spcBef>
        <a:spcAft>
          <a:spcPct val="0"/>
        </a:spcAft>
        <a:defRPr sz="4400">
          <a:solidFill>
            <a:schemeClr val="tx1"/>
          </a:solidFill>
          <a:latin typeface="Arial" charset="0"/>
          <a:ea typeface="ＭＳ Ｐゴシック" pitchFamily="-109" charset="-128"/>
          <a:cs typeface="ＭＳ Ｐゴシック" pitchFamily="-109" charset="-128"/>
        </a:defRPr>
      </a:lvl3pPr>
      <a:lvl4pPr algn="ctr" defTabSz="457200" rtl="0" eaLnBrk="0" fontAlgn="base" hangingPunct="0">
        <a:spcBef>
          <a:spcPct val="0"/>
        </a:spcBef>
        <a:spcAft>
          <a:spcPct val="0"/>
        </a:spcAft>
        <a:defRPr sz="4400">
          <a:solidFill>
            <a:schemeClr val="tx1"/>
          </a:solidFill>
          <a:latin typeface="Arial" charset="0"/>
          <a:ea typeface="ＭＳ Ｐゴシック" pitchFamily="-109" charset="-128"/>
          <a:cs typeface="ＭＳ Ｐゴシック" pitchFamily="-109" charset="-128"/>
        </a:defRPr>
      </a:lvl4pPr>
      <a:lvl5pPr algn="ctr" defTabSz="457200" rtl="0" eaLnBrk="0" fontAlgn="base" hangingPunct="0">
        <a:spcBef>
          <a:spcPct val="0"/>
        </a:spcBef>
        <a:spcAft>
          <a:spcPct val="0"/>
        </a:spcAft>
        <a:defRPr sz="4400">
          <a:solidFill>
            <a:schemeClr val="tx1"/>
          </a:solidFill>
          <a:latin typeface="Arial" charset="0"/>
          <a:ea typeface="ＭＳ Ｐゴシック" pitchFamily="-109" charset="-128"/>
          <a:cs typeface="ＭＳ Ｐゴシック" pitchFamily="-109" charset="-128"/>
        </a:defRPr>
      </a:lvl5pPr>
      <a:lvl6pPr marL="457200" algn="ctr" defTabSz="457200" rtl="0" fontAlgn="base">
        <a:spcBef>
          <a:spcPct val="0"/>
        </a:spcBef>
        <a:spcAft>
          <a:spcPct val="0"/>
        </a:spcAft>
        <a:defRPr sz="4400">
          <a:solidFill>
            <a:schemeClr val="tx1"/>
          </a:solidFill>
          <a:latin typeface="Calibri" pitchFamily="-109" charset="0"/>
          <a:ea typeface="ＭＳ Ｐゴシック" pitchFamily="-109" charset="-128"/>
          <a:cs typeface="ＭＳ Ｐゴシック" pitchFamily="-109" charset="-128"/>
        </a:defRPr>
      </a:lvl6pPr>
      <a:lvl7pPr marL="914400" algn="ctr" defTabSz="457200" rtl="0" fontAlgn="base">
        <a:spcBef>
          <a:spcPct val="0"/>
        </a:spcBef>
        <a:spcAft>
          <a:spcPct val="0"/>
        </a:spcAft>
        <a:defRPr sz="4400">
          <a:solidFill>
            <a:schemeClr val="tx1"/>
          </a:solidFill>
          <a:latin typeface="Calibri" pitchFamily="-109" charset="0"/>
          <a:ea typeface="ＭＳ Ｐゴシック" pitchFamily="-109" charset="-128"/>
          <a:cs typeface="ＭＳ Ｐゴシック" pitchFamily="-109" charset="-128"/>
        </a:defRPr>
      </a:lvl7pPr>
      <a:lvl8pPr marL="1371600" algn="ctr" defTabSz="457200" rtl="0" fontAlgn="base">
        <a:spcBef>
          <a:spcPct val="0"/>
        </a:spcBef>
        <a:spcAft>
          <a:spcPct val="0"/>
        </a:spcAft>
        <a:defRPr sz="4400">
          <a:solidFill>
            <a:schemeClr val="tx1"/>
          </a:solidFill>
          <a:latin typeface="Calibri" pitchFamily="-109" charset="0"/>
          <a:ea typeface="ＭＳ Ｐゴシック" pitchFamily="-109" charset="-128"/>
          <a:cs typeface="ＭＳ Ｐゴシック" pitchFamily="-109" charset="-128"/>
        </a:defRPr>
      </a:lvl8pPr>
      <a:lvl9pPr marL="1828800" algn="ctr" defTabSz="457200" rtl="0" fontAlgn="base">
        <a:spcBef>
          <a:spcPct val="0"/>
        </a:spcBef>
        <a:spcAft>
          <a:spcPct val="0"/>
        </a:spcAft>
        <a:defRPr sz="4400">
          <a:solidFill>
            <a:schemeClr val="tx1"/>
          </a:solidFill>
          <a:latin typeface="Calibri" pitchFamily="-109" charset="0"/>
          <a:ea typeface="ＭＳ Ｐゴシック" pitchFamily="-109" charset="-128"/>
          <a:cs typeface="ＭＳ Ｐゴシック" pitchFamily="-109" charset="-128"/>
        </a:defRPr>
      </a:lvl9pPr>
    </p:titleStyle>
    <p:body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ＭＳ Ｐゴシック" pitchFamily="-109" charset="-128"/>
          <a:cs typeface="ＭＳ Ｐゴシック" pitchFamily="-109" charset="-128"/>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ＭＳ Ｐゴシック" pitchFamily="-109" charset="-128"/>
          <a:cs typeface="ＭＳ Ｐゴシック"/>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ＭＳ Ｐゴシック" pitchFamily="-109" charset="-128"/>
          <a:cs typeface="ＭＳ Ｐゴシック"/>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pitchFamily="-109" charset="-128"/>
          <a:cs typeface="ＭＳ Ｐゴシック"/>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pitchFamily="-109" charset="-128"/>
          <a:cs typeface="ＭＳ Ｐゴシック"/>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5362" name="TextBox 3"/>
          <p:cNvSpPr txBox="1">
            <a:spLocks noChangeArrowheads="1"/>
          </p:cNvSpPr>
          <p:nvPr/>
        </p:nvSpPr>
        <p:spPr bwMode="auto">
          <a:xfrm>
            <a:off x="7429500" y="6611938"/>
            <a:ext cx="1714500" cy="246062"/>
          </a:xfrm>
          <a:prstGeom prst="rect">
            <a:avLst/>
          </a:prstGeom>
          <a:noFill/>
          <a:ln w="9525">
            <a:noFill/>
            <a:miter lim="800000"/>
            <a:headEnd/>
            <a:tailEnd/>
          </a:ln>
        </p:spPr>
        <p:txBody>
          <a:bodyPr>
            <a:spAutoFit/>
          </a:bodyPr>
          <a:lstStyle/>
          <a:p>
            <a:r>
              <a:rPr lang="en-AU" sz="1000">
                <a:solidFill>
                  <a:schemeClr val="bg1"/>
                </a:solidFill>
              </a:rPr>
              <a:t>CRICOS No. 00213J</a:t>
            </a:r>
          </a:p>
        </p:txBody>
      </p:sp>
      <p:sp>
        <p:nvSpPr>
          <p:cNvPr id="15363" name="Title 1"/>
          <p:cNvSpPr txBox="1">
            <a:spLocks/>
          </p:cNvSpPr>
          <p:nvPr/>
        </p:nvSpPr>
        <p:spPr bwMode="auto">
          <a:xfrm>
            <a:off x="714375" y="2743200"/>
            <a:ext cx="8286750" cy="1981200"/>
          </a:xfrm>
          <a:prstGeom prst="rect">
            <a:avLst/>
          </a:prstGeom>
          <a:noFill/>
          <a:ln w="9525">
            <a:noFill/>
            <a:miter lim="800000"/>
            <a:headEnd/>
            <a:tailEnd/>
          </a:ln>
        </p:spPr>
        <p:txBody>
          <a:bodyPr lIns="0" rIns="0" anchor="ctr"/>
          <a:lstStyle/>
          <a:p>
            <a:pPr algn="r"/>
            <a:r>
              <a:rPr lang="en-AU" sz="4000">
                <a:latin typeface="Cambria" pitchFamily="18" charset="0"/>
              </a:rPr>
              <a:t>Interactions between pedestrians and cyclists in the city centre</a:t>
            </a:r>
          </a:p>
          <a:p>
            <a:pPr algn="r"/>
            <a:r>
              <a:rPr lang="en-AU" sz="4000">
                <a:latin typeface="Cambria" pitchFamily="18" charset="0"/>
              </a:rPr>
              <a:t> </a:t>
            </a:r>
            <a:endParaRPr lang="en-US" sz="4000">
              <a:solidFill>
                <a:schemeClr val="tx2"/>
              </a:solidFill>
              <a:latin typeface="Cambria" pitchFamily="18" charset="0"/>
            </a:endParaRPr>
          </a:p>
        </p:txBody>
      </p:sp>
      <p:sp>
        <p:nvSpPr>
          <p:cNvPr id="15364" name="Subtitle 2"/>
          <p:cNvSpPr>
            <a:spLocks noGrp="1"/>
          </p:cNvSpPr>
          <p:nvPr>
            <p:ph type="subTitle" idx="1"/>
          </p:nvPr>
        </p:nvSpPr>
        <p:spPr>
          <a:xfrm>
            <a:off x="857250" y="4000500"/>
            <a:ext cx="8143875" cy="1562100"/>
          </a:xfrm>
        </p:spPr>
        <p:txBody>
          <a:bodyPr lIns="0" rIns="0" anchor="ctr"/>
          <a:lstStyle/>
          <a:p>
            <a:pPr algn="r" eaLnBrk="1" hangingPunct="1"/>
            <a:endParaRPr lang="en-US" sz="2000" smtClean="0">
              <a:solidFill>
                <a:schemeClr val="tx1"/>
              </a:solidFill>
              <a:latin typeface="Cambria" pitchFamily="18" charset="0"/>
              <a:ea typeface="ＭＳ Ｐゴシック"/>
              <a:cs typeface="Arial" charset="0"/>
            </a:endParaRPr>
          </a:p>
          <a:p>
            <a:pPr algn="r" eaLnBrk="1" hangingPunct="1"/>
            <a:r>
              <a:rPr lang="en-US" sz="2000" smtClean="0">
                <a:solidFill>
                  <a:schemeClr val="tx1"/>
                </a:solidFill>
                <a:latin typeface="Cambria" pitchFamily="18" charset="0"/>
                <a:ea typeface="ＭＳ Ｐゴシック"/>
                <a:cs typeface="Arial" charset="0"/>
              </a:rPr>
              <a:t>Narelle Haworth</a:t>
            </a:r>
          </a:p>
          <a:p>
            <a:pPr algn="r" eaLnBrk="1" hangingPunct="1"/>
            <a:r>
              <a:rPr lang="en-US" sz="2000" smtClean="0">
                <a:solidFill>
                  <a:schemeClr val="tx1"/>
                </a:solidFill>
                <a:latin typeface="Cambria" pitchFamily="18" charset="0"/>
                <a:ea typeface="ＭＳ Ｐゴシック"/>
                <a:cs typeface="Arial" charset="0"/>
              </a:rPr>
              <a:t>Amy Schramm</a:t>
            </a:r>
          </a:p>
          <a:p>
            <a:pPr algn="r" eaLnBrk="1" hangingPunct="1"/>
            <a:r>
              <a:rPr lang="en-AU" sz="1400" smtClean="0">
                <a:solidFill>
                  <a:srgbClr val="8998B0"/>
                </a:solidFill>
                <a:latin typeface="Cambria" pitchFamily="18" charset="0"/>
                <a:ea typeface="ＭＳ Ｐゴシック"/>
                <a:cs typeface="ＭＳ Ｐゴシック"/>
              </a:rPr>
              <a:t>Asia-Pacific Cycle Congress, 2011</a:t>
            </a:r>
          </a:p>
        </p:txBody>
      </p:sp>
    </p:spTree>
  </p:cSld>
  <p:clrMapOvr>
    <a:masterClrMapping/>
  </p:clrMapOvr>
  <p:transition>
    <p:dissolv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p:cNvSpPr>
            <a:spLocks noGrp="1"/>
          </p:cNvSpPr>
          <p:nvPr>
            <p:ph type="title" idx="4294967295"/>
          </p:nvPr>
        </p:nvSpPr>
        <p:spPr/>
        <p:txBody>
          <a:bodyPr/>
          <a:lstStyle/>
          <a:p>
            <a:pPr eaLnBrk="1" hangingPunct="1"/>
            <a:r>
              <a:rPr lang="en-US" smtClean="0">
                <a:ea typeface="ＭＳ Ｐゴシック"/>
                <a:cs typeface="ＭＳ Ｐゴシック"/>
              </a:rPr>
              <a:t>Background</a:t>
            </a:r>
          </a:p>
        </p:txBody>
      </p:sp>
      <p:sp>
        <p:nvSpPr>
          <p:cNvPr id="16386" name="Content Placeholder 2"/>
          <p:cNvSpPr>
            <a:spLocks noGrp="1"/>
          </p:cNvSpPr>
          <p:nvPr>
            <p:ph idx="4294967295"/>
          </p:nvPr>
        </p:nvSpPr>
        <p:spPr/>
        <p:txBody>
          <a:bodyPr/>
          <a:lstStyle/>
          <a:p>
            <a:pPr eaLnBrk="1" hangingPunct="1"/>
            <a:r>
              <a:rPr lang="en-US" smtClean="0">
                <a:ea typeface="ＭＳ Ｐゴシック"/>
                <a:cs typeface="ＭＳ Ｐゴシック"/>
              </a:rPr>
              <a:t>Density of cars, pedestrians and cyclists is high in city centres</a:t>
            </a:r>
          </a:p>
          <a:p>
            <a:pPr eaLnBrk="1" hangingPunct="1"/>
            <a:r>
              <a:rPr lang="en-US" smtClean="0">
                <a:ea typeface="ＭＳ Ｐゴシック"/>
                <a:cs typeface="ＭＳ Ｐゴシック"/>
              </a:rPr>
              <a:t>Pedestrian concerns about injury threat from cyclists but little data</a:t>
            </a:r>
          </a:p>
          <a:p>
            <a:pPr eaLnBrk="1" hangingPunct="1"/>
            <a:r>
              <a:rPr lang="en-US" smtClean="0">
                <a:ea typeface="ＭＳ Ｐゴシック"/>
                <a:cs typeface="ＭＳ Ｐゴシック"/>
              </a:rPr>
              <a:t>Relevance for Brisbane</a:t>
            </a:r>
          </a:p>
          <a:p>
            <a:pPr lvl="1" eaLnBrk="1" hangingPunct="1"/>
            <a:r>
              <a:rPr lang="en-US" smtClean="0">
                <a:ea typeface="ＭＳ Ｐゴシック"/>
              </a:rPr>
              <a:t>Queensland allows footpath cycling by adults</a:t>
            </a:r>
          </a:p>
          <a:p>
            <a:pPr lvl="1" eaLnBrk="1" hangingPunct="1"/>
            <a:r>
              <a:rPr lang="en-US" smtClean="0">
                <a:ea typeface="ＭＳ Ｐゴシック"/>
              </a:rPr>
              <a:t>CityCycle scheme aims to increase riding in city centre</a:t>
            </a:r>
          </a:p>
        </p:txBody>
      </p:sp>
      <p:sp>
        <p:nvSpPr>
          <p:cNvPr id="16387" name="TextBox 3"/>
          <p:cNvSpPr txBox="1">
            <a:spLocks noChangeArrowheads="1"/>
          </p:cNvSpPr>
          <p:nvPr/>
        </p:nvSpPr>
        <p:spPr bwMode="auto">
          <a:xfrm>
            <a:off x="7429500" y="6611938"/>
            <a:ext cx="1714500" cy="246062"/>
          </a:xfrm>
          <a:prstGeom prst="rect">
            <a:avLst/>
          </a:prstGeom>
          <a:noFill/>
          <a:ln w="9525">
            <a:noFill/>
            <a:miter lim="800000"/>
            <a:headEnd/>
            <a:tailEnd/>
          </a:ln>
        </p:spPr>
        <p:txBody>
          <a:bodyPr>
            <a:spAutoFit/>
          </a:bodyPr>
          <a:lstStyle/>
          <a:p>
            <a:r>
              <a:rPr lang="en-AU" sz="1000">
                <a:solidFill>
                  <a:schemeClr val="bg1"/>
                </a:solidFill>
              </a:rPr>
              <a:t>CRICOS No. 00213J</a:t>
            </a:r>
          </a:p>
        </p:txBody>
      </p:sp>
    </p:spTree>
  </p:cSld>
  <p:clrMapOvr>
    <a:masterClrMapping/>
  </p:clrMapOvr>
  <p:transition>
    <p:dissolv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p:cNvSpPr>
            <a:spLocks noGrp="1"/>
          </p:cNvSpPr>
          <p:nvPr>
            <p:ph type="title"/>
          </p:nvPr>
        </p:nvSpPr>
        <p:spPr/>
        <p:txBody>
          <a:bodyPr/>
          <a:lstStyle/>
          <a:p>
            <a:r>
              <a:rPr lang="en-AU" smtClean="0">
                <a:ea typeface="ＭＳ Ｐゴシック"/>
                <a:cs typeface="ＭＳ Ｐゴシック"/>
              </a:rPr>
              <a:t>Aims of the research</a:t>
            </a:r>
          </a:p>
        </p:txBody>
      </p:sp>
      <p:sp>
        <p:nvSpPr>
          <p:cNvPr id="18434" name="Content Placeholder 2"/>
          <p:cNvSpPr>
            <a:spLocks noGrp="1"/>
          </p:cNvSpPr>
          <p:nvPr>
            <p:ph idx="1"/>
          </p:nvPr>
        </p:nvSpPr>
        <p:spPr/>
        <p:txBody>
          <a:bodyPr/>
          <a:lstStyle/>
          <a:p>
            <a:r>
              <a:rPr lang="en-GB" smtClean="0">
                <a:ea typeface="ＭＳ Ｐゴシック"/>
                <a:cs typeface="ＭＳ Ｐゴシック"/>
              </a:rPr>
              <a:t>Observe bicyclist-pedestrian interactions</a:t>
            </a:r>
          </a:p>
          <a:p>
            <a:r>
              <a:rPr lang="en-GB" smtClean="0">
                <a:ea typeface="ＭＳ Ｐゴシック"/>
                <a:cs typeface="ＭＳ Ｐゴシック"/>
              </a:rPr>
              <a:t>Measure amount of road and footpath cycling</a:t>
            </a:r>
          </a:p>
          <a:p>
            <a:r>
              <a:rPr lang="en-GB" smtClean="0">
                <a:ea typeface="ＭＳ Ｐゴシック"/>
                <a:cs typeface="ＭＳ Ｐゴシック"/>
              </a:rPr>
              <a:t>Understand rider and location factors contributing to footpath cycling </a:t>
            </a:r>
          </a:p>
          <a:p>
            <a:r>
              <a:rPr lang="en-GB" smtClean="0">
                <a:ea typeface="ＭＳ Ｐゴシック"/>
                <a:cs typeface="ＭＳ Ｐゴシック"/>
              </a:rPr>
              <a:t>Provide baseline data for future assessment of CityCycle scheme</a:t>
            </a:r>
          </a:p>
          <a:p>
            <a:pPr lvl="1">
              <a:buFont typeface="Arial" charset="0"/>
              <a:buNone/>
            </a:pPr>
            <a:endParaRPr lang="en-AU" smtClean="0">
              <a:ea typeface="ＭＳ Ｐゴシック"/>
            </a:endParaRPr>
          </a:p>
        </p:txBody>
      </p:sp>
    </p:spTree>
  </p:cSld>
  <p:clrMapOvr>
    <a:masterClrMapping/>
  </p:clrMapOvr>
  <p:transition>
    <p:dissolv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p:cNvSpPr>
            <a:spLocks noGrp="1"/>
          </p:cNvSpPr>
          <p:nvPr>
            <p:ph type="title"/>
          </p:nvPr>
        </p:nvSpPr>
        <p:spPr/>
        <p:txBody>
          <a:bodyPr/>
          <a:lstStyle/>
          <a:p>
            <a:r>
              <a:rPr lang="en-AU" smtClean="0">
                <a:ea typeface="ＭＳ Ｐゴシック"/>
                <a:cs typeface="ＭＳ Ｐゴシック"/>
              </a:rPr>
              <a:t>Data collection</a:t>
            </a:r>
          </a:p>
        </p:txBody>
      </p:sp>
      <p:sp>
        <p:nvSpPr>
          <p:cNvPr id="19458" name="Content Placeholder 2"/>
          <p:cNvSpPr>
            <a:spLocks noGrp="1"/>
          </p:cNvSpPr>
          <p:nvPr>
            <p:ph idx="1"/>
          </p:nvPr>
        </p:nvSpPr>
        <p:spPr/>
        <p:txBody>
          <a:bodyPr/>
          <a:lstStyle/>
          <a:p>
            <a:r>
              <a:rPr lang="en-AU" smtClean="0">
                <a:ea typeface="ＭＳ Ｐゴシック"/>
                <a:cs typeface="ＭＳ Ｐゴシック"/>
              </a:rPr>
              <a:t>46 observation periods in October 2010</a:t>
            </a:r>
          </a:p>
          <a:p>
            <a:r>
              <a:rPr lang="en-AU" smtClean="0">
                <a:ea typeface="ＭＳ Ｐゴシック"/>
                <a:cs typeface="ＭＳ Ｐゴシック"/>
              </a:rPr>
              <a:t>2-hour periods on weekdays</a:t>
            </a:r>
          </a:p>
          <a:p>
            <a:pPr lvl="1"/>
            <a:r>
              <a:rPr lang="en-AU" smtClean="0">
                <a:ea typeface="ＭＳ Ｐゴシック"/>
              </a:rPr>
              <a:t>7-9 am, 9-11 am, 2-4 pm, 4-6 pm </a:t>
            </a:r>
          </a:p>
          <a:p>
            <a:r>
              <a:rPr lang="en-AU" smtClean="0">
                <a:ea typeface="ＭＳ Ｐゴシック"/>
                <a:cs typeface="ＭＳ Ｐゴシック"/>
              </a:rPr>
              <a:t>All observations in dry weather</a:t>
            </a:r>
          </a:p>
          <a:p>
            <a:r>
              <a:rPr lang="en-AU" smtClean="0">
                <a:ea typeface="ＭＳ Ｐゴシック"/>
                <a:cs typeface="ＭＳ Ｐゴシック"/>
              </a:rPr>
              <a:t>1992 cyclists observed</a:t>
            </a:r>
          </a:p>
        </p:txBody>
      </p:sp>
    </p:spTree>
  </p:cSld>
  <p:clrMapOvr>
    <a:masterClrMapping/>
  </p:clrMapOvr>
  <p:transition>
    <p:dissolv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p:cNvSpPr>
            <a:spLocks noGrp="1"/>
          </p:cNvSpPr>
          <p:nvPr>
            <p:ph type="title"/>
          </p:nvPr>
        </p:nvSpPr>
        <p:spPr/>
        <p:txBody>
          <a:bodyPr/>
          <a:lstStyle/>
          <a:p>
            <a:r>
              <a:rPr lang="en-AU" smtClean="0">
                <a:ea typeface="ＭＳ Ｐゴシック"/>
                <a:cs typeface="ＭＳ Ｐゴシック"/>
              </a:rPr>
              <a:t>Observation sites</a:t>
            </a:r>
          </a:p>
        </p:txBody>
      </p:sp>
      <p:sp>
        <p:nvSpPr>
          <p:cNvPr id="21506" name="Content Placeholder 2"/>
          <p:cNvSpPr>
            <a:spLocks noGrp="1"/>
          </p:cNvSpPr>
          <p:nvPr>
            <p:ph idx="1"/>
          </p:nvPr>
        </p:nvSpPr>
        <p:spPr>
          <a:xfrm>
            <a:off x="457200" y="1417638"/>
            <a:ext cx="8229600" cy="4708525"/>
          </a:xfrm>
        </p:spPr>
        <p:txBody>
          <a:bodyPr/>
          <a:lstStyle/>
          <a:p>
            <a:r>
              <a:rPr lang="en-AU" smtClean="0">
                <a:ea typeface="ＭＳ Ｐゴシック"/>
                <a:cs typeface="ＭＳ Ｐゴシック"/>
              </a:rPr>
              <a:t>One- or two-way traffic, bike markings or not</a:t>
            </a:r>
          </a:p>
        </p:txBody>
      </p:sp>
      <p:pic>
        <p:nvPicPr>
          <p:cNvPr id="21507" name="Picture 3"/>
          <p:cNvPicPr>
            <a:picLocks noChangeAspect="1" noChangeArrowheads="1"/>
          </p:cNvPicPr>
          <p:nvPr/>
        </p:nvPicPr>
        <p:blipFill>
          <a:blip r:embed="rId3"/>
          <a:srcRect l="23431" t="21861" r="12968" b="9453"/>
          <a:stretch>
            <a:fillRect/>
          </a:stretch>
        </p:blipFill>
        <p:spPr bwMode="auto">
          <a:xfrm>
            <a:off x="1643063" y="2482850"/>
            <a:ext cx="5929312" cy="3643313"/>
          </a:xfrm>
          <a:prstGeom prst="rect">
            <a:avLst/>
          </a:prstGeom>
          <a:noFill/>
          <a:ln w="9525">
            <a:noFill/>
            <a:miter lim="800000"/>
            <a:headEnd/>
            <a:tailEnd/>
          </a:ln>
        </p:spPr>
      </p:pic>
    </p:spTree>
  </p:cSld>
  <p:clrMapOvr>
    <a:masterClrMapping/>
  </p:clrMapOvr>
  <p:transition>
    <p:dissolv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p:cNvSpPr>
            <a:spLocks noGrp="1"/>
          </p:cNvSpPr>
          <p:nvPr>
            <p:ph type="title"/>
          </p:nvPr>
        </p:nvSpPr>
        <p:spPr/>
        <p:txBody>
          <a:bodyPr/>
          <a:lstStyle/>
          <a:p>
            <a:r>
              <a:rPr lang="en-AU" smtClean="0">
                <a:ea typeface="ＭＳ Ｐゴシック"/>
                <a:cs typeface="ＭＳ Ｐゴシック"/>
              </a:rPr>
              <a:t>Observation sheet</a:t>
            </a:r>
          </a:p>
        </p:txBody>
      </p:sp>
      <p:pic>
        <p:nvPicPr>
          <p:cNvPr id="23554" name="Content Placeholder 3"/>
          <p:cNvPicPr>
            <a:picLocks noGrp="1"/>
          </p:cNvPicPr>
          <p:nvPr>
            <p:ph idx="1"/>
          </p:nvPr>
        </p:nvPicPr>
        <p:blipFill>
          <a:blip r:embed="rId3"/>
          <a:srcRect l="20192" t="21271" r="45657" b="32497"/>
          <a:stretch>
            <a:fillRect/>
          </a:stretch>
        </p:blipFill>
        <p:spPr>
          <a:xfrm>
            <a:off x="1428750" y="1285875"/>
            <a:ext cx="6400800" cy="5054600"/>
          </a:xfrm>
        </p:spPr>
      </p:pic>
    </p:spTree>
  </p:cSld>
  <p:clrMapOvr>
    <a:masterClrMapping/>
  </p:clrMapOvr>
  <p:transition>
    <p:dissolv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p:cNvSpPr>
            <a:spLocks noGrp="1"/>
          </p:cNvSpPr>
          <p:nvPr>
            <p:ph type="title"/>
          </p:nvPr>
        </p:nvSpPr>
        <p:spPr/>
        <p:txBody>
          <a:bodyPr/>
          <a:lstStyle/>
          <a:p>
            <a:r>
              <a:rPr lang="en-AU" smtClean="0">
                <a:ea typeface="ＭＳ Ｐゴシック"/>
                <a:cs typeface="ＭＳ Ｐゴシック"/>
              </a:rPr>
              <a:t>General characteristics</a:t>
            </a:r>
          </a:p>
        </p:txBody>
      </p:sp>
      <p:sp>
        <p:nvSpPr>
          <p:cNvPr id="25602" name="Content Placeholder 2"/>
          <p:cNvSpPr>
            <a:spLocks noGrp="1"/>
          </p:cNvSpPr>
          <p:nvPr>
            <p:ph idx="1"/>
          </p:nvPr>
        </p:nvSpPr>
        <p:spPr/>
        <p:txBody>
          <a:bodyPr/>
          <a:lstStyle/>
          <a:p>
            <a:r>
              <a:rPr lang="en-AU" smtClean="0">
                <a:ea typeface="ＭＳ Ｐゴシック"/>
                <a:cs typeface="ＭＳ Ｐゴシック"/>
              </a:rPr>
              <a:t>Average cyclist volumes:</a:t>
            </a:r>
          </a:p>
          <a:p>
            <a:pPr lvl="1">
              <a:buFont typeface="Wingdings" pitchFamily="2" charset="2"/>
              <a:buChar char="§"/>
            </a:pPr>
            <a:r>
              <a:rPr lang="en-AU" smtClean="0">
                <a:ea typeface="ＭＳ Ｐゴシック"/>
              </a:rPr>
              <a:t>7-9am = 26/hr		</a:t>
            </a:r>
            <a:r>
              <a:rPr lang="en-AU" smtClean="0">
                <a:ea typeface="ＭＳ Ｐゴシック"/>
                <a:sym typeface="Wingdings" pitchFamily="2" charset="2"/>
              </a:rPr>
              <a:t>  </a:t>
            </a:r>
            <a:r>
              <a:rPr lang="en-AU" smtClean="0">
                <a:ea typeface="ＭＳ Ｐゴシック"/>
              </a:rPr>
              <a:t>4-6pm = 33/hr </a:t>
            </a:r>
          </a:p>
          <a:p>
            <a:pPr lvl="1">
              <a:buFont typeface="Wingdings" pitchFamily="2" charset="2"/>
              <a:buChar char="§"/>
            </a:pPr>
            <a:r>
              <a:rPr lang="en-AU" smtClean="0">
                <a:ea typeface="ＭＳ Ｐゴシック"/>
              </a:rPr>
              <a:t>9-11am = 11/hr 	</a:t>
            </a:r>
            <a:r>
              <a:rPr lang="en-AU" smtClean="0">
                <a:ea typeface="ＭＳ Ｐゴシック"/>
                <a:sym typeface="Wingdings" pitchFamily="2" charset="2"/>
              </a:rPr>
              <a:t>  </a:t>
            </a:r>
            <a:r>
              <a:rPr lang="en-AU" smtClean="0">
                <a:ea typeface="ＭＳ Ｐゴシック"/>
              </a:rPr>
              <a:t>2-4pm = 14/hr</a:t>
            </a:r>
          </a:p>
          <a:p>
            <a:r>
              <a:rPr lang="en-AU" smtClean="0">
                <a:ea typeface="ＭＳ Ｐゴシック"/>
                <a:cs typeface="ＭＳ Ｐゴシック"/>
              </a:rPr>
              <a:t>86% male</a:t>
            </a:r>
          </a:p>
          <a:p>
            <a:r>
              <a:rPr lang="en-AU" smtClean="0">
                <a:ea typeface="ＭＳ Ｐゴシック"/>
                <a:cs typeface="ＭＳ Ｐゴシック"/>
              </a:rPr>
              <a:t>98% adults, 2% adolescents</a:t>
            </a:r>
          </a:p>
          <a:p>
            <a:r>
              <a:rPr lang="en-AU" smtClean="0">
                <a:ea typeface="ＭＳ Ｐゴシック"/>
                <a:cs typeface="ＭＳ Ｐゴシック"/>
              </a:rPr>
              <a:t>1.1% no helmet, 1.3% not fastened</a:t>
            </a:r>
          </a:p>
          <a:p>
            <a:r>
              <a:rPr lang="en-AU" smtClean="0">
                <a:ea typeface="ＭＳ Ｐゴシック"/>
                <a:cs typeface="ＭＳ Ｐゴシック"/>
              </a:rPr>
              <a:t>22% rode on the footpath</a:t>
            </a:r>
          </a:p>
          <a:p>
            <a:r>
              <a:rPr lang="en-AU" smtClean="0">
                <a:ea typeface="ＭＳ Ｐゴシック"/>
                <a:cs typeface="ＭＳ Ｐゴシック"/>
              </a:rPr>
              <a:t>1.2% were riding a CityCycle bicycle</a:t>
            </a:r>
          </a:p>
        </p:txBody>
      </p:sp>
    </p:spTree>
  </p:cSld>
  <p:clrMapOvr>
    <a:masterClrMapping/>
  </p:clrMapOvr>
  <p:transition>
    <p:dissolv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4"/>
          <p:cNvSpPr>
            <a:spLocks noGrp="1"/>
          </p:cNvSpPr>
          <p:nvPr>
            <p:ph type="title"/>
          </p:nvPr>
        </p:nvSpPr>
        <p:spPr/>
        <p:txBody>
          <a:bodyPr/>
          <a:lstStyle/>
          <a:p>
            <a:r>
              <a:rPr lang="en-AU" sz="4000" smtClean="0">
                <a:ea typeface="ＭＳ Ｐゴシック"/>
                <a:cs typeface="ＭＳ Ｐゴシック"/>
              </a:rPr>
              <a:t>Proximity of pedestrians</a:t>
            </a:r>
          </a:p>
        </p:txBody>
      </p:sp>
      <p:graphicFrame>
        <p:nvGraphicFramePr>
          <p:cNvPr id="4" name="Chart 3"/>
          <p:cNvGraphicFramePr/>
          <p:nvPr/>
        </p:nvGraphicFramePr>
        <p:xfrm>
          <a:off x="1524000" y="1397000"/>
          <a:ext cx="6096000" cy="406400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transition>
    <p:dissolv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p:cNvSpPr>
          <p:nvPr>
            <p:ph type="title"/>
          </p:nvPr>
        </p:nvSpPr>
        <p:spPr/>
        <p:txBody>
          <a:bodyPr/>
          <a:lstStyle/>
          <a:p>
            <a:r>
              <a:rPr lang="en-AU" smtClean="0">
                <a:ea typeface="ＭＳ Ｐゴシック"/>
                <a:cs typeface="ＭＳ Ｐゴシック"/>
              </a:rPr>
              <a:t>Conflicts</a:t>
            </a:r>
          </a:p>
        </p:txBody>
      </p:sp>
      <p:sp>
        <p:nvSpPr>
          <p:cNvPr id="29698" name="Rectangle 3"/>
          <p:cNvSpPr>
            <a:spLocks noGrp="1"/>
          </p:cNvSpPr>
          <p:nvPr>
            <p:ph type="body" idx="1"/>
          </p:nvPr>
        </p:nvSpPr>
        <p:spPr/>
        <p:txBody>
          <a:bodyPr/>
          <a:lstStyle/>
          <a:p>
            <a:r>
              <a:rPr lang="en-AU" smtClean="0">
                <a:ea typeface="ＭＳ Ｐゴシック"/>
                <a:cs typeface="ＭＳ Ｐゴシック"/>
              </a:rPr>
              <a:t>1.1% cyclists had conflict with a pedestrian; 0.6% had conflict with a vehicle</a:t>
            </a:r>
          </a:p>
          <a:p>
            <a:r>
              <a:rPr lang="en-AU" smtClean="0">
                <a:ea typeface="ＭＳ Ｐゴシック"/>
                <a:cs typeface="ＭＳ Ｐゴシック"/>
              </a:rPr>
              <a:t>76% of conflicts with pedestrians occurred on the footpath</a:t>
            </a:r>
          </a:p>
          <a:p>
            <a:r>
              <a:rPr lang="en-AU" smtClean="0">
                <a:ea typeface="ＭＳ Ｐゴシック"/>
                <a:cs typeface="ＭＳ Ｐゴシック"/>
              </a:rPr>
              <a:t>Adolescents and riders not correctly wearing helmets over-represented</a:t>
            </a:r>
          </a:p>
          <a:p>
            <a:r>
              <a:rPr lang="en-AU" smtClean="0">
                <a:ea typeface="ＭＳ Ｐゴシック"/>
                <a:cs typeface="ＭＳ Ｐゴシック"/>
              </a:rPr>
              <a:t>No collisions were observed</a:t>
            </a:r>
          </a:p>
        </p:txBody>
      </p:sp>
    </p:spTree>
  </p:cSld>
  <p:clrMapOvr>
    <a:masterClrMapping/>
  </p:clrMapOvr>
  <p:transition>
    <p:dissolv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p:cNvSpPr>
            <a:spLocks noGrp="1"/>
          </p:cNvSpPr>
          <p:nvPr>
            <p:ph type="title"/>
          </p:nvPr>
        </p:nvSpPr>
        <p:spPr/>
        <p:txBody>
          <a:bodyPr/>
          <a:lstStyle/>
          <a:p>
            <a:r>
              <a:rPr lang="en-AU" smtClean="0">
                <a:ea typeface="ＭＳ Ｐゴシック"/>
                <a:cs typeface="ＭＳ Ｐゴシック"/>
              </a:rPr>
              <a:t>Discussion</a:t>
            </a:r>
          </a:p>
        </p:txBody>
      </p:sp>
      <p:sp>
        <p:nvSpPr>
          <p:cNvPr id="30722" name="Content Placeholder 2"/>
          <p:cNvSpPr>
            <a:spLocks noGrp="1"/>
          </p:cNvSpPr>
          <p:nvPr>
            <p:ph idx="1"/>
          </p:nvPr>
        </p:nvSpPr>
        <p:spPr/>
        <p:txBody>
          <a:bodyPr/>
          <a:lstStyle/>
          <a:p>
            <a:r>
              <a:rPr lang="en-AU" smtClean="0">
                <a:ea typeface="ＭＳ Ｐゴシック"/>
                <a:cs typeface="ＭＳ Ｐゴシック"/>
              </a:rPr>
              <a:t>Useful method</a:t>
            </a:r>
          </a:p>
          <a:p>
            <a:r>
              <a:rPr lang="en-AU" smtClean="0">
                <a:ea typeface="ＭＳ Ｐゴシック"/>
                <a:cs typeface="ＭＳ Ｐゴシック"/>
              </a:rPr>
              <a:t>Relatively few conflicts with pedestrians and vehicles, despite pedestrian and vehicle volumes</a:t>
            </a:r>
          </a:p>
          <a:p>
            <a:pPr lvl="1"/>
            <a:r>
              <a:rPr lang="en-AU" smtClean="0">
                <a:ea typeface="ＭＳ Ｐゴシック"/>
              </a:rPr>
              <a:t>Conflicts with pedestrians more likely on the footpath, vehicle conflicts exclusively on the road</a:t>
            </a:r>
          </a:p>
          <a:p>
            <a:pPr lvl="1"/>
            <a:r>
              <a:rPr lang="en-AU" smtClean="0">
                <a:ea typeface="ＭＳ Ｐゴシック"/>
              </a:rPr>
              <a:t>Adolescents and riders not correctly wearing helmets</a:t>
            </a:r>
          </a:p>
        </p:txBody>
      </p:sp>
    </p:spTree>
  </p:cSld>
  <p:clrMapOvr>
    <a:masterClrMapping/>
  </p:clrMapOvr>
  <p:transition>
    <p:dissolv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p:cNvSpPr>
            <a:spLocks noGrp="1"/>
          </p:cNvSpPr>
          <p:nvPr>
            <p:ph type="title"/>
          </p:nvPr>
        </p:nvSpPr>
        <p:spPr/>
        <p:txBody>
          <a:bodyPr/>
          <a:lstStyle/>
          <a:p>
            <a:r>
              <a:rPr lang="en-AU" smtClean="0">
                <a:ea typeface="ＭＳ Ｐゴシック"/>
                <a:cs typeface="ＭＳ Ｐゴシック"/>
              </a:rPr>
              <a:t>Future Work</a:t>
            </a:r>
          </a:p>
        </p:txBody>
      </p:sp>
      <p:sp>
        <p:nvSpPr>
          <p:cNvPr id="32770" name="Content Placeholder 2"/>
          <p:cNvSpPr>
            <a:spLocks noGrp="1"/>
          </p:cNvSpPr>
          <p:nvPr>
            <p:ph idx="1"/>
          </p:nvPr>
        </p:nvSpPr>
        <p:spPr/>
        <p:txBody>
          <a:bodyPr/>
          <a:lstStyle/>
          <a:p>
            <a:r>
              <a:rPr lang="en-AU" smtClean="0">
                <a:ea typeface="ＭＳ Ｐゴシック"/>
                <a:cs typeface="ＭＳ Ｐゴシック"/>
              </a:rPr>
              <a:t>Follow-up surveys to measure the effects of the CityCycle scheme on bicycle use in the CBD</a:t>
            </a:r>
          </a:p>
          <a:p>
            <a:r>
              <a:rPr lang="en-AU" smtClean="0">
                <a:ea typeface="ＭＳ Ｐゴシック"/>
                <a:cs typeface="ＭＳ Ｐゴシック"/>
              </a:rPr>
              <a:t>Extend to school holidays to observe more adolescents</a:t>
            </a:r>
          </a:p>
          <a:p>
            <a:endParaRPr lang="en-AU" smtClean="0">
              <a:ea typeface="ＭＳ Ｐゴシック"/>
              <a:cs typeface="ＭＳ Ｐゴシック"/>
            </a:endParaRPr>
          </a:p>
        </p:txBody>
      </p:sp>
    </p:spTree>
  </p:cSld>
  <p:clrMapOvr>
    <a:masterClrMapping/>
  </p:clrMapOvr>
  <p:transition>
    <p:dissolv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Content Placeholder 2"/>
          <p:cNvSpPr>
            <a:spLocks noGrp="1"/>
          </p:cNvSpPr>
          <p:nvPr>
            <p:ph idx="1"/>
          </p:nvPr>
        </p:nvSpPr>
        <p:spPr>
          <a:xfrm>
            <a:off x="457200" y="1143000"/>
            <a:ext cx="8229600" cy="5000625"/>
          </a:xfrm>
        </p:spPr>
        <p:txBody>
          <a:bodyPr/>
          <a:lstStyle/>
          <a:p>
            <a:pPr algn="ctr">
              <a:buFont typeface="Arial" charset="0"/>
              <a:buNone/>
            </a:pPr>
            <a:endParaRPr lang="en-AU" smtClean="0">
              <a:ea typeface="ＭＳ Ｐゴシック"/>
              <a:cs typeface="ＭＳ Ｐゴシック"/>
            </a:endParaRPr>
          </a:p>
          <a:p>
            <a:pPr algn="ctr">
              <a:buFont typeface="Arial" charset="0"/>
              <a:buNone/>
            </a:pPr>
            <a:endParaRPr lang="en-AU" smtClean="0">
              <a:ea typeface="ＭＳ Ｐゴシック"/>
              <a:cs typeface="ＭＳ Ｐゴシック"/>
            </a:endParaRPr>
          </a:p>
          <a:p>
            <a:pPr algn="ctr">
              <a:buFont typeface="Arial" charset="0"/>
              <a:buNone/>
            </a:pPr>
            <a:r>
              <a:rPr lang="en-AU" sz="4800" b="1" smtClean="0">
                <a:ea typeface="ＭＳ Ｐゴシック"/>
                <a:cs typeface="ＭＳ Ｐゴシック"/>
              </a:rPr>
              <a:t>Questions?</a:t>
            </a:r>
          </a:p>
          <a:p>
            <a:pPr>
              <a:buFont typeface="Arial" charset="0"/>
              <a:buNone/>
            </a:pPr>
            <a:endParaRPr lang="en-AU" smtClean="0">
              <a:ea typeface="ＭＳ Ｐゴシック"/>
              <a:cs typeface="ＭＳ Ｐゴシック"/>
            </a:endParaRPr>
          </a:p>
          <a:p>
            <a:pPr>
              <a:buFont typeface="Arial" charset="0"/>
              <a:buNone/>
            </a:pPr>
            <a:endParaRPr lang="en-AU" smtClean="0">
              <a:ea typeface="ＭＳ Ｐゴシック"/>
              <a:cs typeface="ＭＳ Ｐゴシック"/>
            </a:endParaRPr>
          </a:p>
          <a:p>
            <a:pPr algn="ctr">
              <a:buFont typeface="Arial" charset="0"/>
              <a:buNone/>
            </a:pPr>
            <a:r>
              <a:rPr lang="en-AU" sz="2400" b="1" i="1" smtClean="0">
                <a:ea typeface="ＭＳ Ｐゴシック"/>
                <a:cs typeface="ＭＳ Ｐゴシック"/>
              </a:rPr>
              <a:t>Mark your Diaries!</a:t>
            </a:r>
          </a:p>
          <a:p>
            <a:pPr algn="ctr">
              <a:buFont typeface="Arial" charset="0"/>
              <a:buNone/>
            </a:pPr>
            <a:r>
              <a:rPr lang="en-AU" sz="2400" i="1" smtClean="0">
                <a:ea typeface="ＭＳ Ｐゴシック"/>
                <a:cs typeface="ＭＳ Ｐゴシック"/>
              </a:rPr>
              <a:t>International Council on Alcohol, Drugs and Traffic Safety Conference (T2013)</a:t>
            </a:r>
          </a:p>
          <a:p>
            <a:pPr algn="ctr">
              <a:buFont typeface="Arial" charset="0"/>
              <a:buNone/>
            </a:pPr>
            <a:r>
              <a:rPr lang="en-AU" sz="2400" i="1" smtClean="0">
                <a:ea typeface="ＭＳ Ｐゴシック"/>
                <a:cs typeface="ＭＳ Ｐゴシック"/>
              </a:rPr>
              <a:t>August 2013, Brisbane Convention and Exhibition Centre</a:t>
            </a:r>
          </a:p>
        </p:txBody>
      </p:sp>
    </p:spTree>
  </p:cSld>
  <p:clrMapOvr>
    <a:masterClrMapping/>
  </p:clrMapOvr>
  <p:transition spd="med">
    <p:fade/>
  </p:transition>
  <p:timing>
    <p:tnLst>
      <p:par>
        <p:cTn id="1" dur="indefinite" restart="never" nodeType="tmRoot"/>
      </p:par>
    </p:tnLst>
  </p:timing>
</p:sld>
</file>

<file path=ppt/theme/theme1.xml><?xml version="1.0" encoding="utf-8"?>
<a:theme xmlns:a="http://schemas.openxmlformats.org/drawingml/2006/main" name="Office Theme">
  <a:themeElements>
    <a:clrScheme name="Custom 3">
      <a:dk1>
        <a:srgbClr val="005287"/>
      </a:dk1>
      <a:lt1>
        <a:sysClr val="window" lastClr="FFFFFF"/>
      </a:lt1>
      <a:dk2>
        <a:srgbClr val="CD1140"/>
      </a:dk2>
      <a:lt2>
        <a:srgbClr val="FFFFFF"/>
      </a:lt2>
      <a:accent1>
        <a:srgbClr val="CD1140"/>
      </a:accent1>
      <a:accent2>
        <a:srgbClr val="E2C54D"/>
      </a:accent2>
      <a:accent3>
        <a:srgbClr val="9BBB59"/>
      </a:accent3>
      <a:accent4>
        <a:srgbClr val="8064A2"/>
      </a:accent4>
      <a:accent5>
        <a:srgbClr val="4BACC6"/>
      </a:accent5>
      <a:accent6>
        <a:srgbClr val="F79646"/>
      </a:accent6>
      <a:hlink>
        <a:srgbClr val="CD1140"/>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1459</TotalTime>
  <Words>805</Words>
  <Application>Microsoft Office PowerPoint</Application>
  <PresentationFormat>On-screen Show (4:3)</PresentationFormat>
  <Paragraphs>73</Paragraphs>
  <Slides>12</Slides>
  <Notes>6</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Slide 1</vt:lpstr>
      <vt:lpstr>Background</vt:lpstr>
      <vt:lpstr>Aims of the research</vt:lpstr>
      <vt:lpstr>Data collection</vt:lpstr>
      <vt:lpstr>Observation sites</vt:lpstr>
      <vt:lpstr>Observation sheet</vt:lpstr>
      <vt:lpstr>General characteristics</vt:lpstr>
      <vt:lpstr>Proximity of pedestrians</vt:lpstr>
      <vt:lpstr>Conflicts</vt:lpstr>
      <vt:lpstr>Discussion</vt:lpstr>
      <vt:lpstr>Future Work</vt:lpstr>
      <vt:lpstr>Slide 12</vt:lpstr>
    </vt:vector>
  </TitlesOfParts>
  <Company>Evans and Hartshorn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Meredith Evans</dc:creator>
  <cp:lastModifiedBy>schramm</cp:lastModifiedBy>
  <cp:revision>138</cp:revision>
  <dcterms:created xsi:type="dcterms:W3CDTF">2009-02-16T00:16:40Z</dcterms:created>
  <dcterms:modified xsi:type="dcterms:W3CDTF">2011-09-16T05:45:55Z</dcterms:modified>
</cp:coreProperties>
</file>