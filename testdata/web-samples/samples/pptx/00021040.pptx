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6" r:id="rId2"/>
    <p:sldId id="293" r:id="rId3"/>
    <p:sldId id="296" r:id="rId4"/>
    <p:sldId id="292" r:id="rId5"/>
    <p:sldId id="298" r:id="rId6"/>
    <p:sldId id="308" r:id="rId7"/>
    <p:sldId id="273" r:id="rId8"/>
    <p:sldId id="303" r:id="rId9"/>
    <p:sldId id="304" r:id="rId10"/>
    <p:sldId id="307" r:id="rId11"/>
    <p:sldId id="261" r:id="rId12"/>
    <p:sldId id="302" r:id="rId13"/>
    <p:sldId id="262" r:id="rId14"/>
    <p:sldId id="305" r:id="rId15"/>
    <p:sldId id="299" r:id="rId16"/>
    <p:sldId id="313" r:id="rId17"/>
    <p:sldId id="264" r:id="rId18"/>
    <p:sldId id="309" r:id="rId19"/>
    <p:sldId id="310" r:id="rId20"/>
    <p:sldId id="311" r:id="rId21"/>
    <p:sldId id="312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4" autoAdjust="0"/>
    <p:restoredTop sz="94710" autoAdjust="0"/>
  </p:normalViewPr>
  <p:slideViewPr>
    <p:cSldViewPr>
      <p:cViewPr varScale="1">
        <p:scale>
          <a:sx n="118" d="100"/>
          <a:sy n="118" d="100"/>
        </p:scale>
        <p:origin x="-55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8CF9B7F-4883-4E9D-BBD5-07582B2C9A3F}" type="datetimeFigureOut">
              <a:rPr lang="en-US"/>
              <a:pPr>
                <a:defRPr/>
              </a:pPr>
              <a:t>6/15/2012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D3EC62A-9F68-4E5B-A5D8-5259E559F9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35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mtClean="0"/>
              <a:t>Collided protons (since late 2009) and lead ions (in November – ending a week ago)</a:t>
            </a:r>
          </a:p>
          <a:p>
            <a:pPr>
              <a:spcBef>
                <a:spcPct val="0"/>
              </a:spcBef>
            </a:pPr>
            <a:r>
              <a:rPr lang="en-US" smtClean="0"/>
              <a:t>Delivered to 4 experiments</a:t>
            </a:r>
          </a:p>
          <a:p>
            <a:pPr>
              <a:spcBef>
                <a:spcPct val="0"/>
              </a:spcBef>
            </a:pPr>
            <a:r>
              <a:rPr lang="en-US" smtClean="0"/>
              <a:t>ALICE built to study collisions of these ions</a:t>
            </a:r>
          </a:p>
          <a:p>
            <a:pPr>
              <a:spcBef>
                <a:spcPct val="0"/>
              </a:spcBef>
            </a:pPr>
            <a:r>
              <a:rPr lang="en-US" smtClean="0"/>
              <a:t>   proton-proton collisions are still important</a:t>
            </a:r>
          </a:p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6B69701-2BD4-42B0-A826-F84D5F8BB25C}" type="slidenum">
              <a:rPr lang="en-US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Unlike our universe, the created universes can be asymmetric</a:t>
            </a:r>
          </a:p>
          <a:p>
            <a:r>
              <a:rPr lang="en-US" dirty="0" smtClean="0"/>
              <a:t>Initial</a:t>
            </a:r>
            <a:r>
              <a:rPr lang="en-US" baseline="0" dirty="0" smtClean="0"/>
              <a:t> shape is related to number of produced particles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D3EC62A-9F68-4E5B-A5D8-5259E559F90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598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ACCD-EE3C-4E4B-95B1-03C3DF602BCA}" type="datetime1">
              <a:rPr lang="en-US" smtClean="0"/>
              <a:t>6/15/2012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5BACB4-3B29-484A-A008-336ECF5EAA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45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27935-CEE4-4C72-BC27-2D77166A3A34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68053-50CC-458D-B20B-ADAF868CBD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1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EC560-FFB3-4D37-999F-9026E9B09492}" type="datetime1">
              <a:rPr lang="en-US" smtClean="0"/>
              <a:t>6/15/2012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9992E-05CE-4AEF-A683-88983814E0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771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9B412F-78DA-4719-94BF-115E79A8DAF4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51471-5D94-4CF3-BF77-3486EA8A1F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36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BED2E-5CEB-48BA-8EC0-35D94EBDB52D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318EC-E966-4ABD-AF09-08C17EA176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1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F8AEE-2D1A-4701-A678-E74FD24928D4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4FB68-B3CB-49FA-B90A-841C873778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89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37EE07-329A-4E89-91A2-A873A7F41D78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16C31-A4F8-4CB8-A6A4-8EF6819151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2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981D1-3D1E-4B1D-9F61-922A78B49D24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7BD07-D4D8-41BD-BD9E-D17811C1D3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76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C402C-CF8B-4F34-B53C-0FE28B494CC5}" type="datetime1">
              <a:rPr lang="en-US" smtClean="0"/>
              <a:t>6/15/2012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E3949-2F3D-4FCE-873B-62296000D6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1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4337B-D4E2-4F6A-B9D0-2E62C66289D1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A0330-908F-407E-92D3-7515E8FDF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46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A96FC-47E9-4DC4-8D2F-E35103E5A536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283CA-7BC1-4125-94E8-B70D672279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9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524000"/>
            <a:ext cx="8229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1828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98FA236-46D5-4DB1-A8C2-D9A93AB3E0E1}" type="datetime1">
              <a:rPr lang="en-US" smtClean="0"/>
              <a:t>6/15/2012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514600" y="6356350"/>
            <a:ext cx="38862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D9E351B-8CC8-4E54-8302-04BD3080E6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  <p:pic>
        <p:nvPicPr>
          <p:cNvPr id="1034" name="Picture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9525"/>
            <a:ext cx="7969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938"/>
            <a:ext cx="5524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5" r:id="rId2"/>
    <p:sldLayoutId id="2147483684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5" r:id="rId9"/>
    <p:sldLayoutId id="2147483681" r:id="rId10"/>
    <p:sldLayoutId id="2147483682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5000" u="sng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000" u="sng">
          <a:solidFill>
            <a:schemeClr val="tx2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5000" u="sng">
          <a:solidFill>
            <a:schemeClr val="tx2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5000" u="sng">
          <a:solidFill>
            <a:schemeClr val="tx2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5000" u="sng">
          <a:solidFill>
            <a:schemeClr val="tx2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5000" u="sng">
          <a:solidFill>
            <a:schemeClr val="tx2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5000" u="sng">
          <a:solidFill>
            <a:schemeClr val="tx2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5000" u="sng">
          <a:solidFill>
            <a:schemeClr val="tx2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5000" u="sng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39763" indent="-246063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914400" indent="-2460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187450" indent="-209550" algn="l" rtl="0" fontAlgn="base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462088" indent="-209550" algn="l" rtl="0" fontAlgn="base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gulbrand\Documents\Discovery_talk\Discovery_review_Kris\blice.avi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C:\Users\gulbrand\Documents\Discovery_talk\Discovery_review_Kris\alievent-short-xvid.avi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914400"/>
            <a:ext cx="8839200" cy="22860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 smtClean="0"/>
              <a:t>Relativistic Heavy Ions</a:t>
            </a:r>
            <a:br>
              <a:rPr lang="en-US" dirty="0" smtClean="0"/>
            </a:br>
            <a:r>
              <a:rPr lang="en-US" dirty="0" smtClean="0"/>
              <a:t>ALICE/CERN</a:t>
            </a:r>
            <a:endParaRPr lang="en-US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533400" y="3228975"/>
            <a:ext cx="7854950" cy="1752600"/>
          </a:xfrm>
        </p:spPr>
        <p:txBody>
          <a:bodyPr/>
          <a:lstStyle/>
          <a:p>
            <a:pPr marR="0" algn="ctr"/>
            <a:r>
              <a:rPr lang="en-US" dirty="0" err="1" smtClean="0"/>
              <a:t>Kristjan</a:t>
            </a:r>
            <a:r>
              <a:rPr lang="en-US" dirty="0" smtClean="0"/>
              <a:t> </a:t>
            </a:r>
            <a:r>
              <a:rPr lang="en-US" dirty="0" err="1" smtClean="0"/>
              <a:t>Gulbrandsen</a:t>
            </a:r>
            <a:endParaRPr lang="en-US" dirty="0" smtClean="0"/>
          </a:p>
          <a:p>
            <a:pPr marR="0" algn="ctr"/>
            <a:r>
              <a:rPr lang="en-US" dirty="0" err="1" smtClean="0"/>
              <a:t>Niels</a:t>
            </a:r>
            <a:r>
              <a:rPr lang="en-US" dirty="0" smtClean="0"/>
              <a:t> Bohr Institute - Discovery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006FC-AC57-4C56-8EDB-BBD48A2E0922}" type="slidenum">
              <a:rPr lang="en-US"/>
              <a:pPr>
                <a:defRPr/>
              </a:pPr>
              <a:t>2</a:t>
            </a:fld>
            <a:endParaRPr lang="en-US"/>
          </a:p>
        </p:txBody>
      </p:sp>
      <p:pic>
        <p:nvPicPr>
          <p:cNvPr id="6148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63563"/>
            <a:ext cx="4171950" cy="591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1557338" y="2301875"/>
            <a:ext cx="6356350" cy="2403475"/>
            <a:chOff x="1557805" y="2301936"/>
            <a:chExt cx="6355424" cy="2403352"/>
          </a:xfrm>
        </p:grpSpPr>
        <p:pic>
          <p:nvPicPr>
            <p:cNvPr id="615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3054" y="2301936"/>
              <a:ext cx="2450175" cy="2098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51" name="Rectangle 10"/>
            <p:cNvSpPr>
              <a:spLocks noChangeArrowheads="1"/>
            </p:cNvSpPr>
            <p:nvPr/>
          </p:nvSpPr>
          <p:spPr bwMode="auto">
            <a:xfrm rot="5400000">
              <a:off x="2260274" y="2526444"/>
              <a:ext cx="1476375" cy="2881313"/>
            </a:xfrm>
            <a:prstGeom prst="rect">
              <a:avLst/>
            </a:prstGeom>
            <a:solidFill>
              <a:schemeClr val="tx2">
                <a:alpha val="10980"/>
              </a:schemeClr>
            </a:solidFill>
            <a:ln w="12700" cap="sq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457200"/>
              <a:endParaRPr lang="en-US"/>
            </a:p>
          </p:txBody>
        </p:sp>
        <p:sp>
          <p:nvSpPr>
            <p:cNvPr id="6152" name="Line 12"/>
            <p:cNvSpPr>
              <a:spLocks noChangeShapeType="1"/>
            </p:cNvSpPr>
            <p:nvPr/>
          </p:nvSpPr>
          <p:spPr bwMode="auto">
            <a:xfrm flipV="1">
              <a:off x="4472984" y="3841688"/>
              <a:ext cx="98266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QCD Phase Diagram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299ED6-4F24-4836-A088-454E4330E716}" type="slidenum">
              <a:rPr lang="en-US"/>
              <a:pPr>
                <a:defRPr/>
              </a:pPr>
              <a:t>3</a:t>
            </a:fld>
            <a:endParaRPr lang="en-US"/>
          </a:p>
        </p:txBody>
      </p:sp>
      <p:pic>
        <p:nvPicPr>
          <p:cNvPr id="8198" name="Billede 3" descr="phase-diagram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7" t="-4588" r="4333" b="11646"/>
          <a:stretch>
            <a:fillRect/>
          </a:stretch>
        </p:blipFill>
        <p:spPr bwMode="auto">
          <a:xfrm>
            <a:off x="1752600" y="1143000"/>
            <a:ext cx="5105400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CERN – The Large Hadron Collider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C08395-B5D6-4342-A808-BA87B343BE89}" type="slidenum">
              <a:rPr lang="en-US"/>
              <a:pPr>
                <a:defRPr/>
              </a:pPr>
              <a:t>4</a:t>
            </a:fld>
            <a:endParaRPr lang="en-US"/>
          </a:p>
        </p:txBody>
      </p:sp>
      <p:pic>
        <p:nvPicPr>
          <p:cNvPr id="92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7631113" cy="5043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the Early Universe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blice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43000" y="1504950"/>
            <a:ext cx="662940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734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Nucleus Collisions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31301"/>
            <a:ext cx="8189913" cy="484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034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a Collision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33063-FEF8-4B58-BE10-92EB272674BD}" type="slidenum">
              <a:rPr lang="en-US"/>
              <a:pPr>
                <a:defRPr/>
              </a:pPr>
              <a:t>7</a:t>
            </a:fld>
            <a:endParaRPr lang="en-US"/>
          </a:p>
        </p:txBody>
      </p:sp>
      <p:pic>
        <p:nvPicPr>
          <p:cNvPr id="2" name="alievent-short-xvid.avi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19200" y="1485900"/>
            <a:ext cx="6553200" cy="491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Large Ion Collider Experiment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33336"/>
            <a:ext cx="7162800" cy="486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4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Projection Chamber (TPC)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19528"/>
            <a:ext cx="7848600" cy="410743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7200" y="1401536"/>
            <a:ext cx="7924800" cy="1189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fontAlgn="base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itchFamily="18" charset="2"/>
              <a:buChar char=""/>
              <a:defRPr sz="26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39763" indent="-2460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indent="-2460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itchFamily="18" charset="2"/>
              <a:buChar char=""/>
              <a:defRPr sz="21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187450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462088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18" charset="2"/>
              <a:buChar char=""/>
              <a:defRPr sz="2000"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Measure position and momentum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Particle Identification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82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TPC Laser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8" name="Picture 7" descr="lase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5"/>
          <a:stretch>
            <a:fillRect/>
          </a:stretch>
        </p:blipFill>
        <p:spPr bwMode="auto">
          <a:xfrm>
            <a:off x="-24409" y="2029804"/>
            <a:ext cx="460616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LaserTracks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6" t="6306" r="23959" b="9911"/>
          <a:stretch>
            <a:fillRect/>
          </a:stretch>
        </p:blipFill>
        <p:spPr bwMode="auto">
          <a:xfrm>
            <a:off x="3972916" y="1676400"/>
            <a:ext cx="5171084" cy="492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438400"/>
            <a:ext cx="3810000" cy="3429000"/>
          </a:xfrm>
        </p:spPr>
        <p:txBody>
          <a:bodyPr/>
          <a:lstStyle/>
          <a:p>
            <a:r>
              <a:rPr lang="en-US" dirty="0" smtClean="0"/>
              <a:t>Beam split into </a:t>
            </a:r>
            <a:r>
              <a:rPr lang="en-US" dirty="0" smtClean="0"/>
              <a:t>33</a:t>
            </a:r>
            <a:r>
              <a:rPr lang="en-US" dirty="0" smtClean="0"/>
              <a:t>6 </a:t>
            </a:r>
            <a:r>
              <a:rPr lang="en-US" dirty="0"/>
              <a:t>l</a:t>
            </a:r>
            <a:r>
              <a:rPr lang="en-US" dirty="0" smtClean="0"/>
              <a:t>aser tracks</a:t>
            </a:r>
          </a:p>
          <a:p>
            <a:r>
              <a:rPr lang="en-US" dirty="0" smtClean="0"/>
              <a:t>Unaffected by magnetic field</a:t>
            </a:r>
          </a:p>
          <a:p>
            <a:r>
              <a:rPr lang="en-US" dirty="0" smtClean="0"/>
              <a:t>Crucial for knowledge of drift time</a:t>
            </a:r>
          </a:p>
          <a:p>
            <a:r>
              <a:rPr lang="en-US" dirty="0" smtClean="0"/>
              <a:t>Exact positions known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22222E-6 L -0.45052 -0.0034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35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TPC </a:t>
            </a:r>
            <a:r>
              <a:rPr lang="en-US" dirty="0" err="1" smtClean="0"/>
              <a:t>PbPb</a:t>
            </a:r>
            <a:r>
              <a:rPr lang="en-US" dirty="0" smtClean="0"/>
              <a:t> Event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3C49A3-750E-4517-BA93-755B7D4E6C12}" type="slidenum">
              <a:rPr lang="en-US"/>
              <a:pPr>
                <a:defRPr/>
              </a:pPr>
              <a:t>11</a:t>
            </a:fld>
            <a:endParaRPr lang="en-US"/>
          </a:p>
        </p:txBody>
      </p:sp>
      <p:pic>
        <p:nvPicPr>
          <p:cNvPr id="16389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86"/>
          <a:stretch/>
        </p:blipFill>
        <p:spPr bwMode="auto">
          <a:xfrm>
            <a:off x="1060541" y="1295400"/>
            <a:ext cx="6788059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Strong Hydrodynamics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5257800" cy="1981200"/>
          </a:xfrm>
        </p:spPr>
        <p:txBody>
          <a:bodyPr>
            <a:normAutofit fontScale="70000" lnSpcReduction="20000"/>
          </a:bodyPr>
          <a:lstStyle/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Asymmetry region of interaction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Produces asymmetric distribution of particles</a:t>
            </a:r>
          </a:p>
          <a:p>
            <a:pPr marL="640080" lvl="1" indent="-246888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Requires interactions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Can measure this final asymmetry (v</a:t>
            </a:r>
            <a:r>
              <a:rPr lang="en-US" baseline="-25000" dirty="0" smtClean="0"/>
              <a:t>2</a:t>
            </a:r>
            <a:r>
              <a:rPr lang="en-US" dirty="0" smtClean="0"/>
              <a:t>)</a:t>
            </a:r>
          </a:p>
          <a:p>
            <a:pPr marL="641033" lvl="1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Related to viscosity of the medium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Higher order correlations indicate </a:t>
            </a:r>
            <a:r>
              <a:rPr lang="en-US" dirty="0" err="1" smtClean="0"/>
              <a:t>hydrodynamical</a:t>
            </a:r>
            <a:r>
              <a:rPr lang="en-US" dirty="0" smtClean="0"/>
              <a:t> behavior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pic>
        <p:nvPicPr>
          <p:cNvPr id="1843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397000"/>
            <a:ext cx="3295650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9D135-1372-4B3A-A34B-7B771E47B3A3}" type="slidenum">
              <a:rPr lang="en-US"/>
              <a:pPr>
                <a:defRPr/>
              </a:pPr>
              <a:t>12</a:t>
            </a:fld>
            <a:endParaRPr lang="en-US"/>
          </a:p>
        </p:txBody>
      </p:sp>
      <p:pic>
        <p:nvPicPr>
          <p:cNvPr id="18442" name="Picture 14" descr="expansion.gi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797300"/>
            <a:ext cx="22225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3" name="Text Box 281"/>
          <p:cNvSpPr txBox="1">
            <a:spLocks noChangeArrowheads="1"/>
          </p:cNvSpPr>
          <p:nvPr/>
        </p:nvSpPr>
        <p:spPr bwMode="auto">
          <a:xfrm>
            <a:off x="5257800" y="6046787"/>
            <a:ext cx="3271838" cy="354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370" tIns="45687" rIns="91370" bIns="45687">
            <a:spAutoFit/>
          </a:bodyPr>
          <a:lstStyle>
            <a:lvl1pPr>
              <a:defRPr>
                <a:solidFill>
                  <a:schemeClr val="tx1"/>
                </a:solidFill>
                <a:latin typeface="Constant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onstant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onstant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onstant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onstant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nstantia" pitchFamily="18" charset="0"/>
              </a:defRPr>
            </a:lvl9pPr>
          </a:lstStyle>
          <a:p>
            <a:pPr algn="ctr"/>
            <a:r>
              <a:rPr lang="en-US" sz="1000" dirty="0">
                <a:solidFill>
                  <a:srgbClr val="000000"/>
                </a:solidFill>
                <a:latin typeface="Arial" charset="0"/>
              </a:rPr>
              <a:t>Duke – </a:t>
            </a:r>
            <a:r>
              <a:rPr lang="en-US" sz="1000" dirty="0" err="1">
                <a:solidFill>
                  <a:srgbClr val="000000"/>
                </a:solidFill>
                <a:latin typeface="Arial" charset="0"/>
              </a:rPr>
              <a:t>Jetlab</a:t>
            </a:r>
            <a:r>
              <a:rPr lang="en-US" sz="1000" dirty="0">
                <a:solidFill>
                  <a:srgbClr val="000000"/>
                </a:solidFill>
                <a:latin typeface="Arial" charset="0"/>
              </a:rPr>
              <a:t> – Cold Atoms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Arial" charset="0"/>
              </a:rPr>
              <a:t>http://www.phy.duke.edu/research/photon/qoptics/news/stronginter/index.html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389035"/>
            <a:ext cx="4648200" cy="316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5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4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Forward Multiplicity Detector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962400"/>
            <a:ext cx="8458200" cy="2286000"/>
          </a:xfrm>
        </p:spPr>
        <p:txBody>
          <a:bodyPr>
            <a:normAutofit lnSpcReduction="10000"/>
          </a:bodyPr>
          <a:lstStyle/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Only detector in ALICE with high segmentation at high |</a:t>
            </a:r>
            <a:r>
              <a:rPr lang="el-GR" dirty="0" smtClean="0">
                <a:latin typeface="Calibri"/>
              </a:rPr>
              <a:t>η</a:t>
            </a:r>
            <a:r>
              <a:rPr lang="en-US" dirty="0" smtClean="0"/>
              <a:t>|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51200 silicon strips - radial and </a:t>
            </a:r>
            <a:r>
              <a:rPr lang="en-US" dirty="0" err="1" smtClean="0"/>
              <a:t>azimuthal</a:t>
            </a:r>
            <a:r>
              <a:rPr lang="en-US" dirty="0" smtClean="0"/>
              <a:t> segmentation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position and energy information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Hit information can be used in </a:t>
            </a:r>
            <a:r>
              <a:rPr lang="en-US" dirty="0" err="1" smtClean="0"/>
              <a:t>p+p</a:t>
            </a:r>
            <a:r>
              <a:rPr lang="en-US" dirty="0" smtClean="0"/>
              <a:t> for particles detection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Energy information used in </a:t>
            </a:r>
            <a:r>
              <a:rPr lang="en-US" dirty="0" err="1" smtClean="0"/>
              <a:t>Pb+Pb</a:t>
            </a:r>
            <a:r>
              <a:rPr lang="en-US" dirty="0" smtClean="0"/>
              <a:t> (high occupancy)</a:t>
            </a:r>
          </a:p>
          <a:p>
            <a:pPr marL="274320" indent="-274320" fontAlgn="auto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pic>
        <p:nvPicPr>
          <p:cNvPr id="14341" name="Picture 1" descr="http://fmd.nbi.dk/fmd/shift_guide/fmd_al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47974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Explosion 2 5"/>
          <p:cNvSpPr/>
          <p:nvPr/>
        </p:nvSpPr>
        <p:spPr>
          <a:xfrm>
            <a:off x="3730625" y="2209800"/>
            <a:ext cx="304800" cy="304800"/>
          </a:xfrm>
          <a:prstGeom prst="irregularSeal2">
            <a:avLst/>
          </a:prstGeom>
          <a:solidFill>
            <a:srgbClr val="FFFF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4825" y="3276600"/>
            <a:ext cx="17478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j-lt"/>
                <a:cs typeface="+mn-cs"/>
              </a:rPr>
              <a:t>Interaction Point</a:t>
            </a:r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rot="16200000" flipV="1">
            <a:off x="3520282" y="2877343"/>
            <a:ext cx="762000" cy="36513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4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752600"/>
            <a:ext cx="31242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A63D7B-06DE-4104-9236-7432E51E668A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dN</a:t>
            </a:r>
            <a:r>
              <a:rPr lang="en-US" dirty="0" smtClean="0"/>
              <a:t>/d</a:t>
            </a:r>
            <a:r>
              <a:rPr lang="en-US" dirty="0" smtClean="0">
                <a:latin typeface="Symbol" pitchFamily="18" charset="2"/>
              </a:rPr>
              <a:t>h</a:t>
            </a:r>
            <a:r>
              <a:rPr lang="en-US" dirty="0" smtClean="0"/>
              <a:t> versus </a:t>
            </a:r>
            <a:r>
              <a:rPr lang="en-US" dirty="0" smtClean="0">
                <a:latin typeface="Symbol" pitchFamily="18" charset="2"/>
              </a:rPr>
              <a:t>h</a:t>
            </a:r>
            <a:endParaRPr lang="en-US" dirty="0">
              <a:latin typeface="Symbol" pitchFamily="18" charset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1937657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Can measure distribution of produced particles</a:t>
            </a:r>
          </a:p>
          <a:p>
            <a:r>
              <a:rPr lang="en-US" dirty="0" smtClean="0"/>
              <a:t>High </a:t>
            </a:r>
            <a:r>
              <a:rPr lang="en-US" dirty="0" smtClean="0">
                <a:latin typeface="Symbol" pitchFamily="18" charset="2"/>
              </a:rPr>
              <a:t>h</a:t>
            </a:r>
            <a:r>
              <a:rPr lang="en-US" dirty="0" smtClean="0"/>
              <a:t> appears to show universal behavior</a:t>
            </a:r>
          </a:p>
          <a:p>
            <a:r>
              <a:rPr lang="en-US" dirty="0" smtClean="0"/>
              <a:t>Most energy goes into production of particles at </a:t>
            </a:r>
            <a:r>
              <a:rPr lang="en-US" dirty="0" err="1" smtClean="0"/>
              <a:t>midrapidity</a:t>
            </a:r>
            <a:endParaRPr lang="en-US" dirty="0" smtClean="0"/>
          </a:p>
          <a:p>
            <a:pPr lvl="1"/>
            <a:r>
              <a:rPr lang="en-US" dirty="0" smtClean="0"/>
              <a:t>~ 18000 particles produced in central collision, 15 </a:t>
            </a:r>
            <a:r>
              <a:rPr lang="en-US" dirty="0" err="1" smtClean="0"/>
              <a:t>GeV</a:t>
            </a:r>
            <a:r>
              <a:rPr lang="en-US" dirty="0" smtClean="0"/>
              <a:t>/fm</a:t>
            </a:r>
            <a:r>
              <a:rPr lang="en-US" baseline="30000" dirty="0" smtClean="0"/>
              <a:t>3</a:t>
            </a:r>
            <a:r>
              <a:rPr lang="en-US" dirty="0" smtClean="0"/>
              <a:t> energy density</a:t>
            </a:r>
          </a:p>
          <a:p>
            <a:r>
              <a:rPr lang="en-US" dirty="0" smtClean="0"/>
              <a:t>First order measurement </a:t>
            </a:r>
            <a:endParaRPr lang="en-US" dirty="0"/>
          </a:p>
          <a:p>
            <a:pPr lvl="1"/>
            <a:r>
              <a:rPr lang="en-US" dirty="0" smtClean="0"/>
              <a:t>higher orders can give more information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3350079"/>
            <a:ext cx="4462983" cy="3203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331" y="3461657"/>
            <a:ext cx="4307519" cy="309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http://fmd.nbi.dk/fmd/shift_guide/fmd_all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805" t="14919" r="30929" b="11488"/>
          <a:stretch/>
        </p:blipFill>
        <p:spPr bwMode="auto">
          <a:xfrm>
            <a:off x="0" y="3171738"/>
            <a:ext cx="2551670" cy="307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 Range Correlations (LRC)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1447800"/>
          </a:xfrm>
        </p:spPr>
        <p:txBody>
          <a:bodyPr/>
          <a:lstStyle/>
          <a:p>
            <a:r>
              <a:rPr lang="en-US" dirty="0" smtClean="0"/>
              <a:t>How much does each side of the interaction communicate?</a:t>
            </a:r>
          </a:p>
          <a:p>
            <a:r>
              <a:rPr lang="en-US" dirty="0" smtClean="0"/>
              <a:t>Not calculable from theory</a:t>
            </a:r>
          </a:p>
          <a:p>
            <a:r>
              <a:rPr lang="en-US" dirty="0" smtClean="0"/>
              <a:t>Much information contained about the internal dynamics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168" y="3391802"/>
            <a:ext cx="4267200" cy="252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http://fmd.nbi.dk/fmd/shift_guide/fmd_all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40" t="-1" b="29267"/>
          <a:stretch/>
        </p:blipFill>
        <p:spPr bwMode="auto">
          <a:xfrm>
            <a:off x="6977449" y="3062681"/>
            <a:ext cx="2090351" cy="295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5486400" y="4126684"/>
            <a:ext cx="609600" cy="1143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4126684"/>
            <a:ext cx="609600" cy="11430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248400" y="4229100"/>
            <a:ext cx="656968" cy="11430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248400" y="4648200"/>
            <a:ext cx="685800" cy="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248400" y="4953000"/>
            <a:ext cx="656968" cy="7620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2438400" y="4229100"/>
            <a:ext cx="656968" cy="11430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438400" y="4648200"/>
            <a:ext cx="685800" cy="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438400" y="4953000"/>
            <a:ext cx="656968" cy="7620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98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Proton Collision Processes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3" y="1664199"/>
            <a:ext cx="8677674" cy="450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6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10600" cy="4800600"/>
          </a:xfrm>
        </p:spPr>
        <p:txBody>
          <a:bodyPr/>
          <a:lstStyle/>
          <a:p>
            <a:r>
              <a:rPr lang="en-US" dirty="0" smtClean="0"/>
              <a:t>Active analysis crucial to understanding the QGP</a:t>
            </a:r>
          </a:p>
          <a:p>
            <a:r>
              <a:rPr lang="en-US" dirty="0" smtClean="0"/>
              <a:t>Bulk properties and correlations are key topics</a:t>
            </a:r>
          </a:p>
          <a:p>
            <a:r>
              <a:rPr lang="en-US" dirty="0"/>
              <a:t>p</a:t>
            </a:r>
            <a:r>
              <a:rPr lang="en-US" dirty="0" smtClean="0"/>
              <a:t>-p data analyzed to gain deeper understanding of baseline interactions</a:t>
            </a:r>
          </a:p>
          <a:p>
            <a:pPr lvl="1"/>
            <a:r>
              <a:rPr lang="en-US" dirty="0" smtClean="0"/>
              <a:t>Analyses will feed back into models</a:t>
            </a:r>
          </a:p>
          <a:p>
            <a:pPr lvl="1"/>
            <a:r>
              <a:rPr lang="en-US" dirty="0" smtClean="0"/>
              <a:t>Gives understanding of initial state of </a:t>
            </a:r>
            <a:r>
              <a:rPr lang="en-US" smtClean="0"/>
              <a:t>Pb-Pb </a:t>
            </a:r>
            <a:r>
              <a:rPr lang="en-US" dirty="0" smtClean="0"/>
              <a:t>collisions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7C055-C605-44F4-8BCA-DF749E615541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1231900" y="5791200"/>
            <a:ext cx="2159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231900" y="4572000"/>
            <a:ext cx="228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460500" y="5029200"/>
            <a:ext cx="228600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689100" y="5029200"/>
            <a:ext cx="228600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460500" y="5897880"/>
            <a:ext cx="228600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1689100" y="5897880"/>
            <a:ext cx="228600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219200" y="5638800"/>
            <a:ext cx="10033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917700" y="4572000"/>
            <a:ext cx="228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930400" y="5791200"/>
            <a:ext cx="2159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5118100" y="5791200"/>
            <a:ext cx="2159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5346700" y="5029200"/>
            <a:ext cx="228600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5575300" y="5029200"/>
            <a:ext cx="228600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346700" y="5897880"/>
            <a:ext cx="228600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575300" y="5897880"/>
            <a:ext cx="228600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105400" y="5638800"/>
            <a:ext cx="10033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803900" y="4572000"/>
            <a:ext cx="2286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816600" y="5791200"/>
            <a:ext cx="2159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118100" y="4910328"/>
            <a:ext cx="2159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514600" y="5221069"/>
            <a:ext cx="1300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Divide out</a:t>
            </a:r>
          </a:p>
          <a:p>
            <a:r>
              <a:rPr lang="en-US" dirty="0"/>
              <a:t>i</a:t>
            </a:r>
            <a:r>
              <a:rPr lang="en-US" dirty="0" smtClean="0"/>
              <a:t>nitial state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324600" y="5221069"/>
            <a:ext cx="19989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 we understand</a:t>
            </a:r>
          </a:p>
          <a:p>
            <a:r>
              <a:rPr lang="en-US" dirty="0"/>
              <a:t>t</a:t>
            </a:r>
            <a:r>
              <a:rPr lang="en-US" dirty="0" smtClean="0"/>
              <a:t>he initial state?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7" grpId="0" animBg="1"/>
      <p:bldP spid="38" grpId="0" animBg="1"/>
      <p:bldP spid="39" grpId="0" animBg="1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52400" y="2667000"/>
            <a:ext cx="8610600" cy="3505200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-</a:t>
            </a:r>
            <a:r>
              <a:rPr lang="en-US" dirty="0" err="1" smtClean="0"/>
              <a:t>Pb</a:t>
            </a:r>
            <a:r>
              <a:rPr lang="en-US" dirty="0" smtClean="0"/>
              <a:t> run November this year!</a:t>
            </a:r>
          </a:p>
          <a:p>
            <a:pPr lvl="1"/>
            <a:r>
              <a:rPr lang="en-US" dirty="0" smtClean="0"/>
              <a:t> New opportunities to study</a:t>
            </a:r>
            <a:br>
              <a:rPr lang="en-US" dirty="0" smtClean="0"/>
            </a:br>
            <a:r>
              <a:rPr lang="en-US" dirty="0" smtClean="0"/>
              <a:t>nuclear matter in novel state</a:t>
            </a:r>
            <a:br>
              <a:rPr lang="en-US" dirty="0" smtClean="0"/>
            </a:br>
            <a:r>
              <a:rPr lang="en-US" dirty="0" smtClean="0"/>
              <a:t>(gluon saturation)</a:t>
            </a:r>
          </a:p>
          <a:p>
            <a:pPr lvl="1"/>
            <a:r>
              <a:rPr lang="en-US" dirty="0" smtClean="0"/>
              <a:t>Shed light on possible</a:t>
            </a:r>
            <a:br>
              <a:rPr lang="en-US" dirty="0" smtClean="0"/>
            </a:br>
            <a:r>
              <a:rPr lang="en-US" dirty="0" smtClean="0"/>
              <a:t>complication to understanding</a:t>
            </a:r>
            <a:br>
              <a:rPr lang="en-US" dirty="0" smtClean="0"/>
            </a:br>
            <a:r>
              <a:rPr lang="en-US" dirty="0" smtClean="0"/>
              <a:t>the initial state of these collisions</a:t>
            </a:r>
          </a:p>
          <a:p>
            <a:r>
              <a:rPr lang="en-US" dirty="0" smtClean="0"/>
              <a:t>Current measurement methods ready to be applied to p-</a:t>
            </a:r>
            <a:r>
              <a:rPr lang="en-US" dirty="0" err="1" smtClean="0"/>
              <a:t>Pb</a:t>
            </a: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7C055-C605-44F4-8BCA-DF749E615541}" type="slidenum">
              <a:rPr lang="en-US"/>
              <a:pPr>
                <a:defRPr/>
              </a:pPr>
              <a:t>18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849294"/>
            <a:ext cx="4343400" cy="279890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041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-228600"/>
            <a:ext cx="5410200" cy="1143000"/>
          </a:xfrm>
        </p:spPr>
        <p:txBody>
          <a:bodyPr/>
          <a:lstStyle/>
          <a:p>
            <a:r>
              <a:rPr lang="en-US" dirty="0" smtClean="0"/>
              <a:t>HEHI Group in 2012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834312" y="762000"/>
            <a:ext cx="3585288" cy="594515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a-DK" sz="2000" dirty="0" smtClean="0">
                <a:solidFill>
                  <a:srgbClr val="0000FF"/>
                </a:solidFill>
              </a:rPr>
              <a:t>Perm. </a:t>
            </a:r>
            <a:r>
              <a:rPr lang="da-DK" sz="2000" dirty="0" err="1" smtClean="0">
                <a:solidFill>
                  <a:srgbClr val="0000FF"/>
                </a:solidFill>
              </a:rPr>
              <a:t>Staff</a:t>
            </a:r>
            <a:r>
              <a:rPr lang="da-DK" sz="2000" dirty="0" smtClean="0">
                <a:solidFill>
                  <a:srgbClr val="0000FF"/>
                </a:solidFill>
              </a:rPr>
              <a:t>:</a:t>
            </a:r>
          </a:p>
          <a:p>
            <a:pPr lvl="1" algn="l"/>
            <a:r>
              <a:rPr lang="da-DK" sz="2000" dirty="0" smtClean="0"/>
              <a:t>Ian </a:t>
            </a:r>
            <a:r>
              <a:rPr lang="da-DK" sz="2000" dirty="0" err="1" smtClean="0"/>
              <a:t>Bearden</a:t>
            </a:r>
            <a:endParaRPr lang="da-DK" sz="2000" dirty="0" smtClean="0"/>
          </a:p>
          <a:p>
            <a:pPr lvl="1" algn="l"/>
            <a:r>
              <a:rPr lang="da-DK" sz="2000" dirty="0" smtClean="0"/>
              <a:t>Hans </a:t>
            </a:r>
            <a:r>
              <a:rPr lang="da-DK" sz="2000" dirty="0"/>
              <a:t>Bøggild</a:t>
            </a:r>
          </a:p>
          <a:p>
            <a:pPr lvl="1" algn="l"/>
            <a:r>
              <a:rPr lang="da-DK" sz="2000" dirty="0"/>
              <a:t>Jens Jørgen </a:t>
            </a:r>
            <a:r>
              <a:rPr lang="da-DK" sz="2000" dirty="0" smtClean="0"/>
              <a:t>Gaardhøje</a:t>
            </a:r>
          </a:p>
          <a:p>
            <a:pPr lvl="1" algn="l"/>
            <a:r>
              <a:rPr lang="da-DK" sz="2000" dirty="0" smtClean="0"/>
              <a:t>Børge Svane Nielsen</a:t>
            </a:r>
          </a:p>
          <a:p>
            <a:pPr algn="l"/>
            <a:r>
              <a:rPr lang="da-DK" sz="2000" dirty="0" smtClean="0">
                <a:solidFill>
                  <a:srgbClr val="0000FF"/>
                </a:solidFill>
              </a:rPr>
              <a:t>Temp. </a:t>
            </a:r>
            <a:r>
              <a:rPr lang="da-DK" sz="2000" dirty="0" err="1" smtClean="0">
                <a:solidFill>
                  <a:srgbClr val="0000FF"/>
                </a:solidFill>
              </a:rPr>
              <a:t>Staff</a:t>
            </a:r>
            <a:r>
              <a:rPr lang="da-DK" sz="2000" dirty="0" smtClean="0">
                <a:solidFill>
                  <a:srgbClr val="0000FF"/>
                </a:solidFill>
              </a:rPr>
              <a:t>: </a:t>
            </a:r>
          </a:p>
          <a:p>
            <a:pPr lvl="1" algn="l"/>
            <a:r>
              <a:rPr lang="da-DK" sz="2000" dirty="0" smtClean="0"/>
              <a:t>Christian Holm Christensen</a:t>
            </a:r>
          </a:p>
          <a:p>
            <a:pPr lvl="1" algn="l"/>
            <a:r>
              <a:rPr lang="da-DK" sz="2000" dirty="0" smtClean="0"/>
              <a:t>Kris Gulbrandsen</a:t>
            </a:r>
          </a:p>
          <a:p>
            <a:pPr algn="l"/>
            <a:r>
              <a:rPr lang="da-DK" sz="2000" dirty="0" err="1" smtClean="0">
                <a:solidFill>
                  <a:srgbClr val="0000FF"/>
                </a:solidFill>
              </a:rPr>
              <a:t>PostDocs</a:t>
            </a:r>
            <a:r>
              <a:rPr lang="da-DK" sz="2000" dirty="0" smtClean="0">
                <a:solidFill>
                  <a:srgbClr val="0000FF"/>
                </a:solidFill>
              </a:rPr>
              <a:t>: </a:t>
            </a:r>
          </a:p>
          <a:p>
            <a:pPr lvl="1" algn="l"/>
            <a:r>
              <a:rPr lang="da-DK" sz="2000" dirty="0" smtClean="0"/>
              <a:t>Ante </a:t>
            </a:r>
            <a:r>
              <a:rPr lang="da-DK" sz="2000" dirty="0" err="1" smtClean="0"/>
              <a:t>Bilandzic</a:t>
            </a:r>
            <a:r>
              <a:rPr lang="da-DK" sz="2000" dirty="0" smtClean="0"/>
              <a:t>        (from 2/2) </a:t>
            </a:r>
          </a:p>
          <a:p>
            <a:pPr lvl="1" algn="l"/>
            <a:r>
              <a:rPr lang="da-DK" sz="2000" dirty="0" smtClean="0"/>
              <a:t>Marek </a:t>
            </a:r>
            <a:r>
              <a:rPr lang="da-DK" sz="2000" dirty="0" err="1" smtClean="0"/>
              <a:t>Chojnacki</a:t>
            </a:r>
            <a:r>
              <a:rPr lang="da-DK" sz="2000" dirty="0" smtClean="0"/>
              <a:t>   (from 7/5)</a:t>
            </a:r>
            <a:endParaRPr lang="da-DK" sz="2000" dirty="0" smtClean="0">
              <a:sym typeface="Wingdings"/>
            </a:endParaRPr>
          </a:p>
          <a:p>
            <a:pPr lvl="1" algn="l"/>
            <a:r>
              <a:rPr lang="da-DK" sz="2000" dirty="0" smtClean="0"/>
              <a:t>Hans </a:t>
            </a:r>
            <a:r>
              <a:rPr lang="da-DK" sz="2000" dirty="0" err="1" smtClean="0"/>
              <a:t>Hjersing</a:t>
            </a:r>
            <a:r>
              <a:rPr lang="da-DK" sz="2000" dirty="0" smtClean="0"/>
              <a:t> Dalsgaard</a:t>
            </a:r>
          </a:p>
          <a:p>
            <a:pPr lvl="1" algn="l"/>
            <a:r>
              <a:rPr lang="da-DK" sz="2000" dirty="0" smtClean="0"/>
              <a:t>Casper Nygaard (to 30/6)</a:t>
            </a:r>
          </a:p>
          <a:p>
            <a:pPr algn="l"/>
            <a:r>
              <a:rPr lang="da-DK" sz="2000" dirty="0" err="1" smtClean="0">
                <a:solidFill>
                  <a:srgbClr val="0000FF"/>
                </a:solidFill>
              </a:rPr>
              <a:t>Ph</a:t>
            </a:r>
            <a:r>
              <a:rPr lang="da-DK" sz="2000" dirty="0" smtClean="0">
                <a:solidFill>
                  <a:srgbClr val="0000FF"/>
                </a:solidFill>
              </a:rPr>
              <a:t>. D. students: </a:t>
            </a:r>
          </a:p>
          <a:p>
            <a:pPr lvl="1" algn="l"/>
            <a:r>
              <a:rPr lang="da-DK" sz="2000" dirty="0"/>
              <a:t>Alexander Hansen</a:t>
            </a:r>
          </a:p>
          <a:p>
            <a:pPr lvl="1" algn="l"/>
            <a:r>
              <a:rPr lang="da-DK" sz="2000" dirty="0" smtClean="0"/>
              <a:t>Carsten Søgaard (to 30/6)</a:t>
            </a:r>
          </a:p>
          <a:p>
            <a:pPr lvl="1" algn="l"/>
            <a:r>
              <a:rPr lang="da-DK" sz="2000" dirty="0" smtClean="0"/>
              <a:t>Valentina Zaccolo</a:t>
            </a:r>
          </a:p>
          <a:p>
            <a:pPr algn="l"/>
            <a:r>
              <a:rPr lang="da-DK" sz="2000" dirty="0" smtClean="0">
                <a:solidFill>
                  <a:srgbClr val="0000FF"/>
                </a:solidFill>
              </a:rPr>
              <a:t>Undergradstudents: </a:t>
            </a:r>
          </a:p>
          <a:p>
            <a:pPr lvl="1" algn="l"/>
            <a:r>
              <a:rPr lang="da-DK" sz="2000" dirty="0" err="1" smtClean="0"/>
              <a:t>Leire</a:t>
            </a:r>
            <a:r>
              <a:rPr lang="da-DK" sz="2000" dirty="0" smtClean="0"/>
              <a:t> </a:t>
            </a:r>
            <a:r>
              <a:rPr lang="da-DK" sz="2000" dirty="0" err="1" smtClean="0"/>
              <a:t>Arriola</a:t>
            </a:r>
            <a:endParaRPr lang="da-DK" sz="2000" dirty="0" smtClean="0"/>
          </a:p>
          <a:p>
            <a:pPr lvl="1" algn="l"/>
            <a:r>
              <a:rPr lang="da-DK" sz="2000" dirty="0"/>
              <a:t>Peter </a:t>
            </a:r>
            <a:r>
              <a:rPr lang="da-DK" sz="2000" dirty="0" err="1" smtClean="0"/>
              <a:t>Jochumzsen</a:t>
            </a:r>
            <a:endParaRPr lang="da-DK" sz="2000" dirty="0" smtClean="0"/>
          </a:p>
          <a:p>
            <a:pPr lvl="1" algn="l"/>
            <a:r>
              <a:rPr lang="da-DK" sz="2000" dirty="0" smtClean="0"/>
              <a:t>Bastian Poulsen</a:t>
            </a:r>
          </a:p>
          <a:p>
            <a:pPr lvl="1" algn="l"/>
            <a:r>
              <a:rPr lang="da-DK" sz="2000" dirty="0" smtClean="0"/>
              <a:t>Thomas </a:t>
            </a:r>
            <a:r>
              <a:rPr lang="da-DK" sz="2000" dirty="0" err="1" smtClean="0"/>
              <a:t>Schwanberger</a:t>
            </a:r>
            <a:endParaRPr lang="da-DK" sz="2000" dirty="0" smtClean="0"/>
          </a:p>
          <a:p>
            <a:pPr algn="l"/>
            <a:r>
              <a:rPr lang="da-DK" sz="2000" dirty="0" smtClean="0">
                <a:solidFill>
                  <a:srgbClr val="0000FF"/>
                </a:solidFill>
              </a:rPr>
              <a:t>Techn.&amp; Eng.:</a:t>
            </a:r>
            <a:endParaRPr lang="da-DK" sz="2000" dirty="0">
              <a:solidFill>
                <a:srgbClr val="0000FF"/>
              </a:solidFill>
            </a:endParaRPr>
          </a:p>
          <a:p>
            <a:pPr lvl="1" algn="l"/>
            <a:r>
              <a:rPr lang="da-DK" sz="2000" dirty="0"/>
              <a:t>Henrik Bertelsen</a:t>
            </a:r>
          </a:p>
          <a:p>
            <a:pPr lvl="1" algn="l"/>
            <a:r>
              <a:rPr lang="da-DK" sz="2000" dirty="0" smtClean="0"/>
              <a:t>Aksel Boiesen</a:t>
            </a:r>
          </a:p>
          <a:p>
            <a:pPr lvl="1" algn="l"/>
            <a:r>
              <a:rPr lang="da-DK" sz="2000" dirty="0" smtClean="0"/>
              <a:t>Jimmy </a:t>
            </a:r>
            <a:r>
              <a:rPr lang="da-DK" sz="2000" dirty="0"/>
              <a:t>K. </a:t>
            </a:r>
            <a:r>
              <a:rPr lang="da-DK" sz="2000" dirty="0" smtClean="0"/>
              <a:t>Hansen</a:t>
            </a:r>
          </a:p>
          <a:p>
            <a:pPr lvl="1" algn="l"/>
            <a:r>
              <a:rPr lang="da-DK" sz="2000" dirty="0"/>
              <a:t>Jørn Westergaard</a:t>
            </a:r>
          </a:p>
          <a:p>
            <a:pPr lvl="1" algn="l"/>
            <a:endParaRPr lang="da-DK" sz="2000" dirty="0"/>
          </a:p>
          <a:p>
            <a:pPr lvl="1" algn="l"/>
            <a:endParaRPr lang="da-DK" sz="1800" dirty="0" smtClean="0"/>
          </a:p>
          <a:p>
            <a:endParaRPr lang="da-DK" dirty="0" smtClean="0"/>
          </a:p>
          <a:p>
            <a:endParaRPr lang="da-DK" dirty="0"/>
          </a:p>
        </p:txBody>
      </p:sp>
      <p:pic>
        <p:nvPicPr>
          <p:cNvPr id="7" name="Billede 9" descr="phase-diagram.jpg"/>
          <p:cNvPicPr>
            <a:picLocks noChangeAspect="1"/>
          </p:cNvPicPr>
          <p:nvPr/>
        </p:nvPicPr>
        <p:blipFill>
          <a:blip r:embed="rId2"/>
          <a:srcRect l="5057" t="-4588" r="4334" b="11646"/>
          <a:stretch>
            <a:fillRect/>
          </a:stretch>
        </p:blipFill>
        <p:spPr>
          <a:xfrm>
            <a:off x="4949135" y="1125378"/>
            <a:ext cx="2243149" cy="22181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5" descr="QG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2284" y="2596941"/>
            <a:ext cx="1914636" cy="11939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9" name="Pladsholder til indhold 6" descr="first pb+pb HLT reco"/>
          <p:cNvPicPr>
            <a:picLocks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92284" y="3790882"/>
            <a:ext cx="1914636" cy="13011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2" name="Tekstfelt 16"/>
          <p:cNvSpPr txBox="1"/>
          <p:nvPr/>
        </p:nvSpPr>
        <p:spPr>
          <a:xfrm>
            <a:off x="4949135" y="5092005"/>
            <a:ext cx="2262169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sz="1400" dirty="0" err="1" smtClean="0"/>
              <a:t>Funded</a:t>
            </a:r>
            <a:r>
              <a:rPr lang="da-DK" sz="1400" dirty="0" smtClean="0"/>
              <a:t> By:</a:t>
            </a:r>
          </a:p>
          <a:p>
            <a:r>
              <a:rPr lang="da-DK" sz="1400" dirty="0" smtClean="0">
                <a:solidFill>
                  <a:srgbClr val="FF0000"/>
                </a:solidFill>
              </a:rPr>
              <a:t>-Danish Natural Science</a:t>
            </a:r>
          </a:p>
          <a:p>
            <a:r>
              <a:rPr lang="da-DK" sz="1400" dirty="0" smtClean="0">
                <a:solidFill>
                  <a:srgbClr val="FF0000"/>
                </a:solidFill>
              </a:rPr>
              <a:t>  Research </a:t>
            </a:r>
            <a:r>
              <a:rPr lang="da-DK" sz="1400" dirty="0" err="1" smtClean="0">
                <a:solidFill>
                  <a:srgbClr val="FF0000"/>
                </a:solidFill>
              </a:rPr>
              <a:t>Council</a:t>
            </a:r>
            <a:r>
              <a:rPr lang="da-DK" sz="1400" dirty="0" smtClean="0">
                <a:solidFill>
                  <a:srgbClr val="FF0000"/>
                </a:solidFill>
              </a:rPr>
              <a:t>(FNU)</a:t>
            </a:r>
          </a:p>
          <a:p>
            <a:r>
              <a:rPr lang="da-DK" sz="1400" dirty="0" smtClean="0">
                <a:solidFill>
                  <a:srgbClr val="FF0000"/>
                </a:solidFill>
              </a:rPr>
              <a:t>-Danish Basic Research</a:t>
            </a:r>
          </a:p>
          <a:p>
            <a:r>
              <a:rPr lang="da-DK" sz="1400" dirty="0" smtClean="0">
                <a:solidFill>
                  <a:srgbClr val="FF0000"/>
                </a:solidFill>
              </a:rPr>
              <a:t>  Foundation (GF)</a:t>
            </a:r>
          </a:p>
          <a:p>
            <a:r>
              <a:rPr lang="da-DK" sz="1400" dirty="0" smtClean="0">
                <a:solidFill>
                  <a:srgbClr val="FF0000"/>
                </a:solidFill>
              </a:rPr>
              <a:t>-Carlsberg Foundation</a:t>
            </a:r>
            <a:endParaRPr lang="da-DK" sz="1400" dirty="0">
              <a:solidFill>
                <a:srgbClr val="FF0000"/>
              </a:solidFill>
            </a:endParaRPr>
          </a:p>
        </p:txBody>
      </p:sp>
      <p:pic>
        <p:nvPicPr>
          <p:cNvPr id="13" name="Picture 4" descr="alice_technical_paper_ALICE-couleur-OK06_cut_named.png"/>
          <p:cNvPicPr>
            <a:picLocks noChangeAspect="1"/>
          </p:cNvPicPr>
          <p:nvPr/>
        </p:nvPicPr>
        <p:blipFill>
          <a:blip r:embed="rId5"/>
          <a:srcRect l="12483" r="9293"/>
          <a:stretch>
            <a:fillRect/>
          </a:stretch>
        </p:blipFill>
        <p:spPr bwMode="auto">
          <a:xfrm>
            <a:off x="7211304" y="1125378"/>
            <a:ext cx="1890000" cy="14659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11304" y="5105400"/>
            <a:ext cx="1932696" cy="10025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328" y="3355993"/>
            <a:ext cx="2273620" cy="174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19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1143000"/>
          </a:xfrm>
        </p:spPr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TPC Momentum Resolution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NUPECC Meeting - June 15 2012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A68053-50CC-458D-B20B-ADAF868CBD2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600200"/>
            <a:ext cx="4488602" cy="430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5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3731</TotalTime>
  <Words>613</Words>
  <Application>Microsoft Office PowerPoint</Application>
  <PresentationFormat>On-screen Show (4:3)</PresentationFormat>
  <Paragraphs>147</Paragraphs>
  <Slides>21</Slides>
  <Notes>2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Flow</vt:lpstr>
      <vt:lpstr>Relativistic Heavy Ions ALICE/CERN</vt:lpstr>
      <vt:lpstr>PowerPoint Presentation</vt:lpstr>
      <vt:lpstr>QCD Phase Diagram</vt:lpstr>
      <vt:lpstr>CERN – The Large Hadron Collider</vt:lpstr>
      <vt:lpstr>Creating the Early Universe</vt:lpstr>
      <vt:lpstr>Nucleus Collisions</vt:lpstr>
      <vt:lpstr>Detecting a Collision</vt:lpstr>
      <vt:lpstr>A Large Ion Collider Experiment</vt:lpstr>
      <vt:lpstr>Time Projection Chamber (TPC)</vt:lpstr>
      <vt:lpstr>TPC Laser</vt:lpstr>
      <vt:lpstr>TPC PbPb Event</vt:lpstr>
      <vt:lpstr>Strong Hydrodynamics</vt:lpstr>
      <vt:lpstr>Forward Multiplicity Detector</vt:lpstr>
      <vt:lpstr>dN/dh versus h</vt:lpstr>
      <vt:lpstr>Long Range Correlations (LRC)</vt:lpstr>
      <vt:lpstr>Proton Collision Processes</vt:lpstr>
      <vt:lpstr>Summary</vt:lpstr>
      <vt:lpstr>Future</vt:lpstr>
      <vt:lpstr>HEHI Group in 2012</vt:lpstr>
      <vt:lpstr>Backup Slides</vt:lpstr>
      <vt:lpstr>TPC Momentum Resolution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ALICE Experiment @ LHC Recent Results and Future Prospects</dc:title>
  <dc:creator>gulbrand</dc:creator>
  <cp:lastModifiedBy>Kristjan Gulbrandsen</cp:lastModifiedBy>
  <cp:revision>292</cp:revision>
  <dcterms:created xsi:type="dcterms:W3CDTF">2010-06-17T13:18:05Z</dcterms:created>
  <dcterms:modified xsi:type="dcterms:W3CDTF">2012-06-15T09:40:13Z</dcterms:modified>
</cp:coreProperties>
</file>