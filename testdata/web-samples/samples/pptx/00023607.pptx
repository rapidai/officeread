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414" r:id="rId2"/>
    <p:sldId id="421" r:id="rId3"/>
    <p:sldId id="422" r:id="rId4"/>
    <p:sldId id="423" r:id="rId5"/>
    <p:sldId id="424" r:id="rId6"/>
    <p:sldId id="425" r:id="rId7"/>
    <p:sldId id="426" r:id="rId8"/>
  </p:sldIdLst>
  <p:sldSz cx="9144000" cy="6858000" type="screen4x3"/>
  <p:notesSz cx="6858000" cy="919956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FF00"/>
    <a:srgbClr val="CCFF66"/>
    <a:srgbClr val="FF6600"/>
    <a:srgbClr val="FF0000"/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1" autoAdjust="0"/>
    <p:restoredTop sz="92597" autoAdjust="0"/>
  </p:normalViewPr>
  <p:slideViewPr>
    <p:cSldViewPr>
      <p:cViewPr varScale="1">
        <p:scale>
          <a:sx n="98" d="100"/>
          <a:sy n="98" d="100"/>
        </p:scale>
        <p:origin x="-20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57EEA05-0A7C-448D-9654-A0B3DC4A0A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1" tIns="45876" rIns="91751" bIns="45876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1" tIns="45876" rIns="91751" bIns="45876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8713" y="688975"/>
            <a:ext cx="4602162" cy="34512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0388"/>
            <a:ext cx="5029200" cy="414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1" tIns="45876" rIns="91751" bIns="458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391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1" tIns="45876" rIns="91751" bIns="45876" numCol="1" anchor="b" anchorCtr="0" compatLnSpc="1">
            <a:prstTxWarp prst="textNoShape">
              <a:avLst/>
            </a:prstTxWarp>
          </a:bodyPr>
          <a:lstStyle>
            <a:lvl1pPr algn="l" defTabSz="917575">
              <a:defRPr sz="12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391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1" tIns="45876" rIns="91751" bIns="45876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31361ABB-49B4-4F1A-A3AA-2E04DA3302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53707D-F239-4D18-8939-E3B9858EC03C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9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30480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01" name="Rectangle 57"/>
          <p:cNvSpPr>
            <a:spLocks noGrp="1" noChangeArrowheads="1"/>
          </p:cNvSpPr>
          <p:nvPr>
            <p:ph type="ctrTitle"/>
          </p:nvPr>
        </p:nvSpPr>
        <p:spPr>
          <a:xfrm>
            <a:off x="838200" y="2438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202" name="Rectangle 5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0386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7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04800"/>
            <a:ext cx="201930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905500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Rectangle 57"/>
          <p:cNvSpPr>
            <a:spLocks noChangeArrowheads="1"/>
          </p:cNvSpPr>
          <p:nvPr/>
        </p:nvSpPr>
        <p:spPr bwMode="ltGray">
          <a:xfrm>
            <a:off x="0" y="0"/>
            <a:ext cx="9144000" cy="1524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92" name="Rectangle 6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981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93" name="Rectangle 6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99" name="Text Box 75"/>
          <p:cNvSpPr txBox="1">
            <a:spLocks noChangeArrowheads="1"/>
          </p:cNvSpPr>
          <p:nvPr/>
        </p:nvSpPr>
        <p:spPr bwMode="auto">
          <a:xfrm>
            <a:off x="8429625" y="6384925"/>
            <a:ext cx="561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fld id="{1FB584D2-92AD-42E2-91FA-6D52DCEFC9A4}" type="slidenum">
              <a:rPr lang="en-US" sz="2000"/>
              <a:pPr algn="r">
                <a:defRPr/>
              </a:pPr>
              <a:t>‹#›</a:t>
            </a:fld>
            <a:endParaRPr lang="en-US" sz="2000" dirty="0"/>
          </a:p>
        </p:txBody>
      </p:sp>
      <p:pic>
        <p:nvPicPr>
          <p:cNvPr id="1032" name="Picture 76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226050"/>
            <a:ext cx="2438400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667000"/>
            <a:ext cx="9144000" cy="1828800"/>
          </a:xfrm>
        </p:spPr>
        <p:txBody>
          <a:bodyPr/>
          <a:lstStyle/>
          <a:p>
            <a:r>
              <a:rPr lang="en-US" sz="3600" dirty="0" smtClean="0"/>
              <a:t>2011 FGDC Guidance to the </a:t>
            </a:r>
            <a:br>
              <a:rPr lang="en-US" sz="3600" dirty="0" smtClean="0"/>
            </a:br>
            <a:r>
              <a:rPr lang="en-US" sz="3600" dirty="0" smtClean="0"/>
              <a:t>National Geospatial Advisory Committee</a:t>
            </a:r>
            <a:br>
              <a:rPr lang="en-US" sz="3600" dirty="0" smtClean="0"/>
            </a:br>
            <a:endParaRPr lang="en-US" sz="3600" dirty="0" smtClean="0">
              <a:solidFill>
                <a:srgbClr val="FF0000"/>
              </a:solidFill>
            </a:endParaRPr>
          </a:p>
        </p:txBody>
      </p:sp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800600"/>
            <a:ext cx="4343400" cy="1676400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2000" dirty="0" smtClean="0"/>
              <a:t>FGDC Executive Committee</a:t>
            </a:r>
          </a:p>
          <a:p>
            <a:pPr algn="ctr">
              <a:lnSpc>
                <a:spcPct val="90000"/>
              </a:lnSpc>
            </a:pPr>
            <a:r>
              <a:rPr lang="en-US" sz="2000" dirty="0" smtClean="0"/>
              <a:t>March 17, </a:t>
            </a:r>
            <a:r>
              <a:rPr lang="en-US" sz="2000" dirty="0" smtClean="0"/>
              <a:t>2011</a:t>
            </a:r>
            <a:endParaRPr lang="en-US" sz="2000" dirty="0" smtClean="0"/>
          </a:p>
          <a:p>
            <a:pPr algn="ctr">
              <a:lnSpc>
                <a:spcPct val="90000"/>
              </a:lnSpc>
            </a:pPr>
            <a:endParaRPr lang="en-US" sz="2000" dirty="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743200" y="9906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Innovative Strategies for Geospatial Programs and Partnerships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sz="2400" dirty="0" smtClean="0"/>
              <a:t>	Provide feedback and recommendations on how FGDC partner agencies can take the use of geospatial data and technology to a new level in the future by:</a:t>
            </a:r>
          </a:p>
          <a:p>
            <a:pPr lvl="1"/>
            <a:r>
              <a:rPr lang="en-US" sz="2000" dirty="0" smtClean="0"/>
              <a:t>Strategically leveraging and influencing technologies, policies, and trends</a:t>
            </a:r>
          </a:p>
          <a:p>
            <a:pPr lvl="1"/>
            <a:r>
              <a:rPr lang="en-US" sz="2000" dirty="0" smtClean="0"/>
              <a:t>Fostering a data integration environment that facilitates better decision-making and supports place-based policies</a:t>
            </a:r>
          </a:p>
          <a:p>
            <a:pPr lvl="1"/>
            <a:r>
              <a:rPr lang="en-US" sz="2000" dirty="0" smtClean="0"/>
              <a:t>Utilizing public-private partnerships and other innovative solutions to develop geospatial data, fill critical data gaps, and leverage scarce resources.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Geospatial Platform Implementation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sz="1600" dirty="0" smtClean="0"/>
              <a:t>	</a:t>
            </a:r>
            <a:r>
              <a:rPr lang="en-US" sz="2000" dirty="0" smtClean="0"/>
              <a:t>As the Platform moves into implementation, the FGDC will request continuing feedback and advice from the NGAC on opportunities to facilitate interagency and intergovernmental collaboration, including the following topics:  </a:t>
            </a:r>
          </a:p>
          <a:p>
            <a:pPr lvl="1"/>
            <a:r>
              <a:rPr lang="en-US" sz="1800" dirty="0" smtClean="0"/>
              <a:t>Are there specific offerings (data, services, applications) available from State/Regional/Local/Tribal governments that should be pursued for integrating with the Federal Geospatial Platform in the short term?</a:t>
            </a:r>
          </a:p>
          <a:p>
            <a:pPr lvl="1"/>
            <a:r>
              <a:rPr lang="en-US" sz="1800" dirty="0" smtClean="0"/>
              <a:t>What are the incentives that the Federal government should consider providing to encourage non-Federal contributions to the Platform?</a:t>
            </a:r>
          </a:p>
          <a:p>
            <a:pPr lvl="1"/>
            <a:r>
              <a:rPr lang="en-US" sz="1800" dirty="0" smtClean="0"/>
              <a:t>What are the best mechanisms for identifying ongoing requirements for the Platform and potential contributions to the Platform from our State/Regional/Local/Tribal partners?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Geospatial Workforce Development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sz="2400" dirty="0" smtClean="0"/>
              <a:t>	Provide recommendations on approaches to develop intergovernmental and public-private strategies to facilitate the development, training, and retention of a highly skilled workforce to meet the expanding geospatial needs of public and private-sector organizations.</a:t>
            </a:r>
          </a:p>
          <a:p>
            <a:pPr lvl="1"/>
            <a:r>
              <a:rPr lang="en-US" sz="2000" dirty="0" smtClean="0"/>
              <a:t>Examine opportunities for synergies with the Administration’s Science, Technology, Engineering, and Mathematics (STEM) education initiatives.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Emerging Technologies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sz="2800" dirty="0" smtClean="0"/>
              <a:t>Provide analysis, advice, and recommendations on the impacts that new and emerging technologies are likely to have on the management and use of federal geospatial data and programs.  </a:t>
            </a:r>
          </a:p>
          <a:p>
            <a:pPr lvl="1"/>
            <a:r>
              <a:rPr lang="en-US" sz="2400" dirty="0" smtClean="0"/>
              <a:t>	Identify opportunities to utilize cloud computing 	technology and resources in innovative ways to 	support geospatial programs.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Geospatial Partnerships with Tribal Governments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sz="2800" dirty="0" smtClean="0"/>
              <a:t>Provide advice and recommendations on innovative approaches to develop collaborative partnerships with Tribal governments to foster effective development of geospatial data and capabilities.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Geospatial Programs &amp; Initiatives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	Provide feedback and recommendations on key Federal geospatial initiatives, programs, and issues, upon request from the FGDC partner agencies through the DFO. Examples may include, but are not limited, to:</a:t>
            </a:r>
          </a:p>
          <a:p>
            <a:pPr lvl="1"/>
            <a:r>
              <a:rPr lang="en-US" sz="2000" dirty="0" smtClean="0"/>
              <a:t>Broadband Mapping</a:t>
            </a:r>
          </a:p>
          <a:p>
            <a:pPr lvl="1"/>
            <a:r>
              <a:rPr lang="en-US" sz="2000" dirty="0" smtClean="0"/>
              <a:t>National Parcel Data</a:t>
            </a:r>
          </a:p>
          <a:p>
            <a:pPr lvl="1"/>
            <a:r>
              <a:rPr lang="en-US" sz="2000" dirty="0" smtClean="0"/>
              <a:t>Geolocation Privacy</a:t>
            </a:r>
          </a:p>
          <a:p>
            <a:pPr lvl="1"/>
            <a:r>
              <a:rPr lang="en-US" sz="2000" dirty="0" smtClean="0"/>
              <a:t>Transportation for the Nation</a:t>
            </a:r>
          </a:p>
          <a:p>
            <a:pPr lvl="1"/>
            <a:r>
              <a:rPr lang="en-US" sz="2000" dirty="0" smtClean="0"/>
              <a:t>National Elevation Data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GDC">
  <a:themeElements>
    <a:clrScheme name="FGDC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FGDC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GDC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Settings\Administrator\Application Data\Microsoft\Templates\FGDC.ppt</Template>
  <TotalTime>6575</TotalTime>
  <Words>37</Words>
  <Application>Microsoft Office PowerPoint</Application>
  <PresentationFormat>On-screen Show (4:3)</PresentationFormat>
  <Paragraphs>29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FGDC</vt:lpstr>
      <vt:lpstr>2011 FGDC Guidance to the  National Geospatial Advisory Committee </vt:lpstr>
      <vt:lpstr>Innovative Strategies for Geospatial Programs and Partnerships</vt:lpstr>
      <vt:lpstr>Geospatial Platform Implementation</vt:lpstr>
      <vt:lpstr>Geospatial Workforce Development</vt:lpstr>
      <vt:lpstr>Emerging Technologies</vt:lpstr>
      <vt:lpstr>Geospatial Partnerships with Tribal Governments</vt:lpstr>
      <vt:lpstr>Geospatial Programs &amp; Initiatives</vt:lpstr>
    </vt:vector>
  </TitlesOfParts>
  <Company> FGDC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Geospatial Profile of Enterprise Architecture</dc:title>
  <dc:creator>Douglas Nebert</dc:creator>
  <cp:lastModifiedBy>USGS</cp:lastModifiedBy>
  <cp:revision>427</cp:revision>
  <cp:lastPrinted>1601-01-01T00:00:00Z</cp:lastPrinted>
  <dcterms:created xsi:type="dcterms:W3CDTF">2006-01-17T21:53:02Z</dcterms:created>
  <dcterms:modified xsi:type="dcterms:W3CDTF">2011-03-21T23:16:56Z</dcterms:modified>
</cp:coreProperties>
</file>