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charts/chart22.xml" ContentType="application/vnd.openxmlformats-officedocument.drawingml.chart+xml"/>
  <Default Extension="xml" ContentType="application/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slides/slide21.xml" ContentType="application/vnd.openxmlformats-officedocument.presentationml.slide+xml"/>
  <Override PartName="/ppt/charts/chart19.xml" ContentType="application/vnd.openxmlformats-officedocument.drawingml.chart+xml"/>
  <Override PartName="/ppt/slides/slide5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5.xml" ContentType="application/vnd.openxmlformats-officedocument.presentationml.slideLayout+xml"/>
  <Override PartName="/ppt/charts/chart12.xml" ContentType="application/vnd.openxmlformats-officedocument.drawingml.chart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charts/chart21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charts/chart4.xml" ContentType="application/vnd.openxmlformats-officedocument.drawingml.chart+xml"/>
  <Override PartName="/ppt/slides/slide20.xml" ContentType="application/vnd.openxmlformats-officedocument.presentationml.slide+xml"/>
  <Override PartName="/ppt/charts/chart18.xml" ContentType="application/vnd.openxmlformats-officedocument.drawingml.chart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charts/chart11.xml" ContentType="application/vnd.openxmlformats-officedocument.drawingml.chart+xml"/>
  <Default Extension="png" ContentType="image/png"/>
  <Override PartName="/ppt/notesSlides/notesSlide8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12.xml" ContentType="application/vnd.openxmlformats-officedocument.presentationml.slide+xml"/>
  <Override PartName="/ppt/charts/chart27.xml" ContentType="application/vnd.openxmlformats-officedocument.drawingml.chart+xml"/>
  <Override PartName="/ppt/charts/chart20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charts/chart3.xml" ContentType="application/vnd.openxmlformats-officedocument.drawingml.chart+xml"/>
  <Override PartName="/ppt/charts/chart17.xml" ContentType="application/vnd.openxmlformats-officedocument.drawingml.chart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charts/chart10.xml" ContentType="application/vnd.openxmlformats-officedocument.drawingml.chart+xml"/>
  <Override PartName="/ppt/slideLayouts/slideLayout3.xml" ContentType="application/vnd.openxmlformats-officedocument.presentationml.slideLayout+xml"/>
  <Override PartName="/ppt/charts/chart26.xml" ContentType="application/vnd.openxmlformats-officedocument.drawingml.chart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9.xml" ContentType="application/vnd.openxmlformats-officedocument.drawingml.chart+xml"/>
  <Override PartName="/ppt/charts/chart2.xml" ContentType="application/vnd.openxmlformats-officedocument.drawingml.char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charts/chart16.xml" ContentType="application/vnd.openxmlformats-officedocument.drawingml.chart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7.xml" ContentType="application/vnd.openxmlformats-officedocument.presentationml.slide+xml"/>
  <Override PartName="/ppt/charts/chart25.xml" ContentType="application/vnd.openxmlformats-officedocument.drawingml.chart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charts/chart15.xml" ContentType="application/vnd.openxmlformats-officedocument.drawingml.chart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charts/chart24.xml" ContentType="application/vnd.openxmlformats-officedocument.drawingml.chart+xml"/>
  <Default Extension="jpeg" ContentType="image/jpeg"/>
  <Override PartName="/ppt/viewProps.xml" ContentType="application/vnd.openxmlformats-officedocument.presentationml.viewProps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7.xml" ContentType="application/vnd.openxmlformats-officedocument.drawingml.char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charts/chart14.xml" ContentType="application/vnd.openxmlformats-officedocument.drawingml.chart+xml"/>
  <Override PartName="/ppt/notesMasters/notesMaster1.xml" ContentType="application/vnd.openxmlformats-officedocument.presentationml.notesMaster+xml"/>
  <Override PartName="/ppt/slides/slide15.xml" ContentType="application/vnd.openxmlformats-officedocument.presentationml.slide+xml"/>
  <Override PartName="/ppt/charts/chart23.xml" ContentType="application/vnd.openxmlformats-officedocument.drawingml.chart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Default Extension="bin" ContentType="application/vnd.openxmlformats-officedocument.presentationml.printerSettings"/>
  <Override PartName="/ppt/slides/slide6.xml" ContentType="application/vnd.openxmlformats-officedocument.presentationml.slide+xml"/>
  <Default Extension="rels" ContentType="application/vnd.openxmlformats-package.relationships+xml"/>
  <Override PartName="/ppt/slideLayouts/slideLayout6.xml" ContentType="application/vnd.openxmlformats-officedocument.presentationml.slideLayout+xml"/>
  <Override PartName="/ppt/charts/chart13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r:id="rId1"/>
  </p:sldMasterIdLst>
  <p:notesMasterIdLst>
    <p:notesMasterId r:id="rId23"/>
  </p:notesMasterIdLst>
  <p:handoutMasterIdLst>
    <p:handoutMasterId r:id="rId24"/>
  </p:handoutMasterIdLst>
  <p:sldIdLst>
    <p:sldId id="257" r:id="rId2"/>
    <p:sldId id="532" r:id="rId3"/>
    <p:sldId id="504" r:id="rId4"/>
    <p:sldId id="557" r:id="rId5"/>
    <p:sldId id="467" r:id="rId6"/>
    <p:sldId id="509" r:id="rId7"/>
    <p:sldId id="560" r:id="rId8"/>
    <p:sldId id="561" r:id="rId9"/>
    <p:sldId id="510" r:id="rId10"/>
    <p:sldId id="511" r:id="rId11"/>
    <p:sldId id="512" r:id="rId12"/>
    <p:sldId id="506" r:id="rId13"/>
    <p:sldId id="541" r:id="rId14"/>
    <p:sldId id="550" r:id="rId15"/>
    <p:sldId id="546" r:id="rId16"/>
    <p:sldId id="553" r:id="rId17"/>
    <p:sldId id="551" r:id="rId18"/>
    <p:sldId id="558" r:id="rId19"/>
    <p:sldId id="548" r:id="rId20"/>
    <p:sldId id="545" r:id="rId21"/>
    <p:sldId id="53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  <p:clrMru>
    <a:srgbClr val="16FF3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>
    <p:restoredLeft sz="16268" autoAdjust="0"/>
    <p:restoredTop sz="94930" autoAdjust="0"/>
  </p:normalViewPr>
  <p:slideViewPr>
    <p:cSldViewPr snapToGrid="0" snapToObjects="1">
      <p:cViewPr varScale="1">
        <p:scale>
          <a:sx n="97" d="100"/>
          <a:sy n="97" d="100"/>
        </p:scale>
        <p:origin x="-64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8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interSettings" Target="printerSettings/printerSettings1.bin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hpca_talk:graphs:power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hpca_talk:graphs:temp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model:graphing:sprint.xls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DaSi-cores-energy_1600.txt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DaSi-cores-speedup_1600.txt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DaSi-cores-power_1600.txt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DaSi-freq-energy_1.txt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DaSi-freq-speedup_1.txt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DaSi-freq-power_1.txt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DaSi-freq-energy_1.txt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scatter-speedup-energy_barnes.txt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scatter-speedup-power_barnes.txt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sprint_speedup_barnes.txt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rraghav:work:emc2:sprint:dark-silicon-workshop:talk:sprint_energy_barnes.txt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'power.xls'!$A$1:$A$49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'power.xls'!$C$1:$C$49</c:f>
              <c:numCache>
                <c:formatCode>General</c:formatCode>
                <c:ptCount val="4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2.0</c:v>
                </c:pt>
                <c:pt idx="26">
                  <c:v>2.0</c:v>
                </c:pt>
                <c:pt idx="27">
                  <c:v>2.0</c:v>
                </c:pt>
                <c:pt idx="28">
                  <c:v>2.0</c:v>
                </c:pt>
                <c:pt idx="29">
                  <c:v>2.0</c:v>
                </c:pt>
                <c:pt idx="30">
                  <c:v>2.0</c:v>
                </c:pt>
                <c:pt idx="31">
                  <c:v>2.0</c:v>
                </c:pt>
                <c:pt idx="32">
                  <c:v>2.0</c:v>
                </c:pt>
                <c:pt idx="33">
                  <c:v>2.0</c:v>
                </c:pt>
                <c:pt idx="34">
                  <c:v>2.0</c:v>
                </c:pt>
                <c:pt idx="35">
                  <c:v>2.0</c:v>
                </c:pt>
                <c:pt idx="36">
                  <c:v>2.0</c:v>
                </c:pt>
                <c:pt idx="37">
                  <c:v>2.0</c:v>
                </c:pt>
                <c:pt idx="38">
                  <c:v>2.0</c:v>
                </c:pt>
                <c:pt idx="39">
                  <c:v>2.0</c:v>
                </c:pt>
                <c:pt idx="40">
                  <c:v>2.0</c:v>
                </c:pt>
                <c:pt idx="41">
                  <c:v>2.0</c:v>
                </c:pt>
                <c:pt idx="42">
                  <c:v>2.0</c:v>
                </c:pt>
                <c:pt idx="43">
                  <c:v>2.0</c:v>
                </c:pt>
                <c:pt idx="44">
                  <c:v>2.0</c:v>
                </c:pt>
                <c:pt idx="45">
                  <c:v>2.0</c:v>
                </c:pt>
                <c:pt idx="46">
                  <c:v>2.0</c:v>
                </c:pt>
                <c:pt idx="47">
                  <c:v>2.0</c:v>
                </c:pt>
                <c:pt idx="48">
                  <c:v>2.0</c:v>
                </c:pt>
              </c:numCache>
            </c:numRef>
          </c:yVal>
        </c:ser>
        <c:axId val="758730200"/>
        <c:axId val="561147320"/>
      </c:scatterChart>
      <c:valAx>
        <c:axId val="758730200"/>
        <c:scaling>
          <c:orientation val="minMax"/>
          <c:max val="200.0"/>
          <c:min val="0.0"/>
        </c:scaling>
        <c:delete val="1"/>
        <c:axPos val="b"/>
        <c:numFmt formatCode="General" sourceLinked="1"/>
        <c:tickLblPos val="nextTo"/>
        <c:crossAx val="561147320"/>
        <c:crossesAt val="0.0"/>
        <c:crossBetween val="midCat"/>
        <c:majorUnit val="5000.0"/>
        <c:minorUnit val="1000.0"/>
      </c:valAx>
      <c:valAx>
        <c:axId val="561147320"/>
        <c:scaling>
          <c:orientation val="minMax"/>
          <c:max val="10.0"/>
          <c:min val="0.0"/>
        </c:scaling>
        <c:axPos val="l"/>
        <c:majorGridlines/>
        <c:numFmt formatCode="General" sourceLinked="1"/>
        <c:tickLblPos val="nextTo"/>
        <c:crossAx val="758730200"/>
        <c:crossesAt val="0.0"/>
        <c:crossBetween val="midCat"/>
        <c:minorUnit val="100.0"/>
      </c:valAx>
    </c:plotArea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'temp.xls'!$A$1:$A$49</c:f>
              <c:numCache>
                <c:formatCode>General</c:formatCode>
                <c:ptCount val="49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10.0</c:v>
                </c:pt>
                <c:pt idx="12">
                  <c:v>15.0</c:v>
                </c:pt>
                <c:pt idx="13">
                  <c:v>20.0</c:v>
                </c:pt>
                <c:pt idx="14">
                  <c:v>25.0</c:v>
                </c:pt>
                <c:pt idx="15">
                  <c:v>30.0</c:v>
                </c:pt>
                <c:pt idx="16">
                  <c:v>35.0</c:v>
                </c:pt>
                <c:pt idx="17">
                  <c:v>40.0</c:v>
                </c:pt>
                <c:pt idx="18">
                  <c:v>45.0</c:v>
                </c:pt>
                <c:pt idx="19">
                  <c:v>50.0</c:v>
                </c:pt>
                <c:pt idx="20">
                  <c:v>55.0</c:v>
                </c:pt>
                <c:pt idx="21">
                  <c:v>60.0</c:v>
                </c:pt>
                <c:pt idx="22">
                  <c:v>65.0</c:v>
                </c:pt>
                <c:pt idx="23">
                  <c:v>70.0</c:v>
                </c:pt>
                <c:pt idx="24">
                  <c:v>75.0</c:v>
                </c:pt>
                <c:pt idx="25">
                  <c:v>80.0</c:v>
                </c:pt>
                <c:pt idx="26">
                  <c:v>85.0</c:v>
                </c:pt>
                <c:pt idx="27">
                  <c:v>90.0</c:v>
                </c:pt>
                <c:pt idx="28">
                  <c:v>95.0</c:v>
                </c:pt>
                <c:pt idx="29">
                  <c:v>100.0</c:v>
                </c:pt>
                <c:pt idx="30">
                  <c:v>105.0</c:v>
                </c:pt>
                <c:pt idx="31">
                  <c:v>110.0</c:v>
                </c:pt>
                <c:pt idx="32">
                  <c:v>115.0</c:v>
                </c:pt>
                <c:pt idx="33">
                  <c:v>120.0</c:v>
                </c:pt>
                <c:pt idx="34">
                  <c:v>125.0</c:v>
                </c:pt>
                <c:pt idx="35">
                  <c:v>130.0</c:v>
                </c:pt>
                <c:pt idx="36">
                  <c:v>135.0</c:v>
                </c:pt>
                <c:pt idx="37">
                  <c:v>140.0</c:v>
                </c:pt>
                <c:pt idx="38">
                  <c:v>145.0</c:v>
                </c:pt>
                <c:pt idx="39">
                  <c:v>150.0</c:v>
                </c:pt>
                <c:pt idx="40">
                  <c:v>155.0</c:v>
                </c:pt>
                <c:pt idx="41">
                  <c:v>160.0</c:v>
                </c:pt>
                <c:pt idx="42">
                  <c:v>165.0</c:v>
                </c:pt>
                <c:pt idx="43">
                  <c:v>170.0</c:v>
                </c:pt>
                <c:pt idx="44">
                  <c:v>175.0</c:v>
                </c:pt>
                <c:pt idx="45">
                  <c:v>180.0</c:v>
                </c:pt>
                <c:pt idx="46">
                  <c:v>185.0</c:v>
                </c:pt>
                <c:pt idx="47">
                  <c:v>190.0</c:v>
                </c:pt>
                <c:pt idx="48">
                  <c:v>195.0</c:v>
                </c:pt>
              </c:numCache>
            </c:numRef>
          </c:xVal>
          <c:yVal>
            <c:numRef>
              <c:f>'temp.xls'!$C$1:$C$49</c:f>
              <c:numCache>
                <c:formatCode>General</c:formatCode>
                <c:ptCount val="49"/>
                <c:pt idx="0">
                  <c:v>25.0</c:v>
                </c:pt>
                <c:pt idx="1">
                  <c:v>25.0</c:v>
                </c:pt>
                <c:pt idx="2">
                  <c:v>25.0</c:v>
                </c:pt>
                <c:pt idx="3">
                  <c:v>25.0</c:v>
                </c:pt>
                <c:pt idx="4">
                  <c:v>25.0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25.0</c:v>
                </c:pt>
                <c:pt idx="9">
                  <c:v>25.0</c:v>
                </c:pt>
                <c:pt idx="10">
                  <c:v>25.0</c:v>
                </c:pt>
                <c:pt idx="11">
                  <c:v>27.0</c:v>
                </c:pt>
                <c:pt idx="12">
                  <c:v>36.3527601172</c:v>
                </c:pt>
                <c:pt idx="13">
                  <c:v>44.7114961229</c:v>
                </c:pt>
                <c:pt idx="14">
                  <c:v>52.1818542565</c:v>
                </c:pt>
                <c:pt idx="15">
                  <c:v>58.8582525309</c:v>
                </c:pt>
                <c:pt idx="16">
                  <c:v>64.8250740835996</c:v>
                </c:pt>
                <c:pt idx="17">
                  <c:v>70.1577336972</c:v>
                </c:pt>
                <c:pt idx="18">
                  <c:v>74.9236309681</c:v>
                </c:pt>
                <c:pt idx="19">
                  <c:v>79.18300217179959</c:v>
                </c:pt>
                <c:pt idx="20">
                  <c:v>82.98968159</c:v>
                </c:pt>
                <c:pt idx="21">
                  <c:v>86.39178192369974</c:v>
                </c:pt>
                <c:pt idx="22">
                  <c:v>89.43230239019967</c:v>
                </c:pt>
                <c:pt idx="23">
                  <c:v>92.1496721912</c:v>
                </c:pt>
                <c:pt idx="24">
                  <c:v>94.57823622070001</c:v>
                </c:pt>
                <c:pt idx="25">
                  <c:v>96.74868915019998</c:v>
                </c:pt>
                <c:pt idx="26">
                  <c:v>98.6884633798</c:v>
                </c:pt>
                <c:pt idx="27">
                  <c:v>100.422075757</c:v>
                </c:pt>
                <c:pt idx="28">
                  <c:v>101.971437444</c:v>
                </c:pt>
                <c:pt idx="29">
                  <c:v>103.356130856</c:v>
                </c:pt>
                <c:pt idx="30">
                  <c:v>104.593657162</c:v>
                </c:pt>
                <c:pt idx="31">
                  <c:v>105.699657483</c:v>
                </c:pt>
                <c:pt idx="32">
                  <c:v>106.68811058</c:v>
                </c:pt>
                <c:pt idx="33">
                  <c:v>107.571509533</c:v>
                </c:pt>
                <c:pt idx="34">
                  <c:v>108.36101964</c:v>
                </c:pt>
                <c:pt idx="35">
                  <c:v>109.066619534</c:v>
                </c:pt>
                <c:pt idx="36">
                  <c:v>109.697227309</c:v>
                </c:pt>
                <c:pt idx="37">
                  <c:v>110.260813229</c:v>
                </c:pt>
                <c:pt idx="38">
                  <c:v>110.764500468</c:v>
                </c:pt>
                <c:pt idx="39">
                  <c:v>111.214655139</c:v>
                </c:pt>
                <c:pt idx="40">
                  <c:v>111.616966758</c:v>
                </c:pt>
                <c:pt idx="41">
                  <c:v>111.976520149</c:v>
                </c:pt>
                <c:pt idx="42">
                  <c:v>112.297859714</c:v>
                </c:pt>
                <c:pt idx="43">
                  <c:v>112.585046872</c:v>
                </c:pt>
                <c:pt idx="44">
                  <c:v>112.841711387</c:v>
                </c:pt>
                <c:pt idx="45">
                  <c:v>113.071097247</c:v>
                </c:pt>
                <c:pt idx="46">
                  <c:v>113.276103664</c:v>
                </c:pt>
                <c:pt idx="47">
                  <c:v>113.45932172</c:v>
                </c:pt>
                <c:pt idx="48">
                  <c:v>113.62306711</c:v>
                </c:pt>
              </c:numCache>
            </c:numRef>
          </c:yVal>
          <c:smooth val="1"/>
        </c:ser>
        <c:axId val="758741272"/>
        <c:axId val="759087800"/>
      </c:scatterChart>
      <c:valAx>
        <c:axId val="758741272"/>
        <c:scaling>
          <c:orientation val="minMax"/>
          <c:max val="200.0"/>
          <c:min val="0.0"/>
        </c:scaling>
        <c:delete val="1"/>
        <c:axPos val="b"/>
        <c:numFmt formatCode="General" sourceLinked="1"/>
        <c:tickLblPos val="nextTo"/>
        <c:crossAx val="759087800"/>
        <c:crossesAt val="0.0"/>
        <c:crossBetween val="midCat"/>
        <c:majorUnit val="50.0"/>
        <c:minorUnit val="10.0"/>
      </c:valAx>
      <c:valAx>
        <c:axId val="759087800"/>
        <c:scaling>
          <c:orientation val="minMax"/>
          <c:max val="120.0"/>
          <c:min val="0.0"/>
        </c:scaling>
        <c:axPos val="l"/>
        <c:majorGridlines/>
        <c:numFmt formatCode="General" sourceLinked="1"/>
        <c:tickLblPos val="nextTo"/>
        <c:crossAx val="758741272"/>
        <c:crossesAt val="0.0"/>
        <c:crossBetween val="midCat"/>
        <c:minorUnit val="2000.0"/>
      </c:valAx>
    </c:plotArea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</c:ser>
        <c:axId val="758426120"/>
        <c:axId val="758412120"/>
      </c:scatterChart>
      <c:valAx>
        <c:axId val="758426120"/>
        <c:scaling>
          <c:orientation val="minMax"/>
        </c:scaling>
        <c:axPos val="b"/>
        <c:numFmt formatCode="General" sourceLinked="1"/>
        <c:tickLblPos val="none"/>
        <c:crossAx val="758412120"/>
        <c:crosses val="autoZero"/>
        <c:crossBetween val="midCat"/>
      </c:valAx>
      <c:valAx>
        <c:axId val="758412120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8426120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58277640"/>
        <c:axId val="758274568"/>
      </c:scatterChart>
      <c:valAx>
        <c:axId val="758277640"/>
        <c:scaling>
          <c:orientation val="minMax"/>
        </c:scaling>
        <c:axPos val="b"/>
        <c:numFmt formatCode="General" sourceLinked="1"/>
        <c:tickLblPos val="none"/>
        <c:crossAx val="758274568"/>
        <c:crosses val="autoZero"/>
        <c:crossBetween val="midCat"/>
      </c:valAx>
      <c:valAx>
        <c:axId val="758274568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58277640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58250520"/>
        <c:axId val="759140456"/>
      </c:scatterChart>
      <c:valAx>
        <c:axId val="758250520"/>
        <c:scaling>
          <c:orientation val="minMax"/>
        </c:scaling>
        <c:axPos val="b"/>
        <c:numFmt formatCode="General" sourceLinked="1"/>
        <c:tickLblPos val="none"/>
        <c:crossAx val="759140456"/>
        <c:crosses val="autoZero"/>
        <c:crossBetween val="midCat"/>
      </c:valAx>
      <c:valAx>
        <c:axId val="759140456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8250520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58271048"/>
        <c:axId val="758292184"/>
      </c:scatterChart>
      <c:valAx>
        <c:axId val="758271048"/>
        <c:scaling>
          <c:orientation val="minMax"/>
        </c:scaling>
        <c:axPos val="b"/>
        <c:numFmt formatCode="General" sourceLinked="1"/>
        <c:tickLblPos val="none"/>
        <c:crossAx val="758292184"/>
        <c:crosses val="autoZero"/>
        <c:crossBetween val="midCat"/>
      </c:valAx>
      <c:valAx>
        <c:axId val="758292184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58271048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</c:ser>
        <c:axId val="759684424"/>
        <c:axId val="759696344"/>
      </c:scatterChart>
      <c:valAx>
        <c:axId val="759684424"/>
        <c:scaling>
          <c:orientation val="minMax"/>
        </c:scaling>
        <c:axPos val="b"/>
        <c:numFmt formatCode="General" sourceLinked="1"/>
        <c:tickLblPos val="none"/>
        <c:crossAx val="759696344"/>
        <c:crosses val="autoZero"/>
        <c:crossBetween val="midCat"/>
      </c:valAx>
      <c:valAx>
        <c:axId val="759696344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9684424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60128264"/>
        <c:axId val="760131336"/>
      </c:scatterChart>
      <c:valAx>
        <c:axId val="760128264"/>
        <c:scaling>
          <c:orientation val="minMax"/>
        </c:scaling>
        <c:axPos val="b"/>
        <c:numFmt formatCode="General" sourceLinked="1"/>
        <c:tickLblPos val="none"/>
        <c:crossAx val="760131336"/>
        <c:crosses val="autoZero"/>
        <c:crossBetween val="midCat"/>
      </c:valAx>
      <c:valAx>
        <c:axId val="760131336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60128264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60147864"/>
        <c:axId val="759568984"/>
      </c:scatterChart>
      <c:valAx>
        <c:axId val="760147864"/>
        <c:scaling>
          <c:orientation val="minMax"/>
        </c:scaling>
        <c:axPos val="b"/>
        <c:numFmt formatCode="General" sourceLinked="1"/>
        <c:tickLblPos val="none"/>
        <c:crossAx val="759568984"/>
        <c:crosses val="autoZero"/>
        <c:crossBetween val="midCat"/>
      </c:valAx>
      <c:valAx>
        <c:axId val="759568984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60147864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60114008"/>
        <c:axId val="760099704"/>
      </c:scatterChart>
      <c:valAx>
        <c:axId val="760114008"/>
        <c:scaling>
          <c:orientation val="minMax"/>
        </c:scaling>
        <c:axPos val="b"/>
        <c:numFmt formatCode="General" sourceLinked="1"/>
        <c:tickLblPos val="none"/>
        <c:crossAx val="760099704"/>
        <c:crosses val="autoZero"/>
        <c:crossBetween val="midCat"/>
      </c:valAx>
      <c:valAx>
        <c:axId val="760099704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60114008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59454072"/>
        <c:axId val="759407128"/>
      </c:scatterChart>
      <c:valAx>
        <c:axId val="759454072"/>
        <c:scaling>
          <c:orientation val="minMax"/>
        </c:scaling>
        <c:axPos val="b"/>
        <c:numFmt formatCode="General" sourceLinked="1"/>
        <c:tickLblPos val="none"/>
        <c:crossAx val="759407128"/>
        <c:crosses val="autoZero"/>
        <c:crossBetween val="midCat"/>
      </c:valAx>
      <c:valAx>
        <c:axId val="759407128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59454072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59253432"/>
        <c:axId val="759256392"/>
      </c:scatterChart>
      <c:valAx>
        <c:axId val="759253432"/>
        <c:scaling>
          <c:orientation val="minMax"/>
        </c:scaling>
        <c:axPos val="b"/>
        <c:numFmt formatCode="General" sourceLinked="1"/>
        <c:tickLblPos val="none"/>
        <c:crossAx val="759256392"/>
        <c:crosses val="autoZero"/>
        <c:crossBetween val="midCat"/>
      </c:valAx>
      <c:valAx>
        <c:axId val="759256392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59253432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60648312"/>
        <c:axId val="760660168"/>
      </c:scatterChart>
      <c:valAx>
        <c:axId val="760648312"/>
        <c:scaling>
          <c:orientation val="minMax"/>
        </c:scaling>
        <c:axPos val="b"/>
        <c:numFmt formatCode="General" sourceLinked="1"/>
        <c:tickLblPos val="none"/>
        <c:crossAx val="760660168"/>
        <c:crosses val="autoZero"/>
        <c:crossBetween val="midCat"/>
      </c:valAx>
      <c:valAx>
        <c:axId val="760660168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60648312"/>
        <c:crosses val="autoZero"/>
        <c:crossBetween val="midCat"/>
        <c:majorUnit val="80.0"/>
        <c:minorUnit val="16.0"/>
      </c:valAx>
    </c:plotArea>
    <c:plotVisOnly val="1"/>
  </c:chart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59173832"/>
        <c:axId val="759184680"/>
      </c:scatterChart>
      <c:valAx>
        <c:axId val="759173832"/>
        <c:scaling>
          <c:orientation val="minMax"/>
        </c:scaling>
        <c:axPos val="b"/>
        <c:numFmt formatCode="General" sourceLinked="1"/>
        <c:tickLblPos val="none"/>
        <c:crossAx val="759184680"/>
        <c:crosses val="autoZero"/>
        <c:crossBetween val="midCat"/>
      </c:valAx>
      <c:valAx>
        <c:axId val="759184680"/>
        <c:scaling>
          <c:orientation val="minMax"/>
          <c:max val="3.0"/>
          <c:min val="0.0"/>
        </c:scaling>
        <c:delete val="1"/>
        <c:axPos val="l"/>
        <c:majorGridlines/>
        <c:numFmt formatCode="General" sourceLinked="1"/>
        <c:tickLblPos val="none"/>
        <c:crossAx val="759173832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'sprint.xls'!$N$1:$N$130</c:f>
              <c:numCache>
                <c:formatCode>General</c:formatCode>
                <c:ptCount val="130"/>
                <c:pt idx="0">
                  <c:v>30.0</c:v>
                </c:pt>
                <c:pt idx="1">
                  <c:v>30.0</c:v>
                </c:pt>
                <c:pt idx="2">
                  <c:v>30.0</c:v>
                </c:pt>
                <c:pt idx="3">
                  <c:v>30.0</c:v>
                </c:pt>
                <c:pt idx="4">
                  <c:v>30.0</c:v>
                </c:pt>
                <c:pt idx="5">
                  <c:v>30.0</c:v>
                </c:pt>
                <c:pt idx="6">
                  <c:v>30.0</c:v>
                </c:pt>
                <c:pt idx="7">
                  <c:v>30.0</c:v>
                </c:pt>
                <c:pt idx="8">
                  <c:v>30.0</c:v>
                </c:pt>
                <c:pt idx="9">
                  <c:v>30.0</c:v>
                </c:pt>
                <c:pt idx="10">
                  <c:v>30.0</c:v>
                </c:pt>
                <c:pt idx="11">
                  <c:v>32.3744</c:v>
                </c:pt>
                <c:pt idx="12">
                  <c:v>34.701</c:v>
                </c:pt>
                <c:pt idx="13">
                  <c:v>36.9808</c:v>
                </c:pt>
                <c:pt idx="14">
                  <c:v>39.2148</c:v>
                </c:pt>
                <c:pt idx="15">
                  <c:v>41.4038</c:v>
                </c:pt>
                <c:pt idx="16">
                  <c:v>43.5487</c:v>
                </c:pt>
                <c:pt idx="17">
                  <c:v>45.6505</c:v>
                </c:pt>
                <c:pt idx="18">
                  <c:v>47.71</c:v>
                </c:pt>
                <c:pt idx="19">
                  <c:v>49.728</c:v>
                </c:pt>
                <c:pt idx="20">
                  <c:v>51.7054</c:v>
                </c:pt>
                <c:pt idx="21">
                  <c:v>53.6431</c:v>
                </c:pt>
                <c:pt idx="22">
                  <c:v>55.5417</c:v>
                </c:pt>
                <c:pt idx="23">
                  <c:v>57.4022</c:v>
                </c:pt>
                <c:pt idx="24">
                  <c:v>59.2252</c:v>
                </c:pt>
                <c:pt idx="25">
                  <c:v>61.0115</c:v>
                </c:pt>
                <c:pt idx="26">
                  <c:v>62.7619</c:v>
                </c:pt>
                <c:pt idx="27">
                  <c:v>64.4771</c:v>
                </c:pt>
                <c:pt idx="28">
                  <c:v>66.15770000000001</c:v>
                </c:pt>
                <c:pt idx="29">
                  <c:v>67.8046</c:v>
                </c:pt>
                <c:pt idx="30">
                  <c:v>69.4183</c:v>
                </c:pt>
                <c:pt idx="31">
                  <c:v>69.9561</c:v>
                </c:pt>
                <c:pt idx="32">
                  <c:v>69.87649999999998</c:v>
                </c:pt>
                <c:pt idx="33">
                  <c:v>69.7985</c:v>
                </c:pt>
                <c:pt idx="34">
                  <c:v>69.722</c:v>
                </c:pt>
                <c:pt idx="35">
                  <c:v>69.6471</c:v>
                </c:pt>
                <c:pt idx="36">
                  <c:v>69.57380000000001</c:v>
                </c:pt>
                <c:pt idx="37">
                  <c:v>69.5018</c:v>
                </c:pt>
                <c:pt idx="38">
                  <c:v>69.4314</c:v>
                </c:pt>
                <c:pt idx="39">
                  <c:v>69.3623</c:v>
                </c:pt>
                <c:pt idx="40">
                  <c:v>69.2947</c:v>
                </c:pt>
                <c:pt idx="41">
                  <c:v>69.22839999999998</c:v>
                </c:pt>
                <c:pt idx="42">
                  <c:v>69.1634</c:v>
                </c:pt>
                <c:pt idx="43">
                  <c:v>69.0998</c:v>
                </c:pt>
                <c:pt idx="44">
                  <c:v>69.0374</c:v>
                </c:pt>
                <c:pt idx="45">
                  <c:v>68.9763</c:v>
                </c:pt>
                <c:pt idx="46">
                  <c:v>68.9164</c:v>
                </c:pt>
                <c:pt idx="47">
                  <c:v>68.8577</c:v>
                </c:pt>
                <c:pt idx="48">
                  <c:v>68.8002</c:v>
                </c:pt>
                <c:pt idx="49">
                  <c:v>68.7439</c:v>
                </c:pt>
                <c:pt idx="50">
                  <c:v>68.68859999999998</c:v>
                </c:pt>
                <c:pt idx="51">
                  <c:v>68.6345</c:v>
                </c:pt>
                <c:pt idx="52">
                  <c:v>68.5815</c:v>
                </c:pt>
                <c:pt idx="53">
                  <c:v>68.5296</c:v>
                </c:pt>
                <c:pt idx="54">
                  <c:v>68.47869999999998</c:v>
                </c:pt>
                <c:pt idx="55">
                  <c:v>68.4288</c:v>
                </c:pt>
                <c:pt idx="56">
                  <c:v>68.37990000000001</c:v>
                </c:pt>
                <c:pt idx="57">
                  <c:v>68.332</c:v>
                </c:pt>
                <c:pt idx="58">
                  <c:v>68.2851</c:v>
                </c:pt>
                <c:pt idx="59">
                  <c:v>68.2391</c:v>
                </c:pt>
                <c:pt idx="60">
                  <c:v>68.1941</c:v>
                </c:pt>
                <c:pt idx="61">
                  <c:v>68.1499</c:v>
                </c:pt>
                <c:pt idx="62">
                  <c:v>68.10669999999998</c:v>
                </c:pt>
                <c:pt idx="63">
                  <c:v>68.0643</c:v>
                </c:pt>
                <c:pt idx="64">
                  <c:v>68.02269999999998</c:v>
                </c:pt>
                <c:pt idx="65">
                  <c:v>67.982</c:v>
                </c:pt>
                <c:pt idx="66">
                  <c:v>67.9422</c:v>
                </c:pt>
                <c:pt idx="67">
                  <c:v>67.9031</c:v>
                </c:pt>
                <c:pt idx="68">
                  <c:v>67.8648</c:v>
                </c:pt>
                <c:pt idx="69">
                  <c:v>67.8273</c:v>
                </c:pt>
                <c:pt idx="70">
                  <c:v>67.7905</c:v>
                </c:pt>
                <c:pt idx="71">
                  <c:v>67.7545</c:v>
                </c:pt>
                <c:pt idx="72">
                  <c:v>67.7192</c:v>
                </c:pt>
                <c:pt idx="73">
                  <c:v>67.6846</c:v>
                </c:pt>
                <c:pt idx="74">
                  <c:v>67.65069999999998</c:v>
                </c:pt>
                <c:pt idx="75">
                  <c:v>67.6175</c:v>
                </c:pt>
                <c:pt idx="76">
                  <c:v>67.5849</c:v>
                </c:pt>
                <c:pt idx="77">
                  <c:v>67.553</c:v>
                </c:pt>
                <c:pt idx="78">
                  <c:v>67.5218</c:v>
                </c:pt>
                <c:pt idx="79">
                  <c:v>67.4911</c:v>
                </c:pt>
                <c:pt idx="80">
                  <c:v>67.4611</c:v>
                </c:pt>
                <c:pt idx="81">
                  <c:v>67.4317</c:v>
                </c:pt>
                <c:pt idx="82">
                  <c:v>67.4029</c:v>
                </c:pt>
                <c:pt idx="83">
                  <c:v>67.37469999999998</c:v>
                </c:pt>
                <c:pt idx="84">
                  <c:v>67.347</c:v>
                </c:pt>
                <c:pt idx="85">
                  <c:v>67.3199</c:v>
                </c:pt>
                <c:pt idx="86">
                  <c:v>67.2934</c:v>
                </c:pt>
                <c:pt idx="87">
                  <c:v>67.2673</c:v>
                </c:pt>
                <c:pt idx="88">
                  <c:v>67.2418</c:v>
                </c:pt>
                <c:pt idx="89">
                  <c:v>67.2169</c:v>
                </c:pt>
                <c:pt idx="90">
                  <c:v>67.184</c:v>
                </c:pt>
                <c:pt idx="91">
                  <c:v>66.3352</c:v>
                </c:pt>
                <c:pt idx="92">
                  <c:v>65.5035</c:v>
                </c:pt>
                <c:pt idx="93">
                  <c:v>64.68839999999985</c:v>
                </c:pt>
                <c:pt idx="94">
                  <c:v>63.8898</c:v>
                </c:pt>
                <c:pt idx="95">
                  <c:v>63.1073</c:v>
                </c:pt>
                <c:pt idx="96">
                  <c:v>62.3405</c:v>
                </c:pt>
                <c:pt idx="97">
                  <c:v>61.5891</c:v>
                </c:pt>
                <c:pt idx="98">
                  <c:v>60.8529</c:v>
                </c:pt>
                <c:pt idx="99">
                  <c:v>60.1314</c:v>
                </c:pt>
                <c:pt idx="100">
                  <c:v>59.4245</c:v>
                </c:pt>
                <c:pt idx="101">
                  <c:v>58.7318</c:v>
                </c:pt>
                <c:pt idx="102">
                  <c:v>58.0531</c:v>
                </c:pt>
                <c:pt idx="103">
                  <c:v>57.388</c:v>
                </c:pt>
                <c:pt idx="104">
                  <c:v>56.7363</c:v>
                </c:pt>
                <c:pt idx="105">
                  <c:v>56.0977</c:v>
                </c:pt>
                <c:pt idx="106">
                  <c:v>55.4719</c:v>
                </c:pt>
                <c:pt idx="107">
                  <c:v>54.8588</c:v>
                </c:pt>
                <c:pt idx="108">
                  <c:v>54.2579</c:v>
                </c:pt>
                <c:pt idx="109">
                  <c:v>53.6692</c:v>
                </c:pt>
                <c:pt idx="110">
                  <c:v>53.0923</c:v>
                </c:pt>
                <c:pt idx="111">
                  <c:v>52.5271</c:v>
                </c:pt>
                <c:pt idx="112">
                  <c:v>51.9732</c:v>
                </c:pt>
                <c:pt idx="113">
                  <c:v>51.4304</c:v>
                </c:pt>
                <c:pt idx="114">
                  <c:v>50.8986</c:v>
                </c:pt>
                <c:pt idx="115">
                  <c:v>50.3774</c:v>
                </c:pt>
                <c:pt idx="116">
                  <c:v>49.8668</c:v>
                </c:pt>
                <c:pt idx="117">
                  <c:v>49.3664</c:v>
                </c:pt>
                <c:pt idx="118">
                  <c:v>48.8761</c:v>
                </c:pt>
                <c:pt idx="119">
                  <c:v>48.3957</c:v>
                </c:pt>
                <c:pt idx="120">
                  <c:v>47.9249</c:v>
                </c:pt>
                <c:pt idx="121">
                  <c:v>47.4636</c:v>
                </c:pt>
                <c:pt idx="122">
                  <c:v>47.0116</c:v>
                </c:pt>
                <c:pt idx="123">
                  <c:v>46.5687</c:v>
                </c:pt>
                <c:pt idx="124">
                  <c:v>46.1347</c:v>
                </c:pt>
                <c:pt idx="125">
                  <c:v>45.7094</c:v>
                </c:pt>
                <c:pt idx="126">
                  <c:v>45.2927</c:v>
                </c:pt>
                <c:pt idx="127">
                  <c:v>44.8844</c:v>
                </c:pt>
                <c:pt idx="128">
                  <c:v>44.4842</c:v>
                </c:pt>
                <c:pt idx="129">
                  <c:v>44.0922</c:v>
                </c:pt>
              </c:numCache>
            </c:numRef>
          </c:yVal>
          <c:smooth val="1"/>
        </c:ser>
        <c:axId val="760803704"/>
        <c:axId val="760789032"/>
      </c:scatterChart>
      <c:valAx>
        <c:axId val="760803704"/>
        <c:scaling>
          <c:orientation val="minMax"/>
        </c:scaling>
        <c:axPos val="b"/>
        <c:numFmt formatCode="General" sourceLinked="1"/>
        <c:tickLblPos val="none"/>
        <c:crossAx val="760789032"/>
        <c:crosses val="autoZero"/>
        <c:crossBetween val="midCat"/>
      </c:valAx>
      <c:valAx>
        <c:axId val="760789032"/>
        <c:scaling>
          <c:orientation val="minMax"/>
          <c:max val="80.0"/>
          <c:min val="10.0"/>
        </c:scaling>
        <c:axPos val="l"/>
        <c:majorGridlines/>
        <c:numFmt formatCode="General" sourceLinked="1"/>
        <c:tickLblPos val="none"/>
        <c:crossAx val="760803704"/>
        <c:crosses val="autoZero"/>
        <c:crossBetween val="midCat"/>
        <c:majorUnit val="80.0"/>
        <c:minorUnit val="16.0"/>
      </c:valAx>
    </c:plotArea>
    <c:plotVisOnly val="1"/>
  </c:chart>
  <c:spPr>
    <a:ln>
      <a:noFill/>
    </a:ln>
  </c:spPr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plotArea>
      <c:layout/>
      <c:scatterChart>
        <c:scatterStyle val="smoothMarker"/>
        <c:ser>
          <c:idx val="1"/>
          <c:order val="0"/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'sprint.xls'!$A$1:$A$130</c:f>
              <c:numCache>
                <c:formatCode>General</c:formatCode>
                <c:ptCount val="13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  <c:pt idx="100">
                  <c:v>100.0</c:v>
                </c:pt>
                <c:pt idx="101">
                  <c:v>101.0</c:v>
                </c:pt>
                <c:pt idx="102">
                  <c:v>102.0</c:v>
                </c:pt>
                <c:pt idx="103">
                  <c:v>103.0</c:v>
                </c:pt>
                <c:pt idx="104">
                  <c:v>104.0</c:v>
                </c:pt>
                <c:pt idx="105">
                  <c:v>105.0</c:v>
                </c:pt>
                <c:pt idx="106">
                  <c:v>106.0</c:v>
                </c:pt>
                <c:pt idx="107">
                  <c:v>107.0</c:v>
                </c:pt>
                <c:pt idx="108">
                  <c:v>108.0</c:v>
                </c:pt>
                <c:pt idx="109">
                  <c:v>109.0</c:v>
                </c:pt>
                <c:pt idx="110">
                  <c:v>110.0</c:v>
                </c:pt>
                <c:pt idx="111">
                  <c:v>111.0</c:v>
                </c:pt>
                <c:pt idx="112">
                  <c:v>112.0</c:v>
                </c:pt>
                <c:pt idx="113">
                  <c:v>113.0</c:v>
                </c:pt>
                <c:pt idx="114">
                  <c:v>114.0</c:v>
                </c:pt>
                <c:pt idx="115">
                  <c:v>115.0</c:v>
                </c:pt>
                <c:pt idx="116">
                  <c:v>116.0</c:v>
                </c:pt>
                <c:pt idx="117">
                  <c:v>117.0</c:v>
                </c:pt>
                <c:pt idx="118">
                  <c:v>118.0</c:v>
                </c:pt>
                <c:pt idx="119">
                  <c:v>119.0</c:v>
                </c:pt>
                <c:pt idx="120">
                  <c:v>120.0</c:v>
                </c:pt>
                <c:pt idx="121">
                  <c:v>121.0</c:v>
                </c:pt>
                <c:pt idx="122">
                  <c:v>122.0</c:v>
                </c:pt>
                <c:pt idx="123">
                  <c:v>123.0</c:v>
                </c:pt>
                <c:pt idx="124">
                  <c:v>124.0</c:v>
                </c:pt>
                <c:pt idx="125">
                  <c:v>125.0</c:v>
                </c:pt>
                <c:pt idx="126">
                  <c:v>126.0</c:v>
                </c:pt>
                <c:pt idx="127">
                  <c:v>127.0</c:v>
                </c:pt>
                <c:pt idx="128">
                  <c:v>128.0</c:v>
                </c:pt>
                <c:pt idx="129">
                  <c:v>129.0</c:v>
                </c:pt>
              </c:numCache>
            </c:numRef>
          </c:xVal>
          <c:yVal>
            <c:numRef>
              <c:f>'sprint.xls'!$L$1:$L$130</c:f>
              <c:numCache>
                <c:formatCode>General</c:formatCode>
                <c:ptCount val="13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3.0</c:v>
                </c:pt>
                <c:pt idx="24">
                  <c:v>3.0</c:v>
                </c:pt>
                <c:pt idx="25">
                  <c:v>3.0</c:v>
                </c:pt>
                <c:pt idx="26">
                  <c:v>3.0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</c:numCache>
            </c:numRef>
          </c:yVal>
          <c:smooth val="1"/>
        </c:ser>
        <c:axId val="760769752"/>
        <c:axId val="758131496"/>
      </c:scatterChart>
      <c:valAx>
        <c:axId val="760769752"/>
        <c:scaling>
          <c:orientation val="minMax"/>
        </c:scaling>
        <c:axPos val="b"/>
        <c:numFmt formatCode="General" sourceLinked="1"/>
        <c:tickLblPos val="none"/>
        <c:crossAx val="758131496"/>
        <c:crosses val="autoZero"/>
        <c:crossBetween val="midCat"/>
      </c:valAx>
      <c:valAx>
        <c:axId val="758131496"/>
        <c:scaling>
          <c:orientation val="minMax"/>
          <c:max val="3.0"/>
          <c:min val="0.0"/>
        </c:scaling>
        <c:axPos val="l"/>
        <c:majorGridlines/>
        <c:numFmt formatCode="General" sourceLinked="1"/>
        <c:tickLblPos val="none"/>
        <c:crossAx val="760769752"/>
        <c:crosses val="autoZero"/>
        <c:crossBetween val="midCat"/>
        <c:majorUnit val="10.0"/>
        <c:minorUnit val="0.1"/>
      </c:valAx>
    </c:plotArea>
    <c:plotVisOnly val="1"/>
  </c:chart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.105559930008749"/>
          <c:y val="0.0847222222222222"/>
          <c:w val="0.541668197725284"/>
          <c:h val="0.667222222222222"/>
        </c:manualLayout>
      </c:layout>
      <c:scatterChart>
        <c:scatterStyle val="lineMarker"/>
        <c:ser>
          <c:idx val="0"/>
          <c:order val="0"/>
          <c:tx>
            <c:strRef>
              <c:f>'DaSi-cores-energy_1600.txt'!$B$1</c:f>
              <c:strCache>
                <c:ptCount val="1"/>
                <c:pt idx="0">
                  <c:v>feature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pPr>
              <a:solidFill>
                <a:schemeClr val="tx2"/>
              </a:solidFill>
              <a:ln>
                <a:noFill/>
              </a:ln>
            </c:spPr>
          </c:marker>
          <c:xVal>
            <c:numRef>
              <c:f>'DaSi-cores-energy_1600.txt'!$A$2:$A$4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</c:numCache>
            </c:numRef>
          </c:xVal>
          <c:yVal>
            <c:numRef>
              <c:f>'DaSi-cores-energy_1600.txt'!$B$2:$B$4</c:f>
              <c:numCache>
                <c:formatCode>General</c:formatCode>
                <c:ptCount val="3"/>
                <c:pt idx="0">
                  <c:v>1.0</c:v>
                </c:pt>
                <c:pt idx="1">
                  <c:v>0.684013911258</c:v>
                </c:pt>
                <c:pt idx="2">
                  <c:v>0.537117132367</c:v>
                </c:pt>
              </c:numCache>
            </c:numRef>
          </c:yVal>
        </c:ser>
        <c:ser>
          <c:idx val="1"/>
          <c:order val="1"/>
          <c:tx>
            <c:strRef>
              <c:f>'DaSi-cores-energy_1600.txt'!$C$1</c:f>
              <c:strCache>
                <c:ptCount val="1"/>
                <c:pt idx="0">
                  <c:v>disparity</c:v>
                </c:pt>
              </c:strCache>
            </c:strRef>
          </c:tx>
          <c:xVal>
            <c:numRef>
              <c:f>'DaSi-cores-energy_1600.txt'!$A$2:$A$4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</c:numCache>
            </c:numRef>
          </c:xVal>
          <c:yVal>
            <c:numRef>
              <c:f>'DaSi-cores-energy_1600.txt'!$C$2:$C$4</c:f>
              <c:numCache>
                <c:formatCode>General</c:formatCode>
                <c:ptCount val="3"/>
                <c:pt idx="0">
                  <c:v>1.0</c:v>
                </c:pt>
                <c:pt idx="1">
                  <c:v>0.718598376864</c:v>
                </c:pt>
                <c:pt idx="2">
                  <c:v>0.61667951384</c:v>
                </c:pt>
              </c:numCache>
            </c:numRef>
          </c:yVal>
        </c:ser>
        <c:ser>
          <c:idx val="2"/>
          <c:order val="2"/>
          <c:tx>
            <c:strRef>
              <c:f>'DaSi-cores-energy_1600.txt'!$D$1</c:f>
              <c:strCache>
                <c:ptCount val="1"/>
                <c:pt idx="0">
                  <c:v>segment</c:v>
                </c:pt>
              </c:strCache>
            </c:strRef>
          </c:tx>
          <c:spPr>
            <a:ln>
              <a:solidFill>
                <a:srgbClr val="FF6600"/>
              </a:solidFill>
            </a:ln>
          </c:spPr>
          <c:marker>
            <c:spPr>
              <a:solidFill>
                <a:srgbClr val="FF6600"/>
              </a:solidFill>
              <a:ln>
                <a:noFill/>
              </a:ln>
            </c:spPr>
          </c:marker>
          <c:xVal>
            <c:numRef>
              <c:f>'DaSi-cores-energy_1600.txt'!$A$2:$A$4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</c:numCache>
            </c:numRef>
          </c:xVal>
          <c:yVal>
            <c:numRef>
              <c:f>'DaSi-cores-energy_1600.txt'!$D$2:$D$4</c:f>
              <c:numCache>
                <c:formatCode>General</c:formatCode>
                <c:ptCount val="3"/>
                <c:pt idx="0">
                  <c:v>1.0</c:v>
                </c:pt>
                <c:pt idx="1">
                  <c:v>0.758585422338</c:v>
                </c:pt>
                <c:pt idx="2">
                  <c:v>0.641064550672</c:v>
                </c:pt>
              </c:numCache>
            </c:numRef>
          </c:yVal>
        </c:ser>
        <c:axId val="761156360"/>
        <c:axId val="761161176"/>
      </c:scatterChart>
      <c:valAx>
        <c:axId val="761156360"/>
        <c:scaling>
          <c:orientation val="minMax"/>
          <c:max val="4.0"/>
          <c:min val="1.0"/>
        </c:scaling>
        <c:delete val="1"/>
        <c:axPos val="b"/>
        <c:numFmt formatCode="General" sourceLinked="1"/>
        <c:tickLblPos val="nextTo"/>
        <c:crossAx val="761161176"/>
        <c:crosses val="autoZero"/>
        <c:crossBetween val="midCat"/>
        <c:majorUnit val="1.0"/>
      </c:valAx>
      <c:valAx>
        <c:axId val="761161176"/>
        <c:scaling>
          <c:orientation val="minMax"/>
          <c:min val="0.0"/>
        </c:scaling>
        <c:axPos val="l"/>
        <c:majorGridlines/>
        <c:numFmt formatCode="General" sourceLinked="1"/>
        <c:tickLblPos val="nextTo"/>
        <c:crossAx val="761156360"/>
        <c:crosses val="autoZero"/>
        <c:crossBetween val="midCat"/>
        <c:majorUnit val="0.2"/>
      </c:valAx>
    </c:plotArea>
    <c:legend>
      <c:legendPos val="r"/>
      <c:layout/>
    </c:legend>
    <c:plotVisOnly val="1"/>
  </c:chart>
  <c:txPr>
    <a:bodyPr/>
    <a:lstStyle/>
    <a:p>
      <a:pPr>
        <a:defRPr sz="1600"/>
      </a:pPr>
      <a:endParaRPr lang="en-US"/>
    </a:p>
  </c:txPr>
  <c:externalData r:id="rId1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.077760498687664"/>
          <c:y val="0.0847222222222222"/>
          <c:w val="0.555502405949256"/>
          <c:h val="0.670833333333333"/>
        </c:manualLayout>
      </c:layout>
      <c:scatterChart>
        <c:scatterStyle val="lineMarker"/>
        <c:ser>
          <c:idx val="0"/>
          <c:order val="0"/>
          <c:tx>
            <c:strRef>
              <c:f>'[DaSi-cores-speedup_1600.txt]DaSi-cores-speedup_1600.txt'!$B$1</c:f>
              <c:strCache>
                <c:ptCount val="1"/>
                <c:pt idx="0">
                  <c:v>feature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diamond"/>
            <c:size val="9"/>
            <c:spPr>
              <a:solidFill>
                <a:schemeClr val="tx2"/>
              </a:solidFill>
              <a:ln>
                <a:noFill/>
              </a:ln>
            </c:spPr>
          </c:marker>
          <c:xVal>
            <c:numRef>
              <c:f>'[DaSi-cores-speedup_1600.txt]DaSi-cores-speedup_1600.txt'!$A$2:$A$4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</c:numCache>
            </c:numRef>
          </c:xVal>
          <c:yVal>
            <c:numRef>
              <c:f>'[DaSi-cores-speedup_1600.txt]DaSi-cores-speedup_1600.txt'!$B$2:$B$4</c:f>
              <c:numCache>
                <c:formatCode>General</c:formatCode>
                <c:ptCount val="3"/>
                <c:pt idx="0">
                  <c:v>1.0</c:v>
                </c:pt>
                <c:pt idx="1">
                  <c:v>1.99934206451</c:v>
                </c:pt>
                <c:pt idx="2">
                  <c:v>3.93362458522</c:v>
                </c:pt>
              </c:numCache>
            </c:numRef>
          </c:yVal>
        </c:ser>
        <c:ser>
          <c:idx val="1"/>
          <c:order val="1"/>
          <c:tx>
            <c:strRef>
              <c:f>'[DaSi-cores-speedup_1600.txt]DaSi-cores-speedup_1600.txt'!$C$1</c:f>
              <c:strCache>
                <c:ptCount val="1"/>
                <c:pt idx="0">
                  <c:v>disparity</c:v>
                </c:pt>
              </c:strCache>
            </c:strRef>
          </c:tx>
          <c:spPr>
            <a:ln>
              <a:solidFill>
                <a:schemeClr val="accent6"/>
              </a:solidFill>
            </a:ln>
          </c:spPr>
          <c:xVal>
            <c:numRef>
              <c:f>'[DaSi-cores-speedup_1600.txt]DaSi-cores-speedup_1600.txt'!$A$2:$A$4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</c:numCache>
            </c:numRef>
          </c:xVal>
          <c:yVal>
            <c:numRef>
              <c:f>'[DaSi-cores-speedup_1600.txt]DaSi-cores-speedup_1600.txt'!$C$2:$C$4</c:f>
              <c:numCache>
                <c:formatCode>General</c:formatCode>
                <c:ptCount val="3"/>
                <c:pt idx="0">
                  <c:v>1.0</c:v>
                </c:pt>
                <c:pt idx="1">
                  <c:v>1.9526815218</c:v>
                </c:pt>
                <c:pt idx="2">
                  <c:v>3.310254196399998</c:v>
                </c:pt>
              </c:numCache>
            </c:numRef>
          </c:yVal>
        </c:ser>
        <c:ser>
          <c:idx val="2"/>
          <c:order val="2"/>
          <c:tx>
            <c:strRef>
              <c:f>'[DaSi-cores-speedup_1600.txt]DaSi-cores-speedup_1600.txt'!$D$1</c:f>
              <c:strCache>
                <c:ptCount val="1"/>
                <c:pt idx="0">
                  <c:v>segment</c:v>
                </c:pt>
              </c:strCache>
            </c:strRef>
          </c:tx>
          <c:spPr>
            <a:ln>
              <a:solidFill>
                <a:srgbClr val="FF6600"/>
              </a:solidFill>
            </a:ln>
          </c:spPr>
          <c:marker>
            <c:spPr>
              <a:solidFill>
                <a:srgbClr val="FF6600"/>
              </a:solidFill>
              <a:ln>
                <a:noFill/>
              </a:ln>
            </c:spPr>
          </c:marker>
          <c:xVal>
            <c:numRef>
              <c:f>'[DaSi-cores-speedup_1600.txt]DaSi-cores-speedup_1600.txt'!$A$2:$A$4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</c:numCache>
            </c:numRef>
          </c:xVal>
          <c:yVal>
            <c:numRef>
              <c:f>'[DaSi-cores-speedup_1600.txt]DaSi-cores-speedup_1600.txt'!$D$2:$D$4</c:f>
              <c:numCache>
                <c:formatCode>General</c:formatCode>
                <c:ptCount val="3"/>
                <c:pt idx="0">
                  <c:v>1.0</c:v>
                </c:pt>
                <c:pt idx="1">
                  <c:v>1.65757466662</c:v>
                </c:pt>
                <c:pt idx="2">
                  <c:v>3.10379997607</c:v>
                </c:pt>
              </c:numCache>
            </c:numRef>
          </c:yVal>
        </c:ser>
        <c:axId val="761194024"/>
        <c:axId val="761199368"/>
      </c:scatterChart>
      <c:valAx>
        <c:axId val="761194024"/>
        <c:scaling>
          <c:orientation val="minMax"/>
          <c:max val="4.0"/>
          <c:min val="1.0"/>
        </c:scaling>
        <c:delete val="1"/>
        <c:axPos val="b"/>
        <c:numFmt formatCode="General" sourceLinked="1"/>
        <c:tickLblPos val="nextTo"/>
        <c:crossAx val="761199368"/>
        <c:crosses val="autoZero"/>
        <c:crossBetween val="midCat"/>
        <c:majorUnit val="2.0"/>
      </c:valAx>
      <c:valAx>
        <c:axId val="761199368"/>
        <c:scaling>
          <c:orientation val="minMax"/>
          <c:max val="4.0"/>
          <c:min val="0.0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761194024"/>
        <c:crosses val="autoZero"/>
        <c:crossBetween val="midCat"/>
        <c:majorUnit val="1.0"/>
      </c:valAx>
    </c:plotArea>
    <c:legend>
      <c:legendPos val="r"/>
      <c:layout/>
      <c:txPr>
        <a:bodyPr/>
        <a:lstStyle/>
        <a:p>
          <a:pPr>
            <a:defRPr sz="1200"/>
          </a:pPr>
          <a:endParaRPr lang="en-US"/>
        </a:p>
      </c:txPr>
    </c:legend>
    <c:plotVisOnly val="1"/>
  </c:chart>
  <c:externalData r:id="rId1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.0962989938757655"/>
          <c:y val="0.0847222222222222"/>
          <c:w val="0.549533464566929"/>
          <c:h val="0.692940179352581"/>
        </c:manualLayout>
      </c:layout>
      <c:scatterChart>
        <c:scatterStyle val="lineMarker"/>
        <c:ser>
          <c:idx val="0"/>
          <c:order val="0"/>
          <c:tx>
            <c:strRef>
              <c:f>'DaSi-cores-power_1600.txt'!$B$1</c:f>
              <c:strCache>
                <c:ptCount val="1"/>
                <c:pt idx="0">
                  <c:v>feature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pPr>
              <a:solidFill>
                <a:schemeClr val="tx2"/>
              </a:solidFill>
              <a:ln>
                <a:noFill/>
              </a:ln>
            </c:spPr>
          </c:marker>
          <c:xVal>
            <c:numRef>
              <c:f>'DaSi-cores-power_1600.txt'!$A$2:$A$4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</c:numCache>
            </c:numRef>
          </c:xVal>
          <c:yVal>
            <c:numRef>
              <c:f>'DaSi-cores-power_1600.txt'!$B$2:$B$4</c:f>
              <c:numCache>
                <c:formatCode>General</c:formatCode>
                <c:ptCount val="3"/>
                <c:pt idx="0">
                  <c:v>8.499697123</c:v>
                </c:pt>
                <c:pt idx="1">
                  <c:v>11.63114592</c:v>
                </c:pt>
                <c:pt idx="2">
                  <c:v>17.95215264</c:v>
                </c:pt>
              </c:numCache>
            </c:numRef>
          </c:yVal>
        </c:ser>
        <c:ser>
          <c:idx val="1"/>
          <c:order val="1"/>
          <c:tx>
            <c:strRef>
              <c:f>'DaSi-cores-power_1600.txt'!$C$1</c:f>
              <c:strCache>
                <c:ptCount val="1"/>
                <c:pt idx="0">
                  <c:v>disparity</c:v>
                </c:pt>
              </c:strCache>
            </c:strRef>
          </c:tx>
          <c:xVal>
            <c:numRef>
              <c:f>'DaSi-cores-power_1600.txt'!$A$2:$A$4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</c:numCache>
            </c:numRef>
          </c:xVal>
          <c:yVal>
            <c:numRef>
              <c:f>'DaSi-cores-power_1600.txt'!$C$2:$C$4</c:f>
              <c:numCache>
                <c:formatCode>General</c:formatCode>
                <c:ptCount val="3"/>
                <c:pt idx="0">
                  <c:v>8.729100202</c:v>
                </c:pt>
                <c:pt idx="1">
                  <c:v>12.36670532</c:v>
                </c:pt>
                <c:pt idx="2">
                  <c:v>18.28688338</c:v>
                </c:pt>
              </c:numCache>
            </c:numRef>
          </c:yVal>
        </c:ser>
        <c:ser>
          <c:idx val="2"/>
          <c:order val="2"/>
          <c:tx>
            <c:strRef>
              <c:f>'DaSi-cores-power_1600.txt'!$D$1</c:f>
              <c:strCache>
                <c:ptCount val="1"/>
                <c:pt idx="0">
                  <c:v>segment</c:v>
                </c:pt>
              </c:strCache>
            </c:strRef>
          </c:tx>
          <c:spPr>
            <a:ln>
              <a:solidFill>
                <a:srgbClr val="FF6600"/>
              </a:solidFill>
            </a:ln>
          </c:spPr>
          <c:marker>
            <c:spPr>
              <a:solidFill>
                <a:srgbClr val="FF6600"/>
              </a:solidFill>
              <a:ln>
                <a:noFill/>
              </a:ln>
            </c:spPr>
          </c:marker>
          <c:xVal>
            <c:numRef>
              <c:f>'DaSi-cores-power_1600.txt'!$A$2:$A$4</c:f>
              <c:numCache>
                <c:formatCode>General</c:formatCode>
                <c:ptCount val="3"/>
                <c:pt idx="0">
                  <c:v>1.0</c:v>
                </c:pt>
                <c:pt idx="1">
                  <c:v>2.0</c:v>
                </c:pt>
                <c:pt idx="2">
                  <c:v>4.0</c:v>
                </c:pt>
              </c:numCache>
            </c:numRef>
          </c:xVal>
          <c:yVal>
            <c:numRef>
              <c:f>'DaSi-cores-power_1600.txt'!$D$2:$D$4</c:f>
              <c:numCache>
                <c:formatCode>General</c:formatCode>
                <c:ptCount val="3"/>
                <c:pt idx="0">
                  <c:v>8.615050132</c:v>
                </c:pt>
                <c:pt idx="1">
                  <c:v>10.86826518</c:v>
                </c:pt>
                <c:pt idx="2">
                  <c:v>17.31002543</c:v>
                </c:pt>
              </c:numCache>
            </c:numRef>
          </c:yVal>
        </c:ser>
        <c:axId val="761237288"/>
        <c:axId val="761242104"/>
      </c:scatterChart>
      <c:valAx>
        <c:axId val="761237288"/>
        <c:scaling>
          <c:orientation val="minMax"/>
          <c:max val="4.0"/>
          <c:min val="1.0"/>
        </c:scaling>
        <c:delete val="1"/>
        <c:axPos val="b"/>
        <c:numFmt formatCode="General" sourceLinked="1"/>
        <c:tickLblPos val="nextTo"/>
        <c:crossAx val="761242104"/>
        <c:crosses val="autoZero"/>
        <c:crossBetween val="midCat"/>
        <c:majorUnit val="1.0"/>
      </c:valAx>
      <c:valAx>
        <c:axId val="761242104"/>
        <c:scaling>
          <c:orientation val="minMax"/>
          <c:min val="0.0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761237288"/>
        <c:crosses val="autoZero"/>
        <c:crossBetween val="midCat"/>
        <c:majorUnit val="5.0"/>
      </c:valAx>
    </c:plotArea>
    <c:legend>
      <c:legendPos val="r"/>
      <c:layout/>
      <c:txPr>
        <a:bodyPr/>
        <a:lstStyle/>
        <a:p>
          <a:pPr>
            <a:defRPr sz="1200"/>
          </a:pPr>
          <a:endParaRPr lang="en-US"/>
        </a:p>
      </c:txPr>
    </c:legend>
    <c:plotVisOnly val="1"/>
  </c:chart>
  <c:externalData r:id="rId1"/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.102244129627303"/>
          <c:y val="0.04"/>
          <c:w val="0.613010142849849"/>
          <c:h val="0.789333333333333"/>
        </c:manualLayout>
      </c:layout>
      <c:scatterChart>
        <c:scatterStyle val="lineMarker"/>
        <c:ser>
          <c:idx val="0"/>
          <c:order val="0"/>
          <c:tx>
            <c:strRef>
              <c:f>'DaSi-freq-energy_1.txt'!$B$1</c:f>
              <c:strCache>
                <c:ptCount val="1"/>
                <c:pt idx="0">
                  <c:v>feature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pPr>
              <a:solidFill>
                <a:schemeClr val="tx2"/>
              </a:solidFill>
              <a:ln>
                <a:noFill/>
              </a:ln>
            </c:spPr>
          </c:marker>
          <c:xVal>
            <c:numRef>
              <c:f>'DaSi-freq-energy_1.txt'!$A$2:$A$6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'DaSi-freq-energy_1.txt'!$B$2:$B$6</c:f>
              <c:numCache>
                <c:formatCode>General</c:formatCode>
                <c:ptCount val="5"/>
                <c:pt idx="0">
                  <c:v>1.0</c:v>
                </c:pt>
                <c:pt idx="1">
                  <c:v>0.958686314</c:v>
                </c:pt>
                <c:pt idx="2">
                  <c:v>0.946377087</c:v>
                </c:pt>
                <c:pt idx="3">
                  <c:v>0.940643575</c:v>
                </c:pt>
                <c:pt idx="4">
                  <c:v>0.960787993</c:v>
                </c:pt>
              </c:numCache>
            </c:numRef>
          </c:yVal>
        </c:ser>
        <c:ser>
          <c:idx val="1"/>
          <c:order val="1"/>
          <c:tx>
            <c:strRef>
              <c:f>'DaSi-freq-energy_1.txt'!$C$1</c:f>
              <c:strCache>
                <c:ptCount val="1"/>
                <c:pt idx="0">
                  <c:v>disparity</c:v>
                </c:pt>
              </c:strCache>
            </c:strRef>
          </c:tx>
          <c:xVal>
            <c:numRef>
              <c:f>'DaSi-freq-energy_1.txt'!$A$2:$A$6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'DaSi-freq-energy_1.txt'!$C$2:$C$6</c:f>
              <c:numCache>
                <c:formatCode>General</c:formatCode>
                <c:ptCount val="5"/>
                <c:pt idx="0">
                  <c:v>1.0</c:v>
                </c:pt>
                <c:pt idx="1">
                  <c:v>0.952670106</c:v>
                </c:pt>
                <c:pt idx="2">
                  <c:v>0.939728372</c:v>
                </c:pt>
                <c:pt idx="3">
                  <c:v>0.960084694</c:v>
                </c:pt>
                <c:pt idx="4">
                  <c:v>0.995676313</c:v>
                </c:pt>
              </c:numCache>
            </c:numRef>
          </c:yVal>
        </c:ser>
        <c:ser>
          <c:idx val="2"/>
          <c:order val="2"/>
          <c:tx>
            <c:strRef>
              <c:f>'DaSi-freq-energy_1.txt'!$D$1</c:f>
              <c:strCache>
                <c:ptCount val="1"/>
                <c:pt idx="0">
                  <c:v>segment</c:v>
                </c:pt>
              </c:strCache>
            </c:strRef>
          </c:tx>
          <c:spPr>
            <a:ln>
              <a:solidFill>
                <a:srgbClr val="FF6600"/>
              </a:solidFill>
            </a:ln>
          </c:spPr>
          <c:marker>
            <c:spPr>
              <a:solidFill>
                <a:srgbClr val="FF6600"/>
              </a:solidFill>
              <a:ln>
                <a:noFill/>
              </a:ln>
            </c:spPr>
          </c:marker>
          <c:xVal>
            <c:numRef>
              <c:f>'DaSi-freq-energy_1.txt'!$A$2:$A$6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'DaSi-freq-energy_1.txt'!$D$2:$D$6</c:f>
              <c:numCache>
                <c:formatCode>General</c:formatCode>
                <c:ptCount val="5"/>
                <c:pt idx="0">
                  <c:v>1.0</c:v>
                </c:pt>
                <c:pt idx="1">
                  <c:v>0.986703941</c:v>
                </c:pt>
                <c:pt idx="2">
                  <c:v>1.009555606</c:v>
                </c:pt>
                <c:pt idx="3">
                  <c:v>1.039863299</c:v>
                </c:pt>
                <c:pt idx="4">
                  <c:v>1.107755248</c:v>
                </c:pt>
              </c:numCache>
            </c:numRef>
          </c:yVal>
        </c:ser>
        <c:axId val="760608600"/>
        <c:axId val="760996712"/>
      </c:scatterChart>
      <c:valAx>
        <c:axId val="760608600"/>
        <c:scaling>
          <c:orientation val="minMax"/>
          <c:max val="3.4"/>
          <c:min val="1.6"/>
        </c:scaling>
        <c:axPos val="b"/>
        <c:numFmt formatCode="General" sourceLinked="1"/>
        <c:tickLblPos val="nextTo"/>
        <c:spPr>
          <a:solidFill>
            <a:srgbClr val="FFFFFF"/>
          </a:solidFill>
        </c:spPr>
        <c:crossAx val="760996712"/>
        <c:crosses val="autoZero"/>
        <c:crossBetween val="midCat"/>
        <c:majorUnit val="0.4"/>
      </c:valAx>
      <c:valAx>
        <c:axId val="760996712"/>
        <c:scaling>
          <c:orientation val="minMax"/>
        </c:scaling>
        <c:axPos val="l"/>
        <c:majorGridlines/>
        <c:numFmt formatCode="General" sourceLinked="1"/>
        <c:tickLblPos val="nextTo"/>
        <c:spPr>
          <a:noFill/>
        </c:spPr>
        <c:crossAx val="760608600"/>
        <c:crosses val="autoZero"/>
        <c:crossBetween val="midCat"/>
        <c:majorUnit val="0.1"/>
        <c:minorUnit val="0.01"/>
      </c:valAx>
      <c:spPr>
        <a:noFill/>
        <a:ln w="25400">
          <a:noFill/>
        </a:ln>
      </c:spPr>
    </c:plotArea>
    <c:legend>
      <c:legendPos val="r"/>
      <c:layout/>
    </c:legend>
    <c:plotVisOnly val="1"/>
  </c:chart>
  <c:txPr>
    <a:bodyPr/>
    <a:lstStyle/>
    <a:p>
      <a:pPr>
        <a:defRPr sz="1600"/>
      </a:pPr>
      <a:endParaRPr lang="en-US"/>
    </a:p>
  </c:txPr>
  <c:externalData r:id="rId1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scatterChart>
        <c:scatterStyle val="lineMarker"/>
        <c:ser>
          <c:idx val="0"/>
          <c:order val="0"/>
          <c:tx>
            <c:strRef>
              <c:f>'DaSi-freq-speedup_1.txt'!$B$1</c:f>
              <c:strCache>
                <c:ptCount val="1"/>
                <c:pt idx="0">
                  <c:v>feature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pPr>
              <a:solidFill>
                <a:schemeClr val="tx2"/>
              </a:solidFill>
              <a:ln>
                <a:noFill/>
              </a:ln>
            </c:spPr>
          </c:marker>
          <c:xVal>
            <c:numRef>
              <c:f>'DaSi-freq-speedup_1.txt'!$A$2:$A$6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'DaSi-freq-speedup_1.txt'!$B$2:$B$6</c:f>
              <c:numCache>
                <c:formatCode>General</c:formatCode>
                <c:ptCount val="5"/>
                <c:pt idx="0">
                  <c:v>1.0</c:v>
                </c:pt>
                <c:pt idx="1">
                  <c:v>1.255108947</c:v>
                </c:pt>
                <c:pt idx="2">
                  <c:v>1.475475625</c:v>
                </c:pt>
                <c:pt idx="3">
                  <c:v>1.760268635</c:v>
                </c:pt>
                <c:pt idx="4">
                  <c:v>2.000468313999999</c:v>
                </c:pt>
              </c:numCache>
            </c:numRef>
          </c:yVal>
        </c:ser>
        <c:ser>
          <c:idx val="1"/>
          <c:order val="1"/>
          <c:tx>
            <c:strRef>
              <c:f>'DaSi-freq-speedup_1.txt'!$C$1</c:f>
              <c:strCache>
                <c:ptCount val="1"/>
                <c:pt idx="0">
                  <c:v>disparity</c:v>
                </c:pt>
              </c:strCache>
            </c:strRef>
          </c:tx>
          <c:xVal>
            <c:numRef>
              <c:f>'DaSi-freq-speedup_1.txt'!$A$2:$A$6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'DaSi-freq-speedup_1.txt'!$C$2:$C$6</c:f>
              <c:numCache>
                <c:formatCode>General</c:formatCode>
                <c:ptCount val="5"/>
                <c:pt idx="0">
                  <c:v>1.0</c:v>
                </c:pt>
                <c:pt idx="1">
                  <c:v>1.249134304</c:v>
                </c:pt>
                <c:pt idx="2">
                  <c:v>1.497279095</c:v>
                </c:pt>
                <c:pt idx="3">
                  <c:v>1.68811385</c:v>
                </c:pt>
                <c:pt idx="4">
                  <c:v>2.086810444</c:v>
                </c:pt>
              </c:numCache>
            </c:numRef>
          </c:yVal>
        </c:ser>
        <c:ser>
          <c:idx val="2"/>
          <c:order val="2"/>
          <c:tx>
            <c:strRef>
              <c:f>'DaSi-freq-speedup_1.txt'!$D$1</c:f>
              <c:strCache>
                <c:ptCount val="1"/>
                <c:pt idx="0">
                  <c:v>segment</c:v>
                </c:pt>
              </c:strCache>
            </c:strRef>
          </c:tx>
          <c:spPr>
            <a:ln>
              <a:solidFill>
                <a:srgbClr val="FF6600"/>
              </a:solidFill>
            </a:ln>
          </c:spPr>
          <c:marker>
            <c:spPr>
              <a:solidFill>
                <a:srgbClr val="FF6600"/>
              </a:solidFill>
              <a:ln>
                <a:noFill/>
              </a:ln>
            </c:spPr>
          </c:marker>
          <c:xVal>
            <c:numRef>
              <c:f>'DaSi-freq-speedup_1.txt'!$A$2:$A$6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'DaSi-freq-speedup_1.txt'!$D$2:$D$6</c:f>
              <c:numCache>
                <c:formatCode>General</c:formatCode>
                <c:ptCount val="5"/>
                <c:pt idx="0">
                  <c:v>1.0</c:v>
                </c:pt>
                <c:pt idx="1">
                  <c:v>1.206908892</c:v>
                </c:pt>
                <c:pt idx="2">
                  <c:v>1.365233556</c:v>
                </c:pt>
                <c:pt idx="3">
                  <c:v>1.53622112</c:v>
                </c:pt>
                <c:pt idx="4">
                  <c:v>1.670713323</c:v>
                </c:pt>
              </c:numCache>
            </c:numRef>
          </c:yVal>
        </c:ser>
        <c:axId val="760437752"/>
        <c:axId val="760432776"/>
      </c:scatterChart>
      <c:valAx>
        <c:axId val="760437752"/>
        <c:scaling>
          <c:orientation val="minMax"/>
          <c:max val="3.4"/>
          <c:min val="1.6"/>
        </c:scaling>
        <c:axPos val="b"/>
        <c:numFmt formatCode="General" sourceLinked="1"/>
        <c:tickLblPos val="nextTo"/>
        <c:crossAx val="760432776"/>
        <c:crosses val="autoZero"/>
        <c:crossBetween val="midCat"/>
        <c:majorUnit val="0.4"/>
      </c:valAx>
      <c:valAx>
        <c:axId val="760432776"/>
        <c:scaling>
          <c:orientation val="minMax"/>
          <c:max val="2.5"/>
          <c:min val="0.0"/>
        </c:scaling>
        <c:axPos val="l"/>
        <c:majorGridlines/>
        <c:numFmt formatCode="General" sourceLinked="1"/>
        <c:tickLblPos val="nextTo"/>
        <c:crossAx val="760437752"/>
        <c:crosses val="autoZero"/>
        <c:crossBetween val="midCat"/>
        <c:majorUnit val="0.5"/>
      </c:valAx>
    </c:plotArea>
    <c:legend>
      <c:legendPos val="r"/>
      <c:layout/>
    </c:legend>
    <c:plotVisOnly val="1"/>
  </c:chart>
  <c:txPr>
    <a:bodyPr/>
    <a:lstStyle/>
    <a:p>
      <a:pPr>
        <a:defRPr sz="1600"/>
      </a:pPr>
      <a:endParaRPr lang="en-US"/>
    </a:p>
  </c:txPr>
  <c:externalData r:id="rId1"/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scatterChart>
        <c:scatterStyle val="lineMarker"/>
        <c:ser>
          <c:idx val="0"/>
          <c:order val="0"/>
          <c:tx>
            <c:strRef>
              <c:f>'DaSi-freq-power_1.txt'!$B$1</c:f>
              <c:strCache>
                <c:ptCount val="1"/>
                <c:pt idx="0">
                  <c:v>feature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pPr>
              <a:solidFill>
                <a:schemeClr val="tx2"/>
              </a:solidFill>
              <a:ln>
                <a:noFill/>
              </a:ln>
            </c:spPr>
          </c:marker>
          <c:xVal>
            <c:numRef>
              <c:f>'DaSi-freq-power_1.txt'!$A$2:$A$6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'DaSi-freq-power_1.txt'!$B$2:$B$6</c:f>
              <c:numCache>
                <c:formatCode>General</c:formatCode>
                <c:ptCount val="5"/>
                <c:pt idx="0">
                  <c:v>8.499697123</c:v>
                </c:pt>
                <c:pt idx="1">
                  <c:v>10.22762403</c:v>
                </c:pt>
                <c:pt idx="2">
                  <c:v>11.86398068</c:v>
                </c:pt>
                <c:pt idx="3">
                  <c:v>14.08359219</c:v>
                </c:pt>
                <c:pt idx="4">
                  <c:v>16.34606849</c:v>
                </c:pt>
              </c:numCache>
            </c:numRef>
          </c:yVal>
        </c:ser>
        <c:ser>
          <c:idx val="1"/>
          <c:order val="1"/>
          <c:tx>
            <c:strRef>
              <c:f>'DaSi-freq-power_1.txt'!$C$1</c:f>
              <c:strCache>
                <c:ptCount val="1"/>
                <c:pt idx="0">
                  <c:v>disparity</c:v>
                </c:pt>
              </c:strCache>
            </c:strRef>
          </c:tx>
          <c:xVal>
            <c:numRef>
              <c:f>'DaSi-freq-power_1.txt'!$A$2:$A$6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'DaSi-freq-power_1.txt'!$C$2:$C$6</c:f>
              <c:numCache>
                <c:formatCode>General</c:formatCode>
                <c:ptCount val="5"/>
                <c:pt idx="0">
                  <c:v>8.729100202</c:v>
                </c:pt>
                <c:pt idx="1">
                  <c:v>10.4117694</c:v>
                </c:pt>
                <c:pt idx="2">
                  <c:v>12.28215381</c:v>
                </c:pt>
                <c:pt idx="3">
                  <c:v>14.23274219</c:v>
                </c:pt>
                <c:pt idx="4">
                  <c:v>18.2780081</c:v>
                </c:pt>
              </c:numCache>
            </c:numRef>
          </c:yVal>
        </c:ser>
        <c:ser>
          <c:idx val="2"/>
          <c:order val="2"/>
          <c:tx>
            <c:strRef>
              <c:f>'DaSi-freq-power_1.txt'!$D$1</c:f>
              <c:strCache>
                <c:ptCount val="1"/>
                <c:pt idx="0">
                  <c:v>segment</c:v>
                </c:pt>
              </c:strCache>
            </c:strRef>
          </c:tx>
          <c:spPr>
            <a:ln>
              <a:solidFill>
                <a:srgbClr val="FF6600"/>
              </a:solidFill>
            </a:ln>
          </c:spPr>
          <c:marker>
            <c:spPr>
              <a:solidFill>
                <a:srgbClr val="FF6600"/>
              </a:solidFill>
              <a:ln>
                <a:noFill/>
              </a:ln>
            </c:spPr>
          </c:marker>
          <c:xVal>
            <c:numRef>
              <c:f>'DaSi-freq-power_1.txt'!$A$2:$A$6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'DaSi-freq-power_1.txt'!$D$2:$D$6</c:f>
              <c:numCache>
                <c:formatCode>General</c:formatCode>
                <c:ptCount val="5"/>
                <c:pt idx="0">
                  <c:v>8.615050132</c:v>
                </c:pt>
                <c:pt idx="1">
                  <c:v>10.27090455</c:v>
                </c:pt>
                <c:pt idx="2">
                  <c:v>11.88424071</c:v>
                </c:pt>
                <c:pt idx="3">
                  <c:v>13.76480071</c:v>
                </c:pt>
                <c:pt idx="4">
                  <c:v>15.97951502</c:v>
                </c:pt>
              </c:numCache>
            </c:numRef>
          </c:yVal>
        </c:ser>
        <c:axId val="760392632"/>
        <c:axId val="760387704"/>
      </c:scatterChart>
      <c:valAx>
        <c:axId val="760392632"/>
        <c:scaling>
          <c:orientation val="minMax"/>
          <c:max val="3.4"/>
          <c:min val="1.6"/>
        </c:scaling>
        <c:axPos val="b"/>
        <c:numFmt formatCode="General" sourceLinked="1"/>
        <c:tickLblPos val="nextTo"/>
        <c:crossAx val="760387704"/>
        <c:crosses val="autoZero"/>
        <c:crossBetween val="midCat"/>
        <c:majorUnit val="0.4"/>
      </c:valAx>
      <c:valAx>
        <c:axId val="760387704"/>
        <c:scaling>
          <c:orientation val="minMax"/>
          <c:min val="0.0"/>
        </c:scaling>
        <c:axPos val="l"/>
        <c:majorGridlines/>
        <c:numFmt formatCode="General" sourceLinked="1"/>
        <c:tickLblPos val="nextTo"/>
        <c:crossAx val="760392632"/>
        <c:crosses val="autoZero"/>
        <c:crossBetween val="midCat"/>
        <c:majorUnit val="5.0"/>
      </c:valAx>
    </c:plotArea>
    <c:legend>
      <c:legendPos val="r"/>
      <c:layout/>
    </c:legend>
    <c:plotVisOnly val="1"/>
  </c:chart>
  <c:txPr>
    <a:bodyPr/>
    <a:lstStyle/>
    <a:p>
      <a:pPr>
        <a:defRPr sz="1600"/>
      </a:pPr>
      <a:endParaRPr lang="en-US"/>
    </a:p>
  </c:txPr>
  <c:externalData r:id="rId1"/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scatterChart>
        <c:scatterStyle val="lineMarker"/>
        <c:ser>
          <c:idx val="0"/>
          <c:order val="0"/>
          <c:tx>
            <c:strRef>
              <c:f>'DaSi-freq-energy_1.txt'!$B$1</c:f>
              <c:strCache>
                <c:ptCount val="1"/>
                <c:pt idx="0">
                  <c:v>feature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pPr>
              <a:solidFill>
                <a:schemeClr val="tx2"/>
              </a:solidFill>
              <a:ln>
                <a:noFill/>
              </a:ln>
            </c:spPr>
          </c:marker>
          <c:xVal>
            <c:numRef>
              <c:f>'DaSi-freq-energy_1.txt'!$A$2:$A$6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'DaSi-freq-energy_1.txt'!$B$2:$B$6</c:f>
              <c:numCache>
                <c:formatCode>General</c:formatCode>
                <c:ptCount val="5"/>
                <c:pt idx="0">
                  <c:v>1.0</c:v>
                </c:pt>
                <c:pt idx="1">
                  <c:v>0.958686314</c:v>
                </c:pt>
                <c:pt idx="2">
                  <c:v>0.946377087</c:v>
                </c:pt>
                <c:pt idx="3">
                  <c:v>0.940643575</c:v>
                </c:pt>
                <c:pt idx="4">
                  <c:v>0.960787993</c:v>
                </c:pt>
              </c:numCache>
            </c:numRef>
          </c:yVal>
        </c:ser>
        <c:ser>
          <c:idx val="1"/>
          <c:order val="1"/>
          <c:tx>
            <c:strRef>
              <c:f>'DaSi-freq-energy_1.txt'!$C$1</c:f>
              <c:strCache>
                <c:ptCount val="1"/>
                <c:pt idx="0">
                  <c:v>disparity</c:v>
                </c:pt>
              </c:strCache>
            </c:strRef>
          </c:tx>
          <c:xVal>
            <c:numRef>
              <c:f>'DaSi-freq-energy_1.txt'!$A$2:$A$6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'DaSi-freq-energy_1.txt'!$C$2:$C$6</c:f>
              <c:numCache>
                <c:formatCode>General</c:formatCode>
                <c:ptCount val="5"/>
                <c:pt idx="0">
                  <c:v>1.0</c:v>
                </c:pt>
                <c:pt idx="1">
                  <c:v>0.952670106</c:v>
                </c:pt>
                <c:pt idx="2">
                  <c:v>0.939728372</c:v>
                </c:pt>
                <c:pt idx="3">
                  <c:v>0.960084694</c:v>
                </c:pt>
                <c:pt idx="4">
                  <c:v>0.995676313</c:v>
                </c:pt>
              </c:numCache>
            </c:numRef>
          </c:yVal>
        </c:ser>
        <c:ser>
          <c:idx val="2"/>
          <c:order val="2"/>
          <c:tx>
            <c:strRef>
              <c:f>'DaSi-freq-energy_1.txt'!$D$1</c:f>
              <c:strCache>
                <c:ptCount val="1"/>
                <c:pt idx="0">
                  <c:v>segment</c:v>
                </c:pt>
              </c:strCache>
            </c:strRef>
          </c:tx>
          <c:spPr>
            <a:ln>
              <a:solidFill>
                <a:srgbClr val="FF6600"/>
              </a:solidFill>
            </a:ln>
          </c:spPr>
          <c:marker>
            <c:spPr>
              <a:solidFill>
                <a:srgbClr val="FF6600"/>
              </a:solidFill>
              <a:ln>
                <a:noFill/>
              </a:ln>
            </c:spPr>
          </c:marker>
          <c:xVal>
            <c:numRef>
              <c:f>'DaSi-freq-energy_1.txt'!$A$2:$A$6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2.4</c:v>
                </c:pt>
                <c:pt idx="3">
                  <c:v>2.8</c:v>
                </c:pt>
                <c:pt idx="4">
                  <c:v>3.2</c:v>
                </c:pt>
              </c:numCache>
            </c:numRef>
          </c:xVal>
          <c:yVal>
            <c:numRef>
              <c:f>'DaSi-freq-energy_1.txt'!$D$2:$D$6</c:f>
              <c:numCache>
                <c:formatCode>General</c:formatCode>
                <c:ptCount val="5"/>
                <c:pt idx="0">
                  <c:v>1.0</c:v>
                </c:pt>
                <c:pt idx="1">
                  <c:v>0.986703941</c:v>
                </c:pt>
                <c:pt idx="2">
                  <c:v>1.009555606</c:v>
                </c:pt>
                <c:pt idx="3">
                  <c:v>1.039863299</c:v>
                </c:pt>
                <c:pt idx="4">
                  <c:v>1.107755248</c:v>
                </c:pt>
              </c:numCache>
            </c:numRef>
          </c:yVal>
        </c:ser>
        <c:axId val="760327080"/>
        <c:axId val="760322104"/>
      </c:scatterChart>
      <c:valAx>
        <c:axId val="760327080"/>
        <c:scaling>
          <c:orientation val="minMax"/>
          <c:max val="3.4"/>
          <c:min val="1.6"/>
        </c:scaling>
        <c:axPos val="b"/>
        <c:numFmt formatCode="General" sourceLinked="1"/>
        <c:tickLblPos val="nextTo"/>
        <c:crossAx val="760322104"/>
        <c:crosses val="autoZero"/>
        <c:crossBetween val="midCat"/>
        <c:majorUnit val="0.4"/>
      </c:valAx>
      <c:valAx>
        <c:axId val="760322104"/>
        <c:scaling>
          <c:orientation val="minMax"/>
          <c:min val="0.0"/>
        </c:scaling>
        <c:axPos val="l"/>
        <c:majorGridlines/>
        <c:numFmt formatCode="General" sourceLinked="1"/>
        <c:tickLblPos val="nextTo"/>
        <c:crossAx val="760327080"/>
        <c:crosses val="autoZero"/>
        <c:crossBetween val="midCat"/>
        <c:majorUnit val="0.2"/>
        <c:minorUnit val="0.01"/>
      </c:valAx>
    </c:plotArea>
    <c:plotVisOnly val="1"/>
  </c:chart>
  <c:txPr>
    <a:bodyPr/>
    <a:lstStyle/>
    <a:p>
      <a:pPr>
        <a:defRPr sz="1600"/>
      </a:pPr>
      <a:endParaRPr lang="en-US"/>
    </a:p>
  </c:txPr>
  <c:externalData r:id="rId1"/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.0816591676040495"/>
          <c:y val="0.0462962962962963"/>
          <c:w val="0.849620672415948"/>
          <c:h val="0.800849008457276"/>
        </c:manualLayout>
      </c:layout>
      <c:scatterChart>
        <c:scatterStyle val="lineMarker"/>
        <c:ser>
          <c:idx val="0"/>
          <c:order val="0"/>
          <c:tx>
            <c:strRef>
              <c:f>'scatter-speedup-energy_barnes.t'!$B$1</c:f>
              <c:strCache>
                <c:ptCount val="1"/>
                <c:pt idx="0">
                  <c:v>1p-1600</c:v>
                </c:pt>
              </c:strCache>
            </c:strRef>
          </c:tx>
          <c:spPr>
            <a:ln w="47625">
              <a:noFill/>
            </a:ln>
          </c:spPr>
          <c:marker>
            <c:symbol val="square"/>
            <c:size val="9"/>
            <c:spPr>
              <a:solidFill>
                <a:srgbClr val="FF0000"/>
              </a:solidFill>
              <a:ln>
                <a:noFill/>
              </a:ln>
            </c:spPr>
          </c:marker>
          <c:xVal>
            <c:numRef>
              <c:f>'scatter-speedup-energy_barnes.t'!$A$2:$A$16</c:f>
              <c:numCache>
                <c:formatCode>General</c:formatCode>
                <c:ptCount val="15"/>
                <c:pt idx="0">
                  <c:v>0.537117132367</c:v>
                </c:pt>
                <c:pt idx="1">
                  <c:v>0.545758731473</c:v>
                </c:pt>
                <c:pt idx="2">
                  <c:v>0.581023319815</c:v>
                </c:pt>
                <c:pt idx="3">
                  <c:v>0.61070814057</c:v>
                </c:pt>
                <c:pt idx="4">
                  <c:v>0.666117604518</c:v>
                </c:pt>
                <c:pt idx="5">
                  <c:v>0.668674235447</c:v>
                </c:pt>
                <c:pt idx="6">
                  <c:v>0.674166284239</c:v>
                </c:pt>
                <c:pt idx="7">
                  <c:v>0.684013911258</c:v>
                </c:pt>
                <c:pt idx="8">
                  <c:v>0.698631197516</c:v>
                </c:pt>
                <c:pt idx="9">
                  <c:v>0.731852045194</c:v>
                </c:pt>
                <c:pt idx="10">
                  <c:v>0.940643575435</c:v>
                </c:pt>
                <c:pt idx="11">
                  <c:v>0.946377086664</c:v>
                </c:pt>
                <c:pt idx="12">
                  <c:v>0.958686314337</c:v>
                </c:pt>
                <c:pt idx="13">
                  <c:v>0.960787993013</c:v>
                </c:pt>
                <c:pt idx="14">
                  <c:v>1.0</c:v>
                </c:pt>
              </c:numCache>
            </c:numRef>
          </c:xVal>
          <c:yVal>
            <c:numRef>
              <c:f>'scatter-speedup-energy_barnes.t'!$B$2:$B$16</c:f>
              <c:numCache>
                <c:formatCode>General</c:formatCode>
                <c:ptCount val="15"/>
                <c:pt idx="14">
                  <c:v>1.0</c:v>
                </c:pt>
              </c:numCache>
            </c:numRef>
          </c:yVal>
        </c:ser>
        <c:ser>
          <c:idx val="4"/>
          <c:order val="1"/>
          <c:tx>
            <c:strRef>
              <c:f>'scatter-speedup-energy_barnes.t'!$F$1</c:f>
              <c:strCache>
                <c:ptCount val="1"/>
                <c:pt idx="0">
                  <c:v>1p-3200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FF0000"/>
              </a:solidFill>
              <a:ln>
                <a:noFill/>
              </a:ln>
            </c:spPr>
          </c:marker>
          <c:xVal>
            <c:numRef>
              <c:f>'scatter-speedup-energy_barnes.t'!$A$2:$A$16</c:f>
              <c:numCache>
                <c:formatCode>General</c:formatCode>
                <c:ptCount val="15"/>
                <c:pt idx="0">
                  <c:v>0.537117132367</c:v>
                </c:pt>
                <c:pt idx="1">
                  <c:v>0.545758731473</c:v>
                </c:pt>
                <c:pt idx="2">
                  <c:v>0.581023319815</c:v>
                </c:pt>
                <c:pt idx="3">
                  <c:v>0.61070814057</c:v>
                </c:pt>
                <c:pt idx="4">
                  <c:v>0.666117604518</c:v>
                </c:pt>
                <c:pt idx="5">
                  <c:v>0.668674235447</c:v>
                </c:pt>
                <c:pt idx="6">
                  <c:v>0.674166284239</c:v>
                </c:pt>
                <c:pt idx="7">
                  <c:v>0.684013911258</c:v>
                </c:pt>
                <c:pt idx="8">
                  <c:v>0.698631197516</c:v>
                </c:pt>
                <c:pt idx="9">
                  <c:v>0.731852045194</c:v>
                </c:pt>
                <c:pt idx="10">
                  <c:v>0.940643575435</c:v>
                </c:pt>
                <c:pt idx="11">
                  <c:v>0.946377086664</c:v>
                </c:pt>
                <c:pt idx="12">
                  <c:v>0.958686314337</c:v>
                </c:pt>
                <c:pt idx="13">
                  <c:v>0.960787993013</c:v>
                </c:pt>
                <c:pt idx="14">
                  <c:v>1.0</c:v>
                </c:pt>
              </c:numCache>
            </c:numRef>
          </c:xVal>
          <c:yVal>
            <c:numRef>
              <c:f>'scatter-speedup-energy_barnes.t'!$F$2:$F$16</c:f>
              <c:numCache>
                <c:formatCode>General</c:formatCode>
                <c:ptCount val="15"/>
                <c:pt idx="13">
                  <c:v>2.000468314059999</c:v>
                </c:pt>
              </c:numCache>
            </c:numRef>
          </c:yVal>
        </c:ser>
        <c:ser>
          <c:idx val="10"/>
          <c:order val="2"/>
          <c:tx>
            <c:strRef>
              <c:f>'scatter-speedup-energy_barnes.t'!$L$1</c:f>
              <c:strCache>
                <c:ptCount val="1"/>
                <c:pt idx="0">
                  <c:v>4p-1600</c:v>
                </c:pt>
              </c:strCache>
            </c:strRef>
          </c:tx>
          <c:spPr>
            <a:ln w="47625">
              <a:noFill/>
            </a:ln>
          </c:spPr>
          <c:marker>
            <c:symbol val="square"/>
            <c:size val="9"/>
            <c:spPr>
              <a:solidFill>
                <a:srgbClr val="FF0000"/>
              </a:solidFill>
              <a:ln>
                <a:noFill/>
              </a:ln>
            </c:spPr>
          </c:marker>
          <c:xVal>
            <c:numRef>
              <c:f>'scatter-speedup-energy_barnes.t'!$A$2:$A$16</c:f>
              <c:numCache>
                <c:formatCode>General</c:formatCode>
                <c:ptCount val="15"/>
                <c:pt idx="0">
                  <c:v>0.537117132367</c:v>
                </c:pt>
                <c:pt idx="1">
                  <c:v>0.545758731473</c:v>
                </c:pt>
                <c:pt idx="2">
                  <c:v>0.581023319815</c:v>
                </c:pt>
                <c:pt idx="3">
                  <c:v>0.61070814057</c:v>
                </c:pt>
                <c:pt idx="4">
                  <c:v>0.666117604518</c:v>
                </c:pt>
                <c:pt idx="5">
                  <c:v>0.668674235447</c:v>
                </c:pt>
                <c:pt idx="6">
                  <c:v>0.674166284239</c:v>
                </c:pt>
                <c:pt idx="7">
                  <c:v>0.684013911258</c:v>
                </c:pt>
                <c:pt idx="8">
                  <c:v>0.698631197516</c:v>
                </c:pt>
                <c:pt idx="9">
                  <c:v>0.731852045194</c:v>
                </c:pt>
                <c:pt idx="10">
                  <c:v>0.940643575435</c:v>
                </c:pt>
                <c:pt idx="11">
                  <c:v>0.946377086664</c:v>
                </c:pt>
                <c:pt idx="12">
                  <c:v>0.958686314337</c:v>
                </c:pt>
                <c:pt idx="13">
                  <c:v>0.960787993013</c:v>
                </c:pt>
                <c:pt idx="14">
                  <c:v>1.0</c:v>
                </c:pt>
              </c:numCache>
            </c:numRef>
          </c:xVal>
          <c:yVal>
            <c:numRef>
              <c:f>'scatter-speedup-energy_barnes.t'!$L$2:$L$16</c:f>
              <c:numCache>
                <c:formatCode>General</c:formatCode>
                <c:ptCount val="15"/>
                <c:pt idx="0">
                  <c:v>3.93362458522</c:v>
                </c:pt>
              </c:numCache>
            </c:numRef>
          </c:yVal>
        </c:ser>
        <c:ser>
          <c:idx val="14"/>
          <c:order val="3"/>
          <c:tx>
            <c:strRef>
              <c:f>'scatter-speedup-energy_barnes.t'!$P$1</c:f>
              <c:strCache>
                <c:ptCount val="1"/>
                <c:pt idx="0">
                  <c:v>4p-3200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FF0000"/>
              </a:solidFill>
              <a:ln>
                <a:noFill/>
              </a:ln>
            </c:spPr>
          </c:marker>
          <c:xVal>
            <c:numRef>
              <c:f>'scatter-speedup-energy_barnes.t'!$A$2:$A$16</c:f>
              <c:numCache>
                <c:formatCode>General</c:formatCode>
                <c:ptCount val="15"/>
                <c:pt idx="0">
                  <c:v>0.537117132367</c:v>
                </c:pt>
                <c:pt idx="1">
                  <c:v>0.545758731473</c:v>
                </c:pt>
                <c:pt idx="2">
                  <c:v>0.581023319815</c:v>
                </c:pt>
                <c:pt idx="3">
                  <c:v>0.61070814057</c:v>
                </c:pt>
                <c:pt idx="4">
                  <c:v>0.666117604518</c:v>
                </c:pt>
                <c:pt idx="5">
                  <c:v>0.668674235447</c:v>
                </c:pt>
                <c:pt idx="6">
                  <c:v>0.674166284239</c:v>
                </c:pt>
                <c:pt idx="7">
                  <c:v>0.684013911258</c:v>
                </c:pt>
                <c:pt idx="8">
                  <c:v>0.698631197516</c:v>
                </c:pt>
                <c:pt idx="9">
                  <c:v>0.731852045194</c:v>
                </c:pt>
                <c:pt idx="10">
                  <c:v>0.940643575435</c:v>
                </c:pt>
                <c:pt idx="11">
                  <c:v>0.946377086664</c:v>
                </c:pt>
                <c:pt idx="12">
                  <c:v>0.958686314337</c:v>
                </c:pt>
                <c:pt idx="13">
                  <c:v>0.960787993013</c:v>
                </c:pt>
                <c:pt idx="14">
                  <c:v>1.0</c:v>
                </c:pt>
              </c:numCache>
            </c:numRef>
          </c:xVal>
          <c:yVal>
            <c:numRef>
              <c:f>'scatter-speedup-energy_barnes.t'!$P$2:$P$16</c:f>
              <c:numCache>
                <c:formatCode>General</c:formatCode>
                <c:ptCount val="15"/>
                <c:pt idx="4">
                  <c:v>7.86242368311</c:v>
                </c:pt>
              </c:numCache>
            </c:numRef>
          </c:yVal>
        </c:ser>
        <c:axId val="761007608"/>
        <c:axId val="761104296"/>
      </c:scatterChart>
      <c:valAx>
        <c:axId val="761007608"/>
        <c:scaling>
          <c:orientation val="minMax"/>
          <c:max val="1.5"/>
        </c:scaling>
        <c:axPos val="b"/>
        <c:numFmt formatCode="General" sourceLinked="1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761104296"/>
        <c:crosses val="autoZero"/>
        <c:crossBetween val="midCat"/>
        <c:majorUnit val="0.5"/>
        <c:minorUnit val="0.1"/>
      </c:valAx>
      <c:valAx>
        <c:axId val="761104296"/>
        <c:scaling>
          <c:orientation val="minMax"/>
          <c:max val="8.0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761007608"/>
        <c:crosses val="autoZero"/>
        <c:crossBetween val="midCat"/>
      </c:valAx>
    </c:plotArea>
    <c:plotVisOnly val="1"/>
  </c:chart>
  <c:externalData r:id="rId1"/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scatterChart>
        <c:scatterStyle val="lineMarker"/>
        <c:ser>
          <c:idx val="0"/>
          <c:order val="0"/>
          <c:tx>
            <c:strRef>
              <c:f>'scatter-speedup-power_barnes.tx'!$B$1</c:f>
              <c:strCache>
                <c:ptCount val="1"/>
                <c:pt idx="0">
                  <c:v>1p-1600</c:v>
                </c:pt>
              </c:strCache>
            </c:strRef>
          </c:tx>
          <c:spPr>
            <a:ln w="47625">
              <a:noFill/>
            </a:ln>
          </c:spPr>
          <c:marker>
            <c:symbol val="square"/>
            <c:size val="9"/>
            <c:spPr>
              <a:solidFill>
                <a:srgbClr val="FF0000"/>
              </a:solidFill>
              <a:ln>
                <a:noFill/>
              </a:ln>
            </c:spPr>
          </c:marker>
          <c:xVal>
            <c:numRef>
              <c:f>'scatter-speedup-power_barnes.tx'!$A$2:$A$16</c:f>
              <c:numCache>
                <c:formatCode>General</c:formatCode>
                <c:ptCount val="15"/>
                <c:pt idx="0">
                  <c:v>1.0</c:v>
                </c:pt>
                <c:pt idx="1">
                  <c:v>1.20329276251</c:v>
                </c:pt>
                <c:pt idx="2">
                  <c:v>1.36841886851</c:v>
                </c:pt>
                <c:pt idx="3">
                  <c:v>1.39581216967</c:v>
                </c:pt>
                <c:pt idx="4">
                  <c:v>1.6569522403</c:v>
                </c:pt>
                <c:pt idx="5">
                  <c:v>1.6812990752</c:v>
                </c:pt>
                <c:pt idx="6">
                  <c:v>1.92313540711</c:v>
                </c:pt>
                <c:pt idx="7">
                  <c:v>1.99154253476</c:v>
                </c:pt>
                <c:pt idx="8">
                  <c:v>2.11209321675</c:v>
                </c:pt>
                <c:pt idx="9">
                  <c:v>2.50229399822</c:v>
                </c:pt>
                <c:pt idx="10">
                  <c:v>2.69957396163</c:v>
                </c:pt>
                <c:pt idx="11">
                  <c:v>3.0869731415</c:v>
                </c:pt>
                <c:pt idx="12">
                  <c:v>3.61862152686</c:v>
                </c:pt>
                <c:pt idx="13">
                  <c:v>4.30202019684</c:v>
                </c:pt>
                <c:pt idx="14">
                  <c:v>5.23551144418</c:v>
                </c:pt>
              </c:numCache>
            </c:numRef>
          </c:xVal>
          <c:yVal>
            <c:numRef>
              <c:f>'scatter-speedup-power_barnes.tx'!$B$2:$B$16</c:f>
              <c:numCache>
                <c:formatCode>General</c:formatCode>
                <c:ptCount val="15"/>
                <c:pt idx="0">
                  <c:v>1.0</c:v>
                </c:pt>
              </c:numCache>
            </c:numRef>
          </c:yVal>
        </c:ser>
        <c:ser>
          <c:idx val="4"/>
          <c:order val="1"/>
          <c:tx>
            <c:strRef>
              <c:f>'scatter-speedup-power_barnes.tx'!$F$1</c:f>
              <c:strCache>
                <c:ptCount val="1"/>
                <c:pt idx="0">
                  <c:v>1p-3200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xVal>
            <c:numRef>
              <c:f>'scatter-speedup-power_barnes.tx'!$A$2:$A$16</c:f>
              <c:numCache>
                <c:formatCode>General</c:formatCode>
                <c:ptCount val="15"/>
                <c:pt idx="0">
                  <c:v>1.0</c:v>
                </c:pt>
                <c:pt idx="1">
                  <c:v>1.20329276251</c:v>
                </c:pt>
                <c:pt idx="2">
                  <c:v>1.36841886851</c:v>
                </c:pt>
                <c:pt idx="3">
                  <c:v>1.39581216967</c:v>
                </c:pt>
                <c:pt idx="4">
                  <c:v>1.6569522403</c:v>
                </c:pt>
                <c:pt idx="5">
                  <c:v>1.6812990752</c:v>
                </c:pt>
                <c:pt idx="6">
                  <c:v>1.92313540711</c:v>
                </c:pt>
                <c:pt idx="7">
                  <c:v>1.99154253476</c:v>
                </c:pt>
                <c:pt idx="8">
                  <c:v>2.11209321675</c:v>
                </c:pt>
                <c:pt idx="9">
                  <c:v>2.50229399822</c:v>
                </c:pt>
                <c:pt idx="10">
                  <c:v>2.69957396163</c:v>
                </c:pt>
                <c:pt idx="11">
                  <c:v>3.0869731415</c:v>
                </c:pt>
                <c:pt idx="12">
                  <c:v>3.61862152686</c:v>
                </c:pt>
                <c:pt idx="13">
                  <c:v>4.30202019684</c:v>
                </c:pt>
                <c:pt idx="14">
                  <c:v>5.23551144418</c:v>
                </c:pt>
              </c:numCache>
            </c:numRef>
          </c:xVal>
          <c:yVal>
            <c:numRef>
              <c:f>'scatter-speedup-power_barnes.tx'!$F$2:$F$16</c:f>
              <c:numCache>
                <c:formatCode>General</c:formatCode>
                <c:ptCount val="15"/>
                <c:pt idx="6">
                  <c:v>2.000468314059999</c:v>
                </c:pt>
              </c:numCache>
            </c:numRef>
          </c:yVal>
        </c:ser>
        <c:ser>
          <c:idx val="10"/>
          <c:order val="2"/>
          <c:tx>
            <c:strRef>
              <c:f>'scatter-speedup-power_barnes.tx'!$L$1</c:f>
              <c:strCache>
                <c:ptCount val="1"/>
                <c:pt idx="0">
                  <c:v>4p-1600</c:v>
                </c:pt>
              </c:strCache>
            </c:strRef>
          </c:tx>
          <c:spPr>
            <a:ln w="47625">
              <a:noFill/>
            </a:ln>
          </c:spPr>
          <c:marker>
            <c:symbol val="square"/>
            <c:size val="9"/>
            <c:spPr>
              <a:solidFill>
                <a:srgbClr val="FF0000"/>
              </a:solidFill>
              <a:ln>
                <a:noFill/>
              </a:ln>
            </c:spPr>
          </c:marker>
          <c:xVal>
            <c:numRef>
              <c:f>'scatter-speedup-power_barnes.tx'!$A$2:$A$16</c:f>
              <c:numCache>
                <c:formatCode>General</c:formatCode>
                <c:ptCount val="15"/>
                <c:pt idx="0">
                  <c:v>1.0</c:v>
                </c:pt>
                <c:pt idx="1">
                  <c:v>1.20329276251</c:v>
                </c:pt>
                <c:pt idx="2">
                  <c:v>1.36841886851</c:v>
                </c:pt>
                <c:pt idx="3">
                  <c:v>1.39581216967</c:v>
                </c:pt>
                <c:pt idx="4">
                  <c:v>1.6569522403</c:v>
                </c:pt>
                <c:pt idx="5">
                  <c:v>1.6812990752</c:v>
                </c:pt>
                <c:pt idx="6">
                  <c:v>1.92313540711</c:v>
                </c:pt>
                <c:pt idx="7">
                  <c:v>1.99154253476</c:v>
                </c:pt>
                <c:pt idx="8">
                  <c:v>2.11209321675</c:v>
                </c:pt>
                <c:pt idx="9">
                  <c:v>2.50229399822</c:v>
                </c:pt>
                <c:pt idx="10">
                  <c:v>2.69957396163</c:v>
                </c:pt>
                <c:pt idx="11">
                  <c:v>3.0869731415</c:v>
                </c:pt>
                <c:pt idx="12">
                  <c:v>3.61862152686</c:v>
                </c:pt>
                <c:pt idx="13">
                  <c:v>4.30202019684</c:v>
                </c:pt>
                <c:pt idx="14">
                  <c:v>5.23551144418</c:v>
                </c:pt>
              </c:numCache>
            </c:numRef>
          </c:xVal>
          <c:yVal>
            <c:numRef>
              <c:f>'scatter-speedup-power_barnes.tx'!$L$2:$L$16</c:f>
              <c:numCache>
                <c:formatCode>General</c:formatCode>
                <c:ptCount val="15"/>
                <c:pt idx="8">
                  <c:v>3.93362458522</c:v>
                </c:pt>
              </c:numCache>
            </c:numRef>
          </c:yVal>
        </c:ser>
        <c:ser>
          <c:idx val="14"/>
          <c:order val="3"/>
          <c:tx>
            <c:strRef>
              <c:f>'scatter-speedup-power_barnes.tx'!$P$1</c:f>
              <c:strCache>
                <c:ptCount val="1"/>
                <c:pt idx="0">
                  <c:v>4p-3200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FF0000"/>
              </a:solidFill>
              <a:ln>
                <a:noFill/>
              </a:ln>
            </c:spPr>
          </c:marker>
          <c:xVal>
            <c:numRef>
              <c:f>'scatter-speedup-power_barnes.tx'!$A$2:$A$16</c:f>
              <c:numCache>
                <c:formatCode>General</c:formatCode>
                <c:ptCount val="15"/>
                <c:pt idx="0">
                  <c:v>1.0</c:v>
                </c:pt>
                <c:pt idx="1">
                  <c:v>1.20329276251</c:v>
                </c:pt>
                <c:pt idx="2">
                  <c:v>1.36841886851</c:v>
                </c:pt>
                <c:pt idx="3">
                  <c:v>1.39581216967</c:v>
                </c:pt>
                <c:pt idx="4">
                  <c:v>1.6569522403</c:v>
                </c:pt>
                <c:pt idx="5">
                  <c:v>1.6812990752</c:v>
                </c:pt>
                <c:pt idx="6">
                  <c:v>1.92313540711</c:v>
                </c:pt>
                <c:pt idx="7">
                  <c:v>1.99154253476</c:v>
                </c:pt>
                <c:pt idx="8">
                  <c:v>2.11209321675</c:v>
                </c:pt>
                <c:pt idx="9">
                  <c:v>2.50229399822</c:v>
                </c:pt>
                <c:pt idx="10">
                  <c:v>2.69957396163</c:v>
                </c:pt>
                <c:pt idx="11">
                  <c:v>3.0869731415</c:v>
                </c:pt>
                <c:pt idx="12">
                  <c:v>3.61862152686</c:v>
                </c:pt>
                <c:pt idx="13">
                  <c:v>4.30202019684</c:v>
                </c:pt>
                <c:pt idx="14">
                  <c:v>5.23551144418</c:v>
                </c:pt>
              </c:numCache>
            </c:numRef>
          </c:xVal>
          <c:yVal>
            <c:numRef>
              <c:f>'scatter-speedup-power_barnes.tx'!$P$2:$P$16</c:f>
              <c:numCache>
                <c:formatCode>General</c:formatCode>
                <c:ptCount val="15"/>
                <c:pt idx="14">
                  <c:v>7.86242368311</c:v>
                </c:pt>
              </c:numCache>
            </c:numRef>
          </c:yVal>
        </c:ser>
        <c:axId val="761682504"/>
        <c:axId val="761688392"/>
      </c:scatterChart>
      <c:valAx>
        <c:axId val="761682504"/>
        <c:scaling>
          <c:orientation val="minMax"/>
        </c:scaling>
        <c:axPos val="b"/>
        <c:numFmt formatCode="General" sourceLinked="1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761688392"/>
        <c:crosses val="autoZero"/>
        <c:crossBetween val="midCat"/>
      </c:valAx>
      <c:valAx>
        <c:axId val="761688392"/>
        <c:scaling>
          <c:orientation val="minMax"/>
          <c:max val="8.0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761682504"/>
        <c:crosses val="autoZero"/>
        <c:crossBetween val="midCat"/>
      </c:valAx>
    </c:plotArea>
    <c:plotVisOnly val="1"/>
  </c:chart>
  <c:externalData r:id="rId1"/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.101145888013998"/>
          <c:y val="0.0740740740740741"/>
          <c:w val="0.856986001749781"/>
          <c:h val="0.799648950131234"/>
        </c:manualLayout>
      </c:layout>
      <c:scatterChart>
        <c:scatterStyle val="lineMarker"/>
        <c:ser>
          <c:idx val="1"/>
          <c:order val="0"/>
          <c:tx>
            <c:strRef>
              <c:f>'sprint_speedup_barnes.txt'!$C$1</c:f>
              <c:strCache>
                <c:ptCount val="1"/>
                <c:pt idx="0">
                  <c:v>4p-3200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pPr>
              <a:solidFill>
                <a:schemeClr val="tx2"/>
              </a:solidFill>
              <a:ln>
                <a:noFill/>
              </a:ln>
            </c:spPr>
          </c:marker>
          <c:xVal>
            <c:numRef>
              <c:f>'sprint_speedup_barnes.txt'!$A$2:$A$12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1000.0</c:v>
                </c:pt>
              </c:numCache>
            </c:numRef>
          </c:xVal>
          <c:yVal>
            <c:numRef>
              <c:f>'sprint_speedup_barnes.txt'!$C$2:$C$12</c:f>
              <c:numCache>
                <c:formatCode>General</c:formatCode>
                <c:ptCount val="11"/>
                <c:pt idx="0">
                  <c:v>0.909897393439</c:v>
                </c:pt>
                <c:pt idx="1">
                  <c:v>1.06199131105</c:v>
                </c:pt>
                <c:pt idx="2">
                  <c:v>1.27498994558</c:v>
                </c:pt>
                <c:pt idx="3">
                  <c:v>1.59261316826</c:v>
                </c:pt>
                <c:pt idx="4">
                  <c:v>2.12092277049</c:v>
                </c:pt>
                <c:pt idx="5">
                  <c:v>3.1778015188</c:v>
                </c:pt>
                <c:pt idx="6">
                  <c:v>6.29819540708</c:v>
                </c:pt>
                <c:pt idx="7">
                  <c:v>7.29</c:v>
                </c:pt>
                <c:pt idx="8">
                  <c:v>7.343055760139999</c:v>
                </c:pt>
                <c:pt idx="9">
                  <c:v>7.50125413416</c:v>
                </c:pt>
                <c:pt idx="10">
                  <c:v>9.91297333418</c:v>
                </c:pt>
              </c:numCache>
            </c:numRef>
          </c:yVal>
        </c:ser>
        <c:ser>
          <c:idx val="2"/>
          <c:order val="1"/>
          <c:tx>
            <c:strRef>
              <c:f>'sprint_speedup_barnes.txt'!$D$1</c:f>
              <c:strCache>
                <c:ptCount val="1"/>
                <c:pt idx="0">
                  <c:v>1p-1600</c:v>
                </c:pt>
              </c:strCache>
            </c:strRef>
          </c:tx>
          <c:xVal>
            <c:numRef>
              <c:f>'sprint_speedup_barnes.txt'!$A$2:$A$12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1000.0</c:v>
                </c:pt>
              </c:numCache>
            </c:numRef>
          </c:xVal>
          <c:yVal>
            <c:numRef>
              <c:f>'sprint_speedup_barnes.txt'!$D$2:$D$12</c:f>
              <c:numCache>
                <c:formatCode>General</c:formatCode>
                <c:ptCount val="11"/>
                <c:pt idx="10">
                  <c:v>1.0</c:v>
                </c:pt>
              </c:numCache>
            </c:numRef>
          </c:yVal>
        </c:ser>
        <c:axId val="761850296"/>
        <c:axId val="761853368"/>
      </c:scatterChart>
      <c:valAx>
        <c:axId val="761850296"/>
        <c:scaling>
          <c:orientation val="minMax"/>
          <c:max val="100.0"/>
        </c:scaling>
        <c:axPos val="b"/>
        <c:numFmt formatCode="General" sourceLinked="1"/>
        <c:tickLblPos val="nextTo"/>
        <c:crossAx val="761853368"/>
        <c:crosses val="autoZero"/>
        <c:crossBetween val="midCat"/>
      </c:valAx>
      <c:valAx>
        <c:axId val="761853368"/>
        <c:scaling>
          <c:orientation val="minMax"/>
          <c:max val="8.0"/>
          <c:min val="0.0"/>
        </c:scaling>
        <c:axPos val="l"/>
        <c:majorGridlines/>
        <c:numFmt formatCode="General" sourceLinked="1"/>
        <c:tickLblPos val="nextTo"/>
        <c:crossAx val="761850296"/>
        <c:crosses val="autoZero"/>
        <c:crossBetween val="midCat"/>
        <c:majorUnit val="2.0"/>
      </c:valAx>
    </c:plotArea>
    <c:plotVisOnly val="1"/>
  </c:chart>
  <c:txPr>
    <a:bodyPr/>
    <a:lstStyle/>
    <a:p>
      <a:pPr>
        <a:defRPr sz="1600"/>
      </a:pPr>
      <a:endParaRPr lang="en-US"/>
    </a:p>
  </c:txPr>
  <c:externalData r:id="rId1"/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>
        <c:manualLayout>
          <c:layoutTarget val="inner"/>
          <c:xMode val="edge"/>
          <c:yMode val="edge"/>
          <c:x val="0.0991336917611096"/>
          <c:y val="0.0763888888888889"/>
          <c:w val="0.864558204307206"/>
          <c:h val="0.701273512685914"/>
        </c:manualLayout>
      </c:layout>
      <c:scatterChart>
        <c:scatterStyle val="lineMarker"/>
        <c:ser>
          <c:idx val="1"/>
          <c:order val="0"/>
          <c:tx>
            <c:strRef>
              <c:f>'sprint_energy_barnes.txt'!$C$1</c:f>
              <c:strCache>
                <c:ptCount val="1"/>
                <c:pt idx="0">
                  <c:v>4p-3200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pPr>
              <a:solidFill>
                <a:schemeClr val="tx2"/>
              </a:solidFill>
              <a:ln>
                <a:noFill/>
              </a:ln>
            </c:spPr>
          </c:marker>
          <c:xVal>
            <c:numRef>
              <c:f>'sprint_energy_barnes.txt'!$A$2:$A$12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1000.0</c:v>
                </c:pt>
              </c:numCache>
            </c:numRef>
          </c:xVal>
          <c:yVal>
            <c:numRef>
              <c:f>'sprint_energy_barnes.txt'!$C$2:$C$12</c:f>
              <c:numCache>
                <c:formatCode>General</c:formatCode>
                <c:ptCount val="11"/>
                <c:pt idx="0">
                  <c:v>1.20655265</c:v>
                </c:pt>
                <c:pt idx="1">
                  <c:v>1.156165208</c:v>
                </c:pt>
                <c:pt idx="2">
                  <c:v>1.070660722</c:v>
                </c:pt>
                <c:pt idx="3">
                  <c:v>0.894004051</c:v>
                </c:pt>
                <c:pt idx="4">
                  <c:v>0.815211077</c:v>
                </c:pt>
                <c:pt idx="5">
                  <c:v>0.736520938</c:v>
                </c:pt>
                <c:pt idx="6">
                  <c:v>0.66159349</c:v>
                </c:pt>
                <c:pt idx="7">
                  <c:v>0.626067664</c:v>
                </c:pt>
                <c:pt idx="8">
                  <c:v>0.630013919</c:v>
                </c:pt>
                <c:pt idx="9">
                  <c:v>0.631443939</c:v>
                </c:pt>
                <c:pt idx="10">
                  <c:v>0.63370588</c:v>
                </c:pt>
              </c:numCache>
            </c:numRef>
          </c:yVal>
        </c:ser>
        <c:ser>
          <c:idx val="2"/>
          <c:order val="1"/>
          <c:tx>
            <c:strRef>
              <c:f>'sprint_energy_barnes.txt'!$D$1</c:f>
              <c:strCache>
                <c:ptCount val="1"/>
                <c:pt idx="0">
                  <c:v>1p-1600</c:v>
                </c:pt>
              </c:strCache>
            </c:strRef>
          </c:tx>
          <c:xVal>
            <c:numRef>
              <c:f>'sprint_energy_barnes.txt'!$A$2:$A$12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1000.0</c:v>
                </c:pt>
              </c:numCache>
            </c:numRef>
          </c:xVal>
          <c:yVal>
            <c:numRef>
              <c:f>'sprint_energy_barnes.txt'!$D$2:$D$12</c:f>
              <c:numCache>
                <c:formatCode>General</c:formatCode>
                <c:ptCount val="11"/>
                <c:pt idx="10">
                  <c:v>1.0</c:v>
                </c:pt>
              </c:numCache>
            </c:numRef>
          </c:yVal>
        </c:ser>
        <c:axId val="761895544"/>
        <c:axId val="761898616"/>
      </c:scatterChart>
      <c:valAx>
        <c:axId val="761895544"/>
        <c:scaling>
          <c:orientation val="minMax"/>
          <c:max val="100.0"/>
        </c:scaling>
        <c:axPos val="b"/>
        <c:numFmt formatCode="General" sourceLinked="1"/>
        <c:tickLblPos val="nextTo"/>
        <c:crossAx val="761898616"/>
        <c:crosses val="autoZero"/>
        <c:crossBetween val="midCat"/>
      </c:valAx>
      <c:valAx>
        <c:axId val="761898616"/>
        <c:scaling>
          <c:orientation val="minMax"/>
          <c:max val="1.5"/>
          <c:min val="0.0"/>
        </c:scaling>
        <c:axPos val="l"/>
        <c:majorGridlines/>
        <c:numFmt formatCode="General" sourceLinked="1"/>
        <c:tickLblPos val="nextTo"/>
        <c:crossAx val="761895544"/>
        <c:crosses val="autoZero"/>
        <c:crossBetween val="midCat"/>
      </c:valAx>
      <c:spPr>
        <a:noFill/>
        <a:ln w="25400">
          <a:noFill/>
        </a:ln>
      </c:spPr>
    </c:plotArea>
    <c:plotVisOnly val="1"/>
  </c:chart>
  <c:txPr>
    <a:bodyPr/>
    <a:lstStyle/>
    <a:p>
      <a:pPr>
        <a:defRPr sz="1600"/>
      </a:pPr>
      <a:endParaRPr lang="en-US"/>
    </a:p>
  </c:tx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D680C-0686-374A-9939-0E7ADC8499C3}" type="datetime1">
              <a:rPr lang="en-US" smtClean="0"/>
              <a:pPr/>
              <a:t>6/11/12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F9E78-360F-8D4C-BEA0-D2F7CD08F1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49AC-71A5-B943-A575-AED161E5E285}" type="datetime1">
              <a:rPr lang="en-US" smtClean="0"/>
              <a:pPr/>
              <a:t>6/11/12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D5D6B-5D86-1045-BBDF-7525F8238F9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Change title:</a:t>
            </a:r>
          </a:p>
          <a:p>
            <a:pPr>
              <a:buFontTx/>
              <a:buChar char="-"/>
            </a:pPr>
            <a:r>
              <a:rPr lang="en-US" baseline="0" dirty="0" smtClean="0"/>
              <a:t>From Feasible to Practical Computational Sprinting?</a:t>
            </a:r>
          </a:p>
          <a:p>
            <a:pPr>
              <a:buFontTx/>
              <a:buChar char="-"/>
            </a:pPr>
            <a:r>
              <a:rPr lang="en-US" baseline="0" dirty="0" smtClean="0"/>
              <a:t> Computational Sprinting: Preliminary Findings with a real system prototype</a:t>
            </a:r>
          </a:p>
          <a:p>
            <a:pPr>
              <a:buFontTx/>
              <a:buChar char="-"/>
            </a:pPr>
            <a:r>
              <a:rPr lang="en-US" dirty="0" smtClean="0"/>
              <a:t>Applying sprinting to a real system: preliminary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</a:t>
            </a:r>
            <a:r>
              <a:rPr lang="en-US" baseline="0" dirty="0" smtClean="0"/>
              <a:t> contrast to our expectation to being energy neutral, sprinting is actually energy efficient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Transition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Start with sustainable computation?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Move methodology</a:t>
            </a:r>
            <a:r>
              <a:rPr lang="en-US" baseline="0" dirty="0" smtClean="0"/>
              <a:t> to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Background power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D5D6B-5D86-1045-BBDF-7525F8238F9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533400" y="1447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895600"/>
            <a:ext cx="77724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 sz="24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Computational Sprinting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A0CC57-CE7D-8143-BD13-67094D272E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7"/>
          <p:cNvSpPr txBox="1">
            <a:spLocks noChangeArrowheads="1"/>
          </p:cNvSpPr>
          <p:nvPr userDrawn="1"/>
        </p:nvSpPr>
        <p:spPr bwMode="auto">
          <a:xfrm>
            <a:off x="4953000" y="6400800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Sprinting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4367" y="6394457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[</a:t>
            </a:r>
            <a:fld id="{FDA0CC57-CE7D-8143-BD13-67094D272EE6}" type="slidenum">
              <a:rPr lang="en-US" sz="1400" smtClean="0"/>
              <a:pPr/>
              <a:t>‹#›</a:t>
            </a:fld>
            <a:r>
              <a:rPr lang="en-US" smtClean="0"/>
              <a:t>]</a:t>
            </a: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00600" y="6394457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7" name="Isosceles Triangle 6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 userDrawn="1"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Calibri"/>
          <a:ea typeface="+mj-ea"/>
          <a:cs typeface="Calibri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780000"/>
          </a:solidFill>
          <a:latin typeface="Arial" charset="0"/>
        </a:defRPr>
      </a:lvl9pPr>
    </p:titleStyle>
    <p:bodyStyle>
      <a:lvl1pPr marL="227013" indent="-227013" algn="l" rtl="0" eaLnBrk="1" fontAlgn="base" hangingPunct="1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800">
          <a:solidFill>
            <a:schemeClr val="tx1"/>
          </a:solidFill>
          <a:latin typeface="Calibri"/>
          <a:ea typeface="+mn-ea"/>
          <a:cs typeface="Calibri"/>
        </a:defRPr>
      </a:lvl1pPr>
      <a:lvl2pPr marL="682625" indent="-22383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Calibri"/>
          <a:cs typeface="Calibri"/>
        </a:defRPr>
      </a:lvl2pPr>
      <a:lvl3pPr marL="1144588" indent="-2270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Calibri"/>
          <a:cs typeface="Calibri"/>
        </a:defRPr>
      </a:lvl3pPr>
      <a:lvl4pPr marL="1600200" indent="-2270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Calibri"/>
          <a:cs typeface="Calibri"/>
        </a:defRPr>
      </a:lvl4pPr>
      <a:lvl5pPr marL="2055813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Calibri"/>
          <a:cs typeface="Calibri"/>
        </a:defRPr>
      </a:lvl5pPr>
      <a:lvl6pPr marL="2513013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6pPr>
      <a:lvl7pPr marL="2970213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7pPr>
      <a:lvl8pPr marL="3427413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8pPr>
      <a:lvl9pPr marL="3884613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4" Type="http://schemas.openxmlformats.org/officeDocument/2006/relationships/chart" Target="../charts/chart16.xml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4" Type="http://schemas.openxmlformats.org/officeDocument/2006/relationships/chart" Target="../charts/chart18.xml"/><Relationship Id="rId5" Type="http://schemas.openxmlformats.org/officeDocument/2006/relationships/chart" Target="../charts/chart19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chart" Target="../charts/chart23.xml"/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6.xml"/><Relationship Id="rId3" Type="http://schemas.openxmlformats.org/officeDocument/2006/relationships/chart" Target="../charts/char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Computational Sprinting on a Real System: Preliminary Results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wrap="none"/>
          <a:lstStyle/>
          <a:p>
            <a:r>
              <a:rPr lang="en-US" dirty="0" smtClean="0">
                <a:solidFill>
                  <a:schemeClr val="accent6"/>
                </a:solidFill>
              </a:rPr>
              <a:t>Arun Raghavan</a:t>
            </a:r>
            <a:r>
              <a:rPr lang="en-US" sz="3200" baseline="30000" dirty="0" smtClean="0">
                <a:solidFill>
                  <a:schemeClr val="accent6"/>
                </a:solidFill>
              </a:rPr>
              <a:t>*</a:t>
            </a:r>
            <a:r>
              <a:rPr lang="en-US" dirty="0" smtClean="0"/>
              <a:t>, Marios Papaefthymiou</a:t>
            </a:r>
            <a:r>
              <a:rPr lang="en-US" sz="3200" baseline="30000" dirty="0" smtClean="0"/>
              <a:t>+</a:t>
            </a:r>
            <a:r>
              <a:rPr lang="en-US" dirty="0" smtClean="0"/>
              <a:t>, Kevin P. Pipe</a:t>
            </a:r>
            <a:r>
              <a:rPr lang="en-US" sz="3200" baseline="30000" dirty="0" smtClean="0"/>
              <a:t>+#</a:t>
            </a:r>
            <a:r>
              <a:rPr lang="en-US" dirty="0" smtClean="0"/>
              <a:t>, </a:t>
            </a:r>
          </a:p>
          <a:p>
            <a:r>
              <a:rPr lang="en-US" dirty="0" smtClean="0"/>
              <a:t>Thomas F. Wenisch</a:t>
            </a:r>
            <a:r>
              <a:rPr lang="en-US" sz="3200" baseline="30000" dirty="0" smtClean="0"/>
              <a:t>+</a:t>
            </a:r>
            <a:r>
              <a:rPr lang="en-US" dirty="0" smtClean="0"/>
              <a:t>, Milo M. K. Martin</a:t>
            </a:r>
            <a:r>
              <a:rPr lang="en-US" sz="3200" baseline="30000" dirty="0" smtClean="0"/>
              <a:t>*</a:t>
            </a:r>
          </a:p>
          <a:p>
            <a:endParaRPr lang="en-US" dirty="0" smtClean="0"/>
          </a:p>
          <a:p>
            <a:r>
              <a:rPr lang="en-US" dirty="0" smtClean="0"/>
              <a:t>University of Pennsylvania, Computer and Information Science</a:t>
            </a:r>
            <a:r>
              <a:rPr lang="en-US" sz="3200" baseline="30000" dirty="0" smtClean="0"/>
              <a:t>*</a:t>
            </a:r>
          </a:p>
          <a:p>
            <a:r>
              <a:rPr lang="en-US" dirty="0" smtClean="0"/>
              <a:t>University of Michigan, Electrical Eng. and Computer Science</a:t>
            </a:r>
            <a:r>
              <a:rPr lang="en-US" sz="3200" baseline="30000" dirty="0" smtClean="0">
                <a:solidFill>
                  <a:srgbClr val="000000"/>
                </a:solidFill>
              </a:rPr>
              <a:t>+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University of Michigan, Mechanical Engineering</a:t>
            </a:r>
            <a:r>
              <a:rPr lang="en-US" sz="3200" baseline="30000" dirty="0" smtClean="0">
                <a:solidFill>
                  <a:srgbClr val="000000"/>
                </a:solidFill>
              </a:rPr>
              <a:t>#</a:t>
            </a:r>
            <a:endParaRPr lang="en-US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666750" y="317500"/>
            <a:ext cx="7810500" cy="914400"/>
            <a:chOff x="314325" y="317500"/>
            <a:chExt cx="7810500" cy="914400"/>
          </a:xfrm>
        </p:grpSpPr>
        <p:pic>
          <p:nvPicPr>
            <p:cNvPr id="12" name="Picture 11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97625" y="317500"/>
              <a:ext cx="1727200" cy="91440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325" y="317500"/>
              <a:ext cx="2315921" cy="9144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Computational Sprinting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430482"/>
            <a:ext cx="8498584" cy="3997036"/>
          </a:xfrm>
        </p:spPr>
        <p:txBody>
          <a:bodyPr/>
          <a:lstStyle/>
          <a:p>
            <a:r>
              <a:rPr lang="en-US" dirty="0" smtClean="0"/>
              <a:t>What is Computational Sprinting?</a:t>
            </a:r>
          </a:p>
          <a:p>
            <a:pPr lvl="1"/>
            <a:r>
              <a:rPr lang="en-US" dirty="0" smtClean="0"/>
              <a:t>Summary of feasibility study [HPCA’12]</a:t>
            </a:r>
          </a:p>
          <a:p>
            <a:pPr lvl="1"/>
            <a:r>
              <a:rPr lang="en-US" dirty="0" smtClean="0"/>
              <a:t>Simulation results:</a:t>
            </a:r>
          </a:p>
          <a:p>
            <a:pPr lvl="2"/>
            <a:r>
              <a:rPr lang="en-US" dirty="0" smtClean="0"/>
              <a:t>10x responsiveness improvements in short bursts</a:t>
            </a:r>
          </a:p>
          <a:p>
            <a:pPr lvl="2"/>
            <a:r>
              <a:rPr lang="en-US" dirty="0" smtClean="0"/>
              <a:t>Same dynamic energy consumption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Preliminary results with sprinting on prototype-proxy</a:t>
            </a:r>
          </a:p>
          <a:p>
            <a:pPr lvl="1"/>
            <a:r>
              <a:rPr lang="en-US" dirty="0" smtClean="0"/>
              <a:t>Characterize real thermal/energy/performance behavior</a:t>
            </a:r>
          </a:p>
          <a:p>
            <a:pPr lvl="1"/>
            <a:r>
              <a:rPr lang="en-US" dirty="0" smtClean="0"/>
              <a:t>Sprinting can improve energy efficiency due to race to halt  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Computational Sprinting and Dark Silicon 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8175" y="995363"/>
            <a:ext cx="8593796" cy="4867275"/>
          </a:xfrm>
        </p:spPr>
        <p:txBody>
          <a:bodyPr/>
          <a:lstStyle/>
          <a:p>
            <a:r>
              <a:rPr lang="en-US" dirty="0" smtClean="0"/>
              <a:t>Problem: Dark Silicon/Utilization Wall </a:t>
            </a:r>
            <a:endParaRPr lang="en-US" dirty="0" smtClean="0">
              <a:solidFill>
                <a:srgbClr val="FF0000"/>
              </a:solidFill>
              <a:ea typeface="Wingdings"/>
              <a:cs typeface="Wingdings"/>
            </a:endParaRPr>
          </a:p>
          <a:p>
            <a:pPr lvl="1">
              <a:spcAft>
                <a:spcPts val="0"/>
              </a:spcAft>
            </a:pPr>
            <a:r>
              <a:rPr lang="en-US" dirty="0" smtClean="0"/>
              <a:t>Cannot use all transistors on chip all the time</a:t>
            </a:r>
          </a:p>
          <a:p>
            <a:pPr lvl="1">
              <a:spcAft>
                <a:spcPts val="3000"/>
              </a:spcAft>
            </a:pPr>
            <a:r>
              <a:rPr lang="en-US" dirty="0" smtClean="0"/>
              <a:t>Cooling constraints limit mobile systems </a:t>
            </a:r>
          </a:p>
          <a:p>
            <a:pPr>
              <a:spcAft>
                <a:spcPts val="0"/>
              </a:spcAft>
            </a:pPr>
            <a:r>
              <a:rPr lang="en-US" dirty="0" smtClean="0"/>
              <a:t>One approach: Use few transistors for long durations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Specialized functional units [Accelerators, </a:t>
            </a:r>
            <a:r>
              <a:rPr lang="en-US" dirty="0" err="1" smtClean="0">
                <a:solidFill>
                  <a:srgbClr val="000000"/>
                </a:solidFill>
              </a:rPr>
              <a:t>GreenDroid</a:t>
            </a:r>
            <a:r>
              <a:rPr lang="en-US" dirty="0" smtClean="0">
                <a:solidFill>
                  <a:srgbClr val="000000"/>
                </a:solidFill>
              </a:rPr>
              <a:t>]</a:t>
            </a:r>
          </a:p>
          <a:p>
            <a:pPr lvl="1">
              <a:spcAft>
                <a:spcPts val="3000"/>
              </a:spcAft>
            </a:pPr>
            <a:r>
              <a:rPr lang="en-US" dirty="0" smtClean="0">
                <a:solidFill>
                  <a:srgbClr val="000000"/>
                </a:solidFill>
              </a:rPr>
              <a:t>Targeted towards sustained compute, e.g. media playback</a:t>
            </a:r>
            <a:endParaRPr lang="en-US" dirty="0" smtClean="0"/>
          </a:p>
          <a:p>
            <a:r>
              <a:rPr lang="en-US" dirty="0" smtClean="0"/>
              <a:t>Our approach: Use many transistors for short durations</a:t>
            </a:r>
          </a:p>
          <a:p>
            <a:pPr lvl="1"/>
            <a:r>
              <a:rPr lang="en-US" dirty="0" smtClean="0"/>
              <a:t>Computational Sprinting by activating many “dark cores” </a:t>
            </a:r>
            <a:endParaRPr lang="en-US" dirty="0" smtClean="0">
              <a:solidFill>
                <a:srgbClr val="FF000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Unsustainable power for short, intense bursts of computation</a:t>
            </a:r>
          </a:p>
          <a:p>
            <a:pPr lvl="1"/>
            <a:r>
              <a:rPr lang="en-US" dirty="0" smtClean="0"/>
              <a:t>Responsiveness for bursty/interactive applications</a:t>
            </a:r>
          </a:p>
          <a:p>
            <a:pPr lvl="1">
              <a:buNone/>
            </a:pPr>
            <a:endParaRPr lang="en-US" sz="2800" dirty="0" smtClean="0">
              <a:solidFill>
                <a:srgbClr val="000000"/>
              </a:solidFill>
            </a:endParaRPr>
          </a:p>
          <a:p>
            <a:pPr lvl="1"/>
            <a:endParaRPr lang="en-US" dirty="0" smtClean="0">
              <a:solidFill>
                <a:srgbClr val="00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Computational Sprinting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Chart 43"/>
          <p:cNvGraphicFramePr/>
          <p:nvPr/>
        </p:nvGraphicFramePr>
        <p:xfrm>
          <a:off x="3747980" y="1324420"/>
          <a:ext cx="3657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86800" cy="533400"/>
          </a:xfrm>
        </p:spPr>
        <p:txBody>
          <a:bodyPr/>
          <a:lstStyle/>
          <a:p>
            <a:r>
              <a:rPr lang="en-US" dirty="0" smtClean="0"/>
              <a:t>Sprinting </a:t>
            </a:r>
            <a:r>
              <a:rPr lang="en-US" dirty="0" err="1" smtClean="0"/>
              <a:t>v</a:t>
            </a:r>
            <a:r>
              <a:rPr lang="en-US" dirty="0" smtClean="0"/>
              <a:t>/s Sustainable Operation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aphicFrame>
        <p:nvGraphicFramePr>
          <p:cNvPr id="39" name="Chart 38"/>
          <p:cNvGraphicFramePr/>
          <p:nvPr/>
        </p:nvGraphicFramePr>
        <p:xfrm>
          <a:off x="3669261" y="4134188"/>
          <a:ext cx="3657600" cy="2023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" name="Rectangle 61"/>
          <p:cNvSpPr/>
          <p:nvPr/>
        </p:nvSpPr>
        <p:spPr bwMode="auto">
          <a:xfrm>
            <a:off x="1197647" y="2453470"/>
            <a:ext cx="140946" cy="461665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63" name="Rectangle 62"/>
          <p:cNvSpPr/>
          <p:nvPr/>
        </p:nvSpPr>
        <p:spPr bwMode="auto">
          <a:xfrm>
            <a:off x="1170911" y="5214752"/>
            <a:ext cx="166032" cy="461665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cxnSp>
        <p:nvCxnSpPr>
          <p:cNvPr id="49" name="Straight Connector 48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TextBox 51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6099985" y="3143250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cxnSp>
        <p:nvCxnSpPr>
          <p:cNvPr id="55" name="Straight Connector 54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TextBox 55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57" name="Straight Connector 56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Straight Connector 57"/>
          <p:cNvCxnSpPr/>
          <p:nvPr/>
        </p:nvCxnSpPr>
        <p:spPr bwMode="auto">
          <a:xfrm>
            <a:off x="4218133" y="602803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6099985" y="6147682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121" name="Rectangle 120"/>
          <p:cNvSpPr/>
          <p:nvPr/>
        </p:nvSpPr>
        <p:spPr bwMode="auto">
          <a:xfrm>
            <a:off x="4300041" y="1019900"/>
            <a:ext cx="3159125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22" name="Rectangle 121"/>
          <p:cNvSpPr/>
          <p:nvPr/>
        </p:nvSpPr>
        <p:spPr bwMode="auto">
          <a:xfrm>
            <a:off x="4300041" y="4295586"/>
            <a:ext cx="3159125" cy="157394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23" name="Rectangle 122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124" name="Group 123"/>
          <p:cNvGrpSpPr/>
          <p:nvPr/>
        </p:nvGrpSpPr>
        <p:grpSpPr>
          <a:xfrm>
            <a:off x="457200" y="1001576"/>
            <a:ext cx="2378011" cy="2375580"/>
            <a:chOff x="457200" y="1001576"/>
            <a:chExt cx="2378011" cy="2375580"/>
          </a:xfrm>
        </p:grpSpPr>
        <p:sp>
          <p:nvSpPr>
            <p:cNvPr id="125" name="Rectangle 124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6" name="Rectangle 125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7" name="Rectangle 126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8" name="Rectangle 127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9" name="Rectangle 128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0" name="Rectangle 129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1" name="Rectangle 130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2" name="Rectangle 131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4" name="Rectangle 133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5" name="Rectangle 134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6" name="Rectangle 135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7" name="Rectangle 136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8" name="Rectangle 137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9" name="Rectangle 138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pic>
        <p:nvPicPr>
          <p:cNvPr id="140" name="Picture 139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sp>
        <p:nvSpPr>
          <p:cNvPr id="141" name="Rectangle 140"/>
          <p:cNvSpPr/>
          <p:nvPr/>
        </p:nvSpPr>
        <p:spPr bwMode="auto">
          <a:xfrm>
            <a:off x="470127" y="1012856"/>
            <a:ext cx="539496" cy="539496"/>
          </a:xfrm>
          <a:prstGeom prst="rect">
            <a:avLst/>
          </a:prstGeom>
          <a:solidFill>
            <a:srgbClr val="0000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Rectangle 46"/>
          <p:cNvSpPr/>
          <p:nvPr/>
        </p:nvSpPr>
        <p:spPr bwMode="auto">
          <a:xfrm>
            <a:off x="4476749" y="1064150"/>
            <a:ext cx="4146550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cxnSp>
        <p:nvCxnSpPr>
          <p:cNvPr id="130" name="Straight Connector 129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Use All Cores?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ctangle 83"/>
          <p:cNvSpPr/>
          <p:nvPr/>
        </p:nvSpPr>
        <p:spPr bwMode="auto">
          <a:xfrm>
            <a:off x="4476749" y="3930182"/>
            <a:ext cx="3857626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cxnSp>
        <p:nvCxnSpPr>
          <p:cNvPr id="66" name="Straight Connector 65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22" name="Picture 121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126" name="Group 125"/>
          <p:cNvGrpSpPr/>
          <p:nvPr/>
        </p:nvGrpSpPr>
        <p:grpSpPr>
          <a:xfrm>
            <a:off x="454814" y="1001576"/>
            <a:ext cx="2380397" cy="2375580"/>
            <a:chOff x="454814" y="1001576"/>
            <a:chExt cx="2380397" cy="2375580"/>
          </a:xfrm>
        </p:grpSpPr>
        <p:sp>
          <p:nvSpPr>
            <p:cNvPr id="107" name="Rectangle 106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09" name="Rectangle 108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0" name="Rectangle 109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1" name="Rectangle 110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2" name="Rectangle 111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3" name="Rectangle 112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4" name="Rectangle 113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8" name="Rectangle 117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9" name="Rectangle 118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0" name="Rectangle 119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454814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sp>
        <p:nvSpPr>
          <p:cNvPr id="128" name="TextBox 127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35" name="Straight Connector 134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Straight Connector 135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TextBox 136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099985" y="3143250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6099985" y="6147682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ctangle 83"/>
          <p:cNvSpPr/>
          <p:nvPr/>
        </p:nvSpPr>
        <p:spPr bwMode="auto">
          <a:xfrm>
            <a:off x="5116763" y="3930182"/>
            <a:ext cx="3159125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5094059" y="1090886"/>
            <a:ext cx="3529240" cy="190698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Use All Cores?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81" name="Rectangle 80"/>
          <p:cNvSpPr/>
          <p:nvPr/>
        </p:nvSpPr>
        <p:spPr bwMode="auto">
          <a:xfrm>
            <a:off x="4476750" y="1050782"/>
            <a:ext cx="649224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82" name="Rectangle 81"/>
          <p:cNvSpPr/>
          <p:nvPr/>
        </p:nvSpPr>
        <p:spPr bwMode="auto">
          <a:xfrm>
            <a:off x="4476749" y="3930182"/>
            <a:ext cx="649224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cxnSp>
        <p:nvCxnSpPr>
          <p:cNvPr id="44" name="Straight Connector 43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3" name="Group 65"/>
          <p:cNvGrpSpPr/>
          <p:nvPr/>
        </p:nvGrpSpPr>
        <p:grpSpPr>
          <a:xfrm>
            <a:off x="452254" y="1002250"/>
            <a:ext cx="2379175" cy="2375580"/>
            <a:chOff x="5886955" y="1335405"/>
            <a:chExt cx="2413889" cy="2418842"/>
          </a:xfrm>
        </p:grpSpPr>
        <p:pic>
          <p:nvPicPr>
            <p:cNvPr id="124" name="Picture 123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1335405"/>
              <a:ext cx="548637" cy="548637"/>
            </a:xfrm>
            <a:prstGeom prst="rect">
              <a:avLst/>
            </a:prstGeom>
          </p:spPr>
        </p:pic>
        <p:pic>
          <p:nvPicPr>
            <p:cNvPr id="125" name="Picture 12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1335405"/>
              <a:ext cx="548637" cy="548637"/>
            </a:xfrm>
            <a:prstGeom prst="rect">
              <a:avLst/>
            </a:prstGeom>
          </p:spPr>
        </p:pic>
        <p:pic>
          <p:nvPicPr>
            <p:cNvPr id="126" name="Picture 125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1957200"/>
              <a:ext cx="548637" cy="548637"/>
            </a:xfrm>
            <a:prstGeom prst="rect">
              <a:avLst/>
            </a:prstGeom>
          </p:spPr>
        </p:pic>
        <p:pic>
          <p:nvPicPr>
            <p:cNvPr id="127" name="Picture 12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1957200"/>
              <a:ext cx="548637" cy="548637"/>
            </a:xfrm>
            <a:prstGeom prst="rect">
              <a:avLst/>
            </a:prstGeom>
          </p:spPr>
        </p:pic>
        <p:pic>
          <p:nvPicPr>
            <p:cNvPr id="128" name="Picture 127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2583815"/>
              <a:ext cx="548637" cy="548637"/>
            </a:xfrm>
            <a:prstGeom prst="rect">
              <a:avLst/>
            </a:prstGeom>
          </p:spPr>
        </p:pic>
        <p:pic>
          <p:nvPicPr>
            <p:cNvPr id="129" name="Picture 128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2583815"/>
              <a:ext cx="548637" cy="548637"/>
            </a:xfrm>
            <a:prstGeom prst="rect">
              <a:avLst/>
            </a:prstGeom>
          </p:spPr>
        </p:pic>
        <p:pic>
          <p:nvPicPr>
            <p:cNvPr id="130" name="Picture 129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3205610"/>
              <a:ext cx="548637" cy="548637"/>
            </a:xfrm>
            <a:prstGeom prst="rect">
              <a:avLst/>
            </a:prstGeom>
          </p:spPr>
        </p:pic>
        <p:pic>
          <p:nvPicPr>
            <p:cNvPr id="131" name="Picture 130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3205610"/>
              <a:ext cx="548637" cy="548637"/>
            </a:xfrm>
            <a:prstGeom prst="rect">
              <a:avLst/>
            </a:prstGeom>
          </p:spPr>
        </p:pic>
        <p:pic>
          <p:nvPicPr>
            <p:cNvPr id="132" name="Picture 131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1335405"/>
              <a:ext cx="548637" cy="548637"/>
            </a:xfrm>
            <a:prstGeom prst="rect">
              <a:avLst/>
            </a:prstGeom>
          </p:spPr>
        </p:pic>
        <p:pic>
          <p:nvPicPr>
            <p:cNvPr id="133" name="Picture 132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1335405"/>
              <a:ext cx="548637" cy="548637"/>
            </a:xfrm>
            <a:prstGeom prst="rect">
              <a:avLst/>
            </a:prstGeom>
          </p:spPr>
        </p:pic>
        <p:pic>
          <p:nvPicPr>
            <p:cNvPr id="134" name="Picture 133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1957200"/>
              <a:ext cx="548637" cy="548637"/>
            </a:xfrm>
            <a:prstGeom prst="rect">
              <a:avLst/>
            </a:prstGeom>
          </p:spPr>
        </p:pic>
        <p:pic>
          <p:nvPicPr>
            <p:cNvPr id="135" name="Picture 13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1957200"/>
              <a:ext cx="548637" cy="548637"/>
            </a:xfrm>
            <a:prstGeom prst="rect">
              <a:avLst/>
            </a:prstGeom>
          </p:spPr>
        </p:pic>
        <p:pic>
          <p:nvPicPr>
            <p:cNvPr id="136" name="Picture 135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2583815"/>
              <a:ext cx="548637" cy="548637"/>
            </a:xfrm>
            <a:prstGeom prst="rect">
              <a:avLst/>
            </a:prstGeom>
          </p:spPr>
        </p:pic>
        <p:pic>
          <p:nvPicPr>
            <p:cNvPr id="137" name="Picture 13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2583815"/>
              <a:ext cx="548637" cy="548637"/>
            </a:xfrm>
            <a:prstGeom prst="rect">
              <a:avLst/>
            </a:prstGeom>
          </p:spPr>
        </p:pic>
        <p:pic>
          <p:nvPicPr>
            <p:cNvPr id="138" name="Picture 137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3205610"/>
              <a:ext cx="548637" cy="548637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3205610"/>
              <a:ext cx="548637" cy="548637"/>
            </a:xfrm>
            <a:prstGeom prst="rect">
              <a:avLst/>
            </a:prstGeom>
          </p:spPr>
        </p:pic>
      </p:grpSp>
      <p:sp>
        <p:nvSpPr>
          <p:cNvPr id="140" name="Rectangle 139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161" name="Group 160"/>
          <p:cNvGrpSpPr/>
          <p:nvPr/>
        </p:nvGrpSpPr>
        <p:grpSpPr>
          <a:xfrm>
            <a:off x="454814" y="1001576"/>
            <a:ext cx="2380397" cy="2375580"/>
            <a:chOff x="454814" y="1001576"/>
            <a:chExt cx="2380397" cy="2375580"/>
          </a:xfrm>
        </p:grpSpPr>
        <p:sp>
          <p:nvSpPr>
            <p:cNvPr id="162" name="Rectangle 161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7" name="Rectangle 166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8" name="Rectangle 167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9" name="Rectangle 168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0" name="Rectangle 169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1" name="Rectangle 170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2" name="Rectangle 171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3" name="Rectangle 172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4" name="Rectangle 173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7" name="Rectangle 176"/>
            <p:cNvSpPr/>
            <p:nvPr/>
          </p:nvSpPr>
          <p:spPr bwMode="auto">
            <a:xfrm>
              <a:off x="454814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sp>
        <p:nvSpPr>
          <p:cNvPr id="179" name="TextBox 178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80" name="Straight Connector 179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1" name="Straight Connector 180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2" name="Straight Connector 181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Straight Connector 182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4" name="TextBox 183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sp>
        <p:nvSpPr>
          <p:cNvPr id="185" name="TextBox 184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187" name="TextBox 186"/>
          <p:cNvSpPr txBox="1"/>
          <p:nvPr/>
        </p:nvSpPr>
        <p:spPr>
          <a:xfrm>
            <a:off x="5264473" y="1090885"/>
            <a:ext cx="8467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N cores</a:t>
            </a:r>
            <a:endParaRPr lang="en-US" b="1" dirty="0"/>
          </a:p>
        </p:txBody>
      </p:sp>
      <p:cxnSp>
        <p:nvCxnSpPr>
          <p:cNvPr id="55" name="Straight Connector 54"/>
          <p:cNvCxnSpPr/>
          <p:nvPr/>
        </p:nvCxnSpPr>
        <p:spPr bwMode="auto">
          <a:xfrm rot="5400000" flipH="1" flipV="1">
            <a:off x="5061594" y="3884197"/>
            <a:ext cx="469921" cy="274296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Lightning Bolt 55"/>
          <p:cNvSpPr/>
          <p:nvPr/>
        </p:nvSpPr>
        <p:spPr bwMode="auto">
          <a:xfrm>
            <a:off x="5160784" y="3673928"/>
            <a:ext cx="352133" cy="555445"/>
          </a:xfrm>
          <a:prstGeom prst="lightningBolt">
            <a:avLst/>
          </a:prstGeom>
          <a:solidFill>
            <a:schemeClr val="tx2">
              <a:lumMod val="60000"/>
              <a:lumOff val="40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99985" y="3143250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6099985" y="6147682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3431628" y="3481995"/>
            <a:ext cx="576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Effect of</a:t>
            </a:r>
            <a:r>
              <a:rPr lang="en-US" sz="2400" i="1" dirty="0" smtClean="0">
                <a:solidFill>
                  <a:srgbClr val="FF0000"/>
                </a:solidFill>
              </a:rPr>
              <a:t> thermal capacitance</a:t>
            </a:r>
            <a:endParaRPr lang="en-US" sz="2400" dirty="0" smtClean="0">
              <a:solidFill>
                <a:srgbClr val="FF0000"/>
              </a:solidFill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4524047" y="4011830"/>
            <a:ext cx="674639" cy="1984840"/>
          </a:xfrm>
          <a:prstGeom prst="rect">
            <a:avLst/>
          </a:prstGeom>
          <a:solidFill>
            <a:schemeClr val="accent6">
              <a:alpha val="54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56" grpId="0" animBg="1"/>
      <p:bldP spid="56" grpId="1" animBg="1"/>
      <p:bldP spid="61" grpId="0"/>
      <p:bldP spid="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Rectangle 46"/>
          <p:cNvSpPr/>
          <p:nvPr/>
        </p:nvSpPr>
        <p:spPr bwMode="auto">
          <a:xfrm>
            <a:off x="4476749" y="1064150"/>
            <a:ext cx="4146550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cxnSp>
        <p:nvCxnSpPr>
          <p:cNvPr id="130" name="Straight Connector 129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Computational Sprinting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ctangle 83"/>
          <p:cNvSpPr/>
          <p:nvPr/>
        </p:nvSpPr>
        <p:spPr bwMode="auto">
          <a:xfrm>
            <a:off x="4476749" y="3930182"/>
            <a:ext cx="3857626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cxnSp>
        <p:nvCxnSpPr>
          <p:cNvPr id="66" name="Straight Connector 65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22" name="Picture 121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3" name="Group 125"/>
          <p:cNvGrpSpPr/>
          <p:nvPr/>
        </p:nvGrpSpPr>
        <p:grpSpPr>
          <a:xfrm>
            <a:off x="454814" y="1001576"/>
            <a:ext cx="2380397" cy="2375580"/>
            <a:chOff x="454814" y="1001576"/>
            <a:chExt cx="2380397" cy="2375580"/>
          </a:xfrm>
        </p:grpSpPr>
        <p:sp>
          <p:nvSpPr>
            <p:cNvPr id="107" name="Rectangle 106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08" name="Rectangle 107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09" name="Rectangle 108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0" name="Rectangle 109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1" name="Rectangle 110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2" name="Rectangle 111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3" name="Rectangle 112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4" name="Rectangle 113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8" name="Rectangle 117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9" name="Rectangle 118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0" name="Rectangle 119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454814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sp>
        <p:nvSpPr>
          <p:cNvPr id="128" name="TextBox 127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35" name="Straight Connector 134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Straight Connector 135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TextBox 136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6099985" y="3143250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6099985" y="6147682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ctangle 83"/>
          <p:cNvSpPr/>
          <p:nvPr/>
        </p:nvSpPr>
        <p:spPr bwMode="auto">
          <a:xfrm>
            <a:off x="5116763" y="3930182"/>
            <a:ext cx="3159125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5094059" y="1090886"/>
            <a:ext cx="3529240" cy="1906982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Use All Cores?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81" name="Rectangle 80"/>
          <p:cNvSpPr/>
          <p:nvPr/>
        </p:nvSpPr>
        <p:spPr bwMode="auto">
          <a:xfrm>
            <a:off x="4476750" y="1050782"/>
            <a:ext cx="649224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82" name="Rectangle 81"/>
          <p:cNvSpPr/>
          <p:nvPr/>
        </p:nvSpPr>
        <p:spPr bwMode="auto">
          <a:xfrm>
            <a:off x="4476749" y="3930182"/>
            <a:ext cx="649224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cxnSp>
        <p:nvCxnSpPr>
          <p:cNvPr id="44" name="Straight Connector 43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Group 65"/>
          <p:cNvGrpSpPr/>
          <p:nvPr/>
        </p:nvGrpSpPr>
        <p:grpSpPr>
          <a:xfrm>
            <a:off x="452254" y="1002250"/>
            <a:ext cx="2379175" cy="2375580"/>
            <a:chOff x="5886955" y="1335405"/>
            <a:chExt cx="2413889" cy="2418842"/>
          </a:xfrm>
        </p:grpSpPr>
        <p:pic>
          <p:nvPicPr>
            <p:cNvPr id="124" name="Picture 123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1335405"/>
              <a:ext cx="548637" cy="548637"/>
            </a:xfrm>
            <a:prstGeom prst="rect">
              <a:avLst/>
            </a:prstGeom>
          </p:spPr>
        </p:pic>
        <p:pic>
          <p:nvPicPr>
            <p:cNvPr id="125" name="Picture 12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1335405"/>
              <a:ext cx="548637" cy="548637"/>
            </a:xfrm>
            <a:prstGeom prst="rect">
              <a:avLst/>
            </a:prstGeom>
          </p:spPr>
        </p:pic>
        <p:pic>
          <p:nvPicPr>
            <p:cNvPr id="126" name="Picture 125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1957200"/>
              <a:ext cx="548637" cy="548637"/>
            </a:xfrm>
            <a:prstGeom prst="rect">
              <a:avLst/>
            </a:prstGeom>
          </p:spPr>
        </p:pic>
        <p:pic>
          <p:nvPicPr>
            <p:cNvPr id="127" name="Picture 12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1957200"/>
              <a:ext cx="548637" cy="548637"/>
            </a:xfrm>
            <a:prstGeom prst="rect">
              <a:avLst/>
            </a:prstGeom>
          </p:spPr>
        </p:pic>
        <p:pic>
          <p:nvPicPr>
            <p:cNvPr id="128" name="Picture 127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2583815"/>
              <a:ext cx="548637" cy="548637"/>
            </a:xfrm>
            <a:prstGeom prst="rect">
              <a:avLst/>
            </a:prstGeom>
          </p:spPr>
        </p:pic>
        <p:pic>
          <p:nvPicPr>
            <p:cNvPr id="129" name="Picture 128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2583815"/>
              <a:ext cx="548637" cy="548637"/>
            </a:xfrm>
            <a:prstGeom prst="rect">
              <a:avLst/>
            </a:prstGeom>
          </p:spPr>
        </p:pic>
        <p:pic>
          <p:nvPicPr>
            <p:cNvPr id="130" name="Picture 129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6955" y="3205610"/>
              <a:ext cx="548637" cy="548637"/>
            </a:xfrm>
            <a:prstGeom prst="rect">
              <a:avLst/>
            </a:prstGeom>
          </p:spPr>
        </p:pic>
        <p:pic>
          <p:nvPicPr>
            <p:cNvPr id="131" name="Picture 130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08750" y="3205610"/>
              <a:ext cx="548637" cy="548637"/>
            </a:xfrm>
            <a:prstGeom prst="rect">
              <a:avLst/>
            </a:prstGeom>
          </p:spPr>
        </p:pic>
        <p:pic>
          <p:nvPicPr>
            <p:cNvPr id="132" name="Picture 131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1335405"/>
              <a:ext cx="548637" cy="548637"/>
            </a:xfrm>
            <a:prstGeom prst="rect">
              <a:avLst/>
            </a:prstGeom>
          </p:spPr>
        </p:pic>
        <p:pic>
          <p:nvPicPr>
            <p:cNvPr id="133" name="Picture 132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1335405"/>
              <a:ext cx="548637" cy="548637"/>
            </a:xfrm>
            <a:prstGeom prst="rect">
              <a:avLst/>
            </a:prstGeom>
          </p:spPr>
        </p:pic>
        <p:pic>
          <p:nvPicPr>
            <p:cNvPr id="134" name="Picture 133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1957200"/>
              <a:ext cx="548637" cy="548637"/>
            </a:xfrm>
            <a:prstGeom prst="rect">
              <a:avLst/>
            </a:prstGeom>
          </p:spPr>
        </p:pic>
        <p:pic>
          <p:nvPicPr>
            <p:cNvPr id="135" name="Picture 134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1957200"/>
              <a:ext cx="548637" cy="548637"/>
            </a:xfrm>
            <a:prstGeom prst="rect">
              <a:avLst/>
            </a:prstGeom>
          </p:spPr>
        </p:pic>
        <p:pic>
          <p:nvPicPr>
            <p:cNvPr id="136" name="Picture 135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2583815"/>
              <a:ext cx="548637" cy="548637"/>
            </a:xfrm>
            <a:prstGeom prst="rect">
              <a:avLst/>
            </a:prstGeom>
          </p:spPr>
        </p:pic>
        <p:pic>
          <p:nvPicPr>
            <p:cNvPr id="137" name="Picture 136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2583815"/>
              <a:ext cx="548637" cy="548637"/>
            </a:xfrm>
            <a:prstGeom prst="rect">
              <a:avLst/>
            </a:prstGeom>
          </p:spPr>
        </p:pic>
        <p:pic>
          <p:nvPicPr>
            <p:cNvPr id="138" name="Picture 137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0412" y="3205610"/>
              <a:ext cx="548637" cy="548637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52207" y="3205610"/>
              <a:ext cx="548637" cy="548637"/>
            </a:xfrm>
            <a:prstGeom prst="rect">
              <a:avLst/>
            </a:prstGeom>
          </p:spPr>
        </p:pic>
      </p:grpSp>
      <p:sp>
        <p:nvSpPr>
          <p:cNvPr id="140" name="Rectangle 139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6" name="Group 160"/>
          <p:cNvGrpSpPr/>
          <p:nvPr/>
        </p:nvGrpSpPr>
        <p:grpSpPr>
          <a:xfrm>
            <a:off x="454814" y="1001576"/>
            <a:ext cx="2380397" cy="2375580"/>
            <a:chOff x="454814" y="1001576"/>
            <a:chExt cx="2380397" cy="2375580"/>
          </a:xfrm>
        </p:grpSpPr>
        <p:sp>
          <p:nvSpPr>
            <p:cNvPr id="162" name="Rectangle 161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3" name="Rectangle 162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4" name="Rectangle 163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5" name="Rectangle 164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6" name="Rectangle 165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7" name="Rectangle 166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8" name="Rectangle 167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69" name="Rectangle 168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0" name="Rectangle 169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1" name="Rectangle 170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2" name="Rectangle 171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3" name="Rectangle 172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4" name="Rectangle 173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5" name="Rectangle 174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6" name="Rectangle 175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77" name="Rectangle 176"/>
            <p:cNvSpPr/>
            <p:nvPr/>
          </p:nvSpPr>
          <p:spPr bwMode="auto">
            <a:xfrm>
              <a:off x="454814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sp>
        <p:nvSpPr>
          <p:cNvPr id="179" name="TextBox 178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80" name="Straight Connector 179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1" name="Straight Connector 180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2" name="Straight Connector 181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Straight Connector 182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4" name="TextBox 183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sp>
        <p:nvSpPr>
          <p:cNvPr id="185" name="TextBox 184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187" name="TextBox 186"/>
          <p:cNvSpPr txBox="1"/>
          <p:nvPr/>
        </p:nvSpPr>
        <p:spPr>
          <a:xfrm>
            <a:off x="5264473" y="1090885"/>
            <a:ext cx="8467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N cores</a:t>
            </a:r>
            <a:endParaRPr lang="en-US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6099985" y="3143250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6099985" y="6147682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ctangle 83"/>
          <p:cNvSpPr/>
          <p:nvPr/>
        </p:nvSpPr>
        <p:spPr bwMode="auto">
          <a:xfrm>
            <a:off x="6952982" y="3844649"/>
            <a:ext cx="1349641" cy="1933718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6906359" y="1064150"/>
            <a:ext cx="1716939" cy="1933718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16" name="Rectangle 115"/>
          <p:cNvSpPr/>
          <p:nvPr/>
        </p:nvSpPr>
        <p:spPr bwMode="auto">
          <a:xfrm>
            <a:off x="5143500" y="3930182"/>
            <a:ext cx="1865503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17" name="Rectangle 116"/>
          <p:cNvSpPr/>
          <p:nvPr/>
        </p:nvSpPr>
        <p:spPr bwMode="auto">
          <a:xfrm>
            <a:off x="5094058" y="1064150"/>
            <a:ext cx="1858924" cy="1933718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Computational Sprinting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6" name="Picture 7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pic>
        <p:nvPicPr>
          <p:cNvPr id="77" name="Picture 76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65105" y="1002248"/>
            <a:ext cx="540747" cy="538824"/>
          </a:xfrm>
          <a:prstGeom prst="rect">
            <a:avLst/>
          </a:prstGeom>
        </p:spPr>
      </p:pic>
      <p:pic>
        <p:nvPicPr>
          <p:cNvPr id="78" name="Picture 77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612921"/>
            <a:ext cx="540747" cy="538824"/>
          </a:xfrm>
          <a:prstGeom prst="rect">
            <a:avLst/>
          </a:prstGeom>
        </p:spPr>
      </p:pic>
      <p:pic>
        <p:nvPicPr>
          <p:cNvPr id="79" name="Picture 78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65105" y="1612921"/>
            <a:ext cx="540747" cy="538824"/>
          </a:xfrm>
          <a:prstGeom prst="rect">
            <a:avLst/>
          </a:prstGeom>
        </p:spPr>
      </p:pic>
      <p:pic>
        <p:nvPicPr>
          <p:cNvPr id="81" name="Picture 8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2228328"/>
            <a:ext cx="540747" cy="538824"/>
          </a:xfrm>
          <a:prstGeom prst="rect">
            <a:avLst/>
          </a:prstGeom>
        </p:spPr>
      </p:pic>
      <p:pic>
        <p:nvPicPr>
          <p:cNvPr id="82" name="Picture 81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65105" y="2228328"/>
            <a:ext cx="540747" cy="538824"/>
          </a:xfrm>
          <a:prstGeom prst="rect">
            <a:avLst/>
          </a:prstGeom>
        </p:spPr>
      </p:pic>
      <p:pic>
        <p:nvPicPr>
          <p:cNvPr id="83" name="Picture 82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2839001"/>
            <a:ext cx="540747" cy="538824"/>
          </a:xfrm>
          <a:prstGeom prst="rect">
            <a:avLst/>
          </a:prstGeom>
        </p:spPr>
      </p:pic>
      <p:pic>
        <p:nvPicPr>
          <p:cNvPr id="85" name="Picture 84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65105" y="2839001"/>
            <a:ext cx="540747" cy="538824"/>
          </a:xfrm>
          <a:prstGeom prst="rect">
            <a:avLst/>
          </a:prstGeom>
        </p:spPr>
      </p:pic>
      <p:pic>
        <p:nvPicPr>
          <p:cNvPr id="86" name="Picture 8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677827" y="1002248"/>
            <a:ext cx="540747" cy="538824"/>
          </a:xfrm>
          <a:prstGeom prst="rect">
            <a:avLst/>
          </a:prstGeom>
        </p:spPr>
      </p:pic>
      <p:pic>
        <p:nvPicPr>
          <p:cNvPr id="87" name="Picture 86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90680" y="1002248"/>
            <a:ext cx="540747" cy="538824"/>
          </a:xfrm>
          <a:prstGeom prst="rect">
            <a:avLst/>
          </a:prstGeom>
        </p:spPr>
      </p:pic>
      <p:pic>
        <p:nvPicPr>
          <p:cNvPr id="88" name="Picture 87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677827" y="1612921"/>
            <a:ext cx="540747" cy="538824"/>
          </a:xfrm>
          <a:prstGeom prst="rect">
            <a:avLst/>
          </a:prstGeom>
        </p:spPr>
      </p:pic>
      <p:pic>
        <p:nvPicPr>
          <p:cNvPr id="89" name="Picture 88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90680" y="1612921"/>
            <a:ext cx="540747" cy="538824"/>
          </a:xfrm>
          <a:prstGeom prst="rect">
            <a:avLst/>
          </a:prstGeom>
        </p:spPr>
      </p:pic>
      <p:pic>
        <p:nvPicPr>
          <p:cNvPr id="90" name="Picture 89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677827" y="2228328"/>
            <a:ext cx="540747" cy="538824"/>
          </a:xfrm>
          <a:prstGeom prst="rect">
            <a:avLst/>
          </a:prstGeom>
        </p:spPr>
      </p:pic>
      <p:pic>
        <p:nvPicPr>
          <p:cNvPr id="91" name="Picture 9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90680" y="2228328"/>
            <a:ext cx="540747" cy="538824"/>
          </a:xfrm>
          <a:prstGeom prst="rect">
            <a:avLst/>
          </a:prstGeom>
        </p:spPr>
      </p:pic>
      <p:pic>
        <p:nvPicPr>
          <p:cNvPr id="92" name="Picture 91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677827" y="2839001"/>
            <a:ext cx="540747" cy="538824"/>
          </a:xfrm>
          <a:prstGeom prst="rect">
            <a:avLst/>
          </a:prstGeom>
        </p:spPr>
      </p:pic>
      <p:pic>
        <p:nvPicPr>
          <p:cNvPr id="93" name="Picture 92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90680" y="2839001"/>
            <a:ext cx="540747" cy="538824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95" name="Group 94"/>
          <p:cNvGrpSpPr/>
          <p:nvPr/>
        </p:nvGrpSpPr>
        <p:grpSpPr>
          <a:xfrm>
            <a:off x="457200" y="1001576"/>
            <a:ext cx="2378011" cy="2375580"/>
            <a:chOff x="457200" y="1001576"/>
            <a:chExt cx="2378011" cy="2375580"/>
          </a:xfrm>
        </p:grpSpPr>
        <p:sp>
          <p:nvSpPr>
            <p:cNvPr id="96" name="Rectangle 95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8" name="Rectangle 97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9" name="Rectangle 118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0" name="Rectangle 119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2" name="Rectangle 121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6" name="Rectangle 125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7" name="Rectangle 126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8" name="Rectangle 127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9" name="Rectangle 128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30" name="Rectangle 129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sp>
        <p:nvSpPr>
          <p:cNvPr id="133" name="TextBox 132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34" name="Straight Connector 133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5" name="Straight Connector 134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Straight Connector 135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7" name="Straight Connector 136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8" name="TextBox 137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sp>
        <p:nvSpPr>
          <p:cNvPr id="139" name="TextBox 138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140" name="TextBox 139"/>
          <p:cNvSpPr txBox="1"/>
          <p:nvPr/>
        </p:nvSpPr>
        <p:spPr>
          <a:xfrm>
            <a:off x="5264473" y="1090885"/>
            <a:ext cx="8467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N cores</a:t>
            </a:r>
            <a:endParaRPr lang="en-US" b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5913899" y="1874115"/>
            <a:ext cx="6800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1 core</a:t>
            </a:r>
            <a:endParaRPr lang="en-US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6099985" y="3143250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6099985" y="6147682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4" name="Rectangle 83"/>
          <p:cNvSpPr/>
          <p:nvPr/>
        </p:nvSpPr>
        <p:spPr bwMode="auto">
          <a:xfrm>
            <a:off x="6952982" y="3930182"/>
            <a:ext cx="1349641" cy="1933718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6906359" y="1077518"/>
            <a:ext cx="1716939" cy="1933718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Computational Sprinting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cxnSp>
        <p:nvCxnSpPr>
          <p:cNvPr id="54" name="Straight Connector 53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Rectangle 91"/>
          <p:cNvSpPr/>
          <p:nvPr/>
        </p:nvSpPr>
        <p:spPr bwMode="auto">
          <a:xfrm>
            <a:off x="457898" y="1003156"/>
            <a:ext cx="539496" cy="539496"/>
          </a:xfrm>
          <a:prstGeom prst="rect">
            <a:avLst/>
          </a:prstGeom>
          <a:solidFill>
            <a:srgbClr val="0000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pSp>
        <p:nvGrpSpPr>
          <p:cNvPr id="95" name="Group 94"/>
          <p:cNvGrpSpPr/>
          <p:nvPr/>
        </p:nvGrpSpPr>
        <p:grpSpPr>
          <a:xfrm>
            <a:off x="457200" y="1001576"/>
            <a:ext cx="2378011" cy="2375580"/>
            <a:chOff x="457200" y="1001576"/>
            <a:chExt cx="2378011" cy="2375580"/>
          </a:xfrm>
        </p:grpSpPr>
        <p:sp>
          <p:nvSpPr>
            <p:cNvPr id="96" name="Rectangle 95"/>
            <p:cNvSpPr/>
            <p:nvPr/>
          </p:nvSpPr>
          <p:spPr bwMode="auto">
            <a:xfrm>
              <a:off x="1070271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7" name="Rectangle 96"/>
            <p:cNvSpPr/>
            <p:nvPr/>
          </p:nvSpPr>
          <p:spPr bwMode="auto">
            <a:xfrm>
              <a:off x="1683342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8" name="Rectangle 97"/>
            <p:cNvSpPr/>
            <p:nvPr/>
          </p:nvSpPr>
          <p:spPr bwMode="auto">
            <a:xfrm>
              <a:off x="2295715" y="1001576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9" name="Rectangle 98"/>
            <p:cNvSpPr/>
            <p:nvPr/>
          </p:nvSpPr>
          <p:spPr bwMode="auto">
            <a:xfrm>
              <a:off x="1070271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1683342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2295715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457898" y="283766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8" name="Rectangle 117"/>
            <p:cNvSpPr/>
            <p:nvPr/>
          </p:nvSpPr>
          <p:spPr bwMode="auto">
            <a:xfrm>
              <a:off x="1069573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19" name="Rectangle 118"/>
            <p:cNvSpPr/>
            <p:nvPr/>
          </p:nvSpPr>
          <p:spPr bwMode="auto">
            <a:xfrm>
              <a:off x="1682644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0" name="Rectangle 119"/>
            <p:cNvSpPr/>
            <p:nvPr/>
          </p:nvSpPr>
          <p:spPr bwMode="auto">
            <a:xfrm>
              <a:off x="2295017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1" name="Rectangle 120"/>
            <p:cNvSpPr/>
            <p:nvPr/>
          </p:nvSpPr>
          <p:spPr bwMode="auto">
            <a:xfrm>
              <a:off x="457200" y="2227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2" name="Rectangle 121"/>
            <p:cNvSpPr/>
            <p:nvPr/>
          </p:nvSpPr>
          <p:spPr bwMode="auto">
            <a:xfrm>
              <a:off x="1070271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3" name="Rectangle 122"/>
            <p:cNvSpPr/>
            <p:nvPr/>
          </p:nvSpPr>
          <p:spPr bwMode="auto">
            <a:xfrm>
              <a:off x="1683342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2295715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457898" y="161161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pic>
        <p:nvPicPr>
          <p:cNvPr id="126" name="Picture 12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29" name="TextBox 128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30" name="Straight Connector 129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Straight Connector 130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Straight Connector 132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TextBox 133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sp>
        <p:nvSpPr>
          <p:cNvPr id="135" name="TextBox 134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5264473" y="1090885"/>
            <a:ext cx="8467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N cores</a:t>
            </a:r>
            <a:endParaRPr lang="en-US" b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5913899" y="1874115"/>
            <a:ext cx="6800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1 core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6099985" y="3143250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6099985" y="6147682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47" grpId="0" animBg="1"/>
      <p:bldP spid="9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Chart 38"/>
          <p:cNvGraphicFramePr/>
          <p:nvPr/>
        </p:nvGraphicFramePr>
        <p:xfrm>
          <a:off x="4108450" y="3786384"/>
          <a:ext cx="4572000" cy="236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0" name="Chart 39"/>
          <p:cNvGraphicFramePr/>
          <p:nvPr/>
        </p:nvGraphicFramePr>
        <p:xfrm>
          <a:off x="4051299" y="1003156"/>
          <a:ext cx="4572000" cy="2140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Computational Sprinting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cxnSp>
        <p:nvCxnSpPr>
          <p:cNvPr id="53" name="Straight Connector 52"/>
          <p:cNvCxnSpPr/>
          <p:nvPr/>
        </p:nvCxnSpPr>
        <p:spPr bwMode="auto">
          <a:xfrm>
            <a:off x="4257817" y="4132600"/>
            <a:ext cx="4422633" cy="1588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70" name="Group 69"/>
          <p:cNvGrpSpPr/>
          <p:nvPr/>
        </p:nvGrpSpPr>
        <p:grpSpPr>
          <a:xfrm>
            <a:off x="457200" y="1001576"/>
            <a:ext cx="2378011" cy="2375580"/>
            <a:chOff x="723166" y="4403888"/>
            <a:chExt cx="2378011" cy="2375580"/>
          </a:xfrm>
        </p:grpSpPr>
        <p:sp>
          <p:nvSpPr>
            <p:cNvPr id="71" name="Rectangle 70"/>
            <p:cNvSpPr/>
            <p:nvPr/>
          </p:nvSpPr>
          <p:spPr bwMode="auto">
            <a:xfrm>
              <a:off x="1336237" y="440388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1949308" y="440388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2561681" y="4403888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336237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5" name="Rectangle 74"/>
            <p:cNvSpPr/>
            <p:nvPr/>
          </p:nvSpPr>
          <p:spPr bwMode="auto">
            <a:xfrm>
              <a:off x="1949308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6" name="Rectangle 75"/>
            <p:cNvSpPr/>
            <p:nvPr/>
          </p:nvSpPr>
          <p:spPr bwMode="auto">
            <a:xfrm>
              <a:off x="2561681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723864" y="6239972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8" name="Rectangle 77"/>
            <p:cNvSpPr/>
            <p:nvPr/>
          </p:nvSpPr>
          <p:spPr bwMode="auto">
            <a:xfrm>
              <a:off x="1335539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9" name="Rectangle 78"/>
            <p:cNvSpPr/>
            <p:nvPr/>
          </p:nvSpPr>
          <p:spPr bwMode="auto">
            <a:xfrm>
              <a:off x="1948610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1" name="Rectangle 80"/>
            <p:cNvSpPr/>
            <p:nvPr/>
          </p:nvSpPr>
          <p:spPr bwMode="auto">
            <a:xfrm>
              <a:off x="2560983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2" name="Rectangle 81"/>
            <p:cNvSpPr/>
            <p:nvPr/>
          </p:nvSpPr>
          <p:spPr bwMode="auto">
            <a:xfrm>
              <a:off x="723166" y="5629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1336237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1949308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5" name="Rectangle 84"/>
            <p:cNvSpPr/>
            <p:nvPr/>
          </p:nvSpPr>
          <p:spPr bwMode="auto">
            <a:xfrm>
              <a:off x="2561681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6" name="Rectangle 85"/>
            <p:cNvSpPr/>
            <p:nvPr/>
          </p:nvSpPr>
          <p:spPr bwMode="auto">
            <a:xfrm>
              <a:off x="723864" y="5013930"/>
              <a:ext cx="539496" cy="539496"/>
            </a:xfrm>
            <a:prstGeom prst="rect">
              <a:avLst/>
            </a:prstGeom>
            <a:solidFill>
              <a:srgbClr val="000000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pic>
        <p:nvPicPr>
          <p:cNvPr id="87" name="Picture 86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2252" y="1002248"/>
            <a:ext cx="540747" cy="538824"/>
          </a:xfrm>
          <a:prstGeom prst="rect">
            <a:avLst/>
          </a:prstGeom>
        </p:spPr>
      </p:pic>
      <p:sp>
        <p:nvSpPr>
          <p:cNvPr id="119" name="Rectangle 118"/>
          <p:cNvSpPr/>
          <p:nvPr/>
        </p:nvSpPr>
        <p:spPr bwMode="auto">
          <a:xfrm>
            <a:off x="364604" y="913428"/>
            <a:ext cx="2560320" cy="2560320"/>
          </a:xfrm>
          <a:prstGeom prst="rect">
            <a:avLst/>
          </a:prstGeom>
          <a:noFill/>
          <a:ln w="76200" cap="flat" cmpd="sng" algn="ctr">
            <a:solidFill>
              <a:srgbClr val="78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20" name="Rectangle 119"/>
          <p:cNvSpPr/>
          <p:nvPr/>
        </p:nvSpPr>
        <p:spPr bwMode="auto">
          <a:xfrm>
            <a:off x="454814" y="1001576"/>
            <a:ext cx="539496" cy="539496"/>
          </a:xfrm>
          <a:prstGeom prst="rect">
            <a:avLst/>
          </a:prstGeom>
          <a:solidFill>
            <a:srgbClr val="0000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122" name="TextBox 121"/>
          <p:cNvSpPr txBox="1"/>
          <p:nvPr/>
        </p:nvSpPr>
        <p:spPr>
          <a:xfrm rot="16200000">
            <a:off x="3585289" y="1843756"/>
            <a:ext cx="67976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power</a:t>
            </a:r>
            <a:endParaRPr lang="en-US" b="1" dirty="0"/>
          </a:p>
        </p:txBody>
      </p:sp>
      <p:sp>
        <p:nvSpPr>
          <p:cNvPr id="123" name="TextBox 122"/>
          <p:cNvSpPr txBox="1"/>
          <p:nvPr/>
        </p:nvSpPr>
        <p:spPr>
          <a:xfrm rot="16200000">
            <a:off x="3165757" y="4870335"/>
            <a:ext cx="151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</a:t>
            </a:r>
            <a:endParaRPr lang="en-US" b="1" dirty="0"/>
          </a:p>
        </p:txBody>
      </p:sp>
      <p:cxnSp>
        <p:nvCxnSpPr>
          <p:cNvPr id="124" name="Straight Connector 123"/>
          <p:cNvCxnSpPr/>
          <p:nvPr/>
        </p:nvCxnSpPr>
        <p:spPr bwMode="auto">
          <a:xfrm rot="5400000">
            <a:off x="3172002" y="1981461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5" name="Straight Connector 124"/>
          <p:cNvCxnSpPr/>
          <p:nvPr/>
        </p:nvCxnSpPr>
        <p:spPr bwMode="auto">
          <a:xfrm>
            <a:off x="4185253" y="3011892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Straight Connector 125"/>
          <p:cNvCxnSpPr/>
          <p:nvPr/>
        </p:nvCxnSpPr>
        <p:spPr bwMode="auto">
          <a:xfrm rot="5400000">
            <a:off x="3204882" y="4966239"/>
            <a:ext cx="206245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Straight Connector 126"/>
          <p:cNvCxnSpPr/>
          <p:nvPr/>
        </p:nvCxnSpPr>
        <p:spPr bwMode="auto">
          <a:xfrm>
            <a:off x="4218133" y="5996670"/>
            <a:ext cx="4365482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9" name="TextBox 128"/>
          <p:cNvSpPr txBox="1"/>
          <p:nvPr/>
        </p:nvSpPr>
        <p:spPr>
          <a:xfrm>
            <a:off x="3508391" y="3628336"/>
            <a:ext cx="760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</a:t>
            </a:r>
            <a:r>
              <a:rPr lang="en-US" sz="2400" baseline="-25000" dirty="0" smtClean="0"/>
              <a:t>max</a:t>
            </a:r>
            <a:endParaRPr lang="en-US" sz="2400" dirty="0"/>
          </a:p>
        </p:txBody>
      </p:sp>
      <p:sp>
        <p:nvSpPr>
          <p:cNvPr id="130" name="TextBox 129"/>
          <p:cNvSpPr txBox="1"/>
          <p:nvPr/>
        </p:nvSpPr>
        <p:spPr>
          <a:xfrm>
            <a:off x="5264473" y="1090885"/>
            <a:ext cx="8467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N cores</a:t>
            </a:r>
            <a:endParaRPr lang="en-US" b="1" dirty="0"/>
          </a:p>
        </p:txBody>
      </p:sp>
      <p:sp>
        <p:nvSpPr>
          <p:cNvPr id="131" name="TextBox 130"/>
          <p:cNvSpPr txBox="1"/>
          <p:nvPr/>
        </p:nvSpPr>
        <p:spPr>
          <a:xfrm>
            <a:off x="5913899" y="1874115"/>
            <a:ext cx="6800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1 core</a:t>
            </a:r>
            <a:endParaRPr 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6099985" y="3143250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6099985" y="6147682"/>
            <a:ext cx="4746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 smtClean="0"/>
              <a:t>time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143848" y="3781501"/>
            <a:ext cx="29352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State of the art: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Turbo Boost 2.0 exceeds sustainable power with DVFS</a:t>
            </a:r>
            <a:br>
              <a:rPr lang="en-US" sz="2400" dirty="0" smtClean="0">
                <a:solidFill>
                  <a:srgbClr val="FF0000"/>
                </a:solidFill>
              </a:rPr>
            </a:br>
            <a:r>
              <a:rPr lang="en-US" sz="2400" dirty="0" smtClean="0">
                <a:solidFill>
                  <a:srgbClr val="FF0000"/>
                </a:solidFill>
              </a:rPr>
              <a:t> (~25% for 25s)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Our goal: 10x, ~1s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Sprinting Challenges and Opportunities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8175" y="990600"/>
            <a:ext cx="8298626" cy="5257800"/>
          </a:xfrm>
        </p:spPr>
        <p:txBody>
          <a:bodyPr/>
          <a:lstStyle/>
          <a:p>
            <a:r>
              <a:rPr lang="en-US" dirty="0" smtClean="0"/>
              <a:t>Thermal challenges</a:t>
            </a:r>
          </a:p>
          <a:p>
            <a:pPr lvl="1"/>
            <a:r>
              <a:rPr lang="en-US" dirty="0" smtClean="0"/>
              <a:t>How to extend sprint duration and intensity?</a:t>
            </a:r>
          </a:p>
          <a:p>
            <a:pPr lvl="1">
              <a:spcAft>
                <a:spcPts val="1200"/>
              </a:spcAft>
              <a:buNone/>
            </a:pPr>
            <a:r>
              <a:rPr lang="en-US" i="1" dirty="0" smtClean="0"/>
              <a:t>   </a:t>
            </a:r>
            <a:r>
              <a:rPr lang="en-US" dirty="0" smtClean="0">
                <a:solidFill>
                  <a:srgbClr val="FF1515"/>
                </a:solidFill>
              </a:rPr>
              <a:t>Latent heat from </a:t>
            </a:r>
            <a:r>
              <a:rPr lang="en-US" b="1" i="1" dirty="0" smtClean="0">
                <a:solidFill>
                  <a:srgbClr val="FF0000"/>
                </a:solidFill>
              </a:rPr>
              <a:t>phase change material</a:t>
            </a:r>
            <a:r>
              <a:rPr lang="en-US" dirty="0" smtClean="0">
                <a:solidFill>
                  <a:srgbClr val="FF0000"/>
                </a:solidFill>
              </a:rPr>
              <a:t> close to the die</a:t>
            </a:r>
          </a:p>
          <a:p>
            <a:r>
              <a:rPr lang="en-US" dirty="0" smtClean="0"/>
              <a:t>Electrical challenges</a:t>
            </a:r>
          </a:p>
          <a:p>
            <a:pPr lvl="1"/>
            <a:r>
              <a:rPr lang="en-US" dirty="0" smtClean="0"/>
              <a:t>How to supply peak currents? </a:t>
            </a:r>
            <a:r>
              <a:rPr lang="en-US" dirty="0" smtClean="0">
                <a:solidFill>
                  <a:srgbClr val="FF0000"/>
                </a:solidFill>
              </a:rPr>
              <a:t>Ultracapacitor/battery hybrid</a:t>
            </a:r>
          </a:p>
          <a:p>
            <a:pPr lvl="1">
              <a:spcAft>
                <a:spcPts val="1200"/>
              </a:spcAft>
            </a:pPr>
            <a:r>
              <a:rPr lang="en-US" dirty="0" smtClean="0"/>
              <a:t>How to ensure power stability? </a:t>
            </a:r>
            <a:r>
              <a:rPr lang="en-US" dirty="0" smtClean="0">
                <a:solidFill>
                  <a:srgbClr val="FF0000"/>
                </a:solidFill>
              </a:rPr>
              <a:t>Ramped activation (~100μs)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</a:t>
            </a:r>
          </a:p>
          <a:p>
            <a:r>
              <a:rPr lang="en-US" dirty="0" smtClean="0"/>
              <a:t>Architectural challenges</a:t>
            </a:r>
          </a:p>
          <a:p>
            <a:pPr lvl="1"/>
            <a:r>
              <a:rPr lang="en-US" dirty="0" smtClean="0"/>
              <a:t>How to control sprints? </a:t>
            </a:r>
            <a:r>
              <a:rPr lang="en-US" dirty="0" smtClean="0">
                <a:solidFill>
                  <a:srgbClr val="FF0000"/>
                </a:solidFill>
              </a:rPr>
              <a:t>Thermal resource management</a:t>
            </a:r>
          </a:p>
          <a:p>
            <a:pPr lvl="1"/>
            <a:r>
              <a:rPr lang="en-US" dirty="0" smtClean="0"/>
              <a:t>How do applications benefit from sprinting?</a:t>
            </a:r>
          </a:p>
          <a:p>
            <a:pPr lvl="1">
              <a:buNone/>
            </a:pPr>
            <a:r>
              <a:rPr lang="en-US" i="1" dirty="0" smtClean="0">
                <a:solidFill>
                  <a:srgbClr val="FF1515"/>
                </a:solidFill>
              </a:rPr>
              <a:t>   </a:t>
            </a:r>
            <a:r>
              <a:rPr lang="en-US" dirty="0" smtClean="0">
                <a:solidFill>
                  <a:srgbClr val="FF1515"/>
                </a:solidFill>
              </a:rPr>
              <a:t>10x responsiveness improvements; small energy overhead</a:t>
            </a:r>
            <a:r>
              <a:rPr lang="en-US" i="1" dirty="0" smtClean="0">
                <a:solidFill>
                  <a:srgbClr val="FF1515"/>
                </a:solidFill>
              </a:rPr>
              <a:t> </a:t>
            </a:r>
          </a:p>
          <a:p>
            <a:pPr lvl="2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Computational Sprinting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529214" y="838018"/>
            <a:ext cx="2042364" cy="1129871"/>
            <a:chOff x="1079842" y="2031268"/>
            <a:chExt cx="2571411" cy="1683482"/>
          </a:xfrm>
        </p:grpSpPr>
        <p:sp>
          <p:nvSpPr>
            <p:cNvPr id="8" name="Rectangle 7"/>
            <p:cNvSpPr/>
            <p:nvPr/>
          </p:nvSpPr>
          <p:spPr bwMode="auto">
            <a:xfrm>
              <a:off x="1425756" y="2529956"/>
              <a:ext cx="1990704" cy="1184794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1959300" y="2972656"/>
              <a:ext cx="900066" cy="62600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Arial" charset="0"/>
                  <a:ea typeface="ＭＳ Ｐゴシック" pitchFamily="32" charset="-128"/>
                </a:rPr>
                <a:t>Die</a:t>
              </a: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 flipV="1">
              <a:off x="1079842" y="2529955"/>
              <a:ext cx="2571409" cy="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1" name="Group 70"/>
            <p:cNvGrpSpPr/>
            <p:nvPr/>
          </p:nvGrpSpPr>
          <p:grpSpPr>
            <a:xfrm>
              <a:off x="1094924" y="2048610"/>
              <a:ext cx="123035" cy="482139"/>
              <a:chOff x="1063174" y="2048610"/>
              <a:chExt cx="123035" cy="482139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rot="5400000" flipH="1" flipV="1">
                <a:off x="822898" y="2288886"/>
                <a:ext cx="482139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4" name="Straight Connector 53"/>
              <p:cNvCxnSpPr/>
              <p:nvPr/>
            </p:nvCxnSpPr>
            <p:spPr bwMode="auto">
              <a:xfrm rot="5400000" flipH="1" flipV="1">
                <a:off x="988996" y="2245029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2" name="Group 71"/>
            <p:cNvGrpSpPr/>
            <p:nvPr/>
          </p:nvGrpSpPr>
          <p:grpSpPr>
            <a:xfrm flipH="1">
              <a:off x="3512340" y="2031268"/>
              <a:ext cx="123035" cy="482139"/>
              <a:chOff x="1063174" y="2048610"/>
              <a:chExt cx="123035" cy="482139"/>
            </a:xfrm>
          </p:grpSpPr>
          <p:cxnSp>
            <p:nvCxnSpPr>
              <p:cNvPr id="51" name="Straight Connector 50"/>
              <p:cNvCxnSpPr/>
              <p:nvPr/>
            </p:nvCxnSpPr>
            <p:spPr bwMode="auto">
              <a:xfrm rot="5400000" flipH="1" flipV="1">
                <a:off x="822898" y="2288886"/>
                <a:ext cx="482139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" name="Straight Connector 51"/>
              <p:cNvCxnSpPr/>
              <p:nvPr/>
            </p:nvCxnSpPr>
            <p:spPr bwMode="auto">
              <a:xfrm rot="5400000" flipH="1" flipV="1">
                <a:off x="988996" y="2245029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13" name="Straight Connector 12"/>
            <p:cNvCxnSpPr/>
            <p:nvPr/>
          </p:nvCxnSpPr>
          <p:spPr bwMode="auto">
            <a:xfrm rot="5400000" flipH="1" flipV="1">
              <a:off x="1229954" y="2230841"/>
              <a:ext cx="393192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/>
            <p:cNvCxnSpPr/>
            <p:nvPr/>
          </p:nvCxnSpPr>
          <p:spPr bwMode="auto">
            <a:xfrm rot="5400000" flipH="1" flipV="1">
              <a:off x="1351579" y="2231457"/>
              <a:ext cx="392837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/>
            <p:cNvCxnSpPr/>
            <p:nvPr/>
          </p:nvCxnSpPr>
          <p:spPr bwMode="auto">
            <a:xfrm rot="10800000" flipV="1">
              <a:off x="1425757" y="2047820"/>
              <a:ext cx="121451" cy="158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6" name="Group 129"/>
            <p:cNvGrpSpPr/>
            <p:nvPr/>
          </p:nvGrpSpPr>
          <p:grpSpPr>
            <a:xfrm>
              <a:off x="1771831" y="2035039"/>
              <a:ext cx="123036" cy="393630"/>
              <a:chOff x="1425756" y="2035039"/>
              <a:chExt cx="123036" cy="393630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9" name="Straight Connector 48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0" name="Straight Connector 49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7" name="Group 133"/>
            <p:cNvGrpSpPr/>
            <p:nvPr/>
          </p:nvGrpSpPr>
          <p:grpSpPr>
            <a:xfrm>
              <a:off x="2117906" y="2035039"/>
              <a:ext cx="123036" cy="393630"/>
              <a:chOff x="1425756" y="2035039"/>
              <a:chExt cx="123036" cy="393630"/>
            </a:xfrm>
          </p:grpSpPr>
          <p:cxnSp>
            <p:nvCxnSpPr>
              <p:cNvPr id="45" name="Straight Connector 44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6" name="Straight Connector 45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7" name="Straight Connector 46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8" name="Group 137"/>
            <p:cNvGrpSpPr/>
            <p:nvPr/>
          </p:nvGrpSpPr>
          <p:grpSpPr>
            <a:xfrm>
              <a:off x="2463981" y="2035039"/>
              <a:ext cx="123036" cy="393630"/>
              <a:chOff x="1425756" y="2035039"/>
              <a:chExt cx="123036" cy="393630"/>
            </a:xfrm>
          </p:grpSpPr>
          <p:cxnSp>
            <p:nvCxnSpPr>
              <p:cNvPr id="42" name="Straight Connector 41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Straight Connector 42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Straight Connector 43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9" name="Group 141"/>
            <p:cNvGrpSpPr/>
            <p:nvPr/>
          </p:nvGrpSpPr>
          <p:grpSpPr>
            <a:xfrm>
              <a:off x="2810056" y="2035039"/>
              <a:ext cx="123036" cy="393630"/>
              <a:chOff x="1425756" y="2035039"/>
              <a:chExt cx="123036" cy="393630"/>
            </a:xfrm>
          </p:grpSpPr>
          <p:cxnSp>
            <p:nvCxnSpPr>
              <p:cNvPr id="39" name="Straight Connector 38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Straight Connector 39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" name="Straight Connector 40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0" name="Group 145"/>
            <p:cNvGrpSpPr/>
            <p:nvPr/>
          </p:nvGrpSpPr>
          <p:grpSpPr>
            <a:xfrm>
              <a:off x="3156131" y="2035039"/>
              <a:ext cx="123036" cy="393630"/>
              <a:chOff x="1425756" y="2035039"/>
              <a:chExt cx="123036" cy="393630"/>
            </a:xfrm>
          </p:grpSpPr>
          <p:cxnSp>
            <p:nvCxnSpPr>
              <p:cNvPr id="36" name="Straight Connector 35"/>
              <p:cNvCxnSpPr/>
              <p:nvPr/>
            </p:nvCxnSpPr>
            <p:spPr bwMode="auto">
              <a:xfrm rot="5400000" flipH="1" flipV="1">
                <a:off x="1229954" y="2230841"/>
                <a:ext cx="393192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Straight Connector 36"/>
              <p:cNvCxnSpPr/>
              <p:nvPr/>
            </p:nvCxnSpPr>
            <p:spPr bwMode="auto">
              <a:xfrm rot="5400000" flipH="1" flipV="1">
                <a:off x="1351579" y="2231457"/>
                <a:ext cx="392837" cy="1588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Straight Connector 37"/>
              <p:cNvCxnSpPr/>
              <p:nvPr/>
            </p:nvCxnSpPr>
            <p:spPr bwMode="auto">
              <a:xfrm rot="10800000" flipV="1">
                <a:off x="1425757" y="2047820"/>
                <a:ext cx="121451" cy="1584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1" name="Straight Connector 20"/>
            <p:cNvCxnSpPr/>
            <p:nvPr/>
          </p:nvCxnSpPr>
          <p:spPr bwMode="auto">
            <a:xfrm>
              <a:off x="1206049" y="242490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1533074" y="241855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1891849" y="2428075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2241099" y="2428075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2583999" y="243760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/>
            <p:nvPr/>
          </p:nvCxnSpPr>
          <p:spPr bwMode="auto">
            <a:xfrm>
              <a:off x="2942774" y="2447125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/>
            <p:nvPr/>
          </p:nvCxnSpPr>
          <p:spPr bwMode="auto">
            <a:xfrm>
              <a:off x="3285674" y="2424900"/>
              <a:ext cx="219707" cy="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 rot="10800000">
              <a:off x="1079844" y="2047821"/>
              <a:ext cx="153990" cy="1585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 rot="10800000">
              <a:off x="3505381" y="2037923"/>
              <a:ext cx="145872" cy="15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Trapezoid 33"/>
            <p:cNvSpPr/>
            <p:nvPr/>
          </p:nvSpPr>
          <p:spPr bwMode="auto">
            <a:xfrm flipV="1">
              <a:off x="1889666" y="2545164"/>
              <a:ext cx="1027414" cy="408731"/>
            </a:xfrm>
            <a:prstGeom prst="trapezoid">
              <a:avLst/>
            </a:prstGeom>
            <a:blipFill rotWithShape="1">
              <a:blip r:embed="rId3">
                <a:alphaModFix amt="70000"/>
              </a:blip>
              <a:tile tx="0" ty="0" sx="100000" sy="100000" flip="none" algn="tl"/>
            </a:blip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019842" y="2471068"/>
              <a:ext cx="868597" cy="386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chemeClr val="tx2"/>
                  </a:solidFill>
                </a:rPr>
                <a:t>PCM</a:t>
              </a:r>
              <a:endParaRPr lang="en-US" sz="1600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Beyond Simulation: </a:t>
            </a:r>
            <a:br>
              <a:rPr lang="en-US" dirty="0" smtClean="0"/>
            </a:br>
            <a:r>
              <a:rPr lang="en-US" dirty="0" smtClean="0"/>
              <a:t>Can we make a real system sprint?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424" y="110306"/>
            <a:ext cx="6586735" cy="429659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11648" y="4644939"/>
            <a:ext cx="8743847" cy="1354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7013" indent="-227013" defTabSz="914400" fontAlgn="base">
              <a:spcBef>
                <a:spcPct val="20000"/>
              </a:spcBef>
              <a:spcAft>
                <a:spcPct val="0"/>
              </a:spcAft>
              <a:buSzPct val="100000"/>
            </a:pPr>
            <a:r>
              <a:rPr lang="en-US" sz="2800" b="1" dirty="0" smtClean="0">
                <a:solidFill>
                  <a:schemeClr val="accent6"/>
                </a:solidFill>
              </a:rPr>
              <a:t>Characterize real system energy/performance</a:t>
            </a:r>
          </a:p>
          <a:p>
            <a:pPr marL="227013" indent="-227013" defTabSz="914400" fontAlgn="base">
              <a:spcBef>
                <a:spcPct val="20000"/>
              </a:spcBef>
              <a:spcAft>
                <a:spcPct val="0"/>
              </a:spcAft>
              <a:buSzPct val="100000"/>
            </a:pPr>
            <a:r>
              <a:rPr lang="en-US" sz="2800" b="1" dirty="0" smtClean="0">
                <a:solidFill>
                  <a:schemeClr val="accent6"/>
                </a:solidFill>
              </a:rPr>
              <a:t>How might sprinting behave on real system?</a:t>
            </a:r>
          </a:p>
          <a:p>
            <a:pPr marL="227013" marR="0" lvl="0" indent="-227013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5EA7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27013" marR="0" lvl="0" indent="-227013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5EA7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44588" marR="0" lvl="2" indent="-227013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424" y="110306"/>
            <a:ext cx="6586735" cy="429659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Cores: Energy and Performance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pSp>
        <p:nvGrpSpPr>
          <p:cNvPr id="27" name="Group 26"/>
          <p:cNvGrpSpPr/>
          <p:nvPr/>
        </p:nvGrpSpPr>
        <p:grpSpPr>
          <a:xfrm>
            <a:off x="893758" y="6255957"/>
            <a:ext cx="3257494" cy="338554"/>
            <a:chOff x="893758" y="6255957"/>
            <a:chExt cx="3257494" cy="338554"/>
          </a:xfrm>
        </p:grpSpPr>
        <p:sp>
          <p:nvSpPr>
            <p:cNvPr id="23" name="TextBox 22"/>
            <p:cNvSpPr txBox="1"/>
            <p:nvPr/>
          </p:nvSpPr>
          <p:spPr>
            <a:xfrm>
              <a:off x="893758" y="6255957"/>
              <a:ext cx="7549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1 core</a:t>
              </a:r>
              <a:endParaRPr lang="en-US" sz="16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696355" y="6255957"/>
              <a:ext cx="8575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2 cores</a:t>
              </a:r>
              <a:endParaRPr lang="en-US" sz="16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93726" y="6255957"/>
              <a:ext cx="8575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4 cores</a:t>
              </a:r>
              <a:endParaRPr lang="en-US" sz="1600" dirty="0"/>
            </a:p>
          </p:txBody>
        </p:sp>
      </p:grpSp>
      <p:graphicFrame>
        <p:nvGraphicFramePr>
          <p:cNvPr id="12" name="Chart 11"/>
          <p:cNvGraphicFramePr/>
          <p:nvPr/>
        </p:nvGraphicFramePr>
        <p:xfrm>
          <a:off x="439854" y="4901534"/>
          <a:ext cx="45720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Box 28"/>
          <p:cNvSpPr txBox="1"/>
          <p:nvPr/>
        </p:nvSpPr>
        <p:spPr>
          <a:xfrm rot="16200000">
            <a:off x="-552627" y="5449903"/>
            <a:ext cx="1872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normalized energy</a:t>
            </a:r>
            <a:endParaRPr lang="en-US" sz="1600" dirty="0"/>
          </a:p>
        </p:txBody>
      </p:sp>
      <p:graphicFrame>
        <p:nvGraphicFramePr>
          <p:cNvPr id="7" name="Chart 6"/>
          <p:cNvGraphicFramePr/>
          <p:nvPr/>
        </p:nvGraphicFramePr>
        <p:xfrm>
          <a:off x="627409" y="1191558"/>
          <a:ext cx="45720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893758" y="2618807"/>
            <a:ext cx="3257494" cy="338554"/>
            <a:chOff x="768599" y="2618807"/>
            <a:chExt cx="3257494" cy="338554"/>
          </a:xfrm>
        </p:grpSpPr>
        <p:sp>
          <p:nvSpPr>
            <p:cNvPr id="17" name="TextBox 16"/>
            <p:cNvSpPr txBox="1"/>
            <p:nvPr/>
          </p:nvSpPr>
          <p:spPr>
            <a:xfrm>
              <a:off x="768599" y="2618807"/>
              <a:ext cx="7549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1 core</a:t>
              </a:r>
              <a:endParaRPr lang="en-US" sz="16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71196" y="2618807"/>
              <a:ext cx="8575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2 cores</a:t>
              </a:r>
              <a:endParaRPr lang="en-US" sz="16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168567" y="2618807"/>
              <a:ext cx="8575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4 cores</a:t>
              </a:r>
              <a:endParaRPr lang="en-US" sz="1600" dirty="0"/>
            </a:p>
          </p:txBody>
        </p:sp>
      </p:grpSp>
      <p:sp>
        <p:nvSpPr>
          <p:cNvPr id="30" name="TextBox 29"/>
          <p:cNvSpPr txBox="1"/>
          <p:nvPr/>
        </p:nvSpPr>
        <p:spPr>
          <a:xfrm rot="16200000">
            <a:off x="-593297" y="1824836"/>
            <a:ext cx="2032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normalized speedup</a:t>
            </a:r>
            <a:endParaRPr lang="en-US" sz="1600" dirty="0"/>
          </a:p>
        </p:txBody>
      </p:sp>
      <p:grpSp>
        <p:nvGrpSpPr>
          <p:cNvPr id="35" name="Group 34"/>
          <p:cNvGrpSpPr/>
          <p:nvPr/>
        </p:nvGrpSpPr>
        <p:grpSpPr>
          <a:xfrm>
            <a:off x="253691" y="3020358"/>
            <a:ext cx="4836721" cy="1851073"/>
            <a:chOff x="384621" y="3020358"/>
            <a:chExt cx="4836721" cy="1851073"/>
          </a:xfrm>
        </p:grpSpPr>
        <p:graphicFrame>
          <p:nvGraphicFramePr>
            <p:cNvPr id="11" name="Chart 10"/>
            <p:cNvGraphicFramePr/>
            <p:nvPr/>
          </p:nvGraphicFramePr>
          <p:xfrm>
            <a:off x="649342" y="3020358"/>
            <a:ext cx="4572000" cy="1828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pSp>
          <p:nvGrpSpPr>
            <p:cNvPr id="26" name="Group 25"/>
            <p:cNvGrpSpPr/>
            <p:nvPr/>
          </p:nvGrpSpPr>
          <p:grpSpPr>
            <a:xfrm>
              <a:off x="893758" y="4532877"/>
              <a:ext cx="3257494" cy="338554"/>
              <a:chOff x="880271" y="4532877"/>
              <a:chExt cx="3257494" cy="338554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880271" y="4532877"/>
                <a:ext cx="7549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1 core</a:t>
                </a:r>
                <a:endParaRPr lang="en-US" sz="1600" dirty="0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682868" y="4532877"/>
                <a:ext cx="8575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2 cores</a:t>
                </a:r>
                <a:endParaRPr lang="en-US" sz="1600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280239" y="4532877"/>
                <a:ext cx="8575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4 cores</a:t>
                </a:r>
                <a:endParaRPr lang="en-US" sz="1600" dirty="0"/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 rot="16200000">
              <a:off x="182141" y="3662126"/>
              <a:ext cx="7435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power</a:t>
              </a:r>
              <a:endParaRPr lang="en-US" sz="1600" dirty="0"/>
            </a:p>
          </p:txBody>
        </p:sp>
      </p:grp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5039839" y="2458378"/>
            <a:ext cx="4064882" cy="1354633"/>
          </a:xfrm>
        </p:spPr>
        <p:txBody>
          <a:bodyPr/>
          <a:lstStyle/>
          <a:p>
            <a:pPr algn="ctr">
              <a:buNone/>
            </a:pPr>
            <a:r>
              <a:rPr lang="en-US" b="1" dirty="0" smtClean="0">
                <a:solidFill>
                  <a:srgbClr val="005EA7"/>
                </a:solidFill>
              </a:rPr>
              <a:t>Power increases with </a:t>
            </a:r>
            <a:br>
              <a:rPr lang="en-US" b="1" dirty="0" smtClean="0">
                <a:solidFill>
                  <a:srgbClr val="005EA7"/>
                </a:solidFill>
              </a:rPr>
            </a:br>
            <a:r>
              <a:rPr lang="en-US" b="1" dirty="0" smtClean="0">
                <a:solidFill>
                  <a:srgbClr val="005EA7"/>
                </a:solidFill>
              </a:rPr>
              <a:t>core count </a:t>
            </a:r>
            <a:endParaRPr lang="en-US" dirty="0" smtClean="0">
              <a:solidFill>
                <a:schemeClr val="accent6"/>
              </a:solidFill>
            </a:endParaRPr>
          </a:p>
          <a:p>
            <a:pPr algn="ctr">
              <a:buNone/>
            </a:pPr>
            <a:r>
              <a:rPr lang="en-US" b="1" dirty="0" smtClean="0">
                <a:solidFill>
                  <a:schemeClr val="accent6"/>
                </a:solidFill>
              </a:rPr>
              <a:t>But </a:t>
            </a:r>
            <a:r>
              <a:rPr lang="en-US" b="1" dirty="0" smtClean="0">
                <a:solidFill>
                  <a:srgbClr val="005EA7"/>
                </a:solidFill>
              </a:rPr>
              <a:t>&lt; 2x for 4 cores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FF0000"/>
                </a:solidFill>
              </a:rPr>
              <a:t>Why? background power</a:t>
            </a:r>
            <a:r>
              <a:rPr lang="en-US" b="1" dirty="0" smtClean="0">
                <a:solidFill>
                  <a:srgbClr val="005EA7"/>
                </a:solidFill>
              </a:rPr>
              <a:t> </a:t>
            </a:r>
          </a:p>
          <a:p>
            <a:pPr algn="ctr">
              <a:buNone/>
            </a:pPr>
            <a:endParaRPr lang="en-US" b="1" dirty="0" smtClean="0">
              <a:solidFill>
                <a:srgbClr val="005EA7"/>
              </a:solidFill>
            </a:endParaRPr>
          </a:p>
          <a:p>
            <a:pPr lvl="2"/>
            <a:endParaRPr lang="en-US" b="1" dirty="0"/>
          </a:p>
        </p:txBody>
      </p:sp>
      <p:sp>
        <p:nvSpPr>
          <p:cNvPr id="33" name="Content Placeholder 2"/>
          <p:cNvSpPr txBox="1">
            <a:spLocks/>
          </p:cNvSpPr>
          <p:nvPr/>
        </p:nvSpPr>
        <p:spPr bwMode="auto">
          <a:xfrm>
            <a:off x="5388457" y="4562240"/>
            <a:ext cx="3229069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27013" marR="0" lvl="0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Energy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consumption </a:t>
            </a:r>
            <a:b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improves due to </a:t>
            </a:r>
            <a:b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early completion</a:t>
            </a:r>
          </a:p>
          <a:p>
            <a:pPr marL="227013" marR="0" lvl="0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lang="en-US" sz="2800" b="1" dirty="0" smtClean="0">
                <a:solidFill>
                  <a:srgbClr val="FF1515"/>
                </a:solidFill>
              </a:rPr>
              <a:t>Race to halt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5EA7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27013" marR="0" lvl="0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5EA7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44588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3574505" y="1301430"/>
            <a:ext cx="751728" cy="971492"/>
            <a:chOff x="3574505" y="1301430"/>
            <a:chExt cx="751728" cy="971492"/>
          </a:xfrm>
        </p:grpSpPr>
        <p:sp>
          <p:nvSpPr>
            <p:cNvPr id="37" name="Right Brace 36"/>
            <p:cNvSpPr/>
            <p:nvPr/>
          </p:nvSpPr>
          <p:spPr bwMode="auto">
            <a:xfrm>
              <a:off x="3574505" y="1316999"/>
              <a:ext cx="343559" cy="955923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16508" y="1301430"/>
              <a:ext cx="5097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4x</a:t>
              </a:r>
              <a:endParaRPr lang="en-US" sz="2400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632837" y="3131591"/>
            <a:ext cx="819617" cy="819837"/>
            <a:chOff x="3632837" y="3131591"/>
            <a:chExt cx="819617" cy="819837"/>
          </a:xfrm>
        </p:grpSpPr>
        <p:sp>
          <p:nvSpPr>
            <p:cNvPr id="39" name="Right Brace 38"/>
            <p:cNvSpPr/>
            <p:nvPr/>
          </p:nvSpPr>
          <p:spPr bwMode="auto">
            <a:xfrm>
              <a:off x="3632837" y="3256917"/>
              <a:ext cx="343559" cy="694511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718060" y="3131591"/>
              <a:ext cx="7343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 2x</a:t>
              </a:r>
              <a:endParaRPr lang="en-US" sz="2400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  <p:bldP spid="29" grpId="0"/>
      <p:bldGraphic spid="7" grpId="0">
        <p:bldSub>
          <a:bldChart bld="series"/>
        </p:bldSub>
      </p:bldGraphic>
      <p:bldP spid="32" grpId="0" build="p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 bwMode="auto">
          <a:xfrm>
            <a:off x="1286548" y="5041538"/>
            <a:ext cx="2418846" cy="494507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aphicFrame>
        <p:nvGraphicFramePr>
          <p:cNvPr id="15" name="Chart 14"/>
          <p:cNvGraphicFramePr/>
          <p:nvPr/>
        </p:nvGraphicFramePr>
        <p:xfrm>
          <a:off x="4202935" y="4315571"/>
          <a:ext cx="4692839" cy="2440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rapezoid 20"/>
          <p:cNvSpPr/>
          <p:nvPr/>
        </p:nvSpPr>
        <p:spPr bwMode="auto">
          <a:xfrm rot="16200000">
            <a:off x="2988259" y="5064351"/>
            <a:ext cx="1931812" cy="497542"/>
          </a:xfrm>
          <a:prstGeom prst="trapezoid">
            <a:avLst>
              <a:gd name="adj" fmla="val 135908"/>
            </a:avLst>
          </a:prstGeom>
          <a:solidFill>
            <a:schemeClr val="bg2">
              <a:lumMod val="60000"/>
              <a:lumOff val="40000"/>
              <a:alpha val="88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 w="12700"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75185" y="4702984"/>
            <a:ext cx="1085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frequency</a:t>
            </a:r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DVFS: Energy and 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76948" y="6394457"/>
            <a:ext cx="609600" cy="457200"/>
          </a:xfrm>
        </p:spPr>
        <p:txBody>
          <a:bodyPr/>
          <a:lstStyle/>
          <a:p>
            <a:fld id="{FDA0CC57-CE7D-8143-BD13-67094D272EE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aphicFrame>
        <p:nvGraphicFramePr>
          <p:cNvPr id="6" name="Chart 5"/>
          <p:cNvGraphicFramePr/>
          <p:nvPr/>
        </p:nvGraphicFramePr>
        <p:xfrm>
          <a:off x="758339" y="1191558"/>
          <a:ext cx="45720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 rot="16200000">
            <a:off x="-344530" y="1824836"/>
            <a:ext cx="2032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normalized speedup</a:t>
            </a:r>
            <a:endParaRPr lang="en-US" sz="1600" dirty="0"/>
          </a:p>
        </p:txBody>
      </p:sp>
      <p:grpSp>
        <p:nvGrpSpPr>
          <p:cNvPr id="3" name="Group 21"/>
          <p:cNvGrpSpPr/>
          <p:nvPr/>
        </p:nvGrpSpPr>
        <p:grpSpPr>
          <a:xfrm>
            <a:off x="502458" y="3020358"/>
            <a:ext cx="4849818" cy="1828800"/>
            <a:chOff x="502458" y="3020358"/>
            <a:chExt cx="4849818" cy="1828800"/>
          </a:xfrm>
        </p:grpSpPr>
        <p:graphicFrame>
          <p:nvGraphicFramePr>
            <p:cNvPr id="8" name="Chart 7"/>
            <p:cNvGraphicFramePr/>
            <p:nvPr/>
          </p:nvGraphicFramePr>
          <p:xfrm>
            <a:off x="780276" y="3020358"/>
            <a:ext cx="4572000" cy="1828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>
            <a:xfrm rot="16200000">
              <a:off x="299978" y="3662126"/>
              <a:ext cx="7435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power</a:t>
              </a:r>
              <a:endParaRPr lang="en-US" sz="1600" dirty="0"/>
            </a:p>
          </p:txBody>
        </p:sp>
      </p:grp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039839" y="1073226"/>
            <a:ext cx="4064882" cy="1354633"/>
          </a:xfrm>
        </p:spPr>
        <p:txBody>
          <a:bodyPr/>
          <a:lstStyle/>
          <a:p>
            <a:pPr algn="ctr">
              <a:buNone/>
            </a:pPr>
            <a:r>
              <a:rPr lang="en-US" b="1" dirty="0" smtClean="0">
                <a:solidFill>
                  <a:srgbClr val="005EA7"/>
                </a:solidFill>
              </a:rPr>
              <a:t>Power increases by ~3x for 2x speedup</a:t>
            </a:r>
          </a:p>
          <a:p>
            <a:pPr algn="ctr">
              <a:buNone/>
            </a:pPr>
            <a:endParaRPr lang="en-US" b="1" dirty="0" smtClean="0">
              <a:solidFill>
                <a:srgbClr val="005EA7"/>
              </a:solidFill>
            </a:endParaRPr>
          </a:p>
          <a:p>
            <a:pPr lvl="2"/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175185" y="2842576"/>
            <a:ext cx="1085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frequency</a:t>
            </a:r>
            <a:endParaRPr lang="en-US" sz="16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502456" y="4682866"/>
            <a:ext cx="3700479" cy="2195146"/>
            <a:chOff x="502456" y="4682866"/>
            <a:chExt cx="3700479" cy="2195146"/>
          </a:xfrm>
        </p:grpSpPr>
        <p:graphicFrame>
          <p:nvGraphicFramePr>
            <p:cNvPr id="9" name="Chart 8"/>
            <p:cNvGraphicFramePr/>
            <p:nvPr/>
          </p:nvGraphicFramePr>
          <p:xfrm>
            <a:off x="675533" y="4849158"/>
            <a:ext cx="3527402" cy="1828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 rot="16200000">
              <a:off x="-264581" y="5449903"/>
              <a:ext cx="18726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normalized energy</a:t>
              </a:r>
              <a:endParaRPr lang="en-US" sz="16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75185" y="6539458"/>
              <a:ext cx="10857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frequency</a:t>
              </a:r>
              <a:endParaRPr lang="en-US" sz="1600" dirty="0"/>
            </a:p>
          </p:txBody>
        </p:sp>
      </p:grp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502797" y="2189566"/>
          <a:ext cx="323797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8985"/>
                <a:gridCol w="161898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Frequency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Voltage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1.6</a:t>
                      </a:r>
                      <a:r>
                        <a:rPr lang="en-US" baseline="0" dirty="0" smtClean="0"/>
                        <a:t> GHz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0.95V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3.2</a:t>
                      </a:r>
                      <a:r>
                        <a:rPr lang="en-US" baseline="0" dirty="0" smtClean="0"/>
                        <a:t> GHz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1.25V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Content Placeholder 2"/>
          <p:cNvSpPr txBox="1">
            <a:spLocks/>
          </p:cNvSpPr>
          <p:nvPr/>
        </p:nvSpPr>
        <p:spPr bwMode="auto">
          <a:xfrm>
            <a:off x="5079118" y="3433280"/>
            <a:ext cx="4064882" cy="1354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7013" marR="0" lvl="0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 frequency is not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always min energy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5EA7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27013" marR="0" lvl="0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5EA7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44588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3637217" y="1348470"/>
            <a:ext cx="751728" cy="675192"/>
            <a:chOff x="3574505" y="1044732"/>
            <a:chExt cx="751728" cy="1228190"/>
          </a:xfrm>
        </p:grpSpPr>
        <p:sp>
          <p:nvSpPr>
            <p:cNvPr id="30" name="Right Brace 29"/>
            <p:cNvSpPr/>
            <p:nvPr/>
          </p:nvSpPr>
          <p:spPr bwMode="auto">
            <a:xfrm>
              <a:off x="3574505" y="1316999"/>
              <a:ext cx="343559" cy="955923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16508" y="1044732"/>
              <a:ext cx="5097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2x</a:t>
              </a:r>
              <a:endParaRPr lang="en-US" sz="240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674038" y="3122050"/>
            <a:ext cx="704694" cy="765668"/>
            <a:chOff x="3543149" y="1044732"/>
            <a:chExt cx="704694" cy="1157102"/>
          </a:xfrm>
        </p:grpSpPr>
        <p:sp>
          <p:nvSpPr>
            <p:cNvPr id="33" name="Right Brace 32"/>
            <p:cNvSpPr/>
            <p:nvPr/>
          </p:nvSpPr>
          <p:spPr bwMode="auto">
            <a:xfrm>
              <a:off x="3543149" y="1245910"/>
              <a:ext cx="343559" cy="955924"/>
            </a:xfrm>
            <a:prstGeom prst="righ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738118" y="1044732"/>
              <a:ext cx="509725" cy="6976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3x</a:t>
              </a:r>
              <a:endParaRPr lang="en-US" sz="2400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220590" y="5583084"/>
            <a:ext cx="1603440" cy="611963"/>
            <a:chOff x="5220590" y="5583084"/>
            <a:chExt cx="1603440" cy="611963"/>
          </a:xfrm>
        </p:grpSpPr>
        <p:sp>
          <p:nvSpPr>
            <p:cNvPr id="38" name="Oval 37"/>
            <p:cNvSpPr/>
            <p:nvPr/>
          </p:nvSpPr>
          <p:spPr bwMode="auto">
            <a:xfrm>
              <a:off x="5220590" y="5583084"/>
              <a:ext cx="326604" cy="322843"/>
            </a:xfrm>
            <a:prstGeom prst="ellipse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5859008" y="5860924"/>
              <a:ext cx="326604" cy="322843"/>
            </a:xfrm>
            <a:prstGeom prst="ellipse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6497426" y="5872204"/>
              <a:ext cx="326604" cy="322843"/>
            </a:xfrm>
            <a:prstGeom prst="ellipse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Graphic spid="15" grpId="0">
        <p:bldAsOne/>
      </p:bldGraphic>
      <p:bldP spid="21" grpId="0" animBg="1"/>
      <p:bldP spid="27" grpId="0"/>
      <p:bldGraphic spid="6" grpId="0">
        <p:bldSub>
          <a:bldChart bld="series"/>
        </p:bldSub>
      </p:bldGraphic>
      <p:bldP spid="13" grpId="0" build="p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Energy/Performance/Power Tradeoffs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75809" y="6394457"/>
            <a:ext cx="609600" cy="457200"/>
          </a:xfrm>
        </p:spPr>
        <p:txBody>
          <a:bodyPr/>
          <a:lstStyle/>
          <a:p>
            <a:fld id="{FDA0CC57-CE7D-8143-BD13-67094D272EE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Computational Sprinting</a:t>
            </a:r>
            <a:endParaRPr lang="en-US" dirty="0"/>
          </a:p>
        </p:txBody>
      </p:sp>
      <p:graphicFrame>
        <p:nvGraphicFramePr>
          <p:cNvPr id="22" name="Chart 21"/>
          <p:cNvGraphicFramePr/>
          <p:nvPr/>
        </p:nvGraphicFramePr>
        <p:xfrm>
          <a:off x="1164938" y="876464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Chart 22"/>
          <p:cNvGraphicFramePr/>
          <p:nvPr/>
        </p:nvGraphicFramePr>
        <p:xfrm>
          <a:off x="1086380" y="3843761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Group 37"/>
          <p:cNvGrpSpPr/>
          <p:nvPr/>
        </p:nvGrpSpPr>
        <p:grpSpPr>
          <a:xfrm>
            <a:off x="852400" y="1022626"/>
            <a:ext cx="3382315" cy="2789478"/>
            <a:chOff x="5011038" y="971663"/>
            <a:chExt cx="3382315" cy="2789478"/>
          </a:xfrm>
        </p:grpSpPr>
        <p:sp>
          <p:nvSpPr>
            <p:cNvPr id="24" name="TextBox 23"/>
            <p:cNvSpPr txBox="1"/>
            <p:nvPr/>
          </p:nvSpPr>
          <p:spPr>
            <a:xfrm rot="16200000">
              <a:off x="4164051" y="1818650"/>
              <a:ext cx="20325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normalized speedup</a:t>
              </a:r>
              <a:endParaRPr lang="en-US" sz="16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520725" y="3422587"/>
              <a:ext cx="18726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normalized energy</a:t>
              </a:r>
              <a:endParaRPr lang="en-US" sz="1600" dirty="0"/>
            </a:p>
          </p:txBody>
        </p:sp>
      </p:grpSp>
      <p:grpSp>
        <p:nvGrpSpPr>
          <p:cNvPr id="6" name="Group 38"/>
          <p:cNvGrpSpPr/>
          <p:nvPr/>
        </p:nvGrpSpPr>
        <p:grpSpPr>
          <a:xfrm>
            <a:off x="803187" y="4152279"/>
            <a:ext cx="2593022" cy="2584505"/>
            <a:chOff x="5115783" y="3902761"/>
            <a:chExt cx="2593022" cy="2584505"/>
          </a:xfrm>
        </p:grpSpPr>
        <p:sp>
          <p:nvSpPr>
            <p:cNvPr id="26" name="TextBox 25"/>
            <p:cNvSpPr txBox="1"/>
            <p:nvPr/>
          </p:nvSpPr>
          <p:spPr>
            <a:xfrm rot="16200000">
              <a:off x="4275922" y="4742622"/>
              <a:ext cx="20182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normalized</a:t>
              </a:r>
              <a:r>
                <a:rPr lang="en-US" sz="1200" dirty="0" smtClean="0"/>
                <a:t> </a:t>
              </a:r>
              <a:r>
                <a:rPr lang="en-US" sz="1600" dirty="0" smtClean="0"/>
                <a:t>speedup</a:t>
              </a:r>
              <a:endParaRPr lang="en-US"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65292" y="6148712"/>
              <a:ext cx="7435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power</a:t>
              </a:r>
              <a:endParaRPr lang="en-US" sz="1600" dirty="0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2656951" y="1709746"/>
            <a:ext cx="191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 cores, 1.6 GHz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2993711" y="912866"/>
            <a:ext cx="191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 cores, 3.2 GHz</a:t>
            </a:r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3541008" y="2795958"/>
            <a:ext cx="180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 core, 1.6 GHz</a:t>
            </a:r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3486668" y="2279066"/>
            <a:ext cx="180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 core, 3.2 GHz</a:t>
            </a:r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1968199" y="5704387"/>
            <a:ext cx="180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 core, 1.6 GHz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2509623" y="5203175"/>
            <a:ext cx="180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 core, 3.2 GHz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2533706" y="4682321"/>
            <a:ext cx="191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 cores, 1.6 GHz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2385298" y="3930229"/>
            <a:ext cx="191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 cores, 3.2 GHz</a:t>
            </a:r>
            <a:endParaRPr lang="en-US" dirty="0"/>
          </a:p>
        </p:txBody>
      </p:sp>
      <p:sp>
        <p:nvSpPr>
          <p:cNvPr id="70" name="Content Placeholder 2"/>
          <p:cNvSpPr txBox="1">
            <a:spLocks/>
          </p:cNvSpPr>
          <p:nvPr/>
        </p:nvSpPr>
        <p:spPr bwMode="auto">
          <a:xfrm>
            <a:off x="4565054" y="3400055"/>
            <a:ext cx="4625980" cy="1771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7013" marR="0" lvl="0" indent="-227013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1" name="Content Placeholder 2"/>
          <p:cNvSpPr txBox="1">
            <a:spLocks/>
          </p:cNvSpPr>
          <p:nvPr/>
        </p:nvSpPr>
        <p:spPr bwMode="auto">
          <a:xfrm>
            <a:off x="4415192" y="3473550"/>
            <a:ext cx="4625980" cy="1179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7013" marR="0" lvl="0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lang="en-US" sz="2800" b="1" kern="0" dirty="0" smtClean="0">
                <a:solidFill>
                  <a:srgbClr val="005EA7"/>
                </a:solidFill>
                <a:latin typeface="Calibri"/>
                <a:cs typeface="Calibri"/>
              </a:rPr>
              <a:t>What if this is the maximum sustainable power?</a:t>
            </a:r>
          </a:p>
          <a:p>
            <a:pPr marL="1144588" marR="0" lvl="2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2" name="Content Placeholder 2"/>
          <p:cNvSpPr txBox="1">
            <a:spLocks/>
          </p:cNvSpPr>
          <p:nvPr/>
        </p:nvSpPr>
        <p:spPr bwMode="auto">
          <a:xfrm>
            <a:off x="4415192" y="4755415"/>
            <a:ext cx="4625980" cy="1179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7013" marR="0" lvl="0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lang="en-US" sz="2800" b="1" kern="0" dirty="0" smtClean="0">
                <a:solidFill>
                  <a:srgbClr val="FF0000"/>
                </a:solidFill>
                <a:latin typeface="Calibri"/>
                <a:cs typeface="Calibri"/>
              </a:rPr>
              <a:t>Sprinting enables higher responsiveness and greater energy efficiency</a:t>
            </a:r>
          </a:p>
          <a:p>
            <a:pPr marL="1144588" marR="0" lvl="2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1630701" y="876464"/>
            <a:ext cx="1646980" cy="667825"/>
            <a:chOff x="1630701" y="876464"/>
            <a:chExt cx="1646980" cy="667825"/>
          </a:xfrm>
        </p:grpSpPr>
        <p:sp>
          <p:nvSpPr>
            <p:cNvPr id="28" name="TextBox 27"/>
            <p:cNvSpPr txBox="1"/>
            <p:nvPr/>
          </p:nvSpPr>
          <p:spPr>
            <a:xfrm>
              <a:off x="1630701" y="1174957"/>
              <a:ext cx="1646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Max speedup</a:t>
              </a:r>
              <a:endParaRPr lang="en-US" b="1" dirty="0"/>
            </a:p>
          </p:txBody>
        </p:sp>
        <p:sp>
          <p:nvSpPr>
            <p:cNvPr id="77" name="Oval 76"/>
            <p:cNvSpPr/>
            <p:nvPr/>
          </p:nvSpPr>
          <p:spPr bwMode="auto">
            <a:xfrm>
              <a:off x="2748526" y="876464"/>
              <a:ext cx="326604" cy="322843"/>
            </a:xfrm>
            <a:prstGeom prst="ellipse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1436468" y="1917656"/>
            <a:ext cx="1428596" cy="648629"/>
            <a:chOff x="1436468" y="1917656"/>
            <a:chExt cx="1428596" cy="648629"/>
          </a:xfrm>
        </p:grpSpPr>
        <p:sp>
          <p:nvSpPr>
            <p:cNvPr id="78" name="Oval 77"/>
            <p:cNvSpPr/>
            <p:nvPr/>
          </p:nvSpPr>
          <p:spPr bwMode="auto">
            <a:xfrm>
              <a:off x="2486672" y="1917656"/>
              <a:ext cx="326604" cy="322843"/>
            </a:xfrm>
            <a:prstGeom prst="ellipse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436468" y="2196953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Min energy</a:t>
              </a:r>
              <a:endParaRPr lang="en-US" b="1" dirty="0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1435172" y="5004613"/>
            <a:ext cx="1326004" cy="918175"/>
            <a:chOff x="1435172" y="5004613"/>
            <a:chExt cx="1326004" cy="918175"/>
          </a:xfrm>
        </p:grpSpPr>
        <p:sp>
          <p:nvSpPr>
            <p:cNvPr id="74" name="Oval 73"/>
            <p:cNvSpPr/>
            <p:nvPr/>
          </p:nvSpPr>
          <p:spPr bwMode="auto">
            <a:xfrm>
              <a:off x="1855231" y="5599945"/>
              <a:ext cx="326604" cy="322843"/>
            </a:xfrm>
            <a:prstGeom prst="ellipse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32" charset="-128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435172" y="5004613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Min power</a:t>
              </a:r>
              <a:endParaRPr lang="en-US" b="1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Sub>
          <a:bldChart bld="series"/>
        </p:bldSub>
      </p:bldGraphic>
      <p:bldGraphic spid="23" grpId="0">
        <p:bldAsOne/>
      </p:bldGraphic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1" grpId="0"/>
      <p:bldP spid="7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Emulating Sprinting with Limited Energy Budget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257800"/>
          </a:xfrm>
        </p:spPr>
        <p:txBody>
          <a:bodyPr/>
          <a:lstStyle/>
          <a:p>
            <a:r>
              <a:rPr lang="en-US" dirty="0" smtClean="0"/>
              <a:t>Emulate effect of being TDP constrained </a:t>
            </a:r>
          </a:p>
          <a:p>
            <a:pPr lvl="1"/>
            <a:r>
              <a:rPr lang="en-US" dirty="0" smtClean="0"/>
              <a:t>Not currently physically limiting cooling constraints</a:t>
            </a:r>
          </a:p>
          <a:p>
            <a:pPr lvl="1"/>
            <a:r>
              <a:rPr lang="en-US" dirty="0" smtClean="0"/>
              <a:t>Estimate thermal capacity for sprinting based on energy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Sprint operation: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Execute with all cores at maximum frequency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Monitor energy consumption via MSR</a:t>
            </a:r>
          </a:p>
          <a:p>
            <a:pPr lvl="1"/>
            <a:r>
              <a:rPr lang="en-US" dirty="0" smtClean="0"/>
              <a:t>Terminate sprinting when energy capacity is exceeded</a:t>
            </a:r>
          </a:p>
          <a:p>
            <a:pPr lvl="2"/>
            <a:r>
              <a:rPr lang="en-US" dirty="0" smtClean="0"/>
              <a:t>Migrate threads to single core</a:t>
            </a:r>
          </a:p>
          <a:p>
            <a:pPr lvl="2"/>
            <a:r>
              <a:rPr lang="en-US" dirty="0" smtClean="0"/>
              <a:t>Shutdown additional cores </a:t>
            </a:r>
          </a:p>
          <a:p>
            <a:pPr lvl="2">
              <a:spcAft>
                <a:spcPts val="1200"/>
              </a:spcAft>
            </a:pPr>
            <a:r>
              <a:rPr lang="en-US" dirty="0" smtClean="0"/>
              <a:t>Lower frequency to minimum</a:t>
            </a:r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 bwMode="auto">
          <a:xfrm rot="2893453">
            <a:off x="2903831" y="1164525"/>
            <a:ext cx="549917" cy="164391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graphicFrame>
        <p:nvGraphicFramePr>
          <p:cNvPr id="6" name="Chart 5"/>
          <p:cNvGraphicFramePr/>
          <p:nvPr/>
        </p:nvGraphicFramePr>
        <p:xfrm>
          <a:off x="521297" y="1335772"/>
          <a:ext cx="4650558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 of Thermal Capacity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54367" y="5988543"/>
            <a:ext cx="609600" cy="457200"/>
          </a:xfrm>
        </p:spPr>
        <p:txBody>
          <a:bodyPr/>
          <a:lstStyle/>
          <a:p>
            <a:fld id="{FDA0CC57-CE7D-8143-BD13-67094D272EE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graphicFrame>
        <p:nvGraphicFramePr>
          <p:cNvPr id="8" name="Chart 7"/>
          <p:cNvGraphicFramePr/>
          <p:nvPr/>
        </p:nvGraphicFramePr>
        <p:xfrm>
          <a:off x="482018" y="4400688"/>
          <a:ext cx="4742192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 rot="16200000">
            <a:off x="-539534" y="5096365"/>
            <a:ext cx="18726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normalized energy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 rot="16200000">
            <a:off x="-632576" y="2008152"/>
            <a:ext cx="2032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normalized speedup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2239615" y="3172214"/>
            <a:ext cx="208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Thermal Capacity (J)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2239615" y="6155650"/>
            <a:ext cx="208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Thermal Capacity (J)</a:t>
            </a:r>
            <a:endParaRPr lang="en-US" sz="1600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039839" y="1230474"/>
            <a:ext cx="4064882" cy="1771518"/>
          </a:xfrm>
        </p:spPr>
        <p:txBody>
          <a:bodyPr/>
          <a:lstStyle/>
          <a:p>
            <a:pPr algn="ctr">
              <a:buNone/>
            </a:pPr>
            <a:r>
              <a:rPr lang="en-US" b="1" dirty="0" smtClean="0">
                <a:solidFill>
                  <a:srgbClr val="005EA7"/>
                </a:solidFill>
              </a:rPr>
              <a:t>Speedup sensitive to amount of computation within sprint</a:t>
            </a:r>
            <a:endParaRPr lang="en-US" b="1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 bwMode="auto">
          <a:xfrm>
            <a:off x="5039839" y="3495085"/>
            <a:ext cx="4064882" cy="1771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7013" marR="0" lvl="0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Longer sprints enable greater energy saving</a:t>
            </a:r>
          </a:p>
          <a:p>
            <a:pPr marL="1144588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 bwMode="auto">
          <a:xfrm>
            <a:off x="527154" y="3539139"/>
            <a:ext cx="4064882" cy="1771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7013" marR="0" lvl="0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lang="en-US" sz="2800" b="1" kern="0" dirty="0" smtClean="0">
                <a:solidFill>
                  <a:srgbClr val="005EA7"/>
                </a:solidFill>
                <a:latin typeface="Calibri"/>
                <a:cs typeface="Calibri"/>
              </a:rPr>
              <a:t>E</a:t>
            </a:r>
            <a:r>
              <a:rPr kumimoji="0" lang="en-US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nergy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overhead from extremely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short sprints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5EA7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44588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907187" y="4685982"/>
            <a:ext cx="1115232" cy="235201"/>
          </a:xfrm>
          <a:prstGeom prst="ellipse">
            <a:avLst/>
          </a:prstGeom>
          <a:solidFill>
            <a:srgbClr val="FF0000">
              <a:alpha val="25000"/>
            </a:srgbClr>
          </a:solidFill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3281010" y="4874143"/>
            <a:ext cx="1047337" cy="640518"/>
          </a:xfrm>
          <a:prstGeom prst="ellipse">
            <a:avLst/>
          </a:prstGeom>
          <a:solidFill>
            <a:srgbClr val="FF0000">
              <a:alpha val="25000"/>
            </a:srgbClr>
          </a:solidFill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32" charset="-128"/>
            </a:endParaRPr>
          </a:p>
        </p:txBody>
      </p:sp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4894668" y="4874143"/>
            <a:ext cx="4373425" cy="1771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27013" marR="0" lvl="0" indent="-227013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Caveat: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Mobile system </a:t>
            </a:r>
            <a:r>
              <a:rPr lang="en-US" sz="2800" b="1" kern="0" dirty="0" smtClean="0">
                <a:solidFill>
                  <a:srgbClr val="005EA7"/>
                </a:solidFill>
                <a:latin typeface="Calibri"/>
                <a:cs typeface="Calibri"/>
              </a:rPr>
              <a:t>background power characteristics likely differ</a:t>
            </a:r>
            <a:r>
              <a:rPr kumimoji="0" lang="en-US" sz="2800" b="1" i="0" u="none" strike="noStrike" kern="0" cap="none" spc="0" normalizeH="0" noProof="0" dirty="0" smtClean="0">
                <a:ln>
                  <a:noFill/>
                </a:ln>
                <a:solidFill>
                  <a:srgbClr val="005EA7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5EA7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44588" marR="0" lvl="2" indent="-22701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Graphic spid="6" grpId="0" uiExpand="1">
        <p:bldSub>
          <a:bldChart bld="series"/>
        </p:bldSub>
      </p:bldGraphic>
      <p:bldGraphic spid="8" grpId="0" uiExpand="1">
        <p:bldSub>
          <a:bldChart bld="series"/>
        </p:bldSub>
      </p:bldGraphic>
      <p:bldP spid="9" grpId="0"/>
      <p:bldP spid="14" grpId="0"/>
      <p:bldP spid="15" grpId="0" build="p"/>
      <p:bldP spid="17" grpId="0"/>
      <p:bldP spid="18" grpId="0"/>
      <p:bldP spid="19" grpId="0" animBg="1"/>
      <p:bldP spid="20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 and Work in Progress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257800"/>
          </a:xfrm>
        </p:spPr>
        <p:txBody>
          <a:bodyPr/>
          <a:lstStyle/>
          <a:p>
            <a:r>
              <a:rPr lang="en-US" dirty="0" smtClean="0"/>
              <a:t>Sprinting utilizes dark silicon for energy improvement</a:t>
            </a:r>
          </a:p>
          <a:p>
            <a:pPr lvl="1"/>
            <a:r>
              <a:rPr lang="en-US" dirty="0" smtClean="0"/>
              <a:t>Race to halt </a:t>
            </a:r>
          </a:p>
          <a:p>
            <a:pPr lvl="1"/>
            <a:r>
              <a:rPr lang="en-US" dirty="0" smtClean="0"/>
              <a:t>Lower system idle power </a:t>
            </a:r>
            <a:r>
              <a:rPr lang="en-US" dirty="0" err="1" smtClean="0">
                <a:latin typeface="Wingdings"/>
                <a:ea typeface="Wingdings"/>
                <a:cs typeface="Wingdings"/>
              </a:rPr>
              <a:t></a:t>
            </a:r>
            <a:r>
              <a:rPr lang="en-US" dirty="0" smtClean="0"/>
              <a:t> more energy saved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Work in Progress: constrain cooling system	</a:t>
            </a:r>
          </a:p>
          <a:p>
            <a:pPr lvl="1"/>
            <a:r>
              <a:rPr lang="en-US" dirty="0" smtClean="0"/>
              <a:t>Approximate thermal characteristics of mobile systems</a:t>
            </a:r>
          </a:p>
          <a:p>
            <a:pPr lvl="1"/>
            <a:r>
              <a:rPr lang="en-US" dirty="0" smtClean="0"/>
              <a:t>Correlate temperature with measured energy</a:t>
            </a:r>
          </a:p>
          <a:p>
            <a:pPr lvl="1"/>
            <a:r>
              <a:rPr lang="en-US" dirty="0" smtClean="0"/>
              <a:t>Use presented results to guide sprint implementation 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CC57-CE7D-8143-BD13-67094D272EE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Computational Sprinting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652" y="1938440"/>
            <a:ext cx="4952697" cy="29811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run_hpca_2012_sent">
  <a:themeElements>
    <a:clrScheme name="acg-template 13">
      <a:dk1>
        <a:srgbClr val="000000"/>
      </a:dk1>
      <a:lt1>
        <a:srgbClr val="FFFFFF"/>
      </a:lt1>
      <a:dk2>
        <a:srgbClr val="780000"/>
      </a:dk2>
      <a:lt2>
        <a:srgbClr val="808080"/>
      </a:lt2>
      <a:accent1>
        <a:srgbClr val="9AD7FF"/>
      </a:accent1>
      <a:accent2>
        <a:srgbClr val="0069B9"/>
      </a:accent2>
      <a:accent3>
        <a:srgbClr val="FFFFFF"/>
      </a:accent3>
      <a:accent4>
        <a:srgbClr val="000000"/>
      </a:accent4>
      <a:accent5>
        <a:srgbClr val="CAE8FF"/>
      </a:accent5>
      <a:accent6>
        <a:srgbClr val="005EA7"/>
      </a:accent6>
      <a:hlink>
        <a:srgbClr val="00A5F6"/>
      </a:hlink>
      <a:folHlink>
        <a:srgbClr val="780000"/>
      </a:folHlink>
    </a:clrScheme>
    <a:fontScheme name="acg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2" charset="-128"/>
          </a:defRPr>
        </a:defPPr>
      </a:lstStyle>
    </a:lnDef>
  </a:objectDefaults>
  <a:extraClrSchemeLst>
    <a:extraClrScheme>
      <a:clrScheme name="acg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g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g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g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g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g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g-template 13">
        <a:dk1>
          <a:srgbClr val="000000"/>
        </a:dk1>
        <a:lt1>
          <a:srgbClr val="FFFFFF"/>
        </a:lt1>
        <a:dk2>
          <a:srgbClr val="780000"/>
        </a:dk2>
        <a:lt2>
          <a:srgbClr val="808080"/>
        </a:lt2>
        <a:accent1>
          <a:srgbClr val="9AD7FF"/>
        </a:accent1>
        <a:accent2>
          <a:srgbClr val="0069B9"/>
        </a:accent2>
        <a:accent3>
          <a:srgbClr val="FFFFFF"/>
        </a:accent3>
        <a:accent4>
          <a:srgbClr val="000000"/>
        </a:accent4>
        <a:accent5>
          <a:srgbClr val="CAE8FF"/>
        </a:accent5>
        <a:accent6>
          <a:srgbClr val="005EA7"/>
        </a:accent6>
        <a:hlink>
          <a:srgbClr val="00A5F6"/>
        </a:hlink>
        <a:folHlink>
          <a:srgbClr val="78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arun_hpca_2012_sent.thmx</Template>
  <TotalTime>73176</TotalTime>
  <Words>892</Words>
  <Application>Microsoft Macintosh PowerPoint</Application>
  <PresentationFormat>On-screen Show (4:3)</PresentationFormat>
  <Paragraphs>261</Paragraphs>
  <Slides>21</Slides>
  <Notes>15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arun_hpca_2012_sent</vt:lpstr>
      <vt:lpstr>Computational Sprinting on a Real System: Preliminary Results</vt:lpstr>
      <vt:lpstr>Overview</vt:lpstr>
      <vt:lpstr>Computational Sprinting and Dark Silicon </vt:lpstr>
      <vt:lpstr>Sprinting v/s Sustainable Operation</vt:lpstr>
      <vt:lpstr>Why Not Use All Cores?</vt:lpstr>
      <vt:lpstr>Why Not Use All Cores?</vt:lpstr>
      <vt:lpstr>Parallel Computational Sprinting</vt:lpstr>
      <vt:lpstr>Why Not Use All Cores?</vt:lpstr>
      <vt:lpstr>Parallel Computational Sprinting</vt:lpstr>
      <vt:lpstr>Parallel Computational Sprinting</vt:lpstr>
      <vt:lpstr>Parallel Computational Sprinting</vt:lpstr>
      <vt:lpstr>Sprinting Challenges and Opportunities</vt:lpstr>
      <vt:lpstr>Moving Beyond Simulation:  Can we make a real system sprint? </vt:lpstr>
      <vt:lpstr>Slide 14</vt:lpstr>
      <vt:lpstr>Multiple Cores: Energy and Performance </vt:lpstr>
      <vt:lpstr>DVFS: Energy and Performance</vt:lpstr>
      <vt:lpstr>Energy/Performance/Power Tradeoffs</vt:lpstr>
      <vt:lpstr>Emulating Sprinting with Limited Energy Budget</vt:lpstr>
      <vt:lpstr>Effect of Thermal Capacity </vt:lpstr>
      <vt:lpstr>Conclusions and Work in Progress</vt:lpstr>
      <vt:lpstr>Slide 21</vt:lpstr>
    </vt:vector>
  </TitlesOfParts>
  <Company>University of Pennsylvania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and Runtime Mechanisms for Energy Efficient Computational Sprinting</dc:title>
  <dc:creator>Arun Raghavan</dc:creator>
  <cp:lastModifiedBy>Arun  Raghavan</cp:lastModifiedBy>
  <cp:revision>1634</cp:revision>
  <dcterms:created xsi:type="dcterms:W3CDTF">2012-06-11T10:07:43Z</dcterms:created>
  <dcterms:modified xsi:type="dcterms:W3CDTF">2012-06-11T10:08:36Z</dcterms:modified>
</cp:coreProperties>
</file>