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jpeg" ContentType="image/jpeg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Default Extension="png" ContentType="image/png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viewProps.xml" ContentType="application/vnd.openxmlformats-officedocument.presentationml.viewProps+xml"/>
  <Default Extension="bin" ContentType="application/vnd.openxmlformats-officedocument.presentationml.printerSettings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9.xml" ContentType="application/vnd.openxmlformats-officedocument.presentationml.slide+xml"/>
  <Override PartName="/docProps/core.xml" ContentType="application/vnd.openxmlformats-package.core-properties+xml"/>
  <Default Extension="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271" r:id="rId3"/>
    <p:sldId id="268" r:id="rId4"/>
    <p:sldId id="270" r:id="rId5"/>
    <p:sldId id="272" r:id="rId6"/>
    <p:sldId id="269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58" r:id="rId15"/>
    <p:sldId id="26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0503" autoAdjust="0"/>
  </p:normalViewPr>
  <p:slideViewPr>
    <p:cSldViewPr snapToGrid="0" snapToObjects="1">
      <p:cViewPr varScale="1">
        <p:scale>
          <a:sx n="80" d="100"/>
          <a:sy n="80" d="100"/>
        </p:scale>
        <p:origin x="-105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slide" Target="slides/slide13.xml"/><Relationship Id="rId20" Type="http://schemas.openxmlformats.org/officeDocument/2006/relationships/presProps" Target="presProps.xml"/><Relationship Id="rId4" Type="http://schemas.openxmlformats.org/officeDocument/2006/relationships/slide" Target="slides/slide3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slide" Target="slides/slide15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9" Type="http://schemas.openxmlformats.org/officeDocument/2006/relationships/printerSettings" Target="printerSettings/printerSettings1.bin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35B59-E443-8A41-8693-A4B6EE4E5D24}" type="datetimeFigureOut">
              <a:rPr lang="en-US" smtClean="0"/>
              <a:t>5/30/11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9444-DC9D-AC4F-B5AE-EE810416170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copyright.</a:t>
            </a:r>
            <a:r>
              <a:rPr lang="en-US" baseline="0" dirty="0" smtClean="0"/>
              <a:t> Under committee – enforcement – unauthorized document delivery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E9444-DC9D-AC4F-B5AE-EE810416170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 with white</a:t>
            </a:r>
          </a:p>
          <a:p>
            <a:r>
              <a:rPr lang="en-US" dirty="0" smtClean="0"/>
              <a:t>American Alliance</a:t>
            </a:r>
            <a:r>
              <a:rPr lang="en-US" baseline="0" dirty="0" smtClean="0"/>
              <a:t> for Health, Physical Education, Recreation &amp; Dance </a:t>
            </a:r>
          </a:p>
          <a:p>
            <a:r>
              <a:rPr lang="en-US" baseline="0" dirty="0" smtClean="0"/>
              <a:t>Browse white / note the many society / association publishers here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E9444-DC9D-AC4F-B5AE-EE8104161704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JOPERD – Contributor guidelines:  Original data-based research is generally not accepted; “Manuscripts with practical implications for educators at all levels are given priority”.  Reaches</a:t>
            </a:r>
            <a:r>
              <a:rPr lang="en-US" baseline="0" dirty="0" smtClean="0"/>
              <a:t> 12,000 plus members and subscribers.  Subscriptions:  $220 / year for print or online.  Note Editorial Board.  Advertising revenue.  </a:t>
            </a:r>
          </a:p>
          <a:p>
            <a:r>
              <a:rPr lang="en-US" baseline="0" dirty="0" smtClean="0"/>
              <a:t>Where else to publish?  EBSCO </a:t>
            </a:r>
            <a:r>
              <a:rPr lang="en-US" baseline="0" dirty="0" err="1" smtClean="0"/>
              <a:t>Sportdiscus</a:t>
            </a:r>
            <a:r>
              <a:rPr lang="en-US" baseline="0" dirty="0" smtClean="0"/>
              <a:t> title list? ERIC? Sherpa </a:t>
            </a:r>
            <a:r>
              <a:rPr lang="en-US" baseline="0" dirty="0" err="1" smtClean="0"/>
              <a:t>RoMEO</a:t>
            </a:r>
            <a:r>
              <a:rPr lang="en-US" baseline="0" dirty="0" smtClean="0"/>
              <a:t> health education (contains) The international electronic journal of health education.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E9444-DC9D-AC4F-B5AE-EE810416170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Forms &amp;</a:t>
            </a:r>
            <a:r>
              <a:rPr lang="en-US" baseline="0" dirty="0" smtClean="0"/>
              <a:t> instructions – separate forms if author holds copyright, work-for-hire, US </a:t>
            </a:r>
            <a:r>
              <a:rPr lang="en-US" baseline="0" dirty="0" err="1" smtClean="0"/>
              <a:t>gov’t</a:t>
            </a:r>
            <a:r>
              <a:rPr lang="en-US" baseline="0" dirty="0" smtClean="0"/>
              <a:t> employee, Canadian </a:t>
            </a:r>
            <a:r>
              <a:rPr lang="en-US" baseline="0" dirty="0" err="1" smtClean="0"/>
              <a:t>gov’t</a:t>
            </a:r>
            <a:r>
              <a:rPr lang="en-US" baseline="0" dirty="0" smtClean="0"/>
              <a:t> employee.  View journal publishing agreement for authors who hold copyright / works for hire. Clear-cut copyright transfer agreement. Sherpa </a:t>
            </a:r>
            <a:r>
              <a:rPr lang="en-US" baseline="0" dirty="0" err="1" smtClean="0"/>
              <a:t>RoMEO</a:t>
            </a:r>
            <a:r>
              <a:rPr lang="en-US" baseline="0" dirty="0" smtClean="0"/>
              <a:t> search for “chemistry”. Lots of commercial publishers – Elsevier, Wiley, Springer. Some OA – </a:t>
            </a:r>
            <a:r>
              <a:rPr lang="en-US" baseline="0" dirty="0" err="1" smtClean="0"/>
              <a:t>Hindawi</a:t>
            </a:r>
            <a:r>
              <a:rPr lang="en-US" baseline="0" dirty="0" smtClean="0"/>
              <a:t>. Some OA are problematic:  Dove, Academic Journals.  Note Royal Society of Chemistry – can post peer-reviewed PDF.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E9444-DC9D-AC4F-B5AE-EE810416170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Also Submission Guidelines / Transfer of Copyright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E9444-DC9D-AC4F-B5AE-EE810416170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Note also “universal access”.  Why does Elsevier require transfer of copyright?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6E9444-DC9D-AC4F-B5AE-EE8104161704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97566-B1EF-D54A-80DE-BC24E283A74B}" type="datetimeFigureOut">
              <a:rPr lang="en-US" smtClean="0"/>
              <a:pPr/>
              <a:t>5/30/11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6BF32-8D30-ED4E-9753-997C50F2D6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hyperlink" Target="http://pages.cmns.sfu.ca/heather-morrison/" TargetMode="External"/><Relationship Id="rId3" Type="http://schemas.openxmlformats.org/officeDocument/2006/relationships/hyperlink" Target="http://creativecommons.org/licenses/by-nc-sa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ccesscopyright.ca/educators/interim-tariff-handout-and-faqs-for-post-secondary-institutions/" TargetMode="External"/><Relationship Id="rId3" Type="http://schemas.openxmlformats.org/officeDocument/2006/relationships/hyperlink" Target="http://www.caut.ca/home.asp?page=43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stm-assoc.org/copyright-legal-introductio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chronicle.com/section/Home/5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aahperd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3" Type="http://schemas.openxmlformats.org/officeDocument/2006/relationships/hyperlink" Target="http://pubs.acs.org/page/copyright/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3" Type="http://schemas.openxmlformats.org/officeDocument/2006/relationships/hyperlink" Target="http://ajp.aapt.org/authors/web_posting_guid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elsevier.com/wps/find/authorsview.authors/copyrigh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arl-abrc.ca/projects/author/author-e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07050"/>
            <a:ext cx="7772400" cy="1755775"/>
          </a:xfrm>
        </p:spPr>
        <p:txBody>
          <a:bodyPr>
            <a:normAutofit fontScale="90000"/>
          </a:bodyPr>
          <a:lstStyle/>
          <a:p>
            <a:r>
              <a:rPr lang="en-US" sz="2667" dirty="0" smtClean="0"/>
              <a:t>LIBR 559L – Topics in scholarly communication &amp; publishing, UBC SLAIS, May 31, </a:t>
            </a:r>
            <a:r>
              <a:rPr lang="en-US" sz="2667" dirty="0" smtClean="0"/>
              <a:t>2011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Authors</a:t>
            </a:r>
            <a:r>
              <a:rPr lang="en-US" dirty="0" smtClean="0"/>
              <a:t>’ Rights &amp; Intellectual Property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5473" y="3886200"/>
            <a:ext cx="7562726" cy="1752600"/>
          </a:xfrm>
        </p:spPr>
        <p:txBody>
          <a:bodyPr/>
          <a:lstStyle/>
          <a:p>
            <a:r>
              <a:rPr lang="en-US" dirty="0" smtClean="0"/>
              <a:t>Heather Morrison</a:t>
            </a:r>
          </a:p>
          <a:p>
            <a:r>
              <a:rPr lang="en-US" dirty="0" smtClean="0">
                <a:hlinkClick r:id="rId2"/>
              </a:rPr>
              <a:t>http://pages.cmns.sfu.ca/heather-morrison/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124582" y="5597154"/>
            <a:ext cx="5333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work is licensed under a </a:t>
            </a:r>
            <a:r>
              <a:rPr lang="en-US" dirty="0" smtClean="0">
                <a:hlinkClick r:id="rId3"/>
              </a:rPr>
              <a:t>Creative Commons Attribution-NonCommercial-ShareAlike 3.0 Unported License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638800"/>
            <a:ext cx="1117600" cy="393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Copyright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Access Copyright – interim </a:t>
            </a:r>
            <a:r>
              <a:rPr lang="en-US" dirty="0" smtClean="0"/>
              <a:t>tariff resources </a:t>
            </a:r>
            <a:r>
              <a:rPr lang="en-US" dirty="0" smtClean="0">
                <a:hlinkClick r:id="rId2"/>
              </a:rPr>
              <a:t>http://www.accesscopyright.ca/educators/interim-tariff-handout-and-faqs-for-post-secondary-institutions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r>
              <a:rPr lang="en-US" dirty="0" smtClean="0"/>
              <a:t>CAUT guidelines for the user of </a:t>
            </a:r>
            <a:r>
              <a:rPr lang="en-US" dirty="0" smtClean="0"/>
              <a:t>copyrighted material </a:t>
            </a:r>
            <a:r>
              <a:rPr lang="en-US" dirty="0" smtClean="0">
                <a:hlinkClick r:id="rId3"/>
              </a:rPr>
              <a:t>http://www.caut.ca/home.asp?page=</a:t>
            </a:r>
            <a:r>
              <a:rPr lang="en-US" dirty="0" smtClean="0">
                <a:hlinkClick r:id="rId3"/>
              </a:rPr>
              <a:t>432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54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Access Copyright Backlash:  </a:t>
            </a:r>
            <a:r>
              <a:rPr lang="en-US" dirty="0" smtClean="0"/>
              <a:t>Writers Union of Canada Calls for Collective Licensing </a:t>
            </a:r>
            <a:r>
              <a:rPr lang="en-US" dirty="0" smtClean="0"/>
              <a:t>Reform (Michael </a:t>
            </a:r>
            <a:r>
              <a:rPr lang="en-US" dirty="0" err="1" smtClean="0"/>
              <a:t>Geist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1150"/>
            <a:ext cx="8229600" cy="4525963"/>
          </a:xfrm>
        </p:spPr>
        <p:txBody>
          <a:bodyPr/>
          <a:lstStyle/>
          <a:p>
            <a:r>
              <a:rPr lang="en-US" dirty="0" smtClean="0"/>
              <a:t>http://www.michaelgeist.ca/content/view/5821/125/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International Association of Scientific, Medical &amp; Technical Publishers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Copyright and legal </a:t>
            </a:r>
            <a:r>
              <a:rPr lang="en-US" dirty="0" smtClean="0"/>
              <a:t>affairs committee </a:t>
            </a:r>
            <a:r>
              <a:rPr lang="en-US" dirty="0" smtClean="0">
                <a:hlinkClick r:id="rId3"/>
              </a:rPr>
              <a:t>http://www.stm-assoc.org/copyright-legal-introduction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Chronicle of Higher Education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 copyright rebellion: </a:t>
            </a:r>
            <a:r>
              <a:rPr lang="en-US" smtClean="0"/>
              <a:t>scholars push </a:t>
            </a:r>
            <a:r>
              <a:rPr lang="en-US" smtClean="0"/>
              <a:t>back </a:t>
            </a:r>
            <a:r>
              <a:rPr lang="en-US" smtClean="0">
                <a:hlinkClick r:id="rId2"/>
              </a:rPr>
              <a:t>http://chronicle.com/section/Home/</a:t>
            </a:r>
            <a:r>
              <a:rPr lang="en-US" smtClean="0">
                <a:hlinkClick r:id="rId2"/>
              </a:rPr>
              <a:t>5</a:t>
            </a:r>
            <a:r>
              <a:rPr lang="en-US" smtClean="0">
                <a:hlinkClick r:id="rId2"/>
              </a:rPr>
              <a:t>/</a:t>
            </a:r>
            <a:endParaRPr lang="en-US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890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Knowledge Ecology International: Right to Read for Persons with Reading Disabilities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87875"/>
            <a:ext cx="8229600" cy="4525963"/>
          </a:xfrm>
        </p:spPr>
        <p:txBody>
          <a:bodyPr/>
          <a:lstStyle/>
          <a:p>
            <a:r>
              <a:rPr lang="en-US" dirty="0" smtClean="0"/>
              <a:t>Negotiating WIPO treaty for exceptions to copyright for people who are blind or have other reading disabilities </a:t>
            </a:r>
          </a:p>
          <a:p>
            <a:r>
              <a:rPr lang="en-US" dirty="0" smtClean="0"/>
              <a:t>http://www.keionline.org/r2r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Sherpa </a:t>
            </a:r>
            <a:r>
              <a:rPr lang="en-US" dirty="0" err="1" smtClean="0"/>
              <a:t>RoMEO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http://</a:t>
            </a:r>
            <a:r>
              <a:rPr lang="en-US" dirty="0" err="1" smtClean="0"/>
              <a:t>www.sherpa.ac.uk/romeo</a:t>
            </a:r>
            <a:r>
              <a:rPr lang="en-US" dirty="0" smtClean="0"/>
              <a:t>/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Sherpa </a:t>
            </a:r>
            <a:r>
              <a:rPr lang="en-US" dirty="0" err="1" smtClean="0"/>
              <a:t>RoMEO</a:t>
            </a:r>
            <a:r>
              <a:rPr lang="en-US" dirty="0" smtClean="0"/>
              <a:t> white (archiving not formally supported)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American Alliance for Health, Physical Education, Recreation and Dance</a:t>
            </a:r>
          </a:p>
          <a:p>
            <a:r>
              <a:rPr lang="en-US" dirty="0" smtClean="0">
                <a:hlinkClick r:id="rId3"/>
              </a:rPr>
              <a:t>http://www.aahperd.org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   </a:t>
            </a:r>
            <a:r>
              <a:rPr lang="en-US" b="1" i="1" dirty="0" smtClean="0"/>
              <a:t>Journal </a:t>
            </a:r>
            <a:r>
              <a:rPr lang="en-US" b="1" i="1" dirty="0" smtClean="0"/>
              <a:t>of Physical Education, Recreation &amp; Dance (JOPERD)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Sherpa </a:t>
            </a:r>
            <a:r>
              <a:rPr lang="en-US" dirty="0" err="1" smtClean="0"/>
              <a:t>RoMEO</a:t>
            </a:r>
            <a:r>
              <a:rPr lang="en-US" dirty="0" smtClean="0"/>
              <a:t> White: </a:t>
            </a:r>
            <a:br>
              <a:rPr lang="en-US" dirty="0" smtClean="0"/>
            </a:br>
            <a:r>
              <a:rPr lang="en-US" dirty="0" smtClean="0"/>
              <a:t>American Chemical Society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ACS Publications Copyright Page</a:t>
            </a:r>
          </a:p>
          <a:p>
            <a:r>
              <a:rPr lang="en-US" dirty="0" smtClean="0">
                <a:hlinkClick r:id="rId3"/>
              </a:rPr>
              <a:t>http://pubs.acs.org/page/copyright/index.</a:t>
            </a:r>
            <a:r>
              <a:rPr lang="en-US" dirty="0" smtClean="0">
                <a:hlinkClick r:id="rId3"/>
              </a:rPr>
              <a:t>html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Sherpa </a:t>
            </a:r>
            <a:r>
              <a:rPr lang="en-US" dirty="0" err="1" smtClean="0"/>
              <a:t>RoMEO</a:t>
            </a:r>
            <a:r>
              <a:rPr lang="en-US" dirty="0" smtClean="0"/>
              <a:t> blue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American Association of Physics Teachers</a:t>
            </a:r>
          </a:p>
          <a:p>
            <a:r>
              <a:rPr lang="en-US" dirty="0" smtClean="0"/>
              <a:t>AAPT Journals web posting guidelines </a:t>
            </a:r>
          </a:p>
          <a:p>
            <a:r>
              <a:rPr lang="en-US" dirty="0" smtClean="0">
                <a:hlinkClick r:id="rId3"/>
              </a:rPr>
              <a:t>http://ajp.aapt.org/authors/</a:t>
            </a:r>
            <a:r>
              <a:rPr lang="en-US" dirty="0" smtClean="0">
                <a:hlinkClick r:id="rId3"/>
              </a:rPr>
              <a:t>web_posting_guides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License to publish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Nature </a:t>
            </a:r>
          </a:p>
          <a:p>
            <a:r>
              <a:rPr lang="en-US" dirty="0" smtClean="0"/>
              <a:t>&amp; funding agencies’ open access mandate policies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Sherpa </a:t>
            </a:r>
            <a:r>
              <a:rPr lang="en-US" dirty="0" err="1" smtClean="0"/>
              <a:t>RoMEO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Green</a:t>
            </a:r>
          </a:p>
          <a:p>
            <a:r>
              <a:rPr lang="en-US" dirty="0" err="1" smtClean="0"/>
              <a:t>Assocations</a:t>
            </a:r>
            <a:r>
              <a:rPr lang="en-US" dirty="0" smtClean="0"/>
              <a:t>, e.g. American Psychological Association, Association for Computing Machinery</a:t>
            </a:r>
          </a:p>
          <a:p>
            <a:r>
              <a:rPr lang="en-US" dirty="0" smtClean="0"/>
              <a:t>Commercial:  Elsevier, Springer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commercial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Taylor &amp; Francis (yellow)</a:t>
            </a:r>
          </a:p>
          <a:p>
            <a:r>
              <a:rPr lang="en-US" dirty="0" smtClean="0"/>
              <a:t>Wiley-Blackwell (yellow)</a:t>
            </a:r>
          </a:p>
          <a:p>
            <a:r>
              <a:rPr lang="en-US" dirty="0" smtClean="0"/>
              <a:t>Sage (yellow)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Elsevier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Authors’ Rights</a:t>
            </a:r>
          </a:p>
          <a:p>
            <a:pPr>
              <a:buNone/>
            </a:pPr>
            <a:r>
              <a:rPr lang="en-US" dirty="0" smtClean="0">
                <a:hlinkClick r:id="rId3"/>
              </a:rPr>
              <a:t>http://www.elsevier.com/wps/find/authorsview.authors/</a:t>
            </a:r>
            <a:r>
              <a:rPr lang="en-US" dirty="0" smtClean="0">
                <a:hlinkClick r:id="rId3"/>
              </a:rPr>
              <a:t>copyright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Authors’ Addenda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CARL SPARC </a:t>
            </a:r>
            <a:r>
              <a:rPr lang="en-US" dirty="0" smtClean="0"/>
              <a:t>Author’s Addendum </a:t>
            </a:r>
            <a:r>
              <a:rPr lang="en-US" dirty="0" smtClean="0">
                <a:hlinkClick r:id="rId2"/>
              </a:rPr>
              <a:t>http://www.carl-abrc.ca/projects/author/author-e.</a:t>
            </a:r>
            <a:r>
              <a:rPr lang="en-US" dirty="0" smtClean="0">
                <a:hlinkClick r:id="rId2"/>
              </a:rPr>
              <a:t>html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Panton </a:t>
            </a:r>
            <a:r>
              <a:rPr lang="en-US" dirty="0" smtClean="0"/>
              <a:t>Principles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http</a:t>
            </a:r>
            <a:r>
              <a:rPr lang="en-US" dirty="0" smtClean="0"/>
              <a:t>://</a:t>
            </a:r>
            <a:r>
              <a:rPr lang="en-US" dirty="0" err="1" smtClean="0"/>
              <a:t>pantonprinciples.org</a:t>
            </a:r>
            <a:r>
              <a:rPr lang="en-US" dirty="0" smtClean="0"/>
              <a:t>/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724</Words>
  <Application>Microsoft Macintosh PowerPoint</Application>
  <PresentationFormat>On-screen Show (4:3)</PresentationFormat>
  <Paragraphs>63</Paragraphs>
  <Slides>16</Slides>
  <Notes>6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LIBR 559L – Topics in scholarly communication &amp; publishing, UBC SLAIS, May 31, 2011 Authors’ Rights &amp; Intellectual Property</vt:lpstr>
      <vt:lpstr>Access Copyright</vt:lpstr>
      <vt:lpstr>Access Copyright Backlash:  Writers Union of Canada Calls for Collective Licensing Reform (Michael Geist)</vt:lpstr>
      <vt:lpstr>International Association of Scientific, Medical &amp; Technical Publishers</vt:lpstr>
      <vt:lpstr>The Chronicle of Higher Education</vt:lpstr>
      <vt:lpstr>Knowledge Ecology International: Right to Read for Persons with Reading Disabilities</vt:lpstr>
      <vt:lpstr>Sherpa RoMEO </vt:lpstr>
      <vt:lpstr>Sherpa RoMEO white (archiving not formally supported)</vt:lpstr>
      <vt:lpstr>Sherpa RoMEO White:  American Chemical Society</vt:lpstr>
      <vt:lpstr>Sherpa RoMEO blue</vt:lpstr>
      <vt:lpstr>License to publish</vt:lpstr>
      <vt:lpstr>Sherpa RoMEO </vt:lpstr>
      <vt:lpstr>Other commercial</vt:lpstr>
      <vt:lpstr>Elsevier </vt:lpstr>
      <vt:lpstr>Authors’ Addenda</vt:lpstr>
      <vt:lpstr>Data </vt:lpstr>
    </vt:vector>
  </TitlesOfParts>
  <Company>Simon Fraser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 559L – Topics in scholarly communication &amp; publishing, UBC SLAIS, May 31, 2011:  Authors’ Rights &amp; Intellectual Property</dc:title>
  <dc:creator>Anon ymous</dc:creator>
  <cp:lastModifiedBy>Anon ymous</cp:lastModifiedBy>
  <cp:revision>18</cp:revision>
  <dcterms:created xsi:type="dcterms:W3CDTF">2011-05-31T02:34:46Z</dcterms:created>
  <dcterms:modified xsi:type="dcterms:W3CDTF">2011-05-31T04:48:45Z</dcterms:modified>
</cp:coreProperties>
</file>