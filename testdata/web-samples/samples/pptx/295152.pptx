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3"/>
  </p:notesMasterIdLst>
  <p:sldIdLst>
    <p:sldId id="256" r:id="rId2"/>
    <p:sldId id="264" r:id="rId3"/>
    <p:sldId id="265" r:id="rId4"/>
    <p:sldId id="26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9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fld id="{BE150F1F-82AB-442C-8BE6-7A65643483F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997075"/>
            <a:ext cx="7772400" cy="1431925"/>
          </a:xfrm>
        </p:spPr>
        <p:txBody>
          <a:bodyPr anchor="b" anchorCtr="1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124" name="Freeform 4"/>
          <p:cNvSpPr>
            <a:spLocks/>
          </p:cNvSpPr>
          <p:nvPr/>
        </p:nvSpPr>
        <p:spPr bwMode="auto">
          <a:xfrm>
            <a:off x="285750" y="2803525"/>
            <a:ext cx="1588" cy="3035300"/>
          </a:xfrm>
          <a:custGeom>
            <a:avLst/>
            <a:gdLst>
              <a:gd name="T0" fmla="*/ 0 h 1912"/>
              <a:gd name="T1" fmla="*/ 6 h 1912"/>
              <a:gd name="T2" fmla="*/ 6 h 1912"/>
              <a:gd name="T3" fmla="*/ 60 h 1912"/>
              <a:gd name="T4" fmla="*/ 1912 h 1912"/>
              <a:gd name="T5" fmla="*/ 1912 h 1912"/>
              <a:gd name="T6" fmla="*/ 0 h 1912"/>
              <a:gd name="T7" fmla="*/ 0 h 1912"/>
            </a:gdLst>
            <a:ahLst/>
            <a:cxnLst>
              <a:cxn ang="0">
                <a:pos x="0" y="T0"/>
              </a:cxn>
              <a:cxn ang="0">
                <a:pos x="0" y="T1"/>
              </a:cxn>
              <a:cxn ang="0">
                <a:pos x="0" y="T2"/>
              </a:cxn>
              <a:cxn ang="0">
                <a:pos x="0" y="T3"/>
              </a:cxn>
              <a:cxn ang="0">
                <a:pos x="0" y="T4"/>
              </a:cxn>
              <a:cxn ang="0">
                <a:pos x="0" y="T5"/>
              </a:cxn>
              <a:cxn ang="0">
                <a:pos x="0" y="T6"/>
              </a:cxn>
              <a:cxn ang="0">
                <a:pos x="0" y="T7"/>
              </a:cxn>
            </a:cxnLst>
            <a:rect l="0" t="0" r="r" b="b"/>
            <a:pathLst>
              <a:path h="1912">
                <a:moveTo>
                  <a:pt x="0" y="0"/>
                </a:moveTo>
                <a:lnTo>
                  <a:pt x="0" y="6"/>
                </a:lnTo>
                <a:lnTo>
                  <a:pt x="0" y="6"/>
                </a:lnTo>
                <a:lnTo>
                  <a:pt x="0" y="60"/>
                </a:lnTo>
                <a:lnTo>
                  <a:pt x="0" y="1912"/>
                </a:lnTo>
                <a:lnTo>
                  <a:pt x="0" y="1912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6BBA27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9A09E466-2320-42A2-8F0B-A0734D94D326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5096D5-095C-4043-8180-1CB586BC0C0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FE2B1C-BDFE-46EE-85BA-CB83EF0553C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5B2FE1-0A6F-4276-BAB3-22B1E4E5DF1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C69DA7-F280-4E28-A8F1-7039CD4EADF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247240-3C2E-4482-8FBF-4D4CB2BCF1D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2500D9-A273-44C8-BC74-AF8EE565D58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74E671-BAE7-4BC4-AD3A-132D739894D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FE23E-C8E7-4866-8C4F-DAE127E966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FB8405-E0C7-40E4-841A-4E4033AED07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92100"/>
            <a:ext cx="2057400" cy="57277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92100"/>
            <a:ext cx="6019800" cy="57277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AA1910-FD7D-4A32-BAF2-E05C95D6930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duotone>
              <a:schemeClr val="bg1"/>
              <a:srgbClr val="FFFFFF"/>
            </a:duotone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92100"/>
            <a:ext cx="8229600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05000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fld id="{70F4A214-C2AE-42DE-8BAA-AC370A312498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Tahoma" pitchFamily="34" charset="0"/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Tahoma" pitchFamily="34" charset="0"/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33800" y="0"/>
            <a:ext cx="5257800" cy="38133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95400" y="1828800"/>
            <a:ext cx="4655127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0"/>
            <a:ext cx="3429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71600" y="6019800"/>
            <a:ext cx="6858000" cy="669925"/>
          </a:xfrm>
        </p:spPr>
        <p:txBody>
          <a:bodyPr>
            <a:normAutofit fontScale="90000"/>
          </a:bodyPr>
          <a:lstStyle/>
          <a:p>
            <a:r>
              <a:rPr lang="en-US" sz="31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AHPS Implementation within USACE Southwestern </a:t>
            </a:r>
            <a:r>
              <a:rPr lang="en-US" sz="31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Division</a:t>
            </a:r>
            <a:br>
              <a:rPr lang="en-US" sz="31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</a:br>
            <a:r>
              <a:rPr lang="en-US" sz="3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/>
            </a:r>
            <a:br>
              <a:rPr lang="en-US" sz="36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</a:br>
            <a:r>
              <a:rPr lang="en-US" sz="27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Mar 27, 2007</a:t>
            </a:r>
            <a:endParaRPr lang="en-US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 sz="quarter"/>
          </p:nvPr>
        </p:nvSpPr>
        <p:spPr>
          <a:xfrm>
            <a:off x="609600" y="609600"/>
            <a:ext cx="7772400" cy="914400"/>
          </a:xfrm>
        </p:spPr>
        <p:txBody>
          <a:bodyPr/>
          <a:lstStyle/>
          <a:p>
            <a:r>
              <a:rPr lang="en-US" dirty="0" smtClean="0"/>
              <a:t>AHPS Implementation</a:t>
            </a:r>
            <a:endParaRPr lang="en-US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33400" y="2286000"/>
            <a:ext cx="8229600" cy="457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20000"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52600" y="2209800"/>
            <a:ext cx="5943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dirty="0" smtClean="0">
                <a:solidFill>
                  <a:srgbClr val="FFFF00"/>
                </a:solidFill>
              </a:rPr>
              <a:t>Basic Services (all river forecast point locations)</a:t>
            </a:r>
          </a:p>
          <a:p>
            <a:pPr lvl="1" algn="l">
              <a:buFont typeface="Arial" pitchFamily="34" charset="0"/>
              <a:buChar char="•"/>
            </a:pPr>
            <a:r>
              <a:rPr lang="en-US" dirty="0" smtClean="0">
                <a:solidFill>
                  <a:srgbClr val="FFFF00"/>
                </a:solidFill>
              </a:rPr>
              <a:t>Forecast hydrograph</a:t>
            </a:r>
          </a:p>
          <a:p>
            <a:pPr lvl="1" algn="l">
              <a:buFont typeface="Arial" pitchFamily="34" charset="0"/>
              <a:buChar char="•"/>
            </a:pPr>
            <a:r>
              <a:rPr lang="en-US" dirty="0" smtClean="0">
                <a:solidFill>
                  <a:srgbClr val="FFFF00"/>
                </a:solidFill>
              </a:rPr>
              <a:t>Probabilistic hydrologic forecasts (long-term)</a:t>
            </a:r>
          </a:p>
          <a:p>
            <a:pPr lvl="1" algn="l">
              <a:buFont typeface="Arial" pitchFamily="34" charset="0"/>
              <a:buChar char="•"/>
            </a:pPr>
            <a:endParaRPr lang="en-US" dirty="0" smtClean="0"/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Full or Expanded Service (all appropriate AHPS forecast locations)</a:t>
            </a:r>
          </a:p>
          <a:p>
            <a:pPr lvl="1" algn="l">
              <a:buFont typeface="Arial" pitchFamily="34" charset="0"/>
              <a:buChar char="•"/>
            </a:pPr>
            <a:r>
              <a:rPr lang="en-US" dirty="0" smtClean="0"/>
              <a:t>Flash flood forecast information</a:t>
            </a:r>
          </a:p>
          <a:p>
            <a:pPr lvl="1" algn="l">
              <a:buFont typeface="Arial" pitchFamily="34" charset="0"/>
              <a:buChar char="•"/>
            </a:pPr>
            <a:r>
              <a:rPr lang="en-US" dirty="0" smtClean="0"/>
              <a:t>Short-term probabilistic hydrologic forecast information, including low flow/drought forecasts.</a:t>
            </a:r>
          </a:p>
          <a:p>
            <a:pPr lvl="1" algn="l">
              <a:buFont typeface="Arial" pitchFamily="34" charset="0"/>
              <a:buChar char="•"/>
            </a:pPr>
            <a:r>
              <a:rPr lang="en-US" dirty="0" smtClean="0"/>
              <a:t>1-2 Week forecasts</a:t>
            </a:r>
          </a:p>
          <a:p>
            <a:pPr lvl="2" algn="l">
              <a:buFont typeface="Arial" pitchFamily="34" charset="0"/>
              <a:buChar char="•"/>
            </a:pPr>
            <a:endParaRPr lang="en-US" dirty="0" smtClean="0"/>
          </a:p>
          <a:p>
            <a:pPr algn="l">
              <a:buFont typeface="Arial" pitchFamily="34" charset="0"/>
              <a:buChar char="•"/>
            </a:pPr>
            <a:r>
              <a:rPr lang="en-US" dirty="0" smtClean="0"/>
              <a:t>Partnered Services</a:t>
            </a:r>
          </a:p>
          <a:p>
            <a:pPr lvl="1" algn="l">
              <a:buFont typeface="Arial" pitchFamily="34" charset="0"/>
              <a:buChar char="•"/>
            </a:pPr>
            <a:r>
              <a:rPr lang="en-US" dirty="0" smtClean="0"/>
              <a:t>Flood forecast mapping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2819400"/>
            <a:ext cx="7772400" cy="1431925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3200" dirty="0" smtClean="0"/>
              <a:t>Mar 27, 2007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524000"/>
            <a:ext cx="7239852" cy="5236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itle 3"/>
          <p:cNvSpPr txBox="1">
            <a:spLocks/>
          </p:cNvSpPr>
          <p:nvPr/>
        </p:nvSpPr>
        <p:spPr bwMode="auto">
          <a:xfrm>
            <a:off x="609600" y="381000"/>
            <a:ext cx="7772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AHPS Implementation</a:t>
            </a:r>
            <a:endParaRPr kumimoji="0" 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90600"/>
            <a:ext cx="6144047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76600" y="2140077"/>
            <a:ext cx="5763768" cy="4717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itle 3"/>
          <p:cNvSpPr>
            <a:spLocks noGrp="1"/>
          </p:cNvSpPr>
          <p:nvPr>
            <p:ph type="ctrTitle" sz="quarter"/>
          </p:nvPr>
        </p:nvSpPr>
        <p:spPr>
          <a:xfrm>
            <a:off x="609600" y="0"/>
            <a:ext cx="7772400" cy="914400"/>
          </a:xfrm>
        </p:spPr>
        <p:txBody>
          <a:bodyPr/>
          <a:lstStyle/>
          <a:p>
            <a:r>
              <a:rPr lang="en-US" dirty="0" smtClean="0"/>
              <a:t>AHPS Implementation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dahps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24000"/>
            <a:ext cx="7151522" cy="5143500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6" name="Title 3"/>
          <p:cNvSpPr>
            <a:spLocks noGrp="1"/>
          </p:cNvSpPr>
          <p:nvPr>
            <p:ph type="ctrTitle" sz="quarter"/>
          </p:nvPr>
        </p:nvSpPr>
        <p:spPr>
          <a:xfrm>
            <a:off x="1828800" y="1"/>
            <a:ext cx="5029200" cy="1142999"/>
          </a:xfrm>
        </p:spPr>
        <p:txBody>
          <a:bodyPr>
            <a:noAutofit/>
          </a:bodyPr>
          <a:lstStyle/>
          <a:p>
            <a:r>
              <a:rPr lang="en-US" sz="3600" dirty="0" smtClean="0"/>
              <a:t>AHPS Implementation through FY 2006</a:t>
            </a:r>
            <a:endParaRPr lang="en-US" sz="3600" dirty="0"/>
          </a:p>
        </p:txBody>
      </p:sp>
      <p:sp>
        <p:nvSpPr>
          <p:cNvPr id="8" name="TextBox 7"/>
          <p:cNvSpPr txBox="1"/>
          <p:nvPr/>
        </p:nvSpPr>
        <p:spPr>
          <a:xfrm>
            <a:off x="5943600" y="838200"/>
            <a:ext cx="3048000" cy="1754326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99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b="1" cap="none" spc="0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Verdigris River</a:t>
            </a:r>
          </a:p>
          <a:p>
            <a:pPr algn="l">
              <a:buFont typeface="Arial" pitchFamily="34" charset="0"/>
              <a:buChar char="•"/>
            </a:pP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Neosho / Grand River</a:t>
            </a:r>
          </a:p>
          <a:p>
            <a:pPr algn="l">
              <a:buFont typeface="Arial" pitchFamily="34" charset="0"/>
              <a:buChar char="•"/>
            </a:pPr>
            <a:r>
              <a:rPr lang="en-US" b="1" cap="none" spc="0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Cimarron River</a:t>
            </a:r>
            <a:endParaRPr lang="en-US" b="1" dirty="0" smtClean="0">
              <a:ln w="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lumMod val="7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algn="l">
              <a:buFont typeface="Arial" pitchFamily="34" charset="0"/>
              <a:buChar char="•"/>
            </a:pPr>
            <a:r>
              <a:rPr lang="en-US" b="1" cap="none" spc="0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Canadian River</a:t>
            </a:r>
          </a:p>
          <a:p>
            <a:pPr algn="l">
              <a:buFont typeface="Arial" pitchFamily="34" charset="0"/>
              <a:buChar char="•"/>
            </a:pP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Arkansas River </a:t>
            </a:r>
          </a:p>
          <a:p>
            <a:pPr lvl="1" algn="l">
              <a:buFont typeface="Arial" pitchFamily="34" charset="0"/>
              <a:buChar char="•"/>
            </a:pP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 - Kerr  Reservoir</a:t>
            </a:r>
            <a:endParaRPr lang="en-US" b="1" cap="none" spc="0" dirty="0" smtClean="0">
              <a:ln w="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lumMod val="7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791200" y="5638800"/>
            <a:ext cx="3048000" cy="646331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99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b="1" cap="none" spc="0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Trinity River</a:t>
            </a:r>
          </a:p>
          <a:p>
            <a:pPr algn="l">
              <a:buFont typeface="Arial" pitchFamily="34" charset="0"/>
              <a:buChar char="•"/>
            </a:pP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Neches / Angelina River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dahp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23999"/>
            <a:ext cx="7162800" cy="5151611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4" name="Title 3"/>
          <p:cNvSpPr>
            <a:spLocks noGrp="1"/>
          </p:cNvSpPr>
          <p:nvPr>
            <p:ph type="ctrTitle" sz="quarter"/>
          </p:nvPr>
        </p:nvSpPr>
        <p:spPr>
          <a:xfrm>
            <a:off x="1371600" y="152399"/>
            <a:ext cx="5943600" cy="990601"/>
          </a:xfrm>
        </p:spPr>
        <p:txBody>
          <a:bodyPr>
            <a:noAutofit/>
          </a:bodyPr>
          <a:lstStyle/>
          <a:p>
            <a:r>
              <a:rPr lang="en-US" sz="3600" dirty="0" smtClean="0"/>
              <a:t>Scheduled Implementation  FY 2007</a:t>
            </a:r>
            <a:endParaRPr lang="en-US" sz="3600" dirty="0"/>
          </a:p>
        </p:txBody>
      </p:sp>
      <p:sp>
        <p:nvSpPr>
          <p:cNvPr id="6" name="TextBox 5"/>
          <p:cNvSpPr txBox="1"/>
          <p:nvPr/>
        </p:nvSpPr>
        <p:spPr>
          <a:xfrm>
            <a:off x="5486400" y="5562600"/>
            <a:ext cx="3048000" cy="92333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99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b="1" cap="none" spc="0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Sabine River</a:t>
            </a:r>
          </a:p>
          <a:p>
            <a:pPr algn="l">
              <a:buFont typeface="Arial" pitchFamily="34" charset="0"/>
              <a:buChar char="•"/>
            </a:pP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Lavaca / </a:t>
            </a:r>
            <a:r>
              <a:rPr lang="en-US" b="1" dirty="0" err="1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Navidad</a:t>
            </a: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River</a:t>
            </a:r>
          </a:p>
          <a:p>
            <a:pPr algn="l">
              <a:buFont typeface="Arial" pitchFamily="34" charset="0"/>
              <a:buChar char="•"/>
            </a:pP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San Bernard River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1905000"/>
            <a:ext cx="3276600" cy="92333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99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b="1" cap="none" spc="0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Washita River</a:t>
            </a:r>
          </a:p>
          <a:p>
            <a:pPr algn="l">
              <a:buFont typeface="Arial" pitchFamily="34" charset="0"/>
              <a:buChar char="•"/>
            </a:pP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Arkansas River</a:t>
            </a:r>
          </a:p>
          <a:p>
            <a:pPr lvl="1" algn="l">
              <a:buFont typeface="Arial" pitchFamily="34" charset="0"/>
              <a:buChar char="•"/>
            </a:pP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Kerr Res. – Pine Bluff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dahps2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23999"/>
            <a:ext cx="7162800" cy="5151611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4" name="Title 3"/>
          <p:cNvSpPr>
            <a:spLocks noGrp="1"/>
          </p:cNvSpPr>
          <p:nvPr>
            <p:ph type="ctrTitle" sz="quarter"/>
          </p:nvPr>
        </p:nvSpPr>
        <p:spPr>
          <a:xfrm>
            <a:off x="1371600" y="152399"/>
            <a:ext cx="5943600" cy="990601"/>
          </a:xfrm>
        </p:spPr>
        <p:txBody>
          <a:bodyPr>
            <a:noAutofit/>
          </a:bodyPr>
          <a:lstStyle/>
          <a:p>
            <a:r>
              <a:rPr lang="en-US" sz="3600" dirty="0" smtClean="0"/>
              <a:t>Scheduled Implementation  FY 2008</a:t>
            </a:r>
            <a:endParaRPr lang="en-US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5410200" y="5791200"/>
            <a:ext cx="1981200" cy="36933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99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b="1" cap="none" spc="0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Brazos</a:t>
            </a: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River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9800" y="3886200"/>
            <a:ext cx="1524000" cy="36933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99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b="1" cap="none" spc="0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Red </a:t>
            </a: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River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dahps2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23999"/>
            <a:ext cx="7162800" cy="5151611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4" name="Title 3"/>
          <p:cNvSpPr>
            <a:spLocks noGrp="1"/>
          </p:cNvSpPr>
          <p:nvPr>
            <p:ph type="ctrTitle" sz="quarter"/>
          </p:nvPr>
        </p:nvSpPr>
        <p:spPr>
          <a:xfrm>
            <a:off x="1371600" y="152399"/>
            <a:ext cx="5943600" cy="990601"/>
          </a:xfrm>
        </p:spPr>
        <p:txBody>
          <a:bodyPr>
            <a:noAutofit/>
          </a:bodyPr>
          <a:lstStyle/>
          <a:p>
            <a:r>
              <a:rPr lang="en-US" sz="3600" dirty="0" smtClean="0"/>
              <a:t>Scheduled Implementation  FY 2009</a:t>
            </a:r>
            <a:endParaRPr lang="en-US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5334000" y="5562600"/>
            <a:ext cx="2286000" cy="36933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99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b="1" cap="none" spc="0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Colorado</a:t>
            </a: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River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0" y="1905000"/>
            <a:ext cx="1752600" cy="36933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99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b="1" cap="none" spc="0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Black</a:t>
            </a: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River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dahps2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23999"/>
            <a:ext cx="7162800" cy="5151611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4" name="Title 3"/>
          <p:cNvSpPr>
            <a:spLocks noGrp="1"/>
          </p:cNvSpPr>
          <p:nvPr>
            <p:ph type="ctrTitle" sz="quarter"/>
          </p:nvPr>
        </p:nvSpPr>
        <p:spPr>
          <a:xfrm>
            <a:off x="1371600" y="152399"/>
            <a:ext cx="5943600" cy="990601"/>
          </a:xfrm>
        </p:spPr>
        <p:txBody>
          <a:bodyPr>
            <a:noAutofit/>
          </a:bodyPr>
          <a:lstStyle/>
          <a:p>
            <a:r>
              <a:rPr lang="en-US" sz="3600" dirty="0" smtClean="0"/>
              <a:t>Scheduled Implementation  FY 2010</a:t>
            </a:r>
            <a:endParaRPr lang="en-US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3962400" y="5715000"/>
            <a:ext cx="2895600" cy="646331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99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b="1" cap="none" spc="0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Guadalupe</a:t>
            </a: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River</a:t>
            </a:r>
          </a:p>
          <a:p>
            <a:pPr algn="l">
              <a:buFont typeface="Arial" pitchFamily="34" charset="0"/>
              <a:buChar char="•"/>
            </a:pP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San Antonio River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057400"/>
            <a:ext cx="1828800" cy="36933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99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b="1" cap="none" spc="0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White </a:t>
            </a: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River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dahps2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24000"/>
            <a:ext cx="7162800" cy="5151611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4" name="Title 3"/>
          <p:cNvSpPr>
            <a:spLocks noGrp="1"/>
          </p:cNvSpPr>
          <p:nvPr>
            <p:ph type="ctrTitle" sz="quarter"/>
          </p:nvPr>
        </p:nvSpPr>
        <p:spPr>
          <a:xfrm>
            <a:off x="1371600" y="152399"/>
            <a:ext cx="5943600" cy="990601"/>
          </a:xfrm>
        </p:spPr>
        <p:txBody>
          <a:bodyPr>
            <a:noAutofit/>
          </a:bodyPr>
          <a:lstStyle/>
          <a:p>
            <a:r>
              <a:rPr lang="en-US" sz="3600" dirty="0" smtClean="0"/>
              <a:t>Scheduled Implementation  FY 2011</a:t>
            </a:r>
            <a:endParaRPr lang="en-US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0" y="5562600"/>
            <a:ext cx="2286000" cy="369332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99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b="1" cap="none" spc="0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San Jacinto </a:t>
            </a: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River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657600"/>
            <a:ext cx="2286000" cy="646331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99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b="1" dirty="0" err="1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Sulphur</a:t>
            </a: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River</a:t>
            </a:r>
            <a:endParaRPr lang="en-US" b="1" dirty="0">
              <a:ln w="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lumMod val="7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  <a:p>
            <a:pPr algn="l">
              <a:buFont typeface="Arial" pitchFamily="34" charset="0"/>
              <a:buChar char="•"/>
            </a:pP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Cypress Creek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dahps2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24000"/>
            <a:ext cx="7162800" cy="5151611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4" name="Title 3"/>
          <p:cNvSpPr>
            <a:spLocks noGrp="1"/>
          </p:cNvSpPr>
          <p:nvPr>
            <p:ph type="ctrTitle" sz="quarter"/>
          </p:nvPr>
        </p:nvSpPr>
        <p:spPr>
          <a:xfrm>
            <a:off x="1371600" y="152399"/>
            <a:ext cx="5943600" cy="990601"/>
          </a:xfrm>
        </p:spPr>
        <p:txBody>
          <a:bodyPr>
            <a:noAutofit/>
          </a:bodyPr>
          <a:lstStyle/>
          <a:p>
            <a:r>
              <a:rPr lang="en-US" sz="3600" dirty="0" smtClean="0"/>
              <a:t>Scheduled Implementation  FY 2012+</a:t>
            </a:r>
            <a:endParaRPr lang="en-US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2286000" cy="923330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  <a:alpha val="99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buFont typeface="Arial" pitchFamily="34" charset="0"/>
              <a:buChar char="•"/>
            </a:pPr>
            <a:r>
              <a:rPr lang="en-US" b="1" cap="none" spc="0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Nueces</a:t>
            </a: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 River</a:t>
            </a:r>
          </a:p>
          <a:p>
            <a:pPr algn="l">
              <a:buFont typeface="Arial" pitchFamily="34" charset="0"/>
              <a:buChar char="•"/>
            </a:pP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Pecos River</a:t>
            </a:r>
          </a:p>
          <a:p>
            <a:pPr algn="l">
              <a:buFont typeface="Arial" pitchFamily="34" charset="0"/>
              <a:buChar char="•"/>
            </a:pPr>
            <a:r>
              <a:rPr lang="en-US" b="1" dirty="0" smtClean="0">
                <a:ln w="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lumMod val="7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Rio Grande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cean">
  <a:themeElements>
    <a:clrScheme name="Ocean 1">
      <a:dk1>
        <a:srgbClr val="010199"/>
      </a:dk1>
      <a:lt1>
        <a:srgbClr val="FFFFFF"/>
      </a:lt1>
      <a:dk2>
        <a:srgbClr val="000099"/>
      </a:dk2>
      <a:lt2>
        <a:srgbClr val="FFFFFF"/>
      </a:lt2>
      <a:accent1>
        <a:srgbClr val="33CCCC"/>
      </a:accent1>
      <a:accent2>
        <a:srgbClr val="00C600"/>
      </a:accent2>
      <a:accent3>
        <a:srgbClr val="AAAACA"/>
      </a:accent3>
      <a:accent4>
        <a:srgbClr val="DADADA"/>
      </a:accent4>
      <a:accent5>
        <a:srgbClr val="ADE2E2"/>
      </a:accent5>
      <a:accent6>
        <a:srgbClr val="00B300"/>
      </a:accent6>
      <a:hlink>
        <a:srgbClr val="FFCC00"/>
      </a:hlink>
      <a:folHlink>
        <a:srgbClr val="6699FF"/>
      </a:folHlink>
    </a:clrScheme>
    <a:fontScheme name="Ocea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127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12700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Ocean 1">
        <a:dk1>
          <a:srgbClr val="010199"/>
        </a:dk1>
        <a:lt1>
          <a:srgbClr val="FFFFFF"/>
        </a:lt1>
        <a:dk2>
          <a:srgbClr val="000099"/>
        </a:dk2>
        <a:lt2>
          <a:srgbClr val="FFFFFF"/>
        </a:lt2>
        <a:accent1>
          <a:srgbClr val="33CCCC"/>
        </a:accent1>
        <a:accent2>
          <a:srgbClr val="00C600"/>
        </a:accent2>
        <a:accent3>
          <a:srgbClr val="AAAACA"/>
        </a:accent3>
        <a:accent4>
          <a:srgbClr val="DADADA"/>
        </a:accent4>
        <a:accent5>
          <a:srgbClr val="ADE2E2"/>
        </a:accent5>
        <a:accent6>
          <a:srgbClr val="00B300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2">
        <a:dk1>
          <a:srgbClr val="000066"/>
        </a:dk1>
        <a:lt1>
          <a:srgbClr val="FFFFFF"/>
        </a:lt1>
        <a:dk2>
          <a:srgbClr val="5D93FF"/>
        </a:dk2>
        <a:lt2>
          <a:srgbClr val="FFFFFF"/>
        </a:lt2>
        <a:accent1>
          <a:srgbClr val="6666FF"/>
        </a:accent1>
        <a:accent2>
          <a:srgbClr val="9999FF"/>
        </a:accent2>
        <a:accent3>
          <a:srgbClr val="B6C8FF"/>
        </a:accent3>
        <a:accent4>
          <a:srgbClr val="DADADA"/>
        </a:accent4>
        <a:accent5>
          <a:srgbClr val="B8B8FF"/>
        </a:accent5>
        <a:accent6>
          <a:srgbClr val="8A8AE7"/>
        </a:accent6>
        <a:hlink>
          <a:srgbClr val="FF33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3">
        <a:dk1>
          <a:srgbClr val="000000"/>
        </a:dk1>
        <a:lt1>
          <a:srgbClr val="FFFFFF"/>
        </a:lt1>
        <a:dk2>
          <a:srgbClr val="572E88"/>
        </a:dk2>
        <a:lt2>
          <a:srgbClr val="FFFFFF"/>
        </a:lt2>
        <a:accent1>
          <a:srgbClr val="FF6600"/>
        </a:accent1>
        <a:accent2>
          <a:srgbClr val="FFCC00"/>
        </a:accent2>
        <a:accent3>
          <a:srgbClr val="B4ADC3"/>
        </a:accent3>
        <a:accent4>
          <a:srgbClr val="DADADA"/>
        </a:accent4>
        <a:accent5>
          <a:srgbClr val="FFB8AA"/>
        </a:accent5>
        <a:accent6>
          <a:srgbClr val="E7B900"/>
        </a:accent6>
        <a:hlink>
          <a:srgbClr val="33CCCC"/>
        </a:hlink>
        <a:folHlink>
          <a:srgbClr val="36CC6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4">
        <a:dk1>
          <a:srgbClr val="003366"/>
        </a:dk1>
        <a:lt1>
          <a:srgbClr val="FFFFFF"/>
        </a:lt1>
        <a:dk2>
          <a:srgbClr val="666699"/>
        </a:dk2>
        <a:lt2>
          <a:srgbClr val="FFFFFF"/>
        </a:lt2>
        <a:accent1>
          <a:srgbClr val="9966FF"/>
        </a:accent1>
        <a:accent2>
          <a:srgbClr val="00CC66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B95C"/>
        </a:accent6>
        <a:hlink>
          <a:srgbClr val="65C8FF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5">
        <a:dk1>
          <a:srgbClr val="000000"/>
        </a:dk1>
        <a:lt1>
          <a:srgbClr val="FFFFFF"/>
        </a:lt1>
        <a:dk2>
          <a:srgbClr val="336600"/>
        </a:dk2>
        <a:lt2>
          <a:srgbClr val="FFFFFF"/>
        </a:lt2>
        <a:accent1>
          <a:srgbClr val="B7C533"/>
        </a:accent1>
        <a:accent2>
          <a:srgbClr val="CCCCFF"/>
        </a:accent2>
        <a:accent3>
          <a:srgbClr val="ADB8AA"/>
        </a:accent3>
        <a:accent4>
          <a:srgbClr val="DADADA"/>
        </a:accent4>
        <a:accent5>
          <a:srgbClr val="D8DFAD"/>
        </a:accent5>
        <a:accent6>
          <a:srgbClr val="B9B9E7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6">
        <a:dk1>
          <a:srgbClr val="000000"/>
        </a:dk1>
        <a:lt1>
          <a:srgbClr val="FFFFFF"/>
        </a:lt1>
        <a:dk2>
          <a:srgbClr val="006B80"/>
        </a:dk2>
        <a:lt2>
          <a:srgbClr val="C1CB75"/>
        </a:lt2>
        <a:accent1>
          <a:srgbClr val="6F8406"/>
        </a:accent1>
        <a:accent2>
          <a:srgbClr val="D9E288"/>
        </a:accent2>
        <a:accent3>
          <a:srgbClr val="AABAC0"/>
        </a:accent3>
        <a:accent4>
          <a:srgbClr val="DADADA"/>
        </a:accent4>
        <a:accent5>
          <a:srgbClr val="BBC2AA"/>
        </a:accent5>
        <a:accent6>
          <a:srgbClr val="C4CD7B"/>
        </a:accent6>
        <a:hlink>
          <a:srgbClr val="00CC00"/>
        </a:hlink>
        <a:folHlink>
          <a:srgbClr val="C0FF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7">
        <a:dk1>
          <a:srgbClr val="5F5F5F"/>
        </a:dk1>
        <a:lt1>
          <a:srgbClr val="FFFFFF"/>
        </a:lt1>
        <a:dk2>
          <a:srgbClr val="FF6600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FFB8AA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FF99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8">
        <a:dk1>
          <a:srgbClr val="000000"/>
        </a:dk1>
        <a:lt1>
          <a:srgbClr val="FFFFFF"/>
        </a:lt1>
        <a:dk2>
          <a:srgbClr val="FFBA2F"/>
        </a:dk2>
        <a:lt2>
          <a:srgbClr val="A50021"/>
        </a:lt2>
        <a:accent1>
          <a:srgbClr val="FF6600"/>
        </a:accent1>
        <a:accent2>
          <a:srgbClr val="CC6600"/>
        </a:accent2>
        <a:accent3>
          <a:srgbClr val="FFD9AD"/>
        </a:accent3>
        <a:accent4>
          <a:srgbClr val="DADADA"/>
        </a:accent4>
        <a:accent5>
          <a:srgbClr val="FFB8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Ocean</Template>
  <TotalTime>1439</TotalTime>
  <Words>162</Words>
  <Application>Microsoft Office PowerPoint</Application>
  <PresentationFormat>On-screen Show (4:3)</PresentationFormat>
  <Paragraphs>50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Ocean</vt:lpstr>
      <vt:lpstr>AHPS Implementation within USACE Southwestern Division  Mar 27, 2007</vt:lpstr>
      <vt:lpstr>AHPS Implementation</vt:lpstr>
      <vt:lpstr> Mar 27, 2007</vt:lpstr>
      <vt:lpstr>AHPS Implementation</vt:lpstr>
      <vt:lpstr>AHPS Implementation through FY 2006</vt:lpstr>
      <vt:lpstr>Scheduled Implementation  FY 2007</vt:lpstr>
      <vt:lpstr>Scheduled Implementation  FY 2008</vt:lpstr>
      <vt:lpstr>Scheduled Implementation  FY 2009</vt:lpstr>
      <vt:lpstr>Scheduled Implementation  FY 2010</vt:lpstr>
      <vt:lpstr>Scheduled Implementation  FY 2011</vt:lpstr>
      <vt:lpstr>Scheduled Implementation  FY 2012+</vt:lpstr>
    </vt:vector>
  </TitlesOfParts>
  <Company>National Weather Service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Correcting Archive Stage Data</dc:title>
  <dc:creator>robert.corby</dc:creator>
  <cp:lastModifiedBy>robert.corby</cp:lastModifiedBy>
  <cp:revision>22</cp:revision>
  <dcterms:created xsi:type="dcterms:W3CDTF">2006-07-24T20:21:15Z</dcterms:created>
  <dcterms:modified xsi:type="dcterms:W3CDTF">2007-03-27T11:54:46Z</dcterms:modified>
</cp:coreProperties>
</file>