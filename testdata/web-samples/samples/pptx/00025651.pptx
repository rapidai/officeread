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33"/>
  </p:notesMasterIdLst>
  <p:sldIdLst>
    <p:sldId id="295" r:id="rId2"/>
    <p:sldId id="299" r:id="rId3"/>
    <p:sldId id="281" r:id="rId4"/>
    <p:sldId id="259" r:id="rId5"/>
    <p:sldId id="260" r:id="rId6"/>
    <p:sldId id="261" r:id="rId7"/>
    <p:sldId id="307" r:id="rId8"/>
    <p:sldId id="266" r:id="rId9"/>
    <p:sldId id="282" r:id="rId10"/>
    <p:sldId id="264" r:id="rId11"/>
    <p:sldId id="301" r:id="rId12"/>
    <p:sldId id="302" r:id="rId13"/>
    <p:sldId id="270" r:id="rId14"/>
    <p:sldId id="303" r:id="rId15"/>
    <p:sldId id="304" r:id="rId16"/>
    <p:sldId id="272" r:id="rId17"/>
    <p:sldId id="286" r:id="rId18"/>
    <p:sldId id="284" r:id="rId19"/>
    <p:sldId id="274" r:id="rId20"/>
    <p:sldId id="305" r:id="rId21"/>
    <p:sldId id="275" r:id="rId22"/>
    <p:sldId id="277" r:id="rId23"/>
    <p:sldId id="294" r:id="rId24"/>
    <p:sldId id="300" r:id="rId25"/>
    <p:sldId id="289" r:id="rId26"/>
    <p:sldId id="297" r:id="rId27"/>
    <p:sldId id="290" r:id="rId28"/>
    <p:sldId id="298" r:id="rId29"/>
    <p:sldId id="288" r:id="rId30"/>
    <p:sldId id="279" r:id="rId31"/>
    <p:sldId id="30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006FDE"/>
    <a:srgbClr val="0066CC"/>
    <a:srgbClr val="3333FF"/>
    <a:srgbClr val="3333CC"/>
    <a:srgbClr val="3366FF"/>
    <a:srgbClr val="6666FF"/>
    <a:srgbClr val="6699FF"/>
    <a:srgbClr val="99CCFF"/>
    <a:srgbClr val="FFDF21"/>
  </p:clrMru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 autoAdjust="0"/>
    <p:restoredTop sz="85905" autoAdjust="0"/>
  </p:normalViewPr>
  <p:slideViewPr>
    <p:cSldViewPr>
      <p:cViewPr varScale="1">
        <p:scale>
          <a:sx n="43" d="100"/>
          <a:sy n="43" d="100"/>
        </p:scale>
        <p:origin x="-137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adijr\My%20Documents\My%20Dropbox\research\VARiD\doc\ISMB%202010%20---%20pres\resul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adijr\My%20Documents\My%20Dropbox\research\VARiD\doc\ISMB%202010%20---%20pres\resul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7.9674726317363706E-2"/>
          <c:y val="3.6017906520809204E-2"/>
          <c:w val="0.87982880332493085"/>
          <c:h val="0.86509850502263852"/>
        </c:manualLayout>
      </c:layout>
      <c:barChart>
        <c:barDir val="col"/>
        <c:grouping val="clustered"/>
        <c:ser>
          <c:idx val="0"/>
          <c:order val="0"/>
          <c:tx>
            <c:strRef>
              <c:f>Sheet2!$P$4</c:f>
              <c:strCache>
                <c:ptCount val="1"/>
                <c:pt idx="0">
                  <c:v>Corona - AB map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Sheet2!$C$6:$C$10</c:f>
              <c:strCache>
                <c:ptCount val="5"/>
                <c:pt idx="0">
                  <c:v>CS_10x</c:v>
                </c:pt>
                <c:pt idx="1">
                  <c:v>CS_20x</c:v>
                </c:pt>
                <c:pt idx="2">
                  <c:v>CS_50x</c:v>
                </c:pt>
                <c:pt idx="3">
                  <c:v>CS_100x</c:v>
                </c:pt>
                <c:pt idx="4">
                  <c:v>CS_200x</c:v>
                </c:pt>
              </c:strCache>
            </c:strRef>
          </c:cat>
          <c:val>
            <c:numRef>
              <c:f>Sheet2!$C$27:$C$31</c:f>
              <c:numCache>
                <c:formatCode>General</c:formatCode>
                <c:ptCount val="5"/>
                <c:pt idx="0">
                  <c:v>27.253668763102731</c:v>
                </c:pt>
                <c:pt idx="1">
                  <c:v>47.079646017699027</c:v>
                </c:pt>
                <c:pt idx="2">
                  <c:v>66.666666666666671</c:v>
                </c:pt>
                <c:pt idx="3">
                  <c:v>75.338753387533728</c:v>
                </c:pt>
                <c:pt idx="4">
                  <c:v>77.243172951885555</c:v>
                </c:pt>
              </c:numCache>
            </c:numRef>
          </c:val>
        </c:ser>
        <c:ser>
          <c:idx val="1"/>
          <c:order val="1"/>
          <c:tx>
            <c:strRef>
              <c:f>Sheet2!$D$4</c:f>
              <c:strCache>
                <c:ptCount val="1"/>
                <c:pt idx="0">
                  <c:v>VARiD - SHRiMP map</c:v>
                </c:pt>
              </c:strCache>
            </c:strRef>
          </c:tx>
          <c:cat>
            <c:strRef>
              <c:f>Sheet2!$C$6:$C$10</c:f>
              <c:strCache>
                <c:ptCount val="5"/>
                <c:pt idx="0">
                  <c:v>CS_10x</c:v>
                </c:pt>
                <c:pt idx="1">
                  <c:v>CS_20x</c:v>
                </c:pt>
                <c:pt idx="2">
                  <c:v>CS_50x</c:v>
                </c:pt>
                <c:pt idx="3">
                  <c:v>CS_100x</c:v>
                </c:pt>
                <c:pt idx="4">
                  <c:v>CS_200x</c:v>
                </c:pt>
              </c:strCache>
            </c:strRef>
          </c:cat>
          <c:val>
            <c:numRef>
              <c:f>Sheet2!$D$27:$D$31</c:f>
              <c:numCache>
                <c:formatCode>0.0</c:formatCode>
                <c:ptCount val="5"/>
                <c:pt idx="0">
                  <c:v>47.750865051903027</c:v>
                </c:pt>
                <c:pt idx="1">
                  <c:v>60.597014925373152</c:v>
                </c:pt>
                <c:pt idx="2">
                  <c:v>73.124147339699604</c:v>
                </c:pt>
                <c:pt idx="3">
                  <c:v>75.549805950840863</c:v>
                </c:pt>
                <c:pt idx="4">
                  <c:v>78.516624040920874</c:v>
                </c:pt>
              </c:numCache>
            </c:numRef>
          </c:val>
        </c:ser>
        <c:ser>
          <c:idx val="2"/>
          <c:order val="2"/>
          <c:tx>
            <c:strRef>
              <c:f>Sheet2!$J$4</c:f>
              <c:strCache>
                <c:ptCount val="1"/>
                <c:pt idx="0">
                  <c:v>VARiD - AB map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cat>
            <c:strRef>
              <c:f>Sheet2!$C$6:$C$10</c:f>
              <c:strCache>
                <c:ptCount val="5"/>
                <c:pt idx="0">
                  <c:v>CS_10x</c:v>
                </c:pt>
                <c:pt idx="1">
                  <c:v>CS_20x</c:v>
                </c:pt>
                <c:pt idx="2">
                  <c:v>CS_50x</c:v>
                </c:pt>
                <c:pt idx="3">
                  <c:v>CS_100x</c:v>
                </c:pt>
                <c:pt idx="4">
                  <c:v>CS_200x</c:v>
                </c:pt>
              </c:strCache>
            </c:strRef>
          </c:cat>
          <c:val>
            <c:numRef>
              <c:f>Sheet2!$E$27:$E$31</c:f>
              <c:numCache>
                <c:formatCode>General</c:formatCode>
                <c:ptCount val="5"/>
                <c:pt idx="0">
                  <c:v>28.991596638655462</c:v>
                </c:pt>
                <c:pt idx="1">
                  <c:v>46.153846153845969</c:v>
                </c:pt>
                <c:pt idx="2">
                  <c:v>59.904912836767039</c:v>
                </c:pt>
                <c:pt idx="3">
                  <c:v>69.705882352940918</c:v>
                </c:pt>
                <c:pt idx="4">
                  <c:v>72.778561354019658</c:v>
                </c:pt>
              </c:numCache>
            </c:numRef>
          </c:val>
        </c:ser>
        <c:axId val="69667456"/>
        <c:axId val="69718400"/>
      </c:barChart>
      <c:catAx>
        <c:axId val="69667456"/>
        <c:scaling>
          <c:orientation val="minMax"/>
        </c:scaling>
        <c:axPos val="b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69718400"/>
        <c:crosses val="autoZero"/>
        <c:auto val="1"/>
        <c:lblAlgn val="ctr"/>
        <c:lblOffset val="100"/>
      </c:catAx>
      <c:valAx>
        <c:axId val="69718400"/>
        <c:scaling>
          <c:orientation val="minMax"/>
        </c:scaling>
        <c:axPos val="l"/>
        <c:majorGridlines/>
        <c:numFmt formatCode="General" sourceLinked="1"/>
        <c:tickLblPos val="nextTo"/>
        <c:crossAx val="6966745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9.429224097479004E-2"/>
          <c:y val="4.7578979634844913E-2"/>
          <c:w val="0.34415195259683434"/>
          <c:h val="0.25006342957130329"/>
        </c:manualLayout>
      </c:layout>
      <c:spPr>
        <a:solidFill>
          <a:schemeClr val="bg1"/>
        </a:solidFill>
      </c:spPr>
      <c:txPr>
        <a:bodyPr/>
        <a:lstStyle/>
        <a:p>
          <a:pPr>
            <a:defRPr sz="1050"/>
          </a:pPr>
          <a:endParaRPr lang="en-US"/>
        </a:p>
      </c:txPr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055857392825901"/>
          <c:y val="5.1400554097404488E-2"/>
          <c:w val="0.83249890638670165"/>
          <c:h val="0.78896580635754043"/>
        </c:manualLayout>
      </c:layout>
      <c:barChart>
        <c:barDir val="col"/>
        <c:grouping val="clustered"/>
        <c:ser>
          <c:idx val="0"/>
          <c:order val="0"/>
          <c:tx>
            <c:strRef>
              <c:f>Sheet2!$P$16</c:f>
              <c:strCache>
                <c:ptCount val="1"/>
                <c:pt idx="0">
                  <c:v>GigaBayes - Mosaik map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Sheet2!$C$18:$C$22</c:f>
              <c:strCache>
                <c:ptCount val="5"/>
                <c:pt idx="0">
                  <c:v>LS_1x</c:v>
                </c:pt>
                <c:pt idx="1">
                  <c:v>LS_2.5x</c:v>
                </c:pt>
                <c:pt idx="2">
                  <c:v>LS_5x</c:v>
                </c:pt>
                <c:pt idx="3">
                  <c:v>LS_10x</c:v>
                </c:pt>
                <c:pt idx="4">
                  <c:v>LS_20x</c:v>
                </c:pt>
              </c:strCache>
            </c:strRef>
          </c:cat>
          <c:val>
            <c:numRef>
              <c:f>Sheet2!$C$34:$C$38</c:f>
              <c:numCache>
                <c:formatCode>General</c:formatCode>
                <c:ptCount val="5"/>
                <c:pt idx="0">
                  <c:v>19.823788546255507</c:v>
                </c:pt>
                <c:pt idx="1">
                  <c:v>46.644295302013404</c:v>
                </c:pt>
                <c:pt idx="2">
                  <c:v>61.818181818181863</c:v>
                </c:pt>
                <c:pt idx="3">
                  <c:v>63.646922183507556</c:v>
                </c:pt>
                <c:pt idx="4">
                  <c:v>59.743290548424824</c:v>
                </c:pt>
              </c:numCache>
            </c:numRef>
          </c:val>
        </c:ser>
        <c:ser>
          <c:idx val="1"/>
          <c:order val="1"/>
          <c:tx>
            <c:strRef>
              <c:f>Sheet2!$D$16</c:f>
              <c:strCache>
                <c:ptCount val="1"/>
                <c:pt idx="0">
                  <c:v>VARiD - SHRiMP map</c:v>
                </c:pt>
              </c:strCache>
            </c:strRef>
          </c:tx>
          <c:cat>
            <c:strRef>
              <c:f>Sheet2!$C$18:$C$22</c:f>
              <c:strCache>
                <c:ptCount val="5"/>
                <c:pt idx="0">
                  <c:v>LS_1x</c:v>
                </c:pt>
                <c:pt idx="1">
                  <c:v>LS_2.5x</c:v>
                </c:pt>
                <c:pt idx="2">
                  <c:v>LS_5x</c:v>
                </c:pt>
                <c:pt idx="3">
                  <c:v>LS_10x</c:v>
                </c:pt>
                <c:pt idx="4">
                  <c:v>LS_20x</c:v>
                </c:pt>
              </c:strCache>
            </c:strRef>
          </c:cat>
          <c:val>
            <c:numRef>
              <c:f>Sheet2!$D$34:$D$38</c:f>
              <c:numCache>
                <c:formatCode>0.0</c:formatCode>
                <c:ptCount val="5"/>
                <c:pt idx="0">
                  <c:v>19.43127962085309</c:v>
                </c:pt>
                <c:pt idx="1">
                  <c:v>43.493761140819963</c:v>
                </c:pt>
                <c:pt idx="2">
                  <c:v>59.125188536953345</c:v>
                </c:pt>
                <c:pt idx="3">
                  <c:v>71.733333333333249</c:v>
                </c:pt>
                <c:pt idx="4">
                  <c:v>76.179516685845797</c:v>
                </c:pt>
              </c:numCache>
            </c:numRef>
          </c:val>
        </c:ser>
        <c:ser>
          <c:idx val="2"/>
          <c:order val="2"/>
          <c:tx>
            <c:strRef>
              <c:f>Sheet2!$J$16</c:f>
              <c:strCache>
                <c:ptCount val="1"/>
                <c:pt idx="0">
                  <c:v>VARiD - Mosaik map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cat>
            <c:strRef>
              <c:f>Sheet2!$C$18:$C$22</c:f>
              <c:strCache>
                <c:ptCount val="5"/>
                <c:pt idx="0">
                  <c:v>LS_1x</c:v>
                </c:pt>
                <c:pt idx="1">
                  <c:v>LS_2.5x</c:v>
                </c:pt>
                <c:pt idx="2">
                  <c:v>LS_5x</c:v>
                </c:pt>
                <c:pt idx="3">
                  <c:v>LS_10x</c:v>
                </c:pt>
                <c:pt idx="4">
                  <c:v>LS_20x</c:v>
                </c:pt>
              </c:strCache>
            </c:strRef>
          </c:cat>
          <c:val>
            <c:numRef>
              <c:f>Sheet2!$E$34:$E$38</c:f>
              <c:numCache>
                <c:formatCode>General</c:formatCode>
                <c:ptCount val="5"/>
                <c:pt idx="0">
                  <c:v>16.888888888888893</c:v>
                </c:pt>
                <c:pt idx="1">
                  <c:v>42.906574394463654</c:v>
                </c:pt>
                <c:pt idx="2">
                  <c:v>55.742296918767508</c:v>
                </c:pt>
                <c:pt idx="3">
                  <c:v>71.297509829619926</c:v>
                </c:pt>
                <c:pt idx="4">
                  <c:v>74.233825198637916</c:v>
                </c:pt>
              </c:numCache>
            </c:numRef>
          </c:val>
        </c:ser>
        <c:axId val="69773184"/>
        <c:axId val="69774720"/>
      </c:barChart>
      <c:catAx>
        <c:axId val="69773184"/>
        <c:scaling>
          <c:orientation val="minMax"/>
        </c:scaling>
        <c:axPos val="b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69774720"/>
        <c:crosses val="autoZero"/>
        <c:auto val="1"/>
        <c:lblAlgn val="ctr"/>
        <c:lblOffset val="100"/>
      </c:catAx>
      <c:valAx>
        <c:axId val="69774720"/>
        <c:scaling>
          <c:orientation val="minMax"/>
        </c:scaling>
        <c:axPos val="l"/>
        <c:majorGridlines/>
        <c:numFmt formatCode="General" sourceLinked="1"/>
        <c:tickLblPos val="nextTo"/>
        <c:crossAx val="697731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0752909011373578"/>
          <c:y val="5.9609215514727323E-2"/>
          <c:w val="0.32212357830271376"/>
          <c:h val="0.25115157480314959"/>
        </c:manualLayout>
      </c:layout>
      <c:spPr>
        <a:solidFill>
          <a:sysClr val="window" lastClr="FFFFFF"/>
        </a:solidFill>
      </c:spPr>
      <c:txPr>
        <a:bodyPr/>
        <a:lstStyle/>
        <a:p>
          <a:pPr>
            <a:defRPr sz="1050"/>
          </a:pPr>
          <a:endParaRPr lang="en-US"/>
        </a:p>
      </c:txPr>
    </c:legend>
    <c:plotVisOnly val="1"/>
  </c:chart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CA571-2D88-4BA0-83E2-6B856DD141F8}" type="datetimeFigureOut">
              <a:rPr lang="en-US" smtClean="0"/>
              <a:pPr/>
              <a:t>7/12/2010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F1C8C-D598-4D9F-B33B-5871355CD43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Mention that we use numbers for colors</a:t>
            </a:r>
          </a:p>
          <a:p>
            <a:pPr>
              <a:buFontTx/>
              <a:buChar char="-"/>
            </a:pPr>
            <a:r>
              <a:rPr lang="en-US" dirty="0" smtClean="0"/>
              <a:t>- Don’t List Differences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Known first letter –part of the linker,</a:t>
            </a:r>
            <a:r>
              <a:rPr lang="en-US" baseline="0" dirty="0" smtClean="0"/>
              <a:t> not of the 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- Will go to states, emissions and transitions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REDUNDANT?</a:t>
            </a:r>
            <a:endParaRPr lang="en-US" smtClean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- Will go to states, emissions and transitions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- FB intuition !!!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buFont typeface="Courier New" pitchFamily="49" charset="0"/>
              <a:buChar char="o"/>
            </a:pPr>
            <a:r>
              <a:rPr lang="en-US" dirty="0" smtClean="0"/>
              <a:t> know the error rate  (= error rate at first color)</a:t>
            </a:r>
            <a:br>
              <a:rPr lang="en-US" dirty="0" smtClean="0"/>
            </a:br>
            <a:r>
              <a:rPr lang="en-US" sz="1400" dirty="0" smtClean="0">
                <a:solidFill>
                  <a:srgbClr val="0070C0"/>
                </a:solidFill>
              </a:rPr>
              <a:t>     note: not ok to translate the whole read due to</a:t>
            </a:r>
            <a:br>
              <a:rPr lang="en-US" sz="1400" dirty="0" smtClean="0">
                <a:solidFill>
                  <a:srgbClr val="0070C0"/>
                </a:solidFill>
              </a:rPr>
            </a:br>
            <a:r>
              <a:rPr lang="en-US" sz="1400" dirty="0" smtClean="0">
                <a:solidFill>
                  <a:srgbClr val="0070C0"/>
                </a:solidFill>
              </a:rPr>
              <a:t>     effects of color-space error, but one letter is safe.</a:t>
            </a:r>
            <a:r>
              <a:rPr lang="en-US" dirty="0" smtClean="0">
                <a:solidFill>
                  <a:srgbClr val="0070C0"/>
                </a:solidFill>
              </a:rPr>
              <a:t/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en-US" sz="1400" dirty="0" smtClean="0">
                <a:solidFill>
                  <a:srgbClr val="0070C0"/>
                </a:solidFill>
              </a:rPr>
              <a:t>     </a:t>
            </a:r>
            <a:r>
              <a:rPr lang="en-US" sz="1400" smtClean="0">
                <a:solidFill>
                  <a:srgbClr val="0070C0"/>
                </a:solidFill>
              </a:rPr>
              <a:t>handle like a normal letter-space emission</a:t>
            </a:r>
            <a:endParaRPr lang="en-US" sz="1400" dirty="0" smtClean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SAY: Although </a:t>
            </a:r>
            <a:r>
              <a:rPr lang="en-US" dirty="0" err="1" smtClean="0"/>
              <a:t>VARiD</a:t>
            </a:r>
            <a:r>
              <a:rPr lang="en-US" dirty="0" smtClean="0"/>
              <a:t> should be used to combine</a:t>
            </a:r>
            <a:r>
              <a:rPr lang="en-US" baseline="0" dirty="0" smtClean="0"/>
              <a:t> datasets, for now we only tested it on purely color-space data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SAY: (most FN?) Low coverage for the 2</a:t>
            </a:r>
            <a:r>
              <a:rPr lang="en-US" baseline="30000" dirty="0" smtClean="0"/>
              <a:t>nd</a:t>
            </a:r>
            <a:r>
              <a:rPr lang="en-US" baseline="0" dirty="0" smtClean="0"/>
              <a:t> allele- add a column for </a:t>
            </a:r>
            <a:r>
              <a:rPr lang="en-US" baseline="0" dirty="0" err="1" smtClean="0"/>
              <a:t>indels</a:t>
            </a:r>
            <a:r>
              <a:rPr lang="en-US" baseline="0" dirty="0" smtClean="0"/>
              <a:t>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SAY: Although </a:t>
            </a:r>
            <a:r>
              <a:rPr lang="en-US" dirty="0" err="1" smtClean="0"/>
              <a:t>VARiD</a:t>
            </a:r>
            <a:r>
              <a:rPr lang="en-US" dirty="0" smtClean="0"/>
              <a:t> should be used to combine</a:t>
            </a:r>
            <a:r>
              <a:rPr lang="en-US" baseline="0" dirty="0" smtClean="0"/>
              <a:t> datasets, for now we only tested it on purely color-space data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SAY: (most FN?) Low coverage for the 2</a:t>
            </a:r>
            <a:r>
              <a:rPr lang="en-US" baseline="30000" dirty="0" smtClean="0"/>
              <a:t>nd</a:t>
            </a:r>
            <a:r>
              <a:rPr lang="en-US" baseline="0" dirty="0" smtClean="0"/>
              <a:t> allele- add a column for </a:t>
            </a:r>
            <a:r>
              <a:rPr lang="en-US" baseline="0" dirty="0" err="1" smtClean="0"/>
              <a:t>indels</a:t>
            </a:r>
            <a:r>
              <a:rPr lang="en-US" baseline="0" dirty="0" smtClean="0"/>
              <a:t>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SAY: Although </a:t>
            </a:r>
            <a:r>
              <a:rPr lang="en-US" dirty="0" err="1" smtClean="0"/>
              <a:t>VARiD</a:t>
            </a:r>
            <a:r>
              <a:rPr lang="en-US" dirty="0" smtClean="0"/>
              <a:t> should be used to combine</a:t>
            </a:r>
            <a:r>
              <a:rPr lang="en-US" baseline="0" dirty="0" smtClean="0"/>
              <a:t> datasets, for now we only tested it on purely color-space data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SAY: (most FN?) Low coverage for the 2</a:t>
            </a:r>
            <a:r>
              <a:rPr lang="en-US" baseline="30000" dirty="0" smtClean="0"/>
              <a:t>nd</a:t>
            </a:r>
            <a:r>
              <a:rPr lang="en-US" baseline="0" dirty="0" smtClean="0"/>
              <a:t> allele- add a column for </a:t>
            </a:r>
            <a:r>
              <a:rPr lang="en-US" baseline="0" dirty="0" err="1" smtClean="0"/>
              <a:t>indels</a:t>
            </a:r>
            <a:r>
              <a:rPr lang="en-US" baseline="0" dirty="0" smtClean="0"/>
              <a:t>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For ADJ SNP: would need an extra run</a:t>
            </a:r>
          </a:p>
          <a:p>
            <a:pPr>
              <a:buFontTx/>
              <a:buChar char="-"/>
            </a:pPr>
            <a:r>
              <a:rPr lang="en-US" dirty="0" smtClean="0"/>
              <a:t>Stress: Fully Probabilistic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 TOOK OUT ADJACENT SNPs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For ADJ SNP: would need an extra run</a:t>
            </a:r>
          </a:p>
          <a:p>
            <a:pPr>
              <a:buFontTx/>
              <a:buChar char="-"/>
            </a:pPr>
            <a:r>
              <a:rPr lang="en-US" dirty="0" smtClean="0"/>
              <a:t>Stress: Fully Probabilistic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 TOOK OUT ADJACENT SNPs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F1C8C-D598-4D9F-B33B-5871355CD43C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C19D-A2EF-48D7-802C-FF2FC5D39EBD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F1B6-DE2C-4D7E-BD85-B2C60717E0FC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1859-844D-4849-8D04-3BBB58C95054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5EBAC-D868-4D44-90E5-1CD8EAC39003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C1C2-7409-4A3B-AFFF-2E6435FD0DDA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DA7AD-C855-4889-8961-530587CB7D7D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5D7B2-AE55-4707-89F4-DDC6C2CE74D2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0A309-A38F-482E-AC16-ED161DF7FB25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1A57-9E2D-4149-9B6A-92D6148889FE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3BED-36D9-42DA-A748-CA0307408328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AFCC-4041-4DD5-9CAF-A0F4EA906CF1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77224E6-EFA9-480A-8734-94D31718F8D1}" type="datetime1">
              <a:rPr lang="en-US" smtClean="0"/>
              <a:pPr/>
              <a:t>7/12/2010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CE7850D-ADD3-4826-BAAE-DADA10EA2EB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1981200"/>
            <a:ext cx="861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/>
              <a:t>VARiD</a:t>
            </a:r>
            <a:r>
              <a:rPr lang="en-US" sz="3200" dirty="0" smtClean="0"/>
              <a:t>:  A Variation Detection Framework </a:t>
            </a:r>
            <a:br>
              <a:rPr lang="en-US" sz="3200" dirty="0" smtClean="0"/>
            </a:br>
            <a:r>
              <a:rPr lang="en-US" sz="3200" dirty="0" smtClean="0"/>
              <a:t>for Color- and Letter-Space platforms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1219200" y="3733800"/>
            <a:ext cx="708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Adrian Dalca</a:t>
            </a:r>
            <a:r>
              <a:rPr lang="en-US" sz="2000" baseline="30000" dirty="0" smtClean="0"/>
              <a:t>1,2</a:t>
            </a:r>
            <a:r>
              <a:rPr lang="en-US" sz="2000" dirty="0" smtClean="0"/>
              <a:t>, Steven Rumble</a:t>
            </a:r>
            <a:r>
              <a:rPr lang="en-US" sz="2000" baseline="30000" dirty="0" smtClean="0"/>
              <a:t>3</a:t>
            </a:r>
            <a:r>
              <a:rPr lang="en-US" sz="2000" dirty="0" smtClean="0"/>
              <a:t>, Sam Levy</a:t>
            </a:r>
            <a:r>
              <a:rPr lang="en-US" sz="2000" baseline="30000" dirty="0" smtClean="0"/>
              <a:t>4</a:t>
            </a:r>
            <a:r>
              <a:rPr lang="en-US" sz="2000" dirty="0" smtClean="0"/>
              <a:t>, Michael Brudno</a:t>
            </a:r>
            <a:r>
              <a:rPr lang="en-US" sz="2000" baseline="30000" dirty="0" smtClean="0"/>
              <a:t>2,5</a:t>
            </a:r>
            <a:endParaRPr lang="en-US" sz="2000" baseline="30000" dirty="0"/>
          </a:p>
        </p:txBody>
      </p:sp>
      <p:sp>
        <p:nvSpPr>
          <p:cNvPr id="4" name="TextBox 3"/>
          <p:cNvSpPr txBox="1"/>
          <p:nvPr/>
        </p:nvSpPr>
        <p:spPr>
          <a:xfrm>
            <a:off x="4419600" y="4648200"/>
            <a:ext cx="373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1400" dirty="0" smtClean="0"/>
              <a:t>Massachusetts Institute of Technology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University of Toronto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Stanford University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The Scripps Research Institute</a:t>
            </a:r>
          </a:p>
          <a:p>
            <a:pPr marL="457200" indent="-457200">
              <a:buAutoNum type="arabicPeriod"/>
            </a:pPr>
            <a:r>
              <a:rPr lang="en-US" sz="1400" dirty="0" smtClean="0"/>
              <a:t>Donnelly Centre and the </a:t>
            </a:r>
            <a:r>
              <a:rPr lang="en-US" sz="1400" dirty="0" err="1" smtClean="0"/>
              <a:t>Banting</a:t>
            </a:r>
            <a:r>
              <a:rPr lang="en-US" sz="1400" dirty="0" smtClean="0"/>
              <a:t> and Best Department of Medical Research</a:t>
            </a:r>
            <a:endParaRPr lang="en-US" sz="1400" dirty="0"/>
          </a:p>
        </p:txBody>
      </p:sp>
      <p:pic>
        <p:nvPicPr>
          <p:cNvPr id="5" name="Picture 4" descr="http://compbio.cs.toronto.edu/cbl/fatlogo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590800" y="4781550"/>
            <a:ext cx="1109560" cy="10058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5" descr="C:\Documents and Settings\adijr\Desktop\UofT_Crest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98833" y="4781550"/>
            <a:ext cx="658567" cy="1009650"/>
          </a:xfrm>
          <a:prstGeom prst="round2DiagRect">
            <a:avLst>
              <a:gd name="adj1" fmla="val 0"/>
              <a:gd name="adj2" fmla="val 50000"/>
            </a:avLst>
          </a:prstGeom>
          <a:ln w="88900" cap="sq">
            <a:solidFill>
              <a:srgbClr val="FFFFFF"/>
            </a:solidFill>
            <a:miter lim="800000"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methods | results |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11898" y="228600"/>
            <a:ext cx="72642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Variation detection from NGS reads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2769275"/>
            <a:ext cx="7077579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Reference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: TCAGCATCGGCATCGACTGCACAGGACCAGTCGATCGAC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Donor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:     ???????????????????????????????????????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    GCATCGACTGCA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  CGGGATCGACTG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Aligned reads:        ATCCATTGCA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           GATCCACTGCAC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4400" y="1611868"/>
            <a:ext cx="74993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Determine differences (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variation</a:t>
            </a:r>
            <a:r>
              <a:rPr lang="en-US" sz="2000" dirty="0" smtClean="0"/>
              <a:t>) between </a:t>
            </a:r>
            <a:r>
              <a:rPr lang="en-US" sz="2000" b="1" dirty="0" smtClean="0"/>
              <a:t>reference</a:t>
            </a:r>
            <a:r>
              <a:rPr lang="en-US" sz="2000" dirty="0" smtClean="0"/>
              <a:t> and </a:t>
            </a:r>
            <a:r>
              <a:rPr lang="en-US" sz="2000" b="1" dirty="0" smtClean="0"/>
              <a:t>donor</a:t>
            </a:r>
            <a:br>
              <a:rPr lang="en-US" sz="2000" b="1" dirty="0" smtClean="0"/>
            </a:br>
            <a:r>
              <a:rPr lang="en-US" sz="2000" dirty="0" smtClean="0"/>
              <a:t>using NGS reads of the donor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676400" y="1524000"/>
            <a:ext cx="5791200" cy="15240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Motivation</a:t>
            </a:r>
          </a:p>
          <a:p>
            <a:pPr lvl="1" algn="ctr"/>
            <a:r>
              <a:rPr lang="en-US" sz="1600" b="1" dirty="0" smtClean="0">
                <a:solidFill>
                  <a:schemeClr val="tx1"/>
                </a:solidFill>
              </a:rPr>
              <a:t>Color-space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smtClean="0"/>
              <a:t>and </a:t>
            </a:r>
            <a:r>
              <a:rPr lang="en-US" sz="1600" b="1" dirty="0" smtClean="0">
                <a:solidFill>
                  <a:schemeClr val="tx1"/>
                </a:solidFill>
              </a:rPr>
              <a:t>Letter-space</a:t>
            </a:r>
            <a:r>
              <a:rPr lang="en-US" sz="1600" dirty="0" smtClean="0"/>
              <a:t> platforms</a:t>
            </a:r>
          </a:p>
          <a:p>
            <a:pPr algn="ctr"/>
            <a:r>
              <a:rPr lang="en-US" sz="1600" dirty="0" smtClean="0"/>
              <a:t>bring them </a:t>
            </a:r>
            <a:r>
              <a:rPr lang="en-US" sz="1600" b="1" dirty="0" smtClean="0">
                <a:solidFill>
                  <a:schemeClr val="tx1"/>
                </a:solidFill>
              </a:rPr>
              <a:t>together</a:t>
            </a:r>
            <a:endParaRPr lang="en-US" sz="1600" dirty="0" smtClean="0"/>
          </a:p>
        </p:txBody>
      </p:sp>
      <p:sp>
        <p:nvSpPr>
          <p:cNvPr id="5" name="Rounded Rectangle 4"/>
          <p:cNvSpPr/>
          <p:nvPr/>
        </p:nvSpPr>
        <p:spPr>
          <a:xfrm>
            <a:off x="2286000" y="32766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2578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2672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Results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924800" y="6324600"/>
            <a:ext cx="762000" cy="365125"/>
          </a:xfrm>
        </p:spPr>
        <p:txBody>
          <a:bodyPr/>
          <a:lstStyle/>
          <a:p>
            <a:fld id="{3CE7850D-ADD3-4826-BAAE-DADA10EA2EB1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methods | results |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898" y="228600"/>
            <a:ext cx="45478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Sequencing Platforms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1600200"/>
            <a:ext cx="25577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 letter-space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Sanger, 454, </a:t>
            </a:r>
            <a:r>
              <a:rPr lang="en-US" sz="1600" dirty="0" err="1" smtClean="0"/>
              <a:t>Illumina</a:t>
            </a:r>
            <a:r>
              <a:rPr lang="en-US" sz="1600" dirty="0" smtClean="0"/>
              <a:t>, etc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71600"/>
            <a:ext cx="3581400" cy="1295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NC_005109.2 </a:t>
            </a:r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 BRCA1 SX3</a:t>
            </a:r>
          </a:p>
          <a:p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TCAGCATCGGCATCGACTGCACAGG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71402" y="3276600"/>
            <a:ext cx="2788712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 color-space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AB </a:t>
            </a:r>
            <a:r>
              <a:rPr lang="en-US" sz="1600" dirty="0" err="1" smtClean="0"/>
              <a:t>SOLiD</a:t>
            </a:r>
            <a:endParaRPr lang="en-US" sz="1600" dirty="0" smtClean="0"/>
          </a:p>
          <a:p>
            <a:r>
              <a:rPr lang="en-US" sz="1600" dirty="0" smtClean="0"/>
              <a:t>   less software tools available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3200400"/>
            <a:ext cx="3581400" cy="1295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NC_005109.2 | BRCA1 AF3</a:t>
            </a:r>
          </a:p>
          <a:p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 smtClean="0">
                <a:solidFill>
                  <a:srgbClr val="FFDF21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111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en-US" sz="16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4800600"/>
            <a:ext cx="7391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1600" dirty="0" smtClean="0"/>
              <a:t> many differences -&gt; useful to combine this information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/>
              <a:t> sequencing biases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/>
              <a:t> inherent errors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/>
              <a:t> advantages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057400"/>
            <a:ext cx="6429376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811898" y="228600"/>
            <a:ext cx="25266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Color Space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methods | results | summary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81200" y="1600200"/>
            <a:ext cx="1838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Garamond" pitchFamily="18" charset="0"/>
              </a:rPr>
              <a:t>Translation Matrix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334000" y="1600200"/>
            <a:ext cx="2134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Garamond" pitchFamily="18" charset="0"/>
              </a:rPr>
              <a:t>Translation Automata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38400" y="5562600"/>
            <a:ext cx="3906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&gt; T212313230313232121311120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1295400"/>
            <a:ext cx="130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Translating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371600" y="1676400"/>
            <a:ext cx="3581400" cy="533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T212313230313232121311120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T</a:t>
            </a:r>
            <a:endParaRPr lang="en-US" sz="16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437"/>
          <a:stretch>
            <a:fillRect/>
          </a:stretch>
        </p:blipFill>
        <p:spPr bwMode="auto">
          <a:xfrm>
            <a:off x="5486400" y="1828800"/>
            <a:ext cx="3122296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2" name="TextBox 141"/>
          <p:cNvSpPr txBox="1"/>
          <p:nvPr/>
        </p:nvSpPr>
        <p:spPr>
          <a:xfrm>
            <a:off x="838200" y="2754868"/>
            <a:ext cx="2645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Sequencing Error </a:t>
            </a:r>
            <a:r>
              <a:rPr lang="en-US" dirty="0" err="1" smtClean="0"/>
              <a:t>vs</a:t>
            </a:r>
            <a:r>
              <a:rPr lang="en-US" dirty="0" smtClean="0"/>
              <a:t> SNP</a:t>
            </a:r>
            <a:endParaRPr lang="en-US" dirty="0"/>
          </a:p>
        </p:txBody>
      </p:sp>
      <p:sp>
        <p:nvSpPr>
          <p:cNvPr id="144" name="Rectangle 143"/>
          <p:cNvSpPr/>
          <p:nvPr/>
        </p:nvSpPr>
        <p:spPr>
          <a:xfrm>
            <a:off x="1371600" y="3276600"/>
            <a:ext cx="3581400" cy="2362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Sequencing Error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T212313230313232121311120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T21231323031</a:t>
            </a: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232121311120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TCAGCATCGGCA</a:t>
            </a:r>
            <a:r>
              <a:rPr lang="en-US" sz="1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AGCTGACGTGTCC</a:t>
            </a:r>
            <a:endParaRPr lang="en-US" sz="16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16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SNP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TCAGCATCGGCATCGACTGCACAGG</a:t>
            </a:r>
            <a:b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TCAGCATCGGCA</a:t>
            </a:r>
            <a:r>
              <a:rPr lang="en-US" sz="1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CGACTGCACAGG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 T21231323031</a:t>
            </a: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23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32121311120</a:t>
            </a:r>
          </a:p>
        </p:txBody>
      </p:sp>
      <p:sp>
        <p:nvSpPr>
          <p:cNvPr id="11" name="Oval 10"/>
          <p:cNvSpPr/>
          <p:nvPr/>
        </p:nvSpPr>
        <p:spPr>
          <a:xfrm>
            <a:off x="6139542" y="2308860"/>
            <a:ext cx="609600" cy="6019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</a:t>
            </a:r>
            <a:endParaRPr lang="en-US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52658" y="2305594"/>
            <a:ext cx="609600" cy="609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</a:t>
            </a:r>
            <a:endParaRPr lang="en-US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139542" y="3815442"/>
            <a:ext cx="609600" cy="609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</a:t>
            </a:r>
            <a:endParaRPr lang="en-US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658100" y="3817620"/>
            <a:ext cx="609600" cy="609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</a:t>
            </a:r>
            <a:endParaRPr lang="en-US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33338" y="1943110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57103" y="1943108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74181" y="1943106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G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7946" y="1943104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21835" y="1944026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45600" y="1944024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T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2678" y="1944022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86443" y="1944020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G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11238" y="1944026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G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35003" y="1944024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52081" y="1944022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75846" y="1944020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T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9735" y="1944942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23500" y="1944940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G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40578" y="1944938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64343" y="1944936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87775" y="1944022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T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11540" y="1944020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G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35429" y="1944942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59194" y="1944940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76272" y="1944938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00037" y="1944936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24828" y="1947197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G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48593" y="1947195"/>
            <a:ext cx="1234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G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1898" y="228600"/>
            <a:ext cx="25266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Color Space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methods | results | summary</a:t>
            </a:r>
          </a:p>
        </p:txBody>
      </p:sp>
      <p:cxnSp>
        <p:nvCxnSpPr>
          <p:cNvPr id="44" name="Straight Connector 43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accel="50000" decel="50000" autoRev="1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mp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mph" presetSubtype="0" accel="50000" decel="50000" autoRev="1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mph" presetSubtype="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mph" presetSubtype="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mph" presetSubtype="0" accel="50000" decel="50000" autoRev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mph" presetSubtype="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mph" presetSubtype="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mph" presetSubtype="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mph" presetSubtype="0" accel="50000" decel="50000" autoRev="1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0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mph" presetSubtype="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2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mph" presetSubtype="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2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8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4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6" presetClass="emph" presetSubtype="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6" presetClass="emph" presetSubtype="0" accel="50000" decel="50000" autoRev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7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2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6" presetClass="emph" presetSubtype="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8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6" presetClass="emp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4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00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6" presetClass="emph" presetSubtype="0" accel="50000" decel="50000" autoRev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0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44" grpId="1" build="p" animBg="1" autoUpdateAnimBg="0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4" grpId="0" animBg="1"/>
      <p:bldP spid="14" grpId="1" animBg="1"/>
      <p:bldP spid="14" grpId="2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0774" y="2930104"/>
            <a:ext cx="961727" cy="2538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/>
        </p:nvSpPr>
        <p:spPr>
          <a:xfrm>
            <a:off x="811898" y="228600"/>
            <a:ext cx="25266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Color Space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methods | results | summary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09600" y="1066800"/>
            <a:ext cx="6779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clear distinction between a sequencing error and a SNP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can this help us in SNP detection? </a:t>
            </a:r>
            <a:r>
              <a:rPr lang="en-US" dirty="0" smtClean="0">
                <a:solidFill>
                  <a:srgbClr val="0070C0"/>
                </a:solidFill>
              </a:rPr>
              <a:t>sounds like it! 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single color change </a:t>
            </a:r>
            <a:r>
              <a:rPr lang="en-US" dirty="0" smtClean="0">
                <a:solidFill>
                  <a:srgbClr val="0070C0"/>
                </a:solidFill>
                <a:sym typeface="Wingdings"/>
              </a:rPr>
              <a:t></a:t>
            </a:r>
            <a:r>
              <a:rPr lang="en-US" dirty="0" smtClean="0">
                <a:solidFill>
                  <a:srgbClr val="0070C0"/>
                </a:solidFill>
              </a:rPr>
              <a:t> error, 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2 colors changed </a:t>
            </a:r>
            <a:r>
              <a:rPr lang="en-US" dirty="0" smtClean="0">
                <a:solidFill>
                  <a:srgbClr val="0070C0"/>
                </a:solidFill>
                <a:sym typeface="Wingdings"/>
              </a:rPr>
              <a:t></a:t>
            </a:r>
            <a:r>
              <a:rPr lang="en-US" dirty="0" smtClean="0">
                <a:solidFill>
                  <a:srgbClr val="0070C0"/>
                </a:solidFill>
              </a:rPr>
              <a:t> (likely) SNP.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2514600" y="2590800"/>
            <a:ext cx="1429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Easy </a:t>
            </a:r>
            <a:r>
              <a:rPr lang="en-US" dirty="0" err="1" smtClean="0"/>
              <a:t>snp</a:t>
            </a:r>
            <a:r>
              <a:rPr lang="en-US" dirty="0" smtClean="0"/>
              <a:t> call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4455538" y="2578024"/>
            <a:ext cx="2054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Well covered bases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7228940" y="2559164"/>
            <a:ext cx="1539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Difficult Case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929687" y="2743200"/>
            <a:ext cx="135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reference in</a:t>
            </a:r>
          </a:p>
          <a:p>
            <a:pPr algn="ctr"/>
            <a:r>
              <a:rPr lang="en-US" dirty="0" smtClean="0"/>
              <a:t>color-space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895600"/>
            <a:ext cx="609600" cy="259080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447800" y="4038600"/>
            <a:ext cx="715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reads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638800"/>
            <a:ext cx="1059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position </a:t>
            </a:r>
          </a:p>
        </p:txBody>
      </p:sp>
      <p:cxnSp>
        <p:nvCxnSpPr>
          <p:cNvPr id="28" name="Straight Arrow Connector 27"/>
          <p:cNvCxnSpPr>
            <a:stCxn id="21" idx="3"/>
          </p:cNvCxnSpPr>
          <p:nvPr/>
        </p:nvCxnSpPr>
        <p:spPr>
          <a:xfrm flipV="1">
            <a:off x="3802913" y="5822830"/>
            <a:ext cx="1209034" cy="6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77904" y="2938730"/>
            <a:ext cx="2370000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39837" y="2954548"/>
            <a:ext cx="10945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1"/>
      <p:bldP spid="18" grpId="0"/>
      <p:bldP spid="19" grpId="0" animBg="1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47800" y="2512874"/>
            <a:ext cx="6469592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Detection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Heterozygous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SNPs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Homozygous SNPs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Tri-allelic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SNPs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small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indels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account for various errors, quality values &amp; misalignments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7800" y="1515070"/>
            <a:ext cx="723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Motivation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variation caller  to handle both letter-space &amp; color-space reads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1898" y="228600"/>
            <a:ext cx="23884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Motivation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methods | results | summary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524000" y="4648200"/>
            <a:ext cx="6705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VARiD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system to make inferences on the donor bases 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variation detection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752600" y="1447800"/>
            <a:ext cx="5791200" cy="30480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Methods</a:t>
            </a:r>
          </a:p>
          <a:p>
            <a:pPr algn="ctr"/>
            <a:endParaRPr lang="en-US" sz="2400" dirty="0" smtClean="0"/>
          </a:p>
          <a:p>
            <a:pPr algn="ctr"/>
            <a:r>
              <a:rPr lang="en-US" sz="2400" b="1" dirty="0" smtClean="0"/>
              <a:t>Simple HMM Model</a:t>
            </a:r>
          </a:p>
          <a:p>
            <a:pPr algn="ctr"/>
            <a:r>
              <a:rPr lang="en-US" b="1" dirty="0" smtClean="0"/>
              <a:t>states, emissions, transitions, FB</a:t>
            </a:r>
            <a:br>
              <a:rPr lang="en-US" b="1" dirty="0" smtClean="0"/>
            </a:br>
            <a:endParaRPr lang="en-US" b="1" dirty="0" smtClean="0"/>
          </a:p>
          <a:p>
            <a:pPr algn="ctr"/>
            <a:r>
              <a:rPr lang="en-US" sz="2000" dirty="0" smtClean="0"/>
              <a:t> </a:t>
            </a:r>
            <a:r>
              <a:rPr lang="en-US" sz="2400" dirty="0" smtClean="0"/>
              <a:t>Extended HMM Model</a:t>
            </a:r>
          </a:p>
          <a:p>
            <a:pPr algn="ctr"/>
            <a:r>
              <a:rPr lang="en-US" dirty="0" smtClean="0"/>
              <a:t>gaps, diploids, exceptions</a:t>
            </a:r>
          </a:p>
          <a:p>
            <a:pPr algn="ctr">
              <a:buFontTx/>
              <a:buChar char="-"/>
            </a:pPr>
            <a:endParaRPr lang="en-US" sz="2000" dirty="0" smtClean="0"/>
          </a:p>
        </p:txBody>
      </p:sp>
      <p:sp>
        <p:nvSpPr>
          <p:cNvPr id="5" name="Rounded Rectangle 4"/>
          <p:cNvSpPr/>
          <p:nvPr/>
        </p:nvSpPr>
        <p:spPr>
          <a:xfrm>
            <a:off x="2286000" y="5334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7912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8768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Results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90600" y="1295400"/>
            <a:ext cx="6625403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Statistical</a:t>
            </a:r>
            <a:r>
              <a:rPr lang="en-US" dirty="0" smtClean="0"/>
              <a:t> model for a system - </a:t>
            </a:r>
            <a:r>
              <a:rPr lang="en-US" b="1" dirty="0" smtClean="0"/>
              <a:t>states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Assume that system is a </a:t>
            </a:r>
            <a:r>
              <a:rPr lang="en-US" b="1" dirty="0" smtClean="0"/>
              <a:t>Markov process </a:t>
            </a:r>
            <a:r>
              <a:rPr lang="en-US" dirty="0" smtClean="0"/>
              <a:t>with state unobserved. </a:t>
            </a:r>
          </a:p>
          <a:p>
            <a:r>
              <a:rPr lang="en-US" dirty="0" smtClean="0"/>
              <a:t>	</a:t>
            </a:r>
            <a:r>
              <a:rPr lang="en-US" sz="1400" dirty="0" smtClean="0">
                <a:solidFill>
                  <a:srgbClr val="0070C0"/>
                </a:solidFill>
              </a:rPr>
              <a:t>Markov Process: next state depends only on current state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We can </a:t>
            </a:r>
            <a:r>
              <a:rPr lang="en-US" b="1" dirty="0" smtClean="0"/>
              <a:t>observe</a:t>
            </a:r>
            <a:r>
              <a:rPr lang="en-US" dirty="0" smtClean="0"/>
              <a:t> the state’s emission (output)</a:t>
            </a:r>
          </a:p>
          <a:p>
            <a:r>
              <a:rPr lang="en-US" sz="1400" dirty="0" smtClean="0">
                <a:solidFill>
                  <a:srgbClr val="0070C0"/>
                </a:solidFill>
              </a:rPr>
              <a:t>	each state has a probability distribution over outputs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898" y="228600"/>
            <a:ext cx="6348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Hidden Markov Model (HMM)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143125" y="37338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15" name="Oval 14"/>
          <p:cNvSpPr/>
          <p:nvPr/>
        </p:nvSpPr>
        <p:spPr>
          <a:xfrm>
            <a:off x="3971925" y="37338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cxnSp>
        <p:nvCxnSpPr>
          <p:cNvPr id="16" name="Straight Arrow Connector 15"/>
          <p:cNvCxnSpPr>
            <a:stCxn id="14" idx="6"/>
            <a:endCxn id="15" idx="2"/>
          </p:cNvCxnSpPr>
          <p:nvPr/>
        </p:nvCxnSpPr>
        <p:spPr>
          <a:xfrm>
            <a:off x="3114675" y="4081463"/>
            <a:ext cx="8572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19775" y="37338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r>
              <a:rPr lang="en-US" baseline="-25000" dirty="0" smtClean="0"/>
              <a:t>3</a:t>
            </a:r>
            <a:endParaRPr lang="en-US" baseline="-25000" dirty="0"/>
          </a:p>
        </p:txBody>
      </p:sp>
      <p:cxnSp>
        <p:nvCxnSpPr>
          <p:cNvPr id="18" name="Straight Arrow Connector 17"/>
          <p:cNvCxnSpPr>
            <a:stCxn id="15" idx="6"/>
            <a:endCxn id="17" idx="2"/>
          </p:cNvCxnSpPr>
          <p:nvPr/>
        </p:nvCxnSpPr>
        <p:spPr>
          <a:xfrm>
            <a:off x="4943475" y="4081463"/>
            <a:ext cx="8763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81300" y="50292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r>
              <a:rPr lang="en-US" sz="1400" baseline="-25000" dirty="0" smtClean="0"/>
              <a:t>1</a:t>
            </a:r>
            <a:endParaRPr lang="en-US" baseline="-25000" dirty="0"/>
          </a:p>
        </p:txBody>
      </p:sp>
      <p:sp>
        <p:nvSpPr>
          <p:cNvPr id="20" name="Rounded Rectangle 19"/>
          <p:cNvSpPr/>
          <p:nvPr/>
        </p:nvSpPr>
        <p:spPr>
          <a:xfrm>
            <a:off x="2781300" y="54102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r>
              <a:rPr lang="en-US" sz="1400" baseline="-25000" dirty="0" smtClean="0"/>
              <a:t>2</a:t>
            </a:r>
            <a:endParaRPr lang="en-US" sz="1400" baseline="-25000" dirty="0"/>
          </a:p>
        </p:txBody>
      </p:sp>
      <p:cxnSp>
        <p:nvCxnSpPr>
          <p:cNvPr id="21" name="Straight Connector 20"/>
          <p:cNvCxnSpPr>
            <a:stCxn id="14" idx="4"/>
          </p:cNvCxnSpPr>
          <p:nvPr/>
        </p:nvCxnSpPr>
        <p:spPr>
          <a:xfrm rot="5400000">
            <a:off x="2100262" y="4957763"/>
            <a:ext cx="105727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9" idx="1"/>
          </p:cNvCxnSpPr>
          <p:nvPr/>
        </p:nvCxnSpPr>
        <p:spPr>
          <a:xfrm>
            <a:off x="2628900" y="51054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0" idx="1"/>
          </p:cNvCxnSpPr>
          <p:nvPr/>
        </p:nvCxnSpPr>
        <p:spPr>
          <a:xfrm>
            <a:off x="2628900" y="54864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10100" y="50196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r>
              <a:rPr lang="en-US" sz="1400" baseline="-25000" dirty="0" smtClean="0"/>
              <a:t>1</a:t>
            </a:r>
            <a:endParaRPr lang="en-US" baseline="-25000" dirty="0"/>
          </a:p>
        </p:txBody>
      </p:sp>
      <p:sp>
        <p:nvSpPr>
          <p:cNvPr id="25" name="Rounded Rectangle 24"/>
          <p:cNvSpPr/>
          <p:nvPr/>
        </p:nvSpPr>
        <p:spPr>
          <a:xfrm>
            <a:off x="4610100" y="54006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r>
              <a:rPr lang="en-US" sz="1400" baseline="-25000" dirty="0" smtClean="0"/>
              <a:t>2</a:t>
            </a:r>
            <a:endParaRPr lang="en-US" sz="1400" baseline="-25000" dirty="0"/>
          </a:p>
        </p:txBody>
      </p:sp>
      <p:cxnSp>
        <p:nvCxnSpPr>
          <p:cNvPr id="26" name="Straight Connector 25"/>
          <p:cNvCxnSpPr/>
          <p:nvPr/>
        </p:nvCxnSpPr>
        <p:spPr>
          <a:xfrm rot="5400000">
            <a:off x="3929062" y="4948239"/>
            <a:ext cx="105727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4" idx="1"/>
          </p:cNvCxnSpPr>
          <p:nvPr/>
        </p:nvCxnSpPr>
        <p:spPr>
          <a:xfrm>
            <a:off x="4457700" y="50958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5" idx="1"/>
          </p:cNvCxnSpPr>
          <p:nvPr/>
        </p:nvCxnSpPr>
        <p:spPr>
          <a:xfrm>
            <a:off x="4457700" y="54768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86525" y="50196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r>
              <a:rPr lang="en-US" sz="1400" baseline="-25000" dirty="0" smtClean="0"/>
              <a:t>1</a:t>
            </a:r>
            <a:endParaRPr lang="en-US" baseline="-25000" dirty="0"/>
          </a:p>
        </p:txBody>
      </p:sp>
      <p:sp>
        <p:nvSpPr>
          <p:cNvPr id="30" name="Rounded Rectangle 29"/>
          <p:cNvSpPr/>
          <p:nvPr/>
        </p:nvSpPr>
        <p:spPr>
          <a:xfrm>
            <a:off x="6486525" y="54006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</a:t>
            </a:r>
            <a:r>
              <a:rPr lang="en-US" sz="1400" baseline="-25000" dirty="0" smtClean="0"/>
              <a:t>2</a:t>
            </a:r>
            <a:endParaRPr lang="en-US" sz="1400" baseline="-25000" dirty="0"/>
          </a:p>
        </p:txBody>
      </p:sp>
      <p:cxnSp>
        <p:nvCxnSpPr>
          <p:cNvPr id="31" name="Straight Connector 30"/>
          <p:cNvCxnSpPr/>
          <p:nvPr/>
        </p:nvCxnSpPr>
        <p:spPr>
          <a:xfrm rot="5400000">
            <a:off x="5805487" y="4948239"/>
            <a:ext cx="105727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9" idx="1"/>
          </p:cNvCxnSpPr>
          <p:nvPr/>
        </p:nvCxnSpPr>
        <p:spPr>
          <a:xfrm>
            <a:off x="6334125" y="50958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30" idx="1"/>
          </p:cNvCxnSpPr>
          <p:nvPr/>
        </p:nvCxnSpPr>
        <p:spPr>
          <a:xfrm>
            <a:off x="6334125" y="54768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7" idx="6"/>
          </p:cNvCxnSpPr>
          <p:nvPr/>
        </p:nvCxnSpPr>
        <p:spPr>
          <a:xfrm flipV="1">
            <a:off x="6791325" y="4076700"/>
            <a:ext cx="1104900" cy="476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14" idx="2"/>
          </p:cNvCxnSpPr>
          <p:nvPr/>
        </p:nvCxnSpPr>
        <p:spPr>
          <a:xfrm flipV="1">
            <a:off x="990600" y="4081463"/>
            <a:ext cx="1152525" cy="476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>
            <a:off x="2100261" y="5567361"/>
            <a:ext cx="1057277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5400000">
            <a:off x="3929061" y="5557839"/>
            <a:ext cx="1057277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5805487" y="5481639"/>
            <a:ext cx="1057277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9" grpId="0" animBg="1"/>
      <p:bldP spid="20" grpId="0" animBg="1"/>
      <p:bldP spid="24" grpId="0" animBg="1"/>
      <p:bldP spid="25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11898" y="228600"/>
            <a:ext cx="6348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Hidden Markov Model (HMM)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676400" y="2457271"/>
            <a:ext cx="5867400" cy="1569660"/>
          </a:xfrm>
          <a:prstGeom prst="rect">
            <a:avLst/>
          </a:prstGeom>
          <a:ln>
            <a:solidFill>
              <a:srgbClr val="0070C0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Apply HMM to variation detection: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we don’t know the state (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donor</a:t>
            </a:r>
            <a:r>
              <a:rPr lang="en-US" sz="2400" dirty="0" smtClean="0"/>
              <a:t>), but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we can observe some output determined by the state (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aligned reads</a:t>
            </a:r>
            <a:r>
              <a:rPr lang="en-US" sz="24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11898" y="228600"/>
            <a:ext cx="6348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Hidden Markov Model (HMM)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113333" y="1447800"/>
            <a:ext cx="4934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spc="600" dirty="0" smtClean="0"/>
              <a:t>. . . . . B</a:t>
            </a:r>
            <a:r>
              <a:rPr lang="en-US" sz="2000" spc="600" baseline="-25000" dirty="0" smtClean="0"/>
              <a:t>6</a:t>
            </a:r>
            <a:r>
              <a:rPr lang="en-US" sz="2000" spc="600" dirty="0" smtClean="0"/>
              <a:t> B</a:t>
            </a:r>
            <a:r>
              <a:rPr lang="en-US" sz="2000" spc="600" baseline="-25000" dirty="0" smtClean="0"/>
              <a:t>7</a:t>
            </a:r>
            <a:r>
              <a:rPr lang="en-US" sz="2000" spc="600" dirty="0" smtClean="0"/>
              <a:t> B</a:t>
            </a:r>
            <a:r>
              <a:rPr lang="en-US" sz="2000" spc="600" baseline="-25000" dirty="0" smtClean="0"/>
              <a:t>8</a:t>
            </a:r>
            <a:r>
              <a:rPr lang="en-US" sz="2000" spc="600" dirty="0" smtClean="0"/>
              <a:t> B</a:t>
            </a:r>
            <a:r>
              <a:rPr lang="en-US" sz="2000" spc="600" baseline="-25000" dirty="0" smtClean="0"/>
              <a:t>9</a:t>
            </a:r>
            <a:r>
              <a:rPr lang="en-US" sz="2000" spc="600" dirty="0" smtClean="0"/>
              <a:t> . . . . .</a:t>
            </a:r>
            <a:endParaRPr lang="en-US" sz="2000" spc="600" dirty="0"/>
          </a:p>
        </p:txBody>
      </p:sp>
      <p:sp>
        <p:nvSpPr>
          <p:cNvPr id="24" name="Oval 23"/>
          <p:cNvSpPr/>
          <p:nvPr/>
        </p:nvSpPr>
        <p:spPr>
          <a:xfrm>
            <a:off x="2219325" y="28194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r>
              <a:rPr lang="en-US" baseline="-25000" dirty="0" smtClean="0"/>
              <a:t>6</a:t>
            </a:r>
            <a:r>
              <a:rPr lang="en-US" dirty="0" smtClean="0"/>
              <a:t> B</a:t>
            </a:r>
            <a:r>
              <a:rPr lang="en-US" baseline="-25000" dirty="0" smtClean="0"/>
              <a:t>7</a:t>
            </a:r>
            <a:endParaRPr lang="en-US" baseline="-25000" dirty="0"/>
          </a:p>
        </p:txBody>
      </p:sp>
      <p:sp>
        <p:nvSpPr>
          <p:cNvPr id="25" name="Oval 24"/>
          <p:cNvSpPr/>
          <p:nvPr/>
        </p:nvSpPr>
        <p:spPr>
          <a:xfrm>
            <a:off x="4048125" y="28194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r>
              <a:rPr lang="en-US" baseline="-25000" dirty="0" smtClean="0"/>
              <a:t>7</a:t>
            </a:r>
            <a:r>
              <a:rPr lang="en-US" dirty="0" smtClean="0"/>
              <a:t> B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cxnSp>
        <p:nvCxnSpPr>
          <p:cNvPr id="27" name="Straight Arrow Connector 26"/>
          <p:cNvCxnSpPr>
            <a:stCxn id="24" idx="6"/>
            <a:endCxn id="25" idx="2"/>
          </p:cNvCxnSpPr>
          <p:nvPr/>
        </p:nvCxnSpPr>
        <p:spPr>
          <a:xfrm>
            <a:off x="3190875" y="3167063"/>
            <a:ext cx="8572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895975" y="28194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r>
              <a:rPr lang="en-US" baseline="-25000" dirty="0" smtClean="0"/>
              <a:t>8</a:t>
            </a:r>
            <a:r>
              <a:rPr lang="en-US" dirty="0" smtClean="0"/>
              <a:t> B</a:t>
            </a:r>
            <a:r>
              <a:rPr lang="en-US" baseline="-25000" dirty="0" smtClean="0"/>
              <a:t>9</a:t>
            </a:r>
            <a:endParaRPr lang="en-US" baseline="-25000" dirty="0"/>
          </a:p>
        </p:txBody>
      </p:sp>
      <p:cxnSp>
        <p:nvCxnSpPr>
          <p:cNvPr id="31" name="Straight Arrow Connector 30"/>
          <p:cNvCxnSpPr>
            <a:stCxn id="25" idx="6"/>
            <a:endCxn id="29" idx="2"/>
          </p:cNvCxnSpPr>
          <p:nvPr/>
        </p:nvCxnSpPr>
        <p:spPr>
          <a:xfrm>
            <a:off x="5019675" y="3167063"/>
            <a:ext cx="8763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57500" y="41148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1400" b="1" dirty="0" smtClean="0"/>
              <a:t>A</a:t>
            </a:r>
            <a:endParaRPr lang="en-US" b="1" baseline="-25000" dirty="0"/>
          </a:p>
        </p:txBody>
      </p:sp>
      <p:sp>
        <p:nvSpPr>
          <p:cNvPr id="34" name="Rounded Rectangle 33"/>
          <p:cNvSpPr/>
          <p:nvPr/>
        </p:nvSpPr>
        <p:spPr>
          <a:xfrm>
            <a:off x="2857500" y="44958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1400" b="1" dirty="0" smtClean="0"/>
              <a:t>C</a:t>
            </a:r>
            <a:endParaRPr lang="en-US" sz="1400" baseline="-25000" dirty="0"/>
          </a:p>
        </p:txBody>
      </p:sp>
      <p:cxnSp>
        <p:nvCxnSpPr>
          <p:cNvPr id="42" name="Straight Arrow Connector 41"/>
          <p:cNvCxnSpPr>
            <a:endCxn id="32" idx="1"/>
          </p:cNvCxnSpPr>
          <p:nvPr/>
        </p:nvCxnSpPr>
        <p:spPr>
          <a:xfrm>
            <a:off x="2705100" y="41910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4" idx="1"/>
          </p:cNvCxnSpPr>
          <p:nvPr/>
        </p:nvCxnSpPr>
        <p:spPr>
          <a:xfrm>
            <a:off x="2705100" y="45720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9" idx="6"/>
          </p:cNvCxnSpPr>
          <p:nvPr/>
        </p:nvCxnSpPr>
        <p:spPr>
          <a:xfrm flipV="1">
            <a:off x="6867525" y="3162300"/>
            <a:ext cx="1104900" cy="476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24" idx="2"/>
          </p:cNvCxnSpPr>
          <p:nvPr/>
        </p:nvCxnSpPr>
        <p:spPr>
          <a:xfrm flipV="1">
            <a:off x="1066800" y="3167063"/>
            <a:ext cx="1152525" cy="476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4" idx="4"/>
          </p:cNvCxnSpPr>
          <p:nvPr/>
        </p:nvCxnSpPr>
        <p:spPr>
          <a:xfrm rot="5400000">
            <a:off x="1414463" y="4805362"/>
            <a:ext cx="2581275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572000" y="12954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60" name="Oval 59"/>
          <p:cNvSpPr/>
          <p:nvPr/>
        </p:nvSpPr>
        <p:spPr>
          <a:xfrm>
            <a:off x="3536796" y="1317702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61" name="Oval 60"/>
          <p:cNvSpPr/>
          <p:nvPr/>
        </p:nvSpPr>
        <p:spPr>
          <a:xfrm>
            <a:off x="4038600" y="12954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63" name="Straight Arrow Connector 62"/>
          <p:cNvCxnSpPr>
            <a:stCxn id="60" idx="4"/>
          </p:cNvCxnSpPr>
          <p:nvPr/>
        </p:nvCxnSpPr>
        <p:spPr>
          <a:xfrm rot="5400000">
            <a:off x="3251047" y="1841577"/>
            <a:ext cx="600075" cy="942975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61" idx="4"/>
          </p:cNvCxnSpPr>
          <p:nvPr/>
        </p:nvCxnSpPr>
        <p:spPr>
          <a:xfrm rot="16200000" flipH="1">
            <a:off x="4229100" y="2285999"/>
            <a:ext cx="600075" cy="9525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9" idx="4"/>
          </p:cNvCxnSpPr>
          <p:nvPr/>
        </p:nvCxnSpPr>
        <p:spPr>
          <a:xfrm rot="16200000" flipH="1">
            <a:off x="5200650" y="1847849"/>
            <a:ext cx="600075" cy="885825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895600" y="51816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0</a:t>
            </a:r>
            <a:endParaRPr lang="en-US" sz="1400" baseline="-25000" dirty="0"/>
          </a:p>
        </p:txBody>
      </p:sp>
      <p:cxnSp>
        <p:nvCxnSpPr>
          <p:cNvPr id="76" name="Straight Arrow Connector 75"/>
          <p:cNvCxnSpPr>
            <a:endCxn id="75" idx="1"/>
          </p:cNvCxnSpPr>
          <p:nvPr/>
        </p:nvCxnSpPr>
        <p:spPr>
          <a:xfrm>
            <a:off x="2743200" y="52578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2895600" y="55626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1</a:t>
            </a:r>
            <a:endParaRPr lang="en-US" sz="1400" baseline="-25000" dirty="0"/>
          </a:p>
        </p:txBody>
      </p:sp>
      <p:cxnSp>
        <p:nvCxnSpPr>
          <p:cNvPr id="78" name="Straight Arrow Connector 77"/>
          <p:cNvCxnSpPr>
            <a:endCxn id="77" idx="1"/>
          </p:cNvCxnSpPr>
          <p:nvPr/>
        </p:nvCxnSpPr>
        <p:spPr>
          <a:xfrm>
            <a:off x="2743200" y="56388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4724400" y="41052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1400" b="1" dirty="0" smtClean="0"/>
              <a:t>A</a:t>
            </a:r>
            <a:endParaRPr lang="en-US" baseline="-25000" dirty="0"/>
          </a:p>
        </p:txBody>
      </p:sp>
      <p:sp>
        <p:nvSpPr>
          <p:cNvPr id="84" name="Rounded Rectangle 83"/>
          <p:cNvSpPr/>
          <p:nvPr/>
        </p:nvSpPr>
        <p:spPr>
          <a:xfrm>
            <a:off x="4724400" y="44862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1400" b="1" dirty="0" smtClean="0"/>
              <a:t>C</a:t>
            </a:r>
            <a:endParaRPr lang="en-US" sz="1400" baseline="-25000" dirty="0"/>
          </a:p>
        </p:txBody>
      </p:sp>
      <p:cxnSp>
        <p:nvCxnSpPr>
          <p:cNvPr id="85" name="Straight Arrow Connector 84"/>
          <p:cNvCxnSpPr>
            <a:endCxn id="83" idx="1"/>
          </p:cNvCxnSpPr>
          <p:nvPr/>
        </p:nvCxnSpPr>
        <p:spPr>
          <a:xfrm>
            <a:off x="4572000" y="41814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endCxn id="84" idx="1"/>
          </p:cNvCxnSpPr>
          <p:nvPr/>
        </p:nvCxnSpPr>
        <p:spPr>
          <a:xfrm>
            <a:off x="4572000" y="45624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>
            <a:off x="3281363" y="4795838"/>
            <a:ext cx="2581275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4762500" y="51720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0</a:t>
            </a:r>
            <a:endParaRPr lang="en-US" sz="1400" baseline="-25000" dirty="0"/>
          </a:p>
        </p:txBody>
      </p:sp>
      <p:cxnSp>
        <p:nvCxnSpPr>
          <p:cNvPr id="89" name="Straight Arrow Connector 88"/>
          <p:cNvCxnSpPr>
            <a:endCxn id="88" idx="1"/>
          </p:cNvCxnSpPr>
          <p:nvPr/>
        </p:nvCxnSpPr>
        <p:spPr>
          <a:xfrm>
            <a:off x="4610100" y="52482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4762500" y="55530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1</a:t>
            </a:r>
            <a:endParaRPr lang="en-US" sz="1400" baseline="-25000" dirty="0"/>
          </a:p>
        </p:txBody>
      </p:sp>
      <p:cxnSp>
        <p:nvCxnSpPr>
          <p:cNvPr id="91" name="Straight Arrow Connector 90"/>
          <p:cNvCxnSpPr>
            <a:endCxn id="90" idx="1"/>
          </p:cNvCxnSpPr>
          <p:nvPr/>
        </p:nvCxnSpPr>
        <p:spPr>
          <a:xfrm>
            <a:off x="4610100" y="56292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6553200" y="41052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1400" b="1" dirty="0" smtClean="0"/>
              <a:t>A</a:t>
            </a:r>
            <a:endParaRPr lang="en-US" baseline="-25000" dirty="0"/>
          </a:p>
        </p:txBody>
      </p:sp>
      <p:sp>
        <p:nvSpPr>
          <p:cNvPr id="93" name="Rounded Rectangle 92"/>
          <p:cNvSpPr/>
          <p:nvPr/>
        </p:nvSpPr>
        <p:spPr>
          <a:xfrm>
            <a:off x="6553200" y="44862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1400" b="1" dirty="0" smtClean="0"/>
              <a:t>C</a:t>
            </a:r>
            <a:endParaRPr lang="en-US" sz="1400" baseline="-25000" dirty="0"/>
          </a:p>
        </p:txBody>
      </p:sp>
      <p:cxnSp>
        <p:nvCxnSpPr>
          <p:cNvPr id="94" name="Straight Arrow Connector 93"/>
          <p:cNvCxnSpPr>
            <a:endCxn id="92" idx="1"/>
          </p:cNvCxnSpPr>
          <p:nvPr/>
        </p:nvCxnSpPr>
        <p:spPr>
          <a:xfrm>
            <a:off x="6400800" y="41814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endCxn id="93" idx="1"/>
          </p:cNvCxnSpPr>
          <p:nvPr/>
        </p:nvCxnSpPr>
        <p:spPr>
          <a:xfrm>
            <a:off x="6400800" y="45624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rot="5400000">
            <a:off x="5110163" y="4795838"/>
            <a:ext cx="2581275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6591300" y="51720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0</a:t>
            </a:r>
            <a:endParaRPr lang="en-US" sz="1400" baseline="-25000" dirty="0"/>
          </a:p>
        </p:txBody>
      </p:sp>
      <p:cxnSp>
        <p:nvCxnSpPr>
          <p:cNvPr id="98" name="Straight Arrow Connector 97"/>
          <p:cNvCxnSpPr>
            <a:endCxn id="97" idx="1"/>
          </p:cNvCxnSpPr>
          <p:nvPr/>
        </p:nvCxnSpPr>
        <p:spPr>
          <a:xfrm>
            <a:off x="6438900" y="52482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6591300" y="55530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1</a:t>
            </a:r>
            <a:endParaRPr lang="en-US" sz="1400" baseline="-25000" dirty="0"/>
          </a:p>
        </p:txBody>
      </p:sp>
      <p:cxnSp>
        <p:nvCxnSpPr>
          <p:cNvPr id="100" name="Straight Arrow Connector 99"/>
          <p:cNvCxnSpPr>
            <a:endCxn id="99" idx="1"/>
          </p:cNvCxnSpPr>
          <p:nvPr/>
        </p:nvCxnSpPr>
        <p:spPr>
          <a:xfrm>
            <a:off x="6438900" y="56292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2000" y="1371600"/>
            <a:ext cx="1132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unknown</a:t>
            </a:r>
            <a:br>
              <a:rPr lang="en-US" dirty="0" smtClean="0"/>
            </a:br>
            <a:r>
              <a:rPr lang="en-US" dirty="0" smtClean="0"/>
              <a:t>donor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9" grpId="0" animBg="1"/>
      <p:bldP spid="32" grpId="0" animBg="1"/>
      <p:bldP spid="34" grpId="0" animBg="1"/>
      <p:bldP spid="59" grpId="0" animBg="1"/>
      <p:bldP spid="60" grpId="0" animBg="1"/>
      <p:bldP spid="61" grpId="0" animBg="1"/>
      <p:bldP spid="75" grpId="0" animBg="1"/>
      <p:bldP spid="77" grpId="0" animBg="1"/>
      <p:bldP spid="83" grpId="0" animBg="1"/>
      <p:bldP spid="84" grpId="0" animBg="1"/>
      <p:bldP spid="88" grpId="0" animBg="1"/>
      <p:bldP spid="90" grpId="0" animBg="1"/>
      <p:bldP spid="92" grpId="0" animBg="1"/>
      <p:bldP spid="93" grpId="0" animBg="1"/>
      <p:bldP spid="97" grpId="0" animBg="1"/>
      <p:bldP spid="9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00200" y="5029200"/>
            <a:ext cx="6553200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 smtClean="0"/>
              <a:t>Why </a:t>
            </a:r>
            <a:r>
              <a:rPr lang="en-US" b="1" dirty="0" smtClean="0"/>
              <a:t>pairs of letters</a:t>
            </a:r>
            <a:r>
              <a:rPr lang="en-US" dirty="0" smtClean="0"/>
              <a:t>? Handle colors.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AA and TT gives the same colors. Can’t just model colors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6400" y="2590800"/>
            <a:ext cx="2242152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The donor could be: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letters: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AA</a:t>
            </a:r>
            <a:r>
              <a:rPr lang="en-US" dirty="0" smtClean="0"/>
              <a:t>    color 0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letters: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AC</a:t>
            </a:r>
            <a:r>
              <a:rPr lang="en-US" dirty="0" smtClean="0"/>
              <a:t>    color 1</a:t>
            </a:r>
          </a:p>
          <a:p>
            <a:r>
              <a:rPr lang="en-US" dirty="0" smtClean="0"/>
              <a:t>    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letters: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TT</a:t>
            </a:r>
            <a:r>
              <a:rPr lang="en-US" dirty="0" smtClean="0"/>
              <a:t>    color 0</a:t>
            </a:r>
          </a:p>
          <a:p>
            <a:r>
              <a:rPr lang="en-US" dirty="0" smtClean="0"/>
              <a:t>16 combinations</a:t>
            </a:r>
          </a:p>
        </p:txBody>
      </p:sp>
      <p:pic>
        <p:nvPicPr>
          <p:cNvPr id="19" name="Picture 12"/>
          <p:cNvPicPr>
            <a:picLocks noChangeAspect="1" noChangeArrowheads="1"/>
          </p:cNvPicPr>
          <p:nvPr/>
        </p:nvPicPr>
        <p:blipFill>
          <a:blip r:embed="rId3" cstate="print"/>
          <a:srcRect r="51407"/>
          <a:stretch>
            <a:fillRect/>
          </a:stretch>
        </p:blipFill>
        <p:spPr bwMode="auto">
          <a:xfrm>
            <a:off x="4724400" y="2667000"/>
            <a:ext cx="1676400" cy="1655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1600200" y="2438400"/>
            <a:ext cx="5029200" cy="20574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28800" y="2895600"/>
            <a:ext cx="1981200" cy="27214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28800" y="3733800"/>
            <a:ext cx="1981200" cy="27214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Elbow Connector 17"/>
          <p:cNvCxnSpPr>
            <a:stCxn id="14" idx="3"/>
            <a:endCxn id="15" idx="3"/>
          </p:cNvCxnSpPr>
          <p:nvPr/>
        </p:nvCxnSpPr>
        <p:spPr>
          <a:xfrm>
            <a:off x="3810000" y="3031672"/>
            <a:ext cx="1588" cy="838200"/>
          </a:xfrm>
          <a:prstGeom prst="bentConnector3">
            <a:avLst>
              <a:gd name="adj1" fmla="val 14395466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11898" y="228600"/>
            <a:ext cx="13705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States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743200" y="12954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r>
              <a:rPr lang="en-US" baseline="-25000" dirty="0" smtClean="0"/>
              <a:t>6</a:t>
            </a:r>
            <a:r>
              <a:rPr lang="en-US" dirty="0" smtClean="0"/>
              <a:t> B</a:t>
            </a:r>
            <a:r>
              <a:rPr lang="en-US" baseline="-25000" dirty="0" smtClean="0"/>
              <a:t>7</a:t>
            </a:r>
            <a:endParaRPr lang="en-US" baseline="-25000" dirty="0"/>
          </a:p>
        </p:txBody>
      </p:sp>
      <p:cxnSp>
        <p:nvCxnSpPr>
          <p:cNvPr id="25" name="Straight Arrow Connector 24"/>
          <p:cNvCxnSpPr>
            <a:endCxn id="17" idx="2"/>
          </p:cNvCxnSpPr>
          <p:nvPr/>
        </p:nvCxnSpPr>
        <p:spPr>
          <a:xfrm flipV="1">
            <a:off x="1590675" y="1643063"/>
            <a:ext cx="1152525" cy="476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3714750" y="1643063"/>
            <a:ext cx="1152525" cy="476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/>
          <p:cNvSpPr/>
          <p:nvPr/>
        </p:nvSpPr>
        <p:spPr>
          <a:xfrm>
            <a:off x="1314450" y="5153025"/>
            <a:ext cx="152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1314450" y="4048125"/>
            <a:ext cx="152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11898" y="228600"/>
            <a:ext cx="24211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Transitions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09600" y="1143000"/>
            <a:ext cx="3283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spc="600" dirty="0" smtClean="0"/>
              <a:t>. . . B</a:t>
            </a:r>
            <a:r>
              <a:rPr lang="en-US" sz="2000" spc="600" baseline="-25000" dirty="0" smtClean="0"/>
              <a:t>6</a:t>
            </a:r>
            <a:r>
              <a:rPr lang="en-US" sz="2000" spc="600" dirty="0" smtClean="0"/>
              <a:t> B</a:t>
            </a:r>
            <a:r>
              <a:rPr lang="en-US" sz="2000" spc="600" baseline="-25000" dirty="0" smtClean="0"/>
              <a:t>7</a:t>
            </a:r>
            <a:r>
              <a:rPr lang="en-US" sz="2000" spc="600" dirty="0" smtClean="0"/>
              <a:t> B</a:t>
            </a:r>
            <a:r>
              <a:rPr lang="en-US" sz="2000" spc="600" baseline="-25000" dirty="0" smtClean="0"/>
              <a:t>8</a:t>
            </a:r>
            <a:r>
              <a:rPr lang="en-US" sz="2000" spc="600" dirty="0" smtClean="0"/>
              <a:t> . . .</a:t>
            </a:r>
            <a:endParaRPr lang="en-US" sz="2000" spc="600" dirty="0"/>
          </a:p>
        </p:txBody>
      </p:sp>
      <p:sp>
        <p:nvSpPr>
          <p:cNvPr id="24" name="Oval 23"/>
          <p:cNvSpPr/>
          <p:nvPr/>
        </p:nvSpPr>
        <p:spPr>
          <a:xfrm>
            <a:off x="838200" y="18288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r>
              <a:rPr lang="en-US" baseline="-25000" dirty="0" smtClean="0"/>
              <a:t>6</a:t>
            </a:r>
            <a:r>
              <a:rPr lang="en-US" dirty="0" smtClean="0"/>
              <a:t> B</a:t>
            </a:r>
            <a:r>
              <a:rPr lang="en-US" baseline="-25000" dirty="0" smtClean="0"/>
              <a:t>7</a:t>
            </a:r>
            <a:endParaRPr lang="en-US" baseline="-25000" dirty="0"/>
          </a:p>
        </p:txBody>
      </p:sp>
      <p:sp>
        <p:nvSpPr>
          <p:cNvPr id="25" name="Oval 24"/>
          <p:cNvSpPr/>
          <p:nvPr/>
        </p:nvSpPr>
        <p:spPr>
          <a:xfrm>
            <a:off x="2590800" y="18288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r>
              <a:rPr lang="en-US" baseline="-25000" dirty="0" smtClean="0"/>
              <a:t>7</a:t>
            </a:r>
            <a:r>
              <a:rPr lang="en-US" dirty="0" smtClean="0"/>
              <a:t> B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sp>
        <p:nvSpPr>
          <p:cNvPr id="60" name="Oval 59"/>
          <p:cNvSpPr/>
          <p:nvPr/>
        </p:nvSpPr>
        <p:spPr>
          <a:xfrm>
            <a:off x="1517329" y="9906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61" name="Oval 60"/>
          <p:cNvSpPr/>
          <p:nvPr/>
        </p:nvSpPr>
        <p:spPr>
          <a:xfrm>
            <a:off x="1974529" y="9906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63" name="Straight Arrow Connector 62"/>
          <p:cNvCxnSpPr>
            <a:stCxn id="60" idx="4"/>
          </p:cNvCxnSpPr>
          <p:nvPr/>
        </p:nvCxnSpPr>
        <p:spPr>
          <a:xfrm rot="5400000">
            <a:off x="1730215" y="1632110"/>
            <a:ext cx="219075" cy="326704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61" idx="4"/>
          </p:cNvCxnSpPr>
          <p:nvPr/>
        </p:nvCxnSpPr>
        <p:spPr>
          <a:xfrm rot="16200000" flipH="1">
            <a:off x="2492215" y="1654014"/>
            <a:ext cx="219077" cy="282898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2971800" y="2960916"/>
            <a:ext cx="152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04925" y="2960916"/>
            <a:ext cx="152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lowchart: Connector 110"/>
          <p:cNvSpPr/>
          <p:nvPr/>
        </p:nvSpPr>
        <p:spPr>
          <a:xfrm>
            <a:off x="789818" y="2895601"/>
            <a:ext cx="1050534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AA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12" name="Flowchart: Connector 111"/>
          <p:cNvSpPr/>
          <p:nvPr/>
        </p:nvSpPr>
        <p:spPr>
          <a:xfrm>
            <a:off x="802329" y="3973285"/>
            <a:ext cx="1050534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CA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13" name="Flowchart: Connector 112"/>
          <p:cNvSpPr/>
          <p:nvPr/>
        </p:nvSpPr>
        <p:spPr>
          <a:xfrm>
            <a:off x="778332" y="3516085"/>
            <a:ext cx="1086938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AT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14" name="Flowchart: Connector 113"/>
          <p:cNvSpPr/>
          <p:nvPr/>
        </p:nvSpPr>
        <p:spPr>
          <a:xfrm>
            <a:off x="794622" y="5869772"/>
            <a:ext cx="1074964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TT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132116" y="4332512"/>
            <a:ext cx="39188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:</a:t>
            </a:r>
            <a:endParaRPr lang="en-US" dirty="0">
              <a:cs typeface="Courier New" pitchFamily="49" charset="0"/>
            </a:endParaRPr>
          </a:p>
        </p:txBody>
      </p:sp>
      <p:cxnSp>
        <p:nvCxnSpPr>
          <p:cNvPr id="116" name="Straight Arrow Connector 115"/>
          <p:cNvCxnSpPr>
            <a:stCxn id="111" idx="6"/>
            <a:endCxn id="125" idx="2"/>
          </p:cNvCxnSpPr>
          <p:nvPr/>
        </p:nvCxnSpPr>
        <p:spPr>
          <a:xfrm>
            <a:off x="1840352" y="3090358"/>
            <a:ext cx="7667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112" idx="6"/>
            <a:endCxn id="125" idx="2"/>
          </p:cNvCxnSpPr>
          <p:nvPr/>
        </p:nvCxnSpPr>
        <p:spPr>
          <a:xfrm flipV="1">
            <a:off x="1852863" y="3090358"/>
            <a:ext cx="754203" cy="10776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113" idx="6"/>
            <a:endCxn id="126" idx="2"/>
          </p:cNvCxnSpPr>
          <p:nvPr/>
        </p:nvCxnSpPr>
        <p:spPr>
          <a:xfrm>
            <a:off x="1865270" y="3710842"/>
            <a:ext cx="751685" cy="2353687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4" idx="6"/>
            <a:endCxn id="126" idx="2"/>
          </p:cNvCxnSpPr>
          <p:nvPr/>
        </p:nvCxnSpPr>
        <p:spPr>
          <a:xfrm>
            <a:off x="1869586" y="6064529"/>
            <a:ext cx="747369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1132116" y="3222174"/>
            <a:ext cx="39188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: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21" name="Flowchart: Connector 120"/>
          <p:cNvSpPr/>
          <p:nvPr/>
        </p:nvSpPr>
        <p:spPr>
          <a:xfrm>
            <a:off x="802329" y="5075112"/>
            <a:ext cx="1050534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GA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22" name="Flowchart: Connector 121"/>
          <p:cNvSpPr/>
          <p:nvPr/>
        </p:nvSpPr>
        <p:spPr>
          <a:xfrm>
            <a:off x="778332" y="4617912"/>
            <a:ext cx="1086938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CT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132114" y="5416225"/>
            <a:ext cx="39188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: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1132114" y="5568625"/>
            <a:ext cx="39188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: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25" name="Flowchart: Connector 124"/>
          <p:cNvSpPr/>
          <p:nvPr/>
        </p:nvSpPr>
        <p:spPr>
          <a:xfrm>
            <a:off x="2607066" y="2895601"/>
            <a:ext cx="1050534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AA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26" name="Flowchart: Connector 125"/>
          <p:cNvSpPr/>
          <p:nvPr/>
        </p:nvSpPr>
        <p:spPr>
          <a:xfrm>
            <a:off x="2616955" y="5869772"/>
            <a:ext cx="1074964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TT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2950028" y="3341916"/>
            <a:ext cx="391884" cy="249299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</a:p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</a:p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</a:p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</a:p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</a:p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</a:p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</a:p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</a:p>
          <a:p>
            <a:pPr algn="ctr"/>
            <a:r>
              <a:rPr lang="en-US" dirty="0" smtClean="0">
                <a:cs typeface="Courier New" pitchFamily="49" charset="0"/>
              </a:rPr>
              <a:t>.</a:t>
            </a:r>
            <a:endParaRPr lang="en-US" dirty="0">
              <a:cs typeface="Courier New" pitchFamily="49" charset="0"/>
            </a:endParaRPr>
          </a:p>
        </p:txBody>
      </p:sp>
      <p:cxnSp>
        <p:nvCxnSpPr>
          <p:cNvPr id="128" name="Straight Arrow Connector 127"/>
          <p:cNvCxnSpPr>
            <a:stCxn id="121" idx="6"/>
            <a:endCxn id="125" idx="2"/>
          </p:cNvCxnSpPr>
          <p:nvPr/>
        </p:nvCxnSpPr>
        <p:spPr>
          <a:xfrm flipV="1">
            <a:off x="1852863" y="3090358"/>
            <a:ext cx="754203" cy="21795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122" idx="6"/>
            <a:endCxn id="126" idx="2"/>
          </p:cNvCxnSpPr>
          <p:nvPr/>
        </p:nvCxnSpPr>
        <p:spPr>
          <a:xfrm>
            <a:off x="1865270" y="4812669"/>
            <a:ext cx="751685" cy="125186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533400" y="2819400"/>
            <a:ext cx="3429000" cy="3581400"/>
          </a:xfrm>
          <a:prstGeom prst="roundRect">
            <a:avLst>
              <a:gd name="adj" fmla="val 75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/>
          <p:cNvSpPr txBox="1"/>
          <p:nvPr/>
        </p:nvSpPr>
        <p:spPr>
          <a:xfrm rot="16200000">
            <a:off x="-926903" y="4314790"/>
            <a:ext cx="2816783" cy="408623"/>
          </a:xfrm>
          <a:prstGeom prst="flowChartAlternateProcess">
            <a:avLst/>
          </a:prstGeom>
          <a:solidFill>
            <a:schemeClr val="bg1"/>
          </a:solidFill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pc="600" dirty="0" smtClean="0"/>
              <a:t>Possible States</a:t>
            </a:r>
            <a:endParaRPr lang="en-US" spc="600" dirty="0"/>
          </a:p>
        </p:txBody>
      </p:sp>
      <p:sp>
        <p:nvSpPr>
          <p:cNvPr id="140" name="TextBox 139"/>
          <p:cNvSpPr txBox="1"/>
          <p:nvPr/>
        </p:nvSpPr>
        <p:spPr>
          <a:xfrm>
            <a:off x="4800600" y="3899862"/>
            <a:ext cx="396240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Transitions</a:t>
            </a:r>
            <a:endParaRPr lang="en-US" dirty="0" smtClean="0"/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/>
              <a:t> only certain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transitions allowed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/>
              <a:t> when allowed,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p(X</a:t>
            </a:r>
            <a:r>
              <a:rPr lang="en-US" baseline="-25000" dirty="0" smtClean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|X</a:t>
            </a:r>
            <a:r>
              <a:rPr lang="en-US" baseline="-25000" dirty="0" smtClean="0">
                <a:solidFill>
                  <a:schemeClr val="accent1">
                    <a:lumMod val="75000"/>
                  </a:schemeClr>
                </a:solidFill>
              </a:rPr>
              <a:t>t-1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) = freq(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baseline="-25000" dirty="0" err="1" smtClean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dirty="0" smtClean="0"/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/>
              <a:t> each state depends only on the previous states (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Markov Process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141" name="Straight Arrow Connector 140"/>
          <p:cNvCxnSpPr>
            <a:stCxn id="24" idx="6"/>
            <a:endCxn id="25" idx="2"/>
          </p:cNvCxnSpPr>
          <p:nvPr/>
        </p:nvCxnSpPr>
        <p:spPr>
          <a:xfrm>
            <a:off x="1809750" y="2176463"/>
            <a:ext cx="7810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25" idx="6"/>
          </p:cNvCxnSpPr>
          <p:nvPr/>
        </p:nvCxnSpPr>
        <p:spPr>
          <a:xfrm flipV="1">
            <a:off x="3562350" y="2171700"/>
            <a:ext cx="571500" cy="476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endCxn id="24" idx="2"/>
          </p:cNvCxnSpPr>
          <p:nvPr/>
        </p:nvCxnSpPr>
        <p:spPr>
          <a:xfrm flipV="1">
            <a:off x="304800" y="2176463"/>
            <a:ext cx="533400" cy="476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876800" y="1103293"/>
            <a:ext cx="3276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States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16 possible states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only look at second letter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6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/>
      <p:bldP spid="120" grpId="0"/>
      <p:bldP spid="121" grpId="0" animBg="1"/>
      <p:bldP spid="122" grpId="0" animBg="1"/>
      <p:bldP spid="123" grpId="0"/>
      <p:bldP spid="124" grpId="0"/>
      <p:bldP spid="125" grpId="0" animBg="1"/>
      <p:bldP spid="126" grpId="0" animBg="1"/>
      <p:bldP spid="127" grpId="0"/>
      <p:bldP spid="1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52600" y="3058888"/>
            <a:ext cx="3070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T0102010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 T103010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   T2010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7771" y="4517350"/>
            <a:ext cx="3070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ATTGCGCA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TGCG</a:t>
            </a:r>
          </a:p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 TTGGGCA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TGCGA</a:t>
            </a:r>
          </a:p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   GCGCA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TGCGAC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1828800"/>
            <a:ext cx="1222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Unknown </a:t>
            </a:r>
          </a:p>
          <a:p>
            <a:r>
              <a:rPr lang="en-US" dirty="0" smtClean="0"/>
              <a:t>genome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20220" y="3124200"/>
            <a:ext cx="7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Color </a:t>
            </a:r>
          </a:p>
          <a:p>
            <a:r>
              <a:rPr lang="en-US" dirty="0" smtClean="0"/>
              <a:t>reads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87562" y="4614148"/>
            <a:ext cx="831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Letter </a:t>
            </a:r>
          </a:p>
          <a:p>
            <a:r>
              <a:rPr lang="en-US" dirty="0" smtClean="0"/>
              <a:t>reads</a:t>
            </a:r>
            <a:endParaRPr lang="en-US" dirty="0"/>
          </a:p>
        </p:txBody>
      </p:sp>
      <p:cxnSp>
        <p:nvCxnSpPr>
          <p:cNvPr id="28" name="Straight Connector 27"/>
          <p:cNvCxnSpPr>
            <a:stCxn id="24" idx="3"/>
          </p:cNvCxnSpPr>
          <p:nvPr/>
        </p:nvCxnSpPr>
        <p:spPr>
          <a:xfrm rot="16200000" flipH="1">
            <a:off x="1500460" y="4012442"/>
            <a:ext cx="3540553" cy="1696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4" idx="5"/>
          </p:cNvCxnSpPr>
          <p:nvPr/>
        </p:nvCxnSpPr>
        <p:spPr>
          <a:xfrm rot="16200000" flipH="1">
            <a:off x="1882621" y="4020923"/>
            <a:ext cx="3540551" cy="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11898" y="228600"/>
            <a:ext cx="21964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Emissions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018605" y="1905000"/>
            <a:ext cx="286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spc="600" dirty="0" smtClean="0"/>
              <a:t>..... </a:t>
            </a:r>
            <a:r>
              <a:rPr lang="en-US" sz="2000" dirty="0" smtClean="0"/>
              <a:t>B</a:t>
            </a:r>
            <a:r>
              <a:rPr lang="en-US" sz="2000" baseline="-25000" dirty="0" smtClean="0"/>
              <a:t>6</a:t>
            </a:r>
            <a:r>
              <a:rPr lang="en-US" sz="2000" dirty="0" smtClean="0"/>
              <a:t>B</a:t>
            </a:r>
            <a:r>
              <a:rPr lang="en-US" sz="2000" baseline="-25000" dirty="0" smtClean="0"/>
              <a:t>7</a:t>
            </a:r>
            <a:r>
              <a:rPr lang="en-US" sz="2000" dirty="0" smtClean="0"/>
              <a:t>B</a:t>
            </a:r>
            <a:r>
              <a:rPr lang="en-US" sz="2000" baseline="-25000" dirty="0" smtClean="0"/>
              <a:t>8</a:t>
            </a:r>
            <a:r>
              <a:rPr lang="en-US" sz="2000" dirty="0" smtClean="0"/>
              <a:t>B</a:t>
            </a:r>
            <a:r>
              <a:rPr lang="en-US" sz="2000" baseline="-25000" dirty="0" smtClean="0"/>
              <a:t>9</a:t>
            </a:r>
            <a:r>
              <a:rPr lang="en-US" sz="2000" spc="600" dirty="0" smtClean="0"/>
              <a:t> .....</a:t>
            </a:r>
            <a:endParaRPr lang="en-US" sz="2000" spc="600" dirty="0"/>
          </a:p>
        </p:txBody>
      </p:sp>
      <p:sp>
        <p:nvSpPr>
          <p:cNvPr id="24" name="Oval 23"/>
          <p:cNvSpPr/>
          <p:nvPr/>
        </p:nvSpPr>
        <p:spPr>
          <a:xfrm>
            <a:off x="3181350" y="1933576"/>
            <a:ext cx="552450" cy="371474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30" name="Oval 29"/>
          <p:cNvSpPr/>
          <p:nvPr/>
        </p:nvSpPr>
        <p:spPr>
          <a:xfrm>
            <a:off x="6562725" y="1828800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r>
              <a:rPr lang="en-US" baseline="-25000" dirty="0" smtClean="0"/>
              <a:t>7</a:t>
            </a:r>
            <a:r>
              <a:rPr lang="en-US" dirty="0" smtClean="0"/>
              <a:t> B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sp>
        <p:nvSpPr>
          <p:cNvPr id="32" name="Rounded Rectangle 31"/>
          <p:cNvSpPr/>
          <p:nvPr/>
        </p:nvSpPr>
        <p:spPr>
          <a:xfrm>
            <a:off x="6857999" y="30384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0</a:t>
            </a:r>
            <a:endParaRPr lang="en-US" sz="1400" baseline="-25000" dirty="0" smtClean="0"/>
          </a:p>
        </p:txBody>
      </p:sp>
      <p:sp>
        <p:nvSpPr>
          <p:cNvPr id="33" name="Rounded Rectangle 32"/>
          <p:cNvSpPr/>
          <p:nvPr/>
        </p:nvSpPr>
        <p:spPr>
          <a:xfrm>
            <a:off x="6857999" y="3419476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1</a:t>
            </a:r>
            <a:endParaRPr lang="en-US" sz="1400" baseline="-25000" dirty="0" smtClean="0"/>
          </a:p>
        </p:txBody>
      </p:sp>
      <p:cxnSp>
        <p:nvCxnSpPr>
          <p:cNvPr id="38" name="Straight Arrow Connector 37"/>
          <p:cNvCxnSpPr>
            <a:endCxn id="32" idx="1"/>
          </p:cNvCxnSpPr>
          <p:nvPr/>
        </p:nvCxnSpPr>
        <p:spPr>
          <a:xfrm>
            <a:off x="6705599" y="31146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3" idx="1"/>
          </p:cNvCxnSpPr>
          <p:nvPr/>
        </p:nvCxnSpPr>
        <p:spPr>
          <a:xfrm>
            <a:off x="6705599" y="3495676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7543800" y="2214563"/>
            <a:ext cx="533400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0" idx="2"/>
          </p:cNvCxnSpPr>
          <p:nvPr/>
        </p:nvCxnSpPr>
        <p:spPr>
          <a:xfrm>
            <a:off x="5943600" y="2176463"/>
            <a:ext cx="619125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5181599" y="3962401"/>
            <a:ext cx="3048002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858000" y="50292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sz="1400" b="1" dirty="0" smtClean="0"/>
              <a:t>A</a:t>
            </a:r>
            <a:endParaRPr lang="en-US" sz="1400" b="1" baseline="-25000" dirty="0"/>
          </a:p>
        </p:txBody>
      </p:sp>
      <p:cxnSp>
        <p:nvCxnSpPr>
          <p:cNvPr id="44" name="Straight Arrow Connector 43"/>
          <p:cNvCxnSpPr>
            <a:endCxn id="43" idx="1"/>
          </p:cNvCxnSpPr>
          <p:nvPr/>
        </p:nvCxnSpPr>
        <p:spPr>
          <a:xfrm>
            <a:off x="6705600" y="51054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58000" y="54102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sz="1400" b="1" dirty="0" smtClean="0"/>
              <a:t>C</a:t>
            </a:r>
            <a:endParaRPr lang="en-US" sz="1400" b="1" baseline="-25000" dirty="0"/>
          </a:p>
        </p:txBody>
      </p:sp>
      <p:cxnSp>
        <p:nvCxnSpPr>
          <p:cNvPr id="46" name="Straight Arrow Connector 45"/>
          <p:cNvCxnSpPr>
            <a:endCxn id="45" idx="1"/>
          </p:cNvCxnSpPr>
          <p:nvPr/>
        </p:nvCxnSpPr>
        <p:spPr>
          <a:xfrm>
            <a:off x="6705600" y="54864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858000" y="38100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0</a:t>
            </a:r>
            <a:endParaRPr lang="en-US" sz="1400" baseline="-25000" dirty="0"/>
          </a:p>
        </p:txBody>
      </p:sp>
      <p:cxnSp>
        <p:nvCxnSpPr>
          <p:cNvPr id="49" name="Straight Arrow Connector 48"/>
          <p:cNvCxnSpPr>
            <a:endCxn id="48" idx="1"/>
          </p:cNvCxnSpPr>
          <p:nvPr/>
        </p:nvCxnSpPr>
        <p:spPr>
          <a:xfrm>
            <a:off x="6705600" y="38862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858000" y="464820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sz="1400" b="1" dirty="0" smtClean="0"/>
              <a:t>A</a:t>
            </a:r>
            <a:endParaRPr lang="en-US" sz="1400" b="1" baseline="-25000" dirty="0"/>
          </a:p>
        </p:txBody>
      </p:sp>
      <p:cxnSp>
        <p:nvCxnSpPr>
          <p:cNvPr id="51" name="Straight Arrow Connector 50"/>
          <p:cNvCxnSpPr>
            <a:endCxn id="50" idx="1"/>
          </p:cNvCxnSpPr>
          <p:nvPr/>
        </p:nvCxnSpPr>
        <p:spPr>
          <a:xfrm>
            <a:off x="6705600" y="472440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ight Arrow 53"/>
          <p:cNvSpPr/>
          <p:nvPr/>
        </p:nvSpPr>
        <p:spPr>
          <a:xfrm>
            <a:off x="5257800" y="2971800"/>
            <a:ext cx="533400" cy="2057400"/>
          </a:xfrm>
          <a:prstGeom prst="rightArrow">
            <a:avLst/>
          </a:prstGeom>
          <a:solidFill>
            <a:srgbClr val="99CCFF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4" grpId="0"/>
      <p:bldP spid="32" grpId="0" animBg="1"/>
      <p:bldP spid="33" grpId="0" animBg="1"/>
      <p:bldP spid="43" grpId="0" animBg="1"/>
      <p:bldP spid="45" grpId="0" animBg="1"/>
      <p:bldP spid="48" grpId="0" animBg="1"/>
      <p:bldP spid="5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lowchart: Connector 47"/>
          <p:cNvSpPr/>
          <p:nvPr/>
        </p:nvSpPr>
        <p:spPr>
          <a:xfrm>
            <a:off x="1066800" y="1744087"/>
            <a:ext cx="700750" cy="43279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cs typeface="Courier New" pitchFamily="49" charset="0"/>
              </a:rPr>
              <a:t>A</a:t>
            </a:r>
            <a:r>
              <a:rPr lang="en-US" sz="2000" b="1" dirty="0" smtClean="0">
                <a:cs typeface="Courier New" pitchFamily="49" charset="0"/>
              </a:rPr>
              <a:t>A</a:t>
            </a:r>
            <a:endParaRPr lang="en-US" sz="2000" b="1" dirty="0">
              <a:cs typeface="Courier New" pitchFamily="49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996150" y="2286000"/>
            <a:ext cx="13716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color 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996150" y="2667000"/>
            <a:ext cx="13716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color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996150" y="3048000"/>
            <a:ext cx="13716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color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96150" y="3429000"/>
            <a:ext cx="13716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color 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96150" y="4114800"/>
            <a:ext cx="13716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letters  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996150" y="4495800"/>
            <a:ext cx="13716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letters  C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6" name="Shape 65"/>
          <p:cNvCxnSpPr>
            <a:stCxn id="48" idx="4"/>
            <a:endCxn id="50" idx="1"/>
          </p:cNvCxnSpPr>
          <p:nvPr/>
        </p:nvCxnSpPr>
        <p:spPr>
          <a:xfrm rot="16200000" flipH="1">
            <a:off x="1575902" y="2018151"/>
            <a:ext cx="261521" cy="57897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hape 69"/>
          <p:cNvCxnSpPr>
            <a:stCxn id="48" idx="4"/>
            <a:endCxn id="52" idx="1"/>
          </p:cNvCxnSpPr>
          <p:nvPr/>
        </p:nvCxnSpPr>
        <p:spPr>
          <a:xfrm rot="16200000" flipH="1">
            <a:off x="1385402" y="2208651"/>
            <a:ext cx="642521" cy="57897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hape 71"/>
          <p:cNvCxnSpPr>
            <a:stCxn id="48" idx="4"/>
            <a:endCxn id="53" idx="1"/>
          </p:cNvCxnSpPr>
          <p:nvPr/>
        </p:nvCxnSpPr>
        <p:spPr>
          <a:xfrm rot="16200000" flipH="1">
            <a:off x="1194902" y="2399151"/>
            <a:ext cx="1023521" cy="57897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hape 74"/>
          <p:cNvCxnSpPr>
            <a:stCxn id="48" idx="4"/>
            <a:endCxn id="54" idx="1"/>
          </p:cNvCxnSpPr>
          <p:nvPr/>
        </p:nvCxnSpPr>
        <p:spPr>
          <a:xfrm rot="16200000" flipH="1">
            <a:off x="1004402" y="2589651"/>
            <a:ext cx="1404521" cy="57897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hape 79"/>
          <p:cNvCxnSpPr>
            <a:stCxn id="48" idx="4"/>
            <a:endCxn id="55" idx="1"/>
          </p:cNvCxnSpPr>
          <p:nvPr/>
        </p:nvCxnSpPr>
        <p:spPr>
          <a:xfrm rot="16200000" flipH="1">
            <a:off x="661502" y="2932551"/>
            <a:ext cx="2090321" cy="57897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hape 81"/>
          <p:cNvCxnSpPr>
            <a:stCxn id="48" idx="4"/>
            <a:endCxn id="57" idx="1"/>
          </p:cNvCxnSpPr>
          <p:nvPr/>
        </p:nvCxnSpPr>
        <p:spPr>
          <a:xfrm rot="16200000" flipH="1">
            <a:off x="471002" y="3123051"/>
            <a:ext cx="2471321" cy="57897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2224751" y="3886200"/>
            <a:ext cx="2895599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3977351" y="2286000"/>
            <a:ext cx="9144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 – 3</a:t>
            </a:r>
            <a:r>
              <a:rPr lang="el-GR" dirty="0" smtClean="0">
                <a:solidFill>
                  <a:schemeClr val="tx1"/>
                </a:solidFill>
              </a:rPr>
              <a:t>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3977351" y="2667000"/>
            <a:ext cx="9144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 smtClean="0">
                <a:solidFill>
                  <a:schemeClr val="tx1"/>
                </a:solidFill>
              </a:rPr>
              <a:t>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977351" y="3048000"/>
            <a:ext cx="9144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 smtClean="0">
                <a:solidFill>
                  <a:schemeClr val="tx1"/>
                </a:solidFill>
              </a:rPr>
              <a:t>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977351" y="3429000"/>
            <a:ext cx="9144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 smtClean="0">
                <a:solidFill>
                  <a:schemeClr val="tx1"/>
                </a:solidFill>
              </a:rPr>
              <a:t>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2148550" y="1828800"/>
            <a:ext cx="1072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emission</a:t>
            </a:r>
            <a:endParaRPr lang="en-US" dirty="0"/>
          </a:p>
        </p:txBody>
      </p:sp>
      <p:sp>
        <p:nvSpPr>
          <p:cNvPr id="94" name="Rectangle 93"/>
          <p:cNvSpPr/>
          <p:nvPr/>
        </p:nvSpPr>
        <p:spPr>
          <a:xfrm>
            <a:off x="3764825" y="1676400"/>
            <a:ext cx="1279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probability</a:t>
            </a:r>
          </a:p>
          <a:p>
            <a:pPr algn="ctr"/>
            <a:r>
              <a:rPr lang="en-US" dirty="0" smtClean="0"/>
              <a:t>p(</a:t>
            </a:r>
            <a:r>
              <a:rPr lang="en-US" dirty="0" err="1" smtClean="0"/>
              <a:t>em|AA</a:t>
            </a:r>
            <a:r>
              <a:rPr lang="en-US" dirty="0" smtClean="0"/>
              <a:t>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96150" y="5257800"/>
            <a:ext cx="13716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letters  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8" name="Shape 97"/>
          <p:cNvCxnSpPr>
            <a:stCxn id="48" idx="4"/>
            <a:endCxn id="97" idx="1"/>
          </p:cNvCxnSpPr>
          <p:nvPr/>
        </p:nvCxnSpPr>
        <p:spPr>
          <a:xfrm rot="16200000" flipH="1">
            <a:off x="90002" y="3504051"/>
            <a:ext cx="3233321" cy="57897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3977351" y="5257800"/>
            <a:ext cx="9144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 smtClean="0">
                <a:solidFill>
                  <a:schemeClr val="tx1"/>
                </a:solidFill>
              </a:rPr>
              <a:t>ξ</a:t>
            </a:r>
            <a:endParaRPr lang="en-US" baseline="30000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3977351" y="4114800"/>
            <a:ext cx="9144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1-</a:t>
            </a:r>
            <a:r>
              <a:rPr lang="el-GR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3</a:t>
            </a:r>
            <a:r>
              <a:rPr lang="el-GR" sz="1400" dirty="0" smtClean="0">
                <a:solidFill>
                  <a:schemeClr val="tx1"/>
                </a:solidFill>
              </a:rPr>
              <a:t>ξ</a:t>
            </a:r>
            <a:endParaRPr lang="en-US" sz="1400" baseline="300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996150" y="4876800"/>
            <a:ext cx="13716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letters  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977351" y="4876800"/>
            <a:ext cx="9144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 smtClean="0">
                <a:solidFill>
                  <a:schemeClr val="tx1"/>
                </a:solidFill>
              </a:rPr>
              <a:t>ξ</a:t>
            </a:r>
            <a:endParaRPr lang="en-US" baseline="30000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977351" y="4495800"/>
            <a:ext cx="914400" cy="304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 smtClean="0">
                <a:solidFill>
                  <a:schemeClr val="tx1"/>
                </a:solidFill>
              </a:rPr>
              <a:t>ξ</a:t>
            </a:r>
            <a:endParaRPr lang="en-US" baseline="30000" dirty="0">
              <a:solidFill>
                <a:schemeClr val="tx1"/>
              </a:solidFill>
            </a:endParaRPr>
          </a:p>
        </p:txBody>
      </p:sp>
      <p:cxnSp>
        <p:nvCxnSpPr>
          <p:cNvPr id="46" name="Shape 45"/>
          <p:cNvCxnSpPr>
            <a:stCxn id="48" idx="4"/>
            <a:endCxn id="42" idx="1"/>
          </p:cNvCxnSpPr>
          <p:nvPr/>
        </p:nvCxnSpPr>
        <p:spPr>
          <a:xfrm rot="16200000" flipH="1">
            <a:off x="280502" y="3313551"/>
            <a:ext cx="2852321" cy="57897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811898" y="228600"/>
            <a:ext cx="46355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Emission Probabilities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5" name="Right Brace 34"/>
          <p:cNvSpPr/>
          <p:nvPr/>
        </p:nvSpPr>
        <p:spPr>
          <a:xfrm>
            <a:off x="5562600" y="2286000"/>
            <a:ext cx="304800" cy="14478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122086" y="2858869"/>
            <a:ext cx="22599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Same color emission </a:t>
            </a:r>
          </a:p>
          <a:p>
            <a:r>
              <a:rPr lang="en-US" dirty="0" smtClean="0"/>
              <a:t>distribution</a:t>
            </a:r>
            <a:endParaRPr lang="en-US" dirty="0"/>
          </a:p>
        </p:txBody>
      </p:sp>
      <p:sp>
        <p:nvSpPr>
          <p:cNvPr id="61" name="Flowchart: Connector 60"/>
          <p:cNvSpPr/>
          <p:nvPr/>
        </p:nvSpPr>
        <p:spPr>
          <a:xfrm>
            <a:off x="6172200" y="2477869"/>
            <a:ext cx="700750" cy="43279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cs typeface="Courier New" pitchFamily="49" charset="0"/>
              </a:rPr>
              <a:t>T</a:t>
            </a:r>
            <a:r>
              <a:rPr lang="en-US" sz="2000" b="1" dirty="0" smtClean="0">
                <a:cs typeface="Courier New" pitchFamily="49" charset="0"/>
              </a:rPr>
              <a:t>T</a:t>
            </a:r>
            <a:endParaRPr lang="en-US" sz="2000" b="1" dirty="0">
              <a:cs typeface="Courier New" pitchFamily="49" charset="0"/>
            </a:endParaRPr>
          </a:p>
        </p:txBody>
      </p:sp>
      <p:sp>
        <p:nvSpPr>
          <p:cNvPr id="62" name="Right Brace 61"/>
          <p:cNvSpPr/>
          <p:nvPr/>
        </p:nvSpPr>
        <p:spPr>
          <a:xfrm>
            <a:off x="5562600" y="4114800"/>
            <a:ext cx="304800" cy="15240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122086" y="4876800"/>
            <a:ext cx="2657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Different letter emission </a:t>
            </a:r>
          </a:p>
          <a:p>
            <a:r>
              <a:rPr lang="en-US" dirty="0" smtClean="0"/>
              <a:t>distribution</a:t>
            </a:r>
            <a:endParaRPr lang="en-US" dirty="0"/>
          </a:p>
        </p:txBody>
      </p:sp>
      <p:sp>
        <p:nvSpPr>
          <p:cNvPr id="64" name="Flowchart: Connector 63"/>
          <p:cNvSpPr/>
          <p:nvPr/>
        </p:nvSpPr>
        <p:spPr>
          <a:xfrm>
            <a:off x="6172200" y="4495800"/>
            <a:ext cx="700750" cy="43279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cs typeface="Courier New" pitchFamily="49" charset="0"/>
              </a:rPr>
              <a:t>T</a:t>
            </a:r>
            <a:r>
              <a:rPr lang="en-US" sz="2000" b="1" dirty="0" smtClean="0">
                <a:cs typeface="Courier New" pitchFamily="49" charset="0"/>
              </a:rPr>
              <a:t>T</a:t>
            </a:r>
            <a:endParaRPr lang="en-US" sz="2000" b="1" dirty="0"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  <p:bldP spid="53" grpId="0" animBg="1"/>
      <p:bldP spid="54" grpId="0" animBg="1"/>
      <p:bldP spid="55" grpId="0" animBg="1"/>
      <p:bldP spid="57" grpId="0" animBg="1"/>
      <p:bldP spid="89" grpId="0" animBg="1"/>
      <p:bldP spid="90" grpId="0" animBg="1"/>
      <p:bldP spid="91" grpId="0" animBg="1"/>
      <p:bldP spid="92" grpId="0" animBg="1"/>
      <p:bldP spid="93" grpId="0"/>
      <p:bldP spid="94" grpId="0"/>
      <p:bldP spid="97" grpId="0" animBg="1"/>
      <p:bldP spid="101" grpId="0" animBg="1"/>
      <p:bldP spid="104" grpId="0" animBg="1"/>
      <p:bldP spid="42" grpId="0" animBg="1"/>
      <p:bldP spid="44" grpId="0" animBg="1"/>
      <p:bldP spid="45" grpId="0" animBg="1"/>
      <p:bldP spid="35" grpId="0" animBg="1"/>
      <p:bldP spid="36" grpId="0"/>
      <p:bldP spid="36" grpId="1"/>
      <p:bldP spid="61" grpId="0" animBg="1"/>
      <p:bldP spid="62" grpId="0" animBg="1"/>
      <p:bldP spid="63" grpId="0"/>
      <p:bldP spid="63" grpId="1"/>
      <p:bldP spid="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4114800" y="4114800"/>
          <a:ext cx="3946525" cy="412750"/>
        </p:xfrm>
        <a:graphic>
          <a:graphicData uri="http://schemas.openxmlformats.org/presentationml/2006/ole">
            <p:oleObj spid="_x0000_s50178" name="Equation" r:id="rId4" imgW="2184120" imgH="228600" progId="Equation.3">
              <p:embed/>
            </p:oleObj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810000" y="3657600"/>
            <a:ext cx="1861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E.g. For state CC: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733800" y="21336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Combining emission probabilities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 probability that this state emitted these reads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11898" y="228600"/>
            <a:ext cx="46355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Emission Probabilities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91195" y="3058888"/>
            <a:ext cx="3070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T0102010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 T103010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   T2010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311223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66" y="4517350"/>
            <a:ext cx="3070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ATTGCGCA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TGCG</a:t>
            </a:r>
          </a:p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 TTGGGCA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TGCGA</a:t>
            </a:r>
          </a:p>
          <a:p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   GCGCA</a:t>
            </a:r>
            <a:r>
              <a:rPr lang="en-US" sz="2000" b="1" u="sng" spc="300" dirty="0" smtClean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2000" spc="300" dirty="0" smtClean="0">
                <a:latin typeface="Courier New" pitchFamily="49" charset="0"/>
                <a:cs typeface="Courier New" pitchFamily="49" charset="0"/>
              </a:rPr>
              <a:t>TGCGAC</a:t>
            </a:r>
          </a:p>
        </p:txBody>
      </p:sp>
      <p:cxnSp>
        <p:nvCxnSpPr>
          <p:cNvPr id="24" name="Straight Connector 23"/>
          <p:cNvCxnSpPr/>
          <p:nvPr/>
        </p:nvCxnSpPr>
        <p:spPr>
          <a:xfrm rot="5400000">
            <a:off x="3678" y="4076700"/>
            <a:ext cx="34290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372170" y="4076700"/>
            <a:ext cx="34290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1905000"/>
            <a:ext cx="286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spc="600" dirty="0" smtClean="0"/>
              <a:t>..... </a:t>
            </a:r>
            <a:r>
              <a:rPr lang="en-US" sz="2000" dirty="0" smtClean="0"/>
              <a:t>B</a:t>
            </a:r>
            <a:r>
              <a:rPr lang="en-US" sz="2000" baseline="-25000" dirty="0" smtClean="0"/>
              <a:t>6</a:t>
            </a:r>
            <a:r>
              <a:rPr lang="en-US" sz="2000" dirty="0" smtClean="0"/>
              <a:t>B</a:t>
            </a:r>
            <a:r>
              <a:rPr lang="en-US" sz="2000" baseline="-25000" dirty="0" smtClean="0"/>
              <a:t>7</a:t>
            </a:r>
            <a:r>
              <a:rPr lang="en-US" sz="2000" dirty="0" smtClean="0"/>
              <a:t>B</a:t>
            </a:r>
            <a:r>
              <a:rPr lang="en-US" sz="2000" baseline="-25000" dirty="0" smtClean="0"/>
              <a:t>8</a:t>
            </a:r>
            <a:r>
              <a:rPr lang="en-US" sz="2000" dirty="0" smtClean="0"/>
              <a:t>B</a:t>
            </a:r>
            <a:r>
              <a:rPr lang="en-US" sz="2000" baseline="-25000" dirty="0" smtClean="0"/>
              <a:t>9</a:t>
            </a:r>
            <a:r>
              <a:rPr lang="en-US" sz="2000" spc="600" dirty="0" smtClean="0"/>
              <a:t> .....</a:t>
            </a:r>
            <a:endParaRPr lang="en-US" sz="2000" spc="600" dirty="0"/>
          </a:p>
        </p:txBody>
      </p:sp>
      <p:sp>
        <p:nvSpPr>
          <p:cNvPr id="28" name="Oval 27"/>
          <p:cNvSpPr/>
          <p:nvPr/>
        </p:nvSpPr>
        <p:spPr>
          <a:xfrm>
            <a:off x="1619945" y="1933576"/>
            <a:ext cx="552450" cy="371474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0" y="1752600"/>
            <a:ext cx="41148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Summary</a:t>
            </a:r>
          </a:p>
          <a:p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 smtClean="0">
                <a:solidFill>
                  <a:srgbClr val="0070C0"/>
                </a:solidFill>
              </a:rPr>
              <a:t>unknown</a:t>
            </a:r>
            <a:r>
              <a:rPr lang="en-US" sz="2000" dirty="0" smtClean="0"/>
              <a:t> state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donor pair at location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 transitions</a:t>
            </a:r>
            <a:r>
              <a:rPr lang="en-US" sz="2000" dirty="0" smtClean="0"/>
              <a:t>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/>
              <a:t> transition probabilities  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 smtClean="0">
                <a:solidFill>
                  <a:srgbClr val="0070C0"/>
                </a:solidFill>
              </a:rPr>
              <a:t>emissions</a:t>
            </a:r>
            <a:r>
              <a:rPr lang="en-US" sz="2000" dirty="0" smtClean="0"/>
              <a:t>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/>
              <a:t> reads at location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/>
              <a:t> emission probabilities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endParaRPr lang="en-US" sz="2000" dirty="0" smtClean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11898" y="228600"/>
            <a:ext cx="28664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Simple HMM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400800" y="1935181"/>
            <a:ext cx="971550" cy="695325"/>
          </a:xfrm>
          <a:prstGeom prst="ellipse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r>
              <a:rPr lang="en-US" baseline="-25000" dirty="0" smtClean="0"/>
              <a:t>6</a:t>
            </a:r>
            <a:r>
              <a:rPr lang="en-US" dirty="0" smtClean="0"/>
              <a:t> B</a:t>
            </a:r>
            <a:r>
              <a:rPr lang="en-US" baseline="-25000" dirty="0" smtClean="0"/>
              <a:t>7</a:t>
            </a:r>
            <a:endParaRPr lang="en-US" baseline="-25000" dirty="0"/>
          </a:p>
        </p:txBody>
      </p:sp>
      <p:sp>
        <p:nvSpPr>
          <p:cNvPr id="15" name="Rounded Rectangle 14"/>
          <p:cNvSpPr/>
          <p:nvPr/>
        </p:nvSpPr>
        <p:spPr>
          <a:xfrm>
            <a:off x="6686549" y="311152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AA</a:t>
            </a:r>
            <a:endParaRPr lang="en-US" baseline="-25000" dirty="0"/>
          </a:p>
        </p:txBody>
      </p:sp>
      <p:sp>
        <p:nvSpPr>
          <p:cNvPr id="16" name="Rounded Rectangle 15"/>
          <p:cNvSpPr/>
          <p:nvPr/>
        </p:nvSpPr>
        <p:spPr>
          <a:xfrm>
            <a:off x="6686549" y="349252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AC</a:t>
            </a:r>
            <a:endParaRPr lang="en-US" sz="1400" baseline="-25000" dirty="0"/>
          </a:p>
        </p:txBody>
      </p:sp>
      <p:cxnSp>
        <p:nvCxnSpPr>
          <p:cNvPr id="17" name="Straight Arrow Connector 16"/>
          <p:cNvCxnSpPr>
            <a:endCxn id="15" idx="1"/>
          </p:cNvCxnSpPr>
          <p:nvPr/>
        </p:nvCxnSpPr>
        <p:spPr>
          <a:xfrm>
            <a:off x="6534149" y="318772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6" idx="1"/>
          </p:cNvCxnSpPr>
          <p:nvPr/>
        </p:nvCxnSpPr>
        <p:spPr>
          <a:xfrm>
            <a:off x="6534149" y="356872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0" idx="2"/>
          </p:cNvCxnSpPr>
          <p:nvPr/>
        </p:nvCxnSpPr>
        <p:spPr>
          <a:xfrm>
            <a:off x="5715000" y="2282844"/>
            <a:ext cx="685800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>
            <a:off x="5243512" y="3802082"/>
            <a:ext cx="2581275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4649" y="417832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0</a:t>
            </a:r>
            <a:endParaRPr lang="en-US" sz="1400" baseline="-25000" dirty="0"/>
          </a:p>
        </p:txBody>
      </p:sp>
      <p:cxnSp>
        <p:nvCxnSpPr>
          <p:cNvPr id="22" name="Straight Arrow Connector 21"/>
          <p:cNvCxnSpPr>
            <a:endCxn id="21" idx="1"/>
          </p:cNvCxnSpPr>
          <p:nvPr/>
        </p:nvCxnSpPr>
        <p:spPr>
          <a:xfrm>
            <a:off x="6572249" y="425452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24649" y="4559320"/>
            <a:ext cx="1066800" cy="228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color 1</a:t>
            </a:r>
            <a:endParaRPr lang="en-US" sz="1400" baseline="-25000" dirty="0"/>
          </a:p>
        </p:txBody>
      </p:sp>
      <p:cxnSp>
        <p:nvCxnSpPr>
          <p:cNvPr id="24" name="Straight Arrow Connector 23"/>
          <p:cNvCxnSpPr>
            <a:endCxn id="23" idx="1"/>
          </p:cNvCxnSpPr>
          <p:nvPr/>
        </p:nvCxnSpPr>
        <p:spPr>
          <a:xfrm>
            <a:off x="6572249" y="4635520"/>
            <a:ext cx="152400" cy="381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7391400" y="2273320"/>
            <a:ext cx="685800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38200" y="1143000"/>
            <a:ext cx="5658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Have set-up a form of an HMM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run Forward-Backward algorithm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get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probability distribution </a:t>
            </a:r>
            <a:r>
              <a:rPr lang="en-US" dirty="0" smtClean="0"/>
              <a:t>over states at </a:t>
            </a:r>
            <a:r>
              <a:rPr lang="en-US" dirty="0" smtClean="0"/>
              <a:t>each position</a:t>
            </a:r>
            <a:endParaRPr lang="en-US" dirty="0"/>
          </a:p>
        </p:txBody>
      </p:sp>
      <p:sp>
        <p:nvSpPr>
          <p:cNvPr id="10" name="Flowchart: Connector 9"/>
          <p:cNvSpPr/>
          <p:nvPr/>
        </p:nvSpPr>
        <p:spPr>
          <a:xfrm>
            <a:off x="1371602" y="2514600"/>
            <a:ext cx="387710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AA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Flowchart: Connector 10"/>
          <p:cNvSpPr/>
          <p:nvPr/>
        </p:nvSpPr>
        <p:spPr>
          <a:xfrm>
            <a:off x="1384113" y="3592284"/>
            <a:ext cx="387710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CA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Flowchart: Connector 11"/>
          <p:cNvSpPr/>
          <p:nvPr/>
        </p:nvSpPr>
        <p:spPr>
          <a:xfrm>
            <a:off x="1371600" y="3135084"/>
            <a:ext cx="401145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1384113" y="5488771"/>
            <a:ext cx="396726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TT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82488" y="3962396"/>
            <a:ext cx="39188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82488" y="2852058"/>
            <a:ext cx="39188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Flowchart: Connector 15"/>
          <p:cNvSpPr/>
          <p:nvPr/>
        </p:nvSpPr>
        <p:spPr>
          <a:xfrm>
            <a:off x="1384113" y="4694111"/>
            <a:ext cx="387710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GA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1371600" y="4236911"/>
            <a:ext cx="401145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82486" y="5046109"/>
            <a:ext cx="39188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382486" y="5198509"/>
            <a:ext cx="39188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314892" y="4201884"/>
            <a:ext cx="335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002972" y="2601684"/>
            <a:ext cx="182880" cy="182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002972" y="3211284"/>
            <a:ext cx="1828800" cy="182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02972" y="3744684"/>
            <a:ext cx="45719" cy="182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002972" y="4332512"/>
            <a:ext cx="76200" cy="182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002972" y="4811484"/>
            <a:ext cx="76200" cy="182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002972" y="5595256"/>
            <a:ext cx="228600" cy="182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Arrow 29"/>
          <p:cNvSpPr/>
          <p:nvPr/>
        </p:nvSpPr>
        <p:spPr>
          <a:xfrm>
            <a:off x="4575133" y="3103880"/>
            <a:ext cx="1524000" cy="381000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6251533" y="3124200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likely state</a:t>
            </a:r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11898" y="228600"/>
            <a:ext cx="60996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Forward-Backward Algorithm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343400" y="4343400"/>
            <a:ext cx="4267200" cy="1524000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Variation Detection</a:t>
            </a:r>
            <a:r>
              <a:rPr lang="en-US" dirty="0" smtClean="0"/>
              <a:t>:</a:t>
            </a:r>
          </a:p>
          <a:p>
            <a:r>
              <a:rPr lang="en-US" dirty="0" smtClean="0"/>
              <a:t>compare most likely state with reference:</a:t>
            </a:r>
          </a:p>
          <a:p>
            <a:endParaRPr lang="en-US" dirty="0" smtClean="0"/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ref:  GCTA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CCA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don:  ...A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81200" y="5867400"/>
            <a:ext cx="1279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752600" y="1447800"/>
            <a:ext cx="5791200" cy="30480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Methods</a:t>
            </a:r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Simple HMM Model</a:t>
            </a:r>
          </a:p>
          <a:p>
            <a:pPr algn="ctr"/>
            <a:r>
              <a:rPr lang="en-US" dirty="0" smtClean="0"/>
              <a:t>states, emissions, transitions, FB</a:t>
            </a:r>
            <a:br>
              <a:rPr lang="en-US" dirty="0" smtClean="0"/>
            </a:br>
            <a:endParaRPr lang="en-US" dirty="0" smtClean="0"/>
          </a:p>
          <a:p>
            <a:pPr algn="ctr"/>
            <a:r>
              <a:rPr lang="en-US" sz="2000" b="1" dirty="0" smtClean="0"/>
              <a:t> Extended HMM Model</a:t>
            </a:r>
          </a:p>
          <a:p>
            <a:pPr algn="ctr"/>
            <a:r>
              <a:rPr lang="en-US" b="1" dirty="0" smtClean="0"/>
              <a:t>gaps, diploids, exceptions</a:t>
            </a:r>
          </a:p>
          <a:p>
            <a:pPr algn="ctr">
              <a:buFontTx/>
              <a:buChar char="-"/>
            </a:pPr>
            <a:endParaRPr lang="en-US" sz="2000" dirty="0" smtClean="0"/>
          </a:p>
        </p:txBody>
      </p:sp>
      <p:sp>
        <p:nvSpPr>
          <p:cNvPr id="5" name="Rounded Rectangle 4"/>
          <p:cNvSpPr/>
          <p:nvPr/>
        </p:nvSpPr>
        <p:spPr>
          <a:xfrm>
            <a:off x="2286000" y="5334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7912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8768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Results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90600" y="1524001"/>
            <a:ext cx="7467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Simple HMM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 only detects </a:t>
            </a:r>
            <a:r>
              <a:rPr lang="en-US" sz="2400" b="1" dirty="0" smtClean="0"/>
              <a:t>homozygous</a:t>
            </a:r>
            <a:r>
              <a:rPr lang="en-US" sz="2400" dirty="0" smtClean="0"/>
              <a:t> </a:t>
            </a:r>
            <a:r>
              <a:rPr lang="en-US" sz="2400" b="1" dirty="0" smtClean="0"/>
              <a:t>SNPs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Extended HMM: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 short </a:t>
            </a:r>
            <a:r>
              <a:rPr lang="en-US" sz="2400" dirty="0" err="1" smtClean="0">
                <a:solidFill>
                  <a:schemeClr val="accent1">
                    <a:lumMod val="75000"/>
                  </a:schemeClr>
                </a:solidFill>
              </a:rPr>
              <a:t>indels</a:t>
            </a: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heterozygous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SNPs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 complex error profiles &amp; quality values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11898" y="228600"/>
            <a:ext cx="33823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Extended HMM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73519" y="1743670"/>
            <a:ext cx="365311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Expand states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Have states that include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gaps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/>
              <a:t> emit: gap or color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6248400" y="1752600"/>
            <a:ext cx="387710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A-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Flowchart: Connector 10"/>
          <p:cNvSpPr/>
          <p:nvPr/>
        </p:nvSpPr>
        <p:spPr>
          <a:xfrm>
            <a:off x="7086600" y="2057400"/>
            <a:ext cx="387710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--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Flowchart: Connector 11"/>
          <p:cNvSpPr/>
          <p:nvPr/>
        </p:nvSpPr>
        <p:spPr>
          <a:xfrm>
            <a:off x="6553200" y="2362200"/>
            <a:ext cx="387710" cy="389513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-G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6096000" y="3276600"/>
            <a:ext cx="762000" cy="779026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u="sng" dirty="0" smtClean="0">
                <a:latin typeface="Courier New" pitchFamily="49" charset="0"/>
                <a:cs typeface="Courier New" pitchFamily="49" charset="0"/>
              </a:rPr>
              <a:t>AG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TG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Flowchart: Connector 13"/>
          <p:cNvSpPr/>
          <p:nvPr/>
        </p:nvSpPr>
        <p:spPr>
          <a:xfrm>
            <a:off x="6781800" y="3810000"/>
            <a:ext cx="762000" cy="779026"/>
          </a:xfrm>
          <a:prstGeom prst="flowChartConnector">
            <a:avLst/>
          </a:prstGeom>
          <a:ln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u="sng" dirty="0" smtClean="0">
                <a:latin typeface="Courier New" pitchFamily="49" charset="0"/>
                <a:cs typeface="Courier New" pitchFamily="49" charset="0"/>
              </a:rPr>
              <a:t>T-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T-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8200" y="3657600"/>
            <a:ext cx="3769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lang="en-US" dirty="0" smtClean="0"/>
              <a:t> Have larger states, for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diploids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19800" y="1524000"/>
            <a:ext cx="1676400" cy="137160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019800" y="3251200"/>
            <a:ext cx="1676400" cy="144780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38200" y="5410200"/>
            <a:ext cx="75945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Transitions built in similar fashion as before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Same algorithm, but in all we have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1600 states </a:t>
            </a:r>
            <a:r>
              <a:rPr lang="en-US" dirty="0" smtClean="0"/>
              <a:t>with very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sparse </a:t>
            </a:r>
            <a:r>
              <a:rPr lang="en-US" dirty="0" smtClean="0"/>
              <a:t>transitions</a:t>
            </a:r>
            <a:endParaRPr lang="en-US" dirty="0"/>
          </a:p>
        </p:txBody>
      </p:sp>
      <p:cxnSp>
        <p:nvCxnSpPr>
          <p:cNvPr id="20" name="Straight Arrow Connector 19"/>
          <p:cNvCxnSpPr>
            <a:stCxn id="16" idx="1"/>
          </p:cNvCxnSpPr>
          <p:nvPr/>
        </p:nvCxnSpPr>
        <p:spPr>
          <a:xfrm rot="10800000">
            <a:off x="4648200" y="22098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7" idx="1"/>
            <a:endCxn id="15" idx="3"/>
          </p:cNvCxnSpPr>
          <p:nvPr/>
        </p:nvCxnSpPr>
        <p:spPr>
          <a:xfrm rot="10800000">
            <a:off x="4607694" y="3842266"/>
            <a:ext cx="1412107" cy="1328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62000" y="228600"/>
            <a:ext cx="82179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Expansion: Gaps and heterozygous SNPs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371600" y="1667470"/>
            <a:ext cx="447314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dirty="0" smtClean="0"/>
              <a:t> Emission probabilities 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/>
              <a:t> Support </a:t>
            </a:r>
            <a:r>
              <a:rPr lang="en-US" dirty="0" smtClean="0">
                <a:solidFill>
                  <a:srgbClr val="0070C0"/>
                </a:solidFill>
              </a:rPr>
              <a:t>quality values 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/>
              <a:t> Use </a:t>
            </a:r>
            <a:r>
              <a:rPr lang="en-US" dirty="0" smtClean="0">
                <a:solidFill>
                  <a:srgbClr val="0070C0"/>
                </a:solidFill>
              </a:rPr>
              <a:t>variable error rates </a:t>
            </a:r>
            <a:r>
              <a:rPr lang="en-US" dirty="0" smtClean="0"/>
              <a:t>for emissions</a:t>
            </a:r>
            <a:endParaRPr lang="en-US" dirty="0" smtClean="0">
              <a:solidFill>
                <a:srgbClr val="0070C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71600" y="3115270"/>
            <a:ext cx="347024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Translate through the first color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/>
              <a:t> first color is incorrect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/>
              <a:t> letter-space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81600" y="3048000"/>
            <a:ext cx="3581400" cy="11334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Donor: </a:t>
            </a:r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AGCATCGGCATCGACTGC</a:t>
            </a:r>
            <a:b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123132303123321213</a:t>
            </a:r>
            <a:b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read: &gt;</a:t>
            </a:r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T2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123132303123321213</a:t>
            </a:r>
            <a:b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&gt; </a:t>
            </a:r>
            <a:r>
              <a:rPr lang="en-US" sz="16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123132303123321213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38200" y="228600"/>
            <a:ext cx="22560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Expansion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71600" y="4724400"/>
            <a:ext cx="55607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Post-process putative SNPs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/>
              <a:t> correlated adjacent errors may support het SNPs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/>
              <a:t> check putative SNPs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 animBg="1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methods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results | summary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33600"/>
            <a:ext cx="8229600" cy="269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7086600" y="4800600"/>
            <a:ext cx="179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blue</a:t>
            </a:r>
            <a:r>
              <a:rPr lang="en-US" dirty="0" smtClean="0"/>
              <a:t>: </a:t>
            </a:r>
            <a:r>
              <a:rPr lang="en-US" dirty="0" err="1" smtClean="0"/>
              <a:t>varid</a:t>
            </a:r>
            <a:r>
              <a:rPr lang="en-US" dirty="0" smtClean="0"/>
              <a:t> steps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38200" y="228600"/>
            <a:ext cx="21085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676400" y="3048000"/>
            <a:ext cx="5791200" cy="15240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2954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3622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2200" y="48006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Summary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8200" y="228600"/>
            <a:ext cx="1622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methods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results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summary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0917" y="1219200"/>
            <a:ext cx="756008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Human dataset from </a:t>
            </a:r>
            <a:r>
              <a:rPr lang="en-US" dirty="0" err="1" smtClean="0"/>
              <a:t>Harismendy</a:t>
            </a:r>
            <a:r>
              <a:rPr lang="en-US" dirty="0" smtClean="0"/>
              <a:t> et al, 2009. (NA17156,17275,17460,17773)</a:t>
            </a:r>
          </a:p>
          <a:p>
            <a:r>
              <a:rPr lang="en-US" dirty="0" smtClean="0"/>
              <a:t>454, </a:t>
            </a:r>
            <a:r>
              <a:rPr lang="en-US" dirty="0" err="1" smtClean="0"/>
              <a:t>SOLiD</a:t>
            </a:r>
            <a:r>
              <a:rPr lang="en-US" dirty="0" smtClean="0"/>
              <a:t>, Sanger</a:t>
            </a:r>
          </a:p>
          <a:p>
            <a:endParaRPr lang="en-US" dirty="0" smtClean="0"/>
          </a:p>
          <a:p>
            <a:r>
              <a:rPr lang="en-US" b="1" dirty="0" smtClean="0"/>
              <a:t>Color-space</a:t>
            </a:r>
            <a:r>
              <a:rPr lang="en-US" dirty="0" smtClean="0"/>
              <a:t> dataset: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Compare random subsets: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Corona (with AB </a:t>
            </a:r>
            <a:r>
              <a:rPr lang="en-US" dirty="0" err="1" smtClean="0"/>
              <a:t>mapper</a:t>
            </a:r>
            <a:r>
              <a:rPr lang="en-US" dirty="0" smtClean="0"/>
              <a:t>)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VARiD</a:t>
            </a:r>
            <a:r>
              <a:rPr lang="en-US" dirty="0" smtClean="0"/>
              <a:t> (with </a:t>
            </a:r>
            <a:r>
              <a:rPr lang="en-US" dirty="0" err="1" smtClean="0"/>
              <a:t>SHRiMP</a:t>
            </a:r>
            <a:r>
              <a:rPr lang="en-US" dirty="0" smtClean="0"/>
              <a:t>)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VARiD</a:t>
            </a:r>
            <a:r>
              <a:rPr lang="en-US" dirty="0" smtClean="0"/>
              <a:t> (with AB </a:t>
            </a:r>
            <a:r>
              <a:rPr lang="en-US" dirty="0" err="1" smtClean="0"/>
              <a:t>mapper</a:t>
            </a:r>
            <a:r>
              <a:rPr lang="en-US" dirty="0" smtClean="0"/>
              <a:t>)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r>
              <a:rPr lang="en-US" b="1" dirty="0" smtClean="0"/>
              <a:t>Conclusions</a:t>
            </a:r>
            <a:r>
              <a:rPr lang="en-US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the three pipelines perform </a:t>
            </a:r>
          </a:p>
          <a:p>
            <a:r>
              <a:rPr lang="en-US" dirty="0" smtClean="0"/>
              <a:t>very similarly.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High-coverage results is as good </a:t>
            </a:r>
            <a:br>
              <a:rPr lang="en-US" dirty="0" smtClean="0"/>
            </a:br>
            <a:r>
              <a:rPr lang="en-US" dirty="0" smtClean="0"/>
              <a:t>as can be achieved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11" name="Chart 10"/>
          <p:cNvGraphicFramePr/>
          <p:nvPr/>
        </p:nvGraphicFramePr>
        <p:xfrm>
          <a:off x="3962400" y="190500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096000" y="1600200"/>
            <a:ext cx="14567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F-measure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8200" y="228600"/>
            <a:ext cx="1622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methods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results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summary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0917" y="2194679"/>
            <a:ext cx="352763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Letter-space</a:t>
            </a:r>
            <a:r>
              <a:rPr lang="en-US" dirty="0" smtClean="0"/>
              <a:t> dataset: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Compare random subsets  :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GigaBayes</a:t>
            </a:r>
            <a:r>
              <a:rPr lang="en-US" dirty="0" smtClean="0"/>
              <a:t> (with </a:t>
            </a:r>
            <a:r>
              <a:rPr lang="en-US" dirty="0" err="1" smtClean="0"/>
              <a:t>Mosaik</a:t>
            </a:r>
            <a:r>
              <a:rPr lang="en-US" dirty="0" smtClean="0"/>
              <a:t>)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VARiD</a:t>
            </a:r>
            <a:r>
              <a:rPr lang="en-US" dirty="0" smtClean="0"/>
              <a:t> (with </a:t>
            </a:r>
            <a:r>
              <a:rPr lang="en-US" dirty="0" err="1" smtClean="0"/>
              <a:t>SHRiMP</a:t>
            </a:r>
            <a:r>
              <a:rPr lang="en-US" dirty="0" smtClean="0"/>
              <a:t>)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VARiD</a:t>
            </a:r>
            <a:r>
              <a:rPr lang="en-US" dirty="0" smtClean="0"/>
              <a:t> (with </a:t>
            </a:r>
            <a:r>
              <a:rPr lang="en-US" dirty="0" err="1" smtClean="0"/>
              <a:t>Mosaik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b="1" dirty="0" smtClean="0"/>
              <a:t>Conclusion</a:t>
            </a:r>
            <a:r>
              <a:rPr lang="en-US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the three pipelines  perform </a:t>
            </a:r>
          </a:p>
          <a:p>
            <a:r>
              <a:rPr lang="en-US" dirty="0" smtClean="0"/>
              <a:t>very similarly.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High-coverage results is as good </a:t>
            </a:r>
            <a:br>
              <a:rPr lang="en-US" dirty="0" smtClean="0"/>
            </a:br>
            <a:r>
              <a:rPr lang="en-US" dirty="0" smtClean="0"/>
              <a:t>as can be achieved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10" name="Chart 9"/>
          <p:cNvGraphicFramePr/>
          <p:nvPr/>
        </p:nvGraphicFramePr>
        <p:xfrm>
          <a:off x="3733800" y="1828800"/>
          <a:ext cx="54102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096000" y="1600200"/>
            <a:ext cx="14567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F-measure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14800" y="2962275"/>
          <a:ext cx="4038600" cy="2752722"/>
        </p:xfrm>
        <a:graphic>
          <a:graphicData uri="http://schemas.openxmlformats.org/drawingml/2006/table">
            <a:tbl>
              <a:tblPr/>
              <a:tblGrid>
                <a:gridCol w="366729"/>
                <a:gridCol w="751794"/>
                <a:gridCol w="513420"/>
                <a:gridCol w="508836"/>
                <a:gridCol w="508836"/>
                <a:gridCol w="508836"/>
                <a:gridCol w="513420"/>
                <a:gridCol w="366729"/>
              </a:tblGrid>
              <a:tr h="3419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letter-space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419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F-meas.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2.5x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953"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Color-space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C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9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F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9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80.3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9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83.5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7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9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86.0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90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8200" y="228600"/>
            <a:ext cx="1622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Results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1295400"/>
            <a:ext cx="769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VARiD</a:t>
            </a:r>
            <a:r>
              <a:rPr lang="en-US" b="1" dirty="0" smtClean="0"/>
              <a:t> Motivation:</a:t>
            </a:r>
          </a:p>
          <a:p>
            <a:r>
              <a:rPr lang="en-US" dirty="0" smtClean="0"/>
              <a:t>Combining Letter-space and Color-space data to achieve increased accuracy in at-cost comparison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methods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results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 | summary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800388" y="46482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297954" y="4991819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323826" y="3293852"/>
            <a:ext cx="381000" cy="38100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" y="2895600"/>
            <a:ext cx="24366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Assuming a same-cost </a:t>
            </a:r>
          </a:p>
          <a:p>
            <a:r>
              <a:rPr lang="en-US" dirty="0" smtClean="0"/>
              <a:t>comparison of: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05200"/>
            <a:ext cx="335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10x letter-space (LS)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297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100x color-space (CS)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67200"/>
            <a:ext cx="199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5x LS and 50x CS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4665452" y="3640348"/>
            <a:ext cx="381000" cy="38100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323826" y="3631722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674078" y="4996130"/>
            <a:ext cx="381000" cy="38100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292304" y="3293852"/>
            <a:ext cx="381000" cy="38100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323826" y="3631722"/>
            <a:ext cx="381000" cy="381000"/>
          </a:xfrm>
          <a:prstGeom prst="ellipse">
            <a:avLst/>
          </a:prstGeom>
          <a:noFill/>
          <a:ln>
            <a:solidFill>
              <a:srgbClr val="FF99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300930" y="4996130"/>
            <a:ext cx="381000" cy="381000"/>
          </a:xfrm>
          <a:prstGeom prst="ellipse">
            <a:avLst/>
          </a:prstGeom>
          <a:noFill/>
          <a:ln>
            <a:solidFill>
              <a:srgbClr val="FF99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648200" y="4648200"/>
            <a:ext cx="381000" cy="38100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824930" y="3276600"/>
            <a:ext cx="381000" cy="38100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364088" y="2769078"/>
            <a:ext cx="85895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err="1" smtClean="0"/>
              <a:t>VARiD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2" grpId="1" animBg="1"/>
      <p:bldP spid="13" grpId="0" animBg="1"/>
      <p:bldP spid="13" grpId="1" animBg="1"/>
      <p:bldP spid="18" grpId="0"/>
      <p:bldP spid="21" grpId="0"/>
      <p:bldP spid="22" grpId="0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676400" y="4114800"/>
            <a:ext cx="5791200" cy="15240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1430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2098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276600"/>
            <a:ext cx="4572000" cy="457200"/>
          </a:xfrm>
          <a:prstGeom prst="roundRect">
            <a:avLst>
              <a:gd name="adj" fmla="val 291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Results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000" y="1667976"/>
            <a:ext cx="6950429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Summary of </a:t>
            </a:r>
            <a:r>
              <a:rPr lang="en-US" b="1" dirty="0" err="1" smtClean="0"/>
              <a:t>VARiD</a:t>
            </a:r>
            <a:endParaRPr lang="en-US" b="1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 HMM modeling underlying donor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 Treats color-space and letter-space together in the same framework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 no translation – take advantage of each technology’s properties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 accurately calls SNPs, </a:t>
            </a:r>
            <a:r>
              <a:rPr lang="en-US" b="1" dirty="0" smtClean="0"/>
              <a:t>short </a:t>
            </a:r>
            <a:r>
              <a:rPr lang="en-US" b="1" dirty="0" err="1" smtClean="0"/>
              <a:t>indels</a:t>
            </a:r>
            <a:r>
              <a:rPr lang="en-US" b="1" dirty="0" smtClean="0"/>
              <a:t> </a:t>
            </a:r>
            <a:r>
              <a:rPr lang="en-US" dirty="0" smtClean="0"/>
              <a:t>in both color- and letter-space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 improved results  with hybrid data.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38200" y="228600"/>
            <a:ext cx="2212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Summary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methods | results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summary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7200" y="4953000"/>
            <a:ext cx="7696200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Website</a:t>
            </a:r>
            <a:r>
              <a:rPr lang="en-US" dirty="0" smtClean="0">
                <a:solidFill>
                  <a:srgbClr val="0070C0"/>
                </a:solidFill>
              </a:rPr>
              <a:t>: </a:t>
            </a:r>
            <a:r>
              <a:rPr lang="en-US" dirty="0" smtClean="0">
                <a:solidFill>
                  <a:schemeClr val="tx1"/>
                </a:solidFill>
              </a:rPr>
              <a:t>http://compbio.cs.utoronto.ca/varid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400" dirty="0" smtClean="0"/>
              <a:t>(</a:t>
            </a:r>
            <a:r>
              <a:rPr lang="en-US" sz="1400" dirty="0" err="1" smtClean="0"/>
              <a:t>VARiD</a:t>
            </a:r>
            <a:r>
              <a:rPr lang="en-US" sz="1400" dirty="0" smtClean="0"/>
              <a:t> freely available)</a:t>
            </a:r>
            <a:br>
              <a:rPr lang="en-US" sz="1400" dirty="0" smtClean="0"/>
            </a:br>
            <a:r>
              <a:rPr lang="en-US" sz="600" dirty="0" smtClean="0"/>
              <a:t> 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smtClean="0"/>
              <a:t>Contact</a:t>
            </a:r>
            <a:r>
              <a:rPr lang="en-US" dirty="0" smtClean="0"/>
              <a:t>:</a:t>
            </a:r>
            <a:r>
              <a:rPr lang="en-US" dirty="0" smtClean="0">
                <a:solidFill>
                  <a:schemeClr val="tx1"/>
                </a:solidFill>
              </a:rPr>
              <a:t> varid@cs.utoronto.ca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38200" y="228600"/>
            <a:ext cx="40923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Acknowledgements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09800" y="6553200"/>
            <a:ext cx="4648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motivation | methods | results |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aramond" pitchFamily="18" charset="0"/>
              </a:rPr>
              <a:t>summary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65532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7200" y="4953000"/>
            <a:ext cx="7696200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Website</a:t>
            </a:r>
            <a:r>
              <a:rPr lang="en-US" dirty="0" smtClean="0">
                <a:solidFill>
                  <a:srgbClr val="0070C0"/>
                </a:solidFill>
              </a:rPr>
              <a:t>: </a:t>
            </a:r>
            <a:r>
              <a:rPr lang="en-US" dirty="0" smtClean="0">
                <a:solidFill>
                  <a:schemeClr val="tx1"/>
                </a:solidFill>
              </a:rPr>
              <a:t>http://compbio.cs.utoronto.ca/varid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400" dirty="0" smtClean="0"/>
              <a:t>(</a:t>
            </a:r>
            <a:r>
              <a:rPr lang="en-US" sz="1400" dirty="0" err="1" smtClean="0"/>
              <a:t>VARiD</a:t>
            </a:r>
            <a:r>
              <a:rPr lang="en-US" sz="1400" dirty="0" smtClean="0"/>
              <a:t> freely available)</a:t>
            </a:r>
            <a:br>
              <a:rPr lang="en-US" sz="1400" dirty="0" smtClean="0"/>
            </a:br>
            <a:r>
              <a:rPr lang="en-US" sz="600" dirty="0" smtClean="0"/>
              <a:t> 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smtClean="0"/>
              <a:t>Contact</a:t>
            </a:r>
            <a:r>
              <a:rPr lang="en-US" dirty="0" smtClean="0"/>
              <a:t>:</a:t>
            </a:r>
            <a:r>
              <a:rPr lang="en-US" dirty="0" smtClean="0">
                <a:solidFill>
                  <a:schemeClr val="tx1"/>
                </a:solidFill>
              </a:rPr>
              <a:t> varid@cs.utoronto.ca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7850D-ADD3-4826-BAAE-DADA10EA2EB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" y="3833336"/>
            <a:ext cx="7162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/>
              <a:t>Partial Participant Support Award </a:t>
            </a:r>
            <a:r>
              <a:rPr lang="en-US" dirty="0" smtClean="0"/>
              <a:t>: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dirty="0" smtClean="0"/>
              <a:t> ISCB, Department of Energy, and National Science Foundation</a:t>
            </a:r>
            <a:r>
              <a:rPr lang="en-US" sz="2400" dirty="0" smtClean="0"/>
              <a:t> </a:t>
            </a:r>
            <a:endParaRPr lang="en-US" sz="40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533400" y="1371600"/>
            <a:ext cx="45849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Acknowledgements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Steven Rumble, Sam Levy, Michael </a:t>
            </a:r>
            <a:r>
              <a:rPr lang="en-US" dirty="0" err="1" smtClean="0"/>
              <a:t>Brudno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Misko</a:t>
            </a:r>
            <a:r>
              <a:rPr lang="en-US" dirty="0" smtClean="0"/>
              <a:t> </a:t>
            </a:r>
            <a:r>
              <a:rPr lang="en-US" dirty="0" err="1" smtClean="0"/>
              <a:t>Dzamba</a:t>
            </a:r>
            <a:endParaRPr lang="en-US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438400"/>
            <a:ext cx="109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Funding</a:t>
            </a:r>
            <a:endParaRPr lang="en-US" b="1" dirty="0"/>
          </a:p>
        </p:txBody>
      </p:sp>
      <p:pic>
        <p:nvPicPr>
          <p:cNvPr id="11" name="Picture 1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00200" y="2819400"/>
            <a:ext cx="1614487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8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9000" y="2743200"/>
            <a:ext cx="1581495" cy="742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0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29200" y="2743200"/>
            <a:ext cx="11890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2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00800" y="2819400"/>
            <a:ext cx="620712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mitacs.jpg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4722" y="2849575"/>
            <a:ext cx="533400" cy="731825"/>
          </a:xfrm>
          <a:prstGeom prst="rect">
            <a:avLst/>
          </a:prstGeom>
        </p:spPr>
      </p:pic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15200" y="2819400"/>
            <a:ext cx="14130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4686</TotalTime>
  <Words>1616</Words>
  <Application>Microsoft Office PowerPoint</Application>
  <PresentationFormat>On-screen Show (4:3)</PresentationFormat>
  <Paragraphs>560</Paragraphs>
  <Slides>31</Slides>
  <Notes>29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Flow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adijr</dc:creator>
  <cp:lastModifiedBy>adijr</cp:lastModifiedBy>
  <cp:revision>510</cp:revision>
  <dcterms:created xsi:type="dcterms:W3CDTF">2009-06-27T21:18:13Z</dcterms:created>
  <dcterms:modified xsi:type="dcterms:W3CDTF">2010-07-12T17:43:39Z</dcterms:modified>
</cp:coreProperties>
</file>