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4"/>
  </p:notesMasterIdLst>
  <p:handoutMasterIdLst>
    <p:handoutMasterId r:id="rId15"/>
  </p:handoutMasterIdLst>
  <p:sldIdLst>
    <p:sldId id="958" r:id="rId2"/>
    <p:sldId id="715" r:id="rId3"/>
    <p:sldId id="847" r:id="rId4"/>
    <p:sldId id="717" r:id="rId5"/>
    <p:sldId id="681" r:id="rId6"/>
    <p:sldId id="718" r:id="rId7"/>
    <p:sldId id="773" r:id="rId8"/>
    <p:sldId id="719" r:id="rId9"/>
    <p:sldId id="720" r:id="rId10"/>
    <p:sldId id="768" r:id="rId11"/>
    <p:sldId id="713" r:id="rId12"/>
    <p:sldId id="959" r:id="rId13"/>
  </p:sldIdLst>
  <p:sldSz cx="9144000" cy="6858000" type="screen4x3"/>
  <p:notesSz cx="7315200" cy="96012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/>
        <a:cs typeface="MS PGothic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/>
        <a:cs typeface="MS PGothic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/>
        <a:cs typeface="MS PGothic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/>
        <a:cs typeface="MS PGothic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/>
        <a:cs typeface="MS PGothic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MS PGothic"/>
        <a:cs typeface="MS PGothic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MS PGothic"/>
        <a:cs typeface="MS PGothic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MS PGothic"/>
        <a:cs typeface="MS PGothic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MS PGothic"/>
        <a:cs typeface="MS PGothic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 Richard Eckard" initials="" lastIdx="20" clrIdx="0"/>
  <p:cmAuthor id="1" name="Richard Eckard" initials="RJ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66"/>
    <a:srgbClr val="6699FF"/>
    <a:srgbClr val="FF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6248" autoAdjust="0"/>
    <p:restoredTop sz="88305" autoAdjust="0"/>
  </p:normalViewPr>
  <p:slideViewPr>
    <p:cSldViewPr>
      <p:cViewPr>
        <p:scale>
          <a:sx n="70" d="100"/>
          <a:sy n="70" d="100"/>
        </p:scale>
        <p:origin x="-1013" y="-3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4304"/>
    </p:cViewPr>
  </p:sorterViewPr>
  <p:notesViewPr>
    <p:cSldViewPr>
      <p:cViewPr varScale="1">
        <p:scale>
          <a:sx n="58" d="100"/>
          <a:sy n="58" d="100"/>
        </p:scale>
        <p:origin x="-1674" y="-66"/>
      </p:cViewPr>
      <p:guideLst>
        <p:guide orient="horz" pos="3024"/>
        <p:guide pos="230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5062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166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5062" y="912166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DDAC8D6E-9F40-4CD8-9C92-B8A7B29F1E2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384496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062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561" y="4560086"/>
            <a:ext cx="5362081" cy="4321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 smtClean="0"/>
              <a:t>Click to edit Master text styles</a:t>
            </a:r>
          </a:p>
          <a:p>
            <a:pPr lvl="1"/>
            <a:r>
              <a:rPr lang="en-AU" noProof="0" smtClean="0"/>
              <a:t>Second level</a:t>
            </a:r>
          </a:p>
          <a:p>
            <a:pPr lvl="2"/>
            <a:r>
              <a:rPr lang="en-AU" noProof="0" smtClean="0"/>
              <a:t>Third level</a:t>
            </a:r>
          </a:p>
          <a:p>
            <a:pPr lvl="3"/>
            <a:r>
              <a:rPr lang="en-AU" noProof="0" smtClean="0"/>
              <a:t>Fourth level</a:t>
            </a:r>
          </a:p>
          <a:p>
            <a:pPr lvl="4"/>
            <a:r>
              <a:rPr lang="en-AU" noProof="0" smtClean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66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062" y="912166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A2C9C69C-2081-4868-A2C7-00213D8F733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4978349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6288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AU" smtClean="0"/>
              <a:t>This section takes 15 minutes to present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8E52C0-C28D-4DA8-84C6-F6D941BF6A5D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5011_PPT_BG_EndP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10"/>
          <p:cNvSpPr>
            <a:spLocks noChangeShapeType="1"/>
          </p:cNvSpPr>
          <p:nvPr/>
        </p:nvSpPr>
        <p:spPr bwMode="auto">
          <a:xfrm>
            <a:off x="3144838" y="1785938"/>
            <a:ext cx="1587" cy="1312862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AU" sz="2800">
              <a:latin typeface="Times" pitchFamily="18" charset="0"/>
              <a:ea typeface="MS PGothic" pitchFamily="34" charset="-128"/>
              <a:cs typeface="+mn-cs"/>
            </a:endParaRPr>
          </a:p>
        </p:txBody>
      </p:sp>
      <p:pic>
        <p:nvPicPr>
          <p:cNvPr id="6" name="Picture 13" descr="UOM-Rev3D_S_sm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6225" y="1752600"/>
            <a:ext cx="1347788" cy="136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3352800" y="1905000"/>
            <a:ext cx="5486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609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Hea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5011_PPT_BG_EndP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990600" y="3048000"/>
            <a:ext cx="7255328" cy="1828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1524000"/>
            <a:ext cx="7086600" cy="609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926" y="0"/>
            <a:ext cx="5757874" cy="85723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4422"/>
            <a:ext cx="4040188" cy="96045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14422"/>
            <a:ext cx="4041775" cy="96045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"/>
            <a:ext cx="2019300" cy="6019800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9055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1812925" y="107950"/>
            <a:ext cx="0" cy="86201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AU" sz="2800">
              <a:latin typeface="Times" pitchFamily="18" charset="0"/>
              <a:ea typeface="MS PGothic" pitchFamily="34" charset="-128"/>
              <a:cs typeface="+mn-cs"/>
            </a:endParaRPr>
          </a:p>
        </p:txBody>
      </p:sp>
      <p:pic>
        <p:nvPicPr>
          <p:cNvPr id="1027" name="Picture 9" descr="UOM-Rev3D_S_sm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33400" y="119063"/>
            <a:ext cx="860425" cy="87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003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AU" sz="2800">
              <a:latin typeface="Times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2743200" y="107950"/>
            <a:ext cx="1588" cy="51911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AU" sz="2800">
              <a:latin typeface="Times" pitchFamily="18" charset="0"/>
              <a:ea typeface="MS PGothic" pitchFamily="34" charset="-128"/>
              <a:cs typeface="+mn-cs"/>
            </a:endParaRPr>
          </a:p>
        </p:txBody>
      </p:sp>
      <p:pic>
        <p:nvPicPr>
          <p:cNvPr id="1030" name="Picture 13" descr="UOM-Rev3D_H_sm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52400" y="107950"/>
            <a:ext cx="236220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8" name="Line 14"/>
          <p:cNvSpPr>
            <a:spLocks noChangeShapeType="1"/>
          </p:cNvSpPr>
          <p:nvPr/>
        </p:nvSpPr>
        <p:spPr bwMode="auto">
          <a:xfrm>
            <a:off x="0" y="6400800"/>
            <a:ext cx="9144000" cy="0"/>
          </a:xfrm>
          <a:prstGeom prst="line">
            <a:avLst/>
          </a:prstGeom>
          <a:noFill/>
          <a:ln w="9525">
            <a:solidFill>
              <a:srgbClr val="003368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AU" sz="2800">
              <a:latin typeface="Times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838200"/>
            <a:ext cx="9144000" cy="76200"/>
          </a:xfrm>
          <a:prstGeom prst="rect">
            <a:avLst/>
          </a:prstGeom>
          <a:solidFill>
            <a:srgbClr val="759FB8"/>
          </a:solidFill>
          <a:ln w="9525">
            <a:noFill/>
            <a:miter lim="800000"/>
            <a:headEnd/>
            <a:tailEnd/>
          </a:ln>
          <a:effectLst>
            <a:outerShdw algn="ctr" rotWithShape="0">
              <a:srgbClr val="808080">
                <a:alpha val="45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en-AU" sz="2800">
              <a:latin typeface="Times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1033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2971800" y="76200"/>
            <a:ext cx="5791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2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6" r:id="rId3"/>
    <p:sldLayoutId id="2147483675" r:id="rId4"/>
    <p:sldLayoutId id="2147483674" r:id="rId5"/>
    <p:sldLayoutId id="2147483673" r:id="rId6"/>
    <p:sldLayoutId id="2147483672" r:id="rId7"/>
    <p:sldLayoutId id="2147483671" r:id="rId8"/>
    <p:sldLayoutId id="2147483670" r:id="rId9"/>
    <p:sldLayoutId id="2147483669" r:id="rId10"/>
    <p:sldLayoutId id="2147483668" r:id="rId11"/>
    <p:sldLayoutId id="2147483667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MS PGothic"/>
          <a:cs typeface="MS PGothic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MS PGothic"/>
          <a:cs typeface="MS PGothic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MS PGothic"/>
          <a:cs typeface="MS PGothic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MS PGothic"/>
          <a:cs typeface="MS PGothic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MS PGothic"/>
          <a:cs typeface="MS PGothic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ＭＳ Ｐゴシック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CCC Logo uni Blu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468314"/>
            <a:ext cx="2987824" cy="1389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971600" y="2204864"/>
            <a:ext cx="7255328" cy="1828800"/>
          </a:xfrm>
        </p:spPr>
        <p:txBody>
          <a:bodyPr/>
          <a:lstStyle/>
          <a:p>
            <a:r>
              <a:rPr lang="en-AU" dirty="0" smtClean="0"/>
              <a:t>The Carbon Farming Initiative and Agricultural Emissions</a:t>
            </a:r>
            <a:br>
              <a:rPr lang="en-AU" dirty="0" smtClean="0"/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>
          <a:xfrm>
            <a:off x="1115616" y="4293096"/>
            <a:ext cx="7086600" cy="1512168"/>
          </a:xfrm>
        </p:spPr>
        <p:txBody>
          <a:bodyPr/>
          <a:lstStyle/>
          <a:p>
            <a:pPr lvl="0"/>
            <a:r>
              <a:rPr lang="en-AU" sz="2000" dirty="0" smtClean="0"/>
              <a:t>This presentation was prepared by the University of Melbourne for the Regional Landcare Facilitator training funded through the Australian Government’s Carbon Farming Initiative Communications Program </a:t>
            </a:r>
          </a:p>
          <a:p>
            <a:endParaRPr lang="en-AU" sz="2000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188640"/>
            <a:ext cx="2416746" cy="185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13" descr="UOM-Rev3D_S_sm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445224"/>
            <a:ext cx="1347788" cy="136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7" name="Title 3"/>
          <p:cNvSpPr>
            <a:spLocks noGrp="1"/>
          </p:cNvSpPr>
          <p:nvPr>
            <p:ph type="ctrTitle" sz="quarter"/>
          </p:nvPr>
        </p:nvSpPr>
        <p:spPr>
          <a:xfrm>
            <a:off x="899592" y="3429000"/>
            <a:ext cx="7254875" cy="1828800"/>
          </a:xfrm>
        </p:spPr>
        <p:txBody>
          <a:bodyPr/>
          <a:lstStyle/>
          <a:p>
            <a:pPr eaLnBrk="1" hangingPunct="1"/>
            <a:r>
              <a:rPr lang="en-AU" sz="2000" dirty="0" smtClean="0"/>
              <a:t>This presentation explains the nitrogen cycle in agricultural production systems and the various pools of nitrogen</a:t>
            </a: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</p:txBody>
      </p:sp>
      <p:sp>
        <p:nvSpPr>
          <p:cNvPr id="761858" name="Subtitle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AU" dirty="0" smtClean="0"/>
              <a:t>PART 3: THE NITROGEN CYCLE </a:t>
            </a:r>
            <a:r>
              <a:rPr lang="en-AU" dirty="0" err="1" smtClean="0"/>
              <a:t>IN</a:t>
            </a:r>
            <a:r>
              <a:rPr lang="en-AU" dirty="0" smtClean="0"/>
              <a:t> AGRICULTURAL SYSTEMS</a:t>
            </a:r>
          </a:p>
          <a:p>
            <a:pPr eaLnBrk="1" hangingPunct="1"/>
            <a:endParaRPr lang="en-AU" dirty="0" smtClean="0"/>
          </a:p>
        </p:txBody>
      </p:sp>
      <p:pic>
        <p:nvPicPr>
          <p:cNvPr id="4" name="Picture 3" descr="PICCC Logo uni Blu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568790"/>
            <a:ext cx="2771800" cy="1289210"/>
          </a:xfrm>
          <a:prstGeom prst="rect">
            <a:avLst/>
          </a:prstGeom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5856" y="5229200"/>
            <a:ext cx="2344738" cy="1798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13" descr="UOM-Rev3D_S_sm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53364" y="5661248"/>
            <a:ext cx="1134775" cy="1150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The nitrogen cycle</a:t>
            </a:r>
          </a:p>
        </p:txBody>
      </p:sp>
      <p:sp>
        <p:nvSpPr>
          <p:cNvPr id="763906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/>
              <a:t>Content</a:t>
            </a:r>
          </a:p>
          <a:p>
            <a:pPr lvl="1" eaLnBrk="1" hangingPunct="1"/>
            <a:r>
              <a:rPr lang="en-AU" smtClean="0"/>
              <a:t>The nitrogen cycle in agricultural systems</a:t>
            </a:r>
            <a:endParaRPr lang="en-AU" sz="3600" smtClean="0"/>
          </a:p>
          <a:p>
            <a:pPr lvl="1" eaLnBrk="1" hangingPunct="1"/>
            <a:r>
              <a:rPr lang="en-AU" smtClean="0"/>
              <a:t>Fluxes between nitrogen pools</a:t>
            </a:r>
            <a:endParaRPr lang="en-AU" sz="3600" smtClean="0"/>
          </a:p>
          <a:p>
            <a:pPr lvl="1" eaLnBrk="1" hangingPunct="1"/>
            <a:r>
              <a:rPr lang="en-AU" smtClean="0"/>
              <a:t>Forms of nitrogen and their fate</a:t>
            </a:r>
            <a:endParaRPr lang="en-AU" sz="3600" smtClean="0"/>
          </a:p>
          <a:p>
            <a:pPr eaLnBrk="1" hangingPunct="1"/>
            <a:endParaRPr lang="en-A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929" name="Picture 2" descr="C:\Users\rjeckard\Pictures\Logos &amp; Images\NCycle Ful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908050"/>
            <a:ext cx="7321550" cy="568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49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The nitrogen cycle</a:t>
            </a:r>
          </a:p>
        </p:txBody>
      </p:sp>
      <p:sp>
        <p:nvSpPr>
          <p:cNvPr id="764931" name="TextBox 3"/>
          <p:cNvSpPr txBox="1">
            <a:spLocks noChangeArrowheads="1"/>
          </p:cNvSpPr>
          <p:nvPr/>
        </p:nvSpPr>
        <p:spPr bwMode="auto">
          <a:xfrm>
            <a:off x="7092950" y="6488113"/>
            <a:ext cx="20224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AU" sz="1600">
                <a:latin typeface="Times New Roman" pitchFamily="18" charset="0"/>
                <a:cs typeface="Times New Roman" pitchFamily="18" charset="0"/>
              </a:rPr>
              <a:t>Whitehead 1995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The nitrogen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dirty="0" smtClean="0"/>
              <a:t>Atmosphere</a:t>
            </a:r>
          </a:p>
          <a:p>
            <a:pPr lvl="1" eaLnBrk="1" hangingPunct="1"/>
            <a:r>
              <a:rPr lang="en-AU" dirty="0" smtClean="0"/>
              <a:t>N</a:t>
            </a:r>
            <a:r>
              <a:rPr lang="en-AU" baseline="-25000" dirty="0" smtClean="0"/>
              <a:t>2 </a:t>
            </a:r>
            <a:r>
              <a:rPr lang="en-AU" dirty="0" smtClean="0"/>
              <a:t>(nitrogen)</a:t>
            </a:r>
            <a:endParaRPr lang="en-AU" baseline="-25000" dirty="0" smtClean="0"/>
          </a:p>
          <a:p>
            <a:pPr lvl="2" eaLnBrk="1" hangingPunct="1"/>
            <a:r>
              <a:rPr lang="en-AU" dirty="0" smtClean="0"/>
              <a:t> 78% of the atmosphere</a:t>
            </a:r>
          </a:p>
          <a:p>
            <a:pPr lvl="3" eaLnBrk="1" hangingPunct="1"/>
            <a:r>
              <a:rPr lang="en-AU" dirty="0" smtClean="0"/>
              <a:t>O</a:t>
            </a:r>
            <a:r>
              <a:rPr lang="en-AU" baseline="-25000" dirty="0" smtClean="0"/>
              <a:t>2</a:t>
            </a:r>
            <a:r>
              <a:rPr lang="en-AU" dirty="0" smtClean="0"/>
              <a:t> = 21%, CO</a:t>
            </a:r>
            <a:r>
              <a:rPr lang="en-AU" baseline="-25000" dirty="0" smtClean="0"/>
              <a:t>2</a:t>
            </a:r>
            <a:r>
              <a:rPr lang="en-AU" dirty="0" smtClean="0"/>
              <a:t> = 0.04%</a:t>
            </a:r>
          </a:p>
          <a:p>
            <a:pPr lvl="2" eaLnBrk="1" hangingPunct="1"/>
            <a:r>
              <a:rPr lang="en-AU" dirty="0" smtClean="0"/>
              <a:t>Fixed by legumes into plants and soil</a:t>
            </a:r>
          </a:p>
          <a:p>
            <a:pPr lvl="1" eaLnBrk="1" hangingPunct="1"/>
            <a:r>
              <a:rPr lang="en-AU" dirty="0" smtClean="0"/>
              <a:t>N</a:t>
            </a:r>
            <a:r>
              <a:rPr lang="en-AU" baseline="-25000" dirty="0" smtClean="0"/>
              <a:t>2</a:t>
            </a:r>
            <a:r>
              <a:rPr lang="en-AU" dirty="0" smtClean="0"/>
              <a:t>O (nitrous oxide)</a:t>
            </a:r>
          </a:p>
          <a:p>
            <a:pPr lvl="2" eaLnBrk="1" hangingPunct="1"/>
            <a:r>
              <a:rPr lang="en-AU" dirty="0" smtClean="0"/>
              <a:t>0.32 </a:t>
            </a:r>
            <a:r>
              <a:rPr lang="en-AU" dirty="0" err="1" smtClean="0"/>
              <a:t>ppm</a:t>
            </a:r>
            <a:r>
              <a:rPr lang="en-AU" dirty="0" smtClean="0"/>
              <a:t> (0.00003%)</a:t>
            </a:r>
          </a:p>
        </p:txBody>
      </p:sp>
      <p:sp>
        <p:nvSpPr>
          <p:cNvPr id="765955" name="Rectangle 3"/>
          <p:cNvSpPr>
            <a:spLocks noChangeArrowheads="1"/>
          </p:cNvSpPr>
          <p:nvPr/>
        </p:nvSpPr>
        <p:spPr bwMode="auto">
          <a:xfrm>
            <a:off x="7866063" y="6475413"/>
            <a:ext cx="124301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AU" sz="1600">
                <a:latin typeface="Times New Roman" pitchFamily="18" charset="0"/>
                <a:cs typeface="Times New Roman" pitchFamily="18" charset="0"/>
              </a:rPr>
              <a:t>Eckard 2011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The nitrogen cycle</a:t>
            </a:r>
          </a:p>
        </p:txBody>
      </p:sp>
      <p:sp>
        <p:nvSpPr>
          <p:cNvPr id="7669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dirty="0" smtClean="0"/>
              <a:t>Main forms of soil &amp; plant N</a:t>
            </a:r>
          </a:p>
          <a:p>
            <a:pPr lvl="1" eaLnBrk="1" hangingPunct="1"/>
            <a:r>
              <a:rPr lang="en-AU" dirty="0" smtClean="0"/>
              <a:t>NH</a:t>
            </a:r>
            <a:r>
              <a:rPr lang="en-AU" baseline="-25000" dirty="0" smtClean="0"/>
              <a:t>3</a:t>
            </a:r>
            <a:r>
              <a:rPr lang="en-AU" dirty="0" smtClean="0"/>
              <a:t> – Ammonia</a:t>
            </a:r>
          </a:p>
          <a:p>
            <a:pPr lvl="2" eaLnBrk="1" hangingPunct="1"/>
            <a:r>
              <a:rPr lang="en-AU" dirty="0" smtClean="0"/>
              <a:t>Organic matter</a:t>
            </a:r>
          </a:p>
          <a:p>
            <a:pPr lvl="2" eaLnBrk="1" hangingPunct="1"/>
            <a:r>
              <a:rPr lang="en-AU" dirty="0" smtClean="0"/>
              <a:t>Fertilisers</a:t>
            </a:r>
          </a:p>
          <a:p>
            <a:pPr lvl="3" eaLnBrk="1" hangingPunct="1"/>
            <a:r>
              <a:rPr lang="en-AU" dirty="0" smtClean="0"/>
              <a:t>Urea, DAP, UAN etc.</a:t>
            </a:r>
          </a:p>
          <a:p>
            <a:pPr lvl="2" eaLnBrk="1" hangingPunct="1"/>
            <a:r>
              <a:rPr lang="en-AU" dirty="0" smtClean="0"/>
              <a:t>Major source of plant N</a:t>
            </a:r>
          </a:p>
        </p:txBody>
      </p:sp>
      <p:pic>
        <p:nvPicPr>
          <p:cNvPr id="7669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125" y="2492375"/>
            <a:ext cx="23622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6980" name="Rectangle 4"/>
          <p:cNvSpPr>
            <a:spLocks noChangeArrowheads="1"/>
          </p:cNvSpPr>
          <p:nvPr/>
        </p:nvSpPr>
        <p:spPr bwMode="auto">
          <a:xfrm>
            <a:off x="7866063" y="6475413"/>
            <a:ext cx="124301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AU" sz="1600">
                <a:latin typeface="Times New Roman" pitchFamily="18" charset="0"/>
                <a:cs typeface="Times New Roman" pitchFamily="18" charset="0"/>
              </a:rPr>
              <a:t>Eckard 2011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6376" y="2708920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 smtClean="0"/>
              <a:t>oxygen</a:t>
            </a:r>
            <a:endParaRPr lang="en-NZ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7812360" y="3573016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000" dirty="0" smtClean="0"/>
              <a:t>amide ion</a:t>
            </a:r>
            <a:endParaRPr lang="en-NZ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6876256" y="3573016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000" dirty="0" smtClean="0"/>
              <a:t>amide ion</a:t>
            </a:r>
            <a:endParaRPr lang="en-NZ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1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The nitrogen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dirty="0" smtClean="0"/>
              <a:t>Main forms of soil &amp; plant N</a:t>
            </a:r>
          </a:p>
          <a:p>
            <a:pPr lvl="1" eaLnBrk="1" hangingPunct="1"/>
            <a:r>
              <a:rPr lang="en-AU" dirty="0" smtClean="0"/>
              <a:t>NH</a:t>
            </a:r>
            <a:r>
              <a:rPr lang="en-AU" baseline="-25000" dirty="0" smtClean="0"/>
              <a:t>4</a:t>
            </a:r>
            <a:r>
              <a:rPr lang="en-AU" baseline="30000" dirty="0" smtClean="0"/>
              <a:t>+</a:t>
            </a:r>
            <a:r>
              <a:rPr lang="en-AU" dirty="0" smtClean="0"/>
              <a:t> – Ammonium</a:t>
            </a:r>
          </a:p>
          <a:p>
            <a:pPr lvl="2" eaLnBrk="1" hangingPunct="1"/>
            <a:r>
              <a:rPr lang="en-AU" dirty="0" smtClean="0"/>
              <a:t>Soil solution</a:t>
            </a:r>
          </a:p>
          <a:p>
            <a:pPr lvl="2" eaLnBrk="1" hangingPunct="1"/>
            <a:r>
              <a:rPr lang="en-AU" dirty="0" smtClean="0"/>
              <a:t>Loosely bound on </a:t>
            </a:r>
            <a:r>
              <a:rPr lang="en-AU" dirty="0" err="1" smtClean="0"/>
              <a:t>cation</a:t>
            </a:r>
            <a:r>
              <a:rPr lang="en-AU" dirty="0" smtClean="0"/>
              <a:t> exchange</a:t>
            </a:r>
          </a:p>
          <a:p>
            <a:pPr lvl="3" eaLnBrk="1" hangingPunct="1"/>
            <a:r>
              <a:rPr lang="en-AU" dirty="0" smtClean="0"/>
              <a:t>Positive charge attached to clay</a:t>
            </a:r>
          </a:p>
          <a:p>
            <a:pPr lvl="4" eaLnBrk="1" hangingPunct="1"/>
            <a:r>
              <a:rPr lang="en-AU" dirty="0" smtClean="0"/>
              <a:t>Exchangeable </a:t>
            </a:r>
          </a:p>
          <a:p>
            <a:pPr lvl="4" eaLnBrk="1" hangingPunct="1"/>
            <a:r>
              <a:rPr lang="en-AU" dirty="0" smtClean="0"/>
              <a:t>Clay-fixed (non-exchangeable)</a:t>
            </a:r>
          </a:p>
          <a:p>
            <a:pPr lvl="4" eaLnBrk="1" hangingPunct="1"/>
            <a:r>
              <a:rPr lang="en-AU" dirty="0" smtClean="0"/>
              <a:t>Does not readily leach</a:t>
            </a:r>
          </a:p>
          <a:p>
            <a:pPr lvl="2" eaLnBrk="1" hangingPunct="1"/>
            <a:r>
              <a:rPr lang="en-AU" dirty="0" smtClean="0"/>
              <a:t>Major source of plant N (nitrogen)</a:t>
            </a:r>
          </a:p>
          <a:p>
            <a:pPr lvl="3" eaLnBrk="1" hangingPunct="1"/>
            <a:r>
              <a:rPr lang="en-AU" dirty="0" smtClean="0"/>
              <a:t>Preferential uptake in colder, wetter soils</a:t>
            </a:r>
          </a:p>
          <a:p>
            <a:pPr lvl="2" eaLnBrk="1" hangingPunct="1"/>
            <a:r>
              <a:rPr lang="en-AU" dirty="0" smtClean="0"/>
              <a:t>Rapidly converts to NO</a:t>
            </a:r>
            <a:r>
              <a:rPr lang="en-AU" baseline="-25000" dirty="0" smtClean="0"/>
              <a:t>3</a:t>
            </a:r>
            <a:r>
              <a:rPr lang="en-AU" baseline="30000" dirty="0" smtClean="0"/>
              <a:t>- </a:t>
            </a:r>
            <a:r>
              <a:rPr lang="en-AU" dirty="0" smtClean="0"/>
              <a:t>(nitrate ion)</a:t>
            </a:r>
            <a:endParaRPr lang="en-AU" baseline="30000" dirty="0" smtClean="0"/>
          </a:p>
          <a:p>
            <a:pPr lvl="3" eaLnBrk="1" hangingPunct="1"/>
            <a:r>
              <a:rPr lang="en-AU" dirty="0" smtClean="0"/>
              <a:t>In warm, well-drained soils</a:t>
            </a:r>
          </a:p>
          <a:p>
            <a:pPr lvl="3" eaLnBrk="1" hangingPunct="1"/>
            <a:endParaRPr lang="en-AU" dirty="0" smtClean="0"/>
          </a:p>
        </p:txBody>
      </p:sp>
      <p:sp>
        <p:nvSpPr>
          <p:cNvPr id="768003" name="Rectangle 3"/>
          <p:cNvSpPr>
            <a:spLocks noChangeArrowheads="1"/>
          </p:cNvSpPr>
          <p:nvPr/>
        </p:nvSpPr>
        <p:spPr bwMode="auto">
          <a:xfrm>
            <a:off x="7866063" y="6475413"/>
            <a:ext cx="124301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AU" sz="1600">
                <a:latin typeface="Times New Roman" pitchFamily="18" charset="0"/>
                <a:cs typeface="Times New Roman" pitchFamily="18" charset="0"/>
              </a:rPr>
              <a:t>Eckard 2011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The nitrogen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989888" cy="4876800"/>
          </a:xfrm>
        </p:spPr>
        <p:txBody>
          <a:bodyPr/>
          <a:lstStyle/>
          <a:p>
            <a:pPr eaLnBrk="1" hangingPunct="1"/>
            <a:r>
              <a:rPr lang="en-AU" dirty="0" smtClean="0"/>
              <a:t>Main forms of soil &amp; plant N</a:t>
            </a:r>
          </a:p>
          <a:p>
            <a:pPr lvl="1" eaLnBrk="1" hangingPunct="1"/>
            <a:r>
              <a:rPr lang="en-AU" dirty="0" smtClean="0"/>
              <a:t>NO</a:t>
            </a:r>
            <a:r>
              <a:rPr lang="en-AU" baseline="-25000" dirty="0" smtClean="0"/>
              <a:t>3 </a:t>
            </a:r>
            <a:r>
              <a:rPr lang="en-AU" dirty="0" smtClean="0"/>
              <a:t>(nitrate ion)</a:t>
            </a:r>
            <a:endParaRPr lang="en-AU" baseline="-25000" dirty="0" smtClean="0"/>
          </a:p>
          <a:p>
            <a:pPr lvl="2" eaLnBrk="1" hangingPunct="1"/>
            <a:r>
              <a:rPr lang="en-AU" dirty="0" smtClean="0"/>
              <a:t>Major source of plant nutrition</a:t>
            </a:r>
          </a:p>
          <a:p>
            <a:pPr lvl="3" eaLnBrk="1" hangingPunct="1"/>
            <a:r>
              <a:rPr lang="en-AU" dirty="0" smtClean="0"/>
              <a:t>Drier soils</a:t>
            </a:r>
          </a:p>
          <a:p>
            <a:pPr lvl="2" eaLnBrk="1" hangingPunct="1"/>
            <a:r>
              <a:rPr lang="en-AU" dirty="0" smtClean="0"/>
              <a:t>Accumulates in some plants</a:t>
            </a:r>
          </a:p>
          <a:p>
            <a:pPr lvl="3" eaLnBrk="1" hangingPunct="1"/>
            <a:r>
              <a:rPr lang="en-AU" dirty="0" smtClean="0"/>
              <a:t>e.g. </a:t>
            </a:r>
            <a:r>
              <a:rPr lang="en-AU" dirty="0" err="1" smtClean="0"/>
              <a:t>Brassicas</a:t>
            </a:r>
            <a:r>
              <a:rPr lang="en-AU" dirty="0" smtClean="0"/>
              <a:t>, annual ryegrass, kikuyu, cereal grains</a:t>
            </a:r>
          </a:p>
          <a:p>
            <a:pPr lvl="3" eaLnBrk="1" hangingPunct="1"/>
            <a:r>
              <a:rPr lang="en-AU" dirty="0" smtClean="0"/>
              <a:t>Breaks down to NO</a:t>
            </a:r>
            <a:r>
              <a:rPr lang="en-AU" baseline="-25000" dirty="0" smtClean="0"/>
              <a:t>2</a:t>
            </a:r>
            <a:r>
              <a:rPr lang="en-AU" dirty="0" smtClean="0"/>
              <a:t> in rumen – toxicity</a:t>
            </a:r>
          </a:p>
          <a:p>
            <a:pPr lvl="2" eaLnBrk="1" hangingPunct="1"/>
            <a:r>
              <a:rPr lang="en-AU" dirty="0" smtClean="0"/>
              <a:t>Soluble in water – leaches</a:t>
            </a:r>
          </a:p>
          <a:p>
            <a:pPr lvl="1" eaLnBrk="1" hangingPunct="1"/>
            <a:r>
              <a:rPr lang="en-AU" dirty="0" smtClean="0"/>
              <a:t>NO</a:t>
            </a:r>
            <a:r>
              <a:rPr lang="en-AU" baseline="-25000" dirty="0" smtClean="0"/>
              <a:t>2</a:t>
            </a:r>
            <a:r>
              <a:rPr lang="en-AU" dirty="0" smtClean="0"/>
              <a:t> (nitrite ion)</a:t>
            </a:r>
          </a:p>
          <a:p>
            <a:pPr lvl="2" eaLnBrk="1" hangingPunct="1"/>
            <a:r>
              <a:rPr lang="en-AU" dirty="0" smtClean="0"/>
              <a:t>Transient in plants and soils</a:t>
            </a:r>
          </a:p>
          <a:p>
            <a:pPr lvl="2" eaLnBrk="1" hangingPunct="1"/>
            <a:r>
              <a:rPr lang="en-AU" dirty="0" smtClean="0"/>
              <a:t>Main form of toxicity in ruminants</a:t>
            </a:r>
          </a:p>
          <a:p>
            <a:pPr lvl="1" eaLnBrk="1" hangingPunct="1">
              <a:buFontTx/>
              <a:buNone/>
            </a:pPr>
            <a:endParaRPr lang="en-AU" dirty="0" smtClean="0"/>
          </a:p>
        </p:txBody>
      </p:sp>
      <p:sp>
        <p:nvSpPr>
          <p:cNvPr id="769027" name="Rectangle 3"/>
          <p:cNvSpPr>
            <a:spLocks noChangeArrowheads="1"/>
          </p:cNvSpPr>
          <p:nvPr/>
        </p:nvSpPr>
        <p:spPr bwMode="auto">
          <a:xfrm>
            <a:off x="7866063" y="6475413"/>
            <a:ext cx="124301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AU" sz="1600">
                <a:latin typeface="Times New Roman" pitchFamily="18" charset="0"/>
                <a:cs typeface="Times New Roman" pitchFamily="18" charset="0"/>
              </a:rPr>
              <a:t>Eckard 2011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The nitrogen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/>
              <a:t>Main forms of soil &amp; plant N</a:t>
            </a:r>
          </a:p>
          <a:p>
            <a:pPr lvl="1" eaLnBrk="1" hangingPunct="1"/>
            <a:r>
              <a:rPr lang="en-AU" smtClean="0"/>
              <a:t>Soil organic matter N</a:t>
            </a:r>
          </a:p>
          <a:p>
            <a:pPr lvl="2" eaLnBrk="1" hangingPunct="1"/>
            <a:r>
              <a:rPr lang="en-AU" smtClean="0"/>
              <a:t>Decomposed residues</a:t>
            </a:r>
          </a:p>
          <a:p>
            <a:pPr lvl="3" eaLnBrk="1" hangingPunct="1"/>
            <a:r>
              <a:rPr lang="en-AU" smtClean="0"/>
              <a:t>Amides, proteins etc</a:t>
            </a:r>
          </a:p>
          <a:p>
            <a:pPr lvl="2" eaLnBrk="1" hangingPunct="1"/>
            <a:r>
              <a:rPr lang="en-AU" smtClean="0"/>
              <a:t>Microorganisms (microbial biomass)</a:t>
            </a:r>
          </a:p>
          <a:p>
            <a:pPr lvl="2" eaLnBrk="1" hangingPunct="1"/>
            <a:r>
              <a:rPr lang="en-AU" smtClean="0"/>
              <a:t>C: N ratio</a:t>
            </a:r>
          </a:p>
          <a:p>
            <a:pPr lvl="3" eaLnBrk="1" hangingPunct="1"/>
            <a:r>
              <a:rPr lang="en-AU" smtClean="0"/>
              <a:t>Usually 10:1 to 40:1</a:t>
            </a:r>
          </a:p>
          <a:p>
            <a:pPr lvl="2" eaLnBrk="1" hangingPunct="1"/>
            <a:r>
              <a:rPr lang="en-AU" smtClean="0"/>
              <a:t>Major source of plant N</a:t>
            </a:r>
          </a:p>
          <a:p>
            <a:pPr lvl="3" eaLnBrk="1" hangingPunct="1"/>
            <a:r>
              <a:rPr lang="en-AU" smtClean="0"/>
              <a:t>Through mineralisation </a:t>
            </a:r>
          </a:p>
        </p:txBody>
      </p:sp>
      <p:sp>
        <p:nvSpPr>
          <p:cNvPr id="770051" name="Rectangle 3"/>
          <p:cNvSpPr>
            <a:spLocks noChangeArrowheads="1"/>
          </p:cNvSpPr>
          <p:nvPr/>
        </p:nvSpPr>
        <p:spPr bwMode="auto">
          <a:xfrm>
            <a:off x="7866063" y="6475413"/>
            <a:ext cx="124301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AU" sz="1600">
                <a:latin typeface="Times New Roman" pitchFamily="18" charset="0"/>
                <a:cs typeface="Times New Roman" pitchFamily="18" charset="0"/>
              </a:rPr>
              <a:t>Eckard 2011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The nitrogen cycle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sz="2000" dirty="0" smtClean="0"/>
              <a:t>Mineralisation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1800" dirty="0" smtClean="0"/>
              <a:t>Microbial breakdown of soil organic matter to ammonium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1800" dirty="0" smtClean="0"/>
              <a:t>The main mechanism for supplying N to plants</a:t>
            </a:r>
          </a:p>
          <a:p>
            <a:pPr eaLnBrk="1" hangingPunct="1">
              <a:lnSpc>
                <a:spcPct val="80000"/>
              </a:lnSpc>
            </a:pPr>
            <a:r>
              <a:rPr lang="en-AU" sz="2000" dirty="0" smtClean="0"/>
              <a:t>Nitrification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1800" dirty="0" smtClean="0"/>
              <a:t>Microbial conversion of ammonium to nitrate</a:t>
            </a:r>
          </a:p>
          <a:p>
            <a:pPr lvl="2" eaLnBrk="1" hangingPunct="1">
              <a:lnSpc>
                <a:spcPct val="80000"/>
              </a:lnSpc>
            </a:pPr>
            <a:r>
              <a:rPr lang="en-AU" sz="1600" dirty="0" smtClean="0"/>
              <a:t>Ammonia sources</a:t>
            </a:r>
          </a:p>
          <a:p>
            <a:pPr lvl="3" eaLnBrk="1" hangingPunct="1">
              <a:lnSpc>
                <a:spcPct val="80000"/>
              </a:lnSpc>
            </a:pPr>
            <a:r>
              <a:rPr lang="en-AU" sz="1400" dirty="0" smtClean="0"/>
              <a:t>Urine, decaying organic matter, fertiliser</a:t>
            </a:r>
          </a:p>
          <a:p>
            <a:pPr lvl="2" eaLnBrk="1" hangingPunct="1">
              <a:lnSpc>
                <a:spcPct val="80000"/>
              </a:lnSpc>
            </a:pPr>
            <a:r>
              <a:rPr lang="en-AU" sz="1600" dirty="0" smtClean="0"/>
              <a:t>Warm, moist (not waterlogged) soils</a:t>
            </a:r>
          </a:p>
          <a:p>
            <a:pPr eaLnBrk="1" hangingPunct="1">
              <a:lnSpc>
                <a:spcPct val="80000"/>
              </a:lnSpc>
            </a:pPr>
            <a:r>
              <a:rPr lang="en-AU" sz="2000" dirty="0" err="1" smtClean="0"/>
              <a:t>Denitrification</a:t>
            </a:r>
            <a:endParaRPr lang="en-AU" sz="2000" dirty="0" smtClean="0"/>
          </a:p>
          <a:p>
            <a:pPr lvl="1" eaLnBrk="1" hangingPunct="1">
              <a:lnSpc>
                <a:spcPct val="80000"/>
              </a:lnSpc>
            </a:pPr>
            <a:r>
              <a:rPr lang="en-AU" sz="1800" dirty="0" smtClean="0"/>
              <a:t>Microbial conversion of nitrate to N</a:t>
            </a:r>
            <a:r>
              <a:rPr lang="en-AU" sz="1800" baseline="-25000" dirty="0" smtClean="0"/>
              <a:t>2</a:t>
            </a:r>
            <a:r>
              <a:rPr lang="en-AU" sz="1800" dirty="0" smtClean="0"/>
              <a:t> and N</a:t>
            </a:r>
            <a:r>
              <a:rPr lang="en-AU" sz="1800" baseline="-25000" dirty="0" smtClean="0"/>
              <a:t>2</a:t>
            </a:r>
            <a:r>
              <a:rPr lang="en-AU" sz="1800" dirty="0" smtClean="0"/>
              <a:t>O gasses</a:t>
            </a:r>
          </a:p>
          <a:p>
            <a:pPr lvl="2" eaLnBrk="1" hangingPunct="1">
              <a:lnSpc>
                <a:spcPct val="80000"/>
              </a:lnSpc>
            </a:pPr>
            <a:r>
              <a:rPr lang="en-AU" sz="1600" dirty="0" smtClean="0"/>
              <a:t>Warm, waterlogged soils</a:t>
            </a:r>
          </a:p>
          <a:p>
            <a:pPr lvl="2" eaLnBrk="1" hangingPunct="1">
              <a:lnSpc>
                <a:spcPct val="80000"/>
              </a:lnSpc>
            </a:pPr>
            <a:r>
              <a:rPr lang="en-AU" sz="1600" dirty="0" smtClean="0"/>
              <a:t>N</a:t>
            </a:r>
            <a:r>
              <a:rPr lang="en-AU" sz="1600" baseline="-25000" dirty="0" smtClean="0"/>
              <a:t>2</a:t>
            </a:r>
            <a:r>
              <a:rPr lang="en-AU" sz="1600" dirty="0" smtClean="0"/>
              <a:t>O is a powerful greenhouse gas</a:t>
            </a:r>
          </a:p>
          <a:p>
            <a:pPr eaLnBrk="1" hangingPunct="1">
              <a:lnSpc>
                <a:spcPct val="80000"/>
              </a:lnSpc>
            </a:pPr>
            <a:r>
              <a:rPr lang="en-AU" sz="2000" dirty="0" smtClean="0"/>
              <a:t>Immobilisation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1800" dirty="0" smtClean="0"/>
              <a:t>Microbial assimilation of soil nitrogen into OM</a:t>
            </a:r>
          </a:p>
        </p:txBody>
      </p:sp>
      <p:sp>
        <p:nvSpPr>
          <p:cNvPr id="771075" name="Rectangle 5"/>
          <p:cNvSpPr>
            <a:spLocks noChangeArrowheads="1"/>
          </p:cNvSpPr>
          <p:nvPr/>
        </p:nvSpPr>
        <p:spPr bwMode="auto">
          <a:xfrm>
            <a:off x="7667650" y="1700213"/>
            <a:ext cx="5222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Tahoma" pitchFamily="34" charset="0"/>
                <a:cs typeface="Arial" charset="0"/>
              </a:rPr>
              <a:t>OM</a:t>
            </a:r>
            <a:endParaRPr lang="en-AU" sz="1800" b="1" baseline="-25000" dirty="0">
              <a:latin typeface="Tahoma" pitchFamily="34" charset="0"/>
              <a:cs typeface="Arial" charset="0"/>
            </a:endParaRPr>
          </a:p>
        </p:txBody>
      </p:sp>
      <p:sp>
        <p:nvSpPr>
          <p:cNvPr id="771076" name="Rectangle 7"/>
          <p:cNvSpPr>
            <a:spLocks noChangeArrowheads="1"/>
          </p:cNvSpPr>
          <p:nvPr/>
        </p:nvSpPr>
        <p:spPr bwMode="auto">
          <a:xfrm>
            <a:off x="7615262" y="2347913"/>
            <a:ext cx="728663" cy="3968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latin typeface="Times"/>
              </a:rPr>
              <a:t>NH</a:t>
            </a:r>
            <a:r>
              <a:rPr lang="en-US" sz="2800" b="1" baseline="-25000" dirty="0">
                <a:latin typeface="Times"/>
              </a:rPr>
              <a:t>4</a:t>
            </a:r>
            <a:r>
              <a:rPr lang="en-US" sz="2800" b="1" baseline="30000" dirty="0">
                <a:latin typeface="Times"/>
              </a:rPr>
              <a:t>+</a:t>
            </a:r>
            <a:endParaRPr lang="en-AU" sz="2800" b="1" baseline="30000" dirty="0">
              <a:latin typeface="Times"/>
            </a:endParaRPr>
          </a:p>
        </p:txBody>
      </p:sp>
      <p:sp>
        <p:nvSpPr>
          <p:cNvPr id="771077" name="Line 8"/>
          <p:cNvSpPr>
            <a:spLocks noChangeShapeType="1"/>
          </p:cNvSpPr>
          <p:nvPr/>
        </p:nvSpPr>
        <p:spPr bwMode="auto">
          <a:xfrm>
            <a:off x="7935937" y="2060575"/>
            <a:ext cx="0" cy="28892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7615262" y="2708275"/>
            <a:ext cx="690563" cy="1117600"/>
            <a:chOff x="4888" y="1706"/>
            <a:chExt cx="435" cy="704"/>
          </a:xfrm>
        </p:grpSpPr>
        <p:sp>
          <p:nvSpPr>
            <p:cNvPr id="771086" name="Rectangle 6"/>
            <p:cNvSpPr>
              <a:spLocks noChangeArrowheads="1"/>
            </p:cNvSpPr>
            <p:nvPr/>
          </p:nvSpPr>
          <p:spPr bwMode="auto">
            <a:xfrm>
              <a:off x="4888" y="2160"/>
              <a:ext cx="435" cy="25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latin typeface="Times"/>
                </a:rPr>
                <a:t>NO</a:t>
              </a:r>
              <a:r>
                <a:rPr lang="en-US" sz="2800" b="1" baseline="-25000">
                  <a:latin typeface="Times"/>
                </a:rPr>
                <a:t>3</a:t>
              </a:r>
              <a:r>
                <a:rPr lang="en-US" sz="2800" b="1" baseline="30000">
                  <a:latin typeface="Times"/>
                </a:rPr>
                <a:t>-</a:t>
              </a:r>
              <a:endParaRPr lang="en-AU" sz="2800" b="1" baseline="30000">
                <a:latin typeface="Times"/>
              </a:endParaRPr>
            </a:p>
          </p:txBody>
        </p:sp>
        <p:sp>
          <p:nvSpPr>
            <p:cNvPr id="771087" name="Line 9"/>
            <p:cNvSpPr>
              <a:spLocks noChangeShapeType="1"/>
            </p:cNvSpPr>
            <p:nvPr/>
          </p:nvSpPr>
          <p:spPr bwMode="auto">
            <a:xfrm>
              <a:off x="5103" y="1706"/>
              <a:ext cx="0" cy="45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7380312" y="3789363"/>
            <a:ext cx="1282700" cy="863600"/>
            <a:chOff x="4740" y="2387"/>
            <a:chExt cx="808" cy="544"/>
          </a:xfrm>
        </p:grpSpPr>
        <p:sp>
          <p:nvSpPr>
            <p:cNvPr id="771082" name="Rectangle 10"/>
            <p:cNvSpPr>
              <a:spLocks noChangeArrowheads="1"/>
            </p:cNvSpPr>
            <p:nvPr/>
          </p:nvSpPr>
          <p:spPr bwMode="auto">
            <a:xfrm>
              <a:off x="4740" y="2681"/>
              <a:ext cx="284" cy="25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latin typeface="Times"/>
                </a:rPr>
                <a:t>N</a:t>
              </a:r>
              <a:r>
                <a:rPr lang="en-US" sz="2800" b="1" baseline="-25000">
                  <a:latin typeface="Times"/>
                </a:rPr>
                <a:t>2</a:t>
              </a:r>
              <a:endParaRPr lang="en-AU" sz="2800" b="1" baseline="30000">
                <a:latin typeface="Times"/>
              </a:endParaRPr>
            </a:p>
          </p:txBody>
        </p:sp>
        <p:sp>
          <p:nvSpPr>
            <p:cNvPr id="771083" name="Rectangle 11"/>
            <p:cNvSpPr>
              <a:spLocks noChangeArrowheads="1"/>
            </p:cNvSpPr>
            <p:nvPr/>
          </p:nvSpPr>
          <p:spPr bwMode="auto">
            <a:xfrm>
              <a:off x="5148" y="2680"/>
              <a:ext cx="400" cy="25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latin typeface="Times"/>
                </a:rPr>
                <a:t>N</a:t>
              </a:r>
              <a:r>
                <a:rPr lang="en-US" sz="2800" baseline="-25000">
                  <a:latin typeface="Times"/>
                </a:rPr>
                <a:t>2</a:t>
              </a:r>
              <a:r>
                <a:rPr lang="en-US" sz="2800">
                  <a:latin typeface="Times"/>
                </a:rPr>
                <a:t>O</a:t>
              </a:r>
              <a:endParaRPr lang="en-AU" sz="2800" b="1" baseline="30000">
                <a:latin typeface="Times"/>
              </a:endParaRPr>
            </a:p>
          </p:txBody>
        </p:sp>
        <p:sp>
          <p:nvSpPr>
            <p:cNvPr id="771084" name="Line 12"/>
            <p:cNvSpPr>
              <a:spLocks noChangeShapeType="1"/>
            </p:cNvSpPr>
            <p:nvPr/>
          </p:nvSpPr>
          <p:spPr bwMode="auto">
            <a:xfrm flipH="1">
              <a:off x="4876" y="2387"/>
              <a:ext cx="91" cy="31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771085" name="Line 13"/>
            <p:cNvSpPr>
              <a:spLocks noChangeShapeType="1"/>
            </p:cNvSpPr>
            <p:nvPr/>
          </p:nvSpPr>
          <p:spPr bwMode="auto">
            <a:xfrm>
              <a:off x="5148" y="2387"/>
              <a:ext cx="136" cy="2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405518" name="Line 14"/>
          <p:cNvSpPr>
            <a:spLocks noChangeShapeType="1"/>
          </p:cNvSpPr>
          <p:nvPr/>
        </p:nvSpPr>
        <p:spPr bwMode="auto">
          <a:xfrm flipV="1">
            <a:off x="7451725" y="1989138"/>
            <a:ext cx="0" cy="172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71081" name="Rectangle 15"/>
          <p:cNvSpPr>
            <a:spLocks noChangeArrowheads="1"/>
          </p:cNvSpPr>
          <p:nvPr/>
        </p:nvSpPr>
        <p:spPr bwMode="auto">
          <a:xfrm>
            <a:off x="7866063" y="6475413"/>
            <a:ext cx="124301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AU" sz="1600">
                <a:latin typeface="Times New Roman" pitchFamily="18" charset="0"/>
                <a:cs typeface="Times New Roman" pitchFamily="18" charset="0"/>
              </a:rPr>
              <a:t>Eckard 2011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6416" y="1700808"/>
            <a:ext cx="827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 smtClean="0"/>
              <a:t>organic matter</a:t>
            </a:r>
            <a:endParaRPr lang="en-NZ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8316416" y="2524834"/>
            <a:ext cx="827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 smtClean="0"/>
              <a:t>ammonium ion</a:t>
            </a:r>
            <a:endParaRPr lang="en-NZ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7992888" y="4797152"/>
            <a:ext cx="899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 smtClean="0"/>
              <a:t>nitrous oxide</a:t>
            </a:r>
            <a:endParaRPr lang="en-NZ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7344816" y="4797152"/>
            <a:ext cx="8275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 smtClean="0"/>
              <a:t>nitrogen</a:t>
            </a:r>
            <a:endParaRPr lang="en-NZ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8316416" y="3686835"/>
            <a:ext cx="8275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 smtClean="0"/>
              <a:t>nitrate ion</a:t>
            </a:r>
            <a:endParaRPr lang="en-NZ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build="p"/>
      <p:bldP spid="4055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The nitrogen cycle</a:t>
            </a:r>
          </a:p>
        </p:txBody>
      </p:sp>
      <p:sp>
        <p:nvSpPr>
          <p:cNvPr id="7720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/>
              <a:t>Nitrogen balances in Agricultural systems </a:t>
            </a:r>
          </a:p>
          <a:p>
            <a:pPr lvl="1" eaLnBrk="1" hangingPunct="1"/>
            <a:r>
              <a:rPr lang="en-AU" smtClean="0"/>
              <a:t>Biological efficiency</a:t>
            </a:r>
          </a:p>
          <a:p>
            <a:pPr lvl="2" eaLnBrk="1" hangingPunct="1"/>
            <a:r>
              <a:rPr lang="en-AU" smtClean="0"/>
              <a:t>Less than 50%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87900" y="1989138"/>
          <a:ext cx="3870673" cy="4034790"/>
        </p:xfrm>
        <a:graphic>
          <a:graphicData uri="http://schemas.openxmlformats.org/drawingml/2006/table">
            <a:tbl>
              <a:tblPr/>
              <a:tblGrid>
                <a:gridCol w="2213663"/>
                <a:gridCol w="828505"/>
                <a:gridCol w="828505"/>
              </a:tblGrid>
              <a:tr h="600075">
                <a:tc>
                  <a:txBody>
                    <a:bodyPr/>
                    <a:lstStyle/>
                    <a:p>
                      <a:pPr algn="l" rtl="0" fontAlgn="t"/>
                      <a:r>
                        <a:rPr lang="en-AU" sz="1800" b="1" i="0" u="none" strike="noStrike" dirty="0" smtClean="0">
                          <a:solidFill>
                            <a:srgbClr val="FFFFFF"/>
                          </a:solidFill>
                          <a:latin typeface="Arial"/>
                        </a:rPr>
                        <a:t>N Inputs </a:t>
                      </a:r>
                      <a:endParaRPr lang="en-AU" sz="18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AU" sz="18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Dairy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AU" sz="18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Grains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rtl="0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N fertiliser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AU" sz="18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90</a:t>
                      </a:r>
                      <a:endParaRPr lang="en-AU" sz="18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N</a:t>
                      </a:r>
                      <a:r>
                        <a:rPr lang="en-AU" sz="1800" b="0" i="0" u="none" strike="noStrike" kern="1200" baseline="-250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2</a:t>
                      </a:r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fixation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Atmosphere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Feed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Total Input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283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AU" sz="18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98</a:t>
                      </a:r>
                      <a:endParaRPr lang="en-AU" sz="18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N output in product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8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8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Milk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8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Meat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8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Grain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Total Outputs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N Surplus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195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58</a:t>
                      </a:r>
                      <a:endParaRPr lang="en-AU" sz="18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Efficiency (%)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41</a:t>
                      </a:r>
                      <a:endParaRPr lang="en-AU" sz="18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72152" name="Rectangle 4"/>
          <p:cNvSpPr>
            <a:spLocks noChangeArrowheads="1"/>
          </p:cNvSpPr>
          <p:nvPr/>
        </p:nvSpPr>
        <p:spPr bwMode="auto">
          <a:xfrm>
            <a:off x="7380288" y="6475413"/>
            <a:ext cx="17287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AU" sz="1600">
                <a:latin typeface="Times New Roman" pitchFamily="18" charset="0"/>
                <a:cs typeface="Times New Roman" pitchFamily="18" charset="0"/>
              </a:rPr>
              <a:t>Eckard </a:t>
            </a:r>
            <a:r>
              <a:rPr lang="en-AU" sz="1600" i="1">
                <a:latin typeface="Times New Roman" pitchFamily="18" charset="0"/>
                <a:cs typeface="Times New Roman" pitchFamily="18" charset="0"/>
              </a:rPr>
              <a:t>et al </a:t>
            </a:r>
            <a:r>
              <a:rPr lang="en-AU" sz="1600">
                <a:latin typeface="Times New Roman" pitchFamily="18" charset="0"/>
                <a:cs typeface="Times New Roman" pitchFamily="18" charset="0"/>
              </a:rPr>
              <a:t>2007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UOM-Rev3D_S_s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96212" y="5491162"/>
            <a:ext cx="1347788" cy="136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PICCC Logo uni Blu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501806"/>
            <a:ext cx="2915816" cy="1356193"/>
          </a:xfrm>
          <a:prstGeom prst="rect">
            <a:avLst/>
          </a:prstGeom>
        </p:spPr>
      </p:pic>
      <p:pic>
        <p:nvPicPr>
          <p:cNvPr id="9256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3888" y="5086184"/>
            <a:ext cx="2309689" cy="1771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6|28.7|26.6|8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6|48.3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19687</TotalTime>
  <Words>492</Words>
  <Application>Microsoft Office PowerPoint</Application>
  <PresentationFormat>On-screen Show (4:3)</PresentationFormat>
  <Paragraphs>137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Blank Presentation</vt:lpstr>
      <vt:lpstr>The Carbon Farming Initiative and Agricultural Emissions </vt:lpstr>
      <vt:lpstr>This presentation explains the nitrogen cycle in agricultural production systems and the various pools of nitrogen </vt:lpstr>
      <vt:lpstr>The nitrogen cycle</vt:lpstr>
      <vt:lpstr>The nitrogen cycle</vt:lpstr>
      <vt:lpstr>The nitrogen cycle</vt:lpstr>
      <vt:lpstr>The nitrogen cycle</vt:lpstr>
      <vt:lpstr>The nitrogen cycle</vt:lpstr>
      <vt:lpstr>The nitrogen cycle</vt:lpstr>
      <vt:lpstr>The nitrogen cycle</vt:lpstr>
      <vt:lpstr>The nitrogen cycle</vt:lpstr>
      <vt:lpstr>The nitrogen cycle</vt:lpstr>
      <vt:lpstr>Slide 12</vt:lpstr>
    </vt:vector>
  </TitlesOfParts>
  <Company>ILFR, The University of Melbourne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management practices for nitrogen in intensive pasture production systems</dc:title>
  <dc:creator>Dr Richard John Eckard</dc:creator>
  <cp:lastModifiedBy>Seyda Ozkan</cp:lastModifiedBy>
  <cp:revision>743</cp:revision>
  <dcterms:created xsi:type="dcterms:W3CDTF">2000-08-07T02:07:17Z</dcterms:created>
  <dcterms:modified xsi:type="dcterms:W3CDTF">2012-08-23T08:54:41Z</dcterms:modified>
</cp:coreProperties>
</file>