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Default Extension="gif" ContentType="image/gif"/>
  <Default Extension="vml" ContentType="application/vnd.openxmlformats-officedocument.vmlDrawin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2" r:id="rId10"/>
    <p:sldId id="266" r:id="rId11"/>
    <p:sldId id="273" r:id="rId12"/>
    <p:sldId id="274" r:id="rId13"/>
    <p:sldId id="275" r:id="rId14"/>
    <p:sldId id="276" r:id="rId15"/>
    <p:sldId id="281" r:id="rId16"/>
    <p:sldId id="277" r:id="rId17"/>
    <p:sldId id="278" r:id="rId18"/>
    <p:sldId id="279" r:id="rId19"/>
    <p:sldId id="28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F7F7F7"/>
    <a:srgbClr val="DDDBDD"/>
    <a:srgbClr val="D4D2D4"/>
    <a:srgbClr val="8A828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97" d="100"/>
          <a:sy n="97" d="100"/>
        </p:scale>
        <p:origin x="-2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16C9B-660B-427A-8645-18F0FBD77493}" type="datetimeFigureOut">
              <a:rPr lang="en-US" smtClean="0"/>
              <a:pPr/>
              <a:t>9/29/2008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6825B-0FFC-4CFB-AD74-80FB845C8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ja-JP" altLang="en-US" smtClean="0"/>
              <a:t>数字要チェック</a:t>
            </a:r>
            <a:endParaRPr lang="en-US" altLang="ja-JP" dirty="0" smtClean="0"/>
          </a:p>
          <a:p>
            <a:r>
              <a:rPr lang="ja-JP" altLang="en-US" smtClean="0"/>
              <a:t>はじめの勢いが大分衰えてきていますが、まだ実際の測定について述べていません。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HBD</a:t>
            </a:r>
            <a:r>
              <a:rPr lang="en-US" baseline="0" dirty="0" smtClean="0"/>
              <a:t> how much?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Rejection in</a:t>
            </a:r>
            <a:r>
              <a:rPr lang="en-US" baseline="0" dirty="0" smtClean="0"/>
              <a:t> Japanese?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DDF79-9553-41AC-9A60-14F53431413D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DDF79-9553-41AC-9A60-14F53431413D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DDF79-9553-41AC-9A60-14F53431413D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DDF79-9553-41AC-9A60-14F53431413D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690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690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K.Okada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690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8991600" cy="1470025"/>
          </a:xfrm>
        </p:spPr>
        <p:txBody>
          <a:bodyPr>
            <a:normAutofit fontScale="90000"/>
          </a:bodyPr>
          <a:lstStyle/>
          <a:p>
            <a:r>
              <a:rPr lang="en-US" altLang="ja-JP" dirty="0" smtClean="0">
                <a:sym typeface="Symbol"/>
              </a:rPr>
              <a:t> PHENIX Central arm physics </a:t>
            </a:r>
            <a:br>
              <a:rPr lang="en-US" altLang="ja-JP" dirty="0" smtClean="0">
                <a:sym typeface="Symbol"/>
              </a:rPr>
            </a:br>
            <a:r>
              <a:rPr lang="en-US" altLang="ja-JP" dirty="0" smtClean="0">
                <a:sym typeface="Symbol"/>
              </a:rPr>
              <a:t>with s=500GeV (polarized) pp collisions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Kensuke Okada</a:t>
            </a:r>
            <a:r>
              <a:rPr lang="ja-JP" altLang="en-US" smtClean="0"/>
              <a:t> </a:t>
            </a:r>
            <a:r>
              <a:rPr lang="en-US" altLang="ja-JP" dirty="0" smtClean="0"/>
              <a:t>for PHENIX</a:t>
            </a:r>
            <a:endParaRPr lang="en-US" dirty="0" smtClean="0"/>
          </a:p>
          <a:p>
            <a:r>
              <a:rPr lang="en-US" dirty="0" smtClean="0"/>
              <a:t>RIKEN-BNL Research Center </a:t>
            </a:r>
          </a:p>
          <a:p>
            <a:r>
              <a:rPr lang="en-US" dirty="0" smtClean="0"/>
              <a:t>JPS September 23, 2008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48000" y="5867400"/>
            <a:ext cx="5938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(The presentation was performed with the Japanese version.)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RHIC spin program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2286000"/>
            <a:ext cx="19262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smtClean="0">
                <a:sym typeface="Symbol"/>
              </a:rPr>
              <a:t></a:t>
            </a:r>
            <a:r>
              <a:rPr lang="en-US" altLang="ja-JP" sz="2400" b="1" dirty="0" smtClean="0"/>
              <a:t>3 programs</a:t>
            </a:r>
            <a:endParaRPr lang="en-US" sz="2400" b="1" dirty="0"/>
          </a:p>
        </p:txBody>
      </p:sp>
      <p:cxnSp>
        <p:nvCxnSpPr>
          <p:cNvPr id="11" name="Straight Arrow Connector 10"/>
          <p:cNvCxnSpPr/>
          <p:nvPr/>
        </p:nvCxnSpPr>
        <p:spPr>
          <a:xfrm rot="10800000">
            <a:off x="3657600" y="3579811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73589" y="3406914"/>
            <a:ext cx="23559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ym typeface="Symbol"/>
              </a:rPr>
              <a:t>s=500GeV program</a:t>
            </a:r>
          </a:p>
          <a:p>
            <a:r>
              <a:rPr lang="en-US" sz="2000" b="1" dirty="0" smtClean="0">
                <a:sym typeface="Symbol"/>
              </a:rPr>
              <a:t>It’s about started!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914400"/>
            <a:ext cx="1104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ym typeface="Symbol"/>
              </a:rPr>
              <a:t></a:t>
            </a:r>
            <a:r>
              <a:rPr lang="en-US" sz="2400" b="1" dirty="0" smtClean="0"/>
              <a:t>RHIC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371600"/>
            <a:ext cx="45381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The polarized proton </a:t>
            </a:r>
            <a:r>
              <a:rPr lang="en-US" altLang="ja-JP" sz="2000" b="1" dirty="0" err="1" smtClean="0"/>
              <a:t>proton</a:t>
            </a:r>
            <a:r>
              <a:rPr lang="en-US" altLang="ja-JP" sz="2000" b="1" dirty="0" smtClean="0"/>
              <a:t> collider</a:t>
            </a:r>
          </a:p>
          <a:p>
            <a:r>
              <a:rPr lang="en-US" altLang="ja-JP" sz="2000" b="1" dirty="0" smtClean="0"/>
              <a:t>The maximum collision energy is 500GeV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29699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Longitudinal spin program</a:t>
            </a:r>
          </a:p>
          <a:p>
            <a:r>
              <a:rPr lang="en-US" altLang="ja-JP" sz="2000" b="1" dirty="0" smtClean="0"/>
              <a:t>Transverse spin program</a:t>
            </a:r>
          </a:p>
          <a:p>
            <a:r>
              <a:rPr lang="en-US" altLang="ja-JP" sz="2000" b="1" dirty="0" smtClean="0"/>
              <a:t>W boson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0200" y="5638800"/>
            <a:ext cx="3327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What’s the W boson program? </a:t>
            </a:r>
            <a:r>
              <a:rPr lang="en-US" dirty="0" smtClean="0">
                <a:sym typeface="Symbol"/>
              </a:rPr>
              <a:t>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altLang="ja-JP" dirty="0" smtClean="0"/>
              <a:t>(anti-) quark components of proton spin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69075"/>
            <a:ext cx="2133600" cy="365125"/>
          </a:xfrm>
        </p:spPr>
        <p:txBody>
          <a:bodyPr/>
          <a:lstStyle/>
          <a:p>
            <a:fld id="{F2D05891-249F-4725-AAA6-3A026DC1B32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66800" y="2706469"/>
            <a:ext cx="4357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W-</a:t>
            </a:r>
            <a:r>
              <a:rPr lang="en-US" altLang="ja-JP" sz="2000" b="1" dirty="0" err="1" smtClean="0"/>
              <a:t>bozon</a:t>
            </a:r>
            <a:r>
              <a:rPr lang="en-US" altLang="ja-JP" sz="2000" b="1" dirty="0" smtClean="0"/>
              <a:t> production violates the parity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2413" y="3468469"/>
            <a:ext cx="1636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d-</a:t>
            </a:r>
            <a:r>
              <a:rPr lang="en-US" dirty="0" err="1" smtClean="0"/>
              <a:t>bar+u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W+ </a:t>
            </a:r>
          </a:p>
          <a:p>
            <a:r>
              <a:rPr lang="en-US" dirty="0" smtClean="0"/>
              <a:t>u-</a:t>
            </a:r>
            <a:r>
              <a:rPr lang="en-US" dirty="0" err="1" smtClean="0"/>
              <a:t>bar+d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W-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1066800"/>
            <a:ext cx="4005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smtClean="0">
                <a:sym typeface="Symbol"/>
              </a:rPr>
              <a:t></a:t>
            </a:r>
            <a:r>
              <a:rPr lang="en-US" altLang="ja-JP" sz="2400" b="1" dirty="0" smtClean="0">
                <a:sym typeface="Symbol"/>
              </a:rPr>
              <a:t>Measurements before RHIC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143000" y="1447800"/>
            <a:ext cx="48028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Semi Deep Inelastic Scattering (SDIS)</a:t>
            </a:r>
          </a:p>
          <a:p>
            <a:r>
              <a:rPr lang="en-US" altLang="ja-JP" sz="2000" b="1" dirty="0" smtClean="0"/>
              <a:t>We rely (anti-) quark fragmentation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92714"/>
            <a:ext cx="24940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d-bar, u-bar is always </a:t>
            </a:r>
          </a:p>
          <a:p>
            <a:r>
              <a:rPr lang="en-US" sz="2000" b="1" dirty="0" smtClean="0"/>
              <a:t>positive </a:t>
            </a:r>
            <a:r>
              <a:rPr lang="en-US" sz="2000" b="1" dirty="0" err="1" smtClean="0"/>
              <a:t>helicity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80722" y="5029200"/>
            <a:ext cx="4367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W+</a:t>
            </a:r>
            <a:r>
              <a:rPr lang="ja-JP" altLang="en-US" smtClean="0"/>
              <a:t>　</a:t>
            </a:r>
            <a:r>
              <a:rPr lang="en-US" altLang="ja-JP" dirty="0" smtClean="0"/>
              <a:t>A</a:t>
            </a:r>
            <a:r>
              <a:rPr lang="en-US" altLang="ja-JP" baseline="-25000" dirty="0" smtClean="0"/>
              <a:t>L</a:t>
            </a:r>
            <a:r>
              <a:rPr lang="en-US" altLang="ja-JP" dirty="0" smtClean="0"/>
              <a:t>:</a:t>
            </a:r>
            <a:r>
              <a:rPr lang="ja-JP" altLang="en-US" smtClean="0"/>
              <a:t>　</a:t>
            </a:r>
            <a:r>
              <a:rPr lang="en-US" altLang="ja-JP" dirty="0" smtClean="0"/>
              <a:t>Longitudinal single spin asymmetry</a:t>
            </a:r>
          </a:p>
          <a:p>
            <a:r>
              <a:rPr lang="en-US" altLang="ja-JP" dirty="0" smtClean="0"/>
              <a:t>Information of d-bar in the proton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88347" y="2286000"/>
            <a:ext cx="361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smtClean="0">
                <a:sym typeface="Symbol"/>
              </a:rPr>
              <a:t></a:t>
            </a:r>
            <a:r>
              <a:rPr lang="en-US" altLang="ja-JP" sz="2400" b="1" dirty="0" smtClean="0"/>
              <a:t>RHIC</a:t>
            </a:r>
            <a:r>
              <a:rPr lang="ja-JP" altLang="en-US" sz="2400" b="1" smtClean="0"/>
              <a:t>　</a:t>
            </a:r>
            <a:r>
              <a:rPr lang="en-US" altLang="ja-JP" sz="2400" b="1" dirty="0" smtClean="0"/>
              <a:t>W-boson program</a:t>
            </a:r>
            <a:endParaRPr lang="en-US" sz="2400" b="1" dirty="0"/>
          </a:p>
        </p:txBody>
      </p:sp>
      <p:grpSp>
        <p:nvGrpSpPr>
          <p:cNvPr id="28" name="Group 27"/>
          <p:cNvGrpSpPr/>
          <p:nvPr/>
        </p:nvGrpSpPr>
        <p:grpSpPr>
          <a:xfrm>
            <a:off x="4572000" y="4292600"/>
            <a:ext cx="4572000" cy="2032000"/>
            <a:chOff x="4419600" y="4292600"/>
            <a:chExt cx="4572000" cy="2032000"/>
          </a:xfrm>
        </p:grpSpPr>
        <p:grpSp>
          <p:nvGrpSpPr>
            <p:cNvPr id="25" name="Group 24"/>
            <p:cNvGrpSpPr/>
            <p:nvPr/>
          </p:nvGrpSpPr>
          <p:grpSpPr>
            <a:xfrm>
              <a:off x="4419600" y="4292600"/>
              <a:ext cx="4572000" cy="2032000"/>
              <a:chOff x="4419600" y="4406900"/>
              <a:chExt cx="4572000" cy="2032000"/>
            </a:xfrm>
          </p:grpSpPr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4419600" y="4406900"/>
                <a:ext cx="4572000" cy="2032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cxnSp>
            <p:nvCxnSpPr>
              <p:cNvPr id="18" name="Straight Arrow Connector 17"/>
              <p:cNvCxnSpPr/>
              <p:nvPr/>
            </p:nvCxnSpPr>
            <p:spPr>
              <a:xfrm>
                <a:off x="5105400" y="4953000"/>
                <a:ext cx="533400" cy="1588"/>
              </a:xfrm>
              <a:prstGeom prst="straightConnector1">
                <a:avLst/>
              </a:prstGeom>
              <a:ln w="444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flipH="1">
                <a:off x="7391400" y="4953000"/>
                <a:ext cx="533400" cy="1588"/>
              </a:xfrm>
              <a:prstGeom prst="straightConnector1">
                <a:avLst/>
              </a:prstGeom>
              <a:ln w="444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5334000" y="5332412"/>
                <a:ext cx="533400" cy="1588"/>
              </a:xfrm>
              <a:prstGeom prst="straightConnector1">
                <a:avLst/>
              </a:prstGeom>
              <a:ln w="44450">
                <a:solidFill>
                  <a:srgbClr val="92D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>
                <a:off x="7620000" y="5334000"/>
                <a:ext cx="533400" cy="1588"/>
              </a:xfrm>
              <a:prstGeom prst="straightConnector1">
                <a:avLst/>
              </a:prstGeom>
              <a:ln w="44450">
                <a:solidFill>
                  <a:srgbClr val="92D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6248400" y="4724400"/>
                <a:ext cx="835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FF0000"/>
                    </a:solidFill>
                  </a:rPr>
                  <a:t>proton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477000" y="5105400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92D050"/>
                    </a:solidFill>
                  </a:rPr>
                  <a:t>d-bar</a:t>
                </a:r>
                <a:endParaRPr lang="en-US" b="1" dirty="0">
                  <a:solidFill>
                    <a:srgbClr val="92D050"/>
                  </a:solidFill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6172200" y="4953000"/>
              <a:ext cx="381000" cy="990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534400" y="4953000"/>
              <a:ext cx="381000" cy="990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The current knowledge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914400"/>
            <a:ext cx="7081058" cy="332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04900" y="4343400"/>
            <a:ext cx="4457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295400" y="5486400"/>
            <a:ext cx="70208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It’s important to know how W is produced for the x-dependence</a:t>
            </a:r>
          </a:p>
          <a:p>
            <a:r>
              <a:rPr lang="en-US" altLang="ja-JP" sz="2000" b="1" dirty="0" smtClean="0"/>
              <a:t>But it isn’t so easy.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How to detect W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742890"/>
            <a:ext cx="2203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>
                <a:sym typeface="Symbol"/>
              </a:rPr>
              <a:t></a:t>
            </a:r>
            <a:r>
              <a:rPr lang="en-US" altLang="ja-JP" sz="2000" b="1" dirty="0" smtClean="0"/>
              <a:t>PHENIX</a:t>
            </a:r>
            <a:r>
              <a:rPr lang="ja-JP" altLang="en-US" sz="2000" b="1" smtClean="0"/>
              <a:t> </a:t>
            </a:r>
            <a:r>
              <a:rPr lang="en-US" altLang="ja-JP" sz="2000" b="1" dirty="0" smtClean="0"/>
              <a:t>detector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1200"/>
            <a:ext cx="2925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mtClean="0"/>
              <a:t>○　</a:t>
            </a:r>
            <a:r>
              <a:rPr lang="en-US" altLang="ja-JP" sz="2000" b="1" dirty="0" err="1" smtClean="0"/>
              <a:t>Leptonic</a:t>
            </a:r>
            <a:r>
              <a:rPr lang="en-US" altLang="ja-JP" sz="2000" b="1" dirty="0" smtClean="0"/>
              <a:t> decay mode </a:t>
            </a:r>
          </a:p>
          <a:p>
            <a:r>
              <a:rPr lang="en-US" altLang="ja-JP" sz="2000" b="1" dirty="0" smtClean="0"/>
              <a:t>×</a:t>
            </a:r>
            <a:r>
              <a:rPr lang="ja-JP" altLang="en-US" sz="2000" b="1" smtClean="0"/>
              <a:t>　</a:t>
            </a:r>
            <a:r>
              <a:rPr lang="en-US" altLang="ja-JP" sz="2000" b="1" dirty="0" smtClean="0"/>
              <a:t>Mass reconstruction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143000"/>
            <a:ext cx="72980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Good for detecting electrons (central arm) and </a:t>
            </a:r>
            <a:r>
              <a:rPr lang="en-US" altLang="ja-JP" sz="2000" b="1" dirty="0" err="1" smtClean="0"/>
              <a:t>muons</a:t>
            </a:r>
            <a:r>
              <a:rPr lang="en-US" altLang="ja-JP" sz="2000" b="1" dirty="0" smtClean="0"/>
              <a:t> (</a:t>
            </a:r>
            <a:r>
              <a:rPr lang="en-US" altLang="ja-JP" sz="2000" b="1" dirty="0" err="1" smtClean="0"/>
              <a:t>muon</a:t>
            </a:r>
            <a:r>
              <a:rPr lang="en-US" altLang="ja-JP" sz="2000" b="1" dirty="0" smtClean="0"/>
              <a:t> arm).</a:t>
            </a:r>
          </a:p>
          <a:p>
            <a:r>
              <a:rPr lang="en-US" altLang="ja-JP" sz="2000" b="1" dirty="0" smtClean="0"/>
              <a:t>(However) It doesn’t have the 4pi coverage.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819400"/>
            <a:ext cx="2111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At the central arm</a:t>
            </a:r>
          </a:p>
        </p:txBody>
      </p:sp>
      <p:grpSp>
        <p:nvGrpSpPr>
          <p:cNvPr id="16" name="Group 15"/>
          <p:cNvGrpSpPr>
            <a:grpSpLocks noChangeAspect="1"/>
          </p:cNvGrpSpPr>
          <p:nvPr/>
        </p:nvGrpSpPr>
        <p:grpSpPr>
          <a:xfrm>
            <a:off x="1440180" y="3562962"/>
            <a:ext cx="2293620" cy="1161438"/>
            <a:chOff x="381000" y="2074603"/>
            <a:chExt cx="3276600" cy="1659197"/>
          </a:xfrm>
        </p:grpSpPr>
        <p:cxnSp>
          <p:nvCxnSpPr>
            <p:cNvPr id="17" name="Straight Connector 16"/>
            <p:cNvCxnSpPr>
              <a:cxnSpLocks noChangeAspect="1"/>
            </p:cNvCxnSpPr>
            <p:nvPr/>
          </p:nvCxnSpPr>
          <p:spPr>
            <a:xfrm>
              <a:off x="381000" y="2971800"/>
              <a:ext cx="3276600" cy="320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ight Arrow 17"/>
            <p:cNvSpPr/>
            <p:nvPr/>
          </p:nvSpPr>
          <p:spPr>
            <a:xfrm>
              <a:off x="2514600" y="2743200"/>
              <a:ext cx="533400" cy="457200"/>
            </a:xfrm>
            <a:prstGeom prst="rightArrow">
              <a:avLst>
                <a:gd name="adj1" fmla="val 5000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990600" y="2743200"/>
              <a:ext cx="533400" cy="457200"/>
            </a:xfrm>
            <a:prstGeom prst="rightArrow">
              <a:avLst>
                <a:gd name="adj1" fmla="val 5000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>
              <a:cxnSpLocks noChangeAspect="1"/>
            </p:cNvCxnSpPr>
            <p:nvPr/>
          </p:nvCxnSpPr>
          <p:spPr>
            <a:xfrm flipV="1">
              <a:off x="838200" y="2362200"/>
              <a:ext cx="2209800" cy="13716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ight Arrow 20"/>
            <p:cNvSpPr/>
            <p:nvPr/>
          </p:nvSpPr>
          <p:spPr>
            <a:xfrm rot="19614881">
              <a:off x="2892382" y="2074603"/>
              <a:ext cx="5334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>
            <a:grpSpLocks noChangeAspect="1"/>
          </p:cNvGrpSpPr>
          <p:nvPr/>
        </p:nvGrpSpPr>
        <p:grpSpPr>
          <a:xfrm>
            <a:off x="1440180" y="5105400"/>
            <a:ext cx="2293620" cy="982745"/>
            <a:chOff x="533400" y="4495800"/>
            <a:chExt cx="3276600" cy="1403922"/>
          </a:xfrm>
        </p:grpSpPr>
        <p:cxnSp>
          <p:nvCxnSpPr>
            <p:cNvPr id="23" name="Straight Connector 22"/>
            <p:cNvCxnSpPr>
              <a:cxnSpLocks noChangeAspect="1"/>
            </p:cNvCxnSpPr>
            <p:nvPr/>
          </p:nvCxnSpPr>
          <p:spPr>
            <a:xfrm>
              <a:off x="533400" y="5105400"/>
              <a:ext cx="3276600" cy="320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ight Arrow 23"/>
            <p:cNvSpPr/>
            <p:nvPr/>
          </p:nvSpPr>
          <p:spPr>
            <a:xfrm>
              <a:off x="2667000" y="4876800"/>
              <a:ext cx="533400" cy="457200"/>
            </a:xfrm>
            <a:prstGeom prst="rightArrow">
              <a:avLst>
                <a:gd name="adj1" fmla="val 5000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1143000" y="4876800"/>
              <a:ext cx="533400" cy="457200"/>
            </a:xfrm>
            <a:prstGeom prst="rightArrow">
              <a:avLst>
                <a:gd name="adj1" fmla="val 5000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/>
            <p:cNvCxnSpPr>
              <a:cxnSpLocks noChangeAspect="1"/>
            </p:cNvCxnSpPr>
            <p:nvPr/>
          </p:nvCxnSpPr>
          <p:spPr>
            <a:xfrm flipV="1">
              <a:off x="990600" y="4495800"/>
              <a:ext cx="2209800" cy="13716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ight Arrow 26"/>
            <p:cNvSpPr/>
            <p:nvPr/>
          </p:nvSpPr>
          <p:spPr>
            <a:xfrm rot="19614881">
              <a:off x="1072148" y="5442522"/>
              <a:ext cx="5334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/>
          <p:cNvGrpSpPr>
            <a:grpSpLocks noChangeAspect="1"/>
          </p:cNvGrpSpPr>
          <p:nvPr/>
        </p:nvGrpSpPr>
        <p:grpSpPr>
          <a:xfrm>
            <a:off x="5577839" y="3345736"/>
            <a:ext cx="2346960" cy="1226264"/>
            <a:chOff x="5562600" y="1829594"/>
            <a:chExt cx="3352800" cy="1751806"/>
          </a:xfrm>
        </p:grpSpPr>
        <p:cxnSp>
          <p:nvCxnSpPr>
            <p:cNvPr id="29" name="Straight Connector 28"/>
            <p:cNvCxnSpPr/>
            <p:nvPr/>
          </p:nvCxnSpPr>
          <p:spPr>
            <a:xfrm rot="5400000" flipH="1" flipV="1">
              <a:off x="6134100" y="2400300"/>
              <a:ext cx="1143000" cy="1588"/>
            </a:xfrm>
            <a:prstGeom prst="line">
              <a:avLst/>
            </a:prstGeom>
            <a:ln w="25400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0800000" flipV="1">
              <a:off x="5562600" y="2971800"/>
              <a:ext cx="1143000" cy="6096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cxnSpLocks noChangeAspect="1"/>
            </p:cNvCxnSpPr>
            <p:nvPr/>
          </p:nvCxnSpPr>
          <p:spPr>
            <a:xfrm>
              <a:off x="5638800" y="2971800"/>
              <a:ext cx="3276600" cy="320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>
            <a:grpSpLocks noChangeAspect="1"/>
          </p:cNvGrpSpPr>
          <p:nvPr/>
        </p:nvGrpSpPr>
        <p:grpSpPr>
          <a:xfrm>
            <a:off x="5577840" y="4945936"/>
            <a:ext cx="2346960" cy="1226264"/>
            <a:chOff x="5562601" y="4115593"/>
            <a:chExt cx="3352800" cy="1751806"/>
          </a:xfrm>
        </p:grpSpPr>
        <p:cxnSp>
          <p:nvCxnSpPr>
            <p:cNvPr id="33" name="Straight Connector 32"/>
            <p:cNvCxnSpPr/>
            <p:nvPr/>
          </p:nvCxnSpPr>
          <p:spPr>
            <a:xfrm rot="5400000" flipH="1" flipV="1">
              <a:off x="6134101" y="4686299"/>
              <a:ext cx="1143000" cy="158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10800000" flipV="1">
              <a:off x="5562601" y="5257799"/>
              <a:ext cx="1143000" cy="609600"/>
            </a:xfrm>
            <a:prstGeom prst="line">
              <a:avLst/>
            </a:prstGeom>
            <a:ln w="25400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cxnSpLocks noChangeAspect="1"/>
            </p:cNvCxnSpPr>
            <p:nvPr/>
          </p:nvCxnSpPr>
          <p:spPr>
            <a:xfrm>
              <a:off x="5638801" y="5257799"/>
              <a:ext cx="3276600" cy="320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/>
          <p:cNvSpPr txBox="1"/>
          <p:nvPr/>
        </p:nvSpPr>
        <p:spPr>
          <a:xfrm>
            <a:off x="304800" y="3962400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W+</a:t>
            </a:r>
            <a:endParaRPr lang="en-US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304800" y="5253335"/>
            <a:ext cx="5533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W-</a:t>
            </a:r>
            <a:endParaRPr lang="en-US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1224262" y="3790890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d-bar</a:t>
            </a:r>
            <a:endParaRPr lang="en-US" sz="20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3505200" y="3867090"/>
            <a:ext cx="322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u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143000" y="5162490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u-bar</a:t>
            </a:r>
            <a:endParaRPr lang="en-US" sz="20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563676" y="5181600"/>
            <a:ext cx="322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d</a:t>
            </a:r>
            <a:endParaRPr lang="en-US" sz="20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3505200" y="333369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e+</a:t>
            </a:r>
            <a:endParaRPr lang="en-US" sz="2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1371600" y="5924490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e-</a:t>
            </a:r>
            <a:endParaRPr lang="en-US" sz="2000" b="1" dirty="0"/>
          </a:p>
        </p:txBody>
      </p:sp>
      <p:sp>
        <p:nvSpPr>
          <p:cNvPr id="44" name="Oval 43"/>
          <p:cNvSpPr/>
          <p:nvPr/>
        </p:nvSpPr>
        <p:spPr>
          <a:xfrm>
            <a:off x="5943600" y="2895600"/>
            <a:ext cx="914400" cy="38100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/>
          <p:cNvSpPr/>
          <p:nvPr/>
        </p:nvSpPr>
        <p:spPr>
          <a:xfrm>
            <a:off x="5943600" y="6172200"/>
            <a:ext cx="914400" cy="38100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Smiley Face 46"/>
          <p:cNvSpPr/>
          <p:nvPr/>
        </p:nvSpPr>
        <p:spPr>
          <a:xfrm>
            <a:off x="6172200" y="2971800"/>
            <a:ext cx="381000" cy="304800"/>
          </a:xfrm>
          <a:prstGeom prst="smileyFac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Smiley Face 47"/>
          <p:cNvSpPr/>
          <p:nvPr/>
        </p:nvSpPr>
        <p:spPr>
          <a:xfrm>
            <a:off x="6172200" y="6172200"/>
            <a:ext cx="457200" cy="304800"/>
          </a:xfrm>
          <a:prstGeom prst="smileyFace">
            <a:avLst>
              <a:gd name="adj" fmla="val -465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416854" y="33528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e+</a:t>
            </a:r>
            <a:endParaRPr lang="en-US" sz="20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245744" y="6000690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e-</a:t>
            </a:r>
            <a:endParaRPr lang="en-US" sz="20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2362200" y="4648200"/>
            <a:ext cx="2195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Center of mass frame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512004" y="4648200"/>
            <a:ext cx="2085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Experimental frame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W-&gt;e in the central arm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1" name="Group 10"/>
          <p:cNvGrpSpPr>
            <a:grpSpLocks noChangeAspect="1"/>
          </p:cNvGrpSpPr>
          <p:nvPr/>
        </p:nvGrpSpPr>
        <p:grpSpPr>
          <a:xfrm>
            <a:off x="152400" y="914400"/>
            <a:ext cx="6073052" cy="3931158"/>
            <a:chOff x="569602" y="838200"/>
            <a:chExt cx="7887080" cy="510540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9602" y="838200"/>
              <a:ext cx="7887080" cy="5105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9" name="Freeform 8"/>
            <p:cNvSpPr/>
            <p:nvPr/>
          </p:nvSpPr>
          <p:spPr>
            <a:xfrm>
              <a:off x="2106592" y="1192192"/>
              <a:ext cx="5845216" cy="3611302"/>
            </a:xfrm>
            <a:custGeom>
              <a:avLst/>
              <a:gdLst>
                <a:gd name="connsiteX0" fmla="*/ 486137 w 5845216"/>
                <a:gd name="connsiteY0" fmla="*/ 0 h 3611302"/>
                <a:gd name="connsiteX1" fmla="*/ 1805651 w 5845216"/>
                <a:gd name="connsiteY1" fmla="*/ 891251 h 3611302"/>
                <a:gd name="connsiteX2" fmla="*/ 4027990 w 5845216"/>
                <a:gd name="connsiteY2" fmla="*/ 2164466 h 3611302"/>
                <a:gd name="connsiteX3" fmla="*/ 5833641 w 5845216"/>
                <a:gd name="connsiteY3" fmla="*/ 3067292 h 3611302"/>
                <a:gd name="connsiteX4" fmla="*/ 5845216 w 5845216"/>
                <a:gd name="connsiteY4" fmla="*/ 3611302 h 3611302"/>
                <a:gd name="connsiteX5" fmla="*/ 4282633 w 5845216"/>
                <a:gd name="connsiteY5" fmla="*/ 2835798 h 3611302"/>
                <a:gd name="connsiteX6" fmla="*/ 3657600 w 5845216"/>
                <a:gd name="connsiteY6" fmla="*/ 2476983 h 3611302"/>
                <a:gd name="connsiteX7" fmla="*/ 1551008 w 5845216"/>
                <a:gd name="connsiteY7" fmla="*/ 1215342 h 3611302"/>
                <a:gd name="connsiteX8" fmla="*/ 405114 w 5845216"/>
                <a:gd name="connsiteY8" fmla="*/ 416689 h 3611302"/>
                <a:gd name="connsiteX9" fmla="*/ 0 w 5845216"/>
                <a:gd name="connsiteY9" fmla="*/ 0 h 3611302"/>
                <a:gd name="connsiteX10" fmla="*/ 486137 w 5845216"/>
                <a:gd name="connsiteY10" fmla="*/ 0 h 361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45216" h="3611302">
                  <a:moveTo>
                    <a:pt x="486137" y="0"/>
                  </a:moveTo>
                  <a:lnTo>
                    <a:pt x="1805651" y="891251"/>
                  </a:lnTo>
                  <a:lnTo>
                    <a:pt x="4027990" y="2164466"/>
                  </a:lnTo>
                  <a:lnTo>
                    <a:pt x="5833641" y="3067292"/>
                  </a:lnTo>
                  <a:lnTo>
                    <a:pt x="5845216" y="3611302"/>
                  </a:lnTo>
                  <a:lnTo>
                    <a:pt x="4282633" y="2835798"/>
                  </a:lnTo>
                  <a:lnTo>
                    <a:pt x="3657600" y="2476983"/>
                  </a:lnTo>
                  <a:lnTo>
                    <a:pt x="1551008" y="1215342"/>
                  </a:lnTo>
                  <a:lnTo>
                    <a:pt x="405114" y="416689"/>
                  </a:lnTo>
                  <a:lnTo>
                    <a:pt x="0" y="0"/>
                  </a:lnTo>
                  <a:lnTo>
                    <a:pt x="486137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638800" y="1219199"/>
              <a:ext cx="1295400" cy="475525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657600" y="5144869"/>
            <a:ext cx="1614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Jacobean peak </a:t>
            </a:r>
          </a:p>
          <a:p>
            <a:r>
              <a:rPr lang="en-US" altLang="ja-JP" dirty="0" smtClean="0"/>
              <a:t>M_W/2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rot="5400000" flipH="1" flipV="1">
            <a:off x="3810000" y="48768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0" y="1371600"/>
            <a:ext cx="2062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/>
              <a:t>pT</a:t>
            </a:r>
            <a:r>
              <a:rPr lang="en-US" altLang="ja-JP" dirty="0" smtClean="0"/>
              <a:t> distribution </a:t>
            </a:r>
          </a:p>
          <a:p>
            <a:r>
              <a:rPr lang="en-US" altLang="ja-JP" dirty="0" smtClean="0"/>
              <a:t>of electrons from 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0069" y="2590800"/>
            <a:ext cx="3030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More e+ than e- </a:t>
            </a:r>
          </a:p>
          <a:p>
            <a:r>
              <a:rPr lang="en-US" altLang="ja-JP" dirty="0" smtClean="0"/>
              <a:t>Explained in the previous slide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581400"/>
            <a:ext cx="2311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A special feature </a:t>
            </a:r>
          </a:p>
          <a:p>
            <a:r>
              <a:rPr lang="en-US" altLang="ja-JP" dirty="0" smtClean="0"/>
              <a:t>from the 2-body decay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Asymmetry expected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2454" y="685800"/>
            <a:ext cx="7440894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162800" y="1905000"/>
            <a:ext cx="869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300/</a:t>
            </a:r>
            <a:r>
              <a:rPr lang="en-US" dirty="0" err="1" smtClean="0"/>
              <a:t>pb</a:t>
            </a:r>
            <a:endParaRPr lang="en-US" dirty="0" smtClean="0"/>
          </a:p>
          <a:p>
            <a:r>
              <a:rPr lang="en-US" dirty="0" smtClean="0"/>
              <a:t>70/</a:t>
            </a:r>
            <a:r>
              <a:rPr lang="en-US" dirty="0" err="1" smtClean="0"/>
              <a:t>pb</a:t>
            </a:r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381000" y="20690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-0.4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990600" y="2177534"/>
            <a:ext cx="457200" cy="322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4025" y="4724400"/>
            <a:ext cx="342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Estimation for the near future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144869"/>
            <a:ext cx="46260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3 weeks physics (preparation is about 5 weeks) </a:t>
            </a:r>
          </a:p>
          <a:p>
            <a:r>
              <a:rPr lang="en-US" altLang="ja-JP" dirty="0" smtClean="0"/>
              <a:t>7.5/</a:t>
            </a:r>
            <a:r>
              <a:rPr lang="en-US" altLang="ja-JP" dirty="0" err="1" smtClean="0"/>
              <a:t>pb</a:t>
            </a:r>
            <a:r>
              <a:rPr lang="en-US" altLang="ja-JP" dirty="0" smtClean="0"/>
              <a:t> * 3 = 22.5/</a:t>
            </a:r>
            <a:r>
              <a:rPr lang="en-US" altLang="ja-JP" dirty="0" err="1" smtClean="0"/>
              <a:t>pb</a:t>
            </a:r>
            <a:endParaRPr lang="en-US" altLang="ja-JP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1143000" y="5830669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420</a:t>
            </a:r>
            <a:r>
              <a:rPr lang="en-US" altLang="ja-JP" dirty="0" smtClean="0"/>
              <a:t>e+, </a:t>
            </a:r>
          </a:p>
          <a:p>
            <a:r>
              <a:rPr lang="en-US" altLang="ja-JP" dirty="0" smtClean="0"/>
              <a:t>70e-</a:t>
            </a:r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438400" y="60198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81400" y="5791200"/>
            <a:ext cx="2690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dA_L</a:t>
            </a:r>
            <a:r>
              <a:rPr lang="en-US" dirty="0" smtClean="0"/>
              <a:t>=0.07</a:t>
            </a:r>
            <a:r>
              <a:rPr lang="ja-JP" altLang="en-US" smtClean="0"/>
              <a:t>　</a:t>
            </a:r>
            <a:r>
              <a:rPr lang="en-US" altLang="ja-JP" dirty="0" smtClean="0"/>
              <a:t>(with 50% </a:t>
            </a:r>
            <a:r>
              <a:rPr lang="en-US" altLang="ja-JP" dirty="0" err="1" smtClean="0"/>
              <a:t>pol</a:t>
            </a:r>
            <a:r>
              <a:rPr lang="en-US" altLang="ja-JP" dirty="0" smtClean="0"/>
              <a:t>)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324600" y="5562600"/>
            <a:ext cx="29189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smtClean="0"/>
              <a:t>The first non-zero </a:t>
            </a:r>
          </a:p>
          <a:p>
            <a:r>
              <a:rPr lang="en-US" altLang="ja-JP" b="1" dirty="0" smtClean="0"/>
              <a:t>asymmetry from the PHENXI</a:t>
            </a:r>
          </a:p>
          <a:p>
            <a:r>
              <a:rPr lang="en-US" altLang="ja-JP" b="1" dirty="0" smtClean="0"/>
              <a:t>central arm is expected!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 smtClean="0"/>
              <a:t>W</a:t>
            </a:r>
            <a:r>
              <a:rPr lang="en-US" altLang="ja-JP" dirty="0" err="1" smtClean="0">
                <a:sym typeface="Symbol"/>
              </a:rPr>
              <a:t></a:t>
            </a:r>
            <a:r>
              <a:rPr lang="en-US" altLang="ja-JP" dirty="0" err="1" smtClean="0"/>
              <a:t>e</a:t>
            </a:r>
            <a:r>
              <a:rPr lang="en-US" altLang="ja-JP" dirty="0" smtClean="0"/>
              <a:t> at the central arm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99348" y="1936242"/>
            <a:ext cx="6073052" cy="3931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23694" y="1600200"/>
            <a:ext cx="1550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Backgrounds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773668"/>
            <a:ext cx="3760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Data acquisition </a:t>
            </a:r>
            <a:r>
              <a:rPr lang="ja-JP" altLang="en-US" sz="2000" b="1" smtClean="0"/>
              <a:t>：　</a:t>
            </a:r>
            <a:r>
              <a:rPr lang="en-US" altLang="ja-JP" sz="2000" b="1" dirty="0" err="1" smtClean="0"/>
              <a:t>EMCal</a:t>
            </a:r>
            <a:r>
              <a:rPr lang="en-US" altLang="ja-JP" sz="2000" b="1" dirty="0" smtClean="0"/>
              <a:t> </a:t>
            </a:r>
            <a:r>
              <a:rPr lang="ja-JP" altLang="en-US" sz="2000" b="1" smtClean="0"/>
              <a:t> </a:t>
            </a:r>
            <a:r>
              <a:rPr lang="en-US" altLang="ja-JP" sz="2000" b="1" dirty="0" smtClean="0"/>
              <a:t>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219200"/>
            <a:ext cx="8522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Charge separation of high energy particle : magnetic field, track reconstruction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62600"/>
            <a:ext cx="85198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ym typeface="Symbol"/>
              </a:rPr>
              <a:t></a:t>
            </a:r>
            <a:r>
              <a:rPr lang="en-US" sz="2000" b="1" dirty="0" smtClean="0"/>
              <a:t>0 </a:t>
            </a:r>
            <a:r>
              <a:rPr lang="en-US" sz="2000" b="1" dirty="0" smtClean="0">
                <a:sym typeface="Symbol"/>
              </a:rPr>
              <a:t>2 </a:t>
            </a:r>
            <a:r>
              <a:rPr lang="en-US" sz="2000" b="1" dirty="0" smtClean="0"/>
              <a:t> conversion electron : </a:t>
            </a:r>
            <a:r>
              <a:rPr lang="ja-JP" altLang="en-US" sz="2000" b="1" smtClean="0"/>
              <a:t>　</a:t>
            </a:r>
            <a:endParaRPr lang="en-US" altLang="ja-JP" sz="2000" b="1" dirty="0" smtClean="0"/>
          </a:p>
          <a:p>
            <a:r>
              <a:rPr lang="en-US" altLang="ja-JP" sz="2000" b="1" dirty="0" smtClean="0"/>
              <a:t>     photon has the half energy on average (*0.26)</a:t>
            </a:r>
            <a:r>
              <a:rPr lang="ja-JP" altLang="en-US" sz="2000" b="1" smtClean="0"/>
              <a:t> </a:t>
            </a:r>
            <a:r>
              <a:rPr lang="en-US" altLang="ja-JP" sz="2000" b="1" dirty="0" smtClean="0"/>
              <a:t>&amp; </a:t>
            </a:r>
            <a:r>
              <a:rPr lang="en-US" sz="2000" b="1" dirty="0" smtClean="0"/>
              <a:t>material before DC (*~3%)  </a:t>
            </a:r>
          </a:p>
          <a:p>
            <a:r>
              <a:rPr lang="en-US" sz="2000" b="1" dirty="0" smtClean="0">
                <a:sym typeface="Symbol"/>
              </a:rPr>
              <a:t></a:t>
            </a:r>
            <a:r>
              <a:rPr lang="en-US" sz="2000" b="1" dirty="0" smtClean="0"/>
              <a:t>+- </a:t>
            </a:r>
            <a:r>
              <a:rPr lang="en-US" sz="2000" b="1" dirty="0" smtClean="0">
                <a:sym typeface="Symbol"/>
              </a:rPr>
              <a:t>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hadronic</a:t>
            </a:r>
            <a:r>
              <a:rPr lang="en-US" sz="2000" b="1" dirty="0" smtClean="0"/>
              <a:t> interaction </a:t>
            </a:r>
            <a:endParaRPr lang="en-US" sz="2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Charge identification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914400"/>
            <a:ext cx="5258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The basic algorithm in PHENIX</a:t>
            </a:r>
            <a:r>
              <a:rPr lang="ja-JP" altLang="en-US" smtClean="0"/>
              <a:t> </a:t>
            </a:r>
            <a:r>
              <a:rPr lang="en-US" altLang="ja-JP" dirty="0" smtClean="0"/>
              <a:t>(with no inner tracking)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" y="3581400"/>
            <a:ext cx="66352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smtClean="0"/>
              <a:t>Magnetic field option-1 (</a:t>
            </a:r>
            <a:r>
              <a:rPr lang="en-US" sz="2400" b="1" dirty="0" smtClean="0"/>
              <a:t>++ field) : </a:t>
            </a:r>
            <a:r>
              <a:rPr lang="en-US" sz="2400" b="1" dirty="0" smtClean="0">
                <a:sym typeface="Symbol"/>
              </a:rPr>
              <a:t>=2.4 [</a:t>
            </a:r>
            <a:r>
              <a:rPr lang="en-US" sz="2400" b="1" dirty="0" err="1" smtClean="0">
                <a:sym typeface="Symbol"/>
              </a:rPr>
              <a:t>mrad</a:t>
            </a:r>
            <a:r>
              <a:rPr lang="en-US" sz="2400" b="1" dirty="0" smtClean="0">
                <a:sym typeface="Symbol"/>
              </a:rPr>
              <a:t>] </a:t>
            </a:r>
            <a:r>
              <a:rPr lang="ja-JP" altLang="en-US" sz="2400" b="1" smtClean="0"/>
              <a:t>　</a:t>
            </a:r>
            <a:r>
              <a:rPr lang="en-US" sz="2400" b="1" dirty="0" smtClean="0"/>
              <a:t> </a:t>
            </a:r>
          </a:p>
          <a:p>
            <a:r>
              <a:rPr lang="ja-JP" altLang="en-US" sz="2400" b="1" smtClean="0"/>
              <a:t>　　                        </a:t>
            </a:r>
            <a:r>
              <a:rPr lang="en-US" altLang="ja-JP" sz="2400" b="1" dirty="0" smtClean="0"/>
              <a:t>option-2 (</a:t>
            </a:r>
            <a:r>
              <a:rPr lang="en-US" sz="2400" b="1" dirty="0" smtClean="0"/>
              <a:t>+- field): </a:t>
            </a:r>
            <a:r>
              <a:rPr lang="en-US" sz="2400" b="1" dirty="0" smtClean="0">
                <a:sym typeface="Symbol"/>
              </a:rPr>
              <a:t>=1.7 [</a:t>
            </a:r>
            <a:r>
              <a:rPr lang="en-US" sz="2400" b="1" dirty="0" err="1" smtClean="0">
                <a:sym typeface="Symbol"/>
              </a:rPr>
              <a:t>mrad</a:t>
            </a:r>
            <a:r>
              <a:rPr lang="en-US" sz="2400" b="1" dirty="0" smtClean="0">
                <a:sym typeface="Symbol"/>
              </a:rPr>
              <a:t>] 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82109" y="4648200"/>
            <a:ext cx="48503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smtClean="0"/>
              <a:t>It looks feasible</a:t>
            </a:r>
          </a:p>
          <a:p>
            <a:r>
              <a:rPr lang="en-US" altLang="ja-JP" b="1" dirty="0" smtClean="0"/>
              <a:t>    But </a:t>
            </a:r>
            <a:r>
              <a:rPr lang="ja-JP" altLang="en-US" b="1" smtClean="0">
                <a:sym typeface="Symbol"/>
              </a:rPr>
              <a:t></a:t>
            </a:r>
            <a:r>
              <a:rPr lang="en-US" altLang="ja-JP" b="1" dirty="0" smtClean="0">
                <a:sym typeface="Symbol"/>
              </a:rPr>
              <a:t>x is very small (3mm in the option-2),</a:t>
            </a:r>
          </a:p>
          <a:p>
            <a:r>
              <a:rPr lang="en-US" altLang="ja-JP" b="1" dirty="0" smtClean="0">
                <a:sym typeface="Symbol"/>
              </a:rPr>
              <a:t>    it’s important to determine the vertex position</a:t>
            </a:r>
            <a:endParaRPr lang="en-US" altLang="ja-JP" b="1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609600" y="5802868"/>
            <a:ext cx="5711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smtClean="0"/>
              <a:t>The momentum resolution is very bad at this momentum.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90600" y="1524000"/>
            <a:ext cx="7162800" cy="1523487"/>
            <a:chOff x="1219200" y="1524000"/>
            <a:chExt cx="7162800" cy="23622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1219200" y="2133600"/>
              <a:ext cx="71628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5400000">
              <a:off x="4990306" y="2746256"/>
              <a:ext cx="2209801" cy="15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 12"/>
            <p:cNvSpPr/>
            <p:nvPr/>
          </p:nvSpPr>
          <p:spPr>
            <a:xfrm>
              <a:off x="1268361" y="2133600"/>
              <a:ext cx="5171768" cy="1199535"/>
            </a:xfrm>
            <a:custGeom>
              <a:avLst/>
              <a:gdLst>
                <a:gd name="connsiteX0" fmla="*/ 0 w 5171768"/>
                <a:gd name="connsiteY0" fmla="*/ 0 h 1199535"/>
                <a:gd name="connsiteX1" fmla="*/ 2025445 w 5171768"/>
                <a:gd name="connsiteY1" fmla="*/ 19665 h 1199535"/>
                <a:gd name="connsiteX2" fmla="*/ 3657600 w 5171768"/>
                <a:gd name="connsiteY2" fmla="*/ 68826 h 1199535"/>
                <a:gd name="connsiteX3" fmla="*/ 4404852 w 5171768"/>
                <a:gd name="connsiteY3" fmla="*/ 363794 h 1199535"/>
                <a:gd name="connsiteX4" fmla="*/ 5171768 w 5171768"/>
                <a:gd name="connsiteY4" fmla="*/ 1199535 h 119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1768" h="1199535">
                  <a:moveTo>
                    <a:pt x="0" y="0"/>
                  </a:moveTo>
                  <a:lnTo>
                    <a:pt x="2025445" y="19665"/>
                  </a:lnTo>
                  <a:cubicBezTo>
                    <a:pt x="2635045" y="31136"/>
                    <a:pt x="3261032" y="11471"/>
                    <a:pt x="3657600" y="68826"/>
                  </a:cubicBezTo>
                  <a:cubicBezTo>
                    <a:pt x="4054168" y="126181"/>
                    <a:pt x="4152491" y="175343"/>
                    <a:pt x="4404852" y="363794"/>
                  </a:cubicBezTo>
                  <a:cubicBezTo>
                    <a:pt x="4657213" y="552245"/>
                    <a:pt x="4914490" y="875890"/>
                    <a:pt x="5171768" y="1199535"/>
                  </a:cubicBezTo>
                </a:path>
              </a:pathLst>
            </a:cu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572000" y="1524000"/>
              <a:ext cx="1371600" cy="2362200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219200" y="2133600"/>
              <a:ext cx="6324600" cy="914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15"/>
            <p:cNvSpPr/>
            <p:nvPr/>
          </p:nvSpPr>
          <p:spPr>
            <a:xfrm>
              <a:off x="6341806" y="2880852"/>
              <a:ext cx="149123" cy="324464"/>
            </a:xfrm>
            <a:custGeom>
              <a:avLst/>
              <a:gdLst>
                <a:gd name="connsiteX0" fmla="*/ 127820 w 149123"/>
                <a:gd name="connsiteY0" fmla="*/ 0 h 324464"/>
                <a:gd name="connsiteX1" fmla="*/ 127820 w 149123"/>
                <a:gd name="connsiteY1" fmla="*/ 157316 h 324464"/>
                <a:gd name="connsiteX2" fmla="*/ 0 w 149123"/>
                <a:gd name="connsiteY2" fmla="*/ 324464 h 32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9123" h="324464">
                  <a:moveTo>
                    <a:pt x="127820" y="0"/>
                  </a:moveTo>
                  <a:cubicBezTo>
                    <a:pt x="138471" y="51619"/>
                    <a:pt x="149123" y="103239"/>
                    <a:pt x="127820" y="157316"/>
                  </a:cubicBezTo>
                  <a:cubicBezTo>
                    <a:pt x="106517" y="211393"/>
                    <a:pt x="53258" y="267928"/>
                    <a:pt x="0" y="324464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419600" y="2514600"/>
            <a:ext cx="995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B field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57956" y="1447800"/>
            <a:ext cx="561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vtx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5900801" y="1197114"/>
            <a:ext cx="11095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Drift </a:t>
            </a:r>
          </a:p>
          <a:p>
            <a:r>
              <a:rPr lang="en-US" sz="2000" dirty="0" smtClean="0"/>
              <a:t>chamber</a:t>
            </a:r>
            <a:endParaRPr lang="en-US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6326970" y="2433935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/>
              </a:rPr>
              <a:t>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433011" y="3124200"/>
            <a:ext cx="3753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For 40GeV charged particles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7140840" y="381000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W+ or W-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400800" y="3886200"/>
            <a:ext cx="384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 smtClean="0"/>
              <a:t>vs</a:t>
            </a:r>
            <a:endParaRPr lang="en-US" altLang="ja-JP" b="1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7010400" y="3620869"/>
            <a:ext cx="20218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DC</a:t>
            </a:r>
            <a:r>
              <a:rPr lang="ja-JP" altLang="en-US" sz="2400" smtClean="0"/>
              <a:t> </a:t>
            </a:r>
            <a:r>
              <a:rPr lang="en-US" altLang="ja-JP" sz="2400" dirty="0" smtClean="0"/>
              <a:t>resolution</a:t>
            </a:r>
          </a:p>
          <a:p>
            <a:r>
              <a:rPr lang="ja-JP" altLang="ja-JP" sz="2400" smtClean="0">
                <a:sym typeface="Symbol"/>
              </a:rPr>
              <a:t></a:t>
            </a:r>
            <a:r>
              <a:rPr lang="ja-JP" altLang="en-US" sz="2400" smtClean="0">
                <a:sym typeface="Symbol"/>
              </a:rPr>
              <a:t></a:t>
            </a:r>
            <a:r>
              <a:rPr lang="en-US" altLang="ja-JP" sz="2400" dirty="0" smtClean="0">
                <a:sym typeface="Symbol"/>
              </a:rPr>
              <a:t>=0.5[</a:t>
            </a:r>
            <a:r>
              <a:rPr lang="en-US" altLang="ja-JP" sz="2400" dirty="0" err="1" smtClean="0">
                <a:sym typeface="Symbol"/>
              </a:rPr>
              <a:t>mrad</a:t>
            </a:r>
            <a:r>
              <a:rPr lang="en-US" altLang="ja-JP" sz="2400" dirty="0" smtClean="0">
                <a:sym typeface="Symbol"/>
              </a:rPr>
              <a:t>] </a:t>
            </a:r>
            <a:endParaRPr lang="en-US" sz="2400" dirty="0"/>
          </a:p>
        </p:txBody>
      </p:sp>
      <p:cxnSp>
        <p:nvCxnSpPr>
          <p:cNvPr id="26" name="Straight Arrow Connector 25"/>
          <p:cNvCxnSpPr/>
          <p:nvPr/>
        </p:nvCxnSpPr>
        <p:spPr>
          <a:xfrm rot="5400000">
            <a:off x="5790406" y="2133600"/>
            <a:ext cx="457994" cy="79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51884" y="1905000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ym typeface="Symbol"/>
              </a:rPr>
              <a:t>x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EMCal</a:t>
            </a:r>
            <a:r>
              <a:rPr lang="en-US" dirty="0" smtClean="0"/>
              <a:t> energy resolution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46530" y="5391090"/>
            <a:ext cx="6456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An additional merit : rejection of charged </a:t>
            </a:r>
            <a:r>
              <a:rPr lang="en-US" altLang="ja-JP" sz="2000" b="1" dirty="0" err="1" smtClean="0"/>
              <a:t>pion</a:t>
            </a:r>
            <a:r>
              <a:rPr lang="en-US" altLang="ja-JP" sz="2000" b="1" dirty="0" smtClean="0"/>
              <a:t> contribution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1143000"/>
            <a:ext cx="4852988" cy="330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800600" y="1219200"/>
            <a:ext cx="1830388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Calibri" pitchFamily="34" charset="0"/>
              </a:rPr>
              <a:t>Energy resolution</a:t>
            </a:r>
          </a:p>
          <a:p>
            <a:r>
              <a:rPr lang="en-US">
                <a:latin typeface="Calibri" pitchFamily="34" charset="0"/>
              </a:rPr>
              <a:t>Test beam</a:t>
            </a:r>
          </a:p>
          <a:p>
            <a:r>
              <a:rPr lang="en-US">
                <a:latin typeface="Calibri" pitchFamily="34" charset="0"/>
              </a:rPr>
              <a:t>(PbSc)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88525" y="2667000"/>
            <a:ext cx="33452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itchFamily="34" charset="0"/>
              </a:rPr>
              <a:t>PEHNIX data ~6%</a:t>
            </a:r>
            <a:r>
              <a:rPr lang="en-US" sz="2000" b="1" dirty="0">
                <a:latin typeface="Calibri" pitchFamily="34" charset="0"/>
                <a:sym typeface="Symbol" pitchFamily="18" charset="2"/>
              </a:rPr>
              <a:t>8%/</a:t>
            </a:r>
            <a:r>
              <a:rPr lang="en-US" sz="2000" b="1" dirty="0" err="1">
                <a:latin typeface="Calibri" pitchFamily="34" charset="0"/>
                <a:sym typeface="Symbol" pitchFamily="18" charset="2"/>
              </a:rPr>
              <a:t>sqrt</a:t>
            </a:r>
            <a:r>
              <a:rPr lang="en-US" sz="2000" b="1" dirty="0">
                <a:latin typeface="Calibri" pitchFamily="34" charset="0"/>
                <a:sym typeface="Symbol" pitchFamily="18" charset="2"/>
              </a:rPr>
              <a:t>(E)</a:t>
            </a:r>
            <a:endParaRPr lang="en-US" sz="2000" b="1" dirty="0">
              <a:latin typeface="Calibri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086600" y="3276600"/>
            <a:ext cx="12192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rot="10800000">
            <a:off x="4495800" y="3581400"/>
            <a:ext cx="25146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581400" y="2895600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1898" y="4629090"/>
            <a:ext cx="6789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It’s better for the momentum measurement than using the DC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rot="5400000" flipH="1" flipV="1">
            <a:off x="7430294" y="4076700"/>
            <a:ext cx="83820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34200" y="4267200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40GeV</a:t>
            </a:r>
            <a:endParaRPr lang="en-US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419600" y="3200400"/>
            <a:ext cx="758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2.1 %</a:t>
            </a:r>
            <a:endParaRPr lang="en-US" sz="2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419600" y="2667000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6%</a:t>
            </a:r>
            <a:endParaRPr lang="en-US" sz="2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 smtClean="0"/>
              <a:t>Rejection of charged </a:t>
            </a:r>
            <a:r>
              <a:rPr lang="en-US" altLang="ja-JP" dirty="0" err="1" smtClean="0"/>
              <a:t>pions</a:t>
            </a:r>
            <a:r>
              <a:rPr lang="en-US" altLang="ja-JP" dirty="0" smtClean="0"/>
              <a:t> 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6" name="Group 13"/>
          <p:cNvGrpSpPr/>
          <p:nvPr/>
        </p:nvGrpSpPr>
        <p:grpSpPr>
          <a:xfrm>
            <a:off x="4114800" y="3231642"/>
            <a:ext cx="5013593" cy="3245358"/>
            <a:chOff x="3878858" y="3200400"/>
            <a:chExt cx="5013593" cy="3245358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78858" y="3200400"/>
              <a:ext cx="5013593" cy="3245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9" name="Straight Connector 8"/>
            <p:cNvCxnSpPr/>
            <p:nvPr/>
          </p:nvCxnSpPr>
          <p:spPr>
            <a:xfrm>
              <a:off x="4876800" y="4724400"/>
              <a:ext cx="2514600" cy="1371600"/>
            </a:xfrm>
            <a:prstGeom prst="line">
              <a:avLst/>
            </a:prstGeom>
            <a:ln w="2222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76200" y="762000"/>
            <a:ext cx="5715000" cy="3886200"/>
            <a:chOff x="685800" y="1524000"/>
            <a:chExt cx="6477000" cy="4216977"/>
          </a:xfrm>
        </p:grpSpPr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85800" y="1524000"/>
              <a:ext cx="6477000" cy="42169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Oval 11"/>
            <p:cNvSpPr/>
            <p:nvPr/>
          </p:nvSpPr>
          <p:spPr>
            <a:xfrm>
              <a:off x="1295400" y="5029680"/>
              <a:ext cx="152400" cy="15242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3657600" y="4724838"/>
              <a:ext cx="152400" cy="15242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62000" y="1219200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40GeV </a:t>
            </a:r>
            <a:r>
              <a:rPr lang="en-US" altLang="ja-JP" sz="2000" b="1" dirty="0" smtClean="0"/>
              <a:t>pi+, e+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202" y="4639270"/>
            <a:ext cx="36113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40GeV</a:t>
            </a:r>
            <a:r>
              <a:rPr lang="ja-JP" altLang="en-US" sz="2000" b="1" smtClean="0"/>
              <a:t>　</a:t>
            </a:r>
            <a:r>
              <a:rPr lang="en-US" altLang="ja-JP" sz="2000" b="1" dirty="0" smtClean="0"/>
              <a:t>charged </a:t>
            </a:r>
            <a:r>
              <a:rPr lang="en-US" altLang="ja-JP" sz="2000" b="1" dirty="0" err="1" smtClean="0"/>
              <a:t>pions</a:t>
            </a:r>
            <a:endParaRPr lang="en-US" altLang="ja-JP" sz="2000" b="1" dirty="0" smtClean="0"/>
          </a:p>
          <a:p>
            <a:r>
              <a:rPr lang="en-US" altLang="ja-JP" sz="2000" b="1" dirty="0" smtClean="0"/>
              <a:t>The rejection power is about 30 </a:t>
            </a:r>
          </a:p>
          <a:p>
            <a:r>
              <a:rPr lang="en-US" altLang="ja-JP" sz="2000" b="1" dirty="0" smtClean="0"/>
              <a:t>With </a:t>
            </a:r>
            <a:r>
              <a:rPr lang="en-US" altLang="ja-JP" sz="2000" b="1" dirty="0" err="1" smtClean="0"/>
              <a:t>Edep</a:t>
            </a:r>
            <a:r>
              <a:rPr lang="en-US" altLang="ja-JP" sz="2000" b="1" dirty="0" smtClean="0"/>
              <a:t>&gt;30GeV.</a:t>
            </a:r>
          </a:p>
        </p:txBody>
      </p:sp>
      <p:sp>
        <p:nvSpPr>
          <p:cNvPr id="17" name="Oval 16"/>
          <p:cNvSpPr/>
          <p:nvPr/>
        </p:nvSpPr>
        <p:spPr>
          <a:xfrm>
            <a:off x="304800" y="3810000"/>
            <a:ext cx="6858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7" idx="6"/>
          </p:cNvCxnSpPr>
          <p:nvPr/>
        </p:nvCxnSpPr>
        <p:spPr>
          <a:xfrm>
            <a:off x="990600" y="4038600"/>
            <a:ext cx="42672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5848290"/>
            <a:ext cx="26184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It looks OK for W+ &gt; e+</a:t>
            </a:r>
            <a:endParaRPr lang="en-US" sz="2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85800" y="2514600"/>
            <a:ext cx="1754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smtClean="0"/>
              <a:t>Test beam result</a:t>
            </a:r>
          </a:p>
          <a:p>
            <a:r>
              <a:rPr lang="en-US" altLang="ja-JP" b="1" dirty="0" smtClean="0"/>
              <a:t>&amp; MC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Additional rejection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3400" y="914400"/>
            <a:ext cx="574112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>
                <a:latin typeface="Calibri" pitchFamily="34" charset="0"/>
              </a:rPr>
              <a:t>―</a:t>
            </a:r>
            <a:r>
              <a:rPr lang="ja-JP" altLang="en-US" smtClean="0">
                <a:latin typeface="Calibri" pitchFamily="34" charset="0"/>
              </a:rPr>
              <a:t>　</a:t>
            </a:r>
            <a:r>
              <a:rPr lang="en-US" altLang="ja-JP" b="1" dirty="0" err="1" smtClean="0">
                <a:latin typeface="Calibri" pitchFamily="34" charset="0"/>
              </a:rPr>
              <a:t>EMCal</a:t>
            </a:r>
            <a:r>
              <a:rPr lang="en-US" altLang="ja-JP" b="1" dirty="0" smtClean="0">
                <a:latin typeface="Calibri" pitchFamily="34" charset="0"/>
              </a:rPr>
              <a:t> response </a:t>
            </a:r>
          </a:p>
          <a:p>
            <a:r>
              <a:rPr lang="en-US" dirty="0" smtClean="0">
                <a:latin typeface="Calibri" pitchFamily="34" charset="0"/>
              </a:rPr>
              <a:t>        </a:t>
            </a:r>
            <a:r>
              <a:rPr lang="en-US" dirty="0" err="1" smtClean="0">
                <a:latin typeface="Calibri" pitchFamily="34" charset="0"/>
              </a:rPr>
              <a:t>E_dep</a:t>
            </a:r>
            <a:r>
              <a:rPr lang="en-US" dirty="0" smtClean="0">
                <a:latin typeface="Calibri" pitchFamily="34" charset="0"/>
              </a:rPr>
              <a:t> measurement :  ~30 </a:t>
            </a:r>
          </a:p>
          <a:p>
            <a:r>
              <a:rPr lang="en-US" dirty="0" smtClean="0">
                <a:latin typeface="Calibri" pitchFamily="34" charset="0"/>
              </a:rPr>
              <a:t>        E/p : we can’t expect much because of bad resolution.</a:t>
            </a:r>
          </a:p>
          <a:p>
            <a:r>
              <a:rPr lang="en-US" dirty="0" smtClean="0">
                <a:latin typeface="Calibri" pitchFamily="34" charset="0"/>
              </a:rPr>
              <a:t>        cluster shape cut : at most factor 2?  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77913" y="3810000"/>
            <a:ext cx="696620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Calibri" pitchFamily="34" charset="0"/>
              </a:rPr>
              <a:t>―</a:t>
            </a:r>
            <a:r>
              <a:rPr lang="en-US" b="1" dirty="0" smtClean="0">
                <a:latin typeface="Calibri" pitchFamily="34" charset="0"/>
              </a:rPr>
              <a:t>TEC/TRD</a:t>
            </a:r>
          </a:p>
          <a:p>
            <a:r>
              <a:rPr lang="ja-JP" altLang="en-US" b="1" smtClean="0">
                <a:latin typeface="Calibri" pitchFamily="34" charset="0"/>
              </a:rPr>
              <a:t>        </a:t>
            </a:r>
            <a:r>
              <a:rPr lang="en-US" altLang="ja-JP" dirty="0" smtClean="0">
                <a:latin typeface="Calibri" pitchFamily="34" charset="0"/>
              </a:rPr>
              <a:t>Ideal with Xenon gas </a:t>
            </a:r>
            <a:r>
              <a:rPr lang="ja-JP" altLang="en-US" smtClean="0">
                <a:latin typeface="Calibri" pitchFamily="34" charset="0"/>
              </a:rPr>
              <a:t>　　</a:t>
            </a:r>
            <a:endParaRPr lang="en-US" altLang="ja-JP" dirty="0" smtClean="0">
              <a:latin typeface="Calibri" pitchFamily="34" charset="0"/>
            </a:endParaRPr>
          </a:p>
          <a:p>
            <a:r>
              <a:rPr lang="en-US" altLang="ja-JP" dirty="0" smtClean="0">
                <a:latin typeface="Calibri" pitchFamily="34" charset="0"/>
              </a:rPr>
              <a:t>        The acceptance will be limited, but it can be used for the reference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33400" y="2133600"/>
            <a:ext cx="37989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―</a:t>
            </a:r>
            <a:r>
              <a:rPr lang="ja-JP" altLang="en-US" b="1" smtClean="0">
                <a:latin typeface="Calibri" pitchFamily="34" charset="0"/>
              </a:rPr>
              <a:t>　</a:t>
            </a:r>
            <a:r>
              <a:rPr lang="en-US" altLang="ja-JP" b="1" dirty="0" smtClean="0">
                <a:latin typeface="Calibri" pitchFamily="34" charset="0"/>
              </a:rPr>
              <a:t>Isolation cut (study is in progress) 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914400" y="2590800"/>
            <a:ext cx="727051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>
                <a:latin typeface="Calibri" pitchFamily="34" charset="0"/>
              </a:rPr>
              <a:t>From </a:t>
            </a:r>
            <a:r>
              <a:rPr lang="en-US" dirty="0">
                <a:latin typeface="Calibri" pitchFamily="34" charset="0"/>
              </a:rPr>
              <a:t>the direct photon analysis (</a:t>
            </a:r>
            <a:r>
              <a:rPr lang="en-US" dirty="0" err="1">
                <a:latin typeface="Calibri" pitchFamily="34" charset="0"/>
              </a:rPr>
              <a:t>sqrt</a:t>
            </a:r>
            <a:r>
              <a:rPr lang="en-US" dirty="0">
                <a:latin typeface="Calibri" pitchFamily="34" charset="0"/>
              </a:rPr>
              <a:t>(s)=200GeV), pi0 photons are rejected </a:t>
            </a:r>
          </a:p>
          <a:p>
            <a:r>
              <a:rPr lang="en-US" dirty="0">
                <a:latin typeface="Calibri" pitchFamily="34" charset="0"/>
              </a:rPr>
              <a:t>by a factor 2 with an isolation cut</a:t>
            </a:r>
            <a:r>
              <a:rPr lang="en-US" dirty="0" smtClean="0">
                <a:latin typeface="Calibri" pitchFamily="34" charset="0"/>
              </a:rPr>
              <a:t>.</a:t>
            </a:r>
          </a:p>
          <a:p>
            <a:r>
              <a:rPr lang="en-US" dirty="0" smtClean="0">
                <a:latin typeface="Calibri" pitchFamily="34" charset="0"/>
              </a:rPr>
              <a:t>Estimation with PYTHIA : in progress</a:t>
            </a:r>
            <a:endParaRPr lang="en-US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Preparation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781050" y="1371600"/>
            <a:ext cx="759009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dirty="0" smtClean="0">
                <a:latin typeface="Calibri" pitchFamily="34" charset="0"/>
              </a:rPr>
              <a:t>The dynamic range of the </a:t>
            </a:r>
            <a:r>
              <a:rPr lang="en-US" altLang="ja-JP" dirty="0" err="1" smtClean="0">
                <a:latin typeface="Calibri" pitchFamily="34" charset="0"/>
              </a:rPr>
              <a:t>EMCal</a:t>
            </a:r>
            <a:r>
              <a:rPr lang="en-US" altLang="ja-JP" dirty="0" smtClean="0">
                <a:latin typeface="Calibri" pitchFamily="34" charset="0"/>
              </a:rPr>
              <a:t> needs to be changed (Currently ~20GeV max) </a:t>
            </a:r>
          </a:p>
          <a:p>
            <a:r>
              <a:rPr lang="en-US" altLang="ja-JP" dirty="0" smtClean="0">
                <a:latin typeface="Calibri" pitchFamily="34" charset="0"/>
              </a:rPr>
              <a:t>       Based on the current calibration, it’s relatively easy.</a:t>
            </a:r>
          </a:p>
          <a:p>
            <a:r>
              <a:rPr lang="en-US" altLang="ja-JP" dirty="0" smtClean="0">
                <a:latin typeface="Calibri" pitchFamily="34" charset="0"/>
              </a:rPr>
              <a:t>       There are some bad regions. Hope to fix them at this time. </a:t>
            </a:r>
          </a:p>
        </p:txBody>
      </p:sp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781050" y="2438400"/>
            <a:ext cx="373781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dirty="0" smtClean="0">
                <a:latin typeface="Calibri" pitchFamily="34" charset="0"/>
              </a:rPr>
              <a:t>Vertex position</a:t>
            </a:r>
          </a:p>
          <a:p>
            <a:r>
              <a:rPr lang="en-US" altLang="ja-JP" dirty="0" smtClean="0">
                <a:latin typeface="Calibri" pitchFamily="34" charset="0"/>
              </a:rPr>
              <a:t>      Do we need to calibrate fill by fill? </a:t>
            </a:r>
          </a:p>
          <a:p>
            <a:r>
              <a:rPr lang="en-US" altLang="ja-JP" dirty="0" smtClean="0">
                <a:latin typeface="Calibri" pitchFamily="34" charset="0"/>
              </a:rPr>
              <a:t>      Can it be done with physics runs?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04850" y="4354513"/>
            <a:ext cx="13716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704850" y="914400"/>
            <a:ext cx="1295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899697" y="4735513"/>
            <a:ext cx="355892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dirty="0" smtClean="0">
                <a:latin typeface="Calibri" pitchFamily="34" charset="0"/>
              </a:rPr>
              <a:t>Maintenances of GEANT based MC</a:t>
            </a:r>
          </a:p>
          <a:p>
            <a:r>
              <a:rPr lang="en-US" altLang="ja-JP" dirty="0" smtClean="0">
                <a:latin typeface="Calibri" pitchFamily="34" charset="0"/>
              </a:rPr>
              <a:t>       reliability of </a:t>
            </a:r>
            <a:r>
              <a:rPr lang="en-US" altLang="ja-JP" dirty="0" err="1" smtClean="0">
                <a:latin typeface="Calibri" pitchFamily="34" charset="0"/>
              </a:rPr>
              <a:t>hadronic</a:t>
            </a:r>
            <a:r>
              <a:rPr lang="en-US" altLang="ja-JP" dirty="0" smtClean="0">
                <a:latin typeface="Calibri" pitchFamily="34" charset="0"/>
              </a:rPr>
              <a:t> shower?   </a:t>
            </a:r>
          </a:p>
        </p:txBody>
      </p:sp>
      <p:sp>
        <p:nvSpPr>
          <p:cNvPr id="15" name="TextBox 18"/>
          <p:cNvSpPr txBox="1">
            <a:spLocks noChangeArrowheads="1"/>
          </p:cNvSpPr>
          <p:nvPr/>
        </p:nvSpPr>
        <p:spPr bwMode="auto">
          <a:xfrm>
            <a:off x="628650" y="925513"/>
            <a:ext cx="103945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b="1" dirty="0" smtClean="0">
                <a:latin typeface="Calibri" pitchFamily="34" charset="0"/>
              </a:rPr>
              <a:t>For Run9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16" name="TextBox 19"/>
          <p:cNvSpPr txBox="1">
            <a:spLocks noChangeArrowheads="1"/>
          </p:cNvSpPr>
          <p:nvPr/>
        </p:nvSpPr>
        <p:spPr bwMode="auto">
          <a:xfrm>
            <a:off x="711360" y="4367213"/>
            <a:ext cx="31340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Software and analysis method</a:t>
            </a:r>
            <a:endParaRPr lang="en-US" b="1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Summary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4267200"/>
            <a:ext cx="1135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For Run9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09545" y="838200"/>
            <a:ext cx="88840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One of RHIC spin programs : Measurement of (anti-) quark components of proton </a:t>
            </a:r>
          </a:p>
          <a:p>
            <a:r>
              <a:rPr lang="en-US" altLang="ja-JP" sz="2000" b="1" dirty="0" smtClean="0"/>
              <a:t>                                                    spin with W production. 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81000" y="1447800"/>
            <a:ext cx="52728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High energy electron in the PHENIX central arm.</a:t>
            </a:r>
          </a:p>
          <a:p>
            <a:r>
              <a:rPr lang="en-US" altLang="ja-JP" sz="2000" b="1" dirty="0" smtClean="0"/>
              <a:t>          W+ is more than W-.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345" y="2286000"/>
            <a:ext cx="615687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smtClean="0"/>
              <a:t>Trigger  OK</a:t>
            </a:r>
          </a:p>
          <a:p>
            <a:r>
              <a:rPr lang="en-US" altLang="ja-JP" sz="2000" dirty="0" smtClean="0"/>
              <a:t>Charge discrimination OK ( important to know the vertex)</a:t>
            </a:r>
          </a:p>
          <a:p>
            <a:r>
              <a:rPr lang="en-US" altLang="ja-JP" sz="2000" dirty="0" smtClean="0"/>
              <a:t>Background rejection</a:t>
            </a:r>
          </a:p>
          <a:p>
            <a:r>
              <a:rPr lang="en-US" altLang="ja-JP" sz="2000" dirty="0" smtClean="0"/>
              <a:t>   BG from neutral </a:t>
            </a:r>
            <a:r>
              <a:rPr lang="en-US" altLang="ja-JP" sz="2000" dirty="0" err="1" smtClean="0"/>
              <a:t>pions</a:t>
            </a:r>
            <a:r>
              <a:rPr lang="en-US" altLang="ja-JP" sz="2000" dirty="0" smtClean="0"/>
              <a:t>: &gt;100</a:t>
            </a:r>
          </a:p>
          <a:p>
            <a:r>
              <a:rPr lang="en-US" altLang="ja-JP" sz="2000" dirty="0" smtClean="0"/>
              <a:t>   BG from charged </a:t>
            </a:r>
            <a:r>
              <a:rPr lang="en-US" altLang="ja-JP" sz="2000" dirty="0" err="1" smtClean="0"/>
              <a:t>pions</a:t>
            </a:r>
            <a:r>
              <a:rPr lang="en-US" altLang="ja-JP" sz="2000" dirty="0" smtClean="0"/>
              <a:t>: &gt;30              </a:t>
            </a:r>
            <a:r>
              <a:rPr lang="en-US" altLang="ja-JP" sz="2000" dirty="0" smtClean="0">
                <a:sym typeface="Symbol"/>
              </a:rPr>
              <a:t>enough for W+</a:t>
            </a:r>
            <a:r>
              <a:rPr lang="en-US" altLang="ja-JP" sz="2000" dirty="0" smtClean="0"/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724400"/>
            <a:ext cx="6084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About 3 weeks of 500GeV run?  (The priority is in 200GeV run)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509" y="5162490"/>
            <a:ext cx="48311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smtClean="0"/>
              <a:t>7.5/</a:t>
            </a:r>
            <a:r>
              <a:rPr lang="en-US" altLang="ja-JP" sz="2000" dirty="0" err="1" smtClean="0"/>
              <a:t>pb</a:t>
            </a:r>
            <a:r>
              <a:rPr lang="en-US" altLang="ja-JP" sz="2000" dirty="0" smtClean="0"/>
              <a:t> (recorded)* 3 = 22.5/</a:t>
            </a:r>
            <a:r>
              <a:rPr lang="en-US" altLang="ja-JP" sz="2000" dirty="0" err="1" smtClean="0"/>
              <a:t>pb</a:t>
            </a:r>
            <a:endParaRPr lang="en-US" altLang="ja-JP" sz="2000" dirty="0" smtClean="0"/>
          </a:p>
          <a:p>
            <a:r>
              <a:rPr lang="en-US" sz="2000" dirty="0" smtClean="0">
                <a:sym typeface="Symbol"/>
              </a:rPr>
              <a:t></a:t>
            </a:r>
            <a:r>
              <a:rPr lang="en-US" sz="2000" dirty="0" smtClean="0"/>
              <a:t>A</a:t>
            </a:r>
            <a:r>
              <a:rPr lang="en-US" sz="2000" baseline="-25000" dirty="0" smtClean="0"/>
              <a:t>L</a:t>
            </a:r>
            <a:r>
              <a:rPr lang="en-US" sz="2000" dirty="0" smtClean="0"/>
              <a:t>=0.07</a:t>
            </a:r>
            <a:r>
              <a:rPr lang="ja-JP" altLang="en-US" sz="2000" smtClean="0"/>
              <a:t>　</a:t>
            </a:r>
            <a:r>
              <a:rPr lang="en-US" altLang="ja-JP" sz="2000" dirty="0" smtClean="0"/>
              <a:t>(with 50% </a:t>
            </a:r>
            <a:r>
              <a:rPr lang="en-US" altLang="ja-JP" sz="2000" dirty="0" err="1" smtClean="0"/>
              <a:t>pol</a:t>
            </a:r>
            <a:r>
              <a:rPr lang="en-US" altLang="ja-JP" sz="2000" dirty="0" smtClean="0"/>
              <a:t>) for ~0.4 in W+</a:t>
            </a:r>
            <a:r>
              <a:rPr lang="en-US" altLang="ja-JP" sz="2000" dirty="0" smtClean="0">
                <a:sym typeface="Symbol"/>
              </a:rPr>
              <a:t>e+</a:t>
            </a:r>
            <a:endParaRPr lang="en-US" altLang="ja-JP" sz="20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5228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It is the first step to confirm the non-zero asymmetry.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38400"/>
            <a:ext cx="8229600" cy="1143000"/>
          </a:xfrm>
        </p:spPr>
        <p:txBody>
          <a:bodyPr/>
          <a:lstStyle/>
          <a:p>
            <a:r>
              <a:rPr lang="en-US" dirty="0" smtClean="0"/>
              <a:t>Backup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PHENIX algorithm 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219200" y="2133600"/>
            <a:ext cx="7162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4914900" y="2781300"/>
            <a:ext cx="2209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1268361" y="2133600"/>
            <a:ext cx="5171768" cy="1199535"/>
          </a:xfrm>
          <a:custGeom>
            <a:avLst/>
            <a:gdLst>
              <a:gd name="connsiteX0" fmla="*/ 0 w 5171768"/>
              <a:gd name="connsiteY0" fmla="*/ 0 h 1199535"/>
              <a:gd name="connsiteX1" fmla="*/ 2025445 w 5171768"/>
              <a:gd name="connsiteY1" fmla="*/ 19665 h 1199535"/>
              <a:gd name="connsiteX2" fmla="*/ 3657600 w 5171768"/>
              <a:gd name="connsiteY2" fmla="*/ 68826 h 1199535"/>
              <a:gd name="connsiteX3" fmla="*/ 4404852 w 5171768"/>
              <a:gd name="connsiteY3" fmla="*/ 363794 h 1199535"/>
              <a:gd name="connsiteX4" fmla="*/ 5171768 w 5171768"/>
              <a:gd name="connsiteY4" fmla="*/ 1199535 h 1199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1768" h="1199535">
                <a:moveTo>
                  <a:pt x="0" y="0"/>
                </a:moveTo>
                <a:lnTo>
                  <a:pt x="2025445" y="19665"/>
                </a:lnTo>
                <a:cubicBezTo>
                  <a:pt x="2635045" y="31136"/>
                  <a:pt x="3261032" y="11471"/>
                  <a:pt x="3657600" y="68826"/>
                </a:cubicBezTo>
                <a:cubicBezTo>
                  <a:pt x="4054168" y="126181"/>
                  <a:pt x="4152491" y="175343"/>
                  <a:pt x="4404852" y="363794"/>
                </a:cubicBezTo>
                <a:cubicBezTo>
                  <a:pt x="4657213" y="552245"/>
                  <a:pt x="4914490" y="875890"/>
                  <a:pt x="5171768" y="119953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72000" y="1524000"/>
            <a:ext cx="1371600" cy="2362200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1219200" y="2133600"/>
            <a:ext cx="63246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6341806" y="2880852"/>
            <a:ext cx="149123" cy="324464"/>
          </a:xfrm>
          <a:custGeom>
            <a:avLst/>
            <a:gdLst>
              <a:gd name="connsiteX0" fmla="*/ 127820 w 149123"/>
              <a:gd name="connsiteY0" fmla="*/ 0 h 324464"/>
              <a:gd name="connsiteX1" fmla="*/ 127820 w 149123"/>
              <a:gd name="connsiteY1" fmla="*/ 157316 h 324464"/>
              <a:gd name="connsiteX2" fmla="*/ 0 w 149123"/>
              <a:gd name="connsiteY2" fmla="*/ 324464 h 32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123" h="324464">
                <a:moveTo>
                  <a:pt x="127820" y="0"/>
                </a:moveTo>
                <a:cubicBezTo>
                  <a:pt x="138471" y="51619"/>
                  <a:pt x="149123" y="103239"/>
                  <a:pt x="127820" y="157316"/>
                </a:cubicBezTo>
                <a:cubicBezTo>
                  <a:pt x="106517" y="211393"/>
                  <a:pt x="53258" y="267928"/>
                  <a:pt x="0" y="324464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477000" y="297180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ym typeface="Symbol"/>
              </a:rPr>
              <a:t>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752600" y="4343400"/>
            <a:ext cx="5085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It is ideal if the magnetic field is localized at the end.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38200" y="1676400"/>
            <a:ext cx="767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vertex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791200" y="114300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DC</a:t>
            </a:r>
            <a:endParaRPr lang="en-US" dirty="0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9/16/2008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W-&gt;e charge identification</a:t>
            </a:r>
            <a:endParaRPr lang="en-US" dirty="0"/>
          </a:p>
        </p:txBody>
      </p:sp>
      <p:pic>
        <p:nvPicPr>
          <p:cNvPr id="1026" name="Picture 2" descr="C:\Users\okada_2\Desktop\mappp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1790700"/>
            <a:ext cx="6629400" cy="44577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953000" y="1371600"/>
            <a:ext cx="3198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Field map (from Sim3D++.root)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4800" y="2286000"/>
            <a:ext cx="7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  <a:r>
              <a:rPr lang="en-US" dirty="0" smtClean="0"/>
              <a:t>auss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934200" y="63246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cm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772400" y="2590800"/>
            <a:ext cx="1178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Red points</a:t>
            </a:r>
          </a:p>
          <a:p>
            <a:r>
              <a:rPr lang="en-US" dirty="0" smtClean="0"/>
              <a:t>z=0,phi=0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90600" y="1295400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++ field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9/16/2008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C:\Users\okada_2\Desktop\mappm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1752600"/>
            <a:ext cx="6629400" cy="44577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4953000" y="1371600"/>
            <a:ext cx="3099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Field map (from Sim3D+-.root)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1371600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+- field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9/16/2008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Magnetic field integral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219200" y="1447800"/>
            <a:ext cx="594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1238865" y="1442064"/>
            <a:ext cx="6154993" cy="1212645"/>
          </a:xfrm>
          <a:custGeom>
            <a:avLst/>
            <a:gdLst>
              <a:gd name="connsiteX0" fmla="*/ 0 w 6154993"/>
              <a:gd name="connsiteY0" fmla="*/ 0 h 1209368"/>
              <a:gd name="connsiteX1" fmla="*/ 1130709 w 6154993"/>
              <a:gd name="connsiteY1" fmla="*/ 68826 h 1209368"/>
              <a:gd name="connsiteX2" fmla="*/ 2694038 w 6154993"/>
              <a:gd name="connsiteY2" fmla="*/ 245806 h 1209368"/>
              <a:gd name="connsiteX3" fmla="*/ 4385187 w 6154993"/>
              <a:gd name="connsiteY3" fmla="*/ 432619 h 1209368"/>
              <a:gd name="connsiteX4" fmla="*/ 5496232 w 6154993"/>
              <a:gd name="connsiteY4" fmla="*/ 796413 h 1209368"/>
              <a:gd name="connsiteX5" fmla="*/ 6154993 w 6154993"/>
              <a:gd name="connsiteY5" fmla="*/ 1209368 h 1209368"/>
              <a:gd name="connsiteX0" fmla="*/ 0 w 6154993"/>
              <a:gd name="connsiteY0" fmla="*/ 0 h 1209368"/>
              <a:gd name="connsiteX1" fmla="*/ 1130709 w 6154993"/>
              <a:gd name="connsiteY1" fmla="*/ 68826 h 1209368"/>
              <a:gd name="connsiteX2" fmla="*/ 2694038 w 6154993"/>
              <a:gd name="connsiteY2" fmla="*/ 245806 h 1209368"/>
              <a:gd name="connsiteX3" fmla="*/ 4385187 w 6154993"/>
              <a:gd name="connsiteY3" fmla="*/ 432619 h 1209368"/>
              <a:gd name="connsiteX4" fmla="*/ 5496232 w 6154993"/>
              <a:gd name="connsiteY4" fmla="*/ 796413 h 1209368"/>
              <a:gd name="connsiteX5" fmla="*/ 6154993 w 6154993"/>
              <a:gd name="connsiteY5" fmla="*/ 1209368 h 1209368"/>
              <a:gd name="connsiteX0" fmla="*/ 0 w 6154993"/>
              <a:gd name="connsiteY0" fmla="*/ 0 h 1209368"/>
              <a:gd name="connsiteX1" fmla="*/ 1130709 w 6154993"/>
              <a:gd name="connsiteY1" fmla="*/ 68826 h 1209368"/>
              <a:gd name="connsiteX2" fmla="*/ 2694038 w 6154993"/>
              <a:gd name="connsiteY2" fmla="*/ 245806 h 1209368"/>
              <a:gd name="connsiteX3" fmla="*/ 4385187 w 6154993"/>
              <a:gd name="connsiteY3" fmla="*/ 432619 h 1209368"/>
              <a:gd name="connsiteX4" fmla="*/ 5496232 w 6154993"/>
              <a:gd name="connsiteY4" fmla="*/ 796413 h 1209368"/>
              <a:gd name="connsiteX5" fmla="*/ 6154993 w 6154993"/>
              <a:gd name="connsiteY5" fmla="*/ 1209368 h 1209368"/>
              <a:gd name="connsiteX0" fmla="*/ 0 w 6154993"/>
              <a:gd name="connsiteY0" fmla="*/ 0 h 1209368"/>
              <a:gd name="connsiteX1" fmla="*/ 1130709 w 6154993"/>
              <a:gd name="connsiteY1" fmla="*/ 68826 h 1209368"/>
              <a:gd name="connsiteX2" fmla="*/ 2694038 w 6154993"/>
              <a:gd name="connsiteY2" fmla="*/ 245806 h 1209368"/>
              <a:gd name="connsiteX3" fmla="*/ 4385187 w 6154993"/>
              <a:gd name="connsiteY3" fmla="*/ 432619 h 1209368"/>
              <a:gd name="connsiteX4" fmla="*/ 5496232 w 6154993"/>
              <a:gd name="connsiteY4" fmla="*/ 796413 h 1209368"/>
              <a:gd name="connsiteX5" fmla="*/ 6154993 w 6154993"/>
              <a:gd name="connsiteY5" fmla="*/ 1209368 h 1209368"/>
              <a:gd name="connsiteX0" fmla="*/ 0 w 6154993"/>
              <a:gd name="connsiteY0" fmla="*/ 0 h 1209368"/>
              <a:gd name="connsiteX1" fmla="*/ 1130709 w 6154993"/>
              <a:gd name="connsiteY1" fmla="*/ 68826 h 1209368"/>
              <a:gd name="connsiteX2" fmla="*/ 2694038 w 6154993"/>
              <a:gd name="connsiteY2" fmla="*/ 245806 h 1209368"/>
              <a:gd name="connsiteX3" fmla="*/ 4385187 w 6154993"/>
              <a:gd name="connsiteY3" fmla="*/ 432619 h 1209368"/>
              <a:gd name="connsiteX4" fmla="*/ 5496232 w 6154993"/>
              <a:gd name="connsiteY4" fmla="*/ 796413 h 1209368"/>
              <a:gd name="connsiteX5" fmla="*/ 6154993 w 6154993"/>
              <a:gd name="connsiteY5" fmla="*/ 1209368 h 1209368"/>
              <a:gd name="connsiteX0" fmla="*/ 0 w 6154993"/>
              <a:gd name="connsiteY0" fmla="*/ 3277 h 1212645"/>
              <a:gd name="connsiteX1" fmla="*/ 1130709 w 6154993"/>
              <a:gd name="connsiteY1" fmla="*/ 72103 h 1212645"/>
              <a:gd name="connsiteX2" fmla="*/ 4385187 w 6154993"/>
              <a:gd name="connsiteY2" fmla="*/ 435896 h 1212645"/>
              <a:gd name="connsiteX3" fmla="*/ 5496232 w 6154993"/>
              <a:gd name="connsiteY3" fmla="*/ 799690 h 1212645"/>
              <a:gd name="connsiteX4" fmla="*/ 6154993 w 6154993"/>
              <a:gd name="connsiteY4" fmla="*/ 1212645 h 1212645"/>
              <a:gd name="connsiteX0" fmla="*/ 0 w 6154993"/>
              <a:gd name="connsiteY0" fmla="*/ 3277 h 1212645"/>
              <a:gd name="connsiteX1" fmla="*/ 1130709 w 6154993"/>
              <a:gd name="connsiteY1" fmla="*/ 72103 h 1212645"/>
              <a:gd name="connsiteX2" fmla="*/ 2684206 w 6154993"/>
              <a:gd name="connsiteY2" fmla="*/ 219588 h 1212645"/>
              <a:gd name="connsiteX3" fmla="*/ 4385187 w 6154993"/>
              <a:gd name="connsiteY3" fmla="*/ 435896 h 1212645"/>
              <a:gd name="connsiteX4" fmla="*/ 5496232 w 6154993"/>
              <a:gd name="connsiteY4" fmla="*/ 799690 h 1212645"/>
              <a:gd name="connsiteX5" fmla="*/ 6154993 w 6154993"/>
              <a:gd name="connsiteY5" fmla="*/ 1212645 h 1212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54993" h="1212645">
                <a:moveTo>
                  <a:pt x="0" y="3277"/>
                </a:moveTo>
                <a:cubicBezTo>
                  <a:pt x="340851" y="17206"/>
                  <a:pt x="399845" y="0"/>
                  <a:pt x="1130709" y="72103"/>
                </a:cubicBezTo>
                <a:cubicBezTo>
                  <a:pt x="1578077" y="108155"/>
                  <a:pt x="2141793" y="158956"/>
                  <a:pt x="2684206" y="219588"/>
                </a:cubicBezTo>
                <a:cubicBezTo>
                  <a:pt x="3226619" y="280220"/>
                  <a:pt x="3916516" y="339212"/>
                  <a:pt x="4385187" y="435896"/>
                </a:cubicBezTo>
                <a:cubicBezTo>
                  <a:pt x="4853858" y="532580"/>
                  <a:pt x="5201264" y="670232"/>
                  <a:pt x="5496232" y="799690"/>
                </a:cubicBezTo>
                <a:cubicBezTo>
                  <a:pt x="5791200" y="929148"/>
                  <a:pt x="5973096" y="1070896"/>
                  <a:pt x="6154993" y="1212645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5400000">
            <a:off x="1524000" y="1524000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1677194" y="1523206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1828006" y="1523206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5182394" y="1600200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335588" y="1599406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>
            <a:off x="5486400" y="1599406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4420" y="1066800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…..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180020" y="1066800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…..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 rot="5400000">
            <a:off x="5524500" y="1943100"/>
            <a:ext cx="1905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019800" y="2133600"/>
            <a:ext cx="1295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53200" y="1600200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</a:t>
            </a:r>
            <a:r>
              <a:rPr lang="en-US" dirty="0" smtClean="0">
                <a:sym typeface="Symbol"/>
              </a:rPr>
              <a:t>x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086600" y="21336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ym typeface="Symbol"/>
              </a:rPr>
              <a:t></a:t>
            </a:r>
            <a:endParaRPr lang="en-US" dirty="0"/>
          </a:p>
        </p:txBody>
      </p:sp>
      <p:sp>
        <p:nvSpPr>
          <p:cNvPr id="22" name="Freeform 21"/>
          <p:cNvSpPr/>
          <p:nvPr/>
        </p:nvSpPr>
        <p:spPr>
          <a:xfrm>
            <a:off x="6961239" y="2133600"/>
            <a:ext cx="75381" cy="216310"/>
          </a:xfrm>
          <a:custGeom>
            <a:avLst/>
            <a:gdLst>
              <a:gd name="connsiteX0" fmla="*/ 39329 w 75381"/>
              <a:gd name="connsiteY0" fmla="*/ 0 h 216310"/>
              <a:gd name="connsiteX1" fmla="*/ 68826 w 75381"/>
              <a:gd name="connsiteY1" fmla="*/ 117987 h 216310"/>
              <a:gd name="connsiteX2" fmla="*/ 0 w 75381"/>
              <a:gd name="connsiteY2" fmla="*/ 216310 h 216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381" h="216310">
                <a:moveTo>
                  <a:pt x="39329" y="0"/>
                </a:moveTo>
                <a:cubicBezTo>
                  <a:pt x="57355" y="40967"/>
                  <a:pt x="75381" y="81935"/>
                  <a:pt x="68826" y="117987"/>
                </a:cubicBezTo>
                <a:cubicBezTo>
                  <a:pt x="62271" y="154039"/>
                  <a:pt x="31135" y="185174"/>
                  <a:pt x="0" y="21631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/>
          <p:nvPr/>
        </p:nvCxnSpPr>
        <p:spPr>
          <a:xfrm rot="5400000">
            <a:off x="6210300" y="1790700"/>
            <a:ext cx="685800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1066800" y="2362200"/>
          <a:ext cx="914400" cy="990600"/>
        </p:xfrm>
        <a:graphic>
          <a:graphicData uri="http://schemas.openxmlformats.org/presentationml/2006/ole">
            <p:oleObj spid="_x0000_s1026" name="Equation" r:id="rId4" imgW="609480" imgH="660240" progId="Equation.3">
              <p:embed/>
            </p:oleObj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2514600" y="2286000"/>
          <a:ext cx="1452282" cy="609600"/>
        </p:xfrm>
        <a:graphic>
          <a:graphicData uri="http://schemas.openxmlformats.org/presentationml/2006/ole">
            <p:oleObj spid="_x0000_s1027" name="Equation" r:id="rId5" imgW="1028520" imgH="431640" progId="Equation.3">
              <p:embed/>
            </p:oleObj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4343400" y="3048000"/>
          <a:ext cx="1879600" cy="457200"/>
        </p:xfrm>
        <a:graphic>
          <a:graphicData uri="http://schemas.openxmlformats.org/presentationml/2006/ole">
            <p:oleObj spid="_x0000_s1028" name="Equation" r:id="rId6" imgW="939600" imgH="228600" progId="Equation.3">
              <p:embed/>
            </p:oleObj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33400" y="3505200"/>
            <a:ext cx="2483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40GeV charged particle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849469"/>
            <a:ext cx="6268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++ field : </a:t>
            </a:r>
            <a:r>
              <a:rPr lang="en-US" dirty="0" smtClean="0">
                <a:sym typeface="Symbol"/>
              </a:rPr>
              <a:t>=7.73[</a:t>
            </a:r>
            <a:r>
              <a:rPr lang="en-US" dirty="0" err="1" smtClean="0">
                <a:sym typeface="Symbol"/>
              </a:rPr>
              <a:t>mrad</a:t>
            </a:r>
            <a:r>
              <a:rPr lang="en-US" dirty="0" smtClean="0">
                <a:sym typeface="Symbol"/>
              </a:rPr>
              <a:t>], x=0.0117[m], l=2.2m    =2.4 [</a:t>
            </a:r>
            <a:r>
              <a:rPr lang="en-US" dirty="0" err="1" smtClean="0">
                <a:sym typeface="Symbol"/>
              </a:rPr>
              <a:t>mrad</a:t>
            </a:r>
            <a:r>
              <a:rPr lang="en-US" dirty="0" smtClean="0">
                <a:sym typeface="Symbol"/>
              </a:rPr>
              <a:t>]</a:t>
            </a:r>
          </a:p>
          <a:p>
            <a:r>
              <a:rPr lang="en-US" dirty="0" smtClean="0">
                <a:sym typeface="Symbol"/>
              </a:rPr>
              <a:t>+- field : =3.24[</a:t>
            </a:r>
            <a:r>
              <a:rPr lang="en-US" dirty="0" err="1" smtClean="0">
                <a:sym typeface="Symbol"/>
              </a:rPr>
              <a:t>mrad</a:t>
            </a:r>
            <a:r>
              <a:rPr lang="en-US" dirty="0" smtClean="0">
                <a:sym typeface="Symbol"/>
              </a:rPr>
              <a:t>], x=0.00331[m], l=2.2m    =1.7 [</a:t>
            </a:r>
            <a:r>
              <a:rPr lang="en-US" dirty="0" err="1" smtClean="0">
                <a:sym typeface="Symbol"/>
              </a:rPr>
              <a:t>mrad</a:t>
            </a:r>
            <a:r>
              <a:rPr lang="en-US" dirty="0" smtClean="0">
                <a:sym typeface="Symbol"/>
              </a:rPr>
              <a:t>]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09600" y="4724400"/>
            <a:ext cx="629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From DC resolution (~0.5mrad), the +- field is feasible (3</a:t>
            </a:r>
            <a:r>
              <a:rPr lang="en-US" dirty="0" smtClean="0">
                <a:sym typeface="Symbol"/>
              </a:rPr>
              <a:t> effect)</a:t>
            </a:r>
            <a:r>
              <a:rPr lang="en-US" dirty="0" smtClean="0"/>
              <a:t>.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381000" y="5105400"/>
            <a:ext cx="746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09600" y="5257800"/>
            <a:ext cx="53669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Here it assumed ultimate vertex position resolution.</a:t>
            </a:r>
          </a:p>
          <a:p>
            <a:endParaRPr lang="en-US" dirty="0" smtClean="0"/>
          </a:p>
          <a:p>
            <a:r>
              <a:rPr lang="en-US" dirty="0" smtClean="0">
                <a:sym typeface="Symbol"/>
              </a:rPr>
              <a:t>How precise can we determine the position?</a:t>
            </a:r>
          </a:p>
          <a:p>
            <a:r>
              <a:rPr lang="en-US" dirty="0" smtClean="0"/>
              <a:t>The beam size itself is </a:t>
            </a:r>
            <a:r>
              <a:rPr lang="en-US" dirty="0" smtClean="0">
                <a:sym typeface="Symbol"/>
              </a:rPr>
              <a:t>~0.3mm from the </a:t>
            </a:r>
            <a:r>
              <a:rPr lang="en-US" dirty="0" err="1" smtClean="0">
                <a:sym typeface="Symbol"/>
              </a:rPr>
              <a:t>vernier</a:t>
            </a:r>
            <a:r>
              <a:rPr lang="en-US" dirty="0" smtClean="0">
                <a:sym typeface="Symbol"/>
              </a:rPr>
              <a:t> scan. </a:t>
            </a:r>
            <a:endParaRPr lang="en-US" dirty="0" smtClean="0"/>
          </a:p>
        </p:txBody>
      </p:sp>
      <p:sp>
        <p:nvSpPr>
          <p:cNvPr id="38" name="Date Placeholder 3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9/16/2008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947</Words>
  <Application>Microsoft Office PowerPoint</Application>
  <PresentationFormat>On-screen Show (4:3)</PresentationFormat>
  <Paragraphs>255</Paragraphs>
  <Slides>19</Slides>
  <Notes>18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Office Theme</vt:lpstr>
      <vt:lpstr>Equation</vt:lpstr>
      <vt:lpstr> PHENIX Central arm physics  with s=500GeV (polarized) pp collisions </vt:lpstr>
      <vt:lpstr>RHIC spin program</vt:lpstr>
      <vt:lpstr>(anti-) quark components of proton spin</vt:lpstr>
      <vt:lpstr>The current knowledge</vt:lpstr>
      <vt:lpstr>How to detect W</vt:lpstr>
      <vt:lpstr>W-&gt;e in the central arm</vt:lpstr>
      <vt:lpstr>Asymmetry expected</vt:lpstr>
      <vt:lpstr>We at the central arm</vt:lpstr>
      <vt:lpstr>Charge identification</vt:lpstr>
      <vt:lpstr>EMCal energy resolution</vt:lpstr>
      <vt:lpstr>Rejection of charged pions </vt:lpstr>
      <vt:lpstr>Additional rejection</vt:lpstr>
      <vt:lpstr>Preparation</vt:lpstr>
      <vt:lpstr>Summary</vt:lpstr>
      <vt:lpstr>Backup</vt:lpstr>
      <vt:lpstr>PHENIX algorithm </vt:lpstr>
      <vt:lpstr>W-&gt;e charge identification</vt:lpstr>
      <vt:lpstr>Slide 18</vt:lpstr>
      <vt:lpstr>Magnetic field integral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(polarized) p+p at s=500GeV  in PHENIX Central Arm</dc:title>
  <dc:creator>Kensuke Okada</dc:creator>
  <cp:lastModifiedBy>Kensuke okada</cp:lastModifiedBy>
  <cp:revision>18</cp:revision>
  <dcterms:created xsi:type="dcterms:W3CDTF">2008-09-17T14:32:07Z</dcterms:created>
  <dcterms:modified xsi:type="dcterms:W3CDTF">2008-09-29T16:16:42Z</dcterms:modified>
</cp:coreProperties>
</file>