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0" r:id="rId4"/>
    <p:sldId id="261" r:id="rId5"/>
    <p:sldId id="276" r:id="rId6"/>
    <p:sldId id="262" r:id="rId7"/>
    <p:sldId id="277" r:id="rId8"/>
    <p:sldId id="274" r:id="rId9"/>
    <p:sldId id="275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8" r:id="rId18"/>
    <p:sldId id="271" r:id="rId19"/>
    <p:sldId id="279" r:id="rId20"/>
    <p:sldId id="281" r:id="rId21"/>
    <p:sldId id="282" r:id="rId22"/>
    <p:sldId id="283" r:id="rId23"/>
    <p:sldId id="284" r:id="rId24"/>
    <p:sldId id="285" r:id="rId25"/>
    <p:sldId id="286" r:id="rId26"/>
    <p:sldId id="272" r:id="rId27"/>
    <p:sldId id="273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11DA6DDE-B024-4478-A87D-6C807923B201}" type="datetimeFigureOut">
              <a:rPr lang="en-CA" smtClean="0"/>
              <a:pPr/>
              <a:t>11/10/2012</a:t>
            </a:fld>
            <a:endParaRPr lang="en-CA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CA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C27FD9D9-88B2-4B8B-A7E0-4C408B9E442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11DA6DDE-B024-4478-A87D-6C807923B201}" type="datetimeFigureOut">
              <a:rPr lang="en-CA" smtClean="0"/>
              <a:pPr/>
              <a:t>11/10/2012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D9D9-88B2-4B8B-A7E0-4C408B9E442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11DA6DDE-B024-4478-A87D-6C807923B201}" type="datetimeFigureOut">
              <a:rPr lang="en-CA" smtClean="0"/>
              <a:pPr/>
              <a:t>11/10/2012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C27FD9D9-88B2-4B8B-A7E0-4C408B9E442A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1DA6DDE-B024-4478-A87D-6C807923B201}" type="datetimeFigureOut">
              <a:rPr lang="en-CA" smtClean="0"/>
              <a:pPr/>
              <a:t>11/10/2012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C27FD9D9-88B2-4B8B-A7E0-4C408B9E442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11DA6DDE-B024-4478-A87D-6C807923B201}" type="datetimeFigureOut">
              <a:rPr lang="en-CA" smtClean="0"/>
              <a:pPr/>
              <a:t>11/10/2012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C27FD9D9-88B2-4B8B-A7E0-4C408B9E442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6DDE-B024-4478-A87D-6C807923B201}" type="datetimeFigureOut">
              <a:rPr lang="en-CA" smtClean="0"/>
              <a:pPr/>
              <a:t>11/10/2012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D9D9-88B2-4B8B-A7E0-4C408B9E442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1DA6DDE-B024-4478-A87D-6C807923B201}" type="datetimeFigureOut">
              <a:rPr lang="en-CA" smtClean="0"/>
              <a:pPr/>
              <a:t>11/10/2012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C27FD9D9-88B2-4B8B-A7E0-4C408B9E442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11DA6DDE-B024-4478-A87D-6C807923B201}" type="datetimeFigureOut">
              <a:rPr lang="en-CA" smtClean="0"/>
              <a:pPr/>
              <a:t>11/10/2012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C27FD9D9-88B2-4B8B-A7E0-4C408B9E442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11DA6DDE-B024-4478-A87D-6C807923B201}" type="datetimeFigureOut">
              <a:rPr lang="en-CA" smtClean="0"/>
              <a:pPr/>
              <a:t>11/10/2012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C27FD9D9-88B2-4B8B-A7E0-4C408B9E442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6DDE-B024-4478-A87D-6C807923B201}" type="datetimeFigureOut">
              <a:rPr lang="en-CA" smtClean="0"/>
              <a:pPr/>
              <a:t>11/10/2012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D9D9-88B2-4B8B-A7E0-4C408B9E442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6DDE-B024-4478-A87D-6C807923B201}" type="datetimeFigureOut">
              <a:rPr lang="en-CA" smtClean="0"/>
              <a:pPr/>
              <a:t>11/10/2012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D9D9-88B2-4B8B-A7E0-4C408B9E442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11DA6DDE-B024-4478-A87D-6C807923B201}" type="datetimeFigureOut">
              <a:rPr lang="en-CA" smtClean="0"/>
              <a:pPr/>
              <a:t>11/10/2012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C27FD9D9-88B2-4B8B-A7E0-4C408B9E442A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1"/>
            <a:ext cx="7772400" cy="3295650"/>
          </a:xfrm>
        </p:spPr>
        <p:txBody>
          <a:bodyPr>
            <a:normAutofit fontScale="90000"/>
          </a:bodyPr>
          <a:lstStyle/>
          <a:p>
            <a:r>
              <a:rPr lang="en-CA" dirty="0"/>
              <a:t>Minority Language Rights in Canadian Provincial Schools: Implications for </a:t>
            </a:r>
            <a:r>
              <a:rPr lang="en-CA" dirty="0" smtClean="0"/>
              <a:t>Policy makers and Teachers</a:t>
            </a:r>
            <a:r>
              <a:rPr lang="en-CA" dirty="0"/>
              <a:t/>
            </a:r>
            <a:br>
              <a:rPr lang="en-CA" dirty="0"/>
            </a:b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81400"/>
            <a:ext cx="6400800" cy="2057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Naghmeh </a:t>
            </a:r>
            <a:r>
              <a:rPr lang="en-US" dirty="0" err="1" smtClean="0">
                <a:solidFill>
                  <a:schemeClr val="bg1"/>
                </a:solidFill>
              </a:rPr>
              <a:t>Babaee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PhD Candidate in Second Language Education 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University of Manitoba, Canada</a:t>
            </a:r>
            <a:endParaRPr lang="en-C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</a:p>
          <a:p>
            <a:r>
              <a:rPr lang="en-US" dirty="0" smtClean="0"/>
              <a:t>Two questions to think about</a:t>
            </a:r>
          </a:p>
          <a:p>
            <a:r>
              <a:rPr lang="en-US" dirty="0" smtClean="0"/>
              <a:t>The historical, sociopolitical and educational contexts in Canada</a:t>
            </a:r>
          </a:p>
          <a:p>
            <a:r>
              <a:rPr lang="en-US" dirty="0" smtClean="0"/>
              <a:t>Minority language rights challenges in Canada</a:t>
            </a:r>
          </a:p>
          <a:p>
            <a:r>
              <a:rPr lang="en-US" dirty="0" smtClean="0"/>
              <a:t>Discussion </a:t>
            </a:r>
            <a:endParaRPr lang="en-C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Background</a:t>
            </a:r>
            <a:endParaRPr lang="en-CA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The widespread use of English (Crystal, 2004)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sz="2800" dirty="0" smtClean="0"/>
              <a:t>400 million: English as a First Language</a:t>
            </a:r>
          </a:p>
          <a:p>
            <a:pPr lvl="1"/>
            <a:r>
              <a:rPr lang="en-US" sz="2800" dirty="0" smtClean="0"/>
              <a:t>400 million: English as a Second Language </a:t>
            </a:r>
          </a:p>
          <a:p>
            <a:pPr lvl="1"/>
            <a:r>
              <a:rPr lang="en-US" sz="2800" dirty="0" smtClean="0"/>
              <a:t>600 million: English as a Foreign Language </a:t>
            </a:r>
            <a:endParaRPr lang="en-CA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Two questions</a:t>
            </a:r>
            <a:endParaRPr lang="en-CA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What are potential impacts of the widespread use of English on other languages </a:t>
            </a:r>
          </a:p>
          <a:p>
            <a:pPr lvl="1"/>
            <a:r>
              <a:rPr lang="en-US" sz="3200" dirty="0" smtClean="0"/>
              <a:t>all over the world? </a:t>
            </a:r>
          </a:p>
          <a:p>
            <a:pPr lvl="1"/>
            <a:r>
              <a:rPr lang="en-US" sz="3200" dirty="0" smtClean="0"/>
              <a:t>Within a bilingual/multilingual context such as Canada?</a:t>
            </a:r>
            <a:endParaRPr lang="en-CA" sz="3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388008"/>
          </a:xfrm>
        </p:spPr>
        <p:txBody>
          <a:bodyPr/>
          <a:lstStyle/>
          <a:p>
            <a:r>
              <a:rPr lang="en-US" dirty="0" smtClean="0"/>
              <a:t>In a bilingual or multilingual context, should immigrant children maintain their heritage languages, that is, continue using their first languages? Why/Why not?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dirty="0" smtClean="0"/>
              <a:t>Potential impacts of the widespread use of English:</a:t>
            </a:r>
          </a:p>
          <a:p>
            <a:pPr algn="ctr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Linguistic imperialism (</a:t>
            </a:r>
            <a:r>
              <a:rPr lang="en-US" dirty="0" err="1" smtClean="0"/>
              <a:t>Phillipson</a:t>
            </a:r>
            <a:r>
              <a:rPr lang="en-US" dirty="0" smtClean="0"/>
              <a:t>, 2009)</a:t>
            </a:r>
          </a:p>
          <a:p>
            <a:r>
              <a:rPr lang="en-US" dirty="0" smtClean="0"/>
              <a:t>Language rights violation : violating “rules </a:t>
            </a:r>
            <a:r>
              <a:rPr lang="en-US" dirty="0"/>
              <a:t>that public institutions adopt with respect to language use in a variety of different domains” (</a:t>
            </a:r>
            <a:r>
              <a:rPr lang="en-US" dirty="0" err="1"/>
              <a:t>Arzoz</a:t>
            </a:r>
            <a:r>
              <a:rPr lang="en-US" dirty="0"/>
              <a:t>, 2007, p. 4). </a:t>
            </a:r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Implications of language rights </a:t>
            </a:r>
            <a:r>
              <a:rPr lang="en-US" dirty="0" smtClean="0"/>
              <a:t>(</a:t>
            </a:r>
            <a:r>
              <a:rPr lang="en-US" dirty="0" err="1" smtClean="0"/>
              <a:t>Phillipson</a:t>
            </a:r>
            <a:r>
              <a:rPr lang="en-US" dirty="0" smtClean="0"/>
              <a:t>, </a:t>
            </a:r>
            <a:r>
              <a:rPr lang="en-US" dirty="0" err="1" smtClean="0"/>
              <a:t>Ranuut</a:t>
            </a:r>
            <a:r>
              <a:rPr lang="en-US" dirty="0" smtClean="0"/>
              <a:t> &amp; </a:t>
            </a:r>
            <a:r>
              <a:rPr lang="en-US" dirty="0" err="1" smtClean="0"/>
              <a:t>Skutnabb-Kangas</a:t>
            </a:r>
            <a:r>
              <a:rPr lang="en-US" dirty="0" smtClean="0"/>
              <a:t>, 1995): </a:t>
            </a:r>
          </a:p>
          <a:p>
            <a:pPr lvl="2"/>
            <a:r>
              <a:rPr lang="en-US" dirty="0" smtClean="0"/>
              <a:t>Mother tongue medium instruction (MTMI)</a:t>
            </a:r>
          </a:p>
          <a:p>
            <a:pPr lvl="2"/>
            <a:r>
              <a:rPr lang="en-US" dirty="0" smtClean="0"/>
              <a:t>Learning at least one official language, as well</a:t>
            </a:r>
            <a:endParaRPr lang="en-CA" dirty="0" smtClean="0"/>
          </a:p>
          <a:p>
            <a:pPr>
              <a:buNone/>
            </a:pP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845208"/>
          </a:xfrm>
        </p:spPr>
        <p:txBody>
          <a:bodyPr/>
          <a:lstStyle/>
          <a:p>
            <a:r>
              <a:rPr lang="en-US" dirty="0" smtClean="0"/>
              <a:t>Linguistic minority=immigrant=ESL students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Importance of Heritage Language Maintenance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Personal (</a:t>
            </a:r>
            <a:r>
              <a:rPr lang="en-US" dirty="0" err="1" smtClean="0"/>
              <a:t>Babaee</a:t>
            </a:r>
            <a:r>
              <a:rPr lang="en-US" dirty="0" smtClean="0"/>
              <a:t>, 2010a)</a:t>
            </a:r>
          </a:p>
          <a:p>
            <a:r>
              <a:rPr lang="en-US" dirty="0" smtClean="0"/>
              <a:t>Social (Wong Fillmore, 2001)</a:t>
            </a:r>
          </a:p>
          <a:p>
            <a:r>
              <a:rPr lang="en-US" dirty="0" smtClean="0"/>
              <a:t>Cognitive (Cummins, 2001) </a:t>
            </a:r>
          </a:p>
          <a:p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Historical </a:t>
            </a:r>
            <a:r>
              <a:rPr lang="en-US" dirty="0" smtClean="0"/>
              <a:t>Context in Canada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Immigration to Canada: Late 16</a:t>
            </a:r>
            <a:r>
              <a:rPr lang="en-US" baseline="30000" dirty="0" smtClean="0"/>
              <a:t>th</a:t>
            </a:r>
            <a:r>
              <a:rPr lang="en-US" dirty="0" smtClean="0"/>
              <a:t> century</a:t>
            </a:r>
          </a:p>
          <a:p>
            <a:r>
              <a:rPr lang="en-US" dirty="0" smtClean="0"/>
              <a:t>The total </a:t>
            </a:r>
            <a:r>
              <a:rPr lang="en-US" dirty="0" smtClean="0"/>
              <a:t>population </a:t>
            </a:r>
            <a:r>
              <a:rPr lang="en-US" dirty="0" smtClean="0"/>
              <a:t>in </a:t>
            </a:r>
            <a:r>
              <a:rPr lang="en-US" dirty="0" smtClean="0"/>
              <a:t>2006: </a:t>
            </a:r>
            <a:r>
              <a:rPr lang="en-CA" dirty="0" smtClean="0"/>
              <a:t>31,241,030</a:t>
            </a:r>
            <a:endParaRPr lang="en-US" dirty="0" smtClean="0"/>
          </a:p>
          <a:p>
            <a:r>
              <a:rPr lang="en-US" dirty="0" smtClean="0"/>
              <a:t>Speaking a language other than English or French as a first language: 6,147,840 (almost one fifth of the total population)</a:t>
            </a:r>
            <a:endParaRPr lang="en-C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Immigration</a:t>
            </a:r>
            <a:r>
              <a:rPr lang="en-US" dirty="0" smtClean="0"/>
              <a:t>: linguistic diversity</a:t>
            </a:r>
          </a:p>
          <a:p>
            <a:r>
              <a:rPr lang="en-US" dirty="0" smtClean="0"/>
              <a:t>Many immigrants: struggling with heritage language maintenance (for example, </a:t>
            </a:r>
            <a:r>
              <a:rPr lang="en-US" dirty="0" err="1" smtClean="0"/>
              <a:t>Kouritzin</a:t>
            </a:r>
            <a:r>
              <a:rPr lang="en-US" dirty="0" smtClean="0"/>
              <a:t>, 1999)</a:t>
            </a:r>
            <a:endParaRPr lang="en-CA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</a:t>
            </a:r>
            <a:endParaRPr lang="en-C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Sociopolitical Context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Family and first language (L1) community (</a:t>
            </a:r>
            <a:r>
              <a:rPr lang="en-US" dirty="0" err="1" smtClean="0"/>
              <a:t>Guardado</a:t>
            </a:r>
            <a:r>
              <a:rPr lang="en-US" dirty="0"/>
              <a:t>, 2010; </a:t>
            </a:r>
            <a:r>
              <a:rPr lang="en-US" dirty="0" err="1" smtClean="0"/>
              <a:t>Guardado</a:t>
            </a:r>
            <a:r>
              <a:rPr lang="en-US" dirty="0" smtClean="0"/>
              <a:t>, 2002; Torres</a:t>
            </a:r>
            <a:r>
              <a:rPr lang="en-US" dirty="0"/>
              <a:t>, </a:t>
            </a:r>
            <a:r>
              <a:rPr lang="en-US" dirty="0" smtClean="0"/>
              <a:t>2006; Yu-Tung Carol, 2009)</a:t>
            </a:r>
          </a:p>
          <a:p>
            <a:pPr lvl="1"/>
            <a:r>
              <a:rPr lang="en-US" dirty="0" smtClean="0"/>
              <a:t>L1 </a:t>
            </a:r>
            <a:r>
              <a:rPr lang="en-US" dirty="0" smtClean="0"/>
              <a:t>use at home </a:t>
            </a:r>
            <a:r>
              <a:rPr lang="en-US" dirty="0"/>
              <a:t>(</a:t>
            </a:r>
            <a:r>
              <a:rPr lang="en-US" dirty="0" err="1"/>
              <a:t>Guardado</a:t>
            </a:r>
            <a:r>
              <a:rPr lang="en-US" dirty="0"/>
              <a:t>, 2010</a:t>
            </a:r>
            <a:r>
              <a:rPr lang="en-US" dirty="0" smtClean="0"/>
              <a:t>): Spanish families in BC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 smtClean="0"/>
              <a:t>L1 </a:t>
            </a:r>
            <a:r>
              <a:rPr lang="en-US" dirty="0" smtClean="0"/>
              <a:t>community</a:t>
            </a:r>
          </a:p>
          <a:p>
            <a:pPr lvl="2"/>
            <a:r>
              <a:rPr lang="en-US" dirty="0" smtClean="0"/>
              <a:t> Resources (</a:t>
            </a:r>
            <a:r>
              <a:rPr lang="en-US" dirty="0" err="1" smtClean="0"/>
              <a:t>Iqbal</a:t>
            </a:r>
            <a:r>
              <a:rPr lang="en-US" dirty="0"/>
              <a:t>, 2005</a:t>
            </a:r>
            <a:r>
              <a:rPr lang="en-US" dirty="0" smtClean="0"/>
              <a:t>): Francophone mothers in BC</a:t>
            </a:r>
          </a:p>
          <a:p>
            <a:pPr lvl="2"/>
            <a:r>
              <a:rPr lang="en-US" dirty="0" smtClean="0"/>
              <a:t>Size </a:t>
            </a:r>
            <a:r>
              <a:rPr lang="en-US" dirty="0" smtClean="0"/>
              <a:t>(</a:t>
            </a:r>
            <a:r>
              <a:rPr lang="en-US" dirty="0" err="1" smtClean="0"/>
              <a:t>Guardado</a:t>
            </a:r>
            <a:r>
              <a:rPr lang="en-US" dirty="0" smtClean="0"/>
              <a:t>, 2010</a:t>
            </a:r>
            <a:r>
              <a:rPr lang="en-US" dirty="0" smtClean="0"/>
              <a:t>): Spanish families in BC</a:t>
            </a:r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r>
              <a:rPr lang="en-US" dirty="0" smtClean="0"/>
              <a:t>School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Attitudes towards </a:t>
            </a:r>
            <a:r>
              <a:rPr lang="en-US" dirty="0" smtClean="0"/>
              <a:t>HLs </a:t>
            </a:r>
            <a:r>
              <a:rPr lang="en-US" dirty="0"/>
              <a:t>(Sotto, cited in </a:t>
            </a:r>
            <a:r>
              <a:rPr lang="en-US" dirty="0" err="1"/>
              <a:t>Xie</a:t>
            </a:r>
            <a:r>
              <a:rPr lang="en-US" dirty="0"/>
              <a:t>, 2010, p. 31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Principals</a:t>
            </a:r>
          </a:p>
          <a:p>
            <a:pPr lvl="2"/>
            <a:r>
              <a:rPr lang="en-US" dirty="0" smtClean="0"/>
              <a:t>Staff</a:t>
            </a:r>
          </a:p>
          <a:p>
            <a:pPr lvl="2"/>
            <a:r>
              <a:rPr lang="en-US" dirty="0" smtClean="0"/>
              <a:t>Teachers</a:t>
            </a:r>
          </a:p>
          <a:p>
            <a:pPr lvl="2"/>
            <a:r>
              <a:rPr lang="en-US" dirty="0" smtClean="0"/>
              <a:t>Peers</a:t>
            </a:r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pPr lvl="1">
              <a:buFont typeface="Arial" pitchFamily="34" charset="0"/>
              <a:buChar char="•"/>
            </a:pPr>
            <a:r>
              <a:rPr lang="en-US" sz="2800" dirty="0" smtClean="0"/>
              <a:t>Language policy</a:t>
            </a:r>
          </a:p>
          <a:p>
            <a:pPr lvl="2"/>
            <a:r>
              <a:rPr lang="en-US" sz="2400" dirty="0" smtClean="0"/>
              <a:t>The medium of instruction: an official language  (English or French)</a:t>
            </a:r>
            <a:endParaRPr lang="en-CA" sz="2400" dirty="0" smtClean="0"/>
          </a:p>
          <a:p>
            <a:pPr lvl="2"/>
            <a:r>
              <a:rPr lang="en-US" sz="2400" dirty="0" smtClean="0"/>
              <a:t>MTMI: Anglophone minorities in QB and Francophone minorities outside QB (the Charter, 1982)</a:t>
            </a:r>
          </a:p>
          <a:p>
            <a:pPr lvl="2"/>
            <a:r>
              <a:rPr lang="en-US" sz="2400" dirty="0" smtClean="0"/>
              <a:t>Other minorities: if a sufficient number of immigrants in a community seek MTMI</a:t>
            </a:r>
          </a:p>
          <a:p>
            <a:pPr lvl="1">
              <a:buNone/>
            </a:pPr>
            <a:endParaRPr lang="en-C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Educational Context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Submersion </a:t>
            </a:r>
            <a:r>
              <a:rPr lang="en-US" dirty="0" smtClean="0"/>
              <a:t>programs</a:t>
            </a:r>
          </a:p>
          <a:p>
            <a:pPr lvl="1"/>
            <a:r>
              <a:rPr lang="en-US" dirty="0" smtClean="0"/>
              <a:t>English/French medium instruction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HL programming: </a:t>
            </a:r>
          </a:p>
          <a:p>
            <a:pPr lvl="1"/>
            <a:r>
              <a:rPr lang="en-US" dirty="0" smtClean="0"/>
              <a:t>Bilingual programs (BC, AB, SK, MB)</a:t>
            </a:r>
          </a:p>
          <a:p>
            <a:pPr lvl="1"/>
            <a:r>
              <a:rPr lang="en-US" dirty="0" smtClean="0"/>
              <a:t>HL courses </a:t>
            </a:r>
            <a:r>
              <a:rPr lang="en-US" dirty="0" smtClean="0"/>
              <a:t>(BC, AB, SK, </a:t>
            </a:r>
            <a:r>
              <a:rPr lang="en-US" dirty="0" smtClean="0"/>
              <a:t>MB, </a:t>
            </a:r>
            <a:r>
              <a:rPr lang="en-US" dirty="0" smtClean="0"/>
              <a:t>ON</a:t>
            </a:r>
            <a:r>
              <a:rPr lang="en-US" dirty="0" smtClean="0"/>
              <a:t>, QB, NS)</a:t>
            </a:r>
          </a:p>
          <a:p>
            <a:pPr lvl="1"/>
            <a:endParaRPr lang="en-C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Minority Language Rights Challenges in Canada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Vague policy: “sufficient” number of immigrants seeking </a:t>
            </a:r>
            <a:r>
              <a:rPr lang="en-US" dirty="0" smtClean="0"/>
              <a:t>MTMI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Bilingual programs: limited to certain provinces and heritage </a:t>
            </a:r>
            <a:r>
              <a:rPr lang="en-US" dirty="0" smtClean="0"/>
              <a:t>languages</a:t>
            </a:r>
          </a:p>
          <a:p>
            <a:pPr lvl="1"/>
            <a:r>
              <a:rPr lang="en-US" dirty="0" smtClean="0"/>
              <a:t>Iranian immigrants in BC: No Farsi/English bilingual programs, no Farsi as a heritage language courses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endParaRPr lang="en-C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Potentially insufficient instructional time in heritage language programs, for example, two and a half hour per week in </a:t>
            </a:r>
            <a:r>
              <a:rPr lang="en-US" dirty="0" smtClean="0"/>
              <a:t>ON</a:t>
            </a:r>
          </a:p>
          <a:p>
            <a:pPr lvl="1"/>
            <a:r>
              <a:rPr lang="en-US" dirty="0" smtClean="0"/>
              <a:t>An objective of HL education: developing communicative competence </a:t>
            </a:r>
            <a:endParaRPr lang="en-CA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Suggestions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policy makers </a:t>
            </a:r>
          </a:p>
          <a:p>
            <a:pPr lvl="1"/>
            <a:r>
              <a:rPr lang="en-US" dirty="0" smtClean="0"/>
              <a:t>Extending HL </a:t>
            </a:r>
            <a:r>
              <a:rPr lang="en-US" dirty="0" smtClean="0"/>
              <a:t>instructional </a:t>
            </a:r>
            <a:r>
              <a:rPr lang="en-US" dirty="0" smtClean="0"/>
              <a:t>time</a:t>
            </a:r>
          </a:p>
          <a:p>
            <a:pPr lvl="2"/>
            <a:r>
              <a:rPr lang="en-US" dirty="0" smtClean="0"/>
              <a:t>Especially those outside school hours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Bilingual programs in other </a:t>
            </a:r>
            <a:r>
              <a:rPr lang="en-US" dirty="0" smtClean="0"/>
              <a:t>HLs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HL courses in other HL languages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Informing community members of the possibility of HL education at public </a:t>
            </a:r>
            <a:r>
              <a:rPr lang="en-US" dirty="0" smtClean="0"/>
              <a:t>schools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Partnership with L1 communities: Offering HL courses in L1 communities, taking credits</a:t>
            </a:r>
          </a:p>
          <a:p>
            <a:pPr>
              <a:buNone/>
            </a:pPr>
            <a:endParaRPr lang="en-CA" dirty="0" smtClean="0"/>
          </a:p>
          <a:p>
            <a:pPr>
              <a:buNone/>
            </a:pPr>
            <a:endParaRPr lang="en-CA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r>
              <a:rPr lang="en-US" dirty="0" smtClean="0"/>
              <a:t>for Teachers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Creating a supportive atmosphere in the classroom 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Facilitating collaborative and cooperative learning opportunities in the classroom (pair/group work)</a:t>
            </a:r>
          </a:p>
          <a:p>
            <a:pPr lvl="1">
              <a:buNone/>
            </a:pPr>
            <a:endParaRPr lang="en-US" dirty="0" smtClean="0"/>
          </a:p>
          <a:p>
            <a:endParaRPr lang="en-CA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Inviting community members to their classrooms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Asking students to relate subject areas to their ethnic backgrounds, comparing and contrasting with peers</a:t>
            </a:r>
          </a:p>
          <a:p>
            <a:endParaRPr lang="en-CA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endParaRPr lang="en-US" sz="2800" dirty="0" smtClean="0"/>
          </a:p>
          <a:p>
            <a:r>
              <a:rPr lang="en-US" sz="2800" dirty="0" smtClean="0"/>
              <a:t>Communicative skills: </a:t>
            </a:r>
          </a:p>
          <a:p>
            <a:pPr lvl="1"/>
            <a:r>
              <a:rPr lang="en-US" dirty="0" smtClean="0"/>
              <a:t>Translation  (words and short stories)</a:t>
            </a:r>
          </a:p>
          <a:p>
            <a:pPr lvl="1"/>
            <a:r>
              <a:rPr lang="en-US" dirty="0" smtClean="0"/>
              <a:t>Functions e.g. greetings in first languages </a:t>
            </a:r>
            <a:r>
              <a:rPr lang="en-US" dirty="0" smtClean="0"/>
              <a:t>(English and HLs)</a:t>
            </a:r>
            <a:endParaRPr lang="en-US" dirty="0" smtClean="0"/>
          </a:p>
          <a:p>
            <a:pPr lvl="1"/>
            <a:r>
              <a:rPr lang="en-US" dirty="0" smtClean="0"/>
              <a:t>Guessing games e.g. talking in </a:t>
            </a:r>
            <a:r>
              <a:rPr lang="en-US" dirty="0" smtClean="0"/>
              <a:t>a HL and </a:t>
            </a:r>
            <a:r>
              <a:rPr lang="en-US" dirty="0" smtClean="0"/>
              <a:t>acting out</a:t>
            </a:r>
          </a:p>
          <a:p>
            <a:pPr lvl="1"/>
            <a:r>
              <a:rPr lang="en-US" dirty="0" smtClean="0"/>
              <a:t>Posters in all students’ </a:t>
            </a:r>
            <a:r>
              <a:rPr lang="en-US" dirty="0" smtClean="0"/>
              <a:t>L1s (English and HLs) </a:t>
            </a:r>
            <a:r>
              <a:rPr lang="en-US" dirty="0" smtClean="0"/>
              <a:t>on the walls</a:t>
            </a:r>
          </a:p>
          <a:p>
            <a:pPr lvl="1"/>
            <a:r>
              <a:rPr lang="en-US" dirty="0" smtClean="0"/>
              <a:t>Drawing attention to prefixes, roots, suffixes in English and asking for equivalents in </a:t>
            </a:r>
            <a:r>
              <a:rPr lang="en-US" dirty="0" smtClean="0"/>
              <a:t>HLs</a:t>
            </a:r>
            <a:endParaRPr lang="en-US" dirty="0" smtClean="0"/>
          </a:p>
          <a:p>
            <a:endParaRPr lang="en-C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academic proficiency </a:t>
            </a:r>
          </a:p>
          <a:p>
            <a:pPr lvl="1"/>
            <a:r>
              <a:rPr lang="en-US" dirty="0"/>
              <a:t>Translating terms </a:t>
            </a:r>
            <a:r>
              <a:rPr lang="en-CA" dirty="0" smtClean="0"/>
              <a:t>(for example, The </a:t>
            </a:r>
            <a:r>
              <a:rPr lang="en-CA" dirty="0"/>
              <a:t>Internet, bilingual </a:t>
            </a:r>
            <a:r>
              <a:rPr lang="en-CA" dirty="0" smtClean="0"/>
              <a:t>dictionaries)</a:t>
            </a:r>
            <a:endParaRPr lang="en-CA" dirty="0"/>
          </a:p>
          <a:p>
            <a:pPr lvl="1"/>
            <a:r>
              <a:rPr lang="en-US" dirty="0"/>
              <a:t>Additional resources </a:t>
            </a:r>
            <a:r>
              <a:rPr lang="en-US" dirty="0" smtClean="0"/>
              <a:t>(for example, books</a:t>
            </a:r>
            <a:r>
              <a:rPr lang="en-US" dirty="0"/>
              <a:t>, </a:t>
            </a:r>
            <a:r>
              <a:rPr lang="en-US" dirty="0" smtClean="0"/>
              <a:t>websites)</a:t>
            </a:r>
            <a:endParaRPr lang="en-CA" dirty="0"/>
          </a:p>
          <a:p>
            <a:pPr lvl="1"/>
            <a:r>
              <a:rPr lang="en-US" dirty="0"/>
              <a:t>Simplified instructions</a:t>
            </a:r>
          </a:p>
          <a:p>
            <a:pPr lvl="2"/>
            <a:r>
              <a:rPr lang="en-US" sz="2600" dirty="0" smtClean="0"/>
              <a:t>Pictures </a:t>
            </a:r>
          </a:p>
          <a:p>
            <a:pPr lvl="2"/>
            <a:r>
              <a:rPr lang="en-US" sz="2600" dirty="0" smtClean="0"/>
              <a:t>Simplified language </a:t>
            </a:r>
          </a:p>
          <a:p>
            <a:pPr lvl="2"/>
            <a:r>
              <a:rPr lang="en-US" sz="2600" dirty="0" smtClean="0"/>
              <a:t>Additional explanation</a:t>
            </a:r>
          </a:p>
          <a:p>
            <a:pPr>
              <a:buNone/>
            </a:pPr>
            <a:endParaRPr lang="en-C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/>
          </a:bodyPr>
          <a:lstStyle/>
          <a:p>
            <a:pPr lvl="1">
              <a:buFont typeface="Arial" pitchFamily="34" charset="0"/>
              <a:buChar char="•"/>
            </a:pPr>
            <a:r>
              <a:rPr lang="en-US" dirty="0"/>
              <a:t>Modified </a:t>
            </a:r>
            <a:r>
              <a:rPr lang="en-US" dirty="0" smtClean="0"/>
              <a:t>assignments</a:t>
            </a:r>
          </a:p>
          <a:p>
            <a:pPr lvl="2">
              <a:buFont typeface="Calibri" pitchFamily="34" charset="0"/>
              <a:buChar char="–"/>
            </a:pPr>
            <a:r>
              <a:rPr lang="en-US" sz="2400" dirty="0" smtClean="0"/>
              <a:t>Recognition, rather than, production</a:t>
            </a:r>
          </a:p>
          <a:p>
            <a:pPr lvl="2">
              <a:buNone/>
            </a:pPr>
            <a:r>
              <a:rPr lang="en-US" sz="2800" dirty="0" smtClean="0"/>
              <a:t>  </a:t>
            </a:r>
            <a:endParaRPr lang="en-US" sz="2800" dirty="0"/>
          </a:p>
          <a:p>
            <a:pPr lvl="1">
              <a:buFont typeface="Arial" pitchFamily="34" charset="0"/>
              <a:buChar char="•"/>
            </a:pPr>
            <a:r>
              <a:rPr lang="en-US" dirty="0"/>
              <a:t>Modified </a:t>
            </a:r>
            <a:r>
              <a:rPr lang="en-US" dirty="0" smtClean="0"/>
              <a:t>assessment</a:t>
            </a:r>
          </a:p>
          <a:p>
            <a:pPr lvl="2">
              <a:buFont typeface="Calibri" pitchFamily="34" charset="0"/>
              <a:buChar char="–"/>
            </a:pPr>
            <a:r>
              <a:rPr lang="en-US" sz="2400" dirty="0" smtClean="0"/>
              <a:t>Multiple choice, rather than essay type, format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7467600" cy="55165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These strategies tend to </a:t>
            </a:r>
          </a:p>
          <a:p>
            <a:pPr lvl="1"/>
            <a:r>
              <a:rPr lang="en-US" dirty="0" smtClean="0"/>
              <a:t>communicate the message to immigrant students that their HLs are recognized, valued and used at school, and that using these languages could facilitate the learning of English.</a:t>
            </a:r>
          </a:p>
          <a:p>
            <a:pPr lvl="1"/>
            <a:r>
              <a:rPr lang="en-US" dirty="0" smtClean="0"/>
              <a:t>include a variety of HLs, not </a:t>
            </a:r>
            <a:r>
              <a:rPr lang="en-US" dirty="0" smtClean="0"/>
              <a:t>simply specific </a:t>
            </a:r>
            <a:r>
              <a:rPr lang="en-US" dirty="0" smtClean="0"/>
              <a:t>ones.</a:t>
            </a:r>
          </a:p>
          <a:p>
            <a:pPr lvl="1"/>
            <a:r>
              <a:rPr lang="en-US" dirty="0" smtClean="0"/>
              <a:t>communicate the message to English-speaking students that </a:t>
            </a:r>
            <a:r>
              <a:rPr lang="en-US" dirty="0" smtClean="0"/>
              <a:t>HLs must be </a:t>
            </a:r>
            <a:r>
              <a:rPr lang="en-US" dirty="0" smtClean="0"/>
              <a:t>recognized and respected in the classroom. </a:t>
            </a:r>
          </a:p>
          <a:p>
            <a:pPr>
              <a:buNone/>
            </a:pPr>
            <a:endParaRPr lang="en-CA" dirty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 smtClean="0"/>
              <a:t>Thank you for your attention.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Naghmeh_um@yahoo.ca </a:t>
            </a:r>
            <a:endParaRPr lang="en-C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Other suggestions for protecting language rights in Canada?</a:t>
            </a:r>
          </a:p>
          <a:p>
            <a:r>
              <a:rPr lang="en-US" dirty="0" smtClean="0"/>
              <a:t>Your own context: </a:t>
            </a:r>
          </a:p>
          <a:p>
            <a:pPr lvl="1"/>
            <a:r>
              <a:rPr lang="en-US" dirty="0" smtClean="0"/>
              <a:t>Are minority language rights protected or violated? How?</a:t>
            </a:r>
          </a:p>
          <a:p>
            <a:pPr lvl="1"/>
            <a:r>
              <a:rPr lang="en-US" dirty="0" smtClean="0"/>
              <a:t>Any suggestions?</a:t>
            </a:r>
          </a:p>
          <a:p>
            <a:pPr lvl="1"/>
            <a:endParaRPr lang="en-US" dirty="0"/>
          </a:p>
          <a:p>
            <a:r>
              <a:rPr lang="en-US" dirty="0" smtClean="0"/>
              <a:t>Other relevant issues </a:t>
            </a:r>
          </a:p>
          <a:p>
            <a:pPr lvl="1">
              <a:buNone/>
            </a:pPr>
            <a:endParaRPr lang="en-C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Custom 50">
      <a:dk1>
        <a:sysClr val="windowText" lastClr="000000"/>
      </a:dk1>
      <a:lt1>
        <a:srgbClr val="000000"/>
      </a:lt1>
      <a:dk2>
        <a:srgbClr val="D2D2D2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277</TotalTime>
  <Words>864</Words>
  <Application>Microsoft Office PowerPoint</Application>
  <PresentationFormat>On-screen Show (4:3)</PresentationFormat>
  <Paragraphs>128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Verve</vt:lpstr>
      <vt:lpstr>Minority Language Rights in Canadian Provincial Schools: Implications for Policy makers and Teachers </vt:lpstr>
      <vt:lpstr>Outline</vt:lpstr>
      <vt:lpstr>Background</vt:lpstr>
      <vt:lpstr>Two questions</vt:lpstr>
      <vt:lpstr>Slide 5</vt:lpstr>
      <vt:lpstr>Slide 6</vt:lpstr>
      <vt:lpstr>Slide 7</vt:lpstr>
      <vt:lpstr>Slide 8</vt:lpstr>
      <vt:lpstr>The Importance of Heritage Language Maintenance </vt:lpstr>
      <vt:lpstr>The Historical Context in Canada</vt:lpstr>
      <vt:lpstr>Slide 11</vt:lpstr>
      <vt:lpstr>The Sociopolitical Context</vt:lpstr>
      <vt:lpstr>Slide 13</vt:lpstr>
      <vt:lpstr>Slide 14</vt:lpstr>
      <vt:lpstr>The Educational Context</vt:lpstr>
      <vt:lpstr>Minority Language Rights Challenges in Canada</vt:lpstr>
      <vt:lpstr>Slide 17</vt:lpstr>
      <vt:lpstr>Suggestions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Discussion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Naghmeh</dc:creator>
  <cp:lastModifiedBy> </cp:lastModifiedBy>
  <cp:revision>39</cp:revision>
  <dcterms:created xsi:type="dcterms:W3CDTF">2012-10-08T19:20:33Z</dcterms:created>
  <dcterms:modified xsi:type="dcterms:W3CDTF">2012-10-11T19:42:31Z</dcterms:modified>
</cp:coreProperties>
</file>