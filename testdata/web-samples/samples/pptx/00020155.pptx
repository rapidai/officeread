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87" r:id="rId3"/>
    <p:sldId id="288" r:id="rId4"/>
    <p:sldId id="286" r:id="rId5"/>
    <p:sldId id="274" r:id="rId6"/>
    <p:sldId id="281" r:id="rId7"/>
    <p:sldId id="257" r:id="rId8"/>
    <p:sldId id="282" r:id="rId9"/>
    <p:sldId id="273" r:id="rId10"/>
    <p:sldId id="285" r:id="rId11"/>
    <p:sldId id="284" r:id="rId12"/>
    <p:sldId id="259" r:id="rId13"/>
    <p:sldId id="275" r:id="rId14"/>
    <p:sldId id="263" r:id="rId15"/>
    <p:sldId id="261" r:id="rId16"/>
    <p:sldId id="264" r:id="rId17"/>
    <p:sldId id="270" r:id="rId18"/>
    <p:sldId id="265" r:id="rId19"/>
    <p:sldId id="278" r:id="rId20"/>
    <p:sldId id="266" r:id="rId21"/>
    <p:sldId id="268" r:id="rId22"/>
    <p:sldId id="289" r:id="rId23"/>
    <p:sldId id="279" r:id="rId24"/>
    <p:sldId id="280" r:id="rId25"/>
    <p:sldId id="269" r:id="rId2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2" tIns="46587" rIns="93172" bIns="46587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2" tIns="46587" rIns="93172" bIns="46587" rtlCol="0"/>
          <a:lstStyle>
            <a:lvl1pPr algn="r">
              <a:defRPr sz="1200"/>
            </a:lvl1pPr>
          </a:lstStyle>
          <a:p>
            <a:pPr>
              <a:defRPr/>
            </a:pPr>
            <a:fld id="{C0CDFAED-5408-4F20-8BEC-FD856795370F}" type="datetimeFigureOut">
              <a:rPr lang="en-US"/>
              <a:pPr>
                <a:defRPr/>
              </a:pPr>
              <a:t>11/29/2010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2" tIns="46587" rIns="93172" bIns="46587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2" tIns="46587" rIns="93172" bIns="46587" rtlCol="0" anchor="b"/>
          <a:lstStyle>
            <a:lvl1pPr algn="r">
              <a:defRPr sz="1200"/>
            </a:lvl1pPr>
          </a:lstStyle>
          <a:p>
            <a:pPr>
              <a:defRPr/>
            </a:pPr>
            <a:fld id="{FA530ED0-CE6C-4910-8627-018C4ED825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35" tIns="45717" rIns="91435" bIns="45717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35" tIns="45717" rIns="91435" bIns="45717" rtlCol="0"/>
          <a:lstStyle>
            <a:lvl1pPr algn="r">
              <a:defRPr sz="1200"/>
            </a:lvl1pPr>
          </a:lstStyle>
          <a:p>
            <a:pPr>
              <a:defRPr/>
            </a:pPr>
            <a:fld id="{F9B04847-3FFF-44DF-9690-F7F1BC344809}" type="datetimeFigureOut">
              <a:rPr lang="en-US"/>
              <a:pPr>
                <a:defRPr/>
              </a:pPr>
              <a:t>11/29/2010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5" tIns="45717" rIns="91435" bIns="4571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35" tIns="45717" rIns="91435" bIns="45717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35" tIns="45717" rIns="91435" bIns="45717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35" tIns="45717" rIns="91435" bIns="45717" rtlCol="0" anchor="b"/>
          <a:lstStyle>
            <a:lvl1pPr algn="r">
              <a:defRPr sz="1200"/>
            </a:lvl1pPr>
          </a:lstStyle>
          <a:p>
            <a:pPr>
              <a:defRPr/>
            </a:pPr>
            <a:fld id="{B31E2F98-7164-4449-B8FA-803FB53BFB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FC42880-76B8-4C32-9202-691025513D64}" type="slidenum">
              <a:rPr lang="en-US" smtClean="0"/>
              <a:pPr/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7B84BB9-6676-49BA-A09D-7763B2476484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6123254-341A-43C1-A8F9-3C44F4A3D0AE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DEC2778-E100-4F82-B8F2-32B257FF0E5E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3439477-89E1-45B5-A2D3-1E2806741530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37CB60F-C403-4E51-B80B-F891E44A36AA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D40F220-BCA2-4F0B-9443-1A87878D8D70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8A0B8BC-B69E-4487-94D5-3910D71A8DC9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2A214A8-0A22-4003-BA2C-922DC553C68E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B066423-1A3A-4588-A285-B467A9DECC7B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3D94255-7DAF-448F-92C4-24B6926E8E94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39CCF74-1289-4A5F-B3AC-0EAE0A23BB5D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0EB6638-B513-42EC-AE0F-D7DD16697BE2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21C3460-8B57-41FC-ADA0-D12805C7DC2E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27F7C42-A129-4DCF-87C1-CEA0F9E796D3}" type="slidenum">
              <a:rPr lang="en-US" smtClean="0"/>
              <a:pPr/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C8B5FC6-A253-4327-A410-A0F407A07A5A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C74CCAE-2D00-49D0-B83D-D65A7957AF75}" type="slidenum">
              <a:rPr lang="en-US" smtClean="0"/>
              <a:pPr/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09C99FA-82A3-4B40-A90D-30D611123126}" type="slidenum">
              <a:rPr lang="en-US" smtClean="0"/>
              <a:pPr/>
              <a:t>18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883AA8B-3054-4F3A-BAE0-FD97E3603CBD}" type="slidenum">
              <a:rPr lang="en-US" smtClean="0"/>
              <a:pPr/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C9DC0B4-D17C-4315-AB7C-66033B37DF3B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3A845C0-6C73-4D56-9E05-3FD102CEAA62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278369C-381E-40EB-B1D8-0997A249C476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B495582-F438-4F94-AF6F-1E4D441573B0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9CA1A31-1E42-4391-8E11-924AEE9476A5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EF58006-244F-48A7-879E-D5FCE58F4814}" type="slidenum">
              <a:rPr lang="en-US" smtClean="0"/>
              <a:pPr/>
              <a:t>25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08168-FEA6-4B54-A3A4-C20E992286C1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42732-CA29-47BD-9401-98B2AE83D1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1C1C7-632C-41B2-942A-B95FB6B3A6F9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2892E-0E7B-43AF-8F71-C799B6404A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4C091-6709-4495-943A-17B04327F069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9B86-1FB7-4139-9AAF-B5E081D1A9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BD6B7-A00F-4495-9162-FF0BE313587A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99956-2647-4486-A99B-46771CBFD0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8EA2F-A5E6-4D7E-9467-9040E4BD49A7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1A1FD-AF4E-458E-BD92-83F2F71F81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FC2EF-5F48-4CED-82ED-2F0EECAD04B0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BD003A-A54E-406B-B90C-69BC4E83FF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3E365-4E94-47D6-80B9-316FFD730BAC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26566-832D-4053-893F-F197A1BBFB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3A15F-3742-42FA-B27E-96FBA601C5B9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DB329-B5F6-4296-BB1C-F4AD27757E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7EEA4-0370-4CAD-B414-586AFF4255D6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3B9E5-A4DE-42F6-B85C-343FB79E28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E0257-5410-4BA8-9F42-C2529C7250CE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4FA31-5600-45DA-A27C-BBECD340F5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5A99D-4078-42D0-9DF8-C1024DA8705D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6B03D-73DA-4BB7-968F-1FD254FD91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917906A-9966-45D6-B7E1-C4D021FB7D4D}" type="datetimeFigureOut">
              <a:rPr lang="en-US"/>
              <a:pPr>
                <a:defRPr/>
              </a:pPr>
              <a:t>11/29/2010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518859B-C1FB-4435-A653-3CE2AB6D42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Microsoft_Office_Word_97_-_2003_Document1.doc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3200400"/>
          </a:xfrm>
        </p:spPr>
        <p:txBody>
          <a:bodyPr/>
          <a:lstStyle/>
          <a:p>
            <a:pPr eaLnBrk="1" hangingPunct="1"/>
            <a:r>
              <a:rPr lang="en-US" sz="6000" smtClean="0"/>
              <a:t>Cobb County School District Reduction In Force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2010-11</a:t>
            </a:r>
            <a:endParaRPr lang="en-US" dirty="0"/>
          </a:p>
        </p:txBody>
      </p:sp>
      <p:pic>
        <p:nvPicPr>
          <p:cNvPr id="5124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343400"/>
            <a:ext cx="2286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smtClean="0"/>
              <a:t>What Led to the RIF?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762000" y="1371600"/>
          <a:ext cx="7696200" cy="5080000"/>
        </p:xfrm>
        <a:graphic>
          <a:graphicData uri="http://schemas.openxmlformats.org/presentationml/2006/ole">
            <p:oleObj spid="_x0000_s1026" name="Acrobat Document" r:id="rId4" imgW="5829194" imgH="7543564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143000" y="304800"/>
          <a:ext cx="6553200" cy="6248400"/>
        </p:xfrm>
        <a:graphic>
          <a:graphicData uri="http://schemas.openxmlformats.org/presentationml/2006/ole">
            <p:oleObj spid="_x0000_s2050" name="Acrobat Document" r:id="rId4" imgW="5829194" imgH="7543564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3"/>
          <p:cNvSpPr>
            <a:spLocks noGrp="1"/>
          </p:cNvSpPr>
          <p:nvPr>
            <p:ph sz="half" idx="2"/>
          </p:nvPr>
        </p:nvSpPr>
        <p:spPr>
          <a:xfrm>
            <a:off x="2057400" y="1524000"/>
            <a:ext cx="4038600" cy="5105400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en-US" smtClean="0"/>
              <a:t>	</a:t>
            </a:r>
            <a:r>
              <a:rPr lang="en-US" b="1" u="sng" smtClean="0"/>
              <a:t>Packet</a:t>
            </a:r>
            <a:r>
              <a:rPr lang="en-US" u="sng" smtClean="0"/>
              <a:t> </a:t>
            </a:r>
            <a:r>
              <a:rPr lang="en-US" b="1" u="sng" smtClean="0"/>
              <a:t>Contents</a:t>
            </a:r>
          </a:p>
          <a:p>
            <a:r>
              <a:rPr lang="en-US" sz="2600" smtClean="0"/>
              <a:t>PowerPoint Presentation</a:t>
            </a:r>
          </a:p>
          <a:p>
            <a:r>
              <a:rPr lang="en-US" sz="2600" smtClean="0"/>
              <a:t>Surplus Position Worksheet</a:t>
            </a:r>
          </a:p>
          <a:p>
            <a:r>
              <a:rPr lang="en-US" sz="2600" smtClean="0"/>
              <a:t>Q &amp; A</a:t>
            </a:r>
          </a:p>
          <a:p>
            <a:r>
              <a:rPr lang="en-US" sz="2600" smtClean="0"/>
              <a:t>Letters - </a:t>
            </a:r>
            <a:r>
              <a:rPr lang="en-US" sz="2000" smtClean="0"/>
              <a:t>Part-time ; Limited</a:t>
            </a:r>
          </a:p>
          <a:p>
            <a:r>
              <a:rPr lang="en-US" sz="2600" smtClean="0"/>
              <a:t>Scripts </a:t>
            </a:r>
            <a:r>
              <a:rPr lang="en-US" sz="1800" smtClean="0"/>
              <a:t> - </a:t>
            </a:r>
            <a:r>
              <a:rPr lang="en-US" sz="2000" smtClean="0"/>
              <a:t>Part-time ; Limited</a:t>
            </a:r>
          </a:p>
          <a:p>
            <a:r>
              <a:rPr lang="en-US" sz="2600" smtClean="0"/>
              <a:t>Notification Checklist</a:t>
            </a:r>
          </a:p>
          <a:p>
            <a:r>
              <a:rPr lang="en-US" sz="2600" smtClean="0"/>
              <a:t>Benefits  Information</a:t>
            </a:r>
          </a:p>
          <a:p>
            <a:r>
              <a:rPr lang="en-US" sz="2600" smtClean="0"/>
              <a:t>Contact List</a:t>
            </a:r>
          </a:p>
          <a:p>
            <a:pPr lvl="1">
              <a:buFont typeface="Arial" charset="0"/>
              <a:buNone/>
            </a:pPr>
            <a:r>
              <a:rPr lang="en-US" sz="2200" smtClean="0"/>
              <a:t>	    </a:t>
            </a:r>
          </a:p>
          <a:p>
            <a:pPr>
              <a:buFont typeface="Arial" charset="0"/>
              <a:buNone/>
            </a:pPr>
            <a:endParaRPr lang="en-US" sz="2000" smtClean="0"/>
          </a:p>
        </p:txBody>
      </p:sp>
      <p:pic>
        <p:nvPicPr>
          <p:cNvPr id="6147" name="Picture 4" descr="ccsd_cp_wdmk_rg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381000"/>
            <a:ext cx="16891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1752600" y="1066800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/>
              <a:t>Principal’s Meeting</a:t>
            </a:r>
            <a:r>
              <a:rPr lang="en-US" sz="2000"/>
              <a:t>      </a:t>
            </a:r>
            <a:r>
              <a:rPr lang="en-US" sz="2000" b="1"/>
              <a:t>April 29, 2010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3600" smtClean="0"/>
              <a:t>This process will have two distinct facets:</a:t>
            </a:r>
          </a:p>
          <a:p>
            <a:pPr eaLnBrk="1" hangingPunct="1">
              <a:buFont typeface="Arial" charset="0"/>
              <a:buNone/>
            </a:pPr>
            <a:r>
              <a:rPr lang="en-US" sz="3600" smtClean="0"/>
              <a:t>			(1) RIF</a:t>
            </a:r>
          </a:p>
          <a:p>
            <a:pPr eaLnBrk="1" hangingPunct="1">
              <a:buFont typeface="Arial" charset="0"/>
              <a:buNone/>
            </a:pPr>
            <a:r>
              <a:rPr lang="en-US" sz="3600" smtClean="0"/>
              <a:t>			 (2)Reassignment </a:t>
            </a:r>
            <a:endParaRPr lang="en-US" sz="2800" smtClean="0"/>
          </a:p>
          <a:p>
            <a:pPr eaLnBrk="1" hangingPunct="1">
              <a:buFont typeface="Arial" charset="0"/>
              <a:buNone/>
            </a:pPr>
            <a:r>
              <a:rPr lang="en-US" b="1" u="sng" smtClean="0"/>
              <a:t>HR will determine the specific teachers, based on level and/or subject area, who will be RIF’d based on District-wide seniority. </a:t>
            </a:r>
          </a:p>
          <a:p>
            <a:pPr eaLnBrk="1" hangingPunct="1">
              <a:buFont typeface="Arial" charset="0"/>
              <a:buNone/>
            </a:pPr>
            <a:endParaRPr lang="en-US" sz="1800" b="1" u="sng" smtClean="0"/>
          </a:p>
          <a:p>
            <a:pPr algn="ctr" eaLnBrk="1" hangingPunct="1">
              <a:buFont typeface="Arial" charset="0"/>
              <a:buNone/>
            </a:pPr>
            <a:r>
              <a:rPr lang="en-US" b="1" u="sng" smtClean="0">
                <a:solidFill>
                  <a:srgbClr val="FF0000"/>
                </a:solidFill>
              </a:rPr>
              <a:t>Individual schools </a:t>
            </a:r>
            <a:r>
              <a:rPr lang="en-US" b="1" u="sng" smtClean="0"/>
              <a:t>will not identify </a:t>
            </a:r>
            <a:r>
              <a:rPr lang="en-US" b="1" u="sng" smtClean="0">
                <a:solidFill>
                  <a:srgbClr val="FF0000"/>
                </a:solidFill>
              </a:rPr>
              <a:t>those teachers/employees.</a:t>
            </a:r>
          </a:p>
          <a:p>
            <a:pPr algn="ctr" eaLnBrk="1" hangingPunct="1">
              <a:buFont typeface="Arial" charset="0"/>
              <a:buNone/>
            </a:pPr>
            <a:endParaRPr lang="en-US" sz="1400" b="1" u="sng" smtClean="0">
              <a:solidFill>
                <a:srgbClr val="FF0000"/>
              </a:solidFill>
            </a:endParaRPr>
          </a:p>
          <a:p>
            <a:pPr algn="ctr" eaLnBrk="1" hangingPunct="1">
              <a:buFont typeface="Arial" charset="0"/>
              <a:buNone/>
            </a:pPr>
            <a:r>
              <a:rPr lang="en-US" b="1" smtClean="0">
                <a:solidFill>
                  <a:srgbClr val="FF0000"/>
                </a:solidFill>
              </a:rPr>
              <a:t>Supplements </a:t>
            </a:r>
            <a:r>
              <a:rPr lang="en-US" b="1" u="sng" smtClean="0"/>
              <a:t>do not protect </a:t>
            </a:r>
            <a:r>
              <a:rPr lang="en-US" b="1" smtClean="0">
                <a:solidFill>
                  <a:srgbClr val="FF0000"/>
                </a:solidFill>
              </a:rPr>
              <a:t>employees in a RIF.</a:t>
            </a:r>
          </a:p>
          <a:p>
            <a:pPr algn="ctr" eaLnBrk="1" hangingPunct="1">
              <a:buFont typeface="Arial" charset="0"/>
              <a:buNone/>
            </a:pPr>
            <a:endParaRPr lang="en-US" b="1" smtClean="0">
              <a:solidFill>
                <a:srgbClr val="FF0000"/>
              </a:solidFill>
            </a:endParaRPr>
          </a:p>
          <a:p>
            <a:pPr eaLnBrk="1" hangingPunct="1">
              <a:buFont typeface="Arial" charset="0"/>
              <a:buNone/>
            </a:pPr>
            <a:r>
              <a:rPr lang="en-US" smtClean="0"/>
              <a:t>			</a:t>
            </a:r>
          </a:p>
        </p:txBody>
      </p:sp>
      <p:pic>
        <p:nvPicPr>
          <p:cNvPr id="7171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219200"/>
            <a:ext cx="1905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mtClean="0"/>
              <a:t>After employees impacted by the RIF have been notified by May 15</a:t>
            </a:r>
            <a:r>
              <a:rPr lang="en-US" baseline="30000" smtClean="0"/>
              <a:t>th</a:t>
            </a:r>
            <a:r>
              <a:rPr lang="en-US" smtClean="0"/>
              <a:t>, there most likely will be a need to reassign individuals from one location to another. This part of the process will occur at a later date.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pic>
        <p:nvPicPr>
          <p:cNvPr id="8195" name="Picture 4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3429000"/>
            <a:ext cx="3200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Principals Receive Allotment Sheets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	Review Allotment Sheets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	Determine Subject Area Staffing Needs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	Identify :</a:t>
            </a:r>
          </a:p>
          <a:p>
            <a:pPr lvl="1"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 smtClean="0">
                <a:solidFill>
                  <a:srgbClr val="FF0000"/>
                </a:solidFill>
              </a:rPr>
              <a:t>		Grade/Position/Subject Area 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 smtClean="0">
                <a:solidFill>
                  <a:srgbClr val="FF0000"/>
                </a:solidFill>
              </a:rPr>
              <a:t>		– Not People –</a:t>
            </a:r>
            <a:r>
              <a:rPr lang="en-US" dirty="0" smtClean="0"/>
              <a:t> 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 smtClean="0"/>
              <a:t>That Must Be “</a:t>
            </a:r>
            <a:r>
              <a:rPr lang="en-US" dirty="0" err="1" smtClean="0"/>
              <a:t>Surplused</a:t>
            </a:r>
            <a:r>
              <a:rPr lang="en-US" dirty="0" smtClean="0"/>
              <a:t>” for 2010-11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pic>
        <p:nvPicPr>
          <p:cNvPr id="9220" name="Picture 4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4572000"/>
            <a:ext cx="1981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15000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en-US" b="1" i="1" smtClean="0"/>
              <a:t>EXAMPLE</a:t>
            </a:r>
          </a:p>
          <a:p>
            <a:pPr eaLnBrk="1" hangingPunct="1">
              <a:buFont typeface="Arial" charset="0"/>
              <a:buNone/>
            </a:pPr>
            <a:r>
              <a:rPr lang="en-US" b="1" i="1" smtClean="0"/>
              <a:t>(1) For 2009-10, a high school needed 15 English positions to meet their staffing needs. For 2010-11 (with the reduced allotment), that high school now only needs 12 English positions to meet their staffing needs. The high school will then have 3 English positions to be “surplused” for 2010-11.  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pic>
        <p:nvPicPr>
          <p:cNvPr id="10243" name="Picture 4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4343400"/>
            <a:ext cx="3200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sz="5400" smtClean="0">
                <a:solidFill>
                  <a:srgbClr val="C00000"/>
                </a:solidFill>
              </a:rPr>
              <a:t>IMPORTANT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en-US" sz="2600" smtClean="0"/>
          </a:p>
          <a:p>
            <a:pPr eaLnBrk="1" hangingPunct="1">
              <a:buFont typeface="Arial" charset="0"/>
              <a:buNone/>
            </a:pPr>
            <a:r>
              <a:rPr lang="en-US" sz="4000" smtClean="0"/>
              <a:t>Internal reassignments </a:t>
            </a:r>
            <a:r>
              <a:rPr lang="en-US" sz="4000" b="1" smtClean="0">
                <a:solidFill>
                  <a:srgbClr val="C00000"/>
                </a:solidFill>
              </a:rPr>
              <a:t>cannot</a:t>
            </a:r>
            <a:r>
              <a:rPr lang="en-US" sz="4000" smtClean="0"/>
              <a:t> be made at this time. Even if your employees hold other certifications, no internal reassignments can be made. </a:t>
            </a:r>
          </a:p>
        </p:txBody>
      </p:sp>
      <p:pic>
        <p:nvPicPr>
          <p:cNvPr id="11268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4648200"/>
            <a:ext cx="2362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/>
          <a:lstStyle/>
          <a:p>
            <a:pPr eaLnBrk="1" hangingPunct="1"/>
            <a:r>
              <a:rPr lang="en-US" smtClean="0"/>
              <a:t>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We must be able to determine district-wide seniority  by level and/or subject area. </a:t>
            </a:r>
          </a:p>
          <a:p>
            <a:pPr eaLnBrk="1" hangingPunct="1">
              <a:defRPr/>
            </a:pPr>
            <a:r>
              <a:rPr lang="en-US" sz="2800" dirty="0" smtClean="0"/>
              <a:t>Internal reassignments will prevent the appropriate identification of the least senior teacher in an identified “surplus” area. </a:t>
            </a:r>
          </a:p>
          <a:p>
            <a:pPr eaLnBrk="1" hangingPunct="1">
              <a:defRPr/>
            </a:pPr>
            <a:r>
              <a:rPr lang="en-US" sz="2800" dirty="0" smtClean="0"/>
              <a:t>Moving teachers into other subject areas could also potentially cause them to be moved into a “surplus” subject area position in which they would be subject to RIF.</a:t>
            </a:r>
            <a:r>
              <a:rPr lang="en-US" dirty="0" smtClean="0"/>
              <a:t> </a:t>
            </a:r>
          </a:p>
          <a:p>
            <a:pPr eaLnBrk="1" hangingPunct="1">
              <a:defRPr/>
            </a:pPr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 A middle school teacher currently teaching Language Arts who also holds science certification cannot be moved into a science position. A special education teacher cannot be moved into a math position.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  <p:pic>
        <p:nvPicPr>
          <p:cNvPr id="12292" name="Picture 10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4343400"/>
            <a:ext cx="91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/>
          <a:lstStyle/>
          <a:p>
            <a:pPr eaLnBrk="1" hangingPunct="1"/>
            <a:r>
              <a:rPr lang="en-US" smtClean="0"/>
              <a:t>Once we determine the subject areas/positions that are to be “surplused”, the seniority of individuals will be determined based on their </a:t>
            </a:r>
            <a:r>
              <a:rPr lang="en-US" b="1" u="sng" smtClean="0">
                <a:solidFill>
                  <a:srgbClr val="C00000"/>
                </a:solidFill>
              </a:rPr>
              <a:t>current</a:t>
            </a:r>
            <a:r>
              <a:rPr lang="en-US" smtClean="0"/>
              <a:t> teaching/job assignments. </a:t>
            </a:r>
          </a:p>
          <a:p>
            <a:pPr eaLnBrk="1" hangingPunct="1"/>
            <a:r>
              <a:rPr lang="en-US" smtClean="0"/>
              <a:t>If the individual teaches more than one subject, the primary subject area teaching assignment will be the one used to determine seniority</a:t>
            </a:r>
            <a:r>
              <a:rPr lang="en-US" u="sng" smtClean="0"/>
              <a:t>. If he/she is 50/50, the last full day subject/job assignment will be used.</a:t>
            </a:r>
          </a:p>
          <a:p>
            <a:pPr eaLnBrk="1" hangingPunct="1"/>
            <a:r>
              <a:rPr lang="en-US" smtClean="0"/>
              <a:t>Part-time certified employees </a:t>
            </a:r>
            <a:r>
              <a:rPr lang="en-US" b="1" smtClean="0">
                <a:solidFill>
                  <a:srgbClr val="C00000"/>
                </a:solidFill>
              </a:rPr>
              <a:t>cannot</a:t>
            </a:r>
            <a:r>
              <a:rPr lang="en-US" smtClean="0"/>
              <a:t> be moved into full-time positions at this time.</a:t>
            </a:r>
          </a:p>
        </p:txBody>
      </p:sp>
      <p:pic>
        <p:nvPicPr>
          <p:cNvPr id="13315" name="Picture 10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2133600"/>
            <a:ext cx="91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14800" cy="56388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On the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Certified Position Surplus Worksheet 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 Due Monday, May 3</a:t>
            </a:r>
            <a:r>
              <a:rPr lang="en-US" sz="2000" b="1" i="1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rd</a:t>
            </a:r>
            <a:r>
              <a:rPr lang="en-US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800" dirty="0" smtClean="0"/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600" dirty="0" smtClean="0"/>
              <a:t>After looking at staffing needs, please list the surplus (overstaffed) positions you have identified for your school. List only one position per line.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/>
              <a:t>See examples on the following slides.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62000"/>
            <a:ext cx="4038600" cy="5364163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 smtClean="0"/>
              <a:t>SAMPLE OF FORM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Certified Position Surplus Worksheet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 smtClean="0"/>
              <a:t>What certified positions (not people) are you overstaffed for the 2010-11 school year?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2133600"/>
          <a:ext cx="3657600" cy="433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</a:tblGrid>
              <a:tr h="834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Subject/Grade</a:t>
                      </a:r>
                    </a:p>
                    <a:p>
                      <a:pPr algn="ctr">
                        <a:buNone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(one per line)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</a:t>
                      </a:r>
                      <a:r>
                        <a:rPr lang="en-US" sz="1400" baseline="0" dirty="0" smtClean="0"/>
                        <a:t> For Elementary : K-5/EIP ; PE</a:t>
                      </a:r>
                      <a:endParaRPr lang="en-US" sz="1400" dirty="0"/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 For Middle: </a:t>
                      </a:r>
                      <a:r>
                        <a:rPr lang="en-US" sz="1400" baseline="0" dirty="0" smtClean="0"/>
                        <a:t> Math</a:t>
                      </a:r>
                      <a:endParaRPr lang="en-US" sz="1400" dirty="0"/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 for High School:</a:t>
                      </a:r>
                      <a:r>
                        <a:rPr lang="en-US" sz="1400" baseline="0" dirty="0" smtClean="0"/>
                        <a:t>  Science</a:t>
                      </a:r>
                      <a:endParaRPr lang="en-US" sz="1400" dirty="0"/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 for SPED: General Curriculum (IRR)</a:t>
                      </a:r>
                      <a:endParaRPr lang="en-US" sz="1400" dirty="0"/>
                    </a:p>
                  </a:txBody>
                  <a:tcPr/>
                </a:tc>
              </a:tr>
              <a:tr h="46431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46431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46431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>
            <a:off x="1371600" y="2743200"/>
            <a:ext cx="2819400" cy="484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4361" name="Picture 10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609600"/>
            <a:ext cx="91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Sample of Certified Position Worksheet ( Elementary)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Arial" charset="0"/>
              <a:buNone/>
              <a:defRPr/>
            </a:pPr>
            <a:r>
              <a:rPr lang="en-US" sz="4400" b="1" dirty="0" smtClean="0"/>
              <a:t>Subject/Grade</a:t>
            </a:r>
          </a:p>
          <a:p>
            <a:pPr algn="ctr" eaLnBrk="1" hangingPunct="1">
              <a:buFont typeface="Arial" charset="0"/>
              <a:buNone/>
              <a:defRPr/>
            </a:pPr>
            <a:r>
              <a:rPr lang="en-US" dirty="0" smtClean="0"/>
              <a:t>(one per line)</a:t>
            </a:r>
          </a:p>
          <a:p>
            <a:pPr marL="514350" indent="-514350" eaLnBrk="1" hangingPunct="1">
              <a:buFont typeface="Arial" charset="0"/>
              <a:buAutoNum type="arabicPeriod"/>
              <a:defRPr/>
            </a:pPr>
            <a:r>
              <a:rPr lang="en-US" dirty="0" smtClean="0"/>
              <a:t>K-5/EIP</a:t>
            </a:r>
          </a:p>
          <a:p>
            <a:pPr marL="514350" indent="-514350" eaLnBrk="1" hangingPunct="1">
              <a:buFont typeface="Arial" charset="0"/>
              <a:buAutoNum type="arabicPeriod" startAt="2"/>
              <a:defRPr/>
            </a:pPr>
            <a:r>
              <a:rPr lang="en-US" dirty="0" smtClean="0"/>
              <a:t>K-5/EIP</a:t>
            </a:r>
          </a:p>
          <a:p>
            <a:pPr marL="514350" indent="-514350" eaLnBrk="1" hangingPunct="1">
              <a:buFont typeface="Arial" charset="0"/>
              <a:buNone/>
              <a:defRPr/>
            </a:pPr>
            <a:r>
              <a:rPr lang="en-US" dirty="0" smtClean="0"/>
              <a:t>3. Physical Education</a:t>
            </a:r>
          </a:p>
          <a:p>
            <a:pPr marL="514350" indent="-514350" eaLnBrk="1" hangingPunct="1">
              <a:buFont typeface="Arial" charset="0"/>
              <a:buNone/>
              <a:defRPr/>
            </a:pPr>
            <a:r>
              <a:rPr lang="en-US" dirty="0" smtClean="0"/>
              <a:t>4. Sped Ed – General Curriculum</a:t>
            </a:r>
          </a:p>
          <a:p>
            <a:pPr marL="514350" indent="-514350" eaLnBrk="1" hangingPunct="1">
              <a:buFont typeface="Arial" charset="0"/>
              <a:buNone/>
              <a:defRPr/>
            </a:pPr>
            <a:r>
              <a:rPr lang="en-US" dirty="0" smtClean="0"/>
              <a:t>5. Sped Ed – General Curriculum</a:t>
            </a:r>
          </a:p>
          <a:p>
            <a:pPr marL="514350" indent="-514350" eaLnBrk="1" hangingPunct="1">
              <a:buFont typeface="Arial" charset="0"/>
              <a:buNone/>
              <a:defRPr/>
            </a:pPr>
            <a:endParaRPr lang="en-US" dirty="0"/>
          </a:p>
        </p:txBody>
      </p:sp>
      <p:pic>
        <p:nvPicPr>
          <p:cNvPr id="15364" name="Picture 4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743200"/>
            <a:ext cx="3200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867400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 While schools are identifying their surplus positions and completing the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Worksheet</a:t>
            </a:r>
            <a:r>
              <a:rPr lang="en-US" dirty="0" smtClean="0"/>
              <a:t>, HR will be reviewing and rechecking their lists of current employees which have been sorted</a:t>
            </a:r>
            <a:r>
              <a:rPr lang="en-US" i="1" dirty="0" smtClean="0"/>
              <a:t> </a:t>
            </a:r>
            <a:r>
              <a:rPr lang="en-US" dirty="0" smtClean="0"/>
              <a:t>by hire date  and by: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 	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Elementary -- </a:t>
            </a:r>
            <a:r>
              <a:rPr lang="en-US" dirty="0" smtClean="0"/>
              <a:t>Level and/or Subject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(K-5/EIP; PE)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    Middle School – </a:t>
            </a:r>
            <a:r>
              <a:rPr lang="en-US" i="1" dirty="0" smtClean="0"/>
              <a:t>Level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(MS) </a:t>
            </a:r>
            <a:r>
              <a:rPr lang="en-US" i="1" dirty="0" smtClean="0"/>
              <a:t>and </a:t>
            </a:r>
            <a:r>
              <a:rPr lang="en-US" dirty="0" smtClean="0"/>
              <a:t>Subject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(MS-Math; FACS)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    High School -</a:t>
            </a:r>
            <a:r>
              <a:rPr lang="en-US" i="1" dirty="0" smtClean="0"/>
              <a:t>Level 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(HS)</a:t>
            </a:r>
            <a:r>
              <a:rPr lang="en-US" i="1" dirty="0" smtClean="0"/>
              <a:t>and Subject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(HS – Science; Math)</a:t>
            </a:r>
            <a:endParaRPr lang="en-US" sz="2800" i="1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	Special Education – </a:t>
            </a:r>
            <a:r>
              <a:rPr lang="en-US" i="1" dirty="0" smtClean="0"/>
              <a:t>Subject 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(General </a:t>
            </a:r>
            <a:r>
              <a:rPr lang="en-US" sz="2800" i="1" dirty="0" err="1" smtClean="0">
                <a:solidFill>
                  <a:schemeClr val="accent6">
                    <a:lumMod val="75000"/>
                  </a:schemeClr>
                </a:solidFill>
              </a:rPr>
              <a:t>Curr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. ; Adaptive)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 smtClean="0"/>
              <a:t>to insure that the names of part-time certified, limited contract, retiring, and resigning employees and employees with performance issues have been removed from the employee lists. </a:t>
            </a:r>
            <a:endParaRPr lang="en-US" dirty="0"/>
          </a:p>
        </p:txBody>
      </p:sp>
      <p:pic>
        <p:nvPicPr>
          <p:cNvPr id="16387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0" y="48006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91200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en-US" smtClean="0"/>
              <a:t>The completed </a:t>
            </a:r>
            <a:r>
              <a:rPr lang="en-US" b="1" i="1" smtClean="0">
                <a:solidFill>
                  <a:srgbClr val="558ED5"/>
                </a:solidFill>
              </a:rPr>
              <a:t>Certified Position Surplus Sheet </a:t>
            </a:r>
            <a:r>
              <a:rPr lang="en-US" smtClean="0"/>
              <a:t> for each school will be </a:t>
            </a:r>
            <a:r>
              <a:rPr lang="en-US" u="sng" smtClean="0"/>
              <a:t>due in HR by NOON on Monday, May 3</a:t>
            </a:r>
            <a:r>
              <a:rPr lang="en-US" u="sng" baseline="30000" smtClean="0"/>
              <a:t>rd</a:t>
            </a:r>
            <a:r>
              <a:rPr lang="en-US" smtClean="0"/>
              <a:t>. </a:t>
            </a:r>
          </a:p>
          <a:p>
            <a:pPr algn="ctr" eaLnBrk="1" hangingPunct="1">
              <a:buFont typeface="Arial" charset="0"/>
              <a:buNone/>
            </a:pPr>
            <a:r>
              <a:rPr lang="en-US" sz="2400" smtClean="0">
                <a:solidFill>
                  <a:srgbClr val="C00000"/>
                </a:solidFill>
              </a:rPr>
              <a:t>Please fax to HR – 678.594.8580</a:t>
            </a:r>
          </a:p>
          <a:p>
            <a:pPr algn="ctr" eaLnBrk="1" hangingPunct="1">
              <a:buFont typeface="Arial" charset="0"/>
              <a:buNone/>
            </a:pPr>
            <a:r>
              <a:rPr lang="en-US" smtClean="0"/>
              <a:t>Once the forms for all schools, divisions, and departments are received, HR will compile a list of identified surplus positions for elementary, middle school (by subject area),  high school (by subject area), </a:t>
            </a:r>
          </a:p>
          <a:p>
            <a:pPr algn="ctr" eaLnBrk="1" hangingPunct="1">
              <a:buFont typeface="Arial" charset="0"/>
              <a:buNone/>
            </a:pPr>
            <a:r>
              <a:rPr lang="en-US" smtClean="0"/>
              <a:t>and special education .</a:t>
            </a:r>
          </a:p>
        </p:txBody>
      </p:sp>
      <p:pic>
        <p:nvPicPr>
          <p:cNvPr id="17411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5334000"/>
            <a:ext cx="152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 After the lists of positions have been compiled, </a:t>
            </a:r>
            <a:r>
              <a:rPr lang="en-US" b="1" u="sng" dirty="0" smtClean="0"/>
              <a:t>HR  will then determine the total number of positions for RIF by</a:t>
            </a:r>
            <a:r>
              <a:rPr lang="en-US" u="sng" dirty="0" smtClean="0"/>
              <a:t>: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	     </a:t>
            </a: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Elementary -- </a:t>
            </a:r>
            <a:r>
              <a:rPr lang="en-US" sz="2400" dirty="0" smtClean="0"/>
              <a:t>Level and/or Subject</a:t>
            </a: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(K-5/EIP ; PE)</a:t>
            </a: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             Middle School - </a:t>
            </a:r>
            <a:r>
              <a:rPr lang="en-US" sz="2400" i="1" dirty="0" smtClean="0"/>
              <a:t>Level and </a:t>
            </a:r>
            <a:r>
              <a:rPr lang="en-US" sz="2400" dirty="0" smtClean="0"/>
              <a:t>Subject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(MS --Math; FACS)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             High School -</a:t>
            </a:r>
            <a:r>
              <a:rPr lang="en-US" sz="2400" i="1" dirty="0" smtClean="0"/>
              <a:t>Level and Subject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(HS – Science ; Business)</a:t>
            </a:r>
            <a:endParaRPr lang="en-US" sz="2400" i="1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	        Special Education – </a:t>
            </a:r>
            <a:r>
              <a:rPr lang="en-US" sz="2400" i="1" dirty="0" smtClean="0"/>
              <a:t>Subject </a:t>
            </a: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(General </a:t>
            </a:r>
            <a:r>
              <a:rPr lang="en-US" sz="2400" i="1" dirty="0" err="1" smtClean="0">
                <a:solidFill>
                  <a:schemeClr val="accent6">
                    <a:lumMod val="75000"/>
                  </a:schemeClr>
                </a:solidFill>
              </a:rPr>
              <a:t>Curr</a:t>
            </a: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</a:rPr>
              <a:t> ; Adaptive) </a:t>
            </a:r>
            <a:endParaRPr lang="en-US" sz="2400" i="1" dirty="0" smtClean="0"/>
          </a:p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	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 smtClean="0"/>
          </a:p>
        </p:txBody>
      </p:sp>
      <p:pic>
        <p:nvPicPr>
          <p:cNvPr id="18435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191000"/>
            <a:ext cx="2514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096000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  </a:t>
            </a:r>
            <a:r>
              <a:rPr lang="en-US" sz="2800" dirty="0" smtClean="0"/>
              <a:t>If the number of positions identified for RIF in :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     Elementary -- </a:t>
            </a:r>
            <a:r>
              <a:rPr lang="en-US" sz="2800" dirty="0" smtClean="0"/>
              <a:t>Level and/or Subject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(K-5/EIP; PE)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     Middle School - </a:t>
            </a:r>
            <a:r>
              <a:rPr lang="en-US" sz="2800" i="1" dirty="0" smtClean="0"/>
              <a:t>Level and </a:t>
            </a:r>
            <a:r>
              <a:rPr lang="en-US" sz="2800" dirty="0" smtClean="0"/>
              <a:t>Subject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(MS-Math; FACS)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     High School -</a:t>
            </a:r>
            <a:r>
              <a:rPr lang="en-US" sz="2800" i="1" dirty="0" smtClean="0"/>
              <a:t>Level and Subject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(HS –</a:t>
            </a:r>
            <a:r>
              <a:rPr lang="en-US" sz="2400" dirty="0" err="1" smtClean="0">
                <a:solidFill>
                  <a:schemeClr val="accent6">
                    <a:lumMod val="75000"/>
                  </a:schemeClr>
                </a:solidFill>
              </a:rPr>
              <a:t>Science;Business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sz="2400" i="1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	Special Education – </a:t>
            </a:r>
            <a:r>
              <a:rPr lang="en-US" sz="2800" i="1" dirty="0" smtClean="0"/>
              <a:t>Subject 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(General </a:t>
            </a:r>
            <a:r>
              <a:rPr lang="en-US" sz="2800" i="1" dirty="0" err="1" smtClean="0">
                <a:solidFill>
                  <a:schemeClr val="accent6">
                    <a:lumMod val="75000"/>
                  </a:schemeClr>
                </a:solidFill>
              </a:rPr>
              <a:t>Curr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</a:rPr>
              <a:t> ; Adaptive)</a:t>
            </a:r>
            <a:endParaRPr lang="en-US" sz="2800" i="1" dirty="0" smtClean="0"/>
          </a:p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    </a:t>
            </a:r>
            <a:r>
              <a:rPr lang="en-US" sz="2800" u="sng" dirty="0" smtClean="0"/>
              <a:t>is equal to or less than </a:t>
            </a:r>
            <a:r>
              <a:rPr lang="en-US" sz="2800" dirty="0" smtClean="0"/>
              <a:t>the numbers of employees (in the specific “surplus” areas) who have already identified as those leaving the District at the end of the school year (part-time, limited contract, performance, retirement, resignation), then no additional employees in that particular “surplus” area may be identified for RIF.</a:t>
            </a:r>
          </a:p>
        </p:txBody>
      </p:sp>
      <p:pic>
        <p:nvPicPr>
          <p:cNvPr id="19459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7600" y="5562600"/>
            <a:ext cx="129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 Specifically designated hire dates will be established for: 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		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Elementary 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		 Special Education  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		 Middle School 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           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 High School 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 smtClean="0"/>
              <a:t>Those teachers (in identified areas for surplus) whose hire dates are after the designated dates specific to  those levels (elementary, middle, high) and/or subject area (Special Ed) will be non-renewed. </a:t>
            </a:r>
          </a:p>
        </p:txBody>
      </p:sp>
      <p:pic>
        <p:nvPicPr>
          <p:cNvPr id="20483" name="Picture 4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914400"/>
            <a:ext cx="1752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382000" cy="5943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Let’s say, </a:t>
            </a:r>
            <a:r>
              <a:rPr lang="en-US" dirty="0" smtClean="0">
                <a:solidFill>
                  <a:srgbClr val="C00000"/>
                </a:solidFill>
              </a:rPr>
              <a:t>for example</a:t>
            </a:r>
            <a:r>
              <a:rPr lang="en-US" dirty="0" smtClean="0"/>
              <a:t>, that the upcoming school year is 2019-20 and it has been determined that anyone (district-wide) hired in high schools  after 8/4/2017 will be non-renewed. </a:t>
            </a:r>
            <a:r>
              <a:rPr lang="en-US" u="sng" dirty="0" smtClean="0"/>
              <a:t>HR will review the list of high school teachers currently teaching in subject areas where surplus positions exist and identify the teachers with least district seniority who will be non-renewed for the 2019-20 school year.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 smtClean="0"/>
              <a:t>      </a:t>
            </a:r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See the English example on the next slide. Those </a:t>
            </a:r>
            <a:r>
              <a:rPr lang="en-US" sz="2400" b="1" dirty="0" smtClean="0">
                <a:solidFill>
                  <a:srgbClr val="C00000"/>
                </a:solidFill>
              </a:rPr>
              <a:t>in red font </a:t>
            </a:r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will be non-renewed.  The process described will be used in all areas.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  <p:pic>
        <p:nvPicPr>
          <p:cNvPr id="21507" name="Picture 9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5943600"/>
            <a:ext cx="60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57200" y="533400"/>
          <a:ext cx="7696200" cy="649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051"/>
                <a:gridCol w="2141867"/>
                <a:gridCol w="1706233"/>
                <a:gridCol w="1924051"/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School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Subject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Hire Date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Joe Smith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Rex HS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English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8/1/2013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H. </a:t>
                      </a:r>
                      <a:r>
                        <a:rPr lang="en-US" sz="1600" baseline="0" dirty="0" smtClean="0"/>
                        <a:t> Jones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Jones HS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English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5/6/2013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B. Cloud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Veterans</a:t>
                      </a:r>
                      <a:r>
                        <a:rPr lang="en-US" sz="1400" baseline="0" dirty="0" smtClean="0"/>
                        <a:t> HS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English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8/3/2014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J. Kemp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Skip HS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English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8/1/2015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S. 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Bates HS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English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1/5/2016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M.</a:t>
                      </a:r>
                      <a:r>
                        <a:rPr lang="en-US" sz="1600" baseline="0" dirty="0" smtClean="0"/>
                        <a:t> Sykes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Vandy</a:t>
                      </a:r>
                      <a:r>
                        <a:rPr lang="en-US" sz="1600" dirty="0" smtClean="0"/>
                        <a:t> HS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English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3/5/2016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J. Brown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 smtClean="0">
                          <a:solidFill>
                            <a:srgbClr val="C00000"/>
                          </a:solidFill>
                        </a:rPr>
                        <a:t>Wilhite</a:t>
                      </a:r>
                      <a:r>
                        <a:rPr lang="en-US" sz="1600" b="1" baseline="0" dirty="0" smtClean="0">
                          <a:solidFill>
                            <a:srgbClr val="C00000"/>
                          </a:solidFill>
                        </a:rPr>
                        <a:t>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9/7/2017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D. Hunt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Phillips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9/7/2017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B. Sorry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Rex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9/9/2017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I. Sears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 smtClean="0">
                          <a:solidFill>
                            <a:srgbClr val="C00000"/>
                          </a:solidFill>
                        </a:rPr>
                        <a:t>Vandy</a:t>
                      </a:r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8/3/2018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V.</a:t>
                      </a:r>
                      <a:r>
                        <a:rPr lang="en-US" sz="1600" b="1" baseline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600" b="1" baseline="0" dirty="0" err="1" smtClean="0">
                          <a:solidFill>
                            <a:srgbClr val="C00000"/>
                          </a:solidFill>
                        </a:rPr>
                        <a:t>Mitchel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Jones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1/9/2019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T. Long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Rex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2/5/2019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B. Kind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Skip HS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English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a:t>3/9/2019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NOTE:   Those in red font will be</a:t>
                      </a:r>
                      <a:r>
                        <a:rPr lang="en-US" sz="1600" b="1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non-renewed.</a:t>
                      </a:r>
                      <a:endParaRPr lang="en-US" sz="16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2612" name="Picture 9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5715000"/>
            <a:ext cx="91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u="sng" smtClean="0"/>
              <a:t>Once HR has identified the specific teachers to be non-renewed, the Principals of those teachers will  be notified. 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Scripts will be provided to assist with conferences with those individuals who are being non-renewed. In addition to the scripts, information regarding benefits, COBRA, unemployment, etc., will be provided to give the employees.</a:t>
            </a:r>
          </a:p>
        </p:txBody>
      </p:sp>
      <p:pic>
        <p:nvPicPr>
          <p:cNvPr id="23555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0292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524000" y="1393825"/>
          <a:ext cx="6094413" cy="4070350"/>
        </p:xfrm>
        <a:graphic>
          <a:graphicData uri="http://schemas.openxmlformats.org/presentationml/2006/ole">
            <p:oleObj spid="_x0000_s3074" name="Document" r:id="rId4" imgW="6095140" imgH="4069826" progId="Word.Document.8">
              <p:embed/>
            </p:oleObj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990600" y="304800"/>
          <a:ext cx="6934200" cy="6172200"/>
        </p:xfrm>
        <a:graphic>
          <a:graphicData uri="http://schemas.openxmlformats.org/presentationml/2006/ole">
            <p:oleObj spid="_x0000_s3075" name="Acrobat Document" r:id="rId5" imgW="5829194" imgH="7543564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C00000"/>
                </a:solidFill>
              </a:rPr>
              <a:t>IMPORTANT TO UNDERSTAND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mtClean="0"/>
              <a:t> </a:t>
            </a:r>
            <a:r>
              <a:rPr lang="en-US" sz="2800" smtClean="0"/>
              <a:t>It is possible that there may be a situation where a school may not be losing a position and it may appear that the current staff will remain in tact.</a:t>
            </a:r>
          </a:p>
          <a:p>
            <a:pPr eaLnBrk="1" hangingPunct="1">
              <a:buFont typeface="Arial" charset="0"/>
              <a:buNone/>
            </a:pPr>
            <a:r>
              <a:rPr lang="en-US" sz="2800" smtClean="0"/>
              <a:t> However,  when surplus positions are reviewed district- wide and seniority is determined, a teacher in a particular subject area at that school , in fact, may be identified as having least district-wide seniority and may be RIF’d. The vacant position at the school will then be filled by an appropriately certified teacher , who has seniority, reassigned from another school.</a:t>
            </a:r>
          </a:p>
        </p:txBody>
      </p:sp>
      <p:pic>
        <p:nvPicPr>
          <p:cNvPr id="24580" name="Picture 9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5486400"/>
            <a:ext cx="91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3600" smtClean="0"/>
              <a:t> </a:t>
            </a:r>
            <a:r>
              <a:rPr lang="en-US" sz="2800" smtClean="0"/>
              <a:t>Rex HS does not need to place an English position on the “surplus” position list. Jane Doe is one of the English teachers at Rex HS. When the district-wide list is compiled and reviewed by subject and hire date, it is determined that Jane Doe is one of the teachers with least district-wide seniority and subsequently will be among those teachers being non-renewed. That will leave a vacant English position at Rex.  That vacant position will likely be filled by an English reassignee (who has district seniority) from another school.</a:t>
            </a:r>
          </a:p>
          <a:p>
            <a:pPr eaLnBrk="1" hangingPunct="1">
              <a:buFont typeface="Arial" charset="0"/>
              <a:buNone/>
            </a:pPr>
            <a:endParaRPr lang="en-US" sz="2800" smtClean="0"/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pic>
        <p:nvPicPr>
          <p:cNvPr id="25604" name="Picture 9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5486400"/>
            <a:ext cx="91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Timeline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2000" smtClean="0"/>
              <a:t>April 29	     	Meeting with Principals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3		Surplus Worksheet Due To HR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3-7		HR Identifies Staff Reduction for the County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10		Principals/Supervisors are notified of RIF’d employees in 		their school /division.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10-12	Principal/Supervisor meets with RIF’d employee(s) using 		prepared script.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12		Contracts/Letters delivered to schools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13		Contracts/Letters given to staff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24  		Contracts Due To Secretaries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May 26 		Contracts Due to Central Office (Peggy Douglas)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TBD		Reassignees Identified and Reassignment Meeting Held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June-July	Competitive Rehires</a:t>
            </a:r>
          </a:p>
          <a:p>
            <a:pPr eaLnBrk="1" hangingPunct="1">
              <a:buFont typeface="Arial" charset="0"/>
              <a:buNone/>
            </a:pPr>
            <a:r>
              <a:rPr lang="en-US" sz="2000" smtClean="0"/>
              <a:t>June-July 	 Competitive New Hires</a:t>
            </a:r>
          </a:p>
          <a:p>
            <a:pPr eaLnBrk="1" hangingPunct="1">
              <a:buFont typeface="Arial" charset="0"/>
              <a:buNone/>
            </a:pPr>
            <a:endParaRPr lang="en-US" sz="2000" smtClean="0"/>
          </a:p>
        </p:txBody>
      </p:sp>
      <p:pic>
        <p:nvPicPr>
          <p:cNvPr id="26628" name="Picture 3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4572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4" descr="j043485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4572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1158</Words>
  <Application>Microsoft Office PowerPoint</Application>
  <PresentationFormat>On-screen Show (4:3)</PresentationFormat>
  <Paragraphs>201</Paragraphs>
  <Slides>25</Slides>
  <Notes>25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Office Theme</vt:lpstr>
      <vt:lpstr>Acrobat Document</vt:lpstr>
      <vt:lpstr>Document</vt:lpstr>
      <vt:lpstr>Cobb County School District Reduction In Force Process</vt:lpstr>
      <vt:lpstr>What Led to the RIF?</vt:lpstr>
      <vt:lpstr>Slide 3</vt:lpstr>
      <vt:lpstr>Slide 4</vt:lpstr>
      <vt:lpstr>Slide 5</vt:lpstr>
      <vt:lpstr>Slide 6</vt:lpstr>
      <vt:lpstr>Principals Receive Allotment Sheets  </vt:lpstr>
      <vt:lpstr>Slide 8</vt:lpstr>
      <vt:lpstr>IMPORTANT</vt:lpstr>
      <vt:lpstr>Rationale</vt:lpstr>
      <vt:lpstr>Slide 11</vt:lpstr>
      <vt:lpstr>Slide 12</vt:lpstr>
      <vt:lpstr>Sample of Certified Position Worksheet ( Elementary)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IMPORTANT TO UNDERSTAND</vt:lpstr>
      <vt:lpstr>Example</vt:lpstr>
      <vt:lpstr>Timeline</vt:lpstr>
    </vt:vector>
  </TitlesOfParts>
  <Company>Cobb County School District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Cobb County School District Reduction In Force Process</dc:title>
  <dc:creator>Paula Smith</dc:creator>
  <cp:lastModifiedBy>Vince</cp:lastModifiedBy>
  <cp:revision>142</cp:revision>
  <dcterms:created xsi:type="dcterms:W3CDTF">2010-04-23T11:50:15Z</dcterms:created>
  <dcterms:modified xsi:type="dcterms:W3CDTF">2010-11-29T17:20:51Z</dcterms:modified>
</cp:coreProperties>
</file>