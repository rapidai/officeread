
<file path=[Content_Types].xml><?xml version="1.0" encoding="utf-8"?>
<Types xmlns="http://schemas.openxmlformats.org/package/2006/content-types">
  <Override PartName="/ppt/slideLayouts/slideLayout8.xml" ContentType="application/vnd.openxmlformats-officedocument.presentationml.slideLayout+xml"/>
  <Override PartName="/ppt/theme/theme2.xml" ContentType="application/vnd.openxmlformats-officedocument.theme+xml"/>
  <Override PartName="/ppt/slides/slide2.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theme/theme3.xml" ContentType="application/vnd.openxmlformats-officedocument.theme+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viewProps.xml" ContentType="application/vnd.openxmlformats-officedocument.presentationml.viewProps+xml"/>
  <Override PartName="/ppt/slideMasters/slideMaster1.xml" ContentType="application/vnd.openxmlformats-officedocument.presentationml.slideMaster+xml"/>
  <Override PartName="/ppt/handoutMasters/handoutMaster1.xml" ContentType="application/vnd.openxmlformats-officedocument.presentationml.handoutMaster+xml"/>
  <Override PartName="/ppt/slides/slide13.xml" ContentType="application/vnd.openxmlformats-officedocument.presentationml.slide+xml"/>
  <Override PartName="/ppt/slideLayouts/slideLayout18.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slideLayouts/slideLayout6.xml" ContentType="application/vnd.openxmlformats-officedocument.presentationml.slideLayout+xml"/>
  <Override PartName="/ppt/presentation.xml" ContentType="application/vnd.openxmlformats-officedocument.presentationml.presentation.main+xml"/>
  <Override PartName="/ppt/slides/slide5.xml" ContentType="application/vnd.openxmlformats-officedocument.presentationml.slide+xml"/>
  <Override PartName="/ppt/slideLayouts/slideLayout14.xml" ContentType="application/vnd.openxmlformats-officedocument.presentationml.slideLayout+xml"/>
  <Override PartName="/ppt/slides/slide10.xml" ContentType="application/vnd.openxmlformats-officedocument.presentationml.slide+xml"/>
  <Override PartName="/ppt/slideLayouts/slideLayout7.xml" ContentType="application/vnd.openxmlformats-officedocument.presentationml.slideLayout+xml"/>
  <Override PartName="/ppt/presProps.xml" ContentType="application/vnd.openxmlformats-officedocument.presentationml.presProps+xml"/>
  <Default Extension="jpeg" ContentType="image/jpeg"/>
  <Default Extension="png" ContentType="image/png"/>
  <Override PartName="/ppt/slides/slide3.xml" ContentType="application/vnd.openxmlformats-officedocument.presentationml.slide+xml"/>
  <Override PartName="/ppt/slides/slide4.xml" ContentType="application/vnd.openxmlformats-officedocument.presentationml.slide+xml"/>
  <Default Extension="tiff" ContentType="image/tiff"/>
  <Override PartName="/ppt/slideLayouts/slideLayout11.xml" ContentType="application/vnd.openxmlformats-officedocument.presentationml.slideLayout+xml"/>
  <Override PartName="/docProps/core.xml" ContentType="application/vnd.openxmlformats-package.core-properties+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s/slide8.xml" ContentType="application/vnd.openxmlformats-officedocument.presentationml.slide+xml"/>
  <Default Extension="bin" ContentType="application/vnd.openxmlformats-officedocument.presentationml.printerSettings"/>
  <Override PartName="/ppt/slideLayouts/slideLayout15.xml" ContentType="application/vnd.openxmlformats-officedocument.presentationml.slideLayout+xml"/>
  <Default Extension="rels" ContentType="application/vnd.openxmlformats-package.relationships+xml"/>
  <Override PartName="/ppt/slides/slide9.xml" ContentType="application/vnd.openxmlformats-officedocument.presentationml.slide+xml"/>
  <Override PartName="/ppt/slideLayouts/slideLayout19.xml" ContentType="application/vnd.openxmlformats-officedocument.presentationml.slideLayout+xml"/>
  <Override PartName="/ppt/slides/slide6.xml" ContentType="application/vnd.openxmlformats-officedocument.presentationml.slide+xml"/>
  <Default Extension="pdf" ContentType="application/pdf"/>
  <Default Extension="gif" ContentType="image/gif"/>
  <Override PartName="/ppt/slideLayouts/slideLayout12.xml" ContentType="application/vnd.openxmlformats-officedocument.presentationml.slideLayout+xml"/>
  <Override PartName="/ppt/slides/slide12.xml" ContentType="application/vnd.openxmlformats-officedocument.presentationml.slide+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SpecialPlsOnTitleSld="0" saveSubsetFonts="1" autoCompressPictures="0">
  <p:sldMasterIdLst>
    <p:sldMasterId id="2147483846" r:id="rId1"/>
  </p:sldMasterIdLst>
  <p:notesMasterIdLst>
    <p:notesMasterId r:id="rId15"/>
  </p:notesMasterIdLst>
  <p:handoutMasterIdLst>
    <p:handoutMasterId r:id="rId16"/>
  </p:handoutMasterIdLst>
  <p:sldIdLst>
    <p:sldId id="256" r:id="rId2"/>
    <p:sldId id="267" r:id="rId3"/>
    <p:sldId id="266" r:id="rId4"/>
    <p:sldId id="268" r:id="rId5"/>
    <p:sldId id="258" r:id="rId6"/>
    <p:sldId id="259" r:id="rId7"/>
    <p:sldId id="269" r:id="rId8"/>
    <p:sldId id="261" r:id="rId9"/>
    <p:sldId id="263" r:id="rId10"/>
    <p:sldId id="270" r:id="rId11"/>
    <p:sldId id="260" r:id="rId12"/>
    <p:sldId id="271" r:id="rId13"/>
    <p:sldId id="265"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clrMru>
    <a:srgbClr val="FF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p:restoredLeft sz="15620"/>
    <p:restoredTop sz="94660"/>
  </p:normalViewPr>
  <p:slideViewPr>
    <p:cSldViewPr snapToObjects="1">
      <p:cViewPr varScale="1">
        <p:scale>
          <a:sx n="94" d="100"/>
          <a:sy n="94" d="100"/>
        </p:scale>
        <p:origin x="-65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4" Type="http://schemas.openxmlformats.org/officeDocument/2006/relationships/slide" Target="slides/slide13.xml"/><Relationship Id="rId20" Type="http://schemas.openxmlformats.org/officeDocument/2006/relationships/theme" Target="theme/theme1.xml"/><Relationship Id="rId4" Type="http://schemas.openxmlformats.org/officeDocument/2006/relationships/slide" Target="slides/slide3.xml"/><Relationship Id="rId21" Type="http://schemas.openxmlformats.org/officeDocument/2006/relationships/tableStyles" Target="tableStyles.xml"/><Relationship Id="rId7" Type="http://schemas.openxmlformats.org/officeDocument/2006/relationships/slide" Target="slides/slide6.xml"/><Relationship Id="rId11"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 Target="slides/slide5.xml"/><Relationship Id="rId16" Type="http://schemas.openxmlformats.org/officeDocument/2006/relationships/handoutMaster" Target="handoutMasters/handoutMaster1.xml"/><Relationship Id="rId8" Type="http://schemas.openxmlformats.org/officeDocument/2006/relationships/slide" Target="slides/slide7.xml"/><Relationship Id="rId13" Type="http://schemas.openxmlformats.org/officeDocument/2006/relationships/slide" Target="slides/slide12.xml"/><Relationship Id="rId10" Type="http://schemas.openxmlformats.org/officeDocument/2006/relationships/slide" Target="slides/slide9.xml"/><Relationship Id="rId5" Type="http://schemas.openxmlformats.org/officeDocument/2006/relationships/slide" Target="slides/slide4.xml"/><Relationship Id="rId1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printerSettings" Target="printerSettings/printerSettings1.bin"/><Relationship Id="rId19" Type="http://schemas.openxmlformats.org/officeDocument/2006/relationships/viewProps" Target="viewProps.xml"/><Relationship Id="rId2" Type="http://schemas.openxmlformats.org/officeDocument/2006/relationships/slide" Target="slides/slide1.xml"/><Relationship Id="rId9" Type="http://schemas.openxmlformats.org/officeDocument/2006/relationships/slide" Target="slides/slide8.xml"/><Relationship Id="rId3" Type="http://schemas.openxmlformats.org/officeDocument/2006/relationships/slide" Target="slides/slide2.xml"/><Relationship Id="rId1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5370EA7-F8E2-1D4C-BCF7-C66F3DF1B06D}" type="datetimeFigureOut">
              <a:rPr lang="en-US" smtClean="0"/>
              <a:pPr/>
              <a:t>10/25/08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8CA772-12F7-C64F-AB80-DADD07B8BAA9}"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DADD828-D46C-0B4A-B6DB-2EBECD763DB7}" type="datetimeFigureOut">
              <a:rPr lang="en-US" smtClean="0"/>
              <a:pPr/>
              <a:t>10/25/08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EEBDF2-FAF9-0A48-8C3D-770B6FF88DA8}"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124200"/>
            <a:ext cx="6477000" cy="1914144"/>
          </a:xfrm>
        </p:spPr>
        <p:txBody>
          <a:bodyPr vert="horz" lIns="45720" tIns="0" rIns="45720" bIns="0" rtlCol="0" anchor="b" anchorCtr="0">
            <a:noAutofit/>
          </a:bodyPr>
          <a:lstStyle>
            <a:lvl1pPr algn="l" defTabSz="914400" rtl="0" eaLnBrk="1" latinLnBrk="0" hangingPunct="1">
              <a:lnSpc>
                <a:spcPts val="5000"/>
              </a:lnSpc>
              <a:spcBef>
                <a:spcPct val="0"/>
              </a:spcBef>
              <a:buNone/>
              <a:defRPr sz="4600" kern="1200">
                <a:solidFill>
                  <a:schemeClr val="tx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2209800" y="5056632"/>
            <a:ext cx="6477000" cy="1174088"/>
          </a:xfrm>
        </p:spPr>
        <p:txBody>
          <a:bodyPr vert="horz" lIns="91440" tIns="0" rIns="45720" bIns="0" rtlCol="0">
            <a:normAutofit/>
          </a:bodyPr>
          <a:lstStyle>
            <a:lvl1pPr marL="0" indent="0" algn="l" defTabSz="914400" rtl="0" eaLnBrk="1" latinLnBrk="0" hangingPunct="1">
              <a:lnSpc>
                <a:spcPts val="2600"/>
              </a:lnSpc>
              <a:spcBef>
                <a:spcPts val="0"/>
              </a:spcBef>
              <a:buSzPct val="90000"/>
              <a:buFontTx/>
              <a:buNone/>
              <a:defRPr sz="2200" kern="1200">
                <a:solidFill>
                  <a:schemeClr val="tx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57200" y="6300216"/>
            <a:ext cx="19842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r>
              <a:rPr lang="en-US" smtClean="0"/>
              <a:t>10/25/08</a:t>
            </a:r>
            <a:endParaRPr lang="en-US"/>
          </a:p>
        </p:txBody>
      </p:sp>
      <p:sp>
        <p:nvSpPr>
          <p:cNvPr id="5" name="Footer Placeholder 4"/>
          <p:cNvSpPr>
            <a:spLocks noGrp="1"/>
          </p:cNvSpPr>
          <p:nvPr>
            <p:ph type="ftr" sz="quarter" idx="11"/>
          </p:nvPr>
        </p:nvSpPr>
        <p:spPr>
          <a:xfrm>
            <a:off x="3959352" y="6300216"/>
            <a:ext cx="3813048" cy="274320"/>
          </a:xfrm>
        </p:spPr>
        <p:txBody>
          <a:bodyPr vert="horz" lIns="91440" tIns="45720" rIns="91440" bIns="45720" rtlCol="0" anchor="ctr"/>
          <a:lstStyle>
            <a:lvl1pPr marL="0" algn="l" defTabSz="914400" rtl="0" eaLnBrk="1" latinLnBrk="0" hangingPunct="1">
              <a:defRPr sz="1100" kern="1200">
                <a:solidFill>
                  <a:schemeClr val="tx1"/>
                </a:solidFill>
                <a:latin typeface="Rockwell" pitchFamily="18" charset="0"/>
                <a:ea typeface="+mn-ea"/>
                <a:cs typeface="+mn-cs"/>
              </a:defRPr>
            </a:lvl1pPr>
          </a:lstStyle>
          <a:p>
            <a:r>
              <a:rPr lang="en-US" dirty="0" smtClean="0"/>
              <a:t>M. Wysocki - DNP2008</a:t>
            </a:r>
            <a:endParaRPr lang="en-US" dirty="0"/>
          </a:p>
        </p:txBody>
      </p:sp>
      <p:sp>
        <p:nvSpPr>
          <p:cNvPr id="6" name="Slide Number Placeholder 5"/>
          <p:cNvSpPr>
            <a:spLocks noGrp="1"/>
          </p:cNvSpPr>
          <p:nvPr>
            <p:ph type="sldNum" sz="quarter" idx="12"/>
          </p:nvPr>
        </p:nvSpPr>
        <p:spPr>
          <a:xfrm>
            <a:off x="8275320" y="6300216"/>
            <a:ext cx="685800" cy="274320"/>
          </a:xfrm>
        </p:spPr>
        <p:txBody>
          <a:bodyPr vert="horz" lIns="91440" tIns="45720" rIns="91440" bIns="45720" rtlCol="0" anchor="ctr"/>
          <a:lstStyle>
            <a:lvl1pPr marL="0" algn="r" defTabSz="914400" rtl="0" eaLnBrk="1" latinLnBrk="0" hangingPunct="1">
              <a:defRPr sz="1100" kern="1200">
                <a:solidFill>
                  <a:schemeClr val="tx1"/>
                </a:solidFill>
                <a:latin typeface="Rockwell" pitchFamily="18" charset="0"/>
                <a:ea typeface="+mn-ea"/>
                <a:cs typeface="+mn-cs"/>
              </a:defRPr>
            </a:lvl1pPr>
          </a:lstStyle>
          <a:p>
            <a:fld id="{4F59604A-DDD4-4BE5-9F0F-C50D317D165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lvl1pPr algn="ctr">
              <a:defRPr/>
            </a:lvl1pPr>
          </a:lstStyle>
          <a:p>
            <a:r>
              <a:rPr lang="en-US" dirty="0"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Watermark">
    <p:bg>
      <p:bgRef idx="1003">
        <a:schemeClr val="bg2"/>
      </p:bgRef>
    </p:bg>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1122215" y="3200400"/>
            <a:ext cx="8021782" cy="2209800"/>
          </a:xfrm>
        </p:spPr>
        <p:txBody>
          <a:bodyPr wrap="none" lIns="0" tIns="0" rIns="0" bIns="0" anchor="ctr" anchorCtr="0">
            <a:noAutofit/>
          </a:bodyPr>
          <a:lstStyle>
            <a:lvl1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r">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en-US" smtClean="0"/>
              <a:t>Click to edit Master text styles</a:t>
            </a:r>
          </a:p>
        </p:txBody>
      </p:sp>
      <p:sp>
        <p:nvSpPr>
          <p:cNvPr id="2" name="Title 1"/>
          <p:cNvSpPr>
            <a:spLocks noGrp="1"/>
          </p:cNvSpPr>
          <p:nvPr>
            <p:ph type="ctrTitle"/>
          </p:nvPr>
        </p:nvSpPr>
        <p:spPr>
          <a:xfrm>
            <a:off x="3960813" y="3833095"/>
            <a:ext cx="4724400" cy="1209964"/>
          </a:xfrm>
        </p:spPr>
        <p:txBody>
          <a:bodyPr lIns="45720" tIns="0" rIns="45720" bIns="0" anchor="b" anchorCtr="0">
            <a:noAutofit/>
          </a:bodyPr>
          <a:lstStyle>
            <a:lvl1pPr algn="l">
              <a:lnSpc>
                <a:spcPts val="5000"/>
              </a:lnSpc>
              <a:defRPr sz="4600"/>
            </a:lvl1pPr>
          </a:lstStyle>
          <a:p>
            <a:r>
              <a:rPr lang="en-US" smtClean="0"/>
              <a:t>Click to edit Master title style</a:t>
            </a:r>
            <a:endParaRPr/>
          </a:p>
        </p:txBody>
      </p:sp>
      <p:sp>
        <p:nvSpPr>
          <p:cNvPr id="3" name="Subtitle 2"/>
          <p:cNvSpPr>
            <a:spLocks noGrp="1"/>
          </p:cNvSpPr>
          <p:nvPr>
            <p:ph type="subTitle" idx="1"/>
          </p:nvPr>
        </p:nvSpPr>
        <p:spPr>
          <a:xfrm>
            <a:off x="3960813" y="5056909"/>
            <a:ext cx="4724400" cy="1156586"/>
          </a:xfrm>
        </p:spPr>
        <p:txBody>
          <a:bodyPr lIns="91440" tIns="0" rIns="45720" bIns="0">
            <a:normAutofit/>
          </a:bodyPr>
          <a:lstStyle>
            <a:lvl1pPr marL="0" indent="0" algn="l">
              <a:lnSpc>
                <a:spcPts val="2600"/>
              </a:lnSpc>
              <a:spcBef>
                <a:spcPct val="0"/>
              </a:spcBef>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57200" y="6298744"/>
            <a:ext cx="1981200" cy="273050"/>
          </a:xfrm>
        </p:spPr>
        <p:txBody>
          <a:bodyPr/>
          <a:lstStyle>
            <a:lvl1pPr algn="l">
              <a:defRPr sz="1100">
                <a:latin typeface="Rockwell" pitchFamily="18" charset="0"/>
              </a:defRPr>
            </a:lvl1pPr>
          </a:lstStyle>
          <a:p>
            <a:r>
              <a:rPr lang="en-US" smtClean="0"/>
              <a:t>10/25/08</a:t>
            </a:r>
            <a:endParaRPr lang="en-US"/>
          </a:p>
        </p:txBody>
      </p:sp>
      <p:sp>
        <p:nvSpPr>
          <p:cNvPr id="5" name="Footer Placeholder 4"/>
          <p:cNvSpPr>
            <a:spLocks noGrp="1"/>
          </p:cNvSpPr>
          <p:nvPr>
            <p:ph type="ftr" sz="quarter" idx="11"/>
          </p:nvPr>
        </p:nvSpPr>
        <p:spPr>
          <a:xfrm>
            <a:off x="3962400" y="6298744"/>
            <a:ext cx="3810000" cy="273050"/>
          </a:xfrm>
        </p:spPr>
        <p:txBody>
          <a:bodyPr/>
          <a:lstStyle>
            <a:lvl1pPr algn="l">
              <a:defRPr/>
            </a:lvl1pPr>
          </a:lstStyle>
          <a:p>
            <a:r>
              <a:rPr lang="en-US" dirty="0" smtClean="0"/>
              <a:t>M. Wysocki - DNP2008</a:t>
            </a:r>
            <a:endParaRPr lang="en-US" dirty="0"/>
          </a:p>
        </p:txBody>
      </p:sp>
      <p:sp>
        <p:nvSpPr>
          <p:cNvPr id="6" name="Slide Number Placeholder 5"/>
          <p:cNvSpPr>
            <a:spLocks noGrp="1"/>
          </p:cNvSpPr>
          <p:nvPr>
            <p:ph type="sldNum" sz="quarter" idx="12"/>
          </p:nvPr>
        </p:nvSpPr>
        <p:spPr>
          <a:xfrm>
            <a:off x="8264856" y="6312392"/>
            <a:ext cx="685800" cy="265089"/>
          </a:xfrm>
        </p:spPr>
        <p:txBody>
          <a:bodyPr/>
          <a:lstStyle>
            <a:lvl1pPr>
              <a:defRPr sz="1100">
                <a:solidFill>
                  <a:schemeClr val="tx1"/>
                </a:solidFill>
                <a:latin typeface="Rockwell" pitchFamily="18" charset="0"/>
              </a:defRPr>
            </a:lvl1pPr>
          </a:lstStyle>
          <a:p>
            <a:fld id="{22AA90A4-83E2-D54A-9E94-1DBBF1C3D7B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0"/>
            <a:ext cx="7772400" cy="1362075"/>
          </a:xfrm>
        </p:spPr>
        <p:txBody>
          <a:bodyPr vert="horz" lIns="45720" tIns="0" rIns="45720" bIns="0" rtlCol="0" anchor="b" anchorCtr="0">
            <a:noAutofit/>
          </a:bodyPr>
          <a:lstStyle>
            <a:lvl1pPr algn="l" defTabSz="914400" rtl="0" eaLnBrk="1" latinLnBrk="0" hangingPunct="1">
              <a:lnSpc>
                <a:spcPts val="5000"/>
              </a:lnSpc>
              <a:spcBef>
                <a:spcPct val="0"/>
              </a:spcBef>
              <a:buNone/>
              <a:defRPr sz="4600" b="1" kern="1200" cap="none" baseline="0">
                <a:solidFill>
                  <a:schemeClr val="tx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457200" y="3557016"/>
            <a:ext cx="7772400" cy="987552"/>
          </a:xfrm>
        </p:spPr>
        <p:txBody>
          <a:bodyPr vert="horz" lIns="91440" tIns="0" rIns="45720" bIns="0" rtlCol="0" anchor="t" anchorCtr="0">
            <a:normAutofit/>
          </a:bodyPr>
          <a:lstStyle>
            <a:lvl1pPr marL="0" indent="0">
              <a:spcBef>
                <a:spcPct val="0"/>
              </a:spcBef>
              <a:buNone/>
              <a:defRPr sz="2200" kern="1200">
                <a:solidFill>
                  <a:schemeClr val="tx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SzPct val="90000"/>
              <a:buFontTx/>
              <a:buNone/>
            </a:pPr>
            <a:r>
              <a:rPr lang="en-US" smtClean="0"/>
              <a:t>Click to edit Master text styles</a:t>
            </a:r>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pPr algn="ctr"/>
            <a:r>
              <a:rPr lang="en-US" dirty="0"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Section with Watermark">
    <p:bg>
      <p:bgRef idx="1002">
        <a:schemeClr val="bg2"/>
      </p:bgRef>
    </p:bg>
    <p:spTree>
      <p:nvGrpSpPr>
        <p:cNvPr id="1" name=""/>
        <p:cNvGrpSpPr/>
        <p:nvPr/>
      </p:nvGrpSpPr>
      <p:grpSpPr>
        <a:xfrm>
          <a:off x="0" y="0"/>
          <a:ext cx="0" cy="0"/>
          <a:chOff x="0" y="0"/>
          <a:chExt cx="0" cy="0"/>
        </a:xfrm>
      </p:grpSpPr>
      <p:sp>
        <p:nvSpPr>
          <p:cNvPr id="7" name="Text Placeholder 7"/>
          <p:cNvSpPr>
            <a:spLocks noGrp="1"/>
          </p:cNvSpPr>
          <p:nvPr>
            <p:ph type="body" sz="quarter" idx="13"/>
          </p:nvPr>
        </p:nvSpPr>
        <p:spPr>
          <a:xfrm>
            <a:off x="712693" y="1689847"/>
            <a:ext cx="8431303" cy="2209800"/>
          </a:xfrm>
        </p:spPr>
        <p:txBody>
          <a:bodyPr wrap="none" lIns="0" tIns="0" rIns="0" bIns="0" anchor="ctr" anchorCtr="0">
            <a:noAutofit/>
          </a:bodyPr>
          <a:lstStyle>
            <a:lvl1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1pPr>
            <a:lvl2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2pPr>
            <a:lvl3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3pPr>
            <a:lvl4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4pPr>
            <a:lvl5pPr marL="0" indent="0" algn="l">
              <a:spcBef>
                <a:spcPts val="0"/>
              </a:spcBef>
              <a:buNone/>
              <a:defRPr sz="12200">
                <a:gradFill>
                  <a:gsLst>
                    <a:gs pos="0">
                      <a:schemeClr val="tx1">
                        <a:alpha val="10000"/>
                      </a:schemeClr>
                    </a:gs>
                    <a:gs pos="100000">
                      <a:schemeClr val="tx1">
                        <a:alpha val="10000"/>
                      </a:schemeClr>
                    </a:gs>
                  </a:gsLst>
                  <a:lin ang="5400000" scaled="0"/>
                </a:gradFill>
                <a:latin typeface="Impact" pitchFamily="34" charset="0"/>
              </a:defRPr>
            </a:lvl5pPr>
          </a:lstStyle>
          <a:p>
            <a:pPr lvl="0"/>
            <a:r>
              <a:rPr lang="en-US" smtClean="0"/>
              <a:t>Click to edit Master text styles</a:t>
            </a:r>
          </a:p>
        </p:txBody>
      </p:sp>
      <p:sp>
        <p:nvSpPr>
          <p:cNvPr id="2" name="Title 1"/>
          <p:cNvSpPr>
            <a:spLocks noGrp="1"/>
          </p:cNvSpPr>
          <p:nvPr>
            <p:ph type="title"/>
          </p:nvPr>
        </p:nvSpPr>
        <p:spPr>
          <a:xfrm>
            <a:off x="457201" y="2196353"/>
            <a:ext cx="5334000" cy="1362075"/>
          </a:xfrm>
        </p:spPr>
        <p:txBody>
          <a:bodyPr lIns="45720" tIns="0" rIns="45720" bIns="0" anchor="b" anchorCtr="0"/>
          <a:lstStyle>
            <a:lvl1pPr algn="l">
              <a:lnSpc>
                <a:spcPts val="5000"/>
              </a:lnSpc>
              <a:defRPr sz="4600" b="1" cap="none" baseline="0"/>
            </a:lvl1pPr>
          </a:lstStyle>
          <a:p>
            <a:r>
              <a:rPr lang="en-US" smtClean="0"/>
              <a:t>Click to edit Master title style</a:t>
            </a:r>
            <a:endParaRPr/>
          </a:p>
        </p:txBody>
      </p:sp>
      <p:sp>
        <p:nvSpPr>
          <p:cNvPr id="3" name="Text Placeholder 2"/>
          <p:cNvSpPr>
            <a:spLocks noGrp="1"/>
          </p:cNvSpPr>
          <p:nvPr>
            <p:ph type="body" idx="1"/>
          </p:nvPr>
        </p:nvSpPr>
        <p:spPr>
          <a:xfrm>
            <a:off x="457200" y="3560618"/>
            <a:ext cx="5334000" cy="983087"/>
          </a:xfrm>
        </p:spPr>
        <p:txBody>
          <a:bodyPr tIns="0" rIns="45720" bIns="0" anchor="t" anchorCtr="0"/>
          <a:lstStyle>
            <a:lvl1pPr marL="0" indent="0">
              <a:spcBef>
                <a:spcPct val="0"/>
              </a:spcBef>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r>
              <a:rPr lang="en-US" dirty="0"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Section with Pictur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52775" y="4069804"/>
            <a:ext cx="5538788" cy="1162050"/>
          </a:xfrm>
        </p:spPr>
        <p:txBody>
          <a:bodyPr tIns="0" bIns="0" anchor="b"/>
          <a:lstStyle>
            <a:lvl1pPr algn="l">
              <a:lnSpc>
                <a:spcPts val="4600"/>
              </a:lnSpc>
              <a:defRPr sz="4600" b="1"/>
            </a:lvl1pPr>
          </a:lstStyle>
          <a:p>
            <a:r>
              <a:rPr lang="en-US" smtClean="0"/>
              <a:t>Click to edit Master title style</a:t>
            </a:r>
            <a:endParaRPr/>
          </a:p>
        </p:txBody>
      </p:sp>
      <p:grpSp>
        <p:nvGrpSpPr>
          <p:cNvPr id="3" name="Group 8"/>
          <p:cNvGrpSpPr/>
          <p:nvPr/>
        </p:nvGrpSpPr>
        <p:grpSpPr>
          <a:xfrm rot="21240000">
            <a:off x="654352" y="445180"/>
            <a:ext cx="5416247" cy="3630168"/>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5"/>
          </p:nvPr>
        </p:nvSpPr>
        <p:spPr>
          <a:xfrm rot="21240000">
            <a:off x="857677" y="632632"/>
            <a:ext cx="5009597" cy="3255264"/>
          </a:xfrm>
          <a:solidFill>
            <a:schemeClr val="bg1">
              <a:lumMod val="85000"/>
            </a:schemeClr>
          </a:solidFill>
        </p:spPr>
        <p:txBody>
          <a:bodyPr/>
          <a:lstStyle>
            <a:lvl1pPr>
              <a:buNone/>
              <a:defRPr/>
            </a:lvl1pPr>
          </a:lstStyle>
          <a:p>
            <a:r>
              <a:rPr lang="en-US" smtClean="0"/>
              <a:t>Click icon to add picture</a:t>
            </a:r>
            <a:endParaRPr/>
          </a:p>
        </p:txBody>
      </p:sp>
      <p:sp>
        <p:nvSpPr>
          <p:cNvPr id="4" name="Text Placeholder 3"/>
          <p:cNvSpPr>
            <a:spLocks noGrp="1"/>
          </p:cNvSpPr>
          <p:nvPr>
            <p:ph type="body" sz="half" idx="2"/>
          </p:nvPr>
        </p:nvSpPr>
        <p:spPr>
          <a:xfrm>
            <a:off x="3158117" y="5230906"/>
            <a:ext cx="5532958" cy="865093"/>
          </a:xfrm>
        </p:spPr>
        <p:txBody>
          <a:bodyPr/>
          <a:lstStyle>
            <a:lvl1pPr marL="0" indent="0">
              <a:spcBef>
                <a:spcPct val="0"/>
              </a:spcBef>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648200" y="1735139"/>
            <a:ext cx="3566160" cy="405606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971326" y="1419366"/>
            <a:ext cx="3200400" cy="584035"/>
          </a:xfrm>
        </p:spPr>
        <p:txBody>
          <a:bodyPr anchor="b"/>
          <a:lstStyle>
            <a:lvl1pPr marL="0" indent="0" algn="ctr">
              <a:spcBef>
                <a:spcPct val="0"/>
              </a:spcBef>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97367" y="2174875"/>
            <a:ext cx="3566160" cy="3616325"/>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930247" y="1419366"/>
            <a:ext cx="3200400" cy="584035"/>
          </a:xfrm>
        </p:spPr>
        <p:txBody>
          <a:bodyPr anchor="b"/>
          <a:lstStyle>
            <a:lvl1pPr marL="0" indent="0" algn="ctr">
              <a:spcBef>
                <a:spcPct val="0"/>
              </a:spcBef>
              <a:buNone/>
              <a:defRPr sz="2200" b="0">
                <a:solidFill>
                  <a:schemeClr val="tx2">
                    <a:lumMod val="60000"/>
                    <a:lumOff val="40000"/>
                  </a:schemeClr>
                </a:solidFill>
                <a:latin typeface="Impac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6514" y="2174875"/>
            <a:ext cx="3566160" cy="3616325"/>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r>
              <a:rPr lang="en-US" smtClean="0"/>
              <a:t>10/25/08</a:t>
            </a:r>
            <a:endParaRPr lang="en-US"/>
          </a:p>
        </p:txBody>
      </p:sp>
      <p:sp>
        <p:nvSpPr>
          <p:cNvPr id="8" name="Footer Placeholder 7"/>
          <p:cNvSpPr>
            <a:spLocks noGrp="1"/>
          </p:cNvSpPr>
          <p:nvPr>
            <p:ph type="ftr" sz="quarter" idx="11"/>
          </p:nvPr>
        </p:nvSpPr>
        <p:spPr/>
        <p:txBody>
          <a:bodyPr/>
          <a:lstStyle/>
          <a:p>
            <a:r>
              <a:rPr lang="en-US" dirty="0" smtClean="0"/>
              <a:t>M. Wysocki - DNP2008</a:t>
            </a:r>
            <a:endParaRPr lang="en-US" dirty="0"/>
          </a:p>
        </p:txBody>
      </p:sp>
      <p:sp>
        <p:nvSpPr>
          <p:cNvPr id="9" name="Slide Number Placeholder 8"/>
          <p:cNvSpPr>
            <a:spLocks noGrp="1"/>
          </p:cNvSpPr>
          <p:nvPr>
            <p:ph type="sldNum" sz="quarter" idx="12"/>
          </p:nvPr>
        </p:nvSpPr>
        <p:spPr/>
        <p:txBody>
          <a:bodyPr/>
          <a:lstStyle/>
          <a:p>
            <a:fld id="{22AA90A4-83E2-D54A-9E94-1DBBF1C3D7BD}" type="slidenum">
              <a:rPr lang="en-US" smtClean="0"/>
              <a:pPr/>
              <a:t>‹#›</a:t>
            </a:fld>
            <a:endParaRPr lang="en-US"/>
          </a:p>
        </p:txBody>
      </p:sp>
      <p:pic>
        <p:nvPicPr>
          <p:cNvPr id="11" name="Picture 10"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3" name="Picture 12" descr="Comparison-Underline.png"/>
          <p:cNvPicPr>
            <a:picLocks noChangeAspect="1"/>
          </p:cNvPicPr>
          <p:nvPr/>
        </p:nvPicPr>
        <p:blipFill>
          <a:blip r:embed="rId2"/>
          <a:stretch>
            <a:fillRect/>
          </a:stretch>
        </p:blipFill>
        <p:spPr>
          <a:xfrm>
            <a:off x="4915960" y="1897040"/>
            <a:ext cx="3228975" cy="142875"/>
          </a:xfrm>
          <a:prstGeom prst="rect">
            <a:avLst/>
          </a:prstGeom>
        </p:spPr>
      </p:pic>
      <p:pic>
        <p:nvPicPr>
          <p:cNvPr id="12" name="Picture 11" descr="Comparison-Underline.png"/>
          <p:cNvPicPr>
            <a:picLocks noChangeAspect="1"/>
          </p:cNvPicPr>
          <p:nvPr/>
        </p:nvPicPr>
        <p:blipFill>
          <a:blip r:embed="rId2"/>
          <a:stretch>
            <a:fillRect/>
          </a:stretch>
        </p:blipFill>
        <p:spPr>
          <a:xfrm>
            <a:off x="957039" y="1897040"/>
            <a:ext cx="3228975" cy="142875"/>
          </a:xfrm>
          <a:prstGeom prst="rect">
            <a:avLst/>
          </a:prstGeom>
        </p:spPr>
      </p:pic>
      <p:pic>
        <p:nvPicPr>
          <p:cNvPr id="14" name="Picture 13" descr="Comparison-Underline.png"/>
          <p:cNvPicPr>
            <a:picLocks noChangeAspect="1"/>
          </p:cNvPicPr>
          <p:nvPr/>
        </p:nvPicPr>
        <p:blipFill>
          <a:blip r:embed="rId2"/>
          <a:stretch>
            <a:fillRect/>
          </a:stretch>
        </p:blipFill>
        <p:spPr>
          <a:xfrm>
            <a:off x="4915960" y="1897040"/>
            <a:ext cx="3228975" cy="14287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914400" y="1735138"/>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
        <p:nvSpPr>
          <p:cNvPr id="8" name="Content Placeholder 2"/>
          <p:cNvSpPr>
            <a:spLocks noGrp="1"/>
          </p:cNvSpPr>
          <p:nvPr>
            <p:ph sz="half" idx="13"/>
          </p:nvPr>
        </p:nvSpPr>
        <p:spPr>
          <a:xfrm>
            <a:off x="914400" y="3870960"/>
            <a:ext cx="731520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0" name="Content Placeholder 2"/>
          <p:cNvSpPr>
            <a:spLocks noGrp="1"/>
          </p:cNvSpPr>
          <p:nvPr>
            <p:ph sz="half" idx="1"/>
          </p:nvPr>
        </p:nvSpPr>
        <p:spPr>
          <a:xfrm>
            <a:off x="914400" y="1735139"/>
            <a:ext cx="3566160" cy="405606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914400" y="1735138"/>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
        <p:nvSpPr>
          <p:cNvPr id="8" name="Content Placeholder 2"/>
          <p:cNvSpPr>
            <a:spLocks noGrp="1"/>
          </p:cNvSpPr>
          <p:nvPr>
            <p:ph sz="half" idx="13"/>
          </p:nvPr>
        </p:nvSpPr>
        <p:spPr>
          <a:xfrm>
            <a:off x="914400" y="3870960"/>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1" name="Content Placeholder 2"/>
          <p:cNvSpPr>
            <a:spLocks noGrp="1"/>
          </p:cNvSpPr>
          <p:nvPr>
            <p:ph sz="half" idx="14"/>
          </p:nvPr>
        </p:nvSpPr>
        <p:spPr>
          <a:xfrm>
            <a:off x="4645152" y="1735138"/>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Content Placeholder 2"/>
          <p:cNvSpPr>
            <a:spLocks noGrp="1"/>
          </p:cNvSpPr>
          <p:nvPr>
            <p:ph sz="half" idx="15"/>
          </p:nvPr>
        </p:nvSpPr>
        <p:spPr>
          <a:xfrm>
            <a:off x="4645152" y="3870960"/>
            <a:ext cx="3566160" cy="1920240"/>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r>
              <a:rPr lang="en-US" smtClean="0"/>
              <a:t>10/25/08</a:t>
            </a:r>
            <a:endParaRPr lang="en-US"/>
          </a:p>
        </p:txBody>
      </p:sp>
      <p:sp>
        <p:nvSpPr>
          <p:cNvPr id="4" name="Footer Placeholder 3"/>
          <p:cNvSpPr>
            <a:spLocks noGrp="1"/>
          </p:cNvSpPr>
          <p:nvPr>
            <p:ph type="ftr" sz="quarter" idx="11"/>
          </p:nvPr>
        </p:nvSpPr>
        <p:spPr/>
        <p:txBody>
          <a:bodyPr/>
          <a:lstStyle/>
          <a:p>
            <a:r>
              <a:rPr lang="en-US" dirty="0" smtClean="0"/>
              <a:t>M. Wysocki - DNP2008</a:t>
            </a:r>
            <a:endParaRPr lang="en-US" dirty="0"/>
          </a:p>
        </p:txBody>
      </p:sp>
      <p:sp>
        <p:nvSpPr>
          <p:cNvPr id="5" name="Slide Number Placeholder 4"/>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10/25/08</a:t>
            </a:r>
            <a:endParaRPr lang="en-US"/>
          </a:p>
        </p:txBody>
      </p:sp>
      <p:sp>
        <p:nvSpPr>
          <p:cNvPr id="3" name="Footer Placeholder 2"/>
          <p:cNvSpPr>
            <a:spLocks noGrp="1"/>
          </p:cNvSpPr>
          <p:nvPr>
            <p:ph type="ftr" sz="quarter" idx="11"/>
          </p:nvPr>
        </p:nvSpPr>
        <p:spPr/>
        <p:txBody>
          <a:bodyPr/>
          <a:lstStyle/>
          <a:p>
            <a:r>
              <a:rPr lang="en-US" dirty="0" smtClean="0"/>
              <a:t>M. Wysocki - DNP2008</a:t>
            </a:r>
            <a:endParaRPr lang="en-US" dirty="0"/>
          </a:p>
        </p:txBody>
      </p:sp>
      <p:sp>
        <p:nvSpPr>
          <p:cNvPr id="4" name="Slide Number Placeholder 3"/>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690048"/>
            <a:ext cx="3563938" cy="1162050"/>
          </a:xfrm>
        </p:spPr>
        <p:txBody>
          <a:bodyPr tIns="0" bIns="0" anchor="b"/>
          <a:lstStyle>
            <a:lvl1pPr algn="l">
              <a:lnSpc>
                <a:spcPts val="4600"/>
              </a:lnSpc>
              <a:defRPr sz="4200" b="1"/>
            </a:lvl1pPr>
          </a:lstStyle>
          <a:p>
            <a:r>
              <a:rPr lang="en-US" smtClean="0"/>
              <a:t>Click to edit Master title style</a:t>
            </a:r>
            <a:endParaRPr/>
          </a:p>
        </p:txBody>
      </p:sp>
      <p:sp>
        <p:nvSpPr>
          <p:cNvPr id="3" name="Content Placeholder 2"/>
          <p:cNvSpPr>
            <a:spLocks noGrp="1"/>
          </p:cNvSpPr>
          <p:nvPr>
            <p:ph idx="1"/>
          </p:nvPr>
        </p:nvSpPr>
        <p:spPr>
          <a:xfrm>
            <a:off x="4667250" y="368490"/>
            <a:ext cx="3566160" cy="5627498"/>
          </a:xfrm>
        </p:spPr>
        <p:txBody>
          <a:bodyPr/>
          <a:lstStyle>
            <a:lvl1pPr>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914398" y="2866030"/>
            <a:ext cx="3563938" cy="2163171"/>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17546" y="1524000"/>
            <a:ext cx="3566160" cy="1162050"/>
          </a:xfrm>
        </p:spPr>
        <p:txBody>
          <a:bodyPr tIns="0" bIns="0" anchor="b"/>
          <a:lstStyle>
            <a:lvl1pPr algn="l">
              <a:lnSpc>
                <a:spcPts val="4600"/>
              </a:lnSpc>
              <a:defRPr sz="4200" b="1"/>
            </a:lvl1pPr>
          </a:lstStyle>
          <a:p>
            <a:r>
              <a:rPr lang="en-US" smtClean="0"/>
              <a:t>Click to edit Master title style</a:t>
            </a:r>
            <a:endParaRPr/>
          </a:p>
        </p:txBody>
      </p:sp>
      <p:sp>
        <p:nvSpPr>
          <p:cNvPr id="4" name="Text Placeholder 3"/>
          <p:cNvSpPr>
            <a:spLocks noGrp="1"/>
          </p:cNvSpPr>
          <p:nvPr>
            <p:ph type="body" sz="half" idx="2"/>
          </p:nvPr>
        </p:nvSpPr>
        <p:spPr>
          <a:xfrm>
            <a:off x="5017544" y="2699982"/>
            <a:ext cx="3566160" cy="2163171"/>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grpSp>
        <p:nvGrpSpPr>
          <p:cNvPr id="3" name="Group 7"/>
          <p:cNvGrpSpPr/>
          <p:nvPr/>
        </p:nvGrpSpPr>
        <p:grpSpPr>
          <a:xfrm rot="21421631">
            <a:off x="629028" y="505650"/>
            <a:ext cx="3850925" cy="5516274"/>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Picture Placeholder 9"/>
          <p:cNvSpPr>
            <a:spLocks noGrp="1"/>
          </p:cNvSpPr>
          <p:nvPr>
            <p:ph type="pic" sz="quarter" idx="14"/>
          </p:nvPr>
        </p:nvSpPr>
        <p:spPr>
          <a:xfrm rot="21421631">
            <a:off x="808793" y="667560"/>
            <a:ext cx="3468664" cy="5124723"/>
          </a:xfrm>
          <a:solidFill>
            <a:schemeClr val="bg1">
              <a:lumMod val="85000"/>
            </a:schemeClr>
          </a:solidFill>
        </p:spPr>
        <p:txBody>
          <a:bodyPr/>
          <a:lstStyle>
            <a:lvl1pPr>
              <a:buNone/>
              <a:defRPr/>
            </a:lvl1pPr>
          </a:lstStyle>
          <a:p>
            <a:r>
              <a:rPr lang="en-US" smtClean="0"/>
              <a:t>Click icon to add picture</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2 Pictures with Caption">
    <p:spTree>
      <p:nvGrpSpPr>
        <p:cNvPr id="1" name=""/>
        <p:cNvGrpSpPr/>
        <p:nvPr/>
      </p:nvGrpSpPr>
      <p:grpSpPr>
        <a:xfrm>
          <a:off x="0" y="0"/>
          <a:ext cx="0" cy="0"/>
          <a:chOff x="0" y="0"/>
          <a:chExt cx="0" cy="0"/>
        </a:xfrm>
      </p:grpSpPr>
      <p:grpSp>
        <p:nvGrpSpPr>
          <p:cNvPr id="3" name="Group 13"/>
          <p:cNvGrpSpPr/>
          <p:nvPr/>
        </p:nvGrpSpPr>
        <p:grpSpPr>
          <a:xfrm rot="21214351">
            <a:off x="313409" y="3520798"/>
            <a:ext cx="4088024" cy="302602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6"/>
          </p:nvPr>
        </p:nvSpPr>
        <p:spPr>
          <a:xfrm rot="21214351">
            <a:off x="491057" y="3682579"/>
            <a:ext cx="3704109" cy="2697083"/>
          </a:xfrm>
          <a:solidFill>
            <a:schemeClr val="bg1">
              <a:lumMod val="85000"/>
            </a:schemeClr>
          </a:solidFill>
        </p:spPr>
        <p:txBody>
          <a:bodyPr/>
          <a:lstStyle>
            <a:lvl1pPr>
              <a:buNone/>
              <a:defRPr/>
            </a:lvl1pPr>
          </a:lstStyle>
          <a:p>
            <a:r>
              <a:rPr lang="en-US" smtClean="0"/>
              <a:t>Click icon to add picture</a:t>
            </a:r>
            <a:endParaRPr/>
          </a:p>
        </p:txBody>
      </p:sp>
      <p:grpSp>
        <p:nvGrpSpPr>
          <p:cNvPr id="8" name="Group 9"/>
          <p:cNvGrpSpPr/>
          <p:nvPr/>
        </p:nvGrpSpPr>
        <p:grpSpPr>
          <a:xfrm rot="232774">
            <a:off x="169481" y="241256"/>
            <a:ext cx="4088024" cy="3026020"/>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5"/>
          </p:nvPr>
        </p:nvSpPr>
        <p:spPr>
          <a:xfrm rot="232774">
            <a:off x="347129" y="403037"/>
            <a:ext cx="3704109" cy="2697083"/>
          </a:xfrm>
          <a:solidFill>
            <a:schemeClr val="bg1">
              <a:lumMod val="85000"/>
            </a:schemeClr>
          </a:solidFill>
        </p:spPr>
        <p:txBody>
          <a:bodyPr/>
          <a:lstStyle>
            <a:lvl1pPr>
              <a:buNone/>
              <a:defRPr/>
            </a:lvl1pPr>
          </a:lstStyle>
          <a:p>
            <a:r>
              <a:rPr lang="en-US" smtClean="0"/>
              <a:t>Click icon to add picture</a:t>
            </a:r>
            <a:endParaRPr/>
          </a:p>
        </p:txBody>
      </p:sp>
      <p:sp>
        <p:nvSpPr>
          <p:cNvPr id="2" name="Title 1"/>
          <p:cNvSpPr>
            <a:spLocks noGrp="1"/>
          </p:cNvSpPr>
          <p:nvPr>
            <p:ph type="title"/>
          </p:nvPr>
        </p:nvSpPr>
        <p:spPr>
          <a:xfrm>
            <a:off x="5013434" y="1524000"/>
            <a:ext cx="3566160" cy="1162050"/>
          </a:xfrm>
        </p:spPr>
        <p:txBody>
          <a:bodyPr tIns="0" bIns="0" anchor="b"/>
          <a:lstStyle>
            <a:lvl1pPr algn="l">
              <a:lnSpc>
                <a:spcPts val="4600"/>
              </a:lnSpc>
              <a:defRPr sz="4200" b="1"/>
            </a:lvl1pPr>
          </a:lstStyle>
          <a:p>
            <a:r>
              <a:rPr lang="en-US" smtClean="0"/>
              <a:t>Click to edit Master title style</a:t>
            </a:r>
            <a:endParaRPr/>
          </a:p>
        </p:txBody>
      </p:sp>
      <p:sp>
        <p:nvSpPr>
          <p:cNvPr id="4" name="Text Placeholder 3"/>
          <p:cNvSpPr>
            <a:spLocks noGrp="1"/>
          </p:cNvSpPr>
          <p:nvPr>
            <p:ph type="body" sz="half" idx="2"/>
          </p:nvPr>
        </p:nvSpPr>
        <p:spPr>
          <a:xfrm>
            <a:off x="5013432" y="2699982"/>
            <a:ext cx="3566160" cy="2163171"/>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en-US" smtClean="0"/>
              <a:t>Click to edit Master title style</a:t>
            </a:r>
            <a:endParaRPr/>
          </a:p>
        </p:txBody>
      </p:sp>
      <p:grpSp>
        <p:nvGrpSpPr>
          <p:cNvPr id="3" name="Group 8"/>
          <p:cNvGrpSpPr/>
          <p:nvPr/>
        </p:nvGrpSpPr>
        <p:grpSpPr>
          <a:xfrm rot="232774">
            <a:off x="2059282" y="379100"/>
            <a:ext cx="5031327" cy="3443312"/>
            <a:chOff x="1524000" y="381000"/>
            <a:chExt cx="3657600" cy="4737978"/>
          </a:xfrm>
        </p:grpSpPr>
        <p:sp>
          <p:nvSpPr>
            <p:cNvPr id="10" name="Rectangle 9"/>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4" name="Text Placeholder 3"/>
          <p:cNvSpPr>
            <a:spLocks noGrp="1"/>
          </p:cNvSpPr>
          <p:nvPr>
            <p:ph type="body" sz="half" idx="2"/>
          </p:nvPr>
        </p:nvSpPr>
        <p:spPr>
          <a:xfrm>
            <a:off x="914400" y="4928736"/>
            <a:ext cx="7315200" cy="987970"/>
          </a:xfrm>
        </p:spPr>
        <p:txBody>
          <a:bodyPr/>
          <a:lstStyle>
            <a:lvl1pPr marL="0" indent="0">
              <a:spcBef>
                <a:spcPct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
        <p:nvSpPr>
          <p:cNvPr id="12" name="Picture Placeholder 9"/>
          <p:cNvSpPr>
            <a:spLocks noGrp="1"/>
          </p:cNvSpPr>
          <p:nvPr>
            <p:ph type="pic" sz="quarter" idx="15"/>
          </p:nvPr>
        </p:nvSpPr>
        <p:spPr>
          <a:xfrm rot="232774">
            <a:off x="2248157" y="564564"/>
            <a:ext cx="4653577" cy="3072384"/>
          </a:xfrm>
          <a:solidFill>
            <a:schemeClr val="bg1">
              <a:lumMod val="85000"/>
            </a:schemeClr>
          </a:solidFill>
        </p:spPr>
        <p:txBody>
          <a:bodyPr/>
          <a:lstStyle>
            <a:lvl1pPr>
              <a:buNone/>
              <a:defRPr/>
            </a:lvl1pPr>
          </a:lstStyle>
          <a:p>
            <a:r>
              <a:rPr lang="en-US" smtClean="0"/>
              <a:t>Click icon to add picture</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2 Pictures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762374"/>
            <a:ext cx="7315200" cy="1162050"/>
          </a:xfrm>
        </p:spPr>
        <p:txBody>
          <a:bodyPr tIns="0" bIns="0" anchor="b"/>
          <a:lstStyle>
            <a:lvl1pPr algn="l">
              <a:lnSpc>
                <a:spcPts val="4600"/>
              </a:lnSpc>
              <a:defRPr sz="3600" b="1"/>
            </a:lvl1pPr>
          </a:lstStyle>
          <a:p>
            <a:r>
              <a:rPr lang="en-US" smtClean="0"/>
              <a:t>Click to edit Master title style</a:t>
            </a:r>
            <a:endParaRPr/>
          </a:p>
        </p:txBody>
      </p:sp>
      <p:grpSp>
        <p:nvGrpSpPr>
          <p:cNvPr id="3" name="Group 13"/>
          <p:cNvGrpSpPr/>
          <p:nvPr/>
        </p:nvGrpSpPr>
        <p:grpSpPr>
          <a:xfrm rot="21420000">
            <a:off x="113687" y="116368"/>
            <a:ext cx="3969060" cy="3705360"/>
            <a:chOff x="1524000" y="381000"/>
            <a:chExt cx="3657600" cy="4737978"/>
          </a:xfrm>
        </p:grpSpPr>
        <p:sp>
          <p:nvSpPr>
            <p:cNvPr id="15" name="Rectangle 14"/>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7" name="Picture Placeholder 9"/>
          <p:cNvSpPr>
            <a:spLocks noGrp="1"/>
          </p:cNvSpPr>
          <p:nvPr>
            <p:ph type="pic" sz="quarter" idx="17"/>
          </p:nvPr>
        </p:nvSpPr>
        <p:spPr>
          <a:xfrm rot="21420000">
            <a:off x="299151" y="304998"/>
            <a:ext cx="3598455" cy="3334235"/>
          </a:xfrm>
          <a:solidFill>
            <a:schemeClr val="bg1">
              <a:lumMod val="85000"/>
            </a:schemeClr>
          </a:solidFill>
        </p:spPr>
        <p:txBody>
          <a:bodyPr/>
          <a:lstStyle>
            <a:lvl1pPr>
              <a:buNone/>
              <a:defRPr/>
            </a:lvl1pPr>
          </a:lstStyle>
          <a:p>
            <a:r>
              <a:rPr lang="en-US" smtClean="0"/>
              <a:t>Click icon to add picture</a:t>
            </a:r>
            <a:endParaRPr/>
          </a:p>
        </p:txBody>
      </p:sp>
      <p:grpSp>
        <p:nvGrpSpPr>
          <p:cNvPr id="8" name="Group 9"/>
          <p:cNvGrpSpPr/>
          <p:nvPr/>
        </p:nvGrpSpPr>
        <p:grpSpPr>
          <a:xfrm rot="360000">
            <a:off x="4165479" y="323141"/>
            <a:ext cx="4792693" cy="3443312"/>
            <a:chOff x="1524000" y="381000"/>
            <a:chExt cx="3657600" cy="4737978"/>
          </a:xfrm>
        </p:grpSpPr>
        <p:sp>
          <p:nvSpPr>
            <p:cNvPr id="11" name="Rectangle 10"/>
            <p:cNvSpPr/>
            <p:nvPr userDrawn="1"/>
          </p:nvSpPr>
          <p:spPr>
            <a:xfrm>
              <a:off x="1524000" y="381000"/>
              <a:ext cx="3657600" cy="472440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1524000" y="381000"/>
              <a:ext cx="3657600" cy="4737978"/>
            </a:xfrm>
            <a:prstGeom prst="rect">
              <a:avLst/>
            </a:prstGeom>
            <a:gradFill flip="none" rotWithShape="1">
              <a:gsLst>
                <a:gs pos="0">
                  <a:schemeClr val="bg1">
                    <a:lumMod val="85000"/>
                  </a:schemeClr>
                </a:gs>
                <a:gs pos="15000">
                  <a:schemeClr val="bg1">
                    <a:alpha val="75000"/>
                  </a:schemeClr>
                </a:gs>
                <a:gs pos="100000">
                  <a:schemeClr val="bg1"/>
                </a:gs>
                <a:gs pos="100000">
                  <a:schemeClr val="bg1"/>
                </a:gs>
              </a:gsLst>
              <a:path path="rect">
                <a:fillToRect r="100000" b="100000"/>
              </a:path>
              <a:tileRect l="-100000" t="-100000"/>
            </a:gradFill>
            <a:ln>
              <a:noFill/>
            </a:ln>
            <a:effectLst>
              <a:innerShdw blurRad="190500" dist="88900" dir="13500000">
                <a:schemeClr val="bg1">
                  <a:lumMod val="65000"/>
                  <a:alpha val="2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Picture Placeholder 9"/>
          <p:cNvSpPr>
            <a:spLocks noGrp="1"/>
          </p:cNvSpPr>
          <p:nvPr>
            <p:ph type="pic" sz="quarter" idx="16"/>
          </p:nvPr>
        </p:nvSpPr>
        <p:spPr>
          <a:xfrm rot="360000">
            <a:off x="4336486" y="507668"/>
            <a:ext cx="4432860" cy="3072384"/>
          </a:xfrm>
          <a:solidFill>
            <a:schemeClr val="bg1">
              <a:lumMod val="85000"/>
            </a:schemeClr>
          </a:solidFill>
        </p:spPr>
        <p:txBody>
          <a:bodyPr/>
          <a:lstStyle>
            <a:lvl1pPr>
              <a:buNone/>
              <a:defRPr/>
            </a:lvl1pPr>
          </a:lstStyle>
          <a:p>
            <a:r>
              <a:rPr lang="en-US" smtClean="0"/>
              <a:t>Click icon to add picture</a:t>
            </a:r>
            <a:endParaRPr/>
          </a:p>
        </p:txBody>
      </p:sp>
      <p:sp>
        <p:nvSpPr>
          <p:cNvPr id="4" name="Text Placeholder 3"/>
          <p:cNvSpPr>
            <a:spLocks noGrp="1"/>
          </p:cNvSpPr>
          <p:nvPr>
            <p:ph type="body" sz="half" idx="2"/>
          </p:nvPr>
        </p:nvSpPr>
        <p:spPr>
          <a:xfrm>
            <a:off x="914400" y="4926106"/>
            <a:ext cx="7315200" cy="990600"/>
          </a:xfrm>
        </p:spPr>
        <p:txBody>
          <a:bodyPr/>
          <a:lstStyle>
            <a:lvl1pPr marL="0" indent="0">
              <a:spcBef>
                <a:spcPct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10/25/08</a:t>
            </a:r>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7" name="Slide Number Placeholder 6"/>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r>
              <a:rPr lang="en-US" dirty="0"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51682" y="450851"/>
            <a:ext cx="846083" cy="535781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914400" y="450851"/>
            <a:ext cx="5943600" cy="53578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r>
              <a:rPr lang="en-US" dirty="0"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4" Type="http://schemas.openxmlformats.org/officeDocument/2006/relationships/slideLayout" Target="../slideLayouts/slideLayout14.xml"/><Relationship Id="rId20" Type="http://schemas.openxmlformats.org/officeDocument/2006/relationships/slideLayout" Target="../slideLayouts/slideLayout20.xml"/><Relationship Id="rId4" Type="http://schemas.openxmlformats.org/officeDocument/2006/relationships/slideLayout" Target="../slideLayouts/slideLayout4.xml"/><Relationship Id="rId21" Type="http://schemas.openxmlformats.org/officeDocument/2006/relationships/theme" Target="../theme/theme1.xml"/><Relationship Id="rId22" Type="http://schemas.openxmlformats.org/officeDocument/2006/relationships/image" Target="../media/image6.png"/><Relationship Id="rId23" Type="http://schemas.openxmlformats.org/officeDocument/2006/relationships/image" Target="../media/image7.png"/><Relationship Id="rId7" Type="http://schemas.openxmlformats.org/officeDocument/2006/relationships/slideLayout" Target="../slideLayouts/slideLayout7.xml"/><Relationship Id="rId11" Type="http://schemas.openxmlformats.org/officeDocument/2006/relationships/slideLayout" Target="../slideLayouts/slideLayout11.xml"/><Relationship Id="rId1" Type="http://schemas.openxmlformats.org/officeDocument/2006/relationships/slideLayout" Target="../slideLayouts/slideLayout1.xml"/><Relationship Id="rId24" Type="http://schemas.openxmlformats.org/officeDocument/2006/relationships/image" Target="../media/image8.png"/><Relationship Id="rId6" Type="http://schemas.openxmlformats.org/officeDocument/2006/relationships/slideLayout" Target="../slideLayouts/slideLayout6.xml"/><Relationship Id="rId16" Type="http://schemas.openxmlformats.org/officeDocument/2006/relationships/slideLayout" Target="../slideLayouts/slideLayout16.xml"/><Relationship Id="rId8" Type="http://schemas.openxmlformats.org/officeDocument/2006/relationships/slideLayout" Target="../slideLayouts/slideLayout8.xml"/><Relationship Id="rId13" Type="http://schemas.openxmlformats.org/officeDocument/2006/relationships/slideLayout" Target="../slideLayouts/slideLayout13.xml"/><Relationship Id="rId10" Type="http://schemas.openxmlformats.org/officeDocument/2006/relationships/slideLayout" Target="../slideLayouts/slideLayout1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19" Type="http://schemas.openxmlformats.org/officeDocument/2006/relationships/slideLayout" Target="../slideLayouts/slideLayout19.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274638"/>
            <a:ext cx="7313613" cy="563562"/>
          </a:xfrm>
          <a:prstGeom prst="rect">
            <a:avLst/>
          </a:prstGeom>
        </p:spPr>
        <p:txBody>
          <a:bodyPr vert="horz" lIns="91440" tIns="45720" rIns="91440" bIns="45720" rtlCol="0" anchor="ctr">
            <a:noAutofit/>
          </a:bodyPr>
          <a:lstStyle/>
          <a:p>
            <a:r>
              <a:rPr lang="en-US" smtClean="0"/>
              <a:t>Click to edit Master title style</a:t>
            </a:r>
            <a:endParaRPr/>
          </a:p>
        </p:txBody>
      </p:sp>
      <p:sp>
        <p:nvSpPr>
          <p:cNvPr id="3" name="Text Placeholder 2"/>
          <p:cNvSpPr>
            <a:spLocks noGrp="1"/>
          </p:cNvSpPr>
          <p:nvPr>
            <p:ph type="body" idx="1"/>
          </p:nvPr>
        </p:nvSpPr>
        <p:spPr>
          <a:xfrm>
            <a:off x="914400" y="1143000"/>
            <a:ext cx="7313613" cy="4648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09600" y="6446322"/>
            <a:ext cx="1295400" cy="265089"/>
          </a:xfrm>
          <a:prstGeom prst="rect">
            <a:avLst/>
          </a:prstGeom>
        </p:spPr>
        <p:txBody>
          <a:bodyPr vert="horz" lIns="91440" tIns="45720" rIns="91440" bIns="45720" rtlCol="0" anchor="ctr"/>
          <a:lstStyle>
            <a:lvl1pPr algn="l">
              <a:defRPr sz="1100">
                <a:solidFill>
                  <a:schemeClr val="tx1"/>
                </a:solidFill>
                <a:latin typeface="Rockwell" pitchFamily="18" charset="0"/>
              </a:defRPr>
            </a:lvl1pPr>
          </a:lstStyle>
          <a:p>
            <a:r>
              <a:rPr lang="en-US" smtClean="0"/>
              <a:t>10/25/08</a:t>
            </a:r>
            <a:endParaRPr lang="en-US"/>
          </a:p>
        </p:txBody>
      </p:sp>
      <p:sp>
        <p:nvSpPr>
          <p:cNvPr id="5" name="Footer Placeholder 4"/>
          <p:cNvSpPr>
            <a:spLocks noGrp="1"/>
          </p:cNvSpPr>
          <p:nvPr>
            <p:ph type="ftr" sz="quarter" idx="3"/>
          </p:nvPr>
        </p:nvSpPr>
        <p:spPr>
          <a:xfrm>
            <a:off x="2971800" y="6446322"/>
            <a:ext cx="3717967" cy="259278"/>
          </a:xfrm>
          <a:prstGeom prst="rect">
            <a:avLst/>
          </a:prstGeom>
        </p:spPr>
        <p:txBody>
          <a:bodyPr vert="horz" lIns="91440" tIns="45720" rIns="91440" bIns="45720" rtlCol="0" anchor="ctr"/>
          <a:lstStyle>
            <a:lvl1pPr algn="r">
              <a:defRPr sz="1100">
                <a:solidFill>
                  <a:schemeClr val="tx1"/>
                </a:solidFill>
                <a:latin typeface="Rockwell" pitchFamily="18" charset="0"/>
              </a:defRPr>
            </a:lvl1pPr>
          </a:lstStyle>
          <a:p>
            <a:pPr algn="ctr"/>
            <a:r>
              <a:rPr lang="en-US" dirty="0" smtClean="0"/>
              <a:t>M. Wysocki - DNP2008</a:t>
            </a:r>
            <a:endParaRPr lang="en-US" dirty="0"/>
          </a:p>
        </p:txBody>
      </p:sp>
      <p:sp>
        <p:nvSpPr>
          <p:cNvPr id="6" name="Slide Number Placeholder 5"/>
          <p:cNvSpPr>
            <a:spLocks noGrp="1"/>
          </p:cNvSpPr>
          <p:nvPr>
            <p:ph type="sldNum" sz="quarter" idx="4"/>
          </p:nvPr>
        </p:nvSpPr>
        <p:spPr>
          <a:xfrm>
            <a:off x="7486485" y="6446322"/>
            <a:ext cx="1483056" cy="259278"/>
          </a:xfrm>
          <a:prstGeom prst="rect">
            <a:avLst/>
          </a:prstGeom>
        </p:spPr>
        <p:txBody>
          <a:bodyPr vert="horz" lIns="91440" tIns="45720" rIns="91440" bIns="45720" rtlCol="0" anchor="ctr"/>
          <a:lstStyle>
            <a:lvl1pPr algn="r">
              <a:defRPr sz="1100">
                <a:solidFill>
                  <a:schemeClr val="tx1"/>
                </a:solidFill>
                <a:latin typeface="Rockwell"/>
                <a:cs typeface="Rockwell"/>
              </a:defRPr>
            </a:lvl1pPr>
          </a:lstStyle>
          <a:p>
            <a:fld id="{22AA90A4-83E2-D54A-9E94-1DBBF1C3D7B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 id="2147483864" r:id="rId18"/>
    <p:sldLayoutId id="2147483865" r:id="rId19"/>
    <p:sldLayoutId id="2147483866" r:id="rId20"/>
  </p:sldLayoutIdLst>
  <p:hf hdr="0"/>
  <p:txStyles>
    <p:titleStyle>
      <a:lvl1pPr algn="ctr" defTabSz="914400" rtl="0" eaLnBrk="1" latinLnBrk="0" hangingPunct="1">
        <a:spcBef>
          <a:spcPct val="0"/>
        </a:spcBef>
        <a:buNone/>
        <a:defRPr sz="4600" kern="1200">
          <a:solidFill>
            <a:schemeClr val="tx1"/>
          </a:solidFill>
          <a:latin typeface="+mj-lt"/>
          <a:ea typeface="+mj-ea"/>
          <a:cs typeface="+mj-cs"/>
        </a:defRPr>
      </a:lvl1pPr>
    </p:titleStyle>
    <p:bodyStyle>
      <a:lvl1pPr marL="463550" indent="-463550" algn="l" defTabSz="914400" rtl="0" eaLnBrk="1" latinLnBrk="0" hangingPunct="1">
        <a:spcBef>
          <a:spcPts val="2000"/>
        </a:spcBef>
        <a:buSzPct val="90000"/>
        <a:buFontTx/>
        <a:buBlip>
          <a:blip r:embed="rId22"/>
        </a:buBlip>
        <a:defRPr sz="2400" kern="1200">
          <a:solidFill>
            <a:schemeClr val="tx1"/>
          </a:solidFill>
          <a:latin typeface="+mn-lt"/>
          <a:ea typeface="+mn-ea"/>
          <a:cs typeface="+mn-cs"/>
        </a:defRPr>
      </a:lvl1pPr>
      <a:lvl2pPr marL="914400" indent="-457200" algn="l" defTabSz="914400" rtl="0" eaLnBrk="1" latinLnBrk="0" hangingPunct="1">
        <a:spcBef>
          <a:spcPts val="600"/>
        </a:spcBef>
        <a:buSzPct val="90000"/>
        <a:buFontTx/>
        <a:buBlip>
          <a:blip r:embed="rId23"/>
        </a:buBlip>
        <a:defRPr sz="2200" kern="1200">
          <a:solidFill>
            <a:schemeClr val="tx1"/>
          </a:solidFill>
          <a:latin typeface="+mn-lt"/>
          <a:ea typeface="+mn-ea"/>
          <a:cs typeface="+mn-cs"/>
        </a:defRPr>
      </a:lvl2pPr>
      <a:lvl3pPr marL="1255713" indent="-341313" algn="l" defTabSz="914400" rtl="0" eaLnBrk="1" latinLnBrk="0" hangingPunct="1">
        <a:spcBef>
          <a:spcPts val="600"/>
        </a:spcBef>
        <a:buSzPct val="90000"/>
        <a:buFontTx/>
        <a:buBlip>
          <a:blip r:embed="rId24"/>
        </a:buBlip>
        <a:defRPr sz="2000" kern="1200">
          <a:solidFill>
            <a:schemeClr val="tx1"/>
          </a:solidFill>
          <a:latin typeface="+mn-lt"/>
          <a:ea typeface="+mn-ea"/>
          <a:cs typeface="+mn-cs"/>
        </a:defRPr>
      </a:lvl3pPr>
      <a:lvl4pPr marL="1597025"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4pPr>
      <a:lvl5pPr marL="1938338" indent="-341313" algn="l" defTabSz="914400" rtl="0" eaLnBrk="1" latinLnBrk="0" hangingPunct="1">
        <a:spcBef>
          <a:spcPts val="600"/>
        </a:spcBef>
        <a:buSzPct val="90000"/>
        <a:buFontTx/>
        <a:buBlip>
          <a:blip r:embed="rId24"/>
        </a:buBlip>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jpeg"/><Relationship Id="rId3" Type="http://schemas.openxmlformats.org/officeDocument/2006/relationships/image" Target="../media/image13.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4.pdf"/><Relationship Id="rId3" Type="http://schemas.openxmlformats.org/officeDocument/2006/relationships/image" Target="../media/image1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image" Target="../media/image24.png"/><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df"/><Relationship Id="rId5" Type="http://schemas.openxmlformats.org/officeDocument/2006/relationships/image" Target="../media/image23.pdf"/></Relationships>
</file>

<file path=ppt/slides/_rels/slide11.xml.rels><?xml version="1.0" encoding="UTF-8" standalone="yes"?>
<Relationships xmlns="http://schemas.openxmlformats.org/package/2006/relationships"><Relationship Id="rId2" Type="http://schemas.openxmlformats.org/officeDocument/2006/relationships/image" Target="../media/image25.pdf"/><Relationship Id="rId3"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image" Target="../media/image27.png"/><Relationship Id="rId1" Type="http://schemas.openxmlformats.org/officeDocument/2006/relationships/slideLayout" Target="../slideLayouts/slideLayout2.xml"/><Relationship Id="rId2" Type="http://schemas.openxmlformats.org/officeDocument/2006/relationships/image" Target="../media/image25.pdf"/><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J/</a:t>
            </a:r>
            <a:r>
              <a:rPr lang="en-US" dirty="0" err="1" smtClean="0">
                <a:latin typeface="Symbol" charset="2"/>
                <a:cs typeface="Symbol" charset="2"/>
              </a:rPr>
              <a:t>y</a:t>
            </a:r>
            <a:r>
              <a:rPr lang="en-US" dirty="0" err="1" smtClean="0"/>
              <a:t>s</a:t>
            </a:r>
            <a:r>
              <a:rPr lang="en-US" dirty="0" smtClean="0"/>
              <a:t> in Hot Nuclear Matter at PHENIX</a:t>
            </a:r>
            <a:endParaRPr lang="en-US" dirty="0"/>
          </a:p>
        </p:txBody>
      </p:sp>
      <p:sp>
        <p:nvSpPr>
          <p:cNvPr id="3" name="Subtitle 2"/>
          <p:cNvSpPr>
            <a:spLocks noGrp="1"/>
          </p:cNvSpPr>
          <p:nvPr>
            <p:ph type="subTitle" idx="1"/>
          </p:nvPr>
        </p:nvSpPr>
        <p:spPr>
          <a:xfrm>
            <a:off x="2209800" y="5257800"/>
            <a:ext cx="6477000" cy="972920"/>
          </a:xfrm>
        </p:spPr>
        <p:txBody>
          <a:bodyPr>
            <a:noAutofit/>
          </a:bodyPr>
          <a:lstStyle/>
          <a:p>
            <a:r>
              <a:rPr lang="en-US" sz="1800" dirty="0" smtClean="0"/>
              <a:t>Matthew Wysocki, University of Colorado</a:t>
            </a:r>
          </a:p>
          <a:p>
            <a:r>
              <a:rPr lang="en-US" sz="1800" dirty="0" smtClean="0"/>
              <a:t>for the PHENIX Collaboration</a:t>
            </a:r>
          </a:p>
          <a:p>
            <a:r>
              <a:rPr lang="en-US" sz="1800" dirty="0" smtClean="0"/>
              <a:t>October 25, 2008</a:t>
            </a:r>
          </a:p>
        </p:txBody>
      </p:sp>
      <p:pic>
        <p:nvPicPr>
          <p:cNvPr id="4" name="Picture 5" descr="cu_ralphie"/>
          <p:cNvPicPr>
            <a:picLocks noChangeAspect="1" noChangeArrowheads="1"/>
          </p:cNvPicPr>
          <p:nvPr/>
        </p:nvPicPr>
        <p:blipFill>
          <a:blip r:embed="rId2">
            <a:duotone>
              <a:schemeClr val="bg2">
                <a:shade val="45000"/>
                <a:satMod val="135000"/>
              </a:schemeClr>
              <a:prstClr val="white"/>
            </a:duotone>
          </a:blip>
          <a:srcRect/>
          <a:stretch>
            <a:fillRect/>
          </a:stretch>
        </p:blipFill>
        <p:spPr bwMode="auto">
          <a:xfrm>
            <a:off x="8305800" y="5410200"/>
            <a:ext cx="725787" cy="563668"/>
          </a:xfrm>
          <a:prstGeom prst="roundRect">
            <a:avLst>
              <a:gd name="adj" fmla="val 16667"/>
            </a:avLst>
          </a:prstGeom>
          <a:ln>
            <a:noFill/>
          </a:ln>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6" descr="phenix_288x94.gif                                              0014E5C5Macintosh HD                   BB753A6B:"/>
          <p:cNvPicPr>
            <a:picLocks noChangeAspect="1" noChangeArrowheads="1"/>
          </p:cNvPicPr>
          <p:nvPr/>
        </p:nvPicPr>
        <p:blipFill>
          <a:blip r:embed="rId3">
            <a:alphaModFix/>
            <a:duotone>
              <a:schemeClr val="bg2">
                <a:shade val="45000"/>
                <a:satMod val="135000"/>
              </a:schemeClr>
              <a:prstClr val="white"/>
            </a:duotone>
          </a:blip>
          <a:srcRect/>
          <a:stretch>
            <a:fillRect/>
          </a:stretch>
        </p:blipFill>
        <p:spPr bwMode="auto">
          <a:xfrm>
            <a:off x="7355187" y="6141942"/>
            <a:ext cx="1676400" cy="563658"/>
          </a:xfrm>
          <a:prstGeom prst="rect">
            <a:avLst/>
          </a:prstGeom>
          <a:ln>
            <a:noFill/>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Matsui &amp; </a:t>
            </a:r>
            <a:r>
              <a:rPr lang="en-US" dirty="0" err="1" smtClean="0"/>
              <a:t>Satz</a:t>
            </a:r>
            <a:r>
              <a:rPr lang="en-US" dirty="0" smtClean="0"/>
              <a:t> showed that in a medium of high enough temperature we can expect the J/</a:t>
            </a:r>
            <a:r>
              <a:rPr lang="en-US" dirty="0" err="1" smtClean="0">
                <a:latin typeface="Symbol" charset="2"/>
                <a:cs typeface="Symbol" charset="2"/>
              </a:rPr>
              <a:t>y</a:t>
            </a:r>
            <a:r>
              <a:rPr lang="en-US" dirty="0" smtClean="0"/>
              <a:t> to be Debye-screened away.  This led to J/</a:t>
            </a:r>
            <a:r>
              <a:rPr lang="en-US" dirty="0" err="1" smtClean="0">
                <a:latin typeface="Symbol" charset="2"/>
                <a:cs typeface="Symbol" charset="2"/>
              </a:rPr>
              <a:t>y</a:t>
            </a:r>
            <a:r>
              <a:rPr lang="en-US" dirty="0" smtClean="0"/>
              <a:t> suppression being considered a “smoking gun” signature of the QGP.</a:t>
            </a:r>
          </a:p>
          <a:p>
            <a:endParaRPr lang="en-US" dirty="0" smtClean="0"/>
          </a:p>
          <a:p>
            <a:r>
              <a:rPr lang="en-US" dirty="0" smtClean="0"/>
              <a:t>Today there are many competing effects that must be accounted for, including CNM effects as in the previous talk, and hot nuclear matter effects such as recombination and lack of feed-down from other suppressed charmonia.</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r>
              <a:rPr lang="en-US"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Suppression and </a:t>
            </a:r>
            <a:r>
              <a:rPr lang="en-US" i="1" dirty="0" smtClean="0"/>
              <a:t>R</a:t>
            </a:r>
            <a:r>
              <a:rPr lang="en-US" baseline="-25000" dirty="0" smtClean="0"/>
              <a:t>AA</a:t>
            </a:r>
            <a:endParaRPr lang="en-US" baseline="-25000" dirty="0"/>
          </a:p>
        </p:txBody>
      </p:sp>
      <p:sp>
        <p:nvSpPr>
          <p:cNvPr id="3" name="Content Placeholder 2"/>
          <p:cNvSpPr>
            <a:spLocks noGrp="1"/>
          </p:cNvSpPr>
          <p:nvPr>
            <p:ph idx="1"/>
          </p:nvPr>
        </p:nvSpPr>
        <p:spPr>
          <a:xfrm>
            <a:off x="762000" y="1143000"/>
            <a:ext cx="7467600" cy="4648200"/>
          </a:xfrm>
        </p:spPr>
        <p:txBody>
          <a:bodyPr>
            <a:noAutofit/>
          </a:bodyPr>
          <a:lstStyle/>
          <a:p>
            <a:r>
              <a:rPr lang="en-US" dirty="0" smtClean="0"/>
              <a:t>Take the yields from nuclear collisions and divide by </a:t>
            </a:r>
            <a:r>
              <a:rPr lang="en-US" dirty="0" err="1" smtClean="0"/>
              <a:t>p+p</a:t>
            </a:r>
            <a:r>
              <a:rPr lang="en-US" dirty="0" smtClean="0"/>
              <a:t> yields, scaled by the appropriate number of binary collisions (</a:t>
            </a:r>
            <a:r>
              <a:rPr lang="en-US" i="1" dirty="0" err="1" smtClean="0"/>
              <a:t>N</a:t>
            </a:r>
            <a:r>
              <a:rPr lang="en-US" baseline="-25000" dirty="0" err="1" smtClean="0"/>
              <a:t>coll</a:t>
            </a:r>
            <a:r>
              <a:rPr lang="en-US" dirty="0" smtClean="0"/>
              <a:t>).</a:t>
            </a:r>
          </a:p>
          <a:p>
            <a:endParaRPr lang="en-US" dirty="0" smtClean="0"/>
          </a:p>
          <a:p>
            <a:endParaRPr lang="en-US" dirty="0" smtClean="0"/>
          </a:p>
          <a:p>
            <a:endParaRPr lang="en-US" dirty="0" smtClean="0"/>
          </a:p>
          <a:p>
            <a:r>
              <a:rPr lang="en-US" dirty="0" smtClean="0"/>
              <a:t>Deviations from unity should first be compared to CNM effects.  Any remaining suppression can be attributed to the deconfined medium (QGP).</a:t>
            </a:r>
          </a:p>
          <a:p>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r>
              <a:rPr lang="en-US"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3</a:t>
            </a:fld>
            <a:endParaRPr lang="en-US"/>
          </a:p>
        </p:txBody>
      </p:sp>
      <p:pic>
        <p:nvPicPr>
          <p:cNvPr id="8" name="Picture 7" descr="image-8.pdf"/>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2514603" y="2895600"/>
            <a:ext cx="4338312" cy="91439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smtClean="0"/>
              <a:t>J/</a:t>
            </a:r>
            <a:r>
              <a:rPr lang="en-US" dirty="0" err="1" smtClean="0">
                <a:latin typeface="Symbol" charset="2"/>
                <a:cs typeface="Symbol" charset="2"/>
              </a:rPr>
              <a:t>y</a:t>
            </a:r>
            <a:r>
              <a:rPr lang="en-US" dirty="0" smtClean="0"/>
              <a:t> Suppression vs. Centrality</a:t>
            </a:r>
            <a:endParaRPr lang="en-US" dirty="0"/>
          </a:p>
        </p:txBody>
      </p:sp>
      <p:sp>
        <p:nvSpPr>
          <p:cNvPr id="18" name="Text Placeholder 17"/>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pPr algn="ctr"/>
            <a:r>
              <a:rPr lang="en-US" dirty="0"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Suppression in 200GeV </a:t>
            </a:r>
            <a:r>
              <a:rPr lang="en-US" sz="4000" dirty="0" err="1" smtClean="0"/>
              <a:t>Au+Au</a:t>
            </a:r>
            <a:endParaRPr lang="en-US" sz="4000" dirty="0"/>
          </a:p>
        </p:txBody>
      </p:sp>
      <p:sp>
        <p:nvSpPr>
          <p:cNvPr id="3" name="Content Placeholder 2"/>
          <p:cNvSpPr>
            <a:spLocks noGrp="1"/>
          </p:cNvSpPr>
          <p:nvPr>
            <p:ph idx="1"/>
          </p:nvPr>
        </p:nvSpPr>
        <p:spPr>
          <a:xfrm>
            <a:off x="609600" y="1143000"/>
            <a:ext cx="3581403" cy="4886992"/>
          </a:xfrm>
        </p:spPr>
        <p:txBody>
          <a:bodyPr>
            <a:normAutofit fontScale="92500"/>
          </a:bodyPr>
          <a:lstStyle/>
          <a:p>
            <a:pPr marL="355600" indent="-355600"/>
            <a:r>
              <a:rPr lang="en-US" dirty="0" smtClean="0"/>
              <a:t>J/</a:t>
            </a:r>
            <a:r>
              <a:rPr lang="en-US" dirty="0" smtClean="0">
                <a:latin typeface="Symbol" charset="2"/>
                <a:cs typeface="Symbol" charset="2"/>
              </a:rPr>
              <a:t>y</a:t>
            </a:r>
            <a:r>
              <a:rPr lang="en-US" dirty="0" smtClean="0"/>
              <a:t> production is suppressed in more central collisions.</a:t>
            </a:r>
          </a:p>
          <a:p>
            <a:pPr marL="355600" indent="-355600"/>
            <a:endParaRPr lang="en-US" dirty="0" smtClean="0"/>
          </a:p>
          <a:p>
            <a:pPr marL="355600" indent="-355600"/>
            <a:r>
              <a:rPr lang="en-US" dirty="0" smtClean="0"/>
              <a:t>The suppression is larger at forward rapidities than mid-rapidity.</a:t>
            </a:r>
          </a:p>
          <a:p>
            <a:pPr marL="355600" indent="-355600"/>
            <a:endParaRPr lang="en-US" dirty="0" smtClean="0"/>
          </a:p>
          <a:p>
            <a:pPr marL="355600" indent="-355600"/>
            <a:r>
              <a:rPr lang="en-US" dirty="0" smtClean="0"/>
              <a:t>Contrary to what we might expect due to local energy-density arguments.</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Slide Number Placeholder 4"/>
          <p:cNvSpPr>
            <a:spLocks noGrp="1"/>
          </p:cNvSpPr>
          <p:nvPr>
            <p:ph type="sldNum" sz="quarter" idx="12"/>
          </p:nvPr>
        </p:nvSpPr>
        <p:spPr/>
        <p:txBody>
          <a:bodyPr/>
          <a:lstStyle/>
          <a:p>
            <a:fld id="{22AA90A4-83E2-D54A-9E94-1DBBF1C3D7BD}" type="slidenum">
              <a:rPr lang="en-US" smtClean="0"/>
              <a:pPr/>
              <a:t>5</a:t>
            </a:fld>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pic>
        <p:nvPicPr>
          <p:cNvPr id="7" name="Picture 2" descr="C:\Documents and Settings\wysockim\Desktop\Run 4 RAA.gif"/>
          <p:cNvPicPr>
            <a:picLocks noChangeAspect="1" noChangeArrowheads="1"/>
          </p:cNvPicPr>
          <p:nvPr/>
        </p:nvPicPr>
        <p:blipFill>
          <a:blip r:embed="rId2"/>
          <a:srcRect/>
          <a:stretch>
            <a:fillRect/>
          </a:stretch>
        </p:blipFill>
        <p:spPr bwMode="auto">
          <a:xfrm>
            <a:off x="4191002" y="1125437"/>
            <a:ext cx="4727575" cy="4894363"/>
          </a:xfrm>
          <a:prstGeom prst="rect">
            <a:avLst/>
          </a:prstGeom>
          <a:noFill/>
          <a:effectLst>
            <a:softEdge rad="38100"/>
          </a:effectLst>
        </p:spPr>
      </p:pic>
      <p:sp>
        <p:nvSpPr>
          <p:cNvPr id="8" name="TextBox 7"/>
          <p:cNvSpPr txBox="1"/>
          <p:nvPr/>
        </p:nvSpPr>
        <p:spPr>
          <a:xfrm>
            <a:off x="6268068" y="6029992"/>
            <a:ext cx="2647332" cy="523208"/>
          </a:xfrm>
          <a:prstGeom prst="rect">
            <a:avLst/>
          </a:prstGeom>
          <a:noFill/>
        </p:spPr>
        <p:txBody>
          <a:bodyPr wrap="none" lIns="91429" tIns="45714" rIns="91429" bIns="45714" rtlCol="0">
            <a:spAutoFit/>
          </a:bodyPr>
          <a:lstStyle/>
          <a:p>
            <a:pPr algn="r"/>
            <a:r>
              <a:rPr lang="en-US" sz="1400" dirty="0" smtClean="0"/>
              <a:t>nucl-ex/0611020</a:t>
            </a:r>
          </a:p>
          <a:p>
            <a:pPr algn="r"/>
            <a:r>
              <a:rPr lang="en-US" sz="1400" dirty="0" smtClean="0"/>
              <a:t>Phys. Rev. </a:t>
            </a:r>
            <a:r>
              <a:rPr lang="en-US" sz="1400" dirty="0" err="1" smtClean="0"/>
              <a:t>Lett</a:t>
            </a:r>
            <a:r>
              <a:rPr lang="en-US" sz="1400" dirty="0" smtClean="0"/>
              <a:t>. 98 (2007) 232301</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 name="Picture 2" descr="C:\Documents and Settings\wysockim\Desktop\CuCu RAA vs centrality.gif"/>
          <p:cNvPicPr>
            <a:picLocks noChangeAspect="1" noChangeArrowheads="1"/>
          </p:cNvPicPr>
          <p:nvPr/>
        </p:nvPicPr>
        <p:blipFill>
          <a:blip r:embed="rId2"/>
          <a:srcRect/>
          <a:stretch>
            <a:fillRect/>
          </a:stretch>
        </p:blipFill>
        <p:spPr bwMode="auto">
          <a:xfrm>
            <a:off x="188899" y="909328"/>
            <a:ext cx="4383101" cy="5491472"/>
          </a:xfrm>
          <a:prstGeom prst="rect">
            <a:avLst/>
          </a:prstGeom>
          <a:ln>
            <a:noFill/>
          </a:ln>
          <a:effectLst>
            <a:softEdge rad="63500"/>
          </a:effectLst>
        </p:spPr>
      </p:pic>
      <p:sp>
        <p:nvSpPr>
          <p:cNvPr id="2" name="Title 1"/>
          <p:cNvSpPr>
            <a:spLocks noGrp="1"/>
          </p:cNvSpPr>
          <p:nvPr>
            <p:ph type="title"/>
          </p:nvPr>
        </p:nvSpPr>
        <p:spPr/>
        <p:txBody>
          <a:bodyPr/>
          <a:lstStyle/>
          <a:p>
            <a:r>
              <a:rPr lang="en-US" sz="4000" dirty="0" smtClean="0"/>
              <a:t>Suppression in 200GeV </a:t>
            </a:r>
            <a:r>
              <a:rPr lang="en-US" sz="4000" dirty="0" err="1" smtClean="0"/>
              <a:t>Cu+Cu</a:t>
            </a:r>
            <a:endParaRPr lang="en-US" sz="4000" dirty="0"/>
          </a:p>
        </p:txBody>
      </p:sp>
      <p:sp>
        <p:nvSpPr>
          <p:cNvPr id="3" name="Content Placeholder 2"/>
          <p:cNvSpPr>
            <a:spLocks noGrp="1"/>
          </p:cNvSpPr>
          <p:nvPr>
            <p:ph idx="1"/>
          </p:nvPr>
        </p:nvSpPr>
        <p:spPr>
          <a:xfrm>
            <a:off x="4495802" y="1295400"/>
            <a:ext cx="4114798" cy="5181600"/>
          </a:xfrm>
        </p:spPr>
        <p:txBody>
          <a:bodyPr>
            <a:normAutofit/>
          </a:bodyPr>
          <a:lstStyle/>
          <a:p>
            <a:pPr marL="350838" indent="-350838"/>
            <a:r>
              <a:rPr lang="en-US" dirty="0" smtClean="0"/>
              <a:t>Run 5 </a:t>
            </a:r>
            <a:r>
              <a:rPr lang="en-US" dirty="0" err="1" smtClean="0"/>
              <a:t>Cu+Cu</a:t>
            </a:r>
            <a:r>
              <a:rPr lang="en-US" dirty="0" smtClean="0"/>
              <a:t> J/</a:t>
            </a:r>
            <a:r>
              <a:rPr lang="en-US" dirty="0" err="1" smtClean="0">
                <a:latin typeface="Symbol" charset="2"/>
                <a:cs typeface="Symbol" charset="2"/>
              </a:rPr>
              <a:t>y</a:t>
            </a:r>
            <a:r>
              <a:rPr lang="en-US" dirty="0" smtClean="0"/>
              <a:t> results available at arXiv:0801.0220 and is Phys. Rev. </a:t>
            </a:r>
            <a:r>
              <a:rPr lang="en-US" dirty="0" err="1" smtClean="0"/>
              <a:t>Lett</a:t>
            </a:r>
            <a:r>
              <a:rPr lang="en-US" dirty="0" smtClean="0"/>
              <a:t>. 101, 122301 (2008).</a:t>
            </a:r>
          </a:p>
          <a:p>
            <a:pPr marL="350838" indent="-350838"/>
            <a:endParaRPr lang="en-US" dirty="0" smtClean="0"/>
          </a:p>
          <a:p>
            <a:pPr marL="350838" indent="-350838"/>
            <a:r>
              <a:rPr lang="en-US" dirty="0" err="1" smtClean="0"/>
              <a:t>Cu+Cu</a:t>
            </a:r>
            <a:r>
              <a:rPr lang="en-US" dirty="0" smtClean="0"/>
              <a:t> </a:t>
            </a:r>
            <a:r>
              <a:rPr lang="en-US" i="1" dirty="0" smtClean="0"/>
              <a:t>R</a:t>
            </a:r>
            <a:r>
              <a:rPr lang="en-US" baseline="-25000" dirty="0" smtClean="0"/>
              <a:t>AA</a:t>
            </a:r>
            <a:r>
              <a:rPr lang="en-US" dirty="0" smtClean="0"/>
              <a:t> is in line with CNM projections from </a:t>
            </a:r>
            <a:r>
              <a:rPr lang="en-US" dirty="0" err="1" smtClean="0"/>
              <a:t>d+Au</a:t>
            </a:r>
            <a:r>
              <a:rPr lang="en-US" dirty="0" smtClean="0"/>
              <a:t> (central lines in panels </a:t>
            </a:r>
            <a:br>
              <a:rPr lang="en-US" dirty="0" smtClean="0"/>
            </a:br>
            <a:r>
              <a:rPr lang="en-US" dirty="0" smtClean="0"/>
              <a:t>a &amp; </a:t>
            </a:r>
            <a:r>
              <a:rPr lang="en-US" dirty="0" err="1" smtClean="0"/>
              <a:t>b</a:t>
            </a:r>
            <a:r>
              <a:rPr lang="en-US" dirty="0" smtClean="0"/>
              <a:t>).</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Slide Number Placeholder 4"/>
          <p:cNvSpPr>
            <a:spLocks noGrp="1"/>
          </p:cNvSpPr>
          <p:nvPr>
            <p:ph type="sldNum" sz="quarter" idx="12"/>
          </p:nvPr>
        </p:nvSpPr>
        <p:spPr/>
        <p:txBody>
          <a:bodyPr/>
          <a:lstStyle/>
          <a:p>
            <a:fld id="{22AA90A4-83E2-D54A-9E94-1DBBF1C3D7BD}" type="slidenum">
              <a:rPr lang="en-US" smtClean="0"/>
              <a:pPr/>
              <a:t>6</a:t>
            </a:fld>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J/</a:t>
            </a:r>
            <a:r>
              <a:rPr lang="en-US" dirty="0" err="1" smtClean="0">
                <a:latin typeface="Symbol" charset="2"/>
                <a:cs typeface="Symbol" charset="2"/>
              </a:rPr>
              <a:t>y</a:t>
            </a:r>
            <a:r>
              <a:rPr lang="en-US" dirty="0" smtClean="0"/>
              <a:t> Suppression vs. p</a:t>
            </a:r>
            <a:r>
              <a:rPr lang="en-US" baseline="-25000" dirty="0" smtClean="0"/>
              <a:t>T</a:t>
            </a:r>
            <a:endParaRPr lang="en-US" dirty="0"/>
          </a:p>
        </p:txBody>
      </p:sp>
      <p:sp>
        <p:nvSpPr>
          <p:cNvPr id="8" name="Text Placeholder 7"/>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r>
              <a:rPr lang="en-US"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R</a:t>
            </a:r>
            <a:r>
              <a:rPr lang="en-US" baseline="-25000" dirty="0" smtClean="0"/>
              <a:t>AA</a:t>
            </a:r>
            <a:r>
              <a:rPr lang="en-US" dirty="0" smtClean="0"/>
              <a:t> vs. </a:t>
            </a:r>
            <a:r>
              <a:rPr lang="en-US" i="1" dirty="0" smtClean="0"/>
              <a:t>p</a:t>
            </a:r>
            <a:r>
              <a:rPr lang="en-US" baseline="-25000" dirty="0" smtClean="0"/>
              <a:t>T</a:t>
            </a:r>
            <a:r>
              <a:rPr lang="en-US" dirty="0" smtClean="0"/>
              <a:t> in </a:t>
            </a:r>
            <a:r>
              <a:rPr lang="en-US" dirty="0" err="1" smtClean="0"/>
              <a:t>Au+Au</a:t>
            </a:r>
            <a:endParaRPr lang="en-US" dirty="0"/>
          </a:p>
        </p:txBody>
      </p:sp>
      <p:sp>
        <p:nvSpPr>
          <p:cNvPr id="3" name="Content Placeholder 2"/>
          <p:cNvSpPr>
            <a:spLocks noGrp="1"/>
          </p:cNvSpPr>
          <p:nvPr>
            <p:ph idx="1"/>
          </p:nvPr>
        </p:nvSpPr>
        <p:spPr>
          <a:xfrm>
            <a:off x="609600" y="1447800"/>
            <a:ext cx="3571877" cy="4343400"/>
          </a:xfrm>
        </p:spPr>
        <p:txBody>
          <a:bodyPr/>
          <a:lstStyle/>
          <a:p>
            <a:r>
              <a:rPr lang="en-US" dirty="0" smtClean="0"/>
              <a:t>No sign of extra suppression at high-p</a:t>
            </a:r>
            <a:r>
              <a:rPr lang="en-US" baseline="-25000" dirty="0" smtClean="0"/>
              <a:t>T</a:t>
            </a:r>
            <a:r>
              <a:rPr lang="en-US" dirty="0" smtClean="0"/>
              <a:t> here.</a:t>
            </a:r>
          </a:p>
          <a:p>
            <a:endParaRPr lang="en-US" dirty="0" smtClean="0"/>
          </a:p>
          <a:p>
            <a:r>
              <a:rPr lang="en-US" dirty="0" smtClean="0"/>
              <a:t>Error bars at higher </a:t>
            </a:r>
            <a:r>
              <a:rPr lang="en-US" i="1" dirty="0" err="1" smtClean="0"/>
              <a:t>p</a:t>
            </a:r>
            <a:r>
              <a:rPr lang="en-US" baseline="-25000" dirty="0" err="1" smtClean="0"/>
              <a:t>T</a:t>
            </a:r>
            <a:r>
              <a:rPr lang="en-US" dirty="0" err="1" smtClean="0"/>
              <a:t>s</a:t>
            </a:r>
            <a:r>
              <a:rPr lang="en-US" dirty="0" smtClean="0"/>
              <a:t> make it hard to determine whether trend is flat or increasing.</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Slide Number Placeholder 4"/>
          <p:cNvSpPr>
            <a:spLocks noGrp="1"/>
          </p:cNvSpPr>
          <p:nvPr>
            <p:ph type="sldNum" sz="quarter" idx="12"/>
          </p:nvPr>
        </p:nvSpPr>
        <p:spPr/>
        <p:txBody>
          <a:bodyPr/>
          <a:lstStyle/>
          <a:p>
            <a:fld id="{22AA90A4-83E2-D54A-9E94-1DBBF1C3D7BD}" type="slidenum">
              <a:rPr lang="en-US" smtClean="0"/>
              <a:pPr/>
              <a:t>8</a:t>
            </a:fld>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pic>
        <p:nvPicPr>
          <p:cNvPr id="7" name="Picture 2" descr="C:\Documents and Settings\wysockim\Desktop\Run4 RAA vs pT.gif"/>
          <p:cNvPicPr>
            <a:picLocks noChangeAspect="1" noChangeArrowheads="1"/>
          </p:cNvPicPr>
          <p:nvPr/>
        </p:nvPicPr>
        <p:blipFill>
          <a:blip r:embed="rId2"/>
          <a:srcRect/>
          <a:stretch>
            <a:fillRect/>
          </a:stretch>
        </p:blipFill>
        <p:spPr bwMode="auto">
          <a:xfrm>
            <a:off x="4181477" y="1171297"/>
            <a:ext cx="4657725" cy="4543704"/>
          </a:xfrm>
          <a:prstGeom prst="rect">
            <a:avLst/>
          </a:prstGeom>
          <a:noFill/>
          <a:effectLst>
            <a:softEdge rad="50800"/>
          </a:effectLst>
        </p:spPr>
      </p:pic>
      <p:sp>
        <p:nvSpPr>
          <p:cNvPr id="8" name="TextBox 7"/>
          <p:cNvSpPr txBox="1"/>
          <p:nvPr/>
        </p:nvSpPr>
        <p:spPr>
          <a:xfrm>
            <a:off x="6191872" y="5725180"/>
            <a:ext cx="2647332" cy="523208"/>
          </a:xfrm>
          <a:prstGeom prst="rect">
            <a:avLst/>
          </a:prstGeom>
          <a:noFill/>
        </p:spPr>
        <p:txBody>
          <a:bodyPr wrap="none" lIns="91429" tIns="45714" rIns="91429" bIns="45714" rtlCol="0">
            <a:spAutoFit/>
          </a:bodyPr>
          <a:lstStyle/>
          <a:p>
            <a:pPr algn="r"/>
            <a:r>
              <a:rPr lang="en-US" sz="1400" dirty="0" smtClean="0"/>
              <a:t>nucl-ex/0611020</a:t>
            </a:r>
          </a:p>
          <a:p>
            <a:pPr algn="r"/>
            <a:r>
              <a:rPr lang="en-US" sz="1400" dirty="0" smtClean="0"/>
              <a:t>Phys. Rev. </a:t>
            </a:r>
            <a:r>
              <a:rPr lang="en-US" sz="1400" dirty="0" err="1" smtClean="0"/>
              <a:t>Lett</a:t>
            </a:r>
            <a:r>
              <a:rPr lang="en-US" sz="1400" dirty="0" smtClean="0"/>
              <a:t>. 98 (2007) 232301</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R</a:t>
            </a:r>
            <a:r>
              <a:rPr lang="en-US" baseline="-25000" dirty="0" smtClean="0"/>
              <a:t>AA</a:t>
            </a:r>
            <a:r>
              <a:rPr lang="en-US" dirty="0" smtClean="0"/>
              <a:t> vs. </a:t>
            </a:r>
            <a:r>
              <a:rPr lang="en-US" i="1" dirty="0" smtClean="0"/>
              <a:t>p</a:t>
            </a:r>
            <a:r>
              <a:rPr lang="en-US" baseline="-25000" dirty="0" smtClean="0"/>
              <a:t>T</a:t>
            </a:r>
            <a:r>
              <a:rPr lang="en-US" dirty="0" smtClean="0"/>
              <a:t> in </a:t>
            </a:r>
            <a:r>
              <a:rPr lang="en-US" dirty="0" err="1" smtClean="0"/>
              <a:t>Cu+Cu</a:t>
            </a:r>
            <a:endParaRPr lang="en-US" dirty="0"/>
          </a:p>
        </p:txBody>
      </p:sp>
      <p:sp>
        <p:nvSpPr>
          <p:cNvPr id="3" name="Content Placeholder 2"/>
          <p:cNvSpPr>
            <a:spLocks noGrp="1"/>
          </p:cNvSpPr>
          <p:nvPr>
            <p:ph idx="1"/>
          </p:nvPr>
        </p:nvSpPr>
        <p:spPr>
          <a:xfrm>
            <a:off x="457200" y="1143000"/>
            <a:ext cx="7313613" cy="4648200"/>
          </a:xfrm>
        </p:spPr>
        <p:txBody>
          <a:bodyPr>
            <a:normAutofit lnSpcReduction="10000"/>
          </a:bodyPr>
          <a:lstStyle/>
          <a:p>
            <a:r>
              <a:rPr lang="en-US" dirty="0" smtClean="0"/>
              <a:t>Brand-spanking-new PHENIX points at p</a:t>
            </a:r>
            <a:r>
              <a:rPr lang="en-US" baseline="-25000" dirty="0" smtClean="0"/>
              <a:t>T</a:t>
            </a:r>
            <a:r>
              <a:rPr lang="en-US" dirty="0" smtClean="0"/>
              <a:t> &gt; 4 </a:t>
            </a:r>
            <a:r>
              <a:rPr lang="en-US" dirty="0" err="1" smtClean="0"/>
              <a:t>GeV/c</a:t>
            </a:r>
            <a:r>
              <a:rPr lang="en-US" dirty="0" smtClean="0"/>
              <a:t> for J/</a:t>
            </a:r>
            <a:r>
              <a:rPr lang="en-US" dirty="0" smtClean="0">
                <a:latin typeface="Symbol" charset="2"/>
                <a:cs typeface="Symbol" charset="2"/>
              </a:rPr>
              <a:t>y</a:t>
            </a:r>
            <a:r>
              <a:rPr lang="en-US" dirty="0" smtClean="0"/>
              <a:t> </a:t>
            </a:r>
            <a:r>
              <a:rPr lang="en-US" dirty="0" err="1" smtClean="0">
                <a:sym typeface="Wingdings"/>
              </a:rPr>
              <a:t></a:t>
            </a:r>
            <a:r>
              <a:rPr lang="en-US" dirty="0" smtClean="0">
                <a:sym typeface="Wingdings"/>
              </a:rPr>
              <a:t> </a:t>
            </a:r>
            <a:r>
              <a:rPr lang="en-US" dirty="0" err="1" smtClean="0">
                <a:sym typeface="Wingdings"/>
              </a:rPr>
              <a:t>e</a:t>
            </a:r>
            <a:r>
              <a:rPr lang="en-US" baseline="30000" dirty="0" err="1" smtClean="0">
                <a:sym typeface="Wingdings"/>
              </a:rPr>
              <a:t>+</a:t>
            </a:r>
            <a:r>
              <a:rPr lang="en-US" dirty="0" err="1" smtClean="0">
                <a:sym typeface="Wingdings"/>
              </a:rPr>
              <a:t>e</a:t>
            </a:r>
            <a:r>
              <a:rPr lang="en-US" baseline="30000" dirty="0" smtClean="0">
                <a:sym typeface="Wingdings"/>
              </a:rPr>
              <a:t>-</a:t>
            </a:r>
            <a:r>
              <a:rPr lang="en-US" dirty="0" smtClean="0"/>
              <a:t>.</a:t>
            </a:r>
          </a:p>
          <a:p>
            <a:endParaRPr lang="en-US" dirty="0" smtClean="0"/>
          </a:p>
          <a:p>
            <a:r>
              <a:rPr lang="en-US" dirty="0" smtClean="0"/>
              <a:t>Would expect PHENIX </a:t>
            </a:r>
            <a:br>
              <a:rPr lang="en-US" dirty="0" smtClean="0"/>
            </a:br>
            <a:r>
              <a:rPr lang="en-US" dirty="0" smtClean="0"/>
              <a:t>points to be higher due to</a:t>
            </a:r>
            <a:br>
              <a:rPr lang="en-US" dirty="0" smtClean="0"/>
            </a:br>
            <a:r>
              <a:rPr lang="en-US" dirty="0" smtClean="0"/>
              <a:t>different centralities, but </a:t>
            </a:r>
            <a:br>
              <a:rPr lang="en-US" dirty="0" smtClean="0"/>
            </a:br>
            <a:r>
              <a:rPr lang="en-US" dirty="0" smtClean="0"/>
              <a:t>are in fact lower.</a:t>
            </a:r>
          </a:p>
          <a:p>
            <a:endParaRPr lang="en-US" dirty="0" smtClean="0"/>
          </a:p>
          <a:p>
            <a:r>
              <a:rPr lang="en-US" dirty="0" smtClean="0"/>
              <a:t>Consistent with an </a:t>
            </a:r>
            <a:r>
              <a:rPr lang="en-US" i="1" dirty="0" smtClean="0"/>
              <a:t>R</a:t>
            </a:r>
            <a:r>
              <a:rPr lang="en-US" baseline="-25000" dirty="0" smtClean="0"/>
              <a:t>AA </a:t>
            </a:r>
            <a:br>
              <a:rPr lang="en-US" baseline="-25000" dirty="0" smtClean="0"/>
            </a:br>
            <a:r>
              <a:rPr lang="en-US" dirty="0" smtClean="0"/>
              <a:t>that is flat in </a:t>
            </a:r>
            <a:r>
              <a:rPr lang="en-US" i="1" dirty="0" smtClean="0"/>
              <a:t>p</a:t>
            </a:r>
            <a:r>
              <a:rPr lang="en-US" baseline="-25000" dirty="0" smtClean="0"/>
              <a:t>T</a:t>
            </a:r>
            <a:r>
              <a:rPr lang="en-US" dirty="0" smtClean="0"/>
              <a:t>.</a:t>
            </a:r>
            <a:endParaRPr lang="en-US" baseline="-25000"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Slide Number Placeholder 4"/>
          <p:cNvSpPr>
            <a:spLocks noGrp="1"/>
          </p:cNvSpPr>
          <p:nvPr>
            <p:ph type="sldNum" sz="quarter" idx="12"/>
          </p:nvPr>
        </p:nvSpPr>
        <p:spPr/>
        <p:txBody>
          <a:bodyPr/>
          <a:lstStyle/>
          <a:p>
            <a:fld id="{22AA90A4-83E2-D54A-9E94-1DBBF1C3D7BD}" type="slidenum">
              <a:rPr lang="en-US" smtClean="0"/>
              <a:pPr/>
              <a:t>9</a:t>
            </a:fld>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pic>
        <p:nvPicPr>
          <p:cNvPr id="7" name="Content Placeholder 6" descr="raapt_run5and6_ppref_vs_star.gif"/>
          <p:cNvPicPr>
            <a:picLocks noChangeAspect="1"/>
          </p:cNvPicPr>
          <p:nvPr/>
        </p:nvPicPr>
        <p:blipFill>
          <a:blip r:embed="rId2"/>
          <a:srcRect l="5146" t="5556"/>
          <a:stretch>
            <a:fillRect/>
          </a:stretch>
        </p:blipFill>
        <p:spPr>
          <a:xfrm>
            <a:off x="4195160" y="2057400"/>
            <a:ext cx="4796440" cy="4114800"/>
          </a:xfrm>
          <a:prstGeom prst="rect">
            <a:avLst/>
          </a:prstGeom>
          <a:ln>
            <a:noFill/>
          </a:ln>
          <a:effectLst>
            <a:softEdge rad="112500"/>
          </a:effectLst>
        </p:spPr>
      </p:pic>
      <p:sp>
        <p:nvSpPr>
          <p:cNvPr id="8" name="TextBox 7"/>
          <p:cNvSpPr txBox="1"/>
          <p:nvPr/>
        </p:nvSpPr>
        <p:spPr>
          <a:xfrm>
            <a:off x="7418876" y="2819400"/>
            <a:ext cx="963124" cy="276999"/>
          </a:xfrm>
          <a:prstGeom prst="rect">
            <a:avLst/>
          </a:prstGeom>
          <a:noFill/>
        </p:spPr>
        <p:txBody>
          <a:bodyPr wrap="none" rtlCol="0">
            <a:spAutoFit/>
          </a:bodyPr>
          <a:lstStyle/>
          <a:p>
            <a:r>
              <a:rPr lang="en-US" sz="1200" dirty="0" smtClean="0">
                <a:solidFill>
                  <a:srgbClr val="FF00FF"/>
                </a:solidFill>
                <a:latin typeface="Arial"/>
                <a:cs typeface="Arial"/>
              </a:rPr>
              <a:t>0-60% cent</a:t>
            </a:r>
            <a:endParaRPr lang="en-US" sz="1200" dirty="0">
              <a:solidFill>
                <a:srgbClr val="FF00FF"/>
              </a:solidFill>
              <a:latin typeface="Arial"/>
              <a:cs typeface="Aria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Two-Component Model</a:t>
            </a:r>
            <a:endParaRPr lang="en-US" dirty="0"/>
          </a:p>
        </p:txBody>
      </p:sp>
      <p:sp>
        <p:nvSpPr>
          <p:cNvPr id="3" name="Content Placeholder 2"/>
          <p:cNvSpPr>
            <a:spLocks noGrp="1"/>
          </p:cNvSpPr>
          <p:nvPr>
            <p:ph idx="1"/>
          </p:nvPr>
        </p:nvSpPr>
        <p:spPr>
          <a:xfrm>
            <a:off x="457200" y="1143000"/>
            <a:ext cx="4572000" cy="4648200"/>
          </a:xfrm>
        </p:spPr>
        <p:txBody>
          <a:bodyPr/>
          <a:lstStyle/>
          <a:p>
            <a:r>
              <a:rPr lang="en-US" dirty="0" smtClean="0"/>
              <a:t>Includes direct (NN </a:t>
            </a:r>
            <a:r>
              <a:rPr lang="en-US" dirty="0" err="1" smtClean="0">
                <a:sym typeface="Wingdings"/>
              </a:rPr>
              <a:t></a:t>
            </a:r>
            <a:r>
              <a:rPr lang="en-US" dirty="0" smtClean="0">
                <a:sym typeface="Wingdings"/>
              </a:rPr>
              <a:t> J/</a:t>
            </a:r>
            <a:r>
              <a:rPr lang="en-US" dirty="0" smtClean="0">
                <a:latin typeface="Symbol" charset="2"/>
                <a:cs typeface="Symbol" charset="2"/>
                <a:sym typeface="Wingdings"/>
              </a:rPr>
              <a:t>y</a:t>
            </a:r>
            <a:r>
              <a:rPr lang="en-US" dirty="0" smtClean="0"/>
              <a:t>) and coalescence contributions.</a:t>
            </a:r>
          </a:p>
          <a:p>
            <a:pPr lvl="1"/>
            <a:r>
              <a:rPr lang="en-US" dirty="0" smtClean="0"/>
              <a:t>Coalescence mainly at low-</a:t>
            </a:r>
            <a:r>
              <a:rPr lang="en-US" i="1" dirty="0" smtClean="0"/>
              <a:t>p</a:t>
            </a:r>
            <a:r>
              <a:rPr lang="en-US" baseline="-25000" dirty="0" smtClean="0"/>
              <a:t>T</a:t>
            </a:r>
            <a:r>
              <a:rPr lang="en-US" dirty="0" smtClean="0"/>
              <a:t> and central collisions.</a:t>
            </a:r>
          </a:p>
          <a:p>
            <a:endParaRPr lang="en-US" dirty="0" smtClean="0"/>
          </a:p>
          <a:p>
            <a:r>
              <a:rPr lang="en-US" dirty="0" smtClean="0"/>
              <a:t>Leads to </a:t>
            </a:r>
            <a:r>
              <a:rPr lang="en-US" i="1" dirty="0" smtClean="0"/>
              <a:t>R</a:t>
            </a:r>
            <a:r>
              <a:rPr lang="en-US" baseline="-25000" dirty="0" smtClean="0"/>
              <a:t>AA</a:t>
            </a:r>
            <a:r>
              <a:rPr lang="en-US" dirty="0" smtClean="0"/>
              <a:t> that is flat or gradually decreases at high-</a:t>
            </a:r>
            <a:r>
              <a:rPr lang="en-US" i="1" dirty="0" smtClean="0"/>
              <a:t>p</a:t>
            </a:r>
            <a:r>
              <a:rPr lang="en-US" baseline="-25000" dirty="0" smtClean="0"/>
              <a:t>T</a:t>
            </a:r>
            <a:r>
              <a:rPr lang="en-US" dirty="0" smtClean="0"/>
              <a:t>.</a:t>
            </a:r>
          </a:p>
          <a:p>
            <a:endParaRPr lang="en-US" dirty="0" smtClean="0"/>
          </a:p>
          <a:p>
            <a:r>
              <a:rPr lang="en-US" dirty="0" smtClean="0"/>
              <a:t>Not ruled out by PHENIX data.</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Footer Placeholder 4"/>
          <p:cNvSpPr>
            <a:spLocks noGrp="1"/>
          </p:cNvSpPr>
          <p:nvPr>
            <p:ph type="ftr" sz="quarter" idx="11"/>
          </p:nvPr>
        </p:nvSpPr>
        <p:spPr/>
        <p:txBody>
          <a:bodyPr/>
          <a:lstStyle/>
          <a:p>
            <a:r>
              <a:rPr lang="en-US" smtClean="0"/>
              <a:t>M. Wysocki - DNP2008</a:t>
            </a:r>
            <a:endParaRPr lang="en-US" dirty="0"/>
          </a:p>
        </p:txBody>
      </p:sp>
      <p:sp>
        <p:nvSpPr>
          <p:cNvPr id="6" name="Slide Number Placeholder 5"/>
          <p:cNvSpPr>
            <a:spLocks noGrp="1"/>
          </p:cNvSpPr>
          <p:nvPr>
            <p:ph type="sldNum" sz="quarter" idx="12"/>
          </p:nvPr>
        </p:nvSpPr>
        <p:spPr/>
        <p:txBody>
          <a:bodyPr/>
          <a:lstStyle/>
          <a:p>
            <a:fld id="{22AA90A4-83E2-D54A-9E94-1DBBF1C3D7BD}" type="slidenum">
              <a:rPr lang="en-US" smtClean="0"/>
              <a:pPr/>
              <a:t>10</a:t>
            </a:fld>
            <a:endParaRPr lang="en-US"/>
          </a:p>
        </p:txBody>
      </p:sp>
      <p:grpSp>
        <p:nvGrpSpPr>
          <p:cNvPr id="13" name="Group 12"/>
          <p:cNvGrpSpPr/>
          <p:nvPr/>
        </p:nvGrpSpPr>
        <p:grpSpPr>
          <a:xfrm>
            <a:off x="5105400" y="1143000"/>
            <a:ext cx="3783047" cy="4876800"/>
            <a:chOff x="5486400" y="1143000"/>
            <a:chExt cx="3402047" cy="4572262"/>
          </a:xfrm>
        </p:grpSpPr>
        <p:pic>
          <p:nvPicPr>
            <p:cNvPr id="9" name="Picture 8"/>
            <p:cNvPicPr>
              <a:picLocks noChangeAspect="1"/>
            </p:cNvPicPr>
            <p:nvPr/>
          </p:nvPicPr>
          <p:blipFill>
            <a:blip r:embed="rId2"/>
            <a:stretch>
              <a:fillRect/>
            </a:stretch>
          </p:blipFill>
          <p:spPr>
            <a:xfrm>
              <a:off x="5486401" y="5429249"/>
              <a:ext cx="3402046" cy="286013"/>
            </a:xfrm>
            <a:prstGeom prst="rect">
              <a:avLst/>
            </a:prstGeom>
          </p:spPr>
        </p:pic>
        <p:pic>
          <p:nvPicPr>
            <p:cNvPr id="11" name="Picture 10" descr="raapt4.3.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5486401" y="1143000"/>
              <a:ext cx="3402046" cy="2166693"/>
            </a:xfrm>
            <a:prstGeom prst="rect">
              <a:avLst/>
            </a:prstGeom>
            <a:solidFill>
              <a:schemeClr val="bg1"/>
            </a:solidFill>
          </p:spPr>
        </p:pic>
        <p:pic>
          <p:nvPicPr>
            <p:cNvPr id="12" name="Picture 11" descr="raapt10.2.pdf"/>
            <p:cNvPicPr>
              <a:picLocks noChangeAspect="1"/>
            </p:cNvPicPr>
            <p:nvPr/>
          </p:nvPicPr>
          <mc:AlternateContent>
            <mc:Choice xmlns:ma="http://schemas.microsoft.com/office/mac/drawingml/2008/main" Requires="ma">
              <p:blipFill>
                <a:blip r:embed="rId5"/>
                <a:stretch>
                  <a:fillRect/>
                </a:stretch>
              </p:blipFill>
            </mc:Choice>
            <mc:Fallback>
              <p:blipFill>
                <a:blip r:embed="rId6"/>
                <a:stretch>
                  <a:fillRect/>
                </a:stretch>
              </p:blipFill>
            </mc:Fallback>
          </mc:AlternateContent>
          <p:spPr>
            <a:xfrm>
              <a:off x="5486400" y="3276600"/>
              <a:ext cx="3390435" cy="2159298"/>
            </a:xfrm>
            <a:prstGeom prst="rect">
              <a:avLst/>
            </a:prstGeom>
            <a:solidFill>
              <a:schemeClr val="bg1"/>
            </a:solidFill>
          </p:spPr>
        </p:pic>
      </p:grpSp>
      <p:sp>
        <p:nvSpPr>
          <p:cNvPr id="14" name="TextBox 13"/>
          <p:cNvSpPr txBox="1"/>
          <p:nvPr/>
        </p:nvSpPr>
        <p:spPr>
          <a:xfrm>
            <a:off x="5791200" y="6018311"/>
            <a:ext cx="2550548" cy="307777"/>
          </a:xfrm>
          <a:prstGeom prst="rect">
            <a:avLst/>
          </a:prstGeom>
          <a:noFill/>
        </p:spPr>
        <p:txBody>
          <a:bodyPr wrap="none" rtlCol="0">
            <a:spAutoFit/>
          </a:bodyPr>
          <a:lstStyle/>
          <a:p>
            <a:r>
              <a:rPr lang="en-US" sz="1400" dirty="0" smtClean="0"/>
              <a:t>X. Zhao &amp; R. Rapp, 0712.2407v3</a:t>
            </a:r>
            <a:endParaRPr lang="en-US"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 name="Picture 6"/>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4566842" y="1905000"/>
            <a:ext cx="4043758" cy="2895600"/>
          </a:xfrm>
          <a:prstGeom prst="rect">
            <a:avLst/>
          </a:prstGeom>
          <a:ln>
            <a:noFill/>
          </a:ln>
          <a:effectLst/>
        </p:spPr>
      </p:pic>
      <p:sp>
        <p:nvSpPr>
          <p:cNvPr id="2" name="Title 1"/>
          <p:cNvSpPr>
            <a:spLocks noGrp="1"/>
          </p:cNvSpPr>
          <p:nvPr>
            <p:ph type="title"/>
          </p:nvPr>
        </p:nvSpPr>
        <p:spPr/>
        <p:txBody>
          <a:bodyPr/>
          <a:lstStyle/>
          <a:p>
            <a:r>
              <a:rPr lang="en-US" dirty="0" smtClean="0"/>
              <a:t>Hot Wind Model</a:t>
            </a:r>
            <a:endParaRPr lang="en-US" dirty="0"/>
          </a:p>
        </p:txBody>
      </p:sp>
      <p:sp>
        <p:nvSpPr>
          <p:cNvPr id="3" name="Content Placeholder 2"/>
          <p:cNvSpPr>
            <a:spLocks noGrp="1"/>
          </p:cNvSpPr>
          <p:nvPr>
            <p:ph idx="1"/>
          </p:nvPr>
        </p:nvSpPr>
        <p:spPr>
          <a:xfrm>
            <a:off x="914400" y="1143000"/>
            <a:ext cx="7313613" cy="5105400"/>
          </a:xfrm>
        </p:spPr>
        <p:txBody>
          <a:bodyPr>
            <a:normAutofit lnSpcReduction="10000"/>
          </a:bodyPr>
          <a:lstStyle/>
          <a:p>
            <a:r>
              <a:rPr lang="en-US" dirty="0" smtClean="0"/>
              <a:t>Uses </a:t>
            </a:r>
            <a:r>
              <a:rPr lang="en-US" dirty="0" err="1" smtClean="0"/>
              <a:t>AdS</a:t>
            </a:r>
            <a:r>
              <a:rPr lang="en-US" dirty="0" smtClean="0"/>
              <a:t>/CFT correspondence to model velocity-dependence of the screening length for heavy quarkonia.</a:t>
            </a:r>
          </a:p>
          <a:p>
            <a:endParaRPr lang="en-US" dirty="0" smtClean="0"/>
          </a:p>
          <a:p>
            <a:r>
              <a:rPr lang="en-US" dirty="0" smtClean="0"/>
              <a:t>Predicts a decrease of </a:t>
            </a:r>
            <a:br>
              <a:rPr lang="en-US" dirty="0" smtClean="0"/>
            </a:br>
            <a:r>
              <a:rPr lang="en-US" dirty="0" smtClean="0"/>
              <a:t>the J/</a:t>
            </a:r>
            <a:r>
              <a:rPr lang="en-US" dirty="0" smtClean="0">
                <a:latin typeface="Symbol" charset="2"/>
                <a:cs typeface="Symbol" charset="2"/>
              </a:rPr>
              <a:t>y</a:t>
            </a:r>
            <a:r>
              <a:rPr lang="en-US" dirty="0" smtClean="0"/>
              <a:t> dissociation </a:t>
            </a:r>
            <a:br>
              <a:rPr lang="en-US" dirty="0" smtClean="0"/>
            </a:br>
            <a:r>
              <a:rPr lang="en-US" dirty="0" smtClean="0"/>
              <a:t>temperature at </a:t>
            </a:r>
            <a:br>
              <a:rPr lang="en-US" dirty="0" smtClean="0"/>
            </a:br>
            <a:r>
              <a:rPr lang="en-US" dirty="0" smtClean="0"/>
              <a:t>increasing </a:t>
            </a:r>
            <a:r>
              <a:rPr lang="en-US" i="1" dirty="0" smtClean="0"/>
              <a:t>p</a:t>
            </a:r>
            <a:r>
              <a:rPr lang="en-US" baseline="-25000" dirty="0" smtClean="0"/>
              <a:t>T</a:t>
            </a:r>
            <a:r>
              <a:rPr lang="en-US" dirty="0" smtClean="0"/>
              <a:t>.</a:t>
            </a:r>
          </a:p>
          <a:p>
            <a:endParaRPr lang="en-US" dirty="0" smtClean="0"/>
          </a:p>
          <a:p>
            <a:r>
              <a:rPr lang="en-US" dirty="0" smtClean="0"/>
              <a:t>Experimentally, this would lead to an increasing cutoff in </a:t>
            </a:r>
            <a:r>
              <a:rPr lang="en-US" i="1" dirty="0" smtClean="0"/>
              <a:t>p</a:t>
            </a:r>
            <a:r>
              <a:rPr lang="en-US" baseline="-25000" dirty="0" smtClean="0"/>
              <a:t>T</a:t>
            </a:r>
            <a:r>
              <a:rPr lang="en-US" dirty="0" smtClean="0"/>
              <a:t> where the J/</a:t>
            </a:r>
            <a:r>
              <a:rPr lang="en-US" dirty="0" smtClean="0">
                <a:latin typeface="Symbol" charset="2"/>
                <a:cs typeface="Symbol" charset="2"/>
              </a:rPr>
              <a:t>y</a:t>
            </a:r>
            <a:r>
              <a:rPr lang="en-US" dirty="0" smtClean="0"/>
              <a:t> suppression quickly turns on as we go from central to peripheral collisions.</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Slide Number Placeholder 4"/>
          <p:cNvSpPr>
            <a:spLocks noGrp="1"/>
          </p:cNvSpPr>
          <p:nvPr>
            <p:ph type="sldNum" sz="quarter" idx="12"/>
          </p:nvPr>
        </p:nvSpPr>
        <p:spPr/>
        <p:txBody>
          <a:bodyPr/>
          <a:lstStyle/>
          <a:p>
            <a:fld id="{22AA90A4-83E2-D54A-9E94-1DBBF1C3D7BD}" type="slidenum">
              <a:rPr lang="en-US" smtClean="0"/>
              <a:pPr/>
              <a:t>11</a:t>
            </a:fld>
            <a:endParaRPr lang="en-US"/>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
        <p:nvSpPr>
          <p:cNvPr id="8" name="TextBox 7"/>
          <p:cNvSpPr txBox="1"/>
          <p:nvPr/>
        </p:nvSpPr>
        <p:spPr>
          <a:xfrm>
            <a:off x="4909527" y="4724400"/>
            <a:ext cx="3624873" cy="307777"/>
          </a:xfrm>
          <a:prstGeom prst="rect">
            <a:avLst/>
          </a:prstGeom>
          <a:noFill/>
        </p:spPr>
        <p:txBody>
          <a:bodyPr wrap="none" rtlCol="0">
            <a:spAutoFit/>
          </a:bodyPr>
          <a:lstStyle/>
          <a:p>
            <a:r>
              <a:rPr lang="en-US" sz="1400" dirty="0" smtClean="0"/>
              <a:t>Liu, </a:t>
            </a:r>
            <a:r>
              <a:rPr lang="en-US" sz="1400" dirty="0" err="1" smtClean="0"/>
              <a:t>Rajagopal</a:t>
            </a:r>
            <a:r>
              <a:rPr lang="en-US" sz="1400" dirty="0" smtClean="0"/>
              <a:t>, </a:t>
            </a:r>
            <a:r>
              <a:rPr lang="en-US" sz="1400" dirty="0" err="1" smtClean="0"/>
              <a:t>Wiedemann</a:t>
            </a:r>
            <a:r>
              <a:rPr lang="en-US" sz="1400" dirty="0" smtClean="0"/>
              <a:t>, hep-ph/0607062v3</a:t>
            </a:r>
            <a:endParaRPr lang="en-US" sz="1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 name="Picture 6"/>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4481111" y="2057400"/>
            <a:ext cx="4043758" cy="2895600"/>
          </a:xfrm>
          <a:prstGeom prst="rect">
            <a:avLst/>
          </a:prstGeom>
          <a:ln>
            <a:noFill/>
          </a:ln>
          <a:effectLst/>
        </p:spPr>
      </p:pic>
      <p:sp>
        <p:nvSpPr>
          <p:cNvPr id="2" name="Title 1"/>
          <p:cNvSpPr>
            <a:spLocks noGrp="1"/>
          </p:cNvSpPr>
          <p:nvPr>
            <p:ph type="title"/>
          </p:nvPr>
        </p:nvSpPr>
        <p:spPr/>
        <p:txBody>
          <a:bodyPr/>
          <a:lstStyle/>
          <a:p>
            <a:r>
              <a:rPr lang="en-US" dirty="0" smtClean="0"/>
              <a:t>Hot Wind Model</a:t>
            </a:r>
            <a:endParaRPr lang="en-US" dirty="0"/>
          </a:p>
        </p:txBody>
      </p:sp>
      <p:sp>
        <p:nvSpPr>
          <p:cNvPr id="3" name="Content Placeholder 2"/>
          <p:cNvSpPr>
            <a:spLocks noGrp="1"/>
          </p:cNvSpPr>
          <p:nvPr>
            <p:ph idx="1"/>
          </p:nvPr>
        </p:nvSpPr>
        <p:spPr>
          <a:xfrm>
            <a:off x="914400" y="1143000"/>
            <a:ext cx="7313613" cy="5105400"/>
          </a:xfrm>
        </p:spPr>
        <p:txBody>
          <a:bodyPr>
            <a:normAutofit lnSpcReduction="10000"/>
          </a:bodyPr>
          <a:lstStyle/>
          <a:p>
            <a:r>
              <a:rPr lang="en-US" dirty="0" smtClean="0"/>
              <a:t>Uses </a:t>
            </a:r>
            <a:r>
              <a:rPr lang="en-US" dirty="0" err="1" smtClean="0"/>
              <a:t>AdS</a:t>
            </a:r>
            <a:r>
              <a:rPr lang="en-US" dirty="0" smtClean="0"/>
              <a:t>/CFT correspondence to model velocity-dependence of the screening length for heavy quarkonia.</a:t>
            </a:r>
          </a:p>
          <a:p>
            <a:endParaRPr lang="en-US" dirty="0" smtClean="0"/>
          </a:p>
          <a:p>
            <a:r>
              <a:rPr lang="en-US" dirty="0" smtClean="0"/>
              <a:t>Predicts a decrease of </a:t>
            </a:r>
            <a:br>
              <a:rPr lang="en-US" dirty="0" smtClean="0"/>
            </a:br>
            <a:r>
              <a:rPr lang="en-US" dirty="0" smtClean="0"/>
              <a:t>the J/</a:t>
            </a:r>
            <a:r>
              <a:rPr lang="en-US" dirty="0" smtClean="0">
                <a:latin typeface="Symbol" charset="2"/>
                <a:cs typeface="Symbol" charset="2"/>
              </a:rPr>
              <a:t>y</a:t>
            </a:r>
            <a:r>
              <a:rPr lang="en-US" dirty="0" smtClean="0"/>
              <a:t> dissociation </a:t>
            </a:r>
            <a:br>
              <a:rPr lang="en-US" dirty="0" smtClean="0"/>
            </a:br>
            <a:r>
              <a:rPr lang="en-US" dirty="0" smtClean="0"/>
              <a:t>temperature at </a:t>
            </a:r>
            <a:br>
              <a:rPr lang="en-US" dirty="0" smtClean="0"/>
            </a:br>
            <a:r>
              <a:rPr lang="en-US" dirty="0" smtClean="0"/>
              <a:t>increasing </a:t>
            </a:r>
            <a:r>
              <a:rPr lang="en-US" i="1" dirty="0" smtClean="0"/>
              <a:t>p</a:t>
            </a:r>
            <a:r>
              <a:rPr lang="en-US" baseline="-25000" dirty="0" smtClean="0"/>
              <a:t>T</a:t>
            </a:r>
            <a:r>
              <a:rPr lang="en-US" dirty="0" smtClean="0"/>
              <a:t>.</a:t>
            </a:r>
          </a:p>
          <a:p>
            <a:endParaRPr lang="en-US" dirty="0" smtClean="0"/>
          </a:p>
          <a:p>
            <a:r>
              <a:rPr lang="en-US" dirty="0" smtClean="0"/>
              <a:t>Experimentally, this would lead to an increasing cutoff in </a:t>
            </a:r>
            <a:r>
              <a:rPr lang="en-US" i="1" dirty="0" smtClean="0"/>
              <a:t>p</a:t>
            </a:r>
            <a:r>
              <a:rPr lang="en-US" baseline="-25000" dirty="0" smtClean="0"/>
              <a:t>T</a:t>
            </a:r>
            <a:r>
              <a:rPr lang="en-US" dirty="0" smtClean="0"/>
              <a:t> where the J/</a:t>
            </a:r>
            <a:r>
              <a:rPr lang="en-US" dirty="0" smtClean="0">
                <a:latin typeface="Symbol" charset="2"/>
                <a:cs typeface="Symbol" charset="2"/>
              </a:rPr>
              <a:t>y</a:t>
            </a:r>
            <a:r>
              <a:rPr lang="en-US" dirty="0" smtClean="0"/>
              <a:t> suppression quickly turns on as we go from central to peripheral collisions.</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Slide Number Placeholder 4"/>
          <p:cNvSpPr>
            <a:spLocks noGrp="1"/>
          </p:cNvSpPr>
          <p:nvPr>
            <p:ph type="sldNum" sz="quarter" idx="12"/>
          </p:nvPr>
        </p:nvSpPr>
        <p:spPr/>
        <p:txBody>
          <a:bodyPr/>
          <a:lstStyle/>
          <a:p>
            <a:r>
              <a:rPr lang="en-US" dirty="0" smtClean="0"/>
              <a:t>11</a:t>
            </a:r>
            <a:endParaRPr lang="en-US" dirty="0"/>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grpSp>
        <p:nvGrpSpPr>
          <p:cNvPr id="10" name="Group 9"/>
          <p:cNvGrpSpPr/>
          <p:nvPr/>
        </p:nvGrpSpPr>
        <p:grpSpPr>
          <a:xfrm>
            <a:off x="901700" y="990600"/>
            <a:ext cx="7632700" cy="5353050"/>
            <a:chOff x="901700" y="971550"/>
            <a:chExt cx="7632700" cy="5353050"/>
          </a:xfrm>
        </p:grpSpPr>
        <p:pic>
          <p:nvPicPr>
            <p:cNvPr id="8" name="Picture 45" descr="saa_pt_hw_free2"/>
            <p:cNvPicPr>
              <a:picLocks noChangeAspect="1" noChangeArrowheads="1"/>
            </p:cNvPicPr>
            <p:nvPr/>
          </p:nvPicPr>
          <p:blipFill>
            <a:blip r:embed="rId4"/>
            <a:srcRect/>
            <a:stretch>
              <a:fillRect/>
            </a:stretch>
          </p:blipFill>
          <p:spPr bwMode="auto">
            <a:xfrm>
              <a:off x="901700" y="971550"/>
              <a:ext cx="7632700" cy="5353050"/>
            </a:xfrm>
            <a:prstGeom prst="rect">
              <a:avLst/>
            </a:prstGeom>
            <a:noFill/>
          </p:spPr>
        </p:pic>
        <p:sp>
          <p:nvSpPr>
            <p:cNvPr id="9" name="TextBox 8"/>
            <p:cNvSpPr txBox="1"/>
            <p:nvPr/>
          </p:nvSpPr>
          <p:spPr>
            <a:xfrm>
              <a:off x="5489242" y="5486400"/>
              <a:ext cx="2587958" cy="307764"/>
            </a:xfrm>
            <a:prstGeom prst="rect">
              <a:avLst/>
            </a:prstGeom>
            <a:noFill/>
          </p:spPr>
          <p:txBody>
            <a:bodyPr wrap="none" lIns="91429" tIns="45714" rIns="91429" bIns="45714" rtlCol="0">
              <a:spAutoFit/>
            </a:bodyPr>
            <a:lstStyle/>
            <a:p>
              <a:r>
                <a:rPr lang="en-US" sz="1400" dirty="0" smtClean="0"/>
                <a:t>From </a:t>
              </a:r>
              <a:r>
                <a:rPr lang="en-US" sz="1400" dirty="0" err="1" smtClean="0"/>
                <a:t>Taku</a:t>
              </a:r>
              <a:r>
                <a:rPr lang="en-US" sz="1400" dirty="0" smtClean="0"/>
                <a:t> </a:t>
              </a:r>
              <a:r>
                <a:rPr lang="en-US" sz="1400" dirty="0" err="1" smtClean="0"/>
                <a:t>Gunji’s</a:t>
              </a:r>
              <a:r>
                <a:rPr lang="en-US" sz="1400" dirty="0" smtClean="0"/>
                <a:t> QM2008 talk.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PHENIX has measured J/</a:t>
            </a:r>
            <a:r>
              <a:rPr lang="en-US" dirty="0" smtClean="0">
                <a:latin typeface="Symbol" charset="2"/>
                <a:cs typeface="Symbol" charset="2"/>
              </a:rPr>
              <a:t>y</a:t>
            </a:r>
            <a:r>
              <a:rPr lang="en-US" dirty="0" smtClean="0"/>
              <a:t> </a:t>
            </a:r>
            <a:r>
              <a:rPr lang="en-US" i="1" dirty="0" smtClean="0"/>
              <a:t>R</a:t>
            </a:r>
            <a:r>
              <a:rPr lang="en-US" baseline="-25000" dirty="0" smtClean="0"/>
              <a:t>AA</a:t>
            </a:r>
            <a:r>
              <a:rPr lang="en-US" dirty="0" smtClean="0"/>
              <a:t> as functions of </a:t>
            </a:r>
            <a:r>
              <a:rPr lang="en-US" i="1" dirty="0" err="1" smtClean="0"/>
              <a:t>N</a:t>
            </a:r>
            <a:r>
              <a:rPr lang="en-US" baseline="-25000" dirty="0" err="1" smtClean="0"/>
              <a:t>part</a:t>
            </a:r>
            <a:r>
              <a:rPr lang="en-US" dirty="0" smtClean="0"/>
              <a:t> and </a:t>
            </a:r>
            <a:r>
              <a:rPr lang="en-US" i="1" dirty="0" smtClean="0"/>
              <a:t>p</a:t>
            </a:r>
            <a:r>
              <a:rPr lang="en-US" baseline="-25000" dirty="0" smtClean="0"/>
              <a:t>T</a:t>
            </a:r>
            <a:r>
              <a:rPr lang="en-US" dirty="0" smtClean="0"/>
              <a:t> in 200 </a:t>
            </a:r>
            <a:r>
              <a:rPr lang="en-US" dirty="0" err="1" smtClean="0"/>
              <a:t>GeV</a:t>
            </a:r>
            <a:r>
              <a:rPr lang="en-US" dirty="0" smtClean="0"/>
              <a:t> </a:t>
            </a:r>
            <a:r>
              <a:rPr lang="en-US" dirty="0" err="1" smtClean="0"/>
              <a:t>Au+Au</a:t>
            </a:r>
            <a:r>
              <a:rPr lang="en-US" dirty="0" smtClean="0"/>
              <a:t> and </a:t>
            </a:r>
            <a:r>
              <a:rPr lang="en-US" dirty="0" err="1" smtClean="0"/>
              <a:t>Cu+Cu</a:t>
            </a:r>
            <a:r>
              <a:rPr lang="en-US" dirty="0" smtClean="0"/>
              <a:t> collisions.</a:t>
            </a:r>
          </a:p>
          <a:p>
            <a:pPr lvl="1"/>
            <a:r>
              <a:rPr lang="en-US" dirty="0" smtClean="0"/>
              <a:t>Suppression in central collisions.</a:t>
            </a:r>
          </a:p>
          <a:p>
            <a:pPr lvl="1"/>
            <a:endParaRPr lang="en-US" i="1" dirty="0" smtClean="0"/>
          </a:p>
          <a:p>
            <a:r>
              <a:rPr lang="en-US" i="1" dirty="0" smtClean="0"/>
              <a:t>R</a:t>
            </a:r>
            <a:r>
              <a:rPr lang="en-US" baseline="-25000" dirty="0" smtClean="0"/>
              <a:t>AA</a:t>
            </a:r>
            <a:r>
              <a:rPr lang="en-US" dirty="0" smtClean="0"/>
              <a:t> vs. </a:t>
            </a:r>
            <a:r>
              <a:rPr lang="en-US" i="1" dirty="0" smtClean="0"/>
              <a:t>p</a:t>
            </a:r>
            <a:r>
              <a:rPr lang="en-US" baseline="-25000" dirty="0" smtClean="0"/>
              <a:t>T</a:t>
            </a:r>
            <a:r>
              <a:rPr lang="en-US" dirty="0" smtClean="0"/>
              <a:t> now extends to 10GeV/c in </a:t>
            </a:r>
            <a:r>
              <a:rPr lang="en-US" dirty="0" err="1" smtClean="0"/>
              <a:t>Cu+Cu</a:t>
            </a:r>
            <a:r>
              <a:rPr lang="en-US" dirty="0" smtClean="0"/>
              <a:t>.</a:t>
            </a:r>
          </a:p>
          <a:p>
            <a:pPr lvl="1"/>
            <a:r>
              <a:rPr lang="en-US" dirty="0" smtClean="0"/>
              <a:t>Large suppression seen at low-</a:t>
            </a:r>
            <a:r>
              <a:rPr lang="en-US" i="1" dirty="0" smtClean="0"/>
              <a:t>p</a:t>
            </a:r>
            <a:r>
              <a:rPr lang="en-US" baseline="-25000" dirty="0" smtClean="0"/>
              <a:t>T</a:t>
            </a:r>
            <a:r>
              <a:rPr lang="en-US" dirty="0" smtClean="0"/>
              <a:t> extends through 7GeV/c.</a:t>
            </a:r>
          </a:p>
          <a:p>
            <a:pPr lvl="1"/>
            <a:endParaRPr lang="en-US" dirty="0" smtClean="0"/>
          </a:p>
          <a:p>
            <a:r>
              <a:rPr lang="en-US" i="1" dirty="0" smtClean="0"/>
              <a:t>R</a:t>
            </a:r>
            <a:r>
              <a:rPr lang="en-US" baseline="-25000" dirty="0" smtClean="0"/>
              <a:t>AA</a:t>
            </a:r>
            <a:r>
              <a:rPr lang="en-US" dirty="0" smtClean="0"/>
              <a:t> is consistent with a flat function of </a:t>
            </a:r>
            <a:r>
              <a:rPr lang="en-US" i="1" dirty="0" smtClean="0"/>
              <a:t>p</a:t>
            </a:r>
            <a:r>
              <a:rPr lang="en-US" baseline="-25000" dirty="0" smtClean="0"/>
              <a:t>T</a:t>
            </a:r>
            <a:r>
              <a:rPr lang="en-US" dirty="0" smtClean="0"/>
              <a:t> in </a:t>
            </a:r>
            <a:r>
              <a:rPr lang="en-US" dirty="0" err="1" smtClean="0"/>
              <a:t>Cu+Cu</a:t>
            </a:r>
            <a:r>
              <a:rPr lang="en-US" dirty="0" smtClean="0"/>
              <a:t> collisions, and a flat or rising function in </a:t>
            </a:r>
            <a:r>
              <a:rPr lang="en-US" dirty="0" err="1" smtClean="0"/>
              <a:t>Au+Au</a:t>
            </a:r>
            <a:r>
              <a:rPr lang="en-US" dirty="0" smtClean="0"/>
              <a:t>.</a:t>
            </a:r>
          </a:p>
          <a:p>
            <a:pPr lvl="1"/>
            <a:r>
              <a:rPr lang="en-US" dirty="0" smtClean="0"/>
              <a:t>Is not consistent with sharp increase in suppression at some </a:t>
            </a:r>
            <a:r>
              <a:rPr lang="en-US" i="1" dirty="0" smtClean="0"/>
              <a:t>p</a:t>
            </a:r>
            <a:r>
              <a:rPr lang="en-US" baseline="-25000" dirty="0" smtClean="0"/>
              <a:t>T</a:t>
            </a:r>
            <a:r>
              <a:rPr lang="en-US" dirty="0" smtClean="0"/>
              <a:t>, as in the “hot wind” model.</a:t>
            </a:r>
          </a:p>
          <a:p>
            <a:pPr lvl="3"/>
            <a:endParaRPr lang="en-US" dirty="0" smtClean="0"/>
          </a:p>
          <a:p>
            <a:pPr lvl="1"/>
            <a:r>
              <a:rPr lang="en-US" dirty="0" smtClean="0"/>
              <a:t>Two-component model not ruled out, but really must be compared at higher </a:t>
            </a:r>
            <a:r>
              <a:rPr lang="en-US" i="1" dirty="0" smtClean="0"/>
              <a:t>p</a:t>
            </a:r>
            <a:r>
              <a:rPr lang="en-US" baseline="-25000" dirty="0" smtClean="0"/>
              <a:t>T</a:t>
            </a:r>
            <a:r>
              <a:rPr lang="en-US" dirty="0" smtClean="0"/>
              <a:t>.</a:t>
            </a:r>
            <a:endParaRPr lang="en-US" dirty="0"/>
          </a:p>
        </p:txBody>
      </p:sp>
      <p:sp>
        <p:nvSpPr>
          <p:cNvPr id="4" name="Date Placeholder 3"/>
          <p:cNvSpPr>
            <a:spLocks noGrp="1"/>
          </p:cNvSpPr>
          <p:nvPr>
            <p:ph type="dt" sz="half" idx="10"/>
          </p:nvPr>
        </p:nvSpPr>
        <p:spPr/>
        <p:txBody>
          <a:bodyPr/>
          <a:lstStyle/>
          <a:p>
            <a:r>
              <a:rPr lang="en-US" smtClean="0"/>
              <a:t>10/25/08</a:t>
            </a:r>
            <a:endParaRPr lang="en-US"/>
          </a:p>
        </p:txBody>
      </p:sp>
      <p:sp>
        <p:nvSpPr>
          <p:cNvPr id="5" name="Slide Number Placeholder 4"/>
          <p:cNvSpPr>
            <a:spLocks noGrp="1"/>
          </p:cNvSpPr>
          <p:nvPr>
            <p:ph type="sldNum" sz="quarter" idx="12"/>
          </p:nvPr>
        </p:nvSpPr>
        <p:spPr/>
        <p:txBody>
          <a:bodyPr/>
          <a:lstStyle/>
          <a:p>
            <a:r>
              <a:rPr lang="en-US" dirty="0" smtClean="0"/>
              <a:t>12</a:t>
            </a:r>
          </a:p>
        </p:txBody>
      </p:sp>
      <p:sp>
        <p:nvSpPr>
          <p:cNvPr id="6" name="Footer Placeholder 5"/>
          <p:cNvSpPr>
            <a:spLocks noGrp="1"/>
          </p:cNvSpPr>
          <p:nvPr>
            <p:ph type="ftr" sz="quarter" idx="11"/>
          </p:nvPr>
        </p:nvSpPr>
        <p:spPr/>
        <p:txBody>
          <a:bodyPr/>
          <a:lstStyle/>
          <a:p>
            <a:r>
              <a:rPr lang="en-US" dirty="0" smtClean="0"/>
              <a:t>M. Wysocki - DNP2008</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4" Type="http://schemas.openxmlformats.org/officeDocument/2006/relationships/image" Target="../media/image4.jpeg"/><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5" Type="http://schemas.openxmlformats.org/officeDocument/2006/relationships/image" Target="../media/image5.jpeg"/></Relationships>
</file>

<file path=ppt/theme/theme1.xml><?xml version="1.0" encoding="utf-8"?>
<a:theme xmlns:a="http://schemas.openxmlformats.org/drawingml/2006/main" name="Inkwell">
  <a:themeElements>
    <a:clrScheme name="Inkwell">
      <a:dk1>
        <a:sysClr val="windowText" lastClr="000000"/>
      </a:dk1>
      <a:lt1>
        <a:sysClr val="window" lastClr="FFFFFF"/>
      </a:lt1>
      <a:dk2>
        <a:srgbClr val="584D2E"/>
      </a:dk2>
      <a:lt2>
        <a:srgbClr val="EFE7C3"/>
      </a:lt2>
      <a:accent1>
        <a:srgbClr val="860908"/>
      </a:accent1>
      <a:accent2>
        <a:srgbClr val="4A0505"/>
      </a:accent2>
      <a:accent3>
        <a:srgbClr val="7A500A"/>
      </a:accent3>
      <a:accent4>
        <a:srgbClr val="C47810"/>
      </a:accent4>
      <a:accent5>
        <a:srgbClr val="827752"/>
      </a:accent5>
      <a:accent6>
        <a:srgbClr val="B5BB83"/>
      </a:accent6>
      <a:hlink>
        <a:srgbClr val="C47810"/>
      </a:hlink>
      <a:folHlink>
        <a:srgbClr val="F0A43A"/>
      </a:folHlink>
    </a:clrScheme>
    <a:fontScheme name="Inkwell">
      <a:majorFont>
        <a:latin typeface="Goudy Old Style"/>
        <a:ea typeface=""/>
        <a:cs typeface=""/>
        <a:font script="Jpan" typeface="ＭＳ Ｐ明朝"/>
      </a:majorFont>
      <a:minorFont>
        <a:latin typeface="Goudy Old Style"/>
        <a:ea typeface=""/>
        <a:cs typeface=""/>
        <a:font script="Jpan" typeface="ＭＳ Ｐ明朝"/>
      </a:minorFont>
    </a:fontScheme>
    <a:fmtScheme name="Inkwell">
      <a:fillStyleLst>
        <a:solidFill>
          <a:schemeClr val="phClr"/>
        </a:solidFill>
        <a:blipFill rotWithShape="1">
          <a:blip xmlns:r="http://schemas.openxmlformats.org/officeDocument/2006/relationships" r:embed="rId1">
            <a:duotone>
              <a:schemeClr val="phClr">
                <a:shade val="30000"/>
              </a:schemeClr>
              <a:schemeClr val="phClr">
                <a:alpha val="10000"/>
                <a:satMod val="120000"/>
              </a:schemeClr>
            </a:duotone>
          </a:blip>
          <a:stretch/>
        </a:blipFill>
        <a:blipFill rotWithShape="1">
          <a:blip xmlns:r="http://schemas.openxmlformats.org/officeDocument/2006/relationships" r:embed="rId2">
            <a:duotone>
              <a:schemeClr val="phClr">
                <a:shade val="30000"/>
                <a:satMod val="150000"/>
              </a:schemeClr>
              <a:schemeClr val="phClr">
                <a:alpha val="10000"/>
                <a:satMod val="120000"/>
              </a:schemeClr>
            </a:duotone>
          </a:blip>
          <a:stretch/>
        </a:blipFill>
      </a:fillStyleLst>
      <a:lnStyleLst>
        <a:ln w="12700" cap="flat" cmpd="sng" algn="ctr">
          <a:solidFill>
            <a:schemeClr val="phClr">
              <a:shade val="95000"/>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38100" dir="5400000" rotWithShape="0">
              <a:srgbClr val="000000">
                <a:alpha val="75000"/>
              </a:srgbClr>
            </a:outerShdw>
          </a:effectLst>
        </a:effectStyle>
        <a:effectStyle>
          <a:effectLst>
            <a:outerShdw blurRad="38100" dist="25400" dir="5400000" rotWithShape="0">
              <a:srgbClr val="000000">
                <a:alpha val="75000"/>
              </a:srgbClr>
            </a:outerShdw>
            <a:softEdge rad="63500"/>
          </a:effectLst>
        </a:effectStyle>
      </a:effectStyleLst>
      <a:bgFillStyleLst>
        <a:blipFill rotWithShape="1">
          <a:blip xmlns:r="http://schemas.openxmlformats.org/officeDocument/2006/relationships" r:embed="rId3"/>
          <a:stretch/>
        </a:blipFill>
        <a:blipFill rotWithShape="1">
          <a:blip xmlns:r="http://schemas.openxmlformats.org/officeDocument/2006/relationships" r:embed="rId4"/>
          <a:stretch/>
        </a:blipFill>
        <a:blipFill rotWithShape="1">
          <a:blip xmlns:r="http://schemas.openxmlformats.org/officeDocument/2006/relationships" r:embed="rId5"/>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Inkwell.thmx</Template>
  <TotalTime>1535</TotalTime>
  <Words>880</Words>
  <Application>Microsoft Macintosh PowerPoint</Application>
  <PresentationFormat>On-screen Show (4:3)</PresentationFormat>
  <Paragraphs>110</Paragraphs>
  <Slides>13</Slides>
  <Notes>0</Notes>
  <HiddenSlides>0</HiddenSlides>
  <MMClips>0</MMClips>
  <ScaleCrop>false</ScaleCrop>
  <HeadingPairs>
    <vt:vector size="4" baseType="variant">
      <vt:variant>
        <vt:lpstr>Design Template</vt:lpstr>
      </vt:variant>
      <vt:variant>
        <vt:i4>1</vt:i4>
      </vt:variant>
      <vt:variant>
        <vt:lpstr>Slide Titles</vt:lpstr>
      </vt:variant>
      <vt:variant>
        <vt:i4>13</vt:i4>
      </vt:variant>
    </vt:vector>
  </HeadingPairs>
  <TitlesOfParts>
    <vt:vector size="14" baseType="lpstr">
      <vt:lpstr>Inkwell</vt:lpstr>
      <vt:lpstr>J/ys in Hot Nuclear Matter at PHENIX</vt:lpstr>
      <vt:lpstr>Introduction</vt:lpstr>
      <vt:lpstr>Suppression and RAA</vt:lpstr>
      <vt:lpstr>J/y Suppression vs. Centrality</vt:lpstr>
      <vt:lpstr>Suppression in 200GeV Au+Au</vt:lpstr>
      <vt:lpstr>Suppression in 200GeV Cu+Cu</vt:lpstr>
      <vt:lpstr>J/y Suppression vs. pT</vt:lpstr>
      <vt:lpstr>RAA vs. pT in Au+Au</vt:lpstr>
      <vt:lpstr>RAA vs. pT in Cu+Cu</vt:lpstr>
      <vt:lpstr>Two-Component Model</vt:lpstr>
      <vt:lpstr>Hot Wind Model</vt:lpstr>
      <vt:lpstr>Hot Wind Model</vt:lpstr>
      <vt:lpstr>Summary</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 Nuclear Matter Effects at PHENIX</dc:title>
  <dc:subject/>
  <dc:creator>Matthew Wysocki</dc:creator>
  <cp:keywords/>
  <dc:description/>
  <cp:lastModifiedBy>Matthew Wysocki</cp:lastModifiedBy>
  <cp:revision>94</cp:revision>
  <cp:lastPrinted>2008-10-23T18:17:24Z</cp:lastPrinted>
  <dcterms:created xsi:type="dcterms:W3CDTF">2008-10-25T16:32:08Z</dcterms:created>
  <dcterms:modified xsi:type="dcterms:W3CDTF">2008-10-25T17:17:31Z</dcterms:modified>
  <cp:category/>
</cp:coreProperties>
</file>