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5"/>
  </p:notesMasterIdLst>
  <p:sldIdLst>
    <p:sldId id="286" r:id="rId2"/>
    <p:sldId id="281" r:id="rId3"/>
    <p:sldId id="282" r:id="rId4"/>
    <p:sldId id="290" r:id="rId5"/>
    <p:sldId id="283" r:id="rId6"/>
    <p:sldId id="292" r:id="rId7"/>
    <p:sldId id="272" r:id="rId8"/>
    <p:sldId id="297" r:id="rId9"/>
    <p:sldId id="287" r:id="rId10"/>
    <p:sldId id="285" r:id="rId11"/>
    <p:sldId id="288" r:id="rId12"/>
    <p:sldId id="273" r:id="rId13"/>
    <p:sldId id="274" r:id="rId14"/>
    <p:sldId id="275" r:id="rId15"/>
    <p:sldId id="276" r:id="rId16"/>
    <p:sldId id="277" r:id="rId17"/>
    <p:sldId id="295" r:id="rId18"/>
    <p:sldId id="279" r:id="rId19"/>
    <p:sldId id="291" r:id="rId20"/>
    <p:sldId id="280" r:id="rId21"/>
    <p:sldId id="293" r:id="rId22"/>
    <p:sldId id="296" r:id="rId23"/>
    <p:sldId id="289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8CA"/>
    <a:srgbClr val="FFFFFF"/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385" autoAdjust="0"/>
  </p:normalViewPr>
  <p:slideViewPr>
    <p:cSldViewPr>
      <p:cViewPr varScale="1">
        <p:scale>
          <a:sx n="79" d="100"/>
          <a:sy n="79" d="100"/>
        </p:scale>
        <p:origin x="-84" y="-4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8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F2473-B6E0-4C97-B626-46A409700737}" type="datetimeFigureOut">
              <a:rPr lang="en-US" smtClean="0"/>
              <a:pPr/>
              <a:t>1/28/2009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2C78A-DC44-41ED-A757-7E422C5929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52400"/>
            <a:ext cx="6837363" cy="6675438"/>
          </a:xfrm>
          <a:prstGeom prst="rect">
            <a:avLst/>
          </a:prstGeom>
          <a:noFill/>
        </p:spPr>
      </p:pic>
      <p:sp>
        <p:nvSpPr>
          <p:cNvPr id="92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2152650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685800" y="6334125"/>
            <a:ext cx="7772400" cy="0"/>
          </a:xfrm>
          <a:prstGeom prst="line">
            <a:avLst/>
          </a:prstGeom>
          <a:noFill/>
          <a:ln w="127000">
            <a:solidFill>
              <a:srgbClr val="DB720C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>
            <a:off x="685800" y="723900"/>
            <a:ext cx="7772400" cy="0"/>
          </a:xfrm>
          <a:prstGeom prst="line">
            <a:avLst/>
          </a:prstGeom>
          <a:noFill/>
          <a:ln w="1270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i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B6486-1775-4C6C-92CA-F16BD31433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2CA66-269A-402C-A17A-4BF3C30846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2B1D5-A1AF-47B3-B68B-B95B7320735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9FD0AC-0FE2-4EB4-904B-16D58BF59DD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BF695-F31E-4303-A389-CA79DCEC67B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7CA85F-95A3-41B4-B453-E5812832AD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5AEE7-867B-4BAF-B64E-BDEF251F2BC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4195E2-E2A2-4B41-AF93-72898AF3405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15265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30555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BCA5F-975C-4B8B-8179-9274326068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3200400" cy="3124200"/>
          </a:xfrm>
          <a:prstGeom prst="rect">
            <a:avLst/>
          </a:prstGeom>
          <a:noFill/>
        </p:spPr>
      </p:pic>
      <p:sp>
        <p:nvSpPr>
          <p:cNvPr id="819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610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685800" y="6372225"/>
            <a:ext cx="7772400" cy="0"/>
          </a:xfrm>
          <a:prstGeom prst="line">
            <a:avLst/>
          </a:prstGeom>
          <a:noFill/>
          <a:ln w="76200">
            <a:solidFill>
              <a:srgbClr val="DB720C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>
            <a:off x="685800" y="912813"/>
            <a:ext cx="7772400" cy="0"/>
          </a:xfrm>
          <a:prstGeom prst="line">
            <a:avLst/>
          </a:prstGeom>
          <a:noFill/>
          <a:ln w="76200">
            <a:solidFill>
              <a:srgbClr val="003399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905000" y="64008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i="0"/>
            </a:lvl1pPr>
          </a:lstStyle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82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37463" y="6394450"/>
            <a:ext cx="97313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i="0"/>
            </a:lvl1pPr>
          </a:lstStyle>
          <a:p>
            <a:pPr>
              <a:defRPr/>
            </a:pPr>
            <a:fld id="{6081DF2B-CB54-4A4A-94C0-80E19AE0C4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i="0">
              <a:latin typeface="Times New Roman" pitchFamily="18" charset="0"/>
            </a:endParaRPr>
          </a:p>
        </p:txBody>
      </p:sp>
      <p:sp>
        <p:nvSpPr>
          <p:cNvPr id="8202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81750"/>
            <a:ext cx="137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0"/>
            </a:lvl1pPr>
          </a:lstStyle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DB720C"/>
          </a:solidFill>
          <a:effectLst>
            <a:outerShdw blurRad="38100" dist="38100" dir="2700000" algn="tl">
              <a:srgbClr val="00000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ts val="600"/>
        </a:spcBef>
        <a:spcAft>
          <a:spcPts val="60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rgbClr val="003399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600" i="1">
          <a:solidFill>
            <a:srgbClr val="DB720C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 i="1">
          <a:solidFill>
            <a:srgbClr val="519A24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200" i="1">
          <a:solidFill>
            <a:srgbClr val="A93A3F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600" i="1">
          <a:solidFill>
            <a:srgbClr val="A93A3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High Level LHC Schottky Software Development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12300" dirty="0" smtClean="0"/>
              <a:t>Jerry Cai</a:t>
            </a:r>
          </a:p>
          <a:p>
            <a:r>
              <a:rPr lang="en-US" sz="9600" dirty="0" smtClean="0"/>
              <a:t>&amp; The LAFS Team</a:t>
            </a:r>
          </a:p>
          <a:p>
            <a:r>
              <a:rPr lang="en-US" sz="4800" i="1" dirty="0" smtClean="0"/>
              <a:t>28 January 2009</a:t>
            </a:r>
          </a:p>
          <a:p>
            <a:r>
              <a:rPr lang="en-US" dirty="0" smtClean="0"/>
              <a:t>Presented by Elliott McCrory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High Level LHC Schottky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Initial version of High Level Software for LHC Schottky project has been completed.</a:t>
            </a:r>
          </a:p>
          <a:p>
            <a:endParaRPr lang="en-US" sz="2800" dirty="0" smtClean="0"/>
          </a:p>
          <a:p>
            <a:r>
              <a:rPr lang="en-US" sz="2800" dirty="0" smtClean="0"/>
              <a:t>Implements the requirements from:</a:t>
            </a:r>
          </a:p>
          <a:p>
            <a:pPr lvl="1"/>
            <a:r>
              <a:rPr lang="en-US" dirty="0" smtClean="0"/>
              <a:t>“4.8 GHZ Schottky Software—High Level Requirements “</a:t>
            </a:r>
          </a:p>
          <a:p>
            <a:pPr lvl="1"/>
            <a:r>
              <a:rPr lang="en-US" dirty="0" smtClean="0"/>
              <a:t>EDMS Document # 908986 </a:t>
            </a:r>
          </a:p>
          <a:p>
            <a:pPr lvl="1"/>
            <a:r>
              <a:rPr lang="en-US" dirty="0" smtClean="0"/>
              <a:t>by Andreas Jansson and Dave Mcginnis of Fermilab and Ralph Steinhagen (BE/BI)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Schottky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 smtClean="0"/>
              <a:t>Integrates experience at Fermilab from the Tevatron Schottky system	</a:t>
            </a:r>
          </a:p>
          <a:p>
            <a:pPr>
              <a:spcAft>
                <a:spcPts val="600"/>
              </a:spcAft>
            </a:pPr>
            <a:endParaRPr lang="en-US" dirty="0" smtClean="0"/>
          </a:p>
          <a:p>
            <a:pPr>
              <a:spcAft>
                <a:spcPts val="600"/>
              </a:spcAft>
            </a:pPr>
            <a:r>
              <a:rPr lang="en-US" dirty="0" smtClean="0"/>
              <a:t>It consists of two parts: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Monitor Application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Daemon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Control &amp; Display Application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Operations GUI</a:t>
            </a:r>
            <a:endParaRPr 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207"/>
          <p:cNvSpPr/>
          <p:nvPr/>
        </p:nvSpPr>
        <p:spPr bwMode="auto">
          <a:xfrm>
            <a:off x="114300" y="964640"/>
            <a:ext cx="8915400" cy="5334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07" name="Rectangle 106"/>
          <p:cNvSpPr/>
          <p:nvPr/>
        </p:nvSpPr>
        <p:spPr bwMode="auto">
          <a:xfrm>
            <a:off x="6324600" y="2564840"/>
            <a:ext cx="2514600" cy="1904999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141" name="Rectangle 140"/>
          <p:cNvSpPr/>
          <p:nvPr/>
        </p:nvSpPr>
        <p:spPr bwMode="auto">
          <a:xfrm>
            <a:off x="4800600" y="5079440"/>
            <a:ext cx="2362200" cy="1143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/>
          <a:lstStyle/>
          <a:p>
            <a:pPr eaLnBrk="1" hangingPunct="1"/>
            <a:r>
              <a:rPr lang="en-US" sz="2800" dirty="0" smtClean="0"/>
              <a:t>Design Concept: Monitor and Control &amp; Display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J. Cai, Fermilab/LAFS</a:t>
            </a:r>
            <a:endParaRPr lang="en-US" dirty="0"/>
          </a:p>
        </p:txBody>
      </p:sp>
      <p:sp>
        <p:nvSpPr>
          <p:cNvPr id="106" name="Rectangle 105"/>
          <p:cNvSpPr/>
          <p:nvPr/>
        </p:nvSpPr>
        <p:spPr bwMode="auto">
          <a:xfrm>
            <a:off x="1600200" y="2209800"/>
            <a:ext cx="3252324" cy="2504661"/>
          </a:xfrm>
          <a:prstGeom prst="rect">
            <a:avLst/>
          </a:prstGeom>
          <a:solidFill>
            <a:schemeClr val="accent5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1810256" y="2348584"/>
            <a:ext cx="2832212" cy="2227092"/>
          </a:xfrm>
          <a:prstGeom prst="roundRect">
            <a:avLst>
              <a:gd name="adj" fmla="val 11614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omic Sans MS" pitchFamily="66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6615914" y="2783500"/>
            <a:ext cx="1931972" cy="1467679"/>
          </a:xfrm>
          <a:prstGeom prst="roundRect">
            <a:avLst>
              <a:gd name="adj" fmla="val 11614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dirty="0">
                <a:latin typeface="+mn-lt"/>
              </a:rPr>
              <a:t>Control &amp; Display App</a:t>
            </a:r>
          </a:p>
        </p:txBody>
      </p:sp>
      <p:sp>
        <p:nvSpPr>
          <p:cNvPr id="11" name="Rounded Rectangle 10"/>
          <p:cNvSpPr/>
          <p:nvPr/>
        </p:nvSpPr>
        <p:spPr bwMode="auto">
          <a:xfrm rot="16200000">
            <a:off x="-255250" y="3045267"/>
            <a:ext cx="2017643" cy="931260"/>
          </a:xfrm>
          <a:prstGeom prst="roundRect">
            <a:avLst>
              <a:gd name="adj" fmla="val 11614"/>
            </a:avLst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600" i="1" dirty="0" smtClean="0">
                <a:solidFill>
                  <a:srgbClr val="000000"/>
                </a:solidFill>
                <a:latin typeface="+mn-lt"/>
              </a:rPr>
              <a:t>Schottky Front </a:t>
            </a:r>
            <a:r>
              <a:rPr lang="en-US" sz="1600" i="1" dirty="0" smtClean="0">
                <a:solidFill>
                  <a:srgbClr val="000000"/>
                </a:solidFill>
                <a:latin typeface="+mn-lt"/>
              </a:rPr>
              <a:t>End/FESA (</a:t>
            </a:r>
            <a:r>
              <a:rPr lang="en-US" sz="1600" dirty="0" smtClean="0">
                <a:latin typeface="+mn-lt"/>
              </a:rPr>
              <a:t>BQBBQLHC)</a:t>
            </a:r>
            <a:endParaRPr kumimoji="0" lang="en-US" sz="1600" b="0" i="1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2020312" y="2755988"/>
            <a:ext cx="1062080" cy="535784"/>
          </a:xfrm>
          <a:prstGeom prst="roundRect">
            <a:avLst>
              <a:gd name="adj" fmla="val 11614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Device Settings</a:t>
            </a:r>
          </a:p>
        </p:txBody>
      </p:sp>
      <p:sp>
        <p:nvSpPr>
          <p:cNvPr id="14" name="Rounded Rectangle 13"/>
          <p:cNvSpPr/>
          <p:nvPr/>
        </p:nvSpPr>
        <p:spPr bwMode="auto">
          <a:xfrm>
            <a:off x="3294807" y="3816991"/>
            <a:ext cx="1203690" cy="556591"/>
          </a:xfrm>
          <a:prstGeom prst="roundRect">
            <a:avLst>
              <a:gd name="adj" fmla="val 11614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Calculation Engine</a:t>
            </a:r>
          </a:p>
        </p:txBody>
      </p:sp>
      <p:sp>
        <p:nvSpPr>
          <p:cNvPr id="17" name="Flowchart: Magnetic Disk 16"/>
          <p:cNvSpPr/>
          <p:nvPr/>
        </p:nvSpPr>
        <p:spPr bwMode="auto">
          <a:xfrm>
            <a:off x="5031223" y="1040840"/>
            <a:ext cx="1140977" cy="1219200"/>
          </a:xfrm>
          <a:prstGeom prst="flowChartMagneticDisk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Settings &amp; Readings Configuration DB*</a:t>
            </a:r>
          </a:p>
        </p:txBody>
      </p:sp>
      <p:sp>
        <p:nvSpPr>
          <p:cNvPr id="19" name="Rounded Rectangle 18"/>
          <p:cNvSpPr/>
          <p:nvPr/>
        </p:nvSpPr>
        <p:spPr bwMode="auto">
          <a:xfrm>
            <a:off x="5105400" y="4393640"/>
            <a:ext cx="1062080" cy="487017"/>
          </a:xfrm>
          <a:prstGeom prst="roundRect">
            <a:avLst>
              <a:gd name="adj" fmla="val 11614"/>
            </a:avLst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Publish/ Subscribe</a:t>
            </a:r>
          </a:p>
        </p:txBody>
      </p:sp>
      <p:sp>
        <p:nvSpPr>
          <p:cNvPr id="20" name="Flowchart: Magnetic Disk 19"/>
          <p:cNvSpPr/>
          <p:nvPr/>
        </p:nvSpPr>
        <p:spPr bwMode="auto">
          <a:xfrm>
            <a:off x="4953000" y="5198710"/>
            <a:ext cx="991274" cy="904461"/>
          </a:xfrm>
          <a:prstGeom prst="flowChartMagneticDisk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Logging DB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2020312" y="3827394"/>
            <a:ext cx="1062080" cy="535784"/>
          </a:xfrm>
          <a:prstGeom prst="roundRect">
            <a:avLst>
              <a:gd name="adj" fmla="val 11614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mic Sans MS" pitchFamily="66" charset="0"/>
              </a:rPr>
              <a:t>Device Readings</a:t>
            </a:r>
          </a:p>
        </p:txBody>
      </p:sp>
      <p:sp>
        <p:nvSpPr>
          <p:cNvPr id="25" name="Vertical Scroll 24"/>
          <p:cNvSpPr/>
          <p:nvPr/>
        </p:nvSpPr>
        <p:spPr bwMode="auto">
          <a:xfrm>
            <a:off x="3436418" y="2710798"/>
            <a:ext cx="983182" cy="626165"/>
          </a:xfrm>
          <a:prstGeom prst="verticalScroll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ModeMap</a:t>
            </a:r>
            <a:endParaRPr kumimoji="0" lang="en-US" sz="16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</a:endParaRPr>
          </a:p>
        </p:txBody>
      </p:sp>
      <p:cxnSp>
        <p:nvCxnSpPr>
          <p:cNvPr id="27" name="Elbow Connector 26"/>
          <p:cNvCxnSpPr>
            <a:endCxn id="12" idx="0"/>
          </p:cNvCxnSpPr>
          <p:nvPr/>
        </p:nvCxnSpPr>
        <p:spPr bwMode="auto">
          <a:xfrm rot="10800000">
            <a:off x="2551353" y="2755989"/>
            <a:ext cx="955875" cy="302679"/>
          </a:xfrm>
          <a:prstGeom prst="bentConnector4">
            <a:avLst>
              <a:gd name="adj1" fmla="val 22222"/>
              <a:gd name="adj2" fmla="val 175526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3" name="Elbow Connector 32"/>
          <p:cNvCxnSpPr>
            <a:stCxn id="17" idx="3"/>
            <a:endCxn id="25" idx="0"/>
          </p:cNvCxnSpPr>
          <p:nvPr/>
        </p:nvCxnSpPr>
        <p:spPr bwMode="auto">
          <a:xfrm rot="5400000">
            <a:off x="4539482" y="1648568"/>
            <a:ext cx="450758" cy="1673703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5" name="Elbow Connector 44"/>
          <p:cNvCxnSpPr>
            <a:stCxn id="12" idx="1"/>
            <a:endCxn id="11" idx="2"/>
          </p:cNvCxnSpPr>
          <p:nvPr/>
        </p:nvCxnSpPr>
        <p:spPr bwMode="auto">
          <a:xfrm rot="10800000" flipV="1">
            <a:off x="1219202" y="3023879"/>
            <a:ext cx="801110" cy="48701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48" name="Elbow Connector 47"/>
          <p:cNvCxnSpPr>
            <a:stCxn id="11" idx="2"/>
            <a:endCxn id="24" idx="1"/>
          </p:cNvCxnSpPr>
          <p:nvPr/>
        </p:nvCxnSpPr>
        <p:spPr bwMode="auto">
          <a:xfrm>
            <a:off x="1219202" y="3510897"/>
            <a:ext cx="801110" cy="584389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57" name="Elbow Connector 56"/>
          <p:cNvCxnSpPr>
            <a:stCxn id="10" idx="0"/>
            <a:endCxn id="17" idx="4"/>
          </p:cNvCxnSpPr>
          <p:nvPr/>
        </p:nvCxnSpPr>
        <p:spPr bwMode="auto">
          <a:xfrm rot="16200000" flipV="1">
            <a:off x="6310520" y="1512120"/>
            <a:ext cx="1133060" cy="1409700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1" name="Elbow Connector 60"/>
          <p:cNvCxnSpPr>
            <a:stCxn id="10" idx="1"/>
            <a:endCxn id="25" idx="2"/>
          </p:cNvCxnSpPr>
          <p:nvPr/>
        </p:nvCxnSpPr>
        <p:spPr bwMode="auto">
          <a:xfrm rot="10800000">
            <a:off x="3928010" y="3336964"/>
            <a:ext cx="2687905" cy="180377"/>
          </a:xfrm>
          <a:prstGeom prst="bentConnector2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64" name="Elbow Connector 63"/>
          <p:cNvCxnSpPr>
            <a:stCxn id="10" idx="1"/>
            <a:endCxn id="12" idx="2"/>
          </p:cNvCxnSpPr>
          <p:nvPr/>
        </p:nvCxnSpPr>
        <p:spPr bwMode="auto">
          <a:xfrm rot="10800000">
            <a:off x="2551352" y="3291772"/>
            <a:ext cx="4064562" cy="225568"/>
          </a:xfrm>
          <a:prstGeom prst="bentConnector2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3" name="Flowchart: Multidocument 92"/>
          <p:cNvSpPr/>
          <p:nvPr/>
        </p:nvSpPr>
        <p:spPr bwMode="auto">
          <a:xfrm>
            <a:off x="6015080" y="5237936"/>
            <a:ext cx="985610" cy="692956"/>
          </a:xfrm>
          <a:prstGeom prst="flowChartMultidocumen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SDDS</a:t>
            </a:r>
          </a:p>
        </p:txBody>
      </p:sp>
      <p:cxnSp>
        <p:nvCxnSpPr>
          <p:cNvPr id="94" name="Elbow Connector 93"/>
          <p:cNvCxnSpPr>
            <a:stCxn id="14" idx="2"/>
            <a:endCxn id="141" idx="1"/>
          </p:cNvCxnSpPr>
          <p:nvPr/>
        </p:nvCxnSpPr>
        <p:spPr bwMode="auto">
          <a:xfrm rot="16200000" flipH="1">
            <a:off x="3709947" y="4560287"/>
            <a:ext cx="1277358" cy="903948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25" name="Curved Connector 124"/>
          <p:cNvCxnSpPr>
            <a:stCxn id="127" idx="4"/>
            <a:endCxn id="25" idx="0"/>
          </p:cNvCxnSpPr>
          <p:nvPr/>
        </p:nvCxnSpPr>
        <p:spPr bwMode="auto">
          <a:xfrm rot="16200000" flipH="1">
            <a:off x="3237228" y="2020016"/>
            <a:ext cx="650783" cy="730780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27" name="Cloud Callout 126"/>
          <p:cNvSpPr/>
          <p:nvPr/>
        </p:nvSpPr>
        <p:spPr bwMode="auto">
          <a:xfrm>
            <a:off x="2819400" y="1117040"/>
            <a:ext cx="1295400" cy="838200"/>
          </a:xfrm>
          <a:prstGeom prst="cloud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rPr>
              <a:t>Beam Mode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43000" y="2107640"/>
            <a:ext cx="1801123" cy="3372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+mn-lt"/>
              </a:rPr>
              <a:t>Monitor Daemon</a:t>
            </a:r>
            <a:endParaRPr lang="en-US" sz="1600" dirty="0">
              <a:latin typeface="+mn-lt"/>
            </a:endParaRPr>
          </a:p>
        </p:txBody>
      </p:sp>
      <p:cxnSp>
        <p:nvCxnSpPr>
          <p:cNvPr id="177" name="Elbow Connector 176"/>
          <p:cNvCxnSpPr>
            <a:stCxn id="14" idx="3"/>
            <a:endCxn id="19" idx="1"/>
          </p:cNvCxnSpPr>
          <p:nvPr/>
        </p:nvCxnSpPr>
        <p:spPr bwMode="auto">
          <a:xfrm>
            <a:off x="4498497" y="4095287"/>
            <a:ext cx="606903" cy="541862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78" name="Elbow Connector 177"/>
          <p:cNvCxnSpPr>
            <a:stCxn id="19" idx="3"/>
            <a:endCxn id="10" idx="1"/>
          </p:cNvCxnSpPr>
          <p:nvPr/>
        </p:nvCxnSpPr>
        <p:spPr bwMode="auto">
          <a:xfrm flipV="1">
            <a:off x="6167480" y="3517340"/>
            <a:ext cx="448434" cy="1119809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87" name="Elbow Connector 186"/>
          <p:cNvCxnSpPr>
            <a:stCxn id="141" idx="3"/>
            <a:endCxn id="10" idx="2"/>
          </p:cNvCxnSpPr>
          <p:nvPr/>
        </p:nvCxnSpPr>
        <p:spPr bwMode="auto">
          <a:xfrm flipV="1">
            <a:off x="7162800" y="4251179"/>
            <a:ext cx="419100" cy="1399761"/>
          </a:xfrm>
          <a:prstGeom prst="bentConnector2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90" name="Curved Connector 189"/>
          <p:cNvCxnSpPr>
            <a:stCxn id="24" idx="3"/>
            <a:endCxn id="14" idx="1"/>
          </p:cNvCxnSpPr>
          <p:nvPr/>
        </p:nvCxnSpPr>
        <p:spPr bwMode="auto">
          <a:xfrm>
            <a:off x="3082392" y="4095286"/>
            <a:ext cx="212415" cy="1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5124089" y="4188768"/>
            <a:ext cx="10294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 smtClean="0">
                <a:latin typeface="+mn-lt"/>
              </a:rPr>
              <a:t>Incl. Heartbeat</a:t>
            </a:r>
            <a:endParaRPr lang="en-US" sz="900" i="1" dirty="0">
              <a:latin typeface="+mn-l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0" y="3274368"/>
            <a:ext cx="11208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i="1" dirty="0" smtClean="0">
                <a:latin typeface="+mn-lt"/>
              </a:rPr>
              <a:t>Setup Phase Only</a:t>
            </a:r>
            <a:endParaRPr lang="en-US" sz="900" i="1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  <p:bldP spid="17" grpId="0" animBg="1"/>
      <p:bldP spid="19" grpId="0" animBg="1"/>
      <p:bldP spid="20" grpId="0" animBg="1"/>
      <p:bldP spid="93" grpId="0" animBg="1"/>
      <p:bldP spid="127" grpId="0" animBg="1"/>
      <p:bldP spid="36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Monitor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dirty="0" smtClean="0"/>
              <a:t>Runs continuously in the background as a “Daemon Process”</a:t>
            </a:r>
          </a:p>
          <a:p>
            <a:r>
              <a:rPr lang="en-US" sz="2800" dirty="0" smtClean="0"/>
              <a:t>Key Elements:</a:t>
            </a:r>
          </a:p>
          <a:p>
            <a:pPr lvl="1"/>
            <a:r>
              <a:rPr lang="en-US" sz="2400" dirty="0" smtClean="0"/>
              <a:t>Configures Schottky per Beam Mode</a:t>
            </a:r>
          </a:p>
          <a:p>
            <a:pPr lvl="2"/>
            <a:r>
              <a:rPr lang="en-US" sz="1900" dirty="0" smtClean="0"/>
              <a:t>See next slide</a:t>
            </a:r>
          </a:p>
          <a:p>
            <a:pPr lvl="1"/>
            <a:r>
              <a:rPr lang="en-US" dirty="0"/>
              <a:t>R</a:t>
            </a:r>
            <a:r>
              <a:rPr lang="en-US" sz="2400" dirty="0" smtClean="0"/>
              <a:t>eads raw</a:t>
            </a:r>
            <a:r>
              <a:rPr lang="en-US" dirty="0" smtClean="0"/>
              <a:t> </a:t>
            </a:r>
            <a:r>
              <a:rPr lang="en-US" sz="2400" dirty="0" smtClean="0"/>
              <a:t>FFT data from Schottky</a:t>
            </a:r>
          </a:p>
          <a:p>
            <a:pPr lvl="1"/>
            <a:r>
              <a:rPr lang="en-US" sz="2400" dirty="0" smtClean="0"/>
              <a:t>Performs fits for:</a:t>
            </a:r>
          </a:p>
          <a:p>
            <a:pPr lvl="2"/>
            <a:r>
              <a:rPr lang="en-US" sz="1900" dirty="0" smtClean="0"/>
              <a:t>Tune, </a:t>
            </a:r>
          </a:p>
          <a:p>
            <a:pPr lvl="2"/>
            <a:r>
              <a:rPr lang="en-US" sz="1900" dirty="0" smtClean="0"/>
              <a:t>Momentum Spread,</a:t>
            </a:r>
          </a:p>
          <a:p>
            <a:pPr lvl="2"/>
            <a:r>
              <a:rPr lang="en-US" sz="1900" dirty="0" smtClean="0"/>
              <a:t>Emittance,</a:t>
            </a:r>
            <a:endParaRPr lang="en-US" sz="1900" dirty="0"/>
          </a:p>
          <a:p>
            <a:pPr lvl="2"/>
            <a:r>
              <a:rPr lang="en-US" sz="1900" dirty="0" smtClean="0"/>
              <a:t>Chromaticity, and</a:t>
            </a:r>
          </a:p>
          <a:p>
            <a:pPr lvl="2"/>
            <a:r>
              <a:rPr lang="en-US" sz="1900" dirty="0" smtClean="0"/>
              <a:t>Averages of these</a:t>
            </a:r>
          </a:p>
          <a:p>
            <a:pPr lvl="1"/>
            <a:r>
              <a:rPr lang="en-US" sz="2400" dirty="0" smtClean="0"/>
              <a:t>Publishes these </a:t>
            </a:r>
            <a:r>
              <a:rPr lang="en-US" sz="2400" dirty="0" smtClean="0"/>
              <a:t>results</a:t>
            </a:r>
          </a:p>
          <a:p>
            <a:pPr lvl="2"/>
            <a:r>
              <a:rPr lang="en-US" sz="1900" dirty="0" smtClean="0"/>
              <a:t>Including configuration of the daemon itself</a:t>
            </a:r>
            <a:endParaRPr lang="en-US" sz="1900" dirty="0" smtClean="0"/>
          </a:p>
          <a:p>
            <a:pPr lvl="1"/>
            <a:r>
              <a:rPr lang="en-US" sz="2400" dirty="0" smtClean="0"/>
              <a:t>Archives these results</a:t>
            </a:r>
          </a:p>
          <a:p>
            <a:pPr lvl="2"/>
            <a:r>
              <a:rPr lang="en-US" sz="1900" dirty="0" smtClean="0"/>
              <a:t>Creates SDDS </a:t>
            </a:r>
            <a:r>
              <a:rPr lang="en-US" sz="1900" dirty="0" smtClean="0"/>
              <a:t>Files</a:t>
            </a:r>
          </a:p>
          <a:p>
            <a:pPr lvl="2"/>
            <a:r>
              <a:rPr lang="en-US" sz="1900" dirty="0" smtClean="0"/>
              <a:t>P</a:t>
            </a:r>
            <a:r>
              <a:rPr lang="en-US" sz="1900" dirty="0" smtClean="0"/>
              <a:t>ost-mortem </a:t>
            </a:r>
            <a:r>
              <a:rPr lang="en-US" sz="1900" dirty="0" smtClean="0"/>
              <a:t>data sets and </a:t>
            </a:r>
            <a:endParaRPr lang="en-US" sz="1900" dirty="0" smtClean="0"/>
          </a:p>
          <a:p>
            <a:pPr lvl="2"/>
            <a:r>
              <a:rPr lang="en-US" sz="1900" dirty="0" smtClean="0"/>
              <a:t>P</a:t>
            </a:r>
            <a:r>
              <a:rPr lang="en-US" sz="1900" dirty="0" smtClean="0"/>
              <a:t>rovides </a:t>
            </a:r>
            <a:r>
              <a:rPr lang="en-US" sz="1900" dirty="0" smtClean="0"/>
              <a:t>these data for the logging DB</a:t>
            </a:r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Daemon: Interaction with Schottky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Reacts to the Beam Mode</a:t>
            </a:r>
          </a:p>
          <a:p>
            <a:pPr lvl="1"/>
            <a:r>
              <a:rPr lang="en-US" sz="1800" dirty="0" smtClean="0"/>
              <a:t>The Monitor listen for changes in LHC Beam Mode</a:t>
            </a:r>
          </a:p>
          <a:p>
            <a:pPr lvl="1"/>
            <a:r>
              <a:rPr lang="en-US" sz="1800" dirty="0" smtClean="0"/>
              <a:t>Configures Schottky hardware based on Beam Mode</a:t>
            </a:r>
          </a:p>
          <a:p>
            <a:pPr lvl="2"/>
            <a:r>
              <a:rPr lang="en-US" dirty="0" smtClean="0"/>
              <a:t>Unique configuration </a:t>
            </a:r>
            <a:r>
              <a:rPr lang="en-US" u="sng" dirty="0" smtClean="0"/>
              <a:t>table:</a:t>
            </a:r>
            <a:endParaRPr lang="en-US" dirty="0" smtClean="0"/>
          </a:p>
          <a:p>
            <a:pPr lvl="3"/>
            <a:r>
              <a:rPr lang="en-US" sz="1600" dirty="0" smtClean="0"/>
              <a:t>One “row” of settings per LHC Beam Mode</a:t>
            </a:r>
          </a:p>
          <a:p>
            <a:pPr lvl="3"/>
            <a:r>
              <a:rPr lang="en-US" sz="1600" dirty="0" smtClean="0"/>
              <a:t>Each column is  a settable attribute in the FESA class</a:t>
            </a:r>
          </a:p>
          <a:p>
            <a:pPr lvl="4"/>
            <a:r>
              <a:rPr lang="en-US" dirty="0" smtClean="0"/>
              <a:t>Assumes the Schottky </a:t>
            </a:r>
            <a:r>
              <a:rPr lang="en-US" dirty="0" smtClean="0"/>
              <a:t>FESA class, </a:t>
            </a:r>
            <a:r>
              <a:rPr lang="en-US" dirty="0" smtClean="0"/>
              <a:t>BQBBQLHC,</a:t>
            </a:r>
            <a:r>
              <a:rPr lang="en-US" dirty="0" smtClean="0"/>
              <a:t> </a:t>
            </a:r>
            <a:r>
              <a:rPr lang="en-US" dirty="0" smtClean="0"/>
              <a:t>exists!</a:t>
            </a:r>
          </a:p>
          <a:p>
            <a:pPr lvl="2"/>
            <a:r>
              <a:rPr lang="en-US" dirty="0" smtClean="0"/>
              <a:t>Control &amp; Display GUI can change the configuration table</a:t>
            </a:r>
          </a:p>
          <a:p>
            <a:r>
              <a:rPr lang="en-US" sz="2400" dirty="0" smtClean="0"/>
              <a:t>Is the only agent to receive raw Schottky data directly</a:t>
            </a:r>
          </a:p>
          <a:p>
            <a:pPr lvl="1"/>
            <a:r>
              <a:rPr lang="en-US" sz="1800" dirty="0" smtClean="0"/>
              <a:t>Republishes raw data</a:t>
            </a:r>
          </a:p>
          <a:p>
            <a:pPr lvl="1"/>
            <a:r>
              <a:rPr lang="en-US" sz="1800" dirty="0" smtClean="0"/>
              <a:t>Publishes calculated data</a:t>
            </a:r>
          </a:p>
          <a:p>
            <a:r>
              <a:rPr lang="en-US" sz="2400" dirty="0" smtClean="0"/>
              <a:t>A true “daemon process”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The Control and Display Application</a:t>
            </a:r>
          </a:p>
        </p:txBody>
      </p:sp>
      <p:pic>
        <p:nvPicPr>
          <p:cNvPr id="6147" name="Content Placeholder 3" descr="overview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9949" y="1295400"/>
            <a:ext cx="5308851" cy="43837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715000" y="1143000"/>
            <a:ext cx="2743200" cy="5105400"/>
          </a:xfrm>
        </p:spPr>
        <p:txBody>
          <a:bodyPr/>
          <a:lstStyle/>
          <a:p>
            <a:r>
              <a:rPr lang="en-US" sz="2400" dirty="0" smtClean="0"/>
              <a:t>Operations GUI</a:t>
            </a:r>
          </a:p>
          <a:p>
            <a:r>
              <a:rPr lang="en-US" sz="2400" dirty="0" smtClean="0"/>
              <a:t>Subscribes to data from the Monitor</a:t>
            </a:r>
          </a:p>
          <a:p>
            <a:r>
              <a:rPr lang="en-US" sz="2400" dirty="0" smtClean="0"/>
              <a:t>Interfaces with the hardware only indirectly through the </a:t>
            </a:r>
            <a:r>
              <a:rPr lang="en-US" sz="2400" dirty="0" smtClean="0"/>
              <a:t>Monitor</a:t>
            </a:r>
            <a:endParaRPr lang="en-US" sz="2400" dirty="0" smtClean="0"/>
          </a:p>
          <a:p>
            <a:pPr>
              <a:buNone/>
            </a:pPr>
            <a:endParaRPr lang="en-US" sz="24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&amp; Display App </a:t>
            </a:r>
            <a:r>
              <a:rPr lang="en-US" dirty="0" smtClean="0"/>
              <a:t>(1/3)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Displays data published by Monitor</a:t>
            </a:r>
          </a:p>
          <a:p>
            <a:pPr lvl="1"/>
            <a:r>
              <a:rPr lang="en-US" dirty="0" smtClean="0"/>
              <a:t>Can also display archived and post-mortem data</a:t>
            </a:r>
          </a:p>
          <a:p>
            <a:pPr lvl="1"/>
            <a:endParaRPr lang="en-US" dirty="0" smtClean="0"/>
          </a:p>
          <a:p>
            <a:r>
              <a:rPr lang="en-US" sz="2800" dirty="0" smtClean="0"/>
              <a:t>Responsible for setting up configuration table for Monitor Daemon</a:t>
            </a:r>
          </a:p>
          <a:p>
            <a:pPr lvl="1"/>
            <a:r>
              <a:rPr lang="en-US" dirty="0" err="1" smtClean="0"/>
              <a:t>Config</a:t>
            </a:r>
            <a:r>
              <a:rPr lang="en-US" dirty="0" smtClean="0"/>
              <a:t> Table:</a:t>
            </a:r>
          </a:p>
          <a:p>
            <a:pPr lvl="2"/>
            <a:r>
              <a:rPr lang="en-US" dirty="0" smtClean="0"/>
              <a:t>One row per Beam Mode</a:t>
            </a:r>
          </a:p>
          <a:p>
            <a:pPr lvl="2"/>
            <a:r>
              <a:rPr lang="en-US" dirty="0" smtClean="0"/>
              <a:t>One column per settable attribute in the hardware &amp;/or the FESA class</a:t>
            </a:r>
          </a:p>
          <a:p>
            <a:pPr lvl="1"/>
            <a:r>
              <a:rPr lang="en-US" dirty="0" smtClean="0"/>
              <a:t>Tables are saved in SDDS files</a:t>
            </a:r>
          </a:p>
          <a:p>
            <a:pPr lvl="2"/>
            <a:r>
              <a:rPr lang="en-US" dirty="0" smtClean="0"/>
              <a:t>Would like to have a </a:t>
            </a:r>
            <a:r>
              <a:rPr lang="en-US" dirty="0" err="1" smtClean="0"/>
              <a:t>Config</a:t>
            </a:r>
            <a:r>
              <a:rPr lang="en-US" dirty="0" smtClean="0"/>
              <a:t> DB</a:t>
            </a:r>
          </a:p>
          <a:p>
            <a:pPr lvl="2"/>
            <a:r>
              <a:rPr lang="en-US" dirty="0" smtClean="0"/>
              <a:t>Monitor reads “</a:t>
            </a:r>
            <a:r>
              <a:rPr lang="en-US" dirty="0" err="1" smtClean="0"/>
              <a:t>default.sdds</a:t>
            </a:r>
            <a:r>
              <a:rPr lang="en-US" dirty="0" smtClean="0"/>
              <a:t>”</a:t>
            </a:r>
          </a:p>
          <a:p>
            <a:pPr lvl="1"/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&amp; Display App </a:t>
            </a:r>
            <a:r>
              <a:rPr lang="en-US" dirty="0" smtClean="0"/>
              <a:t>(2/3)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different run modes</a:t>
            </a:r>
          </a:p>
          <a:p>
            <a:pPr lvl="1"/>
            <a:r>
              <a:rPr lang="en-US" dirty="0" smtClean="0"/>
              <a:t>READ ONLY</a:t>
            </a:r>
          </a:p>
          <a:p>
            <a:pPr lvl="2"/>
            <a:r>
              <a:rPr lang="en-US" dirty="0" smtClean="0"/>
              <a:t>default</a:t>
            </a:r>
          </a:p>
          <a:p>
            <a:pPr lvl="1"/>
            <a:r>
              <a:rPr lang="en-US" dirty="0" smtClean="0"/>
              <a:t>READ and SET</a:t>
            </a:r>
          </a:p>
          <a:p>
            <a:pPr lvl="2"/>
            <a:r>
              <a:rPr lang="en-US" dirty="0" smtClean="0"/>
              <a:t>allow user to change things in the Monitor</a:t>
            </a:r>
          </a:p>
          <a:p>
            <a:pPr lvl="2"/>
            <a:endParaRPr lang="en-US" dirty="0" smtClean="0"/>
          </a:p>
          <a:p>
            <a:r>
              <a:rPr lang="en-US" sz="2800" dirty="0" smtClean="0"/>
              <a:t>Multiple </a:t>
            </a:r>
            <a:r>
              <a:rPr lang="en-US" sz="2800" dirty="0" smtClean="0"/>
              <a:t>Control &amp; Display instances?</a:t>
            </a:r>
          </a:p>
          <a:p>
            <a:pPr lvl="1"/>
            <a:r>
              <a:rPr lang="en-US" sz="2000" dirty="0" smtClean="0"/>
              <a:t>Each can read from the Monitor</a:t>
            </a:r>
          </a:p>
          <a:p>
            <a:pPr lvl="1"/>
            <a:r>
              <a:rPr lang="en-US" sz="2000" dirty="0" smtClean="0"/>
              <a:t>Only one is allowed to have setting rights at a time</a:t>
            </a:r>
          </a:p>
          <a:p>
            <a:pPr lvl="2"/>
            <a:r>
              <a:rPr lang="en-US" dirty="0" smtClean="0"/>
              <a:t>User requests setting rights from Monitor for N minutes</a:t>
            </a:r>
          </a:p>
          <a:p>
            <a:pPr lvl="2"/>
            <a:r>
              <a:rPr lang="en-US" dirty="0" smtClean="0"/>
              <a:t>RBA Login Required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&amp; Display App </a:t>
            </a:r>
            <a:r>
              <a:rPr lang="en-US" dirty="0" smtClean="0"/>
              <a:t>(3/3)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 smtClean="0"/>
              <a:t>GUI has four sections: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Top Tool Bar</a:t>
            </a:r>
          </a:p>
          <a:p>
            <a:pPr marL="1257300" lvl="2" indent="-342900"/>
            <a:r>
              <a:rPr lang="en-US" sz="1600" dirty="0" smtClean="0"/>
              <a:t>to exit program, read archived data ,etc.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Left Selection Panel </a:t>
            </a:r>
          </a:p>
          <a:p>
            <a:pPr marL="1257300" lvl="2" indent="-342900"/>
            <a:r>
              <a:rPr lang="en-US" sz="1600" dirty="0" smtClean="0"/>
              <a:t>to select device and running mode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Central Tabbed Panel </a:t>
            </a:r>
          </a:p>
          <a:p>
            <a:pPr marL="1257300" lvl="2" indent="-342900"/>
            <a:r>
              <a:rPr lang="en-US" sz="1600" dirty="0" smtClean="0"/>
              <a:t>to display data, create and load configuration tables, 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Bottom Console </a:t>
            </a:r>
          </a:p>
          <a:p>
            <a:pPr marL="1257300" lvl="2" indent="-342900"/>
            <a:r>
              <a:rPr lang="en-US" sz="1600" dirty="0" smtClean="0"/>
              <a:t>to show messages while program is running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pic>
        <p:nvPicPr>
          <p:cNvPr id="9" name="Content Placeholder 3" descr="overview.jpg"/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648200" y="2122644"/>
            <a:ext cx="3810000" cy="3146112"/>
          </a:xfrm>
        </p:spPr>
      </p:pic>
      <p:cxnSp>
        <p:nvCxnSpPr>
          <p:cNvPr id="22" name="Straight Arrow Connector 21"/>
          <p:cNvCxnSpPr/>
          <p:nvPr/>
        </p:nvCxnSpPr>
        <p:spPr bwMode="auto">
          <a:xfrm>
            <a:off x="3429000" y="1828800"/>
            <a:ext cx="1295400" cy="38100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>
            <a:off x="4191000" y="2743200"/>
            <a:ext cx="457200" cy="15240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6" name="Straight Arrow Connector 25"/>
          <p:cNvCxnSpPr/>
          <p:nvPr/>
        </p:nvCxnSpPr>
        <p:spPr bwMode="auto">
          <a:xfrm flipV="1">
            <a:off x="4267200" y="3657600"/>
            <a:ext cx="1295400" cy="228600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>
            <a:off x="3581400" y="5029200"/>
            <a:ext cx="1143000" cy="1588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Screen Shots of GUI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Tabs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Contour and Trace</a:t>
            </a:r>
          </a:p>
          <a:p>
            <a:pPr marL="1371600" lvl="2" indent="-457200"/>
            <a:r>
              <a:rPr lang="en-US" sz="2000" dirty="0" smtClean="0"/>
              <a:t>Live or Archived data/Post-Mortem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Time Plot</a:t>
            </a:r>
          </a:p>
          <a:p>
            <a:pPr marL="1371600" lvl="2" indent="-514350"/>
            <a:r>
              <a:rPr lang="en-US" sz="2000" dirty="0" smtClean="0"/>
              <a:t>Live or Archived data/Post-Mortem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Electronics States/Live Schematic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Tune Resonance Lines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/>
              <a:t>Configuration Editor</a:t>
            </a:r>
          </a:p>
          <a:p>
            <a:pPr marL="1371600" lvl="2" indent="-514350">
              <a:buNone/>
            </a:pPr>
            <a:r>
              <a:rPr lang="en-US" sz="2400" dirty="0" smtClean="0"/>
              <a:t>6. Selecting bunch/gates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Tab for Contour and Trace (1/6)</a:t>
            </a:r>
          </a:p>
        </p:txBody>
      </p:sp>
      <p:pic>
        <p:nvPicPr>
          <p:cNvPr id="7171" name="Content Placeholder 3" descr="contour.jpg"/>
          <p:cNvPicPr>
            <a:picLocks noGrp="1" noChangeAspect="1"/>
          </p:cNvPicPr>
          <p:nvPr>
            <p:ph idx="1"/>
          </p:nvPr>
        </p:nvPicPr>
        <p:blipFill>
          <a:blip r:embed="rId2"/>
          <a:srcRect l="1852" t="3947" r="926" b="3947"/>
          <a:stretch>
            <a:fillRect/>
          </a:stretch>
        </p:blipFill>
        <p:spPr>
          <a:xfrm>
            <a:off x="251460" y="838200"/>
            <a:ext cx="8641080" cy="5760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Post-Mortem data dump (200 spectra)</a:t>
            </a:r>
          </a:p>
        </p:txBody>
      </p:sp>
      <p:pic>
        <p:nvPicPr>
          <p:cNvPr id="8195" name="Content Placeholder 3" descr="contour2.jpg"/>
          <p:cNvPicPr>
            <a:picLocks noGrp="1" noChangeAspect="1"/>
          </p:cNvPicPr>
          <p:nvPr>
            <p:ph idx="1"/>
          </p:nvPr>
        </p:nvPicPr>
        <p:blipFill>
          <a:blip r:embed="rId2"/>
          <a:srcRect l="1802" t="4938" r="901" b="3704"/>
          <a:stretch>
            <a:fillRect/>
          </a:stretch>
        </p:blipFill>
        <p:spPr>
          <a:xfrm>
            <a:off x="251460" y="838200"/>
            <a:ext cx="8641080" cy="59207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048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Tab for Time Plot (2/6)</a:t>
            </a:r>
          </a:p>
        </p:txBody>
      </p:sp>
      <p:pic>
        <p:nvPicPr>
          <p:cNvPr id="9219" name="Content Placeholder 3" descr="timeplot..jpg"/>
          <p:cNvPicPr>
            <a:picLocks noGrp="1" noChangeAspect="1"/>
          </p:cNvPicPr>
          <p:nvPr>
            <p:ph idx="1"/>
          </p:nvPr>
        </p:nvPicPr>
        <p:blipFill>
          <a:blip r:embed="rId2"/>
          <a:srcRect b="3896"/>
          <a:stretch>
            <a:fillRect/>
          </a:stretch>
        </p:blipFill>
        <p:spPr>
          <a:xfrm>
            <a:off x="251460" y="838200"/>
            <a:ext cx="8641080" cy="57607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sz="3600" dirty="0" smtClean="0"/>
              <a:t>Time Plot for Post-Mortem Data</a:t>
            </a:r>
          </a:p>
        </p:txBody>
      </p:sp>
      <p:pic>
        <p:nvPicPr>
          <p:cNvPr id="10243" name="Content Placeholder 4" descr="postmortem_timeplot.jpg"/>
          <p:cNvPicPr>
            <a:picLocks noGrp="1" noChangeAspect="1"/>
          </p:cNvPicPr>
          <p:nvPr>
            <p:ph idx="1"/>
          </p:nvPr>
        </p:nvPicPr>
        <p:blipFill>
          <a:blip r:embed="rId2"/>
          <a:srcRect l="2727" t="1213" r="2248" b="4187"/>
          <a:stretch>
            <a:fillRect/>
          </a:stretch>
        </p:blipFill>
        <p:spPr>
          <a:xfrm>
            <a:off x="251460" y="838200"/>
            <a:ext cx="8641080" cy="5943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/>
          <a:lstStyle/>
          <a:p>
            <a:r>
              <a:rPr lang="en-US" sz="3600" dirty="0" smtClean="0"/>
              <a:t>Tab for Electronic States (3/6)</a:t>
            </a:r>
          </a:p>
        </p:txBody>
      </p:sp>
      <p:pic>
        <p:nvPicPr>
          <p:cNvPr id="11267" name="Content Placeholder 3" descr="electronic_state.jpg"/>
          <p:cNvPicPr>
            <a:picLocks noGrp="1" noChangeAspect="1"/>
          </p:cNvPicPr>
          <p:nvPr>
            <p:ph idx="1"/>
          </p:nvPr>
        </p:nvPicPr>
        <p:blipFill>
          <a:blip r:embed="rId2"/>
          <a:srcRect r="953" b="5112"/>
          <a:stretch>
            <a:fillRect/>
          </a:stretch>
        </p:blipFill>
        <p:spPr>
          <a:xfrm>
            <a:off x="251460" y="609600"/>
            <a:ext cx="8641080" cy="61695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76200" y="5117068"/>
            <a:ext cx="3207929" cy="369332"/>
          </a:xfrm>
          <a:prstGeom prst="rect">
            <a:avLst/>
          </a:prstGeom>
          <a:solidFill>
            <a:srgbClr val="FAF8CA"/>
          </a:solidFill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+mn-lt"/>
              </a:rPr>
              <a:t>Active elements are colored</a:t>
            </a:r>
            <a:endParaRPr lang="en-US" i="1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10600" cy="609600"/>
          </a:xfrm>
        </p:spPr>
        <p:txBody>
          <a:bodyPr/>
          <a:lstStyle/>
          <a:p>
            <a:r>
              <a:rPr lang="en-US" sz="3600" dirty="0" smtClean="0"/>
              <a:t>Tab for Tune Resonance Lines (4/6)</a:t>
            </a:r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19167" t="5208" r="14644" b="38542"/>
          <a:stretch>
            <a:fillRect/>
          </a:stretch>
        </p:blipFill>
        <p:spPr bwMode="auto">
          <a:xfrm>
            <a:off x="251460" y="838200"/>
            <a:ext cx="8641080" cy="58748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Content Placeholder 3" descr="tune_lines2.jpg"/>
          <p:cNvPicPr>
            <a:picLocks noGrp="1" noChangeAspect="1"/>
          </p:cNvPicPr>
          <p:nvPr>
            <p:ph idx="1"/>
          </p:nvPr>
        </p:nvPicPr>
        <p:blipFill>
          <a:blip r:embed="rId3"/>
          <a:srcRect b="6697"/>
          <a:stretch>
            <a:fillRect/>
          </a:stretch>
        </p:blipFill>
        <p:spPr>
          <a:xfrm>
            <a:off x="251460" y="838200"/>
            <a:ext cx="8641080" cy="57481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5056021" y="5257800"/>
            <a:ext cx="4087979" cy="369332"/>
          </a:xfrm>
          <a:prstGeom prst="rect">
            <a:avLst/>
          </a:prstGeom>
          <a:solidFill>
            <a:srgbClr val="FAF8CA"/>
          </a:solidFill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Zoom in, using </a:t>
            </a:r>
            <a:r>
              <a:rPr lang="en-US" dirty="0" err="1" smtClean="0">
                <a:latin typeface="+mn-lt"/>
              </a:rPr>
              <a:t>JDataViewer</a:t>
            </a:r>
            <a:r>
              <a:rPr lang="en-US" dirty="0" smtClean="0">
                <a:latin typeface="+mn-lt"/>
              </a:rPr>
              <a:t> zooming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Tab for Configuration Editor (5/6)</a:t>
            </a:r>
          </a:p>
        </p:txBody>
      </p:sp>
      <p:pic>
        <p:nvPicPr>
          <p:cNvPr id="13315" name="Content Placeholder 3" descr="configEditor.jpg"/>
          <p:cNvPicPr>
            <a:picLocks noGrp="1" noChangeAspect="1"/>
          </p:cNvPicPr>
          <p:nvPr>
            <p:ph idx="1"/>
          </p:nvPr>
        </p:nvPicPr>
        <p:blipFill>
          <a:blip r:embed="rId2"/>
          <a:srcRect l="453" r="1089" b="2863"/>
          <a:stretch>
            <a:fillRect/>
          </a:stretch>
        </p:blipFill>
        <p:spPr>
          <a:xfrm>
            <a:off x="251460" y="820994"/>
            <a:ext cx="8641080" cy="58846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Details of Configuration Editor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1143000"/>
            <a:ext cx="7772400" cy="3429000"/>
          </a:xfrm>
        </p:spPr>
        <p:txBody>
          <a:bodyPr numCol="2"/>
          <a:lstStyle/>
          <a:p>
            <a:pPr>
              <a:spcAft>
                <a:spcPts val="0"/>
              </a:spcAft>
            </a:pPr>
            <a:r>
              <a:rPr lang="en-US" sz="2000" dirty="0" smtClean="0"/>
              <a:t>Row: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Beam Mode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Column: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A settable item in the Schottky front end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On the Electronics States diagram/schematic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Can read</a:t>
            </a:r>
          </a:p>
          <a:p>
            <a:pPr marL="690563" lvl="1">
              <a:spcAft>
                <a:spcPts val="0"/>
              </a:spcAft>
            </a:pPr>
            <a:r>
              <a:rPr lang="en-US" sz="1600" dirty="0" smtClean="0"/>
              <a:t>Live configuration from Monitor</a:t>
            </a:r>
          </a:p>
          <a:p>
            <a:pPr marL="690563" lvl="1">
              <a:spcAft>
                <a:spcPts val="0"/>
              </a:spcAft>
            </a:pPr>
            <a:r>
              <a:rPr lang="en-US" sz="1600" dirty="0" smtClean="0"/>
              <a:t>SDDS save files </a:t>
            </a:r>
          </a:p>
          <a:p>
            <a:pPr marL="690563" lvl="1">
              <a:spcAft>
                <a:spcPts val="0"/>
              </a:spcAft>
            </a:pPr>
            <a:r>
              <a:rPr lang="en-US" sz="1600" dirty="0" smtClean="0"/>
              <a:t>History files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Can change any value in this table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Table can be extended easily in the Java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Disposition?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Send to Monitor</a:t>
            </a:r>
          </a:p>
          <a:p>
            <a:pPr lvl="2">
              <a:spcAft>
                <a:spcPts val="0"/>
              </a:spcAft>
            </a:pPr>
            <a:r>
              <a:rPr lang="en-US" sz="1200" dirty="0" smtClean="0"/>
              <a:t>Temporarily </a:t>
            </a:r>
            <a:r>
              <a:rPr lang="en-US" sz="1200" dirty="0" smtClean="0"/>
              <a:t>change live table, or</a:t>
            </a:r>
          </a:p>
          <a:p>
            <a:pPr lvl="2">
              <a:spcAft>
                <a:spcPts val="0"/>
              </a:spcAft>
            </a:pPr>
            <a:r>
              <a:rPr lang="en-US" sz="1200" dirty="0" smtClean="0"/>
              <a:t>Create a </a:t>
            </a:r>
            <a:r>
              <a:rPr lang="en-US" sz="1200" dirty="0" smtClean="0"/>
              <a:t>new “</a:t>
            </a:r>
            <a:r>
              <a:rPr lang="en-US" sz="1200" dirty="0" err="1" smtClean="0"/>
              <a:t>default.sdds</a:t>
            </a:r>
            <a:r>
              <a:rPr lang="en-US" sz="1200" dirty="0" smtClean="0"/>
              <a:t>”</a:t>
            </a:r>
          </a:p>
          <a:p>
            <a:pPr lvl="1">
              <a:spcAft>
                <a:spcPts val="0"/>
              </a:spcAft>
            </a:pPr>
            <a:r>
              <a:rPr lang="en-US" sz="1600" dirty="0" smtClean="0"/>
              <a:t>SDDS Save File/</a:t>
            </a:r>
            <a:r>
              <a:rPr lang="en-US" sz="1600" dirty="0" err="1" smtClean="0"/>
              <a:t>Config</a:t>
            </a:r>
            <a:r>
              <a:rPr lang="en-US" sz="1600" dirty="0" smtClean="0"/>
              <a:t> DB</a:t>
            </a:r>
          </a:p>
          <a:p>
            <a:pPr>
              <a:spcAft>
                <a:spcPts val="0"/>
              </a:spcAft>
            </a:pPr>
            <a:r>
              <a:rPr lang="en-US" sz="2000" dirty="0" smtClean="0"/>
              <a:t>Invisible control: Beam gating (next slide)</a:t>
            </a:r>
            <a:endParaRPr lang="en-US" sz="2000" dirty="0"/>
          </a:p>
        </p:txBody>
      </p:sp>
      <p:pic>
        <p:nvPicPr>
          <p:cNvPr id="8" name="Content Placeholder 3" descr="configEditor.jpg"/>
          <p:cNvPicPr>
            <a:picLocks noChangeAspect="1"/>
          </p:cNvPicPr>
          <p:nvPr/>
        </p:nvPicPr>
        <p:blipFill>
          <a:blip r:embed="rId2"/>
          <a:srcRect l="16602" t="11940" r="25513" b="76076"/>
          <a:stretch>
            <a:fillRect/>
          </a:stretch>
        </p:blipFill>
        <p:spPr bwMode="auto">
          <a:xfrm>
            <a:off x="45720" y="4876800"/>
            <a:ext cx="9052560" cy="1447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Autofit/>
          </a:bodyPr>
          <a:lstStyle/>
          <a:p>
            <a:r>
              <a:rPr lang="en-US" sz="2800" dirty="0" smtClean="0"/>
              <a:t>Bunch Gates: View and Set (Popup window, 6/6)</a:t>
            </a:r>
          </a:p>
        </p:txBody>
      </p:sp>
      <p:pic>
        <p:nvPicPr>
          <p:cNvPr id="14339" name="Content Placeholder 3" descr="configEditor2.jpg"/>
          <p:cNvPicPr>
            <a:picLocks noGrp="1" noChangeAspect="1"/>
          </p:cNvPicPr>
          <p:nvPr>
            <p:ph idx="1"/>
          </p:nvPr>
        </p:nvPicPr>
        <p:blipFill>
          <a:blip r:embed="rId2"/>
          <a:srcRect l="2437" t="19479" r="3832" b="562"/>
          <a:stretch>
            <a:fillRect/>
          </a:stretch>
        </p:blipFill>
        <p:spPr>
          <a:xfrm>
            <a:off x="228600" y="1013465"/>
            <a:ext cx="8641080" cy="52750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10600" cy="762000"/>
          </a:xfrm>
        </p:spPr>
        <p:txBody>
          <a:bodyPr/>
          <a:lstStyle/>
          <a:p>
            <a:r>
              <a:rPr lang="en-US" dirty="0" smtClean="0"/>
              <a:t>Running the Suite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 smtClean="0"/>
              <a:t>CVS Package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lhc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-daemons/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lhc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-daemon-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schottky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dirty="0" smtClean="0"/>
              <a:t>Monitor Application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Must start this first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cern.lhc.daemon.schottky.monitor.MonitorMain.java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sz="1800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dirty="0" smtClean="0"/>
              <a:t>Control &amp; Display Application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cern.lhc.daemon.schottky.controller.ControlMain.java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</a:pPr>
            <a:r>
              <a:rPr lang="en-US" sz="2800" dirty="0" smtClean="0">
                <a:cs typeface="Courier New" pitchFamily="49" charset="0"/>
              </a:rPr>
              <a:t>Live demo?</a:t>
            </a:r>
          </a:p>
          <a:p>
            <a:pPr lvl="1">
              <a:spcBef>
                <a:spcPts val="0"/>
              </a:spcBef>
            </a:pPr>
            <a:r>
              <a:rPr lang="en-US" sz="1600" dirty="0" smtClean="0">
                <a:cs typeface="Courier New" pitchFamily="49" charset="0"/>
              </a:rPr>
              <a:t>See me after the meeting</a:t>
            </a:r>
            <a:endParaRPr lang="en-US" sz="1600" dirty="0" smtClean="0">
              <a:cs typeface="Courier New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610600" cy="762000"/>
          </a:xfrm>
        </p:spPr>
        <p:txBody>
          <a:bodyPr/>
          <a:lstStyle/>
          <a:p>
            <a:r>
              <a:rPr lang="en-US" dirty="0" smtClean="0"/>
              <a:t>Comments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2800" dirty="0" smtClean="0"/>
              <a:t>Users Guide &amp; this talk available from Wiki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https://wikis.cern.ch/display/LAFS/Schottky 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endParaRPr lang="en-US" dirty="0" smtClean="0"/>
          </a:p>
          <a:p>
            <a:pPr>
              <a:spcBef>
                <a:spcPts val="0"/>
              </a:spcBef>
            </a:pPr>
            <a:r>
              <a:rPr lang="en-US" sz="2800" dirty="0" smtClean="0"/>
              <a:t>Known limitations of this demo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It does not connect with any LHC hardware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No FESA </a:t>
            </a:r>
            <a:r>
              <a:rPr lang="en-US" dirty="0" smtClean="0"/>
              <a:t>class (</a:t>
            </a:r>
            <a:r>
              <a:rPr lang="en-US" dirty="0" smtClean="0"/>
              <a:t>BQBBQLHC)</a:t>
            </a:r>
            <a:endParaRPr lang="en-US" dirty="0" smtClean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Daemon &amp; GUI must be run on the same PC. 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Using SDDS files instead of a Configuration DB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Awaiting proper “Command” communications example </a:t>
            </a:r>
          </a:p>
          <a:p>
            <a:pPr lvl="2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From M. Misiowiec.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en-US" dirty="0" smtClean="0"/>
              <a:t>Do </a:t>
            </a:r>
            <a:r>
              <a:rPr lang="en-US" u="sng" dirty="0" smtClean="0"/>
              <a:t>not</a:t>
            </a:r>
            <a:r>
              <a:rPr lang="en-US" dirty="0" smtClean="0"/>
              <a:t> run multiple Monitors at the same time, anywhere in the Control System—the subscriptions will not work properly.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J. Cai, Fermilab/LAFS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initial version of high level LHC Schottky Software has implemented the elements of the requirements document. </a:t>
            </a:r>
          </a:p>
          <a:p>
            <a:pPr lvl="1"/>
            <a:r>
              <a:rPr lang="en-US" sz="1800" dirty="0" smtClean="0"/>
              <a:t>Monitor Process/Daemon</a:t>
            </a:r>
          </a:p>
          <a:p>
            <a:pPr lvl="1"/>
            <a:r>
              <a:rPr lang="en-US" sz="1800" dirty="0" smtClean="0"/>
              <a:t>Control &amp; Display Application/Operations GUI</a:t>
            </a:r>
          </a:p>
          <a:p>
            <a:r>
              <a:rPr lang="en-US" sz="2400" dirty="0" smtClean="0"/>
              <a:t>Improvements?</a:t>
            </a:r>
          </a:p>
          <a:p>
            <a:pPr lvl="1"/>
            <a:r>
              <a:rPr lang="en-US" sz="1800" dirty="0" smtClean="0"/>
              <a:t>“Configuration DB” is implemented as local SDDS files</a:t>
            </a:r>
          </a:p>
          <a:p>
            <a:pPr lvl="2"/>
            <a:r>
              <a:rPr lang="en-US" sz="1400" dirty="0" smtClean="0"/>
              <a:t>need BE/CO/DM help</a:t>
            </a:r>
            <a:endParaRPr lang="en-US" sz="1800" dirty="0" smtClean="0"/>
          </a:p>
          <a:p>
            <a:pPr lvl="1"/>
            <a:r>
              <a:rPr lang="en-US" sz="1800" dirty="0" smtClean="0"/>
              <a:t>BE/OP feedback</a:t>
            </a:r>
          </a:p>
          <a:p>
            <a:pPr lvl="1"/>
            <a:r>
              <a:rPr lang="en-US" sz="1800" dirty="0" smtClean="0"/>
              <a:t>Better use of JAPC-standard communications</a:t>
            </a:r>
          </a:p>
          <a:p>
            <a:r>
              <a:rPr lang="en-US" sz="2400" dirty="0" smtClean="0"/>
              <a:t>Issue: FESA class not yet available. </a:t>
            </a:r>
          </a:p>
          <a:p>
            <a:pPr lvl="1"/>
            <a:r>
              <a:rPr lang="en-US" sz="1800" dirty="0" smtClean="0"/>
              <a:t>This demo uses stored data from the Schottky monitors in the Tevatron.</a:t>
            </a:r>
          </a:p>
          <a:p>
            <a:r>
              <a:rPr lang="en-US" sz="2000" dirty="0" smtClean="0"/>
              <a:t>Acknowledgements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1/28/2009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0EEBF2-BA07-4795-8F9E-0F99A2009F2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J. Cai, Fermilab/LAFS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Review_Presentation_Template">
  <a:themeElements>
    <a:clrScheme name="Review_Presentation_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eview_Presentation_Templat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Review_Presentation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view_Presentation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view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Document Uploading for this Collaboration Meeting</Template>
  <TotalTime>1447</TotalTime>
  <Words>969</Words>
  <Application>Microsoft Office PowerPoint</Application>
  <PresentationFormat>On-screen Show (4:3)</PresentationFormat>
  <Paragraphs>226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Review_Presentation_Template</vt:lpstr>
      <vt:lpstr>High Level LHC Schottky Software Development</vt:lpstr>
      <vt:lpstr>High Level LHC Schottky Software</vt:lpstr>
      <vt:lpstr>Schottky Software</vt:lpstr>
      <vt:lpstr>Design Concept: Monitor and Control &amp; Display</vt:lpstr>
      <vt:lpstr>Monitor Application</vt:lpstr>
      <vt:lpstr>Daemon: Interaction with Schottky</vt:lpstr>
      <vt:lpstr>The Control and Display Application</vt:lpstr>
      <vt:lpstr>Control &amp; Display App (1/3)</vt:lpstr>
      <vt:lpstr>Control &amp; Display App (2/3)</vt:lpstr>
      <vt:lpstr>Control &amp; Display App (3/3)</vt:lpstr>
      <vt:lpstr>Screen Shots of GUI</vt:lpstr>
      <vt:lpstr>Tab for Contour and Trace (1/6)</vt:lpstr>
      <vt:lpstr>Post-Mortem data dump (200 spectra)</vt:lpstr>
      <vt:lpstr>Tab for Time Plot (2/6)</vt:lpstr>
      <vt:lpstr>Time Plot for Post-Mortem Data</vt:lpstr>
      <vt:lpstr>Tab for Electronic States (3/6)</vt:lpstr>
      <vt:lpstr>Tab for Tune Resonance Lines (4/6)</vt:lpstr>
      <vt:lpstr>Tab for Configuration Editor (5/6)</vt:lpstr>
      <vt:lpstr>Details of Configuration Editor</vt:lpstr>
      <vt:lpstr>Bunch Gates: View and Set (Popup window, 6/6)</vt:lpstr>
      <vt:lpstr>Running the Suite</vt:lpstr>
      <vt:lpstr>Comments</vt:lpstr>
      <vt:lpstr>Summary</vt:lpstr>
    </vt:vector>
  </TitlesOfParts>
  <Company>Fermilab | Accelerator Division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Abcd </dc:title>
  <dc:creator>jcai</dc:creator>
  <cp:lastModifiedBy>Elliott McCrory</cp:lastModifiedBy>
  <cp:revision>167</cp:revision>
  <dcterms:created xsi:type="dcterms:W3CDTF">2008-11-12T20:08:39Z</dcterms:created>
  <dcterms:modified xsi:type="dcterms:W3CDTF">2009-01-28T14:17:51Z</dcterms:modified>
</cp:coreProperties>
</file>