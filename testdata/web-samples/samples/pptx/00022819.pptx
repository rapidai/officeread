
<file path=[Content_Types].xml><?xml version="1.0" encoding="utf-8"?>
<Types xmlns="http://schemas.openxmlformats.org/package/2006/content-types">
  <Default Extension="rels" ContentType="application/vnd.openxmlformats-package.relationships+xml"/>
  <Override PartName="/ppt/slideLayouts/slideLayout1.xml" ContentType="application/vnd.openxmlformats-officedocument.presentationml.slideLayout+xml"/>
  <Default Extension="png" ContentType="image/png"/>
  <Override PartName="/ppt/slides/slide11.xml" ContentType="application/vnd.openxmlformats-officedocument.presentationml.slide+xml"/>
  <Default Extension="xml" ContentType="application/xml"/>
  <Override PartName="/ppt/slides/slide9.xml" ContentType="application/vnd.openxmlformats-officedocument.presentationml.slide+xml"/>
  <Default Extension="jpeg" ContentType="image/jpeg"/>
  <Override PartName="/ppt/notesSlides/notesSlide3.xml" ContentType="application/vnd.openxmlformats-officedocument.presentationml.notesSlide+xml"/>
  <Override PartName="/ppt/tableStyles.xml" ContentType="application/vnd.openxmlformats-officedocument.presentationml.tableStyles+xml"/>
  <Override PartName="/ppt/slideLayouts/slideLayout8.xml" ContentType="application/vnd.openxmlformats-officedocument.presentationml.slideLayout+xml"/>
  <Override PartName="/ppt/slides/slide7.xml" ContentType="application/vnd.openxmlformats-officedocument.presentationml.slide+xml"/>
  <Override PartName="/ppt/notesSlides/notesSlide1.xml" ContentType="application/vnd.openxmlformats-officedocument.presentationml.notesSlide+xml"/>
  <Override PartName="/ppt/slideLayouts/slideLayout6.xml" ContentType="application/vnd.openxmlformats-officedocument.presentationml.slideLayout+xml"/>
  <Override PartName="/ppt/slides/slide5.xml" ContentType="application/vnd.openxmlformats-officedocument.presentationml.slide+xml"/>
  <Override PartName="/ppt/theme/theme2.xml" ContentType="application/vnd.openxmlformats-officedocument.theme+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s/slide3.xml" ContentType="application/vnd.openxmlformats-officedocument.presentationml.slide+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Layouts/slideLayout2.xml" ContentType="application/vnd.openxmlformats-officedocument.presentationml.slideLayout+xml"/>
  <Override PartName="/ppt/slides/slide1.xml" ContentType="application/vnd.openxmlformats-officedocument.presentationml.slide+xml"/>
  <Override PartName="/ppt/slides/slide12.xml" ContentType="application/vnd.openxmlformats-officedocument.presentationml.slide+xml"/>
  <Default Extension="bin" ContentType="application/vnd.openxmlformats-officedocument.presentationml.printerSettings"/>
  <Override PartName="/ppt/notesSlides/notesSlide4.xml" ContentType="application/vnd.openxmlformats-officedocument.presentationml.notesSlide+xml"/>
  <Override PartName="/ppt/slides/slide10.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8.xml" ContentType="application/vnd.openxmlformats-officedocument.presentationml.slide+xml"/>
  <Override PartName="/ppt/presentation.xml" ContentType="application/vnd.openxmlformats-officedocument.presentationml.presentation.main+xml"/>
  <Override PartName="/ppt/notesSlides/notesSlide2.xml" ContentType="application/vnd.openxmlformats-officedocument.presentationml.notesSlide+xml"/>
  <Override PartName="/ppt/slideLayouts/slideLayout7.xml" ContentType="application/vnd.openxmlformats-officedocument.presentationml.slideLayout+xml"/>
  <Override PartName="/ppt/slides/slide6.xml" ContentType="application/vnd.openxmlformats-officedocument.presentationml.slide+xml"/>
  <Override PartName="/ppt/notesMasters/notesMaster1.xml" ContentType="application/vnd.openxmlformats-officedocument.presentationml.notesMaster+xml"/>
  <Override PartName="/ppt/slideLayouts/slideLayout5.xml" ContentType="application/vnd.openxmlformats-officedocument.presentationml.slideLayout+xml"/>
  <Override PartName="/ppt/slides/slide4.xml" ContentType="application/vnd.openxmlformats-officedocument.presentationml.slide+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slideLayouts/slideLayout3.xml" ContentType="application/vnd.openxmlformats-officedocument.presentationml.slideLayout+xml"/>
  <Override PartName="/ppt/slides/slide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p:sldMasterIdLst>
    <p:sldMasterId id="2147483648" r:id="rId1"/>
  </p:sldMasterIdLst>
  <p:notesMasterIdLst>
    <p:notesMasterId r:id="rId15"/>
  </p:notesMasterIdLst>
  <p:sldIdLst>
    <p:sldId id="257" r:id="rId2"/>
    <p:sldId id="260" r:id="rId3"/>
    <p:sldId id="264" r:id="rId4"/>
    <p:sldId id="281" r:id="rId5"/>
    <p:sldId id="269" r:id="rId6"/>
    <p:sldId id="270" r:id="rId7"/>
    <p:sldId id="283" r:id="rId8"/>
    <p:sldId id="284" r:id="rId9"/>
    <p:sldId id="285" r:id="rId10"/>
    <p:sldId id="286" r:id="rId11"/>
    <p:sldId id="287" r:id="rId12"/>
    <p:sldId id="282" r:id="rId13"/>
    <p:sldId id="268"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5620"/>
    <p:restoredTop sz="76362" autoAdjust="0"/>
  </p:normalViewPr>
  <p:slideViewPr>
    <p:cSldViewPr snapToObjects="1">
      <p:cViewPr varScale="1">
        <p:scale>
          <a:sx n="125" d="100"/>
          <a:sy n="125" d="100"/>
        </p:scale>
        <p:origin x="-1976" y="-11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interSettings" Target="printerSettings/printerSettings1.bin"/><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FB475F-D36C-4EAC-B876-33B9AB5CAA1C}" type="datetimeFigureOut">
              <a:rPr lang="en-US" smtClean="0"/>
              <a:pPr/>
              <a:t>11/29/10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BCBB8C-0D40-4D41-9251-DFF097A52C8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Both remapped to the 2 </a:t>
            </a:r>
            <a:r>
              <a:rPr lang="en-US" smtClean="0"/>
              <a:t>km resolution.</a:t>
            </a:r>
            <a:endParaRPr lang="en-US"/>
          </a:p>
        </p:txBody>
      </p:sp>
      <p:sp>
        <p:nvSpPr>
          <p:cNvPr id="4" name="Slide Number Placeholder 3"/>
          <p:cNvSpPr>
            <a:spLocks noGrp="1"/>
          </p:cNvSpPr>
          <p:nvPr>
            <p:ph type="sldNum" sz="quarter" idx="10"/>
          </p:nvPr>
        </p:nvSpPr>
        <p:spPr/>
        <p:txBody>
          <a:bodyPr/>
          <a:lstStyle/>
          <a:p>
            <a:fld id="{3FBCBB8C-0D40-4D41-9251-DFF097A52C8C}" type="slidenum">
              <a:rPr lang="en-US" smtClean="0"/>
              <a:pPr/>
              <a:t>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We are putting data into the HDF5 versus the</a:t>
            </a:r>
            <a:r>
              <a:rPr lang="en-US" baseline="0" dirty="0" smtClean="0"/>
              <a:t> meta database.  Matt has new version to install.  What is the next step?  Where is </a:t>
            </a:r>
            <a:r>
              <a:rPr lang="en-US" baseline="0" dirty="0" err="1" smtClean="0"/>
              <a:t>McIDAS</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3FBCBB8C-0D40-4D41-9251-DFF097A52C8C}" type="slidenum">
              <a:rPr lang="en-US" smtClean="0"/>
              <a:pPr/>
              <a:t>8</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FBCBB8C-0D40-4D41-9251-DFF097A52C8C}" type="slidenum">
              <a:rPr lang="en-US" smtClean="0"/>
              <a:pPr/>
              <a:t>10</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List likely candidates from </a:t>
            </a:r>
            <a:r>
              <a:rPr lang="en-US" smtClean="0"/>
              <a:t>Kevin’s slide</a:t>
            </a:r>
            <a:endParaRPr lang="en-US" dirty="0"/>
          </a:p>
        </p:txBody>
      </p:sp>
      <p:sp>
        <p:nvSpPr>
          <p:cNvPr id="4" name="Slide Number Placeholder 3"/>
          <p:cNvSpPr>
            <a:spLocks noGrp="1"/>
          </p:cNvSpPr>
          <p:nvPr>
            <p:ph type="sldNum" sz="quarter" idx="10"/>
          </p:nvPr>
        </p:nvSpPr>
        <p:spPr/>
        <p:txBody>
          <a:bodyPr/>
          <a:lstStyle/>
          <a:p>
            <a:fld id="{3FBCBB8C-0D40-4D41-9251-DFF097A52C8C}" type="slidenum">
              <a:rPr lang="en-US" smtClean="0"/>
              <a:pPr/>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677EB92-BE16-4E5C-B761-DB70D3D0188B}" type="datetimeFigureOut">
              <a:rPr lang="en-US" smtClean="0"/>
              <a:pPr/>
              <a:t>11/29/10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C029A-05B1-4C59-88F0-2A3517C847ED}"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677EB92-BE16-4E5C-B761-DB70D3D0188B}" type="datetimeFigureOut">
              <a:rPr lang="en-US" smtClean="0"/>
              <a:pPr/>
              <a:t>11/29/10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C029A-05B1-4C59-88F0-2A3517C847E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677EB92-BE16-4E5C-B761-DB70D3D0188B}" type="datetimeFigureOut">
              <a:rPr lang="en-US" smtClean="0"/>
              <a:pPr/>
              <a:t>11/29/10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C029A-05B1-4C59-88F0-2A3517C847E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677EB92-BE16-4E5C-B761-DB70D3D0188B}" type="datetimeFigureOut">
              <a:rPr lang="en-US" smtClean="0"/>
              <a:pPr/>
              <a:t>11/29/10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C029A-05B1-4C59-88F0-2A3517C847E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677EB92-BE16-4E5C-B761-DB70D3D0188B}" type="datetimeFigureOut">
              <a:rPr lang="en-US" smtClean="0"/>
              <a:pPr/>
              <a:t>11/29/10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0C029A-05B1-4C59-88F0-2A3517C847E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677EB92-BE16-4E5C-B761-DB70D3D0188B}" type="datetimeFigureOut">
              <a:rPr lang="en-US" smtClean="0"/>
              <a:pPr/>
              <a:t>11/29/10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0C029A-05B1-4C59-88F0-2A3517C847E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77EB92-BE16-4E5C-B761-DB70D3D0188B}" type="datetimeFigureOut">
              <a:rPr lang="en-US" smtClean="0"/>
              <a:pPr/>
              <a:t>11/29/10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0C029A-05B1-4C59-88F0-2A3517C847E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677EB92-BE16-4E5C-B761-DB70D3D0188B}" type="datetimeFigureOut">
              <a:rPr lang="en-US" smtClean="0"/>
              <a:pPr/>
              <a:t>11/29/10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C029A-05B1-4C59-88F0-2A3517C847E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677EB92-BE16-4E5C-B761-DB70D3D0188B}" type="datetimeFigureOut">
              <a:rPr lang="en-US" smtClean="0"/>
              <a:pPr/>
              <a:t>11/29/10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C029A-05B1-4C59-88F0-2A3517C847E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677EB92-BE16-4E5C-B761-DB70D3D0188B}" type="datetimeFigureOut">
              <a:rPr lang="en-US" smtClean="0"/>
              <a:pPr/>
              <a:t>11/29/10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C029A-05B1-4C59-88F0-2A3517C847E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677EB92-BE16-4E5C-B761-DB70D3D0188B}" type="datetimeFigureOut">
              <a:rPr lang="en-US" smtClean="0"/>
              <a:pPr/>
              <a:t>11/29/10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C029A-05B1-4C59-88F0-2A3517C847E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 Id="rId14" Type="http://schemas.openxmlformats.org/officeDocument/2006/relationships/image" Target="../media/image2.png"/><Relationship Id="rId15"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pic>
        <p:nvPicPr>
          <p:cNvPr id="7" name="Picture 6" descr="globe.jpg"/>
          <p:cNvPicPr>
            <a:picLocks noChangeAspect="1"/>
          </p:cNvPicPr>
          <p:nvPr userDrawn="1"/>
        </p:nvPicPr>
        <p:blipFill>
          <a:blip r:embed="rId13" cstate="print"/>
          <a:stretch>
            <a:fillRect/>
          </a:stretch>
        </p:blipFill>
        <p:spPr>
          <a:xfrm>
            <a:off x="0" y="0"/>
            <a:ext cx="5664200" cy="3759200"/>
          </a:xfrm>
          <a:prstGeom prst="rect">
            <a:avLst/>
          </a:prstGeom>
        </p:spPr>
      </p:pic>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77EB92-BE16-4E5C-B761-DB70D3D0188B}" type="datetimeFigureOut">
              <a:rPr lang="en-US" smtClean="0"/>
              <a:pPr/>
              <a:t>11/29/10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0C029A-05B1-4C59-88F0-2A3517C847ED}" type="slidenum">
              <a:rPr lang="en-US" smtClean="0"/>
              <a:pPr/>
              <a:t>‹#›</a:t>
            </a:fld>
            <a:endParaRPr lang="en-US"/>
          </a:p>
        </p:txBody>
      </p:sp>
      <p:grpSp>
        <p:nvGrpSpPr>
          <p:cNvPr id="8" name="Group 13"/>
          <p:cNvGrpSpPr>
            <a:grpSpLocks/>
          </p:cNvGrpSpPr>
          <p:nvPr userDrawn="1"/>
        </p:nvGrpSpPr>
        <p:grpSpPr bwMode="auto">
          <a:xfrm>
            <a:off x="0" y="6143625"/>
            <a:ext cx="9086850" cy="714375"/>
            <a:chOff x="0" y="6143625"/>
            <a:chExt cx="9086850" cy="714375"/>
          </a:xfrm>
        </p:grpSpPr>
        <p:pic>
          <p:nvPicPr>
            <p:cNvPr id="9" name="Picture 4" descr="sportredblue.gif"/>
            <p:cNvPicPr>
              <a:picLocks noChangeAspect="1"/>
            </p:cNvPicPr>
            <p:nvPr/>
          </p:nvPicPr>
          <p:blipFill>
            <a:blip r:embed="rId14" cstate="print"/>
            <a:srcRect/>
            <a:stretch>
              <a:fillRect/>
            </a:stretch>
          </p:blipFill>
          <p:spPr bwMode="auto">
            <a:xfrm>
              <a:off x="0" y="6209772"/>
              <a:ext cx="2286000" cy="648228"/>
            </a:xfrm>
            <a:prstGeom prst="rect">
              <a:avLst/>
            </a:prstGeom>
            <a:noFill/>
            <a:ln w="9525">
              <a:noFill/>
              <a:miter lim="800000"/>
              <a:headEnd/>
              <a:tailEnd/>
            </a:ln>
          </p:spPr>
        </p:pic>
        <p:pic>
          <p:nvPicPr>
            <p:cNvPr id="10" name="Picture 6" descr="nasa.gif"/>
            <p:cNvPicPr>
              <a:picLocks noChangeAspect="1"/>
            </p:cNvPicPr>
            <p:nvPr/>
          </p:nvPicPr>
          <p:blipFill>
            <a:blip r:embed="rId15" cstate="print">
              <a:clrChange>
                <a:clrFrom>
                  <a:srgbClr val="FFFFFF"/>
                </a:clrFrom>
                <a:clrTo>
                  <a:srgbClr val="FFFFFF">
                    <a:alpha val="0"/>
                  </a:srgbClr>
                </a:clrTo>
              </a:clrChange>
            </a:blip>
            <a:srcRect/>
            <a:stretch>
              <a:fillRect/>
            </a:stretch>
          </p:blipFill>
          <p:spPr bwMode="auto">
            <a:xfrm>
              <a:off x="8229600" y="6143625"/>
              <a:ext cx="857250" cy="714375"/>
            </a:xfrm>
            <a:prstGeom prst="rect">
              <a:avLst/>
            </a:prstGeom>
            <a:noFill/>
            <a:ln w="9525">
              <a:noFill/>
              <a:miter lim="800000"/>
              <a:headEnd/>
              <a:tailEnd/>
            </a:ln>
          </p:spPr>
        </p:pic>
        <p:grpSp>
          <p:nvGrpSpPr>
            <p:cNvPr id="11" name="Group 11"/>
            <p:cNvGrpSpPr>
              <a:grpSpLocks/>
            </p:cNvGrpSpPr>
            <p:nvPr/>
          </p:nvGrpSpPr>
          <p:grpSpPr bwMode="auto">
            <a:xfrm>
              <a:off x="2286000" y="6525768"/>
              <a:ext cx="5784521" cy="179832"/>
              <a:chOff x="2514600" y="5916168"/>
              <a:chExt cx="5784521" cy="179832"/>
            </a:xfrm>
          </p:grpSpPr>
          <p:sp>
            <p:nvSpPr>
              <p:cNvPr id="13" name="Line 13"/>
              <p:cNvSpPr>
                <a:spLocks noChangeShapeType="1"/>
              </p:cNvSpPr>
              <p:nvPr/>
            </p:nvSpPr>
            <p:spPr bwMode="auto">
              <a:xfrm>
                <a:off x="2697480" y="5916168"/>
                <a:ext cx="5601641" cy="0"/>
              </a:xfrm>
              <a:prstGeom prst="line">
                <a:avLst/>
              </a:prstGeom>
              <a:noFill/>
              <a:ln w="38100">
                <a:solidFill>
                  <a:srgbClr val="CC0000"/>
                </a:solidFill>
                <a:round/>
                <a:headEnd/>
                <a:tailEnd/>
              </a:ln>
            </p:spPr>
            <p:txBody>
              <a:bodyPr/>
              <a:lstStyle/>
              <a:p>
                <a:endParaRPr lang="en-US"/>
              </a:p>
            </p:txBody>
          </p:sp>
          <p:sp>
            <p:nvSpPr>
              <p:cNvPr id="14" name="Line 14"/>
              <p:cNvSpPr>
                <a:spLocks noChangeShapeType="1"/>
              </p:cNvSpPr>
              <p:nvPr/>
            </p:nvSpPr>
            <p:spPr bwMode="auto">
              <a:xfrm>
                <a:off x="2603123" y="6007608"/>
                <a:ext cx="5604700" cy="0"/>
              </a:xfrm>
              <a:prstGeom prst="line">
                <a:avLst/>
              </a:prstGeom>
              <a:noFill/>
              <a:ln w="38100">
                <a:solidFill>
                  <a:srgbClr val="CC0000"/>
                </a:solidFill>
                <a:round/>
                <a:headEnd/>
                <a:tailEnd/>
              </a:ln>
            </p:spPr>
            <p:txBody>
              <a:bodyPr/>
              <a:lstStyle/>
              <a:p>
                <a:endParaRPr lang="en-US"/>
              </a:p>
            </p:txBody>
          </p:sp>
          <p:sp>
            <p:nvSpPr>
              <p:cNvPr id="15" name="Line 15"/>
              <p:cNvSpPr>
                <a:spLocks noChangeShapeType="1"/>
              </p:cNvSpPr>
              <p:nvPr/>
            </p:nvSpPr>
            <p:spPr bwMode="auto">
              <a:xfrm>
                <a:off x="2514600" y="6096000"/>
                <a:ext cx="5601641" cy="0"/>
              </a:xfrm>
              <a:prstGeom prst="line">
                <a:avLst/>
              </a:prstGeom>
              <a:noFill/>
              <a:ln w="38100">
                <a:solidFill>
                  <a:srgbClr val="CC0000"/>
                </a:solidFill>
                <a:round/>
                <a:headEnd/>
                <a:tailEnd/>
              </a:ln>
            </p:spPr>
            <p:txBody>
              <a:bodyPr/>
              <a:lstStyle/>
              <a:p>
                <a:endParaRPr lang="en-US"/>
              </a:p>
            </p:txBody>
          </p:sp>
        </p:grpSp>
        <p:sp>
          <p:nvSpPr>
            <p:cNvPr id="12" name="Text Box 16"/>
            <p:cNvSpPr txBox="1">
              <a:spLocks noChangeArrowheads="1"/>
            </p:cNvSpPr>
            <p:nvPr/>
          </p:nvSpPr>
          <p:spPr bwMode="auto">
            <a:xfrm>
              <a:off x="2667000" y="6245225"/>
              <a:ext cx="5173663" cy="292100"/>
            </a:xfrm>
            <a:prstGeom prst="rect">
              <a:avLst/>
            </a:prstGeom>
            <a:noFill/>
            <a:ln w="9525">
              <a:noFill/>
              <a:miter lim="800000"/>
              <a:headEnd/>
              <a:tailEnd/>
            </a:ln>
            <a:effectLst/>
          </p:spPr>
          <p:txBody>
            <a:bodyPr wrap="none">
              <a:spAutoFit/>
            </a:bodyPr>
            <a:lstStyle/>
            <a:p>
              <a:pPr>
                <a:defRPr/>
              </a:pPr>
              <a:r>
                <a:rPr lang="en-US" sz="1300" b="1" dirty="0">
                  <a:solidFill>
                    <a:schemeClr val="bg1">
                      <a:lumMod val="50000"/>
                    </a:schemeClr>
                  </a:solidFill>
                  <a:latin typeface="+mn-lt"/>
                </a:rPr>
                <a:t>transitioning unique NASA data and research technologies to operations</a:t>
              </a: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1" Type="http://schemas.openxmlformats.org/officeDocument/2006/relationships/slideLayout" Target="../slideLayouts/slideLayout1.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 Id="rId3" Type="http://schemas.openxmlformats.org/officeDocument/2006/relationships/hyperlink" Target="http://nasasport.wordpress.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52" name="Title 1"/>
          <p:cNvSpPr>
            <a:spLocks noGrp="1"/>
          </p:cNvSpPr>
          <p:nvPr>
            <p:ph type="ctrTitle"/>
          </p:nvPr>
        </p:nvSpPr>
        <p:spPr>
          <a:xfrm>
            <a:off x="838200" y="1676400"/>
            <a:ext cx="7620000" cy="993775"/>
          </a:xfrm>
        </p:spPr>
        <p:txBody>
          <a:bodyPr>
            <a:normAutofit fontScale="90000"/>
          </a:bodyPr>
          <a:lstStyle/>
          <a:p>
            <a:pPr eaLnBrk="1" hangingPunct="1"/>
            <a:r>
              <a:rPr lang="en-US" dirty="0" smtClean="0">
                <a:effectLst>
                  <a:outerShdw blurRad="38100" dist="38100" dir="2700000" algn="tl">
                    <a:srgbClr val="000000">
                      <a:alpha val="43137"/>
                    </a:srgbClr>
                  </a:outerShdw>
                </a:effectLst>
              </a:rPr>
              <a:t>SPoRT Update </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GOES-R Proving Ground</a:t>
            </a:r>
          </a:p>
        </p:txBody>
      </p:sp>
      <p:sp>
        <p:nvSpPr>
          <p:cNvPr id="3" name="Subtitle 2"/>
          <p:cNvSpPr>
            <a:spLocks noGrp="1"/>
          </p:cNvSpPr>
          <p:nvPr>
            <p:ph type="subTitle" idx="1"/>
          </p:nvPr>
        </p:nvSpPr>
        <p:spPr>
          <a:xfrm>
            <a:off x="304800" y="3352800"/>
            <a:ext cx="8458200" cy="838200"/>
          </a:xfrm>
        </p:spPr>
        <p:txBody>
          <a:bodyPr rtlCol="0">
            <a:normAutofit/>
          </a:bodyPr>
          <a:lstStyle/>
          <a:p>
            <a:pPr eaLnBrk="1" fontAlgn="auto" hangingPunct="1">
              <a:spcAft>
                <a:spcPts val="0"/>
              </a:spcAft>
              <a:defRPr/>
            </a:pPr>
            <a:r>
              <a:rPr lang="en-US" sz="2000" b="1" dirty="0" smtClean="0">
                <a:solidFill>
                  <a:schemeClr val="tx1">
                    <a:lumMod val="75000"/>
                    <a:lumOff val="25000"/>
                  </a:schemeClr>
                </a:solidFill>
              </a:rPr>
              <a:t>November 23, 2010</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SPoRT</a:t>
            </a:r>
            <a:r>
              <a:rPr lang="en-US" dirty="0" smtClean="0"/>
              <a:t> Developed PG Products</a:t>
            </a:r>
            <a:br>
              <a:rPr lang="en-US" dirty="0" smtClean="0"/>
            </a:br>
            <a:r>
              <a:rPr lang="en-US" dirty="0" smtClean="0"/>
              <a:t>Hybrid MODIS Imagery</a:t>
            </a:r>
            <a:endParaRPr lang="en-US" dirty="0"/>
          </a:p>
        </p:txBody>
      </p:sp>
      <p:sp>
        <p:nvSpPr>
          <p:cNvPr id="3" name="Content Placeholder 2"/>
          <p:cNvSpPr>
            <a:spLocks noGrp="1"/>
          </p:cNvSpPr>
          <p:nvPr>
            <p:ph sz="half" idx="1"/>
          </p:nvPr>
        </p:nvSpPr>
        <p:spPr>
          <a:xfrm>
            <a:off x="152400" y="1600200"/>
            <a:ext cx="3276600" cy="4525963"/>
          </a:xfrm>
        </p:spPr>
        <p:txBody>
          <a:bodyPr>
            <a:normAutofit lnSpcReduction="10000"/>
          </a:bodyPr>
          <a:lstStyle/>
          <a:p>
            <a:pPr>
              <a:buNone/>
            </a:pPr>
            <a:r>
              <a:rPr lang="en-US" sz="2600" dirty="0" smtClean="0"/>
              <a:t>Hybrid – GOES/MODIS Imagery as NRT proxy to ABI</a:t>
            </a:r>
          </a:p>
          <a:p>
            <a:pPr lvl="1"/>
            <a:r>
              <a:rPr lang="en-US" sz="2200" dirty="0" smtClean="0"/>
              <a:t>Match spatial res.  </a:t>
            </a:r>
            <a:br>
              <a:rPr lang="en-US" sz="2200" dirty="0" smtClean="0"/>
            </a:br>
            <a:r>
              <a:rPr lang="en-US" sz="2200" dirty="0" smtClean="0"/>
              <a:t>2 km for IR </a:t>
            </a:r>
            <a:br>
              <a:rPr lang="en-US" sz="2200" dirty="0" smtClean="0"/>
            </a:br>
            <a:r>
              <a:rPr lang="en-US" sz="2200" dirty="0" smtClean="0"/>
              <a:t>500 m for vis.</a:t>
            </a:r>
          </a:p>
          <a:p>
            <a:pPr lvl="1"/>
            <a:r>
              <a:rPr lang="en-US" sz="2200" dirty="0" smtClean="0"/>
              <a:t>Temporal res. 15 minutes </a:t>
            </a:r>
            <a:r>
              <a:rPr lang="en-US" sz="2200" dirty="0" err="1" smtClean="0"/>
              <a:t>vs</a:t>
            </a:r>
            <a:r>
              <a:rPr lang="en-US" sz="2200" dirty="0" smtClean="0"/>
              <a:t> 5 minute</a:t>
            </a:r>
          </a:p>
          <a:p>
            <a:pPr lvl="1"/>
            <a:r>
              <a:rPr lang="en-US" sz="2200" dirty="0" smtClean="0"/>
              <a:t>Insert MODIS into a  GOES image for continuity to loop.</a:t>
            </a:r>
          </a:p>
          <a:p>
            <a:pPr lvl="1"/>
            <a:r>
              <a:rPr lang="en-US" sz="2200" dirty="0" smtClean="0"/>
              <a:t>Bowtie corrected.</a:t>
            </a:r>
          </a:p>
          <a:p>
            <a:pPr lvl="1"/>
            <a:endParaRPr lang="en-US" sz="2200" dirty="0" smtClean="0"/>
          </a:p>
          <a:p>
            <a:pPr lvl="1"/>
            <a:endParaRPr lang="en-US" dirty="0"/>
          </a:p>
        </p:txBody>
      </p:sp>
      <p:pic>
        <p:nvPicPr>
          <p:cNvPr id="7" name="Content Placeholder 6" descr="Hybrid_example_SRE_11um_1731.png"/>
          <p:cNvPicPr>
            <a:picLocks noGrp="1" noChangeAspect="1"/>
          </p:cNvPicPr>
          <p:nvPr>
            <p:ph sz="half" idx="2"/>
          </p:nvPr>
        </p:nvPicPr>
        <p:blipFill>
          <a:blip r:embed="rId2" cstate="print"/>
          <a:stretch>
            <a:fillRect/>
          </a:stretch>
        </p:blipFill>
        <p:spPr>
          <a:xfrm>
            <a:off x="3581400" y="1490201"/>
            <a:ext cx="5334000" cy="4635962"/>
          </a:xfr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Hybrid Domains – SRW, SRE</a:t>
            </a:r>
            <a:endParaRPr lang="en-US" dirty="0"/>
          </a:p>
        </p:txBody>
      </p:sp>
      <p:pic>
        <p:nvPicPr>
          <p:cNvPr id="4" name="Content Placeholder 3" descr="Hybrid_example_SRE_11um_1731.png"/>
          <p:cNvPicPr>
            <a:picLocks noGrp="1" noChangeAspect="1"/>
          </p:cNvPicPr>
          <p:nvPr>
            <p:ph idx="1"/>
          </p:nvPr>
        </p:nvPicPr>
        <p:blipFill>
          <a:blip r:embed="rId2" cstate="print"/>
          <a:stretch>
            <a:fillRect/>
          </a:stretch>
        </p:blipFill>
        <p:spPr>
          <a:xfrm>
            <a:off x="4419600" y="1676400"/>
            <a:ext cx="4646693" cy="4038600"/>
          </a:xfrm>
        </p:spPr>
      </p:pic>
      <p:pic>
        <p:nvPicPr>
          <p:cNvPr id="5" name="Picture 4" descr="Hybrid_example_SRW_11um_0801.png"/>
          <p:cNvPicPr>
            <a:picLocks noChangeAspect="1"/>
          </p:cNvPicPr>
          <p:nvPr/>
        </p:nvPicPr>
        <p:blipFill>
          <a:blip r:embed="rId3" cstate="print"/>
          <a:stretch>
            <a:fillRect/>
          </a:stretch>
        </p:blipFill>
        <p:spPr>
          <a:xfrm>
            <a:off x="76200" y="1600201"/>
            <a:ext cx="4646692" cy="4038599"/>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Hybrid Products</a:t>
            </a:r>
            <a:endParaRPr lang="en-US" dirty="0"/>
          </a:p>
        </p:txBody>
      </p:sp>
      <p:sp>
        <p:nvSpPr>
          <p:cNvPr id="3" name="Text Placeholder 2"/>
          <p:cNvSpPr>
            <a:spLocks noGrp="1"/>
          </p:cNvSpPr>
          <p:nvPr>
            <p:ph type="body" idx="1"/>
          </p:nvPr>
        </p:nvSpPr>
        <p:spPr/>
        <p:txBody>
          <a:bodyPr>
            <a:normAutofit/>
          </a:bodyPr>
          <a:lstStyle/>
          <a:p>
            <a:r>
              <a:rPr lang="en-US" dirty="0" smtClean="0"/>
              <a:t>2 km Regional Products</a:t>
            </a:r>
            <a:endParaRPr lang="en-US" dirty="0"/>
          </a:p>
        </p:txBody>
      </p:sp>
      <p:sp>
        <p:nvSpPr>
          <p:cNvPr id="4" name="Content Placeholder 3"/>
          <p:cNvSpPr>
            <a:spLocks noGrp="1"/>
          </p:cNvSpPr>
          <p:nvPr>
            <p:ph sz="half" idx="2"/>
          </p:nvPr>
        </p:nvSpPr>
        <p:spPr/>
        <p:txBody>
          <a:bodyPr/>
          <a:lstStyle/>
          <a:p>
            <a:r>
              <a:rPr lang="en-US" dirty="0" smtClean="0"/>
              <a:t>11um</a:t>
            </a:r>
          </a:p>
          <a:p>
            <a:r>
              <a:rPr lang="en-US" dirty="0" smtClean="0"/>
              <a:t>3.9um</a:t>
            </a:r>
          </a:p>
          <a:p>
            <a:r>
              <a:rPr lang="en-US" dirty="0" smtClean="0"/>
              <a:t>Water Vapor</a:t>
            </a:r>
          </a:p>
        </p:txBody>
      </p:sp>
      <p:sp>
        <p:nvSpPr>
          <p:cNvPr id="5" name="Text Placeholder 4"/>
          <p:cNvSpPr>
            <a:spLocks noGrp="1"/>
          </p:cNvSpPr>
          <p:nvPr>
            <p:ph type="body" sz="quarter" idx="3"/>
          </p:nvPr>
        </p:nvSpPr>
        <p:spPr/>
        <p:txBody>
          <a:bodyPr/>
          <a:lstStyle/>
          <a:p>
            <a:r>
              <a:rPr lang="en-US" dirty="0" smtClean="0"/>
              <a:t>500 m State Scale</a:t>
            </a:r>
            <a:endParaRPr lang="en-US" dirty="0"/>
          </a:p>
        </p:txBody>
      </p:sp>
      <p:sp>
        <p:nvSpPr>
          <p:cNvPr id="6" name="Content Placeholder 5"/>
          <p:cNvSpPr>
            <a:spLocks noGrp="1"/>
          </p:cNvSpPr>
          <p:nvPr>
            <p:ph sz="quarter" idx="4"/>
          </p:nvPr>
        </p:nvSpPr>
        <p:spPr/>
        <p:txBody>
          <a:bodyPr/>
          <a:lstStyle/>
          <a:p>
            <a:r>
              <a:rPr lang="en-US" dirty="0" smtClean="0"/>
              <a:t>Visible</a:t>
            </a:r>
          </a:p>
          <a:p>
            <a:pPr lvl="1"/>
            <a:r>
              <a:rPr lang="en-US" dirty="0" smtClean="0"/>
              <a:t>Huntsville</a:t>
            </a:r>
          </a:p>
          <a:p>
            <a:pPr lvl="1"/>
            <a:r>
              <a:rPr lang="en-US" dirty="0" smtClean="0"/>
              <a:t>Nashville</a:t>
            </a:r>
          </a:p>
          <a:p>
            <a:pPr lvl="1"/>
            <a:r>
              <a:rPr lang="en-US" dirty="0" smtClean="0"/>
              <a:t>Morristown/Knoxville</a:t>
            </a:r>
          </a:p>
          <a:p>
            <a:pPr lvl="1"/>
            <a:r>
              <a:rPr lang="en-US" dirty="0" smtClean="0"/>
              <a:t>Melbourne</a:t>
            </a:r>
          </a:p>
          <a:p>
            <a:pPr lvl="1"/>
            <a:r>
              <a:rPr lang="en-US" dirty="0" smtClean="0"/>
              <a:t>Jackson</a:t>
            </a:r>
          </a:p>
          <a:p>
            <a:pPr lvl="1"/>
            <a:r>
              <a:rPr lang="en-US" dirty="0" smtClean="0"/>
              <a:t>Corpus Christi</a:t>
            </a:r>
          </a:p>
          <a:p>
            <a:pPr lvl="1"/>
            <a:r>
              <a:rPr lang="en-US" dirty="0" smtClean="0"/>
              <a:t>Houston/Galveston</a:t>
            </a:r>
          </a:p>
          <a:p>
            <a:pPr lvl="1"/>
            <a:r>
              <a:rPr lang="en-US" dirty="0" smtClean="0"/>
              <a:t>Albuquerque</a:t>
            </a:r>
          </a:p>
        </p:txBody>
      </p:sp>
      <p:sp>
        <p:nvSpPr>
          <p:cNvPr id="7" name="TextBox 6"/>
          <p:cNvSpPr txBox="1"/>
          <p:nvPr/>
        </p:nvSpPr>
        <p:spPr>
          <a:xfrm>
            <a:off x="228600" y="3581400"/>
            <a:ext cx="4416425" cy="2585323"/>
          </a:xfrm>
          <a:prstGeom prst="rect">
            <a:avLst/>
          </a:prstGeom>
          <a:solidFill>
            <a:schemeClr val="accent1">
              <a:lumMod val="40000"/>
              <a:lumOff val="60000"/>
            </a:schemeClr>
          </a:solidFill>
        </p:spPr>
        <p:txBody>
          <a:bodyPr wrap="square" rtlCol="0">
            <a:spAutoFit/>
          </a:bodyPr>
          <a:lstStyle/>
          <a:p>
            <a:r>
              <a:rPr lang="en-US" dirty="0" smtClean="0"/>
              <a:t>SPoRT has demonstrated these products to its intended users of active collaborators.  Each of the WFOs to the right has been contacted to formally evaluate these PG products along with Pseudo-GLM products from SPoRT.  Their “official” response is pending, along with their feedback as to which products they want to concentrate their evaluation efforts.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PG Hybrid SRE 11um MW example</a:t>
            </a:r>
            <a:endParaRPr lang="en-US" dirty="0"/>
          </a:p>
        </p:txBody>
      </p:sp>
      <p:pic>
        <p:nvPicPr>
          <p:cNvPr id="4" name="Content Placeholder 3" descr="Hybrid_example_SRE_11um_1715_zoom_midwestlow.png"/>
          <p:cNvPicPr>
            <a:picLocks noGrp="1" noChangeAspect="1"/>
          </p:cNvPicPr>
          <p:nvPr>
            <p:ph idx="1"/>
          </p:nvPr>
        </p:nvPicPr>
        <p:blipFill>
          <a:blip r:embed="rId3" cstate="print"/>
          <a:stretch>
            <a:fillRect/>
          </a:stretch>
        </p:blipFill>
        <p:spPr>
          <a:xfrm>
            <a:off x="1968281" y="1600200"/>
            <a:ext cx="5207438" cy="4525963"/>
          </a:xfr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PG Hybrid SRE 11um MW example</a:t>
            </a:r>
            <a:endParaRPr lang="en-US" dirty="0"/>
          </a:p>
        </p:txBody>
      </p:sp>
      <p:pic>
        <p:nvPicPr>
          <p:cNvPr id="6" name="Content Placeholder 5" descr="Hybrid_example_SRE_11um_1731_zoom_midwestlow.png"/>
          <p:cNvPicPr>
            <a:picLocks noGrp="1" noChangeAspect="1"/>
          </p:cNvPicPr>
          <p:nvPr>
            <p:ph idx="1"/>
          </p:nvPr>
        </p:nvPicPr>
        <p:blipFill>
          <a:blip r:embed="rId2" cstate="print"/>
          <a:stretch>
            <a:fillRect/>
          </a:stretch>
        </p:blipFill>
        <p:spPr>
          <a:xfrm>
            <a:off x="1968281" y="1600200"/>
            <a:ext cx="5207438" cy="4525963"/>
          </a:xfr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52" name="Title 1"/>
          <p:cNvSpPr>
            <a:spLocks noGrp="1"/>
          </p:cNvSpPr>
          <p:nvPr>
            <p:ph type="ctrTitle"/>
          </p:nvPr>
        </p:nvSpPr>
        <p:spPr>
          <a:xfrm>
            <a:off x="838200" y="152400"/>
            <a:ext cx="7620000" cy="993775"/>
          </a:xfrm>
        </p:spPr>
        <p:txBody>
          <a:bodyPr>
            <a:normAutofit/>
          </a:bodyPr>
          <a:lstStyle/>
          <a:p>
            <a:pPr eaLnBrk="1" hangingPunct="1"/>
            <a:r>
              <a:rPr lang="en-US" dirty="0" smtClean="0">
                <a:effectLst>
                  <a:outerShdw blurRad="38100" dist="38100" dir="2700000" algn="tl">
                    <a:srgbClr val="000000">
                      <a:alpha val="43137"/>
                    </a:srgbClr>
                  </a:outerShdw>
                </a:effectLst>
              </a:rPr>
              <a:t>Total Lightning in AWIPS II</a:t>
            </a:r>
          </a:p>
        </p:txBody>
      </p:sp>
      <p:pic>
        <p:nvPicPr>
          <p:cNvPr id="2" name="Picture 4"/>
          <p:cNvPicPr>
            <a:picLocks noChangeAspect="1" noChangeArrowheads="1"/>
          </p:cNvPicPr>
          <p:nvPr/>
        </p:nvPicPr>
        <p:blipFill>
          <a:blip r:embed="rId2" cstate="print"/>
          <a:srcRect/>
          <a:stretch>
            <a:fillRect/>
          </a:stretch>
        </p:blipFill>
        <p:spPr bwMode="auto">
          <a:xfrm>
            <a:off x="1752600" y="1066800"/>
            <a:ext cx="5791200" cy="5038564"/>
          </a:xfrm>
          <a:prstGeom prst="rect">
            <a:avLst/>
          </a:prstGeom>
          <a:noFill/>
          <a:ln w="15875">
            <a:solidFill>
              <a:schemeClr val="tx2">
                <a:lumMod val="75000"/>
              </a:schemeClr>
            </a:solidFill>
            <a:miter lim="800000"/>
            <a:headEnd/>
            <a:tailEnd/>
          </a:ln>
        </p:spPr>
      </p:pic>
      <p:pic>
        <p:nvPicPr>
          <p:cNvPr id="2054" name="Picture 6"/>
          <p:cNvPicPr>
            <a:picLocks noChangeAspect="1" noChangeArrowheads="1"/>
          </p:cNvPicPr>
          <p:nvPr/>
        </p:nvPicPr>
        <p:blipFill>
          <a:blip r:embed="rId3" cstate="print"/>
          <a:srcRect/>
          <a:stretch>
            <a:fillRect/>
          </a:stretch>
        </p:blipFill>
        <p:spPr bwMode="auto">
          <a:xfrm>
            <a:off x="1752600" y="1066800"/>
            <a:ext cx="3162118" cy="152400"/>
          </a:xfrm>
          <a:prstGeom prst="rect">
            <a:avLst/>
          </a:prstGeom>
          <a:noFill/>
          <a:ln w="9525">
            <a:solidFill>
              <a:schemeClr val="bg1">
                <a:lumMod val="50000"/>
              </a:schemeClr>
            </a:solidFill>
            <a:miter lim="800000"/>
            <a:headEnd/>
            <a:tailEnd/>
          </a:ln>
        </p:spPr>
      </p:pic>
      <p:sp>
        <p:nvSpPr>
          <p:cNvPr id="25" name="Rounded Rectangle 24"/>
          <p:cNvSpPr/>
          <p:nvPr/>
        </p:nvSpPr>
        <p:spPr>
          <a:xfrm>
            <a:off x="6096000" y="2438400"/>
            <a:ext cx="1905000" cy="1143000"/>
          </a:xfrm>
          <a:prstGeom prst="roundRect">
            <a:avLst/>
          </a:prstGeom>
          <a:solidFill>
            <a:srgbClr val="18335E"/>
          </a:solidFill>
          <a:ln>
            <a:solidFill>
              <a:srgbClr val="2C5D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lumMod val="95000"/>
                  </a:schemeClr>
                </a:solidFill>
                <a:latin typeface="+mj-lt"/>
              </a:rPr>
              <a:t>AWIPS I “style” interpolation in AWIPS II</a:t>
            </a:r>
            <a:endParaRPr lang="en-US" sz="2000" dirty="0">
              <a:solidFill>
                <a:schemeClr val="bg1">
                  <a:lumMod val="95000"/>
                </a:schemeClr>
              </a:solidFill>
              <a:latin typeface="+mj-lt"/>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9" name="Picture 5"/>
          <p:cNvPicPr>
            <a:picLocks noChangeAspect="1" noChangeArrowheads="1"/>
          </p:cNvPicPr>
          <p:nvPr/>
        </p:nvPicPr>
        <p:blipFill>
          <a:blip r:embed="rId3" cstate="print"/>
          <a:srcRect/>
          <a:stretch>
            <a:fillRect/>
          </a:stretch>
        </p:blipFill>
        <p:spPr bwMode="auto">
          <a:xfrm>
            <a:off x="1752600" y="1066800"/>
            <a:ext cx="5791200" cy="5054794"/>
          </a:xfrm>
          <a:prstGeom prst="rect">
            <a:avLst/>
          </a:prstGeom>
          <a:noFill/>
          <a:ln w="15875">
            <a:solidFill>
              <a:schemeClr val="tx2">
                <a:lumMod val="75000"/>
              </a:schemeClr>
            </a:solidFill>
            <a:miter lim="800000"/>
            <a:headEnd/>
            <a:tailEnd/>
          </a:ln>
        </p:spPr>
      </p:pic>
      <p:pic>
        <p:nvPicPr>
          <p:cNvPr id="10" name="Picture 6"/>
          <p:cNvPicPr>
            <a:picLocks noChangeAspect="1" noChangeArrowheads="1"/>
          </p:cNvPicPr>
          <p:nvPr/>
        </p:nvPicPr>
        <p:blipFill>
          <a:blip r:embed="rId4" cstate="print"/>
          <a:srcRect/>
          <a:stretch>
            <a:fillRect/>
          </a:stretch>
        </p:blipFill>
        <p:spPr bwMode="auto">
          <a:xfrm>
            <a:off x="1752600" y="1066800"/>
            <a:ext cx="3162118" cy="152400"/>
          </a:xfrm>
          <a:prstGeom prst="rect">
            <a:avLst/>
          </a:prstGeom>
          <a:noFill/>
          <a:ln w="9525">
            <a:solidFill>
              <a:schemeClr val="bg1">
                <a:lumMod val="50000"/>
              </a:schemeClr>
            </a:solidFill>
            <a:miter lim="800000"/>
            <a:headEnd/>
            <a:tailEnd/>
          </a:ln>
        </p:spPr>
      </p:pic>
      <p:sp>
        <p:nvSpPr>
          <p:cNvPr id="11" name="Rounded Rectangle 10"/>
          <p:cNvSpPr/>
          <p:nvPr/>
        </p:nvSpPr>
        <p:spPr>
          <a:xfrm>
            <a:off x="6096000" y="2438400"/>
            <a:ext cx="1828800" cy="762000"/>
          </a:xfrm>
          <a:prstGeom prst="roundRect">
            <a:avLst/>
          </a:prstGeom>
          <a:solidFill>
            <a:srgbClr val="18335E"/>
          </a:solidFill>
          <a:ln>
            <a:solidFill>
              <a:srgbClr val="2C5D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lumMod val="95000"/>
                  </a:schemeClr>
                </a:solidFill>
                <a:latin typeface="+mj-lt"/>
              </a:rPr>
              <a:t>AWIPS II “raw data” display</a:t>
            </a:r>
            <a:endParaRPr lang="en-US" sz="2000" dirty="0">
              <a:solidFill>
                <a:schemeClr val="bg1">
                  <a:lumMod val="95000"/>
                </a:schemeClr>
              </a:solidFill>
              <a:latin typeface="+mj-lt"/>
            </a:endParaRPr>
          </a:p>
        </p:txBody>
      </p:sp>
      <p:sp>
        <p:nvSpPr>
          <p:cNvPr id="13" name="Title 1"/>
          <p:cNvSpPr>
            <a:spLocks noGrp="1"/>
          </p:cNvSpPr>
          <p:nvPr>
            <p:ph type="ctrTitle"/>
          </p:nvPr>
        </p:nvSpPr>
        <p:spPr>
          <a:xfrm>
            <a:off x="838200" y="152400"/>
            <a:ext cx="7620000" cy="993775"/>
          </a:xfrm>
        </p:spPr>
        <p:txBody>
          <a:bodyPr>
            <a:normAutofit/>
          </a:bodyPr>
          <a:lstStyle/>
          <a:p>
            <a:pPr eaLnBrk="1" hangingPunct="1"/>
            <a:r>
              <a:rPr lang="en-US" dirty="0" smtClean="0">
                <a:effectLst>
                  <a:outerShdw blurRad="38100" dist="38100" dir="2700000" algn="tl">
                    <a:srgbClr val="000000">
                      <a:alpha val="43137"/>
                    </a:srgbClr>
                  </a:outerShdw>
                </a:effectLst>
              </a:rPr>
              <a:t>Total Lightning in AWIPS II</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52" name="Title 1"/>
          <p:cNvSpPr>
            <a:spLocks noGrp="1"/>
          </p:cNvSpPr>
          <p:nvPr>
            <p:ph type="ctrTitle"/>
          </p:nvPr>
        </p:nvSpPr>
        <p:spPr>
          <a:xfrm>
            <a:off x="838200" y="152400"/>
            <a:ext cx="7620000" cy="993775"/>
          </a:xfrm>
        </p:spPr>
        <p:txBody>
          <a:bodyPr>
            <a:normAutofit/>
          </a:bodyPr>
          <a:lstStyle/>
          <a:p>
            <a:pPr eaLnBrk="1" hangingPunct="1"/>
            <a:r>
              <a:rPr lang="en-US" dirty="0" smtClean="0">
                <a:effectLst>
                  <a:outerShdw blurRad="38100" dist="38100" dir="2700000" algn="tl">
                    <a:srgbClr val="000000">
                      <a:alpha val="43137"/>
                    </a:srgbClr>
                  </a:outerShdw>
                </a:effectLst>
              </a:rPr>
              <a:t>What is the Pseudo-GLM?</a:t>
            </a:r>
          </a:p>
        </p:txBody>
      </p:sp>
      <p:sp>
        <p:nvSpPr>
          <p:cNvPr id="3" name="TextBox 2"/>
          <p:cNvSpPr txBox="1"/>
          <p:nvPr/>
        </p:nvSpPr>
        <p:spPr>
          <a:xfrm>
            <a:off x="152400" y="2362200"/>
            <a:ext cx="3962400" cy="2569934"/>
          </a:xfrm>
          <a:prstGeom prst="rect">
            <a:avLst/>
          </a:prstGeom>
          <a:noFill/>
        </p:spPr>
        <p:txBody>
          <a:bodyPr wrap="square" rtlCol="0">
            <a:spAutoFit/>
          </a:bodyPr>
          <a:lstStyle/>
          <a:p>
            <a:pPr>
              <a:buFont typeface="Arial" pitchFamily="34" charset="0"/>
              <a:buChar char="•"/>
            </a:pPr>
            <a:r>
              <a:rPr lang="en-US" sz="2400" dirty="0" smtClean="0"/>
              <a:t>  Uses ground-based LMA</a:t>
            </a:r>
          </a:p>
          <a:p>
            <a:pPr lvl="1">
              <a:spcAft>
                <a:spcPts val="600"/>
              </a:spcAft>
              <a:buFont typeface="Calibri" pitchFamily="34" charset="0"/>
              <a:buChar char="—"/>
            </a:pPr>
            <a:r>
              <a:rPr lang="en-US" sz="2000" dirty="0" smtClean="0"/>
              <a:t>  Use any available network</a:t>
            </a:r>
          </a:p>
          <a:p>
            <a:pPr marL="227013" indent="-227013">
              <a:buFont typeface="Arial" pitchFamily="34" charset="0"/>
              <a:buChar char="•"/>
            </a:pPr>
            <a:r>
              <a:rPr lang="en-US" sz="2400" dirty="0" smtClean="0"/>
              <a:t>Different from current displays</a:t>
            </a:r>
          </a:p>
          <a:p>
            <a:pPr marL="684213" lvl="1" indent="-227013">
              <a:buFont typeface="Calibri" pitchFamily="34" charset="0"/>
              <a:buChar char="—"/>
            </a:pPr>
            <a:r>
              <a:rPr lang="en-US" sz="2000" dirty="0" smtClean="0"/>
              <a:t>  Uses </a:t>
            </a:r>
            <a:r>
              <a:rPr lang="en-US" sz="2000" u="sng" dirty="0" smtClean="0"/>
              <a:t>flash</a:t>
            </a:r>
            <a:r>
              <a:rPr lang="en-US" sz="2000" dirty="0" smtClean="0"/>
              <a:t> density</a:t>
            </a:r>
          </a:p>
          <a:p>
            <a:pPr marL="684213" lvl="1" indent="-227013">
              <a:buFont typeface="Calibri" pitchFamily="34" charset="0"/>
              <a:buChar char="—"/>
            </a:pPr>
            <a:r>
              <a:rPr lang="en-US" sz="2000" dirty="0" smtClean="0"/>
              <a:t>  10 km resolution</a:t>
            </a:r>
          </a:p>
          <a:p>
            <a:pPr marL="227013" indent="-227013">
              <a:buFont typeface="Arial" pitchFamily="34" charset="0"/>
              <a:buChar char="•"/>
            </a:pPr>
            <a:r>
              <a:rPr lang="en-US" sz="2400" dirty="0" smtClean="0"/>
              <a:t>Same temporal resolution</a:t>
            </a:r>
            <a:endParaRPr lang="en-US" sz="2400" dirty="0"/>
          </a:p>
        </p:txBody>
      </p:sp>
      <p:pic>
        <p:nvPicPr>
          <p:cNvPr id="1027" name="Picture 3"/>
          <p:cNvPicPr>
            <a:picLocks noChangeAspect="1" noChangeArrowheads="1"/>
          </p:cNvPicPr>
          <p:nvPr/>
        </p:nvPicPr>
        <p:blipFill>
          <a:blip r:embed="rId2" cstate="print"/>
          <a:srcRect/>
          <a:stretch>
            <a:fillRect/>
          </a:stretch>
        </p:blipFill>
        <p:spPr bwMode="auto">
          <a:xfrm>
            <a:off x="4267200" y="1447801"/>
            <a:ext cx="1898791" cy="2201616"/>
          </a:xfrm>
          <a:prstGeom prst="roundRect">
            <a:avLst/>
          </a:prstGeom>
          <a:noFill/>
          <a:ln w="15875">
            <a:solidFill>
              <a:schemeClr val="tx2"/>
            </a:solidFill>
            <a:miter lim="800000"/>
            <a:headEnd/>
            <a:tailEnd/>
          </a:ln>
        </p:spPr>
      </p:pic>
      <p:pic>
        <p:nvPicPr>
          <p:cNvPr id="1028" name="Picture 4"/>
          <p:cNvPicPr>
            <a:picLocks noChangeAspect="1" noChangeArrowheads="1"/>
          </p:cNvPicPr>
          <p:nvPr/>
        </p:nvPicPr>
        <p:blipFill>
          <a:blip r:embed="rId3" cstate="print"/>
          <a:srcRect/>
          <a:stretch>
            <a:fillRect/>
          </a:stretch>
        </p:blipFill>
        <p:spPr bwMode="auto">
          <a:xfrm>
            <a:off x="6629400" y="1447800"/>
            <a:ext cx="1915160" cy="2209800"/>
          </a:xfrm>
          <a:prstGeom prst="roundRect">
            <a:avLst/>
          </a:prstGeom>
          <a:noFill/>
          <a:ln w="15875">
            <a:solidFill>
              <a:schemeClr val="tx2"/>
            </a:solidFill>
            <a:miter lim="800000"/>
            <a:headEnd/>
            <a:tailEnd/>
          </a:ln>
        </p:spPr>
      </p:pic>
      <p:pic>
        <p:nvPicPr>
          <p:cNvPr id="1029" name="Picture 5"/>
          <p:cNvPicPr>
            <a:picLocks noChangeAspect="1" noChangeArrowheads="1"/>
          </p:cNvPicPr>
          <p:nvPr/>
        </p:nvPicPr>
        <p:blipFill>
          <a:blip r:embed="rId4" cstate="print"/>
          <a:srcRect/>
          <a:stretch>
            <a:fillRect/>
          </a:stretch>
        </p:blipFill>
        <p:spPr bwMode="auto">
          <a:xfrm>
            <a:off x="4191000" y="4038600"/>
            <a:ext cx="2174966" cy="2057400"/>
          </a:xfrm>
          <a:prstGeom prst="roundRect">
            <a:avLst/>
          </a:prstGeom>
          <a:noFill/>
          <a:ln w="15875">
            <a:solidFill>
              <a:schemeClr val="tx2"/>
            </a:solid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6554444" y="4038600"/>
            <a:ext cx="2208556" cy="2057400"/>
          </a:xfrm>
          <a:prstGeom prst="roundRect">
            <a:avLst/>
          </a:prstGeom>
          <a:noFill/>
          <a:ln w="15875">
            <a:solidFill>
              <a:schemeClr val="tx2"/>
            </a:solidFill>
            <a:miter lim="800000"/>
            <a:headEnd/>
            <a:tailEnd/>
          </a:ln>
        </p:spPr>
      </p:pic>
      <p:sp>
        <p:nvSpPr>
          <p:cNvPr id="25" name="Rounded Rectangle 24"/>
          <p:cNvSpPr/>
          <p:nvPr/>
        </p:nvSpPr>
        <p:spPr>
          <a:xfrm>
            <a:off x="5334000" y="1066800"/>
            <a:ext cx="2438400" cy="533400"/>
          </a:xfrm>
          <a:prstGeom prst="roundRect">
            <a:avLst/>
          </a:prstGeom>
          <a:solidFill>
            <a:srgbClr val="18335E"/>
          </a:solidFill>
          <a:ln>
            <a:solidFill>
              <a:srgbClr val="2C5D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lumMod val="95000"/>
                  </a:schemeClr>
                </a:solidFill>
                <a:latin typeface="+mj-lt"/>
              </a:rPr>
              <a:t>North Alabama Data</a:t>
            </a:r>
            <a:endParaRPr lang="en-US" sz="2000" dirty="0">
              <a:solidFill>
                <a:schemeClr val="bg1">
                  <a:lumMod val="95000"/>
                </a:schemeClr>
              </a:solidFill>
              <a:latin typeface="+mj-lt"/>
            </a:endParaRPr>
          </a:p>
        </p:txBody>
      </p:sp>
      <p:sp>
        <p:nvSpPr>
          <p:cNvPr id="26" name="Rounded Rectangle 25"/>
          <p:cNvSpPr/>
          <p:nvPr/>
        </p:nvSpPr>
        <p:spPr>
          <a:xfrm>
            <a:off x="4419600" y="3505200"/>
            <a:ext cx="1676400" cy="533400"/>
          </a:xfrm>
          <a:prstGeom prst="roundRect">
            <a:avLst/>
          </a:prstGeom>
          <a:solidFill>
            <a:srgbClr val="18335E"/>
          </a:solidFill>
          <a:ln>
            <a:solidFill>
              <a:srgbClr val="2C5D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lumMod val="95000"/>
                  </a:schemeClr>
                </a:solidFill>
                <a:latin typeface="+mj-lt"/>
              </a:rPr>
              <a:t>Pseudo-GLM</a:t>
            </a:r>
            <a:endParaRPr lang="en-US" sz="2000" dirty="0">
              <a:solidFill>
                <a:schemeClr val="bg1">
                  <a:lumMod val="95000"/>
                </a:schemeClr>
              </a:solidFill>
              <a:latin typeface="+mj-lt"/>
            </a:endParaRPr>
          </a:p>
        </p:txBody>
      </p:sp>
      <p:sp>
        <p:nvSpPr>
          <p:cNvPr id="27" name="Rounded Rectangle 26"/>
          <p:cNvSpPr/>
          <p:nvPr/>
        </p:nvSpPr>
        <p:spPr>
          <a:xfrm>
            <a:off x="6781800" y="3505200"/>
            <a:ext cx="1828800" cy="533400"/>
          </a:xfrm>
          <a:prstGeom prst="roundRect">
            <a:avLst/>
          </a:prstGeom>
          <a:solidFill>
            <a:srgbClr val="18335E"/>
          </a:solidFill>
          <a:ln>
            <a:solidFill>
              <a:srgbClr val="2C5D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lumMod val="95000"/>
                  </a:schemeClr>
                </a:solidFill>
                <a:latin typeface="+mj-lt"/>
              </a:rPr>
              <a:t>Source Density</a:t>
            </a:r>
            <a:endParaRPr lang="en-US" sz="2000" dirty="0">
              <a:solidFill>
                <a:schemeClr val="bg1">
                  <a:lumMod val="95000"/>
                </a:schemeClr>
              </a:solidFill>
              <a:latin typeface="+mj-lt"/>
            </a:endParaRPr>
          </a:p>
        </p:txBody>
      </p:sp>
      <p:sp>
        <p:nvSpPr>
          <p:cNvPr id="28" name="Rounded Rectangle 27"/>
          <p:cNvSpPr/>
          <p:nvPr/>
        </p:nvSpPr>
        <p:spPr>
          <a:xfrm>
            <a:off x="5181600" y="5715000"/>
            <a:ext cx="2590800" cy="533400"/>
          </a:xfrm>
          <a:prstGeom prst="roundRect">
            <a:avLst/>
          </a:prstGeom>
          <a:solidFill>
            <a:srgbClr val="18335E"/>
          </a:solidFill>
          <a:ln>
            <a:solidFill>
              <a:srgbClr val="2C5D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lumMod val="95000"/>
                  </a:schemeClr>
                </a:solidFill>
                <a:latin typeface="+mj-lt"/>
              </a:rPr>
              <a:t>Kennedy Space Center</a:t>
            </a:r>
            <a:endParaRPr lang="en-US" sz="2000" dirty="0">
              <a:solidFill>
                <a:schemeClr val="bg1">
                  <a:lumMod val="95000"/>
                </a:schemeClr>
              </a:solidFill>
              <a:latin typeface="+mj-lt"/>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52" name="Title 1"/>
          <p:cNvSpPr>
            <a:spLocks noGrp="1"/>
          </p:cNvSpPr>
          <p:nvPr>
            <p:ph type="ctrTitle"/>
          </p:nvPr>
        </p:nvSpPr>
        <p:spPr>
          <a:xfrm>
            <a:off x="304800" y="152400"/>
            <a:ext cx="4876800" cy="993775"/>
          </a:xfrm>
        </p:spPr>
        <p:txBody>
          <a:bodyPr>
            <a:normAutofit fontScale="90000"/>
          </a:bodyPr>
          <a:lstStyle/>
          <a:p>
            <a:pPr eaLnBrk="1" hangingPunct="1"/>
            <a:r>
              <a:rPr lang="en-US" dirty="0" smtClean="0">
                <a:effectLst>
                  <a:outerShdw blurRad="38100" dist="38100" dir="2700000" algn="tl">
                    <a:srgbClr val="000000">
                      <a:alpha val="43137"/>
                    </a:srgbClr>
                  </a:outerShdw>
                </a:effectLst>
              </a:rPr>
              <a:t>Other Pseudo-GLM Products</a:t>
            </a:r>
          </a:p>
        </p:txBody>
      </p:sp>
      <p:pic>
        <p:nvPicPr>
          <p:cNvPr id="1032" name="Picture 8"/>
          <p:cNvPicPr>
            <a:picLocks noChangeAspect="1" noChangeArrowheads="1"/>
          </p:cNvPicPr>
          <p:nvPr/>
        </p:nvPicPr>
        <p:blipFill>
          <a:blip r:embed="rId3" cstate="print"/>
          <a:srcRect/>
          <a:stretch>
            <a:fillRect/>
          </a:stretch>
        </p:blipFill>
        <p:spPr bwMode="auto">
          <a:xfrm>
            <a:off x="5486400" y="3276600"/>
            <a:ext cx="3051506" cy="2819400"/>
          </a:xfrm>
          <a:prstGeom prst="roundRect">
            <a:avLst/>
          </a:prstGeom>
          <a:noFill/>
          <a:ln w="15875">
            <a:solidFill>
              <a:schemeClr val="tx2"/>
            </a:solidFill>
            <a:miter lim="800000"/>
            <a:headEnd/>
            <a:tailEnd/>
          </a:ln>
        </p:spPr>
      </p:pic>
      <p:pic>
        <p:nvPicPr>
          <p:cNvPr id="1033" name="Picture 9"/>
          <p:cNvPicPr>
            <a:picLocks noChangeAspect="1" noChangeArrowheads="1"/>
          </p:cNvPicPr>
          <p:nvPr/>
        </p:nvPicPr>
        <p:blipFill>
          <a:blip r:embed="rId4" cstate="print"/>
          <a:srcRect/>
          <a:stretch>
            <a:fillRect/>
          </a:stretch>
        </p:blipFill>
        <p:spPr bwMode="auto">
          <a:xfrm>
            <a:off x="5486400" y="152400"/>
            <a:ext cx="3044678" cy="2826226"/>
          </a:xfrm>
          <a:prstGeom prst="roundRect">
            <a:avLst/>
          </a:prstGeom>
          <a:noFill/>
          <a:ln w="15875">
            <a:solidFill>
              <a:schemeClr val="tx2"/>
            </a:solidFill>
            <a:miter lim="800000"/>
            <a:headEnd/>
            <a:tailEnd/>
          </a:ln>
        </p:spPr>
      </p:pic>
      <p:pic>
        <p:nvPicPr>
          <p:cNvPr id="1034" name="Picture 10"/>
          <p:cNvPicPr>
            <a:picLocks noChangeAspect="1" noChangeArrowheads="1"/>
          </p:cNvPicPr>
          <p:nvPr/>
        </p:nvPicPr>
        <p:blipFill>
          <a:blip r:embed="rId5" cstate="print"/>
          <a:srcRect/>
          <a:stretch>
            <a:fillRect/>
          </a:stretch>
        </p:blipFill>
        <p:spPr bwMode="auto">
          <a:xfrm>
            <a:off x="228600" y="1447800"/>
            <a:ext cx="4648200" cy="4314697"/>
          </a:xfrm>
          <a:prstGeom prst="roundRect">
            <a:avLst/>
          </a:prstGeom>
          <a:noFill/>
          <a:ln w="15875">
            <a:solidFill>
              <a:schemeClr val="tx2"/>
            </a:solidFill>
            <a:miter lim="800000"/>
            <a:headEnd/>
            <a:tailEnd/>
          </a:ln>
        </p:spPr>
      </p:pic>
      <p:sp>
        <p:nvSpPr>
          <p:cNvPr id="12" name="Rounded Rectangle 11"/>
          <p:cNvSpPr/>
          <p:nvPr/>
        </p:nvSpPr>
        <p:spPr>
          <a:xfrm>
            <a:off x="457200" y="2133600"/>
            <a:ext cx="1600200" cy="457200"/>
          </a:xfrm>
          <a:prstGeom prst="roundRect">
            <a:avLst/>
          </a:prstGeom>
          <a:solidFill>
            <a:srgbClr val="18335E"/>
          </a:solidFill>
          <a:ln>
            <a:solidFill>
              <a:srgbClr val="2C5D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lumMod val="95000"/>
                  </a:schemeClr>
                </a:solidFill>
                <a:latin typeface="+mj-lt"/>
              </a:rPr>
              <a:t>2-min PGLM</a:t>
            </a:r>
            <a:endParaRPr lang="en-US" sz="2000" dirty="0">
              <a:solidFill>
                <a:schemeClr val="bg1">
                  <a:lumMod val="95000"/>
                </a:schemeClr>
              </a:solidFill>
              <a:latin typeface="+mj-lt"/>
            </a:endParaRPr>
          </a:p>
        </p:txBody>
      </p:sp>
      <p:sp>
        <p:nvSpPr>
          <p:cNvPr id="13" name="Rounded Rectangle 12"/>
          <p:cNvSpPr/>
          <p:nvPr/>
        </p:nvSpPr>
        <p:spPr>
          <a:xfrm>
            <a:off x="4876800" y="762000"/>
            <a:ext cx="1828800" cy="457200"/>
          </a:xfrm>
          <a:prstGeom prst="roundRect">
            <a:avLst/>
          </a:prstGeom>
          <a:solidFill>
            <a:srgbClr val="18335E"/>
          </a:solidFill>
          <a:ln>
            <a:solidFill>
              <a:srgbClr val="2C5D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lumMod val="95000"/>
                  </a:schemeClr>
                </a:solidFill>
                <a:latin typeface="+mj-lt"/>
              </a:rPr>
              <a:t>Rate of Change</a:t>
            </a:r>
          </a:p>
        </p:txBody>
      </p:sp>
      <p:sp>
        <p:nvSpPr>
          <p:cNvPr id="14" name="Rounded Rectangle 13"/>
          <p:cNvSpPr/>
          <p:nvPr/>
        </p:nvSpPr>
        <p:spPr>
          <a:xfrm>
            <a:off x="5029200" y="3352800"/>
            <a:ext cx="1371600" cy="1066800"/>
          </a:xfrm>
          <a:prstGeom prst="roundRect">
            <a:avLst/>
          </a:prstGeom>
          <a:solidFill>
            <a:srgbClr val="18335E"/>
          </a:solidFill>
          <a:ln>
            <a:solidFill>
              <a:srgbClr val="2C5D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lumMod val="95000"/>
                  </a:schemeClr>
                </a:solidFill>
                <a:latin typeface="+mj-lt"/>
              </a:rPr>
              <a:t>30 min Maximum Density</a:t>
            </a:r>
            <a:endParaRPr lang="en-US" sz="2000" dirty="0">
              <a:solidFill>
                <a:schemeClr val="bg1">
                  <a:lumMod val="95000"/>
                </a:schemeClr>
              </a:solidFill>
              <a:latin typeface="+mj-lt"/>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52" name="Title 1"/>
          <p:cNvSpPr>
            <a:spLocks noGrp="1"/>
          </p:cNvSpPr>
          <p:nvPr>
            <p:ph type="ctrTitle"/>
          </p:nvPr>
        </p:nvSpPr>
        <p:spPr>
          <a:xfrm>
            <a:off x="838200" y="152400"/>
            <a:ext cx="7620000" cy="993775"/>
          </a:xfrm>
        </p:spPr>
        <p:txBody>
          <a:bodyPr>
            <a:normAutofit/>
          </a:bodyPr>
          <a:lstStyle/>
          <a:p>
            <a:pPr eaLnBrk="1" hangingPunct="1"/>
            <a:r>
              <a:rPr lang="en-US" dirty="0" err="1" smtClean="0">
                <a:effectLst>
                  <a:outerShdw blurRad="38100" dist="38100" dir="2700000" algn="tl">
                    <a:srgbClr val="000000">
                      <a:alpha val="43137"/>
                    </a:srgbClr>
                  </a:outerShdw>
                </a:effectLst>
              </a:rPr>
              <a:t>SPoRT</a:t>
            </a:r>
            <a:r>
              <a:rPr lang="en-US" dirty="0" smtClean="0">
                <a:effectLst>
                  <a:outerShdw blurRad="38100" dist="38100" dir="2700000" algn="tl">
                    <a:srgbClr val="000000">
                      <a:alpha val="43137"/>
                    </a:srgbClr>
                  </a:outerShdw>
                </a:effectLst>
              </a:rPr>
              <a:t> Partner Collaborations</a:t>
            </a:r>
          </a:p>
        </p:txBody>
      </p:sp>
      <p:sp>
        <p:nvSpPr>
          <p:cNvPr id="7" name="TextBox 6"/>
          <p:cNvSpPr txBox="1"/>
          <p:nvPr/>
        </p:nvSpPr>
        <p:spPr>
          <a:xfrm>
            <a:off x="381000" y="1998345"/>
            <a:ext cx="3962400" cy="2954655"/>
          </a:xfrm>
          <a:prstGeom prst="rect">
            <a:avLst/>
          </a:prstGeom>
          <a:noFill/>
        </p:spPr>
        <p:txBody>
          <a:bodyPr wrap="square" rtlCol="0">
            <a:spAutoFit/>
          </a:bodyPr>
          <a:lstStyle/>
          <a:p>
            <a:pPr marL="227013" indent="-227013">
              <a:spcAft>
                <a:spcPts val="600"/>
              </a:spcAft>
              <a:buFont typeface="Arial" pitchFamily="34" charset="0"/>
              <a:buChar char="•"/>
            </a:pPr>
            <a:r>
              <a:rPr lang="en-US" sz="2400" dirty="0" smtClean="0"/>
              <a:t>Will not replace existing total lightning data</a:t>
            </a:r>
          </a:p>
          <a:p>
            <a:pPr marL="227013" indent="-227013">
              <a:buFont typeface="Arial" pitchFamily="34" charset="0"/>
              <a:buChar char="•"/>
            </a:pPr>
            <a:r>
              <a:rPr lang="en-US" sz="2400" dirty="0" smtClean="0"/>
              <a:t>Recommend WES case</a:t>
            </a:r>
          </a:p>
          <a:p>
            <a:pPr marL="796925" lvl="1" indent="-339725">
              <a:buFont typeface="Calibri" pitchFamily="34" charset="0"/>
              <a:buChar char="—"/>
            </a:pPr>
            <a:r>
              <a:rPr lang="en-US" sz="2000" dirty="0" smtClean="0"/>
              <a:t>PGLM not likely to be used in real-time</a:t>
            </a:r>
          </a:p>
          <a:p>
            <a:pPr marL="796925" lvl="1" indent="-339725">
              <a:spcAft>
                <a:spcPts val="600"/>
              </a:spcAft>
              <a:buFont typeface="Calibri" pitchFamily="34" charset="0"/>
              <a:buChar char="—"/>
            </a:pPr>
            <a:r>
              <a:rPr lang="en-US" sz="2000" dirty="0" smtClean="0"/>
              <a:t>Allows more vigorous analysis</a:t>
            </a:r>
          </a:p>
          <a:p>
            <a:pPr marL="227013" indent="-227013">
              <a:buFont typeface="Arial" pitchFamily="34" charset="0"/>
              <a:buChar char="•"/>
            </a:pPr>
            <a:r>
              <a:rPr lang="en-US" sz="2400" dirty="0" smtClean="0"/>
              <a:t>Same temporal resolution</a:t>
            </a:r>
            <a:endParaRPr lang="en-US" sz="2400" dirty="0"/>
          </a:p>
        </p:txBody>
      </p:sp>
      <p:pic>
        <p:nvPicPr>
          <p:cNvPr id="6" name="Picture 5"/>
          <p:cNvPicPr>
            <a:picLocks noChangeAspect="1" noChangeArrowheads="1"/>
          </p:cNvPicPr>
          <p:nvPr/>
        </p:nvPicPr>
        <p:blipFill>
          <a:blip r:embed="rId3" cstate="print"/>
          <a:srcRect/>
          <a:stretch>
            <a:fillRect/>
          </a:stretch>
        </p:blipFill>
        <p:spPr bwMode="auto">
          <a:xfrm>
            <a:off x="4648200" y="1600200"/>
            <a:ext cx="4114800" cy="3994879"/>
          </a:xfrm>
          <a:prstGeom prst="roundRect">
            <a:avLst/>
          </a:prstGeom>
          <a:noFill/>
          <a:ln w="25400">
            <a:solidFill>
              <a:schemeClr val="accent1">
                <a:lumMod val="50000"/>
              </a:schemeClr>
            </a:solidFill>
            <a:miter lim="800000"/>
            <a:headEnd/>
            <a:tailEnd/>
          </a:ln>
        </p:spPr>
      </p:pic>
      <p:sp>
        <p:nvSpPr>
          <p:cNvPr id="8" name="Rounded Rectangle 7"/>
          <p:cNvSpPr/>
          <p:nvPr/>
        </p:nvSpPr>
        <p:spPr>
          <a:xfrm>
            <a:off x="6553200" y="5214079"/>
            <a:ext cx="2133600" cy="685800"/>
          </a:xfrm>
          <a:prstGeom prst="roundRect">
            <a:avLst/>
          </a:prstGeom>
          <a:solidFill>
            <a:srgbClr val="18335E"/>
          </a:solidFill>
          <a:ln>
            <a:solidFill>
              <a:srgbClr val="2C5D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lumMod val="95000"/>
                  </a:schemeClr>
                </a:solidFill>
                <a:latin typeface="+mj-lt"/>
              </a:rPr>
              <a:t>Pseudo-GLM from KSC LDAR II</a:t>
            </a:r>
            <a:endParaRPr lang="en-US" sz="2000" dirty="0">
              <a:solidFill>
                <a:schemeClr val="bg1">
                  <a:lumMod val="95000"/>
                </a:schemeClr>
              </a:solidFill>
              <a:latin typeface="+mj-lt"/>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Evaluation Plans</a:t>
            </a:r>
            <a:endParaRPr lang="en-US" dirty="0"/>
          </a:p>
        </p:txBody>
      </p:sp>
      <p:sp>
        <p:nvSpPr>
          <p:cNvPr id="3" name="Content Placeholder 2"/>
          <p:cNvSpPr>
            <a:spLocks noGrp="1"/>
          </p:cNvSpPr>
          <p:nvPr>
            <p:ph idx="1"/>
          </p:nvPr>
        </p:nvSpPr>
        <p:spPr/>
        <p:txBody>
          <a:bodyPr>
            <a:normAutofit/>
          </a:bodyPr>
          <a:lstStyle/>
          <a:p>
            <a:endParaRPr lang="en-US" sz="2400" dirty="0" smtClean="0"/>
          </a:p>
          <a:p>
            <a:r>
              <a:rPr lang="en-US" sz="2400" dirty="0" smtClean="0"/>
              <a:t>Test-bed: Huntsville WFO has been ingesting and displaying initial version of hybrid product for several months.  Ready to widen user group.</a:t>
            </a:r>
          </a:p>
          <a:p>
            <a:r>
              <a:rPr lang="en-US" sz="2400" dirty="0" smtClean="0"/>
              <a:t>Provide instructions to update D-2d with PG hybrid products to willing participants (~8) and evaluate this Winter.</a:t>
            </a:r>
          </a:p>
          <a:p>
            <a:r>
              <a:rPr lang="en-US" sz="2400" dirty="0" smtClean="0"/>
              <a:t>Prepare AWG Convective Initiation product for use within D-2d and assist AWG with training development.</a:t>
            </a:r>
          </a:p>
          <a:p>
            <a:r>
              <a:rPr lang="en-US" sz="2400" dirty="0" smtClean="0"/>
              <a:t>Look to provide other AWG products (e.g. fog), if possible.</a:t>
            </a:r>
          </a:p>
          <a:p>
            <a:r>
              <a:rPr lang="en-US" sz="2400" dirty="0" smtClean="0"/>
              <a:t>Prepare users for second evaluation period that include CI and other products in Spring (near HWT SE time period).</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Evaluation Strategy</a:t>
            </a:r>
            <a:endParaRPr lang="en-US" dirty="0"/>
          </a:p>
        </p:txBody>
      </p:sp>
      <p:sp>
        <p:nvSpPr>
          <p:cNvPr id="3" name="Content Placeholder 2"/>
          <p:cNvSpPr>
            <a:spLocks noGrp="1"/>
          </p:cNvSpPr>
          <p:nvPr>
            <p:ph sz="half" idx="1"/>
          </p:nvPr>
        </p:nvSpPr>
        <p:spPr/>
        <p:txBody>
          <a:bodyPr>
            <a:normAutofit fontScale="92500" lnSpcReduction="10000"/>
          </a:bodyPr>
          <a:lstStyle/>
          <a:p>
            <a:r>
              <a:rPr lang="en-US" sz="2400" dirty="0" smtClean="0"/>
              <a:t>Web survey to rate value of products and indicate primary application</a:t>
            </a:r>
          </a:p>
          <a:p>
            <a:pPr lvl="1"/>
            <a:r>
              <a:rPr lang="en-US" sz="2000" dirty="0" smtClean="0"/>
              <a:t>What is current forecast application?</a:t>
            </a:r>
          </a:p>
          <a:p>
            <a:pPr lvl="1"/>
            <a:r>
              <a:rPr lang="en-US" sz="2000" dirty="0" smtClean="0"/>
              <a:t>How does this change?</a:t>
            </a:r>
          </a:p>
          <a:p>
            <a:r>
              <a:rPr lang="en-US" sz="2400" dirty="0" smtClean="0"/>
              <a:t>Blog post to share with GOES-R PG community your use of the data</a:t>
            </a:r>
          </a:p>
          <a:p>
            <a:r>
              <a:rPr lang="en-US" sz="2400" dirty="0" smtClean="0"/>
              <a:t>Evaluate for 3-4 weeks and then can provide results and adjust product/display /training as needed.</a:t>
            </a:r>
            <a:endParaRPr lang="en-US" sz="2400" dirty="0"/>
          </a:p>
        </p:txBody>
      </p:sp>
      <p:pic>
        <p:nvPicPr>
          <p:cNvPr id="7" name="Content Placeholder 6" descr="Blogscreencapture.png"/>
          <p:cNvPicPr>
            <a:picLocks noGrp="1" noChangeAspect="1"/>
          </p:cNvPicPr>
          <p:nvPr>
            <p:ph sz="half" idx="2"/>
          </p:nvPr>
        </p:nvPicPr>
        <p:blipFill>
          <a:blip r:embed="rId2" cstate="print"/>
          <a:stretch>
            <a:fillRect/>
          </a:stretch>
        </p:blipFill>
        <p:spPr>
          <a:xfrm>
            <a:off x="4648200" y="1857976"/>
            <a:ext cx="4038600" cy="3552224"/>
          </a:xfrm>
        </p:spPr>
      </p:pic>
      <p:sp>
        <p:nvSpPr>
          <p:cNvPr id="8" name="TextBox 7"/>
          <p:cNvSpPr txBox="1"/>
          <p:nvPr/>
        </p:nvSpPr>
        <p:spPr>
          <a:xfrm>
            <a:off x="4648200" y="1219200"/>
            <a:ext cx="4038600" cy="646331"/>
          </a:xfrm>
          <a:prstGeom prst="rect">
            <a:avLst/>
          </a:prstGeom>
          <a:noFill/>
        </p:spPr>
        <p:txBody>
          <a:bodyPr wrap="square" rtlCol="0">
            <a:spAutoFit/>
          </a:bodyPr>
          <a:lstStyle/>
          <a:p>
            <a:pPr algn="ctr"/>
            <a:r>
              <a:rPr lang="en-US" dirty="0" smtClean="0">
                <a:hlinkClick r:id="rId3"/>
              </a:rPr>
              <a:t>Wide World of SPoRT Blog</a:t>
            </a:r>
            <a:endParaRPr lang="en-US" dirty="0" smtClean="0"/>
          </a:p>
          <a:p>
            <a:pPr algn="ctr"/>
            <a:r>
              <a:rPr lang="en-US" dirty="0" smtClean="0"/>
              <a:t>Sign up for individual accounts and alerts</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Metro</Template>
  <TotalTime>3608</TotalTime>
  <Words>524</Words>
  <Application>Microsoft Macintosh PowerPoint</Application>
  <PresentationFormat>On-screen Show (4:3)</PresentationFormat>
  <Paragraphs>75</Paragraphs>
  <Slides>13</Slides>
  <Notes>4</Notes>
  <HiddenSlides>0</HiddenSlides>
  <MMClips>0</MMClips>
  <ScaleCrop>false</ScaleCrop>
  <HeadingPairs>
    <vt:vector size="4" baseType="variant">
      <vt:variant>
        <vt:lpstr>Design Template</vt:lpstr>
      </vt:variant>
      <vt:variant>
        <vt:i4>1</vt:i4>
      </vt:variant>
      <vt:variant>
        <vt:lpstr>Slide Titles</vt:lpstr>
      </vt:variant>
      <vt:variant>
        <vt:i4>13</vt:i4>
      </vt:variant>
    </vt:vector>
  </HeadingPairs>
  <TitlesOfParts>
    <vt:vector size="14" baseType="lpstr">
      <vt:lpstr>Office Theme</vt:lpstr>
      <vt:lpstr>SPoRT Update  GOES-R Proving Ground</vt:lpstr>
      <vt:lpstr>SPoRT Developed PG Products Hybrid MODIS Imagery</vt:lpstr>
      <vt:lpstr>Hybrid Domains – SRW, SRE</vt:lpstr>
      <vt:lpstr>Hybrid Products</vt:lpstr>
      <vt:lpstr>PG Hybrid SRE 11um MW example</vt:lpstr>
      <vt:lpstr>PG Hybrid SRE 11um MW example</vt:lpstr>
      <vt:lpstr>Total Lightning in AWIPS II</vt:lpstr>
      <vt:lpstr>Total Lightning in AWIPS II</vt:lpstr>
      <vt:lpstr>What is the Pseudo-GLM?</vt:lpstr>
      <vt:lpstr>Other Pseudo-GLM Products</vt:lpstr>
      <vt:lpstr>SPoRT Partner Collaborations</vt:lpstr>
      <vt:lpstr>Evaluation Plans</vt:lpstr>
      <vt:lpstr>Evaluation Strategy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NASA SPoRT GOES-R Proving Ground Activities</dc:title>
  <dc:creator>gstano</dc:creator>
  <cp:lastModifiedBy>Joleen Feltz</cp:lastModifiedBy>
  <cp:revision>210</cp:revision>
  <dcterms:created xsi:type="dcterms:W3CDTF">2010-11-29T16:10:26Z</dcterms:created>
  <dcterms:modified xsi:type="dcterms:W3CDTF">2010-11-29T16:11:29Z</dcterms:modified>
</cp:coreProperties>
</file>