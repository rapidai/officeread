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notesSlides/notesSlide2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Default Extension="gif" ContentType="image/gif"/>
  <Override PartName="/ppt/diagrams/layout2.xml" ContentType="application/vnd.openxmlformats-officedocument.drawingml.diagramLayout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Default Extension="jpeg" ContentType="image/jpeg"/>
  <Override PartName="/ppt/slideLayouts/slideLayout3.xml" ContentType="application/vnd.openxmlformats-officedocument.presentationml.slideLayout+xml"/>
  <Override PartName="/ppt/diagrams/quickStyle1.xml" ContentType="application/vnd.openxmlformats-officedocument.drawingml.diagramStyle+xml"/>
  <Default Extension="emf" ContentType="image/x-emf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800" r:id="rId1"/>
  </p:sldMasterIdLst>
  <p:notesMasterIdLst>
    <p:notesMasterId r:id="rId22"/>
  </p:notesMasterIdLst>
  <p:sldIdLst>
    <p:sldId id="256" r:id="rId2"/>
    <p:sldId id="313" r:id="rId3"/>
    <p:sldId id="286" r:id="rId4"/>
    <p:sldId id="314" r:id="rId5"/>
    <p:sldId id="312" r:id="rId6"/>
    <p:sldId id="310" r:id="rId7"/>
    <p:sldId id="319" r:id="rId8"/>
    <p:sldId id="316" r:id="rId9"/>
    <p:sldId id="317" r:id="rId10"/>
    <p:sldId id="315" r:id="rId11"/>
    <p:sldId id="318" r:id="rId12"/>
    <p:sldId id="283" r:id="rId13"/>
    <p:sldId id="277" r:id="rId14"/>
    <p:sldId id="278" r:id="rId15"/>
    <p:sldId id="289" r:id="rId16"/>
    <p:sldId id="259" r:id="rId17"/>
    <p:sldId id="321" r:id="rId18"/>
    <p:sldId id="323" r:id="rId19"/>
    <p:sldId id="266" r:id="rId20"/>
    <p:sldId id="322" r:id="rId2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56" autoAdjust="0"/>
    <p:restoredTop sz="96131" autoAdjust="0"/>
  </p:normalViewPr>
  <p:slideViewPr>
    <p:cSldViewPr>
      <p:cViewPr>
        <p:scale>
          <a:sx n="66" d="100"/>
          <a:sy n="66" d="100"/>
        </p:scale>
        <p:origin x="-852" y="-4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596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F9C70E8-25E4-4BC1-9B80-4928B0C26D26}" type="doc">
      <dgm:prSet loTypeId="urn:microsoft.com/office/officeart/2005/8/layout/cycle2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915920C3-14FE-4065-A9D0-9929237D8C42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Validate &amp; Quality Check data</a:t>
          </a:r>
          <a:endParaRPr lang="en-US" sz="24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141F1B43-1D33-42F9-AD46-A52AF946F203}" type="parTrans" cxnId="{5730AE9E-25C9-44A1-A4AA-D43BD470D87A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AF050416-D376-4B9E-9A39-3B644D215F39}" type="sibTrans" cxnId="{5730AE9E-25C9-44A1-A4AA-D43BD470D87A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6C99D068-7BA5-4AD0-B2EC-B0422FFCBA82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Perform Analysis</a:t>
          </a:r>
          <a:endParaRPr lang="en-US" sz="24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40585390-4C12-47F9-B282-135B476B7687}" type="parTrans" cxnId="{8C6360F6-8777-49C5-8ACA-AE1E106DCEC7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44B89520-C087-4D44-8C94-9751CCCCD573}" type="sibTrans" cxnId="{8C6360F6-8777-49C5-8ACA-AE1E106DCEC7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0B4E9468-79DC-40FF-B452-7F4B7000553A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Identify Data Issues &amp; Retrieve Missing Data</a:t>
          </a:r>
          <a:endParaRPr lang="en-US" sz="24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4E0BEBB3-A8FE-4249-818D-0090046D0D84}" type="parTrans" cxnId="{7AF62D94-5B7D-4D80-BB5C-C47E690E0DB9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DD8A0B5E-733D-479F-AA2A-0DCF085142EA}" type="sibTrans" cxnId="{7AF62D94-5B7D-4D80-BB5C-C47E690E0DB9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5F20A0FD-CEAB-4CE1-95E1-854F1EBC905F}">
      <dgm:prSet phldrT="[Text]" custT="1"/>
      <dgm:spPr/>
      <dgm:t>
        <a:bodyPr/>
        <a:lstStyle/>
        <a:p>
          <a:r>
            <a:rPr lang="en-US" sz="24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Retrieve Data from Source</a:t>
          </a:r>
          <a:endParaRPr lang="en-US" sz="24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C701E334-C768-4521-A585-7863C8FA1F9E}" type="parTrans" cxnId="{EC45E9B5-623B-439D-951D-AD65F73B0625}">
      <dgm:prSet/>
      <dgm:spPr/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88669AC7-9B2E-4C31-9FB5-20AFC7427116}" type="sibTrans" cxnId="{EC45E9B5-623B-439D-951D-AD65F73B0625}">
      <dgm:prSet/>
      <dgm:spPr>
        <a:solidFill>
          <a:schemeClr val="accent4">
            <a:lumMod val="75000"/>
          </a:schemeClr>
        </a:solidFill>
      </dgm:spPr>
      <dgm:t>
        <a:bodyPr/>
        <a:lstStyle/>
        <a:p>
          <a:endParaRPr lang="en-US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A2335280-3A41-4AC7-BFDA-A919A8DDCE48}" type="pres">
      <dgm:prSet presAssocID="{1F9C70E8-25E4-4BC1-9B80-4928B0C26D26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46CB0D50-441B-44B1-95E5-E23216F98E93}" type="pres">
      <dgm:prSet presAssocID="{915920C3-14FE-4065-A9D0-9929237D8C42}" presName="node" presStyleLbl="node1" presStyleIdx="0" presStyleCnt="4" custScaleX="159404" custScaleY="154622" custRadScaleRad="86887" custRadScaleInc="-982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3C28BB-60C2-4A62-BB82-AE8545F24C7D}" type="pres">
      <dgm:prSet presAssocID="{AF050416-D376-4B9E-9A39-3B644D215F39}" presName="sibTrans" presStyleLbl="sibTrans2D1" presStyleIdx="0" presStyleCnt="4"/>
      <dgm:spPr/>
      <dgm:t>
        <a:bodyPr/>
        <a:lstStyle/>
        <a:p>
          <a:endParaRPr lang="en-US"/>
        </a:p>
      </dgm:t>
    </dgm:pt>
    <dgm:pt modelId="{E368E5A3-1662-4770-95E4-C5A781773243}" type="pres">
      <dgm:prSet presAssocID="{AF050416-D376-4B9E-9A39-3B644D215F39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7EE06BAF-E9E4-4E66-9127-19EC183165C8}" type="pres">
      <dgm:prSet presAssocID="{6C99D068-7BA5-4AD0-B2EC-B0422FFCBA82}" presName="node" presStyleLbl="node1" presStyleIdx="1" presStyleCnt="4" custScaleX="159404" custScaleY="154622" custRadScaleRad="142382" custRadScaleInc="13973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81261B63-53B3-4453-AF4B-C9E0833469CE}" type="pres">
      <dgm:prSet presAssocID="{44B89520-C087-4D44-8C94-9751CCCCD573}" presName="sibTrans" presStyleLbl="sibTrans2D1" presStyleIdx="1" presStyleCnt="4"/>
      <dgm:spPr/>
      <dgm:t>
        <a:bodyPr/>
        <a:lstStyle/>
        <a:p>
          <a:endParaRPr lang="en-US"/>
        </a:p>
      </dgm:t>
    </dgm:pt>
    <dgm:pt modelId="{88EA4047-9E2B-422C-B354-F3C8A5037A1F}" type="pres">
      <dgm:prSet presAssocID="{44B89520-C087-4D44-8C94-9751CCCCD573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054B76BC-31B7-42AD-BBF7-BF0591CC4521}" type="pres">
      <dgm:prSet presAssocID="{0B4E9468-79DC-40FF-B452-7F4B7000553A}" presName="node" presStyleLbl="node1" presStyleIdx="2" presStyleCnt="4" custScaleX="155289" custScaleY="154622" custRadScaleRad="98086" custRadScaleInc="1536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500FFE-465E-4993-8C99-7A2E6B8D6C80}" type="pres">
      <dgm:prSet presAssocID="{DD8A0B5E-733D-479F-AA2A-0DCF085142EA}" presName="sibTrans" presStyleLbl="sibTrans2D1" presStyleIdx="2" presStyleCnt="4"/>
      <dgm:spPr/>
      <dgm:t>
        <a:bodyPr/>
        <a:lstStyle/>
        <a:p>
          <a:endParaRPr lang="en-US"/>
        </a:p>
      </dgm:t>
    </dgm:pt>
    <dgm:pt modelId="{A1185DE7-9B85-46DD-A1DF-8F8E3A2C17EF}" type="pres">
      <dgm:prSet presAssocID="{DD8A0B5E-733D-479F-AA2A-0DCF085142EA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AA0343BA-4879-45BC-B58B-A0D16311458F}" type="pres">
      <dgm:prSet presAssocID="{5F20A0FD-CEAB-4CE1-95E1-854F1EBC905F}" presName="node" presStyleLbl="node1" presStyleIdx="3" presStyleCnt="4" custScaleX="159404" custScaleY="154622" custRadScaleRad="154996" custRadScaleInc="3985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C0BB26-EA08-46DB-809C-F11CEBC9FA5F}" type="pres">
      <dgm:prSet presAssocID="{88669AC7-9B2E-4C31-9FB5-20AFC7427116}" presName="sibTrans" presStyleLbl="sibTrans2D1" presStyleIdx="3" presStyleCnt="4"/>
      <dgm:spPr/>
      <dgm:t>
        <a:bodyPr/>
        <a:lstStyle/>
        <a:p>
          <a:endParaRPr lang="en-US"/>
        </a:p>
      </dgm:t>
    </dgm:pt>
    <dgm:pt modelId="{4283DD76-44A9-4F80-B003-97D06FCAD54E}" type="pres">
      <dgm:prSet presAssocID="{88669AC7-9B2E-4C31-9FB5-20AFC7427116}" presName="connectorText" presStyleLbl="sibTrans2D1" presStyleIdx="3" presStyleCnt="4"/>
      <dgm:spPr/>
      <dgm:t>
        <a:bodyPr/>
        <a:lstStyle/>
        <a:p>
          <a:endParaRPr lang="en-US"/>
        </a:p>
      </dgm:t>
    </dgm:pt>
  </dgm:ptLst>
  <dgm:cxnLst>
    <dgm:cxn modelId="{F410F4AF-6C80-4F3F-BC83-51AD082FF0E3}" type="presOf" srcId="{88669AC7-9B2E-4C31-9FB5-20AFC7427116}" destId="{4283DD76-44A9-4F80-B003-97D06FCAD54E}" srcOrd="1" destOrd="0" presId="urn:microsoft.com/office/officeart/2005/8/layout/cycle2"/>
    <dgm:cxn modelId="{6707DA6B-13C4-43BC-94DD-988D3E5AB053}" type="presOf" srcId="{0B4E9468-79DC-40FF-B452-7F4B7000553A}" destId="{054B76BC-31B7-42AD-BBF7-BF0591CC4521}" srcOrd="0" destOrd="0" presId="urn:microsoft.com/office/officeart/2005/8/layout/cycle2"/>
    <dgm:cxn modelId="{7AF62D94-5B7D-4D80-BB5C-C47E690E0DB9}" srcId="{1F9C70E8-25E4-4BC1-9B80-4928B0C26D26}" destId="{0B4E9468-79DC-40FF-B452-7F4B7000553A}" srcOrd="2" destOrd="0" parTransId="{4E0BEBB3-A8FE-4249-818D-0090046D0D84}" sibTransId="{DD8A0B5E-733D-479F-AA2A-0DCF085142EA}"/>
    <dgm:cxn modelId="{35CB6000-9E78-402A-AFA7-A55820C9031A}" type="presOf" srcId="{DD8A0B5E-733D-479F-AA2A-0DCF085142EA}" destId="{4F500FFE-465E-4993-8C99-7A2E6B8D6C80}" srcOrd="0" destOrd="0" presId="urn:microsoft.com/office/officeart/2005/8/layout/cycle2"/>
    <dgm:cxn modelId="{D25C1E6C-3BF5-4883-833B-F4CD61726335}" type="presOf" srcId="{AF050416-D376-4B9E-9A39-3B644D215F39}" destId="{E368E5A3-1662-4770-95E4-C5A781773243}" srcOrd="1" destOrd="0" presId="urn:microsoft.com/office/officeart/2005/8/layout/cycle2"/>
    <dgm:cxn modelId="{863FC55E-7863-4CC2-B05D-18949F1AAF1F}" type="presOf" srcId="{44B89520-C087-4D44-8C94-9751CCCCD573}" destId="{88EA4047-9E2B-422C-B354-F3C8A5037A1F}" srcOrd="1" destOrd="0" presId="urn:microsoft.com/office/officeart/2005/8/layout/cycle2"/>
    <dgm:cxn modelId="{5730AE9E-25C9-44A1-A4AA-D43BD470D87A}" srcId="{1F9C70E8-25E4-4BC1-9B80-4928B0C26D26}" destId="{915920C3-14FE-4065-A9D0-9929237D8C42}" srcOrd="0" destOrd="0" parTransId="{141F1B43-1D33-42F9-AD46-A52AF946F203}" sibTransId="{AF050416-D376-4B9E-9A39-3B644D215F39}"/>
    <dgm:cxn modelId="{60A9018E-7831-4884-9C31-974F42F6FA37}" type="presOf" srcId="{44B89520-C087-4D44-8C94-9751CCCCD573}" destId="{81261B63-53B3-4453-AF4B-C9E0833469CE}" srcOrd="0" destOrd="0" presId="urn:microsoft.com/office/officeart/2005/8/layout/cycle2"/>
    <dgm:cxn modelId="{D526E99E-3E73-4FA6-B1ED-C9C87EAEC1A7}" type="presOf" srcId="{915920C3-14FE-4065-A9D0-9929237D8C42}" destId="{46CB0D50-441B-44B1-95E5-E23216F98E93}" srcOrd="0" destOrd="0" presId="urn:microsoft.com/office/officeart/2005/8/layout/cycle2"/>
    <dgm:cxn modelId="{8C6360F6-8777-49C5-8ACA-AE1E106DCEC7}" srcId="{1F9C70E8-25E4-4BC1-9B80-4928B0C26D26}" destId="{6C99D068-7BA5-4AD0-B2EC-B0422FFCBA82}" srcOrd="1" destOrd="0" parTransId="{40585390-4C12-47F9-B282-135B476B7687}" sibTransId="{44B89520-C087-4D44-8C94-9751CCCCD573}"/>
    <dgm:cxn modelId="{03A0E602-8900-4302-9E65-48F194541768}" type="presOf" srcId="{AF050416-D376-4B9E-9A39-3B644D215F39}" destId="{AA3C28BB-60C2-4A62-BB82-AE8545F24C7D}" srcOrd="0" destOrd="0" presId="urn:microsoft.com/office/officeart/2005/8/layout/cycle2"/>
    <dgm:cxn modelId="{18F192C7-7B45-40D6-AFF3-8826697FED87}" type="presOf" srcId="{88669AC7-9B2E-4C31-9FB5-20AFC7427116}" destId="{41C0BB26-EA08-46DB-809C-F11CEBC9FA5F}" srcOrd="0" destOrd="0" presId="urn:microsoft.com/office/officeart/2005/8/layout/cycle2"/>
    <dgm:cxn modelId="{800D9261-F9E8-4E26-9EB0-D554B0487FF2}" type="presOf" srcId="{DD8A0B5E-733D-479F-AA2A-0DCF085142EA}" destId="{A1185DE7-9B85-46DD-A1DF-8F8E3A2C17EF}" srcOrd="1" destOrd="0" presId="urn:microsoft.com/office/officeart/2005/8/layout/cycle2"/>
    <dgm:cxn modelId="{EC45E9B5-623B-439D-951D-AD65F73B0625}" srcId="{1F9C70E8-25E4-4BC1-9B80-4928B0C26D26}" destId="{5F20A0FD-CEAB-4CE1-95E1-854F1EBC905F}" srcOrd="3" destOrd="0" parTransId="{C701E334-C768-4521-A585-7863C8FA1F9E}" sibTransId="{88669AC7-9B2E-4C31-9FB5-20AFC7427116}"/>
    <dgm:cxn modelId="{CA223314-868E-4DB0-975D-7A64E4534BD4}" type="presOf" srcId="{5F20A0FD-CEAB-4CE1-95E1-854F1EBC905F}" destId="{AA0343BA-4879-45BC-B58B-A0D16311458F}" srcOrd="0" destOrd="0" presId="urn:microsoft.com/office/officeart/2005/8/layout/cycle2"/>
    <dgm:cxn modelId="{8505354D-4A02-4D65-8EBB-B2CF24DD4C1B}" type="presOf" srcId="{6C99D068-7BA5-4AD0-B2EC-B0422FFCBA82}" destId="{7EE06BAF-E9E4-4E66-9127-19EC183165C8}" srcOrd="0" destOrd="0" presId="urn:microsoft.com/office/officeart/2005/8/layout/cycle2"/>
    <dgm:cxn modelId="{E02D8B9D-92D7-455D-BFF0-3CB3B350F257}" type="presOf" srcId="{1F9C70E8-25E4-4BC1-9B80-4928B0C26D26}" destId="{A2335280-3A41-4AC7-BFDA-A919A8DDCE48}" srcOrd="0" destOrd="0" presId="urn:microsoft.com/office/officeart/2005/8/layout/cycle2"/>
    <dgm:cxn modelId="{70E439C2-60A6-48C3-84EA-A517881C4E9E}" type="presParOf" srcId="{A2335280-3A41-4AC7-BFDA-A919A8DDCE48}" destId="{46CB0D50-441B-44B1-95E5-E23216F98E93}" srcOrd="0" destOrd="0" presId="urn:microsoft.com/office/officeart/2005/8/layout/cycle2"/>
    <dgm:cxn modelId="{87CF941B-D857-48A4-A739-5E876F1C1F67}" type="presParOf" srcId="{A2335280-3A41-4AC7-BFDA-A919A8DDCE48}" destId="{AA3C28BB-60C2-4A62-BB82-AE8545F24C7D}" srcOrd="1" destOrd="0" presId="urn:microsoft.com/office/officeart/2005/8/layout/cycle2"/>
    <dgm:cxn modelId="{0927FC5C-3482-48E8-95A7-FF3EF86291A9}" type="presParOf" srcId="{AA3C28BB-60C2-4A62-BB82-AE8545F24C7D}" destId="{E368E5A3-1662-4770-95E4-C5A781773243}" srcOrd="0" destOrd="0" presId="urn:microsoft.com/office/officeart/2005/8/layout/cycle2"/>
    <dgm:cxn modelId="{A16A759E-9ABE-459A-9106-2C96FDEF9C75}" type="presParOf" srcId="{A2335280-3A41-4AC7-BFDA-A919A8DDCE48}" destId="{7EE06BAF-E9E4-4E66-9127-19EC183165C8}" srcOrd="2" destOrd="0" presId="urn:microsoft.com/office/officeart/2005/8/layout/cycle2"/>
    <dgm:cxn modelId="{84922CC7-D855-437A-AEA0-19538133EC05}" type="presParOf" srcId="{A2335280-3A41-4AC7-BFDA-A919A8DDCE48}" destId="{81261B63-53B3-4453-AF4B-C9E0833469CE}" srcOrd="3" destOrd="0" presId="urn:microsoft.com/office/officeart/2005/8/layout/cycle2"/>
    <dgm:cxn modelId="{574B09C3-DE8A-43BB-968E-A4FA11E4A1A5}" type="presParOf" srcId="{81261B63-53B3-4453-AF4B-C9E0833469CE}" destId="{88EA4047-9E2B-422C-B354-F3C8A5037A1F}" srcOrd="0" destOrd="0" presId="urn:microsoft.com/office/officeart/2005/8/layout/cycle2"/>
    <dgm:cxn modelId="{9D0EA449-CFF0-4DEB-AAF7-52790FBFC767}" type="presParOf" srcId="{A2335280-3A41-4AC7-BFDA-A919A8DDCE48}" destId="{054B76BC-31B7-42AD-BBF7-BF0591CC4521}" srcOrd="4" destOrd="0" presId="urn:microsoft.com/office/officeart/2005/8/layout/cycle2"/>
    <dgm:cxn modelId="{3E9D7C20-1671-4FB5-BEA2-123E45F71EB2}" type="presParOf" srcId="{A2335280-3A41-4AC7-BFDA-A919A8DDCE48}" destId="{4F500FFE-465E-4993-8C99-7A2E6B8D6C80}" srcOrd="5" destOrd="0" presId="urn:microsoft.com/office/officeart/2005/8/layout/cycle2"/>
    <dgm:cxn modelId="{388617D5-6FF4-4D2B-AF7C-E9F8124215FF}" type="presParOf" srcId="{4F500FFE-465E-4993-8C99-7A2E6B8D6C80}" destId="{A1185DE7-9B85-46DD-A1DF-8F8E3A2C17EF}" srcOrd="0" destOrd="0" presId="urn:microsoft.com/office/officeart/2005/8/layout/cycle2"/>
    <dgm:cxn modelId="{CF7FBAC1-9D89-4E4A-9E56-159B33C34098}" type="presParOf" srcId="{A2335280-3A41-4AC7-BFDA-A919A8DDCE48}" destId="{AA0343BA-4879-45BC-B58B-A0D16311458F}" srcOrd="6" destOrd="0" presId="urn:microsoft.com/office/officeart/2005/8/layout/cycle2"/>
    <dgm:cxn modelId="{23B47FB1-1934-4EE4-8A52-5A6AB7D82607}" type="presParOf" srcId="{A2335280-3A41-4AC7-BFDA-A919A8DDCE48}" destId="{41C0BB26-EA08-46DB-809C-F11CEBC9FA5F}" srcOrd="7" destOrd="0" presId="urn:microsoft.com/office/officeart/2005/8/layout/cycle2"/>
    <dgm:cxn modelId="{975A5432-86DF-4167-9464-EC2D67694BCF}" type="presParOf" srcId="{41C0BB26-EA08-46DB-809C-F11CEBC9FA5F}" destId="{4283DD76-44A9-4F80-B003-97D06FCAD54E}" srcOrd="0" destOrd="0" presId="urn:microsoft.com/office/officeart/2005/8/layout/cycle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8981AF7C-F214-48A5-9DDD-0862B971ACBB}" type="doc">
      <dgm:prSet loTypeId="urn:microsoft.com/office/officeart/2005/8/layout/radial3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DA70BC5E-6A3C-4D70-A416-752DA766A8D0}">
      <dgm:prSet phldrT="[Text]" custT="1"/>
      <dgm:spPr>
        <a:solidFill>
          <a:schemeClr val="bg2">
            <a:lumMod val="50000"/>
            <a:alpha val="50000"/>
          </a:schemeClr>
        </a:solidFill>
      </dgm:spPr>
      <dgm:t>
        <a:bodyPr/>
        <a:lstStyle/>
        <a:p>
          <a:r>
            <a:rPr lang="en-US" sz="2800" dirty="0" smtClean="0">
              <a:latin typeface="Arial" pitchFamily="34" charset="0"/>
              <a:cs typeface="Arial" pitchFamily="34" charset="0"/>
            </a:rPr>
            <a:t>Scientific Data Server</a:t>
          </a:r>
          <a:endParaRPr lang="en-US" sz="2800" dirty="0">
            <a:latin typeface="Arial" pitchFamily="34" charset="0"/>
            <a:cs typeface="Arial" pitchFamily="34" charset="0"/>
          </a:endParaRPr>
        </a:p>
      </dgm:t>
    </dgm:pt>
    <dgm:pt modelId="{5B8B5B95-B608-4419-A89C-69CF85DA82C1}" type="parTrans" cxnId="{FF66349D-123E-4403-B9D9-08E299C0BDB5}">
      <dgm:prSet/>
      <dgm:spPr/>
      <dgm:t>
        <a:bodyPr/>
        <a:lstStyle/>
        <a:p>
          <a:endParaRPr lang="en-US" sz="2800"/>
        </a:p>
      </dgm:t>
    </dgm:pt>
    <dgm:pt modelId="{F4246A5F-233C-443A-ACB5-01AA69BE224D}" type="sibTrans" cxnId="{FF66349D-123E-4403-B9D9-08E299C0BDB5}">
      <dgm:prSet/>
      <dgm:spPr/>
      <dgm:t>
        <a:bodyPr/>
        <a:lstStyle/>
        <a:p>
          <a:endParaRPr lang="en-US" sz="2800"/>
        </a:p>
      </dgm:t>
    </dgm:pt>
    <dgm:pt modelId="{38B2F7B6-6EBD-494F-81E1-3BEB5F1347C4}">
      <dgm:prSet phldrT="[Text]" custT="1"/>
      <dgm:spPr/>
      <dgm:t>
        <a:bodyPr/>
        <a:lstStyle/>
        <a:p>
          <a:r>
            <a: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Validate &amp; Quality Check data</a:t>
          </a:r>
          <a:endParaRPr lang="en-US" sz="2800" dirty="0"/>
        </a:p>
      </dgm:t>
    </dgm:pt>
    <dgm:pt modelId="{840BA817-6B7A-4407-9AB3-58C89AC12EE4}" type="parTrans" cxnId="{6829460C-A7F7-485A-B9AC-F727C8EFD7F8}">
      <dgm:prSet/>
      <dgm:spPr/>
      <dgm:t>
        <a:bodyPr/>
        <a:lstStyle/>
        <a:p>
          <a:endParaRPr lang="en-US" sz="2800"/>
        </a:p>
      </dgm:t>
    </dgm:pt>
    <dgm:pt modelId="{0090696F-B6BB-40AE-9C52-3CB9B80DF7D3}" type="sibTrans" cxnId="{6829460C-A7F7-485A-B9AC-F727C8EFD7F8}">
      <dgm:prSet/>
      <dgm:spPr/>
      <dgm:t>
        <a:bodyPr/>
        <a:lstStyle/>
        <a:p>
          <a:endParaRPr lang="en-US" sz="2800"/>
        </a:p>
      </dgm:t>
    </dgm:pt>
    <dgm:pt modelId="{BA5B6F06-7249-4518-BD84-35367085D841}">
      <dgm:prSet phldrT="[Text]" custT="1"/>
      <dgm:spPr/>
      <dgm:t>
        <a:bodyPr/>
        <a:lstStyle/>
        <a:p>
          <a:r>
            <a: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Perform Analysis</a:t>
          </a:r>
          <a:endParaRPr lang="en-US" sz="28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AC830F5F-6A50-4AF4-93A0-4FBFDDDA327E}" type="parTrans" cxnId="{76A7754B-9405-49FC-B29F-125A5DE4AF35}">
      <dgm:prSet/>
      <dgm:spPr/>
      <dgm:t>
        <a:bodyPr/>
        <a:lstStyle/>
        <a:p>
          <a:endParaRPr lang="en-US" sz="2800"/>
        </a:p>
      </dgm:t>
    </dgm:pt>
    <dgm:pt modelId="{BB9C91AE-2EF4-41CB-81F6-E971995E7764}" type="sibTrans" cxnId="{76A7754B-9405-49FC-B29F-125A5DE4AF35}">
      <dgm:prSet/>
      <dgm:spPr/>
      <dgm:t>
        <a:bodyPr/>
        <a:lstStyle/>
        <a:p>
          <a:endParaRPr lang="en-US" sz="2800"/>
        </a:p>
      </dgm:t>
    </dgm:pt>
    <dgm:pt modelId="{121F74D3-D5B4-4654-82C8-406A172EC8AF}">
      <dgm:prSet phldrT="[Text]" custT="1"/>
      <dgm:spPr/>
      <dgm:t>
        <a:bodyPr/>
        <a:lstStyle/>
        <a:p>
          <a:r>
            <a: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Identify Data Issues &amp; Obtain Missing Data</a:t>
          </a:r>
          <a:endParaRPr lang="en-US" sz="28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109F20ED-92C8-46DA-A0CE-5386FCF1A798}" type="parTrans" cxnId="{056471D1-AB69-4E02-A194-B292F0532D59}">
      <dgm:prSet/>
      <dgm:spPr/>
      <dgm:t>
        <a:bodyPr/>
        <a:lstStyle/>
        <a:p>
          <a:endParaRPr lang="en-US" sz="2800"/>
        </a:p>
      </dgm:t>
    </dgm:pt>
    <dgm:pt modelId="{F2F18814-35ED-4B04-A123-1CF41DCD7B66}" type="sibTrans" cxnId="{056471D1-AB69-4E02-A194-B292F0532D59}">
      <dgm:prSet/>
      <dgm:spPr/>
      <dgm:t>
        <a:bodyPr/>
        <a:lstStyle/>
        <a:p>
          <a:endParaRPr lang="en-US" sz="2800"/>
        </a:p>
      </dgm:t>
    </dgm:pt>
    <dgm:pt modelId="{17EBED6F-01CE-4440-8085-A40039B77954}">
      <dgm:prSet phldrT="[Text]" custT="1"/>
      <dgm:spPr/>
      <dgm:t>
        <a:bodyPr/>
        <a:lstStyle/>
        <a:p>
          <a:r>
            <a:rPr lang="en-US" sz="28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rPr>
            <a:t>Obtain Data from Source</a:t>
          </a:r>
          <a:endParaRPr lang="en-US" sz="2800" dirty="0">
            <a:solidFill>
              <a:schemeClr val="tx1">
                <a:lumMod val="95000"/>
                <a:lumOff val="5000"/>
              </a:schemeClr>
            </a:solidFill>
            <a:latin typeface="Arial" pitchFamily="34" charset="0"/>
            <a:cs typeface="Arial" pitchFamily="34" charset="0"/>
          </a:endParaRPr>
        </a:p>
      </dgm:t>
    </dgm:pt>
    <dgm:pt modelId="{2BE317AC-3FFB-4D26-BCF6-580E0C6DBD30}" type="parTrans" cxnId="{D9415C2D-52EF-460B-BA7D-7A5F9FB5ACA5}">
      <dgm:prSet/>
      <dgm:spPr/>
      <dgm:t>
        <a:bodyPr/>
        <a:lstStyle/>
        <a:p>
          <a:endParaRPr lang="en-US" sz="2800"/>
        </a:p>
      </dgm:t>
    </dgm:pt>
    <dgm:pt modelId="{DD26F8F0-7D00-403A-86EA-5ED958D86C0A}" type="sibTrans" cxnId="{D9415C2D-52EF-460B-BA7D-7A5F9FB5ACA5}">
      <dgm:prSet/>
      <dgm:spPr/>
      <dgm:t>
        <a:bodyPr/>
        <a:lstStyle/>
        <a:p>
          <a:endParaRPr lang="en-US" sz="2800"/>
        </a:p>
      </dgm:t>
    </dgm:pt>
    <dgm:pt modelId="{720766F6-3474-4284-9637-E1312DBFD434}" type="pres">
      <dgm:prSet presAssocID="{8981AF7C-F214-48A5-9DDD-0862B971ACBB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FBF3D277-8EE9-4BFD-BCD6-37AA782902DA}" type="pres">
      <dgm:prSet presAssocID="{8981AF7C-F214-48A5-9DDD-0862B971ACBB}" presName="radial" presStyleCnt="0">
        <dgm:presLayoutVars>
          <dgm:animLvl val="ctr"/>
        </dgm:presLayoutVars>
      </dgm:prSet>
      <dgm:spPr/>
    </dgm:pt>
    <dgm:pt modelId="{3310B4A6-D602-4D7E-895D-6DFB85D2A079}" type="pres">
      <dgm:prSet presAssocID="{DA70BC5E-6A3C-4D70-A416-752DA766A8D0}" presName="centerShape" presStyleLbl="vennNode1" presStyleIdx="0" presStyleCnt="5" custLinFactNeighborX="946" custLinFactNeighborY="-547"/>
      <dgm:spPr/>
      <dgm:t>
        <a:bodyPr/>
        <a:lstStyle/>
        <a:p>
          <a:endParaRPr lang="en-US"/>
        </a:p>
      </dgm:t>
    </dgm:pt>
    <dgm:pt modelId="{B76049FD-F4EE-4BA5-9608-A5492AD312CE}" type="pres">
      <dgm:prSet presAssocID="{38B2F7B6-6EBD-494F-81E1-3BEB5F1347C4}" presName="node" presStyleLbl="vennNode1" presStyleIdx="1" presStyleCnt="5" custScaleX="235982" custScaleY="88929" custRadScaleRad="104091" custRadScaleInc="382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DB3D86D-09BC-4BCF-A52F-A9038F1A4A93}" type="pres">
      <dgm:prSet presAssocID="{BA5B6F06-7249-4518-BD84-35367085D841}" presName="node" presStyleLbl="vennNode1" presStyleIdx="2" presStyleCnt="5" custScaleX="149482" custScaleY="131421" custRadScaleRad="128733" custRadScaleInc="-458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9C5EB78-9E4C-46F6-A494-636968EDF209}" type="pres">
      <dgm:prSet presAssocID="{121F74D3-D5B4-4654-82C8-406A172EC8AF}" presName="node" presStyleLbl="vennNode1" presStyleIdx="3" presStyleCnt="5" custScaleX="332149" custScaleY="99889" custRadScaleRad="115829" custRadScaleInc="3897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AF5DB07-B930-4E13-B60E-4F20F7050AF1}" type="pres">
      <dgm:prSet presAssocID="{17EBED6F-01CE-4440-8085-A40039B77954}" presName="node" presStyleLbl="vennNode1" presStyleIdx="4" presStyleCnt="5" custScaleX="136570" custScaleY="144133" custRadScaleRad="118551" custRadScaleInc="2629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D9415C2D-52EF-460B-BA7D-7A5F9FB5ACA5}" srcId="{DA70BC5E-6A3C-4D70-A416-752DA766A8D0}" destId="{17EBED6F-01CE-4440-8085-A40039B77954}" srcOrd="3" destOrd="0" parTransId="{2BE317AC-3FFB-4D26-BCF6-580E0C6DBD30}" sibTransId="{DD26F8F0-7D00-403A-86EA-5ED958D86C0A}"/>
    <dgm:cxn modelId="{5920FC91-B3DD-4706-9723-2984A0E001D3}" type="presOf" srcId="{DA70BC5E-6A3C-4D70-A416-752DA766A8D0}" destId="{3310B4A6-D602-4D7E-895D-6DFB85D2A079}" srcOrd="0" destOrd="0" presId="urn:microsoft.com/office/officeart/2005/8/layout/radial3"/>
    <dgm:cxn modelId="{0214FD74-E417-4957-93FE-7D5106465F5A}" type="presOf" srcId="{17EBED6F-01CE-4440-8085-A40039B77954}" destId="{AAF5DB07-B930-4E13-B60E-4F20F7050AF1}" srcOrd="0" destOrd="0" presId="urn:microsoft.com/office/officeart/2005/8/layout/radial3"/>
    <dgm:cxn modelId="{D35E8C54-35F4-42E1-A0E4-5BE92CFF1099}" type="presOf" srcId="{121F74D3-D5B4-4654-82C8-406A172EC8AF}" destId="{D9C5EB78-9E4C-46F6-A494-636968EDF209}" srcOrd="0" destOrd="0" presId="urn:microsoft.com/office/officeart/2005/8/layout/radial3"/>
    <dgm:cxn modelId="{C8749471-9817-444D-8F6C-6D4E32A0B79F}" type="presOf" srcId="{38B2F7B6-6EBD-494F-81E1-3BEB5F1347C4}" destId="{B76049FD-F4EE-4BA5-9608-A5492AD312CE}" srcOrd="0" destOrd="0" presId="urn:microsoft.com/office/officeart/2005/8/layout/radial3"/>
    <dgm:cxn modelId="{76A7754B-9405-49FC-B29F-125A5DE4AF35}" srcId="{DA70BC5E-6A3C-4D70-A416-752DA766A8D0}" destId="{BA5B6F06-7249-4518-BD84-35367085D841}" srcOrd="1" destOrd="0" parTransId="{AC830F5F-6A50-4AF4-93A0-4FBFDDDA327E}" sibTransId="{BB9C91AE-2EF4-41CB-81F6-E971995E7764}"/>
    <dgm:cxn modelId="{E5C85EC1-FEEE-428B-9B31-38E849D593BE}" type="presOf" srcId="{8981AF7C-F214-48A5-9DDD-0862B971ACBB}" destId="{720766F6-3474-4284-9637-E1312DBFD434}" srcOrd="0" destOrd="0" presId="urn:microsoft.com/office/officeart/2005/8/layout/radial3"/>
    <dgm:cxn modelId="{6829460C-A7F7-485A-B9AC-F727C8EFD7F8}" srcId="{DA70BC5E-6A3C-4D70-A416-752DA766A8D0}" destId="{38B2F7B6-6EBD-494F-81E1-3BEB5F1347C4}" srcOrd="0" destOrd="0" parTransId="{840BA817-6B7A-4407-9AB3-58C89AC12EE4}" sibTransId="{0090696F-B6BB-40AE-9C52-3CB9B80DF7D3}"/>
    <dgm:cxn modelId="{056471D1-AB69-4E02-A194-B292F0532D59}" srcId="{DA70BC5E-6A3C-4D70-A416-752DA766A8D0}" destId="{121F74D3-D5B4-4654-82C8-406A172EC8AF}" srcOrd="2" destOrd="0" parTransId="{109F20ED-92C8-46DA-A0CE-5386FCF1A798}" sibTransId="{F2F18814-35ED-4B04-A123-1CF41DCD7B66}"/>
    <dgm:cxn modelId="{FF66349D-123E-4403-B9D9-08E299C0BDB5}" srcId="{8981AF7C-F214-48A5-9DDD-0862B971ACBB}" destId="{DA70BC5E-6A3C-4D70-A416-752DA766A8D0}" srcOrd="0" destOrd="0" parTransId="{5B8B5B95-B608-4419-A89C-69CF85DA82C1}" sibTransId="{F4246A5F-233C-443A-ACB5-01AA69BE224D}"/>
    <dgm:cxn modelId="{64DB5A76-D5E4-4B26-A840-42E4487E79B6}" type="presOf" srcId="{BA5B6F06-7249-4518-BD84-35367085D841}" destId="{FDB3D86D-09BC-4BCF-A52F-A9038F1A4A93}" srcOrd="0" destOrd="0" presId="urn:microsoft.com/office/officeart/2005/8/layout/radial3"/>
    <dgm:cxn modelId="{D6965041-3AA9-46E7-BFA3-865AEC5531AF}" type="presParOf" srcId="{720766F6-3474-4284-9637-E1312DBFD434}" destId="{FBF3D277-8EE9-4BFD-BCD6-37AA782902DA}" srcOrd="0" destOrd="0" presId="urn:microsoft.com/office/officeart/2005/8/layout/radial3"/>
    <dgm:cxn modelId="{B7694B63-6D91-4726-AF24-3800B056CD12}" type="presParOf" srcId="{FBF3D277-8EE9-4BFD-BCD6-37AA782902DA}" destId="{3310B4A6-D602-4D7E-895D-6DFB85D2A079}" srcOrd="0" destOrd="0" presId="urn:microsoft.com/office/officeart/2005/8/layout/radial3"/>
    <dgm:cxn modelId="{90677ABE-7634-4843-94C5-BC80C17BA569}" type="presParOf" srcId="{FBF3D277-8EE9-4BFD-BCD6-37AA782902DA}" destId="{B76049FD-F4EE-4BA5-9608-A5492AD312CE}" srcOrd="1" destOrd="0" presId="urn:microsoft.com/office/officeart/2005/8/layout/radial3"/>
    <dgm:cxn modelId="{CF7741B8-F0E3-4C01-A394-3FFE257F3CE0}" type="presParOf" srcId="{FBF3D277-8EE9-4BFD-BCD6-37AA782902DA}" destId="{FDB3D86D-09BC-4BCF-A52F-A9038F1A4A93}" srcOrd="2" destOrd="0" presId="urn:microsoft.com/office/officeart/2005/8/layout/radial3"/>
    <dgm:cxn modelId="{D3259DC2-C50A-451D-948B-6EA04B93C6BA}" type="presParOf" srcId="{FBF3D277-8EE9-4BFD-BCD6-37AA782902DA}" destId="{D9C5EB78-9E4C-46F6-A494-636968EDF209}" srcOrd="3" destOrd="0" presId="urn:microsoft.com/office/officeart/2005/8/layout/radial3"/>
    <dgm:cxn modelId="{AD2B3E08-9483-4DD9-8290-4FB33BDD8BEB}" type="presParOf" srcId="{FBF3D277-8EE9-4BFD-BCD6-37AA782902DA}" destId="{AAF5DB07-B930-4E13-B60E-4F20F7050AF1}" srcOrd="4" destOrd="0" presId="urn:microsoft.com/office/officeart/2005/8/layout/radial3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image" Target="../media/image9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20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1C7AA0-F9B5-49E9-8865-2170FF6E12E0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5A0D60F-2583-43BA-BFB2-6FEC374C461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Typically</a:t>
            </a:r>
            <a:r>
              <a:rPr lang="en-US" baseline="0" dirty="0" smtClean="0"/>
              <a:t> each individual has their own data set that they evolve and refine for their particular calculations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0D60F-2583-43BA-BFB2-6FEC374C461F}" type="slidenum">
              <a:rPr lang="en-US" smtClean="0"/>
              <a:pPr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0D60F-2583-43BA-BFB2-6FEC374C461F}" type="slidenum">
              <a:rPr lang="en-US" smtClean="0"/>
              <a:pPr/>
              <a:t>12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err="1" smtClean="0"/>
              <a:t>Rg</a:t>
            </a:r>
            <a:r>
              <a:rPr lang="en-US" baseline="0" dirty="0" smtClean="0"/>
              <a:t>, </a:t>
            </a:r>
            <a:r>
              <a:rPr lang="en-US" baseline="0" dirty="0" err="1" smtClean="0"/>
              <a:t>exdatumtype</a:t>
            </a:r>
            <a:r>
              <a:rPr lang="en-US" baseline="0" dirty="0" smtClean="0"/>
              <a:t> = none, offset = all (or 0). </a:t>
            </a:r>
          </a:p>
          <a:p>
            <a:r>
              <a:rPr lang="en-US" baseline="0" dirty="0" smtClean="0"/>
              <a:t>Year on column</a:t>
            </a:r>
          </a:p>
          <a:p>
            <a:r>
              <a:rPr lang="en-US" baseline="0" dirty="0" smtClean="0"/>
              <a:t>Site on row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0D60F-2583-43BA-BFB2-6FEC374C461F}" type="slidenum">
              <a:rPr lang="en-US" smtClean="0"/>
              <a:pPr/>
              <a:t>13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0D60F-2583-43BA-BFB2-6FEC374C461F}" type="slidenum">
              <a:rPr lang="en-US" smtClean="0"/>
              <a:pPr/>
              <a:t>14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Drill down into obvious problem sites</a:t>
            </a:r>
          </a:p>
          <a:p>
            <a:endParaRPr lang="en-US" dirty="0" smtClean="0"/>
          </a:p>
          <a:p>
            <a:r>
              <a:rPr lang="en-US" dirty="0" smtClean="0"/>
              <a:t>Drill down showing each year….</a:t>
            </a:r>
          </a:p>
          <a:p>
            <a:endParaRPr lang="en-US" dirty="0" smtClean="0"/>
          </a:p>
          <a:p>
            <a:r>
              <a:rPr lang="en-US" dirty="0" smtClean="0"/>
              <a:t>Mead sites look like sign</a:t>
            </a:r>
            <a:r>
              <a:rPr lang="en-US" baseline="0" dirty="0" smtClean="0"/>
              <a:t> and/or units problem….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5A0D60F-2583-43BA-BFB2-6FEC374C461F}" type="slidenum">
              <a:rPr lang="en-US" smtClean="0"/>
              <a:pPr/>
              <a:t>15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533400" y="1371600"/>
            <a:ext cx="7851648" cy="1828800"/>
          </a:xfrm>
          <a:ln>
            <a:noFill/>
          </a:ln>
        </p:spPr>
        <p:txBody>
          <a:bodyPr vert="horz" tIns="0" rIns="18288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  <a:contourClr>
                <a:schemeClr val="tx2"/>
              </a:contourClr>
            </a:sp3d>
          </a:bodyPr>
          <a:lstStyle>
            <a:lvl1pPr algn="r" rtl="0">
              <a:spcBef>
                <a:spcPct val="0"/>
              </a:spcBef>
              <a:buNone/>
              <a:defRPr sz="5600" b="1">
                <a:ln>
                  <a:noFill/>
                </a:ln>
                <a:solidFill>
                  <a:schemeClr val="accent3">
                    <a:tint val="90000"/>
                    <a:satMod val="120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533400" y="3228536"/>
            <a:ext cx="7854696" cy="1752600"/>
          </a:xfrm>
        </p:spPr>
        <p:txBody>
          <a:bodyPr lIns="0" rIns="18288"/>
          <a:lstStyle>
            <a:lvl1pPr marL="0" marR="45720" indent="0" algn="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0352" y="1316736"/>
            <a:ext cx="7772400" cy="1362456"/>
          </a:xfrm>
          <a:ln>
            <a:noFill/>
          </a:ln>
        </p:spPr>
        <p:txBody>
          <a:bodyPr vert="horz" tIns="0" bIns="0" anchor="b">
            <a:no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bevelT w="38100" h="38100"/>
            </a:sp3d>
          </a:bodyPr>
          <a:lstStyle>
            <a:lvl1pPr algn="l" rtl="0">
              <a:spcBef>
                <a:spcPct val="0"/>
              </a:spcBef>
              <a:buNone/>
              <a:defRPr lang="en-US" sz="5600" b="1" cap="none" baseline="0" dirty="0">
                <a:ln w="635">
                  <a:noFill/>
                </a:ln>
                <a:solidFill>
                  <a:schemeClr val="accent4">
                    <a:tint val="90000"/>
                    <a:satMod val="125000"/>
                  </a:schemeClr>
                </a:solidFill>
                <a:effectLst>
                  <a:outerShdw blurRad="38100" dist="25400" dir="5400000" algn="tl" rotWithShape="0">
                    <a:srgbClr val="000000">
                      <a:alpha val="43000"/>
                    </a:srgbClr>
                  </a:out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1509712"/>
          </a:xfrm>
        </p:spPr>
        <p:txBody>
          <a:bodyPr lIns="45720" rIns="45720" anchor="t"/>
          <a:lstStyle>
            <a:lvl1pPr marL="0" indent="0">
              <a:buNone/>
              <a:defRPr sz="22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20085"/>
            <a:ext cx="4038600" cy="4434840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</p:spPr>
        <p:txBody>
          <a:bodyPr tIns="45720" anchor="b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855248"/>
            <a:ext cx="4040188" cy="659352"/>
          </a:xfrm>
        </p:spPr>
        <p:txBody>
          <a:bodyPr lIns="45720" tIns="0" rIns="45720" bIns="0" anchor="ctr">
            <a:noAutofit/>
          </a:bodyPr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5" y="1859757"/>
            <a:ext cx="4041775" cy="654843"/>
          </a:xfrm>
        </p:spPr>
        <p:txBody>
          <a:bodyPr lIns="45720" tIns="0" rIns="45720" bIns="0" anchor="ctr"/>
          <a:lstStyle>
            <a:lvl1pPr marL="0" indent="0">
              <a:buNone/>
              <a:defRPr sz="2400" b="1" cap="none" baseline="0">
                <a:solidFill>
                  <a:schemeClr val="tx2"/>
                </a:solidFill>
                <a:effectLst/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2514600"/>
            <a:ext cx="4040188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514600"/>
            <a:ext cx="4041775" cy="3845720"/>
          </a:xfrm>
        </p:spPr>
        <p:txBody>
          <a:bodyPr tIns="0"/>
          <a:lstStyle>
            <a:lvl1pPr>
              <a:defRPr sz="22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04088"/>
            <a:ext cx="8305800" cy="1143000"/>
          </a:xfrm>
        </p:spPr>
        <p:txBody>
          <a:bodyPr vert="horz" tIns="45720" bIns="0" anchor="b">
            <a:normAutofit/>
            <a:scene3d>
              <a:camera prst="orthographicFront"/>
              <a:lightRig rig="freezing" dir="t">
                <a:rot lat="0" lon="0" rev="5640000"/>
              </a:lightRig>
            </a:scene3d>
            <a:sp3d prstMaterial="flat">
              <a:contourClr>
                <a:schemeClr val="tx2"/>
              </a:contourClr>
            </a:sp3d>
          </a:bodyPr>
          <a:lstStyle>
            <a:lvl1pPr algn="l" rtl="0">
              <a:spcBef>
                <a:spcPct val="0"/>
              </a:spcBef>
              <a:buNone/>
              <a:defRPr sz="50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514352"/>
            <a:ext cx="2743200" cy="1162050"/>
          </a:xfrm>
        </p:spPr>
        <p:txBody>
          <a:bodyPr lIns="0" anchor="b">
            <a:noAutofit/>
          </a:bodyPr>
          <a:lstStyle>
            <a:lvl1pPr algn="l" rtl="0">
              <a:spcBef>
                <a:spcPct val="0"/>
              </a:spcBef>
              <a:buNone/>
              <a:defRPr sz="2600" b="0">
                <a:ln>
                  <a:noFill/>
                </a:ln>
                <a:solidFill>
                  <a:schemeClr val="tx2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85800" y="1676400"/>
            <a:ext cx="2743200" cy="4572000"/>
          </a:xfrm>
        </p:spPr>
        <p:txBody>
          <a:bodyPr lIns="18288" rIns="18288"/>
          <a:lstStyle>
            <a:lvl1pPr marL="0" indent="0" algn="l">
              <a:buNone/>
              <a:defRPr sz="1400"/>
            </a:lvl1pPr>
            <a:lvl2pPr indent="0" algn="l">
              <a:buNone/>
              <a:defRPr sz="1200"/>
            </a:lvl2pPr>
            <a:lvl3pPr indent="0" algn="l">
              <a:buNone/>
              <a:defRPr sz="1000"/>
            </a:lvl3pPr>
            <a:lvl4pPr indent="0" algn="l">
              <a:buNone/>
              <a:defRPr sz="900"/>
            </a:lvl4pPr>
            <a:lvl5pPr indent="0" algn="l"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575050" y="1676400"/>
            <a:ext cx="5111750" cy="4572000"/>
          </a:xfrm>
        </p:spPr>
        <p:txBody>
          <a:bodyPr tIns="0"/>
          <a:lstStyle>
            <a:lvl1pPr>
              <a:defRPr sz="28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nip and Round Single Corner Rectangle 8"/>
          <p:cNvSpPr/>
          <p:nvPr/>
        </p:nvSpPr>
        <p:spPr>
          <a:xfrm rot="420000" flipV="1">
            <a:off x="3165753" y="1108077"/>
            <a:ext cx="5257800" cy="4114800"/>
          </a:xfrm>
          <a:prstGeom prst="snipRoundRect">
            <a:avLst>
              <a:gd name="adj1" fmla="val 0"/>
              <a:gd name="adj2" fmla="val 3646"/>
            </a:avLst>
          </a:prstGeom>
          <a:solidFill>
            <a:srgbClr val="FFFFFF"/>
          </a:solidFill>
          <a:ln w="3175" cap="rnd" cmpd="sng" algn="ctr">
            <a:solidFill>
              <a:srgbClr val="C0C0C0"/>
            </a:solidFill>
            <a:prstDash val="solid"/>
          </a:ln>
          <a:effectLst>
            <a:outerShdw blurRad="63500" dist="38500" dir="7500000" sx="98500" sy="100080" kx="100000" algn="tl" rotWithShape="0">
              <a:srgbClr val="000000">
                <a:alpha val="25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2" name="Right Triangle 11"/>
          <p:cNvSpPr/>
          <p:nvPr/>
        </p:nvSpPr>
        <p:spPr>
          <a:xfrm rot="420000" flipV="1">
            <a:off x="8004134" y="5359769"/>
            <a:ext cx="155448" cy="155448"/>
          </a:xfrm>
          <a:prstGeom prst="rtTriangle">
            <a:avLst/>
          </a:prstGeom>
          <a:solidFill>
            <a:srgbClr val="FFFFFF"/>
          </a:solidFill>
          <a:ln w="12700" cap="flat" cmpd="sng" algn="ctr">
            <a:solidFill>
              <a:srgbClr val="FFFFFF"/>
            </a:solidFill>
            <a:prstDash val="solid"/>
            <a:bevel/>
          </a:ln>
          <a:effectLst>
            <a:outerShdw blurRad="19685" dist="6350" dir="12900000" algn="tl" rotWithShape="0">
              <a:srgbClr val="000000">
                <a:alpha val="47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176996"/>
            <a:ext cx="2212848" cy="1582621"/>
          </a:xfrm>
        </p:spPr>
        <p:txBody>
          <a:bodyPr vert="horz" lIns="45720" tIns="45720" rIns="45720" bIns="45720" anchor="b"/>
          <a:lstStyle>
            <a:lvl1pPr algn="l">
              <a:buNone/>
              <a:defRPr sz="2000" b="1">
                <a:solidFill>
                  <a:schemeClr val="tx2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0" y="2828785"/>
            <a:ext cx="2209800" cy="2179320"/>
          </a:xfrm>
        </p:spPr>
        <p:txBody>
          <a:bodyPr lIns="64008" rIns="45720" bIns="45720" anchor="t"/>
          <a:lstStyle>
            <a:lvl1pPr marL="0" indent="0" algn="l">
              <a:spcBef>
                <a:spcPts val="250"/>
              </a:spcBef>
              <a:buFontTx/>
              <a:buNone/>
              <a:defRPr sz="13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077200" y="6356350"/>
            <a:ext cx="609600" cy="365125"/>
          </a:xfrm>
        </p:spPr>
        <p:txBody>
          <a:bodyPr/>
          <a:lstStyle/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 rot="420000">
            <a:off x="3485793" y="1199517"/>
            <a:ext cx="4617720" cy="3931920"/>
          </a:xfrm>
          <a:prstGeom prst="rect">
            <a:avLst/>
          </a:prstGeom>
          <a:solidFill>
            <a:schemeClr val="bg2"/>
          </a:solidFill>
          <a:ln w="3000" cap="rnd">
            <a:solidFill>
              <a:srgbClr val="C0C0C0"/>
            </a:solidFill>
            <a:round/>
          </a:ln>
          <a:effectLst/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10" name="Freeform 9"/>
          <p:cNvSpPr>
            <a:spLocks/>
          </p:cNvSpPr>
          <p:nvPr/>
        </p:nvSpPr>
        <p:spPr bwMode="auto">
          <a:xfrm flipV="1">
            <a:off x="-9525" y="5816600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1" name="Freeform 10"/>
          <p:cNvSpPr>
            <a:spLocks/>
          </p:cNvSpPr>
          <p:nvPr/>
        </p:nvSpPr>
        <p:spPr bwMode="auto">
          <a:xfrm flipV="1">
            <a:off x="4381500" y="6219825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914401"/>
            <a:ext cx="2057400" cy="5211763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914401"/>
            <a:ext cx="6019800" cy="5211763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2913" y="103188"/>
            <a:ext cx="8243887" cy="131445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45611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57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124200" y="6248400"/>
            <a:ext cx="2895600" cy="457200"/>
          </a:xfrm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553200" y="6243638"/>
            <a:ext cx="2133600" cy="457200"/>
          </a:xfrm>
        </p:spPr>
        <p:txBody>
          <a:bodyPr/>
          <a:lstStyle>
            <a:lvl1pPr>
              <a:defRPr/>
            </a:lvl1pPr>
          </a:lstStyle>
          <a:p>
            <a:fld id="{46E54919-577D-4409-A4FA-52F030A823E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152400"/>
            <a:ext cx="7467600" cy="6350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533400" y="1193800"/>
            <a:ext cx="3803650" cy="5130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4489450" y="1193800"/>
            <a:ext cx="3803650" cy="248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4489450" y="3835400"/>
            <a:ext cx="3803650" cy="2489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 6"/>
          <p:cNvSpPr>
            <a:spLocks/>
          </p:cNvSpPr>
          <p:nvPr/>
        </p:nvSpPr>
        <p:spPr bwMode="auto">
          <a:xfrm>
            <a:off x="-9525" y="-7144"/>
            <a:ext cx="9163050" cy="104140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6" y="2"/>
              </a:cxn>
              <a:cxn ang="0">
                <a:pos x="2542" y="0"/>
              </a:cxn>
              <a:cxn ang="0">
                <a:pos x="4374" y="367"/>
              </a:cxn>
              <a:cxn ang="0">
                <a:pos x="5766" y="55"/>
              </a:cxn>
              <a:cxn ang="0">
                <a:pos x="5772" y="213"/>
              </a:cxn>
              <a:cxn ang="0">
                <a:pos x="4302" y="439"/>
              </a:cxn>
              <a:cxn ang="0">
                <a:pos x="1488" y="201"/>
              </a:cxn>
              <a:cxn ang="0">
                <a:pos x="0" y="656"/>
              </a:cxn>
              <a:cxn ang="0">
                <a:pos x="6" y="2"/>
              </a:cxn>
            </a:cxnLst>
            <a:rect l="0" t="0" r="0" b="0"/>
            <a:pathLst>
              <a:path w="5772" h="656">
                <a:moveTo>
                  <a:pt x="6" y="2"/>
                </a:moveTo>
                <a:lnTo>
                  <a:pt x="2542" y="0"/>
                </a:lnTo>
                <a:cubicBezTo>
                  <a:pt x="2746" y="101"/>
                  <a:pt x="3828" y="367"/>
                  <a:pt x="4374" y="367"/>
                </a:cubicBezTo>
                <a:cubicBezTo>
                  <a:pt x="4920" y="367"/>
                  <a:pt x="5526" y="152"/>
                  <a:pt x="5766" y="55"/>
                </a:cubicBezTo>
                <a:lnTo>
                  <a:pt x="5772" y="213"/>
                </a:lnTo>
                <a:cubicBezTo>
                  <a:pt x="5670" y="257"/>
                  <a:pt x="5016" y="441"/>
                  <a:pt x="4302" y="439"/>
                </a:cubicBezTo>
                <a:cubicBezTo>
                  <a:pt x="3588" y="437"/>
                  <a:pt x="2205" y="165"/>
                  <a:pt x="1488" y="201"/>
                </a:cubicBezTo>
                <a:cubicBezTo>
                  <a:pt x="750" y="209"/>
                  <a:pt x="270" y="482"/>
                  <a:pt x="0" y="656"/>
                </a:cubicBezTo>
                <a:lnTo>
                  <a:pt x="6" y="2"/>
                </a:lnTo>
                <a:close/>
              </a:path>
            </a:pathLst>
          </a:custGeom>
          <a:gradFill>
            <a:gsLst>
              <a:gs pos="0">
                <a:schemeClr val="accent2">
                  <a:shade val="50000"/>
                  <a:alpha val="45000"/>
                  <a:satMod val="120000"/>
                </a:schemeClr>
              </a:gs>
              <a:gs pos="100000">
                <a:schemeClr val="accent3">
                  <a:shade val="80000"/>
                  <a:alpha val="55000"/>
                  <a:satMod val="155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381500" y="-7144"/>
            <a:ext cx="4762500" cy="638175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1668" y="564"/>
              </a:cxn>
              <a:cxn ang="0">
                <a:pos x="3000" y="186"/>
              </a:cxn>
              <a:cxn ang="0">
                <a:pos x="3000" y="6"/>
              </a:cxn>
              <a:cxn ang="0">
                <a:pos x="0" y="0"/>
              </a:cxn>
            </a:cxnLst>
            <a:rect l="0" t="0" r="0" b="0"/>
            <a:pathLst>
              <a:path w="3000" h="595">
                <a:moveTo>
                  <a:pt x="0" y="0"/>
                </a:moveTo>
                <a:cubicBezTo>
                  <a:pt x="174" y="102"/>
                  <a:pt x="1168" y="533"/>
                  <a:pt x="1668" y="564"/>
                </a:cubicBezTo>
                <a:cubicBezTo>
                  <a:pt x="2168" y="595"/>
                  <a:pt x="2778" y="279"/>
                  <a:pt x="3000" y="186"/>
                </a:cubicBezTo>
                <a:lnTo>
                  <a:pt x="3000" y="6"/>
                </a:lnTo>
                <a:lnTo>
                  <a:pt x="0" y="0"/>
                </a:lnTo>
                <a:close/>
              </a:path>
            </a:pathLst>
          </a:custGeom>
          <a:gradFill>
            <a:gsLst>
              <a:gs pos="0">
                <a:schemeClr val="accent3">
                  <a:shade val="50000"/>
                  <a:alpha val="30000"/>
                  <a:satMod val="130000"/>
                </a:schemeClr>
              </a:gs>
              <a:gs pos="80000">
                <a:schemeClr val="accent2">
                  <a:shade val="75000"/>
                  <a:alpha val="45000"/>
                  <a:satMod val="140000"/>
                </a:schemeClr>
              </a:gs>
            </a:gsLst>
            <a:lin ang="5400000" scaled="1"/>
          </a:gra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pPr marL="0" algn="l" rtl="0" eaLnBrk="1" latinLnBrk="0" hangingPunct="1"/>
            <a:endParaRPr kumimoji="0" lang="en-US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704088"/>
            <a:ext cx="8229600" cy="1143000"/>
          </a:xfrm>
          <a:prstGeom prst="rect">
            <a:avLst/>
          </a:prstGeom>
        </p:spPr>
        <p:txBody>
          <a:bodyPr vert="horz" lIns="0" rIns="0" bIns="0" anchor="b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935480"/>
            <a:ext cx="8229600" cy="438912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0918D7AE-5A91-4765-A75E-6547FA7F2D1C}" type="datetimeFigureOut">
              <a:rPr lang="en-US" smtClean="0"/>
              <a:pPr/>
              <a:t>10/12/2007</a:t>
            </a:fld>
            <a:endParaRPr lang="en-US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2667000" y="6356350"/>
            <a:ext cx="33528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l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7924800" y="6356350"/>
            <a:ext cx="762000" cy="365125"/>
          </a:xfrm>
          <a:prstGeom prst="rect">
            <a:avLst/>
          </a:prstGeom>
        </p:spPr>
        <p:txBody>
          <a:bodyPr vert="horz" lIns="0" tIns="0" rIns="0" bIns="0" anchor="b"/>
          <a:lstStyle>
            <a:lvl1pPr algn="r" eaLnBrk="1" latinLnBrk="0" hangingPunct="1">
              <a:defRPr kumimoji="0" sz="1200">
                <a:solidFill>
                  <a:schemeClr val="tx2">
                    <a:shade val="90000"/>
                  </a:schemeClr>
                </a:solidFill>
              </a:defRPr>
            </a:lvl1pPr>
          </a:lstStyle>
          <a:p>
            <a:fld id="{7A4BCCF8-EA89-41F9-A35F-61D5D8886975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2" name="Group 1"/>
          <p:cNvGrpSpPr/>
          <p:nvPr/>
        </p:nvGrpSpPr>
        <p:grpSpPr>
          <a:xfrm>
            <a:off x="-19017" y="202408"/>
            <a:ext cx="9180548" cy="649224"/>
            <a:chOff x="-19045" y="216550"/>
            <a:chExt cx="9180548" cy="649224"/>
          </a:xfrm>
        </p:grpSpPr>
        <p:sp>
          <p:nvSpPr>
            <p:cNvPr id="12" name="Freeform 11"/>
            <p:cNvSpPr>
              <a:spLocks/>
            </p:cNvSpPr>
            <p:nvPr/>
          </p:nvSpPr>
          <p:spPr bwMode="auto">
            <a:xfrm rot="21435692">
              <a:off x="-19045" y="216550"/>
              <a:ext cx="9163050" cy="649224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966"/>
                </a:cxn>
                <a:cxn ang="0">
                  <a:pos x="1608" y="282"/>
                </a:cxn>
                <a:cxn ang="0">
                  <a:pos x="4110" y="1008"/>
                </a:cxn>
                <a:cxn ang="0">
                  <a:pos x="5772" y="0"/>
                </a:cxn>
              </a:cxnLst>
              <a:rect l="0" t="0" r="0" b="0"/>
              <a:pathLst>
                <a:path w="5772" h="1055">
                  <a:moveTo>
                    <a:pt x="0" y="966"/>
                  </a:moveTo>
                  <a:cubicBezTo>
                    <a:pt x="282" y="738"/>
                    <a:pt x="923" y="275"/>
                    <a:pt x="1608" y="282"/>
                  </a:cubicBezTo>
                  <a:cubicBezTo>
                    <a:pt x="2293" y="289"/>
                    <a:pt x="3416" y="1055"/>
                    <a:pt x="4110" y="1008"/>
                  </a:cubicBezTo>
                  <a:cubicBezTo>
                    <a:pt x="4804" y="961"/>
                    <a:pt x="5426" y="210"/>
                    <a:pt x="5772" y="0"/>
                  </a:cubicBezTo>
                </a:path>
              </a:pathLst>
            </a:custGeom>
            <a:noFill/>
            <a:ln w="10795" cap="flat" cmpd="sng" algn="ctr">
              <a:gradFill>
                <a:gsLst>
                  <a:gs pos="74000">
                    <a:schemeClr val="accent3">
                      <a:shade val="75000"/>
                    </a:schemeClr>
                  </a:gs>
                  <a:gs pos="86000">
                    <a:schemeClr val="tx1">
                      <a:alpha val="29000"/>
                    </a:schemeClr>
                  </a:gs>
                  <a:gs pos="16000">
                    <a:schemeClr val="accent2">
                      <a:shade val="75000"/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3" name="Freeform 12"/>
            <p:cNvSpPr>
              <a:spLocks/>
            </p:cNvSpPr>
            <p:nvPr/>
          </p:nvSpPr>
          <p:spPr bwMode="auto">
            <a:xfrm rot="21435692">
              <a:off x="-14309" y="290003"/>
              <a:ext cx="9175812" cy="530352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732"/>
                </a:cxn>
                <a:cxn ang="0">
                  <a:pos x="1638" y="228"/>
                </a:cxn>
                <a:cxn ang="0">
                  <a:pos x="4122" y="816"/>
                </a:cxn>
                <a:cxn ang="0">
                  <a:pos x="5766" y="0"/>
                </a:cxn>
              </a:cxnLst>
              <a:rect l="0" t="0" r="0" b="0"/>
              <a:pathLst>
                <a:path w="5766" h="854">
                  <a:moveTo>
                    <a:pt x="0" y="732"/>
                  </a:moveTo>
                  <a:cubicBezTo>
                    <a:pt x="273" y="647"/>
                    <a:pt x="951" y="214"/>
                    <a:pt x="1638" y="228"/>
                  </a:cubicBezTo>
                  <a:cubicBezTo>
                    <a:pt x="2325" y="242"/>
                    <a:pt x="3434" y="854"/>
                    <a:pt x="4122" y="816"/>
                  </a:cubicBezTo>
                  <a:cubicBezTo>
                    <a:pt x="4810" y="778"/>
                    <a:pt x="5424" y="170"/>
                    <a:pt x="5766" y="0"/>
                  </a:cubicBezTo>
                </a:path>
              </a:pathLst>
            </a:custGeom>
            <a:noFill/>
            <a:ln w="9525" cap="flat" cmpd="sng" algn="ctr">
              <a:gradFill>
                <a:gsLst>
                  <a:gs pos="74000">
                    <a:schemeClr val="accent4"/>
                  </a:gs>
                  <a:gs pos="44000">
                    <a:schemeClr val="accent1"/>
                  </a:gs>
                  <a:gs pos="33000">
                    <a:schemeClr val="accent2">
                      <a:alpha val="56000"/>
                    </a:schemeClr>
                  </a:gs>
                </a:gsLst>
                <a:lin ang="5400000" scaled="1"/>
              </a:gradFill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</p:grpSp>
    </p:spTree>
  </p:cSld>
  <p:clrMap bg1="lt1" tx1="dk1" bg2="lt2" tx2="dk2" accent1="accent1" accent2="accent2" accent3="accent3" accent4="accent4" accent5="accent5" accent6="accent6" hlink="hlink" folHlink="folHlink"/>
  <p:sldLayoutIdLst>
    <p:sldLayoutId id="2147484801" r:id="rId1"/>
    <p:sldLayoutId id="2147484802" r:id="rId2"/>
    <p:sldLayoutId id="2147484803" r:id="rId3"/>
    <p:sldLayoutId id="2147484804" r:id="rId4"/>
    <p:sldLayoutId id="2147484805" r:id="rId5"/>
    <p:sldLayoutId id="2147484806" r:id="rId6"/>
    <p:sldLayoutId id="2147484807" r:id="rId7"/>
    <p:sldLayoutId id="2147484808" r:id="rId8"/>
    <p:sldLayoutId id="2147484809" r:id="rId9"/>
    <p:sldLayoutId id="2147484810" r:id="rId10"/>
    <p:sldLayoutId id="2147484811" r:id="rId11"/>
    <p:sldLayoutId id="2147484812" r:id="rId12"/>
    <p:sldLayoutId id="2147484813" r:id="rId13"/>
  </p:sldLayoutIdLst>
  <p:txStyles>
    <p:titleStyle>
      <a:lvl1pPr algn="l" rtl="0" eaLnBrk="1" latinLnBrk="0" hangingPunct="1">
        <a:spcBef>
          <a:spcPct val="0"/>
        </a:spcBef>
        <a:buNone/>
        <a:defRPr kumimoji="0" sz="5000" b="0" kern="120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3"/>
        </a:buClr>
        <a:buSzPct val="9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46888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/>
        <a:buChar char="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indent="-246888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88720" indent="-210312" algn="l" rtl="0" eaLnBrk="1" latinLnBrk="0" hangingPunct="1">
        <a:spcBef>
          <a:spcPct val="20000"/>
        </a:spcBef>
        <a:buClr>
          <a:schemeClr val="accent3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63040" indent="-210312" algn="l" rtl="0" eaLnBrk="1" latinLnBrk="0" hangingPunct="1">
        <a:spcBef>
          <a:spcPct val="20000"/>
        </a:spcBef>
        <a:buClr>
          <a:schemeClr val="accent4"/>
        </a:buClr>
        <a:buSzPct val="65000"/>
        <a:buFont typeface="Wingdings 2"/>
        <a:buChar char="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210312" algn="l" rtl="0" eaLnBrk="1" latinLnBrk="0" hangingPunct="1">
        <a:spcBef>
          <a:spcPct val="20000"/>
        </a:spcBef>
        <a:buClr>
          <a:schemeClr val="accent5"/>
        </a:buClr>
        <a:buSzPct val="80000"/>
        <a:buFont typeface="Wingdings 2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/>
        <a:buChar char="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94560" indent="-182880" algn="l" rtl="0" eaLnBrk="1" latinLnBrk="0" hangingPunct="1">
        <a:spcBef>
          <a:spcPct val="20000"/>
        </a:spcBef>
        <a:buClr>
          <a:schemeClr val="tx2"/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68880" indent="-182880" algn="l" rtl="0" eaLnBrk="1" latinLnBrk="0" hangingPunct="1">
        <a:spcBef>
          <a:spcPct val="20000"/>
        </a:spcBef>
        <a:buClr>
          <a:schemeClr val="tx2"/>
        </a:buClr>
        <a:buFontTx/>
        <a:buChar char="•"/>
        <a:defRPr kumimoji="0" sz="14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slideLayout" Target="../slideLayouts/slideLayout7.xml"/><Relationship Id="rId1" Type="http://schemas.openxmlformats.org/officeDocument/2006/relationships/vmlDrawing" Target="../drawings/vmlDrawing1.vml"/><Relationship Id="rId4" Type="http://schemas.openxmlformats.org/officeDocument/2006/relationships/oleObject" Target="../embeddings/oleObject1.bin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gif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openxmlformats.org/officeDocument/2006/relationships/image" Target="../media/image8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5" Type="http://schemas.openxmlformats.org/officeDocument/2006/relationships/oleObject" Target="../embeddings/oleObject4.bin"/><Relationship Id="rId4" Type="http://schemas.openxmlformats.org/officeDocument/2006/relationships/oleObject" Target="../embeddings/oleObject3.bin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4.jpeg"/><Relationship Id="rId7" Type="http://schemas.openxmlformats.org/officeDocument/2006/relationships/image" Target="../media/image17.jpeg"/><Relationship Id="rId2" Type="http://schemas.openxmlformats.org/officeDocument/2006/relationships/image" Target="../media/image13.w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6.wmf"/><Relationship Id="rId4" Type="http://schemas.openxmlformats.org/officeDocument/2006/relationships/image" Target="../media/image15.jpeg"/><Relationship Id="rId9" Type="http://schemas.openxmlformats.org/officeDocument/2006/relationships/image" Target="../media/image19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Microsoft_Office_Excel_97-2003_Worksheet1.xls"/><Relationship Id="rId2" Type="http://schemas.openxmlformats.org/officeDocument/2006/relationships/slideLayout" Target="../slideLayouts/slideLayout6.xml"/><Relationship Id="rId1" Type="http://schemas.openxmlformats.org/officeDocument/2006/relationships/vmlDrawing" Target="../drawings/vmlDrawing3.v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Enabling Carbon Flux Studies at the Regional and Ecosystem Scale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Deborah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Agarwal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BWC technical team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16 July 2007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0418" name="Picture 2" descr="canopy_balance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524000" y="990600"/>
            <a:ext cx="6248400" cy="4114800"/>
          </a:xfrm>
          <a:prstGeom prst="rect">
            <a:avLst/>
          </a:prstGeom>
          <a:noFill/>
        </p:spPr>
      </p:pic>
      <p:sp>
        <p:nvSpPr>
          <p:cNvPr id="60419" name="Rectangle 3"/>
          <p:cNvSpPr>
            <a:spLocks noChangeArrowheads="1"/>
          </p:cNvSpPr>
          <p:nvPr/>
        </p:nvSpPr>
        <p:spPr bwMode="auto">
          <a:xfrm>
            <a:off x="0" y="3314700"/>
            <a:ext cx="9144000" cy="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>
            <a:spAutoFit/>
          </a:bodyPr>
          <a:lstStyle/>
          <a:p>
            <a:endParaRPr lang="en-US"/>
          </a:p>
        </p:txBody>
      </p:sp>
      <p:graphicFrame>
        <p:nvGraphicFramePr>
          <p:cNvPr id="60420" name="Object 4"/>
          <p:cNvGraphicFramePr>
            <a:graphicFrameLocks noChangeAspect="1"/>
          </p:cNvGraphicFramePr>
          <p:nvPr/>
        </p:nvGraphicFramePr>
        <p:xfrm>
          <a:off x="990600" y="5181600"/>
          <a:ext cx="7107238" cy="488950"/>
        </p:xfrm>
        <a:graphic>
          <a:graphicData uri="http://schemas.openxmlformats.org/presentationml/2006/ole">
            <p:oleObj spid="_x0000_s62466" name="Equation" r:id="rId4" imgW="3492360" imgH="241200" progId="Equation.3">
              <p:embed/>
            </p:oleObj>
          </a:graphicData>
        </a:graphic>
      </p:graphicFrame>
      <p:sp>
        <p:nvSpPr>
          <p:cNvPr id="60423" name="Text Box 7"/>
          <p:cNvSpPr txBox="1">
            <a:spLocks noChangeArrowheads="1"/>
          </p:cNvSpPr>
          <p:nvPr/>
        </p:nvSpPr>
        <p:spPr bwMode="auto">
          <a:xfrm>
            <a:off x="457200" y="5711825"/>
            <a:ext cx="8458200" cy="1069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/>
          <a:p>
            <a:pPr marL="342900" indent="-342900" algn="l">
              <a:spcBef>
                <a:spcPct val="20000"/>
              </a:spcBef>
              <a:buFontTx/>
              <a:buAutoNum type="arabicPeriod"/>
            </a:pPr>
            <a:r>
              <a:rPr lang="en-GB" sz="1600" dirty="0"/>
              <a:t>Applications of eddy covariance measurements, Part 1:</a:t>
            </a:r>
            <a:r>
              <a:rPr lang="en-US" sz="1600" dirty="0"/>
              <a:t> Lecture on Analyzing and Interpreting CO2 Flux Measurements, Dennis </a:t>
            </a:r>
            <a:r>
              <a:rPr lang="en-US" sz="1600" dirty="0" err="1"/>
              <a:t>Baldocchi</a:t>
            </a:r>
            <a:r>
              <a:rPr lang="en-US" sz="1600" dirty="0"/>
              <a:t>, </a:t>
            </a:r>
            <a:r>
              <a:rPr lang="en-US" sz="1600" dirty="0" err="1"/>
              <a:t>CarboEurope</a:t>
            </a:r>
            <a:r>
              <a:rPr lang="en-US" sz="1600" dirty="0"/>
              <a:t> Summer Course, 2006, Namur, Belgium (http://nature.berkeley.edu/biometlab/lectures/)</a:t>
            </a:r>
          </a:p>
          <a:p>
            <a:pPr marL="342900" indent="-342900" algn="l"/>
            <a:endParaRPr lang="en-US" sz="1600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Carbon-Climate Analysis Goals</a:t>
            </a:r>
            <a:endParaRPr lang="en-US" sz="4000" dirty="0"/>
          </a:p>
        </p:txBody>
      </p:sp>
      <p:sp>
        <p:nvSpPr>
          <p:cNvPr id="5" name="Content Placeholder 4"/>
          <p:cNvSpPr>
            <a:spLocks noGrp="1"/>
          </p:cNvSpPr>
          <p:nvPr>
            <p:ph sz="half" idx="1"/>
          </p:nvPr>
        </p:nvSpPr>
        <p:spPr>
          <a:xfrm>
            <a:off x="457200" y="1920085"/>
            <a:ext cx="4876800" cy="4434840"/>
          </a:xfrm>
        </p:spPr>
        <p:txBody>
          <a:bodyPr>
            <a:no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Towers measure consistent carbon flux and micrometeorological parameters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Tower researchers quality check data and then provide the data to regional archives.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Regional and global carbon-climate  analysis activities rely on data from regional archives</a:t>
            </a:r>
          </a:p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Recent La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Thuile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workshop is gathering over 700 site-years of data available from over 200 sites around the world. </a:t>
            </a:r>
          </a:p>
          <a:p>
            <a:pPr lvl="0"/>
            <a:endParaRPr lang="en-US" sz="2000" dirty="0" smtClean="0">
              <a:solidFill>
                <a:schemeClr val="tx1">
                  <a:lumMod val="95000"/>
                  <a:lumOff val="5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endParaRPr lang="en-US" sz="2000" dirty="0" smtClean="0"/>
          </a:p>
        </p:txBody>
      </p:sp>
      <p:pic>
        <p:nvPicPr>
          <p:cNvPr id="1026" name="Picture 2" descr="C:\Documents and Settings\vaningen\Desktop\LaThuileStaging\LaThuile\LgFLUXNET_April2003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705600" y="914400"/>
            <a:ext cx="2232965" cy="2243938"/>
          </a:xfrm>
          <a:prstGeom prst="rect">
            <a:avLst/>
          </a:prstGeom>
          <a:noFill/>
        </p:spPr>
      </p:pic>
      <p:pic>
        <p:nvPicPr>
          <p:cNvPr id="17410" name="Picture 2" descr="C:\Documents and Settings\vaningen\My Documents\My Pictures\test_af_main_ani2.gif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43600" y="3124200"/>
            <a:ext cx="2846070" cy="3543300"/>
          </a:xfrm>
          <a:prstGeom prst="rect">
            <a:avLst/>
          </a:prstGeom>
          <a:noFill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304800" y="609600"/>
            <a:ext cx="8839200" cy="1371600"/>
          </a:xfrm>
        </p:spPr>
        <p:txBody>
          <a:bodyPr>
            <a:normAutofit fontScale="90000"/>
          </a:bodyPr>
          <a:lstStyle/>
          <a:p>
            <a:r>
              <a:rPr lang="en-US" dirty="0"/>
              <a:t>Measurements Are </a:t>
            </a:r>
            <a:r>
              <a:rPr lang="en-US" dirty="0" smtClean="0"/>
              <a:t>Often Not </a:t>
            </a:r>
            <a:r>
              <a:rPr lang="en-US" dirty="0"/>
              <a:t>Simple or Complete</a:t>
            </a:r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sz="2000" dirty="0">
                <a:latin typeface="Arial" pitchFamily="34" charset="0"/>
                <a:cs typeface="Arial" pitchFamily="34" charset="0"/>
              </a:rPr>
              <a:t>Gaps in the data 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Quiet nights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Bird poop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High winds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….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Difficult to make measurements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Leaf area index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Wood respiration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Soil respiration</a:t>
            </a:r>
          </a:p>
          <a:p>
            <a:pPr lvl="1"/>
            <a:r>
              <a:rPr lang="en-US" sz="2000" dirty="0">
                <a:latin typeface="Arial" pitchFamily="34" charset="0"/>
                <a:cs typeface="Arial" pitchFamily="34" charset="0"/>
              </a:rPr>
              <a:t>…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Localized measurements – tower footprint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Local investigator knowledge important</a:t>
            </a:r>
          </a:p>
          <a:p>
            <a:r>
              <a:rPr lang="en-US" sz="2000" dirty="0">
                <a:latin typeface="Arial" pitchFamily="34" charset="0"/>
                <a:cs typeface="Arial" pitchFamily="34" charset="0"/>
              </a:rPr>
              <a:t>PIs’ science goals are not uniform across the towers</a:t>
            </a:r>
          </a:p>
        </p:txBody>
      </p:sp>
      <p:pic>
        <p:nvPicPr>
          <p:cNvPr id="4" name="Picture 3" descr="morepalmsblowing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438400"/>
            <a:ext cx="1645920" cy="1176528"/>
          </a:xfrm>
          <a:prstGeom prst="rect">
            <a:avLst/>
          </a:prstGeom>
        </p:spPr>
      </p:pic>
      <p:pic>
        <p:nvPicPr>
          <p:cNvPr id="5" name="Picture 4" descr="sunthroughtree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10400" y="4702952"/>
            <a:ext cx="1686437" cy="1146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Typical Data Analysis Flow Today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587222" y="1981200"/>
          <a:ext cx="8229600" cy="438943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97422" y="2332037"/>
            <a:ext cx="2917978" cy="646331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accent1"/>
            </a:solidFill>
          </a:ln>
        </p:spPr>
        <p:txBody>
          <a:bodyPr wrap="none" rtlCol="0">
            <a:spAutoFit/>
          </a:bodyPr>
          <a:lstStyle/>
          <a:p>
            <a:r>
              <a:rPr lang="en-US" dirty="0" err="1" smtClean="0">
                <a:latin typeface="Arial Black" pitchFamily="34" charset="0"/>
              </a:rPr>
              <a:t>Matlab</a:t>
            </a:r>
            <a:r>
              <a:rPr lang="en-US" dirty="0" smtClean="0">
                <a:latin typeface="Arial Black" pitchFamily="34" charset="0"/>
              </a:rPr>
              <a:t>, Excel, </a:t>
            </a:r>
          </a:p>
          <a:p>
            <a:r>
              <a:rPr lang="en-US" dirty="0" smtClean="0">
                <a:latin typeface="Arial Black" pitchFamily="34" charset="0"/>
              </a:rPr>
              <a:t>S-Plus, PV-Wave, R, …</a:t>
            </a:r>
            <a:endParaRPr lang="en-US" dirty="0">
              <a:latin typeface="Arial Black" pitchFamily="34" charset="0"/>
            </a:endParaRPr>
          </a:p>
        </p:txBody>
      </p:sp>
      <p:pic>
        <p:nvPicPr>
          <p:cNvPr id="6" name="Picture 6" descr="cuahsi-his"/>
          <p:cNvPicPr>
            <a:picLocks noChangeAspect="1" noChangeArrowheads="1"/>
          </p:cNvPicPr>
          <p:nvPr/>
        </p:nvPicPr>
        <p:blipFill>
          <a:blip r:embed="rId7" cstate="print"/>
          <a:srcRect/>
          <a:stretch>
            <a:fillRect/>
          </a:stretch>
        </p:blipFill>
        <p:spPr bwMode="auto">
          <a:xfrm>
            <a:off x="130022" y="2941636"/>
            <a:ext cx="1524000" cy="917383"/>
          </a:xfrm>
          <a:prstGeom prst="rect">
            <a:avLst/>
          </a:prstGeom>
          <a:noFill/>
        </p:spPr>
      </p:pic>
      <p:sp>
        <p:nvSpPr>
          <p:cNvPr id="7" name="TextBox 6"/>
          <p:cNvSpPr txBox="1"/>
          <p:nvPr/>
        </p:nvSpPr>
        <p:spPr>
          <a:xfrm>
            <a:off x="434822" y="5227637"/>
            <a:ext cx="2796535" cy="1200329"/>
          </a:xfrm>
          <a:prstGeom prst="rect">
            <a:avLst/>
          </a:prstGeom>
          <a:solidFill>
            <a:schemeClr val="bg2">
              <a:lumMod val="90000"/>
              <a:alpha val="71000"/>
            </a:schemeClr>
          </a:solidFill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US" dirty="0" smtClean="0">
                <a:latin typeface="Arial Black" pitchFamily="34" charset="0"/>
              </a:rPr>
              <a:t>Web page, e-mail, </a:t>
            </a:r>
          </a:p>
          <a:p>
            <a:r>
              <a:rPr lang="en-US" dirty="0" smtClean="0">
                <a:latin typeface="Arial Black" pitchFamily="34" charset="0"/>
              </a:rPr>
              <a:t>web service,  phone,</a:t>
            </a:r>
          </a:p>
          <a:p>
            <a:r>
              <a:rPr lang="en-US" dirty="0" smtClean="0">
                <a:latin typeface="Arial Black" pitchFamily="34" charset="0"/>
              </a:rPr>
              <a:t>Student, Post-doc, </a:t>
            </a:r>
          </a:p>
          <a:p>
            <a:r>
              <a:rPr lang="en-US" dirty="0" smtClean="0">
                <a:latin typeface="Arial Black" pitchFamily="34" charset="0"/>
              </a:rPr>
              <a:t>Friend,  . . .</a:t>
            </a:r>
            <a:endParaRPr lang="en-US" dirty="0">
              <a:latin typeface="Arial Black" pitchFamily="34" charset="0"/>
            </a:endParaRPr>
          </a:p>
        </p:txBody>
      </p:sp>
      <p:cxnSp>
        <p:nvCxnSpPr>
          <p:cNvPr id="9" name="Straight Arrow Connector 8"/>
          <p:cNvCxnSpPr/>
          <p:nvPr/>
        </p:nvCxnSpPr>
        <p:spPr>
          <a:xfrm rot="5400000" flipH="1" flipV="1">
            <a:off x="1120622" y="4770437"/>
            <a:ext cx="457200" cy="457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/>
          <p:cNvCxnSpPr/>
          <p:nvPr/>
        </p:nvCxnSpPr>
        <p:spPr>
          <a:xfrm>
            <a:off x="3254222" y="6142037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/>
          <p:cNvCxnSpPr/>
          <p:nvPr/>
        </p:nvCxnSpPr>
        <p:spPr>
          <a:xfrm rot="10800000" flipV="1">
            <a:off x="5562600" y="2438400"/>
            <a:ext cx="381000" cy="76200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Straight Arrow Connector 14"/>
          <p:cNvCxnSpPr/>
          <p:nvPr/>
        </p:nvCxnSpPr>
        <p:spPr>
          <a:xfrm rot="5400000">
            <a:off x="6819900" y="3162300"/>
            <a:ext cx="381000" cy="1588"/>
          </a:xfrm>
          <a:prstGeom prst="straightConnector1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228600"/>
            <a:ext cx="8305800" cy="1143000"/>
          </a:xfrm>
        </p:spPr>
        <p:txBody>
          <a:bodyPr/>
          <a:lstStyle/>
          <a:p>
            <a:r>
              <a:rPr lang="en-US" dirty="0" smtClean="0"/>
              <a:t>Target Data Analysis Flow </a:t>
            </a:r>
            <a:endParaRPr lang="en-US" dirty="0"/>
          </a:p>
        </p:txBody>
      </p:sp>
      <p:graphicFrame>
        <p:nvGraphicFramePr>
          <p:cNvPr id="39" name="Diagram 38"/>
          <p:cNvGraphicFramePr/>
          <p:nvPr/>
        </p:nvGraphicFramePr>
        <p:xfrm>
          <a:off x="609600" y="1371600"/>
          <a:ext cx="7467600" cy="52324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0" name="Left-Right Arrow 39"/>
          <p:cNvSpPr/>
          <p:nvPr/>
        </p:nvSpPr>
        <p:spPr>
          <a:xfrm>
            <a:off x="2667000" y="3657600"/>
            <a:ext cx="609600" cy="304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Left-Right Arrow 40"/>
          <p:cNvSpPr/>
          <p:nvPr/>
        </p:nvSpPr>
        <p:spPr>
          <a:xfrm>
            <a:off x="5334000" y="3581400"/>
            <a:ext cx="609600" cy="304800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Up-Down Arrow 41"/>
          <p:cNvSpPr/>
          <p:nvPr/>
        </p:nvSpPr>
        <p:spPr>
          <a:xfrm>
            <a:off x="4114800" y="2514600"/>
            <a:ext cx="381000" cy="6096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Up-Down Arrow 42"/>
          <p:cNvSpPr/>
          <p:nvPr/>
        </p:nvSpPr>
        <p:spPr>
          <a:xfrm>
            <a:off x="4114800" y="4648200"/>
            <a:ext cx="381000" cy="609600"/>
          </a:xfrm>
          <a:prstGeom prst="up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6781800" y="4876800"/>
            <a:ext cx="21336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Track versions, 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results, and</a:t>
            </a:r>
          </a:p>
          <a:p>
            <a:r>
              <a:rPr lang="en-US" sz="2400" dirty="0" smtClean="0">
                <a:latin typeface="Arial" pitchFamily="34" charset="0"/>
                <a:cs typeface="Arial" pitchFamily="34" charset="0"/>
              </a:rPr>
              <a:t>provenance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Scientific Data Server - Overview</a:t>
            </a:r>
            <a:endParaRPr lang="en-US" dirty="0"/>
          </a:p>
        </p:txBody>
      </p:sp>
      <p:sp>
        <p:nvSpPr>
          <p:cNvPr id="3" name="Flowchart: Magnetic Disk 2"/>
          <p:cNvSpPr/>
          <p:nvPr/>
        </p:nvSpPr>
        <p:spPr>
          <a:xfrm>
            <a:off x="2590800" y="2362200"/>
            <a:ext cx="2667000" cy="1600200"/>
          </a:xfrm>
          <a:prstGeom prst="flowChartMagneticDisk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Databases</a:t>
            </a:r>
            <a:endParaRPr lang="en-US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Cube 3"/>
          <p:cNvSpPr/>
          <p:nvPr/>
        </p:nvSpPr>
        <p:spPr>
          <a:xfrm>
            <a:off x="6248400" y="2057400"/>
            <a:ext cx="2133600" cy="1981200"/>
          </a:xfrm>
          <a:prstGeom prst="cube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Data Cubes</a:t>
            </a:r>
            <a:endParaRPr lang="en-US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ight Arrow 4"/>
          <p:cNvSpPr/>
          <p:nvPr/>
        </p:nvSpPr>
        <p:spPr>
          <a:xfrm>
            <a:off x="5257800" y="2895600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Flowchart: Punched Tape 5"/>
          <p:cNvSpPr/>
          <p:nvPr/>
        </p:nvSpPr>
        <p:spPr>
          <a:xfrm>
            <a:off x="4648200" y="4953000"/>
            <a:ext cx="2209800" cy="1490472"/>
          </a:xfrm>
          <a:prstGeom prst="flowChartPunchedTape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User Interfaces</a:t>
            </a:r>
            <a:endParaRPr lang="en-US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7" name="Right Arrow 6"/>
          <p:cNvSpPr/>
          <p:nvPr/>
        </p:nvSpPr>
        <p:spPr>
          <a:xfrm rot="2589840">
            <a:off x="4002983" y="4329733"/>
            <a:ext cx="1488412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Down Arrow 8"/>
          <p:cNvSpPr/>
          <p:nvPr/>
        </p:nvSpPr>
        <p:spPr>
          <a:xfrm rot="2746928">
            <a:off x="6525681" y="398802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lowchart: Multidocument 9"/>
          <p:cNvSpPr/>
          <p:nvPr/>
        </p:nvSpPr>
        <p:spPr>
          <a:xfrm>
            <a:off x="304800" y="2590800"/>
            <a:ext cx="1670304" cy="1905000"/>
          </a:xfrm>
          <a:prstGeom prst="flowChartMultidocument">
            <a:avLst/>
          </a:prstGeom>
          <a:solidFill>
            <a:schemeClr val="bg2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Data Ingest</a:t>
            </a:r>
            <a:endParaRPr lang="en-US" sz="3200" dirty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12" name="Right Arrow 11"/>
          <p:cNvSpPr/>
          <p:nvPr/>
        </p:nvSpPr>
        <p:spPr>
          <a:xfrm>
            <a:off x="1981200" y="3048000"/>
            <a:ext cx="609600" cy="3048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609600" y="990600"/>
            <a:ext cx="7467600" cy="635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Database</a:t>
            </a:r>
            <a:endParaRPr lang="en-US" dirty="0"/>
          </a:p>
        </p:txBody>
      </p:sp>
      <p:sp>
        <p:nvSpPr>
          <p:cNvPr id="2560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04800" y="1676400"/>
            <a:ext cx="5029200" cy="4902200"/>
          </a:xfrm>
        </p:spPr>
        <p:txBody>
          <a:bodyPr>
            <a:noAutofit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All descriptive metadata and data held in relational databases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Metadata is important too!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While separate databases are shown, the datasets may actually reside in a single database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Mapping is transparent to the scientist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Separate databases used for performance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Unified databases used for simplicity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New metadata and data are staged with a temporary database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Minimal quality checks applied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All name and unit conversions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Data may be exported to flat file, copied to a private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MyDb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database, directly accessed programmatically, or ? </a:t>
            </a:r>
          </a:p>
        </p:txBody>
      </p:sp>
      <p:graphicFrame>
        <p:nvGraphicFramePr>
          <p:cNvPr id="25604" name="Object 4"/>
          <p:cNvGraphicFramePr>
            <a:graphicFrameLocks noChangeAspect="1"/>
          </p:cNvGraphicFramePr>
          <p:nvPr>
            <p:ph sz="quarter" idx="2"/>
          </p:nvPr>
        </p:nvGraphicFramePr>
        <p:xfrm>
          <a:off x="6705600" y="1600200"/>
          <a:ext cx="1047750" cy="4819650"/>
        </p:xfrm>
        <a:graphic>
          <a:graphicData uri="http://schemas.openxmlformats.org/presentationml/2006/ole">
            <p:oleObj spid="_x0000_s64514" name="Visio" r:id="rId3" imgW="1398270" imgH="5350383" progId="Visio.Drawing.11">
              <p:embed/>
            </p:oleObj>
          </a:graphicData>
        </a:graphic>
      </p:graphicFrame>
      <p:graphicFrame>
        <p:nvGraphicFramePr>
          <p:cNvPr id="25605" name="Object 5"/>
          <p:cNvGraphicFramePr>
            <a:graphicFrameLocks noChangeAspect="1"/>
          </p:cNvGraphicFramePr>
          <p:nvPr>
            <p:ph sz="quarter" idx="3"/>
          </p:nvPr>
        </p:nvGraphicFramePr>
        <p:xfrm>
          <a:off x="8178800" y="3225800"/>
          <a:ext cx="768350" cy="800100"/>
        </p:xfrm>
        <a:graphic>
          <a:graphicData uri="http://schemas.openxmlformats.org/presentationml/2006/ole">
            <p:oleObj spid="_x0000_s64515" name="Visio" r:id="rId4" imgW="961263" imgH="1001268" progId="Visio.Drawing.11">
              <p:embed/>
            </p:oleObj>
          </a:graphicData>
        </a:graphic>
      </p:graphicFrame>
      <p:graphicFrame>
        <p:nvGraphicFramePr>
          <p:cNvPr id="25607" name="Object 7"/>
          <p:cNvGraphicFramePr>
            <a:graphicFrameLocks noChangeAspect="1"/>
          </p:cNvGraphicFramePr>
          <p:nvPr/>
        </p:nvGraphicFramePr>
        <p:xfrm>
          <a:off x="5511800" y="3225800"/>
          <a:ext cx="768350" cy="800100"/>
        </p:xfrm>
        <a:graphic>
          <a:graphicData uri="http://schemas.openxmlformats.org/presentationml/2006/ole">
            <p:oleObj spid="_x0000_s64516" name="Visio" r:id="rId5" imgW="961263" imgH="1001268" progId="Visio.Drawing.11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Data Cubes</a:t>
            </a:r>
          </a:p>
        </p:txBody>
      </p:sp>
      <p:sp>
        <p:nvSpPr>
          <p:cNvPr id="26632" name="Rectangle 8"/>
          <p:cNvSpPr>
            <a:spLocks noGrp="1" noChangeArrowheads="1"/>
          </p:cNvSpPr>
          <p:nvPr>
            <p:ph type="body" sz="half" idx="1"/>
          </p:nvPr>
        </p:nvSpPr>
        <p:spPr>
          <a:xfrm>
            <a:off x="381000" y="1600200"/>
            <a:ext cx="5029200" cy="5257800"/>
          </a:xfrm>
        </p:spPr>
        <p:txBody>
          <a:bodyPr>
            <a:normAutofit/>
          </a:bodyPr>
          <a:lstStyle/>
          <a:p>
            <a:pPr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 data cube is a database specifically for data mining (OLAP)</a:t>
            </a:r>
          </a:p>
          <a:p>
            <a:pPr lvl="1">
              <a:lnSpc>
                <a:spcPct val="8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Simple 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aggregations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(sum, min, or max) can be pre-computed for speed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Additional calculations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can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be computed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dynamically or pre-computed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Both operate along </a:t>
            </a:r>
            <a:r>
              <a:rPr lang="en-US" sz="2000" i="1" dirty="0">
                <a:latin typeface="Arial" pitchFamily="34" charset="0"/>
                <a:cs typeface="Arial" pitchFamily="34" charset="0"/>
              </a:rPr>
              <a:t>dimensions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such as time, site, or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datumtype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Constructed from a relational database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A specialized query language (MDX) is used</a:t>
            </a:r>
          </a:p>
          <a:p>
            <a:pPr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Client tool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integration 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is evolving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Excel PivotTables allow simple data viewing</a:t>
            </a:r>
          </a:p>
          <a:p>
            <a:pPr lvl="1">
              <a:lnSpc>
                <a:spcPct val="80000"/>
              </a:lnSpc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More powerful 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analysis and plotting using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Matlab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and statistics software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</a:t>
            </a:r>
            <a:endParaRPr lang="en-US" sz="18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8" name="Picture 13"/>
          <p:cNvPicPr>
            <a:picLocks noGrp="1" noChangeAspect="1" noChangeArrowheads="1"/>
          </p:cNvPicPr>
          <p:nvPr>
            <p:ph sz="half" idx="2"/>
          </p:nvPr>
        </p:nvPicPr>
        <p:blipFill>
          <a:blip r:embed="rId2"/>
          <a:srcRect/>
          <a:stretch>
            <a:fillRect/>
          </a:stretch>
        </p:blipFill>
        <p:spPr bwMode="auto">
          <a:xfrm>
            <a:off x="5758962" y="1905000"/>
            <a:ext cx="3385038" cy="2667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62000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en-US" dirty="0"/>
              <a:t>Scientific Data Server </a:t>
            </a:r>
            <a:r>
              <a:rPr lang="en-US" dirty="0" smtClean="0"/>
              <a:t>– User Interface</a:t>
            </a:r>
            <a:endParaRPr lang="en-US" dirty="0"/>
          </a:p>
        </p:txBody>
      </p:sp>
      <p:grpSp>
        <p:nvGrpSpPr>
          <p:cNvPr id="6" name="Content Placeholder 5"/>
          <p:cNvGrpSpPr>
            <a:grpSpLocks noGrp="1" noChangeAspect="1"/>
          </p:cNvGrpSpPr>
          <p:nvPr>
            <p:ph idx="1"/>
          </p:nvPr>
        </p:nvGrpSpPr>
        <p:grpSpPr>
          <a:xfrm>
            <a:off x="457200" y="1935163"/>
            <a:ext cx="8674416" cy="4389437"/>
            <a:chOff x="212725" y="1447800"/>
            <a:chExt cx="9178083" cy="5186363"/>
          </a:xfrm>
        </p:grpSpPr>
        <p:pic>
          <p:nvPicPr>
            <p:cNvPr id="7" name="Picture 3" descr="MCj04041590000[1]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457200" y="1447800"/>
              <a:ext cx="1422400" cy="1427163"/>
            </a:xfrm>
            <a:prstGeom prst="rect">
              <a:avLst/>
            </a:prstGeom>
            <a:noFill/>
          </p:spPr>
        </p:pic>
        <p:sp>
          <p:nvSpPr>
            <p:cNvPr id="8" name="Text Box 4"/>
            <p:cNvSpPr txBox="1">
              <a:spLocks noChangeArrowheads="1"/>
            </p:cNvSpPr>
            <p:nvPr/>
          </p:nvSpPr>
          <p:spPr bwMode="auto">
            <a:xfrm>
              <a:off x="212725" y="3084513"/>
              <a:ext cx="1936719" cy="763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>
                  <a:latin typeface="Arial" pitchFamily="34" charset="0"/>
                  <a:cs typeface="Arial" pitchFamily="34" charset="0"/>
                </a:rPr>
                <a:t>ORNL </a:t>
              </a:r>
              <a:r>
                <a:rPr lang="en-US" dirty="0" err="1">
                  <a:latin typeface="Arial" pitchFamily="34" charset="0"/>
                  <a:cs typeface="Arial" pitchFamily="34" charset="0"/>
                </a:rPr>
                <a:t>Ameriflux</a:t>
              </a:r>
              <a:endParaRPr lang="en-US" dirty="0">
                <a:latin typeface="Arial" pitchFamily="34" charset="0"/>
                <a:cs typeface="Arial" pitchFamily="34" charset="0"/>
              </a:endParaRPr>
            </a:p>
            <a:p>
              <a:pPr algn="l"/>
              <a:r>
                <a:rPr lang="en-US" dirty="0">
                  <a:latin typeface="Arial" pitchFamily="34" charset="0"/>
                  <a:cs typeface="Arial" pitchFamily="34" charset="0"/>
                </a:rPr>
                <a:t>Web Site</a:t>
              </a:r>
            </a:p>
          </p:txBody>
        </p:sp>
        <p:pic>
          <p:nvPicPr>
            <p:cNvPr id="9" name="Picture 5" descr="ornl-csv-file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2209800" y="2209800"/>
              <a:ext cx="1800225" cy="989013"/>
            </a:xfrm>
            <a:prstGeom prst="rect">
              <a:avLst/>
            </a:prstGeom>
            <a:noFill/>
          </p:spPr>
        </p:pic>
        <p:pic>
          <p:nvPicPr>
            <p:cNvPr id="10" name="Picture 6" descr="csv-as-excel"/>
            <p:cNvPicPr>
              <a:picLocks noChangeAspect="1" noChangeArrowheads="1"/>
            </p:cNvPicPr>
            <p:nvPr/>
          </p:nvPicPr>
          <p:blipFill>
            <a:blip r:embed="rId4" cstate="print"/>
            <a:srcRect/>
            <a:stretch>
              <a:fillRect/>
            </a:stretch>
          </p:blipFill>
          <p:spPr bwMode="auto">
            <a:xfrm>
              <a:off x="2590800" y="2514600"/>
              <a:ext cx="1800225" cy="915988"/>
            </a:xfrm>
            <a:prstGeom prst="rect">
              <a:avLst/>
            </a:prstGeom>
            <a:noFill/>
          </p:spPr>
        </p:pic>
        <p:sp>
          <p:nvSpPr>
            <p:cNvPr id="11" name="Line 7"/>
            <p:cNvSpPr>
              <a:spLocks noChangeShapeType="1"/>
            </p:cNvSpPr>
            <p:nvPr/>
          </p:nvSpPr>
          <p:spPr bwMode="auto">
            <a:xfrm>
              <a:off x="1447800" y="2438400"/>
              <a:ext cx="7620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 Box 8"/>
            <p:cNvSpPr txBox="1">
              <a:spLocks noChangeArrowheads="1"/>
            </p:cNvSpPr>
            <p:nvPr/>
          </p:nvSpPr>
          <p:spPr bwMode="auto">
            <a:xfrm>
              <a:off x="2574926" y="1789114"/>
              <a:ext cx="1280879" cy="436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>
                  <a:latin typeface="Arial" pitchFamily="34" charset="0"/>
                  <a:cs typeface="Arial" pitchFamily="34" charset="0"/>
                </a:rPr>
                <a:t>CSV Files</a:t>
              </a:r>
            </a:p>
          </p:txBody>
        </p:sp>
        <p:pic>
          <p:nvPicPr>
            <p:cNvPr id="13" name="Picture 9" descr="j0195384"/>
            <p:cNvPicPr>
              <a:picLocks noChangeAspect="1" noChangeArrowheads="1"/>
            </p:cNvPicPr>
            <p:nvPr/>
          </p:nvPicPr>
          <p:blipFill>
            <a:blip r:embed="rId5"/>
            <a:srcRect/>
            <a:stretch>
              <a:fillRect/>
            </a:stretch>
          </p:blipFill>
          <p:spPr bwMode="auto">
            <a:xfrm>
              <a:off x="6934200" y="4800600"/>
              <a:ext cx="1795463" cy="1833563"/>
            </a:xfrm>
            <a:prstGeom prst="rect">
              <a:avLst/>
            </a:prstGeom>
            <a:noFill/>
          </p:spPr>
        </p:pic>
        <p:pic>
          <p:nvPicPr>
            <p:cNvPr id="14" name="Picture 10" descr="MCj04041590000[1]"/>
            <p:cNvPicPr>
              <a:picLocks noChangeAspect="1" noChangeArrowheads="1"/>
            </p:cNvPicPr>
            <p:nvPr/>
          </p:nvPicPr>
          <p:blipFill>
            <a:blip r:embed="rId2"/>
            <a:srcRect/>
            <a:stretch>
              <a:fillRect/>
            </a:stretch>
          </p:blipFill>
          <p:spPr bwMode="auto">
            <a:xfrm>
              <a:off x="1524000" y="4114800"/>
              <a:ext cx="1422400" cy="1427163"/>
            </a:xfrm>
            <a:prstGeom prst="rect">
              <a:avLst/>
            </a:prstGeom>
            <a:noFill/>
          </p:spPr>
        </p:pic>
        <p:sp>
          <p:nvSpPr>
            <p:cNvPr id="15" name="Line 11"/>
            <p:cNvSpPr>
              <a:spLocks noChangeShapeType="1"/>
            </p:cNvSpPr>
            <p:nvPr/>
          </p:nvSpPr>
          <p:spPr bwMode="auto">
            <a:xfrm flipH="1">
              <a:off x="2057400" y="3200400"/>
              <a:ext cx="533400" cy="11430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Text Box 12"/>
            <p:cNvSpPr txBox="1">
              <a:spLocks noChangeArrowheads="1"/>
            </p:cNvSpPr>
            <p:nvPr/>
          </p:nvSpPr>
          <p:spPr bwMode="auto">
            <a:xfrm>
              <a:off x="1143000" y="5638799"/>
              <a:ext cx="2167317" cy="763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latin typeface="Arial" pitchFamily="34" charset="0"/>
                  <a:cs typeface="Arial" pitchFamily="34" charset="0"/>
                </a:rPr>
                <a:t>BWC SQL Server </a:t>
              </a:r>
            </a:p>
            <a:p>
              <a:pPr algn="l"/>
              <a:r>
                <a:rPr lang="en-US">
                  <a:latin typeface="Arial" pitchFamily="34" charset="0"/>
                  <a:cs typeface="Arial" pitchFamily="34" charset="0"/>
                </a:rPr>
                <a:t>Database</a:t>
              </a:r>
            </a:p>
          </p:txBody>
        </p:sp>
        <p:pic>
          <p:nvPicPr>
            <p:cNvPr id="17" name="Picture 13"/>
            <p:cNvPicPr>
              <a:picLocks noChangeAspect="1" noChangeArrowheads="1"/>
            </p:cNvPicPr>
            <p:nvPr/>
          </p:nvPicPr>
          <p:blipFill>
            <a:blip r:embed="rId6"/>
            <a:srcRect/>
            <a:stretch>
              <a:fillRect/>
            </a:stretch>
          </p:blipFill>
          <p:spPr bwMode="auto">
            <a:xfrm>
              <a:off x="3505200" y="3810000"/>
              <a:ext cx="1984375" cy="1563688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</p:pic>
        <p:sp>
          <p:nvSpPr>
            <p:cNvPr id="18" name="Line 14"/>
            <p:cNvSpPr>
              <a:spLocks noChangeShapeType="1"/>
            </p:cNvSpPr>
            <p:nvPr/>
          </p:nvSpPr>
          <p:spPr bwMode="auto">
            <a:xfrm>
              <a:off x="2590800" y="4724400"/>
              <a:ext cx="91440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19" name="Picture 15" descr="pivot-table"/>
            <p:cNvPicPr>
              <a:picLocks noChangeAspect="1" noChangeArrowheads="1"/>
            </p:cNvPicPr>
            <p:nvPr/>
          </p:nvPicPr>
          <p:blipFill>
            <a:blip r:embed="rId7" cstate="print"/>
            <a:srcRect/>
            <a:stretch>
              <a:fillRect/>
            </a:stretch>
          </p:blipFill>
          <p:spPr bwMode="auto">
            <a:xfrm>
              <a:off x="5715000" y="2590800"/>
              <a:ext cx="2395538" cy="1169988"/>
            </a:xfrm>
            <a:prstGeom prst="rect">
              <a:avLst/>
            </a:prstGeom>
            <a:noFill/>
          </p:spPr>
        </p:pic>
        <p:pic>
          <p:nvPicPr>
            <p:cNvPr id="20" name="Picture 16" descr="pivot-chart"/>
            <p:cNvPicPr>
              <a:picLocks noChangeAspect="1" noChangeArrowheads="1"/>
            </p:cNvPicPr>
            <p:nvPr/>
          </p:nvPicPr>
          <p:blipFill>
            <a:blip r:embed="rId8" cstate="print"/>
            <a:srcRect/>
            <a:stretch>
              <a:fillRect/>
            </a:stretch>
          </p:blipFill>
          <p:spPr bwMode="auto">
            <a:xfrm>
              <a:off x="6096000" y="3352800"/>
              <a:ext cx="2395538" cy="1169988"/>
            </a:xfrm>
            <a:prstGeom prst="rect">
              <a:avLst/>
            </a:prstGeom>
            <a:noFill/>
          </p:spPr>
        </p:pic>
        <p:sp>
          <p:nvSpPr>
            <p:cNvPr id="21" name="Line 17"/>
            <p:cNvSpPr>
              <a:spLocks noChangeShapeType="1"/>
            </p:cNvSpPr>
            <p:nvPr/>
          </p:nvSpPr>
          <p:spPr bwMode="auto">
            <a:xfrm flipV="1">
              <a:off x="5181600" y="3810000"/>
              <a:ext cx="838200" cy="5334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Line 18"/>
            <p:cNvSpPr>
              <a:spLocks noChangeShapeType="1"/>
            </p:cNvSpPr>
            <p:nvPr/>
          </p:nvSpPr>
          <p:spPr bwMode="auto">
            <a:xfrm>
              <a:off x="6477000" y="4572000"/>
              <a:ext cx="533400" cy="60960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stealth" w="lg" len="lg"/>
            </a:ln>
            <a:effectLst/>
          </p:spPr>
          <p:txBody>
            <a:bodyPr/>
            <a:lstStyle/>
            <a:p>
              <a:endParaRPr lang="en-US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Text Box 19"/>
            <p:cNvSpPr txBox="1">
              <a:spLocks noChangeArrowheads="1"/>
            </p:cNvSpPr>
            <p:nvPr/>
          </p:nvSpPr>
          <p:spPr bwMode="auto">
            <a:xfrm>
              <a:off x="4022726" y="5522913"/>
              <a:ext cx="1362291" cy="43638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>
                  <a:latin typeface="Arial" pitchFamily="34" charset="0"/>
                  <a:cs typeface="Arial" pitchFamily="34" charset="0"/>
                </a:rPr>
                <a:t>Data Cube</a:t>
              </a:r>
            </a:p>
          </p:txBody>
        </p:sp>
        <p:sp>
          <p:nvSpPr>
            <p:cNvPr id="24" name="Text Box 20"/>
            <p:cNvSpPr txBox="1">
              <a:spLocks noChangeArrowheads="1"/>
            </p:cNvSpPr>
            <p:nvPr/>
          </p:nvSpPr>
          <p:spPr bwMode="auto">
            <a:xfrm>
              <a:off x="5292064" y="1682264"/>
              <a:ext cx="4098744" cy="763676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  <a:effectLst/>
          </p:spPr>
          <p:txBody>
            <a:bodyPr wrap="none">
              <a:spAutoFit/>
            </a:bodyPr>
            <a:lstStyle/>
            <a:p>
              <a:pPr algn="l"/>
              <a:r>
                <a:rPr lang="en-US" dirty="0" smtClean="0">
                  <a:latin typeface="Arial" pitchFamily="34" charset="0"/>
                  <a:cs typeface="Arial" pitchFamily="34" charset="0"/>
                </a:rPr>
                <a:t>Reports, Web Services, Excel </a:t>
              </a:r>
              <a:r>
                <a:rPr lang="en-US" dirty="0">
                  <a:latin typeface="Arial" pitchFamily="34" charset="0"/>
                  <a:cs typeface="Arial" pitchFamily="34" charset="0"/>
                </a:rPr>
                <a:t>Pivot </a:t>
              </a:r>
            </a:p>
            <a:p>
              <a:pPr algn="l"/>
              <a:r>
                <a:rPr lang="en-US" dirty="0">
                  <a:latin typeface="Arial" pitchFamily="34" charset="0"/>
                  <a:cs typeface="Arial" pitchFamily="34" charset="0"/>
                </a:rPr>
                <a:t>Table and </a:t>
              </a:r>
              <a:r>
                <a:rPr lang="en-US" dirty="0" smtClean="0">
                  <a:latin typeface="Arial" pitchFamily="34" charset="0"/>
                  <a:cs typeface="Arial" pitchFamily="34" charset="0"/>
                </a:rPr>
                <a:t>Pivot Chart</a:t>
              </a:r>
              <a:endParaRPr lang="en-US" dirty="0">
                <a:latin typeface="Arial" pitchFamily="34" charset="0"/>
                <a:cs typeface="Arial" pitchFamily="34" charset="0"/>
              </a:endParaRPr>
            </a:p>
          </p:txBody>
        </p:sp>
        <p:pic>
          <p:nvPicPr>
            <p:cNvPr id="25" name="Picture 21" descr="data-avail-report"/>
            <p:cNvPicPr>
              <a:picLocks noChangeAspect="1" noChangeArrowheads="1"/>
            </p:cNvPicPr>
            <p:nvPr/>
          </p:nvPicPr>
          <p:blipFill>
            <a:blip r:embed="rId9" cstate="print"/>
            <a:srcRect/>
            <a:stretch>
              <a:fillRect/>
            </a:stretch>
          </p:blipFill>
          <p:spPr bwMode="auto">
            <a:xfrm>
              <a:off x="7010400" y="2362200"/>
              <a:ext cx="1909763" cy="140017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</p:pic>
      </p:grpSp>
      <p:cxnSp>
        <p:nvCxnSpPr>
          <p:cNvPr id="37" name="Straight Arrow Connector 36"/>
          <p:cNvCxnSpPr>
            <a:stCxn id="13" idx="1"/>
            <a:endCxn id="10" idx="3"/>
          </p:cNvCxnSpPr>
          <p:nvPr/>
        </p:nvCxnSpPr>
        <p:spPr>
          <a:xfrm rot="10800000">
            <a:off x="4406207" y="3225662"/>
            <a:ext cx="2403614" cy="2323029"/>
          </a:xfrm>
          <a:prstGeom prst="straightConnector1">
            <a:avLst/>
          </a:prstGeom>
          <a:ln w="63500">
            <a:solidFill>
              <a:schemeClr val="accent1">
                <a:shade val="50000"/>
                <a:satMod val="103000"/>
                <a:alpha val="34000"/>
              </a:schemeClr>
            </a:solidFill>
            <a:tailEnd type="stealth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9" name="Rectangle 3"/>
          <p:cNvSpPr>
            <a:spLocks noGrp="1" noChangeArrowheads="1"/>
          </p:cNvSpPr>
          <p:nvPr>
            <p:ph type="title"/>
          </p:nvPr>
        </p:nvSpPr>
        <p:spPr>
          <a:xfrm>
            <a:off x="457200" y="381000"/>
            <a:ext cx="8305800" cy="1143000"/>
          </a:xfrm>
        </p:spPr>
        <p:txBody>
          <a:bodyPr/>
          <a:lstStyle/>
          <a:p>
            <a:r>
              <a:rPr lang="en-US" sz="2800" dirty="0"/>
              <a:t>Browsing For Data Availability</a:t>
            </a:r>
            <a:br>
              <a:rPr lang="en-US" sz="2800" dirty="0"/>
            </a:br>
            <a:r>
              <a:rPr lang="en-US" sz="1800" dirty="0"/>
              <a:t>Sites Reporting Data Colored by Year</a:t>
            </a:r>
          </a:p>
        </p:txBody>
      </p:sp>
      <p:graphicFrame>
        <p:nvGraphicFramePr>
          <p:cNvPr id="45058" name="Object 2"/>
          <p:cNvGraphicFramePr>
            <a:graphicFrameLocks noChangeAspect="1"/>
          </p:cNvGraphicFramePr>
          <p:nvPr>
            <p:ph idx="4294967295"/>
          </p:nvPr>
        </p:nvGraphicFramePr>
        <p:xfrm>
          <a:off x="228600" y="1317625"/>
          <a:ext cx="8491538" cy="5235575"/>
        </p:xfrm>
        <a:graphic>
          <a:graphicData uri="http://schemas.openxmlformats.org/presentationml/2006/ole">
            <p:oleObj spid="_x0000_s66562" name="Chart" r:id="rId3" imgW="11382375" imgH="7019925" progId="Excel.Sheet.8">
              <p:embed/>
            </p:oleObj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52400" y="704088"/>
            <a:ext cx="8991600" cy="972312"/>
          </a:xfrm>
        </p:spPr>
        <p:txBody>
          <a:bodyPr>
            <a:noAutofit/>
          </a:bodyPr>
          <a:lstStyle/>
          <a:p>
            <a:r>
              <a:rPr lang="en-US" sz="4000" dirty="0" smtClean="0"/>
              <a:t>Required variable reporting by site by year</a:t>
            </a:r>
            <a:endParaRPr lang="en-US" sz="4000" dirty="0"/>
          </a:p>
        </p:txBody>
      </p:sp>
      <p:sp>
        <p:nvSpPr>
          <p:cNvPr id="9" name="Content Placeholder 8"/>
          <p:cNvSpPr>
            <a:spLocks noGrp="1"/>
          </p:cNvSpPr>
          <p:nvPr>
            <p:ph sz="half" idx="2"/>
          </p:nvPr>
        </p:nvSpPr>
        <p:spPr>
          <a:xfrm>
            <a:off x="228600" y="1828800"/>
            <a:ext cx="4038600" cy="4434840"/>
          </a:xfrm>
        </p:spPr>
        <p:txBody>
          <a:bodyPr>
            <a:normAutofit fontScale="70000" lnSpcReduction="20000"/>
          </a:bodyPr>
          <a:lstStyle/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Each row corresponds to one site-year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Each cell corresponds to one site year of (FC, CO2 or SCO2, UST, PAR or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Rg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, TA, and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Rh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or H2O). 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Color indicates: 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Red – likely not enough for processing - % &lt; .3 reported (roughly less than 5K of 17.5K)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Green – likely not enough for processing .3&lt;%&lt;.999 </a:t>
            </a:r>
          </a:p>
          <a:p>
            <a:pPr lvl="1"/>
            <a:r>
              <a:rPr lang="en-US" dirty="0" smtClean="0">
                <a:latin typeface="Arial" pitchFamily="34" charset="0"/>
                <a:cs typeface="Arial" pitchFamily="34" charset="0"/>
              </a:rPr>
              <a:t>Yellow – may not be good for processing due to gap-filling - % &gt; .999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Red CO2 (second column) can be ignored for cropland/grassland sites</a:t>
            </a:r>
          </a:p>
          <a:p>
            <a:r>
              <a:rPr lang="en-US" dirty="0" smtClean="0">
                <a:latin typeface="Arial" pitchFamily="34" charset="0"/>
                <a:cs typeface="Arial" pitchFamily="34" charset="0"/>
              </a:rPr>
              <a:t>Sites shown are just a sample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149" name="Picture 5"/>
          <p:cNvPicPr>
            <a:picLocks noGrp="1" noChangeAspect="1" noChangeArrowheads="1"/>
          </p:cNvPicPr>
          <p:nvPr>
            <p:ph sz="half"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876800" y="1676400"/>
            <a:ext cx="4038600" cy="441558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13" name="TextBox 12"/>
          <p:cNvSpPr txBox="1"/>
          <p:nvPr/>
        </p:nvSpPr>
        <p:spPr>
          <a:xfrm>
            <a:off x="304800" y="6096000"/>
            <a:ext cx="85344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Of the 285 site years with good FC, 50 site years are missing one of (UST, PAR/</a:t>
            </a:r>
            <a:r>
              <a:rPr lang="en-US" sz="2000" b="1" dirty="0" err="1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Rg</a:t>
            </a:r>
            <a:r>
              <a:rPr lang="en-US" sz="2000" b="1" dirty="0" smtClean="0">
                <a:solidFill>
                  <a:schemeClr val="tx2"/>
                </a:solidFill>
                <a:latin typeface="Arial" pitchFamily="34" charset="0"/>
                <a:cs typeface="Arial" pitchFamily="34" charset="0"/>
              </a:rPr>
              <a:t>, and TA) and 79 sites have likely gap-filled data. 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000" dirty="0" smtClean="0"/>
              <a:t>Obviously bad annual averages</a:t>
            </a:r>
            <a:endParaRPr lang="en-US" sz="4000" dirty="0"/>
          </a:p>
        </p:txBody>
      </p:sp>
      <p:pic>
        <p:nvPicPr>
          <p:cNvPr id="1026" name="Picture 2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838200" y="1905000"/>
            <a:ext cx="7050635" cy="37914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5" name="TextBox 4"/>
          <p:cNvSpPr txBox="1"/>
          <p:nvPr/>
        </p:nvSpPr>
        <p:spPr>
          <a:xfrm flipH="1">
            <a:off x="304800" y="5867400"/>
            <a:ext cx="84582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Data cube used to browse average yearly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Rg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values across all site-years</a:t>
            </a:r>
          </a:p>
          <a:p>
            <a:r>
              <a:rPr lang="en-US" sz="2000" b="1" dirty="0" smtClean="0">
                <a:latin typeface="Arial" pitchFamily="34" charset="0"/>
                <a:cs typeface="Arial" pitchFamily="34" charset="0"/>
              </a:rPr>
              <a:t>16 additional likely problematic site-years at 5 sites </a:t>
            </a:r>
            <a:endParaRPr lang="en-US" sz="2000" b="1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686800" cy="1143000"/>
          </a:xfrm>
        </p:spPr>
        <p:txBody>
          <a:bodyPr>
            <a:normAutofit/>
          </a:bodyPr>
          <a:lstStyle/>
          <a:p>
            <a:r>
              <a:rPr lang="en-US" sz="4000" dirty="0" smtClean="0"/>
              <a:t>Drill down to consistent (bad) daily values</a:t>
            </a:r>
            <a:endParaRPr lang="en-US" sz="4000" dirty="0"/>
          </a:p>
        </p:txBody>
      </p:sp>
      <p:pic>
        <p:nvPicPr>
          <p:cNvPr id="2051" name="Picture 3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457200" y="2209800"/>
            <a:ext cx="8229600" cy="367354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6" name="TextBox 5"/>
          <p:cNvSpPr txBox="1"/>
          <p:nvPr/>
        </p:nvSpPr>
        <p:spPr>
          <a:xfrm flipH="1">
            <a:off x="304801" y="6019800"/>
            <a:ext cx="861059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Data cube used to browse 2005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Rg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values shows consistently high reporting (not just a few very large spikes) at Duke Forest sites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Drill down to Mead sites</a:t>
            </a:r>
            <a:endParaRPr lang="en-US" dirty="0"/>
          </a:p>
        </p:txBody>
      </p:sp>
      <p:sp>
        <p:nvSpPr>
          <p:cNvPr id="7" name="TextBox 6"/>
          <p:cNvSpPr txBox="1"/>
          <p:nvPr/>
        </p:nvSpPr>
        <p:spPr>
          <a:xfrm>
            <a:off x="685800" y="5715000"/>
            <a:ext cx="76962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 smtClean="0">
                <a:latin typeface="Arial" pitchFamily="34" charset="0"/>
                <a:cs typeface="Arial" pitchFamily="34" charset="0"/>
              </a:rPr>
              <a:t>Daily average FC at each site shows likely units and/or sign issues 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9221" name="Picture 5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685800" y="1828800"/>
            <a:ext cx="7615237" cy="37861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838200"/>
            <a:ext cx="8229600" cy="1143000"/>
          </a:xfrm>
        </p:spPr>
        <p:txBody>
          <a:bodyPr>
            <a:noAutofit/>
          </a:bodyPr>
          <a:lstStyle/>
          <a:p>
            <a:r>
              <a:rPr lang="en-US" sz="3600" dirty="0" smtClean="0"/>
              <a:t>Simple check: the same FC value reported too often</a:t>
            </a:r>
            <a:endParaRPr lang="en-US" sz="36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457200" y="5410200"/>
            <a:ext cx="8229600" cy="1295400"/>
          </a:xfrm>
          <a:prstGeom prst="rect">
            <a:avLst/>
          </a:prstGeom>
        </p:spPr>
        <p:txBody>
          <a:bodyPr vert="horz">
            <a:normAutofit fontScale="77500" lnSpcReduction="20000"/>
          </a:bodyPr>
          <a:lstStyle/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lang="en-US" sz="2600" dirty="0" smtClean="0">
                <a:latin typeface="Arial" pitchFamily="34" charset="0"/>
                <a:cs typeface="Arial" pitchFamily="34" charset="0"/>
              </a:rPr>
              <a:t>Database query returns </a:t>
            </a: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count by (site, year, value) where count &gt;= 500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Graph shows sum of (returned counts) by site and year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Arial" pitchFamily="34" charset="0"/>
              <a:cs typeface="Arial" pitchFamily="34" charset="0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tabLst/>
              <a:defRPr/>
            </a:pPr>
            <a:r>
              <a:rPr kumimoji="0" lang="en-US" sz="2600" b="0" i="0" u="none" strike="noStrike" kern="1200" cap="none" spc="0" normalizeH="0" baseline="0" noProof="0" dirty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Arial" pitchFamily="34" charset="0"/>
                <a:cs typeface="Arial" pitchFamily="34" charset="0"/>
              </a:rPr>
              <a:t>Sites with high sums likely report very few unique FC values</a:t>
            </a: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  <a:p>
            <a:pPr marL="274320" marR="0" lvl="0" indent="-27432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chemeClr val="accent3"/>
              </a:buClr>
              <a:buSzPct val="95000"/>
              <a:buFont typeface="Wingdings 2"/>
              <a:buChar char=""/>
              <a:tabLst/>
              <a:defRPr/>
            </a:pPr>
            <a:endParaRPr kumimoji="0" lang="en-US" sz="2600" b="0" i="0" u="none" strike="noStrike" kern="1200" cap="none" spc="0" normalizeH="0" baseline="0" noProof="0" dirty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pic>
        <p:nvPicPr>
          <p:cNvPr id="13314" name="Picture 2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219200" y="1981200"/>
            <a:ext cx="6718300" cy="3462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0600" y="304800"/>
            <a:ext cx="7772400" cy="1362456"/>
          </a:xfrm>
        </p:spPr>
        <p:txBody>
          <a:bodyPr/>
          <a:lstStyle/>
          <a:p>
            <a:r>
              <a:rPr lang="en-US" dirty="0" smtClean="0">
                <a:solidFill>
                  <a:schemeClr val="accent3"/>
                </a:solidFill>
              </a:rPr>
              <a:t>Project Status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0352" y="1752600"/>
            <a:ext cx="7772400" cy="4876800"/>
          </a:xfrm>
        </p:spPr>
        <p:txBody>
          <a:bodyPr>
            <a:normAutofit lnSpcReduction="10000"/>
          </a:bodyPr>
          <a:lstStyle/>
          <a:p>
            <a:r>
              <a:rPr lang="en-US" u="sng" dirty="0" err="1" smtClean="0">
                <a:latin typeface="Arial" pitchFamily="34" charset="0"/>
                <a:cs typeface="Arial" pitchFamily="34" charset="0"/>
              </a:rPr>
              <a:t>Ameriflux</a:t>
            </a:r>
            <a:r>
              <a:rPr lang="en-US" u="sng" dirty="0" smtClean="0">
                <a:latin typeface="Arial" pitchFamily="34" charset="0"/>
                <a:cs typeface="Arial" pitchFamily="34" charset="0"/>
              </a:rPr>
              <a:t> data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~145 million daily values in cube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Advanced calculations and statistics in cube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Methods of providing ½ hourly data access efficiently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Data quality assessment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Collection and incorporation of biological data</a:t>
            </a:r>
          </a:p>
          <a:p>
            <a:r>
              <a:rPr lang="en-US" u="sng" dirty="0" err="1" smtClean="0">
                <a:latin typeface="Arial" pitchFamily="34" charset="0"/>
                <a:cs typeface="Arial" pitchFamily="34" charset="0"/>
              </a:rPr>
              <a:t>Fluxnet</a:t>
            </a:r>
            <a:r>
              <a:rPr lang="en-US" u="sng" dirty="0" smtClean="0">
                <a:latin typeface="Arial" pitchFamily="34" charset="0"/>
                <a:cs typeface="Arial" pitchFamily="34" charset="0"/>
              </a:rPr>
              <a:t> data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~210 million daily values in cube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Waiting on gap filling and quality checking operations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Data server, cubes, and reports will likely be the primary repository and access  for researchers using the data</a:t>
            </a:r>
          </a:p>
          <a:p>
            <a:r>
              <a:rPr lang="en-US" u="sng" dirty="0" smtClean="0">
                <a:latin typeface="Arial" pitchFamily="34" charset="0"/>
                <a:cs typeface="Arial" pitchFamily="34" charset="0"/>
              </a:rPr>
              <a:t>Russian River Data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~23 million values in cube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Integration with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Matlab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and GIS </a:t>
            </a:r>
          </a:p>
          <a:p>
            <a:pPr lvl="1"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Additional of data from other sources (fish, </a:t>
            </a:r>
            <a:r>
              <a:rPr lang="en-US" smtClean="0">
                <a:latin typeface="Arial" pitchFamily="34" charset="0"/>
                <a:cs typeface="Arial" pitchFamily="34" charset="0"/>
              </a:rPr>
              <a:t>sediment size, …)</a:t>
            </a:r>
            <a:endParaRPr lang="en-US" dirty="0" smtClean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999744"/>
            <a:ext cx="7772400" cy="1362456"/>
          </a:xfrm>
        </p:spPr>
        <p:txBody>
          <a:bodyPr/>
          <a:lstStyle/>
          <a:p>
            <a:r>
              <a:rPr lang="en-US" dirty="0" smtClean="0">
                <a:solidFill>
                  <a:schemeClr val="accent3"/>
                </a:solidFill>
              </a:rPr>
              <a:t>On-going and Future Challenges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type="body" idx="1"/>
          </p:nvPr>
        </p:nvSpPr>
        <p:spPr>
          <a:xfrm>
            <a:off x="530352" y="2704664"/>
            <a:ext cx="7772400" cy="3924736"/>
          </a:xfrm>
        </p:spPr>
        <p:txBody>
          <a:bodyPr>
            <a:normAutofit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Versioning of data and collection of data provenance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Improved performance of database and cube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Handling of biological data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Advanced plotting capabilities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Integration of collaborative tools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Automation of data ingest, cube building, and report building</a:t>
            </a:r>
          </a:p>
          <a:p>
            <a:pPr>
              <a:buFont typeface="Arial" pitchFamily="34" charset="0"/>
              <a:buChar char="•"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MyDB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and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MyCube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capabilities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Integration of workflow capabilities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Data server in a box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Sociological change</a:t>
            </a:r>
            <a:endParaRPr lang="en-US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530352" y="457200"/>
            <a:ext cx="7772400" cy="1362456"/>
          </a:xfrm>
        </p:spPr>
        <p:txBody>
          <a:bodyPr/>
          <a:lstStyle/>
          <a:p>
            <a:r>
              <a:rPr smtClean="0">
                <a:solidFill>
                  <a:schemeClr val="accent3"/>
                </a:solidFill>
              </a:rPr>
              <a:t>Summary</a:t>
            </a:r>
            <a:endParaRPr lang="en-US" dirty="0">
              <a:solidFill>
                <a:schemeClr val="accent3"/>
              </a:solidFill>
            </a:endParaRPr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>
          <a:xfrm>
            <a:off x="530352" y="2133600"/>
            <a:ext cx="8156448" cy="4267200"/>
          </a:xfrm>
        </p:spPr>
        <p:txBody>
          <a:bodyPr/>
          <a:lstStyle/>
          <a:p>
            <a:pPr>
              <a:buFont typeface="Arial" pitchFamily="34" charset="0"/>
              <a:buChar char="•"/>
            </a:pPr>
            <a:r>
              <a:rPr lang="en-US" dirty="0" err="1" smtClean="0">
                <a:latin typeface="Arial" pitchFamily="34" charset="0"/>
                <a:cs typeface="Arial" pitchFamily="34" charset="0"/>
              </a:rPr>
              <a:t>Ameriflux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collaboration is adopting the Data Server architecture for the data repository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BWC Data Server will be hosting the </a:t>
            </a:r>
            <a:r>
              <a:rPr lang="en-US" dirty="0" err="1" smtClean="0">
                <a:latin typeface="Arial" pitchFamily="34" charset="0"/>
                <a:cs typeface="Arial" pitchFamily="34" charset="0"/>
              </a:rPr>
              <a:t>Fluxnet</a:t>
            </a:r>
            <a:r>
              <a:rPr lang="en-US" dirty="0" smtClean="0">
                <a:latin typeface="Arial" pitchFamily="34" charset="0"/>
                <a:cs typeface="Arial" pitchFamily="34" charset="0"/>
              </a:rPr>
              <a:t> dataset which is expected to be the foundation for a broad range of research investigations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Ecological measurements are often “messy”</a:t>
            </a:r>
          </a:p>
          <a:p>
            <a:pPr>
              <a:buFont typeface="Arial" pitchFamily="34" charset="0"/>
              <a:buChar char="•"/>
            </a:pPr>
            <a:r>
              <a:rPr lang="en-US" dirty="0" smtClean="0">
                <a:latin typeface="Arial" pitchFamily="34" charset="0"/>
                <a:cs typeface="Arial" pitchFamily="34" charset="0"/>
              </a:rPr>
              <a:t>Applying the Data Server to watersheds introduces many additional challenges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2"/>
          <p:cNvSpPr>
            <a:spLocks noGrp="1" noChangeArrowheads="1"/>
          </p:cNvSpPr>
          <p:nvPr>
            <p:ph type="title"/>
          </p:nvPr>
        </p:nvSpPr>
        <p:spPr>
          <a:xfrm>
            <a:off x="838200" y="76200"/>
            <a:ext cx="7772400" cy="1362456"/>
          </a:xfrm>
        </p:spPr>
        <p:txBody>
          <a:bodyPr/>
          <a:lstStyle/>
          <a:p>
            <a:r>
              <a:rPr lang="en-US" dirty="0">
                <a:solidFill>
                  <a:schemeClr val="accent3"/>
                </a:solidFill>
              </a:rPr>
              <a:t>Acknowledgements</a:t>
            </a:r>
          </a:p>
        </p:txBody>
      </p:sp>
      <p:sp>
        <p:nvSpPr>
          <p:cNvPr id="13005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530352" y="1447800"/>
            <a:ext cx="4117848" cy="5410200"/>
          </a:xfrm>
        </p:spPr>
        <p:txBody>
          <a:bodyPr>
            <a:normAutofit lnSpcReduction="10000"/>
          </a:bodyPr>
          <a:lstStyle/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Berkeley Water Center, University of California, Berkeley, Lawrence Berkeley Laboratory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Jim Hunt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800" dirty="0" smtClean="0">
                <a:solidFill>
                  <a:schemeClr val="tx2">
                    <a:lumMod val="90000"/>
                  </a:schemeClr>
                </a:solidFill>
                <a:latin typeface="Arial" pitchFamily="34" charset="0"/>
                <a:cs typeface="Arial" pitchFamily="34" charset="0"/>
              </a:rPr>
              <a:t>Matt Rodriguez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dirty="0" smtClean="0">
                <a:solidFill>
                  <a:schemeClr val="tx2">
                    <a:lumMod val="90000"/>
                  </a:schemeClr>
                </a:solidFill>
                <a:latin typeface="Arial" pitchFamily="34" charset="0"/>
                <a:cs typeface="Arial" pitchFamily="34" charset="0"/>
              </a:rPr>
              <a:t>Monte Good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Rebecca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Leonardson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(student)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Carolyn </a:t>
            </a: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Remick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Susan Hubbard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dirty="0" err="1" smtClean="0">
                <a:latin typeface="Arial" pitchFamily="34" charset="0"/>
                <a:cs typeface="Arial" pitchFamily="34" charset="0"/>
              </a:rPr>
              <a:t>Yoram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Rubin</a:t>
            </a:r>
          </a:p>
          <a:p>
            <a:pPr>
              <a:lnSpc>
                <a:spcPct val="80000"/>
              </a:lnSpc>
              <a:buFontTx/>
              <a:buNone/>
            </a:pP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>
              <a:lnSpc>
                <a:spcPct val="80000"/>
              </a:lnSpc>
              <a:buFontTx/>
              <a:buNone/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Microsoft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dirty="0" smtClean="0">
                <a:solidFill>
                  <a:schemeClr val="tx2">
                    <a:lumMod val="90000"/>
                  </a:schemeClr>
                </a:solidFill>
                <a:latin typeface="Arial" pitchFamily="34" charset="0"/>
                <a:cs typeface="Arial" pitchFamily="34" charset="0"/>
              </a:rPr>
              <a:t>Catharine van </a:t>
            </a:r>
            <a:r>
              <a:rPr lang="en-US" sz="1800" dirty="0" err="1" smtClean="0">
                <a:solidFill>
                  <a:schemeClr val="tx2">
                    <a:lumMod val="90000"/>
                  </a:schemeClr>
                </a:solidFill>
                <a:latin typeface="Arial" pitchFamily="34" charset="0"/>
                <a:cs typeface="Arial" pitchFamily="34" charset="0"/>
              </a:rPr>
              <a:t>Ingen</a:t>
            </a:r>
            <a:endParaRPr lang="en-US" sz="1800" dirty="0" smtClean="0">
              <a:solidFill>
                <a:schemeClr val="tx2">
                  <a:lumMod val="90000"/>
                </a:schemeClr>
              </a:solidFill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Jayant</a:t>
            </a:r>
            <a:r>
              <a:rPr lang="en-US" sz="1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</a:t>
            </a:r>
            <a:r>
              <a:rPr lang="en-US" sz="1800" dirty="0" err="1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Gupchup</a:t>
            </a:r>
            <a:r>
              <a:rPr lang="en-US" sz="1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 (student</a:t>
            </a:r>
            <a:r>
              <a:rPr lang="en-US" sz="1800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)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dirty="0" smtClean="0">
                <a:solidFill>
                  <a:schemeClr val="tx1"/>
                </a:solidFill>
                <a:latin typeface="Arial" pitchFamily="34" charset="0"/>
                <a:cs typeface="Arial" pitchFamily="34" charset="0"/>
              </a:rPr>
              <a:t>Nolan Li (student)</a:t>
            </a:r>
            <a:endParaRPr lang="en-US" sz="1800" dirty="0" smtClean="0">
              <a:solidFill>
                <a:schemeClr val="tx1"/>
              </a:solidFill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Tony </a:t>
            </a:r>
            <a:r>
              <a:rPr lang="en-US" sz="1800" dirty="0">
                <a:latin typeface="Arial" pitchFamily="34" charset="0"/>
                <a:cs typeface="Arial" pitchFamily="34" charset="0"/>
              </a:rPr>
              <a:t>Hey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Dan Fay</a:t>
            </a: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Stuart </a:t>
            </a:r>
            <a:r>
              <a:rPr lang="en-US" sz="1800" dirty="0" err="1">
                <a:latin typeface="Arial" pitchFamily="34" charset="0"/>
                <a:cs typeface="Arial" pitchFamily="34" charset="0"/>
              </a:rPr>
              <a:t>Ozer</a:t>
            </a:r>
            <a:endParaRPr lang="en-US" sz="1800" dirty="0">
              <a:latin typeface="Arial" pitchFamily="34" charset="0"/>
              <a:cs typeface="Arial" pitchFamily="34" charset="0"/>
            </a:endParaRPr>
          </a:p>
          <a:p>
            <a:pPr lvl="1">
              <a:lnSpc>
                <a:spcPct val="80000"/>
              </a:lnSpc>
              <a:buFontTx/>
              <a:buNone/>
            </a:pPr>
            <a:r>
              <a:rPr lang="en-US" sz="1800" dirty="0">
                <a:latin typeface="Arial" pitchFamily="34" charset="0"/>
                <a:cs typeface="Arial" pitchFamily="34" charset="0"/>
              </a:rPr>
              <a:t>SQL product </a:t>
            </a:r>
            <a:r>
              <a:rPr lang="en-US" sz="1800" dirty="0" smtClean="0">
                <a:latin typeface="Arial" pitchFamily="34" charset="0"/>
                <a:cs typeface="Arial" pitchFamily="34" charset="0"/>
              </a:rPr>
              <a:t>team</a:t>
            </a:r>
          </a:p>
          <a:p>
            <a:pPr lvl="1">
              <a:lnSpc>
                <a:spcPct val="80000"/>
              </a:lnSpc>
              <a:buNone/>
            </a:pPr>
            <a:r>
              <a:rPr lang="en-US" sz="1800" dirty="0" smtClean="0">
                <a:latin typeface="Arial" pitchFamily="34" charset="0"/>
                <a:cs typeface="Arial" pitchFamily="34" charset="0"/>
              </a:rPr>
              <a:t>Jim Gray</a:t>
            </a:r>
          </a:p>
        </p:txBody>
      </p:sp>
      <p:sp>
        <p:nvSpPr>
          <p:cNvPr id="130052" name="Rectangle 4"/>
          <p:cNvSpPr>
            <a:spLocks noChangeArrowheads="1"/>
          </p:cNvSpPr>
          <p:nvPr/>
        </p:nvSpPr>
        <p:spPr bwMode="auto">
          <a:xfrm>
            <a:off x="5029200" y="1447800"/>
            <a:ext cx="3810000" cy="5181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000" dirty="0" err="1">
                <a:latin typeface="Arial" pitchFamily="34" charset="0"/>
                <a:cs typeface="Arial" pitchFamily="34" charset="0"/>
              </a:rPr>
              <a:t>Ameriflux</a:t>
            </a:r>
            <a:r>
              <a:rPr lang="en-US" sz="2000" dirty="0">
                <a:latin typeface="Arial" pitchFamily="34" charset="0"/>
                <a:cs typeface="Arial" pitchFamily="34" charset="0"/>
              </a:rPr>
              <a:t> Collaboration</a:t>
            </a: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Dennis </a:t>
            </a:r>
            <a:r>
              <a:rPr lang="en-US" sz="2000" dirty="0" err="1">
                <a:latin typeface="Arial" pitchFamily="34" charset="0"/>
                <a:cs typeface="Arial" pitchFamily="34" charset="0"/>
              </a:rPr>
              <a:t>Baldocchi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Beverly Law</a:t>
            </a: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Tara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Stiefl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(student)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Youngryel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Ryu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(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postdoc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)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Gretchen Miller (student)</a:t>
            </a: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Mattias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Falk </a:t>
            </a:r>
            <a:endParaRPr lang="en-US" sz="2000" dirty="0">
              <a:latin typeface="Arial" pitchFamily="34" charset="0"/>
              <a:cs typeface="Arial" pitchFamily="34" charset="0"/>
            </a:endParaRP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000" dirty="0">
                <a:latin typeface="Arial" pitchFamily="34" charset="0"/>
                <a:cs typeface="Arial" pitchFamily="34" charset="0"/>
              </a:rPr>
              <a:t>Tom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Boden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Bob Cook</a:t>
            </a:r>
          </a:p>
          <a:p>
            <a:pPr marL="742950" lvl="1" indent="-285750" eaLnBrk="1" hangingPunct="1">
              <a:lnSpc>
                <a:spcPct val="80000"/>
              </a:lnSpc>
              <a:spcBef>
                <a:spcPct val="20000"/>
              </a:spcBef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342900" indent="-342900">
              <a:lnSpc>
                <a:spcPct val="80000"/>
              </a:lnSpc>
              <a:spcBef>
                <a:spcPct val="20000"/>
              </a:spcBef>
            </a:pP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CarboEurope</a:t>
            </a:r>
            <a:r>
              <a:rPr lang="en-US" sz="2000" dirty="0" smtClean="0">
                <a:latin typeface="Arial" pitchFamily="34" charset="0"/>
                <a:cs typeface="Arial" pitchFamily="34" charset="0"/>
              </a:rPr>
              <a:t> Collaboration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Dario </a:t>
            </a:r>
            <a:r>
              <a:rPr lang="en-US" sz="2000" dirty="0" err="1" smtClean="0">
                <a:latin typeface="Arial" pitchFamily="34" charset="0"/>
                <a:cs typeface="Arial" pitchFamily="34" charset="0"/>
              </a:rPr>
              <a:t>Papale</a:t>
            </a: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Markus Reichstein</a:t>
            </a: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742950" lvl="1" indent="-285750">
              <a:lnSpc>
                <a:spcPct val="80000"/>
              </a:lnSpc>
              <a:spcBef>
                <a:spcPct val="20000"/>
              </a:spcBef>
            </a:pPr>
            <a:endParaRPr lang="en-US" sz="2000" dirty="0" smtClean="0">
              <a:latin typeface="Arial" pitchFamily="34" charset="0"/>
              <a:cs typeface="Arial" pitchFamily="34" charset="0"/>
            </a:endParaRPr>
          </a:p>
          <a:p>
            <a:pPr marL="285750" indent="-285750">
              <a:lnSpc>
                <a:spcPct val="80000"/>
              </a:lnSpc>
              <a:spcBef>
                <a:spcPct val="20000"/>
              </a:spcBef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*Project funded by Microsoft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Flow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Flow">
      <a:majorFont>
        <a:latin typeface="Calibri"/>
        <a:ea typeface=""/>
        <a:cs typeface=""/>
        <a:font script="Jpan" typeface="ＭＳ Ｐゴシック"/>
        <a:font script="Hang" typeface="HY중고딕"/>
        <a:font script="Hans" typeface="隶书"/>
        <a:font script="Hant" typeface="微軟正黑體"/>
        <a:font script="Arab" typeface="Traditional Arabic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nstantia"/>
        <a:ea typeface=""/>
        <a:cs typeface=""/>
        <a:font script="Jpan" typeface="HGP明朝E"/>
        <a:font script="Hang" typeface="HY신명조"/>
        <a:font script="Hans" typeface="宋体"/>
        <a:font script="Hant" typeface="新細明體"/>
        <a:font script="Arab" typeface="Majalla UI"/>
        <a:font script="Hebr" typeface="David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Flow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satMod val="130000"/>
              </a:schemeClr>
            </a:gs>
            <a:gs pos="43000">
              <a:schemeClr val="phClr">
                <a:tint val="44000"/>
                <a:satMod val="165000"/>
              </a:schemeClr>
            </a:gs>
            <a:gs pos="93000">
              <a:schemeClr val="phClr">
                <a:tint val="15000"/>
                <a:satMod val="165000"/>
              </a:schemeClr>
            </a:gs>
            <a:gs pos="100000">
              <a:schemeClr val="phClr">
                <a:tint val="5000"/>
                <a:satMod val="250000"/>
              </a:schemeClr>
            </a:gs>
          </a:gsLst>
          <a:path path="circle">
            <a:fillToRect l="50000" t="130000" r="50000" b="-30000"/>
          </a:path>
        </a:gradFill>
        <a:gradFill rotWithShape="1">
          <a:gsLst>
            <a:gs pos="0">
              <a:schemeClr val="phClr">
                <a:tint val="98000"/>
                <a:shade val="25000"/>
                <a:satMod val="250000"/>
              </a:schemeClr>
            </a:gs>
            <a:gs pos="68000">
              <a:schemeClr val="phClr">
                <a:tint val="86000"/>
                <a:satMod val="115000"/>
              </a:schemeClr>
            </a:gs>
            <a:gs pos="100000">
              <a:schemeClr val="phClr">
                <a:tint val="50000"/>
                <a:satMod val="150000"/>
              </a:schemeClr>
            </a:gs>
          </a:gsLst>
          <a:path path="circle">
            <a:fillToRect l="50000" t="130000" r="50000" b="-30000"/>
          </a:path>
        </a:gradFill>
      </a:fillStyleLst>
      <a:lnStyleLst>
        <a:ln w="9525" cap="flat" cmpd="sng" algn="ctr">
          <a:solidFill>
            <a:schemeClr val="phClr">
              <a:shade val="50000"/>
              <a:satMod val="103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</a:effectStyle>
        <a:effectStyle>
          <a:effectLst>
            <a:outerShdw blurRad="57150" dist="38100" dir="5400000" algn="ctr" rotWithShape="0">
              <a:schemeClr val="phClr">
                <a:shade val="9000"/>
                <a:satMod val="105000"/>
                <a:alpha val="48000"/>
              </a:schemeClr>
            </a:outerShdw>
          </a:effectLst>
          <a:scene3d>
            <a:camera prst="orthographicFront" fov="0">
              <a:rot lat="0" lon="0" rev="0"/>
            </a:camera>
            <a:lightRig rig="glow" dir="tl">
              <a:rot lat="0" lon="0" rev="900000"/>
            </a:lightRig>
          </a:scene3d>
          <a:sp3d prstMaterial="powder">
            <a:bevelT w="25400" h="381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400000"/>
              </a:schemeClr>
            </a:gs>
            <a:gs pos="25000">
              <a:schemeClr val="phClr">
                <a:tint val="83000"/>
                <a:satMod val="320000"/>
              </a:schemeClr>
            </a:gs>
            <a:gs pos="100000">
              <a:schemeClr val="phClr">
                <a:shade val="15000"/>
                <a:satMod val="320000"/>
              </a:schemeClr>
            </a:gs>
          </a:gsLst>
          <a:path path="circle">
            <a:fillToRect l="10000" t="110000" r="10000" b="100000"/>
          </a:path>
        </a:gradFill>
        <a:blipFill>
          <a:blip xmlns:r="http://schemas.openxmlformats.org/officeDocument/2006/relationships" r:embed="rId1">
            <a:duotone>
              <a:schemeClr val="phClr">
                <a:shade val="90000"/>
                <a:satMod val="150000"/>
              </a:schemeClr>
              <a:schemeClr val="phClr">
                <a:tint val="88000"/>
                <a:satMod val="150000"/>
              </a:schemeClr>
            </a:duotone>
          </a:blip>
          <a:tile tx="0" ty="0" sx="65000" sy="65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8546</TotalTime>
  <Words>1088</Words>
  <Application>Microsoft Office PowerPoint</Application>
  <PresentationFormat>On-screen Show (4:3)</PresentationFormat>
  <Paragraphs>182</Paragraphs>
  <Slides>20</Slides>
  <Notes>5</Notes>
  <HiddenSlides>0</HiddenSlides>
  <MMClips>0</MMClips>
  <ScaleCrop>false</ScaleCrop>
  <HeadingPairs>
    <vt:vector size="6" baseType="variant">
      <vt:variant>
        <vt:lpstr>Theme</vt:lpstr>
      </vt:variant>
      <vt:variant>
        <vt:i4>1</vt:i4>
      </vt:variant>
      <vt:variant>
        <vt:lpstr>Embedded OLE Servers</vt:lpstr>
      </vt:variant>
      <vt:variant>
        <vt:i4>3</vt:i4>
      </vt:variant>
      <vt:variant>
        <vt:lpstr>Slide Titles</vt:lpstr>
      </vt:variant>
      <vt:variant>
        <vt:i4>20</vt:i4>
      </vt:variant>
    </vt:vector>
  </HeadingPairs>
  <TitlesOfParts>
    <vt:vector size="24" baseType="lpstr">
      <vt:lpstr>Flow</vt:lpstr>
      <vt:lpstr>Equation</vt:lpstr>
      <vt:lpstr>Visio</vt:lpstr>
      <vt:lpstr>Chart</vt:lpstr>
      <vt:lpstr>Enabling Carbon Flux Studies at the Regional and Ecosystem Scale</vt:lpstr>
      <vt:lpstr>Slide 2</vt:lpstr>
      <vt:lpstr>Carbon-Climate Analysis Goals</vt:lpstr>
      <vt:lpstr>Measurements Are Often Not Simple or Complete</vt:lpstr>
      <vt:lpstr>Typical Data Analysis Flow Today</vt:lpstr>
      <vt:lpstr>Target Data Analysis Flow </vt:lpstr>
      <vt:lpstr>Scientific Data Server - Overview</vt:lpstr>
      <vt:lpstr>Database</vt:lpstr>
      <vt:lpstr>Data Cubes</vt:lpstr>
      <vt:lpstr>Scientific Data Server – User Interface</vt:lpstr>
      <vt:lpstr>Browsing For Data Availability Sites Reporting Data Colored by Year</vt:lpstr>
      <vt:lpstr>Required variable reporting by site by year</vt:lpstr>
      <vt:lpstr>Obviously bad annual averages</vt:lpstr>
      <vt:lpstr>Drill down to consistent (bad) daily values</vt:lpstr>
      <vt:lpstr>Drill down to Mead sites</vt:lpstr>
      <vt:lpstr>Simple check: the same FC value reported too often</vt:lpstr>
      <vt:lpstr>Project Status</vt:lpstr>
      <vt:lpstr>On-going and Future Challenges</vt:lpstr>
      <vt:lpstr>Summary</vt:lpstr>
      <vt:lpstr>Acknowledgements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the database to rapidly assess Fluxnet data quality</dc:title>
  <dc:creator>Catharine van Ingen</dc:creator>
  <cp:lastModifiedBy>Deb</cp:lastModifiedBy>
  <cp:revision>329</cp:revision>
  <dcterms:created xsi:type="dcterms:W3CDTF">2007-06-24T23:12:11Z</dcterms:created>
  <dcterms:modified xsi:type="dcterms:W3CDTF">2007-10-12T23:27:11Z</dcterms:modified>
</cp:coreProperties>
</file>