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92"/>
  </p:notesMasterIdLst>
  <p:sldIdLst>
    <p:sldId id="256" r:id="rId2"/>
    <p:sldId id="369" r:id="rId3"/>
    <p:sldId id="303" r:id="rId4"/>
    <p:sldId id="368" r:id="rId5"/>
    <p:sldId id="286" r:id="rId6"/>
    <p:sldId id="343" r:id="rId7"/>
    <p:sldId id="287" r:id="rId8"/>
    <p:sldId id="288" r:id="rId9"/>
    <p:sldId id="289" r:id="rId10"/>
    <p:sldId id="290" r:id="rId11"/>
    <p:sldId id="291" r:id="rId12"/>
    <p:sldId id="302" r:id="rId13"/>
    <p:sldId id="337" r:id="rId14"/>
    <p:sldId id="279" r:id="rId15"/>
    <p:sldId id="336" r:id="rId16"/>
    <p:sldId id="338" r:id="rId17"/>
    <p:sldId id="363" r:id="rId18"/>
    <p:sldId id="282" r:id="rId19"/>
    <p:sldId id="283" r:id="rId20"/>
    <p:sldId id="284" r:id="rId21"/>
    <p:sldId id="285" r:id="rId22"/>
    <p:sldId id="362" r:id="rId23"/>
    <p:sldId id="342" r:id="rId24"/>
    <p:sldId id="341" r:id="rId25"/>
    <p:sldId id="340" r:id="rId26"/>
    <p:sldId id="308" r:id="rId27"/>
    <p:sldId id="305" r:id="rId28"/>
    <p:sldId id="306" r:id="rId29"/>
    <p:sldId id="307" r:id="rId30"/>
    <p:sldId id="310" r:id="rId31"/>
    <p:sldId id="311" r:id="rId32"/>
    <p:sldId id="312" r:id="rId33"/>
    <p:sldId id="313" r:id="rId34"/>
    <p:sldId id="314" r:id="rId35"/>
    <p:sldId id="316" r:id="rId36"/>
    <p:sldId id="317" r:id="rId37"/>
    <p:sldId id="320" r:id="rId38"/>
    <p:sldId id="321" r:id="rId39"/>
    <p:sldId id="318" r:id="rId40"/>
    <p:sldId id="323" r:id="rId41"/>
    <p:sldId id="326" r:id="rId42"/>
    <p:sldId id="324" r:id="rId43"/>
    <p:sldId id="325" r:id="rId44"/>
    <p:sldId id="327" r:id="rId45"/>
    <p:sldId id="328" r:id="rId46"/>
    <p:sldId id="344" r:id="rId47"/>
    <p:sldId id="330" r:id="rId48"/>
    <p:sldId id="319" r:id="rId49"/>
    <p:sldId id="293" r:id="rId50"/>
    <p:sldId id="294" r:id="rId51"/>
    <p:sldId id="331" r:id="rId52"/>
    <p:sldId id="345" r:id="rId53"/>
    <p:sldId id="347" r:id="rId54"/>
    <p:sldId id="333" r:id="rId55"/>
    <p:sldId id="366" r:id="rId56"/>
    <p:sldId id="346" r:id="rId57"/>
    <p:sldId id="348" r:id="rId58"/>
    <p:sldId id="258" r:id="rId59"/>
    <p:sldId id="257" r:id="rId60"/>
    <p:sldId id="259" r:id="rId61"/>
    <p:sldId id="260" r:id="rId62"/>
    <p:sldId id="263" r:id="rId63"/>
    <p:sldId id="261" r:id="rId64"/>
    <p:sldId id="262" r:id="rId65"/>
    <p:sldId id="264" r:id="rId66"/>
    <p:sldId id="271" r:id="rId67"/>
    <p:sldId id="273" r:id="rId68"/>
    <p:sldId id="272" r:id="rId69"/>
    <p:sldId id="265" r:id="rId70"/>
    <p:sldId id="267" r:id="rId71"/>
    <p:sldId id="266" r:id="rId72"/>
    <p:sldId id="268" r:id="rId73"/>
    <p:sldId id="269" r:id="rId74"/>
    <p:sldId id="295" r:id="rId75"/>
    <p:sldId id="296" r:id="rId76"/>
    <p:sldId id="297" r:id="rId77"/>
    <p:sldId id="349" r:id="rId78"/>
    <p:sldId id="367" r:id="rId79"/>
    <p:sldId id="298" r:id="rId80"/>
    <p:sldId id="322" r:id="rId81"/>
    <p:sldId id="360" r:id="rId82"/>
    <p:sldId id="354" r:id="rId83"/>
    <p:sldId id="355" r:id="rId84"/>
    <p:sldId id="359" r:id="rId85"/>
    <p:sldId id="358" r:id="rId86"/>
    <p:sldId id="361" r:id="rId87"/>
    <p:sldId id="350" r:id="rId88"/>
    <p:sldId id="352" r:id="rId89"/>
    <p:sldId id="365" r:id="rId90"/>
    <p:sldId id="274" r:id="rId9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5C2"/>
    <a:srgbClr val="CB13BE"/>
    <a:srgbClr val="D536C8"/>
    <a:srgbClr val="00B158"/>
    <a:srgbClr val="5BB6B7"/>
    <a:srgbClr val="A0D5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7" d="100"/>
          <a:sy n="77" d="100"/>
        </p:scale>
        <p:origin x="-960" y="18"/>
      </p:cViewPr>
      <p:guideLst>
        <p:guide orient="horz" pos="2160"/>
        <p:guide pos="28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theme" Target="theme/theme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891D5B-3442-0646-847C-26CBA6745B34}" type="datetimeFigureOut">
              <a:rPr lang="en-US" smtClean="0"/>
              <a:pPr/>
              <a:t>8/22/2011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DE96F4-7F16-8045-9CD7-18F1B353FF6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761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Not interested in philosophical debates about</a:t>
            </a:r>
            <a:r>
              <a:rPr lang="en-US" baseline="0" dirty="0" smtClean="0"/>
              <a:t> this – want to keep it practical.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DE96F4-7F16-8045-9CD7-18F1B353FF60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GB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smtClean="0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800600" y="6425640"/>
            <a:ext cx="1232647" cy="365125"/>
          </a:xfrm>
        </p:spPr>
        <p:txBody>
          <a:bodyPr/>
          <a:lstStyle>
            <a:lvl1pPr algn="l">
              <a:defRPr/>
            </a:lvl1pPr>
          </a:lstStyle>
          <a:p>
            <a:fld id="{FFB4253A-06D4-BE4F-A464-031908D4BFA1}" type="datetimeFigureOut">
              <a:rPr lang="en-US" smtClean="0"/>
              <a:pPr/>
              <a:t>8/22/2011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311153" y="6425640"/>
            <a:ext cx="2617694" cy="365125"/>
          </a:xfrm>
        </p:spPr>
        <p:txBody>
          <a:bodyPr/>
          <a:lstStyle>
            <a:lvl1pPr algn="r"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2575" y="228600"/>
            <a:ext cx="4235450" cy="4187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24388" y="237744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24388" y="228600"/>
            <a:ext cx="2057400" cy="203911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02438" y="2377440"/>
            <a:ext cx="2057400" cy="20391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4253A-06D4-BE4F-A464-031908D4BFA1}" type="datetimeFigureOut">
              <a:rPr lang="en-US" smtClean="0"/>
              <a:pPr/>
              <a:t>8/22/2011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114A1-C687-774F-A8EA-25E0AE8417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134471"/>
            <a:ext cx="7556313" cy="995082"/>
          </a:xfrm>
        </p:spPr>
        <p:txBody>
          <a:bodyPr anchor="b" anchorCtr="0"/>
          <a:lstStyle/>
          <a:p>
            <a:r>
              <a:rPr lang="en-GB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4253A-06D4-BE4F-A464-031908D4BFA1}" type="datetimeFigureOut">
              <a:rPr lang="en-US" smtClean="0"/>
              <a:pPr/>
              <a:t>8/22/2011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114A1-C687-774F-A8EA-25E0AE8417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498518" y="1129553"/>
            <a:ext cx="7558960" cy="774700"/>
          </a:xfrm>
        </p:spPr>
        <p:txBody>
          <a:bodyPr vert="horz" lIns="91440" tIns="45720" rIns="91440" bIns="45720" rtlCol="0" anchor="t" anchorCtr="0">
            <a:noAutofit/>
          </a:bodyPr>
          <a:lstStyle>
            <a:lvl1pPr marL="0" indent="0">
              <a:buNone/>
              <a:defRPr kumimoji="0" sz="2400" b="0" i="0" u="none" strike="noStrike" kern="1200" cap="none" spc="0" normalizeH="0" baseline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GB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smtClean="0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800600" y="6425640"/>
            <a:ext cx="1232647" cy="365125"/>
          </a:xfrm>
        </p:spPr>
        <p:txBody>
          <a:bodyPr/>
          <a:lstStyle>
            <a:lvl1pPr algn="l">
              <a:defRPr/>
            </a:lvl1pPr>
          </a:lstStyle>
          <a:p>
            <a:fld id="{FFB4253A-06D4-BE4F-A464-031908D4BFA1}" type="datetimeFigureOut">
              <a:rPr lang="en-US" smtClean="0"/>
              <a:pPr/>
              <a:t>8/22/2011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311153" y="6425640"/>
            <a:ext cx="2617694" cy="365125"/>
          </a:xfrm>
        </p:spPr>
        <p:txBody>
          <a:bodyPr/>
          <a:lstStyle>
            <a:lvl1pPr algn="r"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2575" y="228600"/>
            <a:ext cx="4235450" cy="4187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24388" y="237744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2"/>
          </p:nvPr>
        </p:nvSpPr>
        <p:spPr>
          <a:xfrm>
            <a:off x="4624388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GB" smtClean="0"/>
              <a:t>Click icon to add picture</a:t>
            </a:r>
            <a:endParaRPr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744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GB" smtClean="0"/>
              <a:t>Click icon to add picture</a:t>
            </a:r>
            <a:endParaRPr/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1779494"/>
            <a:ext cx="3086100" cy="2040905"/>
          </a:xfrm>
        </p:spPr>
        <p:txBody>
          <a:bodyPr lIns="45720" tIns="45720" rIns="45720" anchor="t">
            <a:noAutofit/>
          </a:bodyPr>
          <a:lstStyle>
            <a:lvl1pPr marL="0" indent="0" algn="ctr">
              <a:buNone/>
              <a:defRPr sz="46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GB" smtClean="0"/>
              <a:t>Click to edit Master text styles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58907" y="228600"/>
            <a:ext cx="8200930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3124200"/>
            <a:ext cx="5638800" cy="1362075"/>
          </a:xfrm>
        </p:spPr>
        <p:txBody>
          <a:bodyPr anchor="b" anchorCtr="0">
            <a:normAutofit/>
          </a:bodyPr>
          <a:lstStyle>
            <a:lvl1pPr algn="l">
              <a:defRPr sz="3200" b="0" cap="none" baseline="0">
                <a:solidFill>
                  <a:schemeClr val="bg1"/>
                </a:solidFill>
              </a:defRPr>
            </a:lvl1pPr>
          </a:lstStyle>
          <a:p>
            <a:r>
              <a:rPr lang="en-GB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4495800"/>
            <a:ext cx="5638800" cy="1500187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300"/>
              </a:spcBef>
              <a:buNone/>
              <a:defRPr sz="14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8906" y="6248774"/>
            <a:ext cx="1474694" cy="36512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FFB4253A-06D4-BE4F-A464-031908D4BFA1}" type="datetimeFigureOut">
              <a:rPr lang="en-US" smtClean="0"/>
              <a:pPr/>
              <a:t>8/22/2011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86000" y="6248774"/>
            <a:ext cx="5638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6248774"/>
            <a:ext cx="554038" cy="365125"/>
          </a:xfrm>
        </p:spPr>
        <p:txBody>
          <a:bodyPr/>
          <a:lstStyle/>
          <a:p>
            <a:fld id="{EE7114A1-C687-774F-A8EA-25E0AE8417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003612" y="3110754"/>
            <a:ext cx="260909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40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9" name="Rectangle 8"/>
          <p:cNvSpPr/>
          <p:nvPr/>
        </p:nvSpPr>
        <p:spPr>
          <a:xfrm>
            <a:off x="285750" y="228600"/>
            <a:ext cx="212725" cy="63452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9987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4253A-06D4-BE4F-A464-031908D4BFA1}" type="datetimeFigureOut">
              <a:rPr lang="en-US" smtClean="0"/>
              <a:pPr/>
              <a:t>8/22/2011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114A1-C687-774F-A8EA-25E0AE8417B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smtClean="0"/>
              <a:t>Click to edit Master title style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7541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99878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4253A-06D4-BE4F-A464-031908D4BFA1}" type="datetimeFigureOut">
              <a:rPr lang="en-US" smtClean="0"/>
              <a:pPr/>
              <a:t>8/22/2011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114A1-C687-774F-A8EA-25E0AE8417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7541" y="2070847"/>
            <a:ext cx="3657600" cy="322729"/>
          </a:xfrm>
          <a:prstGeom prst="rect">
            <a:avLst/>
          </a:prstGeom>
          <a:solidFill>
            <a:schemeClr val="accent3"/>
          </a:solidFill>
        </p:spPr>
        <p:txBody>
          <a:bodyPr tIns="0" bIns="0" anchor="ctr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99878" y="2070847"/>
            <a:ext cx="3657600" cy="32272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, Top and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7" y="1985963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4253A-06D4-BE4F-A464-031908D4BFA1}" type="datetimeFigureOut">
              <a:rPr lang="en-US" smtClean="0"/>
              <a:pPr/>
              <a:t>8/22/2011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Content Placeholder 2"/>
          <p:cNvSpPr>
            <a:spLocks noGrp="1"/>
          </p:cNvSpPr>
          <p:nvPr>
            <p:ph sz="half" idx="14"/>
          </p:nvPr>
        </p:nvSpPr>
        <p:spPr>
          <a:xfrm>
            <a:off x="498517" y="4164965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05800" y="242234"/>
            <a:ext cx="554038" cy="365125"/>
          </a:xfrm>
        </p:spPr>
        <p:txBody>
          <a:bodyPr/>
          <a:lstStyle/>
          <a:p>
            <a:fld id="{EE7114A1-C687-774F-A8EA-25E0AE8417B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4253A-06D4-BE4F-A464-031908D4BFA1}" type="datetimeFigureOut">
              <a:rPr lang="en-US" smtClean="0"/>
              <a:pPr/>
              <a:t>8/22/2011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114A1-C687-774F-A8EA-25E0AE8417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2"/>
          <p:cNvSpPr>
            <a:spLocks noGrp="1"/>
          </p:cNvSpPr>
          <p:nvPr>
            <p:ph sz="half" idx="15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/>
          </a:p>
        </p:txBody>
      </p:sp>
      <p:sp>
        <p:nvSpPr>
          <p:cNvPr id="13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4253A-06D4-BE4F-A464-031908D4BFA1}" type="datetimeFigureOut">
              <a:rPr lang="en-US" smtClean="0"/>
              <a:pPr/>
              <a:t>8/22/2011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114A1-C687-774F-A8EA-25E0AE8417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Content Placeholder 2"/>
          <p:cNvSpPr>
            <a:spLocks noGrp="1"/>
          </p:cNvSpPr>
          <p:nvPr>
            <p:ph sz="half" idx="17"/>
          </p:nvPr>
        </p:nvSpPr>
        <p:spPr>
          <a:xfrm>
            <a:off x="502920" y="1985963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/>
          </a:p>
        </p:txBody>
      </p:sp>
      <p:sp>
        <p:nvSpPr>
          <p:cNvPr id="14" name="Content Placeholder 2"/>
          <p:cNvSpPr>
            <a:spLocks noGrp="1"/>
          </p:cNvSpPr>
          <p:nvPr>
            <p:ph sz="half" idx="18"/>
          </p:nvPr>
        </p:nvSpPr>
        <p:spPr>
          <a:xfrm>
            <a:off x="502920" y="4164965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/>
          </a:p>
        </p:txBody>
      </p:sp>
      <p:sp>
        <p:nvSpPr>
          <p:cNvPr id="15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/>
          </a:p>
        </p:txBody>
      </p:sp>
      <p:sp>
        <p:nvSpPr>
          <p:cNvPr id="16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4253A-06D4-BE4F-A464-031908D4BFA1}" type="datetimeFigureOut">
              <a:rPr lang="en-US" smtClean="0"/>
              <a:pPr/>
              <a:t>8/22/2011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114A1-C687-774F-A8EA-25E0AE8417B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4253A-06D4-BE4F-A464-031908D4BFA1}" type="datetimeFigureOut">
              <a:rPr lang="en-US" smtClean="0"/>
              <a:pPr/>
              <a:t>8/22/2011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114A1-C687-774F-A8EA-25E0AE8417B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2575" y="228600"/>
            <a:ext cx="3451225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5" y="2571750"/>
            <a:ext cx="3255264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GB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68775" y="273050"/>
            <a:ext cx="4597399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3" y="3733800"/>
            <a:ext cx="3255264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399" y="6423585"/>
            <a:ext cx="1537447" cy="365125"/>
          </a:xfrm>
        </p:spPr>
        <p:txBody>
          <a:bodyPr/>
          <a:lstStyle/>
          <a:p>
            <a:fld id="{FFB4253A-06D4-BE4F-A464-031908D4BFA1}" type="datetimeFigureOut">
              <a:rPr lang="en-US" smtClean="0"/>
              <a:pPr/>
              <a:t>8/22/2011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59305" y="6423585"/>
            <a:ext cx="331694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69404" y="3124200"/>
            <a:ext cx="3898272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GB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6" y="228600"/>
            <a:ext cx="3460658" cy="63452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smtClean="0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69404" y="3995737"/>
            <a:ext cx="3898272" cy="21478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399" y="6423585"/>
            <a:ext cx="1537447" cy="365125"/>
          </a:xfrm>
        </p:spPr>
        <p:txBody>
          <a:bodyPr/>
          <a:lstStyle/>
          <a:p>
            <a:fld id="{FFB4253A-06D4-BE4F-A464-031908D4BFA1}" type="datetimeFigureOut">
              <a:rPr lang="en-US" smtClean="0"/>
              <a:pPr/>
              <a:t>8/22/2011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91000" y="6423585"/>
            <a:ext cx="30051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114A1-C687-774F-A8EA-25E0AE8417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3990110" y="3370730"/>
            <a:ext cx="22056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2400" b="1" baseline="0">
                <a:solidFill>
                  <a:schemeClr val="accent1">
                    <a:lumMod val="60000"/>
                    <a:lumOff val="40000"/>
                  </a:schemeClr>
                </a:solidFill>
              </a:rPr>
              <a:t>+ 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6505" y="4424082"/>
            <a:ext cx="6191157" cy="83371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GB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28600"/>
            <a:ext cx="6378389" cy="418795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smtClean="0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6505" y="5257799"/>
            <a:ext cx="6191157" cy="885825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4253A-06D4-BE4F-A464-031908D4BFA1}" type="datetimeFigureOut">
              <a:rPr lang="en-US" smtClean="0"/>
              <a:pPr/>
              <a:t>8/22/2011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114A1-C687-774F-A8EA-25E0AE8417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02438" y="2377440"/>
            <a:ext cx="2057400" cy="20391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7212" y="4632792"/>
            <a:ext cx="22056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2400" b="1" baseline="0">
                <a:solidFill>
                  <a:schemeClr val="accent1">
                    <a:lumMod val="60000"/>
                    <a:lumOff val="40000"/>
                  </a:schemeClr>
                </a:solidFill>
              </a:rPr>
              <a:t>+ 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2574" y="228600"/>
            <a:ext cx="6387167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6181611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GB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6179566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212262" y="6235607"/>
            <a:ext cx="13483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FB4253A-06D4-BE4F-A464-031908D4BFA1}" type="datetimeFigureOut">
              <a:rPr lang="en-US" smtClean="0"/>
              <a:pPr/>
              <a:t>8/22/2011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1095" y="6235607"/>
            <a:ext cx="46481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114A1-C687-774F-A8EA-25E0AE8417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494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GB" smtClean="0"/>
              <a:t>Click icon to add picture</a:t>
            </a:r>
            <a:endParaRPr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6802438" y="4535424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GB" smtClean="0"/>
              <a:t>Click icon to add picture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2575" y="228600"/>
            <a:ext cx="4235450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4016633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GB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4015304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048000" y="6235607"/>
            <a:ext cx="13483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FB4253A-06D4-BE4F-A464-031908D4BFA1}" type="datetimeFigureOut">
              <a:rPr lang="en-US" smtClean="0"/>
              <a:pPr/>
              <a:t>8/22/2011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1095" y="6235607"/>
            <a:ext cx="25907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114A1-C687-774F-A8EA-25E0AE8417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24388" y="4534726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4624388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GB" smtClean="0"/>
              <a:t>Click icon to add picture</a:t>
            </a:r>
            <a:endParaRPr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4624388" y="2381663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GB" smtClean="0"/>
              <a:t>Click icon to add picture</a:t>
            </a:r>
            <a:endParaRPr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5"/>
          </p:nvPr>
        </p:nvSpPr>
        <p:spPr>
          <a:xfrm>
            <a:off x="6803136" y="2381662"/>
            <a:ext cx="2057400" cy="418795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GB" smtClean="0"/>
              <a:t>Click icon to add picture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0" y="3124200"/>
            <a:ext cx="3108960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GB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365248"/>
            <a:ext cx="4240119" cy="418795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smtClean="0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0" y="3995737"/>
            <a:ext cx="3108960" cy="21478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399" y="6423585"/>
            <a:ext cx="1537447" cy="365125"/>
          </a:xfrm>
        </p:spPr>
        <p:txBody>
          <a:bodyPr/>
          <a:lstStyle/>
          <a:p>
            <a:fld id="{FFB4253A-06D4-BE4F-A464-031908D4BFA1}" type="datetimeFigureOut">
              <a:rPr lang="en-US" smtClean="0"/>
              <a:pPr/>
              <a:t>8/22/2011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91000" y="6423585"/>
            <a:ext cx="30051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114A1-C687-774F-A8EA-25E0AE8417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4750361" y="3370730"/>
            <a:ext cx="22056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2400" b="1" baseline="0">
                <a:solidFill>
                  <a:schemeClr val="accent1">
                    <a:lumMod val="60000"/>
                    <a:lumOff val="40000"/>
                  </a:schemeClr>
                </a:solidFill>
              </a:rPr>
              <a:t>+ </a:t>
            </a:r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277905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GB" smtClean="0"/>
              <a:t>Click icon to add picture</a:t>
            </a:r>
            <a:endParaRPr/>
          </a:p>
        </p:txBody>
      </p:sp>
      <p:sp>
        <p:nvSpPr>
          <p:cNvPr id="15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2460625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GB" smtClean="0"/>
              <a:t>Click icon to add picture</a:t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4253A-06D4-BE4F-A464-031908D4BFA1}" type="datetimeFigureOut">
              <a:rPr lang="en-US" smtClean="0"/>
              <a:pPr/>
              <a:t>8/22/2011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114A1-C687-774F-A8EA-25E0AE8417B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95772" y="954742"/>
            <a:ext cx="681318" cy="5171422"/>
          </a:xfrm>
        </p:spPr>
        <p:txBody>
          <a:bodyPr vert="eaVert" anchor="t" anchorCtr="0"/>
          <a:lstStyle/>
          <a:p>
            <a:r>
              <a:rPr lang="en-GB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58756"/>
            <a:ext cx="6858000" cy="5184869"/>
          </a:xfrm>
        </p:spPr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4253A-06D4-BE4F-A464-031908D4BFA1}" type="datetimeFigureOut">
              <a:rPr lang="en-US" smtClean="0"/>
              <a:pPr/>
              <a:t>8/22/2011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114A1-C687-774F-A8EA-25E0AE8417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 rot="16200000">
            <a:off x="8593111" y="561668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FFB4253A-06D4-BE4F-A464-031908D4BFA1}" type="datetimeFigureOut">
              <a:rPr lang="en-US" smtClean="0"/>
              <a:pPr/>
              <a:t>8/22/2011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5800" y="242234"/>
            <a:ext cx="5540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</a:defRPr>
            </a:lvl1pPr>
          </a:lstStyle>
          <a:p>
            <a:fld id="{EE7114A1-C687-774F-A8EA-25E0AE8417B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</p:sldLayoutIdLst>
  <p:txStyles>
    <p:titleStyle>
      <a:lvl1pPr algn="l" defTabSz="914400" rtl="0" eaLnBrk="1" latinLnBrk="0" hangingPunct="1">
        <a:spcBef>
          <a:spcPct val="0"/>
        </a:spcBef>
        <a:buNone/>
        <a:defRPr sz="3600" b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ts val="2000"/>
        </a:spcBef>
        <a:buClr>
          <a:schemeClr val="accent1"/>
        </a:buClr>
        <a:buSzPct val="75000"/>
        <a:buFont typeface="Wingdings" pitchFamily="2" charset="2"/>
        <a:buChar char="n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spcBef>
          <a:spcPts val="600"/>
        </a:spcBef>
        <a:buClr>
          <a:schemeClr val="accent1"/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spcBef>
          <a:spcPts val="600"/>
        </a:spcBef>
        <a:buClr>
          <a:schemeClr val="accent1"/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bioontology.org/wiki/index.php?title=From_OBO_to_OWL_and_back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virtualflybrain.org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4.png"/><Relationship Id="rId4" Type="http://schemas.openxmlformats.org/officeDocument/2006/relationships/image" Target="../media/image63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1.pn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5.png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3" Type="http://schemas.openxmlformats.org/officeDocument/2006/relationships/image" Target="../media/image97.png"/><Relationship Id="rId7" Type="http://schemas.openxmlformats.org/officeDocument/2006/relationships/image" Target="../media/image101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png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7" Type="http://schemas.openxmlformats.org/officeDocument/2006/relationships/image" Target="../media/image109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8.png"/><Relationship Id="rId5" Type="http://schemas.openxmlformats.org/officeDocument/2006/relationships/image" Target="../media/image107.png"/><Relationship Id="rId4" Type="http://schemas.openxmlformats.org/officeDocument/2006/relationships/image" Target="../media/image106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2.png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6.png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From OBO to OWL and back again – a tutorial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David </a:t>
            </a:r>
            <a:r>
              <a:rPr lang="en-US" dirty="0" err="1" smtClean="0"/>
              <a:t>Osumi</a:t>
            </a:r>
            <a:r>
              <a:rPr lang="en-US" dirty="0" smtClean="0"/>
              <a:t>-Sutherland, Virtual Fly Brain/FlyBase</a:t>
            </a:r>
          </a:p>
          <a:p>
            <a:r>
              <a:rPr lang="en-US" dirty="0" smtClean="0"/>
              <a:t>Chris </a:t>
            </a:r>
            <a:r>
              <a:rPr lang="en-US" dirty="0" err="1" smtClean="0"/>
              <a:t>Mungall</a:t>
            </a:r>
            <a:r>
              <a:rPr lang="en-US" dirty="0" smtClean="0"/>
              <a:t> – GO/LBL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Links to software downloads and tutorial ontology can be found here:</a:t>
            </a:r>
          </a:p>
          <a:p>
            <a:pPr lvl="1"/>
            <a:r>
              <a:rPr lang="en-US" sz="2000" dirty="0" smtClean="0">
                <a:hlinkClick r:id="rId2"/>
              </a:rPr>
              <a:t>http://www.bioontology.org/wiki/index.php?title=From_OBO_to_OWL_and_back</a:t>
            </a:r>
            <a:r>
              <a:rPr lang="en-US" sz="2000" dirty="0" smtClean="0"/>
              <a:t> </a:t>
            </a:r>
          </a:p>
          <a:p>
            <a:endParaRPr lang="en-US" sz="2400" dirty="0" smtClean="0"/>
          </a:p>
          <a:p>
            <a:r>
              <a:rPr lang="en-US" sz="2400" dirty="0" smtClean="0"/>
              <a:t>Please note that the tutorial ontology has been designed for teaching purposes and should NOT be used as a reference for classes or relations.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 use OBO, why should I care about OWL?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OWL 2 is a W3C standard with a large and growing ecosystem of developers.</a:t>
            </a:r>
          </a:p>
          <a:p>
            <a:r>
              <a:rPr lang="en-US" dirty="0" smtClean="0"/>
              <a:t>Using OWL ontologies in Protégé 4 you can use </a:t>
            </a:r>
            <a:r>
              <a:rPr lang="en-US" b="1" dirty="0" smtClean="0"/>
              <a:t>fast </a:t>
            </a:r>
            <a:r>
              <a:rPr lang="en-US" dirty="0" smtClean="0"/>
              <a:t>reasoners to:</a:t>
            </a:r>
          </a:p>
          <a:p>
            <a:pPr lvl="1"/>
            <a:r>
              <a:rPr lang="en-US" dirty="0" smtClean="0"/>
              <a:t>Query your ontology</a:t>
            </a:r>
          </a:p>
          <a:p>
            <a:pPr lvl="2"/>
            <a:r>
              <a:rPr lang="en-US" dirty="0" smtClean="0"/>
              <a:t>This could be the basis for </a:t>
            </a:r>
            <a:r>
              <a:rPr lang="en-US" b="1" dirty="0" smtClean="0"/>
              <a:t>sophisticated queries on your website</a:t>
            </a:r>
          </a:p>
          <a:p>
            <a:pPr lvl="1"/>
            <a:r>
              <a:rPr lang="en-US" b="1" dirty="0" smtClean="0"/>
              <a:t>Quickly find mistakes</a:t>
            </a:r>
          </a:p>
          <a:p>
            <a:pPr lvl="1"/>
            <a:r>
              <a:rPr lang="en-US" b="1" dirty="0" smtClean="0"/>
              <a:t>Automate classification</a:t>
            </a:r>
          </a:p>
          <a:p>
            <a:r>
              <a:rPr lang="en-US" dirty="0" smtClean="0"/>
              <a:t>Non-</a:t>
            </a:r>
            <a:r>
              <a:rPr lang="en-US" dirty="0" err="1" smtClean="0"/>
              <a:t>lossy</a:t>
            </a:r>
            <a:r>
              <a:rPr lang="en-US" dirty="0" smtClean="0"/>
              <a:t> round tripping from OBO to OWL and back is now easy</a:t>
            </a:r>
          </a:p>
          <a:p>
            <a:pPr lvl="1"/>
            <a:r>
              <a:rPr lang="en-US" b="1" dirty="0" smtClean="0"/>
              <a:t>continue developing in OBO </a:t>
            </a:r>
            <a:r>
              <a:rPr lang="en-US" dirty="0" smtClean="0"/>
              <a:t>while taking advantage of OWL and Protégé for reasoning</a:t>
            </a:r>
          </a:p>
          <a:p>
            <a:pPr lvl="1"/>
            <a:r>
              <a:rPr lang="en-US" dirty="0" smtClean="0"/>
              <a:t>This may be a first step to developing in OWL/Protégé </a:t>
            </a:r>
          </a:p>
          <a:p>
            <a:pPr lvl="1"/>
            <a:endParaRPr lang="en-US" dirty="0" smtClean="0"/>
          </a:p>
          <a:p>
            <a:pPr lvl="1"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Oort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OBO ontology release tool:</a:t>
            </a:r>
          </a:p>
          <a:p>
            <a:pPr lvl="1"/>
            <a:r>
              <a:rPr lang="en-US" dirty="0" smtClean="0"/>
              <a:t>Starting from ontology requiring a reasoner, uses OWL reasoning to:</a:t>
            </a:r>
          </a:p>
          <a:p>
            <a:pPr lvl="2"/>
            <a:r>
              <a:rPr lang="en-US" dirty="0" smtClean="0"/>
              <a:t>Roll OBO file that needs no reasoner – supporting current users.</a:t>
            </a:r>
          </a:p>
          <a:p>
            <a:pPr lvl="2"/>
            <a:r>
              <a:rPr lang="en-US" dirty="0" smtClean="0"/>
              <a:t>Automatically make slims</a:t>
            </a:r>
          </a:p>
          <a:p>
            <a:pPr lvl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 to ontology building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1541" y="1540942"/>
            <a:ext cx="8191997" cy="5317058"/>
          </a:xfrm>
        </p:spPr>
        <p:txBody>
          <a:bodyPr>
            <a:normAutofit/>
          </a:bodyPr>
          <a:lstStyle/>
          <a:p>
            <a:r>
              <a:rPr lang="en-US" sz="2400" dirty="0" smtClean="0"/>
              <a:t>An </a:t>
            </a:r>
            <a:r>
              <a:rPr lang="en-US" sz="2400" b="1" dirty="0" smtClean="0"/>
              <a:t>ontology is </a:t>
            </a:r>
            <a:r>
              <a:rPr lang="en-US" sz="2400" dirty="0" smtClean="0"/>
              <a:t>a </a:t>
            </a:r>
            <a:r>
              <a:rPr lang="en-US" sz="2400" b="1" dirty="0" smtClean="0"/>
              <a:t>classification</a:t>
            </a:r>
          </a:p>
          <a:p>
            <a:r>
              <a:rPr lang="en-US" sz="2400" dirty="0" smtClean="0"/>
              <a:t>There are </a:t>
            </a:r>
            <a:r>
              <a:rPr lang="en-US" sz="2400" b="1" dirty="0" smtClean="0"/>
              <a:t>lots of </a:t>
            </a:r>
            <a:r>
              <a:rPr lang="en-US" sz="2400" dirty="0" smtClean="0"/>
              <a:t>useful </a:t>
            </a:r>
            <a:r>
              <a:rPr lang="en-US" sz="2400" b="1" dirty="0" smtClean="0"/>
              <a:t>ways to classify</a:t>
            </a:r>
            <a:r>
              <a:rPr lang="en-US" sz="2400" dirty="0" smtClean="0"/>
              <a:t> stuff</a:t>
            </a:r>
          </a:p>
          <a:p>
            <a:r>
              <a:rPr lang="en-US" sz="2400" dirty="0" smtClean="0"/>
              <a:t>Maintaining multiple classification schemes by hand is impractical</a:t>
            </a:r>
          </a:p>
          <a:p>
            <a:pPr lvl="1"/>
            <a:r>
              <a:rPr lang="en-US" sz="2400" dirty="0" smtClean="0"/>
              <a:t>So</a:t>
            </a:r>
            <a:r>
              <a:rPr lang="en-US" sz="2400" b="1" dirty="0" smtClean="0"/>
              <a:t> automate </a:t>
            </a:r>
            <a:r>
              <a:rPr lang="en-US" sz="2400" i="1" dirty="0" smtClean="0"/>
              <a:t>what you can</a:t>
            </a:r>
          </a:p>
          <a:p>
            <a:r>
              <a:rPr lang="en-US" sz="2400" dirty="0" smtClean="0"/>
              <a:t>Everybody makes mistakes</a:t>
            </a:r>
          </a:p>
          <a:p>
            <a:pPr lvl="1"/>
            <a:r>
              <a:rPr lang="en-US" sz="2400" dirty="0" smtClean="0"/>
              <a:t>So </a:t>
            </a:r>
            <a:r>
              <a:rPr lang="en-US" sz="2400" b="1" dirty="0" smtClean="0"/>
              <a:t>get the computer to find errors for you</a:t>
            </a:r>
          </a:p>
          <a:p>
            <a:r>
              <a:rPr lang="en-US" sz="2400" b="1" dirty="0" smtClean="0"/>
              <a:t>Re-use other people’s </a:t>
            </a:r>
            <a:r>
              <a:rPr lang="en-US" sz="2400" dirty="0" smtClean="0"/>
              <a:t>work where possible</a:t>
            </a:r>
          </a:p>
          <a:p>
            <a:pPr lvl="1"/>
            <a:r>
              <a:rPr lang="en-US" sz="2400" dirty="0" smtClean="0"/>
              <a:t>import class hierarchies</a:t>
            </a:r>
          </a:p>
          <a:p>
            <a:pPr lvl="1"/>
            <a:r>
              <a:rPr lang="en-US" sz="2400" dirty="0" smtClean="0"/>
              <a:t>use common patterns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Reasoning in Protégé 4.1 with the Drosophila anatomy ontology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3287" y="3429000"/>
            <a:ext cx="9144000" cy="4144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dirty="0" smtClean="0"/>
              <a:t>Live demo of </a:t>
            </a:r>
            <a:r>
              <a:rPr lang="en-US" sz="2400" dirty="0" smtClean="0">
                <a:hlinkClick r:id="rId2"/>
              </a:rPr>
              <a:t>www.virtualflybrain.org</a:t>
            </a:r>
            <a:r>
              <a:rPr lang="en-US" sz="2400" dirty="0" smtClean="0"/>
              <a:t> and underlying queries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an ontology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buFont typeface="Wingdings" pitchFamily="2" charset="2"/>
              <a:buChar char="n"/>
              <a:defRPr/>
            </a:pPr>
            <a:r>
              <a:rPr 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+mn-ea"/>
                <a:cs typeface="+mn-cs"/>
              </a:rPr>
              <a:t>A set of defined, inter-related terms to use in annotation/metadata/knowledge bases.</a:t>
            </a:r>
          </a:p>
          <a:p>
            <a:pPr fontAlgn="auto">
              <a:spcAft>
                <a:spcPts val="0"/>
              </a:spcAft>
              <a:buFont typeface="Wingdings" pitchFamily="2" charset="2"/>
              <a:buChar char="n"/>
              <a:defRPr/>
            </a:pPr>
            <a:endParaRPr lang="en-US" sz="2400" dirty="0" smtClean="0">
              <a:solidFill>
                <a:schemeClr val="tx1">
                  <a:lumMod val="65000"/>
                  <a:lumOff val="35000"/>
                </a:schemeClr>
              </a:solidFill>
              <a:ea typeface="+mn-ea"/>
              <a:cs typeface="+mn-cs"/>
            </a:endParaRPr>
          </a:p>
          <a:p>
            <a:pPr fontAlgn="auto">
              <a:spcAft>
                <a:spcPts val="0"/>
              </a:spcAft>
              <a:buFont typeface="Wingdings" pitchFamily="2" charset="2"/>
              <a:buChar char="n"/>
              <a:defRPr/>
            </a:pPr>
            <a:r>
              <a:rPr 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+mn-ea"/>
                <a:cs typeface="+mn-cs"/>
              </a:rPr>
              <a:t> A classification</a:t>
            </a:r>
          </a:p>
          <a:p>
            <a:pPr fontAlgn="auto">
              <a:spcAft>
                <a:spcPts val="0"/>
              </a:spcAft>
              <a:buFont typeface="Wingdings" pitchFamily="2" charset="2"/>
              <a:buChar char="n"/>
              <a:defRPr/>
            </a:pPr>
            <a:endParaRPr lang="en-US" sz="2400" dirty="0" smtClean="0">
              <a:solidFill>
                <a:schemeClr val="tx1">
                  <a:lumMod val="65000"/>
                  <a:lumOff val="35000"/>
                </a:schemeClr>
              </a:solidFill>
              <a:ea typeface="+mn-ea"/>
              <a:cs typeface="+mn-cs"/>
            </a:endParaRPr>
          </a:p>
          <a:p>
            <a:pPr fontAlgn="auto">
              <a:spcAft>
                <a:spcPts val="0"/>
              </a:spcAft>
              <a:buFont typeface="Wingdings" pitchFamily="2" charset="2"/>
              <a:buChar char="n"/>
              <a:defRPr/>
            </a:pPr>
            <a:r>
              <a:rPr 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+mn-ea"/>
                <a:cs typeface="+mn-cs"/>
              </a:rPr>
              <a:t> A query-able store of (scientific) knowledge that uses logical inference.</a:t>
            </a:r>
          </a:p>
          <a:p>
            <a:pPr lvl="1"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itchFamily="2" charset="2"/>
              <a:buChar char="n"/>
              <a:defRPr/>
            </a:pPr>
            <a:endParaRPr lang="en-US" sz="2400" dirty="0" smtClean="0">
              <a:solidFill>
                <a:schemeClr val="tx1">
                  <a:lumMod val="65000"/>
                  <a:lumOff val="35000"/>
                </a:schemeClr>
              </a:solidFill>
              <a:ea typeface="+mn-ea"/>
            </a:endParaRPr>
          </a:p>
          <a:p>
            <a:pPr fontAlgn="auto">
              <a:spcAft>
                <a:spcPts val="0"/>
              </a:spcAft>
              <a:buFont typeface="Wingdings" pitchFamily="2" charset="2"/>
              <a:buNone/>
              <a:defRPr/>
            </a:pPr>
            <a:endParaRPr lang="en-US" sz="2400" dirty="0" smtClean="0">
              <a:solidFill>
                <a:schemeClr val="tx1">
                  <a:lumMod val="65000"/>
                  <a:lumOff val="35000"/>
                </a:schemeClr>
              </a:solidFill>
              <a:ea typeface="+mn-ea"/>
              <a:cs typeface="+mn-cs"/>
            </a:endParaRPr>
          </a:p>
          <a:p>
            <a:pPr fontAlgn="auto">
              <a:spcAft>
                <a:spcPts val="0"/>
              </a:spcAft>
              <a:buFont typeface="Wingdings" pitchFamily="2" charset="2"/>
              <a:buNone/>
              <a:defRPr/>
            </a:pPr>
            <a:endParaRPr lang="en-US" sz="2400" dirty="0" smtClean="0">
              <a:solidFill>
                <a:schemeClr val="tx1">
                  <a:lumMod val="65000"/>
                  <a:lumOff val="35000"/>
                </a:schemeClr>
              </a:solidFill>
              <a:ea typeface="+mn-ea"/>
              <a:cs typeface="+mn-cs"/>
            </a:endParaRPr>
          </a:p>
          <a:p>
            <a:pPr lvl="1"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itchFamily="2" charset="2"/>
              <a:buNone/>
              <a:defRPr/>
            </a:pPr>
            <a:endParaRPr lang="en-US" sz="2400" dirty="0" smtClean="0">
              <a:solidFill>
                <a:schemeClr val="tx1">
                  <a:lumMod val="65000"/>
                  <a:lumOff val="35000"/>
                </a:schemeClr>
              </a:solidFill>
              <a:ea typeface="+mn-ea"/>
            </a:endParaRPr>
          </a:p>
          <a:p>
            <a:pPr lvl="1"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itchFamily="2" charset="2"/>
              <a:buNone/>
              <a:defRPr/>
            </a:pPr>
            <a:endParaRPr lang="en-US" sz="2400" dirty="0">
              <a:solidFill>
                <a:schemeClr val="tx1">
                  <a:lumMod val="65000"/>
                  <a:lumOff val="35000"/>
                </a:schemeClr>
              </a:solidFill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an ontology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buFont typeface="Wingdings" pitchFamily="2" charset="2"/>
              <a:buChar char="n"/>
              <a:defRPr/>
            </a:pPr>
            <a:r>
              <a:rPr 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+mn-ea"/>
                <a:cs typeface="+mn-cs"/>
              </a:rPr>
              <a:t>A set of defined, </a:t>
            </a:r>
            <a:r>
              <a:rPr 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+mn-ea"/>
                <a:cs typeface="+mn-cs"/>
              </a:rPr>
              <a:t>inter-related </a:t>
            </a:r>
            <a:r>
              <a:rPr 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+mn-ea"/>
                <a:cs typeface="+mn-cs"/>
              </a:rPr>
              <a:t>terms to use in annotation/metadata/knowledge bases.</a:t>
            </a:r>
          </a:p>
          <a:p>
            <a:pPr fontAlgn="auto">
              <a:spcAft>
                <a:spcPts val="0"/>
              </a:spcAft>
              <a:buFont typeface="Wingdings" pitchFamily="2" charset="2"/>
              <a:buChar char="n"/>
              <a:defRPr/>
            </a:pPr>
            <a:endParaRPr lang="en-US" sz="2400" dirty="0" smtClean="0">
              <a:solidFill>
                <a:schemeClr val="tx1">
                  <a:lumMod val="65000"/>
                  <a:lumOff val="35000"/>
                </a:schemeClr>
              </a:solidFill>
              <a:ea typeface="+mn-ea"/>
              <a:cs typeface="+mn-cs"/>
            </a:endParaRPr>
          </a:p>
          <a:p>
            <a:pPr fontAlgn="auto">
              <a:spcAft>
                <a:spcPts val="0"/>
              </a:spcAft>
              <a:buFont typeface="Wingdings" pitchFamily="2" charset="2"/>
              <a:buChar char="n"/>
              <a:defRPr/>
            </a:pPr>
            <a:r>
              <a:rPr 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+mn-ea"/>
                <a:cs typeface="+mn-cs"/>
              </a:rPr>
              <a:t> A classification</a:t>
            </a:r>
          </a:p>
          <a:p>
            <a:pPr fontAlgn="auto">
              <a:spcAft>
                <a:spcPts val="0"/>
              </a:spcAft>
              <a:buFont typeface="Wingdings" pitchFamily="2" charset="2"/>
              <a:buChar char="n"/>
              <a:defRPr/>
            </a:pPr>
            <a:endParaRPr lang="en-US" sz="2400" dirty="0" smtClean="0">
              <a:solidFill>
                <a:schemeClr val="tx1">
                  <a:lumMod val="65000"/>
                  <a:lumOff val="35000"/>
                </a:schemeClr>
              </a:solidFill>
              <a:ea typeface="+mn-ea"/>
              <a:cs typeface="+mn-cs"/>
            </a:endParaRPr>
          </a:p>
          <a:p>
            <a:pPr fontAlgn="auto">
              <a:spcAft>
                <a:spcPts val="0"/>
              </a:spcAft>
              <a:buFont typeface="Wingdings" pitchFamily="2" charset="2"/>
              <a:buChar char="n"/>
              <a:defRPr/>
            </a:pPr>
            <a:r>
              <a:rPr 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+mn-ea"/>
                <a:cs typeface="+mn-cs"/>
              </a:rPr>
              <a:t> A query-able store of (scientific) knowledge that uses logical inference.</a:t>
            </a:r>
          </a:p>
          <a:p>
            <a:pPr lvl="1"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itchFamily="2" charset="2"/>
              <a:buChar char="n"/>
              <a:defRPr/>
            </a:pPr>
            <a:endParaRPr lang="en-US" sz="2400" dirty="0" smtClean="0">
              <a:solidFill>
                <a:schemeClr val="tx1">
                  <a:lumMod val="65000"/>
                  <a:lumOff val="35000"/>
                </a:schemeClr>
              </a:solidFill>
              <a:ea typeface="+mn-ea"/>
            </a:endParaRPr>
          </a:p>
          <a:p>
            <a:pPr fontAlgn="auto">
              <a:spcAft>
                <a:spcPts val="0"/>
              </a:spcAft>
              <a:buFont typeface="Wingdings" pitchFamily="2" charset="2"/>
              <a:buNone/>
              <a:defRPr/>
            </a:pPr>
            <a:endParaRPr lang="en-US" sz="2400" dirty="0" smtClean="0">
              <a:solidFill>
                <a:schemeClr val="tx1">
                  <a:lumMod val="65000"/>
                  <a:lumOff val="35000"/>
                </a:schemeClr>
              </a:solidFill>
              <a:ea typeface="+mn-ea"/>
              <a:cs typeface="+mn-cs"/>
            </a:endParaRPr>
          </a:p>
          <a:p>
            <a:pPr fontAlgn="auto">
              <a:spcAft>
                <a:spcPts val="0"/>
              </a:spcAft>
              <a:buFont typeface="Wingdings" pitchFamily="2" charset="2"/>
              <a:buNone/>
              <a:defRPr/>
            </a:pPr>
            <a:endParaRPr lang="en-US" sz="2400" dirty="0" smtClean="0">
              <a:solidFill>
                <a:schemeClr val="tx1">
                  <a:lumMod val="65000"/>
                  <a:lumOff val="35000"/>
                </a:schemeClr>
              </a:solidFill>
              <a:ea typeface="+mn-ea"/>
              <a:cs typeface="+mn-cs"/>
            </a:endParaRPr>
          </a:p>
          <a:p>
            <a:pPr lvl="1"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itchFamily="2" charset="2"/>
              <a:buNone/>
              <a:defRPr/>
            </a:pPr>
            <a:endParaRPr lang="en-US" sz="2400" dirty="0" smtClean="0">
              <a:solidFill>
                <a:schemeClr val="tx1">
                  <a:lumMod val="65000"/>
                  <a:lumOff val="35000"/>
                </a:schemeClr>
              </a:solidFill>
              <a:ea typeface="+mn-ea"/>
            </a:endParaRPr>
          </a:p>
          <a:p>
            <a:pPr lvl="1"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itchFamily="2" charset="2"/>
              <a:buNone/>
              <a:defRPr/>
            </a:pPr>
            <a:endParaRPr lang="en-US" sz="2400" dirty="0">
              <a:solidFill>
                <a:schemeClr val="tx1">
                  <a:lumMod val="65000"/>
                  <a:lumOff val="35000"/>
                </a:schemeClr>
              </a:solidFill>
              <a:ea typeface="+mn-ea"/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 rot="5400000">
            <a:off x="1680473" y="4437757"/>
            <a:ext cx="697030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rot="10800000" flipV="1">
            <a:off x="3190623" y="2989483"/>
            <a:ext cx="1006750" cy="78996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rot="5400000">
            <a:off x="4026540" y="3888274"/>
            <a:ext cx="1797583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360946" y="3066928"/>
            <a:ext cx="1442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depends on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4926126" y="3594785"/>
            <a:ext cx="1442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depends on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029782" y="4244134"/>
            <a:ext cx="1442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depends 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(use) is an ontology?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981200"/>
            <a:ext cx="7927249" cy="529889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A set of defined, inter-related terms to use in annotation.</a:t>
            </a:r>
          </a:p>
          <a:p>
            <a:endParaRPr lang="en-US" sz="2800" dirty="0" smtClean="0"/>
          </a:p>
          <a:p>
            <a:pPr lvl="1"/>
            <a:r>
              <a:rPr lang="en-US" sz="2400" dirty="0" smtClean="0"/>
              <a:t>Relations between terms allow annotations to be grouped in scientifically meaningful ways</a:t>
            </a:r>
          </a:p>
          <a:p>
            <a:pPr lvl="1"/>
            <a:endParaRPr lang="en-US" sz="2400" dirty="0" smtClean="0"/>
          </a:p>
          <a:p>
            <a:pPr lvl="2"/>
            <a:r>
              <a:rPr lang="en-US" sz="2400" b="1" dirty="0" smtClean="0"/>
              <a:t>requires </a:t>
            </a:r>
            <a:r>
              <a:rPr lang="en-US" sz="2400" dirty="0" smtClean="0"/>
              <a:t>an ontology to be an accurate and scientifically meaningful </a:t>
            </a:r>
            <a:r>
              <a:rPr lang="en-US" sz="2400" b="1" dirty="0" smtClean="0"/>
              <a:t>classification and store of scientific knowledge</a:t>
            </a:r>
            <a:r>
              <a:rPr lang="en-US" sz="2400" dirty="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an ontology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buFont typeface="Wingdings" pitchFamily="2" charset="2"/>
              <a:buChar char="n"/>
              <a:defRPr/>
            </a:pPr>
            <a:r>
              <a:rPr 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+mn-ea"/>
                <a:cs typeface="+mn-cs"/>
              </a:rPr>
              <a:t> A classification</a:t>
            </a:r>
          </a:p>
          <a:p>
            <a:pPr lvl="1">
              <a:defRPr/>
            </a:pPr>
            <a:r>
              <a:rPr lang="en-US" sz="2200" dirty="0" smtClean="0"/>
              <a:t>There are lots of scientifically useful ways to classify a bit of anatomy.</a:t>
            </a:r>
          </a:p>
          <a:p>
            <a:pPr lvl="2"/>
            <a:r>
              <a:rPr lang="en-US" dirty="0" smtClean="0"/>
              <a:t>its parts and their arrangement</a:t>
            </a:r>
          </a:p>
          <a:p>
            <a:pPr lvl="2"/>
            <a:r>
              <a:rPr lang="en-US" dirty="0" smtClean="0"/>
              <a:t>its relation to other structures</a:t>
            </a:r>
          </a:p>
          <a:p>
            <a:pPr lvl="3"/>
            <a:r>
              <a:rPr lang="en-US" dirty="0" smtClean="0"/>
              <a:t>what is it: part of; connected to; adjacent to, overlapping?</a:t>
            </a:r>
          </a:p>
          <a:p>
            <a:pPr lvl="2"/>
            <a:r>
              <a:rPr lang="en-US" dirty="0" smtClean="0"/>
              <a:t>its shape</a:t>
            </a:r>
          </a:p>
          <a:p>
            <a:pPr lvl="2"/>
            <a:r>
              <a:rPr lang="en-US" dirty="0" smtClean="0"/>
              <a:t>its function</a:t>
            </a:r>
          </a:p>
          <a:p>
            <a:pPr lvl="2"/>
            <a:r>
              <a:rPr lang="en-US" dirty="0" smtClean="0"/>
              <a:t>its developmental origins</a:t>
            </a:r>
          </a:p>
          <a:p>
            <a:pPr lvl="2"/>
            <a:r>
              <a:rPr lang="en-US" dirty="0" smtClean="0"/>
              <a:t>its species or </a:t>
            </a:r>
            <a:r>
              <a:rPr lang="en-US" dirty="0" err="1" smtClean="0"/>
              <a:t>clade</a:t>
            </a:r>
            <a:r>
              <a:rPr lang="en-US" dirty="0" smtClean="0"/>
              <a:t> </a:t>
            </a:r>
          </a:p>
          <a:p>
            <a:pPr lvl="2"/>
            <a:r>
              <a:rPr lang="en-US" dirty="0" smtClean="0">
                <a:solidFill>
                  <a:srgbClr val="3366FF"/>
                </a:solidFill>
              </a:rPr>
              <a:t>its evolutionary history?</a:t>
            </a:r>
          </a:p>
          <a:p>
            <a:pPr lvl="1">
              <a:defRPr/>
            </a:pPr>
            <a:endParaRPr lang="en-US" sz="2200" dirty="0" smtClean="0"/>
          </a:p>
          <a:p>
            <a:pPr lvl="2">
              <a:defRPr/>
            </a:pPr>
            <a:endParaRPr lang="en-US" sz="2200" dirty="0" smtClean="0">
              <a:solidFill>
                <a:schemeClr val="tx1">
                  <a:lumMod val="65000"/>
                  <a:lumOff val="35000"/>
                </a:schemeClr>
              </a:solidFill>
              <a:ea typeface="+mn-ea"/>
              <a:cs typeface="+mn-cs"/>
            </a:endParaRPr>
          </a:p>
          <a:p>
            <a:pPr fontAlgn="auto">
              <a:spcAft>
                <a:spcPts val="0"/>
              </a:spcAft>
              <a:buFont typeface="Wingdings" pitchFamily="2" charset="2"/>
              <a:buNone/>
              <a:defRPr/>
            </a:pPr>
            <a:endParaRPr lang="en-US" sz="2400" dirty="0" smtClean="0">
              <a:solidFill>
                <a:schemeClr val="tx1">
                  <a:lumMod val="65000"/>
                  <a:lumOff val="35000"/>
                </a:schemeClr>
              </a:solidFill>
              <a:ea typeface="+mn-ea"/>
              <a:cs typeface="+mn-cs"/>
            </a:endParaRPr>
          </a:p>
          <a:p>
            <a:pPr lvl="1"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itchFamily="2" charset="2"/>
              <a:buNone/>
              <a:defRPr/>
            </a:pPr>
            <a:endParaRPr lang="en-US" sz="2400" dirty="0" smtClean="0">
              <a:solidFill>
                <a:schemeClr val="tx1">
                  <a:lumMod val="65000"/>
                  <a:lumOff val="35000"/>
                </a:schemeClr>
              </a:solidFill>
              <a:ea typeface="+mn-ea"/>
            </a:endParaRPr>
          </a:p>
          <a:p>
            <a:pPr lvl="1"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itchFamily="2" charset="2"/>
              <a:buNone/>
              <a:defRPr/>
            </a:pPr>
            <a:endParaRPr lang="en-US" sz="2400" dirty="0">
              <a:solidFill>
                <a:schemeClr val="tx1">
                  <a:lumMod val="65000"/>
                  <a:lumOff val="35000"/>
                </a:schemeClr>
              </a:solidFill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What is an ontology ?</a:t>
            </a:r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The scientific knowledge an ontology contains can make the reasons for classification explicit.</a:t>
            </a:r>
          </a:p>
          <a:p>
            <a:pPr lvl="1"/>
            <a:r>
              <a:rPr lang="en-US" sz="2400" dirty="0" smtClean="0"/>
              <a:t>e.g.</a:t>
            </a:r>
          </a:p>
          <a:p>
            <a:pPr lvl="2"/>
            <a:r>
              <a:rPr lang="en-US" sz="2400" dirty="0" smtClean="0"/>
              <a:t>Any sense organ that functions in the detection of smell is an olfactory sense organ</a:t>
            </a:r>
          </a:p>
          <a:p>
            <a:pPr lvl="2"/>
            <a:r>
              <a:rPr lang="en-US" sz="2400" dirty="0" smtClean="0"/>
              <a:t>All large </a:t>
            </a:r>
            <a:r>
              <a:rPr lang="en-US" sz="2400" dirty="0" err="1" smtClean="0"/>
              <a:t>basiconic</a:t>
            </a:r>
            <a:r>
              <a:rPr lang="en-US" sz="2400" dirty="0" smtClean="0"/>
              <a:t> </a:t>
            </a:r>
            <a:r>
              <a:rPr lang="en-US" sz="2400" dirty="0" err="1" smtClean="0"/>
              <a:t>sensilla</a:t>
            </a:r>
            <a:r>
              <a:rPr lang="en-US" sz="2400" dirty="0" smtClean="0"/>
              <a:t> of the antenna function in detection of smell</a:t>
            </a:r>
          </a:p>
          <a:p>
            <a:pPr lvl="2"/>
            <a:r>
              <a:rPr lang="en-US" sz="2400" dirty="0" smtClean="0"/>
              <a:t>Therefore all large </a:t>
            </a:r>
            <a:r>
              <a:rPr lang="en-US" sz="2400" dirty="0" err="1" smtClean="0"/>
              <a:t>basiconic</a:t>
            </a:r>
            <a:r>
              <a:rPr lang="en-US" sz="2400" dirty="0" smtClean="0"/>
              <a:t> </a:t>
            </a:r>
            <a:r>
              <a:rPr lang="en-US" sz="2400" dirty="0" err="1" smtClean="0"/>
              <a:t>sensilla</a:t>
            </a:r>
            <a:r>
              <a:rPr lang="en-US" sz="2400" dirty="0" smtClean="0"/>
              <a:t> of the antenna are are olfactory sense organs</a:t>
            </a:r>
          </a:p>
          <a:p>
            <a:pPr lvl="1">
              <a:buFont typeface="Wingdings" charset="2"/>
              <a:buNone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What is an (OBO-foundry) ontology ?</a:t>
            </a:r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>
          <a:xfrm>
            <a:off x="473075" y="1422400"/>
            <a:ext cx="4670425" cy="50419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An ontology contains </a:t>
            </a:r>
            <a:r>
              <a:rPr lang="en-US" b="1" dirty="0" smtClean="0"/>
              <a:t>terms</a:t>
            </a:r>
          </a:p>
          <a:p>
            <a:r>
              <a:rPr lang="en-US" dirty="0" smtClean="0"/>
              <a:t>Terms refer to (denote) </a:t>
            </a:r>
            <a:r>
              <a:rPr lang="en-US" b="1" dirty="0" smtClean="0"/>
              <a:t>types </a:t>
            </a:r>
            <a:r>
              <a:rPr lang="en-US" dirty="0" smtClean="0"/>
              <a:t>(classes)</a:t>
            </a:r>
          </a:p>
          <a:p>
            <a:pPr>
              <a:lnSpc>
                <a:spcPct val="80000"/>
              </a:lnSpc>
            </a:pPr>
            <a:r>
              <a:rPr lang="en-GB" sz="1800" b="1" dirty="0" smtClean="0"/>
              <a:t>Types </a:t>
            </a:r>
            <a:r>
              <a:rPr lang="en-GB" sz="1800" dirty="0" smtClean="0"/>
              <a:t>are classifications of things (</a:t>
            </a:r>
            <a:r>
              <a:rPr lang="en-GB" sz="1800" u="sng" dirty="0" smtClean="0"/>
              <a:t>instances</a:t>
            </a:r>
            <a:r>
              <a:rPr lang="en-GB" sz="1800" dirty="0" smtClean="0"/>
              <a:t>) in the real world, based on some set of criteria.</a:t>
            </a:r>
          </a:p>
          <a:p>
            <a:pPr lvl="1">
              <a:lnSpc>
                <a:spcPct val="80000"/>
              </a:lnSpc>
            </a:pPr>
            <a:r>
              <a:rPr lang="en-GB" sz="1600" dirty="0" smtClean="0"/>
              <a:t>My left hand is an </a:t>
            </a:r>
            <a:r>
              <a:rPr lang="en-GB" sz="1600" u="sng" dirty="0" smtClean="0"/>
              <a:t>instance</a:t>
            </a:r>
            <a:r>
              <a:rPr lang="en-GB" sz="1600" dirty="0" smtClean="0"/>
              <a:t> of the type hand</a:t>
            </a:r>
            <a:endParaRPr lang="en-US" dirty="0" smtClean="0"/>
          </a:p>
          <a:p>
            <a:pPr>
              <a:lnSpc>
                <a:spcPct val="80000"/>
              </a:lnSpc>
            </a:pPr>
            <a:r>
              <a:rPr lang="en-GB" sz="1800" dirty="0" smtClean="0"/>
              <a:t>The criteria for class membership is recorded using </a:t>
            </a:r>
            <a:r>
              <a:rPr lang="en-GB" sz="1800" b="1" dirty="0" smtClean="0"/>
              <a:t>textual definitions</a:t>
            </a:r>
            <a:r>
              <a:rPr lang="en-GB" sz="1800" dirty="0" smtClean="0"/>
              <a:t>, at least some elements of which are </a:t>
            </a:r>
            <a:r>
              <a:rPr lang="en-GB" sz="1800" b="1" dirty="0" smtClean="0"/>
              <a:t>formalized </a:t>
            </a:r>
            <a:r>
              <a:rPr lang="en-GB" sz="1800" dirty="0" smtClean="0"/>
              <a:t>as relationships.</a:t>
            </a:r>
          </a:p>
          <a:p>
            <a:pPr lvl="1">
              <a:lnSpc>
                <a:spcPct val="80000"/>
              </a:lnSpc>
            </a:pPr>
            <a:r>
              <a:rPr lang="en-US" sz="1600" b="1" dirty="0" smtClean="0"/>
              <a:t>name</a:t>
            </a:r>
            <a:r>
              <a:rPr lang="en-US" sz="1600" dirty="0" smtClean="0"/>
              <a:t>: hand</a:t>
            </a:r>
          </a:p>
          <a:p>
            <a:pPr lvl="1">
              <a:lnSpc>
                <a:spcPct val="80000"/>
              </a:lnSpc>
            </a:pPr>
            <a:r>
              <a:rPr lang="en-US" sz="1600" b="1" dirty="0" smtClean="0"/>
              <a:t>def</a:t>
            </a:r>
            <a:r>
              <a:rPr lang="en-US" sz="1600" dirty="0" smtClean="0"/>
              <a:t>: “An </a:t>
            </a:r>
            <a:r>
              <a:rPr lang="en-GB" sz="1600" dirty="0" smtClean="0"/>
              <a:t>anatomical structure that has four fingers and a thumb and is attached to the end of an arm.” [reference: DOS]</a:t>
            </a:r>
          </a:p>
          <a:p>
            <a:pPr lvl="1">
              <a:lnSpc>
                <a:spcPct val="80000"/>
              </a:lnSpc>
            </a:pPr>
            <a:r>
              <a:rPr lang="en-GB" sz="1600" b="1" dirty="0" smtClean="0"/>
              <a:t>relationship</a:t>
            </a:r>
            <a:r>
              <a:rPr lang="en-GB" sz="1600" dirty="0" smtClean="0"/>
              <a:t>: hand </a:t>
            </a:r>
            <a:r>
              <a:rPr lang="en-GB" sz="1600" dirty="0" err="1" smtClean="0"/>
              <a:t>has_part</a:t>
            </a:r>
            <a:r>
              <a:rPr lang="en-GB" sz="1600" dirty="0" smtClean="0"/>
              <a:t> finger</a:t>
            </a:r>
          </a:p>
          <a:p>
            <a:pPr lvl="1">
              <a:lnSpc>
                <a:spcPct val="80000"/>
              </a:lnSpc>
            </a:pPr>
            <a:r>
              <a:rPr lang="en-GB" sz="1600" b="1" dirty="0" smtClean="0"/>
              <a:t>relationship</a:t>
            </a:r>
            <a:r>
              <a:rPr lang="en-GB" sz="1600" dirty="0" smtClean="0"/>
              <a:t>: hand </a:t>
            </a:r>
            <a:r>
              <a:rPr lang="en-GB" sz="1600" dirty="0" err="1" smtClean="0"/>
              <a:t>has_part</a:t>
            </a:r>
            <a:r>
              <a:rPr lang="en-GB" sz="1600" dirty="0" smtClean="0"/>
              <a:t> thumb</a:t>
            </a:r>
          </a:p>
          <a:p>
            <a:pPr lvl="1">
              <a:lnSpc>
                <a:spcPct val="80000"/>
              </a:lnSpc>
            </a:pPr>
            <a:r>
              <a:rPr lang="en-GB" sz="1600" b="1" dirty="0" smtClean="0"/>
              <a:t>relationship</a:t>
            </a:r>
            <a:r>
              <a:rPr lang="en-GB" sz="1600" dirty="0" smtClean="0"/>
              <a:t>: </a:t>
            </a:r>
            <a:r>
              <a:rPr lang="en-GB" sz="1600" dirty="0" err="1" smtClean="0"/>
              <a:t>part_of</a:t>
            </a:r>
            <a:r>
              <a:rPr lang="en-GB" sz="1600" dirty="0" smtClean="0"/>
              <a:t> arm</a:t>
            </a:r>
          </a:p>
          <a:p>
            <a:endParaRPr lang="en-US" dirty="0" smtClean="0"/>
          </a:p>
          <a:p>
            <a:pPr lvl="2"/>
            <a:endParaRPr lang="en-US" dirty="0" smtClean="0"/>
          </a:p>
          <a:p>
            <a:pPr lvl="1">
              <a:buFont typeface="Wingdings" charset="2"/>
              <a:buNone/>
            </a:pPr>
            <a:endParaRPr lang="en-US" dirty="0" smtClean="0"/>
          </a:p>
        </p:txBody>
      </p:sp>
      <p:pic>
        <p:nvPicPr>
          <p:cNvPr id="31748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75300" y="1574800"/>
            <a:ext cx="3294063" cy="494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749" name="TextBox 4"/>
          <p:cNvSpPr txBox="1">
            <a:spLocks noChangeArrowheads="1"/>
          </p:cNvSpPr>
          <p:nvPr/>
        </p:nvSpPr>
        <p:spPr bwMode="auto">
          <a:xfrm>
            <a:off x="5943600" y="6451600"/>
            <a:ext cx="3378200" cy="24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1000">
                <a:latin typeface="Calibri" charset="0"/>
              </a:rPr>
              <a:t>Image from Gray’s Anatomy (copyright expired)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OBO-OWL cheat sheet:  classification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981200"/>
            <a:ext cx="3713653" cy="4144963"/>
          </a:xfrm>
        </p:spPr>
        <p:txBody>
          <a:bodyPr/>
          <a:lstStyle/>
          <a:p>
            <a:r>
              <a:rPr lang="en-US" sz="2400" dirty="0" smtClean="0"/>
              <a:t>OWL </a:t>
            </a:r>
            <a:r>
              <a:rPr lang="en-US" dirty="0" smtClean="0"/>
              <a:t>Manchester Syntax </a:t>
            </a:r>
          </a:p>
          <a:p>
            <a:pPr lvl="1"/>
            <a:r>
              <a:rPr lang="en-US" dirty="0" smtClean="0"/>
              <a:t>antenna </a:t>
            </a:r>
            <a:r>
              <a:rPr lang="en-US" dirty="0" smtClean="0">
                <a:solidFill>
                  <a:srgbClr val="3366FF"/>
                </a:solidFill>
              </a:rPr>
              <a:t>SubClassOf </a:t>
            </a:r>
            <a:r>
              <a:rPr lang="en-US" dirty="0" smtClean="0"/>
              <a:t>appendage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>
              <a:buNone/>
            </a:pPr>
            <a:endParaRPr lang="en-US" dirty="0" smtClean="0"/>
          </a:p>
          <a:p>
            <a:r>
              <a:rPr lang="en-US" sz="2400" dirty="0" smtClean="0"/>
              <a:t>OBO format :</a:t>
            </a:r>
          </a:p>
          <a:p>
            <a:pPr lvl="1"/>
            <a:r>
              <a:rPr lang="en-US" dirty="0" smtClean="0"/>
              <a:t>name: antenna</a:t>
            </a:r>
          </a:p>
          <a:p>
            <a:pPr lvl="1"/>
            <a:r>
              <a:rPr lang="en-US" dirty="0" err="1" smtClean="0"/>
              <a:t>is_a</a:t>
            </a:r>
            <a:r>
              <a:rPr lang="en-US" dirty="0" smtClean="0"/>
              <a:t>: appendage 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6172" y="3429000"/>
            <a:ext cx="1749546" cy="64007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876485"/>
            <a:ext cx="2362200" cy="609600"/>
          </a:xfrm>
          <a:prstGeom prst="rect">
            <a:avLst/>
          </a:prstGeom>
        </p:spPr>
      </p:pic>
      <p:sp>
        <p:nvSpPr>
          <p:cNvPr id="8" name="Content Placeholder 2"/>
          <p:cNvSpPr txBox="1">
            <a:spLocks/>
          </p:cNvSpPr>
          <p:nvPr/>
        </p:nvSpPr>
        <p:spPr>
          <a:xfrm>
            <a:off x="4356622" y="1981200"/>
            <a:ext cx="3713653" cy="4144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indent="-228600" defTabSz="914400">
              <a:spcBef>
                <a:spcPts val="2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</a:pPr>
            <a:r>
              <a:rPr 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Protégé 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tabLst/>
              <a:defRPr/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tabLst/>
              <a:defRPr/>
            </a:pPr>
            <a:endParaRPr lang="en-US" sz="200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tabLst/>
              <a:defRPr/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OBO</a:t>
            </a:r>
            <a:r>
              <a:rPr 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-Edit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tabLst/>
              <a:defRPr/>
            </a:pPr>
            <a:endParaRPr lang="en-US" sz="200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tabLst/>
              <a:defRPr/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ct val="75000"/>
              <a:tabLst/>
              <a:defRPr/>
            </a:pPr>
            <a:endParaRPr kumimoji="0" lang="en-US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tabLst/>
              <a:defRPr/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tabLst/>
              <a:defRPr/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927" y="5700713"/>
            <a:ext cx="6756400" cy="8509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7800" y="2447350"/>
            <a:ext cx="1428372" cy="87785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5" y="484094"/>
            <a:ext cx="6827568" cy="1116106"/>
          </a:xfrm>
        </p:spPr>
        <p:txBody>
          <a:bodyPr wrap="none">
            <a:noAutofit/>
          </a:bodyPr>
          <a:lstStyle/>
          <a:p>
            <a:r>
              <a:rPr lang="en-US" b="1" dirty="0" smtClean="0"/>
              <a:t>class – class relationships are </a:t>
            </a:r>
            <a:br>
              <a:rPr lang="en-US" b="1" dirty="0" smtClean="0"/>
            </a:br>
            <a:r>
              <a:rPr lang="en-US" b="1" dirty="0" smtClean="0"/>
              <a:t>quantified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err="1" smtClean="0"/>
              <a:t>Class:Class</a:t>
            </a:r>
            <a:r>
              <a:rPr lang="en-US" sz="2400" dirty="0" smtClean="0"/>
              <a:t> relationships are many to many</a:t>
            </a:r>
          </a:p>
          <a:p>
            <a:pPr lvl="1"/>
            <a:r>
              <a:rPr lang="en-US" sz="2400" dirty="0" smtClean="0"/>
              <a:t>Does the relation apply to all or just some of the class ?</a:t>
            </a:r>
          </a:p>
          <a:p>
            <a:pPr lvl="2"/>
            <a:r>
              <a:rPr lang="en-US" sz="2400" dirty="0" smtClean="0"/>
              <a:t>we specify this with quantifiers:</a:t>
            </a:r>
          </a:p>
          <a:p>
            <a:pPr lvl="3"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sz="2400" dirty="0" smtClean="0">
                <a:solidFill>
                  <a:schemeClr val="tx1"/>
                </a:solidFill>
              </a:rPr>
              <a:t>∀: for </a:t>
            </a:r>
            <a:r>
              <a:rPr lang="en-US" sz="2400" dirty="0" smtClean="0">
                <a:solidFill>
                  <a:schemeClr val="tx1"/>
                </a:solidFill>
                <a:cs typeface="ＭＳ Ｐゴシック" charset="-128"/>
              </a:rPr>
              <a:t>all</a:t>
            </a:r>
            <a:r>
              <a:rPr lang="en-US" sz="2400" dirty="0" smtClean="0">
                <a:solidFill>
                  <a:schemeClr val="accent2">
                    <a:lumMod val="75000"/>
                    <a:lumOff val="25000"/>
                  </a:schemeClr>
                </a:solidFill>
                <a:cs typeface="ＭＳ Ｐゴシック" charset="-128"/>
              </a:rPr>
              <a:t>, </a:t>
            </a:r>
            <a:r>
              <a:rPr lang="en-US" sz="2400" i="1" dirty="0" smtClean="0">
                <a:solidFill>
                  <a:schemeClr val="accent2">
                    <a:lumMod val="75000"/>
                    <a:lumOff val="25000"/>
                  </a:schemeClr>
                </a:solidFill>
                <a:cs typeface="ＭＳ Ｐゴシック" charset="-128"/>
              </a:rPr>
              <a:t>all, only, every</a:t>
            </a:r>
          </a:p>
          <a:p>
            <a:pPr lvl="3"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sz="2400" dirty="0" smtClean="0">
                <a:solidFill>
                  <a:srgbClr val="000000"/>
                </a:solidFill>
              </a:rPr>
              <a:t>∃: there exists</a:t>
            </a:r>
            <a:r>
              <a:rPr lang="en-US" sz="2400" dirty="0" smtClean="0"/>
              <a:t>, </a:t>
            </a:r>
            <a:r>
              <a:rPr lang="en-US" sz="2400" i="1" dirty="0" smtClean="0">
                <a:solidFill>
                  <a:schemeClr val="accent2">
                    <a:lumMod val="75000"/>
                    <a:lumOff val="25000"/>
                  </a:schemeClr>
                </a:solidFill>
              </a:rPr>
              <a:t>some</a:t>
            </a:r>
            <a:endParaRPr lang="en-US" sz="2400" dirty="0" smtClean="0">
              <a:solidFill>
                <a:schemeClr val="accent2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relationships specify necessary conditions for class membership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981200"/>
            <a:ext cx="4073526" cy="4144963"/>
          </a:xfrm>
        </p:spPr>
        <p:txBody>
          <a:bodyPr>
            <a:normAutofit/>
          </a:bodyPr>
          <a:lstStyle/>
          <a:p>
            <a:r>
              <a:rPr lang="en-US" sz="2162" dirty="0" smtClean="0"/>
              <a:t>Being part of an insect thorax is a necessary condition of being in the class ‘insect leg’</a:t>
            </a:r>
          </a:p>
          <a:p>
            <a:pPr lvl="1"/>
            <a:r>
              <a:rPr lang="en-US" sz="1946" dirty="0" smtClean="0"/>
              <a:t>OBO (</a:t>
            </a:r>
            <a:r>
              <a:rPr lang="en-US" sz="1946" b="1" dirty="0" smtClean="0">
                <a:solidFill>
                  <a:srgbClr val="FF0000"/>
                </a:solidFill>
              </a:rPr>
              <a:t>quantifiers hidden</a:t>
            </a:r>
            <a:r>
              <a:rPr lang="en-US" sz="1946" dirty="0" smtClean="0"/>
              <a:t>)</a:t>
            </a:r>
          </a:p>
          <a:p>
            <a:pPr lvl="2"/>
            <a:r>
              <a:rPr lang="en-US" sz="1946" b="1" dirty="0" smtClean="0"/>
              <a:t>name</a:t>
            </a:r>
            <a:r>
              <a:rPr lang="en-US" sz="1946" dirty="0" smtClean="0"/>
              <a:t>: insect leg</a:t>
            </a:r>
          </a:p>
          <a:p>
            <a:pPr lvl="2"/>
            <a:r>
              <a:rPr lang="en-US" sz="1946" b="1" dirty="0" smtClean="0"/>
              <a:t>relationship</a:t>
            </a:r>
            <a:r>
              <a:rPr lang="en-US" sz="1946" dirty="0" smtClean="0"/>
              <a:t>: </a:t>
            </a:r>
            <a:r>
              <a:rPr lang="en-US" sz="1946" b="1" dirty="0" err="1" smtClean="0"/>
              <a:t>part_of</a:t>
            </a:r>
            <a:r>
              <a:rPr lang="en-US" sz="1946" b="1" dirty="0" smtClean="0"/>
              <a:t> </a:t>
            </a:r>
            <a:r>
              <a:rPr lang="en-US" sz="1946" dirty="0" smtClean="0"/>
              <a:t>thorax</a:t>
            </a:r>
          </a:p>
          <a:p>
            <a:pPr lvl="1"/>
            <a:r>
              <a:rPr lang="en-US" sz="1946" dirty="0" smtClean="0"/>
              <a:t>OWL (MS):</a:t>
            </a:r>
          </a:p>
          <a:p>
            <a:pPr lvl="2"/>
            <a:r>
              <a:rPr lang="en-US" sz="1946" dirty="0" smtClean="0"/>
              <a:t>‘insect wing’ </a:t>
            </a:r>
            <a:r>
              <a:rPr lang="en-US" sz="1946" i="1" dirty="0" err="1" smtClean="0">
                <a:solidFill>
                  <a:srgbClr val="3366FF"/>
                </a:solidFill>
              </a:rPr>
              <a:t>SubClassOf</a:t>
            </a:r>
            <a:r>
              <a:rPr lang="en-US" sz="1946" i="1" dirty="0" smtClean="0">
                <a:solidFill>
                  <a:srgbClr val="3366FF"/>
                </a:solidFill>
              </a:rPr>
              <a:t> </a:t>
            </a:r>
            <a:r>
              <a:rPr lang="en-US" sz="1946" b="1" dirty="0" err="1" smtClean="0"/>
              <a:t>part_of</a:t>
            </a:r>
            <a:r>
              <a:rPr lang="en-US" sz="1946" dirty="0" smtClean="0"/>
              <a:t> </a:t>
            </a:r>
            <a:r>
              <a:rPr lang="en-US" sz="1946" i="1" dirty="0" smtClean="0">
                <a:solidFill>
                  <a:schemeClr val="accent2">
                    <a:lumMod val="75000"/>
                    <a:lumOff val="25000"/>
                  </a:schemeClr>
                </a:solidFill>
              </a:rPr>
              <a:t>some </a:t>
            </a:r>
            <a:r>
              <a:rPr lang="en-US" sz="1946" dirty="0" smtClean="0"/>
              <a:t>thorax</a:t>
            </a:r>
          </a:p>
          <a:p>
            <a:pPr lvl="1">
              <a:buNone/>
            </a:pP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462" y="2478329"/>
            <a:ext cx="3902538" cy="293510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relationships specify necessary conditions for class membership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981200"/>
            <a:ext cx="4073526" cy="4144963"/>
          </a:xfrm>
        </p:spPr>
        <p:txBody>
          <a:bodyPr>
            <a:normAutofit/>
          </a:bodyPr>
          <a:lstStyle/>
          <a:p>
            <a:r>
              <a:rPr lang="en-US" sz="2162" dirty="0" smtClean="0"/>
              <a:t>Being part of an insect thorax is a necessary condition of being in the class ‘insect leg’</a:t>
            </a:r>
          </a:p>
          <a:p>
            <a:pPr lvl="1"/>
            <a:r>
              <a:rPr lang="en-US" sz="1946" dirty="0" smtClean="0"/>
              <a:t>OWL (MS):</a:t>
            </a:r>
          </a:p>
          <a:p>
            <a:pPr lvl="2"/>
            <a:r>
              <a:rPr lang="en-US" sz="1946" dirty="0" smtClean="0"/>
              <a:t>‘insect wing’ </a:t>
            </a:r>
            <a:r>
              <a:rPr lang="en-US" sz="1946" i="1" dirty="0" err="1" smtClean="0">
                <a:solidFill>
                  <a:srgbClr val="3366FF"/>
                </a:solidFill>
              </a:rPr>
              <a:t>SubClassOf</a:t>
            </a:r>
            <a:r>
              <a:rPr lang="en-US" sz="1946" i="1" dirty="0" smtClean="0">
                <a:solidFill>
                  <a:srgbClr val="3366FF"/>
                </a:solidFill>
              </a:rPr>
              <a:t> </a:t>
            </a:r>
            <a:r>
              <a:rPr lang="en-US" sz="1946" b="1" dirty="0" err="1" smtClean="0"/>
              <a:t>part_of</a:t>
            </a:r>
            <a:r>
              <a:rPr lang="en-US" sz="1946" dirty="0" smtClean="0"/>
              <a:t> </a:t>
            </a:r>
            <a:r>
              <a:rPr lang="en-US" sz="1946" i="1" dirty="0" smtClean="0">
                <a:solidFill>
                  <a:schemeClr val="accent2">
                    <a:lumMod val="75000"/>
                    <a:lumOff val="25000"/>
                  </a:schemeClr>
                </a:solidFill>
              </a:rPr>
              <a:t>some </a:t>
            </a:r>
            <a:r>
              <a:rPr lang="en-US" sz="1946" dirty="0" smtClean="0"/>
              <a:t>thorax</a:t>
            </a:r>
          </a:p>
          <a:p>
            <a:pPr lvl="2">
              <a:buNone/>
            </a:pPr>
            <a:endParaRPr lang="en-US" sz="1946" dirty="0" smtClean="0"/>
          </a:p>
          <a:p>
            <a:pPr lvl="2"/>
            <a:r>
              <a:rPr lang="en-US" sz="1946" dirty="0" smtClean="0"/>
              <a:t>the class of insect wings is a </a:t>
            </a:r>
            <a:r>
              <a:rPr lang="en-US" sz="1946" i="1" dirty="0" smtClean="0"/>
              <a:t>subclass </a:t>
            </a:r>
            <a:r>
              <a:rPr lang="en-US" sz="1946" dirty="0" smtClean="0"/>
              <a:t>of all the class of all things that are part of a thorax. </a:t>
            </a:r>
          </a:p>
          <a:p>
            <a:pPr lvl="2"/>
            <a:endParaRPr lang="en-US" sz="1946" dirty="0" smtClean="0"/>
          </a:p>
          <a:p>
            <a:pPr lvl="2"/>
            <a:endParaRPr lang="en-US" sz="1946" dirty="0" smtClean="0"/>
          </a:p>
          <a:p>
            <a:pPr lvl="1">
              <a:buNone/>
            </a:pP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462" y="2478329"/>
            <a:ext cx="3902538" cy="2935102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2656539" y="3822598"/>
            <a:ext cx="1632799" cy="298033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OBO-OWL cheat sheet:</a:t>
            </a:r>
            <a:br>
              <a:rPr lang="en-US" dirty="0" smtClean="0"/>
            </a:br>
            <a:r>
              <a:rPr lang="en-US" dirty="0" smtClean="0"/>
              <a:t> </a:t>
            </a:r>
            <a:r>
              <a:rPr lang="en-US" sz="2400" dirty="0" smtClean="0"/>
              <a:t>necessary conditions for class membership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981200"/>
            <a:ext cx="3713653" cy="4144963"/>
          </a:xfrm>
        </p:spPr>
        <p:txBody>
          <a:bodyPr/>
          <a:lstStyle/>
          <a:p>
            <a:r>
              <a:rPr lang="en-US" sz="2400" dirty="0" smtClean="0"/>
              <a:t>OWL </a:t>
            </a:r>
            <a:r>
              <a:rPr lang="en-US" dirty="0" smtClean="0"/>
              <a:t>Manchester Syntax </a:t>
            </a:r>
          </a:p>
          <a:p>
            <a:pPr lvl="1"/>
            <a:r>
              <a:rPr lang="en-US" dirty="0" smtClean="0"/>
              <a:t>antenna </a:t>
            </a:r>
            <a:r>
              <a:rPr lang="en-US" dirty="0" smtClean="0">
                <a:solidFill>
                  <a:srgbClr val="3366FF"/>
                </a:solidFill>
              </a:rPr>
              <a:t>SubClassOf </a:t>
            </a:r>
            <a:r>
              <a:rPr lang="en-US" b="1" dirty="0" smtClean="0"/>
              <a:t>part_of</a:t>
            </a:r>
            <a:r>
              <a:rPr lang="en-US" dirty="0" smtClean="0"/>
              <a:t> </a:t>
            </a:r>
            <a:r>
              <a:rPr lang="en-US" dirty="0" smtClean="0">
                <a:solidFill>
                  <a:schemeClr val="accent2">
                    <a:lumMod val="50000"/>
                    <a:lumOff val="50000"/>
                  </a:schemeClr>
                </a:solidFill>
              </a:rPr>
              <a:t>some </a:t>
            </a:r>
            <a:r>
              <a:rPr lang="en-US" dirty="0" smtClean="0"/>
              <a:t>head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>
              <a:buNone/>
            </a:pPr>
            <a:endParaRPr lang="en-US" dirty="0" smtClean="0"/>
          </a:p>
          <a:p>
            <a:r>
              <a:rPr lang="en-US" sz="2400" dirty="0" smtClean="0"/>
              <a:t>OBO format :</a:t>
            </a:r>
          </a:p>
          <a:p>
            <a:pPr lvl="1"/>
            <a:r>
              <a:rPr lang="en-US" b="1" dirty="0" smtClean="0"/>
              <a:t>name</a:t>
            </a:r>
            <a:r>
              <a:rPr lang="en-US" dirty="0" smtClean="0"/>
              <a:t>: antenna</a:t>
            </a:r>
          </a:p>
          <a:p>
            <a:pPr lvl="1"/>
            <a:r>
              <a:rPr lang="en-US" b="1" dirty="0" smtClean="0"/>
              <a:t>relationship</a:t>
            </a:r>
            <a:r>
              <a:rPr lang="en-US" dirty="0" smtClean="0"/>
              <a:t>:  </a:t>
            </a:r>
            <a:r>
              <a:rPr lang="en-US" dirty="0" err="1" smtClean="0"/>
              <a:t>part_of</a:t>
            </a:r>
            <a:r>
              <a:rPr lang="en-US" dirty="0" smtClean="0"/>
              <a:t> head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4356622" y="1981200"/>
            <a:ext cx="3713653" cy="4144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indent="-228600" defTabSz="914400">
              <a:spcBef>
                <a:spcPts val="2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</a:pPr>
            <a:r>
              <a:rPr 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Protégé 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tabLst/>
              <a:defRPr/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tabLst/>
              <a:defRPr/>
            </a:pPr>
            <a:endParaRPr lang="en-US" sz="200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tabLst/>
              <a:defRPr/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OBO</a:t>
            </a:r>
            <a:r>
              <a:rPr 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-Edit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tabLst/>
              <a:defRPr/>
            </a:pPr>
            <a:endParaRPr lang="en-US" sz="200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tabLst/>
              <a:defRPr/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ct val="75000"/>
              <a:tabLst/>
              <a:defRPr/>
            </a:pPr>
            <a:endParaRPr kumimoji="0" lang="en-US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tabLst/>
              <a:defRPr/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tabLst/>
              <a:defRPr/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6472" y="4863720"/>
            <a:ext cx="2260600" cy="5715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6126163"/>
            <a:ext cx="7747000" cy="3683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6172" y="3371850"/>
            <a:ext cx="2082800" cy="9144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4138" y="2507410"/>
            <a:ext cx="1406546" cy="8644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Directionality and quantifiers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5" y="1981200"/>
            <a:ext cx="4073526" cy="4144963"/>
          </a:xfrm>
        </p:spPr>
        <p:txBody>
          <a:bodyPr>
            <a:normAutofit/>
          </a:bodyPr>
          <a:lstStyle/>
          <a:p>
            <a:r>
              <a:rPr lang="en-US" dirty="0" smtClean="0"/>
              <a:t>True: all ‘insect wing’ </a:t>
            </a:r>
            <a:r>
              <a:rPr lang="en-US" b="1" dirty="0" err="1" smtClean="0"/>
              <a:t>part_of</a:t>
            </a:r>
            <a:r>
              <a:rPr lang="en-US" dirty="0" smtClean="0"/>
              <a:t> </a:t>
            </a:r>
            <a:r>
              <a:rPr lang="en-US" i="1" dirty="0" smtClean="0">
                <a:solidFill>
                  <a:schemeClr val="accent1"/>
                </a:solidFill>
              </a:rPr>
              <a:t>some </a:t>
            </a:r>
            <a:r>
              <a:rPr lang="en-US" dirty="0" smtClean="0"/>
              <a:t>‘insect thorax’</a:t>
            </a:r>
          </a:p>
          <a:p>
            <a:r>
              <a:rPr lang="en-US" dirty="0" smtClean="0"/>
              <a:t>False: all ‘insect thorax’ </a:t>
            </a:r>
            <a:r>
              <a:rPr lang="en-US" b="1" dirty="0" err="1" smtClean="0"/>
              <a:t>has_part</a:t>
            </a:r>
            <a:r>
              <a:rPr lang="en-US" dirty="0" smtClean="0"/>
              <a:t> </a:t>
            </a:r>
            <a:r>
              <a:rPr lang="en-US" i="1" dirty="0" smtClean="0">
                <a:solidFill>
                  <a:srgbClr val="663366"/>
                </a:solidFill>
              </a:rPr>
              <a:t>some </a:t>
            </a:r>
            <a:r>
              <a:rPr lang="en-US" dirty="0" smtClean="0"/>
              <a:t>‘insect wing’</a:t>
            </a:r>
          </a:p>
          <a:p>
            <a:endParaRPr lang="en-US" dirty="0" smtClean="0"/>
          </a:p>
          <a:p>
            <a:r>
              <a:rPr lang="en-US" dirty="0" smtClean="0"/>
              <a:t>True: all ‘claw’ </a:t>
            </a:r>
            <a:r>
              <a:rPr lang="en-US" b="1" dirty="0" err="1" smtClean="0"/>
              <a:t>connected_to</a:t>
            </a:r>
            <a:r>
              <a:rPr lang="en-US" dirty="0" smtClean="0"/>
              <a:t> </a:t>
            </a:r>
            <a:r>
              <a:rPr lang="en-US" i="1" dirty="0" smtClean="0">
                <a:solidFill>
                  <a:srgbClr val="663366"/>
                </a:solidFill>
              </a:rPr>
              <a:t>some ‘</a:t>
            </a:r>
            <a:r>
              <a:rPr lang="en-US" dirty="0" smtClean="0"/>
              <a:t>tarsal segment’</a:t>
            </a:r>
          </a:p>
          <a:p>
            <a:r>
              <a:rPr lang="en-US" dirty="0" smtClean="0"/>
              <a:t>False: all ‘tarsal segment’ </a:t>
            </a:r>
            <a:r>
              <a:rPr lang="en-US" b="1" dirty="0" err="1" smtClean="0"/>
              <a:t>connected_to</a:t>
            </a:r>
            <a:r>
              <a:rPr lang="en-US" dirty="0" smtClean="0"/>
              <a:t> </a:t>
            </a:r>
            <a:r>
              <a:rPr lang="en-US" i="1" dirty="0" smtClean="0">
                <a:solidFill>
                  <a:schemeClr val="accent1"/>
                </a:solidFill>
              </a:rPr>
              <a:t>some </a:t>
            </a:r>
            <a:r>
              <a:rPr lang="en-US" dirty="0" smtClean="0"/>
              <a:t>claw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478329"/>
            <a:ext cx="3902538" cy="293510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92" y="1989452"/>
            <a:ext cx="7052256" cy="3324090"/>
          </a:xfrm>
          <a:prstGeom prst="rect">
            <a:avLst/>
          </a:prstGeom>
        </p:spPr>
      </p:pic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544513" y="120701"/>
            <a:ext cx="8398143" cy="6671483"/>
            <a:chOff x="2273558" y="20665754"/>
            <a:chExt cx="11223161" cy="7645355"/>
          </a:xfrm>
        </p:grpSpPr>
        <p:sp>
          <p:nvSpPr>
            <p:cNvPr id="69637" name="TextBox 6"/>
            <p:cNvSpPr txBox="1">
              <a:spLocks noChangeArrowheads="1"/>
            </p:cNvSpPr>
            <p:nvPr/>
          </p:nvSpPr>
          <p:spPr bwMode="auto">
            <a:xfrm>
              <a:off x="7644329" y="25383663"/>
              <a:ext cx="5852390" cy="29274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>
                <a:buClr>
                  <a:schemeClr val="accent1"/>
                </a:buClr>
                <a:buFont typeface="Arial"/>
                <a:buChar char="•"/>
                <a:defRPr/>
              </a:pPr>
              <a:r>
                <a:rPr lang="en-US" sz="2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</a:rPr>
                <a:t> It is difficult to keep track of </a:t>
              </a:r>
              <a:r>
                <a:rPr lang="en-US" sz="20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</a:rPr>
                <a:t>multiple classification </a:t>
              </a:r>
              <a:r>
                <a:rPr lang="en-US" sz="2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</a:rPr>
                <a:t>chains to:</a:t>
              </a:r>
              <a:r>
                <a:rPr lang="en-US" sz="20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</a:rPr>
                <a:t> </a:t>
              </a:r>
            </a:p>
            <a:p>
              <a:pPr lvl="1">
                <a:buClr>
                  <a:schemeClr val="bg2"/>
                </a:buClr>
                <a:buFont typeface="Arial"/>
                <a:buChar char="•"/>
                <a:defRPr/>
              </a:pPr>
              <a:r>
                <a:rPr 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</a:rPr>
                <a:t> </a:t>
              </a:r>
              <a:r>
                <a:rPr lang="en-US" sz="2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</a:rPr>
                <a:t>ensure completeness;</a:t>
              </a:r>
            </a:p>
            <a:p>
              <a:pPr lvl="1">
                <a:buClr>
                  <a:schemeClr val="bg2"/>
                </a:buClr>
                <a:buFont typeface="Arial"/>
                <a:buChar char="•"/>
                <a:defRPr/>
              </a:pPr>
              <a:r>
                <a:rPr lang="en-US" sz="2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</a:rPr>
                <a:t> avoid redundancy;</a:t>
              </a:r>
            </a:p>
            <a:p>
              <a:pPr lvl="1">
                <a:buClr>
                  <a:schemeClr val="bg2"/>
                </a:buClr>
                <a:buFont typeface="Arial"/>
                <a:buChar char="•"/>
                <a:defRPr/>
              </a:pPr>
              <a:r>
                <a:rPr lang="en-US" sz="2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</a:rPr>
                <a:t> avoid introducing error </a:t>
              </a:r>
              <a:r>
                <a:rPr 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</a:rPr>
                <a:t>due to inheritance of classification criteria from a distant ancestor </a:t>
              </a:r>
            </a:p>
            <a:p>
              <a:pPr>
                <a:defRPr/>
              </a:pPr>
              <a:endPara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endParaRPr>
            </a:p>
          </p:txBody>
        </p:sp>
        <p:sp>
          <p:nvSpPr>
            <p:cNvPr id="69638" name="TextBox 7"/>
            <p:cNvSpPr txBox="1">
              <a:spLocks noChangeArrowheads="1"/>
            </p:cNvSpPr>
            <p:nvPr/>
          </p:nvSpPr>
          <p:spPr bwMode="auto">
            <a:xfrm>
              <a:off x="2273558" y="20665754"/>
              <a:ext cx="9124623" cy="17987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>
                <a:defRPr/>
              </a:pPr>
              <a:r>
                <a:rPr lang="en-US" sz="3200" dirty="0" smtClean="0">
                  <a:solidFill>
                    <a:srgbClr val="75367A"/>
                  </a:solidFill>
                  <a:latin typeface="+mj-lt"/>
                </a:rPr>
                <a:t>Manually maintaining an ontology with multiple classification schemes is impractical </a:t>
              </a:r>
              <a:endParaRPr lang="en-US" sz="3200" dirty="0">
                <a:solidFill>
                  <a:srgbClr val="75367A"/>
                </a:solidFill>
                <a:latin typeface="+mj-lt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Automating multiple classification.</a:t>
            </a:r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The scientific knowledge an ontology contains can make the reasons for classification explicit.</a:t>
            </a:r>
          </a:p>
          <a:p>
            <a:pPr lvl="1"/>
            <a:r>
              <a:rPr lang="en-US" sz="2400" dirty="0" smtClean="0"/>
              <a:t>e.g.</a:t>
            </a:r>
          </a:p>
          <a:p>
            <a:pPr lvl="2"/>
            <a:r>
              <a:rPr lang="en-US" sz="2400" dirty="0" smtClean="0"/>
              <a:t>Any sense organ that functions in the detection of smell is an olfactory sense organ</a:t>
            </a:r>
          </a:p>
          <a:p>
            <a:pPr lvl="2"/>
            <a:r>
              <a:rPr lang="en-US" sz="2400" dirty="0" smtClean="0"/>
              <a:t>All large </a:t>
            </a:r>
            <a:r>
              <a:rPr lang="en-US" sz="2400" dirty="0" err="1" smtClean="0"/>
              <a:t>basiconic</a:t>
            </a:r>
            <a:r>
              <a:rPr lang="en-US" sz="2400" dirty="0" smtClean="0"/>
              <a:t> </a:t>
            </a:r>
            <a:r>
              <a:rPr lang="en-US" sz="2400" dirty="0" err="1" smtClean="0"/>
              <a:t>sensilla</a:t>
            </a:r>
            <a:r>
              <a:rPr lang="en-US" sz="2400" dirty="0" smtClean="0"/>
              <a:t> of the antenna function in detection of smell</a:t>
            </a:r>
          </a:p>
          <a:p>
            <a:pPr lvl="2"/>
            <a:r>
              <a:rPr lang="en-US" sz="2400" dirty="0" smtClean="0"/>
              <a:t>Therefore all large </a:t>
            </a:r>
            <a:r>
              <a:rPr lang="en-US" sz="2400" dirty="0" err="1" smtClean="0"/>
              <a:t>basiconic</a:t>
            </a:r>
            <a:r>
              <a:rPr lang="en-US" sz="2400" dirty="0" smtClean="0"/>
              <a:t> </a:t>
            </a:r>
            <a:r>
              <a:rPr lang="en-US" sz="2400" dirty="0" err="1" smtClean="0"/>
              <a:t>sensilla</a:t>
            </a:r>
            <a:r>
              <a:rPr lang="en-US" sz="2400" dirty="0" smtClean="0"/>
              <a:t> of the antenna are are olfactory sense organs</a:t>
            </a:r>
          </a:p>
          <a:p>
            <a:pPr lvl="1">
              <a:buFont typeface="Wingdings" charset="2"/>
              <a:buNone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Automating multiple classification.</a:t>
            </a:r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2400" dirty="0" smtClean="0"/>
              <a:t>We can specify that some set of necessary conditions for class membership are sufficient to determine class membership</a:t>
            </a:r>
          </a:p>
          <a:p>
            <a:pPr lvl="1"/>
            <a:r>
              <a:rPr lang="en-US" sz="2400" dirty="0" smtClean="0"/>
              <a:t>English</a:t>
            </a:r>
          </a:p>
          <a:p>
            <a:pPr lvl="2"/>
            <a:r>
              <a:rPr lang="en-US" sz="2400" dirty="0" smtClean="0"/>
              <a:t>Any sense organ that functions in the detection of smell is an olfactory sense organ</a:t>
            </a:r>
          </a:p>
          <a:p>
            <a:pPr lvl="1"/>
            <a:r>
              <a:rPr lang="en-US" sz="2400" dirty="0" smtClean="0"/>
              <a:t>OWL (MS):</a:t>
            </a:r>
          </a:p>
          <a:p>
            <a:pPr lvl="2"/>
            <a:r>
              <a:rPr lang="en-US" sz="2400" dirty="0" smtClean="0"/>
              <a:t>olfactory sense organ’ </a:t>
            </a:r>
            <a:r>
              <a:rPr lang="en-US" sz="2400" i="1" dirty="0" err="1" smtClean="0">
                <a:solidFill>
                  <a:srgbClr val="3366FF"/>
                </a:solidFill>
              </a:rPr>
              <a:t>EquivalentTo</a:t>
            </a:r>
            <a:r>
              <a:rPr lang="en-US" sz="2400" dirty="0" smtClean="0"/>
              <a:t>: sense organ </a:t>
            </a:r>
            <a:r>
              <a:rPr lang="en-US" sz="2400" i="1" dirty="0" smtClean="0">
                <a:solidFill>
                  <a:srgbClr val="3366FF"/>
                </a:solidFill>
              </a:rPr>
              <a:t>that </a:t>
            </a:r>
            <a:r>
              <a:rPr lang="en-US" sz="2400" b="1" dirty="0" err="1" smtClean="0"/>
              <a:t>capable_of</a:t>
            </a:r>
            <a:r>
              <a:rPr lang="en-US" sz="2400" dirty="0" smtClean="0"/>
              <a:t> </a:t>
            </a:r>
            <a:r>
              <a:rPr lang="en-US" sz="2400" i="1" dirty="0" smtClean="0">
                <a:solidFill>
                  <a:schemeClr val="accent2">
                    <a:lumMod val="50000"/>
                    <a:lumOff val="50000"/>
                  </a:schemeClr>
                </a:solidFill>
              </a:rPr>
              <a:t>some </a:t>
            </a:r>
            <a:r>
              <a:rPr lang="en-US" sz="2400" dirty="0" smtClean="0"/>
              <a:t>‘detection of chemical stimulus involved in sensory perception of smell’</a:t>
            </a:r>
          </a:p>
          <a:p>
            <a:pPr lvl="2"/>
            <a:r>
              <a:rPr lang="en-US" sz="2400" dirty="0" smtClean="0"/>
              <a:t>OBO</a:t>
            </a:r>
          </a:p>
          <a:p>
            <a:pPr lvl="3"/>
            <a:r>
              <a:rPr lang="en-US" sz="2400" b="1" dirty="0" smtClean="0"/>
              <a:t>name</a:t>
            </a:r>
            <a:r>
              <a:rPr lang="en-US" sz="2400" dirty="0" smtClean="0"/>
              <a:t>: olfactory sense organ</a:t>
            </a:r>
          </a:p>
          <a:p>
            <a:pPr lvl="3"/>
            <a:r>
              <a:rPr lang="en-US" sz="2400" b="1" dirty="0" err="1" smtClean="0"/>
              <a:t>intersection_of</a:t>
            </a:r>
            <a:r>
              <a:rPr lang="en-US" sz="2400" dirty="0" smtClean="0"/>
              <a:t>: sense organ</a:t>
            </a:r>
          </a:p>
          <a:p>
            <a:pPr lvl="3"/>
            <a:r>
              <a:rPr lang="en-US" sz="2400" b="1" dirty="0" err="1" smtClean="0"/>
              <a:t>intersection_of</a:t>
            </a:r>
            <a:r>
              <a:rPr lang="en-US" sz="2400" dirty="0" smtClean="0"/>
              <a:t>: </a:t>
            </a:r>
            <a:r>
              <a:rPr lang="en-US" sz="2400" dirty="0" err="1" smtClean="0"/>
              <a:t>capable_of</a:t>
            </a:r>
            <a:r>
              <a:rPr lang="en-US" sz="2400" dirty="0" smtClean="0"/>
              <a:t> ‘detection of chemical stimulus involved in sensory perception of smell’</a:t>
            </a:r>
          </a:p>
          <a:p>
            <a:pPr lvl="2"/>
            <a:endParaRPr lang="en-US" sz="2400" dirty="0" smtClean="0"/>
          </a:p>
          <a:p>
            <a:pPr lvl="1">
              <a:buFont typeface="Wingdings" charset="2"/>
              <a:buNone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OBO-OWL cheat sheet:</a:t>
            </a:r>
            <a:br>
              <a:rPr lang="en-US" dirty="0" smtClean="0"/>
            </a:br>
            <a:r>
              <a:rPr lang="en-US" sz="2200" dirty="0" smtClean="0"/>
              <a:t>necessary and sufficient conditions for class membership</a:t>
            </a:r>
            <a:endParaRPr lang="en-US" sz="2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981200"/>
            <a:ext cx="3713653" cy="4144963"/>
          </a:xfrm>
        </p:spPr>
        <p:txBody>
          <a:bodyPr>
            <a:normAutofit fontScale="92500"/>
          </a:bodyPr>
          <a:lstStyle/>
          <a:p>
            <a:r>
              <a:rPr lang="en-US" sz="2400" dirty="0" smtClean="0"/>
              <a:t>OWL Manchester Syntax </a:t>
            </a:r>
          </a:p>
          <a:p>
            <a:pPr lvl="1"/>
            <a:r>
              <a:rPr lang="en-US" dirty="0" smtClean="0"/>
              <a:t>antennal sense organ </a:t>
            </a:r>
            <a:r>
              <a:rPr lang="en-US" dirty="0" err="1" smtClean="0">
                <a:solidFill>
                  <a:srgbClr val="3366FF"/>
                </a:solidFill>
              </a:rPr>
              <a:t>EquivalentTo</a:t>
            </a:r>
            <a:r>
              <a:rPr lang="en-US" dirty="0" smtClean="0">
                <a:solidFill>
                  <a:srgbClr val="3366FF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‘sense organ’ </a:t>
            </a:r>
            <a:r>
              <a:rPr lang="en-US" dirty="0" smtClean="0">
                <a:solidFill>
                  <a:srgbClr val="5BB6B7"/>
                </a:solidFill>
              </a:rPr>
              <a:t>that </a:t>
            </a:r>
            <a:r>
              <a:rPr lang="en-US" b="1" dirty="0" err="1" smtClean="0"/>
              <a:t>part_of</a:t>
            </a:r>
            <a:r>
              <a:rPr lang="en-US" dirty="0" smtClean="0"/>
              <a:t> </a:t>
            </a:r>
            <a:r>
              <a:rPr lang="en-US" dirty="0" smtClean="0">
                <a:solidFill>
                  <a:schemeClr val="accent2">
                    <a:lumMod val="50000"/>
                    <a:lumOff val="50000"/>
                  </a:schemeClr>
                </a:solidFill>
              </a:rPr>
              <a:t>some </a:t>
            </a:r>
            <a:r>
              <a:rPr lang="en-US" dirty="0" smtClean="0"/>
              <a:t>antenna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(</a:t>
            </a:r>
            <a:r>
              <a:rPr lang="en-US" dirty="0" smtClean="0">
                <a:solidFill>
                  <a:srgbClr val="5BB6B7"/>
                </a:solidFill>
              </a:rPr>
              <a:t>that / and </a:t>
            </a:r>
            <a:r>
              <a:rPr lang="en-US" dirty="0" smtClean="0"/>
              <a:t>are </a:t>
            </a:r>
            <a:r>
              <a:rPr lang="en-US" dirty="0" err="1" smtClean="0"/>
              <a:t>interchangable</a:t>
            </a:r>
            <a:r>
              <a:rPr lang="en-US" dirty="0" smtClean="0"/>
              <a:t> in MS)</a:t>
            </a:r>
          </a:p>
          <a:p>
            <a:r>
              <a:rPr lang="en-US" sz="2400" dirty="0" smtClean="0"/>
              <a:t>OBO format :</a:t>
            </a:r>
          </a:p>
          <a:p>
            <a:pPr lvl="1"/>
            <a:r>
              <a:rPr lang="en-US" b="1" dirty="0" smtClean="0"/>
              <a:t>name</a:t>
            </a:r>
            <a:r>
              <a:rPr lang="en-US" dirty="0" smtClean="0"/>
              <a:t>: antennal sense organ</a:t>
            </a:r>
          </a:p>
          <a:p>
            <a:pPr lvl="1"/>
            <a:r>
              <a:rPr lang="en-US" b="1" dirty="0" err="1" smtClean="0"/>
              <a:t>intersection_of</a:t>
            </a:r>
            <a:r>
              <a:rPr lang="en-US" dirty="0" smtClean="0"/>
              <a:t>:  sense organ</a:t>
            </a:r>
          </a:p>
          <a:p>
            <a:pPr lvl="1"/>
            <a:r>
              <a:rPr lang="en-US" b="1" dirty="0" err="1" smtClean="0"/>
              <a:t>intersection_of</a:t>
            </a:r>
            <a:r>
              <a:rPr lang="en-US" dirty="0" smtClean="0"/>
              <a:t>: </a:t>
            </a:r>
            <a:r>
              <a:rPr lang="en-US" dirty="0" err="1" smtClean="0"/>
              <a:t>part_of</a:t>
            </a:r>
            <a:r>
              <a:rPr lang="en-US" dirty="0" smtClean="0"/>
              <a:t> antenna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4356622" y="1981200"/>
            <a:ext cx="3713653" cy="4144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indent="-228600" defTabSz="914400">
              <a:spcBef>
                <a:spcPts val="2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</a:pPr>
            <a:r>
              <a:rPr 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Protégé 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tabLst/>
              <a:defRPr/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tabLst/>
              <a:defRPr/>
            </a:pPr>
            <a:endParaRPr lang="en-US" sz="200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ct val="75000"/>
              <a:tabLst/>
              <a:defRPr/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OBO</a:t>
            </a:r>
            <a:r>
              <a:rPr 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-Edit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tabLst/>
              <a:defRPr/>
            </a:pPr>
            <a:endParaRPr lang="en-US" sz="200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tabLst/>
              <a:defRPr/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ct val="75000"/>
              <a:tabLst/>
              <a:defRPr/>
            </a:pPr>
            <a:endParaRPr kumimoji="0" lang="en-US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tabLst/>
              <a:defRPr/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tabLst/>
              <a:defRPr/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564560"/>
            <a:ext cx="1406546" cy="86444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429000"/>
            <a:ext cx="4051300" cy="6223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4860729"/>
            <a:ext cx="4380330" cy="172499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ERROR MESSAGES ARE YOUR FRIENDS! </a:t>
            </a:r>
            <a:r>
              <a:rPr lang="en-US" sz="2000" dirty="0" smtClean="0"/>
              <a:t>– They tell you you’ve screwed up before you get embarrassing emails complaining that you’ve screwed up</a:t>
            </a:r>
            <a:endParaRPr 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2228769"/>
            <a:ext cx="7556313" cy="4144963"/>
          </a:xfrm>
        </p:spPr>
        <p:txBody>
          <a:bodyPr/>
          <a:lstStyle/>
          <a:p>
            <a:r>
              <a:rPr lang="en-US" dirty="0" smtClean="0"/>
              <a:t>Some classes don’t overlap: </a:t>
            </a:r>
          </a:p>
          <a:p>
            <a:pPr lvl="1"/>
            <a:r>
              <a:rPr lang="en-US" dirty="0" smtClean="0"/>
              <a:t>Nothing is both a space and an object with mass</a:t>
            </a:r>
          </a:p>
          <a:p>
            <a:pPr lvl="1"/>
            <a:r>
              <a:rPr lang="en-US" dirty="0" smtClean="0"/>
              <a:t>Nothing is a both a muscle and a blood vessel</a:t>
            </a:r>
          </a:p>
          <a:p>
            <a:pPr lvl="1"/>
            <a:r>
              <a:rPr lang="en-US" dirty="0" smtClean="0"/>
              <a:t>Nothing is both a smell and a nose</a:t>
            </a:r>
          </a:p>
          <a:p>
            <a:pPr lvl="1">
              <a:buNone/>
            </a:pPr>
            <a:endParaRPr lang="en-US" dirty="0" smtClean="0"/>
          </a:p>
          <a:p>
            <a:r>
              <a:rPr lang="en-US" dirty="0" smtClean="0"/>
              <a:t>Some relations only apply between particular classes:</a:t>
            </a:r>
          </a:p>
          <a:p>
            <a:pPr lvl="1"/>
            <a:r>
              <a:rPr lang="en-US" dirty="0" smtClean="0">
                <a:solidFill>
                  <a:srgbClr val="008000"/>
                </a:solidFill>
              </a:rPr>
              <a:t>A nose is capable of smelling </a:t>
            </a:r>
            <a:r>
              <a:rPr lang="en-US" dirty="0" smtClean="0">
                <a:solidFill>
                  <a:srgbClr val="008000"/>
                </a:solidFill>
                <a:latin typeface="Zapf Dingbats"/>
                <a:ea typeface="Zapf Dingbats"/>
                <a:cs typeface="Zapf Dingbats"/>
              </a:rPr>
              <a:t>✔</a:t>
            </a:r>
            <a:endParaRPr lang="en-US" dirty="0" smtClean="0">
              <a:solidFill>
                <a:srgbClr val="008000"/>
              </a:solidFill>
            </a:endParaRPr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A smelling is capable of a nose </a:t>
            </a:r>
            <a:r>
              <a:rPr lang="en-US" dirty="0" smtClean="0">
                <a:solidFill>
                  <a:srgbClr val="FF0000"/>
                </a:solidFill>
                <a:latin typeface="Zapf Dingbats"/>
                <a:ea typeface="Zapf Dingbats"/>
                <a:cs typeface="Zapf Dingbats"/>
              </a:rPr>
              <a:t>✗</a:t>
            </a:r>
            <a:endParaRPr lang="en-US" dirty="0" smtClean="0">
              <a:solidFill>
                <a:srgbClr val="FF0000"/>
              </a:solidFill>
            </a:endParaRPr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ERROR MESSAGES ARE YOUR FRIENDS! </a:t>
            </a:r>
            <a:r>
              <a:rPr lang="en-US" sz="2000" dirty="0" smtClean="0"/>
              <a:t>– They tell you you’ve screwed up before you get embarrassing emails complaining that you’ve screwed up</a:t>
            </a:r>
            <a:endParaRPr 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2228769"/>
            <a:ext cx="7556313" cy="4144963"/>
          </a:xfrm>
        </p:spPr>
        <p:txBody>
          <a:bodyPr>
            <a:normAutofit/>
          </a:bodyPr>
          <a:lstStyle/>
          <a:p>
            <a:r>
              <a:rPr lang="en-US" dirty="0" smtClean="0"/>
              <a:t>Some classes don’t overlap. OWL </a:t>
            </a:r>
            <a:r>
              <a:rPr lang="en-US" dirty="0" err="1" smtClean="0">
                <a:solidFill>
                  <a:srgbClr val="3366FF"/>
                </a:solidFill>
              </a:rPr>
              <a:t>DisjointWith</a:t>
            </a:r>
            <a:r>
              <a:rPr lang="en-US" dirty="0" smtClean="0">
                <a:solidFill>
                  <a:srgbClr val="3366FF"/>
                </a:solidFill>
              </a:rPr>
              <a:t> </a:t>
            </a:r>
            <a:r>
              <a:rPr lang="en-US" dirty="0" smtClean="0"/>
              <a:t>OBO: </a:t>
            </a:r>
            <a:r>
              <a:rPr lang="en-US" b="1" dirty="0" err="1" smtClean="0"/>
              <a:t>disjoint_from</a:t>
            </a:r>
            <a:endParaRPr lang="en-US" b="1" dirty="0" smtClean="0"/>
          </a:p>
          <a:p>
            <a:pPr lvl="1"/>
            <a:r>
              <a:rPr lang="en-US" dirty="0" smtClean="0"/>
              <a:t>Nothing is both a space and an object with mass	</a:t>
            </a:r>
          </a:p>
          <a:p>
            <a:pPr lvl="2"/>
            <a:r>
              <a:rPr lang="en-US" dirty="0" smtClean="0"/>
              <a:t>anatomical space </a:t>
            </a:r>
            <a:r>
              <a:rPr lang="en-US" dirty="0" err="1" smtClean="0">
                <a:solidFill>
                  <a:srgbClr val="3366FF"/>
                </a:solidFill>
              </a:rPr>
              <a:t>DisjointWith</a:t>
            </a:r>
            <a:r>
              <a:rPr lang="en-US" dirty="0" smtClean="0">
                <a:solidFill>
                  <a:srgbClr val="3366FF"/>
                </a:solidFill>
              </a:rPr>
              <a:t> </a:t>
            </a:r>
            <a:r>
              <a:rPr lang="en-US" dirty="0" smtClean="0"/>
              <a:t>anatomical structure</a:t>
            </a:r>
          </a:p>
          <a:p>
            <a:pPr lvl="3"/>
            <a:r>
              <a:rPr lang="en-US" dirty="0" smtClean="0">
                <a:solidFill>
                  <a:srgbClr val="FF0000"/>
                </a:solidFill>
              </a:rPr>
              <a:t>‘lumen of gut’ </a:t>
            </a:r>
            <a:r>
              <a:rPr lang="en-US" dirty="0" err="1" smtClean="0">
                <a:solidFill>
                  <a:srgbClr val="FF0000"/>
                </a:solidFill>
              </a:rPr>
              <a:t>SubClassOf</a:t>
            </a:r>
            <a:r>
              <a:rPr lang="en-US" dirty="0" smtClean="0">
                <a:solidFill>
                  <a:srgbClr val="FF0000"/>
                </a:solidFill>
              </a:rPr>
              <a:t> ‘anatomical structure’ </a:t>
            </a:r>
            <a:r>
              <a:rPr lang="en-US" dirty="0" smtClean="0">
                <a:solidFill>
                  <a:srgbClr val="FF0000"/>
                </a:solidFill>
                <a:latin typeface="Zapf Dingbats"/>
                <a:ea typeface="Zapf Dingbats"/>
                <a:cs typeface="Zapf Dingbats"/>
              </a:rPr>
              <a:t>✗</a:t>
            </a:r>
            <a:endParaRPr lang="en-US" dirty="0" smtClean="0">
              <a:solidFill>
                <a:srgbClr val="FF0000"/>
              </a:solidFill>
            </a:endParaRPr>
          </a:p>
          <a:p>
            <a:pPr lvl="1"/>
            <a:r>
              <a:rPr lang="en-US" dirty="0" smtClean="0"/>
              <a:t>Nothing is a both a muscle and a blood vessel</a:t>
            </a:r>
          </a:p>
          <a:p>
            <a:pPr lvl="2"/>
            <a:r>
              <a:rPr lang="en-US" dirty="0" smtClean="0"/>
              <a:t>muscle </a:t>
            </a:r>
            <a:r>
              <a:rPr lang="en-US" dirty="0" err="1" smtClean="0">
                <a:solidFill>
                  <a:srgbClr val="3366FF"/>
                </a:solidFill>
              </a:rPr>
              <a:t>DisjointWith</a:t>
            </a:r>
            <a:r>
              <a:rPr lang="en-US" dirty="0" smtClean="0">
                <a:solidFill>
                  <a:srgbClr val="3366FF"/>
                </a:solidFill>
              </a:rPr>
              <a:t> </a:t>
            </a:r>
            <a:r>
              <a:rPr lang="en-US" dirty="0" smtClean="0"/>
              <a:t>blood vessel</a:t>
            </a:r>
          </a:p>
          <a:p>
            <a:pPr lvl="3"/>
            <a:r>
              <a:rPr lang="en-US" dirty="0" smtClean="0">
                <a:solidFill>
                  <a:srgbClr val="FF0000"/>
                </a:solidFill>
              </a:rPr>
              <a:t>bicep </a:t>
            </a:r>
            <a:r>
              <a:rPr lang="en-US" dirty="0" err="1" smtClean="0">
                <a:solidFill>
                  <a:srgbClr val="FF0000"/>
                </a:solidFill>
              </a:rPr>
              <a:t>SubClassOf</a:t>
            </a:r>
            <a:r>
              <a:rPr lang="en-US" dirty="0" smtClean="0">
                <a:solidFill>
                  <a:srgbClr val="FF0000"/>
                </a:solidFill>
              </a:rPr>
              <a:t> aorta </a:t>
            </a:r>
            <a:r>
              <a:rPr lang="en-US" dirty="0" smtClean="0">
                <a:solidFill>
                  <a:srgbClr val="FF0000"/>
                </a:solidFill>
                <a:latin typeface="Zapf Dingbats"/>
                <a:ea typeface="Zapf Dingbats"/>
                <a:cs typeface="Zapf Dingbats"/>
              </a:rPr>
              <a:t>✗</a:t>
            </a:r>
            <a:endParaRPr lang="en-US" dirty="0" smtClean="0"/>
          </a:p>
          <a:p>
            <a:pPr lvl="1"/>
            <a:r>
              <a:rPr lang="en-US" dirty="0" smtClean="0"/>
              <a:t>Nothing is both a smelling and a nose</a:t>
            </a:r>
            <a:endParaRPr lang="en-US" b="1" dirty="0" smtClean="0"/>
          </a:p>
          <a:p>
            <a:pPr lvl="2"/>
            <a:r>
              <a:rPr lang="en-US" dirty="0" smtClean="0"/>
              <a:t>process </a:t>
            </a:r>
            <a:r>
              <a:rPr lang="en-US" dirty="0" err="1" smtClean="0">
                <a:solidFill>
                  <a:srgbClr val="3366FF"/>
                </a:solidFill>
              </a:rPr>
              <a:t>DisjointWith</a:t>
            </a:r>
            <a:r>
              <a:rPr lang="en-US" dirty="0" smtClean="0">
                <a:solidFill>
                  <a:srgbClr val="3366FF"/>
                </a:solidFill>
              </a:rPr>
              <a:t> </a:t>
            </a:r>
            <a:r>
              <a:rPr lang="en-US" dirty="0" smtClean="0"/>
              <a:t>object</a:t>
            </a:r>
          </a:p>
          <a:p>
            <a:pPr lvl="3"/>
            <a:r>
              <a:rPr lang="en-US" dirty="0" smtClean="0">
                <a:solidFill>
                  <a:srgbClr val="FF0000"/>
                </a:solidFill>
              </a:rPr>
              <a:t>smelling* </a:t>
            </a:r>
            <a:r>
              <a:rPr lang="en-US" dirty="0" err="1" smtClean="0">
                <a:solidFill>
                  <a:srgbClr val="FF0000"/>
                </a:solidFill>
              </a:rPr>
              <a:t>SubClassOf</a:t>
            </a:r>
            <a:r>
              <a:rPr lang="en-US" dirty="0" smtClean="0">
                <a:solidFill>
                  <a:srgbClr val="FF0000"/>
                </a:solidFill>
              </a:rPr>
              <a:t> nose </a:t>
            </a:r>
            <a:r>
              <a:rPr lang="en-US" dirty="0" smtClean="0">
                <a:solidFill>
                  <a:srgbClr val="FF0000"/>
                </a:solidFill>
                <a:latin typeface="Zapf Dingbats"/>
                <a:ea typeface="Zapf Dingbats"/>
                <a:cs typeface="Zapf Dingbats"/>
              </a:rPr>
              <a:t>✗</a:t>
            </a:r>
            <a:endParaRPr lang="en-US" dirty="0" smtClean="0">
              <a:solidFill>
                <a:srgbClr val="FF0000"/>
              </a:solidFill>
            </a:endParaRPr>
          </a:p>
          <a:p>
            <a:pPr lvl="1"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ERROR MESSAGES ARE YOUR FRIENDS! </a:t>
            </a:r>
            <a:r>
              <a:rPr lang="en-US" sz="2000" dirty="0" smtClean="0"/>
              <a:t>– They tell you you’ve screwed up before you get embarrassing emails complaining that you’ve screwed up</a:t>
            </a:r>
            <a:endParaRPr 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2228768"/>
            <a:ext cx="7556313" cy="4629231"/>
          </a:xfrm>
        </p:spPr>
        <p:txBody>
          <a:bodyPr>
            <a:normAutofit/>
          </a:bodyPr>
          <a:lstStyle/>
          <a:p>
            <a:r>
              <a:rPr lang="en-US" dirty="0" smtClean="0"/>
              <a:t>Some relations only apply between particular classes. </a:t>
            </a:r>
          </a:p>
          <a:p>
            <a:pPr lvl="1"/>
            <a:r>
              <a:rPr lang="en-US" dirty="0" smtClean="0"/>
              <a:t>We can record this using </a:t>
            </a:r>
            <a:r>
              <a:rPr lang="en-US" dirty="0" smtClean="0">
                <a:solidFill>
                  <a:srgbClr val="0000FF"/>
                </a:solidFill>
              </a:rPr>
              <a:t>domain</a:t>
            </a:r>
            <a:r>
              <a:rPr lang="en-US" dirty="0" smtClean="0">
                <a:solidFill>
                  <a:schemeClr val="tx1"/>
                </a:solidFill>
              </a:rPr>
              <a:t>*</a:t>
            </a:r>
            <a:r>
              <a:rPr lang="en-US" dirty="0" smtClean="0">
                <a:solidFill>
                  <a:srgbClr val="3366FF"/>
                </a:solidFill>
              </a:rPr>
              <a:t> </a:t>
            </a:r>
            <a:r>
              <a:rPr lang="en-US" dirty="0" smtClean="0"/>
              <a:t>and </a:t>
            </a:r>
            <a:r>
              <a:rPr lang="en-US" dirty="0" smtClean="0">
                <a:solidFill>
                  <a:srgbClr val="0000FF"/>
                </a:solidFill>
              </a:rPr>
              <a:t>range</a:t>
            </a:r>
            <a:r>
              <a:rPr lang="en-US" dirty="0" smtClean="0">
                <a:solidFill>
                  <a:schemeClr val="tx1"/>
                </a:solidFill>
              </a:rPr>
              <a:t>*</a:t>
            </a:r>
            <a:r>
              <a:rPr lang="en-US" dirty="0" smtClean="0"/>
              <a:t>:</a:t>
            </a:r>
          </a:p>
          <a:p>
            <a:pPr lvl="2"/>
            <a:r>
              <a:rPr lang="en-US" b="1" dirty="0" err="1" smtClean="0"/>
              <a:t>capable_of</a:t>
            </a:r>
            <a:r>
              <a:rPr lang="en-US" dirty="0" smtClean="0"/>
              <a:t> relates objects to processes</a:t>
            </a:r>
            <a:endParaRPr lang="en-US" b="1" dirty="0" smtClean="0"/>
          </a:p>
          <a:p>
            <a:pPr lvl="3"/>
            <a:r>
              <a:rPr lang="en-US" b="1" dirty="0" err="1" smtClean="0"/>
              <a:t>capable_of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0000FF"/>
                </a:solidFill>
              </a:rPr>
              <a:t>domain</a:t>
            </a:r>
            <a:r>
              <a:rPr lang="en-US" dirty="0" smtClean="0"/>
              <a:t>: object</a:t>
            </a:r>
          </a:p>
          <a:p>
            <a:pPr lvl="3"/>
            <a:r>
              <a:rPr lang="en-US" b="1" dirty="0" err="1" smtClean="0"/>
              <a:t>capable_of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0000FF"/>
                </a:solidFill>
              </a:rPr>
              <a:t>range</a:t>
            </a:r>
            <a:r>
              <a:rPr lang="en-US" dirty="0" smtClean="0"/>
              <a:t>: process</a:t>
            </a:r>
          </a:p>
          <a:p>
            <a:r>
              <a:rPr lang="en-US" dirty="0" smtClean="0"/>
              <a:t>Combining these with disjoint declarations =&gt; error checking</a:t>
            </a:r>
          </a:p>
          <a:p>
            <a:pPr lvl="1"/>
            <a:r>
              <a:rPr lang="en-US" dirty="0" smtClean="0"/>
              <a:t>process </a:t>
            </a:r>
            <a:r>
              <a:rPr lang="en-US" dirty="0" err="1" smtClean="0">
                <a:solidFill>
                  <a:srgbClr val="0000FF"/>
                </a:solidFill>
              </a:rPr>
              <a:t>DisjointWith</a:t>
            </a:r>
            <a:r>
              <a:rPr lang="en-US" dirty="0" smtClean="0">
                <a:solidFill>
                  <a:srgbClr val="0000FF"/>
                </a:solidFill>
              </a:rPr>
              <a:t> </a:t>
            </a:r>
            <a:r>
              <a:rPr lang="en-US" dirty="0" smtClean="0"/>
              <a:t>object; nose </a:t>
            </a:r>
            <a:r>
              <a:rPr lang="en-US" dirty="0" err="1" smtClean="0">
                <a:solidFill>
                  <a:srgbClr val="0000FF"/>
                </a:solidFill>
              </a:rPr>
              <a:t>SubClassOf</a:t>
            </a:r>
            <a:r>
              <a:rPr lang="en-US" dirty="0" smtClean="0">
                <a:solidFill>
                  <a:srgbClr val="0000FF"/>
                </a:solidFill>
              </a:rPr>
              <a:t> </a:t>
            </a:r>
            <a:r>
              <a:rPr lang="en-US" dirty="0" smtClean="0"/>
              <a:t>Object; smelling </a:t>
            </a:r>
            <a:r>
              <a:rPr lang="en-US" dirty="0" err="1" smtClean="0">
                <a:solidFill>
                  <a:srgbClr val="0000FF"/>
                </a:solidFill>
              </a:rPr>
              <a:t>SubClassOf</a:t>
            </a:r>
            <a:r>
              <a:rPr lang="en-US" dirty="0" smtClean="0">
                <a:solidFill>
                  <a:srgbClr val="0000FF"/>
                </a:solidFill>
              </a:rPr>
              <a:t> </a:t>
            </a:r>
            <a:r>
              <a:rPr lang="en-US" dirty="0" smtClean="0"/>
              <a:t>process</a:t>
            </a:r>
          </a:p>
          <a:p>
            <a:pPr lvl="2"/>
            <a:r>
              <a:rPr lang="en-US" dirty="0" smtClean="0">
                <a:solidFill>
                  <a:srgbClr val="008000"/>
                </a:solidFill>
              </a:rPr>
              <a:t>nose </a:t>
            </a:r>
            <a:r>
              <a:rPr lang="en-US" dirty="0" err="1" smtClean="0">
                <a:solidFill>
                  <a:srgbClr val="008000"/>
                </a:solidFill>
              </a:rPr>
              <a:t>capable_of</a:t>
            </a:r>
            <a:r>
              <a:rPr lang="en-US" dirty="0" smtClean="0">
                <a:solidFill>
                  <a:srgbClr val="008000"/>
                </a:solidFill>
              </a:rPr>
              <a:t> smelling </a:t>
            </a:r>
            <a:r>
              <a:rPr lang="en-US" dirty="0" smtClean="0">
                <a:solidFill>
                  <a:srgbClr val="008000"/>
                </a:solidFill>
                <a:latin typeface="Zapf Dingbats"/>
                <a:ea typeface="Zapf Dingbats"/>
                <a:cs typeface="Zapf Dingbats"/>
              </a:rPr>
              <a:t>✔</a:t>
            </a:r>
            <a:endParaRPr lang="en-US" dirty="0" smtClean="0">
              <a:solidFill>
                <a:srgbClr val="008000"/>
              </a:solidFill>
            </a:endParaRPr>
          </a:p>
          <a:p>
            <a:pPr lvl="2"/>
            <a:r>
              <a:rPr lang="en-US" dirty="0" smtClean="0">
                <a:solidFill>
                  <a:srgbClr val="FF0000"/>
                </a:solidFill>
              </a:rPr>
              <a:t>smelling </a:t>
            </a:r>
            <a:r>
              <a:rPr lang="en-US" dirty="0" err="1" smtClean="0">
                <a:solidFill>
                  <a:srgbClr val="FF0000"/>
                </a:solidFill>
              </a:rPr>
              <a:t>capable_of</a:t>
            </a:r>
            <a:r>
              <a:rPr lang="en-US" dirty="0" smtClean="0">
                <a:solidFill>
                  <a:srgbClr val="FF0000"/>
                </a:solidFill>
              </a:rPr>
              <a:t> nose </a:t>
            </a:r>
            <a:r>
              <a:rPr lang="en-US" dirty="0" smtClean="0">
                <a:solidFill>
                  <a:srgbClr val="FF0000"/>
                </a:solidFill>
                <a:latin typeface="Zapf Dingbats"/>
                <a:ea typeface="Zapf Dingbats"/>
                <a:cs typeface="Zapf Dingbats"/>
              </a:rPr>
              <a:t>✗</a:t>
            </a:r>
          </a:p>
          <a:p>
            <a:pPr lvl="2"/>
            <a:endParaRPr lang="en-US" dirty="0" smtClean="0">
              <a:solidFill>
                <a:srgbClr val="FF0000"/>
              </a:solidFill>
              <a:latin typeface="Zapf Dingbats"/>
              <a:ea typeface="Zapf Dingbats"/>
              <a:cs typeface="Zapf Dingbats"/>
            </a:endParaRPr>
          </a:p>
          <a:p>
            <a:pPr lvl="1">
              <a:buNone/>
            </a:pPr>
            <a:r>
              <a:rPr lang="en-US" sz="1200" dirty="0" smtClean="0">
                <a:ea typeface="Zapf Dingbats"/>
                <a:cs typeface="Zapf Dingbats"/>
              </a:rPr>
              <a:t>* Same in OBO and OWL</a:t>
            </a:r>
            <a:endParaRPr lang="en-US" sz="1200" dirty="0" smtClean="0"/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0281" y="2637522"/>
            <a:ext cx="7556313" cy="1116106"/>
          </a:xfrm>
        </p:spPr>
        <p:txBody>
          <a:bodyPr/>
          <a:lstStyle/>
          <a:p>
            <a:r>
              <a:rPr lang="en-US" dirty="0" smtClean="0"/>
              <a:t>Quick guide to OBO-Edit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Basic OBO-Edit2 editing setup</a:t>
            </a:r>
          </a:p>
        </p:txBody>
      </p:sp>
      <p:sp>
        <p:nvSpPr>
          <p:cNvPr id="4915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- 2 </a:t>
            </a:r>
            <a:r>
              <a:rPr lang="en-US" dirty="0" err="1" smtClean="0"/>
              <a:t>x</a:t>
            </a:r>
            <a:r>
              <a:rPr lang="en-US" dirty="0" smtClean="0"/>
              <a:t> Ontology Tree Editor (OTE)</a:t>
            </a:r>
          </a:p>
          <a:p>
            <a:pPr eaLnBrk="1" hangingPunct="1"/>
            <a:r>
              <a:rPr lang="en-US" dirty="0" smtClean="0"/>
              <a:t>- One parent editor</a:t>
            </a:r>
          </a:p>
          <a:p>
            <a:pPr eaLnBrk="1" hangingPunct="1"/>
            <a:r>
              <a:rPr lang="en-US" dirty="0" smtClean="0"/>
              <a:t>- One text editor</a:t>
            </a:r>
          </a:p>
          <a:p>
            <a:pPr eaLnBrk="1" hangingPunct="1"/>
            <a:r>
              <a:rPr lang="en-US" dirty="0" smtClean="0"/>
              <a:t>- One search panel</a:t>
            </a:r>
          </a:p>
          <a:p>
            <a:pPr eaLnBrk="1" hangingPunct="1"/>
            <a:r>
              <a:rPr lang="en-US" dirty="0" smtClean="0"/>
              <a:t>- One reasoner manager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Picture 4" descr="Picture 34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922338"/>
            <a:ext cx="9144000" cy="5013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2" name="Picture 4" descr="Picture 34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922338"/>
            <a:ext cx="9144000" cy="5013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03" name="Picture 2" descr="Picture 35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911225"/>
            <a:ext cx="9144000" cy="5035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Oval 3"/>
          <p:cNvSpPr/>
          <p:nvPr/>
        </p:nvSpPr>
        <p:spPr>
          <a:xfrm>
            <a:off x="762000" y="2362200"/>
            <a:ext cx="1905000" cy="312738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endParaRPr lang="en-US">
              <a:solidFill>
                <a:srgbClr val="FFFFFF"/>
              </a:solidFill>
              <a:ea typeface="ＭＳ Ｐゴシック" pitchFamily="-111" charset="-128"/>
              <a:cs typeface="ＭＳ Ｐゴシック" pitchFamily="-111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/>
          <p:cNvSpPr>
            <a:spLocks noGrp="1"/>
          </p:cNvSpPr>
          <p:nvPr>
            <p:ph type="title"/>
          </p:nvPr>
        </p:nvSpPr>
        <p:spPr>
          <a:xfrm>
            <a:off x="561975" y="179388"/>
            <a:ext cx="7556500" cy="1116012"/>
          </a:xfrm>
        </p:spPr>
        <p:txBody>
          <a:bodyPr/>
          <a:lstStyle/>
          <a:p>
            <a:pPr eaLnBrk="1" hangingPunct="1"/>
            <a:r>
              <a:rPr lang="en-US" smtClean="0"/>
              <a:t>Browsing - Trees</a:t>
            </a:r>
          </a:p>
        </p:txBody>
      </p:sp>
      <p:pic>
        <p:nvPicPr>
          <p:cNvPr id="54275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52550" y="2374900"/>
            <a:ext cx="6997700" cy="378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4276" name="TextBox 4"/>
          <p:cNvSpPr txBox="1">
            <a:spLocks noChangeArrowheads="1"/>
          </p:cNvSpPr>
          <p:nvPr/>
        </p:nvSpPr>
        <p:spPr bwMode="auto">
          <a:xfrm>
            <a:off x="1295400" y="1511300"/>
            <a:ext cx="7099300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Calibri" charset="0"/>
              </a:rPr>
              <a:t>The ontology tree editor is a good way to browse down the ontology graph,  but not all are parents visible in one view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1943100" y="4965700"/>
            <a:ext cx="444500" cy="3556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77800" y="5168900"/>
            <a:ext cx="1946275" cy="1041400"/>
          </a:xfrm>
          <a:prstGeom prst="ellipse">
            <a:avLst/>
          </a:prstGeom>
          <a:solidFill>
            <a:schemeClr val="bg1"/>
          </a:solidFill>
          <a:ln>
            <a:solidFill>
              <a:srgbClr val="33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r>
              <a:rPr lang="en-US">
                <a:solidFill>
                  <a:srgbClr val="000000"/>
                </a:solidFill>
                <a:ea typeface="ＭＳ Ｐゴシック" pitchFamily="-111" charset="-128"/>
                <a:cs typeface="ＭＳ Ｐゴシック" pitchFamily="-111" charset="-128"/>
              </a:rPr>
              <a:t>Click to expand or contract branch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/>
          <p:cNvSpPr>
            <a:spLocks noGrp="1"/>
          </p:cNvSpPr>
          <p:nvPr>
            <p:ph type="title"/>
          </p:nvPr>
        </p:nvSpPr>
        <p:spPr>
          <a:xfrm>
            <a:off x="498475" y="153988"/>
            <a:ext cx="7556500" cy="1116012"/>
          </a:xfrm>
        </p:spPr>
        <p:txBody>
          <a:bodyPr/>
          <a:lstStyle/>
          <a:p>
            <a:pPr eaLnBrk="1" hangingPunct="1"/>
            <a:r>
              <a:rPr lang="en-US" smtClean="0"/>
              <a:t>Browsing  - parents</a:t>
            </a:r>
          </a:p>
        </p:txBody>
      </p:sp>
      <p:pic>
        <p:nvPicPr>
          <p:cNvPr id="57347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88" y="2571750"/>
            <a:ext cx="8429625" cy="300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7348" name="TextBox 4"/>
          <p:cNvSpPr txBox="1">
            <a:spLocks noChangeArrowheads="1"/>
          </p:cNvSpPr>
          <p:nvPr/>
        </p:nvSpPr>
        <p:spPr bwMode="auto">
          <a:xfrm>
            <a:off x="381000" y="1511300"/>
            <a:ext cx="7213600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Calibri" charset="0"/>
              </a:rPr>
              <a:t>The parent editor provides a quick way to check all parental relationships – usually these are not all visible in a single tree view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1"/>
          <p:cNvSpPr>
            <a:spLocks noGrp="1"/>
          </p:cNvSpPr>
          <p:nvPr>
            <p:ph type="title"/>
          </p:nvPr>
        </p:nvSpPr>
        <p:spPr>
          <a:xfrm>
            <a:off x="625475" y="179388"/>
            <a:ext cx="7556500" cy="1116012"/>
          </a:xfrm>
        </p:spPr>
        <p:txBody>
          <a:bodyPr/>
          <a:lstStyle/>
          <a:p>
            <a:pPr eaLnBrk="1" hangingPunct="1"/>
            <a:r>
              <a:rPr lang="en-US" smtClean="0"/>
              <a:t>Browsing - Graph Editor</a:t>
            </a:r>
          </a:p>
        </p:txBody>
      </p:sp>
      <p:pic>
        <p:nvPicPr>
          <p:cNvPr id="62467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0825" y="1562358"/>
            <a:ext cx="8642350" cy="445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620923" y="6297568"/>
            <a:ext cx="7838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WARNING:– GRAPH EDITOR CAN CAUSE CRASHES. SAVE YOUR WORK !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Content Placeholder 2"/>
          <p:cNvSpPr>
            <a:spLocks noGrp="1"/>
          </p:cNvSpPr>
          <p:nvPr>
            <p:ph idx="1"/>
          </p:nvPr>
        </p:nvSpPr>
        <p:spPr>
          <a:xfrm>
            <a:off x="546100" y="4318000"/>
            <a:ext cx="7137400" cy="2235200"/>
          </a:xfrm>
        </p:spPr>
        <p:txBody>
          <a:bodyPr/>
          <a:lstStyle/>
          <a:p>
            <a:pPr eaLnBrk="1" hangingPunct="1"/>
            <a:r>
              <a:rPr lang="en-US" smtClean="0"/>
              <a:t>Right click provides editing options and hide-all</a:t>
            </a:r>
          </a:p>
          <a:p>
            <a:pPr eaLnBrk="1" hangingPunct="1"/>
            <a:r>
              <a:rPr lang="en-US" smtClean="0"/>
              <a:t>Choosing quick filtering =&gt; manageable view</a:t>
            </a:r>
          </a:p>
        </p:txBody>
      </p:sp>
      <p:pic>
        <p:nvPicPr>
          <p:cNvPr id="63491" name="Picture 4" descr="Picture 10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93975" y="2463800"/>
            <a:ext cx="3956050" cy="81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9" name="Straight Arrow Connector 8"/>
          <p:cNvCxnSpPr/>
          <p:nvPr/>
        </p:nvCxnSpPr>
        <p:spPr>
          <a:xfrm rot="10800000">
            <a:off x="6451600" y="3175000"/>
            <a:ext cx="635000" cy="2413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endCxn id="5" idx="2"/>
          </p:cNvCxnSpPr>
          <p:nvPr/>
        </p:nvCxnSpPr>
        <p:spPr>
          <a:xfrm rot="5400000" flipH="1" flipV="1">
            <a:off x="4292601" y="3556000"/>
            <a:ext cx="558800" cy="31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V="1">
            <a:off x="1816100" y="3213100"/>
            <a:ext cx="736600" cy="4064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rot="10800000" flipV="1">
            <a:off x="6553200" y="2362200"/>
            <a:ext cx="673100" cy="304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2070100" y="2362200"/>
            <a:ext cx="419100" cy="2540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497" name="TextBox 24"/>
          <p:cNvSpPr txBox="1">
            <a:spLocks noChangeArrowheads="1"/>
          </p:cNvSpPr>
          <p:nvPr/>
        </p:nvSpPr>
        <p:spPr bwMode="auto">
          <a:xfrm>
            <a:off x="609600" y="1930400"/>
            <a:ext cx="207645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Calibri" charset="0"/>
              </a:rPr>
              <a:t>Hide parent terms</a:t>
            </a:r>
          </a:p>
        </p:txBody>
      </p:sp>
      <p:sp>
        <p:nvSpPr>
          <p:cNvPr id="63498" name="TextBox 25"/>
          <p:cNvSpPr txBox="1">
            <a:spLocks noChangeArrowheads="1"/>
          </p:cNvSpPr>
          <p:nvPr/>
        </p:nvSpPr>
        <p:spPr bwMode="auto">
          <a:xfrm>
            <a:off x="6375400" y="1968500"/>
            <a:ext cx="2147888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Calibri" charset="0"/>
              </a:rPr>
              <a:t>show parent terms</a:t>
            </a:r>
          </a:p>
        </p:txBody>
      </p:sp>
      <p:sp>
        <p:nvSpPr>
          <p:cNvPr id="63499" name="TextBox 26"/>
          <p:cNvSpPr txBox="1">
            <a:spLocks noChangeArrowheads="1"/>
          </p:cNvSpPr>
          <p:nvPr/>
        </p:nvSpPr>
        <p:spPr bwMode="auto">
          <a:xfrm>
            <a:off x="673100" y="3632200"/>
            <a:ext cx="188277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Calibri" charset="0"/>
              </a:rPr>
              <a:t>Hide child terms</a:t>
            </a:r>
          </a:p>
        </p:txBody>
      </p:sp>
      <p:sp>
        <p:nvSpPr>
          <p:cNvPr id="63500" name="TextBox 27"/>
          <p:cNvSpPr txBox="1">
            <a:spLocks noChangeArrowheads="1"/>
          </p:cNvSpPr>
          <p:nvPr/>
        </p:nvSpPr>
        <p:spPr bwMode="auto">
          <a:xfrm>
            <a:off x="6553200" y="3517900"/>
            <a:ext cx="195421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Calibri" charset="0"/>
              </a:rPr>
              <a:t>show child terms</a:t>
            </a:r>
          </a:p>
        </p:txBody>
      </p:sp>
      <p:sp>
        <p:nvSpPr>
          <p:cNvPr id="63501" name="TextBox 28"/>
          <p:cNvSpPr txBox="1">
            <a:spLocks noChangeArrowheads="1"/>
          </p:cNvSpPr>
          <p:nvPr/>
        </p:nvSpPr>
        <p:spPr bwMode="auto">
          <a:xfrm>
            <a:off x="4033838" y="3848100"/>
            <a:ext cx="12033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Calibri" charset="0"/>
              </a:rPr>
              <a:t>hide term</a:t>
            </a:r>
          </a:p>
        </p:txBody>
      </p:sp>
      <p:sp>
        <p:nvSpPr>
          <p:cNvPr id="63502" name="Title 1"/>
          <p:cNvSpPr>
            <a:spLocks noGrp="1"/>
          </p:cNvSpPr>
          <p:nvPr>
            <p:ph type="title"/>
          </p:nvPr>
        </p:nvSpPr>
        <p:spPr>
          <a:xfrm>
            <a:off x="625475" y="179388"/>
            <a:ext cx="7556500" cy="1116012"/>
          </a:xfrm>
        </p:spPr>
        <p:txBody>
          <a:bodyPr/>
          <a:lstStyle/>
          <a:p>
            <a:pPr eaLnBrk="1" hangingPunct="1"/>
            <a:r>
              <a:rPr lang="en-US" smtClean="0"/>
              <a:t>Browsing - Graph Editor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le 1"/>
          <p:cNvSpPr>
            <a:spLocks noGrp="1"/>
          </p:cNvSpPr>
          <p:nvPr>
            <p:ph type="title"/>
          </p:nvPr>
        </p:nvSpPr>
        <p:spPr>
          <a:xfrm>
            <a:off x="549275" y="115888"/>
            <a:ext cx="7556500" cy="1116012"/>
          </a:xfrm>
        </p:spPr>
        <p:txBody>
          <a:bodyPr/>
          <a:lstStyle/>
          <a:p>
            <a:pPr eaLnBrk="1" hangingPunct="1"/>
            <a:r>
              <a:rPr lang="en-US" smtClean="0"/>
              <a:t>Basic Searching - single leg</a:t>
            </a:r>
          </a:p>
        </p:txBody>
      </p:sp>
      <p:pic>
        <p:nvPicPr>
          <p:cNvPr id="64515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1338" y="1339850"/>
            <a:ext cx="8315325" cy="2749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4516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622550" y="4291013"/>
            <a:ext cx="2635250" cy="2262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4517" name="Picture 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66750" y="4641850"/>
            <a:ext cx="1663700" cy="72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4518" name="Picture 6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975350" y="4349750"/>
            <a:ext cx="2425700" cy="207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itle 1"/>
          <p:cNvSpPr>
            <a:spLocks noGrp="1"/>
          </p:cNvSpPr>
          <p:nvPr>
            <p:ph type="title"/>
          </p:nvPr>
        </p:nvSpPr>
        <p:spPr>
          <a:xfrm>
            <a:off x="574675" y="179388"/>
            <a:ext cx="7556500" cy="1116012"/>
          </a:xfrm>
        </p:spPr>
        <p:txBody>
          <a:bodyPr/>
          <a:lstStyle/>
          <a:p>
            <a:pPr eaLnBrk="1" hangingPunct="1"/>
            <a:r>
              <a:rPr lang="en-US" smtClean="0"/>
              <a:t>The ontology tree editor menu</a:t>
            </a:r>
          </a:p>
        </p:txBody>
      </p:sp>
      <p:sp>
        <p:nvSpPr>
          <p:cNvPr id="68611" name="Content Placeholder 2"/>
          <p:cNvSpPr>
            <a:spLocks noGrp="1"/>
          </p:cNvSpPr>
          <p:nvPr>
            <p:ph idx="1"/>
          </p:nvPr>
        </p:nvSpPr>
        <p:spPr>
          <a:xfrm>
            <a:off x="498475" y="1981200"/>
            <a:ext cx="3844925" cy="2819400"/>
          </a:xfrm>
        </p:spPr>
        <p:txBody>
          <a:bodyPr/>
          <a:lstStyle/>
          <a:p>
            <a:pPr eaLnBrk="1" hangingPunct="1"/>
            <a:r>
              <a:rPr lang="en-US" smtClean="0"/>
              <a:t>Right clicking on the ontology tree editor prompts an extensive editing menu:</a:t>
            </a:r>
          </a:p>
          <a:p>
            <a:pPr eaLnBrk="1" hangingPunct="1"/>
            <a:endParaRPr lang="en-US" smtClean="0"/>
          </a:p>
        </p:txBody>
      </p:sp>
      <p:pic>
        <p:nvPicPr>
          <p:cNvPr id="68612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10100" y="1993900"/>
            <a:ext cx="4030663" cy="410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634" name="Picture 4" descr="Picture 36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3875" y="1143000"/>
            <a:ext cx="6969125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9635" name="Picture 5" descr="Picture 37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2600" y="3429000"/>
            <a:ext cx="7010400" cy="2954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9636" name="Title 1"/>
          <p:cNvSpPr>
            <a:spLocks noGrp="1"/>
          </p:cNvSpPr>
          <p:nvPr>
            <p:ph type="title"/>
          </p:nvPr>
        </p:nvSpPr>
        <p:spPr>
          <a:xfrm>
            <a:off x="508000" y="139700"/>
            <a:ext cx="8229600" cy="1143000"/>
          </a:xfrm>
        </p:spPr>
        <p:txBody>
          <a:bodyPr/>
          <a:lstStyle/>
          <a:p>
            <a:pPr eaLnBrk="1" hangingPunct="1"/>
            <a:r>
              <a:rPr lang="en-US" smtClean="0"/>
              <a:t>Global vs local selection modes</a:t>
            </a:r>
          </a:p>
        </p:txBody>
      </p:sp>
      <p:sp>
        <p:nvSpPr>
          <p:cNvPr id="9" name="Oval 8"/>
          <p:cNvSpPr/>
          <p:nvPr/>
        </p:nvSpPr>
        <p:spPr>
          <a:xfrm>
            <a:off x="5943600" y="1211263"/>
            <a:ext cx="381000" cy="312737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endParaRPr lang="en-US">
              <a:solidFill>
                <a:srgbClr val="FFFFFF"/>
              </a:solidFill>
              <a:ea typeface="ＭＳ Ｐゴシック" pitchFamily="-111" charset="-128"/>
              <a:cs typeface="ＭＳ Ｐゴシック" pitchFamily="-111" charset="-128"/>
            </a:endParaRPr>
          </a:p>
        </p:txBody>
      </p:sp>
      <p:sp>
        <p:nvSpPr>
          <p:cNvPr id="10" name="Oval 9"/>
          <p:cNvSpPr/>
          <p:nvPr/>
        </p:nvSpPr>
        <p:spPr>
          <a:xfrm>
            <a:off x="5956300" y="3395663"/>
            <a:ext cx="381000" cy="312737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endParaRPr lang="en-US">
              <a:solidFill>
                <a:srgbClr val="FFFFFF"/>
              </a:solidFill>
              <a:ea typeface="ＭＳ Ｐゴシック" pitchFamily="-111" charset="-128"/>
              <a:cs typeface="ＭＳ Ｐゴシック" pitchFamily="-111" charset="-128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4708525" y="1562100"/>
            <a:ext cx="3902075" cy="1714500"/>
          </a:xfrm>
          <a:prstGeom prst="ellipse">
            <a:avLst/>
          </a:prstGeom>
          <a:solidFill>
            <a:schemeClr val="bg1"/>
          </a:solidFill>
          <a:ln>
            <a:solidFill>
              <a:srgbClr val="33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r>
              <a:rPr lang="en-US" sz="2000" dirty="0">
                <a:solidFill>
                  <a:srgbClr val="000000"/>
                </a:solidFill>
                <a:ea typeface="ＭＳ Ｐゴシック" pitchFamily="-111" charset="-128"/>
                <a:cs typeface="ＭＳ Ｐゴシック" pitchFamily="-111" charset="-128"/>
              </a:rPr>
              <a:t>local mode</a:t>
            </a:r>
          </a:p>
          <a:p>
            <a:pPr algn="ctr">
              <a:defRPr/>
            </a:pPr>
            <a:r>
              <a:rPr lang="en-US" sz="2000" dirty="0">
                <a:solidFill>
                  <a:srgbClr val="000000"/>
                </a:solidFill>
                <a:ea typeface="ＭＳ Ｐゴシック" pitchFamily="-111" charset="-128"/>
                <a:cs typeface="ＭＳ Ｐゴシック" pitchFamily="-111" charset="-128"/>
              </a:rPr>
              <a:t>-selection in other components doesn’t affect selection here</a:t>
            </a:r>
          </a:p>
        </p:txBody>
      </p:sp>
      <p:sp>
        <p:nvSpPr>
          <p:cNvPr id="20" name="Oval 19"/>
          <p:cNvSpPr/>
          <p:nvPr/>
        </p:nvSpPr>
        <p:spPr>
          <a:xfrm>
            <a:off x="4987925" y="3835400"/>
            <a:ext cx="3140075" cy="1587500"/>
          </a:xfrm>
          <a:prstGeom prst="ellipse">
            <a:avLst/>
          </a:prstGeom>
          <a:solidFill>
            <a:schemeClr val="bg1"/>
          </a:solidFill>
          <a:ln>
            <a:solidFill>
              <a:srgbClr val="33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r>
              <a:rPr lang="en-US" sz="2000" dirty="0">
                <a:solidFill>
                  <a:srgbClr val="000000"/>
                </a:solidFill>
                <a:ea typeface="ＭＳ Ｐゴシック" pitchFamily="-111" charset="-128"/>
                <a:cs typeface="ＭＳ Ｐゴシック" pitchFamily="-111" charset="-128"/>
              </a:rPr>
              <a:t>global mode</a:t>
            </a:r>
          </a:p>
          <a:p>
            <a:pPr algn="ctr">
              <a:defRPr/>
            </a:pPr>
            <a:r>
              <a:rPr lang="en-US" sz="2000" dirty="0">
                <a:solidFill>
                  <a:srgbClr val="000000"/>
                </a:solidFill>
                <a:ea typeface="ＭＳ Ｐゴシック" pitchFamily="-111" charset="-128"/>
                <a:cs typeface="ＭＳ Ｐゴシック" pitchFamily="-111" charset="-128"/>
              </a:rPr>
              <a:t>- 2 way auto sync with other components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0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3225" y="2062267"/>
            <a:ext cx="8448675" cy="3919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2707" name="Title 1"/>
          <p:cNvSpPr>
            <a:spLocks noGrp="1"/>
          </p:cNvSpPr>
          <p:nvPr>
            <p:ph type="title"/>
          </p:nvPr>
        </p:nvSpPr>
        <p:spPr>
          <a:xfrm>
            <a:off x="508000" y="152399"/>
            <a:ext cx="7245029" cy="1632589"/>
          </a:xfrm>
        </p:spPr>
        <p:txBody>
          <a:bodyPr/>
          <a:lstStyle/>
          <a:p>
            <a:pPr eaLnBrk="1" hangingPunct="1"/>
            <a:r>
              <a:rPr lang="en-US" b="1" dirty="0" smtClean="0">
                <a:latin typeface="Calibri" charset="0"/>
              </a:rPr>
              <a:t>Drag and drop term move </a:t>
            </a:r>
            <a:br>
              <a:rPr lang="en-US" b="1" dirty="0" smtClean="0">
                <a:latin typeface="Calibri" charset="0"/>
              </a:rPr>
            </a:br>
            <a:r>
              <a:rPr lang="en-US" b="1" dirty="0" smtClean="0">
                <a:latin typeface="Calibri" charset="0"/>
              </a:rPr>
              <a:t>	</a:t>
            </a:r>
            <a:r>
              <a:rPr lang="en-US" sz="2400" b="1" dirty="0" smtClean="0">
                <a:latin typeface="Calibri" charset="0"/>
              </a:rPr>
              <a:t>–</a:t>
            </a:r>
            <a:r>
              <a:rPr lang="en-US" b="1" dirty="0" smtClean="0">
                <a:latin typeface="Calibri" charset="0"/>
              </a:rPr>
              <a:t> </a:t>
            </a:r>
            <a:r>
              <a:rPr lang="en-US" sz="2400" b="1" dirty="0" smtClean="0">
                <a:latin typeface="Calibri" charset="0"/>
              </a:rPr>
              <a:t>changes classification or necessary conditions for class membership</a:t>
            </a:r>
            <a:br>
              <a:rPr lang="en-US" sz="2400" b="1" dirty="0" smtClean="0">
                <a:latin typeface="Calibri" charset="0"/>
              </a:rPr>
            </a:br>
            <a:endParaRPr 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730" name="Picture 10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71900" y="4884738"/>
            <a:ext cx="3924300" cy="852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3731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06500" y="2984500"/>
            <a:ext cx="5308600" cy="104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3732" name="Title 1"/>
          <p:cNvSpPr>
            <a:spLocks noGrp="1"/>
          </p:cNvSpPr>
          <p:nvPr>
            <p:ph type="title"/>
          </p:nvPr>
        </p:nvSpPr>
        <p:spPr>
          <a:xfrm>
            <a:off x="508000" y="152400"/>
            <a:ext cx="8229600" cy="1143000"/>
          </a:xfrm>
        </p:spPr>
        <p:txBody>
          <a:bodyPr/>
          <a:lstStyle/>
          <a:p>
            <a:pPr eaLnBrk="1" hangingPunct="1"/>
            <a:r>
              <a:rPr lang="en-US" b="1" smtClean="0">
                <a:latin typeface="Calibri" charset="0"/>
              </a:rPr>
              <a:t>Drag and drop term move</a:t>
            </a:r>
            <a:br>
              <a:rPr lang="en-US" b="1" smtClean="0">
                <a:latin typeface="Calibri" charset="0"/>
              </a:rPr>
            </a:br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Making new cross product terms</a:t>
            </a:r>
          </a:p>
        </p:txBody>
      </p:sp>
      <p:sp>
        <p:nvSpPr>
          <p:cNvPr id="890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Add a new root class:</a:t>
            </a:r>
          </a:p>
        </p:txBody>
      </p:sp>
      <p:pic>
        <p:nvPicPr>
          <p:cNvPr id="89092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31950" y="2324100"/>
            <a:ext cx="5321300" cy="55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9093" name="Picture 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7850" y="3378200"/>
            <a:ext cx="7988300" cy="261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8043" y="2921699"/>
            <a:ext cx="7556313" cy="1116106"/>
          </a:xfrm>
        </p:spPr>
        <p:txBody>
          <a:bodyPr/>
          <a:lstStyle/>
          <a:p>
            <a:r>
              <a:rPr lang="en-US" dirty="0" smtClean="0"/>
              <a:t>Very Quick Guide to Protégé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Running a reasoner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950" y="2305050"/>
            <a:ext cx="3086100" cy="22479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Searching for terms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7752" y="2184614"/>
            <a:ext cx="2819400" cy="29591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4805" y="1671368"/>
            <a:ext cx="6207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595959"/>
                </a:solidFill>
              </a:rPr>
              <a:t>Use wild-card (*) before a search string to search in term</a:t>
            </a:r>
            <a:endParaRPr lang="en-US" dirty="0">
              <a:solidFill>
                <a:srgbClr val="59595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 tree +/- inference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091" y="1600200"/>
            <a:ext cx="5228472" cy="237138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0753" y="4131433"/>
            <a:ext cx="5171413" cy="246435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4695" y="5026904"/>
            <a:ext cx="275605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Easily </a:t>
            </a:r>
            <a:r>
              <a:rPr lang="en-US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check 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that </a:t>
            </a:r>
          </a:p>
          <a:p>
            <a:r>
              <a:rPr lang="en-US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inferred classification</a:t>
            </a:r>
          </a:p>
          <a:p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is what you intend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75399" y="2293559"/>
            <a:ext cx="211270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Easily </a:t>
            </a:r>
            <a:r>
              <a:rPr lang="en-US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check 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what</a:t>
            </a:r>
          </a:p>
          <a:p>
            <a:r>
              <a:rPr lang="en-US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classification 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is</a:t>
            </a:r>
          </a:p>
          <a:p>
            <a:r>
              <a:rPr lang="en-US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asserted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180" y="271148"/>
            <a:ext cx="6769100" cy="6273800"/>
          </a:xfrm>
          <a:prstGeom prst="rect">
            <a:avLst/>
          </a:prstGeom>
        </p:spPr>
      </p:pic>
      <p:sp>
        <p:nvSpPr>
          <p:cNvPr id="6" name="Right Brace 5"/>
          <p:cNvSpPr/>
          <p:nvPr/>
        </p:nvSpPr>
        <p:spPr>
          <a:xfrm>
            <a:off x="7396280" y="5818123"/>
            <a:ext cx="155448" cy="647899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7551728" y="5845927"/>
            <a:ext cx="16129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Inferred</a:t>
            </a:r>
          </a:p>
          <a:p>
            <a:r>
              <a:rPr lang="en-US" dirty="0" smtClean="0"/>
              <a:t>classification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548884"/>
            <a:ext cx="7556313" cy="1116106"/>
          </a:xfrm>
        </p:spPr>
        <p:txBody>
          <a:bodyPr/>
          <a:lstStyle/>
          <a:p>
            <a:r>
              <a:rPr lang="en-US" dirty="0" smtClean="0"/>
              <a:t>DL Query Tab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351" y="1627485"/>
            <a:ext cx="4601599" cy="367232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0526" y="3075267"/>
            <a:ext cx="5194300" cy="35433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68038" y="2021442"/>
            <a:ext cx="29872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595959"/>
                </a:solidFill>
              </a:rPr>
              <a:t>Use to check inference is correct and complete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Editing in Protégé</a:t>
            </a:r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1702" y="3557890"/>
            <a:ext cx="1699927" cy="67531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5784" y="4871730"/>
            <a:ext cx="1891047" cy="57088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5784" y="2377215"/>
            <a:ext cx="620826" cy="59865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106705" y="2536043"/>
            <a:ext cx="53849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595959"/>
                </a:solidFill>
              </a:rPr>
              <a:t>Add (annotation, </a:t>
            </a:r>
            <a:r>
              <a:rPr lang="en-US" dirty="0" err="1" smtClean="0">
                <a:solidFill>
                  <a:srgbClr val="595959"/>
                </a:solidFill>
              </a:rPr>
              <a:t>superclass</a:t>
            </a:r>
            <a:r>
              <a:rPr lang="en-US" dirty="0" smtClean="0">
                <a:solidFill>
                  <a:srgbClr val="595959"/>
                </a:solidFill>
              </a:rPr>
              <a:t>, equivalent class etc)</a:t>
            </a:r>
            <a:endParaRPr lang="en-US" dirty="0">
              <a:solidFill>
                <a:srgbClr val="595959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253253" y="3780009"/>
            <a:ext cx="2478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595959"/>
                </a:solidFill>
              </a:rPr>
              <a:t>Annotate; Delete; Edit</a:t>
            </a:r>
            <a:endParaRPr lang="en-US" dirty="0">
              <a:solidFill>
                <a:srgbClr val="595959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227335" y="4959181"/>
            <a:ext cx="33757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595959"/>
                </a:solidFill>
              </a:rPr>
              <a:t>Add child; Add sibling; Delete</a:t>
            </a:r>
            <a:endParaRPr lang="en-US" dirty="0">
              <a:solidFill>
                <a:srgbClr val="59595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Editing in Protégé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474" y="1749321"/>
            <a:ext cx="2322837" cy="518319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1735770" y="1749320"/>
            <a:ext cx="544262" cy="518319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4092448" y="4729655"/>
            <a:ext cx="3961904" cy="1606788"/>
          </a:xfrm>
        </p:spPr>
        <p:txBody>
          <a:bodyPr>
            <a:normAutofit/>
          </a:bodyPr>
          <a:lstStyle/>
          <a:p>
            <a:r>
              <a:rPr lang="en-US" dirty="0" smtClean="0"/>
              <a:t>Class expression editor</a:t>
            </a:r>
          </a:p>
          <a:p>
            <a:pPr lvl="1"/>
            <a:r>
              <a:rPr lang="en-US" dirty="0" smtClean="0"/>
              <a:t>Type DL expressions.</a:t>
            </a:r>
          </a:p>
          <a:p>
            <a:pPr lvl="1"/>
            <a:r>
              <a:rPr lang="en-US" dirty="0" err="1" smtClean="0"/>
              <a:t>Autocomplete</a:t>
            </a:r>
            <a:r>
              <a:rPr lang="en-US" dirty="0" smtClean="0"/>
              <a:t> names with tab</a:t>
            </a:r>
          </a:p>
          <a:p>
            <a:pPr lvl="1"/>
            <a:r>
              <a:rPr lang="en-US" dirty="0" smtClean="0"/>
              <a:t>quote names with spaces</a:t>
            </a:r>
          </a:p>
          <a:p>
            <a:endParaRPr lang="en-US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147" y="2569686"/>
            <a:ext cx="7028205" cy="19008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OBO-OWL cheat sheet:  classification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981200"/>
            <a:ext cx="3713653" cy="4144963"/>
          </a:xfrm>
        </p:spPr>
        <p:txBody>
          <a:bodyPr/>
          <a:lstStyle/>
          <a:p>
            <a:r>
              <a:rPr lang="en-US" sz="2400" dirty="0" smtClean="0"/>
              <a:t>OWL </a:t>
            </a:r>
            <a:r>
              <a:rPr lang="en-US" dirty="0" smtClean="0"/>
              <a:t>Manchester Syntax </a:t>
            </a:r>
          </a:p>
          <a:p>
            <a:pPr lvl="1"/>
            <a:r>
              <a:rPr lang="en-US" dirty="0" smtClean="0"/>
              <a:t>antenna </a:t>
            </a:r>
            <a:r>
              <a:rPr lang="en-US" dirty="0" smtClean="0">
                <a:solidFill>
                  <a:srgbClr val="3366FF"/>
                </a:solidFill>
              </a:rPr>
              <a:t>SubClassOf </a:t>
            </a:r>
            <a:r>
              <a:rPr lang="en-US" dirty="0" smtClean="0"/>
              <a:t>appendage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>
              <a:buNone/>
            </a:pPr>
            <a:endParaRPr lang="en-US" dirty="0" smtClean="0"/>
          </a:p>
          <a:p>
            <a:r>
              <a:rPr lang="en-US" sz="2400" dirty="0" smtClean="0"/>
              <a:t>OBO format :</a:t>
            </a:r>
          </a:p>
          <a:p>
            <a:pPr lvl="1"/>
            <a:r>
              <a:rPr lang="en-US" dirty="0" smtClean="0"/>
              <a:t>name: antenna</a:t>
            </a:r>
          </a:p>
          <a:p>
            <a:pPr lvl="1"/>
            <a:r>
              <a:rPr lang="en-US" dirty="0" err="1" smtClean="0"/>
              <a:t>is_a</a:t>
            </a:r>
            <a:r>
              <a:rPr lang="en-US" dirty="0" smtClean="0"/>
              <a:t>: appendage 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6172" y="3429000"/>
            <a:ext cx="1749546" cy="64007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876485"/>
            <a:ext cx="2362200" cy="609600"/>
          </a:xfrm>
          <a:prstGeom prst="rect">
            <a:avLst/>
          </a:prstGeom>
        </p:spPr>
      </p:pic>
      <p:sp>
        <p:nvSpPr>
          <p:cNvPr id="8" name="Content Placeholder 2"/>
          <p:cNvSpPr txBox="1">
            <a:spLocks/>
          </p:cNvSpPr>
          <p:nvPr/>
        </p:nvSpPr>
        <p:spPr>
          <a:xfrm>
            <a:off x="4356622" y="1981200"/>
            <a:ext cx="3713653" cy="4144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indent="-228600" defTabSz="914400">
              <a:spcBef>
                <a:spcPts val="2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</a:pPr>
            <a:r>
              <a:rPr 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Protégé 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tabLst/>
              <a:defRPr/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tabLst/>
              <a:defRPr/>
            </a:pPr>
            <a:endParaRPr lang="en-US" sz="200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tabLst/>
              <a:defRPr/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OBO</a:t>
            </a:r>
            <a:r>
              <a:rPr 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-Edit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tabLst/>
              <a:defRPr/>
            </a:pPr>
            <a:endParaRPr lang="en-US" sz="200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tabLst/>
              <a:defRPr/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ct val="75000"/>
              <a:tabLst/>
              <a:defRPr/>
            </a:pPr>
            <a:endParaRPr kumimoji="0" lang="en-US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tabLst/>
              <a:defRPr/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tabLst/>
              <a:defRPr/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927" y="5700713"/>
            <a:ext cx="6756400" cy="8509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7800" y="2447350"/>
            <a:ext cx="1428372" cy="87785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OBO-OWL cheat sheet:</a:t>
            </a:r>
            <a:br>
              <a:rPr lang="en-US" dirty="0" smtClean="0"/>
            </a:br>
            <a:r>
              <a:rPr lang="en-US" dirty="0" smtClean="0"/>
              <a:t> </a:t>
            </a:r>
            <a:r>
              <a:rPr lang="en-US" sz="2400" dirty="0" smtClean="0"/>
              <a:t>necessary conditions for class membership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981200"/>
            <a:ext cx="3713653" cy="4144963"/>
          </a:xfrm>
        </p:spPr>
        <p:txBody>
          <a:bodyPr/>
          <a:lstStyle/>
          <a:p>
            <a:r>
              <a:rPr lang="en-US" sz="2400" dirty="0" smtClean="0"/>
              <a:t>OWL </a:t>
            </a:r>
            <a:r>
              <a:rPr lang="en-US" dirty="0" smtClean="0"/>
              <a:t>Manchester Syntax </a:t>
            </a:r>
          </a:p>
          <a:p>
            <a:pPr lvl="1"/>
            <a:r>
              <a:rPr lang="en-US" dirty="0" smtClean="0"/>
              <a:t>antenna </a:t>
            </a:r>
            <a:r>
              <a:rPr lang="en-US" dirty="0" smtClean="0">
                <a:solidFill>
                  <a:srgbClr val="3366FF"/>
                </a:solidFill>
              </a:rPr>
              <a:t>SubClassOf </a:t>
            </a:r>
            <a:r>
              <a:rPr lang="en-US" b="1" dirty="0" smtClean="0"/>
              <a:t>part_of</a:t>
            </a:r>
            <a:r>
              <a:rPr lang="en-US" dirty="0" smtClean="0"/>
              <a:t> </a:t>
            </a:r>
            <a:r>
              <a:rPr lang="en-US" dirty="0" smtClean="0">
                <a:solidFill>
                  <a:schemeClr val="accent2">
                    <a:lumMod val="50000"/>
                    <a:lumOff val="50000"/>
                  </a:schemeClr>
                </a:solidFill>
              </a:rPr>
              <a:t>some </a:t>
            </a:r>
            <a:r>
              <a:rPr lang="en-US" dirty="0" smtClean="0"/>
              <a:t>head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>
              <a:buNone/>
            </a:pPr>
            <a:endParaRPr lang="en-US" dirty="0" smtClean="0"/>
          </a:p>
          <a:p>
            <a:r>
              <a:rPr lang="en-US" sz="2400" dirty="0" smtClean="0"/>
              <a:t>OBO format :</a:t>
            </a:r>
          </a:p>
          <a:p>
            <a:pPr lvl="1"/>
            <a:r>
              <a:rPr lang="en-US" b="1" dirty="0" smtClean="0"/>
              <a:t>name</a:t>
            </a:r>
            <a:r>
              <a:rPr lang="en-US" dirty="0" smtClean="0"/>
              <a:t>: antenna</a:t>
            </a:r>
          </a:p>
          <a:p>
            <a:pPr lvl="1"/>
            <a:r>
              <a:rPr lang="en-US" b="1" dirty="0" smtClean="0"/>
              <a:t>relationship</a:t>
            </a:r>
            <a:r>
              <a:rPr lang="en-US" dirty="0" smtClean="0"/>
              <a:t>:  </a:t>
            </a:r>
            <a:r>
              <a:rPr lang="en-US" dirty="0" err="1" smtClean="0"/>
              <a:t>part_of</a:t>
            </a:r>
            <a:r>
              <a:rPr lang="en-US" dirty="0" smtClean="0"/>
              <a:t> head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4356622" y="1981200"/>
            <a:ext cx="3713653" cy="4144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indent="-228600" defTabSz="914400">
              <a:spcBef>
                <a:spcPts val="2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</a:pPr>
            <a:r>
              <a:rPr 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Protégé 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tabLst/>
              <a:defRPr/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tabLst/>
              <a:defRPr/>
            </a:pPr>
            <a:endParaRPr lang="en-US" sz="200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tabLst/>
              <a:defRPr/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OBO</a:t>
            </a:r>
            <a:r>
              <a:rPr 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-Edit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tabLst/>
              <a:defRPr/>
            </a:pPr>
            <a:endParaRPr lang="en-US" sz="200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tabLst/>
              <a:defRPr/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ct val="75000"/>
              <a:tabLst/>
              <a:defRPr/>
            </a:pPr>
            <a:endParaRPr kumimoji="0" lang="en-US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tabLst/>
              <a:defRPr/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tabLst/>
              <a:defRPr/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6472" y="4863720"/>
            <a:ext cx="2260600" cy="5715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6126163"/>
            <a:ext cx="7747000" cy="3683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6172" y="3371850"/>
            <a:ext cx="2082800" cy="9144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4138" y="2507410"/>
            <a:ext cx="1406546" cy="8644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OBO-OWL cheat sheet:</a:t>
            </a:r>
            <a:br>
              <a:rPr lang="en-US" dirty="0" smtClean="0"/>
            </a:br>
            <a:r>
              <a:rPr lang="en-US" sz="2200" dirty="0" smtClean="0"/>
              <a:t>necessary and sufficient conditions for class membership</a:t>
            </a:r>
            <a:endParaRPr lang="en-US" sz="2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981200"/>
            <a:ext cx="3713653" cy="4144963"/>
          </a:xfrm>
        </p:spPr>
        <p:txBody>
          <a:bodyPr>
            <a:normAutofit fontScale="92500"/>
          </a:bodyPr>
          <a:lstStyle/>
          <a:p>
            <a:r>
              <a:rPr lang="en-US" sz="2400" dirty="0" smtClean="0"/>
              <a:t>OWL Manchester Syntax </a:t>
            </a:r>
          </a:p>
          <a:p>
            <a:pPr lvl="1"/>
            <a:r>
              <a:rPr lang="en-US" dirty="0" smtClean="0"/>
              <a:t>antennal sense organ </a:t>
            </a:r>
            <a:r>
              <a:rPr lang="en-US" dirty="0" err="1" smtClean="0">
                <a:solidFill>
                  <a:srgbClr val="3366FF"/>
                </a:solidFill>
              </a:rPr>
              <a:t>EquivalentTo</a:t>
            </a:r>
            <a:r>
              <a:rPr lang="en-US" dirty="0" smtClean="0">
                <a:solidFill>
                  <a:srgbClr val="3366FF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‘sense organ’ </a:t>
            </a:r>
            <a:r>
              <a:rPr lang="en-US" dirty="0" smtClean="0">
                <a:solidFill>
                  <a:srgbClr val="5BB6B7"/>
                </a:solidFill>
              </a:rPr>
              <a:t>that </a:t>
            </a:r>
            <a:r>
              <a:rPr lang="en-US" b="1" dirty="0" err="1" smtClean="0"/>
              <a:t>part_of</a:t>
            </a:r>
            <a:r>
              <a:rPr lang="en-US" dirty="0" smtClean="0"/>
              <a:t> </a:t>
            </a:r>
            <a:r>
              <a:rPr lang="en-US" dirty="0" smtClean="0">
                <a:solidFill>
                  <a:schemeClr val="accent2">
                    <a:lumMod val="50000"/>
                    <a:lumOff val="50000"/>
                  </a:schemeClr>
                </a:solidFill>
              </a:rPr>
              <a:t>some </a:t>
            </a:r>
            <a:r>
              <a:rPr lang="en-US" dirty="0" smtClean="0"/>
              <a:t>antenna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(</a:t>
            </a:r>
            <a:r>
              <a:rPr lang="en-US" dirty="0" smtClean="0">
                <a:solidFill>
                  <a:srgbClr val="5BB6B7"/>
                </a:solidFill>
              </a:rPr>
              <a:t>that / and </a:t>
            </a:r>
            <a:r>
              <a:rPr lang="en-US" dirty="0" smtClean="0"/>
              <a:t>are </a:t>
            </a:r>
            <a:r>
              <a:rPr lang="en-US" dirty="0" err="1" smtClean="0"/>
              <a:t>interchangable</a:t>
            </a:r>
            <a:r>
              <a:rPr lang="en-US" dirty="0" smtClean="0"/>
              <a:t> in MS)</a:t>
            </a:r>
          </a:p>
          <a:p>
            <a:r>
              <a:rPr lang="en-US" sz="2400" dirty="0" smtClean="0"/>
              <a:t>OBO format :</a:t>
            </a:r>
          </a:p>
          <a:p>
            <a:pPr lvl="1"/>
            <a:r>
              <a:rPr lang="en-US" b="1" dirty="0" smtClean="0"/>
              <a:t>name</a:t>
            </a:r>
            <a:r>
              <a:rPr lang="en-US" dirty="0" smtClean="0"/>
              <a:t>: antennal sense organ</a:t>
            </a:r>
          </a:p>
          <a:p>
            <a:pPr lvl="1"/>
            <a:r>
              <a:rPr lang="en-US" b="1" dirty="0" err="1" smtClean="0"/>
              <a:t>intersection_of</a:t>
            </a:r>
            <a:r>
              <a:rPr lang="en-US" dirty="0" smtClean="0"/>
              <a:t>:  sense organ</a:t>
            </a:r>
          </a:p>
          <a:p>
            <a:pPr lvl="1"/>
            <a:r>
              <a:rPr lang="en-US" b="1" dirty="0" err="1" smtClean="0"/>
              <a:t>intersection_of</a:t>
            </a:r>
            <a:r>
              <a:rPr lang="en-US" dirty="0" smtClean="0"/>
              <a:t>: </a:t>
            </a:r>
            <a:r>
              <a:rPr lang="en-US" dirty="0" err="1" smtClean="0"/>
              <a:t>part_of</a:t>
            </a:r>
            <a:r>
              <a:rPr lang="en-US" dirty="0" smtClean="0"/>
              <a:t> antenna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4356622" y="1981200"/>
            <a:ext cx="3713653" cy="4144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indent="-228600" defTabSz="914400">
              <a:spcBef>
                <a:spcPts val="2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</a:pPr>
            <a:r>
              <a:rPr 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Protégé 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tabLst/>
              <a:defRPr/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tabLst/>
              <a:defRPr/>
            </a:pPr>
            <a:endParaRPr lang="en-US" sz="200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ct val="75000"/>
              <a:tabLst/>
              <a:defRPr/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OBO</a:t>
            </a:r>
            <a:r>
              <a:rPr 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-Edit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tabLst/>
              <a:defRPr/>
            </a:pPr>
            <a:endParaRPr lang="en-US" sz="200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tabLst/>
              <a:defRPr/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ct val="75000"/>
              <a:tabLst/>
              <a:defRPr/>
            </a:pPr>
            <a:endParaRPr kumimoji="0" lang="en-US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tabLst/>
              <a:defRPr/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tabLst/>
              <a:defRPr/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564560"/>
            <a:ext cx="1406546" cy="86444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429000"/>
            <a:ext cx="4051300" cy="6223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4860729"/>
            <a:ext cx="4380330" cy="172499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OBO-OWL cheat sheet:</a:t>
            </a:r>
            <a:br>
              <a:rPr lang="en-US" dirty="0" smtClean="0"/>
            </a:br>
            <a:r>
              <a:rPr lang="en-US" sz="2200" dirty="0" smtClean="0"/>
              <a:t>relations / Object Properties</a:t>
            </a:r>
            <a:endParaRPr lang="en-US" sz="2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981200"/>
            <a:ext cx="3713653" cy="4144963"/>
          </a:xfrm>
        </p:spPr>
        <p:txBody>
          <a:bodyPr>
            <a:normAutofit/>
          </a:bodyPr>
          <a:lstStyle/>
          <a:p>
            <a:r>
              <a:rPr lang="en-US" sz="2400" dirty="0" smtClean="0"/>
              <a:t>OWL</a:t>
            </a:r>
          </a:p>
          <a:p>
            <a:pPr lvl="1"/>
            <a:r>
              <a:rPr lang="en-US" dirty="0" smtClean="0"/>
              <a:t>object property</a:t>
            </a:r>
          </a:p>
          <a:p>
            <a:pPr lvl="1"/>
            <a:endParaRPr lang="en-US" dirty="0" smtClean="0"/>
          </a:p>
          <a:p>
            <a:r>
              <a:rPr lang="en-US" sz="2400" dirty="0" smtClean="0"/>
              <a:t>OBO</a:t>
            </a:r>
          </a:p>
          <a:p>
            <a:pPr lvl="1"/>
            <a:r>
              <a:rPr lang="en-US" dirty="0" smtClean="0"/>
              <a:t>relation</a:t>
            </a:r>
          </a:p>
          <a:p>
            <a:pPr lvl="1">
              <a:buNone/>
            </a:pPr>
            <a:endParaRPr lang="en-US" dirty="0" smtClean="0"/>
          </a:p>
          <a:p>
            <a:r>
              <a:rPr lang="en-US" sz="2400" dirty="0" smtClean="0"/>
              <a:t>OBO format</a:t>
            </a:r>
          </a:p>
          <a:p>
            <a:pPr lvl="1"/>
            <a:r>
              <a:rPr lang="en-US" dirty="0" err="1" smtClean="0"/>
              <a:t>Typedef</a:t>
            </a:r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3306965" y="1981200"/>
            <a:ext cx="3713653" cy="4144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indent="-228600" defTabSz="914400">
              <a:spcBef>
                <a:spcPts val="2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</a:pPr>
            <a:r>
              <a:rPr 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Protégé 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tabLst/>
              <a:defRPr/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tabLst/>
              <a:defRPr/>
            </a:pPr>
            <a:endParaRPr lang="en-US" sz="200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ct val="75000"/>
              <a:tabLst/>
              <a:defRPr/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OBO</a:t>
            </a:r>
            <a:r>
              <a:rPr 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-Edit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tabLst/>
              <a:defRPr/>
            </a:pPr>
            <a:endParaRPr lang="en-US" sz="200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tabLst/>
              <a:defRPr/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ct val="75000"/>
              <a:tabLst/>
              <a:defRPr/>
            </a:pPr>
            <a:endParaRPr kumimoji="0" lang="en-US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tabLst/>
              <a:defRPr/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tabLst/>
              <a:defRPr/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6765" y="2207994"/>
            <a:ext cx="2743200" cy="22606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6487" y="4628295"/>
            <a:ext cx="2908300" cy="1981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Introducing the tutorial ontology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662836"/>
            <a:ext cx="4041776" cy="4906849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Upper level classes</a:t>
            </a:r>
          </a:p>
          <a:p>
            <a:pPr lvl="1"/>
            <a:r>
              <a:rPr lang="en-US" dirty="0" smtClean="0"/>
              <a:t>Basic Formal ontology – general abstract classes: process; object; quality</a:t>
            </a:r>
          </a:p>
          <a:p>
            <a:pPr lvl="1"/>
            <a:r>
              <a:rPr lang="en-US" dirty="0" smtClean="0"/>
              <a:t>CARO 2.0 (draft) – abstract classes for anatomy (anatomical space; cell; </a:t>
            </a:r>
            <a:r>
              <a:rPr lang="en-US" dirty="0" err="1" smtClean="0"/>
              <a:t>acellular</a:t>
            </a:r>
            <a:r>
              <a:rPr lang="en-US" dirty="0" smtClean="0"/>
              <a:t> </a:t>
            </a:r>
            <a:r>
              <a:rPr lang="en-US" dirty="0" err="1" smtClean="0"/>
              <a:t>stucture</a:t>
            </a:r>
            <a:r>
              <a:rPr lang="en-US" dirty="0" smtClean="0"/>
              <a:t>…)</a:t>
            </a:r>
          </a:p>
          <a:p>
            <a:pPr lvl="1"/>
            <a:r>
              <a:rPr lang="en-US" dirty="0" smtClean="0"/>
              <a:t>FUNCARO – Functional classifications using GO</a:t>
            </a:r>
          </a:p>
          <a:p>
            <a:r>
              <a:rPr lang="en-US" dirty="0" smtClean="0"/>
              <a:t>Imported differentia</a:t>
            </a:r>
          </a:p>
          <a:p>
            <a:pPr lvl="1"/>
            <a:r>
              <a:rPr lang="en-US" dirty="0" smtClean="0"/>
              <a:t>GO terms – imported for recording function</a:t>
            </a:r>
          </a:p>
          <a:p>
            <a:pPr lvl="1"/>
            <a:r>
              <a:rPr lang="en-US" dirty="0" smtClean="0"/>
              <a:t>PATO terms – imported for recording qualities</a:t>
            </a:r>
          </a:p>
          <a:p>
            <a:r>
              <a:rPr lang="en-US" dirty="0" smtClean="0"/>
              <a:t>tutorial: some specific insect anatomical classes</a:t>
            </a:r>
            <a:endParaRPr lang="en-US" dirty="0"/>
          </a:p>
        </p:txBody>
      </p:sp>
      <p:pic>
        <p:nvPicPr>
          <p:cNvPr id="4" name="Picture 49" descr="nrn2098-f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40250" y="1662836"/>
            <a:ext cx="3995260" cy="449219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93" y="2312894"/>
            <a:ext cx="7556313" cy="1116106"/>
          </a:xfrm>
        </p:spPr>
        <p:txBody>
          <a:bodyPr/>
          <a:lstStyle/>
          <a:p>
            <a:r>
              <a:rPr lang="en-US" dirty="0" smtClean="0"/>
              <a:t>Exercise 1 – Tracing multiple classification of single sense organ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	Please open:</a:t>
            </a:r>
            <a:br>
              <a:rPr lang="en-US" dirty="0" smtClean="0"/>
            </a:br>
            <a:r>
              <a:rPr lang="en-US" dirty="0" smtClean="0"/>
              <a:t>		</a:t>
            </a:r>
            <a:r>
              <a:rPr lang="en-US" sz="2400" dirty="0" smtClean="0"/>
              <a:t>OBO format converter</a:t>
            </a:r>
            <a:br>
              <a:rPr lang="en-US" sz="2400" dirty="0" smtClean="0"/>
            </a:br>
            <a:r>
              <a:rPr lang="en-US" sz="2400" dirty="0" smtClean="0"/>
              <a:t>		OBO-Edit with </a:t>
            </a:r>
            <a:r>
              <a:rPr lang="en-US" sz="2400" dirty="0" err="1" smtClean="0"/>
              <a:t>tutorial.obo</a:t>
            </a:r>
            <a:r>
              <a:rPr lang="en-US" sz="2400" dirty="0" smtClean="0"/>
              <a:t> open</a:t>
            </a:r>
            <a:br>
              <a:rPr lang="en-US" sz="2400" dirty="0" smtClean="0"/>
            </a:br>
            <a:r>
              <a:rPr lang="en-US" sz="2400" dirty="0" smtClean="0"/>
              <a:t>		Protégé 4.1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OBO Format Converter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577" y="1422515"/>
            <a:ext cx="5093274" cy="375380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54818" y="5597837"/>
            <a:ext cx="5799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595959"/>
                </a:solidFill>
              </a:rPr>
              <a:t>Convert </a:t>
            </a:r>
            <a:r>
              <a:rPr lang="en-US" dirty="0" err="1" smtClean="0">
                <a:solidFill>
                  <a:srgbClr val="595959"/>
                </a:solidFill>
              </a:rPr>
              <a:t>tutorial.obo</a:t>
            </a:r>
            <a:r>
              <a:rPr lang="en-US" dirty="0" smtClean="0">
                <a:solidFill>
                  <a:srgbClr val="595959"/>
                </a:solidFill>
              </a:rPr>
              <a:t> to </a:t>
            </a:r>
            <a:r>
              <a:rPr lang="en-US" dirty="0" err="1" smtClean="0">
                <a:solidFill>
                  <a:srgbClr val="595959"/>
                </a:solidFill>
              </a:rPr>
              <a:t>tutorial.owl</a:t>
            </a:r>
            <a:endParaRPr lang="en-US" dirty="0">
              <a:solidFill>
                <a:srgbClr val="59595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4575" y="2870947"/>
            <a:ext cx="7556313" cy="1116106"/>
          </a:xfrm>
        </p:spPr>
        <p:txBody>
          <a:bodyPr/>
          <a:lstStyle/>
          <a:p>
            <a:r>
              <a:rPr lang="en-US" dirty="0" smtClean="0"/>
              <a:t>Quick live demo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tutorial.owl</a:t>
            </a:r>
            <a:r>
              <a:rPr lang="en-US" dirty="0" smtClean="0"/>
              <a:t> in Protégé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Open </a:t>
            </a:r>
            <a:r>
              <a:rPr lang="en-US" dirty="0" err="1" smtClean="0"/>
              <a:t>tutorial.owl</a:t>
            </a:r>
            <a:r>
              <a:rPr lang="en-US" dirty="0" smtClean="0"/>
              <a:t> in Protégé.</a:t>
            </a:r>
          </a:p>
          <a:p>
            <a:r>
              <a:rPr lang="en-US" dirty="0" smtClean="0"/>
              <a:t>Run reasoner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search for ‘pedicel’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8541" y="2724564"/>
            <a:ext cx="2468418" cy="179798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0737" y="5353743"/>
            <a:ext cx="2386222" cy="8590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Auto-classification on </a:t>
            </a:r>
            <a:r>
              <a:rPr lang="en-US" dirty="0" err="1" smtClean="0"/>
              <a:t>partonomy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144" y="2403653"/>
            <a:ext cx="3009680" cy="145829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3322" y="2125800"/>
            <a:ext cx="4457309" cy="163200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144" y="2048053"/>
            <a:ext cx="2358100" cy="43438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5274" y="4621358"/>
            <a:ext cx="3878048" cy="180621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4034" y="4439524"/>
            <a:ext cx="4205487" cy="198804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819" y="3996932"/>
            <a:ext cx="3251292" cy="426732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24668" y="3996932"/>
            <a:ext cx="4365567" cy="4425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Multiple classification of single sense organ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403" y="3429000"/>
            <a:ext cx="7936525" cy="316764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7" y="1801156"/>
            <a:ext cx="4076700" cy="1435100"/>
          </a:xfrm>
          <a:prstGeom prst="rect">
            <a:avLst/>
          </a:prstGeom>
        </p:spPr>
      </p:pic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5020610" y="2299355"/>
            <a:ext cx="3648318" cy="636308"/>
          </a:xfrm>
        </p:spPr>
        <p:txBody>
          <a:bodyPr/>
          <a:lstStyle/>
          <a:p>
            <a:pPr marL="228600" lvl="1">
              <a:spcBef>
                <a:spcPts val="2000"/>
              </a:spcBef>
              <a:buClr>
                <a:schemeClr val="accent1"/>
              </a:buClr>
            </a:pPr>
            <a:r>
              <a:rPr lang="en-US" dirty="0" smtClean="0"/>
              <a:t>Start search with wild card (*)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Asserting a classification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649" y="1963024"/>
            <a:ext cx="3628434" cy="230494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649" y="4450056"/>
            <a:ext cx="3628434" cy="192966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7077" y="5040229"/>
            <a:ext cx="3009900" cy="5969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4742" y="2001898"/>
            <a:ext cx="3797300" cy="2489200"/>
          </a:xfrm>
          <a:prstGeom prst="rect">
            <a:avLst/>
          </a:prstGeom>
        </p:spPr>
      </p:pic>
      <p:sp>
        <p:nvSpPr>
          <p:cNvPr id="13" name="Title 1"/>
          <p:cNvSpPr txBox="1">
            <a:spLocks/>
          </p:cNvSpPr>
          <p:nvPr/>
        </p:nvSpPr>
        <p:spPr>
          <a:xfrm>
            <a:off x="427649" y="1341818"/>
            <a:ext cx="7556313" cy="5167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Protégé 4.1			  OBO-Edit</a:t>
            </a:r>
            <a:r>
              <a:rPr kumimoji="0" lang="en-US" sz="2400" b="0" i="0" u="none" strike="noStrike" kern="1200" cap="none" spc="0" normalizeH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2.1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Adding some necessary conditions for class membership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970" y="4613215"/>
            <a:ext cx="7353300" cy="167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17146" y="4998518"/>
            <a:ext cx="304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*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0" y="6372060"/>
            <a:ext cx="91587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* Strictly speaking, this is a useful fudge, but strict translation of </a:t>
            </a:r>
            <a:r>
              <a:rPr lang="en-US" sz="1200" dirty="0" err="1" smtClean="0"/>
              <a:t>capable_of</a:t>
            </a:r>
            <a:r>
              <a:rPr lang="en-US" sz="1200" dirty="0" smtClean="0"/>
              <a:t>  from OBO to OWL is beyond the scope of this tutorial</a:t>
            </a:r>
            <a:endParaRPr lang="en-US" sz="12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969" y="2047357"/>
            <a:ext cx="7314607" cy="256585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795" y="2026249"/>
            <a:ext cx="3673149" cy="441798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3944" y="1843074"/>
            <a:ext cx="4166808" cy="44807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39558" y="1719944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00FF"/>
                </a:solidFill>
              </a:rPr>
              <a:t>GO terms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05479" y="1681070"/>
            <a:ext cx="3082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B158"/>
                </a:solidFill>
              </a:rPr>
              <a:t>CARO terms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; </a:t>
            </a:r>
            <a:r>
              <a:rPr lang="en-US" dirty="0" smtClean="0"/>
              <a:t>tutorial terms</a:t>
            </a:r>
            <a:endParaRPr lang="en-US" dirty="0">
              <a:solidFill>
                <a:srgbClr val="00B158"/>
              </a:solidFill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98474" y="302682"/>
            <a:ext cx="7556313" cy="1116106"/>
          </a:xfrm>
        </p:spPr>
        <p:txBody>
          <a:bodyPr/>
          <a:lstStyle/>
          <a:p>
            <a:r>
              <a:rPr lang="en-US" dirty="0" smtClean="0"/>
              <a:t>Some classification</a:t>
            </a:r>
            <a:br>
              <a:rPr lang="en-US" dirty="0" smtClean="0"/>
            </a:br>
            <a:r>
              <a:rPr lang="en-US" dirty="0" smtClean="0"/>
              <a:t>	</a:t>
            </a:r>
            <a:r>
              <a:rPr lang="en-US" sz="2400" dirty="0" smtClean="0"/>
              <a:t>- OBO-Edit graph editor view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754" y="2063299"/>
            <a:ext cx="5689600" cy="12446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330" y="3828889"/>
            <a:ext cx="5715000" cy="12573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9088" y="5493742"/>
            <a:ext cx="6172200" cy="115570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252" y="1627471"/>
            <a:ext cx="1892300" cy="36830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2744" y="3459815"/>
            <a:ext cx="2832100" cy="330200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1621" y="5201384"/>
            <a:ext cx="2946400" cy="279400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98474" y="302682"/>
            <a:ext cx="7556313" cy="1116106"/>
          </a:xfrm>
        </p:spPr>
        <p:txBody>
          <a:bodyPr/>
          <a:lstStyle/>
          <a:p>
            <a:r>
              <a:rPr lang="en-US" dirty="0" smtClean="0"/>
              <a:t>Some necessary and sufficient definitions </a:t>
            </a:r>
            <a:br>
              <a:rPr lang="en-US" dirty="0" smtClean="0"/>
            </a:b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885" y="1520056"/>
            <a:ext cx="6412618" cy="580041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4657" y="2263682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00FF"/>
                </a:solidFill>
              </a:rPr>
              <a:t>GO terms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44564" y="3355345"/>
            <a:ext cx="1717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8000"/>
                </a:solidFill>
              </a:rPr>
              <a:t>FUNCARO terms</a:t>
            </a:r>
            <a:endParaRPr lang="en-US" dirty="0">
              <a:solidFill>
                <a:srgbClr val="008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625862" y="5723398"/>
            <a:ext cx="1415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= </a:t>
            </a:r>
            <a:r>
              <a:rPr lang="en-US" b="1" dirty="0" err="1" smtClean="0"/>
              <a:t>capable_of</a:t>
            </a:r>
            <a:endParaRPr lang="en-US" b="1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98474" y="367472"/>
            <a:ext cx="7556313" cy="1116106"/>
          </a:xfrm>
        </p:spPr>
        <p:txBody>
          <a:bodyPr/>
          <a:lstStyle/>
          <a:p>
            <a:r>
              <a:rPr lang="en-US" dirty="0" smtClean="0"/>
              <a:t>Auto-classification</a:t>
            </a:r>
            <a:br>
              <a:rPr lang="en-US" dirty="0" smtClean="0"/>
            </a:br>
            <a:r>
              <a:rPr lang="en-US" dirty="0" smtClean="0"/>
              <a:t>	</a:t>
            </a:r>
            <a:r>
              <a:rPr lang="en-US" sz="2400" dirty="0" smtClean="0"/>
              <a:t>- OBO-Edit graph editor view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0720" y="497052"/>
            <a:ext cx="7556313" cy="1116106"/>
          </a:xfrm>
        </p:spPr>
        <p:txBody>
          <a:bodyPr/>
          <a:lstStyle/>
          <a:p>
            <a:r>
              <a:rPr lang="en-US" dirty="0" err="1" smtClean="0"/>
              <a:t>Autoclassification</a:t>
            </a:r>
            <a:r>
              <a:rPr lang="en-US" dirty="0" smtClean="0"/>
              <a:t> using </a:t>
            </a:r>
            <a:r>
              <a:rPr lang="en-US" dirty="0" err="1" smtClean="0"/>
              <a:t>partonomy</a:t>
            </a:r>
            <a:endParaRPr lang="en-US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7610" y="3981048"/>
            <a:ext cx="3944573" cy="2786246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719" y="1269880"/>
            <a:ext cx="5289567" cy="2003624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760" y="3556878"/>
            <a:ext cx="2669168" cy="3210416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5303" y="3452436"/>
            <a:ext cx="3769617" cy="564532"/>
          </a:xfrm>
          <a:prstGeom prst="rect">
            <a:avLst/>
          </a:prstGeom>
        </p:spPr>
      </p:pic>
      <p:sp>
        <p:nvSpPr>
          <p:cNvPr id="28" name="Oval 27"/>
          <p:cNvSpPr/>
          <p:nvPr/>
        </p:nvSpPr>
        <p:spPr>
          <a:xfrm>
            <a:off x="1205161" y="2358349"/>
            <a:ext cx="2993466" cy="427612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3232436" y="5578405"/>
            <a:ext cx="2993466" cy="427612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Arrow Connector 38"/>
          <p:cNvCxnSpPr/>
          <p:nvPr/>
        </p:nvCxnSpPr>
        <p:spPr>
          <a:xfrm rot="5400000">
            <a:off x="2539879" y="4782981"/>
            <a:ext cx="939457" cy="65139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 rot="5400000">
            <a:off x="100508" y="2957613"/>
            <a:ext cx="1198529" cy="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ight Brace 47"/>
          <p:cNvSpPr/>
          <p:nvPr/>
        </p:nvSpPr>
        <p:spPr>
          <a:xfrm>
            <a:off x="7292183" y="5928269"/>
            <a:ext cx="172042" cy="761277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932" y="1920145"/>
            <a:ext cx="5168900" cy="45339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</p:spPr>
        <p:txBody>
          <a:bodyPr/>
          <a:lstStyle/>
          <a:p>
            <a:r>
              <a:rPr lang="en-US" dirty="0" smtClean="0"/>
              <a:t>Auto-classification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Some context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9276" y="2252554"/>
            <a:ext cx="4559673" cy="398371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Linking relations with rules (property chains)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743" y="2198294"/>
            <a:ext cx="7734300" cy="647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4743" y="3044050"/>
            <a:ext cx="7803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Meaning: If X </a:t>
            </a:r>
            <a:r>
              <a:rPr lang="en-US" dirty="0" err="1" smtClean="0"/>
              <a:t>capable_of</a:t>
            </a:r>
            <a:r>
              <a:rPr lang="en-US" dirty="0" smtClean="0"/>
              <a:t> Y and Y part_of Z then X </a:t>
            </a:r>
            <a:r>
              <a:rPr lang="en-US" dirty="0" err="1" smtClean="0"/>
              <a:t>capable_of_part_of</a:t>
            </a:r>
            <a:r>
              <a:rPr lang="en-US" dirty="0" smtClean="0"/>
              <a:t> Z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187399" y="3832313"/>
            <a:ext cx="691115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In OBO format (not currently displayed or editable in OBO-Edit)</a:t>
            </a:r>
          </a:p>
          <a:p>
            <a:r>
              <a:rPr lang="en-US" b="1" dirty="0" smtClean="0"/>
              <a:t>name</a:t>
            </a:r>
            <a:r>
              <a:rPr lang="en-US" dirty="0" smtClean="0"/>
              <a:t>: </a:t>
            </a:r>
            <a:r>
              <a:rPr lang="en-US" dirty="0" err="1" smtClean="0"/>
              <a:t>capable_of_part_of</a:t>
            </a:r>
            <a:endParaRPr lang="en-US" dirty="0" smtClean="0"/>
          </a:p>
          <a:p>
            <a:r>
              <a:rPr lang="en-US" b="1" dirty="0" err="1" smtClean="0"/>
              <a:t>holds_over_chain</a:t>
            </a:r>
            <a:r>
              <a:rPr lang="en-US" dirty="0" smtClean="0"/>
              <a:t>: </a:t>
            </a:r>
            <a:r>
              <a:rPr lang="en-US" dirty="0" err="1" smtClean="0"/>
              <a:t>capable_of</a:t>
            </a:r>
            <a:r>
              <a:rPr lang="en-US" dirty="0" smtClean="0"/>
              <a:t> </a:t>
            </a:r>
            <a:r>
              <a:rPr lang="en-US" dirty="0" err="1" smtClean="0"/>
              <a:t>part_of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4181" y="3364809"/>
            <a:ext cx="4916343" cy="34931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3449" y="4742073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capable_of_part_of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656" y="1952903"/>
            <a:ext cx="7734300" cy="647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40636" y="2798659"/>
            <a:ext cx="5972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If X 'capable of' Y and Y part_of Z then X </a:t>
            </a:r>
            <a:r>
              <a:rPr lang="en-US" dirty="0" err="1" smtClean="0"/>
              <a:t>capable_of_part_of</a:t>
            </a:r>
            <a:r>
              <a:rPr lang="en-US" dirty="0" smtClean="0"/>
              <a:t> Z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178140" y="5659114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capable_of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5178140" y="3987537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part_of</a:t>
            </a:r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</p:spPr>
        <p:txBody>
          <a:bodyPr/>
          <a:lstStyle/>
          <a:p>
            <a:r>
              <a:rPr lang="en-US" dirty="0" smtClean="0"/>
              <a:t>Inferring </a:t>
            </a:r>
            <a:r>
              <a:rPr lang="en-US" b="1" dirty="0" err="1" smtClean="0"/>
              <a:t>capable_of_part_of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6831" y="2432118"/>
            <a:ext cx="6032500" cy="12192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6831" y="2152718"/>
            <a:ext cx="3657600" cy="2794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9531" y="3805714"/>
            <a:ext cx="6019800" cy="609600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</p:spPr>
        <p:txBody>
          <a:bodyPr/>
          <a:lstStyle/>
          <a:p>
            <a:r>
              <a:rPr lang="en-US" dirty="0" smtClean="0"/>
              <a:t>A class for populating the </a:t>
            </a:r>
            <a:r>
              <a:rPr lang="en-US" dirty="0" err="1" smtClean="0"/>
              <a:t>partonomy</a:t>
            </a:r>
            <a:r>
              <a:rPr lang="en-US" dirty="0" smtClean="0"/>
              <a:t> of the olfactory system</a:t>
            </a:r>
            <a:endParaRPr lang="en-US" b="1" dirty="0"/>
          </a:p>
        </p:txBody>
      </p:sp>
      <p:sp>
        <p:nvSpPr>
          <p:cNvPr id="9" name="TextBox 8"/>
          <p:cNvSpPr txBox="1"/>
          <p:nvPr/>
        </p:nvSpPr>
        <p:spPr>
          <a:xfrm>
            <a:off x="898848" y="5170226"/>
            <a:ext cx="72828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Note – in OWL this could be done without making the ugly class ‘olfactory system component’:</a:t>
            </a:r>
          </a:p>
          <a:p>
            <a:r>
              <a:rPr lang="en-US" dirty="0" smtClean="0"/>
              <a:t>(‘anatomical structure’ </a:t>
            </a:r>
            <a:r>
              <a:rPr lang="en-US" dirty="0" smtClean="0">
                <a:solidFill>
                  <a:srgbClr val="00C5C2"/>
                </a:solidFill>
              </a:rPr>
              <a:t>that </a:t>
            </a:r>
            <a:r>
              <a:rPr lang="en-US" b="1" dirty="0" err="1" smtClean="0"/>
              <a:t>capable_of_part_of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D536C8"/>
                </a:solidFill>
              </a:rPr>
              <a:t>some </a:t>
            </a:r>
            <a:r>
              <a:rPr lang="en-US" dirty="0" smtClean="0"/>
              <a:t>‘sensory perception of smell’) </a:t>
            </a:r>
            <a:r>
              <a:rPr lang="en-US" dirty="0" err="1" smtClean="0">
                <a:solidFill>
                  <a:srgbClr val="0000FF"/>
                </a:solidFill>
              </a:rPr>
              <a:t>SubClassOf</a:t>
            </a:r>
            <a:r>
              <a:rPr lang="en-US" dirty="0" smtClean="0">
                <a:solidFill>
                  <a:srgbClr val="0000FF"/>
                </a:solidFill>
              </a:rPr>
              <a:t> </a:t>
            </a:r>
            <a:r>
              <a:rPr lang="en-US" dirty="0" smtClean="0"/>
              <a:t>(</a:t>
            </a:r>
            <a:r>
              <a:rPr lang="en-US" b="1" dirty="0" err="1" smtClean="0"/>
              <a:t>part_of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D536C8"/>
                </a:solidFill>
              </a:rPr>
              <a:t>some </a:t>
            </a:r>
            <a:r>
              <a:rPr lang="en-US" dirty="0" smtClean="0"/>
              <a:t>‘olfactory system’)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5291" y="1436630"/>
            <a:ext cx="4453826" cy="38632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Putting it all together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69119"/>
            <a:ext cx="8059348" cy="24215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229" y="2346094"/>
            <a:ext cx="6007100" cy="2921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Adding some more components to the olfactory system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399" y="5237315"/>
            <a:ext cx="6007100" cy="292100"/>
          </a:xfrm>
          <a:prstGeom prst="rect">
            <a:avLst/>
          </a:prstGeom>
        </p:spPr>
      </p:pic>
      <p:pic>
        <p:nvPicPr>
          <p:cNvPr id="7" name="Picture 49" descr="nrn2098-f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40250" y="1662836"/>
            <a:ext cx="3995260" cy="4492196"/>
          </a:xfrm>
          <a:prstGeom prst="rect">
            <a:avLst/>
          </a:prstGeom>
          <a:noFill/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780" y="5529415"/>
            <a:ext cx="3419090" cy="797788"/>
          </a:xfrm>
          <a:prstGeom prst="rect">
            <a:avLst/>
          </a:prstGeom>
        </p:spPr>
      </p:pic>
      <p:cxnSp>
        <p:nvCxnSpPr>
          <p:cNvPr id="11" name="Straight Arrow Connector 10"/>
          <p:cNvCxnSpPr/>
          <p:nvPr/>
        </p:nvCxnSpPr>
        <p:spPr>
          <a:xfrm flipV="1">
            <a:off x="2863878" y="3135826"/>
            <a:ext cx="3343351" cy="18197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475" y="2641706"/>
            <a:ext cx="3479854" cy="811966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474" y="2047357"/>
            <a:ext cx="2456115" cy="341126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440" y="4964288"/>
            <a:ext cx="2006572" cy="270728"/>
          </a:xfrm>
          <a:prstGeom prst="rect">
            <a:avLst/>
          </a:prstGeom>
        </p:spPr>
      </p:pic>
      <p:cxnSp>
        <p:nvCxnSpPr>
          <p:cNvPr id="28" name="Straight Arrow Connector 27"/>
          <p:cNvCxnSpPr/>
          <p:nvPr/>
        </p:nvCxnSpPr>
        <p:spPr>
          <a:xfrm>
            <a:off x="3019383" y="2228769"/>
            <a:ext cx="2954589" cy="4146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526" y="1793642"/>
            <a:ext cx="6524268" cy="4986610"/>
          </a:xfrm>
          <a:prstGeom prst="rect">
            <a:avLst/>
          </a:prstGeom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</p:spPr>
        <p:txBody>
          <a:bodyPr/>
          <a:lstStyle/>
          <a:p>
            <a:r>
              <a:rPr lang="en-US" dirty="0" smtClean="0"/>
              <a:t>What structures are part of the olfactory system?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 – auto-classify ‘taste bristle 1’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9550" y="1875374"/>
            <a:ext cx="3581400" cy="20447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222" y="4206775"/>
            <a:ext cx="7887120" cy="190938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Adding a functional restriction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name</a:t>
            </a:r>
            <a:r>
              <a:rPr lang="en-US" dirty="0" smtClean="0"/>
              <a:t>: tarsal taste bristle</a:t>
            </a:r>
          </a:p>
          <a:p>
            <a:pPr lvl="2"/>
            <a:r>
              <a:rPr lang="en-US" b="1" dirty="0" smtClean="0"/>
              <a:t>relationship</a:t>
            </a:r>
            <a:r>
              <a:rPr lang="en-US" dirty="0" smtClean="0"/>
              <a:t>: </a:t>
            </a:r>
            <a:r>
              <a:rPr lang="en-US" dirty="0" err="1" smtClean="0"/>
              <a:t>capable_of</a:t>
            </a:r>
            <a:r>
              <a:rPr lang="en-US" dirty="0" smtClean="0"/>
              <a:t> detection of chemical stimulus involved in sensory perception of taste</a:t>
            </a:r>
          </a:p>
          <a:p>
            <a:r>
              <a:rPr lang="en-US" dirty="0" smtClean="0"/>
              <a:t>With drag and drop editing in OBO-Edit: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362" y="3680754"/>
            <a:ext cx="5791200" cy="10541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9062" y="5137164"/>
            <a:ext cx="5524500" cy="406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Make new class – leg </a:t>
            </a:r>
            <a:r>
              <a:rPr lang="en-US" dirty="0" err="1" smtClean="0"/>
              <a:t>sensillum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482" y="1987065"/>
            <a:ext cx="5715000" cy="4699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71" y="3170354"/>
            <a:ext cx="8877300" cy="29337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6750" y="6222315"/>
            <a:ext cx="2730500" cy="46990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3206750" y="6222315"/>
            <a:ext cx="1375796" cy="46990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00308" y="1933779"/>
            <a:ext cx="1375796" cy="35663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93" y="1533688"/>
            <a:ext cx="7556313" cy="1116106"/>
          </a:xfrm>
        </p:spPr>
        <p:txBody>
          <a:bodyPr/>
          <a:lstStyle/>
          <a:p>
            <a:r>
              <a:rPr lang="en-US" dirty="0" smtClean="0"/>
              <a:t>save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convert to OWL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open in Protégé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run the reasoner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4575" y="2870947"/>
            <a:ext cx="7556313" cy="1116106"/>
          </a:xfrm>
        </p:spPr>
        <p:txBody>
          <a:bodyPr/>
          <a:lstStyle/>
          <a:p>
            <a:r>
              <a:rPr lang="en-US" dirty="0" smtClean="0"/>
              <a:t>Quick live demo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Check classification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669" y="3105049"/>
            <a:ext cx="6559189" cy="354238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377" y="2260992"/>
            <a:ext cx="2882900" cy="7620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377" y="1926370"/>
            <a:ext cx="1257300" cy="3683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237" y="1575192"/>
            <a:ext cx="25908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58632" y="2298658"/>
            <a:ext cx="4178300" cy="7366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58632" y="1969791"/>
            <a:ext cx="1181100" cy="2667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23682" y="1584631"/>
            <a:ext cx="2832100" cy="317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785" y="1009650"/>
            <a:ext cx="8128000" cy="4838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Consistency checking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611" y="1487827"/>
            <a:ext cx="1993900" cy="7620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5437" y="4854874"/>
            <a:ext cx="3175000" cy="9017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5758" y="2547958"/>
            <a:ext cx="2222500" cy="6477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0963" y="2174457"/>
            <a:ext cx="2197100" cy="3937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1709" y="3519706"/>
            <a:ext cx="3289300" cy="1384300"/>
          </a:xfrm>
          <a:prstGeom prst="rect">
            <a:avLst/>
          </a:prstGeom>
        </p:spPr>
      </p:pic>
      <p:cxnSp>
        <p:nvCxnSpPr>
          <p:cNvPr id="13" name="Straight Arrow Connector 12"/>
          <p:cNvCxnSpPr/>
          <p:nvPr/>
        </p:nvCxnSpPr>
        <p:spPr>
          <a:xfrm>
            <a:off x="3291518" y="2073274"/>
            <a:ext cx="1153326" cy="29803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rot="10800000" flipV="1">
            <a:off x="3732115" y="2967372"/>
            <a:ext cx="898848" cy="37578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4069041" y="4820361"/>
            <a:ext cx="561922" cy="2850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8165" y="5808819"/>
            <a:ext cx="3162300" cy="838200"/>
          </a:xfrm>
          <a:prstGeom prst="rect">
            <a:avLst/>
          </a:prstGeom>
        </p:spPr>
      </p:pic>
      <p:cxnSp>
        <p:nvCxnSpPr>
          <p:cNvPr id="21" name="Straight Arrow Connector 20"/>
          <p:cNvCxnSpPr/>
          <p:nvPr/>
        </p:nvCxnSpPr>
        <p:spPr>
          <a:xfrm rot="10800000" flipV="1">
            <a:off x="4198628" y="5403468"/>
            <a:ext cx="341623" cy="25915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5572252" y="2591592"/>
            <a:ext cx="349885" cy="310991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Checking for inconsistency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2682452" y="2142923"/>
            <a:ext cx="362844" cy="37578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/>
          <p:cNvCxnSpPr/>
          <p:nvPr/>
        </p:nvCxnSpPr>
        <p:spPr>
          <a:xfrm rot="16200000" flipH="1">
            <a:off x="2131767" y="3297794"/>
            <a:ext cx="1788195" cy="298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360" y="1359694"/>
            <a:ext cx="3729238" cy="1348519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2678163" y="2151023"/>
            <a:ext cx="362844" cy="37578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7781" y="4758249"/>
            <a:ext cx="6972300" cy="9017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8728" y="4383143"/>
            <a:ext cx="5609886" cy="45017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Checking for inconsistency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OBO-Edit, add the following relationship:</a:t>
            </a:r>
          </a:p>
          <a:p>
            <a:endParaRPr lang="en-US" dirty="0" smtClean="0"/>
          </a:p>
          <a:p>
            <a:pPr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549" y="3130549"/>
            <a:ext cx="7415355" cy="53867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93" y="1533688"/>
            <a:ext cx="7556313" cy="1116106"/>
          </a:xfrm>
        </p:spPr>
        <p:txBody>
          <a:bodyPr/>
          <a:lstStyle/>
          <a:p>
            <a:r>
              <a:rPr lang="en-US" dirty="0" smtClean="0"/>
              <a:t>save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convert to OWL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open in Protégé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run the reasoner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Checking for inconsistency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814" y="1371196"/>
            <a:ext cx="8283052" cy="4141526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6630574" y="4055843"/>
            <a:ext cx="362844" cy="37578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/>
          <p:cNvCxnSpPr/>
          <p:nvPr/>
        </p:nvCxnSpPr>
        <p:spPr>
          <a:xfrm rot="5400000">
            <a:off x="6262779" y="4985137"/>
            <a:ext cx="1127344" cy="2031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6971790" y="3705976"/>
            <a:ext cx="1853101" cy="285076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2047" y="5792049"/>
            <a:ext cx="3746500" cy="6223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963" y="5529536"/>
            <a:ext cx="8255000" cy="2921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00999" y="5751286"/>
            <a:ext cx="304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*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435429" y="6488668"/>
            <a:ext cx="62660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* Warning – domain and range more tightly specified than official relation.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Release manager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Over to Chris - using OWL (behind the scenes) to make a pre-reasoned release.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Optional final exercise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15" y="1929368"/>
            <a:ext cx="7556313" cy="4144963"/>
          </a:xfrm>
        </p:spPr>
        <p:txBody>
          <a:bodyPr>
            <a:normAutofit/>
          </a:bodyPr>
          <a:lstStyle/>
          <a:p>
            <a:r>
              <a:rPr lang="en-US" dirty="0" smtClean="0"/>
              <a:t>“olfactory peg a4” and “tarsal taste bristle” have asserted classifications</a:t>
            </a:r>
          </a:p>
          <a:p>
            <a:pPr lvl="1"/>
            <a:r>
              <a:rPr lang="en-US" dirty="0" smtClean="0"/>
              <a:t>‘olfactory peg a4’ </a:t>
            </a:r>
            <a:r>
              <a:rPr lang="en-US" dirty="0" err="1" smtClean="0">
                <a:solidFill>
                  <a:srgbClr val="0000FF"/>
                </a:solidFill>
              </a:rPr>
              <a:t>SubClassOf</a:t>
            </a:r>
            <a:r>
              <a:rPr lang="en-US" dirty="0" smtClean="0">
                <a:solidFill>
                  <a:srgbClr val="0000FF"/>
                </a:solidFill>
              </a:rPr>
              <a:t> </a:t>
            </a:r>
            <a:r>
              <a:rPr lang="en-US" dirty="0" smtClean="0"/>
              <a:t>(</a:t>
            </a:r>
            <a:r>
              <a:rPr lang="en-US" dirty="0" err="1" smtClean="0"/>
              <a:t>is_a</a:t>
            </a:r>
            <a:r>
              <a:rPr lang="en-US" dirty="0" smtClean="0"/>
              <a:t>) ‘peg </a:t>
            </a:r>
            <a:r>
              <a:rPr lang="en-US" dirty="0" err="1" smtClean="0"/>
              <a:t>sensillum</a:t>
            </a:r>
            <a:r>
              <a:rPr lang="en-US" dirty="0" smtClean="0"/>
              <a:t>’</a:t>
            </a:r>
          </a:p>
          <a:p>
            <a:pPr lvl="1"/>
            <a:r>
              <a:rPr lang="en-US" dirty="0" smtClean="0"/>
              <a:t>‘tarsal taste bristle’ </a:t>
            </a:r>
            <a:r>
              <a:rPr lang="en-US" dirty="0" err="1" smtClean="0">
                <a:solidFill>
                  <a:srgbClr val="0000FF"/>
                </a:solidFill>
              </a:rPr>
              <a:t>SubClassOf</a:t>
            </a:r>
            <a:r>
              <a:rPr lang="en-US" dirty="0" smtClean="0">
                <a:solidFill>
                  <a:srgbClr val="0000FF"/>
                </a:solidFill>
              </a:rPr>
              <a:t> </a:t>
            </a:r>
            <a:r>
              <a:rPr lang="en-US" dirty="0" smtClean="0"/>
              <a:t>(</a:t>
            </a:r>
            <a:r>
              <a:rPr lang="en-US" dirty="0" err="1" smtClean="0"/>
              <a:t>is_a</a:t>
            </a:r>
            <a:r>
              <a:rPr lang="en-US" dirty="0" smtClean="0"/>
              <a:t>) ‘sensory bristle’</a:t>
            </a:r>
          </a:p>
          <a:p>
            <a:r>
              <a:rPr lang="en-US" dirty="0" smtClean="0"/>
              <a:t>Look at the definitions of ‘peg </a:t>
            </a:r>
            <a:r>
              <a:rPr lang="en-US" dirty="0" err="1" smtClean="0"/>
              <a:t>sensillum</a:t>
            </a:r>
            <a:r>
              <a:rPr lang="en-US" dirty="0" smtClean="0"/>
              <a:t>’ and ‘sensory bristle’</a:t>
            </a:r>
          </a:p>
          <a:p>
            <a:r>
              <a:rPr lang="en-US" dirty="0" smtClean="0"/>
              <a:t>Given that the following classes also exist:</a:t>
            </a:r>
          </a:p>
          <a:p>
            <a:r>
              <a:rPr lang="en-US" dirty="0" smtClean="0"/>
              <a:t> </a:t>
            </a:r>
            <a:r>
              <a:rPr lang="en-US" dirty="0" err="1" smtClean="0"/>
              <a:t>cuticular</a:t>
            </a:r>
            <a:r>
              <a:rPr lang="en-US" dirty="0" smtClean="0"/>
              <a:t> bristle; </a:t>
            </a:r>
            <a:r>
              <a:rPr lang="en-US" dirty="0" err="1" smtClean="0"/>
              <a:t>cuticular</a:t>
            </a:r>
            <a:r>
              <a:rPr lang="en-US" dirty="0" smtClean="0"/>
              <a:t> peg</a:t>
            </a:r>
          </a:p>
          <a:p>
            <a:r>
              <a:rPr lang="en-US" dirty="0" smtClean="0"/>
              <a:t> how would you automate this asserted classification ?</a:t>
            </a:r>
          </a:p>
          <a:p>
            <a:pPr lvl="1"/>
            <a:endParaRPr lang="en-US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634978" y="6362358"/>
            <a:ext cx="512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* answer on final slide, after acknowledgments.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Optional final exercise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Try adding some terms from your own anatomy ontology, using CARO2 to classify, and perhaps auto-classifying with FUNCARO.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Acknowledgments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Michael </a:t>
            </a:r>
            <a:r>
              <a:rPr lang="en-US" dirty="0" err="1" smtClean="0"/>
              <a:t>Ashburner</a:t>
            </a:r>
            <a:r>
              <a:rPr lang="en-US" dirty="0" smtClean="0"/>
              <a:t>; </a:t>
            </a:r>
            <a:r>
              <a:rPr lang="en-US" dirty="0" err="1" smtClean="0"/>
              <a:t>Suzi</a:t>
            </a:r>
            <a:r>
              <a:rPr lang="en-US" dirty="0" smtClean="0"/>
              <a:t> Lewis</a:t>
            </a:r>
          </a:p>
          <a:p>
            <a:r>
              <a:rPr lang="en-US" dirty="0" smtClean="0"/>
              <a:t>OBO converter and </a:t>
            </a:r>
            <a:r>
              <a:rPr lang="en-US" dirty="0" err="1" smtClean="0"/>
              <a:t>Oort</a:t>
            </a:r>
            <a:r>
              <a:rPr lang="en-US" dirty="0" smtClean="0"/>
              <a:t> developers:</a:t>
            </a:r>
          </a:p>
          <a:p>
            <a:pPr lvl="1"/>
            <a:r>
              <a:rPr lang="en-US" b="1" dirty="0" err="1" smtClean="0"/>
              <a:t>Shahid</a:t>
            </a:r>
            <a:r>
              <a:rPr lang="en-US" b="1" dirty="0" smtClean="0"/>
              <a:t> </a:t>
            </a:r>
            <a:r>
              <a:rPr lang="en-US" b="1" dirty="0" err="1" smtClean="0"/>
              <a:t>Manzoor</a:t>
            </a:r>
            <a:endParaRPr lang="en-US" b="1" dirty="0" smtClean="0"/>
          </a:p>
          <a:p>
            <a:pPr lvl="1"/>
            <a:r>
              <a:rPr lang="en-US" b="1" dirty="0" err="1" smtClean="0"/>
              <a:t>Heiko</a:t>
            </a:r>
            <a:r>
              <a:rPr lang="en-US" b="1" dirty="0" smtClean="0"/>
              <a:t> </a:t>
            </a:r>
            <a:r>
              <a:rPr lang="en-US" b="1" dirty="0" err="1" smtClean="0"/>
              <a:t>Deitze</a:t>
            </a:r>
            <a:endParaRPr lang="en-US" b="1" dirty="0" smtClean="0"/>
          </a:p>
          <a:p>
            <a:r>
              <a:rPr lang="en-US" dirty="0" smtClean="0"/>
              <a:t>OBO-Edit developers</a:t>
            </a:r>
          </a:p>
          <a:p>
            <a:pPr lvl="1"/>
            <a:r>
              <a:rPr lang="en-US" dirty="0" smtClean="0"/>
              <a:t>Current: Chris </a:t>
            </a:r>
            <a:r>
              <a:rPr lang="en-US" dirty="0" err="1" smtClean="0"/>
              <a:t>Mungall</a:t>
            </a:r>
            <a:r>
              <a:rPr lang="en-US" dirty="0" smtClean="0"/>
              <a:t>; </a:t>
            </a:r>
            <a:r>
              <a:rPr lang="en-US" b="1" dirty="0" smtClean="0"/>
              <a:t>Nomi Harris</a:t>
            </a:r>
          </a:p>
          <a:p>
            <a:pPr lvl="1"/>
            <a:r>
              <a:rPr lang="en-US" dirty="0" smtClean="0"/>
              <a:t>Former: </a:t>
            </a:r>
            <a:r>
              <a:rPr lang="en-US" dirty="0" err="1" smtClean="0"/>
              <a:t>Amina</a:t>
            </a:r>
            <a:r>
              <a:rPr lang="en-US" dirty="0" smtClean="0"/>
              <a:t> Abdulla; John Day-Richter</a:t>
            </a:r>
          </a:p>
          <a:p>
            <a:r>
              <a:rPr lang="en-US" dirty="0" smtClean="0"/>
              <a:t>Discussion and comments:</a:t>
            </a:r>
          </a:p>
          <a:p>
            <a:pPr lvl="1"/>
            <a:r>
              <a:rPr lang="en-US" dirty="0" smtClean="0"/>
              <a:t>Alan </a:t>
            </a:r>
            <a:r>
              <a:rPr lang="en-US" dirty="0" err="1" smtClean="0"/>
              <a:t>Ruttenberg</a:t>
            </a:r>
            <a:r>
              <a:rPr lang="en-US" dirty="0" smtClean="0"/>
              <a:t>; Melissa </a:t>
            </a:r>
            <a:r>
              <a:rPr lang="en-US" dirty="0" err="1" smtClean="0"/>
              <a:t>Haendel</a:t>
            </a:r>
            <a:r>
              <a:rPr lang="en-US" dirty="0" smtClean="0"/>
              <a:t>; Terry Meehan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Complete </a:t>
            </a:r>
            <a:r>
              <a:rPr lang="en-US" dirty="0" err="1" smtClean="0"/>
              <a:t>autoclassification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name: peg </a:t>
            </a:r>
            <a:r>
              <a:rPr lang="en-US" dirty="0" err="1" smtClean="0"/>
              <a:t>sensillum</a:t>
            </a:r>
            <a:endParaRPr lang="en-US" dirty="0" smtClean="0"/>
          </a:p>
          <a:p>
            <a:pPr lvl="1"/>
            <a:r>
              <a:rPr lang="en-US" dirty="0" err="1" smtClean="0">
                <a:solidFill>
                  <a:srgbClr val="0000FF"/>
                </a:solidFill>
              </a:rPr>
              <a:t>EquivalentTo</a:t>
            </a:r>
            <a:r>
              <a:rPr lang="en-US" dirty="0" smtClean="0"/>
              <a:t>: ‘cell cluster organ’ </a:t>
            </a:r>
            <a:r>
              <a:rPr lang="en-US" dirty="0" smtClean="0">
                <a:solidFill>
                  <a:srgbClr val="0000FF"/>
                </a:solidFill>
              </a:rPr>
              <a:t>that </a:t>
            </a:r>
            <a:r>
              <a:rPr lang="en-US" b="1" dirty="0" err="1" smtClean="0"/>
              <a:t>has_part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B050D7"/>
                </a:solidFill>
              </a:rPr>
              <a:t>some </a:t>
            </a:r>
            <a:r>
              <a:rPr lang="en-US" dirty="0" smtClean="0"/>
              <a:t>‘</a:t>
            </a:r>
            <a:r>
              <a:rPr lang="en-US" dirty="0" err="1" smtClean="0"/>
              <a:t>cuticular</a:t>
            </a:r>
            <a:r>
              <a:rPr lang="en-US" dirty="0" smtClean="0"/>
              <a:t> peg’ </a:t>
            </a:r>
            <a:r>
              <a:rPr lang="en-US" dirty="0" smtClean="0">
                <a:solidFill>
                  <a:srgbClr val="0000FF"/>
                </a:solidFill>
              </a:rPr>
              <a:t>and </a:t>
            </a:r>
            <a:r>
              <a:rPr lang="en-US" b="1" dirty="0" err="1" smtClean="0"/>
              <a:t>capable_of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B050D7"/>
                </a:solidFill>
              </a:rPr>
              <a:t>some </a:t>
            </a:r>
            <a:r>
              <a:rPr lang="en-US" dirty="0" smtClean="0"/>
              <a:t>‘detection of stimulus involved in sensory perception’</a:t>
            </a:r>
          </a:p>
          <a:p>
            <a:pPr lvl="1">
              <a:buNone/>
            </a:pPr>
            <a:endParaRPr lang="en-US" dirty="0" smtClean="0"/>
          </a:p>
          <a:p>
            <a:pPr lvl="1"/>
            <a:endParaRPr lang="en-US" dirty="0" smtClean="0"/>
          </a:p>
          <a:p>
            <a:r>
              <a:rPr lang="en-US" dirty="0" smtClean="0"/>
              <a:t>name: olfactory peg a4</a:t>
            </a:r>
          </a:p>
          <a:p>
            <a:pPr lvl="1"/>
            <a:r>
              <a:rPr lang="en-US" dirty="0" err="1" smtClean="0">
                <a:solidFill>
                  <a:srgbClr val="0000FF"/>
                </a:solidFill>
              </a:rPr>
              <a:t>SubClassOf</a:t>
            </a:r>
            <a:r>
              <a:rPr lang="en-US" dirty="0" smtClean="0"/>
              <a:t>: ‘cell cluster organ’ </a:t>
            </a:r>
          </a:p>
          <a:p>
            <a:pPr lvl="1"/>
            <a:r>
              <a:rPr lang="en-US" dirty="0" err="1" smtClean="0">
                <a:solidFill>
                  <a:srgbClr val="0000FF"/>
                </a:solidFill>
              </a:rPr>
              <a:t>SubClassOf</a:t>
            </a:r>
            <a:r>
              <a:rPr lang="en-US" b="1" dirty="0" smtClean="0"/>
              <a:t>: </a:t>
            </a:r>
            <a:r>
              <a:rPr lang="en-US" b="1" dirty="0" err="1" smtClean="0"/>
              <a:t>has_part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B050D7"/>
                </a:solidFill>
              </a:rPr>
              <a:t>some </a:t>
            </a:r>
            <a:r>
              <a:rPr lang="en-US" dirty="0" smtClean="0"/>
              <a:t>‘</a:t>
            </a:r>
            <a:r>
              <a:rPr lang="en-US" dirty="0" err="1" smtClean="0"/>
              <a:t>cuticular</a:t>
            </a:r>
            <a:r>
              <a:rPr lang="en-US" dirty="0" smtClean="0"/>
              <a:t> peg’</a:t>
            </a:r>
          </a:p>
          <a:p>
            <a:pPr lvl="1"/>
            <a:r>
              <a:rPr lang="en-US" dirty="0" err="1" smtClean="0">
                <a:solidFill>
                  <a:srgbClr val="0000FF"/>
                </a:solidFill>
              </a:rPr>
              <a:t>SubClassOf</a:t>
            </a:r>
            <a:r>
              <a:rPr lang="en-US" dirty="0" smtClean="0"/>
              <a:t>: </a:t>
            </a:r>
            <a:r>
              <a:rPr lang="en-US" b="1" dirty="0" err="1" smtClean="0"/>
              <a:t>capable_of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B050D7"/>
                </a:solidFill>
              </a:rPr>
              <a:t>some </a:t>
            </a:r>
            <a:r>
              <a:rPr lang="en-US" dirty="0" smtClean="0"/>
              <a:t>‘detection of chemical stimulus involved in sensory perception of smell’</a:t>
            </a:r>
          </a:p>
          <a:p>
            <a:pPr lvl="2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Advantage">
  <a:themeElements>
    <a:clrScheme name="Advantage">
      <a:dk1>
        <a:sysClr val="windowText" lastClr="000000"/>
      </a:dk1>
      <a:lt1>
        <a:sysClr val="window" lastClr="FFFFFF"/>
      </a:lt1>
      <a:dk2>
        <a:srgbClr val="2B142D"/>
      </a:dk2>
      <a:lt2>
        <a:srgbClr val="C3AFCC"/>
      </a:lt2>
      <a:accent1>
        <a:srgbClr val="663366"/>
      </a:accent1>
      <a:accent2>
        <a:srgbClr val="330F42"/>
      </a:accent2>
      <a:accent3>
        <a:srgbClr val="666699"/>
      </a:accent3>
      <a:accent4>
        <a:srgbClr val="999966"/>
      </a:accent4>
      <a:accent5>
        <a:srgbClr val="F7901E"/>
      </a:accent5>
      <a:accent6>
        <a:srgbClr val="A3A101"/>
      </a:accent6>
      <a:hlink>
        <a:srgbClr val="BC5FBC"/>
      </a:hlink>
      <a:folHlink>
        <a:srgbClr val="9775A7"/>
      </a:folHlink>
    </a:clrScheme>
    <a:fontScheme name="Advantage">
      <a:majorFont>
        <a:latin typeface="Rockwell"/>
        <a:ea typeface=""/>
        <a:cs typeface=""/>
        <a:font script="Jpan" typeface="ＭＳ ゴシック"/>
      </a:majorFont>
      <a:minorFont>
        <a:latin typeface="Rockwell"/>
        <a:ea typeface=""/>
        <a:cs typeface=""/>
        <a:font script="Jpan" typeface="ＭＳ ゴシック"/>
      </a:minorFont>
    </a:fontScheme>
    <a:fmtScheme name="Advantage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6000000" scaled="1"/>
        </a:gradFill>
        <a:gradFill rotWithShape="1">
          <a:gsLst>
            <a:gs pos="0">
              <a:schemeClr val="phClr"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FFFFFF">
                <a:alpha val="75000"/>
              </a:srgbClr>
            </a:innerShdw>
            <a:outerShdw blurRad="63500" dist="25400" dir="5400000" rotWithShape="0">
              <a:srgbClr val="808080">
                <a:alpha val="75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twoPt" dir="tl">
              <a:rot lat="0" lon="0" rev="4500000"/>
            </a:lightRig>
          </a:scene3d>
          <a:sp3d>
            <a:bevelT w="635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1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Advantage.thmx</Template>
  <TotalTime>10574</TotalTime>
  <Words>2415</Words>
  <Application>Microsoft Office PowerPoint</Application>
  <PresentationFormat>On-screen Show (4:3)</PresentationFormat>
  <Paragraphs>491</Paragraphs>
  <Slides>90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90</vt:i4>
      </vt:variant>
    </vt:vector>
  </HeadingPairs>
  <TitlesOfParts>
    <vt:vector size="91" baseType="lpstr">
      <vt:lpstr>Advantage</vt:lpstr>
      <vt:lpstr>From OBO to OWL and back again – a tutorial</vt:lpstr>
      <vt:lpstr>PowerPoint Presentation</vt:lpstr>
      <vt:lpstr>I use OBO, why should I care about OWL?</vt:lpstr>
      <vt:lpstr>Oort</vt:lpstr>
      <vt:lpstr>Intro to ontology building</vt:lpstr>
      <vt:lpstr>Reasoning in Protégé 4.1 with the Drosophila anatomy ontology</vt:lpstr>
      <vt:lpstr>What is an ontology ?</vt:lpstr>
      <vt:lpstr>What is an ontology ?</vt:lpstr>
      <vt:lpstr>What (use) is an ontology?</vt:lpstr>
      <vt:lpstr>What is an ontology ?</vt:lpstr>
      <vt:lpstr>What is an ontology ?</vt:lpstr>
      <vt:lpstr>What is an (OBO-foundry) ontology ?</vt:lpstr>
      <vt:lpstr>OBO-OWL cheat sheet:  classification</vt:lpstr>
      <vt:lpstr>class – class relationships are  quantified</vt:lpstr>
      <vt:lpstr>relationships specify necessary conditions for class membership</vt:lpstr>
      <vt:lpstr>relationships specify necessary conditions for class membership</vt:lpstr>
      <vt:lpstr>OBO-OWL cheat sheet:  necessary conditions for class membership</vt:lpstr>
      <vt:lpstr>Directionality and quantifiers</vt:lpstr>
      <vt:lpstr>PowerPoint Presentation</vt:lpstr>
      <vt:lpstr>Automating multiple classification.</vt:lpstr>
      <vt:lpstr>Automating multiple classification.</vt:lpstr>
      <vt:lpstr>OBO-OWL cheat sheet: necessary and sufficient conditions for class membership</vt:lpstr>
      <vt:lpstr>ERROR MESSAGES ARE YOUR FRIENDS! – They tell you you’ve screwed up before you get embarrassing emails complaining that you’ve screwed up</vt:lpstr>
      <vt:lpstr>ERROR MESSAGES ARE YOUR FRIENDS! – They tell you you’ve screwed up before you get embarrassing emails complaining that you’ve screwed up</vt:lpstr>
      <vt:lpstr>ERROR MESSAGES ARE YOUR FRIENDS! – They tell you you’ve screwed up before you get embarrassing emails complaining that you’ve screwed up</vt:lpstr>
      <vt:lpstr>Quick guide to OBO-Edit  </vt:lpstr>
      <vt:lpstr>Basic OBO-Edit2 editing setup</vt:lpstr>
      <vt:lpstr>PowerPoint Presentation</vt:lpstr>
      <vt:lpstr>PowerPoint Presentation</vt:lpstr>
      <vt:lpstr>Browsing - Trees</vt:lpstr>
      <vt:lpstr>Browsing  - parents</vt:lpstr>
      <vt:lpstr>Browsing - Graph Editor</vt:lpstr>
      <vt:lpstr>Browsing - Graph Editor</vt:lpstr>
      <vt:lpstr>Basic Searching - single leg</vt:lpstr>
      <vt:lpstr>The ontology tree editor menu</vt:lpstr>
      <vt:lpstr>Global vs local selection modes</vt:lpstr>
      <vt:lpstr>Drag and drop term move   – changes classification or necessary conditions for class membership </vt:lpstr>
      <vt:lpstr>Drag and drop term move </vt:lpstr>
      <vt:lpstr>Making new cross product terms</vt:lpstr>
      <vt:lpstr>Very Quick Guide to Protégé </vt:lpstr>
      <vt:lpstr>Running a reasoner</vt:lpstr>
      <vt:lpstr>Searching for terms</vt:lpstr>
      <vt:lpstr>Class tree +/- inference</vt:lpstr>
      <vt:lpstr>PowerPoint Presentation</vt:lpstr>
      <vt:lpstr>DL Query Tab</vt:lpstr>
      <vt:lpstr>Editing in Protégé</vt:lpstr>
      <vt:lpstr>Editing in Protégé</vt:lpstr>
      <vt:lpstr>OBO-OWL cheat sheet:  classification</vt:lpstr>
      <vt:lpstr>OBO-OWL cheat sheet:  necessary conditions for class membership</vt:lpstr>
      <vt:lpstr>OBO-OWL cheat sheet: necessary and sufficient conditions for class membership</vt:lpstr>
      <vt:lpstr>OBO-OWL cheat sheet: relations / Object Properties</vt:lpstr>
      <vt:lpstr>Introducing the tutorial ontology</vt:lpstr>
      <vt:lpstr>Exercise 1 – Tracing multiple classification of single sense organ   Please open:   OBO format converter   OBO-Edit with tutorial.obo open   Protégé 4.1</vt:lpstr>
      <vt:lpstr>OBO Format Converter</vt:lpstr>
      <vt:lpstr>Quick live demo</vt:lpstr>
      <vt:lpstr>tutorial.owl in Protégé</vt:lpstr>
      <vt:lpstr>Auto-classification on partonomy</vt:lpstr>
      <vt:lpstr>Multiple classification of single sense organ</vt:lpstr>
      <vt:lpstr>Asserting a classification</vt:lpstr>
      <vt:lpstr>Adding some necessary conditions for class membership</vt:lpstr>
      <vt:lpstr>Some classification  - OBO-Edit graph editor view</vt:lpstr>
      <vt:lpstr>Some necessary and sufficient definitions  </vt:lpstr>
      <vt:lpstr>Auto-classification  - OBO-Edit graph editor view</vt:lpstr>
      <vt:lpstr>Autoclassification using partonomy</vt:lpstr>
      <vt:lpstr>Auto-classification</vt:lpstr>
      <vt:lpstr>Some context</vt:lpstr>
      <vt:lpstr>Linking relations with rules (property chains)</vt:lpstr>
      <vt:lpstr>Inferring capable_of_part_of</vt:lpstr>
      <vt:lpstr>A class for populating the partonomy of the olfactory system</vt:lpstr>
      <vt:lpstr>PowerPoint Presentation</vt:lpstr>
      <vt:lpstr>Putting it all together</vt:lpstr>
      <vt:lpstr>Adding some more components to the olfactory system</vt:lpstr>
      <vt:lpstr>What structures are part of the olfactory system? </vt:lpstr>
      <vt:lpstr>Exercise – auto-classify ‘taste bristle 1’</vt:lpstr>
      <vt:lpstr>Adding a functional restriction</vt:lpstr>
      <vt:lpstr>Make new class – leg sensillum</vt:lpstr>
      <vt:lpstr>save  convert to OWL  open in Protégé  run the reasoner</vt:lpstr>
      <vt:lpstr>Quick live demo</vt:lpstr>
      <vt:lpstr>Check classification</vt:lpstr>
      <vt:lpstr>PowerPoint Presentation</vt:lpstr>
      <vt:lpstr>Consistency checking</vt:lpstr>
      <vt:lpstr>Checking for inconsistency</vt:lpstr>
      <vt:lpstr>Checking for inconsistency</vt:lpstr>
      <vt:lpstr>save  convert to OWL  open in Protégé  run the reasoner</vt:lpstr>
      <vt:lpstr>Checking for inconsistency</vt:lpstr>
      <vt:lpstr>Release manager</vt:lpstr>
      <vt:lpstr>Optional final exercise 1</vt:lpstr>
      <vt:lpstr>Optional final exercise 2</vt:lpstr>
      <vt:lpstr>Acknowledgments</vt:lpstr>
      <vt:lpstr>Complete autoclassification</vt:lpstr>
    </vt:vector>
  </TitlesOfParts>
  <Company>FlyBase Cambridge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David OS</dc:creator>
  <cp:lastModifiedBy>phismith</cp:lastModifiedBy>
  <cp:revision>15</cp:revision>
  <dcterms:created xsi:type="dcterms:W3CDTF">2011-07-27T09:56:52Z</dcterms:created>
  <dcterms:modified xsi:type="dcterms:W3CDTF">2011-08-22T12:49:35Z</dcterms:modified>
</cp:coreProperties>
</file>