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82" r:id="rId3"/>
    <p:sldId id="290" r:id="rId4"/>
    <p:sldId id="29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502" autoAdjust="0"/>
  </p:normalViewPr>
  <p:slideViewPr>
    <p:cSldViewPr>
      <p:cViewPr varScale="1">
        <p:scale>
          <a:sx n="73" d="100"/>
          <a:sy n="73" d="100"/>
        </p:scale>
        <p:origin x="-22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B3C6D694-A3CA-4DFD-8497-FE130E49405A}" type="datetimeFigureOut">
              <a:rPr lang="en-US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D7A27D4-0379-4208-9E69-C20870606F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0"/>
            <a:ext cx="9144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0" y="5127625"/>
            <a:ext cx="9144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tIns="0" bIns="0" anchor="t"/>
          <a:lstStyle>
            <a:lvl1pPr algn="l">
              <a:defRPr sz="47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27551-F8EF-4E4C-AC3E-A21D1CFD7F17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95013-E5BC-4563-9CAE-1B5DBE46AF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20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C5913-1009-4412-A2CD-FD07F008C8F8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2AE30-B192-400D-9AA6-5458FE99DD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0"/>
            <a:ext cx="9144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0" y="2601913"/>
            <a:ext cx="9144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tIns="0" rIns="91440" bIns="0" anchor="b"/>
          <a:lstStyle>
            <a:lvl1pPr algn="l">
              <a:defRPr sz="47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2EF3B-E3BF-447F-B905-A2BA4734CD9F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D3380-2109-416F-AFB5-F0EDF0FB86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20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6AA4E-D66D-45F6-B963-6C5AFC044E9A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1D98A-6695-42E6-B27F-E704674551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EE055C-4976-4D97-9B56-DDCE0B578BCA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F8AF2-286D-4BFC-AA50-88C42E8A03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2944DC-2E51-438D-AA74-A6C2D2607F07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8E9DC2-C766-4BAA-803D-1EC82BADB4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720CA-6286-4544-BACA-D82FEE53391F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1E25D-5F7E-4CB6-838D-4D2BE9CAD1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D805F-6ABF-4BA5-9915-5D990914B7A0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5A84E-34DE-4DE0-8282-277CB5DB56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165100" y="1169988"/>
            <a:ext cx="2522538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4AE999-FA05-444E-A499-EE11FCF7C6C0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300" y="1169988"/>
            <a:ext cx="5194300" cy="201612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138" y="1169988"/>
            <a:ext cx="733425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4485B1-3A86-41F7-BB5E-77C48FFC74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20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172E01-0A69-4E56-9AA6-07F984F73652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C2D13-37C5-4730-9097-176DB23B22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invGray">
          <a:xfrm>
            <a:off x="6599238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ltGray">
          <a:xfrm>
            <a:off x="6648450" y="0"/>
            <a:ext cx="25146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20B9B-5B09-49BB-935F-C1148C669920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3" y="6376988"/>
            <a:ext cx="38369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9CCBE-2D32-480B-A7FD-8CB2A0A6F3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74825"/>
            <a:ext cx="4038600" cy="4625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774825"/>
            <a:ext cx="4038600" cy="462597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77000"/>
            <a:ext cx="2133600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178FC7-026B-4679-B301-FE03EE552B1C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640013" y="6477000"/>
            <a:ext cx="5508625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04200" y="6477000"/>
            <a:ext cx="733425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126C1C-BC1C-4174-86EB-24F027B75A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774825"/>
            <a:ext cx="4038600" cy="462597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774825"/>
            <a:ext cx="4038600" cy="46259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77000"/>
            <a:ext cx="2133600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F8894-5A9B-47C2-A40F-DACEC314F02C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640013" y="6477000"/>
            <a:ext cx="5508625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04200" y="6477000"/>
            <a:ext cx="733425" cy="2746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D1FC6D-5431-4FD9-84F4-89BF24F114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ransition advClick="0" advTm="20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6688"/>
            <a:ext cx="9144000" cy="444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4000" cy="14335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74825"/>
            <a:ext cx="8229600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9252CC5D-28BB-4124-BF2D-8D3EFD2C0F61}" type="datetime1">
              <a:rPr lang="en-US" smtClean="0"/>
              <a:pPr>
                <a:defRPr/>
              </a:pPr>
              <a:t>10/21/2010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013" y="6477000"/>
            <a:ext cx="5508625" cy="274638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200" y="6477000"/>
            <a:ext cx="733425" cy="274638"/>
          </a:xfrm>
          <a:prstGeom prst="rect">
            <a:avLst/>
          </a:prstGeom>
        </p:spPr>
        <p:txBody>
          <a:bodyPr vert="horz" bIns="0" rtlCol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2FC1B28D-271E-418E-8A70-1EDBEDD9AA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2" r:id="rId2"/>
    <p:sldLayoutId id="2147483686" r:id="rId3"/>
    <p:sldLayoutId id="2147483681" r:id="rId4"/>
    <p:sldLayoutId id="2147483680" r:id="rId5"/>
    <p:sldLayoutId id="2147483679" r:id="rId6"/>
    <p:sldLayoutId id="2147483687" r:id="rId7"/>
    <p:sldLayoutId id="2147483688" r:id="rId8"/>
    <p:sldLayoutId id="2147483689" r:id="rId9"/>
    <p:sldLayoutId id="2147483678" r:id="rId10"/>
    <p:sldLayoutId id="2147483690" r:id="rId11"/>
    <p:sldLayoutId id="2147483683" r:id="rId12"/>
    <p:sldLayoutId id="2147483684" r:id="rId13"/>
  </p:sldLayoutIdLst>
  <p:transition advClick="0" advTm="20000"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500" b="1" kern="1200">
          <a:solidFill>
            <a:srgbClr val="FFC8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9pPr>
      <a:extLst/>
    </p:titleStyle>
    <p:bodyStyle>
      <a:lvl1pPr marL="438150" indent="-319088" algn="l" rtl="0" fontAlgn="base">
        <a:spcBef>
          <a:spcPct val="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730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fontAlgn="base">
        <a:spcBef>
          <a:spcPct val="20000"/>
        </a:spcBef>
        <a:spcAft>
          <a:spcPct val="0"/>
        </a:spcAft>
        <a:buClr>
          <a:srgbClr val="E66C7D"/>
        </a:buClr>
        <a:buFont typeface="Arial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025" indent="-182563" algn="l" rtl="0" fontAlgn="base">
        <a:spcBef>
          <a:spcPct val="20000"/>
        </a:spcBef>
        <a:spcAft>
          <a:spcPct val="0"/>
        </a:spcAft>
        <a:buClr>
          <a:srgbClr val="6BB76D"/>
        </a:buClr>
        <a:buFont typeface="Arial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182563" algn="l" rtl="0" fontAlgn="base">
        <a:spcBef>
          <a:spcPct val="20000"/>
        </a:spcBef>
        <a:spcAft>
          <a:spcPct val="0"/>
        </a:spcAft>
        <a:buClr>
          <a:srgbClr val="E88651"/>
        </a:buClr>
        <a:buFont typeface="Wingdings 3" pitchFamily="18" charset="2"/>
        <a:buChar char="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1066800" y="908050"/>
            <a:ext cx="8077200" cy="1500188"/>
          </a:xfrm>
        </p:spPr>
        <p:txBody>
          <a:bodyPr/>
          <a:lstStyle/>
          <a:p>
            <a:r>
              <a:rPr lang="en-GB" dirty="0" smtClean="0"/>
              <a:t>Robin </a:t>
            </a:r>
            <a:r>
              <a:rPr lang="en-GB" dirty="0" smtClean="0"/>
              <a:t>Rice, Project Manager</a:t>
            </a:r>
            <a:endParaRPr lang="en-GB" dirty="0" smtClean="0"/>
          </a:p>
          <a:p>
            <a:r>
              <a:rPr lang="en-GB" dirty="0" smtClean="0"/>
              <a:t>EDINA and Data Library, University of Edinburgh</a:t>
            </a:r>
          </a:p>
          <a:p>
            <a:r>
              <a:rPr lang="en-GB" dirty="0" smtClean="0"/>
              <a:t>JISC Managing Research Data Programme Meeting, Oct 22, 2010</a:t>
            </a:r>
            <a:endParaRPr lang="en-GB" dirty="0" smtClean="0"/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042988" y="2708275"/>
            <a:ext cx="7273925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000" dirty="0" smtClean="0">
                <a:solidFill>
                  <a:schemeClr val="accent1"/>
                </a:solidFill>
              </a:rPr>
              <a:t>Research Dat</a:t>
            </a:r>
            <a:r>
              <a:rPr lang="en-US" sz="4000" dirty="0" smtClean="0">
                <a:solidFill>
                  <a:schemeClr val="accent1"/>
                </a:solidFill>
              </a:rPr>
              <a:t>a MANTRA</a:t>
            </a:r>
          </a:p>
          <a:p>
            <a:pPr>
              <a:spcBef>
                <a:spcPct val="50000"/>
              </a:spcBef>
            </a:pPr>
            <a:r>
              <a:rPr lang="en-US" sz="4000" dirty="0" smtClean="0">
                <a:solidFill>
                  <a:schemeClr val="accent1"/>
                </a:solidFill>
              </a:rPr>
              <a:t>(Management Training)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795013-E5BC-4563-9CAE-1B5DBE46AF5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  <p:pic>
        <p:nvPicPr>
          <p:cNvPr id="5" name="Picture 4" descr="jiscresearch3.0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16216" y="5273824"/>
            <a:ext cx="1568491" cy="1584176"/>
          </a:xfrm>
          <a:prstGeom prst="rect">
            <a:avLst/>
          </a:prstGeom>
        </p:spPr>
      </p:pic>
    </p:spTree>
  </p:cSld>
  <p:clrMapOvr>
    <a:masterClrMapping/>
  </p:clrMapOvr>
  <p:transition advClick="0" advTm="2000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dirty="0" smtClean="0">
                <a:solidFill>
                  <a:schemeClr val="accent1">
                    <a:satMod val="150000"/>
                  </a:schemeClr>
                </a:solidFill>
              </a:rPr>
              <a:t>Research Data MANTRA project (</a:t>
            </a:r>
            <a:r>
              <a:rPr lang="en-GB" dirty="0" err="1" smtClean="0">
                <a:solidFill>
                  <a:schemeClr val="accent1">
                    <a:satMod val="150000"/>
                  </a:schemeClr>
                </a:solidFill>
              </a:rPr>
              <a:t>MANagement</a:t>
            </a:r>
            <a:r>
              <a:rPr lang="en-GB" dirty="0" smtClean="0">
                <a:solidFill>
                  <a:schemeClr val="accent1">
                    <a:satMod val="150000"/>
                  </a:schemeClr>
                </a:solidFill>
              </a:rPr>
              <a:t> </a:t>
            </a:r>
            <a:r>
              <a:rPr lang="en-GB" dirty="0" err="1" smtClean="0">
                <a:solidFill>
                  <a:schemeClr val="accent1">
                    <a:satMod val="150000"/>
                  </a:schemeClr>
                </a:solidFill>
              </a:rPr>
              <a:t>TRAining</a:t>
            </a:r>
            <a:r>
              <a:rPr lang="en-GB" dirty="0" smtClean="0">
                <a:solidFill>
                  <a:schemeClr val="accent1">
                    <a:satMod val="150000"/>
                  </a:schemeClr>
                </a:solidFill>
              </a:rPr>
              <a:t>)</a:t>
            </a:r>
            <a:endParaRPr lang="en-GB" dirty="0">
              <a:solidFill>
                <a:schemeClr val="accent1">
                  <a:satMod val="1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313" y="1428750"/>
            <a:ext cx="4141663" cy="5143500"/>
          </a:xfrm>
        </p:spPr>
        <p:txBody>
          <a:bodyPr rtlCol="0">
            <a:normAutofit fontScale="77500" lnSpcReduction="20000"/>
          </a:bodyPr>
          <a:lstStyle/>
          <a:p>
            <a:pPr marL="438912" indent="-320040" algn="just" fontAlgn="auto">
              <a:spcBef>
                <a:spcPts val="0"/>
              </a:spcBef>
              <a:spcAft>
                <a:spcPts val="0"/>
              </a:spcAft>
              <a:buFont typeface="Wingdings 2"/>
              <a:buNone/>
              <a:defRPr/>
            </a:pPr>
            <a:endParaRPr lang="en-GB" dirty="0" smtClean="0"/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 smtClean="0"/>
              <a:t>Open online learning materials in RDM for </a:t>
            </a:r>
            <a:r>
              <a:rPr lang="en-GB" dirty="0" err="1" smtClean="0"/>
              <a:t>postgrads</a:t>
            </a:r>
            <a:r>
              <a:rPr lang="en-GB" dirty="0" smtClean="0"/>
              <a:t> and early career researchers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 smtClean="0"/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 smtClean="0"/>
              <a:t>Grounded in three disciplines, working with graduate </a:t>
            </a:r>
            <a:r>
              <a:rPr lang="en-GB" dirty="0" smtClean="0"/>
              <a:t>schools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 smtClean="0"/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 smtClean="0"/>
              <a:t>Video stories from senior researchers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 smtClean="0"/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 smtClean="0"/>
              <a:t>Data </a:t>
            </a:r>
            <a:r>
              <a:rPr lang="en-GB" i="1" dirty="0" smtClean="0"/>
              <a:t>handling</a:t>
            </a:r>
            <a:r>
              <a:rPr lang="en-GB" dirty="0" smtClean="0"/>
              <a:t> exercises in four software analysis packages. </a:t>
            </a:r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 smtClean="0"/>
          </a:p>
          <a:p>
            <a:pPr marL="438912" indent="-320040" fontAlgn="auto">
              <a:spcBef>
                <a:spcPts val="0"/>
              </a:spcBef>
              <a:spcAft>
                <a:spcPts val="0"/>
              </a:spcAft>
              <a:defRPr/>
            </a:pPr>
            <a:endParaRPr lang="en-GB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52AE30-B192-400D-9AA6-5458FE99DD84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pic>
        <p:nvPicPr>
          <p:cNvPr id="6" name="Picture 5" descr="backlit-buddha-by.ash-on-flick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91472" y="1484784"/>
            <a:ext cx="4752528" cy="47525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80112" y="6309320"/>
            <a:ext cx="20746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 smtClean="0"/>
              <a:t>Image by .ash on flicker</a:t>
            </a:r>
            <a:endParaRPr lang="en-GB" sz="1400" dirty="0"/>
          </a:p>
        </p:txBody>
      </p:sp>
    </p:spTree>
  </p:cSld>
  <p:clrMapOvr>
    <a:masterClrMapping/>
  </p:clrMapOvr>
  <p:transition advClick="0" advTm="2000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MANTRA </a:t>
            </a:r>
            <a:r>
              <a:rPr lang="en-GB" dirty="0" smtClean="0"/>
              <a:t>c</a:t>
            </a:r>
            <a:r>
              <a:rPr lang="en-GB" dirty="0" smtClean="0"/>
              <a:t>ritical </a:t>
            </a:r>
            <a:r>
              <a:rPr lang="en-GB" dirty="0" smtClean="0"/>
              <a:t>s</a:t>
            </a:r>
            <a:r>
              <a:rPr lang="en-GB" dirty="0" smtClean="0"/>
              <a:t>uccess factors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28800"/>
            <a:ext cx="4618856" cy="4176464"/>
          </a:xfrm>
        </p:spPr>
        <p:txBody>
          <a:bodyPr/>
          <a:lstStyle/>
          <a:p>
            <a:pPr lvl="0"/>
            <a:r>
              <a:rPr lang="en-GB" sz="2400" dirty="0" smtClean="0"/>
              <a:t>The </a:t>
            </a:r>
            <a:r>
              <a:rPr lang="en-GB" sz="2400" dirty="0" smtClean="0"/>
              <a:t>commitment of </a:t>
            </a:r>
            <a:r>
              <a:rPr lang="en-GB" sz="2400" dirty="0" smtClean="0"/>
              <a:t>academic staff </a:t>
            </a:r>
            <a:r>
              <a:rPr lang="en-GB" sz="2400" dirty="0" smtClean="0"/>
              <a:t>to the </a:t>
            </a:r>
            <a:r>
              <a:rPr lang="en-GB" sz="2400" dirty="0" smtClean="0"/>
              <a:t>project.</a:t>
            </a:r>
          </a:p>
          <a:p>
            <a:pPr lvl="0"/>
            <a:endParaRPr lang="en-GB" sz="2400" dirty="0" smtClean="0"/>
          </a:p>
          <a:p>
            <a:pPr lvl="0"/>
            <a:r>
              <a:rPr lang="en-GB" sz="2400" dirty="0" smtClean="0"/>
              <a:t>Positive feedback from user testing </a:t>
            </a:r>
            <a:r>
              <a:rPr lang="en-GB" sz="2400" dirty="0" smtClean="0"/>
              <a:t>coupled </a:t>
            </a:r>
            <a:r>
              <a:rPr lang="en-GB" sz="2400" dirty="0" smtClean="0"/>
              <a:t>with formative evaluation to improve the quality of the final course</a:t>
            </a:r>
            <a:r>
              <a:rPr lang="en-GB" sz="2400" dirty="0" smtClean="0"/>
              <a:t>.</a:t>
            </a:r>
          </a:p>
          <a:p>
            <a:pPr lvl="0"/>
            <a:endParaRPr lang="en-GB" sz="2400" dirty="0" smtClean="0"/>
          </a:p>
          <a:p>
            <a:pPr lvl="0"/>
            <a:r>
              <a:rPr lang="en-GB" sz="2400" dirty="0" smtClean="0"/>
              <a:t>Increased advocacy and awareness of </a:t>
            </a:r>
            <a:r>
              <a:rPr lang="en-GB" sz="2400" dirty="0" smtClean="0"/>
              <a:t>RDM best </a:t>
            </a:r>
            <a:r>
              <a:rPr lang="en-GB" sz="2400" dirty="0" smtClean="0"/>
              <a:t>practice across the University</a:t>
            </a:r>
            <a:r>
              <a:rPr lang="en-GB" sz="2400" dirty="0" smtClean="0"/>
              <a:t>.</a:t>
            </a:r>
          </a:p>
          <a:p>
            <a:pPr lvl="0"/>
            <a:endParaRPr lang="en-GB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52AE30-B192-400D-9AA6-5458FE99DD84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  <p:pic>
        <p:nvPicPr>
          <p:cNvPr id="5" name="Picture 4" descr="flickr-attrib-quasimond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64088" y="1556792"/>
            <a:ext cx="3779912" cy="40174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1560" y="6119336"/>
            <a:ext cx="827399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GB" sz="2400" dirty="0" smtClean="0">
                <a:latin typeface="+mn-lt"/>
              </a:rPr>
              <a:t>The </a:t>
            </a:r>
            <a:r>
              <a:rPr lang="en-GB" sz="2400" dirty="0" smtClean="0">
                <a:latin typeface="+mn-lt"/>
              </a:rPr>
              <a:t>course is useful and used in other contexts </a:t>
            </a:r>
            <a:r>
              <a:rPr lang="en-GB" sz="2400" dirty="0" err="1" smtClean="0">
                <a:latin typeface="+mn-lt"/>
              </a:rPr>
              <a:t>outwith</a:t>
            </a:r>
            <a:r>
              <a:rPr lang="en-GB" sz="2400" dirty="0" smtClean="0">
                <a:latin typeface="+mn-lt"/>
              </a:rPr>
              <a:t> the </a:t>
            </a:r>
            <a:r>
              <a:rPr lang="en-GB" sz="2400" dirty="0" err="1" smtClean="0">
                <a:latin typeface="+mn-lt"/>
              </a:rPr>
              <a:t>UoE</a:t>
            </a:r>
            <a:r>
              <a:rPr lang="en-GB" sz="2400" dirty="0" smtClean="0">
                <a:latin typeface="+mn-lt"/>
              </a:rPr>
              <a:t>.</a:t>
            </a:r>
            <a:endParaRPr lang="en-GB" sz="2400" dirty="0" smtClean="0">
              <a:latin typeface="+mn-lt"/>
            </a:endParaRPr>
          </a:p>
          <a:p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6012160" y="5589240"/>
            <a:ext cx="2611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 smtClean="0"/>
              <a:t>Image by </a:t>
            </a:r>
            <a:r>
              <a:rPr lang="en-US" sz="1400" i="1" dirty="0" err="1" smtClean="0"/>
              <a:t>quasimondo</a:t>
            </a:r>
            <a:r>
              <a:rPr lang="en-US" sz="1400" i="1" dirty="0" smtClean="0"/>
              <a:t> on </a:t>
            </a:r>
            <a:r>
              <a:rPr lang="en-US" sz="1400" i="1" dirty="0" err="1" smtClean="0"/>
              <a:t>flickr</a:t>
            </a:r>
            <a:endParaRPr lang="en-GB" sz="1400" i="1" dirty="0"/>
          </a:p>
        </p:txBody>
      </p:sp>
    </p:spTree>
  </p:cSld>
  <p:clrMapOvr>
    <a:masterClrMapping/>
  </p:clrMapOvr>
  <p:transition advClick="0" advTm="20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Project team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4825"/>
            <a:ext cx="8229600" cy="4894535"/>
          </a:xfrm>
        </p:spPr>
        <p:txBody>
          <a:bodyPr/>
          <a:lstStyle/>
          <a:p>
            <a:r>
              <a:rPr lang="en-GB" sz="1400" dirty="0" smtClean="0"/>
              <a:t>Dr</a:t>
            </a:r>
            <a:r>
              <a:rPr lang="en-GB" sz="1400" dirty="0" smtClean="0"/>
              <a:t>. Jon Turner		Director, Institute for Academic Development, J.D.Turner@ed.ac.uk</a:t>
            </a:r>
          </a:p>
          <a:p>
            <a:r>
              <a:rPr lang="en-GB" sz="1400" dirty="0" smtClean="0"/>
              <a:t>Peter Burnhill		Director, EDINA and Data Library, P.Burnhill@ed.ac.uk</a:t>
            </a:r>
          </a:p>
          <a:p>
            <a:endParaRPr lang="en-GB" sz="1400" dirty="0" smtClean="0"/>
          </a:p>
          <a:p>
            <a:r>
              <a:rPr lang="en-GB" sz="1400" dirty="0" smtClean="0"/>
              <a:t>Robin </a:t>
            </a:r>
            <a:r>
              <a:rPr lang="en-GB" sz="1400" dirty="0" smtClean="0"/>
              <a:t>Rice		Project Manager, EDINA and Data Library, R.Rice@ed.ac.uk</a:t>
            </a:r>
          </a:p>
          <a:p>
            <a:r>
              <a:rPr lang="en-GB" sz="1400" dirty="0" smtClean="0"/>
              <a:t>Dr. Cuna Ekmekcioglu	Editor/Writer, Information Services, Cuna.Ekmekcioglu@ed.ac.uk</a:t>
            </a:r>
          </a:p>
          <a:p>
            <a:r>
              <a:rPr lang="en-GB" sz="1400" dirty="0" smtClean="0"/>
              <a:t>Stuart Macdonald	</a:t>
            </a:r>
            <a:r>
              <a:rPr lang="en-GB" sz="1400" dirty="0" smtClean="0"/>
              <a:t>	Writer</a:t>
            </a:r>
            <a:r>
              <a:rPr lang="en-GB" sz="1400" dirty="0" smtClean="0"/>
              <a:t>, EDINA and Data Library, Stuart.Macdonald@ed.ac.uk</a:t>
            </a:r>
          </a:p>
          <a:p>
            <a:endParaRPr lang="en-GB" sz="1400" dirty="0" smtClean="0"/>
          </a:p>
          <a:p>
            <a:r>
              <a:rPr lang="en-GB" sz="1400" dirty="0" smtClean="0"/>
              <a:t>Wilma </a:t>
            </a:r>
            <a:r>
              <a:rPr lang="en-GB" sz="1400" dirty="0" smtClean="0"/>
              <a:t>Alexander	</a:t>
            </a:r>
            <a:r>
              <a:rPr lang="en-GB" sz="1400" dirty="0" smtClean="0"/>
              <a:t>	Evaluator</a:t>
            </a:r>
            <a:r>
              <a:rPr lang="en-GB" sz="1400" dirty="0" smtClean="0"/>
              <a:t>, Information Services, Wilma.Alexander@ed.ac.uk</a:t>
            </a:r>
          </a:p>
          <a:p>
            <a:r>
              <a:rPr lang="en-GB" sz="1400" dirty="0" smtClean="0"/>
              <a:t>Andrew </a:t>
            </a:r>
            <a:r>
              <a:rPr lang="en-GB" sz="1400" dirty="0" err="1" smtClean="0"/>
              <a:t>Pryde</a:t>
            </a:r>
            <a:r>
              <a:rPr lang="en-GB" sz="1400" dirty="0" smtClean="0"/>
              <a:t> 		Media Producer, Information Services, Andrew.Pryde@ed.ac.uk</a:t>
            </a:r>
          </a:p>
          <a:p>
            <a:r>
              <a:rPr lang="en-GB" sz="1400" dirty="0" smtClean="0"/>
              <a:t>Jackie Clark		Web designer, EDINA, Jackie.Clark@ed.ac.uk</a:t>
            </a:r>
          </a:p>
          <a:p>
            <a:r>
              <a:rPr lang="en-GB" sz="1400" dirty="0" smtClean="0"/>
              <a:t>SPSS practical writer: </a:t>
            </a:r>
            <a:r>
              <a:rPr lang="en-GB" sz="1400" dirty="0" smtClean="0"/>
              <a:t>	Joan </a:t>
            </a:r>
            <a:r>
              <a:rPr lang="en-GB" sz="1400" dirty="0" smtClean="0"/>
              <a:t>Corbett (Scottish Centre for Social Research)</a:t>
            </a:r>
          </a:p>
          <a:p>
            <a:r>
              <a:rPr lang="en-GB" sz="1400" dirty="0" smtClean="0"/>
              <a:t>NVivo practical writer: TBA</a:t>
            </a:r>
          </a:p>
          <a:p>
            <a:r>
              <a:rPr lang="en-GB" sz="1400" dirty="0" smtClean="0"/>
              <a:t>R practical writer: TBA</a:t>
            </a:r>
          </a:p>
          <a:p>
            <a:r>
              <a:rPr lang="en-GB" sz="1400" dirty="0" smtClean="0"/>
              <a:t>ArcGIS practical writer: TBA</a:t>
            </a:r>
          </a:p>
          <a:p>
            <a:endParaRPr lang="en-GB" sz="1400" dirty="0" smtClean="0"/>
          </a:p>
          <a:p>
            <a:r>
              <a:rPr lang="en-GB" sz="1400" b="1" dirty="0" smtClean="0"/>
              <a:t>Graduate School Primary Contacts:</a:t>
            </a:r>
            <a:endParaRPr lang="en-GB" sz="1400" dirty="0" smtClean="0"/>
          </a:p>
          <a:p>
            <a:r>
              <a:rPr lang="en-GB" sz="1400" dirty="0" smtClean="0"/>
              <a:t>Dr. Kate Orton-Johnson, Convenor, Qualitative Data Analysis</a:t>
            </a:r>
          </a:p>
          <a:p>
            <a:r>
              <a:rPr lang="en-GB" sz="1400" dirty="0" smtClean="0"/>
              <a:t>Professor John </a:t>
            </a:r>
            <a:r>
              <a:rPr lang="en-GB" sz="1400" dirty="0" err="1" smtClean="0"/>
              <a:t>Macinnes</a:t>
            </a:r>
            <a:r>
              <a:rPr lang="en-GB" sz="1400" dirty="0" smtClean="0"/>
              <a:t>, Convenor, Core Quantitative Data Analysis for Social Research</a:t>
            </a:r>
          </a:p>
          <a:p>
            <a:r>
              <a:rPr lang="en-GB" sz="1400" dirty="0" smtClean="0"/>
              <a:t>Karen McKenzie, Senior Lecturer in Clinical Psychology, Learning Disabilities</a:t>
            </a:r>
          </a:p>
          <a:p>
            <a:r>
              <a:rPr lang="en-GB" sz="1400" dirty="0" smtClean="0"/>
              <a:t>Dr. Kate Heal, former Deputy Head, Research Training and Development Organisation (PhD Training and Monitoring)</a:t>
            </a:r>
          </a:p>
          <a:p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52AE30-B192-400D-9AA6-5458FE99DD84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</p:cSld>
  <p:clrMapOvr>
    <a:masterClrMapping/>
  </p:clrMapOvr>
  <p:transition advClick="0" advTm="20000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ppt/theme/themeOverride2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1393</TotalTime>
  <Words>151</Words>
  <Application>Microsoft Office PowerPoint</Application>
  <PresentationFormat>On-screen Show (4:3)</PresentationFormat>
  <Paragraphs>48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Module</vt:lpstr>
      <vt:lpstr>Slide 1</vt:lpstr>
      <vt:lpstr>Research Data MANTRA project (MANagement TRAining)</vt:lpstr>
      <vt:lpstr>MANTRA critical success factors </vt:lpstr>
      <vt:lpstr>Project team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Policy, guidance and training: Improving research data management at one institution</dc:title>
  <dc:creator>rice</dc:creator>
  <cp:lastModifiedBy>Robin Rice</cp:lastModifiedBy>
  <cp:revision>82</cp:revision>
  <dcterms:created xsi:type="dcterms:W3CDTF">2010-06-03T21:13:06Z</dcterms:created>
  <dcterms:modified xsi:type="dcterms:W3CDTF">2010-10-21T21:02:37Z</dcterms:modified>
</cp:coreProperties>
</file>