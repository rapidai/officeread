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2" r:id="rId3"/>
    <p:sldId id="267" r:id="rId4"/>
    <p:sldId id="268" r:id="rId5"/>
    <p:sldId id="269" r:id="rId6"/>
    <p:sldId id="258" r:id="rId7"/>
    <p:sldId id="259" r:id="rId8"/>
    <p:sldId id="260" r:id="rId9"/>
    <p:sldId id="261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44450" y="2393950"/>
          <a:ext cx="9077325" cy="1819275"/>
        </p:xfrm>
        <a:graphic>
          <a:graphicData uri="http://schemas.openxmlformats.org/presentationml/2006/ole">
            <p:oleObj spid="_x0000_s151553" name="Image" r:id="rId3" imgW="10209524" imgH="1815873" progId="">
              <p:embed/>
            </p:oleObj>
          </a:graphicData>
        </a:graphic>
      </p:graphicFrame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4925" y="4292600"/>
            <a:ext cx="9074150" cy="2520950"/>
            <a:chOff x="0" y="2640"/>
            <a:chExt cx="5760" cy="1680"/>
          </a:xfrm>
        </p:grpSpPr>
        <p:sp>
          <p:nvSpPr>
            <p:cNvPr id="6" name="Rectangle 17"/>
            <p:cNvSpPr>
              <a:spLocks noChangeArrowheads="1"/>
            </p:cNvSpPr>
            <p:nvPr userDrawn="1"/>
          </p:nvSpPr>
          <p:spPr bwMode="gray">
            <a:xfrm>
              <a:off x="0" y="2640"/>
              <a:ext cx="5760" cy="1680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7" name="Rectangle 18"/>
            <p:cNvSpPr>
              <a:spLocks noChangeArrowheads="1"/>
            </p:cNvSpPr>
            <p:nvPr userDrawn="1"/>
          </p:nvSpPr>
          <p:spPr bwMode="gray">
            <a:xfrm>
              <a:off x="0" y="2640"/>
              <a:ext cx="5760" cy="96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</p:grpSp>
      <p:sp>
        <p:nvSpPr>
          <p:cNvPr id="8" name="Rectangle 19"/>
          <p:cNvSpPr>
            <a:spLocks noChangeArrowheads="1"/>
          </p:cNvSpPr>
          <p:nvPr/>
        </p:nvSpPr>
        <p:spPr bwMode="gray">
          <a:xfrm>
            <a:off x="34925" y="44450"/>
            <a:ext cx="9074150" cy="228282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grpSp>
        <p:nvGrpSpPr>
          <p:cNvPr id="9" name="Group 20"/>
          <p:cNvGrpSpPr>
            <a:grpSpLocks/>
          </p:cNvGrpSpPr>
          <p:nvPr/>
        </p:nvGrpSpPr>
        <p:grpSpPr bwMode="auto">
          <a:xfrm>
            <a:off x="-4763" y="0"/>
            <a:ext cx="9148763" cy="6856413"/>
            <a:chOff x="-3" y="0"/>
            <a:chExt cx="5763" cy="4319"/>
          </a:xfrm>
        </p:grpSpPr>
        <p:sp>
          <p:nvSpPr>
            <p:cNvPr id="10" name="AutoShape 21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11" name="Freeform 22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12" name="Freeform 23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13" name="Freeform 24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14" name="Freeform 25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</p:grpSp>
      <p:grpSp>
        <p:nvGrpSpPr>
          <p:cNvPr id="15" name="Group 26"/>
          <p:cNvGrpSpPr>
            <a:grpSpLocks/>
          </p:cNvGrpSpPr>
          <p:nvPr/>
        </p:nvGrpSpPr>
        <p:grpSpPr bwMode="auto">
          <a:xfrm>
            <a:off x="2482850" y="2895600"/>
            <a:ext cx="2698750" cy="1041400"/>
            <a:chOff x="1610" y="1965"/>
            <a:chExt cx="1700" cy="656"/>
          </a:xfrm>
        </p:grpSpPr>
        <p:pic>
          <p:nvPicPr>
            <p:cNvPr id="16" name="Picture 27" descr="Untitled-1 copy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gray">
            <a:xfrm>
              <a:off x="2426" y="1965"/>
              <a:ext cx="590" cy="5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" name="Picture 28" descr="Untitled-1 copy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/>
            <a:stretch>
              <a:fillRect/>
            </a:stretch>
          </p:blipFill>
          <p:spPr bwMode="gray">
            <a:xfrm>
              <a:off x="3061" y="2372"/>
              <a:ext cx="249" cy="2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8" name="Picture 29" descr="Untitled-1 copy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gray">
            <a:xfrm>
              <a:off x="1610" y="2237"/>
              <a:ext cx="363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ltGray">
          <a:xfrm>
            <a:off x="762000" y="990600"/>
            <a:ext cx="7772400" cy="10668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953000"/>
            <a:ext cx="6400800" cy="533400"/>
          </a:xfrm>
        </p:spPr>
        <p:txBody>
          <a:bodyPr/>
          <a:lstStyle>
            <a:lvl1pPr marL="0" indent="0" algn="ctr">
              <a:buFontTx/>
              <a:buNone/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D233AD-CB1F-4F3A-870A-6C2081CD10E0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01E58-0ED8-42E1-9C70-70932657E69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F3EBB-86C2-48B9-BA34-9B9ECD371825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2A70F-1120-49BE-82D7-7DC123FD95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1B1D-BD1D-45CC-BE85-F1A61B46A2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ECA22-45ED-4676-A9A6-E87E6789D0EE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C4730-7D52-49F9-815A-1415CAD93D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E3EAAF-589F-4C3B-81E5-E4ECE30DCC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CC56A0-FF77-4582-AA87-51DA30289041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A2A00-331F-4D44-81C1-7D6971435E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94613E-21B2-4BC7-AD38-2E679085CC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EB49-8A98-4ED0-83CC-C681A0800D6C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7618C-1AB3-434E-91AE-20B3DB488F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29D4E-2508-4AA9-8B76-911B97E25E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8D6FF-0CEB-406F-9B90-947BEA0DD2B2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BBF661-0472-4F02-8146-5EBA03E904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47FA47-9053-42BB-A465-CCFC1BAA2B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49BEA-6187-45AD-A1F8-C99EFB8AA05B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BDA89-F476-4892-A05D-D3474973078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1935D8-6809-4DCC-80A6-924A1A2721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09A1A-EECC-4931-88B9-9E6367129461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B23E44-E640-4761-A1FA-170CA2901C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FF2B9-FF85-4F57-8209-5784E1E4B1D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220AC4-B40D-428E-BCCA-70BBB29DDC82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EA29C-99D9-48D5-A293-E82CE2982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B7FE3E-6243-44A6-BE39-903ECE1851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EA48A-BF6A-4B6F-A54E-C081EB9F2B7D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1C272A-F4A0-43C5-BFC7-FA3829DE5D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05208-19D5-4680-9F96-A5475C5731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122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1229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DD2D3-9678-4AA6-9B81-ABA991CA74DF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39ACB-F87A-4CFE-B3A4-75B5F159D2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F69FA-A58E-4DD3-89A1-F49BBC0A8B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6629400" cy="8683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949825"/>
          </a:xfrm>
        </p:spPr>
        <p:txBody>
          <a:bodyPr/>
          <a:lstStyle/>
          <a:p>
            <a:pPr lvl="0"/>
            <a:r>
              <a:rPr lang="en-US" noProof="0" dirty="0" smtClean="0"/>
              <a:t>Click icon to add table</a:t>
            </a:r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5E9F8-90BE-4DFC-8D0D-91AC418A1574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3F132-75F1-41AE-A8D5-6A5D76D70F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18C21-C2E4-4F87-B894-F853126B59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64812-5A12-4086-939E-460A2831FFE1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3F929F-4BD9-4BE8-BDAD-885955A95A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1DBDF6-BA79-4184-85CF-DB2CFBDC6A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"/>
          <p:cNvGrpSpPr>
            <a:grpSpLocks/>
          </p:cNvGrpSpPr>
          <p:nvPr/>
        </p:nvGrpSpPr>
        <p:grpSpPr bwMode="auto">
          <a:xfrm>
            <a:off x="0" y="285750"/>
            <a:ext cx="9156700" cy="911225"/>
            <a:chOff x="-1" y="196"/>
            <a:chExt cx="5768" cy="635"/>
          </a:xfrm>
        </p:grpSpPr>
        <p:sp>
          <p:nvSpPr>
            <p:cNvPr id="1036" name="Rectangle 12"/>
            <p:cNvSpPr>
              <a:spLocks noChangeArrowheads="1"/>
            </p:cNvSpPr>
            <p:nvPr userDrawn="1"/>
          </p:nvSpPr>
          <p:spPr bwMode="gray">
            <a:xfrm>
              <a:off x="1" y="196"/>
              <a:ext cx="5766" cy="635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1037" name="Freeform 13"/>
            <p:cNvSpPr>
              <a:spLocks/>
            </p:cNvSpPr>
            <p:nvPr userDrawn="1"/>
          </p:nvSpPr>
          <p:spPr bwMode="gray">
            <a:xfrm flipH="1" flipV="1">
              <a:off x="2265" y="196"/>
              <a:ext cx="3497" cy="226"/>
            </a:xfrm>
            <a:custGeom>
              <a:avLst/>
              <a:gdLst/>
              <a:ahLst/>
              <a:cxnLst>
                <a:cxn ang="0">
                  <a:pos x="45" y="590"/>
                </a:cxn>
                <a:cxn ang="0">
                  <a:pos x="1497" y="590"/>
                </a:cxn>
                <a:cxn ang="0">
                  <a:pos x="0" y="0"/>
                </a:cxn>
                <a:cxn ang="0">
                  <a:pos x="0" y="590"/>
                </a:cxn>
              </a:cxnLst>
              <a:rect l="0" t="0" r="r" b="b"/>
              <a:pathLst>
                <a:path w="1497" h="590">
                  <a:moveTo>
                    <a:pt x="45" y="590"/>
                  </a:moveTo>
                  <a:lnTo>
                    <a:pt x="1497" y="590"/>
                  </a:lnTo>
                  <a:lnTo>
                    <a:pt x="0" y="0"/>
                  </a:lnTo>
                  <a:lnTo>
                    <a:pt x="0" y="590"/>
                  </a:lnTo>
                </a:path>
              </a:pathLst>
            </a:custGeom>
            <a:gradFill rotWithShape="1">
              <a:gsLst>
                <a:gs pos="0">
                  <a:schemeClr val="tx1"/>
                </a:gs>
                <a:gs pos="100000">
                  <a:schemeClr val="tx1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  <p:sp>
          <p:nvSpPr>
            <p:cNvPr id="1038" name="Freeform 14"/>
            <p:cNvSpPr>
              <a:spLocks/>
            </p:cNvSpPr>
            <p:nvPr userDrawn="1"/>
          </p:nvSpPr>
          <p:spPr bwMode="gray">
            <a:xfrm>
              <a:off x="-1" y="514"/>
              <a:ext cx="3702" cy="312"/>
            </a:xfrm>
            <a:custGeom>
              <a:avLst/>
              <a:gdLst/>
              <a:ahLst/>
              <a:cxnLst>
                <a:cxn ang="0">
                  <a:pos x="45" y="590"/>
                </a:cxn>
                <a:cxn ang="0">
                  <a:pos x="1497" y="590"/>
                </a:cxn>
                <a:cxn ang="0">
                  <a:pos x="0" y="0"/>
                </a:cxn>
                <a:cxn ang="0">
                  <a:pos x="0" y="590"/>
                </a:cxn>
              </a:cxnLst>
              <a:rect l="0" t="0" r="r" b="b"/>
              <a:pathLst>
                <a:path w="1497" h="590">
                  <a:moveTo>
                    <a:pt x="45" y="590"/>
                  </a:moveTo>
                  <a:lnTo>
                    <a:pt x="1497" y="590"/>
                  </a:lnTo>
                  <a:lnTo>
                    <a:pt x="0" y="0"/>
                  </a:lnTo>
                  <a:lnTo>
                    <a:pt x="0" y="590"/>
                  </a:lnTo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>
                <a:latin typeface="+mn-lt"/>
                <a:cs typeface="+mn-cs"/>
              </a:endParaRPr>
            </a:p>
          </p:txBody>
        </p:sp>
      </p:grpSp>
      <p:sp>
        <p:nvSpPr>
          <p:cNvPr id="1039" name="Rectangle 15"/>
          <p:cNvSpPr>
            <a:spLocks noChangeArrowheads="1"/>
          </p:cNvSpPr>
          <p:nvPr/>
        </p:nvSpPr>
        <p:spPr bwMode="gray">
          <a:xfrm>
            <a:off x="1588" y="0"/>
            <a:ext cx="9144000" cy="2413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12700" y="1235075"/>
            <a:ext cx="9132888" cy="158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pic>
        <p:nvPicPr>
          <p:cNvPr id="1029" name="Picture 17" descr="Untitled-1 copy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gray">
          <a:xfrm>
            <a:off x="252413" y="382588"/>
            <a:ext cx="7207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18" descr="Untitled-1 copy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gray">
          <a:xfrm>
            <a:off x="973138" y="765175"/>
            <a:ext cx="358775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676400" y="274638"/>
            <a:ext cx="6629400" cy="868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94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CAEAC445-9FAA-4738-AD01-741F509299C4}" type="datetimeFigureOut">
              <a:rPr lang="en-US"/>
              <a:pPr>
                <a:defRPr/>
              </a:pPr>
              <a:t>3/21/2011</a:t>
            </a:fld>
            <a:endParaRPr lang="en-US" dirty="0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B07150F5-74A9-494E-9A7A-4FA221FDEE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770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400">
                <a:latin typeface="+mn-lt"/>
                <a:cs typeface="+mn-cs"/>
              </a:defRPr>
            </a:lvl1pPr>
          </a:lstStyle>
          <a:p>
            <a:pPr>
              <a:defRPr/>
            </a:pPr>
            <a:fld id="{6288D9F3-B6F9-4B05-9540-303EA19FA2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prs.org/" TargetMode="External"/><Relationship Id="rId2" Type="http://schemas.openxmlformats.org/officeDocument/2006/relationships/hyperlink" Target="http://www.acsm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isci.org/" TargetMode="External"/><Relationship Id="rId5" Type="http://schemas.openxmlformats.org/officeDocument/2006/relationships/hyperlink" Target="http://www.cartogis.org/" TargetMode="External"/><Relationship Id="rId4" Type="http://schemas.openxmlformats.org/officeDocument/2006/relationships/hyperlink" Target="http://www.aag.or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pps.org/" TargetMode="External"/><Relationship Id="rId2" Type="http://schemas.openxmlformats.org/officeDocument/2006/relationships/hyperlink" Target="http://www.iaao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ucgis.org/" TargetMode="External"/><Relationship Id="rId4" Type="http://schemas.openxmlformats.org/officeDocument/2006/relationships/hyperlink" Target="http://www.nsgic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usgif.org/" TargetMode="External"/><Relationship Id="rId2" Type="http://schemas.openxmlformats.org/officeDocument/2006/relationships/hyperlink" Target="http://www.ucgis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urisa.org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na.org/" TargetMode="External"/><Relationship Id="rId2" Type="http://schemas.openxmlformats.org/officeDocument/2006/relationships/hyperlink" Target="http://www.naco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planning.org/" TargetMode="External"/><Relationship Id="rId4" Type="http://schemas.openxmlformats.org/officeDocument/2006/relationships/hyperlink" Target="http://www.westgov.org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go.pro/uploads/COGO_STEM_final.pdf" TargetMode="External"/><Relationship Id="rId2" Type="http://schemas.openxmlformats.org/officeDocument/2006/relationships/hyperlink" Target="http://www.ftc.gov/os/comments/privacyreportframework/00390-58043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ogo.pro/uploads/COGO_ProcurementStmt_042510_finalapproved.pdf" TargetMode="External"/><Relationship Id="rId4" Type="http://schemas.openxmlformats.org/officeDocument/2006/relationships/hyperlink" Target="http://www.cogo.pro/uploads/COGO_Letter_on_Subcommittee_in_112th__December_2010_.pdf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ogo.pro/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57200"/>
            <a:ext cx="6324600" cy="10668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COGO Update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800" dirty="0" smtClean="0"/>
              <a:t>Coalition of Geospatial Organizations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72000"/>
            <a:ext cx="64008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Tony Spicci</a:t>
            </a:r>
          </a:p>
          <a:p>
            <a:pPr eaLnBrk="1" hangingPunct="1">
              <a:defRPr/>
            </a:pP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 of </a:t>
            </a:r>
            <a:r>
              <a:rPr lang="en-US" sz="3200" b="1" dirty="0" smtClean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Missouri</a:t>
            </a:r>
          </a:p>
          <a:p>
            <a:pPr eaLnBrk="1" hangingPunct="1">
              <a:defRPr/>
            </a:pPr>
            <a:r>
              <a:rPr lang="en-US" sz="2400" b="1" dirty="0" smtClean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NGAC Meeting, March 18, 2011</a:t>
            </a:r>
            <a:endParaRPr lang="en-US" sz="2400" b="1" dirty="0" smtClean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360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</a:t>
            </a:r>
          </a:p>
          <a:p>
            <a:pPr lvl="1" eaLnBrk="1" hangingPunct="1">
              <a:defRPr/>
            </a:pPr>
            <a:r>
              <a:rPr lang="en-US" dirty="0" smtClean="0">
                <a:hlinkClick r:id="rId2"/>
              </a:rPr>
              <a:t>American Congress on Surveying and Mapping (ACSM)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dirty="0" smtClean="0">
                <a:hlinkClick r:id="rId3"/>
              </a:rPr>
              <a:t>American Society for Photogrammetry and Remote Sensing (ASPRS)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dirty="0" smtClean="0">
                <a:hlinkClick r:id="rId4"/>
              </a:rPr>
              <a:t>Association of American Geographers (AAG)</a:t>
            </a:r>
            <a:r>
              <a:rPr lang="en-US" dirty="0" smtClean="0"/>
              <a:t> </a:t>
            </a:r>
            <a:r>
              <a:rPr lang="en-US" dirty="0" smtClean="0">
                <a:hlinkClick r:id="rId5"/>
              </a:rPr>
              <a:t>Cartography and Geographic Information Society (CAGIS)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dirty="0" smtClean="0">
                <a:hlinkClick r:id="rId6"/>
              </a:rPr>
              <a:t>GIS Certification Institute (GISCI)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</a:t>
            </a:r>
          </a:p>
          <a:p>
            <a:pPr lvl="1" eaLnBrk="1" hangingPunct="1">
              <a:defRPr/>
            </a:pPr>
            <a:r>
              <a:rPr lang="en-US" dirty="0" smtClean="0">
                <a:hlinkClick r:id="rId2"/>
              </a:rPr>
              <a:t>International Association of Assessing Officers (IAAO)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dirty="0" smtClean="0">
                <a:hlinkClick r:id="rId3"/>
              </a:rPr>
              <a:t>Management Association for Private Photogrammetric Surveyors (MAPPS)</a:t>
            </a:r>
            <a:endParaRPr lang="en-US" dirty="0" smtClean="0"/>
          </a:p>
          <a:p>
            <a:pPr lvl="1" eaLnBrk="1" hangingPunct="1">
              <a:defRPr/>
            </a:pPr>
            <a:r>
              <a:rPr lang="en-US" dirty="0" smtClean="0">
                <a:hlinkClick r:id="rId4"/>
              </a:rPr>
              <a:t>National States Geographic Information Council (NSGIC)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dirty="0" smtClean="0">
                <a:hlinkClick r:id="rId5"/>
              </a:rPr>
              <a:t>University Consortium for Geographic Information Science (UCGIS)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Member</a:t>
            </a:r>
          </a:p>
          <a:p>
            <a:pPr lvl="1" eaLnBrk="1" hangingPunct="1">
              <a:defRPr/>
            </a:pPr>
            <a:r>
              <a:rPr lang="en-US" dirty="0" smtClean="0">
                <a:hlinkClick r:id="rId2"/>
              </a:rPr>
              <a:t>University Consortium for Geographic Information Science (UCGIS)</a:t>
            </a:r>
            <a:r>
              <a:rPr lang="en-US" dirty="0" smtClean="0"/>
              <a:t> </a:t>
            </a:r>
          </a:p>
          <a:p>
            <a:pPr lvl="1" eaLnBrk="1" hangingPunct="1">
              <a:defRPr/>
            </a:pPr>
            <a:r>
              <a:rPr lang="en-US" dirty="0" smtClean="0">
                <a:hlinkClick r:id="rId3"/>
              </a:rPr>
              <a:t>United States Geospatial Intelligence Foundation (USGIF)</a:t>
            </a:r>
            <a:endParaRPr lang="en-US" dirty="0" smtClean="0"/>
          </a:p>
          <a:p>
            <a:pPr lvl="1" eaLnBrk="1" hangingPunct="1">
              <a:defRPr/>
            </a:pPr>
            <a:r>
              <a:rPr lang="en-US" dirty="0" smtClean="0">
                <a:hlinkClick r:id="rId4"/>
              </a:rPr>
              <a:t>Urban and Regional Information Systems Association (URISA)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Advisory</a:t>
            </a:r>
          </a:p>
          <a:p>
            <a:pPr lvl="1"/>
            <a:r>
              <a:rPr lang="en-US" dirty="0" smtClean="0">
                <a:hlinkClick r:id="rId2"/>
              </a:rPr>
              <a:t>National Association of Counties (NACo)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hlinkClick r:id="rId3"/>
              </a:rPr>
              <a:t>National Emergency Number Association (NENA)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hlinkClick r:id="rId4"/>
              </a:rPr>
              <a:t>Western Governors Association (WGA)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>
                <a:hlinkClick r:id="rId5"/>
              </a:rPr>
              <a:t>American Planning Association (APA)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dirty="0" smtClean="0">
                <a:hlinkClick r:id="rId2"/>
              </a:rPr>
              <a:t>COGO Comments to FTC on Consumer Privacy</a:t>
            </a:r>
            <a:r>
              <a:rPr lang="en-US" dirty="0" smtClean="0"/>
              <a:t> - February, 2011</a:t>
            </a:r>
          </a:p>
          <a:p>
            <a:pPr eaLnBrk="1" hangingPunct="1">
              <a:lnSpc>
                <a:spcPct val="95000"/>
              </a:lnSpc>
            </a:pPr>
            <a:r>
              <a:rPr lang="en-US" dirty="0" smtClean="0">
                <a:hlinkClick r:id="rId3"/>
              </a:rPr>
              <a:t>COGO Urges Obama Administration to Support STEM Education for Geospatial</a:t>
            </a:r>
            <a:r>
              <a:rPr lang="en-US" dirty="0" smtClean="0"/>
              <a:t> - February, 2011</a:t>
            </a:r>
          </a:p>
          <a:p>
            <a:pPr eaLnBrk="1" hangingPunct="1">
              <a:lnSpc>
                <a:spcPct val="95000"/>
              </a:lnSpc>
            </a:pPr>
            <a:r>
              <a:rPr lang="en-US" dirty="0" smtClean="0">
                <a:hlinkClick r:id="rId4"/>
              </a:rPr>
              <a:t>Geospatial Subcommittee In Congress Urged by COGO</a:t>
            </a:r>
            <a:r>
              <a:rPr lang="en-US" dirty="0" smtClean="0"/>
              <a:t> - December, 2010</a:t>
            </a:r>
            <a:br>
              <a:rPr lang="en-US" dirty="0" smtClean="0"/>
            </a:br>
            <a:r>
              <a:rPr lang="en-US" dirty="0" smtClean="0">
                <a:hlinkClick r:id="rId5"/>
              </a:rPr>
              <a:t/>
            </a:r>
            <a:br>
              <a:rPr lang="en-US" dirty="0" smtClean="0">
                <a:hlinkClick r:id="rId5"/>
              </a:rPr>
            </a:b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latin typeface="+mn-lt"/>
                <a:ea typeface="Times New Roman"/>
              </a:rPr>
              <a:t>Geospatial Report Card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35020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Working on finalizing the panel of experts</a:t>
            </a:r>
          </a:p>
          <a:p>
            <a:pPr eaLnBrk="1" hangingPunct="1">
              <a:defRPr/>
            </a:pPr>
            <a:r>
              <a:rPr lang="en-US" dirty="0" smtClean="0"/>
              <a:t>First Step will be creating evaluation criteria</a:t>
            </a:r>
          </a:p>
          <a:p>
            <a:pPr eaLnBrk="1" hangingPunct="1">
              <a:defRPr/>
            </a:pPr>
            <a:r>
              <a:rPr lang="en-US" dirty="0" smtClean="0"/>
              <a:t>Focus on National infrastructure, not Federal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0" y="1447800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Create a report card of the geospatial infrastructure similar to the ASCE Infrastructure Report Card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8683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Geospatial Subcommittee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514600"/>
            <a:ext cx="8229600" cy="3349625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/>
              <a:t>COGO made a request to the 111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&amp; 112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Congress</a:t>
            </a:r>
          </a:p>
          <a:p>
            <a:pPr lvl="1" eaLnBrk="1" hangingPunct="1">
              <a:defRPr/>
            </a:pPr>
            <a:r>
              <a:rPr lang="en-US" sz="2000" dirty="0" smtClean="0"/>
              <a:t>No action by Congress</a:t>
            </a:r>
          </a:p>
          <a:p>
            <a:pPr eaLnBrk="1" hangingPunct="1">
              <a:defRPr/>
            </a:pPr>
            <a:r>
              <a:rPr lang="en-US" sz="2400" dirty="0" smtClean="0"/>
              <a:t>Might be potential interest from the Energy and Minerals Subcommittee</a:t>
            </a:r>
            <a:r>
              <a:rPr lang="en-US" sz="2000" dirty="0" smtClean="0"/>
              <a:t> </a:t>
            </a:r>
          </a:p>
          <a:p>
            <a:pPr eaLnBrk="1" hangingPunct="1">
              <a:defRPr/>
            </a:pPr>
            <a:r>
              <a:rPr lang="en-US" sz="2400" dirty="0" smtClean="0"/>
              <a:t>Senate HS committee expressed interest and is asking the GAO to do a report on the OMB A-16 document</a:t>
            </a:r>
          </a:p>
          <a:p>
            <a:pPr eaLnBrk="1" hangingPunct="1">
              <a:defRPr/>
            </a:pPr>
            <a:endParaRPr lang="en-US" sz="24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0" y="144780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Encourage Congress to establish a subcommittee concerned with oversight of geospatial technologies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FTC Privacy Report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Legislation introduced; asks the FTC to define ‘precise geolocation data’</a:t>
            </a:r>
          </a:p>
          <a:p>
            <a:pPr eaLnBrk="1" hangingPunct="1">
              <a:defRPr/>
            </a:pPr>
            <a:r>
              <a:rPr lang="en-US" dirty="0" smtClean="0"/>
              <a:t>Organizations are struggling to define.</a:t>
            </a:r>
          </a:p>
          <a:p>
            <a:pPr eaLnBrk="1" hangingPunct="1">
              <a:defRPr/>
            </a:pPr>
            <a:r>
              <a:rPr lang="en-US" dirty="0" smtClean="0"/>
              <a:t>Privacy vs. anonymity</a:t>
            </a:r>
          </a:p>
          <a:p>
            <a:pPr eaLnBrk="1" hangingPunct="1">
              <a:defRPr/>
            </a:pPr>
            <a:r>
              <a:rPr lang="en-US" dirty="0" smtClean="0"/>
              <a:t>COGO is asking NGAC to help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7" name="Rectangle 6"/>
          <p:cNvSpPr/>
          <p:nvPr/>
        </p:nvSpPr>
        <p:spPr>
          <a:xfrm>
            <a:off x="304800" y="5181600"/>
            <a:ext cx="8839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 smtClean="0">
                <a:solidFill>
                  <a:srgbClr val="FF0000"/>
                </a:solidFill>
              </a:rPr>
              <a:t>Request FGDC work with COGO (and others) to formally define what ‘precise  geolocation data’ is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Biting Around the Edges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Lightsquared/GPS issue</a:t>
            </a:r>
          </a:p>
          <a:p>
            <a:pPr eaLnBrk="1" hangingPunct="1"/>
            <a:r>
              <a:rPr lang="en-US" dirty="0" smtClean="0"/>
              <a:t>Legislation making pointing a laser at a pilot or airplane it a criminal offense.</a:t>
            </a:r>
          </a:p>
          <a:p>
            <a:pPr lvl="1" eaLnBrk="1" hangingPunct="1"/>
            <a:r>
              <a:rPr lang="en-US" dirty="0" smtClean="0"/>
              <a:t>LIDAR issue</a:t>
            </a:r>
          </a:p>
          <a:p>
            <a:pPr eaLnBrk="1" hangingPunct="1"/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Comments on geospatial certification (GISCI)</a:t>
            </a:r>
          </a:p>
          <a:p>
            <a:pPr eaLnBrk="1" hangingPunct="1"/>
            <a:endParaRPr lang="en-US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dirty="0" smtClean="0">
                <a:solidFill>
                  <a:schemeClr val="tx1"/>
                </a:solidFill>
              </a:rPr>
              <a:t>For more information about COGO…</a:t>
            </a:r>
          </a:p>
        </p:txBody>
      </p:sp>
      <p:sp>
        <p:nvSpPr>
          <p:cNvPr id="137218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581400"/>
            <a:ext cx="8382000" cy="2819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COGO Website: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>
                <a:hlinkClick r:id="rId2"/>
              </a:rPr>
              <a:t>http://www.cogo.pro</a:t>
            </a: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Tony Spicci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Tony.Spicci@mdc.mo.gov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s01_1">
  <a:themeElements>
    <a:clrScheme name="ms01_1 1">
      <a:dk1>
        <a:srgbClr val="1D528D"/>
      </a:dk1>
      <a:lt1>
        <a:srgbClr val="FFFFFF"/>
      </a:lt1>
      <a:dk2>
        <a:srgbClr val="000000"/>
      </a:dk2>
      <a:lt2>
        <a:srgbClr val="CACACA"/>
      </a:lt2>
      <a:accent1>
        <a:srgbClr val="0099CC"/>
      </a:accent1>
      <a:accent2>
        <a:srgbClr val="BFA907"/>
      </a:accent2>
      <a:accent3>
        <a:srgbClr val="FFFFFF"/>
      </a:accent3>
      <a:accent4>
        <a:srgbClr val="174578"/>
      </a:accent4>
      <a:accent5>
        <a:srgbClr val="AACAE2"/>
      </a:accent5>
      <a:accent6>
        <a:srgbClr val="AD9906"/>
      </a:accent6>
      <a:hlink>
        <a:srgbClr val="6E81E0"/>
      </a:hlink>
      <a:folHlink>
        <a:srgbClr val="009999"/>
      </a:folHlink>
    </a:clrScheme>
    <a:fontScheme name="ms01_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666699"/>
        </a:dk1>
        <a:lt1>
          <a:srgbClr val="FFFFFF"/>
        </a:lt1>
        <a:dk2>
          <a:srgbClr val="000000"/>
        </a:dk2>
        <a:lt2>
          <a:srgbClr val="CACACA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presentation slides(2)</Template>
  <TotalTime>291</TotalTime>
  <Words>377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ms01_1</vt:lpstr>
      <vt:lpstr>Image</vt:lpstr>
      <vt:lpstr>COGO Update Coalition of Geospatial Organizations</vt:lpstr>
      <vt:lpstr>Organizations </vt:lpstr>
      <vt:lpstr>Organizations </vt:lpstr>
      <vt:lpstr>Organizations </vt:lpstr>
      <vt:lpstr>Organizations </vt:lpstr>
      <vt:lpstr>News </vt:lpstr>
      <vt:lpstr>Geospatial Report Card</vt:lpstr>
      <vt:lpstr>Geospatial Subcommittee</vt:lpstr>
      <vt:lpstr>FTC Privacy Report</vt:lpstr>
      <vt:lpstr>Biting Around the Edges</vt:lpstr>
      <vt:lpstr>For more information about COGO…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William Burgess</dc:creator>
  <cp:lastModifiedBy>USGS</cp:lastModifiedBy>
  <cp:revision>31</cp:revision>
  <dcterms:created xsi:type="dcterms:W3CDTF">2011-03-10T21:01:57Z</dcterms:created>
  <dcterms:modified xsi:type="dcterms:W3CDTF">2011-03-21T23:29:49Z</dcterms:modified>
</cp:coreProperties>
</file>