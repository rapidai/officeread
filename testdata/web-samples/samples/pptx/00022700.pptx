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49" r:id="rId2"/>
  </p:sldMasterIdLst>
  <p:notesMasterIdLst>
    <p:notesMasterId r:id="rId25"/>
  </p:notesMasterIdLst>
  <p:sldIdLst>
    <p:sldId id="256" r:id="rId3"/>
    <p:sldId id="258" r:id="rId4"/>
    <p:sldId id="277" r:id="rId5"/>
    <p:sldId id="300" r:id="rId6"/>
    <p:sldId id="301" r:id="rId7"/>
    <p:sldId id="311" r:id="rId8"/>
    <p:sldId id="310" r:id="rId9"/>
    <p:sldId id="279" r:id="rId10"/>
    <p:sldId id="280" r:id="rId11"/>
    <p:sldId id="308" r:id="rId12"/>
    <p:sldId id="297" r:id="rId13"/>
    <p:sldId id="285" r:id="rId14"/>
    <p:sldId id="305" r:id="rId15"/>
    <p:sldId id="306" r:id="rId16"/>
    <p:sldId id="307" r:id="rId17"/>
    <p:sldId id="309" r:id="rId18"/>
    <p:sldId id="290" r:id="rId19"/>
    <p:sldId id="291" r:id="rId20"/>
    <p:sldId id="312" r:id="rId21"/>
    <p:sldId id="313" r:id="rId22"/>
    <p:sldId id="298" r:id="rId23"/>
    <p:sldId id="296" r:id="rId24"/>
  </p:sldIdLst>
  <p:sldSz cx="9144000" cy="6858000" type="screen4x3"/>
  <p:notesSz cx="6858000" cy="9144000"/>
  <p:defaultTextStyle>
    <a:defPPr>
      <a:defRPr lang="en-US"/>
    </a:defPPr>
    <a:lvl1pPr algn="l" rtl="0" fontAlgn="base">
      <a:spcBef>
        <a:spcPct val="0"/>
      </a:spcBef>
      <a:spcAft>
        <a:spcPct val="0"/>
      </a:spcAft>
      <a:defRPr kern="1200">
        <a:solidFill>
          <a:srgbClr val="000000"/>
        </a:solidFill>
        <a:latin typeface="Arial" charset="0"/>
        <a:ea typeface="ヒラギノ角ゴ ProN W3" charset="-128"/>
        <a:cs typeface="+mn-cs"/>
        <a:sym typeface="Arial" charset="0"/>
      </a:defRPr>
    </a:lvl1pPr>
    <a:lvl2pPr marL="457200" algn="l" rtl="0" fontAlgn="base">
      <a:spcBef>
        <a:spcPct val="0"/>
      </a:spcBef>
      <a:spcAft>
        <a:spcPct val="0"/>
      </a:spcAft>
      <a:defRPr kern="1200">
        <a:solidFill>
          <a:srgbClr val="000000"/>
        </a:solidFill>
        <a:latin typeface="Arial" charset="0"/>
        <a:ea typeface="ヒラギノ角ゴ ProN W3" charset="-128"/>
        <a:cs typeface="+mn-cs"/>
        <a:sym typeface="Arial" charset="0"/>
      </a:defRPr>
    </a:lvl2pPr>
    <a:lvl3pPr marL="914400" algn="l" rtl="0" fontAlgn="base">
      <a:spcBef>
        <a:spcPct val="0"/>
      </a:spcBef>
      <a:spcAft>
        <a:spcPct val="0"/>
      </a:spcAft>
      <a:defRPr kern="1200">
        <a:solidFill>
          <a:srgbClr val="000000"/>
        </a:solidFill>
        <a:latin typeface="Arial" charset="0"/>
        <a:ea typeface="ヒラギノ角ゴ ProN W3" charset="-128"/>
        <a:cs typeface="+mn-cs"/>
        <a:sym typeface="Arial" charset="0"/>
      </a:defRPr>
    </a:lvl3pPr>
    <a:lvl4pPr marL="1371600" algn="l" rtl="0" fontAlgn="base">
      <a:spcBef>
        <a:spcPct val="0"/>
      </a:spcBef>
      <a:spcAft>
        <a:spcPct val="0"/>
      </a:spcAft>
      <a:defRPr kern="1200">
        <a:solidFill>
          <a:srgbClr val="000000"/>
        </a:solidFill>
        <a:latin typeface="Arial" charset="0"/>
        <a:ea typeface="ヒラギノ角ゴ ProN W3" charset="-128"/>
        <a:cs typeface="+mn-cs"/>
        <a:sym typeface="Arial" charset="0"/>
      </a:defRPr>
    </a:lvl4pPr>
    <a:lvl5pPr marL="1828800" algn="l" rtl="0" fontAlgn="base">
      <a:spcBef>
        <a:spcPct val="0"/>
      </a:spcBef>
      <a:spcAft>
        <a:spcPct val="0"/>
      </a:spcAft>
      <a:defRPr kern="1200">
        <a:solidFill>
          <a:srgbClr val="000000"/>
        </a:solidFill>
        <a:latin typeface="Arial" charset="0"/>
        <a:ea typeface="ヒラギノ角ゴ ProN W3" charset="-128"/>
        <a:cs typeface="+mn-cs"/>
        <a:sym typeface="Arial" charset="0"/>
      </a:defRPr>
    </a:lvl5pPr>
    <a:lvl6pPr marL="2286000" algn="l" defTabSz="914400" rtl="0" eaLnBrk="1" latinLnBrk="0" hangingPunct="1">
      <a:defRPr kern="1200">
        <a:solidFill>
          <a:srgbClr val="000000"/>
        </a:solidFill>
        <a:latin typeface="Arial" charset="0"/>
        <a:ea typeface="ヒラギノ角ゴ ProN W3" charset="-128"/>
        <a:cs typeface="+mn-cs"/>
        <a:sym typeface="Arial" charset="0"/>
      </a:defRPr>
    </a:lvl6pPr>
    <a:lvl7pPr marL="2743200" algn="l" defTabSz="914400" rtl="0" eaLnBrk="1" latinLnBrk="0" hangingPunct="1">
      <a:defRPr kern="1200">
        <a:solidFill>
          <a:srgbClr val="000000"/>
        </a:solidFill>
        <a:latin typeface="Arial" charset="0"/>
        <a:ea typeface="ヒラギノ角ゴ ProN W3" charset="-128"/>
        <a:cs typeface="+mn-cs"/>
        <a:sym typeface="Arial" charset="0"/>
      </a:defRPr>
    </a:lvl7pPr>
    <a:lvl8pPr marL="3200400" algn="l" defTabSz="914400" rtl="0" eaLnBrk="1" latinLnBrk="0" hangingPunct="1">
      <a:defRPr kern="1200">
        <a:solidFill>
          <a:srgbClr val="000000"/>
        </a:solidFill>
        <a:latin typeface="Arial" charset="0"/>
        <a:ea typeface="ヒラギノ角ゴ ProN W3" charset="-128"/>
        <a:cs typeface="+mn-cs"/>
        <a:sym typeface="Arial" charset="0"/>
      </a:defRPr>
    </a:lvl8pPr>
    <a:lvl9pPr marL="3657600" algn="l" defTabSz="914400" rtl="0" eaLnBrk="1" latinLnBrk="0" hangingPunct="1">
      <a:defRPr kern="1200">
        <a:solidFill>
          <a:srgbClr val="000000"/>
        </a:solidFill>
        <a:latin typeface="Arial" charset="0"/>
        <a:ea typeface="ヒラギノ角ゴ ProN W3" charset="-128"/>
        <a:cs typeface="+mn-cs"/>
        <a:sym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961"/>
    <a:srgbClr val="006600"/>
    <a:srgbClr val="EEB500"/>
    <a:srgbClr val="003300"/>
    <a:srgbClr val="183C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482" autoAdjust="0"/>
  </p:normalViewPr>
  <p:slideViewPr>
    <p:cSldViewPr>
      <p:cViewPr varScale="1">
        <p:scale>
          <a:sx n="100" d="100"/>
          <a:sy n="100" d="100"/>
        </p:scale>
        <p:origin x="-1848"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0B099F0-1E90-4ABD-B09A-8A3923985F9C}" type="datetimeFigureOut">
              <a:rPr lang="en-US" smtClean="0"/>
              <a:t>10/10/2012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78A32A5-1851-4025-BEEA-1DBE6222CAEC}" type="slidenum">
              <a:rPr lang="en-US" smtClean="0"/>
              <a:t>‹#›</a:t>
            </a:fld>
            <a:endParaRPr lang="en-US"/>
          </a:p>
        </p:txBody>
      </p:sp>
    </p:spTree>
    <p:extLst>
      <p:ext uri="{BB962C8B-B14F-4D97-AF65-F5344CB8AC3E}">
        <p14:creationId xmlns:p14="http://schemas.microsoft.com/office/powerpoint/2010/main" val="4279874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8A32A5-1851-4025-BEEA-1DBE6222CAEC}" type="slidenum">
              <a:rPr lang="en-US" smtClean="0"/>
              <a:t>4</a:t>
            </a:fld>
            <a:endParaRPr lang="en-US"/>
          </a:p>
        </p:txBody>
      </p:sp>
    </p:spTree>
    <p:extLst>
      <p:ext uri="{BB962C8B-B14F-4D97-AF65-F5344CB8AC3E}">
        <p14:creationId xmlns:p14="http://schemas.microsoft.com/office/powerpoint/2010/main" val="20075541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When</a:t>
            </a:r>
            <a:r>
              <a:rPr lang="en-US" baseline="0" dirty="0" smtClean="0"/>
              <a:t> presenting the same information as the last slide, try to limit the “effects” applied to that text. The fact that the text appears will draw attention to it, or you could use color to highlight it (not bold, because that expands and moves the previously seen text). Too much color in odd places becomes too busy, however.</a:t>
            </a:r>
            <a:endParaRPr lang="en-US" dirty="0"/>
          </a:p>
        </p:txBody>
      </p:sp>
      <p:sp>
        <p:nvSpPr>
          <p:cNvPr id="4" name="Slide Number Placeholder 3"/>
          <p:cNvSpPr>
            <a:spLocks noGrp="1"/>
          </p:cNvSpPr>
          <p:nvPr>
            <p:ph type="sldNum" sz="quarter" idx="10"/>
          </p:nvPr>
        </p:nvSpPr>
        <p:spPr/>
        <p:txBody>
          <a:bodyPr/>
          <a:lstStyle/>
          <a:p>
            <a:fld id="{D78A32A5-1851-4025-BEEA-1DBE6222CAEC}" type="slidenum">
              <a:rPr lang="en-US" smtClean="0"/>
              <a:t>6</a:t>
            </a:fld>
            <a:endParaRPr lang="en-US"/>
          </a:p>
        </p:txBody>
      </p:sp>
    </p:spTree>
    <p:extLst>
      <p:ext uri="{BB962C8B-B14F-4D97-AF65-F5344CB8AC3E}">
        <p14:creationId xmlns:p14="http://schemas.microsoft.com/office/powerpoint/2010/main" val="2276025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Be careful about using “gray” or “black” out.</a:t>
            </a:r>
            <a:r>
              <a:rPr lang="en-US" baseline="0" dirty="0" smtClean="0"/>
              <a:t> Readers may struggle trying to read what you wanted to hide, drawing their attention away from your main idea.</a:t>
            </a:r>
            <a:endParaRPr lang="en-US" dirty="0"/>
          </a:p>
        </p:txBody>
      </p:sp>
      <p:sp>
        <p:nvSpPr>
          <p:cNvPr id="4" name="Slide Number Placeholder 3"/>
          <p:cNvSpPr>
            <a:spLocks noGrp="1"/>
          </p:cNvSpPr>
          <p:nvPr>
            <p:ph type="sldNum" sz="quarter" idx="10"/>
          </p:nvPr>
        </p:nvSpPr>
        <p:spPr/>
        <p:txBody>
          <a:bodyPr/>
          <a:lstStyle/>
          <a:p>
            <a:fld id="{D78A32A5-1851-4025-BEEA-1DBE6222CAEC}" type="slidenum">
              <a:rPr lang="en-US" smtClean="0"/>
              <a:t>7</a:t>
            </a:fld>
            <a:endParaRPr lang="en-US"/>
          </a:p>
        </p:txBody>
      </p:sp>
    </p:spTree>
    <p:extLst>
      <p:ext uri="{BB962C8B-B14F-4D97-AF65-F5344CB8AC3E}">
        <p14:creationId xmlns:p14="http://schemas.microsoft.com/office/powerpoint/2010/main" val="41370183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 classify requirements patterns by the goals they achieve, sources from which they are derived, and the representation used </a:t>
            </a:r>
            <a:r>
              <a:rPr lang="en-US" smtClean="0"/>
              <a:t>to describe them </a:t>
            </a:r>
            <a:endParaRPr lang="en-US" dirty="0"/>
          </a:p>
        </p:txBody>
      </p:sp>
      <p:sp>
        <p:nvSpPr>
          <p:cNvPr id="4" name="Slide Number Placeholder 3"/>
          <p:cNvSpPr>
            <a:spLocks noGrp="1"/>
          </p:cNvSpPr>
          <p:nvPr>
            <p:ph type="sldNum" sz="quarter" idx="10"/>
          </p:nvPr>
        </p:nvSpPr>
        <p:spPr/>
        <p:txBody>
          <a:bodyPr/>
          <a:lstStyle/>
          <a:p>
            <a:fld id="{D78A32A5-1851-4025-BEEA-1DBE6222CAEC}" type="slidenum">
              <a:rPr lang="en-US" smtClean="0"/>
              <a:t>12</a:t>
            </a:fld>
            <a:endParaRPr lang="en-US"/>
          </a:p>
        </p:txBody>
      </p:sp>
    </p:spTree>
    <p:extLst>
      <p:ext uri="{BB962C8B-B14F-4D97-AF65-F5344CB8AC3E}">
        <p14:creationId xmlns:p14="http://schemas.microsoft.com/office/powerpoint/2010/main" val="1206711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slide is intended to really challenge people – because they may</a:t>
            </a:r>
            <a:r>
              <a:rPr lang="en-US" baseline="0" dirty="0" smtClean="0"/>
              <a:t> claim that, “how can we evaluate compliance when we still don’t know what it means”? We recognize this, but we believe eventually we can get there…</a:t>
            </a:r>
          </a:p>
          <a:p>
            <a:endParaRPr lang="en-US" baseline="0" dirty="0" smtClean="0"/>
          </a:p>
          <a:p>
            <a:r>
              <a:rPr lang="en-US" baseline="0" dirty="0" smtClean="0"/>
              <a:t>Measuring goal satisfaction statistically makes results more generalizable and repeatable. Stronger evidence of goal satisfaction implies higher pattern validity</a:t>
            </a:r>
          </a:p>
        </p:txBody>
      </p:sp>
      <p:sp>
        <p:nvSpPr>
          <p:cNvPr id="4" name="Slide Number Placeholder 3"/>
          <p:cNvSpPr>
            <a:spLocks noGrp="1"/>
          </p:cNvSpPr>
          <p:nvPr>
            <p:ph type="sldNum" sz="quarter" idx="10"/>
          </p:nvPr>
        </p:nvSpPr>
        <p:spPr/>
        <p:txBody>
          <a:bodyPr/>
          <a:lstStyle/>
          <a:p>
            <a:fld id="{D78A32A5-1851-4025-BEEA-1DBE6222CAEC}" type="slidenum">
              <a:rPr lang="en-US" smtClean="0"/>
              <a:t>13</a:t>
            </a:fld>
            <a:endParaRPr lang="en-US"/>
          </a:p>
        </p:txBody>
      </p:sp>
    </p:spTree>
    <p:extLst>
      <p:ext uri="{BB962C8B-B14F-4D97-AF65-F5344CB8AC3E}">
        <p14:creationId xmlns:p14="http://schemas.microsoft.com/office/powerpoint/2010/main" val="35576382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Structured: scenario,</a:t>
            </a:r>
            <a:r>
              <a:rPr lang="en-US" baseline="0" dirty="0" smtClean="0"/>
              <a:t> bug report, use case</a:t>
            </a:r>
          </a:p>
          <a:p>
            <a:r>
              <a:rPr lang="en-US" baseline="0" dirty="0" smtClean="0"/>
              <a:t>Less structured: meeting notes, diaries, video</a:t>
            </a:r>
          </a:p>
          <a:p>
            <a:endParaRPr lang="en-US" baseline="0" dirty="0" smtClean="0"/>
          </a:p>
          <a:p>
            <a:r>
              <a:rPr lang="en-US" baseline="0" dirty="0" smtClean="0"/>
              <a:t>A bug report is more structured than a video recording, there is less misinterpretation which improves pattern validity</a:t>
            </a:r>
            <a:endParaRPr lang="en-US" dirty="0"/>
          </a:p>
        </p:txBody>
      </p:sp>
      <p:sp>
        <p:nvSpPr>
          <p:cNvPr id="4" name="Slide Number Placeholder 3"/>
          <p:cNvSpPr>
            <a:spLocks noGrp="1"/>
          </p:cNvSpPr>
          <p:nvPr>
            <p:ph type="sldNum" sz="quarter" idx="10"/>
          </p:nvPr>
        </p:nvSpPr>
        <p:spPr/>
        <p:txBody>
          <a:bodyPr/>
          <a:lstStyle/>
          <a:p>
            <a:fld id="{D78A32A5-1851-4025-BEEA-1DBE6222CAEC}" type="slidenum">
              <a:rPr lang="en-US" smtClean="0"/>
              <a:t>14</a:t>
            </a:fld>
            <a:endParaRPr lang="en-US"/>
          </a:p>
        </p:txBody>
      </p:sp>
    </p:spTree>
    <p:extLst>
      <p:ext uri="{BB962C8B-B14F-4D97-AF65-F5344CB8AC3E}">
        <p14:creationId xmlns:p14="http://schemas.microsoft.com/office/powerpoint/2010/main" val="10249800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source representation and pattern representation match, applying the pattern is easier -&gt; implies higher pattern validity</a:t>
            </a:r>
            <a:endParaRPr lang="en-US" dirty="0"/>
          </a:p>
        </p:txBody>
      </p:sp>
      <p:sp>
        <p:nvSpPr>
          <p:cNvPr id="4" name="Slide Number Placeholder 3"/>
          <p:cNvSpPr>
            <a:spLocks noGrp="1"/>
          </p:cNvSpPr>
          <p:nvPr>
            <p:ph type="sldNum" sz="quarter" idx="10"/>
          </p:nvPr>
        </p:nvSpPr>
        <p:spPr/>
        <p:txBody>
          <a:bodyPr/>
          <a:lstStyle/>
          <a:p>
            <a:fld id="{D78A32A5-1851-4025-BEEA-1DBE6222CAEC}" type="slidenum">
              <a:rPr lang="en-US" smtClean="0"/>
              <a:t>15</a:t>
            </a:fld>
            <a:endParaRPr lang="en-US"/>
          </a:p>
        </p:txBody>
      </p:sp>
    </p:spTree>
    <p:extLst>
      <p:ext uri="{BB962C8B-B14F-4D97-AF65-F5344CB8AC3E}">
        <p14:creationId xmlns:p14="http://schemas.microsoft.com/office/powerpoint/2010/main" val="3987406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Using Blooms taxonomy of learning we can identify who will perform better</a:t>
            </a:r>
            <a:r>
              <a:rPr lang="en-US" baseline="0" dirty="0" smtClean="0"/>
              <a:t> at pattern application. We believe valid patterns are ta the level 3, that is applying </a:t>
            </a:r>
            <a:endParaRPr lang="en-US" dirty="0"/>
          </a:p>
        </p:txBody>
      </p:sp>
      <p:sp>
        <p:nvSpPr>
          <p:cNvPr id="4" name="Slide Number Placeholder 3"/>
          <p:cNvSpPr>
            <a:spLocks noGrp="1"/>
          </p:cNvSpPr>
          <p:nvPr>
            <p:ph type="sldNum" sz="quarter" idx="10"/>
          </p:nvPr>
        </p:nvSpPr>
        <p:spPr/>
        <p:txBody>
          <a:bodyPr/>
          <a:lstStyle/>
          <a:p>
            <a:fld id="{D78A32A5-1851-4025-BEEA-1DBE6222CAEC}" type="slidenum">
              <a:rPr lang="en-US" smtClean="0"/>
              <a:t>17</a:t>
            </a:fld>
            <a:endParaRPr lang="en-US"/>
          </a:p>
        </p:txBody>
      </p:sp>
    </p:spTree>
    <p:extLst>
      <p:ext uri="{BB962C8B-B14F-4D97-AF65-F5344CB8AC3E}">
        <p14:creationId xmlns:p14="http://schemas.microsoft.com/office/powerpoint/2010/main" val="2886974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Category theory can explain which cues are better for pattern application.  A is most inclusive for example concept chair. B and C are kitchen chair and dining chair. Both are chair but different contexts. D is least inclusive, example door. We believe B and C will be most beneficial cues.</a:t>
            </a:r>
          </a:p>
          <a:p>
            <a:endParaRPr lang="en-US" dirty="0"/>
          </a:p>
        </p:txBody>
      </p:sp>
      <p:sp>
        <p:nvSpPr>
          <p:cNvPr id="4" name="Slide Number Placeholder 3"/>
          <p:cNvSpPr>
            <a:spLocks noGrp="1"/>
          </p:cNvSpPr>
          <p:nvPr>
            <p:ph type="sldNum" sz="quarter" idx="10"/>
          </p:nvPr>
        </p:nvSpPr>
        <p:spPr/>
        <p:txBody>
          <a:bodyPr/>
          <a:lstStyle/>
          <a:p>
            <a:fld id="{D78A32A5-1851-4025-BEEA-1DBE6222CAEC}" type="slidenum">
              <a:rPr lang="en-US" smtClean="0"/>
              <a:t>18</a:t>
            </a:fld>
            <a:endParaRPr lang="en-US"/>
          </a:p>
        </p:txBody>
      </p:sp>
    </p:spTree>
    <p:extLst>
      <p:ext uri="{BB962C8B-B14F-4D97-AF65-F5344CB8AC3E}">
        <p14:creationId xmlns:p14="http://schemas.microsoft.com/office/powerpoint/2010/main" val="12218898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Times New Roman" pitchFamily="18" charset="0"/>
                <a:cs typeface="Times New Roman"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a:prstGeom prst="rect">
            <a:avLst/>
          </a:prstGeom>
        </p:spPr>
        <p:txBody>
          <a:bodyPr vert="horz"/>
          <a:lstStyle>
            <a:lvl1pPr marL="0" indent="0" algn="ctr">
              <a:buNone/>
              <a:defRPr>
                <a:latin typeface="Times New Roman" pitchFamily="18" charset="0"/>
                <a:cs typeface="Times New Roman" pitchFamily="18"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smtClean="0"/>
              <a:t>Click to edit Master subtitle style</a:t>
            </a:r>
            <a:endParaRPr lang="en-US" dirty="0"/>
          </a:p>
        </p:txBody>
      </p:sp>
    </p:spTree>
    <p:extLst>
      <p:ext uri="{BB962C8B-B14F-4D97-AF65-F5344CB8AC3E}">
        <p14:creationId xmlns:p14="http://schemas.microsoft.com/office/powerpoint/2010/main" val="3447701122"/>
      </p:ext>
    </p:extLst>
  </p:cSld>
  <p:clrMapOvr>
    <a:masterClrMapping/>
  </p:clrMapOvr>
  <p:transition advClick="0" advTm="2000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457200" y="1600200"/>
            <a:ext cx="8229600" cy="4525963"/>
          </a:xfrm>
          <a:prstGeom prst="rect">
            <a:avLst/>
          </a:prstGeom>
        </p:spPr>
        <p:txBody>
          <a:bodyPr vert="horz"/>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985768775"/>
      </p:ext>
    </p:extLst>
  </p:cSld>
  <p:clrMapOvr>
    <a:masterClrMapping/>
  </p:clrMapOvr>
  <p:transition advClick="0" advTm="20000"/>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vert="horz"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841573490"/>
      </p:ext>
    </p:extLst>
  </p:cSld>
  <p:clrMapOvr>
    <a:masterClrMapping/>
  </p:clrMapOvr>
  <p:transition advClick="0" advTm="2000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515029110"/>
      </p:ext>
    </p:extLst>
  </p:cSld>
  <p:clrMapOvr>
    <a:masterClrMapping/>
  </p:clrMapOvr>
  <p:transition advClick="0" advTm="2000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695083747"/>
      </p:ext>
    </p:extLst>
  </p:cSld>
  <p:clrMapOvr>
    <a:masterClrMapping/>
  </p:clrMapOvr>
  <p:transition advClick="0" advTm="2000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Tree>
    <p:extLst>
      <p:ext uri="{BB962C8B-B14F-4D97-AF65-F5344CB8AC3E}">
        <p14:creationId xmlns:p14="http://schemas.microsoft.com/office/powerpoint/2010/main" val="1602790008"/>
      </p:ext>
    </p:extLst>
  </p:cSld>
  <p:clrMapOvr>
    <a:masterClrMapping/>
  </p:clrMapOvr>
  <p:transition advClick="0" advTm="2000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788765"/>
      </p:ext>
    </p:extLst>
  </p:cSld>
  <p:clrMapOvr>
    <a:masterClrMapping/>
  </p:clrMapOvr>
  <p:transition advClick="0" advTm="2000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vert="horz"/>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644791255"/>
      </p:ext>
    </p:extLst>
  </p:cSld>
  <p:clrMapOvr>
    <a:masterClrMapping/>
  </p:clrMapOvr>
  <p:transition advClick="0" advTm="2000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vert="horz"/>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sym typeface="Arial" pitchFamily="-109" charset="0"/>
            </a:endParaRPr>
          </a:p>
        </p:txBody>
      </p:sp>
      <p:sp>
        <p:nvSpPr>
          <p:cNvPr id="4" name="Text Placeholder 3"/>
          <p:cNvSpPr>
            <a:spLocks noGrp="1"/>
          </p:cNvSpPr>
          <p:nvPr>
            <p:ph type="body" sz="half" idx="2"/>
          </p:nvPr>
        </p:nvSpPr>
        <p:spPr>
          <a:xfrm>
            <a:off x="1792288" y="5367338"/>
            <a:ext cx="5486400" cy="804862"/>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77310988"/>
      </p:ext>
    </p:extLst>
  </p:cSld>
  <p:clrMapOvr>
    <a:masterClrMapping/>
  </p:clrMapOvr>
  <p:transition advClick="0" advTm="2000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15169435"/>
      </p:ext>
    </p:extLst>
  </p:cSld>
  <p:clrMapOvr>
    <a:masterClrMapping/>
  </p:clrMapOvr>
  <p:transition advClick="0" advTm="2000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1219200"/>
            <a:ext cx="2076450" cy="49069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219200"/>
            <a:ext cx="6076950" cy="4906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759395333"/>
      </p:ext>
    </p:extLst>
  </p:cSld>
  <p:clrMapOvr>
    <a:masterClrMapping/>
  </p:clrMapOvr>
  <p:transition advClick="0" advTm="2000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vert="horz"/>
          <a:lstStyle>
            <a:lvl1pPr>
              <a:defRPr>
                <a:latin typeface="Times New Roman" pitchFamily="18" charset="0"/>
                <a:cs typeface="Times New Roman"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a:prstGeom prst="rect">
            <a:avLst/>
          </a:prstGeom>
        </p:spPr>
        <p:txBody>
          <a:bodyPr vert="horz"/>
          <a:lstStyle>
            <a:lvl1pPr marL="0" indent="0" algn="ctr">
              <a:buNone/>
              <a:defRPr>
                <a:latin typeface="Times New Roman" pitchFamily="18" charset="0"/>
                <a:cs typeface="Times New Roman" pitchFamily="18"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smtClean="0"/>
              <a:t>Click to edit Master subtitle style</a:t>
            </a:r>
            <a:endParaRPr lang="en-US" dirty="0"/>
          </a:p>
        </p:txBody>
      </p:sp>
    </p:spTree>
    <p:extLst>
      <p:ext uri="{BB962C8B-B14F-4D97-AF65-F5344CB8AC3E}">
        <p14:creationId xmlns:p14="http://schemas.microsoft.com/office/powerpoint/2010/main" val="1054447300"/>
      </p:ext>
    </p:extLst>
  </p:cSld>
  <p:clrMapOvr>
    <a:masterClrMapping/>
  </p:clrMapOvr>
  <p:transition advClick="0" advTm="20000"/>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vert="horz"/>
          <a:lstStyle>
            <a:lvl1pPr>
              <a:defRPr sz="4400">
                <a:latin typeface="Times New Roman" pitchFamily="18" charset="0"/>
                <a:cs typeface="Times New Roman" pitchFamily="18"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vert="horz"/>
          <a:lstStyle>
            <a:lvl1pPr>
              <a:defRPr>
                <a:latin typeface="Times New Roman" pitchFamily="18" charset="0"/>
                <a:cs typeface="Times New Roman" pitchFamily="18" charset="0"/>
              </a:defRPr>
            </a:lvl1pPr>
            <a:lvl2pPr>
              <a:defRPr>
                <a:latin typeface="Times New Roman" pitchFamily="18" charset="0"/>
                <a:cs typeface="Times New Roman" pitchFamily="18" charset="0"/>
              </a:defRPr>
            </a:lvl2pPr>
            <a:lvl3pPr>
              <a:defRPr>
                <a:latin typeface="Times New Roman" pitchFamily="18" charset="0"/>
                <a:cs typeface="Times New Roman" pitchFamily="18" charset="0"/>
              </a:defRPr>
            </a:lvl3pPr>
            <a:lvl4pPr>
              <a:defRPr>
                <a:latin typeface="Times New Roman" pitchFamily="18" charset="0"/>
                <a:cs typeface="Times New Roman" pitchFamily="18" charset="0"/>
              </a:defRPr>
            </a:lvl4pPr>
            <a:lvl5pPr>
              <a:defRPr>
                <a:latin typeface="Times New Roman" pitchFamily="18" charset="0"/>
                <a:cs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486241732"/>
      </p:ext>
    </p:extLst>
  </p:cSld>
  <p:clrMapOvr>
    <a:masterClrMapping/>
  </p:clrMapOvr>
  <p:transition advClick="0" advTm="20000"/>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vert="horz" anchor="t"/>
          <a:lstStyle>
            <a:lvl1pPr algn="l">
              <a:defRPr sz="4000" b="1" cap="all"/>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2906713"/>
            <a:ext cx="7772400" cy="1500187"/>
          </a:xfrm>
          <a:prstGeom prst="rect">
            <a:avLst/>
          </a:prstGeom>
        </p:spPr>
        <p:txBody>
          <a:bodyPr vert="horz"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163541959"/>
      </p:ext>
    </p:extLst>
  </p:cSld>
  <p:clrMapOvr>
    <a:masterClrMapping/>
  </p:clrMapOvr>
  <p:transition advClick="0" advTm="20000"/>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vert="horz"/>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589923108"/>
      </p:ext>
    </p:extLst>
  </p:cSld>
  <p:clrMapOvr>
    <a:masterClrMapping/>
  </p:clrMapOvr>
  <p:transition advClick="0" advTm="2000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vert="horz"/>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038090975"/>
      </p:ext>
    </p:extLst>
  </p:cSld>
  <p:clrMapOvr>
    <a:masterClrMapping/>
  </p:clrMapOvr>
  <p:transition advClick="0" advTm="2000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vert="horz"/>
          <a:lstStyle>
            <a:lvl1pPr>
              <a:defRPr>
                <a:latin typeface="Times New Roman" pitchFamily="18" charset="0"/>
                <a:cs typeface="Times New Roman" pitchFamily="18" charset="0"/>
              </a:defRPr>
            </a:lvl1pPr>
          </a:lstStyle>
          <a:p>
            <a:r>
              <a:rPr lang="en-US" dirty="0" smtClean="0"/>
              <a:t>Click to edit Master title style</a:t>
            </a:r>
            <a:endParaRPr lang="en-US" dirty="0"/>
          </a:p>
        </p:txBody>
      </p:sp>
    </p:spTree>
    <p:extLst>
      <p:ext uri="{BB962C8B-B14F-4D97-AF65-F5344CB8AC3E}">
        <p14:creationId xmlns:p14="http://schemas.microsoft.com/office/powerpoint/2010/main" val="1836624200"/>
      </p:ext>
    </p:extLst>
  </p:cSld>
  <p:clrMapOvr>
    <a:masterClrMapping/>
  </p:clrMapOvr>
  <p:transition advClick="0" advTm="20000"/>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3709574"/>
      </p:ext>
    </p:extLst>
  </p:cSld>
  <p:clrMapOvr>
    <a:masterClrMapping/>
  </p:clrMapOvr>
  <p:transition advClick="0" advTm="2000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vert="horz"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vert="horz"/>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520460535"/>
      </p:ext>
    </p:extLst>
  </p:cSld>
  <p:clrMapOvr>
    <a:masterClrMapping/>
  </p:clrMapOvr>
  <p:transition advClick="0" advTm="2000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vert="horz"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vert="horz"/>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sym typeface="Arial" pitchFamily="-109" charset="0"/>
            </a:endParaRPr>
          </a:p>
        </p:txBody>
      </p:sp>
      <p:sp>
        <p:nvSpPr>
          <p:cNvPr id="4" name="Text Placeholder 3"/>
          <p:cNvSpPr>
            <a:spLocks noGrp="1"/>
          </p:cNvSpPr>
          <p:nvPr>
            <p:ph type="body" sz="half" idx="2"/>
          </p:nvPr>
        </p:nvSpPr>
        <p:spPr>
          <a:xfrm>
            <a:off x="1792288" y="5367338"/>
            <a:ext cx="5486400" cy="804862"/>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875354204"/>
      </p:ext>
    </p:extLst>
  </p:cSld>
  <p:clrMapOvr>
    <a:masterClrMapping/>
  </p:clrMapOvr>
  <p:transition advClick="0" advTm="2000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vert="horz"/>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759637946"/>
      </p:ext>
    </p:extLst>
  </p:cSld>
  <p:clrMapOvr>
    <a:masterClrMapping/>
  </p:clrMapOvr>
  <p:transition advClick="0" advTm="2000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860799418"/>
      </p:ext>
    </p:extLst>
  </p:cSld>
  <p:clrMapOvr>
    <a:masterClrMapping/>
  </p:clrMapOvr>
  <p:transition advClick="0" advTm="2000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2819400" y="1219200"/>
            <a:ext cx="59436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50800" tIns="50800" rIns="91440" bIns="50800" numCol="1" anchor="ctr" anchorCtr="0" compatLnSpc="1">
            <a:prstTxWarp prst="textNoShape">
              <a:avLst/>
            </a:prstTxWarp>
          </a:bodyPr>
          <a:lstStyle/>
          <a:p>
            <a:pPr lvl="0"/>
            <a:r>
              <a:rPr lang="en-US" dirty="0" smtClean="0">
                <a:sym typeface="Arial" charset="0"/>
              </a:rPr>
              <a:t>Click to edit Master title style</a:t>
            </a: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ransition advClick="0" advTm="20000"/>
  <p:timing>
    <p:tnLst>
      <p:par>
        <p:cTn id="1" dur="indefinite" restart="never" nodeType="tmRoot"/>
      </p:par>
    </p:tnLst>
  </p:timing>
  <p:txStyles>
    <p:titleStyle>
      <a:lvl1pPr marL="39688" indent="-39688" algn="ctr" rtl="0" eaLnBrk="0" fontAlgn="base" hangingPunct="0">
        <a:spcBef>
          <a:spcPct val="0"/>
        </a:spcBef>
        <a:spcAft>
          <a:spcPct val="0"/>
        </a:spcAft>
        <a:defRPr sz="4400" b="1">
          <a:solidFill>
            <a:schemeClr val="tx1"/>
          </a:solidFill>
          <a:latin typeface="Times New Roman" pitchFamily="18" charset="0"/>
          <a:ea typeface="+mj-ea"/>
          <a:cs typeface="Times New Roman" pitchFamily="18" charset="0"/>
          <a:sym typeface="Arial" charset="0"/>
        </a:defRPr>
      </a:lvl1pPr>
      <a:lvl2pPr marL="39688" indent="-39688" algn="ctr" rtl="0" eaLnBrk="0" fontAlgn="base" hangingPunct="0">
        <a:spcBef>
          <a:spcPct val="0"/>
        </a:spcBef>
        <a:spcAft>
          <a:spcPct val="0"/>
        </a:spcAft>
        <a:defRPr sz="4400" b="1">
          <a:solidFill>
            <a:schemeClr val="tx1"/>
          </a:solidFill>
          <a:latin typeface="Arial" pitchFamily="-109" charset="0"/>
          <a:ea typeface="ヒラギノ角ゴ ProN W6" pitchFamily="-109" charset="-128"/>
          <a:cs typeface="ヒラギノ角ゴ ProN W6" pitchFamily="-109" charset="-128"/>
          <a:sym typeface="Arial" charset="0"/>
        </a:defRPr>
      </a:lvl2pPr>
      <a:lvl3pPr marL="39688" indent="-39688" algn="ctr" rtl="0" eaLnBrk="0" fontAlgn="base" hangingPunct="0">
        <a:spcBef>
          <a:spcPct val="0"/>
        </a:spcBef>
        <a:spcAft>
          <a:spcPct val="0"/>
        </a:spcAft>
        <a:defRPr sz="4400" b="1">
          <a:solidFill>
            <a:schemeClr val="tx1"/>
          </a:solidFill>
          <a:latin typeface="Arial" pitchFamily="-109" charset="0"/>
          <a:ea typeface="ヒラギノ角ゴ ProN W6" pitchFamily="-109" charset="-128"/>
          <a:cs typeface="ヒラギノ角ゴ ProN W6" pitchFamily="-109" charset="-128"/>
          <a:sym typeface="Arial" charset="0"/>
        </a:defRPr>
      </a:lvl3pPr>
      <a:lvl4pPr marL="39688" indent="-39688" algn="ctr" rtl="0" eaLnBrk="0" fontAlgn="base" hangingPunct="0">
        <a:spcBef>
          <a:spcPct val="0"/>
        </a:spcBef>
        <a:spcAft>
          <a:spcPct val="0"/>
        </a:spcAft>
        <a:defRPr sz="4400" b="1">
          <a:solidFill>
            <a:schemeClr val="tx1"/>
          </a:solidFill>
          <a:latin typeface="Arial" pitchFamily="-109" charset="0"/>
          <a:ea typeface="ヒラギノ角ゴ ProN W6" pitchFamily="-109" charset="-128"/>
          <a:cs typeface="ヒラギノ角ゴ ProN W6" pitchFamily="-109" charset="-128"/>
          <a:sym typeface="Arial" charset="0"/>
        </a:defRPr>
      </a:lvl4pPr>
      <a:lvl5pPr marL="39688" indent="-39688" algn="ctr" rtl="0" eaLnBrk="0" fontAlgn="base" hangingPunct="0">
        <a:spcBef>
          <a:spcPct val="0"/>
        </a:spcBef>
        <a:spcAft>
          <a:spcPct val="0"/>
        </a:spcAft>
        <a:defRPr sz="4400" b="1">
          <a:solidFill>
            <a:schemeClr val="tx1"/>
          </a:solidFill>
          <a:latin typeface="Arial" pitchFamily="-109" charset="0"/>
          <a:ea typeface="ヒラギノ角ゴ ProN W6" pitchFamily="-109" charset="-128"/>
          <a:cs typeface="ヒラギノ角ゴ ProN W6" pitchFamily="-109" charset="-128"/>
          <a:sym typeface="Arial" charset="0"/>
        </a:defRPr>
      </a:lvl5pPr>
      <a:lvl6pPr marL="496888" algn="ctr" rtl="0" fontAlgn="base">
        <a:spcBef>
          <a:spcPct val="0"/>
        </a:spcBef>
        <a:spcAft>
          <a:spcPct val="0"/>
        </a:spcAft>
        <a:defRPr sz="4400" b="1">
          <a:solidFill>
            <a:schemeClr val="tx1"/>
          </a:solidFill>
          <a:latin typeface="Arial" pitchFamily="-109" charset="0"/>
          <a:ea typeface="ヒラギノ角ゴ ProN W6" pitchFamily="-109" charset="-128"/>
          <a:cs typeface="ヒラギノ角ゴ ProN W6" pitchFamily="-109" charset="-128"/>
          <a:sym typeface="Arial" pitchFamily="-109" charset="0"/>
        </a:defRPr>
      </a:lvl6pPr>
      <a:lvl7pPr marL="954088" algn="ctr" rtl="0" fontAlgn="base">
        <a:spcBef>
          <a:spcPct val="0"/>
        </a:spcBef>
        <a:spcAft>
          <a:spcPct val="0"/>
        </a:spcAft>
        <a:defRPr sz="4400" b="1">
          <a:solidFill>
            <a:schemeClr val="tx1"/>
          </a:solidFill>
          <a:latin typeface="Arial" pitchFamily="-109" charset="0"/>
          <a:ea typeface="ヒラギノ角ゴ ProN W6" pitchFamily="-109" charset="-128"/>
          <a:cs typeface="ヒラギノ角ゴ ProN W6" pitchFamily="-109" charset="-128"/>
          <a:sym typeface="Arial" pitchFamily="-109" charset="0"/>
        </a:defRPr>
      </a:lvl7pPr>
      <a:lvl8pPr marL="1411288" algn="ctr" rtl="0" fontAlgn="base">
        <a:spcBef>
          <a:spcPct val="0"/>
        </a:spcBef>
        <a:spcAft>
          <a:spcPct val="0"/>
        </a:spcAft>
        <a:defRPr sz="4400" b="1">
          <a:solidFill>
            <a:schemeClr val="tx1"/>
          </a:solidFill>
          <a:latin typeface="Arial" pitchFamily="-109" charset="0"/>
          <a:ea typeface="ヒラギノ角ゴ ProN W6" pitchFamily="-109" charset="-128"/>
          <a:cs typeface="ヒラギノ角ゴ ProN W6" pitchFamily="-109" charset="-128"/>
          <a:sym typeface="Arial" pitchFamily="-109" charset="0"/>
        </a:defRPr>
      </a:lvl8pPr>
      <a:lvl9pPr marL="1868488" algn="ctr" rtl="0" fontAlgn="base">
        <a:spcBef>
          <a:spcPct val="0"/>
        </a:spcBef>
        <a:spcAft>
          <a:spcPct val="0"/>
        </a:spcAft>
        <a:defRPr sz="4400" b="1">
          <a:solidFill>
            <a:schemeClr val="tx1"/>
          </a:solidFill>
          <a:latin typeface="Arial" pitchFamily="-109" charset="0"/>
          <a:ea typeface="ヒラギノ角ゴ ProN W6" pitchFamily="-109" charset="-128"/>
          <a:cs typeface="ヒラギノ角ゴ ProN W6" pitchFamily="-109" charset="-128"/>
          <a:sym typeface="Arial" pitchFamily="-109" charset="0"/>
        </a:defRPr>
      </a:lvl9pPr>
    </p:titleStyle>
    <p:bodyStyle>
      <a:lvl1pPr marL="39688" indent="-39688" algn="ctr" rtl="0" eaLnBrk="0" fontAlgn="base" hangingPunct="0">
        <a:spcBef>
          <a:spcPts val="700"/>
        </a:spcBef>
        <a:spcAft>
          <a:spcPct val="0"/>
        </a:spcAft>
        <a:defRPr sz="3200">
          <a:solidFill>
            <a:schemeClr val="tx1"/>
          </a:solidFill>
          <a:latin typeface="+mn-lt"/>
          <a:ea typeface="+mn-ea"/>
          <a:cs typeface="+mn-cs"/>
          <a:sym typeface="Arial" charset="0"/>
        </a:defRPr>
      </a:lvl1pPr>
      <a:lvl2pPr marL="496888" indent="-39688" algn="ctr" rtl="0" eaLnBrk="0" fontAlgn="base" hangingPunct="0">
        <a:spcBef>
          <a:spcPts val="600"/>
        </a:spcBef>
        <a:spcAft>
          <a:spcPct val="0"/>
        </a:spcAft>
        <a:defRPr sz="2800">
          <a:solidFill>
            <a:schemeClr val="tx1"/>
          </a:solidFill>
          <a:latin typeface="+mn-lt"/>
          <a:ea typeface="+mn-ea"/>
          <a:cs typeface="+mn-cs"/>
          <a:sym typeface="Arial" charset="0"/>
        </a:defRPr>
      </a:lvl2pPr>
      <a:lvl3pPr marL="954088" indent="-39688" algn="ctr" rtl="0" eaLnBrk="0" fontAlgn="base" hangingPunct="0">
        <a:spcBef>
          <a:spcPts val="600"/>
        </a:spcBef>
        <a:spcAft>
          <a:spcPct val="0"/>
        </a:spcAft>
        <a:defRPr sz="2400">
          <a:solidFill>
            <a:schemeClr val="tx1"/>
          </a:solidFill>
          <a:latin typeface="+mn-lt"/>
          <a:ea typeface="+mn-ea"/>
          <a:cs typeface="+mn-cs"/>
          <a:sym typeface="Arial" charset="0"/>
        </a:defRPr>
      </a:lvl3pPr>
      <a:lvl4pPr marL="1411288" indent="-39688" algn="ctr" rtl="0" eaLnBrk="0" fontAlgn="base" hangingPunct="0">
        <a:spcBef>
          <a:spcPts val="500"/>
        </a:spcBef>
        <a:spcAft>
          <a:spcPct val="0"/>
        </a:spcAft>
        <a:defRPr sz="2000">
          <a:solidFill>
            <a:schemeClr val="tx1"/>
          </a:solidFill>
          <a:latin typeface="+mn-lt"/>
          <a:ea typeface="+mn-ea"/>
          <a:cs typeface="+mn-cs"/>
          <a:sym typeface="Arial" charset="0"/>
        </a:defRPr>
      </a:lvl4pPr>
      <a:lvl5pPr marL="1868488" indent="-39688" algn="ctr" rtl="0" eaLnBrk="0" fontAlgn="base" hangingPunct="0">
        <a:spcBef>
          <a:spcPts val="500"/>
        </a:spcBef>
        <a:spcAft>
          <a:spcPct val="0"/>
        </a:spcAft>
        <a:defRPr sz="2000">
          <a:solidFill>
            <a:schemeClr val="tx1"/>
          </a:solidFill>
          <a:latin typeface="+mn-lt"/>
          <a:ea typeface="+mn-ea"/>
          <a:cs typeface="+mn-cs"/>
          <a:sym typeface="Arial" charset="0"/>
        </a:defRPr>
      </a:lvl5pPr>
      <a:lvl6pPr marL="2325688" algn="ctr" rtl="0" fontAlgn="base">
        <a:spcBef>
          <a:spcPts val="500"/>
        </a:spcBef>
        <a:spcAft>
          <a:spcPct val="0"/>
        </a:spcAft>
        <a:defRPr sz="2000">
          <a:solidFill>
            <a:schemeClr val="tx1"/>
          </a:solidFill>
          <a:latin typeface="+mn-lt"/>
          <a:ea typeface="+mn-ea"/>
          <a:cs typeface="+mn-cs"/>
          <a:sym typeface="Arial" pitchFamily="-109" charset="0"/>
        </a:defRPr>
      </a:lvl6pPr>
      <a:lvl7pPr marL="2782888" algn="ctr" rtl="0" fontAlgn="base">
        <a:spcBef>
          <a:spcPts val="500"/>
        </a:spcBef>
        <a:spcAft>
          <a:spcPct val="0"/>
        </a:spcAft>
        <a:defRPr sz="2000">
          <a:solidFill>
            <a:schemeClr val="tx1"/>
          </a:solidFill>
          <a:latin typeface="+mn-lt"/>
          <a:ea typeface="+mn-ea"/>
          <a:cs typeface="+mn-cs"/>
          <a:sym typeface="Arial" pitchFamily="-109" charset="0"/>
        </a:defRPr>
      </a:lvl7pPr>
      <a:lvl8pPr marL="3240088" algn="ctr" rtl="0" fontAlgn="base">
        <a:spcBef>
          <a:spcPts val="500"/>
        </a:spcBef>
        <a:spcAft>
          <a:spcPct val="0"/>
        </a:spcAft>
        <a:defRPr sz="2000">
          <a:solidFill>
            <a:schemeClr val="tx1"/>
          </a:solidFill>
          <a:latin typeface="+mn-lt"/>
          <a:ea typeface="+mn-ea"/>
          <a:cs typeface="+mn-cs"/>
          <a:sym typeface="Arial" pitchFamily="-109" charset="0"/>
        </a:defRPr>
      </a:lvl8pPr>
      <a:lvl9pPr marL="3697288" algn="ctr" rtl="0" fontAlgn="base">
        <a:spcBef>
          <a:spcPts val="500"/>
        </a:spcBef>
        <a:spcAft>
          <a:spcPct val="0"/>
        </a:spcAft>
        <a:defRPr sz="2000">
          <a:solidFill>
            <a:schemeClr val="tx1"/>
          </a:solidFill>
          <a:latin typeface="+mn-lt"/>
          <a:ea typeface="+mn-ea"/>
          <a:cs typeface="+mn-cs"/>
          <a:sym typeface="Arial" pitchFamily="-109"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8" descr="isr_logo_308_r2"/>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543800" y="6227687"/>
            <a:ext cx="1404878" cy="51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1" descr="CMU_logo_horiz_187 red.jpg"/>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52401" y="6427146"/>
            <a:ext cx="3581400" cy="32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ransition advClick="0" advTm="20000"/>
  <p:timing>
    <p:tnLst>
      <p:par>
        <p:cTn id="1" dur="indefinite" restart="never" nodeType="tmRoot"/>
      </p:par>
    </p:tnLst>
  </p:timing>
  <p:txStyles>
    <p:titleStyle>
      <a:lvl1pPr marL="39688" indent="-39688" algn="ctr" rtl="0" eaLnBrk="0" fontAlgn="base" hangingPunct="0">
        <a:spcBef>
          <a:spcPct val="0"/>
        </a:spcBef>
        <a:spcAft>
          <a:spcPct val="0"/>
        </a:spcAft>
        <a:defRPr sz="4400">
          <a:solidFill>
            <a:schemeClr val="tx1"/>
          </a:solidFill>
          <a:latin typeface="+mj-lt"/>
          <a:ea typeface="+mj-ea"/>
          <a:cs typeface="+mj-cs"/>
          <a:sym typeface="Arial" charset="0"/>
        </a:defRPr>
      </a:lvl1pPr>
      <a:lvl2pPr marL="39688" indent="-39688" algn="ctr" rtl="0" eaLnBrk="0" fontAlgn="base" hangingPunct="0">
        <a:spcBef>
          <a:spcPct val="0"/>
        </a:spcBef>
        <a:spcAft>
          <a:spcPct val="0"/>
        </a:spcAft>
        <a:defRPr sz="4400">
          <a:solidFill>
            <a:schemeClr val="tx1"/>
          </a:solidFill>
          <a:latin typeface="Arial" pitchFamily="-109" charset="0"/>
          <a:ea typeface="ヒラギノ角ゴ ProN W3" pitchFamily="-109" charset="-128"/>
          <a:cs typeface="ヒラギノ角ゴ ProN W3" pitchFamily="-109" charset="-128"/>
          <a:sym typeface="Arial" charset="0"/>
        </a:defRPr>
      </a:lvl2pPr>
      <a:lvl3pPr marL="39688" indent="-39688" algn="ctr" rtl="0" eaLnBrk="0" fontAlgn="base" hangingPunct="0">
        <a:spcBef>
          <a:spcPct val="0"/>
        </a:spcBef>
        <a:spcAft>
          <a:spcPct val="0"/>
        </a:spcAft>
        <a:defRPr sz="4400">
          <a:solidFill>
            <a:schemeClr val="tx1"/>
          </a:solidFill>
          <a:latin typeface="Arial" pitchFamily="-109" charset="0"/>
          <a:ea typeface="ヒラギノ角ゴ ProN W3" pitchFamily="-109" charset="-128"/>
          <a:cs typeface="ヒラギノ角ゴ ProN W3" pitchFamily="-109" charset="-128"/>
          <a:sym typeface="Arial" charset="0"/>
        </a:defRPr>
      </a:lvl3pPr>
      <a:lvl4pPr marL="39688" indent="-39688" algn="ctr" rtl="0" eaLnBrk="0" fontAlgn="base" hangingPunct="0">
        <a:spcBef>
          <a:spcPct val="0"/>
        </a:spcBef>
        <a:spcAft>
          <a:spcPct val="0"/>
        </a:spcAft>
        <a:defRPr sz="4400">
          <a:solidFill>
            <a:schemeClr val="tx1"/>
          </a:solidFill>
          <a:latin typeface="Arial" pitchFamily="-109" charset="0"/>
          <a:ea typeface="ヒラギノ角ゴ ProN W3" pitchFamily="-109" charset="-128"/>
          <a:cs typeface="ヒラギノ角ゴ ProN W3" pitchFamily="-109" charset="-128"/>
          <a:sym typeface="Arial" charset="0"/>
        </a:defRPr>
      </a:lvl4pPr>
      <a:lvl5pPr marL="39688" indent="-39688" algn="ctr" rtl="0" eaLnBrk="0" fontAlgn="base" hangingPunct="0">
        <a:spcBef>
          <a:spcPct val="0"/>
        </a:spcBef>
        <a:spcAft>
          <a:spcPct val="0"/>
        </a:spcAft>
        <a:defRPr sz="4400">
          <a:solidFill>
            <a:schemeClr val="tx1"/>
          </a:solidFill>
          <a:latin typeface="Arial" pitchFamily="-109" charset="0"/>
          <a:ea typeface="ヒラギノ角ゴ ProN W3" pitchFamily="-109" charset="-128"/>
          <a:cs typeface="ヒラギノ角ゴ ProN W3" pitchFamily="-109" charset="-128"/>
          <a:sym typeface="Arial" charset="0"/>
        </a:defRPr>
      </a:lvl5pPr>
      <a:lvl6pPr marL="496888" algn="ctr" rtl="0" fontAlgn="base">
        <a:spcBef>
          <a:spcPct val="0"/>
        </a:spcBef>
        <a:spcAft>
          <a:spcPct val="0"/>
        </a:spcAft>
        <a:defRPr sz="4400">
          <a:solidFill>
            <a:schemeClr val="tx1"/>
          </a:solidFill>
          <a:latin typeface="Arial" pitchFamily="-109" charset="0"/>
          <a:ea typeface="ヒラギノ角ゴ ProN W3" pitchFamily="-109" charset="-128"/>
          <a:cs typeface="ヒラギノ角ゴ ProN W3" pitchFamily="-109" charset="-128"/>
          <a:sym typeface="Arial" pitchFamily="-109" charset="0"/>
        </a:defRPr>
      </a:lvl6pPr>
      <a:lvl7pPr marL="954088" algn="ctr" rtl="0" fontAlgn="base">
        <a:spcBef>
          <a:spcPct val="0"/>
        </a:spcBef>
        <a:spcAft>
          <a:spcPct val="0"/>
        </a:spcAft>
        <a:defRPr sz="4400">
          <a:solidFill>
            <a:schemeClr val="tx1"/>
          </a:solidFill>
          <a:latin typeface="Arial" pitchFamily="-109" charset="0"/>
          <a:ea typeface="ヒラギノ角ゴ ProN W3" pitchFamily="-109" charset="-128"/>
          <a:cs typeface="ヒラギノ角ゴ ProN W3" pitchFamily="-109" charset="-128"/>
          <a:sym typeface="Arial" pitchFamily="-109" charset="0"/>
        </a:defRPr>
      </a:lvl7pPr>
      <a:lvl8pPr marL="1411288" algn="ctr" rtl="0" fontAlgn="base">
        <a:spcBef>
          <a:spcPct val="0"/>
        </a:spcBef>
        <a:spcAft>
          <a:spcPct val="0"/>
        </a:spcAft>
        <a:defRPr sz="4400">
          <a:solidFill>
            <a:schemeClr val="tx1"/>
          </a:solidFill>
          <a:latin typeface="Arial" pitchFamily="-109" charset="0"/>
          <a:ea typeface="ヒラギノ角ゴ ProN W3" pitchFamily="-109" charset="-128"/>
          <a:cs typeface="ヒラギノ角ゴ ProN W3" pitchFamily="-109" charset="-128"/>
          <a:sym typeface="Arial" pitchFamily="-109" charset="0"/>
        </a:defRPr>
      </a:lvl8pPr>
      <a:lvl9pPr marL="1868488" algn="ctr" rtl="0" fontAlgn="base">
        <a:spcBef>
          <a:spcPct val="0"/>
        </a:spcBef>
        <a:spcAft>
          <a:spcPct val="0"/>
        </a:spcAft>
        <a:defRPr sz="4400">
          <a:solidFill>
            <a:schemeClr val="tx1"/>
          </a:solidFill>
          <a:latin typeface="Arial" pitchFamily="-109" charset="0"/>
          <a:ea typeface="ヒラギノ角ゴ ProN W3" pitchFamily="-109" charset="-128"/>
          <a:cs typeface="ヒラギノ角ゴ ProN W3" pitchFamily="-109" charset="-128"/>
          <a:sym typeface="Arial" pitchFamily="-109" charset="0"/>
        </a:defRPr>
      </a:lvl9pPr>
    </p:titleStyle>
    <p:bodyStyle>
      <a:lvl1pPr marL="382588" indent="-342900" algn="l" rtl="0" eaLnBrk="0" fontAlgn="base" hangingPunct="0">
        <a:spcBef>
          <a:spcPts val="700"/>
        </a:spcBef>
        <a:spcAft>
          <a:spcPct val="0"/>
        </a:spcAft>
        <a:buSzPct val="100000"/>
        <a:buFont typeface="Arial" charset="0"/>
        <a:buChar char="•"/>
        <a:defRPr sz="3200">
          <a:solidFill>
            <a:schemeClr val="tx1"/>
          </a:solidFill>
          <a:latin typeface="+mn-lt"/>
          <a:ea typeface="+mn-ea"/>
          <a:cs typeface="+mn-cs"/>
          <a:sym typeface="Arial" charset="0"/>
        </a:defRPr>
      </a:lvl1pPr>
      <a:lvl2pPr marL="782638" indent="-285750" algn="l" rtl="0" eaLnBrk="0" fontAlgn="base" hangingPunct="0">
        <a:spcBef>
          <a:spcPts val="600"/>
        </a:spcBef>
        <a:spcAft>
          <a:spcPct val="0"/>
        </a:spcAft>
        <a:buSzPct val="100000"/>
        <a:buFont typeface="Arial" charset="0"/>
        <a:buChar char="–"/>
        <a:defRPr sz="2800">
          <a:solidFill>
            <a:schemeClr val="tx1"/>
          </a:solidFill>
          <a:latin typeface="+mn-lt"/>
          <a:ea typeface="+mn-ea"/>
          <a:cs typeface="+mn-cs"/>
          <a:sym typeface="Arial" charset="0"/>
        </a:defRPr>
      </a:lvl2pPr>
      <a:lvl3pPr marL="1182688" indent="-228600" algn="l" rtl="0" eaLnBrk="0" fontAlgn="base" hangingPunct="0">
        <a:spcBef>
          <a:spcPts val="600"/>
        </a:spcBef>
        <a:spcAft>
          <a:spcPct val="0"/>
        </a:spcAft>
        <a:buSzPct val="100000"/>
        <a:buFont typeface="Arial" charset="0"/>
        <a:buChar char="•"/>
        <a:defRPr sz="2400">
          <a:solidFill>
            <a:schemeClr val="tx1"/>
          </a:solidFill>
          <a:latin typeface="+mn-lt"/>
          <a:ea typeface="+mn-ea"/>
          <a:cs typeface="+mn-cs"/>
          <a:sym typeface="Arial" charset="0"/>
        </a:defRPr>
      </a:lvl3pPr>
      <a:lvl4pPr marL="1639888" indent="-228600" algn="l" rtl="0" eaLnBrk="0" fontAlgn="base" hangingPunct="0">
        <a:spcBef>
          <a:spcPts val="500"/>
        </a:spcBef>
        <a:spcAft>
          <a:spcPct val="0"/>
        </a:spcAft>
        <a:buSzPct val="100000"/>
        <a:buFont typeface="Arial" charset="0"/>
        <a:buChar char="–"/>
        <a:defRPr sz="2000">
          <a:solidFill>
            <a:schemeClr val="tx1"/>
          </a:solidFill>
          <a:latin typeface="+mn-lt"/>
          <a:ea typeface="+mn-ea"/>
          <a:cs typeface="+mn-cs"/>
          <a:sym typeface="Arial" charset="0"/>
        </a:defRPr>
      </a:lvl4pPr>
      <a:lvl5pPr marL="2097088" indent="-228600" algn="l" rtl="0" eaLnBrk="0" fontAlgn="base" hangingPunct="0">
        <a:spcBef>
          <a:spcPts val="500"/>
        </a:spcBef>
        <a:spcAft>
          <a:spcPct val="0"/>
        </a:spcAft>
        <a:buSzPct val="100000"/>
        <a:buFont typeface="Arial" charset="0"/>
        <a:buChar char="»"/>
        <a:defRPr sz="2000">
          <a:solidFill>
            <a:schemeClr val="tx1"/>
          </a:solidFill>
          <a:latin typeface="+mn-lt"/>
          <a:ea typeface="+mn-ea"/>
          <a:cs typeface="+mn-cs"/>
          <a:sym typeface="Arial" charset="0"/>
        </a:defRPr>
      </a:lvl5pPr>
      <a:lvl6pPr marL="2554288" indent="-228600" algn="l" rtl="0" fontAlgn="base">
        <a:spcBef>
          <a:spcPts val="500"/>
        </a:spcBef>
        <a:spcAft>
          <a:spcPct val="0"/>
        </a:spcAft>
        <a:buSzPct val="100000"/>
        <a:buFont typeface="Arial" pitchFamily="-109" charset="0"/>
        <a:buChar char="»"/>
        <a:defRPr sz="2000">
          <a:solidFill>
            <a:schemeClr val="tx1"/>
          </a:solidFill>
          <a:latin typeface="+mn-lt"/>
          <a:ea typeface="+mn-ea"/>
          <a:cs typeface="+mn-cs"/>
          <a:sym typeface="Arial" pitchFamily="-109" charset="0"/>
        </a:defRPr>
      </a:lvl6pPr>
      <a:lvl7pPr marL="3011488" indent="-228600" algn="l" rtl="0" fontAlgn="base">
        <a:spcBef>
          <a:spcPts val="500"/>
        </a:spcBef>
        <a:spcAft>
          <a:spcPct val="0"/>
        </a:spcAft>
        <a:buSzPct val="100000"/>
        <a:buFont typeface="Arial" pitchFamily="-109" charset="0"/>
        <a:buChar char="»"/>
        <a:defRPr sz="2000">
          <a:solidFill>
            <a:schemeClr val="tx1"/>
          </a:solidFill>
          <a:latin typeface="+mn-lt"/>
          <a:ea typeface="+mn-ea"/>
          <a:cs typeface="+mn-cs"/>
          <a:sym typeface="Arial" pitchFamily="-109" charset="0"/>
        </a:defRPr>
      </a:lvl7pPr>
      <a:lvl8pPr marL="3468688" indent="-228600" algn="l" rtl="0" fontAlgn="base">
        <a:spcBef>
          <a:spcPts val="500"/>
        </a:spcBef>
        <a:spcAft>
          <a:spcPct val="0"/>
        </a:spcAft>
        <a:buSzPct val="100000"/>
        <a:buFont typeface="Arial" pitchFamily="-109" charset="0"/>
        <a:buChar char="»"/>
        <a:defRPr sz="2000">
          <a:solidFill>
            <a:schemeClr val="tx1"/>
          </a:solidFill>
          <a:latin typeface="+mn-lt"/>
          <a:ea typeface="+mn-ea"/>
          <a:cs typeface="+mn-cs"/>
          <a:sym typeface="Arial" pitchFamily="-109" charset="0"/>
        </a:defRPr>
      </a:lvl8pPr>
      <a:lvl9pPr marL="3925888" indent="-228600" algn="l" rtl="0" fontAlgn="base">
        <a:spcBef>
          <a:spcPts val="500"/>
        </a:spcBef>
        <a:spcAft>
          <a:spcPct val="0"/>
        </a:spcAft>
        <a:buSzPct val="100000"/>
        <a:buFont typeface="Arial" pitchFamily="-109" charset="0"/>
        <a:buChar char="»"/>
        <a:defRPr sz="2000">
          <a:solidFill>
            <a:schemeClr val="tx1"/>
          </a:solidFill>
          <a:latin typeface="+mn-lt"/>
          <a:ea typeface="+mn-ea"/>
          <a:cs typeface="+mn-cs"/>
          <a:sym typeface="Arial" pitchFamily="-109"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eg"/><Relationship Id="rId1" Type="http://schemas.openxmlformats.org/officeDocument/2006/relationships/slideLayout" Target="../slideLayouts/slideLayout13.xml"/><Relationship Id="rId6" Type="http://schemas.openxmlformats.org/officeDocument/2006/relationships/image" Target="../media/image8.jpg"/><Relationship Id="rId5" Type="http://schemas.openxmlformats.org/officeDocument/2006/relationships/image" Target="../media/image7.JPG"/><Relationship Id="rId4" Type="http://schemas.openxmlformats.org/officeDocument/2006/relationships/image" Target="../media/image6.gi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7" Type="http://schemas.openxmlformats.org/officeDocument/2006/relationships/image" Target="../media/image14.jp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1.jp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5"/>
          <p:cNvSpPr>
            <a:spLocks noGrp="1" noChangeArrowheads="1"/>
          </p:cNvSpPr>
          <p:nvPr>
            <p:ph type="title"/>
          </p:nvPr>
        </p:nvSpPr>
        <p:spPr>
          <a:xfrm>
            <a:off x="304800" y="533400"/>
            <a:ext cx="8534400" cy="4724400"/>
          </a:xfrm>
        </p:spPr>
        <p:txBody>
          <a:bodyPr rIns="132080"/>
          <a:lstStyle/>
          <a:p>
            <a:pPr indent="0" eaLnBrk="1" hangingPunct="1"/>
            <a:r>
              <a:rPr lang="en-US" sz="3000" b="0" dirty="0" smtClean="0">
                <a:latin typeface="Times New Roman" pitchFamily="18" charset="0"/>
                <a:cs typeface="Times New Roman" pitchFamily="18" charset="0"/>
              </a:rPr>
              <a:t>Towards a Framework for Pattern Experimentation</a:t>
            </a:r>
            <a:r>
              <a:rPr lang="en-US" sz="3200" b="0" dirty="0" smtClean="0">
                <a:latin typeface="Times New Roman" pitchFamily="18" charset="0"/>
                <a:cs typeface="Times New Roman" pitchFamily="18" charset="0"/>
              </a:rPr>
              <a:t/>
            </a:r>
            <a:br>
              <a:rPr lang="en-US" sz="3200" b="0" dirty="0" smtClean="0">
                <a:latin typeface="Times New Roman" pitchFamily="18" charset="0"/>
                <a:cs typeface="Times New Roman" pitchFamily="18" charset="0"/>
              </a:rPr>
            </a:br>
            <a:r>
              <a:rPr lang="en-US" sz="2000" b="0" dirty="0" smtClean="0">
                <a:solidFill>
                  <a:schemeClr val="tx1">
                    <a:lumMod val="65000"/>
                    <a:lumOff val="35000"/>
                  </a:schemeClr>
                </a:solidFill>
                <a:latin typeface="Times New Roman" pitchFamily="18" charset="0"/>
                <a:cs typeface="Times New Roman" pitchFamily="18" charset="0"/>
              </a:rPr>
              <a:t>Understanding empirical validity in requirements engineering patterns</a:t>
            </a:r>
            <a:r>
              <a:rPr lang="en-US" sz="2000" b="0" dirty="0" smtClean="0">
                <a:latin typeface="Times New Roman" pitchFamily="18" charset="0"/>
                <a:cs typeface="Times New Roman" pitchFamily="18" charset="0"/>
              </a:rPr>
              <a:t/>
            </a:r>
            <a:br>
              <a:rPr lang="en-US" sz="2000" b="0" dirty="0" smtClean="0">
                <a:latin typeface="Times New Roman" pitchFamily="18" charset="0"/>
                <a:cs typeface="Times New Roman" pitchFamily="18" charset="0"/>
              </a:rPr>
            </a:br>
            <a:r>
              <a:rPr lang="en-US" b="0" dirty="0" smtClean="0">
                <a:latin typeface="Times New Roman" pitchFamily="18" charset="0"/>
                <a:cs typeface="Times New Roman" pitchFamily="18" charset="0"/>
              </a:rPr>
              <a:t/>
            </a:r>
            <a:br>
              <a:rPr lang="en-US" b="0" dirty="0" smtClean="0">
                <a:latin typeface="Times New Roman" pitchFamily="18" charset="0"/>
                <a:cs typeface="Times New Roman" pitchFamily="18" charset="0"/>
              </a:rPr>
            </a:br>
            <a:r>
              <a:rPr lang="en-US" sz="1600" b="0" dirty="0" smtClean="0">
                <a:latin typeface="Times New Roman" pitchFamily="18" charset="0"/>
                <a:cs typeface="Times New Roman" pitchFamily="18" charset="0"/>
              </a:rPr>
              <a:t/>
            </a:r>
            <a:br>
              <a:rPr lang="en-US" sz="1600" b="0" dirty="0" smtClean="0">
                <a:latin typeface="Times New Roman" pitchFamily="18" charset="0"/>
                <a:cs typeface="Times New Roman" pitchFamily="18" charset="0"/>
              </a:rPr>
            </a:br>
            <a:r>
              <a:rPr lang="en-US" sz="2000" b="0" dirty="0" smtClean="0">
                <a:solidFill>
                  <a:schemeClr val="tx1">
                    <a:lumMod val="65000"/>
                    <a:lumOff val="35000"/>
                  </a:schemeClr>
                </a:solidFill>
                <a:latin typeface="Times New Roman" pitchFamily="18" charset="0"/>
                <a:cs typeface="Times New Roman" pitchFamily="18" charset="0"/>
              </a:rPr>
              <a:t>Travis D. Breaux, </a:t>
            </a:r>
            <a:r>
              <a:rPr lang="en-US" sz="2000" b="0" dirty="0" err="1" smtClean="0">
                <a:solidFill>
                  <a:schemeClr val="tx1">
                    <a:lumMod val="65000"/>
                    <a:lumOff val="35000"/>
                  </a:schemeClr>
                </a:solidFill>
                <a:latin typeface="Times New Roman" pitchFamily="18" charset="0"/>
                <a:cs typeface="Times New Roman" pitchFamily="18" charset="0"/>
              </a:rPr>
              <a:t>Hanan</a:t>
            </a:r>
            <a:r>
              <a:rPr lang="en-US" sz="2000" b="0" dirty="0" smtClean="0">
                <a:solidFill>
                  <a:schemeClr val="tx1">
                    <a:lumMod val="65000"/>
                    <a:lumOff val="35000"/>
                  </a:schemeClr>
                </a:solidFill>
                <a:latin typeface="Times New Roman" pitchFamily="18" charset="0"/>
                <a:cs typeface="Times New Roman" pitchFamily="18" charset="0"/>
              </a:rPr>
              <a:t> </a:t>
            </a:r>
            <a:r>
              <a:rPr lang="en-US" sz="2000" b="0" dirty="0" err="1" smtClean="0">
                <a:solidFill>
                  <a:schemeClr val="tx1">
                    <a:lumMod val="65000"/>
                    <a:lumOff val="35000"/>
                  </a:schemeClr>
                </a:solidFill>
                <a:latin typeface="Times New Roman" pitchFamily="18" charset="0"/>
                <a:cs typeface="Times New Roman" pitchFamily="18" charset="0"/>
              </a:rPr>
              <a:t>Hibshi</a:t>
            </a:r>
            <a:r>
              <a:rPr lang="en-US" sz="2000" b="0" dirty="0" smtClean="0">
                <a:solidFill>
                  <a:schemeClr val="tx1">
                    <a:lumMod val="65000"/>
                    <a:lumOff val="35000"/>
                  </a:schemeClr>
                </a:solidFill>
                <a:latin typeface="Times New Roman" pitchFamily="18" charset="0"/>
                <a:cs typeface="Times New Roman" pitchFamily="18" charset="0"/>
              </a:rPr>
              <a:t>, </a:t>
            </a:r>
            <a:r>
              <a:rPr lang="en-US" sz="2000" dirty="0" smtClean="0">
                <a:solidFill>
                  <a:schemeClr val="tx1">
                    <a:lumMod val="65000"/>
                    <a:lumOff val="35000"/>
                  </a:schemeClr>
                </a:solidFill>
                <a:latin typeface="Times New Roman" pitchFamily="18" charset="0"/>
                <a:cs typeface="Times New Roman" pitchFamily="18" charset="0"/>
              </a:rPr>
              <a:t>Ashwini Rao</a:t>
            </a:r>
            <a:r>
              <a:rPr lang="en-US" sz="2000" b="0" dirty="0">
                <a:solidFill>
                  <a:schemeClr val="tx1">
                    <a:lumMod val="65000"/>
                    <a:lumOff val="35000"/>
                  </a:schemeClr>
                </a:solidFill>
                <a:latin typeface="Times New Roman" pitchFamily="18" charset="0"/>
                <a:cs typeface="Times New Roman" pitchFamily="18" charset="0"/>
              </a:rPr>
              <a:t/>
            </a:r>
            <a:br>
              <a:rPr lang="en-US" sz="2000" b="0" dirty="0">
                <a:solidFill>
                  <a:schemeClr val="tx1">
                    <a:lumMod val="65000"/>
                    <a:lumOff val="35000"/>
                  </a:schemeClr>
                </a:solidFill>
                <a:latin typeface="Times New Roman" pitchFamily="18" charset="0"/>
                <a:cs typeface="Times New Roman" pitchFamily="18" charset="0"/>
              </a:rPr>
            </a:br>
            <a:r>
              <a:rPr lang="en-US" sz="2000" b="0" dirty="0">
                <a:solidFill>
                  <a:schemeClr val="tx1">
                    <a:lumMod val="65000"/>
                    <a:lumOff val="35000"/>
                  </a:schemeClr>
                </a:solidFill>
                <a:latin typeface="Times New Roman" pitchFamily="18" charset="0"/>
                <a:cs typeface="Times New Roman" pitchFamily="18" charset="0"/>
              </a:rPr>
              <a:t>Carnegie Mellon </a:t>
            </a:r>
            <a:r>
              <a:rPr lang="en-US" sz="2000" b="0" dirty="0" smtClean="0">
                <a:solidFill>
                  <a:schemeClr val="tx1">
                    <a:lumMod val="65000"/>
                    <a:lumOff val="35000"/>
                  </a:schemeClr>
                </a:solidFill>
                <a:latin typeface="Times New Roman" pitchFamily="18" charset="0"/>
                <a:cs typeface="Times New Roman" pitchFamily="18" charset="0"/>
              </a:rPr>
              <a:t>University</a:t>
            </a:r>
            <a:br>
              <a:rPr lang="en-US" sz="2000" b="0" dirty="0" smtClean="0">
                <a:solidFill>
                  <a:schemeClr val="tx1">
                    <a:lumMod val="65000"/>
                    <a:lumOff val="35000"/>
                  </a:schemeClr>
                </a:solidFill>
                <a:latin typeface="Times New Roman" pitchFamily="18" charset="0"/>
                <a:cs typeface="Times New Roman" pitchFamily="18" charset="0"/>
              </a:rPr>
            </a:br>
            <a:r>
              <a:rPr lang="en-US" sz="2000" b="0" dirty="0">
                <a:solidFill>
                  <a:schemeClr val="tx1">
                    <a:lumMod val="65000"/>
                    <a:lumOff val="35000"/>
                  </a:schemeClr>
                </a:solidFill>
                <a:latin typeface="Times New Roman" pitchFamily="18" charset="0"/>
                <a:cs typeface="Times New Roman" pitchFamily="18" charset="0"/>
              </a:rPr>
              <a:t/>
            </a:r>
            <a:br>
              <a:rPr lang="en-US" sz="2000" b="0" dirty="0">
                <a:solidFill>
                  <a:schemeClr val="tx1">
                    <a:lumMod val="65000"/>
                    <a:lumOff val="35000"/>
                  </a:schemeClr>
                </a:solidFill>
                <a:latin typeface="Times New Roman" pitchFamily="18" charset="0"/>
                <a:cs typeface="Times New Roman" pitchFamily="18" charset="0"/>
              </a:rPr>
            </a:br>
            <a:r>
              <a:rPr lang="en-US" sz="2000" b="0" dirty="0">
                <a:solidFill>
                  <a:schemeClr val="tx1">
                    <a:lumMod val="65000"/>
                    <a:lumOff val="35000"/>
                  </a:schemeClr>
                </a:solidFill>
                <a:latin typeface="Times New Roman" pitchFamily="18" charset="0"/>
                <a:cs typeface="Times New Roman" pitchFamily="18" charset="0"/>
              </a:rPr>
              <a:t>Jean-Michel </a:t>
            </a:r>
            <a:r>
              <a:rPr lang="en-US" sz="2000" b="0" dirty="0" err="1">
                <a:solidFill>
                  <a:schemeClr val="tx1">
                    <a:lumMod val="65000"/>
                    <a:lumOff val="35000"/>
                  </a:schemeClr>
                </a:solidFill>
                <a:latin typeface="Times New Roman" pitchFamily="18" charset="0"/>
                <a:cs typeface="Times New Roman" pitchFamily="18" charset="0"/>
              </a:rPr>
              <a:t>Lehker</a:t>
            </a:r>
            <a:r>
              <a:rPr lang="en-US" sz="2000" b="0" dirty="0" smtClean="0">
                <a:solidFill>
                  <a:schemeClr val="tx1">
                    <a:lumMod val="65000"/>
                    <a:lumOff val="35000"/>
                  </a:schemeClr>
                </a:solidFill>
                <a:latin typeface="Times New Roman" pitchFamily="18" charset="0"/>
                <a:cs typeface="Times New Roman" pitchFamily="18" charset="0"/>
              </a:rPr>
              <a:t/>
            </a:r>
            <a:br>
              <a:rPr lang="en-US" sz="2000" b="0" dirty="0" smtClean="0">
                <a:solidFill>
                  <a:schemeClr val="tx1">
                    <a:lumMod val="65000"/>
                    <a:lumOff val="35000"/>
                  </a:schemeClr>
                </a:solidFill>
                <a:latin typeface="Times New Roman" pitchFamily="18" charset="0"/>
                <a:cs typeface="Times New Roman" pitchFamily="18" charset="0"/>
              </a:rPr>
            </a:br>
            <a:r>
              <a:rPr lang="en-US" sz="2000" b="0" dirty="0" smtClean="0">
                <a:solidFill>
                  <a:schemeClr val="tx1">
                    <a:lumMod val="65000"/>
                    <a:lumOff val="35000"/>
                  </a:schemeClr>
                </a:solidFill>
                <a:latin typeface="Times New Roman" pitchFamily="18" charset="0"/>
                <a:cs typeface="Times New Roman" pitchFamily="18" charset="0"/>
              </a:rPr>
              <a:t>University of Texas at San Antonio</a:t>
            </a:r>
            <a:endParaRPr lang="en-US" sz="2000" b="0" baseline="30000" dirty="0" smtClean="0">
              <a:solidFill>
                <a:schemeClr val="tx1">
                  <a:lumMod val="65000"/>
                  <a:lumOff val="35000"/>
                </a:schemeClr>
              </a:solidFill>
              <a:latin typeface="Times New Roman" pitchFamily="18" charset="0"/>
              <a:cs typeface="Times New Roman" pitchFamily="18" charset="0"/>
            </a:endParaRPr>
          </a:p>
        </p:txBody>
      </p:sp>
      <p:sp>
        <p:nvSpPr>
          <p:cNvPr id="4099" name="Rectangle 1"/>
          <p:cNvSpPr>
            <a:spLocks noChangeArrowheads="1"/>
          </p:cNvSpPr>
          <p:nvPr/>
        </p:nvSpPr>
        <p:spPr bwMode="auto">
          <a:xfrm>
            <a:off x="0" y="5791200"/>
            <a:ext cx="9144000" cy="1066800"/>
          </a:xfrm>
          <a:prstGeom prst="rect">
            <a:avLst/>
          </a:prstGeom>
          <a:gradFill>
            <a:gsLst>
              <a:gs pos="0">
                <a:srgbClr val="003300"/>
              </a:gs>
              <a:gs pos="50000">
                <a:schemeClr val="accent1">
                  <a:shade val="67500"/>
                  <a:satMod val="115000"/>
                </a:schemeClr>
              </a:gs>
              <a:gs pos="100000">
                <a:schemeClr val="accent1">
                  <a:shade val="100000"/>
                  <a:satMod val="115000"/>
                </a:schemeClr>
              </a:gs>
            </a:gsLst>
            <a:lin ang="5400000" scaled="0"/>
          </a:gradFill>
          <a:ln>
            <a:noFill/>
          </a:ln>
          <a:extLst/>
        </p:spPr>
        <p:txBody>
          <a:bodyPr/>
          <a:lstStyle/>
          <a:p>
            <a:pPr algn="ctr"/>
            <a:endParaRPr lang="en-US" sz="800" b="1" dirty="0">
              <a:solidFill>
                <a:schemeClr val="bg1"/>
              </a:solidFill>
            </a:endParaRPr>
          </a:p>
          <a:p>
            <a:pPr algn="ctr"/>
            <a:r>
              <a:rPr lang="en-US" sz="1600" dirty="0">
                <a:solidFill>
                  <a:schemeClr val="tx1">
                    <a:lumMod val="65000"/>
                    <a:lumOff val="35000"/>
                  </a:schemeClr>
                </a:solidFill>
                <a:latin typeface="Times New Roman" pitchFamily="18" charset="0"/>
                <a:cs typeface="Times New Roman" pitchFamily="18" charset="0"/>
              </a:rPr>
              <a:t>Second International Workshop on Requirements Patterns (RePa’12)</a:t>
            </a:r>
          </a:p>
          <a:p>
            <a:pPr algn="ctr"/>
            <a:endParaRPr lang="en-US" sz="800" i="1" dirty="0">
              <a:solidFill>
                <a:schemeClr val="tx1">
                  <a:lumMod val="65000"/>
                  <a:lumOff val="35000"/>
                </a:schemeClr>
              </a:solidFill>
              <a:latin typeface="Times New Roman" pitchFamily="18" charset="0"/>
              <a:cs typeface="Times New Roman" pitchFamily="18" charset="0"/>
            </a:endParaRPr>
          </a:p>
          <a:p>
            <a:pPr algn="ctr"/>
            <a:r>
              <a:rPr lang="en-US" sz="1200" i="1" dirty="0">
                <a:solidFill>
                  <a:schemeClr val="tx1">
                    <a:lumMod val="65000"/>
                    <a:lumOff val="35000"/>
                  </a:schemeClr>
                </a:solidFill>
                <a:latin typeface="Times New Roman" pitchFamily="18" charset="0"/>
                <a:cs typeface="Times New Roman" pitchFamily="18" charset="0"/>
              </a:rPr>
              <a:t>24 September 2012, Chicago, USA</a:t>
            </a:r>
          </a:p>
          <a:p>
            <a:pPr algn="ctr"/>
            <a:r>
              <a:rPr lang="en-US" sz="1200" i="1" dirty="0">
                <a:solidFill>
                  <a:schemeClr val="tx1">
                    <a:lumMod val="65000"/>
                    <a:lumOff val="35000"/>
                  </a:schemeClr>
                </a:solidFill>
                <a:latin typeface="Times New Roman" pitchFamily="18" charset="0"/>
                <a:cs typeface="Times New Roman" pitchFamily="18" charset="0"/>
              </a:rPr>
              <a:t>In conjunction with 20</a:t>
            </a:r>
            <a:r>
              <a:rPr lang="en-US" sz="1200" i="1" baseline="30000" dirty="0">
                <a:solidFill>
                  <a:schemeClr val="tx1">
                    <a:lumMod val="65000"/>
                    <a:lumOff val="35000"/>
                  </a:schemeClr>
                </a:solidFill>
                <a:latin typeface="Times New Roman" pitchFamily="18" charset="0"/>
                <a:cs typeface="Times New Roman" pitchFamily="18" charset="0"/>
              </a:rPr>
              <a:t>th</a:t>
            </a:r>
            <a:r>
              <a:rPr lang="en-US" sz="1200" i="1" dirty="0">
                <a:solidFill>
                  <a:schemeClr val="tx1">
                    <a:lumMod val="65000"/>
                    <a:lumOff val="35000"/>
                  </a:schemeClr>
                </a:solidFill>
                <a:latin typeface="Times New Roman" pitchFamily="18" charset="0"/>
                <a:cs typeface="Times New Roman" pitchFamily="18" charset="0"/>
              </a:rPr>
              <a:t> IEEE International Requirements Engineering Conference</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a:noFill/>
          <a:ln>
            <a:noFill/>
          </a:ln>
        </p:spPr>
      </p:pic>
    </p:spTree>
  </p:cSld>
  <p:clrMapOvr>
    <a:masterClrMapping/>
  </p:clrMapOvr>
  <p:transition advClick="0" advTm="20000"/>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1513213" y="227720"/>
            <a:ext cx="3352800" cy="1224652"/>
            <a:chOff x="133096" y="639863"/>
            <a:chExt cx="3352800" cy="1224652"/>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608" y="639863"/>
              <a:ext cx="1773936" cy="603504"/>
            </a:xfrm>
            <a:prstGeom prst="rect">
              <a:avLst/>
            </a:prstGeom>
          </p:spPr>
        </p:pic>
        <p:sp>
          <p:nvSpPr>
            <p:cNvPr id="3" name="TextBox 2"/>
            <p:cNvSpPr txBox="1"/>
            <p:nvPr/>
          </p:nvSpPr>
          <p:spPr>
            <a:xfrm>
              <a:off x="133096" y="1218184"/>
              <a:ext cx="3352800" cy="646331"/>
            </a:xfrm>
            <a:prstGeom prst="rect">
              <a:avLst/>
            </a:prstGeom>
            <a:noFill/>
          </p:spPr>
          <p:txBody>
            <a:bodyPr wrap="square" rtlCol="0">
              <a:spAutoFit/>
            </a:bodyPr>
            <a:lstStyle/>
            <a:p>
              <a:pPr algn="ctr"/>
              <a:r>
                <a:rPr lang="en-US" b="1" dirty="0" smtClean="0">
                  <a:latin typeface="Times New Roman" pitchFamily="18" charset="0"/>
                  <a:cs typeface="Times New Roman" pitchFamily="18" charset="0"/>
                </a:rPr>
                <a:t>SP 800-53 </a:t>
              </a:r>
            </a:p>
            <a:p>
              <a:pPr algn="ctr"/>
              <a:r>
                <a:rPr lang="en-US" dirty="0" smtClean="0">
                  <a:latin typeface="Times New Roman" pitchFamily="18" charset="0"/>
                  <a:cs typeface="Times New Roman" pitchFamily="18" charset="0"/>
                </a:rPr>
                <a:t>Catalog of Security Controls</a:t>
              </a:r>
              <a:endParaRPr lang="en-US" dirty="0">
                <a:latin typeface="Times New Roman" pitchFamily="18" charset="0"/>
                <a:cs typeface="Times New Roman" pitchFamily="18" charset="0"/>
              </a:endParaRPr>
            </a:p>
          </p:txBody>
        </p:sp>
      </p:grpSp>
      <p:grpSp>
        <p:nvGrpSpPr>
          <p:cNvPr id="13" name="Group 12"/>
          <p:cNvGrpSpPr/>
          <p:nvPr/>
        </p:nvGrpSpPr>
        <p:grpSpPr>
          <a:xfrm>
            <a:off x="5745157" y="661637"/>
            <a:ext cx="3352800" cy="1880927"/>
            <a:chOff x="5537200" y="629919"/>
            <a:chExt cx="3352800" cy="1880927"/>
          </a:xfrm>
        </p:grpSpPr>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5100" y="629919"/>
              <a:ext cx="1295400" cy="1145619"/>
            </a:xfrm>
            <a:prstGeom prst="rect">
              <a:avLst/>
            </a:prstGeom>
          </p:spPr>
        </p:pic>
        <p:sp>
          <p:nvSpPr>
            <p:cNvPr id="8" name="TextBox 7"/>
            <p:cNvSpPr txBox="1"/>
            <p:nvPr/>
          </p:nvSpPr>
          <p:spPr>
            <a:xfrm>
              <a:off x="5537200" y="1864515"/>
              <a:ext cx="3352800" cy="646331"/>
            </a:xfrm>
            <a:prstGeom prst="rect">
              <a:avLst/>
            </a:prstGeom>
            <a:noFill/>
          </p:spPr>
          <p:txBody>
            <a:bodyPr wrap="square" rtlCol="0">
              <a:spAutoFit/>
            </a:bodyPr>
            <a:lstStyle/>
            <a:p>
              <a:pPr algn="ctr"/>
              <a:r>
                <a:rPr lang="en-US" b="1" dirty="0" smtClean="0">
                  <a:latin typeface="Times New Roman" pitchFamily="18" charset="0"/>
                  <a:cs typeface="Times New Roman" pitchFamily="18" charset="0"/>
                </a:rPr>
                <a:t>15408:2005 </a:t>
              </a:r>
            </a:p>
            <a:p>
              <a:pPr algn="ctr"/>
              <a:r>
                <a:rPr lang="en-US" dirty="0" smtClean="0">
                  <a:latin typeface="Times New Roman" pitchFamily="18" charset="0"/>
                  <a:cs typeface="Times New Roman" pitchFamily="18" charset="0"/>
                </a:rPr>
                <a:t>Common Criteria</a:t>
              </a:r>
              <a:endParaRPr lang="en-US" dirty="0">
                <a:latin typeface="Times New Roman" pitchFamily="18" charset="0"/>
                <a:cs typeface="Times New Roman" pitchFamily="18" charset="0"/>
              </a:endParaRPr>
            </a:p>
          </p:txBody>
        </p:sp>
      </p:grpSp>
      <p:grpSp>
        <p:nvGrpSpPr>
          <p:cNvPr id="12" name="Group 11"/>
          <p:cNvGrpSpPr/>
          <p:nvPr/>
        </p:nvGrpSpPr>
        <p:grpSpPr>
          <a:xfrm>
            <a:off x="990600" y="4442159"/>
            <a:ext cx="3352800" cy="1570166"/>
            <a:chOff x="133096" y="3657600"/>
            <a:chExt cx="3352800" cy="1570166"/>
          </a:xfrm>
        </p:grpSpPr>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4459" y="3657600"/>
              <a:ext cx="2750074" cy="1524000"/>
            </a:xfrm>
            <a:prstGeom prst="rect">
              <a:avLst/>
            </a:prstGeom>
          </p:spPr>
        </p:pic>
        <p:sp>
          <p:nvSpPr>
            <p:cNvPr id="10" name="TextBox 9"/>
            <p:cNvSpPr txBox="1"/>
            <p:nvPr/>
          </p:nvSpPr>
          <p:spPr>
            <a:xfrm>
              <a:off x="133096" y="4858434"/>
              <a:ext cx="3352800" cy="369332"/>
            </a:xfrm>
            <a:prstGeom prst="rect">
              <a:avLst/>
            </a:prstGeom>
            <a:noFill/>
          </p:spPr>
          <p:txBody>
            <a:bodyPr wrap="square" rtlCol="0">
              <a:spAutoFit/>
            </a:bodyPr>
            <a:lstStyle/>
            <a:p>
              <a:pPr algn="ctr"/>
              <a:r>
                <a:rPr lang="en-US" dirty="0" smtClean="0">
                  <a:latin typeface="Times New Roman" pitchFamily="18" charset="0"/>
                  <a:cs typeface="Times New Roman" pitchFamily="18" charset="0"/>
                </a:rPr>
                <a:t>Functional Requirements</a:t>
              </a:r>
              <a:endParaRPr lang="en-US" dirty="0">
                <a:latin typeface="Times New Roman" pitchFamily="18" charset="0"/>
                <a:cs typeface="Times New Roman" pitchFamily="18" charset="0"/>
              </a:endParaRPr>
            </a:p>
          </p:txBody>
        </p:sp>
      </p:grpSp>
      <p:grpSp>
        <p:nvGrpSpPr>
          <p:cNvPr id="14" name="Group 13"/>
          <p:cNvGrpSpPr/>
          <p:nvPr/>
        </p:nvGrpSpPr>
        <p:grpSpPr>
          <a:xfrm>
            <a:off x="5257800" y="4114800"/>
            <a:ext cx="3448120" cy="1804939"/>
            <a:chOff x="5537200" y="3745992"/>
            <a:chExt cx="3448120" cy="1804939"/>
          </a:xfrm>
        </p:grpSpPr>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76881" y="3745992"/>
              <a:ext cx="2171838" cy="1112442"/>
            </a:xfrm>
            <a:prstGeom prst="rect">
              <a:avLst/>
            </a:prstGeom>
          </p:spPr>
        </p:pic>
        <p:sp>
          <p:nvSpPr>
            <p:cNvPr id="16" name="TextBox 15"/>
            <p:cNvSpPr txBox="1"/>
            <p:nvPr/>
          </p:nvSpPr>
          <p:spPr>
            <a:xfrm>
              <a:off x="5537200" y="4904600"/>
              <a:ext cx="3448120" cy="646331"/>
            </a:xfrm>
            <a:prstGeom prst="rect">
              <a:avLst/>
            </a:prstGeom>
            <a:noFill/>
          </p:spPr>
          <p:txBody>
            <a:bodyPr wrap="square" rtlCol="0">
              <a:spAutoFit/>
            </a:bodyPr>
            <a:lstStyle/>
            <a:p>
              <a:pPr algn="ctr"/>
              <a:r>
                <a:rPr lang="en-US" b="1" dirty="0" smtClean="0">
                  <a:latin typeface="Times New Roman" pitchFamily="18" charset="0"/>
                  <a:cs typeface="Times New Roman" pitchFamily="18" charset="0"/>
                </a:rPr>
                <a:t>603 A</a:t>
              </a:r>
            </a:p>
            <a:p>
              <a:pPr algn="ctr"/>
              <a:r>
                <a:rPr lang="en-US" dirty="0" smtClean="0">
                  <a:latin typeface="Times New Roman" pitchFamily="18" charset="0"/>
                  <a:cs typeface="Times New Roman" pitchFamily="18" charset="0"/>
                </a:rPr>
                <a:t>Security of Personal Information</a:t>
              </a:r>
              <a:endParaRPr lang="en-US" dirty="0">
                <a:latin typeface="Times New Roman" pitchFamily="18" charset="0"/>
                <a:cs typeface="Times New Roman" pitchFamily="18" charset="0"/>
              </a:endParaRPr>
            </a:p>
          </p:txBody>
        </p:sp>
      </p:grpSp>
      <p:grpSp>
        <p:nvGrpSpPr>
          <p:cNvPr id="17" name="Group 16"/>
          <p:cNvGrpSpPr/>
          <p:nvPr/>
        </p:nvGrpSpPr>
        <p:grpSpPr>
          <a:xfrm>
            <a:off x="304800" y="2081323"/>
            <a:ext cx="1866900" cy="2007631"/>
            <a:chOff x="3480816" y="2171701"/>
            <a:chExt cx="1866900" cy="2007631"/>
          </a:xfrm>
        </p:grpSpPr>
        <p:pic>
          <p:nvPicPr>
            <p:cNvPr id="15" name="Picture 1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80816" y="2171701"/>
              <a:ext cx="1866900" cy="1579684"/>
            </a:xfrm>
            <a:prstGeom prst="rect">
              <a:avLst/>
            </a:prstGeom>
          </p:spPr>
        </p:pic>
        <p:sp>
          <p:nvSpPr>
            <p:cNvPr id="19" name="TextBox 18"/>
            <p:cNvSpPr txBox="1"/>
            <p:nvPr/>
          </p:nvSpPr>
          <p:spPr>
            <a:xfrm>
              <a:off x="3559013" y="3810000"/>
              <a:ext cx="1690185" cy="369332"/>
            </a:xfrm>
            <a:prstGeom prst="rect">
              <a:avLst/>
            </a:prstGeom>
            <a:noFill/>
          </p:spPr>
          <p:txBody>
            <a:bodyPr wrap="square" rtlCol="0">
              <a:spAutoFit/>
            </a:bodyPr>
            <a:lstStyle/>
            <a:p>
              <a:pPr algn="ctr"/>
              <a:r>
                <a:rPr lang="en-US" b="1" dirty="0" smtClean="0">
                  <a:latin typeface="Times New Roman" pitchFamily="18" charset="0"/>
                  <a:cs typeface="Times New Roman" pitchFamily="18" charset="0"/>
                </a:rPr>
                <a:t>HIPAA</a:t>
              </a:r>
              <a:endParaRPr lang="en-US" dirty="0">
                <a:latin typeface="Times New Roman" pitchFamily="18" charset="0"/>
                <a:cs typeface="Times New Roman" pitchFamily="18" charset="0"/>
              </a:endParaRPr>
            </a:p>
          </p:txBody>
        </p:sp>
      </p:grpSp>
      <p:sp>
        <p:nvSpPr>
          <p:cNvPr id="18" name="TextBox 17"/>
          <p:cNvSpPr txBox="1"/>
          <p:nvPr/>
        </p:nvSpPr>
        <p:spPr>
          <a:xfrm>
            <a:off x="2661920" y="2642404"/>
            <a:ext cx="3722578" cy="1077218"/>
          </a:xfrm>
          <a:prstGeom prst="rect">
            <a:avLst/>
          </a:prstGeom>
          <a:noFill/>
        </p:spPr>
        <p:txBody>
          <a:bodyPr wrap="square" rtlCol="0">
            <a:spAutoFit/>
          </a:bodyPr>
          <a:lstStyle/>
          <a:p>
            <a:pPr algn="ctr"/>
            <a:r>
              <a:rPr lang="en-US" sz="3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itchFamily="18" charset="0"/>
                <a:cs typeface="Times New Roman" pitchFamily="18" charset="0"/>
              </a:rPr>
              <a:t>SECURITY REQUIREMENTS</a:t>
            </a:r>
            <a:endParaRPr lang="en-US" sz="32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itchFamily="18" charset="0"/>
              <a:cs typeface="Times New Roman" pitchFamily="18" charset="0"/>
            </a:endParaRPr>
          </a:p>
        </p:txBody>
      </p:sp>
    </p:spTree>
  </p:cSld>
  <p:clrMapOvr>
    <a:masterClrMapping/>
  </p:clrMapOvr>
  <p:transition advClick="0" advTm="20000"/>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61168319"/>
              </p:ext>
            </p:extLst>
          </p:nvPr>
        </p:nvGraphicFramePr>
        <p:xfrm>
          <a:off x="762000" y="1676400"/>
          <a:ext cx="7772400" cy="3384743"/>
        </p:xfrm>
        <a:graphic>
          <a:graphicData uri="http://schemas.openxmlformats.org/drawingml/2006/table">
            <a:tbl>
              <a:tblPr firstRow="1" bandRow="1">
                <a:tableStyleId>{5C22544A-7EE6-4342-B048-85BDC9FD1C3A}</a:tableStyleId>
              </a:tblPr>
              <a:tblGrid>
                <a:gridCol w="7772400"/>
              </a:tblGrid>
              <a:tr h="732983">
                <a:tc>
                  <a:txBody>
                    <a:bodyPr/>
                    <a:lstStyle/>
                    <a:p>
                      <a:pPr algn="ctr"/>
                      <a:r>
                        <a:rPr lang="en-US" sz="2800" b="1" dirty="0" smtClean="0">
                          <a:solidFill>
                            <a:schemeClr val="tx1"/>
                          </a:solidFill>
                          <a:latin typeface="Times New Roman" pitchFamily="18" charset="0"/>
                          <a:cs typeface="Times New Roman" pitchFamily="18" charset="0"/>
                        </a:rPr>
                        <a:t>PCI - Data Security Standard</a:t>
                      </a:r>
                    </a:p>
                  </a:txBody>
                  <a:tcPr/>
                </a:tc>
              </a:tr>
              <a:tr h="732983">
                <a:tc>
                  <a:txBody>
                    <a:bodyPr/>
                    <a:lstStyle/>
                    <a:p>
                      <a:r>
                        <a:rPr lang="en-US" sz="2800" b="0" i="0" u="none" strike="noStrike" kern="1200" baseline="0" dirty="0" smtClean="0">
                          <a:solidFill>
                            <a:schemeClr val="dk1"/>
                          </a:solidFill>
                          <a:latin typeface="Times New Roman" pitchFamily="18" charset="0"/>
                          <a:ea typeface="+mn-ea"/>
                          <a:cs typeface="Times New Roman" pitchFamily="18" charset="0"/>
                        </a:rPr>
                        <a:t>3.1.1 Implement data retention and disposal</a:t>
                      </a:r>
                    </a:p>
                    <a:p>
                      <a:r>
                        <a:rPr lang="en-US" sz="2800" b="0" i="0" u="none" strike="noStrike" kern="1200" baseline="0" dirty="0" smtClean="0">
                          <a:solidFill>
                            <a:schemeClr val="dk1"/>
                          </a:solidFill>
                          <a:latin typeface="Times New Roman" pitchFamily="18" charset="0"/>
                          <a:ea typeface="+mn-ea"/>
                          <a:cs typeface="Times New Roman" pitchFamily="18" charset="0"/>
                        </a:rPr>
                        <a:t>policy that includes:</a:t>
                      </a:r>
                    </a:p>
                    <a:p>
                      <a:pPr marL="457200" indent="-457200">
                        <a:buFont typeface="Arial" pitchFamily="34" charset="0"/>
                        <a:buChar char="•"/>
                      </a:pPr>
                      <a:r>
                        <a:rPr lang="en-US" sz="2800" b="0" i="0" u="none" strike="noStrike" kern="1200" baseline="0" dirty="0" smtClean="0">
                          <a:solidFill>
                            <a:schemeClr val="dk1"/>
                          </a:solidFill>
                          <a:latin typeface="Times New Roman" pitchFamily="18" charset="0"/>
                          <a:ea typeface="+mn-ea"/>
                          <a:cs typeface="Times New Roman" pitchFamily="18" charset="0"/>
                        </a:rPr>
                        <a:t>Limiting data storage </a:t>
                      </a:r>
                    </a:p>
                    <a:p>
                      <a:pPr marL="457200" indent="-457200">
                        <a:buFont typeface="Arial" pitchFamily="34" charset="0"/>
                        <a:buChar char="•"/>
                      </a:pPr>
                      <a:r>
                        <a:rPr lang="en-US" sz="2800" b="0" i="0" u="none" strike="noStrike" kern="1200" baseline="0" dirty="0" smtClean="0">
                          <a:solidFill>
                            <a:schemeClr val="dk1"/>
                          </a:solidFill>
                          <a:latin typeface="Times New Roman" pitchFamily="18" charset="0"/>
                          <a:ea typeface="+mn-ea"/>
                          <a:cs typeface="Times New Roman" pitchFamily="18" charset="0"/>
                        </a:rPr>
                        <a:t>Processes for secure deletion of data</a:t>
                      </a:r>
                    </a:p>
                    <a:p>
                      <a:pPr marL="457200" indent="-457200">
                        <a:buFont typeface="Arial" pitchFamily="34" charset="0"/>
                        <a:buChar char="•"/>
                      </a:pPr>
                      <a:r>
                        <a:rPr lang="en-US" sz="2800" b="0" i="0" u="none" strike="noStrike" kern="1200" baseline="0" dirty="0" smtClean="0">
                          <a:solidFill>
                            <a:schemeClr val="dk1"/>
                          </a:solidFill>
                          <a:latin typeface="Times New Roman" pitchFamily="18" charset="0"/>
                          <a:ea typeface="+mn-ea"/>
                          <a:cs typeface="Times New Roman" pitchFamily="18" charset="0"/>
                        </a:rPr>
                        <a:t>Specific retention requirements</a:t>
                      </a:r>
                    </a:p>
                    <a:p>
                      <a:pPr marL="457200" indent="-457200">
                        <a:buFont typeface="Arial" pitchFamily="34" charset="0"/>
                        <a:buChar char="•"/>
                      </a:pPr>
                      <a:r>
                        <a:rPr lang="en-US" sz="2800" b="0" i="0" u="none" strike="noStrike" kern="1200" baseline="0" dirty="0" smtClean="0">
                          <a:solidFill>
                            <a:schemeClr val="dk1"/>
                          </a:solidFill>
                          <a:latin typeface="Times New Roman" pitchFamily="18" charset="0"/>
                          <a:ea typeface="+mn-ea"/>
                          <a:cs typeface="Times New Roman" pitchFamily="18" charset="0"/>
                        </a:rPr>
                        <a:t>…</a:t>
                      </a:r>
                    </a:p>
                  </a:txBody>
                  <a:tcPr/>
                </a:tc>
              </a:tr>
            </a:tbl>
          </a:graphicData>
        </a:graphic>
      </p:graphicFrame>
      <p:sp>
        <p:nvSpPr>
          <p:cNvPr id="6" name="Title 5"/>
          <p:cNvSpPr>
            <a:spLocks noGrp="1"/>
          </p:cNvSpPr>
          <p:nvPr>
            <p:ph type="title"/>
          </p:nvPr>
        </p:nvSpPr>
        <p:spPr/>
        <p:txBody>
          <a:bodyPr/>
          <a:lstStyle/>
          <a:p>
            <a:r>
              <a:rPr lang="en-US" dirty="0"/>
              <a:t>Identifying </a:t>
            </a:r>
            <a:r>
              <a:rPr lang="en-US" dirty="0" smtClean="0"/>
              <a:t>requirements is </a:t>
            </a:r>
            <a:r>
              <a:rPr lang="en-US" dirty="0"/>
              <a:t>difficult</a:t>
            </a:r>
          </a:p>
        </p:txBody>
      </p:sp>
    </p:spTree>
    <p:extLst>
      <p:ext uri="{BB962C8B-B14F-4D97-AF65-F5344CB8AC3E}">
        <p14:creationId xmlns:p14="http://schemas.microsoft.com/office/powerpoint/2010/main" val="1597676768"/>
      </p:ext>
    </p:extLst>
  </p:cSld>
  <p:clrMapOvr>
    <a:masterClrMapping/>
  </p:clrMapOvr>
  <p:transition advClick="0" advTm="20000"/>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546997078"/>
              </p:ext>
            </p:extLst>
          </p:nvPr>
        </p:nvGraphicFramePr>
        <p:xfrm>
          <a:off x="838200" y="1524001"/>
          <a:ext cx="7848600" cy="4229003"/>
        </p:xfrm>
        <a:graphic>
          <a:graphicData uri="http://schemas.openxmlformats.org/drawingml/2006/table">
            <a:tbl>
              <a:tblPr firstRow="1" bandRow="1">
                <a:tableStyleId>{5C22544A-7EE6-4342-B048-85BDC9FD1C3A}</a:tableStyleId>
              </a:tblPr>
              <a:tblGrid>
                <a:gridCol w="7848600"/>
              </a:tblGrid>
              <a:tr h="436701">
                <a:tc>
                  <a:txBody>
                    <a:bodyPr/>
                    <a:lstStyle/>
                    <a:p>
                      <a:r>
                        <a:rPr lang="en-US" sz="2800" b="1" dirty="0" smtClean="0">
                          <a:solidFill>
                            <a:schemeClr val="tx1"/>
                          </a:solidFill>
                          <a:latin typeface="Times New Roman" pitchFamily="18" charset="0"/>
                          <a:cs typeface="Times New Roman" pitchFamily="18" charset="0"/>
                        </a:rPr>
                        <a:t>Pattern Name</a:t>
                      </a:r>
                      <a:r>
                        <a:rPr lang="en-US" sz="2800" b="0" dirty="0" smtClean="0">
                          <a:solidFill>
                            <a:schemeClr val="tx1"/>
                          </a:solidFill>
                          <a:latin typeface="Times New Roman" pitchFamily="18" charset="0"/>
                          <a:cs typeface="Times New Roman" pitchFamily="18" charset="0"/>
                        </a:rPr>
                        <a:t>:  Retention and Disposal Pattern</a:t>
                      </a:r>
                      <a:endParaRPr lang="en-US" sz="2800" b="0" dirty="0">
                        <a:solidFill>
                          <a:schemeClr val="tx1"/>
                        </a:solidFill>
                        <a:latin typeface="Times New Roman" pitchFamily="18" charset="0"/>
                        <a:cs typeface="Times New Roman" pitchFamily="18" charset="0"/>
                      </a:endParaRPr>
                    </a:p>
                  </a:txBody>
                  <a:tcPr marB="274320"/>
                </a:tc>
              </a:tr>
              <a:tr h="385325">
                <a:tc>
                  <a:txBody>
                    <a:bodyPr/>
                    <a:lstStyle/>
                    <a:p>
                      <a:r>
                        <a:rPr lang="en-US" sz="2400" b="1" i="0" u="none" strike="noStrike" kern="1200" baseline="0" dirty="0" smtClean="0">
                          <a:solidFill>
                            <a:schemeClr val="dk1"/>
                          </a:solidFill>
                          <a:latin typeface="Times New Roman" pitchFamily="18" charset="0"/>
                          <a:ea typeface="+mn-ea"/>
                          <a:cs typeface="Times New Roman" pitchFamily="18" charset="0"/>
                        </a:rPr>
                        <a:t>Pattern Activation</a:t>
                      </a:r>
                      <a:r>
                        <a:rPr lang="en-US" sz="2400" b="0" i="0" u="none" strike="noStrike" kern="1200" baseline="0" dirty="0" smtClean="0">
                          <a:solidFill>
                            <a:schemeClr val="dk1"/>
                          </a:solidFill>
                          <a:latin typeface="Times New Roman" pitchFamily="18" charset="0"/>
                          <a:ea typeface="+mn-ea"/>
                          <a:cs typeface="Times New Roman" pitchFamily="18" charset="0"/>
                        </a:rPr>
                        <a:t>:</a:t>
                      </a:r>
                      <a:endParaRPr lang="en-US" sz="2400" b="0" dirty="0">
                        <a:latin typeface="Times New Roman" pitchFamily="18" charset="0"/>
                        <a:cs typeface="Times New Roman" pitchFamily="18" charset="0"/>
                      </a:endParaRPr>
                    </a:p>
                  </a:txBody>
                  <a:tcPr marB="274320"/>
                </a:tc>
              </a:tr>
              <a:tr h="385325">
                <a:tc>
                  <a:txBody>
                    <a:bodyPr/>
                    <a:lstStyle/>
                    <a:p>
                      <a:r>
                        <a:rPr lang="en-US" sz="2400" b="1" i="0" u="none" strike="noStrike" kern="1200" baseline="0" dirty="0" smtClean="0">
                          <a:solidFill>
                            <a:schemeClr val="dk1"/>
                          </a:solidFill>
                          <a:latin typeface="Times New Roman" pitchFamily="18" charset="0"/>
                          <a:ea typeface="+mn-ea"/>
                          <a:cs typeface="Times New Roman" pitchFamily="18" charset="0"/>
                        </a:rPr>
                        <a:t>Pattern Triggers</a:t>
                      </a:r>
                      <a:r>
                        <a:rPr lang="en-US" sz="2400" b="0" i="0" u="none" strike="noStrike" kern="1200" baseline="0" dirty="0" smtClean="0">
                          <a:solidFill>
                            <a:schemeClr val="dk1"/>
                          </a:solidFill>
                          <a:latin typeface="Times New Roman" pitchFamily="18" charset="0"/>
                          <a:ea typeface="+mn-ea"/>
                          <a:cs typeface="Times New Roman" pitchFamily="18" charset="0"/>
                        </a:rPr>
                        <a:t>:</a:t>
                      </a:r>
                    </a:p>
                    <a:p>
                      <a:pPr marL="800100" lvl="1" indent="-342900">
                        <a:buFont typeface="Arial"/>
                        <a:buChar char="•"/>
                      </a:pPr>
                      <a:endParaRPr lang="en-US" sz="2400" b="0" i="0" u="none" strike="noStrike" kern="1200" baseline="0" dirty="0" smtClean="0">
                        <a:solidFill>
                          <a:schemeClr val="dk1"/>
                        </a:solidFill>
                        <a:latin typeface="Times New Roman" pitchFamily="18" charset="0"/>
                        <a:ea typeface="+mn-ea"/>
                        <a:cs typeface="Times New Roman" pitchFamily="18" charset="0"/>
                      </a:endParaRPr>
                    </a:p>
                    <a:p>
                      <a:pPr marL="800100" lvl="1" indent="-342900">
                        <a:buFont typeface="Arial"/>
                        <a:buChar char="•"/>
                      </a:pPr>
                      <a:endParaRPr lang="en-US" sz="2400" b="0" i="0" u="none" strike="noStrike" kern="1200" baseline="0" dirty="0" smtClean="0">
                        <a:solidFill>
                          <a:schemeClr val="dk1"/>
                        </a:solidFill>
                        <a:latin typeface="Times New Roman" pitchFamily="18" charset="0"/>
                        <a:ea typeface="+mn-ea"/>
                        <a:cs typeface="Times New Roman" pitchFamily="18" charset="0"/>
                      </a:endParaRPr>
                    </a:p>
                  </a:txBody>
                  <a:tcPr marB="274320"/>
                </a:tc>
              </a:tr>
              <a:tr h="385325">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400" b="1" i="0" u="none" strike="noStrike" kern="1200" baseline="0" dirty="0" smtClean="0">
                          <a:solidFill>
                            <a:schemeClr val="dk1"/>
                          </a:solidFill>
                          <a:latin typeface="Times New Roman" pitchFamily="18" charset="0"/>
                          <a:ea typeface="+mn-ea"/>
                          <a:cs typeface="Times New Roman" pitchFamily="18" charset="0"/>
                        </a:rPr>
                        <a:t>Pattern Outcomes</a:t>
                      </a:r>
                      <a:r>
                        <a:rPr lang="en-US" sz="2400" b="0" i="0" u="none" strike="noStrike" kern="1200" baseline="0" dirty="0" smtClean="0">
                          <a:solidFill>
                            <a:schemeClr val="dk1"/>
                          </a:solidFill>
                          <a:latin typeface="Times New Roman" pitchFamily="18" charset="0"/>
                          <a:ea typeface="+mn-ea"/>
                          <a:cs typeface="Times New Roman" pitchFamily="18" charset="0"/>
                        </a:rPr>
                        <a:t>:</a:t>
                      </a:r>
                      <a:endParaRPr lang="en-US" sz="2400" b="0" dirty="0" smtClean="0">
                        <a:latin typeface="Times New Roman" pitchFamily="18" charset="0"/>
                        <a:cs typeface="Times New Roman" pitchFamily="18" charset="0"/>
                      </a:endParaRPr>
                    </a:p>
                  </a:txBody>
                  <a:tcPr marB="274320"/>
                </a:tc>
              </a:tr>
              <a:tr h="693323">
                <a:tc>
                  <a:txBody>
                    <a:bodyPr/>
                    <a:lstStyle/>
                    <a:p>
                      <a:endParaRPr lang="en-US" sz="2400" b="0" i="0" u="none" strike="noStrike" kern="1200" baseline="0" dirty="0" smtClean="0">
                        <a:solidFill>
                          <a:schemeClr val="dk1"/>
                        </a:solidFill>
                        <a:latin typeface="Times New Roman" pitchFamily="18" charset="0"/>
                        <a:ea typeface="+mn-ea"/>
                        <a:cs typeface="Times New Roman" pitchFamily="18" charset="0"/>
                      </a:endParaRPr>
                    </a:p>
                  </a:txBody>
                  <a:tcPr marB="182880"/>
                </a:tc>
              </a:tr>
            </a:tbl>
          </a:graphicData>
        </a:graphic>
      </p:graphicFrame>
      <p:sp>
        <p:nvSpPr>
          <p:cNvPr id="3" name="Title 2"/>
          <p:cNvSpPr>
            <a:spLocks noGrp="1"/>
          </p:cNvSpPr>
          <p:nvPr>
            <p:ph type="title"/>
          </p:nvPr>
        </p:nvSpPr>
        <p:spPr/>
        <p:txBody>
          <a:bodyPr/>
          <a:lstStyle/>
          <a:p>
            <a:r>
              <a:rPr lang="en-US" dirty="0"/>
              <a:t>Patterns provide better cues</a:t>
            </a:r>
          </a:p>
        </p:txBody>
      </p:sp>
    </p:spTree>
    <p:extLst>
      <p:ext uri="{BB962C8B-B14F-4D97-AF65-F5344CB8AC3E}">
        <p14:creationId xmlns:p14="http://schemas.microsoft.com/office/powerpoint/2010/main" val="4208478466"/>
      </p:ext>
    </p:extLst>
  </p:cSld>
  <p:clrMapOvr>
    <a:masterClrMapping/>
  </p:clrMapOvr>
  <p:transition advClick="0" advTm="20000"/>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54869250"/>
              </p:ext>
            </p:extLst>
          </p:nvPr>
        </p:nvGraphicFramePr>
        <p:xfrm>
          <a:off x="838200" y="1524000"/>
          <a:ext cx="7848600" cy="3458559"/>
        </p:xfrm>
        <a:graphic>
          <a:graphicData uri="http://schemas.openxmlformats.org/drawingml/2006/table">
            <a:tbl>
              <a:tblPr firstRow="1" bandRow="1">
                <a:tableStyleId>{5C22544A-7EE6-4342-B048-85BDC9FD1C3A}</a:tableStyleId>
              </a:tblPr>
              <a:tblGrid>
                <a:gridCol w="7848600"/>
              </a:tblGrid>
              <a:tr h="715945">
                <a:tc>
                  <a:txBody>
                    <a:bodyPr/>
                    <a:lstStyle/>
                    <a:p>
                      <a:r>
                        <a:rPr lang="en-US" sz="2800" b="1" dirty="0" smtClean="0">
                          <a:solidFill>
                            <a:schemeClr val="tx1"/>
                          </a:solidFill>
                          <a:latin typeface="Times New Roman" pitchFamily="18" charset="0"/>
                          <a:cs typeface="Times New Roman" pitchFamily="18" charset="0"/>
                        </a:rPr>
                        <a:t>Pattern Name</a:t>
                      </a:r>
                      <a:r>
                        <a:rPr lang="en-US" sz="2800" b="0" dirty="0" smtClean="0">
                          <a:solidFill>
                            <a:schemeClr val="tx1"/>
                          </a:solidFill>
                          <a:latin typeface="Times New Roman" pitchFamily="18" charset="0"/>
                          <a:cs typeface="Times New Roman" pitchFamily="18" charset="0"/>
                        </a:rPr>
                        <a:t>:  Retention and Disposal Pattern</a:t>
                      </a:r>
                      <a:endParaRPr lang="en-US" sz="2800" b="0" dirty="0">
                        <a:solidFill>
                          <a:schemeClr val="tx1"/>
                        </a:solidFill>
                        <a:latin typeface="Times New Roman" pitchFamily="18" charset="0"/>
                        <a:cs typeface="Times New Roman" pitchFamily="18" charset="0"/>
                      </a:endParaRPr>
                    </a:p>
                  </a:txBody>
                  <a:tcPr marB="274320"/>
                </a:tc>
              </a:tr>
              <a:tr h="458456">
                <a:tc>
                  <a:txBody>
                    <a:bodyPr/>
                    <a:lstStyle/>
                    <a:p>
                      <a:r>
                        <a:rPr lang="en-US" sz="2400" b="1" i="0" u="none" strike="noStrike" kern="1200" baseline="0" dirty="0" smtClean="0">
                          <a:solidFill>
                            <a:schemeClr val="dk1"/>
                          </a:solidFill>
                          <a:latin typeface="Times New Roman" pitchFamily="18" charset="0"/>
                          <a:ea typeface="+mn-ea"/>
                          <a:cs typeface="Times New Roman" pitchFamily="18" charset="0"/>
                        </a:rPr>
                        <a:t>Pattern</a:t>
                      </a:r>
                      <a:r>
                        <a:rPr lang="en-US" sz="2400" b="0" i="0" u="none" strike="noStrike" kern="1200" baseline="0" dirty="0" smtClean="0">
                          <a:solidFill>
                            <a:schemeClr val="dk1"/>
                          </a:solidFill>
                          <a:latin typeface="Times New Roman" pitchFamily="18" charset="0"/>
                          <a:ea typeface="+mn-ea"/>
                          <a:cs typeface="Times New Roman" pitchFamily="18" charset="0"/>
                        </a:rPr>
                        <a:t> </a:t>
                      </a:r>
                      <a:r>
                        <a:rPr lang="en-US" sz="2400" b="1" i="0" u="none" strike="noStrike" kern="1200" baseline="0" dirty="0" smtClean="0">
                          <a:solidFill>
                            <a:schemeClr val="dk1"/>
                          </a:solidFill>
                          <a:latin typeface="Times New Roman" pitchFamily="18" charset="0"/>
                          <a:ea typeface="+mn-ea"/>
                          <a:cs typeface="Times New Roman" pitchFamily="18" charset="0"/>
                        </a:rPr>
                        <a:t>Activation</a:t>
                      </a:r>
                      <a:r>
                        <a:rPr lang="en-US" sz="2400" b="0" i="0" u="none" strike="noStrike" kern="1200" baseline="0" dirty="0" smtClean="0">
                          <a:solidFill>
                            <a:schemeClr val="dk1"/>
                          </a:solidFill>
                          <a:latin typeface="Times New Roman" pitchFamily="18" charset="0"/>
                          <a:ea typeface="+mn-ea"/>
                          <a:cs typeface="Times New Roman" pitchFamily="18" charset="0"/>
                        </a:rPr>
                        <a:t>:</a:t>
                      </a:r>
                      <a:r>
                        <a:rPr lang="en-US" sz="2400" b="1" i="0" u="none" strike="noStrike" kern="1200" baseline="0" dirty="0" smtClean="0">
                          <a:solidFill>
                            <a:schemeClr val="dk1"/>
                          </a:solidFill>
                          <a:latin typeface="Times New Roman" pitchFamily="18" charset="0"/>
                          <a:ea typeface="+mn-ea"/>
                          <a:cs typeface="Times New Roman" pitchFamily="18" charset="0"/>
                        </a:rPr>
                        <a:t> </a:t>
                      </a:r>
                      <a:r>
                        <a:rPr lang="en-US" sz="2400" b="0" i="0" u="none" strike="noStrike" kern="1200" baseline="0" dirty="0" smtClean="0">
                          <a:solidFill>
                            <a:schemeClr val="dk1"/>
                          </a:solidFill>
                          <a:latin typeface="Times New Roman" pitchFamily="18" charset="0"/>
                          <a:ea typeface="+mn-ea"/>
                          <a:cs typeface="Times New Roman" pitchFamily="18" charset="0"/>
                        </a:rPr>
                        <a:t>Data is received, stored or processed</a:t>
                      </a:r>
                      <a:endParaRPr lang="en-US" sz="2400" b="0" dirty="0">
                        <a:latin typeface="Times New Roman" pitchFamily="18" charset="0"/>
                        <a:cs typeface="Times New Roman" pitchFamily="18" charset="0"/>
                      </a:endParaRPr>
                    </a:p>
                  </a:txBody>
                  <a:tcPr marB="274320"/>
                </a:tc>
              </a:tr>
              <a:tr h="458456">
                <a:tc>
                  <a:txBody>
                    <a:bodyPr/>
                    <a:lstStyle/>
                    <a:p>
                      <a:r>
                        <a:rPr lang="en-US" sz="2400" b="1" i="0" u="none" strike="noStrike" kern="1200" baseline="0" dirty="0" smtClean="0">
                          <a:solidFill>
                            <a:schemeClr val="dk1"/>
                          </a:solidFill>
                          <a:latin typeface="Times New Roman" pitchFamily="18" charset="0"/>
                          <a:ea typeface="+mn-ea"/>
                          <a:cs typeface="Times New Roman" pitchFamily="18" charset="0"/>
                        </a:rPr>
                        <a:t>Pattern</a:t>
                      </a:r>
                      <a:r>
                        <a:rPr lang="en-US" sz="2400" b="0" i="0" u="none" strike="noStrike" kern="1200" baseline="0" dirty="0" smtClean="0">
                          <a:solidFill>
                            <a:schemeClr val="dk1"/>
                          </a:solidFill>
                          <a:latin typeface="Times New Roman" pitchFamily="18" charset="0"/>
                          <a:ea typeface="+mn-ea"/>
                          <a:cs typeface="Times New Roman" pitchFamily="18" charset="0"/>
                        </a:rPr>
                        <a:t> </a:t>
                      </a:r>
                      <a:r>
                        <a:rPr lang="en-US" sz="2400" b="1" i="0" u="none" strike="noStrike" kern="1200" baseline="0" dirty="0" smtClean="0">
                          <a:solidFill>
                            <a:schemeClr val="dk1"/>
                          </a:solidFill>
                          <a:latin typeface="Times New Roman" pitchFamily="18" charset="0"/>
                          <a:ea typeface="+mn-ea"/>
                          <a:cs typeface="Times New Roman" pitchFamily="18" charset="0"/>
                        </a:rPr>
                        <a:t>Triggers</a:t>
                      </a:r>
                      <a:r>
                        <a:rPr lang="en-US" sz="2400" b="0" i="0" u="none" strike="noStrike" kern="1200" baseline="0" dirty="0" smtClean="0">
                          <a:solidFill>
                            <a:schemeClr val="dk1"/>
                          </a:solidFill>
                          <a:latin typeface="Times New Roman" pitchFamily="18" charset="0"/>
                          <a:ea typeface="+mn-ea"/>
                          <a:cs typeface="Times New Roman" pitchFamily="18" charset="0"/>
                        </a:rPr>
                        <a:t>:</a:t>
                      </a:r>
                    </a:p>
                    <a:p>
                      <a:pPr marL="742950" lvl="1" indent="-285750">
                        <a:buFont typeface="Arial" pitchFamily="34" charset="0"/>
                        <a:buChar char="•"/>
                      </a:pPr>
                      <a:r>
                        <a:rPr lang="en-US" sz="2400" b="0" dirty="0" smtClean="0">
                          <a:latin typeface="Times New Roman" pitchFamily="18" charset="0"/>
                          <a:cs typeface="Times New Roman" pitchFamily="18" charset="0"/>
                        </a:rPr>
                        <a:t>Data is</a:t>
                      </a:r>
                      <a:r>
                        <a:rPr lang="en-US" sz="2400" b="0" baseline="0" dirty="0" smtClean="0">
                          <a:latin typeface="Times New Roman" pitchFamily="18" charset="0"/>
                          <a:cs typeface="Times New Roman" pitchFamily="18" charset="0"/>
                        </a:rPr>
                        <a:t> </a:t>
                      </a:r>
                      <a:r>
                        <a:rPr lang="en-US" sz="2400" b="0" dirty="0" smtClean="0">
                          <a:latin typeface="Times New Roman" pitchFamily="18" charset="0"/>
                          <a:cs typeface="Times New Roman" pitchFamily="18" charset="0"/>
                        </a:rPr>
                        <a:t>no</a:t>
                      </a:r>
                      <a:r>
                        <a:rPr lang="en-US" sz="2400" b="0" baseline="0" dirty="0" smtClean="0">
                          <a:latin typeface="Times New Roman" pitchFamily="18" charset="0"/>
                          <a:cs typeface="Times New Roman" pitchFamily="18" charset="0"/>
                        </a:rPr>
                        <a:t> </a:t>
                      </a:r>
                      <a:r>
                        <a:rPr lang="en-US" sz="2400" b="0" dirty="0" smtClean="0">
                          <a:latin typeface="Times New Roman" pitchFamily="18" charset="0"/>
                          <a:cs typeface="Times New Roman" pitchFamily="18" charset="0"/>
                        </a:rPr>
                        <a:t>longer</a:t>
                      </a:r>
                      <a:r>
                        <a:rPr lang="en-US" sz="2400" b="0" baseline="0" dirty="0" smtClean="0">
                          <a:latin typeface="Times New Roman" pitchFamily="18" charset="0"/>
                          <a:cs typeface="Times New Roman" pitchFamily="18" charset="0"/>
                        </a:rPr>
                        <a:t> n</a:t>
                      </a:r>
                      <a:r>
                        <a:rPr lang="en-US" sz="2400" b="0" dirty="0" smtClean="0">
                          <a:latin typeface="Times New Roman" pitchFamily="18" charset="0"/>
                          <a:cs typeface="Times New Roman" pitchFamily="18" charset="0"/>
                        </a:rPr>
                        <a:t>eeded</a:t>
                      </a:r>
                    </a:p>
                    <a:p>
                      <a:pPr marL="742950" lvl="1" indent="-285750">
                        <a:buFont typeface="Arial" pitchFamily="34" charset="0"/>
                        <a:buChar char="•"/>
                      </a:pPr>
                      <a:r>
                        <a:rPr lang="en-US" sz="2400" b="0" i="0" u="none" strike="noStrike" kern="1200" baseline="0" dirty="0" smtClean="0">
                          <a:solidFill>
                            <a:schemeClr val="dk1"/>
                          </a:solidFill>
                          <a:latin typeface="Times New Roman" pitchFamily="18" charset="0"/>
                          <a:ea typeface="+mn-ea"/>
                          <a:cs typeface="Times New Roman" pitchFamily="18" charset="0"/>
                        </a:rPr>
                        <a:t>Digital access to the media will change</a:t>
                      </a:r>
                      <a:endParaRPr lang="en-US" sz="2400" dirty="0" smtClean="0">
                        <a:latin typeface="Times New Roman" pitchFamily="18" charset="0"/>
                        <a:cs typeface="Times New Roman" pitchFamily="18" charset="0"/>
                      </a:endParaRPr>
                    </a:p>
                  </a:txBody>
                  <a:tcPr marB="274320"/>
                </a:tc>
              </a:tr>
              <a:tr h="608679">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400" b="1" i="0" u="none" strike="noStrike" kern="1200" baseline="0" dirty="0" smtClean="0">
                          <a:solidFill>
                            <a:schemeClr val="dk1"/>
                          </a:solidFill>
                          <a:latin typeface="Times New Roman" pitchFamily="18" charset="0"/>
                          <a:ea typeface="+mn-ea"/>
                          <a:cs typeface="Times New Roman" pitchFamily="18" charset="0"/>
                        </a:rPr>
                        <a:t>Pattern</a:t>
                      </a:r>
                      <a:r>
                        <a:rPr lang="en-US" sz="2400" b="0" i="0" u="none" strike="noStrike" kern="1200" baseline="0" dirty="0" smtClean="0">
                          <a:solidFill>
                            <a:schemeClr val="dk1"/>
                          </a:solidFill>
                          <a:latin typeface="Times New Roman" pitchFamily="18" charset="0"/>
                          <a:ea typeface="+mn-ea"/>
                          <a:cs typeface="Times New Roman" pitchFamily="18" charset="0"/>
                        </a:rPr>
                        <a:t> </a:t>
                      </a:r>
                      <a:r>
                        <a:rPr lang="en-US" sz="2400" b="1" i="0" u="none" strike="noStrike" kern="1200" baseline="0" dirty="0" smtClean="0">
                          <a:solidFill>
                            <a:schemeClr val="dk1"/>
                          </a:solidFill>
                          <a:latin typeface="Times New Roman" pitchFamily="18" charset="0"/>
                          <a:ea typeface="+mn-ea"/>
                          <a:cs typeface="Times New Roman" pitchFamily="18" charset="0"/>
                        </a:rPr>
                        <a:t>Outcomes</a:t>
                      </a:r>
                      <a:r>
                        <a:rPr lang="en-US" sz="2400" b="0" i="0" u="none" strike="noStrike" kern="1200" baseline="0" dirty="0" smtClean="0">
                          <a:solidFill>
                            <a:schemeClr val="dk1"/>
                          </a:solidFill>
                          <a:latin typeface="Times New Roman" pitchFamily="18" charset="0"/>
                          <a:ea typeface="+mn-ea"/>
                          <a:cs typeface="Times New Roman" pitchFamily="18" charset="0"/>
                        </a:rPr>
                        <a:t>: Retain data; Dispose data</a:t>
                      </a:r>
                      <a:endParaRPr lang="en-US" sz="2400" b="0" dirty="0" smtClean="0">
                        <a:latin typeface="Times New Roman" pitchFamily="18" charset="0"/>
                        <a:cs typeface="Times New Roman" pitchFamily="18" charset="0"/>
                      </a:endParaRPr>
                    </a:p>
                  </a:txBody>
                  <a:tcPr marB="182880"/>
                </a:tc>
              </a:tr>
            </a:tbl>
          </a:graphicData>
        </a:graphic>
      </p:graphicFrame>
      <p:sp>
        <p:nvSpPr>
          <p:cNvPr id="3" name="Title 2"/>
          <p:cNvSpPr>
            <a:spLocks noGrp="1"/>
          </p:cNvSpPr>
          <p:nvPr>
            <p:ph type="title"/>
          </p:nvPr>
        </p:nvSpPr>
        <p:spPr/>
        <p:txBody>
          <a:bodyPr/>
          <a:lstStyle/>
          <a:p>
            <a:r>
              <a:rPr lang="en-US" dirty="0" smtClean="0"/>
              <a:t>Patterns improve comprehension</a:t>
            </a:r>
            <a:endParaRPr lang="en-US" dirty="0"/>
          </a:p>
        </p:txBody>
      </p:sp>
    </p:spTree>
    <p:extLst>
      <p:ext uri="{BB962C8B-B14F-4D97-AF65-F5344CB8AC3E}">
        <p14:creationId xmlns:p14="http://schemas.microsoft.com/office/powerpoint/2010/main" val="3915305612"/>
      </p:ext>
    </p:extLst>
  </p:cSld>
  <p:clrMapOvr>
    <a:masterClrMapping/>
  </p:clrMapOvr>
  <p:transition advClick="0" advTm="20000"/>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107532026"/>
              </p:ext>
            </p:extLst>
          </p:nvPr>
        </p:nvGraphicFramePr>
        <p:xfrm>
          <a:off x="838200" y="1524000"/>
          <a:ext cx="7848600" cy="4434840"/>
        </p:xfrm>
        <a:graphic>
          <a:graphicData uri="http://schemas.openxmlformats.org/drawingml/2006/table">
            <a:tbl>
              <a:tblPr firstRow="1" bandRow="1">
                <a:tableStyleId>{5C22544A-7EE6-4342-B048-85BDC9FD1C3A}</a:tableStyleId>
              </a:tblPr>
              <a:tblGrid>
                <a:gridCol w="7848600"/>
              </a:tblGrid>
              <a:tr h="715945">
                <a:tc>
                  <a:txBody>
                    <a:bodyPr/>
                    <a:lstStyle/>
                    <a:p>
                      <a:r>
                        <a:rPr lang="en-US" sz="2800" b="0" dirty="0" smtClean="0">
                          <a:solidFill>
                            <a:schemeClr val="tx1"/>
                          </a:solidFill>
                          <a:latin typeface="Times New Roman" pitchFamily="18" charset="0"/>
                          <a:cs typeface="Times New Roman" pitchFamily="18" charset="0"/>
                        </a:rPr>
                        <a:t>Pattern Name:  Retention and Disposal Pattern</a:t>
                      </a:r>
                      <a:endParaRPr lang="en-US" sz="2800" b="0" dirty="0">
                        <a:solidFill>
                          <a:schemeClr val="tx1"/>
                        </a:solidFill>
                        <a:latin typeface="Times New Roman" pitchFamily="18" charset="0"/>
                        <a:cs typeface="Times New Roman" pitchFamily="18" charset="0"/>
                      </a:endParaRPr>
                    </a:p>
                  </a:txBody>
                  <a:tcPr/>
                </a:tc>
              </a:tr>
              <a:tr h="458456">
                <a:tc>
                  <a:txBody>
                    <a:bodyPr/>
                    <a:lstStyle/>
                    <a:p>
                      <a:r>
                        <a:rPr lang="en-US" sz="1400" b="1" i="0" u="none" strike="noStrike" kern="1200" baseline="0" dirty="0" smtClean="0">
                          <a:solidFill>
                            <a:schemeClr val="dk1"/>
                          </a:solidFill>
                          <a:latin typeface="Times New Roman" pitchFamily="18" charset="0"/>
                          <a:ea typeface="+mn-ea"/>
                          <a:cs typeface="Times New Roman" pitchFamily="18" charset="0"/>
                        </a:rPr>
                        <a:t>Pattern Activation</a:t>
                      </a:r>
                      <a:r>
                        <a:rPr lang="en-US" sz="1400" b="0" i="0" u="none" strike="noStrike" kern="1200" baseline="0" dirty="0" smtClean="0">
                          <a:solidFill>
                            <a:schemeClr val="dk1"/>
                          </a:solidFill>
                          <a:latin typeface="Times New Roman" pitchFamily="18" charset="0"/>
                          <a:ea typeface="+mn-ea"/>
                          <a:cs typeface="Times New Roman" pitchFamily="18" charset="0"/>
                        </a:rPr>
                        <a:t>: Data is received, stored or processed</a:t>
                      </a:r>
                      <a:endParaRPr lang="en-US" sz="1400" dirty="0">
                        <a:latin typeface="Times New Roman" pitchFamily="18" charset="0"/>
                        <a:cs typeface="Times New Roman" pitchFamily="18" charset="0"/>
                      </a:endParaRPr>
                    </a:p>
                  </a:txBody>
                  <a:tcPr>
                    <a:solidFill>
                      <a:schemeClr val="bg1">
                        <a:lumMod val="75000"/>
                      </a:schemeClr>
                    </a:solidFill>
                  </a:tcPr>
                </a:tc>
              </a:tr>
              <a:tr h="458456">
                <a:tc>
                  <a:txBody>
                    <a:bodyPr/>
                    <a:lstStyle/>
                    <a:p>
                      <a:r>
                        <a:rPr lang="en-US" sz="1400" b="1" i="0" u="none" strike="noStrike" kern="1200" baseline="0" dirty="0" smtClean="0">
                          <a:solidFill>
                            <a:schemeClr val="dk1"/>
                          </a:solidFill>
                          <a:latin typeface="Times New Roman" pitchFamily="18" charset="0"/>
                          <a:ea typeface="+mn-ea"/>
                          <a:cs typeface="Times New Roman" pitchFamily="18" charset="0"/>
                        </a:rPr>
                        <a:t>Pattern Triggers</a:t>
                      </a:r>
                      <a:r>
                        <a:rPr lang="en-US" sz="1400" b="0" i="0" u="none" strike="noStrike" kern="1200" baseline="0" dirty="0" smtClean="0">
                          <a:solidFill>
                            <a:schemeClr val="dk1"/>
                          </a:solidFill>
                          <a:latin typeface="Times New Roman" pitchFamily="18" charset="0"/>
                          <a:ea typeface="+mn-ea"/>
                          <a:cs typeface="Times New Roman" pitchFamily="18" charset="0"/>
                        </a:rPr>
                        <a:t>:</a:t>
                      </a:r>
                    </a:p>
                    <a:p>
                      <a:pPr marL="742950" lvl="1" indent="-285750">
                        <a:buFont typeface="Arial" pitchFamily="34" charset="0"/>
                        <a:buChar char="•"/>
                      </a:pPr>
                      <a:r>
                        <a:rPr lang="en-US" sz="1400" dirty="0" smtClean="0">
                          <a:latin typeface="Times New Roman" pitchFamily="18" charset="0"/>
                          <a:cs typeface="Times New Roman" pitchFamily="18" charset="0"/>
                        </a:rPr>
                        <a:t>The data is</a:t>
                      </a:r>
                      <a:r>
                        <a:rPr lang="en-US" sz="1400" baseline="0" dirty="0" smtClean="0">
                          <a:latin typeface="Times New Roman" pitchFamily="18" charset="0"/>
                          <a:cs typeface="Times New Roman" pitchFamily="18" charset="0"/>
                        </a:rPr>
                        <a:t> </a:t>
                      </a:r>
                      <a:r>
                        <a:rPr lang="en-US" sz="1400" dirty="0" smtClean="0">
                          <a:latin typeface="Times New Roman" pitchFamily="18" charset="0"/>
                          <a:cs typeface="Times New Roman" pitchFamily="18" charset="0"/>
                        </a:rPr>
                        <a:t>no</a:t>
                      </a:r>
                      <a:r>
                        <a:rPr lang="en-US" sz="1400" baseline="0" dirty="0" smtClean="0">
                          <a:latin typeface="Times New Roman" pitchFamily="18" charset="0"/>
                          <a:cs typeface="Times New Roman" pitchFamily="18" charset="0"/>
                        </a:rPr>
                        <a:t> </a:t>
                      </a:r>
                      <a:r>
                        <a:rPr lang="en-US" sz="1400" dirty="0" smtClean="0">
                          <a:latin typeface="Times New Roman" pitchFamily="18" charset="0"/>
                          <a:cs typeface="Times New Roman" pitchFamily="18" charset="0"/>
                        </a:rPr>
                        <a:t>longer</a:t>
                      </a:r>
                      <a:r>
                        <a:rPr lang="en-US" sz="1400" baseline="0" dirty="0" smtClean="0">
                          <a:latin typeface="Times New Roman" pitchFamily="18" charset="0"/>
                          <a:cs typeface="Times New Roman" pitchFamily="18" charset="0"/>
                        </a:rPr>
                        <a:t> n</a:t>
                      </a:r>
                      <a:r>
                        <a:rPr lang="en-US" sz="1400" dirty="0" smtClean="0">
                          <a:latin typeface="Times New Roman" pitchFamily="18" charset="0"/>
                          <a:cs typeface="Times New Roman" pitchFamily="18" charset="0"/>
                        </a:rPr>
                        <a:t>eeded</a:t>
                      </a:r>
                    </a:p>
                    <a:p>
                      <a:pPr marL="742950" marR="0" lvl="1" indent="-2857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400" b="0" i="0" u="none" strike="noStrike" kern="1200" baseline="0" dirty="0" smtClean="0">
                          <a:solidFill>
                            <a:schemeClr val="dk1"/>
                          </a:solidFill>
                          <a:latin typeface="Times New Roman" pitchFamily="18" charset="0"/>
                          <a:ea typeface="+mn-ea"/>
                          <a:cs typeface="Times New Roman" pitchFamily="18" charset="0"/>
                        </a:rPr>
                        <a:t>Digital access to the media will change</a:t>
                      </a:r>
                      <a:endParaRPr lang="en-US" sz="1400" dirty="0" smtClean="0">
                        <a:latin typeface="Times New Roman" pitchFamily="18" charset="0"/>
                        <a:cs typeface="Times New Roman" pitchFamily="18" charset="0"/>
                      </a:endParaRPr>
                    </a:p>
                  </a:txBody>
                  <a:tcPr>
                    <a:solidFill>
                      <a:schemeClr val="bg1">
                        <a:lumMod val="75000"/>
                      </a:schemeClr>
                    </a:solidFill>
                  </a:tcPr>
                </a:tc>
              </a:tr>
              <a:tr h="608679">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i="0" u="none" strike="noStrike" kern="1200" baseline="0" dirty="0" smtClean="0">
                          <a:solidFill>
                            <a:schemeClr val="dk1"/>
                          </a:solidFill>
                          <a:latin typeface="Times New Roman" pitchFamily="18" charset="0"/>
                          <a:ea typeface="+mn-ea"/>
                          <a:cs typeface="Times New Roman" pitchFamily="18" charset="0"/>
                        </a:rPr>
                        <a:t>Pattern Outcomes: </a:t>
                      </a:r>
                      <a:r>
                        <a:rPr lang="en-US" sz="1400" b="0" i="0" u="none" strike="noStrike" kern="1200" baseline="0" dirty="0" smtClean="0">
                          <a:solidFill>
                            <a:schemeClr val="dk1"/>
                          </a:solidFill>
                          <a:latin typeface="Times New Roman" pitchFamily="18" charset="0"/>
                          <a:ea typeface="+mn-ea"/>
                          <a:cs typeface="Times New Roman" pitchFamily="18" charset="0"/>
                        </a:rPr>
                        <a:t>Retain data; Dispose data</a:t>
                      </a:r>
                      <a:endParaRPr lang="en-US" sz="1400" dirty="0" smtClean="0">
                        <a:latin typeface="Times New Roman" pitchFamily="18" charset="0"/>
                        <a:cs typeface="Times New Roman" pitchFamily="18" charset="0"/>
                      </a:endParaRPr>
                    </a:p>
                  </a:txBody>
                  <a:tcPr>
                    <a:solidFill>
                      <a:schemeClr val="bg1">
                        <a:lumMod val="75000"/>
                      </a:schemeClr>
                    </a:solidFill>
                  </a:tcPr>
                </a:tc>
              </a:tr>
              <a:tr h="1808703">
                <a:tc>
                  <a:txBody>
                    <a:bodyPr/>
                    <a:lstStyle/>
                    <a:p>
                      <a:r>
                        <a:rPr lang="en-US" sz="2400" b="1" i="0" u="none" strike="noStrike" kern="1200" baseline="0" dirty="0" smtClean="0">
                          <a:solidFill>
                            <a:schemeClr val="dk1"/>
                          </a:solidFill>
                          <a:latin typeface="Times New Roman" pitchFamily="18" charset="0"/>
                          <a:ea typeface="+mn-ea"/>
                          <a:cs typeface="Times New Roman" pitchFamily="18" charset="0"/>
                        </a:rPr>
                        <a:t>Mandatory Extension Points</a:t>
                      </a:r>
                      <a:r>
                        <a:rPr lang="en-US" sz="2400" b="0" i="0" u="none" strike="noStrike" kern="1200" baseline="0" dirty="0" smtClean="0">
                          <a:solidFill>
                            <a:schemeClr val="dk1"/>
                          </a:solidFill>
                          <a:latin typeface="Times New Roman" pitchFamily="18" charset="0"/>
                          <a:ea typeface="+mn-ea"/>
                          <a:cs typeface="Times New Roman" pitchFamily="18" charset="0"/>
                        </a:rPr>
                        <a:t>:</a:t>
                      </a:r>
                    </a:p>
                    <a:p>
                      <a:pPr marL="742950" lvl="1" indent="-285750">
                        <a:buFont typeface="Arial" pitchFamily="34" charset="0"/>
                        <a:buChar char="•"/>
                      </a:pPr>
                      <a:r>
                        <a:rPr lang="en-US" sz="2400" b="0" i="0" u="none" strike="noStrike" kern="1200" baseline="0" dirty="0" smtClean="0">
                          <a:solidFill>
                            <a:schemeClr val="dk1"/>
                          </a:solidFill>
                          <a:latin typeface="Times New Roman" pitchFamily="18" charset="0"/>
                          <a:ea typeface="+mn-ea"/>
                          <a:cs typeface="Times New Roman" pitchFamily="18" charset="0"/>
                        </a:rPr>
                        <a:t>When was the data acquired?</a:t>
                      </a:r>
                    </a:p>
                    <a:p>
                      <a:pPr marL="742950" lvl="1" indent="-285750">
                        <a:buFont typeface="Arial" pitchFamily="34" charset="0"/>
                        <a:buChar char="•"/>
                      </a:pPr>
                      <a:r>
                        <a:rPr lang="en-US" sz="2400" b="0" i="0" u="none" strike="noStrike" kern="1200" baseline="0" dirty="0" smtClean="0">
                          <a:solidFill>
                            <a:schemeClr val="dk1"/>
                          </a:solidFill>
                          <a:latin typeface="Times New Roman" pitchFamily="18" charset="0"/>
                          <a:ea typeface="+mn-ea"/>
                          <a:cs typeface="Times New Roman" pitchFamily="18" charset="0"/>
                        </a:rPr>
                        <a:t>What laws, regulations or business requirements exist to  retain the data?</a:t>
                      </a:r>
                    </a:p>
                    <a:p>
                      <a:pPr marL="742950" lvl="1" indent="-285750">
                        <a:buFont typeface="Arial" pitchFamily="34" charset="0"/>
                        <a:buChar char="•"/>
                      </a:pPr>
                      <a:r>
                        <a:rPr lang="en-US" sz="2400" b="0" i="0" u="none" strike="noStrike" kern="1200" baseline="0" dirty="0" smtClean="0">
                          <a:solidFill>
                            <a:schemeClr val="dk1"/>
                          </a:solidFill>
                          <a:latin typeface="Times New Roman" pitchFamily="18" charset="0"/>
                          <a:ea typeface="+mn-ea"/>
                          <a:cs typeface="Times New Roman" pitchFamily="18" charset="0"/>
                        </a:rPr>
                        <a:t>…</a:t>
                      </a:r>
                      <a:endParaRPr lang="en-US" sz="2400" dirty="0">
                        <a:latin typeface="Times New Roman" pitchFamily="18" charset="0"/>
                        <a:cs typeface="Times New Roman" pitchFamily="18" charset="0"/>
                      </a:endParaRPr>
                    </a:p>
                  </a:txBody>
                  <a:tcPr/>
                </a:tc>
              </a:tr>
            </a:tbl>
          </a:graphicData>
        </a:graphic>
      </p:graphicFrame>
      <p:sp>
        <p:nvSpPr>
          <p:cNvPr id="3" name="Title 2"/>
          <p:cNvSpPr>
            <a:spLocks noGrp="1"/>
          </p:cNvSpPr>
          <p:nvPr>
            <p:ph type="title"/>
          </p:nvPr>
        </p:nvSpPr>
        <p:spPr/>
        <p:txBody>
          <a:bodyPr/>
          <a:lstStyle/>
          <a:p>
            <a:r>
              <a:rPr lang="en-US" dirty="0" smtClean="0"/>
              <a:t>Patterns capture variability</a:t>
            </a:r>
            <a:endParaRPr lang="en-US" dirty="0"/>
          </a:p>
        </p:txBody>
      </p:sp>
    </p:spTree>
    <p:extLst>
      <p:ext uri="{BB962C8B-B14F-4D97-AF65-F5344CB8AC3E}">
        <p14:creationId xmlns:p14="http://schemas.microsoft.com/office/powerpoint/2010/main" val="419534748"/>
      </p:ext>
    </p:extLst>
  </p:cSld>
  <p:clrMapOvr>
    <a:masterClrMapping/>
  </p:clrMapOvr>
  <p:transition advClick="0" advTm="20000"/>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1654313"/>
            <a:ext cx="2743200" cy="2062103"/>
          </a:xfrm>
          <a:prstGeom prst="rect">
            <a:avLst/>
          </a:prstGeom>
          <a:noFill/>
        </p:spPr>
        <p:txBody>
          <a:bodyPr wrap="square" rtlCol="0">
            <a:spAutoFit/>
          </a:bodyPr>
          <a:lstStyle/>
          <a:p>
            <a:pPr algn="ctr"/>
            <a:r>
              <a:rPr lang="en-US" sz="3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itchFamily="18" charset="0"/>
                <a:cs typeface="Times New Roman" pitchFamily="18" charset="0"/>
              </a:rPr>
              <a:t>0101010011</a:t>
            </a:r>
          </a:p>
          <a:p>
            <a:pPr algn="ctr"/>
            <a:r>
              <a:rPr lang="en-US" sz="3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itchFamily="18" charset="0"/>
                <a:cs typeface="Times New Roman" pitchFamily="18" charset="0"/>
              </a:rPr>
              <a:t>0010100000</a:t>
            </a:r>
          </a:p>
          <a:p>
            <a:pPr algn="ctr"/>
            <a:r>
              <a:rPr lang="en-US" sz="3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itchFamily="18" charset="0"/>
                <a:cs typeface="Times New Roman" pitchFamily="18" charset="0"/>
              </a:rPr>
              <a:t>0001100000</a:t>
            </a:r>
          </a:p>
          <a:p>
            <a:pPr algn="ctr"/>
            <a:r>
              <a:rPr lang="en-US" sz="3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itchFamily="18" charset="0"/>
                <a:cs typeface="Times New Roman" pitchFamily="18" charset="0"/>
              </a:rPr>
              <a:t>0001000100</a:t>
            </a:r>
            <a:endParaRPr lang="en-US" sz="32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itchFamily="18" charset="0"/>
              <a:cs typeface="Times New Roman" pitchFamily="18" charset="0"/>
            </a:endParaRPr>
          </a:p>
        </p:txBody>
      </p:sp>
      <p:sp>
        <p:nvSpPr>
          <p:cNvPr id="3" name="TextBox 2"/>
          <p:cNvSpPr txBox="1"/>
          <p:nvPr/>
        </p:nvSpPr>
        <p:spPr>
          <a:xfrm>
            <a:off x="4702991" y="2117691"/>
            <a:ext cx="3657600" cy="646331"/>
          </a:xfrm>
          <a:prstGeom prst="rect">
            <a:avLst/>
          </a:prstGeom>
          <a:noFill/>
        </p:spPr>
        <p:txBody>
          <a:bodyPr wrap="square" rtlCol="0">
            <a:spAutoFit/>
          </a:bodyPr>
          <a:lstStyle/>
          <a:p>
            <a:pPr algn="ctr"/>
            <a:r>
              <a:rPr lang="en-US" sz="36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itchFamily="18" charset="0"/>
                <a:cs typeface="Times New Roman" pitchFamily="18" charset="0"/>
              </a:rPr>
              <a:t>149162536496481</a:t>
            </a:r>
            <a:endParaRPr lang="en-US"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itchFamily="18" charset="0"/>
              <a:cs typeface="Times New Roman" pitchFamily="18" charset="0"/>
            </a:endParaRPr>
          </a:p>
        </p:txBody>
      </p:sp>
      <p:sp>
        <p:nvSpPr>
          <p:cNvPr id="4" name="TextBox 3"/>
          <p:cNvSpPr txBox="1"/>
          <p:nvPr/>
        </p:nvSpPr>
        <p:spPr>
          <a:xfrm>
            <a:off x="2423160" y="4343400"/>
            <a:ext cx="4546600" cy="1077218"/>
          </a:xfrm>
          <a:prstGeom prst="rect">
            <a:avLst/>
          </a:prstGeom>
          <a:noFill/>
        </p:spPr>
        <p:txBody>
          <a:bodyPr wrap="square" rtlCol="0">
            <a:spAutoFit/>
          </a:bodyPr>
          <a:lstStyle/>
          <a:p>
            <a:pPr algn="ctr"/>
            <a:r>
              <a:rPr lang="en-US" sz="3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itchFamily="18" charset="0"/>
                <a:cs typeface="Times New Roman" pitchFamily="18" charset="0"/>
              </a:rPr>
              <a:t>Sequence of </a:t>
            </a:r>
            <a:r>
              <a:rPr lang="en-US" sz="32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itchFamily="18" charset="0"/>
                <a:cs typeface="Times New Roman" pitchFamily="18" charset="0"/>
              </a:rPr>
              <a:t>s</a:t>
            </a:r>
            <a:r>
              <a:rPr lang="en-US" sz="3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itchFamily="18" charset="0"/>
                <a:cs typeface="Times New Roman" pitchFamily="18" charset="0"/>
              </a:rPr>
              <a:t>quares of </a:t>
            </a:r>
          </a:p>
          <a:p>
            <a:pPr algn="ctr"/>
            <a:r>
              <a:rPr lang="en-US" sz="32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itchFamily="18" charset="0"/>
                <a:cs typeface="Times New Roman" pitchFamily="18" charset="0"/>
              </a:rPr>
              <a:t>n</a:t>
            </a:r>
            <a:r>
              <a:rPr lang="en-US" sz="3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itchFamily="18" charset="0"/>
                <a:cs typeface="Times New Roman" pitchFamily="18" charset="0"/>
              </a:rPr>
              <a:t>umbers 1 to 9</a:t>
            </a:r>
            <a:endParaRPr lang="en-US" sz="32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itchFamily="18" charset="0"/>
              <a:cs typeface="Times New Roman" pitchFamily="18" charset="0"/>
            </a:endParaRPr>
          </a:p>
        </p:txBody>
      </p:sp>
      <p:sp>
        <p:nvSpPr>
          <p:cNvPr id="8" name="Title 7"/>
          <p:cNvSpPr>
            <a:spLocks noGrp="1"/>
          </p:cNvSpPr>
          <p:nvPr>
            <p:ph type="title"/>
          </p:nvPr>
        </p:nvSpPr>
        <p:spPr/>
        <p:txBody>
          <a:bodyPr/>
          <a:lstStyle/>
          <a:p>
            <a:r>
              <a:rPr lang="en-US" dirty="0" smtClean="0"/>
              <a:t>Not all patterns are equal</a:t>
            </a:r>
            <a:endParaRPr lang="en-US" dirty="0"/>
          </a:p>
        </p:txBody>
      </p:sp>
    </p:spTree>
  </p:cSld>
  <p:clrMapOvr>
    <a:masterClrMapping/>
  </p:clrMapOvr>
  <p:transition advClick="0" advTm="20000"/>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Oval 1"/>
          <p:cNvSpPr>
            <a:spLocks/>
          </p:cNvSpPr>
          <p:nvPr/>
        </p:nvSpPr>
        <p:spPr bwMode="auto">
          <a:xfrm>
            <a:off x="0" y="6540500"/>
            <a:ext cx="304800" cy="304800"/>
          </a:xfrm>
          <a:prstGeom prst="ellipse">
            <a:avLst/>
          </a:prstGeom>
          <a:gradFill rotWithShape="0">
            <a:gsLst>
              <a:gs pos="0">
                <a:srgbClr val="000000"/>
              </a:gs>
              <a:gs pos="50000">
                <a:srgbClr val="DBEEF4">
                  <a:alpha val="55000"/>
                </a:srgbClr>
              </a:gs>
              <a:gs pos="100000">
                <a:srgbClr val="0047FF">
                  <a:alpha val="9999"/>
                </a:srgbClr>
              </a:gs>
            </a:gsLst>
            <a:path path="rect">
              <a:fillToRect l="50000" t="50000" r="50000" b="50000"/>
            </a:path>
          </a:gradFill>
          <a:ln w="25400" cap="flat">
            <a:noFill/>
            <a:round/>
            <a:headEnd type="none" w="med" len="med"/>
            <a:tailEnd type="none" w="med" len="med"/>
          </a:ln>
        </p:spPr>
        <p:txBody>
          <a:bodyPr lIns="0" tIns="0" rIns="0" bIns="0"/>
          <a:lstStyle/>
          <a:p>
            <a:pPr>
              <a:defRPr/>
            </a:pPr>
            <a:endParaRPr lang="en-US">
              <a:latin typeface="Arial" pitchFamily="-109" charset="0"/>
              <a:ea typeface="ヒラギノ角ゴ ProN W3" pitchFamily="-109" charset="-128"/>
              <a:sym typeface="Arial" pitchFamily="-109" charset="0"/>
            </a:endParaRPr>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0" y="0"/>
            <a:ext cx="9144000" cy="6858000"/>
          </a:xfrm>
          <a:prstGeom prst="rect">
            <a:avLst/>
          </a:prstGeom>
          <a:ln>
            <a:noFill/>
          </a:ln>
          <a:effectLst>
            <a:outerShdw blurRad="292100" dist="139700" dir="2700000" algn="tl" rotWithShape="0">
              <a:srgbClr val="333333">
                <a:alpha val="65000"/>
              </a:srgbClr>
            </a:outerShdw>
          </a:effectLst>
        </p:spPr>
      </p:pic>
      <p:sp>
        <p:nvSpPr>
          <p:cNvPr id="5" name="TextBox 4"/>
          <p:cNvSpPr txBox="1"/>
          <p:nvPr/>
        </p:nvSpPr>
        <p:spPr>
          <a:xfrm>
            <a:off x="457200" y="5288340"/>
            <a:ext cx="4267200" cy="954107"/>
          </a:xfrm>
          <a:prstGeom prst="rect">
            <a:avLst/>
          </a:prstGeom>
          <a:noFill/>
        </p:spPr>
        <p:txBody>
          <a:bodyPr wrap="square" rtlCol="0">
            <a:spAutoFit/>
          </a:bodyPr>
          <a:lstStyle/>
          <a:p>
            <a:r>
              <a:rPr lang="en-US" sz="2800" dirty="0" smtClean="0">
                <a:solidFill>
                  <a:srgbClr val="FF0000"/>
                </a:solidFill>
                <a:latin typeface="Times New Roman" pitchFamily="18" charset="0"/>
                <a:cs typeface="Times New Roman" pitchFamily="18" charset="0"/>
              </a:rPr>
              <a:t>Do you want to empirically know why patterns work?</a:t>
            </a:r>
            <a:endParaRPr lang="en-US" sz="2800" dirty="0">
              <a:solidFill>
                <a:srgbClr val="FF0000"/>
              </a:solidFill>
              <a:latin typeface="Times New Roman" pitchFamily="18" charset="0"/>
              <a:cs typeface="Times New Roman" pitchFamily="18" charset="0"/>
            </a:endParaRPr>
          </a:p>
        </p:txBody>
      </p:sp>
      <p:sp>
        <p:nvSpPr>
          <p:cNvPr id="7" name="TextBox 6"/>
          <p:cNvSpPr txBox="1"/>
          <p:nvPr/>
        </p:nvSpPr>
        <p:spPr>
          <a:xfrm>
            <a:off x="4953000" y="5310108"/>
            <a:ext cx="3962400" cy="954107"/>
          </a:xfrm>
          <a:prstGeom prst="rect">
            <a:avLst/>
          </a:prstGeom>
          <a:noFill/>
        </p:spPr>
        <p:txBody>
          <a:bodyPr wrap="square" rtlCol="0">
            <a:spAutoFit/>
          </a:bodyPr>
          <a:lstStyle/>
          <a:p>
            <a:r>
              <a:rPr lang="en-US" sz="2800" dirty="0" smtClean="0">
                <a:solidFill>
                  <a:schemeClr val="accent1">
                    <a:lumMod val="50000"/>
                  </a:schemeClr>
                </a:solidFill>
                <a:latin typeface="Times New Roman" pitchFamily="18" charset="0"/>
                <a:cs typeface="Times New Roman" pitchFamily="18" charset="0"/>
              </a:rPr>
              <a:t>Do you want to trust me that these patterns work?</a:t>
            </a:r>
            <a:endParaRPr lang="en-US" sz="2800" dirty="0">
              <a:solidFill>
                <a:schemeClr val="accent1">
                  <a:lumMod val="50000"/>
                </a:schemeClr>
              </a:solidFill>
              <a:latin typeface="Times New Roman" pitchFamily="18" charset="0"/>
              <a:cs typeface="Times New Roman" pitchFamily="18" charset="0"/>
            </a:endParaRPr>
          </a:p>
        </p:txBody>
      </p:sp>
    </p:spTree>
  </p:cSld>
  <p:clrMapOvr>
    <a:masterClrMapping/>
  </p:clrMapOvr>
  <p:transition advClick="0" advTm="20000"/>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latin typeface="Times New Roman" pitchFamily="18" charset="0"/>
                <a:cs typeface="Times New Roman" pitchFamily="18" charset="0"/>
              </a:rPr>
              <a:t>What </a:t>
            </a:r>
            <a:r>
              <a:rPr lang="en-US" dirty="0" smtClean="0"/>
              <a:t>is</a:t>
            </a:r>
            <a:r>
              <a:rPr lang="en-US" dirty="0" smtClean="0">
                <a:latin typeface="Times New Roman" pitchFamily="18" charset="0"/>
                <a:cs typeface="Times New Roman" pitchFamily="18" charset="0"/>
              </a:rPr>
              <a:t> pattern application?</a:t>
            </a:r>
            <a:endParaRPr lang="en-US" dirty="0">
              <a:latin typeface="Times New Roman" pitchFamily="18" charset="0"/>
              <a:cs typeface="Times New Roman" pitchFamily="18" charset="0"/>
            </a:endParaRPr>
          </a:p>
        </p:txBody>
      </p:sp>
      <p:sp>
        <p:nvSpPr>
          <p:cNvPr id="4" name="Content Placeholder 3"/>
          <p:cNvSpPr>
            <a:spLocks noGrp="1"/>
          </p:cNvSpPr>
          <p:nvPr>
            <p:ph idx="1"/>
          </p:nvPr>
        </p:nvSpPr>
        <p:spPr/>
        <p:txBody>
          <a:bodyPr/>
          <a:lstStyle/>
          <a:p>
            <a:r>
              <a:rPr lang="en-US" sz="3600" dirty="0"/>
              <a:t>Requirements analyst should</a:t>
            </a:r>
          </a:p>
          <a:p>
            <a:pPr lvl="1"/>
            <a:r>
              <a:rPr lang="en-US" dirty="0"/>
              <a:t>Recognize </a:t>
            </a:r>
            <a:r>
              <a:rPr lang="en-US" dirty="0" smtClean="0"/>
              <a:t>goal</a:t>
            </a:r>
            <a:endParaRPr lang="en-US" dirty="0"/>
          </a:p>
          <a:p>
            <a:pPr lvl="1"/>
            <a:r>
              <a:rPr lang="en-US" dirty="0"/>
              <a:t>Recognize cues in problem description</a:t>
            </a:r>
          </a:p>
          <a:p>
            <a:pPr lvl="1"/>
            <a:r>
              <a:rPr lang="en-US" dirty="0" smtClean="0"/>
              <a:t>Apply pattern</a:t>
            </a:r>
          </a:p>
          <a:p>
            <a:pPr lvl="1"/>
            <a:r>
              <a:rPr lang="en-US" dirty="0"/>
              <a:t>S</a:t>
            </a:r>
            <a:r>
              <a:rPr lang="en-US" dirty="0" smtClean="0"/>
              <a:t>atisfy </a:t>
            </a:r>
            <a:r>
              <a:rPr lang="en-US" dirty="0"/>
              <a:t>output </a:t>
            </a:r>
            <a:r>
              <a:rPr lang="en-US" dirty="0" smtClean="0"/>
              <a:t>constraints</a:t>
            </a:r>
            <a:endParaRPr lang="en-US" dirty="0"/>
          </a:p>
        </p:txBody>
      </p:sp>
    </p:spTree>
    <p:extLst>
      <p:ext uri="{BB962C8B-B14F-4D97-AF65-F5344CB8AC3E}">
        <p14:creationId xmlns:p14="http://schemas.microsoft.com/office/powerpoint/2010/main" val="3130278792"/>
      </p:ext>
    </p:extLst>
  </p:cSld>
  <p:clrMapOvr>
    <a:masterClrMapping/>
  </p:clrMapOvr>
  <p:transition advClick="0" advTm="20000"/>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pattern validity?</a:t>
            </a:r>
            <a:endParaRPr lang="en-US" dirty="0"/>
          </a:p>
        </p:txBody>
      </p:sp>
      <p:grpSp>
        <p:nvGrpSpPr>
          <p:cNvPr id="3" name="Group 2"/>
          <p:cNvGrpSpPr/>
          <p:nvPr/>
        </p:nvGrpSpPr>
        <p:grpSpPr>
          <a:xfrm>
            <a:off x="304800" y="2532015"/>
            <a:ext cx="8132716" cy="2261382"/>
            <a:chOff x="304800" y="2532015"/>
            <a:chExt cx="8132716" cy="2261382"/>
          </a:xfrm>
        </p:grpSpPr>
        <p:grpSp>
          <p:nvGrpSpPr>
            <p:cNvPr id="13" name="Group 12"/>
            <p:cNvGrpSpPr/>
            <p:nvPr/>
          </p:nvGrpSpPr>
          <p:grpSpPr>
            <a:xfrm>
              <a:off x="1008017" y="2532015"/>
              <a:ext cx="7154091" cy="1082042"/>
              <a:chOff x="990600" y="3032758"/>
              <a:chExt cx="7154091" cy="1082042"/>
            </a:xfrm>
          </p:grpSpPr>
          <p:sp>
            <p:nvSpPr>
              <p:cNvPr id="4" name="Rectangle 3"/>
              <p:cNvSpPr/>
              <p:nvPr/>
            </p:nvSpPr>
            <p:spPr bwMode="auto">
              <a:xfrm>
                <a:off x="990600" y="3048000"/>
                <a:ext cx="1981200" cy="1066800"/>
              </a:xfrm>
              <a:prstGeom prst="rect">
                <a:avLst/>
              </a:prstGeom>
              <a:solidFill>
                <a:srgbClr val="BBE0E3"/>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rgbClr val="000000"/>
                  </a:solidFill>
                  <a:effectLst/>
                  <a:latin typeface="Arial" pitchFamily="-109" charset="0"/>
                  <a:ea typeface="ヒラギノ角ゴ ProN W3" pitchFamily="-109" charset="-128"/>
                  <a:cs typeface="ヒラギノ角ゴ ProN W3" pitchFamily="-109" charset="-128"/>
                  <a:sym typeface="Arial" pitchFamily="-109" charset="0"/>
                </a:endParaRPr>
              </a:p>
            </p:txBody>
          </p:sp>
          <p:sp>
            <p:nvSpPr>
              <p:cNvPr id="7" name="Rectangle 6"/>
              <p:cNvSpPr/>
              <p:nvPr/>
            </p:nvSpPr>
            <p:spPr bwMode="auto">
              <a:xfrm>
                <a:off x="3581400" y="3048000"/>
                <a:ext cx="1981200" cy="1066800"/>
              </a:xfrm>
              <a:prstGeom prst="rect">
                <a:avLst/>
              </a:prstGeom>
              <a:solidFill>
                <a:srgbClr val="BBE0E3"/>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rgbClr val="000000"/>
                  </a:solidFill>
                  <a:effectLst/>
                  <a:latin typeface="Arial" pitchFamily="-109" charset="0"/>
                  <a:ea typeface="ヒラギノ角ゴ ProN W3" pitchFamily="-109" charset="-128"/>
                  <a:cs typeface="ヒラギノ角ゴ ProN W3" pitchFamily="-109" charset="-128"/>
                  <a:sym typeface="Arial" pitchFamily="-109" charset="0"/>
                </a:endParaRPr>
              </a:p>
            </p:txBody>
          </p:sp>
          <p:sp>
            <p:nvSpPr>
              <p:cNvPr id="8" name="Rectangle 7"/>
              <p:cNvSpPr/>
              <p:nvPr/>
            </p:nvSpPr>
            <p:spPr bwMode="auto">
              <a:xfrm>
                <a:off x="6163491" y="3032758"/>
                <a:ext cx="1981200" cy="1066800"/>
              </a:xfrm>
              <a:prstGeom prst="rect">
                <a:avLst/>
              </a:prstGeom>
              <a:solidFill>
                <a:srgbClr val="BBE0E3"/>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rgbClr val="000000"/>
                  </a:solidFill>
                  <a:effectLst/>
                  <a:latin typeface="Arial" pitchFamily="-109" charset="0"/>
                  <a:ea typeface="ヒラギノ角ゴ ProN W3" pitchFamily="-109" charset="-128"/>
                  <a:cs typeface="ヒラギノ角ゴ ProN W3" pitchFamily="-109" charset="-128"/>
                  <a:sym typeface="Arial" pitchFamily="-109" charset="0"/>
                </a:endParaRPr>
              </a:p>
            </p:txBody>
          </p:sp>
          <p:sp>
            <p:nvSpPr>
              <p:cNvPr id="6" name="TextBox 5"/>
              <p:cNvSpPr txBox="1"/>
              <p:nvPr/>
            </p:nvSpPr>
            <p:spPr>
              <a:xfrm>
                <a:off x="1295400" y="3289012"/>
                <a:ext cx="1371600" cy="584775"/>
              </a:xfrm>
              <a:prstGeom prst="rect">
                <a:avLst/>
              </a:prstGeom>
              <a:noFill/>
            </p:spPr>
            <p:txBody>
              <a:bodyPr wrap="square" rtlCol="0">
                <a:spAutoFit/>
              </a:bodyPr>
              <a:lstStyle/>
              <a:p>
                <a:pPr algn="ctr"/>
                <a:r>
                  <a:rPr lang="en-US" sz="3200" dirty="0" smtClean="0">
                    <a:latin typeface="Times New Roman" pitchFamily="18" charset="0"/>
                    <a:cs typeface="Times New Roman" pitchFamily="18" charset="0"/>
                  </a:rPr>
                  <a:t>Input</a:t>
                </a:r>
                <a:endParaRPr lang="en-US" sz="3200" dirty="0">
                  <a:latin typeface="Times New Roman" pitchFamily="18" charset="0"/>
                  <a:cs typeface="Times New Roman" pitchFamily="18" charset="0"/>
                </a:endParaRPr>
              </a:p>
            </p:txBody>
          </p:sp>
          <p:sp>
            <p:nvSpPr>
              <p:cNvPr id="10" name="TextBox 9"/>
              <p:cNvSpPr txBox="1"/>
              <p:nvPr/>
            </p:nvSpPr>
            <p:spPr>
              <a:xfrm>
                <a:off x="3886200" y="3289012"/>
                <a:ext cx="1371600" cy="584775"/>
              </a:xfrm>
              <a:prstGeom prst="rect">
                <a:avLst/>
              </a:prstGeom>
              <a:noFill/>
            </p:spPr>
            <p:txBody>
              <a:bodyPr wrap="square" rtlCol="0">
                <a:spAutoFit/>
              </a:bodyPr>
              <a:lstStyle/>
              <a:p>
                <a:pPr algn="ctr"/>
                <a:r>
                  <a:rPr lang="en-US" sz="3200" dirty="0" smtClean="0">
                    <a:latin typeface="Times New Roman" pitchFamily="18" charset="0"/>
                    <a:cs typeface="Times New Roman" pitchFamily="18" charset="0"/>
                  </a:rPr>
                  <a:t>Apply</a:t>
                </a:r>
                <a:endParaRPr lang="en-US" sz="3200" dirty="0">
                  <a:latin typeface="Times New Roman" pitchFamily="18" charset="0"/>
                  <a:cs typeface="Times New Roman" pitchFamily="18" charset="0"/>
                </a:endParaRPr>
              </a:p>
            </p:txBody>
          </p:sp>
          <p:sp>
            <p:nvSpPr>
              <p:cNvPr id="11" name="TextBox 10"/>
              <p:cNvSpPr txBox="1"/>
              <p:nvPr/>
            </p:nvSpPr>
            <p:spPr>
              <a:xfrm>
                <a:off x="6324600" y="3289011"/>
                <a:ext cx="1371600" cy="584775"/>
              </a:xfrm>
              <a:prstGeom prst="rect">
                <a:avLst/>
              </a:prstGeom>
              <a:noFill/>
            </p:spPr>
            <p:txBody>
              <a:bodyPr wrap="square" rtlCol="0">
                <a:spAutoFit/>
              </a:bodyPr>
              <a:lstStyle/>
              <a:p>
                <a:pPr algn="ctr"/>
                <a:r>
                  <a:rPr lang="en-US" sz="3200" dirty="0" smtClean="0">
                    <a:latin typeface="Times New Roman" pitchFamily="18" charset="0"/>
                    <a:cs typeface="Times New Roman" pitchFamily="18" charset="0"/>
                  </a:rPr>
                  <a:t>Output</a:t>
                </a:r>
                <a:endParaRPr lang="en-US" sz="3200" dirty="0">
                  <a:latin typeface="Times New Roman" pitchFamily="18" charset="0"/>
                  <a:cs typeface="Times New Roman" pitchFamily="18" charset="0"/>
                </a:endParaRPr>
              </a:p>
            </p:txBody>
          </p:sp>
          <p:cxnSp>
            <p:nvCxnSpPr>
              <p:cNvPr id="12" name="Straight Arrow Connector 11"/>
              <p:cNvCxnSpPr>
                <a:stCxn id="4" idx="3"/>
                <a:endCxn id="7" idx="1"/>
              </p:cNvCxnSpPr>
              <p:nvPr/>
            </p:nvCxnSpPr>
            <p:spPr bwMode="auto">
              <a:xfrm>
                <a:off x="2971800" y="3581400"/>
                <a:ext cx="609600" cy="0"/>
              </a:xfrm>
              <a:prstGeom prst="straightConnector1">
                <a:avLst/>
              </a:prstGeom>
              <a:solidFill>
                <a:srgbClr val="BBE0E3"/>
              </a:solidFill>
              <a:ln w="38100" cap="flat" cmpd="sng" algn="ctr">
                <a:solidFill>
                  <a:srgbClr val="000000"/>
                </a:solidFill>
                <a:prstDash val="solid"/>
                <a:round/>
                <a:headEnd type="none" w="med" len="med"/>
                <a:tailEnd type="arrow"/>
              </a:ln>
              <a:effectLst/>
            </p:spPr>
          </p:cxnSp>
          <p:cxnSp>
            <p:nvCxnSpPr>
              <p:cNvPr id="14" name="Straight Arrow Connector 13"/>
              <p:cNvCxnSpPr/>
              <p:nvPr/>
            </p:nvCxnSpPr>
            <p:spPr bwMode="auto">
              <a:xfrm>
                <a:off x="5562600" y="3566158"/>
                <a:ext cx="609600" cy="0"/>
              </a:xfrm>
              <a:prstGeom prst="straightConnector1">
                <a:avLst/>
              </a:prstGeom>
              <a:solidFill>
                <a:srgbClr val="BBE0E3"/>
              </a:solidFill>
              <a:ln w="38100" cap="flat" cmpd="sng" algn="ctr">
                <a:solidFill>
                  <a:srgbClr val="000000"/>
                </a:solidFill>
                <a:prstDash val="solid"/>
                <a:round/>
                <a:headEnd type="none" w="med" len="med"/>
                <a:tailEnd type="arrow"/>
              </a:ln>
              <a:effectLst/>
            </p:spPr>
          </p:cxnSp>
        </p:grpSp>
        <p:sp>
          <p:nvSpPr>
            <p:cNvPr id="15" name="TextBox 14"/>
            <p:cNvSpPr txBox="1"/>
            <p:nvPr/>
          </p:nvSpPr>
          <p:spPr>
            <a:xfrm>
              <a:off x="304800" y="3962400"/>
              <a:ext cx="3733800" cy="830997"/>
            </a:xfrm>
            <a:prstGeom prst="rect">
              <a:avLst/>
            </a:prstGeom>
            <a:noFill/>
          </p:spPr>
          <p:txBody>
            <a:bodyPr wrap="square" rtlCol="0">
              <a:spAutoFit/>
            </a:bodyPr>
            <a:lstStyle/>
            <a:p>
              <a:pPr algn="ctr"/>
              <a:r>
                <a:rPr lang="en-US" sz="2400" dirty="0" smtClean="0">
                  <a:latin typeface="Times New Roman" pitchFamily="18" charset="0"/>
                  <a:cs typeface="Times New Roman" pitchFamily="18" charset="0"/>
                </a:rPr>
                <a:t>Probability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of selecting the right pattern</a:t>
              </a:r>
              <a:endParaRPr lang="en-US" sz="2400" dirty="0">
                <a:latin typeface="Times New Roman" pitchFamily="18" charset="0"/>
                <a:cs typeface="Times New Roman" pitchFamily="18" charset="0"/>
              </a:endParaRPr>
            </a:p>
          </p:txBody>
        </p:sp>
        <p:sp>
          <p:nvSpPr>
            <p:cNvPr id="17" name="TextBox 16"/>
            <p:cNvSpPr txBox="1"/>
            <p:nvPr/>
          </p:nvSpPr>
          <p:spPr>
            <a:xfrm>
              <a:off x="5905499" y="3962399"/>
              <a:ext cx="2532017" cy="830997"/>
            </a:xfrm>
            <a:prstGeom prst="rect">
              <a:avLst/>
            </a:prstGeom>
            <a:noFill/>
          </p:spPr>
          <p:txBody>
            <a:bodyPr wrap="square" rtlCol="0">
              <a:spAutoFit/>
            </a:bodyPr>
            <a:lstStyle/>
            <a:p>
              <a:pPr algn="ctr"/>
              <a:r>
                <a:rPr lang="en-US" sz="2400" dirty="0" smtClean="0">
                  <a:latin typeface="Times New Roman" pitchFamily="18" charset="0"/>
                  <a:cs typeface="Times New Roman" pitchFamily="18" charset="0"/>
                </a:rPr>
                <a:t>Probability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of correct output</a:t>
              </a:r>
              <a:endParaRPr lang="en-US" sz="2400" dirty="0">
                <a:latin typeface="Times New Roman" pitchFamily="18" charset="0"/>
                <a:cs typeface="Times New Roman" pitchFamily="18" charset="0"/>
              </a:endParaRPr>
            </a:p>
          </p:txBody>
        </p:sp>
      </p:grpSp>
    </p:spTree>
    <p:extLst>
      <p:ext uri="{BB962C8B-B14F-4D97-AF65-F5344CB8AC3E}">
        <p14:creationId xmlns:p14="http://schemas.microsoft.com/office/powerpoint/2010/main" val="2132549927"/>
      </p:ext>
    </p:extLst>
  </p:cSld>
  <p:clrMapOvr>
    <a:masterClrMapping/>
  </p:clrMapOvr>
  <p:transition advClick="0" advTm="20000"/>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latin typeface="Times New Roman" pitchFamily="18" charset="0"/>
                <a:cs typeface="Times New Roman" pitchFamily="18" charset="0"/>
              </a:rPr>
              <a:t>Requirements Pattern Taxonomy</a:t>
            </a:r>
            <a:endParaRPr lang="en-US" dirty="0">
              <a:latin typeface="Times New Roman" pitchFamily="18" charset="0"/>
              <a:cs typeface="Times New Roman"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8974" y="4190999"/>
            <a:ext cx="2168652" cy="1441251"/>
          </a:xfrm>
          <a:prstGeom prst="rect">
            <a:avLst/>
          </a:prstGeom>
          <a:ln>
            <a:noFill/>
          </a:ln>
          <a:effectLst>
            <a:outerShdw blurRad="292100" dist="139700" dir="2700000" algn="tl" rotWithShape="0">
              <a:srgbClr val="333333">
                <a:alpha val="65000"/>
              </a:srgbClr>
            </a:outerShdw>
          </a:effectLst>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28800" y="1689308"/>
            <a:ext cx="1943100" cy="1457325"/>
          </a:xfrm>
          <a:prstGeom prst="rect">
            <a:avLst/>
          </a:prstGeom>
          <a:ln>
            <a:noFill/>
          </a:ln>
          <a:effectLst>
            <a:outerShdw blurRad="292100" dist="139700" dir="2700000" algn="tl" rotWithShape="0">
              <a:srgbClr val="333333">
                <a:alpha val="65000"/>
              </a:srgbClr>
            </a:outerShdw>
          </a:effectLst>
        </p:spPr>
      </p:pic>
      <p:grpSp>
        <p:nvGrpSpPr>
          <p:cNvPr id="10" name="Group 9"/>
          <p:cNvGrpSpPr>
            <a:grpSpLocks noChangeAspect="1"/>
          </p:cNvGrpSpPr>
          <p:nvPr/>
        </p:nvGrpSpPr>
        <p:grpSpPr>
          <a:xfrm>
            <a:off x="5397626" y="1444515"/>
            <a:ext cx="2775094" cy="2194560"/>
            <a:chOff x="6026277" y="1371600"/>
            <a:chExt cx="2659465" cy="2100166"/>
          </a:xfrm>
        </p:grpSpPr>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90342" y="1371600"/>
              <a:ext cx="1295400" cy="1295400"/>
            </a:xfrm>
            <a:prstGeom prst="rect">
              <a:avLst/>
            </a:prstGeom>
            <a:ln>
              <a:noFill/>
            </a:ln>
            <a:effectLst>
              <a:outerShdw blurRad="292100" dist="139700" dir="2700000" algn="tl" rotWithShape="0">
                <a:srgbClr val="333333">
                  <a:alpha val="65000"/>
                </a:srgbClr>
              </a:outerShdw>
            </a:effectLst>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26277" y="1670685"/>
              <a:ext cx="1464734" cy="823913"/>
            </a:xfrm>
            <a:prstGeom prst="rect">
              <a:avLst/>
            </a:prstGeom>
            <a:ln>
              <a:noFill/>
            </a:ln>
            <a:effectLst>
              <a:outerShdw blurRad="292100" dist="139700" dir="2700000" algn="tl" rotWithShape="0">
                <a:srgbClr val="333333">
                  <a:alpha val="65000"/>
                </a:srgbClr>
              </a:outerShdw>
            </a:effectLst>
          </p:spPr>
        </p:pic>
        <p:pic>
          <p:nvPicPr>
            <p:cNvPr id="9" name="Picture 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58644" y="2612230"/>
              <a:ext cx="1298448" cy="859536"/>
            </a:xfrm>
            <a:prstGeom prst="rect">
              <a:avLst/>
            </a:prstGeom>
            <a:ln>
              <a:noFill/>
            </a:ln>
            <a:effectLst>
              <a:outerShdw blurRad="292100" dist="139700" dir="2700000" algn="tl" rotWithShape="0">
                <a:srgbClr val="333333">
                  <a:alpha val="65000"/>
                </a:srgbClr>
              </a:outerShdw>
            </a:effectLst>
          </p:spPr>
        </p:pic>
      </p:grpSp>
      <p:sp>
        <p:nvSpPr>
          <p:cNvPr id="11" name="TextBox 10"/>
          <p:cNvSpPr txBox="1"/>
          <p:nvPr/>
        </p:nvSpPr>
        <p:spPr>
          <a:xfrm>
            <a:off x="2266950" y="3269743"/>
            <a:ext cx="1066800" cy="461665"/>
          </a:xfrm>
          <a:prstGeom prst="rect">
            <a:avLst/>
          </a:prstGeom>
          <a:noFill/>
        </p:spPr>
        <p:txBody>
          <a:bodyPr wrap="square" rtlCol="0">
            <a:spAutoFit/>
          </a:bodyPr>
          <a:lstStyle/>
          <a:p>
            <a:pPr algn="ctr"/>
            <a:r>
              <a:rPr lang="en-US" sz="2400" dirty="0" smtClean="0">
                <a:latin typeface="Times New Roman" pitchFamily="18" charset="0"/>
                <a:cs typeface="Times New Roman" pitchFamily="18" charset="0"/>
              </a:rPr>
              <a:t>Goals</a:t>
            </a:r>
            <a:endParaRPr lang="en-US" sz="2400" dirty="0">
              <a:latin typeface="Times New Roman" pitchFamily="18" charset="0"/>
              <a:cs typeface="Times New Roman" pitchFamily="18" charset="0"/>
            </a:endParaRPr>
          </a:p>
        </p:txBody>
      </p:sp>
      <p:sp>
        <p:nvSpPr>
          <p:cNvPr id="13" name="TextBox 12"/>
          <p:cNvSpPr txBox="1"/>
          <p:nvPr/>
        </p:nvSpPr>
        <p:spPr>
          <a:xfrm>
            <a:off x="3200400" y="5810250"/>
            <a:ext cx="2197225" cy="461665"/>
          </a:xfrm>
          <a:prstGeom prst="rect">
            <a:avLst/>
          </a:prstGeom>
          <a:noFill/>
        </p:spPr>
        <p:txBody>
          <a:bodyPr wrap="square" rtlCol="0">
            <a:spAutoFit/>
          </a:bodyPr>
          <a:lstStyle/>
          <a:p>
            <a:pPr algn="ctr"/>
            <a:r>
              <a:rPr lang="en-US" sz="2400" dirty="0" smtClean="0">
                <a:latin typeface="Times New Roman" pitchFamily="18" charset="0"/>
                <a:cs typeface="Times New Roman" pitchFamily="18" charset="0"/>
              </a:rPr>
              <a:t>Representations</a:t>
            </a:r>
            <a:endParaRPr lang="en-US" sz="2400" dirty="0">
              <a:latin typeface="Times New Roman" pitchFamily="18" charset="0"/>
              <a:cs typeface="Times New Roman" pitchFamily="18" charset="0"/>
            </a:endParaRPr>
          </a:p>
        </p:txBody>
      </p:sp>
      <p:sp>
        <p:nvSpPr>
          <p:cNvPr id="14" name="TextBox 13"/>
          <p:cNvSpPr txBox="1"/>
          <p:nvPr/>
        </p:nvSpPr>
        <p:spPr>
          <a:xfrm>
            <a:off x="6305885" y="3824335"/>
            <a:ext cx="1190973" cy="461665"/>
          </a:xfrm>
          <a:prstGeom prst="rect">
            <a:avLst/>
          </a:prstGeom>
          <a:noFill/>
        </p:spPr>
        <p:txBody>
          <a:bodyPr wrap="square" rtlCol="0">
            <a:spAutoFit/>
          </a:bodyPr>
          <a:lstStyle/>
          <a:p>
            <a:pPr algn="ctr"/>
            <a:r>
              <a:rPr lang="en-US" sz="2400" dirty="0" smtClean="0">
                <a:latin typeface="Times New Roman" pitchFamily="18" charset="0"/>
                <a:cs typeface="Times New Roman" pitchFamily="18" charset="0"/>
              </a:rPr>
              <a:t>Sources</a:t>
            </a:r>
            <a:endParaRPr lang="en-US" sz="2400" dirty="0">
              <a:latin typeface="Times New Roman" pitchFamily="18" charset="0"/>
              <a:cs typeface="Times New Roman" pitchFamily="18" charset="0"/>
            </a:endParaRPr>
          </a:p>
        </p:txBody>
      </p:sp>
    </p:spTree>
  </p:cSld>
  <p:clrMapOvr>
    <a:masterClrMapping/>
  </p:clrMapOvr>
  <p:transition advClick="0" advTm="20000"/>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p:cNvSpPr>
            <a:spLocks noGrp="1"/>
          </p:cNvSpPr>
          <p:nvPr>
            <p:ph type="title"/>
          </p:nvPr>
        </p:nvSpPr>
        <p:spPr/>
        <p:txBody>
          <a:bodyPr/>
          <a:lstStyle/>
          <a:p>
            <a:r>
              <a:rPr lang="en-US" dirty="0" smtClean="0"/>
              <a:t>How to evaluate goal satisfaction?</a:t>
            </a:r>
            <a:endParaRPr lang="en-US" dirty="0"/>
          </a:p>
        </p:txBody>
      </p:sp>
      <p:sp>
        <p:nvSpPr>
          <p:cNvPr id="21" name="Content Placeholder 20"/>
          <p:cNvSpPr>
            <a:spLocks noGrp="1"/>
          </p:cNvSpPr>
          <p:nvPr>
            <p:ph idx="4294967295"/>
          </p:nvPr>
        </p:nvSpPr>
        <p:spPr>
          <a:xfrm>
            <a:off x="533400" y="1524000"/>
            <a:ext cx="8270875" cy="4525962"/>
          </a:xfrm>
          <a:prstGeom prst="rect">
            <a:avLst/>
          </a:prstGeom>
        </p:spPr>
        <p:txBody>
          <a:bodyPr/>
          <a:lstStyle/>
          <a:p>
            <a:pPr marL="39688" indent="0">
              <a:buNone/>
            </a:pPr>
            <a:r>
              <a:rPr lang="en-US" dirty="0" smtClean="0">
                <a:latin typeface="Times New Roman" pitchFamily="18" charset="0"/>
                <a:cs typeface="Times New Roman" pitchFamily="18" charset="0"/>
              </a:rPr>
              <a:t>We identified 5 goals to improve…</a:t>
            </a:r>
          </a:p>
          <a:p>
            <a:r>
              <a:rPr lang="en-US" dirty="0" smtClean="0">
                <a:latin typeface="Times New Roman" pitchFamily="18" charset="0"/>
                <a:cs typeface="Times New Roman" pitchFamily="18" charset="0"/>
              </a:rPr>
              <a:t>Requirements acquisition</a:t>
            </a:r>
          </a:p>
          <a:p>
            <a:r>
              <a:rPr lang="en-US" dirty="0" smtClean="0">
                <a:latin typeface="Times New Roman" pitchFamily="18" charset="0"/>
                <a:cs typeface="Times New Roman" pitchFamily="18" charset="0"/>
              </a:rPr>
              <a:t>Requirements quality</a:t>
            </a:r>
          </a:p>
          <a:p>
            <a:r>
              <a:rPr lang="en-US" dirty="0" smtClean="0">
                <a:latin typeface="Times New Roman" pitchFamily="18" charset="0"/>
                <a:cs typeface="Times New Roman" pitchFamily="18" charset="0"/>
              </a:rPr>
              <a:t>Compliance</a:t>
            </a:r>
          </a:p>
          <a:p>
            <a:r>
              <a:rPr lang="en-US" dirty="0" smtClean="0">
                <a:latin typeface="Times New Roman" pitchFamily="18" charset="0"/>
                <a:cs typeface="Times New Roman" pitchFamily="18" charset="0"/>
              </a:rPr>
              <a:t>Requirements engineering process</a:t>
            </a:r>
          </a:p>
          <a:p>
            <a:r>
              <a:rPr lang="en-US" dirty="0" smtClean="0">
                <a:latin typeface="Times New Roman" pitchFamily="18" charset="0"/>
                <a:cs typeface="Times New Roman" pitchFamily="18" charset="0"/>
              </a:rPr>
              <a:t>Runtime performance</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619685598"/>
      </p:ext>
    </p:extLst>
  </p:cSld>
  <p:clrMapOvr>
    <a:masterClrMapping/>
  </p:clrMapOvr>
  <p:transition advClick="0" advTm="20000"/>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Sources influence outcomes</a:t>
            </a:r>
            <a:endParaRPr lang="en-US" dirty="0"/>
          </a:p>
        </p:txBody>
      </p:sp>
      <p:sp>
        <p:nvSpPr>
          <p:cNvPr id="4" name="Content Placeholder 3"/>
          <p:cNvSpPr>
            <a:spLocks noGrp="1"/>
          </p:cNvSpPr>
          <p:nvPr>
            <p:ph idx="1"/>
          </p:nvPr>
        </p:nvSpPr>
        <p:spPr/>
        <p:txBody>
          <a:bodyPr/>
          <a:lstStyle/>
          <a:p>
            <a:r>
              <a:rPr lang="en-US" dirty="0" smtClean="0"/>
              <a:t>Requirements knowledge can be highly or lightly structured</a:t>
            </a:r>
          </a:p>
          <a:p>
            <a:pPr>
              <a:spcBef>
                <a:spcPts val="3600"/>
              </a:spcBef>
            </a:pPr>
            <a:r>
              <a:rPr lang="en-US" dirty="0" smtClean="0"/>
              <a:t>Structure affects individual interpretation</a:t>
            </a:r>
          </a:p>
          <a:p>
            <a:pPr lvl="1">
              <a:tabLst>
                <a:tab pos="3540125" algn="l"/>
              </a:tabLst>
            </a:pPr>
            <a:r>
              <a:rPr lang="en-US" dirty="0" smtClean="0"/>
              <a:t>Lightly structured </a:t>
            </a:r>
            <a:r>
              <a:rPr lang="en-US" dirty="0">
                <a:sym typeface="Symbol"/>
              </a:rPr>
              <a:t>	</a:t>
            </a:r>
            <a:r>
              <a:rPr lang="en-US" dirty="0" smtClean="0">
                <a:sym typeface="Symbol"/>
              </a:rPr>
              <a:t></a:t>
            </a:r>
            <a:r>
              <a:rPr lang="en-US" dirty="0" smtClean="0"/>
              <a:t> more variation </a:t>
            </a:r>
          </a:p>
          <a:p>
            <a:pPr lvl="1">
              <a:tabLst>
                <a:tab pos="3540125" algn="l"/>
              </a:tabLst>
            </a:pPr>
            <a:r>
              <a:rPr lang="en-US" dirty="0" smtClean="0"/>
              <a:t>Highly structured	</a:t>
            </a:r>
            <a:r>
              <a:rPr lang="en-US" dirty="0" smtClean="0">
                <a:sym typeface="Symbol"/>
              </a:rPr>
              <a:t></a:t>
            </a:r>
            <a:r>
              <a:rPr lang="en-US" dirty="0" smtClean="0"/>
              <a:t> less variation</a:t>
            </a:r>
            <a:endParaRPr lang="en-US" dirty="0"/>
          </a:p>
        </p:txBody>
      </p:sp>
    </p:spTree>
    <p:extLst>
      <p:ext uri="{BB962C8B-B14F-4D97-AF65-F5344CB8AC3E}">
        <p14:creationId xmlns:p14="http://schemas.microsoft.com/office/powerpoint/2010/main" val="2349035871"/>
      </p:ext>
    </p:extLst>
  </p:cSld>
  <p:clrMapOvr>
    <a:masterClrMapping/>
  </p:clrMapOvr>
  <p:transition advClick="0" advTm="20000"/>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Source/Representation (</a:t>
            </a:r>
            <a:r>
              <a:rPr lang="en-US" dirty="0" err="1" smtClean="0"/>
              <a:t>Mis</a:t>
            </a:r>
            <a:r>
              <a:rPr lang="en-US" dirty="0" smtClean="0"/>
              <a:t>)match</a:t>
            </a:r>
            <a:endParaRPr lang="en-US" dirty="0"/>
          </a:p>
        </p:txBody>
      </p:sp>
      <p:pic>
        <p:nvPicPr>
          <p:cNvPr id="1026" name="Picture 2" descr="http://t2.gstatic.com/images?q=tbn:ANd9GcSdo8o2yHW5B0iWKOO2xr4wTRNCPAXjmNUArsPVSP07obesfw0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0" y="1637013"/>
            <a:ext cx="2505075" cy="18288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9242" y="2579988"/>
            <a:ext cx="2790825" cy="17716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Left-Right Arrow 5"/>
          <p:cNvSpPr/>
          <p:nvPr/>
        </p:nvSpPr>
        <p:spPr bwMode="auto">
          <a:xfrm rot="20096565">
            <a:off x="4050253" y="2472522"/>
            <a:ext cx="1219200" cy="685800"/>
          </a:xfrm>
          <a:prstGeom prst="leftRightArrow">
            <a:avLst>
              <a:gd name="adj1" fmla="val 38572"/>
              <a:gd name="adj2" fmla="val 40000"/>
            </a:avLst>
          </a:prstGeom>
          <a:solidFill>
            <a:schemeClr val="accent2"/>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rgbClr val="000000"/>
              </a:solidFill>
              <a:effectLst/>
              <a:latin typeface="Arial" pitchFamily="-109" charset="0"/>
              <a:ea typeface="ヒラギノ角ゴ ProN W3" pitchFamily="-109" charset="-128"/>
              <a:cs typeface="ヒラギノ角ゴ ProN W3" pitchFamily="-109" charset="-128"/>
              <a:sym typeface="Arial" pitchFamily="-109" charset="0"/>
            </a:endParaRPr>
          </a:p>
        </p:txBody>
      </p:sp>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86400" y="3985062"/>
            <a:ext cx="2555260" cy="176675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Left-Right Arrow 9"/>
          <p:cNvSpPr/>
          <p:nvPr/>
        </p:nvSpPr>
        <p:spPr bwMode="auto">
          <a:xfrm rot="1283606">
            <a:off x="4045475" y="3816952"/>
            <a:ext cx="1219200" cy="685800"/>
          </a:xfrm>
          <a:prstGeom prst="leftRightArrow">
            <a:avLst>
              <a:gd name="adj1" fmla="val 38572"/>
              <a:gd name="adj2" fmla="val 40000"/>
            </a:avLst>
          </a:prstGeom>
          <a:solidFill>
            <a:schemeClr val="accent2"/>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rgbClr val="000000"/>
              </a:solidFill>
              <a:effectLst/>
              <a:latin typeface="Arial" pitchFamily="-109" charset="0"/>
              <a:ea typeface="ヒラギノ角ゴ ProN W3" pitchFamily="-109" charset="-128"/>
              <a:cs typeface="ヒラギノ角ゴ ProN W3" pitchFamily="-109" charset="-128"/>
              <a:sym typeface="Arial" pitchFamily="-109" charset="0"/>
            </a:endParaRPr>
          </a:p>
        </p:txBody>
      </p:sp>
    </p:spTree>
    <p:extLst>
      <p:ext uri="{BB962C8B-B14F-4D97-AF65-F5344CB8AC3E}">
        <p14:creationId xmlns:p14="http://schemas.microsoft.com/office/powerpoint/2010/main" val="2412519650"/>
      </p:ext>
    </p:extLst>
  </p:cSld>
  <p:clrMapOvr>
    <a:masterClrMapping/>
  </p:clrMapOvr>
  <p:transition advClick="0" advTm="20000"/>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Cognitive Psychology Theories</a:t>
            </a:r>
            <a:endParaRPr lang="en-US" dirty="0"/>
          </a:p>
        </p:txBody>
      </p:sp>
      <p:sp>
        <p:nvSpPr>
          <p:cNvPr id="4" name="Content Placeholder 3"/>
          <p:cNvSpPr>
            <a:spLocks noGrp="1"/>
          </p:cNvSpPr>
          <p:nvPr>
            <p:ph idx="1"/>
          </p:nvPr>
        </p:nvSpPr>
        <p:spPr>
          <a:xfrm>
            <a:off x="4038600" y="1600200"/>
            <a:ext cx="4648200" cy="4525963"/>
          </a:xfrm>
        </p:spPr>
        <p:txBody>
          <a:bodyPr/>
          <a:lstStyle/>
          <a:p>
            <a:pPr>
              <a:spcAft>
                <a:spcPts val="1200"/>
              </a:spcAft>
            </a:pPr>
            <a:endParaRPr lang="en-US" dirty="0" smtClean="0"/>
          </a:p>
          <a:p>
            <a:pPr>
              <a:spcAft>
                <a:spcPts val="1200"/>
              </a:spcAft>
            </a:pPr>
            <a:r>
              <a:rPr lang="en-US" dirty="0" smtClean="0"/>
              <a:t>How do humans learn?</a:t>
            </a:r>
          </a:p>
          <a:p>
            <a:pPr>
              <a:spcAft>
                <a:spcPts val="1200"/>
              </a:spcAft>
            </a:pPr>
            <a:r>
              <a:rPr lang="en-US" dirty="0" smtClean="0"/>
              <a:t>How do humans interact with abstractions?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2057400"/>
            <a:ext cx="3200400" cy="2286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17610442"/>
      </p:ext>
    </p:extLst>
  </p:cSld>
  <p:clrMapOvr>
    <a:masterClrMapping/>
  </p:clrMapOvr>
  <p:transition advClick="0" advTm="20000"/>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Does cognition affect application?</a:t>
            </a:r>
            <a:r>
              <a:rPr lang="en-US" dirty="0"/>
              <a:t/>
            </a:r>
            <a:br>
              <a:rPr lang="en-US" dirty="0"/>
            </a:br>
            <a:endParaRPr lang="en-US"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6400" y="1505775"/>
            <a:ext cx="5638800" cy="4220283"/>
          </a:xfrm>
          <a:prstGeom prst="rect">
            <a:avLst/>
          </a:prstGeom>
        </p:spPr>
      </p:pic>
    </p:spTree>
  </p:cSld>
  <p:clrMapOvr>
    <a:masterClrMapping/>
  </p:clrMapOvr>
  <p:transition advClick="0" advTm="20000"/>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What features of input description increase or decrease validity?</a:t>
            </a:r>
            <a:br>
              <a:rPr lang="en-US" dirty="0"/>
            </a:br>
            <a:endParaRPr lang="en-US" dirty="0"/>
          </a:p>
        </p:txBody>
      </p:sp>
      <p:sp>
        <p:nvSpPr>
          <p:cNvPr id="19" name="TextBox 18"/>
          <p:cNvSpPr txBox="1"/>
          <p:nvPr/>
        </p:nvSpPr>
        <p:spPr>
          <a:xfrm>
            <a:off x="752475" y="2975429"/>
            <a:ext cx="1905000" cy="830997"/>
          </a:xfrm>
          <a:prstGeom prst="rect">
            <a:avLst/>
          </a:prstGeom>
          <a:noFill/>
        </p:spPr>
        <p:txBody>
          <a:bodyPr wrap="square" rtlCol="0">
            <a:spAutoFit/>
          </a:bodyPr>
          <a:lstStyle/>
          <a:p>
            <a:pPr algn="ctr"/>
            <a:r>
              <a:rPr lang="en-US" sz="2400" dirty="0" smtClean="0">
                <a:latin typeface="Times New Roman" pitchFamily="18" charset="0"/>
                <a:cs typeface="Times New Roman" pitchFamily="18" charset="0"/>
              </a:rPr>
              <a:t>Segmentation (Vertical)</a:t>
            </a:r>
            <a:endParaRPr lang="en-US" sz="2400" dirty="0">
              <a:latin typeface="Times New Roman" pitchFamily="18" charset="0"/>
              <a:cs typeface="Times New Roman" pitchFamily="18" charset="0"/>
            </a:endParaRPr>
          </a:p>
        </p:txBody>
      </p:sp>
      <p:sp>
        <p:nvSpPr>
          <p:cNvPr id="21" name="TextBox 20"/>
          <p:cNvSpPr txBox="1"/>
          <p:nvPr/>
        </p:nvSpPr>
        <p:spPr>
          <a:xfrm>
            <a:off x="2400300" y="4800600"/>
            <a:ext cx="5334000" cy="461665"/>
          </a:xfrm>
          <a:prstGeom prst="rect">
            <a:avLst/>
          </a:prstGeom>
          <a:noFill/>
        </p:spPr>
        <p:txBody>
          <a:bodyPr wrap="square" rtlCol="0">
            <a:spAutoFit/>
          </a:bodyPr>
          <a:lstStyle/>
          <a:p>
            <a:pPr algn="ctr"/>
            <a:r>
              <a:rPr lang="en-US" sz="2400" dirty="0" smtClean="0">
                <a:latin typeface="Times New Roman" pitchFamily="18" charset="0"/>
                <a:cs typeface="Times New Roman" pitchFamily="18" charset="0"/>
              </a:rPr>
              <a:t>Level of Inclusiveness (Horizontal)</a:t>
            </a:r>
            <a:endParaRPr lang="en-US" sz="2400" dirty="0">
              <a:latin typeface="Times New Roman" pitchFamily="18" charset="0"/>
              <a:cs typeface="Times New Roman" pitchFamily="18" charset="0"/>
            </a:endParaRPr>
          </a:p>
        </p:txBody>
      </p:sp>
      <p:grpSp>
        <p:nvGrpSpPr>
          <p:cNvPr id="5" name="Group 4"/>
          <p:cNvGrpSpPr/>
          <p:nvPr/>
        </p:nvGrpSpPr>
        <p:grpSpPr>
          <a:xfrm>
            <a:off x="2667000" y="1770607"/>
            <a:ext cx="4800600" cy="2888398"/>
            <a:chOff x="2819400" y="2064602"/>
            <a:chExt cx="4800600" cy="3124200"/>
          </a:xfrm>
        </p:grpSpPr>
        <p:cxnSp>
          <p:nvCxnSpPr>
            <p:cNvPr id="7" name="Straight Arrow Connector 6"/>
            <p:cNvCxnSpPr/>
            <p:nvPr/>
          </p:nvCxnSpPr>
          <p:spPr bwMode="auto">
            <a:xfrm>
              <a:off x="2819400" y="5188802"/>
              <a:ext cx="4800600" cy="0"/>
            </a:xfrm>
            <a:prstGeom prst="straightConnector1">
              <a:avLst/>
            </a:prstGeom>
            <a:solidFill>
              <a:srgbClr val="BBE0E3"/>
            </a:solidFill>
            <a:ln w="19050" cap="flat" cmpd="sng" algn="ctr">
              <a:solidFill>
                <a:srgbClr val="000000"/>
              </a:solidFill>
              <a:prstDash val="solid"/>
              <a:round/>
              <a:headEnd type="none" w="med" len="med"/>
              <a:tailEnd type="triangle" w="lg" len="lg"/>
            </a:ln>
            <a:effectLst/>
          </p:spPr>
        </p:cxnSp>
        <p:cxnSp>
          <p:nvCxnSpPr>
            <p:cNvPr id="9" name="Straight Arrow Connector 8"/>
            <p:cNvCxnSpPr/>
            <p:nvPr/>
          </p:nvCxnSpPr>
          <p:spPr bwMode="auto">
            <a:xfrm flipV="1">
              <a:off x="2819400" y="2064602"/>
              <a:ext cx="0" cy="3124200"/>
            </a:xfrm>
            <a:prstGeom prst="straightConnector1">
              <a:avLst/>
            </a:prstGeom>
            <a:solidFill>
              <a:srgbClr val="BBE0E3"/>
            </a:solidFill>
            <a:ln w="19050" cap="flat" cmpd="sng" algn="ctr">
              <a:solidFill>
                <a:srgbClr val="000000"/>
              </a:solidFill>
              <a:prstDash val="solid"/>
              <a:round/>
              <a:headEnd type="none" w="med" len="med"/>
              <a:tailEnd type="triangle" w="lg" len="lg"/>
            </a:ln>
            <a:effectLst/>
          </p:spPr>
        </p:cxnSp>
        <p:cxnSp>
          <p:nvCxnSpPr>
            <p:cNvPr id="13" name="Straight Connector 12"/>
            <p:cNvCxnSpPr/>
            <p:nvPr/>
          </p:nvCxnSpPr>
          <p:spPr bwMode="auto">
            <a:xfrm>
              <a:off x="2819400" y="2445602"/>
              <a:ext cx="3124200" cy="0"/>
            </a:xfrm>
            <a:prstGeom prst="line">
              <a:avLst/>
            </a:prstGeom>
            <a:solidFill>
              <a:srgbClr val="BBE0E3"/>
            </a:solidFill>
            <a:ln w="19050" cap="flat" cmpd="sng" algn="ctr">
              <a:solidFill>
                <a:srgbClr val="000000"/>
              </a:solidFill>
              <a:prstDash val="solid"/>
              <a:round/>
              <a:headEnd type="none" w="med" len="med"/>
              <a:tailEnd type="none" w="med" len="med"/>
            </a:ln>
            <a:effectLst/>
          </p:spPr>
        </p:cxnSp>
        <p:cxnSp>
          <p:nvCxnSpPr>
            <p:cNvPr id="15" name="Straight Connector 14"/>
            <p:cNvCxnSpPr/>
            <p:nvPr/>
          </p:nvCxnSpPr>
          <p:spPr bwMode="auto">
            <a:xfrm>
              <a:off x="5943600" y="2445602"/>
              <a:ext cx="0" cy="2743200"/>
            </a:xfrm>
            <a:prstGeom prst="line">
              <a:avLst/>
            </a:prstGeom>
            <a:solidFill>
              <a:srgbClr val="BBE0E3"/>
            </a:solidFill>
            <a:ln w="19050" cap="flat" cmpd="sng" algn="ctr">
              <a:solidFill>
                <a:srgbClr val="000000"/>
              </a:solidFill>
              <a:prstDash val="solid"/>
              <a:round/>
              <a:headEnd type="none" w="med" len="med"/>
              <a:tailEnd type="none" w="med" len="med"/>
            </a:ln>
            <a:effectLst/>
          </p:spPr>
        </p:cxnSp>
        <p:sp>
          <p:nvSpPr>
            <p:cNvPr id="23" name="Rectangle 22"/>
            <p:cNvSpPr/>
            <p:nvPr/>
          </p:nvSpPr>
          <p:spPr bwMode="auto">
            <a:xfrm>
              <a:off x="2819400" y="2445602"/>
              <a:ext cx="3124200" cy="2743200"/>
            </a:xfrm>
            <a:prstGeom prst="rect">
              <a:avLst/>
            </a:prstGeom>
            <a:solidFill>
              <a:srgbClr val="BBE0E3"/>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rgbClr val="000000"/>
                </a:solidFill>
                <a:effectLst/>
                <a:latin typeface="Arial" pitchFamily="-109" charset="0"/>
                <a:ea typeface="ヒラギノ角ゴ ProN W3" pitchFamily="-109" charset="-128"/>
                <a:cs typeface="ヒラギノ角ゴ ProN W3" pitchFamily="-109" charset="-128"/>
                <a:sym typeface="Arial" pitchFamily="-109" charset="0"/>
              </a:endParaRPr>
            </a:p>
          </p:txBody>
        </p:sp>
        <p:sp>
          <p:nvSpPr>
            <p:cNvPr id="24" name="Rectangle 23"/>
            <p:cNvSpPr/>
            <p:nvPr/>
          </p:nvSpPr>
          <p:spPr bwMode="auto">
            <a:xfrm>
              <a:off x="3124200" y="3131403"/>
              <a:ext cx="1371600" cy="2057399"/>
            </a:xfrm>
            <a:prstGeom prst="rect">
              <a:avLst/>
            </a:prstGeom>
            <a:solidFill>
              <a:srgbClr val="00B050"/>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rgbClr val="000000"/>
                </a:solidFill>
                <a:effectLst/>
                <a:latin typeface="Arial" pitchFamily="-109" charset="0"/>
                <a:ea typeface="ヒラギノ角ゴ ProN W3" pitchFamily="-109" charset="-128"/>
                <a:cs typeface="ヒラギノ角ゴ ProN W3" pitchFamily="-109" charset="-128"/>
                <a:sym typeface="Arial" pitchFamily="-109" charset="0"/>
              </a:endParaRPr>
            </a:p>
          </p:txBody>
        </p:sp>
        <p:sp>
          <p:nvSpPr>
            <p:cNvPr id="25" name="TextBox 24"/>
            <p:cNvSpPr txBox="1"/>
            <p:nvPr/>
          </p:nvSpPr>
          <p:spPr>
            <a:xfrm>
              <a:off x="4572000" y="2445602"/>
              <a:ext cx="1371600" cy="461665"/>
            </a:xfrm>
            <a:prstGeom prst="rect">
              <a:avLst/>
            </a:prstGeom>
            <a:noFill/>
          </p:spPr>
          <p:txBody>
            <a:bodyPr wrap="square" rtlCol="0">
              <a:spAutoFit/>
            </a:bodyPr>
            <a:lstStyle/>
            <a:p>
              <a:pPr algn="ctr"/>
              <a:r>
                <a:rPr lang="en-US" sz="2400" dirty="0" smtClean="0">
                  <a:latin typeface="Times New Roman" pitchFamily="18" charset="0"/>
                  <a:cs typeface="Times New Roman" pitchFamily="18" charset="0"/>
                </a:rPr>
                <a:t>Category</a:t>
              </a:r>
              <a:endParaRPr lang="en-US" sz="2400" dirty="0">
                <a:latin typeface="Times New Roman" pitchFamily="18" charset="0"/>
                <a:cs typeface="Times New Roman" pitchFamily="18" charset="0"/>
              </a:endParaRPr>
            </a:p>
          </p:txBody>
        </p:sp>
        <p:sp>
          <p:nvSpPr>
            <p:cNvPr id="26" name="Rounded Rectangle 25"/>
            <p:cNvSpPr/>
            <p:nvPr/>
          </p:nvSpPr>
          <p:spPr bwMode="auto">
            <a:xfrm>
              <a:off x="3352800" y="4655403"/>
              <a:ext cx="914400" cy="381000"/>
            </a:xfrm>
            <a:prstGeom prst="roundRect">
              <a:avLst/>
            </a:prstGeom>
            <a:solidFill>
              <a:srgbClr val="FFD96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00"/>
                  </a:solidFill>
                  <a:effectLst/>
                  <a:latin typeface="Times New Roman" pitchFamily="18" charset="0"/>
                  <a:ea typeface="ヒラギノ角ゴ ProN W3" pitchFamily="-109" charset="-128"/>
                  <a:cs typeface="Times New Roman" pitchFamily="18" charset="0"/>
                  <a:sym typeface="Arial" pitchFamily="-109" charset="0"/>
                </a:rPr>
                <a:t>A</a:t>
              </a:r>
              <a:endParaRPr kumimoji="0" lang="en-US" sz="2400" b="0" i="0" u="none" strike="noStrike" cap="none" normalizeH="0" baseline="0" dirty="0">
                <a:ln>
                  <a:noFill/>
                </a:ln>
                <a:solidFill>
                  <a:srgbClr val="000000"/>
                </a:solidFill>
                <a:effectLst/>
                <a:latin typeface="Times New Roman" pitchFamily="18" charset="0"/>
                <a:ea typeface="ヒラギノ角ゴ ProN W3" pitchFamily="-109" charset="-128"/>
                <a:cs typeface="Times New Roman" pitchFamily="18" charset="0"/>
                <a:sym typeface="Arial" pitchFamily="-109" charset="0"/>
              </a:endParaRPr>
            </a:p>
          </p:txBody>
        </p:sp>
        <p:sp>
          <p:nvSpPr>
            <p:cNvPr id="29" name="Rounded Rectangle 28"/>
            <p:cNvSpPr/>
            <p:nvPr/>
          </p:nvSpPr>
          <p:spPr bwMode="auto">
            <a:xfrm>
              <a:off x="4800600" y="4045803"/>
              <a:ext cx="914400" cy="381000"/>
            </a:xfrm>
            <a:prstGeom prst="roundRect">
              <a:avLst/>
            </a:prstGeom>
            <a:solidFill>
              <a:schemeClr val="bg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00"/>
                  </a:solidFill>
                  <a:effectLst/>
                  <a:latin typeface="Times New Roman" pitchFamily="18" charset="0"/>
                  <a:ea typeface="ヒラギノ角ゴ ProN W3" pitchFamily="-109" charset="-128"/>
                  <a:cs typeface="Times New Roman" pitchFamily="18" charset="0"/>
                  <a:sym typeface="Arial" pitchFamily="-109" charset="0"/>
                </a:rPr>
                <a:t>B</a:t>
              </a:r>
              <a:endParaRPr kumimoji="0" lang="en-US" sz="2400" b="0" i="0" u="none" strike="noStrike" cap="none" normalizeH="0" baseline="0" dirty="0">
                <a:ln>
                  <a:noFill/>
                </a:ln>
                <a:solidFill>
                  <a:srgbClr val="000000"/>
                </a:solidFill>
                <a:effectLst/>
                <a:latin typeface="Times New Roman" pitchFamily="18" charset="0"/>
                <a:ea typeface="ヒラギノ角ゴ ProN W3" pitchFamily="-109" charset="-128"/>
                <a:cs typeface="Times New Roman" pitchFamily="18" charset="0"/>
                <a:sym typeface="Arial" pitchFamily="-109" charset="0"/>
              </a:endParaRPr>
            </a:p>
          </p:txBody>
        </p:sp>
        <p:sp>
          <p:nvSpPr>
            <p:cNvPr id="30" name="Rounded Rectangle 29"/>
            <p:cNvSpPr/>
            <p:nvPr/>
          </p:nvSpPr>
          <p:spPr bwMode="auto">
            <a:xfrm>
              <a:off x="4800600" y="4655403"/>
              <a:ext cx="914400" cy="381000"/>
            </a:xfrm>
            <a:prstGeom prst="roundRect">
              <a:avLst/>
            </a:prstGeom>
            <a:solidFill>
              <a:schemeClr val="bg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400" dirty="0">
                  <a:latin typeface="Times New Roman" pitchFamily="18" charset="0"/>
                  <a:ea typeface="ヒラギノ角ゴ ProN W3" pitchFamily="-109" charset="-128"/>
                  <a:cs typeface="Times New Roman" pitchFamily="18" charset="0"/>
                  <a:sym typeface="Arial" pitchFamily="-109" charset="0"/>
                </a:rPr>
                <a:t>C</a:t>
              </a:r>
              <a:endParaRPr kumimoji="0" lang="en-US" sz="2400" b="0" i="0" u="none" strike="noStrike" cap="none" normalizeH="0" baseline="0" dirty="0">
                <a:ln>
                  <a:noFill/>
                </a:ln>
                <a:solidFill>
                  <a:srgbClr val="000000"/>
                </a:solidFill>
                <a:effectLst/>
                <a:latin typeface="Times New Roman" pitchFamily="18" charset="0"/>
                <a:ea typeface="ヒラギノ角ゴ ProN W3" pitchFamily="-109" charset="-128"/>
                <a:cs typeface="Times New Roman" pitchFamily="18" charset="0"/>
                <a:sym typeface="Arial" pitchFamily="-109" charset="0"/>
              </a:endParaRPr>
            </a:p>
          </p:txBody>
        </p:sp>
        <p:sp>
          <p:nvSpPr>
            <p:cNvPr id="31" name="Rounded Rectangle 30"/>
            <p:cNvSpPr/>
            <p:nvPr/>
          </p:nvSpPr>
          <p:spPr bwMode="auto">
            <a:xfrm>
              <a:off x="6248400" y="4655403"/>
              <a:ext cx="914400" cy="381000"/>
            </a:xfrm>
            <a:prstGeom prst="roundRect">
              <a:avLst/>
            </a:prstGeom>
            <a:solidFill>
              <a:schemeClr val="bg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400" dirty="0">
                  <a:latin typeface="Times New Roman" pitchFamily="18" charset="0"/>
                  <a:ea typeface="ヒラギノ角ゴ ProN W3" pitchFamily="-109" charset="-128"/>
                  <a:cs typeface="Times New Roman" pitchFamily="18" charset="0"/>
                  <a:sym typeface="Arial" pitchFamily="-109" charset="0"/>
                </a:rPr>
                <a:t>D</a:t>
              </a:r>
              <a:endParaRPr kumimoji="0" lang="en-US" sz="2400" b="0" i="0" u="none" strike="noStrike" cap="none" normalizeH="0" baseline="0" dirty="0">
                <a:ln>
                  <a:noFill/>
                </a:ln>
                <a:solidFill>
                  <a:srgbClr val="000000"/>
                </a:solidFill>
                <a:effectLst/>
                <a:latin typeface="Times New Roman" pitchFamily="18" charset="0"/>
                <a:ea typeface="ヒラギノ角ゴ ProN W3" pitchFamily="-109" charset="-128"/>
                <a:cs typeface="Times New Roman" pitchFamily="18" charset="0"/>
                <a:sym typeface="Arial" pitchFamily="-109" charset="0"/>
              </a:endParaRPr>
            </a:p>
          </p:txBody>
        </p:sp>
        <p:sp>
          <p:nvSpPr>
            <p:cNvPr id="32" name="TextBox 31"/>
            <p:cNvSpPr txBox="1"/>
            <p:nvPr/>
          </p:nvSpPr>
          <p:spPr>
            <a:xfrm>
              <a:off x="3124200" y="3131403"/>
              <a:ext cx="1371600" cy="830997"/>
            </a:xfrm>
            <a:prstGeom prst="rect">
              <a:avLst/>
            </a:prstGeom>
            <a:noFill/>
          </p:spPr>
          <p:txBody>
            <a:bodyPr wrap="square" rtlCol="0">
              <a:spAutoFit/>
            </a:bodyPr>
            <a:lstStyle/>
            <a:p>
              <a:pPr algn="ctr"/>
              <a:r>
                <a:rPr lang="en-US" sz="2400" dirty="0" smtClean="0">
                  <a:latin typeface="Times New Roman" pitchFamily="18" charset="0"/>
                  <a:cs typeface="Times New Roman" pitchFamily="18" charset="0"/>
                </a:rPr>
                <a:t>Basic Level</a:t>
              </a:r>
              <a:endParaRPr lang="en-US" sz="2400" dirty="0">
                <a:latin typeface="Times New Roman" pitchFamily="18" charset="0"/>
                <a:cs typeface="Times New Roman" pitchFamily="18" charset="0"/>
              </a:endParaRPr>
            </a:p>
          </p:txBody>
        </p:sp>
      </p:grpSp>
      <p:sp>
        <p:nvSpPr>
          <p:cNvPr id="6" name="TextBox 5"/>
          <p:cNvSpPr txBox="1"/>
          <p:nvPr/>
        </p:nvSpPr>
        <p:spPr>
          <a:xfrm>
            <a:off x="152400" y="5715000"/>
            <a:ext cx="7315200" cy="584776"/>
          </a:xfrm>
          <a:prstGeom prst="rect">
            <a:avLst/>
          </a:prstGeom>
          <a:noFill/>
        </p:spPr>
        <p:txBody>
          <a:bodyPr wrap="square" rtlCol="0">
            <a:spAutoFit/>
          </a:bodyPr>
          <a:lstStyle/>
          <a:p>
            <a:r>
              <a:rPr lang="en-US" sz="1600" dirty="0">
                <a:latin typeface="Times New Roman" pitchFamily="18" charset="0"/>
                <a:cs typeface="Times New Roman" pitchFamily="18" charset="0"/>
              </a:rPr>
              <a:t>Figure developed from E. </a:t>
            </a:r>
            <a:r>
              <a:rPr lang="en-US" sz="1600" dirty="0" err="1">
                <a:latin typeface="Times New Roman" pitchFamily="18" charset="0"/>
                <a:cs typeface="Times New Roman" pitchFamily="18" charset="0"/>
              </a:rPr>
              <a:t>Rosch</a:t>
            </a:r>
            <a:r>
              <a:rPr lang="en-US" sz="1600" dirty="0">
                <a:latin typeface="Times New Roman" pitchFamily="18" charset="0"/>
                <a:cs typeface="Times New Roman" pitchFamily="18" charset="0"/>
              </a:rPr>
              <a:t>, “Principles of Categorization,” </a:t>
            </a:r>
            <a:r>
              <a:rPr lang="en-US" sz="1600" i="1" dirty="0">
                <a:latin typeface="Times New Roman" pitchFamily="18" charset="0"/>
                <a:cs typeface="Times New Roman" pitchFamily="18" charset="0"/>
              </a:rPr>
              <a:t>Cognition and Categorization</a:t>
            </a:r>
            <a:r>
              <a:rPr lang="en-US" sz="1600" dirty="0">
                <a:latin typeface="Times New Roman" pitchFamily="18" charset="0"/>
                <a:cs typeface="Times New Roman" pitchFamily="18" charset="0"/>
              </a:rPr>
              <a:t>, pp. </a:t>
            </a:r>
            <a:r>
              <a:rPr lang="en-US" sz="1600">
                <a:latin typeface="Times New Roman" pitchFamily="18" charset="0"/>
                <a:cs typeface="Times New Roman" pitchFamily="18" charset="0"/>
              </a:rPr>
              <a:t>27-48, 1978.</a:t>
            </a:r>
            <a:endParaRPr lang="en-US" sz="1600" dirty="0">
              <a:latin typeface="Times New Roman" pitchFamily="18" charset="0"/>
              <a:cs typeface="Times New Roman" pitchFamily="18" charset="0"/>
            </a:endParaRPr>
          </a:p>
        </p:txBody>
      </p:sp>
    </p:spTree>
  </p:cSld>
  <p:clrMapOvr>
    <a:masterClrMapping/>
  </p:clrMapOvr>
  <p:transition advClick="0" advTm="20000"/>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What features of input description increase or decrease validity?</a:t>
            </a:r>
            <a:br>
              <a:rPr lang="en-US" dirty="0"/>
            </a:br>
            <a:endParaRPr lang="en-US" dirty="0"/>
          </a:p>
        </p:txBody>
      </p:sp>
      <p:sp>
        <p:nvSpPr>
          <p:cNvPr id="19" name="TextBox 18"/>
          <p:cNvSpPr txBox="1"/>
          <p:nvPr/>
        </p:nvSpPr>
        <p:spPr>
          <a:xfrm>
            <a:off x="752475" y="2975429"/>
            <a:ext cx="1905000" cy="830997"/>
          </a:xfrm>
          <a:prstGeom prst="rect">
            <a:avLst/>
          </a:prstGeom>
          <a:noFill/>
        </p:spPr>
        <p:txBody>
          <a:bodyPr wrap="square" rtlCol="0">
            <a:spAutoFit/>
          </a:bodyPr>
          <a:lstStyle/>
          <a:p>
            <a:pPr algn="ctr"/>
            <a:r>
              <a:rPr lang="en-US" sz="2400" dirty="0" smtClean="0">
                <a:latin typeface="Times New Roman" pitchFamily="18" charset="0"/>
                <a:cs typeface="Times New Roman" pitchFamily="18" charset="0"/>
              </a:rPr>
              <a:t>Segmentation (Vertical)</a:t>
            </a:r>
            <a:endParaRPr lang="en-US" sz="2400" dirty="0">
              <a:latin typeface="Times New Roman" pitchFamily="18" charset="0"/>
              <a:cs typeface="Times New Roman" pitchFamily="18" charset="0"/>
            </a:endParaRPr>
          </a:p>
        </p:txBody>
      </p:sp>
      <p:sp>
        <p:nvSpPr>
          <p:cNvPr id="21" name="TextBox 20"/>
          <p:cNvSpPr txBox="1"/>
          <p:nvPr/>
        </p:nvSpPr>
        <p:spPr>
          <a:xfrm>
            <a:off x="2400300" y="4800600"/>
            <a:ext cx="5334000" cy="461665"/>
          </a:xfrm>
          <a:prstGeom prst="rect">
            <a:avLst/>
          </a:prstGeom>
          <a:noFill/>
        </p:spPr>
        <p:txBody>
          <a:bodyPr wrap="square" rtlCol="0">
            <a:spAutoFit/>
          </a:bodyPr>
          <a:lstStyle/>
          <a:p>
            <a:pPr algn="ctr"/>
            <a:r>
              <a:rPr lang="en-US" sz="2400" dirty="0" smtClean="0">
                <a:latin typeface="Times New Roman" pitchFamily="18" charset="0"/>
                <a:cs typeface="Times New Roman" pitchFamily="18" charset="0"/>
              </a:rPr>
              <a:t>Level of Inclusiveness (Horizontal)</a:t>
            </a:r>
            <a:endParaRPr lang="en-US" sz="2400" dirty="0">
              <a:latin typeface="Times New Roman" pitchFamily="18" charset="0"/>
              <a:cs typeface="Times New Roman" pitchFamily="18" charset="0"/>
            </a:endParaRPr>
          </a:p>
        </p:txBody>
      </p:sp>
      <p:grpSp>
        <p:nvGrpSpPr>
          <p:cNvPr id="5" name="Group 4"/>
          <p:cNvGrpSpPr/>
          <p:nvPr/>
        </p:nvGrpSpPr>
        <p:grpSpPr>
          <a:xfrm>
            <a:off x="2667000" y="1770607"/>
            <a:ext cx="4800600" cy="2888398"/>
            <a:chOff x="2819400" y="2064602"/>
            <a:chExt cx="4800600" cy="3124200"/>
          </a:xfrm>
        </p:grpSpPr>
        <p:cxnSp>
          <p:nvCxnSpPr>
            <p:cNvPr id="7" name="Straight Arrow Connector 6"/>
            <p:cNvCxnSpPr/>
            <p:nvPr/>
          </p:nvCxnSpPr>
          <p:spPr bwMode="auto">
            <a:xfrm>
              <a:off x="2819400" y="5188802"/>
              <a:ext cx="4800600" cy="0"/>
            </a:xfrm>
            <a:prstGeom prst="straightConnector1">
              <a:avLst/>
            </a:prstGeom>
            <a:solidFill>
              <a:srgbClr val="BBE0E3"/>
            </a:solidFill>
            <a:ln w="19050" cap="flat" cmpd="sng" algn="ctr">
              <a:solidFill>
                <a:srgbClr val="000000"/>
              </a:solidFill>
              <a:prstDash val="solid"/>
              <a:round/>
              <a:headEnd type="none" w="med" len="med"/>
              <a:tailEnd type="triangle" w="lg" len="lg"/>
            </a:ln>
            <a:effectLst/>
          </p:spPr>
        </p:cxnSp>
        <p:cxnSp>
          <p:nvCxnSpPr>
            <p:cNvPr id="9" name="Straight Arrow Connector 8"/>
            <p:cNvCxnSpPr/>
            <p:nvPr/>
          </p:nvCxnSpPr>
          <p:spPr bwMode="auto">
            <a:xfrm flipV="1">
              <a:off x="2819400" y="2064602"/>
              <a:ext cx="0" cy="3124200"/>
            </a:xfrm>
            <a:prstGeom prst="straightConnector1">
              <a:avLst/>
            </a:prstGeom>
            <a:solidFill>
              <a:srgbClr val="BBE0E3"/>
            </a:solidFill>
            <a:ln w="19050" cap="flat" cmpd="sng" algn="ctr">
              <a:solidFill>
                <a:srgbClr val="000000"/>
              </a:solidFill>
              <a:prstDash val="solid"/>
              <a:round/>
              <a:headEnd type="none" w="med" len="med"/>
              <a:tailEnd type="triangle" w="lg" len="lg"/>
            </a:ln>
            <a:effectLst/>
          </p:spPr>
        </p:cxnSp>
        <p:cxnSp>
          <p:nvCxnSpPr>
            <p:cNvPr id="13" name="Straight Connector 12"/>
            <p:cNvCxnSpPr/>
            <p:nvPr/>
          </p:nvCxnSpPr>
          <p:spPr bwMode="auto">
            <a:xfrm>
              <a:off x="2819400" y="2445602"/>
              <a:ext cx="3124200" cy="0"/>
            </a:xfrm>
            <a:prstGeom prst="line">
              <a:avLst/>
            </a:prstGeom>
            <a:solidFill>
              <a:srgbClr val="BBE0E3"/>
            </a:solidFill>
            <a:ln w="19050" cap="flat" cmpd="sng" algn="ctr">
              <a:solidFill>
                <a:srgbClr val="000000"/>
              </a:solidFill>
              <a:prstDash val="solid"/>
              <a:round/>
              <a:headEnd type="none" w="med" len="med"/>
              <a:tailEnd type="none" w="med" len="med"/>
            </a:ln>
            <a:effectLst/>
          </p:spPr>
        </p:cxnSp>
        <p:cxnSp>
          <p:nvCxnSpPr>
            <p:cNvPr id="15" name="Straight Connector 14"/>
            <p:cNvCxnSpPr/>
            <p:nvPr/>
          </p:nvCxnSpPr>
          <p:spPr bwMode="auto">
            <a:xfrm>
              <a:off x="5943600" y="2445602"/>
              <a:ext cx="0" cy="2743200"/>
            </a:xfrm>
            <a:prstGeom prst="line">
              <a:avLst/>
            </a:prstGeom>
            <a:solidFill>
              <a:srgbClr val="BBE0E3"/>
            </a:solidFill>
            <a:ln w="19050" cap="flat" cmpd="sng" algn="ctr">
              <a:solidFill>
                <a:srgbClr val="000000"/>
              </a:solidFill>
              <a:prstDash val="solid"/>
              <a:round/>
              <a:headEnd type="none" w="med" len="med"/>
              <a:tailEnd type="none" w="med" len="med"/>
            </a:ln>
            <a:effectLst/>
          </p:spPr>
        </p:cxnSp>
        <p:sp>
          <p:nvSpPr>
            <p:cNvPr id="23" name="Rectangle 22"/>
            <p:cNvSpPr/>
            <p:nvPr/>
          </p:nvSpPr>
          <p:spPr bwMode="auto">
            <a:xfrm>
              <a:off x="2819400" y="2445602"/>
              <a:ext cx="3124200" cy="2743200"/>
            </a:xfrm>
            <a:prstGeom prst="rect">
              <a:avLst/>
            </a:prstGeom>
            <a:solidFill>
              <a:srgbClr val="BBE0E3"/>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rgbClr val="000000"/>
                </a:solidFill>
                <a:effectLst/>
                <a:latin typeface="Arial" pitchFamily="-109" charset="0"/>
                <a:ea typeface="ヒラギノ角ゴ ProN W3" pitchFamily="-109" charset="-128"/>
                <a:cs typeface="ヒラギノ角ゴ ProN W3" pitchFamily="-109" charset="-128"/>
                <a:sym typeface="Arial" pitchFamily="-109" charset="0"/>
              </a:endParaRPr>
            </a:p>
          </p:txBody>
        </p:sp>
        <p:sp>
          <p:nvSpPr>
            <p:cNvPr id="24" name="Rectangle 23"/>
            <p:cNvSpPr/>
            <p:nvPr/>
          </p:nvSpPr>
          <p:spPr bwMode="auto">
            <a:xfrm>
              <a:off x="3124200" y="3131403"/>
              <a:ext cx="1371600" cy="2057399"/>
            </a:xfrm>
            <a:prstGeom prst="rect">
              <a:avLst/>
            </a:prstGeom>
            <a:solidFill>
              <a:srgbClr val="00B050"/>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rgbClr val="000000"/>
                </a:solidFill>
                <a:effectLst/>
                <a:latin typeface="Arial" pitchFamily="-109" charset="0"/>
                <a:ea typeface="ヒラギノ角ゴ ProN W3" pitchFamily="-109" charset="-128"/>
                <a:cs typeface="ヒラギノ角ゴ ProN W3" pitchFamily="-109" charset="-128"/>
                <a:sym typeface="Arial" pitchFamily="-109" charset="0"/>
              </a:endParaRPr>
            </a:p>
          </p:txBody>
        </p:sp>
        <p:sp>
          <p:nvSpPr>
            <p:cNvPr id="25" name="TextBox 24"/>
            <p:cNvSpPr txBox="1"/>
            <p:nvPr/>
          </p:nvSpPr>
          <p:spPr>
            <a:xfrm>
              <a:off x="4572000" y="2445602"/>
              <a:ext cx="1371600" cy="461665"/>
            </a:xfrm>
            <a:prstGeom prst="rect">
              <a:avLst/>
            </a:prstGeom>
            <a:noFill/>
          </p:spPr>
          <p:txBody>
            <a:bodyPr wrap="square" rtlCol="0">
              <a:spAutoFit/>
            </a:bodyPr>
            <a:lstStyle/>
            <a:p>
              <a:pPr algn="ctr"/>
              <a:r>
                <a:rPr lang="en-US" sz="2400" dirty="0" smtClean="0">
                  <a:latin typeface="Times New Roman" pitchFamily="18" charset="0"/>
                  <a:cs typeface="Times New Roman" pitchFamily="18" charset="0"/>
                </a:rPr>
                <a:t>Category</a:t>
              </a:r>
              <a:endParaRPr lang="en-US" sz="2400" dirty="0">
                <a:latin typeface="Times New Roman" pitchFamily="18" charset="0"/>
                <a:cs typeface="Times New Roman" pitchFamily="18" charset="0"/>
              </a:endParaRPr>
            </a:p>
          </p:txBody>
        </p:sp>
        <p:sp>
          <p:nvSpPr>
            <p:cNvPr id="26" name="Rounded Rectangle 25"/>
            <p:cNvSpPr/>
            <p:nvPr/>
          </p:nvSpPr>
          <p:spPr bwMode="auto">
            <a:xfrm>
              <a:off x="3352800" y="4655403"/>
              <a:ext cx="914400" cy="381000"/>
            </a:xfrm>
            <a:prstGeom prst="roundRect">
              <a:avLst/>
            </a:prstGeom>
            <a:solidFill>
              <a:schemeClr val="bg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00"/>
                  </a:solidFill>
                  <a:effectLst/>
                  <a:latin typeface="Times New Roman" pitchFamily="18" charset="0"/>
                  <a:ea typeface="ヒラギノ角ゴ ProN W3" pitchFamily="-109" charset="-128"/>
                  <a:cs typeface="Times New Roman" pitchFamily="18" charset="0"/>
                  <a:sym typeface="Arial" pitchFamily="-109" charset="0"/>
                </a:rPr>
                <a:t>A</a:t>
              </a:r>
              <a:endParaRPr kumimoji="0" lang="en-US" sz="2400" b="0" i="0" u="none" strike="noStrike" cap="none" normalizeH="0" baseline="0" dirty="0">
                <a:ln>
                  <a:noFill/>
                </a:ln>
                <a:solidFill>
                  <a:srgbClr val="000000"/>
                </a:solidFill>
                <a:effectLst/>
                <a:latin typeface="Times New Roman" pitchFamily="18" charset="0"/>
                <a:ea typeface="ヒラギノ角ゴ ProN W3" pitchFamily="-109" charset="-128"/>
                <a:cs typeface="Times New Roman" pitchFamily="18" charset="0"/>
                <a:sym typeface="Arial" pitchFamily="-109" charset="0"/>
              </a:endParaRPr>
            </a:p>
          </p:txBody>
        </p:sp>
        <p:sp>
          <p:nvSpPr>
            <p:cNvPr id="29" name="Rounded Rectangle 28"/>
            <p:cNvSpPr/>
            <p:nvPr/>
          </p:nvSpPr>
          <p:spPr bwMode="auto">
            <a:xfrm>
              <a:off x="4800600" y="4045803"/>
              <a:ext cx="914400" cy="381000"/>
            </a:xfrm>
            <a:prstGeom prst="roundRect">
              <a:avLst/>
            </a:prstGeom>
            <a:solidFill>
              <a:srgbClr val="FFD96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00"/>
                  </a:solidFill>
                  <a:effectLst/>
                  <a:latin typeface="Times New Roman" pitchFamily="18" charset="0"/>
                  <a:ea typeface="ヒラギノ角ゴ ProN W3" pitchFamily="-109" charset="-128"/>
                  <a:cs typeface="Times New Roman" pitchFamily="18" charset="0"/>
                  <a:sym typeface="Arial" pitchFamily="-109" charset="0"/>
                </a:rPr>
                <a:t>B</a:t>
              </a:r>
              <a:endParaRPr kumimoji="0" lang="en-US" sz="2400" b="0" i="0" u="none" strike="noStrike" cap="none" normalizeH="0" baseline="0" dirty="0">
                <a:ln>
                  <a:noFill/>
                </a:ln>
                <a:solidFill>
                  <a:srgbClr val="000000"/>
                </a:solidFill>
                <a:effectLst/>
                <a:latin typeface="Times New Roman" pitchFamily="18" charset="0"/>
                <a:ea typeface="ヒラギノ角ゴ ProN W3" pitchFamily="-109" charset="-128"/>
                <a:cs typeface="Times New Roman" pitchFamily="18" charset="0"/>
                <a:sym typeface="Arial" pitchFamily="-109" charset="0"/>
              </a:endParaRPr>
            </a:p>
          </p:txBody>
        </p:sp>
        <p:sp>
          <p:nvSpPr>
            <p:cNvPr id="30" name="Rounded Rectangle 29"/>
            <p:cNvSpPr/>
            <p:nvPr/>
          </p:nvSpPr>
          <p:spPr bwMode="auto">
            <a:xfrm>
              <a:off x="4800600" y="4655403"/>
              <a:ext cx="914400" cy="381000"/>
            </a:xfrm>
            <a:prstGeom prst="roundRect">
              <a:avLst/>
            </a:prstGeom>
            <a:solidFill>
              <a:srgbClr val="FFD96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400" dirty="0">
                  <a:latin typeface="Times New Roman" pitchFamily="18" charset="0"/>
                  <a:ea typeface="ヒラギノ角ゴ ProN W3" pitchFamily="-109" charset="-128"/>
                  <a:cs typeface="Times New Roman" pitchFamily="18" charset="0"/>
                  <a:sym typeface="Arial" pitchFamily="-109" charset="0"/>
                </a:rPr>
                <a:t>C</a:t>
              </a:r>
              <a:endParaRPr kumimoji="0" lang="en-US" sz="2400" b="0" i="0" u="none" strike="noStrike" cap="none" normalizeH="0" baseline="0" dirty="0">
                <a:ln>
                  <a:noFill/>
                </a:ln>
                <a:solidFill>
                  <a:srgbClr val="000000"/>
                </a:solidFill>
                <a:effectLst/>
                <a:latin typeface="Times New Roman" pitchFamily="18" charset="0"/>
                <a:ea typeface="ヒラギノ角ゴ ProN W3" pitchFamily="-109" charset="-128"/>
                <a:cs typeface="Times New Roman" pitchFamily="18" charset="0"/>
                <a:sym typeface="Arial" pitchFamily="-109" charset="0"/>
              </a:endParaRPr>
            </a:p>
          </p:txBody>
        </p:sp>
        <p:sp>
          <p:nvSpPr>
            <p:cNvPr id="31" name="Rounded Rectangle 30"/>
            <p:cNvSpPr/>
            <p:nvPr/>
          </p:nvSpPr>
          <p:spPr bwMode="auto">
            <a:xfrm>
              <a:off x="6248400" y="4655403"/>
              <a:ext cx="914400" cy="381000"/>
            </a:xfrm>
            <a:prstGeom prst="roundRect">
              <a:avLst/>
            </a:prstGeom>
            <a:solidFill>
              <a:schemeClr val="bg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400" dirty="0">
                  <a:latin typeface="Times New Roman" pitchFamily="18" charset="0"/>
                  <a:ea typeface="ヒラギノ角ゴ ProN W3" pitchFamily="-109" charset="-128"/>
                  <a:cs typeface="Times New Roman" pitchFamily="18" charset="0"/>
                  <a:sym typeface="Arial" pitchFamily="-109" charset="0"/>
                </a:rPr>
                <a:t>D</a:t>
              </a:r>
              <a:endParaRPr kumimoji="0" lang="en-US" sz="2400" b="0" i="0" u="none" strike="noStrike" cap="none" normalizeH="0" baseline="0" dirty="0">
                <a:ln>
                  <a:noFill/>
                </a:ln>
                <a:solidFill>
                  <a:srgbClr val="000000"/>
                </a:solidFill>
                <a:effectLst/>
                <a:latin typeface="Times New Roman" pitchFamily="18" charset="0"/>
                <a:ea typeface="ヒラギノ角ゴ ProN W3" pitchFamily="-109" charset="-128"/>
                <a:cs typeface="Times New Roman" pitchFamily="18" charset="0"/>
                <a:sym typeface="Arial" pitchFamily="-109" charset="0"/>
              </a:endParaRPr>
            </a:p>
          </p:txBody>
        </p:sp>
        <p:sp>
          <p:nvSpPr>
            <p:cNvPr id="32" name="TextBox 31"/>
            <p:cNvSpPr txBox="1"/>
            <p:nvPr/>
          </p:nvSpPr>
          <p:spPr>
            <a:xfrm>
              <a:off x="3124200" y="3131403"/>
              <a:ext cx="1371600" cy="830997"/>
            </a:xfrm>
            <a:prstGeom prst="rect">
              <a:avLst/>
            </a:prstGeom>
            <a:noFill/>
          </p:spPr>
          <p:txBody>
            <a:bodyPr wrap="square" rtlCol="0">
              <a:spAutoFit/>
            </a:bodyPr>
            <a:lstStyle/>
            <a:p>
              <a:pPr algn="ctr"/>
              <a:r>
                <a:rPr lang="en-US" sz="2400" dirty="0" smtClean="0">
                  <a:latin typeface="Times New Roman" pitchFamily="18" charset="0"/>
                  <a:cs typeface="Times New Roman" pitchFamily="18" charset="0"/>
                </a:rPr>
                <a:t>Basic Level</a:t>
              </a:r>
              <a:endParaRPr lang="en-US" sz="2400" dirty="0">
                <a:latin typeface="Times New Roman" pitchFamily="18" charset="0"/>
                <a:cs typeface="Times New Roman" pitchFamily="18" charset="0"/>
              </a:endParaRPr>
            </a:p>
          </p:txBody>
        </p:sp>
      </p:grpSp>
      <p:sp>
        <p:nvSpPr>
          <p:cNvPr id="20" name="TextBox 19"/>
          <p:cNvSpPr txBox="1"/>
          <p:nvPr/>
        </p:nvSpPr>
        <p:spPr>
          <a:xfrm>
            <a:off x="152400" y="5715000"/>
            <a:ext cx="7315200" cy="584776"/>
          </a:xfrm>
          <a:prstGeom prst="rect">
            <a:avLst/>
          </a:prstGeom>
          <a:noFill/>
        </p:spPr>
        <p:txBody>
          <a:bodyPr wrap="square" rtlCol="0">
            <a:spAutoFit/>
          </a:bodyPr>
          <a:lstStyle/>
          <a:p>
            <a:r>
              <a:rPr lang="en-US" sz="1600" dirty="0">
                <a:latin typeface="Times New Roman" pitchFamily="18" charset="0"/>
                <a:cs typeface="Times New Roman" pitchFamily="18" charset="0"/>
              </a:rPr>
              <a:t>Figure developed from E. </a:t>
            </a:r>
            <a:r>
              <a:rPr lang="en-US" sz="1600" dirty="0" err="1">
                <a:latin typeface="Times New Roman" pitchFamily="18" charset="0"/>
                <a:cs typeface="Times New Roman" pitchFamily="18" charset="0"/>
              </a:rPr>
              <a:t>Rosch</a:t>
            </a:r>
            <a:r>
              <a:rPr lang="en-US" sz="1600" dirty="0">
                <a:latin typeface="Times New Roman" pitchFamily="18" charset="0"/>
                <a:cs typeface="Times New Roman" pitchFamily="18" charset="0"/>
              </a:rPr>
              <a:t>, “Principles of Categorization,” </a:t>
            </a:r>
            <a:r>
              <a:rPr lang="en-US" sz="1600" i="1" dirty="0">
                <a:latin typeface="Times New Roman" pitchFamily="18" charset="0"/>
                <a:cs typeface="Times New Roman" pitchFamily="18" charset="0"/>
              </a:rPr>
              <a:t>Cognition and Categorization</a:t>
            </a:r>
            <a:r>
              <a:rPr lang="en-US" sz="1600" dirty="0">
                <a:latin typeface="Times New Roman" pitchFamily="18" charset="0"/>
                <a:cs typeface="Times New Roman" pitchFamily="18" charset="0"/>
              </a:rPr>
              <a:t>, pp. 27-48, 1978.</a:t>
            </a:r>
          </a:p>
        </p:txBody>
      </p:sp>
    </p:spTree>
    <p:extLst>
      <p:ext uri="{BB962C8B-B14F-4D97-AF65-F5344CB8AC3E}">
        <p14:creationId xmlns:p14="http://schemas.microsoft.com/office/powerpoint/2010/main" val="3560602622"/>
      </p:ext>
    </p:extLst>
  </p:cSld>
  <p:clrMapOvr>
    <a:masterClrMapping/>
  </p:clrMapOvr>
  <p:transition advClick="0" advTm="20000"/>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What features of input description increase or decrease validity?</a:t>
            </a:r>
            <a:br>
              <a:rPr lang="en-US" dirty="0"/>
            </a:br>
            <a:endParaRPr lang="en-US" dirty="0"/>
          </a:p>
        </p:txBody>
      </p:sp>
      <p:sp>
        <p:nvSpPr>
          <p:cNvPr id="19" name="TextBox 18"/>
          <p:cNvSpPr txBox="1"/>
          <p:nvPr/>
        </p:nvSpPr>
        <p:spPr>
          <a:xfrm>
            <a:off x="752475" y="2975429"/>
            <a:ext cx="1905000" cy="830997"/>
          </a:xfrm>
          <a:prstGeom prst="rect">
            <a:avLst/>
          </a:prstGeom>
          <a:noFill/>
        </p:spPr>
        <p:txBody>
          <a:bodyPr wrap="square" rtlCol="0">
            <a:spAutoFit/>
          </a:bodyPr>
          <a:lstStyle/>
          <a:p>
            <a:pPr algn="ctr"/>
            <a:r>
              <a:rPr lang="en-US" sz="2400" dirty="0" smtClean="0">
                <a:latin typeface="Times New Roman" pitchFamily="18" charset="0"/>
                <a:cs typeface="Times New Roman" pitchFamily="18" charset="0"/>
              </a:rPr>
              <a:t>Segmentation (Vertical)</a:t>
            </a:r>
            <a:endParaRPr lang="en-US" sz="2400" dirty="0">
              <a:latin typeface="Times New Roman" pitchFamily="18" charset="0"/>
              <a:cs typeface="Times New Roman" pitchFamily="18" charset="0"/>
            </a:endParaRPr>
          </a:p>
        </p:txBody>
      </p:sp>
      <p:sp>
        <p:nvSpPr>
          <p:cNvPr id="21" name="TextBox 20"/>
          <p:cNvSpPr txBox="1"/>
          <p:nvPr/>
        </p:nvSpPr>
        <p:spPr>
          <a:xfrm>
            <a:off x="2400300" y="4800600"/>
            <a:ext cx="5334000" cy="461665"/>
          </a:xfrm>
          <a:prstGeom prst="rect">
            <a:avLst/>
          </a:prstGeom>
          <a:noFill/>
        </p:spPr>
        <p:txBody>
          <a:bodyPr wrap="square" rtlCol="0">
            <a:spAutoFit/>
          </a:bodyPr>
          <a:lstStyle/>
          <a:p>
            <a:pPr algn="ctr"/>
            <a:r>
              <a:rPr lang="en-US" sz="2400" dirty="0" smtClean="0">
                <a:latin typeface="Times New Roman" pitchFamily="18" charset="0"/>
                <a:cs typeface="Times New Roman" pitchFamily="18" charset="0"/>
              </a:rPr>
              <a:t>Level of Inclusiveness (Horizontal)</a:t>
            </a:r>
            <a:endParaRPr lang="en-US" sz="2400" dirty="0">
              <a:latin typeface="Times New Roman" pitchFamily="18" charset="0"/>
              <a:cs typeface="Times New Roman" pitchFamily="18" charset="0"/>
            </a:endParaRPr>
          </a:p>
        </p:txBody>
      </p:sp>
      <p:grpSp>
        <p:nvGrpSpPr>
          <p:cNvPr id="5" name="Group 4"/>
          <p:cNvGrpSpPr/>
          <p:nvPr/>
        </p:nvGrpSpPr>
        <p:grpSpPr>
          <a:xfrm>
            <a:off x="2667000" y="1770607"/>
            <a:ext cx="4800600" cy="2888398"/>
            <a:chOff x="2819400" y="2064602"/>
            <a:chExt cx="4800600" cy="3124200"/>
          </a:xfrm>
        </p:grpSpPr>
        <p:cxnSp>
          <p:nvCxnSpPr>
            <p:cNvPr id="7" name="Straight Arrow Connector 6"/>
            <p:cNvCxnSpPr/>
            <p:nvPr/>
          </p:nvCxnSpPr>
          <p:spPr bwMode="auto">
            <a:xfrm>
              <a:off x="2819400" y="5188802"/>
              <a:ext cx="4800600" cy="0"/>
            </a:xfrm>
            <a:prstGeom prst="straightConnector1">
              <a:avLst/>
            </a:prstGeom>
            <a:solidFill>
              <a:srgbClr val="BBE0E3"/>
            </a:solidFill>
            <a:ln w="19050" cap="flat" cmpd="sng" algn="ctr">
              <a:solidFill>
                <a:srgbClr val="000000"/>
              </a:solidFill>
              <a:prstDash val="solid"/>
              <a:round/>
              <a:headEnd type="none" w="med" len="med"/>
              <a:tailEnd type="triangle" w="lg" len="lg"/>
            </a:ln>
            <a:effectLst/>
          </p:spPr>
        </p:cxnSp>
        <p:cxnSp>
          <p:nvCxnSpPr>
            <p:cNvPr id="9" name="Straight Arrow Connector 8"/>
            <p:cNvCxnSpPr/>
            <p:nvPr/>
          </p:nvCxnSpPr>
          <p:spPr bwMode="auto">
            <a:xfrm flipV="1">
              <a:off x="2819400" y="2064602"/>
              <a:ext cx="0" cy="3124200"/>
            </a:xfrm>
            <a:prstGeom prst="straightConnector1">
              <a:avLst/>
            </a:prstGeom>
            <a:solidFill>
              <a:srgbClr val="BBE0E3"/>
            </a:solidFill>
            <a:ln w="19050" cap="flat" cmpd="sng" algn="ctr">
              <a:solidFill>
                <a:srgbClr val="000000"/>
              </a:solidFill>
              <a:prstDash val="solid"/>
              <a:round/>
              <a:headEnd type="none" w="med" len="med"/>
              <a:tailEnd type="triangle" w="lg" len="lg"/>
            </a:ln>
            <a:effectLst/>
          </p:spPr>
        </p:cxnSp>
        <p:cxnSp>
          <p:nvCxnSpPr>
            <p:cNvPr id="13" name="Straight Connector 12"/>
            <p:cNvCxnSpPr/>
            <p:nvPr/>
          </p:nvCxnSpPr>
          <p:spPr bwMode="auto">
            <a:xfrm>
              <a:off x="2819400" y="2445602"/>
              <a:ext cx="3124200" cy="0"/>
            </a:xfrm>
            <a:prstGeom prst="line">
              <a:avLst/>
            </a:prstGeom>
            <a:solidFill>
              <a:srgbClr val="BBE0E3"/>
            </a:solidFill>
            <a:ln w="19050" cap="flat" cmpd="sng" algn="ctr">
              <a:solidFill>
                <a:srgbClr val="000000"/>
              </a:solidFill>
              <a:prstDash val="solid"/>
              <a:round/>
              <a:headEnd type="none" w="med" len="med"/>
              <a:tailEnd type="none" w="med" len="med"/>
            </a:ln>
            <a:effectLst/>
          </p:spPr>
        </p:cxnSp>
        <p:cxnSp>
          <p:nvCxnSpPr>
            <p:cNvPr id="15" name="Straight Connector 14"/>
            <p:cNvCxnSpPr/>
            <p:nvPr/>
          </p:nvCxnSpPr>
          <p:spPr bwMode="auto">
            <a:xfrm>
              <a:off x="5943600" y="2445602"/>
              <a:ext cx="0" cy="2743200"/>
            </a:xfrm>
            <a:prstGeom prst="line">
              <a:avLst/>
            </a:prstGeom>
            <a:solidFill>
              <a:srgbClr val="BBE0E3"/>
            </a:solidFill>
            <a:ln w="19050" cap="flat" cmpd="sng" algn="ctr">
              <a:solidFill>
                <a:srgbClr val="000000"/>
              </a:solidFill>
              <a:prstDash val="solid"/>
              <a:round/>
              <a:headEnd type="none" w="med" len="med"/>
              <a:tailEnd type="none" w="med" len="med"/>
            </a:ln>
            <a:effectLst/>
          </p:spPr>
        </p:cxnSp>
        <p:sp>
          <p:nvSpPr>
            <p:cNvPr id="23" name="Rectangle 22"/>
            <p:cNvSpPr/>
            <p:nvPr/>
          </p:nvSpPr>
          <p:spPr bwMode="auto">
            <a:xfrm>
              <a:off x="2819400" y="2445602"/>
              <a:ext cx="3124200" cy="2743200"/>
            </a:xfrm>
            <a:prstGeom prst="rect">
              <a:avLst/>
            </a:prstGeom>
            <a:solidFill>
              <a:srgbClr val="BBE0E3"/>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rgbClr val="000000"/>
                </a:solidFill>
                <a:effectLst/>
                <a:latin typeface="Arial" pitchFamily="-109" charset="0"/>
                <a:ea typeface="ヒラギノ角ゴ ProN W3" pitchFamily="-109" charset="-128"/>
                <a:cs typeface="ヒラギノ角ゴ ProN W3" pitchFamily="-109" charset="-128"/>
                <a:sym typeface="Arial" pitchFamily="-109" charset="0"/>
              </a:endParaRPr>
            </a:p>
          </p:txBody>
        </p:sp>
        <p:sp>
          <p:nvSpPr>
            <p:cNvPr id="24" name="Rectangle 23"/>
            <p:cNvSpPr/>
            <p:nvPr/>
          </p:nvSpPr>
          <p:spPr bwMode="auto">
            <a:xfrm>
              <a:off x="3124200" y="3131403"/>
              <a:ext cx="1371600" cy="2057399"/>
            </a:xfrm>
            <a:prstGeom prst="rect">
              <a:avLst/>
            </a:prstGeom>
            <a:solidFill>
              <a:srgbClr val="00B050"/>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rgbClr val="000000"/>
                </a:solidFill>
                <a:effectLst/>
                <a:latin typeface="Arial" pitchFamily="-109" charset="0"/>
                <a:ea typeface="ヒラギノ角ゴ ProN W3" pitchFamily="-109" charset="-128"/>
                <a:cs typeface="ヒラギノ角ゴ ProN W3" pitchFamily="-109" charset="-128"/>
                <a:sym typeface="Arial" pitchFamily="-109" charset="0"/>
              </a:endParaRPr>
            </a:p>
          </p:txBody>
        </p:sp>
        <p:sp>
          <p:nvSpPr>
            <p:cNvPr id="25" name="TextBox 24"/>
            <p:cNvSpPr txBox="1"/>
            <p:nvPr/>
          </p:nvSpPr>
          <p:spPr>
            <a:xfrm>
              <a:off x="4572000" y="2445602"/>
              <a:ext cx="1371600" cy="461665"/>
            </a:xfrm>
            <a:prstGeom prst="rect">
              <a:avLst/>
            </a:prstGeom>
            <a:noFill/>
          </p:spPr>
          <p:txBody>
            <a:bodyPr wrap="square" rtlCol="0">
              <a:spAutoFit/>
            </a:bodyPr>
            <a:lstStyle/>
            <a:p>
              <a:pPr algn="ctr"/>
              <a:r>
                <a:rPr lang="en-US" sz="2400" dirty="0" smtClean="0">
                  <a:latin typeface="Times New Roman" pitchFamily="18" charset="0"/>
                  <a:cs typeface="Times New Roman" pitchFamily="18" charset="0"/>
                </a:rPr>
                <a:t>Category</a:t>
              </a:r>
              <a:endParaRPr lang="en-US" sz="2400" dirty="0">
                <a:latin typeface="Times New Roman" pitchFamily="18" charset="0"/>
                <a:cs typeface="Times New Roman" pitchFamily="18" charset="0"/>
              </a:endParaRPr>
            </a:p>
          </p:txBody>
        </p:sp>
        <p:sp>
          <p:nvSpPr>
            <p:cNvPr id="26" name="Rounded Rectangle 25"/>
            <p:cNvSpPr/>
            <p:nvPr/>
          </p:nvSpPr>
          <p:spPr bwMode="auto">
            <a:xfrm>
              <a:off x="3352800" y="4655403"/>
              <a:ext cx="914400" cy="381000"/>
            </a:xfrm>
            <a:prstGeom prst="roundRect">
              <a:avLst/>
            </a:prstGeom>
            <a:solidFill>
              <a:schemeClr val="bg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00"/>
                  </a:solidFill>
                  <a:effectLst/>
                  <a:latin typeface="Times New Roman" pitchFamily="18" charset="0"/>
                  <a:ea typeface="ヒラギノ角ゴ ProN W3" pitchFamily="-109" charset="-128"/>
                  <a:cs typeface="Times New Roman" pitchFamily="18" charset="0"/>
                  <a:sym typeface="Arial" pitchFamily="-109" charset="0"/>
                </a:rPr>
                <a:t>A</a:t>
              </a:r>
              <a:endParaRPr kumimoji="0" lang="en-US" sz="2400" b="0" i="0" u="none" strike="noStrike" cap="none" normalizeH="0" baseline="0" dirty="0">
                <a:ln>
                  <a:noFill/>
                </a:ln>
                <a:solidFill>
                  <a:srgbClr val="000000"/>
                </a:solidFill>
                <a:effectLst/>
                <a:latin typeface="Times New Roman" pitchFamily="18" charset="0"/>
                <a:ea typeface="ヒラギノ角ゴ ProN W3" pitchFamily="-109" charset="-128"/>
                <a:cs typeface="Times New Roman" pitchFamily="18" charset="0"/>
                <a:sym typeface="Arial" pitchFamily="-109" charset="0"/>
              </a:endParaRPr>
            </a:p>
          </p:txBody>
        </p:sp>
        <p:sp>
          <p:nvSpPr>
            <p:cNvPr id="29" name="Rounded Rectangle 28"/>
            <p:cNvSpPr/>
            <p:nvPr/>
          </p:nvSpPr>
          <p:spPr bwMode="auto">
            <a:xfrm>
              <a:off x="4800600" y="4045803"/>
              <a:ext cx="914400" cy="381000"/>
            </a:xfrm>
            <a:prstGeom prst="roundRect">
              <a:avLst/>
            </a:prstGeom>
            <a:solidFill>
              <a:schemeClr val="bg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00"/>
                  </a:solidFill>
                  <a:effectLst/>
                  <a:latin typeface="Times New Roman" pitchFamily="18" charset="0"/>
                  <a:ea typeface="ヒラギノ角ゴ ProN W3" pitchFamily="-109" charset="-128"/>
                  <a:cs typeface="Times New Roman" pitchFamily="18" charset="0"/>
                  <a:sym typeface="Arial" pitchFamily="-109" charset="0"/>
                </a:rPr>
                <a:t>B</a:t>
              </a:r>
              <a:endParaRPr kumimoji="0" lang="en-US" sz="2400" b="0" i="0" u="none" strike="noStrike" cap="none" normalizeH="0" baseline="0" dirty="0">
                <a:ln>
                  <a:noFill/>
                </a:ln>
                <a:solidFill>
                  <a:srgbClr val="000000"/>
                </a:solidFill>
                <a:effectLst/>
                <a:latin typeface="Times New Roman" pitchFamily="18" charset="0"/>
                <a:ea typeface="ヒラギノ角ゴ ProN W3" pitchFamily="-109" charset="-128"/>
                <a:cs typeface="Times New Roman" pitchFamily="18" charset="0"/>
                <a:sym typeface="Arial" pitchFamily="-109" charset="0"/>
              </a:endParaRPr>
            </a:p>
          </p:txBody>
        </p:sp>
        <p:sp>
          <p:nvSpPr>
            <p:cNvPr id="30" name="Rounded Rectangle 29"/>
            <p:cNvSpPr/>
            <p:nvPr/>
          </p:nvSpPr>
          <p:spPr bwMode="auto">
            <a:xfrm>
              <a:off x="4800600" y="4655403"/>
              <a:ext cx="914400" cy="381000"/>
            </a:xfrm>
            <a:prstGeom prst="roundRect">
              <a:avLst/>
            </a:prstGeom>
            <a:solidFill>
              <a:schemeClr val="bg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400" dirty="0">
                  <a:latin typeface="Times New Roman" pitchFamily="18" charset="0"/>
                  <a:ea typeface="ヒラギノ角ゴ ProN W3" pitchFamily="-109" charset="-128"/>
                  <a:cs typeface="Times New Roman" pitchFamily="18" charset="0"/>
                  <a:sym typeface="Arial" pitchFamily="-109" charset="0"/>
                </a:rPr>
                <a:t>C</a:t>
              </a:r>
              <a:endParaRPr kumimoji="0" lang="en-US" sz="2400" b="0" i="0" u="none" strike="noStrike" cap="none" normalizeH="0" baseline="0" dirty="0">
                <a:ln>
                  <a:noFill/>
                </a:ln>
                <a:solidFill>
                  <a:srgbClr val="000000"/>
                </a:solidFill>
                <a:effectLst/>
                <a:latin typeface="Times New Roman" pitchFamily="18" charset="0"/>
                <a:ea typeface="ヒラギノ角ゴ ProN W3" pitchFamily="-109" charset="-128"/>
                <a:cs typeface="Times New Roman" pitchFamily="18" charset="0"/>
                <a:sym typeface="Arial" pitchFamily="-109" charset="0"/>
              </a:endParaRPr>
            </a:p>
          </p:txBody>
        </p:sp>
        <p:sp>
          <p:nvSpPr>
            <p:cNvPr id="31" name="Rounded Rectangle 30"/>
            <p:cNvSpPr/>
            <p:nvPr/>
          </p:nvSpPr>
          <p:spPr bwMode="auto">
            <a:xfrm>
              <a:off x="6248400" y="4655403"/>
              <a:ext cx="914400" cy="381000"/>
            </a:xfrm>
            <a:prstGeom prst="roundRect">
              <a:avLst/>
            </a:prstGeom>
            <a:solidFill>
              <a:srgbClr val="FFD96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400" dirty="0">
                  <a:latin typeface="Times New Roman" pitchFamily="18" charset="0"/>
                  <a:ea typeface="ヒラギノ角ゴ ProN W3" pitchFamily="-109" charset="-128"/>
                  <a:cs typeface="Times New Roman" pitchFamily="18" charset="0"/>
                  <a:sym typeface="Arial" pitchFamily="-109" charset="0"/>
                </a:rPr>
                <a:t>D</a:t>
              </a:r>
              <a:endParaRPr kumimoji="0" lang="en-US" sz="2400" b="0" i="0" u="none" strike="noStrike" cap="none" normalizeH="0" baseline="0" dirty="0">
                <a:ln>
                  <a:noFill/>
                </a:ln>
                <a:solidFill>
                  <a:srgbClr val="000000"/>
                </a:solidFill>
                <a:effectLst/>
                <a:latin typeface="Times New Roman" pitchFamily="18" charset="0"/>
                <a:ea typeface="ヒラギノ角ゴ ProN W3" pitchFamily="-109" charset="-128"/>
                <a:cs typeface="Times New Roman" pitchFamily="18" charset="0"/>
                <a:sym typeface="Arial" pitchFamily="-109" charset="0"/>
              </a:endParaRPr>
            </a:p>
          </p:txBody>
        </p:sp>
        <p:sp>
          <p:nvSpPr>
            <p:cNvPr id="32" name="TextBox 31"/>
            <p:cNvSpPr txBox="1"/>
            <p:nvPr/>
          </p:nvSpPr>
          <p:spPr>
            <a:xfrm>
              <a:off x="3124200" y="3131403"/>
              <a:ext cx="1371600" cy="830997"/>
            </a:xfrm>
            <a:prstGeom prst="rect">
              <a:avLst/>
            </a:prstGeom>
            <a:noFill/>
          </p:spPr>
          <p:txBody>
            <a:bodyPr wrap="square" rtlCol="0">
              <a:spAutoFit/>
            </a:bodyPr>
            <a:lstStyle/>
            <a:p>
              <a:pPr algn="ctr"/>
              <a:r>
                <a:rPr lang="en-US" sz="2400" dirty="0" smtClean="0">
                  <a:latin typeface="Times New Roman" pitchFamily="18" charset="0"/>
                  <a:cs typeface="Times New Roman" pitchFamily="18" charset="0"/>
                </a:rPr>
                <a:t>Basic Level</a:t>
              </a:r>
              <a:endParaRPr lang="en-US" sz="2400" dirty="0">
                <a:latin typeface="Times New Roman" pitchFamily="18" charset="0"/>
                <a:cs typeface="Times New Roman" pitchFamily="18" charset="0"/>
              </a:endParaRPr>
            </a:p>
          </p:txBody>
        </p:sp>
      </p:grpSp>
      <p:sp>
        <p:nvSpPr>
          <p:cNvPr id="20" name="TextBox 19"/>
          <p:cNvSpPr txBox="1"/>
          <p:nvPr/>
        </p:nvSpPr>
        <p:spPr>
          <a:xfrm>
            <a:off x="152400" y="5715000"/>
            <a:ext cx="7315200" cy="584776"/>
          </a:xfrm>
          <a:prstGeom prst="rect">
            <a:avLst/>
          </a:prstGeom>
          <a:noFill/>
        </p:spPr>
        <p:txBody>
          <a:bodyPr wrap="square" rtlCol="0">
            <a:spAutoFit/>
          </a:bodyPr>
          <a:lstStyle/>
          <a:p>
            <a:r>
              <a:rPr lang="en-US" sz="1600" dirty="0" smtClean="0">
                <a:latin typeface="Times New Roman" pitchFamily="18" charset="0"/>
                <a:cs typeface="Times New Roman" pitchFamily="18" charset="0"/>
              </a:rPr>
              <a:t>Figure developed from E. </a:t>
            </a:r>
            <a:r>
              <a:rPr lang="en-US" sz="1600" dirty="0" err="1" smtClean="0">
                <a:latin typeface="Times New Roman" pitchFamily="18" charset="0"/>
                <a:cs typeface="Times New Roman" pitchFamily="18" charset="0"/>
              </a:rPr>
              <a:t>Rosch</a:t>
            </a:r>
            <a:r>
              <a:rPr lang="en-US" sz="1600" dirty="0" smtClean="0">
                <a:latin typeface="Times New Roman" pitchFamily="18" charset="0"/>
                <a:cs typeface="Times New Roman" pitchFamily="18" charset="0"/>
              </a:rPr>
              <a:t>, “Principles of Categorization,” </a:t>
            </a:r>
            <a:r>
              <a:rPr lang="en-US" sz="1600" i="1" dirty="0" smtClean="0">
                <a:latin typeface="Times New Roman" pitchFamily="18" charset="0"/>
                <a:cs typeface="Times New Roman" pitchFamily="18" charset="0"/>
              </a:rPr>
              <a:t>Cognition and Categorization</a:t>
            </a:r>
            <a:r>
              <a:rPr lang="en-US" sz="1600" dirty="0" smtClean="0">
                <a:latin typeface="Times New Roman" pitchFamily="18" charset="0"/>
                <a:cs typeface="Times New Roman" pitchFamily="18" charset="0"/>
              </a:rPr>
              <a:t>, pp. 27-48, 1978.</a:t>
            </a:r>
            <a:endParaRPr lang="en-US" sz="1600" dirty="0">
              <a:latin typeface="Times New Roman" pitchFamily="18" charset="0"/>
              <a:cs typeface="Times New Roman" pitchFamily="18" charset="0"/>
            </a:endParaRPr>
          </a:p>
        </p:txBody>
      </p:sp>
    </p:spTree>
    <p:extLst>
      <p:ext uri="{BB962C8B-B14F-4D97-AF65-F5344CB8AC3E}">
        <p14:creationId xmlns:p14="http://schemas.microsoft.com/office/powerpoint/2010/main" val="3560602622"/>
      </p:ext>
    </p:extLst>
  </p:cSld>
  <p:clrMapOvr>
    <a:masterClrMapping/>
  </p:clrMapOvr>
  <p:transition advClick="0" advTm="20000"/>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Ongoing Work</a:t>
            </a:r>
            <a:r>
              <a:rPr lang="en-US" dirty="0"/>
              <a:t/>
            </a:r>
            <a:br>
              <a:rPr lang="en-US" dirty="0"/>
            </a:br>
            <a:endParaRPr lang="en-US" dirty="0"/>
          </a:p>
        </p:txBody>
      </p:sp>
      <p:sp>
        <p:nvSpPr>
          <p:cNvPr id="5" name="Content Placeholder 4"/>
          <p:cNvSpPr>
            <a:spLocks noGrp="1"/>
          </p:cNvSpPr>
          <p:nvPr>
            <p:ph idx="1"/>
          </p:nvPr>
        </p:nvSpPr>
        <p:spPr/>
        <p:txBody>
          <a:bodyPr/>
          <a:lstStyle/>
          <a:p>
            <a:pPr>
              <a:spcAft>
                <a:spcPts val="1200"/>
              </a:spcAft>
            </a:pPr>
            <a:r>
              <a:rPr lang="en-US" dirty="0" smtClean="0"/>
              <a:t>Diving deeper into cognitive psychology</a:t>
            </a:r>
          </a:p>
          <a:p>
            <a:pPr>
              <a:spcAft>
                <a:spcPts val="1200"/>
              </a:spcAft>
            </a:pPr>
            <a:r>
              <a:rPr lang="en-US" dirty="0" smtClean="0"/>
              <a:t>Designing experiments for pilot studies</a:t>
            </a:r>
          </a:p>
          <a:p>
            <a:pPr>
              <a:spcAft>
                <a:spcPts val="1200"/>
              </a:spcAft>
            </a:pPr>
            <a:r>
              <a:rPr lang="en-US" dirty="0" smtClean="0"/>
              <a:t>Extending literature review of our requirements pattern taxonomy</a:t>
            </a:r>
            <a:endParaRPr lang="en-US" dirty="0"/>
          </a:p>
        </p:txBody>
      </p:sp>
    </p:spTree>
    <p:extLst>
      <p:ext uri="{BB962C8B-B14F-4D97-AF65-F5344CB8AC3E}">
        <p14:creationId xmlns:p14="http://schemas.microsoft.com/office/powerpoint/2010/main" val="4234985719"/>
      </p:ext>
    </p:extLst>
  </p:cSld>
  <p:clrMapOvr>
    <a:masterClrMapping/>
  </p:clrMapOvr>
  <p:transition advClick="0" advTm="20000"/>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5"/>
          <p:cNvSpPr>
            <a:spLocks noGrp="1" noChangeArrowheads="1"/>
          </p:cNvSpPr>
          <p:nvPr>
            <p:ph type="title"/>
          </p:nvPr>
        </p:nvSpPr>
        <p:spPr bwMode="auto">
          <a:xfrm>
            <a:off x="800100" y="4267200"/>
            <a:ext cx="7543800" cy="1533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132080" bIns="45720" numCol="1" anchor="t" anchorCtr="0" compatLnSpc="1">
            <a:prstTxWarp prst="textNoShape">
              <a:avLst/>
            </a:prstTxWarp>
          </a:bodyPr>
          <a:lstStyle/>
          <a:p>
            <a:pPr indent="0" algn="l" eaLnBrk="1" hangingPunct="1"/>
            <a:r>
              <a:rPr lang="en-US" sz="1600" b="1" dirty="0" smtClean="0">
                <a:latin typeface="Times New Roman" pitchFamily="18" charset="0"/>
                <a:cs typeface="Times New Roman" pitchFamily="18" charset="0"/>
              </a:rPr>
              <a:t>Acknowledgement</a:t>
            </a:r>
            <a:r>
              <a:rPr lang="en-US" sz="2800" dirty="0" smtClean="0">
                <a:latin typeface="Times New Roman" pitchFamily="18" charset="0"/>
                <a:cs typeface="Times New Roman" pitchFamily="18" charset="0"/>
              </a:rPr>
              <a:t/>
            </a:r>
            <a:br>
              <a:rPr lang="en-US" sz="28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This presentation is based on the </a:t>
            </a:r>
            <a:r>
              <a:rPr lang="en-US" sz="1400" dirty="0" err="1" smtClean="0">
                <a:latin typeface="Times New Roman" pitchFamily="18" charset="0"/>
                <a:cs typeface="Times New Roman" pitchFamily="18" charset="0"/>
              </a:rPr>
              <a:t>Pecha</a:t>
            </a: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Kucha</a:t>
            </a:r>
            <a:r>
              <a:rPr lang="en-US" sz="1400" dirty="0" smtClean="0">
                <a:latin typeface="Times New Roman" pitchFamily="18" charset="0"/>
                <a:cs typeface="Times New Roman" pitchFamily="18" charset="0"/>
              </a:rPr>
              <a:t> template available at</a:t>
            </a:r>
            <a:br>
              <a:rPr lang="en-US" sz="14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
            </a:r>
            <a:br>
              <a:rPr lang="en-US" sz="12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http://www.conferencesthatwork.com/index.php/presentations/2011/09/tips-for-organizing-pecha-kucha-sessions/</a:t>
            </a:r>
          </a:p>
        </p:txBody>
      </p:sp>
      <p:sp>
        <p:nvSpPr>
          <p:cNvPr id="25603" name="Rectangle 5"/>
          <p:cNvSpPr>
            <a:spLocks noChangeArrowheads="1"/>
          </p:cNvSpPr>
          <p:nvPr/>
        </p:nvSpPr>
        <p:spPr bwMode="auto">
          <a:xfrm>
            <a:off x="0" y="5791200"/>
            <a:ext cx="9144000" cy="1066800"/>
          </a:xfrm>
          <a:prstGeom prst="rect">
            <a:avLst/>
          </a:prstGeom>
          <a:gradFill>
            <a:gsLst>
              <a:gs pos="0">
                <a:srgbClr val="003300"/>
              </a:gs>
              <a:gs pos="50000">
                <a:schemeClr val="accent1">
                  <a:shade val="67500"/>
                  <a:satMod val="115000"/>
                </a:schemeClr>
              </a:gs>
              <a:gs pos="100000">
                <a:schemeClr val="accent1">
                  <a:shade val="100000"/>
                  <a:satMod val="115000"/>
                </a:schemeClr>
              </a:gs>
            </a:gsLst>
            <a:lin ang="5400000" scaled="0"/>
          </a:gradFill>
          <a:ln>
            <a:noFill/>
          </a:ln>
          <a:extLst/>
        </p:spPr>
        <p:txBody>
          <a:bodyPr/>
          <a:lstStyle/>
          <a:p>
            <a:pPr algn="ctr"/>
            <a:endParaRPr lang="en-US" sz="800" b="1" dirty="0">
              <a:solidFill>
                <a:schemeClr val="tx1">
                  <a:lumMod val="65000"/>
                  <a:lumOff val="35000"/>
                </a:schemeClr>
              </a:solidFill>
            </a:endParaRPr>
          </a:p>
          <a:p>
            <a:pPr algn="ctr"/>
            <a:r>
              <a:rPr lang="en-US" sz="1600" b="1" dirty="0">
                <a:solidFill>
                  <a:schemeClr val="tx1">
                    <a:lumMod val="65000"/>
                    <a:lumOff val="35000"/>
                  </a:schemeClr>
                </a:solidFill>
                <a:latin typeface="Times New Roman" pitchFamily="18" charset="0"/>
                <a:cs typeface="Times New Roman" pitchFamily="18" charset="0"/>
              </a:rPr>
              <a:t>Second International Workshop on Requirements Patterns (RePa’12)</a:t>
            </a:r>
          </a:p>
          <a:p>
            <a:pPr algn="ctr"/>
            <a:endParaRPr lang="en-US" sz="800" b="1" i="1" dirty="0">
              <a:solidFill>
                <a:schemeClr val="tx1">
                  <a:lumMod val="65000"/>
                  <a:lumOff val="35000"/>
                </a:schemeClr>
              </a:solidFill>
              <a:latin typeface="Times New Roman" pitchFamily="18" charset="0"/>
              <a:cs typeface="Times New Roman" pitchFamily="18" charset="0"/>
            </a:endParaRPr>
          </a:p>
          <a:p>
            <a:pPr algn="ctr"/>
            <a:r>
              <a:rPr lang="en-US" sz="1200" b="1" i="1" dirty="0">
                <a:solidFill>
                  <a:schemeClr val="tx1">
                    <a:lumMod val="65000"/>
                    <a:lumOff val="35000"/>
                  </a:schemeClr>
                </a:solidFill>
                <a:latin typeface="Times New Roman" pitchFamily="18" charset="0"/>
                <a:cs typeface="Times New Roman" pitchFamily="18" charset="0"/>
              </a:rPr>
              <a:t>24 September 2012, Chicago, USA</a:t>
            </a:r>
          </a:p>
          <a:p>
            <a:pPr algn="ctr"/>
            <a:r>
              <a:rPr lang="en-US" sz="1200" b="1" i="1" dirty="0">
                <a:solidFill>
                  <a:schemeClr val="tx1">
                    <a:lumMod val="65000"/>
                    <a:lumOff val="35000"/>
                  </a:schemeClr>
                </a:solidFill>
                <a:latin typeface="Times New Roman" pitchFamily="18" charset="0"/>
                <a:cs typeface="Times New Roman" pitchFamily="18" charset="0"/>
              </a:rPr>
              <a:t>In conjunction with 20</a:t>
            </a:r>
            <a:r>
              <a:rPr lang="en-US" sz="1200" b="1" i="1" baseline="30000" dirty="0">
                <a:solidFill>
                  <a:schemeClr val="tx1">
                    <a:lumMod val="65000"/>
                    <a:lumOff val="35000"/>
                  </a:schemeClr>
                </a:solidFill>
                <a:latin typeface="Times New Roman" pitchFamily="18" charset="0"/>
                <a:cs typeface="Times New Roman" pitchFamily="18" charset="0"/>
              </a:rPr>
              <a:t>th</a:t>
            </a:r>
            <a:r>
              <a:rPr lang="en-US" sz="1200" b="1" i="1" dirty="0">
                <a:solidFill>
                  <a:schemeClr val="tx1">
                    <a:lumMod val="65000"/>
                    <a:lumOff val="35000"/>
                  </a:schemeClr>
                </a:solidFill>
                <a:latin typeface="Times New Roman" pitchFamily="18" charset="0"/>
                <a:cs typeface="Times New Roman" pitchFamily="18" charset="0"/>
              </a:rPr>
              <a:t> IEEE International Requirements Engineering Conference</a:t>
            </a: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Title &amp; Subtitle">
  <a:themeElements>
    <a:clrScheme name="Title &amp; Subtitl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Title &amp; Subtitle">
      <a:majorFont>
        <a:latin typeface="Arial"/>
        <a:ea typeface="ヒラギノ角ゴ ProN W6"/>
        <a:cs typeface="ヒラギノ角ゴ ProN W6"/>
      </a:majorFont>
      <a:minorFont>
        <a:latin typeface="Arial"/>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BBE0E3"/>
        </a:solidFill>
        <a:ln w="9525"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a:ln>
              <a:noFill/>
            </a:ln>
            <a:solidFill>
              <a:srgbClr val="000000"/>
            </a:solidFill>
            <a:effectLst/>
            <a:latin typeface="Arial" pitchFamily="-109" charset="0"/>
            <a:ea typeface="ヒラギノ角ゴ ProN W3" pitchFamily="-109" charset="-128"/>
            <a:cs typeface="ヒラギノ角ゴ ProN W3" pitchFamily="-109" charset="-128"/>
            <a:sym typeface="Arial" pitchFamily="-109" charset="0"/>
          </a:defRPr>
        </a:defPPr>
      </a:lstStyle>
    </a:spDef>
    <a:lnDef>
      <a:spPr bwMode="auto">
        <a:xfrm>
          <a:off x="0" y="0"/>
          <a:ext cx="1" cy="1"/>
        </a:xfrm>
        <a:custGeom>
          <a:avLst/>
          <a:gdLst/>
          <a:ahLst/>
          <a:cxnLst/>
          <a:rect l="0" t="0" r="0" b="0"/>
          <a:pathLst/>
        </a:custGeom>
        <a:solidFill>
          <a:srgbClr val="BBE0E3"/>
        </a:solidFill>
        <a:ln w="9525"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a:ln>
              <a:noFill/>
            </a:ln>
            <a:solidFill>
              <a:srgbClr val="000000"/>
            </a:solidFill>
            <a:effectLst/>
            <a:latin typeface="Arial" pitchFamily="-109" charset="0"/>
            <a:ea typeface="ヒラギノ角ゴ ProN W3" pitchFamily="-109" charset="-128"/>
            <a:cs typeface="ヒラギノ角ゴ ProN W3" pitchFamily="-109" charset="-128"/>
            <a:sym typeface="Arial" pitchFamily="-109" charset="0"/>
          </a:defRPr>
        </a:defPPr>
      </a:lstStyle>
    </a:lnDef>
  </a:objectDefaults>
  <a:extraClrSchemeLst>
    <a:extraClrScheme>
      <a:clrScheme name="Title &amp; Subtitl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itle &amp; Bullets">
  <a:themeElements>
    <a:clrScheme name="Title &amp; Bulle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Title &amp; Bullets">
      <a:majorFont>
        <a:latin typeface="Arial"/>
        <a:ea typeface="ヒラギノ角ゴ ProN W3"/>
        <a:cs typeface="ヒラギノ角ゴ ProN W3"/>
      </a:majorFont>
      <a:minorFont>
        <a:latin typeface="Arial"/>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BBE0E3"/>
        </a:solidFill>
        <a:ln w="9525"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a:ln>
              <a:noFill/>
            </a:ln>
            <a:solidFill>
              <a:srgbClr val="000000"/>
            </a:solidFill>
            <a:effectLst/>
            <a:latin typeface="Arial" pitchFamily="-109" charset="0"/>
            <a:ea typeface="ヒラギノ角ゴ ProN W3" pitchFamily="-109" charset="-128"/>
            <a:cs typeface="ヒラギノ角ゴ ProN W3" pitchFamily="-109" charset="-128"/>
            <a:sym typeface="Arial" pitchFamily="-109" charset="0"/>
          </a:defRPr>
        </a:defPPr>
      </a:lstStyle>
    </a:spDef>
    <a:lnDef>
      <a:spPr bwMode="auto">
        <a:xfrm>
          <a:off x="0" y="0"/>
          <a:ext cx="1" cy="1"/>
        </a:xfrm>
        <a:custGeom>
          <a:avLst/>
          <a:gdLst/>
          <a:ahLst/>
          <a:cxnLst/>
          <a:rect l="0" t="0" r="0" b="0"/>
          <a:pathLst/>
        </a:custGeom>
        <a:solidFill>
          <a:srgbClr val="BBE0E3"/>
        </a:solidFill>
        <a:ln w="9525"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a:ln>
              <a:noFill/>
            </a:ln>
            <a:solidFill>
              <a:srgbClr val="000000"/>
            </a:solidFill>
            <a:effectLst/>
            <a:latin typeface="Arial" pitchFamily="-109" charset="0"/>
            <a:ea typeface="ヒラギノ角ゴ ProN W3" pitchFamily="-109" charset="-128"/>
            <a:cs typeface="ヒラギノ角ゴ ProN W3" pitchFamily="-109" charset="-128"/>
            <a:sym typeface="Arial" pitchFamily="-109" charset="0"/>
          </a:defRPr>
        </a:defPPr>
      </a:lstStyle>
    </a:lnDef>
  </a:objectDefaults>
  <a:extraClrSchemeLst>
    <a:extraClrScheme>
      <a:clrScheme name="Title &amp; Bulle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3025</TotalTime>
  <Pages>0</Pages>
  <Words>884</Words>
  <Characters>0</Characters>
  <Application>Microsoft Office PowerPoint</Application>
  <PresentationFormat>On-screen Show (4:3)</PresentationFormat>
  <Lines>0</Lines>
  <Paragraphs>152</Paragraphs>
  <Slides>22</Slides>
  <Notes>9</Notes>
  <HiddenSlides>0</HiddenSlides>
  <MMClips>0</MMClips>
  <ScaleCrop>false</ScaleCrop>
  <HeadingPairs>
    <vt:vector size="4" baseType="variant">
      <vt:variant>
        <vt:lpstr>Theme</vt:lpstr>
      </vt:variant>
      <vt:variant>
        <vt:i4>2</vt:i4>
      </vt:variant>
      <vt:variant>
        <vt:lpstr>Slide Titles</vt:lpstr>
      </vt:variant>
      <vt:variant>
        <vt:i4>22</vt:i4>
      </vt:variant>
    </vt:vector>
  </HeadingPairs>
  <TitlesOfParts>
    <vt:vector size="24" baseType="lpstr">
      <vt:lpstr>Title &amp; Subtitle</vt:lpstr>
      <vt:lpstr>Title &amp; Bullets</vt:lpstr>
      <vt:lpstr>Towards a Framework for Pattern Experimentation Understanding empirical validity in requirements engineering patterns   Travis D. Breaux, Hanan Hibshi, Ashwini Rao Carnegie Mellon University  Jean-Michel Lehker University of Texas at San Antonio</vt:lpstr>
      <vt:lpstr>PowerPoint Presentation</vt:lpstr>
      <vt:lpstr>PowerPoint Presentation</vt:lpstr>
      <vt:lpstr>Identifying requirements is difficult</vt:lpstr>
      <vt:lpstr>Patterns provide better cues</vt:lpstr>
      <vt:lpstr>Patterns improve comprehension</vt:lpstr>
      <vt:lpstr>Patterns capture variability</vt:lpstr>
      <vt:lpstr>Not all patterns are equal</vt:lpstr>
      <vt:lpstr>PowerPoint Presentation</vt:lpstr>
      <vt:lpstr>What is pattern application?</vt:lpstr>
      <vt:lpstr>What is pattern validity?</vt:lpstr>
      <vt:lpstr>Requirements Pattern Taxonomy</vt:lpstr>
      <vt:lpstr>How to evaluate goal satisfaction?</vt:lpstr>
      <vt:lpstr>Sources influence outcomes</vt:lpstr>
      <vt:lpstr>Source/Representation (Mis)match</vt:lpstr>
      <vt:lpstr>Cognitive Psychology Theories</vt:lpstr>
      <vt:lpstr>Does cognition affect application? </vt:lpstr>
      <vt:lpstr>What features of input description increase or decrease validity? </vt:lpstr>
      <vt:lpstr>What features of input description increase or decrease validity? </vt:lpstr>
      <vt:lpstr>What features of input description increase or decrease validity? </vt:lpstr>
      <vt:lpstr>Ongoing Work </vt:lpstr>
      <vt:lpstr>Acknowledgement  This presentation is based on the Pecha Kucha template available at  http://www.conferencesthatwork.com/index.php/presentations/2011/09/tips-for-organizing-pecha-kucha-sessions/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Ashwini Rao; Travis Breaux</dc:creator>
  <cp:lastModifiedBy>Ashwini Rao</cp:lastModifiedBy>
  <cp:revision>183</cp:revision>
  <dcterms:created xsi:type="dcterms:W3CDTF">2010-08-07T01:33:18Z</dcterms:created>
  <dcterms:modified xsi:type="dcterms:W3CDTF">2012-10-11T00:55:54Z</dcterms:modified>
</cp:coreProperties>
</file>