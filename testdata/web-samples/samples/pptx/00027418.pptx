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Default Extension="pdf" ContentType="application/pdf"/>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handoutMasterIdLst>
    <p:handoutMasterId r:id="rId15"/>
  </p:handoutMasterIdLst>
  <p:sldIdLst>
    <p:sldId id="256" r:id="rId2"/>
    <p:sldId id="276" r:id="rId3"/>
    <p:sldId id="277" r:id="rId4"/>
    <p:sldId id="279" r:id="rId5"/>
    <p:sldId id="280" r:id="rId6"/>
    <p:sldId id="278" r:id="rId7"/>
    <p:sldId id="272" r:id="rId8"/>
    <p:sldId id="283" r:id="rId9"/>
    <p:sldId id="273" r:id="rId10"/>
    <p:sldId id="274" r:id="rId11"/>
    <p:sldId id="275" r:id="rId12"/>
    <p:sldId id="267" r:id="rId13"/>
  </p:sldIdLst>
  <p:sldSz cx="9144000" cy="6858000" type="screen4x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91529" autoAdjust="0"/>
  </p:normalViewPr>
  <p:slideViewPr>
    <p:cSldViewPr snapToObjects="1">
      <p:cViewPr>
        <p:scale>
          <a:sx n="100" d="100"/>
          <a:sy n="100" d="100"/>
        </p:scale>
        <p:origin x="-1140"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Objects="1">
      <p:cViewPr>
        <p:scale>
          <a:sx n="200" d="100"/>
          <a:sy n="200" d="100"/>
        </p:scale>
        <p:origin x="-660" y="-78"/>
      </p:cViewPr>
      <p:guideLst>
        <p:guide orient="horz" pos="3127"/>
        <p:guide pos="214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2946135" cy="49625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49954" y="0"/>
            <a:ext cx="2946135" cy="496253"/>
          </a:xfrm>
          <a:prstGeom prst="rect">
            <a:avLst/>
          </a:prstGeom>
        </p:spPr>
        <p:txBody>
          <a:bodyPr vert="horz" lIns="91440" tIns="45720" rIns="91440" bIns="45720" rtlCol="0"/>
          <a:lstStyle>
            <a:lvl1pPr algn="r">
              <a:defRPr sz="1200"/>
            </a:lvl1pPr>
          </a:lstStyle>
          <a:p>
            <a:fld id="{2BF0B1EB-F830-4560-9300-E0420F3210AF}" type="datetimeFigureOut">
              <a:rPr lang="en-US" smtClean="0"/>
              <a:pPr/>
              <a:t>11/10/2011</a:t>
            </a:fld>
            <a:endParaRPr lang="en-AU"/>
          </a:p>
        </p:txBody>
      </p:sp>
      <p:sp>
        <p:nvSpPr>
          <p:cNvPr id="4" name="Footer Placeholder 3"/>
          <p:cNvSpPr>
            <a:spLocks noGrp="1"/>
          </p:cNvSpPr>
          <p:nvPr>
            <p:ph type="ftr" sz="quarter" idx="2"/>
          </p:nvPr>
        </p:nvSpPr>
        <p:spPr>
          <a:xfrm>
            <a:off x="2" y="9428802"/>
            <a:ext cx="2946135" cy="496252"/>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49954" y="9428802"/>
            <a:ext cx="2946135" cy="496252"/>
          </a:xfrm>
          <a:prstGeom prst="rect">
            <a:avLst/>
          </a:prstGeom>
        </p:spPr>
        <p:txBody>
          <a:bodyPr vert="horz" lIns="91440" tIns="45720" rIns="91440" bIns="45720" rtlCol="0" anchor="b"/>
          <a:lstStyle>
            <a:lvl1pPr algn="r">
              <a:defRPr sz="1200"/>
            </a:lvl1pPr>
          </a:lstStyle>
          <a:p>
            <a:fld id="{20483D09-6F9B-4EF7-AD37-BFF272D00E0F}" type="slidenum">
              <a:rPr lang="en-AU" smtClean="0"/>
              <a:pPr/>
              <a:t>‹#›</a:t>
            </a:fld>
            <a:endParaRPr lang="en-AU"/>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6135" cy="49625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49954" y="0"/>
            <a:ext cx="2946135" cy="496253"/>
          </a:xfrm>
          <a:prstGeom prst="rect">
            <a:avLst/>
          </a:prstGeom>
        </p:spPr>
        <p:txBody>
          <a:bodyPr vert="horz" lIns="91440" tIns="45720" rIns="91440" bIns="45720" rtlCol="0"/>
          <a:lstStyle>
            <a:lvl1pPr algn="r">
              <a:defRPr sz="1200"/>
            </a:lvl1pPr>
          </a:lstStyle>
          <a:p>
            <a:fld id="{15073069-18B8-4E26-926C-805E1C577AC5}" type="datetimeFigureOut">
              <a:rPr lang="en-US" smtClean="0"/>
              <a:pPr/>
              <a:t>11/10/2011</a:t>
            </a:fld>
            <a:endParaRPr lang="en-AU"/>
          </a:p>
        </p:txBody>
      </p:sp>
      <p:sp>
        <p:nvSpPr>
          <p:cNvPr id="4" name="Slide Image Placeholder 3"/>
          <p:cNvSpPr>
            <a:spLocks noGrp="1" noRot="1" noChangeAspect="1"/>
          </p:cNvSpPr>
          <p:nvPr>
            <p:ph type="sldImg" idx="2"/>
          </p:nvPr>
        </p:nvSpPr>
        <p:spPr>
          <a:xfrm>
            <a:off x="919163" y="744538"/>
            <a:ext cx="4960937" cy="3722687"/>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244" y="4715192"/>
            <a:ext cx="5437188" cy="446627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1" y="9428801"/>
            <a:ext cx="2946135" cy="496252"/>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49954" y="9428801"/>
            <a:ext cx="2946135" cy="496252"/>
          </a:xfrm>
          <a:prstGeom prst="rect">
            <a:avLst/>
          </a:prstGeom>
        </p:spPr>
        <p:txBody>
          <a:bodyPr vert="horz" lIns="91440" tIns="45720" rIns="91440" bIns="45720" rtlCol="0" anchor="b"/>
          <a:lstStyle>
            <a:lvl1pPr algn="r">
              <a:defRPr sz="1200"/>
            </a:lvl1pPr>
          </a:lstStyle>
          <a:p>
            <a:fld id="{0B4FB861-1E62-4A20-82FD-C6910B9F7600}" type="slidenum">
              <a:rPr lang="en-AU" smtClean="0"/>
              <a:pPr/>
              <a:t>‹#›</a:t>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0B4FB861-1E62-4A20-82FD-C6910B9F7600}" type="slidenum">
              <a:rPr lang="en-AU" smtClean="0"/>
              <a:pPr/>
              <a:t>1</a:t>
            </a:fld>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0B4FB861-1E62-4A20-82FD-C6910B9F7600}" type="slidenum">
              <a:rPr lang="en-AU" smtClean="0"/>
              <a:pPr/>
              <a:t>2</a:t>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0B4FB861-1E62-4A20-82FD-C6910B9F7600}" type="slidenum">
              <a:rPr lang="en-AU" smtClean="0"/>
              <a:pPr/>
              <a:t>3</a:t>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0B4FB861-1E62-4A20-82FD-C6910B9F7600}" type="slidenum">
              <a:rPr lang="en-AU" smtClean="0"/>
              <a:pPr/>
              <a:t>4</a:t>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0B4FB861-1E62-4A20-82FD-C6910B9F7600}" type="slidenum">
              <a:rPr lang="en-AU" smtClean="0"/>
              <a:pPr/>
              <a:t>5</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b="0" dirty="0"/>
          </a:p>
        </p:txBody>
      </p:sp>
      <p:sp>
        <p:nvSpPr>
          <p:cNvPr id="4" name="Slide Number Placeholder 3"/>
          <p:cNvSpPr>
            <a:spLocks noGrp="1"/>
          </p:cNvSpPr>
          <p:nvPr>
            <p:ph type="sldNum" sz="quarter" idx="10"/>
          </p:nvPr>
        </p:nvSpPr>
        <p:spPr/>
        <p:txBody>
          <a:bodyPr/>
          <a:lstStyle/>
          <a:p>
            <a:fld id="{0B4FB861-1E62-4A20-82FD-C6910B9F7600}" type="slidenum">
              <a:rPr lang="en-AU" smtClean="0"/>
              <a:pPr/>
              <a:t>7</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b="0" dirty="0"/>
          </a:p>
        </p:txBody>
      </p:sp>
      <p:sp>
        <p:nvSpPr>
          <p:cNvPr id="4" name="Slide Number Placeholder 3"/>
          <p:cNvSpPr>
            <a:spLocks noGrp="1"/>
          </p:cNvSpPr>
          <p:nvPr>
            <p:ph type="sldNum" sz="quarter" idx="10"/>
          </p:nvPr>
        </p:nvSpPr>
        <p:spPr/>
        <p:txBody>
          <a:bodyPr/>
          <a:lstStyle/>
          <a:p>
            <a:fld id="{0B4FB861-1E62-4A20-82FD-C6910B9F7600}" type="slidenum">
              <a:rPr lang="en-AU" smtClean="0"/>
              <a:pPr/>
              <a:t>8</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b="0" baseline="0" dirty="0" smtClean="0"/>
          </a:p>
        </p:txBody>
      </p:sp>
      <p:sp>
        <p:nvSpPr>
          <p:cNvPr id="4" name="Slide Number Placeholder 3"/>
          <p:cNvSpPr>
            <a:spLocks noGrp="1"/>
          </p:cNvSpPr>
          <p:nvPr>
            <p:ph type="sldNum" sz="quarter" idx="10"/>
          </p:nvPr>
        </p:nvSpPr>
        <p:spPr/>
        <p:txBody>
          <a:bodyPr/>
          <a:lstStyle/>
          <a:p>
            <a:fld id="{0B4FB861-1E62-4A20-82FD-C6910B9F7600}" type="slidenum">
              <a:rPr lang="en-AU" smtClean="0"/>
              <a:pPr/>
              <a:t>9</a:t>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endParaRPr lang="en-AU" dirty="0"/>
          </a:p>
        </p:txBody>
      </p:sp>
      <p:sp>
        <p:nvSpPr>
          <p:cNvPr id="4" name="Slide Number Placeholder 3"/>
          <p:cNvSpPr>
            <a:spLocks noGrp="1"/>
          </p:cNvSpPr>
          <p:nvPr>
            <p:ph type="sldNum" sz="quarter" idx="10"/>
          </p:nvPr>
        </p:nvSpPr>
        <p:spPr/>
        <p:txBody>
          <a:bodyPr/>
          <a:lstStyle/>
          <a:p>
            <a:fld id="{0B4FB861-1E62-4A20-82FD-C6910B9F7600}" type="slidenum">
              <a:rPr lang="en-AU" smtClean="0"/>
              <a:pPr/>
              <a:t>10</a:t>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endParaRPr lang="en-AU" b="0" baseline="0" dirty="0" smtClean="0"/>
          </a:p>
        </p:txBody>
      </p:sp>
      <p:sp>
        <p:nvSpPr>
          <p:cNvPr id="4" name="Slide Number Placeholder 3"/>
          <p:cNvSpPr>
            <a:spLocks noGrp="1"/>
          </p:cNvSpPr>
          <p:nvPr>
            <p:ph type="sldNum" sz="quarter" idx="10"/>
          </p:nvPr>
        </p:nvSpPr>
        <p:spPr/>
        <p:txBody>
          <a:bodyPr/>
          <a:lstStyle/>
          <a:p>
            <a:fld id="{0B4FB861-1E62-4A20-82FD-C6910B9F7600}" type="slidenum">
              <a:rPr lang="en-AU" smtClean="0"/>
              <a:pPr/>
              <a:t>11</a:t>
            </a:fld>
            <a:endParaRPr lang="en-A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0B4FB861-1E62-4A20-82FD-C6910B9F7600}" type="slidenum">
              <a:rPr lang="en-AU" smtClean="0"/>
              <a:pPr/>
              <a:t>12</a:t>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1"/>
            <a:ext cx="2133600" cy="365125"/>
          </a:xfrm>
          <a:prstGeom prst="rect">
            <a:avLst/>
          </a:prstGeom>
        </p:spPr>
        <p:txBody>
          <a:bodyPr/>
          <a:lstStyle/>
          <a:p>
            <a:fld id="{F8B8AC92-38A3-DD4B-B393-174012E6BC73}" type="datetimeFigureOut">
              <a:rPr lang="en-US" smtClean="0"/>
              <a:pPr/>
              <a:t>11/10/2011</a:t>
            </a:fld>
            <a:endParaRPr lang="en-US"/>
          </a:p>
        </p:txBody>
      </p:sp>
      <p:sp>
        <p:nvSpPr>
          <p:cNvPr id="5" name="Footer Placeholder 4"/>
          <p:cNvSpPr>
            <a:spLocks noGrp="1"/>
          </p:cNvSpPr>
          <p:nvPr>
            <p:ph type="ftr" sz="quarter" idx="11"/>
          </p:nvPr>
        </p:nvSpPr>
        <p:spPr>
          <a:xfrm>
            <a:off x="3124200" y="6356351"/>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1"/>
            <a:ext cx="2133600" cy="365125"/>
          </a:xfrm>
          <a:prstGeom prst="rect">
            <a:avLst/>
          </a:prstGeom>
        </p:spPr>
        <p:txBody>
          <a:bodyPr/>
          <a:lstStyle/>
          <a:p>
            <a:fld id="{27825A33-C88C-F142-B6AB-3B24062A16C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1"/>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1"/>
            <a:ext cx="2133600" cy="365125"/>
          </a:xfrm>
          <a:prstGeom prst="rect">
            <a:avLst/>
          </a:prstGeom>
        </p:spPr>
        <p:txBody>
          <a:bodyPr/>
          <a:lstStyle/>
          <a:p>
            <a:fld id="{F8B8AC92-38A3-DD4B-B393-174012E6BC73}" type="datetimeFigureOut">
              <a:rPr lang="en-US" smtClean="0"/>
              <a:pPr/>
              <a:t>11/10/2011</a:t>
            </a:fld>
            <a:endParaRPr lang="en-US"/>
          </a:p>
        </p:txBody>
      </p:sp>
      <p:sp>
        <p:nvSpPr>
          <p:cNvPr id="5" name="Footer Placeholder 4"/>
          <p:cNvSpPr>
            <a:spLocks noGrp="1"/>
          </p:cNvSpPr>
          <p:nvPr>
            <p:ph type="ftr" sz="quarter" idx="11"/>
          </p:nvPr>
        </p:nvSpPr>
        <p:spPr>
          <a:xfrm>
            <a:off x="3124200" y="6356351"/>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1"/>
            <a:ext cx="2133600" cy="365125"/>
          </a:xfrm>
          <a:prstGeom prst="rect">
            <a:avLst/>
          </a:prstGeom>
        </p:spPr>
        <p:txBody>
          <a:bodyPr/>
          <a:lstStyle/>
          <a:p>
            <a:fld id="{27825A33-C88C-F142-B6AB-3B24062A16C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4"/>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1"/>
            <a:ext cx="2133600" cy="365125"/>
          </a:xfrm>
          <a:prstGeom prst="rect">
            <a:avLst/>
          </a:prstGeom>
        </p:spPr>
        <p:txBody>
          <a:bodyPr/>
          <a:lstStyle/>
          <a:p>
            <a:fld id="{F8B8AC92-38A3-DD4B-B393-174012E6BC73}" type="datetimeFigureOut">
              <a:rPr lang="en-US" smtClean="0"/>
              <a:pPr/>
              <a:t>11/10/2011</a:t>
            </a:fld>
            <a:endParaRPr lang="en-US"/>
          </a:p>
        </p:txBody>
      </p:sp>
      <p:sp>
        <p:nvSpPr>
          <p:cNvPr id="5" name="Footer Placeholder 4"/>
          <p:cNvSpPr>
            <a:spLocks noGrp="1"/>
          </p:cNvSpPr>
          <p:nvPr>
            <p:ph type="ftr" sz="quarter" idx="11"/>
          </p:nvPr>
        </p:nvSpPr>
        <p:spPr>
          <a:xfrm>
            <a:off x="3124200" y="6356351"/>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1"/>
            <a:ext cx="2133600" cy="365125"/>
          </a:xfrm>
          <a:prstGeom prst="rect">
            <a:avLst/>
          </a:prstGeom>
        </p:spPr>
        <p:txBody>
          <a:bodyPr/>
          <a:lstStyle/>
          <a:p>
            <a:fld id="{27825A33-C88C-F142-B6AB-3B24062A16C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1"/>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1"/>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1"/>
            <a:ext cx="2133600" cy="365125"/>
          </a:xfrm>
          <a:prstGeom prst="rect">
            <a:avLst/>
          </a:prstGeom>
        </p:spPr>
        <p:txBody>
          <a:bodyPr/>
          <a:lstStyle/>
          <a:p>
            <a:fld id="{F8B8AC92-38A3-DD4B-B393-174012E6BC73}" type="datetimeFigureOut">
              <a:rPr lang="en-US" smtClean="0"/>
              <a:pPr/>
              <a:t>11/10/2011</a:t>
            </a:fld>
            <a:endParaRPr lang="en-US"/>
          </a:p>
        </p:txBody>
      </p:sp>
      <p:sp>
        <p:nvSpPr>
          <p:cNvPr id="6" name="Footer Placeholder 5"/>
          <p:cNvSpPr>
            <a:spLocks noGrp="1"/>
          </p:cNvSpPr>
          <p:nvPr>
            <p:ph type="ftr" sz="quarter" idx="11"/>
          </p:nvPr>
        </p:nvSpPr>
        <p:spPr>
          <a:xfrm>
            <a:off x="3124200" y="6356351"/>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1"/>
            <a:ext cx="2133600" cy="365125"/>
          </a:xfrm>
          <a:prstGeom prst="rect">
            <a:avLst/>
          </a:prstGeom>
        </p:spPr>
        <p:txBody>
          <a:bodyPr/>
          <a:lstStyle/>
          <a:p>
            <a:fld id="{27825A33-C88C-F142-B6AB-3B24062A16C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1"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1"/>
            <a:ext cx="2133600" cy="365125"/>
          </a:xfrm>
          <a:prstGeom prst="rect">
            <a:avLst/>
          </a:prstGeom>
        </p:spPr>
        <p:txBody>
          <a:bodyPr/>
          <a:lstStyle/>
          <a:p>
            <a:fld id="{F8B8AC92-38A3-DD4B-B393-174012E6BC73}" type="datetimeFigureOut">
              <a:rPr lang="en-US" smtClean="0"/>
              <a:pPr/>
              <a:t>11/10/2011</a:t>
            </a:fld>
            <a:endParaRPr lang="en-US"/>
          </a:p>
        </p:txBody>
      </p:sp>
      <p:sp>
        <p:nvSpPr>
          <p:cNvPr id="8" name="Footer Placeholder 7"/>
          <p:cNvSpPr>
            <a:spLocks noGrp="1"/>
          </p:cNvSpPr>
          <p:nvPr>
            <p:ph type="ftr" sz="quarter" idx="11"/>
          </p:nvPr>
        </p:nvSpPr>
        <p:spPr>
          <a:xfrm>
            <a:off x="3124200" y="6356351"/>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1"/>
            <a:ext cx="2133600" cy="365125"/>
          </a:xfrm>
          <a:prstGeom prst="rect">
            <a:avLst/>
          </a:prstGeom>
        </p:spPr>
        <p:txBody>
          <a:bodyPr/>
          <a:lstStyle/>
          <a:p>
            <a:fld id="{27825A33-C88C-F142-B6AB-3B24062A16C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1"/>
            <a:ext cx="2133600" cy="365125"/>
          </a:xfrm>
          <a:prstGeom prst="rect">
            <a:avLst/>
          </a:prstGeom>
        </p:spPr>
        <p:txBody>
          <a:bodyPr/>
          <a:lstStyle/>
          <a:p>
            <a:fld id="{F8B8AC92-38A3-DD4B-B393-174012E6BC73}" type="datetimeFigureOut">
              <a:rPr lang="en-US" smtClean="0"/>
              <a:pPr/>
              <a:t>11/10/2011</a:t>
            </a:fld>
            <a:endParaRPr lang="en-US"/>
          </a:p>
        </p:txBody>
      </p:sp>
      <p:sp>
        <p:nvSpPr>
          <p:cNvPr id="4" name="Footer Placeholder 3"/>
          <p:cNvSpPr>
            <a:spLocks noGrp="1"/>
          </p:cNvSpPr>
          <p:nvPr>
            <p:ph type="ftr" sz="quarter" idx="11"/>
          </p:nvPr>
        </p:nvSpPr>
        <p:spPr>
          <a:xfrm>
            <a:off x="3124200" y="6356351"/>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1"/>
            <a:ext cx="2133600" cy="365125"/>
          </a:xfrm>
          <a:prstGeom prst="rect">
            <a:avLst/>
          </a:prstGeom>
        </p:spPr>
        <p:txBody>
          <a:bodyPr/>
          <a:lstStyle/>
          <a:p>
            <a:fld id="{27825A33-C88C-F142-B6AB-3B24062A16C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1"/>
            <a:ext cx="2133600" cy="365125"/>
          </a:xfrm>
          <a:prstGeom prst="rect">
            <a:avLst/>
          </a:prstGeom>
        </p:spPr>
        <p:txBody>
          <a:bodyPr/>
          <a:lstStyle/>
          <a:p>
            <a:fld id="{F8B8AC92-38A3-DD4B-B393-174012E6BC73}" type="datetimeFigureOut">
              <a:rPr lang="en-US" smtClean="0"/>
              <a:pPr/>
              <a:t>11/10/2011</a:t>
            </a:fld>
            <a:endParaRPr lang="en-US"/>
          </a:p>
        </p:txBody>
      </p:sp>
      <p:sp>
        <p:nvSpPr>
          <p:cNvPr id="3" name="Footer Placeholder 2"/>
          <p:cNvSpPr>
            <a:spLocks noGrp="1"/>
          </p:cNvSpPr>
          <p:nvPr>
            <p:ph type="ftr" sz="quarter" idx="11"/>
          </p:nvPr>
        </p:nvSpPr>
        <p:spPr>
          <a:xfrm>
            <a:off x="3124200" y="6356351"/>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1"/>
            <a:ext cx="2133600" cy="365125"/>
          </a:xfrm>
          <a:prstGeom prst="rect">
            <a:avLst/>
          </a:prstGeom>
        </p:spPr>
        <p:txBody>
          <a:bodyPr/>
          <a:lstStyle/>
          <a:p>
            <a:fld id="{27825A33-C88C-F142-B6AB-3B24062A16C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1"/>
            <a:ext cx="5111751"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1"/>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1"/>
            <a:ext cx="2133600" cy="365125"/>
          </a:xfrm>
          <a:prstGeom prst="rect">
            <a:avLst/>
          </a:prstGeom>
        </p:spPr>
        <p:txBody>
          <a:bodyPr/>
          <a:lstStyle/>
          <a:p>
            <a:fld id="{F8B8AC92-38A3-DD4B-B393-174012E6BC73}" type="datetimeFigureOut">
              <a:rPr lang="en-US" smtClean="0"/>
              <a:pPr/>
              <a:t>11/10/2011</a:t>
            </a:fld>
            <a:endParaRPr lang="en-US"/>
          </a:p>
        </p:txBody>
      </p:sp>
      <p:sp>
        <p:nvSpPr>
          <p:cNvPr id="6" name="Footer Placeholder 5"/>
          <p:cNvSpPr>
            <a:spLocks noGrp="1"/>
          </p:cNvSpPr>
          <p:nvPr>
            <p:ph type="ftr" sz="quarter" idx="11"/>
          </p:nvPr>
        </p:nvSpPr>
        <p:spPr>
          <a:xfrm>
            <a:off x="3124200" y="6356351"/>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1"/>
            <a:ext cx="2133600" cy="365125"/>
          </a:xfrm>
          <a:prstGeom prst="rect">
            <a:avLst/>
          </a:prstGeom>
        </p:spPr>
        <p:txBody>
          <a:bodyPr/>
          <a:lstStyle/>
          <a:p>
            <a:fld id="{27825A33-C88C-F142-B6AB-3B24062A16C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9"/>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1"/>
            <a:ext cx="2133600" cy="365125"/>
          </a:xfrm>
          <a:prstGeom prst="rect">
            <a:avLst/>
          </a:prstGeom>
        </p:spPr>
        <p:txBody>
          <a:bodyPr/>
          <a:lstStyle/>
          <a:p>
            <a:fld id="{F8B8AC92-38A3-DD4B-B393-174012E6BC73}" type="datetimeFigureOut">
              <a:rPr lang="en-US" smtClean="0"/>
              <a:pPr/>
              <a:t>11/10/2011</a:t>
            </a:fld>
            <a:endParaRPr lang="en-US"/>
          </a:p>
        </p:txBody>
      </p:sp>
      <p:sp>
        <p:nvSpPr>
          <p:cNvPr id="6" name="Footer Placeholder 5"/>
          <p:cNvSpPr>
            <a:spLocks noGrp="1"/>
          </p:cNvSpPr>
          <p:nvPr>
            <p:ph type="ftr" sz="quarter" idx="11"/>
          </p:nvPr>
        </p:nvSpPr>
        <p:spPr>
          <a:xfrm>
            <a:off x="3124200" y="6356351"/>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1"/>
            <a:ext cx="2133600" cy="365125"/>
          </a:xfrm>
          <a:prstGeom prst="rect">
            <a:avLst/>
          </a:prstGeom>
        </p:spPr>
        <p:txBody>
          <a:bodyPr/>
          <a:lstStyle/>
          <a:p>
            <a:fld id="{27825A33-C88C-F142-B6AB-3B24062A16C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1"/>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1"/>
            <a:ext cx="2133600" cy="365125"/>
          </a:xfrm>
          <a:prstGeom prst="rect">
            <a:avLst/>
          </a:prstGeom>
        </p:spPr>
        <p:txBody>
          <a:bodyPr/>
          <a:lstStyle/>
          <a:p>
            <a:fld id="{F8B8AC92-38A3-DD4B-B393-174012E6BC73}" type="datetimeFigureOut">
              <a:rPr lang="en-US" smtClean="0"/>
              <a:pPr/>
              <a:t>11/10/2011</a:t>
            </a:fld>
            <a:endParaRPr lang="en-US"/>
          </a:p>
        </p:txBody>
      </p:sp>
      <p:sp>
        <p:nvSpPr>
          <p:cNvPr id="5" name="Footer Placeholder 4"/>
          <p:cNvSpPr>
            <a:spLocks noGrp="1"/>
          </p:cNvSpPr>
          <p:nvPr>
            <p:ph type="ftr" sz="quarter" idx="11"/>
          </p:nvPr>
        </p:nvSpPr>
        <p:spPr>
          <a:xfrm>
            <a:off x="3124200" y="6356351"/>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1"/>
            <a:ext cx="2133600" cy="365125"/>
          </a:xfrm>
          <a:prstGeom prst="rect">
            <a:avLst/>
          </a:prstGeom>
        </p:spPr>
        <p:txBody>
          <a:bodyPr/>
          <a:lstStyle/>
          <a:p>
            <a:fld id="{27825A33-C88C-F142-B6AB-3B24062A16C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9"/>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1"/>
            <a:ext cx="2133600" cy="365125"/>
          </a:xfrm>
          <a:prstGeom prst="rect">
            <a:avLst/>
          </a:prstGeom>
        </p:spPr>
        <p:txBody>
          <a:bodyPr/>
          <a:lstStyle/>
          <a:p>
            <a:fld id="{F8B8AC92-38A3-DD4B-B393-174012E6BC73}" type="datetimeFigureOut">
              <a:rPr lang="en-US" smtClean="0"/>
              <a:pPr/>
              <a:t>11/10/2011</a:t>
            </a:fld>
            <a:endParaRPr lang="en-US"/>
          </a:p>
        </p:txBody>
      </p:sp>
      <p:sp>
        <p:nvSpPr>
          <p:cNvPr id="5" name="Footer Placeholder 4"/>
          <p:cNvSpPr>
            <a:spLocks noGrp="1"/>
          </p:cNvSpPr>
          <p:nvPr>
            <p:ph type="ftr" sz="quarter" idx="11"/>
          </p:nvPr>
        </p:nvSpPr>
        <p:spPr>
          <a:xfrm>
            <a:off x="3124200" y="6356351"/>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1"/>
            <a:ext cx="2133600" cy="365125"/>
          </a:xfrm>
          <a:prstGeom prst="rect">
            <a:avLst/>
          </a:prstGeom>
        </p:spPr>
        <p:txBody>
          <a:bodyPr/>
          <a:lstStyle/>
          <a:p>
            <a:fld id="{27825A33-C88C-F142-B6AB-3B24062A16C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image" Target="../media/image1.pdf"/></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9"/>
          <p:cNvPicPr>
            <a:picLocks noChangeAspect="1" noChangeArrowheads="1"/>
          </p:cNvPicPr>
          <p:nvPr/>
        </p:nvPicPr>
        <mc:AlternateContent xmlns:mc="http://schemas.openxmlformats.org/markup-compatibility/2006">
          <mc:Choice xmlns:ma="http://schemas.microsoft.com/office/mac/drawingml/2008/main" xmlns:mv="urn:schemas-microsoft-com:mac:vml" xmlns="" Requires="ma">
            <p:blipFill>
              <a:blip r:embed="rId4"/>
              <a:srcRect/>
              <a:stretch>
                <a:fillRect/>
              </a:stretch>
            </p:blipFill>
          </mc:Choice>
          <mc:Fallback>
            <p:blipFill>
              <a:blip r:embed="rId5"/>
              <a:srcRect/>
              <a:stretch>
                <a:fillRect/>
              </a:stretch>
            </p:blipFill>
          </mc:Fallback>
        </mc:AlternateContent>
        <p:spPr bwMode="auto">
          <a:xfrm>
            <a:off x="0" y="0"/>
            <a:ext cx="9144000" cy="6862752"/>
          </a:xfrm>
          <a:prstGeom prst="rect">
            <a:avLst/>
          </a:prstGeom>
          <a:noFill/>
          <a:ln w="9525">
            <a:noFill/>
            <a:miter lim="800000"/>
            <a:headEnd/>
            <a:tailEnd/>
          </a:ln>
          <a:effectLst/>
        </p:spPr>
      </p:pic>
      <p:sp>
        <p:nvSpPr>
          <p:cNvPr id="5" name="Text Box 3"/>
          <p:cNvSpPr txBox="1">
            <a:spLocks noChangeArrowheads="1"/>
          </p:cNvSpPr>
          <p:nvPr/>
        </p:nvSpPr>
        <p:spPr bwMode="auto">
          <a:xfrm>
            <a:off x="1600200" y="2057400"/>
            <a:ext cx="7358082" cy="1077218"/>
          </a:xfrm>
          <a:prstGeom prst="rect">
            <a:avLst/>
          </a:prstGeom>
          <a:noFill/>
          <a:ln w="9525">
            <a:noFill/>
            <a:miter lim="800000"/>
            <a:headEnd/>
            <a:tailEnd/>
          </a:ln>
          <a:effectLst/>
        </p:spPr>
        <p:txBody>
          <a:bodyPr wrap="square">
            <a:prstTxWarp prst="textNoShape">
              <a:avLst/>
            </a:prstTxWarp>
            <a:spAutoFit/>
          </a:bodyPr>
          <a:lstStyle/>
          <a:p>
            <a:pPr>
              <a:spcBef>
                <a:spcPct val="50000"/>
              </a:spcBef>
            </a:pPr>
            <a:r>
              <a:rPr lang="en-US" sz="3200" i="1" dirty="0" smtClean="0">
                <a:solidFill>
                  <a:schemeClr val="tx2"/>
                </a:solidFill>
                <a:latin typeface="Georgia" pitchFamily="-110" charset="0"/>
              </a:rPr>
              <a:t>Regulatory Landscape for Leased Federal Airports</a:t>
            </a:r>
          </a:p>
        </p:txBody>
      </p:sp>
      <p:sp>
        <p:nvSpPr>
          <p:cNvPr id="6" name="Text Box 4"/>
          <p:cNvSpPr txBox="1">
            <a:spLocks noChangeArrowheads="1"/>
          </p:cNvSpPr>
          <p:nvPr/>
        </p:nvSpPr>
        <p:spPr bwMode="auto">
          <a:xfrm>
            <a:off x="1600200" y="3500438"/>
            <a:ext cx="7329518" cy="2862322"/>
          </a:xfrm>
          <a:prstGeom prst="rect">
            <a:avLst/>
          </a:prstGeom>
          <a:noFill/>
          <a:ln w="9525">
            <a:noFill/>
            <a:miter lim="800000"/>
            <a:headEnd/>
            <a:tailEnd/>
          </a:ln>
          <a:effectLst/>
        </p:spPr>
        <p:txBody>
          <a:bodyPr wrap="square">
            <a:prstTxWarp prst="textNoShape">
              <a:avLst/>
            </a:prstTxWarp>
            <a:spAutoFit/>
          </a:bodyPr>
          <a:lstStyle/>
          <a:p>
            <a:pPr>
              <a:spcBef>
                <a:spcPct val="50000"/>
              </a:spcBef>
            </a:pPr>
            <a:r>
              <a:rPr lang="en-US" b="1" dirty="0" err="1" smtClean="0">
                <a:solidFill>
                  <a:schemeClr val="tx2"/>
                </a:solidFill>
                <a:latin typeface="Arial" pitchFamily="34" charset="0"/>
                <a:cs typeface="Arial" pitchFamily="34" charset="0"/>
              </a:rPr>
              <a:t>Archerfield</a:t>
            </a:r>
            <a:r>
              <a:rPr lang="en-US" b="1" dirty="0" smtClean="0">
                <a:solidFill>
                  <a:schemeClr val="tx2"/>
                </a:solidFill>
                <a:latin typeface="Arial" pitchFamily="34" charset="0"/>
                <a:cs typeface="Arial" pitchFamily="34" charset="0"/>
              </a:rPr>
              <a:t> Airport Community Aviation Consultation Group</a:t>
            </a:r>
          </a:p>
          <a:p>
            <a:pPr>
              <a:spcBef>
                <a:spcPct val="50000"/>
              </a:spcBef>
            </a:pPr>
            <a:r>
              <a:rPr lang="en-US" b="1" dirty="0" smtClean="0">
                <a:solidFill>
                  <a:schemeClr val="tx2"/>
                </a:solidFill>
                <a:latin typeface="Arial" pitchFamily="34" charset="0"/>
                <a:cs typeface="Arial" pitchFamily="34" charset="0"/>
              </a:rPr>
              <a:t>(AACACG)</a:t>
            </a:r>
          </a:p>
          <a:p>
            <a:pPr>
              <a:spcBef>
                <a:spcPct val="50000"/>
              </a:spcBef>
            </a:pPr>
            <a:endParaRPr lang="en-US" dirty="0" smtClean="0">
              <a:solidFill>
                <a:schemeClr val="tx2"/>
              </a:solidFill>
              <a:latin typeface="Arial" pitchFamily="34" charset="0"/>
              <a:cs typeface="Arial" pitchFamily="34" charset="0"/>
            </a:endParaRPr>
          </a:p>
          <a:p>
            <a:pPr>
              <a:spcBef>
                <a:spcPct val="50000"/>
              </a:spcBef>
            </a:pPr>
            <a:r>
              <a:rPr lang="en-US" dirty="0" smtClean="0">
                <a:solidFill>
                  <a:schemeClr val="tx2"/>
                </a:solidFill>
                <a:latin typeface="Arial" pitchFamily="34" charset="0"/>
                <a:cs typeface="Arial" pitchFamily="34" charset="0"/>
              </a:rPr>
              <a:t>2 November 2011</a:t>
            </a:r>
          </a:p>
          <a:p>
            <a:pPr>
              <a:spcBef>
                <a:spcPct val="50000"/>
              </a:spcBef>
            </a:pPr>
            <a:endParaRPr lang="en-US" dirty="0" smtClean="0">
              <a:solidFill>
                <a:schemeClr val="tx2"/>
              </a:solidFill>
              <a:latin typeface="Arial Narrow" pitchFamily="-110" charset="0"/>
            </a:endParaRPr>
          </a:p>
          <a:p>
            <a:pPr>
              <a:spcBef>
                <a:spcPct val="50000"/>
              </a:spcBef>
            </a:pPr>
            <a:r>
              <a:rPr lang="en-US" i="1" dirty="0" smtClean="0">
                <a:solidFill>
                  <a:schemeClr val="tx2"/>
                </a:solidFill>
                <a:latin typeface="Georgia" pitchFamily="18" charset="0"/>
              </a:rPr>
              <a:t>Helen Gannon</a:t>
            </a:r>
          </a:p>
          <a:p>
            <a:pPr>
              <a:spcBef>
                <a:spcPct val="50000"/>
              </a:spcBef>
            </a:pPr>
            <a:r>
              <a:rPr lang="en-US" i="1" dirty="0" smtClean="0">
                <a:solidFill>
                  <a:schemeClr val="tx2"/>
                </a:solidFill>
                <a:latin typeface="Georgia" pitchFamily="18" charset="0"/>
              </a:rPr>
              <a:t>Aviation &amp; Airports</a:t>
            </a:r>
          </a:p>
        </p:txBody>
      </p:sp>
      <p:pic>
        <p:nvPicPr>
          <p:cNvPr id="7" name="Picture 6" descr="image.jpg"/>
          <p:cNvPicPr>
            <a:picLocks noChangeAspect="1"/>
          </p:cNvPicPr>
          <p:nvPr/>
        </p:nvPicPr>
        <p:blipFill>
          <a:blip r:embed="rId6"/>
          <a:stretch>
            <a:fillRect/>
          </a:stretch>
        </p:blipFill>
        <p:spPr>
          <a:xfrm>
            <a:off x="0" y="1824048"/>
            <a:ext cx="1600200" cy="5033952"/>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1.jpg"/>
          <p:cNvPicPr>
            <a:picLocks noChangeAspect="1"/>
          </p:cNvPicPr>
          <p:nvPr/>
        </p:nvPicPr>
        <p:blipFill>
          <a:blip r:embed="rId3"/>
          <a:stretch>
            <a:fillRect/>
          </a:stretch>
        </p:blipFill>
        <p:spPr>
          <a:xfrm>
            <a:off x="0" y="5858768"/>
            <a:ext cx="9144000" cy="999232"/>
          </a:xfrm>
          <a:prstGeom prst="rect">
            <a:avLst/>
          </a:prstGeom>
        </p:spPr>
      </p:pic>
      <p:pic>
        <p:nvPicPr>
          <p:cNvPr id="8" name="Picture 7" descr="image.jpg"/>
          <p:cNvPicPr>
            <a:picLocks noChangeAspect="1"/>
          </p:cNvPicPr>
          <p:nvPr/>
        </p:nvPicPr>
        <p:blipFill>
          <a:blip r:embed="rId4"/>
          <a:stretch>
            <a:fillRect/>
          </a:stretch>
        </p:blipFill>
        <p:spPr>
          <a:xfrm>
            <a:off x="0" y="0"/>
            <a:ext cx="1600200" cy="5858768"/>
          </a:xfrm>
          <a:prstGeom prst="rect">
            <a:avLst/>
          </a:prstGeom>
        </p:spPr>
      </p:pic>
      <p:sp>
        <p:nvSpPr>
          <p:cNvPr id="9" name="Text Box 2"/>
          <p:cNvSpPr txBox="1">
            <a:spLocks noChangeArrowheads="1"/>
          </p:cNvSpPr>
          <p:nvPr/>
        </p:nvSpPr>
        <p:spPr bwMode="auto">
          <a:xfrm>
            <a:off x="1905000" y="228600"/>
            <a:ext cx="6705600" cy="519113"/>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sz="2800" dirty="0" err="1" smtClean="0">
                <a:solidFill>
                  <a:schemeClr val="tx2"/>
                </a:solidFill>
                <a:latin typeface="Georgia" pitchFamily="-110" charset="0"/>
              </a:rPr>
              <a:t>Privatisation</a:t>
            </a:r>
            <a:r>
              <a:rPr lang="en-US" sz="2800" dirty="0" smtClean="0">
                <a:solidFill>
                  <a:schemeClr val="tx2"/>
                </a:solidFill>
                <a:latin typeface="Georgia" pitchFamily="-110" charset="0"/>
              </a:rPr>
              <a:t> – Quick Recap</a:t>
            </a:r>
            <a:endParaRPr lang="en-US" sz="2800" dirty="0">
              <a:solidFill>
                <a:schemeClr val="tx2"/>
              </a:solidFill>
              <a:latin typeface="Georgia" pitchFamily="-110" charset="0"/>
            </a:endParaRPr>
          </a:p>
        </p:txBody>
      </p:sp>
      <p:sp>
        <p:nvSpPr>
          <p:cNvPr id="10" name="Text Box 3"/>
          <p:cNvSpPr txBox="1">
            <a:spLocks noChangeArrowheads="1"/>
          </p:cNvSpPr>
          <p:nvPr/>
        </p:nvSpPr>
        <p:spPr bwMode="auto">
          <a:xfrm>
            <a:off x="1905000" y="1354139"/>
            <a:ext cx="6705600" cy="2031325"/>
          </a:xfrm>
          <a:prstGeom prst="rect">
            <a:avLst/>
          </a:prstGeom>
          <a:noFill/>
          <a:ln w="9525">
            <a:noFill/>
            <a:miter lim="800000"/>
            <a:headEnd/>
            <a:tailEnd/>
          </a:ln>
          <a:effectLst/>
        </p:spPr>
        <p:txBody>
          <a:bodyPr wrap="square">
            <a:prstTxWarp prst="textNoShape">
              <a:avLst/>
            </a:prstTxWarp>
            <a:spAutoFit/>
          </a:bodyPr>
          <a:lstStyle/>
          <a:p>
            <a:pPr>
              <a:buClr>
                <a:srgbClr val="4F6EB1"/>
              </a:buClr>
              <a:buSzPct val="130000"/>
              <a:buBlip>
                <a:blip r:embed="rId5"/>
              </a:buBlip>
            </a:pPr>
            <a:r>
              <a:rPr lang="en-US" dirty="0" smtClean="0">
                <a:solidFill>
                  <a:srgbClr val="041C43"/>
                </a:solidFill>
                <a:latin typeface="Arial Narrow" pitchFamily="-110" charset="0"/>
              </a:rPr>
              <a:t> 	</a:t>
            </a:r>
            <a:r>
              <a:rPr lang="en-US" dirty="0" smtClean="0">
                <a:solidFill>
                  <a:schemeClr val="tx2">
                    <a:lumMod val="60000"/>
                    <a:lumOff val="40000"/>
                  </a:schemeClr>
                </a:solidFill>
                <a:latin typeface="Arial Narrow" pitchFamily="-110" charset="0"/>
              </a:rPr>
              <a:t>All key Federal airports previously belonged to the Federal Airports 	Corporation - Government owned</a:t>
            </a:r>
            <a:endParaRPr lang="en-US" dirty="0" smtClean="0">
              <a:solidFill>
                <a:srgbClr val="041C43"/>
              </a:solidFill>
              <a:latin typeface="Arial Narrow" pitchFamily="-110" charset="0"/>
            </a:endParaRPr>
          </a:p>
          <a:p>
            <a:pPr>
              <a:buClr>
                <a:srgbClr val="4F6EB1"/>
              </a:buClr>
              <a:buSzPct val="130000"/>
              <a:buBlip>
                <a:blip r:embed="rId5"/>
              </a:buBlip>
            </a:pPr>
            <a:endParaRPr lang="en-US" dirty="0" smtClean="0">
              <a:solidFill>
                <a:srgbClr val="041C43"/>
              </a:solidFill>
              <a:latin typeface="Arial Narrow" pitchFamily="-110" charset="0"/>
            </a:endParaRPr>
          </a:p>
          <a:p>
            <a:pPr>
              <a:buClr>
                <a:srgbClr val="4F6EB1"/>
              </a:buClr>
              <a:buSzPct val="130000"/>
              <a:buBlip>
                <a:blip r:embed="rId5"/>
              </a:buBlip>
            </a:pPr>
            <a:r>
              <a:rPr lang="en-US" dirty="0" smtClean="0">
                <a:solidFill>
                  <a:srgbClr val="041C43"/>
                </a:solidFill>
                <a:latin typeface="Arial Narrow" pitchFamily="-110" charset="0"/>
              </a:rPr>
              <a:t> 	</a:t>
            </a:r>
            <a:r>
              <a:rPr lang="en-US" dirty="0" smtClean="0">
                <a:solidFill>
                  <a:schemeClr val="tx2">
                    <a:lumMod val="60000"/>
                    <a:lumOff val="40000"/>
                  </a:schemeClr>
                </a:solidFill>
                <a:latin typeface="Arial Narrow" pitchFamily="-110" charset="0"/>
              </a:rPr>
              <a:t>Occurred from 1997-2003 (</a:t>
            </a:r>
            <a:r>
              <a:rPr lang="en-US" dirty="0" err="1" smtClean="0">
                <a:solidFill>
                  <a:schemeClr val="tx2">
                    <a:lumMod val="60000"/>
                    <a:lumOff val="40000"/>
                  </a:schemeClr>
                </a:solidFill>
                <a:latin typeface="Arial Narrow" pitchFamily="-110" charset="0"/>
              </a:rPr>
              <a:t>Archerfield</a:t>
            </a:r>
            <a:r>
              <a:rPr lang="en-US" dirty="0" smtClean="0">
                <a:solidFill>
                  <a:schemeClr val="tx2">
                    <a:lumMod val="60000"/>
                    <a:lumOff val="40000"/>
                  </a:schemeClr>
                </a:solidFill>
                <a:latin typeface="Arial Narrow" pitchFamily="-110" charset="0"/>
              </a:rPr>
              <a:t> in 1998 – part of Phase 2)</a:t>
            </a:r>
          </a:p>
          <a:p>
            <a:pPr>
              <a:buClr>
                <a:srgbClr val="4F6EB1"/>
              </a:buClr>
              <a:buSzPct val="130000"/>
              <a:buBlip>
                <a:blip r:embed="rId5"/>
              </a:buBlip>
            </a:pPr>
            <a:endParaRPr lang="en-US" dirty="0" smtClean="0">
              <a:solidFill>
                <a:srgbClr val="041C43"/>
              </a:solidFill>
              <a:latin typeface="Arial Narrow" pitchFamily="-110" charset="0"/>
            </a:endParaRPr>
          </a:p>
          <a:p>
            <a:pPr>
              <a:buClr>
                <a:srgbClr val="4F6EB1"/>
              </a:buClr>
              <a:buSzPct val="130000"/>
              <a:buBlip>
                <a:blip r:embed="rId5"/>
              </a:buBlip>
            </a:pPr>
            <a:r>
              <a:rPr lang="en-US" dirty="0" smtClean="0">
                <a:solidFill>
                  <a:srgbClr val="041C43"/>
                </a:solidFill>
                <a:latin typeface="Arial Narrow" pitchFamily="-110" charset="0"/>
              </a:rPr>
              <a:t> 	</a:t>
            </a:r>
            <a:r>
              <a:rPr lang="en-US" dirty="0" smtClean="0">
                <a:solidFill>
                  <a:schemeClr val="tx2">
                    <a:lumMod val="60000"/>
                    <a:lumOff val="40000"/>
                  </a:schemeClr>
                </a:solidFill>
                <a:latin typeface="Arial Narrow" pitchFamily="-110" charset="0"/>
              </a:rPr>
              <a:t>Reflected a desire to encourage better aeronautical infrastructure 	investment and enhance competition in Australia</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1.jpg"/>
          <p:cNvPicPr>
            <a:picLocks noChangeAspect="1"/>
          </p:cNvPicPr>
          <p:nvPr/>
        </p:nvPicPr>
        <p:blipFill>
          <a:blip r:embed="rId3"/>
          <a:stretch>
            <a:fillRect/>
          </a:stretch>
        </p:blipFill>
        <p:spPr>
          <a:xfrm>
            <a:off x="0" y="5858768"/>
            <a:ext cx="9144000" cy="999232"/>
          </a:xfrm>
          <a:prstGeom prst="rect">
            <a:avLst/>
          </a:prstGeom>
        </p:spPr>
      </p:pic>
      <p:pic>
        <p:nvPicPr>
          <p:cNvPr id="8" name="Picture 7" descr="image.jpg"/>
          <p:cNvPicPr>
            <a:picLocks noChangeAspect="1"/>
          </p:cNvPicPr>
          <p:nvPr/>
        </p:nvPicPr>
        <p:blipFill>
          <a:blip r:embed="rId4"/>
          <a:stretch>
            <a:fillRect/>
          </a:stretch>
        </p:blipFill>
        <p:spPr>
          <a:xfrm>
            <a:off x="0" y="0"/>
            <a:ext cx="1600200" cy="5858768"/>
          </a:xfrm>
          <a:prstGeom prst="rect">
            <a:avLst/>
          </a:prstGeom>
        </p:spPr>
      </p:pic>
      <p:sp>
        <p:nvSpPr>
          <p:cNvPr id="9" name="Text Box 2"/>
          <p:cNvSpPr txBox="1">
            <a:spLocks noChangeArrowheads="1"/>
          </p:cNvSpPr>
          <p:nvPr/>
        </p:nvSpPr>
        <p:spPr bwMode="auto">
          <a:xfrm>
            <a:off x="1905000" y="228600"/>
            <a:ext cx="6705600" cy="519113"/>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sz="2800" dirty="0" smtClean="0">
                <a:solidFill>
                  <a:schemeClr val="tx2"/>
                </a:solidFill>
                <a:latin typeface="Georgia" pitchFamily="-110" charset="0"/>
              </a:rPr>
              <a:t>Government Regulation – How?</a:t>
            </a:r>
            <a:endParaRPr lang="en-US" sz="2800" dirty="0" err="1" smtClean="0">
              <a:solidFill>
                <a:schemeClr val="tx2"/>
              </a:solidFill>
              <a:latin typeface="Georgia" pitchFamily="-110" charset="0"/>
            </a:endParaRPr>
          </a:p>
        </p:txBody>
      </p:sp>
      <p:sp>
        <p:nvSpPr>
          <p:cNvPr id="10" name="Text Box 3"/>
          <p:cNvSpPr txBox="1">
            <a:spLocks noChangeArrowheads="1"/>
          </p:cNvSpPr>
          <p:nvPr/>
        </p:nvSpPr>
        <p:spPr bwMode="auto">
          <a:xfrm>
            <a:off x="1905000" y="1354139"/>
            <a:ext cx="6705600" cy="4390946"/>
          </a:xfrm>
          <a:prstGeom prst="rect">
            <a:avLst/>
          </a:prstGeom>
          <a:noFill/>
          <a:ln w="9525">
            <a:noFill/>
            <a:miter lim="800000"/>
            <a:headEnd/>
            <a:tailEnd/>
          </a:ln>
          <a:effectLst/>
        </p:spPr>
        <p:txBody>
          <a:bodyPr wrap="square">
            <a:prstTxWarp prst="textNoShape">
              <a:avLst/>
            </a:prstTxWarp>
            <a:spAutoFit/>
          </a:bodyPr>
          <a:lstStyle/>
          <a:p>
            <a:pPr>
              <a:buClr>
                <a:srgbClr val="4F6EB1"/>
              </a:buClr>
              <a:buSzPct val="130000"/>
              <a:buBlip>
                <a:blip r:embed="rId5"/>
              </a:buBlip>
            </a:pPr>
            <a:r>
              <a:rPr lang="en-US" dirty="0" smtClean="0">
                <a:solidFill>
                  <a:srgbClr val="041C43"/>
                </a:solidFill>
                <a:latin typeface="Arial Narrow" pitchFamily="-110" charset="0"/>
              </a:rPr>
              <a:t> 	</a:t>
            </a:r>
            <a:r>
              <a:rPr lang="en-US" dirty="0" smtClean="0">
                <a:solidFill>
                  <a:schemeClr val="tx2">
                    <a:lumMod val="60000"/>
                    <a:lumOff val="40000"/>
                  </a:schemeClr>
                </a:solidFill>
                <a:latin typeface="Arial Narrow" pitchFamily="-110" charset="0"/>
              </a:rPr>
              <a:t>Under contractual agreements - head leases (and sale agreements) with 	airport lessee companies</a:t>
            </a:r>
          </a:p>
          <a:p>
            <a:pPr>
              <a:buClr>
                <a:srgbClr val="4F6EB1"/>
              </a:buClr>
              <a:buSzPct val="130000"/>
            </a:pPr>
            <a:endParaRPr lang="en-US" dirty="0" smtClean="0">
              <a:solidFill>
                <a:schemeClr val="tx2">
                  <a:lumMod val="60000"/>
                  <a:lumOff val="40000"/>
                </a:schemeClr>
              </a:solidFill>
              <a:latin typeface="Arial Narrow" pitchFamily="-110" charset="0"/>
            </a:endParaRPr>
          </a:p>
          <a:p>
            <a:pPr>
              <a:buClr>
                <a:srgbClr val="4F6EB1"/>
              </a:buClr>
              <a:buSzPct val="130000"/>
              <a:buBlip>
                <a:blip r:embed="rId5"/>
              </a:buBlip>
            </a:pPr>
            <a:r>
              <a:rPr lang="en-US" dirty="0" smtClean="0">
                <a:solidFill>
                  <a:schemeClr val="tx2">
                    <a:lumMod val="60000"/>
                    <a:lumOff val="40000"/>
                  </a:schemeClr>
                </a:solidFill>
                <a:latin typeface="Arial Narrow" pitchFamily="-110" charset="0"/>
              </a:rPr>
              <a:t> 	Legislative measures - (Airports Branch context only): </a:t>
            </a:r>
          </a:p>
          <a:p>
            <a:pPr>
              <a:spcBef>
                <a:spcPct val="50000"/>
              </a:spcBef>
              <a:buClr>
                <a:srgbClr val="4F6EB1"/>
              </a:buClr>
              <a:buSzPct val="130000"/>
            </a:pPr>
            <a:r>
              <a:rPr lang="en-US" dirty="0" smtClean="0">
                <a:solidFill>
                  <a:schemeClr val="tx2">
                    <a:lumMod val="60000"/>
                    <a:lumOff val="40000"/>
                  </a:schemeClr>
                </a:solidFill>
                <a:latin typeface="Arial Narrow" pitchFamily="-110" charset="0"/>
              </a:rPr>
              <a:t>	</a:t>
            </a:r>
            <a:r>
              <a:rPr lang="en-US" dirty="0" smtClean="0">
                <a:latin typeface="Arial Narrow" pitchFamily="-110" charset="0"/>
              </a:rPr>
              <a:t>-	Airports Act 1996 and associated Regulations </a:t>
            </a:r>
          </a:p>
          <a:p>
            <a:pPr>
              <a:spcBef>
                <a:spcPct val="50000"/>
              </a:spcBef>
              <a:buClr>
                <a:srgbClr val="4F6EB1"/>
              </a:buClr>
              <a:buSzPct val="130000"/>
            </a:pPr>
            <a:r>
              <a:rPr lang="en-US" dirty="0" smtClean="0">
                <a:latin typeface="Arial Narrow" pitchFamily="-110" charset="0"/>
              </a:rPr>
              <a:t>		</a:t>
            </a:r>
            <a:r>
              <a:rPr lang="en-US" dirty="0" smtClean="0">
                <a:solidFill>
                  <a:schemeClr val="accent4"/>
                </a:solidFill>
                <a:latin typeface="Arial Narrow" pitchFamily="-110" charset="0"/>
              </a:rPr>
              <a:t>=	Airports Regulations 1997 </a:t>
            </a:r>
          </a:p>
          <a:p>
            <a:pPr>
              <a:spcBef>
                <a:spcPct val="50000"/>
              </a:spcBef>
              <a:buClr>
                <a:srgbClr val="4F6EB1"/>
              </a:buClr>
              <a:buSzPct val="130000"/>
            </a:pPr>
            <a:r>
              <a:rPr lang="en-US" dirty="0" smtClean="0">
                <a:solidFill>
                  <a:schemeClr val="accent4"/>
                </a:solidFill>
                <a:latin typeface="Arial Narrow" pitchFamily="-110" charset="0"/>
              </a:rPr>
              <a:t>		=	Airports (Environment Protection) Regulations 1997 </a:t>
            </a:r>
          </a:p>
          <a:p>
            <a:pPr>
              <a:spcBef>
                <a:spcPct val="50000"/>
              </a:spcBef>
              <a:buClr>
                <a:srgbClr val="4F6EB1"/>
              </a:buClr>
              <a:buSzPct val="130000"/>
            </a:pPr>
            <a:r>
              <a:rPr lang="en-US" dirty="0" smtClean="0">
                <a:solidFill>
                  <a:schemeClr val="accent4"/>
                </a:solidFill>
                <a:latin typeface="Arial Narrow" pitchFamily="-110" charset="0"/>
              </a:rPr>
              <a:t>		=	Airports (Building Control) Regulations 1996</a:t>
            </a:r>
          </a:p>
          <a:p>
            <a:pPr>
              <a:spcBef>
                <a:spcPct val="50000"/>
              </a:spcBef>
              <a:buClr>
                <a:srgbClr val="4F6EB1"/>
              </a:buClr>
              <a:buSzPct val="130000"/>
            </a:pPr>
            <a:r>
              <a:rPr lang="en-US" dirty="0" smtClean="0">
                <a:solidFill>
                  <a:schemeClr val="accent4"/>
                </a:solidFill>
                <a:latin typeface="Arial Narrow" pitchFamily="-110" charset="0"/>
              </a:rPr>
              <a:t>		=	Airports (Control of On-Airport Activities) Regulations 1997</a:t>
            </a:r>
          </a:p>
          <a:p>
            <a:pPr>
              <a:spcBef>
                <a:spcPts val="1080"/>
              </a:spcBef>
              <a:buClr>
                <a:srgbClr val="4F6EB1"/>
              </a:buClr>
              <a:buSzPct val="130000"/>
            </a:pPr>
            <a:r>
              <a:rPr lang="en-US" dirty="0" smtClean="0">
                <a:latin typeface="Arial Narrow" pitchFamily="-110" charset="0"/>
              </a:rPr>
              <a:t>	-	other Regulations for security, airspace protection, environment etc</a:t>
            </a:r>
            <a:endParaRPr lang="en-US" dirty="0" smtClean="0">
              <a:solidFill>
                <a:schemeClr val="tx2">
                  <a:lumMod val="60000"/>
                  <a:lumOff val="40000"/>
                </a:schemeClr>
              </a:solidFill>
              <a:latin typeface="Arial Narrow" pitchFamily="-110" charset="0"/>
            </a:endParaRPr>
          </a:p>
          <a:p>
            <a:pPr>
              <a:spcBef>
                <a:spcPts val="1080"/>
              </a:spcBef>
              <a:buClr>
                <a:srgbClr val="4F6EB1"/>
              </a:buClr>
              <a:buSzPct val="130000"/>
              <a:buBlip>
                <a:blip r:embed="rId5"/>
              </a:buBlip>
            </a:pPr>
            <a:r>
              <a:rPr lang="en-US" dirty="0" smtClean="0">
                <a:solidFill>
                  <a:schemeClr val="tx2">
                    <a:lumMod val="60000"/>
                    <a:lumOff val="40000"/>
                  </a:schemeClr>
                </a:solidFill>
                <a:latin typeface="Arial Narrow" pitchFamily="-110" charset="0"/>
              </a:rPr>
              <a:t> 	Airport specific legislation (</a:t>
            </a:r>
            <a:r>
              <a:rPr lang="en-US" dirty="0" err="1" smtClean="0">
                <a:solidFill>
                  <a:schemeClr val="tx2">
                    <a:lumMod val="60000"/>
                    <a:lumOff val="40000"/>
                  </a:schemeClr>
                </a:solidFill>
                <a:latin typeface="Arial Narrow" pitchFamily="-110" charset="0"/>
              </a:rPr>
              <a:t>eg</a:t>
            </a:r>
            <a:r>
              <a:rPr lang="en-US" dirty="0" smtClean="0">
                <a:solidFill>
                  <a:schemeClr val="tx2">
                    <a:lumMod val="60000"/>
                    <a:lumOff val="40000"/>
                  </a:schemeClr>
                </a:solidFill>
                <a:latin typeface="Arial Narrow" pitchFamily="-110" charset="0"/>
              </a:rPr>
              <a:t>. Sydney Airport Demand Management Act 	1997)</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1.jpg"/>
          <p:cNvPicPr>
            <a:picLocks noChangeAspect="1"/>
          </p:cNvPicPr>
          <p:nvPr/>
        </p:nvPicPr>
        <p:blipFill>
          <a:blip r:embed="rId3"/>
          <a:stretch>
            <a:fillRect/>
          </a:stretch>
        </p:blipFill>
        <p:spPr>
          <a:xfrm>
            <a:off x="0" y="5858768"/>
            <a:ext cx="9144000" cy="999232"/>
          </a:xfrm>
          <a:prstGeom prst="rect">
            <a:avLst/>
          </a:prstGeom>
        </p:spPr>
      </p:pic>
      <p:pic>
        <p:nvPicPr>
          <p:cNvPr id="8" name="Picture 7" descr="image.jpg"/>
          <p:cNvPicPr>
            <a:picLocks noChangeAspect="1"/>
          </p:cNvPicPr>
          <p:nvPr/>
        </p:nvPicPr>
        <p:blipFill>
          <a:blip r:embed="rId4"/>
          <a:stretch>
            <a:fillRect/>
          </a:stretch>
        </p:blipFill>
        <p:spPr>
          <a:xfrm>
            <a:off x="0" y="0"/>
            <a:ext cx="1600200" cy="5858768"/>
          </a:xfrm>
          <a:prstGeom prst="rect">
            <a:avLst/>
          </a:prstGeom>
        </p:spPr>
      </p:pic>
      <p:sp>
        <p:nvSpPr>
          <p:cNvPr id="9" name="Text Box 2"/>
          <p:cNvSpPr txBox="1">
            <a:spLocks noChangeArrowheads="1"/>
          </p:cNvSpPr>
          <p:nvPr/>
        </p:nvSpPr>
        <p:spPr bwMode="auto">
          <a:xfrm>
            <a:off x="1905000" y="228600"/>
            <a:ext cx="6705600" cy="519113"/>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sz="2800" dirty="0" smtClean="0">
                <a:solidFill>
                  <a:schemeClr val="tx2"/>
                </a:solidFill>
                <a:latin typeface="Georgia" pitchFamily="-110" charset="0"/>
              </a:rPr>
              <a:t>Master Plans</a:t>
            </a:r>
            <a:endParaRPr lang="en-US" sz="2800" dirty="0">
              <a:solidFill>
                <a:schemeClr val="tx2"/>
              </a:solidFill>
              <a:latin typeface="Georgia" pitchFamily="-110" charset="0"/>
            </a:endParaRPr>
          </a:p>
        </p:txBody>
      </p:sp>
      <p:sp>
        <p:nvSpPr>
          <p:cNvPr id="10" name="Text Box 3"/>
          <p:cNvSpPr txBox="1">
            <a:spLocks noChangeArrowheads="1"/>
          </p:cNvSpPr>
          <p:nvPr/>
        </p:nvSpPr>
        <p:spPr bwMode="auto">
          <a:xfrm>
            <a:off x="1905000" y="1354138"/>
            <a:ext cx="6705600" cy="4108817"/>
          </a:xfrm>
          <a:prstGeom prst="rect">
            <a:avLst/>
          </a:prstGeom>
          <a:noFill/>
          <a:ln w="9525">
            <a:noFill/>
            <a:miter lim="800000"/>
            <a:headEnd/>
            <a:tailEnd/>
          </a:ln>
          <a:effectLst/>
        </p:spPr>
        <p:txBody>
          <a:bodyPr>
            <a:prstTxWarp prst="textNoShape">
              <a:avLst/>
            </a:prstTxWarp>
            <a:spAutoFit/>
          </a:bodyPr>
          <a:lstStyle/>
          <a:p>
            <a:pPr>
              <a:buClr>
                <a:srgbClr val="4F6EB1"/>
              </a:buClr>
              <a:buSzPct val="130000"/>
              <a:buBlip>
                <a:blip r:embed="rId5"/>
              </a:buBlip>
            </a:pPr>
            <a:r>
              <a:rPr lang="en-AU" dirty="0" smtClean="0">
                <a:solidFill>
                  <a:schemeClr val="tx2">
                    <a:lumMod val="60000"/>
                    <a:lumOff val="40000"/>
                  </a:schemeClr>
                </a:solidFill>
                <a:latin typeface="Arial Narrow" pitchFamily="-110" charset="0"/>
              </a:rPr>
              <a:t> 	Master Plans (MP) have a 20 year strategic horizon for airport future 	intentions</a:t>
            </a:r>
            <a:endParaRPr lang="en-US" dirty="0" smtClean="0">
              <a:solidFill>
                <a:srgbClr val="041C43"/>
              </a:solidFill>
              <a:latin typeface="Arial Narrow" pitchFamily="-110" charset="0"/>
            </a:endParaRPr>
          </a:p>
          <a:p>
            <a:pPr>
              <a:buClr>
                <a:srgbClr val="4F6EB1"/>
              </a:buClr>
              <a:buSzPct val="130000"/>
              <a:buBlip>
                <a:blip r:embed="rId5"/>
              </a:buBlip>
            </a:pPr>
            <a:endParaRPr lang="en-US" dirty="0" smtClean="0">
              <a:solidFill>
                <a:srgbClr val="041C43"/>
              </a:solidFill>
              <a:latin typeface="Arial Narrow" pitchFamily="-110" charset="0"/>
            </a:endParaRPr>
          </a:p>
          <a:p>
            <a:pPr>
              <a:buClr>
                <a:srgbClr val="4F6EB1"/>
              </a:buClr>
              <a:buSzPct val="130000"/>
              <a:buBlip>
                <a:blip r:embed="rId5"/>
              </a:buBlip>
            </a:pPr>
            <a:r>
              <a:rPr lang="en-US" dirty="0" smtClean="0">
                <a:solidFill>
                  <a:srgbClr val="041C43"/>
                </a:solidFill>
                <a:latin typeface="Arial Narrow" pitchFamily="-110" charset="0"/>
              </a:rPr>
              <a:t> 	</a:t>
            </a:r>
            <a:r>
              <a:rPr lang="en-AU" dirty="0" smtClean="0">
                <a:solidFill>
                  <a:schemeClr val="tx2">
                    <a:lumMod val="60000"/>
                    <a:lumOff val="40000"/>
                  </a:schemeClr>
                </a:solidFill>
                <a:latin typeface="Arial Narrow" pitchFamily="-110" charset="0"/>
              </a:rPr>
              <a:t>Updated every 5 years</a:t>
            </a:r>
          </a:p>
          <a:p>
            <a:pPr>
              <a:buClr>
                <a:srgbClr val="4F6EB1"/>
              </a:buClr>
              <a:buSzPct val="130000"/>
              <a:buBlip>
                <a:blip r:embed="rId5"/>
              </a:buBlip>
            </a:pPr>
            <a:endParaRPr lang="en-AU" dirty="0" smtClean="0">
              <a:solidFill>
                <a:schemeClr val="tx2">
                  <a:lumMod val="60000"/>
                  <a:lumOff val="40000"/>
                </a:schemeClr>
              </a:solidFill>
              <a:latin typeface="Arial Narrow" pitchFamily="-110" charset="0"/>
            </a:endParaRPr>
          </a:p>
          <a:p>
            <a:pPr>
              <a:buClr>
                <a:srgbClr val="4F6EB1"/>
              </a:buClr>
              <a:buSzPct val="130000"/>
              <a:buBlip>
                <a:blip r:embed="rId5"/>
              </a:buBlip>
            </a:pPr>
            <a:r>
              <a:rPr lang="en-AU" dirty="0" smtClean="0">
                <a:solidFill>
                  <a:schemeClr val="tx2">
                    <a:lumMod val="60000"/>
                    <a:lumOff val="40000"/>
                  </a:schemeClr>
                </a:solidFill>
                <a:latin typeface="Arial Narrow" pitchFamily="-110" charset="0"/>
              </a:rPr>
              <a:t> 	High level planning document that sets the development objectives for 	the airport and include proposals for land use</a:t>
            </a:r>
          </a:p>
          <a:p>
            <a:pPr>
              <a:buClr>
                <a:srgbClr val="4F6EB1"/>
              </a:buClr>
              <a:buSzPct val="130000"/>
              <a:buBlip>
                <a:blip r:embed="rId5"/>
              </a:buBlip>
            </a:pPr>
            <a:endParaRPr lang="en-AU" dirty="0" smtClean="0">
              <a:solidFill>
                <a:schemeClr val="tx2">
                  <a:lumMod val="60000"/>
                  <a:lumOff val="40000"/>
                </a:schemeClr>
              </a:solidFill>
              <a:latin typeface="Arial Narrow" pitchFamily="-110" charset="0"/>
            </a:endParaRPr>
          </a:p>
          <a:p>
            <a:pPr>
              <a:buClr>
                <a:srgbClr val="4F6EB1"/>
              </a:buClr>
              <a:buSzPct val="130000"/>
              <a:buBlip>
                <a:blip r:embed="rId5"/>
              </a:buBlip>
            </a:pPr>
            <a:r>
              <a:rPr lang="en-AU" dirty="0" smtClean="0">
                <a:solidFill>
                  <a:schemeClr val="tx2">
                    <a:lumMod val="60000"/>
                    <a:lumOff val="40000"/>
                  </a:schemeClr>
                </a:solidFill>
                <a:latin typeface="Arial Narrow" pitchFamily="-110" charset="0"/>
              </a:rPr>
              <a:t> 	Provide an assessment of airport user needs for services and facilities</a:t>
            </a:r>
          </a:p>
          <a:p>
            <a:pPr>
              <a:buClr>
                <a:srgbClr val="4F6EB1"/>
              </a:buClr>
              <a:buSzPct val="130000"/>
              <a:buBlip>
                <a:blip r:embed="rId5"/>
              </a:buBlip>
            </a:pPr>
            <a:endParaRPr lang="en-AU" dirty="0" smtClean="0">
              <a:solidFill>
                <a:schemeClr val="tx2">
                  <a:lumMod val="60000"/>
                  <a:lumOff val="40000"/>
                </a:schemeClr>
              </a:solidFill>
              <a:latin typeface="Arial Narrow" pitchFamily="-110" charset="0"/>
            </a:endParaRPr>
          </a:p>
          <a:p>
            <a:pPr>
              <a:buClr>
                <a:srgbClr val="4F6EB1"/>
              </a:buClr>
              <a:buSzPct val="130000"/>
              <a:buBlip>
                <a:blip r:embed="rId5"/>
              </a:buBlip>
            </a:pPr>
            <a:r>
              <a:rPr lang="en-AU" dirty="0" smtClean="0">
                <a:solidFill>
                  <a:schemeClr val="tx2">
                    <a:lumMod val="60000"/>
                    <a:lumOff val="40000"/>
                  </a:schemeClr>
                </a:solidFill>
                <a:latin typeface="Arial Narrow" pitchFamily="-110" charset="0"/>
              </a:rPr>
              <a:t> 	Include a public comment period</a:t>
            </a:r>
          </a:p>
          <a:p>
            <a:pPr>
              <a:buClr>
                <a:srgbClr val="4F6EB1"/>
              </a:buClr>
              <a:buSzPct val="130000"/>
              <a:buBlip>
                <a:blip r:embed="rId5"/>
              </a:buBlip>
            </a:pPr>
            <a:endParaRPr lang="en-AU" dirty="0" smtClean="0">
              <a:solidFill>
                <a:schemeClr val="tx2">
                  <a:lumMod val="60000"/>
                  <a:lumOff val="40000"/>
                </a:schemeClr>
              </a:solidFill>
              <a:latin typeface="Arial Narrow" pitchFamily="-110" charset="0"/>
            </a:endParaRPr>
          </a:p>
          <a:p>
            <a:pPr>
              <a:buClr>
                <a:srgbClr val="4F6EB1"/>
              </a:buClr>
              <a:buSzPct val="130000"/>
              <a:buBlip>
                <a:blip r:embed="rId5"/>
              </a:buBlip>
            </a:pPr>
            <a:r>
              <a:rPr lang="en-AU" dirty="0" smtClean="0">
                <a:solidFill>
                  <a:schemeClr val="tx2">
                    <a:lumMod val="60000"/>
                    <a:lumOff val="40000"/>
                  </a:schemeClr>
                </a:solidFill>
                <a:latin typeface="Arial Narrow" pitchFamily="-110" charset="0"/>
              </a:rPr>
              <a:t> 	Minister is the decision maker</a:t>
            </a:r>
          </a:p>
          <a:p>
            <a:pPr>
              <a:spcBef>
                <a:spcPct val="50000"/>
              </a:spcBef>
              <a:buClr>
                <a:srgbClr val="4F6EB1"/>
              </a:buClr>
              <a:buSzPct val="130000"/>
              <a:buFont typeface="Times" pitchFamily="-110" charset="0"/>
              <a:buChar char="•"/>
            </a:pPr>
            <a:endParaRPr lang="en-US" dirty="0" smtClean="0">
              <a:solidFill>
                <a:srgbClr val="041C43"/>
              </a:solidFill>
              <a:latin typeface="Arial Narrow" pitchFamily="-110"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1.jpg"/>
          <p:cNvPicPr>
            <a:picLocks noChangeAspect="1"/>
          </p:cNvPicPr>
          <p:nvPr/>
        </p:nvPicPr>
        <p:blipFill>
          <a:blip r:embed="rId3"/>
          <a:stretch>
            <a:fillRect/>
          </a:stretch>
        </p:blipFill>
        <p:spPr>
          <a:xfrm>
            <a:off x="0" y="5858768"/>
            <a:ext cx="9144000" cy="999232"/>
          </a:xfrm>
          <a:prstGeom prst="rect">
            <a:avLst/>
          </a:prstGeom>
        </p:spPr>
      </p:pic>
      <p:pic>
        <p:nvPicPr>
          <p:cNvPr id="8" name="Picture 7" descr="image.jpg"/>
          <p:cNvPicPr>
            <a:picLocks noChangeAspect="1"/>
          </p:cNvPicPr>
          <p:nvPr/>
        </p:nvPicPr>
        <p:blipFill>
          <a:blip r:embed="rId4"/>
          <a:stretch>
            <a:fillRect/>
          </a:stretch>
        </p:blipFill>
        <p:spPr>
          <a:xfrm>
            <a:off x="0" y="0"/>
            <a:ext cx="1600200" cy="5858768"/>
          </a:xfrm>
          <a:prstGeom prst="rect">
            <a:avLst/>
          </a:prstGeom>
        </p:spPr>
      </p:pic>
      <p:sp>
        <p:nvSpPr>
          <p:cNvPr id="9" name="Text Box 2"/>
          <p:cNvSpPr txBox="1">
            <a:spLocks noChangeArrowheads="1"/>
          </p:cNvSpPr>
          <p:nvPr/>
        </p:nvSpPr>
        <p:spPr bwMode="auto">
          <a:xfrm>
            <a:off x="1905000" y="228600"/>
            <a:ext cx="6705600" cy="519113"/>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sz="2800" dirty="0" smtClean="0">
                <a:solidFill>
                  <a:schemeClr val="tx2"/>
                </a:solidFill>
                <a:latin typeface="Georgia" pitchFamily="-110" charset="0"/>
              </a:rPr>
              <a:t>Major Development Plans</a:t>
            </a:r>
            <a:endParaRPr lang="en-US" sz="2800" dirty="0">
              <a:solidFill>
                <a:schemeClr val="tx2"/>
              </a:solidFill>
              <a:latin typeface="Georgia" pitchFamily="-110" charset="0"/>
            </a:endParaRPr>
          </a:p>
        </p:txBody>
      </p:sp>
      <p:sp>
        <p:nvSpPr>
          <p:cNvPr id="10" name="Text Box 3"/>
          <p:cNvSpPr txBox="1">
            <a:spLocks noChangeArrowheads="1"/>
          </p:cNvSpPr>
          <p:nvPr/>
        </p:nvSpPr>
        <p:spPr bwMode="auto">
          <a:xfrm>
            <a:off x="1905000" y="1354138"/>
            <a:ext cx="6705600" cy="4053417"/>
          </a:xfrm>
          <a:prstGeom prst="rect">
            <a:avLst/>
          </a:prstGeom>
          <a:noFill/>
          <a:ln w="9525">
            <a:noFill/>
            <a:miter lim="800000"/>
            <a:headEnd/>
            <a:tailEnd/>
          </a:ln>
          <a:effectLst/>
        </p:spPr>
        <p:txBody>
          <a:bodyPr>
            <a:prstTxWarp prst="textNoShape">
              <a:avLst/>
            </a:prstTxWarp>
            <a:spAutoFit/>
          </a:bodyPr>
          <a:lstStyle/>
          <a:p>
            <a:pPr>
              <a:buClr>
                <a:srgbClr val="4F6EB1"/>
              </a:buClr>
              <a:buSzPct val="130000"/>
              <a:buBlip>
                <a:blip r:embed="rId5"/>
              </a:buBlip>
            </a:pPr>
            <a:r>
              <a:rPr lang="en-AU" dirty="0" smtClean="0">
                <a:solidFill>
                  <a:schemeClr val="tx2">
                    <a:lumMod val="60000"/>
                    <a:lumOff val="40000"/>
                  </a:schemeClr>
                </a:solidFill>
                <a:latin typeface="Arial Narrow" pitchFamily="-110" charset="0"/>
              </a:rPr>
              <a:t> 	Required for large developments - such as</a:t>
            </a:r>
          </a:p>
          <a:p>
            <a:pPr>
              <a:lnSpc>
                <a:spcPct val="80000"/>
              </a:lnSpc>
              <a:spcBef>
                <a:spcPct val="50000"/>
              </a:spcBef>
              <a:buClr>
                <a:srgbClr val="4F6EB1"/>
              </a:buClr>
              <a:buSzPct val="130000"/>
              <a:defRPr/>
            </a:pPr>
            <a:r>
              <a:rPr lang="en-US" dirty="0" smtClean="0">
                <a:solidFill>
                  <a:schemeClr val="tx2">
                    <a:lumMod val="60000"/>
                    <a:lumOff val="40000"/>
                  </a:schemeClr>
                </a:solidFill>
                <a:latin typeface="Arial Narrow" pitchFamily="-110" charset="0"/>
              </a:rPr>
              <a:t>	</a:t>
            </a:r>
            <a:r>
              <a:rPr lang="en-US" dirty="0" smtClean="0">
                <a:latin typeface="Arial Narrow" pitchFamily="-110" charset="0"/>
              </a:rPr>
              <a:t>-	constructing new runways / taxiways, or extending them</a:t>
            </a:r>
            <a:endParaRPr lang="en-AU" dirty="0" smtClean="0">
              <a:latin typeface="Arial Narrow" pitchFamily="-110" charset="0"/>
            </a:endParaRPr>
          </a:p>
          <a:p>
            <a:pPr>
              <a:lnSpc>
                <a:spcPct val="80000"/>
              </a:lnSpc>
              <a:spcBef>
                <a:spcPct val="50000"/>
              </a:spcBef>
              <a:buClr>
                <a:srgbClr val="4F6EB1"/>
              </a:buClr>
              <a:buSzPct val="130000"/>
              <a:defRPr/>
            </a:pPr>
            <a:r>
              <a:rPr lang="en-US" dirty="0" smtClean="0">
                <a:latin typeface="Arial Narrow" pitchFamily="-110" charset="0"/>
              </a:rPr>
              <a:t>	-	constructing new passenger terminals or extending them</a:t>
            </a:r>
            <a:endParaRPr lang="en-AU" dirty="0" smtClean="0">
              <a:latin typeface="Arial Narrow" pitchFamily="-110" charset="0"/>
            </a:endParaRPr>
          </a:p>
          <a:p>
            <a:pPr>
              <a:lnSpc>
                <a:spcPct val="80000"/>
              </a:lnSpc>
              <a:spcBef>
                <a:spcPct val="50000"/>
              </a:spcBef>
              <a:buClr>
                <a:srgbClr val="4F6EB1"/>
              </a:buClr>
              <a:buSzPct val="130000"/>
              <a:defRPr/>
            </a:pPr>
            <a:r>
              <a:rPr lang="en-AU" dirty="0" smtClean="0">
                <a:latin typeface="Arial Narrow" pitchFamily="-110" charset="0"/>
              </a:rPr>
              <a:t>	-	non-aeronautical developments where the cost is &gt; A$20m</a:t>
            </a:r>
          </a:p>
          <a:p>
            <a:pPr marL="0" lvl="1">
              <a:lnSpc>
                <a:spcPct val="80000"/>
              </a:lnSpc>
              <a:spcBef>
                <a:spcPct val="50000"/>
              </a:spcBef>
              <a:buClr>
                <a:srgbClr val="4F6EB1"/>
              </a:buClr>
              <a:buSzPct val="130000"/>
              <a:defRPr/>
            </a:pPr>
            <a:r>
              <a:rPr lang="en-AU" dirty="0" smtClean="0">
                <a:latin typeface="Arial Narrow" pitchFamily="-110" charset="0"/>
              </a:rPr>
              <a:t>	-	development that is deemed to have significant community impact</a:t>
            </a:r>
          </a:p>
          <a:p>
            <a:pPr marL="0" lvl="1">
              <a:lnSpc>
                <a:spcPct val="80000"/>
              </a:lnSpc>
              <a:spcBef>
                <a:spcPct val="50000"/>
              </a:spcBef>
              <a:buClr>
                <a:srgbClr val="4F6EB1"/>
              </a:buClr>
              <a:buSzPct val="130000"/>
              <a:defRPr/>
            </a:pPr>
            <a:r>
              <a:rPr lang="en-AU" dirty="0" smtClean="0">
                <a:latin typeface="Arial Narrow" pitchFamily="-110" charset="0"/>
              </a:rPr>
              <a:t>	-	environmentally-significant developments</a:t>
            </a:r>
          </a:p>
          <a:p>
            <a:pPr marL="0" lvl="1">
              <a:lnSpc>
                <a:spcPct val="80000"/>
              </a:lnSpc>
              <a:spcBef>
                <a:spcPct val="50000"/>
              </a:spcBef>
              <a:buClr>
                <a:srgbClr val="4F6EB1"/>
              </a:buClr>
              <a:buSzPct val="130000"/>
              <a:defRPr/>
            </a:pPr>
            <a:r>
              <a:rPr lang="en-AU" dirty="0" smtClean="0">
                <a:latin typeface="Arial Narrow" pitchFamily="-110" charset="0"/>
              </a:rPr>
              <a:t>	-	‘sensitive developments’</a:t>
            </a:r>
          </a:p>
          <a:p>
            <a:pPr>
              <a:buClr>
                <a:srgbClr val="4F6EB1"/>
              </a:buClr>
              <a:buSzPct val="130000"/>
            </a:pPr>
            <a:endParaRPr lang="en-AU" dirty="0" smtClean="0">
              <a:solidFill>
                <a:schemeClr val="tx2">
                  <a:lumMod val="60000"/>
                  <a:lumOff val="40000"/>
                </a:schemeClr>
              </a:solidFill>
              <a:latin typeface="Arial Narrow" pitchFamily="-110" charset="0"/>
            </a:endParaRPr>
          </a:p>
          <a:p>
            <a:pPr>
              <a:buClr>
                <a:srgbClr val="4F6EB1"/>
              </a:buClr>
              <a:buSzPct val="130000"/>
              <a:buBlip>
                <a:blip r:embed="rId5"/>
              </a:buBlip>
            </a:pPr>
            <a:r>
              <a:rPr lang="en-AU" dirty="0" smtClean="0">
                <a:solidFill>
                  <a:schemeClr val="tx2">
                    <a:lumMod val="60000"/>
                    <a:lumOff val="40000"/>
                  </a:schemeClr>
                </a:solidFill>
                <a:latin typeface="Arial Narrow" pitchFamily="-110" charset="0"/>
              </a:rPr>
              <a:t> 	Include a public comment period</a:t>
            </a:r>
          </a:p>
          <a:p>
            <a:pPr>
              <a:buClr>
                <a:srgbClr val="4F6EB1"/>
              </a:buClr>
              <a:buSzPct val="130000"/>
              <a:buBlip>
                <a:blip r:embed="rId5"/>
              </a:buBlip>
            </a:pPr>
            <a:endParaRPr lang="en-AU" dirty="0" smtClean="0">
              <a:solidFill>
                <a:schemeClr val="tx2">
                  <a:lumMod val="60000"/>
                  <a:lumOff val="40000"/>
                </a:schemeClr>
              </a:solidFill>
              <a:latin typeface="Arial Narrow" pitchFamily="-110" charset="0"/>
            </a:endParaRPr>
          </a:p>
          <a:p>
            <a:pPr>
              <a:buClr>
                <a:srgbClr val="4F6EB1"/>
              </a:buClr>
              <a:buSzPct val="130000"/>
              <a:buBlip>
                <a:blip r:embed="rId5"/>
              </a:buBlip>
            </a:pPr>
            <a:r>
              <a:rPr lang="en-AU" dirty="0" smtClean="0">
                <a:solidFill>
                  <a:schemeClr val="tx2">
                    <a:lumMod val="60000"/>
                    <a:lumOff val="40000"/>
                  </a:schemeClr>
                </a:solidFill>
                <a:latin typeface="Arial Narrow" pitchFamily="-110" charset="0"/>
              </a:rPr>
              <a:t> 	Minister is the decision maker</a:t>
            </a:r>
          </a:p>
          <a:p>
            <a:pPr>
              <a:spcBef>
                <a:spcPct val="50000"/>
              </a:spcBef>
              <a:buClr>
                <a:srgbClr val="4F6EB1"/>
              </a:buClr>
              <a:buSzPct val="130000"/>
              <a:buFont typeface="Times" pitchFamily="-110" charset="0"/>
              <a:buChar char="•"/>
            </a:pPr>
            <a:endParaRPr lang="en-US" dirty="0" smtClean="0">
              <a:solidFill>
                <a:srgbClr val="041C43"/>
              </a:solidFill>
              <a:latin typeface="Arial Narrow" pitchFamily="-110"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1.jpg"/>
          <p:cNvPicPr>
            <a:picLocks noChangeAspect="1"/>
          </p:cNvPicPr>
          <p:nvPr/>
        </p:nvPicPr>
        <p:blipFill>
          <a:blip r:embed="rId2"/>
          <a:stretch>
            <a:fillRect/>
          </a:stretch>
        </p:blipFill>
        <p:spPr>
          <a:xfrm>
            <a:off x="0" y="5858768"/>
            <a:ext cx="9144000" cy="999232"/>
          </a:xfrm>
          <a:prstGeom prst="rect">
            <a:avLst/>
          </a:prstGeom>
        </p:spPr>
      </p:pic>
      <p:pic>
        <p:nvPicPr>
          <p:cNvPr id="8" name="Picture 7" descr="image.jpg"/>
          <p:cNvPicPr>
            <a:picLocks noChangeAspect="1"/>
          </p:cNvPicPr>
          <p:nvPr/>
        </p:nvPicPr>
        <p:blipFill>
          <a:blip r:embed="rId3"/>
          <a:stretch>
            <a:fillRect/>
          </a:stretch>
        </p:blipFill>
        <p:spPr>
          <a:xfrm>
            <a:off x="0" y="0"/>
            <a:ext cx="1600200" cy="5858768"/>
          </a:xfrm>
          <a:prstGeom prst="rect">
            <a:avLst/>
          </a:prstGeom>
        </p:spPr>
      </p:pic>
      <p:sp>
        <p:nvSpPr>
          <p:cNvPr id="9" name="Text Box 2"/>
          <p:cNvSpPr txBox="1">
            <a:spLocks noChangeArrowheads="1"/>
          </p:cNvSpPr>
          <p:nvPr/>
        </p:nvSpPr>
        <p:spPr bwMode="auto">
          <a:xfrm>
            <a:off x="1905000" y="228600"/>
            <a:ext cx="6705600" cy="519113"/>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sz="2800" dirty="0" smtClean="0">
                <a:solidFill>
                  <a:schemeClr val="tx2"/>
                </a:solidFill>
                <a:latin typeface="Georgia" pitchFamily="-110" charset="0"/>
              </a:rPr>
              <a:t>Aviation White Paper</a:t>
            </a:r>
            <a:endParaRPr lang="en-US" sz="2800" dirty="0">
              <a:solidFill>
                <a:schemeClr val="tx2"/>
              </a:solidFill>
              <a:latin typeface="Georgia" pitchFamily="-110" charset="0"/>
            </a:endParaRPr>
          </a:p>
        </p:txBody>
      </p:sp>
      <p:sp>
        <p:nvSpPr>
          <p:cNvPr id="10" name="Text Box 3"/>
          <p:cNvSpPr txBox="1">
            <a:spLocks noChangeArrowheads="1"/>
          </p:cNvSpPr>
          <p:nvPr/>
        </p:nvSpPr>
        <p:spPr bwMode="auto">
          <a:xfrm>
            <a:off x="1905000" y="1354138"/>
            <a:ext cx="5595958" cy="3831818"/>
          </a:xfrm>
          <a:prstGeom prst="rect">
            <a:avLst/>
          </a:prstGeom>
          <a:noFill/>
          <a:ln w="9525">
            <a:noFill/>
            <a:miter lim="800000"/>
            <a:headEnd/>
            <a:tailEnd/>
          </a:ln>
          <a:effectLst/>
        </p:spPr>
        <p:txBody>
          <a:bodyPr wrap="square">
            <a:prstTxWarp prst="textNoShape">
              <a:avLst/>
            </a:prstTxWarp>
            <a:spAutoFit/>
          </a:bodyPr>
          <a:lstStyle/>
          <a:p>
            <a:pPr>
              <a:buClr>
                <a:srgbClr val="4F6EB1"/>
              </a:buClr>
              <a:buSzPct val="130000"/>
              <a:buBlip>
                <a:blip r:embed="rId4"/>
              </a:buBlip>
            </a:pPr>
            <a:r>
              <a:rPr lang="en-US" dirty="0" smtClean="0">
                <a:solidFill>
                  <a:schemeClr val="tx2">
                    <a:lumMod val="60000"/>
                    <a:lumOff val="40000"/>
                  </a:schemeClr>
                </a:solidFill>
                <a:latin typeface="Arial Narrow" pitchFamily="-110" charset="0"/>
              </a:rPr>
              <a:t> 	 ‘Flight Path to the Future’ released 16 December 2009</a:t>
            </a:r>
          </a:p>
          <a:p>
            <a:pPr>
              <a:buClr>
                <a:srgbClr val="4F6EB1"/>
              </a:buClr>
              <a:buSzPct val="130000"/>
            </a:pPr>
            <a:endParaRPr lang="en-US" dirty="0" smtClean="0">
              <a:solidFill>
                <a:schemeClr val="tx2">
                  <a:lumMod val="60000"/>
                  <a:lumOff val="40000"/>
                </a:schemeClr>
              </a:solidFill>
              <a:latin typeface="Arial Narrow" pitchFamily="-110" charset="0"/>
            </a:endParaRPr>
          </a:p>
          <a:p>
            <a:pPr>
              <a:buClr>
                <a:srgbClr val="4F6EB1"/>
              </a:buClr>
              <a:buSzPct val="130000"/>
              <a:buBlip>
                <a:blip r:embed="rId4"/>
              </a:buBlip>
            </a:pPr>
            <a:r>
              <a:rPr lang="en-US" dirty="0" smtClean="0">
                <a:solidFill>
                  <a:schemeClr val="tx2">
                    <a:lumMod val="60000"/>
                    <a:lumOff val="40000"/>
                  </a:schemeClr>
                </a:solidFill>
                <a:latin typeface="Arial Narrow" pitchFamily="-110" charset="0"/>
              </a:rPr>
              <a:t> 	</a:t>
            </a:r>
            <a:r>
              <a:rPr lang="en-AU" dirty="0" smtClean="0">
                <a:solidFill>
                  <a:schemeClr val="tx2">
                    <a:lumMod val="60000"/>
                    <a:lumOff val="40000"/>
                  </a:schemeClr>
                </a:solidFill>
                <a:latin typeface="Arial Narrow" pitchFamily="-110" charset="0"/>
              </a:rPr>
              <a:t>Better integration with state and local government 	planning</a:t>
            </a:r>
          </a:p>
          <a:p>
            <a:pPr>
              <a:buClr>
                <a:srgbClr val="4F6EB1"/>
              </a:buClr>
              <a:buSzPct val="130000"/>
              <a:buBlip>
                <a:blip r:embed="rId4"/>
              </a:buBlip>
            </a:pPr>
            <a:endParaRPr lang="en-AU" dirty="0" smtClean="0">
              <a:solidFill>
                <a:schemeClr val="tx2">
                  <a:lumMod val="60000"/>
                  <a:lumOff val="40000"/>
                </a:schemeClr>
              </a:solidFill>
              <a:latin typeface="Arial Narrow" pitchFamily="-110" charset="0"/>
            </a:endParaRPr>
          </a:p>
          <a:p>
            <a:pPr>
              <a:buClr>
                <a:srgbClr val="4F6EB1"/>
              </a:buClr>
              <a:buSzPct val="130000"/>
              <a:buBlip>
                <a:blip r:embed="rId4"/>
              </a:buBlip>
            </a:pPr>
            <a:r>
              <a:rPr lang="en-AU" dirty="0" smtClean="0">
                <a:solidFill>
                  <a:schemeClr val="tx2">
                    <a:lumMod val="60000"/>
                    <a:lumOff val="40000"/>
                  </a:schemeClr>
                </a:solidFill>
                <a:latin typeface="Arial Narrow" pitchFamily="-110" charset="0"/>
              </a:rPr>
              <a:t> 	Strengthens community consultation</a:t>
            </a:r>
          </a:p>
          <a:p>
            <a:pPr>
              <a:buClr>
                <a:srgbClr val="4F6EB1"/>
              </a:buClr>
              <a:buSzPct val="130000"/>
              <a:buBlip>
                <a:blip r:embed="rId4"/>
              </a:buBlip>
            </a:pPr>
            <a:endParaRPr lang="en-AU" dirty="0" smtClean="0">
              <a:solidFill>
                <a:schemeClr val="tx2">
                  <a:lumMod val="60000"/>
                  <a:lumOff val="40000"/>
                </a:schemeClr>
              </a:solidFill>
              <a:latin typeface="Arial Narrow" pitchFamily="-110" charset="0"/>
            </a:endParaRPr>
          </a:p>
          <a:p>
            <a:pPr>
              <a:buClr>
                <a:srgbClr val="4F6EB1"/>
              </a:buClr>
              <a:buSzPct val="130000"/>
              <a:buBlip>
                <a:blip r:embed="rId4"/>
              </a:buBlip>
            </a:pPr>
            <a:r>
              <a:rPr lang="en-AU" dirty="0" smtClean="0">
                <a:solidFill>
                  <a:schemeClr val="tx2">
                    <a:lumMod val="60000"/>
                    <a:lumOff val="40000"/>
                  </a:schemeClr>
                </a:solidFill>
                <a:latin typeface="Arial Narrow" pitchFamily="-110" charset="0"/>
              </a:rPr>
              <a:t> 	Identifies uses which are not compatible with airport 	sites</a:t>
            </a:r>
          </a:p>
          <a:p>
            <a:pPr>
              <a:spcBef>
                <a:spcPct val="50000"/>
              </a:spcBef>
              <a:buClr>
                <a:srgbClr val="4F6EB1"/>
              </a:buClr>
              <a:buSzPct val="130000"/>
              <a:buFont typeface="Times" pitchFamily="-110" charset="0"/>
              <a:buChar char="•"/>
            </a:pPr>
            <a:endParaRPr lang="en-AU" dirty="0" smtClean="0">
              <a:solidFill>
                <a:srgbClr val="041C43"/>
              </a:solidFill>
              <a:latin typeface="Arial Narrow" pitchFamily="-110" charset="0"/>
            </a:endParaRPr>
          </a:p>
          <a:p>
            <a:pPr>
              <a:spcBef>
                <a:spcPct val="50000"/>
              </a:spcBef>
              <a:buClr>
                <a:srgbClr val="4F6EB1"/>
              </a:buClr>
              <a:buSzPct val="130000"/>
              <a:buFont typeface="Times" pitchFamily="-110" charset="0"/>
              <a:buChar char="•"/>
            </a:pPr>
            <a:endParaRPr lang="en-US" dirty="0" smtClean="0">
              <a:solidFill>
                <a:srgbClr val="041C43"/>
              </a:solidFill>
              <a:latin typeface="Arial Narrow" pitchFamily="-110" charset="0"/>
            </a:endParaRPr>
          </a:p>
          <a:p>
            <a:pPr>
              <a:spcBef>
                <a:spcPct val="50000"/>
              </a:spcBef>
              <a:buClr>
                <a:srgbClr val="4F6EB1"/>
              </a:buClr>
              <a:buSzPct val="130000"/>
              <a:buFont typeface="Times" pitchFamily="-110" charset="0"/>
              <a:buChar char="•"/>
            </a:pPr>
            <a:endParaRPr lang="en-US" dirty="0" smtClean="0">
              <a:solidFill>
                <a:srgbClr val="041C43"/>
              </a:solidFill>
              <a:latin typeface="Arial Narrow" pitchFamily="-110"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1.jpg"/>
          <p:cNvPicPr>
            <a:picLocks noChangeAspect="1"/>
          </p:cNvPicPr>
          <p:nvPr/>
        </p:nvPicPr>
        <p:blipFill>
          <a:blip r:embed="rId3"/>
          <a:stretch>
            <a:fillRect/>
          </a:stretch>
        </p:blipFill>
        <p:spPr>
          <a:xfrm>
            <a:off x="0" y="5858769"/>
            <a:ext cx="9144000" cy="999232"/>
          </a:xfrm>
          <a:prstGeom prst="rect">
            <a:avLst/>
          </a:prstGeom>
        </p:spPr>
      </p:pic>
      <p:pic>
        <p:nvPicPr>
          <p:cNvPr id="8" name="Picture 7" descr="image.jpg"/>
          <p:cNvPicPr>
            <a:picLocks noChangeAspect="1"/>
          </p:cNvPicPr>
          <p:nvPr/>
        </p:nvPicPr>
        <p:blipFill>
          <a:blip r:embed="rId4"/>
          <a:stretch>
            <a:fillRect/>
          </a:stretch>
        </p:blipFill>
        <p:spPr>
          <a:xfrm>
            <a:off x="0" y="1"/>
            <a:ext cx="1600200" cy="5858768"/>
          </a:xfrm>
          <a:prstGeom prst="rect">
            <a:avLst/>
          </a:prstGeom>
        </p:spPr>
      </p:pic>
      <p:sp>
        <p:nvSpPr>
          <p:cNvPr id="9" name="Text Box 2"/>
          <p:cNvSpPr txBox="1">
            <a:spLocks noChangeArrowheads="1"/>
          </p:cNvSpPr>
          <p:nvPr/>
        </p:nvSpPr>
        <p:spPr bwMode="auto">
          <a:xfrm>
            <a:off x="1905000" y="228601"/>
            <a:ext cx="6705600" cy="523220"/>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sz="2800" dirty="0" smtClean="0">
                <a:solidFill>
                  <a:schemeClr val="tx2"/>
                </a:solidFill>
                <a:latin typeface="Georgia" pitchFamily="-110" charset="0"/>
              </a:rPr>
              <a:t>2010 Legislative Amendments</a:t>
            </a:r>
            <a:endParaRPr lang="en-US" sz="2800" dirty="0">
              <a:solidFill>
                <a:schemeClr val="tx2"/>
              </a:solidFill>
              <a:latin typeface="Georgia" pitchFamily="-110" charset="0"/>
            </a:endParaRPr>
          </a:p>
        </p:txBody>
      </p:sp>
      <p:sp>
        <p:nvSpPr>
          <p:cNvPr id="10" name="Text Box 3"/>
          <p:cNvSpPr txBox="1">
            <a:spLocks noChangeArrowheads="1"/>
          </p:cNvSpPr>
          <p:nvPr/>
        </p:nvSpPr>
        <p:spPr bwMode="auto">
          <a:xfrm>
            <a:off x="1905000" y="1142984"/>
            <a:ext cx="7024718" cy="4478149"/>
          </a:xfrm>
          <a:prstGeom prst="rect">
            <a:avLst/>
          </a:prstGeom>
          <a:noFill/>
          <a:ln w="9525">
            <a:noFill/>
            <a:miter lim="800000"/>
            <a:headEnd/>
            <a:tailEnd/>
          </a:ln>
          <a:effectLst/>
        </p:spPr>
        <p:txBody>
          <a:bodyPr wrap="square">
            <a:prstTxWarp prst="textNoShape">
              <a:avLst/>
            </a:prstTxWarp>
            <a:spAutoFit/>
          </a:bodyPr>
          <a:lstStyle/>
          <a:p>
            <a:pPr>
              <a:spcBef>
                <a:spcPct val="50000"/>
              </a:spcBef>
              <a:buClr>
                <a:srgbClr val="4F6EB1"/>
              </a:buClr>
              <a:buSzPct val="130000"/>
              <a:buBlip>
                <a:blip r:embed="rId5"/>
              </a:buBlip>
            </a:pPr>
            <a:r>
              <a:rPr lang="en-US" dirty="0" smtClean="0">
                <a:solidFill>
                  <a:srgbClr val="041C43"/>
                </a:solidFill>
                <a:latin typeface="Arial Narrow" pitchFamily="-110" charset="0"/>
              </a:rPr>
              <a:t> 	</a:t>
            </a:r>
            <a:r>
              <a:rPr lang="en-US" dirty="0" smtClean="0">
                <a:solidFill>
                  <a:schemeClr val="tx2">
                    <a:lumMod val="60000"/>
                    <a:lumOff val="40000"/>
                  </a:schemeClr>
                </a:solidFill>
                <a:latin typeface="Arial Narrow" pitchFamily="-110" charset="0"/>
              </a:rPr>
              <a:t>Airports Act 1996 - Airports Amendment Bill 2010</a:t>
            </a:r>
          </a:p>
          <a:p>
            <a:pPr lvl="1">
              <a:spcBef>
                <a:spcPct val="50000"/>
              </a:spcBef>
              <a:buClr>
                <a:srgbClr val="4F6EB1"/>
              </a:buClr>
              <a:buSzPct val="130000"/>
            </a:pPr>
            <a:r>
              <a:rPr lang="en-US" sz="1600" dirty="0" smtClean="0">
                <a:latin typeface="Arial Narrow" pitchFamily="-110" charset="0"/>
              </a:rPr>
              <a:t>-	</a:t>
            </a:r>
            <a:r>
              <a:rPr lang="en-US" dirty="0" smtClean="0">
                <a:latin typeface="Arial Narrow" pitchFamily="-110" charset="0"/>
              </a:rPr>
              <a:t>greater integration of on-airport and off-airport planning</a:t>
            </a:r>
          </a:p>
          <a:p>
            <a:pPr lvl="1">
              <a:spcBef>
                <a:spcPct val="50000"/>
              </a:spcBef>
              <a:buClr>
                <a:srgbClr val="4F6EB1"/>
              </a:buClr>
              <a:buSzPct val="130000"/>
            </a:pPr>
            <a:r>
              <a:rPr lang="en-US" dirty="0" smtClean="0">
                <a:latin typeface="Arial Narrow" pitchFamily="-110" charset="0"/>
              </a:rPr>
              <a:t>-	Minister may determine a major development plan is not required for 	certain aeronautical developments</a:t>
            </a:r>
          </a:p>
          <a:p>
            <a:pPr lvl="1">
              <a:spcBef>
                <a:spcPct val="50000"/>
              </a:spcBef>
              <a:buClr>
                <a:srgbClr val="4F6EB1"/>
              </a:buClr>
              <a:buSzPct val="130000"/>
            </a:pPr>
            <a:r>
              <a:rPr lang="en-US" dirty="0" smtClean="0">
                <a:latin typeface="Arial Narrow" pitchFamily="-110" charset="0"/>
              </a:rPr>
              <a:t>-	Airport Environment Strategy (AES) and ground transport plan 	incorporated into airport MP</a:t>
            </a:r>
          </a:p>
          <a:p>
            <a:pPr lvl="1">
              <a:spcBef>
                <a:spcPct val="50000"/>
              </a:spcBef>
              <a:buClr>
                <a:srgbClr val="4F6EB1"/>
              </a:buClr>
              <a:buSzPct val="130000"/>
            </a:pPr>
            <a:r>
              <a:rPr lang="en-US" dirty="0" smtClean="0">
                <a:latin typeface="Arial Narrow" pitchFamily="-110" charset="0"/>
              </a:rPr>
              <a:t>-	new significant community and sensitive development MDP triggers</a:t>
            </a:r>
          </a:p>
          <a:p>
            <a:pPr lvl="1">
              <a:spcBef>
                <a:spcPct val="50000"/>
              </a:spcBef>
              <a:buClr>
                <a:srgbClr val="4F6EB1"/>
              </a:buClr>
              <a:buSzPct val="130000"/>
            </a:pPr>
            <a:r>
              <a:rPr lang="en-US" dirty="0" smtClean="0">
                <a:latin typeface="Arial Narrow" pitchFamily="-110" charset="0"/>
              </a:rPr>
              <a:t>-	clearer definition of ‘business day’</a:t>
            </a:r>
          </a:p>
          <a:p>
            <a:pPr lvl="1">
              <a:spcBef>
                <a:spcPct val="50000"/>
              </a:spcBef>
              <a:buClr>
                <a:srgbClr val="4F6EB1"/>
              </a:buClr>
              <a:buSzPct val="130000"/>
            </a:pPr>
            <a:r>
              <a:rPr lang="en-US" dirty="0" smtClean="0">
                <a:latin typeface="Arial Narrow" pitchFamily="-110" charset="0"/>
              </a:rPr>
              <a:t>-	up to 10 extra business days for Minister’s decision on MP or MDP</a:t>
            </a:r>
          </a:p>
          <a:p>
            <a:pPr lvl="1">
              <a:spcBef>
                <a:spcPct val="50000"/>
              </a:spcBef>
              <a:buClr>
                <a:srgbClr val="4F6EB1"/>
              </a:buClr>
              <a:buSzPct val="130000"/>
            </a:pPr>
            <a:endParaRPr lang="en-US" sz="1000" dirty="0" smtClean="0">
              <a:solidFill>
                <a:srgbClr val="041C43"/>
              </a:solidFill>
              <a:latin typeface="Arial Narrow" pitchFamily="-110" charset="0"/>
            </a:endParaRPr>
          </a:p>
          <a:p>
            <a:pPr>
              <a:spcBef>
                <a:spcPct val="50000"/>
              </a:spcBef>
              <a:buClr>
                <a:srgbClr val="4F6EB1"/>
              </a:buClr>
              <a:buSzPct val="130000"/>
              <a:buBlip>
                <a:blip r:embed="rId5"/>
              </a:buBlip>
            </a:pPr>
            <a:r>
              <a:rPr lang="en-US" dirty="0" smtClean="0">
                <a:solidFill>
                  <a:srgbClr val="041C43"/>
                </a:solidFill>
                <a:latin typeface="Arial Narrow" pitchFamily="-110" charset="0"/>
              </a:rPr>
              <a:t> 	</a:t>
            </a:r>
            <a:r>
              <a:rPr lang="en-US" dirty="0" smtClean="0">
                <a:solidFill>
                  <a:schemeClr val="tx2">
                    <a:lumMod val="60000"/>
                    <a:lumOff val="40000"/>
                  </a:schemeClr>
                </a:solidFill>
                <a:latin typeface="Arial Narrow" pitchFamily="-110" charset="0"/>
              </a:rPr>
              <a:t>Airports Regulations 1997 </a:t>
            </a:r>
            <a:endParaRPr lang="en-US" sz="1600" dirty="0" smtClean="0">
              <a:solidFill>
                <a:srgbClr val="041C43"/>
              </a:solidFill>
              <a:latin typeface="Arial Narrow" pitchFamily="-110" charset="0"/>
            </a:endParaRPr>
          </a:p>
          <a:p>
            <a:pPr>
              <a:spcBef>
                <a:spcPct val="50000"/>
              </a:spcBef>
              <a:buClr>
                <a:srgbClr val="4F6EB1"/>
              </a:buClr>
              <a:buSzPct val="130000"/>
            </a:pPr>
            <a:r>
              <a:rPr lang="en-US" sz="1600" dirty="0" smtClean="0">
                <a:solidFill>
                  <a:srgbClr val="041C43"/>
                </a:solidFill>
                <a:latin typeface="Arial Narrow" pitchFamily="-110" charset="0"/>
              </a:rPr>
              <a:t>	</a:t>
            </a:r>
            <a:r>
              <a:rPr lang="en-US" dirty="0" smtClean="0">
                <a:latin typeface="Arial Narrow" pitchFamily="-110" charset="0"/>
              </a:rPr>
              <a:t>-	consequential  /  transitional amendments following amendment of Act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1.jpg"/>
          <p:cNvPicPr>
            <a:picLocks noChangeAspect="1"/>
          </p:cNvPicPr>
          <p:nvPr/>
        </p:nvPicPr>
        <p:blipFill>
          <a:blip r:embed="rId3"/>
          <a:stretch>
            <a:fillRect/>
          </a:stretch>
        </p:blipFill>
        <p:spPr>
          <a:xfrm>
            <a:off x="0" y="5858769"/>
            <a:ext cx="9144000" cy="999232"/>
          </a:xfrm>
          <a:prstGeom prst="rect">
            <a:avLst/>
          </a:prstGeom>
        </p:spPr>
      </p:pic>
      <p:pic>
        <p:nvPicPr>
          <p:cNvPr id="8" name="Picture 7" descr="image.jpg"/>
          <p:cNvPicPr>
            <a:picLocks noChangeAspect="1"/>
          </p:cNvPicPr>
          <p:nvPr/>
        </p:nvPicPr>
        <p:blipFill>
          <a:blip r:embed="rId4"/>
          <a:stretch>
            <a:fillRect/>
          </a:stretch>
        </p:blipFill>
        <p:spPr>
          <a:xfrm>
            <a:off x="0" y="1"/>
            <a:ext cx="1600200" cy="5858768"/>
          </a:xfrm>
          <a:prstGeom prst="rect">
            <a:avLst/>
          </a:prstGeom>
        </p:spPr>
      </p:pic>
      <p:sp>
        <p:nvSpPr>
          <p:cNvPr id="9" name="Text Box 2"/>
          <p:cNvSpPr txBox="1">
            <a:spLocks noChangeArrowheads="1"/>
          </p:cNvSpPr>
          <p:nvPr/>
        </p:nvSpPr>
        <p:spPr bwMode="auto">
          <a:xfrm>
            <a:off x="1905000" y="228601"/>
            <a:ext cx="6705600" cy="523220"/>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sz="2800" dirty="0" smtClean="0">
                <a:solidFill>
                  <a:schemeClr val="tx2"/>
                </a:solidFill>
                <a:latin typeface="Georgia" pitchFamily="-110" charset="0"/>
              </a:rPr>
              <a:t>Strengthened Master Plans</a:t>
            </a:r>
            <a:endParaRPr lang="en-US" sz="2800" dirty="0">
              <a:solidFill>
                <a:schemeClr val="tx2"/>
              </a:solidFill>
              <a:latin typeface="Georgia" pitchFamily="-110" charset="0"/>
            </a:endParaRPr>
          </a:p>
        </p:txBody>
      </p:sp>
      <p:sp>
        <p:nvSpPr>
          <p:cNvPr id="10" name="Text Box 3"/>
          <p:cNvSpPr txBox="1">
            <a:spLocks noChangeArrowheads="1"/>
          </p:cNvSpPr>
          <p:nvPr/>
        </p:nvSpPr>
        <p:spPr bwMode="auto">
          <a:xfrm>
            <a:off x="1905000" y="1142984"/>
            <a:ext cx="7024718" cy="3416320"/>
          </a:xfrm>
          <a:prstGeom prst="rect">
            <a:avLst/>
          </a:prstGeom>
          <a:noFill/>
          <a:ln w="9525">
            <a:noFill/>
            <a:miter lim="800000"/>
            <a:headEnd/>
            <a:tailEnd/>
          </a:ln>
          <a:effectLst/>
        </p:spPr>
        <p:txBody>
          <a:bodyPr wrap="square">
            <a:prstTxWarp prst="textNoShape">
              <a:avLst/>
            </a:prstTxWarp>
            <a:spAutoFit/>
          </a:bodyPr>
          <a:lstStyle/>
          <a:p>
            <a:pPr>
              <a:buClr>
                <a:srgbClr val="4F6EB1"/>
              </a:buClr>
              <a:buSzPct val="130000"/>
              <a:buBlip>
                <a:blip r:embed="rId5"/>
              </a:buBlip>
            </a:pPr>
            <a:r>
              <a:rPr lang="en-US" dirty="0" smtClean="0">
                <a:solidFill>
                  <a:srgbClr val="041C43"/>
                </a:solidFill>
                <a:latin typeface="Arial Narrow" pitchFamily="-110" charset="0"/>
              </a:rPr>
              <a:t> 	</a:t>
            </a:r>
            <a:r>
              <a:rPr lang="en-US" dirty="0" smtClean="0">
                <a:solidFill>
                  <a:schemeClr val="tx2">
                    <a:lumMod val="60000"/>
                    <a:lumOff val="40000"/>
                  </a:schemeClr>
                </a:solidFill>
                <a:latin typeface="Arial Narrow" pitchFamily="-110" charset="0"/>
              </a:rPr>
              <a:t>Additional requirements for the first five years</a:t>
            </a:r>
          </a:p>
          <a:p>
            <a:pPr>
              <a:buClr>
                <a:srgbClr val="4F6EB1"/>
              </a:buClr>
              <a:buSzPct val="130000"/>
              <a:buBlip>
                <a:blip r:embed="rId5"/>
              </a:buBlip>
            </a:pPr>
            <a:endParaRPr lang="en-US" dirty="0" smtClean="0">
              <a:solidFill>
                <a:schemeClr val="tx2">
                  <a:lumMod val="60000"/>
                  <a:lumOff val="40000"/>
                </a:schemeClr>
              </a:solidFill>
              <a:latin typeface="Arial Narrow" pitchFamily="-110" charset="0"/>
            </a:endParaRPr>
          </a:p>
          <a:p>
            <a:pPr lvl="1">
              <a:buClr>
                <a:srgbClr val="4F6EB1"/>
              </a:buClr>
              <a:buSzPct val="130000"/>
              <a:buFontTx/>
              <a:buChar char="-"/>
            </a:pPr>
            <a:r>
              <a:rPr lang="en-US" dirty="0" smtClean="0">
                <a:latin typeface="Arial Narrow" pitchFamily="-110" charset="0"/>
              </a:rPr>
              <a:t> 	plan for ground transport system on landside of airport</a:t>
            </a:r>
          </a:p>
          <a:p>
            <a:pPr lvl="1">
              <a:buClr>
                <a:srgbClr val="4F6EB1"/>
              </a:buClr>
              <a:buSzPct val="130000"/>
              <a:buFontTx/>
              <a:buChar char="-"/>
            </a:pPr>
            <a:endParaRPr lang="en-US" dirty="0" smtClean="0">
              <a:latin typeface="Arial Narrow" pitchFamily="-110" charset="0"/>
            </a:endParaRPr>
          </a:p>
          <a:p>
            <a:pPr lvl="1">
              <a:buClr>
                <a:srgbClr val="4F6EB1"/>
              </a:buClr>
              <a:buSzPct val="130000"/>
              <a:buFontTx/>
              <a:buChar char="-"/>
            </a:pPr>
            <a:r>
              <a:rPr lang="en-US" dirty="0" smtClean="0">
                <a:latin typeface="Arial Narrow" pitchFamily="-110" charset="0"/>
              </a:rPr>
              <a:t> 	detailed information on the proposed developments for non-	aeronautical purposes</a:t>
            </a:r>
          </a:p>
          <a:p>
            <a:pPr lvl="1">
              <a:buClr>
                <a:srgbClr val="4F6EB1"/>
              </a:buClr>
              <a:buSzPct val="130000"/>
              <a:buFontTx/>
              <a:buChar char="-"/>
            </a:pPr>
            <a:endParaRPr lang="en-US" dirty="0" smtClean="0">
              <a:latin typeface="Arial Narrow" pitchFamily="-110" charset="0"/>
            </a:endParaRPr>
          </a:p>
          <a:p>
            <a:pPr lvl="1">
              <a:buClr>
                <a:srgbClr val="4F6EB1"/>
              </a:buClr>
              <a:buSzPct val="130000"/>
              <a:buFontTx/>
              <a:buChar char="-"/>
            </a:pPr>
            <a:r>
              <a:rPr lang="en-US" dirty="0" smtClean="0">
                <a:latin typeface="Arial Narrow" pitchFamily="-110" charset="0"/>
              </a:rPr>
              <a:t>	likely effect of proposed developments</a:t>
            </a:r>
          </a:p>
          <a:p>
            <a:pPr lvl="1">
              <a:buClr>
                <a:srgbClr val="4F6EB1"/>
              </a:buClr>
              <a:buSzPct val="130000"/>
              <a:buFontTx/>
              <a:buChar char="-"/>
            </a:pPr>
            <a:endParaRPr lang="en-US" dirty="0" smtClean="0">
              <a:latin typeface="Arial Narrow" pitchFamily="-110" charset="0"/>
            </a:endParaRPr>
          </a:p>
          <a:p>
            <a:pPr lvl="1">
              <a:buClr>
                <a:srgbClr val="4F6EB1"/>
              </a:buClr>
              <a:buSzPct val="130000"/>
              <a:buFontTx/>
              <a:buChar char="-"/>
            </a:pPr>
            <a:r>
              <a:rPr lang="en-US" dirty="0" smtClean="0">
                <a:latin typeface="Arial Narrow" pitchFamily="-110" charset="0"/>
              </a:rPr>
              <a:t> 	detailed AES incorporated into MP – no longer separate</a:t>
            </a:r>
          </a:p>
          <a:p>
            <a:pPr lvl="1">
              <a:buClr>
                <a:srgbClr val="4F6EB1"/>
              </a:buClr>
              <a:buSzPct val="130000"/>
              <a:buFontTx/>
              <a:buChar char="-"/>
            </a:pPr>
            <a:endParaRPr lang="en-US" dirty="0" smtClean="0">
              <a:latin typeface="Arial Narrow" pitchFamily="-110" charset="0"/>
            </a:endParaRPr>
          </a:p>
          <a:p>
            <a:pPr>
              <a:buClr>
                <a:srgbClr val="4F6EB1"/>
              </a:buClr>
              <a:buSzPct val="130000"/>
              <a:buBlip>
                <a:blip r:embed="rId5"/>
              </a:buBlip>
            </a:pPr>
            <a:r>
              <a:rPr lang="en-US" dirty="0" smtClean="0">
                <a:solidFill>
                  <a:schemeClr val="tx2">
                    <a:lumMod val="60000"/>
                    <a:lumOff val="40000"/>
                  </a:schemeClr>
                </a:solidFill>
                <a:latin typeface="Arial Narrow" pitchFamily="-110" charset="0"/>
              </a:rPr>
              <a:t>	Now only one public consultation and approval process for MP and AES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1.jpg"/>
          <p:cNvPicPr>
            <a:picLocks noChangeAspect="1"/>
          </p:cNvPicPr>
          <p:nvPr/>
        </p:nvPicPr>
        <p:blipFill>
          <a:blip r:embed="rId3"/>
          <a:stretch>
            <a:fillRect/>
          </a:stretch>
        </p:blipFill>
        <p:spPr>
          <a:xfrm>
            <a:off x="0" y="5858769"/>
            <a:ext cx="9144000" cy="999232"/>
          </a:xfrm>
          <a:prstGeom prst="rect">
            <a:avLst/>
          </a:prstGeom>
        </p:spPr>
      </p:pic>
      <p:pic>
        <p:nvPicPr>
          <p:cNvPr id="8" name="Picture 7" descr="image.jpg"/>
          <p:cNvPicPr>
            <a:picLocks noChangeAspect="1"/>
          </p:cNvPicPr>
          <p:nvPr/>
        </p:nvPicPr>
        <p:blipFill>
          <a:blip r:embed="rId4"/>
          <a:stretch>
            <a:fillRect/>
          </a:stretch>
        </p:blipFill>
        <p:spPr>
          <a:xfrm>
            <a:off x="0" y="1"/>
            <a:ext cx="1600200" cy="5858768"/>
          </a:xfrm>
          <a:prstGeom prst="rect">
            <a:avLst/>
          </a:prstGeom>
        </p:spPr>
      </p:pic>
      <p:sp>
        <p:nvSpPr>
          <p:cNvPr id="9" name="Text Box 2"/>
          <p:cNvSpPr txBox="1">
            <a:spLocks noChangeArrowheads="1"/>
          </p:cNvSpPr>
          <p:nvPr/>
        </p:nvSpPr>
        <p:spPr bwMode="auto">
          <a:xfrm>
            <a:off x="1714480" y="228601"/>
            <a:ext cx="6705600" cy="523220"/>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sz="2800" dirty="0" smtClean="0">
                <a:solidFill>
                  <a:schemeClr val="tx2"/>
                </a:solidFill>
                <a:latin typeface="Georgia" pitchFamily="-110" charset="0"/>
              </a:rPr>
              <a:t>Significant Community Impact</a:t>
            </a:r>
            <a:endParaRPr lang="en-US" sz="2800" dirty="0">
              <a:solidFill>
                <a:schemeClr val="tx2"/>
              </a:solidFill>
              <a:latin typeface="Georgia" pitchFamily="-110" charset="0"/>
            </a:endParaRPr>
          </a:p>
        </p:txBody>
      </p:sp>
      <p:sp>
        <p:nvSpPr>
          <p:cNvPr id="10" name="Text Box 3"/>
          <p:cNvSpPr txBox="1">
            <a:spLocks noChangeArrowheads="1"/>
          </p:cNvSpPr>
          <p:nvPr/>
        </p:nvSpPr>
        <p:spPr bwMode="auto">
          <a:xfrm>
            <a:off x="1714480" y="751821"/>
            <a:ext cx="7024718" cy="3000821"/>
          </a:xfrm>
          <a:prstGeom prst="rect">
            <a:avLst/>
          </a:prstGeom>
          <a:noFill/>
          <a:ln w="9525">
            <a:noFill/>
            <a:miter lim="800000"/>
            <a:headEnd/>
            <a:tailEnd/>
          </a:ln>
          <a:effectLst/>
        </p:spPr>
        <p:txBody>
          <a:bodyPr wrap="square">
            <a:prstTxWarp prst="textNoShape">
              <a:avLst/>
            </a:prstTxWarp>
            <a:spAutoFit/>
          </a:bodyPr>
          <a:lstStyle/>
          <a:p>
            <a:pPr>
              <a:lnSpc>
                <a:spcPct val="150000"/>
              </a:lnSpc>
              <a:spcBef>
                <a:spcPct val="50000"/>
              </a:spcBef>
              <a:buClr>
                <a:srgbClr val="4F6EB1"/>
              </a:buClr>
              <a:buSzPct val="130000"/>
              <a:buBlip>
                <a:blip r:embed="rId5"/>
              </a:buBlip>
            </a:pPr>
            <a:r>
              <a:rPr lang="en-US" dirty="0" smtClean="0">
                <a:solidFill>
                  <a:srgbClr val="041C43"/>
                </a:solidFill>
                <a:latin typeface="Arial Narrow" pitchFamily="-110" charset="0"/>
              </a:rPr>
              <a:t> 	</a:t>
            </a:r>
            <a:r>
              <a:rPr lang="en-US" dirty="0" smtClean="0">
                <a:solidFill>
                  <a:schemeClr val="tx2">
                    <a:lumMod val="60000"/>
                    <a:lumOff val="40000"/>
                  </a:schemeClr>
                </a:solidFill>
                <a:latin typeface="Arial Narrow" pitchFamily="-110" charset="0"/>
              </a:rPr>
              <a:t>Applies regardless of the size or cost of a development</a:t>
            </a:r>
          </a:p>
          <a:p>
            <a:pPr>
              <a:lnSpc>
                <a:spcPct val="150000"/>
              </a:lnSpc>
              <a:spcBef>
                <a:spcPct val="50000"/>
              </a:spcBef>
              <a:buClr>
                <a:srgbClr val="4F6EB1"/>
              </a:buClr>
              <a:buSzPct val="130000"/>
              <a:buBlip>
                <a:blip r:embed="rId5"/>
              </a:buBlip>
            </a:pPr>
            <a:r>
              <a:rPr lang="en-US" dirty="0" smtClean="0">
                <a:solidFill>
                  <a:schemeClr val="tx2">
                    <a:lumMod val="60000"/>
                    <a:lumOff val="40000"/>
                  </a:schemeClr>
                </a:solidFill>
                <a:latin typeface="Arial Narrow" pitchFamily="-110" charset="0"/>
              </a:rPr>
              <a:t> 	MDP will be required if a development will conflict with the local planning 	scheme around the airport or causes concern among the community</a:t>
            </a:r>
          </a:p>
          <a:p>
            <a:pPr>
              <a:lnSpc>
                <a:spcPct val="150000"/>
              </a:lnSpc>
              <a:spcBef>
                <a:spcPct val="50000"/>
              </a:spcBef>
              <a:buClr>
                <a:srgbClr val="4F6EB1"/>
              </a:buClr>
              <a:buSzPct val="130000"/>
              <a:buBlip>
                <a:blip r:embed="rId5"/>
              </a:buBlip>
            </a:pPr>
            <a:r>
              <a:rPr lang="en-US" dirty="0" smtClean="0">
                <a:solidFill>
                  <a:schemeClr val="tx2">
                    <a:lumMod val="60000"/>
                    <a:lumOff val="40000"/>
                  </a:schemeClr>
                </a:solidFill>
                <a:latin typeface="Arial Narrow" pitchFamily="-110" charset="0"/>
              </a:rPr>
              <a:t> 	Like all MDPs, must undergo full public consultation - therefore gives the 	community the chance to have their concerns addressed</a:t>
            </a:r>
          </a:p>
          <a:p>
            <a:pPr>
              <a:lnSpc>
                <a:spcPct val="150000"/>
              </a:lnSpc>
              <a:spcBef>
                <a:spcPct val="50000"/>
              </a:spcBef>
              <a:buClr>
                <a:srgbClr val="4F6EB1"/>
              </a:buClr>
              <a:buSzPct val="130000"/>
              <a:buBlip>
                <a:blip r:embed="rId5"/>
              </a:buBlip>
            </a:pPr>
            <a:r>
              <a:rPr lang="en-US" dirty="0" smtClean="0">
                <a:solidFill>
                  <a:schemeClr val="tx2">
                    <a:lumMod val="60000"/>
                    <a:lumOff val="40000"/>
                  </a:schemeClr>
                </a:solidFill>
                <a:latin typeface="Arial Narrow" pitchFamily="-110" charset="0"/>
              </a:rPr>
              <a:t> 	Draft guidelines circulated for public comment - nearing </a:t>
            </a:r>
            <a:r>
              <a:rPr lang="en-US" dirty="0" err="1" smtClean="0">
                <a:solidFill>
                  <a:schemeClr val="tx2">
                    <a:lumMod val="60000"/>
                    <a:lumOff val="40000"/>
                  </a:schemeClr>
                </a:solidFill>
                <a:latin typeface="Arial Narrow" pitchFamily="-110" charset="0"/>
              </a:rPr>
              <a:t>finalisation</a:t>
            </a:r>
            <a:endParaRPr lang="en-US" dirty="0">
              <a:solidFill>
                <a:schemeClr val="tx2">
                  <a:lumMod val="60000"/>
                  <a:lumOff val="40000"/>
                </a:schemeClr>
              </a:solidFill>
              <a:latin typeface="Arial Narrow" pitchFamily="-110"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1.jpg"/>
          <p:cNvPicPr>
            <a:picLocks noChangeAspect="1"/>
          </p:cNvPicPr>
          <p:nvPr/>
        </p:nvPicPr>
        <p:blipFill>
          <a:blip r:embed="rId3"/>
          <a:stretch>
            <a:fillRect/>
          </a:stretch>
        </p:blipFill>
        <p:spPr>
          <a:xfrm>
            <a:off x="0" y="5858769"/>
            <a:ext cx="9144000" cy="999232"/>
          </a:xfrm>
          <a:prstGeom prst="rect">
            <a:avLst/>
          </a:prstGeom>
        </p:spPr>
      </p:pic>
      <p:pic>
        <p:nvPicPr>
          <p:cNvPr id="8" name="Picture 7" descr="image.jpg"/>
          <p:cNvPicPr>
            <a:picLocks noChangeAspect="1"/>
          </p:cNvPicPr>
          <p:nvPr/>
        </p:nvPicPr>
        <p:blipFill>
          <a:blip r:embed="rId4"/>
          <a:stretch>
            <a:fillRect/>
          </a:stretch>
        </p:blipFill>
        <p:spPr>
          <a:xfrm>
            <a:off x="0" y="1"/>
            <a:ext cx="1600200" cy="5858768"/>
          </a:xfrm>
          <a:prstGeom prst="rect">
            <a:avLst/>
          </a:prstGeom>
        </p:spPr>
      </p:pic>
      <p:sp>
        <p:nvSpPr>
          <p:cNvPr id="9" name="Text Box 2"/>
          <p:cNvSpPr txBox="1">
            <a:spLocks noChangeArrowheads="1"/>
          </p:cNvSpPr>
          <p:nvPr/>
        </p:nvSpPr>
        <p:spPr bwMode="auto">
          <a:xfrm>
            <a:off x="1905000" y="228601"/>
            <a:ext cx="6705600" cy="523220"/>
          </a:xfrm>
          <a:prstGeom prst="rect">
            <a:avLst/>
          </a:prstGeom>
          <a:noFill/>
          <a:ln w="9525">
            <a:noFill/>
            <a:miter lim="800000"/>
            <a:headEnd/>
            <a:tailEnd/>
          </a:ln>
          <a:effectLst/>
        </p:spPr>
        <p:txBody>
          <a:bodyPr>
            <a:prstTxWarp prst="textNoShape">
              <a:avLst/>
            </a:prstTxWarp>
            <a:spAutoFit/>
          </a:bodyPr>
          <a:lstStyle/>
          <a:p>
            <a:pPr>
              <a:spcBef>
                <a:spcPct val="50000"/>
              </a:spcBef>
            </a:pPr>
            <a:r>
              <a:rPr lang="en-US" sz="2800" dirty="0" smtClean="0">
                <a:solidFill>
                  <a:schemeClr val="tx2"/>
                </a:solidFill>
                <a:latin typeface="Georgia" pitchFamily="-110" charset="0"/>
              </a:rPr>
              <a:t>Sensitive Developments</a:t>
            </a:r>
            <a:endParaRPr lang="en-US" sz="2800" dirty="0">
              <a:solidFill>
                <a:schemeClr val="tx2"/>
              </a:solidFill>
              <a:latin typeface="Georgia" pitchFamily="-110" charset="0"/>
            </a:endParaRPr>
          </a:p>
        </p:txBody>
      </p:sp>
      <p:sp>
        <p:nvSpPr>
          <p:cNvPr id="10" name="Text Box 3"/>
          <p:cNvSpPr txBox="1">
            <a:spLocks noChangeArrowheads="1"/>
          </p:cNvSpPr>
          <p:nvPr/>
        </p:nvSpPr>
        <p:spPr bwMode="auto">
          <a:xfrm>
            <a:off x="1905000" y="857232"/>
            <a:ext cx="7024718" cy="4247317"/>
          </a:xfrm>
          <a:prstGeom prst="rect">
            <a:avLst/>
          </a:prstGeom>
          <a:noFill/>
          <a:ln w="9525">
            <a:noFill/>
            <a:miter lim="800000"/>
            <a:headEnd/>
            <a:tailEnd/>
          </a:ln>
          <a:effectLst/>
        </p:spPr>
        <p:txBody>
          <a:bodyPr wrap="square">
            <a:prstTxWarp prst="textNoShape">
              <a:avLst/>
            </a:prstTxWarp>
            <a:spAutoFit/>
          </a:bodyPr>
          <a:lstStyle/>
          <a:p>
            <a:pPr>
              <a:buClr>
                <a:srgbClr val="4F6EB1"/>
              </a:buClr>
              <a:buSzPct val="130000"/>
              <a:buBlip>
                <a:blip r:embed="rId5"/>
              </a:buBlip>
            </a:pPr>
            <a:r>
              <a:rPr lang="en-US" dirty="0" smtClean="0">
                <a:solidFill>
                  <a:srgbClr val="041C43"/>
                </a:solidFill>
                <a:latin typeface="Arial Narrow" pitchFamily="-110" charset="0"/>
              </a:rPr>
              <a:t> 	</a:t>
            </a:r>
            <a:r>
              <a:rPr lang="en-US" dirty="0" smtClean="0">
                <a:solidFill>
                  <a:schemeClr val="tx2">
                    <a:lumMod val="60000"/>
                    <a:lumOff val="40000"/>
                  </a:schemeClr>
                </a:solidFill>
                <a:latin typeface="Arial Narrow" pitchFamily="-110" charset="0"/>
              </a:rPr>
              <a:t>Applies to developments which may be incompatible with airport operations</a:t>
            </a:r>
            <a:endParaRPr lang="en-US" dirty="0" smtClean="0">
              <a:solidFill>
                <a:srgbClr val="041C43"/>
              </a:solidFill>
              <a:latin typeface="Arial Narrow" pitchFamily="-110" charset="0"/>
            </a:endParaRPr>
          </a:p>
          <a:p>
            <a:pPr lvl="1">
              <a:buClr>
                <a:srgbClr val="4F6EB1"/>
              </a:buClr>
              <a:buSzPct val="130000"/>
            </a:pPr>
            <a:endParaRPr lang="en-US" dirty="0" smtClean="0">
              <a:solidFill>
                <a:srgbClr val="041C43"/>
              </a:solidFill>
              <a:latin typeface="Arial Narrow" pitchFamily="-110" charset="0"/>
            </a:endParaRPr>
          </a:p>
          <a:p>
            <a:pPr lvl="1">
              <a:buClr>
                <a:srgbClr val="4F6EB1"/>
              </a:buClr>
              <a:buSzPct val="130000"/>
            </a:pPr>
            <a:r>
              <a:rPr lang="en-US" dirty="0" smtClean="0">
                <a:solidFill>
                  <a:srgbClr val="041C43"/>
                </a:solidFill>
                <a:latin typeface="Arial Narrow" pitchFamily="-110" charset="0"/>
              </a:rPr>
              <a:t>-	residential dwellings</a:t>
            </a:r>
          </a:p>
          <a:p>
            <a:pPr lvl="1">
              <a:buClr>
                <a:srgbClr val="4F6EB1"/>
              </a:buClr>
              <a:buSzPct val="130000"/>
            </a:pPr>
            <a:endParaRPr lang="en-US" dirty="0" smtClean="0">
              <a:solidFill>
                <a:srgbClr val="041C43"/>
              </a:solidFill>
              <a:latin typeface="Arial Narrow" pitchFamily="-110" charset="0"/>
            </a:endParaRPr>
          </a:p>
          <a:p>
            <a:pPr lvl="1">
              <a:buClr>
                <a:srgbClr val="4F6EB1"/>
              </a:buClr>
              <a:buSzPct val="130000"/>
            </a:pPr>
            <a:r>
              <a:rPr lang="en-US" dirty="0" smtClean="0">
                <a:solidFill>
                  <a:srgbClr val="041C43"/>
                </a:solidFill>
                <a:latin typeface="Arial Narrow" pitchFamily="-110" charset="0"/>
              </a:rPr>
              <a:t>-	schools, pre-schools and non-aviation educational facilities</a:t>
            </a:r>
          </a:p>
          <a:p>
            <a:pPr lvl="1">
              <a:buClr>
                <a:srgbClr val="4F6EB1"/>
              </a:buClr>
              <a:buSzPct val="130000"/>
            </a:pPr>
            <a:endParaRPr lang="en-US" dirty="0" smtClean="0">
              <a:solidFill>
                <a:srgbClr val="041C43"/>
              </a:solidFill>
              <a:latin typeface="Arial Narrow" pitchFamily="-110" charset="0"/>
            </a:endParaRPr>
          </a:p>
          <a:p>
            <a:pPr lvl="1">
              <a:buClr>
                <a:srgbClr val="4F6EB1"/>
              </a:buClr>
              <a:buSzPct val="130000"/>
            </a:pPr>
            <a:r>
              <a:rPr lang="en-US" dirty="0" smtClean="0">
                <a:solidFill>
                  <a:srgbClr val="041C43"/>
                </a:solidFill>
                <a:latin typeface="Arial Narrow" pitchFamily="-110" charset="0"/>
              </a:rPr>
              <a:t>-	hospitals and community care facilities</a:t>
            </a:r>
          </a:p>
          <a:p>
            <a:pPr>
              <a:buClr>
                <a:srgbClr val="4F6EB1"/>
              </a:buClr>
              <a:buSzPct val="130000"/>
            </a:pPr>
            <a:endParaRPr lang="en-US" dirty="0" smtClean="0">
              <a:solidFill>
                <a:srgbClr val="041C43"/>
              </a:solidFill>
              <a:latin typeface="Arial Narrow" pitchFamily="-110" charset="0"/>
            </a:endParaRPr>
          </a:p>
          <a:p>
            <a:pPr>
              <a:buClr>
                <a:srgbClr val="4F6EB1"/>
              </a:buClr>
              <a:buSzPct val="130000"/>
              <a:buBlip>
                <a:blip r:embed="rId5"/>
              </a:buBlip>
            </a:pPr>
            <a:r>
              <a:rPr lang="en-US" dirty="0" smtClean="0">
                <a:solidFill>
                  <a:srgbClr val="041C43"/>
                </a:solidFill>
                <a:latin typeface="Arial Narrow" pitchFamily="-110" charset="0"/>
              </a:rPr>
              <a:t> 	</a:t>
            </a:r>
            <a:r>
              <a:rPr lang="en-US" dirty="0" smtClean="0">
                <a:solidFill>
                  <a:schemeClr val="tx2">
                    <a:lumMod val="60000"/>
                    <a:lumOff val="40000"/>
                  </a:schemeClr>
                </a:solidFill>
                <a:latin typeface="Arial Narrow" pitchFamily="-110" charset="0"/>
              </a:rPr>
              <a:t>Airport lessee company must demonstrate why development is not sensitive 	and seek Minister’s approval to proceed with a MDP</a:t>
            </a:r>
          </a:p>
          <a:p>
            <a:pPr>
              <a:buClr>
                <a:srgbClr val="4F6EB1"/>
              </a:buClr>
              <a:buSzPct val="130000"/>
            </a:pPr>
            <a:endParaRPr lang="en-US" dirty="0" smtClean="0">
              <a:solidFill>
                <a:srgbClr val="041C43"/>
              </a:solidFill>
              <a:latin typeface="Arial Narrow" pitchFamily="-110" charset="0"/>
            </a:endParaRPr>
          </a:p>
          <a:p>
            <a:pPr>
              <a:buClr>
                <a:srgbClr val="4F6EB1"/>
              </a:buClr>
              <a:buSzPct val="130000"/>
              <a:buBlip>
                <a:blip r:embed="rId5"/>
              </a:buBlip>
            </a:pPr>
            <a:r>
              <a:rPr lang="en-US" dirty="0" smtClean="0">
                <a:solidFill>
                  <a:srgbClr val="041C43"/>
                </a:solidFill>
                <a:latin typeface="Arial Narrow" pitchFamily="-110" charset="0"/>
              </a:rPr>
              <a:t> 	</a:t>
            </a:r>
            <a:r>
              <a:rPr lang="en-US" dirty="0" smtClean="0">
                <a:solidFill>
                  <a:schemeClr val="tx2">
                    <a:lumMod val="60000"/>
                    <a:lumOff val="40000"/>
                  </a:schemeClr>
                </a:solidFill>
                <a:latin typeface="Arial Narrow" pitchFamily="-110" charset="0"/>
              </a:rPr>
              <a:t>If the Minister approves preparation of a MDP, full public consultation must 	be undertaken as part of the process</a:t>
            </a:r>
          </a:p>
          <a:p>
            <a:pPr>
              <a:buClr>
                <a:srgbClr val="4F6EB1"/>
              </a:buClr>
              <a:buSzPct val="130000"/>
            </a:pPr>
            <a:endParaRPr lang="en-US" dirty="0" smtClean="0">
              <a:solidFill>
                <a:schemeClr val="tx2">
                  <a:lumMod val="60000"/>
                  <a:lumOff val="40000"/>
                </a:schemeClr>
              </a:solidFill>
              <a:latin typeface="Arial Narrow" pitchFamily="-110" charset="0"/>
            </a:endParaRPr>
          </a:p>
          <a:p>
            <a:pPr>
              <a:buClr>
                <a:srgbClr val="4F6EB1"/>
              </a:buClr>
              <a:buSzPct val="130000"/>
              <a:buBlip>
                <a:blip r:embed="rId5"/>
              </a:buBlip>
            </a:pPr>
            <a:r>
              <a:rPr lang="en-US" dirty="0" smtClean="0">
                <a:solidFill>
                  <a:schemeClr val="tx2">
                    <a:lumMod val="60000"/>
                    <a:lumOff val="40000"/>
                  </a:schemeClr>
                </a:solidFill>
                <a:latin typeface="Arial Narrow" pitchFamily="-110" charset="0"/>
              </a:rPr>
              <a:t> 	Approval of preparation of MDP does not mean approval of MDP</a:t>
            </a:r>
            <a:endParaRPr lang="en-US" dirty="0">
              <a:solidFill>
                <a:schemeClr val="tx2">
                  <a:lumMod val="60000"/>
                  <a:lumOff val="40000"/>
                </a:schemeClr>
              </a:solidFill>
              <a:latin typeface="Arial Narrow" pitchFamily="-110"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1.jpg"/>
          <p:cNvPicPr>
            <a:picLocks noChangeAspect="1"/>
          </p:cNvPicPr>
          <p:nvPr/>
        </p:nvPicPr>
        <p:blipFill>
          <a:blip r:embed="rId3"/>
          <a:stretch>
            <a:fillRect/>
          </a:stretch>
        </p:blipFill>
        <p:spPr>
          <a:xfrm>
            <a:off x="0" y="5858769"/>
            <a:ext cx="9144000" cy="999232"/>
          </a:xfrm>
          <a:prstGeom prst="rect">
            <a:avLst/>
          </a:prstGeom>
        </p:spPr>
      </p:pic>
      <p:pic>
        <p:nvPicPr>
          <p:cNvPr id="8" name="Picture 7" descr="image.jpg"/>
          <p:cNvPicPr>
            <a:picLocks noChangeAspect="1"/>
          </p:cNvPicPr>
          <p:nvPr/>
        </p:nvPicPr>
        <p:blipFill>
          <a:blip r:embed="rId4"/>
          <a:stretch>
            <a:fillRect/>
          </a:stretch>
        </p:blipFill>
        <p:spPr>
          <a:xfrm>
            <a:off x="0" y="1"/>
            <a:ext cx="1600200" cy="5858768"/>
          </a:xfrm>
          <a:prstGeom prst="rect">
            <a:avLst/>
          </a:prstGeom>
        </p:spPr>
      </p:pic>
      <p:sp>
        <p:nvSpPr>
          <p:cNvPr id="9" name="Text Box 2"/>
          <p:cNvSpPr txBox="1">
            <a:spLocks noChangeArrowheads="1"/>
          </p:cNvSpPr>
          <p:nvPr/>
        </p:nvSpPr>
        <p:spPr bwMode="auto">
          <a:xfrm>
            <a:off x="1714480" y="228601"/>
            <a:ext cx="7429520" cy="523220"/>
          </a:xfrm>
          <a:prstGeom prst="rect">
            <a:avLst/>
          </a:prstGeom>
          <a:noFill/>
          <a:ln w="9525">
            <a:noFill/>
            <a:miter lim="800000"/>
            <a:headEnd/>
            <a:tailEnd/>
          </a:ln>
          <a:effectLst/>
        </p:spPr>
        <p:txBody>
          <a:bodyPr wrap="square">
            <a:prstTxWarp prst="textNoShape">
              <a:avLst/>
            </a:prstTxWarp>
            <a:spAutoFit/>
          </a:bodyPr>
          <a:lstStyle/>
          <a:p>
            <a:pPr>
              <a:spcBef>
                <a:spcPct val="50000"/>
              </a:spcBef>
            </a:pPr>
            <a:r>
              <a:rPr lang="en-US" sz="2800" dirty="0" smtClean="0">
                <a:solidFill>
                  <a:schemeClr val="tx2"/>
                </a:solidFill>
                <a:latin typeface="Georgia" pitchFamily="-110" charset="0"/>
              </a:rPr>
              <a:t>Airport Planning &amp; Community Engagement</a:t>
            </a:r>
            <a:endParaRPr lang="en-US" sz="2800" dirty="0">
              <a:solidFill>
                <a:schemeClr val="tx2"/>
              </a:solidFill>
              <a:latin typeface="Georgia" pitchFamily="-110" charset="0"/>
            </a:endParaRPr>
          </a:p>
        </p:txBody>
      </p:sp>
      <p:sp>
        <p:nvSpPr>
          <p:cNvPr id="10" name="Text Box 3"/>
          <p:cNvSpPr txBox="1">
            <a:spLocks noChangeArrowheads="1"/>
          </p:cNvSpPr>
          <p:nvPr/>
        </p:nvSpPr>
        <p:spPr bwMode="auto">
          <a:xfrm>
            <a:off x="1714480" y="928670"/>
            <a:ext cx="7429520" cy="4811574"/>
          </a:xfrm>
          <a:prstGeom prst="rect">
            <a:avLst/>
          </a:prstGeom>
          <a:noFill/>
          <a:ln w="9525">
            <a:noFill/>
            <a:miter lim="800000"/>
            <a:headEnd/>
            <a:tailEnd/>
          </a:ln>
          <a:effectLst/>
        </p:spPr>
        <p:txBody>
          <a:bodyPr wrap="square">
            <a:prstTxWarp prst="textNoShape">
              <a:avLst/>
            </a:prstTxWarp>
            <a:spAutoFit/>
          </a:bodyPr>
          <a:lstStyle/>
          <a:p>
            <a:pPr>
              <a:buClr>
                <a:srgbClr val="4F6EB1"/>
              </a:buClr>
              <a:buSzPct val="130000"/>
              <a:buBlip>
                <a:blip r:embed="rId5"/>
              </a:buBlip>
            </a:pPr>
            <a:r>
              <a:rPr lang="en-US" dirty="0" smtClean="0">
                <a:solidFill>
                  <a:srgbClr val="041C43"/>
                </a:solidFill>
                <a:latin typeface="Arial Narrow" pitchFamily="-110" charset="0"/>
              </a:rPr>
              <a:t> 	</a:t>
            </a:r>
            <a:r>
              <a:rPr lang="en-US" dirty="0" smtClean="0">
                <a:solidFill>
                  <a:schemeClr val="tx2">
                    <a:lumMod val="60000"/>
                    <a:lumOff val="40000"/>
                  </a:schemeClr>
                </a:solidFill>
                <a:latin typeface="Arial Narrow" pitchFamily="-110" charset="0"/>
              </a:rPr>
              <a:t>Planning Coordination Forums (PCFs) for all capital city airports</a:t>
            </a:r>
          </a:p>
          <a:p>
            <a:pPr lvl="1">
              <a:spcBef>
                <a:spcPts val="1080"/>
              </a:spcBef>
              <a:buClr>
                <a:srgbClr val="4F6EB1"/>
              </a:buClr>
              <a:buSzPct val="130000"/>
              <a:buFontTx/>
              <a:buChar char="-"/>
            </a:pPr>
            <a:r>
              <a:rPr lang="en-US" dirty="0" smtClean="0">
                <a:solidFill>
                  <a:srgbClr val="041C43"/>
                </a:solidFill>
                <a:latin typeface="Arial Narrow" pitchFamily="-110" charset="0"/>
              </a:rPr>
              <a:t> 	promote integration of on and off airport planning and development</a:t>
            </a:r>
          </a:p>
          <a:p>
            <a:pPr lvl="1">
              <a:buClr>
                <a:srgbClr val="4F6EB1"/>
              </a:buClr>
              <a:buSzPct val="130000"/>
              <a:buFontTx/>
              <a:buChar char="-"/>
            </a:pPr>
            <a:r>
              <a:rPr lang="en-US" dirty="0" smtClean="0">
                <a:solidFill>
                  <a:srgbClr val="041C43"/>
                </a:solidFill>
                <a:latin typeface="Arial Narrow" pitchFamily="-110" charset="0"/>
              </a:rPr>
              <a:t>	voluntary for other leased Federal airports</a:t>
            </a:r>
          </a:p>
          <a:p>
            <a:pPr lvl="1">
              <a:buClr>
                <a:srgbClr val="4F6EB1"/>
              </a:buClr>
              <a:buSzPct val="130000"/>
              <a:buFontTx/>
              <a:buChar char="-"/>
            </a:pPr>
            <a:endParaRPr lang="en-US" dirty="0" smtClean="0">
              <a:solidFill>
                <a:srgbClr val="041C43"/>
              </a:solidFill>
              <a:latin typeface="Arial Narrow" pitchFamily="-110" charset="0"/>
            </a:endParaRPr>
          </a:p>
          <a:p>
            <a:pPr>
              <a:buClr>
                <a:srgbClr val="4F6EB1"/>
              </a:buClr>
              <a:buSzPct val="130000"/>
              <a:buBlip>
                <a:blip r:embed="rId5"/>
              </a:buBlip>
            </a:pPr>
            <a:r>
              <a:rPr lang="en-US" dirty="0" smtClean="0">
                <a:solidFill>
                  <a:srgbClr val="041C43"/>
                </a:solidFill>
                <a:latin typeface="Arial Narrow" pitchFamily="-110" charset="0"/>
              </a:rPr>
              <a:t> 	</a:t>
            </a:r>
            <a:r>
              <a:rPr lang="en-US" dirty="0" smtClean="0">
                <a:solidFill>
                  <a:schemeClr val="tx2">
                    <a:lumMod val="60000"/>
                    <a:lumOff val="40000"/>
                  </a:schemeClr>
                </a:solidFill>
                <a:latin typeface="Arial Narrow" pitchFamily="-110" charset="0"/>
              </a:rPr>
              <a:t>Community Aviation Consultation Groups (CACGs) for all leased Federal 	airports</a:t>
            </a:r>
          </a:p>
          <a:p>
            <a:pPr lvl="1">
              <a:spcBef>
                <a:spcPts val="1080"/>
              </a:spcBef>
              <a:buClr>
                <a:srgbClr val="4F6EB1"/>
              </a:buClr>
              <a:buSzPct val="130000"/>
              <a:buFontTx/>
              <a:buChar char="-"/>
            </a:pPr>
            <a:r>
              <a:rPr lang="en-US" dirty="0" smtClean="0">
                <a:solidFill>
                  <a:srgbClr val="041C43"/>
                </a:solidFill>
                <a:latin typeface="Arial Narrow" pitchFamily="-110" charset="0"/>
              </a:rPr>
              <a:t>	mechanism to ensure appropriate community engagement on airport 	planning and operations</a:t>
            </a:r>
          </a:p>
          <a:p>
            <a:pPr lvl="1">
              <a:spcBef>
                <a:spcPts val="1080"/>
              </a:spcBef>
              <a:buClr>
                <a:srgbClr val="4F6EB1"/>
              </a:buClr>
              <a:buSzPct val="130000"/>
              <a:buFontTx/>
              <a:buChar char="-"/>
            </a:pPr>
            <a:r>
              <a:rPr lang="en-US" dirty="0" smtClean="0">
                <a:solidFill>
                  <a:srgbClr val="041C43"/>
                </a:solidFill>
                <a:latin typeface="Arial Narrow" pitchFamily="-110" charset="0"/>
              </a:rPr>
              <a:t> 	enable airport operators, residents affected by airport operations, local 	authorities, airport users and other interested parties to exchange 	information on issues relating to airport operations and the impacts of 	these operations on surrounding communities</a:t>
            </a:r>
          </a:p>
          <a:p>
            <a:pPr lvl="1">
              <a:spcBef>
                <a:spcPts val="1080"/>
              </a:spcBef>
              <a:buClr>
                <a:srgbClr val="4F6EB1"/>
              </a:buClr>
              <a:buSzPct val="130000"/>
              <a:buFontTx/>
              <a:buChar char="-"/>
            </a:pPr>
            <a:r>
              <a:rPr lang="en-US" dirty="0" smtClean="0">
                <a:solidFill>
                  <a:srgbClr val="041C43"/>
                </a:solidFill>
                <a:latin typeface="Arial Narrow" pitchFamily="-110" charset="0"/>
              </a:rPr>
              <a:t> 	independently chaired</a:t>
            </a:r>
          </a:p>
          <a:p>
            <a:pPr lvl="1">
              <a:buClr>
                <a:srgbClr val="4F6EB1"/>
              </a:buClr>
              <a:buSzPct val="130000"/>
            </a:pPr>
            <a:r>
              <a:rPr lang="en-US" dirty="0" smtClean="0">
                <a:solidFill>
                  <a:srgbClr val="041C43"/>
                </a:solidFill>
                <a:latin typeface="Arial Narrow" pitchFamily="-110" charset="0"/>
              </a:rPr>
              <a:t>	</a:t>
            </a:r>
          </a:p>
          <a:p>
            <a:pPr>
              <a:buClr>
                <a:srgbClr val="4F6EB1"/>
              </a:buClr>
              <a:buSzPct val="130000"/>
              <a:buBlip>
                <a:blip r:embed="rId5"/>
              </a:buBlip>
            </a:pPr>
            <a:r>
              <a:rPr lang="en-US" dirty="0" smtClean="0">
                <a:solidFill>
                  <a:schemeClr val="tx2">
                    <a:lumMod val="60000"/>
                    <a:lumOff val="40000"/>
                  </a:schemeClr>
                </a:solidFill>
                <a:latin typeface="Arial Narrow" pitchFamily="-110" charset="0"/>
              </a:rPr>
              <a:t> 	PCF &amp; CACG guidelines released by Minister Albanese 18 February 2011</a:t>
            </a:r>
            <a:endParaRPr lang="en-US" dirty="0">
              <a:solidFill>
                <a:srgbClr val="041C43"/>
              </a:solidFill>
              <a:latin typeface="Arial Narrow" pitchFamily="-110"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1.jpg"/>
          <p:cNvPicPr>
            <a:picLocks noChangeAspect="1"/>
          </p:cNvPicPr>
          <p:nvPr/>
        </p:nvPicPr>
        <p:blipFill>
          <a:blip r:embed="rId3"/>
          <a:stretch>
            <a:fillRect/>
          </a:stretch>
        </p:blipFill>
        <p:spPr>
          <a:xfrm>
            <a:off x="0" y="5858769"/>
            <a:ext cx="9144000" cy="999232"/>
          </a:xfrm>
          <a:prstGeom prst="rect">
            <a:avLst/>
          </a:prstGeom>
        </p:spPr>
      </p:pic>
      <p:pic>
        <p:nvPicPr>
          <p:cNvPr id="8" name="Picture 7" descr="image.jpg"/>
          <p:cNvPicPr>
            <a:picLocks noChangeAspect="1"/>
          </p:cNvPicPr>
          <p:nvPr/>
        </p:nvPicPr>
        <p:blipFill>
          <a:blip r:embed="rId4"/>
          <a:stretch>
            <a:fillRect/>
          </a:stretch>
        </p:blipFill>
        <p:spPr>
          <a:xfrm>
            <a:off x="0" y="1"/>
            <a:ext cx="1600200" cy="5858768"/>
          </a:xfrm>
          <a:prstGeom prst="rect">
            <a:avLst/>
          </a:prstGeom>
        </p:spPr>
      </p:pic>
      <p:sp>
        <p:nvSpPr>
          <p:cNvPr id="10" name="Text Box 3"/>
          <p:cNvSpPr txBox="1">
            <a:spLocks noChangeArrowheads="1"/>
          </p:cNvSpPr>
          <p:nvPr/>
        </p:nvSpPr>
        <p:spPr bwMode="auto">
          <a:xfrm>
            <a:off x="1600200" y="2516902"/>
            <a:ext cx="7543800" cy="646331"/>
          </a:xfrm>
          <a:prstGeom prst="rect">
            <a:avLst/>
          </a:prstGeom>
          <a:noFill/>
          <a:ln w="9525">
            <a:noFill/>
            <a:miter lim="800000"/>
            <a:headEnd/>
            <a:tailEnd/>
          </a:ln>
          <a:effectLst/>
        </p:spPr>
        <p:txBody>
          <a:bodyPr wrap="square">
            <a:prstTxWarp prst="textNoShape">
              <a:avLst/>
            </a:prstTxWarp>
            <a:spAutoFit/>
          </a:bodyPr>
          <a:lstStyle/>
          <a:p>
            <a:pPr algn="ctr">
              <a:spcBef>
                <a:spcPct val="50000"/>
              </a:spcBef>
              <a:buClr>
                <a:srgbClr val="4F6EB1"/>
              </a:buClr>
              <a:buSzPct val="130000"/>
            </a:pPr>
            <a:r>
              <a:rPr lang="en-US" sz="3600" b="1" dirty="0" smtClean="0">
                <a:solidFill>
                  <a:srgbClr val="00B0F0"/>
                </a:solidFill>
                <a:latin typeface="Comic Sans MS" pitchFamily="66" charset="0"/>
              </a:rPr>
              <a:t>Thank You</a:t>
            </a:r>
            <a:endParaRPr lang="en-US" dirty="0">
              <a:solidFill>
                <a:srgbClr val="041C43"/>
              </a:solidFill>
              <a:latin typeface="Arial Narrow" pitchFamily="-110"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OIT Powerpoin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DOIT Powerpoint template</Template>
  <TotalTime>1949</TotalTime>
  <Words>79</Words>
  <Application>Microsoft Office PowerPoint</Application>
  <PresentationFormat>On-screen Show (4:3)</PresentationFormat>
  <Paragraphs>123</Paragraphs>
  <Slides>12</Slides>
  <Notes>11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DOIT Powerpoint template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Infrastructure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hgannon</dc:creator>
  <cp:lastModifiedBy>Alexandra Cia Pamment</cp:lastModifiedBy>
  <cp:revision>202</cp:revision>
  <dcterms:created xsi:type="dcterms:W3CDTF">2010-10-11T02:35:44Z</dcterms:created>
  <dcterms:modified xsi:type="dcterms:W3CDTF">2011-11-09T22:00:42Z</dcterms:modified>
</cp:coreProperties>
</file>