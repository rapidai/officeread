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9" r:id="rId11"/>
    <p:sldId id="264" r:id="rId12"/>
    <p:sldId id="274" r:id="rId13"/>
    <p:sldId id="275" r:id="rId14"/>
    <p:sldId id="276" r:id="rId15"/>
    <p:sldId id="265" r:id="rId16"/>
    <p:sldId id="285" r:id="rId17"/>
    <p:sldId id="311" r:id="rId18"/>
    <p:sldId id="288" r:id="rId19"/>
    <p:sldId id="312" r:id="rId20"/>
    <p:sldId id="278" r:id="rId21"/>
    <p:sldId id="279" r:id="rId22"/>
    <p:sldId id="266" r:id="rId23"/>
    <p:sldId id="271" r:id="rId24"/>
    <p:sldId id="272" r:id="rId25"/>
    <p:sldId id="267" r:id="rId26"/>
    <p:sldId id="290" r:id="rId27"/>
    <p:sldId id="310" r:id="rId28"/>
    <p:sldId id="292" r:id="rId29"/>
    <p:sldId id="293" r:id="rId30"/>
    <p:sldId id="297" r:id="rId31"/>
    <p:sldId id="295" r:id="rId32"/>
    <p:sldId id="273" r:id="rId33"/>
    <p:sldId id="268" r:id="rId34"/>
    <p:sldId id="280" r:id="rId35"/>
    <p:sldId id="281" r:id="rId36"/>
    <p:sldId id="282" r:id="rId37"/>
    <p:sldId id="283" r:id="rId38"/>
    <p:sldId id="296" r:id="rId39"/>
    <p:sldId id="289" r:id="rId40"/>
    <p:sldId id="298" r:id="rId41"/>
    <p:sldId id="299" r:id="rId42"/>
    <p:sldId id="300" r:id="rId43"/>
    <p:sldId id="303" r:id="rId44"/>
    <p:sldId id="304" r:id="rId45"/>
    <p:sldId id="305" r:id="rId46"/>
    <p:sldId id="306" r:id="rId4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7" autoAdjust="0"/>
    <p:restoredTop sz="71759" autoAdjust="0"/>
  </p:normalViewPr>
  <p:slideViewPr>
    <p:cSldViewPr>
      <p:cViewPr varScale="1">
        <p:scale>
          <a:sx n="92" d="100"/>
          <a:sy n="92" d="100"/>
        </p:scale>
        <p:origin x="2400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3984" y="9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B9E2FD2-775E-4058-8509-D615B90B7E4B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C82FD9E-A279-423E-8A9A-64D42FF6A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0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46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5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29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17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67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98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37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37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345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90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37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8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64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21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37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3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26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29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29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741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73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373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614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614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373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894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921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334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334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334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000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776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373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759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831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762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2FD9E-A279-423E-8A9A-64D42FF6A91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789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732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A6BC-9337-49EC-B1E9-AD0D504B4CF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37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9D59C699-40A0-4649-976B-1AACB141180D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7A518B77-964A-4921-B4AE-68678A16C6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9D59C699-40A0-4649-976B-1AACB141180D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7A518B77-964A-4921-B4AE-68678A16C6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9D59C699-40A0-4649-976B-1AACB141180D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7A518B77-964A-4921-B4AE-68678A16C63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9D59C699-40A0-4649-976B-1AACB141180D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7A518B77-964A-4921-B4AE-68678A16C6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9D59C699-40A0-4649-976B-1AACB141180D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7A518B77-964A-4921-B4AE-68678A16C63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9D59C699-40A0-4649-976B-1AACB141180D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7A518B77-964A-4921-B4AE-68678A16C6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9D59C699-40A0-4649-976B-1AACB141180D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7A518B77-964A-4921-B4AE-68678A16C6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9D59C699-40A0-4649-976B-1AACB141180D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7A518B77-964A-4921-B4AE-68678A16C6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9D59C699-40A0-4649-976B-1AACB141180D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7A518B77-964A-4921-B4AE-68678A16C6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9D59C699-40A0-4649-976B-1AACB141180D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7A518B77-964A-4921-B4AE-68678A16C6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9D59C699-40A0-4649-976B-1AACB141180D}" type="datetimeFigureOut">
              <a:rPr lang="en-US" smtClean="0"/>
              <a:t>12/20/2012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7A518B77-964A-4921-B4AE-68678A16C6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Franklin Gothic Demi Cond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4.emf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2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09601"/>
            <a:ext cx="9144000" cy="3352799"/>
          </a:xfrm>
        </p:spPr>
        <p:txBody>
          <a:bodyPr/>
          <a:lstStyle/>
          <a:p>
            <a:r>
              <a:rPr lang="en-US" sz="7200" dirty="0" smtClean="0">
                <a:latin typeface="Franklin Gothic Demi Cond" pitchFamily="34" charset="0"/>
              </a:rPr>
              <a:t>Flat Datacenter Storage</a:t>
            </a:r>
            <a:br>
              <a:rPr lang="en-US" sz="7200" dirty="0" smtClean="0">
                <a:latin typeface="Franklin Gothic Demi Cond" pitchFamily="34" charset="0"/>
              </a:rPr>
            </a:br>
            <a:r>
              <a:rPr lang="en-US" sz="2800" dirty="0" smtClean="0">
                <a:latin typeface="Franklin Gothic Demi Cond" pitchFamily="34" charset="0"/>
              </a:rPr>
              <a:t>Microsoft Research, Redmond</a:t>
            </a:r>
            <a:endParaRPr lang="en-US" sz="2800" dirty="0">
              <a:latin typeface="Franklin Gothic Demi Cond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953000"/>
            <a:ext cx="9144000" cy="1219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Ed Nightingale</a:t>
            </a:r>
            <a:r>
              <a:rPr lang="en-US" dirty="0">
                <a:solidFill>
                  <a:schemeClr val="tx1"/>
                </a:solidFill>
              </a:rPr>
              <a:t>, Jeremy Elson</a:t>
            </a:r>
          </a:p>
          <a:p>
            <a:r>
              <a:rPr lang="en-US" dirty="0">
                <a:solidFill>
                  <a:schemeClr val="tx1"/>
                </a:solidFill>
              </a:rPr>
              <a:t>Jinliang Fan, Owen Hofmann, Jon Howell, Yutaka Suzue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98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7"/>
    </mc:Choice>
    <mc:Fallback xmlns="">
      <p:transition spd="slow" advTm="59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904" y="1627632"/>
            <a:ext cx="2950544" cy="3602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C:\Users\Jeremy Elson\Dropbox\OSDI 2012 - FDS\frontpag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30000" cy="786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50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9"/>
    </mc:Choice>
    <mc:Fallback xmlns="">
      <p:transition spd="slow" advTm="20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904" y="1627632"/>
            <a:ext cx="2950544" cy="3602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904" y="1627632"/>
            <a:ext cx="2953512" cy="3642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3400" y="2782669"/>
            <a:ext cx="4565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Fine-grained write striping </a:t>
            </a:r>
            <a:r>
              <a:rPr lang="en-US" dirty="0" smtClean="0"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</a:t>
            </a:r>
            <a:br>
              <a:rPr lang="en-US" dirty="0" smtClean="0"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</a:br>
            <a:r>
              <a:rPr lang="en-US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statistical multiplexing</a:t>
            </a:r>
            <a:r>
              <a:rPr lang="en-US" dirty="0"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</a:t>
            </a:r>
            <a:br>
              <a:rPr lang="en-US" dirty="0" smtClean="0"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</a:br>
            <a:r>
              <a:rPr lang="en-US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high disk utilization</a:t>
            </a:r>
            <a:br>
              <a:rPr lang="en-US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endParaRPr lang="en-US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Good performance and disk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76400" y="1628753"/>
            <a:ext cx="1309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Franklin Gothic Demi Cond" pitchFamily="34" charset="0"/>
              </a:rPr>
              <a:t>Writing</a:t>
            </a:r>
            <a:endParaRPr lang="en-US" sz="3200" dirty="0">
              <a:latin typeface="Franklin Gothic Demi Cond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701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6"/>
    </mc:Choice>
    <mc:Fallback xmlns="">
      <p:transition spd="slow" advTm="32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904" y="1627632"/>
            <a:ext cx="2950544" cy="3602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3400" y="2921168"/>
            <a:ext cx="51228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High utilization </a:t>
            </a:r>
            <a:r>
              <a:rPr lang="en-US" sz="1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(for tasks with balanced CPU/IO)</a:t>
            </a:r>
            <a:endParaRPr lang="en-US" sz="20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Easy to write software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Dynamic work allocation </a:t>
            </a: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 n</a:t>
            </a: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o stragglers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1628753"/>
            <a:ext cx="1469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Franklin Gothic Demi Cond" pitchFamily="34" charset="0"/>
              </a:rPr>
              <a:t>Reading</a:t>
            </a:r>
            <a:endParaRPr lang="en-US" sz="3200" dirty="0">
              <a:latin typeface="Franklin Gothic Demi Cond" pitchFamily="34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904" y="1627632"/>
            <a:ext cx="2953512" cy="3642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462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74"/>
    </mc:Choice>
    <mc:Fallback xmlns="">
      <p:transition spd="slow" advTm="32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25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304800" y="2819400"/>
            <a:ext cx="3279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Easy to adjust the ratio</a:t>
            </a:r>
            <a:b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of CPU to disk resources</a:t>
            </a:r>
            <a:endParaRPr lang="en-US" sz="20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800" y="1627632"/>
            <a:ext cx="2891700" cy="18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557808"/>
            <a:ext cx="3075300" cy="166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904" y="1627632"/>
            <a:ext cx="2950544" cy="3602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114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9"/>
    </mc:Choice>
    <mc:Fallback xmlns="">
      <p:transition spd="slow" advTm="20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904" y="1627632"/>
            <a:ext cx="2950545" cy="3602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76400" y="3048000"/>
            <a:ext cx="388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Metadata management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Physical data transport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FDS in 90 Seconds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378952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FDS is </a:t>
            </a:r>
            <a:r>
              <a:rPr lang="en-US" b="1" dirty="0" smtClean="0">
                <a:solidFill>
                  <a:schemeClr val="tx1"/>
                </a:solidFill>
              </a:rPr>
              <a:t>simple, scalable blob storage</a:t>
            </a:r>
            <a:r>
              <a:rPr lang="en-US" dirty="0" smtClean="0"/>
              <a:t>; logically separate compute and storage without the usual performance penalty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>
                <a:solidFill>
                  <a:schemeClr val="tx1"/>
                </a:solidFill>
              </a:rPr>
              <a:t>Distributed metadata management</a:t>
            </a:r>
            <a:r>
              <a:rPr lang="en-US" dirty="0" smtClean="0"/>
              <a:t>, no centralized components on common-case paths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Built on a </a:t>
            </a:r>
            <a:r>
              <a:rPr lang="en-US" b="1" dirty="0" smtClean="0">
                <a:solidFill>
                  <a:schemeClr val="tx1"/>
                </a:solidFill>
              </a:rPr>
              <a:t>CLOS network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with distributed scheduling</a:t>
            </a:r>
            <a:br>
              <a:rPr lang="en-US" dirty="0" smtClean="0">
                <a:solidFill>
                  <a:schemeClr val="bg1">
                    <a:lumMod val="50000"/>
                  </a:schemeClr>
                </a:solidFill>
              </a:rPr>
            </a:b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High read/write performance </a:t>
            </a:r>
            <a:r>
              <a:rPr lang="en-US" dirty="0" smtClean="0"/>
              <a:t>demonstrated</a:t>
            </a:r>
            <a:br>
              <a:rPr lang="en-US" dirty="0" smtClean="0"/>
            </a:br>
            <a:r>
              <a:rPr lang="en-US" dirty="0" smtClean="0"/>
              <a:t>(2 </a:t>
            </a:r>
            <a:r>
              <a:rPr lang="en-US" dirty="0" err="1" smtClean="0"/>
              <a:t>Gbyte</a:t>
            </a:r>
            <a:r>
              <a:rPr lang="en-US" dirty="0" smtClean="0"/>
              <a:t>/s, single-replicated, from one process)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>
                <a:solidFill>
                  <a:schemeClr val="tx1"/>
                </a:solidFill>
              </a:rPr>
              <a:t>Fast failure recovery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smtClean="0"/>
              <a:t>(0.6 TB in 33.7 s with 1,000 disks)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>
                <a:solidFill>
                  <a:schemeClr val="tx1"/>
                </a:solidFill>
              </a:rPr>
              <a:t>High application performance </a:t>
            </a:r>
            <a:r>
              <a:rPr lang="en-US" dirty="0" smtClean="0"/>
              <a:t>– web index serving; stock </a:t>
            </a:r>
            <a:r>
              <a:rPr lang="en-US" dirty="0" err="1" smtClean="0"/>
              <a:t>cointegration</a:t>
            </a:r>
            <a:r>
              <a:rPr lang="en-US" dirty="0" smtClean="0"/>
              <a:t>; set the 2012 world record for disk-to-disk sorting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1000" y="304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Franklin Gothic Demi Cond" pitchFamily="34" charset="0"/>
                <a:ea typeface="+mj-ea"/>
                <a:cs typeface="+mj-cs"/>
              </a:defRPr>
            </a:lvl1pPr>
          </a:lstStyle>
          <a:p>
            <a:r>
              <a:rPr lang="en-US" sz="8000" dirty="0" smtClean="0">
                <a:solidFill>
                  <a:srgbClr val="FF0000"/>
                </a:solidFill>
              </a:rPr>
              <a:t>Outline</a:t>
            </a:r>
            <a:endParaRPr lang="en-US" sz="8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95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378952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FDS is </a:t>
            </a:r>
            <a:r>
              <a:rPr lang="en-US" b="1" dirty="0" smtClean="0">
                <a:solidFill>
                  <a:srgbClr val="FF0000"/>
                </a:solidFill>
              </a:rPr>
              <a:t>simple, scalable blob storage</a:t>
            </a:r>
            <a:r>
              <a:rPr lang="en-US" dirty="0" smtClean="0">
                <a:solidFill>
                  <a:srgbClr val="FF0000"/>
                </a:solidFill>
              </a:rPr>
              <a:t>; </a:t>
            </a:r>
            <a:r>
              <a:rPr lang="en-US" dirty="0">
                <a:solidFill>
                  <a:srgbClr val="FF0000"/>
                </a:solidFill>
              </a:rPr>
              <a:t>logically separate compute and storage without the usual performance </a:t>
            </a:r>
            <a:r>
              <a:rPr lang="en-US" dirty="0" smtClean="0">
                <a:solidFill>
                  <a:srgbClr val="FF0000"/>
                </a:solidFill>
              </a:rPr>
              <a:t>penalty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Distributed metadata management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, no centralized components on common-case paths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Built on a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CLOS network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with distributed scheduling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High read/write performance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demonstrated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(2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Gbyte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/s, single-replicated, from one process)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Fast failure recovery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(0.6 TB in 33.7 s with 1,000 disks)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High application performance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– set the 2012 world record for disk-to-disk sorting</a:t>
            </a:r>
          </a:p>
        </p:txBody>
      </p:sp>
    </p:spTree>
    <p:extLst>
      <p:ext uri="{BB962C8B-B14F-4D97-AF65-F5344CB8AC3E}">
        <p14:creationId xmlns:p14="http://schemas.microsoft.com/office/powerpoint/2010/main" val="144741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47359" y="2209800"/>
            <a:ext cx="672652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create a blob with the specified GUID</a:t>
            </a:r>
          </a:p>
          <a:p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CreateBlob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(GUID, &amp;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blobHandle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doneCallbackFunction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sz="1600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//...</a:t>
            </a:r>
          </a:p>
          <a:p>
            <a:endParaRPr lang="en-US" sz="1600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Write 8mb from </a:t>
            </a:r>
            <a:r>
              <a:rPr lang="en-US" sz="1600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buf</a:t>
            </a:r>
            <a:r>
              <a:rPr lang="en-US" sz="16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to tract 0 of the blob.</a:t>
            </a:r>
          </a:p>
          <a:p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blobHandle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WriteTract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(0,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buf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doneCallbackFunction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Read tract 2 of blob into </a:t>
            </a:r>
            <a:r>
              <a:rPr lang="en-US" sz="1600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buf</a:t>
            </a:r>
            <a:endParaRPr lang="en-US" sz="1600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blobHandle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ReadTract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(2,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buf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doneCallbackFunction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600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41" y="533400"/>
            <a:ext cx="8866759" cy="1374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663" y="5029200"/>
            <a:ext cx="159067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128579" y="560838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Franklin Gothic Demi Cond" pitchFamily="34" charset="0"/>
              </a:rPr>
              <a:t>Client</a:t>
            </a:r>
            <a:endParaRPr lang="en-US" sz="2400" dirty="0"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10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3581400" y="3276600"/>
            <a:ext cx="11303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779463"/>
            <a:ext cx="4352925" cy="528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791198" y="1110734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Franklin Gothic Demi Cond" pitchFamily="34" charset="0"/>
              </a:rPr>
              <a:t>Clients</a:t>
            </a:r>
            <a:endParaRPr lang="en-US" sz="2400" dirty="0">
              <a:latin typeface="Franklin Gothic Demi Con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5000" y="2967093"/>
            <a:ext cx="1149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Franklin Gothic Demi Cond" pitchFamily="34" charset="0"/>
              </a:rPr>
              <a:t>Network</a:t>
            </a:r>
            <a:endParaRPr lang="en-US" sz="2400" dirty="0">
              <a:latin typeface="Franklin Gothic Demi Cond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91198" y="5257800"/>
            <a:ext cx="1617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Franklin Gothic Demi Cond" pitchFamily="34" charset="0"/>
              </a:rPr>
              <a:t>Tractservers</a:t>
            </a:r>
            <a:endParaRPr lang="en-US" sz="2400" dirty="0">
              <a:latin typeface="Franklin Gothic Demi Cond" pitchFamily="34" charset="0"/>
            </a:endParaRPr>
          </a:p>
        </p:txBody>
      </p:sp>
      <p:pic>
        <p:nvPicPr>
          <p:cNvPr id="6147" name="Picture 3" descr="C:\Users\Jeremy Elson\Documents\Projects\OSDI 2012 - FDS\text-file-icon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6670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791198" y="3045767"/>
            <a:ext cx="2148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Franklin Gothic Demi Cond" pitchFamily="34" charset="0"/>
              </a:rPr>
              <a:t>Metadata Server</a:t>
            </a:r>
            <a:endParaRPr lang="en-US" sz="2400" dirty="0"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51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378952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FDS is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simple, scalable blob storage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;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logically separate compute and storage without the usual performance penalty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Distributed metadata management</a:t>
            </a:r>
            <a:r>
              <a:rPr lang="en-US" dirty="0" smtClean="0">
                <a:solidFill>
                  <a:srgbClr val="FF0000"/>
                </a:solidFill>
              </a:rPr>
              <a:t>, no centralized components on common-case paths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Built on a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CLOS network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with distributed scheduling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High read/write performance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demonstrated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(2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Gbyte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/s, single-replicated, from one process)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Fast failure recovery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(0.6 TB in 33.7 s with 1,000 disks)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High application performance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– set the 2012 world record for disk-to-disk sorting</a:t>
            </a:r>
          </a:p>
        </p:txBody>
      </p:sp>
    </p:spTree>
    <p:extLst>
      <p:ext uri="{BB962C8B-B14F-4D97-AF65-F5344CB8AC3E}">
        <p14:creationId xmlns:p14="http://schemas.microsoft.com/office/powerpoint/2010/main" val="2942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3289644" y="838200"/>
            <a:ext cx="0" cy="472440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94444" y="483275"/>
            <a:ext cx="370082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33363" indent="-233363"/>
            <a:r>
              <a:rPr lang="en-US" dirty="0" smtClean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–	Centralized metadata server</a:t>
            </a:r>
          </a:p>
          <a:p>
            <a:pPr marL="233363" indent="-233363"/>
            <a:r>
              <a:rPr lang="en-US" dirty="0" smtClean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–	On critical path of reads/writes</a:t>
            </a:r>
          </a:p>
          <a:p>
            <a:pPr marL="233363" indent="-233363"/>
            <a:r>
              <a:rPr lang="en-US" dirty="0" smtClean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–	Large (coarsely striped) writes</a:t>
            </a:r>
          </a:p>
          <a:p>
            <a:pPr marL="233363" indent="-233363"/>
            <a:r>
              <a:rPr lang="en-US" dirty="0" smtClean="0">
                <a:solidFill>
                  <a:srgbClr val="00B05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+	Complete state visibility</a:t>
            </a:r>
          </a:p>
          <a:p>
            <a:pPr marL="233363" indent="-233363"/>
            <a:r>
              <a:rPr lang="en-US" dirty="0" smtClean="0">
                <a:solidFill>
                  <a:srgbClr val="00B05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+	Full control over data placement</a:t>
            </a:r>
          </a:p>
          <a:p>
            <a:pPr marL="233363" indent="-233363"/>
            <a:r>
              <a:rPr lang="en-US" dirty="0" smtClean="0">
                <a:solidFill>
                  <a:srgbClr val="00B05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+	One-hop access to data</a:t>
            </a:r>
          </a:p>
          <a:p>
            <a:pPr marL="233363" indent="-233363"/>
            <a:r>
              <a:rPr lang="en-US" dirty="0" smtClean="0">
                <a:solidFill>
                  <a:srgbClr val="00B05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+	Fast reaction to failures</a:t>
            </a:r>
            <a:endParaRPr lang="en-US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84644" y="1556266"/>
            <a:ext cx="1664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Franklin Gothic Medium Cond" pitchFamily="34" charset="0"/>
              </a:rPr>
              <a:t>GFS, </a:t>
            </a:r>
            <a:r>
              <a:rPr lang="en-US" sz="2400" dirty="0" err="1" smtClean="0">
                <a:latin typeface="Franklin Gothic Medium Cond" pitchFamily="34" charset="0"/>
              </a:rPr>
              <a:t>Hadoop</a:t>
            </a:r>
            <a:endParaRPr lang="en-US" sz="2400" dirty="0">
              <a:latin typeface="Franklin Gothic Medium Cond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97073" y="4648200"/>
            <a:ext cx="751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Franklin Gothic Medium Cond" pitchFamily="34" charset="0"/>
              </a:rPr>
              <a:t>DHTs</a:t>
            </a:r>
            <a:endParaRPr lang="en-US" sz="2400" dirty="0">
              <a:latin typeface="Franklin Gothic Medium Cond" pitchFamily="34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232244" y="2590800"/>
            <a:ext cx="670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32244" y="4267200"/>
            <a:ext cx="670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55349" y="3048000"/>
            <a:ext cx="10310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rgbClr val="00B050"/>
                </a:solidFill>
                <a:latin typeface="Franklin Gothic Medium Cond" pitchFamily="34" charset="0"/>
              </a:rPr>
              <a:t>FDS</a:t>
            </a:r>
            <a:endParaRPr lang="en-US" sz="4400" dirty="0">
              <a:solidFill>
                <a:srgbClr val="00B050"/>
              </a:solidFill>
              <a:latin typeface="Franklin Gothic Medium Cond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1013" y="2418159"/>
            <a:ext cx="306378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33363" indent="-233363"/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33363" indent="-233363"/>
            <a:endParaRPr lang="en-US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33363" indent="-233363"/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33363" indent="-233363"/>
            <a:endParaRPr lang="en-US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33363" indent="-233363"/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33363" indent="-233363"/>
            <a:endParaRPr lang="en-US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33363" indent="-233363"/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233363" indent="-233363"/>
            <a:r>
              <a:rPr lang="en-US" dirty="0" smtClean="0">
                <a:solidFill>
                  <a:srgbClr val="00B05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+	No central bottlenecks</a:t>
            </a:r>
          </a:p>
          <a:p>
            <a:pPr marL="233363" indent="-233363"/>
            <a:r>
              <a:rPr lang="en-US" dirty="0" smtClean="0">
                <a:solidFill>
                  <a:srgbClr val="00B05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+	Highly scalable</a:t>
            </a:r>
            <a:endParaRPr lang="en-US" dirty="0" smtClean="0">
              <a:solidFill>
                <a:srgbClr val="00B050"/>
              </a:solidFill>
            </a:endParaRPr>
          </a:p>
          <a:p>
            <a:pPr marL="233363" indent="-233363"/>
            <a:r>
              <a:rPr lang="en-US" dirty="0" smtClean="0">
                <a:solidFill>
                  <a:srgbClr val="FF0000"/>
                </a:solidFill>
              </a:rPr>
              <a:t>–	</a:t>
            </a:r>
            <a:r>
              <a:rPr lang="en-US" dirty="0" smtClean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Multiple hops to find data</a:t>
            </a:r>
          </a:p>
          <a:p>
            <a:pPr marL="233363" indent="-233363"/>
            <a:r>
              <a:rPr lang="en-US" dirty="0">
                <a:solidFill>
                  <a:srgbClr val="FF0000"/>
                </a:solidFill>
              </a:rPr>
              <a:t>–	</a:t>
            </a:r>
            <a:r>
              <a:rPr lang="en-US" dirty="0" smtClean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Slower failure recovery</a:t>
            </a:r>
            <a:endParaRPr lang="en-US" dirty="0">
              <a:solidFill>
                <a:srgbClr val="FF0000"/>
              </a:solidFill>
            </a:endParaRPr>
          </a:p>
          <a:p>
            <a:pPr marL="233363" indent="-233363"/>
            <a:endParaRPr lang="en-US" dirty="0"/>
          </a:p>
          <a:p>
            <a:pPr marL="233363" indent="-233363"/>
            <a:endParaRPr lang="en-US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05200" y="1867786"/>
            <a:ext cx="3061044" cy="3147238"/>
          </a:xfrm>
          <a:prstGeom prst="rect">
            <a:avLst/>
          </a:prstGeom>
          <a:noFill/>
          <a:ln w="1016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9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3" grpId="0"/>
      <p:bldP spid="10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38280" y="5561863"/>
            <a:ext cx="625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(hash(         ) +          ) MOD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Table_Size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38280" y="5550195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dirty="0" err="1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Blob_GUID</a:t>
            </a:r>
            <a:r>
              <a:rPr lang="en-US" dirty="0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Tract_Num</a:t>
            </a:r>
            <a:endParaRPr lang="en-US" dirty="0">
              <a:solidFill>
                <a:srgbClr val="00B0F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6" name="Picture 3" descr="C:\Users\Jeremy Elson\Documents\Projects\OSDI 2012 - FDS\text-file-ico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454" y="-762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56" y="1787456"/>
            <a:ext cx="1182557" cy="1182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533400" y="1206795"/>
            <a:ext cx="76553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9347" y="2147902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Franklin Gothic Demi Cond" pitchFamily="34" charset="0"/>
              </a:rPr>
              <a:t>Client</a:t>
            </a:r>
            <a:endParaRPr lang="en-US" sz="2400" dirty="0">
              <a:latin typeface="Franklin Gothic Demi Cond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533400"/>
            <a:ext cx="2148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Franklin Gothic Demi Cond" pitchFamily="34" charset="0"/>
              </a:rPr>
              <a:t>Metadata Server</a:t>
            </a:r>
            <a:endParaRPr lang="en-US" sz="2400" dirty="0">
              <a:latin typeface="Franklin Gothic Demi Cond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19400" y="2873431"/>
            <a:ext cx="3165348" cy="21666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Franklin Gothic Medium Cond" pitchFamily="34" charset="0"/>
              </a:rPr>
              <a:t>Oracle</a:t>
            </a:r>
          </a:p>
          <a:p>
            <a:pPr algn="ctr"/>
            <a:endParaRPr lang="en-US" sz="3600" dirty="0">
              <a:latin typeface="Franklin Gothic Medium Cond" pitchFamily="34" charset="0"/>
            </a:endParaRPr>
          </a:p>
          <a:p>
            <a:pPr algn="ctr"/>
            <a:endParaRPr lang="en-US" sz="3600" dirty="0" smtClean="0">
              <a:latin typeface="Franklin Gothic Medium Cond" pitchFamily="34" charset="0"/>
            </a:endParaRPr>
          </a:p>
        </p:txBody>
      </p:sp>
      <p:cxnSp>
        <p:nvCxnSpPr>
          <p:cNvPr id="13" name="Straight Arrow Connector 12"/>
          <p:cNvCxnSpPr>
            <a:stCxn id="6" idx="2"/>
          </p:cNvCxnSpPr>
          <p:nvPr/>
        </p:nvCxnSpPr>
        <p:spPr>
          <a:xfrm>
            <a:off x="4361054" y="1143000"/>
            <a:ext cx="0" cy="1587795"/>
          </a:xfrm>
          <a:prstGeom prst="straightConnector1">
            <a:avLst/>
          </a:prstGeom>
          <a:ln w="635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429000" y="5116331"/>
            <a:ext cx="0" cy="445532"/>
          </a:xfrm>
          <a:prstGeom prst="straightConnector1">
            <a:avLst/>
          </a:prstGeom>
          <a:ln w="508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334000" y="5126446"/>
            <a:ext cx="0" cy="445532"/>
          </a:xfrm>
          <a:prstGeom prst="straightConnector1">
            <a:avLst/>
          </a:prstGeom>
          <a:ln w="508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324600" y="4049531"/>
            <a:ext cx="533400" cy="0"/>
          </a:xfrm>
          <a:prstGeom prst="straightConnector1">
            <a:avLst/>
          </a:prstGeom>
          <a:ln w="508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33653" y="3864865"/>
            <a:ext cx="20217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Franklin Gothic Medium Cond" pitchFamily="34" charset="0"/>
              </a:rPr>
              <a:t>Tractserver Addresses</a:t>
            </a:r>
          </a:p>
          <a:p>
            <a:pPr algn="ctr"/>
            <a:r>
              <a:rPr lang="en-US" sz="16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(Readers use one;</a:t>
            </a:r>
          </a:p>
          <a:p>
            <a:pPr algn="ctr"/>
            <a:r>
              <a:rPr lang="en-US" sz="16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Writers use all)</a:t>
            </a:r>
            <a:endParaRPr lang="en-US" sz="16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65791" y="1447800"/>
            <a:ext cx="239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Franklin Gothic Demi Cond" pitchFamily="34" charset="0"/>
              </a:rPr>
              <a:t>Tract Locator Table</a:t>
            </a:r>
            <a:endParaRPr lang="en-US" sz="2400" dirty="0">
              <a:latin typeface="Franklin Gothic Demi Cond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971800" y="5116331"/>
            <a:ext cx="0" cy="445532"/>
          </a:xfrm>
          <a:prstGeom prst="straightConnector1">
            <a:avLst/>
          </a:prstGeom>
          <a:ln w="508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048000" y="3880253"/>
            <a:ext cx="26629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Consistent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Pseudo-random</a:t>
            </a:r>
            <a:endParaRPr lang="en-US" sz="2400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069439"/>
              </p:ext>
            </p:extLst>
          </p:nvPr>
        </p:nvGraphicFramePr>
        <p:xfrm>
          <a:off x="2514600" y="2068331"/>
          <a:ext cx="3733800" cy="3030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6"/>
                <a:gridCol w="955158"/>
                <a:gridCol w="955158"/>
                <a:gridCol w="955158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Locator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Disk </a:t>
                      </a:r>
                      <a:r>
                        <a:rPr lang="en-US" sz="1600" baseline="0" dirty="0" smtClean="0">
                          <a:latin typeface="Franklin Gothic Demi Cond" pitchFamily="34" charset="0"/>
                        </a:rPr>
                        <a:t>1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Disk </a:t>
                      </a:r>
                      <a:r>
                        <a:rPr lang="en-US" sz="1600" baseline="0" dirty="0" smtClean="0">
                          <a:latin typeface="Franklin Gothic Demi Cond" pitchFamily="34" charset="0"/>
                        </a:rPr>
                        <a:t>2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Disk</a:t>
                      </a:r>
                      <a:r>
                        <a:rPr lang="en-US" sz="1600" baseline="0" dirty="0" smtClean="0">
                          <a:latin typeface="Franklin Gothic Demi Cond" pitchFamily="34" charset="0"/>
                        </a:rPr>
                        <a:t> </a:t>
                      </a:r>
                      <a:r>
                        <a:rPr lang="en-US" sz="1600" dirty="0" smtClean="0">
                          <a:latin typeface="Franklin Gothic Demi Cond" pitchFamily="34" charset="0"/>
                        </a:rPr>
                        <a:t>3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84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0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B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84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1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D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F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84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2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G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84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3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D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E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G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84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4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B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F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84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84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1,526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LM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TH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Franklin Gothic Demi Cond" pitchFamily="34" charset="0"/>
                        </a:rPr>
                        <a:t>JE</a:t>
                      </a:r>
                      <a:endParaRPr lang="en-US" sz="160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6017" y="4699956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Franklin Gothic Demi Cond" pitchFamily="34" charset="0"/>
              </a:rPr>
              <a:t>O(n) or O(n</a:t>
            </a:r>
            <a:r>
              <a:rPr lang="en-US" baseline="30000" dirty="0" smtClean="0">
                <a:latin typeface="Franklin Gothic Demi Cond" pitchFamily="34" charset="0"/>
              </a:rPr>
              <a:t>2</a:t>
            </a:r>
            <a:r>
              <a:rPr lang="en-US" dirty="0" smtClean="0">
                <a:latin typeface="Franklin Gothic Demi Cond" pitchFamily="34" charset="0"/>
              </a:rPr>
              <a:t>)</a:t>
            </a:r>
            <a:endParaRPr lang="en-US" dirty="0">
              <a:latin typeface="Franklin Gothic Demi Cond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044530" y="4922722"/>
            <a:ext cx="393870" cy="0"/>
          </a:xfrm>
          <a:prstGeom prst="straightConnector1">
            <a:avLst/>
          </a:prstGeom>
          <a:ln w="508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88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 animBg="1"/>
      <p:bldP spid="19" grpId="0"/>
      <p:bldP spid="22" grpId="0"/>
      <p:bldP spid="4" grpId="0" uiExpand="1" build="p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724" y="3535362"/>
            <a:ext cx="731837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6" name="Group 35"/>
          <p:cNvGrpSpPr/>
          <p:nvPr/>
        </p:nvGrpSpPr>
        <p:grpSpPr>
          <a:xfrm rot="720280">
            <a:off x="2389438" y="2511878"/>
            <a:ext cx="3889236" cy="1130062"/>
            <a:chOff x="2387738" y="1899161"/>
            <a:chExt cx="3889236" cy="1130062"/>
          </a:xfrm>
        </p:grpSpPr>
        <p:cxnSp>
          <p:nvCxnSpPr>
            <p:cNvPr id="4" name="Straight Arrow Connector 3"/>
            <p:cNvCxnSpPr/>
            <p:nvPr/>
          </p:nvCxnSpPr>
          <p:spPr>
            <a:xfrm flipH="1">
              <a:off x="2543175" y="1899161"/>
              <a:ext cx="3733799" cy="1130062"/>
            </a:xfrm>
            <a:prstGeom prst="straightConnector1">
              <a:avLst/>
            </a:prstGeom>
            <a:ln w="10160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 rot="20595540">
              <a:off x="2387738" y="2047437"/>
              <a:ext cx="35972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latin typeface="Franklin Gothic Demi Cond" pitchFamily="34" charset="0"/>
                </a:rPr>
                <a:t>Extend by 4 Tracts </a:t>
              </a:r>
              <a:r>
                <a:rPr lang="en-US" sz="2400" dirty="0">
                  <a:solidFill>
                    <a:srgbClr val="00B0F0"/>
                  </a:solidFill>
                  <a:latin typeface="Franklin Gothic Demi Cond" pitchFamily="34" charset="0"/>
                </a:rPr>
                <a:t>(Blob 5b8)</a:t>
              </a:r>
              <a:endParaRPr lang="en-US" sz="2400" dirty="0">
                <a:latin typeface="Franklin Gothic Demi Cond" pitchFamily="34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 rot="698295">
            <a:off x="2474911" y="2979925"/>
            <a:ext cx="3940176" cy="1130062"/>
            <a:chOff x="2474911" y="2351043"/>
            <a:chExt cx="3940176" cy="1130062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2474911" y="2351043"/>
              <a:ext cx="3940176" cy="1130062"/>
            </a:xfrm>
            <a:prstGeom prst="straightConnector1">
              <a:avLst/>
            </a:prstGeom>
            <a:ln w="10160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 rot="20665197">
              <a:off x="2977069" y="2510610"/>
              <a:ext cx="26391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latin typeface="Franklin Gothic Demi Cond" pitchFamily="34" charset="0"/>
                </a:rPr>
                <a:t>Write to Tracts 20-23</a:t>
              </a:r>
              <a:endParaRPr lang="en-US" sz="2400" dirty="0">
                <a:latin typeface="Franklin Gothic Demi Cond" pitchFamily="34" charset="0"/>
              </a:endParaRPr>
            </a:p>
          </p:txBody>
        </p:sp>
      </p:grp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724" y="1249362"/>
            <a:ext cx="731837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8" name="Group 37"/>
          <p:cNvGrpSpPr/>
          <p:nvPr/>
        </p:nvGrpSpPr>
        <p:grpSpPr>
          <a:xfrm>
            <a:off x="2647298" y="1402730"/>
            <a:ext cx="3767789" cy="779519"/>
            <a:chOff x="2647298" y="586244"/>
            <a:chExt cx="3767789" cy="779519"/>
          </a:xfrm>
        </p:grpSpPr>
        <p:cxnSp>
          <p:nvCxnSpPr>
            <p:cNvPr id="17" name="Straight Arrow Connector 16"/>
            <p:cNvCxnSpPr/>
            <p:nvPr/>
          </p:nvCxnSpPr>
          <p:spPr>
            <a:xfrm flipH="1" flipV="1">
              <a:off x="2702126" y="707514"/>
              <a:ext cx="3712961" cy="658249"/>
            </a:xfrm>
            <a:prstGeom prst="straightConnector1">
              <a:avLst/>
            </a:prstGeom>
            <a:ln w="10160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 rot="597718">
              <a:off x="2647298" y="586244"/>
              <a:ext cx="37496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latin typeface="Franklin Gothic Demi Cond" pitchFamily="34" charset="0"/>
                </a:rPr>
                <a:t>Extend by 10 Tracts </a:t>
              </a:r>
              <a:r>
                <a:rPr lang="en-US" sz="2400" dirty="0" smtClean="0">
                  <a:solidFill>
                    <a:srgbClr val="00B0F0"/>
                  </a:solidFill>
                  <a:latin typeface="Franklin Gothic Demi Cond" pitchFamily="34" charset="0"/>
                </a:rPr>
                <a:t>(Blob 5b8)</a:t>
              </a:r>
              <a:endParaRPr lang="en-US" sz="2400" dirty="0">
                <a:latin typeface="Franklin Gothic Demi Cond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401429" y="1767323"/>
            <a:ext cx="3711576" cy="739679"/>
            <a:chOff x="2360611" y="958435"/>
            <a:chExt cx="3711576" cy="739679"/>
          </a:xfrm>
        </p:grpSpPr>
        <p:cxnSp>
          <p:nvCxnSpPr>
            <p:cNvPr id="19" name="Straight Arrow Connector 18"/>
            <p:cNvCxnSpPr/>
            <p:nvPr/>
          </p:nvCxnSpPr>
          <p:spPr>
            <a:xfrm flipH="1" flipV="1">
              <a:off x="2360611" y="1036638"/>
              <a:ext cx="3711576" cy="661476"/>
            </a:xfrm>
            <a:prstGeom prst="straightConnector1">
              <a:avLst/>
            </a:prstGeom>
            <a:ln w="10160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 rot="604842">
              <a:off x="2986678" y="958435"/>
              <a:ext cx="2631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latin typeface="Franklin Gothic Demi Cond" pitchFamily="34" charset="0"/>
                </a:rPr>
                <a:t>Write to Tracts 10-19</a:t>
              </a:r>
              <a:endParaRPr lang="en-US" sz="2400" dirty="0">
                <a:latin typeface="Franklin Gothic Demi Cond" pitchFamily="34" charset="0"/>
              </a:endParaRPr>
            </a:p>
          </p:txBody>
        </p:sp>
      </p:grp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724" y="5821362"/>
            <a:ext cx="731837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 20"/>
          <p:cNvGrpSpPr/>
          <p:nvPr/>
        </p:nvGrpSpPr>
        <p:grpSpPr>
          <a:xfrm rot="618957">
            <a:off x="2450085" y="5008583"/>
            <a:ext cx="3880897" cy="1130062"/>
            <a:chOff x="2391851" y="4794761"/>
            <a:chExt cx="3880897" cy="1130062"/>
          </a:xfrm>
        </p:grpSpPr>
        <p:cxnSp>
          <p:nvCxnSpPr>
            <p:cNvPr id="28" name="Straight Arrow Connector 27"/>
            <p:cNvCxnSpPr/>
            <p:nvPr/>
          </p:nvCxnSpPr>
          <p:spPr>
            <a:xfrm flipH="1">
              <a:off x="2538949" y="4794761"/>
              <a:ext cx="3733799" cy="1130062"/>
            </a:xfrm>
            <a:prstGeom prst="straightConnector1">
              <a:avLst/>
            </a:prstGeom>
            <a:ln w="10160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 rot="20595540">
              <a:off x="2391851" y="4943036"/>
              <a:ext cx="3580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latin typeface="Franklin Gothic Demi Cond" pitchFamily="34" charset="0"/>
                </a:rPr>
                <a:t>Extend by 5 Tracts </a:t>
              </a:r>
              <a:r>
                <a:rPr lang="en-US" sz="2400" dirty="0" smtClean="0">
                  <a:solidFill>
                    <a:srgbClr val="FFC000"/>
                  </a:solidFill>
                  <a:latin typeface="Franklin Gothic Demi Cond" pitchFamily="34" charset="0"/>
                </a:rPr>
                <a:t>(Blob d17)</a:t>
              </a:r>
              <a:endParaRPr lang="en-US" sz="2400" dirty="0">
                <a:latin typeface="Franklin Gothic Demi Cond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 rot="595525">
            <a:off x="2470685" y="5473018"/>
            <a:ext cx="3940176" cy="1130062"/>
            <a:chOff x="2470685" y="5246643"/>
            <a:chExt cx="3940176" cy="1130062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2470685" y="5246643"/>
              <a:ext cx="3940176" cy="1130062"/>
            </a:xfrm>
            <a:prstGeom prst="straightConnector1">
              <a:avLst/>
            </a:prstGeom>
            <a:ln w="10160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 rot="20665197">
              <a:off x="2985374" y="5406211"/>
              <a:ext cx="26141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latin typeface="Franklin Gothic Demi Cond" pitchFamily="34" charset="0"/>
                </a:rPr>
                <a:t>Write to tracts 61-65</a:t>
              </a:r>
              <a:endParaRPr lang="en-US" sz="2400" dirty="0">
                <a:latin typeface="Franklin Gothic Demi Cond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536824" y="4289521"/>
            <a:ext cx="3711576" cy="739679"/>
            <a:chOff x="2356385" y="3887447"/>
            <a:chExt cx="3711576" cy="739679"/>
          </a:xfrm>
        </p:grpSpPr>
        <p:cxnSp>
          <p:nvCxnSpPr>
            <p:cNvPr id="33" name="Straight Arrow Connector 32"/>
            <p:cNvCxnSpPr/>
            <p:nvPr/>
          </p:nvCxnSpPr>
          <p:spPr>
            <a:xfrm flipH="1" flipV="1">
              <a:off x="2356385" y="3965650"/>
              <a:ext cx="3711576" cy="661476"/>
            </a:xfrm>
            <a:prstGeom prst="straightConnector1">
              <a:avLst/>
            </a:prstGeom>
            <a:ln w="10160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 rot="604842">
              <a:off x="2985657" y="3887447"/>
              <a:ext cx="26253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latin typeface="Franklin Gothic Demi Cond" pitchFamily="34" charset="0"/>
                </a:rPr>
                <a:t>Write to tracts 54-60</a:t>
              </a:r>
              <a:endParaRPr lang="en-US" sz="2400" dirty="0">
                <a:latin typeface="Franklin Gothic Demi Cond" pitchFamily="3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670344" y="3851488"/>
            <a:ext cx="3712961" cy="796712"/>
            <a:chOff x="2697900" y="3498063"/>
            <a:chExt cx="3712961" cy="796712"/>
          </a:xfrm>
        </p:grpSpPr>
        <p:cxnSp>
          <p:nvCxnSpPr>
            <p:cNvPr id="32" name="Straight Arrow Connector 31"/>
            <p:cNvCxnSpPr/>
            <p:nvPr/>
          </p:nvCxnSpPr>
          <p:spPr>
            <a:xfrm flipH="1" flipV="1">
              <a:off x="2697900" y="3636526"/>
              <a:ext cx="3712961" cy="658249"/>
            </a:xfrm>
            <a:prstGeom prst="straightConnector1">
              <a:avLst/>
            </a:prstGeom>
            <a:ln w="10160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 rot="597718">
              <a:off x="2764118" y="3498063"/>
              <a:ext cx="3580532" cy="3815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latin typeface="Franklin Gothic Demi Cond" pitchFamily="34" charset="0"/>
                </a:rPr>
                <a:t>Extend by 7 Tracts </a:t>
              </a:r>
              <a:r>
                <a:rPr lang="en-US" sz="2400" dirty="0">
                  <a:solidFill>
                    <a:srgbClr val="FFC000"/>
                  </a:solidFill>
                  <a:latin typeface="Franklin Gothic Demi Cond" pitchFamily="34" charset="0"/>
                </a:rPr>
                <a:t>(Blob d17</a:t>
              </a:r>
              <a:r>
                <a:rPr lang="en-US" sz="2400" dirty="0" smtClean="0">
                  <a:solidFill>
                    <a:srgbClr val="FFC000"/>
                  </a:solidFill>
                  <a:latin typeface="Franklin Gothic Demi Cond" pitchFamily="34" charset="0"/>
                </a:rPr>
                <a:t>)</a:t>
              </a:r>
              <a:endParaRPr lang="en-US" sz="2400" dirty="0">
                <a:latin typeface="Franklin Gothic Demi Cond" pitchFamily="34" charset="0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79313" y="316468"/>
            <a:ext cx="6388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(hash(</a:t>
            </a:r>
            <a:r>
              <a:rPr lang="en-US" dirty="0" err="1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Blob_GUID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 + </a:t>
            </a:r>
            <a:r>
              <a:rPr lang="en-US" dirty="0" err="1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Tract_Num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 MOD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Table_Size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49500" y="926068"/>
            <a:ext cx="2594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Franklin Gothic Medium Cond" pitchFamily="34" charset="0"/>
              </a:rPr>
              <a:t>—1 </a:t>
            </a:r>
            <a:r>
              <a:rPr lang="en-US" dirty="0">
                <a:latin typeface="Franklin Gothic Medium Cond" pitchFamily="34" charset="0"/>
                <a:sym typeface="Wingdings" pitchFamily="2" charset="2"/>
              </a:rPr>
              <a:t>=</a:t>
            </a:r>
            <a:r>
              <a:rPr lang="en-US" dirty="0" smtClean="0">
                <a:latin typeface="Franklin Gothic Medium Cond" pitchFamily="34" charset="0"/>
                <a:sym typeface="Wingdings" pitchFamily="2" charset="2"/>
              </a:rPr>
              <a:t> Special metadata </a:t>
            </a:r>
            <a:r>
              <a:rPr lang="en-US" dirty="0">
                <a:latin typeface="Franklin Gothic Medium Cond" pitchFamily="34" charset="0"/>
                <a:sym typeface="Wingdings" pitchFamily="2" charset="2"/>
              </a:rPr>
              <a:t>t</a:t>
            </a:r>
            <a:r>
              <a:rPr lang="en-US" dirty="0" smtClean="0">
                <a:latin typeface="Franklin Gothic Medium Cond" pitchFamily="34" charset="0"/>
                <a:sym typeface="Wingdings" pitchFamily="2" charset="2"/>
              </a:rPr>
              <a:t>ract</a:t>
            </a:r>
            <a:endParaRPr lang="en-US" dirty="0">
              <a:latin typeface="Franklin Gothic Medium Cond" pitchFamily="34" charset="0"/>
            </a:endParaRPr>
          </a:p>
        </p:txBody>
      </p:sp>
      <p:cxnSp>
        <p:nvCxnSpPr>
          <p:cNvPr id="41" name="Elbow Connector 40"/>
          <p:cNvCxnSpPr/>
          <p:nvPr/>
        </p:nvCxnSpPr>
        <p:spPr>
          <a:xfrm rot="16200000" flipH="1">
            <a:off x="4420907" y="684492"/>
            <a:ext cx="424769" cy="427383"/>
          </a:xfrm>
          <a:prstGeom prst="bentConnector2">
            <a:avLst/>
          </a:prstGeom>
          <a:ln w="635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/>
          <p:cNvSpPr>
            <a:spLocks noChangeAspect="1" noChangeArrowheads="1" noTextEdit="1"/>
          </p:cNvSpPr>
          <p:nvPr/>
        </p:nvSpPr>
        <p:spPr bwMode="auto">
          <a:xfrm>
            <a:off x="6529388" y="2020888"/>
            <a:ext cx="1090612" cy="110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6532563" y="2032000"/>
            <a:ext cx="1079500" cy="1081088"/>
            <a:chOff x="6532563" y="2032000"/>
            <a:chExt cx="1079500" cy="1081088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6532563" y="2166938"/>
              <a:ext cx="1079500" cy="946150"/>
            </a:xfrm>
            <a:custGeom>
              <a:avLst/>
              <a:gdLst>
                <a:gd name="T0" fmla="*/ 288 w 288"/>
                <a:gd name="T1" fmla="*/ 0 h 252"/>
                <a:gd name="T2" fmla="*/ 288 w 288"/>
                <a:gd name="T3" fmla="*/ 216 h 252"/>
                <a:gd name="T4" fmla="*/ 144 w 288"/>
                <a:gd name="T5" fmla="*/ 252 h 252"/>
                <a:gd name="T6" fmla="*/ 0 w 288"/>
                <a:gd name="T7" fmla="*/ 216 h 252"/>
                <a:gd name="T8" fmla="*/ 0 w 288"/>
                <a:gd name="T9" fmla="*/ 0 h 252"/>
                <a:gd name="T10" fmla="*/ 144 w 288"/>
                <a:gd name="T11" fmla="*/ 36 h 252"/>
                <a:gd name="T12" fmla="*/ 288 w 288"/>
                <a:gd name="T1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252">
                  <a:moveTo>
                    <a:pt x="288" y="0"/>
                  </a:moveTo>
                  <a:cubicBezTo>
                    <a:pt x="288" y="216"/>
                    <a:pt x="288" y="216"/>
                    <a:pt x="288" y="216"/>
                  </a:cubicBezTo>
                  <a:cubicBezTo>
                    <a:pt x="288" y="236"/>
                    <a:pt x="223" y="252"/>
                    <a:pt x="144" y="252"/>
                  </a:cubicBezTo>
                  <a:cubicBezTo>
                    <a:pt x="64" y="252"/>
                    <a:pt x="0" y="236"/>
                    <a:pt x="0" y="2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64" y="36"/>
                    <a:pt x="144" y="36"/>
                  </a:cubicBezTo>
                  <a:cubicBezTo>
                    <a:pt x="223" y="36"/>
                    <a:pt x="288" y="20"/>
                    <a:pt x="288" y="0"/>
                  </a:cubicBezTo>
                  <a:close/>
                </a:path>
              </a:pathLst>
            </a:custGeom>
            <a:solidFill>
              <a:srgbClr val="00B0F0"/>
            </a:solidFill>
            <a:ln w="9" cap="flat">
              <a:solidFill>
                <a:srgbClr val="231F2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6532563" y="2032000"/>
              <a:ext cx="1079500" cy="269875"/>
            </a:xfrm>
            <a:prstGeom prst="ellipse">
              <a:avLst/>
            </a:prstGeom>
            <a:solidFill>
              <a:srgbClr val="808184"/>
            </a:solidFill>
            <a:ln w="9" cap="flat">
              <a:solidFill>
                <a:srgbClr val="231F2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AutoShape 8"/>
          <p:cNvSpPr>
            <a:spLocks noChangeAspect="1" noChangeArrowheads="1" noTextEdit="1"/>
          </p:cNvSpPr>
          <p:nvPr/>
        </p:nvSpPr>
        <p:spPr bwMode="auto">
          <a:xfrm>
            <a:off x="6524625" y="4914900"/>
            <a:ext cx="1090613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527800" y="4926013"/>
            <a:ext cx="1079500" cy="1081087"/>
            <a:chOff x="6527800" y="4926013"/>
            <a:chExt cx="1079500" cy="1081087"/>
          </a:xfrm>
        </p:grpSpPr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6527800" y="5060950"/>
              <a:ext cx="1079500" cy="946150"/>
            </a:xfrm>
            <a:custGeom>
              <a:avLst/>
              <a:gdLst>
                <a:gd name="T0" fmla="*/ 288 w 288"/>
                <a:gd name="T1" fmla="*/ 0 h 252"/>
                <a:gd name="T2" fmla="*/ 288 w 288"/>
                <a:gd name="T3" fmla="*/ 216 h 252"/>
                <a:gd name="T4" fmla="*/ 144 w 288"/>
                <a:gd name="T5" fmla="*/ 252 h 252"/>
                <a:gd name="T6" fmla="*/ 0 w 288"/>
                <a:gd name="T7" fmla="*/ 216 h 252"/>
                <a:gd name="T8" fmla="*/ 0 w 288"/>
                <a:gd name="T9" fmla="*/ 0 h 252"/>
                <a:gd name="T10" fmla="*/ 144 w 288"/>
                <a:gd name="T11" fmla="*/ 36 h 252"/>
                <a:gd name="T12" fmla="*/ 288 w 288"/>
                <a:gd name="T1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252">
                  <a:moveTo>
                    <a:pt x="288" y="0"/>
                  </a:moveTo>
                  <a:cubicBezTo>
                    <a:pt x="288" y="216"/>
                    <a:pt x="288" y="216"/>
                    <a:pt x="288" y="216"/>
                  </a:cubicBezTo>
                  <a:cubicBezTo>
                    <a:pt x="288" y="236"/>
                    <a:pt x="223" y="252"/>
                    <a:pt x="144" y="252"/>
                  </a:cubicBezTo>
                  <a:cubicBezTo>
                    <a:pt x="64" y="252"/>
                    <a:pt x="0" y="236"/>
                    <a:pt x="0" y="2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64" y="36"/>
                    <a:pt x="144" y="36"/>
                  </a:cubicBezTo>
                  <a:cubicBezTo>
                    <a:pt x="223" y="36"/>
                    <a:pt x="288" y="20"/>
                    <a:pt x="288" y="0"/>
                  </a:cubicBezTo>
                  <a:close/>
                </a:path>
              </a:pathLst>
            </a:custGeom>
            <a:solidFill>
              <a:srgbClr val="FFC000"/>
            </a:solidFill>
            <a:ln w="9" cap="flat">
              <a:solidFill>
                <a:srgbClr val="231F2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6527800" y="4926013"/>
              <a:ext cx="1079500" cy="269875"/>
            </a:xfrm>
            <a:prstGeom prst="ellipse">
              <a:avLst/>
            </a:prstGeom>
            <a:solidFill>
              <a:srgbClr val="808184"/>
            </a:solidFill>
            <a:ln w="9" cap="flat">
              <a:solidFill>
                <a:srgbClr val="231F2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620000" y="3203746"/>
            <a:ext cx="572040" cy="572881"/>
            <a:chOff x="6532563" y="2032000"/>
            <a:chExt cx="1079500" cy="1081088"/>
          </a:xfrm>
        </p:grpSpPr>
        <p:sp>
          <p:nvSpPr>
            <p:cNvPr id="42" name="Freeform 41"/>
            <p:cNvSpPr>
              <a:spLocks/>
            </p:cNvSpPr>
            <p:nvPr/>
          </p:nvSpPr>
          <p:spPr bwMode="auto">
            <a:xfrm>
              <a:off x="6532563" y="2166938"/>
              <a:ext cx="1079500" cy="946150"/>
            </a:xfrm>
            <a:custGeom>
              <a:avLst/>
              <a:gdLst>
                <a:gd name="T0" fmla="*/ 288 w 288"/>
                <a:gd name="T1" fmla="*/ 0 h 252"/>
                <a:gd name="T2" fmla="*/ 288 w 288"/>
                <a:gd name="T3" fmla="*/ 216 h 252"/>
                <a:gd name="T4" fmla="*/ 144 w 288"/>
                <a:gd name="T5" fmla="*/ 252 h 252"/>
                <a:gd name="T6" fmla="*/ 0 w 288"/>
                <a:gd name="T7" fmla="*/ 216 h 252"/>
                <a:gd name="T8" fmla="*/ 0 w 288"/>
                <a:gd name="T9" fmla="*/ 0 h 252"/>
                <a:gd name="T10" fmla="*/ 144 w 288"/>
                <a:gd name="T11" fmla="*/ 36 h 252"/>
                <a:gd name="T12" fmla="*/ 288 w 288"/>
                <a:gd name="T1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252">
                  <a:moveTo>
                    <a:pt x="288" y="0"/>
                  </a:moveTo>
                  <a:cubicBezTo>
                    <a:pt x="288" y="216"/>
                    <a:pt x="288" y="216"/>
                    <a:pt x="288" y="216"/>
                  </a:cubicBezTo>
                  <a:cubicBezTo>
                    <a:pt x="288" y="236"/>
                    <a:pt x="223" y="252"/>
                    <a:pt x="144" y="252"/>
                  </a:cubicBezTo>
                  <a:cubicBezTo>
                    <a:pt x="64" y="252"/>
                    <a:pt x="0" y="236"/>
                    <a:pt x="0" y="2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64" y="36"/>
                    <a:pt x="144" y="36"/>
                  </a:cubicBezTo>
                  <a:cubicBezTo>
                    <a:pt x="223" y="36"/>
                    <a:pt x="288" y="20"/>
                    <a:pt x="288" y="0"/>
                  </a:cubicBezTo>
                  <a:close/>
                </a:path>
              </a:pathLst>
            </a:custGeom>
            <a:solidFill>
              <a:srgbClr val="00B0F0"/>
            </a:solidFill>
            <a:ln w="9" cap="flat">
              <a:solidFill>
                <a:srgbClr val="231F2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6532563" y="2032000"/>
              <a:ext cx="1079500" cy="269875"/>
            </a:xfrm>
            <a:prstGeom prst="ellipse">
              <a:avLst/>
            </a:prstGeom>
            <a:solidFill>
              <a:srgbClr val="808184"/>
            </a:solidFill>
            <a:ln w="9" cap="flat">
              <a:solidFill>
                <a:srgbClr val="231F2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7932704" y="3346756"/>
            <a:ext cx="539750" cy="540544"/>
            <a:chOff x="6532563" y="2032000"/>
            <a:chExt cx="1079500" cy="1081088"/>
          </a:xfrm>
        </p:grpSpPr>
        <p:sp>
          <p:nvSpPr>
            <p:cNvPr id="45" name="Freeform 44"/>
            <p:cNvSpPr>
              <a:spLocks/>
            </p:cNvSpPr>
            <p:nvPr/>
          </p:nvSpPr>
          <p:spPr bwMode="auto">
            <a:xfrm>
              <a:off x="6532563" y="2166938"/>
              <a:ext cx="1079500" cy="946150"/>
            </a:xfrm>
            <a:custGeom>
              <a:avLst/>
              <a:gdLst>
                <a:gd name="T0" fmla="*/ 288 w 288"/>
                <a:gd name="T1" fmla="*/ 0 h 252"/>
                <a:gd name="T2" fmla="*/ 288 w 288"/>
                <a:gd name="T3" fmla="*/ 216 h 252"/>
                <a:gd name="T4" fmla="*/ 144 w 288"/>
                <a:gd name="T5" fmla="*/ 252 h 252"/>
                <a:gd name="T6" fmla="*/ 0 w 288"/>
                <a:gd name="T7" fmla="*/ 216 h 252"/>
                <a:gd name="T8" fmla="*/ 0 w 288"/>
                <a:gd name="T9" fmla="*/ 0 h 252"/>
                <a:gd name="T10" fmla="*/ 144 w 288"/>
                <a:gd name="T11" fmla="*/ 36 h 252"/>
                <a:gd name="T12" fmla="*/ 288 w 288"/>
                <a:gd name="T1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252">
                  <a:moveTo>
                    <a:pt x="288" y="0"/>
                  </a:moveTo>
                  <a:cubicBezTo>
                    <a:pt x="288" y="216"/>
                    <a:pt x="288" y="216"/>
                    <a:pt x="288" y="216"/>
                  </a:cubicBezTo>
                  <a:cubicBezTo>
                    <a:pt x="288" y="236"/>
                    <a:pt x="223" y="252"/>
                    <a:pt x="144" y="252"/>
                  </a:cubicBezTo>
                  <a:cubicBezTo>
                    <a:pt x="64" y="252"/>
                    <a:pt x="0" y="236"/>
                    <a:pt x="0" y="2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64" y="36"/>
                    <a:pt x="144" y="36"/>
                  </a:cubicBezTo>
                  <a:cubicBezTo>
                    <a:pt x="223" y="36"/>
                    <a:pt x="288" y="20"/>
                    <a:pt x="288" y="0"/>
                  </a:cubicBezTo>
                  <a:close/>
                </a:path>
              </a:pathLst>
            </a:custGeom>
            <a:solidFill>
              <a:srgbClr val="00B0F0"/>
            </a:solidFill>
            <a:ln w="9" cap="flat">
              <a:solidFill>
                <a:srgbClr val="231F2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6532563" y="2032000"/>
              <a:ext cx="1079500" cy="269875"/>
            </a:xfrm>
            <a:prstGeom prst="ellipse">
              <a:avLst/>
            </a:prstGeom>
            <a:solidFill>
              <a:srgbClr val="808184"/>
            </a:solidFill>
            <a:ln w="9" cap="flat">
              <a:solidFill>
                <a:srgbClr val="231F2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58" name="Elbow Connector 57"/>
          <p:cNvCxnSpPr/>
          <p:nvPr/>
        </p:nvCxnSpPr>
        <p:spPr>
          <a:xfrm rot="16200000" flipH="1">
            <a:off x="7171179" y="3118880"/>
            <a:ext cx="424769" cy="427383"/>
          </a:xfrm>
          <a:prstGeom prst="bentConnector2">
            <a:avLst/>
          </a:prstGeom>
          <a:ln w="635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93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378952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FDS is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simple, scalable blob storage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;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logically separate compute and storage without the usual performance penalty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Distributed metadata management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, no centralized components on common-case paths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Built on a </a:t>
            </a:r>
            <a:r>
              <a:rPr lang="en-US" b="1" dirty="0" smtClean="0">
                <a:solidFill>
                  <a:srgbClr val="FF0000"/>
                </a:solidFill>
              </a:rPr>
              <a:t>CLOS network </a:t>
            </a:r>
            <a:r>
              <a:rPr lang="en-US" dirty="0" smtClean="0">
                <a:solidFill>
                  <a:srgbClr val="FF0000"/>
                </a:solidFill>
              </a:rPr>
              <a:t>with distributed scheduling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High read/write performance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demonstrated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(2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Gbyte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/s, single-replicated, from one process)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Fast failure recovery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(0.6 TB in 33.7 s with 1,000 disks)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High application performance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– set the 2012 world record for disk-to-disk sorting</a:t>
            </a:r>
          </a:p>
        </p:txBody>
      </p:sp>
    </p:spTree>
    <p:extLst>
      <p:ext uri="{BB962C8B-B14F-4D97-AF65-F5344CB8AC3E}">
        <p14:creationId xmlns:p14="http://schemas.microsoft.com/office/powerpoint/2010/main" val="2942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82880" y="365760"/>
            <a:ext cx="350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Bandwidth is (was?)</a:t>
            </a:r>
            <a:b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scarce in datacenters</a:t>
            </a:r>
            <a:b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due to </a:t>
            </a:r>
            <a:r>
              <a:rPr lang="en-US" sz="2000" dirty="0" smtClean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oversubscription</a:t>
            </a:r>
            <a:endParaRPr lang="en-US" sz="2000" dirty="0">
              <a:solidFill>
                <a:srgbClr val="FF0000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057400" y="2490395"/>
            <a:ext cx="1679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 Cond" pitchFamily="34" charset="0"/>
              </a:rPr>
              <a:t>10x-20x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 Cond" pitchFamily="34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699" y="1037593"/>
            <a:ext cx="3025776" cy="479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61984" y="4495800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Franklin Gothic Demi Cond" pitchFamily="34" charset="0"/>
              </a:rPr>
              <a:t>CPU Rack</a:t>
            </a:r>
            <a:endParaRPr lang="en-US" dirty="0">
              <a:latin typeface="Franklin Gothic Demi Cond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98010" y="3200400"/>
            <a:ext cx="1882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Franklin Gothic Demi Cond" pitchFamily="34" charset="0"/>
              </a:rPr>
              <a:t>Top-Of-Rack Switch</a:t>
            </a:r>
            <a:endParaRPr lang="en-US" dirty="0">
              <a:latin typeface="Franklin Gothic Demi Con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67200" y="1600200"/>
            <a:ext cx="1359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Franklin Gothic Demi Cond" pitchFamily="34" charset="0"/>
              </a:rPr>
              <a:t>Network Core</a:t>
            </a:r>
            <a:endParaRPr lang="en-US" dirty="0"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48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82" y="494795"/>
            <a:ext cx="5051426" cy="533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2880" y="365760"/>
            <a:ext cx="3657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Bandwidth is (was?)</a:t>
            </a:r>
            <a:b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scarce in datacenters</a:t>
            </a:r>
            <a:b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due to oversubscription</a:t>
            </a:r>
          </a:p>
          <a:p>
            <a:endParaRPr lang="en-US" sz="2000" dirty="0" smtClean="0">
              <a:solidFill>
                <a:srgbClr val="FF0000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000" dirty="0" smtClean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CLOS networks:</a:t>
            </a:r>
          </a:p>
          <a:p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[</a:t>
            </a: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Al-Fares 08, Greenberg 09]</a:t>
            </a:r>
          </a:p>
          <a:p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full bisection bandwidth at datacenter scales</a:t>
            </a:r>
            <a:endParaRPr lang="en-US" sz="20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24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736" y="4702508"/>
            <a:ext cx="1631950" cy="112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315686" y="5954302"/>
            <a:ext cx="3651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latin typeface="Franklin Gothic Medium" pitchFamily="34" charset="0"/>
              </a:rPr>
              <a:t>Disks: </a:t>
            </a:r>
            <a:r>
              <a:rPr lang="en-US" sz="2000" dirty="0" smtClean="0">
                <a:latin typeface="Franklin Gothic Medium" pitchFamily="34" charset="0"/>
              </a:rPr>
              <a:t>≈ 1</a:t>
            </a: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latin typeface="Franklin Gothic Medium" pitchFamily="34" charset="0"/>
              </a:rPr>
              <a:t>Gbps bandwidth each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Franklin Gothic Medium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752600" y="4267200"/>
            <a:ext cx="1218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</a:rPr>
              <a:t>4x-25x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</a:endParaRPr>
          </a:p>
        </p:txBody>
      </p:sp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82" y="494795"/>
            <a:ext cx="5051426" cy="533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TextBox 30"/>
          <p:cNvSpPr txBox="1"/>
          <p:nvPr/>
        </p:nvSpPr>
        <p:spPr>
          <a:xfrm>
            <a:off x="182880" y="365760"/>
            <a:ext cx="3657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Bandwidth is (was?)</a:t>
            </a:r>
            <a:b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scarce in datacenters</a:t>
            </a:r>
            <a:b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due to oversubscription</a:t>
            </a:r>
          </a:p>
          <a:p>
            <a:endParaRPr lang="en-US" sz="20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CLOS networks:</a:t>
            </a:r>
          </a:p>
          <a:p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[</a:t>
            </a: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Al-Fares 08, Greenberg 09]</a:t>
            </a:r>
          </a:p>
          <a:p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full bisection bandwidth at datacenter scales</a:t>
            </a:r>
            <a:endParaRPr lang="en-US" sz="20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78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82" y="494795"/>
            <a:ext cx="5051426" cy="533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180596"/>
            <a:ext cx="3567112" cy="464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82880" y="365760"/>
            <a:ext cx="3657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Bandwidth is (was?)</a:t>
            </a:r>
            <a:b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scarce in datacenters</a:t>
            </a:r>
            <a:b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due to oversubscription</a:t>
            </a:r>
          </a:p>
          <a:p>
            <a:endParaRPr lang="en-US" sz="20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CLOS networks:</a:t>
            </a:r>
          </a:p>
          <a:p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[</a:t>
            </a: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Al-Fares 08, Greenberg 09]</a:t>
            </a:r>
          </a:p>
          <a:p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full bisection bandwidth at datacenter scales</a:t>
            </a:r>
          </a:p>
          <a:p>
            <a:endParaRPr lang="en-US" sz="20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  <a:t>FDS:</a:t>
            </a:r>
            <a:br>
              <a:rPr lang="en-US" sz="2000" dirty="0"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r>
              <a:rPr lang="en-US" sz="20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Provision the network</a:t>
            </a:r>
          </a:p>
          <a:p>
            <a:r>
              <a:rPr lang="en-US" sz="20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sufficiently for every </a:t>
            </a:r>
            <a:r>
              <a:rPr lang="en-US" sz="2000" dirty="0" smtClean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disk</a:t>
            </a:r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:</a:t>
            </a:r>
          </a:p>
          <a:p>
            <a:r>
              <a:rPr lang="en-US" sz="20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1G of network per disk</a:t>
            </a:r>
            <a:endParaRPr lang="en-US" sz="200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43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jelson\Pictures\FDS\Cluster2\IMG_606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8200" y="-152400"/>
            <a:ext cx="10515601" cy="70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 txBox="1">
            <a:spLocks/>
          </p:cNvSpPr>
          <p:nvPr/>
        </p:nvSpPr>
        <p:spPr>
          <a:xfrm>
            <a:off x="609600" y="1589567"/>
            <a:ext cx="8077200" cy="3134833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solidFill>
                  <a:schemeClr val="bg1"/>
                </a:solidFill>
              </a:rPr>
              <a:t>~1,500 disks spread across ~250 servers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Dual 10G NICs in most servers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2-layer Monsoon:</a:t>
            </a:r>
          </a:p>
          <a:p>
            <a:pPr lvl="1"/>
            <a:r>
              <a:rPr lang="en-US" sz="1800" dirty="0" smtClean="0">
                <a:solidFill>
                  <a:schemeClr val="bg1"/>
                </a:solidFill>
              </a:rPr>
              <a:t>Based on Blade G8264 Router 64x10G ports</a:t>
            </a:r>
          </a:p>
          <a:p>
            <a:pPr lvl="1"/>
            <a:r>
              <a:rPr lang="en-US" sz="1800" dirty="0" smtClean="0">
                <a:solidFill>
                  <a:schemeClr val="bg1"/>
                </a:solidFill>
              </a:rPr>
              <a:t>14x TORs, 8x Spines</a:t>
            </a:r>
          </a:p>
          <a:p>
            <a:pPr lvl="1"/>
            <a:r>
              <a:rPr lang="en-US" sz="1800" dirty="0" smtClean="0">
                <a:solidFill>
                  <a:schemeClr val="bg1"/>
                </a:solidFill>
              </a:rPr>
              <a:t>4x TOR-to-Spine connections per pair</a:t>
            </a:r>
          </a:p>
          <a:p>
            <a:pPr lvl="1"/>
            <a:r>
              <a:rPr lang="en-US" sz="1800" dirty="0" smtClean="0">
                <a:solidFill>
                  <a:schemeClr val="bg1"/>
                </a:solidFill>
              </a:rPr>
              <a:t>448x10G ports total (4.5 terabits), full bisection</a:t>
            </a:r>
          </a:p>
        </p:txBody>
      </p:sp>
    </p:spTree>
    <p:extLst>
      <p:ext uri="{BB962C8B-B14F-4D97-AF65-F5344CB8AC3E}">
        <p14:creationId xmlns:p14="http://schemas.microsoft.com/office/powerpoint/2010/main" val="334190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10600" cy="1600200"/>
          </a:xfrm>
        </p:spPr>
        <p:txBody>
          <a:bodyPr>
            <a:normAutofit/>
          </a:bodyPr>
          <a:lstStyle/>
          <a:p>
            <a:r>
              <a:rPr lang="en-US" sz="4800" dirty="0" smtClean="0"/>
              <a:t>No Silver Bullet</a:t>
            </a:r>
            <a:endParaRPr lang="en-US" sz="4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14400" y="1828800"/>
            <a:ext cx="8001000" cy="48768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Full bisection bandwidth is only stochastic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Long flows are bad for load-balancing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FDS generates a large number of short flows are going to diverse destinations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3200" dirty="0" smtClean="0">
                <a:solidFill>
                  <a:schemeClr val="tx1"/>
                </a:solidFill>
              </a:rPr>
              <a:t>Congestion isn’t eliminated; it’s been pushed to the edges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TCP bandwidth allocation performs poorly with short, fat flows: </a:t>
            </a:r>
            <a:r>
              <a:rPr lang="en-US" dirty="0" err="1" smtClean="0">
                <a:solidFill>
                  <a:schemeClr val="tx1"/>
                </a:solidFill>
              </a:rPr>
              <a:t>incast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3200" dirty="0" smtClean="0">
                <a:solidFill>
                  <a:schemeClr val="tx1"/>
                </a:solidFill>
              </a:rPr>
              <a:t>FDS creates “circuits” using RTS/CTS</a:t>
            </a:r>
            <a:endParaRPr lang="en-US" sz="3200" dirty="0" smtClean="0"/>
          </a:p>
        </p:txBody>
      </p:sp>
      <p:sp>
        <p:nvSpPr>
          <p:cNvPr id="3" name="Arc 2"/>
          <p:cNvSpPr/>
          <p:nvPr/>
        </p:nvSpPr>
        <p:spPr>
          <a:xfrm rot="14164912">
            <a:off x="324600" y="2076026"/>
            <a:ext cx="2867902" cy="2541754"/>
          </a:xfrm>
          <a:prstGeom prst="arc">
            <a:avLst>
              <a:gd name="adj1" fmla="val 15390277"/>
              <a:gd name="adj2" fmla="val 0"/>
            </a:avLst>
          </a:prstGeom>
          <a:ln w="139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4829" y="2514600"/>
            <a:ext cx="7344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0" dirty="0" smtClean="0">
                <a:solidFill>
                  <a:srgbClr val="FF0000"/>
                </a:solidFill>
                <a:latin typeface="Franklin Gothic Demi Cond" pitchFamily="34" charset="0"/>
              </a:rPr>
              <a:t>X</a:t>
            </a:r>
            <a:endParaRPr lang="en-US" sz="90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75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 animBg="1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378952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FDS is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simple, scalable blob storage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;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logically separate compute and storage without the usual performance penalty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Distributed metadata management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, no centralized components on common-case paths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Built on a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CLOS network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with distributed scheduling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High read/write performance </a:t>
            </a:r>
            <a:r>
              <a:rPr lang="en-US" dirty="0" smtClean="0">
                <a:solidFill>
                  <a:srgbClr val="FF0000"/>
                </a:solidFill>
              </a:rPr>
              <a:t>demonstrated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(2 </a:t>
            </a:r>
            <a:r>
              <a:rPr lang="en-US" dirty="0" err="1" smtClean="0">
                <a:solidFill>
                  <a:srgbClr val="FF0000"/>
                </a:solidFill>
              </a:rPr>
              <a:t>Gbyte</a:t>
            </a:r>
            <a:r>
              <a:rPr lang="en-US" dirty="0" smtClean="0">
                <a:solidFill>
                  <a:srgbClr val="FF0000"/>
                </a:solidFill>
              </a:rPr>
              <a:t>/s, single-replicated, from one process)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Fast failure recovery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(0.6 TB in 33.7 s with 1,000 disks)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High application performance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– set the 2012 world record for disk-to-disk sorting</a:t>
            </a:r>
          </a:p>
        </p:txBody>
      </p:sp>
    </p:spTree>
    <p:extLst>
      <p:ext uri="{BB962C8B-B14F-4D97-AF65-F5344CB8AC3E}">
        <p14:creationId xmlns:p14="http://schemas.microsoft.com/office/powerpoint/2010/main" val="2942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Read/Write Performance</a:t>
            </a:r>
            <a:br>
              <a:rPr lang="en-US" dirty="0" smtClean="0"/>
            </a:br>
            <a:r>
              <a:rPr lang="en-US" sz="2800" dirty="0" smtClean="0"/>
              <a:t>Single-Replicated Tractservers, 10G Clients</a:t>
            </a:r>
            <a:endParaRPr lang="en-US" sz="2800" dirty="0"/>
          </a:p>
        </p:txBody>
      </p:sp>
      <p:pic>
        <p:nvPicPr>
          <p:cNvPr id="2050" name="Picture 2" descr="C:\Users\jelson\home\projects\fds\docs\papers\osdi_2012\results\stc\stc-seq-singlerep.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81200"/>
            <a:ext cx="5410200" cy="380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371600" y="5915053"/>
            <a:ext cx="8390168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 smtClean="0">
                <a:solidFill>
                  <a:schemeClr val="tx2"/>
                </a:solidFill>
              </a:rPr>
              <a:t>Read: 950 MB/s/client     Write: 1,150 MB/s/client</a:t>
            </a:r>
          </a:p>
          <a:p>
            <a:pPr marL="0" indent="0">
              <a:buNone/>
            </a:pPr>
            <a:endParaRPr lang="en-US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64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Read/Write Performance</a:t>
            </a:r>
            <a:br>
              <a:rPr lang="en-US" dirty="0" smtClean="0"/>
            </a:br>
            <a:r>
              <a:rPr lang="en-US" sz="2800" dirty="0" smtClean="0"/>
              <a:t>Triple-Replicated Tractservers, 10G Clients</a:t>
            </a:r>
            <a:endParaRPr lang="en-US" sz="2800" dirty="0"/>
          </a:p>
        </p:txBody>
      </p:sp>
      <p:pic>
        <p:nvPicPr>
          <p:cNvPr id="3074" name="Picture 2" descr="C:\Users\jelson\home\projects\fds\docs\papers\osdi_2012\results\stc\stc-seq-triplerep.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905000"/>
            <a:ext cx="5867400" cy="4560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9357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378952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FDS is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simple, scalable blob storage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;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logically separate compute and storage without the usual performance penalty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Distributed metadata management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, no centralized components on common-case paths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Built on a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CLOS network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with distributed scheduling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High read/write performance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demonstrated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(2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Gbyte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/s, single-replicated, from one process)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Fast failure recovery</a:t>
            </a:r>
            <a:r>
              <a:rPr lang="en-US" dirty="0" smtClean="0">
                <a:solidFill>
                  <a:srgbClr val="FF0000"/>
                </a:solidFill>
              </a:rPr>
              <a:t> (0.6 TB in 33.7 s with 1,000 disks)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High application performance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– set the 2012 world record for disk-to-disk sorting</a:t>
            </a:r>
          </a:p>
        </p:txBody>
      </p:sp>
    </p:spTree>
    <p:extLst>
      <p:ext uri="{BB962C8B-B14F-4D97-AF65-F5344CB8AC3E}">
        <p14:creationId xmlns:p14="http://schemas.microsoft.com/office/powerpoint/2010/main" val="2942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5639816" y="2180827"/>
            <a:ext cx="736600" cy="2004785"/>
          </a:xfrm>
          <a:custGeom>
            <a:avLst/>
            <a:gdLst>
              <a:gd name="connsiteX0" fmla="*/ 410029 w 518886"/>
              <a:gd name="connsiteY0" fmla="*/ 0 h 2004785"/>
              <a:gd name="connsiteX1" fmla="*/ 18143 w 518886"/>
              <a:gd name="connsiteY1" fmla="*/ 1153885 h 2004785"/>
              <a:gd name="connsiteX2" fmla="*/ 518886 w 518886"/>
              <a:gd name="connsiteY2" fmla="*/ 2002971 h 200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886" h="2004785">
                <a:moveTo>
                  <a:pt x="410029" y="0"/>
                </a:moveTo>
                <a:cubicBezTo>
                  <a:pt x="205014" y="410028"/>
                  <a:pt x="0" y="820057"/>
                  <a:pt x="18143" y="1153885"/>
                </a:cubicBezTo>
                <a:cubicBezTo>
                  <a:pt x="36286" y="1487713"/>
                  <a:pt x="453572" y="2004785"/>
                  <a:pt x="518886" y="2002971"/>
                </a:cubicBezTo>
              </a:path>
            </a:pathLst>
          </a:cu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6050280" y="3264931"/>
            <a:ext cx="1447800" cy="1524001"/>
            <a:chOff x="6050280" y="3264931"/>
            <a:chExt cx="1447800" cy="1524001"/>
          </a:xfrm>
        </p:grpSpPr>
        <p:sp>
          <p:nvSpPr>
            <p:cNvPr id="15" name="Flowchart: Magnetic Disk 14"/>
            <p:cNvSpPr/>
            <p:nvPr/>
          </p:nvSpPr>
          <p:spPr>
            <a:xfrm>
              <a:off x="6156960" y="3264931"/>
              <a:ext cx="1234440" cy="1524001"/>
            </a:xfrm>
            <a:prstGeom prst="flowChartMagneticDisk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50280" y="3929622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Franklin Gothic Demi Cond" pitchFamily="34" charset="0"/>
                </a:rPr>
                <a:t>Hot Spare</a:t>
              </a:r>
              <a:endParaRPr lang="en-US" dirty="0">
                <a:latin typeface="Franklin Gothic Demi Cond" pitchFamily="34" charset="0"/>
              </a:endParaRPr>
            </a:p>
          </p:txBody>
        </p:sp>
      </p:grpSp>
      <p:sp>
        <p:nvSpPr>
          <p:cNvPr id="9" name="Flowchart: Magnetic Disk 8"/>
          <p:cNvSpPr/>
          <p:nvPr/>
        </p:nvSpPr>
        <p:spPr>
          <a:xfrm>
            <a:off x="6156960" y="1669197"/>
            <a:ext cx="1234440" cy="1524001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Magnetic Disk 9"/>
          <p:cNvSpPr/>
          <p:nvPr/>
        </p:nvSpPr>
        <p:spPr>
          <a:xfrm>
            <a:off x="6537960" y="1669197"/>
            <a:ext cx="1234440" cy="1524001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Magnetic Disk 17"/>
          <p:cNvSpPr/>
          <p:nvPr/>
        </p:nvSpPr>
        <p:spPr>
          <a:xfrm>
            <a:off x="6918960" y="1676400"/>
            <a:ext cx="1234440" cy="1524001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Magnetic Disk 4"/>
          <p:cNvSpPr/>
          <p:nvPr/>
        </p:nvSpPr>
        <p:spPr>
          <a:xfrm>
            <a:off x="762000" y="1676400"/>
            <a:ext cx="1234440" cy="1524001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gnetic Disk 5"/>
          <p:cNvSpPr/>
          <p:nvPr/>
        </p:nvSpPr>
        <p:spPr>
          <a:xfrm>
            <a:off x="1127760" y="1676400"/>
            <a:ext cx="1234440" cy="1524001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Magnetic Disk 6"/>
          <p:cNvSpPr/>
          <p:nvPr/>
        </p:nvSpPr>
        <p:spPr>
          <a:xfrm>
            <a:off x="3505200" y="1676400"/>
            <a:ext cx="1234440" cy="1524001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Magnetic Disk 7"/>
          <p:cNvSpPr/>
          <p:nvPr/>
        </p:nvSpPr>
        <p:spPr>
          <a:xfrm>
            <a:off x="3886200" y="1676400"/>
            <a:ext cx="1234440" cy="1524001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Magnetic Disk 10"/>
          <p:cNvSpPr/>
          <p:nvPr/>
        </p:nvSpPr>
        <p:spPr>
          <a:xfrm>
            <a:off x="6156960" y="3269397"/>
            <a:ext cx="1234440" cy="1524001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162800" y="1859340"/>
            <a:ext cx="966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F0000"/>
                </a:solidFill>
                <a:latin typeface="Franklin Gothic Demi Cond" pitchFamily="34" charset="0"/>
              </a:rPr>
              <a:t>X</a:t>
            </a:r>
            <a:endParaRPr lang="en-US" sz="96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  <p:sp>
        <p:nvSpPr>
          <p:cNvPr id="16" name="Flowchart: Magnetic Disk 15"/>
          <p:cNvSpPr/>
          <p:nvPr/>
        </p:nvSpPr>
        <p:spPr>
          <a:xfrm>
            <a:off x="1508760" y="1676400"/>
            <a:ext cx="1234440" cy="1524001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Magnetic Disk 16"/>
          <p:cNvSpPr/>
          <p:nvPr/>
        </p:nvSpPr>
        <p:spPr>
          <a:xfrm>
            <a:off x="4267200" y="1676399"/>
            <a:ext cx="1234440" cy="1524001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2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7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352" y="310896"/>
            <a:ext cx="5871508" cy="5650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AutoShape 7"/>
          <p:cNvSpPr>
            <a:spLocks noChangeAspect="1" noChangeArrowheads="1" noTextEdit="1"/>
          </p:cNvSpPr>
          <p:nvPr/>
        </p:nvSpPr>
        <p:spPr bwMode="auto">
          <a:xfrm>
            <a:off x="1685925" y="865188"/>
            <a:ext cx="5843588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1688556" y="2487613"/>
            <a:ext cx="1505694" cy="189980"/>
          </a:xfrm>
          <a:prstGeom prst="rect">
            <a:avLst/>
          </a:prstGeom>
          <a:solidFill>
            <a:srgbClr val="FF3FC2"/>
          </a:solidFill>
          <a:ln w="1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3849688" y="881063"/>
            <a:ext cx="1516063" cy="188913"/>
          </a:xfrm>
          <a:prstGeom prst="rect">
            <a:avLst/>
          </a:prstGeom>
          <a:solidFill>
            <a:srgbClr val="8A5D3B"/>
          </a:solidFill>
          <a:ln w="1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6013451" y="2466976"/>
            <a:ext cx="1498094" cy="188913"/>
          </a:xfrm>
          <a:prstGeom prst="rect">
            <a:avLst/>
          </a:prstGeom>
          <a:solidFill>
            <a:srgbClr val="FFDD15"/>
          </a:solidFill>
          <a:ln w="1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5186363" y="5027613"/>
            <a:ext cx="1516063" cy="188913"/>
          </a:xfrm>
          <a:prstGeom prst="rect">
            <a:avLst/>
          </a:prstGeom>
          <a:solidFill>
            <a:srgbClr val="353A35"/>
          </a:solidFill>
          <a:ln w="1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2513013" y="5027613"/>
            <a:ext cx="1516063" cy="188913"/>
          </a:xfrm>
          <a:prstGeom prst="rect">
            <a:avLst/>
          </a:prstGeom>
          <a:solidFill>
            <a:srgbClr val="FF1E00"/>
          </a:solidFill>
          <a:ln w="10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4619370" y="990600"/>
            <a:ext cx="0" cy="1828800"/>
          </a:xfrm>
          <a:prstGeom prst="line">
            <a:avLst/>
          </a:prstGeom>
          <a:ln w="1143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5257800" y="2590800"/>
            <a:ext cx="990600" cy="457200"/>
          </a:xfrm>
          <a:prstGeom prst="line">
            <a:avLst/>
          </a:prstGeom>
          <a:ln w="1143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 flipV="1">
            <a:off x="2895600" y="2590800"/>
            <a:ext cx="1066800" cy="685800"/>
          </a:xfrm>
          <a:prstGeom prst="line">
            <a:avLst/>
          </a:prstGeom>
          <a:ln w="1143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41605" y="3429000"/>
            <a:ext cx="825795" cy="1676400"/>
          </a:xfrm>
          <a:prstGeom prst="line">
            <a:avLst/>
          </a:prstGeom>
          <a:ln w="1143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3200400" y="3657600"/>
            <a:ext cx="838201" cy="1447800"/>
          </a:xfrm>
          <a:prstGeom prst="line">
            <a:avLst/>
          </a:prstGeom>
          <a:ln w="1143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/>
          <p:cNvSpPr txBox="1">
            <a:spLocks/>
          </p:cNvSpPr>
          <p:nvPr/>
        </p:nvSpPr>
        <p:spPr>
          <a:xfrm>
            <a:off x="544126" y="460376"/>
            <a:ext cx="4308475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3200" dirty="0" smtClean="0">
                <a:solidFill>
                  <a:schemeClr val="tx1"/>
                </a:solidFill>
              </a:rPr>
              <a:t>More disks </a:t>
            </a:r>
            <a:r>
              <a:rPr lang="en-US" sz="3200" dirty="0" smtClean="0">
                <a:solidFill>
                  <a:schemeClr val="tx1"/>
                </a:solidFill>
                <a:sym typeface="Wingdings" pitchFamily="2" charset="2"/>
              </a:rPr>
              <a:t></a:t>
            </a:r>
          </a:p>
          <a:p>
            <a:pPr marL="0" indent="0">
              <a:buFont typeface="Arial" pitchFamily="34" charset="0"/>
              <a:buNone/>
            </a:pPr>
            <a:r>
              <a:rPr lang="en-US" sz="32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3200" dirty="0" smtClean="0">
                <a:solidFill>
                  <a:schemeClr val="tx1"/>
                </a:solidFill>
              </a:rPr>
              <a:t>faster recovery</a:t>
            </a:r>
          </a:p>
        </p:txBody>
      </p:sp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419" y="2343150"/>
            <a:ext cx="99060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267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3.7037E-7 L -0.04531 3.7037E-7 C -0.0658 3.7037E-7 -0.09062 0.09514 -0.09062 0.17268 L -0.09062 0.34583 " pathEditMode="relative" rAng="0" ptsTypes="FfFF">
                                      <p:cBhvr>
                                        <p:cTn id="22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31" y="1729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7.40741E-7 L -0.14757 7.40741E-7 C -0.21354 7.40741E-7 -0.29444 -0.00857 -0.29444 -0.01528 L -0.29444 -0.02847 " pathEditMode="relative" rAng="0" ptsTypes="FfFF">
                                      <p:cBhvr>
                                        <p:cTn id="24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22" y="-143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69736E-6 L 0.1908 -3.69736E-6 C 0.27639 -3.69736E-6 0.38177 -0.11059 0.38177 -0.2006 L 0.38177 -0.40097 " pathEditMode="relative" rAng="0" ptsTypes="FfFF">
                                      <p:cBhvr>
                                        <p:cTn id="26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80" y="-2006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7037E-7 L 0.11805 -3.7037E-7 C 0.17083 -3.7037E-7 0.23628 -0.07176 0.23628 -0.12963 L 0.23628 -0.25903 " pathEditMode="relative" rAng="0" ptsTypes="FfFF">
                                      <p:cBhvr>
                                        <p:cTn id="28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06" y="-12963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7037E-7 L -0.11806 3.7037E-7 C -0.17153 3.7037E-7 -0.23594 0.05694 -0.23594 0.10324 L -0.23594 0.20787 " pathEditMode="relative" rAng="0" ptsTypes="FfFF">
                                      <p:cBhvr>
                                        <p:cTn id="30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06" y="10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le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8289"/>
              </p:ext>
            </p:extLst>
          </p:nvPr>
        </p:nvGraphicFramePr>
        <p:xfrm>
          <a:off x="609600" y="685800"/>
          <a:ext cx="3657600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605"/>
                <a:gridCol w="935665"/>
                <a:gridCol w="935665"/>
                <a:gridCol w="935665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Locator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Disk</a:t>
                      </a:r>
                      <a:r>
                        <a:rPr lang="en-US" sz="1600" b="0" baseline="0" dirty="0" smtClean="0">
                          <a:latin typeface="Franklin Gothic Demi Cond" pitchFamily="34" charset="0"/>
                        </a:rPr>
                        <a:t> 1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Disk 2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Disk 3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1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B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2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3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H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4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E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M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5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F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G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P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648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W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H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649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X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L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650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Y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5486400"/>
            <a:ext cx="7891254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All </a:t>
            </a:r>
            <a:r>
              <a:rPr lang="en-US" b="1" dirty="0" smtClean="0">
                <a:solidFill>
                  <a:schemeClr val="tx1"/>
                </a:solidFill>
              </a:rPr>
              <a:t>disk pairs</a:t>
            </a:r>
            <a:r>
              <a:rPr lang="en-US" dirty="0" smtClean="0">
                <a:solidFill>
                  <a:schemeClr val="tx1"/>
                </a:solidFill>
              </a:rPr>
              <a:t> appear in the table</a:t>
            </a:r>
          </a:p>
          <a:p>
            <a:r>
              <a:rPr lang="en-US" i="1" dirty="0" smtClean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 disks each recover 1/</a:t>
            </a:r>
            <a:r>
              <a:rPr lang="en-US" i="1" dirty="0" smtClean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th of the lost data in parallel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47800" y="609600"/>
            <a:ext cx="1905000" cy="4213659"/>
          </a:xfrm>
          <a:prstGeom prst="rect">
            <a:avLst/>
          </a:prstGeom>
          <a:noFill/>
          <a:ln w="1016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3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5486400"/>
            <a:ext cx="7891254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All </a:t>
            </a:r>
            <a:r>
              <a:rPr lang="en-US" b="1" dirty="0" smtClean="0">
                <a:solidFill>
                  <a:schemeClr val="tx1"/>
                </a:solidFill>
              </a:rPr>
              <a:t>disk pairs</a:t>
            </a:r>
            <a:r>
              <a:rPr lang="en-US" dirty="0" smtClean="0">
                <a:solidFill>
                  <a:schemeClr val="tx1"/>
                </a:solidFill>
              </a:rPr>
              <a:t> appear in the table</a:t>
            </a:r>
          </a:p>
          <a:p>
            <a:r>
              <a:rPr lang="en-US" i="1" dirty="0" smtClean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 disks each recover 1/</a:t>
            </a:r>
            <a:r>
              <a:rPr lang="en-US" i="1" dirty="0" smtClean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th of the lost data in parallel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545460"/>
              </p:ext>
            </p:extLst>
          </p:nvPr>
        </p:nvGraphicFramePr>
        <p:xfrm>
          <a:off x="609600" y="685800"/>
          <a:ext cx="3657600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605"/>
                <a:gridCol w="935665"/>
                <a:gridCol w="935665"/>
                <a:gridCol w="935665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Locator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Disk</a:t>
                      </a:r>
                      <a:r>
                        <a:rPr lang="en-US" sz="1600" b="0" baseline="0" dirty="0" smtClean="0">
                          <a:latin typeface="Franklin Gothic Demi Cond" pitchFamily="34" charset="0"/>
                        </a:rPr>
                        <a:t> 1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Disk 2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Disk 3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1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B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2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3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H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4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E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M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5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F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G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P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648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W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H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649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X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L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650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Y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828800" y="1078558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28800" y="1465926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828800" y="1852760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36228" y="9906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M</a:t>
            </a:r>
            <a:endParaRPr lang="en-US" b="1" dirty="0">
              <a:latin typeface="Franklin Gothic Medium Cond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9472" y="136636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S</a:t>
            </a:r>
            <a:endParaRPr lang="en-US" b="1" dirty="0">
              <a:latin typeface="Franklin Gothic Medium Cond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7869" y="175795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R</a:t>
            </a:r>
            <a:endParaRPr lang="en-US" b="1" dirty="0">
              <a:latin typeface="Franklin Gothic Medium Cond" pitchFamily="34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1832338" y="2207187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830569" y="2575091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828800" y="2945458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53861" y="211892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D</a:t>
            </a:r>
            <a:endParaRPr lang="en-US" b="1" dirty="0">
              <a:latin typeface="Franklin Gothic Medium Con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59472" y="249992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S</a:t>
            </a:r>
            <a:endParaRPr lang="en-US" b="1" dirty="0">
              <a:latin typeface="Franklin Gothic Medium Cond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3861" y="288092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N</a:t>
            </a:r>
            <a:endParaRPr lang="en-US" b="1" dirty="0">
              <a:latin typeface="Franklin Gothic Medium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66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5" grpId="0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5486400"/>
            <a:ext cx="7891254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All </a:t>
            </a:r>
            <a:r>
              <a:rPr lang="en-US" b="1" dirty="0" smtClean="0">
                <a:solidFill>
                  <a:schemeClr val="tx1"/>
                </a:solidFill>
              </a:rPr>
              <a:t>disk pairs</a:t>
            </a:r>
            <a:r>
              <a:rPr lang="en-US" dirty="0" smtClean="0">
                <a:solidFill>
                  <a:schemeClr val="tx1"/>
                </a:solidFill>
              </a:rPr>
              <a:t> appear in the table</a:t>
            </a:r>
          </a:p>
          <a:p>
            <a:r>
              <a:rPr lang="en-US" i="1" dirty="0" smtClean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 disks each recover 1/</a:t>
            </a:r>
            <a:r>
              <a:rPr lang="en-US" i="1" dirty="0" smtClean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th of the lost data in parallel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911735"/>
              </p:ext>
            </p:extLst>
          </p:nvPr>
        </p:nvGraphicFramePr>
        <p:xfrm>
          <a:off x="609600" y="685800"/>
          <a:ext cx="3657600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605"/>
                <a:gridCol w="935665"/>
                <a:gridCol w="935665"/>
                <a:gridCol w="935665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Locator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Disk</a:t>
                      </a:r>
                      <a:r>
                        <a:rPr lang="en-US" sz="1600" b="0" baseline="0" dirty="0" smtClean="0">
                          <a:latin typeface="Franklin Gothic Demi Cond" pitchFamily="34" charset="0"/>
                        </a:rPr>
                        <a:t> 1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Disk 2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Disk 3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1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B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2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3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D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H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4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E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M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5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F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G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A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G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P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…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648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W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H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649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X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L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650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Z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Y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Franklin Gothic Demi Cond" pitchFamily="34" charset="0"/>
                        </a:rPr>
                        <a:t>C</a:t>
                      </a:r>
                      <a:endParaRPr lang="en-US" sz="1600" b="0" dirty="0">
                        <a:latin typeface="Franklin Gothic Demi Cond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8" name="Elbow Connector 17"/>
          <p:cNvCxnSpPr/>
          <p:nvPr/>
        </p:nvCxnSpPr>
        <p:spPr>
          <a:xfrm rot="10800000" flipV="1">
            <a:off x="5681455" y="2443544"/>
            <a:ext cx="2004704" cy="282000"/>
          </a:xfrm>
          <a:prstGeom prst="bentConnector3">
            <a:avLst/>
          </a:prstGeom>
          <a:ln w="101600">
            <a:solidFill>
              <a:schemeClr val="accent1"/>
            </a:solidFill>
            <a:headEnd type="triangle"/>
            <a:tailEnd type="non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55227" y="3581845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Franklin Gothic Medium" pitchFamily="34" charset="0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115" y="231227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2</a:t>
            </a:r>
            <a:endParaRPr lang="en-US" b="1" dirty="0">
              <a:latin typeface="Franklin Gothic Medium Cond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86818" y="379548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3</a:t>
            </a:r>
            <a:endParaRPr lang="en-US" b="1" dirty="0">
              <a:latin typeface="Franklin Gothic Medium Cond" pitchFamily="34" charset="0"/>
            </a:endParaRPr>
          </a:p>
        </p:txBody>
      </p:sp>
      <p:cxnSp>
        <p:nvCxnSpPr>
          <p:cNvPr id="22" name="Elbow Connector 21"/>
          <p:cNvCxnSpPr/>
          <p:nvPr/>
        </p:nvCxnSpPr>
        <p:spPr>
          <a:xfrm rot="10800000" flipV="1">
            <a:off x="5650262" y="1098463"/>
            <a:ext cx="2067096" cy="114301"/>
          </a:xfrm>
          <a:prstGeom prst="bentConnector3">
            <a:avLst>
              <a:gd name="adj1" fmla="val 50000"/>
            </a:avLst>
          </a:prstGeom>
          <a:ln w="101600">
            <a:solidFill>
              <a:schemeClr val="accent1"/>
            </a:solidFill>
            <a:headEnd type="triangle"/>
            <a:tailEnd type="non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endCxn id="30" idx="3"/>
          </p:cNvCxnSpPr>
          <p:nvPr/>
        </p:nvCxnSpPr>
        <p:spPr>
          <a:xfrm rot="10800000" flipV="1">
            <a:off x="5698227" y="3766510"/>
            <a:ext cx="1987932" cy="483032"/>
          </a:xfrm>
          <a:prstGeom prst="bentConnector3">
            <a:avLst/>
          </a:prstGeom>
          <a:ln w="101600">
            <a:solidFill>
              <a:schemeClr val="accent1"/>
            </a:solidFill>
            <a:headEnd type="triangle"/>
            <a:tailEnd type="non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55227" y="1555665"/>
            <a:ext cx="1143000" cy="228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555227" y="1327065"/>
            <a:ext cx="11430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555227" y="1098465"/>
            <a:ext cx="1143000" cy="2286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555227" y="2839842"/>
            <a:ext cx="1143000" cy="228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555227" y="2611242"/>
            <a:ext cx="1143000" cy="2286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555227" y="2382642"/>
            <a:ext cx="1143000" cy="228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555227" y="4135242"/>
            <a:ext cx="1143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555227" y="3906642"/>
            <a:ext cx="1143000" cy="228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555227" y="3678042"/>
            <a:ext cx="1143000" cy="228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717356" y="1524000"/>
            <a:ext cx="1143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717356" y="1295400"/>
            <a:ext cx="1143000" cy="228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7717356" y="2839842"/>
            <a:ext cx="11430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7717356" y="2611242"/>
            <a:ext cx="1143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7717356" y="4164812"/>
            <a:ext cx="1143000" cy="228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7717356" y="3936212"/>
            <a:ext cx="11430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555227" y="1098465"/>
            <a:ext cx="1143000" cy="2286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4555227" y="2611242"/>
            <a:ext cx="1143000" cy="2286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4555227" y="4135242"/>
            <a:ext cx="1143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Magnetic Disk 41"/>
          <p:cNvSpPr/>
          <p:nvPr/>
        </p:nvSpPr>
        <p:spPr>
          <a:xfrm>
            <a:off x="4555227" y="641265"/>
            <a:ext cx="1143000" cy="1295400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Magnetic Disk 42"/>
          <p:cNvSpPr/>
          <p:nvPr/>
        </p:nvSpPr>
        <p:spPr>
          <a:xfrm>
            <a:off x="4555227" y="1925442"/>
            <a:ext cx="1143000" cy="1295400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Magnetic Disk 43"/>
          <p:cNvSpPr/>
          <p:nvPr/>
        </p:nvSpPr>
        <p:spPr>
          <a:xfrm>
            <a:off x="4555227" y="3220842"/>
            <a:ext cx="1143000" cy="1295400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Magnetic Disk 44"/>
          <p:cNvSpPr/>
          <p:nvPr/>
        </p:nvSpPr>
        <p:spPr>
          <a:xfrm>
            <a:off x="7717356" y="609600"/>
            <a:ext cx="1143000" cy="1295400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Magnetic Disk 45"/>
          <p:cNvSpPr/>
          <p:nvPr/>
        </p:nvSpPr>
        <p:spPr>
          <a:xfrm>
            <a:off x="7717356" y="1925442"/>
            <a:ext cx="1143000" cy="1295400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Magnetic Disk 46"/>
          <p:cNvSpPr/>
          <p:nvPr/>
        </p:nvSpPr>
        <p:spPr>
          <a:xfrm>
            <a:off x="7717356" y="3250412"/>
            <a:ext cx="1143000" cy="1295400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232278" y="80533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1</a:t>
            </a:r>
            <a:endParaRPr lang="en-US" b="1" dirty="0">
              <a:latin typeface="Franklin Gothic Medium Cond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966266" y="64610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" pitchFamily="34" charset="0"/>
              </a:rPr>
              <a:t>B</a:t>
            </a:r>
            <a:endParaRPr lang="en-US" b="1" dirty="0">
              <a:latin typeface="Franklin Gothic Medium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66266" y="195147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" pitchFamily="34" charset="0"/>
              </a:rPr>
              <a:t>C</a:t>
            </a:r>
            <a:endParaRPr lang="en-US" b="1" dirty="0">
              <a:latin typeface="Franklin Gothic Medium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966266" y="3238081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" pitchFamily="34" charset="0"/>
              </a:rPr>
              <a:t>H</a:t>
            </a:r>
            <a:endParaRPr lang="en-US" b="1" dirty="0">
              <a:latin typeface="Franklin Gothic Medium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28395" y="633304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" pitchFamily="34" charset="0"/>
              </a:rPr>
              <a:t>M</a:t>
            </a:r>
            <a:endParaRPr lang="en-US" b="1" dirty="0">
              <a:latin typeface="Franklin Gothic Medium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128395" y="1925442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" pitchFamily="34" charset="0"/>
              </a:rPr>
              <a:t>S</a:t>
            </a:r>
            <a:endParaRPr lang="en-US" b="1" dirty="0">
              <a:latin typeface="Franklin Gothic Medium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128395" y="325041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Franklin Gothic Medium" pitchFamily="34" charset="0"/>
              </a:rPr>
              <a:t>R</a:t>
            </a:r>
          </a:p>
        </p:txBody>
      </p:sp>
      <p:sp>
        <p:nvSpPr>
          <p:cNvPr id="2" name="TextBox 1"/>
          <p:cNvSpPr txBox="1"/>
          <p:nvPr/>
        </p:nvSpPr>
        <p:spPr>
          <a:xfrm rot="5400000">
            <a:off x="4951879" y="4511116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…</a:t>
            </a:r>
            <a:endParaRPr lang="en-US" sz="4000" dirty="0"/>
          </a:p>
        </p:txBody>
      </p:sp>
      <p:sp>
        <p:nvSpPr>
          <p:cNvPr id="55" name="TextBox 54"/>
          <p:cNvSpPr txBox="1"/>
          <p:nvPr/>
        </p:nvSpPr>
        <p:spPr>
          <a:xfrm rot="5400000">
            <a:off x="8158530" y="454245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…</a:t>
            </a:r>
            <a:endParaRPr lang="en-US" sz="4000" dirty="0"/>
          </a:p>
        </p:txBody>
      </p:sp>
      <p:cxnSp>
        <p:nvCxnSpPr>
          <p:cNvPr id="56" name="Straight Connector 55"/>
          <p:cNvCxnSpPr/>
          <p:nvPr/>
        </p:nvCxnSpPr>
        <p:spPr>
          <a:xfrm>
            <a:off x="1828800" y="1078558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1828800" y="1465926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1828800" y="1852760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036228" y="9906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M</a:t>
            </a:r>
            <a:endParaRPr lang="en-US" b="1" dirty="0">
              <a:latin typeface="Franklin Gothic Medium Cond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059472" y="136636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S</a:t>
            </a:r>
            <a:endParaRPr lang="en-US" b="1" dirty="0">
              <a:latin typeface="Franklin Gothic Medium Cond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057869" y="175795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R</a:t>
            </a:r>
            <a:endParaRPr lang="en-US" b="1" dirty="0">
              <a:latin typeface="Franklin Gothic Medium Cond" pitchFamily="34" charset="0"/>
            </a:endParaRPr>
          </a:p>
        </p:txBody>
      </p:sp>
      <p:cxnSp>
        <p:nvCxnSpPr>
          <p:cNvPr id="62" name="Straight Connector 61"/>
          <p:cNvCxnSpPr/>
          <p:nvPr/>
        </p:nvCxnSpPr>
        <p:spPr>
          <a:xfrm>
            <a:off x="1832338" y="2207187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1830569" y="2575091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1828800" y="2945458"/>
            <a:ext cx="190500" cy="19341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053861" y="211892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D</a:t>
            </a:r>
            <a:endParaRPr lang="en-US" b="1" dirty="0">
              <a:latin typeface="Franklin Gothic Medium Cond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059472" y="249992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S</a:t>
            </a:r>
            <a:endParaRPr lang="en-US" b="1" dirty="0">
              <a:latin typeface="Franklin Gothic Medium Cond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053861" y="288092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Franklin Gothic Medium Cond" pitchFamily="34" charset="0"/>
              </a:rPr>
              <a:t>N</a:t>
            </a:r>
            <a:endParaRPr lang="en-US" b="1" dirty="0">
              <a:latin typeface="Franklin Gothic Medium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51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/>
      <p:bldP spid="49" grpId="0"/>
      <p:bldP spid="50" grpId="0"/>
      <p:bldP spid="51" grpId="0"/>
      <p:bldP spid="52" grpId="0"/>
      <p:bldP spid="53" grpId="0"/>
      <p:bldP spid="54" grpId="0"/>
      <p:bldP spid="2" grpId="0"/>
      <p:bldP spid="5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Failure Recovery Results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5549372"/>
              </p:ext>
            </p:extLst>
          </p:nvPr>
        </p:nvGraphicFramePr>
        <p:xfrm>
          <a:off x="1066800" y="2209800"/>
          <a:ext cx="7086600" cy="2514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83"/>
                <a:gridCol w="1303283"/>
                <a:gridCol w="2708384"/>
                <a:gridCol w="1771650"/>
              </a:tblGrid>
              <a:tr h="757989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Disks in Cluster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Disks Failed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Data Recovered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Time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</a:tr>
              <a:tr h="439153"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100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1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47</a:t>
                      </a:r>
                      <a:r>
                        <a:rPr lang="en-US" b="0" baseline="0" dirty="0" smtClean="0">
                          <a:latin typeface="Franklin Gothic Medium Cond" pitchFamily="34" charset="0"/>
                        </a:rPr>
                        <a:t> GB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19.2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Franklin Gothic Medium Cond" pitchFamily="34" charset="0"/>
                          <a:ea typeface="+mn-ea"/>
                          <a:cs typeface="+mn-cs"/>
                        </a:rPr>
                        <a:t>± 0.7</a:t>
                      </a:r>
                      <a:r>
                        <a:rPr lang="en-US" b="0" dirty="0" smtClean="0">
                          <a:latin typeface="Franklin Gothic Medium Cond" pitchFamily="34" charset="0"/>
                        </a:rPr>
                        <a:t>s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</a:tr>
              <a:tr h="439153"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1,000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1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47 GB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3.3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Franklin Gothic Medium Cond" pitchFamily="34" charset="0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b="0" dirty="0" smtClean="0">
                          <a:latin typeface="Franklin Gothic Medium Cond" pitchFamily="34" charset="0"/>
                        </a:rPr>
                        <a:t> 0.6s</a:t>
                      </a:r>
                    </a:p>
                  </a:txBody>
                  <a:tcPr/>
                </a:tc>
              </a:tr>
              <a:tr h="439153"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1,000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1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92 GB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6.2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Franklin Gothic Medium Cond" pitchFamily="34" charset="0"/>
                          <a:ea typeface="+mn-ea"/>
                          <a:cs typeface="+mn-cs"/>
                        </a:rPr>
                        <a:t>± 6.2</a:t>
                      </a:r>
                      <a:r>
                        <a:rPr lang="en-US" b="0" dirty="0" smtClean="0">
                          <a:latin typeface="Franklin Gothic Medium Cond" pitchFamily="34" charset="0"/>
                        </a:rPr>
                        <a:t>s</a:t>
                      </a:r>
                    </a:p>
                  </a:txBody>
                  <a:tcPr/>
                </a:tc>
              </a:tr>
              <a:tr h="439153"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1,000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7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655 GB</a:t>
                      </a:r>
                      <a:r>
                        <a:rPr lang="en-US" b="0" baseline="0" dirty="0" smtClean="0">
                          <a:latin typeface="Franklin Gothic Medium Cond" pitchFamily="34" charset="0"/>
                        </a:rPr>
                        <a:t> 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33.7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Franklin Gothic Medium Cond" pitchFamily="34" charset="0"/>
                          <a:ea typeface="+mn-ea"/>
                          <a:cs typeface="+mn-cs"/>
                        </a:rPr>
                        <a:t>± 1.5</a:t>
                      </a:r>
                      <a:r>
                        <a:rPr lang="en-US" b="0" dirty="0" smtClean="0">
                          <a:latin typeface="Franklin Gothic Medium Cond" pitchFamily="34" charset="0"/>
                        </a:rPr>
                        <a:t>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914400" y="5514473"/>
            <a:ext cx="7891254" cy="936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We recover at about 40 MB/s/disk + detection time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1 TB failure in a 3,000 disk cluster: ~17s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417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Failure Recovery Results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14400" y="5514473"/>
            <a:ext cx="7891254" cy="936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We recover at about 40 MB/s/disk + detection time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1 TB failure in a 3,000 disk cluster: ~17s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9296965"/>
              </p:ext>
            </p:extLst>
          </p:nvPr>
        </p:nvGraphicFramePr>
        <p:xfrm>
          <a:off x="1066800" y="2209800"/>
          <a:ext cx="7086600" cy="2514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283"/>
                <a:gridCol w="1303283"/>
                <a:gridCol w="2708384"/>
                <a:gridCol w="1771650"/>
              </a:tblGrid>
              <a:tr h="757989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Disks in Cluster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Disks Failed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Data Recovered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Time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</a:tr>
              <a:tr h="439153"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100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1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47</a:t>
                      </a:r>
                      <a:r>
                        <a:rPr lang="en-US" b="0" baseline="0" dirty="0" smtClean="0">
                          <a:latin typeface="Franklin Gothic Medium Cond" pitchFamily="34" charset="0"/>
                        </a:rPr>
                        <a:t> GB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19.2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Franklin Gothic Medium Cond" pitchFamily="34" charset="0"/>
                          <a:ea typeface="+mn-ea"/>
                          <a:cs typeface="+mn-cs"/>
                        </a:rPr>
                        <a:t>± 0.7</a:t>
                      </a:r>
                      <a:r>
                        <a:rPr lang="en-US" b="0" dirty="0" smtClean="0">
                          <a:latin typeface="Franklin Gothic Medium Cond" pitchFamily="34" charset="0"/>
                        </a:rPr>
                        <a:t>s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</a:tr>
              <a:tr h="439153"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1,000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1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47 GB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3.3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Franklin Gothic Medium Cond" pitchFamily="34" charset="0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b="0" dirty="0" smtClean="0">
                          <a:latin typeface="Franklin Gothic Medium Cond" pitchFamily="34" charset="0"/>
                        </a:rPr>
                        <a:t> 0.6s</a:t>
                      </a:r>
                    </a:p>
                  </a:txBody>
                  <a:tcPr/>
                </a:tc>
              </a:tr>
              <a:tr h="439153"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1,000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1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92 GB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6.2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Franklin Gothic Medium Cond" pitchFamily="34" charset="0"/>
                          <a:ea typeface="+mn-ea"/>
                          <a:cs typeface="+mn-cs"/>
                        </a:rPr>
                        <a:t>± 6.2</a:t>
                      </a:r>
                      <a:r>
                        <a:rPr lang="en-US" b="0" dirty="0" smtClean="0">
                          <a:latin typeface="Franklin Gothic Medium Cond" pitchFamily="34" charset="0"/>
                        </a:rPr>
                        <a:t>s</a:t>
                      </a:r>
                    </a:p>
                  </a:txBody>
                  <a:tcPr/>
                </a:tc>
              </a:tr>
              <a:tr h="439153"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1,000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7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Franklin Gothic Medium Cond" pitchFamily="34" charset="0"/>
                        </a:rPr>
                        <a:t>655 GB</a:t>
                      </a:r>
                      <a:r>
                        <a:rPr lang="en-US" b="0" baseline="0" dirty="0" smtClean="0">
                          <a:latin typeface="Franklin Gothic Medium Cond" pitchFamily="34" charset="0"/>
                        </a:rPr>
                        <a:t> </a:t>
                      </a:r>
                      <a:endParaRPr lang="en-US" b="0" dirty="0">
                        <a:latin typeface="Franklin Gothic Medium Cond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Franklin Gothic Medium Cond" pitchFamily="34" charset="0"/>
                        </a:rPr>
                        <a:t>33.7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Franklin Gothic Medium Cond" pitchFamily="34" charset="0"/>
                          <a:ea typeface="+mn-ea"/>
                          <a:cs typeface="+mn-cs"/>
                        </a:rPr>
                        <a:t>± 1.5</a:t>
                      </a:r>
                      <a:r>
                        <a:rPr lang="en-US" b="0" dirty="0" smtClean="0">
                          <a:latin typeface="Franklin Gothic Medium Cond" pitchFamily="34" charset="0"/>
                        </a:rPr>
                        <a:t>s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97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378952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FDS is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simple, scalable blob storage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;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logically separate compute and storage without the usual performance penalty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Distributed metadata management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, no centralized components on common-case paths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Built on a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CLOS network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with distributed scheduling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High read/write performance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demonstrated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(2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Gbyte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/s, single-replicated, from one process)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Fast failure recovery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(0.6 TB in 33.7 s with 1,000 disks)</a:t>
            </a:r>
            <a:br>
              <a:rPr lang="en-US" dirty="0" smtClean="0">
                <a:solidFill>
                  <a:schemeClr val="bg1">
                    <a:lumMod val="65000"/>
                  </a:schemeClr>
                </a:solidFill>
              </a:rPr>
            </a:b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High application performance </a:t>
            </a:r>
            <a:r>
              <a:rPr lang="en-US" dirty="0" smtClean="0">
                <a:solidFill>
                  <a:srgbClr val="FF0000"/>
                </a:solidFill>
              </a:rPr>
              <a:t>– set the 2012 world record for disk-to-disk sorting</a:t>
            </a:r>
          </a:p>
        </p:txBody>
      </p:sp>
    </p:spTree>
    <p:extLst>
      <p:ext uri="{BB962C8B-B14F-4D97-AF65-F5344CB8AC3E}">
        <p14:creationId xmlns:p14="http://schemas.microsoft.com/office/powerpoint/2010/main" val="2942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>
            <a:normAutofit/>
          </a:bodyPr>
          <a:lstStyle/>
          <a:p>
            <a:r>
              <a:rPr lang="en-US" sz="6000" dirty="0" smtClean="0"/>
              <a:t>Minute Sort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8302752" cy="4724400"/>
          </a:xfrm>
        </p:spPr>
        <p:txBody>
          <a:bodyPr>
            <a:no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Jim Gray’s benchmark: How much data can you sort in 60 seconds?</a:t>
            </a:r>
          </a:p>
          <a:p>
            <a:pPr lvl="1"/>
            <a:r>
              <a:rPr lang="en-US" sz="1800" dirty="0" smtClean="0">
                <a:solidFill>
                  <a:schemeClr val="tx1"/>
                </a:solidFill>
              </a:rPr>
              <a:t>Has real-world applicability: sort, arbitrary join, group by &lt;any&gt; column</a:t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endParaRPr lang="en-US" sz="1800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Previous “no holds barred” record – UCSD (1,353 GB); FDS: 1,470 GB</a:t>
            </a:r>
          </a:p>
          <a:p>
            <a:pPr lvl="1"/>
            <a:r>
              <a:rPr lang="en-US" sz="1800" dirty="0" smtClean="0">
                <a:solidFill>
                  <a:schemeClr val="tx1"/>
                </a:solidFill>
              </a:rPr>
              <a:t>Their purpose-built stack beat us on efficiency, however</a:t>
            </a:r>
            <a:br>
              <a:rPr lang="en-US" sz="1800" dirty="0" smtClean="0">
                <a:solidFill>
                  <a:schemeClr val="tx1"/>
                </a:solidFill>
              </a:rPr>
            </a:br>
            <a:endParaRPr lang="en-US" sz="1800" dirty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Sort was “just an app” – FDS was not enlightened</a:t>
            </a:r>
          </a:p>
          <a:p>
            <a:pPr lvl="1"/>
            <a:r>
              <a:rPr lang="en-US" sz="1800" dirty="0" smtClean="0">
                <a:solidFill>
                  <a:schemeClr val="tx1"/>
                </a:solidFill>
              </a:rPr>
              <a:t>Sent the data over the network thrice (read, bucket, write)</a:t>
            </a:r>
          </a:p>
          <a:p>
            <a:pPr lvl="1"/>
            <a:r>
              <a:rPr lang="en-US" sz="1800" dirty="0" smtClean="0">
                <a:solidFill>
                  <a:schemeClr val="tx1"/>
                </a:solidFill>
              </a:rPr>
              <a:t>First system to hold the record without using local storage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22799"/>
              </p:ext>
            </p:extLst>
          </p:nvPr>
        </p:nvGraphicFramePr>
        <p:xfrm>
          <a:off x="838200" y="2545080"/>
          <a:ext cx="7543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143000"/>
                <a:gridCol w="838200"/>
                <a:gridCol w="1066800"/>
                <a:gridCol w="942975"/>
                <a:gridCol w="157162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Franklin Gothic Medium Cond" pitchFamily="34" charset="0"/>
                        </a:rPr>
                        <a:t>System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Franklin Gothic Medium Cond" pitchFamily="34" charset="0"/>
                        </a:rPr>
                        <a:t>Computers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Franklin Gothic Medium Cond" pitchFamily="34" charset="0"/>
                        </a:rPr>
                        <a:t>Disks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Franklin Gothic Medium Cond" pitchFamily="34" charset="0"/>
                        </a:rPr>
                        <a:t>Sort</a:t>
                      </a:r>
                      <a:r>
                        <a:rPr lang="en-US" baseline="0" dirty="0" smtClean="0">
                          <a:latin typeface="Franklin Gothic Medium Cond" pitchFamily="34" charset="0"/>
                        </a:rPr>
                        <a:t> Size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Franklin Gothic Medium Cond" pitchFamily="34" charset="0"/>
                        </a:rPr>
                        <a:t>Time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Franklin Gothic Medium Cond" pitchFamily="34" charset="0"/>
                        </a:rPr>
                        <a:t>Disk Throughput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MSR</a:t>
                      </a:r>
                      <a:r>
                        <a:rPr lang="en-US" baseline="0" dirty="0" smtClean="0">
                          <a:latin typeface="Franklin Gothic Medium Cond" pitchFamily="34" charset="0"/>
                        </a:rPr>
                        <a:t> </a:t>
                      </a:r>
                      <a:r>
                        <a:rPr lang="en-US" dirty="0" smtClean="0">
                          <a:latin typeface="Franklin Gothic Medium Cond" pitchFamily="34" charset="0"/>
                        </a:rPr>
                        <a:t>FDS 2012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Franklin Gothic Medium Cond" pitchFamily="34" charset="0"/>
                        </a:rPr>
                        <a:t>256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Franklin Gothic Medium Cond" pitchFamily="34" charset="0"/>
                        </a:rPr>
                        <a:t>1,033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Franklin Gothic Medium Cond" pitchFamily="34" charset="0"/>
                        </a:rPr>
                        <a:t>1,470 GB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Franklin Gothic Medium Cond" pitchFamily="34" charset="0"/>
                        </a:rPr>
                        <a:t>59 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Franklin Gothic Medium Cond" pitchFamily="34" charset="0"/>
                        </a:rPr>
                        <a:t>46 MB/s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Yahoo! </a:t>
                      </a:r>
                      <a:r>
                        <a:rPr lang="en-US" dirty="0" err="1" smtClean="0">
                          <a:latin typeface="Franklin Gothic Medium Cond" pitchFamily="34" charset="0"/>
                        </a:rPr>
                        <a:t>Hadoop</a:t>
                      </a:r>
                      <a:r>
                        <a:rPr lang="en-US" dirty="0" smtClean="0">
                          <a:latin typeface="Franklin Gothic Medium Cond" pitchFamily="34" charset="0"/>
                        </a:rPr>
                        <a:t> 2009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Franklin Gothic Medium Cond" pitchFamily="34" charset="0"/>
                        </a:rPr>
                        <a:t>1,408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Franklin Gothic Medium Cond" pitchFamily="34" charset="0"/>
                        </a:rPr>
                        <a:t>5,632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Franklin Gothic Medium Cond" pitchFamily="34" charset="0"/>
                        </a:rPr>
                        <a:t>500 GB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Franklin Gothic Medium Cond" pitchFamily="34" charset="0"/>
                        </a:rPr>
                        <a:t>59 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latin typeface="Franklin Gothic Medium Cond" pitchFamily="34" charset="0"/>
                        </a:rPr>
                        <a:t>3</a:t>
                      </a:r>
                      <a:r>
                        <a:rPr lang="en-US" baseline="0" dirty="0" smtClean="0">
                          <a:latin typeface="Franklin Gothic Medium Cond" pitchFamily="34" charset="0"/>
                        </a:rPr>
                        <a:t> </a:t>
                      </a:r>
                      <a:r>
                        <a:rPr lang="en-US" dirty="0" smtClean="0">
                          <a:latin typeface="Franklin Gothic Medium Cond" pitchFamily="34" charset="0"/>
                        </a:rPr>
                        <a:t>MB/s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90625" y="3805535"/>
            <a:ext cx="3505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Franklin Gothic Demi Cond" pitchFamily="34" charset="0"/>
              </a:rPr>
              <a:t>15x efficiency improvement!</a:t>
            </a:r>
            <a:endParaRPr lang="en-US" sz="2400" dirty="0">
              <a:solidFill>
                <a:srgbClr val="FF0000"/>
              </a:solidFill>
              <a:latin typeface="Franklin Gothic Demi Cond" pitchFamily="34" charset="0"/>
            </a:endParaRPr>
          </a:p>
        </p:txBody>
      </p:sp>
      <p:cxnSp>
        <p:nvCxnSpPr>
          <p:cNvPr id="7" name="Elbow Connector 6"/>
          <p:cNvCxnSpPr/>
          <p:nvPr/>
        </p:nvCxnSpPr>
        <p:spPr>
          <a:xfrm flipV="1">
            <a:off x="7620000" y="3655367"/>
            <a:ext cx="381000" cy="383233"/>
          </a:xfrm>
          <a:prstGeom prst="bentConnector2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93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Work Allocation</a:t>
            </a:r>
            <a:endParaRPr lang="en-US" dirty="0"/>
          </a:p>
        </p:txBody>
      </p:sp>
      <p:pic>
        <p:nvPicPr>
          <p:cNvPr id="4098" name="Picture 2" descr="C:\Users\jelson\home\projects\fds\docs\papers\osdi_2012\results\straggler-reduction-comparison\after-straggler-reduction\completion-times-simplified-ps.pn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1"/>
          <a:stretch/>
        </p:blipFill>
        <p:spPr bwMode="auto">
          <a:xfrm>
            <a:off x="4744730" y="2121408"/>
            <a:ext cx="4536603" cy="290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jelson\home\projects\fds\docs\papers\osdi_2012\results\straggler-reduction-comparison\before-straggler-reduction\completion-times-simplified-ps.png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43"/>
          <a:stretch/>
        </p:blipFill>
        <p:spPr bwMode="auto">
          <a:xfrm>
            <a:off x="-1" y="2123420"/>
            <a:ext cx="4867275" cy="290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jelson\Desktop\che-guevara1232976553.jpg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852" y="5105400"/>
            <a:ext cx="1409598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46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752600"/>
            <a:ext cx="8004048" cy="46482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Agility and conceptual simplicity of a global store, without the usual performance penalty</a:t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Remote storage is as fast (throughput-wise) as local</a:t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Build high-performance, high-utilization clusters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Buy as many disks as you need aggregate IOPS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Provision enough network bandwidth based on computation to I/O ratio of expected applications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Apps can use I/O and compute in whatever ratio they need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By investing about 30% more for the network and use nearly all the hardware</a:t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Potentially enable new applications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9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685800" y="1371600"/>
            <a:ext cx="7772400" cy="2505075"/>
          </a:xfrm>
        </p:spPr>
        <p:txBody>
          <a:bodyPr/>
          <a:lstStyle/>
          <a:p>
            <a:r>
              <a:rPr lang="en-US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Thank you!</a:t>
            </a:r>
            <a:endParaRPr lang="en-US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49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09600"/>
            <a:ext cx="8229600" cy="1600200"/>
          </a:xfrm>
        </p:spPr>
        <p:txBody>
          <a:bodyPr/>
          <a:lstStyle/>
          <a:p>
            <a:r>
              <a:rPr lang="en-US" dirty="0" smtClean="0"/>
              <a:t>FDS Sort vs. </a:t>
            </a:r>
            <a:r>
              <a:rPr lang="en-US" dirty="0" err="1" smtClean="0"/>
              <a:t>TritonSort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/>
          <a:lstStyle/>
          <a:p>
            <a:r>
              <a:rPr lang="en-US" dirty="0" smtClean="0"/>
              <a:t>Disk-wise: FDS is more efficient (~10%)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Computer-wise: FDS is less efficient, but …</a:t>
            </a:r>
          </a:p>
          <a:p>
            <a:pPr lvl="1"/>
            <a:r>
              <a:rPr lang="en-US" dirty="0" smtClean="0"/>
              <a:t>Some is genuine inefficiency – sending data three times</a:t>
            </a:r>
          </a:p>
          <a:p>
            <a:pPr lvl="1"/>
            <a:r>
              <a:rPr lang="en-US" dirty="0" smtClean="0"/>
              <a:t>Some is because FDS used a scrapheap of old computers</a:t>
            </a:r>
          </a:p>
          <a:p>
            <a:pPr lvl="2"/>
            <a:r>
              <a:rPr lang="en-US" dirty="0" smtClean="0"/>
              <a:t>Only 7 disks per machine</a:t>
            </a:r>
          </a:p>
          <a:p>
            <a:pPr lvl="2"/>
            <a:r>
              <a:rPr lang="en-US" dirty="0" smtClean="0"/>
              <a:t>Couldn’t run tractserver and client on the same machine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Design differences:</a:t>
            </a:r>
          </a:p>
          <a:p>
            <a:pPr lvl="1"/>
            <a:r>
              <a:rPr lang="en-US" dirty="0" smtClean="0"/>
              <a:t>General-purpose remote store vs. purpose-built sort application</a:t>
            </a:r>
          </a:p>
          <a:p>
            <a:pPr lvl="1"/>
            <a:r>
              <a:rPr lang="en-US" dirty="0" smtClean="0"/>
              <a:t>Could scale 10x with no changes vs. one big switch at the top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385834"/>
              </p:ext>
            </p:extLst>
          </p:nvPr>
        </p:nvGraphicFramePr>
        <p:xfrm>
          <a:off x="990600" y="1066800"/>
          <a:ext cx="7543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219200"/>
                <a:gridCol w="952500"/>
                <a:gridCol w="1257300"/>
                <a:gridCol w="942975"/>
                <a:gridCol w="157162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System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Computers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Disks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Sort</a:t>
                      </a:r>
                      <a:r>
                        <a:rPr lang="en-US" baseline="0" dirty="0" smtClean="0">
                          <a:latin typeface="Franklin Gothic Medium Cond" pitchFamily="34" charset="0"/>
                        </a:rPr>
                        <a:t> Size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Time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Disk Throughput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FDS 2012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256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1,033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1,470GB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59.4s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47.9MB/s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Franklin Gothic Medium Cond" pitchFamily="34" charset="0"/>
                        </a:rPr>
                        <a:t>TritonSort</a:t>
                      </a:r>
                      <a:r>
                        <a:rPr lang="en-US" baseline="0" dirty="0" smtClean="0">
                          <a:latin typeface="Franklin Gothic Medium Cond" pitchFamily="34" charset="0"/>
                        </a:rPr>
                        <a:t> 2011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66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1,056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1,353GB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59.2s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Franklin Gothic Medium Cond" pitchFamily="34" charset="0"/>
                        </a:rPr>
                        <a:t>43.3MB/s</a:t>
                      </a:r>
                      <a:endParaRPr lang="en-US" dirty="0">
                        <a:latin typeface="Franklin Gothic Medium Cond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53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10600" cy="1447800"/>
          </a:xfrm>
        </p:spPr>
        <p:txBody>
          <a:bodyPr>
            <a:normAutofit/>
          </a:bodyPr>
          <a:lstStyle/>
          <a:p>
            <a:r>
              <a:rPr lang="en-US" sz="4800" dirty="0" err="1" smtClean="0"/>
              <a:t>Hadoop</a:t>
            </a:r>
            <a:r>
              <a:rPr lang="en-US" sz="4800" dirty="0" smtClean="0"/>
              <a:t> on a 10G CLOS network?</a:t>
            </a:r>
            <a:endParaRPr lang="en-US" sz="4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676400"/>
            <a:ext cx="8686800" cy="48768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Congestion isn’t eliminated; it’s been pushed to the edges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/>
              <a:t>TCP bandwidth allocation performs poorly with short, fat flows: </a:t>
            </a:r>
            <a:r>
              <a:rPr lang="en-US" dirty="0" err="1" smtClean="0"/>
              <a:t>incast</a:t>
            </a:r>
            <a:endParaRPr lang="en-US" dirty="0" smtClean="0"/>
          </a:p>
          <a:p>
            <a:pPr lvl="1"/>
            <a:r>
              <a:rPr lang="en-US" dirty="0" smtClean="0"/>
              <a:t>FDS creates “circuits” using RTS/CTS</a:t>
            </a:r>
          </a:p>
          <a:p>
            <a:r>
              <a:rPr lang="en-US" sz="3200" dirty="0" smtClean="0">
                <a:solidFill>
                  <a:schemeClr val="tx1"/>
                </a:solidFill>
              </a:rPr>
              <a:t>Full bisection bandwidth is only stochastic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3200" dirty="0" smtClean="0">
                <a:solidFill>
                  <a:schemeClr val="tx1"/>
                </a:solidFill>
              </a:rPr>
              <a:t>Software written to assume bandwidth is scarce won’t try to use the network</a:t>
            </a:r>
            <a:br>
              <a:rPr lang="en-US" sz="3200" dirty="0" smtClean="0">
                <a:solidFill>
                  <a:schemeClr val="tx1"/>
                </a:solidFill>
              </a:rPr>
            </a:br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3200" dirty="0" smtClean="0">
                <a:solidFill>
                  <a:schemeClr val="tx1"/>
                </a:solidFill>
              </a:rPr>
              <a:t>We want to exploit all disks equally</a:t>
            </a:r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23813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>
            <a:normAutofit/>
          </a:bodyPr>
          <a:lstStyle/>
          <a:p>
            <a:r>
              <a:rPr lang="en-US" dirty="0" smtClean="0"/>
              <a:t>Stock Market Analysis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Analyzes stock market data from BATStrading.com</a:t>
            </a:r>
          </a:p>
          <a:p>
            <a:r>
              <a:rPr lang="en-US" dirty="0" smtClean="0"/>
              <a:t>23 seconds to</a:t>
            </a:r>
          </a:p>
          <a:p>
            <a:pPr lvl="1"/>
            <a:r>
              <a:rPr lang="en-US" dirty="0" smtClean="0"/>
              <a:t>Read 2.5GB of compressed data from a blob</a:t>
            </a:r>
          </a:p>
          <a:p>
            <a:pPr lvl="1"/>
            <a:r>
              <a:rPr lang="en-US" dirty="0" smtClean="0"/>
              <a:t>Decompress to 13GB &amp; do computation</a:t>
            </a:r>
          </a:p>
          <a:p>
            <a:pPr lvl="1"/>
            <a:r>
              <a:rPr lang="en-US" dirty="0" smtClean="0"/>
              <a:t>Write correlated data back to blobs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Original </a:t>
            </a:r>
            <a:r>
              <a:rPr lang="en-US" dirty="0" err="1" smtClean="0"/>
              <a:t>zlib</a:t>
            </a:r>
            <a:r>
              <a:rPr lang="en-US" dirty="0" smtClean="0"/>
              <a:t> compression thrown out – too slow!</a:t>
            </a:r>
          </a:p>
          <a:p>
            <a:pPr lvl="1"/>
            <a:r>
              <a:rPr lang="en-US" dirty="0" smtClean="0"/>
              <a:t>FDS delivered 8MB/70ms/NIC, but each tract took 218ms to decompress</a:t>
            </a:r>
            <a:br>
              <a:rPr lang="en-US" dirty="0" smtClean="0"/>
            </a:br>
            <a:r>
              <a:rPr lang="en-US" dirty="0" smtClean="0"/>
              <a:t>  (10 NICs, 16 cores)</a:t>
            </a:r>
          </a:p>
          <a:p>
            <a:pPr lvl="1"/>
            <a:r>
              <a:rPr lang="en-US" dirty="0" smtClean="0"/>
              <a:t>Switched to </a:t>
            </a:r>
            <a:r>
              <a:rPr lang="en-US" dirty="0" err="1" smtClean="0"/>
              <a:t>XPress</a:t>
            </a:r>
            <a:r>
              <a:rPr lang="en-US" dirty="0" smtClean="0"/>
              <a:t>, which can decompress in 62ms</a:t>
            </a:r>
          </a:p>
          <a:p>
            <a:pPr lvl="1"/>
            <a:endParaRPr lang="en-US" dirty="0"/>
          </a:p>
          <a:p>
            <a:r>
              <a:rPr lang="en-US" dirty="0" smtClean="0"/>
              <a:t>FDS turned this from an I/O-bound to compute-bound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24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05" y="914400"/>
            <a:ext cx="8937311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ular Callout 4"/>
          <p:cNvSpPr/>
          <p:nvPr/>
        </p:nvSpPr>
        <p:spPr>
          <a:xfrm>
            <a:off x="1219200" y="3505200"/>
            <a:ext cx="2514600" cy="1219200"/>
          </a:xfrm>
          <a:prstGeom prst="wedgeRectCallout">
            <a:avLst>
              <a:gd name="adj1" fmla="val -46626"/>
              <a:gd name="adj2" fmla="val 10000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2010 Experiment:</a:t>
            </a:r>
          </a:p>
          <a:p>
            <a:pPr algn="ctr"/>
            <a:r>
              <a:rPr lang="en-US" dirty="0" smtClean="0"/>
              <a:t>98 disks,  25GB per disk,</a:t>
            </a:r>
            <a:br>
              <a:rPr lang="en-US" dirty="0" smtClean="0"/>
            </a:br>
            <a:r>
              <a:rPr lang="en-US" dirty="0" smtClean="0"/>
              <a:t>recovered in 20 sec</a:t>
            </a:r>
            <a:endParaRPr lang="en-US" dirty="0"/>
          </a:p>
        </p:txBody>
      </p:sp>
      <p:sp>
        <p:nvSpPr>
          <p:cNvPr id="10" name="Rectangular Callout 9"/>
          <p:cNvSpPr/>
          <p:nvPr/>
        </p:nvSpPr>
        <p:spPr>
          <a:xfrm>
            <a:off x="5247167" y="1524000"/>
            <a:ext cx="3505200" cy="1219200"/>
          </a:xfrm>
          <a:prstGeom prst="wedgeRectCallout">
            <a:avLst>
              <a:gd name="adj1" fmla="val 36488"/>
              <a:gd name="adj2" fmla="val -822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2010 Estimate:</a:t>
            </a:r>
          </a:p>
          <a:p>
            <a:pPr algn="ctr"/>
            <a:r>
              <a:rPr lang="en-US" dirty="0" smtClean="0"/>
              <a:t>2,500-3,000 disks,  1TB  per disk,</a:t>
            </a:r>
            <a:br>
              <a:rPr lang="en-US" dirty="0" smtClean="0"/>
            </a:br>
            <a:r>
              <a:rPr lang="en-US" dirty="0" smtClean="0"/>
              <a:t>should recover in 30 sec</a:t>
            </a:r>
            <a:endParaRPr lang="en-US" dirty="0"/>
          </a:p>
        </p:txBody>
      </p:sp>
      <p:sp>
        <p:nvSpPr>
          <p:cNvPr id="11" name="Rectangular Callout 10"/>
          <p:cNvSpPr/>
          <p:nvPr/>
        </p:nvSpPr>
        <p:spPr>
          <a:xfrm>
            <a:off x="2286000" y="1066800"/>
            <a:ext cx="3505200" cy="1219200"/>
          </a:xfrm>
          <a:prstGeom prst="wedgeRectCallout">
            <a:avLst>
              <a:gd name="adj1" fmla="val 62272"/>
              <a:gd name="adj2" fmla="val 26745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2012 Result:</a:t>
            </a:r>
          </a:p>
          <a:p>
            <a:pPr algn="ctr"/>
            <a:r>
              <a:rPr lang="en-US" dirty="0" smtClean="0"/>
              <a:t>1,000 disks, 92GB per disk,</a:t>
            </a:r>
            <a:br>
              <a:rPr lang="en-US" dirty="0" smtClean="0"/>
            </a:br>
            <a:r>
              <a:rPr lang="en-US" dirty="0" smtClean="0"/>
              <a:t>recovered in 6.2 +/- 0.4 sec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8076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FDS Recovery Speed: Triple-Replicated, Single Disk Failure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6391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is fast failure recovery important?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78952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Increased data durability</a:t>
            </a:r>
          </a:p>
          <a:p>
            <a:pPr lvl="1"/>
            <a:r>
              <a:rPr lang="en-US" dirty="0" smtClean="0"/>
              <a:t>Too many failures within a recovery window = data loss</a:t>
            </a:r>
          </a:p>
          <a:p>
            <a:pPr lvl="1"/>
            <a:r>
              <a:rPr lang="en-US" dirty="0" smtClean="0"/>
              <a:t>Reduce window from hours to seconds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Decreased </a:t>
            </a:r>
            <a:r>
              <a:rPr lang="en-US" dirty="0" err="1" smtClean="0"/>
              <a:t>CapEx+OpEx</a:t>
            </a:r>
            <a:endParaRPr lang="en-US" dirty="0" smtClean="0"/>
          </a:p>
          <a:p>
            <a:pPr lvl="1"/>
            <a:r>
              <a:rPr lang="en-US" dirty="0" err="1" smtClean="0"/>
              <a:t>CapEx</a:t>
            </a:r>
            <a:r>
              <a:rPr lang="en-US" dirty="0" smtClean="0"/>
              <a:t>: No need for “hot spares”: all disks do work</a:t>
            </a:r>
          </a:p>
          <a:p>
            <a:pPr lvl="1"/>
            <a:r>
              <a:rPr lang="en-US" dirty="0" err="1" smtClean="0"/>
              <a:t>OpEx</a:t>
            </a:r>
            <a:r>
              <a:rPr lang="en-US" dirty="0" smtClean="0"/>
              <a:t>: Don’t replace disks; wait for an upgrade.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r>
              <a:rPr lang="en-US" dirty="0" smtClean="0"/>
              <a:t>Simplicity</a:t>
            </a:r>
          </a:p>
          <a:p>
            <a:pPr lvl="1"/>
            <a:r>
              <a:rPr lang="en-US" dirty="0" smtClean="0"/>
              <a:t>Block writes until recovery completes</a:t>
            </a:r>
          </a:p>
          <a:p>
            <a:pPr lvl="1"/>
            <a:r>
              <a:rPr lang="en-US" dirty="0" smtClean="0"/>
              <a:t>Avoid corner cases</a:t>
            </a:r>
          </a:p>
        </p:txBody>
      </p:sp>
    </p:spTree>
    <p:extLst>
      <p:ext uri="{BB962C8B-B14F-4D97-AF65-F5344CB8AC3E}">
        <p14:creationId xmlns:p14="http://schemas.microsoft.com/office/powerpoint/2010/main" val="187205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3647"/>
            <a:ext cx="4800600" cy="1252847"/>
          </a:xfrm>
        </p:spPr>
        <p:txBody>
          <a:bodyPr/>
          <a:lstStyle/>
          <a:p>
            <a:r>
              <a:rPr lang="en-US" dirty="0" smtClean="0"/>
              <a:t>FDS Cluster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04800" y="1589567"/>
            <a:ext cx="4495800" cy="4572000"/>
          </a:xfrm>
        </p:spPr>
        <p:txBody>
          <a:bodyPr/>
          <a:lstStyle/>
          <a:p>
            <a:r>
              <a:rPr lang="en-US" dirty="0" smtClean="0"/>
              <a:t>14 machines (16 cores)</a:t>
            </a:r>
          </a:p>
          <a:p>
            <a:r>
              <a:rPr lang="en-US" dirty="0" smtClean="0"/>
              <a:t>8 disks per machine</a:t>
            </a:r>
          </a:p>
          <a:p>
            <a:r>
              <a:rPr lang="en-US" dirty="0" smtClean="0"/>
              <a:t>~10 1G NICs per machine</a:t>
            </a:r>
          </a:p>
          <a:p>
            <a:r>
              <a:rPr lang="en-US" dirty="0" smtClean="0"/>
              <a:t>4x LB4G switches</a:t>
            </a:r>
          </a:p>
          <a:p>
            <a:pPr lvl="1"/>
            <a:r>
              <a:rPr lang="en-US" dirty="0" smtClean="0"/>
              <a:t>40x1G + 4x10G</a:t>
            </a:r>
          </a:p>
          <a:p>
            <a:r>
              <a:rPr lang="en-US" dirty="0" smtClean="0"/>
              <a:t>1x LB6M switch</a:t>
            </a:r>
          </a:p>
          <a:p>
            <a:pPr lvl="1"/>
            <a:r>
              <a:rPr lang="en-US" dirty="0" smtClean="0"/>
              <a:t>24x10G </a:t>
            </a:r>
          </a:p>
        </p:txBody>
      </p:sp>
      <p:pic>
        <p:nvPicPr>
          <p:cNvPr id="1026" name="Picture 2" descr="C:\Users\jelson\Pictures\FDS\IMAG021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726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4800" y="5373469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Made possible through the generous support of the </a:t>
            </a:r>
            <a:r>
              <a:rPr lang="en-US" i="1" dirty="0" err="1" smtClean="0"/>
              <a:t>eXtreme</a:t>
            </a:r>
            <a:r>
              <a:rPr lang="en-US" i="1" dirty="0" smtClean="0"/>
              <a:t> Computing Group (XCG)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6008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/>
          <a:lstStyle/>
          <a:p>
            <a:r>
              <a:rPr lang="en-US" dirty="0" smtClean="0"/>
              <a:t>Cluster 2 Network Topology</a:t>
            </a:r>
            <a:endParaRPr lang="en-US" dirty="0"/>
          </a:p>
        </p:txBody>
      </p:sp>
      <p:pic>
        <p:nvPicPr>
          <p:cNvPr id="1026" name="Picture 2" descr="C:\Users\jelson\Documents\Projects\FDS\448x10G Monsoon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95"/>
          <a:stretch/>
        </p:blipFill>
        <p:spPr bwMode="auto">
          <a:xfrm>
            <a:off x="1219200" y="1600200"/>
            <a:ext cx="6132513" cy="478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46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363748"/>
            <a:ext cx="8077200" cy="4960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1551" y="304799"/>
            <a:ext cx="75071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Distributing 8mb tracts to disks uniformly at random:</a:t>
            </a:r>
          </a:p>
          <a:p>
            <a:pPr algn="ctr"/>
            <a:r>
              <a:rPr lang="en-US" sz="2400" dirty="0" smtClean="0"/>
              <a:t>How many tracts is a disk likely to get?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2495371"/>
            <a:ext cx="4267200" cy="1200329"/>
          </a:xfrm>
          <a:prstGeom prst="rect">
            <a:avLst/>
          </a:prstGeom>
          <a:solidFill>
            <a:schemeClr val="accent2"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60GB, 56 disks:</a:t>
            </a:r>
          </a:p>
          <a:p>
            <a:r>
              <a:rPr lang="el-GR" dirty="0" smtClean="0"/>
              <a:t>μ</a:t>
            </a:r>
            <a:r>
              <a:rPr lang="en-US" dirty="0" smtClean="0"/>
              <a:t> = 134, </a:t>
            </a:r>
            <a:r>
              <a:rPr lang="el-GR" dirty="0" smtClean="0"/>
              <a:t>σ</a:t>
            </a:r>
            <a:r>
              <a:rPr lang="en-US" dirty="0" smtClean="0"/>
              <a:t> = 11.5</a:t>
            </a:r>
          </a:p>
          <a:p>
            <a:r>
              <a:rPr lang="en-US" dirty="0" smtClean="0"/>
              <a:t>Likely range: 110-159</a:t>
            </a:r>
          </a:p>
          <a:p>
            <a:r>
              <a:rPr lang="en-US" dirty="0" smtClean="0"/>
              <a:t>Max likely 18.7% higher than average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46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13" y="1295400"/>
            <a:ext cx="8161087" cy="5072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1551" y="304799"/>
            <a:ext cx="75071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Distributing 8mb tracts to disks uniformly at random:</a:t>
            </a:r>
          </a:p>
          <a:p>
            <a:pPr algn="ctr"/>
            <a:r>
              <a:rPr lang="en-US" sz="2400" dirty="0" smtClean="0"/>
              <a:t>How many tracts is a disk likely to get?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2495371"/>
            <a:ext cx="4191000" cy="1200329"/>
          </a:xfrm>
          <a:prstGeom prst="rect">
            <a:avLst/>
          </a:prstGeom>
          <a:solidFill>
            <a:schemeClr val="accent2"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500GB, 1,033 disks:</a:t>
            </a:r>
          </a:p>
          <a:p>
            <a:r>
              <a:rPr lang="el-GR" dirty="0" smtClean="0"/>
              <a:t>μ</a:t>
            </a:r>
            <a:r>
              <a:rPr lang="en-US" dirty="0" smtClean="0"/>
              <a:t> = 60, </a:t>
            </a:r>
            <a:r>
              <a:rPr lang="el-GR" dirty="0" smtClean="0"/>
              <a:t>σ</a:t>
            </a:r>
            <a:r>
              <a:rPr lang="en-US" dirty="0" smtClean="0"/>
              <a:t> = 7.8</a:t>
            </a:r>
          </a:p>
          <a:p>
            <a:r>
              <a:rPr lang="en-US" dirty="0" smtClean="0"/>
              <a:t>Likely range: 38 to 86</a:t>
            </a:r>
          </a:p>
          <a:p>
            <a:r>
              <a:rPr lang="en-US" dirty="0" smtClean="0"/>
              <a:t>Max likely </a:t>
            </a:r>
            <a:r>
              <a:rPr lang="en-US" b="1" u="sng" dirty="0" smtClean="0"/>
              <a:t>42.1%</a:t>
            </a:r>
            <a:r>
              <a:rPr lang="en-US" dirty="0" smtClean="0"/>
              <a:t> higher than average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60583" y="4648200"/>
            <a:ext cx="6764217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Solution (simplified): Change locator to</a:t>
            </a:r>
          </a:p>
          <a:p>
            <a:pPr algn="ctr"/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(Hash(</a:t>
            </a:r>
            <a:r>
              <a:rPr lang="en-US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Blob_GUID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 + </a:t>
            </a:r>
            <a:r>
              <a:rPr lang="en-US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Tract_Number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 MOD </a:t>
            </a:r>
            <a:r>
              <a:rPr lang="en-US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TableSize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8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4|0.4|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6524</TotalTime>
  <Words>1302</Words>
  <Application>Microsoft Office PowerPoint</Application>
  <PresentationFormat>On-screen Show (4:3)</PresentationFormat>
  <Paragraphs>575</Paragraphs>
  <Slides>46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Arial</vt:lpstr>
      <vt:lpstr>Calibri</vt:lpstr>
      <vt:lpstr>Courier New</vt:lpstr>
      <vt:lpstr>Franklin Gothic Demi Cond</vt:lpstr>
      <vt:lpstr>Franklin Gothic Medium</vt:lpstr>
      <vt:lpstr>Franklin Gothic Medium Cond</vt:lpstr>
      <vt:lpstr>Palatino Linotype</vt:lpstr>
      <vt:lpstr>Segoe UI</vt:lpstr>
      <vt:lpstr>Wingdings</vt:lpstr>
      <vt:lpstr>Executive</vt:lpstr>
      <vt:lpstr>Flat Datacenter Storage Microsoft Research, Redmond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FDS in 90 Seconds</vt:lpstr>
      <vt:lpstr>Outline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 Silver Bullet</vt:lpstr>
      <vt:lpstr>Outline</vt:lpstr>
      <vt:lpstr>Read/Write Performance Single-Replicated Tractservers, 10G Clients</vt:lpstr>
      <vt:lpstr>Read/Write Performance Triple-Replicated Tractservers, 10G Clients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Failure Recovery Results</vt:lpstr>
      <vt:lpstr>Failure Recovery Results</vt:lpstr>
      <vt:lpstr>Outline</vt:lpstr>
      <vt:lpstr>Minute Sort</vt:lpstr>
      <vt:lpstr>Dynamic Work Allocation</vt:lpstr>
      <vt:lpstr>Conclusions</vt:lpstr>
      <vt:lpstr>Thank you!</vt:lpstr>
      <vt:lpstr>FDS Sort vs. TritonSort</vt:lpstr>
      <vt:lpstr>Hadoop on a 10G CLOS network?</vt:lpstr>
      <vt:lpstr>Stock Market Analysis</vt:lpstr>
      <vt:lpstr>PowerPoint Presentation</vt:lpstr>
      <vt:lpstr>Why is fast failure recovery important?</vt:lpstr>
      <vt:lpstr>FDS Cluster 1</vt:lpstr>
      <vt:lpstr>Cluster 2 Network Topology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Animation demo</dc:title>
  <dc:creator>Jeremy Elson</dc:creator>
  <cp:lastModifiedBy>Ed Nightingale</cp:lastModifiedBy>
  <cp:revision>175</cp:revision>
  <cp:lastPrinted>2012-10-06T02:43:37Z</cp:lastPrinted>
  <dcterms:created xsi:type="dcterms:W3CDTF">2012-09-30T00:34:50Z</dcterms:created>
  <dcterms:modified xsi:type="dcterms:W3CDTF">2012-12-20T17:35:38Z</dcterms:modified>
</cp:coreProperties>
</file>