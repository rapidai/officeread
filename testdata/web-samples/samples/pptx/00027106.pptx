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63" r:id="rId4"/>
    <p:sldId id="272" r:id="rId5"/>
    <p:sldId id="264" r:id="rId6"/>
    <p:sldId id="265" r:id="rId7"/>
    <p:sldId id="266" r:id="rId8"/>
    <p:sldId id="268" r:id="rId9"/>
    <p:sldId id="267" r:id="rId10"/>
    <p:sldId id="269" r:id="rId11"/>
    <p:sldId id="270" r:id="rId12"/>
    <p:sldId id="271" r:id="rId13"/>
    <p:sldId id="273" r:id="rId14"/>
    <p:sldId id="274" r:id="rId15"/>
    <p:sldId id="275" r:id="rId16"/>
    <p:sldId id="276" r:id="rId17"/>
    <p:sldId id="277" r:id="rId18"/>
    <p:sldId id="278" r:id="rId19"/>
    <p:sldId id="279" r:id="rId20"/>
    <p:sldId id="262" r:id="rId21"/>
    <p:sldId id="280" r:id="rId22"/>
    <p:sldId id="281" r:id="rId23"/>
    <p:sldId id="282" r:id="rId24"/>
    <p:sldId id="283" r:id="rId25"/>
    <p:sldId id="284" r:id="rId26"/>
    <p:sldId id="285" r:id="rId27"/>
    <p:sldId id="286"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p:scale>
          <a:sx n="64" d="100"/>
          <a:sy n="64" d="100"/>
        </p:scale>
        <p:origin x="-612" y="-12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422030" y="1371600"/>
            <a:ext cx="8229600" cy="1828800"/>
          </a:xfrm>
        </p:spPr>
        <p:txBody>
          <a:bodyPr vert="horz" lIns="45720" tIns="0" rIns="45720" bIns="0" anchor="b">
            <a:normAutofit/>
            <a:scene3d>
              <a:camera prst="orthographicFront"/>
              <a:lightRig rig="soft" dir="t">
                <a:rot lat="0" lon="0" rev="17220000"/>
              </a:lightRig>
            </a:scene3d>
            <a:sp3d prstMaterial="softEdge">
              <a:bevelT w="38100" h="38100"/>
            </a:sp3d>
          </a:bodyPr>
          <a:lstStyle>
            <a:lvl1pPr>
              <a:defRPr sz="48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kumimoji="0" lang="en-US" smtClean="0"/>
              <a:t>Click to edit Master title style</a:t>
            </a:r>
            <a:endParaRPr kumimoji="0" lang="en-US"/>
          </a:p>
        </p:txBody>
      </p:sp>
      <p:sp>
        <p:nvSpPr>
          <p:cNvPr id="28" name="Date Placeholder 27"/>
          <p:cNvSpPr>
            <a:spLocks noGrp="1"/>
          </p:cNvSpPr>
          <p:nvPr>
            <p:ph type="dt" sz="half" idx="10"/>
          </p:nvPr>
        </p:nvSpPr>
        <p:spPr/>
        <p:txBody>
          <a:bodyPr/>
          <a:lstStyle/>
          <a:p>
            <a:fld id="{72C5CB15-9DBF-49CD-B870-0A108D6939B5}" type="datetimeFigureOut">
              <a:rPr lang="en-US" smtClean="0"/>
              <a:pPr/>
              <a:t>9/16/2011</a:t>
            </a:fld>
            <a:endParaRPr lang="en-AU"/>
          </a:p>
        </p:txBody>
      </p:sp>
      <p:sp>
        <p:nvSpPr>
          <p:cNvPr id="17" name="Footer Placeholder 16"/>
          <p:cNvSpPr>
            <a:spLocks noGrp="1"/>
          </p:cNvSpPr>
          <p:nvPr>
            <p:ph type="ftr" sz="quarter" idx="11"/>
          </p:nvPr>
        </p:nvSpPr>
        <p:spPr/>
        <p:txBody>
          <a:bodyPr/>
          <a:lstStyle/>
          <a:p>
            <a:endParaRPr lang="en-AU"/>
          </a:p>
        </p:txBody>
      </p:sp>
      <p:sp>
        <p:nvSpPr>
          <p:cNvPr id="29" name="Slide Number Placeholder 28"/>
          <p:cNvSpPr>
            <a:spLocks noGrp="1"/>
          </p:cNvSpPr>
          <p:nvPr>
            <p:ph type="sldNum" sz="quarter" idx="12"/>
          </p:nvPr>
        </p:nvSpPr>
        <p:spPr/>
        <p:txBody>
          <a:bodyPr/>
          <a:lstStyle/>
          <a:p>
            <a:fld id="{7145F616-F1E4-4205-A07D-58A375A8F601}" type="slidenum">
              <a:rPr lang="en-AU" smtClean="0"/>
              <a:pPr/>
              <a:t>‹#›</a:t>
            </a:fld>
            <a:endParaRPr lang="en-AU"/>
          </a:p>
        </p:txBody>
      </p:sp>
      <p:sp>
        <p:nvSpPr>
          <p:cNvPr id="9" name="Subtitle 8"/>
          <p:cNvSpPr>
            <a:spLocks noGrp="1"/>
          </p:cNvSpPr>
          <p:nvPr>
            <p:ph type="subTitle" idx="1"/>
          </p:nvPr>
        </p:nvSpPr>
        <p:spPr>
          <a:xfrm>
            <a:off x="1371600" y="3331698"/>
            <a:ext cx="6400800" cy="1752600"/>
          </a:xfrm>
        </p:spPr>
        <p:txBody>
          <a:bodyPr/>
          <a:lstStyle>
            <a:lvl1pPr marL="0" indent="0" algn="ct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2C5CB15-9DBF-49CD-B870-0A108D6939B5}" type="datetimeFigureOut">
              <a:rPr lang="en-US" smtClean="0"/>
              <a:pPr/>
              <a:t>9/16/2011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145F616-F1E4-4205-A07D-58A375A8F601}" type="slidenum">
              <a:rPr lang="en-AU" smtClean="0"/>
              <a:pPr/>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00200" y="609600"/>
            <a:ext cx="7086600" cy="1828800"/>
          </a:xfrm>
        </p:spPr>
        <p:txBody>
          <a:bodyPr vert="horz"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a:spcBef>
                <a:spcPct val="0"/>
              </a:spcBef>
              <a:buNone/>
              <a:defRPr sz="4800" b="1"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1600200" y="2507786"/>
            <a:ext cx="7086600" cy="1509712"/>
          </a:xfrm>
        </p:spPr>
        <p:txBody>
          <a:bodyPr anchor="t"/>
          <a:lstStyle>
            <a:lvl1pPr marL="73152" indent="0" algn="l">
              <a:buNone/>
              <a:defRPr sz="20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72C5CB15-9DBF-49CD-B870-0A108D6939B5}" type="datetimeFigureOut">
              <a:rPr lang="en-US" smtClean="0"/>
              <a:pPr/>
              <a:t>9/16/2011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a:xfrm>
            <a:off x="7924800" y="6416675"/>
            <a:ext cx="762000" cy="365125"/>
          </a:xfrm>
        </p:spPr>
        <p:txBody>
          <a:bodyPr/>
          <a:lstStyle/>
          <a:p>
            <a:fld id="{7145F616-F1E4-4205-A07D-58A375A8F601}" type="slidenum">
              <a:rPr lang="en-AU" smtClean="0"/>
              <a:pPr/>
              <a:t>‹#›</a:t>
            </a:fld>
            <a:endParaRPr lang="en-AU"/>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2C5CB15-9DBF-49CD-B870-0A108D6939B5}" type="datetimeFigureOut">
              <a:rPr lang="en-US" smtClean="0"/>
              <a:pPr/>
              <a:t>9/16/2011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7145F616-F1E4-4205-A07D-58A375A8F601}" type="slidenum">
              <a:rPr lang="en-AU" smtClean="0"/>
              <a:pPr/>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535112"/>
            <a:ext cx="4040188"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535112"/>
            <a:ext cx="4041775"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362200"/>
            <a:ext cx="4040188"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362200"/>
            <a:ext cx="4041775"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72C5CB15-9DBF-49CD-B870-0A108D6939B5}" type="datetimeFigureOut">
              <a:rPr lang="en-US" smtClean="0"/>
              <a:pPr/>
              <a:t>9/16/2011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7145F616-F1E4-4205-A07D-58A375A8F601}" type="slidenum">
              <a:rPr lang="en-AU" smtClean="0"/>
              <a:pPr/>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72C5CB15-9DBF-49CD-B870-0A108D6939B5}" type="datetimeFigureOut">
              <a:rPr lang="en-US" smtClean="0"/>
              <a:pPr/>
              <a:t>9/16/2011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7145F616-F1E4-4205-A07D-58A375A8F601}" type="slidenum">
              <a:rPr lang="en-AU" smtClean="0"/>
              <a:pPr/>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C5CB15-9DBF-49CD-B870-0A108D6939B5}" type="datetimeFigureOut">
              <a:rPr lang="en-US" smtClean="0"/>
              <a:pPr/>
              <a:t>9/16/2011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7145F616-F1E4-4205-A07D-58A375A8F601}" type="slidenum">
              <a:rPr lang="en-AU" smtClean="0"/>
              <a:pPr/>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vert="horz" anchor="b">
            <a:normAutofit/>
            <a:sp3d prstMaterial="softEdge"/>
          </a:bodyPr>
          <a:lstStyle>
            <a:lvl1pPr algn="l">
              <a:buNone/>
              <a:defRPr sz="2200" b="0">
                <a:ln w="6350">
                  <a:noFill/>
                </a:ln>
                <a:solidFill>
                  <a:schemeClr val="accent1">
                    <a:tint val="73000"/>
                    <a:satMod val="180000"/>
                  </a:schemeClr>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524000"/>
            <a:ext cx="3008313" cy="4602163"/>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273050"/>
            <a:ext cx="5111750" cy="5853113"/>
          </a:xfrm>
        </p:spPr>
        <p:txBody>
          <a:bodyPr/>
          <a:lstStyle>
            <a:lvl1pPr>
              <a:defRPr sz="2600"/>
            </a:lvl1pPr>
            <a:lvl2pPr>
              <a:defRPr sz="2400"/>
            </a:lvl2pPr>
            <a:lvl3pPr>
              <a:defRPr sz="22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2C5CB15-9DBF-49CD-B870-0A108D6939B5}" type="datetimeFigureOut">
              <a:rPr lang="en-US" smtClean="0"/>
              <a:pPr/>
              <a:t>9/16/2011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7145F616-F1E4-4205-A07D-58A375A8F601}" type="slidenum">
              <a:rPr lang="en-AU" smtClean="0"/>
              <a:pPr/>
              <a:t>‹#›</a:t>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28800" y="609600"/>
            <a:ext cx="5486400" cy="522288"/>
          </a:xfrm>
        </p:spPr>
        <p:txBody>
          <a:bodyPr lIns="45720" rIns="45720" bIns="0" anchor="b">
            <a:sp3d prstMaterial="softEdge"/>
          </a:bodyPr>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828800" y="1831975"/>
            <a:ext cx="5486400" cy="3962400"/>
          </a:xfrm>
          <a:solidFill>
            <a:schemeClr val="bg2"/>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anchor="t"/>
          <a:lstStyle>
            <a:lvl1pPr indent="0">
              <a:buNone/>
              <a:defRPr sz="3200"/>
            </a:lvl1pPr>
          </a:lstStyle>
          <a:p>
            <a:pPr marL="0" algn="l" rtl="0" eaLnBrk="1" latinLnBrk="0" hangingPunct="1"/>
            <a:r>
              <a:rPr kumimoji="0" lang="en-US" smtClean="0">
                <a:solidFill>
                  <a:schemeClr val="lt1"/>
                </a:solidFill>
                <a:latin typeface="+mn-lt"/>
                <a:ea typeface="+mn-ea"/>
                <a:cs typeface="+mn-cs"/>
              </a:rPr>
              <a:t>Click icon to add picture</a:t>
            </a:r>
            <a:endParaRPr kumimoji="0" lang="en-US" dirty="0">
              <a:solidFill>
                <a:schemeClr val="lt1"/>
              </a:solidFill>
              <a:latin typeface="+mn-lt"/>
              <a:ea typeface="+mn-ea"/>
              <a:cs typeface="+mn-cs"/>
            </a:endParaRPr>
          </a:p>
        </p:txBody>
      </p:sp>
      <p:sp>
        <p:nvSpPr>
          <p:cNvPr id="4" name="Text Placeholder 3"/>
          <p:cNvSpPr>
            <a:spLocks noGrp="1"/>
          </p:cNvSpPr>
          <p:nvPr>
            <p:ph type="body" sz="half" idx="2"/>
          </p:nvPr>
        </p:nvSpPr>
        <p:spPr>
          <a:xfrm>
            <a:off x="1828800" y="1166787"/>
            <a:ext cx="5486400" cy="530352"/>
          </a:xfrm>
        </p:spPr>
        <p:txBody>
          <a:bodyPr lIns="45720" tIns="45720" rIns="45720" anchor="t"/>
          <a:lstStyle>
            <a:lvl1pPr marL="0" indent="0" algn="ctr">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72C5CB15-9DBF-49CD-B870-0A108D6939B5}" type="datetimeFigureOut">
              <a:rPr lang="en-US" smtClean="0"/>
              <a:pPr/>
              <a:t>9/16/2011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7145F616-F1E4-4205-A07D-58A375A8F601}" type="slidenum">
              <a:rPr lang="en-AU" smtClean="0"/>
              <a:pPr/>
              <a:t>‹#›</a:t>
            </a:fld>
            <a:endParaRPr lang="en-A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2C5CB15-9DBF-49CD-B870-0A108D6939B5}" type="datetimeFigureOut">
              <a:rPr lang="en-US" smtClean="0"/>
              <a:pPr/>
              <a:t>9/16/2011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145F616-F1E4-4205-A07D-58A375A8F601}" type="slidenum">
              <a:rPr lang="en-AU" smtClean="0"/>
              <a:pPr/>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2C5CB15-9DBF-49CD-B870-0A108D6939B5}" type="datetimeFigureOut">
              <a:rPr lang="en-US" smtClean="0"/>
              <a:pPr/>
              <a:t>9/16/2011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145F616-F1E4-4205-A07D-58A375A8F601}" type="slidenum">
              <a:rPr lang="en-AU" smtClean="0"/>
              <a:pPr/>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rot lat="0" lon="0" rev="16800000"/>
              </a:lightRig>
            </a:scene3d>
            <a:sp3d prstMaterial="softEdge">
              <a:bevelT w="38100" h="38100"/>
            </a:sp3d>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8229600" cy="470916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457200" y="6416675"/>
            <a:ext cx="2133600" cy="365125"/>
          </a:xfrm>
          <a:prstGeom prst="rect">
            <a:avLst/>
          </a:prstGeom>
        </p:spPr>
        <p:txBody>
          <a:bodyPr vert="horz" anchor="b"/>
          <a:lstStyle>
            <a:lvl1pPr algn="l" eaLnBrk="1" latinLnBrk="0" hangingPunct="1">
              <a:defRPr kumimoji="0" sz="1200">
                <a:solidFill>
                  <a:schemeClr val="tx1">
                    <a:shade val="50000"/>
                  </a:schemeClr>
                </a:solidFill>
              </a:defRPr>
            </a:lvl1pPr>
          </a:lstStyle>
          <a:p>
            <a:fld id="{72C5CB15-9DBF-49CD-B870-0A108D6939B5}" type="datetimeFigureOut">
              <a:rPr lang="en-US" smtClean="0"/>
              <a:pPr/>
              <a:t>9/16/2011</a:t>
            </a:fld>
            <a:endParaRPr lang="en-AU"/>
          </a:p>
        </p:txBody>
      </p:sp>
      <p:sp>
        <p:nvSpPr>
          <p:cNvPr id="3" name="Footer Placeholder 2"/>
          <p:cNvSpPr>
            <a:spLocks noGrp="1"/>
          </p:cNvSpPr>
          <p:nvPr>
            <p:ph type="ftr" sz="quarter" idx="3"/>
          </p:nvPr>
        </p:nvSpPr>
        <p:spPr>
          <a:xfrm>
            <a:off x="3124200" y="6416675"/>
            <a:ext cx="2895600" cy="365125"/>
          </a:xfrm>
          <a:prstGeom prst="rect">
            <a:avLst/>
          </a:prstGeom>
        </p:spPr>
        <p:txBody>
          <a:bodyPr vert="horz" anchor="b"/>
          <a:lstStyle>
            <a:lvl1pPr algn="ctr" eaLnBrk="1" latinLnBrk="0" hangingPunct="1">
              <a:defRPr kumimoji="0" sz="1200">
                <a:solidFill>
                  <a:schemeClr val="tx1">
                    <a:shade val="50000"/>
                  </a:schemeClr>
                </a:solidFill>
              </a:defRPr>
            </a:lvl1pPr>
          </a:lstStyle>
          <a:p>
            <a:endParaRPr lang="en-AU"/>
          </a:p>
        </p:txBody>
      </p:sp>
      <p:sp>
        <p:nvSpPr>
          <p:cNvPr id="23" name="Slide Number Placeholder 22"/>
          <p:cNvSpPr>
            <a:spLocks noGrp="1"/>
          </p:cNvSpPr>
          <p:nvPr>
            <p:ph type="sldNum" sz="quarter" idx="4"/>
          </p:nvPr>
        </p:nvSpPr>
        <p:spPr>
          <a:xfrm>
            <a:off x="7924800" y="6416675"/>
            <a:ext cx="762000" cy="365125"/>
          </a:xfrm>
          <a:prstGeom prst="rect">
            <a:avLst/>
          </a:prstGeom>
        </p:spPr>
        <p:txBody>
          <a:bodyPr vert="horz" lIns="0" rIns="0" anchor="b"/>
          <a:lstStyle>
            <a:lvl1pPr algn="r" eaLnBrk="1" latinLnBrk="0" hangingPunct="1">
              <a:defRPr kumimoji="0" sz="1200">
                <a:solidFill>
                  <a:schemeClr val="tx1">
                    <a:shade val="50000"/>
                  </a:schemeClr>
                </a:solidFill>
              </a:defRPr>
            </a:lvl1pPr>
          </a:lstStyle>
          <a:p>
            <a:fld id="{7145F616-F1E4-4205-A07D-58A375A8F601}" type="slidenum">
              <a:rPr lang="en-AU" smtClean="0"/>
              <a:pPr/>
              <a:t>‹#›</a:t>
            </a:fld>
            <a:endParaRPr lang="en-AU"/>
          </a:p>
        </p:txBody>
      </p:sp>
    </p:spTree>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1" latinLnBrk="0" hangingPunct="1">
        <a:spcBef>
          <a:spcPct val="0"/>
        </a:spcBef>
        <a:buNone/>
        <a:defRPr kumimoji="0" sz="4100" b="1" kern="1200" cap="none"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defRPr>
      </a:lvl1pPr>
    </p:titleStyle>
    <p:bodyStyle>
      <a:lvl1pPr marL="548640" indent="-411480"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2030" y="285728"/>
            <a:ext cx="8229600" cy="3000396"/>
          </a:xfrm>
        </p:spPr>
        <p:txBody>
          <a:bodyPr>
            <a:normAutofit fontScale="90000"/>
          </a:bodyPr>
          <a:lstStyle/>
          <a:p>
            <a:r>
              <a:rPr lang="en-AU" dirty="0" smtClean="0"/>
              <a:t>The Australian Gothic: </a:t>
            </a:r>
            <a:r>
              <a:rPr lang="en-AU" dirty="0" smtClean="0"/>
              <a:t>Reading Sonya </a:t>
            </a:r>
            <a:r>
              <a:rPr lang="en-AU" dirty="0" smtClean="0"/>
              <a:t>Hartnett’s </a:t>
            </a:r>
            <a:r>
              <a:rPr lang="en-AU" i="1" dirty="0" smtClean="0"/>
              <a:t>Surrender</a:t>
            </a:r>
            <a:r>
              <a:rPr lang="en-AU" dirty="0" smtClean="0"/>
              <a:t/>
            </a:r>
            <a:br>
              <a:rPr lang="en-AU" dirty="0" smtClean="0"/>
            </a:br>
            <a:r>
              <a:rPr lang="en-AU" dirty="0" smtClean="0"/>
              <a:t/>
            </a:r>
            <a:br>
              <a:rPr lang="en-AU" dirty="0" smtClean="0"/>
            </a:br>
            <a:r>
              <a:rPr lang="en-AU" sz="2700" dirty="0" err="1" smtClean="0"/>
              <a:t>dr</a:t>
            </a:r>
            <a:r>
              <a:rPr lang="en-AU" sz="2700" dirty="0" smtClean="0"/>
              <a:t> Natalie Kon-yu</a:t>
            </a:r>
            <a:endParaRPr lang="en-AU" sz="2700" dirty="0"/>
          </a:p>
        </p:txBody>
      </p:sp>
      <p:sp>
        <p:nvSpPr>
          <p:cNvPr id="3" name="Subtitle 2"/>
          <p:cNvSpPr>
            <a:spLocks noGrp="1"/>
          </p:cNvSpPr>
          <p:nvPr>
            <p:ph type="subTitle" idx="1"/>
          </p:nvPr>
        </p:nvSpPr>
        <p:spPr>
          <a:xfrm>
            <a:off x="1371600" y="4572008"/>
            <a:ext cx="6400800" cy="1714512"/>
          </a:xfrm>
        </p:spPr>
        <p:txBody>
          <a:bodyPr>
            <a:normAutofit/>
          </a:bodyPr>
          <a:lstStyle/>
          <a:p>
            <a:r>
              <a:rPr lang="en-AU" sz="4000" dirty="0" smtClean="0"/>
              <a:t>ACL2009</a:t>
            </a:r>
          </a:p>
          <a:p>
            <a:r>
              <a:rPr lang="en-AU" sz="4000" dirty="0" smtClean="0"/>
              <a:t>Australian Literature</a:t>
            </a:r>
            <a:endParaRPr lang="en-AU"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00200" y="609600"/>
            <a:ext cx="7086600" cy="962012"/>
          </a:xfrm>
        </p:spPr>
        <p:txBody>
          <a:bodyPr/>
          <a:lstStyle/>
          <a:p>
            <a:r>
              <a:rPr lang="en-AU" dirty="0" smtClean="0"/>
              <a:t>Lecture Overview</a:t>
            </a:r>
            <a:endParaRPr lang="en-AU" dirty="0"/>
          </a:p>
        </p:txBody>
      </p:sp>
      <p:sp>
        <p:nvSpPr>
          <p:cNvPr id="2" name="Text Placeholder 1"/>
          <p:cNvSpPr>
            <a:spLocks noGrp="1"/>
          </p:cNvSpPr>
          <p:nvPr>
            <p:ph type="body" idx="1"/>
          </p:nvPr>
        </p:nvSpPr>
        <p:spPr>
          <a:xfrm>
            <a:off x="706902" y="1351672"/>
            <a:ext cx="5718048" cy="5149162"/>
          </a:xfrm>
        </p:spPr>
        <p:txBody>
          <a:bodyPr>
            <a:normAutofit/>
          </a:bodyPr>
          <a:lstStyle/>
          <a:p>
            <a:endParaRPr lang="en-AU" sz="2800" dirty="0" smtClean="0"/>
          </a:p>
          <a:p>
            <a:r>
              <a:rPr lang="en-AU" sz="2800" dirty="0" smtClean="0"/>
              <a:t>Gothic Fiction</a:t>
            </a:r>
          </a:p>
          <a:p>
            <a:endParaRPr lang="en-AU" sz="2800" dirty="0" smtClean="0"/>
          </a:p>
          <a:p>
            <a:r>
              <a:rPr lang="en-AU" sz="2800" dirty="0" smtClean="0"/>
              <a:t>Australian Gothic Fiction</a:t>
            </a:r>
          </a:p>
          <a:p>
            <a:endParaRPr lang="en-AU" sz="2800" dirty="0" smtClean="0"/>
          </a:p>
          <a:p>
            <a:r>
              <a:rPr lang="en-AU" sz="2800" dirty="0" smtClean="0"/>
              <a:t>‘Cold Snap’ Cate Kennedy</a:t>
            </a:r>
          </a:p>
          <a:p>
            <a:endParaRPr lang="en-AU" sz="2800" i="1" dirty="0" smtClean="0"/>
          </a:p>
          <a:p>
            <a:r>
              <a:rPr lang="en-AU" sz="2800" i="1" dirty="0" smtClean="0"/>
              <a:t>Surrender  </a:t>
            </a:r>
            <a:r>
              <a:rPr lang="en-AU" sz="2800" dirty="0" smtClean="0"/>
              <a:t>Sonya Hartnett</a:t>
            </a:r>
            <a:endParaRPr lang="en-AU" sz="2800" i="1" dirty="0" smtClean="0"/>
          </a:p>
          <a:p>
            <a:endParaRPr lang="en-AU" sz="2800" i="1" dirty="0" smtClean="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Defining Gothic Fiction</a:t>
            </a:r>
            <a:endParaRPr lang="en-AU" dirty="0"/>
          </a:p>
        </p:txBody>
      </p:sp>
      <p:sp>
        <p:nvSpPr>
          <p:cNvPr id="3" name="Content Placeholder 2"/>
          <p:cNvSpPr>
            <a:spLocks noGrp="1"/>
          </p:cNvSpPr>
          <p:nvPr>
            <p:ph idx="1"/>
          </p:nvPr>
        </p:nvSpPr>
        <p:spPr>
          <a:xfrm>
            <a:off x="914400" y="1214422"/>
            <a:ext cx="7772400" cy="5357850"/>
          </a:xfrm>
        </p:spPr>
        <p:txBody>
          <a:bodyPr>
            <a:normAutofit/>
          </a:bodyPr>
          <a:lstStyle/>
          <a:p>
            <a:pPr lvl="1" fontAlgn="auto">
              <a:lnSpc>
                <a:spcPct val="80000"/>
              </a:lnSpc>
              <a:spcAft>
                <a:spcPts val="0"/>
              </a:spcAft>
              <a:buFont typeface="Arial" pitchFamily="34" charset="0"/>
              <a:buChar char="–"/>
              <a:defRPr/>
            </a:pPr>
            <a:endParaRPr lang="en-US" sz="2400" dirty="0" smtClean="0">
              <a:solidFill>
                <a:srgbClr val="FF0000"/>
              </a:solidFill>
            </a:endParaRPr>
          </a:p>
          <a:p>
            <a:pPr lvl="1" fontAlgn="auto">
              <a:lnSpc>
                <a:spcPct val="80000"/>
              </a:lnSpc>
              <a:spcAft>
                <a:spcPts val="0"/>
              </a:spcAft>
              <a:buFont typeface="Wingdings" pitchFamily="2" charset="2"/>
              <a:buChar char="v"/>
              <a:defRPr/>
            </a:pPr>
            <a:r>
              <a:rPr lang="en-AU" sz="2400" dirty="0" smtClean="0"/>
              <a:t>‘The </a:t>
            </a:r>
            <a:r>
              <a:rPr lang="en-AU" sz="2400" dirty="0" smtClean="0"/>
              <a:t>Gothic had developed as a popular narrative form in Britain towards the end of the 18</a:t>
            </a:r>
            <a:r>
              <a:rPr lang="en-AU" sz="2400" baseline="30000" dirty="0" smtClean="0"/>
              <a:t>th</a:t>
            </a:r>
            <a:r>
              <a:rPr lang="en-AU" sz="2400" dirty="0" smtClean="0"/>
              <a:t> Century, specialising in an intense blend of the supernatural, family romance and gloomy atmospherics</a:t>
            </a:r>
            <a:r>
              <a:rPr lang="en-AU" sz="2400" dirty="0" smtClean="0"/>
              <a:t>.’ </a:t>
            </a:r>
            <a:r>
              <a:rPr lang="en-AU" sz="2400" dirty="0" smtClean="0"/>
              <a:t>(</a:t>
            </a:r>
            <a:r>
              <a:rPr lang="en-AU" sz="2400" dirty="0" err="1" smtClean="0"/>
              <a:t>Gelder</a:t>
            </a:r>
            <a:r>
              <a:rPr lang="en-AU" sz="2400" dirty="0" smtClean="0"/>
              <a:t> and Weaver, 2007, p.3)</a:t>
            </a:r>
          </a:p>
          <a:p>
            <a:pPr lvl="1" fontAlgn="auto">
              <a:lnSpc>
                <a:spcPct val="80000"/>
              </a:lnSpc>
              <a:spcAft>
                <a:spcPts val="0"/>
              </a:spcAft>
              <a:buFont typeface="Wingdings" pitchFamily="2" charset="2"/>
              <a:buChar char="v"/>
              <a:defRPr/>
            </a:pPr>
            <a:endParaRPr lang="en-AU" dirty="0" smtClean="0"/>
          </a:p>
          <a:p>
            <a:pPr lvl="1" fontAlgn="auto">
              <a:lnSpc>
                <a:spcPct val="80000"/>
              </a:lnSpc>
              <a:spcAft>
                <a:spcPts val="0"/>
              </a:spcAft>
              <a:buFont typeface="Wingdings" pitchFamily="2" charset="2"/>
              <a:buChar char="v"/>
              <a:defRPr/>
            </a:pPr>
            <a:endParaRPr lang="en-AU" dirty="0" smtClean="0"/>
          </a:p>
          <a:p>
            <a:pPr lvl="1" fontAlgn="auto">
              <a:lnSpc>
                <a:spcPct val="80000"/>
              </a:lnSpc>
              <a:spcAft>
                <a:spcPts val="0"/>
              </a:spcAft>
              <a:buFont typeface="Wingdings" pitchFamily="2" charset="2"/>
              <a:buChar char="v"/>
              <a:defRPr/>
            </a:pPr>
            <a:r>
              <a:rPr lang="en-AU" dirty="0" smtClean="0"/>
              <a:t>Gothic texts include </a:t>
            </a:r>
            <a:r>
              <a:rPr lang="en-AU" i="1" dirty="0" smtClean="0"/>
              <a:t>The Red Death </a:t>
            </a:r>
            <a:r>
              <a:rPr lang="en-AU" dirty="0" smtClean="0"/>
              <a:t> and </a:t>
            </a:r>
            <a:r>
              <a:rPr lang="en-AU" i="1" dirty="0" smtClean="0"/>
              <a:t>The Fall of the House of Usher </a:t>
            </a:r>
            <a:r>
              <a:rPr lang="en-AU" dirty="0" smtClean="0"/>
              <a:t>(Edgar Allen Poe); </a:t>
            </a:r>
            <a:r>
              <a:rPr lang="en-AU" i="1" dirty="0" smtClean="0"/>
              <a:t>Frankenstein</a:t>
            </a:r>
            <a:r>
              <a:rPr lang="en-AU" dirty="0" smtClean="0"/>
              <a:t> (Mary Shelley) and </a:t>
            </a:r>
            <a:r>
              <a:rPr lang="en-AU" i="1" dirty="0" smtClean="0"/>
              <a:t>Dracula </a:t>
            </a:r>
            <a:r>
              <a:rPr lang="en-AU" dirty="0" smtClean="0"/>
              <a:t>(Bram Stoker) – though of course </a:t>
            </a:r>
            <a:r>
              <a:rPr lang="en-AU" i="1" dirty="0" smtClean="0"/>
              <a:t>Dracula </a:t>
            </a:r>
            <a:r>
              <a:rPr lang="en-AU" dirty="0" smtClean="0"/>
              <a:t>can also be cast as Vampire Fiction.</a:t>
            </a:r>
          </a:p>
          <a:p>
            <a:pPr lvl="1" fontAlgn="auto">
              <a:lnSpc>
                <a:spcPct val="80000"/>
              </a:lnSpc>
              <a:spcAft>
                <a:spcPts val="0"/>
              </a:spcAft>
              <a:buFont typeface="Wingdings" pitchFamily="2" charset="2"/>
              <a:buChar char="v"/>
              <a:defRPr/>
            </a:pPr>
            <a:endParaRPr lang="en-AU" dirty="0" smtClean="0"/>
          </a:p>
          <a:p>
            <a:pPr lvl="1" fontAlgn="auto">
              <a:lnSpc>
                <a:spcPct val="80000"/>
              </a:lnSpc>
              <a:spcAft>
                <a:spcPts val="0"/>
              </a:spcAft>
              <a:buFont typeface="Wingdings" pitchFamily="2" charset="2"/>
              <a:buChar char="v"/>
              <a:defRPr/>
            </a:pPr>
            <a:r>
              <a:rPr lang="en-AU" dirty="0" smtClean="0"/>
              <a:t>Can anyone think of any other Gothic texts?</a:t>
            </a:r>
          </a:p>
          <a:p>
            <a:pPr lvl="1" fontAlgn="auto">
              <a:lnSpc>
                <a:spcPct val="80000"/>
              </a:lnSpc>
              <a:spcAft>
                <a:spcPts val="0"/>
              </a:spcAft>
              <a:buFont typeface="Wingdings" pitchFamily="2" charset="2"/>
              <a:buChar char="v"/>
              <a:defRPr/>
            </a:pPr>
            <a:endParaRPr lang="en-AU" sz="2400" dirty="0" smtClean="0"/>
          </a:p>
          <a:p>
            <a:endParaRPr lang="en-AU"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Characteristics of Gothic Fiction</a:t>
            </a:r>
            <a:endParaRPr lang="en-AU" dirty="0"/>
          </a:p>
        </p:txBody>
      </p:sp>
      <p:sp>
        <p:nvSpPr>
          <p:cNvPr id="3" name="Content Placeholder 2"/>
          <p:cNvSpPr>
            <a:spLocks noGrp="1"/>
          </p:cNvSpPr>
          <p:nvPr>
            <p:ph idx="1"/>
          </p:nvPr>
        </p:nvSpPr>
        <p:spPr/>
        <p:txBody>
          <a:bodyPr>
            <a:normAutofit fontScale="92500" lnSpcReduction="10000"/>
          </a:bodyPr>
          <a:lstStyle/>
          <a:p>
            <a:pPr>
              <a:buFont typeface="Wingdings" pitchFamily="2" charset="2"/>
              <a:buChar char="v"/>
            </a:pPr>
            <a:r>
              <a:rPr lang="en-AU" dirty="0" smtClean="0"/>
              <a:t>Dark settings, often rural.</a:t>
            </a:r>
          </a:p>
          <a:p>
            <a:pPr>
              <a:buFont typeface="Wingdings" pitchFamily="2" charset="2"/>
              <a:buChar char="v"/>
            </a:pPr>
            <a:endParaRPr lang="en-AU" dirty="0" smtClean="0"/>
          </a:p>
          <a:p>
            <a:pPr>
              <a:buFont typeface="Wingdings" pitchFamily="2" charset="2"/>
              <a:buChar char="v"/>
            </a:pPr>
            <a:r>
              <a:rPr lang="en-AU" dirty="0" smtClean="0"/>
              <a:t>Crumbling buildings – castles and ruined abbeys to signify a falling aristocracy</a:t>
            </a:r>
          </a:p>
          <a:p>
            <a:pPr>
              <a:buFont typeface="Wingdings" pitchFamily="2" charset="2"/>
              <a:buChar char="v"/>
            </a:pPr>
            <a:endParaRPr lang="en-AU" dirty="0" smtClean="0"/>
          </a:p>
          <a:p>
            <a:pPr>
              <a:buFont typeface="Wingdings" pitchFamily="2" charset="2"/>
              <a:buChar char="v"/>
            </a:pPr>
            <a:r>
              <a:rPr lang="en-AU" dirty="0" smtClean="0"/>
              <a:t>The creation of Monsters – Frankenstein and Dracula</a:t>
            </a:r>
          </a:p>
          <a:p>
            <a:pPr>
              <a:buFont typeface="Wingdings" pitchFamily="2" charset="2"/>
              <a:buChar char="v"/>
            </a:pPr>
            <a:endParaRPr lang="en-AU" dirty="0" smtClean="0"/>
          </a:p>
          <a:p>
            <a:pPr>
              <a:lnSpc>
                <a:spcPct val="90000"/>
              </a:lnSpc>
              <a:buFont typeface="Wingdings" pitchFamily="2" charset="2"/>
              <a:buChar char="v"/>
            </a:pPr>
            <a:r>
              <a:rPr lang="en-US" dirty="0" smtClean="0"/>
              <a:t>The creation of doubles – As </a:t>
            </a:r>
            <a:r>
              <a:rPr lang="en-US" dirty="0" err="1" smtClean="0"/>
              <a:t>Monleon</a:t>
            </a:r>
            <a:r>
              <a:rPr lang="en-US" dirty="0" smtClean="0"/>
              <a:t> writes  ‘The monsters were possible, because we were the monsters’ ( p.24)</a:t>
            </a:r>
            <a:endParaRPr lang="en-AU"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Defining Gothic Fiction</a:t>
            </a:r>
            <a:endParaRPr lang="en-AU" dirty="0"/>
          </a:p>
        </p:txBody>
      </p:sp>
      <p:sp>
        <p:nvSpPr>
          <p:cNvPr id="3" name="Content Placeholder 2"/>
          <p:cNvSpPr>
            <a:spLocks noGrp="1"/>
          </p:cNvSpPr>
          <p:nvPr>
            <p:ph idx="1"/>
          </p:nvPr>
        </p:nvSpPr>
        <p:spPr/>
        <p:txBody>
          <a:bodyPr>
            <a:normAutofit lnSpcReduction="10000"/>
          </a:bodyPr>
          <a:lstStyle/>
          <a:p>
            <a:pPr marL="442913" lvl="1" indent="-47625">
              <a:lnSpc>
                <a:spcPct val="80000"/>
              </a:lnSpc>
              <a:buFont typeface="Wingdings" pitchFamily="2" charset="2"/>
              <a:buChar char="v"/>
              <a:tabLst>
                <a:tab pos="633413" algn="l"/>
              </a:tabLst>
              <a:defRPr/>
            </a:pPr>
            <a:endParaRPr lang="en-AU" dirty="0" smtClean="0"/>
          </a:p>
          <a:p>
            <a:pPr marL="722313" lvl="1" indent="-546100">
              <a:lnSpc>
                <a:spcPct val="80000"/>
              </a:lnSpc>
              <a:buFont typeface="Wingdings" pitchFamily="2" charset="2"/>
              <a:buChar char="v"/>
              <a:tabLst>
                <a:tab pos="633413" algn="l"/>
              </a:tabLst>
              <a:defRPr/>
            </a:pPr>
            <a:r>
              <a:rPr lang="en-AU" dirty="0" smtClean="0"/>
              <a:t>As you can see, there are connections between Gothic </a:t>
            </a:r>
          </a:p>
          <a:p>
            <a:pPr marL="442913" lvl="1" indent="0">
              <a:lnSpc>
                <a:spcPct val="80000"/>
              </a:lnSpc>
              <a:buNone/>
              <a:tabLst>
                <a:tab pos="633413" algn="l"/>
              </a:tabLst>
              <a:defRPr/>
            </a:pPr>
            <a:r>
              <a:rPr lang="en-AU" dirty="0" smtClean="0"/>
              <a:t>	Fiction and Romanticism.  Both attempt to reject 	reason for a deeper emotional state .  For the 	Romantics, this was called ‘The Sublime’; Gothic 	fiction on the other hand wanted to unsettle readers by 	using fear.</a:t>
            </a:r>
          </a:p>
          <a:p>
            <a:pPr marL="442913" lvl="1" indent="-47625">
              <a:lnSpc>
                <a:spcPct val="80000"/>
              </a:lnSpc>
              <a:buNone/>
              <a:tabLst>
                <a:tab pos="633413" algn="l"/>
              </a:tabLst>
              <a:defRPr/>
            </a:pPr>
            <a:r>
              <a:rPr lang="en-AU" dirty="0" smtClean="0"/>
              <a:t>		</a:t>
            </a:r>
          </a:p>
          <a:p>
            <a:pPr>
              <a:buFont typeface="Wingdings" pitchFamily="2" charset="2"/>
              <a:buChar char="v"/>
            </a:pPr>
            <a:r>
              <a:rPr lang="en-AU" dirty="0" smtClean="0"/>
              <a:t>‘</a:t>
            </a:r>
            <a:r>
              <a:rPr lang="en-AU" sz="2400" dirty="0" smtClean="0"/>
              <a:t>The dream of reason, definitely produced  monsters ... The new industrial age created it’s own negation.  Marx and </a:t>
            </a:r>
            <a:r>
              <a:rPr lang="en-AU" sz="2400" dirty="0" err="1" smtClean="0"/>
              <a:t>Engels</a:t>
            </a:r>
            <a:r>
              <a:rPr lang="en-AU" sz="2400" dirty="0" smtClean="0"/>
              <a:t> developed an entire political program from this premise, elaborating on the material conditions as  well as  on the imagery of contradiction’ (</a:t>
            </a:r>
            <a:r>
              <a:rPr lang="en-AU" sz="2400" dirty="0" err="1" smtClean="0"/>
              <a:t>Monleon</a:t>
            </a:r>
            <a:r>
              <a:rPr lang="en-AU" sz="2400" dirty="0" smtClean="0"/>
              <a:t>, p22).</a:t>
            </a:r>
            <a:endParaRPr lang="en-AU"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The Gothic and Class</a:t>
            </a:r>
            <a:endParaRPr lang="en-AU" dirty="0"/>
          </a:p>
        </p:txBody>
      </p:sp>
      <p:sp>
        <p:nvSpPr>
          <p:cNvPr id="3" name="Content Placeholder 2"/>
          <p:cNvSpPr>
            <a:spLocks noGrp="1"/>
          </p:cNvSpPr>
          <p:nvPr>
            <p:ph idx="1"/>
          </p:nvPr>
        </p:nvSpPr>
        <p:spPr>
          <a:xfrm>
            <a:off x="457200" y="1600200"/>
            <a:ext cx="8229600" cy="5043510"/>
          </a:xfrm>
        </p:spPr>
        <p:txBody>
          <a:bodyPr>
            <a:normAutofit fontScale="85000" lnSpcReduction="10000"/>
          </a:bodyPr>
          <a:lstStyle/>
          <a:p>
            <a:pPr>
              <a:buFont typeface="Wingdings" pitchFamily="2" charset="2"/>
              <a:buChar char="v"/>
            </a:pPr>
            <a:r>
              <a:rPr lang="en-AU" dirty="0" smtClean="0"/>
              <a:t>Marx and </a:t>
            </a:r>
            <a:r>
              <a:rPr lang="en-AU" dirty="0" err="1" smtClean="0"/>
              <a:t>Engels</a:t>
            </a:r>
            <a:r>
              <a:rPr lang="en-AU" dirty="0" smtClean="0"/>
              <a:t> write that:</a:t>
            </a:r>
          </a:p>
          <a:p>
            <a:pPr>
              <a:buFont typeface="Wingdings" pitchFamily="2" charset="2"/>
              <a:buChar char="v"/>
            </a:pPr>
            <a:r>
              <a:rPr lang="en-AU" dirty="0" smtClean="0"/>
              <a:t>‘The development of Modern Industry, therefore, cuts from under its feet the very foundation on which the bourgeoisie produces and appropriates products.  What the bourgeoisie, therefore, produces, above all, is its own grave-diggers’ (1968, p.46)</a:t>
            </a:r>
          </a:p>
          <a:p>
            <a:pPr>
              <a:buFont typeface="Wingdings" pitchFamily="2" charset="2"/>
              <a:buChar char="v"/>
            </a:pPr>
            <a:endParaRPr lang="en-AU" dirty="0" smtClean="0"/>
          </a:p>
          <a:p>
            <a:pPr>
              <a:buFont typeface="Wingdings" pitchFamily="2" charset="2"/>
              <a:buChar char="v"/>
            </a:pPr>
            <a:r>
              <a:rPr lang="en-AU" dirty="0" smtClean="0"/>
              <a:t>We can read here that the Gothic is a reaction to the Industrial Revolution, particularly, the division of rich and poor which becomes particularly evident in the city. </a:t>
            </a:r>
            <a:r>
              <a:rPr lang="en-US" dirty="0" err="1" smtClean="0"/>
              <a:t>Monleon</a:t>
            </a:r>
            <a:r>
              <a:rPr lang="en-US" dirty="0" smtClean="0"/>
              <a:t> suggests that horror and other dark fiction expressed a middle-class fear of the rising power of the poor working classes</a:t>
            </a:r>
            <a:endParaRPr lang="en-AU"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39784"/>
          </a:xfrm>
        </p:spPr>
        <p:txBody>
          <a:bodyPr/>
          <a:lstStyle/>
          <a:p>
            <a:r>
              <a:rPr lang="en-AU" dirty="0" smtClean="0"/>
              <a:t>The Gothic and the City</a:t>
            </a:r>
            <a:endParaRPr lang="en-AU" dirty="0"/>
          </a:p>
        </p:txBody>
      </p:sp>
      <p:sp>
        <p:nvSpPr>
          <p:cNvPr id="3" name="Content Placeholder 2"/>
          <p:cNvSpPr>
            <a:spLocks noGrp="1"/>
          </p:cNvSpPr>
          <p:nvPr>
            <p:ph idx="1"/>
          </p:nvPr>
        </p:nvSpPr>
        <p:spPr>
          <a:xfrm>
            <a:off x="214282" y="1357298"/>
            <a:ext cx="8715436" cy="5214974"/>
          </a:xfrm>
        </p:spPr>
        <p:txBody>
          <a:bodyPr/>
          <a:lstStyle/>
          <a:p>
            <a:pPr>
              <a:buNone/>
            </a:pPr>
            <a:r>
              <a:rPr lang="en-AU" dirty="0" smtClean="0"/>
              <a:t>	As I’ve mentioned, Gothic writing, was in part, a reaction to the Industrial revolution</a:t>
            </a:r>
          </a:p>
          <a:p>
            <a:pPr>
              <a:buFont typeface="Wingdings" pitchFamily="2" charset="2"/>
              <a:buChar char="v"/>
            </a:pPr>
            <a:r>
              <a:rPr lang="en-AU" dirty="0" smtClean="0"/>
              <a:t>The move from country to city</a:t>
            </a:r>
          </a:p>
          <a:p>
            <a:pPr>
              <a:buFont typeface="Wingdings" pitchFamily="2" charset="2"/>
              <a:buChar char="v"/>
            </a:pPr>
            <a:r>
              <a:rPr lang="en-AU" dirty="0" smtClean="0"/>
              <a:t>The emergence of a working class</a:t>
            </a:r>
          </a:p>
          <a:p>
            <a:pPr>
              <a:buFont typeface="Wingdings" pitchFamily="2" charset="2"/>
              <a:buChar char="v"/>
            </a:pPr>
            <a:r>
              <a:rPr lang="en-AU" dirty="0" smtClean="0"/>
              <a:t>The visible difference between classes of British society.</a:t>
            </a:r>
          </a:p>
          <a:p>
            <a:pPr>
              <a:buFont typeface="Wingdings" pitchFamily="2" charset="2"/>
              <a:buChar char="v"/>
            </a:pPr>
            <a:r>
              <a:rPr lang="en-AU" dirty="0" smtClean="0"/>
              <a:t>As you would remember from Poetry and Poetics, many writers used harsh language to portray London’s city scape in the late 18</a:t>
            </a:r>
            <a:r>
              <a:rPr lang="en-AU" baseline="30000" dirty="0" smtClean="0"/>
              <a:t>th</a:t>
            </a:r>
            <a:r>
              <a:rPr lang="en-AU" dirty="0" smtClean="0"/>
              <a:t> and early 19</a:t>
            </a:r>
            <a:r>
              <a:rPr lang="en-AU" baseline="30000" dirty="0" smtClean="0"/>
              <a:t>th</a:t>
            </a:r>
            <a:r>
              <a:rPr lang="en-AU" dirty="0" smtClean="0"/>
              <a:t> Centuries.  </a:t>
            </a:r>
            <a:endParaRPr lang="en-AU"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Frankenstein 2.jpg"/>
          <p:cNvPicPr>
            <a:picLocks noGrp="1" noChangeAspect="1"/>
          </p:cNvPicPr>
          <p:nvPr>
            <p:ph idx="1"/>
          </p:nvPr>
        </p:nvPicPr>
        <p:blipFill>
          <a:blip r:embed="rId2"/>
          <a:stretch>
            <a:fillRect/>
          </a:stretch>
        </p:blipFill>
        <p:spPr>
          <a:xfrm>
            <a:off x="2786050" y="0"/>
            <a:ext cx="4214813" cy="6762750"/>
          </a:xfr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irmontFrankenstein.jpg"/>
          <p:cNvPicPr>
            <a:picLocks noGrp="1" noChangeAspect="1"/>
          </p:cNvPicPr>
          <p:nvPr>
            <p:ph idx="1"/>
          </p:nvPr>
        </p:nvPicPr>
        <p:blipFill>
          <a:blip r:embed="rId2"/>
          <a:stretch>
            <a:fillRect/>
          </a:stretch>
        </p:blipFill>
        <p:spPr>
          <a:xfrm>
            <a:off x="3071802" y="714356"/>
            <a:ext cx="3267710" cy="5669280"/>
          </a:xfr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Poe_grimly_bookcover.jpg"/>
          <p:cNvPicPr>
            <a:picLocks noGrp="1" noChangeAspect="1"/>
          </p:cNvPicPr>
          <p:nvPr>
            <p:ph idx="1"/>
          </p:nvPr>
        </p:nvPicPr>
        <p:blipFill>
          <a:blip r:embed="rId2"/>
          <a:stretch>
            <a:fillRect/>
          </a:stretch>
        </p:blipFill>
        <p:spPr>
          <a:xfrm>
            <a:off x="2571736" y="285728"/>
            <a:ext cx="4569460" cy="6169660"/>
          </a:xfr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house of usher.jpg"/>
          <p:cNvPicPr>
            <a:picLocks noGrp="1" noChangeAspect="1"/>
          </p:cNvPicPr>
          <p:nvPr>
            <p:ph idx="1"/>
          </p:nvPr>
        </p:nvPicPr>
        <p:blipFill>
          <a:blip r:embed="rId2"/>
          <a:stretch>
            <a:fillRect/>
          </a:stretch>
        </p:blipFill>
        <p:spPr>
          <a:xfrm>
            <a:off x="2571736" y="500042"/>
            <a:ext cx="4548188" cy="6096000"/>
          </a:xfr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Gothic Images</a:t>
            </a:r>
            <a:endParaRPr lang="en-AU" dirty="0"/>
          </a:p>
        </p:txBody>
      </p:sp>
      <p:sp>
        <p:nvSpPr>
          <p:cNvPr id="3" name="Content Placeholder 2"/>
          <p:cNvSpPr>
            <a:spLocks noGrp="1"/>
          </p:cNvSpPr>
          <p:nvPr>
            <p:ph idx="1"/>
          </p:nvPr>
        </p:nvSpPr>
        <p:spPr/>
        <p:txBody>
          <a:bodyPr/>
          <a:lstStyle/>
          <a:p>
            <a:pPr>
              <a:buFont typeface="Wingdings" pitchFamily="2" charset="2"/>
              <a:buChar char="v"/>
            </a:pPr>
            <a:r>
              <a:rPr lang="en-AU" dirty="0" smtClean="0"/>
              <a:t>What do all these pictures have in common?</a:t>
            </a:r>
          </a:p>
          <a:p>
            <a:pPr>
              <a:buFont typeface="Wingdings" pitchFamily="2" charset="2"/>
              <a:buChar char="v"/>
            </a:pPr>
            <a:endParaRPr lang="en-AU" dirty="0" smtClean="0"/>
          </a:p>
          <a:p>
            <a:pPr>
              <a:buFont typeface="Wingdings" pitchFamily="2" charset="2"/>
              <a:buChar char="v"/>
            </a:pPr>
            <a:r>
              <a:rPr lang="en-AU" dirty="0" smtClean="0"/>
              <a:t>We see buildings in all the images, mostly from below.  What is the effect of this?</a:t>
            </a:r>
          </a:p>
          <a:p>
            <a:pPr>
              <a:buFont typeface="Wingdings" pitchFamily="2" charset="2"/>
              <a:buChar char="v"/>
            </a:pPr>
            <a:endParaRPr lang="en-AU" dirty="0" smtClean="0"/>
          </a:p>
          <a:p>
            <a:pPr>
              <a:buFont typeface="Wingdings" pitchFamily="2" charset="2"/>
              <a:buChar char="v"/>
            </a:pPr>
            <a:r>
              <a:rPr lang="en-AU" dirty="0" smtClean="0"/>
              <a:t>We also see some hint of landscape in these pictures – but these images are also dark and forlorn.  </a:t>
            </a:r>
            <a:endParaRPr lang="en-AU"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82660"/>
          </a:xfrm>
        </p:spPr>
        <p:txBody>
          <a:bodyPr/>
          <a:lstStyle/>
          <a:p>
            <a:r>
              <a:rPr lang="en-AU" dirty="0" smtClean="0"/>
              <a:t>The Gothic and Australia</a:t>
            </a:r>
            <a:endParaRPr lang="en-AU" dirty="0"/>
          </a:p>
        </p:txBody>
      </p:sp>
      <p:sp>
        <p:nvSpPr>
          <p:cNvPr id="3" name="Content Placeholder 2"/>
          <p:cNvSpPr>
            <a:spLocks noGrp="1"/>
          </p:cNvSpPr>
          <p:nvPr>
            <p:ph idx="1"/>
          </p:nvPr>
        </p:nvSpPr>
        <p:spPr>
          <a:xfrm>
            <a:off x="142844" y="1428736"/>
            <a:ext cx="8858312" cy="5286412"/>
          </a:xfrm>
        </p:spPr>
        <p:txBody>
          <a:bodyPr>
            <a:normAutofit lnSpcReduction="10000"/>
          </a:bodyPr>
          <a:lstStyle/>
          <a:p>
            <a:pPr>
              <a:buNone/>
            </a:pPr>
            <a:r>
              <a:rPr lang="en-AU" dirty="0" smtClean="0"/>
              <a:t>In 1856 Frederick </a:t>
            </a:r>
            <a:r>
              <a:rPr lang="en-AU" dirty="0" err="1" smtClean="0"/>
              <a:t>Sinnett</a:t>
            </a:r>
            <a:r>
              <a:rPr lang="en-AU" dirty="0" smtClean="0"/>
              <a:t> dismissed the idea that Gothic Fiction could ever flourish in Australia:</a:t>
            </a:r>
          </a:p>
          <a:p>
            <a:pPr>
              <a:buFont typeface="Wingdings" pitchFamily="2" charset="2"/>
              <a:buChar char="v"/>
            </a:pPr>
            <a:r>
              <a:rPr lang="en-AU" dirty="0" smtClean="0"/>
              <a:t>“There may be plenty of dilapidated buildings, but not one, the dilapidation of which is sufficiently venerable by age, to tempt the wandering footsteps of the most arrant </a:t>
            </a:r>
            <a:r>
              <a:rPr lang="en-AU" i="1" dirty="0" smtClean="0"/>
              <a:t>parvenu </a:t>
            </a:r>
            <a:r>
              <a:rPr lang="en-AU" dirty="0" smtClean="0"/>
              <a:t>of a ghost that ever walked by night.  It must be admitted that Mrs. </a:t>
            </a:r>
            <a:r>
              <a:rPr lang="en-AU" dirty="0" err="1" smtClean="0"/>
              <a:t>Radcliffe’s</a:t>
            </a:r>
            <a:r>
              <a:rPr lang="en-AU" dirty="0" smtClean="0"/>
              <a:t> genius would be quite thrown away here; and we must reconcile ourselves to the conviction that the foundations of a second ‘Castle of </a:t>
            </a:r>
            <a:r>
              <a:rPr lang="en-AU" dirty="0" err="1" smtClean="0"/>
              <a:t>Otranto</a:t>
            </a:r>
            <a:r>
              <a:rPr lang="en-AU" dirty="0" smtClean="0"/>
              <a:t>’ can hardly be laid in Australia at our time.” </a:t>
            </a:r>
            <a:endParaRPr lang="en-AU" i="1" dirty="0" smtClean="0"/>
          </a:p>
          <a:p>
            <a:pPr>
              <a:buFont typeface="Wingdings" pitchFamily="2" charset="2"/>
              <a:buChar char="v"/>
            </a:pPr>
            <a:endParaRPr lang="en-AU"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39784"/>
          </a:xfrm>
        </p:spPr>
        <p:txBody>
          <a:bodyPr/>
          <a:lstStyle/>
          <a:p>
            <a:r>
              <a:rPr lang="en-AU" dirty="0" smtClean="0"/>
              <a:t>The Gothic and Australia</a:t>
            </a:r>
            <a:endParaRPr lang="en-AU" dirty="0"/>
          </a:p>
        </p:txBody>
      </p:sp>
      <p:sp>
        <p:nvSpPr>
          <p:cNvPr id="3" name="Content Placeholder 2"/>
          <p:cNvSpPr>
            <a:spLocks noGrp="1"/>
          </p:cNvSpPr>
          <p:nvPr>
            <p:ph idx="1"/>
          </p:nvPr>
        </p:nvSpPr>
        <p:spPr>
          <a:xfrm>
            <a:off x="142844" y="1285860"/>
            <a:ext cx="8786874" cy="5357850"/>
          </a:xfrm>
        </p:spPr>
        <p:txBody>
          <a:bodyPr/>
          <a:lstStyle/>
          <a:p>
            <a:pPr>
              <a:buFont typeface="Wingdings" pitchFamily="2" charset="2"/>
              <a:buChar char="v"/>
            </a:pPr>
            <a:r>
              <a:rPr lang="en-AU" dirty="0" smtClean="0"/>
              <a:t>However, the Gothic did emerge in Colonial Australia – and </a:t>
            </a:r>
            <a:r>
              <a:rPr lang="en-AU" dirty="0" err="1" smtClean="0"/>
              <a:t>Gelder</a:t>
            </a:r>
            <a:r>
              <a:rPr lang="en-AU" dirty="0" smtClean="0"/>
              <a:t> and Weaver point to John Lang’s story ‘The Ghost Upon the Rail’ (1859) as perhaps the first example of Australian Gothic fiction. (2007, p.3).  </a:t>
            </a:r>
          </a:p>
          <a:p>
            <a:pPr>
              <a:buFont typeface="Wingdings" pitchFamily="2" charset="2"/>
              <a:buChar char="v"/>
            </a:pPr>
            <a:r>
              <a:rPr lang="en-AU" dirty="0" smtClean="0"/>
              <a:t>In their anthology of Colonial Australian Gothic Fiction, </a:t>
            </a:r>
            <a:r>
              <a:rPr lang="en-AU" dirty="0" err="1" smtClean="0"/>
              <a:t>Gelder</a:t>
            </a:r>
            <a:r>
              <a:rPr lang="en-AU" dirty="0" smtClean="0"/>
              <a:t> and Weaver include a number of stories from the 19</a:t>
            </a:r>
            <a:r>
              <a:rPr lang="en-AU" baseline="30000" dirty="0" smtClean="0"/>
              <a:t>th</a:t>
            </a:r>
            <a:r>
              <a:rPr lang="en-AU" dirty="0" smtClean="0"/>
              <a:t> Century to the early 20</a:t>
            </a:r>
            <a:r>
              <a:rPr lang="en-AU" baseline="30000" dirty="0" smtClean="0"/>
              <a:t>th</a:t>
            </a:r>
            <a:r>
              <a:rPr lang="en-AU" dirty="0" smtClean="0"/>
              <a:t> Century.  The anthology includes stories from Henry Lawson, Katharine Susannah Prichard and Barbara Baynton.  </a:t>
            </a:r>
            <a:endParaRPr lang="en-AU"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dirty="0" smtClean="0"/>
              <a:t>Gothic Fiction in Australia</a:t>
            </a:r>
            <a:endParaRPr lang="en-AU" dirty="0"/>
          </a:p>
        </p:txBody>
      </p:sp>
      <p:sp>
        <p:nvSpPr>
          <p:cNvPr id="3" name="Content Placeholder 2"/>
          <p:cNvSpPr>
            <a:spLocks noGrp="1"/>
          </p:cNvSpPr>
          <p:nvPr>
            <p:ph idx="1"/>
          </p:nvPr>
        </p:nvSpPr>
        <p:spPr>
          <a:xfrm>
            <a:off x="142844" y="1600200"/>
            <a:ext cx="8786874" cy="5043510"/>
          </a:xfrm>
        </p:spPr>
        <p:txBody>
          <a:bodyPr/>
          <a:lstStyle/>
          <a:p>
            <a:pPr>
              <a:buFont typeface="Wingdings" pitchFamily="2" charset="2"/>
              <a:buChar char="v"/>
            </a:pPr>
            <a:r>
              <a:rPr lang="en-AU" dirty="0" smtClean="0"/>
              <a:t>What is interesting is that in Australian Gothic Fiction, the use of the bush hut, and often the bush itself, is seen as the setting of the horrific stories.</a:t>
            </a:r>
          </a:p>
          <a:p>
            <a:pPr>
              <a:buFont typeface="Wingdings" pitchFamily="2" charset="2"/>
              <a:buChar char="v"/>
            </a:pPr>
            <a:endParaRPr lang="en-AU" dirty="0" smtClean="0"/>
          </a:p>
          <a:p>
            <a:pPr>
              <a:buFont typeface="Wingdings" pitchFamily="2" charset="2"/>
              <a:buChar char="v"/>
            </a:pPr>
            <a:r>
              <a:rPr lang="en-AU" dirty="0" smtClean="0"/>
              <a:t>This moves away from the dilapidated mansion that was popular in British and American texts.</a:t>
            </a:r>
          </a:p>
          <a:p>
            <a:pPr>
              <a:buFont typeface="Wingdings" pitchFamily="2" charset="2"/>
              <a:buChar char="v"/>
            </a:pPr>
            <a:endParaRPr lang="en-AU" dirty="0" smtClean="0"/>
          </a:p>
          <a:p>
            <a:pPr>
              <a:buFont typeface="Wingdings" pitchFamily="2" charset="2"/>
              <a:buChar char="v"/>
            </a:pPr>
            <a:r>
              <a:rPr lang="en-AU" dirty="0" smtClean="0"/>
              <a:t>It also fits in with the notions of Australia as Hell that have been introduced earlier in this unit.</a:t>
            </a:r>
          </a:p>
          <a:p>
            <a:pPr>
              <a:buFont typeface="Wingdings" pitchFamily="2" charset="2"/>
              <a:buChar char="v"/>
            </a:pPr>
            <a:endParaRPr lang="en-AU"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39784"/>
          </a:xfrm>
        </p:spPr>
        <p:txBody>
          <a:bodyPr>
            <a:normAutofit/>
          </a:bodyPr>
          <a:lstStyle/>
          <a:p>
            <a:r>
              <a:rPr lang="en-AU" dirty="0" smtClean="0"/>
              <a:t>Cold Snap</a:t>
            </a:r>
            <a:endParaRPr lang="en-AU" dirty="0"/>
          </a:p>
        </p:txBody>
      </p:sp>
      <p:sp>
        <p:nvSpPr>
          <p:cNvPr id="3" name="Content Placeholder 2"/>
          <p:cNvSpPr>
            <a:spLocks noGrp="1"/>
          </p:cNvSpPr>
          <p:nvPr>
            <p:ph idx="1"/>
          </p:nvPr>
        </p:nvSpPr>
        <p:spPr>
          <a:xfrm>
            <a:off x="285720" y="1357298"/>
            <a:ext cx="8401080" cy="5286412"/>
          </a:xfrm>
        </p:spPr>
        <p:txBody>
          <a:bodyPr/>
          <a:lstStyle/>
          <a:p>
            <a:pPr>
              <a:buFont typeface="Wingdings" pitchFamily="2" charset="2"/>
              <a:buChar char="v"/>
            </a:pPr>
            <a:r>
              <a:rPr lang="en-AU" dirty="0" smtClean="0"/>
              <a:t>‘Cold Snap’ the short story by Cate Kennedy is a good example of contemporary gothic fiction.</a:t>
            </a:r>
          </a:p>
          <a:p>
            <a:pPr>
              <a:buFont typeface="Wingdings" pitchFamily="2" charset="2"/>
              <a:buChar char="v"/>
            </a:pPr>
            <a:r>
              <a:rPr lang="en-AU" dirty="0" smtClean="0"/>
              <a:t>The opening paragraph is ominous – a child is checking his rabbit traps. ‘The rabbit carcasses steam when we rip the skin off and it comes away like a glove’ (p, 87).</a:t>
            </a:r>
          </a:p>
          <a:p>
            <a:pPr>
              <a:buFont typeface="Wingdings" pitchFamily="2" charset="2"/>
              <a:buChar char="v"/>
            </a:pPr>
            <a:r>
              <a:rPr lang="en-AU" dirty="0" smtClean="0"/>
              <a:t>The imagery of the bush is dark and forbidding: ‘the trees look dark and sunken in, as if they’re hanging on by shutting off their minds, like my </a:t>
            </a:r>
            <a:r>
              <a:rPr lang="en-AU" dirty="0" err="1" smtClean="0"/>
              <a:t>grandpop</a:t>
            </a:r>
            <a:r>
              <a:rPr lang="en-AU" dirty="0" smtClean="0"/>
              <a:t> when he had the stroke’ (p.88).</a:t>
            </a:r>
          </a:p>
          <a:p>
            <a:pPr>
              <a:buFont typeface="Wingdings" pitchFamily="2" charset="2"/>
              <a:buChar char="v"/>
            </a:pPr>
            <a:endParaRPr lang="en-AU"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46"/>
          </a:xfrm>
        </p:spPr>
        <p:txBody>
          <a:bodyPr/>
          <a:lstStyle/>
          <a:p>
            <a:r>
              <a:rPr lang="en-AU" dirty="0" smtClean="0"/>
              <a:t>Cold Snap</a:t>
            </a:r>
            <a:endParaRPr lang="en-AU" dirty="0"/>
          </a:p>
        </p:txBody>
      </p:sp>
      <p:sp>
        <p:nvSpPr>
          <p:cNvPr id="3" name="Content Placeholder 2"/>
          <p:cNvSpPr>
            <a:spLocks noGrp="1"/>
          </p:cNvSpPr>
          <p:nvPr>
            <p:ph idx="1"/>
          </p:nvPr>
        </p:nvSpPr>
        <p:spPr>
          <a:xfrm>
            <a:off x="142844" y="1071546"/>
            <a:ext cx="8786874" cy="5572164"/>
          </a:xfrm>
        </p:spPr>
        <p:txBody>
          <a:bodyPr/>
          <a:lstStyle/>
          <a:p>
            <a:pPr>
              <a:buFont typeface="Wingdings" pitchFamily="2" charset="2"/>
              <a:buChar char="v"/>
            </a:pPr>
            <a:r>
              <a:rPr lang="en-AU" dirty="0" smtClean="0"/>
              <a:t>There’s a fair amount of cruelty in this story – take the boy’s father who rigs the chip heater so that it burns the hands of one of Billy’s classmates:</a:t>
            </a:r>
          </a:p>
          <a:p>
            <a:pPr>
              <a:buNone/>
            </a:pPr>
            <a:r>
              <a:rPr lang="en-AU" dirty="0" smtClean="0"/>
              <a:t>	‘There was a scream and the boy came running outside holding his hands in front of him.  And they were bright pink like plastic.  As the boy ran past, my dad called, </a:t>
            </a:r>
            <a:r>
              <a:rPr lang="en-AU" i="1" dirty="0" smtClean="0"/>
              <a:t>Don’t forget to tell your friends</a:t>
            </a:r>
            <a:r>
              <a:rPr lang="en-AU" dirty="0" smtClean="0"/>
              <a:t>’ (p.89).</a:t>
            </a:r>
          </a:p>
          <a:p>
            <a:pPr>
              <a:buFont typeface="Wingdings" pitchFamily="2" charset="2"/>
              <a:buChar char="v"/>
            </a:pPr>
            <a:r>
              <a:rPr lang="en-AU" dirty="0" smtClean="0"/>
              <a:t>The violence in the story escalates to the point at which Billy murders the city woman by planting a rabbit trap, so that she swerves to miss it and crashes into a tree.  (pp. 93-94)</a:t>
            </a:r>
            <a:endParaRPr lang="en-AU"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6908"/>
          </a:xfrm>
        </p:spPr>
        <p:txBody>
          <a:bodyPr/>
          <a:lstStyle/>
          <a:p>
            <a:r>
              <a:rPr lang="en-AU" i="1" dirty="0" smtClean="0"/>
              <a:t>Surrender</a:t>
            </a:r>
            <a:endParaRPr lang="en-AU" i="1" dirty="0"/>
          </a:p>
        </p:txBody>
      </p:sp>
      <p:sp>
        <p:nvSpPr>
          <p:cNvPr id="3" name="Content Placeholder 2"/>
          <p:cNvSpPr>
            <a:spLocks noGrp="1"/>
          </p:cNvSpPr>
          <p:nvPr>
            <p:ph idx="1"/>
          </p:nvPr>
        </p:nvSpPr>
        <p:spPr>
          <a:xfrm>
            <a:off x="214282" y="1214422"/>
            <a:ext cx="8715436" cy="5429288"/>
          </a:xfrm>
        </p:spPr>
        <p:txBody>
          <a:bodyPr>
            <a:normAutofit fontScale="92500" lnSpcReduction="10000"/>
          </a:bodyPr>
          <a:lstStyle/>
          <a:p>
            <a:pPr>
              <a:buFont typeface="Wingdings" pitchFamily="2" charset="2"/>
              <a:buChar char="v"/>
            </a:pPr>
            <a:r>
              <a:rPr lang="en-AU" dirty="0" smtClean="0"/>
              <a:t>Like </a:t>
            </a:r>
            <a:r>
              <a:rPr lang="en-AU" i="1" dirty="0" smtClean="0"/>
              <a:t>‘</a:t>
            </a:r>
            <a:r>
              <a:rPr lang="en-AU" dirty="0" smtClean="0"/>
              <a:t>Cold Snap’ </a:t>
            </a:r>
            <a:r>
              <a:rPr lang="en-AU" i="1" dirty="0" smtClean="0"/>
              <a:t>Surrender </a:t>
            </a:r>
            <a:r>
              <a:rPr lang="en-AU" dirty="0" smtClean="0"/>
              <a:t>is also set in the bush, and also features children at the centre of the text.</a:t>
            </a:r>
          </a:p>
          <a:p>
            <a:pPr>
              <a:buFont typeface="Wingdings" pitchFamily="2" charset="2"/>
              <a:buChar char="v"/>
            </a:pPr>
            <a:endParaRPr lang="en-AU" dirty="0" smtClean="0"/>
          </a:p>
          <a:p>
            <a:pPr>
              <a:buFont typeface="Wingdings" pitchFamily="2" charset="2"/>
              <a:buChar char="v"/>
            </a:pPr>
            <a:r>
              <a:rPr lang="en-AU" dirty="0" smtClean="0"/>
              <a:t>The story is told from two perspectives – Gabriel’s and Finnigan’s, and the narrative starts with Gabriel on his death bed, waiting for Finnigan to visit him.</a:t>
            </a:r>
          </a:p>
          <a:p>
            <a:pPr>
              <a:buFont typeface="Wingdings" pitchFamily="2" charset="2"/>
              <a:buChar char="v"/>
            </a:pPr>
            <a:endParaRPr lang="en-AU" dirty="0" smtClean="0"/>
          </a:p>
          <a:p>
            <a:pPr>
              <a:buFont typeface="Wingdings" pitchFamily="2" charset="2"/>
              <a:buChar char="v"/>
            </a:pPr>
            <a:r>
              <a:rPr lang="en-AU" dirty="0" smtClean="0"/>
              <a:t>The story then dips back into the past, starting with the meeting of Gabriel (Anwell) and Finnigan outside Anwell’s house.  From this first meeting we know that Anwell has done something terrible, and that the townspeople have distanced themselves from his family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46"/>
          </a:xfrm>
        </p:spPr>
        <p:txBody>
          <a:bodyPr/>
          <a:lstStyle/>
          <a:p>
            <a:r>
              <a:rPr lang="en-AU" i="1" dirty="0" smtClean="0"/>
              <a:t>Surrender</a:t>
            </a:r>
            <a:endParaRPr lang="en-AU" i="1" dirty="0"/>
          </a:p>
        </p:txBody>
      </p:sp>
      <p:sp>
        <p:nvSpPr>
          <p:cNvPr id="3" name="Content Placeholder 2"/>
          <p:cNvSpPr>
            <a:spLocks noGrp="1"/>
          </p:cNvSpPr>
          <p:nvPr>
            <p:ph idx="1"/>
          </p:nvPr>
        </p:nvSpPr>
        <p:spPr>
          <a:xfrm>
            <a:off x="142844" y="1214422"/>
            <a:ext cx="8786874" cy="5500726"/>
          </a:xfrm>
        </p:spPr>
        <p:txBody>
          <a:bodyPr>
            <a:normAutofit lnSpcReduction="10000"/>
          </a:bodyPr>
          <a:lstStyle/>
          <a:p>
            <a:pPr marL="722313" indent="-457200">
              <a:buNone/>
            </a:pPr>
            <a:r>
              <a:rPr lang="en-AU" dirty="0" smtClean="0"/>
              <a:t>Like many Gothic stories set in the outback, Mulyan is characterised as a harsh and isolated place to grow up:</a:t>
            </a:r>
          </a:p>
          <a:p>
            <a:pPr marL="633413" indent="-457200">
              <a:buFont typeface="Wingdings" pitchFamily="2" charset="2"/>
              <a:buChar char="v"/>
            </a:pPr>
            <a:r>
              <a:rPr lang="en-AU" dirty="0" smtClean="0"/>
              <a:t>‘Nobody chooses to come here.  In this little town ringed by shark-tooth mountains we are far, far away.  We only know each other.  And the names on the gravestones stay the same.’ (p.8).</a:t>
            </a:r>
          </a:p>
          <a:p>
            <a:pPr marL="633413" indent="-457200">
              <a:buFont typeface="Wingdings" pitchFamily="2" charset="2"/>
              <a:buChar char="v"/>
            </a:pPr>
            <a:endParaRPr lang="en-AU" dirty="0" smtClean="0"/>
          </a:p>
          <a:p>
            <a:pPr marL="633413" indent="-457200">
              <a:buFont typeface="Wingdings" pitchFamily="2" charset="2"/>
              <a:buChar char="v"/>
            </a:pPr>
            <a:r>
              <a:rPr lang="en-AU" dirty="0" smtClean="0"/>
              <a:t>‘The rocks are black with rotten moss . . . The winter sun glows but down here all is gloom.  The air smells clean, like spring water, cold, like a mountain’s mood . . . The twigs are broken and the earth is scuffed.’ (p.44).</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i="1" dirty="0" smtClean="0"/>
              <a:t>Surrender</a:t>
            </a:r>
            <a:endParaRPr lang="en-AU" dirty="0"/>
          </a:p>
        </p:txBody>
      </p:sp>
      <p:sp>
        <p:nvSpPr>
          <p:cNvPr id="3" name="Content Placeholder 2"/>
          <p:cNvSpPr>
            <a:spLocks noGrp="1"/>
          </p:cNvSpPr>
          <p:nvPr>
            <p:ph idx="1"/>
          </p:nvPr>
        </p:nvSpPr>
        <p:spPr>
          <a:xfrm>
            <a:off x="214282" y="1600200"/>
            <a:ext cx="8472518" cy="4972072"/>
          </a:xfrm>
        </p:spPr>
        <p:txBody>
          <a:bodyPr/>
          <a:lstStyle/>
          <a:p>
            <a:pPr>
              <a:buFont typeface="Wingdings" pitchFamily="2" charset="2"/>
              <a:buChar char="v"/>
            </a:pPr>
            <a:r>
              <a:rPr lang="en-AU" dirty="0" smtClean="0"/>
              <a:t>Interestingly, we don’t know when the story is set: the names of the characters Finnigan, Gabriel, Anwell, Vernon and Evangeline are all old names, yet the action could take place at any moment in history.</a:t>
            </a:r>
          </a:p>
          <a:p>
            <a:pPr>
              <a:buFont typeface="Wingdings" pitchFamily="2" charset="2"/>
              <a:buChar char="v"/>
            </a:pPr>
            <a:endParaRPr lang="en-AU" dirty="0" smtClean="0"/>
          </a:p>
          <a:p>
            <a:pPr>
              <a:buFont typeface="Wingdings" pitchFamily="2" charset="2"/>
              <a:buChar char="v"/>
            </a:pPr>
            <a:r>
              <a:rPr lang="en-AU" dirty="0" smtClean="0"/>
              <a:t>As readers we are given no clue about the world surrounding Mulyan.  This adds to the isolation of the town, and points to its estrangement.</a:t>
            </a:r>
            <a:endParaRPr lang="en-AU"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Plot in </a:t>
            </a:r>
            <a:r>
              <a:rPr lang="en-AU" i="1" dirty="0" smtClean="0"/>
              <a:t>Surrender</a:t>
            </a:r>
            <a:endParaRPr lang="en-AU" dirty="0"/>
          </a:p>
        </p:txBody>
      </p:sp>
      <p:sp>
        <p:nvSpPr>
          <p:cNvPr id="3" name="Content Placeholder 2"/>
          <p:cNvSpPr>
            <a:spLocks noGrp="1"/>
          </p:cNvSpPr>
          <p:nvPr>
            <p:ph idx="1"/>
          </p:nvPr>
        </p:nvSpPr>
        <p:spPr>
          <a:xfrm>
            <a:off x="214282" y="1600200"/>
            <a:ext cx="8643998" cy="5043510"/>
          </a:xfrm>
        </p:spPr>
        <p:txBody>
          <a:bodyPr/>
          <a:lstStyle/>
          <a:p>
            <a:pPr>
              <a:buFont typeface="Wingdings" pitchFamily="2" charset="2"/>
              <a:buChar char="v"/>
            </a:pPr>
            <a:r>
              <a:rPr lang="en-AU" dirty="0" smtClean="0"/>
              <a:t>Much of the story centres upon the relationship of the two boys, and highlights Gabriel (Anwell’s) estrangement from his family, and from the townspeople.</a:t>
            </a:r>
          </a:p>
          <a:p>
            <a:pPr>
              <a:buFont typeface="Wingdings" pitchFamily="2" charset="2"/>
              <a:buChar char="v"/>
            </a:pPr>
            <a:endParaRPr lang="en-AU" dirty="0" smtClean="0"/>
          </a:p>
          <a:p>
            <a:pPr>
              <a:buFont typeface="Wingdings" pitchFamily="2" charset="2"/>
              <a:buChar char="v"/>
            </a:pPr>
            <a:r>
              <a:rPr lang="en-AU" dirty="0" smtClean="0"/>
              <a:t>The boys make a pact which has deadly consequences.  ‘You will only be </a:t>
            </a:r>
            <a:r>
              <a:rPr lang="en-AU" i="1" dirty="0" smtClean="0"/>
              <a:t>good</a:t>
            </a:r>
            <a:r>
              <a:rPr lang="en-AU" dirty="0" smtClean="0"/>
              <a:t> things – you’ll never get angry or fight.  And I will </a:t>
            </a:r>
            <a:r>
              <a:rPr lang="en-AU" dirty="0" smtClean="0"/>
              <a:t>only </a:t>
            </a:r>
            <a:r>
              <a:rPr lang="en-AU" dirty="0" smtClean="0"/>
              <a:t>be </a:t>
            </a:r>
            <a:r>
              <a:rPr lang="en-AU" i="1" dirty="0" smtClean="0"/>
              <a:t>bad </a:t>
            </a:r>
            <a:r>
              <a:rPr lang="en-AU" dirty="0" smtClean="0"/>
              <a:t>things – I will always get angry and fight.  We’ll be like opposites -  like pictures in the water’ (pp. 38-39). </a:t>
            </a:r>
            <a:endParaRPr lang="en-AU"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Plot in </a:t>
            </a:r>
            <a:r>
              <a:rPr lang="en-AU" i="1" dirty="0" smtClean="0"/>
              <a:t>Surrender</a:t>
            </a:r>
            <a:endParaRPr lang="en-AU" dirty="0"/>
          </a:p>
        </p:txBody>
      </p:sp>
      <p:sp>
        <p:nvSpPr>
          <p:cNvPr id="3" name="Content Placeholder 2"/>
          <p:cNvSpPr>
            <a:spLocks noGrp="1"/>
          </p:cNvSpPr>
          <p:nvPr>
            <p:ph idx="1"/>
          </p:nvPr>
        </p:nvSpPr>
        <p:spPr>
          <a:xfrm>
            <a:off x="214282" y="1600200"/>
            <a:ext cx="8715436" cy="5043510"/>
          </a:xfrm>
        </p:spPr>
        <p:txBody>
          <a:bodyPr>
            <a:normAutofit lnSpcReduction="10000"/>
          </a:bodyPr>
          <a:lstStyle/>
          <a:p>
            <a:pPr>
              <a:buFont typeface="Wingdings" pitchFamily="2" charset="2"/>
              <a:buChar char="v"/>
            </a:pPr>
            <a:r>
              <a:rPr lang="en-AU" dirty="0" smtClean="0"/>
              <a:t>True to their deal, the boys stick to their roles, but as readers we soon learn that Finnigan wreaks havoc on Mulyan by lighting fires. More specifically, Finnigan’s fires seem to punish the townsfolk who have wronged Gabriel (pp79-84).</a:t>
            </a:r>
          </a:p>
          <a:p>
            <a:pPr>
              <a:buFont typeface="Wingdings" pitchFamily="2" charset="2"/>
              <a:buChar char="v"/>
            </a:pPr>
            <a:endParaRPr lang="en-AU" dirty="0" smtClean="0"/>
          </a:p>
          <a:p>
            <a:pPr>
              <a:buFont typeface="Wingdings" pitchFamily="2" charset="2"/>
              <a:buChar char="v"/>
            </a:pPr>
            <a:r>
              <a:rPr lang="en-AU" dirty="0" smtClean="0"/>
              <a:t>At the same time that Gabriel is recalling Finnigan’s fires, he is also reflecting the sinister events of his past. The death of his brother, the cold abuse of his parents, specifically all those events which have cast him and his family as </a:t>
            </a:r>
            <a:r>
              <a:rPr lang="en-AU" i="1" dirty="0" smtClean="0"/>
              <a:t>kooks.</a:t>
            </a:r>
          </a:p>
          <a:p>
            <a:pPr>
              <a:buFont typeface="Wingdings" pitchFamily="2" charset="2"/>
              <a:buChar char="v"/>
            </a:pPr>
            <a:endParaRPr lang="en-AU"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lstStyle/>
          <a:p>
            <a:r>
              <a:rPr lang="en-AU" dirty="0" smtClean="0"/>
              <a:t>Doubling in </a:t>
            </a:r>
            <a:r>
              <a:rPr lang="en-AU" i="1" dirty="0" smtClean="0"/>
              <a:t>Surrender</a:t>
            </a:r>
            <a:endParaRPr lang="en-AU" dirty="0"/>
          </a:p>
        </p:txBody>
      </p:sp>
      <p:sp>
        <p:nvSpPr>
          <p:cNvPr id="3" name="Content Placeholder 2"/>
          <p:cNvSpPr>
            <a:spLocks noGrp="1"/>
          </p:cNvSpPr>
          <p:nvPr>
            <p:ph idx="1"/>
          </p:nvPr>
        </p:nvSpPr>
        <p:spPr>
          <a:xfrm>
            <a:off x="214282" y="1142984"/>
            <a:ext cx="8715436" cy="5500726"/>
          </a:xfrm>
        </p:spPr>
        <p:txBody>
          <a:bodyPr>
            <a:normAutofit/>
          </a:bodyPr>
          <a:lstStyle/>
          <a:p>
            <a:pPr>
              <a:buFont typeface="Wingdings" pitchFamily="2" charset="2"/>
              <a:buChar char="v"/>
            </a:pPr>
            <a:r>
              <a:rPr lang="en-AU" dirty="0" smtClean="0"/>
              <a:t> When we first meet Finnigan, we are told that he and Gabriel are  ‘the same height and the same age and built along similar leggy lines, but he was a hyena, while I was a small, ashy, alpine moth’ (p.11).</a:t>
            </a:r>
          </a:p>
          <a:p>
            <a:pPr>
              <a:buFont typeface="Wingdings" pitchFamily="2" charset="2"/>
              <a:buChar char="v"/>
            </a:pPr>
            <a:endParaRPr lang="en-AU" dirty="0" smtClean="0"/>
          </a:p>
          <a:p>
            <a:pPr>
              <a:buFont typeface="Wingdings" pitchFamily="2" charset="2"/>
              <a:buChar char="v"/>
            </a:pPr>
            <a:r>
              <a:rPr lang="en-AU" dirty="0" smtClean="0"/>
              <a:t>Finnigan, however, does not seem to have a family  and he does not go to school.  As the novel progresses, he become more feral and unreal.  Scenes, such as when Finnigan is in McIllwraith’s roof, seem implausible.  </a:t>
            </a:r>
            <a:endParaRPr lang="en-AU" dirty="0" smtClean="0"/>
          </a:p>
          <a:p>
            <a:pPr>
              <a:buNone/>
            </a:pPr>
            <a:endParaRPr lang="en-AU" dirty="0" smtClean="0"/>
          </a:p>
          <a:p>
            <a:pPr>
              <a:buNone/>
            </a:pPr>
            <a:endParaRPr lang="en-AU"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Gabriel/Finnigan</a:t>
            </a:r>
            <a:endParaRPr lang="en-AU" dirty="0"/>
          </a:p>
        </p:txBody>
      </p:sp>
      <p:sp>
        <p:nvSpPr>
          <p:cNvPr id="3" name="Content Placeholder 2"/>
          <p:cNvSpPr>
            <a:spLocks noGrp="1"/>
          </p:cNvSpPr>
          <p:nvPr>
            <p:ph idx="1"/>
          </p:nvPr>
        </p:nvSpPr>
        <p:spPr>
          <a:xfrm>
            <a:off x="214282" y="1600200"/>
            <a:ext cx="8643998" cy="5043510"/>
          </a:xfrm>
        </p:spPr>
        <p:txBody>
          <a:bodyPr>
            <a:normAutofit fontScale="92500"/>
          </a:bodyPr>
          <a:lstStyle/>
          <a:p>
            <a:pPr>
              <a:buFont typeface="Wingdings" pitchFamily="2" charset="2"/>
              <a:buChar char="v"/>
            </a:pPr>
            <a:r>
              <a:rPr lang="en-AU" dirty="0" smtClean="0"/>
              <a:t>Finally, when Gabriel is ordered by his father, to kill their dog, Surrender, he leaves it with Finnigan.</a:t>
            </a:r>
            <a:endParaRPr lang="en-AU" dirty="0" smtClean="0"/>
          </a:p>
          <a:p>
            <a:pPr>
              <a:buFont typeface="Wingdings" pitchFamily="2" charset="2"/>
              <a:buChar char="v"/>
            </a:pPr>
            <a:endParaRPr lang="en-AU" dirty="0" smtClean="0"/>
          </a:p>
          <a:p>
            <a:pPr>
              <a:buFont typeface="Wingdings" pitchFamily="2" charset="2"/>
              <a:buChar char="v"/>
            </a:pPr>
            <a:r>
              <a:rPr lang="en-AU" dirty="0" smtClean="0"/>
              <a:t>‘As I drew closer to home, the tall forest petering and becoming the squat stained weatherboards of Mulyan’s poor fringe, the sound of the paws faded until they were finally gone.  His body stood beside me, true -  but his spirit had returned to Finnigan. And it was the spirit that mattered, I had to believe.  </a:t>
            </a:r>
            <a:r>
              <a:rPr lang="en-AU" i="1" dirty="0" smtClean="0"/>
              <a:t>I had to make myself believe </a:t>
            </a:r>
            <a:r>
              <a:rPr lang="en-AU" dirty="0" smtClean="0"/>
              <a:t>the body did not matter.  “Good dog,” I murmured: “Stay with Finnigan” (p. 226).</a:t>
            </a:r>
          </a:p>
          <a:p>
            <a:pPr>
              <a:buFont typeface="Wingdings" pitchFamily="2" charset="2"/>
              <a:buChar char="v"/>
            </a:pPr>
            <a:endParaRPr lang="en-AU" i="1"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Gabriel/Finnigan</a:t>
            </a:r>
            <a:endParaRPr lang="en-AU" dirty="0"/>
          </a:p>
        </p:txBody>
      </p:sp>
      <p:sp>
        <p:nvSpPr>
          <p:cNvPr id="3" name="Content Placeholder 2"/>
          <p:cNvSpPr>
            <a:spLocks noGrp="1"/>
          </p:cNvSpPr>
          <p:nvPr>
            <p:ph idx="1"/>
          </p:nvPr>
        </p:nvSpPr>
        <p:spPr>
          <a:xfrm>
            <a:off x="214282" y="1600200"/>
            <a:ext cx="8715436" cy="4972072"/>
          </a:xfrm>
        </p:spPr>
        <p:txBody>
          <a:bodyPr>
            <a:normAutofit lnSpcReduction="10000"/>
          </a:bodyPr>
          <a:lstStyle/>
          <a:p>
            <a:pPr>
              <a:buFont typeface="Wingdings" pitchFamily="2" charset="2"/>
              <a:buChar char="v"/>
            </a:pPr>
            <a:r>
              <a:rPr lang="en-AU" dirty="0" smtClean="0"/>
              <a:t>At this point we know that Finnigan is imagined, as is Gabriel – they form two halves of the boy, Anwell.  The creation of Finnigan becomes a way for Anwell to </a:t>
            </a:r>
            <a:r>
              <a:rPr lang="en-AU" dirty="0" smtClean="0"/>
              <a:t>distance himself from the terrible thing he did – the accidental murder of his mentally retarded brother.  </a:t>
            </a:r>
          </a:p>
          <a:p>
            <a:pPr>
              <a:buFont typeface="Wingdings" pitchFamily="2" charset="2"/>
              <a:buChar char="v"/>
            </a:pPr>
            <a:r>
              <a:rPr lang="en-AU" dirty="0" smtClean="0"/>
              <a:t>When Anwell meets Evangeline, he longs to be free of Finnigan, but he cannot be.  It is at this point that Anwell (Gabriel) snaps, and murders his parents.  The pact is violated, and Gabriel is taken to the police station, and is finally imprisoned.  </a:t>
            </a:r>
            <a:endParaRPr lang="en-AU" dirty="0" smtClean="0"/>
          </a:p>
          <a:p>
            <a:pPr>
              <a:buFont typeface="Wingdings" pitchFamily="2" charset="2"/>
              <a:buChar char="v"/>
            </a:pPr>
            <a:endParaRPr lang="en-AU"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Gabriel/Finnigan</a:t>
            </a:r>
            <a:endParaRPr lang="en-AU" dirty="0"/>
          </a:p>
        </p:txBody>
      </p:sp>
      <p:sp>
        <p:nvSpPr>
          <p:cNvPr id="3" name="Content Placeholder 2"/>
          <p:cNvSpPr>
            <a:spLocks noGrp="1"/>
          </p:cNvSpPr>
          <p:nvPr>
            <p:ph idx="1"/>
          </p:nvPr>
        </p:nvSpPr>
        <p:spPr>
          <a:xfrm>
            <a:off x="214282" y="1600200"/>
            <a:ext cx="8643998" cy="5043510"/>
          </a:xfrm>
        </p:spPr>
        <p:txBody>
          <a:bodyPr/>
          <a:lstStyle/>
          <a:p>
            <a:pPr>
              <a:buFont typeface="Wingdings" pitchFamily="2" charset="2"/>
              <a:buChar char="v"/>
            </a:pPr>
            <a:r>
              <a:rPr lang="en-AU" dirty="0" smtClean="0"/>
              <a:t>As Gabriel tells us, there is nothing wrong with him – he is not in a hospital, rather he is imprisoned and willing himself to die.  Gabriel tells Finnigan : ‘I’m dying to kill you’ (p.218).</a:t>
            </a:r>
          </a:p>
          <a:p>
            <a:pPr>
              <a:buFont typeface="Wingdings" pitchFamily="2" charset="2"/>
              <a:buChar char="v"/>
            </a:pPr>
            <a:endParaRPr lang="en-AU" dirty="0" smtClean="0"/>
          </a:p>
          <a:p>
            <a:pPr>
              <a:buFont typeface="Wingdings" pitchFamily="2" charset="2"/>
              <a:buChar char="v"/>
            </a:pPr>
            <a:r>
              <a:rPr lang="en-AU" dirty="0" smtClean="0"/>
              <a:t>In the end, Anwell is visited by his brother, Vernon.  ‘When he speaks, it is with Finnigan’s voice.  </a:t>
            </a:r>
            <a:r>
              <a:rPr lang="en-AU" i="1" dirty="0" smtClean="0"/>
              <a:t>You have two names, so do I</a:t>
            </a:r>
            <a:r>
              <a:rPr lang="en-AU" dirty="0" smtClean="0"/>
              <a:t>.’  . . . Now his voice is smooth, iced, </a:t>
            </a:r>
            <a:r>
              <a:rPr lang="en-AU" dirty="0" err="1" smtClean="0"/>
              <a:t>untripping</a:t>
            </a:r>
            <a:r>
              <a:rPr lang="en-AU" dirty="0" smtClean="0"/>
              <a:t>: familiar, like Finnigan’s.’ (p.240)  </a:t>
            </a:r>
            <a:endParaRPr lang="en-AU"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i="1" dirty="0" smtClean="0"/>
              <a:t>Surrender</a:t>
            </a:r>
            <a:r>
              <a:rPr lang="en-AU" dirty="0" smtClean="0"/>
              <a:t> and Gothic Fiction</a:t>
            </a:r>
            <a:endParaRPr lang="en-AU" dirty="0"/>
          </a:p>
        </p:txBody>
      </p:sp>
      <p:sp>
        <p:nvSpPr>
          <p:cNvPr id="3" name="Content Placeholder 2"/>
          <p:cNvSpPr>
            <a:spLocks noGrp="1"/>
          </p:cNvSpPr>
          <p:nvPr>
            <p:ph idx="1"/>
          </p:nvPr>
        </p:nvSpPr>
        <p:spPr>
          <a:xfrm>
            <a:off x="285720" y="1600200"/>
            <a:ext cx="8643998" cy="5043510"/>
          </a:xfrm>
        </p:spPr>
        <p:txBody>
          <a:bodyPr/>
          <a:lstStyle/>
          <a:p>
            <a:pPr>
              <a:buFont typeface="Wingdings" pitchFamily="2" charset="2"/>
              <a:buChar char="v"/>
            </a:pPr>
            <a:r>
              <a:rPr lang="en-AU" dirty="0" smtClean="0"/>
              <a:t>In conclusion, we can see that </a:t>
            </a:r>
            <a:r>
              <a:rPr lang="en-AU" i="1" dirty="0" smtClean="0"/>
              <a:t>Surrender</a:t>
            </a:r>
            <a:r>
              <a:rPr lang="en-AU" dirty="0" smtClean="0"/>
              <a:t> shares many characteristics with Australian Gothic fiction.  The rural setting is menacing and isolated, and the town is under the siege of the fires – the culprit is never caught out.</a:t>
            </a:r>
          </a:p>
          <a:p>
            <a:pPr>
              <a:buFont typeface="Wingdings" pitchFamily="2" charset="2"/>
              <a:buChar char="v"/>
            </a:pPr>
            <a:endParaRPr lang="en-AU" dirty="0" smtClean="0"/>
          </a:p>
          <a:p>
            <a:pPr>
              <a:buFont typeface="Wingdings" pitchFamily="2" charset="2"/>
              <a:buChar char="v"/>
            </a:pPr>
            <a:r>
              <a:rPr lang="en-AU" dirty="0" smtClean="0"/>
              <a:t>The doublings in the text: Gabriel/Finnigan and Finnigan/Vernon are a chilling look at the monster within a child, and the psychological damage inflicted on him by his past.</a:t>
            </a:r>
            <a:endParaRPr lang="en-AU"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pex">
  <a:themeElements>
    <a:clrScheme name="Custom 4">
      <a:dk1>
        <a:sysClr val="windowText" lastClr="000000"/>
      </a:dk1>
      <a:lt1>
        <a:sysClr val="window" lastClr="FFFFFF"/>
      </a:lt1>
      <a:dk2>
        <a:srgbClr val="696464"/>
      </a:dk2>
      <a:lt2>
        <a:srgbClr val="E9E5DC"/>
      </a:lt2>
      <a:accent1>
        <a:srgbClr val="FF0000"/>
      </a:accent1>
      <a:accent2>
        <a:srgbClr val="9B2D1F"/>
      </a:accent2>
      <a:accent3>
        <a:srgbClr val="742117"/>
      </a:accent3>
      <a:accent4>
        <a:srgbClr val="956251"/>
      </a:accent4>
      <a:accent5>
        <a:srgbClr val="918485"/>
      </a:accent5>
      <a:accent6>
        <a:srgbClr val="855D5D"/>
      </a:accent6>
      <a:hlink>
        <a:srgbClr val="CC9900"/>
      </a:hlink>
      <a:folHlink>
        <a:srgbClr val="96A9A9"/>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Apex">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227</TotalTime>
  <Words>1733</Words>
  <Application>Microsoft Office PowerPoint</Application>
  <PresentationFormat>On-screen Show (4:3)</PresentationFormat>
  <Paragraphs>113</Paragraphs>
  <Slides>27</Slides>
  <Notes>0</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Apex</vt:lpstr>
      <vt:lpstr>The Australian Gothic: Reading Sonya Hartnett’s Surrender  dr Natalie Kon-yu</vt:lpstr>
      <vt:lpstr>Lecture Overview</vt:lpstr>
      <vt:lpstr>Defining Gothic Fiction</vt:lpstr>
      <vt:lpstr>Characteristics of Gothic Fiction</vt:lpstr>
      <vt:lpstr>Defining Gothic Fiction</vt:lpstr>
      <vt:lpstr>The Gothic and Class</vt:lpstr>
      <vt:lpstr>The Gothic and the City</vt:lpstr>
      <vt:lpstr>Slide 8</vt:lpstr>
      <vt:lpstr>Slide 9</vt:lpstr>
      <vt:lpstr>Slide 10</vt:lpstr>
      <vt:lpstr>Slide 11</vt:lpstr>
      <vt:lpstr>Gothic Images</vt:lpstr>
      <vt:lpstr>The Gothic and Australia</vt:lpstr>
      <vt:lpstr>The Gothic and Australia</vt:lpstr>
      <vt:lpstr>Gothic Fiction in Australia</vt:lpstr>
      <vt:lpstr>Cold Snap</vt:lpstr>
      <vt:lpstr>Cold Snap</vt:lpstr>
      <vt:lpstr>Surrender</vt:lpstr>
      <vt:lpstr>Surrender</vt:lpstr>
      <vt:lpstr>Surrender</vt:lpstr>
      <vt:lpstr>Plot in Surrender</vt:lpstr>
      <vt:lpstr>Plot in Surrender</vt:lpstr>
      <vt:lpstr>Doubling in Surrender</vt:lpstr>
      <vt:lpstr>Gabriel/Finnigan</vt:lpstr>
      <vt:lpstr>Gabriel/Finnigan</vt:lpstr>
      <vt:lpstr>Gabriel/Finnigan</vt:lpstr>
      <vt:lpstr>Surrender and Gothic Fiction</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Surrender – Sonya Hartnett  dr Natallie Kon-yu</dc:title>
  <dc:creator>Natalie Kon-yu </dc:creator>
  <cp:lastModifiedBy>Natalie Kon-yu </cp:lastModifiedBy>
  <cp:revision>25</cp:revision>
  <dcterms:created xsi:type="dcterms:W3CDTF">2011-09-12T06:39:32Z</dcterms:created>
  <dcterms:modified xsi:type="dcterms:W3CDTF">2011-09-16T06:26:29Z</dcterms:modified>
</cp:coreProperties>
</file>